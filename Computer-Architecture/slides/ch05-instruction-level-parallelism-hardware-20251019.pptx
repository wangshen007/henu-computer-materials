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Default Extension="jpg" ContentType="image/jpg"/>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Default Extension="png" ContentType="image/png"/>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 Id="rId164" Type="http://schemas.openxmlformats.org/officeDocument/2006/relationships/slide" Target="slides/slide159.xml"/><Relationship Id="rId165" Type="http://schemas.openxmlformats.org/officeDocument/2006/relationships/slide" Target="slides/slide160.xml"/><Relationship Id="rId166" Type="http://schemas.openxmlformats.org/officeDocument/2006/relationships/slide" Target="slides/slide161.xml"/><Relationship Id="rId167" Type="http://schemas.openxmlformats.org/officeDocument/2006/relationships/slide" Target="slides/slide162.xml"/><Relationship Id="rId168" Type="http://schemas.openxmlformats.org/officeDocument/2006/relationships/slide" Target="slides/slide163.xml"/><Relationship Id="rId169" Type="http://schemas.openxmlformats.org/officeDocument/2006/relationships/slide" Target="slides/slide164.xml"/><Relationship Id="rId170" Type="http://schemas.openxmlformats.org/officeDocument/2006/relationships/slide" Target="slides/slide165.xml"/><Relationship Id="rId171" Type="http://schemas.openxmlformats.org/officeDocument/2006/relationships/slide" Target="slides/slide166.xml"/><Relationship Id="rId172" Type="http://schemas.openxmlformats.org/officeDocument/2006/relationships/slide" Target="slides/slide167.xml"/><Relationship Id="rId173" Type="http://schemas.openxmlformats.org/officeDocument/2006/relationships/slide" Target="slides/slide168.xml"/><Relationship Id="rId174" Type="http://schemas.openxmlformats.org/officeDocument/2006/relationships/slide" Target="slides/slide169.xml"/><Relationship Id="rId175" Type="http://schemas.openxmlformats.org/officeDocument/2006/relationships/slide" Target="slides/slide170.xml"/><Relationship Id="rId176" Type="http://schemas.openxmlformats.org/officeDocument/2006/relationships/slide" Target="slides/slide171.xml"/><Relationship Id="rId177" Type="http://schemas.openxmlformats.org/officeDocument/2006/relationships/slide" Target="slides/slide172.xml"/><Relationship Id="rId178" Type="http://schemas.openxmlformats.org/officeDocument/2006/relationships/slide" Target="slides/slide173.xml"/><Relationship Id="rId179" Type="http://schemas.openxmlformats.org/officeDocument/2006/relationships/slide" Target="slides/slide174.xml"/><Relationship Id="rId180" Type="http://schemas.openxmlformats.org/officeDocument/2006/relationships/slide" Target="slides/slide175.xml"/><Relationship Id="rId181" Type="http://schemas.openxmlformats.org/officeDocument/2006/relationships/slide" Target="slides/slide176.xml"/><Relationship Id="rId182" Type="http://schemas.openxmlformats.org/officeDocument/2006/relationships/slide" Target="slides/slide177.xml"/><Relationship Id="rId183" Type="http://schemas.openxmlformats.org/officeDocument/2006/relationships/slide" Target="slides/slide178.xml"/><Relationship Id="rId184" Type="http://schemas.openxmlformats.org/officeDocument/2006/relationships/slide" Target="slides/slide179.xml"/><Relationship Id="rId185" Type="http://schemas.openxmlformats.org/officeDocument/2006/relationships/slide" Target="slides/slide180.xml"/><Relationship Id="rId186" Type="http://schemas.openxmlformats.org/officeDocument/2006/relationships/slide" Target="slides/slide181.xml"/><Relationship Id="rId187" Type="http://schemas.openxmlformats.org/officeDocument/2006/relationships/slide" Target="slides/slide182.xml"/><Relationship Id="rId188" Type="http://schemas.openxmlformats.org/officeDocument/2006/relationships/slide" Target="slides/slide183.xml"/><Relationship Id="rId189" Type="http://schemas.openxmlformats.org/officeDocument/2006/relationships/slide" Target="slides/slide184.xml"/><Relationship Id="rId190" Type="http://schemas.openxmlformats.org/officeDocument/2006/relationships/slide" Target="slides/slide18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05890" y="107695"/>
            <a:ext cx="3684904" cy="513715"/>
          </a:xfrm>
          <a:prstGeom prst="rect">
            <a:avLst/>
          </a:prstGeom>
        </p:spPr>
        <p:txBody>
          <a:bodyPr wrap="square" lIns="0" tIns="0" rIns="0" bIns="0">
            <a:spAutoFit/>
          </a:bodyPr>
          <a:lstStyle>
            <a:lvl1pPr>
              <a:defRPr sz="3200" b="0" i="0">
                <a:solidFill>
                  <a:srgbClr val="4F55AC"/>
                </a:solidFill>
                <a:latin typeface="黑体"/>
                <a:cs typeface="黑体"/>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4F55AC"/>
                </a:solidFill>
                <a:latin typeface="黑体"/>
                <a:cs typeface="黑体"/>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4F55AC"/>
                </a:solidFill>
                <a:latin typeface="黑体"/>
                <a:cs typeface="黑体"/>
              </a:defRPr>
            </a:lvl1pPr>
          </a:lstStyle>
          <a:p/>
        </p:txBody>
      </p:sp>
      <p:sp>
        <p:nvSpPr>
          <p:cNvPr id="3" name="Holder 3"/>
          <p:cNvSpPr>
            <a:spLocks noGrp="1"/>
          </p:cNvSpPr>
          <p:nvPr>
            <p:ph idx="2" sz="half"/>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4F55AC"/>
                </a:solidFill>
                <a:latin typeface="黑体"/>
                <a:cs typeface="黑体"/>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05890" y="107695"/>
            <a:ext cx="3684904" cy="513715"/>
          </a:xfrm>
          <a:prstGeom prst="rect">
            <a:avLst/>
          </a:prstGeom>
        </p:spPr>
        <p:txBody>
          <a:bodyPr wrap="square" lIns="0" tIns="0" rIns="0" bIns="0">
            <a:spAutoFit/>
          </a:bodyPr>
          <a:lstStyle>
            <a:lvl1pPr>
              <a:defRPr sz="3200" b="0" i="0">
                <a:solidFill>
                  <a:srgbClr val="4F55AC"/>
                </a:solidFill>
                <a:latin typeface="黑体"/>
                <a:cs typeface="黑体"/>
              </a:defRPr>
            </a:lvl1pPr>
          </a:lstStyle>
          <a:p/>
        </p:txBody>
      </p:sp>
      <p:sp>
        <p:nvSpPr>
          <p:cNvPr id="3" name="Holder 3"/>
          <p:cNvSpPr>
            <a:spLocks noGrp="1"/>
          </p:cNvSpPr>
          <p:nvPr>
            <p:ph type="body" idx="1"/>
          </p:nvPr>
        </p:nvSpPr>
        <p:spPr>
          <a:xfrm>
            <a:off x="5703075" y="1827469"/>
            <a:ext cx="5405755" cy="2138679"/>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xml"/><Relationship Id="rId3" Type="http://schemas.openxmlformats.org/officeDocument/2006/relationships/slide" Target="slide9.xml"/><Relationship Id="rId4" Type="http://schemas.openxmlformats.org/officeDocument/2006/relationships/slide" Target="slide12.xml"/><Relationship Id="rId5" Type="http://schemas.openxmlformats.org/officeDocument/2006/relationships/slide" Target="slide116.xml"/><Relationship Id="rId6" Type="http://schemas.openxmlformats.org/officeDocument/2006/relationships/slide" Target="slide15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image" Target="../media/image2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4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jp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zhuanlan.zhihu.com/p/501631371" TargetMode="Externa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jp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 Id="rId8" Type="http://schemas.openxmlformats.org/officeDocument/2006/relationships/image" Target="../media/image61.png"/><Relationship Id="rId9" Type="http://schemas.openxmlformats.org/officeDocument/2006/relationships/image" Target="../media/image62.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97539" y="158242"/>
            <a:ext cx="54356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462405" cy="319405"/>
          </a:xfrm>
          <a:custGeom>
            <a:avLst/>
            <a:gdLst/>
            <a:ahLst/>
            <a:cxnLst/>
            <a:rect l="l" t="t" r="r" b="b"/>
            <a:pathLst>
              <a:path w="1462405" h="319404">
                <a:moveTo>
                  <a:pt x="0" y="319087"/>
                </a:moveTo>
                <a:lnTo>
                  <a:pt x="1462151" y="319087"/>
                </a:lnTo>
                <a:lnTo>
                  <a:pt x="1462151" y="0"/>
                </a:lnTo>
                <a:lnTo>
                  <a:pt x="0" y="0"/>
                </a:lnTo>
                <a:lnTo>
                  <a:pt x="0" y="319087"/>
                </a:lnTo>
                <a:close/>
              </a:path>
            </a:pathLst>
          </a:custGeom>
          <a:solidFill>
            <a:srgbClr val="044775"/>
          </a:solidFill>
        </p:spPr>
        <p:txBody>
          <a:bodyPr wrap="square" lIns="0" tIns="0" rIns="0" bIns="0" rtlCol="0"/>
          <a:lstStyle/>
          <a:p/>
        </p:txBody>
      </p:sp>
      <p:sp>
        <p:nvSpPr>
          <p:cNvPr id="9" name="object 9" descr=""/>
          <p:cNvSpPr/>
          <p:nvPr/>
        </p:nvSpPr>
        <p:spPr>
          <a:xfrm>
            <a:off x="10668000" y="6538912"/>
            <a:ext cx="1524000" cy="319405"/>
          </a:xfrm>
          <a:custGeom>
            <a:avLst/>
            <a:gdLst/>
            <a:ahLst/>
            <a:cxnLst/>
            <a:rect l="l" t="t" r="r" b="b"/>
            <a:pathLst>
              <a:path w="1524000" h="319404">
                <a:moveTo>
                  <a:pt x="0" y="319087"/>
                </a:moveTo>
                <a:lnTo>
                  <a:pt x="1524000" y="319087"/>
                </a:lnTo>
                <a:lnTo>
                  <a:pt x="1524000" y="0"/>
                </a:lnTo>
                <a:lnTo>
                  <a:pt x="0" y="0"/>
                </a:lnTo>
                <a:lnTo>
                  <a:pt x="0" y="319087"/>
                </a:lnTo>
                <a:close/>
              </a:path>
            </a:pathLst>
          </a:custGeom>
          <a:solidFill>
            <a:srgbClr val="044775"/>
          </a:solidFill>
        </p:spPr>
        <p:txBody>
          <a:bodyPr wrap="square" lIns="0" tIns="0" rIns="0" bIns="0" rtlCol="0"/>
          <a:lstStyle/>
          <a:p/>
        </p:txBody>
      </p:sp>
      <p:sp>
        <p:nvSpPr>
          <p:cNvPr id="10" name="object 10"/>
          <p:cNvSpPr txBox="1">
            <a:spLocks noGrp="1"/>
          </p:cNvSpPr>
          <p:nvPr>
            <p:ph type="title"/>
          </p:nvPr>
        </p:nvSpPr>
        <p:spPr>
          <a:xfrm>
            <a:off x="3102101" y="1167130"/>
            <a:ext cx="4904105" cy="513715"/>
          </a:xfrm>
          <a:prstGeom prst="rect"/>
        </p:spPr>
        <p:txBody>
          <a:bodyPr wrap="square" lIns="0" tIns="13335" rIns="0" bIns="0" rtlCol="0" vert="horz">
            <a:spAutoFit/>
          </a:bodyPr>
          <a:lstStyle/>
          <a:p>
            <a:pPr marL="12700">
              <a:lnSpc>
                <a:spcPct val="100000"/>
              </a:lnSpc>
              <a:spcBef>
                <a:spcPts val="105"/>
              </a:spcBef>
            </a:pPr>
            <a:r>
              <a:rPr dirty="0">
                <a:solidFill>
                  <a:srgbClr val="D50092"/>
                </a:solidFill>
              </a:rPr>
              <a:t>第</a:t>
            </a:r>
            <a:r>
              <a:rPr dirty="0" spc="-10">
                <a:solidFill>
                  <a:srgbClr val="D50092"/>
                </a:solidFill>
              </a:rPr>
              <a:t>5</a:t>
            </a:r>
            <a:r>
              <a:rPr dirty="0" spc="-20">
                <a:solidFill>
                  <a:srgbClr val="D50092"/>
                </a:solidFill>
              </a:rPr>
              <a:t>章 指令级并行及其开发</a:t>
            </a:r>
          </a:p>
        </p:txBody>
      </p:sp>
      <p:sp>
        <p:nvSpPr>
          <p:cNvPr id="11" name="object 11" descr=""/>
          <p:cNvSpPr txBox="1"/>
          <p:nvPr/>
        </p:nvSpPr>
        <p:spPr>
          <a:xfrm>
            <a:off x="3806697" y="1801113"/>
            <a:ext cx="3378200" cy="3503929"/>
          </a:xfrm>
          <a:prstGeom prst="rect">
            <a:avLst/>
          </a:prstGeom>
        </p:spPr>
        <p:txBody>
          <a:bodyPr wrap="square" lIns="0" tIns="13335" rIns="0" bIns="0" rtlCol="0" vert="horz">
            <a:spAutoFit/>
          </a:bodyPr>
          <a:lstStyle/>
          <a:p>
            <a:pPr marL="525145">
              <a:lnSpc>
                <a:spcPct val="100000"/>
              </a:lnSpc>
              <a:spcBef>
                <a:spcPts val="105"/>
              </a:spcBef>
            </a:pPr>
            <a:r>
              <a:rPr dirty="0" sz="3200">
                <a:solidFill>
                  <a:srgbClr val="D50092"/>
                </a:solidFill>
                <a:latin typeface="Times New Roman"/>
                <a:cs typeface="Times New Roman"/>
              </a:rPr>
              <a:t>——</a:t>
            </a:r>
            <a:r>
              <a:rPr dirty="0" sz="3200" spc="-15">
                <a:solidFill>
                  <a:srgbClr val="D50092"/>
                </a:solidFill>
                <a:latin typeface="黑体"/>
                <a:cs typeface="黑体"/>
              </a:rPr>
              <a:t>硬件方法</a:t>
            </a:r>
            <a:endParaRPr sz="3200">
              <a:latin typeface="黑体"/>
              <a:cs typeface="黑体"/>
            </a:endParaRPr>
          </a:p>
          <a:p>
            <a:pPr>
              <a:lnSpc>
                <a:spcPct val="100000"/>
              </a:lnSpc>
              <a:spcBef>
                <a:spcPts val="1520"/>
              </a:spcBef>
            </a:pPr>
            <a:endParaRPr sz="3200">
              <a:latin typeface="黑体"/>
              <a:cs typeface="黑体"/>
            </a:endParaRPr>
          </a:p>
          <a:p>
            <a:pPr lvl="1" marL="926465" indent="-913765">
              <a:lnSpc>
                <a:spcPct val="100000"/>
              </a:lnSpc>
              <a:buClr>
                <a:srgbClr val="40458B"/>
              </a:buClr>
              <a:buAutoNum type="arabicPeriod"/>
              <a:tabLst>
                <a:tab pos="926465" algn="l"/>
              </a:tabLst>
            </a:pPr>
            <a:r>
              <a:rPr dirty="0" u="sng" sz="2400" spc="-20">
                <a:solidFill>
                  <a:srgbClr val="4668F5"/>
                </a:solidFill>
                <a:uFill>
                  <a:solidFill>
                    <a:srgbClr val="4668F5"/>
                  </a:solidFill>
                </a:uFill>
                <a:latin typeface="黑体"/>
                <a:cs typeface="黑体"/>
                <a:hlinkClick r:id="rId2" action="ppaction://hlinksldjump"/>
              </a:rPr>
              <a:t>指令级并行的概念</a:t>
            </a:r>
            <a:endParaRPr sz="2400">
              <a:latin typeface="黑体"/>
              <a:cs typeface="黑体"/>
            </a:endParaRPr>
          </a:p>
          <a:p>
            <a:pPr lvl="1" marL="926465" indent="-913765">
              <a:lnSpc>
                <a:spcPct val="100000"/>
              </a:lnSpc>
              <a:spcBef>
                <a:spcPts val="869"/>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3" action="ppaction://hlinksldjump"/>
              </a:rPr>
              <a:t>相关与指令级并行</a:t>
            </a:r>
            <a:endParaRPr sz="2400">
              <a:latin typeface="黑体"/>
              <a:cs typeface="黑体"/>
            </a:endParaRPr>
          </a:p>
          <a:p>
            <a:pPr lvl="1" marL="926465" indent="-913765">
              <a:lnSpc>
                <a:spcPct val="100000"/>
              </a:lnSpc>
              <a:spcBef>
                <a:spcPts val="865"/>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4" action="ppaction://hlinksldjump"/>
              </a:rPr>
              <a:t>指令的动态调度</a:t>
            </a:r>
            <a:endParaRPr sz="2400">
              <a:latin typeface="黑体"/>
              <a:cs typeface="黑体"/>
            </a:endParaRPr>
          </a:p>
          <a:p>
            <a:pPr lvl="1" marL="926465" indent="-913765">
              <a:lnSpc>
                <a:spcPct val="100000"/>
              </a:lnSpc>
              <a:spcBef>
                <a:spcPts val="865"/>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5" action="ppaction://hlinksldjump"/>
              </a:rPr>
              <a:t>动态分支预测技术</a:t>
            </a:r>
            <a:endParaRPr sz="2400">
              <a:latin typeface="黑体"/>
              <a:cs typeface="黑体"/>
            </a:endParaRPr>
          </a:p>
          <a:p>
            <a:pPr lvl="1" marL="926465" indent="-913765">
              <a:lnSpc>
                <a:spcPct val="100000"/>
              </a:lnSpc>
              <a:spcBef>
                <a:spcPts val="865"/>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6" action="ppaction://hlinksldjump"/>
              </a:rPr>
              <a:t>多指令流出技术</a:t>
            </a:r>
            <a:endParaRPr sz="2400">
              <a:latin typeface="黑体"/>
              <a:cs typeface="黑体"/>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97539" y="158242"/>
            <a:ext cx="54356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2/175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395427" y="1127883"/>
            <a:ext cx="11456035" cy="4287520"/>
          </a:xfrm>
          <a:prstGeom prst="rect">
            <a:avLst/>
          </a:prstGeom>
        </p:spPr>
        <p:txBody>
          <a:bodyPr wrap="square" lIns="0" tIns="12065" rIns="0" bIns="0" rtlCol="0" vert="horz">
            <a:spAutoFit/>
          </a:bodyPr>
          <a:lstStyle/>
          <a:p>
            <a:pPr marL="469265" marR="5080" indent="-457200">
              <a:lnSpc>
                <a:spcPct val="120000"/>
              </a:lnSpc>
              <a:spcBef>
                <a:spcPts val="95"/>
              </a:spcBef>
              <a:buClr>
                <a:srgbClr val="40458B"/>
              </a:buClr>
              <a:buSzPct val="89583"/>
              <a:buFont typeface="Wingdings"/>
              <a:buChar char=""/>
              <a:tabLst>
                <a:tab pos="469265" algn="l"/>
              </a:tabLst>
            </a:pPr>
            <a:r>
              <a:rPr dirty="0" sz="2400">
                <a:solidFill>
                  <a:srgbClr val="FF0000"/>
                </a:solidFill>
                <a:latin typeface="黑体"/>
                <a:cs typeface="黑体"/>
              </a:rPr>
              <a:t>指令级并行</a:t>
            </a:r>
            <a:r>
              <a:rPr dirty="0" sz="2400" spc="-5">
                <a:solidFill>
                  <a:srgbClr val="40458B"/>
                </a:solidFill>
                <a:latin typeface="黑体"/>
                <a:cs typeface="黑体"/>
              </a:rPr>
              <a:t>：指指令之间存在的一种并行性，利用它，计算机可以并行执行两条或</a:t>
            </a:r>
            <a:r>
              <a:rPr dirty="0" sz="2400" spc="-10">
                <a:solidFill>
                  <a:srgbClr val="40458B"/>
                </a:solidFill>
                <a:latin typeface="黑体"/>
                <a:cs typeface="黑体"/>
              </a:rPr>
              <a:t>两条以上的指令。（前提是不相关</a:t>
            </a:r>
            <a:r>
              <a:rPr dirty="0" sz="2400" spc="-50">
                <a:solidFill>
                  <a:srgbClr val="40458B"/>
                </a:solidFill>
                <a:latin typeface="黑体"/>
                <a:cs typeface="黑体"/>
              </a:rPr>
              <a:t>）</a:t>
            </a:r>
            <a:endParaRPr sz="2400">
              <a:latin typeface="黑体"/>
              <a:cs typeface="黑体"/>
            </a:endParaRPr>
          </a:p>
          <a:p>
            <a:pPr marL="887730">
              <a:lnSpc>
                <a:spcPct val="100000"/>
              </a:lnSpc>
              <a:spcBef>
                <a:spcPts val="1090"/>
              </a:spcBef>
            </a:pPr>
            <a:r>
              <a:rPr dirty="0" sz="2200" spc="-10" b="1">
                <a:solidFill>
                  <a:srgbClr val="9966FF"/>
                </a:solidFill>
                <a:latin typeface="宋体"/>
                <a:cs typeface="宋体"/>
              </a:rPr>
              <a:t>（ILP：Instruction-</a:t>
            </a:r>
            <a:r>
              <a:rPr dirty="0" sz="2200" b="1">
                <a:solidFill>
                  <a:srgbClr val="9966FF"/>
                </a:solidFill>
                <a:latin typeface="宋体"/>
                <a:cs typeface="宋体"/>
              </a:rPr>
              <a:t>Level</a:t>
            </a:r>
            <a:r>
              <a:rPr dirty="0" sz="2200" spc="-40" b="1">
                <a:solidFill>
                  <a:srgbClr val="9966FF"/>
                </a:solidFill>
                <a:latin typeface="宋体"/>
                <a:cs typeface="宋体"/>
              </a:rPr>
              <a:t> </a:t>
            </a:r>
            <a:r>
              <a:rPr dirty="0" sz="2200" spc="-10" b="1">
                <a:solidFill>
                  <a:srgbClr val="9966FF"/>
                </a:solidFill>
                <a:latin typeface="宋体"/>
                <a:cs typeface="宋体"/>
              </a:rPr>
              <a:t>Parallelism）</a:t>
            </a:r>
            <a:endParaRPr sz="2200">
              <a:latin typeface="宋体"/>
              <a:cs typeface="宋体"/>
            </a:endParaRPr>
          </a:p>
          <a:p>
            <a:pPr marL="469265" indent="-456565">
              <a:lnSpc>
                <a:spcPct val="100000"/>
              </a:lnSpc>
              <a:spcBef>
                <a:spcPts val="1120"/>
              </a:spcBef>
              <a:buSzPct val="89583"/>
              <a:buFont typeface="Wingdings"/>
              <a:buChar char=""/>
              <a:tabLst>
                <a:tab pos="469265" algn="l"/>
              </a:tabLst>
            </a:pPr>
            <a:r>
              <a:rPr dirty="0" sz="2400">
                <a:solidFill>
                  <a:srgbClr val="40458B"/>
                </a:solidFill>
                <a:latin typeface="黑体"/>
                <a:cs typeface="黑体"/>
              </a:rPr>
              <a:t>开发</a:t>
            </a:r>
            <a:r>
              <a:rPr dirty="0" sz="2400" spc="-10">
                <a:solidFill>
                  <a:srgbClr val="40458B"/>
                </a:solidFill>
                <a:latin typeface="Times New Roman"/>
                <a:cs typeface="Times New Roman"/>
              </a:rPr>
              <a:t>ILP</a:t>
            </a:r>
            <a:r>
              <a:rPr dirty="0" sz="2400" spc="-10">
                <a:solidFill>
                  <a:srgbClr val="40458B"/>
                </a:solidFill>
                <a:latin typeface="黑体"/>
                <a:cs typeface="黑体"/>
              </a:rPr>
              <a:t>的途径有两种</a:t>
            </a:r>
            <a:endParaRPr sz="2400">
              <a:latin typeface="黑体"/>
              <a:cs typeface="黑体"/>
            </a:endParaRPr>
          </a:p>
          <a:p>
            <a:pPr lvl="1" marL="915669" indent="-275590">
              <a:lnSpc>
                <a:spcPct val="100000"/>
              </a:lnSpc>
              <a:spcBef>
                <a:spcPts val="1090"/>
              </a:spcBef>
              <a:buClr>
                <a:srgbClr val="4668F5"/>
              </a:buClr>
              <a:buSzPct val="68181"/>
              <a:buFont typeface="Wingdings"/>
              <a:buChar char=""/>
              <a:tabLst>
                <a:tab pos="915669" algn="l"/>
              </a:tabLst>
            </a:pPr>
            <a:r>
              <a:rPr dirty="0" sz="2200" spc="-25" b="1">
                <a:solidFill>
                  <a:srgbClr val="9966FF"/>
                </a:solidFill>
                <a:latin typeface="宋体"/>
                <a:cs typeface="宋体"/>
              </a:rPr>
              <a:t>资源重复，重复设置多个处理部件，让它们同时执行相邻或相近的多条指令；</a:t>
            </a:r>
            <a:endParaRPr sz="2200">
              <a:latin typeface="宋体"/>
              <a:cs typeface="宋体"/>
            </a:endParaRPr>
          </a:p>
          <a:p>
            <a:pPr lvl="1" marL="915669" indent="-275590">
              <a:lnSpc>
                <a:spcPct val="100000"/>
              </a:lnSpc>
              <a:spcBef>
                <a:spcPts val="1060"/>
              </a:spcBef>
              <a:buClr>
                <a:srgbClr val="4668F5"/>
              </a:buClr>
              <a:buSzPct val="68181"/>
              <a:buFont typeface="Wingdings"/>
              <a:buChar char=""/>
              <a:tabLst>
                <a:tab pos="915669" algn="l"/>
              </a:tabLst>
            </a:pPr>
            <a:r>
              <a:rPr dirty="0" sz="2200" spc="-25" b="1">
                <a:solidFill>
                  <a:srgbClr val="9966FF"/>
                </a:solidFill>
                <a:latin typeface="宋体"/>
                <a:cs typeface="宋体"/>
              </a:rPr>
              <a:t>采用流水线技术，使指令重叠并行执行。</a:t>
            </a:r>
            <a:endParaRPr sz="2200">
              <a:latin typeface="宋体"/>
              <a:cs typeface="宋体"/>
            </a:endParaRPr>
          </a:p>
          <a:p>
            <a:pPr marL="469265" indent="-456565">
              <a:lnSpc>
                <a:spcPct val="100000"/>
              </a:lnSpc>
              <a:spcBef>
                <a:spcPts val="1120"/>
              </a:spcBef>
              <a:buClr>
                <a:srgbClr val="40458B"/>
              </a:buClr>
              <a:buSzPct val="89583"/>
              <a:buFont typeface="Wingdings"/>
              <a:buChar char=""/>
              <a:tabLst>
                <a:tab pos="469265" algn="l"/>
              </a:tabLst>
            </a:pPr>
            <a:r>
              <a:rPr dirty="0" sz="2400" spc="-10">
                <a:solidFill>
                  <a:srgbClr val="D50092"/>
                </a:solidFill>
                <a:latin typeface="黑体"/>
                <a:cs typeface="黑体"/>
              </a:rPr>
              <a:t>本章研究：</a:t>
            </a:r>
            <a:r>
              <a:rPr dirty="0" sz="2400" spc="-25">
                <a:solidFill>
                  <a:srgbClr val="40458B"/>
                </a:solidFill>
                <a:latin typeface="黑体"/>
                <a:cs typeface="黑体"/>
              </a:rPr>
              <a:t>如何利用各种技术来开发更多的指令级并行 </a:t>
            </a:r>
            <a:r>
              <a:rPr dirty="0" sz="2400" spc="-10">
                <a:solidFill>
                  <a:srgbClr val="40458B"/>
                </a:solidFill>
                <a:latin typeface="黑体"/>
                <a:cs typeface="黑体"/>
              </a:rPr>
              <a:t>（硬件的方法</a:t>
            </a:r>
            <a:r>
              <a:rPr dirty="0" sz="2400" spc="-50">
                <a:solidFill>
                  <a:srgbClr val="40458B"/>
                </a:solidFill>
                <a:latin typeface="黑体"/>
                <a:cs typeface="黑体"/>
              </a:rPr>
              <a:t>）</a:t>
            </a:r>
            <a:endParaRPr sz="2400">
              <a:latin typeface="黑体"/>
              <a:cs typeface="黑体"/>
            </a:endParaRPr>
          </a:p>
          <a:p>
            <a:pPr marL="469265" marR="5080" indent="-457200">
              <a:lnSpc>
                <a:spcPct val="120000"/>
              </a:lnSpc>
              <a:spcBef>
                <a:spcPts val="575"/>
              </a:spcBef>
              <a:buSzPct val="89583"/>
              <a:buFont typeface="Wingdings"/>
              <a:buChar char=""/>
              <a:tabLst>
                <a:tab pos="469265" algn="l"/>
              </a:tabLst>
            </a:pPr>
            <a:r>
              <a:rPr dirty="0" sz="2400">
                <a:solidFill>
                  <a:srgbClr val="40458B"/>
                </a:solidFill>
                <a:latin typeface="黑体"/>
                <a:cs typeface="黑体"/>
              </a:rPr>
              <a:t>并行处理的三种途径：资源共享、资源重叠（空间）、基于任务切分的流水线（</a:t>
            </a:r>
            <a:r>
              <a:rPr dirty="0" sz="2400" spc="-50">
                <a:solidFill>
                  <a:srgbClr val="40458B"/>
                </a:solidFill>
                <a:latin typeface="黑体"/>
                <a:cs typeface="黑体"/>
              </a:rPr>
              <a:t>时</a:t>
            </a:r>
            <a:r>
              <a:rPr dirty="0" sz="2400">
                <a:solidFill>
                  <a:srgbClr val="40458B"/>
                </a:solidFill>
                <a:latin typeface="黑体"/>
                <a:cs typeface="黑体"/>
              </a:rPr>
              <a:t>间重叠）</a:t>
            </a:r>
            <a:r>
              <a:rPr dirty="0" sz="2400" spc="-450">
                <a:solidFill>
                  <a:srgbClr val="40458B"/>
                </a:solidFill>
                <a:latin typeface="黑体"/>
                <a:cs typeface="黑体"/>
              </a:rPr>
              <a:t> </a:t>
            </a:r>
            <a:r>
              <a:rPr dirty="0" sz="2400" spc="-10">
                <a:solidFill>
                  <a:srgbClr val="40458B"/>
                </a:solidFill>
                <a:latin typeface="Tahoma"/>
                <a:cs typeface="Tahoma"/>
              </a:rPr>
              <a:t>----</a:t>
            </a:r>
            <a:r>
              <a:rPr dirty="0" sz="2400" spc="-5">
                <a:solidFill>
                  <a:srgbClr val="40458B"/>
                </a:solidFill>
                <a:latin typeface="黑体"/>
                <a:cs typeface="黑体"/>
              </a:rPr>
              <a:t>时间上、空间上、共享上</a:t>
            </a:r>
            <a:endParaRPr sz="2400">
              <a:latin typeface="黑体"/>
              <a:cs typeface="黑体"/>
            </a:endParaRPr>
          </a:p>
        </p:txBody>
      </p:sp>
      <p:sp>
        <p:nvSpPr>
          <p:cNvPr id="10" name="object 10"/>
          <p:cNvSpPr txBox="1">
            <a:spLocks noGrp="1"/>
          </p:cNvSpPr>
          <p:nvPr>
            <p:ph type="title"/>
          </p:nvPr>
        </p:nvSpPr>
        <p:spPr>
          <a:xfrm>
            <a:off x="2936875" y="233883"/>
            <a:ext cx="3580765" cy="452120"/>
          </a:xfrm>
          <a:prstGeom prst="rect"/>
        </p:spPr>
        <p:txBody>
          <a:bodyPr wrap="square" lIns="0" tIns="12065" rIns="0" bIns="0" rtlCol="0" vert="horz">
            <a:spAutoFit/>
          </a:bodyPr>
          <a:lstStyle/>
          <a:p>
            <a:pPr marL="12700">
              <a:lnSpc>
                <a:spcPct val="100000"/>
              </a:lnSpc>
              <a:spcBef>
                <a:spcPts val="95"/>
              </a:spcBef>
            </a:pPr>
            <a:r>
              <a:rPr dirty="0" sz="2800">
                <a:solidFill>
                  <a:srgbClr val="000000"/>
                </a:solidFill>
              </a:rPr>
              <a:t>5.1</a:t>
            </a:r>
            <a:r>
              <a:rPr dirty="0" sz="2800" spc="-40">
                <a:solidFill>
                  <a:srgbClr val="000000"/>
                </a:solidFill>
              </a:rPr>
              <a:t> 指令级并行的概念</a:t>
            </a:r>
            <a:endParaRPr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97539" y="158242"/>
            <a:ext cx="54356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3/175</a:t>
            </a:r>
            <a:endParaRPr sz="1600">
              <a:latin typeface="宋体"/>
              <a:cs typeface="宋体"/>
            </a:endParaRPr>
          </a:p>
        </p:txBody>
      </p:sp>
      <p:grpSp>
        <p:nvGrpSpPr>
          <p:cNvPr id="3" name="object 3" descr=""/>
          <p:cNvGrpSpPr/>
          <p:nvPr/>
        </p:nvGrpSpPr>
        <p:grpSpPr>
          <a:xfrm>
            <a:off x="68262" y="311150"/>
            <a:ext cx="1076325" cy="274955"/>
            <a:chOff x="68262" y="311150"/>
            <a:chExt cx="1076325" cy="274955"/>
          </a:xfrm>
        </p:grpSpPr>
        <p:sp>
          <p:nvSpPr>
            <p:cNvPr id="4" name="object 4"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5" name="object 5"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6" name="object 6"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7" name="object 7"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graphicFrame>
        <p:nvGraphicFramePr>
          <p:cNvPr id="8" name="object 8" descr=""/>
          <p:cNvGraphicFramePr>
            <a:graphicFrameLocks noGrp="1"/>
          </p:cNvGraphicFramePr>
          <p:nvPr/>
        </p:nvGraphicFramePr>
        <p:xfrm>
          <a:off x="1768475" y="1766951"/>
          <a:ext cx="8587105" cy="3870960"/>
        </p:xfrm>
        <a:graphic>
          <a:graphicData uri="http://schemas.openxmlformats.org/drawingml/2006/table">
            <a:tbl>
              <a:tblPr firstRow="1" bandRow="1">
                <a:tableStyleId>{2D5ABB26-0587-4C30-8999-92F81FD0307C}</a:tableStyleId>
              </a:tblPr>
              <a:tblGrid>
                <a:gridCol w="4608830"/>
                <a:gridCol w="3888739"/>
              </a:tblGrid>
              <a:tr h="589915">
                <a:tc>
                  <a:txBody>
                    <a:bodyPr/>
                    <a:lstStyle/>
                    <a:p>
                      <a:pPr algn="ctr" marL="332740">
                        <a:lnSpc>
                          <a:spcPct val="100000"/>
                        </a:lnSpc>
                        <a:spcBef>
                          <a:spcPts val="360"/>
                        </a:spcBef>
                      </a:pPr>
                      <a:r>
                        <a:rPr dirty="0" sz="1800" spc="-30" b="1">
                          <a:solidFill>
                            <a:srgbClr val="FFFFFF"/>
                          </a:solidFill>
                          <a:latin typeface="黑体"/>
                          <a:cs typeface="黑体"/>
                        </a:rPr>
                        <a:t>技术</a:t>
                      </a:r>
                      <a:endParaRPr sz="1800">
                        <a:latin typeface="黑体"/>
                        <a:cs typeface="黑体"/>
                      </a:endParaRPr>
                    </a:p>
                  </a:txBody>
                  <a:tcPr marL="0" marR="0" marB="0" marT="4572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458B"/>
                    </a:solidFill>
                  </a:tcPr>
                </a:tc>
                <a:tc>
                  <a:txBody>
                    <a:bodyPr/>
                    <a:lstStyle/>
                    <a:p>
                      <a:pPr marL="1253490">
                        <a:lnSpc>
                          <a:spcPct val="100000"/>
                        </a:lnSpc>
                        <a:spcBef>
                          <a:spcPts val="360"/>
                        </a:spcBef>
                      </a:pPr>
                      <a:r>
                        <a:rPr dirty="0" sz="1800" spc="-20" b="1">
                          <a:solidFill>
                            <a:srgbClr val="FFFFFF"/>
                          </a:solidFill>
                          <a:latin typeface="黑体"/>
                          <a:cs typeface="黑体"/>
                        </a:rPr>
                        <a:t>所克服的停顿</a:t>
                      </a:r>
                      <a:endParaRPr sz="1800">
                        <a:latin typeface="黑体"/>
                        <a:cs typeface="黑体"/>
                      </a:endParaRPr>
                    </a:p>
                  </a:txBody>
                  <a:tcPr marL="0" marR="0" marB="0" marT="4572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0458B"/>
                    </a:solidFill>
                  </a:tcPr>
                </a:tc>
              </a:tr>
              <a:tr h="589915">
                <a:tc>
                  <a:txBody>
                    <a:bodyPr/>
                    <a:lstStyle/>
                    <a:p>
                      <a:pPr marL="91440">
                        <a:lnSpc>
                          <a:spcPct val="100000"/>
                        </a:lnSpc>
                        <a:spcBef>
                          <a:spcPts val="360"/>
                        </a:spcBef>
                      </a:pPr>
                      <a:r>
                        <a:rPr dirty="0" sz="1800" spc="-10">
                          <a:solidFill>
                            <a:srgbClr val="40458B"/>
                          </a:solidFill>
                          <a:latin typeface="黑体"/>
                          <a:cs typeface="黑体"/>
                        </a:rPr>
                        <a:t>基本流水线调度</a:t>
                      </a:r>
                      <a:endParaRPr sz="1800">
                        <a:latin typeface="黑体"/>
                        <a:cs typeface="黑体"/>
                      </a:endParaRPr>
                    </a:p>
                  </a:txBody>
                  <a:tcPr marL="0" marR="0" marB="0" marT="4572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CFDB"/>
                    </a:solidFill>
                  </a:tcPr>
                </a:tc>
                <a:tc>
                  <a:txBody>
                    <a:bodyPr/>
                    <a:lstStyle/>
                    <a:p>
                      <a:pPr marL="92075">
                        <a:lnSpc>
                          <a:spcPct val="100000"/>
                        </a:lnSpc>
                        <a:spcBef>
                          <a:spcPts val="360"/>
                        </a:spcBef>
                      </a:pPr>
                      <a:r>
                        <a:rPr dirty="0" sz="1800" spc="-5">
                          <a:solidFill>
                            <a:srgbClr val="D50092"/>
                          </a:solidFill>
                          <a:latin typeface="黑体"/>
                          <a:cs typeface="黑体"/>
                        </a:rPr>
                        <a:t>数据先写后读相关停顿</a:t>
                      </a:r>
                      <a:endParaRPr sz="1800">
                        <a:latin typeface="黑体"/>
                        <a:cs typeface="黑体"/>
                      </a:endParaRPr>
                    </a:p>
                  </a:txBody>
                  <a:tcPr marL="0" marR="0" marB="0" marT="4572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CFDB"/>
                    </a:solidFill>
                  </a:tcPr>
                </a:tc>
              </a:tr>
              <a:tr h="365760">
                <a:tc>
                  <a:txBody>
                    <a:bodyPr/>
                    <a:lstStyle/>
                    <a:p>
                      <a:pPr marL="91440">
                        <a:lnSpc>
                          <a:spcPct val="100000"/>
                        </a:lnSpc>
                        <a:spcBef>
                          <a:spcPts val="365"/>
                        </a:spcBef>
                      </a:pPr>
                      <a:r>
                        <a:rPr dirty="0" sz="1800" spc="-15">
                          <a:solidFill>
                            <a:srgbClr val="40458B"/>
                          </a:solidFill>
                          <a:latin typeface="黑体"/>
                          <a:cs typeface="黑体"/>
                        </a:rPr>
                        <a:t>循环展开</a:t>
                      </a:r>
                      <a:endParaRPr sz="1800">
                        <a:latin typeface="黑体"/>
                        <a:cs typeface="黑体"/>
                      </a:endParaRPr>
                    </a:p>
                  </a:txBody>
                  <a:tcPr marL="0" marR="0" marB="0" marT="4635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9ED"/>
                    </a:solidFill>
                  </a:tcPr>
                </a:tc>
                <a:tc>
                  <a:txBody>
                    <a:bodyPr/>
                    <a:lstStyle/>
                    <a:p>
                      <a:pPr marL="92075">
                        <a:lnSpc>
                          <a:spcPct val="100000"/>
                        </a:lnSpc>
                        <a:spcBef>
                          <a:spcPts val="365"/>
                        </a:spcBef>
                      </a:pPr>
                      <a:r>
                        <a:rPr dirty="0" sz="1800" spc="-10">
                          <a:solidFill>
                            <a:srgbClr val="D50092"/>
                          </a:solidFill>
                          <a:latin typeface="黑体"/>
                          <a:cs typeface="黑体"/>
                        </a:rPr>
                        <a:t>控制相关停顿</a:t>
                      </a:r>
                      <a:endParaRPr sz="1800">
                        <a:latin typeface="黑体"/>
                        <a:cs typeface="黑体"/>
                      </a:endParaRPr>
                    </a:p>
                  </a:txBody>
                  <a:tcPr marL="0" marR="0" marB="0" marT="4635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9ED"/>
                    </a:solidFill>
                  </a:tcPr>
                </a:tc>
              </a:tr>
              <a:tr h="365125">
                <a:tc>
                  <a:txBody>
                    <a:bodyPr/>
                    <a:lstStyle/>
                    <a:p>
                      <a:pPr marL="91440">
                        <a:lnSpc>
                          <a:spcPct val="100000"/>
                        </a:lnSpc>
                        <a:spcBef>
                          <a:spcPts val="365"/>
                        </a:spcBef>
                      </a:pPr>
                      <a:r>
                        <a:rPr dirty="0" sz="1800" spc="-10">
                          <a:solidFill>
                            <a:srgbClr val="40458B"/>
                          </a:solidFill>
                          <a:latin typeface="黑体"/>
                          <a:cs typeface="黑体"/>
                        </a:rPr>
                        <a:t>寄存器换名</a:t>
                      </a:r>
                      <a:endParaRPr sz="1800">
                        <a:latin typeface="黑体"/>
                        <a:cs typeface="黑体"/>
                      </a:endParaRPr>
                    </a:p>
                  </a:txBody>
                  <a:tcPr marL="0" marR="0" marB="0" marT="4635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CFDB"/>
                    </a:solidFill>
                  </a:tcPr>
                </a:tc>
                <a:tc>
                  <a:txBody>
                    <a:bodyPr/>
                    <a:lstStyle/>
                    <a:p>
                      <a:pPr marL="92075">
                        <a:lnSpc>
                          <a:spcPct val="100000"/>
                        </a:lnSpc>
                        <a:spcBef>
                          <a:spcPts val="365"/>
                        </a:spcBef>
                      </a:pPr>
                      <a:r>
                        <a:rPr dirty="0" sz="1800" spc="-5">
                          <a:solidFill>
                            <a:srgbClr val="D50092"/>
                          </a:solidFill>
                          <a:latin typeface="黑体"/>
                          <a:cs typeface="黑体"/>
                        </a:rPr>
                        <a:t>数据写后写和先读后写相关停顿</a:t>
                      </a:r>
                      <a:endParaRPr sz="1800">
                        <a:latin typeface="黑体"/>
                        <a:cs typeface="黑体"/>
                      </a:endParaRPr>
                    </a:p>
                  </a:txBody>
                  <a:tcPr marL="0" marR="0" marB="0" marT="4635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CFDB"/>
                    </a:solidFill>
                  </a:tcPr>
                </a:tc>
              </a:tr>
              <a:tr h="589915">
                <a:tc>
                  <a:txBody>
                    <a:bodyPr/>
                    <a:lstStyle/>
                    <a:p>
                      <a:pPr marL="91440">
                        <a:lnSpc>
                          <a:spcPct val="100000"/>
                        </a:lnSpc>
                        <a:spcBef>
                          <a:spcPts val="365"/>
                        </a:spcBef>
                      </a:pPr>
                      <a:r>
                        <a:rPr dirty="0" sz="1800">
                          <a:solidFill>
                            <a:srgbClr val="40458B"/>
                          </a:solidFill>
                          <a:latin typeface="黑体"/>
                          <a:cs typeface="黑体"/>
                        </a:rPr>
                        <a:t>指令动态调度</a:t>
                      </a:r>
                      <a:r>
                        <a:rPr dirty="0" sz="1800" spc="-10">
                          <a:solidFill>
                            <a:srgbClr val="40458B"/>
                          </a:solidFill>
                          <a:latin typeface="Tahoma"/>
                          <a:cs typeface="Tahoma"/>
                        </a:rPr>
                        <a:t>(</a:t>
                      </a:r>
                      <a:r>
                        <a:rPr dirty="0" sz="1800">
                          <a:solidFill>
                            <a:srgbClr val="40458B"/>
                          </a:solidFill>
                          <a:latin typeface="黑体"/>
                          <a:cs typeface="黑体"/>
                        </a:rPr>
                        <a:t>记分牌和</a:t>
                      </a:r>
                      <a:r>
                        <a:rPr dirty="0" sz="1800" spc="-30">
                          <a:solidFill>
                            <a:srgbClr val="40458B"/>
                          </a:solidFill>
                          <a:latin typeface="Tahoma"/>
                          <a:cs typeface="Tahoma"/>
                        </a:rPr>
                        <a:t>Tomasulo</a:t>
                      </a:r>
                      <a:r>
                        <a:rPr dirty="0" sz="1800">
                          <a:solidFill>
                            <a:srgbClr val="40458B"/>
                          </a:solidFill>
                          <a:latin typeface="黑体"/>
                          <a:cs typeface="黑体"/>
                        </a:rPr>
                        <a:t>算法</a:t>
                      </a:r>
                      <a:r>
                        <a:rPr dirty="0" sz="1800" spc="-50">
                          <a:solidFill>
                            <a:srgbClr val="40458B"/>
                          </a:solidFill>
                          <a:latin typeface="Tahoma"/>
                          <a:cs typeface="Tahoma"/>
                        </a:rPr>
                        <a:t>)</a:t>
                      </a:r>
                      <a:endParaRPr sz="1800">
                        <a:latin typeface="Tahoma"/>
                        <a:cs typeface="Tahoma"/>
                      </a:endParaRPr>
                    </a:p>
                  </a:txBody>
                  <a:tcPr marL="0" marR="0" marB="0" marT="4635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9ED"/>
                    </a:solidFill>
                  </a:tcPr>
                </a:tc>
                <a:tc>
                  <a:txBody>
                    <a:bodyPr/>
                    <a:lstStyle/>
                    <a:p>
                      <a:pPr marL="92075">
                        <a:lnSpc>
                          <a:spcPct val="100000"/>
                        </a:lnSpc>
                        <a:spcBef>
                          <a:spcPts val="365"/>
                        </a:spcBef>
                      </a:pPr>
                      <a:r>
                        <a:rPr dirty="0" sz="1800" spc="-10">
                          <a:solidFill>
                            <a:srgbClr val="D50092"/>
                          </a:solidFill>
                          <a:latin typeface="黑体"/>
                          <a:cs typeface="黑体"/>
                        </a:rPr>
                        <a:t>各种数据相关停顿</a:t>
                      </a:r>
                      <a:endParaRPr sz="1800">
                        <a:latin typeface="黑体"/>
                        <a:cs typeface="黑体"/>
                      </a:endParaRPr>
                    </a:p>
                  </a:txBody>
                  <a:tcPr marL="0" marR="0" marB="0" marT="4635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9ED"/>
                    </a:solidFill>
                  </a:tcPr>
                </a:tc>
              </a:tr>
              <a:tr h="365760">
                <a:tc>
                  <a:txBody>
                    <a:bodyPr/>
                    <a:lstStyle/>
                    <a:p>
                      <a:pPr marL="91440">
                        <a:lnSpc>
                          <a:spcPct val="100000"/>
                        </a:lnSpc>
                        <a:spcBef>
                          <a:spcPts val="370"/>
                        </a:spcBef>
                      </a:pPr>
                      <a:r>
                        <a:rPr dirty="0" sz="1800" spc="-10">
                          <a:solidFill>
                            <a:srgbClr val="40458B"/>
                          </a:solidFill>
                          <a:latin typeface="黑体"/>
                          <a:cs typeface="黑体"/>
                        </a:rPr>
                        <a:t>动态分支预测</a:t>
                      </a:r>
                      <a:endParaRPr sz="1800">
                        <a:latin typeface="黑体"/>
                        <a:cs typeface="黑体"/>
                      </a:endParaRPr>
                    </a:p>
                  </a:txBody>
                  <a:tcPr marL="0" marR="0" marB="0" marT="469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CFDB"/>
                    </a:solidFill>
                  </a:tcPr>
                </a:tc>
                <a:tc>
                  <a:txBody>
                    <a:bodyPr/>
                    <a:lstStyle/>
                    <a:p>
                      <a:pPr marL="92075">
                        <a:lnSpc>
                          <a:spcPct val="100000"/>
                        </a:lnSpc>
                        <a:spcBef>
                          <a:spcPts val="370"/>
                        </a:spcBef>
                      </a:pPr>
                      <a:r>
                        <a:rPr dirty="0" sz="1800" spc="-10">
                          <a:solidFill>
                            <a:srgbClr val="D50092"/>
                          </a:solidFill>
                          <a:latin typeface="黑体"/>
                          <a:cs typeface="黑体"/>
                        </a:rPr>
                        <a:t>控制相关停顿</a:t>
                      </a:r>
                      <a:endParaRPr sz="1800">
                        <a:latin typeface="黑体"/>
                        <a:cs typeface="黑体"/>
                      </a:endParaRPr>
                    </a:p>
                  </a:txBody>
                  <a:tcPr marL="0" marR="0" marB="0" marT="469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CFDB"/>
                    </a:solidFill>
                  </a:tcPr>
                </a:tc>
              </a:tr>
              <a:tr h="639445">
                <a:tc>
                  <a:txBody>
                    <a:bodyPr/>
                    <a:lstStyle/>
                    <a:p>
                      <a:pPr marL="91440">
                        <a:lnSpc>
                          <a:spcPct val="100000"/>
                        </a:lnSpc>
                        <a:spcBef>
                          <a:spcPts val="365"/>
                        </a:spcBef>
                      </a:pPr>
                      <a:r>
                        <a:rPr dirty="0" sz="1800" spc="-25">
                          <a:solidFill>
                            <a:srgbClr val="40458B"/>
                          </a:solidFill>
                          <a:latin typeface="黑体"/>
                          <a:cs typeface="黑体"/>
                        </a:rPr>
                        <a:t>前瞻</a:t>
                      </a:r>
                      <a:endParaRPr sz="1800">
                        <a:latin typeface="黑体"/>
                        <a:cs typeface="黑体"/>
                      </a:endParaRPr>
                    </a:p>
                  </a:txBody>
                  <a:tcPr marL="0" marR="0" marB="0" marT="4635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9ED"/>
                    </a:solidFill>
                  </a:tcPr>
                </a:tc>
                <a:tc>
                  <a:txBody>
                    <a:bodyPr/>
                    <a:lstStyle/>
                    <a:p>
                      <a:pPr marL="92075">
                        <a:lnSpc>
                          <a:spcPct val="100000"/>
                        </a:lnSpc>
                        <a:spcBef>
                          <a:spcPts val="365"/>
                        </a:spcBef>
                      </a:pPr>
                      <a:r>
                        <a:rPr dirty="0" sz="1800">
                          <a:solidFill>
                            <a:srgbClr val="D50092"/>
                          </a:solidFill>
                          <a:latin typeface="黑体"/>
                          <a:cs typeface="黑体"/>
                        </a:rPr>
                        <a:t>所有数据</a:t>
                      </a:r>
                      <a:r>
                        <a:rPr dirty="0" sz="1800" spc="-10">
                          <a:solidFill>
                            <a:srgbClr val="D50092"/>
                          </a:solidFill>
                          <a:latin typeface="Tahoma"/>
                          <a:cs typeface="Tahoma"/>
                        </a:rPr>
                        <a:t>/</a:t>
                      </a:r>
                      <a:r>
                        <a:rPr dirty="0" sz="1800" spc="-10">
                          <a:solidFill>
                            <a:srgbClr val="D50092"/>
                          </a:solidFill>
                          <a:latin typeface="黑体"/>
                          <a:cs typeface="黑体"/>
                        </a:rPr>
                        <a:t>控制相关停顿</a:t>
                      </a:r>
                      <a:endParaRPr sz="1800">
                        <a:latin typeface="黑体"/>
                        <a:cs typeface="黑体"/>
                      </a:endParaRPr>
                    </a:p>
                  </a:txBody>
                  <a:tcPr marL="0" marR="0" marB="0" marT="4635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9ED"/>
                    </a:solidFill>
                  </a:tcPr>
                </a:tc>
              </a:tr>
              <a:tr h="365125">
                <a:tc>
                  <a:txBody>
                    <a:bodyPr/>
                    <a:lstStyle/>
                    <a:p>
                      <a:pPr marL="91440">
                        <a:lnSpc>
                          <a:spcPct val="100000"/>
                        </a:lnSpc>
                        <a:spcBef>
                          <a:spcPts val="365"/>
                        </a:spcBef>
                      </a:pPr>
                      <a:r>
                        <a:rPr dirty="0" sz="1800">
                          <a:solidFill>
                            <a:srgbClr val="40458B"/>
                          </a:solidFill>
                          <a:latin typeface="黑体"/>
                          <a:cs typeface="黑体"/>
                        </a:rPr>
                        <a:t>多指令流出（超标量和超长指令字</a:t>
                      </a:r>
                      <a:r>
                        <a:rPr dirty="0" sz="1800" spc="-50">
                          <a:solidFill>
                            <a:srgbClr val="40458B"/>
                          </a:solidFill>
                          <a:latin typeface="黑体"/>
                          <a:cs typeface="黑体"/>
                        </a:rPr>
                        <a:t>）</a:t>
                      </a:r>
                      <a:endParaRPr sz="1800">
                        <a:latin typeface="黑体"/>
                        <a:cs typeface="黑体"/>
                      </a:endParaRPr>
                    </a:p>
                  </a:txBody>
                  <a:tcPr marL="0" marR="0" marB="0" marT="4635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CFDB"/>
                    </a:solidFill>
                  </a:tcPr>
                </a:tc>
                <a:tc>
                  <a:txBody>
                    <a:bodyPr/>
                    <a:lstStyle/>
                    <a:p>
                      <a:pPr marL="92075">
                        <a:lnSpc>
                          <a:spcPct val="100000"/>
                        </a:lnSpc>
                        <a:spcBef>
                          <a:spcPts val="365"/>
                        </a:spcBef>
                      </a:pPr>
                      <a:r>
                        <a:rPr dirty="0" sz="1800">
                          <a:solidFill>
                            <a:srgbClr val="D50092"/>
                          </a:solidFill>
                          <a:latin typeface="黑体"/>
                          <a:cs typeface="黑体"/>
                        </a:rPr>
                        <a:t>提高理想</a:t>
                      </a:r>
                      <a:r>
                        <a:rPr dirty="0" sz="1800" spc="-25">
                          <a:solidFill>
                            <a:srgbClr val="D50092"/>
                          </a:solidFill>
                          <a:latin typeface="Tahoma"/>
                          <a:cs typeface="Tahoma"/>
                        </a:rPr>
                        <a:t>CPI</a:t>
                      </a:r>
                      <a:endParaRPr sz="1800">
                        <a:latin typeface="Tahoma"/>
                        <a:cs typeface="Tahoma"/>
                      </a:endParaRPr>
                    </a:p>
                  </a:txBody>
                  <a:tcPr marL="0" marR="0" marB="0" marT="4635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CFDB"/>
                    </a:solidFill>
                  </a:tcPr>
                </a:tc>
              </a:tr>
            </a:tbl>
          </a:graphicData>
        </a:graphic>
      </p:graphicFrame>
      <p:sp>
        <p:nvSpPr>
          <p:cNvPr id="9" name="object 9" descr=""/>
          <p:cNvSpPr txBox="1"/>
          <p:nvPr/>
        </p:nvSpPr>
        <p:spPr>
          <a:xfrm>
            <a:off x="2790570" y="1176273"/>
            <a:ext cx="55118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流水线研究的并行技术以及所克服的停顿</a:t>
            </a:r>
            <a:endParaRPr sz="2400">
              <a:latin typeface="黑体"/>
              <a:cs typeface="黑体"/>
            </a:endParaRPr>
          </a:p>
        </p:txBody>
      </p:sp>
      <p:sp>
        <p:nvSpPr>
          <p:cNvPr id="10" name="object 10"/>
          <p:cNvSpPr txBox="1">
            <a:spLocks noGrp="1"/>
          </p:cNvSpPr>
          <p:nvPr>
            <p:ph type="title"/>
          </p:nvPr>
        </p:nvSpPr>
        <p:spPr>
          <a:xfrm>
            <a:off x="977900" y="255778"/>
            <a:ext cx="11226800" cy="452120"/>
          </a:xfrm>
          <a:prstGeom prst="rect"/>
        </p:spPr>
        <p:txBody>
          <a:bodyPr wrap="square" lIns="0" tIns="12065" rIns="0" bIns="0" rtlCol="0" vert="horz">
            <a:spAutoFit/>
          </a:bodyPr>
          <a:lstStyle/>
          <a:p>
            <a:pPr marL="12700">
              <a:lnSpc>
                <a:spcPct val="100000"/>
              </a:lnSpc>
              <a:spcBef>
                <a:spcPts val="95"/>
              </a:spcBef>
              <a:tabLst>
                <a:tab pos="1057910" algn="l"/>
                <a:tab pos="11213465" algn="l"/>
              </a:tabLst>
            </a:pPr>
            <a:r>
              <a:rPr dirty="0" u="heavy" sz="2800">
                <a:solidFill>
                  <a:srgbClr val="000000"/>
                </a:solidFill>
                <a:uFill>
                  <a:solidFill>
                    <a:srgbClr val="2C44A3"/>
                  </a:solidFill>
                </a:uFill>
              </a:rPr>
              <a:t>	5.1</a:t>
            </a:r>
            <a:r>
              <a:rPr dirty="0" u="heavy" sz="2800" spc="15">
                <a:solidFill>
                  <a:srgbClr val="000000"/>
                </a:solidFill>
                <a:uFill>
                  <a:solidFill>
                    <a:srgbClr val="2C44A3"/>
                  </a:solidFill>
                </a:uFill>
              </a:rPr>
              <a:t> </a:t>
            </a:r>
            <a:r>
              <a:rPr dirty="0" u="heavy" sz="2800" spc="-35">
                <a:solidFill>
                  <a:srgbClr val="000000"/>
                </a:solidFill>
                <a:uFill>
                  <a:solidFill>
                    <a:srgbClr val="2C44A3"/>
                  </a:solidFill>
                </a:uFill>
              </a:rPr>
              <a:t>指令</a:t>
            </a:r>
            <a:r>
              <a:rPr dirty="0" u="heavy" sz="2800" spc="-30">
                <a:solidFill>
                  <a:srgbClr val="000000"/>
                </a:solidFill>
                <a:uFill>
                  <a:solidFill>
                    <a:srgbClr val="2C44A3"/>
                  </a:solidFill>
                </a:uFill>
              </a:rPr>
              <a:t>级</a:t>
            </a:r>
            <a:r>
              <a:rPr dirty="0" u="heavy" sz="2800" spc="-35">
                <a:solidFill>
                  <a:srgbClr val="000000"/>
                </a:solidFill>
                <a:uFill>
                  <a:solidFill>
                    <a:srgbClr val="2C44A3"/>
                  </a:solidFill>
                </a:uFill>
              </a:rPr>
              <a:t>并行的</a:t>
            </a:r>
            <a:r>
              <a:rPr dirty="0" u="heavy" sz="2800" spc="-30">
                <a:solidFill>
                  <a:srgbClr val="000000"/>
                </a:solidFill>
                <a:uFill>
                  <a:solidFill>
                    <a:srgbClr val="2C44A3"/>
                  </a:solidFill>
                </a:uFill>
              </a:rPr>
              <a:t>概</a:t>
            </a:r>
            <a:r>
              <a:rPr dirty="0" u="heavy" sz="2800" spc="-50">
                <a:solidFill>
                  <a:srgbClr val="000000"/>
                </a:solidFill>
                <a:uFill>
                  <a:solidFill>
                    <a:srgbClr val="2C44A3"/>
                  </a:solidFill>
                </a:uFill>
              </a:rPr>
              <a:t>念</a:t>
            </a:r>
            <a:r>
              <a:rPr dirty="0" u="heavy" sz="2800">
                <a:solidFill>
                  <a:srgbClr val="000000"/>
                </a:solidFill>
                <a:uFill>
                  <a:solidFill>
                    <a:srgbClr val="2C44A3"/>
                  </a:solidFill>
                </a:uFill>
              </a:rPr>
              <a:t>	</a:t>
            </a:r>
            <a:endParaRPr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97539" y="158242"/>
            <a:ext cx="54356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413715" y="1063574"/>
            <a:ext cx="8561070" cy="2879725"/>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Font typeface="Wingdings"/>
              <a:buChar char=""/>
              <a:tabLst>
                <a:tab pos="469265" algn="l"/>
              </a:tabLst>
            </a:pPr>
            <a:r>
              <a:rPr dirty="0" sz="2400" spc="-5">
                <a:solidFill>
                  <a:srgbClr val="001F5F"/>
                </a:solidFill>
                <a:latin typeface="黑体"/>
                <a:cs typeface="黑体"/>
              </a:rPr>
              <a:t>开发</a:t>
            </a:r>
            <a:r>
              <a:rPr dirty="0" sz="2400" spc="-10">
                <a:solidFill>
                  <a:srgbClr val="001F5F"/>
                </a:solidFill>
                <a:latin typeface="Times New Roman"/>
                <a:cs typeface="Times New Roman"/>
              </a:rPr>
              <a:t>ILP</a:t>
            </a:r>
            <a:r>
              <a:rPr dirty="0" sz="2400" spc="-15">
                <a:solidFill>
                  <a:srgbClr val="001F5F"/>
                </a:solidFill>
                <a:latin typeface="黑体"/>
                <a:cs typeface="黑体"/>
              </a:rPr>
              <a:t>的方法可以分为两大类</a:t>
            </a:r>
            <a:endParaRPr sz="2400">
              <a:latin typeface="黑体"/>
              <a:cs typeface="黑体"/>
            </a:endParaRPr>
          </a:p>
          <a:p>
            <a:pPr lvl="1" marL="1099185" indent="-457200">
              <a:lnSpc>
                <a:spcPct val="100000"/>
              </a:lnSpc>
              <a:spcBef>
                <a:spcPts val="2020"/>
              </a:spcBef>
              <a:buClr>
                <a:srgbClr val="006FC0"/>
              </a:buClr>
              <a:buSzPct val="89583"/>
              <a:buFont typeface="Wingdings"/>
              <a:buChar char=""/>
              <a:tabLst>
                <a:tab pos="1099185" algn="l"/>
              </a:tabLst>
            </a:pPr>
            <a:r>
              <a:rPr dirty="0" sz="2400" spc="-5">
                <a:solidFill>
                  <a:srgbClr val="40458B"/>
                </a:solidFill>
                <a:latin typeface="黑体"/>
                <a:cs typeface="黑体"/>
              </a:rPr>
              <a:t>主要基于硬件的动态开发方法</a:t>
            </a:r>
            <a:endParaRPr sz="2400">
              <a:latin typeface="黑体"/>
              <a:cs typeface="黑体"/>
            </a:endParaRPr>
          </a:p>
          <a:p>
            <a:pPr lvl="1" marL="1099185" indent="-457200">
              <a:lnSpc>
                <a:spcPct val="100000"/>
              </a:lnSpc>
              <a:spcBef>
                <a:spcPts val="2014"/>
              </a:spcBef>
              <a:buClr>
                <a:srgbClr val="006FC0"/>
              </a:buClr>
              <a:buSzPct val="89583"/>
              <a:buFont typeface="Wingdings"/>
              <a:buChar char=""/>
              <a:tabLst>
                <a:tab pos="1099185" algn="l"/>
              </a:tabLst>
            </a:pPr>
            <a:r>
              <a:rPr dirty="0" sz="2400" spc="-5">
                <a:solidFill>
                  <a:srgbClr val="40458B"/>
                </a:solidFill>
                <a:latin typeface="黑体"/>
                <a:cs typeface="黑体"/>
              </a:rPr>
              <a:t>基于软件的静态开发方法</a:t>
            </a:r>
            <a:endParaRPr sz="2400">
              <a:latin typeface="黑体"/>
              <a:cs typeface="黑体"/>
            </a:endParaRPr>
          </a:p>
          <a:p>
            <a:pPr marL="469265" indent="-456565">
              <a:lnSpc>
                <a:spcPct val="100000"/>
              </a:lnSpc>
              <a:spcBef>
                <a:spcPts val="2020"/>
              </a:spcBef>
              <a:buClr>
                <a:srgbClr val="40458B"/>
              </a:buClr>
              <a:buFont typeface="Wingdings"/>
              <a:buChar char=""/>
              <a:tabLst>
                <a:tab pos="469265" algn="l"/>
              </a:tabLst>
            </a:pPr>
            <a:r>
              <a:rPr dirty="0" sz="2400">
                <a:solidFill>
                  <a:srgbClr val="001F5F"/>
                </a:solidFill>
                <a:latin typeface="黑体"/>
                <a:cs typeface="黑体"/>
              </a:rPr>
              <a:t>流水线处理机的实际</a:t>
            </a:r>
            <a:r>
              <a:rPr dirty="0" sz="2400" spc="-10">
                <a:solidFill>
                  <a:srgbClr val="9933FF"/>
                </a:solidFill>
                <a:latin typeface="黑体"/>
                <a:cs typeface="黑体"/>
              </a:rPr>
              <a:t>CPI(执行一条指令所需要的时钟周期数)</a:t>
            </a:r>
            <a:endParaRPr sz="2400">
              <a:latin typeface="黑体"/>
              <a:cs typeface="黑体"/>
            </a:endParaRPr>
          </a:p>
          <a:p>
            <a:pPr lvl="1" marL="1099185" indent="-457200">
              <a:lnSpc>
                <a:spcPct val="100000"/>
              </a:lnSpc>
              <a:spcBef>
                <a:spcPts val="2014"/>
              </a:spcBef>
              <a:buClr>
                <a:srgbClr val="006FC0"/>
              </a:buClr>
              <a:buSzPct val="89583"/>
              <a:buFont typeface="Wingdings"/>
              <a:buChar char=""/>
              <a:tabLst>
                <a:tab pos="1099185" algn="l"/>
              </a:tabLst>
            </a:pPr>
            <a:r>
              <a:rPr dirty="0" sz="2400">
                <a:solidFill>
                  <a:srgbClr val="40458B"/>
                </a:solidFill>
                <a:latin typeface="黑体"/>
                <a:cs typeface="黑体"/>
              </a:rPr>
              <a:t>理想流水线的</a:t>
            </a:r>
            <a:r>
              <a:rPr dirty="0" sz="2400">
                <a:solidFill>
                  <a:srgbClr val="9933FF"/>
                </a:solidFill>
                <a:latin typeface="黑体"/>
                <a:cs typeface="黑体"/>
              </a:rPr>
              <a:t>CPI</a:t>
            </a:r>
            <a:r>
              <a:rPr dirty="0" sz="2400" spc="-5">
                <a:solidFill>
                  <a:srgbClr val="40458B"/>
                </a:solidFill>
                <a:latin typeface="黑体"/>
                <a:cs typeface="黑体"/>
              </a:rPr>
              <a:t>加上各类停顿的时钟周期数：</a:t>
            </a:r>
            <a:endParaRPr sz="2400">
              <a:latin typeface="黑体"/>
              <a:cs typeface="黑体"/>
            </a:endParaRPr>
          </a:p>
        </p:txBody>
      </p:sp>
      <p:sp>
        <p:nvSpPr>
          <p:cNvPr id="10" name="object 10" descr=""/>
          <p:cNvSpPr txBox="1"/>
          <p:nvPr/>
        </p:nvSpPr>
        <p:spPr>
          <a:xfrm>
            <a:off x="1418844" y="4143247"/>
            <a:ext cx="2086610" cy="330835"/>
          </a:xfrm>
          <a:prstGeom prst="rect">
            <a:avLst/>
          </a:prstGeom>
        </p:spPr>
        <p:txBody>
          <a:bodyPr wrap="square" lIns="0" tIns="12700" rIns="0" bIns="0" rtlCol="0" vert="horz">
            <a:spAutoFit/>
          </a:bodyPr>
          <a:lstStyle/>
          <a:p>
            <a:pPr marL="38100">
              <a:lnSpc>
                <a:spcPct val="100000"/>
              </a:lnSpc>
              <a:spcBef>
                <a:spcPts val="100"/>
              </a:spcBef>
            </a:pPr>
            <a:r>
              <a:rPr dirty="0" sz="2000" spc="-10" b="1">
                <a:latin typeface="宋体"/>
                <a:cs typeface="宋体"/>
              </a:rPr>
              <a:t>CPI</a:t>
            </a:r>
            <a:r>
              <a:rPr dirty="0" baseline="-21367" sz="1950" spc="142" b="1">
                <a:latin typeface="宋体"/>
                <a:cs typeface="宋体"/>
              </a:rPr>
              <a:t>流水线 </a:t>
            </a:r>
            <a:r>
              <a:rPr dirty="0" sz="2000" spc="40" b="1">
                <a:latin typeface="宋体"/>
                <a:cs typeface="宋体"/>
              </a:rPr>
              <a:t>= </a:t>
            </a:r>
            <a:r>
              <a:rPr dirty="0" sz="2000" spc="-10" b="1">
                <a:latin typeface="宋体"/>
                <a:cs typeface="宋体"/>
              </a:rPr>
              <a:t>CPI</a:t>
            </a:r>
            <a:r>
              <a:rPr dirty="0" baseline="-21367" sz="1950" spc="-37" b="1">
                <a:latin typeface="宋体"/>
                <a:cs typeface="宋体"/>
              </a:rPr>
              <a:t>理想</a:t>
            </a:r>
            <a:endParaRPr baseline="-21367" sz="1950">
              <a:latin typeface="宋体"/>
              <a:cs typeface="宋体"/>
            </a:endParaRPr>
          </a:p>
        </p:txBody>
      </p:sp>
      <p:sp>
        <p:nvSpPr>
          <p:cNvPr id="11" name="object 11" descr=""/>
          <p:cNvSpPr txBox="1"/>
          <p:nvPr/>
        </p:nvSpPr>
        <p:spPr>
          <a:xfrm>
            <a:off x="3552444" y="4205732"/>
            <a:ext cx="4682490" cy="330835"/>
          </a:xfrm>
          <a:prstGeom prst="rect">
            <a:avLst/>
          </a:prstGeom>
        </p:spPr>
        <p:txBody>
          <a:bodyPr wrap="square" lIns="0" tIns="12700" rIns="0" bIns="0" rtlCol="0" vert="horz">
            <a:spAutoFit/>
          </a:bodyPr>
          <a:lstStyle/>
          <a:p>
            <a:pPr marL="38100">
              <a:lnSpc>
                <a:spcPct val="100000"/>
              </a:lnSpc>
              <a:spcBef>
                <a:spcPts val="100"/>
              </a:spcBef>
            </a:pPr>
            <a:r>
              <a:rPr dirty="0" baseline="13888" sz="3000" spc="15" b="1">
                <a:latin typeface="宋体"/>
                <a:cs typeface="宋体"/>
              </a:rPr>
              <a:t>+ 停顿</a:t>
            </a:r>
            <a:r>
              <a:rPr dirty="0" sz="1300" spc="75" b="1">
                <a:latin typeface="宋体"/>
                <a:cs typeface="宋体"/>
              </a:rPr>
              <a:t>结构冲突 </a:t>
            </a:r>
            <a:r>
              <a:rPr dirty="0" baseline="13888" sz="3000" spc="15" b="1">
                <a:latin typeface="宋体"/>
                <a:cs typeface="宋体"/>
              </a:rPr>
              <a:t>+ 停顿</a:t>
            </a:r>
            <a:r>
              <a:rPr dirty="0" sz="1300" spc="80" b="1">
                <a:latin typeface="宋体"/>
                <a:cs typeface="宋体"/>
              </a:rPr>
              <a:t>数据冲突 </a:t>
            </a:r>
            <a:r>
              <a:rPr dirty="0" baseline="13888" sz="3000" spc="15" b="1">
                <a:latin typeface="宋体"/>
                <a:cs typeface="宋体"/>
              </a:rPr>
              <a:t>+ 停顿</a:t>
            </a:r>
            <a:r>
              <a:rPr dirty="0" sz="1300" spc="-15" b="1">
                <a:latin typeface="宋体"/>
                <a:cs typeface="宋体"/>
              </a:rPr>
              <a:t>控制冲突</a:t>
            </a:r>
            <a:endParaRPr sz="1300">
              <a:latin typeface="宋体"/>
              <a:cs typeface="宋体"/>
            </a:endParaRPr>
          </a:p>
        </p:txBody>
      </p:sp>
      <p:sp>
        <p:nvSpPr>
          <p:cNvPr id="12" name="object 12" descr=""/>
          <p:cNvSpPr txBox="1"/>
          <p:nvPr/>
        </p:nvSpPr>
        <p:spPr>
          <a:xfrm>
            <a:off x="1043127" y="4691888"/>
            <a:ext cx="6426835" cy="1590675"/>
          </a:xfrm>
          <a:prstGeom prst="rect">
            <a:avLst/>
          </a:prstGeom>
        </p:spPr>
        <p:txBody>
          <a:bodyPr wrap="square" lIns="0" tIns="12700" rIns="0" bIns="0" rtlCol="0" vert="horz">
            <a:spAutoFit/>
          </a:bodyPr>
          <a:lstStyle/>
          <a:p>
            <a:pPr marL="469900" indent="-457200">
              <a:lnSpc>
                <a:spcPct val="100000"/>
              </a:lnSpc>
              <a:spcBef>
                <a:spcPts val="100"/>
              </a:spcBef>
              <a:buClr>
                <a:srgbClr val="006FC0"/>
              </a:buClr>
              <a:buSzPct val="89583"/>
              <a:buFont typeface="Wingdings"/>
              <a:buChar char=""/>
              <a:tabLst>
                <a:tab pos="469900" algn="l"/>
              </a:tabLst>
            </a:pPr>
            <a:r>
              <a:rPr dirty="0" sz="2400">
                <a:solidFill>
                  <a:srgbClr val="40458B"/>
                </a:solidFill>
                <a:latin typeface="黑体"/>
                <a:cs typeface="黑体"/>
              </a:rPr>
              <a:t>理想</a:t>
            </a:r>
            <a:r>
              <a:rPr dirty="0" sz="2400">
                <a:solidFill>
                  <a:srgbClr val="9933FF"/>
                </a:solidFill>
                <a:latin typeface="黑体"/>
                <a:cs typeface="黑体"/>
              </a:rPr>
              <a:t>CPI</a:t>
            </a:r>
            <a:r>
              <a:rPr dirty="0" sz="2400" spc="-5">
                <a:solidFill>
                  <a:srgbClr val="40458B"/>
                </a:solidFill>
                <a:latin typeface="黑体"/>
                <a:cs typeface="黑体"/>
              </a:rPr>
              <a:t>是衡量流水线最高性能的一个指标。</a:t>
            </a:r>
            <a:endParaRPr sz="2400">
              <a:latin typeface="黑体"/>
              <a:cs typeface="黑体"/>
            </a:endParaRPr>
          </a:p>
          <a:p>
            <a:pPr marL="469900" indent="-457200">
              <a:lnSpc>
                <a:spcPct val="100000"/>
              </a:lnSpc>
              <a:spcBef>
                <a:spcPts val="2014"/>
              </a:spcBef>
              <a:buClr>
                <a:srgbClr val="006FC0"/>
              </a:buClr>
              <a:buSzPct val="89583"/>
              <a:buFont typeface="Wingdings"/>
              <a:buChar char=""/>
              <a:tabLst>
                <a:tab pos="469900" algn="l"/>
              </a:tabLst>
            </a:pPr>
            <a:r>
              <a:rPr dirty="0" sz="2400">
                <a:solidFill>
                  <a:srgbClr val="FF0000"/>
                </a:solidFill>
                <a:latin typeface="黑体"/>
                <a:cs typeface="黑体"/>
              </a:rPr>
              <a:t>IPC</a:t>
            </a:r>
            <a:r>
              <a:rPr dirty="0" sz="2400">
                <a:solidFill>
                  <a:srgbClr val="40458B"/>
                </a:solidFill>
                <a:latin typeface="黑体"/>
                <a:cs typeface="黑体"/>
              </a:rPr>
              <a:t>：Instructions</a:t>
            </a:r>
            <a:r>
              <a:rPr dirty="0" sz="2400" spc="-60">
                <a:solidFill>
                  <a:srgbClr val="40458B"/>
                </a:solidFill>
                <a:latin typeface="黑体"/>
                <a:cs typeface="黑体"/>
              </a:rPr>
              <a:t> </a:t>
            </a:r>
            <a:r>
              <a:rPr dirty="0" sz="2400">
                <a:solidFill>
                  <a:srgbClr val="40458B"/>
                </a:solidFill>
                <a:latin typeface="黑体"/>
                <a:cs typeface="黑体"/>
              </a:rPr>
              <a:t>Per</a:t>
            </a:r>
            <a:r>
              <a:rPr dirty="0" sz="2400" spc="-45">
                <a:solidFill>
                  <a:srgbClr val="40458B"/>
                </a:solidFill>
                <a:latin typeface="黑体"/>
                <a:cs typeface="黑体"/>
              </a:rPr>
              <a:t> </a:t>
            </a:r>
            <a:r>
              <a:rPr dirty="0" sz="2400" spc="-10">
                <a:solidFill>
                  <a:srgbClr val="40458B"/>
                </a:solidFill>
                <a:latin typeface="黑体"/>
                <a:cs typeface="黑体"/>
              </a:rPr>
              <a:t>Cycle</a:t>
            </a:r>
            <a:endParaRPr sz="2400">
              <a:latin typeface="黑体"/>
              <a:cs typeface="黑体"/>
            </a:endParaRPr>
          </a:p>
          <a:p>
            <a:pPr marL="393700">
              <a:lnSpc>
                <a:spcPct val="100000"/>
              </a:lnSpc>
              <a:spcBef>
                <a:spcPts val="1905"/>
              </a:spcBef>
            </a:pPr>
            <a:r>
              <a:rPr dirty="0" sz="2200" spc="-20" b="1">
                <a:solidFill>
                  <a:srgbClr val="9966FF"/>
                </a:solidFill>
                <a:latin typeface="宋体"/>
                <a:cs typeface="宋体"/>
              </a:rPr>
              <a:t>（每个时钟周期完成的指令条数</a:t>
            </a:r>
            <a:r>
              <a:rPr dirty="0" sz="2200" spc="-50" b="1">
                <a:solidFill>
                  <a:srgbClr val="9966FF"/>
                </a:solidFill>
                <a:latin typeface="宋体"/>
                <a:cs typeface="宋体"/>
              </a:rPr>
              <a:t>）</a:t>
            </a:r>
            <a:endParaRPr sz="2200">
              <a:latin typeface="宋体"/>
              <a:cs typeface="宋体"/>
            </a:endParaRPr>
          </a:p>
        </p:txBody>
      </p:sp>
      <p:sp>
        <p:nvSpPr>
          <p:cNvPr id="13" name="object 13"/>
          <p:cNvSpPr txBox="1">
            <a:spLocks noGrp="1"/>
          </p:cNvSpPr>
          <p:nvPr>
            <p:ph type="title"/>
          </p:nvPr>
        </p:nvSpPr>
        <p:spPr>
          <a:xfrm>
            <a:off x="2936875" y="233883"/>
            <a:ext cx="3580765" cy="452120"/>
          </a:xfrm>
          <a:prstGeom prst="rect"/>
        </p:spPr>
        <p:txBody>
          <a:bodyPr wrap="square" lIns="0" tIns="12065" rIns="0" bIns="0" rtlCol="0" vert="horz">
            <a:spAutoFit/>
          </a:bodyPr>
          <a:lstStyle/>
          <a:p>
            <a:pPr marL="12700">
              <a:lnSpc>
                <a:spcPct val="100000"/>
              </a:lnSpc>
              <a:spcBef>
                <a:spcPts val="95"/>
              </a:spcBef>
            </a:pPr>
            <a:r>
              <a:rPr dirty="0" sz="2800">
                <a:solidFill>
                  <a:srgbClr val="000000"/>
                </a:solidFill>
              </a:rPr>
              <a:t>5.1</a:t>
            </a:r>
            <a:r>
              <a:rPr dirty="0" sz="2800" spc="-40">
                <a:solidFill>
                  <a:srgbClr val="000000"/>
                </a:solidFill>
              </a:rPr>
              <a:t> 指令级并行的概念</a:t>
            </a:r>
            <a:endParaRPr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97539" y="158242"/>
            <a:ext cx="54356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82317" y="191770"/>
            <a:ext cx="4090035" cy="513715"/>
          </a:xfrm>
          <a:prstGeom prst="rect"/>
        </p:spPr>
        <p:txBody>
          <a:bodyPr wrap="square" lIns="0" tIns="12700" rIns="0" bIns="0" rtlCol="0" vert="horz">
            <a:spAutoFit/>
          </a:bodyPr>
          <a:lstStyle/>
          <a:p>
            <a:pPr marL="12700">
              <a:lnSpc>
                <a:spcPct val="100000"/>
              </a:lnSpc>
              <a:spcBef>
                <a:spcPts val="100"/>
              </a:spcBef>
            </a:pPr>
            <a:r>
              <a:rPr dirty="0"/>
              <a:t>5.1</a:t>
            </a:r>
            <a:r>
              <a:rPr dirty="0" spc="-20"/>
              <a:t> 指令级并行的概念</a:t>
            </a:r>
          </a:p>
        </p:txBody>
      </p:sp>
      <p:sp>
        <p:nvSpPr>
          <p:cNvPr id="10" name="object 10" descr=""/>
          <p:cNvSpPr txBox="1"/>
          <p:nvPr/>
        </p:nvSpPr>
        <p:spPr>
          <a:xfrm>
            <a:off x="413715" y="892555"/>
            <a:ext cx="10866120" cy="3025775"/>
          </a:xfrm>
          <a:prstGeom prst="rect">
            <a:avLst/>
          </a:prstGeom>
        </p:spPr>
        <p:txBody>
          <a:bodyPr wrap="square" lIns="0" tIns="158750" rIns="0" bIns="0" rtlCol="0" vert="horz">
            <a:spAutoFit/>
          </a:bodyPr>
          <a:lstStyle/>
          <a:p>
            <a:pPr marL="12700">
              <a:lnSpc>
                <a:spcPct val="100000"/>
              </a:lnSpc>
              <a:spcBef>
                <a:spcPts val="1250"/>
              </a:spcBef>
            </a:pPr>
            <a:r>
              <a:rPr dirty="0" sz="2400" spc="-10">
                <a:solidFill>
                  <a:srgbClr val="001F5F"/>
                </a:solidFill>
                <a:latin typeface="黑体"/>
                <a:cs typeface="黑体"/>
              </a:rPr>
              <a:t>基本程序块</a:t>
            </a:r>
            <a:endParaRPr sz="2400">
              <a:latin typeface="黑体"/>
              <a:cs typeface="黑体"/>
            </a:endParaRPr>
          </a:p>
          <a:p>
            <a:pPr marL="1099185" marR="5080" indent="-457834">
              <a:lnSpc>
                <a:spcPct val="120000"/>
              </a:lnSpc>
              <a:spcBef>
                <a:spcPts val="575"/>
              </a:spcBef>
              <a:buClr>
                <a:srgbClr val="40458B"/>
              </a:buClr>
              <a:buSzPct val="89583"/>
              <a:buFont typeface="Wingdings"/>
              <a:buChar char=""/>
              <a:tabLst>
                <a:tab pos="1099185" algn="l"/>
              </a:tabLst>
            </a:pPr>
            <a:r>
              <a:rPr dirty="0" sz="2400">
                <a:solidFill>
                  <a:srgbClr val="FF0000"/>
                </a:solidFill>
                <a:latin typeface="黑体"/>
                <a:cs typeface="黑体"/>
              </a:rPr>
              <a:t>基本程序块</a:t>
            </a:r>
            <a:r>
              <a:rPr dirty="0" sz="2400" spc="-5">
                <a:solidFill>
                  <a:srgbClr val="40458B"/>
                </a:solidFill>
                <a:latin typeface="黑体"/>
                <a:cs typeface="黑体"/>
              </a:rPr>
              <a:t>：一串连续的代码除了入口和出口以外，没有其他的分支指令</a:t>
            </a:r>
            <a:r>
              <a:rPr dirty="0" sz="2400" spc="-95">
                <a:solidFill>
                  <a:srgbClr val="40458B"/>
                </a:solidFill>
                <a:latin typeface="黑体"/>
                <a:cs typeface="黑体"/>
              </a:rPr>
              <a:t>和转入点 。</a:t>
            </a:r>
            <a:endParaRPr sz="2400">
              <a:latin typeface="黑体"/>
              <a:cs typeface="黑体"/>
            </a:endParaRPr>
          </a:p>
          <a:p>
            <a:pPr marL="12700" marR="3834765" indent="1086485">
              <a:lnSpc>
                <a:spcPct val="140000"/>
              </a:lnSpc>
              <a:spcBef>
                <a:spcPts val="5"/>
              </a:spcBef>
              <a:buSzPct val="89583"/>
              <a:buFont typeface="Wingdings"/>
              <a:buChar char=""/>
              <a:tabLst>
                <a:tab pos="1099185" algn="l"/>
              </a:tabLst>
            </a:pPr>
            <a:r>
              <a:rPr dirty="0" sz="2400">
                <a:solidFill>
                  <a:srgbClr val="40458B"/>
                </a:solidFill>
                <a:latin typeface="黑体"/>
                <a:cs typeface="黑体"/>
              </a:rPr>
              <a:t>程序平均每</a:t>
            </a:r>
            <a:r>
              <a:rPr dirty="0" sz="2400">
                <a:solidFill>
                  <a:srgbClr val="9933FF"/>
                </a:solidFill>
                <a:latin typeface="黑体"/>
                <a:cs typeface="黑体"/>
              </a:rPr>
              <a:t>4～7</a:t>
            </a:r>
            <a:r>
              <a:rPr dirty="0" sz="2400" spc="-5">
                <a:solidFill>
                  <a:srgbClr val="40458B"/>
                </a:solidFill>
                <a:latin typeface="黑体"/>
                <a:cs typeface="黑体"/>
              </a:rPr>
              <a:t>条指令就会有一个分支。</a:t>
            </a:r>
            <a:r>
              <a:rPr dirty="0" sz="2400" spc="600">
                <a:solidFill>
                  <a:srgbClr val="40458B"/>
                </a:solidFill>
                <a:latin typeface="黑体"/>
                <a:cs typeface="黑体"/>
              </a:rPr>
              <a:t> </a:t>
            </a:r>
            <a:r>
              <a:rPr dirty="0" sz="2400" spc="-10">
                <a:solidFill>
                  <a:srgbClr val="FF0000"/>
                </a:solidFill>
                <a:latin typeface="黑体"/>
                <a:cs typeface="黑体"/>
              </a:rPr>
              <a:t>循环级并行：</a:t>
            </a:r>
            <a:r>
              <a:rPr dirty="0" sz="2400" spc="-15">
                <a:solidFill>
                  <a:srgbClr val="001F5F"/>
                </a:solidFill>
                <a:latin typeface="黑体"/>
                <a:cs typeface="黑体"/>
              </a:rPr>
              <a:t>使一个循环中的不同循环体并行执行。</a:t>
            </a:r>
            <a:endParaRPr sz="2400">
              <a:latin typeface="黑体"/>
              <a:cs typeface="黑体"/>
            </a:endParaRPr>
          </a:p>
          <a:p>
            <a:pPr marL="1099185" indent="-457200">
              <a:lnSpc>
                <a:spcPct val="100000"/>
              </a:lnSpc>
              <a:spcBef>
                <a:spcPts val="1155"/>
              </a:spcBef>
              <a:buSzPct val="89583"/>
              <a:buFont typeface="Wingdings"/>
              <a:buChar char=""/>
              <a:tabLst>
                <a:tab pos="1099185" algn="l"/>
              </a:tabLst>
            </a:pPr>
            <a:r>
              <a:rPr dirty="0" sz="2400" spc="-5">
                <a:solidFill>
                  <a:srgbClr val="40458B"/>
                </a:solidFill>
                <a:latin typeface="黑体"/>
                <a:cs typeface="黑体"/>
              </a:rPr>
              <a:t>开发循环的不同叠代之间存在的并行性</a:t>
            </a:r>
            <a:endParaRPr sz="2400">
              <a:latin typeface="黑体"/>
              <a:cs typeface="黑体"/>
            </a:endParaRPr>
          </a:p>
        </p:txBody>
      </p:sp>
      <p:sp>
        <p:nvSpPr>
          <p:cNvPr id="11" name="object 11" descr=""/>
          <p:cNvSpPr txBox="1"/>
          <p:nvPr/>
        </p:nvSpPr>
        <p:spPr>
          <a:xfrm>
            <a:off x="1043127" y="3907040"/>
            <a:ext cx="4445635" cy="949960"/>
          </a:xfrm>
          <a:prstGeom prst="rect">
            <a:avLst/>
          </a:prstGeom>
        </p:spPr>
        <p:txBody>
          <a:bodyPr wrap="square" lIns="0" tIns="127635" rIns="0" bIns="0" rtlCol="0" vert="horz">
            <a:spAutoFit/>
          </a:bodyPr>
          <a:lstStyle/>
          <a:p>
            <a:pPr marL="751840" indent="-457200">
              <a:lnSpc>
                <a:spcPct val="100000"/>
              </a:lnSpc>
              <a:spcBef>
                <a:spcPts val="1005"/>
              </a:spcBef>
              <a:buClr>
                <a:srgbClr val="4668F5"/>
              </a:buClr>
              <a:buSzPct val="70000"/>
              <a:buFont typeface="Wingdings"/>
              <a:buChar char=""/>
              <a:tabLst>
                <a:tab pos="751840" algn="l"/>
              </a:tabLst>
            </a:pPr>
            <a:r>
              <a:rPr dirty="0" sz="2000" spc="-20" b="1">
                <a:solidFill>
                  <a:srgbClr val="9966FF"/>
                </a:solidFill>
                <a:latin typeface="宋体"/>
                <a:cs typeface="宋体"/>
              </a:rPr>
              <a:t>最常见、最基本</a:t>
            </a:r>
            <a:endParaRPr sz="2000">
              <a:latin typeface="宋体"/>
              <a:cs typeface="宋体"/>
            </a:endParaRPr>
          </a:p>
          <a:p>
            <a:pPr marL="469900" indent="-457200">
              <a:lnSpc>
                <a:spcPct val="100000"/>
              </a:lnSpc>
              <a:spcBef>
                <a:spcPts val="1090"/>
              </a:spcBef>
              <a:buSzPct val="89583"/>
              <a:buFont typeface="Wingdings"/>
              <a:buChar char=""/>
              <a:tabLst>
                <a:tab pos="469900" algn="l"/>
              </a:tabLst>
            </a:pPr>
            <a:r>
              <a:rPr dirty="0" sz="2400" spc="-15">
                <a:solidFill>
                  <a:srgbClr val="40458B"/>
                </a:solidFill>
                <a:latin typeface="黑体"/>
                <a:cs typeface="黑体"/>
              </a:rPr>
              <a:t>是指令级并行研究的重点之一</a:t>
            </a:r>
            <a:endParaRPr sz="2400">
              <a:latin typeface="黑体"/>
              <a:cs typeface="黑体"/>
            </a:endParaRPr>
          </a:p>
        </p:txBody>
      </p:sp>
      <p:sp>
        <p:nvSpPr>
          <p:cNvPr id="12" name="object 12" descr=""/>
          <p:cNvSpPr txBox="1"/>
          <p:nvPr/>
        </p:nvSpPr>
        <p:spPr>
          <a:xfrm>
            <a:off x="6383401" y="3865562"/>
            <a:ext cx="5570855" cy="2568575"/>
          </a:xfrm>
          <a:prstGeom prst="rect">
            <a:avLst/>
          </a:prstGeom>
          <a:ln w="9525">
            <a:solidFill>
              <a:srgbClr val="FF0000"/>
            </a:solidFill>
          </a:ln>
        </p:spPr>
        <p:txBody>
          <a:bodyPr wrap="square" lIns="0" tIns="37465" rIns="0" bIns="0" rtlCol="0" vert="horz">
            <a:spAutoFit/>
          </a:bodyPr>
          <a:lstStyle/>
          <a:p>
            <a:pPr marL="721360">
              <a:lnSpc>
                <a:spcPct val="100000"/>
              </a:lnSpc>
              <a:spcBef>
                <a:spcPts val="295"/>
              </a:spcBef>
            </a:pPr>
            <a:r>
              <a:rPr dirty="0" sz="2400" spc="-10">
                <a:solidFill>
                  <a:srgbClr val="E14B04"/>
                </a:solidFill>
                <a:latin typeface="黑体"/>
                <a:cs typeface="黑体"/>
              </a:rPr>
              <a:t>例如，</a:t>
            </a:r>
            <a:r>
              <a:rPr dirty="0" sz="2400" spc="-20">
                <a:solidFill>
                  <a:srgbClr val="40458B"/>
                </a:solidFill>
                <a:latin typeface="黑体"/>
                <a:cs typeface="黑体"/>
              </a:rPr>
              <a:t>考虑下述语句：</a:t>
            </a:r>
            <a:endParaRPr sz="2400">
              <a:latin typeface="黑体"/>
              <a:cs typeface="黑体"/>
            </a:endParaRPr>
          </a:p>
          <a:p>
            <a:pPr marL="1402715">
              <a:lnSpc>
                <a:spcPct val="100000"/>
              </a:lnSpc>
              <a:spcBef>
                <a:spcPts val="90"/>
              </a:spcBef>
            </a:pPr>
            <a:r>
              <a:rPr dirty="0" sz="2000">
                <a:solidFill>
                  <a:srgbClr val="40458B"/>
                </a:solidFill>
                <a:latin typeface="宋体"/>
                <a:cs typeface="宋体"/>
              </a:rPr>
              <a:t>for</a:t>
            </a:r>
            <a:r>
              <a:rPr dirty="0" sz="2000" spc="-10">
                <a:solidFill>
                  <a:srgbClr val="40458B"/>
                </a:solidFill>
                <a:latin typeface="宋体"/>
                <a:cs typeface="宋体"/>
              </a:rPr>
              <a:t> </a:t>
            </a:r>
            <a:r>
              <a:rPr dirty="0" sz="2000">
                <a:solidFill>
                  <a:srgbClr val="40458B"/>
                </a:solidFill>
                <a:latin typeface="黑体"/>
                <a:cs typeface="黑体"/>
              </a:rPr>
              <a:t>（</a:t>
            </a:r>
            <a:r>
              <a:rPr dirty="0" sz="2000">
                <a:solidFill>
                  <a:srgbClr val="40458B"/>
                </a:solidFill>
                <a:latin typeface="宋体"/>
                <a:cs typeface="宋体"/>
              </a:rPr>
              <a:t>i=1</a:t>
            </a:r>
            <a:r>
              <a:rPr dirty="0" sz="2000">
                <a:solidFill>
                  <a:srgbClr val="40458B"/>
                </a:solidFill>
                <a:latin typeface="黑体"/>
                <a:cs typeface="黑体"/>
              </a:rPr>
              <a:t>；</a:t>
            </a:r>
            <a:r>
              <a:rPr dirty="0" sz="2000" spc="-30">
                <a:solidFill>
                  <a:srgbClr val="40458B"/>
                </a:solidFill>
                <a:latin typeface="黑体"/>
                <a:cs typeface="黑体"/>
              </a:rPr>
              <a:t> </a:t>
            </a:r>
            <a:r>
              <a:rPr dirty="0" sz="2000">
                <a:solidFill>
                  <a:srgbClr val="40458B"/>
                </a:solidFill>
                <a:latin typeface="宋体"/>
                <a:cs typeface="宋体"/>
              </a:rPr>
              <a:t>i&lt;=500</a:t>
            </a:r>
            <a:r>
              <a:rPr dirty="0" sz="2000">
                <a:solidFill>
                  <a:srgbClr val="40458B"/>
                </a:solidFill>
                <a:latin typeface="黑体"/>
                <a:cs typeface="黑体"/>
              </a:rPr>
              <a:t>；</a:t>
            </a:r>
            <a:r>
              <a:rPr dirty="0" sz="2000" spc="-30">
                <a:solidFill>
                  <a:srgbClr val="40458B"/>
                </a:solidFill>
                <a:latin typeface="黑体"/>
                <a:cs typeface="黑体"/>
              </a:rPr>
              <a:t> </a:t>
            </a:r>
            <a:r>
              <a:rPr dirty="0" sz="2000" spc="-10">
                <a:solidFill>
                  <a:srgbClr val="40458B"/>
                </a:solidFill>
                <a:latin typeface="宋体"/>
                <a:cs typeface="宋体"/>
              </a:rPr>
              <a:t>i=i</a:t>
            </a:r>
            <a:r>
              <a:rPr dirty="0" sz="2000" spc="-10">
                <a:solidFill>
                  <a:srgbClr val="40458B"/>
                </a:solidFill>
                <a:latin typeface="黑体"/>
                <a:cs typeface="黑体"/>
              </a:rPr>
              <a:t>＋</a:t>
            </a:r>
            <a:r>
              <a:rPr dirty="0" sz="2000" spc="-10">
                <a:solidFill>
                  <a:srgbClr val="40458B"/>
                </a:solidFill>
                <a:latin typeface="宋体"/>
                <a:cs typeface="宋体"/>
              </a:rPr>
              <a:t>1</a:t>
            </a:r>
            <a:r>
              <a:rPr dirty="0" sz="2000" spc="-10">
                <a:solidFill>
                  <a:srgbClr val="40458B"/>
                </a:solidFill>
                <a:latin typeface="黑体"/>
                <a:cs typeface="黑体"/>
              </a:rPr>
              <a:t>）</a:t>
            </a:r>
            <a:endParaRPr sz="2000">
              <a:latin typeface="黑体"/>
              <a:cs typeface="黑体"/>
            </a:endParaRPr>
          </a:p>
          <a:p>
            <a:pPr marL="2149475">
              <a:lnSpc>
                <a:spcPct val="100000"/>
              </a:lnSpc>
              <a:spcBef>
                <a:spcPts val="405"/>
              </a:spcBef>
            </a:pPr>
            <a:r>
              <a:rPr dirty="0" sz="2000" spc="-10">
                <a:solidFill>
                  <a:srgbClr val="40458B"/>
                </a:solidFill>
                <a:latin typeface="宋体"/>
                <a:cs typeface="宋体"/>
              </a:rPr>
              <a:t>a[i]=a[i]</a:t>
            </a:r>
            <a:r>
              <a:rPr dirty="0" sz="2000" spc="-10">
                <a:solidFill>
                  <a:srgbClr val="40458B"/>
                </a:solidFill>
                <a:latin typeface="黑体"/>
                <a:cs typeface="黑体"/>
              </a:rPr>
              <a:t>＋</a:t>
            </a:r>
            <a:r>
              <a:rPr dirty="0" sz="2000" spc="-10">
                <a:solidFill>
                  <a:srgbClr val="40458B"/>
                </a:solidFill>
                <a:latin typeface="宋体"/>
                <a:cs typeface="宋体"/>
              </a:rPr>
              <a:t>s</a:t>
            </a:r>
            <a:r>
              <a:rPr dirty="0" sz="2000" spc="-10">
                <a:solidFill>
                  <a:srgbClr val="40458B"/>
                </a:solidFill>
                <a:latin typeface="黑体"/>
                <a:cs typeface="黑体"/>
              </a:rPr>
              <a:t>；</a:t>
            </a:r>
            <a:endParaRPr sz="2000">
              <a:latin typeface="黑体"/>
              <a:cs typeface="黑体"/>
            </a:endParaRPr>
          </a:p>
          <a:p>
            <a:pPr marL="1579245" indent="-227329">
              <a:lnSpc>
                <a:spcPct val="100000"/>
              </a:lnSpc>
              <a:spcBef>
                <a:spcPts val="395"/>
              </a:spcBef>
              <a:buSzPct val="95000"/>
              <a:buFont typeface="Wingdings"/>
              <a:buChar char=""/>
              <a:tabLst>
                <a:tab pos="1579245" algn="l"/>
              </a:tabLst>
            </a:pPr>
            <a:r>
              <a:rPr dirty="0" sz="2000" spc="-20">
                <a:solidFill>
                  <a:srgbClr val="40458B"/>
                </a:solidFill>
                <a:latin typeface="黑体"/>
                <a:cs typeface="黑体"/>
              </a:rPr>
              <a:t>每一次循环都可以与其它的循环重</a:t>
            </a:r>
            <a:endParaRPr sz="2000">
              <a:latin typeface="黑体"/>
              <a:cs typeface="黑体"/>
            </a:endParaRPr>
          </a:p>
          <a:p>
            <a:pPr marL="1352550">
              <a:lnSpc>
                <a:spcPct val="100000"/>
              </a:lnSpc>
              <a:spcBef>
                <a:spcPts val="400"/>
              </a:spcBef>
            </a:pPr>
            <a:r>
              <a:rPr dirty="0" sz="2000" spc="-20">
                <a:solidFill>
                  <a:srgbClr val="40458B"/>
                </a:solidFill>
                <a:latin typeface="黑体"/>
                <a:cs typeface="黑体"/>
              </a:rPr>
              <a:t>叠并行执行；</a:t>
            </a:r>
            <a:endParaRPr sz="2000">
              <a:latin typeface="黑体"/>
              <a:cs typeface="黑体"/>
            </a:endParaRPr>
          </a:p>
          <a:p>
            <a:pPr marL="1352550" marR="171450" indent="-635">
              <a:lnSpc>
                <a:spcPct val="116500"/>
              </a:lnSpc>
              <a:spcBef>
                <a:spcPts val="15"/>
              </a:spcBef>
              <a:buSzPct val="95000"/>
              <a:buFont typeface="Wingdings"/>
              <a:buChar char=""/>
              <a:tabLst>
                <a:tab pos="1579245" algn="l"/>
              </a:tabLst>
            </a:pPr>
            <a:r>
              <a:rPr dirty="0" sz="2000" spc="-20">
                <a:solidFill>
                  <a:srgbClr val="40458B"/>
                </a:solidFill>
                <a:latin typeface="黑体"/>
                <a:cs typeface="黑体"/>
              </a:rPr>
              <a:t>	</a:t>
            </a:r>
            <a:r>
              <a:rPr dirty="0" sz="2000" spc="-20">
                <a:solidFill>
                  <a:srgbClr val="40458B"/>
                </a:solidFill>
                <a:latin typeface="黑体"/>
                <a:cs typeface="黑体"/>
              </a:rPr>
              <a:t>在每一次循环的内部，却没有任何</a:t>
            </a:r>
            <a:r>
              <a:rPr dirty="0" sz="2000" spc="-10">
                <a:solidFill>
                  <a:srgbClr val="40458B"/>
                </a:solidFill>
                <a:latin typeface="黑体"/>
                <a:cs typeface="黑体"/>
              </a:rPr>
              <a:t>的并行性。</a:t>
            </a:r>
            <a:endParaRPr sz="2000">
              <a:latin typeface="黑体"/>
              <a:cs typeface="黑体"/>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97539" y="158242"/>
            <a:ext cx="54356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82317" y="191770"/>
            <a:ext cx="4090035" cy="513715"/>
          </a:xfrm>
          <a:prstGeom prst="rect"/>
        </p:spPr>
        <p:txBody>
          <a:bodyPr wrap="square" lIns="0" tIns="12700" rIns="0" bIns="0" rtlCol="0" vert="horz">
            <a:spAutoFit/>
          </a:bodyPr>
          <a:lstStyle/>
          <a:p>
            <a:pPr marL="12700">
              <a:lnSpc>
                <a:spcPct val="100000"/>
              </a:lnSpc>
              <a:spcBef>
                <a:spcPts val="100"/>
              </a:spcBef>
            </a:pPr>
            <a:r>
              <a:rPr dirty="0"/>
              <a:t>5.1</a:t>
            </a:r>
            <a:r>
              <a:rPr dirty="0" spc="-20"/>
              <a:t> 指令级并行的概念</a:t>
            </a:r>
          </a:p>
        </p:txBody>
      </p:sp>
      <p:sp>
        <p:nvSpPr>
          <p:cNvPr id="10" name="object 10" descr=""/>
          <p:cNvSpPr txBox="1"/>
          <p:nvPr/>
        </p:nvSpPr>
        <p:spPr>
          <a:xfrm>
            <a:off x="197916" y="819150"/>
            <a:ext cx="10866120" cy="3025775"/>
          </a:xfrm>
          <a:prstGeom prst="rect">
            <a:avLst/>
          </a:prstGeom>
        </p:spPr>
        <p:txBody>
          <a:bodyPr wrap="square" lIns="0" tIns="158750" rIns="0" bIns="0" rtlCol="0" vert="horz">
            <a:spAutoFit/>
          </a:bodyPr>
          <a:lstStyle/>
          <a:p>
            <a:pPr marL="12700">
              <a:lnSpc>
                <a:spcPct val="100000"/>
              </a:lnSpc>
              <a:spcBef>
                <a:spcPts val="1250"/>
              </a:spcBef>
            </a:pPr>
            <a:r>
              <a:rPr dirty="0" sz="2400" spc="-10">
                <a:solidFill>
                  <a:srgbClr val="001F5F"/>
                </a:solidFill>
                <a:latin typeface="黑体"/>
                <a:cs typeface="黑体"/>
              </a:rPr>
              <a:t>基本程序块</a:t>
            </a:r>
            <a:endParaRPr sz="2400">
              <a:latin typeface="黑体"/>
              <a:cs typeface="黑体"/>
            </a:endParaRPr>
          </a:p>
          <a:p>
            <a:pPr marL="1099185" marR="5080" indent="-457200">
              <a:lnSpc>
                <a:spcPct val="120000"/>
              </a:lnSpc>
              <a:spcBef>
                <a:spcPts val="580"/>
              </a:spcBef>
              <a:buClr>
                <a:srgbClr val="40458B"/>
              </a:buClr>
              <a:buSzPct val="89583"/>
              <a:buFont typeface="Wingdings"/>
              <a:buChar char=""/>
              <a:tabLst>
                <a:tab pos="1099185" algn="l"/>
              </a:tabLst>
            </a:pPr>
            <a:r>
              <a:rPr dirty="0" sz="2400">
                <a:solidFill>
                  <a:srgbClr val="FF0000"/>
                </a:solidFill>
                <a:latin typeface="黑体"/>
                <a:cs typeface="黑体"/>
              </a:rPr>
              <a:t>基本程序块</a:t>
            </a:r>
            <a:r>
              <a:rPr dirty="0" sz="2400" spc="-5">
                <a:solidFill>
                  <a:srgbClr val="40458B"/>
                </a:solidFill>
                <a:latin typeface="黑体"/>
                <a:cs typeface="黑体"/>
              </a:rPr>
              <a:t>：一串连续的代码除了入口和出口以外，没有其他的分支指令</a:t>
            </a:r>
            <a:r>
              <a:rPr dirty="0" sz="2400" spc="-90">
                <a:solidFill>
                  <a:srgbClr val="40458B"/>
                </a:solidFill>
                <a:latin typeface="黑体"/>
                <a:cs typeface="黑体"/>
              </a:rPr>
              <a:t>和转入点 。</a:t>
            </a:r>
            <a:endParaRPr sz="2400">
              <a:latin typeface="黑体"/>
              <a:cs typeface="黑体"/>
            </a:endParaRPr>
          </a:p>
          <a:p>
            <a:pPr marL="12700" marR="3829685" indent="1086485">
              <a:lnSpc>
                <a:spcPts val="4029"/>
              </a:lnSpc>
              <a:spcBef>
                <a:spcPts val="330"/>
              </a:spcBef>
              <a:buSzPct val="89583"/>
              <a:buFont typeface="Wingdings"/>
              <a:buChar char=""/>
              <a:tabLst>
                <a:tab pos="1099185" algn="l"/>
              </a:tabLst>
            </a:pPr>
            <a:r>
              <a:rPr dirty="0" sz="2400">
                <a:solidFill>
                  <a:srgbClr val="40458B"/>
                </a:solidFill>
                <a:latin typeface="黑体"/>
                <a:cs typeface="黑体"/>
              </a:rPr>
              <a:t>程序平均每</a:t>
            </a:r>
            <a:r>
              <a:rPr dirty="0" sz="2400">
                <a:solidFill>
                  <a:srgbClr val="9933FF"/>
                </a:solidFill>
                <a:latin typeface="黑体"/>
                <a:cs typeface="黑体"/>
              </a:rPr>
              <a:t>4～7</a:t>
            </a:r>
            <a:r>
              <a:rPr dirty="0" sz="2400" spc="-5">
                <a:solidFill>
                  <a:srgbClr val="40458B"/>
                </a:solidFill>
                <a:latin typeface="黑体"/>
                <a:cs typeface="黑体"/>
              </a:rPr>
              <a:t>条指令就会有一个分支。</a:t>
            </a:r>
            <a:r>
              <a:rPr dirty="0" sz="2400" spc="600">
                <a:solidFill>
                  <a:srgbClr val="40458B"/>
                </a:solidFill>
                <a:latin typeface="黑体"/>
                <a:cs typeface="黑体"/>
              </a:rPr>
              <a:t> </a:t>
            </a:r>
            <a:r>
              <a:rPr dirty="0" sz="2400" spc="-5">
                <a:solidFill>
                  <a:srgbClr val="FF0000"/>
                </a:solidFill>
                <a:latin typeface="黑体"/>
                <a:cs typeface="黑体"/>
              </a:rPr>
              <a:t>循环级并行：</a:t>
            </a:r>
            <a:r>
              <a:rPr dirty="0" sz="2400" spc="-5">
                <a:solidFill>
                  <a:srgbClr val="001F5F"/>
                </a:solidFill>
                <a:latin typeface="黑体"/>
                <a:cs typeface="黑体"/>
              </a:rPr>
              <a:t>使一个循环中的不同循环体并行执行。</a:t>
            </a:r>
            <a:endParaRPr sz="2400">
              <a:latin typeface="黑体"/>
              <a:cs typeface="黑体"/>
            </a:endParaRPr>
          </a:p>
          <a:p>
            <a:pPr marL="1099185" indent="-457200">
              <a:lnSpc>
                <a:spcPct val="100000"/>
              </a:lnSpc>
              <a:spcBef>
                <a:spcPts val="830"/>
              </a:spcBef>
              <a:buSzPct val="89583"/>
              <a:buFont typeface="Wingdings"/>
              <a:buChar char=""/>
              <a:tabLst>
                <a:tab pos="1099185" algn="l"/>
              </a:tabLst>
            </a:pPr>
            <a:r>
              <a:rPr dirty="0" sz="2400">
                <a:solidFill>
                  <a:srgbClr val="40458B"/>
                </a:solidFill>
                <a:latin typeface="黑体"/>
                <a:cs typeface="黑体"/>
              </a:rPr>
              <a:t>是</a:t>
            </a:r>
            <a:r>
              <a:rPr dirty="0" sz="2400">
                <a:solidFill>
                  <a:srgbClr val="FF0000"/>
                </a:solidFill>
                <a:latin typeface="黑体"/>
                <a:cs typeface="黑体"/>
              </a:rPr>
              <a:t>指令级并行研究</a:t>
            </a:r>
            <a:r>
              <a:rPr dirty="0" sz="2400" spc="-10">
                <a:solidFill>
                  <a:srgbClr val="40458B"/>
                </a:solidFill>
                <a:latin typeface="黑体"/>
                <a:cs typeface="黑体"/>
              </a:rPr>
              <a:t>的重点之一</a:t>
            </a:r>
            <a:endParaRPr sz="2400">
              <a:latin typeface="黑体"/>
              <a:cs typeface="黑体"/>
            </a:endParaRPr>
          </a:p>
        </p:txBody>
      </p:sp>
      <p:sp>
        <p:nvSpPr>
          <p:cNvPr id="11" name="object 11" descr=""/>
          <p:cNvSpPr txBox="1"/>
          <p:nvPr/>
        </p:nvSpPr>
        <p:spPr>
          <a:xfrm>
            <a:off x="827328" y="3965270"/>
            <a:ext cx="5664200" cy="391795"/>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spc="-15">
                <a:solidFill>
                  <a:srgbClr val="40458B"/>
                </a:solidFill>
                <a:latin typeface="黑体"/>
                <a:cs typeface="黑体"/>
              </a:rPr>
              <a:t>开发循环的不同叠代之间存在的并行性</a:t>
            </a:r>
            <a:endParaRPr sz="2400">
              <a:latin typeface="黑体"/>
              <a:cs typeface="黑体"/>
            </a:endParaRPr>
          </a:p>
        </p:txBody>
      </p:sp>
      <p:sp>
        <p:nvSpPr>
          <p:cNvPr id="12" name="object 12" descr=""/>
          <p:cNvSpPr txBox="1"/>
          <p:nvPr/>
        </p:nvSpPr>
        <p:spPr>
          <a:xfrm>
            <a:off x="1109268" y="4461128"/>
            <a:ext cx="2275205" cy="330835"/>
          </a:xfrm>
          <a:prstGeom prst="rect">
            <a:avLst/>
          </a:prstGeom>
        </p:spPr>
        <p:txBody>
          <a:bodyPr wrap="square" lIns="0" tIns="12700" rIns="0" bIns="0" rtlCol="0" vert="horz">
            <a:spAutoFit/>
          </a:bodyPr>
          <a:lstStyle/>
          <a:p>
            <a:pPr marL="469265" indent="-456565">
              <a:lnSpc>
                <a:spcPct val="100000"/>
              </a:lnSpc>
              <a:spcBef>
                <a:spcPts val="100"/>
              </a:spcBef>
              <a:buClr>
                <a:srgbClr val="4668F5"/>
              </a:buClr>
              <a:buSzPct val="70000"/>
              <a:buFont typeface="Wingdings"/>
              <a:buChar char=""/>
              <a:tabLst>
                <a:tab pos="469265" algn="l"/>
              </a:tabLst>
            </a:pPr>
            <a:r>
              <a:rPr dirty="0" sz="2000" spc="-20" b="1">
                <a:solidFill>
                  <a:srgbClr val="9966FF"/>
                </a:solidFill>
                <a:latin typeface="宋体"/>
                <a:cs typeface="宋体"/>
              </a:rPr>
              <a:t>最常见、最基本</a:t>
            </a:r>
            <a:endParaRPr sz="2000">
              <a:latin typeface="宋体"/>
              <a:cs typeface="宋体"/>
            </a:endParaRPr>
          </a:p>
        </p:txBody>
      </p:sp>
      <p:sp>
        <p:nvSpPr>
          <p:cNvPr id="13" name="object 13" descr=""/>
          <p:cNvSpPr/>
          <p:nvPr/>
        </p:nvSpPr>
        <p:spPr>
          <a:xfrm>
            <a:off x="6456426" y="3837051"/>
            <a:ext cx="5497830" cy="2567305"/>
          </a:xfrm>
          <a:custGeom>
            <a:avLst/>
            <a:gdLst/>
            <a:ahLst/>
            <a:cxnLst/>
            <a:rect l="l" t="t" r="r" b="b"/>
            <a:pathLst>
              <a:path w="5497830" h="2567304">
                <a:moveTo>
                  <a:pt x="0" y="2566924"/>
                </a:moveTo>
                <a:lnTo>
                  <a:pt x="5497449" y="2566924"/>
                </a:lnTo>
                <a:lnTo>
                  <a:pt x="5497449" y="0"/>
                </a:lnTo>
                <a:lnTo>
                  <a:pt x="0" y="0"/>
                </a:lnTo>
                <a:lnTo>
                  <a:pt x="0" y="2566924"/>
                </a:lnTo>
                <a:close/>
              </a:path>
            </a:pathLst>
          </a:custGeom>
          <a:ln w="9525">
            <a:solidFill>
              <a:srgbClr val="FF0000"/>
            </a:solidFill>
          </a:ln>
        </p:spPr>
        <p:txBody>
          <a:bodyPr wrap="square" lIns="0" tIns="0" rIns="0" bIns="0" rtlCol="0"/>
          <a:lstStyle/>
          <a:p/>
        </p:txBody>
      </p:sp>
      <p:sp>
        <p:nvSpPr>
          <p:cNvPr id="14" name="object 14" descr=""/>
          <p:cNvSpPr txBox="1"/>
          <p:nvPr/>
        </p:nvSpPr>
        <p:spPr>
          <a:xfrm>
            <a:off x="7165340" y="3861942"/>
            <a:ext cx="4696460" cy="248602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E14B04"/>
                </a:solidFill>
                <a:latin typeface="黑体"/>
                <a:cs typeface="黑体"/>
              </a:rPr>
              <a:t>例如，</a:t>
            </a:r>
            <a:r>
              <a:rPr dirty="0" sz="2400" spc="-10">
                <a:solidFill>
                  <a:srgbClr val="40458B"/>
                </a:solidFill>
                <a:latin typeface="黑体"/>
                <a:cs typeface="黑体"/>
              </a:rPr>
              <a:t>考虑下述语句：</a:t>
            </a:r>
            <a:endParaRPr sz="2400">
              <a:latin typeface="黑体"/>
              <a:cs typeface="黑体"/>
            </a:endParaRPr>
          </a:p>
          <a:p>
            <a:pPr marL="693420">
              <a:lnSpc>
                <a:spcPct val="100000"/>
              </a:lnSpc>
              <a:spcBef>
                <a:spcPts val="85"/>
              </a:spcBef>
            </a:pPr>
            <a:r>
              <a:rPr dirty="0" sz="2000">
                <a:solidFill>
                  <a:srgbClr val="40458B"/>
                </a:solidFill>
                <a:latin typeface="宋体"/>
                <a:cs typeface="宋体"/>
              </a:rPr>
              <a:t>for</a:t>
            </a:r>
            <a:r>
              <a:rPr dirty="0" sz="2000" spc="-15">
                <a:solidFill>
                  <a:srgbClr val="40458B"/>
                </a:solidFill>
                <a:latin typeface="宋体"/>
                <a:cs typeface="宋体"/>
              </a:rPr>
              <a:t> </a:t>
            </a:r>
            <a:r>
              <a:rPr dirty="0" sz="2000">
                <a:solidFill>
                  <a:srgbClr val="40458B"/>
                </a:solidFill>
                <a:latin typeface="黑体"/>
                <a:cs typeface="黑体"/>
              </a:rPr>
              <a:t>（</a:t>
            </a:r>
            <a:r>
              <a:rPr dirty="0" sz="2000">
                <a:solidFill>
                  <a:srgbClr val="40458B"/>
                </a:solidFill>
                <a:latin typeface="宋体"/>
                <a:cs typeface="宋体"/>
              </a:rPr>
              <a:t>i=1</a:t>
            </a:r>
            <a:r>
              <a:rPr dirty="0" sz="2000">
                <a:solidFill>
                  <a:srgbClr val="40458B"/>
                </a:solidFill>
                <a:latin typeface="黑体"/>
                <a:cs typeface="黑体"/>
              </a:rPr>
              <a:t>；</a:t>
            </a:r>
            <a:r>
              <a:rPr dirty="0" sz="2000" spc="-30">
                <a:solidFill>
                  <a:srgbClr val="40458B"/>
                </a:solidFill>
                <a:latin typeface="黑体"/>
                <a:cs typeface="黑体"/>
              </a:rPr>
              <a:t> </a:t>
            </a:r>
            <a:r>
              <a:rPr dirty="0" sz="2000">
                <a:solidFill>
                  <a:srgbClr val="40458B"/>
                </a:solidFill>
                <a:latin typeface="宋体"/>
                <a:cs typeface="宋体"/>
              </a:rPr>
              <a:t>i&lt;=500</a:t>
            </a:r>
            <a:r>
              <a:rPr dirty="0" sz="2000">
                <a:solidFill>
                  <a:srgbClr val="40458B"/>
                </a:solidFill>
                <a:latin typeface="黑体"/>
                <a:cs typeface="黑体"/>
              </a:rPr>
              <a:t>；</a:t>
            </a:r>
            <a:r>
              <a:rPr dirty="0" sz="2000" spc="-25">
                <a:solidFill>
                  <a:srgbClr val="40458B"/>
                </a:solidFill>
                <a:latin typeface="黑体"/>
                <a:cs typeface="黑体"/>
              </a:rPr>
              <a:t> </a:t>
            </a:r>
            <a:r>
              <a:rPr dirty="0" sz="2000" spc="-10">
                <a:solidFill>
                  <a:srgbClr val="40458B"/>
                </a:solidFill>
                <a:latin typeface="宋体"/>
                <a:cs typeface="宋体"/>
              </a:rPr>
              <a:t>i=i</a:t>
            </a:r>
            <a:r>
              <a:rPr dirty="0" sz="2000" spc="-10">
                <a:solidFill>
                  <a:srgbClr val="40458B"/>
                </a:solidFill>
                <a:latin typeface="黑体"/>
                <a:cs typeface="黑体"/>
              </a:rPr>
              <a:t>＋</a:t>
            </a:r>
            <a:r>
              <a:rPr dirty="0" sz="2000" spc="-10">
                <a:solidFill>
                  <a:srgbClr val="40458B"/>
                </a:solidFill>
                <a:latin typeface="宋体"/>
                <a:cs typeface="宋体"/>
              </a:rPr>
              <a:t>1</a:t>
            </a:r>
            <a:r>
              <a:rPr dirty="0" sz="2000" spc="-10">
                <a:solidFill>
                  <a:srgbClr val="40458B"/>
                </a:solidFill>
                <a:latin typeface="黑体"/>
                <a:cs typeface="黑体"/>
              </a:rPr>
              <a:t>）</a:t>
            </a:r>
            <a:endParaRPr sz="2000">
              <a:latin typeface="黑体"/>
              <a:cs typeface="黑体"/>
            </a:endParaRPr>
          </a:p>
          <a:p>
            <a:pPr algn="ctr" marR="23495">
              <a:lnSpc>
                <a:spcPct val="100000"/>
              </a:lnSpc>
              <a:spcBef>
                <a:spcPts val="409"/>
              </a:spcBef>
            </a:pPr>
            <a:r>
              <a:rPr dirty="0" sz="2000" spc="-10">
                <a:solidFill>
                  <a:srgbClr val="40458B"/>
                </a:solidFill>
                <a:latin typeface="宋体"/>
                <a:cs typeface="宋体"/>
              </a:rPr>
              <a:t>a[i]=a[i]</a:t>
            </a:r>
            <a:r>
              <a:rPr dirty="0" sz="2000" spc="-10">
                <a:solidFill>
                  <a:srgbClr val="40458B"/>
                </a:solidFill>
                <a:latin typeface="黑体"/>
                <a:cs typeface="黑体"/>
              </a:rPr>
              <a:t>＋</a:t>
            </a:r>
            <a:r>
              <a:rPr dirty="0" sz="2000" spc="-10">
                <a:solidFill>
                  <a:srgbClr val="40458B"/>
                </a:solidFill>
                <a:latin typeface="宋体"/>
                <a:cs typeface="宋体"/>
              </a:rPr>
              <a:t>s</a:t>
            </a:r>
            <a:r>
              <a:rPr dirty="0" sz="2000" spc="-10">
                <a:solidFill>
                  <a:srgbClr val="40458B"/>
                </a:solidFill>
                <a:latin typeface="黑体"/>
                <a:cs typeface="黑体"/>
              </a:rPr>
              <a:t>；</a:t>
            </a:r>
            <a:endParaRPr sz="2000">
              <a:latin typeface="黑体"/>
              <a:cs typeface="黑体"/>
            </a:endParaRPr>
          </a:p>
          <a:p>
            <a:pPr marL="869950" indent="-226695">
              <a:lnSpc>
                <a:spcPct val="100000"/>
              </a:lnSpc>
              <a:spcBef>
                <a:spcPts val="395"/>
              </a:spcBef>
              <a:buSzPct val="95000"/>
              <a:buFont typeface="Wingdings"/>
              <a:buChar char=""/>
              <a:tabLst>
                <a:tab pos="869950" algn="l"/>
              </a:tabLst>
            </a:pPr>
            <a:r>
              <a:rPr dirty="0" sz="2000" spc="-25">
                <a:solidFill>
                  <a:srgbClr val="40458B"/>
                </a:solidFill>
                <a:latin typeface="黑体"/>
                <a:cs typeface="黑体"/>
              </a:rPr>
              <a:t>每一次循环都可以与其它的循环重</a:t>
            </a:r>
            <a:endParaRPr sz="2000">
              <a:latin typeface="黑体"/>
              <a:cs typeface="黑体"/>
            </a:endParaRPr>
          </a:p>
          <a:p>
            <a:pPr marL="643255">
              <a:lnSpc>
                <a:spcPct val="100000"/>
              </a:lnSpc>
              <a:spcBef>
                <a:spcPts val="400"/>
              </a:spcBef>
            </a:pPr>
            <a:r>
              <a:rPr dirty="0" sz="2000" spc="-15">
                <a:solidFill>
                  <a:srgbClr val="40458B"/>
                </a:solidFill>
                <a:latin typeface="黑体"/>
                <a:cs typeface="黑体"/>
              </a:rPr>
              <a:t>叠并行执行；</a:t>
            </a:r>
            <a:endParaRPr sz="2000">
              <a:latin typeface="黑体"/>
              <a:cs typeface="黑体"/>
            </a:endParaRPr>
          </a:p>
          <a:p>
            <a:pPr marL="643255" marR="5715" indent="-635">
              <a:lnSpc>
                <a:spcPct val="116500"/>
              </a:lnSpc>
              <a:spcBef>
                <a:spcPts val="10"/>
              </a:spcBef>
              <a:buSzPct val="95000"/>
              <a:buFont typeface="Wingdings"/>
              <a:buChar char=""/>
              <a:tabLst>
                <a:tab pos="869950" algn="l"/>
              </a:tabLst>
            </a:pPr>
            <a:r>
              <a:rPr dirty="0" sz="2000" spc="-20">
                <a:solidFill>
                  <a:srgbClr val="40458B"/>
                </a:solidFill>
                <a:latin typeface="黑体"/>
                <a:cs typeface="黑体"/>
              </a:rPr>
              <a:t>	</a:t>
            </a:r>
            <a:r>
              <a:rPr dirty="0" sz="2000" spc="-20">
                <a:solidFill>
                  <a:srgbClr val="40458B"/>
                </a:solidFill>
                <a:latin typeface="黑体"/>
                <a:cs typeface="黑体"/>
              </a:rPr>
              <a:t>在每一次循环的内部，却没有任何</a:t>
            </a:r>
            <a:r>
              <a:rPr dirty="0" sz="2000">
                <a:solidFill>
                  <a:srgbClr val="40458B"/>
                </a:solidFill>
                <a:latin typeface="黑体"/>
                <a:cs typeface="黑体"/>
              </a:rPr>
              <a:t>的并行性</a:t>
            </a:r>
            <a:r>
              <a:rPr dirty="0" sz="2000" spc="-10">
                <a:solidFill>
                  <a:srgbClr val="40458B"/>
                </a:solidFill>
                <a:latin typeface="Tahoma"/>
                <a:cs typeface="Tahoma"/>
              </a:rPr>
              <a:t>,</a:t>
            </a:r>
            <a:r>
              <a:rPr dirty="0" sz="2000" spc="-65">
                <a:solidFill>
                  <a:srgbClr val="40458B"/>
                </a:solidFill>
                <a:latin typeface="黑体"/>
                <a:cs typeface="黑体"/>
              </a:rPr>
              <a:t>因只做一个加法 。</a:t>
            </a:r>
            <a:endParaRPr sz="2000">
              <a:latin typeface="黑体"/>
              <a:cs typeface="黑体"/>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97539" y="158242"/>
            <a:ext cx="54356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853945" y="194818"/>
            <a:ext cx="4090035" cy="513715"/>
          </a:xfrm>
          <a:prstGeom prst="rect"/>
        </p:spPr>
        <p:txBody>
          <a:bodyPr wrap="square" lIns="0" tIns="12700" rIns="0" bIns="0" rtlCol="0" vert="horz">
            <a:spAutoFit/>
          </a:bodyPr>
          <a:lstStyle/>
          <a:p>
            <a:pPr marL="12700">
              <a:lnSpc>
                <a:spcPct val="100000"/>
              </a:lnSpc>
              <a:spcBef>
                <a:spcPts val="100"/>
              </a:spcBef>
            </a:pPr>
            <a:r>
              <a:rPr dirty="0"/>
              <a:t>5.1</a:t>
            </a:r>
            <a:r>
              <a:rPr dirty="0" spc="-20"/>
              <a:t> 指令级并行的概念</a:t>
            </a:r>
          </a:p>
        </p:txBody>
      </p:sp>
      <p:sp>
        <p:nvSpPr>
          <p:cNvPr id="10" name="object 10" descr=""/>
          <p:cNvSpPr txBox="1"/>
          <p:nvPr/>
        </p:nvSpPr>
        <p:spPr>
          <a:xfrm>
            <a:off x="197916" y="860927"/>
            <a:ext cx="11123930" cy="3645535"/>
          </a:xfrm>
          <a:prstGeom prst="rect">
            <a:avLst/>
          </a:prstGeom>
        </p:spPr>
        <p:txBody>
          <a:bodyPr wrap="square" lIns="0" tIns="83820" rIns="0" bIns="0" rtlCol="0" vert="horz">
            <a:spAutoFit/>
          </a:bodyPr>
          <a:lstStyle/>
          <a:p>
            <a:pPr marL="12700">
              <a:lnSpc>
                <a:spcPct val="100000"/>
              </a:lnSpc>
              <a:spcBef>
                <a:spcPts val="660"/>
              </a:spcBef>
            </a:pPr>
            <a:r>
              <a:rPr dirty="0" sz="2400" spc="-5">
                <a:solidFill>
                  <a:srgbClr val="001F5F"/>
                </a:solidFill>
                <a:latin typeface="黑体"/>
                <a:cs typeface="黑体"/>
              </a:rPr>
              <a:t>最基本的开发循环级并行的技术</a:t>
            </a:r>
            <a:endParaRPr sz="2400">
              <a:latin typeface="黑体"/>
              <a:cs typeface="黑体"/>
            </a:endParaRPr>
          </a:p>
          <a:p>
            <a:pPr marL="1099185" indent="-457200">
              <a:lnSpc>
                <a:spcPct val="100000"/>
              </a:lnSpc>
              <a:spcBef>
                <a:spcPts val="565"/>
              </a:spcBef>
              <a:buSzPct val="89583"/>
              <a:buFont typeface="Wingdings"/>
              <a:buChar char=""/>
              <a:tabLst>
                <a:tab pos="1099185" algn="l"/>
              </a:tabLst>
            </a:pPr>
            <a:r>
              <a:rPr dirty="0" sz="2400" spc="-10">
                <a:solidFill>
                  <a:srgbClr val="40458B"/>
                </a:solidFill>
                <a:latin typeface="黑体"/>
                <a:cs typeface="黑体"/>
              </a:rPr>
              <a:t>循环展开</a:t>
            </a:r>
            <a:r>
              <a:rPr dirty="0" sz="2400">
                <a:solidFill>
                  <a:srgbClr val="40458B"/>
                </a:solidFill>
                <a:latin typeface="黑体"/>
                <a:cs typeface="黑体"/>
              </a:rPr>
              <a:t>（</a:t>
            </a:r>
            <a:r>
              <a:rPr dirty="0" sz="2400">
                <a:solidFill>
                  <a:srgbClr val="9933FF"/>
                </a:solidFill>
                <a:latin typeface="黑体"/>
                <a:cs typeface="黑体"/>
              </a:rPr>
              <a:t>loop</a:t>
            </a:r>
            <a:r>
              <a:rPr dirty="0" sz="2400" spc="50">
                <a:solidFill>
                  <a:srgbClr val="9933FF"/>
                </a:solidFill>
                <a:latin typeface="黑体"/>
                <a:cs typeface="黑体"/>
              </a:rPr>
              <a:t> </a:t>
            </a:r>
            <a:r>
              <a:rPr dirty="0" sz="2400" spc="-10">
                <a:solidFill>
                  <a:srgbClr val="9933FF"/>
                </a:solidFill>
                <a:latin typeface="黑体"/>
                <a:cs typeface="黑体"/>
              </a:rPr>
              <a:t>unrolling</a:t>
            </a:r>
            <a:r>
              <a:rPr dirty="0" sz="2400" spc="-10">
                <a:solidFill>
                  <a:srgbClr val="40458B"/>
                </a:solidFill>
                <a:latin typeface="黑体"/>
                <a:cs typeface="黑体"/>
              </a:rPr>
              <a:t>）</a:t>
            </a:r>
            <a:r>
              <a:rPr dirty="0" sz="2400" spc="-30">
                <a:solidFill>
                  <a:srgbClr val="40458B"/>
                </a:solidFill>
                <a:latin typeface="黑体"/>
                <a:cs typeface="黑体"/>
              </a:rPr>
              <a:t>技术</a:t>
            </a:r>
            <a:endParaRPr sz="2400">
              <a:latin typeface="黑体"/>
              <a:cs typeface="黑体"/>
            </a:endParaRPr>
          </a:p>
          <a:p>
            <a:pPr lvl="1" marL="1779905" indent="-457200">
              <a:lnSpc>
                <a:spcPct val="100000"/>
              </a:lnSpc>
              <a:spcBef>
                <a:spcPts val="509"/>
              </a:spcBef>
              <a:buClr>
                <a:srgbClr val="4668F5"/>
              </a:buClr>
              <a:buSzPct val="70000"/>
              <a:buFont typeface="Wingdings"/>
              <a:buChar char=""/>
              <a:tabLst>
                <a:tab pos="1779905" algn="l"/>
              </a:tabLst>
            </a:pPr>
            <a:r>
              <a:rPr dirty="0" sz="2000" spc="-25" b="1">
                <a:solidFill>
                  <a:srgbClr val="9966FF"/>
                </a:solidFill>
                <a:latin typeface="宋体"/>
                <a:cs typeface="宋体"/>
              </a:rPr>
              <a:t>指把循环体的代码复制多次并按顺序排放</a:t>
            </a:r>
            <a:endParaRPr sz="2000">
              <a:latin typeface="宋体"/>
              <a:cs typeface="宋体"/>
            </a:endParaRPr>
          </a:p>
          <a:p>
            <a:pPr lvl="1" marL="1779905" marR="129539" indent="-457200">
              <a:lnSpc>
                <a:spcPct val="116500"/>
              </a:lnSpc>
              <a:spcBef>
                <a:spcPts val="480"/>
              </a:spcBef>
              <a:buClr>
                <a:srgbClr val="4668F5"/>
              </a:buClr>
              <a:buSzPct val="70000"/>
              <a:buFont typeface="Wingdings"/>
              <a:buChar char=""/>
              <a:tabLst>
                <a:tab pos="1779905" algn="l"/>
              </a:tabLst>
            </a:pPr>
            <a:r>
              <a:rPr dirty="0" sz="2000" spc="-10" b="1">
                <a:solidFill>
                  <a:srgbClr val="9966FF"/>
                </a:solidFill>
                <a:latin typeface="宋体"/>
                <a:cs typeface="宋体"/>
              </a:rPr>
              <a:t>然后调整循环的结束条件</a:t>
            </a:r>
            <a:r>
              <a:rPr dirty="0" sz="2000" spc="-30" b="1">
                <a:solidFill>
                  <a:srgbClr val="9966FF"/>
                </a:solidFill>
                <a:latin typeface="宋体"/>
                <a:cs typeface="宋体"/>
              </a:rPr>
              <a:t>（</a:t>
            </a:r>
            <a:r>
              <a:rPr dirty="0" sz="2000" spc="-20" b="1">
                <a:solidFill>
                  <a:srgbClr val="FF0000"/>
                </a:solidFill>
                <a:latin typeface="宋体"/>
                <a:cs typeface="宋体"/>
              </a:rPr>
              <a:t>等于去掉循环计数器，循环体转换为顺序展开</a:t>
            </a:r>
            <a:r>
              <a:rPr dirty="0" sz="2000" spc="-15" b="1">
                <a:solidFill>
                  <a:srgbClr val="9966FF"/>
                </a:solidFill>
                <a:latin typeface="宋体"/>
                <a:cs typeface="宋体"/>
              </a:rPr>
              <a:t>）</a:t>
            </a:r>
            <a:r>
              <a:rPr dirty="0" sz="2000" spc="-30" b="1">
                <a:solidFill>
                  <a:srgbClr val="9966FF"/>
                </a:solidFill>
                <a:latin typeface="宋体"/>
                <a:cs typeface="宋体"/>
              </a:rPr>
              <a:t>，减少</a:t>
            </a:r>
            <a:r>
              <a:rPr dirty="0" sz="2000" spc="-10" b="1">
                <a:solidFill>
                  <a:srgbClr val="9966FF"/>
                </a:solidFill>
                <a:latin typeface="宋体"/>
                <a:cs typeface="宋体"/>
              </a:rPr>
              <a:t>循环开销（</a:t>
            </a:r>
            <a:r>
              <a:rPr dirty="0" sz="2000" spc="-20" b="1">
                <a:solidFill>
                  <a:srgbClr val="9966FF"/>
                </a:solidFill>
                <a:latin typeface="宋体"/>
                <a:cs typeface="宋体"/>
              </a:rPr>
              <a:t>例如条件判断产生的开销</a:t>
            </a:r>
            <a:r>
              <a:rPr dirty="0" sz="2000" spc="-50" b="1">
                <a:solidFill>
                  <a:srgbClr val="9966FF"/>
                </a:solidFill>
                <a:latin typeface="宋体"/>
                <a:cs typeface="宋体"/>
              </a:rPr>
              <a:t>）</a:t>
            </a:r>
            <a:endParaRPr sz="2000">
              <a:latin typeface="宋体"/>
              <a:cs typeface="宋体"/>
            </a:endParaRPr>
          </a:p>
          <a:p>
            <a:pPr lvl="1" marL="1779905" marR="5080" indent="-457200">
              <a:lnSpc>
                <a:spcPct val="116500"/>
              </a:lnSpc>
              <a:spcBef>
                <a:spcPts val="495"/>
              </a:spcBef>
              <a:buClr>
                <a:srgbClr val="4668F5"/>
              </a:buClr>
              <a:buSzPct val="70000"/>
              <a:buFont typeface="Wingdings"/>
              <a:buChar char=""/>
              <a:tabLst>
                <a:tab pos="1779905" algn="l"/>
              </a:tabLst>
            </a:pPr>
            <a:r>
              <a:rPr dirty="0" sz="2000" spc="-15" b="1">
                <a:solidFill>
                  <a:srgbClr val="9966FF"/>
                </a:solidFill>
                <a:latin typeface="宋体"/>
                <a:cs typeface="宋体"/>
              </a:rPr>
              <a:t>通过循环展开</a:t>
            </a:r>
            <a:r>
              <a:rPr dirty="0" sz="2000" spc="-10" b="1">
                <a:solidFill>
                  <a:srgbClr val="9966FF"/>
                </a:solidFill>
                <a:latin typeface="黑体"/>
                <a:cs typeface="黑体"/>
              </a:rPr>
              <a:t>,</a:t>
            </a:r>
            <a:r>
              <a:rPr dirty="0" sz="2000" spc="-20" b="1">
                <a:solidFill>
                  <a:srgbClr val="9966FF"/>
                </a:solidFill>
                <a:latin typeface="宋体"/>
                <a:cs typeface="宋体"/>
              </a:rPr>
              <a:t>多个循环迭代的代码可以合到一起调度</a:t>
            </a:r>
            <a:r>
              <a:rPr dirty="0" sz="2000" b="1">
                <a:solidFill>
                  <a:srgbClr val="9966FF"/>
                </a:solidFill>
                <a:latin typeface="宋体"/>
                <a:cs typeface="宋体"/>
              </a:rPr>
              <a:t>（</a:t>
            </a:r>
            <a:r>
              <a:rPr dirty="0" sz="2000" spc="-20" b="1">
                <a:solidFill>
                  <a:srgbClr val="FF0000"/>
                </a:solidFill>
                <a:latin typeface="宋体"/>
                <a:cs typeface="宋体"/>
              </a:rPr>
              <a:t>优化，避免相关指令</a:t>
            </a:r>
            <a:r>
              <a:rPr dirty="0" sz="2000" spc="-20" b="1">
                <a:solidFill>
                  <a:srgbClr val="9966FF"/>
                </a:solidFill>
                <a:latin typeface="宋体"/>
                <a:cs typeface="宋体"/>
              </a:rPr>
              <a:t>）</a:t>
            </a:r>
            <a:r>
              <a:rPr dirty="0" sz="2000" spc="-20" b="1">
                <a:solidFill>
                  <a:srgbClr val="9966FF"/>
                </a:solidFill>
                <a:latin typeface="黑体"/>
                <a:cs typeface="黑体"/>
              </a:rPr>
              <a:t>,</a:t>
            </a:r>
            <a:r>
              <a:rPr dirty="0" sz="2000" spc="-50" b="1">
                <a:solidFill>
                  <a:srgbClr val="9966FF"/>
                </a:solidFill>
                <a:latin typeface="宋体"/>
                <a:cs typeface="宋体"/>
              </a:rPr>
              <a:t>给</a:t>
            </a:r>
            <a:r>
              <a:rPr dirty="0" sz="2000" spc="-25" b="1">
                <a:solidFill>
                  <a:srgbClr val="9966FF"/>
                </a:solidFill>
                <a:latin typeface="宋体"/>
                <a:cs typeface="宋体"/>
              </a:rPr>
              <a:t>编译器进行指令调度带来了更大的空间</a:t>
            </a:r>
            <a:r>
              <a:rPr dirty="0" sz="2000" spc="-15" b="1">
                <a:solidFill>
                  <a:srgbClr val="9966FF"/>
                </a:solidFill>
                <a:latin typeface="黑体"/>
                <a:cs typeface="黑体"/>
              </a:rPr>
              <a:t>,</a:t>
            </a:r>
            <a:r>
              <a:rPr dirty="0" sz="2000" spc="-25" b="1">
                <a:solidFill>
                  <a:srgbClr val="9966FF"/>
                </a:solidFill>
                <a:latin typeface="宋体"/>
                <a:cs typeface="宋体"/>
              </a:rPr>
              <a:t>且能够消除中间分支指令和循环控制指令引</a:t>
            </a:r>
            <a:r>
              <a:rPr dirty="0" sz="2000" spc="-20" b="1">
                <a:solidFill>
                  <a:srgbClr val="9966FF"/>
                </a:solidFill>
                <a:latin typeface="宋体"/>
                <a:cs typeface="宋体"/>
              </a:rPr>
              <a:t>起的开销。</a:t>
            </a:r>
            <a:endParaRPr sz="2000">
              <a:latin typeface="宋体"/>
              <a:cs typeface="宋体"/>
            </a:endParaRPr>
          </a:p>
          <a:p>
            <a:pPr marL="1099185" indent="-457200">
              <a:lnSpc>
                <a:spcPct val="100000"/>
              </a:lnSpc>
              <a:spcBef>
                <a:spcPts val="869"/>
              </a:spcBef>
              <a:buSzPct val="89583"/>
              <a:buFont typeface="Wingdings"/>
              <a:buChar char=""/>
              <a:tabLst>
                <a:tab pos="1099185" algn="l"/>
              </a:tabLst>
            </a:pPr>
            <a:r>
              <a:rPr dirty="0" sz="2400" spc="-15">
                <a:solidFill>
                  <a:srgbClr val="40458B"/>
                </a:solidFill>
                <a:latin typeface="黑体"/>
                <a:cs typeface="黑体"/>
              </a:rPr>
              <a:t>采用向量指令和向量数据表示</a:t>
            </a:r>
            <a:endParaRPr sz="2400">
              <a:latin typeface="黑体"/>
              <a:cs typeface="黑体"/>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97539" y="158242"/>
            <a:ext cx="54356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grpSp>
        <p:nvGrpSpPr>
          <p:cNvPr id="8" name="object 8" descr=""/>
          <p:cNvGrpSpPr/>
          <p:nvPr/>
        </p:nvGrpSpPr>
        <p:grpSpPr>
          <a:xfrm>
            <a:off x="0" y="3284537"/>
            <a:ext cx="12192000" cy="3573779"/>
            <a:chOff x="0" y="3284537"/>
            <a:chExt cx="12192000" cy="3573779"/>
          </a:xfrm>
        </p:grpSpPr>
        <p:sp>
          <p:nvSpPr>
            <p:cNvPr id="9" name="object 9"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pic>
          <p:nvPicPr>
            <p:cNvPr id="10" name="object 10" descr=""/>
            <p:cNvPicPr/>
            <p:nvPr/>
          </p:nvPicPr>
          <p:blipFill>
            <a:blip r:embed="rId2" cstate="print"/>
            <a:stretch>
              <a:fillRect/>
            </a:stretch>
          </p:blipFill>
          <p:spPr>
            <a:xfrm>
              <a:off x="1631949" y="3681412"/>
              <a:ext cx="8424799" cy="2911475"/>
            </a:xfrm>
            <a:prstGeom prst="rect">
              <a:avLst/>
            </a:prstGeom>
          </p:spPr>
        </p:pic>
        <p:sp>
          <p:nvSpPr>
            <p:cNvPr id="11" name="object 11" descr=""/>
            <p:cNvSpPr/>
            <p:nvPr/>
          </p:nvSpPr>
          <p:spPr>
            <a:xfrm>
              <a:off x="7890382" y="4232910"/>
              <a:ext cx="481965" cy="344170"/>
            </a:xfrm>
            <a:custGeom>
              <a:avLst/>
              <a:gdLst/>
              <a:ahLst/>
              <a:cxnLst/>
              <a:rect l="l" t="t" r="r" b="b"/>
              <a:pathLst>
                <a:path w="481965" h="344170">
                  <a:moveTo>
                    <a:pt x="0" y="171831"/>
                  </a:moveTo>
                  <a:lnTo>
                    <a:pt x="6360" y="132441"/>
                  </a:lnTo>
                  <a:lnTo>
                    <a:pt x="24477" y="96277"/>
                  </a:lnTo>
                  <a:lnTo>
                    <a:pt x="52904" y="64372"/>
                  </a:lnTo>
                  <a:lnTo>
                    <a:pt x="90195" y="37758"/>
                  </a:lnTo>
                  <a:lnTo>
                    <a:pt x="134905" y="17470"/>
                  </a:lnTo>
                  <a:lnTo>
                    <a:pt x="185585" y="4539"/>
                  </a:lnTo>
                  <a:lnTo>
                    <a:pt x="240792" y="0"/>
                  </a:lnTo>
                  <a:lnTo>
                    <a:pt x="295951" y="4539"/>
                  </a:lnTo>
                  <a:lnTo>
                    <a:pt x="346598" y="17470"/>
                  </a:lnTo>
                  <a:lnTo>
                    <a:pt x="391284" y="37758"/>
                  </a:lnTo>
                  <a:lnTo>
                    <a:pt x="428562" y="64372"/>
                  </a:lnTo>
                  <a:lnTo>
                    <a:pt x="456982" y="96277"/>
                  </a:lnTo>
                  <a:lnTo>
                    <a:pt x="475097" y="132441"/>
                  </a:lnTo>
                  <a:lnTo>
                    <a:pt x="481457" y="171831"/>
                  </a:lnTo>
                  <a:lnTo>
                    <a:pt x="475097" y="211220"/>
                  </a:lnTo>
                  <a:lnTo>
                    <a:pt x="456982" y="247384"/>
                  </a:lnTo>
                  <a:lnTo>
                    <a:pt x="428562" y="279289"/>
                  </a:lnTo>
                  <a:lnTo>
                    <a:pt x="391284" y="305903"/>
                  </a:lnTo>
                  <a:lnTo>
                    <a:pt x="346598" y="326191"/>
                  </a:lnTo>
                  <a:lnTo>
                    <a:pt x="295951" y="339122"/>
                  </a:lnTo>
                  <a:lnTo>
                    <a:pt x="240792" y="343662"/>
                  </a:lnTo>
                  <a:lnTo>
                    <a:pt x="185585" y="339122"/>
                  </a:lnTo>
                  <a:lnTo>
                    <a:pt x="134905" y="326191"/>
                  </a:lnTo>
                  <a:lnTo>
                    <a:pt x="90195" y="305903"/>
                  </a:lnTo>
                  <a:lnTo>
                    <a:pt x="52904" y="279289"/>
                  </a:lnTo>
                  <a:lnTo>
                    <a:pt x="24477" y="247384"/>
                  </a:lnTo>
                  <a:lnTo>
                    <a:pt x="6360" y="211220"/>
                  </a:lnTo>
                  <a:lnTo>
                    <a:pt x="0" y="171831"/>
                  </a:lnTo>
                  <a:close/>
                </a:path>
              </a:pathLst>
            </a:custGeom>
            <a:ln w="9525">
              <a:solidFill>
                <a:srgbClr val="E14B04"/>
              </a:solidFill>
            </a:ln>
          </p:spPr>
          <p:txBody>
            <a:bodyPr wrap="square" lIns="0" tIns="0" rIns="0" bIns="0" rtlCol="0"/>
            <a:lstStyle/>
            <a:p/>
          </p:txBody>
        </p:sp>
        <p:sp>
          <p:nvSpPr>
            <p:cNvPr id="12" name="object 12" descr=""/>
            <p:cNvSpPr/>
            <p:nvPr/>
          </p:nvSpPr>
          <p:spPr>
            <a:xfrm>
              <a:off x="8683624" y="3284537"/>
              <a:ext cx="1228725" cy="732155"/>
            </a:xfrm>
            <a:custGeom>
              <a:avLst/>
              <a:gdLst/>
              <a:ahLst/>
              <a:cxnLst/>
              <a:rect l="l" t="t" r="r" b="b"/>
              <a:pathLst>
                <a:path w="1228725" h="732154">
                  <a:moveTo>
                    <a:pt x="1228725" y="0"/>
                  </a:moveTo>
                  <a:lnTo>
                    <a:pt x="0" y="0"/>
                  </a:lnTo>
                  <a:lnTo>
                    <a:pt x="0" y="731837"/>
                  </a:lnTo>
                  <a:lnTo>
                    <a:pt x="1228725" y="731837"/>
                  </a:lnTo>
                  <a:lnTo>
                    <a:pt x="1228725" y="0"/>
                  </a:lnTo>
                  <a:close/>
                </a:path>
              </a:pathLst>
            </a:custGeom>
            <a:solidFill>
              <a:srgbClr val="EBD782"/>
            </a:solidFill>
          </p:spPr>
          <p:txBody>
            <a:bodyPr wrap="square" lIns="0" tIns="0" rIns="0" bIns="0" rtlCol="0"/>
            <a:lstStyle/>
            <a:p/>
          </p:txBody>
        </p:sp>
        <p:sp>
          <p:nvSpPr>
            <p:cNvPr id="13" name="object 13" descr=""/>
            <p:cNvSpPr/>
            <p:nvPr/>
          </p:nvSpPr>
          <p:spPr>
            <a:xfrm>
              <a:off x="7999348" y="3284600"/>
              <a:ext cx="582295" cy="1020444"/>
            </a:xfrm>
            <a:custGeom>
              <a:avLst/>
              <a:gdLst/>
              <a:ahLst/>
              <a:cxnLst/>
              <a:rect l="l" t="t" r="r" b="b"/>
              <a:pathLst>
                <a:path w="582295" h="1020445">
                  <a:moveTo>
                    <a:pt x="581914" y="0"/>
                  </a:moveTo>
                  <a:lnTo>
                    <a:pt x="581914" y="731774"/>
                  </a:lnTo>
                </a:path>
                <a:path w="582295" h="1020445">
                  <a:moveTo>
                    <a:pt x="581914" y="137160"/>
                  </a:moveTo>
                  <a:lnTo>
                    <a:pt x="479425" y="137160"/>
                  </a:lnTo>
                  <a:lnTo>
                    <a:pt x="0" y="1020191"/>
                  </a:lnTo>
                </a:path>
              </a:pathLst>
            </a:custGeom>
            <a:ln w="9525">
              <a:solidFill>
                <a:srgbClr val="40458B"/>
              </a:solidFill>
            </a:ln>
          </p:spPr>
          <p:txBody>
            <a:bodyPr wrap="square" lIns="0" tIns="0" rIns="0" bIns="0" rtlCol="0"/>
            <a:lstStyle/>
            <a:p/>
          </p:txBody>
        </p:sp>
      </p:grpSp>
      <p:sp>
        <p:nvSpPr>
          <p:cNvPr id="14" name="object 14"/>
          <p:cNvSpPr txBox="1">
            <a:spLocks noGrp="1"/>
          </p:cNvSpPr>
          <p:nvPr>
            <p:ph type="title"/>
          </p:nvPr>
        </p:nvSpPr>
        <p:spPr>
          <a:xfrm>
            <a:off x="1853945" y="194818"/>
            <a:ext cx="4090035" cy="513715"/>
          </a:xfrm>
          <a:prstGeom prst="rect"/>
        </p:spPr>
        <p:txBody>
          <a:bodyPr wrap="square" lIns="0" tIns="12700" rIns="0" bIns="0" rtlCol="0" vert="horz">
            <a:spAutoFit/>
          </a:bodyPr>
          <a:lstStyle/>
          <a:p>
            <a:pPr marL="12700">
              <a:lnSpc>
                <a:spcPct val="100000"/>
              </a:lnSpc>
              <a:spcBef>
                <a:spcPts val="100"/>
              </a:spcBef>
            </a:pPr>
            <a:r>
              <a:rPr dirty="0"/>
              <a:t>5.1</a:t>
            </a:r>
            <a:r>
              <a:rPr dirty="0" spc="-20"/>
              <a:t> 指令级并行的概念</a:t>
            </a:r>
          </a:p>
        </p:txBody>
      </p:sp>
      <p:sp>
        <p:nvSpPr>
          <p:cNvPr id="15" name="object 15" descr=""/>
          <p:cNvSpPr txBox="1"/>
          <p:nvPr/>
        </p:nvSpPr>
        <p:spPr>
          <a:xfrm>
            <a:off x="486867" y="767113"/>
            <a:ext cx="11348085" cy="3308350"/>
          </a:xfrm>
          <a:prstGeom prst="rect">
            <a:avLst/>
          </a:prstGeom>
        </p:spPr>
        <p:txBody>
          <a:bodyPr wrap="square" lIns="0" tIns="121920" rIns="0" bIns="0" rtlCol="0" vert="horz">
            <a:spAutoFit/>
          </a:bodyPr>
          <a:lstStyle/>
          <a:p>
            <a:pPr marL="12700">
              <a:lnSpc>
                <a:spcPct val="100000"/>
              </a:lnSpc>
              <a:spcBef>
                <a:spcPts val="960"/>
              </a:spcBef>
            </a:pPr>
            <a:r>
              <a:rPr dirty="0" sz="2400" spc="-5">
                <a:solidFill>
                  <a:srgbClr val="001F5F"/>
                </a:solidFill>
                <a:latin typeface="黑体"/>
                <a:cs typeface="黑体"/>
              </a:rPr>
              <a:t>最基本的开发循环级并行的技术</a:t>
            </a:r>
            <a:endParaRPr sz="2400">
              <a:latin typeface="黑体"/>
              <a:cs typeface="黑体"/>
            </a:endParaRPr>
          </a:p>
          <a:p>
            <a:pPr marL="1099185" indent="-457200">
              <a:lnSpc>
                <a:spcPct val="100000"/>
              </a:lnSpc>
              <a:spcBef>
                <a:spcPts val="865"/>
              </a:spcBef>
              <a:buSzPct val="89583"/>
              <a:buFont typeface="Wingdings"/>
              <a:buChar char=""/>
              <a:tabLst>
                <a:tab pos="1099185" algn="l"/>
              </a:tabLst>
            </a:pPr>
            <a:r>
              <a:rPr dirty="0" sz="2400" spc="-10">
                <a:solidFill>
                  <a:srgbClr val="40458B"/>
                </a:solidFill>
                <a:latin typeface="黑体"/>
                <a:cs typeface="黑体"/>
              </a:rPr>
              <a:t>循环展开</a:t>
            </a:r>
            <a:r>
              <a:rPr dirty="0" sz="2400">
                <a:solidFill>
                  <a:srgbClr val="40458B"/>
                </a:solidFill>
                <a:latin typeface="黑体"/>
                <a:cs typeface="黑体"/>
              </a:rPr>
              <a:t>（</a:t>
            </a:r>
            <a:r>
              <a:rPr dirty="0" sz="2400">
                <a:solidFill>
                  <a:srgbClr val="9933FF"/>
                </a:solidFill>
                <a:latin typeface="黑体"/>
                <a:cs typeface="黑体"/>
              </a:rPr>
              <a:t>loop</a:t>
            </a:r>
            <a:r>
              <a:rPr dirty="0" sz="2400" spc="45">
                <a:solidFill>
                  <a:srgbClr val="9933FF"/>
                </a:solidFill>
                <a:latin typeface="黑体"/>
                <a:cs typeface="黑体"/>
              </a:rPr>
              <a:t> </a:t>
            </a:r>
            <a:r>
              <a:rPr dirty="0" sz="2400" spc="-10">
                <a:solidFill>
                  <a:srgbClr val="9933FF"/>
                </a:solidFill>
                <a:latin typeface="黑体"/>
                <a:cs typeface="黑体"/>
              </a:rPr>
              <a:t>unrolling</a:t>
            </a:r>
            <a:r>
              <a:rPr dirty="0" sz="2400" spc="-10">
                <a:solidFill>
                  <a:srgbClr val="40458B"/>
                </a:solidFill>
                <a:latin typeface="黑体"/>
                <a:cs typeface="黑体"/>
              </a:rPr>
              <a:t>）</a:t>
            </a:r>
            <a:r>
              <a:rPr dirty="0" sz="2400" spc="-30">
                <a:solidFill>
                  <a:srgbClr val="40458B"/>
                </a:solidFill>
                <a:latin typeface="黑体"/>
                <a:cs typeface="黑体"/>
              </a:rPr>
              <a:t>技术</a:t>
            </a:r>
            <a:endParaRPr sz="2400">
              <a:latin typeface="黑体"/>
              <a:cs typeface="黑体"/>
            </a:endParaRPr>
          </a:p>
          <a:p>
            <a:pPr lvl="1" marL="1779905" indent="-456565">
              <a:lnSpc>
                <a:spcPct val="100000"/>
              </a:lnSpc>
              <a:spcBef>
                <a:spcPts val="825"/>
              </a:spcBef>
              <a:buClr>
                <a:srgbClr val="4668F5"/>
              </a:buClr>
              <a:buSzPct val="68181"/>
              <a:buFont typeface="Wingdings"/>
              <a:buChar char=""/>
              <a:tabLst>
                <a:tab pos="1779905" algn="l"/>
              </a:tabLst>
            </a:pPr>
            <a:r>
              <a:rPr dirty="0" sz="2200" spc="-25" b="1">
                <a:solidFill>
                  <a:srgbClr val="9966FF"/>
                </a:solidFill>
                <a:latin typeface="宋体"/>
                <a:cs typeface="宋体"/>
              </a:rPr>
              <a:t>程序员或编译器自动完成</a:t>
            </a:r>
            <a:endParaRPr sz="2200">
              <a:latin typeface="宋体"/>
              <a:cs typeface="宋体"/>
            </a:endParaRPr>
          </a:p>
          <a:p>
            <a:pPr lvl="1" marL="1779905" indent="-456565">
              <a:lnSpc>
                <a:spcPct val="100000"/>
              </a:lnSpc>
              <a:spcBef>
                <a:spcPts val="790"/>
              </a:spcBef>
              <a:buClr>
                <a:srgbClr val="4668F5"/>
              </a:buClr>
              <a:buSzPct val="68181"/>
              <a:buFont typeface="Wingdings"/>
              <a:buChar char=""/>
              <a:tabLst>
                <a:tab pos="1779905" algn="l"/>
              </a:tabLst>
            </a:pPr>
            <a:r>
              <a:rPr dirty="0" sz="2200" spc="-25" b="1">
                <a:solidFill>
                  <a:srgbClr val="9966FF"/>
                </a:solidFill>
                <a:latin typeface="宋体"/>
                <a:cs typeface="宋体"/>
              </a:rPr>
              <a:t>程序量增大换来执行速度的迅速</a:t>
            </a:r>
            <a:endParaRPr sz="2200">
              <a:latin typeface="宋体"/>
              <a:cs typeface="宋体"/>
            </a:endParaRPr>
          </a:p>
          <a:p>
            <a:pPr lvl="1" marL="1780539" marR="5080" indent="-457200">
              <a:lnSpc>
                <a:spcPct val="110100"/>
              </a:lnSpc>
              <a:spcBef>
                <a:spcPts val="525"/>
              </a:spcBef>
              <a:buClr>
                <a:srgbClr val="4668F5"/>
              </a:buClr>
              <a:buSzPct val="68181"/>
              <a:buFont typeface="Wingdings"/>
              <a:buChar char=""/>
              <a:tabLst>
                <a:tab pos="1780539" algn="l"/>
              </a:tabLst>
            </a:pPr>
            <a:r>
              <a:rPr dirty="0" sz="2200" spc="-25" b="1">
                <a:solidFill>
                  <a:srgbClr val="9966FF"/>
                </a:solidFill>
                <a:latin typeface="宋体"/>
                <a:cs typeface="宋体"/>
              </a:rPr>
              <a:t>循环体内代码复制多次，减少循环分支指令执行次数，增大指令调度空间等，获得更多的指令级并行。</a:t>
            </a:r>
            <a:endParaRPr sz="2200">
              <a:latin typeface="宋体"/>
              <a:cs typeface="宋体"/>
            </a:endParaRPr>
          </a:p>
          <a:p>
            <a:pPr marL="8288655">
              <a:lnSpc>
                <a:spcPts val="2250"/>
              </a:lnSpc>
            </a:pPr>
            <a:r>
              <a:rPr dirty="0" sz="2400" spc="-15">
                <a:solidFill>
                  <a:srgbClr val="40458B"/>
                </a:solidFill>
                <a:latin typeface="黑体"/>
                <a:cs typeface="黑体"/>
              </a:rPr>
              <a:t>循环因子</a:t>
            </a:r>
            <a:endParaRPr sz="2400">
              <a:latin typeface="黑体"/>
              <a:cs typeface="黑体"/>
            </a:endParaRPr>
          </a:p>
          <a:p>
            <a:pPr marL="8288655">
              <a:lnSpc>
                <a:spcPct val="100000"/>
              </a:lnSpc>
            </a:pPr>
            <a:r>
              <a:rPr dirty="0" sz="2400" spc="-15">
                <a:solidFill>
                  <a:srgbClr val="40458B"/>
                </a:solidFill>
                <a:latin typeface="黑体"/>
                <a:cs typeface="黑体"/>
              </a:rPr>
              <a:t>多少合适</a:t>
            </a:r>
            <a:endParaRPr sz="2400">
              <a:latin typeface="黑体"/>
              <a:cs typeface="黑体"/>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97539" y="158242"/>
            <a:ext cx="54356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413715" y="853722"/>
            <a:ext cx="11170920" cy="5414010"/>
          </a:xfrm>
          <a:prstGeom prst="rect">
            <a:avLst/>
          </a:prstGeom>
        </p:spPr>
        <p:txBody>
          <a:bodyPr wrap="square" lIns="0" tIns="158750" rIns="0" bIns="0" rtlCol="0" vert="horz">
            <a:spAutoFit/>
          </a:bodyPr>
          <a:lstStyle/>
          <a:p>
            <a:pPr marL="12700">
              <a:lnSpc>
                <a:spcPct val="100000"/>
              </a:lnSpc>
              <a:spcBef>
                <a:spcPts val="1250"/>
              </a:spcBef>
            </a:pPr>
            <a:r>
              <a:rPr dirty="0" sz="2800" spc="-25">
                <a:solidFill>
                  <a:srgbClr val="D50092"/>
                </a:solidFill>
                <a:latin typeface="Calibri"/>
                <a:cs typeface="Calibri"/>
              </a:rPr>
              <a:t>1</a:t>
            </a:r>
            <a:r>
              <a:rPr dirty="0" sz="2800" spc="-40">
                <a:solidFill>
                  <a:srgbClr val="D50092"/>
                </a:solidFill>
                <a:latin typeface="黑体"/>
                <a:cs typeface="黑体"/>
              </a:rPr>
              <a:t>、指令间的相关性和冲突限制了指令级的并行度</a:t>
            </a:r>
            <a:endParaRPr sz="2800">
              <a:latin typeface="黑体"/>
              <a:cs typeface="黑体"/>
            </a:endParaRPr>
          </a:p>
          <a:p>
            <a:pPr marL="469265" indent="-456565">
              <a:lnSpc>
                <a:spcPct val="100000"/>
              </a:lnSpc>
              <a:spcBef>
                <a:spcPts val="994"/>
              </a:spcBef>
              <a:buClr>
                <a:srgbClr val="40458B"/>
              </a:buClr>
              <a:buFont typeface="Wingdings"/>
              <a:buChar char=""/>
              <a:tabLst>
                <a:tab pos="469265" algn="l"/>
              </a:tabLst>
            </a:pPr>
            <a:r>
              <a:rPr dirty="0" sz="2400" spc="-10">
                <a:solidFill>
                  <a:srgbClr val="001F5F"/>
                </a:solidFill>
                <a:latin typeface="黑体"/>
                <a:cs typeface="黑体"/>
              </a:rPr>
              <a:t>相关与流水线冲突</a:t>
            </a:r>
            <a:endParaRPr sz="2400">
              <a:latin typeface="黑体"/>
              <a:cs typeface="黑体"/>
            </a:endParaRPr>
          </a:p>
          <a:p>
            <a:pPr lvl="1" marL="1099185" indent="-457200">
              <a:lnSpc>
                <a:spcPct val="100000"/>
              </a:lnSpc>
              <a:spcBef>
                <a:spcPts val="2014"/>
              </a:spcBef>
              <a:buSzPct val="89583"/>
              <a:buFont typeface="Wingdings"/>
              <a:buChar char=""/>
              <a:tabLst>
                <a:tab pos="1099185" algn="l"/>
              </a:tabLst>
            </a:pPr>
            <a:r>
              <a:rPr dirty="0" sz="2400" spc="-20">
                <a:solidFill>
                  <a:srgbClr val="40458B"/>
                </a:solidFill>
                <a:latin typeface="黑体"/>
                <a:cs typeface="黑体"/>
              </a:rPr>
              <a:t>相关有三种类型：</a:t>
            </a:r>
            <a:endParaRPr sz="2400">
              <a:latin typeface="黑体"/>
              <a:cs typeface="黑体"/>
            </a:endParaRPr>
          </a:p>
          <a:p>
            <a:pPr marL="1012190">
              <a:lnSpc>
                <a:spcPct val="100000"/>
              </a:lnSpc>
              <a:spcBef>
                <a:spcPts val="1905"/>
              </a:spcBef>
            </a:pPr>
            <a:r>
              <a:rPr dirty="0" sz="2200" spc="-25" b="1">
                <a:solidFill>
                  <a:srgbClr val="9966FF"/>
                </a:solidFill>
                <a:latin typeface="宋体"/>
                <a:cs typeface="宋体"/>
              </a:rPr>
              <a:t>数据相关、名相关、控制相关</a:t>
            </a:r>
            <a:endParaRPr sz="2200">
              <a:latin typeface="宋体"/>
              <a:cs typeface="宋体"/>
            </a:endParaRPr>
          </a:p>
          <a:p>
            <a:pPr lvl="1" marL="1099185" marR="5080" indent="-457834">
              <a:lnSpc>
                <a:spcPct val="150100"/>
              </a:lnSpc>
              <a:spcBef>
                <a:spcPts val="520"/>
              </a:spcBef>
              <a:buClr>
                <a:srgbClr val="40458B"/>
              </a:buClr>
              <a:buSzPct val="89583"/>
              <a:buFont typeface="Wingdings"/>
              <a:buChar char=""/>
              <a:tabLst>
                <a:tab pos="1099185" algn="l"/>
              </a:tabLst>
            </a:pPr>
            <a:r>
              <a:rPr dirty="0" sz="2400">
                <a:solidFill>
                  <a:srgbClr val="FF0000"/>
                </a:solidFill>
                <a:latin typeface="黑体"/>
                <a:cs typeface="黑体"/>
              </a:rPr>
              <a:t>流水线冲突</a:t>
            </a:r>
            <a:r>
              <a:rPr dirty="0" sz="2400" spc="-5">
                <a:solidFill>
                  <a:srgbClr val="40458B"/>
                </a:solidFill>
                <a:latin typeface="黑体"/>
                <a:cs typeface="黑体"/>
              </a:rPr>
              <a:t>是指对于具体的流水线来说，由于相关的存在，使得指令流中的下一条指令不能在指定的时钟周期执行。</a:t>
            </a:r>
            <a:endParaRPr sz="2400">
              <a:latin typeface="黑体"/>
              <a:cs typeface="黑体"/>
            </a:endParaRPr>
          </a:p>
          <a:p>
            <a:pPr marL="1012190">
              <a:lnSpc>
                <a:spcPct val="100000"/>
              </a:lnSpc>
              <a:spcBef>
                <a:spcPts val="1905"/>
              </a:spcBef>
            </a:pPr>
            <a:r>
              <a:rPr dirty="0" sz="2200" spc="-25" b="1">
                <a:solidFill>
                  <a:srgbClr val="9966FF"/>
                </a:solidFill>
                <a:latin typeface="宋体"/>
                <a:cs typeface="宋体"/>
              </a:rPr>
              <a:t>流水线冲突有三种类型：结构冲突、数据冲突、控制冲突</a:t>
            </a:r>
            <a:endParaRPr sz="2200">
              <a:latin typeface="宋体"/>
              <a:cs typeface="宋体"/>
            </a:endParaRPr>
          </a:p>
          <a:p>
            <a:pPr lvl="1" marL="1099185" indent="-457200">
              <a:lnSpc>
                <a:spcPct val="100000"/>
              </a:lnSpc>
              <a:spcBef>
                <a:spcPts val="1095"/>
              </a:spcBef>
              <a:buClr>
                <a:srgbClr val="40458B"/>
              </a:buClr>
              <a:buSzPct val="89583"/>
              <a:buFont typeface="Wingdings"/>
              <a:buChar char=""/>
              <a:tabLst>
                <a:tab pos="1099185" algn="l"/>
              </a:tabLst>
            </a:pPr>
            <a:r>
              <a:rPr dirty="0" sz="2400" spc="-10">
                <a:solidFill>
                  <a:srgbClr val="FF0000"/>
                </a:solidFill>
                <a:latin typeface="黑体"/>
                <a:cs typeface="黑体"/>
              </a:rPr>
              <a:t>相关</a:t>
            </a:r>
            <a:r>
              <a:rPr dirty="0" sz="2400" spc="-10">
                <a:solidFill>
                  <a:srgbClr val="40458B"/>
                </a:solidFill>
                <a:latin typeface="黑体"/>
                <a:cs typeface="黑体"/>
              </a:rPr>
              <a:t>是</a:t>
            </a:r>
            <a:r>
              <a:rPr dirty="0" sz="2400" spc="-10">
                <a:solidFill>
                  <a:srgbClr val="FF0000"/>
                </a:solidFill>
                <a:latin typeface="黑体"/>
                <a:cs typeface="黑体"/>
              </a:rPr>
              <a:t>程序固有</a:t>
            </a:r>
            <a:r>
              <a:rPr dirty="0" sz="2400" spc="-5">
                <a:solidFill>
                  <a:srgbClr val="40458B"/>
                </a:solidFill>
                <a:latin typeface="黑体"/>
                <a:cs typeface="黑体"/>
              </a:rPr>
              <a:t>的一种属性，它反映了程序中指令之间的相互依赖关系。</a:t>
            </a:r>
            <a:endParaRPr sz="2400">
              <a:latin typeface="黑体"/>
              <a:cs typeface="黑体"/>
            </a:endParaRPr>
          </a:p>
          <a:p>
            <a:pPr lvl="1" marL="1099185" marR="5080" indent="-457834">
              <a:lnSpc>
                <a:spcPct val="110000"/>
              </a:lnSpc>
              <a:spcBef>
                <a:spcPts val="575"/>
              </a:spcBef>
              <a:buSzPct val="89583"/>
              <a:buFont typeface="Wingdings"/>
              <a:buChar char=""/>
              <a:tabLst>
                <a:tab pos="1099185" algn="l"/>
              </a:tabLst>
            </a:pPr>
            <a:r>
              <a:rPr dirty="0" sz="2400" spc="-5">
                <a:solidFill>
                  <a:srgbClr val="40458B"/>
                </a:solidFill>
                <a:latin typeface="黑体"/>
                <a:cs typeface="黑体"/>
              </a:rPr>
              <a:t>具体的一次相关是否会导致实际冲突的发生以及该冲突会带来多长的停顿，</a:t>
            </a:r>
            <a:r>
              <a:rPr dirty="0" sz="2400">
                <a:solidFill>
                  <a:srgbClr val="40458B"/>
                </a:solidFill>
                <a:latin typeface="黑体"/>
                <a:cs typeface="黑体"/>
              </a:rPr>
              <a:t>则是流水线的属性（流水线怎么设置）</a:t>
            </a:r>
            <a:r>
              <a:rPr dirty="0" sz="2400" spc="-50">
                <a:solidFill>
                  <a:srgbClr val="40458B"/>
                </a:solidFill>
                <a:latin typeface="黑体"/>
                <a:cs typeface="黑体"/>
              </a:rPr>
              <a:t>。</a:t>
            </a:r>
            <a:endParaRPr sz="2400">
              <a:latin typeface="黑体"/>
              <a:cs typeface="黑体"/>
            </a:endParaRPr>
          </a:p>
        </p:txBody>
      </p:sp>
      <p:sp>
        <p:nvSpPr>
          <p:cNvPr id="10" name="object 10"/>
          <p:cNvSpPr txBox="1">
            <a:spLocks noGrp="1"/>
          </p:cNvSpPr>
          <p:nvPr>
            <p:ph type="title"/>
          </p:nvPr>
        </p:nvSpPr>
        <p:spPr>
          <a:xfrm>
            <a:off x="2829560" y="211658"/>
            <a:ext cx="3580765" cy="452120"/>
          </a:xfrm>
          <a:prstGeom prst="rect"/>
        </p:spPr>
        <p:txBody>
          <a:bodyPr wrap="square" lIns="0" tIns="12065" rIns="0" bIns="0" rtlCol="0" vert="horz">
            <a:spAutoFit/>
          </a:bodyPr>
          <a:lstStyle/>
          <a:p>
            <a:pPr marL="12700">
              <a:lnSpc>
                <a:spcPct val="100000"/>
              </a:lnSpc>
              <a:spcBef>
                <a:spcPts val="95"/>
              </a:spcBef>
            </a:pPr>
            <a:r>
              <a:rPr dirty="0" sz="2800">
                <a:solidFill>
                  <a:srgbClr val="006FC0"/>
                </a:solidFill>
              </a:rPr>
              <a:t>5.2</a:t>
            </a:r>
            <a:r>
              <a:rPr dirty="0" sz="2800" spc="-40">
                <a:solidFill>
                  <a:srgbClr val="006FC0"/>
                </a:solidFill>
              </a:rPr>
              <a:t> 相关与指令级并行</a:t>
            </a:r>
            <a:endParaRPr sz="2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10/175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5.2</a:t>
            </a:r>
            <a:r>
              <a:rPr dirty="0" spc="-20"/>
              <a:t> 相关与指令级并行</a:t>
            </a:r>
          </a:p>
        </p:txBody>
      </p:sp>
      <p:sp>
        <p:nvSpPr>
          <p:cNvPr id="10" name="object 10" descr=""/>
          <p:cNvSpPr txBox="1"/>
          <p:nvPr/>
        </p:nvSpPr>
        <p:spPr>
          <a:xfrm>
            <a:off x="270763" y="1116363"/>
            <a:ext cx="10931525" cy="3172460"/>
          </a:xfrm>
          <a:prstGeom prst="rect">
            <a:avLst/>
          </a:prstGeom>
        </p:spPr>
        <p:txBody>
          <a:bodyPr wrap="square" lIns="0" tIns="121920" rIns="0" bIns="0" rtlCol="0" vert="horz">
            <a:spAutoFit/>
          </a:bodyPr>
          <a:lstStyle/>
          <a:p>
            <a:pPr marL="469900" indent="-457200">
              <a:lnSpc>
                <a:spcPct val="100000"/>
              </a:lnSpc>
              <a:spcBef>
                <a:spcPts val="960"/>
              </a:spcBef>
              <a:buClr>
                <a:srgbClr val="40458B"/>
              </a:buClr>
              <a:buFont typeface="Tahoma"/>
              <a:buAutoNum type="arabicPeriod" startAt="2"/>
              <a:tabLst>
                <a:tab pos="469900" algn="l"/>
              </a:tabLst>
            </a:pPr>
            <a:r>
              <a:rPr dirty="0" sz="2400" spc="-5">
                <a:solidFill>
                  <a:srgbClr val="001F5F"/>
                </a:solidFill>
                <a:latin typeface="黑体"/>
                <a:cs typeface="黑体"/>
              </a:rPr>
              <a:t>可以从两个方面来解决相关问题：</a:t>
            </a:r>
            <a:endParaRPr sz="2400">
              <a:latin typeface="黑体"/>
              <a:cs typeface="黑体"/>
            </a:endParaRPr>
          </a:p>
          <a:p>
            <a:pPr lvl="1" marL="1099185" indent="-457200">
              <a:lnSpc>
                <a:spcPct val="100000"/>
              </a:lnSpc>
              <a:spcBef>
                <a:spcPts val="865"/>
              </a:spcBef>
              <a:buClr>
                <a:srgbClr val="40458B"/>
              </a:buClr>
              <a:buSzPct val="89583"/>
              <a:buFont typeface="Wingdings"/>
              <a:buChar char=""/>
              <a:tabLst>
                <a:tab pos="1099185" algn="l"/>
              </a:tabLst>
            </a:pPr>
            <a:r>
              <a:rPr dirty="0" sz="2400" spc="-10">
                <a:solidFill>
                  <a:srgbClr val="FF0000"/>
                </a:solidFill>
                <a:latin typeface="黑体"/>
                <a:cs typeface="黑体"/>
              </a:rPr>
              <a:t>保持相关</a:t>
            </a:r>
            <a:r>
              <a:rPr dirty="0" sz="2400" spc="-10">
                <a:solidFill>
                  <a:srgbClr val="40458B"/>
                </a:solidFill>
                <a:latin typeface="黑体"/>
                <a:cs typeface="黑体"/>
              </a:rPr>
              <a:t>，但避免发生冲突。（硬件与软件解决方法</a:t>
            </a:r>
            <a:r>
              <a:rPr dirty="0" sz="2400" spc="-50">
                <a:solidFill>
                  <a:srgbClr val="40458B"/>
                </a:solidFill>
                <a:latin typeface="黑体"/>
                <a:cs typeface="黑体"/>
              </a:rPr>
              <a:t>）</a:t>
            </a:r>
            <a:endParaRPr sz="2400">
              <a:latin typeface="黑体"/>
              <a:cs typeface="黑体"/>
            </a:endParaRPr>
          </a:p>
          <a:p>
            <a:pPr algn="ctr" marL="183515">
              <a:lnSpc>
                <a:spcPct val="100000"/>
              </a:lnSpc>
              <a:spcBef>
                <a:spcPts val="825"/>
              </a:spcBef>
            </a:pPr>
            <a:r>
              <a:rPr dirty="0" sz="2200" spc="-130" b="1">
                <a:solidFill>
                  <a:srgbClr val="9966FF"/>
                </a:solidFill>
                <a:latin typeface="宋体"/>
                <a:cs typeface="宋体"/>
              </a:rPr>
              <a:t>例如 </a:t>
            </a:r>
            <a:r>
              <a:rPr dirty="0" sz="2200" spc="-85" b="1">
                <a:solidFill>
                  <a:srgbClr val="D50092"/>
                </a:solidFill>
                <a:latin typeface="宋体"/>
                <a:cs typeface="宋体"/>
              </a:rPr>
              <a:t>指令调度 </a:t>
            </a:r>
            <a:r>
              <a:rPr dirty="0" sz="2200" spc="-10" b="1">
                <a:solidFill>
                  <a:srgbClr val="9966FF"/>
                </a:solidFill>
                <a:latin typeface="Tahoma"/>
                <a:cs typeface="Tahoma"/>
              </a:rPr>
              <a:t>--</a:t>
            </a:r>
            <a:r>
              <a:rPr dirty="0" sz="2200" spc="-25" b="1">
                <a:solidFill>
                  <a:srgbClr val="9966FF"/>
                </a:solidFill>
                <a:latin typeface="宋体"/>
                <a:cs typeface="宋体"/>
              </a:rPr>
              <a:t>不改变相关性的条件下通过指令调度消除数据冒险</a:t>
            </a:r>
            <a:endParaRPr sz="2200">
              <a:latin typeface="宋体"/>
              <a:cs typeface="宋体"/>
            </a:endParaRPr>
          </a:p>
          <a:p>
            <a:pPr lvl="1" marL="1099185" indent="-457200">
              <a:lnSpc>
                <a:spcPct val="100000"/>
              </a:lnSpc>
              <a:spcBef>
                <a:spcPts val="830"/>
              </a:spcBef>
              <a:buSzPct val="89583"/>
              <a:buFont typeface="Wingdings"/>
              <a:buChar char=""/>
              <a:tabLst>
                <a:tab pos="1099185" algn="l"/>
              </a:tabLst>
            </a:pPr>
            <a:r>
              <a:rPr dirty="0" sz="2400">
                <a:solidFill>
                  <a:srgbClr val="40458B"/>
                </a:solidFill>
                <a:latin typeface="黑体"/>
                <a:cs typeface="黑体"/>
              </a:rPr>
              <a:t>通过代码变换，</a:t>
            </a:r>
            <a:r>
              <a:rPr dirty="0" sz="2400">
                <a:solidFill>
                  <a:srgbClr val="FF0000"/>
                </a:solidFill>
                <a:latin typeface="黑体"/>
                <a:cs typeface="黑体"/>
              </a:rPr>
              <a:t>消除相关</a:t>
            </a:r>
            <a:r>
              <a:rPr dirty="0" sz="2400">
                <a:solidFill>
                  <a:srgbClr val="40458B"/>
                </a:solidFill>
                <a:latin typeface="黑体"/>
                <a:cs typeface="黑体"/>
              </a:rPr>
              <a:t>（例如换名）</a:t>
            </a:r>
            <a:r>
              <a:rPr dirty="0" sz="2400" spc="-50">
                <a:solidFill>
                  <a:srgbClr val="40458B"/>
                </a:solidFill>
                <a:latin typeface="黑体"/>
                <a:cs typeface="黑体"/>
              </a:rPr>
              <a:t>。</a:t>
            </a:r>
            <a:endParaRPr sz="2400">
              <a:latin typeface="黑体"/>
              <a:cs typeface="黑体"/>
            </a:endParaRPr>
          </a:p>
          <a:p>
            <a:pPr marL="469900" indent="-457200">
              <a:lnSpc>
                <a:spcPct val="100000"/>
              </a:lnSpc>
              <a:spcBef>
                <a:spcPts val="865"/>
              </a:spcBef>
              <a:buClr>
                <a:srgbClr val="40458B"/>
              </a:buClr>
              <a:buFont typeface="Tahoma"/>
              <a:buAutoNum type="arabicPeriod" startAt="2"/>
              <a:tabLst>
                <a:tab pos="469900" algn="l"/>
              </a:tabLst>
            </a:pPr>
            <a:r>
              <a:rPr dirty="0" sz="2400" spc="-10">
                <a:solidFill>
                  <a:srgbClr val="FF0000"/>
                </a:solidFill>
                <a:latin typeface="黑体"/>
                <a:cs typeface="黑体"/>
              </a:rPr>
              <a:t>程序顺序</a:t>
            </a:r>
            <a:r>
              <a:rPr dirty="0" sz="2400" spc="-15">
                <a:solidFill>
                  <a:srgbClr val="001F5F"/>
                </a:solidFill>
                <a:latin typeface="黑体"/>
                <a:cs typeface="黑体"/>
              </a:rPr>
              <a:t>：由原来程序确定的在完全串行方式下指令的执行顺序。</a:t>
            </a:r>
            <a:endParaRPr sz="2400">
              <a:latin typeface="黑体"/>
              <a:cs typeface="黑体"/>
            </a:endParaRPr>
          </a:p>
          <a:p>
            <a:pPr marL="1056640" marR="5080" indent="38100">
              <a:lnSpc>
                <a:spcPct val="110000"/>
              </a:lnSpc>
              <a:spcBef>
                <a:spcPts val="565"/>
              </a:spcBef>
            </a:pPr>
            <a:r>
              <a:rPr dirty="0" sz="2200" spc="-25" b="1">
                <a:solidFill>
                  <a:srgbClr val="9966FF"/>
                </a:solidFill>
                <a:latin typeface="宋体"/>
                <a:cs typeface="宋体"/>
              </a:rPr>
              <a:t>一般情况下只要保证正确性程序可以乱序；只有在可能会导致错误的情况下，才保持程序顺序。</a:t>
            </a:r>
            <a:endParaRPr sz="2200">
              <a:latin typeface="宋体"/>
              <a:cs typeface="宋体"/>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11/175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5.2</a:t>
            </a:r>
            <a:r>
              <a:rPr dirty="0" spc="-20"/>
              <a:t> 相关与指令级并行</a:t>
            </a:r>
          </a:p>
        </p:txBody>
      </p:sp>
      <p:sp>
        <p:nvSpPr>
          <p:cNvPr id="10" name="object 10" descr=""/>
          <p:cNvSpPr txBox="1"/>
          <p:nvPr/>
        </p:nvSpPr>
        <p:spPr>
          <a:xfrm>
            <a:off x="197916" y="1139317"/>
            <a:ext cx="11780520" cy="3141980"/>
          </a:xfrm>
          <a:prstGeom prst="rect">
            <a:avLst/>
          </a:prstGeom>
        </p:spPr>
        <p:txBody>
          <a:bodyPr wrap="square" lIns="0" tIns="122555" rIns="0" bIns="0" rtlCol="0" vert="horz">
            <a:spAutoFit/>
          </a:bodyPr>
          <a:lstStyle/>
          <a:p>
            <a:pPr marL="469265" indent="-456565">
              <a:lnSpc>
                <a:spcPct val="100000"/>
              </a:lnSpc>
              <a:spcBef>
                <a:spcPts val="965"/>
              </a:spcBef>
              <a:buClr>
                <a:srgbClr val="40458B"/>
              </a:buClr>
              <a:buFont typeface="Tahoma"/>
              <a:buAutoNum type="arabicPeriod" startAt="4"/>
              <a:tabLst>
                <a:tab pos="469265" algn="l"/>
              </a:tabLst>
            </a:pPr>
            <a:r>
              <a:rPr dirty="0" sz="2400" spc="-5">
                <a:solidFill>
                  <a:srgbClr val="001F5F"/>
                </a:solidFill>
                <a:latin typeface="黑体"/>
                <a:cs typeface="黑体"/>
              </a:rPr>
              <a:t>控制相关并不是一个必须严格保持的关键属性。</a:t>
            </a:r>
            <a:endParaRPr sz="2400">
              <a:latin typeface="黑体"/>
              <a:cs typeface="黑体"/>
            </a:endParaRPr>
          </a:p>
          <a:p>
            <a:pPr marL="469265" indent="-456565">
              <a:lnSpc>
                <a:spcPct val="100000"/>
              </a:lnSpc>
              <a:spcBef>
                <a:spcPts val="870"/>
              </a:spcBef>
              <a:buClr>
                <a:srgbClr val="40458B"/>
              </a:buClr>
              <a:buFont typeface="Tahoma"/>
              <a:buAutoNum type="arabicPeriod" startAt="4"/>
              <a:tabLst>
                <a:tab pos="469265" algn="l"/>
              </a:tabLst>
            </a:pPr>
            <a:r>
              <a:rPr dirty="0" sz="2400" spc="-5">
                <a:solidFill>
                  <a:srgbClr val="001F5F"/>
                </a:solidFill>
                <a:latin typeface="黑体"/>
                <a:cs typeface="黑体"/>
              </a:rPr>
              <a:t>对于</a:t>
            </a:r>
            <a:r>
              <a:rPr dirty="0" sz="2400">
                <a:solidFill>
                  <a:srgbClr val="FF0000"/>
                </a:solidFill>
                <a:latin typeface="黑体"/>
                <a:cs typeface="黑体"/>
              </a:rPr>
              <a:t>正确地执行程序</a:t>
            </a:r>
            <a:r>
              <a:rPr dirty="0" sz="2400">
                <a:solidFill>
                  <a:srgbClr val="001F5F"/>
                </a:solidFill>
                <a:latin typeface="黑体"/>
                <a:cs typeface="黑体"/>
              </a:rPr>
              <a:t>来说，必须保持的最关键的两个属性是：</a:t>
            </a:r>
            <a:r>
              <a:rPr dirty="0" sz="2400">
                <a:solidFill>
                  <a:srgbClr val="CC3399"/>
                </a:solidFill>
                <a:latin typeface="黑体"/>
                <a:cs typeface="黑体"/>
              </a:rPr>
              <a:t>数据流</a:t>
            </a:r>
            <a:r>
              <a:rPr dirty="0" sz="2400">
                <a:solidFill>
                  <a:srgbClr val="001F5F"/>
                </a:solidFill>
                <a:latin typeface="黑体"/>
                <a:cs typeface="黑体"/>
              </a:rPr>
              <a:t>和</a:t>
            </a:r>
            <a:r>
              <a:rPr dirty="0" sz="2400" spc="-10">
                <a:solidFill>
                  <a:srgbClr val="CC3399"/>
                </a:solidFill>
                <a:latin typeface="黑体"/>
                <a:cs typeface="黑体"/>
              </a:rPr>
              <a:t>异常行为。</a:t>
            </a:r>
            <a:endParaRPr sz="2400">
              <a:latin typeface="黑体"/>
              <a:cs typeface="黑体"/>
            </a:endParaRPr>
          </a:p>
          <a:p>
            <a:pPr lvl="1" marL="1099185" marR="5080" indent="-457200">
              <a:lnSpc>
                <a:spcPct val="110000"/>
              </a:lnSpc>
              <a:spcBef>
                <a:spcPts val="575"/>
              </a:spcBef>
              <a:buClr>
                <a:srgbClr val="40458B"/>
              </a:buClr>
              <a:buSzPct val="89583"/>
              <a:buFont typeface="Wingdings"/>
              <a:buChar char=""/>
              <a:tabLst>
                <a:tab pos="1099185" algn="l"/>
              </a:tabLst>
            </a:pPr>
            <a:r>
              <a:rPr dirty="0" sz="2400">
                <a:solidFill>
                  <a:srgbClr val="FF0000"/>
                </a:solidFill>
                <a:latin typeface="黑体"/>
                <a:cs typeface="黑体"/>
              </a:rPr>
              <a:t>保持异常行为</a:t>
            </a:r>
            <a:r>
              <a:rPr dirty="0" sz="2400" spc="-5">
                <a:solidFill>
                  <a:srgbClr val="40458B"/>
                </a:solidFill>
                <a:latin typeface="黑体"/>
                <a:cs typeface="黑体"/>
              </a:rPr>
              <a:t>是指：无论怎么改变指令的执行顺序，都不能改变程序中异常的发</a:t>
            </a:r>
            <a:r>
              <a:rPr dirty="0" sz="2400" spc="-15">
                <a:solidFill>
                  <a:srgbClr val="40458B"/>
                </a:solidFill>
                <a:latin typeface="黑体"/>
                <a:cs typeface="黑体"/>
              </a:rPr>
              <a:t>生情况。</a:t>
            </a:r>
            <a:endParaRPr sz="2400">
              <a:latin typeface="黑体"/>
              <a:cs typeface="黑体"/>
            </a:endParaRPr>
          </a:p>
          <a:p>
            <a:pPr lvl="2" marL="1438910" indent="-580390">
              <a:lnSpc>
                <a:spcPct val="100000"/>
              </a:lnSpc>
              <a:spcBef>
                <a:spcPts val="290"/>
              </a:spcBef>
              <a:buClr>
                <a:srgbClr val="40458B"/>
              </a:buClr>
              <a:buSzPct val="90000"/>
              <a:buFont typeface="Wingdings"/>
              <a:buChar char=""/>
              <a:tabLst>
                <a:tab pos="1438910" algn="l"/>
              </a:tabLst>
            </a:pPr>
            <a:r>
              <a:rPr dirty="0" sz="2000" spc="-30">
                <a:solidFill>
                  <a:srgbClr val="FF5CFF"/>
                </a:solidFill>
                <a:latin typeface="黑体"/>
                <a:cs typeface="黑体"/>
              </a:rPr>
              <a:t>即原来程序中是怎么发生异常的，改变执行顺序后还是怎么发生。</a:t>
            </a:r>
            <a:endParaRPr sz="2000">
              <a:latin typeface="黑体"/>
              <a:cs typeface="黑体"/>
            </a:endParaRPr>
          </a:p>
          <a:p>
            <a:pPr lvl="2" marL="1295400" indent="-436880">
              <a:lnSpc>
                <a:spcPct val="100000"/>
              </a:lnSpc>
              <a:spcBef>
                <a:spcPts val="815"/>
              </a:spcBef>
              <a:buClr>
                <a:srgbClr val="40458B"/>
              </a:buClr>
              <a:buSzPct val="85416"/>
              <a:buFont typeface="Wingdings"/>
              <a:buChar char=""/>
              <a:tabLst>
                <a:tab pos="1295400" algn="l"/>
              </a:tabLst>
            </a:pPr>
            <a:r>
              <a:rPr dirty="0" sz="2400">
                <a:solidFill>
                  <a:srgbClr val="001F5F"/>
                </a:solidFill>
                <a:latin typeface="黑体"/>
                <a:cs typeface="黑体"/>
              </a:rPr>
              <a:t>后来</a:t>
            </a:r>
            <a:r>
              <a:rPr dirty="0" sz="2000" spc="-20">
                <a:solidFill>
                  <a:srgbClr val="FF5CFF"/>
                </a:solidFill>
                <a:latin typeface="黑体"/>
                <a:cs typeface="黑体"/>
              </a:rPr>
              <a:t>弱化为：指令执行顺序的改变不能导致程序中发生新的异常。</a:t>
            </a:r>
            <a:endParaRPr sz="2000">
              <a:latin typeface="黑体"/>
              <a:cs typeface="黑体"/>
            </a:endParaRPr>
          </a:p>
          <a:p>
            <a:pPr lvl="1" marL="1099185" indent="-457200">
              <a:lnSpc>
                <a:spcPct val="100000"/>
              </a:lnSpc>
              <a:spcBef>
                <a:spcPts val="865"/>
              </a:spcBef>
              <a:buClr>
                <a:srgbClr val="40458B"/>
              </a:buClr>
              <a:buSzPct val="89583"/>
              <a:buFont typeface="Wingdings"/>
              <a:buChar char=""/>
              <a:tabLst>
                <a:tab pos="1099185" algn="l"/>
              </a:tabLst>
            </a:pPr>
            <a:r>
              <a:rPr dirty="0" sz="2400">
                <a:solidFill>
                  <a:srgbClr val="FF0000"/>
                </a:solidFill>
                <a:latin typeface="黑体"/>
                <a:cs typeface="黑体"/>
              </a:rPr>
              <a:t>数据流</a:t>
            </a:r>
            <a:r>
              <a:rPr dirty="0" sz="2400" spc="-5">
                <a:solidFill>
                  <a:srgbClr val="40458B"/>
                </a:solidFill>
                <a:latin typeface="黑体"/>
                <a:cs typeface="黑体"/>
              </a:rPr>
              <a:t>：指数据值从其产生者指令到其消费者指令的实际流动。</a:t>
            </a:r>
            <a:endParaRPr sz="2400">
              <a:latin typeface="黑体"/>
              <a:cs typeface="黑体"/>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12/175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641095" y="876416"/>
            <a:ext cx="10874375" cy="3147695"/>
          </a:xfrm>
          <a:prstGeom prst="rect">
            <a:avLst/>
          </a:prstGeom>
        </p:spPr>
        <p:txBody>
          <a:bodyPr wrap="square" lIns="0" tIns="202565" rIns="0" bIns="0" rtlCol="0" vert="horz">
            <a:spAutoFit/>
          </a:bodyPr>
          <a:lstStyle/>
          <a:p>
            <a:pPr marL="469265" indent="-456565">
              <a:lnSpc>
                <a:spcPct val="100000"/>
              </a:lnSpc>
              <a:spcBef>
                <a:spcPts val="1595"/>
              </a:spcBef>
              <a:buClr>
                <a:srgbClr val="40458B"/>
              </a:buClr>
              <a:buSzPct val="89583"/>
              <a:buFont typeface="Wingdings"/>
              <a:buChar char=""/>
              <a:tabLst>
                <a:tab pos="469265" algn="l"/>
              </a:tabLst>
            </a:pPr>
            <a:r>
              <a:rPr dirty="0" sz="2400" spc="-15">
                <a:solidFill>
                  <a:srgbClr val="FF0000"/>
                </a:solidFill>
                <a:latin typeface="黑体"/>
                <a:cs typeface="黑体"/>
              </a:rPr>
              <a:t>静态调度</a:t>
            </a:r>
            <a:endParaRPr sz="2400">
              <a:latin typeface="黑体"/>
              <a:cs typeface="黑体"/>
            </a:endParaRPr>
          </a:p>
          <a:p>
            <a:pPr lvl="1" marL="757555" indent="-457200">
              <a:lnSpc>
                <a:spcPct val="100000"/>
              </a:lnSpc>
              <a:spcBef>
                <a:spcPts val="1365"/>
              </a:spcBef>
              <a:buClr>
                <a:srgbClr val="4668F5"/>
              </a:buClr>
              <a:buSzPct val="68181"/>
              <a:buFont typeface="Wingdings"/>
              <a:buChar char=""/>
              <a:tabLst>
                <a:tab pos="757555" algn="l"/>
              </a:tabLst>
            </a:pPr>
            <a:r>
              <a:rPr dirty="0" sz="2200" spc="-25" b="1">
                <a:solidFill>
                  <a:srgbClr val="9966FF"/>
                </a:solidFill>
                <a:latin typeface="宋体"/>
                <a:cs typeface="宋体"/>
              </a:rPr>
              <a:t>依靠编译器对代码进行静态调度，以减少相关和冲突。</a:t>
            </a:r>
            <a:endParaRPr sz="2200">
              <a:latin typeface="宋体"/>
              <a:cs typeface="宋体"/>
            </a:endParaRPr>
          </a:p>
          <a:p>
            <a:pPr lvl="1" marL="757555" indent="-457200">
              <a:lnSpc>
                <a:spcPct val="100000"/>
              </a:lnSpc>
              <a:spcBef>
                <a:spcPts val="1320"/>
              </a:spcBef>
              <a:buClr>
                <a:srgbClr val="4668F5"/>
              </a:buClr>
              <a:buSzPct val="68181"/>
              <a:buFont typeface="Wingdings"/>
              <a:buChar char=""/>
              <a:tabLst>
                <a:tab pos="757555" algn="l"/>
              </a:tabLst>
            </a:pPr>
            <a:r>
              <a:rPr dirty="0" sz="2200" spc="-25" b="1">
                <a:solidFill>
                  <a:srgbClr val="9966FF"/>
                </a:solidFill>
                <a:latin typeface="宋体"/>
                <a:cs typeface="宋体"/>
              </a:rPr>
              <a:t>它不是在程序执行的过程中、而是在编译期间进行代码调度和优化。</a:t>
            </a:r>
            <a:endParaRPr sz="2200">
              <a:latin typeface="宋体"/>
              <a:cs typeface="宋体"/>
            </a:endParaRPr>
          </a:p>
          <a:p>
            <a:pPr lvl="1" marL="757555" indent="-457200">
              <a:lnSpc>
                <a:spcPct val="100000"/>
              </a:lnSpc>
              <a:spcBef>
                <a:spcPts val="1320"/>
              </a:spcBef>
              <a:buClr>
                <a:srgbClr val="4668F5"/>
              </a:buClr>
              <a:buSzPct val="68181"/>
              <a:buFont typeface="Wingdings"/>
              <a:buChar char=""/>
              <a:tabLst>
                <a:tab pos="757555" algn="l"/>
              </a:tabLst>
            </a:pPr>
            <a:r>
              <a:rPr dirty="0" sz="2200" spc="-25" b="1">
                <a:solidFill>
                  <a:srgbClr val="9966FF"/>
                </a:solidFill>
                <a:latin typeface="宋体"/>
                <a:cs typeface="宋体"/>
              </a:rPr>
              <a:t>通过把相关的指令拉开距离来减少可能产生的停顿。</a:t>
            </a:r>
            <a:endParaRPr sz="2200">
              <a:latin typeface="宋体"/>
              <a:cs typeface="宋体"/>
            </a:endParaRPr>
          </a:p>
          <a:p>
            <a:pPr marL="469265" indent="-456565">
              <a:lnSpc>
                <a:spcPct val="100000"/>
              </a:lnSpc>
              <a:spcBef>
                <a:spcPts val="1395"/>
              </a:spcBef>
              <a:buClr>
                <a:srgbClr val="40458B"/>
              </a:buClr>
              <a:buSzPct val="89583"/>
              <a:buFont typeface="Wingdings"/>
              <a:buChar char=""/>
              <a:tabLst>
                <a:tab pos="469265" algn="l"/>
              </a:tabLst>
            </a:pPr>
            <a:r>
              <a:rPr dirty="0" sz="2400" spc="-20">
                <a:solidFill>
                  <a:srgbClr val="FF0000"/>
                </a:solidFill>
                <a:latin typeface="黑体"/>
                <a:cs typeface="黑体"/>
              </a:rPr>
              <a:t>动态调度</a:t>
            </a:r>
            <a:endParaRPr sz="2400">
              <a:latin typeface="黑体"/>
              <a:cs typeface="黑体"/>
            </a:endParaRPr>
          </a:p>
          <a:p>
            <a:pPr lvl="1" marL="757555" indent="-457200">
              <a:lnSpc>
                <a:spcPct val="100000"/>
              </a:lnSpc>
              <a:spcBef>
                <a:spcPts val="1370"/>
              </a:spcBef>
              <a:buClr>
                <a:srgbClr val="4668F5"/>
              </a:buClr>
              <a:buSzPct val="68181"/>
              <a:buFont typeface="Wingdings"/>
              <a:buChar char=""/>
              <a:tabLst>
                <a:tab pos="757555" algn="l"/>
              </a:tabLst>
            </a:pPr>
            <a:r>
              <a:rPr dirty="0" sz="2200" spc="-25" b="1">
                <a:solidFill>
                  <a:srgbClr val="9966FF"/>
                </a:solidFill>
                <a:latin typeface="宋体"/>
                <a:cs typeface="宋体"/>
              </a:rPr>
              <a:t>在程序的执行过程中，依靠专门硬件对代码进行调度，减少数据相关导致的停顿。</a:t>
            </a:r>
            <a:endParaRPr sz="2200">
              <a:latin typeface="宋体"/>
              <a:cs typeface="宋体"/>
            </a:endParaRPr>
          </a:p>
        </p:txBody>
      </p:sp>
      <p:sp>
        <p:nvSpPr>
          <p:cNvPr id="10" name="object 10"/>
          <p:cNvSpPr txBox="1">
            <a:spLocks noGrp="1"/>
          </p:cNvSpPr>
          <p:nvPr>
            <p:ph type="title"/>
          </p:nvPr>
        </p:nvSpPr>
        <p:spPr>
          <a:xfrm>
            <a:off x="1368933" y="161290"/>
            <a:ext cx="3223895" cy="452120"/>
          </a:xfrm>
          <a:prstGeom prst="rect"/>
        </p:spPr>
        <p:txBody>
          <a:bodyPr wrap="square" lIns="0" tIns="12065" rIns="0" bIns="0" rtlCol="0" vert="horz">
            <a:spAutoFit/>
          </a:bodyPr>
          <a:lstStyle/>
          <a:p>
            <a:pPr marL="12700">
              <a:lnSpc>
                <a:spcPct val="100000"/>
              </a:lnSpc>
              <a:spcBef>
                <a:spcPts val="95"/>
              </a:spcBef>
            </a:pPr>
            <a:r>
              <a:rPr dirty="0" sz="2800">
                <a:solidFill>
                  <a:srgbClr val="000000"/>
                </a:solidFill>
              </a:rPr>
              <a:t>5.3</a:t>
            </a:r>
            <a:r>
              <a:rPr dirty="0" sz="2800" spc="-40">
                <a:solidFill>
                  <a:srgbClr val="000000"/>
                </a:solidFill>
              </a:rPr>
              <a:t> 指令的动态调度</a:t>
            </a:r>
            <a:endParaRPr sz="2800"/>
          </a:p>
        </p:txBody>
      </p:sp>
      <p:pic>
        <p:nvPicPr>
          <p:cNvPr id="11" name="object 11" descr=""/>
          <p:cNvPicPr/>
          <p:nvPr/>
        </p:nvPicPr>
        <p:blipFill>
          <a:blip r:embed="rId2" cstate="print"/>
          <a:stretch>
            <a:fillRect/>
          </a:stretch>
        </p:blipFill>
        <p:spPr>
          <a:xfrm>
            <a:off x="1487550" y="4292600"/>
            <a:ext cx="8818499" cy="18923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087018" y="1155572"/>
            <a:ext cx="10469245" cy="3312795"/>
          </a:xfrm>
          <a:prstGeom prst="rect">
            <a:avLst/>
          </a:prstGeom>
        </p:spPr>
        <p:txBody>
          <a:bodyPr wrap="square" lIns="0" tIns="12700" rIns="0" bIns="0" rtlCol="0" vert="horz">
            <a:spAutoFit/>
          </a:bodyPr>
          <a:lstStyle/>
          <a:p>
            <a:pPr marL="298450" indent="-285750">
              <a:lnSpc>
                <a:spcPct val="100000"/>
              </a:lnSpc>
              <a:spcBef>
                <a:spcPts val="100"/>
              </a:spcBef>
              <a:buClr>
                <a:srgbClr val="40458B"/>
              </a:buClr>
              <a:buSzPct val="89583"/>
              <a:buFont typeface="Wingdings"/>
              <a:buChar char=""/>
              <a:tabLst>
                <a:tab pos="298450" algn="l"/>
              </a:tabLst>
            </a:pPr>
            <a:r>
              <a:rPr dirty="0" sz="2400" spc="-15">
                <a:solidFill>
                  <a:srgbClr val="FF0000"/>
                </a:solidFill>
                <a:latin typeface="黑体"/>
                <a:cs typeface="黑体"/>
              </a:rPr>
              <a:t>动态调度</a:t>
            </a:r>
            <a:endParaRPr sz="2400">
              <a:latin typeface="黑体"/>
              <a:cs typeface="黑体"/>
            </a:endParaRPr>
          </a:p>
          <a:p>
            <a:pPr lvl="1" marL="962025" indent="-492759">
              <a:lnSpc>
                <a:spcPct val="100000"/>
              </a:lnSpc>
              <a:spcBef>
                <a:spcPts val="1745"/>
              </a:spcBef>
              <a:buClr>
                <a:srgbClr val="4668F5"/>
              </a:buClr>
              <a:buSzPct val="60000"/>
              <a:buFont typeface="Wingdings"/>
              <a:buChar char=""/>
              <a:tabLst>
                <a:tab pos="962025" algn="l"/>
              </a:tabLst>
            </a:pPr>
            <a:r>
              <a:rPr dirty="0" sz="2000" spc="-25" b="1">
                <a:solidFill>
                  <a:srgbClr val="D50092"/>
                </a:solidFill>
                <a:latin typeface="宋体"/>
                <a:cs typeface="宋体"/>
              </a:rPr>
              <a:t>优点：</a:t>
            </a:r>
            <a:endParaRPr sz="2000">
              <a:latin typeface="宋体"/>
              <a:cs typeface="宋体"/>
            </a:endParaRPr>
          </a:p>
          <a:p>
            <a:pPr lvl="2" marL="1020444" indent="-381000">
              <a:lnSpc>
                <a:spcPct val="100000"/>
              </a:lnSpc>
              <a:spcBef>
                <a:spcPts val="1675"/>
              </a:spcBef>
              <a:buClr>
                <a:srgbClr val="9966FF"/>
              </a:buClr>
              <a:buSzPct val="63888"/>
              <a:buFont typeface="Wingdings"/>
              <a:buChar char=""/>
              <a:tabLst>
                <a:tab pos="1020444" algn="l"/>
              </a:tabLst>
            </a:pPr>
            <a:r>
              <a:rPr dirty="0" sz="1800" spc="-10" b="1">
                <a:solidFill>
                  <a:srgbClr val="FF09FF"/>
                </a:solidFill>
                <a:latin typeface="宋体"/>
                <a:cs typeface="宋体"/>
              </a:rPr>
              <a:t>能够处理一些在编译时情况不明的相关（比如涉及到存储器访问的相关），</a:t>
            </a:r>
            <a:r>
              <a:rPr dirty="0" sz="1800" spc="-20" b="1">
                <a:solidFill>
                  <a:srgbClr val="FF09FF"/>
                </a:solidFill>
                <a:latin typeface="宋体"/>
                <a:cs typeface="宋体"/>
              </a:rPr>
              <a:t>并简化了编译器；</a:t>
            </a:r>
            <a:endParaRPr sz="1800">
              <a:latin typeface="宋体"/>
              <a:cs typeface="宋体"/>
            </a:endParaRPr>
          </a:p>
          <a:p>
            <a:pPr lvl="2" marL="1020444" marR="234950" indent="-381000">
              <a:lnSpc>
                <a:spcPct val="150000"/>
              </a:lnSpc>
              <a:spcBef>
                <a:spcPts val="434"/>
              </a:spcBef>
              <a:buClr>
                <a:srgbClr val="9966FF"/>
              </a:buClr>
              <a:buSzPct val="63888"/>
              <a:buFont typeface="Wingdings"/>
              <a:buChar char=""/>
              <a:tabLst>
                <a:tab pos="1020444" algn="l"/>
              </a:tabLst>
            </a:pPr>
            <a:r>
              <a:rPr dirty="0" sz="1800" spc="-10" b="1">
                <a:solidFill>
                  <a:srgbClr val="FF09FF"/>
                </a:solidFill>
                <a:latin typeface="宋体"/>
                <a:cs typeface="宋体"/>
              </a:rPr>
              <a:t>能够使本来是面向某一流水线优化编译的代码（静态调度）在其它的流水线（动态调度）</a:t>
            </a:r>
            <a:r>
              <a:rPr dirty="0" sz="1800" spc="-50" b="1">
                <a:solidFill>
                  <a:srgbClr val="FF09FF"/>
                </a:solidFill>
                <a:latin typeface="宋体"/>
                <a:cs typeface="宋体"/>
              </a:rPr>
              <a:t>上</a:t>
            </a:r>
            <a:r>
              <a:rPr dirty="0" sz="1800" spc="-20" b="1">
                <a:solidFill>
                  <a:srgbClr val="FF09FF"/>
                </a:solidFill>
                <a:latin typeface="宋体"/>
                <a:cs typeface="宋体"/>
              </a:rPr>
              <a:t>也能高效地执行。</a:t>
            </a:r>
            <a:endParaRPr sz="1800">
              <a:latin typeface="宋体"/>
              <a:cs typeface="宋体"/>
            </a:endParaRPr>
          </a:p>
          <a:p>
            <a:pPr marL="732790" indent="-457834">
              <a:lnSpc>
                <a:spcPct val="100000"/>
              </a:lnSpc>
              <a:spcBef>
                <a:spcPts val="1625"/>
              </a:spcBef>
              <a:buClr>
                <a:srgbClr val="4668F5"/>
              </a:buClr>
              <a:buSzPct val="70000"/>
              <a:buFont typeface="Wingdings"/>
              <a:buChar char=""/>
              <a:tabLst>
                <a:tab pos="732790" algn="l"/>
              </a:tabLst>
            </a:pPr>
            <a:r>
              <a:rPr dirty="0" sz="2000" spc="-20" b="1">
                <a:solidFill>
                  <a:srgbClr val="9966FF"/>
                </a:solidFill>
                <a:latin typeface="宋体"/>
                <a:cs typeface="宋体"/>
              </a:rPr>
              <a:t>以硬件复杂性的显著增加为代价</a:t>
            </a:r>
            <a:endParaRPr sz="2000">
              <a:latin typeface="宋体"/>
              <a:cs typeface="宋体"/>
            </a:endParaRPr>
          </a:p>
          <a:p>
            <a:pPr marL="274955">
              <a:lnSpc>
                <a:spcPct val="100000"/>
              </a:lnSpc>
              <a:spcBef>
                <a:spcPts val="1680"/>
              </a:spcBef>
            </a:pPr>
            <a:r>
              <a:rPr dirty="0" sz="2000" spc="-5">
                <a:solidFill>
                  <a:srgbClr val="181B1F"/>
                </a:solidFill>
                <a:latin typeface="宋体"/>
                <a:cs typeface="宋体"/>
              </a:rPr>
              <a:t>总结一句话：前面指令的阻塞</a:t>
            </a:r>
            <a:r>
              <a:rPr dirty="0" sz="2000" spc="-10">
                <a:solidFill>
                  <a:srgbClr val="FF0000"/>
                </a:solidFill>
                <a:latin typeface="宋体"/>
                <a:cs typeface="宋体"/>
              </a:rPr>
              <a:t>不影响</a:t>
            </a:r>
            <a:r>
              <a:rPr dirty="0" sz="2000" spc="-20">
                <a:solidFill>
                  <a:srgbClr val="181B1F"/>
                </a:solidFill>
                <a:latin typeface="宋体"/>
                <a:cs typeface="宋体"/>
              </a:rPr>
              <a:t>后面指令的继续前进。</a:t>
            </a:r>
            <a:endParaRPr sz="2000">
              <a:latin typeface="宋体"/>
              <a:cs typeface="宋体"/>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23441" y="135712"/>
            <a:ext cx="3686175" cy="514350"/>
          </a:xfrm>
          <a:prstGeom prst="rect"/>
        </p:spPr>
        <p:txBody>
          <a:bodyPr wrap="square" lIns="0" tIns="13335" rIns="0" bIns="0" rtlCol="0" vert="horz">
            <a:spAutoFit/>
          </a:bodyPr>
          <a:lstStyle/>
          <a:p>
            <a:pPr marL="12700">
              <a:lnSpc>
                <a:spcPct val="100000"/>
              </a:lnSpc>
              <a:spcBef>
                <a:spcPts val="105"/>
              </a:spcBef>
            </a:pPr>
            <a:r>
              <a:rPr dirty="0"/>
              <a:t>5.3</a:t>
            </a:r>
            <a:r>
              <a:rPr dirty="0" spc="-20"/>
              <a:t> 指令的动态调度</a:t>
            </a:r>
          </a:p>
        </p:txBody>
      </p:sp>
      <p:sp>
        <p:nvSpPr>
          <p:cNvPr id="10" name="object 10" descr=""/>
          <p:cNvSpPr txBox="1"/>
          <p:nvPr/>
        </p:nvSpPr>
        <p:spPr>
          <a:xfrm>
            <a:off x="702665" y="941070"/>
            <a:ext cx="8345805" cy="4437380"/>
          </a:xfrm>
          <a:prstGeom prst="rect">
            <a:avLst/>
          </a:prstGeom>
        </p:spPr>
        <p:txBody>
          <a:bodyPr wrap="square" lIns="0" tIns="13335" rIns="0" bIns="0" rtlCol="0" vert="horz">
            <a:spAutoFit/>
          </a:bodyPr>
          <a:lstStyle/>
          <a:p>
            <a:pPr marL="2008505">
              <a:lnSpc>
                <a:spcPct val="100000"/>
              </a:lnSpc>
              <a:spcBef>
                <a:spcPts val="105"/>
              </a:spcBef>
            </a:pPr>
            <a:r>
              <a:rPr dirty="0" sz="2600">
                <a:solidFill>
                  <a:srgbClr val="0000CC"/>
                </a:solidFill>
                <a:latin typeface="黑体"/>
                <a:cs typeface="黑体"/>
              </a:rPr>
              <a:t>5.3.1</a:t>
            </a:r>
            <a:r>
              <a:rPr dirty="0" sz="2600" spc="-15">
                <a:solidFill>
                  <a:srgbClr val="0000CC"/>
                </a:solidFill>
                <a:latin typeface="黑体"/>
                <a:cs typeface="黑体"/>
              </a:rPr>
              <a:t> 动态调度的基本思想</a:t>
            </a:r>
            <a:endParaRPr sz="2600">
              <a:latin typeface="黑体"/>
              <a:cs typeface="黑体"/>
            </a:endParaRPr>
          </a:p>
          <a:p>
            <a:pPr marL="469265" indent="-456565">
              <a:lnSpc>
                <a:spcPct val="100000"/>
              </a:lnSpc>
              <a:spcBef>
                <a:spcPts val="3090"/>
              </a:spcBef>
              <a:buClr>
                <a:srgbClr val="40458B"/>
              </a:buClr>
              <a:buFont typeface="Wingdings"/>
              <a:buChar char=""/>
              <a:tabLst>
                <a:tab pos="469265" algn="l"/>
              </a:tabLst>
            </a:pPr>
            <a:r>
              <a:rPr dirty="0" sz="2400">
                <a:solidFill>
                  <a:srgbClr val="001F5F"/>
                </a:solidFill>
                <a:latin typeface="黑体"/>
                <a:cs typeface="黑体"/>
              </a:rPr>
              <a:t>到目前为止我们所使用流水线（</a:t>
            </a:r>
            <a:r>
              <a:rPr dirty="0" sz="2400" spc="-15">
                <a:solidFill>
                  <a:srgbClr val="001F5F"/>
                </a:solidFill>
                <a:latin typeface="黑体"/>
                <a:cs typeface="黑体"/>
              </a:rPr>
              <a:t>传统的</a:t>
            </a:r>
            <a:r>
              <a:rPr dirty="0" sz="2400" spc="-25">
                <a:solidFill>
                  <a:srgbClr val="001F5F"/>
                </a:solidFill>
                <a:latin typeface="Tahoma"/>
                <a:cs typeface="Tahoma"/>
              </a:rPr>
              <a:t>5</a:t>
            </a:r>
            <a:r>
              <a:rPr dirty="0" sz="2400">
                <a:solidFill>
                  <a:srgbClr val="001F5F"/>
                </a:solidFill>
                <a:latin typeface="黑体"/>
                <a:cs typeface="黑体"/>
              </a:rPr>
              <a:t>级流水线</a:t>
            </a:r>
            <a:r>
              <a:rPr dirty="0" sz="2400" spc="-50">
                <a:solidFill>
                  <a:srgbClr val="001F5F"/>
                </a:solidFill>
                <a:latin typeface="黑体"/>
                <a:cs typeface="黑体"/>
              </a:rPr>
              <a:t>）</a:t>
            </a:r>
            <a:endParaRPr sz="2400">
              <a:latin typeface="黑体"/>
              <a:cs typeface="黑体"/>
            </a:endParaRPr>
          </a:p>
          <a:p>
            <a:pPr lvl="1" marL="1170940" indent="-457200">
              <a:lnSpc>
                <a:spcPct val="100000"/>
              </a:lnSpc>
              <a:spcBef>
                <a:spcPts val="775"/>
              </a:spcBef>
              <a:buClr>
                <a:srgbClr val="4668F5"/>
              </a:buClr>
              <a:buSzPct val="70000"/>
              <a:buFont typeface="Wingdings"/>
              <a:buChar char=""/>
              <a:tabLst>
                <a:tab pos="1170940" algn="l"/>
              </a:tabLst>
            </a:pPr>
            <a:r>
              <a:rPr dirty="0" sz="2000" spc="-15" b="1">
                <a:solidFill>
                  <a:srgbClr val="9966FF"/>
                </a:solidFill>
                <a:latin typeface="宋体"/>
                <a:cs typeface="宋体"/>
              </a:rPr>
              <a:t>指令按序流出按序执行</a:t>
            </a:r>
            <a:endParaRPr sz="2000">
              <a:latin typeface="宋体"/>
              <a:cs typeface="宋体"/>
            </a:endParaRPr>
          </a:p>
          <a:p>
            <a:pPr lvl="1" marL="1245235" indent="-531495">
              <a:lnSpc>
                <a:spcPct val="100000"/>
              </a:lnSpc>
              <a:spcBef>
                <a:spcPts val="720"/>
              </a:spcBef>
              <a:buClr>
                <a:srgbClr val="4668F5"/>
              </a:buClr>
              <a:buSzPct val="70000"/>
              <a:buFont typeface="Wingdings"/>
              <a:buChar char=""/>
              <a:tabLst>
                <a:tab pos="1245235" algn="l"/>
              </a:tabLst>
            </a:pPr>
            <a:r>
              <a:rPr dirty="0" sz="2000" spc="-20" b="1">
                <a:solidFill>
                  <a:srgbClr val="9966FF"/>
                </a:solidFill>
                <a:latin typeface="宋体"/>
                <a:cs typeface="宋体"/>
              </a:rPr>
              <a:t>运算通路只有一条</a:t>
            </a:r>
            <a:endParaRPr sz="2000">
              <a:latin typeface="宋体"/>
              <a:cs typeface="宋体"/>
            </a:endParaRPr>
          </a:p>
          <a:p>
            <a:pPr lvl="1" marL="1170940" indent="-457200">
              <a:lnSpc>
                <a:spcPct val="100000"/>
              </a:lnSpc>
              <a:spcBef>
                <a:spcPts val="720"/>
              </a:spcBef>
              <a:buClr>
                <a:srgbClr val="4668F5"/>
              </a:buClr>
              <a:buSzPct val="70000"/>
              <a:buFont typeface="Wingdings"/>
              <a:buChar char=""/>
              <a:tabLst>
                <a:tab pos="1170940" algn="l"/>
              </a:tabLst>
            </a:pPr>
            <a:r>
              <a:rPr dirty="0" sz="2000" spc="-20" b="1">
                <a:solidFill>
                  <a:srgbClr val="9966FF"/>
                </a:solidFill>
                <a:latin typeface="宋体"/>
                <a:cs typeface="宋体"/>
              </a:rPr>
              <a:t>只有一个配置</a:t>
            </a:r>
            <a:endParaRPr sz="2000">
              <a:latin typeface="宋体"/>
              <a:cs typeface="宋体"/>
            </a:endParaRPr>
          </a:p>
          <a:p>
            <a:pPr lvl="1" marL="1170940" indent="-457200">
              <a:lnSpc>
                <a:spcPct val="100000"/>
              </a:lnSpc>
              <a:spcBef>
                <a:spcPts val="720"/>
              </a:spcBef>
              <a:buClr>
                <a:srgbClr val="4668F5"/>
              </a:buClr>
              <a:buSzPct val="70000"/>
              <a:buFont typeface="Wingdings"/>
              <a:buChar char=""/>
              <a:tabLst>
                <a:tab pos="1170940" algn="l"/>
              </a:tabLst>
            </a:pPr>
            <a:r>
              <a:rPr dirty="0" sz="2000" spc="-15" b="1">
                <a:solidFill>
                  <a:srgbClr val="9966FF"/>
                </a:solidFill>
                <a:latin typeface="宋体"/>
                <a:cs typeface="宋体"/>
              </a:rPr>
              <a:t>每一条指令都要经过流水线的五段</a:t>
            </a:r>
            <a:r>
              <a:rPr dirty="0" sz="2000" spc="-20" b="1">
                <a:solidFill>
                  <a:srgbClr val="9966FF"/>
                </a:solidFill>
                <a:latin typeface="宋体"/>
                <a:cs typeface="宋体"/>
              </a:rPr>
              <a:t>（</a:t>
            </a:r>
            <a:r>
              <a:rPr dirty="0" sz="2000" spc="-15" b="1">
                <a:solidFill>
                  <a:srgbClr val="9966FF"/>
                </a:solidFill>
                <a:latin typeface="宋体"/>
                <a:cs typeface="宋体"/>
              </a:rPr>
              <a:t>无论是否需要</a:t>
            </a:r>
            <a:r>
              <a:rPr dirty="0" sz="2000" spc="-20" b="1">
                <a:solidFill>
                  <a:srgbClr val="9966FF"/>
                </a:solidFill>
                <a:latin typeface="Tahoma"/>
                <a:cs typeface="Tahoma"/>
              </a:rPr>
              <a:t>MEM</a:t>
            </a:r>
            <a:r>
              <a:rPr dirty="0" sz="2000" spc="-20" b="1">
                <a:solidFill>
                  <a:srgbClr val="9966FF"/>
                </a:solidFill>
                <a:latin typeface="宋体"/>
                <a:cs typeface="宋体"/>
              </a:rPr>
              <a:t>）</a:t>
            </a:r>
            <a:endParaRPr sz="2000">
              <a:latin typeface="宋体"/>
              <a:cs typeface="宋体"/>
            </a:endParaRPr>
          </a:p>
          <a:p>
            <a:pPr marL="469265" indent="-342265">
              <a:lnSpc>
                <a:spcPct val="100000"/>
              </a:lnSpc>
              <a:spcBef>
                <a:spcPts val="810"/>
              </a:spcBef>
              <a:buClr>
                <a:srgbClr val="40458B"/>
              </a:buClr>
              <a:buFont typeface="Wingdings"/>
              <a:buChar char=""/>
              <a:tabLst>
                <a:tab pos="469265" algn="l"/>
              </a:tabLst>
            </a:pPr>
            <a:r>
              <a:rPr dirty="0" sz="2400" spc="-15">
                <a:solidFill>
                  <a:srgbClr val="001F5F"/>
                </a:solidFill>
                <a:latin typeface="黑体"/>
                <a:cs typeface="黑体"/>
              </a:rPr>
              <a:t>动态调度</a:t>
            </a:r>
            <a:endParaRPr sz="2400">
              <a:latin typeface="黑体"/>
              <a:cs typeface="黑体"/>
            </a:endParaRPr>
          </a:p>
          <a:p>
            <a:pPr lvl="1" marL="1170940" indent="-457200">
              <a:lnSpc>
                <a:spcPct val="100000"/>
              </a:lnSpc>
              <a:spcBef>
                <a:spcPts val="775"/>
              </a:spcBef>
              <a:buClr>
                <a:srgbClr val="4668F5"/>
              </a:buClr>
              <a:buSzPct val="70000"/>
              <a:buFont typeface="Wingdings"/>
              <a:buChar char=""/>
              <a:tabLst>
                <a:tab pos="1170940" algn="l"/>
              </a:tabLst>
            </a:pPr>
            <a:r>
              <a:rPr dirty="0" sz="2000" spc="-20" b="1">
                <a:solidFill>
                  <a:srgbClr val="9966FF"/>
                </a:solidFill>
                <a:latin typeface="宋体"/>
                <a:cs typeface="宋体"/>
              </a:rPr>
              <a:t>指令乱序执行</a:t>
            </a:r>
            <a:endParaRPr sz="2000">
              <a:latin typeface="宋体"/>
              <a:cs typeface="宋体"/>
            </a:endParaRPr>
          </a:p>
          <a:p>
            <a:pPr lvl="1" marL="1170940" indent="-457200">
              <a:lnSpc>
                <a:spcPct val="100000"/>
              </a:lnSpc>
              <a:spcBef>
                <a:spcPts val="720"/>
              </a:spcBef>
              <a:buClr>
                <a:srgbClr val="4668F5"/>
              </a:buClr>
              <a:buSzPct val="70000"/>
              <a:buFont typeface="Wingdings"/>
              <a:buChar char=""/>
              <a:tabLst>
                <a:tab pos="1170940" algn="l"/>
              </a:tabLst>
            </a:pPr>
            <a:r>
              <a:rPr dirty="0" sz="2000" spc="-20" b="1">
                <a:solidFill>
                  <a:srgbClr val="9966FF"/>
                </a:solidFill>
                <a:latin typeface="宋体"/>
                <a:cs typeface="宋体"/>
              </a:rPr>
              <a:t>实现多配置</a:t>
            </a:r>
            <a:endParaRPr sz="2000">
              <a:latin typeface="宋体"/>
              <a:cs typeface="宋体"/>
            </a:endParaRPr>
          </a:p>
          <a:p>
            <a:pPr lvl="1" marL="1170940" indent="-457200">
              <a:lnSpc>
                <a:spcPct val="100000"/>
              </a:lnSpc>
              <a:spcBef>
                <a:spcPts val="720"/>
              </a:spcBef>
              <a:buClr>
                <a:srgbClr val="4668F5"/>
              </a:buClr>
              <a:buSzPct val="70000"/>
              <a:buFont typeface="Wingdings"/>
              <a:buChar char=""/>
              <a:tabLst>
                <a:tab pos="1170940" algn="l"/>
              </a:tabLst>
            </a:pPr>
            <a:r>
              <a:rPr dirty="0" sz="2000" spc="-15" b="1">
                <a:solidFill>
                  <a:srgbClr val="9966FF"/>
                </a:solidFill>
                <a:latin typeface="宋体"/>
                <a:cs typeface="宋体"/>
              </a:rPr>
              <a:t>每一条指令都要经过流水线的四段</a:t>
            </a:r>
            <a:r>
              <a:rPr dirty="0" sz="2000" spc="-20" b="1">
                <a:solidFill>
                  <a:srgbClr val="9966FF"/>
                </a:solidFill>
                <a:latin typeface="宋体"/>
                <a:cs typeface="宋体"/>
              </a:rPr>
              <a:t>（流出、读数、执行、写回</a:t>
            </a:r>
            <a:r>
              <a:rPr dirty="0" sz="2000" spc="-50" b="1">
                <a:solidFill>
                  <a:srgbClr val="9966FF"/>
                </a:solidFill>
                <a:latin typeface="宋体"/>
                <a:cs typeface="宋体"/>
              </a:rPr>
              <a:t>）</a:t>
            </a:r>
            <a:endParaRPr sz="2000">
              <a:latin typeface="宋体"/>
              <a:cs typeface="宋体"/>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sp>
        <p:nvSpPr>
          <p:cNvPr id="4" name="object 4"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5" name="object 5" descr=""/>
          <p:cNvSpPr txBox="1"/>
          <p:nvPr/>
        </p:nvSpPr>
        <p:spPr>
          <a:xfrm>
            <a:off x="1993519" y="1632915"/>
            <a:ext cx="8149590" cy="422909"/>
          </a:xfrm>
          <a:prstGeom prst="rect">
            <a:avLst/>
          </a:prstGeom>
        </p:spPr>
        <p:txBody>
          <a:bodyPr wrap="square" lIns="0" tIns="13335" rIns="0" bIns="0" rtlCol="0" vert="horz">
            <a:spAutoFit/>
          </a:bodyPr>
          <a:lstStyle/>
          <a:p>
            <a:pPr marL="12700">
              <a:lnSpc>
                <a:spcPct val="100000"/>
              </a:lnSpc>
              <a:spcBef>
                <a:spcPts val="105"/>
              </a:spcBef>
              <a:tabLst>
                <a:tab pos="7805420" algn="l"/>
              </a:tabLst>
            </a:pPr>
            <a:r>
              <a:rPr dirty="0" sz="2600" spc="-10">
                <a:solidFill>
                  <a:srgbClr val="006FC0"/>
                </a:solidFill>
                <a:latin typeface="微软雅黑"/>
                <a:cs typeface="微软雅黑"/>
              </a:rPr>
              <a:t>在基本流水线中，指令</a:t>
            </a:r>
            <a:r>
              <a:rPr dirty="0" sz="2600" spc="-20">
                <a:solidFill>
                  <a:srgbClr val="006FC0"/>
                </a:solidFill>
                <a:latin typeface="微软雅黑"/>
                <a:cs typeface="微软雅黑"/>
              </a:rPr>
              <a:t>能</a:t>
            </a:r>
            <a:r>
              <a:rPr dirty="0" sz="2600" spc="-10">
                <a:solidFill>
                  <a:srgbClr val="006FC0"/>
                </a:solidFill>
                <a:latin typeface="微软雅黑"/>
                <a:cs typeface="微软雅黑"/>
              </a:rPr>
              <a:t>够被</a:t>
            </a:r>
            <a:r>
              <a:rPr dirty="0" sz="2600" spc="-20">
                <a:solidFill>
                  <a:srgbClr val="006FC0"/>
                </a:solidFill>
                <a:latin typeface="微软雅黑"/>
                <a:cs typeface="微软雅黑"/>
              </a:rPr>
              <a:t>正</a:t>
            </a:r>
            <a:r>
              <a:rPr dirty="0" sz="2600" spc="-10">
                <a:solidFill>
                  <a:srgbClr val="006FC0"/>
                </a:solidFill>
                <a:latin typeface="微软雅黑"/>
                <a:cs typeface="微软雅黑"/>
              </a:rPr>
              <a:t>常流</a:t>
            </a:r>
            <a:r>
              <a:rPr dirty="0" sz="2600" spc="-20">
                <a:solidFill>
                  <a:srgbClr val="006FC0"/>
                </a:solidFill>
                <a:latin typeface="微软雅黑"/>
                <a:cs typeface="微软雅黑"/>
              </a:rPr>
              <a:t>出</a:t>
            </a:r>
            <a:r>
              <a:rPr dirty="0" sz="2600" spc="-10">
                <a:solidFill>
                  <a:srgbClr val="006FC0"/>
                </a:solidFill>
                <a:latin typeface="微软雅黑"/>
                <a:cs typeface="微软雅黑"/>
              </a:rPr>
              <a:t>，必</a:t>
            </a:r>
            <a:r>
              <a:rPr dirty="0" sz="2600" spc="-20">
                <a:solidFill>
                  <a:srgbClr val="006FC0"/>
                </a:solidFill>
                <a:latin typeface="微软雅黑"/>
                <a:cs typeface="微软雅黑"/>
              </a:rPr>
              <a:t>须</a:t>
            </a:r>
            <a:r>
              <a:rPr dirty="0" sz="2600" spc="-10">
                <a:solidFill>
                  <a:srgbClr val="006FC0"/>
                </a:solidFill>
                <a:latin typeface="微软雅黑"/>
                <a:cs typeface="微软雅黑"/>
              </a:rPr>
              <a:t>确保</a:t>
            </a:r>
            <a:r>
              <a:rPr dirty="0" sz="2600" spc="-50">
                <a:solidFill>
                  <a:srgbClr val="006FC0"/>
                </a:solidFill>
                <a:latin typeface="微软雅黑"/>
                <a:cs typeface="微软雅黑"/>
              </a:rPr>
              <a:t>（</a:t>
            </a:r>
            <a:r>
              <a:rPr dirty="0" sz="2600">
                <a:solidFill>
                  <a:srgbClr val="006FC0"/>
                </a:solidFill>
                <a:latin typeface="微软雅黑"/>
                <a:cs typeface="微软雅黑"/>
              </a:rPr>
              <a:t>	</a:t>
            </a:r>
            <a:r>
              <a:rPr dirty="0" sz="2600" spc="-50">
                <a:solidFill>
                  <a:srgbClr val="006FC0"/>
                </a:solidFill>
                <a:latin typeface="微软雅黑"/>
                <a:cs typeface="微软雅黑"/>
              </a:rPr>
              <a:t>）</a:t>
            </a:r>
            <a:endParaRPr sz="2600">
              <a:latin typeface="微软雅黑"/>
              <a:cs typeface="微软雅黑"/>
            </a:endParaRPr>
          </a:p>
        </p:txBody>
      </p:sp>
      <p:sp>
        <p:nvSpPr>
          <p:cNvPr id="6" name="object 6" descr=""/>
          <p:cNvSpPr txBox="1"/>
          <p:nvPr/>
        </p:nvSpPr>
        <p:spPr>
          <a:xfrm>
            <a:off x="3586098" y="2590038"/>
            <a:ext cx="2009775" cy="422275"/>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没有结构冲突</a:t>
            </a:r>
            <a:endParaRPr sz="2600">
              <a:latin typeface="微软雅黑"/>
              <a:cs typeface="微软雅黑"/>
            </a:endParaRPr>
          </a:p>
        </p:txBody>
      </p:sp>
      <p:sp>
        <p:nvSpPr>
          <p:cNvPr id="7" name="object 7" descr=""/>
          <p:cNvSpPr txBox="1"/>
          <p:nvPr/>
        </p:nvSpPr>
        <p:spPr>
          <a:xfrm>
            <a:off x="3586098" y="3447415"/>
            <a:ext cx="2009775" cy="422275"/>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没有数据冲突</a:t>
            </a:r>
            <a:endParaRPr sz="2600">
              <a:latin typeface="微软雅黑"/>
              <a:cs typeface="微软雅黑"/>
            </a:endParaRPr>
          </a:p>
        </p:txBody>
      </p:sp>
      <p:sp>
        <p:nvSpPr>
          <p:cNvPr id="8" name="object 8" descr=""/>
          <p:cNvSpPr txBox="1"/>
          <p:nvPr/>
        </p:nvSpPr>
        <p:spPr>
          <a:xfrm>
            <a:off x="3586098" y="4304487"/>
            <a:ext cx="1678939" cy="422909"/>
          </a:xfrm>
          <a:prstGeom prst="rect">
            <a:avLst/>
          </a:prstGeom>
        </p:spPr>
        <p:txBody>
          <a:bodyPr wrap="square" lIns="0" tIns="13335" rIns="0" bIns="0" rtlCol="0" vert="horz">
            <a:spAutoFit/>
          </a:bodyPr>
          <a:lstStyle/>
          <a:p>
            <a:pPr marL="12700">
              <a:lnSpc>
                <a:spcPct val="100000"/>
              </a:lnSpc>
              <a:spcBef>
                <a:spcPts val="105"/>
              </a:spcBef>
            </a:pPr>
            <a:r>
              <a:rPr dirty="0" sz="2600" spc="-20">
                <a:latin typeface="微软雅黑"/>
                <a:cs typeface="微软雅黑"/>
              </a:rPr>
              <a:t>二者都没有</a:t>
            </a:r>
            <a:endParaRPr sz="2600">
              <a:latin typeface="微软雅黑"/>
              <a:cs typeface="微软雅黑"/>
            </a:endParaRPr>
          </a:p>
        </p:txBody>
      </p:sp>
      <p:sp>
        <p:nvSpPr>
          <p:cNvPr id="9" name="object 9" descr=""/>
          <p:cNvSpPr txBox="1"/>
          <p:nvPr/>
        </p:nvSpPr>
        <p:spPr>
          <a:xfrm>
            <a:off x="3586098" y="5161864"/>
            <a:ext cx="1678939" cy="422909"/>
          </a:xfrm>
          <a:prstGeom prst="rect">
            <a:avLst/>
          </a:prstGeom>
        </p:spPr>
        <p:txBody>
          <a:bodyPr wrap="square" lIns="0" tIns="13335" rIns="0" bIns="0" rtlCol="0" vert="horz">
            <a:spAutoFit/>
          </a:bodyPr>
          <a:lstStyle/>
          <a:p>
            <a:pPr marL="12700">
              <a:lnSpc>
                <a:spcPct val="100000"/>
              </a:lnSpc>
              <a:spcBef>
                <a:spcPts val="105"/>
              </a:spcBef>
            </a:pPr>
            <a:r>
              <a:rPr dirty="0" sz="2600" spc="-20">
                <a:latin typeface="微软雅黑"/>
                <a:cs typeface="微软雅黑"/>
              </a:rPr>
              <a:t>以上都不对</a:t>
            </a:r>
            <a:endParaRPr sz="2600">
              <a:latin typeface="微软雅黑"/>
              <a:cs typeface="微软雅黑"/>
            </a:endParaRPr>
          </a:p>
        </p:txBody>
      </p:sp>
      <p:grpSp>
        <p:nvGrpSpPr>
          <p:cNvPr id="10" name="object 10" descr=""/>
          <p:cNvGrpSpPr/>
          <p:nvPr/>
        </p:nvGrpSpPr>
        <p:grpSpPr>
          <a:xfrm>
            <a:off x="2921000" y="2551176"/>
            <a:ext cx="527050" cy="527050"/>
            <a:chOff x="2921000" y="2551176"/>
            <a:chExt cx="527050" cy="527050"/>
          </a:xfrm>
        </p:grpSpPr>
        <p:sp>
          <p:nvSpPr>
            <p:cNvPr id="11" name="object 11" descr=""/>
            <p:cNvSpPr/>
            <p:nvPr/>
          </p:nvSpPr>
          <p:spPr>
            <a:xfrm>
              <a:off x="2927350" y="2557526"/>
              <a:ext cx="514350" cy="514350"/>
            </a:xfrm>
            <a:custGeom>
              <a:avLst/>
              <a:gdLst/>
              <a:ahLst/>
              <a:cxnLst/>
              <a:rect l="l" t="t" r="r" b="b"/>
              <a:pathLst>
                <a:path w="514350" h="514350">
                  <a:moveTo>
                    <a:pt x="257175" y="0"/>
                  </a:moveTo>
                  <a:lnTo>
                    <a:pt x="210960" y="4140"/>
                  </a:lnTo>
                  <a:lnTo>
                    <a:pt x="167457" y="16080"/>
                  </a:lnTo>
                  <a:lnTo>
                    <a:pt x="127395" y="35094"/>
                  </a:lnTo>
                  <a:lnTo>
                    <a:pt x="91500" y="60458"/>
                  </a:lnTo>
                  <a:lnTo>
                    <a:pt x="60500" y="91447"/>
                  </a:lnTo>
                  <a:lnTo>
                    <a:pt x="35122" y="127338"/>
                  </a:lnTo>
                  <a:lnTo>
                    <a:pt x="16095" y="167406"/>
                  </a:lnTo>
                  <a:lnTo>
                    <a:pt x="4145" y="210926"/>
                  </a:lnTo>
                  <a:lnTo>
                    <a:pt x="0" y="257175"/>
                  </a:lnTo>
                  <a:lnTo>
                    <a:pt x="4145" y="303389"/>
                  </a:lnTo>
                  <a:lnTo>
                    <a:pt x="16095" y="346892"/>
                  </a:lnTo>
                  <a:lnTo>
                    <a:pt x="35122" y="386954"/>
                  </a:lnTo>
                  <a:lnTo>
                    <a:pt x="60500" y="422849"/>
                  </a:lnTo>
                  <a:lnTo>
                    <a:pt x="91500" y="453849"/>
                  </a:lnTo>
                  <a:lnTo>
                    <a:pt x="127395" y="479227"/>
                  </a:lnTo>
                  <a:lnTo>
                    <a:pt x="167457" y="498254"/>
                  </a:lnTo>
                  <a:lnTo>
                    <a:pt x="210960"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26"/>
                  </a:lnTo>
                  <a:lnTo>
                    <a:pt x="498254" y="167406"/>
                  </a:lnTo>
                  <a:lnTo>
                    <a:pt x="479227" y="127338"/>
                  </a:lnTo>
                  <a:lnTo>
                    <a:pt x="453849" y="91447"/>
                  </a:lnTo>
                  <a:lnTo>
                    <a:pt x="422849" y="60458"/>
                  </a:lnTo>
                  <a:lnTo>
                    <a:pt x="386954" y="35094"/>
                  </a:lnTo>
                  <a:lnTo>
                    <a:pt x="346892" y="16080"/>
                  </a:lnTo>
                  <a:lnTo>
                    <a:pt x="303389" y="4140"/>
                  </a:lnTo>
                  <a:lnTo>
                    <a:pt x="257175" y="0"/>
                  </a:lnTo>
                  <a:close/>
                </a:path>
              </a:pathLst>
            </a:custGeom>
            <a:solidFill>
              <a:srgbClr val="808080"/>
            </a:solidFill>
          </p:spPr>
          <p:txBody>
            <a:bodyPr wrap="square" lIns="0" tIns="0" rIns="0" bIns="0" rtlCol="0"/>
            <a:lstStyle/>
            <a:p/>
          </p:txBody>
        </p:sp>
        <p:sp>
          <p:nvSpPr>
            <p:cNvPr id="12" name="object 12" descr=""/>
            <p:cNvSpPr/>
            <p:nvPr/>
          </p:nvSpPr>
          <p:spPr>
            <a:xfrm>
              <a:off x="2927350" y="2557526"/>
              <a:ext cx="514350" cy="514350"/>
            </a:xfrm>
            <a:custGeom>
              <a:avLst/>
              <a:gdLst/>
              <a:ahLst/>
              <a:cxnLst/>
              <a:rect l="l" t="t" r="r" b="b"/>
              <a:pathLst>
                <a:path w="514350" h="514350">
                  <a:moveTo>
                    <a:pt x="0" y="257175"/>
                  </a:moveTo>
                  <a:lnTo>
                    <a:pt x="4145" y="210926"/>
                  </a:lnTo>
                  <a:lnTo>
                    <a:pt x="16095" y="167406"/>
                  </a:lnTo>
                  <a:lnTo>
                    <a:pt x="35122" y="127338"/>
                  </a:lnTo>
                  <a:lnTo>
                    <a:pt x="60500" y="91447"/>
                  </a:lnTo>
                  <a:lnTo>
                    <a:pt x="91500" y="60458"/>
                  </a:lnTo>
                  <a:lnTo>
                    <a:pt x="127395" y="35094"/>
                  </a:lnTo>
                  <a:lnTo>
                    <a:pt x="167457" y="16080"/>
                  </a:lnTo>
                  <a:lnTo>
                    <a:pt x="210960" y="4140"/>
                  </a:lnTo>
                  <a:lnTo>
                    <a:pt x="257175" y="0"/>
                  </a:lnTo>
                  <a:lnTo>
                    <a:pt x="303389" y="4140"/>
                  </a:lnTo>
                  <a:lnTo>
                    <a:pt x="346892" y="16080"/>
                  </a:lnTo>
                  <a:lnTo>
                    <a:pt x="386954" y="35094"/>
                  </a:lnTo>
                  <a:lnTo>
                    <a:pt x="422849" y="60458"/>
                  </a:lnTo>
                  <a:lnTo>
                    <a:pt x="453849" y="91447"/>
                  </a:lnTo>
                  <a:lnTo>
                    <a:pt x="479227" y="127338"/>
                  </a:lnTo>
                  <a:lnTo>
                    <a:pt x="498254" y="167406"/>
                  </a:lnTo>
                  <a:lnTo>
                    <a:pt x="510204" y="210926"/>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60" y="510204"/>
                  </a:lnTo>
                  <a:lnTo>
                    <a:pt x="167457" y="498254"/>
                  </a:lnTo>
                  <a:lnTo>
                    <a:pt x="127395" y="479227"/>
                  </a:lnTo>
                  <a:lnTo>
                    <a:pt x="91500" y="453849"/>
                  </a:lnTo>
                  <a:lnTo>
                    <a:pt x="60500" y="422849"/>
                  </a:lnTo>
                  <a:lnTo>
                    <a:pt x="35122" y="386954"/>
                  </a:lnTo>
                  <a:lnTo>
                    <a:pt x="16095" y="346892"/>
                  </a:lnTo>
                  <a:lnTo>
                    <a:pt x="4145" y="303389"/>
                  </a:lnTo>
                  <a:lnTo>
                    <a:pt x="0" y="257175"/>
                  </a:lnTo>
                  <a:close/>
                </a:path>
              </a:pathLst>
            </a:custGeom>
            <a:ln w="12700">
              <a:solidFill>
                <a:srgbClr val="000000"/>
              </a:solidFill>
            </a:ln>
          </p:spPr>
          <p:txBody>
            <a:bodyPr wrap="square" lIns="0" tIns="0" rIns="0" bIns="0" rtlCol="0"/>
            <a:lstStyle/>
            <a:p/>
          </p:txBody>
        </p:sp>
      </p:grpSp>
      <p:sp>
        <p:nvSpPr>
          <p:cNvPr id="13" name="object 13" descr=""/>
          <p:cNvSpPr txBox="1"/>
          <p:nvPr/>
        </p:nvSpPr>
        <p:spPr>
          <a:xfrm>
            <a:off x="3100832" y="2673223"/>
            <a:ext cx="16827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A</a:t>
            </a:r>
            <a:endParaRPr sz="1600">
              <a:latin typeface="微软雅黑"/>
              <a:cs typeface="微软雅黑"/>
            </a:endParaRPr>
          </a:p>
        </p:txBody>
      </p:sp>
      <p:grpSp>
        <p:nvGrpSpPr>
          <p:cNvPr id="14" name="object 14" descr=""/>
          <p:cNvGrpSpPr/>
          <p:nvPr/>
        </p:nvGrpSpPr>
        <p:grpSpPr>
          <a:xfrm>
            <a:off x="2921000" y="3408298"/>
            <a:ext cx="527050" cy="527050"/>
            <a:chOff x="2921000" y="3408298"/>
            <a:chExt cx="527050" cy="527050"/>
          </a:xfrm>
        </p:grpSpPr>
        <p:sp>
          <p:nvSpPr>
            <p:cNvPr id="15" name="object 15" descr=""/>
            <p:cNvSpPr/>
            <p:nvPr/>
          </p:nvSpPr>
          <p:spPr>
            <a:xfrm>
              <a:off x="2927350" y="3414648"/>
              <a:ext cx="514350" cy="514350"/>
            </a:xfrm>
            <a:custGeom>
              <a:avLst/>
              <a:gdLst/>
              <a:ahLst/>
              <a:cxnLst/>
              <a:rect l="l" t="t" r="r" b="b"/>
              <a:pathLst>
                <a:path w="514350" h="514350">
                  <a:moveTo>
                    <a:pt x="257175" y="0"/>
                  </a:moveTo>
                  <a:lnTo>
                    <a:pt x="210960" y="4145"/>
                  </a:lnTo>
                  <a:lnTo>
                    <a:pt x="167457" y="16095"/>
                  </a:lnTo>
                  <a:lnTo>
                    <a:pt x="127395" y="35122"/>
                  </a:lnTo>
                  <a:lnTo>
                    <a:pt x="91500" y="60500"/>
                  </a:lnTo>
                  <a:lnTo>
                    <a:pt x="60500" y="91500"/>
                  </a:lnTo>
                  <a:lnTo>
                    <a:pt x="35122" y="127395"/>
                  </a:lnTo>
                  <a:lnTo>
                    <a:pt x="16095" y="167457"/>
                  </a:lnTo>
                  <a:lnTo>
                    <a:pt x="4145" y="210960"/>
                  </a:lnTo>
                  <a:lnTo>
                    <a:pt x="0" y="257175"/>
                  </a:lnTo>
                  <a:lnTo>
                    <a:pt x="4145" y="303423"/>
                  </a:lnTo>
                  <a:lnTo>
                    <a:pt x="16095" y="346943"/>
                  </a:lnTo>
                  <a:lnTo>
                    <a:pt x="35122" y="387011"/>
                  </a:lnTo>
                  <a:lnTo>
                    <a:pt x="60500" y="422902"/>
                  </a:lnTo>
                  <a:lnTo>
                    <a:pt x="91500" y="453891"/>
                  </a:lnTo>
                  <a:lnTo>
                    <a:pt x="127395" y="479255"/>
                  </a:lnTo>
                  <a:lnTo>
                    <a:pt x="167457" y="498269"/>
                  </a:lnTo>
                  <a:lnTo>
                    <a:pt x="210960" y="510209"/>
                  </a:lnTo>
                  <a:lnTo>
                    <a:pt x="257175" y="514350"/>
                  </a:lnTo>
                  <a:lnTo>
                    <a:pt x="303389" y="510209"/>
                  </a:lnTo>
                  <a:lnTo>
                    <a:pt x="346892" y="498269"/>
                  </a:lnTo>
                  <a:lnTo>
                    <a:pt x="386954" y="479255"/>
                  </a:lnTo>
                  <a:lnTo>
                    <a:pt x="422849" y="453891"/>
                  </a:lnTo>
                  <a:lnTo>
                    <a:pt x="453849" y="422902"/>
                  </a:lnTo>
                  <a:lnTo>
                    <a:pt x="479227" y="387011"/>
                  </a:lnTo>
                  <a:lnTo>
                    <a:pt x="498254" y="346943"/>
                  </a:lnTo>
                  <a:lnTo>
                    <a:pt x="510204" y="303423"/>
                  </a:lnTo>
                  <a:lnTo>
                    <a:pt x="514350" y="257175"/>
                  </a:lnTo>
                  <a:lnTo>
                    <a:pt x="510204" y="210960"/>
                  </a:lnTo>
                  <a:lnTo>
                    <a:pt x="498254" y="167457"/>
                  </a:lnTo>
                  <a:lnTo>
                    <a:pt x="479227" y="127395"/>
                  </a:lnTo>
                  <a:lnTo>
                    <a:pt x="453849" y="91500"/>
                  </a:lnTo>
                  <a:lnTo>
                    <a:pt x="422849" y="60500"/>
                  </a:lnTo>
                  <a:lnTo>
                    <a:pt x="386954" y="35122"/>
                  </a:lnTo>
                  <a:lnTo>
                    <a:pt x="346892" y="16095"/>
                  </a:lnTo>
                  <a:lnTo>
                    <a:pt x="303389" y="4145"/>
                  </a:lnTo>
                  <a:lnTo>
                    <a:pt x="257175" y="0"/>
                  </a:lnTo>
                  <a:close/>
                </a:path>
              </a:pathLst>
            </a:custGeom>
            <a:solidFill>
              <a:srgbClr val="808080"/>
            </a:solidFill>
          </p:spPr>
          <p:txBody>
            <a:bodyPr wrap="square" lIns="0" tIns="0" rIns="0" bIns="0" rtlCol="0"/>
            <a:lstStyle/>
            <a:p/>
          </p:txBody>
        </p:sp>
        <p:sp>
          <p:nvSpPr>
            <p:cNvPr id="16" name="object 16" descr=""/>
            <p:cNvSpPr/>
            <p:nvPr/>
          </p:nvSpPr>
          <p:spPr>
            <a:xfrm>
              <a:off x="2927350" y="3414648"/>
              <a:ext cx="514350" cy="514350"/>
            </a:xfrm>
            <a:custGeom>
              <a:avLst/>
              <a:gdLst/>
              <a:ahLst/>
              <a:cxnLst/>
              <a:rect l="l" t="t" r="r" b="b"/>
              <a:pathLst>
                <a:path w="514350" h="514350">
                  <a:moveTo>
                    <a:pt x="0" y="257175"/>
                  </a:moveTo>
                  <a:lnTo>
                    <a:pt x="4145" y="210960"/>
                  </a:lnTo>
                  <a:lnTo>
                    <a:pt x="16095" y="167457"/>
                  </a:lnTo>
                  <a:lnTo>
                    <a:pt x="35122" y="127395"/>
                  </a:lnTo>
                  <a:lnTo>
                    <a:pt x="60500" y="91500"/>
                  </a:lnTo>
                  <a:lnTo>
                    <a:pt x="91500" y="60500"/>
                  </a:lnTo>
                  <a:lnTo>
                    <a:pt x="127395" y="35122"/>
                  </a:lnTo>
                  <a:lnTo>
                    <a:pt x="167457" y="16095"/>
                  </a:lnTo>
                  <a:lnTo>
                    <a:pt x="210960" y="4145"/>
                  </a:lnTo>
                  <a:lnTo>
                    <a:pt x="257175" y="0"/>
                  </a:lnTo>
                  <a:lnTo>
                    <a:pt x="303389" y="4145"/>
                  </a:lnTo>
                  <a:lnTo>
                    <a:pt x="346892" y="16095"/>
                  </a:lnTo>
                  <a:lnTo>
                    <a:pt x="386954" y="35122"/>
                  </a:lnTo>
                  <a:lnTo>
                    <a:pt x="422849" y="60500"/>
                  </a:lnTo>
                  <a:lnTo>
                    <a:pt x="453849" y="91500"/>
                  </a:lnTo>
                  <a:lnTo>
                    <a:pt x="479227" y="127395"/>
                  </a:lnTo>
                  <a:lnTo>
                    <a:pt x="498254" y="167457"/>
                  </a:lnTo>
                  <a:lnTo>
                    <a:pt x="510204" y="210960"/>
                  </a:lnTo>
                  <a:lnTo>
                    <a:pt x="514350" y="257175"/>
                  </a:lnTo>
                  <a:lnTo>
                    <a:pt x="510204" y="303423"/>
                  </a:lnTo>
                  <a:lnTo>
                    <a:pt x="498254" y="346943"/>
                  </a:lnTo>
                  <a:lnTo>
                    <a:pt x="479227" y="387011"/>
                  </a:lnTo>
                  <a:lnTo>
                    <a:pt x="453849" y="422902"/>
                  </a:lnTo>
                  <a:lnTo>
                    <a:pt x="422849" y="453891"/>
                  </a:lnTo>
                  <a:lnTo>
                    <a:pt x="386954" y="479255"/>
                  </a:lnTo>
                  <a:lnTo>
                    <a:pt x="346892" y="498269"/>
                  </a:lnTo>
                  <a:lnTo>
                    <a:pt x="303389" y="510209"/>
                  </a:lnTo>
                  <a:lnTo>
                    <a:pt x="257175" y="514350"/>
                  </a:lnTo>
                  <a:lnTo>
                    <a:pt x="210960" y="510209"/>
                  </a:lnTo>
                  <a:lnTo>
                    <a:pt x="167457" y="498269"/>
                  </a:lnTo>
                  <a:lnTo>
                    <a:pt x="127395" y="479255"/>
                  </a:lnTo>
                  <a:lnTo>
                    <a:pt x="91500" y="453891"/>
                  </a:lnTo>
                  <a:lnTo>
                    <a:pt x="60500" y="422902"/>
                  </a:lnTo>
                  <a:lnTo>
                    <a:pt x="35122" y="387011"/>
                  </a:lnTo>
                  <a:lnTo>
                    <a:pt x="16095" y="346943"/>
                  </a:lnTo>
                  <a:lnTo>
                    <a:pt x="4145" y="303423"/>
                  </a:lnTo>
                  <a:lnTo>
                    <a:pt x="0" y="257175"/>
                  </a:lnTo>
                  <a:close/>
                </a:path>
              </a:pathLst>
            </a:custGeom>
            <a:ln w="12700">
              <a:solidFill>
                <a:srgbClr val="000000"/>
              </a:solidFill>
            </a:ln>
          </p:spPr>
          <p:txBody>
            <a:bodyPr wrap="square" lIns="0" tIns="0" rIns="0" bIns="0" rtlCol="0"/>
            <a:lstStyle/>
            <a:p/>
          </p:txBody>
        </p:sp>
      </p:grpSp>
      <p:sp>
        <p:nvSpPr>
          <p:cNvPr id="17" name="object 17" descr=""/>
          <p:cNvSpPr txBox="1"/>
          <p:nvPr/>
        </p:nvSpPr>
        <p:spPr>
          <a:xfrm>
            <a:off x="3108705" y="3530600"/>
            <a:ext cx="15303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B</a:t>
            </a:r>
            <a:endParaRPr sz="1600">
              <a:latin typeface="微软雅黑"/>
              <a:cs typeface="微软雅黑"/>
            </a:endParaRPr>
          </a:p>
        </p:txBody>
      </p:sp>
      <p:grpSp>
        <p:nvGrpSpPr>
          <p:cNvPr id="18" name="object 18" descr=""/>
          <p:cNvGrpSpPr/>
          <p:nvPr/>
        </p:nvGrpSpPr>
        <p:grpSpPr>
          <a:xfrm>
            <a:off x="2914650" y="4259198"/>
            <a:ext cx="539750" cy="539750"/>
            <a:chOff x="2914650" y="4259198"/>
            <a:chExt cx="539750" cy="539750"/>
          </a:xfrm>
        </p:grpSpPr>
        <p:sp>
          <p:nvSpPr>
            <p:cNvPr id="19" name="object 19" descr=""/>
            <p:cNvSpPr/>
            <p:nvPr/>
          </p:nvSpPr>
          <p:spPr>
            <a:xfrm>
              <a:off x="2927350" y="4271898"/>
              <a:ext cx="514350" cy="514350"/>
            </a:xfrm>
            <a:custGeom>
              <a:avLst/>
              <a:gdLst/>
              <a:ahLst/>
              <a:cxnLst/>
              <a:rect l="l" t="t" r="r" b="b"/>
              <a:pathLst>
                <a:path w="514350" h="514350">
                  <a:moveTo>
                    <a:pt x="257175" y="0"/>
                  </a:moveTo>
                  <a:lnTo>
                    <a:pt x="210960" y="4145"/>
                  </a:lnTo>
                  <a:lnTo>
                    <a:pt x="167457" y="16095"/>
                  </a:lnTo>
                  <a:lnTo>
                    <a:pt x="127395" y="35122"/>
                  </a:lnTo>
                  <a:lnTo>
                    <a:pt x="91500" y="60500"/>
                  </a:lnTo>
                  <a:lnTo>
                    <a:pt x="60500" y="91500"/>
                  </a:lnTo>
                  <a:lnTo>
                    <a:pt x="35122" y="127395"/>
                  </a:lnTo>
                  <a:lnTo>
                    <a:pt x="16095" y="167457"/>
                  </a:lnTo>
                  <a:lnTo>
                    <a:pt x="4145" y="210960"/>
                  </a:lnTo>
                  <a:lnTo>
                    <a:pt x="0" y="257175"/>
                  </a:lnTo>
                  <a:lnTo>
                    <a:pt x="4145" y="303423"/>
                  </a:lnTo>
                  <a:lnTo>
                    <a:pt x="16095" y="346943"/>
                  </a:lnTo>
                  <a:lnTo>
                    <a:pt x="35122" y="387011"/>
                  </a:lnTo>
                  <a:lnTo>
                    <a:pt x="60500" y="422902"/>
                  </a:lnTo>
                  <a:lnTo>
                    <a:pt x="91500" y="453891"/>
                  </a:lnTo>
                  <a:lnTo>
                    <a:pt x="127395" y="479255"/>
                  </a:lnTo>
                  <a:lnTo>
                    <a:pt x="167457" y="498269"/>
                  </a:lnTo>
                  <a:lnTo>
                    <a:pt x="210960" y="510209"/>
                  </a:lnTo>
                  <a:lnTo>
                    <a:pt x="257175" y="514350"/>
                  </a:lnTo>
                  <a:lnTo>
                    <a:pt x="303389" y="510209"/>
                  </a:lnTo>
                  <a:lnTo>
                    <a:pt x="346892" y="498269"/>
                  </a:lnTo>
                  <a:lnTo>
                    <a:pt x="386954" y="479255"/>
                  </a:lnTo>
                  <a:lnTo>
                    <a:pt x="422849" y="453891"/>
                  </a:lnTo>
                  <a:lnTo>
                    <a:pt x="453849" y="422902"/>
                  </a:lnTo>
                  <a:lnTo>
                    <a:pt x="479227" y="387011"/>
                  </a:lnTo>
                  <a:lnTo>
                    <a:pt x="498254" y="346943"/>
                  </a:lnTo>
                  <a:lnTo>
                    <a:pt x="510204" y="303423"/>
                  </a:lnTo>
                  <a:lnTo>
                    <a:pt x="514350" y="257175"/>
                  </a:lnTo>
                  <a:lnTo>
                    <a:pt x="510204" y="210960"/>
                  </a:lnTo>
                  <a:lnTo>
                    <a:pt x="498254" y="167457"/>
                  </a:lnTo>
                  <a:lnTo>
                    <a:pt x="479227" y="127395"/>
                  </a:lnTo>
                  <a:lnTo>
                    <a:pt x="453849" y="91500"/>
                  </a:lnTo>
                  <a:lnTo>
                    <a:pt x="422849" y="60500"/>
                  </a:lnTo>
                  <a:lnTo>
                    <a:pt x="386954" y="35122"/>
                  </a:lnTo>
                  <a:lnTo>
                    <a:pt x="346892" y="16095"/>
                  </a:lnTo>
                  <a:lnTo>
                    <a:pt x="303389" y="4145"/>
                  </a:lnTo>
                  <a:lnTo>
                    <a:pt x="257175" y="0"/>
                  </a:lnTo>
                  <a:close/>
                </a:path>
              </a:pathLst>
            </a:custGeom>
            <a:solidFill>
              <a:srgbClr val="00FF00"/>
            </a:solidFill>
          </p:spPr>
          <p:txBody>
            <a:bodyPr wrap="square" lIns="0" tIns="0" rIns="0" bIns="0" rtlCol="0"/>
            <a:lstStyle/>
            <a:p/>
          </p:txBody>
        </p:sp>
        <p:sp>
          <p:nvSpPr>
            <p:cNvPr id="20" name="object 20" descr=""/>
            <p:cNvSpPr/>
            <p:nvPr/>
          </p:nvSpPr>
          <p:spPr>
            <a:xfrm>
              <a:off x="2927350" y="4271898"/>
              <a:ext cx="514350" cy="514350"/>
            </a:xfrm>
            <a:custGeom>
              <a:avLst/>
              <a:gdLst/>
              <a:ahLst/>
              <a:cxnLst/>
              <a:rect l="l" t="t" r="r" b="b"/>
              <a:pathLst>
                <a:path w="514350" h="514350">
                  <a:moveTo>
                    <a:pt x="0" y="257175"/>
                  </a:moveTo>
                  <a:lnTo>
                    <a:pt x="4145" y="210960"/>
                  </a:lnTo>
                  <a:lnTo>
                    <a:pt x="16095" y="167457"/>
                  </a:lnTo>
                  <a:lnTo>
                    <a:pt x="35122" y="127395"/>
                  </a:lnTo>
                  <a:lnTo>
                    <a:pt x="60500" y="91500"/>
                  </a:lnTo>
                  <a:lnTo>
                    <a:pt x="91500" y="60500"/>
                  </a:lnTo>
                  <a:lnTo>
                    <a:pt x="127395" y="35122"/>
                  </a:lnTo>
                  <a:lnTo>
                    <a:pt x="167457" y="16095"/>
                  </a:lnTo>
                  <a:lnTo>
                    <a:pt x="210960" y="4145"/>
                  </a:lnTo>
                  <a:lnTo>
                    <a:pt x="257175" y="0"/>
                  </a:lnTo>
                  <a:lnTo>
                    <a:pt x="303389" y="4145"/>
                  </a:lnTo>
                  <a:lnTo>
                    <a:pt x="346892" y="16095"/>
                  </a:lnTo>
                  <a:lnTo>
                    <a:pt x="386954" y="35122"/>
                  </a:lnTo>
                  <a:lnTo>
                    <a:pt x="422849" y="60500"/>
                  </a:lnTo>
                  <a:lnTo>
                    <a:pt x="453849" y="91500"/>
                  </a:lnTo>
                  <a:lnTo>
                    <a:pt x="479227" y="127395"/>
                  </a:lnTo>
                  <a:lnTo>
                    <a:pt x="498254" y="167457"/>
                  </a:lnTo>
                  <a:lnTo>
                    <a:pt x="510204" y="210960"/>
                  </a:lnTo>
                  <a:lnTo>
                    <a:pt x="514350" y="257175"/>
                  </a:lnTo>
                  <a:lnTo>
                    <a:pt x="510204" y="303423"/>
                  </a:lnTo>
                  <a:lnTo>
                    <a:pt x="498254" y="346943"/>
                  </a:lnTo>
                  <a:lnTo>
                    <a:pt x="479227" y="387011"/>
                  </a:lnTo>
                  <a:lnTo>
                    <a:pt x="453849" y="422902"/>
                  </a:lnTo>
                  <a:lnTo>
                    <a:pt x="422849" y="453891"/>
                  </a:lnTo>
                  <a:lnTo>
                    <a:pt x="386954" y="479255"/>
                  </a:lnTo>
                  <a:lnTo>
                    <a:pt x="346892" y="498269"/>
                  </a:lnTo>
                  <a:lnTo>
                    <a:pt x="303389" y="510209"/>
                  </a:lnTo>
                  <a:lnTo>
                    <a:pt x="257175" y="514350"/>
                  </a:lnTo>
                  <a:lnTo>
                    <a:pt x="210960" y="510209"/>
                  </a:lnTo>
                  <a:lnTo>
                    <a:pt x="167457" y="498269"/>
                  </a:lnTo>
                  <a:lnTo>
                    <a:pt x="127395" y="479255"/>
                  </a:lnTo>
                  <a:lnTo>
                    <a:pt x="91500" y="453891"/>
                  </a:lnTo>
                  <a:lnTo>
                    <a:pt x="60500" y="422902"/>
                  </a:lnTo>
                  <a:lnTo>
                    <a:pt x="35122" y="387011"/>
                  </a:lnTo>
                  <a:lnTo>
                    <a:pt x="16095" y="346943"/>
                  </a:lnTo>
                  <a:lnTo>
                    <a:pt x="4145" y="303423"/>
                  </a:lnTo>
                  <a:lnTo>
                    <a:pt x="0" y="257175"/>
                  </a:lnTo>
                  <a:close/>
                </a:path>
              </a:pathLst>
            </a:custGeom>
            <a:ln w="25400">
              <a:solidFill>
                <a:srgbClr val="000000"/>
              </a:solidFill>
            </a:ln>
          </p:spPr>
          <p:txBody>
            <a:bodyPr wrap="square" lIns="0" tIns="0" rIns="0" bIns="0" rtlCol="0"/>
            <a:lstStyle/>
            <a:p/>
          </p:txBody>
        </p:sp>
      </p:grpSp>
      <p:sp>
        <p:nvSpPr>
          <p:cNvPr id="21" name="object 21" descr=""/>
          <p:cNvSpPr txBox="1"/>
          <p:nvPr/>
        </p:nvSpPr>
        <p:spPr>
          <a:xfrm>
            <a:off x="3103879" y="4387977"/>
            <a:ext cx="16129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C</a:t>
            </a:r>
            <a:endParaRPr sz="1600">
              <a:latin typeface="微软雅黑"/>
              <a:cs typeface="微软雅黑"/>
            </a:endParaRPr>
          </a:p>
        </p:txBody>
      </p:sp>
      <p:grpSp>
        <p:nvGrpSpPr>
          <p:cNvPr id="22" name="object 22" descr=""/>
          <p:cNvGrpSpPr/>
          <p:nvPr/>
        </p:nvGrpSpPr>
        <p:grpSpPr>
          <a:xfrm>
            <a:off x="2921000" y="5122798"/>
            <a:ext cx="527050" cy="527685"/>
            <a:chOff x="2921000" y="5122798"/>
            <a:chExt cx="527050" cy="527685"/>
          </a:xfrm>
        </p:grpSpPr>
        <p:sp>
          <p:nvSpPr>
            <p:cNvPr id="23" name="object 23" descr=""/>
            <p:cNvSpPr/>
            <p:nvPr/>
          </p:nvSpPr>
          <p:spPr>
            <a:xfrm>
              <a:off x="2927350" y="5129148"/>
              <a:ext cx="514350" cy="514984"/>
            </a:xfrm>
            <a:custGeom>
              <a:avLst/>
              <a:gdLst/>
              <a:ahLst/>
              <a:cxnLst/>
              <a:rect l="l" t="t" r="r" b="b"/>
              <a:pathLst>
                <a:path w="514350" h="514985">
                  <a:moveTo>
                    <a:pt x="257175" y="0"/>
                  </a:moveTo>
                  <a:lnTo>
                    <a:pt x="210960" y="4145"/>
                  </a:lnTo>
                  <a:lnTo>
                    <a:pt x="167457" y="16096"/>
                  </a:lnTo>
                  <a:lnTo>
                    <a:pt x="127395" y="35127"/>
                  </a:lnTo>
                  <a:lnTo>
                    <a:pt x="91500" y="60511"/>
                  </a:lnTo>
                  <a:lnTo>
                    <a:pt x="60500" y="91521"/>
                  </a:lnTo>
                  <a:lnTo>
                    <a:pt x="35122" y="127432"/>
                  </a:lnTo>
                  <a:lnTo>
                    <a:pt x="16095" y="167517"/>
                  </a:lnTo>
                  <a:lnTo>
                    <a:pt x="4145" y="211049"/>
                  </a:lnTo>
                  <a:lnTo>
                    <a:pt x="0" y="257301"/>
                  </a:lnTo>
                  <a:lnTo>
                    <a:pt x="4145" y="303514"/>
                  </a:lnTo>
                  <a:lnTo>
                    <a:pt x="16095" y="347011"/>
                  </a:lnTo>
                  <a:lnTo>
                    <a:pt x="35122" y="387065"/>
                  </a:lnTo>
                  <a:lnTo>
                    <a:pt x="60500" y="422950"/>
                  </a:lnTo>
                  <a:lnTo>
                    <a:pt x="91500" y="453939"/>
                  </a:lnTo>
                  <a:lnTo>
                    <a:pt x="127395" y="479307"/>
                  </a:lnTo>
                  <a:lnTo>
                    <a:pt x="167457" y="498326"/>
                  </a:lnTo>
                  <a:lnTo>
                    <a:pt x="210960" y="510270"/>
                  </a:lnTo>
                  <a:lnTo>
                    <a:pt x="257175" y="514413"/>
                  </a:lnTo>
                  <a:lnTo>
                    <a:pt x="303389" y="510270"/>
                  </a:lnTo>
                  <a:lnTo>
                    <a:pt x="346892" y="498326"/>
                  </a:lnTo>
                  <a:lnTo>
                    <a:pt x="386954" y="479307"/>
                  </a:lnTo>
                  <a:lnTo>
                    <a:pt x="422849" y="453939"/>
                  </a:lnTo>
                  <a:lnTo>
                    <a:pt x="453849" y="422950"/>
                  </a:lnTo>
                  <a:lnTo>
                    <a:pt x="479227" y="387065"/>
                  </a:lnTo>
                  <a:lnTo>
                    <a:pt x="498254" y="347011"/>
                  </a:lnTo>
                  <a:lnTo>
                    <a:pt x="510204" y="303514"/>
                  </a:lnTo>
                  <a:lnTo>
                    <a:pt x="514350" y="257301"/>
                  </a:lnTo>
                  <a:lnTo>
                    <a:pt x="510204" y="211049"/>
                  </a:lnTo>
                  <a:lnTo>
                    <a:pt x="498254" y="167517"/>
                  </a:lnTo>
                  <a:lnTo>
                    <a:pt x="479227" y="127432"/>
                  </a:lnTo>
                  <a:lnTo>
                    <a:pt x="453849" y="91521"/>
                  </a:lnTo>
                  <a:lnTo>
                    <a:pt x="422849" y="60511"/>
                  </a:lnTo>
                  <a:lnTo>
                    <a:pt x="386954" y="35127"/>
                  </a:lnTo>
                  <a:lnTo>
                    <a:pt x="346892" y="16096"/>
                  </a:lnTo>
                  <a:lnTo>
                    <a:pt x="303389" y="4145"/>
                  </a:lnTo>
                  <a:lnTo>
                    <a:pt x="257175" y="0"/>
                  </a:lnTo>
                  <a:close/>
                </a:path>
              </a:pathLst>
            </a:custGeom>
            <a:solidFill>
              <a:srgbClr val="808080"/>
            </a:solidFill>
          </p:spPr>
          <p:txBody>
            <a:bodyPr wrap="square" lIns="0" tIns="0" rIns="0" bIns="0" rtlCol="0"/>
            <a:lstStyle/>
            <a:p/>
          </p:txBody>
        </p:sp>
        <p:sp>
          <p:nvSpPr>
            <p:cNvPr id="24" name="object 24" descr=""/>
            <p:cNvSpPr/>
            <p:nvPr/>
          </p:nvSpPr>
          <p:spPr>
            <a:xfrm>
              <a:off x="2927350" y="5129148"/>
              <a:ext cx="514350" cy="514984"/>
            </a:xfrm>
            <a:custGeom>
              <a:avLst/>
              <a:gdLst/>
              <a:ahLst/>
              <a:cxnLst/>
              <a:rect l="l" t="t" r="r" b="b"/>
              <a:pathLst>
                <a:path w="514350" h="514985">
                  <a:moveTo>
                    <a:pt x="0" y="257301"/>
                  </a:moveTo>
                  <a:lnTo>
                    <a:pt x="4145" y="211049"/>
                  </a:lnTo>
                  <a:lnTo>
                    <a:pt x="16095" y="167517"/>
                  </a:lnTo>
                  <a:lnTo>
                    <a:pt x="35122" y="127432"/>
                  </a:lnTo>
                  <a:lnTo>
                    <a:pt x="60500" y="91521"/>
                  </a:lnTo>
                  <a:lnTo>
                    <a:pt x="91500" y="60511"/>
                  </a:lnTo>
                  <a:lnTo>
                    <a:pt x="127395" y="35127"/>
                  </a:lnTo>
                  <a:lnTo>
                    <a:pt x="167457" y="16096"/>
                  </a:lnTo>
                  <a:lnTo>
                    <a:pt x="210960" y="4145"/>
                  </a:lnTo>
                  <a:lnTo>
                    <a:pt x="257175" y="0"/>
                  </a:lnTo>
                  <a:lnTo>
                    <a:pt x="303389" y="4145"/>
                  </a:lnTo>
                  <a:lnTo>
                    <a:pt x="346892" y="16096"/>
                  </a:lnTo>
                  <a:lnTo>
                    <a:pt x="386954" y="35127"/>
                  </a:lnTo>
                  <a:lnTo>
                    <a:pt x="422849" y="60511"/>
                  </a:lnTo>
                  <a:lnTo>
                    <a:pt x="453849" y="91521"/>
                  </a:lnTo>
                  <a:lnTo>
                    <a:pt x="479227" y="127432"/>
                  </a:lnTo>
                  <a:lnTo>
                    <a:pt x="498254" y="167517"/>
                  </a:lnTo>
                  <a:lnTo>
                    <a:pt x="510204" y="211049"/>
                  </a:lnTo>
                  <a:lnTo>
                    <a:pt x="514350" y="257301"/>
                  </a:lnTo>
                  <a:lnTo>
                    <a:pt x="510204" y="303514"/>
                  </a:lnTo>
                  <a:lnTo>
                    <a:pt x="498254" y="347011"/>
                  </a:lnTo>
                  <a:lnTo>
                    <a:pt x="479227" y="387065"/>
                  </a:lnTo>
                  <a:lnTo>
                    <a:pt x="453849" y="422950"/>
                  </a:lnTo>
                  <a:lnTo>
                    <a:pt x="422849" y="453939"/>
                  </a:lnTo>
                  <a:lnTo>
                    <a:pt x="386954" y="479307"/>
                  </a:lnTo>
                  <a:lnTo>
                    <a:pt x="346892" y="498326"/>
                  </a:lnTo>
                  <a:lnTo>
                    <a:pt x="303389" y="510270"/>
                  </a:lnTo>
                  <a:lnTo>
                    <a:pt x="257175" y="514413"/>
                  </a:lnTo>
                  <a:lnTo>
                    <a:pt x="210960" y="510270"/>
                  </a:lnTo>
                  <a:lnTo>
                    <a:pt x="167457" y="498326"/>
                  </a:lnTo>
                  <a:lnTo>
                    <a:pt x="127395" y="479307"/>
                  </a:lnTo>
                  <a:lnTo>
                    <a:pt x="91500" y="453939"/>
                  </a:lnTo>
                  <a:lnTo>
                    <a:pt x="60500" y="422950"/>
                  </a:lnTo>
                  <a:lnTo>
                    <a:pt x="35122" y="387065"/>
                  </a:lnTo>
                  <a:lnTo>
                    <a:pt x="16095" y="347011"/>
                  </a:lnTo>
                  <a:lnTo>
                    <a:pt x="4145" y="303514"/>
                  </a:lnTo>
                  <a:lnTo>
                    <a:pt x="0" y="257301"/>
                  </a:lnTo>
                  <a:close/>
                </a:path>
              </a:pathLst>
            </a:custGeom>
            <a:ln w="12700">
              <a:solidFill>
                <a:srgbClr val="000000"/>
              </a:solidFill>
            </a:ln>
          </p:spPr>
          <p:txBody>
            <a:bodyPr wrap="square" lIns="0" tIns="0" rIns="0" bIns="0" rtlCol="0"/>
            <a:lstStyle/>
            <a:p/>
          </p:txBody>
        </p:sp>
      </p:grpSp>
      <p:sp>
        <p:nvSpPr>
          <p:cNvPr id="25" name="object 25" descr=""/>
          <p:cNvSpPr txBox="1"/>
          <p:nvPr/>
        </p:nvSpPr>
        <p:spPr>
          <a:xfrm>
            <a:off x="3094482" y="5245353"/>
            <a:ext cx="18034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D</a:t>
            </a:r>
            <a:endParaRPr sz="1600">
              <a:latin typeface="微软雅黑"/>
              <a:cs typeface="微软雅黑"/>
            </a:endParaRPr>
          </a:p>
        </p:txBody>
      </p:sp>
      <p:grpSp>
        <p:nvGrpSpPr>
          <p:cNvPr id="26" name="object 26" descr=""/>
          <p:cNvGrpSpPr/>
          <p:nvPr/>
        </p:nvGrpSpPr>
        <p:grpSpPr>
          <a:xfrm>
            <a:off x="7831201" y="5902325"/>
            <a:ext cx="1581150" cy="450850"/>
            <a:chOff x="7831201" y="5902325"/>
            <a:chExt cx="1581150" cy="450850"/>
          </a:xfrm>
        </p:grpSpPr>
        <p:sp>
          <p:nvSpPr>
            <p:cNvPr id="27" name="object 27" descr=""/>
            <p:cNvSpPr/>
            <p:nvPr/>
          </p:nvSpPr>
          <p:spPr>
            <a:xfrm>
              <a:off x="7850251" y="5921375"/>
              <a:ext cx="1543050" cy="412750"/>
            </a:xfrm>
            <a:custGeom>
              <a:avLst/>
              <a:gdLst/>
              <a:ahLst/>
              <a:cxnLst/>
              <a:rect l="l" t="t" r="r" b="b"/>
              <a:pathLst>
                <a:path w="1543050" h="412750">
                  <a:moveTo>
                    <a:pt x="1474216" y="0"/>
                  </a:moveTo>
                  <a:lnTo>
                    <a:pt x="68706" y="0"/>
                  </a:lnTo>
                  <a:lnTo>
                    <a:pt x="41951" y="5405"/>
                  </a:lnTo>
                  <a:lnTo>
                    <a:pt x="20113" y="20148"/>
                  </a:lnTo>
                  <a:lnTo>
                    <a:pt x="5395" y="42015"/>
                  </a:lnTo>
                  <a:lnTo>
                    <a:pt x="0" y="68795"/>
                  </a:lnTo>
                  <a:lnTo>
                    <a:pt x="0" y="343954"/>
                  </a:lnTo>
                  <a:lnTo>
                    <a:pt x="5395" y="370734"/>
                  </a:lnTo>
                  <a:lnTo>
                    <a:pt x="20113" y="392601"/>
                  </a:lnTo>
                  <a:lnTo>
                    <a:pt x="41951" y="407344"/>
                  </a:lnTo>
                  <a:lnTo>
                    <a:pt x="68706" y="412750"/>
                  </a:lnTo>
                  <a:lnTo>
                    <a:pt x="1474216" y="412750"/>
                  </a:lnTo>
                  <a:lnTo>
                    <a:pt x="1500991" y="407344"/>
                  </a:lnTo>
                  <a:lnTo>
                    <a:pt x="1522872" y="392601"/>
                  </a:lnTo>
                  <a:lnTo>
                    <a:pt x="1537634" y="370734"/>
                  </a:lnTo>
                  <a:lnTo>
                    <a:pt x="1543050" y="343954"/>
                  </a:lnTo>
                  <a:lnTo>
                    <a:pt x="1543050" y="68795"/>
                  </a:lnTo>
                  <a:lnTo>
                    <a:pt x="1537634" y="42015"/>
                  </a:lnTo>
                  <a:lnTo>
                    <a:pt x="1522872" y="20148"/>
                  </a:lnTo>
                  <a:lnTo>
                    <a:pt x="1500991" y="5405"/>
                  </a:lnTo>
                  <a:lnTo>
                    <a:pt x="1474216" y="0"/>
                  </a:lnTo>
                  <a:close/>
                </a:path>
              </a:pathLst>
            </a:custGeom>
            <a:solidFill>
              <a:srgbClr val="808080"/>
            </a:solidFill>
          </p:spPr>
          <p:txBody>
            <a:bodyPr wrap="square" lIns="0" tIns="0" rIns="0" bIns="0" rtlCol="0"/>
            <a:lstStyle/>
            <a:p/>
          </p:txBody>
        </p:sp>
        <p:sp>
          <p:nvSpPr>
            <p:cNvPr id="28" name="object 28" descr=""/>
            <p:cNvSpPr/>
            <p:nvPr/>
          </p:nvSpPr>
          <p:spPr>
            <a:xfrm>
              <a:off x="7850251" y="5921375"/>
              <a:ext cx="1543050" cy="412750"/>
            </a:xfrm>
            <a:custGeom>
              <a:avLst/>
              <a:gdLst/>
              <a:ahLst/>
              <a:cxnLst/>
              <a:rect l="l" t="t" r="r" b="b"/>
              <a:pathLst>
                <a:path w="1543050" h="412750">
                  <a:moveTo>
                    <a:pt x="0" y="68795"/>
                  </a:moveTo>
                  <a:lnTo>
                    <a:pt x="5395" y="42015"/>
                  </a:lnTo>
                  <a:lnTo>
                    <a:pt x="20113" y="20148"/>
                  </a:lnTo>
                  <a:lnTo>
                    <a:pt x="41951" y="5405"/>
                  </a:lnTo>
                  <a:lnTo>
                    <a:pt x="68706" y="0"/>
                  </a:lnTo>
                  <a:lnTo>
                    <a:pt x="1474216" y="0"/>
                  </a:lnTo>
                  <a:lnTo>
                    <a:pt x="1500991" y="5405"/>
                  </a:lnTo>
                  <a:lnTo>
                    <a:pt x="1522872" y="20148"/>
                  </a:lnTo>
                  <a:lnTo>
                    <a:pt x="1537634" y="42015"/>
                  </a:lnTo>
                  <a:lnTo>
                    <a:pt x="1543050" y="68795"/>
                  </a:lnTo>
                  <a:lnTo>
                    <a:pt x="1543050" y="343954"/>
                  </a:lnTo>
                  <a:lnTo>
                    <a:pt x="1537634" y="370734"/>
                  </a:lnTo>
                  <a:lnTo>
                    <a:pt x="1522872" y="392601"/>
                  </a:lnTo>
                  <a:lnTo>
                    <a:pt x="1500991" y="407344"/>
                  </a:lnTo>
                  <a:lnTo>
                    <a:pt x="1474216" y="412750"/>
                  </a:lnTo>
                  <a:lnTo>
                    <a:pt x="68706" y="412750"/>
                  </a:lnTo>
                  <a:lnTo>
                    <a:pt x="41951" y="407344"/>
                  </a:lnTo>
                  <a:lnTo>
                    <a:pt x="20113" y="392601"/>
                  </a:lnTo>
                  <a:lnTo>
                    <a:pt x="5395" y="370734"/>
                  </a:lnTo>
                  <a:lnTo>
                    <a:pt x="0" y="343954"/>
                  </a:lnTo>
                  <a:lnTo>
                    <a:pt x="0" y="68795"/>
                  </a:lnTo>
                  <a:close/>
                </a:path>
              </a:pathLst>
            </a:custGeom>
            <a:ln w="38100">
              <a:solidFill>
                <a:srgbClr val="000000"/>
              </a:solidFill>
            </a:ln>
          </p:spPr>
          <p:txBody>
            <a:bodyPr wrap="square" lIns="0" tIns="0" rIns="0" bIns="0" rtlCol="0"/>
            <a:lstStyle/>
            <a:p/>
          </p:txBody>
        </p:sp>
      </p:grpSp>
      <p:sp>
        <p:nvSpPr>
          <p:cNvPr id="29" name="object 29" descr=""/>
          <p:cNvSpPr txBox="1"/>
          <p:nvPr/>
        </p:nvSpPr>
        <p:spPr>
          <a:xfrm>
            <a:off x="8406765" y="5986983"/>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提交</a:t>
            </a:r>
            <a:endParaRPr sz="1600">
              <a:latin typeface="微软雅黑"/>
              <a:cs typeface="微软雅黑"/>
            </a:endParaRPr>
          </a:p>
        </p:txBody>
      </p:sp>
      <p:sp>
        <p:nvSpPr>
          <p:cNvPr id="30" name="object 30"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sp>
        <p:nvSpPr>
          <p:cNvPr id="31" name="object 31"/>
          <p:cNvSpPr txBox="1">
            <a:spLocks noGrp="1"/>
          </p:cNvSpPr>
          <p:nvPr>
            <p:ph type="title"/>
          </p:nvPr>
        </p:nvSpPr>
        <p:spPr>
          <a:xfrm>
            <a:off x="190500" y="0"/>
            <a:ext cx="8953500" cy="635000"/>
          </a:xfrm>
          <a:prstGeom prst="rect"/>
          <a:solidFill>
            <a:srgbClr val="F6F7F8"/>
          </a:solidFill>
        </p:spPr>
        <p:txBody>
          <a:bodyPr wrap="square" lIns="0" tIns="106045" rIns="0" bIns="0" rtlCol="0" vert="horz">
            <a:spAutoFit/>
          </a:bodyPr>
          <a:lstStyle/>
          <a:p>
            <a:pPr marL="154940">
              <a:lnSpc>
                <a:spcPct val="100000"/>
              </a:lnSpc>
              <a:spcBef>
                <a:spcPts val="835"/>
              </a:spcBef>
              <a:tabLst>
                <a:tab pos="1426845" algn="l"/>
              </a:tabLst>
            </a:pPr>
            <a:r>
              <a:rPr dirty="0" sz="2600">
                <a:solidFill>
                  <a:srgbClr val="000000"/>
                </a:solidFill>
                <a:latin typeface="微软雅黑"/>
                <a:cs typeface="微软雅黑"/>
              </a:rPr>
              <a:t>单选</a:t>
            </a:r>
            <a:r>
              <a:rPr dirty="0" sz="2600" spc="-50">
                <a:solidFill>
                  <a:srgbClr val="000000"/>
                </a:solidFill>
                <a:latin typeface="微软雅黑"/>
                <a:cs typeface="微软雅黑"/>
              </a:rPr>
              <a:t>题</a:t>
            </a:r>
            <a:r>
              <a:rPr dirty="0" sz="2600">
                <a:solidFill>
                  <a:srgbClr val="000000"/>
                </a:solidFill>
                <a:latin typeface="微软雅黑"/>
                <a:cs typeface="微软雅黑"/>
              </a:rPr>
              <a:t>	</a:t>
            </a:r>
            <a:r>
              <a:rPr dirty="0" baseline="-4166" sz="3000">
                <a:solidFill>
                  <a:srgbClr val="808080"/>
                </a:solidFill>
                <a:latin typeface="微软雅黑"/>
                <a:cs typeface="微软雅黑"/>
              </a:rPr>
              <a:t>1</a:t>
            </a:r>
            <a:r>
              <a:rPr dirty="0" baseline="-4166" sz="3000" spc="-75">
                <a:solidFill>
                  <a:srgbClr val="808080"/>
                </a:solidFill>
                <a:latin typeface="微软雅黑"/>
                <a:cs typeface="微软雅黑"/>
              </a:rPr>
              <a:t>分</a:t>
            </a:r>
            <a:endParaRPr baseline="-4166" sz="3000">
              <a:latin typeface="微软雅黑"/>
              <a:cs typeface="微软雅黑"/>
            </a:endParaRPr>
          </a:p>
        </p:txBody>
      </p:sp>
      <p:pic>
        <p:nvPicPr>
          <p:cNvPr id="32" name="object 32"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494789" y="140970"/>
            <a:ext cx="3684904"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833729" y="2981985"/>
            <a:ext cx="735965" cy="1333500"/>
          </a:xfrm>
          <a:prstGeom prst="rect">
            <a:avLst/>
          </a:prstGeom>
        </p:spPr>
        <p:txBody>
          <a:bodyPr wrap="square" lIns="0" tIns="12700" rIns="0" bIns="0" rtlCol="0" vert="horz">
            <a:spAutoFit/>
          </a:bodyPr>
          <a:lstStyle/>
          <a:p>
            <a:pPr algn="just" marL="12700" marR="5080">
              <a:lnSpc>
                <a:spcPct val="130000"/>
              </a:lnSpc>
              <a:spcBef>
                <a:spcPts val="100"/>
              </a:spcBef>
            </a:pPr>
            <a:r>
              <a:rPr dirty="0" sz="2200" spc="-10" b="1">
                <a:solidFill>
                  <a:srgbClr val="9966FF"/>
                </a:solidFill>
                <a:latin typeface="宋体"/>
                <a:cs typeface="宋体"/>
              </a:rPr>
              <a:t>DIV.D ADD.D SUB.D</a:t>
            </a:r>
            <a:endParaRPr sz="2200">
              <a:latin typeface="宋体"/>
              <a:cs typeface="宋体"/>
            </a:endParaRPr>
          </a:p>
        </p:txBody>
      </p:sp>
      <p:sp>
        <p:nvSpPr>
          <p:cNvPr id="11" name="object 11" descr=""/>
          <p:cNvSpPr txBox="1"/>
          <p:nvPr/>
        </p:nvSpPr>
        <p:spPr>
          <a:xfrm>
            <a:off x="2076069" y="2981985"/>
            <a:ext cx="1721485" cy="1333500"/>
          </a:xfrm>
          <a:prstGeom prst="rect">
            <a:avLst/>
          </a:prstGeom>
        </p:spPr>
        <p:txBody>
          <a:bodyPr wrap="square" lIns="0" tIns="12700" rIns="0" bIns="0" rtlCol="0" vert="horz">
            <a:spAutoFit/>
          </a:bodyPr>
          <a:lstStyle/>
          <a:p>
            <a:pPr marL="12700" marR="5080">
              <a:lnSpc>
                <a:spcPct val="130000"/>
              </a:lnSpc>
              <a:spcBef>
                <a:spcPts val="100"/>
              </a:spcBef>
            </a:pPr>
            <a:r>
              <a:rPr dirty="0" sz="2200" spc="-10" b="1">
                <a:solidFill>
                  <a:srgbClr val="D50092"/>
                </a:solidFill>
                <a:latin typeface="宋体"/>
                <a:cs typeface="宋体"/>
              </a:rPr>
              <a:t>F4</a:t>
            </a:r>
            <a:r>
              <a:rPr dirty="0" sz="2200" spc="-10" b="1">
                <a:solidFill>
                  <a:srgbClr val="9966FF"/>
                </a:solidFill>
                <a:latin typeface="宋体"/>
                <a:cs typeface="宋体"/>
              </a:rPr>
              <a:t>，F0，F2 F10，</a:t>
            </a:r>
            <a:r>
              <a:rPr dirty="0" sz="2200" spc="-10" b="1">
                <a:solidFill>
                  <a:srgbClr val="D50092"/>
                </a:solidFill>
                <a:latin typeface="宋体"/>
                <a:cs typeface="宋体"/>
              </a:rPr>
              <a:t>F4</a:t>
            </a:r>
            <a:r>
              <a:rPr dirty="0" sz="2200" spc="-10" b="1">
                <a:solidFill>
                  <a:srgbClr val="9966FF"/>
                </a:solidFill>
                <a:latin typeface="宋体"/>
                <a:cs typeface="宋体"/>
              </a:rPr>
              <a:t>，F6 F12，F6，F14</a:t>
            </a:r>
            <a:endParaRPr sz="2200">
              <a:latin typeface="宋体"/>
              <a:cs typeface="宋体"/>
            </a:endParaRPr>
          </a:p>
        </p:txBody>
      </p:sp>
      <p:sp>
        <p:nvSpPr>
          <p:cNvPr id="12" name="object 12" descr=""/>
          <p:cNvSpPr txBox="1"/>
          <p:nvPr/>
        </p:nvSpPr>
        <p:spPr>
          <a:xfrm>
            <a:off x="246989" y="1023620"/>
            <a:ext cx="7158355" cy="1979930"/>
          </a:xfrm>
          <a:prstGeom prst="rect">
            <a:avLst/>
          </a:prstGeom>
        </p:spPr>
        <p:txBody>
          <a:bodyPr wrap="square" lIns="0" tIns="13335" rIns="0" bIns="0" rtlCol="0" vert="horz">
            <a:spAutoFit/>
          </a:bodyPr>
          <a:lstStyle/>
          <a:p>
            <a:pPr marL="204470">
              <a:lnSpc>
                <a:spcPct val="100000"/>
              </a:lnSpc>
              <a:spcBef>
                <a:spcPts val="105"/>
              </a:spcBef>
            </a:pPr>
            <a:r>
              <a:rPr dirty="0" sz="2600">
                <a:solidFill>
                  <a:srgbClr val="0000CC"/>
                </a:solidFill>
                <a:latin typeface="黑体"/>
                <a:cs typeface="黑体"/>
              </a:rPr>
              <a:t>5.3.1</a:t>
            </a:r>
            <a:r>
              <a:rPr dirty="0" sz="2600" spc="-20">
                <a:solidFill>
                  <a:srgbClr val="0000CC"/>
                </a:solidFill>
                <a:latin typeface="黑体"/>
                <a:cs typeface="黑体"/>
              </a:rPr>
              <a:t> 动态调度的基本思想</a:t>
            </a:r>
            <a:endParaRPr sz="2600">
              <a:latin typeface="黑体"/>
              <a:cs typeface="黑体"/>
            </a:endParaRPr>
          </a:p>
          <a:p>
            <a:pPr marL="469265" indent="-456565">
              <a:lnSpc>
                <a:spcPct val="100000"/>
              </a:lnSpc>
              <a:spcBef>
                <a:spcPts val="1889"/>
              </a:spcBef>
              <a:buClr>
                <a:srgbClr val="40458B"/>
              </a:buClr>
              <a:buFont typeface="Wingdings"/>
              <a:buChar char=""/>
              <a:tabLst>
                <a:tab pos="469265" algn="l"/>
              </a:tabLst>
            </a:pPr>
            <a:r>
              <a:rPr dirty="0" sz="2400" spc="-25">
                <a:solidFill>
                  <a:srgbClr val="001F5F"/>
                </a:solidFill>
                <a:latin typeface="Tahoma"/>
                <a:cs typeface="Tahoma"/>
              </a:rPr>
              <a:t>1</a:t>
            </a:r>
            <a:r>
              <a:rPr dirty="0" sz="2400" spc="-5">
                <a:solidFill>
                  <a:srgbClr val="001F5F"/>
                </a:solidFill>
                <a:latin typeface="黑体"/>
                <a:cs typeface="黑体"/>
              </a:rPr>
              <a:t>、到目前为止我们所使用流水线的最大的</a:t>
            </a:r>
            <a:r>
              <a:rPr dirty="0" sz="2400" spc="-10">
                <a:solidFill>
                  <a:srgbClr val="008000"/>
                </a:solidFill>
                <a:latin typeface="黑体"/>
                <a:cs typeface="黑体"/>
              </a:rPr>
              <a:t>局限性</a:t>
            </a:r>
            <a:r>
              <a:rPr dirty="0" sz="2400" spc="-50">
                <a:solidFill>
                  <a:srgbClr val="008000"/>
                </a:solidFill>
                <a:latin typeface="Tahoma"/>
                <a:cs typeface="Tahoma"/>
              </a:rPr>
              <a:t>:</a:t>
            </a:r>
            <a:endParaRPr sz="2400">
              <a:latin typeface="Tahoma"/>
              <a:cs typeface="Tahoma"/>
            </a:endParaRPr>
          </a:p>
          <a:p>
            <a:pPr lvl="1" marL="641985" marR="2087880" indent="457200">
              <a:lnSpc>
                <a:spcPct val="130000"/>
              </a:lnSpc>
              <a:buSzPct val="85416"/>
              <a:buFont typeface="Wingdings"/>
              <a:buChar char=""/>
              <a:tabLst>
                <a:tab pos="1099185" algn="l"/>
              </a:tabLst>
            </a:pPr>
            <a:r>
              <a:rPr dirty="0" sz="2400">
                <a:solidFill>
                  <a:srgbClr val="40458B"/>
                </a:solidFill>
                <a:latin typeface="黑体"/>
                <a:cs typeface="黑体"/>
              </a:rPr>
              <a:t>指令是</a:t>
            </a:r>
            <a:r>
              <a:rPr dirty="0" sz="2400">
                <a:solidFill>
                  <a:srgbClr val="D50092"/>
                </a:solidFill>
                <a:latin typeface="黑体"/>
                <a:cs typeface="黑体"/>
              </a:rPr>
              <a:t>按序流出</a:t>
            </a:r>
            <a:r>
              <a:rPr dirty="0" sz="2400">
                <a:solidFill>
                  <a:srgbClr val="40458B"/>
                </a:solidFill>
                <a:latin typeface="黑体"/>
                <a:cs typeface="黑体"/>
              </a:rPr>
              <a:t>和</a:t>
            </a:r>
            <a:r>
              <a:rPr dirty="0" sz="2400" spc="-10">
                <a:solidFill>
                  <a:srgbClr val="D50092"/>
                </a:solidFill>
                <a:latin typeface="黑体"/>
                <a:cs typeface="黑体"/>
              </a:rPr>
              <a:t>按序执行的</a:t>
            </a:r>
            <a:r>
              <a:rPr dirty="0" sz="2400" spc="-10">
                <a:solidFill>
                  <a:srgbClr val="40458B"/>
                </a:solidFill>
                <a:latin typeface="黑体"/>
                <a:cs typeface="黑体"/>
              </a:rPr>
              <a:t>考虑下面一段代码：</a:t>
            </a:r>
            <a:endParaRPr sz="2400">
              <a:latin typeface="黑体"/>
              <a:cs typeface="黑体"/>
            </a:endParaRPr>
          </a:p>
        </p:txBody>
      </p:sp>
      <p:sp>
        <p:nvSpPr>
          <p:cNvPr id="13" name="object 13" descr=""/>
          <p:cNvSpPr txBox="1"/>
          <p:nvPr/>
        </p:nvSpPr>
        <p:spPr>
          <a:xfrm>
            <a:off x="4295775" y="3771900"/>
            <a:ext cx="7416800" cy="2232025"/>
          </a:xfrm>
          <a:prstGeom prst="rect">
            <a:avLst/>
          </a:prstGeom>
          <a:ln w="9525">
            <a:solidFill>
              <a:srgbClr val="40458B"/>
            </a:solidFill>
          </a:ln>
        </p:spPr>
        <p:txBody>
          <a:bodyPr wrap="square" lIns="0" tIns="44450" rIns="0" bIns="0" rtlCol="0" vert="horz">
            <a:spAutoFit/>
          </a:bodyPr>
          <a:lstStyle/>
          <a:p>
            <a:pPr algn="just" marL="484505" indent="-392430">
              <a:lnSpc>
                <a:spcPct val="100000"/>
              </a:lnSpc>
              <a:spcBef>
                <a:spcPts val="350"/>
              </a:spcBef>
              <a:buClr>
                <a:srgbClr val="40458B"/>
              </a:buClr>
              <a:buSzPct val="88636"/>
              <a:buFont typeface="Wingdings"/>
              <a:buChar char=""/>
              <a:tabLst>
                <a:tab pos="484505" algn="l"/>
              </a:tabLst>
            </a:pPr>
            <a:r>
              <a:rPr dirty="0" sz="2200" spc="-10" b="1">
                <a:solidFill>
                  <a:srgbClr val="D50092"/>
                </a:solidFill>
                <a:latin typeface="宋体"/>
                <a:cs typeface="宋体"/>
              </a:rPr>
              <a:t>ADD.D</a:t>
            </a:r>
            <a:r>
              <a:rPr dirty="0" sz="2200" spc="-20" b="1">
                <a:latin typeface="宋体"/>
                <a:cs typeface="宋体"/>
              </a:rPr>
              <a:t>指令与</a:t>
            </a:r>
            <a:r>
              <a:rPr dirty="0" sz="2200" spc="-10" b="1">
                <a:solidFill>
                  <a:srgbClr val="D50092"/>
                </a:solidFill>
                <a:latin typeface="宋体"/>
                <a:cs typeface="宋体"/>
              </a:rPr>
              <a:t>DIV.D</a:t>
            </a:r>
            <a:r>
              <a:rPr dirty="0" sz="2200" spc="-20" b="1">
                <a:latin typeface="宋体"/>
                <a:cs typeface="宋体"/>
              </a:rPr>
              <a:t>指令关于</a:t>
            </a:r>
            <a:r>
              <a:rPr dirty="0" sz="2200" spc="-10" b="1">
                <a:solidFill>
                  <a:srgbClr val="D50092"/>
                </a:solidFill>
                <a:latin typeface="宋体"/>
                <a:cs typeface="宋体"/>
              </a:rPr>
              <a:t>F4</a:t>
            </a:r>
            <a:r>
              <a:rPr dirty="0" sz="2200" spc="-25" b="1">
                <a:latin typeface="宋体"/>
                <a:cs typeface="宋体"/>
              </a:rPr>
              <a:t>相关，导致流水线停顿。</a:t>
            </a:r>
            <a:endParaRPr sz="2200">
              <a:latin typeface="宋体"/>
              <a:cs typeface="宋体"/>
            </a:endParaRPr>
          </a:p>
          <a:p>
            <a:pPr algn="just" marL="163195" marR="186055" indent="-78105">
              <a:lnSpc>
                <a:spcPct val="110000"/>
              </a:lnSpc>
              <a:spcBef>
                <a:spcPts val="530"/>
              </a:spcBef>
              <a:buClr>
                <a:srgbClr val="40458B"/>
              </a:buClr>
              <a:buSzPct val="88636"/>
              <a:buFont typeface="Wingdings"/>
              <a:buChar char=""/>
              <a:tabLst>
                <a:tab pos="163195" algn="l"/>
                <a:tab pos="342265" algn="l"/>
              </a:tabLst>
            </a:pPr>
            <a:r>
              <a:rPr dirty="0" sz="2200" spc="-10" b="1">
                <a:solidFill>
                  <a:srgbClr val="D50092"/>
                </a:solidFill>
                <a:latin typeface="宋体"/>
                <a:cs typeface="宋体"/>
              </a:rPr>
              <a:t>	</a:t>
            </a:r>
            <a:r>
              <a:rPr dirty="0" sz="2200" spc="-10" b="1">
                <a:solidFill>
                  <a:srgbClr val="D50092"/>
                </a:solidFill>
                <a:latin typeface="宋体"/>
                <a:cs typeface="宋体"/>
              </a:rPr>
              <a:t>SUB.D</a:t>
            </a:r>
            <a:r>
              <a:rPr dirty="0" sz="2200" spc="-25" b="1">
                <a:latin typeface="宋体"/>
                <a:cs typeface="宋体"/>
              </a:rPr>
              <a:t>指令与流水线中的任何指令都没有关系，</a:t>
            </a:r>
            <a:r>
              <a:rPr dirty="0" sz="2200" spc="-30" b="1">
                <a:solidFill>
                  <a:srgbClr val="D50092"/>
                </a:solidFill>
                <a:latin typeface="宋体"/>
                <a:cs typeface="宋体"/>
              </a:rPr>
              <a:t>但也因此</a:t>
            </a:r>
            <a:r>
              <a:rPr dirty="0" sz="2200" spc="-25" b="1">
                <a:solidFill>
                  <a:srgbClr val="D50092"/>
                </a:solidFill>
                <a:latin typeface="宋体"/>
                <a:cs typeface="宋体"/>
              </a:rPr>
              <a:t>受阻，因为前两条指令产生冲突，流水线停顿了，但只要</a:t>
            </a:r>
            <a:r>
              <a:rPr dirty="0" sz="2200" spc="-50" b="1">
                <a:solidFill>
                  <a:srgbClr val="D50092"/>
                </a:solidFill>
                <a:latin typeface="宋体"/>
                <a:cs typeface="宋体"/>
              </a:rPr>
              <a:t> </a:t>
            </a:r>
            <a:r>
              <a:rPr dirty="0" sz="2200" spc="-10" b="1">
                <a:solidFill>
                  <a:srgbClr val="D50092"/>
                </a:solidFill>
                <a:latin typeface="宋体"/>
                <a:cs typeface="宋体"/>
              </a:rPr>
              <a:t>F6</a:t>
            </a:r>
            <a:r>
              <a:rPr dirty="0" sz="2200" spc="-20" b="1">
                <a:solidFill>
                  <a:srgbClr val="D50092"/>
                </a:solidFill>
                <a:latin typeface="宋体"/>
                <a:cs typeface="宋体"/>
              </a:rPr>
              <a:t>就绪了，</a:t>
            </a:r>
            <a:r>
              <a:rPr dirty="0" sz="2200" spc="-10" b="1">
                <a:solidFill>
                  <a:srgbClr val="D50092"/>
                </a:solidFill>
                <a:latin typeface="宋体"/>
                <a:cs typeface="宋体"/>
              </a:rPr>
              <a:t>SUB</a:t>
            </a:r>
            <a:r>
              <a:rPr dirty="0" sz="2200" spc="-20" b="1">
                <a:solidFill>
                  <a:srgbClr val="D50092"/>
                </a:solidFill>
                <a:latin typeface="宋体"/>
                <a:cs typeface="宋体"/>
              </a:rPr>
              <a:t>就可以执行了---</a:t>
            </a:r>
            <a:r>
              <a:rPr dirty="0" sz="2200" spc="-20" b="1">
                <a:solidFill>
                  <a:srgbClr val="FF0000"/>
                </a:solidFill>
                <a:latin typeface="宋体"/>
                <a:cs typeface="宋体"/>
              </a:rPr>
              <a:t>乱序执行（</a:t>
            </a:r>
            <a:r>
              <a:rPr dirty="0" sz="2200" spc="-25" b="1">
                <a:solidFill>
                  <a:srgbClr val="FF0000"/>
                </a:solidFill>
                <a:latin typeface="宋体"/>
                <a:cs typeface="宋体"/>
              </a:rPr>
              <a:t>但也可能要引</a:t>
            </a:r>
            <a:r>
              <a:rPr dirty="0" sz="2200" spc="-20" b="1">
                <a:solidFill>
                  <a:srgbClr val="FF0000"/>
                </a:solidFill>
                <a:latin typeface="宋体"/>
                <a:cs typeface="宋体"/>
              </a:rPr>
              <a:t>起</a:t>
            </a:r>
            <a:r>
              <a:rPr dirty="0" sz="2200" spc="-10" b="1">
                <a:solidFill>
                  <a:srgbClr val="FF0000"/>
                </a:solidFill>
                <a:latin typeface="宋体"/>
                <a:cs typeface="宋体"/>
              </a:rPr>
              <a:t>WAR</a:t>
            </a:r>
            <a:r>
              <a:rPr dirty="0" sz="2200" spc="-20" b="1">
                <a:solidFill>
                  <a:srgbClr val="FF0000"/>
                </a:solidFill>
                <a:latin typeface="宋体"/>
                <a:cs typeface="宋体"/>
              </a:rPr>
              <a:t>和</a:t>
            </a:r>
            <a:r>
              <a:rPr dirty="0" sz="2200" spc="-10" b="1">
                <a:solidFill>
                  <a:srgbClr val="FF0000"/>
                </a:solidFill>
                <a:latin typeface="宋体"/>
                <a:cs typeface="宋体"/>
              </a:rPr>
              <a:t>WAW</a:t>
            </a:r>
            <a:r>
              <a:rPr dirty="0" sz="2200" spc="-20" b="1">
                <a:solidFill>
                  <a:srgbClr val="FF0000"/>
                </a:solidFill>
                <a:latin typeface="宋体"/>
                <a:cs typeface="宋体"/>
              </a:rPr>
              <a:t>冲突）</a:t>
            </a:r>
            <a:r>
              <a:rPr dirty="0" sz="2200" spc="-50" b="1">
                <a:latin typeface="宋体"/>
                <a:cs typeface="宋体"/>
              </a:rPr>
              <a:t>。</a:t>
            </a:r>
            <a:endParaRPr sz="2200">
              <a:latin typeface="宋体"/>
              <a:cs typeface="宋体"/>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629818" y="1021206"/>
            <a:ext cx="11303635" cy="1049655"/>
          </a:xfrm>
          <a:prstGeom prst="rect">
            <a:avLst/>
          </a:prstGeom>
        </p:spPr>
        <p:txBody>
          <a:bodyPr wrap="square" lIns="0" tIns="158750" rIns="0" bIns="0" rtlCol="0" vert="horz">
            <a:spAutoFit/>
          </a:bodyPr>
          <a:lstStyle/>
          <a:p>
            <a:pPr marL="12700">
              <a:lnSpc>
                <a:spcPct val="100000"/>
              </a:lnSpc>
              <a:spcBef>
                <a:spcPts val="1250"/>
              </a:spcBef>
            </a:pPr>
            <a:r>
              <a:rPr dirty="0" sz="2400">
                <a:solidFill>
                  <a:srgbClr val="FF0000"/>
                </a:solidFill>
                <a:latin typeface="黑体"/>
                <a:cs typeface="黑体"/>
              </a:rPr>
              <a:t>在前面的基本流水线中</a:t>
            </a:r>
            <a:r>
              <a:rPr dirty="0" sz="2400">
                <a:solidFill>
                  <a:srgbClr val="001F5F"/>
                </a:solidFill>
                <a:latin typeface="黑体"/>
                <a:cs typeface="黑体"/>
              </a:rPr>
              <a:t>，指令能够流出的</a:t>
            </a:r>
            <a:r>
              <a:rPr dirty="0" sz="2400">
                <a:solidFill>
                  <a:srgbClr val="FF0000"/>
                </a:solidFill>
                <a:latin typeface="黑体"/>
                <a:cs typeface="黑体"/>
              </a:rPr>
              <a:t>前提</a:t>
            </a:r>
            <a:r>
              <a:rPr dirty="0" sz="2400" spc="-5">
                <a:solidFill>
                  <a:srgbClr val="001F5F"/>
                </a:solidFill>
                <a:latin typeface="黑体"/>
                <a:cs typeface="黑体"/>
              </a:rPr>
              <a:t>是：即没有结构冲突，也没有数据冲突</a:t>
            </a:r>
            <a:endParaRPr sz="2400">
              <a:latin typeface="黑体"/>
              <a:cs typeface="黑体"/>
            </a:endParaRPr>
          </a:p>
          <a:p>
            <a:pPr marL="3441700">
              <a:lnSpc>
                <a:spcPct val="100000"/>
              </a:lnSpc>
              <a:spcBef>
                <a:spcPts val="1155"/>
              </a:spcBef>
            </a:pPr>
            <a:r>
              <a:rPr dirty="0" sz="2400">
                <a:solidFill>
                  <a:srgbClr val="001F5F"/>
                </a:solidFill>
                <a:latin typeface="黑体"/>
                <a:cs typeface="黑体"/>
              </a:rPr>
              <a:t>在</a:t>
            </a:r>
            <a:r>
              <a:rPr dirty="0" sz="2400" spc="-20">
                <a:solidFill>
                  <a:srgbClr val="001F5F"/>
                </a:solidFill>
                <a:latin typeface="Tahoma"/>
                <a:cs typeface="Tahoma"/>
              </a:rPr>
              <a:t>ID</a:t>
            </a:r>
            <a:r>
              <a:rPr dirty="0" sz="2400" spc="-10">
                <a:solidFill>
                  <a:srgbClr val="001F5F"/>
                </a:solidFill>
                <a:latin typeface="黑体"/>
                <a:cs typeface="黑体"/>
              </a:rPr>
              <a:t>段检测两类冲突</a:t>
            </a:r>
            <a:endParaRPr sz="2400">
              <a:latin typeface="黑体"/>
              <a:cs typeface="黑体"/>
            </a:endParaRPr>
          </a:p>
        </p:txBody>
      </p:sp>
      <p:sp>
        <p:nvSpPr>
          <p:cNvPr id="11" name="object 11" descr=""/>
          <p:cNvSpPr txBox="1"/>
          <p:nvPr/>
        </p:nvSpPr>
        <p:spPr>
          <a:xfrm>
            <a:off x="5715000" y="2128901"/>
            <a:ext cx="990600" cy="1447800"/>
          </a:xfrm>
          <a:prstGeom prst="rect">
            <a:avLst/>
          </a:prstGeom>
          <a:solidFill>
            <a:srgbClr val="FFACFF"/>
          </a:solidFill>
          <a:ln w="9525">
            <a:solidFill>
              <a:srgbClr val="40458B"/>
            </a:solidFill>
          </a:ln>
        </p:spPr>
        <p:txBody>
          <a:bodyPr wrap="square" lIns="0" tIns="177800" rIns="0" bIns="0" rtlCol="0" vert="horz">
            <a:spAutoFit/>
          </a:bodyPr>
          <a:lstStyle/>
          <a:p>
            <a:pPr>
              <a:lnSpc>
                <a:spcPct val="100000"/>
              </a:lnSpc>
              <a:spcBef>
                <a:spcPts val="1400"/>
              </a:spcBef>
            </a:pPr>
            <a:endParaRPr sz="2600">
              <a:latin typeface="Times New Roman"/>
              <a:cs typeface="Times New Roman"/>
            </a:endParaRPr>
          </a:p>
          <a:p>
            <a:pPr marL="320675">
              <a:lnSpc>
                <a:spcPct val="100000"/>
              </a:lnSpc>
            </a:pPr>
            <a:r>
              <a:rPr dirty="0" sz="2600" spc="-25">
                <a:latin typeface="黑体"/>
                <a:cs typeface="黑体"/>
              </a:rPr>
              <a:t>ID</a:t>
            </a:r>
            <a:endParaRPr sz="2600">
              <a:latin typeface="黑体"/>
              <a:cs typeface="黑体"/>
            </a:endParaRPr>
          </a:p>
        </p:txBody>
      </p:sp>
      <p:sp>
        <p:nvSpPr>
          <p:cNvPr id="12" name="object 12" descr=""/>
          <p:cNvSpPr/>
          <p:nvPr/>
        </p:nvSpPr>
        <p:spPr>
          <a:xfrm>
            <a:off x="4648200" y="2852801"/>
            <a:ext cx="1066800" cy="76200"/>
          </a:xfrm>
          <a:custGeom>
            <a:avLst/>
            <a:gdLst/>
            <a:ahLst/>
            <a:cxnLst/>
            <a:rect l="l" t="t" r="r" b="b"/>
            <a:pathLst>
              <a:path w="1066800" h="76200">
                <a:moveTo>
                  <a:pt x="990600" y="0"/>
                </a:moveTo>
                <a:lnTo>
                  <a:pt x="990600" y="76200"/>
                </a:lnTo>
                <a:lnTo>
                  <a:pt x="1047750" y="47625"/>
                </a:lnTo>
                <a:lnTo>
                  <a:pt x="1003300" y="47625"/>
                </a:lnTo>
                <a:lnTo>
                  <a:pt x="1003300" y="28575"/>
                </a:lnTo>
                <a:lnTo>
                  <a:pt x="1047750" y="28575"/>
                </a:lnTo>
                <a:lnTo>
                  <a:pt x="990600" y="0"/>
                </a:lnTo>
                <a:close/>
              </a:path>
              <a:path w="1066800" h="76200">
                <a:moveTo>
                  <a:pt x="990600" y="28575"/>
                </a:moveTo>
                <a:lnTo>
                  <a:pt x="0" y="28575"/>
                </a:lnTo>
                <a:lnTo>
                  <a:pt x="0" y="47625"/>
                </a:lnTo>
                <a:lnTo>
                  <a:pt x="990600" y="47625"/>
                </a:lnTo>
                <a:lnTo>
                  <a:pt x="990600" y="28575"/>
                </a:lnTo>
                <a:close/>
              </a:path>
              <a:path w="1066800" h="76200">
                <a:moveTo>
                  <a:pt x="1047750" y="28575"/>
                </a:moveTo>
                <a:lnTo>
                  <a:pt x="1003300" y="28575"/>
                </a:lnTo>
                <a:lnTo>
                  <a:pt x="1003300" y="47625"/>
                </a:lnTo>
                <a:lnTo>
                  <a:pt x="1047750" y="47625"/>
                </a:lnTo>
                <a:lnTo>
                  <a:pt x="1066800" y="38100"/>
                </a:lnTo>
                <a:lnTo>
                  <a:pt x="1047750" y="28575"/>
                </a:lnTo>
                <a:close/>
              </a:path>
            </a:pathLst>
          </a:custGeom>
          <a:solidFill>
            <a:srgbClr val="5782F8"/>
          </a:solidFill>
        </p:spPr>
        <p:txBody>
          <a:bodyPr wrap="square" lIns="0" tIns="0" rIns="0" bIns="0" rtlCol="0"/>
          <a:lstStyle/>
          <a:p/>
        </p:txBody>
      </p:sp>
      <p:sp>
        <p:nvSpPr>
          <p:cNvPr id="13" name="object 13" descr=""/>
          <p:cNvSpPr/>
          <p:nvPr/>
        </p:nvSpPr>
        <p:spPr>
          <a:xfrm>
            <a:off x="6705600" y="2852801"/>
            <a:ext cx="1066800" cy="76200"/>
          </a:xfrm>
          <a:custGeom>
            <a:avLst/>
            <a:gdLst/>
            <a:ahLst/>
            <a:cxnLst/>
            <a:rect l="l" t="t" r="r" b="b"/>
            <a:pathLst>
              <a:path w="1066800" h="76200">
                <a:moveTo>
                  <a:pt x="990600" y="0"/>
                </a:moveTo>
                <a:lnTo>
                  <a:pt x="990600" y="76200"/>
                </a:lnTo>
                <a:lnTo>
                  <a:pt x="1047750" y="47625"/>
                </a:lnTo>
                <a:lnTo>
                  <a:pt x="1003300" y="47625"/>
                </a:lnTo>
                <a:lnTo>
                  <a:pt x="1003300" y="28575"/>
                </a:lnTo>
                <a:lnTo>
                  <a:pt x="1047750" y="28575"/>
                </a:lnTo>
                <a:lnTo>
                  <a:pt x="990600" y="0"/>
                </a:lnTo>
                <a:close/>
              </a:path>
              <a:path w="1066800" h="76200">
                <a:moveTo>
                  <a:pt x="990600" y="28575"/>
                </a:moveTo>
                <a:lnTo>
                  <a:pt x="0" y="28575"/>
                </a:lnTo>
                <a:lnTo>
                  <a:pt x="0" y="47625"/>
                </a:lnTo>
                <a:lnTo>
                  <a:pt x="990600" y="47625"/>
                </a:lnTo>
                <a:lnTo>
                  <a:pt x="990600" y="28575"/>
                </a:lnTo>
                <a:close/>
              </a:path>
              <a:path w="1066800" h="76200">
                <a:moveTo>
                  <a:pt x="1047750" y="28575"/>
                </a:moveTo>
                <a:lnTo>
                  <a:pt x="1003300" y="28575"/>
                </a:lnTo>
                <a:lnTo>
                  <a:pt x="1003300" y="47625"/>
                </a:lnTo>
                <a:lnTo>
                  <a:pt x="1047750" y="47625"/>
                </a:lnTo>
                <a:lnTo>
                  <a:pt x="1066800" y="38100"/>
                </a:lnTo>
                <a:lnTo>
                  <a:pt x="1047750" y="28575"/>
                </a:lnTo>
                <a:close/>
              </a:path>
            </a:pathLst>
          </a:custGeom>
          <a:solidFill>
            <a:srgbClr val="5782F8"/>
          </a:solidFill>
        </p:spPr>
        <p:txBody>
          <a:bodyPr wrap="square" lIns="0" tIns="0" rIns="0" bIns="0" rtlCol="0"/>
          <a:lstStyle/>
          <a:p/>
        </p:txBody>
      </p:sp>
      <p:sp>
        <p:nvSpPr>
          <p:cNvPr id="14" name="object 14" descr=""/>
          <p:cNvSpPr txBox="1"/>
          <p:nvPr/>
        </p:nvSpPr>
        <p:spPr>
          <a:xfrm>
            <a:off x="951382" y="3819715"/>
            <a:ext cx="10083800" cy="2174875"/>
          </a:xfrm>
          <a:prstGeom prst="rect">
            <a:avLst/>
          </a:prstGeom>
        </p:spPr>
        <p:txBody>
          <a:bodyPr wrap="square" lIns="0" tIns="86360" rIns="0" bIns="0" rtlCol="0" vert="horz">
            <a:spAutoFit/>
          </a:bodyPr>
          <a:lstStyle/>
          <a:p>
            <a:pPr marL="4390390">
              <a:lnSpc>
                <a:spcPct val="100000"/>
              </a:lnSpc>
              <a:spcBef>
                <a:spcPts val="680"/>
              </a:spcBef>
            </a:pPr>
            <a:r>
              <a:rPr dirty="0" sz="2400" spc="-10">
                <a:solidFill>
                  <a:srgbClr val="40458B"/>
                </a:solidFill>
                <a:latin typeface="黑体"/>
                <a:cs typeface="黑体"/>
              </a:rPr>
              <a:t>检测</a:t>
            </a:r>
            <a:r>
              <a:rPr dirty="0" sz="2400" spc="-5">
                <a:solidFill>
                  <a:srgbClr val="D50092"/>
                </a:solidFill>
                <a:latin typeface="黑体"/>
                <a:cs typeface="黑体"/>
              </a:rPr>
              <a:t>结构</a:t>
            </a:r>
            <a:r>
              <a:rPr dirty="0" sz="2400" spc="-30">
                <a:solidFill>
                  <a:srgbClr val="40458B"/>
                </a:solidFill>
                <a:latin typeface="黑体"/>
                <a:cs typeface="黑体"/>
              </a:rPr>
              <a:t>冲突</a:t>
            </a:r>
            <a:endParaRPr sz="2400">
              <a:latin typeface="黑体"/>
              <a:cs typeface="黑体"/>
            </a:endParaRPr>
          </a:p>
          <a:p>
            <a:pPr marL="4390390">
              <a:lnSpc>
                <a:spcPct val="100000"/>
              </a:lnSpc>
              <a:spcBef>
                <a:spcPts val="580"/>
              </a:spcBef>
            </a:pPr>
            <a:r>
              <a:rPr dirty="0" sz="2400">
                <a:solidFill>
                  <a:srgbClr val="40458B"/>
                </a:solidFill>
                <a:latin typeface="黑体"/>
                <a:cs typeface="黑体"/>
              </a:rPr>
              <a:t>检测</a:t>
            </a:r>
            <a:r>
              <a:rPr dirty="0" sz="2400">
                <a:solidFill>
                  <a:srgbClr val="D50092"/>
                </a:solidFill>
                <a:latin typeface="黑体"/>
                <a:cs typeface="黑体"/>
              </a:rPr>
              <a:t>数据</a:t>
            </a:r>
            <a:r>
              <a:rPr dirty="0" sz="2400" spc="-25">
                <a:solidFill>
                  <a:srgbClr val="40458B"/>
                </a:solidFill>
                <a:latin typeface="黑体"/>
                <a:cs typeface="黑体"/>
              </a:rPr>
              <a:t>冲突</a:t>
            </a:r>
            <a:endParaRPr sz="2400">
              <a:latin typeface="黑体"/>
              <a:cs typeface="黑体"/>
            </a:endParaRPr>
          </a:p>
          <a:p>
            <a:pPr marL="12700" marR="5080">
              <a:lnSpc>
                <a:spcPct val="142600"/>
              </a:lnSpc>
              <a:spcBef>
                <a:spcPts val="1785"/>
              </a:spcBef>
            </a:pPr>
            <a:r>
              <a:rPr dirty="0" sz="2400" spc="-5">
                <a:solidFill>
                  <a:srgbClr val="40458B"/>
                </a:solidFill>
                <a:latin typeface="黑体"/>
                <a:cs typeface="黑体"/>
              </a:rPr>
              <a:t>流水寄存器只能存放一条指令，一旦一条指令受阻，其后的指令都将停顿。</a:t>
            </a:r>
            <a:r>
              <a:rPr dirty="0" sz="2400" spc="-5">
                <a:solidFill>
                  <a:srgbClr val="FF0000"/>
                </a:solidFill>
                <a:latin typeface="黑体"/>
                <a:cs typeface="黑体"/>
              </a:rPr>
              <a:t>解决方法：</a:t>
            </a:r>
            <a:r>
              <a:rPr dirty="0" sz="2400" spc="-10">
                <a:solidFill>
                  <a:srgbClr val="40458B"/>
                </a:solidFill>
                <a:latin typeface="黑体"/>
                <a:cs typeface="黑体"/>
              </a:rPr>
              <a:t>允许乱序执行</a:t>
            </a:r>
            <a:endParaRPr sz="2400">
              <a:latin typeface="黑体"/>
              <a:cs typeface="黑体"/>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78739" y="1081277"/>
            <a:ext cx="11798935" cy="4446905"/>
          </a:xfrm>
          <a:prstGeom prst="rect">
            <a:avLst/>
          </a:prstGeom>
        </p:spPr>
        <p:txBody>
          <a:bodyPr wrap="square" lIns="0" tIns="12700" rIns="0" bIns="0" rtlCol="0" vert="horz">
            <a:spAutoFit/>
          </a:bodyPr>
          <a:lstStyle/>
          <a:p>
            <a:pPr marL="1099185" marR="50165" indent="-457834">
              <a:lnSpc>
                <a:spcPct val="110000"/>
              </a:lnSpc>
              <a:spcBef>
                <a:spcPts val="100"/>
              </a:spcBef>
              <a:buSzPct val="89583"/>
              <a:buFont typeface="Wingdings"/>
              <a:buChar char=""/>
              <a:tabLst>
                <a:tab pos="1099185" algn="l"/>
              </a:tabLst>
            </a:pPr>
            <a:r>
              <a:rPr dirty="0" sz="2400">
                <a:solidFill>
                  <a:srgbClr val="40458B"/>
                </a:solidFill>
                <a:latin typeface="黑体"/>
                <a:cs typeface="黑体"/>
              </a:rPr>
              <a:t>为了使上述指令序列中的</a:t>
            </a:r>
            <a:r>
              <a:rPr dirty="0" sz="2400" spc="-30">
                <a:solidFill>
                  <a:srgbClr val="D50092"/>
                </a:solidFill>
                <a:latin typeface="Times New Roman"/>
                <a:cs typeface="Times New Roman"/>
              </a:rPr>
              <a:t>SUB.D</a:t>
            </a:r>
            <a:r>
              <a:rPr dirty="0" sz="2400" spc="-5">
                <a:solidFill>
                  <a:srgbClr val="40458B"/>
                </a:solidFill>
                <a:latin typeface="黑体"/>
                <a:cs typeface="黑体"/>
              </a:rPr>
              <a:t>指令能继续执行下去，必须把指令流出的工作拆</a:t>
            </a:r>
            <a:r>
              <a:rPr dirty="0" sz="2400" spc="-10">
                <a:solidFill>
                  <a:srgbClr val="40458B"/>
                </a:solidFill>
                <a:latin typeface="黑体"/>
                <a:cs typeface="黑体"/>
              </a:rPr>
              <a:t>分为两步：</a:t>
            </a:r>
            <a:endParaRPr sz="2400">
              <a:latin typeface="黑体"/>
              <a:cs typeface="黑体"/>
            </a:endParaRPr>
          </a:p>
          <a:p>
            <a:pPr lvl="1" marL="1308100" indent="-457200">
              <a:lnSpc>
                <a:spcPct val="100000"/>
              </a:lnSpc>
              <a:spcBef>
                <a:spcPts val="825"/>
              </a:spcBef>
              <a:buClr>
                <a:srgbClr val="4668F5"/>
              </a:buClr>
              <a:buSzPct val="68181"/>
              <a:buFont typeface="Wingdings"/>
              <a:buChar char=""/>
              <a:tabLst>
                <a:tab pos="1308100" algn="l"/>
              </a:tabLst>
            </a:pPr>
            <a:r>
              <a:rPr dirty="0" sz="2200" spc="-30" b="1">
                <a:solidFill>
                  <a:srgbClr val="9966FF"/>
                </a:solidFill>
                <a:latin typeface="宋体"/>
                <a:cs typeface="宋体"/>
              </a:rPr>
              <a:t>检测结构冲突</a:t>
            </a:r>
            <a:endParaRPr sz="2200">
              <a:latin typeface="宋体"/>
              <a:cs typeface="宋体"/>
            </a:endParaRPr>
          </a:p>
          <a:p>
            <a:pPr lvl="1" marL="1308100" indent="-457200">
              <a:lnSpc>
                <a:spcPct val="100000"/>
              </a:lnSpc>
              <a:spcBef>
                <a:spcPts val="790"/>
              </a:spcBef>
              <a:buClr>
                <a:srgbClr val="4668F5"/>
              </a:buClr>
              <a:buSzPct val="68181"/>
              <a:buFont typeface="Wingdings"/>
              <a:buChar char=""/>
              <a:tabLst>
                <a:tab pos="1308100" algn="l"/>
              </a:tabLst>
            </a:pPr>
            <a:r>
              <a:rPr dirty="0" sz="2200" spc="-25" b="1">
                <a:solidFill>
                  <a:srgbClr val="9966FF"/>
                </a:solidFill>
                <a:latin typeface="宋体"/>
                <a:cs typeface="宋体"/>
              </a:rPr>
              <a:t>等待数据冲突消失</a:t>
            </a:r>
            <a:endParaRPr sz="2200">
              <a:latin typeface="宋体"/>
              <a:cs typeface="宋体"/>
            </a:endParaRPr>
          </a:p>
          <a:p>
            <a:pPr marL="1099185" marR="5080" indent="17780">
              <a:lnSpc>
                <a:spcPct val="110000"/>
              </a:lnSpc>
              <a:spcBef>
                <a:spcPts val="545"/>
              </a:spcBef>
            </a:pPr>
            <a:r>
              <a:rPr dirty="0" sz="2400" spc="-5">
                <a:solidFill>
                  <a:srgbClr val="40458B"/>
                </a:solidFill>
                <a:latin typeface="黑体"/>
                <a:cs typeface="黑体"/>
              </a:rPr>
              <a:t>只要检测到没有结构冲突，就可以让指令流出。并且流出后的指令一旦其操作数</a:t>
            </a:r>
            <a:r>
              <a:rPr dirty="0" sz="2400" spc="-15">
                <a:solidFill>
                  <a:srgbClr val="40458B"/>
                </a:solidFill>
                <a:latin typeface="黑体"/>
                <a:cs typeface="黑体"/>
              </a:rPr>
              <a:t>就绪就可以立即执行。</a:t>
            </a:r>
            <a:endParaRPr sz="2400">
              <a:latin typeface="黑体"/>
              <a:cs typeface="黑体"/>
            </a:endParaRPr>
          </a:p>
          <a:p>
            <a:pPr marL="469265" indent="-456565">
              <a:lnSpc>
                <a:spcPct val="100000"/>
              </a:lnSpc>
              <a:spcBef>
                <a:spcPts val="865"/>
              </a:spcBef>
              <a:buClr>
                <a:srgbClr val="40458B"/>
              </a:buClr>
              <a:buFont typeface="Tahoma"/>
              <a:buAutoNum type="arabicPeriod" startAt="2"/>
              <a:tabLst>
                <a:tab pos="469265" algn="l"/>
              </a:tabLst>
            </a:pPr>
            <a:r>
              <a:rPr dirty="0" sz="2400" spc="-15">
                <a:solidFill>
                  <a:srgbClr val="001F5F"/>
                </a:solidFill>
                <a:latin typeface="黑体"/>
                <a:cs typeface="黑体"/>
              </a:rPr>
              <a:t>乱序执行</a:t>
            </a:r>
            <a:endParaRPr sz="2400">
              <a:latin typeface="黑体"/>
              <a:cs typeface="黑体"/>
            </a:endParaRPr>
          </a:p>
          <a:p>
            <a:pPr lvl="1" marL="1099185" indent="-457200">
              <a:lnSpc>
                <a:spcPct val="100000"/>
              </a:lnSpc>
              <a:spcBef>
                <a:spcPts val="865"/>
              </a:spcBef>
              <a:buSzPct val="89583"/>
              <a:buFont typeface="Wingdings"/>
              <a:buChar char=""/>
              <a:tabLst>
                <a:tab pos="1099185" algn="l"/>
              </a:tabLst>
            </a:pPr>
            <a:r>
              <a:rPr dirty="0" sz="2400" spc="-5">
                <a:solidFill>
                  <a:srgbClr val="40458B"/>
                </a:solidFill>
                <a:latin typeface="黑体"/>
                <a:cs typeface="黑体"/>
              </a:rPr>
              <a:t>指令的执行顺序与程序顺序不相同</a:t>
            </a:r>
            <a:endParaRPr sz="2400">
              <a:latin typeface="黑体"/>
              <a:cs typeface="黑体"/>
            </a:endParaRPr>
          </a:p>
          <a:p>
            <a:pPr lvl="1" marL="1099185" indent="-457200">
              <a:lnSpc>
                <a:spcPct val="100000"/>
              </a:lnSpc>
              <a:spcBef>
                <a:spcPts val="865"/>
              </a:spcBef>
              <a:buSzPct val="89583"/>
              <a:buFont typeface="Wingdings"/>
              <a:buChar char=""/>
              <a:tabLst>
                <a:tab pos="1099185" algn="l"/>
              </a:tabLst>
            </a:pPr>
            <a:r>
              <a:rPr dirty="0" sz="2400" spc="-15">
                <a:solidFill>
                  <a:srgbClr val="40458B"/>
                </a:solidFill>
                <a:latin typeface="黑体"/>
                <a:cs typeface="黑体"/>
              </a:rPr>
              <a:t>指令的完成也是乱序完成的</a:t>
            </a:r>
            <a:endParaRPr sz="2400">
              <a:latin typeface="黑体"/>
              <a:cs typeface="黑体"/>
            </a:endParaRPr>
          </a:p>
          <a:p>
            <a:pPr lvl="2" marL="1308100" indent="-457200">
              <a:lnSpc>
                <a:spcPct val="100000"/>
              </a:lnSpc>
              <a:spcBef>
                <a:spcPts val="825"/>
              </a:spcBef>
              <a:buClr>
                <a:srgbClr val="4668F5"/>
              </a:buClr>
              <a:buSzPct val="68181"/>
              <a:buFont typeface="Wingdings"/>
              <a:buChar char=""/>
              <a:tabLst>
                <a:tab pos="1308100" algn="l"/>
              </a:tabLst>
            </a:pPr>
            <a:r>
              <a:rPr dirty="0" sz="2200" spc="-25" b="1">
                <a:solidFill>
                  <a:srgbClr val="9966FF"/>
                </a:solidFill>
                <a:latin typeface="宋体"/>
                <a:cs typeface="宋体"/>
              </a:rPr>
              <a:t>即指令的完成顺序与程序顺序不相同。</a:t>
            </a:r>
            <a:endParaRPr sz="2200">
              <a:latin typeface="宋体"/>
              <a:cs typeface="宋体"/>
            </a:endParaRPr>
          </a:p>
        </p:txBody>
      </p:sp>
      <p:pic>
        <p:nvPicPr>
          <p:cNvPr id="11" name="object 11" descr=""/>
          <p:cNvPicPr/>
          <p:nvPr/>
        </p:nvPicPr>
        <p:blipFill>
          <a:blip r:embed="rId2" cstate="print"/>
          <a:stretch>
            <a:fillRect/>
          </a:stretch>
        </p:blipFill>
        <p:spPr>
          <a:xfrm>
            <a:off x="7697839" y="1700212"/>
            <a:ext cx="2300124" cy="10096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282041" y="731265"/>
            <a:ext cx="11628755" cy="2600325"/>
          </a:xfrm>
          <a:prstGeom prst="rect">
            <a:avLst/>
          </a:prstGeom>
        </p:spPr>
        <p:txBody>
          <a:bodyPr wrap="square" lIns="0" tIns="12700" rIns="0" bIns="0" rtlCol="0" vert="horz">
            <a:spAutoFit/>
          </a:bodyPr>
          <a:lstStyle/>
          <a:p>
            <a:pPr marL="469900" marR="24130" indent="-457200">
              <a:lnSpc>
                <a:spcPct val="100000"/>
              </a:lnSpc>
              <a:spcBef>
                <a:spcPts val="100"/>
              </a:spcBef>
              <a:buClr>
                <a:srgbClr val="40458B"/>
              </a:buClr>
              <a:buAutoNum type="arabicPeriod" startAt="3"/>
              <a:tabLst>
                <a:tab pos="469900" algn="l"/>
              </a:tabLst>
            </a:pPr>
            <a:r>
              <a:rPr dirty="0" sz="2400">
                <a:solidFill>
                  <a:srgbClr val="FF5CFF"/>
                </a:solidFill>
                <a:latin typeface="黑体"/>
                <a:cs typeface="黑体"/>
              </a:rPr>
              <a:t>为了支持乱序执行</a:t>
            </a:r>
            <a:r>
              <a:rPr dirty="0" sz="2400">
                <a:solidFill>
                  <a:srgbClr val="001F5F"/>
                </a:solidFill>
                <a:latin typeface="黑体"/>
                <a:cs typeface="黑体"/>
              </a:rPr>
              <a:t>，即动态调度，我们将5段流水线的</a:t>
            </a:r>
            <a:r>
              <a:rPr dirty="0" sz="2400">
                <a:solidFill>
                  <a:srgbClr val="FF0000"/>
                </a:solidFill>
                <a:latin typeface="黑体"/>
                <a:cs typeface="黑体"/>
              </a:rPr>
              <a:t>译码</a:t>
            </a:r>
            <a:r>
              <a:rPr dirty="0" sz="2400">
                <a:solidFill>
                  <a:srgbClr val="001F5F"/>
                </a:solidFill>
                <a:latin typeface="黑体"/>
                <a:cs typeface="黑体"/>
              </a:rPr>
              <a:t>阶段再分为两个阶段（</a:t>
            </a:r>
            <a:r>
              <a:rPr dirty="0" sz="2400" spc="-50">
                <a:solidFill>
                  <a:srgbClr val="001F5F"/>
                </a:solidFill>
                <a:latin typeface="黑体"/>
                <a:cs typeface="黑体"/>
              </a:rPr>
              <a:t>因</a:t>
            </a:r>
            <a:r>
              <a:rPr dirty="0" sz="2400" spc="-10">
                <a:solidFill>
                  <a:srgbClr val="001F5F"/>
                </a:solidFill>
                <a:latin typeface="黑体"/>
                <a:cs typeface="黑体"/>
              </a:rPr>
              <a:t>为</a:t>
            </a:r>
            <a:r>
              <a:rPr dirty="0" u="sng" sz="2400" spc="-10">
                <a:solidFill>
                  <a:srgbClr val="FF0000"/>
                </a:solidFill>
                <a:uFill>
                  <a:solidFill>
                    <a:srgbClr val="FF0000"/>
                  </a:solidFill>
                </a:uFill>
                <a:latin typeface="黑体"/>
                <a:cs typeface="黑体"/>
              </a:rPr>
              <a:t>就绪</a:t>
            </a:r>
            <a:r>
              <a:rPr dirty="0" u="none" sz="2400" spc="-10">
                <a:solidFill>
                  <a:srgbClr val="001F5F"/>
                </a:solidFill>
                <a:latin typeface="黑体"/>
                <a:cs typeface="黑体"/>
              </a:rPr>
              <a:t>指令就是在ID段产生阻塞的</a:t>
            </a:r>
            <a:r>
              <a:rPr dirty="0" u="none" sz="2400" spc="-25">
                <a:solidFill>
                  <a:srgbClr val="001F5F"/>
                </a:solidFill>
                <a:latin typeface="黑体"/>
                <a:cs typeface="黑体"/>
              </a:rPr>
              <a:t>）：</a:t>
            </a:r>
            <a:endParaRPr sz="2400">
              <a:latin typeface="黑体"/>
              <a:cs typeface="黑体"/>
            </a:endParaRPr>
          </a:p>
          <a:p>
            <a:pPr lvl="1" marL="1099185" indent="-457200">
              <a:lnSpc>
                <a:spcPct val="100000"/>
              </a:lnSpc>
              <a:spcBef>
                <a:spcPts val="580"/>
              </a:spcBef>
              <a:buClr>
                <a:srgbClr val="40458B"/>
              </a:buClr>
              <a:buSzPct val="89583"/>
              <a:buFont typeface="Wingdings"/>
              <a:buChar char=""/>
              <a:tabLst>
                <a:tab pos="1099185" algn="l"/>
              </a:tabLst>
            </a:pPr>
            <a:r>
              <a:rPr dirty="0" sz="2400">
                <a:solidFill>
                  <a:srgbClr val="D50092"/>
                </a:solidFill>
                <a:latin typeface="黑体"/>
                <a:cs typeface="黑体"/>
              </a:rPr>
              <a:t>流出</a:t>
            </a:r>
            <a:r>
              <a:rPr dirty="0" sz="2400">
                <a:solidFill>
                  <a:srgbClr val="40458B"/>
                </a:solidFill>
                <a:latin typeface="黑体"/>
                <a:cs typeface="黑体"/>
              </a:rPr>
              <a:t>（</a:t>
            </a:r>
            <a:r>
              <a:rPr dirty="0" sz="2400">
                <a:solidFill>
                  <a:srgbClr val="9933FF"/>
                </a:solidFill>
                <a:latin typeface="黑体"/>
                <a:cs typeface="黑体"/>
              </a:rPr>
              <a:t>In-order</a:t>
            </a:r>
            <a:r>
              <a:rPr dirty="0" sz="2400">
                <a:solidFill>
                  <a:srgbClr val="40458B"/>
                </a:solidFill>
                <a:latin typeface="黑体"/>
                <a:cs typeface="黑体"/>
              </a:rPr>
              <a:t>，</a:t>
            </a:r>
            <a:r>
              <a:rPr dirty="0" sz="2400">
                <a:solidFill>
                  <a:srgbClr val="9933FF"/>
                </a:solidFill>
                <a:latin typeface="黑体"/>
                <a:cs typeface="黑体"/>
              </a:rPr>
              <a:t>Issue，IS</a:t>
            </a:r>
            <a:r>
              <a:rPr dirty="0" sz="2400">
                <a:solidFill>
                  <a:srgbClr val="40458B"/>
                </a:solidFill>
                <a:latin typeface="黑体"/>
                <a:cs typeface="黑体"/>
              </a:rPr>
              <a:t>）：</a:t>
            </a:r>
            <a:r>
              <a:rPr dirty="0" sz="2400" spc="-5">
                <a:solidFill>
                  <a:srgbClr val="40458B"/>
                </a:solidFill>
                <a:latin typeface="黑体"/>
                <a:cs typeface="黑体"/>
              </a:rPr>
              <a:t>指令译码，检查是否存在结构冲突。</a:t>
            </a:r>
            <a:endParaRPr sz="2400">
              <a:latin typeface="黑体"/>
              <a:cs typeface="黑体"/>
            </a:endParaRPr>
          </a:p>
          <a:p>
            <a:pPr lvl="1" marL="1099185" indent="-457200">
              <a:lnSpc>
                <a:spcPct val="100000"/>
              </a:lnSpc>
              <a:spcBef>
                <a:spcPts val="994"/>
              </a:spcBef>
              <a:buClr>
                <a:srgbClr val="40458B"/>
              </a:buClr>
              <a:buSzPct val="89583"/>
              <a:buFont typeface="Wingdings"/>
              <a:buChar char=""/>
              <a:tabLst>
                <a:tab pos="1099185" algn="l"/>
                <a:tab pos="3385185" algn="l"/>
              </a:tabLst>
            </a:pPr>
            <a:r>
              <a:rPr dirty="0" sz="2400">
                <a:solidFill>
                  <a:srgbClr val="D50092"/>
                </a:solidFill>
                <a:latin typeface="黑体"/>
                <a:cs typeface="黑体"/>
              </a:rPr>
              <a:t>读操作数</a:t>
            </a:r>
            <a:r>
              <a:rPr dirty="0" sz="2400" spc="-10">
                <a:solidFill>
                  <a:srgbClr val="40458B"/>
                </a:solidFill>
                <a:latin typeface="黑体"/>
                <a:cs typeface="黑体"/>
              </a:rPr>
              <a:t>（</a:t>
            </a:r>
            <a:r>
              <a:rPr dirty="0" sz="2400" spc="-10">
                <a:solidFill>
                  <a:srgbClr val="9933FF"/>
                </a:solidFill>
                <a:latin typeface="黑体"/>
                <a:cs typeface="黑体"/>
              </a:rPr>
              <a:t>Read</a:t>
            </a:r>
            <a:r>
              <a:rPr dirty="0" sz="2400">
                <a:solidFill>
                  <a:srgbClr val="9933FF"/>
                </a:solidFill>
                <a:latin typeface="黑体"/>
                <a:cs typeface="黑体"/>
              </a:rPr>
              <a:t>	Operands，RO</a:t>
            </a:r>
            <a:r>
              <a:rPr dirty="0" sz="2400">
                <a:solidFill>
                  <a:srgbClr val="40458B"/>
                </a:solidFill>
                <a:latin typeface="黑体"/>
                <a:cs typeface="黑体"/>
              </a:rPr>
              <a:t>）：检查是否存在数据冲突；等待数据冲突消</a:t>
            </a:r>
            <a:r>
              <a:rPr dirty="0" sz="2400" spc="-50">
                <a:solidFill>
                  <a:srgbClr val="40458B"/>
                </a:solidFill>
                <a:latin typeface="黑体"/>
                <a:cs typeface="黑体"/>
              </a:rPr>
              <a:t>失</a:t>
            </a:r>
            <a:endParaRPr sz="2400">
              <a:latin typeface="黑体"/>
              <a:cs typeface="黑体"/>
            </a:endParaRPr>
          </a:p>
          <a:p>
            <a:pPr marL="1099185">
              <a:lnSpc>
                <a:spcPct val="100000"/>
              </a:lnSpc>
              <a:spcBef>
                <a:spcPts val="420"/>
              </a:spcBef>
            </a:pPr>
            <a:r>
              <a:rPr dirty="0" sz="2400">
                <a:solidFill>
                  <a:srgbClr val="40458B"/>
                </a:solidFill>
                <a:latin typeface="黑体"/>
                <a:cs typeface="黑体"/>
              </a:rPr>
              <a:t>（若有），</a:t>
            </a:r>
            <a:r>
              <a:rPr dirty="0" sz="2400" spc="-10">
                <a:solidFill>
                  <a:srgbClr val="40458B"/>
                </a:solidFill>
                <a:latin typeface="黑体"/>
                <a:cs typeface="黑体"/>
              </a:rPr>
              <a:t>然后读操作数。</a:t>
            </a:r>
            <a:endParaRPr sz="2400">
              <a:latin typeface="黑体"/>
              <a:cs typeface="黑体"/>
            </a:endParaRPr>
          </a:p>
          <a:p>
            <a:pPr marL="1556385">
              <a:lnSpc>
                <a:spcPct val="100000"/>
              </a:lnSpc>
              <a:spcBef>
                <a:spcPts val="994"/>
              </a:spcBef>
            </a:pPr>
            <a:r>
              <a:rPr dirty="0" sz="2400">
                <a:solidFill>
                  <a:srgbClr val="40458B"/>
                </a:solidFill>
                <a:latin typeface="黑体"/>
                <a:cs typeface="黑体"/>
              </a:rPr>
              <a:t>(</a:t>
            </a:r>
            <a:r>
              <a:rPr dirty="0" sz="2400">
                <a:solidFill>
                  <a:srgbClr val="9933FF"/>
                </a:solidFill>
                <a:latin typeface="黑体"/>
                <a:cs typeface="黑体"/>
              </a:rPr>
              <a:t>out of order </a:t>
            </a:r>
            <a:r>
              <a:rPr dirty="0" sz="2400" spc="-10">
                <a:solidFill>
                  <a:srgbClr val="9933FF"/>
                </a:solidFill>
                <a:latin typeface="黑体"/>
                <a:cs typeface="黑体"/>
              </a:rPr>
              <a:t>execution</a:t>
            </a:r>
            <a:r>
              <a:rPr dirty="0" sz="2400" spc="-10">
                <a:solidFill>
                  <a:srgbClr val="40458B"/>
                </a:solidFill>
                <a:latin typeface="黑体"/>
                <a:cs typeface="黑体"/>
              </a:rPr>
              <a:t>)</a:t>
            </a:r>
            <a:endParaRPr sz="2400">
              <a:latin typeface="黑体"/>
              <a:cs typeface="黑体"/>
            </a:endParaRPr>
          </a:p>
        </p:txBody>
      </p:sp>
      <p:sp>
        <p:nvSpPr>
          <p:cNvPr id="11" name="object 11" descr=""/>
          <p:cNvSpPr txBox="1"/>
          <p:nvPr/>
        </p:nvSpPr>
        <p:spPr>
          <a:xfrm>
            <a:off x="7464170" y="3589324"/>
            <a:ext cx="838200" cy="1008380"/>
          </a:xfrm>
          <a:prstGeom prst="rect">
            <a:avLst/>
          </a:prstGeom>
          <a:solidFill>
            <a:srgbClr val="EBD782"/>
          </a:solidFill>
          <a:ln w="9525">
            <a:solidFill>
              <a:srgbClr val="40458B"/>
            </a:solidFill>
          </a:ln>
        </p:spPr>
        <p:txBody>
          <a:bodyPr wrap="square" lIns="0" tIns="263525" rIns="0" bIns="0" rtlCol="0" vert="horz">
            <a:spAutoFit/>
          </a:bodyPr>
          <a:lstStyle/>
          <a:p>
            <a:pPr marL="205740">
              <a:lnSpc>
                <a:spcPct val="100000"/>
              </a:lnSpc>
              <a:spcBef>
                <a:spcPts val="2075"/>
              </a:spcBef>
            </a:pPr>
            <a:r>
              <a:rPr dirty="0" sz="2600" spc="-25">
                <a:latin typeface="黑体"/>
                <a:cs typeface="黑体"/>
              </a:rPr>
              <a:t>IS</a:t>
            </a:r>
            <a:endParaRPr sz="2600">
              <a:latin typeface="黑体"/>
              <a:cs typeface="黑体"/>
            </a:endParaRPr>
          </a:p>
        </p:txBody>
      </p:sp>
      <p:sp>
        <p:nvSpPr>
          <p:cNvPr id="12" name="object 12" descr=""/>
          <p:cNvSpPr/>
          <p:nvPr/>
        </p:nvSpPr>
        <p:spPr>
          <a:xfrm>
            <a:off x="6359525" y="4094734"/>
            <a:ext cx="1066800" cy="76200"/>
          </a:xfrm>
          <a:custGeom>
            <a:avLst/>
            <a:gdLst/>
            <a:ahLst/>
            <a:cxnLst/>
            <a:rect l="l" t="t" r="r" b="b"/>
            <a:pathLst>
              <a:path w="1066800" h="76200">
                <a:moveTo>
                  <a:pt x="990600" y="0"/>
                </a:moveTo>
                <a:lnTo>
                  <a:pt x="990600" y="76200"/>
                </a:lnTo>
                <a:lnTo>
                  <a:pt x="1047750" y="47625"/>
                </a:lnTo>
                <a:lnTo>
                  <a:pt x="1003300" y="47625"/>
                </a:lnTo>
                <a:lnTo>
                  <a:pt x="1003300" y="28575"/>
                </a:lnTo>
                <a:lnTo>
                  <a:pt x="1047750" y="28575"/>
                </a:lnTo>
                <a:lnTo>
                  <a:pt x="990600" y="0"/>
                </a:lnTo>
                <a:close/>
              </a:path>
              <a:path w="1066800" h="76200">
                <a:moveTo>
                  <a:pt x="990600" y="28575"/>
                </a:moveTo>
                <a:lnTo>
                  <a:pt x="0" y="28575"/>
                </a:lnTo>
                <a:lnTo>
                  <a:pt x="0" y="47625"/>
                </a:lnTo>
                <a:lnTo>
                  <a:pt x="990600" y="47625"/>
                </a:lnTo>
                <a:lnTo>
                  <a:pt x="990600" y="28575"/>
                </a:lnTo>
                <a:close/>
              </a:path>
              <a:path w="1066800" h="76200">
                <a:moveTo>
                  <a:pt x="1047750" y="28575"/>
                </a:moveTo>
                <a:lnTo>
                  <a:pt x="1003300" y="28575"/>
                </a:lnTo>
                <a:lnTo>
                  <a:pt x="1003300" y="47625"/>
                </a:lnTo>
                <a:lnTo>
                  <a:pt x="1047750" y="47625"/>
                </a:lnTo>
                <a:lnTo>
                  <a:pt x="1066800" y="38100"/>
                </a:lnTo>
                <a:lnTo>
                  <a:pt x="1047750" y="28575"/>
                </a:lnTo>
                <a:close/>
              </a:path>
            </a:pathLst>
          </a:custGeom>
          <a:solidFill>
            <a:srgbClr val="5782F8"/>
          </a:solidFill>
        </p:spPr>
        <p:txBody>
          <a:bodyPr wrap="square" lIns="0" tIns="0" rIns="0" bIns="0" rtlCol="0"/>
          <a:lstStyle/>
          <a:p/>
        </p:txBody>
      </p:sp>
      <p:sp>
        <p:nvSpPr>
          <p:cNvPr id="13" name="object 13" descr=""/>
          <p:cNvSpPr/>
          <p:nvPr/>
        </p:nvSpPr>
        <p:spPr>
          <a:xfrm>
            <a:off x="9725152" y="4055236"/>
            <a:ext cx="1066800" cy="76200"/>
          </a:xfrm>
          <a:custGeom>
            <a:avLst/>
            <a:gdLst/>
            <a:ahLst/>
            <a:cxnLst/>
            <a:rect l="l" t="t" r="r" b="b"/>
            <a:pathLst>
              <a:path w="1066800" h="76200">
                <a:moveTo>
                  <a:pt x="990600" y="0"/>
                </a:moveTo>
                <a:lnTo>
                  <a:pt x="990600" y="76200"/>
                </a:lnTo>
                <a:lnTo>
                  <a:pt x="1047750" y="47625"/>
                </a:lnTo>
                <a:lnTo>
                  <a:pt x="1003300" y="47625"/>
                </a:lnTo>
                <a:lnTo>
                  <a:pt x="1003300" y="28575"/>
                </a:lnTo>
                <a:lnTo>
                  <a:pt x="1047750" y="28575"/>
                </a:lnTo>
                <a:lnTo>
                  <a:pt x="990600" y="0"/>
                </a:lnTo>
                <a:close/>
              </a:path>
              <a:path w="1066800" h="76200">
                <a:moveTo>
                  <a:pt x="990600" y="28575"/>
                </a:moveTo>
                <a:lnTo>
                  <a:pt x="0" y="28575"/>
                </a:lnTo>
                <a:lnTo>
                  <a:pt x="0" y="47625"/>
                </a:lnTo>
                <a:lnTo>
                  <a:pt x="990600" y="47625"/>
                </a:lnTo>
                <a:lnTo>
                  <a:pt x="990600" y="28575"/>
                </a:lnTo>
                <a:close/>
              </a:path>
              <a:path w="1066800" h="76200">
                <a:moveTo>
                  <a:pt x="1047750" y="28575"/>
                </a:moveTo>
                <a:lnTo>
                  <a:pt x="1003300" y="28575"/>
                </a:lnTo>
                <a:lnTo>
                  <a:pt x="1003300" y="47625"/>
                </a:lnTo>
                <a:lnTo>
                  <a:pt x="1047750" y="47625"/>
                </a:lnTo>
                <a:lnTo>
                  <a:pt x="1066800" y="38100"/>
                </a:lnTo>
                <a:lnTo>
                  <a:pt x="1047750" y="28575"/>
                </a:lnTo>
                <a:close/>
              </a:path>
            </a:pathLst>
          </a:custGeom>
          <a:solidFill>
            <a:srgbClr val="5782F8"/>
          </a:solidFill>
        </p:spPr>
        <p:txBody>
          <a:bodyPr wrap="square" lIns="0" tIns="0" rIns="0" bIns="0" rtlCol="0"/>
          <a:lstStyle/>
          <a:p/>
        </p:txBody>
      </p:sp>
      <p:sp>
        <p:nvSpPr>
          <p:cNvPr id="14" name="object 14" descr=""/>
          <p:cNvSpPr/>
          <p:nvPr/>
        </p:nvSpPr>
        <p:spPr>
          <a:xfrm>
            <a:off x="8315959" y="4083303"/>
            <a:ext cx="533400" cy="76200"/>
          </a:xfrm>
          <a:custGeom>
            <a:avLst/>
            <a:gdLst/>
            <a:ahLst/>
            <a:cxnLst/>
            <a:rect l="l" t="t" r="r" b="b"/>
            <a:pathLst>
              <a:path w="533400" h="76200">
                <a:moveTo>
                  <a:pt x="457200" y="0"/>
                </a:moveTo>
                <a:lnTo>
                  <a:pt x="457200" y="76200"/>
                </a:lnTo>
                <a:lnTo>
                  <a:pt x="514350" y="47625"/>
                </a:lnTo>
                <a:lnTo>
                  <a:pt x="469900" y="47625"/>
                </a:lnTo>
                <a:lnTo>
                  <a:pt x="469900" y="28575"/>
                </a:lnTo>
                <a:lnTo>
                  <a:pt x="514350" y="28575"/>
                </a:lnTo>
                <a:lnTo>
                  <a:pt x="457200" y="0"/>
                </a:lnTo>
                <a:close/>
              </a:path>
              <a:path w="533400" h="76200">
                <a:moveTo>
                  <a:pt x="457200" y="28575"/>
                </a:moveTo>
                <a:lnTo>
                  <a:pt x="0" y="28575"/>
                </a:lnTo>
                <a:lnTo>
                  <a:pt x="0" y="47625"/>
                </a:lnTo>
                <a:lnTo>
                  <a:pt x="457200" y="47625"/>
                </a:lnTo>
                <a:lnTo>
                  <a:pt x="457200" y="28575"/>
                </a:lnTo>
                <a:close/>
              </a:path>
              <a:path w="533400" h="76200">
                <a:moveTo>
                  <a:pt x="514350" y="28575"/>
                </a:moveTo>
                <a:lnTo>
                  <a:pt x="469900" y="28575"/>
                </a:lnTo>
                <a:lnTo>
                  <a:pt x="469900" y="47625"/>
                </a:lnTo>
                <a:lnTo>
                  <a:pt x="514350" y="47625"/>
                </a:lnTo>
                <a:lnTo>
                  <a:pt x="533400" y="38100"/>
                </a:lnTo>
                <a:lnTo>
                  <a:pt x="514350" y="28575"/>
                </a:lnTo>
                <a:close/>
              </a:path>
            </a:pathLst>
          </a:custGeom>
          <a:solidFill>
            <a:srgbClr val="5782F8"/>
          </a:solidFill>
        </p:spPr>
        <p:txBody>
          <a:bodyPr wrap="square" lIns="0" tIns="0" rIns="0" bIns="0" rtlCol="0"/>
          <a:lstStyle/>
          <a:p/>
        </p:txBody>
      </p:sp>
      <p:sp>
        <p:nvSpPr>
          <p:cNvPr id="15" name="object 15" descr=""/>
          <p:cNvSpPr txBox="1"/>
          <p:nvPr/>
        </p:nvSpPr>
        <p:spPr>
          <a:xfrm>
            <a:off x="8886952" y="3589350"/>
            <a:ext cx="838200" cy="988694"/>
          </a:xfrm>
          <a:prstGeom prst="rect">
            <a:avLst/>
          </a:prstGeom>
          <a:solidFill>
            <a:srgbClr val="EBD782"/>
          </a:solidFill>
          <a:ln w="9525">
            <a:solidFill>
              <a:srgbClr val="40458B"/>
            </a:solidFill>
          </a:ln>
        </p:spPr>
        <p:txBody>
          <a:bodyPr wrap="square" lIns="0" tIns="265430" rIns="0" bIns="0" rtlCol="0" vert="horz">
            <a:spAutoFit/>
          </a:bodyPr>
          <a:lstStyle/>
          <a:p>
            <a:pPr marL="231140">
              <a:lnSpc>
                <a:spcPct val="100000"/>
              </a:lnSpc>
              <a:spcBef>
                <a:spcPts val="2090"/>
              </a:spcBef>
            </a:pPr>
            <a:r>
              <a:rPr dirty="0" sz="2600" spc="-25">
                <a:latin typeface="黑体"/>
                <a:cs typeface="黑体"/>
              </a:rPr>
              <a:t>RO</a:t>
            </a:r>
            <a:endParaRPr sz="2600">
              <a:latin typeface="黑体"/>
              <a:cs typeface="黑体"/>
            </a:endParaRPr>
          </a:p>
        </p:txBody>
      </p:sp>
      <p:sp>
        <p:nvSpPr>
          <p:cNvPr id="16" name="object 16" descr=""/>
          <p:cNvSpPr txBox="1"/>
          <p:nvPr/>
        </p:nvSpPr>
        <p:spPr>
          <a:xfrm>
            <a:off x="6540500" y="4959477"/>
            <a:ext cx="185420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检测</a:t>
            </a:r>
            <a:r>
              <a:rPr dirty="0" sz="2400">
                <a:solidFill>
                  <a:srgbClr val="D50092"/>
                </a:solidFill>
                <a:latin typeface="黑体"/>
                <a:cs typeface="黑体"/>
              </a:rPr>
              <a:t>结构</a:t>
            </a:r>
            <a:r>
              <a:rPr dirty="0" sz="2400" spc="-25">
                <a:solidFill>
                  <a:srgbClr val="40458B"/>
                </a:solidFill>
                <a:latin typeface="黑体"/>
                <a:cs typeface="黑体"/>
              </a:rPr>
              <a:t>冲突</a:t>
            </a:r>
            <a:endParaRPr sz="2400">
              <a:latin typeface="黑体"/>
              <a:cs typeface="黑体"/>
            </a:endParaRPr>
          </a:p>
        </p:txBody>
      </p:sp>
      <p:sp>
        <p:nvSpPr>
          <p:cNvPr id="17" name="object 17" descr=""/>
          <p:cNvSpPr txBox="1"/>
          <p:nvPr/>
        </p:nvSpPr>
        <p:spPr>
          <a:xfrm>
            <a:off x="8725281" y="4990591"/>
            <a:ext cx="185420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检测</a:t>
            </a:r>
            <a:r>
              <a:rPr dirty="0" sz="2400">
                <a:solidFill>
                  <a:srgbClr val="D50092"/>
                </a:solidFill>
                <a:latin typeface="黑体"/>
                <a:cs typeface="黑体"/>
              </a:rPr>
              <a:t>数据</a:t>
            </a:r>
            <a:r>
              <a:rPr dirty="0" sz="2400" spc="-25">
                <a:solidFill>
                  <a:srgbClr val="40458B"/>
                </a:solidFill>
                <a:latin typeface="黑体"/>
                <a:cs typeface="黑体"/>
              </a:rPr>
              <a:t>冲突</a:t>
            </a:r>
            <a:endParaRPr sz="2400">
              <a:latin typeface="黑体"/>
              <a:cs typeface="黑体"/>
            </a:endParaRPr>
          </a:p>
        </p:txBody>
      </p:sp>
      <p:sp>
        <p:nvSpPr>
          <p:cNvPr id="18" name="object 18" descr=""/>
          <p:cNvSpPr txBox="1"/>
          <p:nvPr/>
        </p:nvSpPr>
        <p:spPr>
          <a:xfrm>
            <a:off x="2363851" y="3341751"/>
            <a:ext cx="990600" cy="1447800"/>
          </a:xfrm>
          <a:prstGeom prst="rect">
            <a:avLst/>
          </a:prstGeom>
          <a:solidFill>
            <a:srgbClr val="FFACFF"/>
          </a:solidFill>
          <a:ln w="9525">
            <a:solidFill>
              <a:srgbClr val="40458B"/>
            </a:solidFill>
          </a:ln>
        </p:spPr>
        <p:txBody>
          <a:bodyPr wrap="square" lIns="0" tIns="177800" rIns="0" bIns="0" rtlCol="0" vert="horz">
            <a:spAutoFit/>
          </a:bodyPr>
          <a:lstStyle/>
          <a:p>
            <a:pPr>
              <a:lnSpc>
                <a:spcPct val="100000"/>
              </a:lnSpc>
              <a:spcBef>
                <a:spcPts val="1400"/>
              </a:spcBef>
            </a:pPr>
            <a:endParaRPr sz="2600">
              <a:latin typeface="Times New Roman"/>
              <a:cs typeface="Times New Roman"/>
            </a:endParaRPr>
          </a:p>
          <a:p>
            <a:pPr marL="320040">
              <a:lnSpc>
                <a:spcPct val="100000"/>
              </a:lnSpc>
              <a:spcBef>
                <a:spcPts val="5"/>
              </a:spcBef>
            </a:pPr>
            <a:r>
              <a:rPr dirty="0" sz="2600" spc="-25">
                <a:latin typeface="黑体"/>
                <a:cs typeface="黑体"/>
              </a:rPr>
              <a:t>ID</a:t>
            </a:r>
            <a:endParaRPr sz="2600">
              <a:latin typeface="黑体"/>
              <a:cs typeface="黑体"/>
            </a:endParaRPr>
          </a:p>
        </p:txBody>
      </p:sp>
      <p:sp>
        <p:nvSpPr>
          <p:cNvPr id="19" name="object 19" descr=""/>
          <p:cNvSpPr/>
          <p:nvPr/>
        </p:nvSpPr>
        <p:spPr>
          <a:xfrm>
            <a:off x="1297050" y="4065523"/>
            <a:ext cx="1066800" cy="76200"/>
          </a:xfrm>
          <a:custGeom>
            <a:avLst/>
            <a:gdLst/>
            <a:ahLst/>
            <a:cxnLst/>
            <a:rect l="l" t="t" r="r" b="b"/>
            <a:pathLst>
              <a:path w="1066800" h="76200">
                <a:moveTo>
                  <a:pt x="990473" y="0"/>
                </a:moveTo>
                <a:lnTo>
                  <a:pt x="990473" y="76200"/>
                </a:lnTo>
                <a:lnTo>
                  <a:pt x="1047623" y="47625"/>
                </a:lnTo>
                <a:lnTo>
                  <a:pt x="1003173" y="47625"/>
                </a:lnTo>
                <a:lnTo>
                  <a:pt x="1003173" y="28575"/>
                </a:lnTo>
                <a:lnTo>
                  <a:pt x="1047623" y="28575"/>
                </a:lnTo>
                <a:lnTo>
                  <a:pt x="990473" y="0"/>
                </a:lnTo>
                <a:close/>
              </a:path>
              <a:path w="1066800" h="76200">
                <a:moveTo>
                  <a:pt x="990473" y="28575"/>
                </a:moveTo>
                <a:lnTo>
                  <a:pt x="0" y="28575"/>
                </a:lnTo>
                <a:lnTo>
                  <a:pt x="0" y="47625"/>
                </a:lnTo>
                <a:lnTo>
                  <a:pt x="990473" y="47625"/>
                </a:lnTo>
                <a:lnTo>
                  <a:pt x="990473" y="28575"/>
                </a:lnTo>
                <a:close/>
              </a:path>
              <a:path w="1066800" h="76200">
                <a:moveTo>
                  <a:pt x="1047623" y="28575"/>
                </a:moveTo>
                <a:lnTo>
                  <a:pt x="1003173" y="28575"/>
                </a:lnTo>
                <a:lnTo>
                  <a:pt x="1003173" y="47625"/>
                </a:lnTo>
                <a:lnTo>
                  <a:pt x="1047623" y="47625"/>
                </a:lnTo>
                <a:lnTo>
                  <a:pt x="1066673" y="38100"/>
                </a:lnTo>
                <a:lnTo>
                  <a:pt x="1047623" y="28575"/>
                </a:lnTo>
                <a:close/>
              </a:path>
            </a:pathLst>
          </a:custGeom>
          <a:solidFill>
            <a:srgbClr val="5782F8"/>
          </a:solidFill>
        </p:spPr>
        <p:txBody>
          <a:bodyPr wrap="square" lIns="0" tIns="0" rIns="0" bIns="0" rtlCol="0"/>
          <a:lstStyle/>
          <a:p/>
        </p:txBody>
      </p:sp>
      <p:sp>
        <p:nvSpPr>
          <p:cNvPr id="20" name="object 20" descr=""/>
          <p:cNvSpPr/>
          <p:nvPr/>
        </p:nvSpPr>
        <p:spPr>
          <a:xfrm>
            <a:off x="3354323" y="4065523"/>
            <a:ext cx="1066800" cy="76200"/>
          </a:xfrm>
          <a:custGeom>
            <a:avLst/>
            <a:gdLst/>
            <a:ahLst/>
            <a:cxnLst/>
            <a:rect l="l" t="t" r="r" b="b"/>
            <a:pathLst>
              <a:path w="1066800" h="76200">
                <a:moveTo>
                  <a:pt x="990600" y="0"/>
                </a:moveTo>
                <a:lnTo>
                  <a:pt x="990600" y="76200"/>
                </a:lnTo>
                <a:lnTo>
                  <a:pt x="1047750" y="47625"/>
                </a:lnTo>
                <a:lnTo>
                  <a:pt x="1003300" y="47625"/>
                </a:lnTo>
                <a:lnTo>
                  <a:pt x="1003300" y="28575"/>
                </a:lnTo>
                <a:lnTo>
                  <a:pt x="1047750" y="28575"/>
                </a:lnTo>
                <a:lnTo>
                  <a:pt x="990600" y="0"/>
                </a:lnTo>
                <a:close/>
              </a:path>
              <a:path w="1066800" h="76200">
                <a:moveTo>
                  <a:pt x="990600" y="28575"/>
                </a:moveTo>
                <a:lnTo>
                  <a:pt x="0" y="28575"/>
                </a:lnTo>
                <a:lnTo>
                  <a:pt x="0" y="47625"/>
                </a:lnTo>
                <a:lnTo>
                  <a:pt x="990600" y="47625"/>
                </a:lnTo>
                <a:lnTo>
                  <a:pt x="990600" y="28575"/>
                </a:lnTo>
                <a:close/>
              </a:path>
              <a:path w="1066800" h="76200">
                <a:moveTo>
                  <a:pt x="1047750" y="28575"/>
                </a:moveTo>
                <a:lnTo>
                  <a:pt x="1003300" y="28575"/>
                </a:lnTo>
                <a:lnTo>
                  <a:pt x="1003300" y="47625"/>
                </a:lnTo>
                <a:lnTo>
                  <a:pt x="1047750" y="47625"/>
                </a:lnTo>
                <a:lnTo>
                  <a:pt x="1066800" y="38100"/>
                </a:lnTo>
                <a:lnTo>
                  <a:pt x="1047750" y="28575"/>
                </a:lnTo>
                <a:close/>
              </a:path>
            </a:pathLst>
          </a:custGeom>
          <a:solidFill>
            <a:srgbClr val="5782F8"/>
          </a:solidFill>
        </p:spPr>
        <p:txBody>
          <a:bodyPr wrap="square" lIns="0" tIns="0" rIns="0" bIns="0" rtlCol="0"/>
          <a:lstStyle/>
          <a:p/>
        </p:txBody>
      </p:sp>
      <p:sp>
        <p:nvSpPr>
          <p:cNvPr id="21" name="object 21" descr=""/>
          <p:cNvSpPr txBox="1"/>
          <p:nvPr/>
        </p:nvSpPr>
        <p:spPr>
          <a:xfrm>
            <a:off x="1977644" y="5033924"/>
            <a:ext cx="1854835" cy="903605"/>
          </a:xfrm>
          <a:prstGeom prst="rect">
            <a:avLst/>
          </a:prstGeom>
        </p:spPr>
        <p:txBody>
          <a:bodyPr wrap="square" lIns="0" tIns="12700" rIns="0" bIns="0" rtlCol="0" vert="horz">
            <a:spAutoFit/>
          </a:bodyPr>
          <a:lstStyle/>
          <a:p>
            <a:pPr marL="12700" marR="5080">
              <a:lnSpc>
                <a:spcPct val="120000"/>
              </a:lnSpc>
              <a:spcBef>
                <a:spcPts val="100"/>
              </a:spcBef>
            </a:pPr>
            <a:r>
              <a:rPr dirty="0" sz="2400">
                <a:solidFill>
                  <a:srgbClr val="40458B"/>
                </a:solidFill>
                <a:latin typeface="黑体"/>
                <a:cs typeface="黑体"/>
              </a:rPr>
              <a:t>检测</a:t>
            </a:r>
            <a:r>
              <a:rPr dirty="0" sz="2400">
                <a:solidFill>
                  <a:srgbClr val="D50092"/>
                </a:solidFill>
                <a:latin typeface="黑体"/>
                <a:cs typeface="黑体"/>
              </a:rPr>
              <a:t>结构</a:t>
            </a:r>
            <a:r>
              <a:rPr dirty="0" sz="2400" spc="-25">
                <a:solidFill>
                  <a:srgbClr val="40458B"/>
                </a:solidFill>
                <a:latin typeface="黑体"/>
                <a:cs typeface="黑体"/>
              </a:rPr>
              <a:t>冲突</a:t>
            </a:r>
            <a:r>
              <a:rPr dirty="0" sz="2400">
                <a:solidFill>
                  <a:srgbClr val="40458B"/>
                </a:solidFill>
                <a:latin typeface="黑体"/>
                <a:cs typeface="黑体"/>
              </a:rPr>
              <a:t>检测</a:t>
            </a:r>
            <a:r>
              <a:rPr dirty="0" sz="2400">
                <a:solidFill>
                  <a:srgbClr val="D50092"/>
                </a:solidFill>
                <a:latin typeface="黑体"/>
                <a:cs typeface="黑体"/>
              </a:rPr>
              <a:t>数据</a:t>
            </a:r>
            <a:r>
              <a:rPr dirty="0" sz="2400" spc="-25">
                <a:solidFill>
                  <a:srgbClr val="40458B"/>
                </a:solidFill>
                <a:latin typeface="黑体"/>
                <a:cs typeface="黑体"/>
              </a:rPr>
              <a:t>冲突</a:t>
            </a:r>
            <a:endParaRPr sz="2400">
              <a:latin typeface="黑体"/>
              <a:cs typeface="黑体"/>
            </a:endParaRPr>
          </a:p>
        </p:txBody>
      </p:sp>
      <p:grpSp>
        <p:nvGrpSpPr>
          <p:cNvPr id="22" name="object 22" descr=""/>
          <p:cNvGrpSpPr/>
          <p:nvPr/>
        </p:nvGrpSpPr>
        <p:grpSpPr>
          <a:xfrm>
            <a:off x="4934013" y="4006913"/>
            <a:ext cx="771525" cy="330200"/>
            <a:chOff x="4934013" y="4006913"/>
            <a:chExt cx="771525" cy="330200"/>
          </a:xfrm>
        </p:grpSpPr>
        <p:sp>
          <p:nvSpPr>
            <p:cNvPr id="23" name="object 23" descr=""/>
            <p:cNvSpPr/>
            <p:nvPr/>
          </p:nvSpPr>
          <p:spPr>
            <a:xfrm>
              <a:off x="4938776" y="4011676"/>
              <a:ext cx="762000" cy="320675"/>
            </a:xfrm>
            <a:custGeom>
              <a:avLst/>
              <a:gdLst/>
              <a:ahLst/>
              <a:cxnLst/>
              <a:rect l="l" t="t" r="r" b="b"/>
              <a:pathLst>
                <a:path w="762000" h="320675">
                  <a:moveTo>
                    <a:pt x="601599" y="0"/>
                  </a:moveTo>
                  <a:lnTo>
                    <a:pt x="601599" y="80137"/>
                  </a:lnTo>
                  <a:lnTo>
                    <a:pt x="0" y="80137"/>
                  </a:lnTo>
                  <a:lnTo>
                    <a:pt x="0" y="240411"/>
                  </a:lnTo>
                  <a:lnTo>
                    <a:pt x="601599" y="240411"/>
                  </a:lnTo>
                  <a:lnTo>
                    <a:pt x="601599" y="320675"/>
                  </a:lnTo>
                  <a:lnTo>
                    <a:pt x="762000" y="160274"/>
                  </a:lnTo>
                  <a:lnTo>
                    <a:pt x="601599" y="0"/>
                  </a:lnTo>
                  <a:close/>
                </a:path>
              </a:pathLst>
            </a:custGeom>
            <a:solidFill>
              <a:srgbClr val="00AFEF"/>
            </a:solidFill>
          </p:spPr>
          <p:txBody>
            <a:bodyPr wrap="square" lIns="0" tIns="0" rIns="0" bIns="0" rtlCol="0"/>
            <a:lstStyle/>
            <a:p/>
          </p:txBody>
        </p:sp>
        <p:sp>
          <p:nvSpPr>
            <p:cNvPr id="24" name="object 24" descr=""/>
            <p:cNvSpPr/>
            <p:nvPr/>
          </p:nvSpPr>
          <p:spPr>
            <a:xfrm>
              <a:off x="4938776" y="4011676"/>
              <a:ext cx="762000" cy="320675"/>
            </a:xfrm>
            <a:custGeom>
              <a:avLst/>
              <a:gdLst/>
              <a:ahLst/>
              <a:cxnLst/>
              <a:rect l="l" t="t" r="r" b="b"/>
              <a:pathLst>
                <a:path w="762000" h="320675">
                  <a:moveTo>
                    <a:pt x="0" y="80137"/>
                  </a:moveTo>
                  <a:lnTo>
                    <a:pt x="601599" y="80137"/>
                  </a:lnTo>
                  <a:lnTo>
                    <a:pt x="601599" y="0"/>
                  </a:lnTo>
                  <a:lnTo>
                    <a:pt x="762000" y="160274"/>
                  </a:lnTo>
                  <a:lnTo>
                    <a:pt x="601599" y="320675"/>
                  </a:lnTo>
                  <a:lnTo>
                    <a:pt x="601599" y="240411"/>
                  </a:lnTo>
                  <a:lnTo>
                    <a:pt x="0" y="240411"/>
                  </a:lnTo>
                  <a:lnTo>
                    <a:pt x="0" y="80137"/>
                  </a:lnTo>
                  <a:close/>
                </a:path>
              </a:pathLst>
            </a:custGeom>
            <a:ln w="9525">
              <a:solidFill>
                <a:srgbClr val="40458B"/>
              </a:solidFill>
            </a:ln>
          </p:spPr>
          <p:txBody>
            <a:bodyPr wrap="square" lIns="0" tIns="0" rIns="0" bIns="0" rtlCol="0"/>
            <a:lstStyle/>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20/175</a:t>
            </a:r>
            <a:endParaRPr sz="1600">
              <a:latin typeface="宋体"/>
              <a:cs typeface="宋体"/>
            </a:endParaRPr>
          </a:p>
        </p:txBody>
      </p:sp>
      <p:sp>
        <p:nvSpPr>
          <p:cNvPr id="3" name="object 3" descr=""/>
          <p:cNvSpPr/>
          <p:nvPr/>
        </p:nvSpPr>
        <p:spPr>
          <a:xfrm>
            <a:off x="990600" y="692150"/>
            <a:ext cx="6426200" cy="0"/>
          </a:xfrm>
          <a:custGeom>
            <a:avLst/>
            <a:gdLst/>
            <a:ahLst/>
            <a:cxnLst/>
            <a:rect l="l" t="t" r="r" b="b"/>
            <a:pathLst>
              <a:path w="6426200" h="0">
                <a:moveTo>
                  <a:pt x="0" y="0"/>
                </a:moveTo>
                <a:lnTo>
                  <a:pt x="6425946" y="0"/>
                </a:lnTo>
              </a:path>
            </a:pathLst>
          </a:custGeom>
          <a:ln w="38100">
            <a:solidFill>
              <a:srgbClr val="2C44A3"/>
            </a:solidFill>
          </a:ln>
        </p:spPr>
        <p:txBody>
          <a:bodyPr wrap="square" lIns="0" tIns="0" rIns="0" bIns="0" rtlCol="0"/>
          <a:lstStyle/>
          <a:p/>
        </p:txBody>
      </p:sp>
      <p:sp>
        <p:nvSpPr>
          <p:cNvPr id="4" name="object 4" descr=""/>
          <p:cNvSpPr/>
          <p:nvPr/>
        </p:nvSpPr>
        <p:spPr>
          <a:xfrm>
            <a:off x="8254720" y="692150"/>
            <a:ext cx="584835" cy="0"/>
          </a:xfrm>
          <a:custGeom>
            <a:avLst/>
            <a:gdLst/>
            <a:ahLst/>
            <a:cxnLst/>
            <a:rect l="l" t="t" r="r" b="b"/>
            <a:pathLst>
              <a:path w="584834" h="0">
                <a:moveTo>
                  <a:pt x="0" y="0"/>
                </a:moveTo>
                <a:lnTo>
                  <a:pt x="584479" y="0"/>
                </a:lnTo>
              </a:path>
            </a:pathLst>
          </a:custGeom>
          <a:ln w="38100">
            <a:solidFill>
              <a:srgbClr val="2C44A3"/>
            </a:solidFill>
          </a:ln>
        </p:spPr>
        <p:txBody>
          <a:bodyPr wrap="square" lIns="0" tIns="0" rIns="0" bIns="0" rtlCol="0"/>
          <a:lstStyle/>
          <a:p/>
        </p:txBody>
      </p:sp>
      <p:sp>
        <p:nvSpPr>
          <p:cNvPr id="5" name="object 5" descr=""/>
          <p:cNvSpPr/>
          <p:nvPr/>
        </p:nvSpPr>
        <p:spPr>
          <a:xfrm>
            <a:off x="9677374" y="692150"/>
            <a:ext cx="2515235" cy="0"/>
          </a:xfrm>
          <a:custGeom>
            <a:avLst/>
            <a:gdLst/>
            <a:ahLst/>
            <a:cxnLst/>
            <a:rect l="l" t="t" r="r" b="b"/>
            <a:pathLst>
              <a:path w="2515234" h="0">
                <a:moveTo>
                  <a:pt x="0" y="0"/>
                </a:moveTo>
                <a:lnTo>
                  <a:pt x="2514625" y="0"/>
                </a:lnTo>
              </a:path>
            </a:pathLst>
          </a:custGeom>
          <a:ln w="38100">
            <a:solidFill>
              <a:srgbClr val="2C44A3"/>
            </a:solidFill>
          </a:ln>
        </p:spPr>
        <p:txBody>
          <a:bodyPr wrap="square" lIns="0" tIns="0" rIns="0" bIns="0" rtlCol="0"/>
          <a:lstStyle/>
          <a:p/>
        </p:txBody>
      </p:sp>
      <p:grpSp>
        <p:nvGrpSpPr>
          <p:cNvPr id="6" name="object 6" descr=""/>
          <p:cNvGrpSpPr/>
          <p:nvPr/>
        </p:nvGrpSpPr>
        <p:grpSpPr>
          <a:xfrm>
            <a:off x="68262" y="311150"/>
            <a:ext cx="1076325" cy="274955"/>
            <a:chOff x="68262" y="311150"/>
            <a:chExt cx="1076325" cy="274955"/>
          </a:xfrm>
        </p:grpSpPr>
        <p:sp>
          <p:nvSpPr>
            <p:cNvPr id="7" name="object 7"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8" name="object 8"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9" name="object 9"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10" name="object 10"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11" name="object 11"/>
          <p:cNvSpPr txBox="1">
            <a:spLocks noGrp="1"/>
          </p:cNvSpPr>
          <p:nvPr>
            <p:ph type="title"/>
          </p:nvPr>
        </p:nvSpPr>
        <p:spPr>
          <a:xfrm>
            <a:off x="1205890" y="107695"/>
            <a:ext cx="3684904"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2" name="object 12" descr=""/>
          <p:cNvSpPr txBox="1"/>
          <p:nvPr/>
        </p:nvSpPr>
        <p:spPr>
          <a:xfrm>
            <a:off x="180238" y="591078"/>
            <a:ext cx="4116704" cy="911225"/>
          </a:xfrm>
          <a:prstGeom prst="rect">
            <a:avLst/>
          </a:prstGeom>
        </p:spPr>
        <p:txBody>
          <a:bodyPr wrap="square" lIns="0" tIns="62229" rIns="0" bIns="0" rtlCol="0" vert="horz">
            <a:spAutoFit/>
          </a:bodyPr>
          <a:lstStyle/>
          <a:p>
            <a:pPr marL="469265" indent="-456565">
              <a:lnSpc>
                <a:spcPct val="100000"/>
              </a:lnSpc>
              <a:spcBef>
                <a:spcPts val="489"/>
              </a:spcBef>
              <a:buClr>
                <a:srgbClr val="40458B"/>
              </a:buClr>
              <a:buAutoNum type="arabicPeriod" startAt="3"/>
              <a:tabLst>
                <a:tab pos="469265" algn="l"/>
              </a:tabLst>
            </a:pPr>
            <a:r>
              <a:rPr dirty="0" sz="2800" spc="-40">
                <a:solidFill>
                  <a:srgbClr val="FF5CFF"/>
                </a:solidFill>
                <a:latin typeface="黑体"/>
                <a:cs typeface="黑体"/>
              </a:rPr>
              <a:t>动态调度的核心思想</a:t>
            </a:r>
            <a:endParaRPr sz="2800">
              <a:latin typeface="黑体"/>
              <a:cs typeface="黑体"/>
            </a:endParaRPr>
          </a:p>
          <a:p>
            <a:pPr lvl="1" marL="733425" indent="-457200">
              <a:lnSpc>
                <a:spcPct val="100000"/>
              </a:lnSpc>
              <a:spcBef>
                <a:spcPts val="340"/>
              </a:spcBef>
              <a:buSzPct val="89583"/>
              <a:buFont typeface="Wingdings"/>
              <a:buChar char=""/>
              <a:tabLst>
                <a:tab pos="733425" algn="l"/>
              </a:tabLst>
            </a:pPr>
            <a:r>
              <a:rPr dirty="0" sz="2400" spc="-10">
                <a:solidFill>
                  <a:srgbClr val="40458B"/>
                </a:solidFill>
                <a:latin typeface="黑体"/>
                <a:cs typeface="黑体"/>
              </a:rPr>
              <a:t>将</a:t>
            </a:r>
            <a:r>
              <a:rPr dirty="0" sz="2400">
                <a:solidFill>
                  <a:srgbClr val="40458B"/>
                </a:solidFill>
                <a:latin typeface="Tahoma"/>
                <a:cs typeface="Tahoma"/>
              </a:rPr>
              <a:t>ID</a:t>
            </a:r>
            <a:r>
              <a:rPr dirty="0" sz="2400" spc="-15">
                <a:solidFill>
                  <a:srgbClr val="40458B"/>
                </a:solidFill>
                <a:latin typeface="黑体"/>
                <a:cs typeface="黑体"/>
              </a:rPr>
              <a:t>阶段拆分为两个阶段</a:t>
            </a:r>
            <a:endParaRPr sz="2400">
              <a:latin typeface="黑体"/>
              <a:cs typeface="黑体"/>
            </a:endParaRPr>
          </a:p>
        </p:txBody>
      </p:sp>
      <p:sp>
        <p:nvSpPr>
          <p:cNvPr id="13" name="object 13" descr=""/>
          <p:cNvSpPr txBox="1"/>
          <p:nvPr/>
        </p:nvSpPr>
        <p:spPr>
          <a:xfrm>
            <a:off x="875487" y="1631950"/>
            <a:ext cx="2795270" cy="299720"/>
          </a:xfrm>
          <a:prstGeom prst="rect">
            <a:avLst/>
          </a:prstGeom>
        </p:spPr>
        <p:txBody>
          <a:bodyPr wrap="square" lIns="0" tIns="12700" rIns="0" bIns="0" rtlCol="0" vert="horz">
            <a:spAutoFit/>
          </a:bodyPr>
          <a:lstStyle/>
          <a:p>
            <a:pPr marL="469265" indent="-456565">
              <a:lnSpc>
                <a:spcPct val="100000"/>
              </a:lnSpc>
              <a:spcBef>
                <a:spcPts val="100"/>
              </a:spcBef>
              <a:buClr>
                <a:srgbClr val="9966FF"/>
              </a:buClr>
              <a:buSzPct val="63888"/>
              <a:buFont typeface="Wingdings"/>
              <a:buChar char=""/>
              <a:tabLst>
                <a:tab pos="469265" algn="l"/>
              </a:tabLst>
            </a:pPr>
            <a:r>
              <a:rPr dirty="0" sz="1800" spc="-10" b="1">
                <a:solidFill>
                  <a:srgbClr val="FF09FF"/>
                </a:solidFill>
                <a:latin typeface="黑体"/>
                <a:cs typeface="黑体"/>
              </a:rPr>
              <a:t>In-</a:t>
            </a:r>
            <a:r>
              <a:rPr dirty="0" sz="1800" b="1">
                <a:solidFill>
                  <a:srgbClr val="FF09FF"/>
                </a:solidFill>
                <a:latin typeface="黑体"/>
                <a:cs typeface="黑体"/>
              </a:rPr>
              <a:t>order</a:t>
            </a:r>
            <a:r>
              <a:rPr dirty="0" sz="1800" spc="-30" b="1">
                <a:solidFill>
                  <a:srgbClr val="FF09FF"/>
                </a:solidFill>
                <a:latin typeface="黑体"/>
                <a:cs typeface="黑体"/>
              </a:rPr>
              <a:t> </a:t>
            </a:r>
            <a:r>
              <a:rPr dirty="0" sz="1800" spc="-10" b="1">
                <a:solidFill>
                  <a:srgbClr val="FF09FF"/>
                </a:solidFill>
                <a:latin typeface="黑体"/>
                <a:cs typeface="黑体"/>
              </a:rPr>
              <a:t>Issue</a:t>
            </a:r>
            <a:r>
              <a:rPr dirty="0" sz="1800" spc="-10" b="1">
                <a:solidFill>
                  <a:srgbClr val="FF09FF"/>
                </a:solidFill>
                <a:latin typeface="宋体"/>
                <a:cs typeface="宋体"/>
              </a:rPr>
              <a:t>，</a:t>
            </a:r>
            <a:r>
              <a:rPr dirty="0" sz="1800" spc="-10" b="1">
                <a:solidFill>
                  <a:srgbClr val="FF09FF"/>
                </a:solidFill>
                <a:latin typeface="黑体"/>
                <a:cs typeface="黑体"/>
              </a:rPr>
              <a:t>IS</a:t>
            </a:r>
            <a:r>
              <a:rPr dirty="0" sz="1800" spc="-10" b="1">
                <a:solidFill>
                  <a:srgbClr val="FF09FF"/>
                </a:solidFill>
                <a:latin typeface="宋体"/>
                <a:cs typeface="宋体"/>
              </a:rPr>
              <a:t>：</a:t>
            </a:r>
            <a:endParaRPr sz="1800">
              <a:latin typeface="宋体"/>
              <a:cs typeface="宋体"/>
            </a:endParaRPr>
          </a:p>
        </p:txBody>
      </p:sp>
      <p:sp>
        <p:nvSpPr>
          <p:cNvPr id="14" name="object 14" descr=""/>
          <p:cNvSpPr txBox="1"/>
          <p:nvPr/>
        </p:nvSpPr>
        <p:spPr>
          <a:xfrm>
            <a:off x="875487" y="2080005"/>
            <a:ext cx="10937240" cy="4173220"/>
          </a:xfrm>
          <a:prstGeom prst="rect">
            <a:avLst/>
          </a:prstGeom>
        </p:spPr>
        <p:txBody>
          <a:bodyPr wrap="square" lIns="0" tIns="12700" rIns="0" bIns="0" rtlCol="0" vert="horz">
            <a:spAutoFit/>
          </a:bodyPr>
          <a:lstStyle/>
          <a:p>
            <a:pPr marL="792480" indent="-457200">
              <a:lnSpc>
                <a:spcPct val="100000"/>
              </a:lnSpc>
              <a:spcBef>
                <a:spcPts val="100"/>
              </a:spcBef>
              <a:buClr>
                <a:srgbClr val="4668F5"/>
              </a:buClr>
              <a:buSzPct val="63888"/>
              <a:buFont typeface="Wingdings"/>
              <a:buChar char=""/>
              <a:tabLst>
                <a:tab pos="792480" algn="l"/>
              </a:tabLst>
            </a:pPr>
            <a:r>
              <a:rPr dirty="0" sz="1800" spc="-10" b="1">
                <a:solidFill>
                  <a:srgbClr val="FF0000"/>
                </a:solidFill>
                <a:latin typeface="宋体"/>
                <a:cs typeface="宋体"/>
              </a:rPr>
              <a:t>对应之前的</a:t>
            </a:r>
            <a:r>
              <a:rPr dirty="0" sz="1800" spc="-10" b="1">
                <a:solidFill>
                  <a:srgbClr val="FF0000"/>
                </a:solidFill>
                <a:latin typeface="黑体"/>
                <a:cs typeface="黑体"/>
              </a:rPr>
              <a:t>ID</a:t>
            </a:r>
            <a:r>
              <a:rPr dirty="0" sz="1800" spc="-10" b="1">
                <a:solidFill>
                  <a:srgbClr val="FF0000"/>
                </a:solidFill>
                <a:latin typeface="宋体"/>
                <a:cs typeface="宋体"/>
              </a:rPr>
              <a:t>阶段</a:t>
            </a:r>
            <a:r>
              <a:rPr dirty="0" sz="1800" spc="-10" b="1">
                <a:solidFill>
                  <a:srgbClr val="40458B"/>
                </a:solidFill>
                <a:latin typeface="宋体"/>
                <a:cs typeface="宋体"/>
              </a:rPr>
              <a:t>，但精简操作，</a:t>
            </a:r>
            <a:r>
              <a:rPr dirty="0" sz="1800" spc="-10" b="1">
                <a:solidFill>
                  <a:srgbClr val="FF0000"/>
                </a:solidFill>
                <a:latin typeface="宋体"/>
                <a:cs typeface="宋体"/>
              </a:rPr>
              <a:t>只做最必要的事</a:t>
            </a:r>
            <a:r>
              <a:rPr dirty="0" sz="1800" spc="-15" b="1">
                <a:solidFill>
                  <a:srgbClr val="40458B"/>
                </a:solidFill>
                <a:latin typeface="宋体"/>
                <a:cs typeface="宋体"/>
              </a:rPr>
              <a:t>：如指令译码、资源冲突检测。</a:t>
            </a:r>
            <a:endParaRPr sz="1800">
              <a:latin typeface="宋体"/>
              <a:cs typeface="宋体"/>
            </a:endParaRPr>
          </a:p>
          <a:p>
            <a:pPr marL="792480" marR="10160" indent="-457834">
              <a:lnSpc>
                <a:spcPct val="144000"/>
              </a:lnSpc>
              <a:spcBef>
                <a:spcPts val="415"/>
              </a:spcBef>
              <a:buClr>
                <a:srgbClr val="4668F5"/>
              </a:buClr>
              <a:buSzPct val="63888"/>
              <a:buFont typeface="Wingdings"/>
              <a:buChar char=""/>
              <a:tabLst>
                <a:tab pos="792480" algn="l"/>
              </a:tabLst>
            </a:pPr>
            <a:r>
              <a:rPr dirty="0" sz="1800" spc="-10" b="1">
                <a:solidFill>
                  <a:srgbClr val="40458B"/>
                </a:solidFill>
                <a:latin typeface="宋体"/>
                <a:cs typeface="宋体"/>
              </a:rPr>
              <a:t>这一阶段仍是</a:t>
            </a:r>
            <a:r>
              <a:rPr dirty="0" sz="1800" spc="-10" b="1">
                <a:solidFill>
                  <a:srgbClr val="9966FF"/>
                </a:solidFill>
                <a:latin typeface="宋体"/>
                <a:cs typeface="宋体"/>
              </a:rPr>
              <a:t>按序执行</a:t>
            </a:r>
            <a:r>
              <a:rPr dirty="0" sz="1800" spc="-10" b="1">
                <a:solidFill>
                  <a:srgbClr val="40458B"/>
                </a:solidFill>
                <a:latin typeface="宋体"/>
                <a:cs typeface="宋体"/>
              </a:rPr>
              <a:t>的，并且，在这一阶段停顿的指令，同样会阻塞后面的所有指令（</a:t>
            </a:r>
            <a:r>
              <a:rPr dirty="0" sz="1800" spc="-20" b="1">
                <a:solidFill>
                  <a:srgbClr val="40458B"/>
                </a:solidFill>
                <a:latin typeface="宋体"/>
                <a:cs typeface="宋体"/>
              </a:rPr>
              <a:t>比如因为资</a:t>
            </a:r>
            <a:r>
              <a:rPr dirty="0" sz="1800" spc="-10" b="1">
                <a:solidFill>
                  <a:srgbClr val="40458B"/>
                </a:solidFill>
                <a:latin typeface="宋体"/>
                <a:cs typeface="宋体"/>
              </a:rPr>
              <a:t>源冲突而未能发射的指令阻塞了后面所有的指令）</a:t>
            </a:r>
            <a:r>
              <a:rPr dirty="0" sz="1800" spc="-50" b="1">
                <a:solidFill>
                  <a:srgbClr val="40458B"/>
                </a:solidFill>
                <a:latin typeface="宋体"/>
                <a:cs typeface="宋体"/>
              </a:rPr>
              <a:t>。</a:t>
            </a:r>
            <a:endParaRPr sz="1800">
              <a:latin typeface="宋体"/>
              <a:cs typeface="宋体"/>
            </a:endParaRPr>
          </a:p>
          <a:p>
            <a:pPr marL="792480" indent="-457200">
              <a:lnSpc>
                <a:spcPct val="100000"/>
              </a:lnSpc>
              <a:spcBef>
                <a:spcPts val="1370"/>
              </a:spcBef>
              <a:buClr>
                <a:srgbClr val="4668F5"/>
              </a:buClr>
              <a:buSzPct val="63888"/>
              <a:buFont typeface="Wingdings"/>
              <a:buChar char=""/>
              <a:tabLst>
                <a:tab pos="792480" algn="l"/>
              </a:tabLst>
            </a:pPr>
            <a:r>
              <a:rPr dirty="0" sz="1800" spc="-15" b="1">
                <a:solidFill>
                  <a:srgbClr val="40458B"/>
                </a:solidFill>
                <a:latin typeface="宋体"/>
                <a:cs typeface="宋体"/>
              </a:rPr>
              <a:t>但这一阶段不再检测所有数据冲突，因此不管就绪还是非就绪的指令，都有机会发射出去。</a:t>
            </a:r>
            <a:endParaRPr sz="1800">
              <a:latin typeface="宋体"/>
              <a:cs typeface="宋体"/>
            </a:endParaRPr>
          </a:p>
          <a:p>
            <a:pPr marL="469265" indent="-456565">
              <a:lnSpc>
                <a:spcPct val="100000"/>
              </a:lnSpc>
              <a:spcBef>
                <a:spcPts val="1365"/>
              </a:spcBef>
              <a:buClr>
                <a:srgbClr val="9966FF"/>
              </a:buClr>
              <a:buSzPct val="63888"/>
              <a:buFont typeface="Wingdings"/>
              <a:buChar char=""/>
              <a:tabLst>
                <a:tab pos="469265" algn="l"/>
              </a:tabLst>
            </a:pPr>
            <a:r>
              <a:rPr dirty="0" sz="1800" b="1">
                <a:solidFill>
                  <a:srgbClr val="FF09FF"/>
                </a:solidFill>
                <a:latin typeface="黑体"/>
                <a:cs typeface="黑体"/>
              </a:rPr>
              <a:t>Read</a:t>
            </a:r>
            <a:r>
              <a:rPr dirty="0" sz="1800" spc="-30" b="1">
                <a:solidFill>
                  <a:srgbClr val="FF09FF"/>
                </a:solidFill>
                <a:latin typeface="黑体"/>
                <a:cs typeface="黑体"/>
              </a:rPr>
              <a:t> </a:t>
            </a:r>
            <a:r>
              <a:rPr dirty="0" sz="1800" spc="-10" b="1">
                <a:solidFill>
                  <a:srgbClr val="FF09FF"/>
                </a:solidFill>
                <a:latin typeface="黑体"/>
                <a:cs typeface="黑体"/>
              </a:rPr>
              <a:t>operands</a:t>
            </a:r>
            <a:r>
              <a:rPr dirty="0" sz="1800" spc="-10" b="1">
                <a:solidFill>
                  <a:srgbClr val="FF09FF"/>
                </a:solidFill>
                <a:latin typeface="宋体"/>
                <a:cs typeface="宋体"/>
              </a:rPr>
              <a:t>，</a:t>
            </a:r>
            <a:r>
              <a:rPr dirty="0" sz="1800" spc="-10" b="1">
                <a:solidFill>
                  <a:srgbClr val="FF09FF"/>
                </a:solidFill>
                <a:latin typeface="黑体"/>
                <a:cs typeface="黑体"/>
              </a:rPr>
              <a:t>RO</a:t>
            </a:r>
            <a:r>
              <a:rPr dirty="0" sz="1800" spc="-10" b="1">
                <a:solidFill>
                  <a:srgbClr val="FF09FF"/>
                </a:solidFill>
                <a:latin typeface="宋体"/>
                <a:cs typeface="宋体"/>
              </a:rPr>
              <a:t>：</a:t>
            </a:r>
            <a:endParaRPr sz="1800">
              <a:latin typeface="宋体"/>
              <a:cs typeface="宋体"/>
            </a:endParaRPr>
          </a:p>
          <a:p>
            <a:pPr marL="469265" indent="-456565">
              <a:lnSpc>
                <a:spcPct val="100000"/>
              </a:lnSpc>
              <a:spcBef>
                <a:spcPts val="1385"/>
              </a:spcBef>
              <a:buClr>
                <a:srgbClr val="9966FF"/>
              </a:buClr>
              <a:buSzPct val="63888"/>
              <a:buFont typeface="Wingdings"/>
              <a:buChar char=""/>
              <a:tabLst>
                <a:tab pos="469265" algn="l"/>
              </a:tabLst>
            </a:pPr>
            <a:r>
              <a:rPr dirty="0" sz="1800" spc="-10" b="1">
                <a:solidFill>
                  <a:srgbClr val="FF0000"/>
                </a:solidFill>
                <a:latin typeface="宋体"/>
                <a:cs typeface="宋体"/>
              </a:rPr>
              <a:t>若有数据冲突，等待数据冲突消除，然后读取操作数</a:t>
            </a:r>
            <a:r>
              <a:rPr dirty="0" sz="1800" spc="-50" b="1">
                <a:solidFill>
                  <a:srgbClr val="FF09FF"/>
                </a:solidFill>
                <a:latin typeface="宋体"/>
                <a:cs typeface="宋体"/>
              </a:rPr>
              <a:t>。</a:t>
            </a:r>
            <a:endParaRPr sz="1800">
              <a:latin typeface="宋体"/>
              <a:cs typeface="宋体"/>
            </a:endParaRPr>
          </a:p>
          <a:p>
            <a:pPr lvl="1" marL="792480" marR="10160" indent="-457834">
              <a:lnSpc>
                <a:spcPct val="143300"/>
              </a:lnSpc>
              <a:spcBef>
                <a:spcPts val="430"/>
              </a:spcBef>
              <a:buClr>
                <a:srgbClr val="4668F5"/>
              </a:buClr>
              <a:buSzPct val="63888"/>
              <a:buFont typeface="Wingdings"/>
              <a:buChar char=""/>
              <a:tabLst>
                <a:tab pos="792480" algn="l"/>
              </a:tabLst>
            </a:pPr>
            <a:r>
              <a:rPr dirty="0" sz="1800" spc="-15" b="1">
                <a:solidFill>
                  <a:srgbClr val="40458B"/>
                </a:solidFill>
                <a:latin typeface="宋体"/>
                <a:cs typeface="宋体"/>
              </a:rPr>
              <a:t>这一阶段检测数据冲突，也是乱序执行实际发生的位置：非就绪指令会停顿在这一阶段，就绪指令会</a:t>
            </a:r>
            <a:r>
              <a:rPr dirty="0" sz="1800" spc="-20" b="1">
                <a:solidFill>
                  <a:srgbClr val="40458B"/>
                </a:solidFill>
                <a:latin typeface="宋体"/>
                <a:cs typeface="宋体"/>
              </a:rPr>
              <a:t>直接投入运行</a:t>
            </a:r>
            <a:endParaRPr sz="1800">
              <a:latin typeface="宋体"/>
              <a:cs typeface="宋体"/>
            </a:endParaRPr>
          </a:p>
          <a:p>
            <a:pPr lvl="1" marL="792480" marR="5080" indent="-457834">
              <a:lnSpc>
                <a:spcPct val="143300"/>
              </a:lnSpc>
              <a:spcBef>
                <a:spcPts val="450"/>
              </a:spcBef>
              <a:buClr>
                <a:srgbClr val="4668F5"/>
              </a:buClr>
              <a:buSzPct val="63888"/>
              <a:buFont typeface="Wingdings"/>
              <a:buChar char=""/>
              <a:tabLst>
                <a:tab pos="792480" algn="l"/>
              </a:tabLst>
            </a:pPr>
            <a:r>
              <a:rPr dirty="0" sz="1800" spc="-10" b="1">
                <a:solidFill>
                  <a:srgbClr val="40458B"/>
                </a:solidFill>
                <a:latin typeface="宋体"/>
                <a:cs typeface="宋体"/>
              </a:rPr>
              <a:t>即使当前指令</a:t>
            </a:r>
            <a:r>
              <a:rPr dirty="0" sz="1800" spc="-10" b="1">
                <a:solidFill>
                  <a:srgbClr val="40458B"/>
                </a:solidFill>
                <a:latin typeface="黑体"/>
                <a:cs typeface="黑体"/>
              </a:rPr>
              <a:t>RO</a:t>
            </a:r>
            <a:r>
              <a:rPr dirty="0" sz="1800" spc="-10" b="1">
                <a:solidFill>
                  <a:srgbClr val="40458B"/>
                </a:solidFill>
                <a:latin typeface="宋体"/>
                <a:cs typeface="宋体"/>
              </a:rPr>
              <a:t>段有数据冲突，后续指令</a:t>
            </a:r>
            <a:r>
              <a:rPr dirty="0" sz="1800" spc="-10" b="1">
                <a:solidFill>
                  <a:srgbClr val="40458B"/>
                </a:solidFill>
                <a:latin typeface="黑体"/>
                <a:cs typeface="黑体"/>
              </a:rPr>
              <a:t>IS</a:t>
            </a:r>
            <a:r>
              <a:rPr dirty="0" sz="1800" spc="-10" b="1">
                <a:solidFill>
                  <a:srgbClr val="40458B"/>
                </a:solidFill>
                <a:latin typeface="宋体"/>
                <a:cs typeface="宋体"/>
              </a:rPr>
              <a:t>段仍是按序流出，但</a:t>
            </a:r>
            <a:r>
              <a:rPr dirty="0" sz="1800" spc="-10" b="1">
                <a:solidFill>
                  <a:srgbClr val="40458B"/>
                </a:solidFill>
                <a:latin typeface="黑体"/>
                <a:cs typeface="黑体"/>
              </a:rPr>
              <a:t>RO</a:t>
            </a:r>
            <a:r>
              <a:rPr dirty="0" sz="1800" spc="-10" b="1">
                <a:solidFill>
                  <a:srgbClr val="40458B"/>
                </a:solidFill>
                <a:latin typeface="宋体"/>
                <a:cs typeface="宋体"/>
              </a:rPr>
              <a:t>段或许产生停顿（如相关原因）</a:t>
            </a:r>
            <a:r>
              <a:rPr dirty="0" sz="1800" spc="-50" b="1">
                <a:solidFill>
                  <a:srgbClr val="40458B"/>
                </a:solidFill>
                <a:latin typeface="宋体"/>
                <a:cs typeface="宋体"/>
              </a:rPr>
              <a:t>或</a:t>
            </a:r>
            <a:r>
              <a:rPr dirty="0" sz="1800" spc="-15" b="1">
                <a:solidFill>
                  <a:srgbClr val="40458B"/>
                </a:solidFill>
                <a:latin typeface="宋体"/>
                <a:cs typeface="宋体"/>
              </a:rPr>
              <a:t>跨越，因此进入执行阶段可能已乱序了</a:t>
            </a:r>
            <a:endParaRPr sz="1800">
              <a:latin typeface="宋体"/>
              <a:cs typeface="宋体"/>
            </a:endParaRPr>
          </a:p>
        </p:txBody>
      </p:sp>
      <p:sp>
        <p:nvSpPr>
          <p:cNvPr id="15" name="object 15" descr=""/>
          <p:cNvSpPr txBox="1"/>
          <p:nvPr/>
        </p:nvSpPr>
        <p:spPr>
          <a:xfrm>
            <a:off x="7416545" y="450862"/>
            <a:ext cx="838200" cy="998219"/>
          </a:xfrm>
          <a:prstGeom prst="rect">
            <a:avLst/>
          </a:prstGeom>
          <a:solidFill>
            <a:srgbClr val="EBD782"/>
          </a:solidFill>
          <a:ln w="9525">
            <a:solidFill>
              <a:srgbClr val="40458B"/>
            </a:solidFill>
          </a:ln>
        </p:spPr>
        <p:txBody>
          <a:bodyPr wrap="square" lIns="0" tIns="262890" rIns="0" bIns="0" rtlCol="0" vert="horz">
            <a:spAutoFit/>
          </a:bodyPr>
          <a:lstStyle/>
          <a:p>
            <a:pPr marL="205740">
              <a:lnSpc>
                <a:spcPct val="100000"/>
              </a:lnSpc>
              <a:spcBef>
                <a:spcPts val="2070"/>
              </a:spcBef>
            </a:pPr>
            <a:r>
              <a:rPr dirty="0" sz="2600" spc="-25">
                <a:latin typeface="黑体"/>
                <a:cs typeface="黑体"/>
              </a:rPr>
              <a:t>IS</a:t>
            </a:r>
            <a:endParaRPr sz="2600">
              <a:latin typeface="黑体"/>
              <a:cs typeface="黑体"/>
            </a:endParaRPr>
          </a:p>
        </p:txBody>
      </p:sp>
      <p:sp>
        <p:nvSpPr>
          <p:cNvPr id="16" name="object 16" descr=""/>
          <p:cNvSpPr/>
          <p:nvPr/>
        </p:nvSpPr>
        <p:spPr>
          <a:xfrm>
            <a:off x="6311900" y="956310"/>
            <a:ext cx="1066800" cy="76200"/>
          </a:xfrm>
          <a:custGeom>
            <a:avLst/>
            <a:gdLst/>
            <a:ahLst/>
            <a:cxnLst/>
            <a:rect l="l" t="t" r="r" b="b"/>
            <a:pathLst>
              <a:path w="1066800" h="76200">
                <a:moveTo>
                  <a:pt x="990600" y="0"/>
                </a:moveTo>
                <a:lnTo>
                  <a:pt x="990600" y="76200"/>
                </a:lnTo>
                <a:lnTo>
                  <a:pt x="1047750" y="47625"/>
                </a:lnTo>
                <a:lnTo>
                  <a:pt x="1003300" y="47625"/>
                </a:lnTo>
                <a:lnTo>
                  <a:pt x="1003300" y="28575"/>
                </a:lnTo>
                <a:lnTo>
                  <a:pt x="1047750" y="28575"/>
                </a:lnTo>
                <a:lnTo>
                  <a:pt x="990600" y="0"/>
                </a:lnTo>
                <a:close/>
              </a:path>
              <a:path w="1066800" h="76200">
                <a:moveTo>
                  <a:pt x="990600" y="28575"/>
                </a:moveTo>
                <a:lnTo>
                  <a:pt x="0" y="28575"/>
                </a:lnTo>
                <a:lnTo>
                  <a:pt x="0" y="47625"/>
                </a:lnTo>
                <a:lnTo>
                  <a:pt x="990600" y="47625"/>
                </a:lnTo>
                <a:lnTo>
                  <a:pt x="990600" y="28575"/>
                </a:lnTo>
                <a:close/>
              </a:path>
              <a:path w="1066800" h="76200">
                <a:moveTo>
                  <a:pt x="1047750" y="28575"/>
                </a:moveTo>
                <a:lnTo>
                  <a:pt x="1003300" y="28575"/>
                </a:lnTo>
                <a:lnTo>
                  <a:pt x="1003300" y="47625"/>
                </a:lnTo>
                <a:lnTo>
                  <a:pt x="1047750" y="47625"/>
                </a:lnTo>
                <a:lnTo>
                  <a:pt x="1066800" y="38100"/>
                </a:lnTo>
                <a:lnTo>
                  <a:pt x="1047750" y="28575"/>
                </a:lnTo>
                <a:close/>
              </a:path>
            </a:pathLst>
          </a:custGeom>
          <a:solidFill>
            <a:srgbClr val="5782F8"/>
          </a:solidFill>
        </p:spPr>
        <p:txBody>
          <a:bodyPr wrap="square" lIns="0" tIns="0" rIns="0" bIns="0" rtlCol="0"/>
          <a:lstStyle/>
          <a:p/>
        </p:txBody>
      </p:sp>
      <p:sp>
        <p:nvSpPr>
          <p:cNvPr id="17" name="object 17" descr=""/>
          <p:cNvSpPr/>
          <p:nvPr/>
        </p:nvSpPr>
        <p:spPr>
          <a:xfrm>
            <a:off x="9677400" y="916813"/>
            <a:ext cx="1066800" cy="76200"/>
          </a:xfrm>
          <a:custGeom>
            <a:avLst/>
            <a:gdLst/>
            <a:ahLst/>
            <a:cxnLst/>
            <a:rect l="l" t="t" r="r" b="b"/>
            <a:pathLst>
              <a:path w="1066800" h="76200">
                <a:moveTo>
                  <a:pt x="990600" y="0"/>
                </a:moveTo>
                <a:lnTo>
                  <a:pt x="990600" y="76200"/>
                </a:lnTo>
                <a:lnTo>
                  <a:pt x="1047750" y="47625"/>
                </a:lnTo>
                <a:lnTo>
                  <a:pt x="1003300" y="47625"/>
                </a:lnTo>
                <a:lnTo>
                  <a:pt x="1003300" y="28575"/>
                </a:lnTo>
                <a:lnTo>
                  <a:pt x="1047750" y="28575"/>
                </a:lnTo>
                <a:lnTo>
                  <a:pt x="990600" y="0"/>
                </a:lnTo>
                <a:close/>
              </a:path>
              <a:path w="1066800" h="76200">
                <a:moveTo>
                  <a:pt x="990600" y="28575"/>
                </a:moveTo>
                <a:lnTo>
                  <a:pt x="0" y="28575"/>
                </a:lnTo>
                <a:lnTo>
                  <a:pt x="0" y="47625"/>
                </a:lnTo>
                <a:lnTo>
                  <a:pt x="990600" y="47625"/>
                </a:lnTo>
                <a:lnTo>
                  <a:pt x="990600" y="28575"/>
                </a:lnTo>
                <a:close/>
              </a:path>
              <a:path w="1066800" h="76200">
                <a:moveTo>
                  <a:pt x="1047750" y="28575"/>
                </a:moveTo>
                <a:lnTo>
                  <a:pt x="1003300" y="28575"/>
                </a:lnTo>
                <a:lnTo>
                  <a:pt x="1003300" y="47625"/>
                </a:lnTo>
                <a:lnTo>
                  <a:pt x="1047750" y="47625"/>
                </a:lnTo>
                <a:lnTo>
                  <a:pt x="1066800" y="38100"/>
                </a:lnTo>
                <a:lnTo>
                  <a:pt x="1047750" y="28575"/>
                </a:lnTo>
                <a:close/>
              </a:path>
            </a:pathLst>
          </a:custGeom>
          <a:solidFill>
            <a:srgbClr val="5782F8"/>
          </a:solidFill>
        </p:spPr>
        <p:txBody>
          <a:bodyPr wrap="square" lIns="0" tIns="0" rIns="0" bIns="0" rtlCol="0"/>
          <a:lstStyle/>
          <a:p/>
        </p:txBody>
      </p:sp>
      <p:sp>
        <p:nvSpPr>
          <p:cNvPr id="18" name="object 18" descr=""/>
          <p:cNvSpPr/>
          <p:nvPr/>
        </p:nvSpPr>
        <p:spPr>
          <a:xfrm>
            <a:off x="8268207" y="944880"/>
            <a:ext cx="533400" cy="76200"/>
          </a:xfrm>
          <a:custGeom>
            <a:avLst/>
            <a:gdLst/>
            <a:ahLst/>
            <a:cxnLst/>
            <a:rect l="l" t="t" r="r" b="b"/>
            <a:pathLst>
              <a:path w="533400" h="76200">
                <a:moveTo>
                  <a:pt x="457200" y="0"/>
                </a:moveTo>
                <a:lnTo>
                  <a:pt x="457200" y="76200"/>
                </a:lnTo>
                <a:lnTo>
                  <a:pt x="514350" y="47625"/>
                </a:lnTo>
                <a:lnTo>
                  <a:pt x="469900" y="47625"/>
                </a:lnTo>
                <a:lnTo>
                  <a:pt x="469900" y="28575"/>
                </a:lnTo>
                <a:lnTo>
                  <a:pt x="514350" y="28575"/>
                </a:lnTo>
                <a:lnTo>
                  <a:pt x="457200" y="0"/>
                </a:lnTo>
                <a:close/>
              </a:path>
              <a:path w="533400" h="76200">
                <a:moveTo>
                  <a:pt x="457200" y="28575"/>
                </a:moveTo>
                <a:lnTo>
                  <a:pt x="0" y="28575"/>
                </a:lnTo>
                <a:lnTo>
                  <a:pt x="0" y="47625"/>
                </a:lnTo>
                <a:lnTo>
                  <a:pt x="457200" y="47625"/>
                </a:lnTo>
                <a:lnTo>
                  <a:pt x="457200" y="28575"/>
                </a:lnTo>
                <a:close/>
              </a:path>
              <a:path w="533400" h="76200">
                <a:moveTo>
                  <a:pt x="514350" y="28575"/>
                </a:moveTo>
                <a:lnTo>
                  <a:pt x="469900" y="28575"/>
                </a:lnTo>
                <a:lnTo>
                  <a:pt x="469900" y="47625"/>
                </a:lnTo>
                <a:lnTo>
                  <a:pt x="514350" y="47625"/>
                </a:lnTo>
                <a:lnTo>
                  <a:pt x="533400" y="38100"/>
                </a:lnTo>
                <a:lnTo>
                  <a:pt x="514350" y="28575"/>
                </a:lnTo>
                <a:close/>
              </a:path>
            </a:pathLst>
          </a:custGeom>
          <a:solidFill>
            <a:srgbClr val="5782F8"/>
          </a:solidFill>
        </p:spPr>
        <p:txBody>
          <a:bodyPr wrap="square" lIns="0" tIns="0" rIns="0" bIns="0" rtlCol="0"/>
          <a:lstStyle/>
          <a:p/>
        </p:txBody>
      </p:sp>
      <p:sp>
        <p:nvSpPr>
          <p:cNvPr id="19" name="object 19" descr=""/>
          <p:cNvSpPr txBox="1"/>
          <p:nvPr/>
        </p:nvSpPr>
        <p:spPr>
          <a:xfrm>
            <a:off x="8839200" y="450862"/>
            <a:ext cx="838200" cy="998219"/>
          </a:xfrm>
          <a:prstGeom prst="rect">
            <a:avLst/>
          </a:prstGeom>
          <a:solidFill>
            <a:srgbClr val="EBD782"/>
          </a:solidFill>
          <a:ln w="9525">
            <a:solidFill>
              <a:srgbClr val="40458B"/>
            </a:solidFill>
          </a:ln>
        </p:spPr>
        <p:txBody>
          <a:bodyPr wrap="square" lIns="0" tIns="264160" rIns="0" bIns="0" rtlCol="0" vert="horz">
            <a:spAutoFit/>
          </a:bodyPr>
          <a:lstStyle/>
          <a:p>
            <a:pPr marL="230504">
              <a:lnSpc>
                <a:spcPct val="100000"/>
              </a:lnSpc>
              <a:spcBef>
                <a:spcPts val="2080"/>
              </a:spcBef>
            </a:pPr>
            <a:r>
              <a:rPr dirty="0" sz="2600" spc="-25">
                <a:latin typeface="黑体"/>
                <a:cs typeface="黑体"/>
              </a:rPr>
              <a:t>RO</a:t>
            </a:r>
            <a:endParaRPr sz="2600">
              <a:latin typeface="黑体"/>
              <a:cs typeface="黑体"/>
            </a:endParaRPr>
          </a:p>
        </p:txBody>
      </p:sp>
      <p:sp>
        <p:nvSpPr>
          <p:cNvPr id="20" name="object 20" descr=""/>
          <p:cNvSpPr txBox="1"/>
          <p:nvPr/>
        </p:nvSpPr>
        <p:spPr>
          <a:xfrm>
            <a:off x="6615430" y="1483233"/>
            <a:ext cx="3872229" cy="391160"/>
          </a:xfrm>
          <a:prstGeom prst="rect">
            <a:avLst/>
          </a:prstGeom>
        </p:spPr>
        <p:txBody>
          <a:bodyPr wrap="square" lIns="0" tIns="12700" rIns="0" bIns="0" rtlCol="0" vert="horz">
            <a:spAutoFit/>
          </a:bodyPr>
          <a:lstStyle/>
          <a:p>
            <a:pPr marL="38100">
              <a:lnSpc>
                <a:spcPct val="100000"/>
              </a:lnSpc>
              <a:spcBef>
                <a:spcPts val="100"/>
              </a:spcBef>
            </a:pPr>
            <a:r>
              <a:rPr dirty="0" baseline="-5787" sz="3600">
                <a:solidFill>
                  <a:srgbClr val="40458B"/>
                </a:solidFill>
                <a:latin typeface="黑体"/>
                <a:cs typeface="黑体"/>
              </a:rPr>
              <a:t>检测</a:t>
            </a:r>
            <a:r>
              <a:rPr dirty="0" baseline="-5787" sz="3600">
                <a:solidFill>
                  <a:srgbClr val="D50092"/>
                </a:solidFill>
                <a:latin typeface="黑体"/>
                <a:cs typeface="黑体"/>
              </a:rPr>
              <a:t>结构</a:t>
            </a:r>
            <a:r>
              <a:rPr dirty="0" baseline="-5787" sz="3600" spc="-60">
                <a:solidFill>
                  <a:srgbClr val="40458B"/>
                </a:solidFill>
                <a:latin typeface="黑体"/>
                <a:cs typeface="黑体"/>
              </a:rPr>
              <a:t>冲突 </a:t>
            </a:r>
            <a:r>
              <a:rPr dirty="0" sz="2400">
                <a:solidFill>
                  <a:srgbClr val="40458B"/>
                </a:solidFill>
                <a:latin typeface="黑体"/>
                <a:cs typeface="黑体"/>
              </a:rPr>
              <a:t>检测</a:t>
            </a:r>
            <a:r>
              <a:rPr dirty="0" sz="2400">
                <a:solidFill>
                  <a:srgbClr val="D50092"/>
                </a:solidFill>
                <a:latin typeface="黑体"/>
                <a:cs typeface="黑体"/>
              </a:rPr>
              <a:t>数据</a:t>
            </a:r>
            <a:r>
              <a:rPr dirty="0" sz="2400" spc="-25">
                <a:solidFill>
                  <a:srgbClr val="40458B"/>
                </a:solidFill>
                <a:latin typeface="黑体"/>
                <a:cs typeface="黑体"/>
              </a:rPr>
              <a:t>冲突</a:t>
            </a:r>
            <a:endParaRPr sz="2400">
              <a:latin typeface="黑体"/>
              <a:cs typeface="黑体"/>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21/175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pic>
        <p:nvPicPr>
          <p:cNvPr id="10" name="object 10" descr=""/>
          <p:cNvPicPr/>
          <p:nvPr/>
        </p:nvPicPr>
        <p:blipFill>
          <a:blip r:embed="rId2" cstate="print"/>
          <a:stretch>
            <a:fillRect/>
          </a:stretch>
        </p:blipFill>
        <p:spPr>
          <a:xfrm>
            <a:off x="1239367" y="1297686"/>
            <a:ext cx="238125" cy="250825"/>
          </a:xfrm>
          <a:prstGeom prst="rect">
            <a:avLst/>
          </a:prstGeom>
        </p:spPr>
      </p:pic>
      <p:graphicFrame>
        <p:nvGraphicFramePr>
          <p:cNvPr id="11" name="object 11" descr=""/>
          <p:cNvGraphicFramePr>
            <a:graphicFrameLocks noGrp="1"/>
          </p:cNvGraphicFramePr>
          <p:nvPr/>
        </p:nvGraphicFramePr>
        <p:xfrm>
          <a:off x="2718435" y="2719681"/>
          <a:ext cx="3145790" cy="1219200"/>
        </p:xfrm>
        <a:graphic>
          <a:graphicData uri="http://schemas.openxmlformats.org/drawingml/2006/table">
            <a:tbl>
              <a:tblPr firstRow="1" bandRow="1">
                <a:tableStyleId>{2D5ABB26-0587-4C30-8999-92F81FD0307C}</a:tableStyleId>
              </a:tblPr>
              <a:tblGrid>
                <a:gridCol w="1111250"/>
                <a:gridCol w="1006475"/>
                <a:gridCol w="562610"/>
                <a:gridCol w="387985"/>
              </a:tblGrid>
              <a:tr h="374015">
                <a:tc>
                  <a:txBody>
                    <a:bodyPr/>
                    <a:lstStyle/>
                    <a:p>
                      <a:pPr marL="31750">
                        <a:lnSpc>
                          <a:spcPts val="2325"/>
                        </a:lnSpc>
                      </a:pPr>
                      <a:r>
                        <a:rPr dirty="0" sz="2200" spc="-10" b="1">
                          <a:solidFill>
                            <a:srgbClr val="9966FF"/>
                          </a:solidFill>
                          <a:latin typeface="宋体"/>
                          <a:cs typeface="宋体"/>
                        </a:rPr>
                        <a:t>DIV.D</a:t>
                      </a:r>
                      <a:endParaRPr sz="2200">
                        <a:latin typeface="宋体"/>
                        <a:cs typeface="宋体"/>
                      </a:endParaRPr>
                    </a:p>
                  </a:txBody>
                  <a:tcPr marL="0" marR="0" marB="0" marT="0"/>
                </a:tc>
                <a:tc>
                  <a:txBody>
                    <a:bodyPr/>
                    <a:lstStyle/>
                    <a:p>
                      <a:pPr algn="r" marR="62865">
                        <a:lnSpc>
                          <a:spcPts val="2325"/>
                        </a:lnSpc>
                      </a:pPr>
                      <a:r>
                        <a:rPr dirty="0" sz="2200" spc="-20" b="1">
                          <a:solidFill>
                            <a:srgbClr val="4668F5"/>
                          </a:solidFill>
                          <a:latin typeface="宋体"/>
                          <a:cs typeface="宋体"/>
                        </a:rPr>
                        <a:t>F10</a:t>
                      </a:r>
                      <a:r>
                        <a:rPr dirty="0" sz="2200" spc="-20" b="1">
                          <a:solidFill>
                            <a:srgbClr val="9966FF"/>
                          </a:solidFill>
                          <a:latin typeface="宋体"/>
                          <a:cs typeface="宋体"/>
                        </a:rPr>
                        <a:t>,</a:t>
                      </a:r>
                      <a:endParaRPr sz="2200">
                        <a:latin typeface="宋体"/>
                        <a:cs typeface="宋体"/>
                      </a:endParaRPr>
                    </a:p>
                  </a:txBody>
                  <a:tcPr marL="0" marR="0" marB="0" marT="0"/>
                </a:tc>
                <a:tc>
                  <a:txBody>
                    <a:bodyPr/>
                    <a:lstStyle/>
                    <a:p>
                      <a:pPr algn="ctr">
                        <a:lnSpc>
                          <a:spcPts val="2325"/>
                        </a:lnSpc>
                      </a:pPr>
                      <a:r>
                        <a:rPr dirty="0" sz="2200" spc="-25" b="1">
                          <a:solidFill>
                            <a:srgbClr val="9966FF"/>
                          </a:solidFill>
                          <a:latin typeface="宋体"/>
                          <a:cs typeface="宋体"/>
                        </a:rPr>
                        <a:t>F0,</a:t>
                      </a:r>
                      <a:endParaRPr sz="2200">
                        <a:latin typeface="宋体"/>
                        <a:cs typeface="宋体"/>
                      </a:endParaRPr>
                    </a:p>
                  </a:txBody>
                  <a:tcPr marL="0" marR="0" marB="0" marT="0"/>
                </a:tc>
                <a:tc>
                  <a:txBody>
                    <a:bodyPr/>
                    <a:lstStyle/>
                    <a:p>
                      <a:pPr algn="ctr" marL="34290">
                        <a:lnSpc>
                          <a:spcPts val="2325"/>
                        </a:lnSpc>
                      </a:pPr>
                      <a:r>
                        <a:rPr dirty="0" sz="2200" spc="-25" b="1">
                          <a:solidFill>
                            <a:srgbClr val="9966FF"/>
                          </a:solidFill>
                          <a:latin typeface="宋体"/>
                          <a:cs typeface="宋体"/>
                        </a:rPr>
                        <a:t>F2</a:t>
                      </a:r>
                      <a:endParaRPr sz="2200">
                        <a:latin typeface="宋体"/>
                        <a:cs typeface="宋体"/>
                      </a:endParaRPr>
                    </a:p>
                  </a:txBody>
                  <a:tcPr marL="0" marR="0" marB="0" marT="0"/>
                </a:tc>
              </a:tr>
              <a:tr h="374015">
                <a:tc>
                  <a:txBody>
                    <a:bodyPr/>
                    <a:lstStyle/>
                    <a:p>
                      <a:pPr marL="31750">
                        <a:lnSpc>
                          <a:spcPts val="2410"/>
                        </a:lnSpc>
                        <a:spcBef>
                          <a:spcPts val="434"/>
                        </a:spcBef>
                      </a:pPr>
                      <a:r>
                        <a:rPr dirty="0" sz="2200" spc="-10" b="1">
                          <a:solidFill>
                            <a:srgbClr val="9966FF"/>
                          </a:solidFill>
                          <a:latin typeface="宋体"/>
                          <a:cs typeface="宋体"/>
                        </a:rPr>
                        <a:t>ADD.D</a:t>
                      </a:r>
                      <a:endParaRPr sz="2200">
                        <a:latin typeface="宋体"/>
                        <a:cs typeface="宋体"/>
                      </a:endParaRPr>
                    </a:p>
                  </a:txBody>
                  <a:tcPr marL="0" marR="0" marB="0" marT="55244"/>
                </a:tc>
                <a:tc>
                  <a:txBody>
                    <a:bodyPr/>
                    <a:lstStyle/>
                    <a:p>
                      <a:pPr algn="r" marR="62865">
                        <a:lnSpc>
                          <a:spcPts val="2410"/>
                        </a:lnSpc>
                        <a:spcBef>
                          <a:spcPts val="434"/>
                        </a:spcBef>
                      </a:pPr>
                      <a:r>
                        <a:rPr dirty="0" sz="2200" spc="-20" b="1">
                          <a:solidFill>
                            <a:srgbClr val="4668F5"/>
                          </a:solidFill>
                          <a:latin typeface="宋体"/>
                          <a:cs typeface="宋体"/>
                        </a:rPr>
                        <a:t>F10</a:t>
                      </a:r>
                      <a:r>
                        <a:rPr dirty="0" sz="2200" spc="-20" b="1">
                          <a:solidFill>
                            <a:srgbClr val="9966FF"/>
                          </a:solidFill>
                          <a:latin typeface="宋体"/>
                          <a:cs typeface="宋体"/>
                        </a:rPr>
                        <a:t>,</a:t>
                      </a:r>
                      <a:endParaRPr sz="2200">
                        <a:latin typeface="宋体"/>
                        <a:cs typeface="宋体"/>
                      </a:endParaRPr>
                    </a:p>
                  </a:txBody>
                  <a:tcPr marL="0" marR="0" marB="0" marT="55244"/>
                </a:tc>
                <a:tc>
                  <a:txBody>
                    <a:bodyPr/>
                    <a:lstStyle/>
                    <a:p>
                      <a:pPr algn="ctr">
                        <a:lnSpc>
                          <a:spcPts val="2410"/>
                        </a:lnSpc>
                        <a:spcBef>
                          <a:spcPts val="434"/>
                        </a:spcBef>
                      </a:pPr>
                      <a:r>
                        <a:rPr dirty="0" sz="2200" spc="-25" b="1">
                          <a:solidFill>
                            <a:srgbClr val="9966FF"/>
                          </a:solidFill>
                          <a:latin typeface="宋体"/>
                          <a:cs typeface="宋体"/>
                        </a:rPr>
                        <a:t>F4,</a:t>
                      </a:r>
                      <a:endParaRPr sz="2200">
                        <a:latin typeface="宋体"/>
                        <a:cs typeface="宋体"/>
                      </a:endParaRPr>
                    </a:p>
                  </a:txBody>
                  <a:tcPr marL="0" marR="0" marB="0" marT="55244"/>
                </a:tc>
                <a:tc>
                  <a:txBody>
                    <a:bodyPr/>
                    <a:lstStyle/>
                    <a:p>
                      <a:pPr algn="ctr" marL="41275">
                        <a:lnSpc>
                          <a:spcPts val="2410"/>
                        </a:lnSpc>
                        <a:spcBef>
                          <a:spcPts val="434"/>
                        </a:spcBef>
                      </a:pPr>
                      <a:r>
                        <a:rPr dirty="0" sz="2200" spc="-25" b="1">
                          <a:solidFill>
                            <a:srgbClr val="D50092"/>
                          </a:solidFill>
                          <a:latin typeface="宋体"/>
                          <a:cs typeface="宋体"/>
                        </a:rPr>
                        <a:t>F6</a:t>
                      </a:r>
                      <a:endParaRPr sz="2200">
                        <a:latin typeface="宋体"/>
                        <a:cs typeface="宋体"/>
                      </a:endParaRPr>
                    </a:p>
                  </a:txBody>
                  <a:tcPr marL="0" marR="0" marB="0" marT="55244"/>
                </a:tc>
              </a:tr>
              <a:tr h="471170">
                <a:tc>
                  <a:txBody>
                    <a:bodyPr/>
                    <a:lstStyle/>
                    <a:p>
                      <a:pPr marL="31750">
                        <a:lnSpc>
                          <a:spcPts val="2425"/>
                        </a:lnSpc>
                        <a:spcBef>
                          <a:spcPts val="1185"/>
                        </a:spcBef>
                      </a:pPr>
                      <a:r>
                        <a:rPr dirty="0" sz="2200" spc="-10" b="1">
                          <a:solidFill>
                            <a:srgbClr val="9966FF"/>
                          </a:solidFill>
                          <a:latin typeface="宋体"/>
                          <a:cs typeface="宋体"/>
                        </a:rPr>
                        <a:t>SUB.D</a:t>
                      </a:r>
                      <a:endParaRPr sz="2200">
                        <a:latin typeface="宋体"/>
                        <a:cs typeface="宋体"/>
                      </a:endParaRPr>
                    </a:p>
                  </a:txBody>
                  <a:tcPr marL="0" marR="0" marB="0" marT="150495"/>
                </a:tc>
                <a:tc gridSpan="3">
                  <a:txBody>
                    <a:bodyPr/>
                    <a:lstStyle/>
                    <a:p>
                      <a:pPr marL="370840">
                        <a:lnSpc>
                          <a:spcPts val="2525"/>
                        </a:lnSpc>
                        <a:spcBef>
                          <a:spcPts val="1085"/>
                        </a:spcBef>
                      </a:pPr>
                      <a:r>
                        <a:rPr dirty="0" sz="2200" b="1">
                          <a:solidFill>
                            <a:srgbClr val="D50092"/>
                          </a:solidFill>
                          <a:latin typeface="宋体"/>
                          <a:cs typeface="宋体"/>
                        </a:rPr>
                        <a:t>F6</a:t>
                      </a:r>
                      <a:r>
                        <a:rPr dirty="0" sz="2300" i="1">
                          <a:solidFill>
                            <a:srgbClr val="9966FF"/>
                          </a:solidFill>
                          <a:latin typeface="宋体"/>
                          <a:cs typeface="宋体"/>
                        </a:rPr>
                        <a:t>,</a:t>
                      </a:r>
                      <a:r>
                        <a:rPr dirty="0" sz="2300" spc="-110" i="1">
                          <a:solidFill>
                            <a:srgbClr val="9966FF"/>
                          </a:solidFill>
                          <a:latin typeface="宋体"/>
                          <a:cs typeface="宋体"/>
                        </a:rPr>
                        <a:t> </a:t>
                      </a:r>
                      <a:r>
                        <a:rPr dirty="0" sz="2200" b="1">
                          <a:solidFill>
                            <a:srgbClr val="9966FF"/>
                          </a:solidFill>
                          <a:latin typeface="宋体"/>
                          <a:cs typeface="宋体"/>
                        </a:rPr>
                        <a:t>F8,</a:t>
                      </a:r>
                      <a:r>
                        <a:rPr dirty="0" sz="2200" spc="-50" b="1">
                          <a:solidFill>
                            <a:srgbClr val="9966FF"/>
                          </a:solidFill>
                          <a:latin typeface="宋体"/>
                          <a:cs typeface="宋体"/>
                        </a:rPr>
                        <a:t> </a:t>
                      </a:r>
                      <a:r>
                        <a:rPr dirty="0" sz="2200" spc="-25" b="1">
                          <a:solidFill>
                            <a:srgbClr val="9966FF"/>
                          </a:solidFill>
                          <a:latin typeface="宋体"/>
                          <a:cs typeface="宋体"/>
                        </a:rPr>
                        <a:t>F14</a:t>
                      </a:r>
                      <a:endParaRPr sz="2200">
                        <a:latin typeface="宋体"/>
                        <a:cs typeface="宋体"/>
                      </a:endParaRPr>
                    </a:p>
                  </a:txBody>
                  <a:tcPr marL="0" marR="0" marB="0" marT="137795"/>
                </a:tc>
                <a:tc hMerge="1">
                  <a:txBody>
                    <a:bodyPr/>
                    <a:lstStyle/>
                    <a:p>
                      <a:pPr/>
                    </a:p>
                  </a:txBody>
                  <a:tcPr marL="0" marR="0" marB="0" marT="0"/>
                </a:tc>
                <a:tc hMerge="1">
                  <a:txBody>
                    <a:bodyPr/>
                    <a:lstStyle/>
                    <a:p>
                      <a:pPr/>
                    </a:p>
                  </a:txBody>
                  <a:tcPr marL="0" marR="0" marB="0" marT="0"/>
                </a:tc>
              </a:tr>
            </a:tbl>
          </a:graphicData>
        </a:graphic>
      </p:graphicFrame>
      <p:sp>
        <p:nvSpPr>
          <p:cNvPr id="12" name="object 12" descr=""/>
          <p:cNvSpPr txBox="1"/>
          <p:nvPr/>
        </p:nvSpPr>
        <p:spPr>
          <a:xfrm>
            <a:off x="6156452" y="3258438"/>
            <a:ext cx="2843530" cy="597535"/>
          </a:xfrm>
          <a:prstGeom prst="rect">
            <a:avLst/>
          </a:prstGeom>
        </p:spPr>
        <p:txBody>
          <a:bodyPr wrap="square" lIns="0" tIns="53975" rIns="0" bIns="0" rtlCol="0" vert="horz">
            <a:spAutoFit/>
          </a:bodyPr>
          <a:lstStyle/>
          <a:p>
            <a:pPr marL="12700" marR="5080">
              <a:lnSpc>
                <a:spcPts val="2100"/>
              </a:lnSpc>
              <a:spcBef>
                <a:spcPts val="425"/>
              </a:spcBef>
            </a:pPr>
            <a:r>
              <a:rPr dirty="0" sz="2000" spc="-10" b="1">
                <a:solidFill>
                  <a:srgbClr val="FF5CFF"/>
                </a:solidFill>
                <a:latin typeface="宋体"/>
                <a:cs typeface="宋体"/>
              </a:rPr>
              <a:t>结果居然是F0与F2</a:t>
            </a:r>
            <a:r>
              <a:rPr dirty="0" sz="2000" spc="-30" b="1">
                <a:solidFill>
                  <a:srgbClr val="FF5CFF"/>
                </a:solidFill>
                <a:latin typeface="宋体"/>
                <a:cs typeface="宋体"/>
              </a:rPr>
              <a:t>的除法结果</a:t>
            </a:r>
            <a:endParaRPr sz="2000">
              <a:latin typeface="宋体"/>
              <a:cs typeface="宋体"/>
            </a:endParaRPr>
          </a:p>
        </p:txBody>
      </p:sp>
      <p:sp>
        <p:nvSpPr>
          <p:cNvPr id="13" name="object 13" descr=""/>
          <p:cNvSpPr/>
          <p:nvPr/>
        </p:nvSpPr>
        <p:spPr>
          <a:xfrm>
            <a:off x="5808726" y="2744597"/>
            <a:ext cx="144780" cy="576580"/>
          </a:xfrm>
          <a:custGeom>
            <a:avLst/>
            <a:gdLst/>
            <a:ahLst/>
            <a:cxnLst/>
            <a:rect l="l" t="t" r="r" b="b"/>
            <a:pathLst>
              <a:path w="144779" h="576579">
                <a:moveTo>
                  <a:pt x="0" y="0"/>
                </a:moveTo>
                <a:lnTo>
                  <a:pt x="28094" y="3768"/>
                </a:lnTo>
                <a:lnTo>
                  <a:pt x="51022" y="14049"/>
                </a:lnTo>
                <a:lnTo>
                  <a:pt x="66472" y="29307"/>
                </a:lnTo>
                <a:lnTo>
                  <a:pt x="72136" y="48005"/>
                </a:lnTo>
                <a:lnTo>
                  <a:pt x="72136" y="240029"/>
                </a:lnTo>
                <a:lnTo>
                  <a:pt x="77819" y="258728"/>
                </a:lnTo>
                <a:lnTo>
                  <a:pt x="93313" y="273986"/>
                </a:lnTo>
                <a:lnTo>
                  <a:pt x="116284" y="284267"/>
                </a:lnTo>
                <a:lnTo>
                  <a:pt x="144399" y="288036"/>
                </a:lnTo>
                <a:lnTo>
                  <a:pt x="116284" y="291824"/>
                </a:lnTo>
                <a:lnTo>
                  <a:pt x="93313" y="302148"/>
                </a:lnTo>
                <a:lnTo>
                  <a:pt x="77819" y="317450"/>
                </a:lnTo>
                <a:lnTo>
                  <a:pt x="72136" y="336168"/>
                </a:lnTo>
                <a:lnTo>
                  <a:pt x="72136" y="528192"/>
                </a:lnTo>
                <a:lnTo>
                  <a:pt x="66472" y="546891"/>
                </a:lnTo>
                <a:lnTo>
                  <a:pt x="51022" y="562149"/>
                </a:lnTo>
                <a:lnTo>
                  <a:pt x="28094" y="572430"/>
                </a:lnTo>
                <a:lnTo>
                  <a:pt x="0" y="576199"/>
                </a:lnTo>
              </a:path>
            </a:pathLst>
          </a:custGeom>
          <a:ln w="19050">
            <a:solidFill>
              <a:srgbClr val="4668F5"/>
            </a:solidFill>
          </a:ln>
        </p:spPr>
        <p:txBody>
          <a:bodyPr wrap="square" lIns="0" tIns="0" rIns="0" bIns="0" rtlCol="0"/>
          <a:lstStyle/>
          <a:p/>
        </p:txBody>
      </p:sp>
      <p:sp>
        <p:nvSpPr>
          <p:cNvPr id="14" name="object 14" descr=""/>
          <p:cNvSpPr txBox="1"/>
          <p:nvPr/>
        </p:nvSpPr>
        <p:spPr>
          <a:xfrm>
            <a:off x="413715" y="3309873"/>
            <a:ext cx="1821180" cy="1421130"/>
          </a:xfrm>
          <a:prstGeom prst="rect">
            <a:avLst/>
          </a:prstGeom>
        </p:spPr>
        <p:txBody>
          <a:bodyPr wrap="square" lIns="0" tIns="45085" rIns="0" bIns="0" rtlCol="0" vert="horz">
            <a:spAutoFit/>
          </a:bodyPr>
          <a:lstStyle/>
          <a:p>
            <a:pPr marL="12700" marR="5080">
              <a:lnSpc>
                <a:spcPct val="89400"/>
              </a:lnSpc>
              <a:spcBef>
                <a:spcPts val="355"/>
              </a:spcBef>
            </a:pPr>
            <a:r>
              <a:rPr dirty="0" sz="2000" spc="-10" b="1">
                <a:solidFill>
                  <a:srgbClr val="D50092"/>
                </a:solidFill>
                <a:latin typeface="宋体"/>
                <a:cs typeface="宋体"/>
              </a:rPr>
              <a:t>存在反相关，</a:t>
            </a:r>
            <a:r>
              <a:rPr dirty="0" sz="2000" spc="-60" b="1">
                <a:solidFill>
                  <a:srgbClr val="006FC0"/>
                </a:solidFill>
                <a:latin typeface="宋体"/>
                <a:cs typeface="宋体"/>
              </a:rPr>
              <a:t>乱</a:t>
            </a:r>
            <a:r>
              <a:rPr dirty="0" sz="2000" spc="-10" b="1">
                <a:solidFill>
                  <a:srgbClr val="006FC0"/>
                </a:solidFill>
                <a:latin typeface="宋体"/>
                <a:cs typeface="宋体"/>
              </a:rPr>
              <a:t>序执行使得</a:t>
            </a:r>
            <a:r>
              <a:rPr dirty="0" sz="2000" spc="-25" b="1">
                <a:solidFill>
                  <a:srgbClr val="006FC0"/>
                </a:solidFill>
                <a:latin typeface="宋体"/>
                <a:cs typeface="宋体"/>
              </a:rPr>
              <a:t>ADD</a:t>
            </a:r>
            <a:r>
              <a:rPr dirty="0" sz="2000" spc="-10" b="1">
                <a:solidFill>
                  <a:srgbClr val="006FC0"/>
                </a:solidFill>
                <a:latin typeface="宋体"/>
                <a:cs typeface="宋体"/>
              </a:rPr>
              <a:t>指令中F6</a:t>
            </a:r>
            <a:r>
              <a:rPr dirty="0" sz="2000" spc="-25" b="1">
                <a:solidFill>
                  <a:srgbClr val="006FC0"/>
                </a:solidFill>
                <a:latin typeface="宋体"/>
                <a:cs typeface="宋体"/>
              </a:rPr>
              <a:t>的结果</a:t>
            </a:r>
            <a:r>
              <a:rPr dirty="0" sz="2000" spc="-10" b="1">
                <a:solidFill>
                  <a:srgbClr val="006FC0"/>
                </a:solidFill>
                <a:latin typeface="宋体"/>
                <a:cs typeface="宋体"/>
              </a:rPr>
              <a:t>居然是SUB</a:t>
            </a:r>
            <a:r>
              <a:rPr dirty="0" sz="2000" spc="-30" b="1">
                <a:solidFill>
                  <a:srgbClr val="006FC0"/>
                </a:solidFill>
                <a:latin typeface="宋体"/>
                <a:cs typeface="宋体"/>
              </a:rPr>
              <a:t>执行</a:t>
            </a:r>
            <a:r>
              <a:rPr dirty="0" sz="2000" spc="-15" b="1">
                <a:solidFill>
                  <a:srgbClr val="006FC0"/>
                </a:solidFill>
                <a:latin typeface="宋体"/>
                <a:cs typeface="宋体"/>
              </a:rPr>
              <a:t>中</a:t>
            </a:r>
            <a:r>
              <a:rPr dirty="0" sz="2000" b="1">
                <a:solidFill>
                  <a:srgbClr val="006FC0"/>
                </a:solidFill>
                <a:latin typeface="宋体"/>
                <a:cs typeface="宋体"/>
              </a:rPr>
              <a:t>F6</a:t>
            </a:r>
            <a:r>
              <a:rPr dirty="0" sz="2000" spc="-30" b="1">
                <a:solidFill>
                  <a:srgbClr val="006FC0"/>
                </a:solidFill>
                <a:latin typeface="宋体"/>
                <a:cs typeface="宋体"/>
              </a:rPr>
              <a:t>的结果</a:t>
            </a:r>
            <a:endParaRPr sz="2000">
              <a:latin typeface="宋体"/>
              <a:cs typeface="宋体"/>
            </a:endParaRPr>
          </a:p>
        </p:txBody>
      </p:sp>
      <p:sp>
        <p:nvSpPr>
          <p:cNvPr id="15" name="object 15" descr=""/>
          <p:cNvSpPr/>
          <p:nvPr/>
        </p:nvSpPr>
        <p:spPr>
          <a:xfrm>
            <a:off x="2403475" y="3281298"/>
            <a:ext cx="144780" cy="503555"/>
          </a:xfrm>
          <a:custGeom>
            <a:avLst/>
            <a:gdLst/>
            <a:ahLst/>
            <a:cxnLst/>
            <a:rect l="l" t="t" r="r" b="b"/>
            <a:pathLst>
              <a:path w="144780" h="503554">
                <a:moveTo>
                  <a:pt x="144525" y="503300"/>
                </a:moveTo>
                <a:lnTo>
                  <a:pt x="116357" y="500002"/>
                </a:lnTo>
                <a:lnTo>
                  <a:pt x="93392" y="491013"/>
                </a:lnTo>
                <a:lnTo>
                  <a:pt x="77928" y="477690"/>
                </a:lnTo>
                <a:lnTo>
                  <a:pt x="72262" y="461390"/>
                </a:lnTo>
                <a:lnTo>
                  <a:pt x="72262" y="293624"/>
                </a:lnTo>
                <a:lnTo>
                  <a:pt x="66579" y="277324"/>
                </a:lnTo>
                <a:lnTo>
                  <a:pt x="51085" y="264001"/>
                </a:lnTo>
                <a:lnTo>
                  <a:pt x="28114" y="255012"/>
                </a:lnTo>
                <a:lnTo>
                  <a:pt x="0" y="251713"/>
                </a:lnTo>
                <a:lnTo>
                  <a:pt x="28114" y="248413"/>
                </a:lnTo>
                <a:lnTo>
                  <a:pt x="51085" y="239410"/>
                </a:lnTo>
                <a:lnTo>
                  <a:pt x="66579" y="226050"/>
                </a:lnTo>
                <a:lnTo>
                  <a:pt x="72262" y="209676"/>
                </a:lnTo>
                <a:lnTo>
                  <a:pt x="72262" y="42037"/>
                </a:lnTo>
                <a:lnTo>
                  <a:pt x="77928" y="25663"/>
                </a:lnTo>
                <a:lnTo>
                  <a:pt x="93392" y="12303"/>
                </a:lnTo>
                <a:lnTo>
                  <a:pt x="116357" y="3300"/>
                </a:lnTo>
                <a:lnTo>
                  <a:pt x="144525" y="0"/>
                </a:lnTo>
              </a:path>
            </a:pathLst>
          </a:custGeom>
          <a:ln w="19050">
            <a:solidFill>
              <a:srgbClr val="D50092"/>
            </a:solidFill>
          </a:ln>
        </p:spPr>
        <p:txBody>
          <a:bodyPr wrap="square" lIns="0" tIns="0" rIns="0" bIns="0" rtlCol="0"/>
          <a:lstStyle/>
          <a:p/>
        </p:txBody>
      </p:sp>
      <p:sp>
        <p:nvSpPr>
          <p:cNvPr id="16" name="object 16" descr=""/>
          <p:cNvSpPr txBox="1"/>
          <p:nvPr/>
        </p:nvSpPr>
        <p:spPr>
          <a:xfrm>
            <a:off x="737717" y="689923"/>
            <a:ext cx="10389870" cy="2625090"/>
          </a:xfrm>
          <a:prstGeom prst="rect">
            <a:avLst/>
          </a:prstGeom>
        </p:spPr>
        <p:txBody>
          <a:bodyPr wrap="square" lIns="0" tIns="90805" rIns="0" bIns="0" rtlCol="0" vert="horz">
            <a:spAutoFit/>
          </a:bodyPr>
          <a:lstStyle/>
          <a:p>
            <a:pPr marL="31115">
              <a:lnSpc>
                <a:spcPct val="100000"/>
              </a:lnSpc>
              <a:spcBef>
                <a:spcPts val="715"/>
              </a:spcBef>
            </a:pPr>
            <a:r>
              <a:rPr dirty="0" sz="2400" spc="-10">
                <a:solidFill>
                  <a:srgbClr val="9933FF"/>
                </a:solidFill>
                <a:latin typeface="黑体"/>
                <a:cs typeface="黑体"/>
              </a:rPr>
              <a:t>乱序可能产生WAR</a:t>
            </a:r>
            <a:r>
              <a:rPr dirty="0" sz="2400" spc="-10">
                <a:solidFill>
                  <a:srgbClr val="9966FF"/>
                </a:solidFill>
                <a:latin typeface="黑体"/>
                <a:cs typeface="黑体"/>
              </a:rPr>
              <a:t>冲突</a:t>
            </a:r>
            <a:r>
              <a:rPr dirty="0" sz="2400" spc="-10">
                <a:solidFill>
                  <a:srgbClr val="40458B"/>
                </a:solidFill>
                <a:latin typeface="黑体"/>
                <a:cs typeface="黑体"/>
              </a:rPr>
              <a:t>和</a:t>
            </a:r>
            <a:r>
              <a:rPr dirty="0" sz="2400" spc="-10">
                <a:solidFill>
                  <a:srgbClr val="9933FF"/>
                </a:solidFill>
                <a:latin typeface="黑体"/>
                <a:cs typeface="黑体"/>
              </a:rPr>
              <a:t>WAW</a:t>
            </a:r>
            <a:r>
              <a:rPr dirty="0" sz="2400" spc="-30">
                <a:solidFill>
                  <a:srgbClr val="9933FF"/>
                </a:solidFill>
                <a:latin typeface="黑体"/>
                <a:cs typeface="黑体"/>
              </a:rPr>
              <a:t>冲突</a:t>
            </a:r>
            <a:endParaRPr sz="2400">
              <a:latin typeface="黑体"/>
              <a:cs typeface="黑体"/>
            </a:endParaRPr>
          </a:p>
          <a:p>
            <a:pPr marL="469265" marR="5080" indent="-457200">
              <a:lnSpc>
                <a:spcPct val="120000"/>
              </a:lnSpc>
              <a:spcBef>
                <a:spcPts val="40"/>
              </a:spcBef>
              <a:buAutoNum type="arabicPeriod" startAt="4"/>
              <a:tabLst>
                <a:tab pos="469265" algn="l"/>
                <a:tab pos="774065" algn="l"/>
              </a:tabLst>
            </a:pPr>
            <a:r>
              <a:rPr dirty="0" sz="2400">
                <a:solidFill>
                  <a:srgbClr val="40458B"/>
                </a:solidFill>
                <a:latin typeface="黑体"/>
                <a:cs typeface="黑体"/>
              </a:rPr>
              <a:t>	</a:t>
            </a:r>
            <a:r>
              <a:rPr dirty="0" sz="2400">
                <a:solidFill>
                  <a:srgbClr val="001F5F"/>
                </a:solidFill>
                <a:latin typeface="黑体"/>
                <a:cs typeface="黑体"/>
              </a:rPr>
              <a:t>顾前述</a:t>
            </a:r>
            <a:r>
              <a:rPr dirty="0" sz="2400">
                <a:solidFill>
                  <a:srgbClr val="9933FF"/>
                </a:solidFill>
                <a:latin typeface="黑体"/>
                <a:cs typeface="黑体"/>
              </a:rPr>
              <a:t>5</a:t>
            </a:r>
            <a:r>
              <a:rPr dirty="0" sz="2400">
                <a:solidFill>
                  <a:srgbClr val="001F5F"/>
                </a:solidFill>
                <a:latin typeface="黑体"/>
                <a:cs typeface="黑体"/>
              </a:rPr>
              <a:t>段流水线中，是不会发生</a:t>
            </a:r>
            <a:r>
              <a:rPr dirty="0" sz="2400">
                <a:solidFill>
                  <a:srgbClr val="9933FF"/>
                </a:solidFill>
                <a:latin typeface="黑体"/>
                <a:cs typeface="黑体"/>
              </a:rPr>
              <a:t>WAR</a:t>
            </a:r>
            <a:r>
              <a:rPr dirty="0" sz="2400">
                <a:solidFill>
                  <a:srgbClr val="001F5F"/>
                </a:solidFill>
                <a:latin typeface="黑体"/>
                <a:cs typeface="黑体"/>
              </a:rPr>
              <a:t>冲突和</a:t>
            </a:r>
            <a:r>
              <a:rPr dirty="0" sz="2400">
                <a:solidFill>
                  <a:srgbClr val="9933FF"/>
                </a:solidFill>
                <a:latin typeface="黑体"/>
                <a:cs typeface="黑体"/>
              </a:rPr>
              <a:t>WAW</a:t>
            </a:r>
            <a:r>
              <a:rPr dirty="0" sz="2400">
                <a:solidFill>
                  <a:srgbClr val="001F5F"/>
                </a:solidFill>
                <a:latin typeface="黑体"/>
                <a:cs typeface="黑体"/>
              </a:rPr>
              <a:t>冲突的。但</a:t>
            </a:r>
            <a:r>
              <a:rPr dirty="0" sz="2400">
                <a:solidFill>
                  <a:srgbClr val="FF0000"/>
                </a:solidFill>
                <a:latin typeface="黑体"/>
                <a:cs typeface="黑体"/>
              </a:rPr>
              <a:t>乱序执行</a:t>
            </a:r>
            <a:r>
              <a:rPr dirty="0" sz="2400" spc="-25">
                <a:solidFill>
                  <a:srgbClr val="001F5F"/>
                </a:solidFill>
                <a:latin typeface="黑体"/>
                <a:cs typeface="黑体"/>
              </a:rPr>
              <a:t>就使</a:t>
            </a:r>
            <a:r>
              <a:rPr dirty="0" sz="2400" spc="-10">
                <a:solidFill>
                  <a:srgbClr val="001F5F"/>
                </a:solidFill>
                <a:latin typeface="黑体"/>
                <a:cs typeface="黑体"/>
              </a:rPr>
              <a:t>得它们可能发生了。</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30">
                <a:solidFill>
                  <a:srgbClr val="40458B"/>
                </a:solidFill>
                <a:latin typeface="黑体"/>
                <a:cs typeface="黑体"/>
              </a:rPr>
              <a:t>例如</a:t>
            </a:r>
            <a:endParaRPr sz="2400">
              <a:latin typeface="黑体"/>
              <a:cs typeface="黑体"/>
            </a:endParaRPr>
          </a:p>
          <a:p>
            <a:pPr marL="5431155">
              <a:lnSpc>
                <a:spcPts val="2280"/>
              </a:lnSpc>
              <a:spcBef>
                <a:spcPts val="1425"/>
              </a:spcBef>
            </a:pPr>
            <a:r>
              <a:rPr dirty="0" sz="2000" spc="-15" b="1">
                <a:solidFill>
                  <a:srgbClr val="4668F5"/>
                </a:solidFill>
                <a:latin typeface="宋体"/>
                <a:cs typeface="宋体"/>
              </a:rPr>
              <a:t>存在输出相关，</a:t>
            </a:r>
            <a:r>
              <a:rPr dirty="0" sz="2000" spc="-25" b="1">
                <a:solidFill>
                  <a:srgbClr val="FF5CFF"/>
                </a:solidFill>
                <a:latin typeface="宋体"/>
                <a:cs typeface="宋体"/>
              </a:rPr>
              <a:t>执行顺序</a:t>
            </a:r>
            <a:endParaRPr sz="2000">
              <a:latin typeface="宋体"/>
              <a:cs typeface="宋体"/>
            </a:endParaRPr>
          </a:p>
          <a:p>
            <a:pPr marL="5431155">
              <a:lnSpc>
                <a:spcPts val="2280"/>
              </a:lnSpc>
            </a:pPr>
            <a:r>
              <a:rPr dirty="0" sz="2000" spc="-10" b="1">
                <a:solidFill>
                  <a:srgbClr val="FF5CFF"/>
                </a:solidFill>
                <a:latin typeface="宋体"/>
                <a:cs typeface="宋体"/>
              </a:rPr>
              <a:t>已发生改变，最终F10</a:t>
            </a:r>
            <a:r>
              <a:rPr dirty="0" sz="2000" spc="-50" b="1">
                <a:solidFill>
                  <a:srgbClr val="FF5CFF"/>
                </a:solidFill>
                <a:latin typeface="宋体"/>
                <a:cs typeface="宋体"/>
              </a:rPr>
              <a:t>的</a:t>
            </a:r>
            <a:endParaRPr sz="2000">
              <a:latin typeface="宋体"/>
              <a:cs typeface="宋体"/>
            </a:endParaRPr>
          </a:p>
        </p:txBody>
      </p:sp>
      <p:sp>
        <p:nvSpPr>
          <p:cNvPr id="17" name="object 17" descr=""/>
          <p:cNvSpPr txBox="1"/>
          <p:nvPr/>
        </p:nvSpPr>
        <p:spPr>
          <a:xfrm>
            <a:off x="558190" y="5124958"/>
            <a:ext cx="11151870" cy="757555"/>
          </a:xfrm>
          <a:prstGeom prst="rect">
            <a:avLst/>
          </a:prstGeom>
        </p:spPr>
        <p:txBody>
          <a:bodyPr wrap="square" lIns="0" tIns="12700" rIns="0" bIns="0" rtlCol="0" vert="horz">
            <a:spAutoFit/>
          </a:bodyPr>
          <a:lstStyle/>
          <a:p>
            <a:pPr marL="12700" marR="5080">
              <a:lnSpc>
                <a:spcPct val="100000"/>
              </a:lnSpc>
              <a:spcBef>
                <a:spcPts val="100"/>
              </a:spcBef>
            </a:pPr>
            <a:r>
              <a:rPr dirty="0" sz="2400">
                <a:solidFill>
                  <a:srgbClr val="40458B"/>
                </a:solidFill>
                <a:latin typeface="黑体"/>
                <a:cs typeface="黑体"/>
              </a:rPr>
              <a:t>可以通过使用寄存器重命名来消除。</a:t>
            </a:r>
            <a:r>
              <a:rPr dirty="0" sz="2400">
                <a:solidFill>
                  <a:srgbClr val="FF5CFF"/>
                </a:solidFill>
                <a:latin typeface="黑体"/>
                <a:cs typeface="黑体"/>
              </a:rPr>
              <a:t>但，</a:t>
            </a:r>
            <a:r>
              <a:rPr dirty="0" sz="2400" spc="-15">
                <a:solidFill>
                  <a:srgbClr val="40458B"/>
                </a:solidFill>
                <a:latin typeface="黑体"/>
                <a:cs typeface="黑体"/>
              </a:rPr>
              <a:t>寄存器个数有限，此举非万全之策 ，更多</a:t>
            </a:r>
            <a:r>
              <a:rPr dirty="0" sz="2400" spc="-5">
                <a:solidFill>
                  <a:srgbClr val="40458B"/>
                </a:solidFill>
                <a:latin typeface="黑体"/>
                <a:cs typeface="黑体"/>
              </a:rPr>
              <a:t>的换名致使编译器速度变慢</a:t>
            </a:r>
            <a:endParaRPr sz="2400">
              <a:latin typeface="黑体"/>
              <a:cs typeface="黑体"/>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22/175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558190" y="705983"/>
            <a:ext cx="11173460" cy="4445000"/>
          </a:xfrm>
          <a:prstGeom prst="rect">
            <a:avLst/>
          </a:prstGeom>
        </p:spPr>
        <p:txBody>
          <a:bodyPr wrap="square" lIns="0" tIns="159385" rIns="0" bIns="0" rtlCol="0" vert="horz">
            <a:spAutoFit/>
          </a:bodyPr>
          <a:lstStyle/>
          <a:p>
            <a:pPr marL="469265" indent="-456565">
              <a:lnSpc>
                <a:spcPct val="100000"/>
              </a:lnSpc>
              <a:spcBef>
                <a:spcPts val="1255"/>
              </a:spcBef>
              <a:buClr>
                <a:srgbClr val="40458B"/>
              </a:buClr>
              <a:buFont typeface="Tahoma"/>
              <a:buAutoNum type="arabicPeriod" startAt="5"/>
              <a:tabLst>
                <a:tab pos="469265" algn="l"/>
              </a:tabLst>
            </a:pPr>
            <a:r>
              <a:rPr dirty="0" sz="2400" spc="-10">
                <a:solidFill>
                  <a:srgbClr val="001F5F"/>
                </a:solidFill>
                <a:latin typeface="黑体"/>
                <a:cs typeface="黑体"/>
              </a:rPr>
              <a:t>动态调度的流水线（乱序执行）</a:t>
            </a:r>
            <a:r>
              <a:rPr dirty="0" sz="2400" spc="-15">
                <a:solidFill>
                  <a:srgbClr val="001F5F"/>
                </a:solidFill>
                <a:latin typeface="黑体"/>
                <a:cs typeface="黑体"/>
              </a:rPr>
              <a:t>支持多条指令同时处于执行当中。</a:t>
            </a:r>
            <a:endParaRPr sz="2400">
              <a:latin typeface="黑体"/>
              <a:cs typeface="黑体"/>
            </a:endParaRPr>
          </a:p>
          <a:p>
            <a:pPr lvl="1" marL="1099185" indent="-457200">
              <a:lnSpc>
                <a:spcPct val="100000"/>
              </a:lnSpc>
              <a:spcBef>
                <a:spcPts val="1155"/>
              </a:spcBef>
              <a:buClr>
                <a:srgbClr val="40458B"/>
              </a:buClr>
              <a:buSzPct val="89583"/>
              <a:buFont typeface="Wingdings"/>
              <a:buChar char=""/>
              <a:tabLst>
                <a:tab pos="1099185" algn="l"/>
              </a:tabLst>
            </a:pPr>
            <a:r>
              <a:rPr dirty="0" sz="2400">
                <a:solidFill>
                  <a:srgbClr val="D50092"/>
                </a:solidFill>
                <a:latin typeface="黑体"/>
                <a:cs typeface="黑体"/>
              </a:rPr>
              <a:t>要求：</a:t>
            </a:r>
            <a:r>
              <a:rPr dirty="0" sz="2400" spc="-5">
                <a:solidFill>
                  <a:srgbClr val="40458B"/>
                </a:solidFill>
                <a:latin typeface="黑体"/>
                <a:cs typeface="黑体"/>
              </a:rPr>
              <a:t>具有多个功能部件、或者功能部件流水化、或者兼而有之。</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a:solidFill>
                  <a:srgbClr val="40458B"/>
                </a:solidFill>
                <a:latin typeface="黑体"/>
                <a:cs typeface="黑体"/>
              </a:rPr>
              <a:t>我们假设具有</a:t>
            </a:r>
            <a:r>
              <a:rPr dirty="0" sz="2400" spc="-10">
                <a:solidFill>
                  <a:srgbClr val="D50092"/>
                </a:solidFill>
                <a:latin typeface="黑体"/>
                <a:cs typeface="黑体"/>
              </a:rPr>
              <a:t>多个功能部件。</a:t>
            </a:r>
            <a:endParaRPr sz="2400">
              <a:latin typeface="黑体"/>
              <a:cs typeface="黑体"/>
            </a:endParaRPr>
          </a:p>
          <a:p>
            <a:pPr lvl="1">
              <a:lnSpc>
                <a:spcPct val="100000"/>
              </a:lnSpc>
              <a:spcBef>
                <a:spcPts val="2070"/>
              </a:spcBef>
              <a:buClr>
                <a:srgbClr val="40458B"/>
              </a:buClr>
              <a:buFont typeface="Wingdings"/>
              <a:buChar char=""/>
            </a:pPr>
            <a:endParaRPr sz="2400">
              <a:latin typeface="黑体"/>
              <a:cs typeface="黑体"/>
            </a:endParaRPr>
          </a:p>
          <a:p>
            <a:pPr marL="469265" indent="-456565">
              <a:lnSpc>
                <a:spcPct val="100000"/>
              </a:lnSpc>
              <a:buClr>
                <a:srgbClr val="40458B"/>
              </a:buClr>
              <a:buFont typeface="Tahoma"/>
              <a:buAutoNum type="arabicPeriod" startAt="5"/>
              <a:tabLst>
                <a:tab pos="469265" algn="l"/>
                <a:tab pos="4731385" algn="l"/>
              </a:tabLst>
            </a:pPr>
            <a:r>
              <a:rPr dirty="0" sz="2400">
                <a:solidFill>
                  <a:srgbClr val="001F5F"/>
                </a:solidFill>
                <a:latin typeface="黑体"/>
                <a:cs typeface="黑体"/>
              </a:rPr>
              <a:t>指令乱序完成带来的</a:t>
            </a:r>
            <a:r>
              <a:rPr dirty="0" sz="2400">
                <a:solidFill>
                  <a:srgbClr val="008000"/>
                </a:solidFill>
                <a:latin typeface="黑体"/>
                <a:cs typeface="黑体"/>
              </a:rPr>
              <a:t>最大问</a:t>
            </a:r>
            <a:r>
              <a:rPr dirty="0" sz="2400" spc="-10">
                <a:solidFill>
                  <a:srgbClr val="008000"/>
                </a:solidFill>
                <a:latin typeface="黑体"/>
                <a:cs typeface="黑体"/>
              </a:rPr>
              <a:t>题</a:t>
            </a:r>
            <a:r>
              <a:rPr dirty="0" sz="2400" spc="-50">
                <a:solidFill>
                  <a:srgbClr val="008000"/>
                </a:solidFill>
                <a:latin typeface="Tahoma"/>
                <a:cs typeface="Tahoma"/>
              </a:rPr>
              <a:t>:</a:t>
            </a:r>
            <a:r>
              <a:rPr dirty="0" sz="2400">
                <a:solidFill>
                  <a:srgbClr val="008000"/>
                </a:solidFill>
                <a:latin typeface="Tahoma"/>
                <a:cs typeface="Tahoma"/>
              </a:rPr>
              <a:t>	</a:t>
            </a:r>
            <a:r>
              <a:rPr dirty="0" sz="2400">
                <a:solidFill>
                  <a:srgbClr val="001F5F"/>
                </a:solidFill>
                <a:latin typeface="黑体"/>
                <a:cs typeface="黑体"/>
              </a:rPr>
              <a:t>异常处理比较复</a:t>
            </a:r>
            <a:r>
              <a:rPr dirty="0" sz="2400" spc="-50">
                <a:solidFill>
                  <a:srgbClr val="001F5F"/>
                </a:solidFill>
                <a:latin typeface="黑体"/>
                <a:cs typeface="黑体"/>
              </a:rPr>
              <a:t>杂</a:t>
            </a:r>
            <a:endParaRPr sz="2400">
              <a:latin typeface="黑体"/>
              <a:cs typeface="黑体"/>
            </a:endParaRPr>
          </a:p>
          <a:p>
            <a:pPr marL="2167890">
              <a:lnSpc>
                <a:spcPct val="100000"/>
              </a:lnSpc>
              <a:spcBef>
                <a:spcPts val="1085"/>
              </a:spcBef>
            </a:pPr>
            <a:r>
              <a:rPr dirty="0" sz="2200" spc="-20" b="1">
                <a:solidFill>
                  <a:srgbClr val="9966FF"/>
                </a:solidFill>
                <a:latin typeface="宋体"/>
                <a:cs typeface="宋体"/>
              </a:rPr>
              <a:t>（精确异常处理、不精确异常处理</a:t>
            </a:r>
            <a:r>
              <a:rPr dirty="0" sz="2200" spc="-50" b="1">
                <a:solidFill>
                  <a:srgbClr val="9966FF"/>
                </a:solidFill>
                <a:latin typeface="宋体"/>
                <a:cs typeface="宋体"/>
              </a:rPr>
              <a:t>）</a:t>
            </a:r>
            <a:endParaRPr sz="2200">
              <a:latin typeface="宋体"/>
              <a:cs typeface="宋体"/>
            </a:endParaRPr>
          </a:p>
          <a:p>
            <a:pPr lvl="1" marL="1099185" indent="-457200">
              <a:lnSpc>
                <a:spcPct val="100000"/>
              </a:lnSpc>
              <a:spcBef>
                <a:spcPts val="1125"/>
              </a:spcBef>
              <a:buSzPct val="89583"/>
              <a:buFont typeface="Wingdings"/>
              <a:buChar char=""/>
              <a:tabLst>
                <a:tab pos="1099185" algn="l"/>
              </a:tabLst>
            </a:pPr>
            <a:r>
              <a:rPr dirty="0" sz="2400" spc="-5">
                <a:solidFill>
                  <a:srgbClr val="40458B"/>
                </a:solidFill>
                <a:latin typeface="黑体"/>
                <a:cs typeface="黑体"/>
              </a:rPr>
              <a:t>动态调度的处理机要保持正确的异常行为</a:t>
            </a:r>
            <a:endParaRPr sz="2400">
              <a:latin typeface="黑体"/>
              <a:cs typeface="黑体"/>
            </a:endParaRPr>
          </a:p>
          <a:p>
            <a:pPr marL="1056640" marR="5080" indent="-457834">
              <a:lnSpc>
                <a:spcPct val="120000"/>
              </a:lnSpc>
              <a:spcBef>
                <a:spcPts val="560"/>
              </a:spcBef>
              <a:buClr>
                <a:srgbClr val="4668F5"/>
              </a:buClr>
              <a:buSzPct val="68181"/>
              <a:buFont typeface="Wingdings"/>
              <a:buChar char=""/>
              <a:tabLst>
                <a:tab pos="1056640" algn="l"/>
              </a:tabLst>
            </a:pPr>
            <a:r>
              <a:rPr dirty="0" sz="2200" spc="-25" b="1">
                <a:solidFill>
                  <a:srgbClr val="9966FF"/>
                </a:solidFill>
                <a:latin typeface="宋体"/>
                <a:cs typeface="宋体"/>
              </a:rPr>
              <a:t>对于一条会产生异常的指令来说，只有当处理机确切地知道该指令将被执行时，才允许它产生异常。</a:t>
            </a:r>
            <a:endParaRPr sz="2200">
              <a:latin typeface="宋体"/>
              <a:cs typeface="宋体"/>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23/175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043127" y="782183"/>
            <a:ext cx="10694035" cy="5088890"/>
          </a:xfrm>
          <a:prstGeom prst="rect">
            <a:avLst/>
          </a:prstGeom>
        </p:spPr>
        <p:txBody>
          <a:bodyPr wrap="square" lIns="0" tIns="159385" rIns="0" bIns="0" rtlCol="0" vert="horz">
            <a:spAutoFit/>
          </a:bodyPr>
          <a:lstStyle/>
          <a:p>
            <a:pPr marL="469900" indent="-457200">
              <a:lnSpc>
                <a:spcPct val="100000"/>
              </a:lnSpc>
              <a:spcBef>
                <a:spcPts val="1255"/>
              </a:spcBef>
              <a:buSzPct val="89583"/>
              <a:buFont typeface="Wingdings"/>
              <a:buChar char=""/>
              <a:tabLst>
                <a:tab pos="469900" algn="l"/>
              </a:tabLst>
            </a:pPr>
            <a:r>
              <a:rPr dirty="0" sz="2400" spc="-15">
                <a:solidFill>
                  <a:srgbClr val="40458B"/>
                </a:solidFill>
                <a:latin typeface="黑体"/>
                <a:cs typeface="黑体"/>
              </a:rPr>
              <a:t>即使保持了正确的异常行为，动态调度处理机仍可能发生不精确异常。</a:t>
            </a:r>
            <a:endParaRPr sz="2400">
              <a:latin typeface="黑体"/>
              <a:cs typeface="黑体"/>
            </a:endParaRPr>
          </a:p>
          <a:p>
            <a:pPr marL="469900" marR="5080" indent="-457834">
              <a:lnSpc>
                <a:spcPct val="120000"/>
              </a:lnSpc>
              <a:spcBef>
                <a:spcPts val="580"/>
              </a:spcBef>
              <a:buClr>
                <a:srgbClr val="40458B"/>
              </a:buClr>
              <a:buSzPct val="89583"/>
              <a:buFont typeface="Wingdings"/>
              <a:buChar char=""/>
              <a:tabLst>
                <a:tab pos="469900" algn="l"/>
              </a:tabLst>
            </a:pPr>
            <a:r>
              <a:rPr dirty="0" sz="2400">
                <a:solidFill>
                  <a:srgbClr val="FF0000"/>
                </a:solidFill>
                <a:latin typeface="黑体"/>
                <a:cs typeface="黑体"/>
              </a:rPr>
              <a:t>不精确异常：</a:t>
            </a:r>
            <a:r>
              <a:rPr dirty="0" sz="2400">
                <a:solidFill>
                  <a:srgbClr val="40458B"/>
                </a:solidFill>
                <a:latin typeface="黑体"/>
                <a:cs typeface="黑体"/>
              </a:rPr>
              <a:t>当执行指令</a:t>
            </a:r>
            <a:r>
              <a:rPr dirty="0" sz="2400">
                <a:solidFill>
                  <a:srgbClr val="9933FF"/>
                </a:solidFill>
                <a:latin typeface="黑体"/>
                <a:cs typeface="黑体"/>
              </a:rPr>
              <a:t>i</a:t>
            </a:r>
            <a:r>
              <a:rPr dirty="0" sz="2400">
                <a:solidFill>
                  <a:srgbClr val="40458B"/>
                </a:solidFill>
                <a:latin typeface="黑体"/>
                <a:cs typeface="黑体"/>
              </a:rPr>
              <a:t>导致发生异常时，处理机的现场（状态）</a:t>
            </a:r>
            <a:r>
              <a:rPr dirty="0" sz="2400" spc="-15">
                <a:solidFill>
                  <a:srgbClr val="40458B"/>
                </a:solidFill>
                <a:latin typeface="黑体"/>
                <a:cs typeface="黑体"/>
              </a:rPr>
              <a:t>与严格按</a:t>
            </a:r>
            <a:r>
              <a:rPr dirty="0" sz="2400">
                <a:solidFill>
                  <a:srgbClr val="40458B"/>
                </a:solidFill>
                <a:latin typeface="黑体"/>
                <a:cs typeface="黑体"/>
              </a:rPr>
              <a:t>程序顺序执行时指令</a:t>
            </a:r>
            <a:r>
              <a:rPr dirty="0" sz="2400">
                <a:solidFill>
                  <a:srgbClr val="9933FF"/>
                </a:solidFill>
                <a:latin typeface="黑体"/>
                <a:cs typeface="黑体"/>
              </a:rPr>
              <a:t>i</a:t>
            </a:r>
            <a:r>
              <a:rPr dirty="0" sz="2400" spc="-10">
                <a:solidFill>
                  <a:srgbClr val="40458B"/>
                </a:solidFill>
                <a:latin typeface="黑体"/>
                <a:cs typeface="黑体"/>
              </a:rPr>
              <a:t>的现场不同。</a:t>
            </a:r>
            <a:endParaRPr sz="2400">
              <a:latin typeface="黑体"/>
              <a:cs typeface="黑体"/>
            </a:endParaRPr>
          </a:p>
          <a:p>
            <a:pPr lvl="1" marL="823594" indent="-457200">
              <a:lnSpc>
                <a:spcPct val="100000"/>
              </a:lnSpc>
              <a:spcBef>
                <a:spcPts val="1025"/>
              </a:spcBef>
              <a:buClr>
                <a:srgbClr val="4668F5"/>
              </a:buClr>
              <a:buSzPct val="70000"/>
              <a:buFont typeface="Wingdings"/>
              <a:buChar char=""/>
              <a:tabLst>
                <a:tab pos="823594" algn="l"/>
              </a:tabLst>
            </a:pPr>
            <a:r>
              <a:rPr dirty="0" sz="2000" spc="-15" b="1">
                <a:solidFill>
                  <a:srgbClr val="9966FF"/>
                </a:solidFill>
                <a:latin typeface="宋体"/>
                <a:cs typeface="宋体"/>
              </a:rPr>
              <a:t>发生不精确异常的</a:t>
            </a:r>
            <a:r>
              <a:rPr dirty="0" sz="2000" spc="-15" b="1">
                <a:solidFill>
                  <a:srgbClr val="D50092"/>
                </a:solidFill>
                <a:latin typeface="宋体"/>
                <a:cs typeface="宋体"/>
              </a:rPr>
              <a:t>原因：</a:t>
            </a:r>
            <a:r>
              <a:rPr dirty="0" sz="2000" spc="-20" b="1">
                <a:solidFill>
                  <a:srgbClr val="9966FF"/>
                </a:solidFill>
                <a:latin typeface="宋体"/>
                <a:cs typeface="宋体"/>
              </a:rPr>
              <a:t>为当发生异常</a:t>
            </a:r>
            <a:r>
              <a:rPr dirty="0" sz="2000" spc="-15" b="1">
                <a:solidFill>
                  <a:srgbClr val="9966FF"/>
                </a:solidFill>
                <a:latin typeface="宋体"/>
                <a:cs typeface="宋体"/>
              </a:rPr>
              <a:t>（设为指令</a:t>
            </a:r>
            <a:r>
              <a:rPr dirty="0" sz="2000" spc="-20" b="1">
                <a:solidFill>
                  <a:srgbClr val="9933FF"/>
                </a:solidFill>
                <a:latin typeface="宋体"/>
                <a:cs typeface="宋体"/>
              </a:rPr>
              <a:t>i</a:t>
            </a:r>
            <a:r>
              <a:rPr dirty="0" sz="2000" spc="-20" b="1">
                <a:solidFill>
                  <a:srgbClr val="9966FF"/>
                </a:solidFill>
                <a:latin typeface="宋体"/>
                <a:cs typeface="宋体"/>
              </a:rPr>
              <a:t>）</a:t>
            </a:r>
            <a:r>
              <a:rPr dirty="0" sz="2000" spc="-35" b="1">
                <a:solidFill>
                  <a:srgbClr val="9966FF"/>
                </a:solidFill>
                <a:latin typeface="宋体"/>
                <a:cs typeface="宋体"/>
              </a:rPr>
              <a:t>时：</a:t>
            </a:r>
            <a:endParaRPr sz="2000">
              <a:latin typeface="宋体"/>
              <a:cs typeface="宋体"/>
            </a:endParaRPr>
          </a:p>
          <a:p>
            <a:pPr lvl="2" marL="966469" indent="-381000">
              <a:lnSpc>
                <a:spcPct val="100000"/>
              </a:lnSpc>
              <a:spcBef>
                <a:spcPts val="894"/>
              </a:spcBef>
              <a:buClr>
                <a:srgbClr val="9966FF"/>
              </a:buClr>
              <a:buSzPct val="63888"/>
              <a:buFont typeface="Wingdings"/>
              <a:buChar char=""/>
              <a:tabLst>
                <a:tab pos="966469" algn="l"/>
              </a:tabLst>
            </a:pPr>
            <a:r>
              <a:rPr dirty="0" sz="1800" spc="-10" b="1">
                <a:solidFill>
                  <a:srgbClr val="FF09FF"/>
                </a:solidFill>
                <a:latin typeface="宋体"/>
                <a:cs typeface="宋体"/>
              </a:rPr>
              <a:t>流水线可能已经执行完按程序顺序是位于指令</a:t>
            </a:r>
            <a:r>
              <a:rPr dirty="0" sz="1800" spc="-10" b="1">
                <a:solidFill>
                  <a:srgbClr val="9933FF"/>
                </a:solidFill>
                <a:latin typeface="宋体"/>
                <a:cs typeface="宋体"/>
              </a:rPr>
              <a:t>i</a:t>
            </a:r>
            <a:r>
              <a:rPr dirty="0" sz="1800" spc="-20" b="1">
                <a:solidFill>
                  <a:srgbClr val="FF09FF"/>
                </a:solidFill>
                <a:latin typeface="宋体"/>
                <a:cs typeface="宋体"/>
              </a:rPr>
              <a:t>之后的指令；</a:t>
            </a:r>
            <a:endParaRPr sz="1800">
              <a:latin typeface="宋体"/>
              <a:cs typeface="宋体"/>
            </a:endParaRPr>
          </a:p>
          <a:p>
            <a:pPr lvl="2" marL="966469" indent="-381000">
              <a:lnSpc>
                <a:spcPct val="100000"/>
              </a:lnSpc>
              <a:spcBef>
                <a:spcPts val="865"/>
              </a:spcBef>
              <a:buClr>
                <a:srgbClr val="9966FF"/>
              </a:buClr>
              <a:buSzPct val="63888"/>
              <a:buFont typeface="Wingdings"/>
              <a:buChar char=""/>
              <a:tabLst>
                <a:tab pos="966469" algn="l"/>
              </a:tabLst>
            </a:pPr>
            <a:r>
              <a:rPr dirty="0" sz="1800" spc="-10" b="1">
                <a:solidFill>
                  <a:srgbClr val="FF09FF"/>
                </a:solidFill>
                <a:latin typeface="宋体"/>
                <a:cs typeface="宋体"/>
              </a:rPr>
              <a:t>流水线可能还没完成按程序顺序是指令</a:t>
            </a:r>
            <a:r>
              <a:rPr dirty="0" sz="1800" spc="-10" b="1">
                <a:solidFill>
                  <a:srgbClr val="9933FF"/>
                </a:solidFill>
                <a:latin typeface="宋体"/>
                <a:cs typeface="宋体"/>
              </a:rPr>
              <a:t>i</a:t>
            </a:r>
            <a:r>
              <a:rPr dirty="0" sz="1800" spc="-20" b="1">
                <a:solidFill>
                  <a:srgbClr val="FF09FF"/>
                </a:solidFill>
                <a:latin typeface="宋体"/>
                <a:cs typeface="宋体"/>
              </a:rPr>
              <a:t>之前的指令。</a:t>
            </a:r>
            <a:endParaRPr sz="1800">
              <a:latin typeface="宋体"/>
              <a:cs typeface="宋体"/>
            </a:endParaRPr>
          </a:p>
          <a:p>
            <a:pPr lvl="2" marL="966469" indent="-381000">
              <a:lnSpc>
                <a:spcPct val="100000"/>
              </a:lnSpc>
              <a:spcBef>
                <a:spcPts val="865"/>
              </a:spcBef>
              <a:buClr>
                <a:srgbClr val="9966FF"/>
              </a:buClr>
              <a:buSzPct val="63888"/>
              <a:buFont typeface="Wingdings"/>
              <a:buChar char=""/>
              <a:tabLst>
                <a:tab pos="966469" algn="l"/>
              </a:tabLst>
            </a:pPr>
            <a:r>
              <a:rPr dirty="0" sz="1800" spc="-15" b="1">
                <a:solidFill>
                  <a:srgbClr val="FF09FF"/>
                </a:solidFill>
                <a:latin typeface="宋体"/>
                <a:cs typeface="宋体"/>
              </a:rPr>
              <a:t>不精确异常使得在异常处理后难以接着继续执行程序。</a:t>
            </a:r>
            <a:endParaRPr sz="1800">
              <a:latin typeface="宋体"/>
              <a:cs typeface="宋体"/>
            </a:endParaRPr>
          </a:p>
          <a:p>
            <a:pPr marL="535305" marR="20320" indent="-468630">
              <a:lnSpc>
                <a:spcPct val="120000"/>
              </a:lnSpc>
              <a:spcBef>
                <a:spcPts val="480"/>
              </a:spcBef>
              <a:buClr>
                <a:srgbClr val="40458B"/>
              </a:buClr>
              <a:buSzPct val="89583"/>
              <a:buFont typeface="Wingdings"/>
              <a:buChar char=""/>
              <a:tabLst>
                <a:tab pos="535305" algn="l"/>
              </a:tabLst>
            </a:pPr>
            <a:r>
              <a:rPr dirty="0" sz="2400">
                <a:solidFill>
                  <a:srgbClr val="FF0000"/>
                </a:solidFill>
                <a:latin typeface="黑体"/>
                <a:cs typeface="黑体"/>
              </a:rPr>
              <a:t>精确异常：</a:t>
            </a:r>
            <a:r>
              <a:rPr dirty="0" sz="2400">
                <a:solidFill>
                  <a:srgbClr val="40458B"/>
                </a:solidFill>
                <a:latin typeface="黑体"/>
                <a:cs typeface="黑体"/>
              </a:rPr>
              <a:t>如果发生异常时，处理机的现场跟严格按程序顺序执行时指令</a:t>
            </a:r>
            <a:r>
              <a:rPr dirty="0" sz="2400" spc="-10">
                <a:solidFill>
                  <a:srgbClr val="9933FF"/>
                </a:solidFill>
                <a:latin typeface="Tahoma"/>
                <a:cs typeface="Tahoma"/>
              </a:rPr>
              <a:t>i</a:t>
            </a:r>
            <a:r>
              <a:rPr dirty="0" sz="2400" spc="-50">
                <a:solidFill>
                  <a:srgbClr val="40458B"/>
                </a:solidFill>
                <a:latin typeface="黑体"/>
                <a:cs typeface="黑体"/>
              </a:rPr>
              <a:t>的</a:t>
            </a:r>
            <a:r>
              <a:rPr dirty="0" sz="2400" spc="-15">
                <a:solidFill>
                  <a:srgbClr val="40458B"/>
                </a:solidFill>
                <a:latin typeface="黑体"/>
                <a:cs typeface="黑体"/>
              </a:rPr>
              <a:t>现场相同</a:t>
            </a:r>
            <a:endParaRPr sz="2400">
              <a:latin typeface="黑体"/>
              <a:cs typeface="黑体"/>
            </a:endParaRPr>
          </a:p>
          <a:p>
            <a:pPr>
              <a:lnSpc>
                <a:spcPct val="100000"/>
              </a:lnSpc>
              <a:spcBef>
                <a:spcPts val="2415"/>
              </a:spcBef>
            </a:pPr>
            <a:endParaRPr sz="2400">
              <a:latin typeface="黑体"/>
              <a:cs typeface="黑体"/>
            </a:endParaRPr>
          </a:p>
          <a:p>
            <a:pPr marL="500380">
              <a:lnSpc>
                <a:spcPct val="100000"/>
              </a:lnSpc>
            </a:pPr>
            <a:r>
              <a:rPr dirty="0" sz="2400">
                <a:solidFill>
                  <a:srgbClr val="FF0000"/>
                </a:solidFill>
                <a:latin typeface="黑体"/>
                <a:cs typeface="黑体"/>
              </a:rPr>
              <a:t>不精确异常</a:t>
            </a:r>
            <a:r>
              <a:rPr dirty="0" sz="2400" spc="-5">
                <a:solidFill>
                  <a:srgbClr val="40458B"/>
                </a:solidFill>
                <a:latin typeface="黑体"/>
                <a:cs typeface="黑体"/>
              </a:rPr>
              <a:t>在使得异常执行后难以接着正常执行。</a:t>
            </a:r>
            <a:endParaRPr sz="2400">
              <a:latin typeface="黑体"/>
              <a:cs typeface="黑体"/>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24/175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pic>
        <p:nvPicPr>
          <p:cNvPr id="10" name="object 10" descr=""/>
          <p:cNvPicPr/>
          <p:nvPr/>
        </p:nvPicPr>
        <p:blipFill>
          <a:blip r:embed="rId2" cstate="print"/>
          <a:stretch>
            <a:fillRect/>
          </a:stretch>
        </p:blipFill>
        <p:spPr>
          <a:xfrm>
            <a:off x="2830068" y="2498979"/>
            <a:ext cx="238125" cy="250825"/>
          </a:xfrm>
          <a:prstGeom prst="rect">
            <a:avLst/>
          </a:prstGeom>
        </p:spPr>
      </p:pic>
      <p:sp>
        <p:nvSpPr>
          <p:cNvPr id="11" name="object 11" descr=""/>
          <p:cNvSpPr txBox="1"/>
          <p:nvPr/>
        </p:nvSpPr>
        <p:spPr>
          <a:xfrm>
            <a:off x="918768" y="1019047"/>
            <a:ext cx="10593705" cy="3206115"/>
          </a:xfrm>
          <a:prstGeom prst="rect">
            <a:avLst/>
          </a:prstGeom>
        </p:spPr>
        <p:txBody>
          <a:bodyPr wrap="square" lIns="0" tIns="13335" rIns="0" bIns="0" rtlCol="0" vert="horz">
            <a:spAutoFit/>
          </a:bodyPr>
          <a:lstStyle/>
          <a:p>
            <a:pPr marL="280670">
              <a:lnSpc>
                <a:spcPct val="100000"/>
              </a:lnSpc>
              <a:spcBef>
                <a:spcPts val="105"/>
              </a:spcBef>
            </a:pPr>
            <a:r>
              <a:rPr dirty="0" sz="2600">
                <a:solidFill>
                  <a:srgbClr val="0000CC"/>
                </a:solidFill>
                <a:latin typeface="黑体"/>
                <a:cs typeface="黑体"/>
              </a:rPr>
              <a:t>5.3.2</a:t>
            </a:r>
            <a:r>
              <a:rPr dirty="0" sz="2600" spc="-15">
                <a:solidFill>
                  <a:srgbClr val="0000CC"/>
                </a:solidFill>
                <a:latin typeface="黑体"/>
                <a:cs typeface="黑体"/>
              </a:rPr>
              <a:t> 记分牌动态调度算法</a:t>
            </a:r>
            <a:endParaRPr sz="2600">
              <a:latin typeface="黑体"/>
              <a:cs typeface="黑体"/>
            </a:endParaRPr>
          </a:p>
          <a:p>
            <a:pPr>
              <a:lnSpc>
                <a:spcPct val="100000"/>
              </a:lnSpc>
              <a:spcBef>
                <a:spcPts val="434"/>
              </a:spcBef>
            </a:pPr>
            <a:endParaRPr sz="2600">
              <a:latin typeface="黑体"/>
              <a:cs typeface="黑体"/>
            </a:endParaRPr>
          </a:p>
          <a:p>
            <a:pPr marL="354965" marR="95885" indent="-342900">
              <a:lnSpc>
                <a:spcPct val="120100"/>
              </a:lnSpc>
              <a:buClr>
                <a:srgbClr val="40458B"/>
              </a:buClr>
              <a:buFont typeface="Wingdings"/>
              <a:buChar char=""/>
              <a:tabLst>
                <a:tab pos="354965" algn="l"/>
                <a:tab pos="2183765" algn="l"/>
              </a:tabLst>
            </a:pPr>
            <a:r>
              <a:rPr dirty="0" sz="2400" spc="-25">
                <a:solidFill>
                  <a:srgbClr val="FF0000"/>
                </a:solidFill>
                <a:latin typeface="Tahoma"/>
                <a:cs typeface="Tahoma"/>
              </a:rPr>
              <a:t>MIPS</a:t>
            </a:r>
            <a:r>
              <a:rPr dirty="0" sz="2400">
                <a:solidFill>
                  <a:srgbClr val="FF0000"/>
                </a:solidFill>
                <a:latin typeface="黑体"/>
                <a:cs typeface="黑体"/>
              </a:rPr>
              <a:t>指令将指令周期分为：</a:t>
            </a:r>
            <a:r>
              <a:rPr dirty="0" sz="2400">
                <a:solidFill>
                  <a:srgbClr val="001F5F"/>
                </a:solidFill>
                <a:latin typeface="黑体"/>
                <a:cs typeface="黑体"/>
              </a:rPr>
              <a:t>取指令、指令译码、执行指令、存储器访问和</a:t>
            </a:r>
            <a:r>
              <a:rPr dirty="0" sz="2400" spc="-50">
                <a:solidFill>
                  <a:srgbClr val="001F5F"/>
                </a:solidFill>
                <a:latin typeface="黑体"/>
                <a:cs typeface="黑体"/>
              </a:rPr>
              <a:t>分</a:t>
            </a:r>
            <a:r>
              <a:rPr dirty="0" sz="2400">
                <a:solidFill>
                  <a:srgbClr val="001F5F"/>
                </a:solidFill>
                <a:latin typeface="黑体"/>
                <a:cs typeface="黑体"/>
              </a:rPr>
              <a:t>支完成、</a:t>
            </a:r>
            <a:r>
              <a:rPr dirty="0" sz="2400" spc="-50">
                <a:solidFill>
                  <a:srgbClr val="001F5F"/>
                </a:solidFill>
                <a:latin typeface="黑体"/>
                <a:cs typeface="黑体"/>
              </a:rPr>
              <a:t>写</a:t>
            </a:r>
            <a:r>
              <a:rPr dirty="0" sz="2400">
                <a:solidFill>
                  <a:srgbClr val="001F5F"/>
                </a:solidFill>
                <a:latin typeface="黑体"/>
                <a:cs typeface="黑体"/>
              </a:rPr>
              <a:t>	五个周期不同</a:t>
            </a:r>
            <a:r>
              <a:rPr dirty="0" sz="2400" spc="-50">
                <a:solidFill>
                  <a:srgbClr val="001F5F"/>
                </a:solidFill>
                <a:latin typeface="黑体"/>
                <a:cs typeface="黑体"/>
              </a:rPr>
              <a:t>。</a:t>
            </a:r>
            <a:endParaRPr sz="2400">
              <a:latin typeface="黑体"/>
              <a:cs typeface="黑体"/>
            </a:endParaRPr>
          </a:p>
          <a:p>
            <a:pPr lvl="1" marL="1056005" indent="-457200">
              <a:lnSpc>
                <a:spcPct val="100000"/>
              </a:lnSpc>
              <a:spcBef>
                <a:spcPts val="1085"/>
              </a:spcBef>
              <a:buClr>
                <a:srgbClr val="4668F5"/>
              </a:buClr>
              <a:buSzPct val="68181"/>
              <a:buFont typeface="Wingdings"/>
              <a:buChar char=""/>
              <a:tabLst>
                <a:tab pos="1056005" algn="l"/>
              </a:tabLst>
            </a:pPr>
            <a:r>
              <a:rPr dirty="0" sz="2200" spc="-25" b="1">
                <a:solidFill>
                  <a:srgbClr val="9966FF"/>
                </a:solidFill>
                <a:latin typeface="宋体"/>
                <a:cs typeface="宋体"/>
              </a:rPr>
              <a:t>不管什么指令，即使不要访存，也要执行访存周期</a:t>
            </a:r>
            <a:endParaRPr sz="2200">
              <a:latin typeface="宋体"/>
              <a:cs typeface="宋体"/>
            </a:endParaRPr>
          </a:p>
          <a:p>
            <a:pPr marL="354965" indent="-342265">
              <a:lnSpc>
                <a:spcPct val="100000"/>
              </a:lnSpc>
              <a:spcBef>
                <a:spcPts val="1120"/>
              </a:spcBef>
              <a:buClr>
                <a:srgbClr val="40458B"/>
              </a:buClr>
              <a:buFont typeface="Wingdings"/>
              <a:buChar char=""/>
              <a:tabLst>
                <a:tab pos="354965" algn="l"/>
              </a:tabLst>
            </a:pPr>
            <a:r>
              <a:rPr dirty="0" sz="2400" spc="-10">
                <a:solidFill>
                  <a:srgbClr val="FF0000"/>
                </a:solidFill>
                <a:latin typeface="黑体"/>
                <a:cs typeface="黑体"/>
              </a:rPr>
              <a:t>记分牌算法，</a:t>
            </a:r>
            <a:r>
              <a:rPr dirty="0" sz="2400" spc="-5">
                <a:solidFill>
                  <a:srgbClr val="001F5F"/>
                </a:solidFill>
                <a:latin typeface="黑体"/>
                <a:cs typeface="黑体"/>
              </a:rPr>
              <a:t>将所有指令划分为如下</a:t>
            </a:r>
            <a:r>
              <a:rPr dirty="0" sz="2400" spc="-25">
                <a:solidFill>
                  <a:srgbClr val="001F5F"/>
                </a:solidFill>
                <a:latin typeface="Tahoma"/>
                <a:cs typeface="Tahoma"/>
              </a:rPr>
              <a:t>4</a:t>
            </a:r>
            <a:r>
              <a:rPr dirty="0" sz="2400" spc="-15">
                <a:solidFill>
                  <a:srgbClr val="001F5F"/>
                </a:solidFill>
                <a:latin typeface="黑体"/>
                <a:cs typeface="黑体"/>
              </a:rPr>
              <a:t>个阶段，流出，读操作数，执行，写结</a:t>
            </a:r>
            <a:endParaRPr sz="2400">
              <a:latin typeface="黑体"/>
              <a:cs typeface="黑体"/>
            </a:endParaRPr>
          </a:p>
          <a:p>
            <a:pPr marL="354965">
              <a:lnSpc>
                <a:spcPct val="100000"/>
              </a:lnSpc>
              <a:spcBef>
                <a:spcPts val="580"/>
              </a:spcBef>
            </a:pPr>
            <a:r>
              <a:rPr dirty="0" sz="2400">
                <a:solidFill>
                  <a:srgbClr val="001F5F"/>
                </a:solidFill>
                <a:latin typeface="黑体"/>
                <a:cs typeface="黑体"/>
              </a:rPr>
              <a:t>果</a:t>
            </a:r>
            <a:r>
              <a:rPr dirty="0" sz="2400" spc="-25">
                <a:solidFill>
                  <a:srgbClr val="001F5F"/>
                </a:solidFill>
                <a:latin typeface="Tahoma"/>
                <a:cs typeface="Tahoma"/>
              </a:rPr>
              <a:t>4</a:t>
            </a:r>
            <a:r>
              <a:rPr dirty="0" sz="2400" spc="-15">
                <a:solidFill>
                  <a:srgbClr val="001F5F"/>
                </a:solidFill>
                <a:latin typeface="黑体"/>
                <a:cs typeface="黑体"/>
              </a:rPr>
              <a:t>个阶段。</a:t>
            </a:r>
            <a:endParaRPr sz="2400">
              <a:latin typeface="黑体"/>
              <a:cs typeface="黑体"/>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25/175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350391" y="117094"/>
            <a:ext cx="3684904"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799591" y="1468881"/>
            <a:ext cx="11036935" cy="3464560"/>
          </a:xfrm>
          <a:prstGeom prst="rect">
            <a:avLst/>
          </a:prstGeom>
        </p:spPr>
        <p:txBody>
          <a:bodyPr wrap="square" lIns="0" tIns="12700" rIns="0" bIns="0" rtlCol="0" vert="horz">
            <a:spAutoFit/>
          </a:bodyPr>
          <a:lstStyle/>
          <a:p>
            <a:pPr marL="487680" marR="9045575">
              <a:lnSpc>
                <a:spcPct val="140000"/>
              </a:lnSpc>
              <a:spcBef>
                <a:spcPts val="100"/>
              </a:spcBef>
            </a:pPr>
            <a:r>
              <a:rPr dirty="0" sz="2400">
                <a:solidFill>
                  <a:srgbClr val="001F5F"/>
                </a:solidFill>
                <a:latin typeface="Tahoma"/>
                <a:cs typeface="Tahoma"/>
              </a:rPr>
              <a:t>ADD</a:t>
            </a:r>
            <a:r>
              <a:rPr dirty="0" sz="2400" spc="-15">
                <a:solidFill>
                  <a:srgbClr val="001F5F"/>
                </a:solidFill>
                <a:latin typeface="Tahoma"/>
                <a:cs typeface="Tahoma"/>
              </a:rPr>
              <a:t> </a:t>
            </a:r>
            <a:r>
              <a:rPr dirty="0" sz="2400" spc="-10">
                <a:solidFill>
                  <a:srgbClr val="001F5F"/>
                </a:solidFill>
                <a:latin typeface="Tahoma"/>
                <a:cs typeface="Tahoma"/>
              </a:rPr>
              <a:t>R1,R2 </a:t>
            </a:r>
            <a:r>
              <a:rPr dirty="0" sz="2400">
                <a:solidFill>
                  <a:srgbClr val="001F5F"/>
                </a:solidFill>
                <a:latin typeface="Tahoma"/>
                <a:cs typeface="Tahoma"/>
              </a:rPr>
              <a:t>SUB</a:t>
            </a:r>
            <a:r>
              <a:rPr dirty="0" sz="2400" spc="-35">
                <a:solidFill>
                  <a:srgbClr val="001F5F"/>
                </a:solidFill>
                <a:latin typeface="Tahoma"/>
                <a:cs typeface="Tahoma"/>
              </a:rPr>
              <a:t> </a:t>
            </a:r>
            <a:r>
              <a:rPr dirty="0" sz="2400" spc="-10">
                <a:solidFill>
                  <a:srgbClr val="001F5F"/>
                </a:solidFill>
                <a:latin typeface="Tahoma"/>
                <a:cs typeface="Tahoma"/>
              </a:rPr>
              <a:t>R1,R3</a:t>
            </a:r>
            <a:endParaRPr sz="2400">
              <a:latin typeface="Tahoma"/>
              <a:cs typeface="Tahoma"/>
            </a:endParaRPr>
          </a:p>
          <a:p>
            <a:pPr marL="12700" marR="65405">
              <a:lnSpc>
                <a:spcPct val="120000"/>
              </a:lnSpc>
              <a:spcBef>
                <a:spcPts val="580"/>
              </a:spcBef>
            </a:pPr>
            <a:r>
              <a:rPr dirty="0" sz="2400" spc="-5">
                <a:solidFill>
                  <a:srgbClr val="001F5F"/>
                </a:solidFill>
                <a:latin typeface="黑体"/>
                <a:cs typeface="黑体"/>
              </a:rPr>
              <a:t>在乱序执行的情况下，</a:t>
            </a:r>
            <a:r>
              <a:rPr dirty="0" sz="2400" spc="-10">
                <a:solidFill>
                  <a:srgbClr val="001F5F"/>
                </a:solidFill>
                <a:latin typeface="Tahoma"/>
                <a:cs typeface="Tahoma"/>
              </a:rPr>
              <a:t>SUB</a:t>
            </a:r>
            <a:r>
              <a:rPr dirty="0" sz="2400">
                <a:solidFill>
                  <a:srgbClr val="001F5F"/>
                </a:solidFill>
                <a:latin typeface="黑体"/>
                <a:cs typeface="黑体"/>
              </a:rPr>
              <a:t>先于</a:t>
            </a:r>
            <a:r>
              <a:rPr dirty="0" sz="2400">
                <a:solidFill>
                  <a:srgbClr val="001F5F"/>
                </a:solidFill>
                <a:latin typeface="Tahoma"/>
                <a:cs typeface="Tahoma"/>
              </a:rPr>
              <a:t>ADD</a:t>
            </a:r>
            <a:r>
              <a:rPr dirty="0" sz="2400" spc="-5">
                <a:solidFill>
                  <a:srgbClr val="001F5F"/>
                </a:solidFill>
                <a:latin typeface="黑体"/>
                <a:cs typeface="黑体"/>
              </a:rPr>
              <a:t>指令执行，</a:t>
            </a:r>
            <a:r>
              <a:rPr dirty="0" sz="2400" spc="-20">
                <a:solidFill>
                  <a:srgbClr val="001F5F"/>
                </a:solidFill>
                <a:latin typeface="Tahoma"/>
                <a:cs typeface="Tahoma"/>
              </a:rPr>
              <a:t>R1</a:t>
            </a:r>
            <a:r>
              <a:rPr dirty="0" sz="2400" spc="-5">
                <a:solidFill>
                  <a:srgbClr val="001F5F"/>
                </a:solidFill>
                <a:latin typeface="黑体"/>
                <a:cs typeface="黑体"/>
              </a:rPr>
              <a:t>最后更新的结果居然是加法指令的。因此引起了写后写冲突。</a:t>
            </a:r>
            <a:endParaRPr sz="2400">
              <a:latin typeface="黑体"/>
              <a:cs typeface="黑体"/>
            </a:endParaRPr>
          </a:p>
          <a:p>
            <a:pPr>
              <a:lnSpc>
                <a:spcPct val="100000"/>
              </a:lnSpc>
              <a:spcBef>
                <a:spcPts val="1485"/>
              </a:spcBef>
            </a:pPr>
            <a:endParaRPr sz="2400">
              <a:latin typeface="黑体"/>
              <a:cs typeface="黑体"/>
            </a:endParaRPr>
          </a:p>
          <a:p>
            <a:pPr marL="354965" marR="5080" indent="-342900">
              <a:lnSpc>
                <a:spcPct val="120000"/>
              </a:lnSpc>
              <a:spcBef>
                <a:spcPts val="5"/>
              </a:spcBef>
              <a:buClr>
                <a:srgbClr val="40458B"/>
              </a:buClr>
              <a:buFont typeface="Wingdings"/>
              <a:buChar char=""/>
              <a:tabLst>
                <a:tab pos="354965" algn="l"/>
              </a:tabLst>
            </a:pPr>
            <a:r>
              <a:rPr dirty="0" sz="2400">
                <a:solidFill>
                  <a:srgbClr val="FF0000"/>
                </a:solidFill>
                <a:latin typeface="黑体"/>
                <a:cs typeface="黑体"/>
              </a:rPr>
              <a:t>解决方法</a:t>
            </a:r>
            <a:r>
              <a:rPr dirty="0" sz="2400" spc="-5">
                <a:solidFill>
                  <a:srgbClr val="001F5F"/>
                </a:solidFill>
                <a:latin typeface="黑体"/>
                <a:cs typeface="黑体"/>
              </a:rPr>
              <a:t>：指令之间可以实现乱序的执行，但要保障是正确的乱序执行，一定程</a:t>
            </a:r>
            <a:r>
              <a:rPr dirty="0" sz="2400">
                <a:solidFill>
                  <a:srgbClr val="001F5F"/>
                </a:solidFill>
                <a:latin typeface="黑体"/>
                <a:cs typeface="黑体"/>
              </a:rPr>
              <a:t>度可避免</a:t>
            </a:r>
            <a:r>
              <a:rPr dirty="0" sz="2400" spc="-10">
                <a:solidFill>
                  <a:srgbClr val="001F5F"/>
                </a:solidFill>
                <a:latin typeface="Tahoma"/>
                <a:cs typeface="Tahoma"/>
              </a:rPr>
              <a:t>WAW</a:t>
            </a:r>
            <a:r>
              <a:rPr dirty="0" sz="2400" spc="-10">
                <a:solidFill>
                  <a:srgbClr val="001F5F"/>
                </a:solidFill>
                <a:latin typeface="黑体"/>
                <a:cs typeface="黑体"/>
              </a:rPr>
              <a:t>冲突或者结构冲突。</a:t>
            </a:r>
            <a:endParaRPr sz="2400">
              <a:latin typeface="黑体"/>
              <a:cs typeface="黑体"/>
            </a:endParaRPr>
          </a:p>
        </p:txBody>
      </p:sp>
      <p:sp>
        <p:nvSpPr>
          <p:cNvPr id="11" name="object 11" descr=""/>
          <p:cNvSpPr txBox="1"/>
          <p:nvPr/>
        </p:nvSpPr>
        <p:spPr>
          <a:xfrm>
            <a:off x="5265801" y="225044"/>
            <a:ext cx="399224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5.3.2</a:t>
            </a:r>
            <a:r>
              <a:rPr dirty="0" sz="2600" spc="-15">
                <a:solidFill>
                  <a:srgbClr val="0000CC"/>
                </a:solidFill>
                <a:latin typeface="黑体"/>
                <a:cs typeface="黑体"/>
              </a:rPr>
              <a:t> 记分牌动态调度算法</a:t>
            </a:r>
            <a:endParaRPr sz="2600">
              <a:latin typeface="黑体"/>
              <a:cs typeface="黑体"/>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26/175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350391" y="119837"/>
            <a:ext cx="3686175" cy="514350"/>
          </a:xfrm>
          <a:prstGeom prst="rect"/>
        </p:spPr>
        <p:txBody>
          <a:bodyPr wrap="square" lIns="0" tIns="13335" rIns="0" bIns="0" rtlCol="0" vert="horz">
            <a:spAutoFit/>
          </a:bodyPr>
          <a:lstStyle/>
          <a:p>
            <a:pPr marL="12700">
              <a:lnSpc>
                <a:spcPct val="100000"/>
              </a:lnSpc>
              <a:spcBef>
                <a:spcPts val="105"/>
              </a:spcBef>
            </a:pPr>
            <a:r>
              <a:rPr dirty="0"/>
              <a:t>5.3</a:t>
            </a:r>
            <a:r>
              <a:rPr dirty="0" spc="-20"/>
              <a:t> 指令的动态调度</a:t>
            </a:r>
          </a:p>
        </p:txBody>
      </p:sp>
      <p:sp>
        <p:nvSpPr>
          <p:cNvPr id="10" name="object 10" descr=""/>
          <p:cNvSpPr txBox="1"/>
          <p:nvPr/>
        </p:nvSpPr>
        <p:spPr>
          <a:xfrm>
            <a:off x="305815" y="727913"/>
            <a:ext cx="11435080" cy="2524760"/>
          </a:xfrm>
          <a:prstGeom prst="rect">
            <a:avLst/>
          </a:prstGeom>
        </p:spPr>
        <p:txBody>
          <a:bodyPr wrap="square" lIns="0" tIns="13335" rIns="0" bIns="0" rtlCol="0" vert="horz">
            <a:spAutoFit/>
          </a:bodyPr>
          <a:lstStyle/>
          <a:p>
            <a:pPr marL="1057275">
              <a:lnSpc>
                <a:spcPct val="100000"/>
              </a:lnSpc>
              <a:spcBef>
                <a:spcPts val="105"/>
              </a:spcBef>
            </a:pPr>
            <a:r>
              <a:rPr dirty="0" sz="2600">
                <a:solidFill>
                  <a:srgbClr val="0000CC"/>
                </a:solidFill>
                <a:latin typeface="黑体"/>
                <a:cs typeface="黑体"/>
              </a:rPr>
              <a:t>5.3.2</a:t>
            </a:r>
            <a:r>
              <a:rPr dirty="0" sz="2600" spc="-25">
                <a:solidFill>
                  <a:srgbClr val="0000CC"/>
                </a:solidFill>
                <a:latin typeface="黑体"/>
                <a:cs typeface="黑体"/>
              </a:rPr>
              <a:t> 记分牌动态调度算法</a:t>
            </a:r>
            <a:endParaRPr sz="2600">
              <a:latin typeface="黑体"/>
              <a:cs typeface="黑体"/>
            </a:endParaRPr>
          </a:p>
          <a:p>
            <a:pPr marL="355600" marR="5080" indent="-342900">
              <a:lnSpc>
                <a:spcPct val="120000"/>
              </a:lnSpc>
              <a:spcBef>
                <a:spcPts val="2145"/>
              </a:spcBef>
              <a:buClr>
                <a:srgbClr val="40458B"/>
              </a:buClr>
              <a:buFont typeface="Wingdings"/>
              <a:buChar char=""/>
              <a:tabLst>
                <a:tab pos="355600" algn="l"/>
              </a:tabLst>
            </a:pPr>
            <a:r>
              <a:rPr dirty="0" sz="2400">
                <a:solidFill>
                  <a:srgbClr val="FF0000"/>
                </a:solidFill>
                <a:latin typeface="黑体"/>
                <a:cs typeface="黑体"/>
              </a:rPr>
              <a:t>记分牌算法思想：</a:t>
            </a:r>
            <a:r>
              <a:rPr dirty="0" sz="2400">
                <a:solidFill>
                  <a:srgbClr val="2C44A3"/>
                </a:solidFill>
                <a:latin typeface="黑体"/>
                <a:cs typeface="黑体"/>
              </a:rPr>
              <a:t>在没有结构冲突时</a:t>
            </a:r>
            <a:r>
              <a:rPr dirty="0" sz="2400">
                <a:solidFill>
                  <a:srgbClr val="2C44A3"/>
                </a:solidFill>
                <a:latin typeface="Tahoma"/>
                <a:cs typeface="Tahoma"/>
              </a:rPr>
              <a:t>,</a:t>
            </a:r>
            <a:r>
              <a:rPr dirty="0" sz="2400">
                <a:solidFill>
                  <a:srgbClr val="2C44A3"/>
                </a:solidFill>
                <a:latin typeface="黑体"/>
                <a:cs typeface="黑体"/>
              </a:rPr>
              <a:t>尽可能早地执行没有数据冲突的指令</a:t>
            </a:r>
            <a:r>
              <a:rPr dirty="0" sz="2400" spc="-5">
                <a:solidFill>
                  <a:srgbClr val="2C44A3"/>
                </a:solidFill>
                <a:latin typeface="Tahoma"/>
                <a:cs typeface="Tahoma"/>
              </a:rPr>
              <a:t>, </a:t>
            </a:r>
            <a:r>
              <a:rPr dirty="0" sz="2400" spc="-20">
                <a:solidFill>
                  <a:srgbClr val="2C44A3"/>
                </a:solidFill>
                <a:latin typeface="黑体"/>
                <a:cs typeface="黑体"/>
              </a:rPr>
              <a:t>如果某</a:t>
            </a:r>
            <a:r>
              <a:rPr dirty="0" sz="2400">
                <a:solidFill>
                  <a:srgbClr val="2C44A3"/>
                </a:solidFill>
                <a:latin typeface="黑体"/>
                <a:cs typeface="黑体"/>
              </a:rPr>
              <a:t>条指令被暂停（说明有冲突）</a:t>
            </a:r>
            <a:r>
              <a:rPr dirty="0" sz="2400">
                <a:solidFill>
                  <a:srgbClr val="2C44A3"/>
                </a:solidFill>
                <a:latin typeface="Tahoma"/>
                <a:cs typeface="Tahoma"/>
              </a:rPr>
              <a:t>,</a:t>
            </a:r>
            <a:r>
              <a:rPr dirty="0" sz="2400" spc="-5">
                <a:solidFill>
                  <a:srgbClr val="2C44A3"/>
                </a:solidFill>
                <a:latin typeface="黑体"/>
                <a:cs typeface="黑体"/>
              </a:rPr>
              <a:t>而后面的指令与流水线中正在执行或被暂停的指令都</a:t>
            </a:r>
            <a:r>
              <a:rPr dirty="0" sz="2400" spc="-10">
                <a:solidFill>
                  <a:srgbClr val="2C44A3"/>
                </a:solidFill>
                <a:latin typeface="黑体"/>
                <a:cs typeface="黑体"/>
              </a:rPr>
              <a:t>不相关</a:t>
            </a:r>
            <a:r>
              <a:rPr dirty="0" sz="2400">
                <a:solidFill>
                  <a:srgbClr val="2C44A3"/>
                </a:solidFill>
                <a:latin typeface="Tahoma"/>
                <a:cs typeface="Tahoma"/>
              </a:rPr>
              <a:t>,</a:t>
            </a:r>
            <a:r>
              <a:rPr dirty="0" sz="2400" spc="-5">
                <a:solidFill>
                  <a:srgbClr val="2C44A3"/>
                </a:solidFill>
                <a:latin typeface="黑体"/>
                <a:cs typeface="黑体"/>
              </a:rPr>
              <a:t>这些指令可以跨越它</a:t>
            </a:r>
            <a:r>
              <a:rPr dirty="0" sz="2400">
                <a:solidFill>
                  <a:srgbClr val="2C44A3"/>
                </a:solidFill>
                <a:latin typeface="Tahoma"/>
                <a:cs typeface="Tahoma"/>
              </a:rPr>
              <a:t>,</a:t>
            </a:r>
            <a:r>
              <a:rPr dirty="0" sz="2400" spc="-15">
                <a:solidFill>
                  <a:srgbClr val="2C44A3"/>
                </a:solidFill>
                <a:latin typeface="黑体"/>
                <a:cs typeface="黑体"/>
              </a:rPr>
              <a:t>继续流出并执行。</a:t>
            </a:r>
            <a:endParaRPr sz="2400">
              <a:latin typeface="黑体"/>
              <a:cs typeface="黑体"/>
            </a:endParaRPr>
          </a:p>
          <a:p>
            <a:pPr marL="354965" indent="-342265">
              <a:lnSpc>
                <a:spcPct val="100000"/>
              </a:lnSpc>
              <a:spcBef>
                <a:spcPts val="1155"/>
              </a:spcBef>
              <a:buClr>
                <a:srgbClr val="40458B"/>
              </a:buClr>
              <a:buFont typeface="Wingdings"/>
              <a:buChar char=""/>
              <a:tabLst>
                <a:tab pos="354965" algn="l"/>
              </a:tabLst>
            </a:pPr>
            <a:r>
              <a:rPr dirty="0" sz="2400">
                <a:solidFill>
                  <a:srgbClr val="FF0000"/>
                </a:solidFill>
                <a:latin typeface="黑体"/>
                <a:cs typeface="黑体"/>
              </a:rPr>
              <a:t>含义</a:t>
            </a:r>
            <a:r>
              <a:rPr dirty="0" sz="2400" spc="-50">
                <a:solidFill>
                  <a:srgbClr val="2C44A3"/>
                </a:solidFill>
                <a:latin typeface="黑体"/>
                <a:cs typeface="黑体"/>
              </a:rPr>
              <a:t>：</a:t>
            </a:r>
            <a:endParaRPr sz="2400">
              <a:latin typeface="黑体"/>
              <a:cs typeface="黑体"/>
            </a:endParaRPr>
          </a:p>
        </p:txBody>
      </p:sp>
      <p:sp>
        <p:nvSpPr>
          <p:cNvPr id="11" name="object 11" descr=""/>
          <p:cNvSpPr txBox="1"/>
          <p:nvPr/>
        </p:nvSpPr>
        <p:spPr>
          <a:xfrm>
            <a:off x="911225" y="3446526"/>
            <a:ext cx="3024505" cy="1609725"/>
          </a:xfrm>
          <a:prstGeom prst="rect">
            <a:avLst/>
          </a:prstGeom>
          <a:ln w="9525">
            <a:solidFill>
              <a:srgbClr val="40458B"/>
            </a:solidFill>
          </a:ln>
        </p:spPr>
        <p:txBody>
          <a:bodyPr wrap="square" lIns="0" tIns="87630" rIns="0" bIns="0" rtlCol="0" vert="horz">
            <a:spAutoFit/>
          </a:bodyPr>
          <a:lstStyle/>
          <a:p>
            <a:pPr algn="just" marL="91440" marR="80645">
              <a:lnSpc>
                <a:spcPct val="150100"/>
              </a:lnSpc>
              <a:spcBef>
                <a:spcPts val="690"/>
              </a:spcBef>
            </a:pPr>
            <a:r>
              <a:rPr dirty="0" sz="1600" spc="-25">
                <a:solidFill>
                  <a:srgbClr val="FF0000"/>
                </a:solidFill>
                <a:latin typeface="黑体"/>
                <a:cs typeface="黑体"/>
              </a:rPr>
              <a:t>先检查有无结构冲突</a:t>
            </a:r>
            <a:r>
              <a:rPr dirty="0" sz="1600" spc="-30">
                <a:solidFill>
                  <a:srgbClr val="006FC0"/>
                </a:solidFill>
                <a:latin typeface="黑体"/>
                <a:cs typeface="黑体"/>
              </a:rPr>
              <a:t>，若无，再查但记分牌是否记录了运算部件</a:t>
            </a:r>
            <a:r>
              <a:rPr dirty="0" sz="1600" spc="-25">
                <a:solidFill>
                  <a:srgbClr val="006FC0"/>
                </a:solidFill>
                <a:latin typeface="黑体"/>
                <a:cs typeface="黑体"/>
              </a:rPr>
              <a:t>和寄存器的数据</a:t>
            </a:r>
            <a:r>
              <a:rPr dirty="0" sz="1600" spc="-25">
                <a:solidFill>
                  <a:srgbClr val="FF0000"/>
                </a:solidFill>
                <a:latin typeface="黑体"/>
                <a:cs typeface="黑体"/>
              </a:rPr>
              <a:t>相关性</a:t>
            </a:r>
            <a:r>
              <a:rPr dirty="0" sz="1600" spc="-10">
                <a:solidFill>
                  <a:srgbClr val="FF0000"/>
                </a:solidFill>
                <a:latin typeface="黑体"/>
                <a:cs typeface="黑体"/>
              </a:rPr>
              <a:t>（</a:t>
            </a:r>
            <a:r>
              <a:rPr dirty="0" sz="1600" spc="-35">
                <a:solidFill>
                  <a:srgbClr val="FF0000"/>
                </a:solidFill>
                <a:latin typeface="黑体"/>
                <a:cs typeface="黑体"/>
              </a:rPr>
              <a:t>再查是</a:t>
            </a:r>
            <a:r>
              <a:rPr dirty="0" sz="1600" spc="-25">
                <a:solidFill>
                  <a:srgbClr val="FF0000"/>
                </a:solidFill>
                <a:latin typeface="黑体"/>
                <a:cs typeface="黑体"/>
              </a:rPr>
              <a:t>否有数据冲突</a:t>
            </a:r>
            <a:r>
              <a:rPr dirty="0" sz="1600" spc="-50">
                <a:solidFill>
                  <a:srgbClr val="FF0000"/>
                </a:solidFill>
                <a:latin typeface="黑体"/>
                <a:cs typeface="黑体"/>
              </a:rPr>
              <a:t>）</a:t>
            </a:r>
            <a:endParaRPr sz="1600">
              <a:latin typeface="黑体"/>
              <a:cs typeface="黑体"/>
            </a:endParaRPr>
          </a:p>
        </p:txBody>
      </p:sp>
      <p:sp>
        <p:nvSpPr>
          <p:cNvPr id="12" name="object 12" descr=""/>
          <p:cNvSpPr txBox="1"/>
          <p:nvPr/>
        </p:nvSpPr>
        <p:spPr>
          <a:xfrm>
            <a:off x="4773548" y="3574986"/>
            <a:ext cx="2789555" cy="1224280"/>
          </a:xfrm>
          <a:prstGeom prst="rect">
            <a:avLst/>
          </a:prstGeom>
          <a:ln w="9525">
            <a:solidFill>
              <a:srgbClr val="40458B"/>
            </a:solidFill>
          </a:ln>
        </p:spPr>
        <p:txBody>
          <a:bodyPr wrap="square" lIns="0" tIns="226695" rIns="0" bIns="0" rtlCol="0" vert="horz">
            <a:spAutoFit/>
          </a:bodyPr>
          <a:lstStyle/>
          <a:p>
            <a:pPr marL="93980">
              <a:lnSpc>
                <a:spcPct val="100000"/>
              </a:lnSpc>
              <a:spcBef>
                <a:spcPts val="1785"/>
              </a:spcBef>
            </a:pPr>
            <a:r>
              <a:rPr dirty="0" sz="1600" spc="-20">
                <a:solidFill>
                  <a:srgbClr val="006FC0"/>
                </a:solidFill>
                <a:latin typeface="黑体"/>
                <a:cs typeface="黑体"/>
              </a:rPr>
              <a:t>（</a:t>
            </a:r>
            <a:r>
              <a:rPr dirty="0" sz="1600" spc="-30">
                <a:solidFill>
                  <a:srgbClr val="006FC0"/>
                </a:solidFill>
                <a:latin typeface="黑体"/>
                <a:cs typeface="黑体"/>
              </a:rPr>
              <a:t>如果冲突）</a:t>
            </a:r>
            <a:r>
              <a:rPr dirty="0" sz="1600" spc="-25">
                <a:solidFill>
                  <a:srgbClr val="006FC0"/>
                </a:solidFill>
                <a:latin typeface="黑体"/>
                <a:cs typeface="黑体"/>
              </a:rPr>
              <a:t>且</a:t>
            </a:r>
            <a:r>
              <a:rPr dirty="0" sz="1600" spc="-25">
                <a:solidFill>
                  <a:srgbClr val="FF0000"/>
                </a:solidFill>
                <a:latin typeface="黑体"/>
                <a:cs typeface="黑体"/>
              </a:rPr>
              <a:t>如果</a:t>
            </a:r>
            <a:r>
              <a:rPr dirty="0" sz="1600" spc="-35">
                <a:solidFill>
                  <a:srgbClr val="006FC0"/>
                </a:solidFill>
                <a:latin typeface="黑体"/>
                <a:cs typeface="黑体"/>
              </a:rPr>
              <a:t>运算部</a:t>
            </a:r>
            <a:endParaRPr sz="1600">
              <a:latin typeface="黑体"/>
              <a:cs typeface="黑体"/>
            </a:endParaRPr>
          </a:p>
          <a:p>
            <a:pPr marL="93980">
              <a:lnSpc>
                <a:spcPct val="100000"/>
              </a:lnSpc>
              <a:spcBef>
                <a:spcPts val="965"/>
              </a:spcBef>
            </a:pPr>
            <a:r>
              <a:rPr dirty="0" sz="1600" spc="-30">
                <a:solidFill>
                  <a:srgbClr val="006FC0"/>
                </a:solidFill>
                <a:latin typeface="黑体"/>
                <a:cs typeface="黑体"/>
              </a:rPr>
              <a:t>件需要的寄存器数据准备好</a:t>
            </a:r>
            <a:endParaRPr sz="1600">
              <a:latin typeface="黑体"/>
              <a:cs typeface="黑体"/>
            </a:endParaRPr>
          </a:p>
        </p:txBody>
      </p:sp>
      <p:grpSp>
        <p:nvGrpSpPr>
          <p:cNvPr id="13" name="object 13" descr=""/>
          <p:cNvGrpSpPr/>
          <p:nvPr/>
        </p:nvGrpSpPr>
        <p:grpSpPr>
          <a:xfrm>
            <a:off x="4192587" y="4108513"/>
            <a:ext cx="441959" cy="193040"/>
            <a:chOff x="4192587" y="4108513"/>
            <a:chExt cx="441959" cy="193040"/>
          </a:xfrm>
        </p:grpSpPr>
        <p:sp>
          <p:nvSpPr>
            <p:cNvPr id="14" name="object 14" descr=""/>
            <p:cNvSpPr/>
            <p:nvPr/>
          </p:nvSpPr>
          <p:spPr>
            <a:xfrm>
              <a:off x="4197350" y="4113276"/>
              <a:ext cx="432434" cy="183515"/>
            </a:xfrm>
            <a:custGeom>
              <a:avLst/>
              <a:gdLst/>
              <a:ahLst/>
              <a:cxnLst/>
              <a:rect l="l" t="t" r="r" b="b"/>
              <a:pathLst>
                <a:path w="432435" h="183514">
                  <a:moveTo>
                    <a:pt x="340487" y="0"/>
                  </a:moveTo>
                  <a:lnTo>
                    <a:pt x="340487" y="45847"/>
                  </a:lnTo>
                  <a:lnTo>
                    <a:pt x="0" y="45847"/>
                  </a:lnTo>
                  <a:lnTo>
                    <a:pt x="0" y="137668"/>
                  </a:lnTo>
                  <a:lnTo>
                    <a:pt x="340487" y="137668"/>
                  </a:lnTo>
                  <a:lnTo>
                    <a:pt x="340487" y="183515"/>
                  </a:lnTo>
                  <a:lnTo>
                    <a:pt x="432180" y="91821"/>
                  </a:lnTo>
                  <a:lnTo>
                    <a:pt x="340487" y="0"/>
                  </a:lnTo>
                  <a:close/>
                </a:path>
              </a:pathLst>
            </a:custGeom>
            <a:solidFill>
              <a:srgbClr val="EBD782"/>
            </a:solidFill>
          </p:spPr>
          <p:txBody>
            <a:bodyPr wrap="square" lIns="0" tIns="0" rIns="0" bIns="0" rtlCol="0"/>
            <a:lstStyle/>
            <a:p/>
          </p:txBody>
        </p:sp>
        <p:sp>
          <p:nvSpPr>
            <p:cNvPr id="15" name="object 15" descr=""/>
            <p:cNvSpPr/>
            <p:nvPr/>
          </p:nvSpPr>
          <p:spPr>
            <a:xfrm>
              <a:off x="4197350" y="4113276"/>
              <a:ext cx="432434" cy="183515"/>
            </a:xfrm>
            <a:custGeom>
              <a:avLst/>
              <a:gdLst/>
              <a:ahLst/>
              <a:cxnLst/>
              <a:rect l="l" t="t" r="r" b="b"/>
              <a:pathLst>
                <a:path w="432435" h="183514">
                  <a:moveTo>
                    <a:pt x="0" y="45847"/>
                  </a:moveTo>
                  <a:lnTo>
                    <a:pt x="340487" y="45847"/>
                  </a:lnTo>
                  <a:lnTo>
                    <a:pt x="340487" y="0"/>
                  </a:lnTo>
                  <a:lnTo>
                    <a:pt x="432180" y="91821"/>
                  </a:lnTo>
                  <a:lnTo>
                    <a:pt x="340487" y="183515"/>
                  </a:lnTo>
                  <a:lnTo>
                    <a:pt x="340487" y="137668"/>
                  </a:lnTo>
                  <a:lnTo>
                    <a:pt x="0" y="137668"/>
                  </a:lnTo>
                  <a:lnTo>
                    <a:pt x="0" y="45847"/>
                  </a:lnTo>
                  <a:close/>
                </a:path>
              </a:pathLst>
            </a:custGeom>
            <a:ln w="9525">
              <a:solidFill>
                <a:srgbClr val="40458B"/>
              </a:solidFill>
            </a:ln>
          </p:spPr>
          <p:txBody>
            <a:bodyPr wrap="square" lIns="0" tIns="0" rIns="0" bIns="0" rtlCol="0"/>
            <a:lstStyle/>
            <a:p/>
          </p:txBody>
        </p:sp>
      </p:grpSp>
      <p:sp>
        <p:nvSpPr>
          <p:cNvPr id="16" name="object 16" descr=""/>
          <p:cNvSpPr txBox="1"/>
          <p:nvPr/>
        </p:nvSpPr>
        <p:spPr>
          <a:xfrm>
            <a:off x="8184895" y="4013961"/>
            <a:ext cx="1042035" cy="269240"/>
          </a:xfrm>
          <a:prstGeom prst="rect">
            <a:avLst/>
          </a:prstGeom>
        </p:spPr>
        <p:txBody>
          <a:bodyPr wrap="square" lIns="0" tIns="12065" rIns="0" bIns="0" rtlCol="0" vert="horz">
            <a:spAutoFit/>
          </a:bodyPr>
          <a:lstStyle/>
          <a:p>
            <a:pPr marL="12700">
              <a:lnSpc>
                <a:spcPct val="100000"/>
              </a:lnSpc>
              <a:spcBef>
                <a:spcPts val="95"/>
              </a:spcBef>
            </a:pPr>
            <a:r>
              <a:rPr dirty="0" sz="1600" spc="-30">
                <a:solidFill>
                  <a:srgbClr val="006FC0"/>
                </a:solidFill>
                <a:latin typeface="黑体"/>
                <a:cs typeface="黑体"/>
              </a:rPr>
              <a:t>可乱序执行</a:t>
            </a:r>
            <a:endParaRPr sz="1600">
              <a:latin typeface="黑体"/>
              <a:cs typeface="黑体"/>
            </a:endParaRPr>
          </a:p>
        </p:txBody>
      </p:sp>
      <p:grpSp>
        <p:nvGrpSpPr>
          <p:cNvPr id="17" name="object 17" descr=""/>
          <p:cNvGrpSpPr/>
          <p:nvPr/>
        </p:nvGrpSpPr>
        <p:grpSpPr>
          <a:xfrm>
            <a:off x="7604188" y="4070540"/>
            <a:ext cx="441959" cy="193675"/>
            <a:chOff x="7604188" y="4070540"/>
            <a:chExt cx="441959" cy="193675"/>
          </a:xfrm>
        </p:grpSpPr>
        <p:sp>
          <p:nvSpPr>
            <p:cNvPr id="18" name="object 18" descr=""/>
            <p:cNvSpPr/>
            <p:nvPr/>
          </p:nvSpPr>
          <p:spPr>
            <a:xfrm>
              <a:off x="7608951" y="4075303"/>
              <a:ext cx="432434" cy="184150"/>
            </a:xfrm>
            <a:custGeom>
              <a:avLst/>
              <a:gdLst/>
              <a:ahLst/>
              <a:cxnLst/>
              <a:rect l="l" t="t" r="r" b="b"/>
              <a:pathLst>
                <a:path w="432434" h="184150">
                  <a:moveTo>
                    <a:pt x="340105" y="0"/>
                  </a:moveTo>
                  <a:lnTo>
                    <a:pt x="340105" y="45974"/>
                  </a:lnTo>
                  <a:lnTo>
                    <a:pt x="0" y="45974"/>
                  </a:lnTo>
                  <a:lnTo>
                    <a:pt x="0" y="137922"/>
                  </a:lnTo>
                  <a:lnTo>
                    <a:pt x="340105" y="137922"/>
                  </a:lnTo>
                  <a:lnTo>
                    <a:pt x="340105" y="183896"/>
                  </a:lnTo>
                  <a:lnTo>
                    <a:pt x="432053" y="91948"/>
                  </a:lnTo>
                  <a:lnTo>
                    <a:pt x="340105" y="0"/>
                  </a:lnTo>
                  <a:close/>
                </a:path>
              </a:pathLst>
            </a:custGeom>
            <a:solidFill>
              <a:srgbClr val="EBD782"/>
            </a:solidFill>
          </p:spPr>
          <p:txBody>
            <a:bodyPr wrap="square" lIns="0" tIns="0" rIns="0" bIns="0" rtlCol="0"/>
            <a:lstStyle/>
            <a:p/>
          </p:txBody>
        </p:sp>
        <p:sp>
          <p:nvSpPr>
            <p:cNvPr id="19" name="object 19" descr=""/>
            <p:cNvSpPr/>
            <p:nvPr/>
          </p:nvSpPr>
          <p:spPr>
            <a:xfrm>
              <a:off x="7608951" y="4075303"/>
              <a:ext cx="432434" cy="184150"/>
            </a:xfrm>
            <a:custGeom>
              <a:avLst/>
              <a:gdLst/>
              <a:ahLst/>
              <a:cxnLst/>
              <a:rect l="l" t="t" r="r" b="b"/>
              <a:pathLst>
                <a:path w="432434" h="184150">
                  <a:moveTo>
                    <a:pt x="0" y="45974"/>
                  </a:moveTo>
                  <a:lnTo>
                    <a:pt x="340105" y="45974"/>
                  </a:lnTo>
                  <a:lnTo>
                    <a:pt x="340105" y="0"/>
                  </a:lnTo>
                  <a:lnTo>
                    <a:pt x="432053" y="91948"/>
                  </a:lnTo>
                  <a:lnTo>
                    <a:pt x="340105" y="183896"/>
                  </a:lnTo>
                  <a:lnTo>
                    <a:pt x="340105" y="137922"/>
                  </a:lnTo>
                  <a:lnTo>
                    <a:pt x="0" y="137922"/>
                  </a:lnTo>
                  <a:lnTo>
                    <a:pt x="0" y="45974"/>
                  </a:lnTo>
                  <a:close/>
                </a:path>
              </a:pathLst>
            </a:custGeom>
            <a:ln w="9525">
              <a:solidFill>
                <a:srgbClr val="40458B"/>
              </a:solidFill>
            </a:ln>
          </p:spPr>
          <p:txBody>
            <a:bodyPr wrap="square" lIns="0" tIns="0" rIns="0" bIns="0" rtlCol="0"/>
            <a:lstStyle/>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27/175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74191" y="151587"/>
            <a:ext cx="3686175" cy="514350"/>
          </a:xfrm>
          <a:prstGeom prst="rect"/>
        </p:spPr>
        <p:txBody>
          <a:bodyPr wrap="square" lIns="0" tIns="13335" rIns="0" bIns="0" rtlCol="0" vert="horz">
            <a:spAutoFit/>
          </a:bodyPr>
          <a:lstStyle/>
          <a:p>
            <a:pPr marL="12700">
              <a:lnSpc>
                <a:spcPct val="100000"/>
              </a:lnSpc>
              <a:spcBef>
                <a:spcPts val="105"/>
              </a:spcBef>
            </a:pPr>
            <a:r>
              <a:rPr dirty="0"/>
              <a:t>5.3</a:t>
            </a:r>
            <a:r>
              <a:rPr dirty="0" spc="-20"/>
              <a:t> 指令的动态调度</a:t>
            </a:r>
          </a:p>
        </p:txBody>
      </p:sp>
      <p:sp>
        <p:nvSpPr>
          <p:cNvPr id="10" name="object 10" descr=""/>
          <p:cNvSpPr txBox="1"/>
          <p:nvPr/>
        </p:nvSpPr>
        <p:spPr>
          <a:xfrm>
            <a:off x="2071242" y="3823208"/>
            <a:ext cx="3385820" cy="269240"/>
          </a:xfrm>
          <a:prstGeom prst="rect">
            <a:avLst/>
          </a:prstGeom>
        </p:spPr>
        <p:txBody>
          <a:bodyPr wrap="square" lIns="0" tIns="12065" rIns="0" bIns="0" rtlCol="0" vert="horz">
            <a:spAutoFit/>
          </a:bodyPr>
          <a:lstStyle/>
          <a:p>
            <a:pPr marL="12700">
              <a:lnSpc>
                <a:spcPct val="100000"/>
              </a:lnSpc>
              <a:spcBef>
                <a:spcPts val="95"/>
              </a:spcBef>
            </a:pPr>
            <a:r>
              <a:rPr dirty="0" sz="1600" spc="-20">
                <a:solidFill>
                  <a:srgbClr val="FF0000"/>
                </a:solidFill>
                <a:latin typeface="黑体"/>
                <a:cs typeface="黑体"/>
              </a:rPr>
              <a:t>假设当前指令为</a:t>
            </a:r>
            <a:r>
              <a:rPr dirty="0" sz="1600" spc="-10">
                <a:solidFill>
                  <a:srgbClr val="FF0000"/>
                </a:solidFill>
                <a:latin typeface="Tahoma"/>
                <a:cs typeface="Tahoma"/>
              </a:rPr>
              <a:t>i</a:t>
            </a:r>
            <a:r>
              <a:rPr dirty="0" sz="1600" spc="-25">
                <a:solidFill>
                  <a:srgbClr val="FF0000"/>
                </a:solidFill>
                <a:latin typeface="黑体"/>
                <a:cs typeface="黑体"/>
              </a:rPr>
              <a:t>，正在执行的指令为</a:t>
            </a:r>
            <a:r>
              <a:rPr dirty="0" sz="1600" spc="-50">
                <a:solidFill>
                  <a:srgbClr val="FF0000"/>
                </a:solidFill>
                <a:latin typeface="Tahoma"/>
                <a:cs typeface="Tahoma"/>
              </a:rPr>
              <a:t>j</a:t>
            </a:r>
            <a:endParaRPr sz="1600">
              <a:latin typeface="Tahoma"/>
              <a:cs typeface="Tahoma"/>
            </a:endParaRPr>
          </a:p>
        </p:txBody>
      </p:sp>
      <p:sp>
        <p:nvSpPr>
          <p:cNvPr id="11" name="object 11" descr=""/>
          <p:cNvSpPr txBox="1"/>
          <p:nvPr/>
        </p:nvSpPr>
        <p:spPr>
          <a:xfrm>
            <a:off x="486867" y="525242"/>
            <a:ext cx="11369675" cy="3311525"/>
          </a:xfrm>
          <a:prstGeom prst="rect">
            <a:avLst/>
          </a:prstGeom>
        </p:spPr>
        <p:txBody>
          <a:bodyPr wrap="square" lIns="0" tIns="165735" rIns="0" bIns="0" rtlCol="0" vert="horz">
            <a:spAutoFit/>
          </a:bodyPr>
          <a:lstStyle/>
          <a:p>
            <a:pPr marL="812800">
              <a:lnSpc>
                <a:spcPct val="100000"/>
              </a:lnSpc>
              <a:spcBef>
                <a:spcPts val="1305"/>
              </a:spcBef>
            </a:pPr>
            <a:r>
              <a:rPr dirty="0" sz="2600">
                <a:solidFill>
                  <a:srgbClr val="0000CC"/>
                </a:solidFill>
                <a:latin typeface="黑体"/>
                <a:cs typeface="黑体"/>
              </a:rPr>
              <a:t>5.3.2</a:t>
            </a:r>
            <a:r>
              <a:rPr dirty="0" sz="2600" spc="-10">
                <a:solidFill>
                  <a:srgbClr val="0000CC"/>
                </a:solidFill>
                <a:latin typeface="黑体"/>
                <a:cs typeface="黑体"/>
              </a:rPr>
              <a:t> 记分牌动态调度算法</a:t>
            </a:r>
            <a:endParaRPr sz="2600">
              <a:latin typeface="黑体"/>
              <a:cs typeface="黑体"/>
            </a:endParaRPr>
          </a:p>
          <a:p>
            <a:pPr marL="355600" marR="5080" indent="-342900">
              <a:lnSpc>
                <a:spcPct val="120000"/>
              </a:lnSpc>
              <a:spcBef>
                <a:spcPts val="530"/>
              </a:spcBef>
              <a:buClr>
                <a:srgbClr val="40458B"/>
              </a:buClr>
              <a:buFont typeface="Wingdings"/>
              <a:buChar char=""/>
              <a:tabLst>
                <a:tab pos="355600" algn="l"/>
              </a:tabLst>
            </a:pPr>
            <a:r>
              <a:rPr dirty="0" sz="2400">
                <a:solidFill>
                  <a:srgbClr val="FF0000"/>
                </a:solidFill>
                <a:latin typeface="黑体"/>
                <a:cs typeface="黑体"/>
              </a:rPr>
              <a:t>记分牌算法实现需要区别与普通</a:t>
            </a:r>
            <a:r>
              <a:rPr dirty="0" sz="2400" spc="-25">
                <a:solidFill>
                  <a:srgbClr val="FF0000"/>
                </a:solidFill>
                <a:latin typeface="Tahoma"/>
                <a:cs typeface="Tahoma"/>
              </a:rPr>
              <a:t>5</a:t>
            </a:r>
            <a:r>
              <a:rPr dirty="0" sz="2400">
                <a:solidFill>
                  <a:srgbClr val="FF0000"/>
                </a:solidFill>
                <a:latin typeface="黑体"/>
                <a:cs typeface="黑体"/>
              </a:rPr>
              <a:t>段流水线</a:t>
            </a:r>
            <a:r>
              <a:rPr dirty="0" sz="2400">
                <a:solidFill>
                  <a:srgbClr val="001F5F"/>
                </a:solidFill>
                <a:latin typeface="黑体"/>
                <a:cs typeface="黑体"/>
              </a:rPr>
              <a:t>：指令将被分为</a:t>
            </a:r>
            <a:r>
              <a:rPr dirty="0" sz="2400" spc="-25">
                <a:solidFill>
                  <a:srgbClr val="001F5F"/>
                </a:solidFill>
                <a:latin typeface="Tahoma"/>
                <a:cs typeface="Tahoma"/>
              </a:rPr>
              <a:t>4</a:t>
            </a:r>
            <a:r>
              <a:rPr dirty="0" sz="2400" spc="-5">
                <a:solidFill>
                  <a:srgbClr val="001F5F"/>
                </a:solidFill>
                <a:latin typeface="黑体"/>
                <a:cs typeface="黑体"/>
              </a:rPr>
              <a:t>段，流出，读操作数，</a:t>
            </a:r>
            <a:r>
              <a:rPr dirty="0" sz="2400" spc="-10">
                <a:solidFill>
                  <a:srgbClr val="001F5F"/>
                </a:solidFill>
                <a:latin typeface="黑体"/>
                <a:cs typeface="黑体"/>
              </a:rPr>
              <a:t>执行，写结果。（</a:t>
            </a:r>
            <a:r>
              <a:rPr dirty="0" sz="2400">
                <a:solidFill>
                  <a:srgbClr val="001F5F"/>
                </a:solidFill>
                <a:latin typeface="黑体"/>
                <a:cs typeface="黑体"/>
              </a:rPr>
              <a:t>将</a:t>
            </a:r>
            <a:r>
              <a:rPr dirty="0" sz="2400">
                <a:solidFill>
                  <a:srgbClr val="001F5F"/>
                </a:solidFill>
                <a:latin typeface="Tahoma"/>
                <a:cs typeface="Tahoma"/>
              </a:rPr>
              <a:t>ID</a:t>
            </a:r>
            <a:r>
              <a:rPr dirty="0" sz="2400" spc="-10">
                <a:solidFill>
                  <a:srgbClr val="001F5F"/>
                </a:solidFill>
                <a:latin typeface="黑体"/>
                <a:cs typeface="黑体"/>
              </a:rPr>
              <a:t>段分为流出和读操作数两个段</a:t>
            </a:r>
            <a:r>
              <a:rPr dirty="0" sz="2400" spc="-50">
                <a:solidFill>
                  <a:srgbClr val="001F5F"/>
                </a:solidFill>
                <a:latin typeface="黑体"/>
                <a:cs typeface="黑体"/>
              </a:rPr>
              <a:t>）</a:t>
            </a:r>
            <a:endParaRPr sz="2400">
              <a:latin typeface="黑体"/>
              <a:cs typeface="黑体"/>
            </a:endParaRPr>
          </a:p>
          <a:p>
            <a:pPr marL="355600" marR="33020" indent="-342900">
              <a:lnSpc>
                <a:spcPct val="120000"/>
              </a:lnSpc>
              <a:spcBef>
                <a:spcPts val="580"/>
              </a:spcBef>
              <a:buClr>
                <a:srgbClr val="40458B"/>
              </a:buClr>
              <a:buFont typeface="Wingdings"/>
              <a:buChar char=""/>
              <a:tabLst>
                <a:tab pos="355600" algn="l"/>
              </a:tabLst>
            </a:pPr>
            <a:r>
              <a:rPr dirty="0" sz="2400">
                <a:solidFill>
                  <a:srgbClr val="FF0000"/>
                </a:solidFill>
                <a:latin typeface="黑体"/>
                <a:cs typeface="黑体"/>
              </a:rPr>
              <a:t>流出过程：</a:t>
            </a:r>
            <a:r>
              <a:rPr dirty="0" sz="2400" spc="-5">
                <a:solidFill>
                  <a:srgbClr val="2C44A3"/>
                </a:solidFill>
                <a:latin typeface="黑体"/>
                <a:cs typeface="黑体"/>
              </a:rPr>
              <a:t>当前指令所需的功能部件若空闲，且其他正在执行指令的目的寄存器与</a:t>
            </a:r>
            <a:r>
              <a:rPr dirty="0" sz="2400" spc="-20">
                <a:solidFill>
                  <a:srgbClr val="2C44A3"/>
                </a:solidFill>
                <a:latin typeface="黑体"/>
                <a:cs typeface="黑体"/>
              </a:rPr>
              <a:t>本条指令的不同，记分牌算法就允许本条指令所需的功能部件流出本条指令 。如</a:t>
            </a:r>
            <a:r>
              <a:rPr dirty="0" sz="2400" spc="-10">
                <a:solidFill>
                  <a:srgbClr val="2C44A3"/>
                </a:solidFill>
                <a:latin typeface="黑体"/>
                <a:cs typeface="黑体"/>
              </a:rPr>
              <a:t>果存在结构相关和</a:t>
            </a:r>
            <a:r>
              <a:rPr dirty="0" sz="2400" spc="-10">
                <a:solidFill>
                  <a:srgbClr val="2C44A3"/>
                </a:solidFill>
                <a:latin typeface="Tahoma"/>
                <a:cs typeface="Tahoma"/>
              </a:rPr>
              <a:t>WAW</a:t>
            </a:r>
            <a:r>
              <a:rPr dirty="0" sz="2400" spc="-10">
                <a:solidFill>
                  <a:srgbClr val="2C44A3"/>
                </a:solidFill>
                <a:latin typeface="黑体"/>
                <a:cs typeface="黑体"/>
              </a:rPr>
              <a:t>冲突</a:t>
            </a:r>
            <a:r>
              <a:rPr dirty="0" sz="2400">
                <a:solidFill>
                  <a:srgbClr val="2C44A3"/>
                </a:solidFill>
                <a:latin typeface="Tahoma"/>
                <a:cs typeface="Tahoma"/>
              </a:rPr>
              <a:t>,</a:t>
            </a:r>
            <a:r>
              <a:rPr dirty="0" sz="2400" spc="-5">
                <a:solidFill>
                  <a:srgbClr val="2C44A3"/>
                </a:solidFill>
                <a:latin typeface="黑体"/>
                <a:cs typeface="黑体"/>
              </a:rPr>
              <a:t>该条指令就不流出</a:t>
            </a:r>
            <a:r>
              <a:rPr dirty="0" sz="2400">
                <a:solidFill>
                  <a:srgbClr val="2C44A3"/>
                </a:solidFill>
                <a:latin typeface="Tahoma"/>
                <a:cs typeface="Tahoma"/>
              </a:rPr>
              <a:t>,</a:t>
            </a:r>
            <a:r>
              <a:rPr dirty="0" sz="2400" spc="-5">
                <a:solidFill>
                  <a:srgbClr val="2C44A3"/>
                </a:solidFill>
                <a:latin typeface="黑体"/>
                <a:cs typeface="黑体"/>
              </a:rPr>
              <a:t>从而</a:t>
            </a:r>
            <a:r>
              <a:rPr dirty="0" sz="2400" spc="-10">
                <a:solidFill>
                  <a:srgbClr val="FF0000"/>
                </a:solidFill>
                <a:latin typeface="黑体"/>
                <a:cs typeface="黑体"/>
              </a:rPr>
              <a:t>消除了</a:t>
            </a:r>
            <a:r>
              <a:rPr dirty="0" sz="2400" spc="-10">
                <a:solidFill>
                  <a:srgbClr val="FF0000"/>
                </a:solidFill>
                <a:latin typeface="Tahoma"/>
                <a:cs typeface="Tahoma"/>
              </a:rPr>
              <a:t>WAW</a:t>
            </a:r>
            <a:r>
              <a:rPr dirty="0" sz="2400" spc="-5">
                <a:solidFill>
                  <a:srgbClr val="FF0000"/>
                </a:solidFill>
                <a:latin typeface="黑体"/>
                <a:cs typeface="黑体"/>
              </a:rPr>
              <a:t>冲突</a:t>
            </a:r>
            <a:r>
              <a:rPr dirty="0" sz="2400" spc="-50">
                <a:solidFill>
                  <a:srgbClr val="2C44A3"/>
                </a:solidFill>
                <a:latin typeface="黑体"/>
                <a:cs typeface="黑体"/>
              </a:rPr>
              <a:t>。</a:t>
            </a:r>
            <a:endParaRPr sz="2400">
              <a:latin typeface="黑体"/>
              <a:cs typeface="黑体"/>
            </a:endParaRPr>
          </a:p>
          <a:p>
            <a:pPr algn="r" marR="1558290">
              <a:lnSpc>
                <a:spcPct val="100000"/>
              </a:lnSpc>
              <a:spcBef>
                <a:spcPts val="1235"/>
              </a:spcBef>
              <a:tabLst>
                <a:tab pos="688975" algn="l"/>
                <a:tab pos="1206500" algn="l"/>
              </a:tabLst>
            </a:pPr>
            <a:r>
              <a:rPr dirty="0" sz="1600" spc="-10">
                <a:solidFill>
                  <a:srgbClr val="FF0000"/>
                </a:solidFill>
                <a:latin typeface="Tahoma"/>
                <a:cs typeface="Tahoma"/>
              </a:rPr>
              <a:t>SUB.D</a:t>
            </a:r>
            <a:r>
              <a:rPr dirty="0" sz="1600">
                <a:solidFill>
                  <a:srgbClr val="FF0000"/>
                </a:solidFill>
                <a:latin typeface="Tahoma"/>
                <a:cs typeface="Tahoma"/>
              </a:rPr>
              <a:t>	</a:t>
            </a:r>
            <a:r>
              <a:rPr dirty="0" sz="1600" spc="-20">
                <a:solidFill>
                  <a:srgbClr val="FF0000"/>
                </a:solidFill>
                <a:latin typeface="Tahoma"/>
                <a:cs typeface="Tahoma"/>
              </a:rPr>
              <a:t>F12,</a:t>
            </a:r>
            <a:r>
              <a:rPr dirty="0" sz="1600">
                <a:solidFill>
                  <a:srgbClr val="FF0000"/>
                </a:solidFill>
                <a:latin typeface="Tahoma"/>
                <a:cs typeface="Tahoma"/>
              </a:rPr>
              <a:t>	F16,</a:t>
            </a:r>
            <a:r>
              <a:rPr dirty="0" sz="1600" spc="-20">
                <a:solidFill>
                  <a:srgbClr val="FF0000"/>
                </a:solidFill>
                <a:latin typeface="Tahoma"/>
                <a:cs typeface="Tahoma"/>
              </a:rPr>
              <a:t> </a:t>
            </a:r>
            <a:r>
              <a:rPr dirty="0" sz="1600" spc="-25">
                <a:solidFill>
                  <a:srgbClr val="FF0000"/>
                </a:solidFill>
                <a:latin typeface="Tahoma"/>
                <a:cs typeface="Tahoma"/>
              </a:rPr>
              <a:t>F0</a:t>
            </a:r>
            <a:endParaRPr sz="1600">
              <a:latin typeface="Tahoma"/>
              <a:cs typeface="Tahoma"/>
            </a:endParaRPr>
          </a:p>
        </p:txBody>
      </p:sp>
      <p:sp>
        <p:nvSpPr>
          <p:cNvPr id="12" name="object 12" descr=""/>
          <p:cNvSpPr txBox="1"/>
          <p:nvPr/>
        </p:nvSpPr>
        <p:spPr>
          <a:xfrm>
            <a:off x="1903476" y="4267149"/>
            <a:ext cx="2447925" cy="1224915"/>
          </a:xfrm>
          <a:prstGeom prst="rect">
            <a:avLst/>
          </a:prstGeom>
          <a:ln w="9525">
            <a:solidFill>
              <a:srgbClr val="40458B"/>
            </a:solidFill>
          </a:ln>
        </p:spPr>
        <p:txBody>
          <a:bodyPr wrap="square" lIns="0" tIns="105410" rIns="0" bIns="0" rtlCol="0" vert="horz">
            <a:spAutoFit/>
          </a:bodyPr>
          <a:lstStyle/>
          <a:p>
            <a:pPr marL="92710" marR="113030">
              <a:lnSpc>
                <a:spcPct val="150000"/>
              </a:lnSpc>
              <a:spcBef>
                <a:spcPts val="830"/>
              </a:spcBef>
            </a:pPr>
            <a:r>
              <a:rPr dirty="0" sz="1600" spc="-25">
                <a:solidFill>
                  <a:srgbClr val="FF09FF"/>
                </a:solidFill>
                <a:latin typeface="黑体"/>
                <a:cs typeface="黑体"/>
              </a:rPr>
              <a:t>检查：</a:t>
            </a:r>
            <a:r>
              <a:rPr dirty="0" sz="1600" spc="-30">
                <a:solidFill>
                  <a:srgbClr val="006FC0"/>
                </a:solidFill>
                <a:latin typeface="黑体"/>
                <a:cs typeface="黑体"/>
              </a:rPr>
              <a:t>若功能部件空闲，</a:t>
            </a:r>
            <a:r>
              <a:rPr dirty="0" sz="1600" spc="-10">
                <a:solidFill>
                  <a:srgbClr val="006FC0"/>
                </a:solidFill>
                <a:latin typeface="黑体"/>
                <a:cs typeface="黑体"/>
              </a:rPr>
              <a:t>且</a:t>
            </a:r>
            <a:r>
              <a:rPr dirty="0" sz="1600" spc="-20">
                <a:solidFill>
                  <a:srgbClr val="E14B04"/>
                </a:solidFill>
                <a:latin typeface="Tahoma"/>
                <a:cs typeface="Tahoma"/>
              </a:rPr>
              <a:t>j</a:t>
            </a:r>
            <a:r>
              <a:rPr dirty="0" sz="1600" spc="-20">
                <a:solidFill>
                  <a:srgbClr val="006FC0"/>
                </a:solidFill>
                <a:latin typeface="黑体"/>
                <a:cs typeface="黑体"/>
              </a:rPr>
              <a:t>指令的目的寄存器与</a:t>
            </a:r>
            <a:r>
              <a:rPr dirty="0" sz="1600" spc="-50">
                <a:solidFill>
                  <a:srgbClr val="FF0000"/>
                </a:solidFill>
                <a:latin typeface="Tahoma"/>
                <a:cs typeface="Tahoma"/>
              </a:rPr>
              <a:t>i</a:t>
            </a:r>
            <a:r>
              <a:rPr dirty="0" sz="1600" spc="-35">
                <a:solidFill>
                  <a:srgbClr val="006FC0"/>
                </a:solidFill>
                <a:latin typeface="黑体"/>
                <a:cs typeface="黑体"/>
              </a:rPr>
              <a:t>指令的目的寄存器不同</a:t>
            </a:r>
            <a:endParaRPr sz="1600">
              <a:latin typeface="黑体"/>
              <a:cs typeface="黑体"/>
            </a:endParaRPr>
          </a:p>
        </p:txBody>
      </p:sp>
      <p:sp>
        <p:nvSpPr>
          <p:cNvPr id="13" name="object 13" descr=""/>
          <p:cNvSpPr txBox="1"/>
          <p:nvPr/>
        </p:nvSpPr>
        <p:spPr>
          <a:xfrm>
            <a:off x="5143500" y="4267149"/>
            <a:ext cx="2448560" cy="1224915"/>
          </a:xfrm>
          <a:prstGeom prst="rect">
            <a:avLst/>
          </a:prstGeom>
          <a:ln w="9525">
            <a:solidFill>
              <a:srgbClr val="40458B"/>
            </a:solidFill>
          </a:ln>
        </p:spPr>
        <p:txBody>
          <a:bodyPr wrap="square" lIns="0" tIns="105410" rIns="0" bIns="0" rtlCol="0" vert="horz">
            <a:spAutoFit/>
          </a:bodyPr>
          <a:lstStyle/>
          <a:p>
            <a:pPr algn="just" marL="93345" marR="60325">
              <a:lnSpc>
                <a:spcPct val="150100"/>
              </a:lnSpc>
              <a:spcBef>
                <a:spcPts val="830"/>
              </a:spcBef>
            </a:pPr>
            <a:r>
              <a:rPr dirty="0" sz="1600" spc="-20">
                <a:solidFill>
                  <a:srgbClr val="006FC0"/>
                </a:solidFill>
                <a:latin typeface="黑体"/>
                <a:cs typeface="黑体"/>
              </a:rPr>
              <a:t>记分牌算法允许</a:t>
            </a:r>
            <a:r>
              <a:rPr dirty="0" sz="1600" spc="-10">
                <a:solidFill>
                  <a:srgbClr val="FF0000"/>
                </a:solidFill>
                <a:latin typeface="Tahoma"/>
                <a:cs typeface="Tahoma"/>
              </a:rPr>
              <a:t>i</a:t>
            </a:r>
            <a:r>
              <a:rPr dirty="0" sz="1600" spc="-30">
                <a:solidFill>
                  <a:srgbClr val="006FC0"/>
                </a:solidFill>
                <a:latin typeface="黑体"/>
                <a:cs typeface="黑体"/>
              </a:rPr>
              <a:t>指令流出</a:t>
            </a:r>
            <a:r>
              <a:rPr dirty="0" sz="1600" spc="-25">
                <a:solidFill>
                  <a:srgbClr val="006FC0"/>
                </a:solidFill>
                <a:latin typeface="黑体"/>
                <a:cs typeface="黑体"/>
              </a:rPr>
              <a:t>二者目的寄存器不同（</a:t>
            </a:r>
            <a:r>
              <a:rPr dirty="0" sz="1600" spc="-50">
                <a:solidFill>
                  <a:srgbClr val="006FC0"/>
                </a:solidFill>
                <a:latin typeface="黑体"/>
                <a:cs typeface="黑体"/>
              </a:rPr>
              <a:t>写</a:t>
            </a:r>
            <a:r>
              <a:rPr dirty="0" sz="1600" spc="-25">
                <a:solidFill>
                  <a:srgbClr val="006FC0"/>
                </a:solidFill>
                <a:latin typeface="黑体"/>
                <a:cs typeface="黑体"/>
              </a:rPr>
              <a:t>操作的对象不同</a:t>
            </a:r>
            <a:r>
              <a:rPr dirty="0" sz="1600" spc="-50">
                <a:solidFill>
                  <a:srgbClr val="006FC0"/>
                </a:solidFill>
                <a:latin typeface="黑体"/>
                <a:cs typeface="黑体"/>
              </a:rPr>
              <a:t>）</a:t>
            </a:r>
            <a:endParaRPr sz="1600">
              <a:latin typeface="黑体"/>
              <a:cs typeface="黑体"/>
            </a:endParaRPr>
          </a:p>
        </p:txBody>
      </p:sp>
      <p:grpSp>
        <p:nvGrpSpPr>
          <p:cNvPr id="14" name="object 14" descr=""/>
          <p:cNvGrpSpPr/>
          <p:nvPr/>
        </p:nvGrpSpPr>
        <p:grpSpPr>
          <a:xfrm>
            <a:off x="4562538" y="4800917"/>
            <a:ext cx="441959" cy="193675"/>
            <a:chOff x="4562538" y="4800917"/>
            <a:chExt cx="441959" cy="193675"/>
          </a:xfrm>
        </p:grpSpPr>
        <p:sp>
          <p:nvSpPr>
            <p:cNvPr id="15" name="object 15" descr=""/>
            <p:cNvSpPr/>
            <p:nvPr/>
          </p:nvSpPr>
          <p:spPr>
            <a:xfrm>
              <a:off x="4567301" y="4805679"/>
              <a:ext cx="432434" cy="184150"/>
            </a:xfrm>
            <a:custGeom>
              <a:avLst/>
              <a:gdLst/>
              <a:ahLst/>
              <a:cxnLst/>
              <a:rect l="l" t="t" r="r" b="b"/>
              <a:pathLst>
                <a:path w="432435" h="184150">
                  <a:moveTo>
                    <a:pt x="340487" y="0"/>
                  </a:moveTo>
                  <a:lnTo>
                    <a:pt x="340487" y="45974"/>
                  </a:lnTo>
                  <a:lnTo>
                    <a:pt x="0" y="45974"/>
                  </a:lnTo>
                  <a:lnTo>
                    <a:pt x="0" y="137668"/>
                  </a:lnTo>
                  <a:lnTo>
                    <a:pt x="340487" y="137668"/>
                  </a:lnTo>
                  <a:lnTo>
                    <a:pt x="340487" y="183642"/>
                  </a:lnTo>
                  <a:lnTo>
                    <a:pt x="432181" y="91821"/>
                  </a:lnTo>
                  <a:lnTo>
                    <a:pt x="340487" y="0"/>
                  </a:lnTo>
                  <a:close/>
                </a:path>
              </a:pathLst>
            </a:custGeom>
            <a:solidFill>
              <a:srgbClr val="EBD782"/>
            </a:solidFill>
          </p:spPr>
          <p:txBody>
            <a:bodyPr wrap="square" lIns="0" tIns="0" rIns="0" bIns="0" rtlCol="0"/>
            <a:lstStyle/>
            <a:p/>
          </p:txBody>
        </p:sp>
        <p:sp>
          <p:nvSpPr>
            <p:cNvPr id="16" name="object 16" descr=""/>
            <p:cNvSpPr/>
            <p:nvPr/>
          </p:nvSpPr>
          <p:spPr>
            <a:xfrm>
              <a:off x="4567301" y="4805679"/>
              <a:ext cx="432434" cy="184150"/>
            </a:xfrm>
            <a:custGeom>
              <a:avLst/>
              <a:gdLst/>
              <a:ahLst/>
              <a:cxnLst/>
              <a:rect l="l" t="t" r="r" b="b"/>
              <a:pathLst>
                <a:path w="432435" h="184150">
                  <a:moveTo>
                    <a:pt x="0" y="45974"/>
                  </a:moveTo>
                  <a:lnTo>
                    <a:pt x="340487" y="45974"/>
                  </a:lnTo>
                  <a:lnTo>
                    <a:pt x="340487" y="0"/>
                  </a:lnTo>
                  <a:lnTo>
                    <a:pt x="432181" y="91821"/>
                  </a:lnTo>
                  <a:lnTo>
                    <a:pt x="340487" y="183642"/>
                  </a:lnTo>
                  <a:lnTo>
                    <a:pt x="340487" y="137668"/>
                  </a:lnTo>
                  <a:lnTo>
                    <a:pt x="0" y="137668"/>
                  </a:lnTo>
                  <a:lnTo>
                    <a:pt x="0" y="45974"/>
                  </a:lnTo>
                  <a:close/>
                </a:path>
              </a:pathLst>
            </a:custGeom>
            <a:ln w="9525">
              <a:solidFill>
                <a:srgbClr val="40458B"/>
              </a:solidFill>
            </a:ln>
          </p:spPr>
          <p:txBody>
            <a:bodyPr wrap="square" lIns="0" tIns="0" rIns="0" bIns="0" rtlCol="0"/>
            <a:lstStyle/>
            <a:p/>
          </p:txBody>
        </p:sp>
      </p:grpSp>
      <p:sp>
        <p:nvSpPr>
          <p:cNvPr id="17" name="object 17" descr=""/>
          <p:cNvSpPr txBox="1"/>
          <p:nvPr/>
        </p:nvSpPr>
        <p:spPr>
          <a:xfrm>
            <a:off x="8472296" y="4705934"/>
            <a:ext cx="2540000" cy="269240"/>
          </a:xfrm>
          <a:prstGeom prst="rect">
            <a:avLst/>
          </a:prstGeom>
        </p:spPr>
        <p:txBody>
          <a:bodyPr wrap="square" lIns="0" tIns="12065" rIns="0" bIns="0" rtlCol="0" vert="horz">
            <a:spAutoFit/>
          </a:bodyPr>
          <a:lstStyle/>
          <a:p>
            <a:pPr marL="12700">
              <a:lnSpc>
                <a:spcPct val="100000"/>
              </a:lnSpc>
              <a:spcBef>
                <a:spcPts val="95"/>
              </a:spcBef>
            </a:pPr>
            <a:r>
              <a:rPr dirty="0" sz="1600" spc="-10">
                <a:solidFill>
                  <a:srgbClr val="006FC0"/>
                </a:solidFill>
                <a:latin typeface="黑体"/>
                <a:cs typeface="黑体"/>
              </a:rPr>
              <a:t>消除</a:t>
            </a:r>
            <a:r>
              <a:rPr dirty="0" sz="1600" spc="-35">
                <a:solidFill>
                  <a:srgbClr val="006FC0"/>
                </a:solidFill>
                <a:latin typeface="Tahoma"/>
                <a:cs typeface="Tahoma"/>
              </a:rPr>
              <a:t>WAW</a:t>
            </a:r>
            <a:r>
              <a:rPr dirty="0" sz="1600" spc="-20">
                <a:solidFill>
                  <a:srgbClr val="006FC0"/>
                </a:solidFill>
                <a:latin typeface="黑体"/>
                <a:cs typeface="黑体"/>
              </a:rPr>
              <a:t>冲突</a:t>
            </a:r>
            <a:r>
              <a:rPr dirty="0" sz="1600" spc="-25">
                <a:solidFill>
                  <a:srgbClr val="006FC0"/>
                </a:solidFill>
                <a:latin typeface="黑体"/>
                <a:cs typeface="黑体"/>
              </a:rPr>
              <a:t>（</a:t>
            </a:r>
            <a:r>
              <a:rPr dirty="0" sz="1600" spc="-30">
                <a:solidFill>
                  <a:srgbClr val="006FC0"/>
                </a:solidFill>
                <a:latin typeface="黑体"/>
                <a:cs typeface="黑体"/>
              </a:rPr>
              <a:t>停顿解决</a:t>
            </a:r>
            <a:r>
              <a:rPr dirty="0" sz="1600" spc="-50">
                <a:solidFill>
                  <a:srgbClr val="006FC0"/>
                </a:solidFill>
                <a:latin typeface="黑体"/>
                <a:cs typeface="黑体"/>
              </a:rPr>
              <a:t>）</a:t>
            </a:r>
            <a:endParaRPr sz="1600">
              <a:latin typeface="黑体"/>
              <a:cs typeface="黑体"/>
            </a:endParaRPr>
          </a:p>
        </p:txBody>
      </p:sp>
      <p:grpSp>
        <p:nvGrpSpPr>
          <p:cNvPr id="18" name="object 18" descr=""/>
          <p:cNvGrpSpPr/>
          <p:nvPr/>
        </p:nvGrpSpPr>
        <p:grpSpPr>
          <a:xfrm>
            <a:off x="7891462" y="4762055"/>
            <a:ext cx="441959" cy="193040"/>
            <a:chOff x="7891462" y="4762055"/>
            <a:chExt cx="441959" cy="193040"/>
          </a:xfrm>
        </p:grpSpPr>
        <p:sp>
          <p:nvSpPr>
            <p:cNvPr id="19" name="object 19" descr=""/>
            <p:cNvSpPr/>
            <p:nvPr/>
          </p:nvSpPr>
          <p:spPr>
            <a:xfrm>
              <a:off x="7896225" y="4766817"/>
              <a:ext cx="432434" cy="183515"/>
            </a:xfrm>
            <a:custGeom>
              <a:avLst/>
              <a:gdLst/>
              <a:ahLst/>
              <a:cxnLst/>
              <a:rect l="l" t="t" r="r" b="b"/>
              <a:pathLst>
                <a:path w="432434" h="183514">
                  <a:moveTo>
                    <a:pt x="340741" y="0"/>
                  </a:moveTo>
                  <a:lnTo>
                    <a:pt x="340741" y="45846"/>
                  </a:lnTo>
                  <a:lnTo>
                    <a:pt x="0" y="45846"/>
                  </a:lnTo>
                  <a:lnTo>
                    <a:pt x="0" y="137413"/>
                  </a:lnTo>
                  <a:lnTo>
                    <a:pt x="340741" y="137413"/>
                  </a:lnTo>
                  <a:lnTo>
                    <a:pt x="340741" y="183133"/>
                  </a:lnTo>
                  <a:lnTo>
                    <a:pt x="432307" y="91566"/>
                  </a:lnTo>
                  <a:lnTo>
                    <a:pt x="340741" y="0"/>
                  </a:lnTo>
                  <a:close/>
                </a:path>
              </a:pathLst>
            </a:custGeom>
            <a:solidFill>
              <a:srgbClr val="EBD782"/>
            </a:solidFill>
          </p:spPr>
          <p:txBody>
            <a:bodyPr wrap="square" lIns="0" tIns="0" rIns="0" bIns="0" rtlCol="0"/>
            <a:lstStyle/>
            <a:p/>
          </p:txBody>
        </p:sp>
        <p:sp>
          <p:nvSpPr>
            <p:cNvPr id="20" name="object 20" descr=""/>
            <p:cNvSpPr/>
            <p:nvPr/>
          </p:nvSpPr>
          <p:spPr>
            <a:xfrm>
              <a:off x="7896225" y="4766817"/>
              <a:ext cx="432434" cy="183515"/>
            </a:xfrm>
            <a:custGeom>
              <a:avLst/>
              <a:gdLst/>
              <a:ahLst/>
              <a:cxnLst/>
              <a:rect l="l" t="t" r="r" b="b"/>
              <a:pathLst>
                <a:path w="432434" h="183514">
                  <a:moveTo>
                    <a:pt x="0" y="45846"/>
                  </a:moveTo>
                  <a:lnTo>
                    <a:pt x="340741" y="45846"/>
                  </a:lnTo>
                  <a:lnTo>
                    <a:pt x="340741" y="0"/>
                  </a:lnTo>
                  <a:lnTo>
                    <a:pt x="432307" y="91566"/>
                  </a:lnTo>
                  <a:lnTo>
                    <a:pt x="340741" y="183133"/>
                  </a:lnTo>
                  <a:lnTo>
                    <a:pt x="340741" y="137413"/>
                  </a:lnTo>
                  <a:lnTo>
                    <a:pt x="0" y="137413"/>
                  </a:lnTo>
                  <a:lnTo>
                    <a:pt x="0" y="45846"/>
                  </a:lnTo>
                  <a:close/>
                </a:path>
              </a:pathLst>
            </a:custGeom>
            <a:ln w="9525">
              <a:solidFill>
                <a:srgbClr val="40458B"/>
              </a:solidFill>
            </a:ln>
          </p:spPr>
          <p:txBody>
            <a:bodyPr wrap="square" lIns="0" tIns="0" rIns="0" bIns="0" rtlCol="0"/>
            <a:lstStyle/>
            <a:p/>
          </p:txBody>
        </p:sp>
      </p:grpSp>
      <p:sp>
        <p:nvSpPr>
          <p:cNvPr id="21" name="object 21" descr=""/>
          <p:cNvSpPr txBox="1"/>
          <p:nvPr/>
        </p:nvSpPr>
        <p:spPr>
          <a:xfrm>
            <a:off x="8399780" y="3933266"/>
            <a:ext cx="1902460" cy="269240"/>
          </a:xfrm>
          <a:prstGeom prst="rect">
            <a:avLst/>
          </a:prstGeom>
        </p:spPr>
        <p:txBody>
          <a:bodyPr wrap="square" lIns="0" tIns="12065" rIns="0" bIns="0" rtlCol="0" vert="horz">
            <a:spAutoFit/>
          </a:bodyPr>
          <a:lstStyle/>
          <a:p>
            <a:pPr marL="12700">
              <a:lnSpc>
                <a:spcPct val="100000"/>
              </a:lnSpc>
              <a:spcBef>
                <a:spcPts val="95"/>
              </a:spcBef>
              <a:tabLst>
                <a:tab pos="732155" algn="l"/>
                <a:tab pos="1202690" algn="l"/>
                <a:tab pos="1672589" algn="l"/>
              </a:tabLst>
            </a:pPr>
            <a:r>
              <a:rPr dirty="0" sz="1600" spc="-10">
                <a:solidFill>
                  <a:srgbClr val="FF0000"/>
                </a:solidFill>
                <a:latin typeface="Tahoma"/>
                <a:cs typeface="Tahoma"/>
              </a:rPr>
              <a:t>ADD.D</a:t>
            </a:r>
            <a:r>
              <a:rPr dirty="0" sz="1600">
                <a:solidFill>
                  <a:srgbClr val="FF0000"/>
                </a:solidFill>
                <a:latin typeface="Tahoma"/>
                <a:cs typeface="Tahoma"/>
              </a:rPr>
              <a:t>	</a:t>
            </a:r>
            <a:r>
              <a:rPr dirty="0" sz="1600" spc="-25">
                <a:solidFill>
                  <a:srgbClr val="FF0000"/>
                </a:solidFill>
                <a:latin typeface="Tahoma"/>
                <a:cs typeface="Tahoma"/>
              </a:rPr>
              <a:t>F8,</a:t>
            </a:r>
            <a:r>
              <a:rPr dirty="0" sz="1600">
                <a:solidFill>
                  <a:srgbClr val="FF0000"/>
                </a:solidFill>
                <a:latin typeface="Tahoma"/>
                <a:cs typeface="Tahoma"/>
              </a:rPr>
              <a:t>	</a:t>
            </a:r>
            <a:r>
              <a:rPr dirty="0" sz="1600" spc="-25">
                <a:solidFill>
                  <a:srgbClr val="FF0000"/>
                </a:solidFill>
                <a:latin typeface="Tahoma"/>
                <a:cs typeface="Tahoma"/>
              </a:rPr>
              <a:t>F2,</a:t>
            </a:r>
            <a:r>
              <a:rPr dirty="0" sz="1600">
                <a:solidFill>
                  <a:srgbClr val="FF0000"/>
                </a:solidFill>
                <a:latin typeface="Tahoma"/>
                <a:cs typeface="Tahoma"/>
              </a:rPr>
              <a:t>	</a:t>
            </a:r>
            <a:r>
              <a:rPr dirty="0" sz="1600" spc="-25">
                <a:solidFill>
                  <a:srgbClr val="FF0000"/>
                </a:solidFill>
                <a:latin typeface="Tahoma"/>
                <a:cs typeface="Tahoma"/>
              </a:rPr>
              <a:t>F6</a:t>
            </a:r>
            <a:endParaRPr sz="1600">
              <a:latin typeface="Tahoma"/>
              <a:cs typeface="Tahom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28/175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79016" y="148844"/>
            <a:ext cx="3686175"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486867" y="654197"/>
            <a:ext cx="11455400" cy="3608704"/>
          </a:xfrm>
          <a:prstGeom prst="rect">
            <a:avLst/>
          </a:prstGeom>
        </p:spPr>
        <p:txBody>
          <a:bodyPr wrap="square" lIns="0" tIns="98425" rIns="0" bIns="0" rtlCol="0" vert="horz">
            <a:spAutoFit/>
          </a:bodyPr>
          <a:lstStyle/>
          <a:p>
            <a:pPr marL="12700">
              <a:lnSpc>
                <a:spcPct val="100000"/>
              </a:lnSpc>
              <a:spcBef>
                <a:spcPts val="775"/>
              </a:spcBef>
            </a:pPr>
            <a:r>
              <a:rPr dirty="0" sz="2600">
                <a:solidFill>
                  <a:srgbClr val="0000CC"/>
                </a:solidFill>
                <a:latin typeface="黑体"/>
                <a:cs typeface="黑体"/>
              </a:rPr>
              <a:t>5.3.2</a:t>
            </a:r>
            <a:r>
              <a:rPr dirty="0" sz="2600" spc="-15">
                <a:solidFill>
                  <a:srgbClr val="0000CC"/>
                </a:solidFill>
                <a:latin typeface="黑体"/>
                <a:cs typeface="黑体"/>
              </a:rPr>
              <a:t> 记分牌动态调度算法</a:t>
            </a:r>
            <a:endParaRPr sz="2600">
              <a:latin typeface="黑体"/>
              <a:cs typeface="黑体"/>
            </a:endParaRPr>
          </a:p>
          <a:p>
            <a:pPr marL="355600" marR="117475" indent="-342900">
              <a:lnSpc>
                <a:spcPct val="120000"/>
              </a:lnSpc>
              <a:spcBef>
                <a:spcPts val="45"/>
              </a:spcBef>
              <a:buClr>
                <a:srgbClr val="40458B"/>
              </a:buClr>
              <a:buFont typeface="Wingdings"/>
              <a:buChar char=""/>
              <a:tabLst>
                <a:tab pos="355600" algn="l"/>
              </a:tabLst>
            </a:pPr>
            <a:r>
              <a:rPr dirty="0" sz="2400">
                <a:solidFill>
                  <a:srgbClr val="FF0000"/>
                </a:solidFill>
                <a:latin typeface="黑体"/>
                <a:cs typeface="黑体"/>
              </a:rPr>
              <a:t>读操作数阶段</a:t>
            </a:r>
            <a:r>
              <a:rPr dirty="0" sz="2400">
                <a:solidFill>
                  <a:srgbClr val="001F5F"/>
                </a:solidFill>
                <a:latin typeface="黑体"/>
                <a:cs typeface="黑体"/>
              </a:rPr>
              <a:t>：在流出阶段之后，是否马上可以读数据？为了</a:t>
            </a:r>
            <a:r>
              <a:rPr dirty="0" sz="2400">
                <a:solidFill>
                  <a:srgbClr val="FF0000"/>
                </a:solidFill>
                <a:latin typeface="黑体"/>
                <a:cs typeface="黑体"/>
              </a:rPr>
              <a:t>避免写后读冲突</a:t>
            </a:r>
            <a:r>
              <a:rPr dirty="0" sz="2400">
                <a:solidFill>
                  <a:srgbClr val="001F5F"/>
                </a:solidFill>
                <a:latin typeface="黑体"/>
                <a:cs typeface="黑体"/>
              </a:rPr>
              <a:t>（</a:t>
            </a:r>
            <a:r>
              <a:rPr dirty="0" sz="2400" spc="-50">
                <a:solidFill>
                  <a:srgbClr val="001F5F"/>
                </a:solidFill>
                <a:latin typeface="黑体"/>
                <a:cs typeface="黑体"/>
              </a:rPr>
              <a:t>联</a:t>
            </a:r>
            <a:r>
              <a:rPr dirty="0" sz="2400" spc="-10">
                <a:solidFill>
                  <a:srgbClr val="001F5F"/>
                </a:solidFill>
                <a:latin typeface="黑体"/>
                <a:cs typeface="黑体"/>
              </a:rPr>
              <a:t>系上页指令），</a:t>
            </a:r>
            <a:r>
              <a:rPr dirty="0" sz="2400" spc="-15">
                <a:solidFill>
                  <a:srgbClr val="001F5F"/>
                </a:solidFill>
                <a:latin typeface="黑体"/>
                <a:cs typeface="黑体"/>
              </a:rPr>
              <a:t>记分牌进行如下检测：</a:t>
            </a:r>
            <a:endParaRPr sz="2400">
              <a:latin typeface="黑体"/>
              <a:cs typeface="黑体"/>
            </a:endParaRPr>
          </a:p>
          <a:p>
            <a:pPr algn="just" lvl="1" marL="1056640" marR="5080" indent="-457834">
              <a:lnSpc>
                <a:spcPct val="120000"/>
              </a:lnSpc>
              <a:spcBef>
                <a:spcPts val="560"/>
              </a:spcBef>
              <a:buClr>
                <a:srgbClr val="4668F5"/>
              </a:buClr>
              <a:buSzPct val="68181"/>
              <a:buFont typeface="Wingdings"/>
              <a:buChar char=""/>
              <a:tabLst>
                <a:tab pos="1056640" algn="l"/>
              </a:tabLst>
            </a:pPr>
            <a:r>
              <a:rPr dirty="0" sz="2200" spc="-25" b="1">
                <a:solidFill>
                  <a:srgbClr val="9966FF"/>
                </a:solidFill>
                <a:latin typeface="宋体"/>
                <a:cs typeface="宋体"/>
              </a:rPr>
              <a:t>在当前指令之前，且正在运行的其他指令若存在修改寄存器的操作，但该写操作不是对当前指令的源操作数的修改，或者已经完成了写操作，那么当前指令就可以读取操</a:t>
            </a:r>
            <a:r>
              <a:rPr dirty="0" sz="2200" spc="-35" b="1">
                <a:solidFill>
                  <a:srgbClr val="9966FF"/>
                </a:solidFill>
                <a:latin typeface="宋体"/>
                <a:cs typeface="宋体"/>
              </a:rPr>
              <a:t>作数了。</a:t>
            </a:r>
            <a:endParaRPr sz="2200">
              <a:latin typeface="宋体"/>
              <a:cs typeface="宋体"/>
            </a:endParaRPr>
          </a:p>
          <a:p>
            <a:pPr algn="just" lvl="1" marL="1056640" indent="-457200">
              <a:lnSpc>
                <a:spcPct val="100000"/>
              </a:lnSpc>
              <a:spcBef>
                <a:spcPts val="1060"/>
              </a:spcBef>
              <a:buClr>
                <a:srgbClr val="4668F5"/>
              </a:buClr>
              <a:buSzPct val="68181"/>
              <a:buFont typeface="Wingdings"/>
              <a:buChar char=""/>
              <a:tabLst>
                <a:tab pos="1056640" algn="l"/>
              </a:tabLst>
            </a:pPr>
            <a:r>
              <a:rPr dirty="0" sz="2200" spc="-20" b="1">
                <a:solidFill>
                  <a:srgbClr val="9966FF"/>
                </a:solidFill>
                <a:latin typeface="宋体"/>
                <a:cs typeface="宋体"/>
              </a:rPr>
              <a:t>读操作阶段避免了</a:t>
            </a:r>
            <a:r>
              <a:rPr dirty="0" sz="2200" spc="-20" b="1">
                <a:solidFill>
                  <a:srgbClr val="FF0000"/>
                </a:solidFill>
                <a:latin typeface="宋体"/>
                <a:cs typeface="宋体"/>
              </a:rPr>
              <a:t>写后读冲突</a:t>
            </a:r>
            <a:r>
              <a:rPr dirty="0" sz="2200" spc="-50" b="1">
                <a:solidFill>
                  <a:srgbClr val="9966FF"/>
                </a:solidFill>
                <a:latin typeface="宋体"/>
                <a:cs typeface="宋体"/>
              </a:rPr>
              <a:t>。</a:t>
            </a:r>
            <a:endParaRPr sz="2200">
              <a:latin typeface="宋体"/>
              <a:cs typeface="宋体"/>
            </a:endParaRPr>
          </a:p>
          <a:p>
            <a:pPr algn="just" lvl="1" marL="1056640" indent="-457200">
              <a:lnSpc>
                <a:spcPct val="100000"/>
              </a:lnSpc>
              <a:spcBef>
                <a:spcPts val="1055"/>
              </a:spcBef>
              <a:buClr>
                <a:srgbClr val="4668F5"/>
              </a:buClr>
              <a:buSzPct val="68181"/>
              <a:buFont typeface="Wingdings"/>
              <a:buChar char=""/>
              <a:tabLst>
                <a:tab pos="1056640" algn="l"/>
              </a:tabLst>
            </a:pPr>
            <a:r>
              <a:rPr dirty="0" sz="2200" spc="-25" b="1">
                <a:solidFill>
                  <a:srgbClr val="9966FF"/>
                </a:solidFill>
                <a:latin typeface="宋体"/>
                <a:cs typeface="宋体"/>
              </a:rPr>
              <a:t>一个周期，导致指令可能乱序开始执行。</a:t>
            </a:r>
            <a:endParaRPr sz="2200">
              <a:latin typeface="宋体"/>
              <a:cs typeface="宋体"/>
            </a:endParaRPr>
          </a:p>
        </p:txBody>
      </p:sp>
      <p:sp>
        <p:nvSpPr>
          <p:cNvPr id="11" name="object 11" descr=""/>
          <p:cNvSpPr txBox="1"/>
          <p:nvPr/>
        </p:nvSpPr>
        <p:spPr>
          <a:xfrm>
            <a:off x="486867" y="6257645"/>
            <a:ext cx="6774815" cy="391160"/>
          </a:xfrm>
          <a:prstGeom prst="rect">
            <a:avLst/>
          </a:prstGeom>
        </p:spPr>
        <p:txBody>
          <a:bodyPr wrap="square" lIns="0" tIns="12700" rIns="0" bIns="0" rtlCol="0" vert="horz">
            <a:spAutoFit/>
          </a:bodyPr>
          <a:lstStyle/>
          <a:p>
            <a:pPr marL="354965" indent="-342265">
              <a:lnSpc>
                <a:spcPct val="100000"/>
              </a:lnSpc>
              <a:spcBef>
                <a:spcPts val="100"/>
              </a:spcBef>
              <a:buClr>
                <a:srgbClr val="40458B"/>
              </a:buClr>
              <a:buFont typeface="Wingdings"/>
              <a:buChar char=""/>
              <a:tabLst>
                <a:tab pos="354965" algn="l"/>
              </a:tabLst>
            </a:pPr>
            <a:r>
              <a:rPr dirty="0" sz="2400">
                <a:solidFill>
                  <a:srgbClr val="FF0000"/>
                </a:solidFill>
                <a:latin typeface="黑体"/>
                <a:cs typeface="黑体"/>
              </a:rPr>
              <a:t>执行阶段</a:t>
            </a:r>
            <a:r>
              <a:rPr dirty="0" sz="2400" spc="-5">
                <a:solidFill>
                  <a:srgbClr val="001F5F"/>
                </a:solidFill>
                <a:latin typeface="黑体"/>
                <a:cs typeface="黑体"/>
              </a:rPr>
              <a:t>：数据就绪就执行，可能需要多个周期</a:t>
            </a:r>
            <a:endParaRPr sz="2400">
              <a:latin typeface="黑体"/>
              <a:cs typeface="黑体"/>
            </a:endParaRPr>
          </a:p>
        </p:txBody>
      </p:sp>
      <p:sp>
        <p:nvSpPr>
          <p:cNvPr id="12" name="object 12" descr=""/>
          <p:cNvSpPr txBox="1"/>
          <p:nvPr/>
        </p:nvSpPr>
        <p:spPr>
          <a:xfrm>
            <a:off x="4328921" y="5689193"/>
            <a:ext cx="3587750" cy="269240"/>
          </a:xfrm>
          <a:prstGeom prst="rect">
            <a:avLst/>
          </a:prstGeom>
        </p:spPr>
        <p:txBody>
          <a:bodyPr wrap="square" lIns="0" tIns="12065" rIns="0" bIns="0" rtlCol="0" vert="horz">
            <a:spAutoFit/>
          </a:bodyPr>
          <a:lstStyle/>
          <a:p>
            <a:pPr marL="12700">
              <a:lnSpc>
                <a:spcPct val="100000"/>
              </a:lnSpc>
              <a:spcBef>
                <a:spcPts val="95"/>
              </a:spcBef>
            </a:pPr>
            <a:r>
              <a:rPr dirty="0" sz="1600" spc="-30">
                <a:solidFill>
                  <a:srgbClr val="FF0000"/>
                </a:solidFill>
                <a:latin typeface="黑体"/>
                <a:cs typeface="黑体"/>
              </a:rPr>
              <a:t>假设正在执行的指令为</a:t>
            </a:r>
            <a:r>
              <a:rPr dirty="0" sz="1600" spc="-20">
                <a:solidFill>
                  <a:srgbClr val="FF0000"/>
                </a:solidFill>
                <a:latin typeface="Tahoma"/>
                <a:cs typeface="Tahoma"/>
              </a:rPr>
              <a:t>j</a:t>
            </a:r>
            <a:r>
              <a:rPr dirty="0" sz="1600" spc="-25">
                <a:solidFill>
                  <a:srgbClr val="FF0000"/>
                </a:solidFill>
                <a:latin typeface="黑体"/>
                <a:cs typeface="黑体"/>
              </a:rPr>
              <a:t>，当前指令为</a:t>
            </a:r>
            <a:r>
              <a:rPr dirty="0" sz="1600" spc="-25">
                <a:solidFill>
                  <a:srgbClr val="FF0000"/>
                </a:solidFill>
                <a:latin typeface="Tahoma"/>
                <a:cs typeface="Tahoma"/>
              </a:rPr>
              <a:t>i</a:t>
            </a:r>
            <a:r>
              <a:rPr dirty="0" sz="1600" spc="-25">
                <a:solidFill>
                  <a:srgbClr val="FF0000"/>
                </a:solidFill>
                <a:latin typeface="黑体"/>
                <a:cs typeface="黑体"/>
              </a:rPr>
              <a:t>，</a:t>
            </a:r>
            <a:endParaRPr sz="1600">
              <a:latin typeface="黑体"/>
              <a:cs typeface="黑体"/>
            </a:endParaRPr>
          </a:p>
        </p:txBody>
      </p:sp>
      <p:sp>
        <p:nvSpPr>
          <p:cNvPr id="13" name="object 13" descr=""/>
          <p:cNvSpPr txBox="1"/>
          <p:nvPr/>
        </p:nvSpPr>
        <p:spPr>
          <a:xfrm>
            <a:off x="2130425" y="4357674"/>
            <a:ext cx="2447925" cy="1221740"/>
          </a:xfrm>
          <a:prstGeom prst="rect">
            <a:avLst/>
          </a:prstGeom>
          <a:ln w="9525">
            <a:solidFill>
              <a:srgbClr val="40458B"/>
            </a:solidFill>
          </a:ln>
        </p:spPr>
        <p:txBody>
          <a:bodyPr wrap="square" lIns="0" tIns="152400" rIns="0" bIns="0" rtlCol="0" vert="horz">
            <a:spAutoFit/>
          </a:bodyPr>
          <a:lstStyle/>
          <a:p>
            <a:pPr algn="just" marL="187960" marR="156845">
              <a:lnSpc>
                <a:spcPts val="2880"/>
              </a:lnSpc>
              <a:spcBef>
                <a:spcPts val="1200"/>
              </a:spcBef>
            </a:pPr>
            <a:r>
              <a:rPr dirty="0" sz="1600" spc="-10">
                <a:solidFill>
                  <a:srgbClr val="FF09FF"/>
                </a:solidFill>
                <a:latin typeface="黑体"/>
                <a:cs typeface="黑体"/>
              </a:rPr>
              <a:t>检查：</a:t>
            </a:r>
            <a:r>
              <a:rPr dirty="0" sz="1600" spc="-10">
                <a:solidFill>
                  <a:srgbClr val="E14B04"/>
                </a:solidFill>
                <a:latin typeface="Tahoma"/>
                <a:cs typeface="Tahoma"/>
              </a:rPr>
              <a:t>j</a:t>
            </a:r>
            <a:r>
              <a:rPr dirty="0" sz="1600" spc="-30">
                <a:solidFill>
                  <a:srgbClr val="006FC0"/>
                </a:solidFill>
                <a:latin typeface="黑体"/>
                <a:cs typeface="黑体"/>
              </a:rPr>
              <a:t>指令的目的寄存</a:t>
            </a:r>
            <a:r>
              <a:rPr dirty="0" sz="1600" spc="-10">
                <a:solidFill>
                  <a:srgbClr val="006FC0"/>
                </a:solidFill>
                <a:latin typeface="黑体"/>
                <a:cs typeface="黑体"/>
              </a:rPr>
              <a:t>器不是</a:t>
            </a:r>
            <a:r>
              <a:rPr dirty="0" sz="1600" spc="-10">
                <a:solidFill>
                  <a:srgbClr val="FF0000"/>
                </a:solidFill>
                <a:latin typeface="Tahoma"/>
                <a:cs typeface="Tahoma"/>
              </a:rPr>
              <a:t>i</a:t>
            </a:r>
            <a:r>
              <a:rPr dirty="0" sz="1600" spc="-30">
                <a:solidFill>
                  <a:srgbClr val="006FC0"/>
                </a:solidFill>
                <a:latin typeface="黑体"/>
                <a:cs typeface="黑体"/>
              </a:rPr>
              <a:t>指令的源操作数寄存器</a:t>
            </a:r>
            <a:endParaRPr sz="1600">
              <a:latin typeface="黑体"/>
              <a:cs typeface="黑体"/>
            </a:endParaRPr>
          </a:p>
        </p:txBody>
      </p:sp>
      <p:sp>
        <p:nvSpPr>
          <p:cNvPr id="14" name="object 14" descr=""/>
          <p:cNvSpPr txBox="1"/>
          <p:nvPr/>
        </p:nvSpPr>
        <p:spPr>
          <a:xfrm>
            <a:off x="5294376" y="4357751"/>
            <a:ext cx="2448560" cy="1222375"/>
          </a:xfrm>
          <a:prstGeom prst="rect">
            <a:avLst/>
          </a:prstGeom>
          <a:ln w="9525">
            <a:solidFill>
              <a:srgbClr val="40458B"/>
            </a:solidFill>
          </a:ln>
        </p:spPr>
        <p:txBody>
          <a:bodyPr wrap="square" lIns="0" tIns="104775" rIns="0" bIns="0" rtlCol="0" vert="horz">
            <a:spAutoFit/>
          </a:bodyPr>
          <a:lstStyle/>
          <a:p>
            <a:pPr marL="93345" marR="60325">
              <a:lnSpc>
                <a:spcPct val="150100"/>
              </a:lnSpc>
              <a:spcBef>
                <a:spcPts val="825"/>
              </a:spcBef>
            </a:pPr>
            <a:r>
              <a:rPr dirty="0" sz="1600" spc="-20">
                <a:solidFill>
                  <a:srgbClr val="006FC0"/>
                </a:solidFill>
                <a:latin typeface="黑体"/>
                <a:cs typeface="黑体"/>
              </a:rPr>
              <a:t>记分牌算法允许</a:t>
            </a:r>
            <a:r>
              <a:rPr dirty="0" sz="1600" spc="-10">
                <a:solidFill>
                  <a:srgbClr val="FF0000"/>
                </a:solidFill>
                <a:latin typeface="Tahoma"/>
                <a:cs typeface="Tahoma"/>
              </a:rPr>
              <a:t>i</a:t>
            </a:r>
            <a:r>
              <a:rPr dirty="0" sz="1600" spc="-30">
                <a:solidFill>
                  <a:srgbClr val="006FC0"/>
                </a:solidFill>
                <a:latin typeface="黑体"/>
                <a:cs typeface="黑体"/>
              </a:rPr>
              <a:t>指令读源操作数</a:t>
            </a:r>
            <a:endParaRPr sz="1600">
              <a:latin typeface="黑体"/>
              <a:cs typeface="黑体"/>
            </a:endParaRPr>
          </a:p>
        </p:txBody>
      </p:sp>
      <p:grpSp>
        <p:nvGrpSpPr>
          <p:cNvPr id="15" name="object 15" descr=""/>
          <p:cNvGrpSpPr/>
          <p:nvPr/>
        </p:nvGrpSpPr>
        <p:grpSpPr>
          <a:xfrm>
            <a:off x="4713287" y="4890452"/>
            <a:ext cx="441959" cy="193040"/>
            <a:chOff x="4713287" y="4890452"/>
            <a:chExt cx="441959" cy="193040"/>
          </a:xfrm>
        </p:grpSpPr>
        <p:sp>
          <p:nvSpPr>
            <p:cNvPr id="16" name="object 16" descr=""/>
            <p:cNvSpPr/>
            <p:nvPr/>
          </p:nvSpPr>
          <p:spPr>
            <a:xfrm>
              <a:off x="4718050" y="4895215"/>
              <a:ext cx="432434" cy="183515"/>
            </a:xfrm>
            <a:custGeom>
              <a:avLst/>
              <a:gdLst/>
              <a:ahLst/>
              <a:cxnLst/>
              <a:rect l="l" t="t" r="r" b="b"/>
              <a:pathLst>
                <a:path w="432435" h="183514">
                  <a:moveTo>
                    <a:pt x="340740" y="0"/>
                  </a:moveTo>
                  <a:lnTo>
                    <a:pt x="340740" y="45847"/>
                  </a:lnTo>
                  <a:lnTo>
                    <a:pt x="0" y="45847"/>
                  </a:lnTo>
                  <a:lnTo>
                    <a:pt x="0" y="137414"/>
                  </a:lnTo>
                  <a:lnTo>
                    <a:pt x="340740" y="137414"/>
                  </a:lnTo>
                  <a:lnTo>
                    <a:pt x="340740" y="183261"/>
                  </a:lnTo>
                  <a:lnTo>
                    <a:pt x="432308" y="91693"/>
                  </a:lnTo>
                  <a:lnTo>
                    <a:pt x="340740" y="0"/>
                  </a:lnTo>
                  <a:close/>
                </a:path>
              </a:pathLst>
            </a:custGeom>
            <a:solidFill>
              <a:srgbClr val="EBD782"/>
            </a:solidFill>
          </p:spPr>
          <p:txBody>
            <a:bodyPr wrap="square" lIns="0" tIns="0" rIns="0" bIns="0" rtlCol="0"/>
            <a:lstStyle/>
            <a:p/>
          </p:txBody>
        </p:sp>
        <p:sp>
          <p:nvSpPr>
            <p:cNvPr id="17" name="object 17" descr=""/>
            <p:cNvSpPr/>
            <p:nvPr/>
          </p:nvSpPr>
          <p:spPr>
            <a:xfrm>
              <a:off x="4718050" y="4895215"/>
              <a:ext cx="432434" cy="183515"/>
            </a:xfrm>
            <a:custGeom>
              <a:avLst/>
              <a:gdLst/>
              <a:ahLst/>
              <a:cxnLst/>
              <a:rect l="l" t="t" r="r" b="b"/>
              <a:pathLst>
                <a:path w="432435" h="183514">
                  <a:moveTo>
                    <a:pt x="0" y="45847"/>
                  </a:moveTo>
                  <a:lnTo>
                    <a:pt x="340740" y="45847"/>
                  </a:lnTo>
                  <a:lnTo>
                    <a:pt x="340740" y="0"/>
                  </a:lnTo>
                  <a:lnTo>
                    <a:pt x="432308" y="91693"/>
                  </a:lnTo>
                  <a:lnTo>
                    <a:pt x="340740" y="183261"/>
                  </a:lnTo>
                  <a:lnTo>
                    <a:pt x="340740" y="137414"/>
                  </a:lnTo>
                  <a:lnTo>
                    <a:pt x="0" y="137414"/>
                  </a:lnTo>
                  <a:lnTo>
                    <a:pt x="0" y="45847"/>
                  </a:lnTo>
                  <a:close/>
                </a:path>
              </a:pathLst>
            </a:custGeom>
            <a:ln w="9525">
              <a:solidFill>
                <a:srgbClr val="40458B"/>
              </a:solidFill>
            </a:ln>
          </p:spPr>
          <p:txBody>
            <a:bodyPr wrap="square" lIns="0" tIns="0" rIns="0" bIns="0" rtlCol="0"/>
            <a:lstStyle/>
            <a:p/>
          </p:txBody>
        </p:sp>
      </p:grpSp>
      <p:sp>
        <p:nvSpPr>
          <p:cNvPr id="18" name="object 18" descr=""/>
          <p:cNvSpPr txBox="1"/>
          <p:nvPr/>
        </p:nvSpPr>
        <p:spPr>
          <a:xfrm>
            <a:off x="8668004" y="4614164"/>
            <a:ext cx="2486660" cy="269240"/>
          </a:xfrm>
          <a:prstGeom prst="rect">
            <a:avLst/>
          </a:prstGeom>
        </p:spPr>
        <p:txBody>
          <a:bodyPr wrap="square" lIns="0" tIns="12065" rIns="0" bIns="0" rtlCol="0" vert="horz">
            <a:spAutoFit/>
          </a:bodyPr>
          <a:lstStyle/>
          <a:p>
            <a:pPr marL="12700">
              <a:lnSpc>
                <a:spcPct val="100000"/>
              </a:lnSpc>
              <a:spcBef>
                <a:spcPts val="95"/>
              </a:spcBef>
            </a:pPr>
            <a:r>
              <a:rPr dirty="0" sz="1600" spc="-10">
                <a:solidFill>
                  <a:srgbClr val="006FC0"/>
                </a:solidFill>
                <a:latin typeface="黑体"/>
                <a:cs typeface="黑体"/>
              </a:rPr>
              <a:t>消除</a:t>
            </a:r>
            <a:r>
              <a:rPr dirty="0" sz="1600" spc="-20">
                <a:solidFill>
                  <a:srgbClr val="006FC0"/>
                </a:solidFill>
                <a:latin typeface="Tahoma"/>
                <a:cs typeface="Tahoma"/>
              </a:rPr>
              <a:t>RAW</a:t>
            </a:r>
            <a:r>
              <a:rPr dirty="0" sz="1600" spc="-10">
                <a:solidFill>
                  <a:srgbClr val="006FC0"/>
                </a:solidFill>
                <a:latin typeface="黑体"/>
                <a:cs typeface="黑体"/>
              </a:rPr>
              <a:t>冲突</a:t>
            </a:r>
            <a:r>
              <a:rPr dirty="0" sz="1600" spc="-25">
                <a:solidFill>
                  <a:srgbClr val="006FC0"/>
                </a:solidFill>
                <a:latin typeface="黑体"/>
                <a:cs typeface="黑体"/>
              </a:rPr>
              <a:t>（停顿解决</a:t>
            </a:r>
            <a:r>
              <a:rPr dirty="0" sz="1600" spc="-50">
                <a:solidFill>
                  <a:srgbClr val="006FC0"/>
                </a:solidFill>
                <a:latin typeface="黑体"/>
                <a:cs typeface="黑体"/>
              </a:rPr>
              <a:t>）</a:t>
            </a:r>
            <a:endParaRPr sz="1600">
              <a:latin typeface="黑体"/>
              <a:cs typeface="黑体"/>
            </a:endParaRPr>
          </a:p>
        </p:txBody>
      </p:sp>
      <p:grpSp>
        <p:nvGrpSpPr>
          <p:cNvPr id="19" name="object 19" descr=""/>
          <p:cNvGrpSpPr/>
          <p:nvPr/>
        </p:nvGrpSpPr>
        <p:grpSpPr>
          <a:xfrm>
            <a:off x="7970837" y="4670234"/>
            <a:ext cx="542925" cy="193040"/>
            <a:chOff x="7970837" y="4670234"/>
            <a:chExt cx="542925" cy="193040"/>
          </a:xfrm>
        </p:grpSpPr>
        <p:sp>
          <p:nvSpPr>
            <p:cNvPr id="20" name="object 20" descr=""/>
            <p:cNvSpPr/>
            <p:nvPr/>
          </p:nvSpPr>
          <p:spPr>
            <a:xfrm>
              <a:off x="7975600" y="4674996"/>
              <a:ext cx="533400" cy="183515"/>
            </a:xfrm>
            <a:custGeom>
              <a:avLst/>
              <a:gdLst/>
              <a:ahLst/>
              <a:cxnLst/>
              <a:rect l="l" t="t" r="r" b="b"/>
              <a:pathLst>
                <a:path w="533400" h="183514">
                  <a:moveTo>
                    <a:pt x="441578" y="0"/>
                  </a:moveTo>
                  <a:lnTo>
                    <a:pt x="441578" y="45846"/>
                  </a:lnTo>
                  <a:lnTo>
                    <a:pt x="0" y="45846"/>
                  </a:lnTo>
                  <a:lnTo>
                    <a:pt x="0" y="137540"/>
                  </a:lnTo>
                  <a:lnTo>
                    <a:pt x="441578" y="137540"/>
                  </a:lnTo>
                  <a:lnTo>
                    <a:pt x="441578" y="183387"/>
                  </a:lnTo>
                  <a:lnTo>
                    <a:pt x="533273" y="91693"/>
                  </a:lnTo>
                  <a:lnTo>
                    <a:pt x="441578" y="0"/>
                  </a:lnTo>
                  <a:close/>
                </a:path>
              </a:pathLst>
            </a:custGeom>
            <a:solidFill>
              <a:srgbClr val="EBD782"/>
            </a:solidFill>
          </p:spPr>
          <p:txBody>
            <a:bodyPr wrap="square" lIns="0" tIns="0" rIns="0" bIns="0" rtlCol="0"/>
            <a:lstStyle/>
            <a:p/>
          </p:txBody>
        </p:sp>
        <p:sp>
          <p:nvSpPr>
            <p:cNvPr id="21" name="object 21" descr=""/>
            <p:cNvSpPr/>
            <p:nvPr/>
          </p:nvSpPr>
          <p:spPr>
            <a:xfrm>
              <a:off x="7975600" y="4674996"/>
              <a:ext cx="533400" cy="183515"/>
            </a:xfrm>
            <a:custGeom>
              <a:avLst/>
              <a:gdLst/>
              <a:ahLst/>
              <a:cxnLst/>
              <a:rect l="l" t="t" r="r" b="b"/>
              <a:pathLst>
                <a:path w="533400" h="183514">
                  <a:moveTo>
                    <a:pt x="0" y="45846"/>
                  </a:moveTo>
                  <a:lnTo>
                    <a:pt x="441578" y="45846"/>
                  </a:lnTo>
                  <a:lnTo>
                    <a:pt x="441578" y="0"/>
                  </a:lnTo>
                  <a:lnTo>
                    <a:pt x="533273" y="91693"/>
                  </a:lnTo>
                  <a:lnTo>
                    <a:pt x="441578" y="183387"/>
                  </a:lnTo>
                  <a:lnTo>
                    <a:pt x="441578" y="137540"/>
                  </a:lnTo>
                  <a:lnTo>
                    <a:pt x="0" y="137540"/>
                  </a:lnTo>
                  <a:lnTo>
                    <a:pt x="0" y="45846"/>
                  </a:lnTo>
                  <a:close/>
                </a:path>
              </a:pathLst>
            </a:custGeom>
            <a:ln w="9525">
              <a:solidFill>
                <a:srgbClr val="40458B"/>
              </a:solidFill>
            </a:ln>
          </p:spPr>
          <p:txBody>
            <a:bodyPr wrap="square" lIns="0" tIns="0" rIns="0" bIns="0" rtlCol="0"/>
            <a:lstStyle/>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29/175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42466" y="107695"/>
            <a:ext cx="3684904"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413715" y="528854"/>
            <a:ext cx="11455400" cy="5417185"/>
          </a:xfrm>
          <a:prstGeom prst="rect">
            <a:avLst/>
          </a:prstGeom>
        </p:spPr>
        <p:txBody>
          <a:bodyPr wrap="square" lIns="0" tIns="177800" rIns="0" bIns="0" rtlCol="0" vert="horz">
            <a:spAutoFit/>
          </a:bodyPr>
          <a:lstStyle/>
          <a:p>
            <a:pPr algn="just" marL="868044">
              <a:lnSpc>
                <a:spcPct val="100000"/>
              </a:lnSpc>
              <a:spcBef>
                <a:spcPts val="1400"/>
              </a:spcBef>
            </a:pPr>
            <a:r>
              <a:rPr dirty="0" sz="2600">
                <a:solidFill>
                  <a:srgbClr val="0000CC"/>
                </a:solidFill>
                <a:latin typeface="黑体"/>
                <a:cs typeface="黑体"/>
              </a:rPr>
              <a:t>5.3.2</a:t>
            </a:r>
            <a:r>
              <a:rPr dirty="0" sz="2600" spc="-15">
                <a:solidFill>
                  <a:srgbClr val="0000CC"/>
                </a:solidFill>
                <a:latin typeface="黑体"/>
                <a:cs typeface="黑体"/>
              </a:rPr>
              <a:t> 记分牌动态调度算法</a:t>
            </a:r>
            <a:endParaRPr sz="2600">
              <a:latin typeface="黑体"/>
              <a:cs typeface="黑体"/>
            </a:endParaRPr>
          </a:p>
          <a:p>
            <a:pPr algn="just" marL="355600" marR="66040" indent="-342900">
              <a:lnSpc>
                <a:spcPct val="120000"/>
              </a:lnSpc>
              <a:spcBef>
                <a:spcPts val="620"/>
              </a:spcBef>
              <a:buClr>
                <a:srgbClr val="40458B"/>
              </a:buClr>
              <a:buFont typeface="Wingdings"/>
              <a:buChar char=""/>
              <a:tabLst>
                <a:tab pos="355600" algn="l"/>
              </a:tabLst>
            </a:pPr>
            <a:r>
              <a:rPr dirty="0" sz="2400">
                <a:solidFill>
                  <a:srgbClr val="FF0000"/>
                </a:solidFill>
                <a:latin typeface="黑体"/>
                <a:cs typeface="黑体"/>
              </a:rPr>
              <a:t>写结果阶段</a:t>
            </a:r>
            <a:r>
              <a:rPr dirty="0" sz="2400">
                <a:solidFill>
                  <a:srgbClr val="001F5F"/>
                </a:solidFill>
                <a:latin typeface="黑体"/>
                <a:cs typeface="黑体"/>
              </a:rPr>
              <a:t>：乱序执行情况下，执行阶段已完成，就检测是否存在</a:t>
            </a:r>
            <a:r>
              <a:rPr dirty="0" sz="2400" spc="-10">
                <a:solidFill>
                  <a:srgbClr val="001F5F"/>
                </a:solidFill>
                <a:latin typeface="Tahoma"/>
                <a:cs typeface="Tahoma"/>
              </a:rPr>
              <a:t>WAR</a:t>
            </a:r>
            <a:r>
              <a:rPr dirty="0" sz="2400" spc="-10">
                <a:solidFill>
                  <a:srgbClr val="001F5F"/>
                </a:solidFill>
                <a:latin typeface="黑体"/>
                <a:cs typeface="黑体"/>
              </a:rPr>
              <a:t>冲突。若引</a:t>
            </a:r>
            <a:r>
              <a:rPr dirty="0" sz="2400">
                <a:solidFill>
                  <a:srgbClr val="001F5F"/>
                </a:solidFill>
                <a:latin typeface="黑体"/>
                <a:cs typeface="黑体"/>
              </a:rPr>
              <a:t>起</a:t>
            </a:r>
            <a:r>
              <a:rPr dirty="0" sz="2400" spc="-5">
                <a:solidFill>
                  <a:srgbClr val="FF0000"/>
                </a:solidFill>
                <a:latin typeface="黑体"/>
                <a:cs typeface="黑体"/>
              </a:rPr>
              <a:t>读后写</a:t>
            </a:r>
            <a:r>
              <a:rPr dirty="0" sz="2400">
                <a:solidFill>
                  <a:srgbClr val="001F5F"/>
                </a:solidFill>
                <a:latin typeface="黑体"/>
                <a:cs typeface="黑体"/>
              </a:rPr>
              <a:t>冲突（例如</a:t>
            </a:r>
            <a:r>
              <a:rPr dirty="0" sz="2400" spc="-20">
                <a:solidFill>
                  <a:srgbClr val="001F5F"/>
                </a:solidFill>
                <a:latin typeface="Tahoma"/>
                <a:cs typeface="Tahoma"/>
              </a:rPr>
              <a:t>I1</a:t>
            </a:r>
            <a:r>
              <a:rPr dirty="0" sz="2400">
                <a:solidFill>
                  <a:srgbClr val="001F5F"/>
                </a:solidFill>
                <a:latin typeface="黑体"/>
                <a:cs typeface="黑体"/>
              </a:rPr>
              <a:t>指令要读寄存器</a:t>
            </a:r>
            <a:r>
              <a:rPr dirty="0" sz="2400" spc="-20">
                <a:solidFill>
                  <a:srgbClr val="001F5F"/>
                </a:solidFill>
                <a:latin typeface="Tahoma"/>
                <a:cs typeface="Tahoma"/>
              </a:rPr>
              <a:t>R1</a:t>
            </a:r>
            <a:r>
              <a:rPr dirty="0" sz="2400" spc="-10">
                <a:solidFill>
                  <a:srgbClr val="001F5F"/>
                </a:solidFill>
                <a:latin typeface="黑体"/>
                <a:cs typeface="黑体"/>
              </a:rPr>
              <a:t>，其后</a:t>
            </a:r>
            <a:r>
              <a:rPr dirty="0" sz="2400" spc="-20">
                <a:solidFill>
                  <a:srgbClr val="001F5F"/>
                </a:solidFill>
                <a:latin typeface="Tahoma"/>
                <a:cs typeface="Tahoma"/>
              </a:rPr>
              <a:t>I2</a:t>
            </a:r>
            <a:r>
              <a:rPr dirty="0" sz="2400">
                <a:solidFill>
                  <a:srgbClr val="001F5F"/>
                </a:solidFill>
                <a:latin typeface="黑体"/>
                <a:cs typeface="黑体"/>
              </a:rPr>
              <a:t>指令要写寄存器</a:t>
            </a:r>
            <a:r>
              <a:rPr dirty="0" sz="2400" spc="-20">
                <a:solidFill>
                  <a:srgbClr val="001F5F"/>
                </a:solidFill>
                <a:latin typeface="Tahoma"/>
                <a:cs typeface="Tahoma"/>
              </a:rPr>
              <a:t>R2</a:t>
            </a:r>
            <a:r>
              <a:rPr dirty="0" sz="2400" spc="-20">
                <a:solidFill>
                  <a:srgbClr val="001F5F"/>
                </a:solidFill>
                <a:latin typeface="黑体"/>
                <a:cs typeface="黑体"/>
              </a:rPr>
              <a:t>，乱序执行过</a:t>
            </a:r>
            <a:r>
              <a:rPr dirty="0" sz="2400" spc="-10">
                <a:solidFill>
                  <a:srgbClr val="001F5F"/>
                </a:solidFill>
                <a:latin typeface="黑体"/>
                <a:cs typeface="黑体"/>
              </a:rPr>
              <a:t>程中，</a:t>
            </a:r>
            <a:r>
              <a:rPr dirty="0" sz="2400" spc="-10">
                <a:solidFill>
                  <a:srgbClr val="001F5F"/>
                </a:solidFill>
                <a:latin typeface="Tahoma"/>
                <a:cs typeface="Tahoma"/>
              </a:rPr>
              <a:t>I2</a:t>
            </a:r>
            <a:r>
              <a:rPr dirty="0" sz="2400" spc="-10">
                <a:solidFill>
                  <a:srgbClr val="001F5F"/>
                </a:solidFill>
                <a:latin typeface="黑体"/>
                <a:cs typeface="黑体"/>
              </a:rPr>
              <a:t>先写而</a:t>
            </a:r>
            <a:r>
              <a:rPr dirty="0" sz="2400" spc="-20">
                <a:solidFill>
                  <a:srgbClr val="001F5F"/>
                </a:solidFill>
                <a:latin typeface="Tahoma"/>
                <a:cs typeface="Tahoma"/>
              </a:rPr>
              <a:t>I1</a:t>
            </a:r>
            <a:r>
              <a:rPr dirty="0" sz="2400" spc="-10">
                <a:solidFill>
                  <a:srgbClr val="001F5F"/>
                </a:solidFill>
                <a:latin typeface="黑体"/>
                <a:cs typeface="黑体"/>
              </a:rPr>
              <a:t>才读）</a:t>
            </a:r>
            <a:r>
              <a:rPr dirty="0" sz="2400" spc="-50">
                <a:solidFill>
                  <a:srgbClr val="001F5F"/>
                </a:solidFill>
                <a:latin typeface="黑体"/>
                <a:cs typeface="黑体"/>
              </a:rPr>
              <a:t>。</a:t>
            </a:r>
            <a:endParaRPr sz="2400">
              <a:latin typeface="黑体"/>
              <a:cs typeface="黑体"/>
            </a:endParaRPr>
          </a:p>
          <a:p>
            <a:pPr lvl="1" marL="1056640" indent="-457834">
              <a:lnSpc>
                <a:spcPct val="100000"/>
              </a:lnSpc>
              <a:spcBef>
                <a:spcPts val="1090"/>
              </a:spcBef>
              <a:buClr>
                <a:srgbClr val="4668F5"/>
              </a:buClr>
              <a:buSzPct val="68181"/>
              <a:buFont typeface="Wingdings"/>
              <a:buChar char=""/>
              <a:tabLst>
                <a:tab pos="1056640" algn="l"/>
              </a:tabLst>
            </a:pPr>
            <a:r>
              <a:rPr dirty="0" sz="2200" spc="-20" b="1">
                <a:solidFill>
                  <a:srgbClr val="9966FF"/>
                </a:solidFill>
                <a:latin typeface="宋体"/>
                <a:cs typeface="宋体"/>
              </a:rPr>
              <a:t>记分牌算法在写结果阶段</a:t>
            </a:r>
            <a:r>
              <a:rPr dirty="0" sz="2200" spc="-25" b="1">
                <a:solidFill>
                  <a:srgbClr val="FF0000"/>
                </a:solidFill>
                <a:latin typeface="宋体"/>
                <a:cs typeface="宋体"/>
              </a:rPr>
              <a:t>先检查读后写冲突</a:t>
            </a:r>
            <a:r>
              <a:rPr dirty="0" sz="2200" spc="-30" b="1">
                <a:solidFill>
                  <a:srgbClr val="9966FF"/>
                </a:solidFill>
                <a:latin typeface="宋体"/>
                <a:cs typeface="宋体"/>
              </a:rPr>
              <a:t>并解决。</a:t>
            </a:r>
            <a:endParaRPr sz="2200">
              <a:latin typeface="宋体"/>
              <a:cs typeface="宋体"/>
            </a:endParaRPr>
          </a:p>
          <a:p>
            <a:pPr lvl="1" marL="1056640" marR="5080" indent="-457834">
              <a:lnSpc>
                <a:spcPct val="120000"/>
              </a:lnSpc>
              <a:spcBef>
                <a:spcPts val="525"/>
              </a:spcBef>
              <a:buClr>
                <a:srgbClr val="4668F5"/>
              </a:buClr>
              <a:buSzPct val="68181"/>
              <a:buFont typeface="Wingdings"/>
              <a:buChar char=""/>
              <a:tabLst>
                <a:tab pos="1056640" algn="l"/>
              </a:tabLst>
            </a:pPr>
            <a:r>
              <a:rPr dirty="0" sz="2200" spc="-20" b="1">
                <a:solidFill>
                  <a:srgbClr val="FF0000"/>
                </a:solidFill>
                <a:latin typeface="宋体"/>
                <a:cs typeface="宋体"/>
              </a:rPr>
              <a:t>解决方法：</a:t>
            </a:r>
            <a:r>
              <a:rPr dirty="0" sz="2200" spc="-25" b="1">
                <a:solidFill>
                  <a:srgbClr val="9966FF"/>
                </a:solidFill>
                <a:latin typeface="宋体"/>
                <a:cs typeface="宋体"/>
              </a:rPr>
              <a:t>当前指令一直进行等待，直到排在前面的所有指令都不需要对当前指令的目的寄存器进行读操作，这时才对目标寄存器进行回写。</a:t>
            </a:r>
            <a:endParaRPr sz="2200">
              <a:latin typeface="宋体"/>
              <a:cs typeface="宋体"/>
            </a:endParaRPr>
          </a:p>
          <a:p>
            <a:pPr lvl="1" marL="1056640" indent="-457834">
              <a:lnSpc>
                <a:spcPct val="100000"/>
              </a:lnSpc>
              <a:spcBef>
                <a:spcPts val="1060"/>
              </a:spcBef>
              <a:buClr>
                <a:srgbClr val="4668F5"/>
              </a:buClr>
              <a:buSzPct val="68181"/>
              <a:buFont typeface="Wingdings"/>
              <a:buChar char=""/>
              <a:tabLst>
                <a:tab pos="1056640" algn="l"/>
              </a:tabLst>
            </a:pPr>
            <a:r>
              <a:rPr dirty="0" sz="2200" spc="-20" b="1">
                <a:solidFill>
                  <a:srgbClr val="9966FF"/>
                </a:solidFill>
                <a:latin typeface="宋体"/>
                <a:cs typeface="宋体"/>
              </a:rPr>
              <a:t>不存在冲突或已有的</a:t>
            </a:r>
            <a:r>
              <a:rPr dirty="0" sz="2200" spc="-30" b="1">
                <a:solidFill>
                  <a:srgbClr val="9966FF"/>
                </a:solidFill>
                <a:latin typeface="Tahoma"/>
                <a:cs typeface="Tahoma"/>
              </a:rPr>
              <a:t>WAR</a:t>
            </a:r>
            <a:r>
              <a:rPr dirty="0" sz="2200" spc="-30" b="1">
                <a:solidFill>
                  <a:srgbClr val="9966FF"/>
                </a:solidFill>
                <a:latin typeface="宋体"/>
                <a:cs typeface="宋体"/>
              </a:rPr>
              <a:t>冲突已消失，则将结果写入目的寄存器，</a:t>
            </a:r>
            <a:endParaRPr sz="2200">
              <a:latin typeface="宋体"/>
              <a:cs typeface="宋体"/>
            </a:endParaRPr>
          </a:p>
          <a:p>
            <a:pPr lvl="1" marL="1056640" indent="-457834">
              <a:lnSpc>
                <a:spcPct val="100000"/>
              </a:lnSpc>
              <a:spcBef>
                <a:spcPts val="1055"/>
              </a:spcBef>
              <a:buClr>
                <a:srgbClr val="4668F5"/>
              </a:buClr>
              <a:buSzPct val="68181"/>
              <a:buFont typeface="Wingdings"/>
              <a:buChar char=""/>
              <a:tabLst>
                <a:tab pos="1056640" algn="l"/>
              </a:tabLst>
            </a:pPr>
            <a:r>
              <a:rPr dirty="0" sz="2200" spc="-25" b="1">
                <a:solidFill>
                  <a:srgbClr val="9966FF"/>
                </a:solidFill>
                <a:latin typeface="宋体"/>
                <a:cs typeface="宋体"/>
              </a:rPr>
              <a:t>释放该指令使用的所有资源。</a:t>
            </a:r>
            <a:endParaRPr sz="2200">
              <a:latin typeface="宋体"/>
              <a:cs typeface="宋体"/>
            </a:endParaRPr>
          </a:p>
          <a:p>
            <a:pPr marL="650240" indent="-438150">
              <a:lnSpc>
                <a:spcPct val="100000"/>
              </a:lnSpc>
              <a:spcBef>
                <a:spcPts val="1065"/>
              </a:spcBef>
              <a:buClr>
                <a:srgbClr val="40458B"/>
              </a:buClr>
              <a:buFont typeface="Wingdings"/>
              <a:buChar char=""/>
              <a:tabLst>
                <a:tab pos="650240" algn="l"/>
              </a:tabLst>
            </a:pPr>
            <a:r>
              <a:rPr dirty="0" sz="2400">
                <a:solidFill>
                  <a:srgbClr val="FF09FF"/>
                </a:solidFill>
                <a:latin typeface="黑体"/>
                <a:cs typeface="黑体"/>
              </a:rPr>
              <a:t>记分牌算法在尝试解决</a:t>
            </a:r>
            <a:r>
              <a:rPr dirty="0" sz="2400" spc="-10">
                <a:solidFill>
                  <a:srgbClr val="FF09FF"/>
                </a:solidFill>
                <a:latin typeface="Tahoma"/>
                <a:cs typeface="Tahoma"/>
              </a:rPr>
              <a:t>WAW</a:t>
            </a:r>
            <a:r>
              <a:rPr dirty="0" sz="2400">
                <a:solidFill>
                  <a:srgbClr val="FF09FF"/>
                </a:solidFill>
                <a:latin typeface="黑体"/>
                <a:cs typeface="黑体"/>
              </a:rPr>
              <a:t>和</a:t>
            </a:r>
            <a:r>
              <a:rPr dirty="0" sz="2400" spc="-10">
                <a:solidFill>
                  <a:srgbClr val="FF09FF"/>
                </a:solidFill>
                <a:latin typeface="Tahoma"/>
                <a:cs typeface="Tahoma"/>
              </a:rPr>
              <a:t>RAW</a:t>
            </a:r>
            <a:r>
              <a:rPr dirty="0" sz="2400" spc="-10">
                <a:solidFill>
                  <a:srgbClr val="FF09FF"/>
                </a:solidFill>
                <a:latin typeface="黑体"/>
                <a:cs typeface="黑体"/>
              </a:rPr>
              <a:t>，</a:t>
            </a:r>
            <a:r>
              <a:rPr dirty="0" sz="2400" spc="-10">
                <a:solidFill>
                  <a:srgbClr val="FF09FF"/>
                </a:solidFill>
                <a:latin typeface="Tahoma"/>
                <a:cs typeface="Tahoma"/>
              </a:rPr>
              <a:t>WAR</a:t>
            </a:r>
            <a:r>
              <a:rPr dirty="0" sz="2400" spc="-10">
                <a:solidFill>
                  <a:srgbClr val="FF09FF"/>
                </a:solidFill>
                <a:latin typeface="黑体"/>
                <a:cs typeface="黑体"/>
              </a:rPr>
              <a:t>，三种相关分别在哪些流水线段？</a:t>
            </a:r>
            <a:endParaRPr sz="2400">
              <a:latin typeface="黑体"/>
              <a:cs typeface="黑体"/>
            </a:endParaRPr>
          </a:p>
          <a:p>
            <a:pPr marL="554355" indent="-436880">
              <a:lnSpc>
                <a:spcPct val="100000"/>
              </a:lnSpc>
              <a:spcBef>
                <a:spcPts val="2235"/>
              </a:spcBef>
              <a:buClr>
                <a:srgbClr val="40458B"/>
              </a:buClr>
              <a:buFont typeface="Wingdings"/>
              <a:buChar char=""/>
              <a:tabLst>
                <a:tab pos="554355" algn="l"/>
              </a:tabLst>
            </a:pPr>
            <a:r>
              <a:rPr dirty="0" sz="2400" spc="-10">
                <a:solidFill>
                  <a:srgbClr val="FF09FF"/>
                </a:solidFill>
                <a:latin typeface="Tahoma"/>
                <a:cs typeface="Tahoma"/>
              </a:rPr>
              <a:t>WAW</a:t>
            </a:r>
            <a:r>
              <a:rPr dirty="0" sz="2400">
                <a:solidFill>
                  <a:srgbClr val="FF09FF"/>
                </a:solidFill>
                <a:latin typeface="黑体"/>
                <a:cs typeface="黑体"/>
              </a:rPr>
              <a:t>和</a:t>
            </a:r>
            <a:r>
              <a:rPr dirty="0" sz="2400" spc="-10">
                <a:solidFill>
                  <a:srgbClr val="FF09FF"/>
                </a:solidFill>
                <a:latin typeface="Tahoma"/>
                <a:cs typeface="Tahoma"/>
              </a:rPr>
              <a:t>RAW</a:t>
            </a:r>
            <a:r>
              <a:rPr dirty="0" sz="2400" spc="-5">
                <a:solidFill>
                  <a:srgbClr val="FF09FF"/>
                </a:solidFill>
                <a:latin typeface="黑体"/>
                <a:cs typeface="黑体"/>
              </a:rPr>
              <a:t>通过停顿来解决，</a:t>
            </a:r>
            <a:r>
              <a:rPr dirty="0" sz="2400" spc="-10">
                <a:solidFill>
                  <a:srgbClr val="FF09FF"/>
                </a:solidFill>
                <a:latin typeface="Tahoma"/>
                <a:cs typeface="Tahoma"/>
              </a:rPr>
              <a:t>WAR</a:t>
            </a:r>
            <a:r>
              <a:rPr dirty="0" sz="2400" spc="-5">
                <a:solidFill>
                  <a:srgbClr val="FF09FF"/>
                </a:solidFill>
                <a:latin typeface="黑体"/>
                <a:cs typeface="黑体"/>
              </a:rPr>
              <a:t>通过动态调度来消除。</a:t>
            </a:r>
            <a:endParaRPr sz="2400">
              <a:latin typeface="黑体"/>
              <a:cs typeface="黑体"/>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30/175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17167" y="123570"/>
            <a:ext cx="3684904"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342391" y="695070"/>
            <a:ext cx="11747500" cy="4165600"/>
          </a:xfrm>
          <a:prstGeom prst="rect">
            <a:avLst/>
          </a:prstGeom>
        </p:spPr>
        <p:txBody>
          <a:bodyPr wrap="square" lIns="0" tIns="13335" rIns="0" bIns="0" rtlCol="0" vert="horz">
            <a:spAutoFit/>
          </a:bodyPr>
          <a:lstStyle/>
          <a:p>
            <a:pPr marL="875665">
              <a:lnSpc>
                <a:spcPct val="100000"/>
              </a:lnSpc>
              <a:spcBef>
                <a:spcPts val="105"/>
              </a:spcBef>
            </a:pPr>
            <a:r>
              <a:rPr dirty="0" sz="2600">
                <a:solidFill>
                  <a:srgbClr val="0000CC"/>
                </a:solidFill>
                <a:latin typeface="黑体"/>
                <a:cs typeface="黑体"/>
              </a:rPr>
              <a:t>5.3.2</a:t>
            </a:r>
            <a:r>
              <a:rPr dirty="0" sz="2600" spc="-15">
                <a:solidFill>
                  <a:srgbClr val="0000CC"/>
                </a:solidFill>
                <a:latin typeface="黑体"/>
                <a:cs typeface="黑体"/>
              </a:rPr>
              <a:t> 记分牌动态调度算法</a:t>
            </a:r>
            <a:endParaRPr sz="2600">
              <a:latin typeface="黑体"/>
              <a:cs typeface="黑体"/>
            </a:endParaRPr>
          </a:p>
          <a:p>
            <a:pPr marL="354965" indent="-342265">
              <a:lnSpc>
                <a:spcPct val="100000"/>
              </a:lnSpc>
              <a:spcBef>
                <a:spcPts val="1820"/>
              </a:spcBef>
              <a:buClr>
                <a:srgbClr val="40458B"/>
              </a:buClr>
              <a:buFont typeface="Wingdings"/>
              <a:buChar char=""/>
              <a:tabLst>
                <a:tab pos="354965" algn="l"/>
              </a:tabLst>
            </a:pPr>
            <a:r>
              <a:rPr dirty="0" sz="2400" spc="-15">
                <a:solidFill>
                  <a:srgbClr val="FF0000"/>
                </a:solidFill>
                <a:latin typeface="黑体"/>
                <a:cs typeface="黑体"/>
              </a:rPr>
              <a:t>记分牌调度算法优缺点</a:t>
            </a:r>
            <a:endParaRPr sz="2400">
              <a:latin typeface="黑体"/>
              <a:cs typeface="黑体"/>
            </a:endParaRPr>
          </a:p>
          <a:p>
            <a:pPr lvl="1" marL="1056005" indent="-457200">
              <a:lnSpc>
                <a:spcPct val="100000"/>
              </a:lnSpc>
              <a:spcBef>
                <a:spcPts val="1090"/>
              </a:spcBef>
              <a:buClr>
                <a:srgbClr val="4668F5"/>
              </a:buClr>
              <a:buSzPct val="68181"/>
              <a:buFont typeface="Wingdings"/>
              <a:buChar char=""/>
              <a:tabLst>
                <a:tab pos="1056005" algn="l"/>
              </a:tabLst>
            </a:pPr>
            <a:r>
              <a:rPr dirty="0" sz="2200" spc="-20" b="1">
                <a:solidFill>
                  <a:srgbClr val="FF0000"/>
                </a:solidFill>
                <a:latin typeface="宋体"/>
                <a:cs typeface="宋体"/>
              </a:rPr>
              <a:t>优点：</a:t>
            </a:r>
            <a:r>
              <a:rPr dirty="0" sz="2200" spc="-25" b="1">
                <a:solidFill>
                  <a:srgbClr val="181B1F"/>
                </a:solidFill>
                <a:latin typeface="宋体"/>
                <a:cs typeface="宋体"/>
              </a:rPr>
              <a:t>实现了指令的乱序执行，解决了乱序执行过程中的数据冒险问题</a:t>
            </a:r>
            <a:endParaRPr sz="2200">
              <a:latin typeface="宋体"/>
              <a:cs typeface="宋体"/>
            </a:endParaRPr>
          </a:p>
          <a:p>
            <a:pPr lvl="2" marL="1344295" indent="-381000">
              <a:lnSpc>
                <a:spcPct val="100000"/>
              </a:lnSpc>
              <a:spcBef>
                <a:spcPts val="925"/>
              </a:spcBef>
              <a:buSzPct val="63888"/>
              <a:buFont typeface="Wingdings"/>
              <a:buChar char=""/>
              <a:tabLst>
                <a:tab pos="1344295" algn="l"/>
              </a:tabLst>
            </a:pPr>
            <a:r>
              <a:rPr dirty="0" sz="1800" spc="-15" b="1">
                <a:solidFill>
                  <a:srgbClr val="9966FF"/>
                </a:solidFill>
                <a:latin typeface="宋体"/>
                <a:cs typeface="宋体"/>
              </a:rPr>
              <a:t>实现了数据流式运行：即数据就绪就可以执行</a:t>
            </a:r>
            <a:endParaRPr sz="1800">
              <a:latin typeface="宋体"/>
              <a:cs typeface="宋体"/>
            </a:endParaRPr>
          </a:p>
          <a:p>
            <a:pPr lvl="2" marL="1344295" indent="-381000">
              <a:lnSpc>
                <a:spcPct val="100000"/>
              </a:lnSpc>
              <a:spcBef>
                <a:spcPts val="865"/>
              </a:spcBef>
              <a:buSzPct val="63888"/>
              <a:buFont typeface="Wingdings"/>
              <a:buChar char=""/>
              <a:tabLst>
                <a:tab pos="1344295" algn="l"/>
              </a:tabLst>
            </a:pPr>
            <a:r>
              <a:rPr dirty="0" sz="1800" spc="-10" b="1">
                <a:solidFill>
                  <a:srgbClr val="9966FF"/>
                </a:solidFill>
                <a:latin typeface="宋体"/>
                <a:cs typeface="宋体"/>
              </a:rPr>
              <a:t>一旦检测到冲突，能一定程度上解决</a:t>
            </a:r>
            <a:r>
              <a:rPr dirty="0" sz="1800" spc="-25" b="1">
                <a:solidFill>
                  <a:srgbClr val="9966FF"/>
                </a:solidFill>
                <a:latin typeface="Tahoma"/>
                <a:cs typeface="Tahoma"/>
              </a:rPr>
              <a:t>WAR</a:t>
            </a:r>
            <a:r>
              <a:rPr dirty="0" sz="1800" spc="-10" b="1">
                <a:solidFill>
                  <a:srgbClr val="9966FF"/>
                </a:solidFill>
                <a:latin typeface="宋体"/>
                <a:cs typeface="宋体"/>
              </a:rPr>
              <a:t>和</a:t>
            </a:r>
            <a:r>
              <a:rPr dirty="0" sz="1800" spc="-25" b="1">
                <a:solidFill>
                  <a:srgbClr val="9966FF"/>
                </a:solidFill>
                <a:latin typeface="Tahoma"/>
                <a:cs typeface="Tahoma"/>
              </a:rPr>
              <a:t>WAW</a:t>
            </a:r>
            <a:r>
              <a:rPr dirty="0" sz="1800" spc="-25" b="1">
                <a:solidFill>
                  <a:srgbClr val="9966FF"/>
                </a:solidFill>
                <a:latin typeface="宋体"/>
                <a:cs typeface="宋体"/>
              </a:rPr>
              <a:t>（</a:t>
            </a:r>
            <a:r>
              <a:rPr dirty="0" sz="1800" spc="-10" b="1">
                <a:solidFill>
                  <a:srgbClr val="9966FF"/>
                </a:solidFill>
                <a:latin typeface="宋体"/>
                <a:cs typeface="宋体"/>
              </a:rPr>
              <a:t>插入停顿周期解决），</a:t>
            </a:r>
            <a:r>
              <a:rPr dirty="0" sz="1800" spc="-15" b="1">
                <a:solidFill>
                  <a:srgbClr val="9966FF"/>
                </a:solidFill>
                <a:latin typeface="宋体"/>
                <a:cs typeface="宋体"/>
              </a:rPr>
              <a:t>不能彻底消除这两种冲突。</a:t>
            </a:r>
            <a:endParaRPr sz="1800">
              <a:latin typeface="宋体"/>
              <a:cs typeface="宋体"/>
            </a:endParaRPr>
          </a:p>
          <a:p>
            <a:pPr lvl="1" marL="1056005" indent="-457200">
              <a:lnSpc>
                <a:spcPct val="100000"/>
              </a:lnSpc>
              <a:spcBef>
                <a:spcPts val="994"/>
              </a:spcBef>
              <a:buClr>
                <a:srgbClr val="4668F5"/>
              </a:buClr>
              <a:buSzPct val="68181"/>
              <a:buFont typeface="Wingdings"/>
              <a:buChar char=""/>
              <a:tabLst>
                <a:tab pos="1056005" algn="l"/>
              </a:tabLst>
            </a:pPr>
            <a:r>
              <a:rPr dirty="0" sz="2200" spc="-35" b="1">
                <a:solidFill>
                  <a:srgbClr val="FF0000"/>
                </a:solidFill>
                <a:latin typeface="宋体"/>
                <a:cs typeface="宋体"/>
              </a:rPr>
              <a:t>缺点：</a:t>
            </a:r>
            <a:endParaRPr sz="2200">
              <a:latin typeface="宋体"/>
              <a:cs typeface="宋体"/>
            </a:endParaRPr>
          </a:p>
          <a:p>
            <a:pPr lvl="2" marL="1344295" marR="38735" indent="-381000">
              <a:lnSpc>
                <a:spcPct val="120000"/>
              </a:lnSpc>
              <a:spcBef>
                <a:spcPts val="495"/>
              </a:spcBef>
              <a:buSzPct val="63888"/>
              <a:buFont typeface="Wingdings"/>
              <a:buChar char=""/>
              <a:tabLst>
                <a:tab pos="1344295" algn="l"/>
              </a:tabLst>
            </a:pPr>
            <a:r>
              <a:rPr dirty="0" sz="1800" spc="-10" b="1">
                <a:solidFill>
                  <a:srgbClr val="9966FF"/>
                </a:solidFill>
                <a:latin typeface="宋体"/>
                <a:cs typeface="宋体"/>
              </a:rPr>
              <a:t>记分牌算法在指令完成时不是顺序的（即写回的时候不按顺序），</a:t>
            </a:r>
            <a:r>
              <a:rPr dirty="0" sz="1800" spc="-15" b="1">
                <a:solidFill>
                  <a:srgbClr val="9966FF"/>
                </a:solidFill>
                <a:latin typeface="宋体"/>
                <a:cs typeface="宋体"/>
              </a:rPr>
              <a:t>不按顺序完成指令会对程序的调试提</a:t>
            </a:r>
            <a:r>
              <a:rPr dirty="0" sz="1800" spc="-25" b="1">
                <a:solidFill>
                  <a:srgbClr val="9966FF"/>
                </a:solidFill>
                <a:latin typeface="宋体"/>
                <a:cs typeface="宋体"/>
              </a:rPr>
              <a:t>出挑战。</a:t>
            </a:r>
            <a:endParaRPr sz="1800">
              <a:latin typeface="宋体"/>
              <a:cs typeface="宋体"/>
            </a:endParaRPr>
          </a:p>
          <a:p>
            <a:pPr lvl="2" marL="1344295" indent="-381000">
              <a:lnSpc>
                <a:spcPct val="100000"/>
              </a:lnSpc>
              <a:spcBef>
                <a:spcPts val="865"/>
              </a:spcBef>
              <a:buSzPct val="63888"/>
              <a:buFont typeface="Wingdings"/>
              <a:buChar char=""/>
              <a:tabLst>
                <a:tab pos="1344295" algn="l"/>
              </a:tabLst>
            </a:pPr>
            <a:r>
              <a:rPr dirty="0" sz="1800" spc="-20" b="1">
                <a:solidFill>
                  <a:srgbClr val="9966FF"/>
                </a:solidFill>
                <a:latin typeface="宋体"/>
                <a:cs typeface="宋体"/>
              </a:rPr>
              <a:t>其他条件见课本</a:t>
            </a:r>
            <a:r>
              <a:rPr dirty="0" sz="1800" spc="-20" b="1">
                <a:solidFill>
                  <a:srgbClr val="9966FF"/>
                </a:solidFill>
                <a:latin typeface="Tahoma"/>
                <a:cs typeface="Tahoma"/>
              </a:rPr>
              <a:t>p122</a:t>
            </a:r>
            <a:r>
              <a:rPr dirty="0" sz="1800" spc="-20" b="1">
                <a:solidFill>
                  <a:srgbClr val="9966FF"/>
                </a:solidFill>
                <a:latin typeface="宋体"/>
                <a:cs typeface="宋体"/>
              </a:rPr>
              <a:t>（程序可开发的并行性、记分牌容量等、功能部件的数目与种类、</a:t>
            </a:r>
            <a:r>
              <a:rPr dirty="0" sz="1800" spc="-10" b="1">
                <a:solidFill>
                  <a:srgbClr val="9966FF"/>
                </a:solidFill>
                <a:latin typeface="Tahoma"/>
                <a:cs typeface="Tahoma"/>
              </a:rPr>
              <a:t>WAW</a:t>
            </a:r>
            <a:r>
              <a:rPr dirty="0" sz="1800" spc="-20" b="1">
                <a:solidFill>
                  <a:srgbClr val="9966FF"/>
                </a:solidFill>
                <a:latin typeface="宋体"/>
                <a:cs typeface="宋体"/>
              </a:rPr>
              <a:t>和</a:t>
            </a:r>
            <a:r>
              <a:rPr dirty="0" sz="1800" spc="-25" b="1">
                <a:solidFill>
                  <a:srgbClr val="9966FF"/>
                </a:solidFill>
                <a:latin typeface="Tahoma"/>
                <a:cs typeface="Tahoma"/>
              </a:rPr>
              <a:t>WAR</a:t>
            </a:r>
            <a:endParaRPr sz="1800">
              <a:latin typeface="Tahoma"/>
              <a:cs typeface="Tahoma"/>
            </a:endParaRPr>
          </a:p>
          <a:p>
            <a:pPr marL="1344295">
              <a:lnSpc>
                <a:spcPct val="100000"/>
              </a:lnSpc>
              <a:spcBef>
                <a:spcPts val="434"/>
              </a:spcBef>
            </a:pPr>
            <a:r>
              <a:rPr dirty="0" sz="1800" spc="-10" b="1">
                <a:solidFill>
                  <a:srgbClr val="9966FF"/>
                </a:solidFill>
                <a:latin typeface="宋体"/>
                <a:cs typeface="宋体"/>
              </a:rPr>
              <a:t>冲突等</a:t>
            </a:r>
            <a:r>
              <a:rPr dirty="0" sz="1800" spc="-60" b="1">
                <a:solidFill>
                  <a:srgbClr val="9966FF"/>
                </a:solidFill>
                <a:latin typeface="宋体"/>
                <a:cs typeface="宋体"/>
              </a:rPr>
              <a:t>）</a:t>
            </a:r>
            <a:endParaRPr sz="1800">
              <a:latin typeface="宋体"/>
              <a:cs typeface="宋体"/>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31/175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36065" y="161670"/>
            <a:ext cx="3684904"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486867" y="656529"/>
            <a:ext cx="11309350" cy="4761230"/>
          </a:xfrm>
          <a:prstGeom prst="rect">
            <a:avLst/>
          </a:prstGeom>
        </p:spPr>
        <p:txBody>
          <a:bodyPr wrap="square" lIns="0" tIns="89535" rIns="0" bIns="0" rtlCol="0" vert="horz">
            <a:spAutoFit/>
          </a:bodyPr>
          <a:lstStyle/>
          <a:p>
            <a:pPr marL="761365">
              <a:lnSpc>
                <a:spcPct val="100000"/>
              </a:lnSpc>
              <a:spcBef>
                <a:spcPts val="705"/>
              </a:spcBef>
            </a:pPr>
            <a:r>
              <a:rPr dirty="0" sz="2600">
                <a:solidFill>
                  <a:srgbClr val="0000CC"/>
                </a:solidFill>
                <a:latin typeface="黑体"/>
                <a:cs typeface="黑体"/>
              </a:rPr>
              <a:t>5.3.2</a:t>
            </a:r>
            <a:r>
              <a:rPr dirty="0" sz="2600" spc="-15">
                <a:solidFill>
                  <a:srgbClr val="0000CC"/>
                </a:solidFill>
                <a:latin typeface="黑体"/>
                <a:cs typeface="黑体"/>
              </a:rPr>
              <a:t> 记分牌动态调度算法</a:t>
            </a:r>
            <a:endParaRPr sz="2600">
              <a:latin typeface="黑体"/>
              <a:cs typeface="黑体"/>
            </a:endParaRPr>
          </a:p>
          <a:p>
            <a:pPr marL="469265" indent="-456565">
              <a:lnSpc>
                <a:spcPct val="100000"/>
              </a:lnSpc>
              <a:spcBef>
                <a:spcPts val="560"/>
              </a:spcBef>
              <a:buClr>
                <a:srgbClr val="40458B"/>
              </a:buClr>
              <a:buFont typeface="Wingdings"/>
              <a:buChar char=""/>
              <a:tabLst>
                <a:tab pos="469265" algn="l"/>
              </a:tabLst>
            </a:pPr>
            <a:r>
              <a:rPr dirty="0" sz="2400" spc="-15">
                <a:solidFill>
                  <a:srgbClr val="001F5F"/>
                </a:solidFill>
                <a:latin typeface="黑体"/>
                <a:cs typeface="黑体"/>
              </a:rPr>
              <a:t>基本思想</a:t>
            </a:r>
            <a:endParaRPr sz="2400">
              <a:latin typeface="黑体"/>
              <a:cs typeface="黑体"/>
            </a:endParaRPr>
          </a:p>
          <a:p>
            <a:pPr lvl="1" marL="1056005" indent="-456565">
              <a:lnSpc>
                <a:spcPct val="100000"/>
              </a:lnSpc>
              <a:spcBef>
                <a:spcPts val="1155"/>
              </a:spcBef>
              <a:buSzPct val="89583"/>
              <a:buFont typeface="Wingdings"/>
              <a:buChar char=""/>
              <a:tabLst>
                <a:tab pos="1056005" algn="l"/>
              </a:tabLst>
            </a:pPr>
            <a:r>
              <a:rPr dirty="0" sz="2400">
                <a:solidFill>
                  <a:srgbClr val="40458B"/>
                </a:solidFill>
                <a:latin typeface="Times New Roman"/>
                <a:cs typeface="Times New Roman"/>
              </a:rPr>
              <a:t>CDC</a:t>
            </a:r>
            <a:r>
              <a:rPr dirty="0" sz="2400" spc="-50">
                <a:solidFill>
                  <a:srgbClr val="40458B"/>
                </a:solidFill>
                <a:latin typeface="Times New Roman"/>
                <a:cs typeface="Times New Roman"/>
              </a:rPr>
              <a:t> </a:t>
            </a:r>
            <a:r>
              <a:rPr dirty="0" sz="2400">
                <a:solidFill>
                  <a:srgbClr val="40458B"/>
                </a:solidFill>
                <a:latin typeface="Times New Roman"/>
                <a:cs typeface="Times New Roman"/>
              </a:rPr>
              <a:t>6600</a:t>
            </a:r>
            <a:r>
              <a:rPr dirty="0" sz="2400" spc="-5">
                <a:solidFill>
                  <a:srgbClr val="40458B"/>
                </a:solidFill>
                <a:latin typeface="黑体"/>
                <a:cs typeface="黑体"/>
              </a:rPr>
              <a:t>计算机最早采用此功能</a:t>
            </a:r>
            <a:endParaRPr sz="2400">
              <a:latin typeface="黑体"/>
              <a:cs typeface="黑体"/>
            </a:endParaRPr>
          </a:p>
          <a:p>
            <a:pPr lvl="2" marL="1307465" indent="-456565">
              <a:lnSpc>
                <a:spcPct val="100000"/>
              </a:lnSpc>
              <a:spcBef>
                <a:spcPts val="1085"/>
              </a:spcBef>
              <a:buClr>
                <a:srgbClr val="4668F5"/>
              </a:buClr>
              <a:buSzPct val="68181"/>
              <a:buFont typeface="Wingdings"/>
              <a:buChar char=""/>
              <a:tabLst>
                <a:tab pos="1307465" algn="l"/>
              </a:tabLst>
            </a:pPr>
            <a:r>
              <a:rPr dirty="0" sz="2200" spc="-25" b="1">
                <a:solidFill>
                  <a:srgbClr val="9966FF"/>
                </a:solidFill>
                <a:latin typeface="宋体"/>
                <a:cs typeface="宋体"/>
              </a:rPr>
              <a:t>该机器用一个称为记分牌的硬件实现了对指令的动态调度。</a:t>
            </a:r>
            <a:endParaRPr sz="2200">
              <a:latin typeface="宋体"/>
              <a:cs typeface="宋体"/>
            </a:endParaRPr>
          </a:p>
          <a:p>
            <a:pPr lvl="2" marL="1308100" marR="30480" indent="-457200">
              <a:lnSpc>
                <a:spcPct val="120100"/>
              </a:lnSpc>
              <a:spcBef>
                <a:spcPts val="525"/>
              </a:spcBef>
              <a:buClr>
                <a:srgbClr val="4668F5"/>
              </a:buClr>
              <a:buSzPct val="68181"/>
              <a:buFont typeface="Wingdings"/>
              <a:buChar char=""/>
              <a:tabLst>
                <a:tab pos="1308100" algn="l"/>
              </a:tabLst>
            </a:pPr>
            <a:r>
              <a:rPr dirty="0" sz="2200" spc="-20" b="1">
                <a:solidFill>
                  <a:srgbClr val="9966FF"/>
                </a:solidFill>
                <a:latin typeface="宋体"/>
                <a:cs typeface="宋体"/>
              </a:rPr>
              <a:t>该硬件中维护着</a:t>
            </a:r>
            <a:r>
              <a:rPr dirty="0" sz="2200" spc="-10" b="1">
                <a:solidFill>
                  <a:srgbClr val="9933FF"/>
                </a:solidFill>
                <a:latin typeface="Times New Roman"/>
                <a:cs typeface="Times New Roman"/>
              </a:rPr>
              <a:t>3</a:t>
            </a:r>
            <a:r>
              <a:rPr dirty="0" sz="2200" spc="-25" b="1">
                <a:solidFill>
                  <a:srgbClr val="9966FF"/>
                </a:solidFill>
                <a:latin typeface="宋体"/>
                <a:cs typeface="宋体"/>
              </a:rPr>
              <a:t>张表，分别用于记录指令的执行状态、功能部件状态、寄存器状态以及数据相关关系等。</a:t>
            </a:r>
            <a:endParaRPr sz="2200">
              <a:latin typeface="宋体"/>
              <a:cs typeface="宋体"/>
            </a:endParaRPr>
          </a:p>
          <a:p>
            <a:pPr lvl="2" marL="1308100" marR="5080" indent="-457200">
              <a:lnSpc>
                <a:spcPct val="120000"/>
              </a:lnSpc>
              <a:spcBef>
                <a:spcPts val="530"/>
              </a:spcBef>
              <a:buClr>
                <a:srgbClr val="4668F5"/>
              </a:buClr>
              <a:buSzPct val="68181"/>
              <a:buFont typeface="Wingdings"/>
              <a:buChar char=""/>
              <a:tabLst>
                <a:tab pos="1308100" algn="l"/>
              </a:tabLst>
            </a:pPr>
            <a:r>
              <a:rPr dirty="0" sz="2200" spc="-20" b="1">
                <a:solidFill>
                  <a:srgbClr val="9966FF"/>
                </a:solidFill>
                <a:latin typeface="宋体"/>
                <a:cs typeface="宋体"/>
              </a:rPr>
              <a:t>它把前述</a:t>
            </a:r>
            <a:r>
              <a:rPr dirty="0" sz="2200" spc="-10" b="1">
                <a:solidFill>
                  <a:srgbClr val="9966FF"/>
                </a:solidFill>
                <a:latin typeface="Times New Roman"/>
                <a:cs typeface="Times New Roman"/>
              </a:rPr>
              <a:t>5</a:t>
            </a:r>
            <a:r>
              <a:rPr dirty="0" sz="2200" spc="-20" b="1">
                <a:solidFill>
                  <a:srgbClr val="9966FF"/>
                </a:solidFill>
                <a:latin typeface="宋体"/>
                <a:cs typeface="宋体"/>
              </a:rPr>
              <a:t>段流水线中的译码段</a:t>
            </a:r>
            <a:r>
              <a:rPr dirty="0" sz="2200" spc="-10" b="1">
                <a:solidFill>
                  <a:srgbClr val="9933FF"/>
                </a:solidFill>
                <a:latin typeface="Times New Roman"/>
                <a:cs typeface="Times New Roman"/>
              </a:rPr>
              <a:t>ID</a:t>
            </a:r>
            <a:r>
              <a:rPr dirty="0" sz="2200" spc="-30" b="1">
                <a:solidFill>
                  <a:srgbClr val="9966FF"/>
                </a:solidFill>
                <a:latin typeface="宋体"/>
                <a:cs typeface="宋体"/>
              </a:rPr>
              <a:t>分解成了两个段：流出和读操作数，以避免当某</a:t>
            </a:r>
            <a:r>
              <a:rPr dirty="0" sz="2200" spc="-20" b="1">
                <a:solidFill>
                  <a:srgbClr val="9966FF"/>
                </a:solidFill>
                <a:latin typeface="宋体"/>
                <a:cs typeface="宋体"/>
              </a:rPr>
              <a:t>条指令在</a:t>
            </a:r>
            <a:r>
              <a:rPr dirty="0" sz="2200" spc="-10" b="1">
                <a:solidFill>
                  <a:srgbClr val="9933FF"/>
                </a:solidFill>
                <a:latin typeface="Times New Roman"/>
                <a:cs typeface="Times New Roman"/>
              </a:rPr>
              <a:t>ID</a:t>
            </a:r>
            <a:r>
              <a:rPr dirty="0" sz="2200" spc="-25" b="1">
                <a:solidFill>
                  <a:srgbClr val="9966FF"/>
                </a:solidFill>
                <a:latin typeface="宋体"/>
                <a:cs typeface="宋体"/>
              </a:rPr>
              <a:t>段被停顿时挡住后面无关指令的流动。</a:t>
            </a:r>
            <a:endParaRPr sz="2200">
              <a:latin typeface="宋体"/>
              <a:cs typeface="宋体"/>
            </a:endParaRPr>
          </a:p>
          <a:p>
            <a:pPr algn="just" marL="515620" marR="62230">
              <a:lnSpc>
                <a:spcPct val="100000"/>
              </a:lnSpc>
              <a:spcBef>
                <a:spcPts val="1425"/>
              </a:spcBef>
            </a:pPr>
            <a:r>
              <a:rPr dirty="0" sz="2000" spc="-15">
                <a:solidFill>
                  <a:srgbClr val="D50092"/>
                </a:solidFill>
                <a:latin typeface="黑体"/>
                <a:cs typeface="黑体"/>
              </a:rPr>
              <a:t>在动态调度流水线中，所有的指令在流出</a:t>
            </a:r>
            <a:r>
              <a:rPr dirty="0" sz="2000" spc="-10">
                <a:solidFill>
                  <a:srgbClr val="D50092"/>
                </a:solidFill>
                <a:latin typeface="Calibri"/>
                <a:cs typeface="Calibri"/>
              </a:rPr>
              <a:t>(IS)</a:t>
            </a:r>
            <a:r>
              <a:rPr dirty="0" sz="2000" spc="-15">
                <a:solidFill>
                  <a:srgbClr val="D50092"/>
                </a:solidFill>
                <a:latin typeface="黑体"/>
                <a:cs typeface="黑体"/>
              </a:rPr>
              <a:t>阶段是顺序的</a:t>
            </a:r>
            <a:r>
              <a:rPr dirty="0" sz="2000" spc="-10">
                <a:solidFill>
                  <a:srgbClr val="D50092"/>
                </a:solidFill>
                <a:latin typeface="黑体"/>
                <a:cs typeface="黑体"/>
              </a:rPr>
              <a:t>（</a:t>
            </a:r>
            <a:r>
              <a:rPr dirty="0" sz="2000" spc="-10">
                <a:solidFill>
                  <a:srgbClr val="D50092"/>
                </a:solidFill>
                <a:latin typeface="Calibri"/>
                <a:cs typeface="Calibri"/>
              </a:rPr>
              <a:t>In-</a:t>
            </a:r>
            <a:r>
              <a:rPr dirty="0" sz="2000">
                <a:solidFill>
                  <a:srgbClr val="D50092"/>
                </a:solidFill>
                <a:latin typeface="Calibri"/>
                <a:cs typeface="Calibri"/>
              </a:rPr>
              <a:t>Order</a:t>
            </a:r>
            <a:r>
              <a:rPr dirty="0" sz="2000" spc="-10">
                <a:solidFill>
                  <a:srgbClr val="D50092"/>
                </a:solidFill>
                <a:latin typeface="Calibri"/>
                <a:cs typeface="Calibri"/>
              </a:rPr>
              <a:t> Issue</a:t>
            </a:r>
            <a:r>
              <a:rPr dirty="0" sz="2000" spc="-10">
                <a:solidFill>
                  <a:srgbClr val="D50092"/>
                </a:solidFill>
                <a:latin typeface="黑体"/>
                <a:cs typeface="黑体"/>
              </a:rPr>
              <a:t>），</a:t>
            </a:r>
            <a:r>
              <a:rPr dirty="0" sz="2000" spc="-15">
                <a:solidFill>
                  <a:srgbClr val="D50092"/>
                </a:solidFill>
                <a:latin typeface="黑体"/>
                <a:cs typeface="黑体"/>
              </a:rPr>
              <a:t>但是在第二阶段读</a:t>
            </a:r>
            <a:r>
              <a:rPr dirty="0" sz="2000">
                <a:solidFill>
                  <a:srgbClr val="D50092"/>
                </a:solidFill>
                <a:latin typeface="黑体"/>
                <a:cs typeface="黑体"/>
              </a:rPr>
              <a:t>操作数</a:t>
            </a:r>
            <a:r>
              <a:rPr dirty="0" sz="2000" spc="-10">
                <a:solidFill>
                  <a:srgbClr val="D50092"/>
                </a:solidFill>
                <a:latin typeface="黑体"/>
                <a:cs typeface="黑体"/>
              </a:rPr>
              <a:t>（</a:t>
            </a:r>
            <a:r>
              <a:rPr dirty="0" sz="2000" spc="-10">
                <a:solidFill>
                  <a:srgbClr val="D50092"/>
                </a:solidFill>
                <a:latin typeface="Calibri"/>
                <a:cs typeface="Calibri"/>
              </a:rPr>
              <a:t>RO</a:t>
            </a:r>
            <a:r>
              <a:rPr dirty="0" sz="2000" spc="-10">
                <a:solidFill>
                  <a:srgbClr val="D50092"/>
                </a:solidFill>
                <a:latin typeface="黑体"/>
                <a:cs typeface="黑体"/>
              </a:rPr>
              <a:t>）</a:t>
            </a:r>
            <a:r>
              <a:rPr dirty="0" sz="2000" spc="-30">
                <a:solidFill>
                  <a:srgbClr val="D50092"/>
                </a:solidFill>
                <a:latin typeface="黑体"/>
                <a:cs typeface="黑体"/>
              </a:rPr>
              <a:t>时，只要指令所需的资源满足并且没有数据阻塞，就应该允许指令乱序执行。记分</a:t>
            </a:r>
            <a:r>
              <a:rPr dirty="0" sz="2000">
                <a:solidFill>
                  <a:srgbClr val="D50092"/>
                </a:solidFill>
                <a:latin typeface="黑体"/>
                <a:cs typeface="黑体"/>
              </a:rPr>
              <a:t>牌</a:t>
            </a:r>
            <a:r>
              <a:rPr dirty="0" sz="2000" spc="-20">
                <a:solidFill>
                  <a:srgbClr val="D50092"/>
                </a:solidFill>
                <a:latin typeface="黑体"/>
                <a:cs typeface="黑体"/>
              </a:rPr>
              <a:t>（</a:t>
            </a:r>
            <a:r>
              <a:rPr dirty="0" sz="2000" spc="-20">
                <a:solidFill>
                  <a:srgbClr val="D50092"/>
                </a:solidFill>
                <a:latin typeface="Calibri"/>
                <a:cs typeface="Calibri"/>
              </a:rPr>
              <a:t>Scoreboard</a:t>
            </a:r>
            <a:r>
              <a:rPr dirty="0" sz="2000" spc="-20">
                <a:solidFill>
                  <a:srgbClr val="D50092"/>
                </a:solidFill>
                <a:latin typeface="黑体"/>
                <a:cs typeface="黑体"/>
              </a:rPr>
              <a:t>）技术就是这样一种方法。</a:t>
            </a:r>
            <a:endParaRPr sz="2000">
              <a:latin typeface="黑体"/>
              <a:cs typeface="黑体"/>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32/175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611530" y="802589"/>
            <a:ext cx="9634220" cy="3598545"/>
          </a:xfrm>
          <a:prstGeom prst="rect">
            <a:avLst/>
          </a:prstGeom>
        </p:spPr>
        <p:txBody>
          <a:bodyPr wrap="square" lIns="0" tIns="13335" rIns="0" bIns="0" rtlCol="0" vert="horz">
            <a:spAutoFit/>
          </a:bodyPr>
          <a:lstStyle/>
          <a:p>
            <a:pPr marL="607060">
              <a:lnSpc>
                <a:spcPct val="100000"/>
              </a:lnSpc>
              <a:spcBef>
                <a:spcPts val="105"/>
              </a:spcBef>
            </a:pPr>
            <a:r>
              <a:rPr dirty="0" sz="2600">
                <a:solidFill>
                  <a:srgbClr val="0000CC"/>
                </a:solidFill>
                <a:latin typeface="黑体"/>
                <a:cs typeface="黑体"/>
              </a:rPr>
              <a:t>5.3.2</a:t>
            </a:r>
            <a:r>
              <a:rPr dirty="0" sz="2600" spc="-25">
                <a:solidFill>
                  <a:srgbClr val="0000CC"/>
                </a:solidFill>
                <a:latin typeface="黑体"/>
                <a:cs typeface="黑体"/>
              </a:rPr>
              <a:t> 记分牌动态调度算法</a:t>
            </a:r>
            <a:endParaRPr sz="2600">
              <a:latin typeface="黑体"/>
              <a:cs typeface="黑体"/>
            </a:endParaRPr>
          </a:p>
          <a:p>
            <a:pPr marL="469900" marR="5080" indent="-457200">
              <a:lnSpc>
                <a:spcPct val="110000"/>
              </a:lnSpc>
              <a:spcBef>
                <a:spcPts val="3295"/>
              </a:spcBef>
              <a:buSzPct val="89583"/>
              <a:buFont typeface="Wingdings"/>
              <a:buChar char=""/>
              <a:tabLst>
                <a:tab pos="469900" algn="l"/>
              </a:tabLst>
            </a:pPr>
            <a:r>
              <a:rPr dirty="0" sz="2400" spc="-5">
                <a:solidFill>
                  <a:srgbClr val="40458B"/>
                </a:solidFill>
                <a:latin typeface="黑体"/>
                <a:cs typeface="黑体"/>
              </a:rPr>
              <a:t>记分牌的</a:t>
            </a:r>
            <a:r>
              <a:rPr dirty="0" sz="2400">
                <a:solidFill>
                  <a:srgbClr val="D50092"/>
                </a:solidFill>
                <a:latin typeface="黑体"/>
                <a:cs typeface="黑体"/>
              </a:rPr>
              <a:t>目标</a:t>
            </a:r>
            <a:r>
              <a:rPr dirty="0" sz="2400" spc="-5">
                <a:solidFill>
                  <a:srgbClr val="40458B"/>
                </a:solidFill>
                <a:latin typeface="黑体"/>
                <a:cs typeface="黑体"/>
              </a:rPr>
              <a:t>：在没有结构冲突时，尽可能早地执行没有数据冲突的指令，实现每个时钟周期执行一条指令。</a:t>
            </a:r>
            <a:endParaRPr sz="2400">
              <a:latin typeface="黑体"/>
              <a:cs typeface="黑体"/>
            </a:endParaRPr>
          </a:p>
          <a:p>
            <a:pPr marL="469265" indent="-456565">
              <a:lnSpc>
                <a:spcPct val="100000"/>
              </a:lnSpc>
              <a:spcBef>
                <a:spcPts val="865"/>
              </a:spcBef>
              <a:buSzPct val="89583"/>
              <a:buFont typeface="Wingdings"/>
              <a:buChar char=""/>
              <a:tabLst>
                <a:tab pos="469265" algn="l"/>
              </a:tabLst>
            </a:pPr>
            <a:r>
              <a:rPr dirty="0" sz="2400" spc="-15">
                <a:solidFill>
                  <a:srgbClr val="40458B"/>
                </a:solidFill>
                <a:latin typeface="黑体"/>
                <a:cs typeface="黑体"/>
              </a:rPr>
              <a:t>要发挥指令乱序执行的好处，必须有多条指令同时处于执行阶段。</a:t>
            </a:r>
            <a:endParaRPr sz="2400">
              <a:latin typeface="黑体"/>
              <a:cs typeface="黑体"/>
            </a:endParaRPr>
          </a:p>
          <a:p>
            <a:pPr lvl="1" marL="643255" indent="-457200">
              <a:lnSpc>
                <a:spcPct val="100000"/>
              </a:lnSpc>
              <a:spcBef>
                <a:spcPts val="770"/>
              </a:spcBef>
              <a:buClr>
                <a:srgbClr val="4668F5"/>
              </a:buClr>
              <a:buSzPct val="70000"/>
              <a:buFont typeface="Wingdings"/>
              <a:buChar char=""/>
              <a:tabLst>
                <a:tab pos="643255" algn="l"/>
              </a:tabLst>
            </a:pPr>
            <a:r>
              <a:rPr dirty="0" sz="2000" b="1">
                <a:solidFill>
                  <a:srgbClr val="9966FF"/>
                </a:solidFill>
                <a:latin typeface="Times New Roman"/>
                <a:cs typeface="Times New Roman"/>
              </a:rPr>
              <a:t>CDC</a:t>
            </a:r>
            <a:r>
              <a:rPr dirty="0" sz="2000" spc="-25" b="1">
                <a:solidFill>
                  <a:srgbClr val="9966FF"/>
                </a:solidFill>
                <a:latin typeface="Times New Roman"/>
                <a:cs typeface="Times New Roman"/>
              </a:rPr>
              <a:t> </a:t>
            </a:r>
            <a:r>
              <a:rPr dirty="0" sz="2000" b="1">
                <a:solidFill>
                  <a:srgbClr val="9966FF"/>
                </a:solidFill>
                <a:latin typeface="Times New Roman"/>
                <a:cs typeface="Times New Roman"/>
              </a:rPr>
              <a:t>6600</a:t>
            </a:r>
            <a:r>
              <a:rPr dirty="0" sz="2000" spc="-10" b="1">
                <a:solidFill>
                  <a:srgbClr val="9966FF"/>
                </a:solidFill>
                <a:latin typeface="宋体"/>
                <a:cs typeface="宋体"/>
              </a:rPr>
              <a:t>具有</a:t>
            </a:r>
            <a:r>
              <a:rPr dirty="0" sz="2000" b="1">
                <a:solidFill>
                  <a:srgbClr val="9933FF"/>
                </a:solidFill>
                <a:latin typeface="Times New Roman"/>
                <a:cs typeface="Times New Roman"/>
              </a:rPr>
              <a:t>16</a:t>
            </a:r>
            <a:r>
              <a:rPr dirty="0" sz="2000" spc="-25" b="1">
                <a:solidFill>
                  <a:srgbClr val="9966FF"/>
                </a:solidFill>
                <a:latin typeface="宋体"/>
                <a:cs typeface="宋体"/>
              </a:rPr>
              <a:t>个独立的功能部件</a:t>
            </a:r>
            <a:endParaRPr sz="2000">
              <a:latin typeface="宋体"/>
              <a:cs typeface="宋体"/>
            </a:endParaRPr>
          </a:p>
          <a:p>
            <a:pPr lvl="2" marL="715010" indent="-381000">
              <a:lnSpc>
                <a:spcPct val="100000"/>
              </a:lnSpc>
              <a:spcBef>
                <a:spcPts val="680"/>
              </a:spcBef>
              <a:buClr>
                <a:srgbClr val="9966FF"/>
              </a:buClr>
              <a:buSzPct val="63888"/>
              <a:buFont typeface="Wingdings"/>
              <a:buChar char=""/>
              <a:tabLst>
                <a:tab pos="715010" algn="l"/>
              </a:tabLst>
            </a:pPr>
            <a:r>
              <a:rPr dirty="0" sz="1800" b="1">
                <a:solidFill>
                  <a:srgbClr val="9933FF"/>
                </a:solidFill>
                <a:latin typeface="Times New Roman"/>
                <a:cs typeface="Times New Roman"/>
              </a:rPr>
              <a:t>4</a:t>
            </a:r>
            <a:r>
              <a:rPr dirty="0" sz="1800" spc="-20" b="1">
                <a:solidFill>
                  <a:srgbClr val="FF09FF"/>
                </a:solidFill>
                <a:latin typeface="宋体"/>
                <a:cs typeface="宋体"/>
              </a:rPr>
              <a:t>个浮点部件</a:t>
            </a:r>
            <a:endParaRPr sz="1800">
              <a:latin typeface="宋体"/>
              <a:cs typeface="宋体"/>
            </a:endParaRPr>
          </a:p>
          <a:p>
            <a:pPr lvl="2" marL="715010" indent="-381000">
              <a:lnSpc>
                <a:spcPct val="100000"/>
              </a:lnSpc>
              <a:spcBef>
                <a:spcPts val="650"/>
              </a:spcBef>
              <a:buClr>
                <a:srgbClr val="9966FF"/>
              </a:buClr>
              <a:buSzPct val="63888"/>
              <a:buFont typeface="Wingdings"/>
              <a:buChar char=""/>
              <a:tabLst>
                <a:tab pos="715010" algn="l"/>
              </a:tabLst>
            </a:pPr>
            <a:r>
              <a:rPr dirty="0" sz="1800" b="1">
                <a:solidFill>
                  <a:srgbClr val="9933FF"/>
                </a:solidFill>
                <a:latin typeface="Times New Roman"/>
                <a:cs typeface="Times New Roman"/>
              </a:rPr>
              <a:t>5</a:t>
            </a:r>
            <a:r>
              <a:rPr dirty="0" sz="1800" spc="-20" b="1">
                <a:solidFill>
                  <a:srgbClr val="FF09FF"/>
                </a:solidFill>
                <a:latin typeface="宋体"/>
                <a:cs typeface="宋体"/>
              </a:rPr>
              <a:t>个访存部件</a:t>
            </a:r>
            <a:endParaRPr sz="1800">
              <a:latin typeface="宋体"/>
              <a:cs typeface="宋体"/>
            </a:endParaRPr>
          </a:p>
          <a:p>
            <a:pPr lvl="2" marL="715010" indent="-381000">
              <a:lnSpc>
                <a:spcPct val="100000"/>
              </a:lnSpc>
              <a:spcBef>
                <a:spcPts val="650"/>
              </a:spcBef>
              <a:buClr>
                <a:srgbClr val="9966FF"/>
              </a:buClr>
              <a:buSzPct val="63888"/>
              <a:buFont typeface="Wingdings"/>
              <a:buChar char=""/>
              <a:tabLst>
                <a:tab pos="715010" algn="l"/>
              </a:tabLst>
            </a:pPr>
            <a:r>
              <a:rPr dirty="0" sz="1800" spc="-10" b="1">
                <a:solidFill>
                  <a:srgbClr val="9933FF"/>
                </a:solidFill>
                <a:latin typeface="Times New Roman"/>
                <a:cs typeface="Times New Roman"/>
              </a:rPr>
              <a:t>7</a:t>
            </a:r>
            <a:r>
              <a:rPr dirty="0" sz="1800" spc="-25" b="1">
                <a:solidFill>
                  <a:srgbClr val="FF09FF"/>
                </a:solidFill>
                <a:latin typeface="宋体"/>
                <a:cs typeface="宋体"/>
              </a:rPr>
              <a:t>个整数操作部件</a:t>
            </a:r>
            <a:endParaRPr sz="1800">
              <a:latin typeface="宋体"/>
              <a:cs typeface="宋体"/>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33/175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502107" y="894618"/>
            <a:ext cx="10684510" cy="4575810"/>
          </a:xfrm>
          <a:prstGeom prst="rect">
            <a:avLst/>
          </a:prstGeom>
        </p:spPr>
        <p:txBody>
          <a:bodyPr wrap="square" lIns="0" tIns="129540" rIns="0" bIns="0" rtlCol="0" vert="horz">
            <a:spAutoFit/>
          </a:bodyPr>
          <a:lstStyle/>
          <a:p>
            <a:pPr marL="716280" indent="-457200">
              <a:lnSpc>
                <a:spcPct val="100000"/>
              </a:lnSpc>
              <a:spcBef>
                <a:spcPts val="1020"/>
              </a:spcBef>
              <a:buSzPct val="89583"/>
              <a:buFont typeface="Wingdings"/>
              <a:buChar char=""/>
              <a:tabLst>
                <a:tab pos="716280" algn="l"/>
              </a:tabLst>
            </a:pPr>
            <a:r>
              <a:rPr dirty="0" sz="2400" spc="-25">
                <a:solidFill>
                  <a:srgbClr val="40458B"/>
                </a:solidFill>
                <a:latin typeface="黑体"/>
                <a:cs typeface="黑体"/>
              </a:rPr>
              <a:t>假设</a:t>
            </a:r>
            <a:endParaRPr sz="2400">
              <a:latin typeface="黑体"/>
              <a:cs typeface="黑体"/>
            </a:endParaRPr>
          </a:p>
          <a:p>
            <a:pPr lvl="1" marL="1184275" indent="-457200">
              <a:lnSpc>
                <a:spcPct val="100000"/>
              </a:lnSpc>
              <a:spcBef>
                <a:spcPts val="770"/>
              </a:spcBef>
              <a:buClr>
                <a:srgbClr val="4668F5"/>
              </a:buClr>
              <a:buSzPct val="70000"/>
              <a:buFont typeface="Wingdings"/>
              <a:buChar char=""/>
              <a:tabLst>
                <a:tab pos="1184275" algn="l"/>
              </a:tabLst>
            </a:pPr>
            <a:r>
              <a:rPr dirty="0" sz="2000" spc="-10" b="1">
                <a:solidFill>
                  <a:srgbClr val="9966FF"/>
                </a:solidFill>
                <a:latin typeface="宋体"/>
                <a:cs typeface="宋体"/>
              </a:rPr>
              <a:t>所考虑的处理器有</a:t>
            </a:r>
            <a:r>
              <a:rPr dirty="0" sz="2000" b="1">
                <a:solidFill>
                  <a:srgbClr val="9933FF"/>
                </a:solidFill>
                <a:latin typeface="Times New Roman"/>
                <a:cs typeface="Times New Roman"/>
              </a:rPr>
              <a:t>2</a:t>
            </a:r>
            <a:r>
              <a:rPr dirty="0" sz="2000" spc="-20" b="1">
                <a:solidFill>
                  <a:srgbClr val="9966FF"/>
                </a:solidFill>
                <a:latin typeface="宋体"/>
                <a:cs typeface="宋体"/>
              </a:rPr>
              <a:t>个乘法器、</a:t>
            </a:r>
            <a:r>
              <a:rPr dirty="0" sz="2000" spc="-10" b="1">
                <a:solidFill>
                  <a:srgbClr val="9933FF"/>
                </a:solidFill>
                <a:latin typeface="Times New Roman"/>
                <a:cs typeface="Times New Roman"/>
              </a:rPr>
              <a:t>1</a:t>
            </a:r>
            <a:r>
              <a:rPr dirty="0" sz="2000" spc="-15" b="1">
                <a:solidFill>
                  <a:srgbClr val="9966FF"/>
                </a:solidFill>
                <a:latin typeface="宋体"/>
                <a:cs typeface="宋体"/>
              </a:rPr>
              <a:t>个加法器、</a:t>
            </a:r>
            <a:r>
              <a:rPr dirty="0" sz="2000" b="1">
                <a:solidFill>
                  <a:srgbClr val="9933FF"/>
                </a:solidFill>
                <a:latin typeface="Times New Roman"/>
                <a:cs typeface="Times New Roman"/>
              </a:rPr>
              <a:t>1</a:t>
            </a:r>
            <a:r>
              <a:rPr dirty="0" sz="2000" spc="-20" b="1">
                <a:solidFill>
                  <a:srgbClr val="9966FF"/>
                </a:solidFill>
                <a:latin typeface="宋体"/>
                <a:cs typeface="宋体"/>
              </a:rPr>
              <a:t>个除法部件和</a:t>
            </a:r>
            <a:r>
              <a:rPr dirty="0" sz="2000" spc="-10" b="1">
                <a:solidFill>
                  <a:srgbClr val="9933FF"/>
                </a:solidFill>
                <a:latin typeface="Times New Roman"/>
                <a:cs typeface="Times New Roman"/>
              </a:rPr>
              <a:t>1</a:t>
            </a:r>
            <a:r>
              <a:rPr dirty="0" sz="2000" spc="-25" b="1">
                <a:solidFill>
                  <a:srgbClr val="9966FF"/>
                </a:solidFill>
                <a:latin typeface="宋体"/>
                <a:cs typeface="宋体"/>
              </a:rPr>
              <a:t>个整数部件。</a:t>
            </a:r>
            <a:endParaRPr sz="2000">
              <a:latin typeface="宋体"/>
              <a:cs typeface="宋体"/>
            </a:endParaRPr>
          </a:p>
          <a:p>
            <a:pPr lvl="1" marL="1148080" indent="-457200">
              <a:lnSpc>
                <a:spcPct val="100000"/>
              </a:lnSpc>
              <a:spcBef>
                <a:spcPts val="720"/>
              </a:spcBef>
              <a:buClr>
                <a:srgbClr val="4668F5"/>
              </a:buClr>
              <a:buSzPct val="70000"/>
              <a:buFont typeface="Wingdings"/>
              <a:buChar char=""/>
              <a:tabLst>
                <a:tab pos="1148080" algn="l"/>
              </a:tabLst>
            </a:pPr>
            <a:r>
              <a:rPr dirty="0" sz="2000" spc="-30" b="1">
                <a:solidFill>
                  <a:srgbClr val="9966FF"/>
                </a:solidFill>
                <a:latin typeface="宋体"/>
                <a:cs typeface="宋体"/>
              </a:rPr>
              <a:t>整数部件用来处理所有的存储器访问、分支处理和整数操作。</a:t>
            </a:r>
            <a:endParaRPr sz="2000">
              <a:latin typeface="宋体"/>
              <a:cs typeface="宋体"/>
            </a:endParaRPr>
          </a:p>
          <a:p>
            <a:pPr marL="283210" indent="-270510">
              <a:lnSpc>
                <a:spcPct val="100000"/>
              </a:lnSpc>
              <a:spcBef>
                <a:spcPts val="815"/>
              </a:spcBef>
              <a:buSzPct val="89583"/>
              <a:buFont typeface="Wingdings"/>
              <a:buChar char=""/>
              <a:tabLst>
                <a:tab pos="283210" algn="l"/>
              </a:tabLst>
            </a:pPr>
            <a:r>
              <a:rPr dirty="0" sz="2400">
                <a:solidFill>
                  <a:srgbClr val="40458B"/>
                </a:solidFill>
                <a:latin typeface="黑体"/>
                <a:cs typeface="黑体"/>
              </a:rPr>
              <a:t>采用了记分牌的</a:t>
            </a:r>
            <a:r>
              <a:rPr dirty="0" sz="2400" spc="-25">
                <a:solidFill>
                  <a:srgbClr val="40458B"/>
                </a:solidFill>
                <a:latin typeface="Times New Roman"/>
                <a:cs typeface="Times New Roman"/>
              </a:rPr>
              <a:t>MIPS</a:t>
            </a:r>
            <a:r>
              <a:rPr dirty="0" sz="2400" spc="-10">
                <a:solidFill>
                  <a:srgbClr val="40458B"/>
                </a:solidFill>
                <a:latin typeface="黑体"/>
                <a:cs typeface="黑体"/>
              </a:rPr>
              <a:t>处理器的基本结构</a:t>
            </a:r>
            <a:endParaRPr sz="2400">
              <a:latin typeface="黑体"/>
              <a:cs typeface="黑体"/>
            </a:endParaRPr>
          </a:p>
          <a:p>
            <a:pPr lvl="1" marL="968375" indent="-457834">
              <a:lnSpc>
                <a:spcPct val="100000"/>
              </a:lnSpc>
              <a:spcBef>
                <a:spcPts val="770"/>
              </a:spcBef>
              <a:buClr>
                <a:srgbClr val="4668F5"/>
              </a:buClr>
              <a:buSzPct val="70000"/>
              <a:buFont typeface="Wingdings"/>
              <a:buChar char=""/>
              <a:tabLst>
                <a:tab pos="968375" algn="l"/>
              </a:tabLst>
            </a:pPr>
            <a:r>
              <a:rPr dirty="0" sz="2000" spc="-15" b="1">
                <a:solidFill>
                  <a:srgbClr val="9966FF"/>
                </a:solidFill>
                <a:latin typeface="宋体"/>
                <a:cs typeface="宋体"/>
              </a:rPr>
              <a:t>每条指令都要经过记分牌。</a:t>
            </a:r>
            <a:endParaRPr sz="2000">
              <a:latin typeface="宋体"/>
              <a:cs typeface="宋体"/>
            </a:endParaRPr>
          </a:p>
          <a:p>
            <a:pPr lvl="1" marL="968375" indent="-457834">
              <a:lnSpc>
                <a:spcPct val="100000"/>
              </a:lnSpc>
              <a:spcBef>
                <a:spcPts val="720"/>
              </a:spcBef>
              <a:buClr>
                <a:srgbClr val="4668F5"/>
              </a:buClr>
              <a:buSzPct val="70000"/>
              <a:buFont typeface="Wingdings"/>
              <a:buChar char=""/>
              <a:tabLst>
                <a:tab pos="968375" algn="l"/>
              </a:tabLst>
            </a:pPr>
            <a:r>
              <a:rPr dirty="0" sz="2000" spc="-30" b="1">
                <a:solidFill>
                  <a:srgbClr val="9966FF"/>
                </a:solidFill>
                <a:latin typeface="宋体"/>
                <a:cs typeface="宋体"/>
              </a:rPr>
              <a:t>记分牌负责相关检测并控制指令的流出和执行。</a:t>
            </a:r>
            <a:endParaRPr sz="2000">
              <a:latin typeface="宋体"/>
              <a:cs typeface="宋体"/>
            </a:endParaRPr>
          </a:p>
          <a:p>
            <a:pPr marL="283210" indent="-270510">
              <a:lnSpc>
                <a:spcPct val="100000"/>
              </a:lnSpc>
              <a:spcBef>
                <a:spcPts val="815"/>
              </a:spcBef>
              <a:buSzPct val="89583"/>
              <a:buFont typeface="Wingdings"/>
              <a:buChar char=""/>
              <a:tabLst>
                <a:tab pos="283210" algn="l"/>
              </a:tabLst>
            </a:pPr>
            <a:r>
              <a:rPr dirty="0" sz="2400">
                <a:solidFill>
                  <a:srgbClr val="40458B"/>
                </a:solidFill>
                <a:latin typeface="黑体"/>
                <a:cs typeface="黑体"/>
              </a:rPr>
              <a:t>每条指令的执行过程分为</a:t>
            </a:r>
            <a:r>
              <a:rPr dirty="0" sz="2400">
                <a:solidFill>
                  <a:srgbClr val="9933FF"/>
                </a:solidFill>
                <a:latin typeface="Times New Roman"/>
                <a:cs typeface="Times New Roman"/>
              </a:rPr>
              <a:t>4</a:t>
            </a:r>
            <a:r>
              <a:rPr dirty="0" sz="2400" spc="-220">
                <a:solidFill>
                  <a:srgbClr val="40458B"/>
                </a:solidFill>
                <a:latin typeface="黑体"/>
                <a:cs typeface="黑体"/>
              </a:rPr>
              <a:t>段 </a:t>
            </a:r>
            <a:r>
              <a:rPr dirty="0" sz="2400">
                <a:solidFill>
                  <a:srgbClr val="40458B"/>
                </a:solidFill>
                <a:latin typeface="黑体"/>
                <a:cs typeface="黑体"/>
              </a:rPr>
              <a:t>（</a:t>
            </a:r>
            <a:r>
              <a:rPr dirty="0" sz="2000" spc="-55">
                <a:solidFill>
                  <a:srgbClr val="40458B"/>
                </a:solidFill>
                <a:latin typeface="黑体"/>
                <a:cs typeface="黑体"/>
              </a:rPr>
              <a:t>主要考虑浮点操作 </a:t>
            </a:r>
            <a:r>
              <a:rPr dirty="0" sz="2000" spc="-50">
                <a:solidFill>
                  <a:srgbClr val="40458B"/>
                </a:solidFill>
                <a:latin typeface="黑体"/>
                <a:cs typeface="黑体"/>
              </a:rPr>
              <a:t>）</a:t>
            </a:r>
            <a:endParaRPr sz="2000">
              <a:latin typeface="黑体"/>
              <a:cs typeface="黑体"/>
            </a:endParaRPr>
          </a:p>
          <a:p>
            <a:pPr lvl="1" marL="968375" indent="-457834">
              <a:lnSpc>
                <a:spcPct val="100000"/>
              </a:lnSpc>
              <a:spcBef>
                <a:spcPts val="775"/>
              </a:spcBef>
              <a:buClr>
                <a:srgbClr val="4668F5"/>
              </a:buClr>
              <a:buSzPct val="70000"/>
              <a:buFont typeface="Wingdings"/>
              <a:buChar char=""/>
              <a:tabLst>
                <a:tab pos="968375" algn="l"/>
              </a:tabLst>
            </a:pPr>
            <a:r>
              <a:rPr dirty="0" sz="2000" spc="-30" b="1">
                <a:solidFill>
                  <a:srgbClr val="D50092"/>
                </a:solidFill>
                <a:latin typeface="宋体"/>
                <a:cs typeface="宋体"/>
              </a:rPr>
              <a:t>流出</a:t>
            </a:r>
            <a:endParaRPr sz="2000">
              <a:latin typeface="宋体"/>
              <a:cs typeface="宋体"/>
            </a:endParaRPr>
          </a:p>
          <a:p>
            <a:pPr marL="968375" marR="5080" indent="511809">
              <a:lnSpc>
                <a:spcPct val="110100"/>
              </a:lnSpc>
              <a:spcBef>
                <a:spcPts val="475"/>
              </a:spcBef>
            </a:pPr>
            <a:r>
              <a:rPr dirty="0" sz="2000" spc="-25" b="1">
                <a:solidFill>
                  <a:srgbClr val="9966FF"/>
                </a:solidFill>
                <a:latin typeface="宋体"/>
                <a:cs typeface="宋体"/>
              </a:rPr>
              <a:t>如果当前流出指令所需的功能部件空闲，并且所有其他正在执行的指令的目的寄</a:t>
            </a:r>
            <a:r>
              <a:rPr dirty="0" sz="2000" spc="500" b="1">
                <a:solidFill>
                  <a:srgbClr val="9966FF"/>
                </a:solidFill>
                <a:latin typeface="宋体"/>
                <a:cs typeface="宋体"/>
              </a:rPr>
              <a:t> </a:t>
            </a:r>
            <a:r>
              <a:rPr dirty="0" sz="2000" spc="-25" b="1">
                <a:solidFill>
                  <a:srgbClr val="9966FF"/>
                </a:solidFill>
                <a:latin typeface="宋体"/>
                <a:cs typeface="宋体"/>
              </a:rPr>
              <a:t>存器与该指令的不同，记分牌就向功能部件流出该指令，并修改记分牌内部的记录表。</a:t>
            </a:r>
            <a:endParaRPr sz="2000">
              <a:latin typeface="宋体"/>
              <a:cs typeface="宋体"/>
            </a:endParaRPr>
          </a:p>
          <a:p>
            <a:pPr marL="1463675">
              <a:lnSpc>
                <a:spcPct val="100000"/>
              </a:lnSpc>
              <a:spcBef>
                <a:spcPts val="720"/>
              </a:spcBef>
            </a:pPr>
            <a:r>
              <a:rPr dirty="0" sz="2000" spc="-10" b="1">
                <a:solidFill>
                  <a:srgbClr val="9966FF"/>
                </a:solidFill>
                <a:latin typeface="宋体"/>
                <a:cs typeface="宋体"/>
              </a:rPr>
              <a:t>解决了</a:t>
            </a:r>
            <a:r>
              <a:rPr dirty="0" sz="2000" b="1">
                <a:solidFill>
                  <a:srgbClr val="9933FF"/>
                </a:solidFill>
                <a:latin typeface="Times New Roman"/>
                <a:cs typeface="Times New Roman"/>
              </a:rPr>
              <a:t>WAW</a:t>
            </a:r>
            <a:r>
              <a:rPr dirty="0" sz="2000" spc="-30" b="1">
                <a:solidFill>
                  <a:srgbClr val="9966FF"/>
                </a:solidFill>
                <a:latin typeface="宋体"/>
                <a:cs typeface="宋体"/>
              </a:rPr>
              <a:t>冲突</a:t>
            </a:r>
            <a:endParaRPr sz="2000">
              <a:latin typeface="宋体"/>
              <a:cs typeface="宋体"/>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34/175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ctr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pic>
        <p:nvPicPr>
          <p:cNvPr id="10" name="object 10" descr=""/>
          <p:cNvPicPr/>
          <p:nvPr/>
        </p:nvPicPr>
        <p:blipFill>
          <a:blip r:embed="rId2" cstate="print"/>
          <a:stretch>
            <a:fillRect/>
          </a:stretch>
        </p:blipFill>
        <p:spPr>
          <a:xfrm>
            <a:off x="2927350" y="1211262"/>
            <a:ext cx="4824349" cy="4946650"/>
          </a:xfrm>
          <a:prstGeom prst="rect">
            <a:avLst/>
          </a:prstGeom>
        </p:spPr>
      </p:pic>
      <p:sp>
        <p:nvSpPr>
          <p:cNvPr id="11" name="object 11" descr=""/>
          <p:cNvSpPr txBox="1"/>
          <p:nvPr/>
        </p:nvSpPr>
        <p:spPr>
          <a:xfrm>
            <a:off x="8349233" y="2527172"/>
            <a:ext cx="2159000" cy="1114425"/>
          </a:xfrm>
          <a:prstGeom prst="rect">
            <a:avLst/>
          </a:prstGeom>
        </p:spPr>
        <p:txBody>
          <a:bodyPr wrap="square" lIns="0" tIns="17145" rIns="0" bIns="0" rtlCol="0" vert="horz">
            <a:spAutoFit/>
          </a:bodyPr>
          <a:lstStyle/>
          <a:p>
            <a:pPr algn="just" marL="12700" marR="5080">
              <a:lnSpc>
                <a:spcPct val="98800"/>
              </a:lnSpc>
              <a:spcBef>
                <a:spcPts val="135"/>
              </a:spcBef>
            </a:pPr>
            <a:r>
              <a:rPr dirty="0" sz="2400" spc="-10">
                <a:solidFill>
                  <a:srgbClr val="40458B"/>
                </a:solidFill>
                <a:latin typeface="黑体"/>
                <a:cs typeface="黑体"/>
              </a:rPr>
              <a:t>每个功能部件：</a:t>
            </a:r>
            <a:r>
              <a:rPr dirty="0" sz="2400" spc="-20">
                <a:solidFill>
                  <a:srgbClr val="FF0000"/>
                </a:solidFill>
                <a:latin typeface="黑体"/>
                <a:cs typeface="黑体"/>
              </a:rPr>
              <a:t>两个输入一个输</a:t>
            </a:r>
            <a:r>
              <a:rPr dirty="0" sz="2400" spc="-50">
                <a:solidFill>
                  <a:srgbClr val="FF0000"/>
                </a:solidFill>
                <a:latin typeface="黑体"/>
                <a:cs typeface="黑体"/>
              </a:rPr>
              <a:t>出</a:t>
            </a:r>
            <a:endParaRPr sz="2400">
              <a:latin typeface="黑体"/>
              <a:cs typeface="黑体"/>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35/175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65607" y="688752"/>
            <a:ext cx="12111355" cy="4149725"/>
          </a:xfrm>
          <a:prstGeom prst="rect">
            <a:avLst/>
          </a:prstGeom>
        </p:spPr>
        <p:txBody>
          <a:bodyPr wrap="square" lIns="0" tIns="154305" rIns="0" bIns="0" rtlCol="0" vert="horz">
            <a:spAutoFit/>
          </a:bodyPr>
          <a:lstStyle/>
          <a:p>
            <a:pPr marL="283210" indent="-270510">
              <a:lnSpc>
                <a:spcPct val="100000"/>
              </a:lnSpc>
              <a:spcBef>
                <a:spcPts val="1215"/>
              </a:spcBef>
              <a:buSzPct val="89583"/>
              <a:buFont typeface="Wingdings"/>
              <a:buChar char=""/>
              <a:tabLst>
                <a:tab pos="283210" algn="l"/>
              </a:tabLst>
            </a:pPr>
            <a:r>
              <a:rPr dirty="0" sz="2400">
                <a:solidFill>
                  <a:srgbClr val="40458B"/>
                </a:solidFill>
                <a:latin typeface="黑体"/>
                <a:cs typeface="黑体"/>
              </a:rPr>
              <a:t>每条指令的执行过程分为</a:t>
            </a:r>
            <a:r>
              <a:rPr dirty="0" sz="2400">
                <a:solidFill>
                  <a:srgbClr val="9933FF"/>
                </a:solidFill>
                <a:latin typeface="Times New Roman"/>
                <a:cs typeface="Times New Roman"/>
              </a:rPr>
              <a:t>4</a:t>
            </a:r>
            <a:r>
              <a:rPr dirty="0" sz="2400" spc="-220">
                <a:solidFill>
                  <a:srgbClr val="40458B"/>
                </a:solidFill>
                <a:latin typeface="黑体"/>
                <a:cs typeface="黑体"/>
              </a:rPr>
              <a:t>段 </a:t>
            </a:r>
            <a:r>
              <a:rPr dirty="0" sz="2400">
                <a:solidFill>
                  <a:srgbClr val="40458B"/>
                </a:solidFill>
                <a:latin typeface="黑体"/>
                <a:cs typeface="黑体"/>
              </a:rPr>
              <a:t>（</a:t>
            </a:r>
            <a:r>
              <a:rPr dirty="0" sz="2000" spc="-55">
                <a:solidFill>
                  <a:srgbClr val="40458B"/>
                </a:solidFill>
                <a:latin typeface="黑体"/>
                <a:cs typeface="黑体"/>
              </a:rPr>
              <a:t>主要考虑浮点操作 </a:t>
            </a:r>
            <a:r>
              <a:rPr dirty="0" sz="2000" spc="-50">
                <a:solidFill>
                  <a:srgbClr val="40458B"/>
                </a:solidFill>
                <a:latin typeface="黑体"/>
                <a:cs typeface="黑体"/>
              </a:rPr>
              <a:t>）</a:t>
            </a:r>
            <a:endParaRPr sz="2000">
              <a:latin typeface="黑体"/>
              <a:cs typeface="黑体"/>
            </a:endParaRPr>
          </a:p>
          <a:p>
            <a:pPr lvl="1" marL="969644" indent="-457200">
              <a:lnSpc>
                <a:spcPct val="100000"/>
              </a:lnSpc>
              <a:spcBef>
                <a:spcPts val="1015"/>
              </a:spcBef>
              <a:buClr>
                <a:srgbClr val="4668F5"/>
              </a:buClr>
              <a:buSzPct val="68181"/>
              <a:buFont typeface="Wingdings"/>
              <a:buChar char=""/>
              <a:tabLst>
                <a:tab pos="969644" algn="l"/>
              </a:tabLst>
            </a:pPr>
            <a:r>
              <a:rPr dirty="0" sz="2200" spc="-30" b="1">
                <a:solidFill>
                  <a:srgbClr val="D50092"/>
                </a:solidFill>
                <a:latin typeface="宋体"/>
                <a:cs typeface="宋体"/>
              </a:rPr>
              <a:t>读操作数</a:t>
            </a:r>
            <a:endParaRPr sz="2200">
              <a:latin typeface="宋体"/>
              <a:cs typeface="宋体"/>
            </a:endParaRPr>
          </a:p>
          <a:p>
            <a:pPr marL="969644" marR="5080" indent="615950">
              <a:lnSpc>
                <a:spcPct val="120000"/>
              </a:lnSpc>
              <a:spcBef>
                <a:spcPts val="530"/>
              </a:spcBef>
            </a:pPr>
            <a:r>
              <a:rPr dirty="0" sz="2200" spc="-20" b="1">
                <a:solidFill>
                  <a:srgbClr val="9966FF"/>
                </a:solidFill>
                <a:latin typeface="宋体"/>
                <a:cs typeface="宋体"/>
              </a:rPr>
              <a:t>记分牌</a:t>
            </a:r>
            <a:r>
              <a:rPr dirty="0" sz="2200" spc="-15" b="1">
                <a:solidFill>
                  <a:srgbClr val="C00000"/>
                </a:solidFill>
                <a:latin typeface="宋体"/>
                <a:cs typeface="宋体"/>
              </a:rPr>
              <a:t>监测</a:t>
            </a:r>
            <a:r>
              <a:rPr dirty="0" sz="2200" spc="-25" b="1">
                <a:solidFill>
                  <a:srgbClr val="9966FF"/>
                </a:solidFill>
                <a:latin typeface="宋体"/>
                <a:cs typeface="宋体"/>
              </a:rPr>
              <a:t>源操作数的可用性，如果数据可用</a:t>
            </a:r>
            <a:r>
              <a:rPr dirty="0" sz="2200" spc="-10" b="1">
                <a:solidFill>
                  <a:srgbClr val="9966FF"/>
                </a:solidFill>
                <a:latin typeface="宋体"/>
                <a:cs typeface="宋体"/>
              </a:rPr>
              <a:t>（</a:t>
            </a:r>
            <a:r>
              <a:rPr dirty="0" sz="2200" spc="-15" b="1">
                <a:solidFill>
                  <a:srgbClr val="9966FF"/>
                </a:solidFill>
                <a:latin typeface="宋体"/>
                <a:cs typeface="宋体"/>
              </a:rPr>
              <a:t>例如</a:t>
            </a:r>
            <a:r>
              <a:rPr dirty="0" sz="2200" spc="-25" b="1">
                <a:solidFill>
                  <a:srgbClr val="9966FF"/>
                </a:solidFill>
                <a:latin typeface="Tahoma"/>
                <a:cs typeface="Tahoma"/>
              </a:rPr>
              <a:t>RAW</a:t>
            </a:r>
            <a:r>
              <a:rPr dirty="0" sz="2200" spc="-25" b="1">
                <a:solidFill>
                  <a:srgbClr val="9966FF"/>
                </a:solidFill>
                <a:latin typeface="宋体"/>
                <a:cs typeface="宋体"/>
              </a:rPr>
              <a:t>冲突，等前面指令写完后</a:t>
            </a:r>
            <a:r>
              <a:rPr dirty="0" sz="2200" spc="-50" b="1">
                <a:solidFill>
                  <a:srgbClr val="9966FF"/>
                </a:solidFill>
                <a:latin typeface="宋体"/>
                <a:cs typeface="宋体"/>
              </a:rPr>
              <a:t>）</a:t>
            </a:r>
            <a:r>
              <a:rPr dirty="0" sz="2200" spc="-25" b="1">
                <a:solidFill>
                  <a:srgbClr val="9966FF"/>
                </a:solidFill>
                <a:latin typeface="宋体"/>
                <a:cs typeface="宋体"/>
              </a:rPr>
              <a:t>它就通知功能部件从寄存器中读出源操作数并开始执行。</a:t>
            </a:r>
            <a:endParaRPr sz="2200">
              <a:latin typeface="宋体"/>
              <a:cs typeface="宋体"/>
            </a:endParaRPr>
          </a:p>
          <a:p>
            <a:pPr marL="969644" marR="51435" indent="659765">
              <a:lnSpc>
                <a:spcPct val="120100"/>
              </a:lnSpc>
              <a:spcBef>
                <a:spcPts val="525"/>
              </a:spcBef>
            </a:pPr>
            <a:r>
              <a:rPr dirty="0" sz="2200" spc="-20" b="1">
                <a:solidFill>
                  <a:srgbClr val="9966FF"/>
                </a:solidFill>
                <a:latin typeface="宋体"/>
                <a:cs typeface="宋体"/>
              </a:rPr>
              <a:t>动态地解决了</a:t>
            </a:r>
            <a:r>
              <a:rPr dirty="0" sz="2200" spc="-30" b="1">
                <a:solidFill>
                  <a:srgbClr val="9933FF"/>
                </a:solidFill>
                <a:latin typeface="Times New Roman"/>
                <a:cs typeface="Times New Roman"/>
              </a:rPr>
              <a:t>RAW</a:t>
            </a:r>
            <a:r>
              <a:rPr dirty="0" sz="2200" spc="-40" b="1">
                <a:solidFill>
                  <a:srgbClr val="9966FF"/>
                </a:solidFill>
                <a:latin typeface="宋体"/>
                <a:cs typeface="宋体"/>
              </a:rPr>
              <a:t>冲突，并导致指令可能乱序开始执行。 </a:t>
            </a:r>
            <a:r>
              <a:rPr dirty="0" sz="2200" spc="-20" b="1">
                <a:solidFill>
                  <a:srgbClr val="9966FF"/>
                </a:solidFill>
                <a:latin typeface="宋体"/>
                <a:cs typeface="宋体"/>
              </a:rPr>
              <a:t>（</a:t>
            </a:r>
            <a:r>
              <a:rPr dirty="0" sz="2200" spc="-20" b="1">
                <a:solidFill>
                  <a:srgbClr val="FF0000"/>
                </a:solidFill>
                <a:latin typeface="宋体"/>
                <a:cs typeface="宋体"/>
              </a:rPr>
              <a:t>遇见</a:t>
            </a:r>
            <a:r>
              <a:rPr dirty="0" sz="2200" spc="-30" b="1">
                <a:solidFill>
                  <a:srgbClr val="FF0000"/>
                </a:solidFill>
                <a:latin typeface="Times New Roman"/>
                <a:cs typeface="Times New Roman"/>
              </a:rPr>
              <a:t>RAW</a:t>
            </a:r>
            <a:r>
              <a:rPr dirty="0" sz="2200" spc="-25" b="1">
                <a:solidFill>
                  <a:srgbClr val="FF0000"/>
                </a:solidFill>
                <a:latin typeface="宋体"/>
                <a:cs typeface="宋体"/>
              </a:rPr>
              <a:t>冲突就停顿，等待解决</a:t>
            </a:r>
            <a:r>
              <a:rPr dirty="0" sz="2200" spc="-50" b="1">
                <a:solidFill>
                  <a:srgbClr val="9966FF"/>
                </a:solidFill>
                <a:latin typeface="宋体"/>
                <a:cs typeface="宋体"/>
              </a:rPr>
              <a:t>）</a:t>
            </a:r>
            <a:endParaRPr sz="2200">
              <a:latin typeface="宋体"/>
              <a:cs typeface="宋体"/>
            </a:endParaRPr>
          </a:p>
          <a:p>
            <a:pPr lvl="1" marL="969644" indent="-457200">
              <a:lnSpc>
                <a:spcPct val="100000"/>
              </a:lnSpc>
              <a:spcBef>
                <a:spcPts val="1055"/>
              </a:spcBef>
              <a:buClr>
                <a:srgbClr val="4668F5"/>
              </a:buClr>
              <a:buSzPct val="68181"/>
              <a:buFont typeface="Wingdings"/>
              <a:buChar char=""/>
              <a:tabLst>
                <a:tab pos="969644" algn="l"/>
              </a:tabLst>
            </a:pPr>
            <a:r>
              <a:rPr dirty="0" sz="2200" spc="-35" b="1">
                <a:solidFill>
                  <a:srgbClr val="D50092"/>
                </a:solidFill>
                <a:latin typeface="宋体"/>
                <a:cs typeface="宋体"/>
              </a:rPr>
              <a:t>执行</a:t>
            </a:r>
            <a:endParaRPr sz="2200">
              <a:latin typeface="宋体"/>
              <a:cs typeface="宋体"/>
            </a:endParaRPr>
          </a:p>
          <a:p>
            <a:pPr marL="1001394" marR="159385" indent="559435">
              <a:lnSpc>
                <a:spcPts val="3700"/>
              </a:lnSpc>
              <a:spcBef>
                <a:spcPts val="100"/>
              </a:spcBef>
            </a:pPr>
            <a:r>
              <a:rPr dirty="0" sz="2200" spc="-30" b="1">
                <a:solidFill>
                  <a:srgbClr val="9966FF"/>
                </a:solidFill>
                <a:latin typeface="宋体"/>
                <a:cs typeface="宋体"/>
              </a:rPr>
              <a:t>取到操作数后，功能部件开始执行。当产生出结果后，就通知记分牌它已经完成执行</a:t>
            </a:r>
            <a:r>
              <a:rPr dirty="0" sz="2200" spc="-25" b="1">
                <a:solidFill>
                  <a:srgbClr val="9966FF"/>
                </a:solidFill>
                <a:latin typeface="宋体"/>
                <a:cs typeface="宋体"/>
              </a:rPr>
              <a:t>在浮点流水线中，这一段可能要占用多个时钟周期。</a:t>
            </a:r>
            <a:endParaRPr sz="2200">
              <a:latin typeface="宋体"/>
              <a:cs typeface="宋体"/>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36/175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65607" y="747330"/>
            <a:ext cx="11717655" cy="4528185"/>
          </a:xfrm>
          <a:prstGeom prst="rect">
            <a:avLst/>
          </a:prstGeom>
        </p:spPr>
        <p:txBody>
          <a:bodyPr wrap="square" lIns="0" tIns="92710" rIns="0" bIns="0" rtlCol="0" vert="horz">
            <a:spAutoFit/>
          </a:bodyPr>
          <a:lstStyle/>
          <a:p>
            <a:pPr marL="283210" indent="-270510">
              <a:lnSpc>
                <a:spcPct val="100000"/>
              </a:lnSpc>
              <a:spcBef>
                <a:spcPts val="730"/>
              </a:spcBef>
              <a:buSzPct val="89583"/>
              <a:buFont typeface="Wingdings"/>
              <a:buChar char=""/>
              <a:tabLst>
                <a:tab pos="283210" algn="l"/>
              </a:tabLst>
            </a:pPr>
            <a:r>
              <a:rPr dirty="0" sz="2400">
                <a:solidFill>
                  <a:srgbClr val="40458B"/>
                </a:solidFill>
                <a:latin typeface="黑体"/>
                <a:cs typeface="黑体"/>
              </a:rPr>
              <a:t>每条指令的执行过程分为</a:t>
            </a:r>
            <a:r>
              <a:rPr dirty="0" sz="2400">
                <a:solidFill>
                  <a:srgbClr val="9933FF"/>
                </a:solidFill>
                <a:latin typeface="Times New Roman"/>
                <a:cs typeface="Times New Roman"/>
              </a:rPr>
              <a:t>4</a:t>
            </a:r>
            <a:r>
              <a:rPr dirty="0" sz="2400" spc="-220">
                <a:solidFill>
                  <a:srgbClr val="40458B"/>
                </a:solidFill>
                <a:latin typeface="黑体"/>
                <a:cs typeface="黑体"/>
              </a:rPr>
              <a:t>段 </a:t>
            </a:r>
            <a:r>
              <a:rPr dirty="0" sz="2400">
                <a:solidFill>
                  <a:srgbClr val="40458B"/>
                </a:solidFill>
                <a:latin typeface="黑体"/>
                <a:cs typeface="黑体"/>
              </a:rPr>
              <a:t>（</a:t>
            </a:r>
            <a:r>
              <a:rPr dirty="0" sz="2000" spc="-55">
                <a:solidFill>
                  <a:srgbClr val="40458B"/>
                </a:solidFill>
                <a:latin typeface="黑体"/>
                <a:cs typeface="黑体"/>
              </a:rPr>
              <a:t>主要考虑浮点操作 </a:t>
            </a:r>
            <a:r>
              <a:rPr dirty="0" sz="2000" spc="-50">
                <a:solidFill>
                  <a:srgbClr val="40458B"/>
                </a:solidFill>
                <a:latin typeface="黑体"/>
                <a:cs typeface="黑体"/>
              </a:rPr>
              <a:t>）</a:t>
            </a:r>
            <a:endParaRPr sz="2000">
              <a:latin typeface="黑体"/>
              <a:cs typeface="黑体"/>
            </a:endParaRPr>
          </a:p>
          <a:p>
            <a:pPr lvl="1" marL="969644" indent="-457200">
              <a:lnSpc>
                <a:spcPct val="100000"/>
              </a:lnSpc>
              <a:spcBef>
                <a:spcPts val="570"/>
              </a:spcBef>
              <a:buClr>
                <a:srgbClr val="4668F5"/>
              </a:buClr>
              <a:buSzPct val="68181"/>
              <a:buFont typeface="Wingdings"/>
              <a:buChar char=""/>
              <a:tabLst>
                <a:tab pos="969644" algn="l"/>
              </a:tabLst>
            </a:pPr>
            <a:r>
              <a:rPr dirty="0" sz="2200" spc="-35" b="1">
                <a:solidFill>
                  <a:srgbClr val="D50092"/>
                </a:solidFill>
                <a:latin typeface="宋体"/>
                <a:cs typeface="宋体"/>
              </a:rPr>
              <a:t>写结果</a:t>
            </a:r>
            <a:endParaRPr sz="2200">
              <a:latin typeface="宋体"/>
              <a:cs typeface="宋体"/>
            </a:endParaRPr>
          </a:p>
          <a:p>
            <a:pPr lvl="1">
              <a:lnSpc>
                <a:spcPct val="100000"/>
              </a:lnSpc>
              <a:spcBef>
                <a:spcPts val="1989"/>
              </a:spcBef>
              <a:buClr>
                <a:srgbClr val="4668F5"/>
              </a:buClr>
              <a:buFont typeface="Wingdings"/>
              <a:buChar char=""/>
            </a:pPr>
            <a:endParaRPr sz="2200">
              <a:latin typeface="宋体"/>
              <a:cs typeface="宋体"/>
            </a:endParaRPr>
          </a:p>
          <a:p>
            <a:pPr marL="516890">
              <a:lnSpc>
                <a:spcPct val="100000"/>
              </a:lnSpc>
            </a:pPr>
            <a:r>
              <a:rPr dirty="0" sz="2000" spc="-20" b="1">
                <a:solidFill>
                  <a:srgbClr val="9966FF"/>
                </a:solidFill>
                <a:latin typeface="宋体"/>
                <a:cs typeface="宋体"/>
              </a:rPr>
              <a:t>记分牌一旦知道执行部件完成了执行，就</a:t>
            </a:r>
            <a:r>
              <a:rPr dirty="0" sz="2000" spc="-15" b="1">
                <a:solidFill>
                  <a:srgbClr val="FF0000"/>
                </a:solidFill>
                <a:latin typeface="宋体"/>
                <a:cs typeface="宋体"/>
              </a:rPr>
              <a:t>检测</a:t>
            </a:r>
            <a:r>
              <a:rPr dirty="0" sz="2000" spc="-15" b="1">
                <a:solidFill>
                  <a:srgbClr val="9966FF"/>
                </a:solidFill>
                <a:latin typeface="宋体"/>
                <a:cs typeface="宋体"/>
              </a:rPr>
              <a:t>是否存在</a:t>
            </a:r>
            <a:r>
              <a:rPr dirty="0" sz="2000" spc="-90" b="1">
                <a:solidFill>
                  <a:srgbClr val="9966FF"/>
                </a:solidFill>
                <a:latin typeface="Times New Roman"/>
                <a:cs typeface="Times New Roman"/>
              </a:rPr>
              <a:t>WAR</a:t>
            </a:r>
            <a:r>
              <a:rPr dirty="0" sz="2000" spc="-30" b="1">
                <a:solidFill>
                  <a:srgbClr val="9966FF"/>
                </a:solidFill>
                <a:latin typeface="宋体"/>
                <a:cs typeface="宋体"/>
              </a:rPr>
              <a:t>冲突。</a:t>
            </a:r>
            <a:endParaRPr sz="2000">
              <a:latin typeface="宋体"/>
              <a:cs typeface="宋体"/>
            </a:endParaRPr>
          </a:p>
          <a:p>
            <a:pPr marL="440690" marR="5080">
              <a:lnSpc>
                <a:spcPct val="150000"/>
              </a:lnSpc>
              <a:spcBef>
                <a:spcPts val="180"/>
              </a:spcBef>
              <a:tabLst>
                <a:tab pos="3696335" algn="l"/>
              </a:tabLst>
            </a:pPr>
            <a:r>
              <a:rPr dirty="0" sz="2000" spc="-10" b="1">
                <a:solidFill>
                  <a:srgbClr val="9966FF"/>
                </a:solidFill>
                <a:latin typeface="宋体"/>
                <a:cs typeface="宋体"/>
              </a:rPr>
              <a:t>如果不存在，或者原有的</a:t>
            </a:r>
            <a:r>
              <a:rPr dirty="0" sz="2000" spc="-90" b="1">
                <a:solidFill>
                  <a:srgbClr val="9966FF"/>
                </a:solidFill>
                <a:latin typeface="Times New Roman"/>
                <a:cs typeface="Times New Roman"/>
              </a:rPr>
              <a:t>WAR</a:t>
            </a:r>
            <a:r>
              <a:rPr dirty="0" sz="2000" spc="-20" b="1">
                <a:solidFill>
                  <a:srgbClr val="9966FF"/>
                </a:solidFill>
                <a:latin typeface="宋体"/>
                <a:cs typeface="宋体"/>
              </a:rPr>
              <a:t>冲</a:t>
            </a:r>
            <a:r>
              <a:rPr dirty="0" sz="2000" spc="-10" b="1">
                <a:solidFill>
                  <a:srgbClr val="9966FF"/>
                </a:solidFill>
                <a:latin typeface="宋体"/>
                <a:cs typeface="宋体"/>
              </a:rPr>
              <a:t>突已消</a:t>
            </a:r>
            <a:r>
              <a:rPr dirty="0" sz="2000" spc="-20" b="1">
                <a:solidFill>
                  <a:srgbClr val="9966FF"/>
                </a:solidFill>
                <a:latin typeface="宋体"/>
                <a:cs typeface="宋体"/>
              </a:rPr>
              <a:t>失</a:t>
            </a:r>
            <a:r>
              <a:rPr dirty="0" sz="2000" spc="-10" b="1">
                <a:solidFill>
                  <a:srgbClr val="9966FF"/>
                </a:solidFill>
                <a:latin typeface="宋体"/>
                <a:cs typeface="宋体"/>
              </a:rPr>
              <a:t>，记</a:t>
            </a:r>
            <a:r>
              <a:rPr dirty="0" sz="2000" spc="-20" b="1">
                <a:solidFill>
                  <a:srgbClr val="9966FF"/>
                </a:solidFill>
                <a:latin typeface="宋体"/>
                <a:cs typeface="宋体"/>
              </a:rPr>
              <a:t>分</a:t>
            </a:r>
            <a:r>
              <a:rPr dirty="0" sz="2000" spc="-10" b="1">
                <a:solidFill>
                  <a:srgbClr val="9966FF"/>
                </a:solidFill>
                <a:latin typeface="宋体"/>
                <a:cs typeface="宋体"/>
              </a:rPr>
              <a:t>牌就</a:t>
            </a:r>
            <a:r>
              <a:rPr dirty="0" sz="2000" spc="-20" b="1">
                <a:solidFill>
                  <a:srgbClr val="9966FF"/>
                </a:solidFill>
                <a:latin typeface="宋体"/>
                <a:cs typeface="宋体"/>
              </a:rPr>
              <a:t>通</a:t>
            </a:r>
            <a:r>
              <a:rPr dirty="0" sz="2000" spc="-10" b="1">
                <a:solidFill>
                  <a:srgbClr val="9966FF"/>
                </a:solidFill>
                <a:latin typeface="宋体"/>
                <a:cs typeface="宋体"/>
              </a:rPr>
              <a:t>知功能</a:t>
            </a:r>
            <a:r>
              <a:rPr dirty="0" sz="2000" spc="-20" b="1">
                <a:solidFill>
                  <a:srgbClr val="9966FF"/>
                </a:solidFill>
                <a:latin typeface="宋体"/>
                <a:cs typeface="宋体"/>
              </a:rPr>
              <a:t>部</a:t>
            </a:r>
            <a:r>
              <a:rPr dirty="0" sz="2000" spc="-10" b="1">
                <a:solidFill>
                  <a:srgbClr val="9966FF"/>
                </a:solidFill>
                <a:latin typeface="宋体"/>
                <a:cs typeface="宋体"/>
              </a:rPr>
              <a:t>件把</a:t>
            </a:r>
            <a:r>
              <a:rPr dirty="0" sz="2000" spc="-20" b="1">
                <a:solidFill>
                  <a:srgbClr val="9966FF"/>
                </a:solidFill>
                <a:latin typeface="宋体"/>
                <a:cs typeface="宋体"/>
              </a:rPr>
              <a:t>结</a:t>
            </a:r>
            <a:r>
              <a:rPr dirty="0" sz="2000" spc="-10" b="1">
                <a:solidFill>
                  <a:srgbClr val="9966FF"/>
                </a:solidFill>
                <a:latin typeface="宋体"/>
                <a:cs typeface="宋体"/>
              </a:rPr>
              <a:t>果写入</a:t>
            </a:r>
            <a:r>
              <a:rPr dirty="0" sz="2000" spc="-20" b="1">
                <a:solidFill>
                  <a:srgbClr val="9966FF"/>
                </a:solidFill>
                <a:latin typeface="宋体"/>
                <a:cs typeface="宋体"/>
              </a:rPr>
              <a:t>目</a:t>
            </a:r>
            <a:r>
              <a:rPr dirty="0" sz="2000" spc="-10" b="1">
                <a:solidFill>
                  <a:srgbClr val="9966FF"/>
                </a:solidFill>
                <a:latin typeface="宋体"/>
                <a:cs typeface="宋体"/>
              </a:rPr>
              <a:t>的寄</a:t>
            </a:r>
            <a:r>
              <a:rPr dirty="0" sz="2000" spc="-20" b="1">
                <a:solidFill>
                  <a:srgbClr val="9966FF"/>
                </a:solidFill>
                <a:latin typeface="宋体"/>
                <a:cs typeface="宋体"/>
              </a:rPr>
              <a:t>存</a:t>
            </a:r>
            <a:r>
              <a:rPr dirty="0" sz="2000" spc="-10" b="1">
                <a:solidFill>
                  <a:srgbClr val="9966FF"/>
                </a:solidFill>
                <a:latin typeface="宋体"/>
                <a:cs typeface="宋体"/>
              </a:rPr>
              <a:t>器，并</a:t>
            </a:r>
            <a:r>
              <a:rPr dirty="0" sz="2000" spc="-20" b="1">
                <a:solidFill>
                  <a:srgbClr val="9966FF"/>
                </a:solidFill>
                <a:latin typeface="宋体"/>
                <a:cs typeface="宋体"/>
              </a:rPr>
              <a:t>释</a:t>
            </a:r>
            <a:r>
              <a:rPr dirty="0" sz="2000" spc="-50" b="1">
                <a:solidFill>
                  <a:srgbClr val="9966FF"/>
                </a:solidFill>
                <a:latin typeface="宋体"/>
                <a:cs typeface="宋体"/>
              </a:rPr>
              <a:t>放</a:t>
            </a:r>
            <a:r>
              <a:rPr dirty="0" sz="2000" spc="-50" b="1">
                <a:solidFill>
                  <a:srgbClr val="9966FF"/>
                </a:solidFill>
                <a:latin typeface="宋体"/>
                <a:cs typeface="宋体"/>
              </a:rPr>
              <a:t> </a:t>
            </a:r>
            <a:r>
              <a:rPr dirty="0" sz="2000" spc="-15" b="1">
                <a:solidFill>
                  <a:srgbClr val="9966FF"/>
                </a:solidFill>
                <a:latin typeface="宋体"/>
                <a:cs typeface="宋体"/>
              </a:rPr>
              <a:t>该指令使用的所有资源</a:t>
            </a:r>
            <a:r>
              <a:rPr dirty="0" sz="2000" spc="-50" b="1">
                <a:solidFill>
                  <a:srgbClr val="9966FF"/>
                </a:solidFill>
                <a:latin typeface="宋体"/>
                <a:cs typeface="宋体"/>
              </a:rPr>
              <a:t>。</a:t>
            </a:r>
            <a:r>
              <a:rPr dirty="0" sz="2000" b="1">
                <a:solidFill>
                  <a:srgbClr val="9966FF"/>
                </a:solidFill>
                <a:latin typeface="宋体"/>
                <a:cs typeface="宋体"/>
              </a:rPr>
              <a:t>	</a:t>
            </a:r>
            <a:r>
              <a:rPr dirty="0" sz="2000" spc="-15" b="1">
                <a:solidFill>
                  <a:srgbClr val="9966FF"/>
                </a:solidFill>
                <a:latin typeface="宋体"/>
                <a:cs typeface="宋体"/>
              </a:rPr>
              <a:t>如果检测</a:t>
            </a:r>
            <a:r>
              <a:rPr dirty="0" sz="2000" spc="-10" b="1">
                <a:solidFill>
                  <a:srgbClr val="9966FF"/>
                </a:solidFill>
                <a:latin typeface="宋体"/>
                <a:cs typeface="宋体"/>
              </a:rPr>
              <a:t>到</a:t>
            </a:r>
            <a:r>
              <a:rPr dirty="0" sz="2000" spc="-90" b="1">
                <a:solidFill>
                  <a:srgbClr val="9966FF"/>
                </a:solidFill>
                <a:latin typeface="Times New Roman"/>
                <a:cs typeface="Times New Roman"/>
              </a:rPr>
              <a:t>WAR</a:t>
            </a:r>
            <a:r>
              <a:rPr dirty="0" sz="2000" spc="-15" b="1">
                <a:solidFill>
                  <a:srgbClr val="9966FF"/>
                </a:solidFill>
                <a:latin typeface="宋体"/>
                <a:cs typeface="宋体"/>
              </a:rPr>
              <a:t>冲突，就</a:t>
            </a:r>
            <a:r>
              <a:rPr dirty="0" sz="2000" spc="-20" b="1">
                <a:solidFill>
                  <a:srgbClr val="9966FF"/>
                </a:solidFill>
                <a:latin typeface="宋体"/>
                <a:cs typeface="宋体"/>
              </a:rPr>
              <a:t>不</a:t>
            </a:r>
            <a:r>
              <a:rPr dirty="0" sz="2000" spc="-15" b="1">
                <a:solidFill>
                  <a:srgbClr val="9966FF"/>
                </a:solidFill>
                <a:latin typeface="宋体"/>
                <a:cs typeface="宋体"/>
              </a:rPr>
              <a:t>允许该</a:t>
            </a:r>
            <a:r>
              <a:rPr dirty="0" sz="2000" spc="-20" b="1">
                <a:solidFill>
                  <a:srgbClr val="9966FF"/>
                </a:solidFill>
                <a:latin typeface="宋体"/>
                <a:cs typeface="宋体"/>
              </a:rPr>
              <a:t>指</a:t>
            </a:r>
            <a:r>
              <a:rPr dirty="0" sz="2000" spc="-15" b="1">
                <a:solidFill>
                  <a:srgbClr val="9966FF"/>
                </a:solidFill>
                <a:latin typeface="宋体"/>
                <a:cs typeface="宋体"/>
              </a:rPr>
              <a:t>令将</a:t>
            </a:r>
            <a:r>
              <a:rPr dirty="0" sz="2000" spc="-20" b="1">
                <a:solidFill>
                  <a:srgbClr val="9966FF"/>
                </a:solidFill>
                <a:latin typeface="宋体"/>
                <a:cs typeface="宋体"/>
              </a:rPr>
              <a:t>结</a:t>
            </a:r>
            <a:r>
              <a:rPr dirty="0" sz="2000" spc="-15" b="1">
                <a:solidFill>
                  <a:srgbClr val="9966FF"/>
                </a:solidFill>
                <a:latin typeface="宋体"/>
                <a:cs typeface="宋体"/>
              </a:rPr>
              <a:t>果写到</a:t>
            </a:r>
            <a:r>
              <a:rPr dirty="0" sz="2000" spc="-20" b="1">
                <a:solidFill>
                  <a:srgbClr val="9966FF"/>
                </a:solidFill>
                <a:latin typeface="宋体"/>
                <a:cs typeface="宋体"/>
              </a:rPr>
              <a:t>目</a:t>
            </a:r>
            <a:r>
              <a:rPr dirty="0" sz="2000" spc="-15" b="1">
                <a:solidFill>
                  <a:srgbClr val="9966FF"/>
                </a:solidFill>
                <a:latin typeface="宋体"/>
                <a:cs typeface="宋体"/>
              </a:rPr>
              <a:t>的寄</a:t>
            </a:r>
            <a:r>
              <a:rPr dirty="0" sz="2000" spc="-20" b="1">
                <a:solidFill>
                  <a:srgbClr val="9966FF"/>
                </a:solidFill>
                <a:latin typeface="宋体"/>
                <a:cs typeface="宋体"/>
              </a:rPr>
              <a:t>存</a:t>
            </a:r>
            <a:r>
              <a:rPr dirty="0" sz="2000" spc="-15" b="1">
                <a:solidFill>
                  <a:srgbClr val="9966FF"/>
                </a:solidFill>
                <a:latin typeface="宋体"/>
                <a:cs typeface="宋体"/>
              </a:rPr>
              <a:t>器。</a:t>
            </a:r>
            <a:r>
              <a:rPr dirty="0" sz="2000" spc="-20" b="1">
                <a:solidFill>
                  <a:srgbClr val="9966FF"/>
                </a:solidFill>
                <a:latin typeface="宋体"/>
                <a:cs typeface="宋体"/>
              </a:rPr>
              <a:t>这</a:t>
            </a:r>
            <a:r>
              <a:rPr dirty="0" sz="2000" spc="-15" b="1">
                <a:solidFill>
                  <a:srgbClr val="9966FF"/>
                </a:solidFill>
                <a:latin typeface="宋体"/>
                <a:cs typeface="宋体"/>
              </a:rPr>
              <a:t>发</a:t>
            </a:r>
            <a:r>
              <a:rPr dirty="0" sz="2000" spc="-50" b="1">
                <a:solidFill>
                  <a:srgbClr val="9966FF"/>
                </a:solidFill>
                <a:latin typeface="宋体"/>
                <a:cs typeface="宋体"/>
              </a:rPr>
              <a:t>生</a:t>
            </a:r>
            <a:r>
              <a:rPr dirty="0" sz="2000" spc="-10" b="1">
                <a:solidFill>
                  <a:srgbClr val="9966FF"/>
                </a:solidFill>
                <a:latin typeface="宋体"/>
                <a:cs typeface="宋体"/>
              </a:rPr>
              <a:t>在以下情况：前面的某条指</a:t>
            </a:r>
            <a:r>
              <a:rPr dirty="0" sz="2000" spc="-20" b="1">
                <a:solidFill>
                  <a:srgbClr val="9966FF"/>
                </a:solidFill>
                <a:latin typeface="宋体"/>
                <a:cs typeface="宋体"/>
              </a:rPr>
              <a:t>令</a:t>
            </a:r>
            <a:r>
              <a:rPr dirty="0" sz="2000" spc="-10" b="1">
                <a:solidFill>
                  <a:srgbClr val="9966FF"/>
                </a:solidFill>
                <a:latin typeface="宋体"/>
                <a:cs typeface="宋体"/>
              </a:rPr>
              <a:t>（按</a:t>
            </a:r>
            <a:r>
              <a:rPr dirty="0" sz="2000" spc="-20" b="1">
                <a:solidFill>
                  <a:srgbClr val="9966FF"/>
                </a:solidFill>
                <a:latin typeface="宋体"/>
                <a:cs typeface="宋体"/>
              </a:rPr>
              <a:t>顺</a:t>
            </a:r>
            <a:r>
              <a:rPr dirty="0" sz="2000" spc="-10" b="1">
                <a:solidFill>
                  <a:srgbClr val="9966FF"/>
                </a:solidFill>
                <a:latin typeface="宋体"/>
                <a:cs typeface="宋体"/>
              </a:rPr>
              <a:t>序流</a:t>
            </a:r>
            <a:r>
              <a:rPr dirty="0" sz="2000" spc="-20" b="1">
                <a:solidFill>
                  <a:srgbClr val="9966FF"/>
                </a:solidFill>
                <a:latin typeface="宋体"/>
                <a:cs typeface="宋体"/>
              </a:rPr>
              <a:t>出</a:t>
            </a:r>
            <a:r>
              <a:rPr dirty="0" sz="2000" spc="-10" b="1">
                <a:solidFill>
                  <a:srgbClr val="9966FF"/>
                </a:solidFill>
                <a:latin typeface="宋体"/>
                <a:cs typeface="宋体"/>
              </a:rPr>
              <a:t>）还没</a:t>
            </a:r>
            <a:r>
              <a:rPr dirty="0" sz="2000" spc="-20" b="1">
                <a:solidFill>
                  <a:srgbClr val="9966FF"/>
                </a:solidFill>
                <a:latin typeface="宋体"/>
                <a:cs typeface="宋体"/>
              </a:rPr>
              <a:t>有</a:t>
            </a:r>
            <a:r>
              <a:rPr dirty="0" sz="2000" spc="-10" b="1">
                <a:solidFill>
                  <a:srgbClr val="9966FF"/>
                </a:solidFill>
                <a:latin typeface="宋体"/>
                <a:cs typeface="宋体"/>
              </a:rPr>
              <a:t>读取</a:t>
            </a:r>
            <a:r>
              <a:rPr dirty="0" sz="2000" spc="-20" b="1">
                <a:solidFill>
                  <a:srgbClr val="9966FF"/>
                </a:solidFill>
                <a:latin typeface="宋体"/>
                <a:cs typeface="宋体"/>
              </a:rPr>
              <a:t>操</a:t>
            </a:r>
            <a:r>
              <a:rPr dirty="0" sz="2000" spc="-10" b="1">
                <a:solidFill>
                  <a:srgbClr val="9966FF"/>
                </a:solidFill>
                <a:latin typeface="宋体"/>
                <a:cs typeface="宋体"/>
              </a:rPr>
              <a:t>作数；</a:t>
            </a:r>
            <a:r>
              <a:rPr dirty="0" sz="2000" spc="-20" b="1">
                <a:solidFill>
                  <a:srgbClr val="9966FF"/>
                </a:solidFill>
                <a:latin typeface="宋体"/>
                <a:cs typeface="宋体"/>
              </a:rPr>
              <a:t>而</a:t>
            </a:r>
            <a:r>
              <a:rPr dirty="0" sz="2000" spc="-10" b="1">
                <a:solidFill>
                  <a:srgbClr val="9966FF"/>
                </a:solidFill>
                <a:latin typeface="宋体"/>
                <a:cs typeface="宋体"/>
              </a:rPr>
              <a:t>且：</a:t>
            </a:r>
            <a:r>
              <a:rPr dirty="0" sz="2000" spc="-20" b="1">
                <a:solidFill>
                  <a:srgbClr val="9966FF"/>
                </a:solidFill>
                <a:latin typeface="宋体"/>
                <a:cs typeface="宋体"/>
              </a:rPr>
              <a:t>其</a:t>
            </a:r>
            <a:r>
              <a:rPr dirty="0" sz="2000" spc="-10" b="1">
                <a:solidFill>
                  <a:srgbClr val="9966FF"/>
                </a:solidFill>
                <a:latin typeface="宋体"/>
                <a:cs typeface="宋体"/>
              </a:rPr>
              <a:t>中某个</a:t>
            </a:r>
            <a:r>
              <a:rPr dirty="0" sz="2000" spc="-20" b="1">
                <a:solidFill>
                  <a:srgbClr val="9966FF"/>
                </a:solidFill>
                <a:latin typeface="宋体"/>
                <a:cs typeface="宋体"/>
              </a:rPr>
              <a:t>源</a:t>
            </a:r>
            <a:r>
              <a:rPr dirty="0" sz="2000" spc="-10" b="1">
                <a:solidFill>
                  <a:srgbClr val="9966FF"/>
                </a:solidFill>
                <a:latin typeface="宋体"/>
                <a:cs typeface="宋体"/>
              </a:rPr>
              <a:t>操作</a:t>
            </a:r>
            <a:r>
              <a:rPr dirty="0" sz="2000" spc="-20" b="1">
                <a:solidFill>
                  <a:srgbClr val="9966FF"/>
                </a:solidFill>
                <a:latin typeface="宋体"/>
                <a:cs typeface="宋体"/>
              </a:rPr>
              <a:t>数</a:t>
            </a:r>
            <a:r>
              <a:rPr dirty="0" sz="2000" spc="-10" b="1">
                <a:solidFill>
                  <a:srgbClr val="9966FF"/>
                </a:solidFill>
                <a:latin typeface="宋体"/>
                <a:cs typeface="宋体"/>
              </a:rPr>
              <a:t>寄存</a:t>
            </a:r>
            <a:r>
              <a:rPr dirty="0" sz="2000" spc="-20" b="1">
                <a:solidFill>
                  <a:srgbClr val="9966FF"/>
                </a:solidFill>
                <a:latin typeface="宋体"/>
                <a:cs typeface="宋体"/>
              </a:rPr>
              <a:t>器</a:t>
            </a:r>
            <a:r>
              <a:rPr dirty="0" sz="2000" spc="-50" b="1">
                <a:solidFill>
                  <a:srgbClr val="9966FF"/>
                </a:solidFill>
                <a:latin typeface="宋体"/>
                <a:cs typeface="宋体"/>
              </a:rPr>
              <a:t>与</a:t>
            </a:r>
            <a:r>
              <a:rPr dirty="0" sz="2000" spc="-10" b="1">
                <a:solidFill>
                  <a:srgbClr val="9966FF"/>
                </a:solidFill>
                <a:latin typeface="宋体"/>
                <a:cs typeface="宋体"/>
              </a:rPr>
              <a:t>本指令的目的寄存器相同</a:t>
            </a:r>
            <a:r>
              <a:rPr dirty="0" sz="2000" spc="-50" b="1">
                <a:solidFill>
                  <a:srgbClr val="9966FF"/>
                </a:solidFill>
                <a:latin typeface="宋体"/>
                <a:cs typeface="宋体"/>
              </a:rPr>
              <a:t>。</a:t>
            </a:r>
            <a:endParaRPr sz="2000">
              <a:latin typeface="宋体"/>
              <a:cs typeface="宋体"/>
            </a:endParaRPr>
          </a:p>
          <a:p>
            <a:pPr>
              <a:lnSpc>
                <a:spcPct val="100000"/>
              </a:lnSpc>
              <a:spcBef>
                <a:spcPts val="2135"/>
              </a:spcBef>
            </a:pPr>
            <a:endParaRPr sz="2000">
              <a:latin typeface="宋体"/>
              <a:cs typeface="宋体"/>
            </a:endParaRPr>
          </a:p>
          <a:p>
            <a:pPr lvl="2" marL="1253490" indent="-204470">
              <a:lnSpc>
                <a:spcPct val="100000"/>
              </a:lnSpc>
              <a:buSzPct val="94444"/>
              <a:buFont typeface="Wingdings"/>
              <a:buChar char=""/>
              <a:tabLst>
                <a:tab pos="1253490" algn="l"/>
              </a:tabLst>
            </a:pPr>
            <a:r>
              <a:rPr dirty="0" sz="1800">
                <a:solidFill>
                  <a:srgbClr val="FF0000"/>
                </a:solidFill>
                <a:latin typeface="黑体"/>
                <a:cs typeface="黑体"/>
              </a:rPr>
              <a:t>在这种情况下，记分牌必须等待，直到该冲突消失</a:t>
            </a:r>
            <a:r>
              <a:rPr dirty="0" sz="1800" spc="-50">
                <a:solidFill>
                  <a:srgbClr val="40458B"/>
                </a:solidFill>
                <a:latin typeface="黑体"/>
                <a:cs typeface="黑体"/>
              </a:rPr>
              <a:t>。</a:t>
            </a:r>
            <a:endParaRPr sz="1800">
              <a:latin typeface="黑体"/>
              <a:cs typeface="黑体"/>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37/175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330200" y="1121264"/>
            <a:ext cx="10916920" cy="3699510"/>
          </a:xfrm>
          <a:prstGeom prst="rect">
            <a:avLst/>
          </a:prstGeom>
        </p:spPr>
        <p:txBody>
          <a:bodyPr wrap="square" lIns="0" tIns="168275" rIns="0" bIns="0" rtlCol="0" vert="horz">
            <a:spAutoFit/>
          </a:bodyPr>
          <a:lstStyle/>
          <a:p>
            <a:pPr marL="733425" indent="-720725">
              <a:lnSpc>
                <a:spcPct val="100000"/>
              </a:lnSpc>
              <a:spcBef>
                <a:spcPts val="1325"/>
              </a:spcBef>
              <a:buSzPct val="89583"/>
              <a:buFont typeface="Wingdings"/>
              <a:buChar char=""/>
              <a:tabLst>
                <a:tab pos="733425" algn="l"/>
              </a:tabLst>
            </a:pPr>
            <a:r>
              <a:rPr dirty="0" sz="2400" spc="-5">
                <a:solidFill>
                  <a:srgbClr val="40458B"/>
                </a:solidFill>
                <a:latin typeface="黑体"/>
                <a:cs typeface="黑体"/>
              </a:rPr>
              <a:t>记分牌中记录的信息由</a:t>
            </a:r>
            <a:r>
              <a:rPr dirty="0" sz="2400">
                <a:solidFill>
                  <a:srgbClr val="9933FF"/>
                </a:solidFill>
                <a:latin typeface="Times New Roman"/>
                <a:cs typeface="Times New Roman"/>
              </a:rPr>
              <a:t>3</a:t>
            </a:r>
            <a:r>
              <a:rPr dirty="0" sz="2400" spc="-15">
                <a:solidFill>
                  <a:srgbClr val="40458B"/>
                </a:solidFill>
                <a:latin typeface="黑体"/>
                <a:cs typeface="黑体"/>
              </a:rPr>
              <a:t>部分构成</a:t>
            </a:r>
            <a:endParaRPr sz="2400">
              <a:latin typeface="黑体"/>
              <a:cs typeface="黑体"/>
            </a:endParaRPr>
          </a:p>
          <a:p>
            <a:pPr lvl="1" marL="804545" indent="-456565">
              <a:lnSpc>
                <a:spcPct val="100000"/>
              </a:lnSpc>
              <a:spcBef>
                <a:spcPts val="1025"/>
              </a:spcBef>
              <a:buClr>
                <a:srgbClr val="4668F5"/>
              </a:buClr>
              <a:buSzPct val="70000"/>
              <a:buFont typeface="Wingdings"/>
              <a:buChar char=""/>
              <a:tabLst>
                <a:tab pos="804545" algn="l"/>
              </a:tabLst>
            </a:pPr>
            <a:r>
              <a:rPr dirty="0" sz="2000" spc="-25" b="1">
                <a:solidFill>
                  <a:srgbClr val="9966FF"/>
                </a:solidFill>
                <a:latin typeface="宋体"/>
                <a:cs typeface="宋体"/>
              </a:rPr>
              <a:t>指令状态表：记录正在执行的各条指令已经进入到了哪一段。</a:t>
            </a:r>
            <a:endParaRPr sz="2000">
              <a:latin typeface="宋体"/>
              <a:cs typeface="宋体"/>
            </a:endParaRPr>
          </a:p>
          <a:p>
            <a:pPr lvl="1" marL="805180" marR="5080" indent="-457200">
              <a:lnSpc>
                <a:spcPct val="120000"/>
              </a:lnSpc>
              <a:spcBef>
                <a:spcPts val="480"/>
              </a:spcBef>
              <a:buClr>
                <a:srgbClr val="4668F5"/>
              </a:buClr>
              <a:buSzPct val="70000"/>
              <a:buFont typeface="Wingdings"/>
              <a:buChar char=""/>
              <a:tabLst>
                <a:tab pos="805180" algn="l"/>
              </a:tabLst>
            </a:pPr>
            <a:r>
              <a:rPr dirty="0" sz="2000" spc="-25" b="1">
                <a:solidFill>
                  <a:srgbClr val="9966FF"/>
                </a:solidFill>
                <a:latin typeface="宋体"/>
                <a:cs typeface="宋体"/>
              </a:rPr>
              <a:t>功能部件状态表：记录各个功能部件的状态。每个功能部件有一项，每一项由以下</a:t>
            </a:r>
            <a:r>
              <a:rPr dirty="0" sz="2000" spc="-10" b="1">
                <a:solidFill>
                  <a:srgbClr val="9933FF"/>
                </a:solidFill>
                <a:latin typeface="Times New Roman"/>
                <a:cs typeface="Times New Roman"/>
              </a:rPr>
              <a:t>9</a:t>
            </a:r>
            <a:r>
              <a:rPr dirty="0" sz="2000" spc="-30" b="1">
                <a:solidFill>
                  <a:srgbClr val="9966FF"/>
                </a:solidFill>
                <a:latin typeface="宋体"/>
                <a:cs typeface="宋体"/>
              </a:rPr>
              <a:t>个字段</a:t>
            </a:r>
            <a:r>
              <a:rPr dirty="0" sz="2000" spc="-25" b="1">
                <a:solidFill>
                  <a:srgbClr val="9966FF"/>
                </a:solidFill>
                <a:latin typeface="宋体"/>
                <a:cs typeface="宋体"/>
              </a:rPr>
              <a:t>组成：</a:t>
            </a:r>
            <a:endParaRPr sz="2000">
              <a:latin typeface="宋体"/>
              <a:cs typeface="宋体"/>
            </a:endParaRPr>
          </a:p>
          <a:p>
            <a:pPr lvl="2" marL="1092835" indent="-381000">
              <a:lnSpc>
                <a:spcPct val="100000"/>
              </a:lnSpc>
              <a:spcBef>
                <a:spcPts val="894"/>
              </a:spcBef>
              <a:buClr>
                <a:srgbClr val="9966FF"/>
              </a:buClr>
              <a:buSzPct val="63888"/>
              <a:buFont typeface="Wingdings"/>
              <a:buChar char=""/>
              <a:tabLst>
                <a:tab pos="1092835" algn="l"/>
              </a:tabLst>
            </a:pPr>
            <a:r>
              <a:rPr dirty="0" sz="1800" spc="-10" b="1">
                <a:solidFill>
                  <a:srgbClr val="D50092"/>
                </a:solidFill>
                <a:latin typeface="Times New Roman"/>
                <a:cs typeface="Times New Roman"/>
              </a:rPr>
              <a:t>Busy</a:t>
            </a:r>
            <a:r>
              <a:rPr dirty="0" sz="1800" spc="-20" b="1">
                <a:solidFill>
                  <a:srgbClr val="FF09FF"/>
                </a:solidFill>
                <a:latin typeface="宋体"/>
                <a:cs typeface="宋体"/>
              </a:rPr>
              <a:t>：忙标志，指出功能部件是否忙。初值为“</a:t>
            </a:r>
            <a:r>
              <a:rPr dirty="0" sz="1800" spc="-10" b="1">
                <a:solidFill>
                  <a:srgbClr val="FF09FF"/>
                </a:solidFill>
                <a:latin typeface="Times New Roman"/>
                <a:cs typeface="Times New Roman"/>
              </a:rPr>
              <a:t>no”</a:t>
            </a:r>
            <a:r>
              <a:rPr dirty="0" sz="1800" spc="-10" b="1">
                <a:solidFill>
                  <a:srgbClr val="FF09FF"/>
                </a:solidFill>
                <a:latin typeface="宋体"/>
                <a:cs typeface="宋体"/>
              </a:rPr>
              <a:t>；</a:t>
            </a:r>
            <a:endParaRPr sz="1800">
              <a:latin typeface="宋体"/>
              <a:cs typeface="宋体"/>
            </a:endParaRPr>
          </a:p>
          <a:p>
            <a:pPr lvl="2" marL="1092835" indent="-381000">
              <a:lnSpc>
                <a:spcPct val="100000"/>
              </a:lnSpc>
              <a:spcBef>
                <a:spcPts val="870"/>
              </a:spcBef>
              <a:buClr>
                <a:srgbClr val="9966FF"/>
              </a:buClr>
              <a:buSzPct val="63888"/>
              <a:buFont typeface="Wingdings"/>
              <a:buChar char=""/>
              <a:tabLst>
                <a:tab pos="1092835" algn="l"/>
              </a:tabLst>
            </a:pPr>
            <a:r>
              <a:rPr dirty="0" sz="1800" spc="-10" b="1">
                <a:solidFill>
                  <a:srgbClr val="D50092"/>
                </a:solidFill>
                <a:latin typeface="Times New Roman"/>
                <a:cs typeface="Times New Roman"/>
              </a:rPr>
              <a:t>Op</a:t>
            </a:r>
            <a:r>
              <a:rPr dirty="0" sz="1800" spc="-15" b="1">
                <a:solidFill>
                  <a:srgbClr val="FF09FF"/>
                </a:solidFill>
                <a:latin typeface="宋体"/>
                <a:cs typeface="宋体"/>
              </a:rPr>
              <a:t>：该功能部件正在执行或将要执行的操作；</a:t>
            </a:r>
            <a:endParaRPr sz="1800">
              <a:latin typeface="宋体"/>
              <a:cs typeface="宋体"/>
            </a:endParaRPr>
          </a:p>
          <a:p>
            <a:pPr lvl="2" marL="1092835" indent="-381000">
              <a:lnSpc>
                <a:spcPct val="100000"/>
              </a:lnSpc>
              <a:spcBef>
                <a:spcPts val="860"/>
              </a:spcBef>
              <a:buClr>
                <a:srgbClr val="9966FF"/>
              </a:buClr>
              <a:buSzPct val="63888"/>
              <a:buFont typeface="Wingdings"/>
              <a:buChar char=""/>
              <a:tabLst>
                <a:tab pos="1092835" algn="l"/>
              </a:tabLst>
            </a:pPr>
            <a:r>
              <a:rPr dirty="0" sz="1800" spc="-10" b="1">
                <a:solidFill>
                  <a:srgbClr val="D50092"/>
                </a:solidFill>
                <a:latin typeface="Times New Roman"/>
                <a:cs typeface="Times New Roman"/>
              </a:rPr>
              <a:t>Fi</a:t>
            </a:r>
            <a:r>
              <a:rPr dirty="0" sz="1800" spc="-15" b="1">
                <a:solidFill>
                  <a:srgbClr val="FF09FF"/>
                </a:solidFill>
                <a:latin typeface="宋体"/>
                <a:cs typeface="宋体"/>
              </a:rPr>
              <a:t>：目的寄存器编号；</a:t>
            </a:r>
            <a:endParaRPr sz="1800">
              <a:latin typeface="宋体"/>
              <a:cs typeface="宋体"/>
            </a:endParaRPr>
          </a:p>
          <a:p>
            <a:pPr lvl="2" marL="1092835" indent="-381000">
              <a:lnSpc>
                <a:spcPct val="100000"/>
              </a:lnSpc>
              <a:spcBef>
                <a:spcPts val="865"/>
              </a:spcBef>
              <a:buClr>
                <a:srgbClr val="9966FF"/>
              </a:buClr>
              <a:buSzPct val="63888"/>
              <a:buFont typeface="Wingdings"/>
              <a:buChar char=""/>
              <a:tabLst>
                <a:tab pos="1092835" algn="l"/>
              </a:tabLst>
            </a:pPr>
            <a:r>
              <a:rPr dirty="0" sz="1800" spc="-10" b="1">
                <a:solidFill>
                  <a:srgbClr val="D50092"/>
                </a:solidFill>
                <a:latin typeface="Times New Roman"/>
                <a:cs typeface="Times New Roman"/>
              </a:rPr>
              <a:t>Fj</a:t>
            </a:r>
            <a:r>
              <a:rPr dirty="0" sz="1800" spc="-10" b="1">
                <a:solidFill>
                  <a:srgbClr val="D50092"/>
                </a:solidFill>
                <a:latin typeface="宋体"/>
                <a:cs typeface="宋体"/>
              </a:rPr>
              <a:t>，</a:t>
            </a:r>
            <a:r>
              <a:rPr dirty="0" sz="1800" spc="-10" b="1">
                <a:solidFill>
                  <a:srgbClr val="D50092"/>
                </a:solidFill>
                <a:latin typeface="Times New Roman"/>
                <a:cs typeface="Times New Roman"/>
              </a:rPr>
              <a:t>Fk</a:t>
            </a:r>
            <a:r>
              <a:rPr dirty="0" sz="1800" spc="-20" b="1">
                <a:solidFill>
                  <a:srgbClr val="FF09FF"/>
                </a:solidFill>
                <a:latin typeface="宋体"/>
                <a:cs typeface="宋体"/>
              </a:rPr>
              <a:t>：源寄存器编号；</a:t>
            </a:r>
            <a:endParaRPr sz="1800">
              <a:latin typeface="宋体"/>
              <a:cs typeface="宋体"/>
            </a:endParaRPr>
          </a:p>
          <a:p>
            <a:pPr lvl="2" marL="1092835" indent="-381000">
              <a:lnSpc>
                <a:spcPct val="100000"/>
              </a:lnSpc>
              <a:spcBef>
                <a:spcPts val="870"/>
              </a:spcBef>
              <a:buClr>
                <a:srgbClr val="9966FF"/>
              </a:buClr>
              <a:buSzPct val="63888"/>
              <a:buFont typeface="Wingdings"/>
              <a:buChar char=""/>
              <a:tabLst>
                <a:tab pos="1092835" algn="l"/>
              </a:tabLst>
            </a:pPr>
            <a:r>
              <a:rPr dirty="0" sz="1800" spc="-10" b="1">
                <a:solidFill>
                  <a:srgbClr val="D50092"/>
                </a:solidFill>
                <a:latin typeface="Times New Roman"/>
                <a:cs typeface="Times New Roman"/>
              </a:rPr>
              <a:t>Qj</a:t>
            </a:r>
            <a:r>
              <a:rPr dirty="0" sz="1800" spc="-10" b="1">
                <a:solidFill>
                  <a:srgbClr val="D50092"/>
                </a:solidFill>
                <a:latin typeface="宋体"/>
                <a:cs typeface="宋体"/>
              </a:rPr>
              <a:t>，</a:t>
            </a:r>
            <a:r>
              <a:rPr dirty="0" sz="1800" spc="-10" b="1">
                <a:solidFill>
                  <a:srgbClr val="D50092"/>
                </a:solidFill>
                <a:latin typeface="Times New Roman"/>
                <a:cs typeface="Times New Roman"/>
              </a:rPr>
              <a:t>Qk</a:t>
            </a:r>
            <a:r>
              <a:rPr dirty="0" sz="1800" spc="-10" b="1">
                <a:solidFill>
                  <a:srgbClr val="FF09FF"/>
                </a:solidFill>
                <a:latin typeface="宋体"/>
                <a:cs typeface="宋体"/>
              </a:rPr>
              <a:t>：指出向源寄存器</a:t>
            </a:r>
            <a:r>
              <a:rPr dirty="0" sz="1800" spc="-10" b="1">
                <a:solidFill>
                  <a:srgbClr val="FF09FF"/>
                </a:solidFill>
                <a:latin typeface="Times New Roman"/>
                <a:cs typeface="Times New Roman"/>
              </a:rPr>
              <a:t>Fj</a:t>
            </a:r>
            <a:r>
              <a:rPr dirty="0" sz="1800" spc="-10" b="1">
                <a:solidFill>
                  <a:srgbClr val="FF09FF"/>
                </a:solidFill>
                <a:latin typeface="宋体"/>
                <a:cs typeface="宋体"/>
              </a:rPr>
              <a:t>、</a:t>
            </a:r>
            <a:r>
              <a:rPr dirty="0" sz="1800" spc="-10" b="1">
                <a:solidFill>
                  <a:srgbClr val="FF09FF"/>
                </a:solidFill>
                <a:latin typeface="Times New Roman"/>
                <a:cs typeface="Times New Roman"/>
              </a:rPr>
              <a:t>Fk</a:t>
            </a:r>
            <a:r>
              <a:rPr dirty="0" sz="1800" spc="-55" b="1">
                <a:solidFill>
                  <a:srgbClr val="FF09FF"/>
                </a:solidFill>
                <a:latin typeface="宋体"/>
                <a:cs typeface="宋体"/>
              </a:rPr>
              <a:t>写数据的功能部件 ；</a:t>
            </a:r>
            <a:endParaRPr sz="1800">
              <a:latin typeface="宋体"/>
              <a:cs typeface="宋体"/>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38/175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97916" y="854609"/>
            <a:ext cx="11984355" cy="3490595"/>
          </a:xfrm>
          <a:prstGeom prst="rect">
            <a:avLst/>
          </a:prstGeom>
        </p:spPr>
        <p:txBody>
          <a:bodyPr wrap="square" lIns="0" tIns="117475" rIns="0" bIns="0" rtlCol="0" vert="horz">
            <a:spAutoFit/>
          </a:bodyPr>
          <a:lstStyle/>
          <a:p>
            <a:pPr marL="1344295" indent="-381000">
              <a:lnSpc>
                <a:spcPct val="100000"/>
              </a:lnSpc>
              <a:spcBef>
                <a:spcPts val="925"/>
              </a:spcBef>
              <a:buClr>
                <a:srgbClr val="9966FF"/>
              </a:buClr>
              <a:buSzPct val="63888"/>
              <a:buFont typeface="Wingdings"/>
              <a:buChar char=""/>
              <a:tabLst>
                <a:tab pos="1344295" algn="l"/>
              </a:tabLst>
            </a:pPr>
            <a:r>
              <a:rPr dirty="0" sz="1800" spc="-10" b="1">
                <a:solidFill>
                  <a:srgbClr val="D50092"/>
                </a:solidFill>
                <a:latin typeface="Times New Roman"/>
                <a:cs typeface="Times New Roman"/>
              </a:rPr>
              <a:t>Rj</a:t>
            </a:r>
            <a:r>
              <a:rPr dirty="0" sz="1800" spc="-10" b="1">
                <a:solidFill>
                  <a:srgbClr val="D50092"/>
                </a:solidFill>
                <a:latin typeface="宋体"/>
                <a:cs typeface="宋体"/>
              </a:rPr>
              <a:t>，</a:t>
            </a:r>
            <a:r>
              <a:rPr dirty="0" sz="1800" spc="-10" b="1">
                <a:solidFill>
                  <a:srgbClr val="D50092"/>
                </a:solidFill>
                <a:latin typeface="Times New Roman"/>
                <a:cs typeface="Times New Roman"/>
              </a:rPr>
              <a:t>Rk</a:t>
            </a:r>
            <a:r>
              <a:rPr dirty="0" sz="1800" spc="-10" b="1">
                <a:solidFill>
                  <a:srgbClr val="FF09FF"/>
                </a:solidFill>
                <a:latin typeface="宋体"/>
                <a:cs typeface="宋体"/>
              </a:rPr>
              <a:t>：标志位，为“</a:t>
            </a:r>
            <a:r>
              <a:rPr dirty="0" sz="1800" spc="-10" b="1">
                <a:solidFill>
                  <a:srgbClr val="FF09FF"/>
                </a:solidFill>
                <a:latin typeface="Times New Roman"/>
                <a:cs typeface="Times New Roman"/>
              </a:rPr>
              <a:t>yes”</a:t>
            </a:r>
            <a:r>
              <a:rPr dirty="0" sz="1800" spc="-10" b="1">
                <a:solidFill>
                  <a:srgbClr val="FF09FF"/>
                </a:solidFill>
                <a:latin typeface="宋体"/>
                <a:cs typeface="宋体"/>
              </a:rPr>
              <a:t>表示</a:t>
            </a:r>
            <a:r>
              <a:rPr dirty="0" sz="1800" spc="-10" b="1">
                <a:solidFill>
                  <a:srgbClr val="FF09FF"/>
                </a:solidFill>
                <a:latin typeface="Times New Roman"/>
                <a:cs typeface="Times New Roman"/>
              </a:rPr>
              <a:t>Fj</a:t>
            </a:r>
            <a:r>
              <a:rPr dirty="0" sz="1800" spc="-10" b="1">
                <a:solidFill>
                  <a:srgbClr val="FF09FF"/>
                </a:solidFill>
                <a:latin typeface="宋体"/>
                <a:cs typeface="宋体"/>
              </a:rPr>
              <a:t>，</a:t>
            </a:r>
            <a:r>
              <a:rPr dirty="0" sz="1800" spc="-10" b="1">
                <a:solidFill>
                  <a:srgbClr val="FF09FF"/>
                </a:solidFill>
                <a:latin typeface="Times New Roman"/>
                <a:cs typeface="Times New Roman"/>
              </a:rPr>
              <a:t>Fk</a:t>
            </a:r>
            <a:r>
              <a:rPr dirty="0" sz="1800" spc="-10" b="1">
                <a:solidFill>
                  <a:srgbClr val="FF09FF"/>
                </a:solidFill>
                <a:latin typeface="宋体"/>
                <a:cs typeface="宋体"/>
              </a:rPr>
              <a:t>中的操作数就绪且还未被取走。否则就被置为“</a:t>
            </a:r>
            <a:r>
              <a:rPr dirty="0" sz="1800" spc="-10" b="1">
                <a:solidFill>
                  <a:srgbClr val="FF09FF"/>
                </a:solidFill>
                <a:latin typeface="Times New Roman"/>
                <a:cs typeface="Times New Roman"/>
              </a:rPr>
              <a:t>no”</a:t>
            </a:r>
            <a:r>
              <a:rPr dirty="0" sz="1800" spc="-50" b="1">
                <a:solidFill>
                  <a:srgbClr val="FF09FF"/>
                </a:solidFill>
                <a:latin typeface="宋体"/>
                <a:cs typeface="宋体"/>
              </a:rPr>
              <a:t>。</a:t>
            </a:r>
            <a:endParaRPr sz="1800">
              <a:latin typeface="宋体"/>
              <a:cs typeface="宋体"/>
            </a:endParaRPr>
          </a:p>
          <a:p>
            <a:pPr marL="1056005" indent="-456565">
              <a:lnSpc>
                <a:spcPct val="100000"/>
              </a:lnSpc>
              <a:spcBef>
                <a:spcPts val="930"/>
              </a:spcBef>
              <a:buClr>
                <a:srgbClr val="4668F5"/>
              </a:buClr>
              <a:buSzPct val="70000"/>
              <a:buFont typeface="Wingdings"/>
              <a:buChar char=""/>
              <a:tabLst>
                <a:tab pos="1056005" algn="l"/>
              </a:tabLst>
            </a:pPr>
            <a:r>
              <a:rPr dirty="0" sz="2000" spc="-15" b="1">
                <a:solidFill>
                  <a:srgbClr val="9966FF"/>
                </a:solidFill>
                <a:latin typeface="宋体"/>
                <a:cs typeface="宋体"/>
              </a:rPr>
              <a:t>结果寄存器状态表</a:t>
            </a:r>
            <a:r>
              <a:rPr dirty="0" sz="2000" spc="-10" b="1">
                <a:solidFill>
                  <a:srgbClr val="9966FF"/>
                </a:solidFill>
                <a:latin typeface="Times New Roman"/>
                <a:cs typeface="Times New Roman"/>
              </a:rPr>
              <a:t>Result</a:t>
            </a:r>
            <a:r>
              <a:rPr dirty="0" sz="2000" spc="-20" b="1">
                <a:solidFill>
                  <a:srgbClr val="9966FF"/>
                </a:solidFill>
                <a:latin typeface="宋体"/>
                <a:cs typeface="宋体"/>
              </a:rPr>
              <a:t>：每个寄存器在该表中有一项，用于指出哪个功能部件</a:t>
            </a:r>
            <a:r>
              <a:rPr dirty="0" sz="2000" spc="-15" b="1">
                <a:solidFill>
                  <a:srgbClr val="9966FF"/>
                </a:solidFill>
                <a:latin typeface="宋体"/>
                <a:cs typeface="宋体"/>
              </a:rPr>
              <a:t>（</a:t>
            </a:r>
            <a:r>
              <a:rPr dirty="0" sz="2000" spc="-20" b="1">
                <a:solidFill>
                  <a:srgbClr val="9966FF"/>
                </a:solidFill>
                <a:latin typeface="宋体"/>
                <a:cs typeface="宋体"/>
              </a:rPr>
              <a:t>编号</a:t>
            </a:r>
            <a:r>
              <a:rPr dirty="0" sz="2000" spc="-15" b="1">
                <a:solidFill>
                  <a:srgbClr val="9966FF"/>
                </a:solidFill>
                <a:latin typeface="宋体"/>
                <a:cs typeface="宋体"/>
              </a:rPr>
              <a:t>）</a:t>
            </a:r>
            <a:r>
              <a:rPr dirty="0" sz="2000" spc="-30" b="1">
                <a:solidFill>
                  <a:srgbClr val="9966FF"/>
                </a:solidFill>
                <a:latin typeface="宋体"/>
                <a:cs typeface="宋体"/>
              </a:rPr>
              <a:t>将把结果</a:t>
            </a:r>
            <a:endParaRPr sz="2000">
              <a:latin typeface="宋体"/>
              <a:cs typeface="宋体"/>
            </a:endParaRPr>
          </a:p>
          <a:p>
            <a:pPr marL="1056640">
              <a:lnSpc>
                <a:spcPct val="100000"/>
              </a:lnSpc>
              <a:spcBef>
                <a:spcPts val="480"/>
              </a:spcBef>
            </a:pPr>
            <a:r>
              <a:rPr dirty="0" sz="2000" spc="-20" b="1">
                <a:solidFill>
                  <a:srgbClr val="9966FF"/>
                </a:solidFill>
                <a:latin typeface="宋体"/>
                <a:cs typeface="宋体"/>
              </a:rPr>
              <a:t>写入该寄存器。</a:t>
            </a:r>
            <a:endParaRPr sz="2000">
              <a:latin typeface="宋体"/>
              <a:cs typeface="宋体"/>
            </a:endParaRPr>
          </a:p>
          <a:p>
            <a:pPr lvl="1" marL="1344295" indent="-381000">
              <a:lnSpc>
                <a:spcPct val="100000"/>
              </a:lnSpc>
              <a:spcBef>
                <a:spcPts val="894"/>
              </a:spcBef>
              <a:buClr>
                <a:srgbClr val="9966FF"/>
              </a:buClr>
              <a:buSzPct val="63888"/>
              <a:buFont typeface="Wingdings"/>
              <a:buChar char=""/>
              <a:tabLst>
                <a:tab pos="1344295" algn="l"/>
              </a:tabLst>
            </a:pPr>
            <a:r>
              <a:rPr dirty="0" sz="1800" spc="-10" b="1">
                <a:solidFill>
                  <a:srgbClr val="FF09FF"/>
                </a:solidFill>
                <a:latin typeface="宋体"/>
                <a:cs typeface="宋体"/>
              </a:rPr>
              <a:t>如果当前正在运行的指令都不以它为目的寄存器，则其相应项置为“</a:t>
            </a:r>
            <a:r>
              <a:rPr dirty="0" sz="1800" spc="-10" b="1">
                <a:solidFill>
                  <a:srgbClr val="FF09FF"/>
                </a:solidFill>
                <a:latin typeface="Times New Roman"/>
                <a:cs typeface="Times New Roman"/>
              </a:rPr>
              <a:t>no”</a:t>
            </a:r>
            <a:r>
              <a:rPr dirty="0" sz="1800" spc="-50" b="1">
                <a:solidFill>
                  <a:srgbClr val="FF09FF"/>
                </a:solidFill>
                <a:latin typeface="宋体"/>
                <a:cs typeface="宋体"/>
              </a:rPr>
              <a:t>。</a:t>
            </a:r>
            <a:endParaRPr sz="1800">
              <a:latin typeface="宋体"/>
              <a:cs typeface="宋体"/>
            </a:endParaRPr>
          </a:p>
          <a:p>
            <a:pPr lvl="1" marL="1344295" indent="-381000">
              <a:lnSpc>
                <a:spcPct val="100000"/>
              </a:lnSpc>
              <a:spcBef>
                <a:spcPts val="865"/>
              </a:spcBef>
              <a:buClr>
                <a:srgbClr val="9966FF"/>
              </a:buClr>
              <a:buSzPct val="63888"/>
              <a:buFont typeface="Wingdings"/>
              <a:buChar char=""/>
              <a:tabLst>
                <a:tab pos="1344295" algn="l"/>
              </a:tabLst>
            </a:pPr>
            <a:r>
              <a:rPr dirty="0" sz="1800" spc="-10" b="1">
                <a:solidFill>
                  <a:srgbClr val="FF09FF"/>
                </a:solidFill>
                <a:latin typeface="Times New Roman"/>
                <a:cs typeface="Times New Roman"/>
              </a:rPr>
              <a:t>Result</a:t>
            </a:r>
            <a:r>
              <a:rPr dirty="0" sz="1800" spc="-10" b="1">
                <a:solidFill>
                  <a:srgbClr val="FF09FF"/>
                </a:solidFill>
                <a:latin typeface="宋体"/>
                <a:cs typeface="宋体"/>
              </a:rPr>
              <a:t>各项的初值为“</a:t>
            </a:r>
            <a:r>
              <a:rPr dirty="0" sz="1800" spc="-10" b="1">
                <a:solidFill>
                  <a:srgbClr val="FF09FF"/>
                </a:solidFill>
                <a:latin typeface="Times New Roman"/>
                <a:cs typeface="Times New Roman"/>
              </a:rPr>
              <a:t>no”</a:t>
            </a:r>
            <a:r>
              <a:rPr dirty="0" sz="1800" spc="-10" b="1">
                <a:solidFill>
                  <a:srgbClr val="FF09FF"/>
                </a:solidFill>
                <a:latin typeface="宋体"/>
                <a:cs typeface="宋体"/>
              </a:rPr>
              <a:t>（全</a:t>
            </a:r>
            <a:r>
              <a:rPr dirty="0" sz="1800" spc="-10" b="1">
                <a:solidFill>
                  <a:srgbClr val="FF09FF"/>
                </a:solidFill>
                <a:latin typeface="Times New Roman"/>
                <a:cs typeface="Times New Roman"/>
              </a:rPr>
              <a:t>0</a:t>
            </a:r>
            <a:r>
              <a:rPr dirty="0" sz="1800" spc="-10" b="1">
                <a:solidFill>
                  <a:srgbClr val="FF09FF"/>
                </a:solidFill>
                <a:latin typeface="宋体"/>
                <a:cs typeface="宋体"/>
              </a:rPr>
              <a:t>）</a:t>
            </a:r>
            <a:r>
              <a:rPr dirty="0" sz="1800" spc="-50" b="1">
                <a:solidFill>
                  <a:srgbClr val="FF09FF"/>
                </a:solidFill>
                <a:latin typeface="宋体"/>
                <a:cs typeface="宋体"/>
              </a:rPr>
              <a:t>。</a:t>
            </a:r>
            <a:endParaRPr sz="1800">
              <a:latin typeface="宋体"/>
              <a:cs typeface="宋体"/>
            </a:endParaRPr>
          </a:p>
          <a:p>
            <a:pPr marL="469265" indent="-456565">
              <a:lnSpc>
                <a:spcPct val="100000"/>
              </a:lnSpc>
              <a:spcBef>
                <a:spcPts val="1060"/>
              </a:spcBef>
              <a:buClr>
                <a:srgbClr val="40458B"/>
              </a:buClr>
              <a:buFont typeface="Tahoma"/>
              <a:buAutoNum type="arabicPeriod" startAt="2"/>
              <a:tabLst>
                <a:tab pos="469265" algn="l"/>
              </a:tabLst>
            </a:pPr>
            <a:r>
              <a:rPr dirty="0" sz="2400" spc="-25">
                <a:solidFill>
                  <a:srgbClr val="001F5F"/>
                </a:solidFill>
                <a:latin typeface="黑体"/>
                <a:cs typeface="黑体"/>
              </a:rPr>
              <a:t>举例</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25">
                <a:solidFill>
                  <a:srgbClr val="40458B"/>
                </a:solidFill>
                <a:latin typeface="Tahoma"/>
                <a:cs typeface="Tahoma"/>
              </a:rPr>
              <a:t>MIPS</a:t>
            </a:r>
            <a:r>
              <a:rPr dirty="0" sz="2400" spc="-5">
                <a:solidFill>
                  <a:srgbClr val="40458B"/>
                </a:solidFill>
                <a:latin typeface="黑体"/>
                <a:cs typeface="黑体"/>
              </a:rPr>
              <a:t>记分牌所要维护的数据结构</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15">
                <a:solidFill>
                  <a:srgbClr val="40458B"/>
                </a:solidFill>
                <a:latin typeface="黑体"/>
                <a:cs typeface="黑体"/>
              </a:rPr>
              <a:t>下列代码运行过程中记分牌保存的信息</a:t>
            </a:r>
            <a:endParaRPr sz="2400">
              <a:latin typeface="黑体"/>
              <a:cs typeface="黑体"/>
            </a:endParaRPr>
          </a:p>
        </p:txBody>
      </p:sp>
      <p:graphicFrame>
        <p:nvGraphicFramePr>
          <p:cNvPr id="11" name="object 11" descr=""/>
          <p:cNvGraphicFramePr>
            <a:graphicFrameLocks noGrp="1"/>
          </p:cNvGraphicFramePr>
          <p:nvPr/>
        </p:nvGraphicFramePr>
        <p:xfrm>
          <a:off x="7711440" y="3243810"/>
          <a:ext cx="2985770" cy="1534160"/>
        </p:xfrm>
        <a:graphic>
          <a:graphicData uri="http://schemas.openxmlformats.org/drawingml/2006/table">
            <a:tbl>
              <a:tblPr firstRow="1" bandRow="1">
                <a:tableStyleId>{2D5ABB26-0587-4C30-8999-92F81FD0307C}</a:tableStyleId>
              </a:tblPr>
              <a:tblGrid>
                <a:gridCol w="1189355"/>
                <a:gridCol w="842009"/>
                <a:gridCol w="877569"/>
              </a:tblGrid>
              <a:tr h="340360">
                <a:tc>
                  <a:txBody>
                    <a:bodyPr/>
                    <a:lstStyle/>
                    <a:p>
                      <a:pPr marL="31750">
                        <a:lnSpc>
                          <a:spcPts val="2120"/>
                        </a:lnSpc>
                      </a:pPr>
                      <a:r>
                        <a:rPr dirty="0" sz="2000" spc="-25" b="1">
                          <a:solidFill>
                            <a:srgbClr val="40458B"/>
                          </a:solidFill>
                          <a:latin typeface="宋体"/>
                          <a:cs typeface="宋体"/>
                        </a:rPr>
                        <a:t>L.D</a:t>
                      </a:r>
                      <a:endParaRPr sz="2000">
                        <a:latin typeface="宋体"/>
                        <a:cs typeface="宋体"/>
                      </a:endParaRPr>
                    </a:p>
                  </a:txBody>
                  <a:tcPr marL="0" marR="0" marB="0" marT="0"/>
                </a:tc>
                <a:tc>
                  <a:txBody>
                    <a:bodyPr/>
                    <a:lstStyle/>
                    <a:p>
                      <a:pPr algn="r" marR="46990">
                        <a:lnSpc>
                          <a:spcPts val="2120"/>
                        </a:lnSpc>
                      </a:pPr>
                      <a:r>
                        <a:rPr dirty="0" sz="2000" spc="-25" b="1">
                          <a:solidFill>
                            <a:srgbClr val="40458B"/>
                          </a:solidFill>
                          <a:latin typeface="宋体"/>
                          <a:cs typeface="宋体"/>
                        </a:rPr>
                        <a:t>F6,</a:t>
                      </a:r>
                      <a:endParaRPr sz="2000">
                        <a:latin typeface="宋体"/>
                        <a:cs typeface="宋体"/>
                      </a:endParaRPr>
                    </a:p>
                  </a:txBody>
                  <a:tcPr marL="0" marR="0" marB="0" marT="0"/>
                </a:tc>
                <a:tc>
                  <a:txBody>
                    <a:bodyPr/>
                    <a:lstStyle/>
                    <a:p>
                      <a:pPr algn="ctr" marL="40005">
                        <a:lnSpc>
                          <a:spcPts val="2120"/>
                        </a:lnSpc>
                      </a:pPr>
                      <a:r>
                        <a:rPr dirty="0" sz="2000" spc="-10" b="1">
                          <a:solidFill>
                            <a:srgbClr val="40458B"/>
                          </a:solidFill>
                          <a:latin typeface="宋体"/>
                          <a:cs typeface="宋体"/>
                        </a:rPr>
                        <a:t>34(R2)</a:t>
                      </a:r>
                      <a:endParaRPr sz="2000">
                        <a:latin typeface="宋体"/>
                        <a:cs typeface="宋体"/>
                      </a:endParaRPr>
                    </a:p>
                  </a:txBody>
                  <a:tcPr marL="0" marR="0" marB="0" marT="0"/>
                </a:tc>
              </a:tr>
              <a:tr h="426720">
                <a:tc>
                  <a:txBody>
                    <a:bodyPr/>
                    <a:lstStyle/>
                    <a:p>
                      <a:pPr marL="31750">
                        <a:lnSpc>
                          <a:spcPct val="100000"/>
                        </a:lnSpc>
                        <a:spcBef>
                          <a:spcPts val="400"/>
                        </a:spcBef>
                      </a:pPr>
                      <a:r>
                        <a:rPr dirty="0" sz="2000" spc="-25" b="1">
                          <a:solidFill>
                            <a:srgbClr val="40458B"/>
                          </a:solidFill>
                          <a:latin typeface="宋体"/>
                          <a:cs typeface="宋体"/>
                        </a:rPr>
                        <a:t>L.D</a:t>
                      </a:r>
                      <a:endParaRPr sz="2000">
                        <a:latin typeface="宋体"/>
                        <a:cs typeface="宋体"/>
                      </a:endParaRPr>
                    </a:p>
                  </a:txBody>
                  <a:tcPr marL="0" marR="0" marB="0" marT="50800"/>
                </a:tc>
                <a:tc>
                  <a:txBody>
                    <a:bodyPr/>
                    <a:lstStyle/>
                    <a:p>
                      <a:pPr algn="r" marR="46990">
                        <a:lnSpc>
                          <a:spcPct val="100000"/>
                        </a:lnSpc>
                        <a:spcBef>
                          <a:spcPts val="400"/>
                        </a:spcBef>
                      </a:pPr>
                      <a:r>
                        <a:rPr dirty="0" sz="2000" spc="-25" b="1">
                          <a:solidFill>
                            <a:srgbClr val="40458B"/>
                          </a:solidFill>
                          <a:latin typeface="宋体"/>
                          <a:cs typeface="宋体"/>
                        </a:rPr>
                        <a:t>F2,</a:t>
                      </a:r>
                      <a:endParaRPr sz="2000">
                        <a:latin typeface="宋体"/>
                        <a:cs typeface="宋体"/>
                      </a:endParaRPr>
                    </a:p>
                  </a:txBody>
                  <a:tcPr marL="0" marR="0" marB="0" marT="50800"/>
                </a:tc>
                <a:tc>
                  <a:txBody>
                    <a:bodyPr/>
                    <a:lstStyle/>
                    <a:p>
                      <a:pPr algn="ctr" marL="40005">
                        <a:lnSpc>
                          <a:spcPct val="100000"/>
                        </a:lnSpc>
                        <a:spcBef>
                          <a:spcPts val="400"/>
                        </a:spcBef>
                      </a:pPr>
                      <a:r>
                        <a:rPr dirty="0" sz="2000" spc="-10" b="1">
                          <a:solidFill>
                            <a:srgbClr val="40458B"/>
                          </a:solidFill>
                          <a:latin typeface="宋体"/>
                          <a:cs typeface="宋体"/>
                        </a:rPr>
                        <a:t>45(R3)</a:t>
                      </a:r>
                      <a:endParaRPr sz="2000">
                        <a:latin typeface="宋体"/>
                        <a:cs typeface="宋体"/>
                      </a:endParaRPr>
                    </a:p>
                  </a:txBody>
                  <a:tcPr marL="0" marR="0" marB="0" marT="50800"/>
                </a:tc>
              </a:tr>
              <a:tr h="426720">
                <a:tc>
                  <a:txBody>
                    <a:bodyPr/>
                    <a:lstStyle/>
                    <a:p>
                      <a:pPr marL="31750">
                        <a:lnSpc>
                          <a:spcPct val="100000"/>
                        </a:lnSpc>
                        <a:spcBef>
                          <a:spcPts val="400"/>
                        </a:spcBef>
                      </a:pPr>
                      <a:r>
                        <a:rPr dirty="0" sz="2000" spc="-10" b="1">
                          <a:solidFill>
                            <a:srgbClr val="40458B"/>
                          </a:solidFill>
                          <a:latin typeface="宋体"/>
                          <a:cs typeface="宋体"/>
                        </a:rPr>
                        <a:t>MULT.D</a:t>
                      </a:r>
                      <a:endParaRPr sz="2000">
                        <a:latin typeface="宋体"/>
                        <a:cs typeface="宋体"/>
                      </a:endParaRPr>
                    </a:p>
                  </a:txBody>
                  <a:tcPr marL="0" marR="0" marB="0" marT="50800"/>
                </a:tc>
                <a:tc>
                  <a:txBody>
                    <a:bodyPr/>
                    <a:lstStyle/>
                    <a:p>
                      <a:pPr algn="r" marR="64135">
                        <a:lnSpc>
                          <a:spcPct val="100000"/>
                        </a:lnSpc>
                        <a:spcBef>
                          <a:spcPts val="400"/>
                        </a:spcBef>
                      </a:pPr>
                      <a:r>
                        <a:rPr dirty="0" sz="2000" spc="-25" b="1">
                          <a:solidFill>
                            <a:srgbClr val="40458B"/>
                          </a:solidFill>
                          <a:latin typeface="宋体"/>
                          <a:cs typeface="宋体"/>
                        </a:rPr>
                        <a:t>F0,</a:t>
                      </a:r>
                      <a:endParaRPr sz="2000">
                        <a:latin typeface="宋体"/>
                        <a:cs typeface="宋体"/>
                      </a:endParaRPr>
                    </a:p>
                  </a:txBody>
                  <a:tcPr marL="0" marR="0" marB="0" marT="50800"/>
                </a:tc>
                <a:tc>
                  <a:txBody>
                    <a:bodyPr/>
                    <a:lstStyle/>
                    <a:p>
                      <a:pPr algn="ctr" marL="2540">
                        <a:lnSpc>
                          <a:spcPct val="100000"/>
                        </a:lnSpc>
                        <a:spcBef>
                          <a:spcPts val="400"/>
                        </a:spcBef>
                      </a:pPr>
                      <a:r>
                        <a:rPr dirty="0" sz="2000" b="1">
                          <a:solidFill>
                            <a:srgbClr val="40458B"/>
                          </a:solidFill>
                          <a:latin typeface="宋体"/>
                          <a:cs typeface="宋体"/>
                        </a:rPr>
                        <a:t>F2,</a:t>
                      </a:r>
                      <a:r>
                        <a:rPr dirty="0" sz="2000" spc="-20" b="1">
                          <a:solidFill>
                            <a:srgbClr val="40458B"/>
                          </a:solidFill>
                          <a:latin typeface="宋体"/>
                          <a:cs typeface="宋体"/>
                        </a:rPr>
                        <a:t> </a:t>
                      </a:r>
                      <a:r>
                        <a:rPr dirty="0" sz="2000" spc="-25" b="1">
                          <a:solidFill>
                            <a:srgbClr val="40458B"/>
                          </a:solidFill>
                          <a:latin typeface="宋体"/>
                          <a:cs typeface="宋体"/>
                        </a:rPr>
                        <a:t>F4</a:t>
                      </a:r>
                      <a:endParaRPr sz="2000">
                        <a:latin typeface="宋体"/>
                        <a:cs typeface="宋体"/>
                      </a:endParaRPr>
                    </a:p>
                  </a:txBody>
                  <a:tcPr marL="0" marR="0" marB="0" marT="50800"/>
                </a:tc>
              </a:tr>
              <a:tr h="340360">
                <a:tc>
                  <a:txBody>
                    <a:bodyPr/>
                    <a:lstStyle/>
                    <a:p>
                      <a:pPr marL="31750">
                        <a:lnSpc>
                          <a:spcPts val="2180"/>
                        </a:lnSpc>
                        <a:spcBef>
                          <a:spcPts val="400"/>
                        </a:spcBef>
                      </a:pPr>
                      <a:r>
                        <a:rPr dirty="0" sz="2000" spc="-10" b="1">
                          <a:solidFill>
                            <a:srgbClr val="40458B"/>
                          </a:solidFill>
                          <a:latin typeface="宋体"/>
                          <a:cs typeface="宋体"/>
                        </a:rPr>
                        <a:t>SUB.D</a:t>
                      </a:r>
                      <a:endParaRPr sz="2000">
                        <a:latin typeface="宋体"/>
                        <a:cs typeface="宋体"/>
                      </a:endParaRPr>
                    </a:p>
                  </a:txBody>
                  <a:tcPr marL="0" marR="0" marB="0" marT="50800"/>
                </a:tc>
                <a:tc>
                  <a:txBody>
                    <a:bodyPr/>
                    <a:lstStyle/>
                    <a:p>
                      <a:pPr algn="r" marR="46990">
                        <a:lnSpc>
                          <a:spcPts val="2180"/>
                        </a:lnSpc>
                        <a:spcBef>
                          <a:spcPts val="400"/>
                        </a:spcBef>
                      </a:pPr>
                      <a:r>
                        <a:rPr dirty="0" sz="2000" spc="-25" b="1">
                          <a:solidFill>
                            <a:srgbClr val="40458B"/>
                          </a:solidFill>
                          <a:latin typeface="宋体"/>
                          <a:cs typeface="宋体"/>
                        </a:rPr>
                        <a:t>F8,</a:t>
                      </a:r>
                      <a:endParaRPr sz="2000">
                        <a:latin typeface="宋体"/>
                        <a:cs typeface="宋体"/>
                      </a:endParaRPr>
                    </a:p>
                  </a:txBody>
                  <a:tcPr marL="0" marR="0" marB="0" marT="50800"/>
                </a:tc>
                <a:tc>
                  <a:txBody>
                    <a:bodyPr/>
                    <a:lstStyle/>
                    <a:p>
                      <a:pPr algn="ctr" marL="35560">
                        <a:lnSpc>
                          <a:spcPts val="2180"/>
                        </a:lnSpc>
                        <a:spcBef>
                          <a:spcPts val="400"/>
                        </a:spcBef>
                      </a:pPr>
                      <a:r>
                        <a:rPr dirty="0" sz="2000" b="1">
                          <a:solidFill>
                            <a:srgbClr val="40458B"/>
                          </a:solidFill>
                          <a:latin typeface="宋体"/>
                          <a:cs typeface="宋体"/>
                        </a:rPr>
                        <a:t>F6,</a:t>
                      </a:r>
                      <a:r>
                        <a:rPr dirty="0" sz="2000" spc="-40" b="1">
                          <a:solidFill>
                            <a:srgbClr val="40458B"/>
                          </a:solidFill>
                          <a:latin typeface="宋体"/>
                          <a:cs typeface="宋体"/>
                        </a:rPr>
                        <a:t> </a:t>
                      </a:r>
                      <a:r>
                        <a:rPr dirty="0" sz="2000" spc="-25" b="1">
                          <a:solidFill>
                            <a:srgbClr val="40458B"/>
                          </a:solidFill>
                          <a:latin typeface="宋体"/>
                          <a:cs typeface="宋体"/>
                        </a:rPr>
                        <a:t>F2</a:t>
                      </a:r>
                      <a:endParaRPr sz="2000">
                        <a:latin typeface="宋体"/>
                        <a:cs typeface="宋体"/>
                      </a:endParaRPr>
                    </a:p>
                  </a:txBody>
                  <a:tcPr marL="0" marR="0" marB="0" marT="50800"/>
                </a:tc>
              </a:tr>
            </a:tbl>
          </a:graphicData>
        </a:graphic>
      </p:graphicFrame>
      <p:sp>
        <p:nvSpPr>
          <p:cNvPr id="12" name="object 12" descr=""/>
          <p:cNvSpPr txBox="1"/>
          <p:nvPr/>
        </p:nvSpPr>
        <p:spPr>
          <a:xfrm>
            <a:off x="7730490" y="4781542"/>
            <a:ext cx="673100" cy="878840"/>
          </a:xfrm>
          <a:prstGeom prst="rect">
            <a:avLst/>
          </a:prstGeom>
        </p:spPr>
        <p:txBody>
          <a:bodyPr wrap="square" lIns="0" tIns="133985" rIns="0" bIns="0" rtlCol="0" vert="horz">
            <a:spAutoFit/>
          </a:bodyPr>
          <a:lstStyle/>
          <a:p>
            <a:pPr marL="12700">
              <a:lnSpc>
                <a:spcPct val="100000"/>
              </a:lnSpc>
              <a:spcBef>
                <a:spcPts val="1055"/>
              </a:spcBef>
            </a:pPr>
            <a:r>
              <a:rPr dirty="0" sz="2000" spc="-10" b="1">
                <a:solidFill>
                  <a:srgbClr val="40458B"/>
                </a:solidFill>
                <a:latin typeface="宋体"/>
                <a:cs typeface="宋体"/>
              </a:rPr>
              <a:t>DIV.D</a:t>
            </a:r>
            <a:endParaRPr sz="2000">
              <a:latin typeface="宋体"/>
              <a:cs typeface="宋体"/>
            </a:endParaRPr>
          </a:p>
          <a:p>
            <a:pPr marL="12700">
              <a:lnSpc>
                <a:spcPct val="100000"/>
              </a:lnSpc>
              <a:spcBef>
                <a:spcPts val="960"/>
              </a:spcBef>
            </a:pPr>
            <a:r>
              <a:rPr dirty="0" sz="2000" spc="-10" b="1">
                <a:solidFill>
                  <a:srgbClr val="40458B"/>
                </a:solidFill>
                <a:latin typeface="宋体"/>
                <a:cs typeface="宋体"/>
              </a:rPr>
              <a:t>ADD.D</a:t>
            </a:r>
            <a:endParaRPr sz="2000">
              <a:latin typeface="宋体"/>
              <a:cs typeface="宋体"/>
            </a:endParaRPr>
          </a:p>
        </p:txBody>
      </p:sp>
      <p:sp>
        <p:nvSpPr>
          <p:cNvPr id="13" name="object 13" descr=""/>
          <p:cNvSpPr txBox="1"/>
          <p:nvPr/>
        </p:nvSpPr>
        <p:spPr>
          <a:xfrm>
            <a:off x="9289795" y="4781542"/>
            <a:ext cx="1437005" cy="878840"/>
          </a:xfrm>
          <a:prstGeom prst="rect">
            <a:avLst/>
          </a:prstGeom>
        </p:spPr>
        <p:txBody>
          <a:bodyPr wrap="square" lIns="0" tIns="133985" rIns="0" bIns="0" rtlCol="0" vert="horz">
            <a:spAutoFit/>
          </a:bodyPr>
          <a:lstStyle/>
          <a:p>
            <a:pPr marL="12700">
              <a:lnSpc>
                <a:spcPct val="100000"/>
              </a:lnSpc>
              <a:spcBef>
                <a:spcPts val="1055"/>
              </a:spcBef>
            </a:pPr>
            <a:r>
              <a:rPr dirty="0" sz="2000" b="1">
                <a:solidFill>
                  <a:srgbClr val="40458B"/>
                </a:solidFill>
                <a:latin typeface="宋体"/>
                <a:cs typeface="宋体"/>
              </a:rPr>
              <a:t>F10,</a:t>
            </a:r>
            <a:r>
              <a:rPr dirty="0" sz="2000" spc="-55" b="1">
                <a:solidFill>
                  <a:srgbClr val="40458B"/>
                </a:solidFill>
                <a:latin typeface="宋体"/>
                <a:cs typeface="宋体"/>
              </a:rPr>
              <a:t> </a:t>
            </a:r>
            <a:r>
              <a:rPr dirty="0" sz="2000" b="1">
                <a:solidFill>
                  <a:srgbClr val="40458B"/>
                </a:solidFill>
                <a:latin typeface="宋体"/>
                <a:cs typeface="宋体"/>
              </a:rPr>
              <a:t>F0,</a:t>
            </a:r>
            <a:r>
              <a:rPr dirty="0" sz="2000" spc="-20" b="1">
                <a:solidFill>
                  <a:srgbClr val="40458B"/>
                </a:solidFill>
                <a:latin typeface="宋体"/>
                <a:cs typeface="宋体"/>
              </a:rPr>
              <a:t> </a:t>
            </a:r>
            <a:r>
              <a:rPr dirty="0" sz="2000" spc="-25" b="1">
                <a:solidFill>
                  <a:srgbClr val="40458B"/>
                </a:solidFill>
                <a:latin typeface="宋体"/>
                <a:cs typeface="宋体"/>
              </a:rPr>
              <a:t>F6</a:t>
            </a:r>
            <a:endParaRPr sz="2000">
              <a:latin typeface="宋体"/>
              <a:cs typeface="宋体"/>
            </a:endParaRPr>
          </a:p>
          <a:p>
            <a:pPr marL="12700">
              <a:lnSpc>
                <a:spcPct val="100000"/>
              </a:lnSpc>
              <a:spcBef>
                <a:spcPts val="960"/>
              </a:spcBef>
            </a:pPr>
            <a:r>
              <a:rPr dirty="0" sz="2000" b="1">
                <a:solidFill>
                  <a:srgbClr val="40458B"/>
                </a:solidFill>
                <a:latin typeface="宋体"/>
                <a:cs typeface="宋体"/>
              </a:rPr>
              <a:t>F6,</a:t>
            </a:r>
            <a:r>
              <a:rPr dirty="0" sz="2000" spc="-25" b="1">
                <a:solidFill>
                  <a:srgbClr val="40458B"/>
                </a:solidFill>
                <a:latin typeface="宋体"/>
                <a:cs typeface="宋体"/>
              </a:rPr>
              <a:t> </a:t>
            </a:r>
            <a:r>
              <a:rPr dirty="0" sz="2000" b="1">
                <a:solidFill>
                  <a:srgbClr val="40458B"/>
                </a:solidFill>
                <a:latin typeface="宋体"/>
                <a:cs typeface="宋体"/>
              </a:rPr>
              <a:t>F8,</a:t>
            </a:r>
            <a:r>
              <a:rPr dirty="0" sz="2000" spc="-25" b="1">
                <a:solidFill>
                  <a:srgbClr val="40458B"/>
                </a:solidFill>
                <a:latin typeface="宋体"/>
                <a:cs typeface="宋体"/>
              </a:rPr>
              <a:t> F2</a:t>
            </a:r>
            <a:endParaRPr sz="2000">
              <a:latin typeface="宋体"/>
              <a:cs typeface="宋体"/>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5095747" y="6278981"/>
            <a:ext cx="2332355" cy="331470"/>
          </a:xfrm>
          <a:prstGeom prst="rect">
            <a:avLst/>
          </a:prstGeom>
        </p:spPr>
        <p:txBody>
          <a:bodyPr wrap="square" lIns="0" tIns="13335" rIns="0" bIns="0" rtlCol="0" vert="horz">
            <a:spAutoFit/>
          </a:bodyPr>
          <a:lstStyle/>
          <a:p>
            <a:pPr marL="12700">
              <a:lnSpc>
                <a:spcPct val="100000"/>
              </a:lnSpc>
              <a:spcBef>
                <a:spcPts val="105"/>
              </a:spcBef>
            </a:pPr>
            <a:r>
              <a:rPr dirty="0" sz="2000" b="1">
                <a:latin typeface="宋体"/>
                <a:cs typeface="宋体"/>
              </a:rPr>
              <a:t>MIPS</a:t>
            </a:r>
            <a:r>
              <a:rPr dirty="0" sz="2000" spc="-25" b="1">
                <a:latin typeface="宋体"/>
                <a:cs typeface="宋体"/>
              </a:rPr>
              <a:t>记分牌中的信息</a:t>
            </a:r>
            <a:endParaRPr sz="2000">
              <a:latin typeface="宋体"/>
              <a:cs typeface="宋体"/>
            </a:endParaRPr>
          </a:p>
        </p:txBody>
      </p:sp>
      <p:pic>
        <p:nvPicPr>
          <p:cNvPr id="3" name="object 3" descr=""/>
          <p:cNvPicPr/>
          <p:nvPr/>
        </p:nvPicPr>
        <p:blipFill>
          <a:blip r:embed="rId2" cstate="print"/>
          <a:stretch>
            <a:fillRect/>
          </a:stretch>
        </p:blipFill>
        <p:spPr>
          <a:xfrm>
            <a:off x="2855976" y="747776"/>
            <a:ext cx="6480175" cy="548157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40/175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061415" y="1045591"/>
            <a:ext cx="7755890" cy="4775835"/>
          </a:xfrm>
          <a:prstGeom prst="rect">
            <a:avLst/>
          </a:prstGeom>
        </p:spPr>
        <p:txBody>
          <a:bodyPr wrap="square" lIns="0" tIns="12700" rIns="0" bIns="0" rtlCol="0" vert="horz">
            <a:spAutoFit/>
          </a:bodyPr>
          <a:lstStyle/>
          <a:p>
            <a:pPr marL="1635760" marR="2666365" indent="-1160145">
              <a:lnSpc>
                <a:spcPct val="150000"/>
              </a:lnSpc>
              <a:spcBef>
                <a:spcPts val="100"/>
              </a:spcBef>
            </a:pPr>
            <a:r>
              <a:rPr dirty="0" sz="1800" spc="-10" b="1">
                <a:solidFill>
                  <a:srgbClr val="001F5F"/>
                </a:solidFill>
                <a:latin typeface="宋体"/>
                <a:cs typeface="宋体"/>
              </a:rPr>
              <a:t>例</a:t>
            </a:r>
            <a:r>
              <a:rPr dirty="0" sz="1800" b="1">
                <a:solidFill>
                  <a:srgbClr val="001F5F"/>
                </a:solidFill>
                <a:latin typeface="宋体"/>
                <a:cs typeface="宋体"/>
              </a:rPr>
              <a:t>5.1 </a:t>
            </a:r>
            <a:r>
              <a:rPr dirty="0" sz="1800" spc="-15" b="1">
                <a:latin typeface="宋体"/>
                <a:cs typeface="宋体"/>
              </a:rPr>
              <a:t>假设浮点流水线中各部件的延迟如下：</a:t>
            </a:r>
            <a:r>
              <a:rPr dirty="0" sz="1800" spc="-10" b="1">
                <a:solidFill>
                  <a:srgbClr val="001F5F"/>
                </a:solidFill>
                <a:latin typeface="宋体"/>
                <a:cs typeface="宋体"/>
              </a:rPr>
              <a:t>加法需2</a:t>
            </a:r>
            <a:r>
              <a:rPr dirty="0" sz="1800" spc="-20" b="1">
                <a:solidFill>
                  <a:srgbClr val="001F5F"/>
                </a:solidFill>
                <a:latin typeface="宋体"/>
                <a:cs typeface="宋体"/>
              </a:rPr>
              <a:t>个时钟周期</a:t>
            </a:r>
            <a:endParaRPr sz="1800">
              <a:latin typeface="宋体"/>
              <a:cs typeface="宋体"/>
            </a:endParaRPr>
          </a:p>
          <a:p>
            <a:pPr marL="1635760">
              <a:lnSpc>
                <a:spcPct val="100000"/>
              </a:lnSpc>
              <a:spcBef>
                <a:spcPts val="1080"/>
              </a:spcBef>
            </a:pPr>
            <a:r>
              <a:rPr dirty="0" sz="1800" spc="-20" b="1">
                <a:solidFill>
                  <a:srgbClr val="001F5F"/>
                </a:solidFill>
                <a:latin typeface="宋体"/>
                <a:cs typeface="宋体"/>
              </a:rPr>
              <a:t>乘法需</a:t>
            </a:r>
            <a:r>
              <a:rPr dirty="0" sz="1800" spc="-10" b="1">
                <a:solidFill>
                  <a:srgbClr val="001F5F"/>
                </a:solidFill>
                <a:latin typeface="宋体"/>
                <a:cs typeface="宋体"/>
              </a:rPr>
              <a:t>10</a:t>
            </a:r>
            <a:r>
              <a:rPr dirty="0" sz="1800" spc="-20" b="1">
                <a:solidFill>
                  <a:srgbClr val="001F5F"/>
                </a:solidFill>
                <a:latin typeface="宋体"/>
                <a:cs typeface="宋体"/>
              </a:rPr>
              <a:t>个时钟周期</a:t>
            </a:r>
            <a:endParaRPr sz="1800">
              <a:latin typeface="宋体"/>
              <a:cs typeface="宋体"/>
            </a:endParaRPr>
          </a:p>
          <a:p>
            <a:pPr marL="1635760">
              <a:lnSpc>
                <a:spcPct val="100000"/>
              </a:lnSpc>
              <a:spcBef>
                <a:spcPts val="1080"/>
              </a:spcBef>
            </a:pPr>
            <a:r>
              <a:rPr dirty="0" sz="1800" spc="-10" b="1">
                <a:solidFill>
                  <a:srgbClr val="001F5F"/>
                </a:solidFill>
                <a:latin typeface="宋体"/>
                <a:cs typeface="宋体"/>
              </a:rPr>
              <a:t>除法需40</a:t>
            </a:r>
            <a:r>
              <a:rPr dirty="0" sz="1800" spc="-20" b="1">
                <a:solidFill>
                  <a:srgbClr val="001F5F"/>
                </a:solidFill>
                <a:latin typeface="宋体"/>
                <a:cs typeface="宋体"/>
              </a:rPr>
              <a:t>个时钟周期</a:t>
            </a:r>
            <a:endParaRPr sz="1800">
              <a:latin typeface="宋体"/>
              <a:cs typeface="宋体"/>
            </a:endParaRPr>
          </a:p>
          <a:p>
            <a:pPr marL="360045">
              <a:lnSpc>
                <a:spcPct val="100000"/>
              </a:lnSpc>
              <a:spcBef>
                <a:spcPts val="1080"/>
              </a:spcBef>
            </a:pPr>
            <a:r>
              <a:rPr dirty="0" sz="1800" spc="-10" b="1">
                <a:latin typeface="宋体"/>
                <a:cs typeface="宋体"/>
              </a:rPr>
              <a:t>代码段和记分牌信息的起始点状态如上图。分别给出</a:t>
            </a:r>
            <a:r>
              <a:rPr dirty="0" sz="1800" spc="-10" b="1">
                <a:solidFill>
                  <a:srgbClr val="9933FF"/>
                </a:solidFill>
                <a:latin typeface="宋体"/>
                <a:cs typeface="宋体"/>
              </a:rPr>
              <a:t>MULT.D</a:t>
            </a:r>
            <a:r>
              <a:rPr dirty="0" sz="1800" spc="-50" b="1">
                <a:latin typeface="宋体"/>
                <a:cs typeface="宋体"/>
              </a:rPr>
              <a:t>和</a:t>
            </a:r>
            <a:endParaRPr sz="1800">
              <a:latin typeface="宋体"/>
              <a:cs typeface="宋体"/>
            </a:endParaRPr>
          </a:p>
          <a:p>
            <a:pPr marL="476250" marR="3679190" indent="-464184">
              <a:lnSpc>
                <a:spcPts val="3520"/>
              </a:lnSpc>
              <a:spcBef>
                <a:spcPts val="65"/>
              </a:spcBef>
            </a:pPr>
            <a:r>
              <a:rPr dirty="0" sz="1800" spc="-10" b="1">
                <a:solidFill>
                  <a:srgbClr val="9933FF"/>
                </a:solidFill>
                <a:latin typeface="宋体"/>
                <a:cs typeface="宋体"/>
              </a:rPr>
              <a:t>DIV.D</a:t>
            </a:r>
            <a:r>
              <a:rPr dirty="0" sz="1800" spc="-15" b="1">
                <a:latin typeface="宋体"/>
                <a:cs typeface="宋体"/>
              </a:rPr>
              <a:t>准备写结果之前的记分牌状态。</a:t>
            </a:r>
            <a:r>
              <a:rPr dirty="0" sz="1800" spc="-50" b="1">
                <a:latin typeface="宋体"/>
                <a:cs typeface="宋体"/>
              </a:rPr>
              <a:t> </a:t>
            </a:r>
            <a:r>
              <a:rPr dirty="0" sz="1800" spc="10" b="1">
                <a:solidFill>
                  <a:srgbClr val="001F5F"/>
                </a:solidFill>
                <a:latin typeface="宋体"/>
                <a:cs typeface="宋体"/>
              </a:rPr>
              <a:t>解 </a:t>
            </a:r>
            <a:r>
              <a:rPr dirty="0" sz="1800" spc="-10" b="1">
                <a:latin typeface="宋体"/>
                <a:cs typeface="宋体"/>
              </a:rPr>
              <a:t>图中的代码段存在以下相关性</a:t>
            </a:r>
            <a:r>
              <a:rPr dirty="0" sz="2000" spc="-50">
                <a:latin typeface="黑体"/>
                <a:cs typeface="黑体"/>
              </a:rPr>
              <a:t>：</a:t>
            </a:r>
            <a:endParaRPr sz="2000">
              <a:latin typeface="黑体"/>
              <a:cs typeface="黑体"/>
            </a:endParaRPr>
          </a:p>
          <a:p>
            <a:pPr marL="648335" indent="-635635">
              <a:lnSpc>
                <a:spcPct val="100000"/>
              </a:lnSpc>
              <a:spcBef>
                <a:spcPts val="894"/>
              </a:spcBef>
              <a:buSzPct val="95000"/>
              <a:buAutoNum type="arabicPlain"/>
              <a:tabLst>
                <a:tab pos="648335" algn="l"/>
              </a:tabLst>
            </a:pPr>
            <a:r>
              <a:rPr dirty="0" sz="2000" spc="-15" b="1">
                <a:latin typeface="宋体"/>
                <a:cs typeface="宋体"/>
              </a:rPr>
              <a:t>先写后读相关：第二条</a:t>
            </a:r>
            <a:r>
              <a:rPr dirty="0" sz="2000" spc="-20" b="1">
                <a:solidFill>
                  <a:srgbClr val="9933FF"/>
                </a:solidFill>
                <a:latin typeface="Times New Roman"/>
                <a:cs typeface="Times New Roman"/>
              </a:rPr>
              <a:t>L.D</a:t>
            </a:r>
            <a:r>
              <a:rPr dirty="0" sz="2000" spc="-15" b="1">
                <a:latin typeface="宋体"/>
                <a:cs typeface="宋体"/>
              </a:rPr>
              <a:t>指令到</a:t>
            </a:r>
            <a:r>
              <a:rPr dirty="0" sz="2000" spc="-20" b="1">
                <a:solidFill>
                  <a:srgbClr val="9933FF"/>
                </a:solidFill>
                <a:latin typeface="Times New Roman"/>
                <a:cs typeface="Times New Roman"/>
              </a:rPr>
              <a:t>MULT.D</a:t>
            </a:r>
            <a:r>
              <a:rPr dirty="0" sz="2000" spc="-10" b="1">
                <a:latin typeface="宋体"/>
                <a:cs typeface="宋体"/>
              </a:rPr>
              <a:t>和</a:t>
            </a:r>
            <a:r>
              <a:rPr dirty="0" sz="2000" spc="-20" b="1">
                <a:solidFill>
                  <a:srgbClr val="9933FF"/>
                </a:solidFill>
                <a:latin typeface="Times New Roman"/>
                <a:cs typeface="Times New Roman"/>
              </a:rPr>
              <a:t>SUB.D</a:t>
            </a:r>
            <a:r>
              <a:rPr dirty="0" sz="2000" spc="-30" b="1">
                <a:latin typeface="宋体"/>
                <a:cs typeface="宋体"/>
              </a:rPr>
              <a:t>之间，</a:t>
            </a:r>
            <a:endParaRPr sz="2000">
              <a:latin typeface="宋体"/>
              <a:cs typeface="宋体"/>
            </a:endParaRPr>
          </a:p>
          <a:p>
            <a:pPr marL="2425065">
              <a:lnSpc>
                <a:spcPct val="100000"/>
              </a:lnSpc>
              <a:spcBef>
                <a:spcPts val="1200"/>
              </a:spcBef>
            </a:pPr>
            <a:r>
              <a:rPr dirty="0" sz="2000" spc="-20" b="1">
                <a:solidFill>
                  <a:srgbClr val="9933FF"/>
                </a:solidFill>
                <a:latin typeface="Times New Roman"/>
                <a:cs typeface="Times New Roman"/>
              </a:rPr>
              <a:t>MULT.D</a:t>
            </a:r>
            <a:r>
              <a:rPr dirty="0" sz="2000" spc="-10" b="1">
                <a:latin typeface="宋体"/>
                <a:cs typeface="宋体"/>
              </a:rPr>
              <a:t>到</a:t>
            </a:r>
            <a:r>
              <a:rPr dirty="0" sz="2000" spc="-20" b="1">
                <a:solidFill>
                  <a:srgbClr val="9933FF"/>
                </a:solidFill>
                <a:latin typeface="Times New Roman"/>
                <a:cs typeface="Times New Roman"/>
              </a:rPr>
              <a:t>DIV.D</a:t>
            </a:r>
            <a:r>
              <a:rPr dirty="0" sz="2000" spc="-15" b="1">
                <a:latin typeface="宋体"/>
                <a:cs typeface="宋体"/>
              </a:rPr>
              <a:t>之间，</a:t>
            </a:r>
            <a:r>
              <a:rPr dirty="0" sz="2000" spc="-20" b="1">
                <a:solidFill>
                  <a:srgbClr val="9933FF"/>
                </a:solidFill>
                <a:latin typeface="Times New Roman"/>
                <a:cs typeface="Times New Roman"/>
              </a:rPr>
              <a:t>SUB.D</a:t>
            </a:r>
            <a:r>
              <a:rPr dirty="0" sz="2000" spc="-10" b="1">
                <a:latin typeface="宋体"/>
                <a:cs typeface="宋体"/>
              </a:rPr>
              <a:t>到</a:t>
            </a:r>
            <a:r>
              <a:rPr dirty="0" sz="2000" spc="-20" b="1">
                <a:solidFill>
                  <a:srgbClr val="9933FF"/>
                </a:solidFill>
                <a:latin typeface="Times New Roman"/>
                <a:cs typeface="Times New Roman"/>
              </a:rPr>
              <a:t>ADD.D</a:t>
            </a:r>
            <a:r>
              <a:rPr dirty="0" sz="2000" spc="-30" b="1">
                <a:latin typeface="宋体"/>
                <a:cs typeface="宋体"/>
              </a:rPr>
              <a:t>之间；</a:t>
            </a:r>
            <a:endParaRPr sz="2000">
              <a:latin typeface="宋体"/>
              <a:cs typeface="宋体"/>
            </a:endParaRPr>
          </a:p>
          <a:p>
            <a:pPr marL="648970" indent="-636270">
              <a:lnSpc>
                <a:spcPct val="100000"/>
              </a:lnSpc>
              <a:spcBef>
                <a:spcPts val="1200"/>
              </a:spcBef>
              <a:buSzPct val="95000"/>
              <a:buAutoNum type="arabicPlain" startAt="2"/>
              <a:tabLst>
                <a:tab pos="648970" algn="l"/>
              </a:tabLst>
            </a:pPr>
            <a:r>
              <a:rPr dirty="0" sz="2000" spc="-10" b="1">
                <a:latin typeface="宋体"/>
                <a:cs typeface="宋体"/>
              </a:rPr>
              <a:t>先读后写相关：</a:t>
            </a:r>
            <a:r>
              <a:rPr dirty="0" sz="2000" spc="-10" b="1">
                <a:solidFill>
                  <a:srgbClr val="9933FF"/>
                </a:solidFill>
                <a:latin typeface="Times New Roman"/>
                <a:cs typeface="Times New Roman"/>
              </a:rPr>
              <a:t>DIV.D</a:t>
            </a:r>
            <a:r>
              <a:rPr dirty="0" sz="2000" spc="-10" b="1">
                <a:latin typeface="宋体"/>
                <a:cs typeface="宋体"/>
              </a:rPr>
              <a:t>和</a:t>
            </a:r>
            <a:r>
              <a:rPr dirty="0" sz="2000" spc="-20" b="1">
                <a:solidFill>
                  <a:srgbClr val="9933FF"/>
                </a:solidFill>
                <a:latin typeface="Times New Roman"/>
                <a:cs typeface="Times New Roman"/>
              </a:rPr>
              <a:t>ADD.D</a:t>
            </a:r>
            <a:r>
              <a:rPr dirty="0" sz="2000" spc="-15" b="1">
                <a:latin typeface="宋体"/>
                <a:cs typeface="宋体"/>
              </a:rPr>
              <a:t>之间，</a:t>
            </a:r>
            <a:r>
              <a:rPr dirty="0" sz="2000" spc="-20" b="1">
                <a:solidFill>
                  <a:srgbClr val="9933FF"/>
                </a:solidFill>
                <a:latin typeface="Times New Roman"/>
                <a:cs typeface="Times New Roman"/>
              </a:rPr>
              <a:t>SUB.D</a:t>
            </a:r>
            <a:r>
              <a:rPr dirty="0" sz="2000" spc="-10" b="1">
                <a:latin typeface="宋体"/>
                <a:cs typeface="宋体"/>
              </a:rPr>
              <a:t>和</a:t>
            </a:r>
            <a:r>
              <a:rPr dirty="0" sz="2000" spc="-20" b="1">
                <a:solidFill>
                  <a:srgbClr val="9933FF"/>
                </a:solidFill>
                <a:latin typeface="Times New Roman"/>
                <a:cs typeface="Times New Roman"/>
              </a:rPr>
              <a:t>ADD.D</a:t>
            </a:r>
            <a:r>
              <a:rPr dirty="0" sz="2000" spc="-30" b="1">
                <a:latin typeface="宋体"/>
                <a:cs typeface="宋体"/>
              </a:rPr>
              <a:t>之间；</a:t>
            </a:r>
            <a:endParaRPr sz="2000">
              <a:latin typeface="宋体"/>
              <a:cs typeface="宋体"/>
            </a:endParaRPr>
          </a:p>
          <a:p>
            <a:pPr marL="648970" indent="-636270">
              <a:lnSpc>
                <a:spcPct val="100000"/>
              </a:lnSpc>
              <a:spcBef>
                <a:spcPts val="1200"/>
              </a:spcBef>
              <a:buSzPct val="95000"/>
              <a:buAutoNum type="arabicPlain" startAt="2"/>
              <a:tabLst>
                <a:tab pos="648970" algn="l"/>
              </a:tabLst>
            </a:pPr>
            <a:r>
              <a:rPr dirty="0" sz="2000" spc="-15" b="1">
                <a:latin typeface="宋体"/>
                <a:cs typeface="宋体"/>
              </a:rPr>
              <a:t>结构相关：</a:t>
            </a:r>
            <a:r>
              <a:rPr dirty="0" sz="2000" spc="-20" b="1">
                <a:solidFill>
                  <a:srgbClr val="9933FF"/>
                </a:solidFill>
                <a:latin typeface="Times New Roman"/>
                <a:cs typeface="Times New Roman"/>
              </a:rPr>
              <a:t>ADD.D</a:t>
            </a:r>
            <a:r>
              <a:rPr dirty="0" sz="2000" spc="-10" b="1">
                <a:latin typeface="宋体"/>
                <a:cs typeface="宋体"/>
              </a:rPr>
              <a:t>和</a:t>
            </a:r>
            <a:r>
              <a:rPr dirty="0" sz="2000" spc="-20" b="1">
                <a:solidFill>
                  <a:srgbClr val="9933FF"/>
                </a:solidFill>
                <a:latin typeface="Times New Roman"/>
                <a:cs typeface="Times New Roman"/>
              </a:rPr>
              <a:t>SUB.D</a:t>
            </a:r>
            <a:r>
              <a:rPr dirty="0" sz="2000" spc="-25" b="1">
                <a:latin typeface="宋体"/>
                <a:cs typeface="宋体"/>
              </a:rPr>
              <a:t>指令关于浮点加法部件。</a:t>
            </a:r>
            <a:endParaRPr sz="2000">
              <a:latin typeface="宋体"/>
              <a:cs typeface="宋体"/>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3511422" y="6320129"/>
            <a:ext cx="5400675" cy="331470"/>
          </a:xfrm>
          <a:prstGeom prst="rect">
            <a:avLst/>
          </a:prstGeom>
        </p:spPr>
        <p:txBody>
          <a:bodyPr wrap="square" lIns="0" tIns="13335" rIns="0" bIns="0" rtlCol="0" vert="horz">
            <a:spAutoFit/>
          </a:bodyPr>
          <a:lstStyle/>
          <a:p>
            <a:pPr marL="12700">
              <a:lnSpc>
                <a:spcPct val="100000"/>
              </a:lnSpc>
              <a:spcBef>
                <a:spcPts val="105"/>
              </a:spcBef>
            </a:pPr>
            <a:r>
              <a:rPr dirty="0" sz="2000" spc="-15" b="1">
                <a:latin typeface="宋体"/>
                <a:cs typeface="宋体"/>
              </a:rPr>
              <a:t>程序段执行到</a:t>
            </a:r>
            <a:r>
              <a:rPr dirty="0" sz="2000" b="1">
                <a:latin typeface="宋体"/>
                <a:cs typeface="宋体"/>
              </a:rPr>
              <a:t>MULT.D</a:t>
            </a:r>
            <a:r>
              <a:rPr dirty="0" sz="2000" spc="-25" b="1">
                <a:latin typeface="宋体"/>
                <a:cs typeface="宋体"/>
              </a:rPr>
              <a:t>将要写结果时记分牌的状态</a:t>
            </a:r>
            <a:endParaRPr sz="2000">
              <a:latin typeface="宋体"/>
              <a:cs typeface="宋体"/>
            </a:endParaRPr>
          </a:p>
        </p:txBody>
      </p:sp>
      <p:pic>
        <p:nvPicPr>
          <p:cNvPr id="3" name="object 3" descr=""/>
          <p:cNvPicPr/>
          <p:nvPr/>
        </p:nvPicPr>
        <p:blipFill>
          <a:blip r:embed="rId2" cstate="print"/>
          <a:stretch>
            <a:fillRect/>
          </a:stretch>
        </p:blipFill>
        <p:spPr>
          <a:xfrm>
            <a:off x="2640076" y="749300"/>
            <a:ext cx="6551549" cy="554355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3438271" y="6320129"/>
            <a:ext cx="5271770" cy="331470"/>
          </a:xfrm>
          <a:prstGeom prst="rect">
            <a:avLst/>
          </a:prstGeom>
        </p:spPr>
        <p:txBody>
          <a:bodyPr wrap="square" lIns="0" tIns="13335" rIns="0" bIns="0" rtlCol="0" vert="horz">
            <a:spAutoFit/>
          </a:bodyPr>
          <a:lstStyle/>
          <a:p>
            <a:pPr marL="12700">
              <a:lnSpc>
                <a:spcPct val="100000"/>
              </a:lnSpc>
              <a:spcBef>
                <a:spcPts val="105"/>
              </a:spcBef>
            </a:pPr>
            <a:r>
              <a:rPr dirty="0" sz="2000" spc="-15" b="1">
                <a:latin typeface="宋体"/>
                <a:cs typeface="宋体"/>
              </a:rPr>
              <a:t>程序段执行到</a:t>
            </a:r>
            <a:r>
              <a:rPr dirty="0" sz="2000" b="1">
                <a:latin typeface="宋体"/>
                <a:cs typeface="宋体"/>
              </a:rPr>
              <a:t>DIV.D</a:t>
            </a:r>
            <a:r>
              <a:rPr dirty="0" sz="2000" spc="-25" b="1">
                <a:latin typeface="宋体"/>
                <a:cs typeface="宋体"/>
              </a:rPr>
              <a:t>将要写结果时记分牌的状态</a:t>
            </a:r>
            <a:endParaRPr sz="2000">
              <a:latin typeface="宋体"/>
              <a:cs typeface="宋体"/>
            </a:endParaRPr>
          </a:p>
        </p:txBody>
      </p:sp>
      <p:pic>
        <p:nvPicPr>
          <p:cNvPr id="3" name="object 3" descr=""/>
          <p:cNvPicPr/>
          <p:nvPr/>
        </p:nvPicPr>
        <p:blipFill>
          <a:blip r:embed="rId2" cstate="print"/>
          <a:stretch>
            <a:fillRect/>
          </a:stretch>
        </p:blipFill>
        <p:spPr>
          <a:xfrm>
            <a:off x="2711450" y="717613"/>
            <a:ext cx="6529324" cy="552284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43/175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774293" y="1130173"/>
            <a:ext cx="8871585" cy="4274185"/>
          </a:xfrm>
          <a:prstGeom prst="rect">
            <a:avLst/>
          </a:prstGeom>
        </p:spPr>
        <p:txBody>
          <a:bodyPr wrap="square" lIns="0" tIns="159385" rIns="0" bIns="0" rtlCol="0" vert="horz">
            <a:spAutoFit/>
          </a:bodyPr>
          <a:lstStyle/>
          <a:p>
            <a:pPr marL="469265" indent="-456565">
              <a:lnSpc>
                <a:spcPct val="100000"/>
              </a:lnSpc>
              <a:spcBef>
                <a:spcPts val="1255"/>
              </a:spcBef>
              <a:buClr>
                <a:srgbClr val="40458B"/>
              </a:buClr>
              <a:buFont typeface="Tahoma"/>
              <a:buAutoNum type="arabicPeriod" startAt="3"/>
              <a:tabLst>
                <a:tab pos="469265" algn="l"/>
              </a:tabLst>
            </a:pPr>
            <a:r>
              <a:rPr dirty="0" sz="2400" spc="-15">
                <a:solidFill>
                  <a:srgbClr val="001F5F"/>
                </a:solidFill>
                <a:latin typeface="黑体"/>
                <a:cs typeface="黑体"/>
              </a:rPr>
              <a:t>具体算法</a:t>
            </a:r>
            <a:endParaRPr sz="2400">
              <a:latin typeface="黑体"/>
              <a:cs typeface="黑体"/>
            </a:endParaRPr>
          </a:p>
          <a:p>
            <a:pPr marL="641985">
              <a:lnSpc>
                <a:spcPct val="100000"/>
              </a:lnSpc>
              <a:spcBef>
                <a:spcPts val="1155"/>
              </a:spcBef>
            </a:pPr>
            <a:r>
              <a:rPr dirty="0" sz="2400" spc="-20">
                <a:solidFill>
                  <a:srgbClr val="40458B"/>
                </a:solidFill>
                <a:latin typeface="黑体"/>
                <a:cs typeface="黑体"/>
              </a:rPr>
              <a:t>约定：</a:t>
            </a:r>
            <a:endParaRPr sz="2400">
              <a:latin typeface="黑体"/>
              <a:cs typeface="黑体"/>
            </a:endParaRPr>
          </a:p>
          <a:p>
            <a:pPr lvl="1" marL="1056005" indent="-456565">
              <a:lnSpc>
                <a:spcPct val="100000"/>
              </a:lnSpc>
              <a:spcBef>
                <a:spcPts val="1085"/>
              </a:spcBef>
              <a:buClr>
                <a:srgbClr val="4668F5"/>
              </a:buClr>
              <a:buSzPct val="68181"/>
              <a:buFont typeface="Wingdings"/>
              <a:buChar char=""/>
              <a:tabLst>
                <a:tab pos="1056005" algn="l"/>
              </a:tabLst>
            </a:pPr>
            <a:r>
              <a:rPr dirty="0" sz="2200" spc="-25" b="1">
                <a:solidFill>
                  <a:srgbClr val="D50092"/>
                </a:solidFill>
                <a:latin typeface="Times New Roman"/>
                <a:cs typeface="Times New Roman"/>
              </a:rPr>
              <a:t>FU</a:t>
            </a:r>
            <a:r>
              <a:rPr dirty="0" sz="2200" spc="-30" b="1">
                <a:solidFill>
                  <a:srgbClr val="9966FF"/>
                </a:solidFill>
                <a:latin typeface="宋体"/>
                <a:cs typeface="宋体"/>
              </a:rPr>
              <a:t>：表示当前指令所要用的功能部件；</a:t>
            </a:r>
            <a:endParaRPr sz="2200">
              <a:latin typeface="宋体"/>
              <a:cs typeface="宋体"/>
            </a:endParaRPr>
          </a:p>
          <a:p>
            <a:pPr lvl="1" marL="1056005" indent="-456565">
              <a:lnSpc>
                <a:spcPct val="100000"/>
              </a:lnSpc>
              <a:spcBef>
                <a:spcPts val="1055"/>
              </a:spcBef>
              <a:buClr>
                <a:srgbClr val="4668F5"/>
              </a:buClr>
              <a:buSzPct val="68181"/>
              <a:buFont typeface="Wingdings"/>
              <a:buChar char=""/>
              <a:tabLst>
                <a:tab pos="1056005" algn="l"/>
              </a:tabLst>
            </a:pPr>
            <a:r>
              <a:rPr dirty="0" sz="2200" spc="-25" b="1">
                <a:solidFill>
                  <a:srgbClr val="D50092"/>
                </a:solidFill>
                <a:latin typeface="Times New Roman"/>
                <a:cs typeface="Times New Roman"/>
              </a:rPr>
              <a:t>D</a:t>
            </a:r>
            <a:r>
              <a:rPr dirty="0" sz="2200" spc="-30" b="1">
                <a:solidFill>
                  <a:srgbClr val="9966FF"/>
                </a:solidFill>
                <a:latin typeface="宋体"/>
                <a:cs typeface="宋体"/>
              </a:rPr>
              <a:t>：目的寄存器的名称；</a:t>
            </a:r>
            <a:endParaRPr sz="2200">
              <a:latin typeface="宋体"/>
              <a:cs typeface="宋体"/>
            </a:endParaRPr>
          </a:p>
          <a:p>
            <a:pPr lvl="1" marL="1056005" indent="-456565">
              <a:lnSpc>
                <a:spcPct val="100000"/>
              </a:lnSpc>
              <a:spcBef>
                <a:spcPts val="1060"/>
              </a:spcBef>
              <a:buClr>
                <a:srgbClr val="4668F5"/>
              </a:buClr>
              <a:buSzPct val="68181"/>
              <a:buFont typeface="Wingdings"/>
              <a:buChar char=""/>
              <a:tabLst>
                <a:tab pos="1056005" algn="l"/>
              </a:tabLst>
            </a:pPr>
            <a:r>
              <a:rPr dirty="0" sz="2200" spc="-10" b="1">
                <a:solidFill>
                  <a:srgbClr val="D50092"/>
                </a:solidFill>
                <a:latin typeface="Times New Roman"/>
                <a:cs typeface="Times New Roman"/>
              </a:rPr>
              <a:t>S1</a:t>
            </a:r>
            <a:r>
              <a:rPr dirty="0" sz="2200" spc="-20" b="1">
                <a:solidFill>
                  <a:srgbClr val="D50092"/>
                </a:solidFill>
                <a:latin typeface="宋体"/>
                <a:cs typeface="宋体"/>
              </a:rPr>
              <a:t>、</a:t>
            </a:r>
            <a:r>
              <a:rPr dirty="0" sz="2200" spc="-20" b="1">
                <a:solidFill>
                  <a:srgbClr val="D50092"/>
                </a:solidFill>
                <a:latin typeface="Times New Roman"/>
                <a:cs typeface="Times New Roman"/>
              </a:rPr>
              <a:t>S2</a:t>
            </a:r>
            <a:r>
              <a:rPr dirty="0" sz="2200" spc="-25" b="1">
                <a:solidFill>
                  <a:srgbClr val="9966FF"/>
                </a:solidFill>
                <a:latin typeface="宋体"/>
                <a:cs typeface="宋体"/>
              </a:rPr>
              <a:t>：源操作数寄存器的名称；</a:t>
            </a:r>
            <a:endParaRPr sz="2200">
              <a:latin typeface="宋体"/>
              <a:cs typeface="宋体"/>
            </a:endParaRPr>
          </a:p>
          <a:p>
            <a:pPr lvl="1" marL="1056005" indent="-456565">
              <a:lnSpc>
                <a:spcPct val="100000"/>
              </a:lnSpc>
              <a:spcBef>
                <a:spcPts val="1055"/>
              </a:spcBef>
              <a:buClr>
                <a:srgbClr val="4668F5"/>
              </a:buClr>
              <a:buSzPct val="68181"/>
              <a:buFont typeface="Wingdings"/>
              <a:buChar char=""/>
              <a:tabLst>
                <a:tab pos="1056005" algn="l"/>
              </a:tabLst>
            </a:pPr>
            <a:r>
              <a:rPr dirty="0" sz="2200" spc="-25" b="1">
                <a:solidFill>
                  <a:srgbClr val="D50092"/>
                </a:solidFill>
                <a:latin typeface="Times New Roman"/>
                <a:cs typeface="Times New Roman"/>
              </a:rPr>
              <a:t>Op</a:t>
            </a:r>
            <a:r>
              <a:rPr dirty="0" sz="2200" spc="-30" b="1">
                <a:solidFill>
                  <a:srgbClr val="9966FF"/>
                </a:solidFill>
                <a:latin typeface="宋体"/>
                <a:cs typeface="宋体"/>
              </a:rPr>
              <a:t>：要进行的操作；</a:t>
            </a:r>
            <a:endParaRPr sz="2200">
              <a:latin typeface="宋体"/>
              <a:cs typeface="宋体"/>
            </a:endParaRPr>
          </a:p>
          <a:p>
            <a:pPr lvl="1" marL="1056005" indent="-456565">
              <a:lnSpc>
                <a:spcPct val="100000"/>
              </a:lnSpc>
              <a:spcBef>
                <a:spcPts val="1055"/>
              </a:spcBef>
              <a:buClr>
                <a:srgbClr val="4668F5"/>
              </a:buClr>
              <a:buSzPct val="68181"/>
              <a:buFont typeface="Wingdings"/>
              <a:buChar char=""/>
              <a:tabLst>
                <a:tab pos="1056005" algn="l"/>
              </a:tabLst>
            </a:pPr>
            <a:r>
              <a:rPr dirty="0" sz="2200" spc="-20" b="1">
                <a:solidFill>
                  <a:srgbClr val="D50092"/>
                </a:solidFill>
                <a:latin typeface="Times New Roman"/>
                <a:cs typeface="Times New Roman"/>
              </a:rPr>
              <a:t>Fj[FU]</a:t>
            </a:r>
            <a:r>
              <a:rPr dirty="0" sz="2200" spc="-25" b="1">
                <a:solidFill>
                  <a:srgbClr val="9966FF"/>
                </a:solidFill>
                <a:latin typeface="宋体"/>
                <a:cs typeface="宋体"/>
              </a:rPr>
              <a:t>：功能部件</a:t>
            </a:r>
            <a:r>
              <a:rPr dirty="0" sz="2200" spc="-20" b="1">
                <a:solidFill>
                  <a:srgbClr val="9966FF"/>
                </a:solidFill>
                <a:latin typeface="Times New Roman"/>
                <a:cs typeface="Times New Roman"/>
              </a:rPr>
              <a:t>FU</a:t>
            </a:r>
            <a:r>
              <a:rPr dirty="0" sz="2200" spc="-25" b="1">
                <a:solidFill>
                  <a:srgbClr val="9966FF"/>
                </a:solidFill>
                <a:latin typeface="宋体"/>
                <a:cs typeface="宋体"/>
              </a:rPr>
              <a:t>的</a:t>
            </a:r>
            <a:r>
              <a:rPr dirty="0" sz="2200" spc="-10" b="1">
                <a:solidFill>
                  <a:srgbClr val="9966FF"/>
                </a:solidFill>
                <a:latin typeface="Times New Roman"/>
                <a:cs typeface="Times New Roman"/>
              </a:rPr>
              <a:t>Fj</a:t>
            </a:r>
            <a:r>
              <a:rPr dirty="0" sz="2200" spc="-20" b="1">
                <a:solidFill>
                  <a:srgbClr val="9966FF"/>
                </a:solidFill>
                <a:latin typeface="宋体"/>
                <a:cs typeface="宋体"/>
              </a:rPr>
              <a:t>字段</a:t>
            </a:r>
            <a:r>
              <a:rPr dirty="0" sz="2200" spc="-25" b="1">
                <a:solidFill>
                  <a:srgbClr val="9966FF"/>
                </a:solidFill>
                <a:latin typeface="宋体"/>
                <a:cs typeface="宋体"/>
              </a:rPr>
              <a:t>（其他字段依此类推）；</a:t>
            </a:r>
            <a:endParaRPr sz="2200">
              <a:latin typeface="宋体"/>
              <a:cs typeface="宋体"/>
            </a:endParaRPr>
          </a:p>
          <a:p>
            <a:pPr lvl="1" marL="1056640" marR="5080" indent="-457200">
              <a:lnSpc>
                <a:spcPct val="120000"/>
              </a:lnSpc>
              <a:spcBef>
                <a:spcPts val="535"/>
              </a:spcBef>
              <a:buClr>
                <a:srgbClr val="4668F5"/>
              </a:buClr>
              <a:buSzPct val="68181"/>
              <a:buFont typeface="Wingdings"/>
              <a:buChar char=""/>
              <a:tabLst>
                <a:tab pos="1056640" algn="l"/>
              </a:tabLst>
            </a:pPr>
            <a:r>
              <a:rPr dirty="0" sz="2200" spc="-10" b="1">
                <a:solidFill>
                  <a:srgbClr val="D50092"/>
                </a:solidFill>
                <a:latin typeface="Times New Roman"/>
                <a:cs typeface="Times New Roman"/>
              </a:rPr>
              <a:t>Result[D]</a:t>
            </a:r>
            <a:r>
              <a:rPr dirty="0" sz="2200" spc="-25" b="1">
                <a:solidFill>
                  <a:srgbClr val="9966FF"/>
                </a:solidFill>
                <a:latin typeface="宋体"/>
                <a:cs typeface="宋体"/>
              </a:rPr>
              <a:t>：结果寄存器状态表中与寄存器</a:t>
            </a:r>
            <a:r>
              <a:rPr dirty="0" sz="2200" spc="-30" b="1">
                <a:solidFill>
                  <a:srgbClr val="9966FF"/>
                </a:solidFill>
                <a:latin typeface="Times New Roman"/>
                <a:cs typeface="Times New Roman"/>
              </a:rPr>
              <a:t>D</a:t>
            </a:r>
            <a:r>
              <a:rPr dirty="0" sz="2200" spc="-30" b="1">
                <a:solidFill>
                  <a:srgbClr val="9966FF"/>
                </a:solidFill>
                <a:latin typeface="宋体"/>
                <a:cs typeface="宋体"/>
              </a:rPr>
              <a:t>相对应的内容。其中</a:t>
            </a:r>
            <a:r>
              <a:rPr dirty="0" sz="2200" spc="-20" b="1">
                <a:solidFill>
                  <a:srgbClr val="9966FF"/>
                </a:solidFill>
                <a:latin typeface="宋体"/>
                <a:cs typeface="宋体"/>
              </a:rPr>
              <a:t>存放的是将把结果写入寄存器</a:t>
            </a:r>
            <a:r>
              <a:rPr dirty="0" sz="2200" spc="-10" b="1">
                <a:solidFill>
                  <a:srgbClr val="9966FF"/>
                </a:solidFill>
                <a:latin typeface="Times New Roman"/>
                <a:cs typeface="Times New Roman"/>
              </a:rPr>
              <a:t>D</a:t>
            </a:r>
            <a:r>
              <a:rPr dirty="0" sz="2200" spc="-30" b="1">
                <a:solidFill>
                  <a:srgbClr val="9966FF"/>
                </a:solidFill>
                <a:latin typeface="宋体"/>
                <a:cs typeface="宋体"/>
              </a:rPr>
              <a:t>的功能部件的名称。</a:t>
            </a:r>
            <a:endParaRPr sz="2200">
              <a:latin typeface="宋体"/>
              <a:cs typeface="宋体"/>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44/175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845616" y="819150"/>
            <a:ext cx="7609840" cy="2501265"/>
          </a:xfrm>
          <a:prstGeom prst="rect">
            <a:avLst/>
          </a:prstGeom>
        </p:spPr>
        <p:txBody>
          <a:bodyPr wrap="square" lIns="0" tIns="158750" rIns="0" bIns="0" rtlCol="0" vert="horz">
            <a:spAutoFit/>
          </a:bodyPr>
          <a:lstStyle/>
          <a:p>
            <a:pPr marL="12700">
              <a:lnSpc>
                <a:spcPct val="100000"/>
              </a:lnSpc>
              <a:spcBef>
                <a:spcPts val="1250"/>
              </a:spcBef>
            </a:pPr>
            <a:r>
              <a:rPr dirty="0" sz="2400" spc="-10">
                <a:solidFill>
                  <a:srgbClr val="001F5F"/>
                </a:solidFill>
                <a:latin typeface="黑体"/>
                <a:cs typeface="黑体"/>
              </a:rPr>
              <a:t>（</a:t>
            </a:r>
            <a:r>
              <a:rPr dirty="0" sz="2400" spc="-10">
                <a:solidFill>
                  <a:srgbClr val="001F5F"/>
                </a:solidFill>
                <a:latin typeface="Tahoma"/>
                <a:cs typeface="Tahoma"/>
              </a:rPr>
              <a:t>1</a:t>
            </a:r>
            <a:r>
              <a:rPr dirty="0" sz="2400" spc="-10">
                <a:solidFill>
                  <a:srgbClr val="001F5F"/>
                </a:solidFill>
                <a:latin typeface="黑体"/>
                <a:cs typeface="黑体"/>
              </a:rPr>
              <a:t>）</a:t>
            </a:r>
            <a:r>
              <a:rPr dirty="0" sz="2400" spc="-15">
                <a:solidFill>
                  <a:srgbClr val="001F5F"/>
                </a:solidFill>
                <a:latin typeface="黑体"/>
                <a:cs typeface="黑体"/>
              </a:rPr>
              <a:t>指令流出</a:t>
            </a:r>
            <a:endParaRPr sz="2400">
              <a:latin typeface="黑体"/>
              <a:cs typeface="黑体"/>
            </a:endParaRPr>
          </a:p>
          <a:p>
            <a:pPr marL="641985">
              <a:lnSpc>
                <a:spcPct val="100000"/>
              </a:lnSpc>
              <a:spcBef>
                <a:spcPts val="1155"/>
              </a:spcBef>
            </a:pPr>
            <a:r>
              <a:rPr dirty="0" sz="2400" spc="-10">
                <a:solidFill>
                  <a:srgbClr val="D50092"/>
                </a:solidFill>
                <a:latin typeface="黑体"/>
                <a:cs typeface="黑体"/>
              </a:rPr>
              <a:t>进入条件：</a:t>
            </a:r>
            <a:endParaRPr sz="2400">
              <a:latin typeface="黑体"/>
              <a:cs typeface="黑体"/>
            </a:endParaRPr>
          </a:p>
          <a:p>
            <a:pPr marL="641985">
              <a:lnSpc>
                <a:spcPct val="100000"/>
              </a:lnSpc>
              <a:spcBef>
                <a:spcPts val="1155"/>
              </a:spcBef>
            </a:pPr>
            <a:r>
              <a:rPr dirty="0" sz="2400">
                <a:solidFill>
                  <a:srgbClr val="40458B"/>
                </a:solidFill>
                <a:latin typeface="Tahoma"/>
                <a:cs typeface="Tahoma"/>
              </a:rPr>
              <a:t>not</a:t>
            </a:r>
            <a:r>
              <a:rPr dirty="0" sz="2400" spc="-45">
                <a:solidFill>
                  <a:srgbClr val="40458B"/>
                </a:solidFill>
                <a:latin typeface="Tahoma"/>
                <a:cs typeface="Tahoma"/>
              </a:rPr>
              <a:t> </a:t>
            </a:r>
            <a:r>
              <a:rPr dirty="0" sz="2400">
                <a:solidFill>
                  <a:srgbClr val="40458B"/>
                </a:solidFill>
                <a:latin typeface="Tahoma"/>
                <a:cs typeface="Tahoma"/>
              </a:rPr>
              <a:t>Busy[</a:t>
            </a:r>
            <a:r>
              <a:rPr dirty="0" sz="2400">
                <a:solidFill>
                  <a:srgbClr val="E14B04"/>
                </a:solidFill>
                <a:latin typeface="Tahoma"/>
                <a:cs typeface="Tahoma"/>
              </a:rPr>
              <a:t>FU</a:t>
            </a:r>
            <a:r>
              <a:rPr dirty="0" sz="2400" spc="-10">
                <a:solidFill>
                  <a:srgbClr val="40458B"/>
                </a:solidFill>
                <a:latin typeface="Tahoma"/>
                <a:cs typeface="Tahoma"/>
              </a:rPr>
              <a:t>] </a:t>
            </a:r>
            <a:r>
              <a:rPr dirty="0" sz="2400">
                <a:solidFill>
                  <a:srgbClr val="40458B"/>
                </a:solidFill>
                <a:latin typeface="Tahoma"/>
                <a:cs typeface="Tahoma"/>
              </a:rPr>
              <a:t>&amp;</a:t>
            </a:r>
            <a:r>
              <a:rPr dirty="0" sz="2400" spc="-20">
                <a:solidFill>
                  <a:srgbClr val="40458B"/>
                </a:solidFill>
                <a:latin typeface="Tahoma"/>
                <a:cs typeface="Tahoma"/>
              </a:rPr>
              <a:t> </a:t>
            </a:r>
            <a:r>
              <a:rPr dirty="0" sz="2400">
                <a:solidFill>
                  <a:srgbClr val="40458B"/>
                </a:solidFill>
                <a:latin typeface="Tahoma"/>
                <a:cs typeface="Tahoma"/>
              </a:rPr>
              <a:t>not</a:t>
            </a:r>
            <a:r>
              <a:rPr dirty="0" sz="2400" spc="-40">
                <a:solidFill>
                  <a:srgbClr val="40458B"/>
                </a:solidFill>
                <a:latin typeface="Tahoma"/>
                <a:cs typeface="Tahoma"/>
              </a:rPr>
              <a:t> </a:t>
            </a:r>
            <a:r>
              <a:rPr dirty="0" sz="2400">
                <a:solidFill>
                  <a:srgbClr val="40458B"/>
                </a:solidFill>
                <a:latin typeface="Tahoma"/>
                <a:cs typeface="Tahoma"/>
              </a:rPr>
              <a:t>Result[</a:t>
            </a:r>
            <a:r>
              <a:rPr dirty="0" sz="2400">
                <a:solidFill>
                  <a:srgbClr val="00CC00"/>
                </a:solidFill>
                <a:latin typeface="Tahoma"/>
                <a:cs typeface="Tahoma"/>
              </a:rPr>
              <a:t>D</a:t>
            </a:r>
            <a:r>
              <a:rPr dirty="0" sz="2400">
                <a:solidFill>
                  <a:srgbClr val="40458B"/>
                </a:solidFill>
                <a:latin typeface="Tahoma"/>
                <a:cs typeface="Tahoma"/>
              </a:rPr>
              <a:t>]</a:t>
            </a:r>
            <a:r>
              <a:rPr dirty="0" sz="2400">
                <a:solidFill>
                  <a:srgbClr val="40458B"/>
                </a:solidFill>
                <a:latin typeface="黑体"/>
                <a:cs typeface="黑体"/>
              </a:rPr>
              <a:t>；</a:t>
            </a:r>
            <a:r>
              <a:rPr dirty="0" sz="2000" spc="-20" b="1">
                <a:latin typeface="宋体"/>
                <a:cs typeface="宋体"/>
              </a:rPr>
              <a:t>// 功能部件空闲且没有</a:t>
            </a:r>
            <a:endParaRPr sz="2000">
              <a:latin typeface="宋体"/>
              <a:cs typeface="宋体"/>
            </a:endParaRPr>
          </a:p>
          <a:p>
            <a:pPr marL="4885055">
              <a:lnSpc>
                <a:spcPct val="100000"/>
              </a:lnSpc>
              <a:spcBef>
                <a:spcPts val="1019"/>
              </a:spcBef>
            </a:pPr>
            <a:r>
              <a:rPr dirty="0" sz="2000" spc="-10" b="1">
                <a:latin typeface="宋体"/>
                <a:cs typeface="宋体"/>
              </a:rPr>
              <a:t>//写后写（WAW）</a:t>
            </a:r>
            <a:r>
              <a:rPr dirty="0" sz="2000" spc="-30" b="1">
                <a:latin typeface="宋体"/>
                <a:cs typeface="宋体"/>
              </a:rPr>
              <a:t>冲突。</a:t>
            </a:r>
            <a:endParaRPr sz="2000">
              <a:latin typeface="宋体"/>
              <a:cs typeface="宋体"/>
            </a:endParaRPr>
          </a:p>
          <a:p>
            <a:pPr marL="641985">
              <a:lnSpc>
                <a:spcPct val="100000"/>
              </a:lnSpc>
              <a:spcBef>
                <a:spcPts val="1095"/>
              </a:spcBef>
            </a:pPr>
            <a:r>
              <a:rPr dirty="0" sz="2400" spc="-10">
                <a:solidFill>
                  <a:srgbClr val="D50092"/>
                </a:solidFill>
                <a:latin typeface="黑体"/>
                <a:cs typeface="黑体"/>
              </a:rPr>
              <a:t>计分牌内容修改：</a:t>
            </a:r>
            <a:endParaRPr sz="2400">
              <a:latin typeface="黑体"/>
              <a:cs typeface="黑体"/>
            </a:endParaRPr>
          </a:p>
        </p:txBody>
      </p:sp>
      <p:sp>
        <p:nvSpPr>
          <p:cNvPr id="11" name="object 11" descr=""/>
          <p:cNvSpPr txBox="1"/>
          <p:nvPr/>
        </p:nvSpPr>
        <p:spPr>
          <a:xfrm>
            <a:off x="1474977" y="3441319"/>
            <a:ext cx="231521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Tahoma"/>
                <a:cs typeface="Tahoma"/>
              </a:rPr>
              <a:t>Busy[</a:t>
            </a:r>
            <a:r>
              <a:rPr dirty="0" sz="2400" spc="-10">
                <a:solidFill>
                  <a:srgbClr val="E14B04"/>
                </a:solidFill>
                <a:latin typeface="Tahoma"/>
                <a:cs typeface="Tahoma"/>
              </a:rPr>
              <a:t>FU</a:t>
            </a:r>
            <a:r>
              <a:rPr dirty="0" sz="2400" spc="-10">
                <a:solidFill>
                  <a:srgbClr val="40458B"/>
                </a:solidFill>
                <a:latin typeface="Tahoma"/>
                <a:cs typeface="Tahoma"/>
              </a:rPr>
              <a:t>]←yes</a:t>
            </a:r>
            <a:r>
              <a:rPr dirty="0" sz="2400" spc="-10">
                <a:solidFill>
                  <a:srgbClr val="40458B"/>
                </a:solidFill>
                <a:latin typeface="黑体"/>
                <a:cs typeface="黑体"/>
              </a:rPr>
              <a:t>；</a:t>
            </a:r>
            <a:endParaRPr sz="2400">
              <a:latin typeface="黑体"/>
              <a:cs typeface="黑体"/>
            </a:endParaRPr>
          </a:p>
        </p:txBody>
      </p:sp>
      <p:sp>
        <p:nvSpPr>
          <p:cNvPr id="12" name="object 12" descr=""/>
          <p:cNvSpPr txBox="1"/>
          <p:nvPr/>
        </p:nvSpPr>
        <p:spPr>
          <a:xfrm>
            <a:off x="4814696" y="3491610"/>
            <a:ext cx="5016500" cy="330835"/>
          </a:xfrm>
          <a:prstGeom prst="rect">
            <a:avLst/>
          </a:prstGeom>
        </p:spPr>
        <p:txBody>
          <a:bodyPr wrap="square" lIns="0" tIns="13335" rIns="0" bIns="0" rtlCol="0" vert="horz">
            <a:spAutoFit/>
          </a:bodyPr>
          <a:lstStyle/>
          <a:p>
            <a:pPr marL="12700">
              <a:lnSpc>
                <a:spcPct val="100000"/>
              </a:lnSpc>
              <a:spcBef>
                <a:spcPts val="105"/>
              </a:spcBef>
            </a:pPr>
            <a:r>
              <a:rPr dirty="0" sz="2000" spc="-25" b="1">
                <a:latin typeface="宋体"/>
                <a:cs typeface="宋体"/>
              </a:rPr>
              <a:t>// 把当前指令的相关信息填入功能部件状态</a:t>
            </a:r>
            <a:endParaRPr sz="2000">
              <a:latin typeface="宋体"/>
              <a:cs typeface="宋体"/>
            </a:endParaRPr>
          </a:p>
        </p:txBody>
      </p:sp>
      <p:sp>
        <p:nvSpPr>
          <p:cNvPr id="13" name="object 13" descr=""/>
          <p:cNvSpPr txBox="1"/>
          <p:nvPr/>
        </p:nvSpPr>
        <p:spPr>
          <a:xfrm>
            <a:off x="1932177" y="3875659"/>
            <a:ext cx="5146040" cy="330835"/>
          </a:xfrm>
          <a:prstGeom prst="rect">
            <a:avLst/>
          </a:prstGeom>
        </p:spPr>
        <p:txBody>
          <a:bodyPr wrap="square" lIns="0" tIns="12700" rIns="0" bIns="0" rtlCol="0" vert="horz">
            <a:spAutoFit/>
          </a:bodyPr>
          <a:lstStyle/>
          <a:p>
            <a:pPr marL="12700">
              <a:lnSpc>
                <a:spcPct val="100000"/>
              </a:lnSpc>
              <a:spcBef>
                <a:spcPts val="100"/>
              </a:spcBef>
            </a:pPr>
            <a:r>
              <a:rPr dirty="0" sz="2000" spc="-25" b="1">
                <a:latin typeface="宋体"/>
                <a:cs typeface="宋体"/>
              </a:rPr>
              <a:t>表。功能部件状态表中各字段的含义见前面。</a:t>
            </a:r>
            <a:endParaRPr sz="2000">
              <a:latin typeface="宋体"/>
              <a:cs typeface="宋体"/>
            </a:endParaRPr>
          </a:p>
        </p:txBody>
      </p:sp>
      <p:sp>
        <p:nvSpPr>
          <p:cNvPr id="14" name="object 14" descr=""/>
          <p:cNvSpPr txBox="1"/>
          <p:nvPr/>
        </p:nvSpPr>
        <p:spPr>
          <a:xfrm>
            <a:off x="1474977" y="4173092"/>
            <a:ext cx="1999614" cy="1562100"/>
          </a:xfrm>
          <a:prstGeom prst="rect">
            <a:avLst/>
          </a:prstGeom>
        </p:spPr>
        <p:txBody>
          <a:bodyPr wrap="square" lIns="0" tIns="12700" rIns="0" bIns="0" rtlCol="0" vert="horz">
            <a:spAutoFit/>
          </a:bodyPr>
          <a:lstStyle/>
          <a:p>
            <a:pPr marL="12700" marR="5080">
              <a:lnSpc>
                <a:spcPct val="140000"/>
              </a:lnSpc>
              <a:spcBef>
                <a:spcPts val="100"/>
              </a:spcBef>
            </a:pPr>
            <a:r>
              <a:rPr dirty="0" sz="2400" spc="-10">
                <a:solidFill>
                  <a:srgbClr val="40458B"/>
                </a:solidFill>
                <a:latin typeface="Tahoma"/>
                <a:cs typeface="Tahoma"/>
              </a:rPr>
              <a:t>Op[</a:t>
            </a:r>
            <a:r>
              <a:rPr dirty="0" sz="2400" spc="-10">
                <a:solidFill>
                  <a:srgbClr val="E14B04"/>
                </a:solidFill>
                <a:latin typeface="Tahoma"/>
                <a:cs typeface="Tahoma"/>
              </a:rPr>
              <a:t>FU</a:t>
            </a:r>
            <a:r>
              <a:rPr dirty="0" sz="2400" spc="-10">
                <a:solidFill>
                  <a:srgbClr val="40458B"/>
                </a:solidFill>
                <a:latin typeface="Tahoma"/>
                <a:cs typeface="Tahoma"/>
              </a:rPr>
              <a:t>]←Op</a:t>
            </a:r>
            <a:r>
              <a:rPr dirty="0" sz="2400" spc="-10">
                <a:solidFill>
                  <a:srgbClr val="40458B"/>
                </a:solidFill>
                <a:latin typeface="黑体"/>
                <a:cs typeface="黑体"/>
              </a:rPr>
              <a:t>； </a:t>
            </a:r>
            <a:r>
              <a:rPr dirty="0" sz="2400" spc="-10">
                <a:solidFill>
                  <a:srgbClr val="40458B"/>
                </a:solidFill>
                <a:latin typeface="Tahoma"/>
                <a:cs typeface="Tahoma"/>
              </a:rPr>
              <a:t>Fi[</a:t>
            </a:r>
            <a:r>
              <a:rPr dirty="0" sz="2400" spc="-10">
                <a:solidFill>
                  <a:srgbClr val="E14B04"/>
                </a:solidFill>
                <a:latin typeface="Tahoma"/>
                <a:cs typeface="Tahoma"/>
              </a:rPr>
              <a:t>FU</a:t>
            </a:r>
            <a:r>
              <a:rPr dirty="0" sz="2400" spc="-10">
                <a:solidFill>
                  <a:srgbClr val="40458B"/>
                </a:solidFill>
                <a:latin typeface="Tahoma"/>
                <a:cs typeface="Tahoma"/>
              </a:rPr>
              <a:t>]←D</a:t>
            </a:r>
            <a:r>
              <a:rPr dirty="0" sz="2400" spc="-10">
                <a:solidFill>
                  <a:srgbClr val="40458B"/>
                </a:solidFill>
                <a:latin typeface="黑体"/>
                <a:cs typeface="黑体"/>
              </a:rPr>
              <a:t>； Fj[</a:t>
            </a:r>
            <a:r>
              <a:rPr dirty="0" sz="2400" spc="-10">
                <a:solidFill>
                  <a:srgbClr val="E14B04"/>
                </a:solidFill>
                <a:latin typeface="黑体"/>
                <a:cs typeface="黑体"/>
              </a:rPr>
              <a:t>FU</a:t>
            </a:r>
            <a:r>
              <a:rPr dirty="0" sz="2400" spc="-10">
                <a:solidFill>
                  <a:srgbClr val="40458B"/>
                </a:solidFill>
                <a:latin typeface="黑体"/>
                <a:cs typeface="黑体"/>
              </a:rPr>
              <a:t>]←S1；</a:t>
            </a:r>
            <a:endParaRPr sz="2400">
              <a:latin typeface="黑体"/>
              <a:cs typeface="黑体"/>
            </a:endParaRPr>
          </a:p>
        </p:txBody>
      </p:sp>
      <p:sp>
        <p:nvSpPr>
          <p:cNvPr id="15" name="object 15" descr=""/>
          <p:cNvSpPr txBox="1"/>
          <p:nvPr/>
        </p:nvSpPr>
        <p:spPr>
          <a:xfrm>
            <a:off x="4781169" y="4369689"/>
            <a:ext cx="1947545" cy="330835"/>
          </a:xfrm>
          <a:prstGeom prst="rect">
            <a:avLst/>
          </a:prstGeom>
        </p:spPr>
        <p:txBody>
          <a:bodyPr wrap="square" lIns="0" tIns="12700" rIns="0" bIns="0" rtlCol="0" vert="horz">
            <a:spAutoFit/>
          </a:bodyPr>
          <a:lstStyle/>
          <a:p>
            <a:pPr marL="12700">
              <a:lnSpc>
                <a:spcPct val="100000"/>
              </a:lnSpc>
              <a:spcBef>
                <a:spcPts val="100"/>
              </a:spcBef>
            </a:pPr>
            <a:r>
              <a:rPr dirty="0" sz="2000" spc="-15" b="1">
                <a:latin typeface="宋体"/>
                <a:cs typeface="宋体"/>
              </a:rPr>
              <a:t>// 记录操作码。</a:t>
            </a:r>
            <a:endParaRPr sz="2000">
              <a:latin typeface="宋体"/>
              <a:cs typeface="宋体"/>
            </a:endParaRPr>
          </a:p>
        </p:txBody>
      </p:sp>
      <p:sp>
        <p:nvSpPr>
          <p:cNvPr id="16" name="object 16" descr=""/>
          <p:cNvSpPr txBox="1"/>
          <p:nvPr/>
        </p:nvSpPr>
        <p:spPr>
          <a:xfrm>
            <a:off x="4733925" y="4881752"/>
            <a:ext cx="2971800" cy="330835"/>
          </a:xfrm>
          <a:prstGeom prst="rect">
            <a:avLst/>
          </a:prstGeom>
        </p:spPr>
        <p:txBody>
          <a:bodyPr wrap="square" lIns="0" tIns="12700" rIns="0" bIns="0" rtlCol="0" vert="horz">
            <a:spAutoFit/>
          </a:bodyPr>
          <a:lstStyle/>
          <a:p>
            <a:pPr marL="12700">
              <a:lnSpc>
                <a:spcPct val="100000"/>
              </a:lnSpc>
              <a:spcBef>
                <a:spcPts val="100"/>
              </a:spcBef>
            </a:pPr>
            <a:r>
              <a:rPr dirty="0" sz="2000" spc="-15" b="1">
                <a:latin typeface="宋体"/>
                <a:cs typeface="宋体"/>
              </a:rPr>
              <a:t>// 记录目的寄存器编号。</a:t>
            </a:r>
            <a:endParaRPr sz="2000">
              <a:latin typeface="宋体"/>
              <a:cs typeface="宋体"/>
            </a:endParaRPr>
          </a:p>
        </p:txBody>
      </p:sp>
      <p:sp>
        <p:nvSpPr>
          <p:cNvPr id="17" name="object 17" descr=""/>
          <p:cNvSpPr txBox="1"/>
          <p:nvPr/>
        </p:nvSpPr>
        <p:spPr>
          <a:xfrm>
            <a:off x="4676013" y="5393537"/>
            <a:ext cx="3483610" cy="331470"/>
          </a:xfrm>
          <a:prstGeom prst="rect">
            <a:avLst/>
          </a:prstGeom>
        </p:spPr>
        <p:txBody>
          <a:bodyPr wrap="square" lIns="0" tIns="13335" rIns="0" bIns="0" rtlCol="0" vert="horz">
            <a:spAutoFit/>
          </a:bodyPr>
          <a:lstStyle/>
          <a:p>
            <a:pPr marL="12700">
              <a:lnSpc>
                <a:spcPct val="100000"/>
              </a:lnSpc>
              <a:spcBef>
                <a:spcPts val="105"/>
              </a:spcBef>
            </a:pPr>
            <a:r>
              <a:rPr dirty="0" sz="2000" spc="-20" b="1">
                <a:latin typeface="宋体"/>
                <a:cs typeface="宋体"/>
              </a:rPr>
              <a:t>// 记录第一个源寄存器编号。</a:t>
            </a:r>
            <a:endParaRPr sz="2000">
              <a:latin typeface="宋体"/>
              <a:cs typeface="宋体"/>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45/175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619503" y="1331416"/>
            <a:ext cx="8423910" cy="3587115"/>
          </a:xfrm>
          <a:prstGeom prst="rect">
            <a:avLst/>
          </a:prstGeom>
        </p:spPr>
        <p:txBody>
          <a:bodyPr wrap="square" lIns="0" tIns="12700" rIns="0" bIns="0" rtlCol="0" vert="horz">
            <a:spAutoFit/>
          </a:bodyPr>
          <a:lstStyle/>
          <a:p>
            <a:pPr marL="12700">
              <a:lnSpc>
                <a:spcPct val="100000"/>
              </a:lnSpc>
              <a:spcBef>
                <a:spcPts val="100"/>
              </a:spcBef>
              <a:tabLst>
                <a:tab pos="3101975" algn="l"/>
              </a:tabLst>
            </a:pPr>
            <a:r>
              <a:rPr dirty="0" sz="2400" spc="-10">
                <a:solidFill>
                  <a:srgbClr val="40458B"/>
                </a:solidFill>
                <a:latin typeface="Tahoma"/>
                <a:cs typeface="Tahoma"/>
              </a:rPr>
              <a:t>Fk[</a:t>
            </a:r>
            <a:r>
              <a:rPr dirty="0" sz="2400" spc="-10">
                <a:solidFill>
                  <a:srgbClr val="E14B04"/>
                </a:solidFill>
                <a:latin typeface="Tahoma"/>
                <a:cs typeface="Tahoma"/>
              </a:rPr>
              <a:t>FU</a:t>
            </a:r>
            <a:r>
              <a:rPr dirty="0" sz="2400" spc="-10">
                <a:solidFill>
                  <a:srgbClr val="40458B"/>
                </a:solidFill>
                <a:latin typeface="Tahoma"/>
                <a:cs typeface="Tahoma"/>
              </a:rPr>
              <a:t>]←S2</a:t>
            </a:r>
            <a:r>
              <a:rPr dirty="0" sz="2400" spc="-10">
                <a:solidFill>
                  <a:srgbClr val="40458B"/>
                </a:solidFill>
                <a:latin typeface="黑体"/>
                <a:cs typeface="黑体"/>
              </a:rPr>
              <a:t>；</a:t>
            </a:r>
            <a:r>
              <a:rPr dirty="0" sz="2400">
                <a:solidFill>
                  <a:srgbClr val="40458B"/>
                </a:solidFill>
                <a:latin typeface="黑体"/>
                <a:cs typeface="黑体"/>
              </a:rPr>
              <a:t>	</a:t>
            </a:r>
            <a:r>
              <a:rPr dirty="0" sz="2000" spc="-10" b="1">
                <a:latin typeface="宋体"/>
                <a:cs typeface="宋体"/>
              </a:rPr>
              <a:t>// 记录第二个源寄存器编号</a:t>
            </a:r>
            <a:r>
              <a:rPr dirty="0" sz="2400" spc="-60">
                <a:solidFill>
                  <a:srgbClr val="40458B"/>
                </a:solidFill>
                <a:latin typeface="黑体"/>
                <a:cs typeface="黑体"/>
              </a:rPr>
              <a:t>。</a:t>
            </a:r>
            <a:endParaRPr sz="2400">
              <a:latin typeface="黑体"/>
              <a:cs typeface="黑体"/>
            </a:endParaRPr>
          </a:p>
          <a:p>
            <a:pPr marL="12700" marR="383540">
              <a:lnSpc>
                <a:spcPct val="160000"/>
              </a:lnSpc>
              <a:spcBef>
                <a:spcPts val="5"/>
              </a:spcBef>
            </a:pPr>
            <a:r>
              <a:rPr dirty="0" sz="2400" spc="-10">
                <a:solidFill>
                  <a:srgbClr val="40458B"/>
                </a:solidFill>
                <a:latin typeface="Tahoma"/>
                <a:cs typeface="Tahoma"/>
              </a:rPr>
              <a:t>Qj[</a:t>
            </a:r>
            <a:r>
              <a:rPr dirty="0" sz="2400" spc="-10">
                <a:solidFill>
                  <a:srgbClr val="E14B04"/>
                </a:solidFill>
                <a:latin typeface="Tahoma"/>
                <a:cs typeface="Tahoma"/>
              </a:rPr>
              <a:t>FU</a:t>
            </a:r>
            <a:r>
              <a:rPr dirty="0" sz="2400" spc="-10">
                <a:solidFill>
                  <a:srgbClr val="40458B"/>
                </a:solidFill>
                <a:latin typeface="Tahoma"/>
                <a:cs typeface="Tahoma"/>
              </a:rPr>
              <a:t>]←Result[</a:t>
            </a:r>
            <a:r>
              <a:rPr dirty="0" sz="2400" spc="-10">
                <a:solidFill>
                  <a:srgbClr val="D50092"/>
                </a:solidFill>
                <a:latin typeface="Tahoma"/>
                <a:cs typeface="Tahoma"/>
              </a:rPr>
              <a:t>S1</a:t>
            </a:r>
            <a:r>
              <a:rPr dirty="0" sz="2400" spc="-10">
                <a:solidFill>
                  <a:srgbClr val="40458B"/>
                </a:solidFill>
                <a:latin typeface="Tahoma"/>
                <a:cs typeface="Tahoma"/>
              </a:rPr>
              <a:t>]</a:t>
            </a:r>
            <a:r>
              <a:rPr dirty="0" sz="2400" spc="-120">
                <a:solidFill>
                  <a:srgbClr val="40458B"/>
                </a:solidFill>
                <a:latin typeface="黑体"/>
                <a:cs typeface="黑体"/>
              </a:rPr>
              <a:t>； </a:t>
            </a:r>
            <a:r>
              <a:rPr dirty="0" sz="2000" spc="-20" b="1">
                <a:latin typeface="宋体"/>
                <a:cs typeface="宋体"/>
              </a:rPr>
              <a:t>// 记录将产生第一个源操作数的部件。</a:t>
            </a:r>
            <a:r>
              <a:rPr dirty="0" sz="2000" spc="-50" b="1">
                <a:latin typeface="宋体"/>
                <a:cs typeface="宋体"/>
              </a:rPr>
              <a:t> </a:t>
            </a:r>
            <a:r>
              <a:rPr dirty="0" sz="2400" spc="-10">
                <a:solidFill>
                  <a:srgbClr val="40458B"/>
                </a:solidFill>
                <a:latin typeface="Tahoma"/>
                <a:cs typeface="Tahoma"/>
              </a:rPr>
              <a:t>Qk[</a:t>
            </a:r>
            <a:r>
              <a:rPr dirty="0" sz="2400" spc="-10">
                <a:solidFill>
                  <a:srgbClr val="E14B04"/>
                </a:solidFill>
                <a:latin typeface="Tahoma"/>
                <a:cs typeface="Tahoma"/>
              </a:rPr>
              <a:t>FU</a:t>
            </a:r>
            <a:r>
              <a:rPr dirty="0" sz="2400" spc="-10">
                <a:solidFill>
                  <a:srgbClr val="40458B"/>
                </a:solidFill>
                <a:latin typeface="Tahoma"/>
                <a:cs typeface="Tahoma"/>
              </a:rPr>
              <a:t>]←Result[</a:t>
            </a:r>
            <a:r>
              <a:rPr dirty="0" sz="2400" spc="-10">
                <a:solidFill>
                  <a:srgbClr val="D50092"/>
                </a:solidFill>
                <a:latin typeface="Tahoma"/>
                <a:cs typeface="Tahoma"/>
              </a:rPr>
              <a:t>S2</a:t>
            </a:r>
            <a:r>
              <a:rPr dirty="0" sz="2400" spc="-10">
                <a:solidFill>
                  <a:srgbClr val="40458B"/>
                </a:solidFill>
                <a:latin typeface="Tahoma"/>
                <a:cs typeface="Tahoma"/>
              </a:rPr>
              <a:t>]</a:t>
            </a:r>
            <a:r>
              <a:rPr dirty="0" sz="2400" spc="-375">
                <a:solidFill>
                  <a:srgbClr val="40458B"/>
                </a:solidFill>
                <a:latin typeface="黑体"/>
                <a:cs typeface="黑体"/>
              </a:rPr>
              <a:t>； </a:t>
            </a:r>
            <a:r>
              <a:rPr dirty="0" sz="2000" spc="-20" b="1">
                <a:latin typeface="宋体"/>
                <a:cs typeface="宋体"/>
              </a:rPr>
              <a:t>// 记录将产生第二个源操作数的部件。</a:t>
            </a:r>
            <a:r>
              <a:rPr dirty="0" sz="2000" spc="-50" b="1">
                <a:latin typeface="宋体"/>
                <a:cs typeface="宋体"/>
              </a:rPr>
              <a:t> </a:t>
            </a:r>
            <a:r>
              <a:rPr dirty="0" sz="2400">
                <a:solidFill>
                  <a:srgbClr val="40458B"/>
                </a:solidFill>
                <a:latin typeface="Tahoma"/>
                <a:cs typeface="Tahoma"/>
              </a:rPr>
              <a:t>Rj[</a:t>
            </a:r>
            <a:r>
              <a:rPr dirty="0" sz="2400">
                <a:solidFill>
                  <a:srgbClr val="E14B04"/>
                </a:solidFill>
                <a:latin typeface="Tahoma"/>
                <a:cs typeface="Tahoma"/>
              </a:rPr>
              <a:t>FU</a:t>
            </a:r>
            <a:r>
              <a:rPr dirty="0" sz="2400">
                <a:solidFill>
                  <a:srgbClr val="40458B"/>
                </a:solidFill>
                <a:latin typeface="Tahoma"/>
                <a:cs typeface="Tahoma"/>
              </a:rPr>
              <a:t>]←not</a:t>
            </a:r>
            <a:r>
              <a:rPr dirty="0" sz="2400" spc="-40">
                <a:solidFill>
                  <a:srgbClr val="40458B"/>
                </a:solidFill>
                <a:latin typeface="Tahoma"/>
                <a:cs typeface="Tahoma"/>
              </a:rPr>
              <a:t> </a:t>
            </a:r>
            <a:r>
              <a:rPr dirty="0" sz="2400">
                <a:solidFill>
                  <a:srgbClr val="40458B"/>
                </a:solidFill>
                <a:latin typeface="Tahoma"/>
                <a:cs typeface="Tahoma"/>
              </a:rPr>
              <a:t>Qj[</a:t>
            </a:r>
            <a:r>
              <a:rPr dirty="0" sz="2400">
                <a:solidFill>
                  <a:srgbClr val="E14B04"/>
                </a:solidFill>
                <a:latin typeface="Tahoma"/>
                <a:cs typeface="Tahoma"/>
              </a:rPr>
              <a:t>FU</a:t>
            </a:r>
            <a:r>
              <a:rPr dirty="0" sz="2400">
                <a:solidFill>
                  <a:srgbClr val="40458B"/>
                </a:solidFill>
                <a:latin typeface="Tahoma"/>
                <a:cs typeface="Tahoma"/>
              </a:rPr>
              <a:t>]</a:t>
            </a:r>
            <a:r>
              <a:rPr dirty="0" sz="2400" spc="-140">
                <a:solidFill>
                  <a:srgbClr val="40458B"/>
                </a:solidFill>
                <a:latin typeface="黑体"/>
                <a:cs typeface="黑体"/>
              </a:rPr>
              <a:t>； </a:t>
            </a:r>
            <a:r>
              <a:rPr dirty="0" sz="2000" spc="-25" b="1">
                <a:latin typeface="宋体"/>
                <a:cs typeface="宋体"/>
              </a:rPr>
              <a:t>// 置第一个源操作数是否可用的标志。如果</a:t>
            </a:r>
            <a:endParaRPr sz="2000">
              <a:latin typeface="宋体"/>
              <a:cs typeface="宋体"/>
            </a:endParaRPr>
          </a:p>
          <a:p>
            <a:pPr marL="469900" marR="5080">
              <a:lnSpc>
                <a:spcPct val="140000"/>
              </a:lnSpc>
              <a:spcBef>
                <a:spcPts val="85"/>
              </a:spcBef>
            </a:pPr>
            <a:r>
              <a:rPr dirty="0" sz="2000" spc="-10" b="1">
                <a:latin typeface="宋体"/>
                <a:cs typeface="宋体"/>
              </a:rPr>
              <a:t>Qj[FU]为“no</a:t>
            </a:r>
            <a:r>
              <a:rPr dirty="0" sz="2000" spc="-20" b="1">
                <a:latin typeface="宋体"/>
                <a:cs typeface="宋体"/>
              </a:rPr>
              <a:t>”，就表示没有操作部件要写S1，数据可用。置</a:t>
            </a:r>
            <a:r>
              <a:rPr dirty="0" sz="2000" spc="-10" b="1">
                <a:latin typeface="宋体"/>
                <a:cs typeface="宋体"/>
              </a:rPr>
              <a:t>Rj[FU</a:t>
            </a:r>
            <a:r>
              <a:rPr dirty="0" sz="2000" spc="-30" b="1">
                <a:latin typeface="宋体"/>
                <a:cs typeface="宋体"/>
              </a:rPr>
              <a:t>]为</a:t>
            </a:r>
            <a:r>
              <a:rPr dirty="0" sz="2000" spc="-50" b="1">
                <a:latin typeface="宋体"/>
                <a:cs typeface="宋体"/>
              </a:rPr>
              <a:t> </a:t>
            </a:r>
            <a:r>
              <a:rPr dirty="0" sz="2000" spc="-10" b="1">
                <a:latin typeface="宋体"/>
                <a:cs typeface="宋体"/>
              </a:rPr>
              <a:t>“yes</a:t>
            </a:r>
            <a:r>
              <a:rPr dirty="0" sz="2000" spc="-15" b="1">
                <a:latin typeface="宋体"/>
                <a:cs typeface="宋体"/>
              </a:rPr>
              <a:t>”。否则置</a:t>
            </a:r>
            <a:r>
              <a:rPr dirty="0" sz="2000" spc="-10" b="1">
                <a:latin typeface="宋体"/>
                <a:cs typeface="宋体"/>
              </a:rPr>
              <a:t>Rj[FU</a:t>
            </a:r>
            <a:r>
              <a:rPr dirty="0" sz="2000" spc="-15" b="1">
                <a:latin typeface="宋体"/>
                <a:cs typeface="宋体"/>
              </a:rPr>
              <a:t>]为“</a:t>
            </a:r>
            <a:r>
              <a:rPr dirty="0" sz="2000" spc="-10" b="1">
                <a:latin typeface="宋体"/>
                <a:cs typeface="宋体"/>
              </a:rPr>
              <a:t>no</a:t>
            </a:r>
            <a:r>
              <a:rPr dirty="0" sz="2000" spc="-30" b="1">
                <a:latin typeface="宋体"/>
                <a:cs typeface="宋体"/>
              </a:rPr>
              <a:t>”。</a:t>
            </a:r>
            <a:endParaRPr sz="2000">
              <a:latin typeface="宋体"/>
              <a:cs typeface="宋体"/>
            </a:endParaRPr>
          </a:p>
          <a:p>
            <a:pPr marL="12700">
              <a:lnSpc>
                <a:spcPct val="100000"/>
              </a:lnSpc>
              <a:spcBef>
                <a:spcPts val="1645"/>
              </a:spcBef>
            </a:pPr>
            <a:r>
              <a:rPr dirty="0" sz="2400">
                <a:solidFill>
                  <a:srgbClr val="40458B"/>
                </a:solidFill>
                <a:latin typeface="Tahoma"/>
                <a:cs typeface="Tahoma"/>
              </a:rPr>
              <a:t>Rk[</a:t>
            </a:r>
            <a:r>
              <a:rPr dirty="0" sz="2400">
                <a:solidFill>
                  <a:srgbClr val="E14B04"/>
                </a:solidFill>
                <a:latin typeface="Tahoma"/>
                <a:cs typeface="Tahoma"/>
              </a:rPr>
              <a:t>FU</a:t>
            </a:r>
            <a:r>
              <a:rPr dirty="0" sz="2400">
                <a:solidFill>
                  <a:srgbClr val="40458B"/>
                </a:solidFill>
                <a:latin typeface="Tahoma"/>
                <a:cs typeface="Tahoma"/>
              </a:rPr>
              <a:t>]←not</a:t>
            </a:r>
            <a:r>
              <a:rPr dirty="0" sz="2400" spc="-65">
                <a:solidFill>
                  <a:srgbClr val="40458B"/>
                </a:solidFill>
                <a:latin typeface="Tahoma"/>
                <a:cs typeface="Tahoma"/>
              </a:rPr>
              <a:t> </a:t>
            </a:r>
            <a:r>
              <a:rPr dirty="0" sz="2400">
                <a:solidFill>
                  <a:srgbClr val="40458B"/>
                </a:solidFill>
                <a:latin typeface="Tahoma"/>
                <a:cs typeface="Tahoma"/>
              </a:rPr>
              <a:t>Qk[</a:t>
            </a:r>
            <a:r>
              <a:rPr dirty="0" sz="2400">
                <a:solidFill>
                  <a:srgbClr val="E14B04"/>
                </a:solidFill>
                <a:latin typeface="Tahoma"/>
                <a:cs typeface="Tahoma"/>
              </a:rPr>
              <a:t>FU</a:t>
            </a:r>
            <a:r>
              <a:rPr dirty="0" sz="2400">
                <a:solidFill>
                  <a:srgbClr val="40458B"/>
                </a:solidFill>
                <a:latin typeface="Tahoma"/>
                <a:cs typeface="Tahoma"/>
              </a:rPr>
              <a:t>]</a:t>
            </a:r>
            <a:r>
              <a:rPr dirty="0" sz="2400">
                <a:solidFill>
                  <a:srgbClr val="40458B"/>
                </a:solidFill>
                <a:latin typeface="黑体"/>
                <a:cs typeface="黑体"/>
              </a:rPr>
              <a:t>；</a:t>
            </a:r>
            <a:r>
              <a:rPr dirty="0" sz="2000" spc="-30" b="1">
                <a:latin typeface="宋体"/>
                <a:cs typeface="宋体"/>
              </a:rPr>
              <a:t>// 置第二个源操作数是否可用的标志。</a:t>
            </a:r>
            <a:endParaRPr sz="2000">
              <a:latin typeface="宋体"/>
              <a:cs typeface="宋体"/>
            </a:endParaRPr>
          </a:p>
        </p:txBody>
      </p:sp>
      <p:sp>
        <p:nvSpPr>
          <p:cNvPr id="11" name="object 11" descr=""/>
          <p:cNvSpPr txBox="1"/>
          <p:nvPr/>
        </p:nvSpPr>
        <p:spPr>
          <a:xfrm>
            <a:off x="1619503" y="5112258"/>
            <a:ext cx="226314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Tahoma"/>
                <a:cs typeface="Tahoma"/>
              </a:rPr>
              <a:t>Result[</a:t>
            </a:r>
            <a:r>
              <a:rPr dirty="0" sz="2400" spc="-10">
                <a:solidFill>
                  <a:srgbClr val="00CC00"/>
                </a:solidFill>
                <a:latin typeface="Tahoma"/>
                <a:cs typeface="Tahoma"/>
              </a:rPr>
              <a:t>D</a:t>
            </a:r>
            <a:r>
              <a:rPr dirty="0" sz="2400" spc="-10">
                <a:solidFill>
                  <a:srgbClr val="40458B"/>
                </a:solidFill>
                <a:latin typeface="Tahoma"/>
                <a:cs typeface="Tahoma"/>
              </a:rPr>
              <a:t>]←FU</a:t>
            </a:r>
            <a:r>
              <a:rPr dirty="0" sz="2400" spc="-10">
                <a:solidFill>
                  <a:srgbClr val="40458B"/>
                </a:solidFill>
                <a:latin typeface="黑体"/>
                <a:cs typeface="黑体"/>
              </a:rPr>
              <a:t>；</a:t>
            </a:r>
            <a:endParaRPr sz="2400">
              <a:latin typeface="黑体"/>
              <a:cs typeface="黑体"/>
            </a:endParaRPr>
          </a:p>
        </p:txBody>
      </p:sp>
      <p:sp>
        <p:nvSpPr>
          <p:cNvPr id="12" name="object 12" descr=""/>
          <p:cNvSpPr txBox="1"/>
          <p:nvPr/>
        </p:nvSpPr>
        <p:spPr>
          <a:xfrm>
            <a:off x="4647946" y="5162550"/>
            <a:ext cx="4124325" cy="330835"/>
          </a:xfrm>
          <a:prstGeom prst="rect">
            <a:avLst/>
          </a:prstGeom>
        </p:spPr>
        <p:txBody>
          <a:bodyPr wrap="square" lIns="0" tIns="12700" rIns="0" bIns="0" rtlCol="0" vert="horz">
            <a:spAutoFit/>
          </a:bodyPr>
          <a:lstStyle/>
          <a:p>
            <a:pPr marL="12700">
              <a:lnSpc>
                <a:spcPct val="100000"/>
              </a:lnSpc>
              <a:spcBef>
                <a:spcPts val="100"/>
              </a:spcBef>
            </a:pPr>
            <a:r>
              <a:rPr dirty="0" sz="2000" spc="-5" b="1">
                <a:latin typeface="宋体"/>
                <a:cs typeface="宋体"/>
              </a:rPr>
              <a:t>// </a:t>
            </a:r>
            <a:r>
              <a:rPr dirty="0" sz="2000" spc="-10" b="1">
                <a:latin typeface="宋体"/>
                <a:cs typeface="宋体"/>
              </a:rPr>
              <a:t>D</a:t>
            </a:r>
            <a:r>
              <a:rPr dirty="0" sz="2000" spc="-20" b="1">
                <a:latin typeface="宋体"/>
                <a:cs typeface="宋体"/>
              </a:rPr>
              <a:t>是当前指令的目的寄存器。功能</a:t>
            </a:r>
            <a:endParaRPr sz="2000">
              <a:latin typeface="宋体"/>
              <a:cs typeface="宋体"/>
            </a:endParaRPr>
          </a:p>
        </p:txBody>
      </p:sp>
      <p:sp>
        <p:nvSpPr>
          <p:cNvPr id="13" name="object 13" descr=""/>
          <p:cNvSpPr txBox="1"/>
          <p:nvPr/>
        </p:nvSpPr>
        <p:spPr>
          <a:xfrm>
            <a:off x="4963795" y="5671210"/>
            <a:ext cx="2715895" cy="331470"/>
          </a:xfrm>
          <a:prstGeom prst="rect">
            <a:avLst/>
          </a:prstGeom>
        </p:spPr>
        <p:txBody>
          <a:bodyPr wrap="square" lIns="0" tIns="13335" rIns="0" bIns="0" rtlCol="0" vert="horz">
            <a:spAutoFit/>
          </a:bodyPr>
          <a:lstStyle/>
          <a:p>
            <a:pPr marL="12700">
              <a:lnSpc>
                <a:spcPct val="100000"/>
              </a:lnSpc>
              <a:spcBef>
                <a:spcPts val="105"/>
              </a:spcBef>
            </a:pPr>
            <a:r>
              <a:rPr dirty="0" sz="2000" spc="-15" b="1">
                <a:latin typeface="宋体"/>
                <a:cs typeface="宋体"/>
              </a:rPr>
              <a:t>部件</a:t>
            </a:r>
            <a:r>
              <a:rPr dirty="0" sz="2000" b="1">
                <a:latin typeface="宋体"/>
                <a:cs typeface="宋体"/>
              </a:rPr>
              <a:t>FU</a:t>
            </a:r>
            <a:r>
              <a:rPr dirty="0" sz="2000" spc="-20" b="1">
                <a:latin typeface="宋体"/>
                <a:cs typeface="宋体"/>
              </a:rPr>
              <a:t>将把结果写入</a:t>
            </a:r>
            <a:r>
              <a:rPr dirty="0" sz="2000" b="1">
                <a:latin typeface="宋体"/>
                <a:cs typeface="宋体"/>
              </a:rPr>
              <a:t>D</a:t>
            </a:r>
            <a:r>
              <a:rPr dirty="0" sz="2000" spc="-50" b="1">
                <a:latin typeface="宋体"/>
                <a:cs typeface="宋体"/>
              </a:rPr>
              <a:t>。</a:t>
            </a:r>
            <a:endParaRPr sz="2000">
              <a:latin typeface="宋体"/>
              <a:cs typeface="宋体"/>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46/175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702665" y="1093723"/>
            <a:ext cx="6361430" cy="214757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001F5F"/>
                </a:solidFill>
                <a:latin typeface="黑体"/>
                <a:cs typeface="黑体"/>
              </a:rPr>
              <a:t>（</a:t>
            </a:r>
            <a:r>
              <a:rPr dirty="0" sz="2400" spc="-10">
                <a:solidFill>
                  <a:srgbClr val="001F5F"/>
                </a:solidFill>
                <a:latin typeface="Tahoma"/>
                <a:cs typeface="Tahoma"/>
              </a:rPr>
              <a:t>2</a:t>
            </a:r>
            <a:r>
              <a:rPr dirty="0" sz="2400" spc="-10">
                <a:solidFill>
                  <a:srgbClr val="001F5F"/>
                </a:solidFill>
                <a:latin typeface="黑体"/>
                <a:cs typeface="黑体"/>
              </a:rPr>
              <a:t>）</a:t>
            </a:r>
            <a:r>
              <a:rPr dirty="0" sz="2400" spc="-15">
                <a:solidFill>
                  <a:srgbClr val="001F5F"/>
                </a:solidFill>
                <a:latin typeface="黑体"/>
                <a:cs typeface="黑体"/>
              </a:rPr>
              <a:t>读操作数</a:t>
            </a:r>
            <a:endParaRPr sz="2400">
              <a:latin typeface="黑体"/>
              <a:cs typeface="黑体"/>
            </a:endParaRPr>
          </a:p>
          <a:p>
            <a:pPr marL="641985">
              <a:lnSpc>
                <a:spcPct val="100000"/>
              </a:lnSpc>
              <a:spcBef>
                <a:spcPts val="1725"/>
              </a:spcBef>
            </a:pPr>
            <a:r>
              <a:rPr dirty="0" sz="2400" spc="-10">
                <a:solidFill>
                  <a:srgbClr val="D50092"/>
                </a:solidFill>
                <a:latin typeface="黑体"/>
                <a:cs typeface="黑体"/>
              </a:rPr>
              <a:t>进入条件：</a:t>
            </a:r>
            <a:endParaRPr sz="2400">
              <a:latin typeface="黑体"/>
              <a:cs typeface="黑体"/>
            </a:endParaRPr>
          </a:p>
          <a:p>
            <a:pPr marL="641985">
              <a:lnSpc>
                <a:spcPct val="100000"/>
              </a:lnSpc>
              <a:spcBef>
                <a:spcPts val="1730"/>
              </a:spcBef>
            </a:pPr>
            <a:r>
              <a:rPr dirty="0" sz="2400">
                <a:solidFill>
                  <a:srgbClr val="40458B"/>
                </a:solidFill>
                <a:latin typeface="Tahoma"/>
                <a:cs typeface="Tahoma"/>
              </a:rPr>
              <a:t>Rj[</a:t>
            </a:r>
            <a:r>
              <a:rPr dirty="0" sz="2400">
                <a:solidFill>
                  <a:srgbClr val="E14B04"/>
                </a:solidFill>
                <a:latin typeface="Tahoma"/>
                <a:cs typeface="Tahoma"/>
              </a:rPr>
              <a:t>FU</a:t>
            </a:r>
            <a:r>
              <a:rPr dirty="0" sz="2400" spc="-15">
                <a:solidFill>
                  <a:srgbClr val="40458B"/>
                </a:solidFill>
                <a:latin typeface="Tahoma"/>
                <a:cs typeface="Tahoma"/>
              </a:rPr>
              <a:t>] </a:t>
            </a:r>
            <a:r>
              <a:rPr dirty="0" sz="2400">
                <a:solidFill>
                  <a:srgbClr val="40458B"/>
                </a:solidFill>
                <a:latin typeface="Tahoma"/>
                <a:cs typeface="Tahoma"/>
              </a:rPr>
              <a:t>&amp;</a:t>
            </a:r>
            <a:r>
              <a:rPr dirty="0" sz="2400" spc="-30">
                <a:solidFill>
                  <a:srgbClr val="40458B"/>
                </a:solidFill>
                <a:latin typeface="Tahoma"/>
                <a:cs typeface="Tahoma"/>
              </a:rPr>
              <a:t> </a:t>
            </a:r>
            <a:r>
              <a:rPr dirty="0" sz="2400">
                <a:solidFill>
                  <a:srgbClr val="40458B"/>
                </a:solidFill>
                <a:latin typeface="Tahoma"/>
                <a:cs typeface="Tahoma"/>
              </a:rPr>
              <a:t>Rk[</a:t>
            </a:r>
            <a:r>
              <a:rPr dirty="0" sz="2400">
                <a:solidFill>
                  <a:srgbClr val="E14B04"/>
                </a:solidFill>
                <a:latin typeface="Tahoma"/>
                <a:cs typeface="Tahoma"/>
              </a:rPr>
              <a:t>FU</a:t>
            </a:r>
            <a:r>
              <a:rPr dirty="0" sz="2400">
                <a:solidFill>
                  <a:srgbClr val="40458B"/>
                </a:solidFill>
                <a:latin typeface="Tahoma"/>
                <a:cs typeface="Tahoma"/>
              </a:rPr>
              <a:t>]</a:t>
            </a:r>
            <a:r>
              <a:rPr dirty="0" sz="2400">
                <a:solidFill>
                  <a:srgbClr val="40458B"/>
                </a:solidFill>
                <a:latin typeface="黑体"/>
                <a:cs typeface="黑体"/>
              </a:rPr>
              <a:t>；</a:t>
            </a:r>
            <a:r>
              <a:rPr dirty="0" sz="2000" spc="-15" b="1">
                <a:latin typeface="宋体"/>
                <a:cs typeface="宋体"/>
              </a:rPr>
              <a:t>// 两个源操作数都已就绪。</a:t>
            </a:r>
            <a:endParaRPr sz="2000">
              <a:latin typeface="宋体"/>
              <a:cs typeface="宋体"/>
            </a:endParaRPr>
          </a:p>
          <a:p>
            <a:pPr marL="641985">
              <a:lnSpc>
                <a:spcPct val="100000"/>
              </a:lnSpc>
              <a:spcBef>
                <a:spcPts val="1730"/>
              </a:spcBef>
            </a:pPr>
            <a:r>
              <a:rPr dirty="0" sz="2400" spc="-10">
                <a:solidFill>
                  <a:srgbClr val="D50092"/>
                </a:solidFill>
                <a:latin typeface="黑体"/>
                <a:cs typeface="黑体"/>
              </a:rPr>
              <a:t>计分牌内容修改：</a:t>
            </a:r>
            <a:endParaRPr sz="2400">
              <a:latin typeface="黑体"/>
              <a:cs typeface="黑体"/>
            </a:endParaRPr>
          </a:p>
        </p:txBody>
      </p:sp>
      <p:sp>
        <p:nvSpPr>
          <p:cNvPr id="11" name="object 11" descr=""/>
          <p:cNvSpPr txBox="1"/>
          <p:nvPr/>
        </p:nvSpPr>
        <p:spPr>
          <a:xfrm>
            <a:off x="1332102" y="3435222"/>
            <a:ext cx="1906270" cy="214757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Tahoma"/>
                <a:cs typeface="Tahoma"/>
              </a:rPr>
              <a:t>Rj[</a:t>
            </a:r>
            <a:r>
              <a:rPr dirty="0" sz="2400" spc="-10">
                <a:solidFill>
                  <a:srgbClr val="E14B04"/>
                </a:solidFill>
                <a:latin typeface="Tahoma"/>
                <a:cs typeface="Tahoma"/>
              </a:rPr>
              <a:t>FU</a:t>
            </a:r>
            <a:r>
              <a:rPr dirty="0" sz="2400" spc="-10">
                <a:solidFill>
                  <a:srgbClr val="40458B"/>
                </a:solidFill>
                <a:latin typeface="Tahoma"/>
                <a:cs typeface="Tahoma"/>
              </a:rPr>
              <a:t>]←no</a:t>
            </a:r>
            <a:r>
              <a:rPr dirty="0" sz="2400" spc="-10">
                <a:solidFill>
                  <a:srgbClr val="40458B"/>
                </a:solidFill>
                <a:latin typeface="黑体"/>
                <a:cs typeface="黑体"/>
              </a:rPr>
              <a:t>；</a:t>
            </a:r>
            <a:endParaRPr sz="2400">
              <a:latin typeface="黑体"/>
              <a:cs typeface="黑体"/>
            </a:endParaRPr>
          </a:p>
          <a:p>
            <a:pPr marL="12700" marR="5080">
              <a:lnSpc>
                <a:spcPct val="160000"/>
              </a:lnSpc>
            </a:pPr>
            <a:r>
              <a:rPr dirty="0" sz="2400" spc="-10">
                <a:solidFill>
                  <a:srgbClr val="40458B"/>
                </a:solidFill>
                <a:latin typeface="Tahoma"/>
                <a:cs typeface="Tahoma"/>
              </a:rPr>
              <a:t>Rk[</a:t>
            </a:r>
            <a:r>
              <a:rPr dirty="0" sz="2400" spc="-10">
                <a:solidFill>
                  <a:srgbClr val="E14B04"/>
                </a:solidFill>
                <a:latin typeface="Tahoma"/>
                <a:cs typeface="Tahoma"/>
              </a:rPr>
              <a:t>FU</a:t>
            </a:r>
            <a:r>
              <a:rPr dirty="0" sz="2400" spc="-10">
                <a:solidFill>
                  <a:srgbClr val="40458B"/>
                </a:solidFill>
                <a:latin typeface="Tahoma"/>
                <a:cs typeface="Tahoma"/>
              </a:rPr>
              <a:t>]←no</a:t>
            </a:r>
            <a:r>
              <a:rPr dirty="0" sz="2400" spc="-10">
                <a:solidFill>
                  <a:srgbClr val="40458B"/>
                </a:solidFill>
                <a:latin typeface="黑体"/>
                <a:cs typeface="黑体"/>
              </a:rPr>
              <a:t>； </a:t>
            </a:r>
            <a:r>
              <a:rPr dirty="0" sz="2400" spc="-10">
                <a:solidFill>
                  <a:srgbClr val="40458B"/>
                </a:solidFill>
                <a:latin typeface="Tahoma"/>
                <a:cs typeface="Tahoma"/>
              </a:rPr>
              <a:t>Qj[</a:t>
            </a:r>
            <a:r>
              <a:rPr dirty="0" sz="2400" spc="-10">
                <a:solidFill>
                  <a:srgbClr val="E14B04"/>
                </a:solidFill>
                <a:latin typeface="Tahoma"/>
                <a:cs typeface="Tahoma"/>
              </a:rPr>
              <a:t>FU</a:t>
            </a:r>
            <a:r>
              <a:rPr dirty="0" sz="2400" spc="-10">
                <a:solidFill>
                  <a:srgbClr val="40458B"/>
                </a:solidFill>
                <a:latin typeface="Tahoma"/>
                <a:cs typeface="Tahoma"/>
              </a:rPr>
              <a:t>]←0</a:t>
            </a:r>
            <a:r>
              <a:rPr dirty="0" sz="2400" spc="-10">
                <a:solidFill>
                  <a:srgbClr val="40458B"/>
                </a:solidFill>
                <a:latin typeface="黑体"/>
                <a:cs typeface="黑体"/>
              </a:rPr>
              <a:t>； </a:t>
            </a:r>
            <a:r>
              <a:rPr dirty="0" sz="2400" spc="-10">
                <a:solidFill>
                  <a:srgbClr val="40458B"/>
                </a:solidFill>
                <a:latin typeface="Tahoma"/>
                <a:cs typeface="Tahoma"/>
              </a:rPr>
              <a:t>Qk[</a:t>
            </a:r>
            <a:r>
              <a:rPr dirty="0" sz="2400" spc="-10">
                <a:solidFill>
                  <a:srgbClr val="E14B04"/>
                </a:solidFill>
                <a:latin typeface="Tahoma"/>
                <a:cs typeface="Tahoma"/>
              </a:rPr>
              <a:t>FU</a:t>
            </a:r>
            <a:r>
              <a:rPr dirty="0" sz="2400" spc="-10">
                <a:solidFill>
                  <a:srgbClr val="40458B"/>
                </a:solidFill>
                <a:latin typeface="Tahoma"/>
                <a:cs typeface="Tahoma"/>
              </a:rPr>
              <a:t>]←0</a:t>
            </a:r>
            <a:r>
              <a:rPr dirty="0" sz="2400" spc="-10">
                <a:solidFill>
                  <a:srgbClr val="40458B"/>
                </a:solidFill>
                <a:latin typeface="黑体"/>
                <a:cs typeface="黑体"/>
              </a:rPr>
              <a:t>；</a:t>
            </a:r>
            <a:endParaRPr sz="2400">
              <a:latin typeface="黑体"/>
              <a:cs typeface="黑体"/>
            </a:endParaRPr>
          </a:p>
        </p:txBody>
      </p:sp>
      <p:sp>
        <p:nvSpPr>
          <p:cNvPr id="12" name="object 12" descr=""/>
          <p:cNvSpPr txBox="1"/>
          <p:nvPr/>
        </p:nvSpPr>
        <p:spPr>
          <a:xfrm>
            <a:off x="3831716" y="3485515"/>
            <a:ext cx="4506595" cy="330835"/>
          </a:xfrm>
          <a:prstGeom prst="rect">
            <a:avLst/>
          </a:prstGeom>
        </p:spPr>
        <p:txBody>
          <a:bodyPr wrap="square" lIns="0" tIns="13335" rIns="0" bIns="0" rtlCol="0" vert="horz">
            <a:spAutoFit/>
          </a:bodyPr>
          <a:lstStyle/>
          <a:p>
            <a:pPr marL="12700">
              <a:lnSpc>
                <a:spcPct val="100000"/>
              </a:lnSpc>
              <a:spcBef>
                <a:spcPts val="105"/>
              </a:spcBef>
            </a:pPr>
            <a:r>
              <a:rPr dirty="0" sz="2000" spc="-20" b="1">
                <a:latin typeface="宋体"/>
                <a:cs typeface="宋体"/>
              </a:rPr>
              <a:t>// 已经读走了就绪的第一个源操作数。</a:t>
            </a:r>
            <a:endParaRPr sz="2000">
              <a:latin typeface="宋体"/>
              <a:cs typeface="宋体"/>
            </a:endParaRPr>
          </a:p>
        </p:txBody>
      </p:sp>
      <p:sp>
        <p:nvSpPr>
          <p:cNvPr id="13" name="object 13" descr=""/>
          <p:cNvSpPr txBox="1"/>
          <p:nvPr/>
        </p:nvSpPr>
        <p:spPr>
          <a:xfrm>
            <a:off x="3755516" y="4070730"/>
            <a:ext cx="4503420" cy="330835"/>
          </a:xfrm>
          <a:prstGeom prst="rect">
            <a:avLst/>
          </a:prstGeom>
        </p:spPr>
        <p:txBody>
          <a:bodyPr wrap="square" lIns="0" tIns="12700" rIns="0" bIns="0" rtlCol="0" vert="horz">
            <a:spAutoFit/>
          </a:bodyPr>
          <a:lstStyle/>
          <a:p>
            <a:pPr marL="12700">
              <a:lnSpc>
                <a:spcPct val="100000"/>
              </a:lnSpc>
              <a:spcBef>
                <a:spcPts val="100"/>
              </a:spcBef>
            </a:pPr>
            <a:r>
              <a:rPr dirty="0" sz="2000" spc="-25" b="1">
                <a:latin typeface="宋体"/>
                <a:cs typeface="宋体"/>
              </a:rPr>
              <a:t>// 已经读走了就绪的第二个源操作数。</a:t>
            </a:r>
            <a:endParaRPr sz="2000">
              <a:latin typeface="宋体"/>
              <a:cs typeface="宋体"/>
            </a:endParaRPr>
          </a:p>
        </p:txBody>
      </p:sp>
      <p:sp>
        <p:nvSpPr>
          <p:cNvPr id="14" name="object 14" descr=""/>
          <p:cNvSpPr txBox="1"/>
          <p:nvPr/>
        </p:nvSpPr>
        <p:spPr>
          <a:xfrm>
            <a:off x="3703701" y="4655642"/>
            <a:ext cx="3738879" cy="331470"/>
          </a:xfrm>
          <a:prstGeom prst="rect">
            <a:avLst/>
          </a:prstGeom>
        </p:spPr>
        <p:txBody>
          <a:bodyPr wrap="square" lIns="0" tIns="13335" rIns="0" bIns="0" rtlCol="0" vert="horz">
            <a:spAutoFit/>
          </a:bodyPr>
          <a:lstStyle/>
          <a:p>
            <a:pPr marL="12700">
              <a:lnSpc>
                <a:spcPct val="100000"/>
              </a:lnSpc>
              <a:spcBef>
                <a:spcPts val="105"/>
              </a:spcBef>
            </a:pPr>
            <a:r>
              <a:rPr dirty="0" sz="2000" spc="-15" b="1">
                <a:latin typeface="宋体"/>
                <a:cs typeface="宋体"/>
              </a:rPr>
              <a:t>// 不再等待其他</a:t>
            </a:r>
            <a:r>
              <a:rPr dirty="0" sz="2000" b="1">
                <a:latin typeface="宋体"/>
                <a:cs typeface="宋体"/>
              </a:rPr>
              <a:t>FU</a:t>
            </a:r>
            <a:r>
              <a:rPr dirty="0" sz="2000" spc="-25" b="1">
                <a:latin typeface="宋体"/>
                <a:cs typeface="宋体"/>
              </a:rPr>
              <a:t>的计算结果。</a:t>
            </a:r>
            <a:endParaRPr sz="2000">
              <a:latin typeface="宋体"/>
              <a:cs typeface="宋体"/>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47/175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061415" y="1130173"/>
            <a:ext cx="7248525" cy="4123690"/>
          </a:xfrm>
          <a:prstGeom prst="rect">
            <a:avLst/>
          </a:prstGeom>
        </p:spPr>
        <p:txBody>
          <a:bodyPr wrap="square" lIns="0" tIns="159385" rIns="0" bIns="0" rtlCol="0" vert="horz">
            <a:spAutoFit/>
          </a:bodyPr>
          <a:lstStyle/>
          <a:p>
            <a:pPr marL="788035" indent="-775335">
              <a:lnSpc>
                <a:spcPct val="100000"/>
              </a:lnSpc>
              <a:spcBef>
                <a:spcPts val="1255"/>
              </a:spcBef>
              <a:buSzPct val="95833"/>
              <a:buAutoNum type="arabicPlain" startAt="3"/>
              <a:tabLst>
                <a:tab pos="788035" algn="l"/>
              </a:tabLst>
            </a:pPr>
            <a:r>
              <a:rPr dirty="0" sz="2400" spc="-25">
                <a:solidFill>
                  <a:srgbClr val="001F5F"/>
                </a:solidFill>
                <a:latin typeface="黑体"/>
                <a:cs typeface="黑体"/>
              </a:rPr>
              <a:t>执行</a:t>
            </a:r>
            <a:endParaRPr sz="2400">
              <a:latin typeface="黑体"/>
              <a:cs typeface="黑体"/>
            </a:endParaRPr>
          </a:p>
          <a:p>
            <a:pPr marL="641985">
              <a:lnSpc>
                <a:spcPct val="100000"/>
              </a:lnSpc>
              <a:spcBef>
                <a:spcPts val="1155"/>
              </a:spcBef>
            </a:pPr>
            <a:r>
              <a:rPr dirty="0" sz="2400" spc="-10">
                <a:solidFill>
                  <a:srgbClr val="D50092"/>
                </a:solidFill>
                <a:latin typeface="黑体"/>
                <a:cs typeface="黑体"/>
              </a:rPr>
              <a:t>结束条件：</a:t>
            </a:r>
            <a:endParaRPr sz="2400">
              <a:latin typeface="黑体"/>
              <a:cs typeface="黑体"/>
            </a:endParaRPr>
          </a:p>
          <a:p>
            <a:pPr marL="641985">
              <a:lnSpc>
                <a:spcPct val="100000"/>
              </a:lnSpc>
              <a:spcBef>
                <a:spcPts val="1150"/>
              </a:spcBef>
            </a:pPr>
            <a:r>
              <a:rPr dirty="0" sz="2400" spc="-10">
                <a:solidFill>
                  <a:srgbClr val="40458B"/>
                </a:solidFill>
                <a:latin typeface="黑体"/>
                <a:cs typeface="黑体"/>
              </a:rPr>
              <a:t>功能部件操作结束。</a:t>
            </a:r>
            <a:endParaRPr sz="2400">
              <a:latin typeface="黑体"/>
              <a:cs typeface="黑体"/>
            </a:endParaRPr>
          </a:p>
          <a:p>
            <a:pPr marL="788035" indent="-775335">
              <a:lnSpc>
                <a:spcPct val="100000"/>
              </a:lnSpc>
              <a:spcBef>
                <a:spcPts val="1150"/>
              </a:spcBef>
              <a:buSzPct val="95833"/>
              <a:buAutoNum type="arabicPlain" startAt="4"/>
              <a:tabLst>
                <a:tab pos="788035" algn="l"/>
              </a:tabLst>
            </a:pPr>
            <a:r>
              <a:rPr dirty="0" sz="2400" spc="-25">
                <a:solidFill>
                  <a:srgbClr val="001F5F"/>
                </a:solidFill>
                <a:latin typeface="黑体"/>
                <a:cs typeface="黑体"/>
              </a:rPr>
              <a:t>写结果</a:t>
            </a:r>
            <a:endParaRPr sz="2400">
              <a:latin typeface="黑体"/>
              <a:cs typeface="黑体"/>
            </a:endParaRPr>
          </a:p>
          <a:p>
            <a:pPr marL="641985">
              <a:lnSpc>
                <a:spcPct val="100000"/>
              </a:lnSpc>
              <a:spcBef>
                <a:spcPts val="1155"/>
              </a:spcBef>
            </a:pPr>
            <a:r>
              <a:rPr dirty="0" sz="2400" spc="-10">
                <a:solidFill>
                  <a:srgbClr val="D50092"/>
                </a:solidFill>
                <a:latin typeface="黑体"/>
                <a:cs typeface="黑体"/>
              </a:rPr>
              <a:t>进入条件：</a:t>
            </a:r>
            <a:endParaRPr sz="2400">
              <a:latin typeface="黑体"/>
              <a:cs typeface="黑体"/>
            </a:endParaRPr>
          </a:p>
          <a:p>
            <a:pPr marL="641985">
              <a:lnSpc>
                <a:spcPct val="100000"/>
              </a:lnSpc>
              <a:spcBef>
                <a:spcPts val="1155"/>
              </a:spcBef>
            </a:pPr>
            <a:r>
              <a:rPr dirty="0" sz="2400">
                <a:solidFill>
                  <a:srgbClr val="40458B"/>
                </a:solidFill>
                <a:latin typeface="Symbol"/>
                <a:cs typeface="Symbol"/>
              </a:rPr>
              <a:t></a:t>
            </a:r>
            <a:r>
              <a:rPr dirty="0" sz="2400">
                <a:solidFill>
                  <a:srgbClr val="40458B"/>
                </a:solidFill>
                <a:latin typeface="Tahoma"/>
                <a:cs typeface="Tahoma"/>
              </a:rPr>
              <a:t>f((Fj[</a:t>
            </a:r>
            <a:r>
              <a:rPr dirty="0" sz="2400">
                <a:solidFill>
                  <a:srgbClr val="9933FF"/>
                </a:solidFill>
                <a:latin typeface="Tahoma"/>
                <a:cs typeface="Tahoma"/>
              </a:rPr>
              <a:t>f</a:t>
            </a:r>
            <a:r>
              <a:rPr dirty="0" sz="2400">
                <a:solidFill>
                  <a:srgbClr val="40458B"/>
                </a:solidFill>
                <a:latin typeface="Tahoma"/>
                <a:cs typeface="Tahoma"/>
              </a:rPr>
              <a:t>]</a:t>
            </a:r>
            <a:r>
              <a:rPr dirty="0" sz="2400">
                <a:solidFill>
                  <a:srgbClr val="40458B"/>
                </a:solidFill>
                <a:latin typeface="Symbol"/>
                <a:cs typeface="Symbol"/>
              </a:rPr>
              <a:t></a:t>
            </a:r>
            <a:r>
              <a:rPr dirty="0" sz="2400">
                <a:solidFill>
                  <a:srgbClr val="40458B"/>
                </a:solidFill>
                <a:latin typeface="Tahoma"/>
                <a:cs typeface="Tahoma"/>
              </a:rPr>
              <a:t>Fi[</a:t>
            </a:r>
            <a:r>
              <a:rPr dirty="0" sz="2400">
                <a:solidFill>
                  <a:srgbClr val="E14B04"/>
                </a:solidFill>
                <a:latin typeface="Tahoma"/>
                <a:cs typeface="Tahoma"/>
              </a:rPr>
              <a:t>FU</a:t>
            </a:r>
            <a:r>
              <a:rPr dirty="0" sz="2400">
                <a:solidFill>
                  <a:srgbClr val="40458B"/>
                </a:solidFill>
                <a:latin typeface="Tahoma"/>
                <a:cs typeface="Tahoma"/>
              </a:rPr>
              <a:t>]</a:t>
            </a:r>
            <a:r>
              <a:rPr dirty="0" sz="2400" spc="-55">
                <a:solidFill>
                  <a:srgbClr val="40458B"/>
                </a:solidFill>
                <a:latin typeface="Tahoma"/>
                <a:cs typeface="Tahoma"/>
              </a:rPr>
              <a:t> </a:t>
            </a:r>
            <a:r>
              <a:rPr dirty="0" sz="2400">
                <a:solidFill>
                  <a:srgbClr val="40458B"/>
                </a:solidFill>
                <a:latin typeface="Tahoma"/>
                <a:cs typeface="Tahoma"/>
              </a:rPr>
              <a:t>or</a:t>
            </a:r>
            <a:r>
              <a:rPr dirty="0" sz="2400" spc="-60">
                <a:solidFill>
                  <a:srgbClr val="40458B"/>
                </a:solidFill>
                <a:latin typeface="Tahoma"/>
                <a:cs typeface="Tahoma"/>
              </a:rPr>
              <a:t> </a:t>
            </a:r>
            <a:r>
              <a:rPr dirty="0" sz="2400" spc="-10">
                <a:solidFill>
                  <a:srgbClr val="40458B"/>
                </a:solidFill>
                <a:latin typeface="Tahoma"/>
                <a:cs typeface="Tahoma"/>
              </a:rPr>
              <a:t>Rj[</a:t>
            </a:r>
            <a:r>
              <a:rPr dirty="0" sz="2400" spc="-10">
                <a:solidFill>
                  <a:srgbClr val="9933FF"/>
                </a:solidFill>
                <a:latin typeface="Tahoma"/>
                <a:cs typeface="Tahoma"/>
              </a:rPr>
              <a:t>f</a:t>
            </a:r>
            <a:r>
              <a:rPr dirty="0" sz="2400" spc="-10">
                <a:solidFill>
                  <a:srgbClr val="40458B"/>
                </a:solidFill>
                <a:latin typeface="Tahoma"/>
                <a:cs typeface="Tahoma"/>
              </a:rPr>
              <a:t>]=no)</a:t>
            </a:r>
            <a:endParaRPr sz="2400">
              <a:latin typeface="Tahoma"/>
              <a:cs typeface="Tahoma"/>
            </a:endParaRPr>
          </a:p>
          <a:p>
            <a:pPr marL="641985">
              <a:lnSpc>
                <a:spcPct val="100000"/>
              </a:lnSpc>
              <a:spcBef>
                <a:spcPts val="1155"/>
              </a:spcBef>
            </a:pPr>
            <a:r>
              <a:rPr dirty="0" sz="2400">
                <a:solidFill>
                  <a:srgbClr val="40458B"/>
                </a:solidFill>
                <a:latin typeface="Tahoma"/>
                <a:cs typeface="Tahoma"/>
              </a:rPr>
              <a:t>&amp;</a:t>
            </a:r>
            <a:r>
              <a:rPr dirty="0" sz="2400" spc="-45">
                <a:solidFill>
                  <a:srgbClr val="40458B"/>
                </a:solidFill>
                <a:latin typeface="Tahoma"/>
                <a:cs typeface="Tahoma"/>
              </a:rPr>
              <a:t> </a:t>
            </a:r>
            <a:r>
              <a:rPr dirty="0" sz="2400">
                <a:solidFill>
                  <a:srgbClr val="40458B"/>
                </a:solidFill>
                <a:latin typeface="Tahoma"/>
                <a:cs typeface="Tahoma"/>
              </a:rPr>
              <a:t>(Fk[</a:t>
            </a:r>
            <a:r>
              <a:rPr dirty="0" sz="2400">
                <a:solidFill>
                  <a:srgbClr val="9933FF"/>
                </a:solidFill>
                <a:latin typeface="Tahoma"/>
                <a:cs typeface="Tahoma"/>
              </a:rPr>
              <a:t>f</a:t>
            </a:r>
            <a:r>
              <a:rPr dirty="0" sz="2400">
                <a:solidFill>
                  <a:srgbClr val="40458B"/>
                </a:solidFill>
                <a:latin typeface="Tahoma"/>
                <a:cs typeface="Tahoma"/>
              </a:rPr>
              <a:t>]</a:t>
            </a:r>
            <a:r>
              <a:rPr dirty="0" sz="2400">
                <a:solidFill>
                  <a:srgbClr val="40458B"/>
                </a:solidFill>
                <a:latin typeface="Symbol"/>
                <a:cs typeface="Symbol"/>
              </a:rPr>
              <a:t></a:t>
            </a:r>
            <a:r>
              <a:rPr dirty="0" sz="2400">
                <a:solidFill>
                  <a:srgbClr val="40458B"/>
                </a:solidFill>
                <a:latin typeface="Tahoma"/>
                <a:cs typeface="Tahoma"/>
              </a:rPr>
              <a:t>Fi[</a:t>
            </a:r>
            <a:r>
              <a:rPr dirty="0" sz="2400">
                <a:solidFill>
                  <a:srgbClr val="E14B04"/>
                </a:solidFill>
                <a:latin typeface="Tahoma"/>
                <a:cs typeface="Tahoma"/>
              </a:rPr>
              <a:t>FU</a:t>
            </a:r>
            <a:r>
              <a:rPr dirty="0" sz="2400" spc="-20">
                <a:solidFill>
                  <a:srgbClr val="40458B"/>
                </a:solidFill>
                <a:latin typeface="Tahoma"/>
                <a:cs typeface="Tahoma"/>
              </a:rPr>
              <a:t>] </a:t>
            </a:r>
            <a:r>
              <a:rPr dirty="0" sz="2400">
                <a:solidFill>
                  <a:srgbClr val="40458B"/>
                </a:solidFill>
                <a:latin typeface="Tahoma"/>
                <a:cs typeface="Tahoma"/>
              </a:rPr>
              <a:t>or</a:t>
            </a:r>
            <a:r>
              <a:rPr dirty="0" sz="2400" spc="-45">
                <a:solidFill>
                  <a:srgbClr val="40458B"/>
                </a:solidFill>
                <a:latin typeface="Tahoma"/>
                <a:cs typeface="Tahoma"/>
              </a:rPr>
              <a:t> </a:t>
            </a:r>
            <a:r>
              <a:rPr dirty="0" sz="2400">
                <a:solidFill>
                  <a:srgbClr val="40458B"/>
                </a:solidFill>
                <a:latin typeface="Tahoma"/>
                <a:cs typeface="Tahoma"/>
              </a:rPr>
              <a:t>Rk[</a:t>
            </a:r>
            <a:r>
              <a:rPr dirty="0" sz="2400">
                <a:solidFill>
                  <a:srgbClr val="9933FF"/>
                </a:solidFill>
                <a:latin typeface="Tahoma"/>
                <a:cs typeface="Tahoma"/>
              </a:rPr>
              <a:t>f</a:t>
            </a:r>
            <a:r>
              <a:rPr dirty="0" sz="2400">
                <a:solidFill>
                  <a:srgbClr val="40458B"/>
                </a:solidFill>
                <a:latin typeface="Tahoma"/>
                <a:cs typeface="Tahoma"/>
              </a:rPr>
              <a:t>]=no))</a:t>
            </a:r>
            <a:r>
              <a:rPr dirty="0" sz="2400">
                <a:solidFill>
                  <a:srgbClr val="40458B"/>
                </a:solidFill>
                <a:latin typeface="黑体"/>
                <a:cs typeface="黑体"/>
              </a:rPr>
              <a:t>；</a:t>
            </a:r>
            <a:r>
              <a:rPr dirty="0" sz="2000" spc="-25" b="1">
                <a:latin typeface="宋体"/>
                <a:cs typeface="宋体"/>
              </a:rPr>
              <a:t>// 不存在</a:t>
            </a:r>
            <a:r>
              <a:rPr dirty="0" sz="2000" spc="-10" b="1">
                <a:latin typeface="宋体"/>
                <a:cs typeface="宋体"/>
              </a:rPr>
              <a:t>WAR</a:t>
            </a:r>
            <a:r>
              <a:rPr dirty="0" sz="2000" spc="-30" b="1">
                <a:latin typeface="宋体"/>
                <a:cs typeface="宋体"/>
              </a:rPr>
              <a:t>冲突。</a:t>
            </a:r>
            <a:endParaRPr sz="2000">
              <a:latin typeface="宋体"/>
              <a:cs typeface="宋体"/>
            </a:endParaRPr>
          </a:p>
          <a:p>
            <a:pPr marL="641985">
              <a:lnSpc>
                <a:spcPct val="100000"/>
              </a:lnSpc>
              <a:spcBef>
                <a:spcPts val="1150"/>
              </a:spcBef>
            </a:pPr>
            <a:r>
              <a:rPr dirty="0" sz="2400" spc="-25" b="1">
                <a:solidFill>
                  <a:srgbClr val="D50092"/>
                </a:solidFill>
                <a:latin typeface="宋体"/>
                <a:cs typeface="宋体"/>
              </a:rPr>
              <a:t>计分牌内容修改：</a:t>
            </a:r>
            <a:endParaRPr sz="2400">
              <a:latin typeface="宋体"/>
              <a:cs typeface="宋体"/>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48/175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835657" y="1525651"/>
            <a:ext cx="450786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Symbol"/>
                <a:cs typeface="Symbol"/>
              </a:rPr>
              <a:t></a:t>
            </a:r>
            <a:r>
              <a:rPr dirty="0" sz="2400">
                <a:solidFill>
                  <a:srgbClr val="40458B"/>
                </a:solidFill>
                <a:latin typeface="Tahoma"/>
                <a:cs typeface="Tahoma"/>
              </a:rPr>
              <a:t>f(if</a:t>
            </a:r>
            <a:r>
              <a:rPr dirty="0" sz="2400" spc="-40">
                <a:solidFill>
                  <a:srgbClr val="40458B"/>
                </a:solidFill>
                <a:latin typeface="Tahoma"/>
                <a:cs typeface="Tahoma"/>
              </a:rPr>
              <a:t> </a:t>
            </a:r>
            <a:r>
              <a:rPr dirty="0" sz="2400">
                <a:solidFill>
                  <a:srgbClr val="40458B"/>
                </a:solidFill>
                <a:latin typeface="Tahoma"/>
                <a:cs typeface="Tahoma"/>
              </a:rPr>
              <a:t>Qj[</a:t>
            </a:r>
            <a:r>
              <a:rPr dirty="0" sz="2400">
                <a:solidFill>
                  <a:srgbClr val="9933FF"/>
                </a:solidFill>
                <a:latin typeface="Tahoma"/>
                <a:cs typeface="Tahoma"/>
              </a:rPr>
              <a:t>f</a:t>
            </a:r>
            <a:r>
              <a:rPr dirty="0" sz="2400">
                <a:solidFill>
                  <a:srgbClr val="40458B"/>
                </a:solidFill>
                <a:latin typeface="Tahoma"/>
                <a:cs typeface="Tahoma"/>
              </a:rPr>
              <a:t>]=FU</a:t>
            </a:r>
            <a:r>
              <a:rPr dirty="0" sz="2400" spc="-25">
                <a:solidFill>
                  <a:srgbClr val="40458B"/>
                </a:solidFill>
                <a:latin typeface="Tahoma"/>
                <a:cs typeface="Tahoma"/>
              </a:rPr>
              <a:t> </a:t>
            </a:r>
            <a:r>
              <a:rPr dirty="0" sz="2400">
                <a:solidFill>
                  <a:srgbClr val="40458B"/>
                </a:solidFill>
                <a:latin typeface="Tahoma"/>
                <a:cs typeface="Tahoma"/>
              </a:rPr>
              <a:t>then</a:t>
            </a:r>
            <a:r>
              <a:rPr dirty="0" sz="2400" spc="-35">
                <a:solidFill>
                  <a:srgbClr val="40458B"/>
                </a:solidFill>
                <a:latin typeface="Tahoma"/>
                <a:cs typeface="Tahoma"/>
              </a:rPr>
              <a:t> </a:t>
            </a:r>
            <a:r>
              <a:rPr dirty="0" sz="2400" spc="-10">
                <a:solidFill>
                  <a:srgbClr val="40458B"/>
                </a:solidFill>
                <a:latin typeface="Tahoma"/>
                <a:cs typeface="Tahoma"/>
              </a:rPr>
              <a:t>Rj[</a:t>
            </a:r>
            <a:r>
              <a:rPr dirty="0" sz="2400" spc="-10">
                <a:solidFill>
                  <a:srgbClr val="9933FF"/>
                </a:solidFill>
                <a:latin typeface="Tahoma"/>
                <a:cs typeface="Tahoma"/>
              </a:rPr>
              <a:t>f</a:t>
            </a:r>
            <a:r>
              <a:rPr dirty="0" sz="2400" spc="-10">
                <a:solidFill>
                  <a:srgbClr val="40458B"/>
                </a:solidFill>
                <a:latin typeface="Tahoma"/>
                <a:cs typeface="Tahoma"/>
              </a:rPr>
              <a:t>]←yes)</a:t>
            </a:r>
            <a:r>
              <a:rPr dirty="0" sz="2400" spc="-10">
                <a:solidFill>
                  <a:srgbClr val="40458B"/>
                </a:solidFill>
                <a:latin typeface="黑体"/>
                <a:cs typeface="黑体"/>
              </a:rPr>
              <a:t>；</a:t>
            </a:r>
            <a:endParaRPr sz="2400">
              <a:latin typeface="黑体"/>
              <a:cs typeface="黑体"/>
            </a:endParaRPr>
          </a:p>
        </p:txBody>
      </p:sp>
      <p:sp>
        <p:nvSpPr>
          <p:cNvPr id="11" name="object 11" descr=""/>
          <p:cNvSpPr txBox="1"/>
          <p:nvPr/>
        </p:nvSpPr>
        <p:spPr>
          <a:xfrm>
            <a:off x="6693154" y="1575943"/>
            <a:ext cx="1947545" cy="330835"/>
          </a:xfrm>
          <a:prstGeom prst="rect">
            <a:avLst/>
          </a:prstGeom>
        </p:spPr>
        <p:txBody>
          <a:bodyPr wrap="square" lIns="0" tIns="13335" rIns="0" bIns="0" rtlCol="0" vert="horz">
            <a:spAutoFit/>
          </a:bodyPr>
          <a:lstStyle/>
          <a:p>
            <a:pPr marL="12700">
              <a:lnSpc>
                <a:spcPct val="100000"/>
              </a:lnSpc>
              <a:spcBef>
                <a:spcPts val="105"/>
              </a:spcBef>
            </a:pPr>
            <a:r>
              <a:rPr dirty="0" sz="2000" spc="-15" b="1">
                <a:latin typeface="宋体"/>
                <a:cs typeface="宋体"/>
              </a:rPr>
              <a:t>// 如果有指令在</a:t>
            </a:r>
            <a:endParaRPr sz="2000">
              <a:latin typeface="宋体"/>
              <a:cs typeface="宋体"/>
            </a:endParaRPr>
          </a:p>
        </p:txBody>
      </p:sp>
      <p:sp>
        <p:nvSpPr>
          <p:cNvPr id="12" name="object 12" descr=""/>
          <p:cNvSpPr txBox="1"/>
          <p:nvPr/>
        </p:nvSpPr>
        <p:spPr>
          <a:xfrm>
            <a:off x="1835657" y="2084958"/>
            <a:ext cx="6806565" cy="819150"/>
          </a:xfrm>
          <a:prstGeom prst="rect">
            <a:avLst/>
          </a:prstGeom>
        </p:spPr>
        <p:txBody>
          <a:bodyPr wrap="square" lIns="0" tIns="13335" rIns="0" bIns="0" rtlCol="0" vert="horz">
            <a:spAutoFit/>
          </a:bodyPr>
          <a:lstStyle/>
          <a:p>
            <a:pPr marL="12700">
              <a:lnSpc>
                <a:spcPct val="100000"/>
              </a:lnSpc>
              <a:spcBef>
                <a:spcPts val="105"/>
              </a:spcBef>
            </a:pPr>
            <a:r>
              <a:rPr dirty="0" sz="2000" spc="-10" b="1">
                <a:latin typeface="宋体"/>
                <a:cs typeface="宋体"/>
              </a:rPr>
              <a:t>等待该结果（</a:t>
            </a:r>
            <a:r>
              <a:rPr dirty="0" sz="2000" spc="-15" b="1">
                <a:latin typeface="宋体"/>
                <a:cs typeface="宋体"/>
              </a:rPr>
              <a:t>作为第一源操作数）</a:t>
            </a:r>
            <a:r>
              <a:rPr dirty="0" sz="2000" spc="-20" b="1">
                <a:latin typeface="宋体"/>
                <a:cs typeface="宋体"/>
              </a:rPr>
              <a:t>，则将其</a:t>
            </a:r>
            <a:r>
              <a:rPr dirty="0" sz="2000" spc="-10" b="1">
                <a:latin typeface="宋体"/>
                <a:cs typeface="宋体"/>
              </a:rPr>
              <a:t>Rj置为“yes”，</a:t>
            </a:r>
            <a:endParaRPr sz="2000">
              <a:latin typeface="宋体"/>
              <a:cs typeface="宋体"/>
            </a:endParaRPr>
          </a:p>
          <a:p>
            <a:pPr marL="12700">
              <a:lnSpc>
                <a:spcPct val="100000"/>
              </a:lnSpc>
              <a:spcBef>
                <a:spcPts val="1440"/>
              </a:spcBef>
            </a:pPr>
            <a:r>
              <a:rPr dirty="0" sz="2000" spc="-20" b="1">
                <a:latin typeface="宋体"/>
                <a:cs typeface="宋体"/>
              </a:rPr>
              <a:t>表示数据可用。</a:t>
            </a:r>
            <a:endParaRPr sz="2000">
              <a:latin typeface="宋体"/>
              <a:cs typeface="宋体"/>
            </a:endParaRPr>
          </a:p>
        </p:txBody>
      </p:sp>
      <p:sp>
        <p:nvSpPr>
          <p:cNvPr id="13" name="object 13" descr=""/>
          <p:cNvSpPr txBox="1"/>
          <p:nvPr/>
        </p:nvSpPr>
        <p:spPr>
          <a:xfrm>
            <a:off x="1835657" y="3086480"/>
            <a:ext cx="464185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Symbol"/>
                <a:cs typeface="Symbol"/>
              </a:rPr>
              <a:t></a:t>
            </a:r>
            <a:r>
              <a:rPr dirty="0" sz="2400">
                <a:solidFill>
                  <a:srgbClr val="40458B"/>
                </a:solidFill>
                <a:latin typeface="Tahoma"/>
                <a:cs typeface="Tahoma"/>
              </a:rPr>
              <a:t>f(if</a:t>
            </a:r>
            <a:r>
              <a:rPr dirty="0" sz="2400" spc="-45">
                <a:solidFill>
                  <a:srgbClr val="40458B"/>
                </a:solidFill>
                <a:latin typeface="Tahoma"/>
                <a:cs typeface="Tahoma"/>
              </a:rPr>
              <a:t> </a:t>
            </a:r>
            <a:r>
              <a:rPr dirty="0" sz="2400">
                <a:solidFill>
                  <a:srgbClr val="40458B"/>
                </a:solidFill>
                <a:latin typeface="Tahoma"/>
                <a:cs typeface="Tahoma"/>
              </a:rPr>
              <a:t>Qk[</a:t>
            </a:r>
            <a:r>
              <a:rPr dirty="0" sz="2400">
                <a:solidFill>
                  <a:srgbClr val="9933FF"/>
                </a:solidFill>
                <a:latin typeface="Tahoma"/>
                <a:cs typeface="Tahoma"/>
              </a:rPr>
              <a:t>f</a:t>
            </a:r>
            <a:r>
              <a:rPr dirty="0" sz="2400">
                <a:solidFill>
                  <a:srgbClr val="40458B"/>
                </a:solidFill>
                <a:latin typeface="Tahoma"/>
                <a:cs typeface="Tahoma"/>
              </a:rPr>
              <a:t>]=FU</a:t>
            </a:r>
            <a:r>
              <a:rPr dirty="0" sz="2400" spc="-40">
                <a:solidFill>
                  <a:srgbClr val="40458B"/>
                </a:solidFill>
                <a:latin typeface="Tahoma"/>
                <a:cs typeface="Tahoma"/>
              </a:rPr>
              <a:t> </a:t>
            </a:r>
            <a:r>
              <a:rPr dirty="0" sz="2400">
                <a:solidFill>
                  <a:srgbClr val="40458B"/>
                </a:solidFill>
                <a:latin typeface="Tahoma"/>
                <a:cs typeface="Tahoma"/>
              </a:rPr>
              <a:t>then</a:t>
            </a:r>
            <a:r>
              <a:rPr dirty="0" sz="2400" spc="-20">
                <a:solidFill>
                  <a:srgbClr val="40458B"/>
                </a:solidFill>
                <a:latin typeface="Tahoma"/>
                <a:cs typeface="Tahoma"/>
              </a:rPr>
              <a:t> </a:t>
            </a:r>
            <a:r>
              <a:rPr dirty="0" sz="2400" spc="-10">
                <a:solidFill>
                  <a:srgbClr val="40458B"/>
                </a:solidFill>
                <a:latin typeface="Tahoma"/>
                <a:cs typeface="Tahoma"/>
              </a:rPr>
              <a:t>Rk[</a:t>
            </a:r>
            <a:r>
              <a:rPr dirty="0" sz="2400" spc="-10">
                <a:solidFill>
                  <a:srgbClr val="9933FF"/>
                </a:solidFill>
                <a:latin typeface="Tahoma"/>
                <a:cs typeface="Tahoma"/>
              </a:rPr>
              <a:t>f</a:t>
            </a:r>
            <a:r>
              <a:rPr dirty="0" sz="2400" spc="-10">
                <a:solidFill>
                  <a:srgbClr val="40458B"/>
                </a:solidFill>
                <a:latin typeface="Tahoma"/>
                <a:cs typeface="Tahoma"/>
              </a:rPr>
              <a:t>]←yes)</a:t>
            </a:r>
            <a:r>
              <a:rPr dirty="0" sz="2400" spc="-10">
                <a:solidFill>
                  <a:srgbClr val="40458B"/>
                </a:solidFill>
                <a:latin typeface="黑体"/>
                <a:cs typeface="黑体"/>
              </a:rPr>
              <a:t>；</a:t>
            </a:r>
            <a:endParaRPr sz="2400">
              <a:latin typeface="黑体"/>
              <a:cs typeface="黑体"/>
            </a:endParaRPr>
          </a:p>
        </p:txBody>
      </p:sp>
      <p:sp>
        <p:nvSpPr>
          <p:cNvPr id="14" name="object 14" descr=""/>
          <p:cNvSpPr txBox="1"/>
          <p:nvPr/>
        </p:nvSpPr>
        <p:spPr>
          <a:xfrm>
            <a:off x="6693154" y="3136773"/>
            <a:ext cx="1947545" cy="330835"/>
          </a:xfrm>
          <a:prstGeom prst="rect">
            <a:avLst/>
          </a:prstGeom>
        </p:spPr>
        <p:txBody>
          <a:bodyPr wrap="square" lIns="0" tIns="13335" rIns="0" bIns="0" rtlCol="0" vert="horz">
            <a:spAutoFit/>
          </a:bodyPr>
          <a:lstStyle/>
          <a:p>
            <a:pPr marL="12700">
              <a:lnSpc>
                <a:spcPct val="100000"/>
              </a:lnSpc>
              <a:spcBef>
                <a:spcPts val="105"/>
              </a:spcBef>
            </a:pPr>
            <a:r>
              <a:rPr dirty="0" sz="2000" spc="-15" b="1">
                <a:latin typeface="宋体"/>
                <a:cs typeface="宋体"/>
              </a:rPr>
              <a:t>// 如果有指令在</a:t>
            </a:r>
            <a:endParaRPr sz="2000">
              <a:latin typeface="宋体"/>
              <a:cs typeface="宋体"/>
            </a:endParaRPr>
          </a:p>
        </p:txBody>
      </p:sp>
      <p:sp>
        <p:nvSpPr>
          <p:cNvPr id="15" name="object 15" descr=""/>
          <p:cNvSpPr txBox="1"/>
          <p:nvPr/>
        </p:nvSpPr>
        <p:spPr>
          <a:xfrm>
            <a:off x="1835657" y="3645484"/>
            <a:ext cx="6806565" cy="819785"/>
          </a:xfrm>
          <a:prstGeom prst="rect">
            <a:avLst/>
          </a:prstGeom>
        </p:spPr>
        <p:txBody>
          <a:bodyPr wrap="square" lIns="0" tIns="13335" rIns="0" bIns="0" rtlCol="0" vert="horz">
            <a:spAutoFit/>
          </a:bodyPr>
          <a:lstStyle/>
          <a:p>
            <a:pPr marL="12700">
              <a:lnSpc>
                <a:spcPct val="100000"/>
              </a:lnSpc>
              <a:spcBef>
                <a:spcPts val="105"/>
              </a:spcBef>
            </a:pPr>
            <a:r>
              <a:rPr dirty="0" sz="2000" spc="-15" b="1">
                <a:latin typeface="宋体"/>
                <a:cs typeface="宋体"/>
              </a:rPr>
              <a:t>等待该结果（</a:t>
            </a:r>
            <a:r>
              <a:rPr dirty="0" sz="2000" spc="-20" b="1">
                <a:latin typeface="宋体"/>
                <a:cs typeface="宋体"/>
              </a:rPr>
              <a:t>作为第二源操作数），则将其</a:t>
            </a:r>
            <a:r>
              <a:rPr dirty="0" sz="2000" spc="-10" b="1">
                <a:latin typeface="宋体"/>
                <a:cs typeface="宋体"/>
              </a:rPr>
              <a:t>Rk</a:t>
            </a:r>
            <a:r>
              <a:rPr dirty="0" sz="2000" spc="-15" b="1">
                <a:latin typeface="宋体"/>
                <a:cs typeface="宋体"/>
              </a:rPr>
              <a:t>置为“</a:t>
            </a:r>
            <a:r>
              <a:rPr dirty="0" sz="2000" spc="-10" b="1">
                <a:latin typeface="宋体"/>
                <a:cs typeface="宋体"/>
              </a:rPr>
              <a:t>yes”，</a:t>
            </a:r>
            <a:endParaRPr sz="2000">
              <a:latin typeface="宋体"/>
              <a:cs typeface="宋体"/>
            </a:endParaRPr>
          </a:p>
          <a:p>
            <a:pPr marL="12700">
              <a:lnSpc>
                <a:spcPct val="100000"/>
              </a:lnSpc>
              <a:spcBef>
                <a:spcPts val="1445"/>
              </a:spcBef>
            </a:pPr>
            <a:r>
              <a:rPr dirty="0" sz="2000" spc="-20" b="1">
                <a:latin typeface="宋体"/>
                <a:cs typeface="宋体"/>
              </a:rPr>
              <a:t>表示数据可用。</a:t>
            </a:r>
            <a:endParaRPr sz="2000">
              <a:latin typeface="宋体"/>
              <a:cs typeface="宋体"/>
            </a:endParaRPr>
          </a:p>
        </p:txBody>
      </p:sp>
      <p:sp>
        <p:nvSpPr>
          <p:cNvPr id="16" name="object 16" descr=""/>
          <p:cNvSpPr txBox="1"/>
          <p:nvPr/>
        </p:nvSpPr>
        <p:spPr>
          <a:xfrm>
            <a:off x="1835657" y="4647438"/>
            <a:ext cx="2685415"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Tahoma"/>
                <a:cs typeface="Tahoma"/>
              </a:rPr>
              <a:t>Result(Fi[F</a:t>
            </a:r>
            <a:r>
              <a:rPr dirty="0" sz="2400" spc="-10">
                <a:solidFill>
                  <a:srgbClr val="E14B04"/>
                </a:solidFill>
                <a:latin typeface="Tahoma"/>
                <a:cs typeface="Tahoma"/>
              </a:rPr>
              <a:t>U</a:t>
            </a:r>
            <a:r>
              <a:rPr dirty="0" sz="2400" spc="-10">
                <a:solidFill>
                  <a:srgbClr val="40458B"/>
                </a:solidFill>
                <a:latin typeface="Tahoma"/>
                <a:cs typeface="Tahoma"/>
              </a:rPr>
              <a:t>])←0</a:t>
            </a:r>
            <a:r>
              <a:rPr dirty="0" sz="2400" spc="-10">
                <a:solidFill>
                  <a:srgbClr val="40458B"/>
                </a:solidFill>
                <a:latin typeface="黑体"/>
                <a:cs typeface="黑体"/>
              </a:rPr>
              <a:t>；</a:t>
            </a:r>
            <a:endParaRPr sz="2400">
              <a:latin typeface="黑体"/>
              <a:cs typeface="黑体"/>
            </a:endParaRPr>
          </a:p>
        </p:txBody>
      </p:sp>
      <p:sp>
        <p:nvSpPr>
          <p:cNvPr id="17" name="object 17" descr=""/>
          <p:cNvSpPr txBox="1"/>
          <p:nvPr/>
        </p:nvSpPr>
        <p:spPr>
          <a:xfrm>
            <a:off x="4864100" y="4697729"/>
            <a:ext cx="3230880" cy="330835"/>
          </a:xfrm>
          <a:prstGeom prst="rect">
            <a:avLst/>
          </a:prstGeom>
        </p:spPr>
        <p:txBody>
          <a:bodyPr wrap="square" lIns="0" tIns="12700" rIns="0" bIns="0" rtlCol="0" vert="horz">
            <a:spAutoFit/>
          </a:bodyPr>
          <a:lstStyle/>
          <a:p>
            <a:pPr marL="12700">
              <a:lnSpc>
                <a:spcPct val="100000"/>
              </a:lnSpc>
              <a:spcBef>
                <a:spcPts val="100"/>
              </a:spcBef>
            </a:pPr>
            <a:r>
              <a:rPr dirty="0" sz="2000" spc="-10" b="1">
                <a:latin typeface="宋体"/>
                <a:cs typeface="宋体"/>
              </a:rPr>
              <a:t>// 释放目的寄存器Fi[FU</a:t>
            </a:r>
            <a:r>
              <a:rPr dirty="0" sz="2000" spc="-30" b="1">
                <a:latin typeface="宋体"/>
                <a:cs typeface="宋体"/>
              </a:rPr>
              <a:t>]。</a:t>
            </a:r>
            <a:endParaRPr sz="2000">
              <a:latin typeface="宋体"/>
              <a:cs typeface="宋体"/>
            </a:endParaRPr>
          </a:p>
        </p:txBody>
      </p:sp>
      <p:sp>
        <p:nvSpPr>
          <p:cNvPr id="18" name="object 18" descr=""/>
          <p:cNvSpPr txBox="1"/>
          <p:nvPr/>
        </p:nvSpPr>
        <p:spPr>
          <a:xfrm>
            <a:off x="1835657" y="5232908"/>
            <a:ext cx="457517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Tahoma"/>
                <a:cs typeface="Tahoma"/>
              </a:rPr>
              <a:t>Busy[</a:t>
            </a:r>
            <a:r>
              <a:rPr dirty="0" sz="2400">
                <a:solidFill>
                  <a:srgbClr val="E14B04"/>
                </a:solidFill>
                <a:latin typeface="Tahoma"/>
                <a:cs typeface="Tahoma"/>
              </a:rPr>
              <a:t>FU</a:t>
            </a:r>
            <a:r>
              <a:rPr dirty="0" sz="2400">
                <a:solidFill>
                  <a:srgbClr val="40458B"/>
                </a:solidFill>
                <a:latin typeface="Tahoma"/>
                <a:cs typeface="Tahoma"/>
              </a:rPr>
              <a:t>]=no</a:t>
            </a:r>
            <a:r>
              <a:rPr dirty="0" sz="2400">
                <a:solidFill>
                  <a:srgbClr val="40458B"/>
                </a:solidFill>
                <a:latin typeface="黑体"/>
                <a:cs typeface="黑体"/>
              </a:rPr>
              <a:t>；</a:t>
            </a:r>
            <a:r>
              <a:rPr dirty="0" sz="2000" spc="-10" b="1">
                <a:latin typeface="宋体"/>
                <a:cs typeface="宋体"/>
              </a:rPr>
              <a:t>// 释放功能部件FU</a:t>
            </a:r>
            <a:r>
              <a:rPr dirty="0" sz="2000" spc="-50" b="1">
                <a:latin typeface="宋体"/>
                <a:cs typeface="宋体"/>
              </a:rPr>
              <a:t>。</a:t>
            </a:r>
            <a:endParaRPr sz="2000">
              <a:latin typeface="宋体"/>
              <a:cs typeface="宋体"/>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49/175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78739" y="1008125"/>
            <a:ext cx="12026900" cy="4084320"/>
          </a:xfrm>
          <a:prstGeom prst="rect">
            <a:avLst/>
          </a:prstGeom>
        </p:spPr>
        <p:txBody>
          <a:bodyPr wrap="square" lIns="0" tIns="122555" rIns="0" bIns="0" rtlCol="0" vert="horz">
            <a:spAutoFit/>
          </a:bodyPr>
          <a:lstStyle/>
          <a:p>
            <a:pPr marL="469265" indent="-456565">
              <a:lnSpc>
                <a:spcPct val="100000"/>
              </a:lnSpc>
              <a:spcBef>
                <a:spcPts val="965"/>
              </a:spcBef>
              <a:buClr>
                <a:srgbClr val="40458B"/>
              </a:buClr>
              <a:buFont typeface="Tahoma"/>
              <a:buAutoNum type="arabicPeriod" startAt="4"/>
              <a:tabLst>
                <a:tab pos="469265" algn="l"/>
              </a:tabLst>
            </a:pPr>
            <a:r>
              <a:rPr dirty="0" sz="2400" spc="-5">
                <a:solidFill>
                  <a:srgbClr val="001F5F"/>
                </a:solidFill>
                <a:latin typeface="黑体"/>
                <a:cs typeface="黑体"/>
              </a:rPr>
              <a:t>记分牌的性能受限于以下几个方面：</a:t>
            </a:r>
            <a:endParaRPr sz="2400">
              <a:latin typeface="黑体"/>
              <a:cs typeface="黑体"/>
            </a:endParaRPr>
          </a:p>
          <a:p>
            <a:pPr lvl="1" marL="1099185" indent="-457200">
              <a:lnSpc>
                <a:spcPct val="100000"/>
              </a:lnSpc>
              <a:spcBef>
                <a:spcPts val="860"/>
              </a:spcBef>
              <a:buSzPct val="89583"/>
              <a:buFont typeface="Wingdings"/>
              <a:buChar char=""/>
              <a:tabLst>
                <a:tab pos="1099185" algn="l"/>
              </a:tabLst>
            </a:pPr>
            <a:r>
              <a:rPr dirty="0" sz="2400" spc="-5">
                <a:solidFill>
                  <a:srgbClr val="40458B"/>
                </a:solidFill>
                <a:latin typeface="黑体"/>
                <a:cs typeface="黑体"/>
              </a:rPr>
              <a:t>程序代码中可开发的并行性，即是否存在可以并行执行的不相关的指令。</a:t>
            </a:r>
            <a:endParaRPr sz="2400">
              <a:latin typeface="黑体"/>
              <a:cs typeface="黑体"/>
            </a:endParaRPr>
          </a:p>
          <a:p>
            <a:pPr lvl="1" marL="1099185" indent="-457200">
              <a:lnSpc>
                <a:spcPct val="100000"/>
              </a:lnSpc>
              <a:spcBef>
                <a:spcPts val="870"/>
              </a:spcBef>
              <a:buSzPct val="89583"/>
              <a:buFont typeface="Wingdings"/>
              <a:buChar char=""/>
              <a:tabLst>
                <a:tab pos="1099185" algn="l"/>
              </a:tabLst>
            </a:pPr>
            <a:r>
              <a:rPr dirty="0" sz="2400" spc="-10">
                <a:solidFill>
                  <a:srgbClr val="40458B"/>
                </a:solidFill>
                <a:latin typeface="黑体"/>
                <a:cs typeface="黑体"/>
              </a:rPr>
              <a:t>记分牌的容量。</a:t>
            </a:r>
            <a:endParaRPr sz="2400">
              <a:latin typeface="黑体"/>
              <a:cs typeface="黑体"/>
            </a:endParaRPr>
          </a:p>
          <a:p>
            <a:pPr marL="1056640" marR="5080" indent="-457200">
              <a:lnSpc>
                <a:spcPct val="110000"/>
              </a:lnSpc>
              <a:spcBef>
                <a:spcPts val="560"/>
              </a:spcBef>
              <a:buClr>
                <a:srgbClr val="4668F5"/>
              </a:buClr>
              <a:buSzPct val="68181"/>
              <a:buFont typeface="Wingdings"/>
              <a:buChar char=""/>
              <a:tabLst>
                <a:tab pos="1056640" algn="l"/>
              </a:tabLst>
            </a:pPr>
            <a:r>
              <a:rPr dirty="0" sz="2200" spc="-25" b="1">
                <a:solidFill>
                  <a:srgbClr val="9966FF"/>
                </a:solidFill>
                <a:latin typeface="宋体"/>
                <a:cs typeface="宋体"/>
              </a:rPr>
              <a:t>记分牌的容量决定了流水线能在多大范围内寻找不相关指令。流水线中可以同时容纳的指令数量称为</a:t>
            </a:r>
            <a:r>
              <a:rPr dirty="0" sz="2200" spc="-20" b="1">
                <a:solidFill>
                  <a:srgbClr val="FF0000"/>
                </a:solidFill>
                <a:latin typeface="宋体"/>
                <a:cs typeface="宋体"/>
              </a:rPr>
              <a:t>指令窗口</a:t>
            </a:r>
            <a:r>
              <a:rPr dirty="0" sz="2200" spc="-50" b="1">
                <a:solidFill>
                  <a:srgbClr val="9966FF"/>
                </a:solidFill>
                <a:latin typeface="宋体"/>
                <a:cs typeface="宋体"/>
              </a:rPr>
              <a:t>。</a:t>
            </a:r>
            <a:endParaRPr sz="2200">
              <a:latin typeface="宋体"/>
              <a:cs typeface="宋体"/>
            </a:endParaRPr>
          </a:p>
          <a:p>
            <a:pPr marL="1099185" indent="-457200">
              <a:lnSpc>
                <a:spcPct val="100000"/>
              </a:lnSpc>
              <a:spcBef>
                <a:spcPts val="830"/>
              </a:spcBef>
              <a:buSzPct val="89583"/>
              <a:buFont typeface="Wingdings"/>
              <a:buChar char=""/>
              <a:tabLst>
                <a:tab pos="1099185" algn="l"/>
              </a:tabLst>
            </a:pPr>
            <a:r>
              <a:rPr dirty="0" sz="2400" spc="-15">
                <a:solidFill>
                  <a:srgbClr val="40458B"/>
                </a:solidFill>
                <a:latin typeface="黑体"/>
                <a:cs typeface="黑体"/>
              </a:rPr>
              <a:t>功能部件的数目和种类。</a:t>
            </a:r>
            <a:endParaRPr sz="2400">
              <a:latin typeface="黑体"/>
              <a:cs typeface="黑体"/>
            </a:endParaRPr>
          </a:p>
          <a:p>
            <a:pPr marL="1056005" indent="-457200">
              <a:lnSpc>
                <a:spcPct val="100000"/>
              </a:lnSpc>
              <a:spcBef>
                <a:spcPts val="825"/>
              </a:spcBef>
              <a:buClr>
                <a:srgbClr val="4668F5"/>
              </a:buClr>
              <a:buSzPct val="68181"/>
              <a:buFont typeface="Wingdings"/>
              <a:buChar char=""/>
              <a:tabLst>
                <a:tab pos="1056005" algn="l"/>
              </a:tabLst>
            </a:pPr>
            <a:r>
              <a:rPr dirty="0" sz="2200" spc="-25" b="1">
                <a:solidFill>
                  <a:srgbClr val="9966FF"/>
                </a:solidFill>
                <a:latin typeface="宋体"/>
                <a:cs typeface="宋体"/>
              </a:rPr>
              <a:t>功能部件的总数决定了结构冲突的严重程度。</a:t>
            </a:r>
            <a:endParaRPr sz="2200">
              <a:latin typeface="宋体"/>
              <a:cs typeface="宋体"/>
            </a:endParaRPr>
          </a:p>
          <a:p>
            <a:pPr marL="1099185" indent="-457200">
              <a:lnSpc>
                <a:spcPct val="100000"/>
              </a:lnSpc>
              <a:spcBef>
                <a:spcPts val="835"/>
              </a:spcBef>
              <a:buSzPct val="89583"/>
              <a:buFont typeface="Wingdings"/>
              <a:buChar char=""/>
              <a:tabLst>
                <a:tab pos="1099185" algn="l"/>
              </a:tabLst>
            </a:pPr>
            <a:r>
              <a:rPr dirty="0" sz="2400" spc="-10">
                <a:solidFill>
                  <a:srgbClr val="40458B"/>
                </a:solidFill>
                <a:latin typeface="黑体"/>
                <a:cs typeface="黑体"/>
              </a:rPr>
              <a:t>反相关和输出相关。</a:t>
            </a:r>
            <a:endParaRPr sz="2400">
              <a:latin typeface="黑体"/>
              <a:cs typeface="黑体"/>
            </a:endParaRPr>
          </a:p>
          <a:p>
            <a:pPr marL="1056005" indent="-457200">
              <a:lnSpc>
                <a:spcPct val="100000"/>
              </a:lnSpc>
              <a:spcBef>
                <a:spcPts val="819"/>
              </a:spcBef>
              <a:buClr>
                <a:srgbClr val="4668F5"/>
              </a:buClr>
              <a:buSzPct val="68181"/>
              <a:buFont typeface="Wingdings"/>
              <a:buChar char=""/>
              <a:tabLst>
                <a:tab pos="1056005" algn="l"/>
              </a:tabLst>
            </a:pPr>
            <a:r>
              <a:rPr dirty="0" sz="2200" spc="-25" b="1">
                <a:solidFill>
                  <a:srgbClr val="9966FF"/>
                </a:solidFill>
                <a:latin typeface="宋体"/>
                <a:cs typeface="宋体"/>
              </a:rPr>
              <a:t>它们引起计分牌中</a:t>
            </a:r>
            <a:r>
              <a:rPr dirty="0" sz="2200" spc="-30" b="1">
                <a:solidFill>
                  <a:srgbClr val="9966FF"/>
                </a:solidFill>
                <a:latin typeface="Times New Roman"/>
                <a:cs typeface="Times New Roman"/>
              </a:rPr>
              <a:t>WAR</a:t>
            </a:r>
            <a:r>
              <a:rPr dirty="0" sz="2200" spc="-25" b="1">
                <a:solidFill>
                  <a:srgbClr val="9966FF"/>
                </a:solidFill>
                <a:latin typeface="宋体"/>
                <a:cs typeface="宋体"/>
              </a:rPr>
              <a:t>和</a:t>
            </a:r>
            <a:r>
              <a:rPr dirty="0" sz="2200" spc="-30" b="1">
                <a:solidFill>
                  <a:srgbClr val="9966FF"/>
                </a:solidFill>
                <a:latin typeface="Times New Roman"/>
                <a:cs typeface="Times New Roman"/>
              </a:rPr>
              <a:t>WAW</a:t>
            </a:r>
            <a:r>
              <a:rPr dirty="0" sz="2200" spc="-125" b="1">
                <a:solidFill>
                  <a:srgbClr val="9966FF"/>
                </a:solidFill>
                <a:latin typeface="宋体"/>
                <a:cs typeface="宋体"/>
              </a:rPr>
              <a:t>冲突 。</a:t>
            </a:r>
            <a:endParaRPr sz="2200">
              <a:latin typeface="宋体"/>
              <a:cs typeface="宋体"/>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50/175</a:t>
            </a:r>
            <a:endParaRPr sz="1600">
              <a:latin typeface="宋体"/>
              <a:cs typeface="宋体"/>
            </a:endParaRPr>
          </a:p>
        </p:txBody>
      </p:sp>
      <p:grpSp>
        <p:nvGrpSpPr>
          <p:cNvPr id="3" name="object 3" descr=""/>
          <p:cNvGrpSpPr/>
          <p:nvPr/>
        </p:nvGrpSpPr>
        <p:grpSpPr>
          <a:xfrm>
            <a:off x="68262" y="311150"/>
            <a:ext cx="1076325" cy="274955"/>
            <a:chOff x="68262" y="311150"/>
            <a:chExt cx="1076325" cy="274955"/>
          </a:xfrm>
        </p:grpSpPr>
        <p:sp>
          <p:nvSpPr>
            <p:cNvPr id="4" name="object 4"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5" name="object 5"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6" name="object 6"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grpSp>
        <p:nvGrpSpPr>
          <p:cNvPr id="7" name="object 7" descr=""/>
          <p:cNvGrpSpPr/>
          <p:nvPr/>
        </p:nvGrpSpPr>
        <p:grpSpPr>
          <a:xfrm>
            <a:off x="0" y="319087"/>
            <a:ext cx="12192000" cy="6539230"/>
            <a:chOff x="0" y="319087"/>
            <a:chExt cx="12192000" cy="6539230"/>
          </a:xfrm>
        </p:grpSpPr>
        <p:sp>
          <p:nvSpPr>
            <p:cNvPr id="8" name="object 8" descr=""/>
            <p:cNvSpPr/>
            <p:nvPr/>
          </p:nvSpPr>
          <p:spPr>
            <a:xfrm>
              <a:off x="990599"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sp>
          <p:nvSpPr>
            <p:cNvPr id="9" name="object 9"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pic>
          <p:nvPicPr>
            <p:cNvPr id="10" name="object 10" descr=""/>
            <p:cNvPicPr/>
            <p:nvPr/>
          </p:nvPicPr>
          <p:blipFill>
            <a:blip r:embed="rId2" cstate="print"/>
            <a:stretch>
              <a:fillRect/>
            </a:stretch>
          </p:blipFill>
          <p:spPr>
            <a:xfrm>
              <a:off x="1523999" y="319087"/>
              <a:ext cx="9144000" cy="6219825"/>
            </a:xfrm>
            <a:prstGeom prst="rect">
              <a:avLst/>
            </a:prstGeom>
          </p:spPr>
        </p:pic>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51/175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31442" y="129920"/>
            <a:ext cx="3684904"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413715" y="1282953"/>
            <a:ext cx="11520170" cy="5057775"/>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Font typeface="Wingdings"/>
              <a:buChar char=""/>
              <a:tabLst>
                <a:tab pos="469265" algn="l"/>
              </a:tabLst>
            </a:pPr>
            <a:r>
              <a:rPr dirty="0" sz="2400" spc="-10">
                <a:solidFill>
                  <a:srgbClr val="001F5F"/>
                </a:solidFill>
                <a:latin typeface="黑体"/>
                <a:cs typeface="黑体"/>
              </a:rPr>
              <a:t>记分牌算法</a:t>
            </a:r>
            <a:endParaRPr sz="2400">
              <a:latin typeface="黑体"/>
              <a:cs typeface="黑体"/>
            </a:endParaRPr>
          </a:p>
          <a:p>
            <a:pPr lvl="1" marL="1099185" indent="-457200">
              <a:lnSpc>
                <a:spcPct val="100000"/>
              </a:lnSpc>
              <a:spcBef>
                <a:spcPts val="2020"/>
              </a:spcBef>
              <a:buClr>
                <a:srgbClr val="006FC0"/>
              </a:buClr>
              <a:buSzPct val="89583"/>
              <a:buFont typeface="Wingdings"/>
              <a:buChar char=""/>
              <a:tabLst>
                <a:tab pos="1099185" algn="l"/>
              </a:tabLst>
            </a:pPr>
            <a:r>
              <a:rPr dirty="0" sz="2400">
                <a:solidFill>
                  <a:srgbClr val="FF0000"/>
                </a:solidFill>
                <a:latin typeface="黑体"/>
                <a:cs typeface="黑体"/>
              </a:rPr>
              <a:t>实现了</a:t>
            </a:r>
            <a:r>
              <a:rPr dirty="0" sz="2400" spc="-5">
                <a:solidFill>
                  <a:srgbClr val="40458B"/>
                </a:solidFill>
                <a:latin typeface="黑体"/>
                <a:cs typeface="黑体"/>
              </a:rPr>
              <a:t>指令的乱序执行，可解决乱序执行过程中的数据冒险问题。</a:t>
            </a:r>
            <a:endParaRPr sz="2400">
              <a:latin typeface="黑体"/>
              <a:cs typeface="黑体"/>
            </a:endParaRPr>
          </a:p>
          <a:p>
            <a:pPr lvl="2" marL="2071370" indent="-457200">
              <a:lnSpc>
                <a:spcPct val="100000"/>
              </a:lnSpc>
              <a:spcBef>
                <a:spcPts val="1664"/>
              </a:spcBef>
              <a:buClr>
                <a:srgbClr val="006FC0"/>
              </a:buClr>
              <a:buSzPct val="63888"/>
              <a:buFont typeface="Wingdings"/>
              <a:buChar char=""/>
              <a:tabLst>
                <a:tab pos="2071370" algn="l"/>
              </a:tabLst>
            </a:pPr>
            <a:r>
              <a:rPr dirty="0" sz="1800" spc="-10" b="1">
                <a:solidFill>
                  <a:srgbClr val="FF09FF"/>
                </a:solidFill>
                <a:latin typeface="宋体"/>
                <a:cs typeface="宋体"/>
              </a:rPr>
              <a:t>实现了指令的数据流式运行（</a:t>
            </a:r>
            <a:r>
              <a:rPr dirty="0" sz="1800" spc="-15" b="1">
                <a:solidFill>
                  <a:srgbClr val="FF09FF"/>
                </a:solidFill>
                <a:latin typeface="宋体"/>
                <a:cs typeface="宋体"/>
              </a:rPr>
              <a:t>即数据一旦准备好就开始运行，这区别于传统五级流水线中控制</a:t>
            </a:r>
            <a:endParaRPr sz="1800">
              <a:latin typeface="宋体"/>
              <a:cs typeface="宋体"/>
            </a:endParaRPr>
          </a:p>
          <a:p>
            <a:pPr marL="2071370">
              <a:lnSpc>
                <a:spcPct val="100000"/>
              </a:lnSpc>
              <a:spcBef>
                <a:spcPts val="1080"/>
              </a:spcBef>
            </a:pPr>
            <a:r>
              <a:rPr dirty="0" sz="1800" spc="-20" b="1">
                <a:solidFill>
                  <a:srgbClr val="FF09FF"/>
                </a:solidFill>
                <a:latin typeface="宋体"/>
                <a:cs typeface="宋体"/>
              </a:rPr>
              <a:t>运行方式），</a:t>
            </a:r>
            <a:r>
              <a:rPr dirty="0" sz="1800" spc="-25" b="1">
                <a:solidFill>
                  <a:srgbClr val="FF09FF"/>
                </a:solidFill>
                <a:latin typeface="宋体"/>
                <a:cs typeface="宋体"/>
              </a:rPr>
              <a:t>并且实现起来并不复杂。</a:t>
            </a:r>
            <a:endParaRPr sz="1800">
              <a:latin typeface="宋体"/>
              <a:cs typeface="宋体"/>
            </a:endParaRPr>
          </a:p>
          <a:p>
            <a:pPr algn="just" marL="1082675" marR="65405" indent="-343535">
              <a:lnSpc>
                <a:spcPct val="150000"/>
              </a:lnSpc>
              <a:spcBef>
                <a:spcPts val="425"/>
              </a:spcBef>
              <a:buClr>
                <a:srgbClr val="006FC0"/>
              </a:buClr>
              <a:buFont typeface="Wingdings"/>
              <a:buChar char=""/>
              <a:tabLst>
                <a:tab pos="1082675" algn="l"/>
              </a:tabLst>
            </a:pPr>
            <a:r>
              <a:rPr dirty="0" sz="2400">
                <a:solidFill>
                  <a:srgbClr val="FF0000"/>
                </a:solidFill>
                <a:latin typeface="黑体"/>
                <a:cs typeface="黑体"/>
              </a:rPr>
              <a:t>但是</a:t>
            </a:r>
            <a:r>
              <a:rPr dirty="0" sz="2400" spc="-5">
                <a:solidFill>
                  <a:srgbClr val="40458B"/>
                </a:solidFill>
                <a:latin typeface="黑体"/>
                <a:cs typeface="黑体"/>
              </a:rPr>
              <a:t>记分牌算法还是会因为 </a:t>
            </a:r>
            <a:r>
              <a:rPr dirty="0" sz="2400">
                <a:solidFill>
                  <a:srgbClr val="40458B"/>
                </a:solidFill>
                <a:latin typeface="黑体"/>
                <a:cs typeface="黑体"/>
              </a:rPr>
              <a:t>WAR</a:t>
            </a:r>
            <a:r>
              <a:rPr dirty="0" sz="2400" spc="-25">
                <a:solidFill>
                  <a:srgbClr val="40458B"/>
                </a:solidFill>
                <a:latin typeface="黑体"/>
                <a:cs typeface="黑体"/>
              </a:rPr>
              <a:t> 和 </a:t>
            </a:r>
            <a:r>
              <a:rPr dirty="0" sz="2400">
                <a:solidFill>
                  <a:srgbClr val="40458B"/>
                </a:solidFill>
                <a:latin typeface="黑体"/>
                <a:cs typeface="黑体"/>
              </a:rPr>
              <a:t>WAW</a:t>
            </a:r>
            <a:r>
              <a:rPr dirty="0" sz="2400" spc="-20">
                <a:solidFill>
                  <a:srgbClr val="40458B"/>
                </a:solidFill>
                <a:latin typeface="黑体"/>
                <a:cs typeface="黑体"/>
              </a:rPr>
              <a:t> 冒险而产生阻塞，且一旦产生阻塞，</a:t>
            </a:r>
            <a:r>
              <a:rPr dirty="0" sz="2400">
                <a:solidFill>
                  <a:srgbClr val="40458B"/>
                </a:solidFill>
                <a:latin typeface="黑体"/>
                <a:cs typeface="黑体"/>
              </a:rPr>
              <a:t>后续相同类型的指令就没办法继续发射（</a:t>
            </a:r>
            <a:r>
              <a:rPr dirty="0" sz="2400" spc="-5">
                <a:solidFill>
                  <a:srgbClr val="40458B"/>
                </a:solidFill>
                <a:latin typeface="黑体"/>
                <a:cs typeface="黑体"/>
              </a:rPr>
              <a:t>在乱序执行过程中，记分牌规定每一</a:t>
            </a:r>
            <a:r>
              <a:rPr dirty="0" sz="2400">
                <a:solidFill>
                  <a:srgbClr val="40458B"/>
                </a:solidFill>
                <a:latin typeface="黑体"/>
                <a:cs typeface="黑体"/>
              </a:rPr>
              <a:t>条配置路线都只能同时存在一条指令），</a:t>
            </a:r>
            <a:r>
              <a:rPr dirty="0" sz="2400" spc="-5">
                <a:solidFill>
                  <a:srgbClr val="40458B"/>
                </a:solidFill>
                <a:latin typeface="黑体"/>
                <a:cs typeface="黑体"/>
              </a:rPr>
              <a:t>那么更后面的也许可以立马执行的指令也会被阻塞到，这对性能有很大的影响。</a:t>
            </a:r>
            <a:endParaRPr sz="2400">
              <a:latin typeface="黑体"/>
              <a:cs typeface="黑体"/>
            </a:endParaRPr>
          </a:p>
          <a:p>
            <a:pPr lvl="1" marL="2071370" indent="-381000">
              <a:lnSpc>
                <a:spcPct val="100000"/>
              </a:lnSpc>
              <a:spcBef>
                <a:spcPts val="1664"/>
              </a:spcBef>
              <a:buClr>
                <a:srgbClr val="006FC0"/>
              </a:buClr>
              <a:buSzPct val="63888"/>
              <a:buFont typeface="Wingdings"/>
              <a:buChar char=""/>
              <a:tabLst>
                <a:tab pos="2071370" algn="l"/>
              </a:tabLst>
            </a:pPr>
            <a:r>
              <a:rPr dirty="0" sz="1800" spc="-20" b="1">
                <a:solidFill>
                  <a:srgbClr val="FF09FF"/>
                </a:solidFill>
                <a:latin typeface="宋体"/>
                <a:cs typeface="宋体"/>
              </a:rPr>
              <a:t>而且记分牌算法在指令完成时不是顺序的（即写回的时候不按顺序），</a:t>
            </a:r>
            <a:r>
              <a:rPr dirty="0" sz="1800" spc="-25" b="1">
                <a:solidFill>
                  <a:srgbClr val="FF09FF"/>
                </a:solidFill>
                <a:latin typeface="宋体"/>
                <a:cs typeface="宋体"/>
              </a:rPr>
              <a:t>不按顺序完成指令会对</a:t>
            </a:r>
            <a:endParaRPr sz="1800">
              <a:latin typeface="宋体"/>
              <a:cs typeface="宋体"/>
            </a:endParaRPr>
          </a:p>
          <a:p>
            <a:pPr marL="2071370">
              <a:lnSpc>
                <a:spcPct val="100000"/>
              </a:lnSpc>
              <a:spcBef>
                <a:spcPts val="1085"/>
              </a:spcBef>
            </a:pPr>
            <a:r>
              <a:rPr dirty="0" sz="1800" spc="-15" b="1">
                <a:solidFill>
                  <a:srgbClr val="FF09FF"/>
                </a:solidFill>
                <a:latin typeface="宋体"/>
                <a:cs typeface="宋体"/>
              </a:rPr>
              <a:t>程序的调试提出挑战</a:t>
            </a:r>
            <a:endParaRPr sz="1800">
              <a:latin typeface="宋体"/>
              <a:cs typeface="宋体"/>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53/175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503170" y="189687"/>
            <a:ext cx="3686810" cy="514350"/>
          </a:xfrm>
          <a:prstGeom prst="rect"/>
        </p:spPr>
        <p:txBody>
          <a:bodyPr wrap="square" lIns="0" tIns="13335" rIns="0" bIns="0" rtlCol="0" vert="horz">
            <a:spAutoFit/>
          </a:bodyPr>
          <a:lstStyle/>
          <a:p>
            <a:pPr marL="12700">
              <a:lnSpc>
                <a:spcPct val="100000"/>
              </a:lnSpc>
              <a:spcBef>
                <a:spcPts val="105"/>
              </a:spcBef>
            </a:pPr>
            <a:r>
              <a:rPr dirty="0"/>
              <a:t>5.3</a:t>
            </a:r>
            <a:r>
              <a:rPr dirty="0" spc="-20"/>
              <a:t> 指令的动态调度</a:t>
            </a:r>
          </a:p>
        </p:txBody>
      </p:sp>
      <p:sp>
        <p:nvSpPr>
          <p:cNvPr id="10" name="object 10" descr=""/>
          <p:cNvSpPr txBox="1"/>
          <p:nvPr/>
        </p:nvSpPr>
        <p:spPr>
          <a:xfrm>
            <a:off x="450291" y="2550414"/>
            <a:ext cx="3938270" cy="391160"/>
          </a:xfrm>
          <a:prstGeom prst="rect">
            <a:avLst/>
          </a:prstGeom>
        </p:spPr>
        <p:txBody>
          <a:bodyPr wrap="square" lIns="0" tIns="12700" rIns="0" bIns="0" rtlCol="0" vert="horz">
            <a:spAutoFit/>
          </a:bodyPr>
          <a:lstStyle/>
          <a:p>
            <a:pPr marL="12700">
              <a:lnSpc>
                <a:spcPct val="100000"/>
              </a:lnSpc>
              <a:spcBef>
                <a:spcPts val="100"/>
              </a:spcBef>
              <a:tabLst>
                <a:tab pos="1791335" algn="l"/>
                <a:tab pos="2705735" algn="l"/>
              </a:tabLst>
            </a:pPr>
            <a:r>
              <a:rPr dirty="0" sz="2200" spc="-20">
                <a:solidFill>
                  <a:srgbClr val="FF0000"/>
                </a:solidFill>
                <a:latin typeface="黑体"/>
                <a:cs typeface="黑体"/>
              </a:rPr>
              <a:t>其次</a:t>
            </a:r>
            <a:r>
              <a:rPr dirty="0" sz="2400">
                <a:solidFill>
                  <a:srgbClr val="0000CC"/>
                </a:solidFill>
                <a:latin typeface="黑体"/>
                <a:cs typeface="黑体"/>
              </a:rPr>
              <a:t>：例</a:t>
            </a:r>
            <a:r>
              <a:rPr dirty="0" sz="2400" spc="-50">
                <a:solidFill>
                  <a:srgbClr val="0000CC"/>
                </a:solidFill>
                <a:latin typeface="黑体"/>
                <a:cs typeface="黑体"/>
              </a:rPr>
              <a:t>如</a:t>
            </a:r>
            <a:r>
              <a:rPr dirty="0" sz="2400">
                <a:solidFill>
                  <a:srgbClr val="0000CC"/>
                </a:solidFill>
                <a:latin typeface="黑体"/>
                <a:cs typeface="黑体"/>
              </a:rPr>
              <a:t>	</a:t>
            </a:r>
            <a:r>
              <a:rPr dirty="0" sz="2400" spc="-10">
                <a:solidFill>
                  <a:srgbClr val="0000CC"/>
                </a:solidFill>
                <a:latin typeface="黑体"/>
                <a:cs typeface="黑体"/>
              </a:rPr>
              <a:t>DIV.D</a:t>
            </a:r>
            <a:r>
              <a:rPr dirty="0" sz="2400">
                <a:solidFill>
                  <a:srgbClr val="0000CC"/>
                </a:solidFill>
                <a:latin typeface="黑体"/>
                <a:cs typeface="黑体"/>
              </a:rPr>
              <a:t>	</a:t>
            </a:r>
            <a:r>
              <a:rPr dirty="0" sz="2400" spc="-10">
                <a:solidFill>
                  <a:srgbClr val="FF0000"/>
                </a:solidFill>
                <a:latin typeface="黑体"/>
                <a:cs typeface="黑体"/>
              </a:rPr>
              <a:t>F3</a:t>
            </a:r>
            <a:r>
              <a:rPr dirty="0" sz="2400" spc="-10">
                <a:solidFill>
                  <a:srgbClr val="0000CC"/>
                </a:solidFill>
                <a:latin typeface="黑体"/>
                <a:cs typeface="黑体"/>
              </a:rPr>
              <a:t>,F0,F2</a:t>
            </a:r>
            <a:endParaRPr sz="2400">
              <a:latin typeface="黑体"/>
              <a:cs typeface="黑体"/>
            </a:endParaRPr>
          </a:p>
        </p:txBody>
      </p:sp>
      <p:sp>
        <p:nvSpPr>
          <p:cNvPr id="11" name="object 11" descr=""/>
          <p:cNvSpPr txBox="1"/>
          <p:nvPr/>
        </p:nvSpPr>
        <p:spPr>
          <a:xfrm>
            <a:off x="2279395" y="3176778"/>
            <a:ext cx="2311400" cy="391160"/>
          </a:xfrm>
          <a:prstGeom prst="rect">
            <a:avLst/>
          </a:prstGeom>
        </p:spPr>
        <p:txBody>
          <a:bodyPr wrap="square" lIns="0" tIns="12700" rIns="0" bIns="0" rtlCol="0" vert="horz">
            <a:spAutoFit/>
          </a:bodyPr>
          <a:lstStyle/>
          <a:p>
            <a:pPr marL="12700">
              <a:lnSpc>
                <a:spcPct val="100000"/>
              </a:lnSpc>
              <a:spcBef>
                <a:spcPts val="100"/>
              </a:spcBef>
              <a:tabLst>
                <a:tab pos="926465" algn="l"/>
              </a:tabLst>
            </a:pPr>
            <a:r>
              <a:rPr dirty="0" sz="2400" spc="-10">
                <a:solidFill>
                  <a:srgbClr val="0000CC"/>
                </a:solidFill>
                <a:latin typeface="黑体"/>
                <a:cs typeface="黑体"/>
              </a:rPr>
              <a:t>SUB.D</a:t>
            </a:r>
            <a:r>
              <a:rPr dirty="0" sz="2400">
                <a:solidFill>
                  <a:srgbClr val="0000CC"/>
                </a:solidFill>
                <a:latin typeface="黑体"/>
                <a:cs typeface="黑体"/>
              </a:rPr>
              <a:t>	</a:t>
            </a:r>
            <a:r>
              <a:rPr dirty="0" sz="2400" spc="-10">
                <a:solidFill>
                  <a:srgbClr val="0000CC"/>
                </a:solidFill>
                <a:latin typeface="黑体"/>
                <a:cs typeface="黑体"/>
              </a:rPr>
              <a:t>F10,</a:t>
            </a:r>
            <a:r>
              <a:rPr dirty="0" sz="2400" spc="-10">
                <a:solidFill>
                  <a:srgbClr val="FF0000"/>
                </a:solidFill>
                <a:latin typeface="黑体"/>
                <a:cs typeface="黑体"/>
              </a:rPr>
              <a:t>F3</a:t>
            </a:r>
            <a:r>
              <a:rPr dirty="0" sz="2400" spc="-10">
                <a:solidFill>
                  <a:srgbClr val="0000CC"/>
                </a:solidFill>
                <a:latin typeface="黑体"/>
                <a:cs typeface="黑体"/>
              </a:rPr>
              <a:t>,F6</a:t>
            </a:r>
            <a:endParaRPr sz="2400">
              <a:latin typeface="黑体"/>
              <a:cs typeface="黑体"/>
            </a:endParaRPr>
          </a:p>
        </p:txBody>
      </p:sp>
      <p:sp>
        <p:nvSpPr>
          <p:cNvPr id="12" name="object 12" descr=""/>
          <p:cNvSpPr txBox="1"/>
          <p:nvPr/>
        </p:nvSpPr>
        <p:spPr>
          <a:xfrm>
            <a:off x="2431795" y="3804920"/>
            <a:ext cx="2463800" cy="391160"/>
          </a:xfrm>
          <a:prstGeom prst="rect">
            <a:avLst/>
          </a:prstGeom>
        </p:spPr>
        <p:txBody>
          <a:bodyPr wrap="square" lIns="0" tIns="12700" rIns="0" bIns="0" rtlCol="0" vert="horz">
            <a:spAutoFit/>
          </a:bodyPr>
          <a:lstStyle/>
          <a:p>
            <a:pPr marL="12700">
              <a:lnSpc>
                <a:spcPct val="100000"/>
              </a:lnSpc>
              <a:spcBef>
                <a:spcPts val="100"/>
              </a:spcBef>
              <a:tabLst>
                <a:tab pos="926465" algn="l"/>
              </a:tabLst>
            </a:pPr>
            <a:r>
              <a:rPr dirty="0" sz="2400" spc="-10">
                <a:solidFill>
                  <a:srgbClr val="0000CC"/>
                </a:solidFill>
                <a:latin typeface="黑体"/>
                <a:cs typeface="黑体"/>
              </a:rPr>
              <a:t>ADD.D</a:t>
            </a:r>
            <a:r>
              <a:rPr dirty="0" sz="2400">
                <a:solidFill>
                  <a:srgbClr val="0000CC"/>
                </a:solidFill>
                <a:latin typeface="黑体"/>
                <a:cs typeface="黑体"/>
              </a:rPr>
              <a:t>	</a:t>
            </a:r>
            <a:r>
              <a:rPr dirty="0" sz="2400" spc="-10">
                <a:solidFill>
                  <a:srgbClr val="0000CC"/>
                </a:solidFill>
                <a:latin typeface="黑体"/>
                <a:cs typeface="黑体"/>
              </a:rPr>
              <a:t>F12,F8,F12</a:t>
            </a:r>
            <a:endParaRPr sz="2400">
              <a:latin typeface="黑体"/>
              <a:cs typeface="黑体"/>
            </a:endParaRPr>
          </a:p>
        </p:txBody>
      </p:sp>
      <p:sp>
        <p:nvSpPr>
          <p:cNvPr id="13" name="object 13" descr=""/>
          <p:cNvSpPr txBox="1"/>
          <p:nvPr/>
        </p:nvSpPr>
        <p:spPr>
          <a:xfrm>
            <a:off x="461263" y="992250"/>
            <a:ext cx="11065510" cy="1236980"/>
          </a:xfrm>
          <a:prstGeom prst="rect">
            <a:avLst/>
          </a:prstGeom>
        </p:spPr>
        <p:txBody>
          <a:bodyPr wrap="square" lIns="0" tIns="12065" rIns="0" bIns="0" rtlCol="0" vert="horz">
            <a:spAutoFit/>
          </a:bodyPr>
          <a:lstStyle/>
          <a:p>
            <a:pPr marL="1838325">
              <a:lnSpc>
                <a:spcPct val="100000"/>
              </a:lnSpc>
              <a:spcBef>
                <a:spcPts val="95"/>
              </a:spcBef>
            </a:pPr>
            <a:r>
              <a:rPr dirty="0" sz="2800" spc="-20" b="1">
                <a:solidFill>
                  <a:srgbClr val="001F5F"/>
                </a:solidFill>
                <a:latin typeface="黑体"/>
                <a:cs typeface="黑体"/>
              </a:rPr>
              <a:t>经典</a:t>
            </a:r>
            <a:r>
              <a:rPr dirty="0" sz="2800" spc="-30" b="1">
                <a:solidFill>
                  <a:srgbClr val="001F5F"/>
                </a:solidFill>
                <a:latin typeface="黑体"/>
                <a:cs typeface="黑体"/>
              </a:rPr>
              <a:t>（</a:t>
            </a:r>
            <a:r>
              <a:rPr dirty="0" sz="2800" spc="-20" b="1">
                <a:solidFill>
                  <a:srgbClr val="001F5F"/>
                </a:solidFill>
                <a:latin typeface="黑体"/>
                <a:cs typeface="黑体"/>
              </a:rPr>
              <a:t>顺序</a:t>
            </a:r>
            <a:r>
              <a:rPr dirty="0" sz="2800" spc="-30" b="1">
                <a:solidFill>
                  <a:srgbClr val="001F5F"/>
                </a:solidFill>
                <a:latin typeface="黑体"/>
                <a:cs typeface="黑体"/>
              </a:rPr>
              <a:t>）流水线的局限性（按序流出按序执行</a:t>
            </a:r>
            <a:r>
              <a:rPr dirty="0" sz="2800" spc="-50" b="1">
                <a:solidFill>
                  <a:srgbClr val="001F5F"/>
                </a:solidFill>
                <a:latin typeface="黑体"/>
                <a:cs typeface="黑体"/>
              </a:rPr>
              <a:t>）</a:t>
            </a:r>
            <a:endParaRPr sz="2800">
              <a:latin typeface="黑体"/>
              <a:cs typeface="黑体"/>
            </a:endParaRPr>
          </a:p>
          <a:p>
            <a:pPr marL="12700">
              <a:lnSpc>
                <a:spcPct val="100000"/>
              </a:lnSpc>
              <a:spcBef>
                <a:spcPts val="3540"/>
              </a:spcBef>
            </a:pPr>
            <a:r>
              <a:rPr dirty="0" sz="2200" spc="-30">
                <a:solidFill>
                  <a:srgbClr val="FF0000"/>
                </a:solidFill>
                <a:latin typeface="黑体"/>
                <a:cs typeface="黑体"/>
              </a:rPr>
              <a:t>首先认识</a:t>
            </a:r>
            <a:r>
              <a:rPr dirty="0" sz="2200" spc="-30">
                <a:solidFill>
                  <a:srgbClr val="0000CC"/>
                </a:solidFill>
                <a:latin typeface="黑体"/>
                <a:cs typeface="黑体"/>
              </a:rPr>
              <a:t>：顺序执行的处理器有瑕疵</a:t>
            </a:r>
            <a:r>
              <a:rPr dirty="0" sz="2200" spc="-25">
                <a:solidFill>
                  <a:srgbClr val="0000CC"/>
                </a:solidFill>
                <a:latin typeface="黑体"/>
                <a:cs typeface="黑体"/>
              </a:rPr>
              <a:t>（LW</a:t>
            </a:r>
            <a:r>
              <a:rPr dirty="0" sz="2200" spc="-30">
                <a:solidFill>
                  <a:srgbClr val="0000CC"/>
                </a:solidFill>
                <a:latin typeface="黑体"/>
                <a:cs typeface="黑体"/>
              </a:rPr>
              <a:t>指令--</a:t>
            </a:r>
            <a:r>
              <a:rPr dirty="0" sz="2200" spc="-20">
                <a:solidFill>
                  <a:srgbClr val="0000CC"/>
                </a:solidFill>
                <a:latin typeface="黑体"/>
                <a:cs typeface="黑体"/>
              </a:rPr>
              <a:t>cache）</a:t>
            </a:r>
            <a:r>
              <a:rPr dirty="0" sz="2200" spc="-30">
                <a:solidFill>
                  <a:srgbClr val="0000CC"/>
                </a:solidFill>
                <a:latin typeface="黑体"/>
                <a:cs typeface="黑体"/>
              </a:rPr>
              <a:t>，定向技术才能解决或绕过</a:t>
            </a:r>
            <a:r>
              <a:rPr dirty="0" sz="2200" spc="-25">
                <a:solidFill>
                  <a:srgbClr val="0000CC"/>
                </a:solidFill>
                <a:latin typeface="黑体"/>
                <a:cs typeface="黑体"/>
              </a:rPr>
              <a:t>LW</a:t>
            </a:r>
            <a:r>
              <a:rPr dirty="0" sz="2200" spc="-45">
                <a:solidFill>
                  <a:srgbClr val="0000CC"/>
                </a:solidFill>
                <a:latin typeface="黑体"/>
                <a:cs typeface="黑体"/>
              </a:rPr>
              <a:t>指令</a:t>
            </a:r>
            <a:endParaRPr sz="2200">
              <a:latin typeface="黑体"/>
              <a:cs typeface="黑体"/>
            </a:endParaRPr>
          </a:p>
        </p:txBody>
      </p:sp>
      <p:sp>
        <p:nvSpPr>
          <p:cNvPr id="14" name="object 14" descr=""/>
          <p:cNvSpPr txBox="1"/>
          <p:nvPr/>
        </p:nvSpPr>
        <p:spPr>
          <a:xfrm>
            <a:off x="5657850" y="2478358"/>
            <a:ext cx="5969635" cy="1261110"/>
          </a:xfrm>
          <a:prstGeom prst="rect">
            <a:avLst/>
          </a:prstGeom>
        </p:spPr>
        <p:txBody>
          <a:bodyPr wrap="square" lIns="0" tIns="150495" rIns="0" bIns="0" rtlCol="0" vert="horz">
            <a:spAutoFit/>
          </a:bodyPr>
          <a:lstStyle/>
          <a:p>
            <a:pPr marL="12700">
              <a:lnSpc>
                <a:spcPct val="100000"/>
              </a:lnSpc>
              <a:spcBef>
                <a:spcPts val="1185"/>
              </a:spcBef>
            </a:pPr>
            <a:r>
              <a:rPr dirty="0" sz="1800" spc="-10">
                <a:solidFill>
                  <a:srgbClr val="FF0000"/>
                </a:solidFill>
                <a:latin typeface="黑体"/>
                <a:cs typeface="黑体"/>
              </a:rPr>
              <a:t>SUB和DIV指令RAW冲突</a:t>
            </a:r>
            <a:r>
              <a:rPr dirty="0" sz="1800" spc="-20">
                <a:solidFill>
                  <a:srgbClr val="D50092"/>
                </a:solidFill>
                <a:latin typeface="黑体"/>
                <a:cs typeface="黑体"/>
              </a:rPr>
              <a:t>，导致流水线停顿</a:t>
            </a:r>
            <a:endParaRPr sz="1800">
              <a:latin typeface="黑体"/>
              <a:cs typeface="黑体"/>
            </a:endParaRPr>
          </a:p>
          <a:p>
            <a:pPr marL="12700">
              <a:lnSpc>
                <a:spcPct val="100000"/>
              </a:lnSpc>
              <a:spcBef>
                <a:spcPts val="1080"/>
              </a:spcBef>
            </a:pPr>
            <a:r>
              <a:rPr dirty="0" sz="1800">
                <a:solidFill>
                  <a:srgbClr val="D50092"/>
                </a:solidFill>
                <a:latin typeface="黑体"/>
                <a:cs typeface="黑体"/>
              </a:rPr>
              <a:t>ADD指令与前面指令无关，因为SUB</a:t>
            </a:r>
            <a:r>
              <a:rPr dirty="0" sz="1800" spc="-5">
                <a:solidFill>
                  <a:srgbClr val="D50092"/>
                </a:solidFill>
                <a:latin typeface="黑体"/>
                <a:cs typeface="黑体"/>
              </a:rPr>
              <a:t>指令需要停顿周期而阻塞</a:t>
            </a:r>
            <a:endParaRPr sz="1800">
              <a:latin typeface="黑体"/>
              <a:cs typeface="黑体"/>
            </a:endParaRPr>
          </a:p>
          <a:p>
            <a:pPr marL="12700">
              <a:lnSpc>
                <a:spcPct val="100000"/>
              </a:lnSpc>
              <a:spcBef>
                <a:spcPts val="1080"/>
              </a:spcBef>
            </a:pPr>
            <a:r>
              <a:rPr dirty="0" sz="1800">
                <a:solidFill>
                  <a:srgbClr val="D50092"/>
                </a:solidFill>
                <a:latin typeface="黑体"/>
                <a:cs typeface="黑体"/>
              </a:rPr>
              <a:t>（不采用定向技术解决</a:t>
            </a:r>
            <a:r>
              <a:rPr dirty="0" sz="1800" spc="-50">
                <a:solidFill>
                  <a:srgbClr val="D50092"/>
                </a:solidFill>
                <a:latin typeface="黑体"/>
                <a:cs typeface="黑体"/>
              </a:rPr>
              <a:t>）</a:t>
            </a:r>
            <a:endParaRPr sz="1800">
              <a:latin typeface="黑体"/>
              <a:cs typeface="黑体"/>
            </a:endParaRPr>
          </a:p>
        </p:txBody>
      </p:sp>
      <p:sp>
        <p:nvSpPr>
          <p:cNvPr id="15" name="object 15" descr=""/>
          <p:cNvSpPr txBox="1"/>
          <p:nvPr/>
        </p:nvSpPr>
        <p:spPr>
          <a:xfrm>
            <a:off x="583793" y="4600702"/>
            <a:ext cx="1423035" cy="360680"/>
          </a:xfrm>
          <a:prstGeom prst="rect">
            <a:avLst/>
          </a:prstGeom>
        </p:spPr>
        <p:txBody>
          <a:bodyPr wrap="square" lIns="0" tIns="12065" rIns="0" bIns="0" rtlCol="0" vert="horz">
            <a:spAutoFit/>
          </a:bodyPr>
          <a:lstStyle/>
          <a:p>
            <a:pPr marL="12700">
              <a:lnSpc>
                <a:spcPct val="100000"/>
              </a:lnSpc>
              <a:spcBef>
                <a:spcPts val="95"/>
              </a:spcBef>
            </a:pPr>
            <a:r>
              <a:rPr dirty="0" sz="2200" spc="-25">
                <a:solidFill>
                  <a:srgbClr val="FF0000"/>
                </a:solidFill>
                <a:latin typeface="黑体"/>
                <a:cs typeface="黑体"/>
              </a:rPr>
              <a:t>然后</a:t>
            </a:r>
            <a:r>
              <a:rPr dirty="0" sz="2200" spc="-40">
                <a:solidFill>
                  <a:srgbClr val="0000CC"/>
                </a:solidFill>
                <a:latin typeface="黑体"/>
                <a:cs typeface="黑体"/>
              </a:rPr>
              <a:t>：例如</a:t>
            </a:r>
            <a:endParaRPr sz="2200">
              <a:latin typeface="黑体"/>
              <a:cs typeface="黑体"/>
            </a:endParaRPr>
          </a:p>
        </p:txBody>
      </p:sp>
      <p:sp>
        <p:nvSpPr>
          <p:cNvPr id="16" name="object 16" descr=""/>
          <p:cNvSpPr txBox="1"/>
          <p:nvPr/>
        </p:nvSpPr>
        <p:spPr>
          <a:xfrm>
            <a:off x="2260219" y="4600702"/>
            <a:ext cx="2120900" cy="360680"/>
          </a:xfrm>
          <a:prstGeom prst="rect">
            <a:avLst/>
          </a:prstGeom>
        </p:spPr>
        <p:txBody>
          <a:bodyPr wrap="square" lIns="0" tIns="12065" rIns="0" bIns="0" rtlCol="0" vert="horz">
            <a:spAutoFit/>
          </a:bodyPr>
          <a:lstStyle/>
          <a:p>
            <a:pPr marL="12700">
              <a:lnSpc>
                <a:spcPct val="100000"/>
              </a:lnSpc>
              <a:spcBef>
                <a:spcPts val="95"/>
              </a:spcBef>
            </a:pPr>
            <a:r>
              <a:rPr dirty="0" sz="2200">
                <a:solidFill>
                  <a:srgbClr val="0000CC"/>
                </a:solidFill>
                <a:latin typeface="黑体"/>
                <a:cs typeface="黑体"/>
              </a:rPr>
              <a:t>DIV.D</a:t>
            </a:r>
            <a:r>
              <a:rPr dirty="0" sz="2200" spc="-50">
                <a:solidFill>
                  <a:srgbClr val="0000CC"/>
                </a:solidFill>
                <a:latin typeface="黑体"/>
                <a:cs typeface="黑体"/>
              </a:rPr>
              <a:t> </a:t>
            </a:r>
            <a:r>
              <a:rPr dirty="0" sz="2200" spc="-10">
                <a:solidFill>
                  <a:srgbClr val="FF0000"/>
                </a:solidFill>
                <a:latin typeface="黑体"/>
                <a:cs typeface="黑体"/>
              </a:rPr>
              <a:t>F10</a:t>
            </a:r>
            <a:r>
              <a:rPr dirty="0" sz="2200" spc="-10">
                <a:solidFill>
                  <a:srgbClr val="0000CC"/>
                </a:solidFill>
                <a:latin typeface="黑体"/>
                <a:cs typeface="黑体"/>
              </a:rPr>
              <a:t>,F0,F2</a:t>
            </a:r>
            <a:endParaRPr sz="2200">
              <a:latin typeface="黑体"/>
              <a:cs typeface="黑体"/>
            </a:endParaRPr>
          </a:p>
        </p:txBody>
      </p:sp>
      <p:sp>
        <p:nvSpPr>
          <p:cNvPr id="17" name="object 17" descr=""/>
          <p:cNvSpPr txBox="1"/>
          <p:nvPr/>
        </p:nvSpPr>
        <p:spPr>
          <a:xfrm>
            <a:off x="2260219" y="5211826"/>
            <a:ext cx="2119630" cy="360680"/>
          </a:xfrm>
          <a:prstGeom prst="rect">
            <a:avLst/>
          </a:prstGeom>
        </p:spPr>
        <p:txBody>
          <a:bodyPr wrap="square" lIns="0" tIns="12065" rIns="0" bIns="0" rtlCol="0" vert="horz">
            <a:spAutoFit/>
          </a:bodyPr>
          <a:lstStyle/>
          <a:p>
            <a:pPr marL="12700">
              <a:lnSpc>
                <a:spcPct val="100000"/>
              </a:lnSpc>
              <a:spcBef>
                <a:spcPts val="95"/>
              </a:spcBef>
            </a:pPr>
            <a:r>
              <a:rPr dirty="0" sz="2200">
                <a:solidFill>
                  <a:srgbClr val="0000CC"/>
                </a:solidFill>
                <a:latin typeface="黑体"/>
                <a:cs typeface="黑体"/>
              </a:rPr>
              <a:t>SUB.D</a:t>
            </a:r>
            <a:r>
              <a:rPr dirty="0" sz="2200" spc="-50">
                <a:solidFill>
                  <a:srgbClr val="0000CC"/>
                </a:solidFill>
                <a:latin typeface="黑体"/>
                <a:cs typeface="黑体"/>
              </a:rPr>
              <a:t> </a:t>
            </a:r>
            <a:r>
              <a:rPr dirty="0" sz="2200" spc="-10">
                <a:solidFill>
                  <a:srgbClr val="FF0000"/>
                </a:solidFill>
                <a:latin typeface="黑体"/>
                <a:cs typeface="黑体"/>
              </a:rPr>
              <a:t>F10</a:t>
            </a:r>
            <a:r>
              <a:rPr dirty="0" sz="2200" spc="-10">
                <a:solidFill>
                  <a:srgbClr val="0000CC"/>
                </a:solidFill>
                <a:latin typeface="黑体"/>
                <a:cs typeface="黑体"/>
              </a:rPr>
              <a:t>,F3,</a:t>
            </a:r>
            <a:r>
              <a:rPr dirty="0" sz="2200" spc="-10">
                <a:solidFill>
                  <a:srgbClr val="00AF50"/>
                </a:solidFill>
                <a:latin typeface="黑体"/>
                <a:cs typeface="黑体"/>
              </a:rPr>
              <a:t>F6</a:t>
            </a:r>
            <a:endParaRPr sz="2200">
              <a:latin typeface="黑体"/>
              <a:cs typeface="黑体"/>
            </a:endParaRPr>
          </a:p>
        </p:txBody>
      </p:sp>
      <p:sp>
        <p:nvSpPr>
          <p:cNvPr id="18" name="object 18" descr=""/>
          <p:cNvSpPr txBox="1"/>
          <p:nvPr/>
        </p:nvSpPr>
        <p:spPr>
          <a:xfrm>
            <a:off x="2400426" y="5824829"/>
            <a:ext cx="2120265" cy="360680"/>
          </a:xfrm>
          <a:prstGeom prst="rect">
            <a:avLst/>
          </a:prstGeom>
        </p:spPr>
        <p:txBody>
          <a:bodyPr wrap="square" lIns="0" tIns="12065" rIns="0" bIns="0" rtlCol="0" vert="horz">
            <a:spAutoFit/>
          </a:bodyPr>
          <a:lstStyle/>
          <a:p>
            <a:pPr marL="12700">
              <a:lnSpc>
                <a:spcPct val="100000"/>
              </a:lnSpc>
              <a:spcBef>
                <a:spcPts val="95"/>
              </a:spcBef>
            </a:pPr>
            <a:r>
              <a:rPr dirty="0" sz="2200">
                <a:solidFill>
                  <a:srgbClr val="0000CC"/>
                </a:solidFill>
                <a:latin typeface="黑体"/>
                <a:cs typeface="黑体"/>
              </a:rPr>
              <a:t>ADD.D</a:t>
            </a:r>
            <a:r>
              <a:rPr dirty="0" sz="2200" spc="-50">
                <a:solidFill>
                  <a:srgbClr val="0000CC"/>
                </a:solidFill>
                <a:latin typeface="黑体"/>
                <a:cs typeface="黑体"/>
              </a:rPr>
              <a:t> </a:t>
            </a:r>
            <a:r>
              <a:rPr dirty="0" sz="2200" spc="-10">
                <a:solidFill>
                  <a:srgbClr val="339933"/>
                </a:solidFill>
                <a:latin typeface="黑体"/>
                <a:cs typeface="黑体"/>
              </a:rPr>
              <a:t>F6</a:t>
            </a:r>
            <a:r>
              <a:rPr dirty="0" sz="2200" spc="-10">
                <a:solidFill>
                  <a:srgbClr val="0000CC"/>
                </a:solidFill>
                <a:latin typeface="黑体"/>
                <a:cs typeface="黑体"/>
              </a:rPr>
              <a:t>,F8,F12</a:t>
            </a:r>
            <a:endParaRPr sz="2200">
              <a:latin typeface="黑体"/>
              <a:cs typeface="黑体"/>
            </a:endParaRPr>
          </a:p>
        </p:txBody>
      </p:sp>
      <p:sp>
        <p:nvSpPr>
          <p:cNvPr id="19" name="object 19" descr=""/>
          <p:cNvSpPr txBox="1"/>
          <p:nvPr/>
        </p:nvSpPr>
        <p:spPr>
          <a:xfrm>
            <a:off x="5281676" y="5057013"/>
            <a:ext cx="2997835" cy="299720"/>
          </a:xfrm>
          <a:prstGeom prst="rect">
            <a:avLst/>
          </a:prstGeom>
        </p:spPr>
        <p:txBody>
          <a:bodyPr wrap="square" lIns="0" tIns="12700" rIns="0" bIns="0" rtlCol="0" vert="horz">
            <a:spAutoFit/>
          </a:bodyPr>
          <a:lstStyle/>
          <a:p>
            <a:pPr marL="12700">
              <a:lnSpc>
                <a:spcPct val="100000"/>
              </a:lnSpc>
              <a:spcBef>
                <a:spcPts val="100"/>
              </a:spcBef>
            </a:pPr>
            <a:r>
              <a:rPr dirty="0" sz="1800">
                <a:solidFill>
                  <a:srgbClr val="FF0000"/>
                </a:solidFill>
                <a:latin typeface="黑体"/>
                <a:cs typeface="黑体"/>
              </a:rPr>
              <a:t>WAW冲突</a:t>
            </a:r>
            <a:r>
              <a:rPr dirty="0" sz="1800">
                <a:solidFill>
                  <a:srgbClr val="D50092"/>
                </a:solidFill>
                <a:latin typeface="黑体"/>
                <a:cs typeface="黑体"/>
              </a:rPr>
              <a:t>，</a:t>
            </a:r>
            <a:r>
              <a:rPr dirty="0" sz="1800">
                <a:solidFill>
                  <a:srgbClr val="FF0000"/>
                </a:solidFill>
                <a:latin typeface="黑体"/>
                <a:cs typeface="黑体"/>
              </a:rPr>
              <a:t>WAR冲突</a:t>
            </a:r>
            <a:r>
              <a:rPr dirty="0" sz="1800" spc="-10">
                <a:solidFill>
                  <a:srgbClr val="D50092"/>
                </a:solidFill>
                <a:latin typeface="黑体"/>
                <a:cs typeface="黑体"/>
              </a:rPr>
              <a:t>，停顿解决</a:t>
            </a:r>
            <a:endParaRPr sz="1800">
              <a:latin typeface="黑体"/>
              <a:cs typeface="黑体"/>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54/175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503170" y="189687"/>
            <a:ext cx="3686810" cy="514350"/>
          </a:xfrm>
          <a:prstGeom prst="rect"/>
        </p:spPr>
        <p:txBody>
          <a:bodyPr wrap="square" lIns="0" tIns="13335" rIns="0" bIns="0" rtlCol="0" vert="horz">
            <a:spAutoFit/>
          </a:bodyPr>
          <a:lstStyle/>
          <a:p>
            <a:pPr marL="12700">
              <a:lnSpc>
                <a:spcPct val="100000"/>
              </a:lnSpc>
              <a:spcBef>
                <a:spcPts val="105"/>
              </a:spcBef>
            </a:pPr>
            <a:r>
              <a:rPr dirty="0"/>
              <a:t>5.3</a:t>
            </a:r>
            <a:r>
              <a:rPr dirty="0" spc="-20"/>
              <a:t> 指令的动态调度</a:t>
            </a:r>
          </a:p>
        </p:txBody>
      </p:sp>
      <p:sp>
        <p:nvSpPr>
          <p:cNvPr id="10" name="object 10" descr=""/>
          <p:cNvSpPr txBox="1"/>
          <p:nvPr/>
        </p:nvSpPr>
        <p:spPr>
          <a:xfrm>
            <a:off x="575563" y="1213866"/>
            <a:ext cx="11499850" cy="3058160"/>
          </a:xfrm>
          <a:prstGeom prst="rect">
            <a:avLst/>
          </a:prstGeom>
        </p:spPr>
        <p:txBody>
          <a:bodyPr wrap="square" lIns="0" tIns="12065" rIns="0" bIns="0" rtlCol="0" vert="horz">
            <a:spAutoFit/>
          </a:bodyPr>
          <a:lstStyle/>
          <a:p>
            <a:pPr marL="29845">
              <a:lnSpc>
                <a:spcPct val="100000"/>
              </a:lnSpc>
              <a:spcBef>
                <a:spcPts val="95"/>
              </a:spcBef>
            </a:pPr>
            <a:r>
              <a:rPr dirty="0" sz="2200" spc="-25">
                <a:solidFill>
                  <a:srgbClr val="FF0000"/>
                </a:solidFill>
                <a:latin typeface="黑体"/>
                <a:cs typeface="黑体"/>
              </a:rPr>
              <a:t>动态调度</a:t>
            </a:r>
            <a:r>
              <a:rPr dirty="0" sz="2200" spc="-30">
                <a:solidFill>
                  <a:srgbClr val="0000CC"/>
                </a:solidFill>
                <a:latin typeface="黑体"/>
                <a:cs typeface="黑体"/>
              </a:rPr>
              <a:t>：通过硬件在程序执行时</a:t>
            </a:r>
            <a:r>
              <a:rPr dirty="0" sz="2200" spc="-30">
                <a:solidFill>
                  <a:srgbClr val="FF0000"/>
                </a:solidFill>
                <a:latin typeface="黑体"/>
                <a:cs typeface="黑体"/>
              </a:rPr>
              <a:t>重新安排</a:t>
            </a:r>
            <a:r>
              <a:rPr dirty="0" sz="2200" spc="-35">
                <a:solidFill>
                  <a:srgbClr val="0000CC"/>
                </a:solidFill>
                <a:latin typeface="黑体"/>
                <a:cs typeface="黑体"/>
              </a:rPr>
              <a:t>代码的执行序列来减少竞争引起的流水线停顿时间</a:t>
            </a:r>
            <a:endParaRPr sz="2200">
              <a:latin typeface="黑体"/>
              <a:cs typeface="黑体"/>
            </a:endParaRPr>
          </a:p>
          <a:p>
            <a:pPr marL="29845">
              <a:lnSpc>
                <a:spcPct val="100000"/>
              </a:lnSpc>
              <a:spcBef>
                <a:spcPts val="2170"/>
              </a:spcBef>
            </a:pPr>
            <a:r>
              <a:rPr dirty="0" sz="2200" spc="-30">
                <a:solidFill>
                  <a:srgbClr val="FF0000"/>
                </a:solidFill>
                <a:latin typeface="黑体"/>
                <a:cs typeface="黑体"/>
              </a:rPr>
              <a:t>乱序的思想</a:t>
            </a:r>
            <a:r>
              <a:rPr dirty="0" sz="2200" spc="-35">
                <a:solidFill>
                  <a:srgbClr val="0000CC"/>
                </a:solidFill>
                <a:latin typeface="黑体"/>
                <a:cs typeface="黑体"/>
              </a:rPr>
              <a:t>：指令在执行过程中不按照指令顺序执行，在乱序情况下，前面指令数据未就绪，</a:t>
            </a:r>
            <a:endParaRPr sz="2200">
              <a:latin typeface="黑体"/>
              <a:cs typeface="黑体"/>
            </a:endParaRPr>
          </a:p>
          <a:p>
            <a:pPr marL="29845">
              <a:lnSpc>
                <a:spcPct val="100000"/>
              </a:lnSpc>
              <a:spcBef>
                <a:spcPts val="865"/>
              </a:spcBef>
            </a:pPr>
            <a:r>
              <a:rPr dirty="0" sz="2200" spc="-35">
                <a:solidFill>
                  <a:srgbClr val="0000CC"/>
                </a:solidFill>
                <a:latin typeface="黑体"/>
                <a:cs typeface="黑体"/>
              </a:rPr>
              <a:t>后面只要一条指令所需要的数据准备好了，那么就执行这条指令。</a:t>
            </a:r>
            <a:endParaRPr sz="2200">
              <a:latin typeface="黑体"/>
              <a:cs typeface="黑体"/>
            </a:endParaRPr>
          </a:p>
          <a:p>
            <a:pPr algn="r" marL="457200" marR="3705860" indent="-457200">
              <a:lnSpc>
                <a:spcPct val="100000"/>
              </a:lnSpc>
              <a:spcBef>
                <a:spcPts val="2290"/>
              </a:spcBef>
              <a:buClr>
                <a:srgbClr val="40458B"/>
              </a:buClr>
              <a:buFont typeface="Wingdings"/>
              <a:buChar char=""/>
              <a:tabLst>
                <a:tab pos="457200" algn="l"/>
              </a:tabLst>
            </a:pPr>
            <a:r>
              <a:rPr dirty="0" sz="2400">
                <a:solidFill>
                  <a:srgbClr val="001F5F"/>
                </a:solidFill>
                <a:latin typeface="黑体"/>
                <a:cs typeface="黑体"/>
              </a:rPr>
              <a:t>动态调度流水线基本功能（避免数据冲突引起的停顿</a:t>
            </a:r>
            <a:r>
              <a:rPr dirty="0" sz="2400" spc="-50">
                <a:solidFill>
                  <a:srgbClr val="001F5F"/>
                </a:solidFill>
                <a:latin typeface="黑体"/>
                <a:cs typeface="黑体"/>
              </a:rPr>
              <a:t>）</a:t>
            </a:r>
            <a:endParaRPr sz="2400">
              <a:latin typeface="黑体"/>
              <a:cs typeface="黑体"/>
            </a:endParaRPr>
          </a:p>
          <a:p>
            <a:pPr algn="r" lvl="1" marL="456565" marR="3685540" indent="-456565">
              <a:lnSpc>
                <a:spcPct val="100000"/>
              </a:lnSpc>
              <a:spcBef>
                <a:spcPts val="994"/>
              </a:spcBef>
              <a:buClr>
                <a:srgbClr val="006FC0"/>
              </a:buClr>
              <a:buSzPct val="89583"/>
              <a:buFont typeface="Wingdings"/>
              <a:buChar char=""/>
              <a:tabLst>
                <a:tab pos="456565" algn="l"/>
              </a:tabLst>
            </a:pPr>
            <a:r>
              <a:rPr dirty="0" sz="2400">
                <a:solidFill>
                  <a:srgbClr val="40458B"/>
                </a:solidFill>
                <a:latin typeface="黑体"/>
                <a:cs typeface="黑体"/>
              </a:rPr>
              <a:t>允许按序取多条指令和发射多条指令，进入ID</a:t>
            </a:r>
            <a:r>
              <a:rPr dirty="0" sz="2400" spc="-25">
                <a:solidFill>
                  <a:srgbClr val="40458B"/>
                </a:solidFill>
                <a:latin typeface="黑体"/>
                <a:cs typeface="黑体"/>
              </a:rPr>
              <a:t>段；</a:t>
            </a:r>
            <a:endParaRPr sz="2400">
              <a:latin typeface="黑体"/>
              <a:cs typeface="黑体"/>
            </a:endParaRPr>
          </a:p>
          <a:p>
            <a:pPr lvl="1" marL="1099185" indent="-457200">
              <a:lnSpc>
                <a:spcPct val="100000"/>
              </a:lnSpc>
              <a:spcBef>
                <a:spcPts val="1000"/>
              </a:spcBef>
              <a:buClr>
                <a:srgbClr val="006FC0"/>
              </a:buClr>
              <a:buSzPct val="89583"/>
              <a:buFont typeface="Wingdings"/>
              <a:buChar char=""/>
              <a:tabLst>
                <a:tab pos="1099185" algn="l"/>
              </a:tabLst>
            </a:pPr>
            <a:r>
              <a:rPr dirty="0" sz="2400">
                <a:solidFill>
                  <a:srgbClr val="40458B"/>
                </a:solidFill>
                <a:latin typeface="黑体"/>
                <a:cs typeface="黑体"/>
              </a:rPr>
              <a:t>能检查并消除</a:t>
            </a:r>
            <a:r>
              <a:rPr dirty="0" sz="2400">
                <a:solidFill>
                  <a:srgbClr val="D50092"/>
                </a:solidFill>
                <a:latin typeface="黑体"/>
                <a:cs typeface="黑体"/>
              </a:rPr>
              <a:t>冲突(</a:t>
            </a:r>
            <a:r>
              <a:rPr dirty="0" sz="2400">
                <a:solidFill>
                  <a:srgbClr val="9966FF"/>
                </a:solidFill>
                <a:latin typeface="黑体"/>
                <a:cs typeface="黑体"/>
              </a:rPr>
              <a:t>将</a:t>
            </a:r>
            <a:r>
              <a:rPr dirty="0" sz="2400" spc="-10">
                <a:solidFill>
                  <a:srgbClr val="9966FF"/>
                </a:solidFill>
                <a:latin typeface="Calibri"/>
                <a:cs typeface="Calibri"/>
              </a:rPr>
              <a:t>ID</a:t>
            </a:r>
            <a:r>
              <a:rPr dirty="0" sz="2400" spc="-5">
                <a:solidFill>
                  <a:srgbClr val="9966FF"/>
                </a:solidFill>
                <a:latin typeface="黑体"/>
                <a:cs typeface="黑体"/>
              </a:rPr>
              <a:t>流水级分为独立的两级：</a:t>
            </a:r>
            <a:r>
              <a:rPr dirty="0" sz="2400" spc="-10">
                <a:solidFill>
                  <a:srgbClr val="9966FF"/>
                </a:solidFill>
                <a:latin typeface="Calibri"/>
                <a:cs typeface="Calibri"/>
              </a:rPr>
              <a:t>Issue</a:t>
            </a:r>
            <a:r>
              <a:rPr dirty="0" sz="2400">
                <a:solidFill>
                  <a:srgbClr val="9966FF"/>
                </a:solidFill>
                <a:latin typeface="黑体"/>
                <a:cs typeface="黑体"/>
              </a:rPr>
              <a:t>级和</a:t>
            </a:r>
            <a:r>
              <a:rPr dirty="0" sz="2400">
                <a:solidFill>
                  <a:srgbClr val="9966FF"/>
                </a:solidFill>
                <a:latin typeface="Calibri"/>
                <a:cs typeface="Calibri"/>
              </a:rPr>
              <a:t>Read</a:t>
            </a:r>
            <a:r>
              <a:rPr dirty="0" sz="2400" spc="5">
                <a:solidFill>
                  <a:srgbClr val="9966FF"/>
                </a:solidFill>
                <a:latin typeface="Calibri"/>
                <a:cs typeface="Calibri"/>
              </a:rPr>
              <a:t> </a:t>
            </a:r>
            <a:r>
              <a:rPr dirty="0" sz="2400" spc="-20">
                <a:solidFill>
                  <a:srgbClr val="9966FF"/>
                </a:solidFill>
                <a:latin typeface="Calibri"/>
                <a:cs typeface="Calibri"/>
              </a:rPr>
              <a:t>operand</a:t>
            </a:r>
            <a:r>
              <a:rPr dirty="0" sz="2400">
                <a:solidFill>
                  <a:srgbClr val="9966FF"/>
                </a:solidFill>
                <a:latin typeface="黑体"/>
                <a:cs typeface="黑体"/>
              </a:rPr>
              <a:t>级</a:t>
            </a:r>
            <a:r>
              <a:rPr dirty="0" sz="2400">
                <a:solidFill>
                  <a:srgbClr val="D50092"/>
                </a:solidFill>
                <a:latin typeface="黑体"/>
                <a:cs typeface="黑体"/>
              </a:rPr>
              <a:t>)</a:t>
            </a:r>
            <a:r>
              <a:rPr dirty="0" sz="2400" spc="-50">
                <a:solidFill>
                  <a:srgbClr val="40458B"/>
                </a:solidFill>
                <a:latin typeface="黑体"/>
                <a:cs typeface="黑体"/>
              </a:rPr>
              <a:t>。</a:t>
            </a:r>
            <a:endParaRPr sz="2400">
              <a:latin typeface="黑体"/>
              <a:cs typeface="黑体"/>
            </a:endParaRPr>
          </a:p>
        </p:txBody>
      </p:sp>
      <p:grpSp>
        <p:nvGrpSpPr>
          <p:cNvPr id="11" name="object 11" descr=""/>
          <p:cNvGrpSpPr/>
          <p:nvPr/>
        </p:nvGrpSpPr>
        <p:grpSpPr>
          <a:xfrm>
            <a:off x="806450" y="5151437"/>
            <a:ext cx="1233805" cy="514350"/>
            <a:chOff x="806450" y="5151437"/>
            <a:chExt cx="1233805" cy="514350"/>
          </a:xfrm>
        </p:grpSpPr>
        <p:sp>
          <p:nvSpPr>
            <p:cNvPr id="12" name="object 12" descr=""/>
            <p:cNvSpPr/>
            <p:nvPr/>
          </p:nvSpPr>
          <p:spPr>
            <a:xfrm>
              <a:off x="811212" y="5156200"/>
              <a:ext cx="1224280" cy="504825"/>
            </a:xfrm>
            <a:custGeom>
              <a:avLst/>
              <a:gdLst/>
              <a:ahLst/>
              <a:cxnLst/>
              <a:rect l="l" t="t" r="r" b="b"/>
              <a:pathLst>
                <a:path w="1224280" h="504825">
                  <a:moveTo>
                    <a:pt x="1139761" y="0"/>
                  </a:moveTo>
                  <a:lnTo>
                    <a:pt x="84137" y="0"/>
                  </a:lnTo>
                  <a:lnTo>
                    <a:pt x="51386" y="6619"/>
                  </a:lnTo>
                  <a:lnTo>
                    <a:pt x="24642" y="24669"/>
                  </a:lnTo>
                  <a:lnTo>
                    <a:pt x="6611" y="51435"/>
                  </a:lnTo>
                  <a:lnTo>
                    <a:pt x="0" y="84200"/>
                  </a:lnTo>
                  <a:lnTo>
                    <a:pt x="0" y="420624"/>
                  </a:lnTo>
                  <a:lnTo>
                    <a:pt x="6611" y="453411"/>
                  </a:lnTo>
                  <a:lnTo>
                    <a:pt x="24642" y="480174"/>
                  </a:lnTo>
                  <a:lnTo>
                    <a:pt x="51386" y="498212"/>
                  </a:lnTo>
                  <a:lnTo>
                    <a:pt x="84137" y="504825"/>
                  </a:lnTo>
                  <a:lnTo>
                    <a:pt x="1139761" y="504825"/>
                  </a:lnTo>
                  <a:lnTo>
                    <a:pt x="1172527" y="498212"/>
                  </a:lnTo>
                  <a:lnTo>
                    <a:pt x="1199292" y="480174"/>
                  </a:lnTo>
                  <a:lnTo>
                    <a:pt x="1217342" y="453411"/>
                  </a:lnTo>
                  <a:lnTo>
                    <a:pt x="1223962" y="420624"/>
                  </a:lnTo>
                  <a:lnTo>
                    <a:pt x="1223962" y="84200"/>
                  </a:lnTo>
                  <a:lnTo>
                    <a:pt x="1217342" y="51434"/>
                  </a:lnTo>
                  <a:lnTo>
                    <a:pt x="1199292" y="24669"/>
                  </a:lnTo>
                  <a:lnTo>
                    <a:pt x="1172527" y="6619"/>
                  </a:lnTo>
                  <a:lnTo>
                    <a:pt x="1139761" y="0"/>
                  </a:lnTo>
                  <a:close/>
                </a:path>
              </a:pathLst>
            </a:custGeom>
            <a:solidFill>
              <a:srgbClr val="F7EECD"/>
            </a:solidFill>
          </p:spPr>
          <p:txBody>
            <a:bodyPr wrap="square" lIns="0" tIns="0" rIns="0" bIns="0" rtlCol="0"/>
            <a:lstStyle/>
            <a:p/>
          </p:txBody>
        </p:sp>
        <p:sp>
          <p:nvSpPr>
            <p:cNvPr id="13" name="object 13" descr=""/>
            <p:cNvSpPr/>
            <p:nvPr/>
          </p:nvSpPr>
          <p:spPr>
            <a:xfrm>
              <a:off x="811212" y="5156200"/>
              <a:ext cx="1224280" cy="504825"/>
            </a:xfrm>
            <a:custGeom>
              <a:avLst/>
              <a:gdLst/>
              <a:ahLst/>
              <a:cxnLst/>
              <a:rect l="l" t="t" r="r" b="b"/>
              <a:pathLst>
                <a:path w="1224280" h="504825">
                  <a:moveTo>
                    <a:pt x="0" y="84200"/>
                  </a:moveTo>
                  <a:lnTo>
                    <a:pt x="6611" y="51435"/>
                  </a:lnTo>
                  <a:lnTo>
                    <a:pt x="24642" y="24669"/>
                  </a:lnTo>
                  <a:lnTo>
                    <a:pt x="51386" y="6619"/>
                  </a:lnTo>
                  <a:lnTo>
                    <a:pt x="84137" y="0"/>
                  </a:lnTo>
                  <a:lnTo>
                    <a:pt x="1139761" y="0"/>
                  </a:lnTo>
                  <a:lnTo>
                    <a:pt x="1172527" y="6619"/>
                  </a:lnTo>
                  <a:lnTo>
                    <a:pt x="1199292" y="24669"/>
                  </a:lnTo>
                  <a:lnTo>
                    <a:pt x="1217342" y="51434"/>
                  </a:lnTo>
                  <a:lnTo>
                    <a:pt x="1223962" y="84200"/>
                  </a:lnTo>
                  <a:lnTo>
                    <a:pt x="1223962" y="420624"/>
                  </a:lnTo>
                  <a:lnTo>
                    <a:pt x="1217342" y="453411"/>
                  </a:lnTo>
                  <a:lnTo>
                    <a:pt x="1199292" y="480174"/>
                  </a:lnTo>
                  <a:lnTo>
                    <a:pt x="1172527" y="498212"/>
                  </a:lnTo>
                  <a:lnTo>
                    <a:pt x="1139761" y="504825"/>
                  </a:lnTo>
                  <a:lnTo>
                    <a:pt x="84137" y="504825"/>
                  </a:lnTo>
                  <a:lnTo>
                    <a:pt x="51386" y="498212"/>
                  </a:lnTo>
                  <a:lnTo>
                    <a:pt x="24642" y="480174"/>
                  </a:lnTo>
                  <a:lnTo>
                    <a:pt x="6611" y="453411"/>
                  </a:lnTo>
                  <a:lnTo>
                    <a:pt x="0" y="420624"/>
                  </a:lnTo>
                  <a:lnTo>
                    <a:pt x="0" y="84200"/>
                  </a:lnTo>
                  <a:close/>
                </a:path>
              </a:pathLst>
            </a:custGeom>
            <a:ln w="9525">
              <a:solidFill>
                <a:srgbClr val="40458B"/>
              </a:solidFill>
            </a:ln>
          </p:spPr>
          <p:txBody>
            <a:bodyPr wrap="square" lIns="0" tIns="0" rIns="0" bIns="0" rtlCol="0"/>
            <a:lstStyle/>
            <a:p/>
          </p:txBody>
        </p:sp>
      </p:grpSp>
      <p:sp>
        <p:nvSpPr>
          <p:cNvPr id="14" name="object 14" descr=""/>
          <p:cNvSpPr txBox="1"/>
          <p:nvPr/>
        </p:nvSpPr>
        <p:spPr>
          <a:xfrm>
            <a:off x="914806" y="5215254"/>
            <a:ext cx="1060450" cy="330835"/>
          </a:xfrm>
          <a:prstGeom prst="rect">
            <a:avLst/>
          </a:prstGeom>
        </p:spPr>
        <p:txBody>
          <a:bodyPr wrap="square" lIns="0" tIns="12700" rIns="0" bIns="0" rtlCol="0" vert="horz">
            <a:spAutoFit/>
          </a:bodyPr>
          <a:lstStyle/>
          <a:p>
            <a:pPr marL="12700">
              <a:lnSpc>
                <a:spcPct val="100000"/>
              </a:lnSpc>
              <a:spcBef>
                <a:spcPts val="100"/>
              </a:spcBef>
            </a:pPr>
            <a:r>
              <a:rPr dirty="0" sz="2000" spc="-25">
                <a:solidFill>
                  <a:srgbClr val="40458B"/>
                </a:solidFill>
                <a:latin typeface="Tahoma"/>
                <a:cs typeface="Tahoma"/>
              </a:rPr>
              <a:t>ID</a:t>
            </a:r>
            <a:r>
              <a:rPr dirty="0" sz="2000" spc="-20">
                <a:solidFill>
                  <a:srgbClr val="40458B"/>
                </a:solidFill>
                <a:latin typeface="黑体"/>
                <a:cs typeface="黑体"/>
              </a:rPr>
              <a:t>段拆分</a:t>
            </a:r>
            <a:endParaRPr sz="2000">
              <a:latin typeface="黑体"/>
              <a:cs typeface="黑体"/>
            </a:endParaRPr>
          </a:p>
        </p:txBody>
      </p:sp>
      <p:grpSp>
        <p:nvGrpSpPr>
          <p:cNvPr id="15" name="object 15" descr=""/>
          <p:cNvGrpSpPr/>
          <p:nvPr/>
        </p:nvGrpSpPr>
        <p:grpSpPr>
          <a:xfrm>
            <a:off x="2024062" y="4791646"/>
            <a:ext cx="1664335" cy="988694"/>
            <a:chOff x="2024062" y="4791646"/>
            <a:chExt cx="1664335" cy="988694"/>
          </a:xfrm>
        </p:grpSpPr>
        <p:sp>
          <p:nvSpPr>
            <p:cNvPr id="16" name="object 16" descr=""/>
            <p:cNvSpPr/>
            <p:nvPr/>
          </p:nvSpPr>
          <p:spPr>
            <a:xfrm>
              <a:off x="2035175" y="5444871"/>
              <a:ext cx="144145" cy="0"/>
            </a:xfrm>
            <a:custGeom>
              <a:avLst/>
              <a:gdLst/>
              <a:ahLst/>
              <a:cxnLst/>
              <a:rect l="l" t="t" r="r" b="b"/>
              <a:pathLst>
                <a:path w="144144" h="0">
                  <a:moveTo>
                    <a:pt x="0" y="0"/>
                  </a:moveTo>
                  <a:lnTo>
                    <a:pt x="144018" y="0"/>
                  </a:lnTo>
                </a:path>
              </a:pathLst>
            </a:custGeom>
            <a:ln w="22225">
              <a:solidFill>
                <a:srgbClr val="FF0000"/>
              </a:solidFill>
            </a:ln>
          </p:spPr>
          <p:txBody>
            <a:bodyPr wrap="square" lIns="0" tIns="0" rIns="0" bIns="0" rtlCol="0"/>
            <a:lstStyle/>
            <a:p/>
          </p:txBody>
        </p:sp>
        <p:sp>
          <p:nvSpPr>
            <p:cNvPr id="17" name="object 17" descr=""/>
            <p:cNvSpPr/>
            <p:nvPr/>
          </p:nvSpPr>
          <p:spPr>
            <a:xfrm>
              <a:off x="2179193" y="5048631"/>
              <a:ext cx="288290" cy="720725"/>
            </a:xfrm>
            <a:custGeom>
              <a:avLst/>
              <a:gdLst/>
              <a:ahLst/>
              <a:cxnLst/>
              <a:rect l="l" t="t" r="r" b="b"/>
              <a:pathLst>
                <a:path w="288289" h="720725">
                  <a:moveTo>
                    <a:pt x="288036" y="720445"/>
                  </a:moveTo>
                  <a:lnTo>
                    <a:pt x="222015" y="718391"/>
                  </a:lnTo>
                  <a:lnTo>
                    <a:pt x="161397" y="712540"/>
                  </a:lnTo>
                  <a:lnTo>
                    <a:pt x="107915" y="703358"/>
                  </a:lnTo>
                  <a:lnTo>
                    <a:pt x="63301" y="691313"/>
                  </a:lnTo>
                  <a:lnTo>
                    <a:pt x="7611" y="660503"/>
                  </a:lnTo>
                  <a:lnTo>
                    <a:pt x="0" y="642670"/>
                  </a:lnTo>
                  <a:lnTo>
                    <a:pt x="0" y="77724"/>
                  </a:lnTo>
                  <a:lnTo>
                    <a:pt x="29289" y="43542"/>
                  </a:lnTo>
                  <a:lnTo>
                    <a:pt x="107915" y="17075"/>
                  </a:lnTo>
                  <a:lnTo>
                    <a:pt x="161397" y="7899"/>
                  </a:lnTo>
                  <a:lnTo>
                    <a:pt x="222015" y="2052"/>
                  </a:lnTo>
                  <a:lnTo>
                    <a:pt x="288036" y="0"/>
                  </a:lnTo>
                </a:path>
              </a:pathLst>
            </a:custGeom>
            <a:ln w="22225">
              <a:solidFill>
                <a:srgbClr val="006FC0"/>
              </a:solidFill>
            </a:ln>
          </p:spPr>
          <p:txBody>
            <a:bodyPr wrap="square" lIns="0" tIns="0" rIns="0" bIns="0" rtlCol="0"/>
            <a:lstStyle/>
            <a:p/>
          </p:txBody>
        </p:sp>
        <p:sp>
          <p:nvSpPr>
            <p:cNvPr id="18" name="object 18" descr=""/>
            <p:cNvSpPr/>
            <p:nvPr/>
          </p:nvSpPr>
          <p:spPr>
            <a:xfrm>
              <a:off x="2459355" y="4796409"/>
              <a:ext cx="1224280" cy="504825"/>
            </a:xfrm>
            <a:custGeom>
              <a:avLst/>
              <a:gdLst/>
              <a:ahLst/>
              <a:cxnLst/>
              <a:rect l="l" t="t" r="r" b="b"/>
              <a:pathLst>
                <a:path w="1224279" h="504825">
                  <a:moveTo>
                    <a:pt x="1140079" y="0"/>
                  </a:moveTo>
                  <a:lnTo>
                    <a:pt x="84074" y="0"/>
                  </a:lnTo>
                  <a:lnTo>
                    <a:pt x="51381" y="6617"/>
                  </a:lnTo>
                  <a:lnTo>
                    <a:pt x="24653" y="24653"/>
                  </a:lnTo>
                  <a:lnTo>
                    <a:pt x="6617" y="51381"/>
                  </a:lnTo>
                  <a:lnTo>
                    <a:pt x="0" y="84074"/>
                  </a:lnTo>
                  <a:lnTo>
                    <a:pt x="0" y="420370"/>
                  </a:lnTo>
                  <a:lnTo>
                    <a:pt x="6617" y="453042"/>
                  </a:lnTo>
                  <a:lnTo>
                    <a:pt x="24653" y="479726"/>
                  </a:lnTo>
                  <a:lnTo>
                    <a:pt x="51381" y="497718"/>
                  </a:lnTo>
                  <a:lnTo>
                    <a:pt x="84074" y="504317"/>
                  </a:lnTo>
                  <a:lnTo>
                    <a:pt x="1140079" y="504317"/>
                  </a:lnTo>
                  <a:lnTo>
                    <a:pt x="1172751" y="497718"/>
                  </a:lnTo>
                  <a:lnTo>
                    <a:pt x="1199435" y="479726"/>
                  </a:lnTo>
                  <a:lnTo>
                    <a:pt x="1217427" y="453042"/>
                  </a:lnTo>
                  <a:lnTo>
                    <a:pt x="1224025" y="420370"/>
                  </a:lnTo>
                  <a:lnTo>
                    <a:pt x="1224025" y="84074"/>
                  </a:lnTo>
                  <a:lnTo>
                    <a:pt x="1217427" y="51381"/>
                  </a:lnTo>
                  <a:lnTo>
                    <a:pt x="1199435" y="24653"/>
                  </a:lnTo>
                  <a:lnTo>
                    <a:pt x="1172751" y="6617"/>
                  </a:lnTo>
                  <a:lnTo>
                    <a:pt x="1140079" y="0"/>
                  </a:lnTo>
                  <a:close/>
                </a:path>
              </a:pathLst>
            </a:custGeom>
            <a:solidFill>
              <a:srgbClr val="FFE7FF"/>
            </a:solidFill>
          </p:spPr>
          <p:txBody>
            <a:bodyPr wrap="square" lIns="0" tIns="0" rIns="0" bIns="0" rtlCol="0"/>
            <a:lstStyle/>
            <a:p/>
          </p:txBody>
        </p:sp>
        <p:sp>
          <p:nvSpPr>
            <p:cNvPr id="19" name="object 19" descr=""/>
            <p:cNvSpPr/>
            <p:nvPr/>
          </p:nvSpPr>
          <p:spPr>
            <a:xfrm>
              <a:off x="2459355" y="4796409"/>
              <a:ext cx="1224280" cy="504825"/>
            </a:xfrm>
            <a:custGeom>
              <a:avLst/>
              <a:gdLst/>
              <a:ahLst/>
              <a:cxnLst/>
              <a:rect l="l" t="t" r="r" b="b"/>
              <a:pathLst>
                <a:path w="1224279" h="504825">
                  <a:moveTo>
                    <a:pt x="0" y="84074"/>
                  </a:moveTo>
                  <a:lnTo>
                    <a:pt x="6617" y="51381"/>
                  </a:lnTo>
                  <a:lnTo>
                    <a:pt x="24653" y="24653"/>
                  </a:lnTo>
                  <a:lnTo>
                    <a:pt x="51381" y="6617"/>
                  </a:lnTo>
                  <a:lnTo>
                    <a:pt x="84074" y="0"/>
                  </a:lnTo>
                  <a:lnTo>
                    <a:pt x="1140079" y="0"/>
                  </a:lnTo>
                  <a:lnTo>
                    <a:pt x="1172751" y="6617"/>
                  </a:lnTo>
                  <a:lnTo>
                    <a:pt x="1199435" y="24653"/>
                  </a:lnTo>
                  <a:lnTo>
                    <a:pt x="1217427" y="51381"/>
                  </a:lnTo>
                  <a:lnTo>
                    <a:pt x="1224025" y="84074"/>
                  </a:lnTo>
                  <a:lnTo>
                    <a:pt x="1224025" y="420370"/>
                  </a:lnTo>
                  <a:lnTo>
                    <a:pt x="1217427" y="453042"/>
                  </a:lnTo>
                  <a:lnTo>
                    <a:pt x="1199435" y="479726"/>
                  </a:lnTo>
                  <a:lnTo>
                    <a:pt x="1172751" y="497718"/>
                  </a:lnTo>
                  <a:lnTo>
                    <a:pt x="1140079" y="504317"/>
                  </a:lnTo>
                  <a:lnTo>
                    <a:pt x="84074" y="504317"/>
                  </a:lnTo>
                  <a:lnTo>
                    <a:pt x="51381" y="497718"/>
                  </a:lnTo>
                  <a:lnTo>
                    <a:pt x="24653" y="479726"/>
                  </a:lnTo>
                  <a:lnTo>
                    <a:pt x="6617" y="453042"/>
                  </a:lnTo>
                  <a:lnTo>
                    <a:pt x="0" y="420370"/>
                  </a:lnTo>
                  <a:lnTo>
                    <a:pt x="0" y="84074"/>
                  </a:lnTo>
                  <a:close/>
                </a:path>
              </a:pathLst>
            </a:custGeom>
            <a:ln w="9525">
              <a:solidFill>
                <a:srgbClr val="40458B"/>
              </a:solidFill>
            </a:ln>
          </p:spPr>
          <p:txBody>
            <a:bodyPr wrap="square" lIns="0" tIns="0" rIns="0" bIns="0" rtlCol="0"/>
            <a:lstStyle/>
            <a:p/>
          </p:txBody>
        </p:sp>
      </p:grpSp>
      <p:sp>
        <p:nvSpPr>
          <p:cNvPr id="20" name="object 20" descr=""/>
          <p:cNvSpPr txBox="1"/>
          <p:nvPr/>
        </p:nvSpPr>
        <p:spPr>
          <a:xfrm>
            <a:off x="2563114" y="4855209"/>
            <a:ext cx="534670" cy="330835"/>
          </a:xfrm>
          <a:prstGeom prst="rect">
            <a:avLst/>
          </a:prstGeom>
        </p:spPr>
        <p:txBody>
          <a:bodyPr wrap="square" lIns="0" tIns="12700" rIns="0" bIns="0" rtlCol="0" vert="horz">
            <a:spAutoFit/>
          </a:bodyPr>
          <a:lstStyle/>
          <a:p>
            <a:pPr marL="12700">
              <a:lnSpc>
                <a:spcPct val="100000"/>
              </a:lnSpc>
              <a:spcBef>
                <a:spcPts val="100"/>
              </a:spcBef>
            </a:pPr>
            <a:r>
              <a:rPr dirty="0" sz="2000" spc="-25">
                <a:solidFill>
                  <a:srgbClr val="40458B"/>
                </a:solidFill>
                <a:latin typeface="黑体"/>
                <a:cs typeface="黑体"/>
              </a:rPr>
              <a:t>流出</a:t>
            </a:r>
            <a:endParaRPr sz="2000">
              <a:latin typeface="黑体"/>
              <a:cs typeface="黑体"/>
            </a:endParaRPr>
          </a:p>
        </p:txBody>
      </p:sp>
      <p:grpSp>
        <p:nvGrpSpPr>
          <p:cNvPr id="21" name="object 21" descr=""/>
          <p:cNvGrpSpPr/>
          <p:nvPr/>
        </p:nvGrpSpPr>
        <p:grpSpPr>
          <a:xfrm>
            <a:off x="2484691" y="5512244"/>
            <a:ext cx="1233805" cy="514350"/>
            <a:chOff x="2484691" y="5512244"/>
            <a:chExt cx="1233805" cy="514350"/>
          </a:xfrm>
        </p:grpSpPr>
        <p:sp>
          <p:nvSpPr>
            <p:cNvPr id="22" name="object 22" descr=""/>
            <p:cNvSpPr/>
            <p:nvPr/>
          </p:nvSpPr>
          <p:spPr>
            <a:xfrm>
              <a:off x="2489454" y="5517007"/>
              <a:ext cx="1224280" cy="504825"/>
            </a:xfrm>
            <a:custGeom>
              <a:avLst/>
              <a:gdLst/>
              <a:ahLst/>
              <a:cxnLst/>
              <a:rect l="l" t="t" r="r" b="b"/>
              <a:pathLst>
                <a:path w="1224279" h="504825">
                  <a:moveTo>
                    <a:pt x="1139951" y="0"/>
                  </a:moveTo>
                  <a:lnTo>
                    <a:pt x="84073" y="0"/>
                  </a:lnTo>
                  <a:lnTo>
                    <a:pt x="51327" y="6618"/>
                  </a:lnTo>
                  <a:lnTo>
                    <a:pt x="24606" y="24658"/>
                  </a:lnTo>
                  <a:lnTo>
                    <a:pt x="6600" y="51397"/>
                  </a:lnTo>
                  <a:lnTo>
                    <a:pt x="0" y="84112"/>
                  </a:lnTo>
                  <a:lnTo>
                    <a:pt x="0" y="420319"/>
                  </a:lnTo>
                  <a:lnTo>
                    <a:pt x="6600" y="453041"/>
                  </a:lnTo>
                  <a:lnTo>
                    <a:pt x="24606" y="479761"/>
                  </a:lnTo>
                  <a:lnTo>
                    <a:pt x="51327" y="497775"/>
                  </a:lnTo>
                  <a:lnTo>
                    <a:pt x="84073" y="504380"/>
                  </a:lnTo>
                  <a:lnTo>
                    <a:pt x="1139951" y="504380"/>
                  </a:lnTo>
                  <a:lnTo>
                    <a:pt x="1172698" y="497775"/>
                  </a:lnTo>
                  <a:lnTo>
                    <a:pt x="1199419" y="479761"/>
                  </a:lnTo>
                  <a:lnTo>
                    <a:pt x="1217425" y="453041"/>
                  </a:lnTo>
                  <a:lnTo>
                    <a:pt x="1224025" y="420319"/>
                  </a:lnTo>
                  <a:lnTo>
                    <a:pt x="1224025" y="84112"/>
                  </a:lnTo>
                  <a:lnTo>
                    <a:pt x="1217425" y="51397"/>
                  </a:lnTo>
                  <a:lnTo>
                    <a:pt x="1199419" y="24658"/>
                  </a:lnTo>
                  <a:lnTo>
                    <a:pt x="1172698" y="6618"/>
                  </a:lnTo>
                  <a:lnTo>
                    <a:pt x="1139951" y="0"/>
                  </a:lnTo>
                  <a:close/>
                </a:path>
              </a:pathLst>
            </a:custGeom>
            <a:solidFill>
              <a:srgbClr val="FFE7FF"/>
            </a:solidFill>
          </p:spPr>
          <p:txBody>
            <a:bodyPr wrap="square" lIns="0" tIns="0" rIns="0" bIns="0" rtlCol="0"/>
            <a:lstStyle/>
            <a:p/>
          </p:txBody>
        </p:sp>
        <p:sp>
          <p:nvSpPr>
            <p:cNvPr id="23" name="object 23" descr=""/>
            <p:cNvSpPr/>
            <p:nvPr/>
          </p:nvSpPr>
          <p:spPr>
            <a:xfrm>
              <a:off x="2489454" y="5517007"/>
              <a:ext cx="1224280" cy="504825"/>
            </a:xfrm>
            <a:custGeom>
              <a:avLst/>
              <a:gdLst/>
              <a:ahLst/>
              <a:cxnLst/>
              <a:rect l="l" t="t" r="r" b="b"/>
              <a:pathLst>
                <a:path w="1224279" h="504825">
                  <a:moveTo>
                    <a:pt x="0" y="84112"/>
                  </a:moveTo>
                  <a:lnTo>
                    <a:pt x="6600" y="51397"/>
                  </a:lnTo>
                  <a:lnTo>
                    <a:pt x="24606" y="24658"/>
                  </a:lnTo>
                  <a:lnTo>
                    <a:pt x="51327" y="6618"/>
                  </a:lnTo>
                  <a:lnTo>
                    <a:pt x="84073" y="0"/>
                  </a:lnTo>
                  <a:lnTo>
                    <a:pt x="1139951" y="0"/>
                  </a:lnTo>
                  <a:lnTo>
                    <a:pt x="1172698" y="6618"/>
                  </a:lnTo>
                  <a:lnTo>
                    <a:pt x="1199419" y="24658"/>
                  </a:lnTo>
                  <a:lnTo>
                    <a:pt x="1217425" y="51397"/>
                  </a:lnTo>
                  <a:lnTo>
                    <a:pt x="1224025" y="84112"/>
                  </a:lnTo>
                  <a:lnTo>
                    <a:pt x="1224025" y="420319"/>
                  </a:lnTo>
                  <a:lnTo>
                    <a:pt x="1217425" y="453041"/>
                  </a:lnTo>
                  <a:lnTo>
                    <a:pt x="1199419" y="479761"/>
                  </a:lnTo>
                  <a:lnTo>
                    <a:pt x="1172698" y="497775"/>
                  </a:lnTo>
                  <a:lnTo>
                    <a:pt x="1139951" y="504380"/>
                  </a:lnTo>
                  <a:lnTo>
                    <a:pt x="84073" y="504380"/>
                  </a:lnTo>
                  <a:lnTo>
                    <a:pt x="51327" y="497775"/>
                  </a:lnTo>
                  <a:lnTo>
                    <a:pt x="24606" y="479761"/>
                  </a:lnTo>
                  <a:lnTo>
                    <a:pt x="6600" y="453041"/>
                  </a:lnTo>
                  <a:lnTo>
                    <a:pt x="0" y="420319"/>
                  </a:lnTo>
                  <a:lnTo>
                    <a:pt x="0" y="84112"/>
                  </a:lnTo>
                  <a:close/>
                </a:path>
              </a:pathLst>
            </a:custGeom>
            <a:ln w="9525">
              <a:solidFill>
                <a:srgbClr val="40458B"/>
              </a:solidFill>
            </a:ln>
          </p:spPr>
          <p:txBody>
            <a:bodyPr wrap="square" lIns="0" tIns="0" rIns="0" bIns="0" rtlCol="0"/>
            <a:lstStyle/>
            <a:p/>
          </p:txBody>
        </p:sp>
      </p:grpSp>
      <p:sp>
        <p:nvSpPr>
          <p:cNvPr id="24" name="object 24" descr=""/>
          <p:cNvSpPr txBox="1"/>
          <p:nvPr/>
        </p:nvSpPr>
        <p:spPr>
          <a:xfrm>
            <a:off x="2593085" y="5576112"/>
            <a:ext cx="1043940" cy="330835"/>
          </a:xfrm>
          <a:prstGeom prst="rect">
            <a:avLst/>
          </a:prstGeom>
        </p:spPr>
        <p:txBody>
          <a:bodyPr wrap="square" lIns="0" tIns="12700" rIns="0" bIns="0" rtlCol="0" vert="horz">
            <a:spAutoFit/>
          </a:bodyPr>
          <a:lstStyle/>
          <a:p>
            <a:pPr marL="12700">
              <a:lnSpc>
                <a:spcPct val="100000"/>
              </a:lnSpc>
              <a:spcBef>
                <a:spcPts val="100"/>
              </a:spcBef>
            </a:pPr>
            <a:r>
              <a:rPr dirty="0" sz="2000" spc="-15">
                <a:solidFill>
                  <a:srgbClr val="40458B"/>
                </a:solidFill>
                <a:latin typeface="黑体"/>
                <a:cs typeface="黑体"/>
              </a:rPr>
              <a:t>读操作数</a:t>
            </a:r>
            <a:endParaRPr sz="2000">
              <a:latin typeface="黑体"/>
              <a:cs typeface="黑体"/>
            </a:endParaRPr>
          </a:p>
        </p:txBody>
      </p:sp>
      <p:sp>
        <p:nvSpPr>
          <p:cNvPr id="25" name="object 25" descr=""/>
          <p:cNvSpPr/>
          <p:nvPr/>
        </p:nvSpPr>
        <p:spPr>
          <a:xfrm>
            <a:off x="3683380" y="5032375"/>
            <a:ext cx="5726430" cy="791845"/>
          </a:xfrm>
          <a:custGeom>
            <a:avLst/>
            <a:gdLst/>
            <a:ahLst/>
            <a:cxnLst/>
            <a:rect l="l" t="t" r="r" b="b"/>
            <a:pathLst>
              <a:path w="5726430" h="791845">
                <a:moveTo>
                  <a:pt x="0" y="16256"/>
                </a:moveTo>
                <a:lnTo>
                  <a:pt x="5551932" y="0"/>
                </a:lnTo>
              </a:path>
              <a:path w="5726430" h="791845">
                <a:moveTo>
                  <a:pt x="30099" y="791743"/>
                </a:moveTo>
                <a:lnTo>
                  <a:pt x="5726049" y="791756"/>
                </a:lnTo>
              </a:path>
            </a:pathLst>
          </a:custGeom>
          <a:ln w="22225">
            <a:solidFill>
              <a:srgbClr val="006FC0"/>
            </a:solidFill>
          </a:ln>
        </p:spPr>
        <p:txBody>
          <a:bodyPr wrap="square" lIns="0" tIns="0" rIns="0" bIns="0" rtlCol="0"/>
          <a:lstStyle/>
          <a:p/>
        </p:txBody>
      </p:sp>
      <p:sp>
        <p:nvSpPr>
          <p:cNvPr id="26" name="object 26" descr=""/>
          <p:cNvSpPr txBox="1"/>
          <p:nvPr/>
        </p:nvSpPr>
        <p:spPr>
          <a:xfrm>
            <a:off x="3792728" y="4758690"/>
            <a:ext cx="4291965" cy="239395"/>
          </a:xfrm>
          <a:prstGeom prst="rect">
            <a:avLst/>
          </a:prstGeom>
        </p:spPr>
        <p:txBody>
          <a:bodyPr wrap="square" lIns="0" tIns="12700" rIns="0" bIns="0" rtlCol="0" vert="horz">
            <a:spAutoFit/>
          </a:bodyPr>
          <a:lstStyle/>
          <a:p>
            <a:pPr marL="12700">
              <a:lnSpc>
                <a:spcPct val="100000"/>
              </a:lnSpc>
              <a:spcBef>
                <a:spcPts val="100"/>
              </a:spcBef>
            </a:pPr>
            <a:r>
              <a:rPr dirty="0" sz="1400" spc="-20">
                <a:solidFill>
                  <a:srgbClr val="40458B"/>
                </a:solidFill>
                <a:latin typeface="黑体"/>
                <a:cs typeface="黑体"/>
              </a:rPr>
              <a:t>指令译码并检测是否存在结构冲突，若无，将指令流出</a:t>
            </a:r>
            <a:endParaRPr sz="1400">
              <a:latin typeface="黑体"/>
              <a:cs typeface="黑体"/>
            </a:endParaRPr>
          </a:p>
        </p:txBody>
      </p:sp>
      <p:sp>
        <p:nvSpPr>
          <p:cNvPr id="27" name="object 27" descr=""/>
          <p:cNvSpPr txBox="1"/>
          <p:nvPr/>
        </p:nvSpPr>
        <p:spPr>
          <a:xfrm>
            <a:off x="3856482" y="5513933"/>
            <a:ext cx="5180330" cy="239395"/>
          </a:xfrm>
          <a:prstGeom prst="rect">
            <a:avLst/>
          </a:prstGeom>
        </p:spPr>
        <p:txBody>
          <a:bodyPr wrap="square" lIns="0" tIns="12700" rIns="0" bIns="0" rtlCol="0" vert="horz">
            <a:spAutoFit/>
          </a:bodyPr>
          <a:lstStyle/>
          <a:p>
            <a:pPr marL="12700">
              <a:lnSpc>
                <a:spcPct val="100000"/>
              </a:lnSpc>
              <a:spcBef>
                <a:spcPts val="100"/>
              </a:spcBef>
            </a:pPr>
            <a:r>
              <a:rPr dirty="0" sz="1400" spc="-20">
                <a:solidFill>
                  <a:srgbClr val="40458B"/>
                </a:solidFill>
                <a:latin typeface="黑体"/>
                <a:cs typeface="黑体"/>
              </a:rPr>
              <a:t>检测数据冲突，若无，继续执行；反之等待数据冲突然后读操作数</a:t>
            </a:r>
            <a:endParaRPr sz="1400">
              <a:latin typeface="黑体"/>
              <a:cs typeface="黑体"/>
            </a:endParaRPr>
          </a:p>
        </p:txBody>
      </p:sp>
      <p:grpSp>
        <p:nvGrpSpPr>
          <p:cNvPr id="28" name="object 28" descr=""/>
          <p:cNvGrpSpPr/>
          <p:nvPr/>
        </p:nvGrpSpPr>
        <p:grpSpPr>
          <a:xfrm>
            <a:off x="9467913" y="4979630"/>
            <a:ext cx="2170430" cy="931544"/>
            <a:chOff x="9467913" y="4979630"/>
            <a:chExt cx="2170430" cy="931544"/>
          </a:xfrm>
        </p:grpSpPr>
        <p:sp>
          <p:nvSpPr>
            <p:cNvPr id="29" name="object 29" descr=""/>
            <p:cNvSpPr/>
            <p:nvPr/>
          </p:nvSpPr>
          <p:spPr>
            <a:xfrm>
              <a:off x="9472676" y="4984393"/>
              <a:ext cx="2160905" cy="922019"/>
            </a:xfrm>
            <a:custGeom>
              <a:avLst/>
              <a:gdLst/>
              <a:ahLst/>
              <a:cxnLst/>
              <a:rect l="l" t="t" r="r" b="b"/>
              <a:pathLst>
                <a:path w="2160904" h="922020">
                  <a:moveTo>
                    <a:pt x="448373" y="0"/>
                  </a:moveTo>
                  <a:lnTo>
                    <a:pt x="407610" y="1030"/>
                  </a:lnTo>
                  <a:lnTo>
                    <a:pt x="366848" y="3608"/>
                  </a:lnTo>
                  <a:lnTo>
                    <a:pt x="326086" y="7826"/>
                  </a:lnTo>
                  <a:lnTo>
                    <a:pt x="285325" y="13777"/>
                  </a:lnTo>
                  <a:lnTo>
                    <a:pt x="244563" y="21557"/>
                  </a:lnTo>
                  <a:lnTo>
                    <a:pt x="203802" y="31257"/>
                  </a:lnTo>
                  <a:lnTo>
                    <a:pt x="163041" y="42973"/>
                  </a:lnTo>
                  <a:lnTo>
                    <a:pt x="122280" y="56798"/>
                  </a:lnTo>
                  <a:lnTo>
                    <a:pt x="81520" y="72825"/>
                  </a:lnTo>
                  <a:lnTo>
                    <a:pt x="40759" y="91149"/>
                  </a:lnTo>
                  <a:lnTo>
                    <a:pt x="0" y="111862"/>
                  </a:lnTo>
                  <a:lnTo>
                    <a:pt x="0" y="809588"/>
                  </a:lnTo>
                  <a:lnTo>
                    <a:pt x="40759" y="788875"/>
                  </a:lnTo>
                  <a:lnTo>
                    <a:pt x="81520" y="770552"/>
                  </a:lnTo>
                  <a:lnTo>
                    <a:pt x="122280" y="754525"/>
                  </a:lnTo>
                  <a:lnTo>
                    <a:pt x="163041" y="740701"/>
                  </a:lnTo>
                  <a:lnTo>
                    <a:pt x="203802" y="728986"/>
                  </a:lnTo>
                  <a:lnTo>
                    <a:pt x="244563" y="719286"/>
                  </a:lnTo>
                  <a:lnTo>
                    <a:pt x="285325" y="711507"/>
                  </a:lnTo>
                  <a:lnTo>
                    <a:pt x="326086" y="705556"/>
                  </a:lnTo>
                  <a:lnTo>
                    <a:pt x="366848" y="701339"/>
                  </a:lnTo>
                  <a:lnTo>
                    <a:pt x="407610" y="698762"/>
                  </a:lnTo>
                  <a:lnTo>
                    <a:pt x="448373" y="697731"/>
                  </a:lnTo>
                  <a:lnTo>
                    <a:pt x="489135" y="698153"/>
                  </a:lnTo>
                  <a:lnTo>
                    <a:pt x="529898" y="699934"/>
                  </a:lnTo>
                  <a:lnTo>
                    <a:pt x="570661" y="702981"/>
                  </a:lnTo>
                  <a:lnTo>
                    <a:pt x="611424" y="707199"/>
                  </a:lnTo>
                  <a:lnTo>
                    <a:pt x="652188" y="712495"/>
                  </a:lnTo>
                  <a:lnTo>
                    <a:pt x="692951" y="718775"/>
                  </a:lnTo>
                  <a:lnTo>
                    <a:pt x="733715" y="725945"/>
                  </a:lnTo>
                  <a:lnTo>
                    <a:pt x="774479" y="733912"/>
                  </a:lnTo>
                  <a:lnTo>
                    <a:pt x="815243" y="742582"/>
                  </a:lnTo>
                  <a:lnTo>
                    <a:pt x="856007" y="751861"/>
                  </a:lnTo>
                  <a:lnTo>
                    <a:pt x="896772" y="761656"/>
                  </a:lnTo>
                  <a:lnTo>
                    <a:pt x="937537" y="771872"/>
                  </a:lnTo>
                  <a:lnTo>
                    <a:pt x="978301" y="782416"/>
                  </a:lnTo>
                  <a:lnTo>
                    <a:pt x="1141362" y="825999"/>
                  </a:lnTo>
                  <a:lnTo>
                    <a:pt x="1222893" y="847322"/>
                  </a:lnTo>
                  <a:lnTo>
                    <a:pt x="1263659" y="857538"/>
                  </a:lnTo>
                  <a:lnTo>
                    <a:pt x="1304424" y="867332"/>
                  </a:lnTo>
                  <a:lnTo>
                    <a:pt x="1345190" y="876611"/>
                  </a:lnTo>
                  <a:lnTo>
                    <a:pt x="1385956" y="885281"/>
                  </a:lnTo>
                  <a:lnTo>
                    <a:pt x="1426722" y="893247"/>
                  </a:lnTo>
                  <a:lnTo>
                    <a:pt x="1467489" y="900417"/>
                  </a:lnTo>
                  <a:lnTo>
                    <a:pt x="1508255" y="906696"/>
                  </a:lnTo>
                  <a:lnTo>
                    <a:pt x="1549021" y="911992"/>
                  </a:lnTo>
                  <a:lnTo>
                    <a:pt x="1589788" y="916209"/>
                  </a:lnTo>
                  <a:lnTo>
                    <a:pt x="1630554" y="919255"/>
                  </a:lnTo>
                  <a:lnTo>
                    <a:pt x="1671321" y="921035"/>
                  </a:lnTo>
                  <a:lnTo>
                    <a:pt x="1712088" y="921457"/>
                  </a:lnTo>
                  <a:lnTo>
                    <a:pt x="1752854" y="920425"/>
                  </a:lnTo>
                  <a:lnTo>
                    <a:pt x="1793621" y="917847"/>
                  </a:lnTo>
                  <a:lnTo>
                    <a:pt x="1834388" y="913629"/>
                  </a:lnTo>
                  <a:lnTo>
                    <a:pt x="1875155" y="907677"/>
                  </a:lnTo>
                  <a:lnTo>
                    <a:pt x="1915922" y="899897"/>
                  </a:lnTo>
                  <a:lnTo>
                    <a:pt x="1956689" y="890196"/>
                  </a:lnTo>
                  <a:lnTo>
                    <a:pt x="1997456" y="878479"/>
                  </a:lnTo>
                  <a:lnTo>
                    <a:pt x="2038223" y="864654"/>
                  </a:lnTo>
                  <a:lnTo>
                    <a:pt x="2078990" y="848626"/>
                  </a:lnTo>
                  <a:lnTo>
                    <a:pt x="2119757" y="830302"/>
                  </a:lnTo>
                  <a:lnTo>
                    <a:pt x="2160524" y="809588"/>
                  </a:lnTo>
                  <a:lnTo>
                    <a:pt x="2160524" y="111862"/>
                  </a:lnTo>
                  <a:lnTo>
                    <a:pt x="2119757" y="132576"/>
                  </a:lnTo>
                  <a:lnTo>
                    <a:pt x="2078990" y="150899"/>
                  </a:lnTo>
                  <a:lnTo>
                    <a:pt x="2038223" y="166927"/>
                  </a:lnTo>
                  <a:lnTo>
                    <a:pt x="1997456" y="180751"/>
                  </a:lnTo>
                  <a:lnTo>
                    <a:pt x="1956689" y="192467"/>
                  </a:lnTo>
                  <a:lnTo>
                    <a:pt x="1915922" y="202168"/>
                  </a:lnTo>
                  <a:lnTo>
                    <a:pt x="1875155" y="209947"/>
                  </a:lnTo>
                  <a:lnTo>
                    <a:pt x="1834388" y="215899"/>
                  </a:lnTo>
                  <a:lnTo>
                    <a:pt x="1793621" y="220117"/>
                  </a:lnTo>
                  <a:lnTo>
                    <a:pt x="1752854" y="222694"/>
                  </a:lnTo>
                  <a:lnTo>
                    <a:pt x="1712088" y="223725"/>
                  </a:lnTo>
                  <a:lnTo>
                    <a:pt x="1671321" y="223303"/>
                  </a:lnTo>
                  <a:lnTo>
                    <a:pt x="1630554" y="221522"/>
                  </a:lnTo>
                  <a:lnTo>
                    <a:pt x="1589788" y="218476"/>
                  </a:lnTo>
                  <a:lnTo>
                    <a:pt x="1549021" y="214259"/>
                  </a:lnTo>
                  <a:lnTo>
                    <a:pt x="1508255" y="208963"/>
                  </a:lnTo>
                  <a:lnTo>
                    <a:pt x="1467489" y="202683"/>
                  </a:lnTo>
                  <a:lnTo>
                    <a:pt x="1426722" y="195513"/>
                  </a:lnTo>
                  <a:lnTo>
                    <a:pt x="1385956" y="187547"/>
                  </a:lnTo>
                  <a:lnTo>
                    <a:pt x="1345190" y="178877"/>
                  </a:lnTo>
                  <a:lnTo>
                    <a:pt x="1304424" y="169598"/>
                  </a:lnTo>
                  <a:lnTo>
                    <a:pt x="1263659" y="159803"/>
                  </a:lnTo>
                  <a:lnTo>
                    <a:pt x="1222893" y="149587"/>
                  </a:lnTo>
                  <a:lnTo>
                    <a:pt x="1182127" y="139043"/>
                  </a:lnTo>
                  <a:lnTo>
                    <a:pt x="1019066" y="95460"/>
                  </a:lnTo>
                  <a:lnTo>
                    <a:pt x="937537" y="74137"/>
                  </a:lnTo>
                  <a:lnTo>
                    <a:pt x="896772" y="63921"/>
                  </a:lnTo>
                  <a:lnTo>
                    <a:pt x="856007" y="54127"/>
                  </a:lnTo>
                  <a:lnTo>
                    <a:pt x="815243" y="44848"/>
                  </a:lnTo>
                  <a:lnTo>
                    <a:pt x="774479" y="36178"/>
                  </a:lnTo>
                  <a:lnTo>
                    <a:pt x="733715" y="28211"/>
                  </a:lnTo>
                  <a:lnTo>
                    <a:pt x="692951" y="21041"/>
                  </a:lnTo>
                  <a:lnTo>
                    <a:pt x="652188" y="14761"/>
                  </a:lnTo>
                  <a:lnTo>
                    <a:pt x="611424" y="9466"/>
                  </a:lnTo>
                  <a:lnTo>
                    <a:pt x="570661" y="5248"/>
                  </a:lnTo>
                  <a:lnTo>
                    <a:pt x="529898" y="2202"/>
                  </a:lnTo>
                  <a:lnTo>
                    <a:pt x="489135" y="421"/>
                  </a:lnTo>
                  <a:lnTo>
                    <a:pt x="448373" y="0"/>
                  </a:lnTo>
                  <a:close/>
                </a:path>
              </a:pathLst>
            </a:custGeom>
            <a:solidFill>
              <a:srgbClr val="F7EECD"/>
            </a:solidFill>
          </p:spPr>
          <p:txBody>
            <a:bodyPr wrap="square" lIns="0" tIns="0" rIns="0" bIns="0" rtlCol="0"/>
            <a:lstStyle/>
            <a:p/>
          </p:txBody>
        </p:sp>
        <p:sp>
          <p:nvSpPr>
            <p:cNvPr id="30" name="object 30" descr=""/>
            <p:cNvSpPr/>
            <p:nvPr/>
          </p:nvSpPr>
          <p:spPr>
            <a:xfrm>
              <a:off x="9472676" y="4984393"/>
              <a:ext cx="2160905" cy="922019"/>
            </a:xfrm>
            <a:custGeom>
              <a:avLst/>
              <a:gdLst/>
              <a:ahLst/>
              <a:cxnLst/>
              <a:rect l="l" t="t" r="r" b="b"/>
              <a:pathLst>
                <a:path w="2160904" h="922020">
                  <a:moveTo>
                    <a:pt x="0" y="111862"/>
                  </a:moveTo>
                  <a:lnTo>
                    <a:pt x="40759" y="91149"/>
                  </a:lnTo>
                  <a:lnTo>
                    <a:pt x="81520" y="72825"/>
                  </a:lnTo>
                  <a:lnTo>
                    <a:pt x="122280" y="56798"/>
                  </a:lnTo>
                  <a:lnTo>
                    <a:pt x="163041" y="42973"/>
                  </a:lnTo>
                  <a:lnTo>
                    <a:pt x="203802" y="31257"/>
                  </a:lnTo>
                  <a:lnTo>
                    <a:pt x="244563" y="21557"/>
                  </a:lnTo>
                  <a:lnTo>
                    <a:pt x="285325" y="13777"/>
                  </a:lnTo>
                  <a:lnTo>
                    <a:pt x="326086" y="7826"/>
                  </a:lnTo>
                  <a:lnTo>
                    <a:pt x="366848" y="3608"/>
                  </a:lnTo>
                  <a:lnTo>
                    <a:pt x="407610" y="1030"/>
                  </a:lnTo>
                  <a:lnTo>
                    <a:pt x="448373" y="0"/>
                  </a:lnTo>
                  <a:lnTo>
                    <a:pt x="489135" y="421"/>
                  </a:lnTo>
                  <a:lnTo>
                    <a:pt x="529898" y="2202"/>
                  </a:lnTo>
                  <a:lnTo>
                    <a:pt x="570661" y="5248"/>
                  </a:lnTo>
                  <a:lnTo>
                    <a:pt x="611424" y="9466"/>
                  </a:lnTo>
                  <a:lnTo>
                    <a:pt x="652188" y="14761"/>
                  </a:lnTo>
                  <a:lnTo>
                    <a:pt x="692951" y="21041"/>
                  </a:lnTo>
                  <a:lnTo>
                    <a:pt x="733715" y="28211"/>
                  </a:lnTo>
                  <a:lnTo>
                    <a:pt x="774479" y="36178"/>
                  </a:lnTo>
                  <a:lnTo>
                    <a:pt x="815243" y="44848"/>
                  </a:lnTo>
                  <a:lnTo>
                    <a:pt x="856007" y="54127"/>
                  </a:lnTo>
                  <a:lnTo>
                    <a:pt x="896772" y="63921"/>
                  </a:lnTo>
                  <a:lnTo>
                    <a:pt x="937537" y="74137"/>
                  </a:lnTo>
                  <a:lnTo>
                    <a:pt x="978301" y="84682"/>
                  </a:lnTo>
                  <a:lnTo>
                    <a:pt x="1019066" y="95460"/>
                  </a:lnTo>
                  <a:lnTo>
                    <a:pt x="1059831" y="106379"/>
                  </a:lnTo>
                  <a:lnTo>
                    <a:pt x="1100596" y="117345"/>
                  </a:lnTo>
                  <a:lnTo>
                    <a:pt x="1141362" y="128264"/>
                  </a:lnTo>
                  <a:lnTo>
                    <a:pt x="1182127" y="139043"/>
                  </a:lnTo>
                  <a:lnTo>
                    <a:pt x="1222893" y="149587"/>
                  </a:lnTo>
                  <a:lnTo>
                    <a:pt x="1263659" y="159803"/>
                  </a:lnTo>
                  <a:lnTo>
                    <a:pt x="1304424" y="169598"/>
                  </a:lnTo>
                  <a:lnTo>
                    <a:pt x="1345190" y="178877"/>
                  </a:lnTo>
                  <a:lnTo>
                    <a:pt x="1385956" y="187547"/>
                  </a:lnTo>
                  <a:lnTo>
                    <a:pt x="1426722" y="195513"/>
                  </a:lnTo>
                  <a:lnTo>
                    <a:pt x="1467489" y="202683"/>
                  </a:lnTo>
                  <a:lnTo>
                    <a:pt x="1508255" y="208963"/>
                  </a:lnTo>
                  <a:lnTo>
                    <a:pt x="1549021" y="214259"/>
                  </a:lnTo>
                  <a:lnTo>
                    <a:pt x="1589788" y="218476"/>
                  </a:lnTo>
                  <a:lnTo>
                    <a:pt x="1630554" y="221522"/>
                  </a:lnTo>
                  <a:lnTo>
                    <a:pt x="1671321" y="223303"/>
                  </a:lnTo>
                  <a:lnTo>
                    <a:pt x="1712088" y="223725"/>
                  </a:lnTo>
                  <a:lnTo>
                    <a:pt x="1752854" y="222694"/>
                  </a:lnTo>
                  <a:lnTo>
                    <a:pt x="1793621" y="220117"/>
                  </a:lnTo>
                  <a:lnTo>
                    <a:pt x="1834388" y="215899"/>
                  </a:lnTo>
                  <a:lnTo>
                    <a:pt x="1875155" y="209947"/>
                  </a:lnTo>
                  <a:lnTo>
                    <a:pt x="1915922" y="202168"/>
                  </a:lnTo>
                  <a:lnTo>
                    <a:pt x="1956689" y="192467"/>
                  </a:lnTo>
                  <a:lnTo>
                    <a:pt x="1997456" y="180751"/>
                  </a:lnTo>
                  <a:lnTo>
                    <a:pt x="2038223" y="166927"/>
                  </a:lnTo>
                  <a:lnTo>
                    <a:pt x="2078990" y="150899"/>
                  </a:lnTo>
                  <a:lnTo>
                    <a:pt x="2119757" y="132576"/>
                  </a:lnTo>
                  <a:lnTo>
                    <a:pt x="2160524" y="111862"/>
                  </a:lnTo>
                  <a:lnTo>
                    <a:pt x="2160524" y="809588"/>
                  </a:lnTo>
                  <a:lnTo>
                    <a:pt x="2119757" y="830302"/>
                  </a:lnTo>
                  <a:lnTo>
                    <a:pt x="2078990" y="848626"/>
                  </a:lnTo>
                  <a:lnTo>
                    <a:pt x="2038223" y="864654"/>
                  </a:lnTo>
                  <a:lnTo>
                    <a:pt x="1997456" y="878479"/>
                  </a:lnTo>
                  <a:lnTo>
                    <a:pt x="1956689" y="890196"/>
                  </a:lnTo>
                  <a:lnTo>
                    <a:pt x="1915922" y="899897"/>
                  </a:lnTo>
                  <a:lnTo>
                    <a:pt x="1875155" y="907677"/>
                  </a:lnTo>
                  <a:lnTo>
                    <a:pt x="1834388" y="913629"/>
                  </a:lnTo>
                  <a:lnTo>
                    <a:pt x="1793621" y="917847"/>
                  </a:lnTo>
                  <a:lnTo>
                    <a:pt x="1752854" y="920425"/>
                  </a:lnTo>
                  <a:lnTo>
                    <a:pt x="1712088" y="921457"/>
                  </a:lnTo>
                  <a:lnTo>
                    <a:pt x="1671321" y="921035"/>
                  </a:lnTo>
                  <a:lnTo>
                    <a:pt x="1630554" y="919255"/>
                  </a:lnTo>
                  <a:lnTo>
                    <a:pt x="1589788" y="916209"/>
                  </a:lnTo>
                  <a:lnTo>
                    <a:pt x="1549021" y="911992"/>
                  </a:lnTo>
                  <a:lnTo>
                    <a:pt x="1508255" y="906696"/>
                  </a:lnTo>
                  <a:lnTo>
                    <a:pt x="1467489" y="900417"/>
                  </a:lnTo>
                  <a:lnTo>
                    <a:pt x="1426722" y="893247"/>
                  </a:lnTo>
                  <a:lnTo>
                    <a:pt x="1385956" y="885281"/>
                  </a:lnTo>
                  <a:lnTo>
                    <a:pt x="1345190" y="876611"/>
                  </a:lnTo>
                  <a:lnTo>
                    <a:pt x="1304424" y="867332"/>
                  </a:lnTo>
                  <a:lnTo>
                    <a:pt x="1263659" y="857538"/>
                  </a:lnTo>
                  <a:lnTo>
                    <a:pt x="1222893" y="847322"/>
                  </a:lnTo>
                  <a:lnTo>
                    <a:pt x="1182127" y="836778"/>
                  </a:lnTo>
                  <a:lnTo>
                    <a:pt x="1141362" y="825999"/>
                  </a:lnTo>
                  <a:lnTo>
                    <a:pt x="1100596" y="815080"/>
                  </a:lnTo>
                  <a:lnTo>
                    <a:pt x="1059831" y="804114"/>
                  </a:lnTo>
                  <a:lnTo>
                    <a:pt x="1019066" y="793195"/>
                  </a:lnTo>
                  <a:lnTo>
                    <a:pt x="978301" y="782416"/>
                  </a:lnTo>
                  <a:lnTo>
                    <a:pt x="937537" y="771872"/>
                  </a:lnTo>
                  <a:lnTo>
                    <a:pt x="896772" y="761656"/>
                  </a:lnTo>
                  <a:lnTo>
                    <a:pt x="856007" y="751861"/>
                  </a:lnTo>
                  <a:lnTo>
                    <a:pt x="815243" y="742582"/>
                  </a:lnTo>
                  <a:lnTo>
                    <a:pt x="774479" y="733912"/>
                  </a:lnTo>
                  <a:lnTo>
                    <a:pt x="733715" y="725945"/>
                  </a:lnTo>
                  <a:lnTo>
                    <a:pt x="692951" y="718775"/>
                  </a:lnTo>
                  <a:lnTo>
                    <a:pt x="652188" y="712495"/>
                  </a:lnTo>
                  <a:lnTo>
                    <a:pt x="611424" y="707199"/>
                  </a:lnTo>
                  <a:lnTo>
                    <a:pt x="570661" y="702981"/>
                  </a:lnTo>
                  <a:lnTo>
                    <a:pt x="529898" y="699934"/>
                  </a:lnTo>
                  <a:lnTo>
                    <a:pt x="489135" y="698153"/>
                  </a:lnTo>
                  <a:lnTo>
                    <a:pt x="448373" y="697731"/>
                  </a:lnTo>
                  <a:lnTo>
                    <a:pt x="407610" y="698762"/>
                  </a:lnTo>
                  <a:lnTo>
                    <a:pt x="366848" y="701339"/>
                  </a:lnTo>
                  <a:lnTo>
                    <a:pt x="326086" y="705556"/>
                  </a:lnTo>
                  <a:lnTo>
                    <a:pt x="285325" y="711507"/>
                  </a:lnTo>
                  <a:lnTo>
                    <a:pt x="244563" y="719286"/>
                  </a:lnTo>
                  <a:lnTo>
                    <a:pt x="203802" y="728986"/>
                  </a:lnTo>
                  <a:lnTo>
                    <a:pt x="163041" y="740701"/>
                  </a:lnTo>
                  <a:lnTo>
                    <a:pt x="122280" y="754525"/>
                  </a:lnTo>
                  <a:lnTo>
                    <a:pt x="81520" y="770552"/>
                  </a:lnTo>
                  <a:lnTo>
                    <a:pt x="40759" y="788875"/>
                  </a:lnTo>
                  <a:lnTo>
                    <a:pt x="0" y="809588"/>
                  </a:lnTo>
                  <a:lnTo>
                    <a:pt x="0" y="111862"/>
                  </a:lnTo>
                  <a:close/>
                </a:path>
              </a:pathLst>
            </a:custGeom>
            <a:ln w="9525">
              <a:solidFill>
                <a:srgbClr val="40458B"/>
              </a:solidFill>
            </a:ln>
          </p:spPr>
          <p:txBody>
            <a:bodyPr wrap="square" lIns="0" tIns="0" rIns="0" bIns="0" rtlCol="0"/>
            <a:lstStyle/>
            <a:p/>
          </p:txBody>
        </p:sp>
      </p:grpSp>
      <p:sp>
        <p:nvSpPr>
          <p:cNvPr id="31" name="object 31" descr=""/>
          <p:cNvSpPr txBox="1"/>
          <p:nvPr/>
        </p:nvSpPr>
        <p:spPr>
          <a:xfrm>
            <a:off x="9552558" y="5246878"/>
            <a:ext cx="2159000" cy="391795"/>
          </a:xfrm>
          <a:prstGeom prst="rect">
            <a:avLst/>
          </a:prstGeom>
        </p:spPr>
        <p:txBody>
          <a:bodyPr wrap="square" lIns="0" tIns="12700" rIns="0" bIns="0" rtlCol="0" vert="horz">
            <a:spAutoFit/>
          </a:bodyPr>
          <a:lstStyle/>
          <a:p>
            <a:pPr marL="12700" marR="5080">
              <a:lnSpc>
                <a:spcPct val="100000"/>
              </a:lnSpc>
              <a:spcBef>
                <a:spcPts val="100"/>
              </a:spcBef>
            </a:pPr>
            <a:r>
              <a:rPr dirty="0" sz="1200" spc="-5">
                <a:solidFill>
                  <a:srgbClr val="40458B"/>
                </a:solidFill>
                <a:latin typeface="黑体"/>
                <a:cs typeface="黑体"/>
              </a:rPr>
              <a:t>指令按序流出，</a:t>
            </a:r>
            <a:r>
              <a:rPr dirty="0" sz="1200" spc="-10">
                <a:solidFill>
                  <a:srgbClr val="40458B"/>
                </a:solidFill>
                <a:latin typeface="Tahoma"/>
                <a:cs typeface="Tahoma"/>
              </a:rPr>
              <a:t>RO</a:t>
            </a:r>
            <a:r>
              <a:rPr dirty="0" sz="1200" spc="-10">
                <a:solidFill>
                  <a:srgbClr val="40458B"/>
                </a:solidFill>
                <a:latin typeface="黑体"/>
                <a:cs typeface="黑体"/>
              </a:rPr>
              <a:t>段可能停顿</a:t>
            </a:r>
            <a:r>
              <a:rPr dirty="0" sz="1200" spc="-5">
                <a:solidFill>
                  <a:srgbClr val="40458B"/>
                </a:solidFill>
                <a:latin typeface="黑体"/>
                <a:cs typeface="黑体"/>
              </a:rPr>
              <a:t>或跨越，进入执行段可能已乱序</a:t>
            </a:r>
            <a:endParaRPr sz="1200">
              <a:latin typeface="黑体"/>
              <a:cs typeface="黑体"/>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55/175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31442" y="129920"/>
            <a:ext cx="3684904"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270763" y="846785"/>
            <a:ext cx="12068810" cy="2184400"/>
          </a:xfrm>
          <a:prstGeom prst="rect">
            <a:avLst/>
          </a:prstGeom>
        </p:spPr>
        <p:txBody>
          <a:bodyPr wrap="square" lIns="0" tIns="12065" rIns="0" bIns="0" rtlCol="0" vert="horz">
            <a:spAutoFit/>
          </a:bodyPr>
          <a:lstStyle/>
          <a:p>
            <a:pPr marL="469900" indent="-457200">
              <a:lnSpc>
                <a:spcPct val="100000"/>
              </a:lnSpc>
              <a:spcBef>
                <a:spcPts val="95"/>
              </a:spcBef>
              <a:buClr>
                <a:srgbClr val="40458B"/>
              </a:buClr>
              <a:buFont typeface="Wingdings"/>
              <a:buChar char=""/>
              <a:tabLst>
                <a:tab pos="469900" algn="l"/>
              </a:tabLst>
            </a:pPr>
            <a:r>
              <a:rPr dirty="0" sz="2800" spc="-25">
                <a:solidFill>
                  <a:srgbClr val="001F5F"/>
                </a:solidFill>
                <a:latin typeface="Tahoma"/>
                <a:cs typeface="Tahoma"/>
              </a:rPr>
              <a:t>Tomasulo</a:t>
            </a:r>
            <a:r>
              <a:rPr dirty="0" sz="2400" spc="-30">
                <a:solidFill>
                  <a:srgbClr val="FF0000"/>
                </a:solidFill>
                <a:latin typeface="黑体"/>
                <a:cs typeface="黑体"/>
              </a:rPr>
              <a:t>算法</a:t>
            </a:r>
            <a:endParaRPr sz="2400">
              <a:latin typeface="黑体"/>
              <a:cs typeface="黑体"/>
            </a:endParaRPr>
          </a:p>
          <a:p>
            <a:pPr algn="just" lvl="1" marL="1082675" marR="5080" indent="-342900">
              <a:lnSpc>
                <a:spcPct val="150000"/>
              </a:lnSpc>
              <a:spcBef>
                <a:spcPts val="680"/>
              </a:spcBef>
              <a:buClr>
                <a:srgbClr val="006FC0"/>
              </a:buClr>
              <a:buFont typeface="Wingdings"/>
              <a:buChar char=""/>
              <a:tabLst>
                <a:tab pos="1082675" algn="l"/>
              </a:tabLst>
            </a:pPr>
            <a:r>
              <a:rPr dirty="0" sz="2400" spc="-5">
                <a:solidFill>
                  <a:srgbClr val="40458B"/>
                </a:solidFill>
                <a:latin typeface="黑体"/>
                <a:cs typeface="黑体"/>
              </a:rPr>
              <a:t>思想？工作原理？依据数据冒险或冲突，如何挖掘更深的指令乱序潜力，以保证在</a:t>
            </a:r>
            <a:r>
              <a:rPr dirty="0" sz="2400">
                <a:solidFill>
                  <a:srgbClr val="40458B"/>
                </a:solidFill>
                <a:latin typeface="黑体"/>
                <a:cs typeface="黑体"/>
              </a:rPr>
              <a:t>乱序执行的前提下依然保持并行执行（</a:t>
            </a:r>
            <a:r>
              <a:rPr dirty="0" sz="2400" spc="-5">
                <a:solidFill>
                  <a:srgbClr val="40458B"/>
                </a:solidFill>
                <a:latin typeface="黑体"/>
                <a:cs typeface="黑体"/>
              </a:rPr>
              <a:t>即虽存在数据相关，通过乱序执行避免流水</a:t>
            </a:r>
            <a:r>
              <a:rPr dirty="0" sz="2400">
                <a:solidFill>
                  <a:srgbClr val="40458B"/>
                </a:solidFill>
                <a:latin typeface="黑体"/>
                <a:cs typeface="黑体"/>
              </a:rPr>
              <a:t>线暂停，依然实现指令级并行（同理记分牌 ））</a:t>
            </a:r>
            <a:r>
              <a:rPr dirty="0" sz="2400" spc="-50">
                <a:solidFill>
                  <a:srgbClr val="40458B"/>
                </a:solidFill>
                <a:latin typeface="黑体"/>
                <a:cs typeface="黑体"/>
              </a:rPr>
              <a:t>。</a:t>
            </a:r>
            <a:endParaRPr sz="2400">
              <a:latin typeface="黑体"/>
              <a:cs typeface="黑体"/>
            </a:endParaRPr>
          </a:p>
        </p:txBody>
      </p:sp>
      <p:sp>
        <p:nvSpPr>
          <p:cNvPr id="11" name="object 11" descr=""/>
          <p:cNvSpPr txBox="1"/>
          <p:nvPr/>
        </p:nvSpPr>
        <p:spPr>
          <a:xfrm>
            <a:off x="998016" y="3261436"/>
            <a:ext cx="6157595" cy="391795"/>
          </a:xfrm>
          <a:prstGeom prst="rect">
            <a:avLst/>
          </a:prstGeom>
        </p:spPr>
        <p:txBody>
          <a:bodyPr wrap="square" lIns="0" tIns="12700" rIns="0" bIns="0" rtlCol="0" vert="horz">
            <a:spAutoFit/>
          </a:bodyPr>
          <a:lstStyle/>
          <a:p>
            <a:pPr marL="354965" indent="-342265">
              <a:lnSpc>
                <a:spcPct val="100000"/>
              </a:lnSpc>
              <a:spcBef>
                <a:spcPts val="100"/>
              </a:spcBef>
              <a:buClr>
                <a:srgbClr val="006FC0"/>
              </a:buClr>
              <a:buFont typeface="Wingdings"/>
              <a:buChar char=""/>
              <a:tabLst>
                <a:tab pos="354965" algn="l"/>
              </a:tabLst>
            </a:pPr>
            <a:r>
              <a:rPr dirty="0" sz="2400" spc="-55">
                <a:solidFill>
                  <a:srgbClr val="40458B"/>
                </a:solidFill>
                <a:latin typeface="黑体"/>
                <a:cs typeface="黑体"/>
              </a:rPr>
              <a:t>与记分牌相比， </a:t>
            </a:r>
            <a:r>
              <a:rPr dirty="0" sz="2400" spc="-10">
                <a:solidFill>
                  <a:srgbClr val="001F5F"/>
                </a:solidFill>
                <a:latin typeface="Tahoma"/>
                <a:cs typeface="Tahoma"/>
              </a:rPr>
              <a:t>Tomasulo</a:t>
            </a:r>
            <a:r>
              <a:rPr dirty="0" sz="2400" spc="-50">
                <a:solidFill>
                  <a:srgbClr val="40458B"/>
                </a:solidFill>
                <a:latin typeface="黑体"/>
                <a:cs typeface="黑体"/>
              </a:rPr>
              <a:t>优点是？ </a:t>
            </a:r>
            <a:r>
              <a:rPr dirty="0" baseline="4629" sz="3600" spc="-37">
                <a:solidFill>
                  <a:srgbClr val="FF0000"/>
                </a:solidFill>
                <a:latin typeface="黑体"/>
                <a:cs typeface="黑体"/>
              </a:rPr>
              <a:t>要点：</a:t>
            </a:r>
            <a:endParaRPr baseline="4629" sz="3600">
              <a:latin typeface="黑体"/>
              <a:cs typeface="黑体"/>
            </a:endParaRPr>
          </a:p>
        </p:txBody>
      </p:sp>
      <p:sp>
        <p:nvSpPr>
          <p:cNvPr id="12" name="object 12" descr=""/>
          <p:cNvSpPr txBox="1"/>
          <p:nvPr/>
        </p:nvSpPr>
        <p:spPr>
          <a:xfrm>
            <a:off x="998016" y="3883914"/>
            <a:ext cx="4719320" cy="391160"/>
          </a:xfrm>
          <a:prstGeom prst="rect">
            <a:avLst/>
          </a:prstGeom>
        </p:spPr>
        <p:txBody>
          <a:bodyPr wrap="square" lIns="0" tIns="12700" rIns="0" bIns="0" rtlCol="0" vert="horz">
            <a:spAutoFit/>
          </a:bodyPr>
          <a:lstStyle/>
          <a:p>
            <a:pPr marL="354965" indent="-342265">
              <a:lnSpc>
                <a:spcPct val="100000"/>
              </a:lnSpc>
              <a:spcBef>
                <a:spcPts val="100"/>
              </a:spcBef>
              <a:buClr>
                <a:srgbClr val="006FC0"/>
              </a:buClr>
              <a:buFont typeface="Wingdings"/>
              <a:buChar char=""/>
              <a:tabLst>
                <a:tab pos="354965" algn="l"/>
              </a:tabLst>
            </a:pPr>
            <a:r>
              <a:rPr dirty="0" sz="2400" spc="-10">
                <a:solidFill>
                  <a:srgbClr val="001F5F"/>
                </a:solidFill>
                <a:latin typeface="Tahoma"/>
                <a:cs typeface="Tahoma"/>
              </a:rPr>
              <a:t>Tomasulo</a:t>
            </a:r>
            <a:r>
              <a:rPr dirty="0" sz="2400" spc="-5">
                <a:solidFill>
                  <a:srgbClr val="40458B"/>
                </a:solidFill>
                <a:latin typeface="黑体"/>
                <a:cs typeface="黑体"/>
              </a:rPr>
              <a:t>算法缺点？如何改进？</a:t>
            </a:r>
            <a:endParaRPr sz="2400">
              <a:latin typeface="黑体"/>
              <a:cs typeface="黑体"/>
            </a:endParaRPr>
          </a:p>
        </p:txBody>
      </p:sp>
      <p:sp>
        <p:nvSpPr>
          <p:cNvPr id="13" name="object 13" descr=""/>
          <p:cNvSpPr txBox="1"/>
          <p:nvPr/>
        </p:nvSpPr>
        <p:spPr>
          <a:xfrm>
            <a:off x="943762" y="4505705"/>
            <a:ext cx="10998835" cy="1784350"/>
          </a:xfrm>
          <a:prstGeom prst="rect">
            <a:avLst/>
          </a:prstGeom>
        </p:spPr>
        <p:txBody>
          <a:bodyPr wrap="square" lIns="0" tIns="12700" rIns="0" bIns="0" rtlCol="0" vert="horz">
            <a:spAutoFit/>
          </a:bodyPr>
          <a:lstStyle/>
          <a:p>
            <a:pPr marL="408940" indent="-342265">
              <a:lnSpc>
                <a:spcPct val="100000"/>
              </a:lnSpc>
              <a:spcBef>
                <a:spcPts val="100"/>
              </a:spcBef>
              <a:buClr>
                <a:srgbClr val="006FC0"/>
              </a:buClr>
              <a:buFont typeface="Wingdings"/>
              <a:buChar char=""/>
              <a:tabLst>
                <a:tab pos="408940" algn="l"/>
              </a:tabLst>
            </a:pPr>
            <a:r>
              <a:rPr dirty="0" sz="2400" spc="-5">
                <a:solidFill>
                  <a:srgbClr val="40458B"/>
                </a:solidFill>
                <a:latin typeface="黑体"/>
                <a:cs typeface="黑体"/>
              </a:rPr>
              <a:t>注意乱序：是执行阶段的乱序，而取指和提交指令都是顺序的。</a:t>
            </a:r>
            <a:endParaRPr sz="2400">
              <a:latin typeface="黑体"/>
              <a:cs typeface="黑体"/>
            </a:endParaRPr>
          </a:p>
          <a:p>
            <a:pPr marL="758825" marR="5080" indent="-746760">
              <a:lnSpc>
                <a:spcPct val="150000"/>
              </a:lnSpc>
              <a:spcBef>
                <a:spcPts val="2325"/>
              </a:spcBef>
            </a:pPr>
            <a:r>
              <a:rPr dirty="0" sz="2400">
                <a:solidFill>
                  <a:srgbClr val="9966FF"/>
                </a:solidFill>
                <a:latin typeface="黑体"/>
                <a:cs typeface="黑体"/>
              </a:rPr>
              <a:t>不管是什么样的动态调度流水线，都要将ID</a:t>
            </a:r>
            <a:r>
              <a:rPr dirty="0" sz="2400" spc="-5">
                <a:solidFill>
                  <a:srgbClr val="9966FF"/>
                </a:solidFill>
                <a:latin typeface="黑体"/>
                <a:cs typeface="黑体"/>
              </a:rPr>
              <a:t>做这样的拆分，差别主要是如何管理已发射、未就绪的指令：记分牌算法使用记分牌，</a:t>
            </a:r>
            <a:r>
              <a:rPr dirty="0" sz="2400" spc="-10">
                <a:solidFill>
                  <a:srgbClr val="9966FF"/>
                </a:solidFill>
                <a:latin typeface="黑体"/>
                <a:cs typeface="黑体"/>
              </a:rPr>
              <a:t>Tomasulo算法使用保留站</a:t>
            </a:r>
            <a:endParaRPr sz="2400">
              <a:latin typeface="黑体"/>
              <a:cs typeface="黑体"/>
            </a:endParaRPr>
          </a:p>
        </p:txBody>
      </p:sp>
      <p:sp>
        <p:nvSpPr>
          <p:cNvPr id="14" name="object 14" descr=""/>
          <p:cNvSpPr txBox="1"/>
          <p:nvPr/>
        </p:nvSpPr>
        <p:spPr>
          <a:xfrm>
            <a:off x="7312532" y="3234385"/>
            <a:ext cx="4777105"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FF0000"/>
                </a:solidFill>
                <a:latin typeface="Courier New"/>
                <a:cs typeface="Courier New"/>
              </a:rPr>
              <a:t>1</a:t>
            </a:r>
            <a:r>
              <a:rPr dirty="0" sz="2400" spc="-10">
                <a:solidFill>
                  <a:srgbClr val="FF0000"/>
                </a:solidFill>
                <a:latin typeface="Courier New"/>
                <a:cs typeface="Courier New"/>
              </a:rPr>
              <a:t>. </a:t>
            </a:r>
            <a:r>
              <a:rPr dirty="0" sz="2400" spc="45">
                <a:solidFill>
                  <a:srgbClr val="FF0000"/>
                </a:solidFill>
                <a:latin typeface="黑体"/>
                <a:cs typeface="黑体"/>
              </a:rPr>
              <a:t>核心思想 </a:t>
            </a:r>
            <a:r>
              <a:rPr dirty="0" sz="2400">
                <a:solidFill>
                  <a:srgbClr val="FF0000"/>
                </a:solidFill>
                <a:latin typeface="Courier New"/>
                <a:cs typeface="Courier New"/>
              </a:rPr>
              <a:t>2</a:t>
            </a:r>
            <a:r>
              <a:rPr dirty="0" sz="2400" spc="-5">
                <a:solidFill>
                  <a:srgbClr val="FF0000"/>
                </a:solidFill>
                <a:latin typeface="Courier New"/>
                <a:cs typeface="Courier New"/>
              </a:rPr>
              <a:t>. </a:t>
            </a:r>
            <a:r>
              <a:rPr dirty="0" sz="2400" spc="35">
                <a:solidFill>
                  <a:srgbClr val="FF0000"/>
                </a:solidFill>
                <a:latin typeface="黑体"/>
                <a:cs typeface="黑体"/>
              </a:rPr>
              <a:t>基本结构 </a:t>
            </a:r>
            <a:r>
              <a:rPr dirty="0" sz="2400">
                <a:solidFill>
                  <a:srgbClr val="FF0000"/>
                </a:solidFill>
                <a:latin typeface="Courier New"/>
                <a:cs typeface="Courier New"/>
              </a:rPr>
              <a:t>3</a:t>
            </a:r>
            <a:r>
              <a:rPr dirty="0" sz="2400" spc="-10">
                <a:solidFill>
                  <a:srgbClr val="FF0000"/>
                </a:solidFill>
                <a:latin typeface="Courier New"/>
                <a:cs typeface="Courier New"/>
              </a:rPr>
              <a:t>. </a:t>
            </a:r>
            <a:r>
              <a:rPr dirty="0" sz="2400" spc="-50">
                <a:solidFill>
                  <a:srgbClr val="FF0000"/>
                </a:solidFill>
                <a:latin typeface="黑体"/>
                <a:cs typeface="黑体"/>
              </a:rPr>
              <a:t>寄</a:t>
            </a:r>
            <a:endParaRPr sz="2400">
              <a:latin typeface="黑体"/>
              <a:cs typeface="黑体"/>
            </a:endParaRPr>
          </a:p>
        </p:txBody>
      </p:sp>
      <p:sp>
        <p:nvSpPr>
          <p:cNvPr id="15" name="object 15" descr=""/>
          <p:cNvSpPr txBox="1"/>
          <p:nvPr/>
        </p:nvSpPr>
        <p:spPr>
          <a:xfrm>
            <a:off x="6215253" y="3600704"/>
            <a:ext cx="5876925" cy="391160"/>
          </a:xfrm>
          <a:prstGeom prst="rect">
            <a:avLst/>
          </a:prstGeom>
        </p:spPr>
        <p:txBody>
          <a:bodyPr wrap="square" lIns="0" tIns="12700" rIns="0" bIns="0" rtlCol="0" vert="horz">
            <a:spAutoFit/>
          </a:bodyPr>
          <a:lstStyle/>
          <a:p>
            <a:pPr marL="12700">
              <a:lnSpc>
                <a:spcPct val="100000"/>
              </a:lnSpc>
              <a:spcBef>
                <a:spcPts val="100"/>
              </a:spcBef>
            </a:pPr>
            <a:r>
              <a:rPr dirty="0" sz="2400" spc="30">
                <a:solidFill>
                  <a:srgbClr val="FF0000"/>
                </a:solidFill>
                <a:latin typeface="黑体"/>
                <a:cs typeface="黑体"/>
              </a:rPr>
              <a:t>存器换名的实现 </a:t>
            </a:r>
            <a:r>
              <a:rPr dirty="0" sz="2400">
                <a:solidFill>
                  <a:srgbClr val="FF0000"/>
                </a:solidFill>
                <a:latin typeface="Courier New"/>
                <a:cs typeface="Courier New"/>
              </a:rPr>
              <a:t>4.</a:t>
            </a:r>
            <a:r>
              <a:rPr dirty="0" sz="2400" spc="20">
                <a:solidFill>
                  <a:srgbClr val="FF0000"/>
                </a:solidFill>
                <a:latin typeface="Courier New"/>
                <a:cs typeface="Courier New"/>
              </a:rPr>
              <a:t> </a:t>
            </a:r>
            <a:r>
              <a:rPr dirty="0" sz="2400" spc="-10">
                <a:solidFill>
                  <a:srgbClr val="FF0000"/>
                </a:solidFill>
                <a:latin typeface="Courier New"/>
                <a:cs typeface="Courier New"/>
              </a:rPr>
              <a:t>Tomasulo</a:t>
            </a:r>
            <a:r>
              <a:rPr dirty="0" sz="2400" spc="-10">
                <a:solidFill>
                  <a:srgbClr val="FF0000"/>
                </a:solidFill>
                <a:latin typeface="黑体"/>
                <a:cs typeface="黑体"/>
              </a:rPr>
              <a:t>算法的特点</a:t>
            </a:r>
            <a:endParaRPr sz="2400">
              <a:latin typeface="黑体"/>
              <a:cs typeface="黑体"/>
            </a:endParaRPr>
          </a:p>
        </p:txBody>
      </p:sp>
      <p:sp>
        <p:nvSpPr>
          <p:cNvPr id="16" name="object 16" descr=""/>
          <p:cNvSpPr txBox="1"/>
          <p:nvPr/>
        </p:nvSpPr>
        <p:spPr>
          <a:xfrm>
            <a:off x="6215253" y="3966464"/>
            <a:ext cx="179197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FF0000"/>
                </a:solidFill>
                <a:latin typeface="Courier New"/>
                <a:cs typeface="Courier New"/>
              </a:rPr>
              <a:t>5.</a:t>
            </a:r>
            <a:r>
              <a:rPr dirty="0" sz="2400" spc="-5">
                <a:solidFill>
                  <a:srgbClr val="FF0000"/>
                </a:solidFill>
                <a:latin typeface="Courier New"/>
                <a:cs typeface="Courier New"/>
              </a:rPr>
              <a:t> </a:t>
            </a:r>
            <a:r>
              <a:rPr dirty="0" sz="2400" spc="-20">
                <a:solidFill>
                  <a:srgbClr val="FF0000"/>
                </a:solidFill>
                <a:latin typeface="黑体"/>
                <a:cs typeface="黑体"/>
              </a:rPr>
              <a:t>执行步骤</a:t>
            </a:r>
            <a:endParaRPr sz="2400">
              <a:latin typeface="黑体"/>
              <a:cs typeface="黑体"/>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56/175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210413" y="723341"/>
            <a:ext cx="11877040" cy="4878705"/>
          </a:xfrm>
          <a:prstGeom prst="rect">
            <a:avLst/>
          </a:prstGeom>
        </p:spPr>
        <p:txBody>
          <a:bodyPr wrap="square" lIns="0" tIns="13335" rIns="0" bIns="0" rtlCol="0" vert="horz">
            <a:spAutoFit/>
          </a:bodyPr>
          <a:lstStyle/>
          <a:p>
            <a:pPr marL="1152525">
              <a:lnSpc>
                <a:spcPct val="100000"/>
              </a:lnSpc>
              <a:spcBef>
                <a:spcPts val="105"/>
              </a:spcBef>
            </a:pPr>
            <a:r>
              <a:rPr dirty="0" sz="2600">
                <a:solidFill>
                  <a:srgbClr val="0000CC"/>
                </a:solidFill>
                <a:latin typeface="黑体"/>
                <a:cs typeface="黑体"/>
              </a:rPr>
              <a:t>5.3.3</a:t>
            </a:r>
            <a:r>
              <a:rPr dirty="0" sz="2600" spc="30">
                <a:solidFill>
                  <a:srgbClr val="0000CC"/>
                </a:solidFill>
                <a:latin typeface="黑体"/>
                <a:cs typeface="黑体"/>
              </a:rPr>
              <a:t> </a:t>
            </a:r>
            <a:r>
              <a:rPr dirty="0" sz="2600" spc="-40">
                <a:solidFill>
                  <a:srgbClr val="0000CC"/>
                </a:solidFill>
                <a:latin typeface="Tahoma"/>
                <a:cs typeface="Tahoma"/>
              </a:rPr>
              <a:t>Tomasulo</a:t>
            </a:r>
            <a:r>
              <a:rPr dirty="0" sz="2600" spc="-25">
                <a:solidFill>
                  <a:srgbClr val="0000CC"/>
                </a:solidFill>
                <a:latin typeface="黑体"/>
                <a:cs typeface="黑体"/>
              </a:rPr>
              <a:t>算法</a:t>
            </a:r>
            <a:endParaRPr sz="2600">
              <a:latin typeface="黑体"/>
              <a:cs typeface="黑体"/>
            </a:endParaRPr>
          </a:p>
          <a:p>
            <a:pPr marL="469900" indent="-457200">
              <a:lnSpc>
                <a:spcPct val="100000"/>
              </a:lnSpc>
              <a:spcBef>
                <a:spcPts val="3200"/>
              </a:spcBef>
              <a:buClr>
                <a:srgbClr val="40458B"/>
              </a:buClr>
              <a:buFont typeface="Wingdings"/>
              <a:buChar char=""/>
              <a:tabLst>
                <a:tab pos="469900" algn="l"/>
              </a:tabLst>
            </a:pPr>
            <a:r>
              <a:rPr dirty="0" sz="2400" spc="-10">
                <a:solidFill>
                  <a:srgbClr val="001F5F"/>
                </a:solidFill>
                <a:latin typeface="Tahoma"/>
                <a:cs typeface="Tahoma"/>
              </a:rPr>
              <a:t>Tomasulo</a:t>
            </a:r>
            <a:r>
              <a:rPr dirty="0" sz="2400">
                <a:solidFill>
                  <a:srgbClr val="001F5F"/>
                </a:solidFill>
                <a:latin typeface="黑体"/>
                <a:cs typeface="黑体"/>
              </a:rPr>
              <a:t>算法是由</a:t>
            </a:r>
            <a:r>
              <a:rPr dirty="0" sz="2400">
                <a:solidFill>
                  <a:srgbClr val="001F5F"/>
                </a:solidFill>
                <a:latin typeface="Tahoma"/>
                <a:cs typeface="Tahoma"/>
              </a:rPr>
              <a:t>Robert</a:t>
            </a:r>
            <a:r>
              <a:rPr dirty="0" sz="2400" spc="-80">
                <a:solidFill>
                  <a:srgbClr val="001F5F"/>
                </a:solidFill>
                <a:latin typeface="Tahoma"/>
                <a:cs typeface="Tahoma"/>
              </a:rPr>
              <a:t> </a:t>
            </a:r>
            <a:r>
              <a:rPr dirty="0" sz="2400">
                <a:solidFill>
                  <a:srgbClr val="001F5F"/>
                </a:solidFill>
                <a:latin typeface="Tahoma"/>
                <a:cs typeface="Tahoma"/>
              </a:rPr>
              <a:t>Tomasulo</a:t>
            </a:r>
            <a:r>
              <a:rPr dirty="0" sz="2400" spc="-35">
                <a:solidFill>
                  <a:srgbClr val="001F5F"/>
                </a:solidFill>
                <a:latin typeface="Tahoma"/>
                <a:cs typeface="Tahoma"/>
              </a:rPr>
              <a:t> </a:t>
            </a:r>
            <a:r>
              <a:rPr dirty="0" sz="2400" spc="-5">
                <a:solidFill>
                  <a:srgbClr val="001F5F"/>
                </a:solidFill>
                <a:latin typeface="黑体"/>
                <a:cs typeface="黑体"/>
              </a:rPr>
              <a:t>设计的，以他的名字命名</a:t>
            </a:r>
            <a:endParaRPr sz="2400">
              <a:latin typeface="黑体"/>
              <a:cs typeface="黑体"/>
            </a:endParaRPr>
          </a:p>
          <a:p>
            <a:pPr marL="469900" indent="-457200">
              <a:lnSpc>
                <a:spcPct val="100000"/>
              </a:lnSpc>
              <a:spcBef>
                <a:spcPts val="1000"/>
              </a:spcBef>
              <a:buClr>
                <a:srgbClr val="40458B"/>
              </a:buClr>
              <a:buFont typeface="Wingdings"/>
              <a:buChar char=""/>
              <a:tabLst>
                <a:tab pos="469900" algn="l"/>
              </a:tabLst>
            </a:pPr>
            <a:r>
              <a:rPr dirty="0" sz="2400" spc="-15">
                <a:solidFill>
                  <a:srgbClr val="001F5F"/>
                </a:solidFill>
                <a:latin typeface="黑体"/>
                <a:cs typeface="黑体"/>
              </a:rPr>
              <a:t>核心思想</a:t>
            </a:r>
            <a:endParaRPr sz="2400">
              <a:latin typeface="黑体"/>
              <a:cs typeface="黑体"/>
            </a:endParaRPr>
          </a:p>
          <a:p>
            <a:pPr lvl="1" marL="1099185" marR="150495" indent="-457200">
              <a:lnSpc>
                <a:spcPct val="125000"/>
              </a:lnSpc>
              <a:spcBef>
                <a:spcPts val="484"/>
              </a:spcBef>
              <a:buClr>
                <a:srgbClr val="006FC0"/>
              </a:buClr>
              <a:buSzPct val="88636"/>
              <a:buFont typeface="Wingdings"/>
              <a:buChar char=""/>
              <a:tabLst>
                <a:tab pos="1099185" algn="l"/>
              </a:tabLst>
            </a:pPr>
            <a:r>
              <a:rPr dirty="0" sz="2200" spc="-10">
                <a:solidFill>
                  <a:srgbClr val="FF0000"/>
                </a:solidFill>
                <a:latin typeface="黑体"/>
                <a:cs typeface="黑体"/>
              </a:rPr>
              <a:t>1</a:t>
            </a:r>
            <a:r>
              <a:rPr dirty="0" sz="2200" spc="-30">
                <a:solidFill>
                  <a:srgbClr val="FF0000"/>
                </a:solidFill>
                <a:latin typeface="黑体"/>
                <a:cs typeface="黑体"/>
              </a:rPr>
              <a:t>、记录</a:t>
            </a:r>
            <a:r>
              <a:rPr dirty="0" sz="2200" spc="-30">
                <a:solidFill>
                  <a:srgbClr val="40458B"/>
                </a:solidFill>
                <a:latin typeface="黑体"/>
                <a:cs typeface="黑体"/>
              </a:rPr>
              <a:t>和</a:t>
            </a:r>
            <a:r>
              <a:rPr dirty="0" sz="2200" spc="-20">
                <a:solidFill>
                  <a:srgbClr val="FF0000"/>
                </a:solidFill>
                <a:latin typeface="黑体"/>
                <a:cs typeface="黑体"/>
              </a:rPr>
              <a:t>检测</a:t>
            </a:r>
            <a:r>
              <a:rPr dirty="0" sz="2200" spc="-30">
                <a:solidFill>
                  <a:srgbClr val="40458B"/>
                </a:solidFill>
                <a:latin typeface="黑体"/>
                <a:cs typeface="黑体"/>
              </a:rPr>
              <a:t>指令相关，操作数</a:t>
            </a:r>
            <a:r>
              <a:rPr dirty="0" sz="2200" spc="-30">
                <a:solidFill>
                  <a:srgbClr val="9966FF"/>
                </a:solidFill>
                <a:latin typeface="黑体"/>
                <a:cs typeface="黑体"/>
              </a:rPr>
              <a:t>一旦就绪</a:t>
            </a:r>
            <a:r>
              <a:rPr dirty="0" sz="2200" spc="-30">
                <a:solidFill>
                  <a:srgbClr val="40458B"/>
                </a:solidFill>
                <a:latin typeface="黑体"/>
                <a:cs typeface="黑体"/>
              </a:rPr>
              <a:t>就立即执行，把发生</a:t>
            </a:r>
            <a:r>
              <a:rPr dirty="0" sz="2200" spc="-20">
                <a:solidFill>
                  <a:srgbClr val="D50092"/>
                </a:solidFill>
                <a:latin typeface="黑体"/>
                <a:cs typeface="黑体"/>
              </a:rPr>
              <a:t>RAW</a:t>
            </a:r>
            <a:r>
              <a:rPr dirty="0" sz="2200" spc="-30">
                <a:solidFill>
                  <a:srgbClr val="D50092"/>
                </a:solidFill>
                <a:latin typeface="黑体"/>
                <a:cs typeface="黑体"/>
              </a:rPr>
              <a:t>冲突</a:t>
            </a:r>
            <a:r>
              <a:rPr dirty="0" sz="2200" spc="-35">
                <a:solidFill>
                  <a:srgbClr val="40458B"/>
                </a:solidFill>
                <a:latin typeface="黑体"/>
                <a:cs typeface="黑体"/>
              </a:rPr>
              <a:t>的可能性减少到</a:t>
            </a:r>
            <a:r>
              <a:rPr dirty="0" sz="2200" spc="-40">
                <a:solidFill>
                  <a:srgbClr val="40458B"/>
                </a:solidFill>
                <a:latin typeface="黑体"/>
                <a:cs typeface="黑体"/>
              </a:rPr>
              <a:t>最小；</a:t>
            </a:r>
            <a:endParaRPr sz="2200">
              <a:latin typeface="黑体"/>
              <a:cs typeface="黑体"/>
            </a:endParaRPr>
          </a:p>
          <a:p>
            <a:pPr lvl="1" marL="1099185" indent="-457200">
              <a:lnSpc>
                <a:spcPct val="100000"/>
              </a:lnSpc>
              <a:spcBef>
                <a:spcPts val="1190"/>
              </a:spcBef>
              <a:buClr>
                <a:srgbClr val="006FC0"/>
              </a:buClr>
              <a:buSzPct val="88636"/>
              <a:buFont typeface="Wingdings"/>
              <a:buChar char=""/>
              <a:tabLst>
                <a:tab pos="1099185" algn="l"/>
              </a:tabLst>
            </a:pPr>
            <a:r>
              <a:rPr dirty="0" sz="2200" spc="-10">
                <a:solidFill>
                  <a:srgbClr val="40458B"/>
                </a:solidFill>
                <a:latin typeface="黑体"/>
                <a:cs typeface="黑体"/>
              </a:rPr>
              <a:t>2</a:t>
            </a:r>
            <a:r>
              <a:rPr dirty="0" sz="2200" spc="-30">
                <a:solidFill>
                  <a:srgbClr val="40458B"/>
                </a:solidFill>
                <a:latin typeface="黑体"/>
                <a:cs typeface="黑体"/>
              </a:rPr>
              <a:t>、通过寄存器</a:t>
            </a:r>
            <a:r>
              <a:rPr dirty="0" sz="2200" spc="-30">
                <a:solidFill>
                  <a:srgbClr val="9966FF"/>
                </a:solidFill>
                <a:latin typeface="黑体"/>
                <a:cs typeface="黑体"/>
              </a:rPr>
              <a:t>换名</a:t>
            </a:r>
            <a:r>
              <a:rPr dirty="0" sz="2200" spc="-25">
                <a:solidFill>
                  <a:srgbClr val="40458B"/>
                </a:solidFill>
                <a:latin typeface="黑体"/>
                <a:cs typeface="黑体"/>
              </a:rPr>
              <a:t>来消除</a:t>
            </a:r>
            <a:r>
              <a:rPr dirty="0" sz="2200" spc="-10">
                <a:solidFill>
                  <a:srgbClr val="D50092"/>
                </a:solidFill>
                <a:latin typeface="黑体"/>
                <a:cs typeface="黑体"/>
              </a:rPr>
              <a:t>WAR</a:t>
            </a:r>
            <a:r>
              <a:rPr dirty="0" sz="2200" spc="-30">
                <a:solidFill>
                  <a:srgbClr val="D50092"/>
                </a:solidFill>
                <a:latin typeface="黑体"/>
                <a:cs typeface="黑体"/>
              </a:rPr>
              <a:t>冲突</a:t>
            </a:r>
            <a:r>
              <a:rPr dirty="0" sz="2200" spc="-30">
                <a:solidFill>
                  <a:srgbClr val="40458B"/>
                </a:solidFill>
                <a:latin typeface="黑体"/>
                <a:cs typeface="黑体"/>
              </a:rPr>
              <a:t>和</a:t>
            </a:r>
            <a:r>
              <a:rPr dirty="0" sz="2200" spc="-20">
                <a:solidFill>
                  <a:srgbClr val="D50092"/>
                </a:solidFill>
                <a:latin typeface="黑体"/>
                <a:cs typeface="黑体"/>
              </a:rPr>
              <a:t>WAW</a:t>
            </a:r>
            <a:r>
              <a:rPr dirty="0" sz="2200" spc="-25">
                <a:solidFill>
                  <a:srgbClr val="D50092"/>
                </a:solidFill>
                <a:latin typeface="黑体"/>
                <a:cs typeface="黑体"/>
              </a:rPr>
              <a:t>冲突</a:t>
            </a:r>
            <a:r>
              <a:rPr dirty="0" sz="2200" spc="-50">
                <a:solidFill>
                  <a:srgbClr val="40458B"/>
                </a:solidFill>
                <a:latin typeface="黑体"/>
                <a:cs typeface="黑体"/>
              </a:rPr>
              <a:t>。</a:t>
            </a:r>
            <a:endParaRPr sz="2200">
              <a:latin typeface="黑体"/>
              <a:cs typeface="黑体"/>
            </a:endParaRPr>
          </a:p>
          <a:p>
            <a:pPr lvl="2" marL="2071370" indent="-457200">
              <a:lnSpc>
                <a:spcPct val="100000"/>
              </a:lnSpc>
              <a:spcBef>
                <a:spcPts val="1495"/>
              </a:spcBef>
              <a:buClr>
                <a:srgbClr val="9966FF"/>
              </a:buClr>
              <a:buSzPct val="63888"/>
              <a:buFont typeface="Wingdings"/>
              <a:buChar char=""/>
              <a:tabLst>
                <a:tab pos="2071370" algn="l"/>
              </a:tabLst>
            </a:pPr>
            <a:r>
              <a:rPr dirty="0" sz="1800" spc="-15" b="1">
                <a:solidFill>
                  <a:srgbClr val="FF09FF"/>
                </a:solidFill>
                <a:latin typeface="宋体"/>
                <a:cs typeface="宋体"/>
              </a:rPr>
              <a:t>换名通过保留站实现，它保存正在执行指令所需的操作数</a:t>
            </a:r>
            <a:endParaRPr sz="1800">
              <a:latin typeface="宋体"/>
              <a:cs typeface="宋体"/>
            </a:endParaRPr>
          </a:p>
          <a:p>
            <a:pPr algn="just" marL="1169670" marR="5080" indent="-342900">
              <a:lnSpc>
                <a:spcPct val="123300"/>
              </a:lnSpc>
              <a:spcBef>
                <a:spcPts val="445"/>
              </a:spcBef>
              <a:buClr>
                <a:srgbClr val="40458B"/>
              </a:buClr>
              <a:buSzPct val="89583"/>
              <a:buFont typeface="Wingdings"/>
              <a:buChar char=""/>
              <a:tabLst>
                <a:tab pos="1169670" algn="l"/>
              </a:tabLst>
            </a:pPr>
            <a:r>
              <a:rPr dirty="0" sz="2400" spc="-10">
                <a:solidFill>
                  <a:srgbClr val="FF0000"/>
                </a:solidFill>
                <a:latin typeface="黑体"/>
                <a:cs typeface="黑体"/>
              </a:rPr>
              <a:t>总结</a:t>
            </a:r>
            <a:r>
              <a:rPr dirty="0" sz="2400" spc="-10">
                <a:solidFill>
                  <a:srgbClr val="40458B"/>
                </a:solidFill>
                <a:latin typeface="黑体"/>
                <a:cs typeface="黑体"/>
              </a:rPr>
              <a:t>：</a:t>
            </a:r>
            <a:r>
              <a:rPr dirty="0" sz="2200" spc="-35">
                <a:solidFill>
                  <a:srgbClr val="40458B"/>
                </a:solidFill>
                <a:latin typeface="黑体"/>
                <a:cs typeface="黑体"/>
              </a:rPr>
              <a:t>指令流出，操作数若还没计算出来，则该指令中相应的寄存器换名为产生这个操作数的保留站的标识。即指令流出到保留站，操作数寄存器要么就绪要么换成保留站的</a:t>
            </a:r>
            <a:r>
              <a:rPr dirty="0" sz="2200" spc="-30">
                <a:solidFill>
                  <a:srgbClr val="40458B"/>
                </a:solidFill>
                <a:latin typeface="黑体"/>
                <a:cs typeface="黑体"/>
              </a:rPr>
              <a:t>标识，此时已和该寄存器无关，后面指令对该寄存器写操作则不会产生</a:t>
            </a:r>
            <a:r>
              <a:rPr dirty="0" sz="2200" spc="-10">
                <a:solidFill>
                  <a:srgbClr val="40458B"/>
                </a:solidFill>
                <a:latin typeface="黑体"/>
                <a:cs typeface="黑体"/>
              </a:rPr>
              <a:t>WAR</a:t>
            </a:r>
            <a:r>
              <a:rPr dirty="0" sz="2200" spc="-30">
                <a:solidFill>
                  <a:srgbClr val="40458B"/>
                </a:solidFill>
                <a:latin typeface="黑体"/>
                <a:cs typeface="黑体"/>
              </a:rPr>
              <a:t>冲突）</a:t>
            </a:r>
            <a:r>
              <a:rPr dirty="0" sz="2200" spc="-50">
                <a:solidFill>
                  <a:srgbClr val="40458B"/>
                </a:solidFill>
                <a:latin typeface="黑体"/>
                <a:cs typeface="黑体"/>
              </a:rPr>
              <a:t>。</a:t>
            </a:r>
            <a:endParaRPr sz="2200">
              <a:latin typeface="黑体"/>
              <a:cs typeface="黑体"/>
            </a:endParaRPr>
          </a:p>
        </p:txBody>
      </p:sp>
      <p:sp>
        <p:nvSpPr>
          <p:cNvPr id="10" name="object 10"/>
          <p:cNvSpPr txBox="1">
            <a:spLocks noGrp="1"/>
          </p:cNvSpPr>
          <p:nvPr>
            <p:ph type="title"/>
          </p:nvPr>
        </p:nvSpPr>
        <p:spPr>
          <a:xfrm>
            <a:off x="1350391" y="126619"/>
            <a:ext cx="3684904"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1" name="object 11" descr=""/>
          <p:cNvSpPr txBox="1"/>
          <p:nvPr/>
        </p:nvSpPr>
        <p:spPr>
          <a:xfrm>
            <a:off x="6607302" y="299415"/>
            <a:ext cx="2464435"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6600"/>
                </a:solidFill>
                <a:latin typeface="黑体"/>
                <a:cs typeface="黑体"/>
              </a:rPr>
              <a:t>5.3.3.1</a:t>
            </a:r>
            <a:r>
              <a:rPr dirty="0" sz="2400" spc="-30">
                <a:solidFill>
                  <a:srgbClr val="006600"/>
                </a:solidFill>
                <a:latin typeface="黑体"/>
                <a:cs typeface="黑体"/>
              </a:rPr>
              <a:t> 基本思想</a:t>
            </a:r>
            <a:endParaRPr sz="2400">
              <a:latin typeface="黑体"/>
              <a:cs typeface="黑体"/>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57/175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350391" y="126619"/>
            <a:ext cx="3684904"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558190" y="1617117"/>
            <a:ext cx="9951720" cy="3600450"/>
          </a:xfrm>
          <a:prstGeom prst="rect">
            <a:avLst/>
          </a:prstGeom>
        </p:spPr>
        <p:txBody>
          <a:bodyPr wrap="square" lIns="0" tIns="122555" rIns="0" bIns="0" rtlCol="0" vert="horz">
            <a:spAutoFit/>
          </a:bodyPr>
          <a:lstStyle/>
          <a:p>
            <a:pPr marL="469265" indent="-456565">
              <a:lnSpc>
                <a:spcPct val="100000"/>
              </a:lnSpc>
              <a:spcBef>
                <a:spcPts val="965"/>
              </a:spcBef>
              <a:buClr>
                <a:srgbClr val="40458B"/>
              </a:buClr>
              <a:buFont typeface="Wingdings"/>
              <a:buChar char=""/>
              <a:tabLst>
                <a:tab pos="469265" algn="l"/>
              </a:tabLst>
            </a:pPr>
            <a:r>
              <a:rPr dirty="0" sz="2400">
                <a:solidFill>
                  <a:srgbClr val="001F5F"/>
                </a:solidFill>
                <a:latin typeface="黑体"/>
                <a:cs typeface="黑体"/>
              </a:rPr>
              <a:t>IBM</a:t>
            </a:r>
            <a:r>
              <a:rPr dirty="0" sz="2400" spc="80">
                <a:solidFill>
                  <a:srgbClr val="001F5F"/>
                </a:solidFill>
                <a:latin typeface="黑体"/>
                <a:cs typeface="黑体"/>
              </a:rPr>
              <a:t> </a:t>
            </a:r>
            <a:r>
              <a:rPr dirty="0" sz="2400" spc="-10">
                <a:solidFill>
                  <a:srgbClr val="001F5F"/>
                </a:solidFill>
                <a:latin typeface="黑体"/>
                <a:cs typeface="黑体"/>
              </a:rPr>
              <a:t>360/91首先采用了Tomasulo</a:t>
            </a:r>
            <a:r>
              <a:rPr dirty="0" sz="2400" spc="-30">
                <a:solidFill>
                  <a:srgbClr val="001F5F"/>
                </a:solidFill>
                <a:latin typeface="黑体"/>
                <a:cs typeface="黑体"/>
              </a:rPr>
              <a:t>算法</a:t>
            </a:r>
            <a:endParaRPr sz="2400">
              <a:latin typeface="黑体"/>
              <a:cs typeface="黑体"/>
            </a:endParaRPr>
          </a:p>
          <a:p>
            <a:pPr lvl="1" marL="1099185" marR="5080" indent="-457834">
              <a:lnSpc>
                <a:spcPct val="110000"/>
              </a:lnSpc>
              <a:spcBef>
                <a:spcPts val="580"/>
              </a:spcBef>
              <a:buFont typeface="Wingdings"/>
              <a:buChar char=""/>
              <a:tabLst>
                <a:tab pos="1099185" algn="l"/>
                <a:tab pos="1193800" algn="l"/>
                <a:tab pos="1803400" algn="l"/>
              </a:tabLst>
            </a:pPr>
            <a:r>
              <a:rPr dirty="0" sz="2150">
                <a:solidFill>
                  <a:srgbClr val="40458B"/>
                </a:solidFill>
                <a:latin typeface="Times New Roman"/>
                <a:cs typeface="Times New Roman"/>
              </a:rPr>
              <a:t>	</a:t>
            </a:r>
            <a:r>
              <a:rPr dirty="0" sz="2400" spc="-25">
                <a:solidFill>
                  <a:srgbClr val="9933FF"/>
                </a:solidFill>
                <a:latin typeface="黑体"/>
                <a:cs typeface="黑体"/>
              </a:rPr>
              <a:t>IBM</a:t>
            </a:r>
            <a:r>
              <a:rPr dirty="0" sz="2400">
                <a:solidFill>
                  <a:srgbClr val="9933FF"/>
                </a:solidFill>
                <a:latin typeface="黑体"/>
                <a:cs typeface="黑体"/>
              </a:rPr>
              <a:t>	360/91</a:t>
            </a:r>
            <a:r>
              <a:rPr dirty="0" sz="2400">
                <a:solidFill>
                  <a:srgbClr val="40458B"/>
                </a:solidFill>
                <a:latin typeface="黑体"/>
                <a:cs typeface="黑体"/>
              </a:rPr>
              <a:t>的设计目标是基于整个</a:t>
            </a:r>
            <a:r>
              <a:rPr dirty="0" sz="2400" spc="-10">
                <a:solidFill>
                  <a:srgbClr val="9933FF"/>
                </a:solidFill>
                <a:latin typeface="黑体"/>
                <a:cs typeface="黑体"/>
              </a:rPr>
              <a:t>360</a:t>
            </a:r>
            <a:r>
              <a:rPr dirty="0" sz="2400" spc="-5">
                <a:solidFill>
                  <a:srgbClr val="40458B"/>
                </a:solidFill>
                <a:latin typeface="黑体"/>
                <a:cs typeface="黑体"/>
              </a:rPr>
              <a:t>系列的统一指令系统和编</a:t>
            </a:r>
            <a:r>
              <a:rPr dirty="0" sz="2400" spc="-50">
                <a:solidFill>
                  <a:srgbClr val="40458B"/>
                </a:solidFill>
                <a:latin typeface="黑体"/>
                <a:cs typeface="黑体"/>
              </a:rPr>
              <a:t> </a:t>
            </a:r>
            <a:r>
              <a:rPr dirty="0" sz="2400" spc="-5">
                <a:solidFill>
                  <a:srgbClr val="40458B"/>
                </a:solidFill>
                <a:latin typeface="黑体"/>
                <a:cs typeface="黑体"/>
              </a:rPr>
              <a:t>译器来实现高性能，而不是设计和利用专用的编译器来提高性能。</a:t>
            </a:r>
            <a:endParaRPr sz="2400">
              <a:latin typeface="黑体"/>
              <a:cs typeface="黑体"/>
            </a:endParaRPr>
          </a:p>
          <a:p>
            <a:pPr marL="1099185">
              <a:lnSpc>
                <a:spcPct val="100000"/>
              </a:lnSpc>
              <a:spcBef>
                <a:spcPts val="290"/>
              </a:spcBef>
              <a:tabLst>
                <a:tab pos="1556385" algn="l"/>
              </a:tabLst>
            </a:pPr>
            <a:r>
              <a:rPr dirty="0" sz="2400" spc="-50">
                <a:solidFill>
                  <a:srgbClr val="9966FF"/>
                </a:solidFill>
                <a:latin typeface="黑体"/>
                <a:cs typeface="黑体"/>
              </a:rPr>
              <a:t>（</a:t>
            </a:r>
            <a:r>
              <a:rPr dirty="0" sz="2400">
                <a:solidFill>
                  <a:srgbClr val="9966FF"/>
                </a:solidFill>
                <a:latin typeface="黑体"/>
                <a:cs typeface="黑体"/>
              </a:rPr>
              <a:t>	这样需要更多地依赖于硬件。</a:t>
            </a:r>
            <a:r>
              <a:rPr dirty="0" sz="2400" spc="-50">
                <a:solidFill>
                  <a:srgbClr val="9966FF"/>
                </a:solidFill>
                <a:latin typeface="黑体"/>
                <a:cs typeface="黑体"/>
              </a:rPr>
              <a:t>）</a:t>
            </a:r>
            <a:endParaRPr sz="2400">
              <a:latin typeface="黑体"/>
              <a:cs typeface="黑体"/>
            </a:endParaRPr>
          </a:p>
          <a:p>
            <a:pPr lvl="1" marL="1099185" marR="309245" indent="-457834">
              <a:lnSpc>
                <a:spcPct val="110000"/>
              </a:lnSpc>
              <a:spcBef>
                <a:spcPts val="575"/>
              </a:spcBef>
              <a:buClr>
                <a:srgbClr val="40458B"/>
              </a:buClr>
              <a:buSzPct val="89583"/>
              <a:buFont typeface="Wingdings"/>
              <a:buChar char=""/>
              <a:tabLst>
                <a:tab pos="1099185" algn="l"/>
                <a:tab pos="1708785" algn="l"/>
              </a:tabLst>
            </a:pPr>
            <a:r>
              <a:rPr dirty="0" sz="2400" spc="-25">
                <a:solidFill>
                  <a:srgbClr val="9933FF"/>
                </a:solidFill>
                <a:latin typeface="黑体"/>
                <a:cs typeface="黑体"/>
              </a:rPr>
              <a:t>IBM</a:t>
            </a:r>
            <a:r>
              <a:rPr dirty="0" sz="2400">
                <a:solidFill>
                  <a:srgbClr val="9933FF"/>
                </a:solidFill>
                <a:latin typeface="黑体"/>
                <a:cs typeface="黑体"/>
              </a:rPr>
              <a:t>	360</a:t>
            </a:r>
            <a:r>
              <a:rPr dirty="0" sz="2400">
                <a:solidFill>
                  <a:srgbClr val="40458B"/>
                </a:solidFill>
                <a:latin typeface="黑体"/>
                <a:cs typeface="黑体"/>
              </a:rPr>
              <a:t>体系结构只有</a:t>
            </a:r>
            <a:r>
              <a:rPr dirty="0" sz="2400">
                <a:solidFill>
                  <a:srgbClr val="9933FF"/>
                </a:solidFill>
                <a:latin typeface="黑体"/>
                <a:cs typeface="黑体"/>
              </a:rPr>
              <a:t>4</a:t>
            </a:r>
            <a:r>
              <a:rPr dirty="0" sz="2400" spc="-5">
                <a:solidFill>
                  <a:srgbClr val="40458B"/>
                </a:solidFill>
                <a:latin typeface="黑体"/>
                <a:cs typeface="黑体"/>
              </a:rPr>
              <a:t>个双精度浮点寄存器，限制了编译器调度</a:t>
            </a:r>
            <a:r>
              <a:rPr dirty="0" sz="2400" spc="-10">
                <a:solidFill>
                  <a:srgbClr val="40458B"/>
                </a:solidFill>
                <a:latin typeface="黑体"/>
                <a:cs typeface="黑体"/>
              </a:rPr>
              <a:t>的有效性。</a:t>
            </a:r>
            <a:endParaRPr sz="2400">
              <a:latin typeface="黑体"/>
              <a:cs typeface="黑体"/>
            </a:endParaRPr>
          </a:p>
          <a:p>
            <a:pPr lvl="1" marL="1099185" indent="-457200">
              <a:lnSpc>
                <a:spcPct val="100000"/>
              </a:lnSpc>
              <a:spcBef>
                <a:spcPts val="865"/>
              </a:spcBef>
              <a:buClr>
                <a:srgbClr val="40458B"/>
              </a:buClr>
              <a:buSzPct val="89583"/>
              <a:buFont typeface="Wingdings"/>
              <a:buChar char=""/>
              <a:tabLst>
                <a:tab pos="1099185" algn="l"/>
              </a:tabLst>
            </a:pPr>
            <a:r>
              <a:rPr dirty="0" sz="2400">
                <a:solidFill>
                  <a:srgbClr val="9933FF"/>
                </a:solidFill>
                <a:latin typeface="黑体"/>
                <a:cs typeface="黑体"/>
              </a:rPr>
              <a:t>360/91</a:t>
            </a:r>
            <a:r>
              <a:rPr dirty="0" sz="2400" spc="-5">
                <a:solidFill>
                  <a:srgbClr val="40458B"/>
                </a:solidFill>
                <a:latin typeface="黑体"/>
                <a:cs typeface="黑体"/>
              </a:rPr>
              <a:t>的访存时间和浮点计算时间都很长。</a:t>
            </a:r>
            <a:endParaRPr sz="2400">
              <a:latin typeface="黑体"/>
              <a:cs typeface="黑体"/>
            </a:endParaRPr>
          </a:p>
          <a:p>
            <a:pPr marL="741045">
              <a:lnSpc>
                <a:spcPct val="100000"/>
              </a:lnSpc>
              <a:spcBef>
                <a:spcPts val="1019"/>
              </a:spcBef>
            </a:pPr>
            <a:r>
              <a:rPr dirty="0" sz="2200" spc="-20" b="1">
                <a:solidFill>
                  <a:srgbClr val="9966FF"/>
                </a:solidFill>
                <a:latin typeface="宋体"/>
                <a:cs typeface="宋体"/>
              </a:rPr>
              <a:t>（也是</a:t>
            </a:r>
            <a:r>
              <a:rPr dirty="0" sz="2200" spc="-10" b="1">
                <a:solidFill>
                  <a:srgbClr val="9933FF"/>
                </a:solidFill>
                <a:latin typeface="黑体"/>
                <a:cs typeface="黑体"/>
              </a:rPr>
              <a:t>Tomasulo</a:t>
            </a:r>
            <a:r>
              <a:rPr dirty="0" sz="2200" spc="-20" b="1">
                <a:solidFill>
                  <a:srgbClr val="9966FF"/>
                </a:solidFill>
                <a:latin typeface="宋体"/>
                <a:cs typeface="宋体"/>
              </a:rPr>
              <a:t>算法要解决的问题</a:t>
            </a:r>
            <a:r>
              <a:rPr dirty="0" sz="2200" spc="-50" b="1">
                <a:solidFill>
                  <a:srgbClr val="9966FF"/>
                </a:solidFill>
                <a:latin typeface="宋体"/>
                <a:cs typeface="宋体"/>
              </a:rPr>
              <a:t>）</a:t>
            </a:r>
            <a:endParaRPr sz="2200">
              <a:latin typeface="宋体"/>
              <a:cs typeface="宋体"/>
            </a:endParaRPr>
          </a:p>
        </p:txBody>
      </p:sp>
      <p:sp>
        <p:nvSpPr>
          <p:cNvPr id="11" name="object 11" descr=""/>
          <p:cNvSpPr txBox="1"/>
          <p:nvPr/>
        </p:nvSpPr>
        <p:spPr>
          <a:xfrm>
            <a:off x="1350391" y="723341"/>
            <a:ext cx="3057525"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5.3.3</a:t>
            </a:r>
            <a:r>
              <a:rPr dirty="0" sz="2600" spc="30">
                <a:solidFill>
                  <a:srgbClr val="0000CC"/>
                </a:solidFill>
                <a:latin typeface="黑体"/>
                <a:cs typeface="黑体"/>
              </a:rPr>
              <a:t> </a:t>
            </a:r>
            <a:r>
              <a:rPr dirty="0" sz="2600" spc="-40">
                <a:solidFill>
                  <a:srgbClr val="0000CC"/>
                </a:solidFill>
                <a:latin typeface="Tahoma"/>
                <a:cs typeface="Tahoma"/>
              </a:rPr>
              <a:t>Tomasulo</a:t>
            </a:r>
            <a:r>
              <a:rPr dirty="0" sz="2600" spc="-25">
                <a:solidFill>
                  <a:srgbClr val="0000CC"/>
                </a:solidFill>
                <a:latin typeface="黑体"/>
                <a:cs typeface="黑体"/>
              </a:rPr>
              <a:t>算法</a:t>
            </a:r>
            <a:endParaRPr sz="2600">
              <a:latin typeface="黑体"/>
              <a:cs typeface="黑体"/>
            </a:endParaRPr>
          </a:p>
        </p:txBody>
      </p:sp>
      <p:sp>
        <p:nvSpPr>
          <p:cNvPr id="12" name="object 12" descr=""/>
          <p:cNvSpPr txBox="1"/>
          <p:nvPr/>
        </p:nvSpPr>
        <p:spPr>
          <a:xfrm>
            <a:off x="5508752" y="783793"/>
            <a:ext cx="2463800"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6600"/>
                </a:solidFill>
                <a:latin typeface="黑体"/>
                <a:cs typeface="黑体"/>
              </a:rPr>
              <a:t>5.3.3.1</a:t>
            </a:r>
            <a:r>
              <a:rPr dirty="0" sz="2400" spc="-30">
                <a:solidFill>
                  <a:srgbClr val="006600"/>
                </a:solidFill>
                <a:latin typeface="黑体"/>
                <a:cs typeface="黑体"/>
              </a:rPr>
              <a:t> 基本思想</a:t>
            </a:r>
            <a:endParaRPr sz="2400">
              <a:latin typeface="黑体"/>
              <a:cs typeface="黑体"/>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58/175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629818" y="971584"/>
            <a:ext cx="11155045" cy="4841240"/>
          </a:xfrm>
          <a:prstGeom prst="rect">
            <a:avLst/>
          </a:prstGeom>
        </p:spPr>
        <p:txBody>
          <a:bodyPr wrap="square" lIns="0" tIns="245110" rIns="0" bIns="0" rtlCol="0" vert="horz">
            <a:spAutoFit/>
          </a:bodyPr>
          <a:lstStyle/>
          <a:p>
            <a:pPr marL="469265" indent="-456565">
              <a:lnSpc>
                <a:spcPct val="100000"/>
              </a:lnSpc>
              <a:spcBef>
                <a:spcPts val="1930"/>
              </a:spcBef>
              <a:buClr>
                <a:srgbClr val="40458B"/>
              </a:buClr>
              <a:buFont typeface="Wingdings"/>
              <a:buChar char=""/>
              <a:tabLst>
                <a:tab pos="469265" algn="l"/>
              </a:tabLst>
            </a:pPr>
            <a:r>
              <a:rPr dirty="0" sz="2800" spc="-35">
                <a:solidFill>
                  <a:srgbClr val="001F5F"/>
                </a:solidFill>
                <a:latin typeface="黑体"/>
                <a:cs typeface="黑体"/>
              </a:rPr>
              <a:t>注意：寄存器</a:t>
            </a:r>
            <a:r>
              <a:rPr dirty="0" sz="2800" spc="-40">
                <a:solidFill>
                  <a:srgbClr val="9966FF"/>
                </a:solidFill>
                <a:latin typeface="黑体"/>
                <a:cs typeface="黑体"/>
              </a:rPr>
              <a:t>换名</a:t>
            </a:r>
            <a:r>
              <a:rPr dirty="0" sz="2800" spc="-35">
                <a:solidFill>
                  <a:srgbClr val="001F5F"/>
                </a:solidFill>
                <a:latin typeface="黑体"/>
                <a:cs typeface="黑体"/>
              </a:rPr>
              <a:t>来消除乱序引起的</a:t>
            </a:r>
            <a:r>
              <a:rPr dirty="0" sz="2800" spc="-25">
                <a:solidFill>
                  <a:srgbClr val="D50092"/>
                </a:solidFill>
                <a:latin typeface="黑体"/>
                <a:cs typeface="黑体"/>
              </a:rPr>
              <a:t>WAR</a:t>
            </a:r>
            <a:r>
              <a:rPr dirty="0" sz="2800" spc="-35">
                <a:solidFill>
                  <a:srgbClr val="D50092"/>
                </a:solidFill>
                <a:latin typeface="黑体"/>
                <a:cs typeface="黑体"/>
              </a:rPr>
              <a:t>冲突</a:t>
            </a:r>
            <a:r>
              <a:rPr dirty="0" sz="2800" spc="-30">
                <a:solidFill>
                  <a:srgbClr val="001F5F"/>
                </a:solidFill>
                <a:latin typeface="黑体"/>
                <a:cs typeface="黑体"/>
              </a:rPr>
              <a:t>和</a:t>
            </a:r>
            <a:r>
              <a:rPr dirty="0" sz="2800" spc="-20">
                <a:solidFill>
                  <a:srgbClr val="D50092"/>
                </a:solidFill>
                <a:latin typeface="黑体"/>
                <a:cs typeface="黑体"/>
              </a:rPr>
              <a:t>WAW</a:t>
            </a:r>
            <a:r>
              <a:rPr dirty="0" sz="2800" spc="-45">
                <a:solidFill>
                  <a:srgbClr val="D50092"/>
                </a:solidFill>
                <a:latin typeface="黑体"/>
                <a:cs typeface="黑体"/>
              </a:rPr>
              <a:t>冲突</a:t>
            </a:r>
            <a:endParaRPr sz="2800">
              <a:latin typeface="黑体"/>
              <a:cs typeface="黑体"/>
            </a:endParaRPr>
          </a:p>
          <a:p>
            <a:pPr lvl="1" marL="1118870" indent="-457200">
              <a:lnSpc>
                <a:spcPct val="100000"/>
              </a:lnSpc>
              <a:spcBef>
                <a:spcPts val="1320"/>
              </a:spcBef>
              <a:buClr>
                <a:srgbClr val="4668F5"/>
              </a:buClr>
              <a:buSzPct val="70000"/>
              <a:buFont typeface="Wingdings"/>
              <a:buChar char=""/>
              <a:tabLst>
                <a:tab pos="1118870" algn="l"/>
              </a:tabLst>
            </a:pPr>
            <a:r>
              <a:rPr dirty="0" sz="2000" spc="-15" b="1">
                <a:solidFill>
                  <a:srgbClr val="FF5CFF"/>
                </a:solidFill>
                <a:latin typeface="宋体"/>
                <a:cs typeface="宋体"/>
              </a:rPr>
              <a:t>采用寄存器换名的解决方案：</a:t>
            </a:r>
            <a:endParaRPr sz="2000">
              <a:latin typeface="宋体"/>
              <a:cs typeface="宋体"/>
            </a:endParaRPr>
          </a:p>
          <a:p>
            <a:pPr lvl="2" marL="1701164" indent="-342900">
              <a:lnSpc>
                <a:spcPct val="100000"/>
              </a:lnSpc>
              <a:spcBef>
                <a:spcPts val="1530"/>
              </a:spcBef>
              <a:buClr>
                <a:srgbClr val="4668F5"/>
              </a:buClr>
              <a:buSzPct val="58333"/>
              <a:buFont typeface="Wingdings"/>
              <a:buChar char=""/>
              <a:tabLst>
                <a:tab pos="1701164" algn="l"/>
              </a:tabLst>
            </a:pPr>
            <a:r>
              <a:rPr dirty="0" sz="1800" spc="-10" b="1">
                <a:solidFill>
                  <a:srgbClr val="40458B"/>
                </a:solidFill>
                <a:latin typeface="宋体"/>
                <a:cs typeface="宋体"/>
              </a:rPr>
              <a:t>虽然修改寄存器名字但不改变程序的结果，因为</a:t>
            </a:r>
            <a:r>
              <a:rPr dirty="0" sz="1800" spc="-10" b="1">
                <a:solidFill>
                  <a:srgbClr val="40458B"/>
                </a:solidFill>
                <a:latin typeface="黑体"/>
                <a:cs typeface="黑体"/>
              </a:rPr>
              <a:t>WAW</a:t>
            </a:r>
            <a:r>
              <a:rPr dirty="0" sz="1800" spc="-10" b="1">
                <a:solidFill>
                  <a:srgbClr val="40458B"/>
                </a:solidFill>
                <a:latin typeface="宋体"/>
                <a:cs typeface="宋体"/>
              </a:rPr>
              <a:t>和</a:t>
            </a:r>
            <a:r>
              <a:rPr dirty="0" sz="1800" spc="-10" b="1">
                <a:solidFill>
                  <a:srgbClr val="40458B"/>
                </a:solidFill>
                <a:latin typeface="黑体"/>
                <a:cs typeface="黑体"/>
              </a:rPr>
              <a:t>WAR</a:t>
            </a:r>
            <a:r>
              <a:rPr dirty="0" sz="1800" spc="-15" b="1">
                <a:solidFill>
                  <a:srgbClr val="40458B"/>
                </a:solidFill>
                <a:latin typeface="宋体"/>
                <a:cs typeface="宋体"/>
              </a:rPr>
              <a:t>实际上不涉及寄存器间的数据流动，</a:t>
            </a:r>
            <a:endParaRPr sz="1800">
              <a:latin typeface="宋体"/>
              <a:cs typeface="宋体"/>
            </a:endParaRPr>
          </a:p>
          <a:p>
            <a:pPr marL="1701164">
              <a:lnSpc>
                <a:spcPct val="100000"/>
              </a:lnSpc>
              <a:spcBef>
                <a:spcPts val="1140"/>
              </a:spcBef>
            </a:pPr>
            <a:r>
              <a:rPr dirty="0" sz="1800" spc="-20" b="1">
                <a:solidFill>
                  <a:srgbClr val="40458B"/>
                </a:solidFill>
                <a:latin typeface="宋体"/>
                <a:cs typeface="宋体"/>
              </a:rPr>
              <a:t>这是与</a:t>
            </a:r>
            <a:r>
              <a:rPr dirty="0" sz="1800" spc="-10" b="1">
                <a:solidFill>
                  <a:srgbClr val="40458B"/>
                </a:solidFill>
                <a:latin typeface="黑体"/>
                <a:cs typeface="黑体"/>
              </a:rPr>
              <a:t>RAW</a:t>
            </a:r>
            <a:r>
              <a:rPr dirty="0" sz="1800" spc="-25" b="1">
                <a:solidFill>
                  <a:srgbClr val="40458B"/>
                </a:solidFill>
                <a:latin typeface="宋体"/>
                <a:cs typeface="宋体"/>
              </a:rPr>
              <a:t>的本质区别。</a:t>
            </a:r>
            <a:endParaRPr sz="1800">
              <a:latin typeface="宋体"/>
              <a:cs typeface="宋体"/>
            </a:endParaRPr>
          </a:p>
          <a:p>
            <a:pPr lvl="2" marL="1701164" marR="5080" indent="-342900">
              <a:lnSpc>
                <a:spcPct val="152800"/>
              </a:lnSpc>
              <a:spcBef>
                <a:spcPts val="434"/>
              </a:spcBef>
              <a:buClr>
                <a:srgbClr val="4668F5"/>
              </a:buClr>
              <a:buSzPct val="58333"/>
              <a:buFont typeface="Wingdings"/>
              <a:buChar char=""/>
              <a:tabLst>
                <a:tab pos="1701164" algn="l"/>
              </a:tabLst>
            </a:pPr>
            <a:r>
              <a:rPr dirty="0" sz="1800" spc="-10" b="1">
                <a:solidFill>
                  <a:srgbClr val="40458B"/>
                </a:solidFill>
                <a:latin typeface="黑体"/>
                <a:cs typeface="黑体"/>
              </a:rPr>
              <a:t>WAR</a:t>
            </a:r>
            <a:r>
              <a:rPr dirty="0" sz="1800" spc="-10" b="1">
                <a:solidFill>
                  <a:srgbClr val="40458B"/>
                </a:solidFill>
                <a:latin typeface="宋体"/>
                <a:cs typeface="宋体"/>
              </a:rPr>
              <a:t>和</a:t>
            </a:r>
            <a:r>
              <a:rPr dirty="0" sz="1800" spc="-10" b="1">
                <a:solidFill>
                  <a:srgbClr val="40458B"/>
                </a:solidFill>
                <a:latin typeface="黑体"/>
                <a:cs typeface="黑体"/>
              </a:rPr>
              <a:t>WAW</a:t>
            </a:r>
            <a:r>
              <a:rPr dirty="0" sz="1800" spc="-15" b="1">
                <a:solidFill>
                  <a:srgbClr val="40458B"/>
                </a:solidFill>
                <a:latin typeface="宋体"/>
                <a:cs typeface="宋体"/>
              </a:rPr>
              <a:t>没有真正的数据流动，对应相关以及产生的冒险实际上可以并行执行，但要想办法消除这种相关，这就引出了寄存器换名的解决方案。</a:t>
            </a:r>
            <a:endParaRPr sz="1800">
              <a:latin typeface="宋体"/>
              <a:cs typeface="宋体"/>
            </a:endParaRPr>
          </a:p>
          <a:p>
            <a:pPr lvl="2" marL="1701164" indent="-342900">
              <a:lnSpc>
                <a:spcPct val="100000"/>
              </a:lnSpc>
              <a:spcBef>
                <a:spcPts val="1575"/>
              </a:spcBef>
              <a:buClr>
                <a:srgbClr val="4668F5"/>
              </a:buClr>
              <a:buSzPct val="58333"/>
              <a:buFont typeface="Wingdings"/>
              <a:buChar char=""/>
              <a:tabLst>
                <a:tab pos="1701164" algn="l"/>
              </a:tabLst>
            </a:pPr>
            <a:r>
              <a:rPr dirty="0" sz="1800" spc="-20" b="1">
                <a:solidFill>
                  <a:srgbClr val="D50092"/>
                </a:solidFill>
                <a:latin typeface="宋体"/>
                <a:cs typeface="宋体"/>
              </a:rPr>
              <a:t>冒险</a:t>
            </a:r>
            <a:r>
              <a:rPr dirty="0" sz="1800" spc="-15" b="1">
                <a:solidFill>
                  <a:srgbClr val="40458B"/>
                </a:solidFill>
                <a:latin typeface="宋体"/>
                <a:cs typeface="宋体"/>
              </a:rPr>
              <a:t>：流水线中，下一条指令在某些情况下无法按照预期开始执行，这种情况称为冒险。</a:t>
            </a:r>
            <a:endParaRPr sz="1800">
              <a:latin typeface="宋体"/>
              <a:cs typeface="宋体"/>
            </a:endParaRPr>
          </a:p>
          <a:p>
            <a:pPr lvl="1" marL="1118870" indent="-457200">
              <a:lnSpc>
                <a:spcPct val="100000"/>
              </a:lnSpc>
              <a:spcBef>
                <a:spcPts val="1420"/>
              </a:spcBef>
              <a:buClr>
                <a:srgbClr val="4668F5"/>
              </a:buClr>
              <a:buSzPct val="70000"/>
              <a:buFont typeface="Wingdings"/>
              <a:buChar char=""/>
              <a:tabLst>
                <a:tab pos="1118870" algn="l"/>
              </a:tabLst>
            </a:pPr>
            <a:r>
              <a:rPr dirty="0" sz="2000" spc="-15" b="1">
                <a:solidFill>
                  <a:srgbClr val="FF5CFF"/>
                </a:solidFill>
                <a:latin typeface="宋体"/>
                <a:cs typeface="宋体"/>
              </a:rPr>
              <a:t>寄存器换名的真正原因</a:t>
            </a:r>
            <a:endParaRPr sz="2000">
              <a:latin typeface="宋体"/>
              <a:cs typeface="宋体"/>
            </a:endParaRPr>
          </a:p>
          <a:p>
            <a:pPr lvl="2" marL="1385570" indent="-381000">
              <a:lnSpc>
                <a:spcPct val="100000"/>
              </a:lnSpc>
              <a:spcBef>
                <a:spcPts val="1535"/>
              </a:spcBef>
              <a:buClr>
                <a:srgbClr val="9966FF"/>
              </a:buClr>
              <a:buSzPct val="63888"/>
              <a:buFont typeface="Wingdings"/>
              <a:buChar char=""/>
              <a:tabLst>
                <a:tab pos="1385570" algn="l"/>
              </a:tabLst>
            </a:pPr>
            <a:r>
              <a:rPr dirty="0" sz="1800" spc="-10" b="1">
                <a:solidFill>
                  <a:srgbClr val="40458B"/>
                </a:solidFill>
                <a:latin typeface="宋体"/>
                <a:cs typeface="宋体"/>
              </a:rPr>
              <a:t>产生</a:t>
            </a:r>
            <a:r>
              <a:rPr dirty="0" sz="1800" spc="-10" b="1">
                <a:solidFill>
                  <a:srgbClr val="40458B"/>
                </a:solidFill>
                <a:latin typeface="黑体"/>
                <a:cs typeface="黑体"/>
              </a:rPr>
              <a:t>WAW</a:t>
            </a:r>
            <a:r>
              <a:rPr dirty="0" sz="1800" spc="-10" b="1">
                <a:solidFill>
                  <a:srgbClr val="40458B"/>
                </a:solidFill>
                <a:latin typeface="宋体"/>
                <a:cs typeface="宋体"/>
              </a:rPr>
              <a:t>和</a:t>
            </a:r>
            <a:r>
              <a:rPr dirty="0" sz="1800" spc="-10" b="1">
                <a:solidFill>
                  <a:srgbClr val="40458B"/>
                </a:solidFill>
                <a:latin typeface="黑体"/>
                <a:cs typeface="黑体"/>
              </a:rPr>
              <a:t>WAR</a:t>
            </a:r>
            <a:r>
              <a:rPr dirty="0" sz="1800" spc="-15" b="1">
                <a:solidFill>
                  <a:srgbClr val="40458B"/>
                </a:solidFill>
                <a:latin typeface="宋体"/>
                <a:cs typeface="宋体"/>
              </a:rPr>
              <a:t>相关引起的冒险，因为处理器的逻辑寄存器数量不足</a:t>
            </a:r>
            <a:endParaRPr sz="1800">
              <a:latin typeface="宋体"/>
              <a:cs typeface="宋体"/>
            </a:endParaRPr>
          </a:p>
          <a:p>
            <a:pPr lvl="2" marL="1385570" indent="-381000">
              <a:lnSpc>
                <a:spcPct val="100000"/>
              </a:lnSpc>
              <a:spcBef>
                <a:spcPts val="1570"/>
              </a:spcBef>
              <a:buClr>
                <a:srgbClr val="9966FF"/>
              </a:buClr>
              <a:buSzPct val="63888"/>
              <a:buFont typeface="Wingdings"/>
              <a:buChar char=""/>
              <a:tabLst>
                <a:tab pos="1385570" algn="l"/>
              </a:tabLst>
            </a:pPr>
            <a:r>
              <a:rPr dirty="0" sz="1800" spc="-20" b="1">
                <a:solidFill>
                  <a:srgbClr val="40458B"/>
                </a:solidFill>
                <a:latin typeface="宋体"/>
                <a:cs typeface="宋体"/>
              </a:rPr>
              <a:t>逻辑寄存器被设计用来暂存执行结果，</a:t>
            </a:r>
            <a:r>
              <a:rPr dirty="0" sz="1800" spc="-10" b="1">
                <a:solidFill>
                  <a:srgbClr val="40458B"/>
                </a:solidFill>
                <a:latin typeface="黑体"/>
                <a:cs typeface="黑体"/>
              </a:rPr>
              <a:t>MIPS</a:t>
            </a:r>
            <a:r>
              <a:rPr dirty="0" sz="1800" spc="-25" b="1">
                <a:solidFill>
                  <a:srgbClr val="40458B"/>
                </a:solidFill>
                <a:latin typeface="宋体"/>
                <a:cs typeface="宋体"/>
              </a:rPr>
              <a:t>指令集中规定的逻辑寄存器有限</a:t>
            </a:r>
            <a:endParaRPr sz="1800">
              <a:latin typeface="宋体"/>
              <a:cs typeface="宋体"/>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59/175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3684904"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708151" y="827659"/>
            <a:ext cx="1092835" cy="391160"/>
          </a:xfrm>
          <a:prstGeom prst="rect">
            <a:avLst/>
          </a:prstGeom>
        </p:spPr>
        <p:txBody>
          <a:bodyPr wrap="square" lIns="0" tIns="12700" rIns="0" bIns="0" rtlCol="0" vert="horz">
            <a:spAutoFit/>
          </a:bodyPr>
          <a:lstStyle/>
          <a:p>
            <a:pPr marL="469900" indent="-457200">
              <a:lnSpc>
                <a:spcPct val="100000"/>
              </a:lnSpc>
              <a:spcBef>
                <a:spcPts val="100"/>
              </a:spcBef>
              <a:buSzPct val="89583"/>
              <a:buFont typeface="Wingdings"/>
              <a:buChar char=""/>
              <a:tabLst>
                <a:tab pos="469900" algn="l"/>
              </a:tabLst>
            </a:pPr>
            <a:r>
              <a:rPr dirty="0" sz="2400" spc="-25">
                <a:solidFill>
                  <a:srgbClr val="40458B"/>
                </a:solidFill>
                <a:latin typeface="黑体"/>
                <a:cs typeface="黑体"/>
              </a:rPr>
              <a:t>举例</a:t>
            </a:r>
            <a:endParaRPr sz="2400">
              <a:latin typeface="黑体"/>
              <a:cs typeface="黑体"/>
            </a:endParaRPr>
          </a:p>
        </p:txBody>
      </p:sp>
      <p:sp>
        <p:nvSpPr>
          <p:cNvPr id="11" name="object 11" descr=""/>
          <p:cNvSpPr txBox="1"/>
          <p:nvPr/>
        </p:nvSpPr>
        <p:spPr>
          <a:xfrm>
            <a:off x="2014220" y="522915"/>
            <a:ext cx="2004695" cy="1398270"/>
          </a:xfrm>
          <a:prstGeom prst="rect">
            <a:avLst/>
          </a:prstGeom>
        </p:spPr>
        <p:txBody>
          <a:bodyPr wrap="square" lIns="0" tIns="12700" rIns="0" bIns="0" rtlCol="0" vert="horz">
            <a:spAutoFit/>
          </a:bodyPr>
          <a:lstStyle/>
          <a:p>
            <a:pPr algn="just" marL="12700" marR="5080" indent="55880">
              <a:lnSpc>
                <a:spcPct val="150100"/>
              </a:lnSpc>
              <a:spcBef>
                <a:spcPts val="100"/>
              </a:spcBef>
            </a:pPr>
            <a:r>
              <a:rPr dirty="0" sz="2000" b="1">
                <a:solidFill>
                  <a:srgbClr val="40458B"/>
                </a:solidFill>
                <a:latin typeface="Calibri"/>
                <a:cs typeface="Calibri"/>
              </a:rPr>
              <a:t>DIV.D</a:t>
            </a:r>
            <a:r>
              <a:rPr dirty="0" sz="2000" spc="355" b="1">
                <a:solidFill>
                  <a:srgbClr val="40458B"/>
                </a:solidFill>
                <a:latin typeface="Calibri"/>
                <a:cs typeface="Calibri"/>
              </a:rPr>
              <a:t> </a:t>
            </a:r>
            <a:r>
              <a:rPr dirty="0" sz="2000" b="1">
                <a:solidFill>
                  <a:srgbClr val="FF0000"/>
                </a:solidFill>
                <a:latin typeface="Calibri"/>
                <a:cs typeface="Calibri"/>
              </a:rPr>
              <a:t>F10</a:t>
            </a:r>
            <a:r>
              <a:rPr dirty="0" sz="2000" b="1">
                <a:solidFill>
                  <a:srgbClr val="40458B"/>
                </a:solidFill>
                <a:latin typeface="Calibri"/>
                <a:cs typeface="Calibri"/>
              </a:rPr>
              <a:t>,</a:t>
            </a:r>
            <a:r>
              <a:rPr dirty="0" sz="2000" spc="320" b="1">
                <a:solidFill>
                  <a:srgbClr val="40458B"/>
                </a:solidFill>
                <a:latin typeface="Calibri"/>
                <a:cs typeface="Calibri"/>
              </a:rPr>
              <a:t> </a:t>
            </a:r>
            <a:r>
              <a:rPr dirty="0" sz="2000" b="1">
                <a:solidFill>
                  <a:srgbClr val="40458B"/>
                </a:solidFill>
                <a:latin typeface="Calibri"/>
                <a:cs typeface="Calibri"/>
              </a:rPr>
              <a:t>F0,</a:t>
            </a:r>
            <a:r>
              <a:rPr dirty="0" sz="2000" spc="-80" b="1">
                <a:solidFill>
                  <a:srgbClr val="40458B"/>
                </a:solidFill>
                <a:latin typeface="Calibri"/>
                <a:cs typeface="Calibri"/>
              </a:rPr>
              <a:t> </a:t>
            </a:r>
            <a:r>
              <a:rPr dirty="0" sz="2000" spc="-25" b="1">
                <a:solidFill>
                  <a:srgbClr val="40458B"/>
                </a:solidFill>
                <a:latin typeface="Calibri"/>
                <a:cs typeface="Calibri"/>
              </a:rPr>
              <a:t>F2 </a:t>
            </a:r>
            <a:r>
              <a:rPr dirty="0" sz="2000" b="1">
                <a:solidFill>
                  <a:srgbClr val="40458B"/>
                </a:solidFill>
                <a:latin typeface="Calibri"/>
                <a:cs typeface="Calibri"/>
              </a:rPr>
              <a:t>SUB.D</a:t>
            </a:r>
            <a:r>
              <a:rPr dirty="0" sz="2000" spc="430" b="1">
                <a:solidFill>
                  <a:srgbClr val="40458B"/>
                </a:solidFill>
                <a:latin typeface="Calibri"/>
                <a:cs typeface="Calibri"/>
              </a:rPr>
              <a:t> </a:t>
            </a:r>
            <a:r>
              <a:rPr dirty="0" sz="2000" b="1">
                <a:solidFill>
                  <a:srgbClr val="40458B"/>
                </a:solidFill>
                <a:latin typeface="Calibri"/>
                <a:cs typeface="Calibri"/>
              </a:rPr>
              <a:t>F4,</a:t>
            </a:r>
            <a:r>
              <a:rPr dirty="0" sz="2000" spc="430" b="1">
                <a:solidFill>
                  <a:srgbClr val="40458B"/>
                </a:solidFill>
                <a:latin typeface="Calibri"/>
                <a:cs typeface="Calibri"/>
              </a:rPr>
              <a:t> </a:t>
            </a:r>
            <a:r>
              <a:rPr dirty="0" sz="2000" b="1">
                <a:solidFill>
                  <a:srgbClr val="FF0000"/>
                </a:solidFill>
                <a:latin typeface="Calibri"/>
                <a:cs typeface="Calibri"/>
              </a:rPr>
              <a:t>F10</a:t>
            </a:r>
            <a:r>
              <a:rPr dirty="0" sz="2000" b="1">
                <a:solidFill>
                  <a:srgbClr val="40458B"/>
                </a:solidFill>
                <a:latin typeface="Calibri"/>
                <a:cs typeface="Calibri"/>
              </a:rPr>
              <a:t>,</a:t>
            </a:r>
            <a:r>
              <a:rPr dirty="0" sz="2000" spc="-45" b="1">
                <a:solidFill>
                  <a:srgbClr val="40458B"/>
                </a:solidFill>
                <a:latin typeface="Calibri"/>
                <a:cs typeface="Calibri"/>
              </a:rPr>
              <a:t> </a:t>
            </a:r>
            <a:r>
              <a:rPr dirty="0" sz="2000" spc="-25" b="1">
                <a:solidFill>
                  <a:srgbClr val="9933FF"/>
                </a:solidFill>
                <a:latin typeface="Calibri"/>
                <a:cs typeface="Calibri"/>
              </a:rPr>
              <a:t>F6 </a:t>
            </a:r>
            <a:r>
              <a:rPr dirty="0" sz="2000" b="1">
                <a:solidFill>
                  <a:srgbClr val="40458B"/>
                </a:solidFill>
                <a:latin typeface="Calibri"/>
                <a:cs typeface="Calibri"/>
              </a:rPr>
              <a:t>ADD.D</a:t>
            </a:r>
            <a:r>
              <a:rPr dirty="0" sz="2000" spc="420" b="1">
                <a:solidFill>
                  <a:srgbClr val="40458B"/>
                </a:solidFill>
                <a:latin typeface="Calibri"/>
                <a:cs typeface="Calibri"/>
              </a:rPr>
              <a:t> </a:t>
            </a:r>
            <a:r>
              <a:rPr dirty="0" sz="2000" b="1">
                <a:solidFill>
                  <a:srgbClr val="9933FF"/>
                </a:solidFill>
                <a:latin typeface="Calibri"/>
                <a:cs typeface="Calibri"/>
              </a:rPr>
              <a:t>F6</a:t>
            </a:r>
            <a:r>
              <a:rPr dirty="0" sz="2000" b="1">
                <a:solidFill>
                  <a:srgbClr val="40458B"/>
                </a:solidFill>
                <a:latin typeface="Calibri"/>
                <a:cs typeface="Calibri"/>
              </a:rPr>
              <a:t>,</a:t>
            </a:r>
            <a:r>
              <a:rPr dirty="0" sz="2000" spc="380" b="1">
                <a:solidFill>
                  <a:srgbClr val="40458B"/>
                </a:solidFill>
                <a:latin typeface="Calibri"/>
                <a:cs typeface="Calibri"/>
              </a:rPr>
              <a:t> </a:t>
            </a:r>
            <a:r>
              <a:rPr dirty="0" sz="2000" b="1">
                <a:solidFill>
                  <a:srgbClr val="40458B"/>
                </a:solidFill>
                <a:latin typeface="Calibri"/>
                <a:cs typeface="Calibri"/>
              </a:rPr>
              <a:t>F8,</a:t>
            </a:r>
            <a:r>
              <a:rPr dirty="0" sz="2000" spc="-35" b="1">
                <a:solidFill>
                  <a:srgbClr val="40458B"/>
                </a:solidFill>
                <a:latin typeface="Calibri"/>
                <a:cs typeface="Calibri"/>
              </a:rPr>
              <a:t> </a:t>
            </a:r>
            <a:r>
              <a:rPr dirty="0" sz="2000" spc="-25" b="1">
                <a:solidFill>
                  <a:srgbClr val="40458B"/>
                </a:solidFill>
                <a:latin typeface="Calibri"/>
                <a:cs typeface="Calibri"/>
              </a:rPr>
              <a:t>F14</a:t>
            </a:r>
            <a:endParaRPr sz="2000">
              <a:latin typeface="Calibri"/>
              <a:cs typeface="Calibri"/>
            </a:endParaRPr>
          </a:p>
        </p:txBody>
      </p:sp>
      <p:graphicFrame>
        <p:nvGraphicFramePr>
          <p:cNvPr id="12" name="object 12" descr=""/>
          <p:cNvGraphicFramePr>
            <a:graphicFrameLocks noGrp="1"/>
          </p:cNvGraphicFramePr>
          <p:nvPr/>
        </p:nvGraphicFramePr>
        <p:xfrm>
          <a:off x="433387" y="2444750"/>
          <a:ext cx="11466830" cy="1548765"/>
        </p:xfrm>
        <a:graphic>
          <a:graphicData uri="http://schemas.openxmlformats.org/drawingml/2006/table">
            <a:tbl>
              <a:tblPr firstRow="1" bandRow="1">
                <a:tableStyleId>{2D5ABB26-0587-4C30-8999-92F81FD0307C}</a:tableStyleId>
              </a:tblPr>
              <a:tblGrid>
                <a:gridCol w="3397250"/>
                <a:gridCol w="631825"/>
                <a:gridCol w="789939"/>
                <a:gridCol w="789939"/>
                <a:gridCol w="553085"/>
                <a:gridCol w="631825"/>
                <a:gridCol w="869315"/>
                <a:gridCol w="632459"/>
                <a:gridCol w="537209"/>
                <a:gridCol w="457200"/>
                <a:gridCol w="720725"/>
                <a:gridCol w="720725"/>
                <a:gridCol w="648970"/>
              </a:tblGrid>
              <a:tr h="370840">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50" b="1">
                          <a:solidFill>
                            <a:srgbClr val="40458B"/>
                          </a:solidFill>
                          <a:latin typeface="Tahoma"/>
                          <a:cs typeface="Tahoma"/>
                        </a:rPr>
                        <a:t>1</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50" b="1">
                          <a:solidFill>
                            <a:srgbClr val="40458B"/>
                          </a:solidFill>
                          <a:latin typeface="Tahoma"/>
                          <a:cs typeface="Tahoma"/>
                        </a:rPr>
                        <a:t>2</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50" b="1">
                          <a:solidFill>
                            <a:srgbClr val="40458B"/>
                          </a:solidFill>
                          <a:latin typeface="Tahoma"/>
                          <a:cs typeface="Tahoma"/>
                        </a:rPr>
                        <a:t>3</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50" b="1">
                          <a:solidFill>
                            <a:srgbClr val="40458B"/>
                          </a:solidFill>
                          <a:latin typeface="Tahoma"/>
                          <a:cs typeface="Tahoma"/>
                        </a:rPr>
                        <a:t>4</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50" b="1">
                          <a:solidFill>
                            <a:srgbClr val="40458B"/>
                          </a:solidFill>
                          <a:latin typeface="Tahoma"/>
                          <a:cs typeface="Tahoma"/>
                        </a:rPr>
                        <a:t>5</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50" b="1">
                          <a:solidFill>
                            <a:srgbClr val="40458B"/>
                          </a:solidFill>
                          <a:latin typeface="Tahoma"/>
                          <a:cs typeface="Tahoma"/>
                        </a:rPr>
                        <a:t>6</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50" b="1">
                          <a:solidFill>
                            <a:srgbClr val="40458B"/>
                          </a:solidFill>
                          <a:latin typeface="Tahoma"/>
                          <a:cs typeface="Tahoma"/>
                        </a:rPr>
                        <a:t>7</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50" b="1">
                          <a:solidFill>
                            <a:srgbClr val="40458B"/>
                          </a:solidFill>
                          <a:latin typeface="Tahoma"/>
                          <a:cs typeface="Tahoma"/>
                        </a:rPr>
                        <a:t>8</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50" b="1">
                          <a:solidFill>
                            <a:srgbClr val="40458B"/>
                          </a:solidFill>
                          <a:latin typeface="Tahoma"/>
                          <a:cs typeface="Tahoma"/>
                        </a:rPr>
                        <a:t>9</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25" b="1">
                          <a:solidFill>
                            <a:srgbClr val="40458B"/>
                          </a:solidFill>
                          <a:latin typeface="Tahoma"/>
                          <a:cs typeface="Tahoma"/>
                        </a:rPr>
                        <a:t>10</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25" b="1">
                          <a:solidFill>
                            <a:srgbClr val="40458B"/>
                          </a:solidFill>
                          <a:latin typeface="Tahoma"/>
                          <a:cs typeface="Tahoma"/>
                        </a:rPr>
                        <a:t>11</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710">
                        <a:lnSpc>
                          <a:spcPct val="100000"/>
                        </a:lnSpc>
                        <a:spcBef>
                          <a:spcPts val="355"/>
                        </a:spcBef>
                      </a:pPr>
                      <a:r>
                        <a:rPr dirty="0" sz="1800" spc="-25" b="1">
                          <a:solidFill>
                            <a:srgbClr val="40458B"/>
                          </a:solidFill>
                          <a:latin typeface="Tahoma"/>
                          <a:cs typeface="Tahoma"/>
                        </a:rPr>
                        <a:t>12</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r>
              <a:tr h="370840">
                <a:tc>
                  <a:txBody>
                    <a:bodyPr/>
                    <a:lstStyle/>
                    <a:p>
                      <a:pPr marL="91440">
                        <a:lnSpc>
                          <a:spcPct val="100000"/>
                        </a:lnSpc>
                        <a:spcBef>
                          <a:spcPts val="350"/>
                        </a:spcBef>
                        <a:tabLst>
                          <a:tab pos="805815" algn="l"/>
                          <a:tab pos="1389380" algn="l"/>
                        </a:tabLst>
                      </a:pPr>
                      <a:r>
                        <a:rPr dirty="0" sz="1800" spc="-10">
                          <a:solidFill>
                            <a:srgbClr val="40458B"/>
                          </a:solidFill>
                          <a:latin typeface="Tahoma"/>
                          <a:cs typeface="Tahoma"/>
                        </a:rPr>
                        <a:t>DIV.D</a:t>
                      </a:r>
                      <a:r>
                        <a:rPr dirty="0" sz="1800">
                          <a:solidFill>
                            <a:srgbClr val="40458B"/>
                          </a:solidFill>
                          <a:latin typeface="Tahoma"/>
                          <a:cs typeface="Tahoma"/>
                        </a:rPr>
                        <a:t>	</a:t>
                      </a:r>
                      <a:r>
                        <a:rPr dirty="0" sz="1800" spc="-20">
                          <a:solidFill>
                            <a:srgbClr val="FF0000"/>
                          </a:solidFill>
                          <a:latin typeface="Tahoma"/>
                          <a:cs typeface="Tahoma"/>
                        </a:rPr>
                        <a:t>F10</a:t>
                      </a:r>
                      <a:r>
                        <a:rPr dirty="0" sz="1800" spc="-20">
                          <a:solidFill>
                            <a:srgbClr val="40458B"/>
                          </a:solidFill>
                          <a:latin typeface="Tahoma"/>
                          <a:cs typeface="Tahoma"/>
                        </a:rPr>
                        <a:t>,</a:t>
                      </a:r>
                      <a:r>
                        <a:rPr dirty="0" sz="1800">
                          <a:solidFill>
                            <a:srgbClr val="40458B"/>
                          </a:solidFill>
                          <a:latin typeface="Tahoma"/>
                          <a:cs typeface="Tahoma"/>
                        </a:rPr>
                        <a:t>	F0,</a:t>
                      </a:r>
                      <a:r>
                        <a:rPr dirty="0" sz="1800" spc="-20">
                          <a:solidFill>
                            <a:srgbClr val="40458B"/>
                          </a:solidFill>
                          <a:latin typeface="Tahoma"/>
                          <a:cs typeface="Tahoma"/>
                        </a:rPr>
                        <a:t> </a:t>
                      </a:r>
                      <a:r>
                        <a:rPr dirty="0" sz="1800" spc="-25">
                          <a:solidFill>
                            <a:srgbClr val="40458B"/>
                          </a:solidFill>
                          <a:latin typeface="Tahoma"/>
                          <a:cs typeface="Tahoma"/>
                        </a:rPr>
                        <a:t>F2</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marL="92075">
                        <a:lnSpc>
                          <a:spcPct val="100000"/>
                        </a:lnSpc>
                        <a:spcBef>
                          <a:spcPts val="350"/>
                        </a:spcBef>
                      </a:pPr>
                      <a:r>
                        <a:rPr dirty="0" sz="1800" spc="-25">
                          <a:solidFill>
                            <a:srgbClr val="40458B"/>
                          </a:solidFill>
                          <a:latin typeface="Tahoma"/>
                          <a:cs typeface="Tahoma"/>
                        </a:rPr>
                        <a:t>IF</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marL="92075">
                        <a:lnSpc>
                          <a:spcPct val="100000"/>
                        </a:lnSpc>
                        <a:spcBef>
                          <a:spcPts val="350"/>
                        </a:spcBef>
                      </a:pPr>
                      <a:r>
                        <a:rPr dirty="0" sz="1800" spc="-25">
                          <a:solidFill>
                            <a:srgbClr val="40458B"/>
                          </a:solidFill>
                          <a:latin typeface="Tahoma"/>
                          <a:cs typeface="Tahoma"/>
                        </a:rPr>
                        <a:t>ID</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marL="92075">
                        <a:lnSpc>
                          <a:spcPct val="100000"/>
                        </a:lnSpc>
                        <a:spcBef>
                          <a:spcPts val="350"/>
                        </a:spcBef>
                      </a:pPr>
                      <a:r>
                        <a:rPr dirty="0" sz="1800" spc="-25">
                          <a:solidFill>
                            <a:srgbClr val="40458B"/>
                          </a:solidFill>
                          <a:latin typeface="Tahoma"/>
                          <a:cs typeface="Tahoma"/>
                        </a:rPr>
                        <a:t>EX</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marL="92075">
                        <a:lnSpc>
                          <a:spcPct val="100000"/>
                        </a:lnSpc>
                        <a:spcBef>
                          <a:spcPts val="350"/>
                        </a:spcBef>
                      </a:pPr>
                      <a:r>
                        <a:rPr dirty="0" sz="1800" spc="-25">
                          <a:solidFill>
                            <a:srgbClr val="40458B"/>
                          </a:solidFill>
                          <a:latin typeface="Tahoma"/>
                          <a:cs typeface="Tahoma"/>
                        </a:rPr>
                        <a:t>EX</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marL="92075">
                        <a:lnSpc>
                          <a:spcPct val="100000"/>
                        </a:lnSpc>
                        <a:spcBef>
                          <a:spcPts val="350"/>
                        </a:spcBef>
                      </a:pPr>
                      <a:r>
                        <a:rPr dirty="0" sz="1800" spc="-25">
                          <a:solidFill>
                            <a:srgbClr val="40458B"/>
                          </a:solidFill>
                          <a:latin typeface="Tahoma"/>
                          <a:cs typeface="Tahoma"/>
                        </a:rPr>
                        <a:t>EX</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marL="92075">
                        <a:lnSpc>
                          <a:spcPct val="100000"/>
                        </a:lnSpc>
                        <a:spcBef>
                          <a:spcPts val="350"/>
                        </a:spcBef>
                      </a:pPr>
                      <a:r>
                        <a:rPr dirty="0" sz="1800" spc="-25">
                          <a:solidFill>
                            <a:srgbClr val="40458B"/>
                          </a:solidFill>
                          <a:latin typeface="Tahoma"/>
                          <a:cs typeface="Tahoma"/>
                        </a:rPr>
                        <a:t>MEM</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marL="92075">
                        <a:lnSpc>
                          <a:spcPct val="100000"/>
                        </a:lnSpc>
                        <a:spcBef>
                          <a:spcPts val="350"/>
                        </a:spcBef>
                      </a:pPr>
                      <a:r>
                        <a:rPr dirty="0" sz="1800" spc="-25">
                          <a:solidFill>
                            <a:srgbClr val="40458B"/>
                          </a:solidFill>
                          <a:latin typeface="Tahoma"/>
                          <a:cs typeface="Tahoma"/>
                        </a:rPr>
                        <a:t>WB</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r>
              <a:tr h="441325">
                <a:tc>
                  <a:txBody>
                    <a:bodyPr/>
                    <a:lstStyle/>
                    <a:p>
                      <a:pPr marL="91440">
                        <a:lnSpc>
                          <a:spcPct val="100000"/>
                        </a:lnSpc>
                        <a:spcBef>
                          <a:spcPts val="265"/>
                        </a:spcBef>
                      </a:pPr>
                      <a:r>
                        <a:rPr dirty="0" sz="1800">
                          <a:solidFill>
                            <a:srgbClr val="40458B"/>
                          </a:solidFill>
                          <a:latin typeface="Calibri"/>
                          <a:cs typeface="Calibri"/>
                        </a:rPr>
                        <a:t>SUB.D</a:t>
                      </a:r>
                      <a:r>
                        <a:rPr dirty="0" sz="1800" spc="405">
                          <a:solidFill>
                            <a:srgbClr val="40458B"/>
                          </a:solidFill>
                          <a:latin typeface="Calibri"/>
                          <a:cs typeface="Calibri"/>
                        </a:rPr>
                        <a:t> </a:t>
                      </a:r>
                      <a:r>
                        <a:rPr dirty="0" sz="1800" b="1">
                          <a:solidFill>
                            <a:srgbClr val="40458B"/>
                          </a:solidFill>
                          <a:latin typeface="Calibri"/>
                          <a:cs typeface="Calibri"/>
                        </a:rPr>
                        <a:t>F4,</a:t>
                      </a:r>
                      <a:r>
                        <a:rPr dirty="0" sz="1800" spc="405" b="1">
                          <a:solidFill>
                            <a:srgbClr val="40458B"/>
                          </a:solidFill>
                          <a:latin typeface="Calibri"/>
                          <a:cs typeface="Calibri"/>
                        </a:rPr>
                        <a:t> </a:t>
                      </a:r>
                      <a:r>
                        <a:rPr dirty="0" sz="1800" b="1">
                          <a:solidFill>
                            <a:srgbClr val="FF0000"/>
                          </a:solidFill>
                          <a:latin typeface="Calibri"/>
                          <a:cs typeface="Calibri"/>
                        </a:rPr>
                        <a:t>F10</a:t>
                      </a:r>
                      <a:r>
                        <a:rPr dirty="0" sz="1800">
                          <a:solidFill>
                            <a:srgbClr val="40458B"/>
                          </a:solidFill>
                          <a:latin typeface="Calibri"/>
                          <a:cs typeface="Calibri"/>
                        </a:rPr>
                        <a:t>, </a:t>
                      </a:r>
                      <a:r>
                        <a:rPr dirty="0" sz="1800" spc="-25">
                          <a:solidFill>
                            <a:srgbClr val="9933FF"/>
                          </a:solidFill>
                          <a:latin typeface="Calibri"/>
                          <a:cs typeface="Calibri"/>
                        </a:rPr>
                        <a:t>F6</a:t>
                      </a:r>
                      <a:endParaRPr sz="1800">
                        <a:latin typeface="Calibri"/>
                        <a:cs typeface="Calibri"/>
                      </a:endParaRPr>
                    </a:p>
                  </a:txBody>
                  <a:tcPr marL="0" marR="0" marB="0" marT="33655">
                    <a:lnL w="12700">
                      <a:solidFill>
                        <a:srgbClr val="A0A0A0"/>
                      </a:solidFill>
                      <a:prstDash val="solid"/>
                    </a:lnL>
                    <a:lnR w="12700">
                      <a:solidFill>
                        <a:srgbClr val="A0A0A0"/>
                      </a:solidFill>
                      <a:prstDash val="solid"/>
                    </a:lnR>
                    <a:lnT w="12700">
                      <a:solidFill>
                        <a:srgbClr val="A0A0A0"/>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0"/>
                        </a:spcBef>
                      </a:pPr>
                      <a:r>
                        <a:rPr dirty="0" sz="1800" spc="-25">
                          <a:solidFill>
                            <a:srgbClr val="40458B"/>
                          </a:solidFill>
                          <a:latin typeface="Tahoma"/>
                          <a:cs typeface="Tahoma"/>
                        </a:rPr>
                        <a:t>IF</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0"/>
                        </a:spcBef>
                      </a:pPr>
                      <a:r>
                        <a:rPr dirty="0" sz="1800" spc="-50">
                          <a:solidFill>
                            <a:srgbClr val="40458B"/>
                          </a:solidFill>
                          <a:latin typeface="Tahoma"/>
                          <a:cs typeface="Tahoma"/>
                        </a:rPr>
                        <a:t>S</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0"/>
                        </a:spcBef>
                      </a:pPr>
                      <a:r>
                        <a:rPr dirty="0" sz="1800" spc="-50">
                          <a:solidFill>
                            <a:srgbClr val="40458B"/>
                          </a:solidFill>
                          <a:latin typeface="Tahoma"/>
                          <a:cs typeface="Tahoma"/>
                        </a:rPr>
                        <a:t>S</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0"/>
                        </a:spcBef>
                      </a:pPr>
                      <a:r>
                        <a:rPr dirty="0" sz="1800" spc="-50">
                          <a:solidFill>
                            <a:srgbClr val="40458B"/>
                          </a:solidFill>
                          <a:latin typeface="Tahoma"/>
                          <a:cs typeface="Tahoma"/>
                        </a:rPr>
                        <a:t>S</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0"/>
                        </a:spcBef>
                      </a:pPr>
                      <a:r>
                        <a:rPr dirty="0" sz="1800" spc="-50">
                          <a:solidFill>
                            <a:srgbClr val="40458B"/>
                          </a:solidFill>
                          <a:latin typeface="Tahoma"/>
                          <a:cs typeface="Tahoma"/>
                        </a:rPr>
                        <a:t>S</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0"/>
                        </a:spcBef>
                      </a:pPr>
                      <a:r>
                        <a:rPr dirty="0" sz="1800" spc="-50">
                          <a:solidFill>
                            <a:srgbClr val="40458B"/>
                          </a:solidFill>
                          <a:latin typeface="Tahoma"/>
                          <a:cs typeface="Tahoma"/>
                        </a:rPr>
                        <a:t>S</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0"/>
                        </a:spcBef>
                      </a:pPr>
                      <a:r>
                        <a:rPr dirty="0" sz="1800" spc="-25">
                          <a:solidFill>
                            <a:srgbClr val="40458B"/>
                          </a:solidFill>
                          <a:latin typeface="Tahoma"/>
                          <a:cs typeface="Tahoma"/>
                        </a:rPr>
                        <a:t>ID</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0"/>
                        </a:spcBef>
                      </a:pPr>
                      <a:r>
                        <a:rPr dirty="0" sz="1800" spc="-25">
                          <a:solidFill>
                            <a:srgbClr val="40458B"/>
                          </a:solidFill>
                          <a:latin typeface="Tahoma"/>
                          <a:cs typeface="Tahoma"/>
                        </a:rPr>
                        <a:t>EX</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0"/>
                        </a:spcBef>
                      </a:pPr>
                      <a:r>
                        <a:rPr dirty="0" sz="1800" spc="-25">
                          <a:solidFill>
                            <a:srgbClr val="40458B"/>
                          </a:solidFill>
                          <a:latin typeface="Tahoma"/>
                          <a:cs typeface="Tahoma"/>
                        </a:rPr>
                        <a:t>MEM</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0"/>
                        </a:spcBef>
                      </a:pPr>
                      <a:r>
                        <a:rPr dirty="0" sz="1800" spc="-25">
                          <a:solidFill>
                            <a:srgbClr val="40458B"/>
                          </a:solidFill>
                          <a:latin typeface="Tahoma"/>
                          <a:cs typeface="Tahoma"/>
                        </a:rPr>
                        <a:t>WB</a:t>
                      </a:r>
                      <a:endParaRPr sz="1800">
                        <a:latin typeface="Tahoma"/>
                        <a:cs typeface="Tahoma"/>
                      </a:endParaRPr>
                    </a:p>
                  </a:txBody>
                  <a:tcPr marL="0" marR="0" marB="0" marT="44450">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r>
              <a:tr h="365760">
                <a:tc>
                  <a:txBody>
                    <a:bodyPr/>
                    <a:lstStyle/>
                    <a:p>
                      <a:pPr marL="91440">
                        <a:lnSpc>
                          <a:spcPct val="100000"/>
                        </a:lnSpc>
                        <a:spcBef>
                          <a:spcPts val="270"/>
                        </a:spcBef>
                      </a:pPr>
                      <a:r>
                        <a:rPr dirty="0" sz="1800">
                          <a:solidFill>
                            <a:srgbClr val="40458B"/>
                          </a:solidFill>
                          <a:latin typeface="Calibri"/>
                          <a:cs typeface="Calibri"/>
                        </a:rPr>
                        <a:t>ADD.D</a:t>
                      </a:r>
                      <a:r>
                        <a:rPr dirty="0" sz="1800" spc="370">
                          <a:solidFill>
                            <a:srgbClr val="40458B"/>
                          </a:solidFill>
                          <a:latin typeface="Calibri"/>
                          <a:cs typeface="Calibri"/>
                        </a:rPr>
                        <a:t> </a:t>
                      </a:r>
                      <a:r>
                        <a:rPr dirty="0" sz="1800">
                          <a:solidFill>
                            <a:srgbClr val="9933FF"/>
                          </a:solidFill>
                          <a:latin typeface="Calibri"/>
                          <a:cs typeface="Calibri"/>
                        </a:rPr>
                        <a:t>F6</a:t>
                      </a:r>
                      <a:r>
                        <a:rPr dirty="0" sz="1800">
                          <a:solidFill>
                            <a:srgbClr val="40458B"/>
                          </a:solidFill>
                          <a:latin typeface="Calibri"/>
                          <a:cs typeface="Calibri"/>
                        </a:rPr>
                        <a:t>,</a:t>
                      </a:r>
                      <a:r>
                        <a:rPr dirty="0" sz="1800" spc="370">
                          <a:solidFill>
                            <a:srgbClr val="40458B"/>
                          </a:solidFill>
                          <a:latin typeface="Calibri"/>
                          <a:cs typeface="Calibri"/>
                        </a:rPr>
                        <a:t> </a:t>
                      </a:r>
                      <a:r>
                        <a:rPr dirty="0" sz="1800">
                          <a:solidFill>
                            <a:srgbClr val="40458B"/>
                          </a:solidFill>
                          <a:latin typeface="Calibri"/>
                          <a:cs typeface="Calibri"/>
                        </a:rPr>
                        <a:t>F8,</a:t>
                      </a:r>
                      <a:r>
                        <a:rPr dirty="0" sz="1800" spc="-15">
                          <a:solidFill>
                            <a:srgbClr val="40458B"/>
                          </a:solidFill>
                          <a:latin typeface="Calibri"/>
                          <a:cs typeface="Calibri"/>
                        </a:rPr>
                        <a:t> </a:t>
                      </a:r>
                      <a:r>
                        <a:rPr dirty="0" sz="1800" spc="-25">
                          <a:solidFill>
                            <a:srgbClr val="40458B"/>
                          </a:solidFill>
                          <a:latin typeface="Calibri"/>
                          <a:cs typeface="Calibri"/>
                        </a:rPr>
                        <a:t>F14</a:t>
                      </a:r>
                      <a:endParaRPr sz="1800">
                        <a:latin typeface="Calibri"/>
                        <a:cs typeface="Calibri"/>
                      </a:endParaRPr>
                    </a:p>
                  </a:txBody>
                  <a:tcPr marL="0" marR="0" marB="0" marT="34290">
                    <a:lnL w="12700">
                      <a:solidFill>
                        <a:srgbClr val="A0A0A0"/>
                      </a:solidFill>
                      <a:prstDash val="solid"/>
                    </a:lnL>
                    <a:lnR w="12700">
                      <a:solidFill>
                        <a:srgbClr val="A0A0A0"/>
                      </a:solidFill>
                      <a:prstDash val="solid"/>
                    </a:lnR>
                    <a:lnT w="12700">
                      <a:solidFill>
                        <a:srgbClr val="A0A0A0"/>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marL="92075">
                        <a:lnSpc>
                          <a:spcPct val="100000"/>
                        </a:lnSpc>
                        <a:spcBef>
                          <a:spcPts val="355"/>
                        </a:spcBef>
                      </a:pPr>
                      <a:r>
                        <a:rPr dirty="0" sz="1800" spc="-25">
                          <a:solidFill>
                            <a:srgbClr val="40458B"/>
                          </a:solidFill>
                          <a:latin typeface="Tahoma"/>
                          <a:cs typeface="Tahoma"/>
                        </a:rPr>
                        <a:t>IF</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marL="92075">
                        <a:lnSpc>
                          <a:spcPct val="100000"/>
                        </a:lnSpc>
                        <a:spcBef>
                          <a:spcPts val="355"/>
                        </a:spcBef>
                      </a:pPr>
                      <a:r>
                        <a:rPr dirty="0" sz="1800" spc="-25">
                          <a:solidFill>
                            <a:srgbClr val="40458B"/>
                          </a:solidFill>
                          <a:latin typeface="Tahoma"/>
                          <a:cs typeface="Tahoma"/>
                        </a:rPr>
                        <a:t>ID</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marL="92075">
                        <a:lnSpc>
                          <a:spcPct val="100000"/>
                        </a:lnSpc>
                        <a:spcBef>
                          <a:spcPts val="355"/>
                        </a:spcBef>
                      </a:pPr>
                      <a:r>
                        <a:rPr dirty="0" sz="1800" spc="-25">
                          <a:solidFill>
                            <a:srgbClr val="40458B"/>
                          </a:solidFill>
                          <a:latin typeface="Tahoma"/>
                          <a:cs typeface="Tahoma"/>
                        </a:rPr>
                        <a:t>EX</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marL="92075">
                        <a:lnSpc>
                          <a:spcPct val="100000"/>
                        </a:lnSpc>
                        <a:spcBef>
                          <a:spcPts val="355"/>
                        </a:spcBef>
                      </a:pPr>
                      <a:r>
                        <a:rPr dirty="0" sz="1800" spc="-25">
                          <a:solidFill>
                            <a:srgbClr val="40458B"/>
                          </a:solidFill>
                          <a:latin typeface="Tahoma"/>
                          <a:cs typeface="Tahoma"/>
                        </a:rPr>
                        <a:t>MEM</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solidFill>
                      <a:srgbClr val="A0A0A0">
                        <a:alpha val="19999"/>
                      </a:srgbClr>
                    </a:solidFill>
                  </a:tcPr>
                </a:tc>
                <a:tc>
                  <a:txBody>
                    <a:bodyPr/>
                    <a:lstStyle/>
                    <a:p>
                      <a:pPr marL="92710">
                        <a:lnSpc>
                          <a:spcPct val="100000"/>
                        </a:lnSpc>
                        <a:spcBef>
                          <a:spcPts val="355"/>
                        </a:spcBef>
                      </a:pPr>
                      <a:r>
                        <a:rPr dirty="0" sz="1800" spc="-25">
                          <a:solidFill>
                            <a:srgbClr val="40458B"/>
                          </a:solidFill>
                          <a:latin typeface="Tahoma"/>
                          <a:cs typeface="Tahoma"/>
                        </a:rPr>
                        <a:t>WB</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solidFill>
                      <a:srgbClr val="A0A0A0">
                        <a:alpha val="19999"/>
                      </a:srgbClr>
                    </a:solidFill>
                  </a:tcPr>
                </a:tc>
              </a:tr>
            </a:tbl>
          </a:graphicData>
        </a:graphic>
      </p:graphicFrame>
      <p:sp>
        <p:nvSpPr>
          <p:cNvPr id="13" name="object 13" descr=""/>
          <p:cNvSpPr txBox="1"/>
          <p:nvPr/>
        </p:nvSpPr>
        <p:spPr>
          <a:xfrm>
            <a:off x="599033" y="2077338"/>
            <a:ext cx="3101340" cy="360680"/>
          </a:xfrm>
          <a:prstGeom prst="rect">
            <a:avLst/>
          </a:prstGeom>
        </p:spPr>
        <p:txBody>
          <a:bodyPr wrap="square" lIns="0" tIns="12065" rIns="0" bIns="0" rtlCol="0" vert="horz">
            <a:spAutoFit/>
          </a:bodyPr>
          <a:lstStyle/>
          <a:p>
            <a:pPr marL="12700">
              <a:lnSpc>
                <a:spcPct val="100000"/>
              </a:lnSpc>
              <a:spcBef>
                <a:spcPts val="95"/>
              </a:spcBef>
            </a:pPr>
            <a:r>
              <a:rPr dirty="0" sz="2200" spc="-35">
                <a:solidFill>
                  <a:srgbClr val="FF0000"/>
                </a:solidFill>
                <a:latin typeface="黑体"/>
                <a:cs typeface="黑体"/>
              </a:rPr>
              <a:t>传统流水线，无动态调度</a:t>
            </a:r>
            <a:endParaRPr sz="2200">
              <a:latin typeface="黑体"/>
              <a:cs typeface="黑体"/>
            </a:endParaRPr>
          </a:p>
        </p:txBody>
      </p:sp>
      <p:sp>
        <p:nvSpPr>
          <p:cNvPr id="14" name="object 14" descr=""/>
          <p:cNvSpPr/>
          <p:nvPr/>
        </p:nvSpPr>
        <p:spPr>
          <a:xfrm>
            <a:off x="7201789" y="4800600"/>
            <a:ext cx="0" cy="1560830"/>
          </a:xfrm>
          <a:custGeom>
            <a:avLst/>
            <a:gdLst/>
            <a:ahLst/>
            <a:cxnLst/>
            <a:rect l="l" t="t" r="r" b="b"/>
            <a:pathLst>
              <a:path w="0" h="1560829">
                <a:moveTo>
                  <a:pt x="0" y="0"/>
                </a:moveTo>
                <a:lnTo>
                  <a:pt x="0" y="1560512"/>
                </a:lnTo>
              </a:path>
            </a:pathLst>
          </a:custGeom>
          <a:ln w="12700">
            <a:solidFill>
              <a:srgbClr val="A0A0A0"/>
            </a:solidFill>
          </a:ln>
        </p:spPr>
        <p:txBody>
          <a:bodyPr wrap="square" lIns="0" tIns="0" rIns="0" bIns="0" rtlCol="0"/>
          <a:lstStyle/>
          <a:p/>
        </p:txBody>
      </p:sp>
      <p:sp>
        <p:nvSpPr>
          <p:cNvPr id="15" name="object 15" descr=""/>
          <p:cNvSpPr/>
          <p:nvPr/>
        </p:nvSpPr>
        <p:spPr>
          <a:xfrm>
            <a:off x="8702802" y="4800600"/>
            <a:ext cx="0" cy="1560830"/>
          </a:xfrm>
          <a:custGeom>
            <a:avLst/>
            <a:gdLst/>
            <a:ahLst/>
            <a:cxnLst/>
            <a:rect l="l" t="t" r="r" b="b"/>
            <a:pathLst>
              <a:path w="0" h="1560829">
                <a:moveTo>
                  <a:pt x="0" y="0"/>
                </a:moveTo>
                <a:lnTo>
                  <a:pt x="0" y="1560512"/>
                </a:lnTo>
              </a:path>
            </a:pathLst>
          </a:custGeom>
          <a:ln w="12700">
            <a:solidFill>
              <a:srgbClr val="A0A0A0"/>
            </a:solidFill>
          </a:ln>
        </p:spPr>
        <p:txBody>
          <a:bodyPr wrap="square" lIns="0" tIns="0" rIns="0" bIns="0" rtlCol="0"/>
          <a:lstStyle/>
          <a:p/>
        </p:txBody>
      </p:sp>
      <p:graphicFrame>
        <p:nvGraphicFramePr>
          <p:cNvPr id="16" name="object 16" descr=""/>
          <p:cNvGraphicFramePr>
            <a:graphicFrameLocks noGrp="1"/>
          </p:cNvGraphicFramePr>
          <p:nvPr/>
        </p:nvGraphicFramePr>
        <p:xfrm>
          <a:off x="401637" y="4800600"/>
          <a:ext cx="11464925" cy="1546225"/>
        </p:xfrm>
        <a:graphic>
          <a:graphicData uri="http://schemas.openxmlformats.org/drawingml/2006/table">
            <a:tbl>
              <a:tblPr firstRow="1" bandRow="1">
                <a:tableStyleId>{2D5ABB26-0587-4C30-8999-92F81FD0307C}</a:tableStyleId>
              </a:tblPr>
              <a:tblGrid>
                <a:gridCol w="3397250"/>
                <a:gridCol w="632460"/>
                <a:gridCol w="790575"/>
                <a:gridCol w="790575"/>
                <a:gridCol w="553720"/>
                <a:gridCol w="539114"/>
                <a:gridCol w="962659"/>
                <a:gridCol w="481329"/>
                <a:gridCol w="687704"/>
                <a:gridCol w="457200"/>
                <a:gridCol w="720725"/>
                <a:gridCol w="720725"/>
                <a:gridCol w="648970"/>
              </a:tblGrid>
              <a:tr h="370205">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1440">
                        <a:lnSpc>
                          <a:spcPct val="100000"/>
                        </a:lnSpc>
                        <a:spcBef>
                          <a:spcPts val="355"/>
                        </a:spcBef>
                      </a:pPr>
                      <a:r>
                        <a:rPr dirty="0" sz="1800" spc="-50" b="1">
                          <a:solidFill>
                            <a:srgbClr val="40458B"/>
                          </a:solidFill>
                          <a:latin typeface="Tahoma"/>
                          <a:cs typeface="Tahoma"/>
                        </a:rPr>
                        <a:t>1</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1440">
                        <a:lnSpc>
                          <a:spcPct val="100000"/>
                        </a:lnSpc>
                        <a:spcBef>
                          <a:spcPts val="355"/>
                        </a:spcBef>
                      </a:pPr>
                      <a:r>
                        <a:rPr dirty="0" sz="1800" spc="-50" b="1">
                          <a:solidFill>
                            <a:srgbClr val="40458B"/>
                          </a:solidFill>
                          <a:latin typeface="Tahoma"/>
                          <a:cs typeface="Tahoma"/>
                        </a:rPr>
                        <a:t>2</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50" b="1">
                          <a:solidFill>
                            <a:srgbClr val="40458B"/>
                          </a:solidFill>
                          <a:latin typeface="Tahoma"/>
                          <a:cs typeface="Tahoma"/>
                        </a:rPr>
                        <a:t>3</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50" b="1">
                          <a:solidFill>
                            <a:srgbClr val="40458B"/>
                          </a:solidFill>
                          <a:latin typeface="Tahoma"/>
                          <a:cs typeface="Tahoma"/>
                        </a:rPr>
                        <a:t>4</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50" b="1">
                          <a:solidFill>
                            <a:srgbClr val="40458B"/>
                          </a:solidFill>
                          <a:latin typeface="Tahoma"/>
                          <a:cs typeface="Tahoma"/>
                        </a:rPr>
                        <a:t>5</a:t>
                      </a:r>
                      <a:endParaRPr sz="1800">
                        <a:latin typeface="Tahoma"/>
                        <a:cs typeface="Tahoma"/>
                      </a:endParaRPr>
                    </a:p>
                  </a:txBody>
                  <a:tcPr marL="0" marR="0" marB="0" marT="45085">
                    <a:lnL w="12700">
                      <a:solidFill>
                        <a:srgbClr val="A0A0A0"/>
                      </a:solidFill>
                      <a:prstDash val="solid"/>
                    </a:lnL>
                    <a:lnT w="12700">
                      <a:solidFill>
                        <a:srgbClr val="A0A0A0"/>
                      </a:solidFill>
                      <a:prstDash val="solid"/>
                    </a:lnT>
                    <a:lnB w="28575">
                      <a:solidFill>
                        <a:srgbClr val="A0A0A0"/>
                      </a:solidFill>
                      <a:prstDash val="solid"/>
                    </a:lnB>
                  </a:tcPr>
                </a:tc>
                <a:tc>
                  <a:txBody>
                    <a:bodyPr/>
                    <a:lstStyle/>
                    <a:p>
                      <a:pPr marL="185420">
                        <a:lnSpc>
                          <a:spcPct val="100000"/>
                        </a:lnSpc>
                        <a:spcBef>
                          <a:spcPts val="355"/>
                        </a:spcBef>
                      </a:pPr>
                      <a:r>
                        <a:rPr dirty="0" sz="1800" spc="-50" b="1">
                          <a:solidFill>
                            <a:srgbClr val="40458B"/>
                          </a:solidFill>
                          <a:latin typeface="Tahoma"/>
                          <a:cs typeface="Tahoma"/>
                        </a:rPr>
                        <a:t>6</a:t>
                      </a:r>
                      <a:endParaRPr sz="1800">
                        <a:latin typeface="Tahoma"/>
                        <a:cs typeface="Tahoma"/>
                      </a:endParaRPr>
                    </a:p>
                  </a:txBody>
                  <a:tcPr marL="0" marR="0" marB="0" marT="45085">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50" b="1">
                          <a:solidFill>
                            <a:srgbClr val="40458B"/>
                          </a:solidFill>
                          <a:latin typeface="Tahoma"/>
                          <a:cs typeface="Tahoma"/>
                        </a:rPr>
                        <a:t>7</a:t>
                      </a:r>
                      <a:endParaRPr sz="1800">
                        <a:latin typeface="Tahoma"/>
                        <a:cs typeface="Tahoma"/>
                      </a:endParaRPr>
                    </a:p>
                  </a:txBody>
                  <a:tcPr marL="0" marR="0" marB="0" marT="45085">
                    <a:lnL w="12700">
                      <a:solidFill>
                        <a:srgbClr val="A0A0A0"/>
                      </a:solidFill>
                      <a:prstDash val="solid"/>
                    </a:lnL>
                    <a:lnT w="12700">
                      <a:solidFill>
                        <a:srgbClr val="A0A0A0"/>
                      </a:solidFill>
                      <a:prstDash val="solid"/>
                    </a:lnT>
                    <a:lnB w="28575">
                      <a:solidFill>
                        <a:srgbClr val="A0A0A0"/>
                      </a:solidFill>
                      <a:prstDash val="solid"/>
                    </a:lnB>
                  </a:tcPr>
                </a:tc>
                <a:tc>
                  <a:txBody>
                    <a:bodyPr/>
                    <a:lstStyle/>
                    <a:p>
                      <a:pPr marL="243204">
                        <a:lnSpc>
                          <a:spcPct val="100000"/>
                        </a:lnSpc>
                        <a:spcBef>
                          <a:spcPts val="355"/>
                        </a:spcBef>
                      </a:pPr>
                      <a:r>
                        <a:rPr dirty="0" sz="1800" spc="-50" b="1">
                          <a:solidFill>
                            <a:srgbClr val="40458B"/>
                          </a:solidFill>
                          <a:latin typeface="Tahoma"/>
                          <a:cs typeface="Tahoma"/>
                        </a:rPr>
                        <a:t>8</a:t>
                      </a:r>
                      <a:endParaRPr sz="1800">
                        <a:latin typeface="Tahoma"/>
                        <a:cs typeface="Tahoma"/>
                      </a:endParaRPr>
                    </a:p>
                  </a:txBody>
                  <a:tcPr marL="0" marR="0" marB="0" marT="45085">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50" b="1">
                          <a:solidFill>
                            <a:srgbClr val="40458B"/>
                          </a:solidFill>
                          <a:latin typeface="Tahoma"/>
                          <a:cs typeface="Tahoma"/>
                        </a:rPr>
                        <a:t>9</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25" b="1">
                          <a:solidFill>
                            <a:srgbClr val="40458B"/>
                          </a:solidFill>
                          <a:latin typeface="Tahoma"/>
                          <a:cs typeface="Tahoma"/>
                        </a:rPr>
                        <a:t>10</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075">
                        <a:lnSpc>
                          <a:spcPct val="100000"/>
                        </a:lnSpc>
                        <a:spcBef>
                          <a:spcPts val="355"/>
                        </a:spcBef>
                      </a:pPr>
                      <a:r>
                        <a:rPr dirty="0" sz="1800" spc="-25" b="1">
                          <a:solidFill>
                            <a:srgbClr val="40458B"/>
                          </a:solidFill>
                          <a:latin typeface="Tahoma"/>
                          <a:cs typeface="Tahoma"/>
                        </a:rPr>
                        <a:t>11</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c>
                  <a:txBody>
                    <a:bodyPr/>
                    <a:lstStyle/>
                    <a:p>
                      <a:pPr marL="92710">
                        <a:lnSpc>
                          <a:spcPct val="100000"/>
                        </a:lnSpc>
                        <a:spcBef>
                          <a:spcPts val="355"/>
                        </a:spcBef>
                      </a:pPr>
                      <a:r>
                        <a:rPr dirty="0" sz="1800" spc="-25" b="1">
                          <a:solidFill>
                            <a:srgbClr val="40458B"/>
                          </a:solidFill>
                          <a:latin typeface="Tahoma"/>
                          <a:cs typeface="Tahoma"/>
                        </a:rPr>
                        <a:t>12</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28575">
                      <a:solidFill>
                        <a:srgbClr val="A0A0A0"/>
                      </a:solidFill>
                      <a:prstDash val="solid"/>
                    </a:lnB>
                  </a:tcPr>
                </a:tc>
              </a:tr>
              <a:tr h="370205">
                <a:tc>
                  <a:txBody>
                    <a:bodyPr/>
                    <a:lstStyle/>
                    <a:p>
                      <a:pPr marL="91440">
                        <a:lnSpc>
                          <a:spcPct val="100000"/>
                        </a:lnSpc>
                        <a:spcBef>
                          <a:spcPts val="355"/>
                        </a:spcBef>
                        <a:tabLst>
                          <a:tab pos="805815" algn="l"/>
                          <a:tab pos="1389380" algn="l"/>
                        </a:tabLst>
                      </a:pPr>
                      <a:r>
                        <a:rPr dirty="0" sz="1800" spc="-10">
                          <a:solidFill>
                            <a:srgbClr val="40458B"/>
                          </a:solidFill>
                          <a:latin typeface="Tahoma"/>
                          <a:cs typeface="Tahoma"/>
                        </a:rPr>
                        <a:t>DIV.D</a:t>
                      </a:r>
                      <a:r>
                        <a:rPr dirty="0" sz="1800">
                          <a:solidFill>
                            <a:srgbClr val="40458B"/>
                          </a:solidFill>
                          <a:latin typeface="Tahoma"/>
                          <a:cs typeface="Tahoma"/>
                        </a:rPr>
                        <a:t>	</a:t>
                      </a:r>
                      <a:r>
                        <a:rPr dirty="0" sz="1800" spc="-20">
                          <a:solidFill>
                            <a:srgbClr val="FF0000"/>
                          </a:solidFill>
                          <a:latin typeface="Tahoma"/>
                          <a:cs typeface="Tahoma"/>
                        </a:rPr>
                        <a:t>F10</a:t>
                      </a:r>
                      <a:r>
                        <a:rPr dirty="0" sz="1800" spc="-20">
                          <a:solidFill>
                            <a:srgbClr val="40458B"/>
                          </a:solidFill>
                          <a:latin typeface="Tahoma"/>
                          <a:cs typeface="Tahoma"/>
                        </a:rPr>
                        <a:t>,</a:t>
                      </a:r>
                      <a:r>
                        <a:rPr dirty="0" sz="1800">
                          <a:solidFill>
                            <a:srgbClr val="40458B"/>
                          </a:solidFill>
                          <a:latin typeface="Tahoma"/>
                          <a:cs typeface="Tahoma"/>
                        </a:rPr>
                        <a:t>	F0,</a:t>
                      </a:r>
                      <a:r>
                        <a:rPr dirty="0" sz="1800" spc="-25">
                          <a:solidFill>
                            <a:srgbClr val="40458B"/>
                          </a:solidFill>
                          <a:latin typeface="Tahoma"/>
                          <a:cs typeface="Tahoma"/>
                        </a:rPr>
                        <a:t> F2</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marL="91440">
                        <a:lnSpc>
                          <a:spcPct val="100000"/>
                        </a:lnSpc>
                        <a:spcBef>
                          <a:spcPts val="355"/>
                        </a:spcBef>
                      </a:pPr>
                      <a:r>
                        <a:rPr dirty="0" sz="1800" spc="-25">
                          <a:solidFill>
                            <a:srgbClr val="40458B"/>
                          </a:solidFill>
                          <a:latin typeface="Tahoma"/>
                          <a:cs typeface="Tahoma"/>
                        </a:rPr>
                        <a:t>IF</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marL="91440">
                        <a:lnSpc>
                          <a:spcPct val="100000"/>
                        </a:lnSpc>
                        <a:spcBef>
                          <a:spcPts val="355"/>
                        </a:spcBef>
                      </a:pPr>
                      <a:r>
                        <a:rPr dirty="0" sz="1800" spc="-25">
                          <a:solidFill>
                            <a:srgbClr val="40458B"/>
                          </a:solidFill>
                          <a:latin typeface="Tahoma"/>
                          <a:cs typeface="Tahoma"/>
                        </a:rPr>
                        <a:t>ID</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marL="92075">
                        <a:lnSpc>
                          <a:spcPct val="100000"/>
                        </a:lnSpc>
                        <a:spcBef>
                          <a:spcPts val="355"/>
                        </a:spcBef>
                      </a:pPr>
                      <a:r>
                        <a:rPr dirty="0" sz="1800" spc="-25">
                          <a:solidFill>
                            <a:srgbClr val="40458B"/>
                          </a:solidFill>
                          <a:latin typeface="Tahoma"/>
                          <a:cs typeface="Tahoma"/>
                        </a:rPr>
                        <a:t>EX</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marL="92075">
                        <a:lnSpc>
                          <a:spcPct val="100000"/>
                        </a:lnSpc>
                        <a:spcBef>
                          <a:spcPts val="355"/>
                        </a:spcBef>
                      </a:pPr>
                      <a:r>
                        <a:rPr dirty="0" sz="1800" spc="-25">
                          <a:solidFill>
                            <a:srgbClr val="40458B"/>
                          </a:solidFill>
                          <a:latin typeface="Tahoma"/>
                          <a:cs typeface="Tahoma"/>
                        </a:rPr>
                        <a:t>EX</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marL="92075">
                        <a:lnSpc>
                          <a:spcPct val="100000"/>
                        </a:lnSpc>
                        <a:spcBef>
                          <a:spcPts val="355"/>
                        </a:spcBef>
                      </a:pPr>
                      <a:r>
                        <a:rPr dirty="0" sz="1800" spc="-25">
                          <a:solidFill>
                            <a:srgbClr val="40458B"/>
                          </a:solidFill>
                          <a:latin typeface="Tahoma"/>
                          <a:cs typeface="Tahoma"/>
                        </a:rPr>
                        <a:t>EX</a:t>
                      </a:r>
                      <a:endParaRPr sz="1800">
                        <a:latin typeface="Tahoma"/>
                        <a:cs typeface="Tahoma"/>
                      </a:endParaRPr>
                    </a:p>
                  </a:txBody>
                  <a:tcPr marL="0" marR="0" marB="0" marT="45085">
                    <a:lnL w="12700">
                      <a:solidFill>
                        <a:srgbClr val="A0A0A0"/>
                      </a:solidFill>
                      <a:prstDash val="solid"/>
                    </a:lnL>
                    <a:lnT w="28575">
                      <a:solidFill>
                        <a:srgbClr val="A0A0A0"/>
                      </a:solidFill>
                      <a:prstDash val="solid"/>
                    </a:lnT>
                    <a:lnB w="12700">
                      <a:solidFill>
                        <a:srgbClr val="A0A0A0"/>
                      </a:solidFill>
                      <a:prstDash val="solid"/>
                    </a:lnB>
                  </a:tcPr>
                </a:tc>
                <a:tc>
                  <a:txBody>
                    <a:bodyPr/>
                    <a:lstStyle/>
                    <a:p>
                      <a:pPr marL="185420">
                        <a:lnSpc>
                          <a:spcPct val="100000"/>
                        </a:lnSpc>
                        <a:spcBef>
                          <a:spcPts val="355"/>
                        </a:spcBef>
                      </a:pPr>
                      <a:r>
                        <a:rPr dirty="0" sz="1800" spc="-25">
                          <a:solidFill>
                            <a:srgbClr val="40458B"/>
                          </a:solidFill>
                          <a:latin typeface="Tahoma"/>
                          <a:cs typeface="Tahoma"/>
                        </a:rPr>
                        <a:t>MEM</a:t>
                      </a:r>
                      <a:endParaRPr sz="1800">
                        <a:latin typeface="Tahoma"/>
                        <a:cs typeface="Tahoma"/>
                      </a:endParaRPr>
                    </a:p>
                  </a:txBody>
                  <a:tcPr marL="0" marR="0" marB="0" marT="45085">
                    <a:lnR w="12700">
                      <a:solidFill>
                        <a:srgbClr val="A0A0A0"/>
                      </a:solidFill>
                      <a:prstDash val="solid"/>
                    </a:lnR>
                    <a:lnT w="28575">
                      <a:solidFill>
                        <a:srgbClr val="A0A0A0"/>
                      </a:solidFill>
                      <a:prstDash val="solid"/>
                    </a:lnT>
                    <a:lnB w="12700">
                      <a:solidFill>
                        <a:srgbClr val="A0A0A0"/>
                      </a:solidFill>
                      <a:prstDash val="solid"/>
                    </a:lnB>
                  </a:tcPr>
                </a:tc>
                <a:tc gridSpan="2">
                  <a:txBody>
                    <a:bodyPr/>
                    <a:lstStyle/>
                    <a:p>
                      <a:pPr marL="92075">
                        <a:lnSpc>
                          <a:spcPct val="100000"/>
                        </a:lnSpc>
                        <a:spcBef>
                          <a:spcPts val="355"/>
                        </a:spcBef>
                      </a:pPr>
                      <a:r>
                        <a:rPr dirty="0" sz="1800" spc="-25">
                          <a:solidFill>
                            <a:srgbClr val="40458B"/>
                          </a:solidFill>
                          <a:latin typeface="Tahoma"/>
                          <a:cs typeface="Tahoma"/>
                        </a:rPr>
                        <a:t>WB</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hMerge="1">
                  <a:txBody>
                    <a:bodyPr/>
                    <a:lstStyle/>
                    <a:p>
                      <a:pPr/>
                    </a:p>
                  </a:txBody>
                  <a:tcPr marL="0" marR="0" marB="0" marT="0"/>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28575">
                      <a:solidFill>
                        <a:srgbClr val="A0A0A0"/>
                      </a:solidFill>
                      <a:prstDash val="solid"/>
                    </a:lnT>
                    <a:lnB w="12700">
                      <a:solidFill>
                        <a:srgbClr val="A0A0A0"/>
                      </a:solidFill>
                      <a:prstDash val="solid"/>
                    </a:lnB>
                  </a:tcPr>
                </a:tc>
              </a:tr>
              <a:tr h="440690">
                <a:tc>
                  <a:txBody>
                    <a:bodyPr/>
                    <a:lstStyle/>
                    <a:p>
                      <a:pPr marL="91440">
                        <a:lnSpc>
                          <a:spcPct val="100000"/>
                        </a:lnSpc>
                        <a:spcBef>
                          <a:spcPts val="270"/>
                        </a:spcBef>
                      </a:pPr>
                      <a:r>
                        <a:rPr dirty="0" sz="1800">
                          <a:solidFill>
                            <a:srgbClr val="40458B"/>
                          </a:solidFill>
                          <a:latin typeface="Calibri"/>
                          <a:cs typeface="Calibri"/>
                        </a:rPr>
                        <a:t>SUB.D</a:t>
                      </a:r>
                      <a:r>
                        <a:rPr dirty="0" sz="1800" spc="405">
                          <a:solidFill>
                            <a:srgbClr val="40458B"/>
                          </a:solidFill>
                          <a:latin typeface="Calibri"/>
                          <a:cs typeface="Calibri"/>
                        </a:rPr>
                        <a:t> </a:t>
                      </a:r>
                      <a:r>
                        <a:rPr dirty="0" sz="1800" b="1">
                          <a:solidFill>
                            <a:srgbClr val="40458B"/>
                          </a:solidFill>
                          <a:latin typeface="Calibri"/>
                          <a:cs typeface="Calibri"/>
                        </a:rPr>
                        <a:t>F4,</a:t>
                      </a:r>
                      <a:r>
                        <a:rPr dirty="0" sz="1800" spc="405" b="1">
                          <a:solidFill>
                            <a:srgbClr val="40458B"/>
                          </a:solidFill>
                          <a:latin typeface="Calibri"/>
                          <a:cs typeface="Calibri"/>
                        </a:rPr>
                        <a:t> </a:t>
                      </a:r>
                      <a:r>
                        <a:rPr dirty="0" sz="1800" b="1">
                          <a:solidFill>
                            <a:srgbClr val="FF0000"/>
                          </a:solidFill>
                          <a:latin typeface="Calibri"/>
                          <a:cs typeface="Calibri"/>
                        </a:rPr>
                        <a:t>F10</a:t>
                      </a:r>
                      <a:r>
                        <a:rPr dirty="0" sz="1800">
                          <a:solidFill>
                            <a:srgbClr val="40458B"/>
                          </a:solidFill>
                          <a:latin typeface="Calibri"/>
                          <a:cs typeface="Calibri"/>
                        </a:rPr>
                        <a:t>, </a:t>
                      </a:r>
                      <a:r>
                        <a:rPr dirty="0" sz="1800" spc="-25">
                          <a:solidFill>
                            <a:srgbClr val="9933FF"/>
                          </a:solidFill>
                          <a:latin typeface="Calibri"/>
                          <a:cs typeface="Calibri"/>
                        </a:rPr>
                        <a:t>F6</a:t>
                      </a:r>
                      <a:endParaRPr sz="1800">
                        <a:latin typeface="Calibri"/>
                        <a:cs typeface="Calibri"/>
                      </a:endParaRPr>
                    </a:p>
                  </a:txBody>
                  <a:tcPr marL="0" marR="0" marB="0" marT="34290">
                    <a:lnL w="12700">
                      <a:solidFill>
                        <a:srgbClr val="A0A0A0"/>
                      </a:solidFill>
                      <a:prstDash val="solid"/>
                    </a:lnL>
                    <a:lnR w="12700">
                      <a:solidFill>
                        <a:srgbClr val="A0A0A0"/>
                      </a:solidFill>
                      <a:prstDash val="solid"/>
                    </a:lnR>
                    <a:lnT w="12700">
                      <a:solidFill>
                        <a:srgbClr val="A0A0A0"/>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1440">
                        <a:lnSpc>
                          <a:spcPct val="100000"/>
                        </a:lnSpc>
                        <a:spcBef>
                          <a:spcPts val="355"/>
                        </a:spcBef>
                      </a:pPr>
                      <a:r>
                        <a:rPr dirty="0" sz="1800" spc="-25">
                          <a:solidFill>
                            <a:srgbClr val="40458B"/>
                          </a:solidFill>
                          <a:latin typeface="Tahoma"/>
                          <a:cs typeface="Tahoma"/>
                        </a:rPr>
                        <a:t>IF</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5"/>
                        </a:spcBef>
                      </a:pPr>
                      <a:r>
                        <a:rPr dirty="0" sz="1800" spc="-50">
                          <a:solidFill>
                            <a:srgbClr val="40458B"/>
                          </a:solidFill>
                          <a:latin typeface="Tahoma"/>
                          <a:cs typeface="Tahoma"/>
                        </a:rPr>
                        <a:t>S</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5"/>
                        </a:spcBef>
                      </a:pPr>
                      <a:r>
                        <a:rPr dirty="0" sz="1800" spc="-50">
                          <a:solidFill>
                            <a:srgbClr val="40458B"/>
                          </a:solidFill>
                          <a:latin typeface="Tahoma"/>
                          <a:cs typeface="Tahoma"/>
                        </a:rPr>
                        <a:t>S</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5"/>
                        </a:spcBef>
                      </a:pPr>
                      <a:r>
                        <a:rPr dirty="0" sz="1800" spc="-50">
                          <a:solidFill>
                            <a:srgbClr val="40458B"/>
                          </a:solidFill>
                          <a:latin typeface="Tahoma"/>
                          <a:cs typeface="Tahoma"/>
                        </a:rPr>
                        <a:t>S</a:t>
                      </a:r>
                      <a:endParaRPr sz="1800">
                        <a:latin typeface="Tahoma"/>
                        <a:cs typeface="Tahoma"/>
                      </a:endParaRPr>
                    </a:p>
                  </a:txBody>
                  <a:tcPr marL="0" marR="0" marB="0" marT="45085">
                    <a:lnL w="12700">
                      <a:solidFill>
                        <a:srgbClr val="A0A0A0"/>
                      </a:solidFill>
                      <a:prstDash val="solid"/>
                    </a:lnL>
                    <a:lnT w="12700">
                      <a:solidFill>
                        <a:srgbClr val="A0A0A0"/>
                      </a:solidFill>
                      <a:prstDash val="solid"/>
                    </a:lnT>
                    <a:lnB w="12700">
                      <a:solidFill>
                        <a:srgbClr val="40458B"/>
                      </a:solidFill>
                      <a:prstDash val="solid"/>
                    </a:lnB>
                  </a:tcPr>
                </a:tc>
                <a:tc>
                  <a:txBody>
                    <a:bodyPr/>
                    <a:lstStyle/>
                    <a:p>
                      <a:pPr marL="185420">
                        <a:lnSpc>
                          <a:spcPct val="100000"/>
                        </a:lnSpc>
                        <a:spcBef>
                          <a:spcPts val="355"/>
                        </a:spcBef>
                      </a:pPr>
                      <a:r>
                        <a:rPr dirty="0" sz="1800" spc="-50">
                          <a:solidFill>
                            <a:srgbClr val="40458B"/>
                          </a:solidFill>
                          <a:latin typeface="Tahoma"/>
                          <a:cs typeface="Tahoma"/>
                        </a:rPr>
                        <a:t>S</a:t>
                      </a:r>
                      <a:endParaRPr sz="1800">
                        <a:latin typeface="Tahoma"/>
                        <a:cs typeface="Tahoma"/>
                      </a:endParaRPr>
                    </a:p>
                  </a:txBody>
                  <a:tcPr marL="0" marR="0" marB="0" marT="45085">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5"/>
                        </a:spcBef>
                      </a:pPr>
                      <a:r>
                        <a:rPr dirty="0" sz="1800" spc="-50">
                          <a:solidFill>
                            <a:srgbClr val="40458B"/>
                          </a:solidFill>
                          <a:latin typeface="Tahoma"/>
                          <a:cs typeface="Tahoma"/>
                        </a:rPr>
                        <a:t>S</a:t>
                      </a:r>
                      <a:endParaRPr sz="1800">
                        <a:latin typeface="Tahoma"/>
                        <a:cs typeface="Tahoma"/>
                      </a:endParaRPr>
                    </a:p>
                  </a:txBody>
                  <a:tcPr marL="0" marR="0" marB="0" marT="45085">
                    <a:lnL w="12700">
                      <a:solidFill>
                        <a:srgbClr val="A0A0A0"/>
                      </a:solidFill>
                      <a:prstDash val="solid"/>
                    </a:lnL>
                    <a:lnT w="12700">
                      <a:solidFill>
                        <a:srgbClr val="A0A0A0"/>
                      </a:solidFill>
                      <a:prstDash val="solid"/>
                    </a:lnT>
                    <a:lnB w="12700">
                      <a:solidFill>
                        <a:srgbClr val="40458B"/>
                      </a:solidFill>
                      <a:prstDash val="solid"/>
                    </a:lnB>
                  </a:tcPr>
                </a:tc>
                <a:tc>
                  <a:txBody>
                    <a:bodyPr/>
                    <a:lstStyle/>
                    <a:p>
                      <a:pPr marL="243204">
                        <a:lnSpc>
                          <a:spcPct val="100000"/>
                        </a:lnSpc>
                        <a:spcBef>
                          <a:spcPts val="355"/>
                        </a:spcBef>
                      </a:pPr>
                      <a:r>
                        <a:rPr dirty="0" sz="1800" spc="-25">
                          <a:solidFill>
                            <a:srgbClr val="FF0000"/>
                          </a:solidFill>
                          <a:latin typeface="Tahoma"/>
                          <a:cs typeface="Tahoma"/>
                        </a:rPr>
                        <a:t>ID</a:t>
                      </a:r>
                      <a:endParaRPr sz="1800">
                        <a:latin typeface="Tahoma"/>
                        <a:cs typeface="Tahoma"/>
                      </a:endParaRPr>
                    </a:p>
                  </a:txBody>
                  <a:tcPr marL="0" marR="0" marB="0" marT="45085">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5"/>
                        </a:spcBef>
                      </a:pPr>
                      <a:r>
                        <a:rPr dirty="0" sz="1800" spc="-25">
                          <a:solidFill>
                            <a:srgbClr val="40458B"/>
                          </a:solidFill>
                          <a:latin typeface="Tahoma"/>
                          <a:cs typeface="Tahoma"/>
                        </a:rPr>
                        <a:t>EX</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5"/>
                        </a:spcBef>
                      </a:pPr>
                      <a:r>
                        <a:rPr dirty="0" sz="1800" spc="-25">
                          <a:solidFill>
                            <a:srgbClr val="40458B"/>
                          </a:solidFill>
                          <a:latin typeface="Tahoma"/>
                          <a:cs typeface="Tahoma"/>
                        </a:rPr>
                        <a:t>MEM</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marL="92075">
                        <a:lnSpc>
                          <a:spcPct val="100000"/>
                        </a:lnSpc>
                        <a:spcBef>
                          <a:spcPts val="355"/>
                        </a:spcBef>
                      </a:pPr>
                      <a:r>
                        <a:rPr dirty="0" sz="1800" spc="-25">
                          <a:solidFill>
                            <a:srgbClr val="40458B"/>
                          </a:solidFill>
                          <a:latin typeface="Tahoma"/>
                          <a:cs typeface="Tahoma"/>
                        </a:rPr>
                        <a:t>WB</a:t>
                      </a:r>
                      <a:endParaRPr sz="1800">
                        <a:latin typeface="Tahoma"/>
                        <a:cs typeface="Tahoma"/>
                      </a:endParaRPr>
                    </a:p>
                  </a:txBody>
                  <a:tcPr marL="0" marR="0" marB="0" marT="45085">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A0A0A0"/>
                      </a:solidFill>
                      <a:prstDash val="solid"/>
                    </a:lnT>
                    <a:lnB w="12700">
                      <a:solidFill>
                        <a:srgbClr val="40458B"/>
                      </a:solidFill>
                      <a:prstDash val="solid"/>
                    </a:lnB>
                  </a:tcPr>
                </a:tc>
              </a:tr>
              <a:tr h="365125">
                <a:tc>
                  <a:txBody>
                    <a:bodyPr/>
                    <a:lstStyle/>
                    <a:p>
                      <a:pPr marL="91440">
                        <a:lnSpc>
                          <a:spcPct val="100000"/>
                        </a:lnSpc>
                        <a:spcBef>
                          <a:spcPts val="275"/>
                        </a:spcBef>
                      </a:pPr>
                      <a:r>
                        <a:rPr dirty="0" sz="1800">
                          <a:solidFill>
                            <a:srgbClr val="40458B"/>
                          </a:solidFill>
                          <a:latin typeface="Calibri"/>
                          <a:cs typeface="Calibri"/>
                        </a:rPr>
                        <a:t>ADD.D</a:t>
                      </a:r>
                      <a:r>
                        <a:rPr dirty="0" sz="1800" spc="370">
                          <a:solidFill>
                            <a:srgbClr val="40458B"/>
                          </a:solidFill>
                          <a:latin typeface="Calibri"/>
                          <a:cs typeface="Calibri"/>
                        </a:rPr>
                        <a:t> </a:t>
                      </a:r>
                      <a:r>
                        <a:rPr dirty="0" sz="1800">
                          <a:solidFill>
                            <a:srgbClr val="9933FF"/>
                          </a:solidFill>
                          <a:latin typeface="Calibri"/>
                          <a:cs typeface="Calibri"/>
                        </a:rPr>
                        <a:t>F6</a:t>
                      </a:r>
                      <a:r>
                        <a:rPr dirty="0" sz="1800">
                          <a:solidFill>
                            <a:srgbClr val="40458B"/>
                          </a:solidFill>
                          <a:latin typeface="Calibri"/>
                          <a:cs typeface="Calibri"/>
                        </a:rPr>
                        <a:t>,</a:t>
                      </a:r>
                      <a:r>
                        <a:rPr dirty="0" sz="1800" spc="370">
                          <a:solidFill>
                            <a:srgbClr val="40458B"/>
                          </a:solidFill>
                          <a:latin typeface="Calibri"/>
                          <a:cs typeface="Calibri"/>
                        </a:rPr>
                        <a:t> </a:t>
                      </a:r>
                      <a:r>
                        <a:rPr dirty="0" sz="1800">
                          <a:solidFill>
                            <a:srgbClr val="40458B"/>
                          </a:solidFill>
                          <a:latin typeface="Calibri"/>
                          <a:cs typeface="Calibri"/>
                        </a:rPr>
                        <a:t>F8,</a:t>
                      </a:r>
                      <a:r>
                        <a:rPr dirty="0" sz="1800" spc="-15">
                          <a:solidFill>
                            <a:srgbClr val="40458B"/>
                          </a:solidFill>
                          <a:latin typeface="Calibri"/>
                          <a:cs typeface="Calibri"/>
                        </a:rPr>
                        <a:t> </a:t>
                      </a:r>
                      <a:r>
                        <a:rPr dirty="0" sz="1800" spc="-25">
                          <a:solidFill>
                            <a:srgbClr val="40458B"/>
                          </a:solidFill>
                          <a:latin typeface="Calibri"/>
                          <a:cs typeface="Calibri"/>
                        </a:rPr>
                        <a:t>F14</a:t>
                      </a:r>
                      <a:endParaRPr sz="1800">
                        <a:latin typeface="Calibri"/>
                        <a:cs typeface="Calibri"/>
                      </a:endParaRPr>
                    </a:p>
                  </a:txBody>
                  <a:tcPr marL="0" marR="0" marB="0" marT="34925">
                    <a:lnL w="12700">
                      <a:solidFill>
                        <a:srgbClr val="A0A0A0"/>
                      </a:solidFill>
                      <a:prstDash val="solid"/>
                    </a:lnL>
                    <a:lnR w="12700">
                      <a:solidFill>
                        <a:srgbClr val="A0A0A0"/>
                      </a:solidFill>
                      <a:prstDash val="solid"/>
                    </a:lnR>
                    <a:lnT w="12700">
                      <a:solidFill>
                        <a:srgbClr val="A0A0A0"/>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marL="92075">
                        <a:lnSpc>
                          <a:spcPct val="100000"/>
                        </a:lnSpc>
                        <a:spcBef>
                          <a:spcPts val="359"/>
                        </a:spcBef>
                      </a:pPr>
                      <a:r>
                        <a:rPr dirty="0" sz="1800" spc="-25">
                          <a:solidFill>
                            <a:srgbClr val="40458B"/>
                          </a:solidFill>
                          <a:latin typeface="Tahoma"/>
                          <a:cs typeface="Tahoma"/>
                        </a:rPr>
                        <a:t>IF</a:t>
                      </a:r>
                      <a:endParaRPr sz="1800">
                        <a:latin typeface="Tahoma"/>
                        <a:cs typeface="Tahoma"/>
                      </a:endParaRPr>
                    </a:p>
                  </a:txBody>
                  <a:tcPr marL="0" marR="0" marB="0" marT="45719">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marL="92075">
                        <a:lnSpc>
                          <a:spcPct val="100000"/>
                        </a:lnSpc>
                        <a:spcBef>
                          <a:spcPts val="359"/>
                        </a:spcBef>
                      </a:pPr>
                      <a:r>
                        <a:rPr dirty="0" sz="1800" spc="-25">
                          <a:solidFill>
                            <a:srgbClr val="40458B"/>
                          </a:solidFill>
                          <a:latin typeface="Tahoma"/>
                          <a:cs typeface="Tahoma"/>
                        </a:rPr>
                        <a:t>ID</a:t>
                      </a:r>
                      <a:endParaRPr sz="1800">
                        <a:latin typeface="Tahoma"/>
                        <a:cs typeface="Tahoma"/>
                      </a:endParaRPr>
                    </a:p>
                  </a:txBody>
                  <a:tcPr marL="0" marR="0" marB="0" marT="45719">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marL="92075">
                        <a:lnSpc>
                          <a:spcPct val="100000"/>
                        </a:lnSpc>
                        <a:spcBef>
                          <a:spcPts val="359"/>
                        </a:spcBef>
                      </a:pPr>
                      <a:r>
                        <a:rPr dirty="0" sz="1800" spc="-25">
                          <a:solidFill>
                            <a:srgbClr val="40458B"/>
                          </a:solidFill>
                          <a:latin typeface="Tahoma"/>
                          <a:cs typeface="Tahoma"/>
                        </a:rPr>
                        <a:t>EX</a:t>
                      </a:r>
                      <a:endParaRPr sz="1800">
                        <a:latin typeface="Tahoma"/>
                        <a:cs typeface="Tahoma"/>
                      </a:endParaRPr>
                    </a:p>
                  </a:txBody>
                  <a:tcPr marL="0" marR="0" marB="0" marT="45719">
                    <a:lnL w="12700">
                      <a:solidFill>
                        <a:srgbClr val="A0A0A0"/>
                      </a:solidFill>
                      <a:prstDash val="solid"/>
                    </a:lnL>
                    <a:lnT w="12700">
                      <a:solidFill>
                        <a:srgbClr val="40458B"/>
                      </a:solidFill>
                      <a:prstDash val="solid"/>
                    </a:lnT>
                    <a:lnB w="12700">
                      <a:solidFill>
                        <a:srgbClr val="A0A0A0"/>
                      </a:solidFill>
                      <a:prstDash val="solid"/>
                    </a:lnB>
                  </a:tcPr>
                </a:tc>
                <a:tc>
                  <a:txBody>
                    <a:bodyPr/>
                    <a:lstStyle/>
                    <a:p>
                      <a:pPr marL="185420">
                        <a:lnSpc>
                          <a:spcPct val="100000"/>
                        </a:lnSpc>
                        <a:spcBef>
                          <a:spcPts val="359"/>
                        </a:spcBef>
                      </a:pPr>
                      <a:r>
                        <a:rPr dirty="0" sz="1800" spc="-25">
                          <a:solidFill>
                            <a:srgbClr val="40458B"/>
                          </a:solidFill>
                          <a:latin typeface="Tahoma"/>
                          <a:cs typeface="Tahoma"/>
                        </a:rPr>
                        <a:t>MEM</a:t>
                      </a:r>
                      <a:endParaRPr sz="1800">
                        <a:latin typeface="Tahoma"/>
                        <a:cs typeface="Tahoma"/>
                      </a:endParaRPr>
                    </a:p>
                  </a:txBody>
                  <a:tcPr marL="0" marR="0" marB="0" marT="45719">
                    <a:lnR w="12700">
                      <a:solidFill>
                        <a:srgbClr val="A0A0A0"/>
                      </a:solidFill>
                      <a:prstDash val="solid"/>
                    </a:lnR>
                    <a:lnT w="12700">
                      <a:solidFill>
                        <a:srgbClr val="40458B"/>
                      </a:solidFill>
                      <a:prstDash val="solid"/>
                    </a:lnT>
                    <a:lnB w="12700">
                      <a:solidFill>
                        <a:srgbClr val="A0A0A0"/>
                      </a:solidFill>
                      <a:prstDash val="solid"/>
                    </a:lnB>
                  </a:tcPr>
                </a:tc>
                <a:tc gridSpan="2">
                  <a:txBody>
                    <a:bodyPr/>
                    <a:lstStyle/>
                    <a:p>
                      <a:pPr marL="92075">
                        <a:lnSpc>
                          <a:spcPct val="100000"/>
                        </a:lnSpc>
                        <a:spcBef>
                          <a:spcPts val="359"/>
                        </a:spcBef>
                      </a:pPr>
                      <a:r>
                        <a:rPr dirty="0" sz="1800" spc="-25">
                          <a:solidFill>
                            <a:srgbClr val="FF0000"/>
                          </a:solidFill>
                          <a:latin typeface="Tahoma"/>
                          <a:cs typeface="Tahoma"/>
                        </a:rPr>
                        <a:t>WB</a:t>
                      </a:r>
                      <a:endParaRPr sz="1800">
                        <a:latin typeface="Tahoma"/>
                        <a:cs typeface="Tahoma"/>
                      </a:endParaRPr>
                    </a:p>
                  </a:txBody>
                  <a:tcPr marL="0" marR="0" marB="0" marT="45719">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hMerge="1">
                  <a:txBody>
                    <a:bodyPr/>
                    <a:lstStyle/>
                    <a:p>
                      <a:pPr/>
                    </a:p>
                  </a:txBody>
                  <a:tcPr marL="0" marR="0" marB="0" marT="0"/>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solidFill>
                      <a:srgbClr val="A0A0A0">
                        <a:alpha val="19999"/>
                      </a:srgbClr>
                    </a:solidFill>
                  </a:tcPr>
                </a:tc>
                <a:tc>
                  <a:txBody>
                    <a:bodyPr/>
                    <a:lstStyle/>
                    <a:p>
                      <a:pPr>
                        <a:lnSpc>
                          <a:spcPct val="100000"/>
                        </a:lnSpc>
                      </a:pPr>
                      <a:endParaRPr sz="1900">
                        <a:latin typeface="Times New Roman"/>
                        <a:cs typeface="Times New Roman"/>
                      </a:endParaRPr>
                    </a:p>
                  </a:txBody>
                  <a:tcPr marL="0" marR="0" marB="0" marT="0">
                    <a:lnL w="12700">
                      <a:solidFill>
                        <a:srgbClr val="A0A0A0"/>
                      </a:solidFill>
                      <a:prstDash val="solid"/>
                    </a:lnL>
                    <a:lnR w="12700">
                      <a:solidFill>
                        <a:srgbClr val="A0A0A0"/>
                      </a:solidFill>
                      <a:prstDash val="solid"/>
                    </a:lnR>
                    <a:lnT w="12700">
                      <a:solidFill>
                        <a:srgbClr val="40458B"/>
                      </a:solidFill>
                      <a:prstDash val="solid"/>
                    </a:lnT>
                    <a:lnB w="12700">
                      <a:solidFill>
                        <a:srgbClr val="A0A0A0"/>
                      </a:solidFill>
                      <a:prstDash val="solid"/>
                    </a:lnB>
                    <a:solidFill>
                      <a:srgbClr val="A0A0A0">
                        <a:alpha val="19999"/>
                      </a:srgbClr>
                    </a:solidFill>
                  </a:tcPr>
                </a:tc>
              </a:tr>
            </a:tbl>
          </a:graphicData>
        </a:graphic>
      </p:graphicFrame>
      <p:sp>
        <p:nvSpPr>
          <p:cNvPr id="17" name="object 17" descr=""/>
          <p:cNvSpPr txBox="1"/>
          <p:nvPr/>
        </p:nvSpPr>
        <p:spPr>
          <a:xfrm>
            <a:off x="486867" y="4425822"/>
            <a:ext cx="10394315" cy="360680"/>
          </a:xfrm>
          <a:prstGeom prst="rect">
            <a:avLst/>
          </a:prstGeom>
        </p:spPr>
        <p:txBody>
          <a:bodyPr wrap="square" lIns="0" tIns="12065" rIns="0" bIns="0" rtlCol="0" vert="horz">
            <a:spAutoFit/>
          </a:bodyPr>
          <a:lstStyle/>
          <a:p>
            <a:pPr marL="12700">
              <a:lnSpc>
                <a:spcPct val="100000"/>
              </a:lnSpc>
              <a:spcBef>
                <a:spcPts val="95"/>
              </a:spcBef>
            </a:pPr>
            <a:r>
              <a:rPr dirty="0" sz="2200" spc="-30">
                <a:solidFill>
                  <a:srgbClr val="FF0000"/>
                </a:solidFill>
                <a:latin typeface="黑体"/>
                <a:cs typeface="黑体"/>
              </a:rPr>
              <a:t>指令动态调度可能</a:t>
            </a:r>
            <a:r>
              <a:rPr dirty="0" sz="2200" spc="-20">
                <a:solidFill>
                  <a:srgbClr val="40458B"/>
                </a:solidFill>
                <a:latin typeface="黑体"/>
                <a:cs typeface="黑体"/>
              </a:rPr>
              <a:t>：</a:t>
            </a:r>
            <a:r>
              <a:rPr dirty="0" sz="2000" spc="-20">
                <a:solidFill>
                  <a:srgbClr val="40458B"/>
                </a:solidFill>
                <a:latin typeface="Calibri"/>
                <a:cs typeface="Calibri"/>
              </a:rPr>
              <a:t>ADD</a:t>
            </a:r>
            <a:r>
              <a:rPr dirty="0" sz="2000" spc="-15">
                <a:solidFill>
                  <a:srgbClr val="40458B"/>
                </a:solidFill>
                <a:latin typeface="黑体"/>
                <a:cs typeface="黑体"/>
              </a:rPr>
              <a:t>指令先行写入</a:t>
            </a:r>
            <a:r>
              <a:rPr dirty="0" sz="2000" spc="-10">
                <a:solidFill>
                  <a:srgbClr val="40458B"/>
                </a:solidFill>
                <a:latin typeface="Calibri"/>
                <a:cs typeface="Calibri"/>
              </a:rPr>
              <a:t>F6</a:t>
            </a:r>
            <a:r>
              <a:rPr dirty="0" sz="2000" spc="-10">
                <a:solidFill>
                  <a:srgbClr val="40458B"/>
                </a:solidFill>
                <a:latin typeface="黑体"/>
                <a:cs typeface="黑体"/>
              </a:rPr>
              <a:t>（</a:t>
            </a:r>
            <a:r>
              <a:rPr dirty="0" sz="2000">
                <a:solidFill>
                  <a:srgbClr val="40458B"/>
                </a:solidFill>
                <a:latin typeface="黑体"/>
                <a:cs typeface="黑体"/>
              </a:rPr>
              <a:t>第</a:t>
            </a:r>
            <a:r>
              <a:rPr dirty="0" sz="2000" spc="-10">
                <a:solidFill>
                  <a:srgbClr val="40458B"/>
                </a:solidFill>
                <a:latin typeface="Calibri"/>
                <a:cs typeface="Calibri"/>
              </a:rPr>
              <a:t>7</a:t>
            </a:r>
            <a:r>
              <a:rPr dirty="0" sz="2000" spc="-5">
                <a:solidFill>
                  <a:srgbClr val="40458B"/>
                </a:solidFill>
                <a:latin typeface="黑体"/>
                <a:cs typeface="黑体"/>
              </a:rPr>
              <a:t>时钟周期</a:t>
            </a:r>
            <a:r>
              <a:rPr dirty="0" sz="2000" spc="-10">
                <a:solidFill>
                  <a:srgbClr val="40458B"/>
                </a:solidFill>
                <a:latin typeface="黑体"/>
                <a:cs typeface="黑体"/>
              </a:rPr>
              <a:t>）</a:t>
            </a:r>
            <a:r>
              <a:rPr dirty="0" sz="2000" spc="-10">
                <a:solidFill>
                  <a:srgbClr val="40458B"/>
                </a:solidFill>
                <a:latin typeface="Calibri"/>
                <a:cs typeface="Calibri"/>
              </a:rPr>
              <a:t>SUB</a:t>
            </a:r>
            <a:r>
              <a:rPr dirty="0" sz="2000" spc="-5">
                <a:solidFill>
                  <a:srgbClr val="40458B"/>
                </a:solidFill>
                <a:latin typeface="黑体"/>
                <a:cs typeface="黑体"/>
              </a:rPr>
              <a:t>指令后读出</a:t>
            </a:r>
            <a:r>
              <a:rPr dirty="0" sz="2000" spc="-10">
                <a:solidFill>
                  <a:srgbClr val="40458B"/>
                </a:solidFill>
                <a:latin typeface="Calibri"/>
                <a:cs typeface="Calibri"/>
              </a:rPr>
              <a:t>F6</a:t>
            </a:r>
            <a:r>
              <a:rPr dirty="0" sz="2000" spc="-20">
                <a:solidFill>
                  <a:srgbClr val="40458B"/>
                </a:solidFill>
                <a:latin typeface="黑体"/>
                <a:cs typeface="黑体"/>
              </a:rPr>
              <a:t>，错误结果产生</a:t>
            </a:r>
            <a:endParaRPr sz="2000">
              <a:latin typeface="黑体"/>
              <a:cs typeface="黑体"/>
            </a:endParaRPr>
          </a:p>
        </p:txBody>
      </p:sp>
      <p:sp>
        <p:nvSpPr>
          <p:cNvPr id="18" name="object 18" descr=""/>
          <p:cNvSpPr/>
          <p:nvPr/>
        </p:nvSpPr>
        <p:spPr>
          <a:xfrm>
            <a:off x="6669023" y="4771644"/>
            <a:ext cx="1454150" cy="1316990"/>
          </a:xfrm>
          <a:custGeom>
            <a:avLst/>
            <a:gdLst/>
            <a:ahLst/>
            <a:cxnLst/>
            <a:rect l="l" t="t" r="r" b="b"/>
            <a:pathLst>
              <a:path w="1454150" h="1316989">
                <a:moveTo>
                  <a:pt x="1394533" y="1268789"/>
                </a:moveTo>
                <a:lnTo>
                  <a:pt x="1372107" y="1293545"/>
                </a:lnTo>
                <a:lnTo>
                  <a:pt x="1454150" y="1316418"/>
                </a:lnTo>
                <a:lnTo>
                  <a:pt x="1438956" y="1277340"/>
                </a:lnTo>
                <a:lnTo>
                  <a:pt x="1403984" y="1277340"/>
                </a:lnTo>
                <a:lnTo>
                  <a:pt x="1394533" y="1268789"/>
                </a:lnTo>
                <a:close/>
              </a:path>
              <a:path w="1454150" h="1316989">
                <a:moveTo>
                  <a:pt x="1400909" y="1261750"/>
                </a:moveTo>
                <a:lnTo>
                  <a:pt x="1394533" y="1268789"/>
                </a:lnTo>
                <a:lnTo>
                  <a:pt x="1403984" y="1277340"/>
                </a:lnTo>
                <a:lnTo>
                  <a:pt x="1410334" y="1270279"/>
                </a:lnTo>
                <a:lnTo>
                  <a:pt x="1400909" y="1261750"/>
                </a:lnTo>
                <a:close/>
              </a:path>
              <a:path w="1454150" h="1316989">
                <a:moveTo>
                  <a:pt x="1423289" y="1237043"/>
                </a:moveTo>
                <a:lnTo>
                  <a:pt x="1400909" y="1261750"/>
                </a:lnTo>
                <a:lnTo>
                  <a:pt x="1410334" y="1270279"/>
                </a:lnTo>
                <a:lnTo>
                  <a:pt x="1403984" y="1277340"/>
                </a:lnTo>
                <a:lnTo>
                  <a:pt x="1438956" y="1277340"/>
                </a:lnTo>
                <a:lnTo>
                  <a:pt x="1423289" y="1237043"/>
                </a:lnTo>
                <a:close/>
              </a:path>
              <a:path w="1454150" h="1316989">
                <a:moveTo>
                  <a:pt x="6476" y="0"/>
                </a:moveTo>
                <a:lnTo>
                  <a:pt x="0" y="7111"/>
                </a:lnTo>
                <a:lnTo>
                  <a:pt x="1394533" y="1268789"/>
                </a:lnTo>
                <a:lnTo>
                  <a:pt x="1400909" y="1261750"/>
                </a:lnTo>
                <a:lnTo>
                  <a:pt x="6476" y="0"/>
                </a:lnTo>
                <a:close/>
              </a:path>
            </a:pathLst>
          </a:custGeom>
          <a:solidFill>
            <a:srgbClr val="FF0000"/>
          </a:solidFill>
        </p:spPr>
        <p:txBody>
          <a:bodyPr wrap="square" lIns="0" tIns="0" rIns="0" bIns="0" rtlCol="0"/>
          <a:lstStyle/>
          <a:p/>
        </p:txBody>
      </p:sp>
      <p:sp>
        <p:nvSpPr>
          <p:cNvPr id="19" name="object 19" descr=""/>
          <p:cNvSpPr/>
          <p:nvPr/>
        </p:nvSpPr>
        <p:spPr>
          <a:xfrm>
            <a:off x="8539606" y="4773167"/>
            <a:ext cx="485140" cy="1040765"/>
          </a:xfrm>
          <a:custGeom>
            <a:avLst/>
            <a:gdLst/>
            <a:ahLst/>
            <a:cxnLst/>
            <a:rect l="l" t="t" r="r" b="b"/>
            <a:pathLst>
              <a:path w="485140" h="1040764">
                <a:moveTo>
                  <a:pt x="445925" y="973039"/>
                </a:moveTo>
                <a:lnTo>
                  <a:pt x="415671" y="986967"/>
                </a:lnTo>
                <a:lnTo>
                  <a:pt x="482092" y="1040256"/>
                </a:lnTo>
                <a:lnTo>
                  <a:pt x="483840" y="986967"/>
                </a:lnTo>
                <a:lnTo>
                  <a:pt x="483919" y="984567"/>
                </a:lnTo>
                <a:lnTo>
                  <a:pt x="451231" y="984567"/>
                </a:lnTo>
                <a:lnTo>
                  <a:pt x="445925" y="973039"/>
                </a:lnTo>
                <a:close/>
              </a:path>
              <a:path w="485140" h="1040764">
                <a:moveTo>
                  <a:pt x="454670" y="969013"/>
                </a:moveTo>
                <a:lnTo>
                  <a:pt x="445925" y="973039"/>
                </a:lnTo>
                <a:lnTo>
                  <a:pt x="451231" y="984567"/>
                </a:lnTo>
                <a:lnTo>
                  <a:pt x="459994" y="980579"/>
                </a:lnTo>
                <a:lnTo>
                  <a:pt x="454670" y="969013"/>
                </a:lnTo>
                <a:close/>
              </a:path>
              <a:path w="485140" h="1040764">
                <a:moveTo>
                  <a:pt x="484886" y="955103"/>
                </a:moveTo>
                <a:lnTo>
                  <a:pt x="454670" y="969013"/>
                </a:lnTo>
                <a:lnTo>
                  <a:pt x="459994" y="980579"/>
                </a:lnTo>
                <a:lnTo>
                  <a:pt x="451231" y="984567"/>
                </a:lnTo>
                <a:lnTo>
                  <a:pt x="483919" y="984567"/>
                </a:lnTo>
                <a:lnTo>
                  <a:pt x="484886" y="955103"/>
                </a:lnTo>
                <a:close/>
              </a:path>
              <a:path w="485140" h="1040764">
                <a:moveTo>
                  <a:pt x="8636" y="0"/>
                </a:moveTo>
                <a:lnTo>
                  <a:pt x="0" y="4063"/>
                </a:lnTo>
                <a:lnTo>
                  <a:pt x="445925" y="973039"/>
                </a:lnTo>
                <a:lnTo>
                  <a:pt x="454670" y="969013"/>
                </a:lnTo>
                <a:lnTo>
                  <a:pt x="8636" y="0"/>
                </a:lnTo>
                <a:close/>
              </a:path>
            </a:pathLst>
          </a:custGeom>
          <a:solidFill>
            <a:srgbClr val="FF0000"/>
          </a:solidFill>
        </p:spPr>
        <p:txBody>
          <a:bodyPr wrap="square" lIns="0" tIns="0" rIns="0" bIns="0" rtlCol="0"/>
          <a:lstStyle/>
          <a:p/>
        </p:txBody>
      </p:sp>
      <p:sp>
        <p:nvSpPr>
          <p:cNvPr id="20" name="object 20" descr=""/>
          <p:cNvSpPr txBox="1"/>
          <p:nvPr/>
        </p:nvSpPr>
        <p:spPr>
          <a:xfrm>
            <a:off x="6383401" y="947737"/>
            <a:ext cx="5593080" cy="1151255"/>
          </a:xfrm>
          <a:prstGeom prst="rect">
            <a:avLst/>
          </a:prstGeom>
          <a:ln w="9525">
            <a:solidFill>
              <a:srgbClr val="FF0000"/>
            </a:solidFill>
          </a:ln>
        </p:spPr>
        <p:txBody>
          <a:bodyPr wrap="square" lIns="0" tIns="6985" rIns="0" bIns="0" rtlCol="0" vert="horz">
            <a:spAutoFit/>
          </a:bodyPr>
          <a:lstStyle/>
          <a:p>
            <a:pPr algn="just" marL="92075" marR="154940">
              <a:lnSpc>
                <a:spcPct val="116799"/>
              </a:lnSpc>
              <a:spcBef>
                <a:spcPts val="55"/>
              </a:spcBef>
            </a:pPr>
            <a:r>
              <a:rPr dirty="0" sz="2000" spc="-30" b="1">
                <a:solidFill>
                  <a:srgbClr val="40458B"/>
                </a:solidFill>
                <a:latin typeface="华文宋体"/>
                <a:cs typeface="华文宋体"/>
              </a:rPr>
              <a:t>指令的动态调度导致了指令的乱序执行，指令的</a:t>
            </a:r>
            <a:r>
              <a:rPr dirty="0" sz="2000" spc="-20" b="1">
                <a:solidFill>
                  <a:srgbClr val="40458B"/>
                </a:solidFill>
                <a:latin typeface="华文宋体"/>
                <a:cs typeface="华文宋体"/>
              </a:rPr>
              <a:t>乱序执行导致了有反相关和输出相关的指令进入流水线之后产生了读后写冲突和写后写冲突。</a:t>
            </a:r>
            <a:endParaRPr sz="2000">
              <a:latin typeface="华文宋体"/>
              <a:cs typeface="华文宋体"/>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60/175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3684904"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2214117" y="603630"/>
            <a:ext cx="5969635" cy="1049655"/>
          </a:xfrm>
          <a:prstGeom prst="rect">
            <a:avLst/>
          </a:prstGeom>
        </p:spPr>
        <p:txBody>
          <a:bodyPr wrap="square" lIns="0" tIns="158750" rIns="0" bIns="0" rtlCol="0" vert="horz">
            <a:spAutoFit/>
          </a:bodyPr>
          <a:lstStyle/>
          <a:p>
            <a:pPr marL="469265" indent="-456565">
              <a:lnSpc>
                <a:spcPct val="100000"/>
              </a:lnSpc>
              <a:spcBef>
                <a:spcPts val="1250"/>
              </a:spcBef>
              <a:buClr>
                <a:srgbClr val="40458B"/>
              </a:buClr>
              <a:buAutoNum type="arabicPeriod" startAt="3"/>
              <a:tabLst>
                <a:tab pos="469265" algn="l"/>
              </a:tabLst>
            </a:pPr>
            <a:r>
              <a:rPr dirty="0" sz="2400">
                <a:solidFill>
                  <a:srgbClr val="FF0000"/>
                </a:solidFill>
                <a:latin typeface="黑体"/>
                <a:cs typeface="黑体"/>
              </a:rPr>
              <a:t>寄存器换名</a:t>
            </a:r>
            <a:r>
              <a:rPr dirty="0" sz="2400">
                <a:solidFill>
                  <a:srgbClr val="001F5F"/>
                </a:solidFill>
                <a:latin typeface="黑体"/>
                <a:cs typeface="黑体"/>
              </a:rPr>
              <a:t>可以消除WAR冲突和WAW</a:t>
            </a:r>
            <a:r>
              <a:rPr dirty="0" sz="2400" spc="-20">
                <a:solidFill>
                  <a:srgbClr val="001F5F"/>
                </a:solidFill>
                <a:latin typeface="黑体"/>
                <a:cs typeface="黑体"/>
              </a:rPr>
              <a:t>冲突。</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10">
                <a:solidFill>
                  <a:srgbClr val="40458B"/>
                </a:solidFill>
                <a:latin typeface="黑体"/>
                <a:cs typeface="黑体"/>
              </a:rPr>
              <a:t>考虑以下代码：</a:t>
            </a:r>
            <a:endParaRPr sz="2400">
              <a:latin typeface="黑体"/>
              <a:cs typeface="黑体"/>
            </a:endParaRPr>
          </a:p>
        </p:txBody>
      </p:sp>
      <p:sp>
        <p:nvSpPr>
          <p:cNvPr id="11" name="object 11" descr=""/>
          <p:cNvSpPr txBox="1"/>
          <p:nvPr/>
        </p:nvSpPr>
        <p:spPr>
          <a:xfrm>
            <a:off x="3790315" y="1684489"/>
            <a:ext cx="734060" cy="2038350"/>
          </a:xfrm>
          <a:prstGeom prst="rect">
            <a:avLst/>
          </a:prstGeom>
        </p:spPr>
        <p:txBody>
          <a:bodyPr wrap="square" lIns="0" tIns="13335" rIns="0" bIns="0" rtlCol="0" vert="horz">
            <a:spAutoFit/>
          </a:bodyPr>
          <a:lstStyle/>
          <a:p>
            <a:pPr marL="12700" marR="5080">
              <a:lnSpc>
                <a:spcPct val="120000"/>
              </a:lnSpc>
              <a:spcBef>
                <a:spcPts val="105"/>
              </a:spcBef>
            </a:pPr>
            <a:r>
              <a:rPr dirty="0" sz="2200" spc="-10" b="1">
                <a:solidFill>
                  <a:srgbClr val="9966FF"/>
                </a:solidFill>
                <a:latin typeface="宋体"/>
                <a:cs typeface="宋体"/>
              </a:rPr>
              <a:t>DIV.D ADD.D </a:t>
            </a:r>
            <a:r>
              <a:rPr dirty="0" sz="2200" spc="-25" b="1">
                <a:solidFill>
                  <a:srgbClr val="9966FF"/>
                </a:solidFill>
                <a:latin typeface="宋体"/>
                <a:cs typeface="宋体"/>
              </a:rPr>
              <a:t>S.D </a:t>
            </a:r>
            <a:r>
              <a:rPr dirty="0" sz="2200" spc="-10" b="1">
                <a:solidFill>
                  <a:srgbClr val="9966FF"/>
                </a:solidFill>
                <a:latin typeface="宋体"/>
                <a:cs typeface="宋体"/>
              </a:rPr>
              <a:t>SUB.D MUL.D</a:t>
            </a:r>
            <a:endParaRPr sz="2200">
              <a:latin typeface="宋体"/>
              <a:cs typeface="宋体"/>
            </a:endParaRPr>
          </a:p>
        </p:txBody>
      </p:sp>
      <p:sp>
        <p:nvSpPr>
          <p:cNvPr id="12" name="object 12" descr=""/>
          <p:cNvSpPr txBox="1"/>
          <p:nvPr/>
        </p:nvSpPr>
        <p:spPr>
          <a:xfrm>
            <a:off x="4957698" y="1684489"/>
            <a:ext cx="1720850" cy="2038350"/>
          </a:xfrm>
          <a:prstGeom prst="rect">
            <a:avLst/>
          </a:prstGeom>
        </p:spPr>
        <p:txBody>
          <a:bodyPr wrap="square" lIns="0" tIns="80010" rIns="0" bIns="0" rtlCol="0" vert="horz">
            <a:spAutoFit/>
          </a:bodyPr>
          <a:lstStyle/>
          <a:p>
            <a:pPr marL="12700">
              <a:lnSpc>
                <a:spcPct val="100000"/>
              </a:lnSpc>
              <a:spcBef>
                <a:spcPts val="630"/>
              </a:spcBef>
            </a:pPr>
            <a:r>
              <a:rPr dirty="0" sz="2200" spc="-10" b="1">
                <a:solidFill>
                  <a:srgbClr val="9966FF"/>
                </a:solidFill>
                <a:latin typeface="宋体"/>
                <a:cs typeface="宋体"/>
              </a:rPr>
              <a:t>F0，F2，F4</a:t>
            </a:r>
            <a:endParaRPr sz="2200">
              <a:latin typeface="宋体"/>
              <a:cs typeface="宋体"/>
            </a:endParaRPr>
          </a:p>
          <a:p>
            <a:pPr marL="12700">
              <a:lnSpc>
                <a:spcPct val="100000"/>
              </a:lnSpc>
              <a:spcBef>
                <a:spcPts val="530"/>
              </a:spcBef>
            </a:pPr>
            <a:r>
              <a:rPr dirty="0" sz="2200" spc="-10" b="1">
                <a:solidFill>
                  <a:srgbClr val="4668F5"/>
                </a:solidFill>
                <a:latin typeface="宋体"/>
                <a:cs typeface="宋体"/>
              </a:rPr>
              <a:t>F6</a:t>
            </a:r>
            <a:r>
              <a:rPr dirty="0" sz="2200" spc="-10" b="1">
                <a:solidFill>
                  <a:srgbClr val="9966FF"/>
                </a:solidFill>
                <a:latin typeface="宋体"/>
                <a:cs typeface="宋体"/>
              </a:rPr>
              <a:t>，F0，</a:t>
            </a:r>
            <a:r>
              <a:rPr dirty="0" sz="2200" spc="-10" b="1">
                <a:solidFill>
                  <a:srgbClr val="D50092"/>
                </a:solidFill>
                <a:latin typeface="宋体"/>
                <a:cs typeface="宋体"/>
              </a:rPr>
              <a:t>F8</a:t>
            </a:r>
            <a:endParaRPr sz="2200">
              <a:latin typeface="宋体"/>
              <a:cs typeface="宋体"/>
            </a:endParaRPr>
          </a:p>
          <a:p>
            <a:pPr marL="12700" marR="5080">
              <a:lnSpc>
                <a:spcPct val="120000"/>
              </a:lnSpc>
            </a:pPr>
            <a:r>
              <a:rPr dirty="0" sz="2200" spc="-10" b="1">
                <a:solidFill>
                  <a:srgbClr val="4668F5"/>
                </a:solidFill>
                <a:latin typeface="宋体"/>
                <a:cs typeface="宋体"/>
              </a:rPr>
              <a:t>F6</a:t>
            </a:r>
            <a:r>
              <a:rPr dirty="0" sz="2200" spc="-10" b="1">
                <a:solidFill>
                  <a:srgbClr val="9966FF"/>
                </a:solidFill>
                <a:latin typeface="宋体"/>
                <a:cs typeface="宋体"/>
              </a:rPr>
              <a:t>，0（R1） </a:t>
            </a:r>
            <a:r>
              <a:rPr dirty="0" sz="2200" spc="-10" b="1">
                <a:solidFill>
                  <a:srgbClr val="D50092"/>
                </a:solidFill>
                <a:latin typeface="宋体"/>
                <a:cs typeface="宋体"/>
              </a:rPr>
              <a:t>F8</a:t>
            </a:r>
            <a:r>
              <a:rPr dirty="0" sz="2200" spc="-10" b="1">
                <a:solidFill>
                  <a:srgbClr val="9966FF"/>
                </a:solidFill>
                <a:latin typeface="宋体"/>
                <a:cs typeface="宋体"/>
              </a:rPr>
              <a:t>，F10，F14</a:t>
            </a:r>
            <a:endParaRPr sz="2200">
              <a:latin typeface="宋体"/>
              <a:cs typeface="宋体"/>
            </a:endParaRPr>
          </a:p>
          <a:p>
            <a:pPr marL="12700">
              <a:lnSpc>
                <a:spcPct val="100000"/>
              </a:lnSpc>
              <a:spcBef>
                <a:spcPts val="535"/>
              </a:spcBef>
            </a:pPr>
            <a:r>
              <a:rPr dirty="0" sz="2200" b="1">
                <a:solidFill>
                  <a:srgbClr val="4668F5"/>
                </a:solidFill>
                <a:latin typeface="宋体"/>
                <a:cs typeface="宋体"/>
              </a:rPr>
              <a:t>F6</a:t>
            </a:r>
            <a:r>
              <a:rPr dirty="0" sz="2200" b="1">
                <a:solidFill>
                  <a:srgbClr val="9966FF"/>
                </a:solidFill>
                <a:latin typeface="宋体"/>
                <a:cs typeface="宋体"/>
              </a:rPr>
              <a:t>，</a:t>
            </a:r>
            <a:r>
              <a:rPr dirty="0" sz="2200" spc="-35" b="1">
                <a:solidFill>
                  <a:srgbClr val="9966FF"/>
                </a:solidFill>
                <a:latin typeface="宋体"/>
                <a:cs typeface="宋体"/>
              </a:rPr>
              <a:t> </a:t>
            </a:r>
            <a:r>
              <a:rPr dirty="0" sz="2200" spc="-10" b="1">
                <a:solidFill>
                  <a:srgbClr val="9966FF"/>
                </a:solidFill>
                <a:latin typeface="宋体"/>
                <a:cs typeface="宋体"/>
              </a:rPr>
              <a:t>F10，</a:t>
            </a:r>
            <a:r>
              <a:rPr dirty="0" sz="2200" spc="-10" b="1">
                <a:solidFill>
                  <a:srgbClr val="D50092"/>
                </a:solidFill>
                <a:latin typeface="宋体"/>
                <a:cs typeface="宋体"/>
              </a:rPr>
              <a:t>F8</a:t>
            </a:r>
            <a:endParaRPr sz="2200">
              <a:latin typeface="宋体"/>
              <a:cs typeface="宋体"/>
            </a:endParaRPr>
          </a:p>
        </p:txBody>
      </p:sp>
      <p:sp>
        <p:nvSpPr>
          <p:cNvPr id="13" name="object 13" descr=""/>
          <p:cNvSpPr txBox="1"/>
          <p:nvPr/>
        </p:nvSpPr>
        <p:spPr>
          <a:xfrm>
            <a:off x="7169277" y="2447010"/>
            <a:ext cx="1950720" cy="695960"/>
          </a:xfrm>
          <a:prstGeom prst="rect">
            <a:avLst/>
          </a:prstGeom>
        </p:spPr>
        <p:txBody>
          <a:bodyPr wrap="square" lIns="0" tIns="12700" rIns="0" bIns="0" rtlCol="0" vert="horz">
            <a:spAutoFit/>
          </a:bodyPr>
          <a:lstStyle/>
          <a:p>
            <a:pPr marL="12700" marR="5080">
              <a:lnSpc>
                <a:spcPct val="110000"/>
              </a:lnSpc>
              <a:spcBef>
                <a:spcPts val="100"/>
              </a:spcBef>
            </a:pPr>
            <a:r>
              <a:rPr dirty="0" sz="2000" spc="-10" b="1">
                <a:solidFill>
                  <a:srgbClr val="4668F5"/>
                </a:solidFill>
                <a:latin typeface="宋体"/>
                <a:cs typeface="宋体"/>
              </a:rPr>
              <a:t>输出相关</a:t>
            </a:r>
            <a:r>
              <a:rPr dirty="0" sz="2000" spc="-20" b="1">
                <a:solidFill>
                  <a:srgbClr val="4668F5"/>
                </a:solidFill>
                <a:latin typeface="宋体"/>
                <a:cs typeface="宋体"/>
              </a:rPr>
              <a:t>（</a:t>
            </a:r>
            <a:r>
              <a:rPr dirty="0" sz="2000" spc="-20" b="1">
                <a:solidFill>
                  <a:srgbClr val="FF0000"/>
                </a:solidFill>
                <a:latin typeface="宋体"/>
                <a:cs typeface="宋体"/>
              </a:rPr>
              <a:t>F6</a:t>
            </a:r>
            <a:r>
              <a:rPr dirty="0" sz="2000" spc="-20" b="1">
                <a:solidFill>
                  <a:srgbClr val="4668F5"/>
                </a:solidFill>
                <a:latin typeface="宋体"/>
                <a:cs typeface="宋体"/>
              </a:rPr>
              <a:t>）</a:t>
            </a:r>
            <a:r>
              <a:rPr dirty="0" sz="2000" spc="-10" b="1">
                <a:solidFill>
                  <a:srgbClr val="4668F5"/>
                </a:solidFill>
                <a:latin typeface="宋体"/>
                <a:cs typeface="宋体"/>
              </a:rPr>
              <a:t>可能导致</a:t>
            </a:r>
            <a:r>
              <a:rPr dirty="0" sz="2000" spc="-10" b="1">
                <a:solidFill>
                  <a:srgbClr val="D50092"/>
                </a:solidFill>
                <a:latin typeface="宋体"/>
                <a:cs typeface="宋体"/>
              </a:rPr>
              <a:t>WAW</a:t>
            </a:r>
            <a:r>
              <a:rPr dirty="0" sz="2000" spc="-30" b="1">
                <a:solidFill>
                  <a:srgbClr val="4668F5"/>
                </a:solidFill>
                <a:latin typeface="宋体"/>
                <a:cs typeface="宋体"/>
              </a:rPr>
              <a:t>冲突</a:t>
            </a:r>
            <a:endParaRPr sz="2000">
              <a:latin typeface="宋体"/>
              <a:cs typeface="宋体"/>
            </a:endParaRPr>
          </a:p>
        </p:txBody>
      </p:sp>
      <p:sp>
        <p:nvSpPr>
          <p:cNvPr id="14" name="object 14" descr=""/>
          <p:cNvSpPr txBox="1"/>
          <p:nvPr/>
        </p:nvSpPr>
        <p:spPr>
          <a:xfrm>
            <a:off x="1602994" y="1827022"/>
            <a:ext cx="1950720" cy="2312670"/>
          </a:xfrm>
          <a:prstGeom prst="rect">
            <a:avLst/>
          </a:prstGeom>
        </p:spPr>
        <p:txBody>
          <a:bodyPr wrap="square" lIns="0" tIns="13335" rIns="0" bIns="0" rtlCol="0" vert="horz">
            <a:spAutoFit/>
          </a:bodyPr>
          <a:lstStyle/>
          <a:p>
            <a:pPr algn="just" marL="12700" marR="137160">
              <a:lnSpc>
                <a:spcPct val="100000"/>
              </a:lnSpc>
              <a:spcBef>
                <a:spcPts val="105"/>
              </a:spcBef>
            </a:pPr>
            <a:r>
              <a:rPr dirty="0" sz="2000" spc="-20" b="1">
                <a:solidFill>
                  <a:srgbClr val="006FC0"/>
                </a:solidFill>
                <a:latin typeface="宋体"/>
                <a:cs typeface="宋体"/>
              </a:rPr>
              <a:t>原本二者逻辑上</a:t>
            </a:r>
            <a:r>
              <a:rPr dirty="0" sz="2000" spc="-10" b="1">
                <a:solidFill>
                  <a:srgbClr val="006FC0"/>
                </a:solidFill>
                <a:latin typeface="宋体"/>
                <a:cs typeface="宋体"/>
              </a:rPr>
              <a:t>没有相关性但</a:t>
            </a:r>
            <a:r>
              <a:rPr dirty="0" sz="2000" spc="-60" b="1">
                <a:solidFill>
                  <a:srgbClr val="D50092"/>
                </a:solidFill>
                <a:latin typeface="宋体"/>
                <a:cs typeface="宋体"/>
              </a:rPr>
              <a:t>指</a:t>
            </a:r>
            <a:r>
              <a:rPr dirty="0" sz="2000" spc="-15" b="1">
                <a:solidFill>
                  <a:srgbClr val="D50092"/>
                </a:solidFill>
                <a:latin typeface="宋体"/>
                <a:cs typeface="宋体"/>
              </a:rPr>
              <a:t>令共用</a:t>
            </a:r>
            <a:r>
              <a:rPr dirty="0" sz="2000" spc="-25" b="1">
                <a:solidFill>
                  <a:srgbClr val="D50092"/>
                </a:solidFill>
                <a:latin typeface="宋体"/>
                <a:cs typeface="宋体"/>
              </a:rPr>
              <a:t>F8</a:t>
            </a:r>
            <a:endParaRPr sz="2000">
              <a:latin typeface="宋体"/>
              <a:cs typeface="宋体"/>
            </a:endParaRPr>
          </a:p>
          <a:p>
            <a:pPr marL="12700" marR="391795">
              <a:lnSpc>
                <a:spcPct val="150000"/>
              </a:lnSpc>
            </a:pPr>
            <a:r>
              <a:rPr dirty="0" sz="2000" spc="-20" b="1">
                <a:solidFill>
                  <a:srgbClr val="D50092"/>
                </a:solidFill>
                <a:latin typeface="宋体"/>
                <a:cs typeface="宋体"/>
              </a:rPr>
              <a:t>乱序后产生</a:t>
            </a:r>
            <a:r>
              <a:rPr dirty="0" sz="2000" spc="-50" b="1">
                <a:solidFill>
                  <a:srgbClr val="D50092"/>
                </a:solidFill>
                <a:latin typeface="宋体"/>
                <a:cs typeface="宋体"/>
              </a:rPr>
              <a:t> </a:t>
            </a:r>
            <a:r>
              <a:rPr dirty="0" sz="2000" spc="-10" b="1">
                <a:solidFill>
                  <a:srgbClr val="D50092"/>
                </a:solidFill>
                <a:latin typeface="宋体"/>
                <a:cs typeface="宋体"/>
              </a:rPr>
              <a:t>反相关</a:t>
            </a:r>
            <a:r>
              <a:rPr dirty="0" sz="2000" spc="-20" b="1">
                <a:solidFill>
                  <a:srgbClr val="D50092"/>
                </a:solidFill>
                <a:latin typeface="宋体"/>
                <a:cs typeface="宋体"/>
              </a:rPr>
              <a:t>（F8）</a:t>
            </a:r>
            <a:endParaRPr sz="2000">
              <a:latin typeface="宋体"/>
              <a:cs typeface="宋体"/>
            </a:endParaRPr>
          </a:p>
          <a:p>
            <a:pPr marL="12700">
              <a:lnSpc>
                <a:spcPct val="100000"/>
              </a:lnSpc>
              <a:spcBef>
                <a:spcPts val="1200"/>
              </a:spcBef>
            </a:pPr>
            <a:r>
              <a:rPr dirty="0" sz="2000" spc="-15" b="1">
                <a:solidFill>
                  <a:srgbClr val="D50092"/>
                </a:solidFill>
                <a:latin typeface="宋体"/>
                <a:cs typeface="宋体"/>
              </a:rPr>
              <a:t>可能导致</a:t>
            </a:r>
            <a:r>
              <a:rPr dirty="0" sz="2000" b="1">
                <a:solidFill>
                  <a:srgbClr val="D50092"/>
                </a:solidFill>
                <a:latin typeface="宋体"/>
                <a:cs typeface="宋体"/>
              </a:rPr>
              <a:t>WAR</a:t>
            </a:r>
            <a:r>
              <a:rPr dirty="0" sz="2000" spc="-35" b="1">
                <a:solidFill>
                  <a:srgbClr val="D50092"/>
                </a:solidFill>
                <a:latin typeface="宋体"/>
                <a:cs typeface="宋体"/>
              </a:rPr>
              <a:t>冲突</a:t>
            </a:r>
            <a:endParaRPr sz="2000">
              <a:latin typeface="宋体"/>
              <a:cs typeface="宋体"/>
            </a:endParaRPr>
          </a:p>
        </p:txBody>
      </p:sp>
      <p:sp>
        <p:nvSpPr>
          <p:cNvPr id="15" name="object 15" descr=""/>
          <p:cNvSpPr txBox="1"/>
          <p:nvPr/>
        </p:nvSpPr>
        <p:spPr>
          <a:xfrm>
            <a:off x="629818" y="4265447"/>
            <a:ext cx="10919460" cy="2133600"/>
          </a:xfrm>
          <a:prstGeom prst="rect">
            <a:avLst/>
          </a:prstGeom>
        </p:spPr>
        <p:txBody>
          <a:bodyPr wrap="square" lIns="0" tIns="12700" rIns="0" bIns="0" rtlCol="0" vert="horz">
            <a:spAutoFit/>
          </a:bodyPr>
          <a:lstStyle/>
          <a:p>
            <a:pPr marL="12700" marR="5080">
              <a:lnSpc>
                <a:spcPct val="150000"/>
              </a:lnSpc>
              <a:spcBef>
                <a:spcPts val="100"/>
              </a:spcBef>
            </a:pPr>
            <a:r>
              <a:rPr dirty="0" sz="2200" spc="-35">
                <a:solidFill>
                  <a:srgbClr val="006FC0"/>
                </a:solidFill>
                <a:latin typeface="黑体"/>
                <a:cs typeface="黑体"/>
              </a:rPr>
              <a:t>“读后写”和“写后写”通过改写寄存器名字就可以消除冒险，这表明这两种冒险其实没</a:t>
            </a:r>
            <a:r>
              <a:rPr dirty="0" sz="2200" spc="-30">
                <a:solidFill>
                  <a:srgbClr val="006FC0"/>
                </a:solidFill>
                <a:latin typeface="黑体"/>
                <a:cs typeface="黑体"/>
              </a:rPr>
              <a:t>有数据依赖，</a:t>
            </a:r>
            <a:r>
              <a:rPr dirty="0" sz="2200" spc="-25" b="1">
                <a:solidFill>
                  <a:srgbClr val="006FC0"/>
                </a:solidFill>
                <a:latin typeface="黑体"/>
                <a:cs typeface="黑体"/>
              </a:rPr>
              <a:t>即发生冒险的指令之间其实没有数据流动</a:t>
            </a:r>
            <a:r>
              <a:rPr dirty="0" sz="2200" spc="-50">
                <a:solidFill>
                  <a:srgbClr val="006FC0"/>
                </a:solidFill>
                <a:latin typeface="黑体"/>
                <a:cs typeface="黑体"/>
              </a:rPr>
              <a:t>。</a:t>
            </a:r>
            <a:endParaRPr sz="2200">
              <a:latin typeface="黑体"/>
              <a:cs typeface="黑体"/>
            </a:endParaRPr>
          </a:p>
          <a:p>
            <a:pPr>
              <a:lnSpc>
                <a:spcPct val="100000"/>
              </a:lnSpc>
            </a:pPr>
            <a:endParaRPr sz="2200">
              <a:latin typeface="黑体"/>
              <a:cs typeface="黑体"/>
            </a:endParaRPr>
          </a:p>
          <a:p>
            <a:pPr>
              <a:lnSpc>
                <a:spcPct val="100000"/>
              </a:lnSpc>
              <a:spcBef>
                <a:spcPts val="315"/>
              </a:spcBef>
            </a:pPr>
            <a:endParaRPr sz="2200">
              <a:latin typeface="黑体"/>
              <a:cs typeface="黑体"/>
            </a:endParaRPr>
          </a:p>
          <a:p>
            <a:pPr marL="227965">
              <a:lnSpc>
                <a:spcPct val="100000"/>
              </a:lnSpc>
            </a:pPr>
            <a:r>
              <a:rPr dirty="0" sz="2200" spc="-35">
                <a:solidFill>
                  <a:srgbClr val="006FC0"/>
                </a:solidFill>
                <a:latin typeface="黑体"/>
                <a:cs typeface="黑体"/>
              </a:rPr>
              <a:t>这些相关限制了指令的乱序调度，因此需要先解决这些相关才能较好地完成动态调度</a:t>
            </a:r>
            <a:endParaRPr sz="2200">
              <a:latin typeface="黑体"/>
              <a:cs typeface="黑体"/>
            </a:endParaRPr>
          </a:p>
        </p:txBody>
      </p:sp>
      <p:grpSp>
        <p:nvGrpSpPr>
          <p:cNvPr id="16" name="object 16" descr=""/>
          <p:cNvGrpSpPr/>
          <p:nvPr/>
        </p:nvGrpSpPr>
        <p:grpSpPr>
          <a:xfrm>
            <a:off x="2877439" y="2313558"/>
            <a:ext cx="4214495" cy="1283335"/>
            <a:chOff x="2877439" y="2313558"/>
            <a:chExt cx="4214495" cy="1283335"/>
          </a:xfrm>
        </p:grpSpPr>
        <p:sp>
          <p:nvSpPr>
            <p:cNvPr id="17" name="object 17" descr=""/>
            <p:cNvSpPr/>
            <p:nvPr/>
          </p:nvSpPr>
          <p:spPr>
            <a:xfrm>
              <a:off x="5162550" y="2399664"/>
              <a:ext cx="1929130" cy="1196975"/>
            </a:xfrm>
            <a:custGeom>
              <a:avLst/>
              <a:gdLst/>
              <a:ahLst/>
              <a:cxnLst/>
              <a:rect l="l" t="t" r="r" b="b"/>
              <a:pathLst>
                <a:path w="1929129" h="1196975">
                  <a:moveTo>
                    <a:pt x="1929130" y="363601"/>
                  </a:moveTo>
                  <a:lnTo>
                    <a:pt x="1927225" y="359244"/>
                  </a:lnTo>
                  <a:lnTo>
                    <a:pt x="1927987" y="354584"/>
                  </a:lnTo>
                  <a:lnTo>
                    <a:pt x="75869" y="32791"/>
                  </a:lnTo>
                  <a:lnTo>
                    <a:pt x="76250" y="30607"/>
                  </a:lnTo>
                  <a:lnTo>
                    <a:pt x="81534" y="0"/>
                  </a:lnTo>
                  <a:lnTo>
                    <a:pt x="0" y="24384"/>
                  </a:lnTo>
                  <a:lnTo>
                    <a:pt x="68580" y="75057"/>
                  </a:lnTo>
                  <a:lnTo>
                    <a:pt x="74244" y="42189"/>
                  </a:lnTo>
                  <a:lnTo>
                    <a:pt x="1910791" y="361264"/>
                  </a:lnTo>
                  <a:lnTo>
                    <a:pt x="110350" y="1157655"/>
                  </a:lnTo>
                  <a:lnTo>
                    <a:pt x="96901" y="1127125"/>
                  </a:lnTo>
                  <a:lnTo>
                    <a:pt x="42545" y="1192784"/>
                  </a:lnTo>
                  <a:lnTo>
                    <a:pt x="127635" y="1196848"/>
                  </a:lnTo>
                  <a:lnTo>
                    <a:pt x="116484" y="1171575"/>
                  </a:lnTo>
                  <a:lnTo>
                    <a:pt x="114223" y="1166444"/>
                  </a:lnTo>
                  <a:lnTo>
                    <a:pt x="1929130" y="363601"/>
                  </a:lnTo>
                  <a:close/>
                </a:path>
              </a:pathLst>
            </a:custGeom>
            <a:solidFill>
              <a:srgbClr val="FF0000"/>
            </a:solidFill>
          </p:spPr>
          <p:txBody>
            <a:bodyPr wrap="square" lIns="0" tIns="0" rIns="0" bIns="0" rtlCol="0"/>
            <a:lstStyle/>
            <a:p/>
          </p:txBody>
        </p:sp>
        <p:sp>
          <p:nvSpPr>
            <p:cNvPr id="18" name="object 18" descr=""/>
            <p:cNvSpPr/>
            <p:nvPr/>
          </p:nvSpPr>
          <p:spPr>
            <a:xfrm>
              <a:off x="2877439" y="2313558"/>
              <a:ext cx="3266440" cy="887730"/>
            </a:xfrm>
            <a:custGeom>
              <a:avLst/>
              <a:gdLst/>
              <a:ahLst/>
              <a:cxnLst/>
              <a:rect l="l" t="t" r="r" b="b"/>
              <a:pathLst>
                <a:path w="3266440" h="887730">
                  <a:moveTo>
                    <a:pt x="1970151" y="862965"/>
                  </a:moveTo>
                  <a:lnTo>
                    <a:pt x="1961870" y="856869"/>
                  </a:lnTo>
                  <a:lnTo>
                    <a:pt x="1901571" y="812419"/>
                  </a:lnTo>
                  <a:lnTo>
                    <a:pt x="1895894" y="845299"/>
                  </a:lnTo>
                  <a:lnTo>
                    <a:pt x="44069" y="523113"/>
                  </a:lnTo>
                  <a:lnTo>
                    <a:pt x="42418" y="532511"/>
                  </a:lnTo>
                  <a:lnTo>
                    <a:pt x="1894268" y="854697"/>
                  </a:lnTo>
                  <a:lnTo>
                    <a:pt x="1888617" y="887476"/>
                  </a:lnTo>
                  <a:lnTo>
                    <a:pt x="1970151" y="862965"/>
                  </a:lnTo>
                  <a:close/>
                </a:path>
                <a:path w="3266440" h="887730">
                  <a:moveTo>
                    <a:pt x="3266186" y="26416"/>
                  </a:moveTo>
                  <a:lnTo>
                    <a:pt x="3185160" y="0"/>
                  </a:lnTo>
                  <a:lnTo>
                    <a:pt x="3190100" y="32994"/>
                  </a:lnTo>
                  <a:lnTo>
                    <a:pt x="0" y="507619"/>
                  </a:lnTo>
                  <a:lnTo>
                    <a:pt x="1397" y="517144"/>
                  </a:lnTo>
                  <a:lnTo>
                    <a:pt x="3191510" y="42392"/>
                  </a:lnTo>
                  <a:lnTo>
                    <a:pt x="3196463" y="75311"/>
                  </a:lnTo>
                  <a:lnTo>
                    <a:pt x="3259480" y="31115"/>
                  </a:lnTo>
                  <a:lnTo>
                    <a:pt x="3266186" y="26416"/>
                  </a:lnTo>
                  <a:close/>
                </a:path>
              </a:pathLst>
            </a:custGeom>
            <a:solidFill>
              <a:srgbClr val="339933"/>
            </a:solidFill>
          </p:spPr>
          <p:txBody>
            <a:bodyPr wrap="square" lIns="0" tIns="0" rIns="0" bIns="0" rtlCol="0"/>
            <a:lstStyle/>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61/175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3021583" y="1124874"/>
            <a:ext cx="3568700" cy="1486535"/>
          </a:xfrm>
          <a:prstGeom prst="rect">
            <a:avLst/>
          </a:prstGeom>
        </p:spPr>
        <p:txBody>
          <a:bodyPr wrap="square" lIns="0" tIns="164465" rIns="0" bIns="0" rtlCol="0" vert="horz">
            <a:spAutoFit/>
          </a:bodyPr>
          <a:lstStyle/>
          <a:p>
            <a:pPr marL="512445" indent="-457200">
              <a:lnSpc>
                <a:spcPct val="100000"/>
              </a:lnSpc>
              <a:spcBef>
                <a:spcPts val="1295"/>
              </a:spcBef>
              <a:buSzPct val="89583"/>
              <a:buFont typeface="Wingdings"/>
              <a:buChar char=""/>
              <a:tabLst>
                <a:tab pos="512445" algn="l"/>
              </a:tabLst>
            </a:pPr>
            <a:r>
              <a:rPr dirty="0" sz="2400" spc="-10">
                <a:solidFill>
                  <a:srgbClr val="40458B"/>
                </a:solidFill>
                <a:latin typeface="黑体"/>
                <a:cs typeface="黑体"/>
              </a:rPr>
              <a:t>消除名相关</a:t>
            </a:r>
            <a:endParaRPr sz="2400">
              <a:latin typeface="黑体"/>
              <a:cs typeface="黑体"/>
            </a:endParaRPr>
          </a:p>
          <a:p>
            <a:pPr marL="469900" indent="-457200">
              <a:lnSpc>
                <a:spcPct val="100000"/>
              </a:lnSpc>
              <a:spcBef>
                <a:spcPts val="1090"/>
              </a:spcBef>
              <a:buClr>
                <a:srgbClr val="4668F5"/>
              </a:buClr>
              <a:buSzPct val="68181"/>
              <a:buFont typeface="Wingdings"/>
              <a:buChar char=""/>
              <a:tabLst>
                <a:tab pos="469900" algn="l"/>
              </a:tabLst>
            </a:pPr>
            <a:r>
              <a:rPr dirty="0" sz="2200" spc="-20" b="1">
                <a:solidFill>
                  <a:srgbClr val="9966FF"/>
                </a:solidFill>
                <a:latin typeface="宋体"/>
                <a:cs typeface="宋体"/>
              </a:rPr>
              <a:t>引入两个临时寄存器</a:t>
            </a:r>
            <a:r>
              <a:rPr dirty="0" sz="2200" spc="-10" b="1">
                <a:solidFill>
                  <a:srgbClr val="4668F5"/>
                </a:solidFill>
                <a:latin typeface="宋体"/>
                <a:cs typeface="宋体"/>
              </a:rPr>
              <a:t>S</a:t>
            </a:r>
            <a:r>
              <a:rPr dirty="0" sz="2200" spc="-20" b="1">
                <a:solidFill>
                  <a:srgbClr val="9966FF"/>
                </a:solidFill>
                <a:latin typeface="宋体"/>
                <a:cs typeface="宋体"/>
              </a:rPr>
              <a:t>和</a:t>
            </a:r>
            <a:r>
              <a:rPr dirty="0" sz="2200" spc="-50" b="1">
                <a:solidFill>
                  <a:srgbClr val="D50092"/>
                </a:solidFill>
                <a:latin typeface="宋体"/>
                <a:cs typeface="宋体"/>
              </a:rPr>
              <a:t>T</a:t>
            </a:r>
            <a:endParaRPr sz="2200">
              <a:latin typeface="宋体"/>
              <a:cs typeface="宋体"/>
            </a:endParaRPr>
          </a:p>
          <a:p>
            <a:pPr marL="469900" indent="-457200">
              <a:lnSpc>
                <a:spcPct val="100000"/>
              </a:lnSpc>
              <a:spcBef>
                <a:spcPts val="1055"/>
              </a:spcBef>
              <a:buClr>
                <a:srgbClr val="4668F5"/>
              </a:buClr>
              <a:buSzPct val="68181"/>
              <a:buFont typeface="Wingdings"/>
              <a:buChar char=""/>
              <a:tabLst>
                <a:tab pos="469900" algn="l"/>
              </a:tabLst>
            </a:pPr>
            <a:r>
              <a:rPr dirty="0" sz="2200" spc="-25" b="1">
                <a:solidFill>
                  <a:srgbClr val="9966FF"/>
                </a:solidFill>
                <a:latin typeface="宋体"/>
                <a:cs typeface="宋体"/>
              </a:rPr>
              <a:t>把这段代码改写为：</a:t>
            </a:r>
            <a:endParaRPr sz="2200">
              <a:latin typeface="宋体"/>
              <a:cs typeface="宋体"/>
            </a:endParaRPr>
          </a:p>
        </p:txBody>
      </p:sp>
      <p:sp>
        <p:nvSpPr>
          <p:cNvPr id="11" name="object 11" descr=""/>
          <p:cNvSpPr txBox="1"/>
          <p:nvPr/>
        </p:nvSpPr>
        <p:spPr>
          <a:xfrm>
            <a:off x="5178297" y="2720467"/>
            <a:ext cx="1437005" cy="360680"/>
          </a:xfrm>
          <a:prstGeom prst="rect">
            <a:avLst/>
          </a:prstGeom>
        </p:spPr>
        <p:txBody>
          <a:bodyPr wrap="square" lIns="0" tIns="12065" rIns="0" bIns="0" rtlCol="0" vert="horz">
            <a:spAutoFit/>
          </a:bodyPr>
          <a:lstStyle/>
          <a:p>
            <a:pPr marL="12700">
              <a:lnSpc>
                <a:spcPct val="100000"/>
              </a:lnSpc>
              <a:spcBef>
                <a:spcPts val="95"/>
              </a:spcBef>
            </a:pPr>
            <a:r>
              <a:rPr dirty="0" sz="2200" spc="-10" b="1">
                <a:solidFill>
                  <a:srgbClr val="9966FF"/>
                </a:solidFill>
                <a:latin typeface="宋体"/>
                <a:cs typeface="宋体"/>
              </a:rPr>
              <a:t>F0，F2，F4</a:t>
            </a:r>
            <a:endParaRPr sz="2200">
              <a:latin typeface="宋体"/>
              <a:cs typeface="宋体"/>
            </a:endParaRPr>
          </a:p>
        </p:txBody>
      </p:sp>
      <p:sp>
        <p:nvSpPr>
          <p:cNvPr id="12" name="object 12" descr=""/>
          <p:cNvSpPr txBox="1"/>
          <p:nvPr/>
        </p:nvSpPr>
        <p:spPr>
          <a:xfrm>
            <a:off x="4010914" y="2585491"/>
            <a:ext cx="734060" cy="2373630"/>
          </a:xfrm>
          <a:prstGeom prst="rect">
            <a:avLst/>
          </a:prstGeom>
        </p:spPr>
        <p:txBody>
          <a:bodyPr wrap="square" lIns="0" tIns="12700" rIns="0" bIns="0" rtlCol="0" vert="horz">
            <a:spAutoFit/>
          </a:bodyPr>
          <a:lstStyle/>
          <a:p>
            <a:pPr marL="12700" marR="5080">
              <a:lnSpc>
                <a:spcPct val="140000"/>
              </a:lnSpc>
              <a:spcBef>
                <a:spcPts val="100"/>
              </a:spcBef>
            </a:pPr>
            <a:r>
              <a:rPr dirty="0" sz="2200" spc="-10" b="1">
                <a:solidFill>
                  <a:srgbClr val="9966FF"/>
                </a:solidFill>
                <a:latin typeface="宋体"/>
                <a:cs typeface="宋体"/>
              </a:rPr>
              <a:t>DIV.D ADD.D </a:t>
            </a:r>
            <a:r>
              <a:rPr dirty="0" sz="2200" spc="-25" b="1">
                <a:solidFill>
                  <a:srgbClr val="9966FF"/>
                </a:solidFill>
                <a:latin typeface="宋体"/>
                <a:cs typeface="宋体"/>
              </a:rPr>
              <a:t>S.D </a:t>
            </a:r>
            <a:r>
              <a:rPr dirty="0" sz="2200" spc="-10" b="1">
                <a:solidFill>
                  <a:srgbClr val="9966FF"/>
                </a:solidFill>
                <a:latin typeface="宋体"/>
                <a:cs typeface="宋体"/>
              </a:rPr>
              <a:t>SUB.D MUL.D</a:t>
            </a:r>
            <a:endParaRPr sz="2200">
              <a:latin typeface="宋体"/>
              <a:cs typeface="宋体"/>
            </a:endParaRPr>
          </a:p>
        </p:txBody>
      </p:sp>
      <p:sp>
        <p:nvSpPr>
          <p:cNvPr id="13" name="object 13" descr=""/>
          <p:cNvSpPr txBox="1"/>
          <p:nvPr/>
        </p:nvSpPr>
        <p:spPr>
          <a:xfrm>
            <a:off x="5178297" y="3055391"/>
            <a:ext cx="1579245" cy="1903730"/>
          </a:xfrm>
          <a:prstGeom prst="rect">
            <a:avLst/>
          </a:prstGeom>
        </p:spPr>
        <p:txBody>
          <a:bodyPr wrap="square" lIns="0" tIns="146685" rIns="0" bIns="0" rtlCol="0" vert="horz">
            <a:spAutoFit/>
          </a:bodyPr>
          <a:lstStyle/>
          <a:p>
            <a:pPr marL="12700">
              <a:lnSpc>
                <a:spcPct val="100000"/>
              </a:lnSpc>
              <a:spcBef>
                <a:spcPts val="1155"/>
              </a:spcBef>
            </a:pPr>
            <a:r>
              <a:rPr dirty="0" sz="2200" spc="-10" b="1">
                <a:solidFill>
                  <a:srgbClr val="4668F5"/>
                </a:solidFill>
                <a:latin typeface="宋体"/>
                <a:cs typeface="宋体"/>
              </a:rPr>
              <a:t>S</a:t>
            </a:r>
            <a:r>
              <a:rPr dirty="0" sz="2200" spc="-10" b="1">
                <a:solidFill>
                  <a:srgbClr val="9966FF"/>
                </a:solidFill>
                <a:latin typeface="宋体"/>
                <a:cs typeface="宋体"/>
              </a:rPr>
              <a:t>，F0，</a:t>
            </a:r>
            <a:r>
              <a:rPr dirty="0" sz="2200" spc="-10" b="1">
                <a:solidFill>
                  <a:srgbClr val="D50092"/>
                </a:solidFill>
                <a:latin typeface="宋体"/>
                <a:cs typeface="宋体"/>
              </a:rPr>
              <a:t>F8</a:t>
            </a:r>
            <a:endParaRPr sz="2200">
              <a:latin typeface="宋体"/>
              <a:cs typeface="宋体"/>
            </a:endParaRPr>
          </a:p>
          <a:p>
            <a:pPr marL="12700">
              <a:lnSpc>
                <a:spcPct val="100000"/>
              </a:lnSpc>
              <a:spcBef>
                <a:spcPts val="1055"/>
              </a:spcBef>
            </a:pPr>
            <a:r>
              <a:rPr dirty="0" sz="2200" spc="-10" b="1">
                <a:solidFill>
                  <a:srgbClr val="4668F5"/>
                </a:solidFill>
                <a:latin typeface="宋体"/>
                <a:cs typeface="宋体"/>
              </a:rPr>
              <a:t>S</a:t>
            </a:r>
            <a:r>
              <a:rPr dirty="0" sz="2200" spc="-10" b="1">
                <a:solidFill>
                  <a:srgbClr val="9966FF"/>
                </a:solidFill>
                <a:latin typeface="宋体"/>
                <a:cs typeface="宋体"/>
              </a:rPr>
              <a:t>，0（R1）</a:t>
            </a:r>
            <a:endParaRPr sz="2200">
              <a:latin typeface="宋体"/>
              <a:cs typeface="宋体"/>
            </a:endParaRPr>
          </a:p>
          <a:p>
            <a:pPr marL="12700">
              <a:lnSpc>
                <a:spcPct val="100000"/>
              </a:lnSpc>
              <a:spcBef>
                <a:spcPts val="1055"/>
              </a:spcBef>
            </a:pPr>
            <a:r>
              <a:rPr dirty="0" sz="2200" spc="-10" b="1">
                <a:solidFill>
                  <a:srgbClr val="D50092"/>
                </a:solidFill>
                <a:latin typeface="宋体"/>
                <a:cs typeface="宋体"/>
              </a:rPr>
              <a:t>T</a:t>
            </a:r>
            <a:r>
              <a:rPr dirty="0" sz="2200" spc="-10" b="1">
                <a:solidFill>
                  <a:srgbClr val="9966FF"/>
                </a:solidFill>
                <a:latin typeface="宋体"/>
                <a:cs typeface="宋体"/>
              </a:rPr>
              <a:t>，F10，F14</a:t>
            </a:r>
            <a:endParaRPr sz="2200">
              <a:latin typeface="宋体"/>
              <a:cs typeface="宋体"/>
            </a:endParaRPr>
          </a:p>
          <a:p>
            <a:pPr marL="12700">
              <a:lnSpc>
                <a:spcPct val="100000"/>
              </a:lnSpc>
              <a:spcBef>
                <a:spcPts val="1060"/>
              </a:spcBef>
            </a:pPr>
            <a:r>
              <a:rPr dirty="0" sz="2200" spc="-10" b="1">
                <a:solidFill>
                  <a:srgbClr val="4668F5"/>
                </a:solidFill>
                <a:latin typeface="宋体"/>
                <a:cs typeface="宋体"/>
              </a:rPr>
              <a:t>F6</a:t>
            </a:r>
            <a:r>
              <a:rPr dirty="0" sz="2200" spc="-10" b="1">
                <a:solidFill>
                  <a:srgbClr val="9966FF"/>
                </a:solidFill>
                <a:latin typeface="宋体"/>
                <a:cs typeface="宋体"/>
              </a:rPr>
              <a:t>，F10，</a:t>
            </a:r>
            <a:r>
              <a:rPr dirty="0" sz="2200" spc="-10" b="1">
                <a:solidFill>
                  <a:srgbClr val="D50092"/>
                </a:solidFill>
                <a:latin typeface="宋体"/>
                <a:cs typeface="宋体"/>
              </a:rPr>
              <a:t>T</a:t>
            </a:r>
            <a:endParaRPr sz="2200">
              <a:latin typeface="宋体"/>
              <a:cs typeface="宋体"/>
            </a:endParaRPr>
          </a:p>
        </p:txBody>
      </p:sp>
      <p:sp>
        <p:nvSpPr>
          <p:cNvPr id="14" name="object 14" descr=""/>
          <p:cNvSpPr txBox="1"/>
          <p:nvPr/>
        </p:nvSpPr>
        <p:spPr>
          <a:xfrm>
            <a:off x="7169277" y="3318128"/>
            <a:ext cx="4507865" cy="628015"/>
          </a:xfrm>
          <a:prstGeom prst="rect">
            <a:avLst/>
          </a:prstGeom>
        </p:spPr>
        <p:txBody>
          <a:bodyPr wrap="square" lIns="0" tIns="29209" rIns="0" bIns="0" rtlCol="0" vert="horz">
            <a:spAutoFit/>
          </a:bodyPr>
          <a:lstStyle/>
          <a:p>
            <a:pPr marL="12700" marR="5080">
              <a:lnSpc>
                <a:spcPts val="2340"/>
              </a:lnSpc>
              <a:spcBef>
                <a:spcPts val="229"/>
              </a:spcBef>
            </a:pPr>
            <a:r>
              <a:rPr dirty="0" sz="2000" spc="-10" b="1">
                <a:solidFill>
                  <a:srgbClr val="4668F5"/>
                </a:solidFill>
                <a:latin typeface="宋体"/>
                <a:cs typeface="宋体"/>
              </a:rPr>
              <a:t>两个F6都换名为</a:t>
            </a:r>
            <a:r>
              <a:rPr dirty="0" sz="2000" spc="-20" b="1">
                <a:solidFill>
                  <a:srgbClr val="4668F5"/>
                </a:solidFill>
                <a:latin typeface="宋体"/>
                <a:cs typeface="宋体"/>
              </a:rPr>
              <a:t>S,</a:t>
            </a:r>
            <a:r>
              <a:rPr dirty="0" sz="2000" spc="-20" b="1">
                <a:solidFill>
                  <a:srgbClr val="D50092"/>
                </a:solidFill>
                <a:latin typeface="宋体"/>
                <a:cs typeface="宋体"/>
              </a:rPr>
              <a:t>S</a:t>
            </a:r>
            <a:r>
              <a:rPr dirty="0" sz="2000" spc="-10" b="1">
                <a:solidFill>
                  <a:srgbClr val="006FC0"/>
                </a:solidFill>
                <a:latin typeface="宋体"/>
                <a:cs typeface="宋体"/>
              </a:rPr>
              <a:t>可能</a:t>
            </a:r>
            <a:r>
              <a:rPr dirty="0" sz="2000" spc="-20" b="1">
                <a:solidFill>
                  <a:srgbClr val="D50092"/>
                </a:solidFill>
                <a:latin typeface="宋体"/>
                <a:cs typeface="宋体"/>
              </a:rPr>
              <a:t>为</a:t>
            </a:r>
            <a:r>
              <a:rPr dirty="0" sz="2000" spc="-10" b="1">
                <a:solidFill>
                  <a:srgbClr val="D50092"/>
                </a:solidFill>
                <a:latin typeface="宋体"/>
                <a:cs typeface="宋体"/>
              </a:rPr>
              <a:t>F6</a:t>
            </a:r>
            <a:r>
              <a:rPr dirty="0" sz="2000" spc="-30" b="1">
                <a:solidFill>
                  <a:srgbClr val="D50092"/>
                </a:solidFill>
                <a:latin typeface="宋体"/>
                <a:cs typeface="宋体"/>
              </a:rPr>
              <a:t>映射的某一</a:t>
            </a:r>
            <a:r>
              <a:rPr dirty="0" sz="2000" spc="-20" b="1">
                <a:solidFill>
                  <a:srgbClr val="D50092"/>
                </a:solidFill>
                <a:latin typeface="宋体"/>
                <a:cs typeface="宋体"/>
              </a:rPr>
              <a:t>个物理寄存器</a:t>
            </a:r>
            <a:endParaRPr sz="2000">
              <a:latin typeface="宋体"/>
              <a:cs typeface="宋体"/>
            </a:endParaRPr>
          </a:p>
        </p:txBody>
      </p:sp>
      <p:sp>
        <p:nvSpPr>
          <p:cNvPr id="15" name="object 15" descr=""/>
          <p:cNvSpPr txBox="1"/>
          <p:nvPr/>
        </p:nvSpPr>
        <p:spPr>
          <a:xfrm>
            <a:off x="286613" y="3330631"/>
            <a:ext cx="3611245" cy="1245870"/>
          </a:xfrm>
          <a:prstGeom prst="rect">
            <a:avLst/>
          </a:prstGeom>
        </p:spPr>
        <p:txBody>
          <a:bodyPr wrap="square" lIns="0" tIns="165735" rIns="0" bIns="0" rtlCol="0" vert="horz">
            <a:spAutoFit/>
          </a:bodyPr>
          <a:lstStyle/>
          <a:p>
            <a:pPr marL="12700">
              <a:lnSpc>
                <a:spcPct val="100000"/>
              </a:lnSpc>
              <a:spcBef>
                <a:spcPts val="1305"/>
              </a:spcBef>
            </a:pPr>
            <a:r>
              <a:rPr dirty="0" sz="2000" spc="-15" b="1">
                <a:solidFill>
                  <a:srgbClr val="D50092"/>
                </a:solidFill>
                <a:latin typeface="宋体"/>
                <a:cs typeface="宋体"/>
              </a:rPr>
              <a:t>两个</a:t>
            </a:r>
            <a:r>
              <a:rPr dirty="0" sz="2000" b="1">
                <a:solidFill>
                  <a:srgbClr val="D50092"/>
                </a:solidFill>
                <a:latin typeface="宋体"/>
                <a:cs typeface="宋体"/>
              </a:rPr>
              <a:t>F8</a:t>
            </a:r>
            <a:r>
              <a:rPr dirty="0" sz="2000" spc="-15" b="1">
                <a:solidFill>
                  <a:srgbClr val="D50092"/>
                </a:solidFill>
                <a:latin typeface="宋体"/>
                <a:cs typeface="宋体"/>
              </a:rPr>
              <a:t>都换名为</a:t>
            </a:r>
            <a:r>
              <a:rPr dirty="0" sz="2000" spc="-50" b="1">
                <a:solidFill>
                  <a:srgbClr val="D50092"/>
                </a:solidFill>
                <a:latin typeface="宋体"/>
                <a:cs typeface="宋体"/>
              </a:rPr>
              <a:t>T</a:t>
            </a:r>
            <a:endParaRPr sz="2000">
              <a:latin typeface="宋体"/>
              <a:cs typeface="宋体"/>
            </a:endParaRPr>
          </a:p>
          <a:p>
            <a:pPr marL="12700" marR="5080">
              <a:lnSpc>
                <a:spcPct val="100000"/>
              </a:lnSpc>
              <a:spcBef>
                <a:spcPts val="1200"/>
              </a:spcBef>
            </a:pPr>
            <a:r>
              <a:rPr dirty="0" sz="2000" spc="-20" b="1">
                <a:solidFill>
                  <a:srgbClr val="D50092"/>
                </a:solidFill>
                <a:latin typeface="宋体"/>
                <a:cs typeface="宋体"/>
              </a:rPr>
              <a:t>解决了可能乱序偶遇的两个指令</a:t>
            </a:r>
            <a:r>
              <a:rPr dirty="0" sz="2000" spc="-15" b="1">
                <a:solidFill>
                  <a:srgbClr val="D50092"/>
                </a:solidFill>
                <a:latin typeface="宋体"/>
                <a:cs typeface="宋体"/>
              </a:rPr>
              <a:t>之间的冲突：</a:t>
            </a:r>
            <a:r>
              <a:rPr dirty="0" sz="2000" spc="-20" b="1">
                <a:solidFill>
                  <a:srgbClr val="D50092"/>
                </a:solidFill>
                <a:latin typeface="宋体"/>
                <a:cs typeface="宋体"/>
              </a:rPr>
              <a:t>ADD</a:t>
            </a:r>
            <a:r>
              <a:rPr dirty="0" sz="2000" spc="-10" b="1">
                <a:solidFill>
                  <a:srgbClr val="D50092"/>
                </a:solidFill>
                <a:latin typeface="宋体"/>
                <a:cs typeface="宋体"/>
              </a:rPr>
              <a:t>和</a:t>
            </a:r>
            <a:r>
              <a:rPr dirty="0" sz="2000" spc="-25" b="1">
                <a:solidFill>
                  <a:srgbClr val="D50092"/>
                </a:solidFill>
                <a:latin typeface="宋体"/>
                <a:cs typeface="宋体"/>
              </a:rPr>
              <a:t>SUB</a:t>
            </a:r>
            <a:endParaRPr sz="2000">
              <a:latin typeface="宋体"/>
              <a:cs typeface="宋体"/>
            </a:endParaRPr>
          </a:p>
        </p:txBody>
      </p:sp>
      <p:grpSp>
        <p:nvGrpSpPr>
          <p:cNvPr id="16" name="object 16" descr=""/>
          <p:cNvGrpSpPr/>
          <p:nvPr/>
        </p:nvGrpSpPr>
        <p:grpSpPr>
          <a:xfrm>
            <a:off x="2922016" y="895350"/>
            <a:ext cx="8150859" cy="2976245"/>
            <a:chOff x="2922016" y="895350"/>
            <a:chExt cx="8150859" cy="2976245"/>
          </a:xfrm>
        </p:grpSpPr>
        <p:pic>
          <p:nvPicPr>
            <p:cNvPr id="17" name="object 17" descr=""/>
            <p:cNvPicPr/>
            <p:nvPr/>
          </p:nvPicPr>
          <p:blipFill>
            <a:blip r:embed="rId2" cstate="print"/>
            <a:stretch>
              <a:fillRect/>
            </a:stretch>
          </p:blipFill>
          <p:spPr>
            <a:xfrm>
              <a:off x="7221600" y="895350"/>
              <a:ext cx="3850765" cy="1724025"/>
            </a:xfrm>
            <a:prstGeom prst="rect">
              <a:avLst/>
            </a:prstGeom>
          </p:spPr>
        </p:pic>
        <p:sp>
          <p:nvSpPr>
            <p:cNvPr id="18" name="object 18" descr=""/>
            <p:cNvSpPr/>
            <p:nvPr/>
          </p:nvSpPr>
          <p:spPr>
            <a:xfrm>
              <a:off x="2922016" y="1756790"/>
              <a:ext cx="7633334" cy="2115185"/>
            </a:xfrm>
            <a:custGeom>
              <a:avLst/>
              <a:gdLst/>
              <a:ahLst/>
              <a:cxnLst/>
              <a:rect l="l" t="t" r="r" b="b"/>
              <a:pathLst>
                <a:path w="7633334" h="2115185">
                  <a:moveTo>
                    <a:pt x="4299458" y="508"/>
                  </a:moveTo>
                  <a:lnTo>
                    <a:pt x="4214368" y="0"/>
                  </a:lnTo>
                  <a:lnTo>
                    <a:pt x="4229011" y="29857"/>
                  </a:lnTo>
                  <a:lnTo>
                    <a:pt x="0" y="2106041"/>
                  </a:lnTo>
                  <a:lnTo>
                    <a:pt x="4318" y="2114677"/>
                  </a:lnTo>
                  <a:lnTo>
                    <a:pt x="4233240" y="38468"/>
                  </a:lnTo>
                  <a:lnTo>
                    <a:pt x="4247896" y="68326"/>
                  </a:lnTo>
                  <a:lnTo>
                    <a:pt x="4281398" y="24257"/>
                  </a:lnTo>
                  <a:lnTo>
                    <a:pt x="4299458" y="508"/>
                  </a:lnTo>
                  <a:close/>
                </a:path>
                <a:path w="7633334" h="2115185">
                  <a:moveTo>
                    <a:pt x="7633208" y="338709"/>
                  </a:moveTo>
                  <a:lnTo>
                    <a:pt x="7548245" y="343789"/>
                  </a:lnTo>
                  <a:lnTo>
                    <a:pt x="7564882" y="372643"/>
                  </a:lnTo>
                  <a:lnTo>
                    <a:pt x="5524246" y="1550670"/>
                  </a:lnTo>
                  <a:lnTo>
                    <a:pt x="5529072" y="1558798"/>
                  </a:lnTo>
                  <a:lnTo>
                    <a:pt x="7569632" y="380873"/>
                  </a:lnTo>
                  <a:lnTo>
                    <a:pt x="7586345" y="409829"/>
                  </a:lnTo>
                  <a:lnTo>
                    <a:pt x="7615047" y="366268"/>
                  </a:lnTo>
                  <a:lnTo>
                    <a:pt x="7633208" y="338709"/>
                  </a:lnTo>
                  <a:close/>
                </a:path>
              </a:pathLst>
            </a:custGeom>
            <a:solidFill>
              <a:srgbClr val="FF0000"/>
            </a:solidFill>
          </p:spPr>
          <p:txBody>
            <a:bodyPr wrap="square" lIns="0" tIns="0" rIns="0" bIns="0" rtlCol="0"/>
            <a:lstStyle/>
            <a:p/>
          </p:txBody>
        </p:sp>
      </p:grpSp>
      <p:sp>
        <p:nvSpPr>
          <p:cNvPr id="19" name="object 19" descr=""/>
          <p:cNvSpPr txBox="1"/>
          <p:nvPr/>
        </p:nvSpPr>
        <p:spPr>
          <a:xfrm>
            <a:off x="337515" y="5127040"/>
            <a:ext cx="11370310" cy="1397635"/>
          </a:xfrm>
          <a:prstGeom prst="rect">
            <a:avLst/>
          </a:prstGeom>
        </p:spPr>
        <p:txBody>
          <a:bodyPr wrap="square" lIns="0" tIns="165100" rIns="0" bIns="0" rtlCol="0" vert="horz">
            <a:spAutoFit/>
          </a:bodyPr>
          <a:lstStyle/>
          <a:p>
            <a:pPr marL="12700">
              <a:lnSpc>
                <a:spcPct val="100000"/>
              </a:lnSpc>
              <a:spcBef>
                <a:spcPts val="1300"/>
              </a:spcBef>
            </a:pPr>
            <a:r>
              <a:rPr dirty="0" sz="2000">
                <a:solidFill>
                  <a:srgbClr val="FF0000"/>
                </a:solidFill>
                <a:latin typeface="黑体"/>
                <a:cs typeface="黑体"/>
              </a:rPr>
              <a:t>区分相关</a:t>
            </a:r>
            <a:r>
              <a:rPr dirty="0" sz="2000" spc="-270">
                <a:solidFill>
                  <a:srgbClr val="006FC0"/>
                </a:solidFill>
                <a:latin typeface="黑体"/>
                <a:cs typeface="黑体"/>
              </a:rPr>
              <a:t>： </a:t>
            </a:r>
            <a:r>
              <a:rPr dirty="0" sz="2000" spc="-30">
                <a:solidFill>
                  <a:srgbClr val="D50092"/>
                </a:solidFill>
                <a:latin typeface="Calibri"/>
                <a:cs typeface="Calibri"/>
              </a:rPr>
              <a:t>RAW</a:t>
            </a:r>
            <a:r>
              <a:rPr dirty="0" sz="2000" spc="-15">
                <a:solidFill>
                  <a:srgbClr val="006FC0"/>
                </a:solidFill>
                <a:latin typeface="黑体"/>
                <a:cs typeface="黑体"/>
              </a:rPr>
              <a:t>，写后读，</a:t>
            </a:r>
            <a:r>
              <a:rPr dirty="0" sz="2000" spc="-10">
                <a:solidFill>
                  <a:srgbClr val="D50092"/>
                </a:solidFill>
                <a:latin typeface="黑体"/>
                <a:cs typeface="黑体"/>
              </a:rPr>
              <a:t>真相关</a:t>
            </a:r>
            <a:r>
              <a:rPr dirty="0" sz="2000" spc="-20">
                <a:solidFill>
                  <a:srgbClr val="006FC0"/>
                </a:solidFill>
                <a:latin typeface="黑体"/>
                <a:cs typeface="黑体"/>
              </a:rPr>
              <a:t>，是程序顺序执行才引起的；</a:t>
            </a:r>
            <a:endParaRPr sz="2000">
              <a:latin typeface="黑体"/>
              <a:cs typeface="黑体"/>
            </a:endParaRPr>
          </a:p>
          <a:p>
            <a:pPr marL="12700" marR="5080" indent="1371600">
              <a:lnSpc>
                <a:spcPts val="3600"/>
              </a:lnSpc>
              <a:spcBef>
                <a:spcPts val="120"/>
              </a:spcBef>
            </a:pPr>
            <a:r>
              <a:rPr dirty="0" sz="2000" spc="-45">
                <a:solidFill>
                  <a:srgbClr val="D50092"/>
                </a:solidFill>
                <a:latin typeface="Calibri"/>
                <a:cs typeface="Calibri"/>
              </a:rPr>
              <a:t>WAR</a:t>
            </a:r>
            <a:r>
              <a:rPr dirty="0" sz="2000">
                <a:solidFill>
                  <a:srgbClr val="D50092"/>
                </a:solidFill>
                <a:latin typeface="黑体"/>
                <a:cs typeface="黑体"/>
              </a:rPr>
              <a:t>和</a:t>
            </a:r>
            <a:r>
              <a:rPr dirty="0" sz="2000" spc="-55">
                <a:solidFill>
                  <a:srgbClr val="D50092"/>
                </a:solidFill>
                <a:latin typeface="Calibri"/>
                <a:cs typeface="Calibri"/>
              </a:rPr>
              <a:t>WAW</a:t>
            </a:r>
            <a:r>
              <a:rPr dirty="0" sz="2000" spc="-55">
                <a:solidFill>
                  <a:srgbClr val="006FC0"/>
                </a:solidFill>
                <a:latin typeface="黑体"/>
                <a:cs typeface="黑体"/>
              </a:rPr>
              <a:t>，</a:t>
            </a:r>
            <a:r>
              <a:rPr dirty="0" sz="2000" spc="-10">
                <a:solidFill>
                  <a:srgbClr val="D50092"/>
                </a:solidFill>
                <a:latin typeface="黑体"/>
                <a:cs typeface="黑体"/>
              </a:rPr>
              <a:t>假相关</a:t>
            </a:r>
            <a:r>
              <a:rPr dirty="0" sz="2000" spc="-15">
                <a:solidFill>
                  <a:srgbClr val="006FC0"/>
                </a:solidFill>
                <a:latin typeface="黑体"/>
                <a:cs typeface="黑体"/>
              </a:rPr>
              <a:t>，由程序乱序引发的（本质是由寄存器或内存资源复用引起的</a:t>
            </a:r>
            <a:r>
              <a:rPr dirty="0" sz="2000" spc="-10">
                <a:solidFill>
                  <a:srgbClr val="006FC0"/>
                </a:solidFill>
                <a:latin typeface="黑体"/>
                <a:cs typeface="黑体"/>
              </a:rPr>
              <a:t>）</a:t>
            </a:r>
            <a:r>
              <a:rPr dirty="0" sz="2000" spc="-30">
                <a:solidFill>
                  <a:srgbClr val="006FC0"/>
                </a:solidFill>
                <a:latin typeface="黑体"/>
                <a:cs typeface="黑体"/>
              </a:rPr>
              <a:t>，通</a:t>
            </a:r>
            <a:r>
              <a:rPr dirty="0" sz="2000" spc="-40">
                <a:solidFill>
                  <a:srgbClr val="006FC0"/>
                </a:solidFill>
                <a:latin typeface="黑体"/>
                <a:cs typeface="黑体"/>
              </a:rPr>
              <a:t>过寄存器换名解决或存储器资源增加等方法解决。因为没有数据流动，所 以换名也无妨。</a:t>
            </a:r>
            <a:endParaRPr sz="2000">
              <a:latin typeface="黑体"/>
              <a:cs typeface="黑体"/>
            </a:endParaRPr>
          </a:p>
        </p:txBody>
      </p:sp>
      <p:sp>
        <p:nvSpPr>
          <p:cNvPr id="20" name="object 20" descr=""/>
          <p:cNvSpPr/>
          <p:nvPr/>
        </p:nvSpPr>
        <p:spPr>
          <a:xfrm>
            <a:off x="2880614" y="3354958"/>
            <a:ext cx="3266440" cy="1070610"/>
          </a:xfrm>
          <a:custGeom>
            <a:avLst/>
            <a:gdLst/>
            <a:ahLst/>
            <a:cxnLst/>
            <a:rect l="l" t="t" r="r" b="b"/>
            <a:pathLst>
              <a:path w="3266440" h="1070610">
                <a:moveTo>
                  <a:pt x="2279396" y="1050290"/>
                </a:moveTo>
                <a:lnTo>
                  <a:pt x="2267597" y="1040511"/>
                </a:lnTo>
                <a:lnTo>
                  <a:pt x="2213864" y="995934"/>
                </a:lnTo>
                <a:lnTo>
                  <a:pt x="2206307" y="1028357"/>
                </a:lnTo>
                <a:lnTo>
                  <a:pt x="44323" y="522732"/>
                </a:lnTo>
                <a:lnTo>
                  <a:pt x="42164" y="532003"/>
                </a:lnTo>
                <a:lnTo>
                  <a:pt x="2204148" y="1037628"/>
                </a:lnTo>
                <a:lnTo>
                  <a:pt x="2196592" y="1070102"/>
                </a:lnTo>
                <a:lnTo>
                  <a:pt x="2279396" y="1050290"/>
                </a:lnTo>
                <a:close/>
              </a:path>
              <a:path w="3266440" h="1070610">
                <a:moveTo>
                  <a:pt x="3266186" y="26416"/>
                </a:moveTo>
                <a:lnTo>
                  <a:pt x="3185160" y="0"/>
                </a:lnTo>
                <a:lnTo>
                  <a:pt x="3190087" y="32867"/>
                </a:lnTo>
                <a:lnTo>
                  <a:pt x="0" y="507365"/>
                </a:lnTo>
                <a:lnTo>
                  <a:pt x="1397" y="516763"/>
                </a:lnTo>
                <a:lnTo>
                  <a:pt x="3191510" y="42392"/>
                </a:lnTo>
                <a:lnTo>
                  <a:pt x="3196463" y="75311"/>
                </a:lnTo>
                <a:lnTo>
                  <a:pt x="3259658" y="30988"/>
                </a:lnTo>
                <a:lnTo>
                  <a:pt x="3266186" y="26416"/>
                </a:lnTo>
                <a:close/>
              </a:path>
            </a:pathLst>
          </a:custGeom>
          <a:solidFill>
            <a:srgbClr val="339933"/>
          </a:solidFill>
        </p:spPr>
        <p:txBody>
          <a:bodyPr wrap="square" lIns="0" tIns="0" rIns="0" bIns="0" rtlCol="0"/>
          <a:lstStyle/>
          <a:p/>
        </p:txBody>
      </p:sp>
      <p:sp>
        <p:nvSpPr>
          <p:cNvPr id="21" name="object 21" descr=""/>
          <p:cNvSpPr/>
          <p:nvPr/>
        </p:nvSpPr>
        <p:spPr>
          <a:xfrm>
            <a:off x="6419850" y="3355212"/>
            <a:ext cx="744855" cy="431165"/>
          </a:xfrm>
          <a:custGeom>
            <a:avLst/>
            <a:gdLst/>
            <a:ahLst/>
            <a:cxnLst/>
            <a:rect l="l" t="t" r="r" b="b"/>
            <a:pathLst>
              <a:path w="744854" h="431164">
                <a:moveTo>
                  <a:pt x="744728" y="144272"/>
                </a:moveTo>
                <a:lnTo>
                  <a:pt x="742950" y="139852"/>
                </a:lnTo>
                <a:lnTo>
                  <a:pt x="743712" y="135128"/>
                </a:lnTo>
                <a:lnTo>
                  <a:pt x="76009" y="33032"/>
                </a:lnTo>
                <a:lnTo>
                  <a:pt x="76301" y="31115"/>
                </a:lnTo>
                <a:lnTo>
                  <a:pt x="81026" y="0"/>
                </a:lnTo>
                <a:lnTo>
                  <a:pt x="0" y="26162"/>
                </a:lnTo>
                <a:lnTo>
                  <a:pt x="69596" y="75311"/>
                </a:lnTo>
                <a:lnTo>
                  <a:pt x="74587" y="42430"/>
                </a:lnTo>
                <a:lnTo>
                  <a:pt x="724369" y="141935"/>
                </a:lnTo>
                <a:lnTo>
                  <a:pt x="85610" y="390918"/>
                </a:lnTo>
                <a:lnTo>
                  <a:pt x="73533" y="359918"/>
                </a:lnTo>
                <a:lnTo>
                  <a:pt x="16383" y="423037"/>
                </a:lnTo>
                <a:lnTo>
                  <a:pt x="101219" y="430911"/>
                </a:lnTo>
                <a:lnTo>
                  <a:pt x="90855" y="404368"/>
                </a:lnTo>
                <a:lnTo>
                  <a:pt x="89077" y="399796"/>
                </a:lnTo>
                <a:lnTo>
                  <a:pt x="744728" y="144272"/>
                </a:lnTo>
                <a:close/>
              </a:path>
            </a:pathLst>
          </a:custGeom>
          <a:solidFill>
            <a:srgbClr val="FF0000"/>
          </a:solidFill>
        </p:spPr>
        <p:txBody>
          <a:bodyPr wrap="square" lIns="0" tIns="0" rIns="0" bIns="0" rtlCol="0"/>
          <a:lstStyle/>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63/175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988691" y="113487"/>
            <a:ext cx="3686175" cy="514350"/>
          </a:xfrm>
          <a:prstGeom prst="rect"/>
        </p:spPr>
        <p:txBody>
          <a:bodyPr wrap="square" lIns="0" tIns="13335" rIns="0" bIns="0" rtlCol="0" vert="horz">
            <a:spAutoFit/>
          </a:bodyPr>
          <a:lstStyle/>
          <a:p>
            <a:pPr marL="12700">
              <a:lnSpc>
                <a:spcPct val="100000"/>
              </a:lnSpc>
              <a:spcBef>
                <a:spcPts val="105"/>
              </a:spcBef>
            </a:pPr>
            <a:r>
              <a:rPr dirty="0"/>
              <a:t>5.3</a:t>
            </a:r>
            <a:r>
              <a:rPr dirty="0" spc="-20"/>
              <a:t> 指令的动态调度</a:t>
            </a:r>
          </a:p>
        </p:txBody>
      </p:sp>
      <p:sp>
        <p:nvSpPr>
          <p:cNvPr id="10" name="object 10" descr=""/>
          <p:cNvSpPr txBox="1"/>
          <p:nvPr/>
        </p:nvSpPr>
        <p:spPr>
          <a:xfrm>
            <a:off x="6530332" y="1539259"/>
            <a:ext cx="1076325" cy="236854"/>
          </a:xfrm>
          <a:prstGeom prst="rect">
            <a:avLst/>
          </a:prstGeom>
        </p:spPr>
        <p:txBody>
          <a:bodyPr wrap="square" lIns="0" tIns="16510" rIns="0" bIns="0" rtlCol="0" vert="horz">
            <a:spAutoFit/>
          </a:bodyPr>
          <a:lstStyle/>
          <a:p>
            <a:pPr marL="12700">
              <a:lnSpc>
                <a:spcPct val="100000"/>
              </a:lnSpc>
              <a:spcBef>
                <a:spcPts val="130"/>
              </a:spcBef>
            </a:pPr>
            <a:r>
              <a:rPr dirty="0" sz="1350" spc="-130" b="1">
                <a:latin typeface="宋体"/>
                <a:cs typeface="宋体"/>
              </a:rPr>
              <a:t>浮点寄存器 </a:t>
            </a:r>
            <a:r>
              <a:rPr dirty="0" sz="1350" spc="-25" b="1">
                <a:latin typeface="Times New Roman"/>
                <a:cs typeface="Times New Roman"/>
              </a:rPr>
              <a:t>FP</a:t>
            </a:r>
            <a:endParaRPr sz="1350">
              <a:latin typeface="Times New Roman"/>
              <a:cs typeface="Times New Roman"/>
            </a:endParaRPr>
          </a:p>
        </p:txBody>
      </p:sp>
      <p:sp>
        <p:nvSpPr>
          <p:cNvPr id="11" name="object 11" descr=""/>
          <p:cNvSpPr txBox="1"/>
          <p:nvPr/>
        </p:nvSpPr>
        <p:spPr>
          <a:xfrm>
            <a:off x="2612447" y="2929371"/>
            <a:ext cx="893444" cy="236854"/>
          </a:xfrm>
          <a:prstGeom prst="rect">
            <a:avLst/>
          </a:prstGeom>
        </p:spPr>
        <p:txBody>
          <a:bodyPr wrap="square" lIns="0" tIns="16510" rIns="0" bIns="0" rtlCol="0" vert="horz">
            <a:spAutoFit/>
          </a:bodyPr>
          <a:lstStyle/>
          <a:p>
            <a:pPr marL="12700">
              <a:lnSpc>
                <a:spcPct val="100000"/>
              </a:lnSpc>
              <a:spcBef>
                <a:spcPts val="130"/>
              </a:spcBef>
            </a:pPr>
            <a:r>
              <a:rPr dirty="0" sz="1350" spc="-40" b="1">
                <a:latin typeface="Times New Roman"/>
                <a:cs typeface="Times New Roman"/>
              </a:rPr>
              <a:t>store</a:t>
            </a:r>
            <a:r>
              <a:rPr dirty="0" sz="1350" spc="-25" b="1">
                <a:latin typeface="Times New Roman"/>
                <a:cs typeface="Times New Roman"/>
              </a:rPr>
              <a:t> </a:t>
            </a:r>
            <a:r>
              <a:rPr dirty="0" sz="1350" spc="-70" b="1">
                <a:latin typeface="宋体"/>
                <a:cs typeface="宋体"/>
              </a:rPr>
              <a:t>缓冲器</a:t>
            </a:r>
            <a:endParaRPr sz="1350">
              <a:latin typeface="宋体"/>
              <a:cs typeface="宋体"/>
            </a:endParaRPr>
          </a:p>
        </p:txBody>
      </p:sp>
      <p:sp>
        <p:nvSpPr>
          <p:cNvPr id="12" name="object 12" descr=""/>
          <p:cNvSpPr txBox="1"/>
          <p:nvPr/>
        </p:nvSpPr>
        <p:spPr>
          <a:xfrm>
            <a:off x="3849896" y="2894293"/>
            <a:ext cx="904240" cy="302260"/>
          </a:xfrm>
          <a:prstGeom prst="rect">
            <a:avLst/>
          </a:prstGeom>
          <a:ln w="14426">
            <a:solidFill>
              <a:srgbClr val="000000"/>
            </a:solidFill>
          </a:ln>
        </p:spPr>
        <p:txBody>
          <a:bodyPr wrap="square" lIns="0" tIns="52069" rIns="0" bIns="0" rtlCol="0" vert="horz">
            <a:spAutoFit/>
          </a:bodyPr>
          <a:lstStyle/>
          <a:p>
            <a:pPr marL="131445">
              <a:lnSpc>
                <a:spcPct val="100000"/>
              </a:lnSpc>
              <a:spcBef>
                <a:spcPts val="409"/>
              </a:spcBef>
            </a:pPr>
            <a:r>
              <a:rPr dirty="0" sz="1350" spc="-80" b="1">
                <a:latin typeface="宋体"/>
                <a:cs typeface="宋体"/>
              </a:rPr>
              <a:t>地址部件</a:t>
            </a:r>
            <a:endParaRPr sz="1350">
              <a:latin typeface="宋体"/>
              <a:cs typeface="宋体"/>
            </a:endParaRPr>
          </a:p>
        </p:txBody>
      </p:sp>
      <p:sp>
        <p:nvSpPr>
          <p:cNvPr id="13" name="object 13" descr=""/>
          <p:cNvSpPr txBox="1"/>
          <p:nvPr/>
        </p:nvSpPr>
        <p:spPr>
          <a:xfrm>
            <a:off x="6039615" y="2627614"/>
            <a:ext cx="673100" cy="236854"/>
          </a:xfrm>
          <a:prstGeom prst="rect">
            <a:avLst/>
          </a:prstGeom>
        </p:spPr>
        <p:txBody>
          <a:bodyPr wrap="square" lIns="0" tIns="16510" rIns="0" bIns="0" rtlCol="0" vert="horz">
            <a:spAutoFit/>
          </a:bodyPr>
          <a:lstStyle/>
          <a:p>
            <a:pPr marL="12700">
              <a:lnSpc>
                <a:spcPct val="100000"/>
              </a:lnSpc>
              <a:spcBef>
                <a:spcPts val="130"/>
              </a:spcBef>
            </a:pPr>
            <a:r>
              <a:rPr dirty="0" sz="1350" spc="-80" b="1">
                <a:latin typeface="宋体"/>
                <a:cs typeface="宋体"/>
              </a:rPr>
              <a:t>浮点操作</a:t>
            </a:r>
            <a:endParaRPr sz="1350">
              <a:latin typeface="宋体"/>
              <a:cs typeface="宋体"/>
            </a:endParaRPr>
          </a:p>
        </p:txBody>
      </p:sp>
      <p:sp>
        <p:nvSpPr>
          <p:cNvPr id="14" name="object 14" descr=""/>
          <p:cNvSpPr txBox="1"/>
          <p:nvPr/>
        </p:nvSpPr>
        <p:spPr>
          <a:xfrm>
            <a:off x="6491440" y="3050971"/>
            <a:ext cx="834390" cy="236854"/>
          </a:xfrm>
          <a:prstGeom prst="rect">
            <a:avLst/>
          </a:prstGeom>
        </p:spPr>
        <p:txBody>
          <a:bodyPr wrap="square" lIns="0" tIns="16510" rIns="0" bIns="0" rtlCol="0" vert="horz">
            <a:spAutoFit/>
          </a:bodyPr>
          <a:lstStyle/>
          <a:p>
            <a:pPr marL="12700">
              <a:lnSpc>
                <a:spcPct val="100000"/>
              </a:lnSpc>
              <a:spcBef>
                <a:spcPts val="130"/>
              </a:spcBef>
            </a:pPr>
            <a:r>
              <a:rPr dirty="0" sz="1350" spc="-85" b="1">
                <a:latin typeface="宋体"/>
                <a:cs typeface="宋体"/>
              </a:rPr>
              <a:t>操作数总线</a:t>
            </a:r>
            <a:endParaRPr sz="1350">
              <a:latin typeface="宋体"/>
              <a:cs typeface="宋体"/>
            </a:endParaRPr>
          </a:p>
        </p:txBody>
      </p:sp>
      <p:sp>
        <p:nvSpPr>
          <p:cNvPr id="15" name="object 15" descr=""/>
          <p:cNvSpPr txBox="1"/>
          <p:nvPr/>
        </p:nvSpPr>
        <p:spPr>
          <a:xfrm>
            <a:off x="6459514" y="3715773"/>
            <a:ext cx="1223010" cy="236854"/>
          </a:xfrm>
          <a:prstGeom prst="rect">
            <a:avLst/>
          </a:prstGeom>
        </p:spPr>
        <p:txBody>
          <a:bodyPr wrap="square" lIns="0" tIns="16510" rIns="0" bIns="0" rtlCol="0" vert="horz">
            <a:spAutoFit/>
          </a:bodyPr>
          <a:lstStyle/>
          <a:p>
            <a:pPr marL="287655">
              <a:lnSpc>
                <a:spcPct val="100000"/>
              </a:lnSpc>
              <a:spcBef>
                <a:spcPts val="130"/>
              </a:spcBef>
            </a:pPr>
            <a:r>
              <a:rPr dirty="0" sz="1350" spc="-80" b="1">
                <a:latin typeface="宋体"/>
                <a:cs typeface="宋体"/>
              </a:rPr>
              <a:t>操作总线</a:t>
            </a:r>
            <a:endParaRPr sz="1350">
              <a:latin typeface="宋体"/>
              <a:cs typeface="宋体"/>
            </a:endParaRPr>
          </a:p>
        </p:txBody>
      </p:sp>
      <p:sp>
        <p:nvSpPr>
          <p:cNvPr id="16" name="object 16" descr=""/>
          <p:cNvSpPr txBox="1"/>
          <p:nvPr/>
        </p:nvSpPr>
        <p:spPr>
          <a:xfrm>
            <a:off x="2537136" y="4984343"/>
            <a:ext cx="353060" cy="236854"/>
          </a:xfrm>
          <a:prstGeom prst="rect">
            <a:avLst/>
          </a:prstGeom>
        </p:spPr>
        <p:txBody>
          <a:bodyPr wrap="square" lIns="0" tIns="16510" rIns="0" bIns="0" rtlCol="0" vert="horz">
            <a:spAutoFit/>
          </a:bodyPr>
          <a:lstStyle/>
          <a:p>
            <a:pPr marL="12700">
              <a:lnSpc>
                <a:spcPct val="100000"/>
              </a:lnSpc>
              <a:spcBef>
                <a:spcPts val="130"/>
              </a:spcBef>
            </a:pPr>
            <a:r>
              <a:rPr dirty="0" sz="1350" spc="-65" b="1">
                <a:latin typeface="宋体"/>
                <a:cs typeface="宋体"/>
              </a:rPr>
              <a:t>数据</a:t>
            </a:r>
            <a:endParaRPr sz="1350">
              <a:latin typeface="宋体"/>
              <a:cs typeface="宋体"/>
            </a:endParaRPr>
          </a:p>
        </p:txBody>
      </p:sp>
      <p:grpSp>
        <p:nvGrpSpPr>
          <p:cNvPr id="17" name="object 17" descr=""/>
          <p:cNvGrpSpPr/>
          <p:nvPr/>
        </p:nvGrpSpPr>
        <p:grpSpPr>
          <a:xfrm>
            <a:off x="2637536" y="1617294"/>
            <a:ext cx="6493510" cy="3279775"/>
            <a:chOff x="2637536" y="1617294"/>
            <a:chExt cx="6493510" cy="3279775"/>
          </a:xfrm>
        </p:grpSpPr>
        <p:sp>
          <p:nvSpPr>
            <p:cNvPr id="18" name="object 18" descr=""/>
            <p:cNvSpPr/>
            <p:nvPr/>
          </p:nvSpPr>
          <p:spPr>
            <a:xfrm>
              <a:off x="5356924" y="1624279"/>
              <a:ext cx="829310" cy="907415"/>
            </a:xfrm>
            <a:custGeom>
              <a:avLst/>
              <a:gdLst/>
              <a:ahLst/>
              <a:cxnLst/>
              <a:rect l="l" t="t" r="r" b="b"/>
              <a:pathLst>
                <a:path w="829310" h="907414">
                  <a:moveTo>
                    <a:pt x="828824" y="0"/>
                  </a:moveTo>
                  <a:lnTo>
                    <a:pt x="0" y="0"/>
                  </a:lnTo>
                  <a:lnTo>
                    <a:pt x="0" y="907007"/>
                  </a:lnTo>
                  <a:lnTo>
                    <a:pt x="828824" y="907007"/>
                  </a:lnTo>
                  <a:lnTo>
                    <a:pt x="828824" y="0"/>
                  </a:lnTo>
                  <a:close/>
                </a:path>
              </a:pathLst>
            </a:custGeom>
            <a:solidFill>
              <a:srgbClr val="FFCC99"/>
            </a:solidFill>
          </p:spPr>
          <p:txBody>
            <a:bodyPr wrap="square" lIns="0" tIns="0" rIns="0" bIns="0" rtlCol="0"/>
            <a:lstStyle/>
            <a:p/>
          </p:txBody>
        </p:sp>
        <p:sp>
          <p:nvSpPr>
            <p:cNvPr id="19" name="object 19" descr=""/>
            <p:cNvSpPr/>
            <p:nvPr/>
          </p:nvSpPr>
          <p:spPr>
            <a:xfrm>
              <a:off x="5356924" y="1624279"/>
              <a:ext cx="829310" cy="907415"/>
            </a:xfrm>
            <a:custGeom>
              <a:avLst/>
              <a:gdLst/>
              <a:ahLst/>
              <a:cxnLst/>
              <a:rect l="l" t="t" r="r" b="b"/>
              <a:pathLst>
                <a:path w="829310" h="907414">
                  <a:moveTo>
                    <a:pt x="0" y="907007"/>
                  </a:moveTo>
                  <a:lnTo>
                    <a:pt x="828824" y="907007"/>
                  </a:lnTo>
                  <a:lnTo>
                    <a:pt x="828824" y="0"/>
                  </a:lnTo>
                  <a:lnTo>
                    <a:pt x="0" y="0"/>
                  </a:lnTo>
                  <a:lnTo>
                    <a:pt x="0" y="907007"/>
                  </a:lnTo>
                  <a:close/>
                </a:path>
              </a:pathLst>
            </a:custGeom>
            <a:ln w="13881">
              <a:solidFill>
                <a:srgbClr val="000000"/>
              </a:solidFill>
            </a:ln>
          </p:spPr>
          <p:txBody>
            <a:bodyPr wrap="square" lIns="0" tIns="0" rIns="0" bIns="0" rtlCol="0"/>
            <a:lstStyle/>
            <a:p/>
          </p:txBody>
        </p:sp>
        <p:sp>
          <p:nvSpPr>
            <p:cNvPr id="20" name="object 20" descr=""/>
            <p:cNvSpPr/>
            <p:nvPr/>
          </p:nvSpPr>
          <p:spPr>
            <a:xfrm>
              <a:off x="5356923" y="1798522"/>
              <a:ext cx="829310" cy="558800"/>
            </a:xfrm>
            <a:custGeom>
              <a:avLst/>
              <a:gdLst/>
              <a:ahLst/>
              <a:cxnLst/>
              <a:rect l="l" t="t" r="r" b="b"/>
              <a:pathLst>
                <a:path w="829310" h="558800">
                  <a:moveTo>
                    <a:pt x="828903" y="543979"/>
                  </a:moveTo>
                  <a:lnTo>
                    <a:pt x="0" y="543979"/>
                  </a:lnTo>
                  <a:lnTo>
                    <a:pt x="0" y="558507"/>
                  </a:lnTo>
                  <a:lnTo>
                    <a:pt x="828903" y="558507"/>
                  </a:lnTo>
                  <a:lnTo>
                    <a:pt x="828903" y="543979"/>
                  </a:lnTo>
                  <a:close/>
                </a:path>
                <a:path w="829310" h="558800">
                  <a:moveTo>
                    <a:pt x="828903" y="363042"/>
                  </a:moveTo>
                  <a:lnTo>
                    <a:pt x="0" y="363042"/>
                  </a:lnTo>
                  <a:lnTo>
                    <a:pt x="0" y="377571"/>
                  </a:lnTo>
                  <a:lnTo>
                    <a:pt x="828903" y="377571"/>
                  </a:lnTo>
                  <a:lnTo>
                    <a:pt x="828903" y="363042"/>
                  </a:lnTo>
                  <a:close/>
                </a:path>
                <a:path w="829310" h="558800">
                  <a:moveTo>
                    <a:pt x="828903" y="181521"/>
                  </a:moveTo>
                  <a:lnTo>
                    <a:pt x="0" y="181521"/>
                  </a:lnTo>
                  <a:lnTo>
                    <a:pt x="0" y="196049"/>
                  </a:lnTo>
                  <a:lnTo>
                    <a:pt x="828903" y="196049"/>
                  </a:lnTo>
                  <a:lnTo>
                    <a:pt x="828903" y="181521"/>
                  </a:lnTo>
                  <a:close/>
                </a:path>
                <a:path w="829310" h="558800">
                  <a:moveTo>
                    <a:pt x="828903" y="0"/>
                  </a:moveTo>
                  <a:lnTo>
                    <a:pt x="0" y="0"/>
                  </a:lnTo>
                  <a:lnTo>
                    <a:pt x="0" y="14528"/>
                  </a:lnTo>
                  <a:lnTo>
                    <a:pt x="828903" y="14528"/>
                  </a:lnTo>
                  <a:lnTo>
                    <a:pt x="828903" y="0"/>
                  </a:lnTo>
                  <a:close/>
                </a:path>
              </a:pathLst>
            </a:custGeom>
            <a:solidFill>
              <a:srgbClr val="000000"/>
            </a:solidFill>
          </p:spPr>
          <p:txBody>
            <a:bodyPr wrap="square" lIns="0" tIns="0" rIns="0" bIns="0" rtlCol="0"/>
            <a:lstStyle/>
            <a:p/>
          </p:txBody>
        </p:sp>
        <p:sp>
          <p:nvSpPr>
            <p:cNvPr id="21" name="object 21" descr=""/>
            <p:cNvSpPr/>
            <p:nvPr/>
          </p:nvSpPr>
          <p:spPr>
            <a:xfrm>
              <a:off x="2644521" y="3498626"/>
              <a:ext cx="1130300" cy="1330325"/>
            </a:xfrm>
            <a:custGeom>
              <a:avLst/>
              <a:gdLst/>
              <a:ahLst/>
              <a:cxnLst/>
              <a:rect l="l" t="t" r="r" b="b"/>
              <a:pathLst>
                <a:path w="1130300" h="1330325">
                  <a:moveTo>
                    <a:pt x="1130064" y="0"/>
                  </a:moveTo>
                  <a:lnTo>
                    <a:pt x="0" y="0"/>
                  </a:lnTo>
                  <a:lnTo>
                    <a:pt x="0" y="1329877"/>
                  </a:lnTo>
                  <a:lnTo>
                    <a:pt x="1130064" y="1329877"/>
                  </a:lnTo>
                  <a:lnTo>
                    <a:pt x="1130064" y="0"/>
                  </a:lnTo>
                  <a:close/>
                </a:path>
              </a:pathLst>
            </a:custGeom>
            <a:solidFill>
              <a:srgbClr val="CCFFCC"/>
            </a:solidFill>
          </p:spPr>
          <p:txBody>
            <a:bodyPr wrap="square" lIns="0" tIns="0" rIns="0" bIns="0" rtlCol="0"/>
            <a:lstStyle/>
            <a:p/>
          </p:txBody>
        </p:sp>
        <p:sp>
          <p:nvSpPr>
            <p:cNvPr id="22" name="object 22" descr=""/>
            <p:cNvSpPr/>
            <p:nvPr/>
          </p:nvSpPr>
          <p:spPr>
            <a:xfrm>
              <a:off x="2644521" y="3498626"/>
              <a:ext cx="1130300" cy="1330325"/>
            </a:xfrm>
            <a:custGeom>
              <a:avLst/>
              <a:gdLst/>
              <a:ahLst/>
              <a:cxnLst/>
              <a:rect l="l" t="t" r="r" b="b"/>
              <a:pathLst>
                <a:path w="1130300" h="1330325">
                  <a:moveTo>
                    <a:pt x="0" y="1329877"/>
                  </a:moveTo>
                  <a:lnTo>
                    <a:pt x="1130064" y="1329877"/>
                  </a:lnTo>
                  <a:lnTo>
                    <a:pt x="1130064" y="0"/>
                  </a:lnTo>
                  <a:lnTo>
                    <a:pt x="0" y="0"/>
                  </a:lnTo>
                  <a:lnTo>
                    <a:pt x="0" y="1329877"/>
                  </a:lnTo>
                  <a:close/>
                </a:path>
              </a:pathLst>
            </a:custGeom>
            <a:ln w="13838">
              <a:solidFill>
                <a:srgbClr val="000000"/>
              </a:solidFill>
            </a:ln>
          </p:spPr>
          <p:txBody>
            <a:bodyPr wrap="square" lIns="0" tIns="0" rIns="0" bIns="0" rtlCol="0"/>
            <a:lstStyle/>
            <a:p/>
          </p:txBody>
        </p:sp>
        <p:sp>
          <p:nvSpPr>
            <p:cNvPr id="23" name="object 23" descr=""/>
            <p:cNvSpPr/>
            <p:nvPr/>
          </p:nvSpPr>
          <p:spPr>
            <a:xfrm>
              <a:off x="2644521" y="3712705"/>
              <a:ext cx="1130300" cy="902335"/>
            </a:xfrm>
            <a:custGeom>
              <a:avLst/>
              <a:gdLst/>
              <a:ahLst/>
              <a:cxnLst/>
              <a:rect l="l" t="t" r="r" b="b"/>
              <a:pathLst>
                <a:path w="1130300" h="902335">
                  <a:moveTo>
                    <a:pt x="1130058" y="887272"/>
                  </a:moveTo>
                  <a:lnTo>
                    <a:pt x="0" y="887272"/>
                  </a:lnTo>
                  <a:lnTo>
                    <a:pt x="0" y="901801"/>
                  </a:lnTo>
                  <a:lnTo>
                    <a:pt x="1130058" y="901801"/>
                  </a:lnTo>
                  <a:lnTo>
                    <a:pt x="1130058" y="887272"/>
                  </a:lnTo>
                  <a:close/>
                </a:path>
                <a:path w="1130300" h="902335">
                  <a:moveTo>
                    <a:pt x="1130058" y="665073"/>
                  </a:moveTo>
                  <a:lnTo>
                    <a:pt x="0" y="665073"/>
                  </a:lnTo>
                  <a:lnTo>
                    <a:pt x="0" y="679602"/>
                  </a:lnTo>
                  <a:lnTo>
                    <a:pt x="1130058" y="679602"/>
                  </a:lnTo>
                  <a:lnTo>
                    <a:pt x="1130058" y="665073"/>
                  </a:lnTo>
                  <a:close/>
                </a:path>
                <a:path w="1130300" h="902335">
                  <a:moveTo>
                    <a:pt x="1130058" y="443839"/>
                  </a:moveTo>
                  <a:lnTo>
                    <a:pt x="0" y="443839"/>
                  </a:lnTo>
                  <a:lnTo>
                    <a:pt x="0" y="458368"/>
                  </a:lnTo>
                  <a:lnTo>
                    <a:pt x="1130058" y="458368"/>
                  </a:lnTo>
                  <a:lnTo>
                    <a:pt x="1130058" y="443839"/>
                  </a:lnTo>
                  <a:close/>
                </a:path>
                <a:path w="1130300" h="902335">
                  <a:moveTo>
                    <a:pt x="1130058" y="222123"/>
                  </a:moveTo>
                  <a:lnTo>
                    <a:pt x="0" y="222123"/>
                  </a:lnTo>
                  <a:lnTo>
                    <a:pt x="0" y="236651"/>
                  </a:lnTo>
                  <a:lnTo>
                    <a:pt x="1130058" y="236651"/>
                  </a:lnTo>
                  <a:lnTo>
                    <a:pt x="1130058" y="222123"/>
                  </a:lnTo>
                  <a:close/>
                </a:path>
                <a:path w="1130300" h="902335">
                  <a:moveTo>
                    <a:pt x="1130058" y="0"/>
                  </a:moveTo>
                  <a:lnTo>
                    <a:pt x="0" y="0"/>
                  </a:lnTo>
                  <a:lnTo>
                    <a:pt x="0" y="14528"/>
                  </a:lnTo>
                  <a:lnTo>
                    <a:pt x="1130058" y="14528"/>
                  </a:lnTo>
                  <a:lnTo>
                    <a:pt x="1130058" y="0"/>
                  </a:lnTo>
                  <a:close/>
                </a:path>
              </a:pathLst>
            </a:custGeom>
            <a:solidFill>
              <a:srgbClr val="000000"/>
            </a:solidFill>
          </p:spPr>
          <p:txBody>
            <a:bodyPr wrap="square" lIns="0" tIns="0" rIns="0" bIns="0" rtlCol="0"/>
            <a:lstStyle/>
            <a:p/>
          </p:txBody>
        </p:sp>
        <p:sp>
          <p:nvSpPr>
            <p:cNvPr id="24" name="object 24" descr=""/>
            <p:cNvSpPr/>
            <p:nvPr/>
          </p:nvSpPr>
          <p:spPr>
            <a:xfrm>
              <a:off x="3209544" y="3498626"/>
              <a:ext cx="0" cy="1330325"/>
            </a:xfrm>
            <a:custGeom>
              <a:avLst/>
              <a:gdLst/>
              <a:ahLst/>
              <a:cxnLst/>
              <a:rect l="l" t="t" r="r" b="b"/>
              <a:pathLst>
                <a:path w="0" h="1330325">
                  <a:moveTo>
                    <a:pt x="0" y="0"/>
                  </a:moveTo>
                  <a:lnTo>
                    <a:pt x="0" y="1329877"/>
                  </a:lnTo>
                </a:path>
              </a:pathLst>
            </a:custGeom>
            <a:ln w="13340">
              <a:solidFill>
                <a:srgbClr val="000000"/>
              </a:solidFill>
            </a:ln>
          </p:spPr>
          <p:txBody>
            <a:bodyPr wrap="square" lIns="0" tIns="0" rIns="0" bIns="0" rtlCol="0"/>
            <a:lstStyle/>
            <a:p/>
          </p:txBody>
        </p:sp>
        <p:sp>
          <p:nvSpPr>
            <p:cNvPr id="25" name="object 25" descr=""/>
            <p:cNvSpPr/>
            <p:nvPr/>
          </p:nvSpPr>
          <p:spPr>
            <a:xfrm>
              <a:off x="4038386" y="3498626"/>
              <a:ext cx="565150" cy="1330325"/>
            </a:xfrm>
            <a:custGeom>
              <a:avLst/>
              <a:gdLst/>
              <a:ahLst/>
              <a:cxnLst/>
              <a:rect l="l" t="t" r="r" b="b"/>
              <a:pathLst>
                <a:path w="565150" h="1330325">
                  <a:moveTo>
                    <a:pt x="565041" y="0"/>
                  </a:moveTo>
                  <a:lnTo>
                    <a:pt x="0" y="0"/>
                  </a:lnTo>
                  <a:lnTo>
                    <a:pt x="0" y="1329877"/>
                  </a:lnTo>
                  <a:lnTo>
                    <a:pt x="565041" y="1329877"/>
                  </a:lnTo>
                  <a:lnTo>
                    <a:pt x="565041" y="0"/>
                  </a:lnTo>
                  <a:close/>
                </a:path>
              </a:pathLst>
            </a:custGeom>
            <a:solidFill>
              <a:srgbClr val="CCFFCC"/>
            </a:solidFill>
          </p:spPr>
          <p:txBody>
            <a:bodyPr wrap="square" lIns="0" tIns="0" rIns="0" bIns="0" rtlCol="0"/>
            <a:lstStyle/>
            <a:p/>
          </p:txBody>
        </p:sp>
        <p:sp>
          <p:nvSpPr>
            <p:cNvPr id="26" name="object 26" descr=""/>
            <p:cNvSpPr/>
            <p:nvPr/>
          </p:nvSpPr>
          <p:spPr>
            <a:xfrm>
              <a:off x="4038386" y="3498626"/>
              <a:ext cx="565150" cy="1330325"/>
            </a:xfrm>
            <a:custGeom>
              <a:avLst/>
              <a:gdLst/>
              <a:ahLst/>
              <a:cxnLst/>
              <a:rect l="l" t="t" r="r" b="b"/>
              <a:pathLst>
                <a:path w="565150" h="1330325">
                  <a:moveTo>
                    <a:pt x="0" y="1329877"/>
                  </a:moveTo>
                  <a:lnTo>
                    <a:pt x="565041" y="1329877"/>
                  </a:lnTo>
                  <a:lnTo>
                    <a:pt x="565041" y="0"/>
                  </a:lnTo>
                  <a:lnTo>
                    <a:pt x="0" y="0"/>
                  </a:lnTo>
                  <a:lnTo>
                    <a:pt x="0" y="1329877"/>
                  </a:lnTo>
                  <a:close/>
                </a:path>
              </a:pathLst>
            </a:custGeom>
            <a:ln w="13522">
              <a:solidFill>
                <a:srgbClr val="000000"/>
              </a:solidFill>
            </a:ln>
          </p:spPr>
          <p:txBody>
            <a:bodyPr wrap="square" lIns="0" tIns="0" rIns="0" bIns="0" rtlCol="0"/>
            <a:lstStyle/>
            <a:p/>
          </p:txBody>
        </p:sp>
        <p:sp>
          <p:nvSpPr>
            <p:cNvPr id="27" name="object 27" descr=""/>
            <p:cNvSpPr/>
            <p:nvPr/>
          </p:nvSpPr>
          <p:spPr>
            <a:xfrm>
              <a:off x="4038384" y="3712705"/>
              <a:ext cx="565150" cy="902335"/>
            </a:xfrm>
            <a:custGeom>
              <a:avLst/>
              <a:gdLst/>
              <a:ahLst/>
              <a:cxnLst/>
              <a:rect l="l" t="t" r="r" b="b"/>
              <a:pathLst>
                <a:path w="565150" h="902335">
                  <a:moveTo>
                    <a:pt x="565073" y="887272"/>
                  </a:moveTo>
                  <a:lnTo>
                    <a:pt x="0" y="887272"/>
                  </a:lnTo>
                  <a:lnTo>
                    <a:pt x="0" y="901801"/>
                  </a:lnTo>
                  <a:lnTo>
                    <a:pt x="565073" y="901801"/>
                  </a:lnTo>
                  <a:lnTo>
                    <a:pt x="565073" y="887272"/>
                  </a:lnTo>
                  <a:close/>
                </a:path>
                <a:path w="565150" h="902335">
                  <a:moveTo>
                    <a:pt x="565073" y="665073"/>
                  </a:moveTo>
                  <a:lnTo>
                    <a:pt x="0" y="665073"/>
                  </a:lnTo>
                  <a:lnTo>
                    <a:pt x="0" y="679602"/>
                  </a:lnTo>
                  <a:lnTo>
                    <a:pt x="565073" y="679602"/>
                  </a:lnTo>
                  <a:lnTo>
                    <a:pt x="565073" y="665073"/>
                  </a:lnTo>
                  <a:close/>
                </a:path>
                <a:path w="565150" h="902335">
                  <a:moveTo>
                    <a:pt x="565073" y="443839"/>
                  </a:moveTo>
                  <a:lnTo>
                    <a:pt x="0" y="443839"/>
                  </a:lnTo>
                  <a:lnTo>
                    <a:pt x="0" y="458368"/>
                  </a:lnTo>
                  <a:lnTo>
                    <a:pt x="565073" y="458368"/>
                  </a:lnTo>
                  <a:lnTo>
                    <a:pt x="565073" y="443839"/>
                  </a:lnTo>
                  <a:close/>
                </a:path>
                <a:path w="565150" h="902335">
                  <a:moveTo>
                    <a:pt x="565073" y="222123"/>
                  </a:moveTo>
                  <a:lnTo>
                    <a:pt x="0" y="222123"/>
                  </a:lnTo>
                  <a:lnTo>
                    <a:pt x="0" y="236651"/>
                  </a:lnTo>
                  <a:lnTo>
                    <a:pt x="565073" y="236651"/>
                  </a:lnTo>
                  <a:lnTo>
                    <a:pt x="565073" y="222123"/>
                  </a:lnTo>
                  <a:close/>
                </a:path>
                <a:path w="565150" h="902335">
                  <a:moveTo>
                    <a:pt x="565073" y="0"/>
                  </a:moveTo>
                  <a:lnTo>
                    <a:pt x="0" y="0"/>
                  </a:lnTo>
                  <a:lnTo>
                    <a:pt x="0" y="14528"/>
                  </a:lnTo>
                  <a:lnTo>
                    <a:pt x="565073" y="14528"/>
                  </a:lnTo>
                  <a:lnTo>
                    <a:pt x="565073" y="0"/>
                  </a:lnTo>
                  <a:close/>
                </a:path>
              </a:pathLst>
            </a:custGeom>
            <a:solidFill>
              <a:srgbClr val="000000"/>
            </a:solidFill>
          </p:spPr>
          <p:txBody>
            <a:bodyPr wrap="square" lIns="0" tIns="0" rIns="0" bIns="0" rtlCol="0"/>
            <a:lstStyle/>
            <a:p/>
          </p:txBody>
        </p:sp>
        <p:sp>
          <p:nvSpPr>
            <p:cNvPr id="28" name="object 28" descr=""/>
            <p:cNvSpPr/>
            <p:nvPr/>
          </p:nvSpPr>
          <p:spPr>
            <a:xfrm>
              <a:off x="5206375" y="4284463"/>
              <a:ext cx="1544955" cy="605155"/>
            </a:xfrm>
            <a:custGeom>
              <a:avLst/>
              <a:gdLst/>
              <a:ahLst/>
              <a:cxnLst/>
              <a:rect l="l" t="t" r="r" b="b"/>
              <a:pathLst>
                <a:path w="1544954" h="605154">
                  <a:moveTo>
                    <a:pt x="1544485" y="0"/>
                  </a:moveTo>
                  <a:lnTo>
                    <a:pt x="0" y="0"/>
                  </a:lnTo>
                  <a:lnTo>
                    <a:pt x="0" y="604840"/>
                  </a:lnTo>
                  <a:lnTo>
                    <a:pt x="1544485" y="604840"/>
                  </a:lnTo>
                  <a:lnTo>
                    <a:pt x="1544485" y="0"/>
                  </a:lnTo>
                  <a:close/>
                </a:path>
              </a:pathLst>
            </a:custGeom>
            <a:solidFill>
              <a:srgbClr val="CCFFCC"/>
            </a:solidFill>
          </p:spPr>
          <p:txBody>
            <a:bodyPr wrap="square" lIns="0" tIns="0" rIns="0" bIns="0" rtlCol="0"/>
            <a:lstStyle/>
            <a:p/>
          </p:txBody>
        </p:sp>
        <p:sp>
          <p:nvSpPr>
            <p:cNvPr id="29" name="object 29" descr=""/>
            <p:cNvSpPr/>
            <p:nvPr/>
          </p:nvSpPr>
          <p:spPr>
            <a:xfrm>
              <a:off x="5206375" y="4284463"/>
              <a:ext cx="1544955" cy="605155"/>
            </a:xfrm>
            <a:custGeom>
              <a:avLst/>
              <a:gdLst/>
              <a:ahLst/>
              <a:cxnLst/>
              <a:rect l="l" t="t" r="r" b="b"/>
              <a:pathLst>
                <a:path w="1544954" h="605154">
                  <a:moveTo>
                    <a:pt x="0" y="604840"/>
                  </a:moveTo>
                  <a:lnTo>
                    <a:pt x="1544485" y="604840"/>
                  </a:lnTo>
                  <a:lnTo>
                    <a:pt x="1544485" y="0"/>
                  </a:lnTo>
                  <a:lnTo>
                    <a:pt x="0" y="0"/>
                  </a:lnTo>
                  <a:lnTo>
                    <a:pt x="0" y="604840"/>
                  </a:lnTo>
                  <a:close/>
                </a:path>
              </a:pathLst>
            </a:custGeom>
            <a:ln w="14370">
              <a:solidFill>
                <a:srgbClr val="000000"/>
              </a:solidFill>
            </a:ln>
          </p:spPr>
          <p:txBody>
            <a:bodyPr wrap="square" lIns="0" tIns="0" rIns="0" bIns="0" rtlCol="0"/>
            <a:lstStyle/>
            <a:p/>
          </p:txBody>
        </p:sp>
        <p:sp>
          <p:nvSpPr>
            <p:cNvPr id="30" name="object 30" descr=""/>
            <p:cNvSpPr/>
            <p:nvPr/>
          </p:nvSpPr>
          <p:spPr>
            <a:xfrm>
              <a:off x="5206365" y="4479302"/>
              <a:ext cx="1544955" cy="215265"/>
            </a:xfrm>
            <a:custGeom>
              <a:avLst/>
              <a:gdLst/>
              <a:ahLst/>
              <a:cxnLst/>
              <a:rect l="l" t="t" r="r" b="b"/>
              <a:pathLst>
                <a:path w="1544954" h="215264">
                  <a:moveTo>
                    <a:pt x="1544383" y="200672"/>
                  </a:moveTo>
                  <a:lnTo>
                    <a:pt x="0" y="200672"/>
                  </a:lnTo>
                  <a:lnTo>
                    <a:pt x="0" y="215201"/>
                  </a:lnTo>
                  <a:lnTo>
                    <a:pt x="1544383" y="215201"/>
                  </a:lnTo>
                  <a:lnTo>
                    <a:pt x="1544383" y="200672"/>
                  </a:lnTo>
                  <a:close/>
                </a:path>
                <a:path w="1544954" h="215264">
                  <a:moveTo>
                    <a:pt x="1544383" y="0"/>
                  </a:moveTo>
                  <a:lnTo>
                    <a:pt x="0" y="0"/>
                  </a:lnTo>
                  <a:lnTo>
                    <a:pt x="0" y="14528"/>
                  </a:lnTo>
                  <a:lnTo>
                    <a:pt x="1544383" y="14528"/>
                  </a:lnTo>
                  <a:lnTo>
                    <a:pt x="1544383" y="0"/>
                  </a:lnTo>
                  <a:close/>
                </a:path>
              </a:pathLst>
            </a:custGeom>
            <a:solidFill>
              <a:srgbClr val="000000"/>
            </a:solidFill>
          </p:spPr>
          <p:txBody>
            <a:bodyPr wrap="square" lIns="0" tIns="0" rIns="0" bIns="0" rtlCol="0"/>
            <a:lstStyle/>
            <a:p/>
          </p:txBody>
        </p:sp>
        <p:sp>
          <p:nvSpPr>
            <p:cNvPr id="31" name="object 31" descr=""/>
            <p:cNvSpPr/>
            <p:nvPr/>
          </p:nvSpPr>
          <p:spPr>
            <a:xfrm>
              <a:off x="5469298" y="4284483"/>
              <a:ext cx="657225" cy="605155"/>
            </a:xfrm>
            <a:custGeom>
              <a:avLst/>
              <a:gdLst/>
              <a:ahLst/>
              <a:cxnLst/>
              <a:rect l="l" t="t" r="r" b="b"/>
              <a:pathLst>
                <a:path w="657225" h="605154">
                  <a:moveTo>
                    <a:pt x="0" y="0"/>
                  </a:moveTo>
                  <a:lnTo>
                    <a:pt x="0" y="604821"/>
                  </a:lnTo>
                </a:path>
                <a:path w="657225" h="605154">
                  <a:moveTo>
                    <a:pt x="657037" y="0"/>
                  </a:moveTo>
                  <a:lnTo>
                    <a:pt x="657037" y="604821"/>
                  </a:lnTo>
                </a:path>
              </a:pathLst>
            </a:custGeom>
            <a:ln w="13934">
              <a:solidFill>
                <a:srgbClr val="000000"/>
              </a:solidFill>
            </a:ln>
          </p:spPr>
          <p:txBody>
            <a:bodyPr wrap="square" lIns="0" tIns="0" rIns="0" bIns="0" rtlCol="0"/>
            <a:lstStyle/>
            <a:p/>
          </p:txBody>
        </p:sp>
        <p:sp>
          <p:nvSpPr>
            <p:cNvPr id="32" name="object 32" descr=""/>
            <p:cNvSpPr/>
            <p:nvPr/>
          </p:nvSpPr>
          <p:spPr>
            <a:xfrm>
              <a:off x="7579130" y="4405634"/>
              <a:ext cx="1544955" cy="422909"/>
            </a:xfrm>
            <a:custGeom>
              <a:avLst/>
              <a:gdLst/>
              <a:ahLst/>
              <a:cxnLst/>
              <a:rect l="l" t="t" r="r" b="b"/>
              <a:pathLst>
                <a:path w="1544954" h="422910">
                  <a:moveTo>
                    <a:pt x="1544485" y="0"/>
                  </a:moveTo>
                  <a:lnTo>
                    <a:pt x="0" y="0"/>
                  </a:lnTo>
                  <a:lnTo>
                    <a:pt x="0" y="422869"/>
                  </a:lnTo>
                  <a:lnTo>
                    <a:pt x="1544485" y="422869"/>
                  </a:lnTo>
                  <a:lnTo>
                    <a:pt x="1544485" y="0"/>
                  </a:lnTo>
                  <a:close/>
                </a:path>
              </a:pathLst>
            </a:custGeom>
            <a:solidFill>
              <a:srgbClr val="CCFFCC"/>
            </a:solidFill>
          </p:spPr>
          <p:txBody>
            <a:bodyPr wrap="square" lIns="0" tIns="0" rIns="0" bIns="0" rtlCol="0"/>
            <a:lstStyle/>
            <a:p/>
          </p:txBody>
        </p:sp>
        <p:sp>
          <p:nvSpPr>
            <p:cNvPr id="33" name="object 33" descr=""/>
            <p:cNvSpPr/>
            <p:nvPr/>
          </p:nvSpPr>
          <p:spPr>
            <a:xfrm>
              <a:off x="7579130" y="4405634"/>
              <a:ext cx="1544955" cy="422909"/>
            </a:xfrm>
            <a:custGeom>
              <a:avLst/>
              <a:gdLst/>
              <a:ahLst/>
              <a:cxnLst/>
              <a:rect l="l" t="t" r="r" b="b"/>
              <a:pathLst>
                <a:path w="1544954" h="422910">
                  <a:moveTo>
                    <a:pt x="0" y="422869"/>
                  </a:moveTo>
                  <a:lnTo>
                    <a:pt x="1544485" y="422869"/>
                  </a:lnTo>
                  <a:lnTo>
                    <a:pt x="1544485" y="0"/>
                  </a:lnTo>
                  <a:lnTo>
                    <a:pt x="0" y="0"/>
                  </a:lnTo>
                  <a:lnTo>
                    <a:pt x="0" y="422869"/>
                  </a:lnTo>
                  <a:close/>
                </a:path>
              </a:pathLst>
            </a:custGeom>
            <a:ln w="14445">
              <a:solidFill>
                <a:srgbClr val="000000"/>
              </a:solidFill>
            </a:ln>
          </p:spPr>
          <p:txBody>
            <a:bodyPr wrap="square" lIns="0" tIns="0" rIns="0" bIns="0" rtlCol="0"/>
            <a:lstStyle/>
            <a:p/>
          </p:txBody>
        </p:sp>
        <p:sp>
          <p:nvSpPr>
            <p:cNvPr id="34" name="object 34" descr=""/>
            <p:cNvSpPr/>
            <p:nvPr/>
          </p:nvSpPr>
          <p:spPr>
            <a:xfrm>
              <a:off x="7579130" y="4609795"/>
              <a:ext cx="1544955" cy="14604"/>
            </a:xfrm>
            <a:custGeom>
              <a:avLst/>
              <a:gdLst/>
              <a:ahLst/>
              <a:cxnLst/>
              <a:rect l="l" t="t" r="r" b="b"/>
              <a:pathLst>
                <a:path w="1544954" h="14604">
                  <a:moveTo>
                    <a:pt x="0" y="14528"/>
                  </a:moveTo>
                  <a:lnTo>
                    <a:pt x="1544557" y="14528"/>
                  </a:lnTo>
                  <a:lnTo>
                    <a:pt x="1544557" y="0"/>
                  </a:lnTo>
                  <a:lnTo>
                    <a:pt x="0" y="0"/>
                  </a:lnTo>
                  <a:lnTo>
                    <a:pt x="0" y="14528"/>
                  </a:lnTo>
                  <a:close/>
                </a:path>
              </a:pathLst>
            </a:custGeom>
            <a:solidFill>
              <a:srgbClr val="000000"/>
            </a:solidFill>
          </p:spPr>
          <p:txBody>
            <a:bodyPr wrap="square" lIns="0" tIns="0" rIns="0" bIns="0" rtlCol="0"/>
            <a:lstStyle/>
            <a:p/>
          </p:txBody>
        </p:sp>
        <p:sp>
          <p:nvSpPr>
            <p:cNvPr id="35" name="object 35" descr=""/>
            <p:cNvSpPr/>
            <p:nvPr/>
          </p:nvSpPr>
          <p:spPr>
            <a:xfrm>
              <a:off x="7842231" y="4405634"/>
              <a:ext cx="657860" cy="422909"/>
            </a:xfrm>
            <a:custGeom>
              <a:avLst/>
              <a:gdLst/>
              <a:ahLst/>
              <a:cxnLst/>
              <a:rect l="l" t="t" r="r" b="b"/>
              <a:pathLst>
                <a:path w="657859" h="422910">
                  <a:moveTo>
                    <a:pt x="0" y="0"/>
                  </a:moveTo>
                  <a:lnTo>
                    <a:pt x="0" y="422869"/>
                  </a:lnTo>
                </a:path>
                <a:path w="657859" h="422910">
                  <a:moveTo>
                    <a:pt x="657395" y="0"/>
                  </a:moveTo>
                  <a:lnTo>
                    <a:pt x="657395" y="422869"/>
                  </a:lnTo>
                </a:path>
              </a:pathLst>
            </a:custGeom>
            <a:ln w="13934">
              <a:solidFill>
                <a:srgbClr val="000000"/>
              </a:solidFill>
            </a:ln>
          </p:spPr>
          <p:txBody>
            <a:bodyPr wrap="square" lIns="0" tIns="0" rIns="0" bIns="0" rtlCol="0"/>
            <a:lstStyle/>
            <a:p/>
          </p:txBody>
        </p:sp>
      </p:grpSp>
      <p:sp>
        <p:nvSpPr>
          <p:cNvPr id="36" name="object 36" descr=""/>
          <p:cNvSpPr txBox="1"/>
          <p:nvPr/>
        </p:nvSpPr>
        <p:spPr>
          <a:xfrm>
            <a:off x="2795141" y="5312642"/>
            <a:ext cx="1582420" cy="422909"/>
          </a:xfrm>
          <a:prstGeom prst="rect">
            <a:avLst/>
          </a:prstGeom>
          <a:solidFill>
            <a:srgbClr val="CCFFFF"/>
          </a:solidFill>
          <a:ln w="14460">
            <a:solidFill>
              <a:srgbClr val="000000"/>
            </a:solidFill>
          </a:ln>
        </p:spPr>
        <p:txBody>
          <a:bodyPr wrap="square" lIns="0" tIns="97790" rIns="0" bIns="0" rtlCol="0" vert="horz">
            <a:spAutoFit/>
          </a:bodyPr>
          <a:lstStyle/>
          <a:p>
            <a:pPr marL="469265">
              <a:lnSpc>
                <a:spcPct val="100000"/>
              </a:lnSpc>
              <a:spcBef>
                <a:spcPts val="770"/>
              </a:spcBef>
            </a:pPr>
            <a:r>
              <a:rPr dirty="0" sz="1350" spc="-80" b="1">
                <a:latin typeface="宋体"/>
                <a:cs typeface="宋体"/>
              </a:rPr>
              <a:t>存储部件</a:t>
            </a:r>
            <a:endParaRPr sz="1350">
              <a:latin typeface="宋体"/>
              <a:cs typeface="宋体"/>
            </a:endParaRPr>
          </a:p>
        </p:txBody>
      </p:sp>
      <p:sp>
        <p:nvSpPr>
          <p:cNvPr id="37" name="object 37" descr=""/>
          <p:cNvSpPr txBox="1"/>
          <p:nvPr/>
        </p:nvSpPr>
        <p:spPr>
          <a:xfrm>
            <a:off x="5470194" y="5312642"/>
            <a:ext cx="1205865" cy="422909"/>
          </a:xfrm>
          <a:prstGeom prst="rect">
            <a:avLst/>
          </a:prstGeom>
          <a:solidFill>
            <a:srgbClr val="FFBCDE"/>
          </a:solidFill>
          <a:ln w="14416">
            <a:solidFill>
              <a:srgbClr val="000000"/>
            </a:solidFill>
          </a:ln>
        </p:spPr>
        <p:txBody>
          <a:bodyPr wrap="square" lIns="0" tIns="97790" rIns="0" bIns="0" rtlCol="0" vert="horz">
            <a:spAutoFit/>
          </a:bodyPr>
          <a:lstStyle/>
          <a:p>
            <a:pPr marL="205104">
              <a:lnSpc>
                <a:spcPct val="100000"/>
              </a:lnSpc>
              <a:spcBef>
                <a:spcPts val="770"/>
              </a:spcBef>
            </a:pPr>
            <a:r>
              <a:rPr dirty="0" sz="1350" spc="-85" b="1">
                <a:latin typeface="宋体"/>
                <a:cs typeface="宋体"/>
              </a:rPr>
              <a:t>浮点加法器</a:t>
            </a:r>
            <a:endParaRPr sz="1350">
              <a:latin typeface="宋体"/>
              <a:cs typeface="宋体"/>
            </a:endParaRPr>
          </a:p>
        </p:txBody>
      </p:sp>
      <p:sp>
        <p:nvSpPr>
          <p:cNvPr id="38" name="object 38" descr=""/>
          <p:cNvSpPr txBox="1"/>
          <p:nvPr/>
        </p:nvSpPr>
        <p:spPr>
          <a:xfrm>
            <a:off x="7880944" y="5312642"/>
            <a:ext cx="1205865" cy="422909"/>
          </a:xfrm>
          <a:prstGeom prst="rect">
            <a:avLst/>
          </a:prstGeom>
          <a:solidFill>
            <a:srgbClr val="E6CDFF"/>
          </a:solidFill>
          <a:ln w="14416">
            <a:solidFill>
              <a:srgbClr val="000000"/>
            </a:solidFill>
          </a:ln>
        </p:spPr>
        <p:txBody>
          <a:bodyPr wrap="square" lIns="0" tIns="90805" rIns="0" bIns="0" rtlCol="0" vert="horz">
            <a:spAutoFit/>
          </a:bodyPr>
          <a:lstStyle/>
          <a:p>
            <a:pPr marL="211454">
              <a:lnSpc>
                <a:spcPct val="100000"/>
              </a:lnSpc>
              <a:spcBef>
                <a:spcPts val="715"/>
              </a:spcBef>
            </a:pPr>
            <a:r>
              <a:rPr dirty="0" sz="1350" spc="-85" b="1">
                <a:latin typeface="宋体"/>
                <a:cs typeface="宋体"/>
              </a:rPr>
              <a:t>浮点乘法器</a:t>
            </a:r>
            <a:endParaRPr sz="1350">
              <a:latin typeface="宋体"/>
              <a:cs typeface="宋体"/>
            </a:endParaRPr>
          </a:p>
        </p:txBody>
      </p:sp>
      <p:grpSp>
        <p:nvGrpSpPr>
          <p:cNvPr id="39" name="object 39" descr=""/>
          <p:cNvGrpSpPr/>
          <p:nvPr/>
        </p:nvGrpSpPr>
        <p:grpSpPr>
          <a:xfrm>
            <a:off x="2411286" y="1310903"/>
            <a:ext cx="7059295" cy="4734560"/>
            <a:chOff x="2411286" y="1310903"/>
            <a:chExt cx="7059295" cy="4734560"/>
          </a:xfrm>
        </p:grpSpPr>
        <p:sp>
          <p:nvSpPr>
            <p:cNvPr id="40" name="object 40" descr=""/>
            <p:cNvSpPr/>
            <p:nvPr/>
          </p:nvSpPr>
          <p:spPr>
            <a:xfrm>
              <a:off x="7202579" y="1866134"/>
              <a:ext cx="866775" cy="847090"/>
            </a:xfrm>
            <a:custGeom>
              <a:avLst/>
              <a:gdLst/>
              <a:ahLst/>
              <a:cxnLst/>
              <a:rect l="l" t="t" r="r" b="b"/>
              <a:pathLst>
                <a:path w="866775" h="847089">
                  <a:moveTo>
                    <a:pt x="866264" y="0"/>
                  </a:moveTo>
                  <a:lnTo>
                    <a:pt x="0" y="0"/>
                  </a:lnTo>
                  <a:lnTo>
                    <a:pt x="0" y="846675"/>
                  </a:lnTo>
                  <a:lnTo>
                    <a:pt x="866264" y="846675"/>
                  </a:lnTo>
                  <a:lnTo>
                    <a:pt x="866264" y="0"/>
                  </a:lnTo>
                  <a:close/>
                </a:path>
              </a:pathLst>
            </a:custGeom>
            <a:solidFill>
              <a:srgbClr val="FFFF99"/>
            </a:solidFill>
          </p:spPr>
          <p:txBody>
            <a:bodyPr wrap="square" lIns="0" tIns="0" rIns="0" bIns="0" rtlCol="0"/>
            <a:lstStyle/>
            <a:p/>
          </p:txBody>
        </p:sp>
        <p:sp>
          <p:nvSpPr>
            <p:cNvPr id="41" name="object 41" descr=""/>
            <p:cNvSpPr/>
            <p:nvPr/>
          </p:nvSpPr>
          <p:spPr>
            <a:xfrm>
              <a:off x="7202579" y="1866134"/>
              <a:ext cx="866775" cy="847090"/>
            </a:xfrm>
            <a:custGeom>
              <a:avLst/>
              <a:gdLst/>
              <a:ahLst/>
              <a:cxnLst/>
              <a:rect l="l" t="t" r="r" b="b"/>
              <a:pathLst>
                <a:path w="866775" h="847089">
                  <a:moveTo>
                    <a:pt x="0" y="846675"/>
                  </a:moveTo>
                  <a:lnTo>
                    <a:pt x="866264" y="846675"/>
                  </a:lnTo>
                  <a:lnTo>
                    <a:pt x="866264" y="0"/>
                  </a:lnTo>
                  <a:lnTo>
                    <a:pt x="0" y="0"/>
                  </a:lnTo>
                  <a:lnTo>
                    <a:pt x="0" y="846675"/>
                  </a:lnTo>
                  <a:close/>
                </a:path>
              </a:pathLst>
            </a:custGeom>
            <a:ln w="13948">
              <a:solidFill>
                <a:srgbClr val="000000"/>
              </a:solidFill>
            </a:ln>
          </p:spPr>
          <p:txBody>
            <a:bodyPr wrap="square" lIns="0" tIns="0" rIns="0" bIns="0" rtlCol="0"/>
            <a:lstStyle/>
            <a:p/>
          </p:txBody>
        </p:sp>
        <p:sp>
          <p:nvSpPr>
            <p:cNvPr id="42" name="object 42" descr=""/>
            <p:cNvSpPr/>
            <p:nvPr/>
          </p:nvSpPr>
          <p:spPr>
            <a:xfrm>
              <a:off x="7202576" y="2070810"/>
              <a:ext cx="866775" cy="438150"/>
            </a:xfrm>
            <a:custGeom>
              <a:avLst/>
              <a:gdLst/>
              <a:ahLst/>
              <a:cxnLst/>
              <a:rect l="l" t="t" r="r" b="b"/>
              <a:pathLst>
                <a:path w="866775" h="438150">
                  <a:moveTo>
                    <a:pt x="866368" y="423164"/>
                  </a:moveTo>
                  <a:lnTo>
                    <a:pt x="0" y="423164"/>
                  </a:lnTo>
                  <a:lnTo>
                    <a:pt x="0" y="437692"/>
                  </a:lnTo>
                  <a:lnTo>
                    <a:pt x="866368" y="437692"/>
                  </a:lnTo>
                  <a:lnTo>
                    <a:pt x="866368" y="423164"/>
                  </a:lnTo>
                  <a:close/>
                </a:path>
                <a:path w="866775" h="438150">
                  <a:moveTo>
                    <a:pt x="866368" y="211378"/>
                  </a:moveTo>
                  <a:lnTo>
                    <a:pt x="0" y="211378"/>
                  </a:lnTo>
                  <a:lnTo>
                    <a:pt x="0" y="225907"/>
                  </a:lnTo>
                  <a:lnTo>
                    <a:pt x="866368" y="225907"/>
                  </a:lnTo>
                  <a:lnTo>
                    <a:pt x="866368" y="211378"/>
                  </a:lnTo>
                  <a:close/>
                </a:path>
                <a:path w="866775" h="438150">
                  <a:moveTo>
                    <a:pt x="866368" y="0"/>
                  </a:moveTo>
                  <a:lnTo>
                    <a:pt x="0" y="0"/>
                  </a:lnTo>
                  <a:lnTo>
                    <a:pt x="0" y="14528"/>
                  </a:lnTo>
                  <a:lnTo>
                    <a:pt x="866368" y="14528"/>
                  </a:lnTo>
                  <a:lnTo>
                    <a:pt x="866368" y="0"/>
                  </a:lnTo>
                  <a:close/>
                </a:path>
              </a:pathLst>
            </a:custGeom>
            <a:solidFill>
              <a:srgbClr val="000000"/>
            </a:solidFill>
          </p:spPr>
          <p:txBody>
            <a:bodyPr wrap="square" lIns="0" tIns="0" rIns="0" bIns="0" rtlCol="0"/>
            <a:lstStyle/>
            <a:p/>
          </p:txBody>
        </p:sp>
        <p:sp>
          <p:nvSpPr>
            <p:cNvPr id="43" name="object 43" descr=""/>
            <p:cNvSpPr/>
            <p:nvPr/>
          </p:nvSpPr>
          <p:spPr>
            <a:xfrm>
              <a:off x="5697809" y="1312158"/>
              <a:ext cx="72390" cy="312420"/>
            </a:xfrm>
            <a:custGeom>
              <a:avLst/>
              <a:gdLst/>
              <a:ahLst/>
              <a:cxnLst/>
              <a:rect l="l" t="t" r="r" b="b"/>
              <a:pathLst>
                <a:path w="72389" h="312419">
                  <a:moveTo>
                    <a:pt x="0" y="195185"/>
                  </a:moveTo>
                  <a:lnTo>
                    <a:pt x="35665" y="312101"/>
                  </a:lnTo>
                  <a:lnTo>
                    <a:pt x="56819" y="243786"/>
                  </a:lnTo>
                  <a:lnTo>
                    <a:pt x="31005" y="243786"/>
                  </a:lnTo>
                  <a:lnTo>
                    <a:pt x="27062" y="239492"/>
                  </a:lnTo>
                  <a:lnTo>
                    <a:pt x="27062" y="224658"/>
                  </a:lnTo>
                  <a:lnTo>
                    <a:pt x="0" y="195185"/>
                  </a:lnTo>
                  <a:close/>
                </a:path>
                <a:path w="72389" h="312419">
                  <a:moveTo>
                    <a:pt x="27062" y="224658"/>
                  </a:moveTo>
                  <a:lnTo>
                    <a:pt x="27062" y="239492"/>
                  </a:lnTo>
                  <a:lnTo>
                    <a:pt x="31005" y="243786"/>
                  </a:lnTo>
                  <a:lnTo>
                    <a:pt x="40863" y="243786"/>
                  </a:lnTo>
                  <a:lnTo>
                    <a:pt x="44626" y="239492"/>
                  </a:lnTo>
                  <a:lnTo>
                    <a:pt x="44626" y="234027"/>
                  </a:lnTo>
                  <a:lnTo>
                    <a:pt x="35665" y="234027"/>
                  </a:lnTo>
                  <a:lnTo>
                    <a:pt x="27062" y="224658"/>
                  </a:lnTo>
                  <a:close/>
                </a:path>
                <a:path w="72389" h="312419">
                  <a:moveTo>
                    <a:pt x="71869" y="195185"/>
                  </a:moveTo>
                  <a:lnTo>
                    <a:pt x="44626" y="224413"/>
                  </a:lnTo>
                  <a:lnTo>
                    <a:pt x="44626" y="239492"/>
                  </a:lnTo>
                  <a:lnTo>
                    <a:pt x="40863" y="243786"/>
                  </a:lnTo>
                  <a:lnTo>
                    <a:pt x="56819" y="243786"/>
                  </a:lnTo>
                  <a:lnTo>
                    <a:pt x="71869" y="195185"/>
                  </a:lnTo>
                  <a:close/>
                </a:path>
                <a:path w="72389" h="312419">
                  <a:moveTo>
                    <a:pt x="40863" y="0"/>
                  </a:moveTo>
                  <a:lnTo>
                    <a:pt x="31005" y="0"/>
                  </a:lnTo>
                  <a:lnTo>
                    <a:pt x="27062" y="4294"/>
                  </a:lnTo>
                  <a:lnTo>
                    <a:pt x="27062" y="224658"/>
                  </a:lnTo>
                  <a:lnTo>
                    <a:pt x="35665" y="234027"/>
                  </a:lnTo>
                  <a:lnTo>
                    <a:pt x="44626" y="224413"/>
                  </a:lnTo>
                  <a:lnTo>
                    <a:pt x="44626" y="4294"/>
                  </a:lnTo>
                  <a:lnTo>
                    <a:pt x="40863" y="0"/>
                  </a:lnTo>
                  <a:close/>
                </a:path>
                <a:path w="72389" h="312419">
                  <a:moveTo>
                    <a:pt x="44626" y="224413"/>
                  </a:moveTo>
                  <a:lnTo>
                    <a:pt x="35665" y="234027"/>
                  </a:lnTo>
                  <a:lnTo>
                    <a:pt x="44626" y="234027"/>
                  </a:lnTo>
                  <a:lnTo>
                    <a:pt x="44626" y="224413"/>
                  </a:lnTo>
                  <a:close/>
                </a:path>
              </a:pathLst>
            </a:custGeom>
            <a:solidFill>
              <a:srgbClr val="000000"/>
            </a:solidFill>
          </p:spPr>
          <p:txBody>
            <a:bodyPr wrap="square" lIns="0" tIns="0" rIns="0" bIns="0" rtlCol="0"/>
            <a:lstStyle/>
            <a:p/>
          </p:txBody>
        </p:sp>
        <p:pic>
          <p:nvPicPr>
            <p:cNvPr id="44" name="object 44" descr=""/>
            <p:cNvPicPr/>
            <p:nvPr/>
          </p:nvPicPr>
          <p:blipFill>
            <a:blip r:embed="rId2" cstate="print"/>
            <a:stretch>
              <a:fillRect/>
            </a:stretch>
          </p:blipFill>
          <p:spPr>
            <a:xfrm>
              <a:off x="5696520" y="1310903"/>
              <a:ext cx="74447" cy="314646"/>
            </a:xfrm>
            <a:prstGeom prst="rect">
              <a:avLst/>
            </a:prstGeom>
          </p:spPr>
        </p:pic>
        <p:sp>
          <p:nvSpPr>
            <p:cNvPr id="45" name="object 45" descr=""/>
            <p:cNvSpPr/>
            <p:nvPr/>
          </p:nvSpPr>
          <p:spPr>
            <a:xfrm>
              <a:off x="4302187" y="2531287"/>
              <a:ext cx="1280795" cy="120650"/>
            </a:xfrm>
            <a:custGeom>
              <a:avLst/>
              <a:gdLst/>
              <a:ahLst/>
              <a:cxnLst/>
              <a:rect l="l" t="t" r="r" b="b"/>
              <a:pathLst>
                <a:path w="1280795" h="120650">
                  <a:moveTo>
                    <a:pt x="1280738" y="0"/>
                  </a:moveTo>
                  <a:lnTo>
                    <a:pt x="1280738" y="120624"/>
                  </a:lnTo>
                </a:path>
                <a:path w="1280795" h="120650">
                  <a:moveTo>
                    <a:pt x="0" y="120624"/>
                  </a:moveTo>
                  <a:lnTo>
                    <a:pt x="1280738" y="120624"/>
                  </a:lnTo>
                </a:path>
              </a:pathLst>
            </a:custGeom>
            <a:ln w="13934">
              <a:solidFill>
                <a:srgbClr val="000000"/>
              </a:solidFill>
            </a:ln>
          </p:spPr>
          <p:txBody>
            <a:bodyPr wrap="square" lIns="0" tIns="0" rIns="0" bIns="0" rtlCol="0"/>
            <a:lstStyle/>
            <a:p/>
          </p:txBody>
        </p:sp>
        <p:pic>
          <p:nvPicPr>
            <p:cNvPr id="46" name="object 46" descr=""/>
            <p:cNvPicPr/>
            <p:nvPr/>
          </p:nvPicPr>
          <p:blipFill>
            <a:blip r:embed="rId3" cstate="print"/>
            <a:stretch>
              <a:fillRect/>
            </a:stretch>
          </p:blipFill>
          <p:spPr>
            <a:xfrm>
              <a:off x="4265233" y="2641287"/>
              <a:ext cx="73908" cy="254333"/>
            </a:xfrm>
            <a:prstGeom prst="rect">
              <a:avLst/>
            </a:prstGeom>
          </p:spPr>
        </p:pic>
        <p:sp>
          <p:nvSpPr>
            <p:cNvPr id="47" name="object 47" descr=""/>
            <p:cNvSpPr/>
            <p:nvPr/>
          </p:nvSpPr>
          <p:spPr>
            <a:xfrm>
              <a:off x="4266521" y="3186525"/>
              <a:ext cx="71755" cy="312420"/>
            </a:xfrm>
            <a:custGeom>
              <a:avLst/>
              <a:gdLst/>
              <a:ahLst/>
              <a:cxnLst/>
              <a:rect l="l" t="t" r="r" b="b"/>
              <a:pathLst>
                <a:path w="71754" h="312420">
                  <a:moveTo>
                    <a:pt x="0" y="195185"/>
                  </a:moveTo>
                  <a:lnTo>
                    <a:pt x="35665" y="312101"/>
                  </a:lnTo>
                  <a:lnTo>
                    <a:pt x="56505" y="243786"/>
                  </a:lnTo>
                  <a:lnTo>
                    <a:pt x="31005" y="243786"/>
                  </a:lnTo>
                  <a:lnTo>
                    <a:pt x="26704" y="239492"/>
                  </a:lnTo>
                  <a:lnTo>
                    <a:pt x="26704" y="224268"/>
                  </a:lnTo>
                  <a:lnTo>
                    <a:pt x="0" y="195185"/>
                  </a:lnTo>
                  <a:close/>
                </a:path>
                <a:path w="71754" h="312420">
                  <a:moveTo>
                    <a:pt x="26704" y="224268"/>
                  </a:moveTo>
                  <a:lnTo>
                    <a:pt x="26704" y="239492"/>
                  </a:lnTo>
                  <a:lnTo>
                    <a:pt x="31005" y="243786"/>
                  </a:lnTo>
                  <a:lnTo>
                    <a:pt x="40325" y="243786"/>
                  </a:lnTo>
                  <a:lnTo>
                    <a:pt x="44626" y="239492"/>
                  </a:lnTo>
                  <a:lnTo>
                    <a:pt x="44626" y="234027"/>
                  </a:lnTo>
                  <a:lnTo>
                    <a:pt x="35665" y="234027"/>
                  </a:lnTo>
                  <a:lnTo>
                    <a:pt x="26704" y="224268"/>
                  </a:lnTo>
                  <a:close/>
                </a:path>
                <a:path w="71754" h="312420">
                  <a:moveTo>
                    <a:pt x="71331" y="195185"/>
                  </a:moveTo>
                  <a:lnTo>
                    <a:pt x="44626" y="224268"/>
                  </a:lnTo>
                  <a:lnTo>
                    <a:pt x="44626" y="239492"/>
                  </a:lnTo>
                  <a:lnTo>
                    <a:pt x="40325" y="243786"/>
                  </a:lnTo>
                  <a:lnTo>
                    <a:pt x="56505" y="243786"/>
                  </a:lnTo>
                  <a:lnTo>
                    <a:pt x="71331" y="195185"/>
                  </a:lnTo>
                  <a:close/>
                </a:path>
                <a:path w="71754" h="312420">
                  <a:moveTo>
                    <a:pt x="40325" y="0"/>
                  </a:moveTo>
                  <a:lnTo>
                    <a:pt x="31005" y="0"/>
                  </a:lnTo>
                  <a:lnTo>
                    <a:pt x="26704" y="4294"/>
                  </a:lnTo>
                  <a:lnTo>
                    <a:pt x="26704" y="224268"/>
                  </a:lnTo>
                  <a:lnTo>
                    <a:pt x="35665" y="234027"/>
                  </a:lnTo>
                  <a:lnTo>
                    <a:pt x="44626" y="224268"/>
                  </a:lnTo>
                  <a:lnTo>
                    <a:pt x="44626" y="4294"/>
                  </a:lnTo>
                  <a:lnTo>
                    <a:pt x="40325" y="0"/>
                  </a:lnTo>
                  <a:close/>
                </a:path>
                <a:path w="71754" h="312420">
                  <a:moveTo>
                    <a:pt x="44626" y="224268"/>
                  </a:moveTo>
                  <a:lnTo>
                    <a:pt x="35665" y="234027"/>
                  </a:lnTo>
                  <a:lnTo>
                    <a:pt x="44626" y="234027"/>
                  </a:lnTo>
                  <a:lnTo>
                    <a:pt x="44626" y="224268"/>
                  </a:lnTo>
                  <a:close/>
                </a:path>
              </a:pathLst>
            </a:custGeom>
            <a:solidFill>
              <a:srgbClr val="000000"/>
            </a:solidFill>
          </p:spPr>
          <p:txBody>
            <a:bodyPr wrap="square" lIns="0" tIns="0" rIns="0" bIns="0" rtlCol="0"/>
            <a:lstStyle/>
            <a:p/>
          </p:txBody>
        </p:sp>
        <p:pic>
          <p:nvPicPr>
            <p:cNvPr id="48" name="object 48" descr=""/>
            <p:cNvPicPr/>
            <p:nvPr/>
          </p:nvPicPr>
          <p:blipFill>
            <a:blip r:embed="rId4" cstate="print"/>
            <a:stretch>
              <a:fillRect/>
            </a:stretch>
          </p:blipFill>
          <p:spPr>
            <a:xfrm>
              <a:off x="4265233" y="3185270"/>
              <a:ext cx="73908" cy="314645"/>
            </a:xfrm>
            <a:prstGeom prst="rect">
              <a:avLst/>
            </a:prstGeom>
          </p:spPr>
        </p:pic>
        <p:pic>
          <p:nvPicPr>
            <p:cNvPr id="49" name="object 49" descr=""/>
            <p:cNvPicPr/>
            <p:nvPr/>
          </p:nvPicPr>
          <p:blipFill>
            <a:blip r:embed="rId5" cstate="print"/>
            <a:stretch>
              <a:fillRect/>
            </a:stretch>
          </p:blipFill>
          <p:spPr>
            <a:xfrm>
              <a:off x="3549517" y="3306087"/>
              <a:ext cx="74016" cy="193828"/>
            </a:xfrm>
            <a:prstGeom prst="rect">
              <a:avLst/>
            </a:prstGeom>
          </p:spPr>
        </p:pic>
        <p:sp>
          <p:nvSpPr>
            <p:cNvPr id="50" name="object 50" descr=""/>
            <p:cNvSpPr/>
            <p:nvPr/>
          </p:nvSpPr>
          <p:spPr>
            <a:xfrm>
              <a:off x="3586525" y="3317104"/>
              <a:ext cx="716280" cy="0"/>
            </a:xfrm>
            <a:custGeom>
              <a:avLst/>
              <a:gdLst/>
              <a:ahLst/>
              <a:cxnLst/>
              <a:rect l="l" t="t" r="r" b="b"/>
              <a:pathLst>
                <a:path w="716279" h="0">
                  <a:moveTo>
                    <a:pt x="0" y="0"/>
                  </a:moveTo>
                  <a:lnTo>
                    <a:pt x="715661" y="0"/>
                  </a:lnTo>
                </a:path>
              </a:pathLst>
            </a:custGeom>
            <a:ln w="14528">
              <a:solidFill>
                <a:srgbClr val="000000"/>
              </a:solidFill>
            </a:ln>
          </p:spPr>
          <p:txBody>
            <a:bodyPr wrap="square" lIns="0" tIns="0" rIns="0" bIns="0" rtlCol="0"/>
            <a:lstStyle/>
            <a:p/>
          </p:txBody>
        </p:sp>
        <p:sp>
          <p:nvSpPr>
            <p:cNvPr id="51" name="object 51" descr=""/>
            <p:cNvSpPr/>
            <p:nvPr/>
          </p:nvSpPr>
          <p:spPr>
            <a:xfrm>
              <a:off x="2947912" y="4819135"/>
              <a:ext cx="72390" cy="494030"/>
            </a:xfrm>
            <a:custGeom>
              <a:avLst/>
              <a:gdLst/>
              <a:ahLst/>
              <a:cxnLst/>
              <a:rect l="l" t="t" r="r" b="b"/>
              <a:pathLst>
                <a:path w="72389" h="494029">
                  <a:moveTo>
                    <a:pt x="0" y="376102"/>
                  </a:moveTo>
                  <a:lnTo>
                    <a:pt x="35701" y="493507"/>
                  </a:lnTo>
                  <a:lnTo>
                    <a:pt x="56730" y="425211"/>
                  </a:lnTo>
                  <a:lnTo>
                    <a:pt x="30970" y="425211"/>
                  </a:lnTo>
                  <a:lnTo>
                    <a:pt x="27098" y="420546"/>
                  </a:lnTo>
                  <a:lnTo>
                    <a:pt x="27098" y="405926"/>
                  </a:lnTo>
                  <a:lnTo>
                    <a:pt x="0" y="376102"/>
                  </a:lnTo>
                  <a:close/>
                </a:path>
                <a:path w="72389" h="494029">
                  <a:moveTo>
                    <a:pt x="27098" y="405926"/>
                  </a:moveTo>
                  <a:lnTo>
                    <a:pt x="27098" y="420546"/>
                  </a:lnTo>
                  <a:lnTo>
                    <a:pt x="30970" y="425211"/>
                  </a:lnTo>
                  <a:lnTo>
                    <a:pt x="40881" y="425211"/>
                  </a:lnTo>
                  <a:lnTo>
                    <a:pt x="44752" y="420546"/>
                  </a:lnTo>
                  <a:lnTo>
                    <a:pt x="44752" y="415393"/>
                  </a:lnTo>
                  <a:lnTo>
                    <a:pt x="35701" y="415393"/>
                  </a:lnTo>
                  <a:lnTo>
                    <a:pt x="27098" y="405926"/>
                  </a:lnTo>
                  <a:close/>
                </a:path>
                <a:path w="72389" h="494029">
                  <a:moveTo>
                    <a:pt x="71851" y="376102"/>
                  </a:moveTo>
                  <a:lnTo>
                    <a:pt x="44752" y="405556"/>
                  </a:lnTo>
                  <a:lnTo>
                    <a:pt x="44752" y="420546"/>
                  </a:lnTo>
                  <a:lnTo>
                    <a:pt x="40881" y="425211"/>
                  </a:lnTo>
                  <a:lnTo>
                    <a:pt x="56730" y="425211"/>
                  </a:lnTo>
                  <a:lnTo>
                    <a:pt x="71851" y="376102"/>
                  </a:lnTo>
                  <a:close/>
                </a:path>
                <a:path w="72389" h="494029">
                  <a:moveTo>
                    <a:pt x="40881" y="0"/>
                  </a:moveTo>
                  <a:lnTo>
                    <a:pt x="30969" y="0"/>
                  </a:lnTo>
                  <a:lnTo>
                    <a:pt x="27098" y="4216"/>
                  </a:lnTo>
                  <a:lnTo>
                    <a:pt x="27098" y="405926"/>
                  </a:lnTo>
                  <a:lnTo>
                    <a:pt x="35701" y="415393"/>
                  </a:lnTo>
                  <a:lnTo>
                    <a:pt x="44752" y="405556"/>
                  </a:lnTo>
                  <a:lnTo>
                    <a:pt x="44752" y="4216"/>
                  </a:lnTo>
                  <a:lnTo>
                    <a:pt x="40881" y="0"/>
                  </a:lnTo>
                  <a:close/>
                </a:path>
                <a:path w="72389" h="494029">
                  <a:moveTo>
                    <a:pt x="44752" y="405556"/>
                  </a:moveTo>
                  <a:lnTo>
                    <a:pt x="35701" y="415393"/>
                  </a:lnTo>
                  <a:lnTo>
                    <a:pt x="44752" y="415393"/>
                  </a:lnTo>
                  <a:lnTo>
                    <a:pt x="44752" y="405556"/>
                  </a:lnTo>
                  <a:close/>
                </a:path>
              </a:pathLst>
            </a:custGeom>
            <a:solidFill>
              <a:srgbClr val="000000"/>
            </a:solidFill>
          </p:spPr>
          <p:txBody>
            <a:bodyPr wrap="square" lIns="0" tIns="0" rIns="0" bIns="0" rtlCol="0"/>
            <a:lstStyle/>
            <a:p/>
          </p:txBody>
        </p:sp>
        <p:sp>
          <p:nvSpPr>
            <p:cNvPr id="52" name="object 52" descr=""/>
            <p:cNvSpPr/>
            <p:nvPr/>
          </p:nvSpPr>
          <p:spPr>
            <a:xfrm>
              <a:off x="2947912" y="4819135"/>
              <a:ext cx="72390" cy="494030"/>
            </a:xfrm>
            <a:custGeom>
              <a:avLst/>
              <a:gdLst/>
              <a:ahLst/>
              <a:cxnLst/>
              <a:rect l="l" t="t" r="r" b="b"/>
              <a:pathLst>
                <a:path w="72389" h="494029">
                  <a:moveTo>
                    <a:pt x="44752" y="9368"/>
                  </a:moveTo>
                  <a:lnTo>
                    <a:pt x="44752" y="415393"/>
                  </a:lnTo>
                  <a:lnTo>
                    <a:pt x="44752" y="420546"/>
                  </a:lnTo>
                  <a:lnTo>
                    <a:pt x="40881" y="425211"/>
                  </a:lnTo>
                  <a:lnTo>
                    <a:pt x="35701" y="425211"/>
                  </a:lnTo>
                  <a:lnTo>
                    <a:pt x="30970" y="425211"/>
                  </a:lnTo>
                  <a:lnTo>
                    <a:pt x="27098" y="420546"/>
                  </a:lnTo>
                  <a:lnTo>
                    <a:pt x="27098" y="415393"/>
                  </a:lnTo>
                  <a:lnTo>
                    <a:pt x="27098" y="9368"/>
                  </a:lnTo>
                  <a:lnTo>
                    <a:pt x="27098" y="4216"/>
                  </a:lnTo>
                  <a:lnTo>
                    <a:pt x="30969" y="0"/>
                  </a:lnTo>
                  <a:lnTo>
                    <a:pt x="35701" y="0"/>
                  </a:lnTo>
                  <a:lnTo>
                    <a:pt x="40881" y="0"/>
                  </a:lnTo>
                  <a:lnTo>
                    <a:pt x="44752" y="4216"/>
                  </a:lnTo>
                  <a:lnTo>
                    <a:pt x="44752" y="9368"/>
                  </a:lnTo>
                  <a:close/>
                </a:path>
                <a:path w="72389" h="494029">
                  <a:moveTo>
                    <a:pt x="35701" y="415393"/>
                  </a:moveTo>
                  <a:lnTo>
                    <a:pt x="71851" y="376103"/>
                  </a:lnTo>
                  <a:lnTo>
                    <a:pt x="35701" y="493507"/>
                  </a:lnTo>
                  <a:lnTo>
                    <a:pt x="0" y="376103"/>
                  </a:lnTo>
                  <a:lnTo>
                    <a:pt x="35701" y="415393"/>
                  </a:lnTo>
                  <a:close/>
                </a:path>
              </a:pathLst>
            </a:custGeom>
            <a:ln w="3175">
              <a:solidFill>
                <a:srgbClr val="000000"/>
              </a:solidFill>
            </a:ln>
          </p:spPr>
          <p:txBody>
            <a:bodyPr wrap="square" lIns="0" tIns="0" rIns="0" bIns="0" rtlCol="0"/>
            <a:lstStyle/>
            <a:p/>
          </p:txBody>
        </p:sp>
        <p:sp>
          <p:nvSpPr>
            <p:cNvPr id="53" name="object 53" descr=""/>
            <p:cNvSpPr/>
            <p:nvPr/>
          </p:nvSpPr>
          <p:spPr>
            <a:xfrm>
              <a:off x="4191068" y="4819135"/>
              <a:ext cx="71755" cy="494030"/>
            </a:xfrm>
            <a:custGeom>
              <a:avLst/>
              <a:gdLst/>
              <a:ahLst/>
              <a:cxnLst/>
              <a:rect l="l" t="t" r="r" b="b"/>
              <a:pathLst>
                <a:path w="71754" h="494029">
                  <a:moveTo>
                    <a:pt x="0" y="376102"/>
                  </a:moveTo>
                  <a:lnTo>
                    <a:pt x="35844" y="493507"/>
                  </a:lnTo>
                  <a:lnTo>
                    <a:pt x="56592" y="425211"/>
                  </a:lnTo>
                  <a:lnTo>
                    <a:pt x="31005" y="425211"/>
                  </a:lnTo>
                  <a:lnTo>
                    <a:pt x="26704" y="420546"/>
                  </a:lnTo>
                  <a:lnTo>
                    <a:pt x="26704" y="405374"/>
                  </a:lnTo>
                  <a:lnTo>
                    <a:pt x="0" y="376102"/>
                  </a:lnTo>
                  <a:close/>
                </a:path>
                <a:path w="71754" h="494029">
                  <a:moveTo>
                    <a:pt x="26704" y="405374"/>
                  </a:moveTo>
                  <a:lnTo>
                    <a:pt x="26704" y="420546"/>
                  </a:lnTo>
                  <a:lnTo>
                    <a:pt x="31005" y="425211"/>
                  </a:lnTo>
                  <a:lnTo>
                    <a:pt x="40504" y="425211"/>
                  </a:lnTo>
                  <a:lnTo>
                    <a:pt x="44806" y="420546"/>
                  </a:lnTo>
                  <a:lnTo>
                    <a:pt x="44806" y="415393"/>
                  </a:lnTo>
                  <a:lnTo>
                    <a:pt x="35844" y="415393"/>
                  </a:lnTo>
                  <a:lnTo>
                    <a:pt x="26704" y="405374"/>
                  </a:lnTo>
                  <a:close/>
                </a:path>
                <a:path w="71754" h="494029">
                  <a:moveTo>
                    <a:pt x="71510" y="376102"/>
                  </a:moveTo>
                  <a:lnTo>
                    <a:pt x="44806" y="405521"/>
                  </a:lnTo>
                  <a:lnTo>
                    <a:pt x="44806" y="420546"/>
                  </a:lnTo>
                  <a:lnTo>
                    <a:pt x="40504" y="425211"/>
                  </a:lnTo>
                  <a:lnTo>
                    <a:pt x="56592" y="425211"/>
                  </a:lnTo>
                  <a:lnTo>
                    <a:pt x="71510" y="376102"/>
                  </a:lnTo>
                  <a:close/>
                </a:path>
                <a:path w="71754" h="494029">
                  <a:moveTo>
                    <a:pt x="40504" y="0"/>
                  </a:moveTo>
                  <a:lnTo>
                    <a:pt x="31005" y="0"/>
                  </a:lnTo>
                  <a:lnTo>
                    <a:pt x="26704" y="4216"/>
                  </a:lnTo>
                  <a:lnTo>
                    <a:pt x="26704" y="405374"/>
                  </a:lnTo>
                  <a:lnTo>
                    <a:pt x="35844" y="415393"/>
                  </a:lnTo>
                  <a:lnTo>
                    <a:pt x="44806" y="405521"/>
                  </a:lnTo>
                  <a:lnTo>
                    <a:pt x="44806" y="4216"/>
                  </a:lnTo>
                  <a:lnTo>
                    <a:pt x="40504" y="0"/>
                  </a:lnTo>
                  <a:close/>
                </a:path>
                <a:path w="71754" h="494029">
                  <a:moveTo>
                    <a:pt x="44806" y="405521"/>
                  </a:moveTo>
                  <a:lnTo>
                    <a:pt x="35844" y="415393"/>
                  </a:lnTo>
                  <a:lnTo>
                    <a:pt x="44806" y="415393"/>
                  </a:lnTo>
                  <a:lnTo>
                    <a:pt x="44806" y="405521"/>
                  </a:lnTo>
                  <a:close/>
                </a:path>
              </a:pathLst>
            </a:custGeom>
            <a:solidFill>
              <a:srgbClr val="000000"/>
            </a:solidFill>
          </p:spPr>
          <p:txBody>
            <a:bodyPr wrap="square" lIns="0" tIns="0" rIns="0" bIns="0" rtlCol="0"/>
            <a:lstStyle/>
            <a:p/>
          </p:txBody>
        </p:sp>
        <p:sp>
          <p:nvSpPr>
            <p:cNvPr id="54" name="object 54" descr=""/>
            <p:cNvSpPr/>
            <p:nvPr/>
          </p:nvSpPr>
          <p:spPr>
            <a:xfrm>
              <a:off x="4191068" y="4819135"/>
              <a:ext cx="71755" cy="494030"/>
            </a:xfrm>
            <a:custGeom>
              <a:avLst/>
              <a:gdLst/>
              <a:ahLst/>
              <a:cxnLst/>
              <a:rect l="l" t="t" r="r" b="b"/>
              <a:pathLst>
                <a:path w="71754" h="494029">
                  <a:moveTo>
                    <a:pt x="44806" y="9368"/>
                  </a:moveTo>
                  <a:lnTo>
                    <a:pt x="44806" y="415393"/>
                  </a:lnTo>
                  <a:lnTo>
                    <a:pt x="44806" y="420546"/>
                  </a:lnTo>
                  <a:lnTo>
                    <a:pt x="40504" y="425211"/>
                  </a:lnTo>
                  <a:lnTo>
                    <a:pt x="35844" y="425211"/>
                  </a:lnTo>
                  <a:lnTo>
                    <a:pt x="31005" y="425211"/>
                  </a:lnTo>
                  <a:lnTo>
                    <a:pt x="26704" y="420546"/>
                  </a:lnTo>
                  <a:lnTo>
                    <a:pt x="26704" y="415393"/>
                  </a:lnTo>
                  <a:lnTo>
                    <a:pt x="26704" y="9368"/>
                  </a:lnTo>
                  <a:lnTo>
                    <a:pt x="26704" y="4216"/>
                  </a:lnTo>
                  <a:lnTo>
                    <a:pt x="31005" y="0"/>
                  </a:lnTo>
                  <a:lnTo>
                    <a:pt x="35844" y="0"/>
                  </a:lnTo>
                  <a:lnTo>
                    <a:pt x="40504" y="0"/>
                  </a:lnTo>
                  <a:lnTo>
                    <a:pt x="44806" y="4216"/>
                  </a:lnTo>
                  <a:lnTo>
                    <a:pt x="44806" y="9368"/>
                  </a:lnTo>
                  <a:close/>
                </a:path>
                <a:path w="71754" h="494029">
                  <a:moveTo>
                    <a:pt x="35844" y="415393"/>
                  </a:moveTo>
                  <a:lnTo>
                    <a:pt x="71510" y="376103"/>
                  </a:lnTo>
                  <a:lnTo>
                    <a:pt x="35844" y="493507"/>
                  </a:lnTo>
                  <a:lnTo>
                    <a:pt x="0" y="376103"/>
                  </a:lnTo>
                  <a:lnTo>
                    <a:pt x="35844" y="415393"/>
                  </a:lnTo>
                  <a:close/>
                </a:path>
              </a:pathLst>
            </a:custGeom>
            <a:ln w="3175">
              <a:solidFill>
                <a:srgbClr val="000000"/>
              </a:solidFill>
            </a:ln>
          </p:spPr>
          <p:txBody>
            <a:bodyPr wrap="square" lIns="0" tIns="0" rIns="0" bIns="0" rtlCol="0"/>
            <a:lstStyle/>
            <a:p/>
          </p:txBody>
        </p:sp>
        <p:sp>
          <p:nvSpPr>
            <p:cNvPr id="55" name="object 55" descr=""/>
            <p:cNvSpPr/>
            <p:nvPr/>
          </p:nvSpPr>
          <p:spPr>
            <a:xfrm>
              <a:off x="3511215" y="4828504"/>
              <a:ext cx="716280" cy="181610"/>
            </a:xfrm>
            <a:custGeom>
              <a:avLst/>
              <a:gdLst/>
              <a:ahLst/>
              <a:cxnLst/>
              <a:rect l="l" t="t" r="r" b="b"/>
              <a:pathLst>
                <a:path w="716279" h="181610">
                  <a:moveTo>
                    <a:pt x="0" y="0"/>
                  </a:moveTo>
                  <a:lnTo>
                    <a:pt x="0" y="181483"/>
                  </a:lnTo>
                </a:path>
                <a:path w="716279" h="181610">
                  <a:moveTo>
                    <a:pt x="0" y="181483"/>
                  </a:moveTo>
                  <a:lnTo>
                    <a:pt x="715697" y="181483"/>
                  </a:lnTo>
                </a:path>
              </a:pathLst>
            </a:custGeom>
            <a:ln w="13934">
              <a:solidFill>
                <a:srgbClr val="000000"/>
              </a:solidFill>
            </a:ln>
          </p:spPr>
          <p:txBody>
            <a:bodyPr wrap="square" lIns="0" tIns="0" rIns="0" bIns="0" rtlCol="0"/>
            <a:lstStyle/>
            <a:p/>
          </p:txBody>
        </p:sp>
        <p:sp>
          <p:nvSpPr>
            <p:cNvPr id="56" name="object 56" descr=""/>
            <p:cNvSpPr/>
            <p:nvPr/>
          </p:nvSpPr>
          <p:spPr>
            <a:xfrm>
              <a:off x="2875183" y="3186525"/>
              <a:ext cx="72390" cy="312420"/>
            </a:xfrm>
            <a:custGeom>
              <a:avLst/>
              <a:gdLst/>
              <a:ahLst/>
              <a:cxnLst/>
              <a:rect l="l" t="t" r="r" b="b"/>
              <a:pathLst>
                <a:path w="72389" h="312420">
                  <a:moveTo>
                    <a:pt x="0" y="195185"/>
                  </a:moveTo>
                  <a:lnTo>
                    <a:pt x="35719" y="312101"/>
                  </a:lnTo>
                  <a:lnTo>
                    <a:pt x="56841" y="243786"/>
                  </a:lnTo>
                  <a:lnTo>
                    <a:pt x="30970" y="243786"/>
                  </a:lnTo>
                  <a:lnTo>
                    <a:pt x="27098" y="239492"/>
                  </a:lnTo>
                  <a:lnTo>
                    <a:pt x="27098" y="224653"/>
                  </a:lnTo>
                  <a:lnTo>
                    <a:pt x="0" y="195185"/>
                  </a:lnTo>
                  <a:close/>
                </a:path>
                <a:path w="72389" h="312420">
                  <a:moveTo>
                    <a:pt x="27098" y="224653"/>
                  </a:moveTo>
                  <a:lnTo>
                    <a:pt x="27098" y="239492"/>
                  </a:lnTo>
                  <a:lnTo>
                    <a:pt x="30970" y="243786"/>
                  </a:lnTo>
                  <a:lnTo>
                    <a:pt x="40881" y="243786"/>
                  </a:lnTo>
                  <a:lnTo>
                    <a:pt x="44752" y="239492"/>
                  </a:lnTo>
                  <a:lnTo>
                    <a:pt x="44752" y="234027"/>
                  </a:lnTo>
                  <a:lnTo>
                    <a:pt x="35719" y="234027"/>
                  </a:lnTo>
                  <a:lnTo>
                    <a:pt x="27098" y="224653"/>
                  </a:lnTo>
                  <a:close/>
                </a:path>
                <a:path w="72389" h="312420">
                  <a:moveTo>
                    <a:pt x="71869" y="195185"/>
                  </a:moveTo>
                  <a:lnTo>
                    <a:pt x="44752" y="224321"/>
                  </a:lnTo>
                  <a:lnTo>
                    <a:pt x="44752" y="239492"/>
                  </a:lnTo>
                  <a:lnTo>
                    <a:pt x="40881" y="243786"/>
                  </a:lnTo>
                  <a:lnTo>
                    <a:pt x="56841" y="243786"/>
                  </a:lnTo>
                  <a:lnTo>
                    <a:pt x="71869" y="195185"/>
                  </a:lnTo>
                  <a:close/>
                </a:path>
                <a:path w="72389" h="312420">
                  <a:moveTo>
                    <a:pt x="40881" y="0"/>
                  </a:moveTo>
                  <a:lnTo>
                    <a:pt x="30970" y="0"/>
                  </a:lnTo>
                  <a:lnTo>
                    <a:pt x="27098" y="4294"/>
                  </a:lnTo>
                  <a:lnTo>
                    <a:pt x="27098" y="224653"/>
                  </a:lnTo>
                  <a:lnTo>
                    <a:pt x="35719" y="234027"/>
                  </a:lnTo>
                  <a:lnTo>
                    <a:pt x="44752" y="224321"/>
                  </a:lnTo>
                  <a:lnTo>
                    <a:pt x="44752" y="4294"/>
                  </a:lnTo>
                  <a:lnTo>
                    <a:pt x="40881" y="0"/>
                  </a:lnTo>
                  <a:close/>
                </a:path>
                <a:path w="72389" h="312420">
                  <a:moveTo>
                    <a:pt x="44752" y="224321"/>
                  </a:moveTo>
                  <a:lnTo>
                    <a:pt x="35719" y="234027"/>
                  </a:lnTo>
                  <a:lnTo>
                    <a:pt x="44752" y="234027"/>
                  </a:lnTo>
                  <a:lnTo>
                    <a:pt x="44752" y="224321"/>
                  </a:lnTo>
                  <a:close/>
                </a:path>
              </a:pathLst>
            </a:custGeom>
            <a:solidFill>
              <a:srgbClr val="0000FF"/>
            </a:solidFill>
          </p:spPr>
          <p:txBody>
            <a:bodyPr wrap="square" lIns="0" tIns="0" rIns="0" bIns="0" rtlCol="0"/>
            <a:lstStyle/>
            <a:p/>
          </p:txBody>
        </p:sp>
        <p:pic>
          <p:nvPicPr>
            <p:cNvPr id="57" name="object 57" descr=""/>
            <p:cNvPicPr/>
            <p:nvPr/>
          </p:nvPicPr>
          <p:blipFill>
            <a:blip r:embed="rId6" cstate="print"/>
            <a:stretch>
              <a:fillRect/>
            </a:stretch>
          </p:blipFill>
          <p:spPr>
            <a:xfrm>
              <a:off x="2873894" y="3185270"/>
              <a:ext cx="74447" cy="314646"/>
            </a:xfrm>
            <a:prstGeom prst="rect">
              <a:avLst/>
            </a:prstGeom>
          </p:spPr>
        </p:pic>
        <p:sp>
          <p:nvSpPr>
            <p:cNvPr id="58" name="object 58" descr=""/>
            <p:cNvSpPr/>
            <p:nvPr/>
          </p:nvSpPr>
          <p:spPr>
            <a:xfrm>
              <a:off x="2418589" y="1503635"/>
              <a:ext cx="7044690" cy="4534535"/>
            </a:xfrm>
            <a:custGeom>
              <a:avLst/>
              <a:gdLst/>
              <a:ahLst/>
              <a:cxnLst/>
              <a:rect l="l" t="t" r="r" b="b"/>
              <a:pathLst>
                <a:path w="7044690" h="4534535">
                  <a:moveTo>
                    <a:pt x="0" y="1692844"/>
                  </a:moveTo>
                  <a:lnTo>
                    <a:pt x="489733" y="1692844"/>
                  </a:lnTo>
                </a:path>
                <a:path w="7044690" h="4534535">
                  <a:moveTo>
                    <a:pt x="0" y="1692844"/>
                  </a:moveTo>
                  <a:lnTo>
                    <a:pt x="0" y="4534528"/>
                  </a:lnTo>
                </a:path>
                <a:path w="7044690" h="4534535">
                  <a:moveTo>
                    <a:pt x="0" y="4534528"/>
                  </a:moveTo>
                  <a:lnTo>
                    <a:pt x="7044191" y="4534528"/>
                  </a:lnTo>
                </a:path>
                <a:path w="7044690" h="4534535">
                  <a:moveTo>
                    <a:pt x="7044191" y="4534528"/>
                  </a:moveTo>
                  <a:lnTo>
                    <a:pt x="7044191" y="0"/>
                  </a:lnTo>
                </a:path>
                <a:path w="7044690" h="4534535">
                  <a:moveTo>
                    <a:pt x="5236353" y="0"/>
                  </a:moveTo>
                  <a:lnTo>
                    <a:pt x="7044191" y="0"/>
                  </a:lnTo>
                </a:path>
              </a:pathLst>
            </a:custGeom>
            <a:ln w="13934">
              <a:solidFill>
                <a:srgbClr val="0000FF"/>
              </a:solidFill>
            </a:ln>
          </p:spPr>
          <p:txBody>
            <a:bodyPr wrap="square" lIns="0" tIns="0" rIns="0" bIns="0" rtlCol="0"/>
            <a:lstStyle/>
            <a:p/>
          </p:txBody>
        </p:sp>
        <p:sp>
          <p:nvSpPr>
            <p:cNvPr id="59" name="object 59" descr=""/>
            <p:cNvSpPr/>
            <p:nvPr/>
          </p:nvSpPr>
          <p:spPr>
            <a:xfrm>
              <a:off x="7618738" y="1493681"/>
              <a:ext cx="72390" cy="372745"/>
            </a:xfrm>
            <a:custGeom>
              <a:avLst/>
              <a:gdLst/>
              <a:ahLst/>
              <a:cxnLst/>
              <a:rect l="l" t="t" r="r" b="b"/>
              <a:pathLst>
                <a:path w="72390" h="372744">
                  <a:moveTo>
                    <a:pt x="0" y="255497"/>
                  </a:moveTo>
                  <a:lnTo>
                    <a:pt x="36203" y="372413"/>
                  </a:lnTo>
                  <a:lnTo>
                    <a:pt x="57043" y="304099"/>
                  </a:lnTo>
                  <a:lnTo>
                    <a:pt x="31005" y="304099"/>
                  </a:lnTo>
                  <a:lnTo>
                    <a:pt x="27242" y="299804"/>
                  </a:lnTo>
                  <a:lnTo>
                    <a:pt x="27242" y="284725"/>
                  </a:lnTo>
                  <a:lnTo>
                    <a:pt x="0" y="255497"/>
                  </a:lnTo>
                  <a:close/>
                </a:path>
                <a:path w="72390" h="372744">
                  <a:moveTo>
                    <a:pt x="27242" y="284725"/>
                  </a:moveTo>
                  <a:lnTo>
                    <a:pt x="27242" y="299804"/>
                  </a:lnTo>
                  <a:lnTo>
                    <a:pt x="31005" y="304099"/>
                  </a:lnTo>
                  <a:lnTo>
                    <a:pt x="40863" y="304099"/>
                  </a:lnTo>
                  <a:lnTo>
                    <a:pt x="45164" y="299804"/>
                  </a:lnTo>
                  <a:lnTo>
                    <a:pt x="45164" y="294339"/>
                  </a:lnTo>
                  <a:lnTo>
                    <a:pt x="36203" y="294339"/>
                  </a:lnTo>
                  <a:lnTo>
                    <a:pt x="27242" y="284725"/>
                  </a:lnTo>
                  <a:close/>
                </a:path>
                <a:path w="72390" h="372744">
                  <a:moveTo>
                    <a:pt x="71869" y="255497"/>
                  </a:moveTo>
                  <a:lnTo>
                    <a:pt x="45164" y="284580"/>
                  </a:lnTo>
                  <a:lnTo>
                    <a:pt x="45164" y="299804"/>
                  </a:lnTo>
                  <a:lnTo>
                    <a:pt x="40863" y="304099"/>
                  </a:lnTo>
                  <a:lnTo>
                    <a:pt x="57043" y="304099"/>
                  </a:lnTo>
                  <a:lnTo>
                    <a:pt x="71869" y="255497"/>
                  </a:lnTo>
                  <a:close/>
                </a:path>
                <a:path w="72390" h="372744">
                  <a:moveTo>
                    <a:pt x="40863" y="0"/>
                  </a:moveTo>
                  <a:lnTo>
                    <a:pt x="31005" y="0"/>
                  </a:lnTo>
                  <a:lnTo>
                    <a:pt x="27242" y="4294"/>
                  </a:lnTo>
                  <a:lnTo>
                    <a:pt x="27242" y="284725"/>
                  </a:lnTo>
                  <a:lnTo>
                    <a:pt x="36203" y="294339"/>
                  </a:lnTo>
                  <a:lnTo>
                    <a:pt x="45164" y="284580"/>
                  </a:lnTo>
                  <a:lnTo>
                    <a:pt x="45164" y="4294"/>
                  </a:lnTo>
                  <a:lnTo>
                    <a:pt x="40863" y="0"/>
                  </a:lnTo>
                  <a:close/>
                </a:path>
                <a:path w="72390" h="372744">
                  <a:moveTo>
                    <a:pt x="45164" y="284580"/>
                  </a:moveTo>
                  <a:lnTo>
                    <a:pt x="36203" y="294339"/>
                  </a:lnTo>
                  <a:lnTo>
                    <a:pt x="45164" y="294339"/>
                  </a:lnTo>
                  <a:lnTo>
                    <a:pt x="45164" y="284580"/>
                  </a:lnTo>
                  <a:close/>
                </a:path>
              </a:pathLst>
            </a:custGeom>
            <a:solidFill>
              <a:srgbClr val="0000FF"/>
            </a:solidFill>
          </p:spPr>
          <p:txBody>
            <a:bodyPr wrap="square" lIns="0" tIns="0" rIns="0" bIns="0" rtlCol="0"/>
            <a:lstStyle/>
            <a:p/>
          </p:txBody>
        </p:sp>
        <p:sp>
          <p:nvSpPr>
            <p:cNvPr id="60" name="object 60" descr=""/>
            <p:cNvSpPr/>
            <p:nvPr/>
          </p:nvSpPr>
          <p:spPr>
            <a:xfrm>
              <a:off x="7618738" y="1493681"/>
              <a:ext cx="72390" cy="372745"/>
            </a:xfrm>
            <a:custGeom>
              <a:avLst/>
              <a:gdLst/>
              <a:ahLst/>
              <a:cxnLst/>
              <a:rect l="l" t="t" r="r" b="b"/>
              <a:pathLst>
                <a:path w="72390" h="372744">
                  <a:moveTo>
                    <a:pt x="45164" y="9954"/>
                  </a:moveTo>
                  <a:lnTo>
                    <a:pt x="45164" y="294339"/>
                  </a:lnTo>
                  <a:lnTo>
                    <a:pt x="45164" y="299804"/>
                  </a:lnTo>
                  <a:lnTo>
                    <a:pt x="40863" y="304099"/>
                  </a:lnTo>
                  <a:lnTo>
                    <a:pt x="36203" y="304099"/>
                  </a:lnTo>
                  <a:lnTo>
                    <a:pt x="31005" y="304099"/>
                  </a:lnTo>
                  <a:lnTo>
                    <a:pt x="27242" y="299804"/>
                  </a:lnTo>
                  <a:lnTo>
                    <a:pt x="27242" y="294339"/>
                  </a:lnTo>
                  <a:lnTo>
                    <a:pt x="27242" y="9954"/>
                  </a:lnTo>
                  <a:lnTo>
                    <a:pt x="27242" y="4294"/>
                  </a:lnTo>
                  <a:lnTo>
                    <a:pt x="31005" y="0"/>
                  </a:lnTo>
                  <a:lnTo>
                    <a:pt x="36203" y="0"/>
                  </a:lnTo>
                  <a:lnTo>
                    <a:pt x="40863" y="0"/>
                  </a:lnTo>
                  <a:lnTo>
                    <a:pt x="45164" y="4294"/>
                  </a:lnTo>
                  <a:lnTo>
                    <a:pt x="45164" y="9954"/>
                  </a:lnTo>
                  <a:close/>
                </a:path>
                <a:path w="72390" h="372744">
                  <a:moveTo>
                    <a:pt x="36203" y="294339"/>
                  </a:moveTo>
                  <a:lnTo>
                    <a:pt x="71869" y="255497"/>
                  </a:lnTo>
                  <a:lnTo>
                    <a:pt x="36203" y="372413"/>
                  </a:lnTo>
                  <a:lnTo>
                    <a:pt x="0" y="255497"/>
                  </a:lnTo>
                  <a:lnTo>
                    <a:pt x="36203" y="294339"/>
                  </a:lnTo>
                  <a:close/>
                </a:path>
              </a:pathLst>
            </a:custGeom>
            <a:ln w="3175">
              <a:solidFill>
                <a:srgbClr val="0000FF"/>
              </a:solidFill>
            </a:ln>
          </p:spPr>
          <p:txBody>
            <a:bodyPr wrap="square" lIns="0" tIns="0" rIns="0" bIns="0" rtlCol="0"/>
            <a:lstStyle/>
            <a:p/>
          </p:txBody>
        </p:sp>
        <p:sp>
          <p:nvSpPr>
            <p:cNvPr id="61" name="object 61" descr=""/>
            <p:cNvSpPr/>
            <p:nvPr/>
          </p:nvSpPr>
          <p:spPr>
            <a:xfrm>
              <a:off x="3437626" y="5726162"/>
              <a:ext cx="72390" cy="312420"/>
            </a:xfrm>
            <a:custGeom>
              <a:avLst/>
              <a:gdLst/>
              <a:ahLst/>
              <a:cxnLst/>
              <a:rect l="l" t="t" r="r" b="b"/>
              <a:pathLst>
                <a:path w="72389" h="312420">
                  <a:moveTo>
                    <a:pt x="0" y="195058"/>
                  </a:moveTo>
                  <a:lnTo>
                    <a:pt x="35719" y="312002"/>
                  </a:lnTo>
                  <a:lnTo>
                    <a:pt x="56830" y="243706"/>
                  </a:lnTo>
                  <a:lnTo>
                    <a:pt x="30987" y="243706"/>
                  </a:lnTo>
                  <a:lnTo>
                    <a:pt x="26686" y="239498"/>
                  </a:lnTo>
                  <a:lnTo>
                    <a:pt x="26686" y="224183"/>
                  </a:lnTo>
                  <a:lnTo>
                    <a:pt x="0" y="195058"/>
                  </a:lnTo>
                  <a:close/>
                </a:path>
                <a:path w="72389" h="312420">
                  <a:moveTo>
                    <a:pt x="26794" y="224183"/>
                  </a:moveTo>
                  <a:lnTo>
                    <a:pt x="26686" y="239498"/>
                  </a:lnTo>
                  <a:lnTo>
                    <a:pt x="30987" y="243706"/>
                  </a:lnTo>
                  <a:lnTo>
                    <a:pt x="40881" y="243706"/>
                  </a:lnTo>
                  <a:lnTo>
                    <a:pt x="44752" y="239498"/>
                  </a:lnTo>
                  <a:lnTo>
                    <a:pt x="44752" y="233884"/>
                  </a:lnTo>
                  <a:lnTo>
                    <a:pt x="35719" y="233884"/>
                  </a:lnTo>
                  <a:lnTo>
                    <a:pt x="26794" y="224183"/>
                  </a:lnTo>
                  <a:close/>
                </a:path>
                <a:path w="72389" h="312420">
                  <a:moveTo>
                    <a:pt x="71869" y="195058"/>
                  </a:moveTo>
                  <a:lnTo>
                    <a:pt x="44752" y="224183"/>
                  </a:lnTo>
                  <a:lnTo>
                    <a:pt x="44752" y="239498"/>
                  </a:lnTo>
                  <a:lnTo>
                    <a:pt x="40881" y="243706"/>
                  </a:lnTo>
                  <a:lnTo>
                    <a:pt x="56830" y="243706"/>
                  </a:lnTo>
                  <a:lnTo>
                    <a:pt x="71869" y="195058"/>
                  </a:lnTo>
                  <a:close/>
                </a:path>
                <a:path w="72389" h="312420">
                  <a:moveTo>
                    <a:pt x="40881" y="0"/>
                  </a:moveTo>
                  <a:lnTo>
                    <a:pt x="30987" y="0"/>
                  </a:lnTo>
                  <a:lnTo>
                    <a:pt x="26686" y="4216"/>
                  </a:lnTo>
                  <a:lnTo>
                    <a:pt x="26794" y="224183"/>
                  </a:lnTo>
                  <a:lnTo>
                    <a:pt x="35719" y="233884"/>
                  </a:lnTo>
                  <a:lnTo>
                    <a:pt x="44752" y="224183"/>
                  </a:lnTo>
                  <a:lnTo>
                    <a:pt x="44752" y="4216"/>
                  </a:lnTo>
                  <a:lnTo>
                    <a:pt x="40881" y="0"/>
                  </a:lnTo>
                  <a:close/>
                </a:path>
                <a:path w="72389" h="312420">
                  <a:moveTo>
                    <a:pt x="44752" y="224183"/>
                  </a:moveTo>
                  <a:lnTo>
                    <a:pt x="35719" y="233884"/>
                  </a:lnTo>
                  <a:lnTo>
                    <a:pt x="44752" y="233884"/>
                  </a:lnTo>
                  <a:lnTo>
                    <a:pt x="44752" y="224183"/>
                  </a:lnTo>
                  <a:close/>
                </a:path>
              </a:pathLst>
            </a:custGeom>
            <a:solidFill>
              <a:srgbClr val="000000"/>
            </a:solidFill>
          </p:spPr>
          <p:txBody>
            <a:bodyPr wrap="square" lIns="0" tIns="0" rIns="0" bIns="0" rtlCol="0"/>
            <a:lstStyle/>
            <a:p/>
          </p:txBody>
        </p:sp>
        <p:pic>
          <p:nvPicPr>
            <p:cNvPr id="62" name="object 62" descr=""/>
            <p:cNvPicPr/>
            <p:nvPr/>
          </p:nvPicPr>
          <p:blipFill>
            <a:blip r:embed="rId7" cstate="print"/>
            <a:stretch>
              <a:fillRect/>
            </a:stretch>
          </p:blipFill>
          <p:spPr>
            <a:xfrm>
              <a:off x="3436337" y="5724907"/>
              <a:ext cx="74447" cy="314546"/>
            </a:xfrm>
            <a:prstGeom prst="rect">
              <a:avLst/>
            </a:prstGeom>
          </p:spPr>
        </p:pic>
        <p:sp>
          <p:nvSpPr>
            <p:cNvPr id="63" name="object 63" descr=""/>
            <p:cNvSpPr/>
            <p:nvPr/>
          </p:nvSpPr>
          <p:spPr>
            <a:xfrm>
              <a:off x="6036902" y="5726162"/>
              <a:ext cx="72390" cy="312420"/>
            </a:xfrm>
            <a:custGeom>
              <a:avLst/>
              <a:gdLst/>
              <a:ahLst/>
              <a:cxnLst/>
              <a:rect l="l" t="t" r="r" b="b"/>
              <a:pathLst>
                <a:path w="72389" h="312420">
                  <a:moveTo>
                    <a:pt x="0" y="195058"/>
                  </a:moveTo>
                  <a:lnTo>
                    <a:pt x="35665" y="312002"/>
                  </a:lnTo>
                  <a:lnTo>
                    <a:pt x="56808" y="243706"/>
                  </a:lnTo>
                  <a:lnTo>
                    <a:pt x="31005" y="243706"/>
                  </a:lnTo>
                  <a:lnTo>
                    <a:pt x="26704" y="239498"/>
                  </a:lnTo>
                  <a:lnTo>
                    <a:pt x="26704" y="224129"/>
                  </a:lnTo>
                  <a:lnTo>
                    <a:pt x="0" y="195058"/>
                  </a:lnTo>
                  <a:close/>
                </a:path>
                <a:path w="72389" h="312420">
                  <a:moveTo>
                    <a:pt x="26704" y="224129"/>
                  </a:moveTo>
                  <a:lnTo>
                    <a:pt x="26704" y="239498"/>
                  </a:lnTo>
                  <a:lnTo>
                    <a:pt x="31005" y="243706"/>
                  </a:lnTo>
                  <a:lnTo>
                    <a:pt x="40863" y="243706"/>
                  </a:lnTo>
                  <a:lnTo>
                    <a:pt x="44806" y="239498"/>
                  </a:lnTo>
                  <a:lnTo>
                    <a:pt x="44806" y="233884"/>
                  </a:lnTo>
                  <a:lnTo>
                    <a:pt x="35665" y="233884"/>
                  </a:lnTo>
                  <a:lnTo>
                    <a:pt x="26704" y="224129"/>
                  </a:lnTo>
                  <a:close/>
                </a:path>
                <a:path w="72389" h="312420">
                  <a:moveTo>
                    <a:pt x="71869" y="195058"/>
                  </a:moveTo>
                  <a:lnTo>
                    <a:pt x="44806" y="224129"/>
                  </a:lnTo>
                  <a:lnTo>
                    <a:pt x="44806" y="239498"/>
                  </a:lnTo>
                  <a:lnTo>
                    <a:pt x="40863" y="243706"/>
                  </a:lnTo>
                  <a:lnTo>
                    <a:pt x="56808" y="243706"/>
                  </a:lnTo>
                  <a:lnTo>
                    <a:pt x="71869" y="195058"/>
                  </a:lnTo>
                  <a:close/>
                </a:path>
                <a:path w="72389" h="312420">
                  <a:moveTo>
                    <a:pt x="40863" y="0"/>
                  </a:moveTo>
                  <a:lnTo>
                    <a:pt x="31005" y="0"/>
                  </a:lnTo>
                  <a:lnTo>
                    <a:pt x="26704" y="4216"/>
                  </a:lnTo>
                  <a:lnTo>
                    <a:pt x="26704" y="224129"/>
                  </a:lnTo>
                  <a:lnTo>
                    <a:pt x="35665" y="233884"/>
                  </a:lnTo>
                  <a:lnTo>
                    <a:pt x="44762" y="224129"/>
                  </a:lnTo>
                  <a:lnTo>
                    <a:pt x="44806" y="4216"/>
                  </a:lnTo>
                  <a:lnTo>
                    <a:pt x="40863" y="0"/>
                  </a:lnTo>
                  <a:close/>
                </a:path>
                <a:path w="72389" h="312420">
                  <a:moveTo>
                    <a:pt x="44806" y="224129"/>
                  </a:moveTo>
                  <a:lnTo>
                    <a:pt x="35665" y="233884"/>
                  </a:lnTo>
                  <a:lnTo>
                    <a:pt x="44806" y="233884"/>
                  </a:lnTo>
                  <a:lnTo>
                    <a:pt x="44806" y="224129"/>
                  </a:lnTo>
                  <a:close/>
                </a:path>
              </a:pathLst>
            </a:custGeom>
            <a:solidFill>
              <a:srgbClr val="000000"/>
            </a:solidFill>
          </p:spPr>
          <p:txBody>
            <a:bodyPr wrap="square" lIns="0" tIns="0" rIns="0" bIns="0" rtlCol="0"/>
            <a:lstStyle/>
            <a:p/>
          </p:txBody>
        </p:sp>
        <p:pic>
          <p:nvPicPr>
            <p:cNvPr id="64" name="object 64" descr=""/>
            <p:cNvPicPr/>
            <p:nvPr/>
          </p:nvPicPr>
          <p:blipFill>
            <a:blip r:embed="rId8" cstate="print"/>
            <a:stretch>
              <a:fillRect/>
            </a:stretch>
          </p:blipFill>
          <p:spPr>
            <a:xfrm>
              <a:off x="6035613" y="5724907"/>
              <a:ext cx="74447" cy="314546"/>
            </a:xfrm>
            <a:prstGeom prst="rect">
              <a:avLst/>
            </a:prstGeom>
          </p:spPr>
        </p:pic>
      </p:grpSp>
      <p:sp>
        <p:nvSpPr>
          <p:cNvPr id="65" name="object 65" descr=""/>
          <p:cNvSpPr txBox="1"/>
          <p:nvPr/>
        </p:nvSpPr>
        <p:spPr>
          <a:xfrm>
            <a:off x="5108543" y="1657346"/>
            <a:ext cx="187325" cy="756920"/>
          </a:xfrm>
          <a:prstGeom prst="rect">
            <a:avLst/>
          </a:prstGeom>
        </p:spPr>
        <p:txBody>
          <a:bodyPr wrap="square" lIns="0" tIns="48895" rIns="0" bIns="0" rtlCol="0" vert="horz">
            <a:spAutoFit/>
          </a:bodyPr>
          <a:lstStyle/>
          <a:p>
            <a:pPr algn="just" marL="12700" marR="5080">
              <a:lnSpc>
                <a:spcPts val="1370"/>
              </a:lnSpc>
              <a:spcBef>
                <a:spcPts val="385"/>
              </a:spcBef>
            </a:pPr>
            <a:r>
              <a:rPr dirty="0" sz="1350" spc="-114" b="1">
                <a:latin typeface="宋体"/>
                <a:cs typeface="宋体"/>
              </a:rPr>
              <a:t>指令队列</a:t>
            </a:r>
            <a:endParaRPr sz="1350">
              <a:latin typeface="宋体"/>
              <a:cs typeface="宋体"/>
            </a:endParaRPr>
          </a:p>
        </p:txBody>
      </p:sp>
      <p:sp>
        <p:nvSpPr>
          <p:cNvPr id="66" name="object 66" descr=""/>
          <p:cNvSpPr txBox="1"/>
          <p:nvPr/>
        </p:nvSpPr>
        <p:spPr>
          <a:xfrm>
            <a:off x="4306693" y="4984343"/>
            <a:ext cx="353060" cy="236854"/>
          </a:xfrm>
          <a:prstGeom prst="rect">
            <a:avLst/>
          </a:prstGeom>
        </p:spPr>
        <p:txBody>
          <a:bodyPr wrap="square" lIns="0" tIns="16510" rIns="0" bIns="0" rtlCol="0" vert="horz">
            <a:spAutoFit/>
          </a:bodyPr>
          <a:lstStyle/>
          <a:p>
            <a:pPr marL="12700">
              <a:lnSpc>
                <a:spcPct val="100000"/>
              </a:lnSpc>
              <a:spcBef>
                <a:spcPts val="130"/>
              </a:spcBef>
            </a:pPr>
            <a:r>
              <a:rPr dirty="0" sz="1350" spc="-65" b="1">
                <a:latin typeface="宋体"/>
                <a:cs typeface="宋体"/>
              </a:rPr>
              <a:t>地址</a:t>
            </a:r>
            <a:endParaRPr sz="1350">
              <a:latin typeface="宋体"/>
              <a:cs typeface="宋体"/>
            </a:endParaRPr>
          </a:p>
        </p:txBody>
      </p:sp>
      <p:sp>
        <p:nvSpPr>
          <p:cNvPr id="67" name="object 67" descr=""/>
          <p:cNvSpPr txBox="1"/>
          <p:nvPr/>
        </p:nvSpPr>
        <p:spPr>
          <a:xfrm>
            <a:off x="5060153" y="4258819"/>
            <a:ext cx="106680" cy="643255"/>
          </a:xfrm>
          <a:prstGeom prst="rect">
            <a:avLst/>
          </a:prstGeom>
        </p:spPr>
        <p:txBody>
          <a:bodyPr wrap="square" lIns="0" tIns="16510" rIns="0" bIns="0" rtlCol="0" vert="horz">
            <a:spAutoFit/>
          </a:bodyPr>
          <a:lstStyle/>
          <a:p>
            <a:pPr marL="12700">
              <a:lnSpc>
                <a:spcPts val="1610"/>
              </a:lnSpc>
              <a:spcBef>
                <a:spcPts val="130"/>
              </a:spcBef>
            </a:pPr>
            <a:r>
              <a:rPr dirty="0" sz="1350" spc="-50">
                <a:latin typeface="Times New Roman"/>
                <a:cs typeface="Times New Roman"/>
              </a:rPr>
              <a:t>3</a:t>
            </a:r>
            <a:endParaRPr sz="1350">
              <a:latin typeface="Times New Roman"/>
              <a:cs typeface="Times New Roman"/>
            </a:endParaRPr>
          </a:p>
          <a:p>
            <a:pPr marL="12700">
              <a:lnSpc>
                <a:spcPts val="1600"/>
              </a:lnSpc>
            </a:pPr>
            <a:r>
              <a:rPr dirty="0" sz="1350" spc="-50">
                <a:latin typeface="Times New Roman"/>
                <a:cs typeface="Times New Roman"/>
              </a:rPr>
              <a:t>2</a:t>
            </a:r>
            <a:endParaRPr sz="1350">
              <a:latin typeface="Times New Roman"/>
              <a:cs typeface="Times New Roman"/>
            </a:endParaRPr>
          </a:p>
          <a:p>
            <a:pPr marL="12700">
              <a:lnSpc>
                <a:spcPts val="1610"/>
              </a:lnSpc>
            </a:pPr>
            <a:r>
              <a:rPr dirty="0" sz="1350" spc="-50">
                <a:latin typeface="Times New Roman"/>
                <a:cs typeface="Times New Roman"/>
              </a:rPr>
              <a:t>1</a:t>
            </a:r>
            <a:endParaRPr sz="1350">
              <a:latin typeface="Times New Roman"/>
              <a:cs typeface="Times New Roman"/>
            </a:endParaRPr>
          </a:p>
        </p:txBody>
      </p:sp>
      <p:sp>
        <p:nvSpPr>
          <p:cNvPr id="68" name="object 68" descr=""/>
          <p:cNvSpPr txBox="1"/>
          <p:nvPr/>
        </p:nvSpPr>
        <p:spPr>
          <a:xfrm>
            <a:off x="4646682" y="4357446"/>
            <a:ext cx="106680" cy="483870"/>
          </a:xfrm>
          <a:prstGeom prst="rect">
            <a:avLst/>
          </a:prstGeom>
        </p:spPr>
        <p:txBody>
          <a:bodyPr wrap="square" lIns="0" tIns="34925" rIns="0" bIns="0" rtlCol="0" vert="horz">
            <a:spAutoFit/>
          </a:bodyPr>
          <a:lstStyle/>
          <a:p>
            <a:pPr marL="12700">
              <a:lnSpc>
                <a:spcPct val="100000"/>
              </a:lnSpc>
              <a:spcBef>
                <a:spcPts val="275"/>
              </a:spcBef>
            </a:pPr>
            <a:r>
              <a:rPr dirty="0" sz="1350" spc="-50">
                <a:latin typeface="Times New Roman"/>
                <a:cs typeface="Times New Roman"/>
              </a:rPr>
              <a:t>2</a:t>
            </a:r>
            <a:endParaRPr sz="1350">
              <a:latin typeface="Times New Roman"/>
              <a:cs typeface="Times New Roman"/>
            </a:endParaRPr>
          </a:p>
          <a:p>
            <a:pPr marL="12700">
              <a:lnSpc>
                <a:spcPct val="100000"/>
              </a:lnSpc>
              <a:spcBef>
                <a:spcPts val="185"/>
              </a:spcBef>
            </a:pPr>
            <a:r>
              <a:rPr dirty="0" sz="1350" spc="-50">
                <a:latin typeface="Times New Roman"/>
                <a:cs typeface="Times New Roman"/>
              </a:rPr>
              <a:t>1</a:t>
            </a:r>
            <a:endParaRPr sz="1350">
              <a:latin typeface="Times New Roman"/>
              <a:cs typeface="Times New Roman"/>
            </a:endParaRPr>
          </a:p>
        </p:txBody>
      </p:sp>
      <p:sp>
        <p:nvSpPr>
          <p:cNvPr id="69" name="object 69" descr=""/>
          <p:cNvSpPr txBox="1"/>
          <p:nvPr/>
        </p:nvSpPr>
        <p:spPr>
          <a:xfrm>
            <a:off x="4646682" y="4174615"/>
            <a:ext cx="106680" cy="236854"/>
          </a:xfrm>
          <a:prstGeom prst="rect">
            <a:avLst/>
          </a:prstGeom>
        </p:spPr>
        <p:txBody>
          <a:bodyPr wrap="square" lIns="0" tIns="16510" rIns="0" bIns="0" rtlCol="0" vert="horz">
            <a:spAutoFit/>
          </a:bodyPr>
          <a:lstStyle/>
          <a:p>
            <a:pPr marL="12700">
              <a:lnSpc>
                <a:spcPct val="100000"/>
              </a:lnSpc>
              <a:spcBef>
                <a:spcPts val="130"/>
              </a:spcBef>
            </a:pPr>
            <a:r>
              <a:rPr dirty="0" sz="1350" spc="-50">
                <a:latin typeface="Times New Roman"/>
                <a:cs typeface="Times New Roman"/>
              </a:rPr>
              <a:t>3</a:t>
            </a:r>
            <a:endParaRPr sz="1350">
              <a:latin typeface="Times New Roman"/>
              <a:cs typeface="Times New Roman"/>
            </a:endParaRPr>
          </a:p>
        </p:txBody>
      </p:sp>
      <p:sp>
        <p:nvSpPr>
          <p:cNvPr id="70" name="object 70" descr=""/>
          <p:cNvSpPr txBox="1"/>
          <p:nvPr/>
        </p:nvSpPr>
        <p:spPr>
          <a:xfrm>
            <a:off x="4646682" y="3697524"/>
            <a:ext cx="106680" cy="479425"/>
          </a:xfrm>
          <a:prstGeom prst="rect">
            <a:avLst/>
          </a:prstGeom>
        </p:spPr>
        <p:txBody>
          <a:bodyPr wrap="square" lIns="0" tIns="33019" rIns="0" bIns="0" rtlCol="0" vert="horz">
            <a:spAutoFit/>
          </a:bodyPr>
          <a:lstStyle/>
          <a:p>
            <a:pPr marL="12700">
              <a:lnSpc>
                <a:spcPct val="100000"/>
              </a:lnSpc>
              <a:spcBef>
                <a:spcPts val="259"/>
              </a:spcBef>
            </a:pPr>
            <a:r>
              <a:rPr dirty="0" sz="1350" spc="-50">
                <a:latin typeface="Times New Roman"/>
                <a:cs typeface="Times New Roman"/>
              </a:rPr>
              <a:t>5</a:t>
            </a:r>
            <a:endParaRPr sz="1350">
              <a:latin typeface="Times New Roman"/>
              <a:cs typeface="Times New Roman"/>
            </a:endParaRPr>
          </a:p>
          <a:p>
            <a:pPr marL="12700">
              <a:lnSpc>
                <a:spcPct val="100000"/>
              </a:lnSpc>
              <a:spcBef>
                <a:spcPts val="165"/>
              </a:spcBef>
            </a:pPr>
            <a:r>
              <a:rPr dirty="0" sz="1350" spc="-50">
                <a:latin typeface="Times New Roman"/>
                <a:cs typeface="Times New Roman"/>
              </a:rPr>
              <a:t>4</a:t>
            </a:r>
            <a:endParaRPr sz="1350">
              <a:latin typeface="Times New Roman"/>
              <a:cs typeface="Times New Roman"/>
            </a:endParaRPr>
          </a:p>
        </p:txBody>
      </p:sp>
      <p:sp>
        <p:nvSpPr>
          <p:cNvPr id="71" name="object 71" descr=""/>
          <p:cNvSpPr txBox="1"/>
          <p:nvPr/>
        </p:nvSpPr>
        <p:spPr>
          <a:xfrm>
            <a:off x="4381967" y="3186724"/>
            <a:ext cx="849630" cy="536575"/>
          </a:xfrm>
          <a:prstGeom prst="rect">
            <a:avLst/>
          </a:prstGeom>
        </p:spPr>
        <p:txBody>
          <a:bodyPr wrap="square" lIns="0" tIns="60960" rIns="0" bIns="0" rtlCol="0" vert="horz">
            <a:spAutoFit/>
          </a:bodyPr>
          <a:lstStyle/>
          <a:p>
            <a:pPr marL="12700">
              <a:lnSpc>
                <a:spcPct val="100000"/>
              </a:lnSpc>
              <a:spcBef>
                <a:spcPts val="480"/>
              </a:spcBef>
            </a:pPr>
            <a:r>
              <a:rPr dirty="0" sz="1350" spc="-45" b="1">
                <a:latin typeface="Times New Roman"/>
                <a:cs typeface="Times New Roman"/>
              </a:rPr>
              <a:t>load</a:t>
            </a:r>
            <a:r>
              <a:rPr dirty="0" sz="1350" spc="-5" b="1">
                <a:latin typeface="Times New Roman"/>
                <a:cs typeface="Times New Roman"/>
              </a:rPr>
              <a:t> </a:t>
            </a:r>
            <a:r>
              <a:rPr dirty="0" sz="1350" spc="-70" b="1">
                <a:latin typeface="宋体"/>
                <a:cs typeface="宋体"/>
              </a:rPr>
              <a:t>缓冲器</a:t>
            </a:r>
            <a:endParaRPr sz="1350">
              <a:latin typeface="宋体"/>
              <a:cs typeface="宋体"/>
            </a:endParaRPr>
          </a:p>
          <a:p>
            <a:pPr marL="276860">
              <a:lnSpc>
                <a:spcPct val="100000"/>
              </a:lnSpc>
              <a:spcBef>
                <a:spcPts val="390"/>
              </a:spcBef>
            </a:pPr>
            <a:r>
              <a:rPr dirty="0" sz="1350" spc="-50">
                <a:latin typeface="Times New Roman"/>
                <a:cs typeface="Times New Roman"/>
              </a:rPr>
              <a:t>6</a:t>
            </a:r>
            <a:endParaRPr sz="1350">
              <a:latin typeface="Times New Roman"/>
              <a:cs typeface="Times New Roman"/>
            </a:endParaRPr>
          </a:p>
        </p:txBody>
      </p:sp>
      <p:sp>
        <p:nvSpPr>
          <p:cNvPr id="72" name="object 72" descr=""/>
          <p:cNvSpPr txBox="1"/>
          <p:nvPr/>
        </p:nvSpPr>
        <p:spPr>
          <a:xfrm>
            <a:off x="6530332" y="5770661"/>
            <a:ext cx="1663700" cy="236854"/>
          </a:xfrm>
          <a:prstGeom prst="rect">
            <a:avLst/>
          </a:prstGeom>
        </p:spPr>
        <p:txBody>
          <a:bodyPr wrap="square" lIns="0" tIns="16510" rIns="0" bIns="0" rtlCol="0" vert="horz">
            <a:spAutoFit/>
          </a:bodyPr>
          <a:lstStyle/>
          <a:p>
            <a:pPr marL="12700">
              <a:lnSpc>
                <a:spcPct val="100000"/>
              </a:lnSpc>
              <a:spcBef>
                <a:spcPts val="130"/>
              </a:spcBef>
            </a:pPr>
            <a:r>
              <a:rPr dirty="0" sz="1350" spc="-90" b="1">
                <a:solidFill>
                  <a:srgbClr val="0000FF"/>
                </a:solidFill>
                <a:latin typeface="宋体"/>
                <a:cs typeface="宋体"/>
              </a:rPr>
              <a:t>公共数据总线</a:t>
            </a:r>
            <a:r>
              <a:rPr dirty="0" sz="1350" spc="-55" b="1">
                <a:solidFill>
                  <a:srgbClr val="0000FF"/>
                </a:solidFill>
                <a:latin typeface="宋体"/>
                <a:cs typeface="宋体"/>
              </a:rPr>
              <a:t>（</a:t>
            </a:r>
            <a:r>
              <a:rPr dirty="0" sz="1350" spc="-55" b="1">
                <a:solidFill>
                  <a:srgbClr val="0000FF"/>
                </a:solidFill>
                <a:latin typeface="Times New Roman"/>
                <a:cs typeface="Times New Roman"/>
              </a:rPr>
              <a:t>CDB</a:t>
            </a:r>
            <a:r>
              <a:rPr dirty="0" sz="1350" spc="-55" b="1">
                <a:solidFill>
                  <a:srgbClr val="0000FF"/>
                </a:solidFill>
                <a:latin typeface="宋体"/>
                <a:cs typeface="宋体"/>
              </a:rPr>
              <a:t>）</a:t>
            </a:r>
            <a:endParaRPr sz="1350">
              <a:latin typeface="宋体"/>
              <a:cs typeface="宋体"/>
            </a:endParaRPr>
          </a:p>
        </p:txBody>
      </p:sp>
      <p:grpSp>
        <p:nvGrpSpPr>
          <p:cNvPr id="73" name="object 73" descr=""/>
          <p:cNvGrpSpPr/>
          <p:nvPr/>
        </p:nvGrpSpPr>
        <p:grpSpPr>
          <a:xfrm>
            <a:off x="5319969" y="2520273"/>
            <a:ext cx="4332605" cy="3519804"/>
            <a:chOff x="5319969" y="2520273"/>
            <a:chExt cx="4332605" cy="3519804"/>
          </a:xfrm>
        </p:grpSpPr>
        <p:sp>
          <p:nvSpPr>
            <p:cNvPr id="74" name="object 74" descr=""/>
            <p:cNvSpPr/>
            <p:nvPr/>
          </p:nvSpPr>
          <p:spPr>
            <a:xfrm>
              <a:off x="8447652" y="5726162"/>
              <a:ext cx="72390" cy="312420"/>
            </a:xfrm>
            <a:custGeom>
              <a:avLst/>
              <a:gdLst/>
              <a:ahLst/>
              <a:cxnLst/>
              <a:rect l="l" t="t" r="r" b="b"/>
              <a:pathLst>
                <a:path w="72390" h="312420">
                  <a:moveTo>
                    <a:pt x="0" y="195058"/>
                  </a:moveTo>
                  <a:lnTo>
                    <a:pt x="35665" y="312002"/>
                  </a:lnTo>
                  <a:lnTo>
                    <a:pt x="56808" y="243706"/>
                  </a:lnTo>
                  <a:lnTo>
                    <a:pt x="31005" y="243706"/>
                  </a:lnTo>
                  <a:lnTo>
                    <a:pt x="27062" y="239498"/>
                  </a:lnTo>
                  <a:lnTo>
                    <a:pt x="27062" y="224519"/>
                  </a:lnTo>
                  <a:lnTo>
                    <a:pt x="0" y="195058"/>
                  </a:lnTo>
                  <a:close/>
                </a:path>
                <a:path w="72390" h="312420">
                  <a:moveTo>
                    <a:pt x="27062" y="224519"/>
                  </a:moveTo>
                  <a:lnTo>
                    <a:pt x="27062" y="239498"/>
                  </a:lnTo>
                  <a:lnTo>
                    <a:pt x="31005" y="243706"/>
                  </a:lnTo>
                  <a:lnTo>
                    <a:pt x="40863" y="243706"/>
                  </a:lnTo>
                  <a:lnTo>
                    <a:pt x="45164" y="239498"/>
                  </a:lnTo>
                  <a:lnTo>
                    <a:pt x="45164" y="233884"/>
                  </a:lnTo>
                  <a:lnTo>
                    <a:pt x="35665" y="233884"/>
                  </a:lnTo>
                  <a:lnTo>
                    <a:pt x="27062" y="224519"/>
                  </a:lnTo>
                  <a:close/>
                </a:path>
                <a:path w="72390" h="312420">
                  <a:moveTo>
                    <a:pt x="71869" y="195058"/>
                  </a:moveTo>
                  <a:lnTo>
                    <a:pt x="45164" y="223697"/>
                  </a:lnTo>
                  <a:lnTo>
                    <a:pt x="45164" y="239498"/>
                  </a:lnTo>
                  <a:lnTo>
                    <a:pt x="40863" y="243706"/>
                  </a:lnTo>
                  <a:lnTo>
                    <a:pt x="56808" y="243706"/>
                  </a:lnTo>
                  <a:lnTo>
                    <a:pt x="71869" y="195058"/>
                  </a:lnTo>
                  <a:close/>
                </a:path>
                <a:path w="72390" h="312420">
                  <a:moveTo>
                    <a:pt x="40863" y="0"/>
                  </a:moveTo>
                  <a:lnTo>
                    <a:pt x="31005" y="0"/>
                  </a:lnTo>
                  <a:lnTo>
                    <a:pt x="27062" y="4216"/>
                  </a:lnTo>
                  <a:lnTo>
                    <a:pt x="27062" y="224519"/>
                  </a:lnTo>
                  <a:lnTo>
                    <a:pt x="35665" y="233884"/>
                  </a:lnTo>
                  <a:lnTo>
                    <a:pt x="45164" y="223697"/>
                  </a:lnTo>
                  <a:lnTo>
                    <a:pt x="45164" y="4216"/>
                  </a:lnTo>
                  <a:lnTo>
                    <a:pt x="40863" y="0"/>
                  </a:lnTo>
                  <a:close/>
                </a:path>
                <a:path w="72390" h="312420">
                  <a:moveTo>
                    <a:pt x="45164" y="223697"/>
                  </a:moveTo>
                  <a:lnTo>
                    <a:pt x="35665" y="233884"/>
                  </a:lnTo>
                  <a:lnTo>
                    <a:pt x="45164" y="233884"/>
                  </a:lnTo>
                  <a:lnTo>
                    <a:pt x="45164" y="223697"/>
                  </a:lnTo>
                  <a:close/>
                </a:path>
              </a:pathLst>
            </a:custGeom>
            <a:solidFill>
              <a:srgbClr val="000000"/>
            </a:solidFill>
          </p:spPr>
          <p:txBody>
            <a:bodyPr wrap="square" lIns="0" tIns="0" rIns="0" bIns="0" rtlCol="0"/>
            <a:lstStyle/>
            <a:p/>
          </p:txBody>
        </p:sp>
        <p:pic>
          <p:nvPicPr>
            <p:cNvPr id="75" name="object 75" descr=""/>
            <p:cNvPicPr/>
            <p:nvPr/>
          </p:nvPicPr>
          <p:blipFill>
            <a:blip r:embed="rId9" cstate="print"/>
            <a:stretch>
              <a:fillRect/>
            </a:stretch>
          </p:blipFill>
          <p:spPr>
            <a:xfrm>
              <a:off x="8446363" y="5724907"/>
              <a:ext cx="74447" cy="314546"/>
            </a:xfrm>
            <a:prstGeom prst="rect">
              <a:avLst/>
            </a:prstGeom>
          </p:spPr>
        </p:pic>
        <p:sp>
          <p:nvSpPr>
            <p:cNvPr id="76" name="object 76" descr=""/>
            <p:cNvSpPr/>
            <p:nvPr/>
          </p:nvSpPr>
          <p:spPr>
            <a:xfrm>
              <a:off x="5773083" y="4879486"/>
              <a:ext cx="72390" cy="433705"/>
            </a:xfrm>
            <a:custGeom>
              <a:avLst/>
              <a:gdLst/>
              <a:ahLst/>
              <a:cxnLst/>
              <a:rect l="l" t="t" r="r" b="b"/>
              <a:pathLst>
                <a:path w="72389" h="433704">
                  <a:moveTo>
                    <a:pt x="0" y="315751"/>
                  </a:moveTo>
                  <a:lnTo>
                    <a:pt x="35665" y="433155"/>
                  </a:lnTo>
                  <a:lnTo>
                    <a:pt x="56725" y="364860"/>
                  </a:lnTo>
                  <a:lnTo>
                    <a:pt x="31005" y="364860"/>
                  </a:lnTo>
                  <a:lnTo>
                    <a:pt x="27062" y="360195"/>
                  </a:lnTo>
                  <a:lnTo>
                    <a:pt x="27062" y="345565"/>
                  </a:lnTo>
                  <a:lnTo>
                    <a:pt x="0" y="315751"/>
                  </a:lnTo>
                  <a:close/>
                </a:path>
                <a:path w="72389" h="433704">
                  <a:moveTo>
                    <a:pt x="27062" y="345565"/>
                  </a:moveTo>
                  <a:lnTo>
                    <a:pt x="27062" y="360195"/>
                  </a:lnTo>
                  <a:lnTo>
                    <a:pt x="31005" y="364860"/>
                  </a:lnTo>
                  <a:lnTo>
                    <a:pt x="40863" y="364860"/>
                  </a:lnTo>
                  <a:lnTo>
                    <a:pt x="44806" y="360195"/>
                  </a:lnTo>
                  <a:lnTo>
                    <a:pt x="44806" y="355042"/>
                  </a:lnTo>
                  <a:lnTo>
                    <a:pt x="35665" y="355042"/>
                  </a:lnTo>
                  <a:lnTo>
                    <a:pt x="27062" y="345565"/>
                  </a:lnTo>
                  <a:close/>
                </a:path>
                <a:path w="72389" h="433704">
                  <a:moveTo>
                    <a:pt x="71869" y="315751"/>
                  </a:moveTo>
                  <a:lnTo>
                    <a:pt x="44806" y="345122"/>
                  </a:lnTo>
                  <a:lnTo>
                    <a:pt x="44806" y="360195"/>
                  </a:lnTo>
                  <a:lnTo>
                    <a:pt x="40863" y="364860"/>
                  </a:lnTo>
                  <a:lnTo>
                    <a:pt x="56725" y="364860"/>
                  </a:lnTo>
                  <a:lnTo>
                    <a:pt x="71869" y="315751"/>
                  </a:lnTo>
                  <a:close/>
                </a:path>
                <a:path w="72389" h="433704">
                  <a:moveTo>
                    <a:pt x="40863" y="0"/>
                  </a:moveTo>
                  <a:lnTo>
                    <a:pt x="31005" y="0"/>
                  </a:lnTo>
                  <a:lnTo>
                    <a:pt x="27062" y="4216"/>
                  </a:lnTo>
                  <a:lnTo>
                    <a:pt x="27062" y="345565"/>
                  </a:lnTo>
                  <a:lnTo>
                    <a:pt x="35665" y="355042"/>
                  </a:lnTo>
                  <a:lnTo>
                    <a:pt x="44806" y="345122"/>
                  </a:lnTo>
                  <a:lnTo>
                    <a:pt x="44806" y="4216"/>
                  </a:lnTo>
                  <a:lnTo>
                    <a:pt x="40863" y="0"/>
                  </a:lnTo>
                  <a:close/>
                </a:path>
                <a:path w="72389" h="433704">
                  <a:moveTo>
                    <a:pt x="44806" y="345122"/>
                  </a:moveTo>
                  <a:lnTo>
                    <a:pt x="35665" y="355042"/>
                  </a:lnTo>
                  <a:lnTo>
                    <a:pt x="44806" y="355042"/>
                  </a:lnTo>
                  <a:lnTo>
                    <a:pt x="44806" y="345122"/>
                  </a:lnTo>
                  <a:close/>
                </a:path>
              </a:pathLst>
            </a:custGeom>
            <a:solidFill>
              <a:srgbClr val="000000"/>
            </a:solidFill>
          </p:spPr>
          <p:txBody>
            <a:bodyPr wrap="square" lIns="0" tIns="0" rIns="0" bIns="0" rtlCol="0"/>
            <a:lstStyle/>
            <a:p/>
          </p:txBody>
        </p:sp>
        <p:sp>
          <p:nvSpPr>
            <p:cNvPr id="77" name="object 77" descr=""/>
            <p:cNvSpPr/>
            <p:nvPr/>
          </p:nvSpPr>
          <p:spPr>
            <a:xfrm>
              <a:off x="5773083" y="4879486"/>
              <a:ext cx="72390" cy="433705"/>
            </a:xfrm>
            <a:custGeom>
              <a:avLst/>
              <a:gdLst/>
              <a:ahLst/>
              <a:cxnLst/>
              <a:rect l="l" t="t" r="r" b="b"/>
              <a:pathLst>
                <a:path w="72389" h="433704">
                  <a:moveTo>
                    <a:pt x="44806" y="9817"/>
                  </a:moveTo>
                  <a:lnTo>
                    <a:pt x="44806" y="355042"/>
                  </a:lnTo>
                  <a:lnTo>
                    <a:pt x="44806" y="360195"/>
                  </a:lnTo>
                  <a:lnTo>
                    <a:pt x="40863" y="364860"/>
                  </a:lnTo>
                  <a:lnTo>
                    <a:pt x="35665" y="364860"/>
                  </a:lnTo>
                  <a:lnTo>
                    <a:pt x="31005" y="364860"/>
                  </a:lnTo>
                  <a:lnTo>
                    <a:pt x="27062" y="360195"/>
                  </a:lnTo>
                  <a:lnTo>
                    <a:pt x="27062" y="355042"/>
                  </a:lnTo>
                  <a:lnTo>
                    <a:pt x="27062" y="9817"/>
                  </a:lnTo>
                  <a:lnTo>
                    <a:pt x="27062" y="4216"/>
                  </a:lnTo>
                  <a:lnTo>
                    <a:pt x="31005" y="0"/>
                  </a:lnTo>
                  <a:lnTo>
                    <a:pt x="35665" y="0"/>
                  </a:lnTo>
                  <a:lnTo>
                    <a:pt x="40863" y="0"/>
                  </a:lnTo>
                  <a:lnTo>
                    <a:pt x="44806" y="4216"/>
                  </a:lnTo>
                  <a:lnTo>
                    <a:pt x="44806" y="9817"/>
                  </a:lnTo>
                  <a:close/>
                </a:path>
                <a:path w="72389" h="433704">
                  <a:moveTo>
                    <a:pt x="35665" y="355042"/>
                  </a:moveTo>
                  <a:lnTo>
                    <a:pt x="71869" y="315751"/>
                  </a:lnTo>
                  <a:lnTo>
                    <a:pt x="35665" y="433155"/>
                  </a:lnTo>
                  <a:lnTo>
                    <a:pt x="0" y="315751"/>
                  </a:lnTo>
                  <a:lnTo>
                    <a:pt x="35665" y="355042"/>
                  </a:lnTo>
                  <a:close/>
                </a:path>
              </a:pathLst>
            </a:custGeom>
            <a:ln w="3175">
              <a:solidFill>
                <a:srgbClr val="000000"/>
              </a:solidFill>
            </a:ln>
          </p:spPr>
          <p:txBody>
            <a:bodyPr wrap="square" lIns="0" tIns="0" rIns="0" bIns="0" rtlCol="0"/>
            <a:lstStyle/>
            <a:p/>
          </p:txBody>
        </p:sp>
        <p:sp>
          <p:nvSpPr>
            <p:cNvPr id="78" name="object 78" descr=""/>
            <p:cNvSpPr/>
            <p:nvPr/>
          </p:nvSpPr>
          <p:spPr>
            <a:xfrm>
              <a:off x="6451269" y="4879486"/>
              <a:ext cx="71755" cy="433705"/>
            </a:xfrm>
            <a:custGeom>
              <a:avLst/>
              <a:gdLst/>
              <a:ahLst/>
              <a:cxnLst/>
              <a:rect l="l" t="t" r="r" b="b"/>
              <a:pathLst>
                <a:path w="71754" h="433704">
                  <a:moveTo>
                    <a:pt x="0" y="315751"/>
                  </a:moveTo>
                  <a:lnTo>
                    <a:pt x="35665" y="433155"/>
                  </a:lnTo>
                  <a:lnTo>
                    <a:pt x="56517" y="364860"/>
                  </a:lnTo>
                  <a:lnTo>
                    <a:pt x="31005" y="364860"/>
                  </a:lnTo>
                  <a:lnTo>
                    <a:pt x="26704" y="360195"/>
                  </a:lnTo>
                  <a:lnTo>
                    <a:pt x="26704" y="345170"/>
                  </a:lnTo>
                  <a:lnTo>
                    <a:pt x="0" y="315751"/>
                  </a:lnTo>
                  <a:close/>
                </a:path>
                <a:path w="71754" h="433704">
                  <a:moveTo>
                    <a:pt x="26704" y="345170"/>
                  </a:moveTo>
                  <a:lnTo>
                    <a:pt x="26704" y="360195"/>
                  </a:lnTo>
                  <a:lnTo>
                    <a:pt x="31005" y="364860"/>
                  </a:lnTo>
                  <a:lnTo>
                    <a:pt x="40863" y="364860"/>
                  </a:lnTo>
                  <a:lnTo>
                    <a:pt x="44806" y="360195"/>
                  </a:lnTo>
                  <a:lnTo>
                    <a:pt x="44806" y="355042"/>
                  </a:lnTo>
                  <a:lnTo>
                    <a:pt x="35665" y="355042"/>
                  </a:lnTo>
                  <a:lnTo>
                    <a:pt x="26704" y="345170"/>
                  </a:lnTo>
                  <a:close/>
                </a:path>
                <a:path w="71754" h="433704">
                  <a:moveTo>
                    <a:pt x="71510" y="315751"/>
                  </a:moveTo>
                  <a:lnTo>
                    <a:pt x="44806" y="345023"/>
                  </a:lnTo>
                  <a:lnTo>
                    <a:pt x="44806" y="360195"/>
                  </a:lnTo>
                  <a:lnTo>
                    <a:pt x="40863" y="364860"/>
                  </a:lnTo>
                  <a:lnTo>
                    <a:pt x="56517" y="364860"/>
                  </a:lnTo>
                  <a:lnTo>
                    <a:pt x="71510" y="315751"/>
                  </a:lnTo>
                  <a:close/>
                </a:path>
                <a:path w="71754" h="433704">
                  <a:moveTo>
                    <a:pt x="40863" y="0"/>
                  </a:moveTo>
                  <a:lnTo>
                    <a:pt x="31005" y="0"/>
                  </a:lnTo>
                  <a:lnTo>
                    <a:pt x="26704" y="4216"/>
                  </a:lnTo>
                  <a:lnTo>
                    <a:pt x="26704" y="345170"/>
                  </a:lnTo>
                  <a:lnTo>
                    <a:pt x="35665" y="355042"/>
                  </a:lnTo>
                  <a:lnTo>
                    <a:pt x="44806" y="345023"/>
                  </a:lnTo>
                  <a:lnTo>
                    <a:pt x="44806" y="4216"/>
                  </a:lnTo>
                  <a:lnTo>
                    <a:pt x="40863" y="0"/>
                  </a:lnTo>
                  <a:close/>
                </a:path>
                <a:path w="71754" h="433704">
                  <a:moveTo>
                    <a:pt x="44806" y="345023"/>
                  </a:moveTo>
                  <a:lnTo>
                    <a:pt x="35665" y="355042"/>
                  </a:lnTo>
                  <a:lnTo>
                    <a:pt x="44806" y="355042"/>
                  </a:lnTo>
                  <a:lnTo>
                    <a:pt x="44806" y="345023"/>
                  </a:lnTo>
                  <a:close/>
                </a:path>
              </a:pathLst>
            </a:custGeom>
            <a:solidFill>
              <a:srgbClr val="000000"/>
            </a:solidFill>
          </p:spPr>
          <p:txBody>
            <a:bodyPr wrap="square" lIns="0" tIns="0" rIns="0" bIns="0" rtlCol="0"/>
            <a:lstStyle/>
            <a:p/>
          </p:txBody>
        </p:sp>
        <p:sp>
          <p:nvSpPr>
            <p:cNvPr id="79" name="object 79" descr=""/>
            <p:cNvSpPr/>
            <p:nvPr/>
          </p:nvSpPr>
          <p:spPr>
            <a:xfrm>
              <a:off x="6451269" y="4879486"/>
              <a:ext cx="71755" cy="433705"/>
            </a:xfrm>
            <a:custGeom>
              <a:avLst/>
              <a:gdLst/>
              <a:ahLst/>
              <a:cxnLst/>
              <a:rect l="l" t="t" r="r" b="b"/>
              <a:pathLst>
                <a:path w="71754" h="433704">
                  <a:moveTo>
                    <a:pt x="44806" y="9817"/>
                  </a:moveTo>
                  <a:lnTo>
                    <a:pt x="44806" y="355042"/>
                  </a:lnTo>
                  <a:lnTo>
                    <a:pt x="44806" y="360195"/>
                  </a:lnTo>
                  <a:lnTo>
                    <a:pt x="40863" y="364860"/>
                  </a:lnTo>
                  <a:lnTo>
                    <a:pt x="35665" y="364860"/>
                  </a:lnTo>
                  <a:lnTo>
                    <a:pt x="31005" y="364860"/>
                  </a:lnTo>
                  <a:lnTo>
                    <a:pt x="26704" y="360195"/>
                  </a:lnTo>
                  <a:lnTo>
                    <a:pt x="26704" y="355042"/>
                  </a:lnTo>
                  <a:lnTo>
                    <a:pt x="26704" y="9817"/>
                  </a:lnTo>
                  <a:lnTo>
                    <a:pt x="26704" y="4216"/>
                  </a:lnTo>
                  <a:lnTo>
                    <a:pt x="31005" y="0"/>
                  </a:lnTo>
                  <a:lnTo>
                    <a:pt x="35665" y="0"/>
                  </a:lnTo>
                  <a:lnTo>
                    <a:pt x="40863" y="0"/>
                  </a:lnTo>
                  <a:lnTo>
                    <a:pt x="44806" y="4216"/>
                  </a:lnTo>
                  <a:lnTo>
                    <a:pt x="44806" y="9817"/>
                  </a:lnTo>
                  <a:close/>
                </a:path>
                <a:path w="71754" h="433704">
                  <a:moveTo>
                    <a:pt x="35665" y="355042"/>
                  </a:moveTo>
                  <a:lnTo>
                    <a:pt x="71510" y="315751"/>
                  </a:lnTo>
                  <a:lnTo>
                    <a:pt x="35665" y="433155"/>
                  </a:lnTo>
                  <a:lnTo>
                    <a:pt x="0" y="315751"/>
                  </a:lnTo>
                  <a:lnTo>
                    <a:pt x="35665" y="355042"/>
                  </a:lnTo>
                  <a:close/>
                </a:path>
              </a:pathLst>
            </a:custGeom>
            <a:ln w="3175">
              <a:solidFill>
                <a:srgbClr val="000000"/>
              </a:solidFill>
            </a:ln>
          </p:spPr>
          <p:txBody>
            <a:bodyPr wrap="square" lIns="0" tIns="0" rIns="0" bIns="0" rtlCol="0"/>
            <a:lstStyle/>
            <a:p/>
          </p:txBody>
        </p:sp>
        <p:sp>
          <p:nvSpPr>
            <p:cNvPr id="80" name="object 80" descr=""/>
            <p:cNvSpPr/>
            <p:nvPr/>
          </p:nvSpPr>
          <p:spPr>
            <a:xfrm>
              <a:off x="8824562" y="4819135"/>
              <a:ext cx="71755" cy="494030"/>
            </a:xfrm>
            <a:custGeom>
              <a:avLst/>
              <a:gdLst/>
              <a:ahLst/>
              <a:cxnLst/>
              <a:rect l="l" t="t" r="r" b="b"/>
              <a:pathLst>
                <a:path w="71754" h="494029">
                  <a:moveTo>
                    <a:pt x="0" y="376571"/>
                  </a:moveTo>
                  <a:lnTo>
                    <a:pt x="35844" y="493507"/>
                  </a:lnTo>
                  <a:lnTo>
                    <a:pt x="56675" y="425211"/>
                  </a:lnTo>
                  <a:lnTo>
                    <a:pt x="30647" y="425211"/>
                  </a:lnTo>
                  <a:lnTo>
                    <a:pt x="26704" y="421015"/>
                  </a:lnTo>
                  <a:lnTo>
                    <a:pt x="26704" y="405494"/>
                  </a:lnTo>
                  <a:lnTo>
                    <a:pt x="0" y="376571"/>
                  </a:lnTo>
                  <a:close/>
                </a:path>
                <a:path w="71754" h="494029">
                  <a:moveTo>
                    <a:pt x="26704" y="405494"/>
                  </a:moveTo>
                  <a:lnTo>
                    <a:pt x="26704" y="421015"/>
                  </a:lnTo>
                  <a:lnTo>
                    <a:pt x="30647" y="425211"/>
                  </a:lnTo>
                  <a:lnTo>
                    <a:pt x="40863" y="425211"/>
                  </a:lnTo>
                  <a:lnTo>
                    <a:pt x="44806" y="421015"/>
                  </a:lnTo>
                  <a:lnTo>
                    <a:pt x="44806" y="415393"/>
                  </a:lnTo>
                  <a:lnTo>
                    <a:pt x="35844" y="415393"/>
                  </a:lnTo>
                  <a:lnTo>
                    <a:pt x="26704" y="405494"/>
                  </a:lnTo>
                  <a:close/>
                </a:path>
                <a:path w="71754" h="494029">
                  <a:moveTo>
                    <a:pt x="71510" y="376571"/>
                  </a:moveTo>
                  <a:lnTo>
                    <a:pt x="44806" y="405639"/>
                  </a:lnTo>
                  <a:lnTo>
                    <a:pt x="44806" y="421015"/>
                  </a:lnTo>
                  <a:lnTo>
                    <a:pt x="40863" y="425211"/>
                  </a:lnTo>
                  <a:lnTo>
                    <a:pt x="56675" y="425211"/>
                  </a:lnTo>
                  <a:lnTo>
                    <a:pt x="71510" y="376571"/>
                  </a:lnTo>
                  <a:close/>
                </a:path>
                <a:path w="71754" h="494029">
                  <a:moveTo>
                    <a:pt x="40863" y="0"/>
                  </a:moveTo>
                  <a:lnTo>
                    <a:pt x="30647" y="0"/>
                  </a:lnTo>
                  <a:lnTo>
                    <a:pt x="26704" y="4216"/>
                  </a:lnTo>
                  <a:lnTo>
                    <a:pt x="26704" y="405494"/>
                  </a:lnTo>
                  <a:lnTo>
                    <a:pt x="35844" y="415393"/>
                  </a:lnTo>
                  <a:lnTo>
                    <a:pt x="44806" y="405639"/>
                  </a:lnTo>
                  <a:lnTo>
                    <a:pt x="44806" y="4216"/>
                  </a:lnTo>
                  <a:lnTo>
                    <a:pt x="40863" y="0"/>
                  </a:lnTo>
                  <a:close/>
                </a:path>
                <a:path w="71754" h="494029">
                  <a:moveTo>
                    <a:pt x="44806" y="405639"/>
                  </a:moveTo>
                  <a:lnTo>
                    <a:pt x="35844" y="415393"/>
                  </a:lnTo>
                  <a:lnTo>
                    <a:pt x="44806" y="415393"/>
                  </a:lnTo>
                  <a:lnTo>
                    <a:pt x="44806" y="405639"/>
                  </a:lnTo>
                  <a:close/>
                </a:path>
              </a:pathLst>
            </a:custGeom>
            <a:solidFill>
              <a:srgbClr val="000000"/>
            </a:solidFill>
          </p:spPr>
          <p:txBody>
            <a:bodyPr wrap="square" lIns="0" tIns="0" rIns="0" bIns="0" rtlCol="0"/>
            <a:lstStyle/>
            <a:p/>
          </p:txBody>
        </p:sp>
        <p:sp>
          <p:nvSpPr>
            <p:cNvPr id="81" name="object 81" descr=""/>
            <p:cNvSpPr/>
            <p:nvPr/>
          </p:nvSpPr>
          <p:spPr>
            <a:xfrm>
              <a:off x="8824561" y="4819135"/>
              <a:ext cx="71755" cy="494030"/>
            </a:xfrm>
            <a:custGeom>
              <a:avLst/>
              <a:gdLst/>
              <a:ahLst/>
              <a:cxnLst/>
              <a:rect l="l" t="t" r="r" b="b"/>
              <a:pathLst>
                <a:path w="71754" h="494029">
                  <a:moveTo>
                    <a:pt x="44806" y="9368"/>
                  </a:moveTo>
                  <a:lnTo>
                    <a:pt x="44806" y="415393"/>
                  </a:lnTo>
                  <a:lnTo>
                    <a:pt x="44806" y="421015"/>
                  </a:lnTo>
                  <a:lnTo>
                    <a:pt x="40863" y="425211"/>
                  </a:lnTo>
                  <a:lnTo>
                    <a:pt x="35844" y="425211"/>
                  </a:lnTo>
                  <a:lnTo>
                    <a:pt x="30647" y="425211"/>
                  </a:lnTo>
                  <a:lnTo>
                    <a:pt x="26704" y="421015"/>
                  </a:lnTo>
                  <a:lnTo>
                    <a:pt x="26704" y="415393"/>
                  </a:lnTo>
                  <a:lnTo>
                    <a:pt x="26704" y="9368"/>
                  </a:lnTo>
                  <a:lnTo>
                    <a:pt x="26704" y="4216"/>
                  </a:lnTo>
                  <a:lnTo>
                    <a:pt x="30647" y="0"/>
                  </a:lnTo>
                  <a:lnTo>
                    <a:pt x="35844" y="0"/>
                  </a:lnTo>
                  <a:lnTo>
                    <a:pt x="40863" y="0"/>
                  </a:lnTo>
                  <a:lnTo>
                    <a:pt x="44806" y="4216"/>
                  </a:lnTo>
                  <a:lnTo>
                    <a:pt x="44806" y="9368"/>
                  </a:lnTo>
                  <a:close/>
                </a:path>
                <a:path w="71754" h="494029">
                  <a:moveTo>
                    <a:pt x="35844" y="415393"/>
                  </a:moveTo>
                  <a:lnTo>
                    <a:pt x="71510" y="376571"/>
                  </a:lnTo>
                  <a:lnTo>
                    <a:pt x="35844" y="493507"/>
                  </a:lnTo>
                  <a:lnTo>
                    <a:pt x="0" y="376571"/>
                  </a:lnTo>
                  <a:lnTo>
                    <a:pt x="35844" y="415393"/>
                  </a:lnTo>
                  <a:close/>
                </a:path>
              </a:pathLst>
            </a:custGeom>
            <a:ln w="3175">
              <a:solidFill>
                <a:srgbClr val="000000"/>
              </a:solidFill>
            </a:ln>
          </p:spPr>
          <p:txBody>
            <a:bodyPr wrap="square" lIns="0" tIns="0" rIns="0" bIns="0" rtlCol="0"/>
            <a:lstStyle/>
            <a:p/>
          </p:txBody>
        </p:sp>
        <p:sp>
          <p:nvSpPr>
            <p:cNvPr id="82" name="object 82" descr=""/>
            <p:cNvSpPr/>
            <p:nvPr/>
          </p:nvSpPr>
          <p:spPr>
            <a:xfrm>
              <a:off x="5808749" y="4043194"/>
              <a:ext cx="3654425" cy="0"/>
            </a:xfrm>
            <a:custGeom>
              <a:avLst/>
              <a:gdLst/>
              <a:ahLst/>
              <a:cxnLst/>
              <a:rect l="l" t="t" r="r" b="b"/>
              <a:pathLst>
                <a:path w="3654425" h="0">
                  <a:moveTo>
                    <a:pt x="0" y="0"/>
                  </a:moveTo>
                  <a:lnTo>
                    <a:pt x="3654031" y="0"/>
                  </a:lnTo>
                </a:path>
              </a:pathLst>
            </a:custGeom>
            <a:ln w="14528">
              <a:solidFill>
                <a:srgbClr val="0000FF"/>
              </a:solidFill>
            </a:ln>
          </p:spPr>
          <p:txBody>
            <a:bodyPr wrap="square" lIns="0" tIns="0" rIns="0" bIns="0" rtlCol="0"/>
            <a:lstStyle/>
            <a:p/>
          </p:txBody>
        </p:sp>
        <p:sp>
          <p:nvSpPr>
            <p:cNvPr id="83" name="object 83" descr=""/>
            <p:cNvSpPr/>
            <p:nvPr/>
          </p:nvSpPr>
          <p:spPr>
            <a:xfrm>
              <a:off x="5773083" y="3488867"/>
              <a:ext cx="72390" cy="795655"/>
            </a:xfrm>
            <a:custGeom>
              <a:avLst/>
              <a:gdLst/>
              <a:ahLst/>
              <a:cxnLst/>
              <a:rect l="l" t="t" r="r" b="b"/>
              <a:pathLst>
                <a:path w="72389" h="795654">
                  <a:moveTo>
                    <a:pt x="0" y="678660"/>
                  </a:moveTo>
                  <a:lnTo>
                    <a:pt x="35665" y="795615"/>
                  </a:lnTo>
                  <a:lnTo>
                    <a:pt x="56806" y="727319"/>
                  </a:lnTo>
                  <a:lnTo>
                    <a:pt x="31005" y="727319"/>
                  </a:lnTo>
                  <a:lnTo>
                    <a:pt x="27062" y="723103"/>
                  </a:lnTo>
                  <a:lnTo>
                    <a:pt x="27062" y="708118"/>
                  </a:lnTo>
                  <a:lnTo>
                    <a:pt x="0" y="678660"/>
                  </a:lnTo>
                  <a:close/>
                </a:path>
                <a:path w="72389" h="795654">
                  <a:moveTo>
                    <a:pt x="27062" y="708118"/>
                  </a:moveTo>
                  <a:lnTo>
                    <a:pt x="27062" y="723103"/>
                  </a:lnTo>
                  <a:lnTo>
                    <a:pt x="31005" y="727319"/>
                  </a:lnTo>
                  <a:lnTo>
                    <a:pt x="40863" y="727319"/>
                  </a:lnTo>
                  <a:lnTo>
                    <a:pt x="44806" y="723103"/>
                  </a:lnTo>
                  <a:lnTo>
                    <a:pt x="44806" y="717482"/>
                  </a:lnTo>
                  <a:lnTo>
                    <a:pt x="35665" y="717482"/>
                  </a:lnTo>
                  <a:lnTo>
                    <a:pt x="27062" y="708118"/>
                  </a:lnTo>
                  <a:close/>
                </a:path>
                <a:path w="72389" h="795654">
                  <a:moveTo>
                    <a:pt x="71869" y="678660"/>
                  </a:moveTo>
                  <a:lnTo>
                    <a:pt x="44806" y="707680"/>
                  </a:lnTo>
                  <a:lnTo>
                    <a:pt x="44806" y="723103"/>
                  </a:lnTo>
                  <a:lnTo>
                    <a:pt x="40863" y="727319"/>
                  </a:lnTo>
                  <a:lnTo>
                    <a:pt x="56806" y="727319"/>
                  </a:lnTo>
                  <a:lnTo>
                    <a:pt x="71869" y="678660"/>
                  </a:lnTo>
                  <a:close/>
                </a:path>
                <a:path w="72389" h="795654">
                  <a:moveTo>
                    <a:pt x="40863" y="0"/>
                  </a:moveTo>
                  <a:lnTo>
                    <a:pt x="31005" y="0"/>
                  </a:lnTo>
                  <a:lnTo>
                    <a:pt x="27062" y="4098"/>
                  </a:lnTo>
                  <a:lnTo>
                    <a:pt x="27062" y="708118"/>
                  </a:lnTo>
                  <a:lnTo>
                    <a:pt x="35665" y="717482"/>
                  </a:lnTo>
                  <a:lnTo>
                    <a:pt x="44806" y="707680"/>
                  </a:lnTo>
                  <a:lnTo>
                    <a:pt x="44806" y="4098"/>
                  </a:lnTo>
                  <a:lnTo>
                    <a:pt x="40863" y="0"/>
                  </a:lnTo>
                  <a:close/>
                </a:path>
                <a:path w="72389" h="795654">
                  <a:moveTo>
                    <a:pt x="44806" y="707680"/>
                  </a:moveTo>
                  <a:lnTo>
                    <a:pt x="35665" y="717482"/>
                  </a:lnTo>
                  <a:lnTo>
                    <a:pt x="44806" y="717482"/>
                  </a:lnTo>
                  <a:lnTo>
                    <a:pt x="44806" y="707680"/>
                  </a:lnTo>
                  <a:close/>
                </a:path>
              </a:pathLst>
            </a:custGeom>
            <a:solidFill>
              <a:srgbClr val="000000"/>
            </a:solidFill>
          </p:spPr>
          <p:txBody>
            <a:bodyPr wrap="square" lIns="0" tIns="0" rIns="0" bIns="0" rtlCol="0"/>
            <a:lstStyle/>
            <a:p/>
          </p:txBody>
        </p:sp>
        <p:sp>
          <p:nvSpPr>
            <p:cNvPr id="84" name="object 84" descr=""/>
            <p:cNvSpPr/>
            <p:nvPr/>
          </p:nvSpPr>
          <p:spPr>
            <a:xfrm>
              <a:off x="5773083" y="3488867"/>
              <a:ext cx="72390" cy="795655"/>
            </a:xfrm>
            <a:custGeom>
              <a:avLst/>
              <a:gdLst/>
              <a:ahLst/>
              <a:cxnLst/>
              <a:rect l="l" t="t" r="r" b="b"/>
              <a:pathLst>
                <a:path w="72389" h="795654">
                  <a:moveTo>
                    <a:pt x="44806" y="9759"/>
                  </a:moveTo>
                  <a:lnTo>
                    <a:pt x="44806" y="717482"/>
                  </a:lnTo>
                  <a:lnTo>
                    <a:pt x="44806" y="723103"/>
                  </a:lnTo>
                  <a:lnTo>
                    <a:pt x="40863" y="727319"/>
                  </a:lnTo>
                  <a:lnTo>
                    <a:pt x="35665" y="727319"/>
                  </a:lnTo>
                  <a:lnTo>
                    <a:pt x="31005" y="727319"/>
                  </a:lnTo>
                  <a:lnTo>
                    <a:pt x="27062" y="723103"/>
                  </a:lnTo>
                  <a:lnTo>
                    <a:pt x="27062" y="717482"/>
                  </a:lnTo>
                  <a:lnTo>
                    <a:pt x="27062" y="9759"/>
                  </a:lnTo>
                  <a:lnTo>
                    <a:pt x="27062" y="4098"/>
                  </a:lnTo>
                  <a:lnTo>
                    <a:pt x="31005" y="0"/>
                  </a:lnTo>
                  <a:lnTo>
                    <a:pt x="35665" y="0"/>
                  </a:lnTo>
                  <a:lnTo>
                    <a:pt x="40863" y="0"/>
                  </a:lnTo>
                  <a:lnTo>
                    <a:pt x="44806" y="4098"/>
                  </a:lnTo>
                  <a:lnTo>
                    <a:pt x="44806" y="9759"/>
                  </a:lnTo>
                  <a:close/>
                </a:path>
                <a:path w="72389" h="795654">
                  <a:moveTo>
                    <a:pt x="35665" y="717482"/>
                  </a:moveTo>
                  <a:lnTo>
                    <a:pt x="71869" y="678660"/>
                  </a:lnTo>
                  <a:lnTo>
                    <a:pt x="35665" y="795615"/>
                  </a:lnTo>
                  <a:lnTo>
                    <a:pt x="0" y="678660"/>
                  </a:lnTo>
                  <a:lnTo>
                    <a:pt x="35665" y="717482"/>
                  </a:lnTo>
                  <a:close/>
                </a:path>
              </a:pathLst>
            </a:custGeom>
            <a:ln w="3175">
              <a:solidFill>
                <a:srgbClr val="000000"/>
              </a:solidFill>
            </a:ln>
          </p:spPr>
          <p:txBody>
            <a:bodyPr wrap="square" lIns="0" tIns="0" rIns="0" bIns="0" rtlCol="0"/>
            <a:lstStyle/>
            <a:p/>
          </p:txBody>
        </p:sp>
        <p:sp>
          <p:nvSpPr>
            <p:cNvPr id="85" name="object 85" descr=""/>
            <p:cNvSpPr/>
            <p:nvPr/>
          </p:nvSpPr>
          <p:spPr>
            <a:xfrm>
              <a:off x="6413453" y="3307345"/>
              <a:ext cx="72390" cy="977265"/>
            </a:xfrm>
            <a:custGeom>
              <a:avLst/>
              <a:gdLst/>
              <a:ahLst/>
              <a:cxnLst/>
              <a:rect l="l" t="t" r="r" b="b"/>
              <a:pathLst>
                <a:path w="72389" h="977264">
                  <a:moveTo>
                    <a:pt x="0" y="860182"/>
                  </a:moveTo>
                  <a:lnTo>
                    <a:pt x="35665" y="977137"/>
                  </a:lnTo>
                  <a:lnTo>
                    <a:pt x="56806" y="908842"/>
                  </a:lnTo>
                  <a:lnTo>
                    <a:pt x="31005" y="908842"/>
                  </a:lnTo>
                  <a:lnTo>
                    <a:pt x="27062" y="904626"/>
                  </a:lnTo>
                  <a:lnTo>
                    <a:pt x="27062" y="889640"/>
                  </a:lnTo>
                  <a:lnTo>
                    <a:pt x="0" y="860182"/>
                  </a:lnTo>
                  <a:close/>
                </a:path>
                <a:path w="72389" h="977264">
                  <a:moveTo>
                    <a:pt x="27062" y="889640"/>
                  </a:moveTo>
                  <a:lnTo>
                    <a:pt x="27062" y="904626"/>
                  </a:lnTo>
                  <a:lnTo>
                    <a:pt x="31005" y="908842"/>
                  </a:lnTo>
                  <a:lnTo>
                    <a:pt x="40863" y="908842"/>
                  </a:lnTo>
                  <a:lnTo>
                    <a:pt x="44806" y="904626"/>
                  </a:lnTo>
                  <a:lnTo>
                    <a:pt x="44806" y="899005"/>
                  </a:lnTo>
                  <a:lnTo>
                    <a:pt x="35665" y="899005"/>
                  </a:lnTo>
                  <a:lnTo>
                    <a:pt x="27062" y="889640"/>
                  </a:lnTo>
                  <a:close/>
                </a:path>
                <a:path w="72389" h="977264">
                  <a:moveTo>
                    <a:pt x="71869" y="860182"/>
                  </a:moveTo>
                  <a:lnTo>
                    <a:pt x="44806" y="889203"/>
                  </a:lnTo>
                  <a:lnTo>
                    <a:pt x="44806" y="904626"/>
                  </a:lnTo>
                  <a:lnTo>
                    <a:pt x="40863" y="908842"/>
                  </a:lnTo>
                  <a:lnTo>
                    <a:pt x="56806" y="908842"/>
                  </a:lnTo>
                  <a:lnTo>
                    <a:pt x="71869" y="860182"/>
                  </a:lnTo>
                  <a:close/>
                </a:path>
                <a:path w="72389" h="977264">
                  <a:moveTo>
                    <a:pt x="40863" y="0"/>
                  </a:moveTo>
                  <a:lnTo>
                    <a:pt x="31005" y="0"/>
                  </a:lnTo>
                  <a:lnTo>
                    <a:pt x="27062" y="4684"/>
                  </a:lnTo>
                  <a:lnTo>
                    <a:pt x="27062" y="889640"/>
                  </a:lnTo>
                  <a:lnTo>
                    <a:pt x="35665" y="899005"/>
                  </a:lnTo>
                  <a:lnTo>
                    <a:pt x="44806" y="889203"/>
                  </a:lnTo>
                  <a:lnTo>
                    <a:pt x="44806" y="4684"/>
                  </a:lnTo>
                  <a:lnTo>
                    <a:pt x="40863" y="0"/>
                  </a:lnTo>
                  <a:close/>
                </a:path>
                <a:path w="72389" h="977264">
                  <a:moveTo>
                    <a:pt x="44806" y="889203"/>
                  </a:moveTo>
                  <a:lnTo>
                    <a:pt x="35665" y="899005"/>
                  </a:lnTo>
                  <a:lnTo>
                    <a:pt x="44806" y="899005"/>
                  </a:lnTo>
                  <a:lnTo>
                    <a:pt x="44806" y="889203"/>
                  </a:lnTo>
                  <a:close/>
                </a:path>
              </a:pathLst>
            </a:custGeom>
            <a:solidFill>
              <a:srgbClr val="000000"/>
            </a:solidFill>
          </p:spPr>
          <p:txBody>
            <a:bodyPr wrap="square" lIns="0" tIns="0" rIns="0" bIns="0" rtlCol="0"/>
            <a:lstStyle/>
            <a:p/>
          </p:txBody>
        </p:sp>
        <p:sp>
          <p:nvSpPr>
            <p:cNvPr id="86" name="object 86" descr=""/>
            <p:cNvSpPr/>
            <p:nvPr/>
          </p:nvSpPr>
          <p:spPr>
            <a:xfrm>
              <a:off x="6413453" y="3307345"/>
              <a:ext cx="72390" cy="977265"/>
            </a:xfrm>
            <a:custGeom>
              <a:avLst/>
              <a:gdLst/>
              <a:ahLst/>
              <a:cxnLst/>
              <a:rect l="l" t="t" r="r" b="b"/>
              <a:pathLst>
                <a:path w="72389" h="977264">
                  <a:moveTo>
                    <a:pt x="44806" y="9759"/>
                  </a:moveTo>
                  <a:lnTo>
                    <a:pt x="44806" y="899005"/>
                  </a:lnTo>
                  <a:lnTo>
                    <a:pt x="44806" y="904626"/>
                  </a:lnTo>
                  <a:lnTo>
                    <a:pt x="40863" y="908842"/>
                  </a:lnTo>
                  <a:lnTo>
                    <a:pt x="35665" y="908842"/>
                  </a:lnTo>
                  <a:lnTo>
                    <a:pt x="31005" y="908842"/>
                  </a:lnTo>
                  <a:lnTo>
                    <a:pt x="27062" y="904626"/>
                  </a:lnTo>
                  <a:lnTo>
                    <a:pt x="27062" y="899005"/>
                  </a:lnTo>
                  <a:lnTo>
                    <a:pt x="27062" y="9759"/>
                  </a:lnTo>
                  <a:lnTo>
                    <a:pt x="27062" y="4684"/>
                  </a:lnTo>
                  <a:lnTo>
                    <a:pt x="31005" y="0"/>
                  </a:lnTo>
                  <a:lnTo>
                    <a:pt x="35665" y="0"/>
                  </a:lnTo>
                  <a:lnTo>
                    <a:pt x="40863" y="0"/>
                  </a:lnTo>
                  <a:lnTo>
                    <a:pt x="44806" y="4684"/>
                  </a:lnTo>
                  <a:lnTo>
                    <a:pt x="44806" y="9759"/>
                  </a:lnTo>
                  <a:close/>
                </a:path>
                <a:path w="72389" h="977264">
                  <a:moveTo>
                    <a:pt x="35665" y="899005"/>
                  </a:moveTo>
                  <a:lnTo>
                    <a:pt x="71869" y="860182"/>
                  </a:lnTo>
                  <a:lnTo>
                    <a:pt x="35665" y="977137"/>
                  </a:lnTo>
                  <a:lnTo>
                    <a:pt x="0" y="860182"/>
                  </a:lnTo>
                  <a:lnTo>
                    <a:pt x="35665" y="899005"/>
                  </a:lnTo>
                  <a:close/>
                </a:path>
              </a:pathLst>
            </a:custGeom>
            <a:ln w="3175">
              <a:solidFill>
                <a:srgbClr val="000000"/>
              </a:solidFill>
            </a:ln>
          </p:spPr>
          <p:txBody>
            <a:bodyPr wrap="square" lIns="0" tIns="0" rIns="0" bIns="0" rtlCol="0"/>
            <a:lstStyle/>
            <a:p/>
          </p:txBody>
        </p:sp>
        <p:sp>
          <p:nvSpPr>
            <p:cNvPr id="87" name="object 87" descr=""/>
            <p:cNvSpPr/>
            <p:nvPr/>
          </p:nvSpPr>
          <p:spPr>
            <a:xfrm>
              <a:off x="8108559" y="3488867"/>
              <a:ext cx="72390" cy="916940"/>
            </a:xfrm>
            <a:custGeom>
              <a:avLst/>
              <a:gdLst/>
              <a:ahLst/>
              <a:cxnLst/>
              <a:rect l="l" t="t" r="r" b="b"/>
              <a:pathLst>
                <a:path w="72390" h="916939">
                  <a:moveTo>
                    <a:pt x="0" y="799811"/>
                  </a:moveTo>
                  <a:lnTo>
                    <a:pt x="36024" y="916766"/>
                  </a:lnTo>
                  <a:lnTo>
                    <a:pt x="56955" y="848471"/>
                  </a:lnTo>
                  <a:lnTo>
                    <a:pt x="31005" y="848471"/>
                  </a:lnTo>
                  <a:lnTo>
                    <a:pt x="27062" y="844255"/>
                  </a:lnTo>
                  <a:lnTo>
                    <a:pt x="27062" y="828991"/>
                  </a:lnTo>
                  <a:lnTo>
                    <a:pt x="0" y="799811"/>
                  </a:lnTo>
                  <a:close/>
                </a:path>
                <a:path w="72390" h="916939">
                  <a:moveTo>
                    <a:pt x="27062" y="828991"/>
                  </a:moveTo>
                  <a:lnTo>
                    <a:pt x="27062" y="844255"/>
                  </a:lnTo>
                  <a:lnTo>
                    <a:pt x="31005" y="848471"/>
                  </a:lnTo>
                  <a:lnTo>
                    <a:pt x="40863" y="848471"/>
                  </a:lnTo>
                  <a:lnTo>
                    <a:pt x="45164" y="844255"/>
                  </a:lnTo>
                  <a:lnTo>
                    <a:pt x="45164" y="838653"/>
                  </a:lnTo>
                  <a:lnTo>
                    <a:pt x="36024" y="838653"/>
                  </a:lnTo>
                  <a:lnTo>
                    <a:pt x="27062" y="828991"/>
                  </a:lnTo>
                  <a:close/>
                </a:path>
                <a:path w="72390" h="916939">
                  <a:moveTo>
                    <a:pt x="71869" y="799811"/>
                  </a:moveTo>
                  <a:lnTo>
                    <a:pt x="45164" y="828748"/>
                  </a:lnTo>
                  <a:lnTo>
                    <a:pt x="45164" y="844255"/>
                  </a:lnTo>
                  <a:lnTo>
                    <a:pt x="40863" y="848471"/>
                  </a:lnTo>
                  <a:lnTo>
                    <a:pt x="56955" y="848471"/>
                  </a:lnTo>
                  <a:lnTo>
                    <a:pt x="71869" y="799811"/>
                  </a:lnTo>
                  <a:close/>
                </a:path>
                <a:path w="72390" h="916939">
                  <a:moveTo>
                    <a:pt x="40863" y="0"/>
                  </a:moveTo>
                  <a:lnTo>
                    <a:pt x="31005" y="0"/>
                  </a:lnTo>
                  <a:lnTo>
                    <a:pt x="27062" y="4098"/>
                  </a:lnTo>
                  <a:lnTo>
                    <a:pt x="27062" y="828991"/>
                  </a:lnTo>
                  <a:lnTo>
                    <a:pt x="36024" y="838653"/>
                  </a:lnTo>
                  <a:lnTo>
                    <a:pt x="45164" y="828748"/>
                  </a:lnTo>
                  <a:lnTo>
                    <a:pt x="45164" y="4098"/>
                  </a:lnTo>
                  <a:lnTo>
                    <a:pt x="40863" y="0"/>
                  </a:lnTo>
                  <a:close/>
                </a:path>
                <a:path w="72390" h="916939">
                  <a:moveTo>
                    <a:pt x="45164" y="828748"/>
                  </a:moveTo>
                  <a:lnTo>
                    <a:pt x="36024" y="838653"/>
                  </a:lnTo>
                  <a:lnTo>
                    <a:pt x="45164" y="838653"/>
                  </a:lnTo>
                  <a:lnTo>
                    <a:pt x="45164" y="828748"/>
                  </a:lnTo>
                  <a:close/>
                </a:path>
              </a:pathLst>
            </a:custGeom>
            <a:solidFill>
              <a:srgbClr val="000000"/>
            </a:solidFill>
          </p:spPr>
          <p:txBody>
            <a:bodyPr wrap="square" lIns="0" tIns="0" rIns="0" bIns="0" rtlCol="0"/>
            <a:lstStyle/>
            <a:p/>
          </p:txBody>
        </p:sp>
        <p:sp>
          <p:nvSpPr>
            <p:cNvPr id="88" name="object 88" descr=""/>
            <p:cNvSpPr/>
            <p:nvPr/>
          </p:nvSpPr>
          <p:spPr>
            <a:xfrm>
              <a:off x="8108559" y="3488867"/>
              <a:ext cx="72390" cy="916940"/>
            </a:xfrm>
            <a:custGeom>
              <a:avLst/>
              <a:gdLst/>
              <a:ahLst/>
              <a:cxnLst/>
              <a:rect l="l" t="t" r="r" b="b"/>
              <a:pathLst>
                <a:path w="72390" h="916939">
                  <a:moveTo>
                    <a:pt x="45164" y="9759"/>
                  </a:moveTo>
                  <a:lnTo>
                    <a:pt x="45164" y="838653"/>
                  </a:lnTo>
                  <a:lnTo>
                    <a:pt x="45164" y="844255"/>
                  </a:lnTo>
                  <a:lnTo>
                    <a:pt x="40863" y="848471"/>
                  </a:lnTo>
                  <a:lnTo>
                    <a:pt x="36024" y="848471"/>
                  </a:lnTo>
                  <a:lnTo>
                    <a:pt x="31005" y="848471"/>
                  </a:lnTo>
                  <a:lnTo>
                    <a:pt x="27062" y="844255"/>
                  </a:lnTo>
                  <a:lnTo>
                    <a:pt x="27062" y="838653"/>
                  </a:lnTo>
                  <a:lnTo>
                    <a:pt x="27062" y="9759"/>
                  </a:lnTo>
                  <a:lnTo>
                    <a:pt x="27062" y="4098"/>
                  </a:lnTo>
                  <a:lnTo>
                    <a:pt x="31005" y="0"/>
                  </a:lnTo>
                  <a:lnTo>
                    <a:pt x="36024" y="0"/>
                  </a:lnTo>
                  <a:lnTo>
                    <a:pt x="40863" y="0"/>
                  </a:lnTo>
                  <a:lnTo>
                    <a:pt x="45164" y="4098"/>
                  </a:lnTo>
                  <a:lnTo>
                    <a:pt x="45164" y="9759"/>
                  </a:lnTo>
                  <a:close/>
                </a:path>
                <a:path w="72390" h="916939">
                  <a:moveTo>
                    <a:pt x="36024" y="838653"/>
                  </a:moveTo>
                  <a:lnTo>
                    <a:pt x="71869" y="799811"/>
                  </a:lnTo>
                  <a:lnTo>
                    <a:pt x="36024" y="916766"/>
                  </a:lnTo>
                  <a:lnTo>
                    <a:pt x="0" y="799811"/>
                  </a:lnTo>
                  <a:lnTo>
                    <a:pt x="36024" y="838653"/>
                  </a:lnTo>
                  <a:close/>
                </a:path>
              </a:pathLst>
            </a:custGeom>
            <a:ln w="3175">
              <a:solidFill>
                <a:srgbClr val="000000"/>
              </a:solidFill>
            </a:ln>
          </p:spPr>
          <p:txBody>
            <a:bodyPr wrap="square" lIns="0" tIns="0" rIns="0" bIns="0" rtlCol="0"/>
            <a:lstStyle/>
            <a:p/>
          </p:txBody>
        </p:sp>
        <p:sp>
          <p:nvSpPr>
            <p:cNvPr id="89" name="object 89" descr=""/>
            <p:cNvSpPr/>
            <p:nvPr/>
          </p:nvSpPr>
          <p:spPr>
            <a:xfrm>
              <a:off x="8786745" y="3307345"/>
              <a:ext cx="72390" cy="1098550"/>
            </a:xfrm>
            <a:custGeom>
              <a:avLst/>
              <a:gdLst/>
              <a:ahLst/>
              <a:cxnLst/>
              <a:rect l="l" t="t" r="r" b="b"/>
              <a:pathLst>
                <a:path w="72390" h="1098550">
                  <a:moveTo>
                    <a:pt x="0" y="981334"/>
                  </a:moveTo>
                  <a:lnTo>
                    <a:pt x="35665" y="1098289"/>
                  </a:lnTo>
                  <a:lnTo>
                    <a:pt x="56806" y="1029994"/>
                  </a:lnTo>
                  <a:lnTo>
                    <a:pt x="31005" y="1029994"/>
                  </a:lnTo>
                  <a:lnTo>
                    <a:pt x="27062" y="1025778"/>
                  </a:lnTo>
                  <a:lnTo>
                    <a:pt x="27062" y="1010807"/>
                  </a:lnTo>
                  <a:lnTo>
                    <a:pt x="0" y="981334"/>
                  </a:lnTo>
                  <a:close/>
                </a:path>
                <a:path w="72390" h="1098550">
                  <a:moveTo>
                    <a:pt x="27062" y="1010807"/>
                  </a:moveTo>
                  <a:lnTo>
                    <a:pt x="27062" y="1025778"/>
                  </a:lnTo>
                  <a:lnTo>
                    <a:pt x="31005" y="1029994"/>
                  </a:lnTo>
                  <a:lnTo>
                    <a:pt x="40863" y="1029994"/>
                  </a:lnTo>
                  <a:lnTo>
                    <a:pt x="44806" y="1025778"/>
                  </a:lnTo>
                  <a:lnTo>
                    <a:pt x="44806" y="1020176"/>
                  </a:lnTo>
                  <a:lnTo>
                    <a:pt x="35665" y="1020176"/>
                  </a:lnTo>
                  <a:lnTo>
                    <a:pt x="27062" y="1010807"/>
                  </a:lnTo>
                  <a:close/>
                </a:path>
                <a:path w="72390" h="1098550">
                  <a:moveTo>
                    <a:pt x="71869" y="981334"/>
                  </a:moveTo>
                  <a:lnTo>
                    <a:pt x="44806" y="1010369"/>
                  </a:lnTo>
                  <a:lnTo>
                    <a:pt x="44806" y="1025778"/>
                  </a:lnTo>
                  <a:lnTo>
                    <a:pt x="40863" y="1029994"/>
                  </a:lnTo>
                  <a:lnTo>
                    <a:pt x="56806" y="1029994"/>
                  </a:lnTo>
                  <a:lnTo>
                    <a:pt x="71869" y="981334"/>
                  </a:lnTo>
                  <a:close/>
                </a:path>
                <a:path w="72390" h="1098550">
                  <a:moveTo>
                    <a:pt x="40863" y="0"/>
                  </a:moveTo>
                  <a:lnTo>
                    <a:pt x="31005" y="0"/>
                  </a:lnTo>
                  <a:lnTo>
                    <a:pt x="27062" y="4684"/>
                  </a:lnTo>
                  <a:lnTo>
                    <a:pt x="27062" y="1010807"/>
                  </a:lnTo>
                  <a:lnTo>
                    <a:pt x="35665" y="1020176"/>
                  </a:lnTo>
                  <a:lnTo>
                    <a:pt x="44806" y="1010369"/>
                  </a:lnTo>
                  <a:lnTo>
                    <a:pt x="44806" y="4684"/>
                  </a:lnTo>
                  <a:lnTo>
                    <a:pt x="40863" y="0"/>
                  </a:lnTo>
                  <a:close/>
                </a:path>
                <a:path w="72390" h="1098550">
                  <a:moveTo>
                    <a:pt x="44806" y="1010369"/>
                  </a:moveTo>
                  <a:lnTo>
                    <a:pt x="35665" y="1020176"/>
                  </a:lnTo>
                  <a:lnTo>
                    <a:pt x="44806" y="1020176"/>
                  </a:lnTo>
                  <a:lnTo>
                    <a:pt x="44806" y="1010369"/>
                  </a:lnTo>
                  <a:close/>
                </a:path>
              </a:pathLst>
            </a:custGeom>
            <a:solidFill>
              <a:srgbClr val="000000"/>
            </a:solidFill>
          </p:spPr>
          <p:txBody>
            <a:bodyPr wrap="square" lIns="0" tIns="0" rIns="0" bIns="0" rtlCol="0"/>
            <a:lstStyle/>
            <a:p/>
          </p:txBody>
        </p:sp>
        <p:sp>
          <p:nvSpPr>
            <p:cNvPr id="90" name="object 90" descr=""/>
            <p:cNvSpPr/>
            <p:nvPr/>
          </p:nvSpPr>
          <p:spPr>
            <a:xfrm>
              <a:off x="8786745" y="3307345"/>
              <a:ext cx="72390" cy="1098550"/>
            </a:xfrm>
            <a:custGeom>
              <a:avLst/>
              <a:gdLst/>
              <a:ahLst/>
              <a:cxnLst/>
              <a:rect l="l" t="t" r="r" b="b"/>
              <a:pathLst>
                <a:path w="72390" h="1098550">
                  <a:moveTo>
                    <a:pt x="44806" y="10149"/>
                  </a:moveTo>
                  <a:lnTo>
                    <a:pt x="44806" y="1020176"/>
                  </a:lnTo>
                  <a:lnTo>
                    <a:pt x="44806" y="1025778"/>
                  </a:lnTo>
                  <a:lnTo>
                    <a:pt x="40863" y="1029994"/>
                  </a:lnTo>
                  <a:lnTo>
                    <a:pt x="35665" y="1029994"/>
                  </a:lnTo>
                  <a:lnTo>
                    <a:pt x="31005" y="1029994"/>
                  </a:lnTo>
                  <a:lnTo>
                    <a:pt x="27062" y="1025778"/>
                  </a:lnTo>
                  <a:lnTo>
                    <a:pt x="27062" y="1020176"/>
                  </a:lnTo>
                  <a:lnTo>
                    <a:pt x="27062" y="10149"/>
                  </a:lnTo>
                  <a:lnTo>
                    <a:pt x="27062" y="4684"/>
                  </a:lnTo>
                  <a:lnTo>
                    <a:pt x="31005" y="0"/>
                  </a:lnTo>
                  <a:lnTo>
                    <a:pt x="35665" y="0"/>
                  </a:lnTo>
                  <a:lnTo>
                    <a:pt x="40863" y="0"/>
                  </a:lnTo>
                  <a:lnTo>
                    <a:pt x="44806" y="4684"/>
                  </a:lnTo>
                  <a:lnTo>
                    <a:pt x="44806" y="10149"/>
                  </a:lnTo>
                  <a:close/>
                </a:path>
                <a:path w="72390" h="1098550">
                  <a:moveTo>
                    <a:pt x="35665" y="1020176"/>
                  </a:moveTo>
                  <a:lnTo>
                    <a:pt x="71869" y="981334"/>
                  </a:lnTo>
                  <a:lnTo>
                    <a:pt x="35665" y="1098289"/>
                  </a:lnTo>
                  <a:lnTo>
                    <a:pt x="0" y="981334"/>
                  </a:lnTo>
                  <a:lnTo>
                    <a:pt x="35665" y="1020176"/>
                  </a:lnTo>
                  <a:close/>
                </a:path>
              </a:pathLst>
            </a:custGeom>
            <a:ln w="3175">
              <a:solidFill>
                <a:srgbClr val="000000"/>
              </a:solidFill>
            </a:ln>
          </p:spPr>
          <p:txBody>
            <a:bodyPr wrap="square" lIns="0" tIns="0" rIns="0" bIns="0" rtlCol="0"/>
            <a:lstStyle/>
            <a:p/>
          </p:txBody>
        </p:sp>
        <p:sp>
          <p:nvSpPr>
            <p:cNvPr id="91" name="object 91" descr=""/>
            <p:cNvSpPr/>
            <p:nvPr/>
          </p:nvSpPr>
          <p:spPr>
            <a:xfrm>
              <a:off x="5321258" y="3670195"/>
              <a:ext cx="71755" cy="614680"/>
            </a:xfrm>
            <a:custGeom>
              <a:avLst/>
              <a:gdLst/>
              <a:ahLst/>
              <a:cxnLst/>
              <a:rect l="l" t="t" r="r" b="b"/>
              <a:pathLst>
                <a:path w="71754" h="614679">
                  <a:moveTo>
                    <a:pt x="0" y="497332"/>
                  </a:moveTo>
                  <a:lnTo>
                    <a:pt x="35665" y="614287"/>
                  </a:lnTo>
                  <a:lnTo>
                    <a:pt x="56492" y="545992"/>
                  </a:lnTo>
                  <a:lnTo>
                    <a:pt x="31005" y="545992"/>
                  </a:lnTo>
                  <a:lnTo>
                    <a:pt x="26704" y="541776"/>
                  </a:lnTo>
                  <a:lnTo>
                    <a:pt x="26704" y="526400"/>
                  </a:lnTo>
                  <a:lnTo>
                    <a:pt x="0" y="497332"/>
                  </a:lnTo>
                  <a:close/>
                </a:path>
                <a:path w="71754" h="614679">
                  <a:moveTo>
                    <a:pt x="26704" y="526400"/>
                  </a:moveTo>
                  <a:lnTo>
                    <a:pt x="26704" y="541776"/>
                  </a:lnTo>
                  <a:lnTo>
                    <a:pt x="31005" y="545992"/>
                  </a:lnTo>
                  <a:lnTo>
                    <a:pt x="40325" y="545992"/>
                  </a:lnTo>
                  <a:lnTo>
                    <a:pt x="44806" y="541776"/>
                  </a:lnTo>
                  <a:lnTo>
                    <a:pt x="44806" y="536155"/>
                  </a:lnTo>
                  <a:lnTo>
                    <a:pt x="35665" y="536155"/>
                  </a:lnTo>
                  <a:lnTo>
                    <a:pt x="26704" y="526400"/>
                  </a:lnTo>
                  <a:close/>
                </a:path>
                <a:path w="71754" h="614679">
                  <a:moveTo>
                    <a:pt x="71331" y="497332"/>
                  </a:moveTo>
                  <a:lnTo>
                    <a:pt x="44806" y="526205"/>
                  </a:lnTo>
                  <a:lnTo>
                    <a:pt x="44806" y="541776"/>
                  </a:lnTo>
                  <a:lnTo>
                    <a:pt x="40325" y="545992"/>
                  </a:lnTo>
                  <a:lnTo>
                    <a:pt x="56492" y="545992"/>
                  </a:lnTo>
                  <a:lnTo>
                    <a:pt x="71331" y="497332"/>
                  </a:lnTo>
                  <a:close/>
                </a:path>
                <a:path w="71754" h="614679">
                  <a:moveTo>
                    <a:pt x="40325" y="0"/>
                  </a:moveTo>
                  <a:lnTo>
                    <a:pt x="31005" y="0"/>
                  </a:lnTo>
                  <a:lnTo>
                    <a:pt x="26704" y="4294"/>
                  </a:lnTo>
                  <a:lnTo>
                    <a:pt x="26704" y="526400"/>
                  </a:lnTo>
                  <a:lnTo>
                    <a:pt x="35665" y="536155"/>
                  </a:lnTo>
                  <a:lnTo>
                    <a:pt x="44806" y="526205"/>
                  </a:lnTo>
                  <a:lnTo>
                    <a:pt x="44806" y="4294"/>
                  </a:lnTo>
                  <a:lnTo>
                    <a:pt x="40325" y="0"/>
                  </a:lnTo>
                  <a:close/>
                </a:path>
                <a:path w="71754" h="614679">
                  <a:moveTo>
                    <a:pt x="44806" y="526205"/>
                  </a:moveTo>
                  <a:lnTo>
                    <a:pt x="35665" y="536155"/>
                  </a:lnTo>
                  <a:lnTo>
                    <a:pt x="44806" y="536155"/>
                  </a:lnTo>
                  <a:lnTo>
                    <a:pt x="44806" y="526205"/>
                  </a:lnTo>
                  <a:close/>
                </a:path>
              </a:pathLst>
            </a:custGeom>
            <a:solidFill>
              <a:srgbClr val="000000"/>
            </a:solidFill>
          </p:spPr>
          <p:txBody>
            <a:bodyPr wrap="square" lIns="0" tIns="0" rIns="0" bIns="0" rtlCol="0"/>
            <a:lstStyle/>
            <a:p/>
          </p:txBody>
        </p:sp>
        <p:sp>
          <p:nvSpPr>
            <p:cNvPr id="92" name="object 92" descr=""/>
            <p:cNvSpPr/>
            <p:nvPr/>
          </p:nvSpPr>
          <p:spPr>
            <a:xfrm>
              <a:off x="5321258" y="3670195"/>
              <a:ext cx="71755" cy="614680"/>
            </a:xfrm>
            <a:custGeom>
              <a:avLst/>
              <a:gdLst/>
              <a:ahLst/>
              <a:cxnLst/>
              <a:rect l="l" t="t" r="r" b="b"/>
              <a:pathLst>
                <a:path w="71754" h="614679">
                  <a:moveTo>
                    <a:pt x="44806" y="9954"/>
                  </a:moveTo>
                  <a:lnTo>
                    <a:pt x="44806" y="536155"/>
                  </a:lnTo>
                  <a:lnTo>
                    <a:pt x="44806" y="541776"/>
                  </a:lnTo>
                  <a:lnTo>
                    <a:pt x="40325" y="545992"/>
                  </a:lnTo>
                  <a:lnTo>
                    <a:pt x="35665" y="545992"/>
                  </a:lnTo>
                  <a:lnTo>
                    <a:pt x="31005" y="545992"/>
                  </a:lnTo>
                  <a:lnTo>
                    <a:pt x="26704" y="541776"/>
                  </a:lnTo>
                  <a:lnTo>
                    <a:pt x="26704" y="536155"/>
                  </a:lnTo>
                  <a:lnTo>
                    <a:pt x="26704" y="9954"/>
                  </a:lnTo>
                  <a:lnTo>
                    <a:pt x="26704" y="4294"/>
                  </a:lnTo>
                  <a:lnTo>
                    <a:pt x="31005" y="0"/>
                  </a:lnTo>
                  <a:lnTo>
                    <a:pt x="35665" y="0"/>
                  </a:lnTo>
                  <a:lnTo>
                    <a:pt x="40325" y="0"/>
                  </a:lnTo>
                  <a:lnTo>
                    <a:pt x="44806" y="4294"/>
                  </a:lnTo>
                  <a:lnTo>
                    <a:pt x="44806" y="9954"/>
                  </a:lnTo>
                  <a:close/>
                </a:path>
                <a:path w="71754" h="614679">
                  <a:moveTo>
                    <a:pt x="35665" y="536155"/>
                  </a:moveTo>
                  <a:lnTo>
                    <a:pt x="71331" y="497332"/>
                  </a:lnTo>
                  <a:lnTo>
                    <a:pt x="35665" y="614287"/>
                  </a:lnTo>
                  <a:lnTo>
                    <a:pt x="0" y="497332"/>
                  </a:lnTo>
                  <a:lnTo>
                    <a:pt x="35665" y="536155"/>
                  </a:lnTo>
                  <a:close/>
                </a:path>
              </a:pathLst>
            </a:custGeom>
            <a:ln w="3175">
              <a:solidFill>
                <a:srgbClr val="000000"/>
              </a:solidFill>
            </a:ln>
          </p:spPr>
          <p:txBody>
            <a:bodyPr wrap="square" lIns="0" tIns="0" rIns="0" bIns="0" rtlCol="0"/>
            <a:lstStyle/>
            <a:p/>
          </p:txBody>
        </p:sp>
        <p:sp>
          <p:nvSpPr>
            <p:cNvPr id="93" name="object 93" descr=""/>
            <p:cNvSpPr/>
            <p:nvPr/>
          </p:nvSpPr>
          <p:spPr>
            <a:xfrm>
              <a:off x="7656734" y="3670195"/>
              <a:ext cx="72390" cy="735965"/>
            </a:xfrm>
            <a:custGeom>
              <a:avLst/>
              <a:gdLst/>
              <a:ahLst/>
              <a:cxnLst/>
              <a:rect l="l" t="t" r="r" b="b"/>
              <a:pathLst>
                <a:path w="72390" h="735964">
                  <a:moveTo>
                    <a:pt x="0" y="618484"/>
                  </a:moveTo>
                  <a:lnTo>
                    <a:pt x="35665" y="735439"/>
                  </a:lnTo>
                  <a:lnTo>
                    <a:pt x="56806" y="667144"/>
                  </a:lnTo>
                  <a:lnTo>
                    <a:pt x="31005" y="667144"/>
                  </a:lnTo>
                  <a:lnTo>
                    <a:pt x="26525" y="662928"/>
                  </a:lnTo>
                  <a:lnTo>
                    <a:pt x="26525" y="647371"/>
                  </a:lnTo>
                  <a:lnTo>
                    <a:pt x="0" y="618484"/>
                  </a:lnTo>
                  <a:close/>
                </a:path>
                <a:path w="72390" h="735964">
                  <a:moveTo>
                    <a:pt x="26525" y="647371"/>
                  </a:moveTo>
                  <a:lnTo>
                    <a:pt x="26525" y="662928"/>
                  </a:lnTo>
                  <a:lnTo>
                    <a:pt x="31005" y="667144"/>
                  </a:lnTo>
                  <a:lnTo>
                    <a:pt x="40863" y="667144"/>
                  </a:lnTo>
                  <a:lnTo>
                    <a:pt x="44626" y="662928"/>
                  </a:lnTo>
                  <a:lnTo>
                    <a:pt x="44626" y="657326"/>
                  </a:lnTo>
                  <a:lnTo>
                    <a:pt x="35665" y="657326"/>
                  </a:lnTo>
                  <a:lnTo>
                    <a:pt x="26525" y="647371"/>
                  </a:lnTo>
                  <a:close/>
                </a:path>
                <a:path w="72390" h="735964">
                  <a:moveTo>
                    <a:pt x="71869" y="618484"/>
                  </a:moveTo>
                  <a:lnTo>
                    <a:pt x="44626" y="647711"/>
                  </a:lnTo>
                  <a:lnTo>
                    <a:pt x="44626" y="662928"/>
                  </a:lnTo>
                  <a:lnTo>
                    <a:pt x="40863" y="667144"/>
                  </a:lnTo>
                  <a:lnTo>
                    <a:pt x="56806" y="667144"/>
                  </a:lnTo>
                  <a:lnTo>
                    <a:pt x="71869" y="618484"/>
                  </a:lnTo>
                  <a:close/>
                </a:path>
                <a:path w="72390" h="735964">
                  <a:moveTo>
                    <a:pt x="40863" y="0"/>
                  </a:moveTo>
                  <a:lnTo>
                    <a:pt x="31005" y="0"/>
                  </a:lnTo>
                  <a:lnTo>
                    <a:pt x="26525" y="4294"/>
                  </a:lnTo>
                  <a:lnTo>
                    <a:pt x="26525" y="647371"/>
                  </a:lnTo>
                  <a:lnTo>
                    <a:pt x="35665" y="657326"/>
                  </a:lnTo>
                  <a:lnTo>
                    <a:pt x="44626" y="647711"/>
                  </a:lnTo>
                  <a:lnTo>
                    <a:pt x="44626" y="4294"/>
                  </a:lnTo>
                  <a:lnTo>
                    <a:pt x="40863" y="0"/>
                  </a:lnTo>
                  <a:close/>
                </a:path>
                <a:path w="72390" h="735964">
                  <a:moveTo>
                    <a:pt x="44626" y="647711"/>
                  </a:moveTo>
                  <a:lnTo>
                    <a:pt x="35665" y="657326"/>
                  </a:lnTo>
                  <a:lnTo>
                    <a:pt x="44626" y="657326"/>
                  </a:lnTo>
                  <a:lnTo>
                    <a:pt x="44626" y="647711"/>
                  </a:lnTo>
                  <a:close/>
                </a:path>
              </a:pathLst>
            </a:custGeom>
            <a:solidFill>
              <a:srgbClr val="000000"/>
            </a:solidFill>
          </p:spPr>
          <p:txBody>
            <a:bodyPr wrap="square" lIns="0" tIns="0" rIns="0" bIns="0" rtlCol="0"/>
            <a:lstStyle/>
            <a:p/>
          </p:txBody>
        </p:sp>
        <p:sp>
          <p:nvSpPr>
            <p:cNvPr id="94" name="object 94" descr=""/>
            <p:cNvSpPr/>
            <p:nvPr/>
          </p:nvSpPr>
          <p:spPr>
            <a:xfrm>
              <a:off x="7656734" y="3670195"/>
              <a:ext cx="72390" cy="735965"/>
            </a:xfrm>
            <a:custGeom>
              <a:avLst/>
              <a:gdLst/>
              <a:ahLst/>
              <a:cxnLst/>
              <a:rect l="l" t="t" r="r" b="b"/>
              <a:pathLst>
                <a:path w="72390" h="735964">
                  <a:moveTo>
                    <a:pt x="44626" y="9954"/>
                  </a:moveTo>
                  <a:lnTo>
                    <a:pt x="44626" y="657326"/>
                  </a:lnTo>
                  <a:lnTo>
                    <a:pt x="44626" y="662928"/>
                  </a:lnTo>
                  <a:lnTo>
                    <a:pt x="40863" y="667144"/>
                  </a:lnTo>
                  <a:lnTo>
                    <a:pt x="35665" y="667144"/>
                  </a:lnTo>
                  <a:lnTo>
                    <a:pt x="31005" y="667144"/>
                  </a:lnTo>
                  <a:lnTo>
                    <a:pt x="26525" y="662928"/>
                  </a:lnTo>
                  <a:lnTo>
                    <a:pt x="26525" y="657326"/>
                  </a:lnTo>
                  <a:lnTo>
                    <a:pt x="26525" y="9954"/>
                  </a:lnTo>
                  <a:lnTo>
                    <a:pt x="26525" y="4294"/>
                  </a:lnTo>
                  <a:lnTo>
                    <a:pt x="31005" y="0"/>
                  </a:lnTo>
                  <a:lnTo>
                    <a:pt x="35665" y="0"/>
                  </a:lnTo>
                  <a:lnTo>
                    <a:pt x="40863" y="0"/>
                  </a:lnTo>
                  <a:lnTo>
                    <a:pt x="44626" y="4294"/>
                  </a:lnTo>
                  <a:lnTo>
                    <a:pt x="44626" y="9954"/>
                  </a:lnTo>
                  <a:close/>
                </a:path>
                <a:path w="72390" h="735964">
                  <a:moveTo>
                    <a:pt x="35665" y="657326"/>
                  </a:moveTo>
                  <a:lnTo>
                    <a:pt x="71869" y="618484"/>
                  </a:lnTo>
                  <a:lnTo>
                    <a:pt x="35665" y="735439"/>
                  </a:lnTo>
                  <a:lnTo>
                    <a:pt x="0" y="618484"/>
                  </a:lnTo>
                  <a:lnTo>
                    <a:pt x="35665" y="657326"/>
                  </a:lnTo>
                  <a:close/>
                </a:path>
              </a:pathLst>
            </a:custGeom>
            <a:ln w="3175">
              <a:solidFill>
                <a:srgbClr val="000000"/>
              </a:solidFill>
            </a:ln>
          </p:spPr>
          <p:txBody>
            <a:bodyPr wrap="square" lIns="0" tIns="0" rIns="0" bIns="0" rtlCol="0"/>
            <a:lstStyle/>
            <a:p/>
          </p:txBody>
        </p:sp>
        <p:sp>
          <p:nvSpPr>
            <p:cNvPr id="95" name="object 95" descr=""/>
            <p:cNvSpPr/>
            <p:nvPr/>
          </p:nvSpPr>
          <p:spPr>
            <a:xfrm>
              <a:off x="5356924" y="3680149"/>
              <a:ext cx="2335530" cy="0"/>
            </a:xfrm>
            <a:custGeom>
              <a:avLst/>
              <a:gdLst/>
              <a:ahLst/>
              <a:cxnLst/>
              <a:rect l="l" t="t" r="r" b="b"/>
              <a:pathLst>
                <a:path w="2335529" h="0">
                  <a:moveTo>
                    <a:pt x="0" y="0"/>
                  </a:moveTo>
                  <a:lnTo>
                    <a:pt x="2335475" y="0"/>
                  </a:lnTo>
                </a:path>
              </a:pathLst>
            </a:custGeom>
            <a:ln w="14528">
              <a:solidFill>
                <a:srgbClr val="000000"/>
              </a:solidFill>
            </a:ln>
          </p:spPr>
          <p:txBody>
            <a:bodyPr wrap="square" lIns="0" tIns="0" rIns="0" bIns="0" rtlCol="0"/>
            <a:lstStyle/>
            <a:p/>
          </p:txBody>
        </p:sp>
        <p:sp>
          <p:nvSpPr>
            <p:cNvPr id="96" name="object 96" descr=""/>
            <p:cNvSpPr/>
            <p:nvPr/>
          </p:nvSpPr>
          <p:spPr>
            <a:xfrm>
              <a:off x="5961628" y="2521528"/>
              <a:ext cx="71755" cy="1158875"/>
            </a:xfrm>
            <a:custGeom>
              <a:avLst/>
              <a:gdLst/>
              <a:ahLst/>
              <a:cxnLst/>
              <a:rect l="l" t="t" r="r" b="b"/>
              <a:pathLst>
                <a:path w="71754" h="1158875">
                  <a:moveTo>
                    <a:pt x="0" y="1041705"/>
                  </a:moveTo>
                  <a:lnTo>
                    <a:pt x="35665" y="1158621"/>
                  </a:lnTo>
                  <a:lnTo>
                    <a:pt x="56505" y="1090306"/>
                  </a:lnTo>
                  <a:lnTo>
                    <a:pt x="31005" y="1090306"/>
                  </a:lnTo>
                  <a:lnTo>
                    <a:pt x="26704" y="1086012"/>
                  </a:lnTo>
                  <a:lnTo>
                    <a:pt x="26704" y="1070787"/>
                  </a:lnTo>
                  <a:lnTo>
                    <a:pt x="0" y="1041705"/>
                  </a:lnTo>
                  <a:close/>
                </a:path>
                <a:path w="71754" h="1158875">
                  <a:moveTo>
                    <a:pt x="26704" y="1070787"/>
                  </a:moveTo>
                  <a:lnTo>
                    <a:pt x="26704" y="1086012"/>
                  </a:lnTo>
                  <a:lnTo>
                    <a:pt x="31005" y="1090306"/>
                  </a:lnTo>
                  <a:lnTo>
                    <a:pt x="40863" y="1090306"/>
                  </a:lnTo>
                  <a:lnTo>
                    <a:pt x="44626" y="1086012"/>
                  </a:lnTo>
                  <a:lnTo>
                    <a:pt x="44626" y="1080547"/>
                  </a:lnTo>
                  <a:lnTo>
                    <a:pt x="35665" y="1080547"/>
                  </a:lnTo>
                  <a:lnTo>
                    <a:pt x="26704" y="1070787"/>
                  </a:lnTo>
                  <a:close/>
                </a:path>
                <a:path w="71754" h="1158875">
                  <a:moveTo>
                    <a:pt x="71331" y="1041705"/>
                  </a:moveTo>
                  <a:lnTo>
                    <a:pt x="44626" y="1070787"/>
                  </a:lnTo>
                  <a:lnTo>
                    <a:pt x="44626" y="1086012"/>
                  </a:lnTo>
                  <a:lnTo>
                    <a:pt x="40863" y="1090306"/>
                  </a:lnTo>
                  <a:lnTo>
                    <a:pt x="56505" y="1090306"/>
                  </a:lnTo>
                  <a:lnTo>
                    <a:pt x="71331" y="1041705"/>
                  </a:lnTo>
                  <a:close/>
                </a:path>
                <a:path w="71754" h="1158875">
                  <a:moveTo>
                    <a:pt x="40863" y="0"/>
                  </a:moveTo>
                  <a:lnTo>
                    <a:pt x="31005" y="0"/>
                  </a:lnTo>
                  <a:lnTo>
                    <a:pt x="26704" y="4098"/>
                  </a:lnTo>
                  <a:lnTo>
                    <a:pt x="26704" y="1070787"/>
                  </a:lnTo>
                  <a:lnTo>
                    <a:pt x="35665" y="1080547"/>
                  </a:lnTo>
                  <a:lnTo>
                    <a:pt x="44626" y="1070787"/>
                  </a:lnTo>
                  <a:lnTo>
                    <a:pt x="44626" y="4098"/>
                  </a:lnTo>
                  <a:lnTo>
                    <a:pt x="40863" y="0"/>
                  </a:lnTo>
                  <a:close/>
                </a:path>
                <a:path w="71754" h="1158875">
                  <a:moveTo>
                    <a:pt x="44626" y="1070787"/>
                  </a:moveTo>
                  <a:lnTo>
                    <a:pt x="35665" y="1080547"/>
                  </a:lnTo>
                  <a:lnTo>
                    <a:pt x="44626" y="1080547"/>
                  </a:lnTo>
                  <a:lnTo>
                    <a:pt x="44626" y="1070787"/>
                  </a:lnTo>
                  <a:close/>
                </a:path>
              </a:pathLst>
            </a:custGeom>
            <a:solidFill>
              <a:srgbClr val="000000"/>
            </a:solidFill>
          </p:spPr>
          <p:txBody>
            <a:bodyPr wrap="square" lIns="0" tIns="0" rIns="0" bIns="0" rtlCol="0"/>
            <a:lstStyle/>
            <a:p/>
          </p:txBody>
        </p:sp>
        <p:sp>
          <p:nvSpPr>
            <p:cNvPr id="97" name="object 97" descr=""/>
            <p:cNvSpPr/>
            <p:nvPr/>
          </p:nvSpPr>
          <p:spPr>
            <a:xfrm>
              <a:off x="5961628" y="2521528"/>
              <a:ext cx="71755" cy="1158875"/>
            </a:xfrm>
            <a:custGeom>
              <a:avLst/>
              <a:gdLst/>
              <a:ahLst/>
              <a:cxnLst/>
              <a:rect l="l" t="t" r="r" b="b"/>
              <a:pathLst>
                <a:path w="71754" h="1158875">
                  <a:moveTo>
                    <a:pt x="44626" y="9759"/>
                  </a:moveTo>
                  <a:lnTo>
                    <a:pt x="44626" y="1080547"/>
                  </a:lnTo>
                  <a:lnTo>
                    <a:pt x="44626" y="1086012"/>
                  </a:lnTo>
                  <a:lnTo>
                    <a:pt x="40863" y="1090306"/>
                  </a:lnTo>
                  <a:lnTo>
                    <a:pt x="35665" y="1090306"/>
                  </a:lnTo>
                  <a:lnTo>
                    <a:pt x="31005" y="1090306"/>
                  </a:lnTo>
                  <a:lnTo>
                    <a:pt x="26704" y="1086012"/>
                  </a:lnTo>
                  <a:lnTo>
                    <a:pt x="26704" y="1080547"/>
                  </a:lnTo>
                  <a:lnTo>
                    <a:pt x="26704" y="9759"/>
                  </a:lnTo>
                  <a:lnTo>
                    <a:pt x="26704" y="4098"/>
                  </a:lnTo>
                  <a:lnTo>
                    <a:pt x="31005" y="0"/>
                  </a:lnTo>
                  <a:lnTo>
                    <a:pt x="35665" y="0"/>
                  </a:lnTo>
                  <a:lnTo>
                    <a:pt x="40863" y="0"/>
                  </a:lnTo>
                  <a:lnTo>
                    <a:pt x="44626" y="4098"/>
                  </a:lnTo>
                  <a:lnTo>
                    <a:pt x="44626" y="9759"/>
                  </a:lnTo>
                  <a:close/>
                </a:path>
                <a:path w="71754" h="1158875">
                  <a:moveTo>
                    <a:pt x="35665" y="1080547"/>
                  </a:moveTo>
                  <a:lnTo>
                    <a:pt x="71331" y="1041705"/>
                  </a:lnTo>
                  <a:lnTo>
                    <a:pt x="35665" y="1158621"/>
                  </a:lnTo>
                  <a:lnTo>
                    <a:pt x="0" y="1041705"/>
                  </a:lnTo>
                  <a:lnTo>
                    <a:pt x="35665" y="1080547"/>
                  </a:lnTo>
                  <a:close/>
                </a:path>
              </a:pathLst>
            </a:custGeom>
            <a:ln w="3175">
              <a:solidFill>
                <a:srgbClr val="000000"/>
              </a:solidFill>
            </a:ln>
          </p:spPr>
          <p:txBody>
            <a:bodyPr wrap="square" lIns="0" tIns="0" rIns="0" bIns="0" rtlCol="0"/>
            <a:lstStyle/>
            <a:p/>
          </p:txBody>
        </p:sp>
        <p:sp>
          <p:nvSpPr>
            <p:cNvPr id="98" name="object 98" descr=""/>
            <p:cNvSpPr/>
            <p:nvPr/>
          </p:nvSpPr>
          <p:spPr>
            <a:xfrm>
              <a:off x="5808749" y="2712810"/>
              <a:ext cx="3013710" cy="786130"/>
            </a:xfrm>
            <a:custGeom>
              <a:avLst/>
              <a:gdLst/>
              <a:ahLst/>
              <a:cxnLst/>
              <a:rect l="l" t="t" r="r" b="b"/>
              <a:pathLst>
                <a:path w="3013709" h="786129">
                  <a:moveTo>
                    <a:pt x="0" y="785816"/>
                  </a:moveTo>
                  <a:lnTo>
                    <a:pt x="2335834" y="785816"/>
                  </a:lnTo>
                </a:path>
                <a:path w="3013709" h="786129">
                  <a:moveTo>
                    <a:pt x="1657648" y="0"/>
                  </a:moveTo>
                  <a:lnTo>
                    <a:pt x="1657648" y="785816"/>
                  </a:lnTo>
                </a:path>
                <a:path w="3013709" h="786129">
                  <a:moveTo>
                    <a:pt x="640369" y="604684"/>
                  </a:moveTo>
                  <a:lnTo>
                    <a:pt x="3013661" y="604684"/>
                  </a:lnTo>
                </a:path>
                <a:path w="3013709" h="786129">
                  <a:moveTo>
                    <a:pt x="2034199" y="0"/>
                  </a:moveTo>
                  <a:lnTo>
                    <a:pt x="2034199" y="604684"/>
                  </a:lnTo>
                </a:path>
              </a:pathLst>
            </a:custGeom>
            <a:ln w="13934">
              <a:solidFill>
                <a:srgbClr val="000000"/>
              </a:solidFill>
            </a:ln>
          </p:spPr>
          <p:txBody>
            <a:bodyPr wrap="square" lIns="0" tIns="0" rIns="0" bIns="0" rtlCol="0"/>
            <a:lstStyle/>
            <a:p/>
          </p:txBody>
        </p:sp>
        <p:sp>
          <p:nvSpPr>
            <p:cNvPr id="99" name="object 99" descr=""/>
            <p:cNvSpPr/>
            <p:nvPr/>
          </p:nvSpPr>
          <p:spPr>
            <a:xfrm>
              <a:off x="5778639" y="4005719"/>
              <a:ext cx="41275" cy="59690"/>
            </a:xfrm>
            <a:custGeom>
              <a:avLst/>
              <a:gdLst/>
              <a:ahLst/>
              <a:cxnLst/>
              <a:rect l="l" t="t" r="r" b="b"/>
              <a:pathLst>
                <a:path w="41275" h="59689">
                  <a:moveTo>
                    <a:pt x="20610" y="0"/>
                  </a:moveTo>
                  <a:lnTo>
                    <a:pt x="12551" y="2360"/>
                  </a:lnTo>
                  <a:lnTo>
                    <a:pt x="6004" y="8783"/>
                  </a:lnTo>
                  <a:lnTo>
                    <a:pt x="1607" y="18280"/>
                  </a:lnTo>
                  <a:lnTo>
                    <a:pt x="0" y="29863"/>
                  </a:lnTo>
                  <a:lnTo>
                    <a:pt x="1607" y="41385"/>
                  </a:lnTo>
                  <a:lnTo>
                    <a:pt x="6004" y="50748"/>
                  </a:lnTo>
                  <a:lnTo>
                    <a:pt x="12551" y="57036"/>
                  </a:lnTo>
                  <a:lnTo>
                    <a:pt x="20610" y="59336"/>
                  </a:lnTo>
                  <a:lnTo>
                    <a:pt x="28538" y="57036"/>
                  </a:lnTo>
                  <a:lnTo>
                    <a:pt x="34971" y="50748"/>
                  </a:lnTo>
                  <a:lnTo>
                    <a:pt x="39286" y="41385"/>
                  </a:lnTo>
                  <a:lnTo>
                    <a:pt x="40863" y="29863"/>
                  </a:lnTo>
                  <a:lnTo>
                    <a:pt x="39286" y="18280"/>
                  </a:lnTo>
                  <a:lnTo>
                    <a:pt x="34971" y="8783"/>
                  </a:lnTo>
                  <a:lnTo>
                    <a:pt x="28538" y="2360"/>
                  </a:lnTo>
                  <a:lnTo>
                    <a:pt x="20610" y="0"/>
                  </a:lnTo>
                  <a:close/>
                </a:path>
              </a:pathLst>
            </a:custGeom>
            <a:solidFill>
              <a:srgbClr val="000000"/>
            </a:solidFill>
          </p:spPr>
          <p:txBody>
            <a:bodyPr wrap="square" lIns="0" tIns="0" rIns="0" bIns="0" rtlCol="0"/>
            <a:lstStyle/>
            <a:p/>
          </p:txBody>
        </p:sp>
        <p:sp>
          <p:nvSpPr>
            <p:cNvPr id="100" name="object 100" descr=""/>
            <p:cNvSpPr/>
            <p:nvPr/>
          </p:nvSpPr>
          <p:spPr>
            <a:xfrm>
              <a:off x="5778639" y="4005719"/>
              <a:ext cx="41275" cy="59690"/>
            </a:xfrm>
            <a:custGeom>
              <a:avLst/>
              <a:gdLst/>
              <a:ahLst/>
              <a:cxnLst/>
              <a:rect l="l" t="t" r="r" b="b"/>
              <a:pathLst>
                <a:path w="41275" h="59689">
                  <a:moveTo>
                    <a:pt x="20610" y="0"/>
                  </a:moveTo>
                  <a:lnTo>
                    <a:pt x="12551" y="2360"/>
                  </a:lnTo>
                  <a:lnTo>
                    <a:pt x="6004" y="8783"/>
                  </a:lnTo>
                  <a:lnTo>
                    <a:pt x="1607" y="18280"/>
                  </a:lnTo>
                  <a:lnTo>
                    <a:pt x="0" y="29863"/>
                  </a:lnTo>
                  <a:lnTo>
                    <a:pt x="1607" y="41385"/>
                  </a:lnTo>
                  <a:lnTo>
                    <a:pt x="6004" y="50748"/>
                  </a:lnTo>
                  <a:lnTo>
                    <a:pt x="12551" y="57036"/>
                  </a:lnTo>
                  <a:lnTo>
                    <a:pt x="20610" y="59336"/>
                  </a:lnTo>
                  <a:lnTo>
                    <a:pt x="28538" y="57036"/>
                  </a:lnTo>
                  <a:lnTo>
                    <a:pt x="34971" y="50748"/>
                  </a:lnTo>
                  <a:lnTo>
                    <a:pt x="39286" y="41385"/>
                  </a:lnTo>
                  <a:lnTo>
                    <a:pt x="40863" y="29863"/>
                  </a:lnTo>
                  <a:lnTo>
                    <a:pt x="39286" y="18280"/>
                  </a:lnTo>
                  <a:lnTo>
                    <a:pt x="34971" y="8783"/>
                  </a:lnTo>
                  <a:lnTo>
                    <a:pt x="28538" y="2360"/>
                  </a:lnTo>
                  <a:lnTo>
                    <a:pt x="20610" y="0"/>
                  </a:lnTo>
                </a:path>
              </a:pathLst>
            </a:custGeom>
            <a:ln w="13722">
              <a:solidFill>
                <a:srgbClr val="000000"/>
              </a:solidFill>
            </a:ln>
          </p:spPr>
          <p:txBody>
            <a:bodyPr wrap="square" lIns="0" tIns="0" rIns="0" bIns="0" rtlCol="0"/>
            <a:lstStyle/>
            <a:p/>
          </p:txBody>
        </p:sp>
        <p:sp>
          <p:nvSpPr>
            <p:cNvPr id="101" name="object 101" descr=""/>
            <p:cNvSpPr/>
            <p:nvPr/>
          </p:nvSpPr>
          <p:spPr>
            <a:xfrm>
              <a:off x="5321258" y="3670195"/>
              <a:ext cx="71755" cy="614680"/>
            </a:xfrm>
            <a:custGeom>
              <a:avLst/>
              <a:gdLst/>
              <a:ahLst/>
              <a:cxnLst/>
              <a:rect l="l" t="t" r="r" b="b"/>
              <a:pathLst>
                <a:path w="71754" h="614679">
                  <a:moveTo>
                    <a:pt x="0" y="497332"/>
                  </a:moveTo>
                  <a:lnTo>
                    <a:pt x="35665" y="614287"/>
                  </a:lnTo>
                  <a:lnTo>
                    <a:pt x="56492" y="545992"/>
                  </a:lnTo>
                  <a:lnTo>
                    <a:pt x="31005" y="545992"/>
                  </a:lnTo>
                  <a:lnTo>
                    <a:pt x="26704" y="541776"/>
                  </a:lnTo>
                  <a:lnTo>
                    <a:pt x="26704" y="526400"/>
                  </a:lnTo>
                  <a:lnTo>
                    <a:pt x="0" y="497332"/>
                  </a:lnTo>
                  <a:close/>
                </a:path>
                <a:path w="71754" h="614679">
                  <a:moveTo>
                    <a:pt x="26704" y="526400"/>
                  </a:moveTo>
                  <a:lnTo>
                    <a:pt x="26704" y="541776"/>
                  </a:lnTo>
                  <a:lnTo>
                    <a:pt x="31005" y="545992"/>
                  </a:lnTo>
                  <a:lnTo>
                    <a:pt x="40325" y="545992"/>
                  </a:lnTo>
                  <a:lnTo>
                    <a:pt x="44806" y="541776"/>
                  </a:lnTo>
                  <a:lnTo>
                    <a:pt x="44806" y="536155"/>
                  </a:lnTo>
                  <a:lnTo>
                    <a:pt x="35665" y="536155"/>
                  </a:lnTo>
                  <a:lnTo>
                    <a:pt x="26704" y="526400"/>
                  </a:lnTo>
                  <a:close/>
                </a:path>
                <a:path w="71754" h="614679">
                  <a:moveTo>
                    <a:pt x="71331" y="497332"/>
                  </a:moveTo>
                  <a:lnTo>
                    <a:pt x="44806" y="526205"/>
                  </a:lnTo>
                  <a:lnTo>
                    <a:pt x="44806" y="541776"/>
                  </a:lnTo>
                  <a:lnTo>
                    <a:pt x="40325" y="545992"/>
                  </a:lnTo>
                  <a:lnTo>
                    <a:pt x="56492" y="545992"/>
                  </a:lnTo>
                  <a:lnTo>
                    <a:pt x="71331" y="497332"/>
                  </a:lnTo>
                  <a:close/>
                </a:path>
                <a:path w="71754" h="614679">
                  <a:moveTo>
                    <a:pt x="40325" y="0"/>
                  </a:moveTo>
                  <a:lnTo>
                    <a:pt x="31005" y="0"/>
                  </a:lnTo>
                  <a:lnTo>
                    <a:pt x="26704" y="4294"/>
                  </a:lnTo>
                  <a:lnTo>
                    <a:pt x="26704" y="526400"/>
                  </a:lnTo>
                  <a:lnTo>
                    <a:pt x="35665" y="536155"/>
                  </a:lnTo>
                  <a:lnTo>
                    <a:pt x="44806" y="526205"/>
                  </a:lnTo>
                  <a:lnTo>
                    <a:pt x="44806" y="4294"/>
                  </a:lnTo>
                  <a:lnTo>
                    <a:pt x="40325" y="0"/>
                  </a:lnTo>
                  <a:close/>
                </a:path>
                <a:path w="71754" h="614679">
                  <a:moveTo>
                    <a:pt x="44806" y="526205"/>
                  </a:moveTo>
                  <a:lnTo>
                    <a:pt x="35665" y="536155"/>
                  </a:lnTo>
                  <a:lnTo>
                    <a:pt x="44806" y="536155"/>
                  </a:lnTo>
                  <a:lnTo>
                    <a:pt x="44806" y="526205"/>
                  </a:lnTo>
                  <a:close/>
                </a:path>
              </a:pathLst>
            </a:custGeom>
            <a:solidFill>
              <a:srgbClr val="000000"/>
            </a:solidFill>
          </p:spPr>
          <p:txBody>
            <a:bodyPr wrap="square" lIns="0" tIns="0" rIns="0" bIns="0" rtlCol="0"/>
            <a:lstStyle/>
            <a:p/>
          </p:txBody>
        </p:sp>
        <p:sp>
          <p:nvSpPr>
            <p:cNvPr id="102" name="object 102" descr=""/>
            <p:cNvSpPr/>
            <p:nvPr/>
          </p:nvSpPr>
          <p:spPr>
            <a:xfrm>
              <a:off x="5321258" y="3670195"/>
              <a:ext cx="71755" cy="614680"/>
            </a:xfrm>
            <a:custGeom>
              <a:avLst/>
              <a:gdLst/>
              <a:ahLst/>
              <a:cxnLst/>
              <a:rect l="l" t="t" r="r" b="b"/>
              <a:pathLst>
                <a:path w="71754" h="614679">
                  <a:moveTo>
                    <a:pt x="44806" y="9954"/>
                  </a:moveTo>
                  <a:lnTo>
                    <a:pt x="44806" y="536155"/>
                  </a:lnTo>
                  <a:lnTo>
                    <a:pt x="44806" y="541776"/>
                  </a:lnTo>
                  <a:lnTo>
                    <a:pt x="40325" y="545992"/>
                  </a:lnTo>
                  <a:lnTo>
                    <a:pt x="35665" y="545992"/>
                  </a:lnTo>
                  <a:lnTo>
                    <a:pt x="31005" y="545992"/>
                  </a:lnTo>
                  <a:lnTo>
                    <a:pt x="26704" y="541776"/>
                  </a:lnTo>
                  <a:lnTo>
                    <a:pt x="26704" y="536155"/>
                  </a:lnTo>
                  <a:lnTo>
                    <a:pt x="26704" y="9954"/>
                  </a:lnTo>
                  <a:lnTo>
                    <a:pt x="26704" y="4294"/>
                  </a:lnTo>
                  <a:lnTo>
                    <a:pt x="31005" y="0"/>
                  </a:lnTo>
                  <a:lnTo>
                    <a:pt x="35665" y="0"/>
                  </a:lnTo>
                  <a:lnTo>
                    <a:pt x="40325" y="0"/>
                  </a:lnTo>
                  <a:lnTo>
                    <a:pt x="44806" y="4294"/>
                  </a:lnTo>
                  <a:lnTo>
                    <a:pt x="44806" y="9954"/>
                  </a:lnTo>
                  <a:close/>
                </a:path>
                <a:path w="71754" h="614679">
                  <a:moveTo>
                    <a:pt x="35665" y="536155"/>
                  </a:moveTo>
                  <a:lnTo>
                    <a:pt x="71331" y="497332"/>
                  </a:lnTo>
                  <a:lnTo>
                    <a:pt x="35665" y="614287"/>
                  </a:lnTo>
                  <a:lnTo>
                    <a:pt x="0" y="497332"/>
                  </a:lnTo>
                  <a:lnTo>
                    <a:pt x="35665" y="536155"/>
                  </a:lnTo>
                  <a:close/>
                </a:path>
              </a:pathLst>
            </a:custGeom>
            <a:ln w="3175">
              <a:solidFill>
                <a:srgbClr val="000000"/>
              </a:solidFill>
            </a:ln>
          </p:spPr>
          <p:txBody>
            <a:bodyPr wrap="square" lIns="0" tIns="0" rIns="0" bIns="0" rtlCol="0"/>
            <a:lstStyle/>
            <a:p/>
          </p:txBody>
        </p:sp>
        <p:sp>
          <p:nvSpPr>
            <p:cNvPr id="103" name="object 103" descr=""/>
            <p:cNvSpPr/>
            <p:nvPr/>
          </p:nvSpPr>
          <p:spPr>
            <a:xfrm>
              <a:off x="6427612" y="3997716"/>
              <a:ext cx="41910" cy="60325"/>
            </a:xfrm>
            <a:custGeom>
              <a:avLst/>
              <a:gdLst/>
              <a:ahLst/>
              <a:cxnLst/>
              <a:rect l="l" t="t" r="r" b="b"/>
              <a:pathLst>
                <a:path w="41910" h="60325">
                  <a:moveTo>
                    <a:pt x="21148" y="0"/>
                  </a:moveTo>
                  <a:lnTo>
                    <a:pt x="12929" y="2387"/>
                  </a:lnTo>
                  <a:lnTo>
                    <a:pt x="6205" y="8856"/>
                  </a:lnTo>
                  <a:lnTo>
                    <a:pt x="1666" y="18362"/>
                  </a:lnTo>
                  <a:lnTo>
                    <a:pt x="0" y="29863"/>
                  </a:lnTo>
                  <a:lnTo>
                    <a:pt x="1666" y="41476"/>
                  </a:lnTo>
                  <a:lnTo>
                    <a:pt x="6205" y="51041"/>
                  </a:lnTo>
                  <a:lnTo>
                    <a:pt x="12929" y="57530"/>
                  </a:lnTo>
                  <a:lnTo>
                    <a:pt x="21148" y="59921"/>
                  </a:lnTo>
                  <a:lnTo>
                    <a:pt x="29000" y="57530"/>
                  </a:lnTo>
                  <a:lnTo>
                    <a:pt x="35441" y="51041"/>
                  </a:lnTo>
                  <a:lnTo>
                    <a:pt x="39799" y="41476"/>
                  </a:lnTo>
                  <a:lnTo>
                    <a:pt x="41400" y="29863"/>
                  </a:lnTo>
                  <a:lnTo>
                    <a:pt x="39799" y="18362"/>
                  </a:lnTo>
                  <a:lnTo>
                    <a:pt x="35441" y="8856"/>
                  </a:lnTo>
                  <a:lnTo>
                    <a:pt x="29000" y="2387"/>
                  </a:lnTo>
                  <a:lnTo>
                    <a:pt x="21148" y="0"/>
                  </a:lnTo>
                  <a:close/>
                </a:path>
              </a:pathLst>
            </a:custGeom>
            <a:solidFill>
              <a:srgbClr val="000000"/>
            </a:solidFill>
          </p:spPr>
          <p:txBody>
            <a:bodyPr wrap="square" lIns="0" tIns="0" rIns="0" bIns="0" rtlCol="0"/>
            <a:lstStyle/>
            <a:p/>
          </p:txBody>
        </p:sp>
        <p:sp>
          <p:nvSpPr>
            <p:cNvPr id="104" name="object 104" descr=""/>
            <p:cNvSpPr/>
            <p:nvPr/>
          </p:nvSpPr>
          <p:spPr>
            <a:xfrm>
              <a:off x="6427612" y="3997716"/>
              <a:ext cx="41910" cy="60325"/>
            </a:xfrm>
            <a:custGeom>
              <a:avLst/>
              <a:gdLst/>
              <a:ahLst/>
              <a:cxnLst/>
              <a:rect l="l" t="t" r="r" b="b"/>
              <a:pathLst>
                <a:path w="41910" h="60325">
                  <a:moveTo>
                    <a:pt x="21148" y="0"/>
                  </a:moveTo>
                  <a:lnTo>
                    <a:pt x="12929" y="2387"/>
                  </a:lnTo>
                  <a:lnTo>
                    <a:pt x="6205" y="8856"/>
                  </a:lnTo>
                  <a:lnTo>
                    <a:pt x="1666" y="18362"/>
                  </a:lnTo>
                  <a:lnTo>
                    <a:pt x="0" y="29863"/>
                  </a:lnTo>
                  <a:lnTo>
                    <a:pt x="1666" y="41476"/>
                  </a:lnTo>
                  <a:lnTo>
                    <a:pt x="6205" y="51041"/>
                  </a:lnTo>
                  <a:lnTo>
                    <a:pt x="12929" y="57530"/>
                  </a:lnTo>
                  <a:lnTo>
                    <a:pt x="21148" y="59921"/>
                  </a:lnTo>
                  <a:lnTo>
                    <a:pt x="29000" y="57530"/>
                  </a:lnTo>
                  <a:lnTo>
                    <a:pt x="35441" y="51041"/>
                  </a:lnTo>
                  <a:lnTo>
                    <a:pt x="39799" y="41476"/>
                  </a:lnTo>
                  <a:lnTo>
                    <a:pt x="41400" y="29863"/>
                  </a:lnTo>
                  <a:lnTo>
                    <a:pt x="39799" y="18362"/>
                  </a:lnTo>
                  <a:lnTo>
                    <a:pt x="35441" y="8856"/>
                  </a:lnTo>
                  <a:lnTo>
                    <a:pt x="29000" y="2387"/>
                  </a:lnTo>
                  <a:lnTo>
                    <a:pt x="21148" y="0"/>
                  </a:lnTo>
                </a:path>
              </a:pathLst>
            </a:custGeom>
            <a:ln w="13724">
              <a:solidFill>
                <a:srgbClr val="000000"/>
              </a:solidFill>
            </a:ln>
          </p:spPr>
          <p:txBody>
            <a:bodyPr wrap="square" lIns="0" tIns="0" rIns="0" bIns="0" rtlCol="0"/>
            <a:lstStyle/>
            <a:p/>
          </p:txBody>
        </p:sp>
        <p:sp>
          <p:nvSpPr>
            <p:cNvPr id="105" name="object 105" descr=""/>
            <p:cNvSpPr/>
            <p:nvPr/>
          </p:nvSpPr>
          <p:spPr>
            <a:xfrm>
              <a:off x="8122718" y="4005719"/>
              <a:ext cx="41910" cy="59690"/>
            </a:xfrm>
            <a:custGeom>
              <a:avLst/>
              <a:gdLst/>
              <a:ahLst/>
              <a:cxnLst/>
              <a:rect l="l" t="t" r="r" b="b"/>
              <a:pathLst>
                <a:path w="41909" h="59689">
                  <a:moveTo>
                    <a:pt x="21148" y="0"/>
                  </a:moveTo>
                  <a:lnTo>
                    <a:pt x="12929" y="2360"/>
                  </a:lnTo>
                  <a:lnTo>
                    <a:pt x="6205" y="8783"/>
                  </a:lnTo>
                  <a:lnTo>
                    <a:pt x="1666" y="18280"/>
                  </a:lnTo>
                  <a:lnTo>
                    <a:pt x="0" y="29863"/>
                  </a:lnTo>
                  <a:lnTo>
                    <a:pt x="1666" y="41385"/>
                  </a:lnTo>
                  <a:lnTo>
                    <a:pt x="6205" y="50748"/>
                  </a:lnTo>
                  <a:lnTo>
                    <a:pt x="12929" y="57036"/>
                  </a:lnTo>
                  <a:lnTo>
                    <a:pt x="21148" y="59336"/>
                  </a:lnTo>
                  <a:lnTo>
                    <a:pt x="29056" y="57036"/>
                  </a:lnTo>
                  <a:lnTo>
                    <a:pt x="35620" y="50748"/>
                  </a:lnTo>
                  <a:lnTo>
                    <a:pt x="40101" y="41385"/>
                  </a:lnTo>
                  <a:lnTo>
                    <a:pt x="41759" y="29863"/>
                  </a:lnTo>
                  <a:lnTo>
                    <a:pt x="40101" y="18280"/>
                  </a:lnTo>
                  <a:lnTo>
                    <a:pt x="35620" y="8783"/>
                  </a:lnTo>
                  <a:lnTo>
                    <a:pt x="29056" y="2360"/>
                  </a:lnTo>
                  <a:lnTo>
                    <a:pt x="21148" y="0"/>
                  </a:lnTo>
                  <a:close/>
                </a:path>
              </a:pathLst>
            </a:custGeom>
            <a:solidFill>
              <a:srgbClr val="000000"/>
            </a:solidFill>
          </p:spPr>
          <p:txBody>
            <a:bodyPr wrap="square" lIns="0" tIns="0" rIns="0" bIns="0" rtlCol="0"/>
            <a:lstStyle/>
            <a:p/>
          </p:txBody>
        </p:sp>
        <p:sp>
          <p:nvSpPr>
            <p:cNvPr id="106" name="object 106" descr=""/>
            <p:cNvSpPr/>
            <p:nvPr/>
          </p:nvSpPr>
          <p:spPr>
            <a:xfrm>
              <a:off x="8122718" y="4005719"/>
              <a:ext cx="41910" cy="59690"/>
            </a:xfrm>
            <a:custGeom>
              <a:avLst/>
              <a:gdLst/>
              <a:ahLst/>
              <a:cxnLst/>
              <a:rect l="l" t="t" r="r" b="b"/>
              <a:pathLst>
                <a:path w="41909" h="59689">
                  <a:moveTo>
                    <a:pt x="21148" y="0"/>
                  </a:moveTo>
                  <a:lnTo>
                    <a:pt x="12929" y="2360"/>
                  </a:lnTo>
                  <a:lnTo>
                    <a:pt x="6205" y="8783"/>
                  </a:lnTo>
                  <a:lnTo>
                    <a:pt x="1666" y="18280"/>
                  </a:lnTo>
                  <a:lnTo>
                    <a:pt x="0" y="29863"/>
                  </a:lnTo>
                  <a:lnTo>
                    <a:pt x="1666" y="41385"/>
                  </a:lnTo>
                  <a:lnTo>
                    <a:pt x="6205" y="50748"/>
                  </a:lnTo>
                  <a:lnTo>
                    <a:pt x="12929" y="57036"/>
                  </a:lnTo>
                  <a:lnTo>
                    <a:pt x="21148" y="59336"/>
                  </a:lnTo>
                  <a:lnTo>
                    <a:pt x="29056" y="57036"/>
                  </a:lnTo>
                  <a:lnTo>
                    <a:pt x="35620" y="50748"/>
                  </a:lnTo>
                  <a:lnTo>
                    <a:pt x="40101" y="41385"/>
                  </a:lnTo>
                  <a:lnTo>
                    <a:pt x="41759" y="29863"/>
                  </a:lnTo>
                  <a:lnTo>
                    <a:pt x="40101" y="18280"/>
                  </a:lnTo>
                  <a:lnTo>
                    <a:pt x="35620" y="8783"/>
                  </a:lnTo>
                  <a:lnTo>
                    <a:pt x="29056" y="2360"/>
                  </a:lnTo>
                  <a:lnTo>
                    <a:pt x="21148" y="0"/>
                  </a:lnTo>
                </a:path>
              </a:pathLst>
            </a:custGeom>
            <a:ln w="13733">
              <a:solidFill>
                <a:srgbClr val="000000"/>
              </a:solidFill>
            </a:ln>
          </p:spPr>
          <p:txBody>
            <a:bodyPr wrap="square" lIns="0" tIns="0" rIns="0" bIns="0" rtlCol="0"/>
            <a:lstStyle/>
            <a:p/>
          </p:txBody>
        </p:sp>
        <p:sp>
          <p:nvSpPr>
            <p:cNvPr id="107" name="object 107" descr=""/>
            <p:cNvSpPr/>
            <p:nvPr/>
          </p:nvSpPr>
          <p:spPr>
            <a:xfrm>
              <a:off x="8800904" y="4013721"/>
              <a:ext cx="41910" cy="59690"/>
            </a:xfrm>
            <a:custGeom>
              <a:avLst/>
              <a:gdLst/>
              <a:ahLst/>
              <a:cxnLst/>
              <a:rect l="l" t="t" r="r" b="b"/>
              <a:pathLst>
                <a:path w="41909" h="59689">
                  <a:moveTo>
                    <a:pt x="20610" y="0"/>
                  </a:moveTo>
                  <a:lnTo>
                    <a:pt x="12702" y="2299"/>
                  </a:lnTo>
                  <a:lnTo>
                    <a:pt x="6138" y="8588"/>
                  </a:lnTo>
                  <a:lnTo>
                    <a:pt x="1657" y="17950"/>
                  </a:lnTo>
                  <a:lnTo>
                    <a:pt x="0" y="29473"/>
                  </a:lnTo>
                  <a:lnTo>
                    <a:pt x="1657" y="41220"/>
                  </a:lnTo>
                  <a:lnTo>
                    <a:pt x="6138" y="50699"/>
                  </a:lnTo>
                  <a:lnTo>
                    <a:pt x="12702" y="57030"/>
                  </a:lnTo>
                  <a:lnTo>
                    <a:pt x="20610" y="59336"/>
                  </a:lnTo>
                  <a:lnTo>
                    <a:pt x="28773" y="57030"/>
                  </a:lnTo>
                  <a:lnTo>
                    <a:pt x="35374" y="50699"/>
                  </a:lnTo>
                  <a:lnTo>
                    <a:pt x="39790" y="41220"/>
                  </a:lnTo>
                  <a:lnTo>
                    <a:pt x="41400" y="29473"/>
                  </a:lnTo>
                  <a:lnTo>
                    <a:pt x="39790" y="17950"/>
                  </a:lnTo>
                  <a:lnTo>
                    <a:pt x="35374" y="8588"/>
                  </a:lnTo>
                  <a:lnTo>
                    <a:pt x="28773" y="2299"/>
                  </a:lnTo>
                  <a:lnTo>
                    <a:pt x="20610" y="0"/>
                  </a:lnTo>
                  <a:close/>
                </a:path>
              </a:pathLst>
            </a:custGeom>
            <a:solidFill>
              <a:srgbClr val="000000"/>
            </a:solidFill>
          </p:spPr>
          <p:txBody>
            <a:bodyPr wrap="square" lIns="0" tIns="0" rIns="0" bIns="0" rtlCol="0"/>
            <a:lstStyle/>
            <a:p/>
          </p:txBody>
        </p:sp>
        <p:sp>
          <p:nvSpPr>
            <p:cNvPr id="108" name="object 108" descr=""/>
            <p:cNvSpPr/>
            <p:nvPr/>
          </p:nvSpPr>
          <p:spPr>
            <a:xfrm>
              <a:off x="8800904" y="4013721"/>
              <a:ext cx="41910" cy="59690"/>
            </a:xfrm>
            <a:custGeom>
              <a:avLst/>
              <a:gdLst/>
              <a:ahLst/>
              <a:cxnLst/>
              <a:rect l="l" t="t" r="r" b="b"/>
              <a:pathLst>
                <a:path w="41909" h="59689">
                  <a:moveTo>
                    <a:pt x="20610" y="0"/>
                  </a:moveTo>
                  <a:lnTo>
                    <a:pt x="12702" y="2299"/>
                  </a:lnTo>
                  <a:lnTo>
                    <a:pt x="6138" y="8588"/>
                  </a:lnTo>
                  <a:lnTo>
                    <a:pt x="1657" y="17950"/>
                  </a:lnTo>
                  <a:lnTo>
                    <a:pt x="0" y="29473"/>
                  </a:lnTo>
                  <a:lnTo>
                    <a:pt x="1657" y="41220"/>
                  </a:lnTo>
                  <a:lnTo>
                    <a:pt x="6138" y="50699"/>
                  </a:lnTo>
                  <a:lnTo>
                    <a:pt x="12702" y="57030"/>
                  </a:lnTo>
                  <a:lnTo>
                    <a:pt x="20610" y="59336"/>
                  </a:lnTo>
                  <a:lnTo>
                    <a:pt x="28773" y="57030"/>
                  </a:lnTo>
                  <a:lnTo>
                    <a:pt x="35374" y="50699"/>
                  </a:lnTo>
                  <a:lnTo>
                    <a:pt x="39790" y="41220"/>
                  </a:lnTo>
                  <a:lnTo>
                    <a:pt x="41400" y="29473"/>
                  </a:lnTo>
                  <a:lnTo>
                    <a:pt x="39790" y="17950"/>
                  </a:lnTo>
                  <a:lnTo>
                    <a:pt x="35374" y="8588"/>
                  </a:lnTo>
                  <a:lnTo>
                    <a:pt x="28773" y="2299"/>
                  </a:lnTo>
                  <a:lnTo>
                    <a:pt x="20610" y="0"/>
                  </a:lnTo>
                </a:path>
              </a:pathLst>
            </a:custGeom>
            <a:ln w="13729">
              <a:solidFill>
                <a:srgbClr val="000000"/>
              </a:solidFill>
            </a:ln>
          </p:spPr>
          <p:txBody>
            <a:bodyPr wrap="square" lIns="0" tIns="0" rIns="0" bIns="0" rtlCol="0"/>
            <a:lstStyle/>
            <a:p/>
          </p:txBody>
        </p:sp>
        <p:sp>
          <p:nvSpPr>
            <p:cNvPr id="109" name="object 109" descr=""/>
            <p:cNvSpPr/>
            <p:nvPr/>
          </p:nvSpPr>
          <p:spPr>
            <a:xfrm>
              <a:off x="7438080" y="3462517"/>
              <a:ext cx="41275" cy="59690"/>
            </a:xfrm>
            <a:custGeom>
              <a:avLst/>
              <a:gdLst/>
              <a:ahLst/>
              <a:cxnLst/>
              <a:rect l="l" t="t" r="r" b="b"/>
              <a:pathLst>
                <a:path w="41275" h="59689">
                  <a:moveTo>
                    <a:pt x="20252" y="0"/>
                  </a:moveTo>
                  <a:lnTo>
                    <a:pt x="12324" y="2391"/>
                  </a:lnTo>
                  <a:lnTo>
                    <a:pt x="5892" y="8880"/>
                  </a:lnTo>
                  <a:lnTo>
                    <a:pt x="1576" y="18445"/>
                  </a:lnTo>
                  <a:lnTo>
                    <a:pt x="0" y="30058"/>
                  </a:lnTo>
                  <a:lnTo>
                    <a:pt x="1576" y="41580"/>
                  </a:lnTo>
                  <a:lnTo>
                    <a:pt x="5892" y="50943"/>
                  </a:lnTo>
                  <a:lnTo>
                    <a:pt x="12324" y="57232"/>
                  </a:lnTo>
                  <a:lnTo>
                    <a:pt x="20252" y="59531"/>
                  </a:lnTo>
                  <a:lnTo>
                    <a:pt x="28387" y="57232"/>
                  </a:lnTo>
                  <a:lnTo>
                    <a:pt x="34926" y="50943"/>
                  </a:lnTo>
                  <a:lnTo>
                    <a:pt x="39280" y="41580"/>
                  </a:lnTo>
                  <a:lnTo>
                    <a:pt x="40863" y="30058"/>
                  </a:lnTo>
                  <a:lnTo>
                    <a:pt x="39280" y="18445"/>
                  </a:lnTo>
                  <a:lnTo>
                    <a:pt x="34926" y="8880"/>
                  </a:lnTo>
                  <a:lnTo>
                    <a:pt x="28387" y="2391"/>
                  </a:lnTo>
                  <a:lnTo>
                    <a:pt x="20252" y="0"/>
                  </a:lnTo>
                  <a:close/>
                </a:path>
              </a:pathLst>
            </a:custGeom>
            <a:solidFill>
              <a:srgbClr val="000000"/>
            </a:solidFill>
          </p:spPr>
          <p:txBody>
            <a:bodyPr wrap="square" lIns="0" tIns="0" rIns="0" bIns="0" rtlCol="0"/>
            <a:lstStyle/>
            <a:p/>
          </p:txBody>
        </p:sp>
        <p:sp>
          <p:nvSpPr>
            <p:cNvPr id="110" name="object 110" descr=""/>
            <p:cNvSpPr/>
            <p:nvPr/>
          </p:nvSpPr>
          <p:spPr>
            <a:xfrm>
              <a:off x="7438080" y="3462517"/>
              <a:ext cx="41275" cy="59690"/>
            </a:xfrm>
            <a:custGeom>
              <a:avLst/>
              <a:gdLst/>
              <a:ahLst/>
              <a:cxnLst/>
              <a:rect l="l" t="t" r="r" b="b"/>
              <a:pathLst>
                <a:path w="41275" h="59689">
                  <a:moveTo>
                    <a:pt x="20252" y="0"/>
                  </a:moveTo>
                  <a:lnTo>
                    <a:pt x="12324" y="2391"/>
                  </a:lnTo>
                  <a:lnTo>
                    <a:pt x="5892" y="8880"/>
                  </a:lnTo>
                  <a:lnTo>
                    <a:pt x="1576" y="18445"/>
                  </a:lnTo>
                  <a:lnTo>
                    <a:pt x="0" y="30058"/>
                  </a:lnTo>
                  <a:lnTo>
                    <a:pt x="1576" y="41580"/>
                  </a:lnTo>
                  <a:lnTo>
                    <a:pt x="5892" y="50943"/>
                  </a:lnTo>
                  <a:lnTo>
                    <a:pt x="12324" y="57232"/>
                  </a:lnTo>
                  <a:lnTo>
                    <a:pt x="20252" y="59531"/>
                  </a:lnTo>
                  <a:lnTo>
                    <a:pt x="28387" y="57232"/>
                  </a:lnTo>
                  <a:lnTo>
                    <a:pt x="34926" y="50943"/>
                  </a:lnTo>
                  <a:lnTo>
                    <a:pt x="39280" y="41580"/>
                  </a:lnTo>
                  <a:lnTo>
                    <a:pt x="40863" y="30058"/>
                  </a:lnTo>
                  <a:lnTo>
                    <a:pt x="39280" y="18445"/>
                  </a:lnTo>
                  <a:lnTo>
                    <a:pt x="34926" y="8880"/>
                  </a:lnTo>
                  <a:lnTo>
                    <a:pt x="28387" y="2391"/>
                  </a:lnTo>
                  <a:lnTo>
                    <a:pt x="20252" y="0"/>
                  </a:lnTo>
                </a:path>
              </a:pathLst>
            </a:custGeom>
            <a:ln w="13720">
              <a:solidFill>
                <a:srgbClr val="000000"/>
              </a:solidFill>
            </a:ln>
          </p:spPr>
          <p:txBody>
            <a:bodyPr wrap="square" lIns="0" tIns="0" rIns="0" bIns="0" rtlCol="0"/>
            <a:lstStyle/>
            <a:p/>
          </p:txBody>
        </p:sp>
        <p:sp>
          <p:nvSpPr>
            <p:cNvPr id="111" name="object 111" descr=""/>
            <p:cNvSpPr/>
            <p:nvPr/>
          </p:nvSpPr>
          <p:spPr>
            <a:xfrm>
              <a:off x="7821441" y="3286265"/>
              <a:ext cx="41910" cy="59690"/>
            </a:xfrm>
            <a:custGeom>
              <a:avLst/>
              <a:gdLst/>
              <a:ahLst/>
              <a:cxnLst/>
              <a:rect l="l" t="t" r="r" b="b"/>
              <a:pathLst>
                <a:path w="41909" h="59689">
                  <a:moveTo>
                    <a:pt x="20790" y="0"/>
                  </a:moveTo>
                  <a:lnTo>
                    <a:pt x="12778" y="2299"/>
                  </a:lnTo>
                  <a:lnTo>
                    <a:pt x="6160" y="8588"/>
                  </a:lnTo>
                  <a:lnTo>
                    <a:pt x="1660" y="17950"/>
                  </a:lnTo>
                  <a:lnTo>
                    <a:pt x="0" y="29473"/>
                  </a:lnTo>
                  <a:lnTo>
                    <a:pt x="1660" y="41056"/>
                  </a:lnTo>
                  <a:lnTo>
                    <a:pt x="6160" y="50553"/>
                  </a:lnTo>
                  <a:lnTo>
                    <a:pt x="12778" y="56975"/>
                  </a:lnTo>
                  <a:lnTo>
                    <a:pt x="20790" y="59336"/>
                  </a:lnTo>
                  <a:lnTo>
                    <a:pt x="28905" y="56975"/>
                  </a:lnTo>
                  <a:lnTo>
                    <a:pt x="35576" y="50553"/>
                  </a:lnTo>
                  <a:lnTo>
                    <a:pt x="40095" y="41056"/>
                  </a:lnTo>
                  <a:lnTo>
                    <a:pt x="41759" y="29473"/>
                  </a:lnTo>
                  <a:lnTo>
                    <a:pt x="40095" y="17950"/>
                  </a:lnTo>
                  <a:lnTo>
                    <a:pt x="35576" y="8588"/>
                  </a:lnTo>
                  <a:lnTo>
                    <a:pt x="28905" y="2299"/>
                  </a:lnTo>
                  <a:lnTo>
                    <a:pt x="20790" y="0"/>
                  </a:lnTo>
                  <a:close/>
                </a:path>
              </a:pathLst>
            </a:custGeom>
            <a:solidFill>
              <a:srgbClr val="000000"/>
            </a:solidFill>
          </p:spPr>
          <p:txBody>
            <a:bodyPr wrap="square" lIns="0" tIns="0" rIns="0" bIns="0" rtlCol="0"/>
            <a:lstStyle/>
            <a:p/>
          </p:txBody>
        </p:sp>
        <p:sp>
          <p:nvSpPr>
            <p:cNvPr id="112" name="object 112" descr=""/>
            <p:cNvSpPr/>
            <p:nvPr/>
          </p:nvSpPr>
          <p:spPr>
            <a:xfrm>
              <a:off x="7821441" y="3286265"/>
              <a:ext cx="41910" cy="59690"/>
            </a:xfrm>
            <a:custGeom>
              <a:avLst/>
              <a:gdLst/>
              <a:ahLst/>
              <a:cxnLst/>
              <a:rect l="l" t="t" r="r" b="b"/>
              <a:pathLst>
                <a:path w="41909" h="59689">
                  <a:moveTo>
                    <a:pt x="20790" y="0"/>
                  </a:moveTo>
                  <a:lnTo>
                    <a:pt x="12778" y="2299"/>
                  </a:lnTo>
                  <a:lnTo>
                    <a:pt x="6160" y="8588"/>
                  </a:lnTo>
                  <a:lnTo>
                    <a:pt x="1660" y="17950"/>
                  </a:lnTo>
                  <a:lnTo>
                    <a:pt x="0" y="29473"/>
                  </a:lnTo>
                  <a:lnTo>
                    <a:pt x="1660" y="41056"/>
                  </a:lnTo>
                  <a:lnTo>
                    <a:pt x="6160" y="50553"/>
                  </a:lnTo>
                  <a:lnTo>
                    <a:pt x="12778" y="56975"/>
                  </a:lnTo>
                  <a:lnTo>
                    <a:pt x="20790" y="59336"/>
                  </a:lnTo>
                  <a:lnTo>
                    <a:pt x="28905" y="56975"/>
                  </a:lnTo>
                  <a:lnTo>
                    <a:pt x="35576" y="50553"/>
                  </a:lnTo>
                  <a:lnTo>
                    <a:pt x="40095" y="41056"/>
                  </a:lnTo>
                  <a:lnTo>
                    <a:pt x="41759" y="29473"/>
                  </a:lnTo>
                  <a:lnTo>
                    <a:pt x="40095" y="17950"/>
                  </a:lnTo>
                  <a:lnTo>
                    <a:pt x="35576" y="8588"/>
                  </a:lnTo>
                  <a:lnTo>
                    <a:pt x="28905" y="2299"/>
                  </a:lnTo>
                  <a:lnTo>
                    <a:pt x="20790" y="0"/>
                  </a:lnTo>
                </a:path>
              </a:pathLst>
            </a:custGeom>
            <a:ln w="13733">
              <a:solidFill>
                <a:srgbClr val="000000"/>
              </a:solidFill>
            </a:ln>
          </p:spPr>
          <p:txBody>
            <a:bodyPr wrap="square" lIns="0" tIns="0" rIns="0" bIns="0" rtlCol="0"/>
            <a:lstStyle/>
            <a:p/>
          </p:txBody>
        </p:sp>
        <p:sp>
          <p:nvSpPr>
            <p:cNvPr id="113" name="object 113" descr=""/>
            <p:cNvSpPr/>
            <p:nvPr/>
          </p:nvSpPr>
          <p:spPr>
            <a:xfrm>
              <a:off x="7834346" y="3096740"/>
              <a:ext cx="1628775" cy="78740"/>
            </a:xfrm>
            <a:custGeom>
              <a:avLst/>
              <a:gdLst/>
              <a:ahLst/>
              <a:cxnLst/>
              <a:rect l="l" t="t" r="r" b="b"/>
              <a:pathLst>
                <a:path w="1628775" h="78739">
                  <a:moveTo>
                    <a:pt x="1520899" y="0"/>
                  </a:moveTo>
                  <a:lnTo>
                    <a:pt x="1557103" y="39427"/>
                  </a:lnTo>
                  <a:lnTo>
                    <a:pt x="1520899" y="78269"/>
                  </a:lnTo>
                  <a:lnTo>
                    <a:pt x="1602496" y="48796"/>
                  </a:lnTo>
                  <a:lnTo>
                    <a:pt x="1561763" y="48796"/>
                  </a:lnTo>
                  <a:lnTo>
                    <a:pt x="1566064" y="44502"/>
                  </a:lnTo>
                  <a:lnTo>
                    <a:pt x="1566064" y="33767"/>
                  </a:lnTo>
                  <a:lnTo>
                    <a:pt x="1561763" y="29473"/>
                  </a:lnTo>
                  <a:lnTo>
                    <a:pt x="1601284" y="29473"/>
                  </a:lnTo>
                  <a:lnTo>
                    <a:pt x="1520899" y="0"/>
                  </a:lnTo>
                  <a:close/>
                </a:path>
                <a:path w="1628775" h="78739">
                  <a:moveTo>
                    <a:pt x="1547962" y="29473"/>
                  </a:moveTo>
                  <a:lnTo>
                    <a:pt x="3942" y="29473"/>
                  </a:lnTo>
                  <a:lnTo>
                    <a:pt x="0" y="33767"/>
                  </a:lnTo>
                  <a:lnTo>
                    <a:pt x="0" y="44502"/>
                  </a:lnTo>
                  <a:lnTo>
                    <a:pt x="3942" y="48796"/>
                  </a:lnTo>
                  <a:lnTo>
                    <a:pt x="1548370" y="48796"/>
                  </a:lnTo>
                  <a:lnTo>
                    <a:pt x="1557103" y="39427"/>
                  </a:lnTo>
                  <a:lnTo>
                    <a:pt x="1547962" y="29473"/>
                  </a:lnTo>
                  <a:close/>
                </a:path>
                <a:path w="1628775" h="78739">
                  <a:moveTo>
                    <a:pt x="1601284" y="29473"/>
                  </a:moveTo>
                  <a:lnTo>
                    <a:pt x="1561763" y="29473"/>
                  </a:lnTo>
                  <a:lnTo>
                    <a:pt x="1566064" y="33767"/>
                  </a:lnTo>
                  <a:lnTo>
                    <a:pt x="1566064" y="44502"/>
                  </a:lnTo>
                  <a:lnTo>
                    <a:pt x="1561763" y="48796"/>
                  </a:lnTo>
                  <a:lnTo>
                    <a:pt x="1602496" y="48796"/>
                  </a:lnTo>
                  <a:lnTo>
                    <a:pt x="1628434" y="39427"/>
                  </a:lnTo>
                  <a:lnTo>
                    <a:pt x="1601284" y="29473"/>
                  </a:lnTo>
                  <a:close/>
                </a:path>
              </a:pathLst>
            </a:custGeom>
            <a:solidFill>
              <a:srgbClr val="000000"/>
            </a:solidFill>
          </p:spPr>
          <p:txBody>
            <a:bodyPr wrap="square" lIns="0" tIns="0" rIns="0" bIns="0" rtlCol="0"/>
            <a:lstStyle/>
            <a:p/>
          </p:txBody>
        </p:sp>
        <p:sp>
          <p:nvSpPr>
            <p:cNvPr id="114" name="object 114" descr=""/>
            <p:cNvSpPr/>
            <p:nvPr/>
          </p:nvSpPr>
          <p:spPr>
            <a:xfrm>
              <a:off x="7834346" y="3096740"/>
              <a:ext cx="1628775" cy="78740"/>
            </a:xfrm>
            <a:custGeom>
              <a:avLst/>
              <a:gdLst/>
              <a:ahLst/>
              <a:cxnLst/>
              <a:rect l="l" t="t" r="r" b="b"/>
              <a:pathLst>
                <a:path w="1628775" h="78739">
                  <a:moveTo>
                    <a:pt x="8602" y="29473"/>
                  </a:moveTo>
                  <a:lnTo>
                    <a:pt x="1557103" y="29473"/>
                  </a:lnTo>
                  <a:lnTo>
                    <a:pt x="1561763" y="29473"/>
                  </a:lnTo>
                  <a:lnTo>
                    <a:pt x="1566064" y="33767"/>
                  </a:lnTo>
                  <a:lnTo>
                    <a:pt x="1566064" y="39427"/>
                  </a:lnTo>
                  <a:lnTo>
                    <a:pt x="1566064" y="44502"/>
                  </a:lnTo>
                  <a:lnTo>
                    <a:pt x="1561763" y="48796"/>
                  </a:lnTo>
                  <a:lnTo>
                    <a:pt x="1557103" y="48796"/>
                  </a:lnTo>
                  <a:lnTo>
                    <a:pt x="8602" y="48796"/>
                  </a:lnTo>
                  <a:lnTo>
                    <a:pt x="3942" y="48796"/>
                  </a:lnTo>
                  <a:lnTo>
                    <a:pt x="0" y="44502"/>
                  </a:lnTo>
                  <a:lnTo>
                    <a:pt x="0" y="39427"/>
                  </a:lnTo>
                  <a:lnTo>
                    <a:pt x="0" y="33767"/>
                  </a:lnTo>
                  <a:lnTo>
                    <a:pt x="3942" y="29473"/>
                  </a:lnTo>
                  <a:lnTo>
                    <a:pt x="8602" y="29473"/>
                  </a:lnTo>
                  <a:close/>
                </a:path>
                <a:path w="1628775" h="78739">
                  <a:moveTo>
                    <a:pt x="1557103" y="39427"/>
                  </a:moveTo>
                  <a:lnTo>
                    <a:pt x="1520899" y="0"/>
                  </a:lnTo>
                  <a:lnTo>
                    <a:pt x="1628434" y="39427"/>
                  </a:lnTo>
                  <a:lnTo>
                    <a:pt x="1520899" y="78269"/>
                  </a:lnTo>
                  <a:lnTo>
                    <a:pt x="1557103" y="39427"/>
                  </a:lnTo>
                  <a:close/>
                </a:path>
              </a:pathLst>
            </a:custGeom>
            <a:ln w="3175">
              <a:solidFill>
                <a:srgbClr val="000000"/>
              </a:solidFill>
            </a:ln>
          </p:spPr>
          <p:txBody>
            <a:bodyPr wrap="square" lIns="0" tIns="0" rIns="0" bIns="0" rtlCol="0"/>
            <a:lstStyle/>
            <a:p/>
          </p:txBody>
        </p:sp>
        <p:sp>
          <p:nvSpPr>
            <p:cNvPr id="115" name="object 115" descr=""/>
            <p:cNvSpPr/>
            <p:nvPr/>
          </p:nvSpPr>
          <p:spPr>
            <a:xfrm>
              <a:off x="7821441" y="3112745"/>
              <a:ext cx="41910" cy="59690"/>
            </a:xfrm>
            <a:custGeom>
              <a:avLst/>
              <a:gdLst/>
              <a:ahLst/>
              <a:cxnLst/>
              <a:rect l="l" t="t" r="r" b="b"/>
              <a:pathLst>
                <a:path w="41909" h="59689">
                  <a:moveTo>
                    <a:pt x="20790" y="0"/>
                  </a:moveTo>
                  <a:lnTo>
                    <a:pt x="12778" y="2299"/>
                  </a:lnTo>
                  <a:lnTo>
                    <a:pt x="6160" y="8588"/>
                  </a:lnTo>
                  <a:lnTo>
                    <a:pt x="1660" y="17950"/>
                  </a:lnTo>
                  <a:lnTo>
                    <a:pt x="0" y="29473"/>
                  </a:lnTo>
                  <a:lnTo>
                    <a:pt x="1660" y="41220"/>
                  </a:lnTo>
                  <a:lnTo>
                    <a:pt x="6160" y="50699"/>
                  </a:lnTo>
                  <a:lnTo>
                    <a:pt x="12778" y="57030"/>
                  </a:lnTo>
                  <a:lnTo>
                    <a:pt x="20790" y="59336"/>
                  </a:lnTo>
                  <a:lnTo>
                    <a:pt x="28905" y="57030"/>
                  </a:lnTo>
                  <a:lnTo>
                    <a:pt x="35576" y="50699"/>
                  </a:lnTo>
                  <a:lnTo>
                    <a:pt x="40095" y="41220"/>
                  </a:lnTo>
                  <a:lnTo>
                    <a:pt x="41759" y="29473"/>
                  </a:lnTo>
                  <a:lnTo>
                    <a:pt x="40095" y="17950"/>
                  </a:lnTo>
                  <a:lnTo>
                    <a:pt x="35576" y="8588"/>
                  </a:lnTo>
                  <a:lnTo>
                    <a:pt x="28905" y="2299"/>
                  </a:lnTo>
                  <a:lnTo>
                    <a:pt x="20790" y="0"/>
                  </a:lnTo>
                  <a:close/>
                </a:path>
              </a:pathLst>
            </a:custGeom>
            <a:solidFill>
              <a:srgbClr val="000000"/>
            </a:solidFill>
          </p:spPr>
          <p:txBody>
            <a:bodyPr wrap="square" lIns="0" tIns="0" rIns="0" bIns="0" rtlCol="0"/>
            <a:lstStyle/>
            <a:p/>
          </p:txBody>
        </p:sp>
        <p:sp>
          <p:nvSpPr>
            <p:cNvPr id="116" name="object 116" descr=""/>
            <p:cNvSpPr/>
            <p:nvPr/>
          </p:nvSpPr>
          <p:spPr>
            <a:xfrm>
              <a:off x="7821441" y="3112745"/>
              <a:ext cx="41910" cy="59690"/>
            </a:xfrm>
            <a:custGeom>
              <a:avLst/>
              <a:gdLst/>
              <a:ahLst/>
              <a:cxnLst/>
              <a:rect l="l" t="t" r="r" b="b"/>
              <a:pathLst>
                <a:path w="41909" h="59689">
                  <a:moveTo>
                    <a:pt x="20790" y="0"/>
                  </a:moveTo>
                  <a:lnTo>
                    <a:pt x="12778" y="2299"/>
                  </a:lnTo>
                  <a:lnTo>
                    <a:pt x="6160" y="8588"/>
                  </a:lnTo>
                  <a:lnTo>
                    <a:pt x="1660" y="17950"/>
                  </a:lnTo>
                  <a:lnTo>
                    <a:pt x="0" y="29473"/>
                  </a:lnTo>
                  <a:lnTo>
                    <a:pt x="1660" y="41220"/>
                  </a:lnTo>
                  <a:lnTo>
                    <a:pt x="6160" y="50699"/>
                  </a:lnTo>
                  <a:lnTo>
                    <a:pt x="12778" y="57030"/>
                  </a:lnTo>
                  <a:lnTo>
                    <a:pt x="20790" y="59336"/>
                  </a:lnTo>
                  <a:lnTo>
                    <a:pt x="28905" y="57030"/>
                  </a:lnTo>
                  <a:lnTo>
                    <a:pt x="35576" y="50699"/>
                  </a:lnTo>
                  <a:lnTo>
                    <a:pt x="40095" y="41220"/>
                  </a:lnTo>
                  <a:lnTo>
                    <a:pt x="41759" y="29473"/>
                  </a:lnTo>
                  <a:lnTo>
                    <a:pt x="40095" y="17950"/>
                  </a:lnTo>
                  <a:lnTo>
                    <a:pt x="35576" y="8588"/>
                  </a:lnTo>
                  <a:lnTo>
                    <a:pt x="28905" y="2299"/>
                  </a:lnTo>
                  <a:lnTo>
                    <a:pt x="20790" y="0"/>
                  </a:lnTo>
                </a:path>
              </a:pathLst>
            </a:custGeom>
            <a:ln w="13733">
              <a:solidFill>
                <a:srgbClr val="000000"/>
              </a:solidFill>
            </a:ln>
          </p:spPr>
          <p:txBody>
            <a:bodyPr wrap="square" lIns="0" tIns="0" rIns="0" bIns="0" rtlCol="0"/>
            <a:lstStyle/>
            <a:p/>
          </p:txBody>
        </p:sp>
        <p:sp>
          <p:nvSpPr>
            <p:cNvPr id="117" name="object 117" descr=""/>
            <p:cNvSpPr/>
            <p:nvPr/>
          </p:nvSpPr>
          <p:spPr>
            <a:xfrm>
              <a:off x="8146376" y="4819135"/>
              <a:ext cx="72390" cy="494030"/>
            </a:xfrm>
            <a:custGeom>
              <a:avLst/>
              <a:gdLst/>
              <a:ahLst/>
              <a:cxnLst/>
              <a:rect l="l" t="t" r="r" b="b"/>
              <a:pathLst>
                <a:path w="72390" h="494029">
                  <a:moveTo>
                    <a:pt x="0" y="376571"/>
                  </a:moveTo>
                  <a:lnTo>
                    <a:pt x="35665" y="493507"/>
                  </a:lnTo>
                  <a:lnTo>
                    <a:pt x="56810" y="425211"/>
                  </a:lnTo>
                  <a:lnTo>
                    <a:pt x="31005" y="425211"/>
                  </a:lnTo>
                  <a:lnTo>
                    <a:pt x="26704" y="421015"/>
                  </a:lnTo>
                  <a:lnTo>
                    <a:pt x="26704" y="405639"/>
                  </a:lnTo>
                  <a:lnTo>
                    <a:pt x="0" y="376571"/>
                  </a:lnTo>
                  <a:close/>
                </a:path>
                <a:path w="72390" h="494029">
                  <a:moveTo>
                    <a:pt x="26704" y="405639"/>
                  </a:moveTo>
                  <a:lnTo>
                    <a:pt x="26704" y="421015"/>
                  </a:lnTo>
                  <a:lnTo>
                    <a:pt x="31005" y="425211"/>
                  </a:lnTo>
                  <a:lnTo>
                    <a:pt x="40863" y="425211"/>
                  </a:lnTo>
                  <a:lnTo>
                    <a:pt x="44806" y="421015"/>
                  </a:lnTo>
                  <a:lnTo>
                    <a:pt x="44806" y="415393"/>
                  </a:lnTo>
                  <a:lnTo>
                    <a:pt x="35665" y="415393"/>
                  </a:lnTo>
                  <a:lnTo>
                    <a:pt x="26704" y="405639"/>
                  </a:lnTo>
                  <a:close/>
                </a:path>
                <a:path w="72390" h="494029">
                  <a:moveTo>
                    <a:pt x="71869" y="376571"/>
                  </a:moveTo>
                  <a:lnTo>
                    <a:pt x="44806" y="405639"/>
                  </a:lnTo>
                  <a:lnTo>
                    <a:pt x="44806" y="421015"/>
                  </a:lnTo>
                  <a:lnTo>
                    <a:pt x="40863" y="425211"/>
                  </a:lnTo>
                  <a:lnTo>
                    <a:pt x="56810" y="425211"/>
                  </a:lnTo>
                  <a:lnTo>
                    <a:pt x="71869" y="376571"/>
                  </a:lnTo>
                  <a:close/>
                </a:path>
                <a:path w="72390" h="494029">
                  <a:moveTo>
                    <a:pt x="40863" y="0"/>
                  </a:moveTo>
                  <a:lnTo>
                    <a:pt x="31005" y="0"/>
                  </a:lnTo>
                  <a:lnTo>
                    <a:pt x="26704" y="4216"/>
                  </a:lnTo>
                  <a:lnTo>
                    <a:pt x="26704" y="405639"/>
                  </a:lnTo>
                  <a:lnTo>
                    <a:pt x="35665" y="415393"/>
                  </a:lnTo>
                  <a:lnTo>
                    <a:pt x="44762" y="405639"/>
                  </a:lnTo>
                  <a:lnTo>
                    <a:pt x="44806" y="4216"/>
                  </a:lnTo>
                  <a:lnTo>
                    <a:pt x="40863" y="0"/>
                  </a:lnTo>
                  <a:close/>
                </a:path>
                <a:path w="72390" h="494029">
                  <a:moveTo>
                    <a:pt x="44806" y="405639"/>
                  </a:moveTo>
                  <a:lnTo>
                    <a:pt x="35665" y="415393"/>
                  </a:lnTo>
                  <a:lnTo>
                    <a:pt x="44806" y="415393"/>
                  </a:lnTo>
                  <a:lnTo>
                    <a:pt x="44806" y="405639"/>
                  </a:lnTo>
                  <a:close/>
                </a:path>
              </a:pathLst>
            </a:custGeom>
            <a:solidFill>
              <a:srgbClr val="000000"/>
            </a:solidFill>
          </p:spPr>
          <p:txBody>
            <a:bodyPr wrap="square" lIns="0" tIns="0" rIns="0" bIns="0" rtlCol="0"/>
            <a:lstStyle/>
            <a:p/>
          </p:txBody>
        </p:sp>
        <p:sp>
          <p:nvSpPr>
            <p:cNvPr id="118" name="object 118" descr=""/>
            <p:cNvSpPr/>
            <p:nvPr/>
          </p:nvSpPr>
          <p:spPr>
            <a:xfrm>
              <a:off x="8146376" y="4819135"/>
              <a:ext cx="72390" cy="494030"/>
            </a:xfrm>
            <a:custGeom>
              <a:avLst/>
              <a:gdLst/>
              <a:ahLst/>
              <a:cxnLst/>
              <a:rect l="l" t="t" r="r" b="b"/>
              <a:pathLst>
                <a:path w="72390" h="494029">
                  <a:moveTo>
                    <a:pt x="44806" y="9368"/>
                  </a:moveTo>
                  <a:lnTo>
                    <a:pt x="44806" y="415393"/>
                  </a:lnTo>
                  <a:lnTo>
                    <a:pt x="44806" y="421015"/>
                  </a:lnTo>
                  <a:lnTo>
                    <a:pt x="40863" y="425211"/>
                  </a:lnTo>
                  <a:lnTo>
                    <a:pt x="35665" y="425211"/>
                  </a:lnTo>
                  <a:lnTo>
                    <a:pt x="31005" y="425211"/>
                  </a:lnTo>
                  <a:lnTo>
                    <a:pt x="26704" y="421015"/>
                  </a:lnTo>
                  <a:lnTo>
                    <a:pt x="26704" y="415393"/>
                  </a:lnTo>
                  <a:lnTo>
                    <a:pt x="26704" y="9368"/>
                  </a:lnTo>
                  <a:lnTo>
                    <a:pt x="26704" y="4216"/>
                  </a:lnTo>
                  <a:lnTo>
                    <a:pt x="31005" y="0"/>
                  </a:lnTo>
                  <a:lnTo>
                    <a:pt x="35665" y="0"/>
                  </a:lnTo>
                  <a:lnTo>
                    <a:pt x="40863" y="0"/>
                  </a:lnTo>
                  <a:lnTo>
                    <a:pt x="44806" y="4216"/>
                  </a:lnTo>
                  <a:lnTo>
                    <a:pt x="44806" y="9368"/>
                  </a:lnTo>
                  <a:close/>
                </a:path>
                <a:path w="72390" h="494029">
                  <a:moveTo>
                    <a:pt x="35665" y="415393"/>
                  </a:moveTo>
                  <a:lnTo>
                    <a:pt x="71869" y="376571"/>
                  </a:lnTo>
                  <a:lnTo>
                    <a:pt x="35665" y="493507"/>
                  </a:lnTo>
                  <a:lnTo>
                    <a:pt x="0" y="376571"/>
                  </a:lnTo>
                  <a:lnTo>
                    <a:pt x="35665" y="415393"/>
                  </a:lnTo>
                  <a:close/>
                </a:path>
              </a:pathLst>
            </a:custGeom>
            <a:ln w="3175">
              <a:solidFill>
                <a:srgbClr val="000000"/>
              </a:solidFill>
            </a:ln>
          </p:spPr>
          <p:txBody>
            <a:bodyPr wrap="square" lIns="0" tIns="0" rIns="0" bIns="0" rtlCol="0"/>
            <a:lstStyle/>
            <a:p/>
          </p:txBody>
        </p:sp>
        <p:sp>
          <p:nvSpPr>
            <p:cNvPr id="119" name="object 119" descr=""/>
            <p:cNvSpPr/>
            <p:nvPr/>
          </p:nvSpPr>
          <p:spPr>
            <a:xfrm>
              <a:off x="9120251" y="4149725"/>
              <a:ext cx="532130" cy="76200"/>
            </a:xfrm>
            <a:custGeom>
              <a:avLst/>
              <a:gdLst/>
              <a:ahLst/>
              <a:cxnLst/>
              <a:rect l="l" t="t" r="r" b="b"/>
              <a:pathLst>
                <a:path w="532129" h="76200">
                  <a:moveTo>
                    <a:pt x="76200" y="0"/>
                  </a:moveTo>
                  <a:lnTo>
                    <a:pt x="0" y="38100"/>
                  </a:lnTo>
                  <a:lnTo>
                    <a:pt x="76200" y="76200"/>
                  </a:lnTo>
                  <a:lnTo>
                    <a:pt x="76200" y="42799"/>
                  </a:lnTo>
                  <a:lnTo>
                    <a:pt x="63500" y="42799"/>
                  </a:lnTo>
                  <a:lnTo>
                    <a:pt x="63500" y="33274"/>
                  </a:lnTo>
                  <a:lnTo>
                    <a:pt x="76200" y="33274"/>
                  </a:lnTo>
                  <a:lnTo>
                    <a:pt x="76200" y="0"/>
                  </a:lnTo>
                  <a:close/>
                </a:path>
                <a:path w="532129" h="76200">
                  <a:moveTo>
                    <a:pt x="76200" y="33274"/>
                  </a:moveTo>
                  <a:lnTo>
                    <a:pt x="63500" y="33274"/>
                  </a:lnTo>
                  <a:lnTo>
                    <a:pt x="63500" y="42799"/>
                  </a:lnTo>
                  <a:lnTo>
                    <a:pt x="76200" y="42799"/>
                  </a:lnTo>
                  <a:lnTo>
                    <a:pt x="76200" y="33274"/>
                  </a:lnTo>
                  <a:close/>
                </a:path>
                <a:path w="532129" h="76200">
                  <a:moveTo>
                    <a:pt x="531749" y="33274"/>
                  </a:moveTo>
                  <a:lnTo>
                    <a:pt x="76200" y="33274"/>
                  </a:lnTo>
                  <a:lnTo>
                    <a:pt x="76200" y="42799"/>
                  </a:lnTo>
                  <a:lnTo>
                    <a:pt x="531749" y="42799"/>
                  </a:lnTo>
                  <a:lnTo>
                    <a:pt x="531749" y="33274"/>
                  </a:lnTo>
                  <a:close/>
                </a:path>
              </a:pathLst>
            </a:custGeom>
            <a:solidFill>
              <a:srgbClr val="FF0000"/>
            </a:solidFill>
          </p:spPr>
          <p:txBody>
            <a:bodyPr wrap="square" lIns="0" tIns="0" rIns="0" bIns="0" rtlCol="0"/>
            <a:lstStyle/>
            <a:p/>
          </p:txBody>
        </p:sp>
      </p:grpSp>
      <p:sp>
        <p:nvSpPr>
          <p:cNvPr id="120" name="object 120" descr=""/>
          <p:cNvSpPr txBox="1"/>
          <p:nvPr/>
        </p:nvSpPr>
        <p:spPr>
          <a:xfrm>
            <a:off x="7434341" y="4441239"/>
            <a:ext cx="106680" cy="416559"/>
          </a:xfrm>
          <a:prstGeom prst="rect">
            <a:avLst/>
          </a:prstGeom>
        </p:spPr>
        <p:txBody>
          <a:bodyPr wrap="square" lIns="0" tIns="16510" rIns="0" bIns="0" rtlCol="0" vert="horz">
            <a:spAutoFit/>
          </a:bodyPr>
          <a:lstStyle/>
          <a:p>
            <a:pPr marL="12700">
              <a:lnSpc>
                <a:spcPts val="1520"/>
              </a:lnSpc>
              <a:spcBef>
                <a:spcPts val="130"/>
              </a:spcBef>
            </a:pPr>
            <a:r>
              <a:rPr dirty="0" sz="1350" spc="-50">
                <a:latin typeface="Times New Roman"/>
                <a:cs typeface="Times New Roman"/>
              </a:rPr>
              <a:t>2</a:t>
            </a:r>
            <a:endParaRPr sz="1350">
              <a:latin typeface="Times New Roman"/>
              <a:cs typeface="Times New Roman"/>
            </a:endParaRPr>
          </a:p>
          <a:p>
            <a:pPr marL="12700">
              <a:lnSpc>
                <a:spcPts val="1520"/>
              </a:lnSpc>
            </a:pPr>
            <a:r>
              <a:rPr dirty="0" sz="1350" spc="-50">
                <a:latin typeface="Times New Roman"/>
                <a:cs typeface="Times New Roman"/>
              </a:rPr>
              <a:t>1</a:t>
            </a:r>
            <a:endParaRPr sz="1350">
              <a:latin typeface="Times New Roman"/>
              <a:cs typeface="Times New Roman"/>
            </a:endParaRPr>
          </a:p>
        </p:txBody>
      </p:sp>
      <p:sp>
        <p:nvSpPr>
          <p:cNvPr id="121" name="object 121" descr=""/>
          <p:cNvSpPr txBox="1"/>
          <p:nvPr/>
        </p:nvSpPr>
        <p:spPr>
          <a:xfrm>
            <a:off x="6952944" y="4257764"/>
            <a:ext cx="187325" cy="236854"/>
          </a:xfrm>
          <a:prstGeom prst="rect">
            <a:avLst/>
          </a:prstGeom>
        </p:spPr>
        <p:txBody>
          <a:bodyPr wrap="square" lIns="0" tIns="16510" rIns="0" bIns="0" rtlCol="0" vert="horz">
            <a:spAutoFit/>
          </a:bodyPr>
          <a:lstStyle/>
          <a:p>
            <a:pPr marL="12700">
              <a:lnSpc>
                <a:spcPct val="100000"/>
              </a:lnSpc>
              <a:spcBef>
                <a:spcPts val="130"/>
              </a:spcBef>
            </a:pPr>
            <a:r>
              <a:rPr dirty="0" sz="1350" spc="-50" b="1">
                <a:latin typeface="宋体"/>
                <a:cs typeface="宋体"/>
              </a:rPr>
              <a:t>保</a:t>
            </a:r>
            <a:endParaRPr sz="1350">
              <a:latin typeface="宋体"/>
              <a:cs typeface="宋体"/>
            </a:endParaRPr>
          </a:p>
        </p:txBody>
      </p:sp>
      <p:sp>
        <p:nvSpPr>
          <p:cNvPr id="122" name="object 122" descr=""/>
          <p:cNvSpPr txBox="1"/>
          <p:nvPr/>
        </p:nvSpPr>
        <p:spPr>
          <a:xfrm>
            <a:off x="6952944" y="4431169"/>
            <a:ext cx="187325" cy="410209"/>
          </a:xfrm>
          <a:prstGeom prst="rect">
            <a:avLst/>
          </a:prstGeom>
        </p:spPr>
        <p:txBody>
          <a:bodyPr wrap="square" lIns="0" tIns="48895" rIns="0" bIns="0" rtlCol="0" vert="horz">
            <a:spAutoFit/>
          </a:bodyPr>
          <a:lstStyle/>
          <a:p>
            <a:pPr marL="12700" marR="5080">
              <a:lnSpc>
                <a:spcPts val="1370"/>
              </a:lnSpc>
              <a:spcBef>
                <a:spcPts val="385"/>
              </a:spcBef>
            </a:pPr>
            <a:r>
              <a:rPr dirty="0" sz="1350" spc="-114" b="1">
                <a:latin typeface="宋体"/>
                <a:cs typeface="宋体"/>
              </a:rPr>
              <a:t>留站</a:t>
            </a:r>
            <a:endParaRPr sz="1350">
              <a:latin typeface="宋体"/>
              <a:cs typeface="宋体"/>
            </a:endParaRPr>
          </a:p>
        </p:txBody>
      </p:sp>
      <p:sp>
        <p:nvSpPr>
          <p:cNvPr id="123" name="object 123" descr=""/>
          <p:cNvSpPr txBox="1"/>
          <p:nvPr/>
        </p:nvSpPr>
        <p:spPr>
          <a:xfrm>
            <a:off x="5174319" y="4914173"/>
            <a:ext cx="353060" cy="236854"/>
          </a:xfrm>
          <a:prstGeom prst="rect">
            <a:avLst/>
          </a:prstGeom>
        </p:spPr>
        <p:txBody>
          <a:bodyPr wrap="square" lIns="0" tIns="16510" rIns="0" bIns="0" rtlCol="0" vert="horz">
            <a:spAutoFit/>
          </a:bodyPr>
          <a:lstStyle/>
          <a:p>
            <a:pPr marL="12700">
              <a:lnSpc>
                <a:spcPct val="100000"/>
              </a:lnSpc>
              <a:spcBef>
                <a:spcPts val="130"/>
              </a:spcBef>
            </a:pPr>
            <a:r>
              <a:rPr dirty="0" sz="1350" spc="-65" b="1">
                <a:latin typeface="宋体"/>
                <a:cs typeface="宋体"/>
              </a:rPr>
              <a:t>标识</a:t>
            </a:r>
            <a:endParaRPr sz="1350">
              <a:latin typeface="宋体"/>
              <a:cs typeface="宋体"/>
            </a:endParaRPr>
          </a:p>
        </p:txBody>
      </p:sp>
      <p:sp>
        <p:nvSpPr>
          <p:cNvPr id="124" name="object 124" descr=""/>
          <p:cNvSpPr txBox="1"/>
          <p:nvPr/>
        </p:nvSpPr>
        <p:spPr>
          <a:xfrm>
            <a:off x="7531302" y="4841662"/>
            <a:ext cx="353060" cy="236854"/>
          </a:xfrm>
          <a:prstGeom prst="rect">
            <a:avLst/>
          </a:prstGeom>
        </p:spPr>
        <p:txBody>
          <a:bodyPr wrap="square" lIns="0" tIns="16510" rIns="0" bIns="0" rtlCol="0" vert="horz">
            <a:spAutoFit/>
          </a:bodyPr>
          <a:lstStyle/>
          <a:p>
            <a:pPr marL="12700">
              <a:lnSpc>
                <a:spcPct val="100000"/>
              </a:lnSpc>
              <a:spcBef>
                <a:spcPts val="130"/>
              </a:spcBef>
            </a:pPr>
            <a:r>
              <a:rPr dirty="0" sz="1350" spc="-65" b="1">
                <a:latin typeface="宋体"/>
                <a:cs typeface="宋体"/>
              </a:rPr>
              <a:t>标识</a:t>
            </a:r>
            <a:endParaRPr sz="1350">
              <a:latin typeface="宋体"/>
              <a:cs typeface="宋体"/>
            </a:endParaRPr>
          </a:p>
        </p:txBody>
      </p:sp>
      <p:sp>
        <p:nvSpPr>
          <p:cNvPr id="125" name="object 125" descr=""/>
          <p:cNvSpPr txBox="1"/>
          <p:nvPr/>
        </p:nvSpPr>
        <p:spPr>
          <a:xfrm>
            <a:off x="1602994" y="516290"/>
            <a:ext cx="7493634" cy="1040130"/>
          </a:xfrm>
          <a:prstGeom prst="rect">
            <a:avLst/>
          </a:prstGeom>
        </p:spPr>
        <p:txBody>
          <a:bodyPr wrap="square" lIns="0" tIns="121920" rIns="0" bIns="0" rtlCol="0" vert="horz">
            <a:spAutoFit/>
          </a:bodyPr>
          <a:lstStyle/>
          <a:p>
            <a:pPr marL="12700">
              <a:lnSpc>
                <a:spcPct val="100000"/>
              </a:lnSpc>
              <a:spcBef>
                <a:spcPts val="960"/>
              </a:spcBef>
            </a:pPr>
            <a:r>
              <a:rPr dirty="0" sz="2400">
                <a:solidFill>
                  <a:srgbClr val="40458B"/>
                </a:solidFill>
                <a:latin typeface="黑体"/>
                <a:cs typeface="黑体"/>
              </a:rPr>
              <a:t>4</a:t>
            </a:r>
            <a:r>
              <a:rPr dirty="0" sz="2400" spc="65">
                <a:solidFill>
                  <a:srgbClr val="40458B"/>
                </a:solidFill>
                <a:latin typeface="黑体"/>
                <a:cs typeface="黑体"/>
              </a:rPr>
              <a:t>. </a:t>
            </a:r>
            <a:r>
              <a:rPr dirty="0" sz="2400" spc="-10">
                <a:solidFill>
                  <a:srgbClr val="E14B04"/>
                </a:solidFill>
                <a:latin typeface="黑体"/>
                <a:cs typeface="黑体"/>
              </a:rPr>
              <a:t>基于</a:t>
            </a:r>
            <a:r>
              <a:rPr dirty="0" sz="2400" spc="-10">
                <a:solidFill>
                  <a:srgbClr val="40458B"/>
                </a:solidFill>
                <a:latin typeface="黑体"/>
                <a:cs typeface="黑体"/>
              </a:rPr>
              <a:t>Tomasulo算法</a:t>
            </a:r>
            <a:r>
              <a:rPr dirty="0" sz="2400" spc="-10">
                <a:solidFill>
                  <a:srgbClr val="E14B04"/>
                </a:solidFill>
                <a:latin typeface="黑体"/>
                <a:cs typeface="黑体"/>
              </a:rPr>
              <a:t>的</a:t>
            </a:r>
            <a:r>
              <a:rPr dirty="0" sz="2400" spc="-10">
                <a:solidFill>
                  <a:srgbClr val="40458B"/>
                </a:solidFill>
                <a:latin typeface="黑体"/>
                <a:cs typeface="黑体"/>
              </a:rPr>
              <a:t>MIPS</a:t>
            </a:r>
            <a:r>
              <a:rPr dirty="0" sz="2400" spc="-15">
                <a:solidFill>
                  <a:srgbClr val="E14B04"/>
                </a:solidFill>
                <a:latin typeface="黑体"/>
                <a:cs typeface="黑体"/>
              </a:rPr>
              <a:t>处理器浮点部件的基本结构</a:t>
            </a:r>
            <a:endParaRPr sz="2400">
              <a:latin typeface="黑体"/>
              <a:cs typeface="黑体"/>
            </a:endParaRPr>
          </a:p>
          <a:p>
            <a:pPr algn="ctr" marL="719455">
              <a:lnSpc>
                <a:spcPct val="100000"/>
              </a:lnSpc>
              <a:spcBef>
                <a:spcPts val="530"/>
              </a:spcBef>
            </a:pPr>
            <a:r>
              <a:rPr dirty="0" sz="1350" spc="-85" b="1">
                <a:latin typeface="宋体"/>
                <a:cs typeface="宋体"/>
              </a:rPr>
              <a:t>从指令部件来</a:t>
            </a:r>
            <a:endParaRPr sz="1350">
              <a:latin typeface="宋体"/>
              <a:cs typeface="宋体"/>
            </a:endParaRPr>
          </a:p>
          <a:p>
            <a:pPr marL="1776095">
              <a:lnSpc>
                <a:spcPct val="100000"/>
              </a:lnSpc>
              <a:spcBef>
                <a:spcPts val="175"/>
              </a:spcBef>
            </a:pPr>
            <a:r>
              <a:rPr dirty="0" sz="1600" spc="-30">
                <a:solidFill>
                  <a:srgbClr val="FF0000"/>
                </a:solidFill>
                <a:latin typeface="黑体"/>
                <a:cs typeface="黑体"/>
              </a:rPr>
              <a:t>将指令队列中就</a:t>
            </a:r>
            <a:endParaRPr sz="1600">
              <a:latin typeface="黑体"/>
              <a:cs typeface="黑体"/>
            </a:endParaRPr>
          </a:p>
        </p:txBody>
      </p:sp>
      <p:sp>
        <p:nvSpPr>
          <p:cNvPr id="126" name="object 126" descr=""/>
          <p:cNvSpPr/>
          <p:nvPr/>
        </p:nvSpPr>
        <p:spPr>
          <a:xfrm>
            <a:off x="9802748" y="3544823"/>
            <a:ext cx="76200" cy="431800"/>
          </a:xfrm>
          <a:custGeom>
            <a:avLst/>
            <a:gdLst/>
            <a:ahLst/>
            <a:cxnLst/>
            <a:rect l="l" t="t" r="r" b="b"/>
            <a:pathLst>
              <a:path w="76200" h="431800">
                <a:moveTo>
                  <a:pt x="42925" y="63500"/>
                </a:moveTo>
                <a:lnTo>
                  <a:pt x="33400" y="63500"/>
                </a:lnTo>
                <a:lnTo>
                  <a:pt x="33400" y="431800"/>
                </a:lnTo>
                <a:lnTo>
                  <a:pt x="42925" y="431800"/>
                </a:lnTo>
                <a:lnTo>
                  <a:pt x="42925" y="63500"/>
                </a:lnTo>
                <a:close/>
              </a:path>
              <a:path w="76200" h="431800">
                <a:moveTo>
                  <a:pt x="38100" y="0"/>
                </a:moveTo>
                <a:lnTo>
                  <a:pt x="0" y="76200"/>
                </a:lnTo>
                <a:lnTo>
                  <a:pt x="33400" y="76200"/>
                </a:lnTo>
                <a:lnTo>
                  <a:pt x="33400" y="63500"/>
                </a:lnTo>
                <a:lnTo>
                  <a:pt x="69850" y="63500"/>
                </a:lnTo>
                <a:lnTo>
                  <a:pt x="38100" y="0"/>
                </a:lnTo>
                <a:close/>
              </a:path>
              <a:path w="76200" h="431800">
                <a:moveTo>
                  <a:pt x="69850" y="63500"/>
                </a:moveTo>
                <a:lnTo>
                  <a:pt x="42925" y="63500"/>
                </a:lnTo>
                <a:lnTo>
                  <a:pt x="42925" y="76200"/>
                </a:lnTo>
                <a:lnTo>
                  <a:pt x="76200" y="76200"/>
                </a:lnTo>
                <a:lnTo>
                  <a:pt x="69850" y="63500"/>
                </a:lnTo>
                <a:close/>
              </a:path>
            </a:pathLst>
          </a:custGeom>
          <a:solidFill>
            <a:srgbClr val="FF0000"/>
          </a:solidFill>
        </p:spPr>
        <p:txBody>
          <a:bodyPr wrap="square" lIns="0" tIns="0" rIns="0" bIns="0" rtlCol="0"/>
          <a:lstStyle/>
          <a:p/>
        </p:txBody>
      </p:sp>
      <p:sp>
        <p:nvSpPr>
          <p:cNvPr id="127" name="object 127" descr=""/>
          <p:cNvSpPr txBox="1"/>
          <p:nvPr/>
        </p:nvSpPr>
        <p:spPr>
          <a:xfrm>
            <a:off x="5389626" y="6121095"/>
            <a:ext cx="850265" cy="391160"/>
          </a:xfrm>
          <a:prstGeom prst="rect">
            <a:avLst/>
          </a:prstGeom>
        </p:spPr>
        <p:txBody>
          <a:bodyPr wrap="square" lIns="0" tIns="12700" rIns="0" bIns="0" rtlCol="0" vert="horz">
            <a:spAutoFit/>
          </a:bodyPr>
          <a:lstStyle/>
          <a:p>
            <a:pPr marL="12700">
              <a:lnSpc>
                <a:spcPct val="100000"/>
              </a:lnSpc>
              <a:spcBef>
                <a:spcPts val="100"/>
              </a:spcBef>
            </a:pPr>
            <a:r>
              <a:rPr dirty="0" sz="2400" spc="-229">
                <a:solidFill>
                  <a:srgbClr val="40458B"/>
                </a:solidFill>
                <a:latin typeface="黑体"/>
                <a:cs typeface="黑体"/>
              </a:rPr>
              <a:t>图 </a:t>
            </a:r>
            <a:r>
              <a:rPr dirty="0" sz="2400" spc="-25">
                <a:solidFill>
                  <a:srgbClr val="40458B"/>
                </a:solidFill>
                <a:latin typeface="Tahoma"/>
                <a:cs typeface="Tahoma"/>
              </a:rPr>
              <a:t>5.5</a:t>
            </a:r>
            <a:endParaRPr sz="2400">
              <a:latin typeface="Tahoma"/>
              <a:cs typeface="Tahoma"/>
            </a:endParaRPr>
          </a:p>
        </p:txBody>
      </p:sp>
      <p:sp>
        <p:nvSpPr>
          <p:cNvPr id="128" name="object 128" descr=""/>
          <p:cNvSpPr txBox="1"/>
          <p:nvPr/>
        </p:nvSpPr>
        <p:spPr>
          <a:xfrm>
            <a:off x="3366896" y="1531111"/>
            <a:ext cx="1447165" cy="269240"/>
          </a:xfrm>
          <a:prstGeom prst="rect">
            <a:avLst/>
          </a:prstGeom>
        </p:spPr>
        <p:txBody>
          <a:bodyPr wrap="square" lIns="0" tIns="12065" rIns="0" bIns="0" rtlCol="0" vert="horz">
            <a:spAutoFit/>
          </a:bodyPr>
          <a:lstStyle/>
          <a:p>
            <a:pPr marL="12700">
              <a:lnSpc>
                <a:spcPct val="100000"/>
              </a:lnSpc>
              <a:spcBef>
                <a:spcPts val="95"/>
              </a:spcBef>
            </a:pPr>
            <a:r>
              <a:rPr dirty="0" sz="1600" spc="-30">
                <a:solidFill>
                  <a:srgbClr val="FF0000"/>
                </a:solidFill>
                <a:latin typeface="黑体"/>
                <a:cs typeface="黑体"/>
              </a:rPr>
              <a:t>绪的指令送入功</a:t>
            </a:r>
            <a:endParaRPr sz="1600">
              <a:latin typeface="黑体"/>
              <a:cs typeface="黑体"/>
            </a:endParaRPr>
          </a:p>
        </p:txBody>
      </p:sp>
      <p:sp>
        <p:nvSpPr>
          <p:cNvPr id="129" name="object 129" descr=""/>
          <p:cNvSpPr txBox="1"/>
          <p:nvPr/>
        </p:nvSpPr>
        <p:spPr>
          <a:xfrm>
            <a:off x="3366896" y="1774951"/>
            <a:ext cx="1447165" cy="843280"/>
          </a:xfrm>
          <a:prstGeom prst="rect">
            <a:avLst/>
          </a:prstGeom>
        </p:spPr>
        <p:txBody>
          <a:bodyPr wrap="square" lIns="0" tIns="26034" rIns="0" bIns="0" rtlCol="0" vert="horz">
            <a:spAutoFit/>
          </a:bodyPr>
          <a:lstStyle/>
          <a:p>
            <a:pPr marL="12700" marR="5080">
              <a:lnSpc>
                <a:spcPts val="1860"/>
              </a:lnSpc>
              <a:spcBef>
                <a:spcPts val="204"/>
              </a:spcBef>
            </a:pPr>
            <a:r>
              <a:rPr dirty="0" sz="1600" spc="-30">
                <a:solidFill>
                  <a:srgbClr val="FF0000"/>
                </a:solidFill>
                <a:latin typeface="黑体"/>
                <a:cs typeface="黑体"/>
              </a:rPr>
              <a:t>能单元进行执行</a:t>
            </a:r>
            <a:r>
              <a:rPr dirty="0" sz="1600" spc="-10">
                <a:solidFill>
                  <a:srgbClr val="FF0000"/>
                </a:solidFill>
                <a:latin typeface="黑体"/>
                <a:cs typeface="黑体"/>
              </a:rPr>
              <a:t>的操作</a:t>
            </a:r>
            <a:r>
              <a:rPr dirty="0" sz="1600">
                <a:solidFill>
                  <a:srgbClr val="FF0000"/>
                </a:solidFill>
                <a:latin typeface="Tahoma"/>
                <a:cs typeface="Tahoma"/>
              </a:rPr>
              <a:t>—</a:t>
            </a:r>
            <a:r>
              <a:rPr dirty="0" sz="1600" spc="-30">
                <a:solidFill>
                  <a:srgbClr val="006FC0"/>
                </a:solidFill>
                <a:latin typeface="黑体"/>
                <a:cs typeface="黑体"/>
              </a:rPr>
              <a:t>发射</a:t>
            </a:r>
            <a:endParaRPr sz="1600">
              <a:latin typeface="黑体"/>
              <a:cs typeface="黑体"/>
            </a:endParaRPr>
          </a:p>
          <a:p>
            <a:pPr marL="349250">
              <a:lnSpc>
                <a:spcPct val="100000"/>
              </a:lnSpc>
              <a:spcBef>
                <a:spcPts val="985"/>
              </a:spcBef>
            </a:pPr>
            <a:r>
              <a:rPr dirty="0" sz="1350" spc="-40" b="1">
                <a:latin typeface="Times New Roman"/>
                <a:cs typeface="Times New Roman"/>
              </a:rPr>
              <a:t>load/store</a:t>
            </a:r>
            <a:r>
              <a:rPr dirty="0" sz="1350" spc="-30" b="1">
                <a:latin typeface="Times New Roman"/>
                <a:cs typeface="Times New Roman"/>
              </a:rPr>
              <a:t> </a:t>
            </a:r>
            <a:r>
              <a:rPr dirty="0" sz="1350" spc="-65" b="1">
                <a:latin typeface="宋体"/>
                <a:cs typeface="宋体"/>
              </a:rPr>
              <a:t>操作</a:t>
            </a:r>
            <a:endParaRPr sz="1350">
              <a:latin typeface="宋体"/>
              <a:cs typeface="宋体"/>
            </a:endParaRPr>
          </a:p>
        </p:txBody>
      </p:sp>
      <p:sp>
        <p:nvSpPr>
          <p:cNvPr id="130" name="object 130" descr=""/>
          <p:cNvSpPr txBox="1"/>
          <p:nvPr/>
        </p:nvSpPr>
        <p:spPr>
          <a:xfrm>
            <a:off x="9306559" y="4425188"/>
            <a:ext cx="1650364" cy="269240"/>
          </a:xfrm>
          <a:prstGeom prst="rect">
            <a:avLst/>
          </a:prstGeom>
        </p:spPr>
        <p:txBody>
          <a:bodyPr wrap="square" lIns="0" tIns="12065" rIns="0" bIns="0" rtlCol="0" vert="horz">
            <a:spAutoFit/>
          </a:bodyPr>
          <a:lstStyle/>
          <a:p>
            <a:pPr marL="12700">
              <a:lnSpc>
                <a:spcPct val="100000"/>
              </a:lnSpc>
              <a:spcBef>
                <a:spcPts val="95"/>
              </a:spcBef>
            </a:pPr>
            <a:r>
              <a:rPr dirty="0" sz="1600" spc="-30">
                <a:solidFill>
                  <a:srgbClr val="FF0000"/>
                </a:solidFill>
                <a:latin typeface="黑体"/>
                <a:cs typeface="黑体"/>
              </a:rPr>
              <a:t>乱序执行，预约单</a:t>
            </a:r>
            <a:endParaRPr sz="1600">
              <a:latin typeface="黑体"/>
              <a:cs typeface="黑体"/>
            </a:endParaRPr>
          </a:p>
        </p:txBody>
      </p:sp>
      <p:sp>
        <p:nvSpPr>
          <p:cNvPr id="131" name="object 131" descr=""/>
          <p:cNvSpPr txBox="1"/>
          <p:nvPr/>
        </p:nvSpPr>
        <p:spPr>
          <a:xfrm>
            <a:off x="10416667" y="4967681"/>
            <a:ext cx="1630680" cy="269240"/>
          </a:xfrm>
          <a:prstGeom prst="rect">
            <a:avLst/>
          </a:prstGeom>
        </p:spPr>
        <p:txBody>
          <a:bodyPr wrap="square" lIns="0" tIns="12065" rIns="0" bIns="0" rtlCol="0" vert="horz">
            <a:spAutoFit/>
          </a:bodyPr>
          <a:lstStyle/>
          <a:p>
            <a:pPr marL="12700">
              <a:lnSpc>
                <a:spcPct val="100000"/>
              </a:lnSpc>
              <a:spcBef>
                <a:spcPts val="95"/>
              </a:spcBef>
            </a:pPr>
            <a:r>
              <a:rPr dirty="0" sz="1600" spc="-25">
                <a:solidFill>
                  <a:srgbClr val="FF0000"/>
                </a:solidFill>
                <a:latin typeface="Tahoma"/>
                <a:cs typeface="Tahoma"/>
              </a:rPr>
              <a:t>CDB</a:t>
            </a:r>
            <a:r>
              <a:rPr dirty="0" sz="1600" spc="-20">
                <a:solidFill>
                  <a:srgbClr val="FF0000"/>
                </a:solidFill>
                <a:latin typeface="黑体"/>
                <a:cs typeface="黑体"/>
              </a:rPr>
              <a:t>类比旁路技术</a:t>
            </a:r>
            <a:endParaRPr sz="1600">
              <a:latin typeface="黑体"/>
              <a:cs typeface="黑体"/>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64/175</a:t>
            </a:r>
            <a:endParaRPr sz="1600">
              <a:latin typeface="宋体"/>
              <a:cs typeface="宋体"/>
            </a:endParaRPr>
          </a:p>
        </p:txBody>
      </p:sp>
      <p:grpSp>
        <p:nvGrpSpPr>
          <p:cNvPr id="3" name="object 3" descr=""/>
          <p:cNvGrpSpPr/>
          <p:nvPr/>
        </p:nvGrpSpPr>
        <p:grpSpPr>
          <a:xfrm>
            <a:off x="0" y="131762"/>
            <a:ext cx="12192000" cy="6726555"/>
            <a:chOff x="0" y="131762"/>
            <a:chExt cx="12192000" cy="6726555"/>
          </a:xfrm>
        </p:grpSpPr>
        <p:sp>
          <p:nvSpPr>
            <p:cNvPr id="4" name="object 4" descr=""/>
            <p:cNvSpPr/>
            <p:nvPr/>
          </p:nvSpPr>
          <p:spPr>
            <a:xfrm>
              <a:off x="990599"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pic>
          <p:nvPicPr>
            <p:cNvPr id="9" name="object 9" descr=""/>
            <p:cNvPicPr/>
            <p:nvPr/>
          </p:nvPicPr>
          <p:blipFill>
            <a:blip r:embed="rId2" cstate="print"/>
            <a:stretch>
              <a:fillRect/>
            </a:stretch>
          </p:blipFill>
          <p:spPr>
            <a:xfrm>
              <a:off x="0" y="131762"/>
              <a:ext cx="11988799" cy="6594475"/>
            </a:xfrm>
            <a:prstGeom prst="rect">
              <a:avLst/>
            </a:prstGeom>
          </p:spPr>
        </p:pic>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65/175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646045" y="251840"/>
            <a:ext cx="7345045" cy="391160"/>
          </a:xfrm>
          <a:prstGeom prst="rect"/>
        </p:spPr>
        <p:txBody>
          <a:bodyPr wrap="square" lIns="0" tIns="12700" rIns="0" bIns="0" rtlCol="0" vert="horz">
            <a:spAutoFit/>
          </a:bodyPr>
          <a:lstStyle/>
          <a:p>
            <a:pPr marL="12700">
              <a:lnSpc>
                <a:spcPct val="100000"/>
              </a:lnSpc>
              <a:spcBef>
                <a:spcPts val="100"/>
              </a:spcBef>
            </a:pPr>
            <a:r>
              <a:rPr dirty="0" sz="2400">
                <a:solidFill>
                  <a:srgbClr val="E14B04"/>
                </a:solidFill>
              </a:rPr>
              <a:t>4.基于</a:t>
            </a:r>
            <a:r>
              <a:rPr dirty="0" sz="2400">
                <a:solidFill>
                  <a:srgbClr val="40458B"/>
                </a:solidFill>
              </a:rPr>
              <a:t>Tomasulo算法</a:t>
            </a:r>
            <a:r>
              <a:rPr dirty="0" sz="2400">
                <a:solidFill>
                  <a:srgbClr val="E14B04"/>
                </a:solidFill>
              </a:rPr>
              <a:t>的</a:t>
            </a:r>
            <a:r>
              <a:rPr dirty="0" sz="2400">
                <a:solidFill>
                  <a:srgbClr val="40458B"/>
                </a:solidFill>
              </a:rPr>
              <a:t>MIPS</a:t>
            </a:r>
            <a:r>
              <a:rPr dirty="0" sz="2400" spc="-5">
                <a:solidFill>
                  <a:srgbClr val="E14B04"/>
                </a:solidFill>
              </a:rPr>
              <a:t>处理器浮点部件的基本结构</a:t>
            </a:r>
            <a:endParaRPr sz="2400"/>
          </a:p>
        </p:txBody>
      </p:sp>
      <p:sp>
        <p:nvSpPr>
          <p:cNvPr id="10" name="object 10" descr=""/>
          <p:cNvSpPr txBox="1"/>
          <p:nvPr/>
        </p:nvSpPr>
        <p:spPr>
          <a:xfrm>
            <a:off x="2279650" y="1143063"/>
            <a:ext cx="1440180" cy="462280"/>
          </a:xfrm>
          <a:prstGeom prst="rect">
            <a:avLst/>
          </a:prstGeom>
          <a:solidFill>
            <a:srgbClr val="D4D6EB"/>
          </a:solidFill>
          <a:ln w="9525">
            <a:solidFill>
              <a:srgbClr val="40458B"/>
            </a:solidFill>
          </a:ln>
        </p:spPr>
        <p:txBody>
          <a:bodyPr wrap="square" lIns="0" tIns="45720" rIns="0" bIns="0" rtlCol="0" vert="horz">
            <a:spAutoFit/>
          </a:bodyPr>
          <a:lstStyle/>
          <a:p>
            <a:pPr marL="91440">
              <a:lnSpc>
                <a:spcPct val="100000"/>
              </a:lnSpc>
              <a:spcBef>
                <a:spcPts val="360"/>
              </a:spcBef>
            </a:pPr>
            <a:r>
              <a:rPr dirty="0" sz="2400" spc="-15">
                <a:solidFill>
                  <a:srgbClr val="40458B"/>
                </a:solidFill>
                <a:latin typeface="黑体"/>
                <a:cs typeface="黑体"/>
              </a:rPr>
              <a:t>指令发射</a:t>
            </a:r>
            <a:endParaRPr sz="2400">
              <a:latin typeface="黑体"/>
              <a:cs typeface="黑体"/>
            </a:endParaRPr>
          </a:p>
        </p:txBody>
      </p:sp>
      <p:grpSp>
        <p:nvGrpSpPr>
          <p:cNvPr id="11" name="object 11" descr=""/>
          <p:cNvGrpSpPr/>
          <p:nvPr/>
        </p:nvGrpSpPr>
        <p:grpSpPr>
          <a:xfrm>
            <a:off x="2162238" y="1605025"/>
            <a:ext cx="1736725" cy="2286000"/>
            <a:chOff x="2162238" y="1605025"/>
            <a:chExt cx="1736725" cy="2286000"/>
          </a:xfrm>
        </p:grpSpPr>
        <p:sp>
          <p:nvSpPr>
            <p:cNvPr id="12" name="object 12" descr=""/>
            <p:cNvSpPr/>
            <p:nvPr/>
          </p:nvSpPr>
          <p:spPr>
            <a:xfrm>
              <a:off x="2962275" y="1605025"/>
              <a:ext cx="76200" cy="600075"/>
            </a:xfrm>
            <a:custGeom>
              <a:avLst/>
              <a:gdLst/>
              <a:ahLst/>
              <a:cxnLst/>
              <a:rect l="l" t="t" r="r" b="b"/>
              <a:pathLst>
                <a:path w="76200" h="600075">
                  <a:moveTo>
                    <a:pt x="33397" y="523748"/>
                  </a:moveTo>
                  <a:lnTo>
                    <a:pt x="0" y="523748"/>
                  </a:lnTo>
                  <a:lnTo>
                    <a:pt x="38100" y="599948"/>
                  </a:lnTo>
                  <a:lnTo>
                    <a:pt x="69850" y="536448"/>
                  </a:lnTo>
                  <a:lnTo>
                    <a:pt x="33400" y="536448"/>
                  </a:lnTo>
                  <a:lnTo>
                    <a:pt x="33397" y="523748"/>
                  </a:lnTo>
                  <a:close/>
                </a:path>
                <a:path w="76200" h="600075">
                  <a:moveTo>
                    <a:pt x="42799" y="0"/>
                  </a:moveTo>
                  <a:lnTo>
                    <a:pt x="33274" y="0"/>
                  </a:lnTo>
                  <a:lnTo>
                    <a:pt x="33400" y="536448"/>
                  </a:lnTo>
                  <a:lnTo>
                    <a:pt x="42925" y="536448"/>
                  </a:lnTo>
                  <a:lnTo>
                    <a:pt x="42799" y="0"/>
                  </a:lnTo>
                  <a:close/>
                </a:path>
                <a:path w="76200" h="600075">
                  <a:moveTo>
                    <a:pt x="76200" y="523748"/>
                  </a:moveTo>
                  <a:lnTo>
                    <a:pt x="42922" y="523748"/>
                  </a:lnTo>
                  <a:lnTo>
                    <a:pt x="42925" y="536448"/>
                  </a:lnTo>
                  <a:lnTo>
                    <a:pt x="69850" y="536448"/>
                  </a:lnTo>
                  <a:lnTo>
                    <a:pt x="76200" y="523748"/>
                  </a:lnTo>
                  <a:close/>
                </a:path>
              </a:pathLst>
            </a:custGeom>
            <a:solidFill>
              <a:srgbClr val="40458B"/>
            </a:solidFill>
          </p:spPr>
          <p:txBody>
            <a:bodyPr wrap="square" lIns="0" tIns="0" rIns="0" bIns="0" rtlCol="0"/>
            <a:lstStyle/>
            <a:p/>
          </p:txBody>
        </p:sp>
        <p:sp>
          <p:nvSpPr>
            <p:cNvPr id="13" name="object 13" descr=""/>
            <p:cNvSpPr/>
            <p:nvPr/>
          </p:nvSpPr>
          <p:spPr>
            <a:xfrm>
              <a:off x="2167001" y="2184399"/>
              <a:ext cx="1727200" cy="1085850"/>
            </a:xfrm>
            <a:custGeom>
              <a:avLst/>
              <a:gdLst/>
              <a:ahLst/>
              <a:cxnLst/>
              <a:rect l="l" t="t" r="r" b="b"/>
              <a:pathLst>
                <a:path w="1727200" h="1085850">
                  <a:moveTo>
                    <a:pt x="863600" y="0"/>
                  </a:moveTo>
                  <a:lnTo>
                    <a:pt x="0" y="542925"/>
                  </a:lnTo>
                  <a:lnTo>
                    <a:pt x="863600" y="1085850"/>
                  </a:lnTo>
                  <a:lnTo>
                    <a:pt x="1727200" y="542925"/>
                  </a:lnTo>
                  <a:lnTo>
                    <a:pt x="863600" y="0"/>
                  </a:lnTo>
                  <a:close/>
                </a:path>
              </a:pathLst>
            </a:custGeom>
            <a:solidFill>
              <a:srgbClr val="EBD782"/>
            </a:solidFill>
          </p:spPr>
          <p:txBody>
            <a:bodyPr wrap="square" lIns="0" tIns="0" rIns="0" bIns="0" rtlCol="0"/>
            <a:lstStyle/>
            <a:p/>
          </p:txBody>
        </p:sp>
        <p:sp>
          <p:nvSpPr>
            <p:cNvPr id="14" name="object 14" descr=""/>
            <p:cNvSpPr/>
            <p:nvPr/>
          </p:nvSpPr>
          <p:spPr>
            <a:xfrm>
              <a:off x="2167001" y="2184399"/>
              <a:ext cx="1727200" cy="1085850"/>
            </a:xfrm>
            <a:custGeom>
              <a:avLst/>
              <a:gdLst/>
              <a:ahLst/>
              <a:cxnLst/>
              <a:rect l="l" t="t" r="r" b="b"/>
              <a:pathLst>
                <a:path w="1727200" h="1085850">
                  <a:moveTo>
                    <a:pt x="0" y="542925"/>
                  </a:moveTo>
                  <a:lnTo>
                    <a:pt x="863600" y="0"/>
                  </a:lnTo>
                  <a:lnTo>
                    <a:pt x="1727200" y="542925"/>
                  </a:lnTo>
                  <a:lnTo>
                    <a:pt x="863600" y="1085850"/>
                  </a:lnTo>
                  <a:lnTo>
                    <a:pt x="0" y="542925"/>
                  </a:lnTo>
                  <a:close/>
                </a:path>
              </a:pathLst>
            </a:custGeom>
            <a:ln w="9525">
              <a:solidFill>
                <a:srgbClr val="40458B"/>
              </a:solidFill>
            </a:ln>
          </p:spPr>
          <p:txBody>
            <a:bodyPr wrap="square" lIns="0" tIns="0" rIns="0" bIns="0" rtlCol="0"/>
            <a:lstStyle/>
            <a:p/>
          </p:txBody>
        </p:sp>
        <p:sp>
          <p:nvSpPr>
            <p:cNvPr id="15" name="object 15" descr=""/>
            <p:cNvSpPr/>
            <p:nvPr/>
          </p:nvSpPr>
          <p:spPr>
            <a:xfrm>
              <a:off x="2962275" y="3290824"/>
              <a:ext cx="76200" cy="600075"/>
            </a:xfrm>
            <a:custGeom>
              <a:avLst/>
              <a:gdLst/>
              <a:ahLst/>
              <a:cxnLst/>
              <a:rect l="l" t="t" r="r" b="b"/>
              <a:pathLst>
                <a:path w="76200" h="600075">
                  <a:moveTo>
                    <a:pt x="33397" y="523875"/>
                  </a:moveTo>
                  <a:lnTo>
                    <a:pt x="0" y="523875"/>
                  </a:lnTo>
                  <a:lnTo>
                    <a:pt x="38100" y="600075"/>
                  </a:lnTo>
                  <a:lnTo>
                    <a:pt x="69850" y="536575"/>
                  </a:lnTo>
                  <a:lnTo>
                    <a:pt x="33400" y="536575"/>
                  </a:lnTo>
                  <a:lnTo>
                    <a:pt x="33397" y="523875"/>
                  </a:lnTo>
                  <a:close/>
                </a:path>
                <a:path w="76200" h="600075">
                  <a:moveTo>
                    <a:pt x="42799" y="0"/>
                  </a:moveTo>
                  <a:lnTo>
                    <a:pt x="33274" y="0"/>
                  </a:lnTo>
                  <a:lnTo>
                    <a:pt x="33400" y="536575"/>
                  </a:lnTo>
                  <a:lnTo>
                    <a:pt x="42925" y="536575"/>
                  </a:lnTo>
                  <a:lnTo>
                    <a:pt x="42799" y="0"/>
                  </a:lnTo>
                  <a:close/>
                </a:path>
                <a:path w="76200" h="600075">
                  <a:moveTo>
                    <a:pt x="76200" y="523875"/>
                  </a:moveTo>
                  <a:lnTo>
                    <a:pt x="42922" y="523875"/>
                  </a:lnTo>
                  <a:lnTo>
                    <a:pt x="42925" y="536575"/>
                  </a:lnTo>
                  <a:lnTo>
                    <a:pt x="69850" y="536575"/>
                  </a:lnTo>
                  <a:lnTo>
                    <a:pt x="76200" y="523875"/>
                  </a:lnTo>
                  <a:close/>
                </a:path>
              </a:pathLst>
            </a:custGeom>
            <a:solidFill>
              <a:srgbClr val="40458B"/>
            </a:solidFill>
          </p:spPr>
          <p:txBody>
            <a:bodyPr wrap="square" lIns="0" tIns="0" rIns="0" bIns="0" rtlCol="0"/>
            <a:lstStyle/>
            <a:p/>
          </p:txBody>
        </p:sp>
      </p:grpSp>
      <p:sp>
        <p:nvSpPr>
          <p:cNvPr id="16" name="object 16" descr=""/>
          <p:cNvSpPr txBox="1"/>
          <p:nvPr/>
        </p:nvSpPr>
        <p:spPr>
          <a:xfrm>
            <a:off x="2677795" y="2489149"/>
            <a:ext cx="939800" cy="1210945"/>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黑体"/>
                <a:cs typeface="黑体"/>
              </a:rPr>
              <a:t>保留站</a:t>
            </a:r>
            <a:endParaRPr sz="2400">
              <a:latin typeface="黑体"/>
              <a:cs typeface="黑体"/>
            </a:endParaRPr>
          </a:p>
          <a:p>
            <a:pPr marL="12700">
              <a:lnSpc>
                <a:spcPct val="100000"/>
              </a:lnSpc>
              <a:spcBef>
                <a:spcPts val="5"/>
              </a:spcBef>
            </a:pPr>
            <a:r>
              <a:rPr dirty="0" sz="2400" spc="-20">
                <a:solidFill>
                  <a:srgbClr val="40458B"/>
                </a:solidFill>
                <a:latin typeface="黑体"/>
                <a:cs typeface="黑体"/>
              </a:rPr>
              <a:t>空闲？</a:t>
            </a:r>
            <a:endParaRPr sz="2400">
              <a:latin typeface="黑体"/>
              <a:cs typeface="黑体"/>
            </a:endParaRPr>
          </a:p>
          <a:p>
            <a:pPr algn="ctr" marL="85090">
              <a:lnSpc>
                <a:spcPct val="100000"/>
              </a:lnSpc>
              <a:spcBef>
                <a:spcPts val="1650"/>
              </a:spcBef>
            </a:pPr>
            <a:r>
              <a:rPr dirty="0" sz="1600" spc="-50">
                <a:solidFill>
                  <a:srgbClr val="40458B"/>
                </a:solidFill>
                <a:latin typeface="黑体"/>
                <a:cs typeface="黑体"/>
              </a:rPr>
              <a:t>是</a:t>
            </a:r>
            <a:endParaRPr sz="1600">
              <a:latin typeface="黑体"/>
              <a:cs typeface="黑体"/>
            </a:endParaRPr>
          </a:p>
        </p:txBody>
      </p:sp>
      <p:sp>
        <p:nvSpPr>
          <p:cNvPr id="17" name="object 17" descr=""/>
          <p:cNvSpPr txBox="1"/>
          <p:nvPr/>
        </p:nvSpPr>
        <p:spPr>
          <a:xfrm>
            <a:off x="2186051" y="3890962"/>
            <a:ext cx="1622425" cy="462280"/>
          </a:xfrm>
          <a:prstGeom prst="rect">
            <a:avLst/>
          </a:prstGeom>
          <a:solidFill>
            <a:srgbClr val="D4D6EB"/>
          </a:solidFill>
          <a:ln w="9525">
            <a:solidFill>
              <a:srgbClr val="40458B"/>
            </a:solidFill>
          </a:ln>
        </p:spPr>
        <p:txBody>
          <a:bodyPr wrap="square" lIns="0" tIns="46355" rIns="0" bIns="0" rtlCol="0" vert="horz">
            <a:spAutoFit/>
          </a:bodyPr>
          <a:lstStyle/>
          <a:p>
            <a:pPr marL="91440">
              <a:lnSpc>
                <a:spcPct val="100000"/>
              </a:lnSpc>
              <a:spcBef>
                <a:spcPts val="365"/>
              </a:spcBef>
            </a:pPr>
            <a:r>
              <a:rPr dirty="0" sz="2400" spc="-10">
                <a:solidFill>
                  <a:srgbClr val="40458B"/>
                </a:solidFill>
                <a:latin typeface="黑体"/>
                <a:cs typeface="黑体"/>
              </a:rPr>
              <a:t>分配保留站</a:t>
            </a:r>
            <a:endParaRPr sz="2400">
              <a:latin typeface="黑体"/>
              <a:cs typeface="黑体"/>
            </a:endParaRPr>
          </a:p>
        </p:txBody>
      </p:sp>
      <p:grpSp>
        <p:nvGrpSpPr>
          <p:cNvPr id="18" name="object 18" descr=""/>
          <p:cNvGrpSpPr/>
          <p:nvPr/>
        </p:nvGrpSpPr>
        <p:grpSpPr>
          <a:xfrm>
            <a:off x="3873563" y="2776537"/>
            <a:ext cx="605155" cy="319405"/>
            <a:chOff x="3873563" y="2776537"/>
            <a:chExt cx="605155" cy="319405"/>
          </a:xfrm>
        </p:grpSpPr>
        <p:sp>
          <p:nvSpPr>
            <p:cNvPr id="19" name="object 19" descr=""/>
            <p:cNvSpPr/>
            <p:nvPr/>
          </p:nvSpPr>
          <p:spPr>
            <a:xfrm>
              <a:off x="4402201" y="2781300"/>
              <a:ext cx="76200" cy="314325"/>
            </a:xfrm>
            <a:custGeom>
              <a:avLst/>
              <a:gdLst/>
              <a:ahLst/>
              <a:cxnLst/>
              <a:rect l="l" t="t" r="r" b="b"/>
              <a:pathLst>
                <a:path w="76200" h="314325">
                  <a:moveTo>
                    <a:pt x="33274" y="238125"/>
                  </a:moveTo>
                  <a:lnTo>
                    <a:pt x="0" y="238125"/>
                  </a:lnTo>
                  <a:lnTo>
                    <a:pt x="38100" y="314325"/>
                  </a:lnTo>
                  <a:lnTo>
                    <a:pt x="69850" y="250825"/>
                  </a:lnTo>
                  <a:lnTo>
                    <a:pt x="33274" y="250825"/>
                  </a:lnTo>
                  <a:lnTo>
                    <a:pt x="33274" y="238125"/>
                  </a:lnTo>
                  <a:close/>
                </a:path>
                <a:path w="76200" h="314325">
                  <a:moveTo>
                    <a:pt x="42799" y="0"/>
                  </a:moveTo>
                  <a:lnTo>
                    <a:pt x="33274" y="0"/>
                  </a:lnTo>
                  <a:lnTo>
                    <a:pt x="33274" y="250825"/>
                  </a:lnTo>
                  <a:lnTo>
                    <a:pt x="42799" y="250825"/>
                  </a:lnTo>
                  <a:lnTo>
                    <a:pt x="42799" y="0"/>
                  </a:lnTo>
                  <a:close/>
                </a:path>
                <a:path w="76200" h="314325">
                  <a:moveTo>
                    <a:pt x="76200" y="238125"/>
                  </a:moveTo>
                  <a:lnTo>
                    <a:pt x="42799" y="238125"/>
                  </a:lnTo>
                  <a:lnTo>
                    <a:pt x="42799" y="250825"/>
                  </a:lnTo>
                  <a:lnTo>
                    <a:pt x="69850" y="250825"/>
                  </a:lnTo>
                  <a:lnTo>
                    <a:pt x="76200" y="238125"/>
                  </a:lnTo>
                  <a:close/>
                </a:path>
              </a:pathLst>
            </a:custGeom>
            <a:solidFill>
              <a:srgbClr val="40458B"/>
            </a:solidFill>
          </p:spPr>
          <p:txBody>
            <a:bodyPr wrap="square" lIns="0" tIns="0" rIns="0" bIns="0" rtlCol="0"/>
            <a:lstStyle/>
            <a:p/>
          </p:txBody>
        </p:sp>
        <p:sp>
          <p:nvSpPr>
            <p:cNvPr id="20" name="object 20" descr=""/>
            <p:cNvSpPr/>
            <p:nvPr/>
          </p:nvSpPr>
          <p:spPr>
            <a:xfrm>
              <a:off x="3878326" y="2781300"/>
              <a:ext cx="577850" cy="0"/>
            </a:xfrm>
            <a:custGeom>
              <a:avLst/>
              <a:gdLst/>
              <a:ahLst/>
              <a:cxnLst/>
              <a:rect l="l" t="t" r="r" b="b"/>
              <a:pathLst>
                <a:path w="577850" h="0">
                  <a:moveTo>
                    <a:pt x="0" y="0"/>
                  </a:moveTo>
                  <a:lnTo>
                    <a:pt x="577850" y="0"/>
                  </a:lnTo>
                </a:path>
              </a:pathLst>
            </a:custGeom>
            <a:ln w="9525">
              <a:solidFill>
                <a:srgbClr val="40458B"/>
              </a:solidFill>
            </a:ln>
          </p:spPr>
          <p:txBody>
            <a:bodyPr wrap="square" lIns="0" tIns="0" rIns="0" bIns="0" rtlCol="0"/>
            <a:lstStyle/>
            <a:p/>
          </p:txBody>
        </p:sp>
      </p:grpSp>
      <p:sp>
        <p:nvSpPr>
          <p:cNvPr id="21" name="object 21" descr=""/>
          <p:cNvSpPr txBox="1"/>
          <p:nvPr/>
        </p:nvSpPr>
        <p:spPr>
          <a:xfrm>
            <a:off x="3943350" y="2311654"/>
            <a:ext cx="22860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40458B"/>
                </a:solidFill>
                <a:latin typeface="黑体"/>
                <a:cs typeface="黑体"/>
              </a:rPr>
              <a:t>否</a:t>
            </a:r>
            <a:endParaRPr sz="1600">
              <a:latin typeface="黑体"/>
              <a:cs typeface="黑体"/>
            </a:endParaRPr>
          </a:p>
        </p:txBody>
      </p:sp>
      <p:sp>
        <p:nvSpPr>
          <p:cNvPr id="22" name="object 22" descr=""/>
          <p:cNvSpPr txBox="1"/>
          <p:nvPr/>
        </p:nvSpPr>
        <p:spPr>
          <a:xfrm>
            <a:off x="3886200" y="3149663"/>
            <a:ext cx="1152525" cy="462280"/>
          </a:xfrm>
          <a:prstGeom prst="rect">
            <a:avLst/>
          </a:prstGeom>
          <a:solidFill>
            <a:srgbClr val="D4D6EB"/>
          </a:solidFill>
          <a:ln w="9525">
            <a:solidFill>
              <a:srgbClr val="40458B"/>
            </a:solidFill>
          </a:ln>
        </p:spPr>
        <p:txBody>
          <a:bodyPr wrap="square" lIns="0" tIns="46355" rIns="0" bIns="0" rtlCol="0" vert="horz">
            <a:spAutoFit/>
          </a:bodyPr>
          <a:lstStyle/>
          <a:p>
            <a:pPr marL="282575">
              <a:lnSpc>
                <a:spcPct val="100000"/>
              </a:lnSpc>
              <a:spcBef>
                <a:spcPts val="365"/>
              </a:spcBef>
            </a:pPr>
            <a:r>
              <a:rPr dirty="0" sz="2400" spc="-25">
                <a:solidFill>
                  <a:srgbClr val="40458B"/>
                </a:solidFill>
                <a:latin typeface="黑体"/>
                <a:cs typeface="黑体"/>
              </a:rPr>
              <a:t>等待</a:t>
            </a:r>
            <a:endParaRPr sz="2400">
              <a:latin typeface="黑体"/>
              <a:cs typeface="黑体"/>
            </a:endParaRPr>
          </a:p>
        </p:txBody>
      </p:sp>
      <p:sp>
        <p:nvSpPr>
          <p:cNvPr id="23" name="object 23" descr=""/>
          <p:cNvSpPr/>
          <p:nvPr/>
        </p:nvSpPr>
        <p:spPr>
          <a:xfrm>
            <a:off x="3603625" y="2980435"/>
            <a:ext cx="407034" cy="180340"/>
          </a:xfrm>
          <a:custGeom>
            <a:avLst/>
            <a:gdLst/>
            <a:ahLst/>
            <a:cxnLst/>
            <a:rect l="l" t="t" r="r" b="b"/>
            <a:pathLst>
              <a:path w="407035" h="180339">
                <a:moveTo>
                  <a:pt x="72096" y="30667"/>
                </a:moveTo>
                <a:lnTo>
                  <a:pt x="68374" y="39541"/>
                </a:lnTo>
                <a:lnTo>
                  <a:pt x="402971" y="179959"/>
                </a:lnTo>
                <a:lnTo>
                  <a:pt x="406653" y="171068"/>
                </a:lnTo>
                <a:lnTo>
                  <a:pt x="72096" y="30667"/>
                </a:lnTo>
                <a:close/>
              </a:path>
              <a:path w="407035" h="180339">
                <a:moveTo>
                  <a:pt x="84962" y="0"/>
                </a:moveTo>
                <a:lnTo>
                  <a:pt x="0" y="5587"/>
                </a:lnTo>
                <a:lnTo>
                  <a:pt x="55499" y="70230"/>
                </a:lnTo>
                <a:lnTo>
                  <a:pt x="68374" y="39541"/>
                </a:lnTo>
                <a:lnTo>
                  <a:pt x="56769" y="34671"/>
                </a:lnTo>
                <a:lnTo>
                  <a:pt x="60451" y="25780"/>
                </a:lnTo>
                <a:lnTo>
                  <a:pt x="74147" y="25780"/>
                </a:lnTo>
                <a:lnTo>
                  <a:pt x="84962" y="0"/>
                </a:lnTo>
                <a:close/>
              </a:path>
              <a:path w="407035" h="180339">
                <a:moveTo>
                  <a:pt x="60451" y="25780"/>
                </a:moveTo>
                <a:lnTo>
                  <a:pt x="56769" y="34671"/>
                </a:lnTo>
                <a:lnTo>
                  <a:pt x="68374" y="39541"/>
                </a:lnTo>
                <a:lnTo>
                  <a:pt x="72096" y="30667"/>
                </a:lnTo>
                <a:lnTo>
                  <a:pt x="60451" y="25780"/>
                </a:lnTo>
                <a:close/>
              </a:path>
              <a:path w="407035" h="180339">
                <a:moveTo>
                  <a:pt x="74147" y="25780"/>
                </a:moveTo>
                <a:lnTo>
                  <a:pt x="60451" y="25780"/>
                </a:lnTo>
                <a:lnTo>
                  <a:pt x="72096" y="30667"/>
                </a:lnTo>
                <a:lnTo>
                  <a:pt x="74147" y="25780"/>
                </a:lnTo>
                <a:close/>
              </a:path>
            </a:pathLst>
          </a:custGeom>
          <a:solidFill>
            <a:srgbClr val="40458B"/>
          </a:solidFill>
        </p:spPr>
        <p:txBody>
          <a:bodyPr wrap="square" lIns="0" tIns="0" rIns="0" bIns="0" rtlCol="0"/>
          <a:lstStyle/>
          <a:p/>
        </p:txBody>
      </p:sp>
      <p:grpSp>
        <p:nvGrpSpPr>
          <p:cNvPr id="24" name="object 24" descr=""/>
          <p:cNvGrpSpPr/>
          <p:nvPr/>
        </p:nvGrpSpPr>
        <p:grpSpPr>
          <a:xfrm>
            <a:off x="2146363" y="4894262"/>
            <a:ext cx="1738630" cy="1095375"/>
            <a:chOff x="2146363" y="4894262"/>
            <a:chExt cx="1738630" cy="1095375"/>
          </a:xfrm>
        </p:grpSpPr>
        <p:sp>
          <p:nvSpPr>
            <p:cNvPr id="25" name="object 25" descr=""/>
            <p:cNvSpPr/>
            <p:nvPr/>
          </p:nvSpPr>
          <p:spPr>
            <a:xfrm>
              <a:off x="2151126" y="4899025"/>
              <a:ext cx="1729105" cy="1085850"/>
            </a:xfrm>
            <a:custGeom>
              <a:avLst/>
              <a:gdLst/>
              <a:ahLst/>
              <a:cxnLst/>
              <a:rect l="l" t="t" r="r" b="b"/>
              <a:pathLst>
                <a:path w="1729104" h="1085850">
                  <a:moveTo>
                    <a:pt x="864362" y="0"/>
                  </a:moveTo>
                  <a:lnTo>
                    <a:pt x="0" y="542925"/>
                  </a:lnTo>
                  <a:lnTo>
                    <a:pt x="864362" y="1085850"/>
                  </a:lnTo>
                  <a:lnTo>
                    <a:pt x="1728724" y="542925"/>
                  </a:lnTo>
                  <a:lnTo>
                    <a:pt x="864362" y="0"/>
                  </a:lnTo>
                  <a:close/>
                </a:path>
              </a:pathLst>
            </a:custGeom>
            <a:solidFill>
              <a:srgbClr val="EBD782"/>
            </a:solidFill>
          </p:spPr>
          <p:txBody>
            <a:bodyPr wrap="square" lIns="0" tIns="0" rIns="0" bIns="0" rtlCol="0"/>
            <a:lstStyle/>
            <a:p/>
          </p:txBody>
        </p:sp>
        <p:sp>
          <p:nvSpPr>
            <p:cNvPr id="26" name="object 26" descr=""/>
            <p:cNvSpPr/>
            <p:nvPr/>
          </p:nvSpPr>
          <p:spPr>
            <a:xfrm>
              <a:off x="2151126" y="4899025"/>
              <a:ext cx="1729105" cy="1085850"/>
            </a:xfrm>
            <a:custGeom>
              <a:avLst/>
              <a:gdLst/>
              <a:ahLst/>
              <a:cxnLst/>
              <a:rect l="l" t="t" r="r" b="b"/>
              <a:pathLst>
                <a:path w="1729104" h="1085850">
                  <a:moveTo>
                    <a:pt x="0" y="542925"/>
                  </a:moveTo>
                  <a:lnTo>
                    <a:pt x="864362" y="0"/>
                  </a:lnTo>
                  <a:lnTo>
                    <a:pt x="1728724" y="542925"/>
                  </a:lnTo>
                  <a:lnTo>
                    <a:pt x="864362" y="1085850"/>
                  </a:lnTo>
                  <a:lnTo>
                    <a:pt x="0" y="542925"/>
                  </a:lnTo>
                  <a:close/>
                </a:path>
              </a:pathLst>
            </a:custGeom>
            <a:ln w="9525">
              <a:solidFill>
                <a:srgbClr val="40458B"/>
              </a:solidFill>
            </a:ln>
          </p:spPr>
          <p:txBody>
            <a:bodyPr wrap="square" lIns="0" tIns="0" rIns="0" bIns="0" rtlCol="0"/>
            <a:lstStyle/>
            <a:p/>
          </p:txBody>
        </p:sp>
      </p:grpSp>
      <p:sp>
        <p:nvSpPr>
          <p:cNvPr id="27" name="object 27" descr=""/>
          <p:cNvSpPr txBox="1"/>
          <p:nvPr/>
        </p:nvSpPr>
        <p:spPr>
          <a:xfrm>
            <a:off x="2662173" y="5204841"/>
            <a:ext cx="1043940" cy="635635"/>
          </a:xfrm>
          <a:prstGeom prst="rect">
            <a:avLst/>
          </a:prstGeom>
        </p:spPr>
        <p:txBody>
          <a:bodyPr wrap="square" lIns="0" tIns="12700" rIns="0" bIns="0" rtlCol="0" vert="horz">
            <a:spAutoFit/>
          </a:bodyPr>
          <a:lstStyle/>
          <a:p>
            <a:pPr marL="12700" marR="5080">
              <a:lnSpc>
                <a:spcPct val="100000"/>
              </a:lnSpc>
              <a:spcBef>
                <a:spcPts val="100"/>
              </a:spcBef>
            </a:pPr>
            <a:r>
              <a:rPr dirty="0" sz="2000" spc="-15">
                <a:solidFill>
                  <a:srgbClr val="40458B"/>
                </a:solidFill>
                <a:latin typeface="黑体"/>
                <a:cs typeface="黑体"/>
              </a:rPr>
              <a:t>所有操作数就绪？</a:t>
            </a:r>
            <a:endParaRPr sz="2000">
              <a:latin typeface="黑体"/>
              <a:cs typeface="黑体"/>
            </a:endParaRPr>
          </a:p>
        </p:txBody>
      </p:sp>
      <p:grpSp>
        <p:nvGrpSpPr>
          <p:cNvPr id="28" name="object 28" descr=""/>
          <p:cNvGrpSpPr/>
          <p:nvPr/>
        </p:nvGrpSpPr>
        <p:grpSpPr>
          <a:xfrm>
            <a:off x="5299138" y="760412"/>
            <a:ext cx="4181475" cy="3305175"/>
            <a:chOff x="5299138" y="760412"/>
            <a:chExt cx="4181475" cy="3305175"/>
          </a:xfrm>
        </p:grpSpPr>
        <p:sp>
          <p:nvSpPr>
            <p:cNvPr id="29" name="object 29" descr=""/>
            <p:cNvSpPr/>
            <p:nvPr/>
          </p:nvSpPr>
          <p:spPr>
            <a:xfrm>
              <a:off x="5303901" y="1058799"/>
              <a:ext cx="0" cy="3002280"/>
            </a:xfrm>
            <a:custGeom>
              <a:avLst/>
              <a:gdLst/>
              <a:ahLst/>
              <a:cxnLst/>
              <a:rect l="l" t="t" r="r" b="b"/>
              <a:pathLst>
                <a:path w="0" h="3002279">
                  <a:moveTo>
                    <a:pt x="0" y="3002026"/>
                  </a:moveTo>
                  <a:lnTo>
                    <a:pt x="0" y="0"/>
                  </a:lnTo>
                </a:path>
              </a:pathLst>
            </a:custGeom>
            <a:ln w="9525">
              <a:solidFill>
                <a:srgbClr val="40458B"/>
              </a:solidFill>
            </a:ln>
          </p:spPr>
          <p:txBody>
            <a:bodyPr wrap="square" lIns="0" tIns="0" rIns="0" bIns="0" rtlCol="0"/>
            <a:lstStyle/>
            <a:p/>
          </p:txBody>
        </p:sp>
        <p:sp>
          <p:nvSpPr>
            <p:cNvPr id="30" name="object 30" descr=""/>
            <p:cNvSpPr/>
            <p:nvPr/>
          </p:nvSpPr>
          <p:spPr>
            <a:xfrm>
              <a:off x="5303774" y="1054100"/>
              <a:ext cx="2554605" cy="84455"/>
            </a:xfrm>
            <a:custGeom>
              <a:avLst/>
              <a:gdLst/>
              <a:ahLst/>
              <a:cxnLst/>
              <a:rect l="l" t="t" r="r" b="b"/>
              <a:pathLst>
                <a:path w="2554604" h="84455">
                  <a:moveTo>
                    <a:pt x="2478785" y="8254"/>
                  </a:moveTo>
                  <a:lnTo>
                    <a:pt x="2478230" y="41569"/>
                  </a:lnTo>
                  <a:lnTo>
                    <a:pt x="2490978" y="41783"/>
                  </a:lnTo>
                  <a:lnTo>
                    <a:pt x="2490822" y="47625"/>
                  </a:lnTo>
                  <a:lnTo>
                    <a:pt x="2490724" y="51308"/>
                  </a:lnTo>
                  <a:lnTo>
                    <a:pt x="2478068" y="51308"/>
                  </a:lnTo>
                  <a:lnTo>
                    <a:pt x="2477516" y="84454"/>
                  </a:lnTo>
                  <a:lnTo>
                    <a:pt x="2546667" y="51308"/>
                  </a:lnTo>
                  <a:lnTo>
                    <a:pt x="2490724" y="51308"/>
                  </a:lnTo>
                  <a:lnTo>
                    <a:pt x="2478071" y="51095"/>
                  </a:lnTo>
                  <a:lnTo>
                    <a:pt x="2547110" y="51095"/>
                  </a:lnTo>
                  <a:lnTo>
                    <a:pt x="2554351" y="47625"/>
                  </a:lnTo>
                  <a:lnTo>
                    <a:pt x="2478785" y="8254"/>
                  </a:lnTo>
                  <a:close/>
                </a:path>
                <a:path w="2554604" h="84455">
                  <a:moveTo>
                    <a:pt x="2478230" y="41569"/>
                  </a:moveTo>
                  <a:lnTo>
                    <a:pt x="2478129" y="47625"/>
                  </a:lnTo>
                  <a:lnTo>
                    <a:pt x="2478071" y="51095"/>
                  </a:lnTo>
                  <a:lnTo>
                    <a:pt x="2490724" y="51308"/>
                  </a:lnTo>
                  <a:lnTo>
                    <a:pt x="2490978" y="41783"/>
                  </a:lnTo>
                  <a:lnTo>
                    <a:pt x="2478230" y="41569"/>
                  </a:lnTo>
                  <a:close/>
                </a:path>
                <a:path w="2554604" h="84455">
                  <a:moveTo>
                    <a:pt x="126" y="0"/>
                  </a:moveTo>
                  <a:lnTo>
                    <a:pt x="0" y="9525"/>
                  </a:lnTo>
                  <a:lnTo>
                    <a:pt x="2478071" y="51095"/>
                  </a:lnTo>
                  <a:lnTo>
                    <a:pt x="2478129" y="47625"/>
                  </a:lnTo>
                  <a:lnTo>
                    <a:pt x="2478230" y="41569"/>
                  </a:lnTo>
                  <a:lnTo>
                    <a:pt x="126" y="0"/>
                  </a:lnTo>
                  <a:close/>
                </a:path>
              </a:pathLst>
            </a:custGeom>
            <a:solidFill>
              <a:srgbClr val="40458B"/>
            </a:solidFill>
          </p:spPr>
          <p:txBody>
            <a:bodyPr wrap="square" lIns="0" tIns="0" rIns="0" bIns="0" rtlCol="0"/>
            <a:lstStyle/>
            <a:p/>
          </p:txBody>
        </p:sp>
        <p:sp>
          <p:nvSpPr>
            <p:cNvPr id="31" name="object 31" descr=""/>
            <p:cNvSpPr/>
            <p:nvPr/>
          </p:nvSpPr>
          <p:spPr>
            <a:xfrm>
              <a:off x="7858125" y="760412"/>
              <a:ext cx="1622425" cy="684530"/>
            </a:xfrm>
            <a:custGeom>
              <a:avLst/>
              <a:gdLst/>
              <a:ahLst/>
              <a:cxnLst/>
              <a:rect l="l" t="t" r="r" b="b"/>
              <a:pathLst>
                <a:path w="1622425" h="684530">
                  <a:moveTo>
                    <a:pt x="1622425" y="0"/>
                  </a:moveTo>
                  <a:lnTo>
                    <a:pt x="0" y="0"/>
                  </a:lnTo>
                  <a:lnTo>
                    <a:pt x="0" y="684212"/>
                  </a:lnTo>
                  <a:lnTo>
                    <a:pt x="1622425" y="684212"/>
                  </a:lnTo>
                  <a:lnTo>
                    <a:pt x="1622425" y="0"/>
                  </a:lnTo>
                  <a:close/>
                </a:path>
              </a:pathLst>
            </a:custGeom>
            <a:solidFill>
              <a:srgbClr val="D4D6EB"/>
            </a:solidFill>
          </p:spPr>
          <p:txBody>
            <a:bodyPr wrap="square" lIns="0" tIns="0" rIns="0" bIns="0" rtlCol="0"/>
            <a:lstStyle/>
            <a:p/>
          </p:txBody>
        </p:sp>
        <p:pic>
          <p:nvPicPr>
            <p:cNvPr id="32" name="object 32" descr=""/>
            <p:cNvPicPr/>
            <p:nvPr/>
          </p:nvPicPr>
          <p:blipFill>
            <a:blip r:embed="rId2" cstate="print"/>
            <a:stretch>
              <a:fillRect/>
            </a:stretch>
          </p:blipFill>
          <p:spPr>
            <a:xfrm>
              <a:off x="8477758" y="879475"/>
              <a:ext cx="238125" cy="250825"/>
            </a:xfrm>
            <a:prstGeom prst="rect">
              <a:avLst/>
            </a:prstGeom>
          </p:spPr>
        </p:pic>
        <p:sp>
          <p:nvSpPr>
            <p:cNvPr id="33" name="object 33" descr=""/>
            <p:cNvSpPr/>
            <p:nvPr/>
          </p:nvSpPr>
          <p:spPr>
            <a:xfrm>
              <a:off x="8693150" y="1444625"/>
              <a:ext cx="76200" cy="600075"/>
            </a:xfrm>
            <a:custGeom>
              <a:avLst/>
              <a:gdLst/>
              <a:ahLst/>
              <a:cxnLst/>
              <a:rect l="l" t="t" r="r" b="b"/>
              <a:pathLst>
                <a:path w="76200" h="600075">
                  <a:moveTo>
                    <a:pt x="33274" y="523875"/>
                  </a:moveTo>
                  <a:lnTo>
                    <a:pt x="0" y="523875"/>
                  </a:lnTo>
                  <a:lnTo>
                    <a:pt x="38100" y="600075"/>
                  </a:lnTo>
                  <a:lnTo>
                    <a:pt x="69850" y="536575"/>
                  </a:lnTo>
                  <a:lnTo>
                    <a:pt x="33274" y="536575"/>
                  </a:lnTo>
                  <a:lnTo>
                    <a:pt x="33274" y="523875"/>
                  </a:lnTo>
                  <a:close/>
                </a:path>
                <a:path w="76200" h="600075">
                  <a:moveTo>
                    <a:pt x="42799" y="0"/>
                  </a:moveTo>
                  <a:lnTo>
                    <a:pt x="33274" y="0"/>
                  </a:lnTo>
                  <a:lnTo>
                    <a:pt x="33274" y="536575"/>
                  </a:lnTo>
                  <a:lnTo>
                    <a:pt x="42799" y="536575"/>
                  </a:lnTo>
                  <a:lnTo>
                    <a:pt x="42799" y="0"/>
                  </a:lnTo>
                  <a:close/>
                </a:path>
                <a:path w="76200" h="600075">
                  <a:moveTo>
                    <a:pt x="76200" y="523875"/>
                  </a:moveTo>
                  <a:lnTo>
                    <a:pt x="42799" y="523875"/>
                  </a:lnTo>
                  <a:lnTo>
                    <a:pt x="42799" y="536575"/>
                  </a:lnTo>
                  <a:lnTo>
                    <a:pt x="69850" y="536575"/>
                  </a:lnTo>
                  <a:lnTo>
                    <a:pt x="76200" y="523875"/>
                  </a:lnTo>
                  <a:close/>
                </a:path>
              </a:pathLst>
            </a:custGeom>
            <a:solidFill>
              <a:srgbClr val="40458B"/>
            </a:solidFill>
          </p:spPr>
          <p:txBody>
            <a:bodyPr wrap="square" lIns="0" tIns="0" rIns="0" bIns="0" rtlCol="0"/>
            <a:lstStyle/>
            <a:p/>
          </p:txBody>
        </p:sp>
      </p:grpSp>
      <p:grpSp>
        <p:nvGrpSpPr>
          <p:cNvPr id="34" name="object 34" descr=""/>
          <p:cNvGrpSpPr/>
          <p:nvPr/>
        </p:nvGrpSpPr>
        <p:grpSpPr>
          <a:xfrm>
            <a:off x="2992501" y="4352925"/>
            <a:ext cx="2316480" cy="1960880"/>
            <a:chOff x="2992501" y="4352925"/>
            <a:chExt cx="2316480" cy="1960880"/>
          </a:xfrm>
        </p:grpSpPr>
        <p:sp>
          <p:nvSpPr>
            <p:cNvPr id="35" name="object 35" descr=""/>
            <p:cNvSpPr/>
            <p:nvPr/>
          </p:nvSpPr>
          <p:spPr>
            <a:xfrm>
              <a:off x="2992501" y="4352925"/>
              <a:ext cx="76200" cy="600075"/>
            </a:xfrm>
            <a:custGeom>
              <a:avLst/>
              <a:gdLst/>
              <a:ahLst/>
              <a:cxnLst/>
              <a:rect l="l" t="t" r="r" b="b"/>
              <a:pathLst>
                <a:path w="76200" h="600075">
                  <a:moveTo>
                    <a:pt x="33274" y="523875"/>
                  </a:moveTo>
                  <a:lnTo>
                    <a:pt x="0" y="523875"/>
                  </a:lnTo>
                  <a:lnTo>
                    <a:pt x="38100" y="600075"/>
                  </a:lnTo>
                  <a:lnTo>
                    <a:pt x="69850" y="536575"/>
                  </a:lnTo>
                  <a:lnTo>
                    <a:pt x="33274" y="536575"/>
                  </a:lnTo>
                  <a:lnTo>
                    <a:pt x="33274" y="523875"/>
                  </a:lnTo>
                  <a:close/>
                </a:path>
                <a:path w="76200" h="600075">
                  <a:moveTo>
                    <a:pt x="42799" y="0"/>
                  </a:moveTo>
                  <a:lnTo>
                    <a:pt x="33274" y="0"/>
                  </a:lnTo>
                  <a:lnTo>
                    <a:pt x="33274" y="536575"/>
                  </a:lnTo>
                  <a:lnTo>
                    <a:pt x="42799" y="536575"/>
                  </a:lnTo>
                  <a:lnTo>
                    <a:pt x="42799" y="0"/>
                  </a:lnTo>
                  <a:close/>
                </a:path>
                <a:path w="76200" h="600075">
                  <a:moveTo>
                    <a:pt x="76200" y="523875"/>
                  </a:moveTo>
                  <a:lnTo>
                    <a:pt x="42799" y="523875"/>
                  </a:lnTo>
                  <a:lnTo>
                    <a:pt x="42799" y="536575"/>
                  </a:lnTo>
                  <a:lnTo>
                    <a:pt x="69850" y="536575"/>
                  </a:lnTo>
                  <a:lnTo>
                    <a:pt x="76200" y="523875"/>
                  </a:lnTo>
                  <a:close/>
                </a:path>
              </a:pathLst>
            </a:custGeom>
            <a:solidFill>
              <a:srgbClr val="40458B"/>
            </a:solidFill>
          </p:spPr>
          <p:txBody>
            <a:bodyPr wrap="square" lIns="0" tIns="0" rIns="0" bIns="0" rtlCol="0"/>
            <a:lstStyle/>
            <a:p/>
          </p:txBody>
        </p:sp>
        <p:sp>
          <p:nvSpPr>
            <p:cNvPr id="36" name="object 36" descr=""/>
            <p:cNvSpPr/>
            <p:nvPr/>
          </p:nvSpPr>
          <p:spPr>
            <a:xfrm>
              <a:off x="3011551" y="5437250"/>
              <a:ext cx="2292350" cy="871855"/>
            </a:xfrm>
            <a:custGeom>
              <a:avLst/>
              <a:gdLst/>
              <a:ahLst/>
              <a:cxnLst/>
              <a:rect l="l" t="t" r="r" b="b"/>
              <a:pathLst>
                <a:path w="2292350" h="871854">
                  <a:moveTo>
                    <a:pt x="842899" y="0"/>
                  </a:moveTo>
                  <a:lnTo>
                    <a:pt x="2292350" y="0"/>
                  </a:lnTo>
                </a:path>
                <a:path w="2292350" h="871854">
                  <a:moveTo>
                    <a:pt x="0" y="547624"/>
                  </a:moveTo>
                  <a:lnTo>
                    <a:pt x="0" y="846074"/>
                  </a:lnTo>
                </a:path>
                <a:path w="2292350" h="871854">
                  <a:moveTo>
                    <a:pt x="0" y="846074"/>
                  </a:moveTo>
                  <a:lnTo>
                    <a:pt x="1530350" y="871474"/>
                  </a:lnTo>
                </a:path>
              </a:pathLst>
            </a:custGeom>
            <a:ln w="9525">
              <a:solidFill>
                <a:srgbClr val="40458B"/>
              </a:solidFill>
            </a:ln>
          </p:spPr>
          <p:txBody>
            <a:bodyPr wrap="square" lIns="0" tIns="0" rIns="0" bIns="0" rtlCol="0"/>
            <a:lstStyle/>
            <a:p/>
          </p:txBody>
        </p:sp>
      </p:grpSp>
      <p:sp>
        <p:nvSpPr>
          <p:cNvPr id="37" name="object 37" descr=""/>
          <p:cNvSpPr txBox="1"/>
          <p:nvPr/>
        </p:nvSpPr>
        <p:spPr>
          <a:xfrm>
            <a:off x="4281296" y="5081981"/>
            <a:ext cx="22860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40458B"/>
                </a:solidFill>
                <a:latin typeface="黑体"/>
                <a:cs typeface="黑体"/>
              </a:rPr>
              <a:t>是</a:t>
            </a:r>
            <a:endParaRPr sz="1600">
              <a:latin typeface="黑体"/>
              <a:cs typeface="黑体"/>
            </a:endParaRPr>
          </a:p>
        </p:txBody>
      </p:sp>
      <p:sp>
        <p:nvSpPr>
          <p:cNvPr id="38" name="object 38" descr=""/>
          <p:cNvSpPr txBox="1"/>
          <p:nvPr/>
        </p:nvSpPr>
        <p:spPr>
          <a:xfrm>
            <a:off x="7858125" y="760412"/>
            <a:ext cx="1622425" cy="684530"/>
          </a:xfrm>
          <a:prstGeom prst="rect">
            <a:avLst/>
          </a:prstGeom>
          <a:ln w="9525">
            <a:solidFill>
              <a:srgbClr val="40458B"/>
            </a:solidFill>
          </a:ln>
        </p:spPr>
        <p:txBody>
          <a:bodyPr wrap="square" lIns="0" tIns="45720" rIns="0" bIns="0" rtlCol="0" vert="horz">
            <a:spAutoFit/>
          </a:bodyPr>
          <a:lstStyle/>
          <a:p>
            <a:pPr marL="282575">
              <a:lnSpc>
                <a:spcPct val="100000"/>
              </a:lnSpc>
              <a:spcBef>
                <a:spcPts val="360"/>
              </a:spcBef>
              <a:tabLst>
                <a:tab pos="892175" algn="l"/>
              </a:tabLst>
            </a:pPr>
            <a:r>
              <a:rPr dirty="0" sz="2400" spc="-50">
                <a:solidFill>
                  <a:srgbClr val="40458B"/>
                </a:solidFill>
                <a:latin typeface="黑体"/>
                <a:cs typeface="黑体"/>
              </a:rPr>
              <a:t>写</a:t>
            </a:r>
            <a:r>
              <a:rPr dirty="0" sz="2400">
                <a:solidFill>
                  <a:srgbClr val="40458B"/>
                </a:solidFill>
                <a:latin typeface="黑体"/>
                <a:cs typeface="黑体"/>
              </a:rPr>
              <a:t>	结</a:t>
            </a:r>
            <a:r>
              <a:rPr dirty="0" sz="2400" spc="-50">
                <a:solidFill>
                  <a:srgbClr val="40458B"/>
                </a:solidFill>
                <a:latin typeface="黑体"/>
                <a:cs typeface="黑体"/>
              </a:rPr>
              <a:t>果</a:t>
            </a:r>
            <a:endParaRPr sz="2400">
              <a:latin typeface="黑体"/>
              <a:cs typeface="黑体"/>
            </a:endParaRPr>
          </a:p>
        </p:txBody>
      </p:sp>
      <p:sp>
        <p:nvSpPr>
          <p:cNvPr id="39" name="object 39" descr=""/>
          <p:cNvSpPr txBox="1"/>
          <p:nvPr/>
        </p:nvSpPr>
        <p:spPr>
          <a:xfrm>
            <a:off x="7858125" y="2051113"/>
            <a:ext cx="1767205" cy="462280"/>
          </a:xfrm>
          <a:prstGeom prst="rect">
            <a:avLst/>
          </a:prstGeom>
          <a:solidFill>
            <a:srgbClr val="D4D6EB"/>
          </a:solidFill>
          <a:ln w="9525">
            <a:solidFill>
              <a:srgbClr val="40458B"/>
            </a:solidFill>
          </a:ln>
        </p:spPr>
        <p:txBody>
          <a:bodyPr wrap="square" lIns="0" tIns="45720" rIns="0" bIns="0" rtlCol="0" vert="horz">
            <a:spAutoFit/>
          </a:bodyPr>
          <a:lstStyle/>
          <a:p>
            <a:pPr marL="92075">
              <a:lnSpc>
                <a:spcPct val="100000"/>
              </a:lnSpc>
              <a:spcBef>
                <a:spcPts val="360"/>
              </a:spcBef>
            </a:pPr>
            <a:r>
              <a:rPr dirty="0" sz="2400" spc="-10">
                <a:solidFill>
                  <a:srgbClr val="40458B"/>
                </a:solidFill>
                <a:latin typeface="黑体"/>
                <a:cs typeface="黑体"/>
              </a:rPr>
              <a:t>更新寄存器</a:t>
            </a:r>
            <a:endParaRPr sz="2400">
              <a:latin typeface="黑体"/>
              <a:cs typeface="黑体"/>
            </a:endParaRPr>
          </a:p>
        </p:txBody>
      </p:sp>
      <p:sp>
        <p:nvSpPr>
          <p:cNvPr id="40" name="object 40" descr=""/>
          <p:cNvSpPr txBox="1"/>
          <p:nvPr/>
        </p:nvSpPr>
        <p:spPr>
          <a:xfrm>
            <a:off x="7858125" y="3203511"/>
            <a:ext cx="1622425" cy="462280"/>
          </a:xfrm>
          <a:prstGeom prst="rect">
            <a:avLst/>
          </a:prstGeom>
          <a:solidFill>
            <a:srgbClr val="D4D6EB"/>
          </a:solidFill>
          <a:ln w="9525">
            <a:solidFill>
              <a:srgbClr val="40458B"/>
            </a:solidFill>
          </a:ln>
        </p:spPr>
        <p:txBody>
          <a:bodyPr wrap="square" lIns="0" tIns="46355" rIns="0" bIns="0" rtlCol="0" vert="horz">
            <a:spAutoFit/>
          </a:bodyPr>
          <a:lstStyle/>
          <a:p>
            <a:pPr marL="92075">
              <a:lnSpc>
                <a:spcPct val="100000"/>
              </a:lnSpc>
              <a:spcBef>
                <a:spcPts val="365"/>
              </a:spcBef>
            </a:pPr>
            <a:r>
              <a:rPr dirty="0" sz="2400" spc="-10">
                <a:solidFill>
                  <a:srgbClr val="40458B"/>
                </a:solidFill>
                <a:latin typeface="黑体"/>
                <a:cs typeface="黑体"/>
              </a:rPr>
              <a:t>释放保留站</a:t>
            </a:r>
            <a:endParaRPr sz="2400">
              <a:latin typeface="黑体"/>
              <a:cs typeface="黑体"/>
            </a:endParaRPr>
          </a:p>
        </p:txBody>
      </p:sp>
      <p:sp>
        <p:nvSpPr>
          <p:cNvPr id="41" name="object 41" descr=""/>
          <p:cNvSpPr/>
          <p:nvPr/>
        </p:nvSpPr>
        <p:spPr>
          <a:xfrm>
            <a:off x="8693150" y="2559050"/>
            <a:ext cx="76200" cy="601980"/>
          </a:xfrm>
          <a:custGeom>
            <a:avLst/>
            <a:gdLst/>
            <a:ahLst/>
            <a:cxnLst/>
            <a:rect l="l" t="t" r="r" b="b"/>
            <a:pathLst>
              <a:path w="76200" h="601980">
                <a:moveTo>
                  <a:pt x="33274" y="525399"/>
                </a:moveTo>
                <a:lnTo>
                  <a:pt x="0" y="525399"/>
                </a:lnTo>
                <a:lnTo>
                  <a:pt x="38100" y="601599"/>
                </a:lnTo>
                <a:lnTo>
                  <a:pt x="69850" y="538099"/>
                </a:lnTo>
                <a:lnTo>
                  <a:pt x="33274" y="538099"/>
                </a:lnTo>
                <a:lnTo>
                  <a:pt x="33274" y="525399"/>
                </a:lnTo>
                <a:close/>
              </a:path>
              <a:path w="76200" h="601980">
                <a:moveTo>
                  <a:pt x="42799" y="0"/>
                </a:moveTo>
                <a:lnTo>
                  <a:pt x="33274" y="0"/>
                </a:lnTo>
                <a:lnTo>
                  <a:pt x="33274" y="538099"/>
                </a:lnTo>
                <a:lnTo>
                  <a:pt x="42799" y="538099"/>
                </a:lnTo>
                <a:lnTo>
                  <a:pt x="42799" y="0"/>
                </a:lnTo>
                <a:close/>
              </a:path>
              <a:path w="76200" h="601980">
                <a:moveTo>
                  <a:pt x="76200" y="525399"/>
                </a:moveTo>
                <a:lnTo>
                  <a:pt x="42799" y="525399"/>
                </a:lnTo>
                <a:lnTo>
                  <a:pt x="42799" y="538099"/>
                </a:lnTo>
                <a:lnTo>
                  <a:pt x="69850" y="538099"/>
                </a:lnTo>
                <a:lnTo>
                  <a:pt x="76200" y="525399"/>
                </a:lnTo>
                <a:close/>
              </a:path>
            </a:pathLst>
          </a:custGeom>
          <a:solidFill>
            <a:srgbClr val="40458B"/>
          </a:solidFill>
        </p:spPr>
        <p:txBody>
          <a:bodyPr wrap="square" lIns="0" tIns="0" rIns="0" bIns="0" rtlCol="0"/>
          <a:lstStyle/>
          <a:p/>
        </p:txBody>
      </p:sp>
      <p:sp>
        <p:nvSpPr>
          <p:cNvPr id="42" name="object 42" descr=""/>
          <p:cNvSpPr txBox="1"/>
          <p:nvPr/>
        </p:nvSpPr>
        <p:spPr>
          <a:xfrm>
            <a:off x="3743071" y="5903467"/>
            <a:ext cx="22860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40458B"/>
                </a:solidFill>
                <a:latin typeface="黑体"/>
                <a:cs typeface="黑体"/>
              </a:rPr>
              <a:t>否</a:t>
            </a:r>
            <a:endParaRPr sz="1600">
              <a:latin typeface="黑体"/>
              <a:cs typeface="黑体"/>
            </a:endParaRPr>
          </a:p>
        </p:txBody>
      </p:sp>
      <p:sp>
        <p:nvSpPr>
          <p:cNvPr id="43" name="object 43" descr=""/>
          <p:cNvSpPr txBox="1"/>
          <p:nvPr/>
        </p:nvSpPr>
        <p:spPr>
          <a:xfrm>
            <a:off x="4541901" y="5984875"/>
            <a:ext cx="2301875" cy="462280"/>
          </a:xfrm>
          <a:prstGeom prst="rect">
            <a:avLst/>
          </a:prstGeom>
          <a:solidFill>
            <a:srgbClr val="D4D6EB"/>
          </a:solidFill>
          <a:ln w="9525">
            <a:solidFill>
              <a:srgbClr val="40458B"/>
            </a:solidFill>
          </a:ln>
        </p:spPr>
        <p:txBody>
          <a:bodyPr wrap="square" lIns="0" tIns="46990" rIns="0" bIns="0" rtlCol="0" vert="horz">
            <a:spAutoFit/>
          </a:bodyPr>
          <a:lstStyle/>
          <a:p>
            <a:pPr marL="472440">
              <a:lnSpc>
                <a:spcPct val="100000"/>
              </a:lnSpc>
              <a:spcBef>
                <a:spcPts val="370"/>
              </a:spcBef>
            </a:pPr>
            <a:r>
              <a:rPr dirty="0" sz="2400">
                <a:solidFill>
                  <a:srgbClr val="40458B"/>
                </a:solidFill>
                <a:latin typeface="黑体"/>
                <a:cs typeface="黑体"/>
              </a:rPr>
              <a:t>监听</a:t>
            </a:r>
            <a:r>
              <a:rPr dirty="0" sz="2400" spc="-25">
                <a:solidFill>
                  <a:srgbClr val="40458B"/>
                </a:solidFill>
                <a:latin typeface="Tahoma"/>
                <a:cs typeface="Tahoma"/>
              </a:rPr>
              <a:t>CDB</a:t>
            </a:r>
            <a:endParaRPr sz="2400">
              <a:latin typeface="Tahoma"/>
              <a:cs typeface="Tahoma"/>
            </a:endParaRPr>
          </a:p>
        </p:txBody>
      </p:sp>
      <p:sp>
        <p:nvSpPr>
          <p:cNvPr id="44" name="object 44" descr=""/>
          <p:cNvSpPr/>
          <p:nvPr/>
        </p:nvSpPr>
        <p:spPr>
          <a:xfrm>
            <a:off x="6038850" y="4483100"/>
            <a:ext cx="76200" cy="1482725"/>
          </a:xfrm>
          <a:custGeom>
            <a:avLst/>
            <a:gdLst/>
            <a:ahLst/>
            <a:cxnLst/>
            <a:rect l="l" t="t" r="r" b="b"/>
            <a:pathLst>
              <a:path w="76200" h="1482725">
                <a:moveTo>
                  <a:pt x="42799" y="63500"/>
                </a:moveTo>
                <a:lnTo>
                  <a:pt x="33274" y="63500"/>
                </a:lnTo>
                <a:lnTo>
                  <a:pt x="33274" y="1482725"/>
                </a:lnTo>
                <a:lnTo>
                  <a:pt x="42799" y="1482725"/>
                </a:lnTo>
                <a:lnTo>
                  <a:pt x="42799" y="63500"/>
                </a:lnTo>
                <a:close/>
              </a:path>
              <a:path w="76200" h="1482725">
                <a:moveTo>
                  <a:pt x="38100" y="0"/>
                </a:moveTo>
                <a:lnTo>
                  <a:pt x="0" y="76200"/>
                </a:lnTo>
                <a:lnTo>
                  <a:pt x="33274" y="76200"/>
                </a:lnTo>
                <a:lnTo>
                  <a:pt x="33274" y="63500"/>
                </a:lnTo>
                <a:lnTo>
                  <a:pt x="69850" y="63500"/>
                </a:lnTo>
                <a:lnTo>
                  <a:pt x="38100" y="0"/>
                </a:lnTo>
                <a:close/>
              </a:path>
              <a:path w="76200" h="1482725">
                <a:moveTo>
                  <a:pt x="69850" y="63500"/>
                </a:moveTo>
                <a:lnTo>
                  <a:pt x="42799" y="63500"/>
                </a:lnTo>
                <a:lnTo>
                  <a:pt x="42799" y="76200"/>
                </a:lnTo>
                <a:lnTo>
                  <a:pt x="76200" y="76200"/>
                </a:lnTo>
                <a:lnTo>
                  <a:pt x="69850" y="63500"/>
                </a:lnTo>
                <a:close/>
              </a:path>
            </a:pathLst>
          </a:custGeom>
          <a:solidFill>
            <a:srgbClr val="40458B"/>
          </a:solidFill>
        </p:spPr>
        <p:txBody>
          <a:bodyPr wrap="square" lIns="0" tIns="0" rIns="0" bIns="0" rtlCol="0"/>
          <a:lstStyle/>
          <a:p/>
        </p:txBody>
      </p:sp>
      <p:sp>
        <p:nvSpPr>
          <p:cNvPr id="45" name="object 45" descr=""/>
          <p:cNvSpPr txBox="1"/>
          <p:nvPr/>
        </p:nvSpPr>
        <p:spPr>
          <a:xfrm>
            <a:off x="5653278" y="5582208"/>
            <a:ext cx="1650364" cy="269240"/>
          </a:xfrm>
          <a:prstGeom prst="rect">
            <a:avLst/>
          </a:prstGeom>
        </p:spPr>
        <p:txBody>
          <a:bodyPr wrap="square" lIns="0" tIns="12065" rIns="0" bIns="0" rtlCol="0" vert="horz">
            <a:spAutoFit/>
          </a:bodyPr>
          <a:lstStyle/>
          <a:p>
            <a:pPr marL="12700">
              <a:lnSpc>
                <a:spcPct val="100000"/>
              </a:lnSpc>
              <a:spcBef>
                <a:spcPts val="95"/>
              </a:spcBef>
            </a:pPr>
            <a:r>
              <a:rPr dirty="0" sz="1600" spc="-35">
                <a:solidFill>
                  <a:srgbClr val="40458B"/>
                </a:solidFill>
                <a:latin typeface="黑体"/>
                <a:cs typeface="黑体"/>
              </a:rPr>
              <a:t>匹配标签收到数据</a:t>
            </a:r>
            <a:endParaRPr sz="1600">
              <a:latin typeface="黑体"/>
              <a:cs typeface="黑体"/>
            </a:endParaRPr>
          </a:p>
        </p:txBody>
      </p:sp>
      <p:sp>
        <p:nvSpPr>
          <p:cNvPr id="46" name="object 46" descr=""/>
          <p:cNvSpPr txBox="1"/>
          <p:nvPr/>
        </p:nvSpPr>
        <p:spPr>
          <a:xfrm>
            <a:off x="4613275" y="4060761"/>
            <a:ext cx="1621155" cy="462280"/>
          </a:xfrm>
          <a:prstGeom prst="rect">
            <a:avLst/>
          </a:prstGeom>
          <a:solidFill>
            <a:srgbClr val="D4D6EB"/>
          </a:solidFill>
          <a:ln w="9525">
            <a:solidFill>
              <a:srgbClr val="40458B"/>
            </a:solidFill>
          </a:ln>
        </p:spPr>
        <p:txBody>
          <a:bodyPr wrap="square" lIns="0" tIns="46355" rIns="0" bIns="0" rtlCol="0" vert="horz">
            <a:spAutoFit/>
          </a:bodyPr>
          <a:lstStyle/>
          <a:p>
            <a:pPr marL="472440">
              <a:lnSpc>
                <a:spcPct val="100000"/>
              </a:lnSpc>
              <a:spcBef>
                <a:spcPts val="365"/>
              </a:spcBef>
            </a:pPr>
            <a:r>
              <a:rPr dirty="0" sz="2400" spc="-25">
                <a:solidFill>
                  <a:srgbClr val="40458B"/>
                </a:solidFill>
                <a:latin typeface="黑体"/>
                <a:cs typeface="黑体"/>
              </a:rPr>
              <a:t>执行</a:t>
            </a:r>
            <a:endParaRPr sz="2400">
              <a:latin typeface="黑体"/>
              <a:cs typeface="黑体"/>
            </a:endParaRPr>
          </a:p>
        </p:txBody>
      </p:sp>
      <p:sp>
        <p:nvSpPr>
          <p:cNvPr id="47" name="object 47" descr=""/>
          <p:cNvSpPr/>
          <p:nvPr/>
        </p:nvSpPr>
        <p:spPr>
          <a:xfrm>
            <a:off x="5268466" y="4503801"/>
            <a:ext cx="76835" cy="952500"/>
          </a:xfrm>
          <a:custGeom>
            <a:avLst/>
            <a:gdLst/>
            <a:ahLst/>
            <a:cxnLst/>
            <a:rect l="l" t="t" r="r" b="b"/>
            <a:pathLst>
              <a:path w="76835" h="952500">
                <a:moveTo>
                  <a:pt x="43054" y="63500"/>
                </a:moveTo>
                <a:lnTo>
                  <a:pt x="33528" y="63500"/>
                </a:lnTo>
                <a:lnTo>
                  <a:pt x="30607" y="952500"/>
                </a:lnTo>
                <a:lnTo>
                  <a:pt x="40133" y="952500"/>
                </a:lnTo>
                <a:lnTo>
                  <a:pt x="43011" y="76326"/>
                </a:lnTo>
                <a:lnTo>
                  <a:pt x="43054" y="63500"/>
                </a:lnTo>
                <a:close/>
              </a:path>
              <a:path w="76835" h="952500">
                <a:moveTo>
                  <a:pt x="38482" y="0"/>
                </a:moveTo>
                <a:lnTo>
                  <a:pt x="0" y="76326"/>
                </a:lnTo>
                <a:lnTo>
                  <a:pt x="33486" y="76326"/>
                </a:lnTo>
                <a:lnTo>
                  <a:pt x="33528" y="63500"/>
                </a:lnTo>
                <a:lnTo>
                  <a:pt x="69967" y="63500"/>
                </a:lnTo>
                <a:lnTo>
                  <a:pt x="38482" y="0"/>
                </a:lnTo>
                <a:close/>
              </a:path>
              <a:path w="76835" h="952500">
                <a:moveTo>
                  <a:pt x="69967" y="63500"/>
                </a:moveTo>
                <a:lnTo>
                  <a:pt x="43054" y="63500"/>
                </a:lnTo>
                <a:lnTo>
                  <a:pt x="43011" y="76326"/>
                </a:lnTo>
                <a:lnTo>
                  <a:pt x="76328" y="76326"/>
                </a:lnTo>
                <a:lnTo>
                  <a:pt x="69967" y="63500"/>
                </a:lnTo>
                <a:close/>
              </a:path>
            </a:pathLst>
          </a:custGeom>
          <a:solidFill>
            <a:srgbClr val="40458B"/>
          </a:solidFill>
        </p:spPr>
        <p:txBody>
          <a:bodyPr wrap="square" lIns="0" tIns="0" rIns="0" bIns="0" rtlCol="0"/>
          <a:lstStyle/>
          <a:p/>
        </p:txBody>
      </p:sp>
      <p:sp>
        <p:nvSpPr>
          <p:cNvPr id="48" name="object 48" descr=""/>
          <p:cNvSpPr txBox="1"/>
          <p:nvPr/>
        </p:nvSpPr>
        <p:spPr>
          <a:xfrm>
            <a:off x="6923278" y="4029836"/>
            <a:ext cx="1299845" cy="756920"/>
          </a:xfrm>
          <a:prstGeom prst="rect">
            <a:avLst/>
          </a:prstGeom>
        </p:spPr>
        <p:txBody>
          <a:bodyPr wrap="square" lIns="0" tIns="12065" rIns="0" bIns="0" rtlCol="0" vert="horz">
            <a:spAutoFit/>
          </a:bodyPr>
          <a:lstStyle/>
          <a:p>
            <a:pPr marL="12700">
              <a:lnSpc>
                <a:spcPct val="100000"/>
              </a:lnSpc>
              <a:spcBef>
                <a:spcPts val="95"/>
              </a:spcBef>
            </a:pPr>
            <a:r>
              <a:rPr dirty="0" sz="1600" spc="-10">
                <a:solidFill>
                  <a:srgbClr val="FF0000"/>
                </a:solidFill>
                <a:latin typeface="Tahoma"/>
                <a:cs typeface="Tahoma"/>
              </a:rPr>
              <a:t>1</a:t>
            </a:r>
            <a:r>
              <a:rPr dirty="0" sz="1600" spc="-25">
                <a:solidFill>
                  <a:srgbClr val="FF0000"/>
                </a:solidFill>
                <a:latin typeface="黑体"/>
                <a:cs typeface="黑体"/>
              </a:rPr>
              <a:t>、运算</a:t>
            </a:r>
            <a:endParaRPr sz="1600">
              <a:latin typeface="黑体"/>
              <a:cs typeface="黑体"/>
            </a:endParaRPr>
          </a:p>
          <a:p>
            <a:pPr marL="266700" marR="5080" indent="-254635">
              <a:lnSpc>
                <a:spcPct val="100000"/>
              </a:lnSpc>
            </a:pPr>
            <a:r>
              <a:rPr dirty="0" sz="1600" spc="-10">
                <a:solidFill>
                  <a:srgbClr val="FF0000"/>
                </a:solidFill>
                <a:latin typeface="Tahoma"/>
                <a:cs typeface="Tahoma"/>
              </a:rPr>
              <a:t>2</a:t>
            </a:r>
            <a:r>
              <a:rPr dirty="0" sz="1600" spc="-10">
                <a:solidFill>
                  <a:srgbClr val="FF0000"/>
                </a:solidFill>
                <a:latin typeface="黑体"/>
                <a:cs typeface="黑体"/>
              </a:rPr>
              <a:t>、</a:t>
            </a:r>
            <a:r>
              <a:rPr dirty="0" sz="1600" spc="-25">
                <a:solidFill>
                  <a:srgbClr val="FF0000"/>
                </a:solidFill>
                <a:latin typeface="Tahoma"/>
                <a:cs typeface="Tahoma"/>
              </a:rPr>
              <a:t>LOAD</a:t>
            </a:r>
            <a:r>
              <a:rPr dirty="0" sz="1600" spc="-50">
                <a:solidFill>
                  <a:srgbClr val="FF0000"/>
                </a:solidFill>
                <a:latin typeface="黑体"/>
                <a:cs typeface="黑体"/>
              </a:rPr>
              <a:t>或 </a:t>
            </a:r>
            <a:r>
              <a:rPr dirty="0" sz="1600" spc="-25">
                <a:solidFill>
                  <a:srgbClr val="FF0000"/>
                </a:solidFill>
                <a:latin typeface="Tahoma"/>
                <a:cs typeface="Tahoma"/>
              </a:rPr>
              <a:t>STORE</a:t>
            </a:r>
            <a:r>
              <a:rPr dirty="0" sz="1600" spc="-30">
                <a:solidFill>
                  <a:srgbClr val="FF0000"/>
                </a:solidFill>
                <a:latin typeface="黑体"/>
                <a:cs typeface="黑体"/>
              </a:rPr>
              <a:t>指令</a:t>
            </a:r>
            <a:endParaRPr sz="1600">
              <a:latin typeface="黑体"/>
              <a:cs typeface="黑体"/>
            </a:endParaRPr>
          </a:p>
        </p:txBody>
      </p:sp>
      <p:grpSp>
        <p:nvGrpSpPr>
          <p:cNvPr id="49" name="object 49" descr=""/>
          <p:cNvGrpSpPr/>
          <p:nvPr/>
        </p:nvGrpSpPr>
        <p:grpSpPr>
          <a:xfrm>
            <a:off x="6383337" y="4178363"/>
            <a:ext cx="393700" cy="225425"/>
            <a:chOff x="6383337" y="4178363"/>
            <a:chExt cx="393700" cy="225425"/>
          </a:xfrm>
        </p:grpSpPr>
        <p:sp>
          <p:nvSpPr>
            <p:cNvPr id="50" name="object 50" descr=""/>
            <p:cNvSpPr/>
            <p:nvPr/>
          </p:nvSpPr>
          <p:spPr>
            <a:xfrm>
              <a:off x="6388100" y="4183126"/>
              <a:ext cx="384175" cy="215900"/>
            </a:xfrm>
            <a:custGeom>
              <a:avLst/>
              <a:gdLst/>
              <a:ahLst/>
              <a:cxnLst/>
              <a:rect l="l" t="t" r="r" b="b"/>
              <a:pathLst>
                <a:path w="384175" h="215900">
                  <a:moveTo>
                    <a:pt x="108330" y="0"/>
                  </a:moveTo>
                  <a:lnTo>
                    <a:pt x="0" y="107823"/>
                  </a:lnTo>
                  <a:lnTo>
                    <a:pt x="108330" y="215900"/>
                  </a:lnTo>
                  <a:lnTo>
                    <a:pt x="108330" y="161925"/>
                  </a:lnTo>
                  <a:lnTo>
                    <a:pt x="384175" y="161925"/>
                  </a:lnTo>
                  <a:lnTo>
                    <a:pt x="384175" y="53975"/>
                  </a:lnTo>
                  <a:lnTo>
                    <a:pt x="108330" y="53975"/>
                  </a:lnTo>
                  <a:lnTo>
                    <a:pt x="108330" y="0"/>
                  </a:lnTo>
                  <a:close/>
                </a:path>
              </a:pathLst>
            </a:custGeom>
            <a:solidFill>
              <a:srgbClr val="EBD782"/>
            </a:solidFill>
          </p:spPr>
          <p:txBody>
            <a:bodyPr wrap="square" lIns="0" tIns="0" rIns="0" bIns="0" rtlCol="0"/>
            <a:lstStyle/>
            <a:p/>
          </p:txBody>
        </p:sp>
        <p:sp>
          <p:nvSpPr>
            <p:cNvPr id="51" name="object 51" descr=""/>
            <p:cNvSpPr/>
            <p:nvPr/>
          </p:nvSpPr>
          <p:spPr>
            <a:xfrm>
              <a:off x="6388100" y="4183126"/>
              <a:ext cx="384175" cy="215900"/>
            </a:xfrm>
            <a:custGeom>
              <a:avLst/>
              <a:gdLst/>
              <a:ahLst/>
              <a:cxnLst/>
              <a:rect l="l" t="t" r="r" b="b"/>
              <a:pathLst>
                <a:path w="384175" h="215900">
                  <a:moveTo>
                    <a:pt x="384175" y="161925"/>
                  </a:moveTo>
                  <a:lnTo>
                    <a:pt x="108330" y="161925"/>
                  </a:lnTo>
                  <a:lnTo>
                    <a:pt x="108330" y="215900"/>
                  </a:lnTo>
                  <a:lnTo>
                    <a:pt x="0" y="107823"/>
                  </a:lnTo>
                  <a:lnTo>
                    <a:pt x="108330" y="0"/>
                  </a:lnTo>
                  <a:lnTo>
                    <a:pt x="108330" y="53975"/>
                  </a:lnTo>
                  <a:lnTo>
                    <a:pt x="384175" y="53975"/>
                  </a:lnTo>
                  <a:lnTo>
                    <a:pt x="384175" y="161925"/>
                  </a:lnTo>
                  <a:close/>
                </a:path>
              </a:pathLst>
            </a:custGeom>
            <a:ln w="9525">
              <a:solidFill>
                <a:srgbClr val="40458B"/>
              </a:solidFill>
            </a:ln>
          </p:spPr>
          <p:txBody>
            <a:bodyPr wrap="square" lIns="0" tIns="0" rIns="0" bIns="0" rtlCol="0"/>
            <a:lstStyle/>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66/175</a:t>
            </a:r>
            <a:endParaRPr sz="1600">
              <a:latin typeface="宋体"/>
              <a:cs typeface="宋体"/>
            </a:endParaRPr>
          </a:p>
        </p:txBody>
      </p:sp>
      <p:grpSp>
        <p:nvGrpSpPr>
          <p:cNvPr id="3" name="object 3" descr=""/>
          <p:cNvGrpSpPr/>
          <p:nvPr/>
        </p:nvGrpSpPr>
        <p:grpSpPr>
          <a:xfrm>
            <a:off x="990600" y="482600"/>
            <a:ext cx="11201400" cy="1057275"/>
            <a:chOff x="990600" y="482600"/>
            <a:chExt cx="11201400" cy="1057275"/>
          </a:xfrm>
        </p:grpSpPr>
        <p:sp>
          <p:nvSpPr>
            <p:cNvPr id="4" name="object 4"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pic>
          <p:nvPicPr>
            <p:cNvPr id="5" name="object 5" descr=""/>
            <p:cNvPicPr/>
            <p:nvPr/>
          </p:nvPicPr>
          <p:blipFill>
            <a:blip r:embed="rId2" cstate="print"/>
            <a:stretch>
              <a:fillRect/>
            </a:stretch>
          </p:blipFill>
          <p:spPr>
            <a:xfrm>
              <a:off x="6816725" y="482600"/>
              <a:ext cx="3914775" cy="1057275"/>
            </a:xfrm>
            <a:prstGeom prst="rect">
              <a:avLst/>
            </a:prstGeom>
          </p:spPr>
        </p:pic>
      </p:grpSp>
      <p:grpSp>
        <p:nvGrpSpPr>
          <p:cNvPr id="6" name="object 6" descr=""/>
          <p:cNvGrpSpPr/>
          <p:nvPr/>
        </p:nvGrpSpPr>
        <p:grpSpPr>
          <a:xfrm>
            <a:off x="68262" y="311150"/>
            <a:ext cx="1076325" cy="274955"/>
            <a:chOff x="68262" y="311150"/>
            <a:chExt cx="1076325" cy="274955"/>
          </a:xfrm>
        </p:grpSpPr>
        <p:sp>
          <p:nvSpPr>
            <p:cNvPr id="7" name="object 7"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8" name="object 8"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9" name="object 9"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10" name="object 10"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11" name="object 11"/>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2" name="object 12" descr=""/>
          <p:cNvSpPr txBox="1"/>
          <p:nvPr/>
        </p:nvSpPr>
        <p:spPr>
          <a:xfrm>
            <a:off x="568858" y="812672"/>
            <a:ext cx="11356340" cy="5495925"/>
          </a:xfrm>
          <a:prstGeom prst="rect">
            <a:avLst/>
          </a:prstGeom>
        </p:spPr>
        <p:txBody>
          <a:bodyPr wrap="square" lIns="0" tIns="12700" rIns="0" bIns="0" rtlCol="0" vert="horz">
            <a:spAutoFit/>
          </a:bodyPr>
          <a:lstStyle/>
          <a:p>
            <a:pPr marL="341630">
              <a:lnSpc>
                <a:spcPct val="100000"/>
              </a:lnSpc>
              <a:spcBef>
                <a:spcPts val="100"/>
              </a:spcBef>
            </a:pPr>
            <a:r>
              <a:rPr dirty="0" sz="2400" spc="-10">
                <a:solidFill>
                  <a:srgbClr val="FF0000"/>
                </a:solidFill>
                <a:latin typeface="黑体"/>
                <a:cs typeface="黑体"/>
              </a:rPr>
              <a:t>上图中的各组成部件</a:t>
            </a:r>
            <a:endParaRPr sz="2400">
              <a:latin typeface="黑体"/>
              <a:cs typeface="黑体"/>
            </a:endParaRPr>
          </a:p>
          <a:p>
            <a:pPr marL="512445" indent="-457200">
              <a:lnSpc>
                <a:spcPct val="100000"/>
              </a:lnSpc>
              <a:spcBef>
                <a:spcPts val="2000"/>
              </a:spcBef>
              <a:buSzPct val="89583"/>
              <a:buFont typeface="Wingdings"/>
              <a:buChar char=""/>
              <a:tabLst>
                <a:tab pos="512445" algn="l"/>
                <a:tab pos="3560445" algn="l"/>
              </a:tabLst>
            </a:pPr>
            <a:r>
              <a:rPr dirty="0" sz="2400">
                <a:solidFill>
                  <a:srgbClr val="40458B"/>
                </a:solidFill>
                <a:latin typeface="黑体"/>
                <a:cs typeface="黑体"/>
              </a:rPr>
              <a:t>保留站</a:t>
            </a:r>
            <a:r>
              <a:rPr dirty="0" sz="2400" spc="-10">
                <a:solidFill>
                  <a:srgbClr val="40458B"/>
                </a:solidFill>
                <a:latin typeface="黑体"/>
                <a:cs typeface="黑体"/>
              </a:rPr>
              <a:t>（</a:t>
            </a:r>
            <a:r>
              <a:rPr dirty="0" sz="2400" spc="-10">
                <a:solidFill>
                  <a:srgbClr val="9933FF"/>
                </a:solidFill>
                <a:latin typeface="黑体"/>
                <a:cs typeface="黑体"/>
              </a:rPr>
              <a:t>reservation</a:t>
            </a:r>
            <a:r>
              <a:rPr dirty="0" sz="2400">
                <a:solidFill>
                  <a:srgbClr val="9933FF"/>
                </a:solidFill>
                <a:latin typeface="黑体"/>
                <a:cs typeface="黑体"/>
              </a:rPr>
              <a:t>	</a:t>
            </a:r>
            <a:r>
              <a:rPr dirty="0" sz="2400" spc="-10">
                <a:solidFill>
                  <a:srgbClr val="9933FF"/>
                </a:solidFill>
                <a:latin typeface="黑体"/>
                <a:cs typeface="黑体"/>
              </a:rPr>
              <a:t>station</a:t>
            </a:r>
            <a:r>
              <a:rPr dirty="0" sz="2400" spc="-10">
                <a:solidFill>
                  <a:srgbClr val="40458B"/>
                </a:solidFill>
                <a:latin typeface="黑体"/>
                <a:cs typeface="黑体"/>
              </a:rPr>
              <a:t>）</a:t>
            </a:r>
            <a:endParaRPr sz="2400">
              <a:latin typeface="黑体"/>
              <a:cs typeface="黑体"/>
            </a:endParaRPr>
          </a:p>
          <a:p>
            <a:pPr marL="535305">
              <a:lnSpc>
                <a:spcPct val="100000"/>
              </a:lnSpc>
              <a:spcBef>
                <a:spcPts val="1780"/>
              </a:spcBef>
            </a:pPr>
            <a:r>
              <a:rPr dirty="0" sz="2000" spc="-25" b="1">
                <a:solidFill>
                  <a:srgbClr val="9966FF"/>
                </a:solidFill>
                <a:latin typeface="宋体"/>
                <a:cs typeface="宋体"/>
              </a:rPr>
              <a:t>每个保留站中保存一条已经流出并等待到本功能部件执行的</a:t>
            </a:r>
            <a:r>
              <a:rPr dirty="0" sz="2000" spc="-20" b="1">
                <a:solidFill>
                  <a:srgbClr val="FF0000"/>
                </a:solidFill>
                <a:latin typeface="宋体"/>
                <a:cs typeface="宋体"/>
              </a:rPr>
              <a:t>指令以及相关信息</a:t>
            </a:r>
            <a:r>
              <a:rPr dirty="0" sz="2000" spc="-50" b="1">
                <a:solidFill>
                  <a:srgbClr val="9966FF"/>
                </a:solidFill>
                <a:latin typeface="宋体"/>
                <a:cs typeface="宋体"/>
              </a:rPr>
              <a:t>。</a:t>
            </a:r>
            <a:endParaRPr sz="2000">
              <a:latin typeface="宋体"/>
              <a:cs typeface="宋体"/>
            </a:endParaRPr>
          </a:p>
          <a:p>
            <a:pPr marL="12700">
              <a:lnSpc>
                <a:spcPct val="100000"/>
              </a:lnSpc>
              <a:spcBef>
                <a:spcPts val="1680"/>
              </a:spcBef>
            </a:pPr>
            <a:r>
              <a:rPr dirty="0" sz="2000" spc="-10" b="1">
                <a:solidFill>
                  <a:srgbClr val="9933FF"/>
                </a:solidFill>
                <a:latin typeface="宋体"/>
                <a:cs typeface="宋体"/>
              </a:rPr>
              <a:t>包括：</a:t>
            </a:r>
            <a:r>
              <a:rPr dirty="0" sz="2000" spc="-25" b="1">
                <a:solidFill>
                  <a:srgbClr val="9966FF"/>
                </a:solidFill>
                <a:latin typeface="宋体"/>
                <a:cs typeface="宋体"/>
              </a:rPr>
              <a:t>操作码、操作数以及用于检测和解决冲突的信息。</a:t>
            </a:r>
            <a:endParaRPr sz="2000">
              <a:latin typeface="宋体"/>
              <a:cs typeface="宋体"/>
            </a:endParaRPr>
          </a:p>
          <a:p>
            <a:pPr lvl="1" marL="757555" indent="-381000">
              <a:lnSpc>
                <a:spcPct val="100000"/>
              </a:lnSpc>
              <a:spcBef>
                <a:spcPts val="1570"/>
              </a:spcBef>
              <a:buClr>
                <a:srgbClr val="9966FF"/>
              </a:buClr>
              <a:buSzPct val="63888"/>
              <a:buFont typeface="Wingdings"/>
              <a:buChar char=""/>
              <a:tabLst>
                <a:tab pos="757555" algn="l"/>
              </a:tabLst>
            </a:pPr>
            <a:r>
              <a:rPr dirty="0" sz="1800" spc="-15" b="1">
                <a:solidFill>
                  <a:srgbClr val="FF09FF"/>
                </a:solidFill>
                <a:latin typeface="宋体"/>
                <a:cs typeface="宋体"/>
              </a:rPr>
              <a:t>若保留站全被占用，只有等待</a:t>
            </a:r>
            <a:endParaRPr sz="1800">
              <a:latin typeface="宋体"/>
              <a:cs typeface="宋体"/>
            </a:endParaRPr>
          </a:p>
          <a:p>
            <a:pPr lvl="1" marL="757555" indent="-381000">
              <a:lnSpc>
                <a:spcPct val="100000"/>
              </a:lnSpc>
              <a:spcBef>
                <a:spcPts val="1510"/>
              </a:spcBef>
              <a:buClr>
                <a:srgbClr val="9966FF"/>
              </a:buClr>
              <a:buSzPct val="63888"/>
              <a:buFont typeface="Wingdings"/>
              <a:buChar char=""/>
              <a:tabLst>
                <a:tab pos="757555" algn="l"/>
              </a:tabLst>
            </a:pPr>
            <a:r>
              <a:rPr dirty="0" sz="1800" spc="-25" b="1">
                <a:solidFill>
                  <a:srgbClr val="FF09FF"/>
                </a:solidFill>
                <a:latin typeface="宋体"/>
                <a:cs typeface="宋体"/>
              </a:rPr>
              <a:t>在一条指令流出到保留站的时候，如果该指令的源操作数已经在寄存器中就绪，则将之取到该保留站中。</a:t>
            </a:r>
            <a:endParaRPr sz="1800">
              <a:latin typeface="宋体"/>
              <a:cs typeface="宋体"/>
            </a:endParaRPr>
          </a:p>
          <a:p>
            <a:pPr lvl="1" marL="757555" indent="-381000">
              <a:lnSpc>
                <a:spcPct val="100000"/>
              </a:lnSpc>
              <a:spcBef>
                <a:spcPts val="1515"/>
              </a:spcBef>
              <a:buClr>
                <a:srgbClr val="9966FF"/>
              </a:buClr>
              <a:buSzPct val="63888"/>
              <a:buFont typeface="Wingdings"/>
              <a:buChar char=""/>
              <a:tabLst>
                <a:tab pos="757555" algn="l"/>
              </a:tabLst>
            </a:pPr>
            <a:r>
              <a:rPr dirty="0" sz="1800" spc="-10" b="1">
                <a:solidFill>
                  <a:srgbClr val="FF09FF"/>
                </a:solidFill>
                <a:latin typeface="宋体"/>
                <a:cs typeface="宋体"/>
              </a:rPr>
              <a:t>如果操作数未就绪，则在该保留站中记录将产生这个操作数的保留站的标识，并监听</a:t>
            </a:r>
            <a:r>
              <a:rPr dirty="0" sz="1800" spc="-25" b="1">
                <a:solidFill>
                  <a:srgbClr val="FF09FF"/>
                </a:solidFill>
                <a:latin typeface="Tahoma"/>
                <a:cs typeface="Tahoma"/>
              </a:rPr>
              <a:t>CDB</a:t>
            </a:r>
            <a:r>
              <a:rPr dirty="0" sz="1800" spc="-25" b="1">
                <a:solidFill>
                  <a:srgbClr val="FF09FF"/>
                </a:solidFill>
                <a:latin typeface="宋体"/>
                <a:cs typeface="宋体"/>
              </a:rPr>
              <a:t>总线。</a:t>
            </a:r>
            <a:endParaRPr sz="1800">
              <a:latin typeface="宋体"/>
              <a:cs typeface="宋体"/>
            </a:endParaRPr>
          </a:p>
          <a:p>
            <a:pPr marL="469265" indent="-456565">
              <a:lnSpc>
                <a:spcPct val="100000"/>
              </a:lnSpc>
              <a:spcBef>
                <a:spcPts val="1625"/>
              </a:spcBef>
              <a:buClr>
                <a:srgbClr val="4668F5"/>
              </a:buClr>
              <a:buSzPct val="70000"/>
              <a:buFont typeface="Wingdings"/>
              <a:buChar char=""/>
              <a:tabLst>
                <a:tab pos="469265" algn="l"/>
              </a:tabLst>
            </a:pPr>
            <a:r>
              <a:rPr dirty="0" sz="2000" spc="-10" b="1">
                <a:solidFill>
                  <a:srgbClr val="9966FF"/>
                </a:solidFill>
                <a:latin typeface="宋体"/>
                <a:cs typeface="宋体"/>
              </a:rPr>
              <a:t>浮点加法器有</a:t>
            </a:r>
            <a:r>
              <a:rPr dirty="0" sz="2000" spc="-10" b="1">
                <a:solidFill>
                  <a:srgbClr val="9933FF"/>
                </a:solidFill>
                <a:latin typeface="宋体"/>
                <a:cs typeface="宋体"/>
              </a:rPr>
              <a:t>3</a:t>
            </a:r>
            <a:r>
              <a:rPr dirty="0" sz="2000" spc="-15" b="1">
                <a:solidFill>
                  <a:srgbClr val="9966FF"/>
                </a:solidFill>
                <a:latin typeface="宋体"/>
                <a:cs typeface="宋体"/>
              </a:rPr>
              <a:t>个保留站：</a:t>
            </a:r>
            <a:r>
              <a:rPr dirty="0" sz="2000" spc="-10" b="1">
                <a:solidFill>
                  <a:srgbClr val="D50092"/>
                </a:solidFill>
                <a:latin typeface="宋体"/>
                <a:cs typeface="宋体"/>
              </a:rPr>
              <a:t>ADD1，ADD2，ADD3</a:t>
            </a:r>
            <a:endParaRPr sz="2000">
              <a:latin typeface="宋体"/>
              <a:cs typeface="宋体"/>
            </a:endParaRPr>
          </a:p>
          <a:p>
            <a:pPr marL="469265" indent="-456565">
              <a:lnSpc>
                <a:spcPct val="100000"/>
              </a:lnSpc>
              <a:spcBef>
                <a:spcPts val="1680"/>
              </a:spcBef>
              <a:buClr>
                <a:srgbClr val="4668F5"/>
              </a:buClr>
              <a:buSzPct val="70000"/>
              <a:buFont typeface="Wingdings"/>
              <a:buChar char=""/>
              <a:tabLst>
                <a:tab pos="469265" algn="l"/>
              </a:tabLst>
            </a:pPr>
            <a:r>
              <a:rPr dirty="0" sz="2000" spc="-10" b="1">
                <a:solidFill>
                  <a:srgbClr val="9966FF"/>
                </a:solidFill>
                <a:latin typeface="宋体"/>
                <a:cs typeface="宋体"/>
              </a:rPr>
              <a:t>浮点乘法器有</a:t>
            </a:r>
            <a:r>
              <a:rPr dirty="0" sz="2000" spc="-10" b="1">
                <a:solidFill>
                  <a:srgbClr val="9933FF"/>
                </a:solidFill>
                <a:latin typeface="宋体"/>
                <a:cs typeface="宋体"/>
              </a:rPr>
              <a:t>两</a:t>
            </a:r>
            <a:r>
              <a:rPr dirty="0" sz="2000" spc="-10" b="1">
                <a:solidFill>
                  <a:srgbClr val="9966FF"/>
                </a:solidFill>
                <a:latin typeface="宋体"/>
                <a:cs typeface="宋体"/>
              </a:rPr>
              <a:t>个保留站：</a:t>
            </a:r>
            <a:r>
              <a:rPr dirty="0" sz="2000" spc="-10" b="1">
                <a:solidFill>
                  <a:srgbClr val="D50092"/>
                </a:solidFill>
                <a:latin typeface="宋体"/>
                <a:cs typeface="宋体"/>
              </a:rPr>
              <a:t>MULT1，MULT2</a:t>
            </a:r>
            <a:endParaRPr sz="2000">
              <a:latin typeface="宋体"/>
              <a:cs typeface="宋体"/>
            </a:endParaRPr>
          </a:p>
          <a:p>
            <a:pPr marL="469265" indent="-456565">
              <a:lnSpc>
                <a:spcPct val="100000"/>
              </a:lnSpc>
              <a:spcBef>
                <a:spcPts val="1680"/>
              </a:spcBef>
              <a:buClr>
                <a:srgbClr val="4668F5"/>
              </a:buClr>
              <a:buSzPct val="70000"/>
              <a:buFont typeface="Wingdings"/>
              <a:buChar char=""/>
              <a:tabLst>
                <a:tab pos="469265" algn="l"/>
              </a:tabLst>
            </a:pPr>
            <a:r>
              <a:rPr dirty="0" sz="2000" spc="-25" b="1">
                <a:solidFill>
                  <a:srgbClr val="9966FF"/>
                </a:solidFill>
                <a:latin typeface="宋体"/>
                <a:cs typeface="宋体"/>
              </a:rPr>
              <a:t>每个保留站都有一个标识字段，唯一地标识了该保留站。</a:t>
            </a:r>
            <a:endParaRPr sz="2000">
              <a:latin typeface="宋体"/>
              <a:cs typeface="宋体"/>
            </a:endParaRPr>
          </a:p>
          <a:p>
            <a:pPr marL="1514475">
              <a:lnSpc>
                <a:spcPct val="100000"/>
              </a:lnSpc>
              <a:spcBef>
                <a:spcPts val="2110"/>
              </a:spcBef>
            </a:pPr>
            <a:r>
              <a:rPr dirty="0" sz="1400" spc="-20">
                <a:solidFill>
                  <a:srgbClr val="40458B"/>
                </a:solidFill>
                <a:latin typeface="黑体"/>
                <a:cs typeface="黑体"/>
              </a:rPr>
              <a:t>保留站</a:t>
            </a:r>
            <a:endParaRPr sz="1400">
              <a:latin typeface="黑体"/>
              <a:cs typeface="黑体"/>
            </a:endParaRPr>
          </a:p>
        </p:txBody>
      </p:sp>
      <p:graphicFrame>
        <p:nvGraphicFramePr>
          <p:cNvPr id="13" name="object 13" descr=""/>
          <p:cNvGraphicFramePr>
            <a:graphicFrameLocks noGrp="1"/>
          </p:cNvGraphicFramePr>
          <p:nvPr/>
        </p:nvGraphicFramePr>
        <p:xfrm>
          <a:off x="3065526" y="6007100"/>
          <a:ext cx="6450330" cy="371475"/>
        </p:xfrm>
        <a:graphic>
          <a:graphicData uri="http://schemas.openxmlformats.org/drawingml/2006/table">
            <a:tbl>
              <a:tblPr firstRow="1" bandRow="1">
                <a:tableStyleId>{2D5ABB26-0587-4C30-8999-92F81FD0307C}</a:tableStyleId>
              </a:tblPr>
              <a:tblGrid>
                <a:gridCol w="786130"/>
                <a:gridCol w="864234"/>
                <a:gridCol w="1224280"/>
                <a:gridCol w="1289684"/>
                <a:gridCol w="732789"/>
                <a:gridCol w="732789"/>
                <a:gridCol w="732789"/>
              </a:tblGrid>
              <a:tr h="371475">
                <a:tc>
                  <a:txBody>
                    <a:bodyPr/>
                    <a:lstStyle/>
                    <a:p>
                      <a:pPr marL="91440">
                        <a:lnSpc>
                          <a:spcPct val="100000"/>
                        </a:lnSpc>
                        <a:spcBef>
                          <a:spcPts val="360"/>
                        </a:spcBef>
                      </a:pPr>
                      <a:r>
                        <a:rPr dirty="0" sz="1800" spc="-20" b="1">
                          <a:solidFill>
                            <a:srgbClr val="FF0000"/>
                          </a:solidFill>
                          <a:latin typeface="Tahoma"/>
                          <a:cs typeface="Tahoma"/>
                        </a:rPr>
                        <a:t>Busy</a:t>
                      </a:r>
                      <a:endParaRPr sz="1800">
                        <a:latin typeface="Tahoma"/>
                        <a:cs typeface="Tahoma"/>
                      </a:endParaRPr>
                    </a:p>
                  </a:txBody>
                  <a:tcPr marL="0" marR="0" marB="0" marT="4572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1440">
                        <a:lnSpc>
                          <a:spcPct val="100000"/>
                        </a:lnSpc>
                        <a:spcBef>
                          <a:spcPts val="360"/>
                        </a:spcBef>
                      </a:pPr>
                      <a:r>
                        <a:rPr dirty="0" sz="1800" spc="-25" b="1">
                          <a:solidFill>
                            <a:srgbClr val="FF0000"/>
                          </a:solidFill>
                          <a:latin typeface="Tahoma"/>
                          <a:cs typeface="Tahoma"/>
                        </a:rPr>
                        <a:t>Op</a:t>
                      </a:r>
                      <a:endParaRPr sz="1800">
                        <a:latin typeface="Tahoma"/>
                        <a:cs typeface="Tahoma"/>
                      </a:endParaRPr>
                    </a:p>
                  </a:txBody>
                  <a:tcPr marL="0" marR="0" marB="0" marT="4572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1440">
                        <a:lnSpc>
                          <a:spcPct val="100000"/>
                        </a:lnSpc>
                        <a:spcBef>
                          <a:spcPts val="370"/>
                        </a:spcBef>
                      </a:pPr>
                      <a:r>
                        <a:rPr dirty="0" sz="1800" spc="-10" b="1">
                          <a:solidFill>
                            <a:srgbClr val="FF0000"/>
                          </a:solidFill>
                          <a:latin typeface="黑体"/>
                          <a:cs typeface="黑体"/>
                        </a:rPr>
                        <a:t>操作数</a:t>
                      </a:r>
                      <a:r>
                        <a:rPr dirty="0" sz="1800" spc="-35" b="1">
                          <a:solidFill>
                            <a:srgbClr val="FF0000"/>
                          </a:solidFill>
                          <a:latin typeface="Tahoma"/>
                          <a:cs typeface="Tahoma"/>
                        </a:rPr>
                        <a:t>Vj</a:t>
                      </a:r>
                      <a:endParaRPr sz="1800">
                        <a:latin typeface="Tahoma"/>
                        <a:cs typeface="Tahoma"/>
                      </a:endParaRPr>
                    </a:p>
                  </a:txBody>
                  <a:tcPr marL="0" marR="0" marB="0" marT="469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70"/>
                        </a:spcBef>
                      </a:pPr>
                      <a:r>
                        <a:rPr dirty="0" sz="1800" spc="-10" b="1">
                          <a:solidFill>
                            <a:srgbClr val="FF0000"/>
                          </a:solidFill>
                          <a:latin typeface="黑体"/>
                          <a:cs typeface="黑体"/>
                        </a:rPr>
                        <a:t>操作数</a:t>
                      </a:r>
                      <a:r>
                        <a:rPr dirty="0" sz="1800" spc="-35" b="1">
                          <a:solidFill>
                            <a:srgbClr val="FF0000"/>
                          </a:solidFill>
                          <a:latin typeface="Tahoma"/>
                          <a:cs typeface="Tahoma"/>
                        </a:rPr>
                        <a:t>Vk</a:t>
                      </a:r>
                      <a:endParaRPr sz="1800">
                        <a:latin typeface="Tahoma"/>
                        <a:cs typeface="Tahoma"/>
                      </a:endParaRPr>
                    </a:p>
                  </a:txBody>
                  <a:tcPr marL="0" marR="0" marB="0" marT="469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60"/>
                        </a:spcBef>
                      </a:pPr>
                      <a:r>
                        <a:rPr dirty="0" sz="1800" spc="-25" b="1">
                          <a:solidFill>
                            <a:srgbClr val="FF0000"/>
                          </a:solidFill>
                          <a:latin typeface="Tahoma"/>
                          <a:cs typeface="Tahoma"/>
                        </a:rPr>
                        <a:t>Qj</a:t>
                      </a:r>
                      <a:endParaRPr sz="1800">
                        <a:latin typeface="Tahoma"/>
                        <a:cs typeface="Tahoma"/>
                      </a:endParaRPr>
                    </a:p>
                  </a:txBody>
                  <a:tcPr marL="0" marR="0" marB="0" marT="4572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60"/>
                        </a:spcBef>
                      </a:pPr>
                      <a:r>
                        <a:rPr dirty="0" sz="1800" spc="-25" b="1">
                          <a:solidFill>
                            <a:srgbClr val="FF0000"/>
                          </a:solidFill>
                          <a:latin typeface="Tahoma"/>
                          <a:cs typeface="Tahoma"/>
                        </a:rPr>
                        <a:t>Qk</a:t>
                      </a:r>
                      <a:endParaRPr sz="1800">
                        <a:latin typeface="Tahoma"/>
                        <a:cs typeface="Tahoma"/>
                      </a:endParaRPr>
                    </a:p>
                  </a:txBody>
                  <a:tcPr marL="0" marR="0" marB="0" marT="4572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60"/>
                        </a:spcBef>
                      </a:pPr>
                      <a:r>
                        <a:rPr dirty="0" sz="1800" spc="-50" b="1">
                          <a:solidFill>
                            <a:srgbClr val="FF0000"/>
                          </a:solidFill>
                          <a:latin typeface="Tahoma"/>
                          <a:cs typeface="Tahoma"/>
                        </a:rPr>
                        <a:t>A</a:t>
                      </a:r>
                      <a:endParaRPr sz="1800">
                        <a:latin typeface="Tahoma"/>
                        <a:cs typeface="Tahoma"/>
                      </a:endParaRPr>
                    </a:p>
                  </a:txBody>
                  <a:tcPr marL="0" marR="0" marB="0" marT="4572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67/175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424383" y="867405"/>
            <a:ext cx="7004684" cy="1252855"/>
          </a:xfrm>
          <a:prstGeom prst="rect">
            <a:avLst/>
          </a:prstGeom>
        </p:spPr>
        <p:txBody>
          <a:bodyPr wrap="square" lIns="0" tIns="88265" rIns="0" bIns="0" rtlCol="0" vert="horz">
            <a:spAutoFit/>
          </a:bodyPr>
          <a:lstStyle/>
          <a:p>
            <a:pPr marL="512445" indent="-457200">
              <a:lnSpc>
                <a:spcPct val="100000"/>
              </a:lnSpc>
              <a:spcBef>
                <a:spcPts val="695"/>
              </a:spcBef>
              <a:buSzPct val="89583"/>
              <a:buFont typeface="Wingdings"/>
              <a:buChar char=""/>
              <a:tabLst>
                <a:tab pos="512445" algn="l"/>
              </a:tabLst>
            </a:pPr>
            <a:r>
              <a:rPr dirty="0" sz="2400" spc="-10">
                <a:solidFill>
                  <a:srgbClr val="40458B"/>
                </a:solidFill>
                <a:latin typeface="黑体"/>
                <a:cs typeface="黑体"/>
              </a:rPr>
              <a:t>公共数据总线</a:t>
            </a:r>
            <a:r>
              <a:rPr dirty="0" sz="2400" spc="-25">
                <a:solidFill>
                  <a:srgbClr val="9933FF"/>
                </a:solidFill>
                <a:latin typeface="黑体"/>
                <a:cs typeface="黑体"/>
              </a:rPr>
              <a:t>CDB</a:t>
            </a:r>
            <a:endParaRPr sz="2400">
              <a:latin typeface="黑体"/>
              <a:cs typeface="黑体"/>
            </a:endParaRPr>
          </a:p>
          <a:p>
            <a:pPr marL="12700">
              <a:lnSpc>
                <a:spcPct val="100000"/>
              </a:lnSpc>
              <a:spcBef>
                <a:spcPts val="495"/>
              </a:spcBef>
            </a:pPr>
            <a:r>
              <a:rPr dirty="0" sz="2000" spc="-10" b="1">
                <a:solidFill>
                  <a:srgbClr val="D50092"/>
                </a:solidFill>
                <a:latin typeface="宋体"/>
                <a:cs typeface="宋体"/>
              </a:rPr>
              <a:t>（一条重要的数据通路</a:t>
            </a:r>
            <a:r>
              <a:rPr dirty="0" sz="2000" spc="-50" b="1">
                <a:solidFill>
                  <a:srgbClr val="D50092"/>
                </a:solidFill>
                <a:latin typeface="宋体"/>
                <a:cs typeface="宋体"/>
              </a:rPr>
              <a:t>）</a:t>
            </a:r>
            <a:endParaRPr sz="2000">
              <a:latin typeface="宋体"/>
              <a:cs typeface="宋体"/>
            </a:endParaRPr>
          </a:p>
          <a:p>
            <a:pPr lvl="1" marL="720725" indent="-456565">
              <a:lnSpc>
                <a:spcPct val="100000"/>
              </a:lnSpc>
              <a:spcBef>
                <a:spcPts val="890"/>
              </a:spcBef>
              <a:buClr>
                <a:srgbClr val="4668F5"/>
              </a:buClr>
              <a:buSzPct val="70000"/>
              <a:buFont typeface="Wingdings"/>
              <a:buChar char=""/>
              <a:tabLst>
                <a:tab pos="720725" algn="l"/>
              </a:tabLst>
            </a:pPr>
            <a:r>
              <a:rPr dirty="0" sz="2000" spc="-10" b="1">
                <a:solidFill>
                  <a:srgbClr val="9966FF"/>
                </a:solidFill>
                <a:latin typeface="宋体"/>
                <a:cs typeface="宋体"/>
              </a:rPr>
              <a:t>所有功能部件的计算结果（</a:t>
            </a:r>
            <a:r>
              <a:rPr dirty="0" sz="2000" spc="-20" b="1">
                <a:solidFill>
                  <a:srgbClr val="9966FF"/>
                </a:solidFill>
                <a:latin typeface="宋体"/>
                <a:cs typeface="宋体"/>
              </a:rPr>
              <a:t>带有标识</a:t>
            </a:r>
            <a:r>
              <a:rPr dirty="0" sz="2000" spc="-10" b="1">
                <a:solidFill>
                  <a:srgbClr val="9966FF"/>
                </a:solidFill>
                <a:latin typeface="宋体"/>
                <a:cs typeface="宋体"/>
              </a:rPr>
              <a:t>）</a:t>
            </a:r>
            <a:r>
              <a:rPr dirty="0" sz="2000" spc="-15" b="1">
                <a:solidFill>
                  <a:srgbClr val="9966FF"/>
                </a:solidFill>
                <a:latin typeface="宋体"/>
                <a:cs typeface="宋体"/>
              </a:rPr>
              <a:t>都是送到</a:t>
            </a:r>
            <a:r>
              <a:rPr dirty="0" sz="2000" spc="-20" b="1">
                <a:solidFill>
                  <a:srgbClr val="9933FF"/>
                </a:solidFill>
                <a:latin typeface="宋体"/>
                <a:cs typeface="宋体"/>
              </a:rPr>
              <a:t>CDB</a:t>
            </a:r>
            <a:r>
              <a:rPr dirty="0" sz="2000" spc="-30" b="1">
                <a:solidFill>
                  <a:srgbClr val="9966FF"/>
                </a:solidFill>
                <a:latin typeface="宋体"/>
                <a:cs typeface="宋体"/>
              </a:rPr>
              <a:t>上，</a:t>
            </a:r>
            <a:endParaRPr sz="2000">
              <a:latin typeface="宋体"/>
              <a:cs typeface="宋体"/>
            </a:endParaRPr>
          </a:p>
        </p:txBody>
      </p:sp>
      <p:sp>
        <p:nvSpPr>
          <p:cNvPr id="11" name="object 11" descr=""/>
          <p:cNvSpPr txBox="1"/>
          <p:nvPr/>
        </p:nvSpPr>
        <p:spPr>
          <a:xfrm>
            <a:off x="1133043" y="2144013"/>
            <a:ext cx="6664325" cy="330835"/>
          </a:xfrm>
          <a:prstGeom prst="rect">
            <a:avLst/>
          </a:prstGeom>
        </p:spPr>
        <p:txBody>
          <a:bodyPr wrap="square" lIns="0" tIns="13335" rIns="0" bIns="0" rtlCol="0" vert="horz">
            <a:spAutoFit/>
          </a:bodyPr>
          <a:lstStyle/>
          <a:p>
            <a:pPr marL="12700">
              <a:lnSpc>
                <a:spcPct val="100000"/>
              </a:lnSpc>
              <a:spcBef>
                <a:spcPts val="105"/>
              </a:spcBef>
            </a:pPr>
            <a:r>
              <a:rPr dirty="0" sz="2000" spc="-20" b="1">
                <a:solidFill>
                  <a:srgbClr val="9966FF"/>
                </a:solidFill>
                <a:latin typeface="宋体"/>
                <a:cs typeface="宋体"/>
              </a:rPr>
              <a:t>由它把这些结果直接送到（</a:t>
            </a:r>
            <a:r>
              <a:rPr dirty="0" sz="2000" spc="-10" b="1">
                <a:solidFill>
                  <a:srgbClr val="9966FF"/>
                </a:solidFill>
                <a:latin typeface="宋体"/>
                <a:cs typeface="宋体"/>
              </a:rPr>
              <a:t>广播）</a:t>
            </a:r>
            <a:r>
              <a:rPr dirty="0" sz="2000" spc="-25" b="1">
                <a:solidFill>
                  <a:srgbClr val="9966FF"/>
                </a:solidFill>
                <a:latin typeface="宋体"/>
                <a:cs typeface="宋体"/>
              </a:rPr>
              <a:t>各个需要该结果的地方。</a:t>
            </a:r>
            <a:endParaRPr sz="2000">
              <a:latin typeface="宋体"/>
              <a:cs typeface="宋体"/>
            </a:endParaRPr>
          </a:p>
        </p:txBody>
      </p:sp>
      <p:sp>
        <p:nvSpPr>
          <p:cNvPr id="12" name="object 12" descr=""/>
          <p:cNvSpPr txBox="1"/>
          <p:nvPr/>
        </p:nvSpPr>
        <p:spPr>
          <a:xfrm>
            <a:off x="467055" y="2509240"/>
            <a:ext cx="7086600" cy="1939925"/>
          </a:xfrm>
          <a:prstGeom prst="rect">
            <a:avLst/>
          </a:prstGeom>
        </p:spPr>
        <p:txBody>
          <a:bodyPr wrap="square" lIns="0" tIns="12700" rIns="0" bIns="0" rtlCol="0" vert="horz">
            <a:spAutoFit/>
          </a:bodyPr>
          <a:lstStyle/>
          <a:p>
            <a:pPr marL="678180" marR="5080" indent="-457200">
              <a:lnSpc>
                <a:spcPct val="117000"/>
              </a:lnSpc>
              <a:spcBef>
                <a:spcPts val="100"/>
              </a:spcBef>
              <a:buClr>
                <a:srgbClr val="4668F5"/>
              </a:buClr>
              <a:buSzPct val="70000"/>
              <a:buFont typeface="Wingdings"/>
              <a:buChar char=""/>
              <a:tabLst>
                <a:tab pos="678180" algn="l"/>
              </a:tabLst>
            </a:pPr>
            <a:r>
              <a:rPr dirty="0" sz="2000" spc="-15" b="1">
                <a:solidFill>
                  <a:srgbClr val="9966FF"/>
                </a:solidFill>
                <a:latin typeface="宋体"/>
                <a:cs typeface="宋体"/>
              </a:rPr>
              <a:t>在具有多个执行部件且采用多流出</a:t>
            </a:r>
            <a:r>
              <a:rPr dirty="0" sz="2000" spc="-20" b="1">
                <a:solidFill>
                  <a:srgbClr val="9966FF"/>
                </a:solidFill>
                <a:latin typeface="宋体"/>
                <a:cs typeface="宋体"/>
              </a:rPr>
              <a:t>（</a:t>
            </a:r>
            <a:r>
              <a:rPr dirty="0" sz="2000" spc="-25" b="1">
                <a:solidFill>
                  <a:srgbClr val="9966FF"/>
                </a:solidFill>
                <a:latin typeface="宋体"/>
                <a:cs typeface="宋体"/>
              </a:rPr>
              <a:t>即每个时钟周期流出</a:t>
            </a:r>
            <a:r>
              <a:rPr dirty="0" sz="2000" spc="-10" b="1">
                <a:solidFill>
                  <a:srgbClr val="9966FF"/>
                </a:solidFill>
                <a:latin typeface="宋体"/>
                <a:cs typeface="宋体"/>
              </a:rPr>
              <a:t>多条指令）</a:t>
            </a:r>
            <a:r>
              <a:rPr dirty="0" sz="2000" spc="-20" b="1">
                <a:solidFill>
                  <a:srgbClr val="9966FF"/>
                </a:solidFill>
                <a:latin typeface="宋体"/>
                <a:cs typeface="宋体"/>
              </a:rPr>
              <a:t>的流水线中，需要采用多条</a:t>
            </a:r>
            <a:r>
              <a:rPr dirty="0" sz="2000" spc="-20" b="1">
                <a:solidFill>
                  <a:srgbClr val="9933FF"/>
                </a:solidFill>
                <a:latin typeface="宋体"/>
                <a:cs typeface="宋体"/>
              </a:rPr>
              <a:t>CDB</a:t>
            </a:r>
            <a:r>
              <a:rPr dirty="0" sz="2000" spc="-50" b="1">
                <a:solidFill>
                  <a:srgbClr val="9966FF"/>
                </a:solidFill>
                <a:latin typeface="宋体"/>
                <a:cs typeface="宋体"/>
              </a:rPr>
              <a:t>。</a:t>
            </a:r>
            <a:endParaRPr sz="2000">
              <a:latin typeface="宋体"/>
              <a:cs typeface="宋体"/>
            </a:endParaRPr>
          </a:p>
          <a:p>
            <a:pPr marL="469265" indent="-456565">
              <a:lnSpc>
                <a:spcPct val="100000"/>
              </a:lnSpc>
              <a:spcBef>
                <a:spcPts val="869"/>
              </a:spcBef>
              <a:buClr>
                <a:srgbClr val="40458B"/>
              </a:buClr>
              <a:buSzPct val="89583"/>
              <a:buFont typeface="Wingdings"/>
              <a:buChar char=""/>
              <a:tabLst>
                <a:tab pos="469265" algn="l"/>
              </a:tabLst>
            </a:pPr>
            <a:r>
              <a:rPr dirty="0" sz="2400" spc="-25">
                <a:solidFill>
                  <a:srgbClr val="001F5F"/>
                </a:solidFill>
                <a:latin typeface="黑体"/>
                <a:cs typeface="黑体"/>
              </a:rPr>
              <a:t>总结</a:t>
            </a:r>
            <a:endParaRPr sz="2400">
              <a:latin typeface="黑体"/>
              <a:cs typeface="黑体"/>
            </a:endParaRPr>
          </a:p>
          <a:p>
            <a:pPr lvl="1" marL="715010" indent="-381000">
              <a:lnSpc>
                <a:spcPct val="100000"/>
              </a:lnSpc>
              <a:spcBef>
                <a:spcPts val="495"/>
              </a:spcBef>
              <a:buClr>
                <a:srgbClr val="006FC0"/>
              </a:buClr>
              <a:buSzPct val="65000"/>
              <a:buFont typeface="Wingdings"/>
              <a:buChar char=""/>
              <a:tabLst>
                <a:tab pos="715010" algn="l"/>
              </a:tabLst>
            </a:pPr>
            <a:r>
              <a:rPr dirty="0" sz="2000" b="1">
                <a:solidFill>
                  <a:srgbClr val="9966FF"/>
                </a:solidFill>
                <a:latin typeface="宋体"/>
                <a:cs typeface="宋体"/>
              </a:rPr>
              <a:t>CDB</a:t>
            </a:r>
            <a:r>
              <a:rPr dirty="0" sz="2000" spc="-25" b="1">
                <a:solidFill>
                  <a:srgbClr val="9966FF"/>
                </a:solidFill>
                <a:latin typeface="宋体"/>
                <a:cs typeface="宋体"/>
              </a:rPr>
              <a:t>不仅把结果送到寄存器中，也送到所有正在等待该结</a:t>
            </a:r>
            <a:endParaRPr sz="2000">
              <a:latin typeface="宋体"/>
              <a:cs typeface="宋体"/>
            </a:endParaRPr>
          </a:p>
          <a:p>
            <a:pPr marL="715010">
              <a:lnSpc>
                <a:spcPct val="100000"/>
              </a:lnSpc>
              <a:spcBef>
                <a:spcPts val="409"/>
              </a:spcBef>
            </a:pPr>
            <a:r>
              <a:rPr dirty="0" sz="2000" spc="-20" b="1">
                <a:solidFill>
                  <a:srgbClr val="9966FF"/>
                </a:solidFill>
                <a:latin typeface="宋体"/>
                <a:cs typeface="宋体"/>
              </a:rPr>
              <a:t>果的保留站中。</a:t>
            </a:r>
            <a:endParaRPr sz="2000">
              <a:latin typeface="宋体"/>
              <a:cs typeface="宋体"/>
            </a:endParaRPr>
          </a:p>
        </p:txBody>
      </p:sp>
      <p:sp>
        <p:nvSpPr>
          <p:cNvPr id="13" name="object 13" descr=""/>
          <p:cNvSpPr txBox="1"/>
          <p:nvPr/>
        </p:nvSpPr>
        <p:spPr>
          <a:xfrm>
            <a:off x="788619" y="4534280"/>
            <a:ext cx="7045325" cy="330835"/>
          </a:xfrm>
          <a:prstGeom prst="rect">
            <a:avLst/>
          </a:prstGeom>
        </p:spPr>
        <p:txBody>
          <a:bodyPr wrap="square" lIns="0" tIns="12700" rIns="0" bIns="0" rtlCol="0" vert="horz">
            <a:spAutoFit/>
          </a:bodyPr>
          <a:lstStyle/>
          <a:p>
            <a:pPr marL="393065" indent="-380365">
              <a:lnSpc>
                <a:spcPct val="100000"/>
              </a:lnSpc>
              <a:spcBef>
                <a:spcPts val="100"/>
              </a:spcBef>
              <a:buClr>
                <a:srgbClr val="006FC0"/>
              </a:buClr>
              <a:buSzPct val="65000"/>
              <a:buFont typeface="Wingdings"/>
              <a:buChar char=""/>
              <a:tabLst>
                <a:tab pos="393065" algn="l"/>
              </a:tabLst>
            </a:pPr>
            <a:r>
              <a:rPr dirty="0" sz="2000" spc="-20" b="1">
                <a:solidFill>
                  <a:srgbClr val="9966FF"/>
                </a:solidFill>
                <a:latin typeface="宋体"/>
                <a:cs typeface="宋体"/>
              </a:rPr>
              <a:t>每个结果会附带一个标签（即生产指令所在的保留站号</a:t>
            </a:r>
            <a:r>
              <a:rPr dirty="0" sz="2000" spc="-25" b="1">
                <a:solidFill>
                  <a:srgbClr val="9966FF"/>
                </a:solidFill>
                <a:latin typeface="宋体"/>
                <a:cs typeface="宋体"/>
              </a:rPr>
              <a:t>），</a:t>
            </a:r>
            <a:endParaRPr sz="2000">
              <a:latin typeface="宋体"/>
              <a:cs typeface="宋体"/>
            </a:endParaRPr>
          </a:p>
        </p:txBody>
      </p:sp>
      <p:sp>
        <p:nvSpPr>
          <p:cNvPr id="14" name="object 14" descr=""/>
          <p:cNvSpPr txBox="1"/>
          <p:nvPr/>
        </p:nvSpPr>
        <p:spPr>
          <a:xfrm>
            <a:off x="788619" y="4776825"/>
            <a:ext cx="3987800" cy="861694"/>
          </a:xfrm>
          <a:prstGeom prst="rect">
            <a:avLst/>
          </a:prstGeom>
        </p:spPr>
        <p:txBody>
          <a:bodyPr wrap="square" lIns="0" tIns="125730" rIns="0" bIns="0" rtlCol="0" vert="horz">
            <a:spAutoFit/>
          </a:bodyPr>
          <a:lstStyle/>
          <a:p>
            <a:pPr marL="393700">
              <a:lnSpc>
                <a:spcPct val="100000"/>
              </a:lnSpc>
              <a:spcBef>
                <a:spcPts val="990"/>
              </a:spcBef>
            </a:pPr>
            <a:r>
              <a:rPr dirty="0" sz="2000" spc="-20" b="1">
                <a:solidFill>
                  <a:srgbClr val="9966FF"/>
                </a:solidFill>
                <a:latin typeface="宋体"/>
                <a:cs typeface="宋体"/>
              </a:rPr>
              <a:t>用来和保留站中的标签相匹配。</a:t>
            </a:r>
            <a:endParaRPr sz="2000">
              <a:latin typeface="宋体"/>
              <a:cs typeface="宋体"/>
            </a:endParaRPr>
          </a:p>
          <a:p>
            <a:pPr marL="393065" indent="-380365">
              <a:lnSpc>
                <a:spcPct val="100000"/>
              </a:lnSpc>
              <a:spcBef>
                <a:spcPts val="890"/>
              </a:spcBef>
              <a:buClr>
                <a:srgbClr val="006FC0"/>
              </a:buClr>
              <a:buSzPct val="65000"/>
              <a:buFont typeface="Wingdings"/>
              <a:buChar char=""/>
              <a:tabLst>
                <a:tab pos="393065" algn="l"/>
              </a:tabLst>
            </a:pPr>
            <a:r>
              <a:rPr dirty="0" sz="2000" spc="-10" b="1">
                <a:solidFill>
                  <a:srgbClr val="9966FF"/>
                </a:solidFill>
                <a:latin typeface="宋体"/>
                <a:cs typeface="宋体"/>
              </a:rPr>
              <a:t>CDB</a:t>
            </a:r>
            <a:r>
              <a:rPr dirty="0" sz="2000" spc="-25" b="1">
                <a:solidFill>
                  <a:srgbClr val="9966FF"/>
                </a:solidFill>
                <a:latin typeface="宋体"/>
                <a:cs typeface="宋体"/>
              </a:rPr>
              <a:t>相当于实现了前送功能。</a:t>
            </a:r>
            <a:endParaRPr sz="2000">
              <a:latin typeface="宋体"/>
              <a:cs typeface="宋体"/>
            </a:endParaRPr>
          </a:p>
        </p:txBody>
      </p:sp>
      <p:sp>
        <p:nvSpPr>
          <p:cNvPr id="15" name="object 15" descr=""/>
          <p:cNvSpPr txBox="1"/>
          <p:nvPr/>
        </p:nvSpPr>
        <p:spPr>
          <a:xfrm>
            <a:off x="5527675" y="293623"/>
            <a:ext cx="24638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000"/>
                </a:solidFill>
                <a:latin typeface="黑体"/>
                <a:cs typeface="黑体"/>
              </a:rPr>
              <a:t>图中的各组成部件</a:t>
            </a:r>
            <a:endParaRPr sz="2400">
              <a:latin typeface="黑体"/>
              <a:cs typeface="黑体"/>
            </a:endParaRPr>
          </a:p>
        </p:txBody>
      </p:sp>
      <p:sp>
        <p:nvSpPr>
          <p:cNvPr id="16" name="object 16" descr=""/>
          <p:cNvSpPr txBox="1"/>
          <p:nvPr/>
        </p:nvSpPr>
        <p:spPr>
          <a:xfrm>
            <a:off x="9350216" y="1076097"/>
            <a:ext cx="586740" cy="189865"/>
          </a:xfrm>
          <a:prstGeom prst="rect">
            <a:avLst/>
          </a:prstGeom>
        </p:spPr>
        <p:txBody>
          <a:bodyPr wrap="square" lIns="0" tIns="15875" rIns="0" bIns="0" rtlCol="0" vert="horz">
            <a:spAutoFit/>
          </a:bodyPr>
          <a:lstStyle/>
          <a:p>
            <a:pPr marL="12700">
              <a:lnSpc>
                <a:spcPct val="100000"/>
              </a:lnSpc>
              <a:spcBef>
                <a:spcPts val="125"/>
              </a:spcBef>
            </a:pPr>
            <a:r>
              <a:rPr dirty="0" sz="1050" spc="-340" b="1">
                <a:latin typeface="宋体"/>
                <a:cs typeface="宋体"/>
              </a:rPr>
              <a:t>从指令部件来</a:t>
            </a:r>
            <a:endParaRPr sz="1050">
              <a:latin typeface="宋体"/>
              <a:cs typeface="宋体"/>
            </a:endParaRPr>
          </a:p>
        </p:txBody>
      </p:sp>
      <p:sp>
        <p:nvSpPr>
          <p:cNvPr id="17" name="object 17" descr=""/>
          <p:cNvSpPr txBox="1"/>
          <p:nvPr/>
        </p:nvSpPr>
        <p:spPr>
          <a:xfrm>
            <a:off x="10111337" y="1453613"/>
            <a:ext cx="631825" cy="189865"/>
          </a:xfrm>
          <a:prstGeom prst="rect">
            <a:avLst/>
          </a:prstGeom>
        </p:spPr>
        <p:txBody>
          <a:bodyPr wrap="square" lIns="0" tIns="15875" rIns="0" bIns="0" rtlCol="0" vert="horz">
            <a:spAutoFit/>
          </a:bodyPr>
          <a:lstStyle/>
          <a:p>
            <a:pPr marL="12700">
              <a:lnSpc>
                <a:spcPct val="100000"/>
              </a:lnSpc>
              <a:spcBef>
                <a:spcPts val="125"/>
              </a:spcBef>
            </a:pPr>
            <a:r>
              <a:rPr dirty="0" sz="1050" spc="-330" b="1">
                <a:latin typeface="宋体"/>
                <a:cs typeface="宋体"/>
              </a:rPr>
              <a:t>浮点寄存器 </a:t>
            </a:r>
            <a:r>
              <a:rPr dirty="0" sz="1050" spc="-140" b="1">
                <a:latin typeface="Times New Roman"/>
                <a:cs typeface="Times New Roman"/>
              </a:rPr>
              <a:t>FP</a:t>
            </a:r>
            <a:endParaRPr sz="1050">
              <a:latin typeface="Times New Roman"/>
              <a:cs typeface="Times New Roman"/>
            </a:endParaRPr>
          </a:p>
        </p:txBody>
      </p:sp>
      <p:sp>
        <p:nvSpPr>
          <p:cNvPr id="18" name="object 18" descr=""/>
          <p:cNvSpPr txBox="1"/>
          <p:nvPr/>
        </p:nvSpPr>
        <p:spPr>
          <a:xfrm>
            <a:off x="7851319" y="2536444"/>
            <a:ext cx="526415" cy="189865"/>
          </a:xfrm>
          <a:prstGeom prst="rect">
            <a:avLst/>
          </a:prstGeom>
        </p:spPr>
        <p:txBody>
          <a:bodyPr wrap="square" lIns="0" tIns="15875" rIns="0" bIns="0" rtlCol="0" vert="horz">
            <a:spAutoFit/>
          </a:bodyPr>
          <a:lstStyle/>
          <a:p>
            <a:pPr marL="12700">
              <a:lnSpc>
                <a:spcPct val="100000"/>
              </a:lnSpc>
              <a:spcBef>
                <a:spcPts val="125"/>
              </a:spcBef>
            </a:pPr>
            <a:r>
              <a:rPr dirty="0" sz="1050" spc="-150" b="1">
                <a:latin typeface="Times New Roman"/>
                <a:cs typeface="Times New Roman"/>
              </a:rPr>
              <a:t>store</a:t>
            </a:r>
            <a:r>
              <a:rPr dirty="0" sz="1050" spc="-25" b="1">
                <a:latin typeface="Times New Roman"/>
                <a:cs typeface="Times New Roman"/>
              </a:rPr>
              <a:t> </a:t>
            </a:r>
            <a:r>
              <a:rPr dirty="0" sz="1050" spc="-345" b="1">
                <a:latin typeface="宋体"/>
                <a:cs typeface="宋体"/>
              </a:rPr>
              <a:t>缓冲器</a:t>
            </a:r>
            <a:endParaRPr sz="1050">
              <a:latin typeface="宋体"/>
              <a:cs typeface="宋体"/>
            </a:endParaRPr>
          </a:p>
        </p:txBody>
      </p:sp>
      <p:sp>
        <p:nvSpPr>
          <p:cNvPr id="19" name="object 19" descr=""/>
          <p:cNvSpPr txBox="1"/>
          <p:nvPr/>
        </p:nvSpPr>
        <p:spPr>
          <a:xfrm>
            <a:off x="8872060" y="2771498"/>
            <a:ext cx="501015" cy="189865"/>
          </a:xfrm>
          <a:prstGeom prst="rect">
            <a:avLst/>
          </a:prstGeom>
        </p:spPr>
        <p:txBody>
          <a:bodyPr wrap="square" lIns="0" tIns="15875" rIns="0" bIns="0" rtlCol="0" vert="horz">
            <a:spAutoFit/>
          </a:bodyPr>
          <a:lstStyle/>
          <a:p>
            <a:pPr marL="12700">
              <a:lnSpc>
                <a:spcPct val="100000"/>
              </a:lnSpc>
              <a:spcBef>
                <a:spcPts val="125"/>
              </a:spcBef>
            </a:pPr>
            <a:r>
              <a:rPr dirty="0" sz="1050" spc="-160" b="1">
                <a:latin typeface="Times New Roman"/>
                <a:cs typeface="Times New Roman"/>
              </a:rPr>
              <a:t>load</a:t>
            </a:r>
            <a:r>
              <a:rPr dirty="0" sz="1050" spc="-40" b="1">
                <a:latin typeface="Times New Roman"/>
                <a:cs typeface="Times New Roman"/>
              </a:rPr>
              <a:t> </a:t>
            </a:r>
            <a:r>
              <a:rPr dirty="0" sz="1050" spc="-345" b="1">
                <a:latin typeface="宋体"/>
                <a:cs typeface="宋体"/>
              </a:rPr>
              <a:t>缓冲器</a:t>
            </a:r>
            <a:endParaRPr sz="1050">
              <a:latin typeface="宋体"/>
              <a:cs typeface="宋体"/>
            </a:endParaRPr>
          </a:p>
        </p:txBody>
      </p:sp>
      <p:sp>
        <p:nvSpPr>
          <p:cNvPr id="20" name="object 20" descr=""/>
          <p:cNvSpPr txBox="1"/>
          <p:nvPr/>
        </p:nvSpPr>
        <p:spPr>
          <a:xfrm>
            <a:off x="8570510" y="2511927"/>
            <a:ext cx="521970" cy="235585"/>
          </a:xfrm>
          <a:prstGeom prst="rect">
            <a:avLst/>
          </a:prstGeom>
          <a:ln w="11005">
            <a:solidFill>
              <a:srgbClr val="000000"/>
            </a:solidFill>
          </a:ln>
        </p:spPr>
        <p:txBody>
          <a:bodyPr wrap="square" lIns="0" tIns="40640" rIns="0" bIns="0" rtlCol="0" vert="horz">
            <a:spAutoFit/>
          </a:bodyPr>
          <a:lstStyle/>
          <a:p>
            <a:pPr marL="75565">
              <a:lnSpc>
                <a:spcPct val="100000"/>
              </a:lnSpc>
              <a:spcBef>
                <a:spcPts val="320"/>
              </a:spcBef>
            </a:pPr>
            <a:r>
              <a:rPr dirty="0" sz="1050" spc="-345" b="1">
                <a:latin typeface="宋体"/>
                <a:cs typeface="宋体"/>
              </a:rPr>
              <a:t>地址部件</a:t>
            </a:r>
            <a:endParaRPr sz="1050">
              <a:latin typeface="宋体"/>
              <a:cs typeface="宋体"/>
            </a:endParaRPr>
          </a:p>
        </p:txBody>
      </p:sp>
      <p:sp>
        <p:nvSpPr>
          <p:cNvPr id="21" name="object 21" descr=""/>
          <p:cNvSpPr txBox="1"/>
          <p:nvPr/>
        </p:nvSpPr>
        <p:spPr>
          <a:xfrm>
            <a:off x="8480851" y="2109819"/>
            <a:ext cx="628015" cy="189865"/>
          </a:xfrm>
          <a:prstGeom prst="rect">
            <a:avLst/>
          </a:prstGeom>
        </p:spPr>
        <p:txBody>
          <a:bodyPr wrap="square" lIns="0" tIns="15875" rIns="0" bIns="0" rtlCol="0" vert="horz">
            <a:spAutoFit/>
          </a:bodyPr>
          <a:lstStyle/>
          <a:p>
            <a:pPr marL="12700">
              <a:lnSpc>
                <a:spcPct val="100000"/>
              </a:lnSpc>
              <a:spcBef>
                <a:spcPts val="125"/>
              </a:spcBef>
            </a:pPr>
            <a:r>
              <a:rPr dirty="0" sz="1050" spc="-145" b="1">
                <a:latin typeface="Times New Roman"/>
                <a:cs typeface="Times New Roman"/>
              </a:rPr>
              <a:t>load/store</a:t>
            </a:r>
            <a:r>
              <a:rPr dirty="0" sz="1050" spc="-20" b="1">
                <a:latin typeface="Times New Roman"/>
                <a:cs typeface="Times New Roman"/>
              </a:rPr>
              <a:t> </a:t>
            </a:r>
            <a:r>
              <a:rPr dirty="0" sz="1050" spc="-350" b="1">
                <a:latin typeface="宋体"/>
                <a:cs typeface="宋体"/>
              </a:rPr>
              <a:t>操作</a:t>
            </a:r>
            <a:endParaRPr sz="1050">
              <a:latin typeface="宋体"/>
              <a:cs typeface="宋体"/>
            </a:endParaRPr>
          </a:p>
        </p:txBody>
      </p:sp>
      <p:sp>
        <p:nvSpPr>
          <p:cNvPr id="22" name="object 22" descr=""/>
          <p:cNvSpPr txBox="1"/>
          <p:nvPr/>
        </p:nvSpPr>
        <p:spPr>
          <a:xfrm>
            <a:off x="9828268" y="2301389"/>
            <a:ext cx="399415" cy="189865"/>
          </a:xfrm>
          <a:prstGeom prst="rect">
            <a:avLst/>
          </a:prstGeom>
        </p:spPr>
        <p:txBody>
          <a:bodyPr wrap="square" lIns="0" tIns="15875" rIns="0" bIns="0" rtlCol="0" vert="horz">
            <a:spAutoFit/>
          </a:bodyPr>
          <a:lstStyle/>
          <a:p>
            <a:pPr marL="12700">
              <a:lnSpc>
                <a:spcPct val="100000"/>
              </a:lnSpc>
              <a:spcBef>
                <a:spcPts val="125"/>
              </a:spcBef>
            </a:pPr>
            <a:r>
              <a:rPr dirty="0" sz="1050" spc="-345" b="1">
                <a:latin typeface="宋体"/>
                <a:cs typeface="宋体"/>
              </a:rPr>
              <a:t>浮点操作</a:t>
            </a:r>
            <a:endParaRPr sz="1050">
              <a:latin typeface="宋体"/>
              <a:cs typeface="宋体"/>
            </a:endParaRPr>
          </a:p>
        </p:txBody>
      </p:sp>
      <p:sp>
        <p:nvSpPr>
          <p:cNvPr id="23" name="object 23" descr=""/>
          <p:cNvSpPr txBox="1"/>
          <p:nvPr/>
        </p:nvSpPr>
        <p:spPr>
          <a:xfrm>
            <a:off x="10088902" y="2631165"/>
            <a:ext cx="492125" cy="189865"/>
          </a:xfrm>
          <a:prstGeom prst="rect">
            <a:avLst/>
          </a:prstGeom>
        </p:spPr>
        <p:txBody>
          <a:bodyPr wrap="square" lIns="0" tIns="15875" rIns="0" bIns="0" rtlCol="0" vert="horz">
            <a:spAutoFit/>
          </a:bodyPr>
          <a:lstStyle/>
          <a:p>
            <a:pPr marL="12700">
              <a:lnSpc>
                <a:spcPct val="100000"/>
              </a:lnSpc>
              <a:spcBef>
                <a:spcPts val="125"/>
              </a:spcBef>
            </a:pPr>
            <a:r>
              <a:rPr dirty="0" sz="1050" spc="-340" b="1">
                <a:latin typeface="宋体"/>
                <a:cs typeface="宋体"/>
              </a:rPr>
              <a:t>操作数总线</a:t>
            </a:r>
            <a:endParaRPr sz="1050">
              <a:latin typeface="宋体"/>
              <a:cs typeface="宋体"/>
            </a:endParaRPr>
          </a:p>
        </p:txBody>
      </p:sp>
      <p:sp>
        <p:nvSpPr>
          <p:cNvPr id="24" name="object 24" descr=""/>
          <p:cNvSpPr txBox="1"/>
          <p:nvPr/>
        </p:nvSpPr>
        <p:spPr>
          <a:xfrm>
            <a:off x="10229195" y="3149014"/>
            <a:ext cx="399415" cy="189865"/>
          </a:xfrm>
          <a:prstGeom prst="rect">
            <a:avLst/>
          </a:prstGeom>
        </p:spPr>
        <p:txBody>
          <a:bodyPr wrap="square" lIns="0" tIns="15875" rIns="0" bIns="0" rtlCol="0" vert="horz">
            <a:spAutoFit/>
          </a:bodyPr>
          <a:lstStyle/>
          <a:p>
            <a:pPr marL="12700">
              <a:lnSpc>
                <a:spcPct val="100000"/>
              </a:lnSpc>
              <a:spcBef>
                <a:spcPts val="125"/>
              </a:spcBef>
            </a:pPr>
            <a:r>
              <a:rPr dirty="0" sz="1050" spc="-345" b="1">
                <a:latin typeface="宋体"/>
                <a:cs typeface="宋体"/>
              </a:rPr>
              <a:t>操作总线</a:t>
            </a:r>
            <a:endParaRPr sz="1050">
              <a:latin typeface="宋体"/>
              <a:cs typeface="宋体"/>
            </a:endParaRPr>
          </a:p>
        </p:txBody>
      </p:sp>
      <p:sp>
        <p:nvSpPr>
          <p:cNvPr id="25" name="object 25" descr=""/>
          <p:cNvSpPr txBox="1"/>
          <p:nvPr/>
        </p:nvSpPr>
        <p:spPr>
          <a:xfrm>
            <a:off x="7807876" y="4137169"/>
            <a:ext cx="214629" cy="189865"/>
          </a:xfrm>
          <a:prstGeom prst="rect">
            <a:avLst/>
          </a:prstGeom>
        </p:spPr>
        <p:txBody>
          <a:bodyPr wrap="square" lIns="0" tIns="15875" rIns="0" bIns="0" rtlCol="0" vert="horz">
            <a:spAutoFit/>
          </a:bodyPr>
          <a:lstStyle/>
          <a:p>
            <a:pPr marL="12700">
              <a:lnSpc>
                <a:spcPct val="100000"/>
              </a:lnSpc>
              <a:spcBef>
                <a:spcPts val="125"/>
              </a:spcBef>
            </a:pPr>
            <a:r>
              <a:rPr dirty="0" sz="1050" spc="-350" b="1">
                <a:latin typeface="宋体"/>
                <a:cs typeface="宋体"/>
              </a:rPr>
              <a:t>数据</a:t>
            </a:r>
            <a:endParaRPr sz="1050">
              <a:latin typeface="宋体"/>
              <a:cs typeface="宋体"/>
            </a:endParaRPr>
          </a:p>
        </p:txBody>
      </p:sp>
      <p:grpSp>
        <p:nvGrpSpPr>
          <p:cNvPr id="26" name="object 26" descr=""/>
          <p:cNvGrpSpPr/>
          <p:nvPr/>
        </p:nvGrpSpPr>
        <p:grpSpPr>
          <a:xfrm>
            <a:off x="7869480" y="1517884"/>
            <a:ext cx="3749040" cy="2553970"/>
            <a:chOff x="7869480" y="1517884"/>
            <a:chExt cx="3749040" cy="2553970"/>
          </a:xfrm>
        </p:grpSpPr>
        <p:sp>
          <p:nvSpPr>
            <p:cNvPr id="27" name="object 27" descr=""/>
            <p:cNvSpPr/>
            <p:nvPr/>
          </p:nvSpPr>
          <p:spPr>
            <a:xfrm>
              <a:off x="9439834" y="1522647"/>
              <a:ext cx="478155" cy="706755"/>
            </a:xfrm>
            <a:custGeom>
              <a:avLst/>
              <a:gdLst/>
              <a:ahLst/>
              <a:cxnLst/>
              <a:rect l="l" t="t" r="r" b="b"/>
              <a:pathLst>
                <a:path w="478154" h="706755">
                  <a:moveTo>
                    <a:pt x="478104" y="0"/>
                  </a:moveTo>
                  <a:lnTo>
                    <a:pt x="0" y="0"/>
                  </a:lnTo>
                  <a:lnTo>
                    <a:pt x="0" y="706516"/>
                  </a:lnTo>
                  <a:lnTo>
                    <a:pt x="478104" y="706516"/>
                  </a:lnTo>
                  <a:lnTo>
                    <a:pt x="478104" y="0"/>
                  </a:lnTo>
                  <a:close/>
                </a:path>
              </a:pathLst>
            </a:custGeom>
            <a:solidFill>
              <a:srgbClr val="FFCC99"/>
            </a:solidFill>
          </p:spPr>
          <p:txBody>
            <a:bodyPr wrap="square" lIns="0" tIns="0" rIns="0" bIns="0" rtlCol="0"/>
            <a:lstStyle/>
            <a:p/>
          </p:txBody>
        </p:sp>
        <p:sp>
          <p:nvSpPr>
            <p:cNvPr id="28" name="object 28" descr=""/>
            <p:cNvSpPr/>
            <p:nvPr/>
          </p:nvSpPr>
          <p:spPr>
            <a:xfrm>
              <a:off x="9439834" y="1522647"/>
              <a:ext cx="478155" cy="706755"/>
            </a:xfrm>
            <a:custGeom>
              <a:avLst/>
              <a:gdLst/>
              <a:ahLst/>
              <a:cxnLst/>
              <a:rect l="l" t="t" r="r" b="b"/>
              <a:pathLst>
                <a:path w="478154" h="706755">
                  <a:moveTo>
                    <a:pt x="0" y="706516"/>
                  </a:moveTo>
                  <a:lnTo>
                    <a:pt x="478104" y="706516"/>
                  </a:lnTo>
                  <a:lnTo>
                    <a:pt x="478104" y="0"/>
                  </a:lnTo>
                  <a:lnTo>
                    <a:pt x="0" y="0"/>
                  </a:lnTo>
                  <a:lnTo>
                    <a:pt x="0" y="706516"/>
                  </a:lnTo>
                  <a:close/>
                </a:path>
              </a:pathLst>
            </a:custGeom>
            <a:ln w="8832">
              <a:solidFill>
                <a:srgbClr val="000000"/>
              </a:solidFill>
            </a:ln>
          </p:spPr>
          <p:txBody>
            <a:bodyPr wrap="square" lIns="0" tIns="0" rIns="0" bIns="0" rtlCol="0"/>
            <a:lstStyle/>
            <a:p/>
          </p:txBody>
        </p:sp>
        <p:sp>
          <p:nvSpPr>
            <p:cNvPr id="29" name="object 29" descr=""/>
            <p:cNvSpPr/>
            <p:nvPr/>
          </p:nvSpPr>
          <p:spPr>
            <a:xfrm>
              <a:off x="9439834" y="1664029"/>
              <a:ext cx="478155" cy="424180"/>
            </a:xfrm>
            <a:custGeom>
              <a:avLst/>
              <a:gdLst/>
              <a:ahLst/>
              <a:cxnLst/>
              <a:rect l="l" t="t" r="r" b="b"/>
              <a:pathLst>
                <a:path w="478154" h="424180">
                  <a:moveTo>
                    <a:pt x="0" y="0"/>
                  </a:moveTo>
                  <a:lnTo>
                    <a:pt x="478155" y="0"/>
                  </a:lnTo>
                </a:path>
                <a:path w="478154" h="424180">
                  <a:moveTo>
                    <a:pt x="0" y="141397"/>
                  </a:moveTo>
                  <a:lnTo>
                    <a:pt x="478155" y="141397"/>
                  </a:lnTo>
                </a:path>
                <a:path w="478154" h="424180">
                  <a:moveTo>
                    <a:pt x="0" y="282794"/>
                  </a:moveTo>
                  <a:lnTo>
                    <a:pt x="478155" y="282794"/>
                  </a:lnTo>
                </a:path>
                <a:path w="478154" h="424180">
                  <a:moveTo>
                    <a:pt x="0" y="423736"/>
                  </a:moveTo>
                  <a:lnTo>
                    <a:pt x="478155" y="423736"/>
                  </a:lnTo>
                </a:path>
              </a:pathLst>
            </a:custGeom>
            <a:ln w="9506">
              <a:solidFill>
                <a:srgbClr val="000000"/>
              </a:solidFill>
            </a:ln>
          </p:spPr>
          <p:txBody>
            <a:bodyPr wrap="square" lIns="0" tIns="0" rIns="0" bIns="0" rtlCol="0"/>
            <a:lstStyle/>
            <a:p/>
          </p:txBody>
        </p:sp>
        <p:sp>
          <p:nvSpPr>
            <p:cNvPr id="30" name="object 30" descr=""/>
            <p:cNvSpPr/>
            <p:nvPr/>
          </p:nvSpPr>
          <p:spPr>
            <a:xfrm>
              <a:off x="7875195" y="2982674"/>
              <a:ext cx="652145" cy="1036319"/>
            </a:xfrm>
            <a:custGeom>
              <a:avLst/>
              <a:gdLst/>
              <a:ahLst/>
              <a:cxnLst/>
              <a:rect l="l" t="t" r="r" b="b"/>
              <a:pathLst>
                <a:path w="652145" h="1036320">
                  <a:moveTo>
                    <a:pt x="651873" y="0"/>
                  </a:moveTo>
                  <a:lnTo>
                    <a:pt x="0" y="0"/>
                  </a:lnTo>
                  <a:lnTo>
                    <a:pt x="0" y="1035911"/>
                  </a:lnTo>
                  <a:lnTo>
                    <a:pt x="651873" y="1035911"/>
                  </a:lnTo>
                  <a:lnTo>
                    <a:pt x="651873" y="0"/>
                  </a:lnTo>
                  <a:close/>
                </a:path>
              </a:pathLst>
            </a:custGeom>
            <a:solidFill>
              <a:srgbClr val="CCFFCC"/>
            </a:solidFill>
          </p:spPr>
          <p:txBody>
            <a:bodyPr wrap="square" lIns="0" tIns="0" rIns="0" bIns="0" rtlCol="0"/>
            <a:lstStyle/>
            <a:p/>
          </p:txBody>
        </p:sp>
        <p:sp>
          <p:nvSpPr>
            <p:cNvPr id="31" name="object 31" descr=""/>
            <p:cNvSpPr/>
            <p:nvPr/>
          </p:nvSpPr>
          <p:spPr>
            <a:xfrm>
              <a:off x="7875195" y="2982674"/>
              <a:ext cx="652145" cy="1036319"/>
            </a:xfrm>
            <a:custGeom>
              <a:avLst/>
              <a:gdLst/>
              <a:ahLst/>
              <a:cxnLst/>
              <a:rect l="l" t="t" r="r" b="b"/>
              <a:pathLst>
                <a:path w="652145" h="1036320">
                  <a:moveTo>
                    <a:pt x="0" y="1035911"/>
                  </a:moveTo>
                  <a:lnTo>
                    <a:pt x="651873" y="1035911"/>
                  </a:lnTo>
                  <a:lnTo>
                    <a:pt x="651873" y="0"/>
                  </a:lnTo>
                  <a:lnTo>
                    <a:pt x="0" y="0"/>
                  </a:lnTo>
                  <a:lnTo>
                    <a:pt x="0" y="1035911"/>
                  </a:lnTo>
                  <a:close/>
                </a:path>
              </a:pathLst>
            </a:custGeom>
            <a:ln w="8722">
              <a:solidFill>
                <a:srgbClr val="000000"/>
              </a:solidFill>
            </a:ln>
          </p:spPr>
          <p:txBody>
            <a:bodyPr wrap="square" lIns="0" tIns="0" rIns="0" bIns="0" rtlCol="0"/>
            <a:lstStyle/>
            <a:p/>
          </p:txBody>
        </p:sp>
        <p:sp>
          <p:nvSpPr>
            <p:cNvPr id="32" name="object 32" descr=""/>
            <p:cNvSpPr/>
            <p:nvPr/>
          </p:nvSpPr>
          <p:spPr>
            <a:xfrm>
              <a:off x="7875195" y="2982674"/>
              <a:ext cx="652145" cy="1036319"/>
            </a:xfrm>
            <a:custGeom>
              <a:avLst/>
              <a:gdLst/>
              <a:ahLst/>
              <a:cxnLst/>
              <a:rect l="l" t="t" r="r" b="b"/>
              <a:pathLst>
                <a:path w="652145" h="1036320">
                  <a:moveTo>
                    <a:pt x="0" y="172413"/>
                  </a:moveTo>
                  <a:lnTo>
                    <a:pt x="651873" y="172413"/>
                  </a:lnTo>
                </a:path>
                <a:path w="652145" h="1036320">
                  <a:moveTo>
                    <a:pt x="0" y="345435"/>
                  </a:moveTo>
                  <a:lnTo>
                    <a:pt x="651873" y="345435"/>
                  </a:lnTo>
                </a:path>
                <a:path w="652145" h="1036320">
                  <a:moveTo>
                    <a:pt x="0" y="518138"/>
                  </a:moveTo>
                  <a:lnTo>
                    <a:pt x="651873" y="518138"/>
                  </a:lnTo>
                </a:path>
                <a:path w="652145" h="1036320">
                  <a:moveTo>
                    <a:pt x="0" y="690475"/>
                  </a:moveTo>
                  <a:lnTo>
                    <a:pt x="651873" y="690475"/>
                  </a:lnTo>
                </a:path>
                <a:path w="652145" h="1036320">
                  <a:moveTo>
                    <a:pt x="0" y="863558"/>
                  </a:moveTo>
                  <a:lnTo>
                    <a:pt x="651873" y="863558"/>
                  </a:lnTo>
                </a:path>
                <a:path w="652145" h="1036320">
                  <a:moveTo>
                    <a:pt x="325931" y="0"/>
                  </a:moveTo>
                  <a:lnTo>
                    <a:pt x="325931" y="1035911"/>
                  </a:lnTo>
                </a:path>
              </a:pathLst>
            </a:custGeom>
            <a:ln w="9506">
              <a:solidFill>
                <a:srgbClr val="000000"/>
              </a:solidFill>
            </a:ln>
          </p:spPr>
          <p:txBody>
            <a:bodyPr wrap="square" lIns="0" tIns="0" rIns="0" bIns="0" rtlCol="0"/>
            <a:lstStyle/>
            <a:p/>
          </p:txBody>
        </p:sp>
        <p:sp>
          <p:nvSpPr>
            <p:cNvPr id="33" name="object 33" descr=""/>
            <p:cNvSpPr/>
            <p:nvPr/>
          </p:nvSpPr>
          <p:spPr>
            <a:xfrm>
              <a:off x="8679241" y="2982674"/>
              <a:ext cx="326390" cy="1036319"/>
            </a:xfrm>
            <a:custGeom>
              <a:avLst/>
              <a:gdLst/>
              <a:ahLst/>
              <a:cxnLst/>
              <a:rect l="l" t="t" r="r" b="b"/>
              <a:pathLst>
                <a:path w="326390" h="1036320">
                  <a:moveTo>
                    <a:pt x="325942" y="0"/>
                  </a:moveTo>
                  <a:lnTo>
                    <a:pt x="0" y="0"/>
                  </a:lnTo>
                  <a:lnTo>
                    <a:pt x="0" y="1035911"/>
                  </a:lnTo>
                  <a:lnTo>
                    <a:pt x="325942" y="1035911"/>
                  </a:lnTo>
                  <a:lnTo>
                    <a:pt x="325942" y="0"/>
                  </a:lnTo>
                  <a:close/>
                </a:path>
              </a:pathLst>
            </a:custGeom>
            <a:solidFill>
              <a:srgbClr val="CCFFCC"/>
            </a:solidFill>
          </p:spPr>
          <p:txBody>
            <a:bodyPr wrap="square" lIns="0" tIns="0" rIns="0" bIns="0" rtlCol="0"/>
            <a:lstStyle/>
            <a:p/>
          </p:txBody>
        </p:sp>
        <p:sp>
          <p:nvSpPr>
            <p:cNvPr id="34" name="object 34" descr=""/>
            <p:cNvSpPr/>
            <p:nvPr/>
          </p:nvSpPr>
          <p:spPr>
            <a:xfrm>
              <a:off x="8679241" y="2982674"/>
              <a:ext cx="326390" cy="1036319"/>
            </a:xfrm>
            <a:custGeom>
              <a:avLst/>
              <a:gdLst/>
              <a:ahLst/>
              <a:cxnLst/>
              <a:rect l="l" t="t" r="r" b="b"/>
              <a:pathLst>
                <a:path w="326390" h="1036320">
                  <a:moveTo>
                    <a:pt x="0" y="1035911"/>
                  </a:moveTo>
                  <a:lnTo>
                    <a:pt x="325942" y="1035911"/>
                  </a:lnTo>
                  <a:lnTo>
                    <a:pt x="325942" y="0"/>
                  </a:lnTo>
                  <a:lnTo>
                    <a:pt x="0" y="0"/>
                  </a:lnTo>
                  <a:lnTo>
                    <a:pt x="0" y="1035911"/>
                  </a:lnTo>
                  <a:close/>
                </a:path>
              </a:pathLst>
            </a:custGeom>
            <a:ln w="8021">
              <a:solidFill>
                <a:srgbClr val="000000"/>
              </a:solidFill>
            </a:ln>
          </p:spPr>
          <p:txBody>
            <a:bodyPr wrap="square" lIns="0" tIns="0" rIns="0" bIns="0" rtlCol="0"/>
            <a:lstStyle/>
            <a:p/>
          </p:txBody>
        </p:sp>
        <p:sp>
          <p:nvSpPr>
            <p:cNvPr id="35" name="object 35" descr=""/>
            <p:cNvSpPr/>
            <p:nvPr/>
          </p:nvSpPr>
          <p:spPr>
            <a:xfrm>
              <a:off x="8679241" y="3155088"/>
              <a:ext cx="326390" cy="691515"/>
            </a:xfrm>
            <a:custGeom>
              <a:avLst/>
              <a:gdLst/>
              <a:ahLst/>
              <a:cxnLst/>
              <a:rect l="l" t="t" r="r" b="b"/>
              <a:pathLst>
                <a:path w="326390" h="691514">
                  <a:moveTo>
                    <a:pt x="0" y="0"/>
                  </a:moveTo>
                  <a:lnTo>
                    <a:pt x="325962" y="0"/>
                  </a:lnTo>
                </a:path>
                <a:path w="326390" h="691514">
                  <a:moveTo>
                    <a:pt x="0" y="173021"/>
                  </a:moveTo>
                  <a:lnTo>
                    <a:pt x="325962" y="173021"/>
                  </a:lnTo>
                </a:path>
                <a:path w="326390" h="691514">
                  <a:moveTo>
                    <a:pt x="0" y="345724"/>
                  </a:moveTo>
                  <a:lnTo>
                    <a:pt x="325962" y="345724"/>
                  </a:lnTo>
                </a:path>
                <a:path w="326390" h="691514">
                  <a:moveTo>
                    <a:pt x="0" y="518062"/>
                  </a:moveTo>
                  <a:lnTo>
                    <a:pt x="325962" y="518062"/>
                  </a:lnTo>
                </a:path>
                <a:path w="326390" h="691514">
                  <a:moveTo>
                    <a:pt x="0" y="691144"/>
                  </a:moveTo>
                  <a:lnTo>
                    <a:pt x="325962" y="691144"/>
                  </a:lnTo>
                </a:path>
              </a:pathLst>
            </a:custGeom>
            <a:ln w="9506">
              <a:solidFill>
                <a:srgbClr val="000000"/>
              </a:solidFill>
            </a:ln>
          </p:spPr>
          <p:txBody>
            <a:bodyPr wrap="square" lIns="0" tIns="0" rIns="0" bIns="0" rtlCol="0"/>
            <a:lstStyle/>
            <a:p/>
          </p:txBody>
        </p:sp>
        <p:sp>
          <p:nvSpPr>
            <p:cNvPr id="36" name="object 36" descr=""/>
            <p:cNvSpPr/>
            <p:nvPr/>
          </p:nvSpPr>
          <p:spPr>
            <a:xfrm>
              <a:off x="9352991" y="3594804"/>
              <a:ext cx="891540" cy="471170"/>
            </a:xfrm>
            <a:custGeom>
              <a:avLst/>
              <a:gdLst/>
              <a:ahLst/>
              <a:cxnLst/>
              <a:rect l="l" t="t" r="r" b="b"/>
              <a:pathLst>
                <a:path w="891540" h="471170">
                  <a:moveTo>
                    <a:pt x="890930" y="0"/>
                  </a:moveTo>
                  <a:lnTo>
                    <a:pt x="0" y="0"/>
                  </a:lnTo>
                  <a:lnTo>
                    <a:pt x="0" y="471142"/>
                  </a:lnTo>
                  <a:lnTo>
                    <a:pt x="890931" y="471142"/>
                  </a:lnTo>
                  <a:lnTo>
                    <a:pt x="890930" y="0"/>
                  </a:lnTo>
                  <a:close/>
                </a:path>
              </a:pathLst>
            </a:custGeom>
            <a:solidFill>
              <a:srgbClr val="CCFFCC"/>
            </a:solidFill>
          </p:spPr>
          <p:txBody>
            <a:bodyPr wrap="square" lIns="0" tIns="0" rIns="0" bIns="0" rtlCol="0"/>
            <a:lstStyle/>
            <a:p/>
          </p:txBody>
        </p:sp>
        <p:sp>
          <p:nvSpPr>
            <p:cNvPr id="37" name="object 37" descr=""/>
            <p:cNvSpPr/>
            <p:nvPr/>
          </p:nvSpPr>
          <p:spPr>
            <a:xfrm>
              <a:off x="9352991" y="3594804"/>
              <a:ext cx="891540" cy="471170"/>
            </a:xfrm>
            <a:custGeom>
              <a:avLst/>
              <a:gdLst/>
              <a:ahLst/>
              <a:cxnLst/>
              <a:rect l="l" t="t" r="r" b="b"/>
              <a:pathLst>
                <a:path w="891540" h="471170">
                  <a:moveTo>
                    <a:pt x="0" y="471142"/>
                  </a:moveTo>
                  <a:lnTo>
                    <a:pt x="890931" y="471142"/>
                  </a:lnTo>
                  <a:lnTo>
                    <a:pt x="890930" y="0"/>
                  </a:lnTo>
                  <a:lnTo>
                    <a:pt x="0" y="0"/>
                  </a:lnTo>
                  <a:lnTo>
                    <a:pt x="0" y="471142"/>
                  </a:lnTo>
                  <a:close/>
                </a:path>
              </a:pathLst>
            </a:custGeom>
            <a:ln w="10525">
              <a:solidFill>
                <a:srgbClr val="000000"/>
              </a:solidFill>
            </a:ln>
          </p:spPr>
          <p:txBody>
            <a:bodyPr wrap="square" lIns="0" tIns="0" rIns="0" bIns="0" rtlCol="0"/>
            <a:lstStyle/>
            <a:p/>
          </p:txBody>
        </p:sp>
        <p:sp>
          <p:nvSpPr>
            <p:cNvPr id="38" name="object 38" descr=""/>
            <p:cNvSpPr/>
            <p:nvPr/>
          </p:nvSpPr>
          <p:spPr>
            <a:xfrm>
              <a:off x="9352991" y="3594819"/>
              <a:ext cx="890905" cy="471170"/>
            </a:xfrm>
            <a:custGeom>
              <a:avLst/>
              <a:gdLst/>
              <a:ahLst/>
              <a:cxnLst/>
              <a:rect l="l" t="t" r="r" b="b"/>
              <a:pathLst>
                <a:path w="890904" h="471170">
                  <a:moveTo>
                    <a:pt x="0" y="157407"/>
                  </a:moveTo>
                  <a:lnTo>
                    <a:pt x="890868" y="157407"/>
                  </a:lnTo>
                </a:path>
                <a:path w="890904" h="471170">
                  <a:moveTo>
                    <a:pt x="0" y="313719"/>
                  </a:moveTo>
                  <a:lnTo>
                    <a:pt x="890868" y="313719"/>
                  </a:lnTo>
                </a:path>
                <a:path w="890904" h="471170">
                  <a:moveTo>
                    <a:pt x="151665" y="0"/>
                  </a:moveTo>
                  <a:lnTo>
                    <a:pt x="151665" y="471127"/>
                  </a:lnTo>
                </a:path>
                <a:path w="890904" h="471170">
                  <a:moveTo>
                    <a:pt x="530675" y="0"/>
                  </a:moveTo>
                  <a:lnTo>
                    <a:pt x="530675" y="471127"/>
                  </a:lnTo>
                </a:path>
              </a:pathLst>
            </a:custGeom>
            <a:ln w="9506">
              <a:solidFill>
                <a:srgbClr val="000000"/>
              </a:solidFill>
            </a:ln>
          </p:spPr>
          <p:txBody>
            <a:bodyPr wrap="square" lIns="0" tIns="0" rIns="0" bIns="0" rtlCol="0"/>
            <a:lstStyle/>
            <a:p/>
          </p:txBody>
        </p:sp>
        <p:sp>
          <p:nvSpPr>
            <p:cNvPr id="39" name="object 39" descr=""/>
            <p:cNvSpPr/>
            <p:nvPr/>
          </p:nvSpPr>
          <p:spPr>
            <a:xfrm>
              <a:off x="10721706" y="3689190"/>
              <a:ext cx="891540" cy="329565"/>
            </a:xfrm>
            <a:custGeom>
              <a:avLst/>
              <a:gdLst/>
              <a:ahLst/>
              <a:cxnLst/>
              <a:rect l="l" t="t" r="r" b="b"/>
              <a:pathLst>
                <a:path w="891540" h="329564">
                  <a:moveTo>
                    <a:pt x="890930" y="0"/>
                  </a:moveTo>
                  <a:lnTo>
                    <a:pt x="0" y="0"/>
                  </a:lnTo>
                  <a:lnTo>
                    <a:pt x="0" y="329395"/>
                  </a:lnTo>
                  <a:lnTo>
                    <a:pt x="890931" y="329395"/>
                  </a:lnTo>
                  <a:lnTo>
                    <a:pt x="890930" y="0"/>
                  </a:lnTo>
                  <a:close/>
                </a:path>
              </a:pathLst>
            </a:custGeom>
            <a:solidFill>
              <a:srgbClr val="CCFFCC"/>
            </a:solidFill>
          </p:spPr>
          <p:txBody>
            <a:bodyPr wrap="square" lIns="0" tIns="0" rIns="0" bIns="0" rtlCol="0"/>
            <a:lstStyle/>
            <a:p/>
          </p:txBody>
        </p:sp>
        <p:sp>
          <p:nvSpPr>
            <p:cNvPr id="40" name="object 40" descr=""/>
            <p:cNvSpPr/>
            <p:nvPr/>
          </p:nvSpPr>
          <p:spPr>
            <a:xfrm>
              <a:off x="10721706" y="3689190"/>
              <a:ext cx="891540" cy="329565"/>
            </a:xfrm>
            <a:custGeom>
              <a:avLst/>
              <a:gdLst/>
              <a:ahLst/>
              <a:cxnLst/>
              <a:rect l="l" t="t" r="r" b="b"/>
              <a:pathLst>
                <a:path w="891540" h="329564">
                  <a:moveTo>
                    <a:pt x="0" y="329395"/>
                  </a:moveTo>
                  <a:lnTo>
                    <a:pt x="890931" y="329395"/>
                  </a:lnTo>
                  <a:lnTo>
                    <a:pt x="890930" y="0"/>
                  </a:lnTo>
                  <a:lnTo>
                    <a:pt x="0" y="0"/>
                  </a:lnTo>
                  <a:lnTo>
                    <a:pt x="0" y="329395"/>
                  </a:lnTo>
                  <a:close/>
                </a:path>
              </a:pathLst>
            </a:custGeom>
            <a:ln w="10881">
              <a:solidFill>
                <a:srgbClr val="000000"/>
              </a:solidFill>
            </a:ln>
          </p:spPr>
          <p:txBody>
            <a:bodyPr wrap="square" lIns="0" tIns="0" rIns="0" bIns="0" rtlCol="0"/>
            <a:lstStyle/>
            <a:p/>
          </p:txBody>
        </p:sp>
        <p:sp>
          <p:nvSpPr>
            <p:cNvPr id="41" name="object 41" descr=""/>
            <p:cNvSpPr/>
            <p:nvPr/>
          </p:nvSpPr>
          <p:spPr>
            <a:xfrm>
              <a:off x="10721706" y="3689190"/>
              <a:ext cx="891540" cy="329565"/>
            </a:xfrm>
            <a:custGeom>
              <a:avLst/>
              <a:gdLst/>
              <a:ahLst/>
              <a:cxnLst/>
              <a:rect l="l" t="t" r="r" b="b"/>
              <a:pathLst>
                <a:path w="891540" h="329564">
                  <a:moveTo>
                    <a:pt x="0" y="164690"/>
                  </a:moveTo>
                  <a:lnTo>
                    <a:pt x="890972" y="164690"/>
                  </a:lnTo>
                </a:path>
                <a:path w="891540" h="329564">
                  <a:moveTo>
                    <a:pt x="151769" y="0"/>
                  </a:moveTo>
                  <a:lnTo>
                    <a:pt x="151769" y="329395"/>
                  </a:lnTo>
                </a:path>
                <a:path w="891540" h="329564">
                  <a:moveTo>
                    <a:pt x="530985" y="0"/>
                  </a:moveTo>
                  <a:lnTo>
                    <a:pt x="530985" y="329395"/>
                  </a:lnTo>
                </a:path>
              </a:pathLst>
            </a:custGeom>
            <a:ln w="9506">
              <a:solidFill>
                <a:srgbClr val="000000"/>
              </a:solidFill>
            </a:ln>
          </p:spPr>
          <p:txBody>
            <a:bodyPr wrap="square" lIns="0" tIns="0" rIns="0" bIns="0" rtlCol="0"/>
            <a:lstStyle/>
            <a:p/>
          </p:txBody>
        </p:sp>
      </p:grpSp>
      <p:sp>
        <p:nvSpPr>
          <p:cNvPr id="42" name="object 42" descr=""/>
          <p:cNvSpPr txBox="1"/>
          <p:nvPr/>
        </p:nvSpPr>
        <p:spPr>
          <a:xfrm>
            <a:off x="7962079" y="4395706"/>
            <a:ext cx="913130" cy="329565"/>
          </a:xfrm>
          <a:prstGeom prst="rect">
            <a:avLst/>
          </a:prstGeom>
          <a:solidFill>
            <a:srgbClr val="CCFFFF"/>
          </a:solidFill>
          <a:ln w="11111">
            <a:solidFill>
              <a:srgbClr val="000000"/>
            </a:solidFill>
          </a:ln>
        </p:spPr>
        <p:txBody>
          <a:bodyPr wrap="square" lIns="0" tIns="76200" rIns="0" bIns="0" rtlCol="0" vert="horz">
            <a:spAutoFit/>
          </a:bodyPr>
          <a:lstStyle/>
          <a:p>
            <a:pPr marL="270510">
              <a:lnSpc>
                <a:spcPct val="100000"/>
              </a:lnSpc>
              <a:spcBef>
                <a:spcPts val="600"/>
              </a:spcBef>
            </a:pPr>
            <a:r>
              <a:rPr dirty="0" sz="1050" spc="-345" b="1">
                <a:latin typeface="宋体"/>
                <a:cs typeface="宋体"/>
              </a:rPr>
              <a:t>存储部件</a:t>
            </a:r>
            <a:endParaRPr sz="1050">
              <a:latin typeface="宋体"/>
              <a:cs typeface="宋体"/>
            </a:endParaRPr>
          </a:p>
        </p:txBody>
      </p:sp>
      <p:sp>
        <p:nvSpPr>
          <p:cNvPr id="43" name="object 43" descr=""/>
          <p:cNvSpPr txBox="1"/>
          <p:nvPr/>
        </p:nvSpPr>
        <p:spPr>
          <a:xfrm>
            <a:off x="9505174" y="4395706"/>
            <a:ext cx="695325" cy="329565"/>
          </a:xfrm>
          <a:prstGeom prst="rect">
            <a:avLst/>
          </a:prstGeom>
          <a:solidFill>
            <a:srgbClr val="FFBCDE"/>
          </a:solidFill>
          <a:ln w="10976">
            <a:solidFill>
              <a:srgbClr val="000000"/>
            </a:solidFill>
          </a:ln>
        </p:spPr>
        <p:txBody>
          <a:bodyPr wrap="square" lIns="0" tIns="76200" rIns="0" bIns="0" rtlCol="0" vert="horz">
            <a:spAutoFit/>
          </a:bodyPr>
          <a:lstStyle/>
          <a:p>
            <a:pPr marL="118110">
              <a:lnSpc>
                <a:spcPct val="100000"/>
              </a:lnSpc>
              <a:spcBef>
                <a:spcPts val="600"/>
              </a:spcBef>
            </a:pPr>
            <a:r>
              <a:rPr dirty="0" sz="1050" spc="-340" b="1">
                <a:latin typeface="宋体"/>
                <a:cs typeface="宋体"/>
              </a:rPr>
              <a:t>浮点加法器</a:t>
            </a:r>
            <a:endParaRPr sz="1050">
              <a:latin typeface="宋体"/>
              <a:cs typeface="宋体"/>
            </a:endParaRPr>
          </a:p>
        </p:txBody>
      </p:sp>
      <p:sp>
        <p:nvSpPr>
          <p:cNvPr id="44" name="object 44" descr=""/>
          <p:cNvSpPr txBox="1"/>
          <p:nvPr/>
        </p:nvSpPr>
        <p:spPr>
          <a:xfrm>
            <a:off x="10895807" y="4395707"/>
            <a:ext cx="695325" cy="329565"/>
          </a:xfrm>
          <a:prstGeom prst="rect">
            <a:avLst/>
          </a:prstGeom>
          <a:solidFill>
            <a:srgbClr val="E6CDFF"/>
          </a:solidFill>
          <a:ln w="10976">
            <a:solidFill>
              <a:srgbClr val="000000"/>
            </a:solidFill>
          </a:ln>
        </p:spPr>
        <p:txBody>
          <a:bodyPr wrap="square" lIns="0" tIns="71120" rIns="0" bIns="0" rtlCol="0" vert="horz">
            <a:spAutoFit/>
          </a:bodyPr>
          <a:lstStyle/>
          <a:p>
            <a:pPr marL="121920">
              <a:lnSpc>
                <a:spcPct val="100000"/>
              </a:lnSpc>
              <a:spcBef>
                <a:spcPts val="560"/>
              </a:spcBef>
            </a:pPr>
            <a:r>
              <a:rPr dirty="0" sz="1050" spc="-340" b="1">
                <a:latin typeface="宋体"/>
                <a:cs typeface="宋体"/>
              </a:rPr>
              <a:t>浮点乘法器</a:t>
            </a:r>
            <a:endParaRPr sz="1050">
              <a:latin typeface="宋体"/>
              <a:cs typeface="宋体"/>
            </a:endParaRPr>
          </a:p>
        </p:txBody>
      </p:sp>
      <p:grpSp>
        <p:nvGrpSpPr>
          <p:cNvPr id="45" name="object 45" descr=""/>
          <p:cNvGrpSpPr/>
          <p:nvPr/>
        </p:nvGrpSpPr>
        <p:grpSpPr>
          <a:xfrm>
            <a:off x="8049252" y="1278567"/>
            <a:ext cx="2961005" cy="3118485"/>
            <a:chOff x="8049252" y="1278567"/>
            <a:chExt cx="2961005" cy="3118485"/>
          </a:xfrm>
        </p:grpSpPr>
        <p:sp>
          <p:nvSpPr>
            <p:cNvPr id="46" name="object 46" descr=""/>
            <p:cNvSpPr/>
            <p:nvPr/>
          </p:nvSpPr>
          <p:spPr>
            <a:xfrm>
              <a:off x="10504493" y="1711040"/>
              <a:ext cx="499745" cy="659765"/>
            </a:xfrm>
            <a:custGeom>
              <a:avLst/>
              <a:gdLst/>
              <a:ahLst/>
              <a:cxnLst/>
              <a:rect l="l" t="t" r="r" b="b"/>
              <a:pathLst>
                <a:path w="499745" h="659764">
                  <a:moveTo>
                    <a:pt x="499701" y="0"/>
                  </a:moveTo>
                  <a:lnTo>
                    <a:pt x="0" y="0"/>
                  </a:lnTo>
                  <a:lnTo>
                    <a:pt x="0" y="659520"/>
                  </a:lnTo>
                  <a:lnTo>
                    <a:pt x="499701" y="659520"/>
                  </a:lnTo>
                  <a:lnTo>
                    <a:pt x="499701" y="0"/>
                  </a:lnTo>
                  <a:close/>
                </a:path>
              </a:pathLst>
            </a:custGeom>
            <a:solidFill>
              <a:srgbClr val="FFFF99"/>
            </a:solidFill>
          </p:spPr>
          <p:txBody>
            <a:bodyPr wrap="square" lIns="0" tIns="0" rIns="0" bIns="0" rtlCol="0"/>
            <a:lstStyle/>
            <a:p/>
          </p:txBody>
        </p:sp>
        <p:sp>
          <p:nvSpPr>
            <p:cNvPr id="47" name="object 47" descr=""/>
            <p:cNvSpPr/>
            <p:nvPr/>
          </p:nvSpPr>
          <p:spPr>
            <a:xfrm>
              <a:off x="10504493" y="1711040"/>
              <a:ext cx="499745" cy="659765"/>
            </a:xfrm>
            <a:custGeom>
              <a:avLst/>
              <a:gdLst/>
              <a:ahLst/>
              <a:cxnLst/>
              <a:rect l="l" t="t" r="r" b="b"/>
              <a:pathLst>
                <a:path w="499745" h="659764">
                  <a:moveTo>
                    <a:pt x="0" y="659520"/>
                  </a:moveTo>
                  <a:lnTo>
                    <a:pt x="499701" y="659520"/>
                  </a:lnTo>
                  <a:lnTo>
                    <a:pt x="499701" y="0"/>
                  </a:lnTo>
                  <a:lnTo>
                    <a:pt x="0" y="0"/>
                  </a:lnTo>
                  <a:lnTo>
                    <a:pt x="0" y="659520"/>
                  </a:lnTo>
                  <a:close/>
                </a:path>
              </a:pathLst>
            </a:custGeom>
            <a:ln w="9016">
              <a:solidFill>
                <a:srgbClr val="000000"/>
              </a:solidFill>
            </a:ln>
          </p:spPr>
          <p:txBody>
            <a:bodyPr wrap="square" lIns="0" tIns="0" rIns="0" bIns="0" rtlCol="0"/>
            <a:lstStyle/>
            <a:p/>
          </p:txBody>
        </p:sp>
        <p:sp>
          <p:nvSpPr>
            <p:cNvPr id="48" name="object 48" descr=""/>
            <p:cNvSpPr/>
            <p:nvPr/>
          </p:nvSpPr>
          <p:spPr>
            <a:xfrm>
              <a:off x="10504493" y="1876125"/>
              <a:ext cx="500380" cy="330200"/>
            </a:xfrm>
            <a:custGeom>
              <a:avLst/>
              <a:gdLst/>
              <a:ahLst/>
              <a:cxnLst/>
              <a:rect l="l" t="t" r="r" b="b"/>
              <a:pathLst>
                <a:path w="500379" h="330200">
                  <a:moveTo>
                    <a:pt x="0" y="0"/>
                  </a:moveTo>
                  <a:lnTo>
                    <a:pt x="499763" y="0"/>
                  </a:lnTo>
                </a:path>
                <a:path w="500379" h="330200">
                  <a:moveTo>
                    <a:pt x="0" y="164659"/>
                  </a:moveTo>
                  <a:lnTo>
                    <a:pt x="499763" y="164659"/>
                  </a:lnTo>
                </a:path>
                <a:path w="500379" h="330200">
                  <a:moveTo>
                    <a:pt x="0" y="329623"/>
                  </a:moveTo>
                  <a:lnTo>
                    <a:pt x="499763" y="329623"/>
                  </a:lnTo>
                </a:path>
              </a:pathLst>
            </a:custGeom>
            <a:ln w="9506">
              <a:solidFill>
                <a:srgbClr val="000000"/>
              </a:solidFill>
            </a:ln>
          </p:spPr>
          <p:txBody>
            <a:bodyPr wrap="square" lIns="0" tIns="0" rIns="0" bIns="0" rtlCol="0"/>
            <a:lstStyle/>
            <a:p/>
          </p:txBody>
        </p:sp>
        <p:sp>
          <p:nvSpPr>
            <p:cNvPr id="49" name="object 49" descr=""/>
            <p:cNvSpPr/>
            <p:nvPr/>
          </p:nvSpPr>
          <p:spPr>
            <a:xfrm>
              <a:off x="9636472" y="1279519"/>
              <a:ext cx="41910" cy="243204"/>
            </a:xfrm>
            <a:custGeom>
              <a:avLst/>
              <a:gdLst/>
              <a:ahLst/>
              <a:cxnLst/>
              <a:rect l="l" t="t" r="r" b="b"/>
              <a:pathLst>
                <a:path w="41909" h="243205">
                  <a:moveTo>
                    <a:pt x="0" y="152040"/>
                  </a:moveTo>
                  <a:lnTo>
                    <a:pt x="20573" y="243112"/>
                  </a:lnTo>
                  <a:lnTo>
                    <a:pt x="32776" y="189898"/>
                  </a:lnTo>
                  <a:lnTo>
                    <a:pt x="17885" y="189898"/>
                  </a:lnTo>
                  <a:lnTo>
                    <a:pt x="15611" y="186553"/>
                  </a:lnTo>
                  <a:lnTo>
                    <a:pt x="15611" y="174998"/>
                  </a:lnTo>
                  <a:lnTo>
                    <a:pt x="0" y="152040"/>
                  </a:lnTo>
                  <a:close/>
                </a:path>
                <a:path w="41909" h="243205">
                  <a:moveTo>
                    <a:pt x="15611" y="174998"/>
                  </a:moveTo>
                  <a:lnTo>
                    <a:pt x="15611" y="186553"/>
                  </a:lnTo>
                  <a:lnTo>
                    <a:pt x="17885" y="189898"/>
                  </a:lnTo>
                  <a:lnTo>
                    <a:pt x="23571" y="189898"/>
                  </a:lnTo>
                  <a:lnTo>
                    <a:pt x="25742" y="186553"/>
                  </a:lnTo>
                  <a:lnTo>
                    <a:pt x="25742" y="182296"/>
                  </a:lnTo>
                  <a:lnTo>
                    <a:pt x="20573" y="182296"/>
                  </a:lnTo>
                  <a:lnTo>
                    <a:pt x="15611" y="174998"/>
                  </a:lnTo>
                  <a:close/>
                </a:path>
                <a:path w="41909" h="243205">
                  <a:moveTo>
                    <a:pt x="41457" y="152040"/>
                  </a:moveTo>
                  <a:lnTo>
                    <a:pt x="25742" y="174807"/>
                  </a:lnTo>
                  <a:lnTo>
                    <a:pt x="25742" y="186553"/>
                  </a:lnTo>
                  <a:lnTo>
                    <a:pt x="23571" y="189898"/>
                  </a:lnTo>
                  <a:lnTo>
                    <a:pt x="32776" y="189898"/>
                  </a:lnTo>
                  <a:lnTo>
                    <a:pt x="41457" y="152040"/>
                  </a:lnTo>
                  <a:close/>
                </a:path>
                <a:path w="41909" h="243205">
                  <a:moveTo>
                    <a:pt x="23571" y="0"/>
                  </a:moveTo>
                  <a:lnTo>
                    <a:pt x="17885" y="0"/>
                  </a:lnTo>
                  <a:lnTo>
                    <a:pt x="15611" y="3344"/>
                  </a:lnTo>
                  <a:lnTo>
                    <a:pt x="15611" y="174998"/>
                  </a:lnTo>
                  <a:lnTo>
                    <a:pt x="20573" y="182296"/>
                  </a:lnTo>
                  <a:lnTo>
                    <a:pt x="25742" y="174807"/>
                  </a:lnTo>
                  <a:lnTo>
                    <a:pt x="25742" y="3344"/>
                  </a:lnTo>
                  <a:lnTo>
                    <a:pt x="23571" y="0"/>
                  </a:lnTo>
                  <a:close/>
                </a:path>
                <a:path w="41909" h="243205">
                  <a:moveTo>
                    <a:pt x="25742" y="174807"/>
                  </a:moveTo>
                  <a:lnTo>
                    <a:pt x="20573" y="182296"/>
                  </a:lnTo>
                  <a:lnTo>
                    <a:pt x="25742" y="182296"/>
                  </a:lnTo>
                  <a:lnTo>
                    <a:pt x="25742" y="174807"/>
                  </a:lnTo>
                  <a:close/>
                </a:path>
              </a:pathLst>
            </a:custGeom>
            <a:solidFill>
              <a:srgbClr val="000000"/>
            </a:solidFill>
          </p:spPr>
          <p:txBody>
            <a:bodyPr wrap="square" lIns="0" tIns="0" rIns="0" bIns="0" rtlCol="0"/>
            <a:lstStyle/>
            <a:p/>
          </p:txBody>
        </p:sp>
        <p:sp>
          <p:nvSpPr>
            <p:cNvPr id="50" name="object 50" descr=""/>
            <p:cNvSpPr/>
            <p:nvPr/>
          </p:nvSpPr>
          <p:spPr>
            <a:xfrm>
              <a:off x="9636472" y="1279519"/>
              <a:ext cx="41910" cy="243204"/>
            </a:xfrm>
            <a:custGeom>
              <a:avLst/>
              <a:gdLst/>
              <a:ahLst/>
              <a:cxnLst/>
              <a:rect l="l" t="t" r="r" b="b"/>
              <a:pathLst>
                <a:path w="41909" h="243205">
                  <a:moveTo>
                    <a:pt x="25742" y="7754"/>
                  </a:moveTo>
                  <a:lnTo>
                    <a:pt x="25742" y="182296"/>
                  </a:lnTo>
                  <a:lnTo>
                    <a:pt x="25742" y="186553"/>
                  </a:lnTo>
                  <a:lnTo>
                    <a:pt x="23571" y="189898"/>
                  </a:lnTo>
                  <a:lnTo>
                    <a:pt x="20573" y="189898"/>
                  </a:lnTo>
                  <a:lnTo>
                    <a:pt x="17885" y="189898"/>
                  </a:lnTo>
                  <a:lnTo>
                    <a:pt x="15611" y="186553"/>
                  </a:lnTo>
                  <a:lnTo>
                    <a:pt x="15611" y="182296"/>
                  </a:lnTo>
                  <a:lnTo>
                    <a:pt x="15611" y="7754"/>
                  </a:lnTo>
                  <a:lnTo>
                    <a:pt x="15611" y="3344"/>
                  </a:lnTo>
                  <a:lnTo>
                    <a:pt x="17885" y="0"/>
                  </a:lnTo>
                  <a:lnTo>
                    <a:pt x="20573" y="0"/>
                  </a:lnTo>
                  <a:lnTo>
                    <a:pt x="23571" y="0"/>
                  </a:lnTo>
                  <a:lnTo>
                    <a:pt x="25742" y="3344"/>
                  </a:lnTo>
                  <a:lnTo>
                    <a:pt x="25742" y="7754"/>
                  </a:lnTo>
                  <a:close/>
                </a:path>
                <a:path w="41909" h="243205">
                  <a:moveTo>
                    <a:pt x="20573" y="182296"/>
                  </a:moveTo>
                  <a:lnTo>
                    <a:pt x="41457" y="152040"/>
                  </a:lnTo>
                  <a:lnTo>
                    <a:pt x="20573" y="243112"/>
                  </a:lnTo>
                  <a:lnTo>
                    <a:pt x="0" y="152040"/>
                  </a:lnTo>
                  <a:lnTo>
                    <a:pt x="20573" y="182296"/>
                  </a:lnTo>
                  <a:close/>
                </a:path>
              </a:pathLst>
            </a:custGeom>
            <a:ln w="3175">
              <a:solidFill>
                <a:srgbClr val="000000"/>
              </a:solidFill>
            </a:ln>
          </p:spPr>
          <p:txBody>
            <a:bodyPr wrap="square" lIns="0" tIns="0" rIns="0" bIns="0" rtlCol="0"/>
            <a:lstStyle/>
            <a:p/>
          </p:txBody>
        </p:sp>
        <p:sp>
          <p:nvSpPr>
            <p:cNvPr id="51" name="object 51" descr=""/>
            <p:cNvSpPr/>
            <p:nvPr/>
          </p:nvSpPr>
          <p:spPr>
            <a:xfrm>
              <a:off x="8831413" y="2229163"/>
              <a:ext cx="739140" cy="93980"/>
            </a:xfrm>
            <a:custGeom>
              <a:avLst/>
              <a:gdLst/>
              <a:ahLst/>
              <a:cxnLst/>
              <a:rect l="l" t="t" r="r" b="b"/>
              <a:pathLst>
                <a:path w="739140" h="93980">
                  <a:moveTo>
                    <a:pt x="738789" y="0"/>
                  </a:moveTo>
                  <a:lnTo>
                    <a:pt x="738789" y="93960"/>
                  </a:lnTo>
                </a:path>
                <a:path w="739140" h="93980">
                  <a:moveTo>
                    <a:pt x="0" y="93960"/>
                  </a:moveTo>
                  <a:lnTo>
                    <a:pt x="738789" y="93960"/>
                  </a:lnTo>
                </a:path>
              </a:pathLst>
            </a:custGeom>
            <a:ln w="9506">
              <a:solidFill>
                <a:srgbClr val="000000"/>
              </a:solidFill>
            </a:ln>
          </p:spPr>
          <p:txBody>
            <a:bodyPr wrap="square" lIns="0" tIns="0" rIns="0" bIns="0" rtlCol="0"/>
            <a:lstStyle/>
            <a:p/>
          </p:txBody>
        </p:sp>
        <p:sp>
          <p:nvSpPr>
            <p:cNvPr id="52" name="object 52" descr=""/>
            <p:cNvSpPr/>
            <p:nvPr/>
          </p:nvSpPr>
          <p:spPr>
            <a:xfrm>
              <a:off x="8810839" y="2315826"/>
              <a:ext cx="41275" cy="196215"/>
            </a:xfrm>
            <a:custGeom>
              <a:avLst/>
              <a:gdLst/>
              <a:ahLst/>
              <a:cxnLst/>
              <a:rect l="l" t="t" r="r" b="b"/>
              <a:pathLst>
                <a:path w="41275" h="196214">
                  <a:moveTo>
                    <a:pt x="0" y="104603"/>
                  </a:moveTo>
                  <a:lnTo>
                    <a:pt x="20573" y="196131"/>
                  </a:lnTo>
                  <a:lnTo>
                    <a:pt x="32535" y="142917"/>
                  </a:lnTo>
                  <a:lnTo>
                    <a:pt x="17885" y="142917"/>
                  </a:lnTo>
                  <a:lnTo>
                    <a:pt x="15404" y="139268"/>
                  </a:lnTo>
                  <a:lnTo>
                    <a:pt x="15404" y="127485"/>
                  </a:lnTo>
                  <a:lnTo>
                    <a:pt x="0" y="104603"/>
                  </a:lnTo>
                  <a:close/>
                </a:path>
                <a:path w="41275" h="196214">
                  <a:moveTo>
                    <a:pt x="15404" y="127485"/>
                  </a:moveTo>
                  <a:lnTo>
                    <a:pt x="15404" y="139268"/>
                  </a:lnTo>
                  <a:lnTo>
                    <a:pt x="17885" y="142917"/>
                  </a:lnTo>
                  <a:lnTo>
                    <a:pt x="23261" y="142917"/>
                  </a:lnTo>
                  <a:lnTo>
                    <a:pt x="25742" y="139268"/>
                  </a:lnTo>
                  <a:lnTo>
                    <a:pt x="25742" y="135163"/>
                  </a:lnTo>
                  <a:lnTo>
                    <a:pt x="20573" y="135163"/>
                  </a:lnTo>
                  <a:lnTo>
                    <a:pt x="15404" y="127485"/>
                  </a:lnTo>
                  <a:close/>
                </a:path>
                <a:path w="41275" h="196214">
                  <a:moveTo>
                    <a:pt x="41147" y="104603"/>
                  </a:moveTo>
                  <a:lnTo>
                    <a:pt x="25742" y="127485"/>
                  </a:lnTo>
                  <a:lnTo>
                    <a:pt x="25742" y="139268"/>
                  </a:lnTo>
                  <a:lnTo>
                    <a:pt x="23261" y="142917"/>
                  </a:lnTo>
                  <a:lnTo>
                    <a:pt x="32535" y="142917"/>
                  </a:lnTo>
                  <a:lnTo>
                    <a:pt x="41147" y="104603"/>
                  </a:lnTo>
                  <a:close/>
                </a:path>
                <a:path w="41275" h="196214">
                  <a:moveTo>
                    <a:pt x="23261" y="0"/>
                  </a:moveTo>
                  <a:lnTo>
                    <a:pt x="17885" y="0"/>
                  </a:lnTo>
                  <a:lnTo>
                    <a:pt x="15404" y="3344"/>
                  </a:lnTo>
                  <a:lnTo>
                    <a:pt x="15404" y="127485"/>
                  </a:lnTo>
                  <a:lnTo>
                    <a:pt x="20573" y="135163"/>
                  </a:lnTo>
                  <a:lnTo>
                    <a:pt x="25742" y="127485"/>
                  </a:lnTo>
                  <a:lnTo>
                    <a:pt x="25742" y="3344"/>
                  </a:lnTo>
                  <a:lnTo>
                    <a:pt x="23261" y="0"/>
                  </a:lnTo>
                  <a:close/>
                </a:path>
                <a:path w="41275" h="196214">
                  <a:moveTo>
                    <a:pt x="25742" y="127485"/>
                  </a:moveTo>
                  <a:lnTo>
                    <a:pt x="20573" y="135163"/>
                  </a:lnTo>
                  <a:lnTo>
                    <a:pt x="25742" y="135163"/>
                  </a:lnTo>
                  <a:lnTo>
                    <a:pt x="25742" y="127485"/>
                  </a:lnTo>
                  <a:close/>
                </a:path>
              </a:pathLst>
            </a:custGeom>
            <a:solidFill>
              <a:srgbClr val="000000"/>
            </a:solidFill>
          </p:spPr>
          <p:txBody>
            <a:bodyPr wrap="square" lIns="0" tIns="0" rIns="0" bIns="0" rtlCol="0"/>
            <a:lstStyle/>
            <a:p/>
          </p:txBody>
        </p:sp>
        <p:sp>
          <p:nvSpPr>
            <p:cNvPr id="53" name="object 53" descr=""/>
            <p:cNvSpPr/>
            <p:nvPr/>
          </p:nvSpPr>
          <p:spPr>
            <a:xfrm>
              <a:off x="8810839" y="2315826"/>
              <a:ext cx="41275" cy="196215"/>
            </a:xfrm>
            <a:custGeom>
              <a:avLst/>
              <a:gdLst/>
              <a:ahLst/>
              <a:cxnLst/>
              <a:rect l="l" t="t" r="r" b="b"/>
              <a:pathLst>
                <a:path w="41275" h="196214">
                  <a:moveTo>
                    <a:pt x="25742" y="7297"/>
                  </a:moveTo>
                  <a:lnTo>
                    <a:pt x="25742" y="135163"/>
                  </a:lnTo>
                  <a:lnTo>
                    <a:pt x="25742" y="139268"/>
                  </a:lnTo>
                  <a:lnTo>
                    <a:pt x="23261" y="142917"/>
                  </a:lnTo>
                  <a:lnTo>
                    <a:pt x="20573" y="142917"/>
                  </a:lnTo>
                  <a:lnTo>
                    <a:pt x="17885" y="142917"/>
                  </a:lnTo>
                  <a:lnTo>
                    <a:pt x="15404" y="139268"/>
                  </a:lnTo>
                  <a:lnTo>
                    <a:pt x="15404" y="135163"/>
                  </a:lnTo>
                  <a:lnTo>
                    <a:pt x="15404" y="7297"/>
                  </a:lnTo>
                  <a:lnTo>
                    <a:pt x="15404" y="3344"/>
                  </a:lnTo>
                  <a:lnTo>
                    <a:pt x="17885" y="0"/>
                  </a:lnTo>
                  <a:lnTo>
                    <a:pt x="20573" y="0"/>
                  </a:lnTo>
                  <a:lnTo>
                    <a:pt x="23261" y="0"/>
                  </a:lnTo>
                  <a:lnTo>
                    <a:pt x="25742" y="3344"/>
                  </a:lnTo>
                  <a:lnTo>
                    <a:pt x="25742" y="7297"/>
                  </a:lnTo>
                  <a:close/>
                </a:path>
                <a:path w="41275" h="196214">
                  <a:moveTo>
                    <a:pt x="20573" y="135163"/>
                  </a:moveTo>
                  <a:lnTo>
                    <a:pt x="41147" y="104603"/>
                  </a:lnTo>
                  <a:lnTo>
                    <a:pt x="20573" y="196131"/>
                  </a:lnTo>
                  <a:lnTo>
                    <a:pt x="0" y="104603"/>
                  </a:lnTo>
                  <a:lnTo>
                    <a:pt x="20573" y="135163"/>
                  </a:lnTo>
                  <a:close/>
                </a:path>
              </a:pathLst>
            </a:custGeom>
            <a:ln w="3175">
              <a:solidFill>
                <a:srgbClr val="000000"/>
              </a:solidFill>
            </a:ln>
          </p:spPr>
          <p:txBody>
            <a:bodyPr wrap="square" lIns="0" tIns="0" rIns="0" bIns="0" rtlCol="0"/>
            <a:lstStyle/>
            <a:p/>
          </p:txBody>
        </p:sp>
        <p:sp>
          <p:nvSpPr>
            <p:cNvPr id="54" name="object 54" descr=""/>
            <p:cNvSpPr/>
            <p:nvPr/>
          </p:nvSpPr>
          <p:spPr>
            <a:xfrm>
              <a:off x="8810840" y="2739562"/>
              <a:ext cx="41275" cy="243204"/>
            </a:xfrm>
            <a:custGeom>
              <a:avLst/>
              <a:gdLst/>
              <a:ahLst/>
              <a:cxnLst/>
              <a:rect l="l" t="t" r="r" b="b"/>
              <a:pathLst>
                <a:path w="41275" h="243205">
                  <a:moveTo>
                    <a:pt x="0" y="152040"/>
                  </a:moveTo>
                  <a:lnTo>
                    <a:pt x="20573" y="243112"/>
                  </a:lnTo>
                  <a:lnTo>
                    <a:pt x="32594" y="189898"/>
                  </a:lnTo>
                  <a:lnTo>
                    <a:pt x="17885" y="189898"/>
                  </a:lnTo>
                  <a:lnTo>
                    <a:pt x="15404" y="186553"/>
                  </a:lnTo>
                  <a:lnTo>
                    <a:pt x="15404" y="174694"/>
                  </a:lnTo>
                  <a:lnTo>
                    <a:pt x="0" y="152040"/>
                  </a:lnTo>
                  <a:close/>
                </a:path>
                <a:path w="41275" h="243205">
                  <a:moveTo>
                    <a:pt x="15404" y="174694"/>
                  </a:moveTo>
                  <a:lnTo>
                    <a:pt x="15404" y="186553"/>
                  </a:lnTo>
                  <a:lnTo>
                    <a:pt x="17885" y="189898"/>
                  </a:lnTo>
                  <a:lnTo>
                    <a:pt x="23261" y="189898"/>
                  </a:lnTo>
                  <a:lnTo>
                    <a:pt x="25742" y="186553"/>
                  </a:lnTo>
                  <a:lnTo>
                    <a:pt x="25742" y="182296"/>
                  </a:lnTo>
                  <a:lnTo>
                    <a:pt x="20573" y="182296"/>
                  </a:lnTo>
                  <a:lnTo>
                    <a:pt x="15404" y="174694"/>
                  </a:lnTo>
                  <a:close/>
                </a:path>
                <a:path w="41275" h="243205">
                  <a:moveTo>
                    <a:pt x="41147" y="152040"/>
                  </a:moveTo>
                  <a:lnTo>
                    <a:pt x="25742" y="174694"/>
                  </a:lnTo>
                  <a:lnTo>
                    <a:pt x="25742" y="186553"/>
                  </a:lnTo>
                  <a:lnTo>
                    <a:pt x="23261" y="189898"/>
                  </a:lnTo>
                  <a:lnTo>
                    <a:pt x="32594" y="189898"/>
                  </a:lnTo>
                  <a:lnTo>
                    <a:pt x="41147" y="152040"/>
                  </a:lnTo>
                  <a:close/>
                </a:path>
                <a:path w="41275" h="243205">
                  <a:moveTo>
                    <a:pt x="23261" y="0"/>
                  </a:moveTo>
                  <a:lnTo>
                    <a:pt x="17885" y="0"/>
                  </a:lnTo>
                  <a:lnTo>
                    <a:pt x="15404" y="3344"/>
                  </a:lnTo>
                  <a:lnTo>
                    <a:pt x="15404" y="174694"/>
                  </a:lnTo>
                  <a:lnTo>
                    <a:pt x="20573" y="182296"/>
                  </a:lnTo>
                  <a:lnTo>
                    <a:pt x="25742" y="174694"/>
                  </a:lnTo>
                  <a:lnTo>
                    <a:pt x="25742" y="3344"/>
                  </a:lnTo>
                  <a:lnTo>
                    <a:pt x="23261" y="0"/>
                  </a:lnTo>
                  <a:close/>
                </a:path>
                <a:path w="41275" h="243205">
                  <a:moveTo>
                    <a:pt x="25742" y="174694"/>
                  </a:moveTo>
                  <a:lnTo>
                    <a:pt x="20573" y="182296"/>
                  </a:lnTo>
                  <a:lnTo>
                    <a:pt x="25742" y="182296"/>
                  </a:lnTo>
                  <a:lnTo>
                    <a:pt x="25742" y="174694"/>
                  </a:lnTo>
                  <a:close/>
                </a:path>
              </a:pathLst>
            </a:custGeom>
            <a:solidFill>
              <a:srgbClr val="000000"/>
            </a:solidFill>
          </p:spPr>
          <p:txBody>
            <a:bodyPr wrap="square" lIns="0" tIns="0" rIns="0" bIns="0" rtlCol="0"/>
            <a:lstStyle/>
            <a:p/>
          </p:txBody>
        </p:sp>
        <p:sp>
          <p:nvSpPr>
            <p:cNvPr id="55" name="object 55" descr=""/>
            <p:cNvSpPr/>
            <p:nvPr/>
          </p:nvSpPr>
          <p:spPr>
            <a:xfrm>
              <a:off x="8810839" y="2739562"/>
              <a:ext cx="41275" cy="243204"/>
            </a:xfrm>
            <a:custGeom>
              <a:avLst/>
              <a:gdLst/>
              <a:ahLst/>
              <a:cxnLst/>
              <a:rect l="l" t="t" r="r" b="b"/>
              <a:pathLst>
                <a:path w="41275" h="243205">
                  <a:moveTo>
                    <a:pt x="25742" y="7754"/>
                  </a:moveTo>
                  <a:lnTo>
                    <a:pt x="25742" y="182296"/>
                  </a:lnTo>
                  <a:lnTo>
                    <a:pt x="25742" y="186553"/>
                  </a:lnTo>
                  <a:lnTo>
                    <a:pt x="23261" y="189898"/>
                  </a:lnTo>
                  <a:lnTo>
                    <a:pt x="20573" y="189898"/>
                  </a:lnTo>
                  <a:lnTo>
                    <a:pt x="17885" y="189898"/>
                  </a:lnTo>
                  <a:lnTo>
                    <a:pt x="15404" y="186553"/>
                  </a:lnTo>
                  <a:lnTo>
                    <a:pt x="15404" y="182296"/>
                  </a:lnTo>
                  <a:lnTo>
                    <a:pt x="15404" y="7754"/>
                  </a:lnTo>
                  <a:lnTo>
                    <a:pt x="15404" y="3344"/>
                  </a:lnTo>
                  <a:lnTo>
                    <a:pt x="17885" y="0"/>
                  </a:lnTo>
                  <a:lnTo>
                    <a:pt x="20573" y="0"/>
                  </a:lnTo>
                  <a:lnTo>
                    <a:pt x="23261" y="0"/>
                  </a:lnTo>
                  <a:lnTo>
                    <a:pt x="25742" y="3344"/>
                  </a:lnTo>
                  <a:lnTo>
                    <a:pt x="25742" y="7754"/>
                  </a:lnTo>
                  <a:close/>
                </a:path>
                <a:path w="41275" h="243205">
                  <a:moveTo>
                    <a:pt x="20573" y="182296"/>
                  </a:moveTo>
                  <a:lnTo>
                    <a:pt x="41147" y="152040"/>
                  </a:lnTo>
                  <a:lnTo>
                    <a:pt x="20573" y="243112"/>
                  </a:lnTo>
                  <a:lnTo>
                    <a:pt x="0" y="152040"/>
                  </a:lnTo>
                  <a:lnTo>
                    <a:pt x="20573" y="182296"/>
                  </a:lnTo>
                  <a:close/>
                </a:path>
              </a:pathLst>
            </a:custGeom>
            <a:ln w="3175">
              <a:solidFill>
                <a:srgbClr val="000000"/>
              </a:solidFill>
            </a:ln>
          </p:spPr>
          <p:txBody>
            <a:bodyPr wrap="square" lIns="0" tIns="0" rIns="0" bIns="0" rtlCol="0"/>
            <a:lstStyle/>
            <a:p/>
          </p:txBody>
        </p:sp>
        <p:sp>
          <p:nvSpPr>
            <p:cNvPr id="56" name="object 56" descr=""/>
            <p:cNvSpPr/>
            <p:nvPr/>
          </p:nvSpPr>
          <p:spPr>
            <a:xfrm>
              <a:off x="8397982" y="2833675"/>
              <a:ext cx="41275" cy="149225"/>
            </a:xfrm>
            <a:custGeom>
              <a:avLst/>
              <a:gdLst/>
              <a:ahLst/>
              <a:cxnLst/>
              <a:rect l="l" t="t" r="r" b="b"/>
              <a:pathLst>
                <a:path w="41275" h="149225">
                  <a:moveTo>
                    <a:pt x="0" y="57927"/>
                  </a:moveTo>
                  <a:lnTo>
                    <a:pt x="20604" y="148999"/>
                  </a:lnTo>
                  <a:lnTo>
                    <a:pt x="32644" y="95785"/>
                  </a:lnTo>
                  <a:lnTo>
                    <a:pt x="17627" y="95785"/>
                  </a:lnTo>
                  <a:lnTo>
                    <a:pt x="15394" y="92440"/>
                  </a:lnTo>
                  <a:lnTo>
                    <a:pt x="15394" y="80532"/>
                  </a:lnTo>
                  <a:lnTo>
                    <a:pt x="0" y="57927"/>
                  </a:lnTo>
                  <a:close/>
                </a:path>
                <a:path w="41275" h="149225">
                  <a:moveTo>
                    <a:pt x="15394" y="80532"/>
                  </a:moveTo>
                  <a:lnTo>
                    <a:pt x="15394" y="92440"/>
                  </a:lnTo>
                  <a:lnTo>
                    <a:pt x="17627" y="95785"/>
                  </a:lnTo>
                  <a:lnTo>
                    <a:pt x="23334" y="95785"/>
                  </a:lnTo>
                  <a:lnTo>
                    <a:pt x="25815" y="92440"/>
                  </a:lnTo>
                  <a:lnTo>
                    <a:pt x="25815" y="88183"/>
                  </a:lnTo>
                  <a:lnTo>
                    <a:pt x="20604" y="88183"/>
                  </a:lnTo>
                  <a:lnTo>
                    <a:pt x="15394" y="80532"/>
                  </a:lnTo>
                  <a:close/>
                </a:path>
                <a:path w="41275" h="149225">
                  <a:moveTo>
                    <a:pt x="41209" y="57927"/>
                  </a:moveTo>
                  <a:lnTo>
                    <a:pt x="25815" y="80532"/>
                  </a:lnTo>
                  <a:lnTo>
                    <a:pt x="25815" y="92440"/>
                  </a:lnTo>
                  <a:lnTo>
                    <a:pt x="23334" y="95785"/>
                  </a:lnTo>
                  <a:lnTo>
                    <a:pt x="32644" y="95785"/>
                  </a:lnTo>
                  <a:lnTo>
                    <a:pt x="41209" y="57927"/>
                  </a:lnTo>
                  <a:close/>
                </a:path>
                <a:path w="41275" h="149225">
                  <a:moveTo>
                    <a:pt x="23333" y="0"/>
                  </a:moveTo>
                  <a:lnTo>
                    <a:pt x="17627" y="0"/>
                  </a:lnTo>
                  <a:lnTo>
                    <a:pt x="15394" y="3648"/>
                  </a:lnTo>
                  <a:lnTo>
                    <a:pt x="15394" y="80532"/>
                  </a:lnTo>
                  <a:lnTo>
                    <a:pt x="20604" y="88183"/>
                  </a:lnTo>
                  <a:lnTo>
                    <a:pt x="25815" y="80532"/>
                  </a:lnTo>
                  <a:lnTo>
                    <a:pt x="25815" y="3648"/>
                  </a:lnTo>
                  <a:lnTo>
                    <a:pt x="23333" y="0"/>
                  </a:lnTo>
                  <a:close/>
                </a:path>
                <a:path w="41275" h="149225">
                  <a:moveTo>
                    <a:pt x="25815" y="80532"/>
                  </a:moveTo>
                  <a:lnTo>
                    <a:pt x="20604" y="88183"/>
                  </a:lnTo>
                  <a:lnTo>
                    <a:pt x="25815" y="88183"/>
                  </a:lnTo>
                  <a:lnTo>
                    <a:pt x="25815" y="80532"/>
                  </a:lnTo>
                  <a:close/>
                </a:path>
              </a:pathLst>
            </a:custGeom>
            <a:solidFill>
              <a:srgbClr val="000000"/>
            </a:solidFill>
          </p:spPr>
          <p:txBody>
            <a:bodyPr wrap="square" lIns="0" tIns="0" rIns="0" bIns="0" rtlCol="0"/>
            <a:lstStyle/>
            <a:p/>
          </p:txBody>
        </p:sp>
        <p:sp>
          <p:nvSpPr>
            <p:cNvPr id="57" name="object 57" descr=""/>
            <p:cNvSpPr/>
            <p:nvPr/>
          </p:nvSpPr>
          <p:spPr>
            <a:xfrm>
              <a:off x="8397982" y="2833675"/>
              <a:ext cx="41275" cy="149225"/>
            </a:xfrm>
            <a:custGeom>
              <a:avLst/>
              <a:gdLst/>
              <a:ahLst/>
              <a:cxnLst/>
              <a:rect l="l" t="t" r="r" b="b"/>
              <a:pathLst>
                <a:path w="41275" h="149225">
                  <a:moveTo>
                    <a:pt x="25815" y="7602"/>
                  </a:moveTo>
                  <a:lnTo>
                    <a:pt x="25815" y="88183"/>
                  </a:lnTo>
                  <a:lnTo>
                    <a:pt x="25815" y="92440"/>
                  </a:lnTo>
                  <a:lnTo>
                    <a:pt x="23334" y="95785"/>
                  </a:lnTo>
                  <a:lnTo>
                    <a:pt x="20604" y="95785"/>
                  </a:lnTo>
                  <a:lnTo>
                    <a:pt x="17627" y="95785"/>
                  </a:lnTo>
                  <a:lnTo>
                    <a:pt x="15394" y="92440"/>
                  </a:lnTo>
                  <a:lnTo>
                    <a:pt x="15394" y="88183"/>
                  </a:lnTo>
                  <a:lnTo>
                    <a:pt x="15394" y="7602"/>
                  </a:lnTo>
                  <a:lnTo>
                    <a:pt x="15394" y="3648"/>
                  </a:lnTo>
                  <a:lnTo>
                    <a:pt x="17627" y="0"/>
                  </a:lnTo>
                  <a:lnTo>
                    <a:pt x="20604" y="0"/>
                  </a:lnTo>
                  <a:lnTo>
                    <a:pt x="23333" y="0"/>
                  </a:lnTo>
                  <a:lnTo>
                    <a:pt x="25815" y="3648"/>
                  </a:lnTo>
                  <a:lnTo>
                    <a:pt x="25815" y="7602"/>
                  </a:lnTo>
                  <a:close/>
                </a:path>
                <a:path w="41275" h="149225">
                  <a:moveTo>
                    <a:pt x="20604" y="88183"/>
                  </a:moveTo>
                  <a:lnTo>
                    <a:pt x="41209" y="57927"/>
                  </a:lnTo>
                  <a:lnTo>
                    <a:pt x="20604" y="148999"/>
                  </a:lnTo>
                  <a:lnTo>
                    <a:pt x="0" y="57927"/>
                  </a:lnTo>
                  <a:lnTo>
                    <a:pt x="20604" y="88183"/>
                  </a:lnTo>
                  <a:close/>
                </a:path>
              </a:pathLst>
            </a:custGeom>
            <a:ln w="3175">
              <a:solidFill>
                <a:srgbClr val="000000"/>
              </a:solidFill>
            </a:ln>
          </p:spPr>
          <p:txBody>
            <a:bodyPr wrap="square" lIns="0" tIns="0" rIns="0" bIns="0" rtlCol="0"/>
            <a:lstStyle/>
            <a:p/>
          </p:txBody>
        </p:sp>
        <p:sp>
          <p:nvSpPr>
            <p:cNvPr id="58" name="object 58" descr=""/>
            <p:cNvSpPr/>
            <p:nvPr/>
          </p:nvSpPr>
          <p:spPr>
            <a:xfrm>
              <a:off x="8418586" y="2841277"/>
              <a:ext cx="413384" cy="0"/>
            </a:xfrm>
            <a:custGeom>
              <a:avLst/>
              <a:gdLst/>
              <a:ahLst/>
              <a:cxnLst/>
              <a:rect l="l" t="t" r="r" b="b"/>
              <a:pathLst>
                <a:path w="413384" h="0">
                  <a:moveTo>
                    <a:pt x="0" y="0"/>
                  </a:moveTo>
                  <a:lnTo>
                    <a:pt x="412826" y="0"/>
                  </a:lnTo>
                </a:path>
              </a:pathLst>
            </a:custGeom>
            <a:ln w="11316">
              <a:solidFill>
                <a:srgbClr val="000000"/>
              </a:solidFill>
            </a:ln>
          </p:spPr>
          <p:txBody>
            <a:bodyPr wrap="square" lIns="0" tIns="0" rIns="0" bIns="0" rtlCol="0"/>
            <a:lstStyle/>
            <a:p/>
          </p:txBody>
        </p:sp>
        <p:sp>
          <p:nvSpPr>
            <p:cNvPr id="59" name="object 59" descr=""/>
            <p:cNvSpPr/>
            <p:nvPr/>
          </p:nvSpPr>
          <p:spPr>
            <a:xfrm>
              <a:off x="8050205" y="4011288"/>
              <a:ext cx="41910" cy="384810"/>
            </a:xfrm>
            <a:custGeom>
              <a:avLst/>
              <a:gdLst/>
              <a:ahLst/>
              <a:cxnLst/>
              <a:rect l="l" t="t" r="r" b="b"/>
              <a:pathLst>
                <a:path w="41909" h="384810">
                  <a:moveTo>
                    <a:pt x="0" y="292966"/>
                  </a:moveTo>
                  <a:lnTo>
                    <a:pt x="20594" y="384418"/>
                  </a:lnTo>
                  <a:lnTo>
                    <a:pt x="32724" y="331219"/>
                  </a:lnTo>
                  <a:lnTo>
                    <a:pt x="17864" y="331219"/>
                  </a:lnTo>
                  <a:lnTo>
                    <a:pt x="15631" y="327586"/>
                  </a:lnTo>
                  <a:lnTo>
                    <a:pt x="15631" y="316197"/>
                  </a:lnTo>
                  <a:lnTo>
                    <a:pt x="0" y="292966"/>
                  </a:lnTo>
                  <a:close/>
                </a:path>
                <a:path w="41909" h="384810">
                  <a:moveTo>
                    <a:pt x="15631" y="316197"/>
                  </a:moveTo>
                  <a:lnTo>
                    <a:pt x="15631" y="327586"/>
                  </a:lnTo>
                  <a:lnTo>
                    <a:pt x="17864" y="331219"/>
                  </a:lnTo>
                  <a:lnTo>
                    <a:pt x="23582" y="331219"/>
                  </a:lnTo>
                  <a:lnTo>
                    <a:pt x="25815" y="327586"/>
                  </a:lnTo>
                  <a:lnTo>
                    <a:pt x="25815" y="323572"/>
                  </a:lnTo>
                  <a:lnTo>
                    <a:pt x="20594" y="323572"/>
                  </a:lnTo>
                  <a:lnTo>
                    <a:pt x="15631" y="316197"/>
                  </a:lnTo>
                  <a:close/>
                </a:path>
                <a:path w="41909" h="384810">
                  <a:moveTo>
                    <a:pt x="41447" y="292966"/>
                  </a:moveTo>
                  <a:lnTo>
                    <a:pt x="25815" y="315909"/>
                  </a:lnTo>
                  <a:lnTo>
                    <a:pt x="25815" y="327586"/>
                  </a:lnTo>
                  <a:lnTo>
                    <a:pt x="23582" y="331219"/>
                  </a:lnTo>
                  <a:lnTo>
                    <a:pt x="32724" y="331219"/>
                  </a:lnTo>
                  <a:lnTo>
                    <a:pt x="41447" y="292966"/>
                  </a:lnTo>
                  <a:close/>
                </a:path>
                <a:path w="41909" h="384810">
                  <a:moveTo>
                    <a:pt x="23582" y="0"/>
                  </a:moveTo>
                  <a:lnTo>
                    <a:pt x="17864" y="0"/>
                  </a:lnTo>
                  <a:lnTo>
                    <a:pt x="15631" y="3284"/>
                  </a:lnTo>
                  <a:lnTo>
                    <a:pt x="15631" y="316197"/>
                  </a:lnTo>
                  <a:lnTo>
                    <a:pt x="20594" y="323572"/>
                  </a:lnTo>
                  <a:lnTo>
                    <a:pt x="25815" y="315909"/>
                  </a:lnTo>
                  <a:lnTo>
                    <a:pt x="25815" y="3284"/>
                  </a:lnTo>
                  <a:lnTo>
                    <a:pt x="23582" y="0"/>
                  </a:lnTo>
                  <a:close/>
                </a:path>
                <a:path w="41909" h="384810">
                  <a:moveTo>
                    <a:pt x="25815" y="315909"/>
                  </a:moveTo>
                  <a:lnTo>
                    <a:pt x="20594" y="323572"/>
                  </a:lnTo>
                  <a:lnTo>
                    <a:pt x="25815" y="323572"/>
                  </a:lnTo>
                  <a:lnTo>
                    <a:pt x="25815" y="315909"/>
                  </a:lnTo>
                  <a:close/>
                </a:path>
              </a:pathLst>
            </a:custGeom>
            <a:solidFill>
              <a:srgbClr val="000000"/>
            </a:solidFill>
          </p:spPr>
          <p:txBody>
            <a:bodyPr wrap="square" lIns="0" tIns="0" rIns="0" bIns="0" rtlCol="0"/>
            <a:lstStyle/>
            <a:p/>
          </p:txBody>
        </p:sp>
        <p:sp>
          <p:nvSpPr>
            <p:cNvPr id="60" name="object 60" descr=""/>
            <p:cNvSpPr/>
            <p:nvPr/>
          </p:nvSpPr>
          <p:spPr>
            <a:xfrm>
              <a:off x="8050205" y="4011288"/>
              <a:ext cx="41910" cy="384810"/>
            </a:xfrm>
            <a:custGeom>
              <a:avLst/>
              <a:gdLst/>
              <a:ahLst/>
              <a:cxnLst/>
              <a:rect l="l" t="t" r="r" b="b"/>
              <a:pathLst>
                <a:path w="41909" h="384810">
                  <a:moveTo>
                    <a:pt x="25815" y="7297"/>
                  </a:moveTo>
                  <a:lnTo>
                    <a:pt x="25815" y="323572"/>
                  </a:lnTo>
                  <a:lnTo>
                    <a:pt x="25815" y="327586"/>
                  </a:lnTo>
                  <a:lnTo>
                    <a:pt x="23582" y="331219"/>
                  </a:lnTo>
                  <a:lnTo>
                    <a:pt x="20594" y="331219"/>
                  </a:lnTo>
                  <a:lnTo>
                    <a:pt x="17864" y="331219"/>
                  </a:lnTo>
                  <a:lnTo>
                    <a:pt x="15631" y="327586"/>
                  </a:lnTo>
                  <a:lnTo>
                    <a:pt x="15631" y="323572"/>
                  </a:lnTo>
                  <a:lnTo>
                    <a:pt x="15631" y="7297"/>
                  </a:lnTo>
                  <a:lnTo>
                    <a:pt x="15631" y="3284"/>
                  </a:lnTo>
                  <a:lnTo>
                    <a:pt x="17864" y="0"/>
                  </a:lnTo>
                  <a:lnTo>
                    <a:pt x="20594" y="0"/>
                  </a:lnTo>
                  <a:lnTo>
                    <a:pt x="23582" y="0"/>
                  </a:lnTo>
                  <a:lnTo>
                    <a:pt x="25815" y="3284"/>
                  </a:lnTo>
                  <a:lnTo>
                    <a:pt x="25815" y="7297"/>
                  </a:lnTo>
                  <a:close/>
                </a:path>
                <a:path w="41909" h="384810">
                  <a:moveTo>
                    <a:pt x="20594" y="323572"/>
                  </a:moveTo>
                  <a:lnTo>
                    <a:pt x="41447" y="292966"/>
                  </a:lnTo>
                  <a:lnTo>
                    <a:pt x="20594" y="384418"/>
                  </a:lnTo>
                  <a:lnTo>
                    <a:pt x="0" y="292966"/>
                  </a:lnTo>
                  <a:lnTo>
                    <a:pt x="20594" y="323572"/>
                  </a:lnTo>
                  <a:close/>
                </a:path>
              </a:pathLst>
            </a:custGeom>
            <a:ln w="3175">
              <a:solidFill>
                <a:srgbClr val="000000"/>
              </a:solidFill>
            </a:ln>
          </p:spPr>
          <p:txBody>
            <a:bodyPr wrap="square" lIns="0" tIns="0" rIns="0" bIns="0" rtlCol="0"/>
            <a:lstStyle/>
            <a:p/>
          </p:txBody>
        </p:sp>
        <p:sp>
          <p:nvSpPr>
            <p:cNvPr id="61" name="object 61" descr=""/>
            <p:cNvSpPr/>
            <p:nvPr/>
          </p:nvSpPr>
          <p:spPr>
            <a:xfrm>
              <a:off x="8767315" y="4011288"/>
              <a:ext cx="41275" cy="384810"/>
            </a:xfrm>
            <a:custGeom>
              <a:avLst/>
              <a:gdLst/>
              <a:ahLst/>
              <a:cxnLst/>
              <a:rect l="l" t="t" r="r" b="b"/>
              <a:pathLst>
                <a:path w="41275" h="384810">
                  <a:moveTo>
                    <a:pt x="0" y="292966"/>
                  </a:moveTo>
                  <a:lnTo>
                    <a:pt x="20677" y="384418"/>
                  </a:lnTo>
                  <a:lnTo>
                    <a:pt x="32644" y="331219"/>
                  </a:lnTo>
                  <a:lnTo>
                    <a:pt x="17885" y="331219"/>
                  </a:lnTo>
                  <a:lnTo>
                    <a:pt x="15404" y="327586"/>
                  </a:lnTo>
                  <a:lnTo>
                    <a:pt x="15404" y="315882"/>
                  </a:lnTo>
                  <a:lnTo>
                    <a:pt x="0" y="292966"/>
                  </a:lnTo>
                  <a:close/>
                </a:path>
                <a:path w="41275" h="384810">
                  <a:moveTo>
                    <a:pt x="15481" y="315882"/>
                  </a:moveTo>
                  <a:lnTo>
                    <a:pt x="15404" y="327586"/>
                  </a:lnTo>
                  <a:lnTo>
                    <a:pt x="17885" y="331219"/>
                  </a:lnTo>
                  <a:lnTo>
                    <a:pt x="23365" y="331219"/>
                  </a:lnTo>
                  <a:lnTo>
                    <a:pt x="25846" y="327586"/>
                  </a:lnTo>
                  <a:lnTo>
                    <a:pt x="25846" y="323572"/>
                  </a:lnTo>
                  <a:lnTo>
                    <a:pt x="20677" y="323572"/>
                  </a:lnTo>
                  <a:lnTo>
                    <a:pt x="15481" y="315882"/>
                  </a:lnTo>
                  <a:close/>
                </a:path>
                <a:path w="41275" h="384810">
                  <a:moveTo>
                    <a:pt x="41250" y="292966"/>
                  </a:moveTo>
                  <a:lnTo>
                    <a:pt x="25846" y="315882"/>
                  </a:lnTo>
                  <a:lnTo>
                    <a:pt x="25846" y="327586"/>
                  </a:lnTo>
                  <a:lnTo>
                    <a:pt x="23365" y="331219"/>
                  </a:lnTo>
                  <a:lnTo>
                    <a:pt x="32644" y="331219"/>
                  </a:lnTo>
                  <a:lnTo>
                    <a:pt x="41250" y="292966"/>
                  </a:lnTo>
                  <a:close/>
                </a:path>
                <a:path w="41275" h="384810">
                  <a:moveTo>
                    <a:pt x="23364" y="0"/>
                  </a:moveTo>
                  <a:lnTo>
                    <a:pt x="17885" y="0"/>
                  </a:lnTo>
                  <a:lnTo>
                    <a:pt x="15404" y="3284"/>
                  </a:lnTo>
                  <a:lnTo>
                    <a:pt x="15481" y="315882"/>
                  </a:lnTo>
                  <a:lnTo>
                    <a:pt x="20677" y="323572"/>
                  </a:lnTo>
                  <a:lnTo>
                    <a:pt x="25846" y="315882"/>
                  </a:lnTo>
                  <a:lnTo>
                    <a:pt x="25846" y="3284"/>
                  </a:lnTo>
                  <a:lnTo>
                    <a:pt x="23364" y="0"/>
                  </a:lnTo>
                  <a:close/>
                </a:path>
                <a:path w="41275" h="384810">
                  <a:moveTo>
                    <a:pt x="25846" y="315882"/>
                  </a:moveTo>
                  <a:lnTo>
                    <a:pt x="20677" y="323572"/>
                  </a:lnTo>
                  <a:lnTo>
                    <a:pt x="25846" y="323572"/>
                  </a:lnTo>
                  <a:lnTo>
                    <a:pt x="25846" y="315882"/>
                  </a:lnTo>
                  <a:close/>
                </a:path>
              </a:pathLst>
            </a:custGeom>
            <a:solidFill>
              <a:srgbClr val="000000"/>
            </a:solidFill>
          </p:spPr>
          <p:txBody>
            <a:bodyPr wrap="square" lIns="0" tIns="0" rIns="0" bIns="0" rtlCol="0"/>
            <a:lstStyle/>
            <a:p/>
          </p:txBody>
        </p:sp>
        <p:sp>
          <p:nvSpPr>
            <p:cNvPr id="62" name="object 62" descr=""/>
            <p:cNvSpPr/>
            <p:nvPr/>
          </p:nvSpPr>
          <p:spPr>
            <a:xfrm>
              <a:off x="8767315" y="4011288"/>
              <a:ext cx="41275" cy="384810"/>
            </a:xfrm>
            <a:custGeom>
              <a:avLst/>
              <a:gdLst/>
              <a:ahLst/>
              <a:cxnLst/>
              <a:rect l="l" t="t" r="r" b="b"/>
              <a:pathLst>
                <a:path w="41275" h="384810">
                  <a:moveTo>
                    <a:pt x="25846" y="7297"/>
                  </a:moveTo>
                  <a:lnTo>
                    <a:pt x="25846" y="323572"/>
                  </a:lnTo>
                  <a:lnTo>
                    <a:pt x="25846" y="327586"/>
                  </a:lnTo>
                  <a:lnTo>
                    <a:pt x="23365" y="331219"/>
                  </a:lnTo>
                  <a:lnTo>
                    <a:pt x="20677" y="331219"/>
                  </a:lnTo>
                  <a:lnTo>
                    <a:pt x="17885" y="331219"/>
                  </a:lnTo>
                  <a:lnTo>
                    <a:pt x="15404" y="327586"/>
                  </a:lnTo>
                  <a:lnTo>
                    <a:pt x="15404" y="323572"/>
                  </a:lnTo>
                  <a:lnTo>
                    <a:pt x="15404" y="7297"/>
                  </a:lnTo>
                  <a:lnTo>
                    <a:pt x="15404" y="3284"/>
                  </a:lnTo>
                  <a:lnTo>
                    <a:pt x="17885" y="0"/>
                  </a:lnTo>
                  <a:lnTo>
                    <a:pt x="20676" y="0"/>
                  </a:lnTo>
                  <a:lnTo>
                    <a:pt x="23364" y="0"/>
                  </a:lnTo>
                  <a:lnTo>
                    <a:pt x="25846" y="3284"/>
                  </a:lnTo>
                  <a:lnTo>
                    <a:pt x="25846" y="7297"/>
                  </a:lnTo>
                  <a:close/>
                </a:path>
                <a:path w="41275" h="384810">
                  <a:moveTo>
                    <a:pt x="20677" y="323572"/>
                  </a:moveTo>
                  <a:lnTo>
                    <a:pt x="41250" y="292966"/>
                  </a:lnTo>
                  <a:lnTo>
                    <a:pt x="20677" y="384418"/>
                  </a:lnTo>
                  <a:lnTo>
                    <a:pt x="0" y="292966"/>
                  </a:lnTo>
                  <a:lnTo>
                    <a:pt x="20677" y="323572"/>
                  </a:lnTo>
                  <a:close/>
                </a:path>
              </a:pathLst>
            </a:custGeom>
            <a:ln w="3175">
              <a:solidFill>
                <a:srgbClr val="000000"/>
              </a:solidFill>
            </a:ln>
          </p:spPr>
          <p:txBody>
            <a:bodyPr wrap="square" lIns="0" tIns="0" rIns="0" bIns="0" rtlCol="0"/>
            <a:lstStyle/>
            <a:p/>
          </p:txBody>
        </p:sp>
        <p:sp>
          <p:nvSpPr>
            <p:cNvPr id="63" name="object 63" descr=""/>
            <p:cNvSpPr/>
            <p:nvPr/>
          </p:nvSpPr>
          <p:spPr>
            <a:xfrm>
              <a:off x="8375144" y="4018586"/>
              <a:ext cx="413384" cy="141605"/>
            </a:xfrm>
            <a:custGeom>
              <a:avLst/>
              <a:gdLst/>
              <a:ahLst/>
              <a:cxnLst/>
              <a:rect l="l" t="t" r="r" b="b"/>
              <a:pathLst>
                <a:path w="413384" h="141604">
                  <a:moveTo>
                    <a:pt x="0" y="0"/>
                  </a:moveTo>
                  <a:lnTo>
                    <a:pt x="0" y="141367"/>
                  </a:lnTo>
                </a:path>
                <a:path w="413384" h="141604">
                  <a:moveTo>
                    <a:pt x="0" y="141367"/>
                  </a:moveTo>
                  <a:lnTo>
                    <a:pt x="412847" y="141367"/>
                  </a:lnTo>
                </a:path>
              </a:pathLst>
            </a:custGeom>
            <a:ln w="9506">
              <a:solidFill>
                <a:srgbClr val="000000"/>
              </a:solidFill>
            </a:ln>
          </p:spPr>
          <p:txBody>
            <a:bodyPr wrap="square" lIns="0" tIns="0" rIns="0" bIns="0" rtlCol="0"/>
            <a:lstStyle/>
            <a:p/>
          </p:txBody>
        </p:sp>
      </p:grpSp>
      <p:sp>
        <p:nvSpPr>
          <p:cNvPr id="64" name="object 64" descr=""/>
          <p:cNvSpPr txBox="1"/>
          <p:nvPr/>
        </p:nvSpPr>
        <p:spPr>
          <a:xfrm>
            <a:off x="9291183" y="1545597"/>
            <a:ext cx="118745" cy="594995"/>
          </a:xfrm>
          <a:prstGeom prst="rect">
            <a:avLst/>
          </a:prstGeom>
        </p:spPr>
        <p:txBody>
          <a:bodyPr wrap="square" lIns="0" tIns="41910" rIns="0" bIns="0" rtlCol="0" vert="horz">
            <a:spAutoFit/>
          </a:bodyPr>
          <a:lstStyle/>
          <a:p>
            <a:pPr algn="just" marL="12700" marR="5080">
              <a:lnSpc>
                <a:spcPts val="1060"/>
              </a:lnSpc>
              <a:spcBef>
                <a:spcPts val="330"/>
              </a:spcBef>
            </a:pPr>
            <a:r>
              <a:rPr dirty="0" sz="1050" spc="-380" b="1">
                <a:latin typeface="宋体"/>
                <a:cs typeface="宋体"/>
              </a:rPr>
              <a:t>指令队列</a:t>
            </a:r>
            <a:endParaRPr sz="1050">
              <a:latin typeface="宋体"/>
              <a:cs typeface="宋体"/>
            </a:endParaRPr>
          </a:p>
        </p:txBody>
      </p:sp>
      <p:sp>
        <p:nvSpPr>
          <p:cNvPr id="65" name="object 65" descr=""/>
          <p:cNvSpPr txBox="1"/>
          <p:nvPr/>
        </p:nvSpPr>
        <p:spPr>
          <a:xfrm>
            <a:off x="8828638" y="4137169"/>
            <a:ext cx="214629" cy="189865"/>
          </a:xfrm>
          <a:prstGeom prst="rect">
            <a:avLst/>
          </a:prstGeom>
        </p:spPr>
        <p:txBody>
          <a:bodyPr wrap="square" lIns="0" tIns="15875" rIns="0" bIns="0" rtlCol="0" vert="horz">
            <a:spAutoFit/>
          </a:bodyPr>
          <a:lstStyle/>
          <a:p>
            <a:pPr marL="12700">
              <a:lnSpc>
                <a:spcPct val="100000"/>
              </a:lnSpc>
              <a:spcBef>
                <a:spcPts val="125"/>
              </a:spcBef>
            </a:pPr>
            <a:r>
              <a:rPr dirty="0" sz="1050" spc="-350" b="1">
                <a:latin typeface="宋体"/>
                <a:cs typeface="宋体"/>
              </a:rPr>
              <a:t>地址</a:t>
            </a:r>
            <a:endParaRPr sz="1050">
              <a:latin typeface="宋体"/>
              <a:cs typeface="宋体"/>
            </a:endParaRPr>
          </a:p>
        </p:txBody>
      </p:sp>
      <p:sp>
        <p:nvSpPr>
          <p:cNvPr id="66" name="object 66" descr=""/>
          <p:cNvSpPr txBox="1"/>
          <p:nvPr/>
        </p:nvSpPr>
        <p:spPr>
          <a:xfrm>
            <a:off x="9263269" y="3572021"/>
            <a:ext cx="72390" cy="506730"/>
          </a:xfrm>
          <a:prstGeom prst="rect">
            <a:avLst/>
          </a:prstGeom>
        </p:spPr>
        <p:txBody>
          <a:bodyPr wrap="square" lIns="0" tIns="15875" rIns="0" bIns="0" rtlCol="0" vert="horz">
            <a:spAutoFit/>
          </a:bodyPr>
          <a:lstStyle/>
          <a:p>
            <a:pPr marL="12700">
              <a:lnSpc>
                <a:spcPts val="1255"/>
              </a:lnSpc>
              <a:spcBef>
                <a:spcPts val="125"/>
              </a:spcBef>
            </a:pPr>
            <a:r>
              <a:rPr dirty="0" sz="1050" spc="-105">
                <a:latin typeface="Times New Roman"/>
                <a:cs typeface="Times New Roman"/>
              </a:rPr>
              <a:t>3</a:t>
            </a:r>
            <a:endParaRPr sz="1050">
              <a:latin typeface="Times New Roman"/>
              <a:cs typeface="Times New Roman"/>
            </a:endParaRPr>
          </a:p>
          <a:p>
            <a:pPr marL="12700">
              <a:lnSpc>
                <a:spcPts val="1250"/>
              </a:lnSpc>
            </a:pPr>
            <a:r>
              <a:rPr dirty="0" sz="1050" spc="-105">
                <a:latin typeface="Times New Roman"/>
                <a:cs typeface="Times New Roman"/>
              </a:rPr>
              <a:t>2</a:t>
            </a:r>
            <a:endParaRPr sz="1050">
              <a:latin typeface="Times New Roman"/>
              <a:cs typeface="Times New Roman"/>
            </a:endParaRPr>
          </a:p>
          <a:p>
            <a:pPr marL="12700">
              <a:lnSpc>
                <a:spcPts val="1255"/>
              </a:lnSpc>
            </a:pPr>
            <a:r>
              <a:rPr dirty="0" sz="1050" spc="-105">
                <a:latin typeface="Times New Roman"/>
                <a:cs typeface="Times New Roman"/>
              </a:rPr>
              <a:t>1</a:t>
            </a:r>
            <a:endParaRPr sz="1050">
              <a:latin typeface="Times New Roman"/>
              <a:cs typeface="Times New Roman"/>
            </a:endParaRPr>
          </a:p>
        </p:txBody>
      </p:sp>
      <p:sp>
        <p:nvSpPr>
          <p:cNvPr id="67" name="object 67" descr=""/>
          <p:cNvSpPr txBox="1"/>
          <p:nvPr/>
        </p:nvSpPr>
        <p:spPr>
          <a:xfrm>
            <a:off x="9024759" y="3648847"/>
            <a:ext cx="72390" cy="382905"/>
          </a:xfrm>
          <a:prstGeom prst="rect">
            <a:avLst/>
          </a:prstGeom>
        </p:spPr>
        <p:txBody>
          <a:bodyPr wrap="square" lIns="0" tIns="30480" rIns="0" bIns="0" rtlCol="0" vert="horz">
            <a:spAutoFit/>
          </a:bodyPr>
          <a:lstStyle/>
          <a:p>
            <a:pPr marL="12700">
              <a:lnSpc>
                <a:spcPct val="100000"/>
              </a:lnSpc>
              <a:spcBef>
                <a:spcPts val="240"/>
              </a:spcBef>
            </a:pPr>
            <a:r>
              <a:rPr dirty="0" sz="1050" spc="-105">
                <a:latin typeface="Times New Roman"/>
                <a:cs typeface="Times New Roman"/>
              </a:rPr>
              <a:t>2</a:t>
            </a:r>
            <a:endParaRPr sz="1050">
              <a:latin typeface="Times New Roman"/>
              <a:cs typeface="Times New Roman"/>
            </a:endParaRPr>
          </a:p>
          <a:p>
            <a:pPr marL="12700">
              <a:lnSpc>
                <a:spcPct val="100000"/>
              </a:lnSpc>
              <a:spcBef>
                <a:spcPts val="145"/>
              </a:spcBef>
            </a:pPr>
            <a:r>
              <a:rPr dirty="0" sz="1050" spc="-105">
                <a:latin typeface="Times New Roman"/>
                <a:cs typeface="Times New Roman"/>
              </a:rPr>
              <a:t>1</a:t>
            </a:r>
            <a:endParaRPr sz="1050">
              <a:latin typeface="Times New Roman"/>
              <a:cs typeface="Times New Roman"/>
            </a:endParaRPr>
          </a:p>
        </p:txBody>
      </p:sp>
      <p:sp>
        <p:nvSpPr>
          <p:cNvPr id="68" name="object 68" descr=""/>
          <p:cNvSpPr txBox="1"/>
          <p:nvPr/>
        </p:nvSpPr>
        <p:spPr>
          <a:xfrm>
            <a:off x="9024759" y="3506430"/>
            <a:ext cx="72390" cy="189865"/>
          </a:xfrm>
          <a:prstGeom prst="rect">
            <a:avLst/>
          </a:prstGeom>
        </p:spPr>
        <p:txBody>
          <a:bodyPr wrap="square" lIns="0" tIns="15875" rIns="0" bIns="0" rtlCol="0" vert="horz">
            <a:spAutoFit/>
          </a:bodyPr>
          <a:lstStyle/>
          <a:p>
            <a:pPr marL="12700">
              <a:lnSpc>
                <a:spcPct val="100000"/>
              </a:lnSpc>
              <a:spcBef>
                <a:spcPts val="125"/>
              </a:spcBef>
            </a:pPr>
            <a:r>
              <a:rPr dirty="0" sz="1050" spc="-105">
                <a:latin typeface="Times New Roman"/>
                <a:cs typeface="Times New Roman"/>
              </a:rPr>
              <a:t>3</a:t>
            </a:r>
            <a:endParaRPr sz="1050">
              <a:latin typeface="Times New Roman"/>
              <a:cs typeface="Times New Roman"/>
            </a:endParaRPr>
          </a:p>
        </p:txBody>
      </p:sp>
      <p:sp>
        <p:nvSpPr>
          <p:cNvPr id="69" name="object 69" descr=""/>
          <p:cNvSpPr txBox="1"/>
          <p:nvPr/>
        </p:nvSpPr>
        <p:spPr>
          <a:xfrm>
            <a:off x="9024759" y="3134799"/>
            <a:ext cx="72390" cy="379095"/>
          </a:xfrm>
          <a:prstGeom prst="rect">
            <a:avLst/>
          </a:prstGeom>
        </p:spPr>
        <p:txBody>
          <a:bodyPr wrap="square" lIns="0" tIns="28575" rIns="0" bIns="0" rtlCol="0" vert="horz">
            <a:spAutoFit/>
          </a:bodyPr>
          <a:lstStyle/>
          <a:p>
            <a:pPr marL="12700">
              <a:lnSpc>
                <a:spcPct val="100000"/>
              </a:lnSpc>
              <a:spcBef>
                <a:spcPts val="225"/>
              </a:spcBef>
            </a:pPr>
            <a:r>
              <a:rPr dirty="0" sz="1050" spc="-105">
                <a:latin typeface="Times New Roman"/>
                <a:cs typeface="Times New Roman"/>
              </a:rPr>
              <a:t>5</a:t>
            </a:r>
            <a:endParaRPr sz="1050">
              <a:latin typeface="Times New Roman"/>
              <a:cs typeface="Times New Roman"/>
            </a:endParaRPr>
          </a:p>
          <a:p>
            <a:pPr marL="12700">
              <a:lnSpc>
                <a:spcPct val="100000"/>
              </a:lnSpc>
              <a:spcBef>
                <a:spcPts val="130"/>
              </a:spcBef>
            </a:pPr>
            <a:r>
              <a:rPr dirty="0" sz="1050" spc="-105">
                <a:latin typeface="Times New Roman"/>
                <a:cs typeface="Times New Roman"/>
              </a:rPr>
              <a:t>4</a:t>
            </a:r>
            <a:endParaRPr sz="1050">
              <a:latin typeface="Times New Roman"/>
              <a:cs typeface="Times New Roman"/>
            </a:endParaRPr>
          </a:p>
        </p:txBody>
      </p:sp>
      <p:sp>
        <p:nvSpPr>
          <p:cNvPr id="70" name="object 70" descr=""/>
          <p:cNvSpPr txBox="1"/>
          <p:nvPr/>
        </p:nvSpPr>
        <p:spPr>
          <a:xfrm>
            <a:off x="9024759" y="2970367"/>
            <a:ext cx="72390" cy="189865"/>
          </a:xfrm>
          <a:prstGeom prst="rect">
            <a:avLst/>
          </a:prstGeom>
        </p:spPr>
        <p:txBody>
          <a:bodyPr wrap="square" lIns="0" tIns="15875" rIns="0" bIns="0" rtlCol="0" vert="horz">
            <a:spAutoFit/>
          </a:bodyPr>
          <a:lstStyle/>
          <a:p>
            <a:pPr marL="12700">
              <a:lnSpc>
                <a:spcPct val="100000"/>
              </a:lnSpc>
              <a:spcBef>
                <a:spcPts val="125"/>
              </a:spcBef>
            </a:pPr>
            <a:r>
              <a:rPr dirty="0" sz="1050" spc="-105">
                <a:latin typeface="Times New Roman"/>
                <a:cs typeface="Times New Roman"/>
              </a:rPr>
              <a:t>6</a:t>
            </a:r>
            <a:endParaRPr sz="1050">
              <a:latin typeface="Times New Roman"/>
              <a:cs typeface="Times New Roman"/>
            </a:endParaRPr>
          </a:p>
        </p:txBody>
      </p:sp>
      <p:grpSp>
        <p:nvGrpSpPr>
          <p:cNvPr id="71" name="object 71" descr=""/>
          <p:cNvGrpSpPr/>
          <p:nvPr/>
        </p:nvGrpSpPr>
        <p:grpSpPr>
          <a:xfrm>
            <a:off x="7739151" y="1419964"/>
            <a:ext cx="4075429" cy="3547110"/>
            <a:chOff x="7739151" y="1419964"/>
            <a:chExt cx="4075429" cy="3547110"/>
          </a:xfrm>
        </p:grpSpPr>
        <p:sp>
          <p:nvSpPr>
            <p:cNvPr id="72" name="object 72" descr=""/>
            <p:cNvSpPr/>
            <p:nvPr/>
          </p:nvSpPr>
          <p:spPr>
            <a:xfrm>
              <a:off x="8008251" y="2739562"/>
              <a:ext cx="41910" cy="243204"/>
            </a:xfrm>
            <a:custGeom>
              <a:avLst/>
              <a:gdLst/>
              <a:ahLst/>
              <a:cxnLst/>
              <a:rect l="l" t="t" r="r" b="b"/>
              <a:pathLst>
                <a:path w="41909" h="243205">
                  <a:moveTo>
                    <a:pt x="0" y="152040"/>
                  </a:moveTo>
                  <a:lnTo>
                    <a:pt x="20604" y="243112"/>
                  </a:lnTo>
                  <a:lnTo>
                    <a:pt x="32789" y="189898"/>
                  </a:lnTo>
                  <a:lnTo>
                    <a:pt x="17864" y="189898"/>
                  </a:lnTo>
                  <a:lnTo>
                    <a:pt x="15631" y="186553"/>
                  </a:lnTo>
                  <a:lnTo>
                    <a:pt x="15631" y="174994"/>
                  </a:lnTo>
                  <a:lnTo>
                    <a:pt x="0" y="152040"/>
                  </a:lnTo>
                  <a:close/>
                </a:path>
                <a:path w="41909" h="243205">
                  <a:moveTo>
                    <a:pt x="15631" y="174994"/>
                  </a:moveTo>
                  <a:lnTo>
                    <a:pt x="15631" y="186553"/>
                  </a:lnTo>
                  <a:lnTo>
                    <a:pt x="17864" y="189898"/>
                  </a:lnTo>
                  <a:lnTo>
                    <a:pt x="23582" y="189898"/>
                  </a:lnTo>
                  <a:lnTo>
                    <a:pt x="25815" y="186553"/>
                  </a:lnTo>
                  <a:lnTo>
                    <a:pt x="25815" y="182296"/>
                  </a:lnTo>
                  <a:lnTo>
                    <a:pt x="20604" y="182296"/>
                  </a:lnTo>
                  <a:lnTo>
                    <a:pt x="15631" y="174994"/>
                  </a:lnTo>
                  <a:close/>
                </a:path>
                <a:path w="41909" h="243205">
                  <a:moveTo>
                    <a:pt x="41457" y="152040"/>
                  </a:moveTo>
                  <a:lnTo>
                    <a:pt x="25815" y="174736"/>
                  </a:lnTo>
                  <a:lnTo>
                    <a:pt x="25815" y="186553"/>
                  </a:lnTo>
                  <a:lnTo>
                    <a:pt x="23582" y="189898"/>
                  </a:lnTo>
                  <a:lnTo>
                    <a:pt x="32789" y="189898"/>
                  </a:lnTo>
                  <a:lnTo>
                    <a:pt x="41457" y="152040"/>
                  </a:lnTo>
                  <a:close/>
                </a:path>
                <a:path w="41909" h="243205">
                  <a:moveTo>
                    <a:pt x="23582" y="0"/>
                  </a:moveTo>
                  <a:lnTo>
                    <a:pt x="17864" y="0"/>
                  </a:lnTo>
                  <a:lnTo>
                    <a:pt x="15631" y="3344"/>
                  </a:lnTo>
                  <a:lnTo>
                    <a:pt x="15631" y="174994"/>
                  </a:lnTo>
                  <a:lnTo>
                    <a:pt x="20604" y="182296"/>
                  </a:lnTo>
                  <a:lnTo>
                    <a:pt x="25815" y="174736"/>
                  </a:lnTo>
                  <a:lnTo>
                    <a:pt x="25815" y="3344"/>
                  </a:lnTo>
                  <a:lnTo>
                    <a:pt x="23582" y="0"/>
                  </a:lnTo>
                  <a:close/>
                </a:path>
                <a:path w="41909" h="243205">
                  <a:moveTo>
                    <a:pt x="25815" y="174736"/>
                  </a:moveTo>
                  <a:lnTo>
                    <a:pt x="20604" y="182296"/>
                  </a:lnTo>
                  <a:lnTo>
                    <a:pt x="25815" y="182296"/>
                  </a:lnTo>
                  <a:lnTo>
                    <a:pt x="25815" y="174736"/>
                  </a:lnTo>
                  <a:close/>
                </a:path>
              </a:pathLst>
            </a:custGeom>
            <a:solidFill>
              <a:srgbClr val="0000FF"/>
            </a:solidFill>
          </p:spPr>
          <p:txBody>
            <a:bodyPr wrap="square" lIns="0" tIns="0" rIns="0" bIns="0" rtlCol="0"/>
            <a:lstStyle/>
            <a:p/>
          </p:txBody>
        </p:sp>
        <p:sp>
          <p:nvSpPr>
            <p:cNvPr id="73" name="object 73" descr=""/>
            <p:cNvSpPr/>
            <p:nvPr/>
          </p:nvSpPr>
          <p:spPr>
            <a:xfrm>
              <a:off x="8008251" y="2739562"/>
              <a:ext cx="41910" cy="243204"/>
            </a:xfrm>
            <a:custGeom>
              <a:avLst/>
              <a:gdLst/>
              <a:ahLst/>
              <a:cxnLst/>
              <a:rect l="l" t="t" r="r" b="b"/>
              <a:pathLst>
                <a:path w="41909" h="243205">
                  <a:moveTo>
                    <a:pt x="25815" y="7754"/>
                  </a:moveTo>
                  <a:lnTo>
                    <a:pt x="25815" y="182296"/>
                  </a:lnTo>
                  <a:lnTo>
                    <a:pt x="25815" y="186553"/>
                  </a:lnTo>
                  <a:lnTo>
                    <a:pt x="23582" y="189898"/>
                  </a:lnTo>
                  <a:lnTo>
                    <a:pt x="20604" y="189898"/>
                  </a:lnTo>
                  <a:lnTo>
                    <a:pt x="17864" y="189898"/>
                  </a:lnTo>
                  <a:lnTo>
                    <a:pt x="15631" y="186553"/>
                  </a:lnTo>
                  <a:lnTo>
                    <a:pt x="15631" y="182296"/>
                  </a:lnTo>
                  <a:lnTo>
                    <a:pt x="15631" y="7754"/>
                  </a:lnTo>
                  <a:lnTo>
                    <a:pt x="15631" y="3344"/>
                  </a:lnTo>
                  <a:lnTo>
                    <a:pt x="17864" y="0"/>
                  </a:lnTo>
                  <a:lnTo>
                    <a:pt x="20604" y="0"/>
                  </a:lnTo>
                  <a:lnTo>
                    <a:pt x="23582" y="0"/>
                  </a:lnTo>
                  <a:lnTo>
                    <a:pt x="25815" y="3344"/>
                  </a:lnTo>
                  <a:lnTo>
                    <a:pt x="25815" y="7754"/>
                  </a:lnTo>
                  <a:close/>
                </a:path>
                <a:path w="41909" h="243205">
                  <a:moveTo>
                    <a:pt x="20604" y="182296"/>
                  </a:moveTo>
                  <a:lnTo>
                    <a:pt x="41457" y="152040"/>
                  </a:lnTo>
                  <a:lnTo>
                    <a:pt x="20604" y="243112"/>
                  </a:lnTo>
                  <a:lnTo>
                    <a:pt x="0" y="152040"/>
                  </a:lnTo>
                  <a:lnTo>
                    <a:pt x="20604" y="182296"/>
                  </a:lnTo>
                  <a:close/>
                </a:path>
              </a:pathLst>
            </a:custGeom>
            <a:ln w="3175">
              <a:solidFill>
                <a:srgbClr val="0000FF"/>
              </a:solidFill>
            </a:ln>
          </p:spPr>
          <p:txBody>
            <a:bodyPr wrap="square" lIns="0" tIns="0" rIns="0" bIns="0" rtlCol="0"/>
            <a:lstStyle/>
            <a:p/>
          </p:txBody>
        </p:sp>
        <p:sp>
          <p:nvSpPr>
            <p:cNvPr id="74" name="object 74" descr=""/>
            <p:cNvSpPr/>
            <p:nvPr/>
          </p:nvSpPr>
          <p:spPr>
            <a:xfrm>
              <a:off x="7744866" y="1428671"/>
              <a:ext cx="4064000" cy="3532504"/>
            </a:xfrm>
            <a:custGeom>
              <a:avLst/>
              <a:gdLst/>
              <a:ahLst/>
              <a:cxnLst/>
              <a:rect l="l" t="t" r="r" b="b"/>
              <a:pathLst>
                <a:path w="4064000" h="3532504">
                  <a:moveTo>
                    <a:pt x="0" y="1318645"/>
                  </a:moveTo>
                  <a:lnTo>
                    <a:pt x="282500" y="1318645"/>
                  </a:lnTo>
                </a:path>
                <a:path w="4064000" h="3532504">
                  <a:moveTo>
                    <a:pt x="0" y="1318645"/>
                  </a:moveTo>
                  <a:lnTo>
                    <a:pt x="0" y="3532183"/>
                  </a:lnTo>
                </a:path>
                <a:path w="4064000" h="3532504">
                  <a:moveTo>
                    <a:pt x="0" y="3532183"/>
                  </a:moveTo>
                  <a:lnTo>
                    <a:pt x="4063416" y="3532183"/>
                  </a:lnTo>
                </a:path>
                <a:path w="4064000" h="3532504">
                  <a:moveTo>
                    <a:pt x="4063416" y="3532183"/>
                  </a:moveTo>
                  <a:lnTo>
                    <a:pt x="4063415" y="0"/>
                  </a:lnTo>
                </a:path>
                <a:path w="4064000" h="3532504">
                  <a:moveTo>
                    <a:pt x="3020570" y="0"/>
                  </a:moveTo>
                  <a:lnTo>
                    <a:pt x="4063415" y="0"/>
                  </a:lnTo>
                </a:path>
              </a:pathLst>
            </a:custGeom>
            <a:ln w="9506">
              <a:solidFill>
                <a:srgbClr val="0000FF"/>
              </a:solidFill>
            </a:ln>
          </p:spPr>
          <p:txBody>
            <a:bodyPr wrap="square" lIns="0" tIns="0" rIns="0" bIns="0" rtlCol="0"/>
            <a:lstStyle/>
            <a:p/>
          </p:txBody>
        </p:sp>
        <p:sp>
          <p:nvSpPr>
            <p:cNvPr id="75" name="object 75" descr=""/>
            <p:cNvSpPr/>
            <p:nvPr/>
          </p:nvSpPr>
          <p:spPr>
            <a:xfrm>
              <a:off x="10744553" y="1420917"/>
              <a:ext cx="41910" cy="290195"/>
            </a:xfrm>
            <a:custGeom>
              <a:avLst/>
              <a:gdLst/>
              <a:ahLst/>
              <a:cxnLst/>
              <a:rect l="l" t="t" r="r" b="b"/>
              <a:pathLst>
                <a:path w="41909" h="290194">
                  <a:moveTo>
                    <a:pt x="0" y="199020"/>
                  </a:moveTo>
                  <a:lnTo>
                    <a:pt x="20883" y="290092"/>
                  </a:lnTo>
                  <a:lnTo>
                    <a:pt x="32905" y="236878"/>
                  </a:lnTo>
                  <a:lnTo>
                    <a:pt x="17885" y="236878"/>
                  </a:lnTo>
                  <a:lnTo>
                    <a:pt x="15714" y="233533"/>
                  </a:lnTo>
                  <a:lnTo>
                    <a:pt x="15714" y="221787"/>
                  </a:lnTo>
                  <a:lnTo>
                    <a:pt x="0" y="199020"/>
                  </a:lnTo>
                  <a:close/>
                </a:path>
                <a:path w="41909" h="290194">
                  <a:moveTo>
                    <a:pt x="15714" y="221787"/>
                  </a:moveTo>
                  <a:lnTo>
                    <a:pt x="15714" y="233533"/>
                  </a:lnTo>
                  <a:lnTo>
                    <a:pt x="17885" y="236878"/>
                  </a:lnTo>
                  <a:lnTo>
                    <a:pt x="23571" y="236878"/>
                  </a:lnTo>
                  <a:lnTo>
                    <a:pt x="26053" y="233533"/>
                  </a:lnTo>
                  <a:lnTo>
                    <a:pt x="26053" y="229276"/>
                  </a:lnTo>
                  <a:lnTo>
                    <a:pt x="20883" y="229276"/>
                  </a:lnTo>
                  <a:lnTo>
                    <a:pt x="15714" y="221787"/>
                  </a:lnTo>
                  <a:close/>
                </a:path>
                <a:path w="41909" h="290194">
                  <a:moveTo>
                    <a:pt x="41457" y="199020"/>
                  </a:moveTo>
                  <a:lnTo>
                    <a:pt x="26053" y="221787"/>
                  </a:lnTo>
                  <a:lnTo>
                    <a:pt x="26053" y="233533"/>
                  </a:lnTo>
                  <a:lnTo>
                    <a:pt x="23571" y="236878"/>
                  </a:lnTo>
                  <a:lnTo>
                    <a:pt x="32905" y="236878"/>
                  </a:lnTo>
                  <a:lnTo>
                    <a:pt x="41457" y="199020"/>
                  </a:lnTo>
                  <a:close/>
                </a:path>
                <a:path w="41909" h="290194">
                  <a:moveTo>
                    <a:pt x="23571" y="0"/>
                  </a:moveTo>
                  <a:lnTo>
                    <a:pt x="17885" y="0"/>
                  </a:lnTo>
                  <a:lnTo>
                    <a:pt x="15714" y="3344"/>
                  </a:lnTo>
                  <a:lnTo>
                    <a:pt x="15714" y="221787"/>
                  </a:lnTo>
                  <a:lnTo>
                    <a:pt x="20883" y="229276"/>
                  </a:lnTo>
                  <a:lnTo>
                    <a:pt x="25976" y="221787"/>
                  </a:lnTo>
                  <a:lnTo>
                    <a:pt x="26052" y="3344"/>
                  </a:lnTo>
                  <a:lnTo>
                    <a:pt x="23571" y="0"/>
                  </a:lnTo>
                  <a:close/>
                </a:path>
                <a:path w="41909" h="290194">
                  <a:moveTo>
                    <a:pt x="26053" y="221787"/>
                  </a:moveTo>
                  <a:lnTo>
                    <a:pt x="20883" y="229276"/>
                  </a:lnTo>
                  <a:lnTo>
                    <a:pt x="26053" y="229276"/>
                  </a:lnTo>
                  <a:lnTo>
                    <a:pt x="26053" y="221787"/>
                  </a:lnTo>
                  <a:close/>
                </a:path>
              </a:pathLst>
            </a:custGeom>
            <a:solidFill>
              <a:srgbClr val="0000FF"/>
            </a:solidFill>
          </p:spPr>
          <p:txBody>
            <a:bodyPr wrap="square" lIns="0" tIns="0" rIns="0" bIns="0" rtlCol="0"/>
            <a:lstStyle/>
            <a:p/>
          </p:txBody>
        </p:sp>
        <p:sp>
          <p:nvSpPr>
            <p:cNvPr id="76" name="object 76" descr=""/>
            <p:cNvSpPr/>
            <p:nvPr/>
          </p:nvSpPr>
          <p:spPr>
            <a:xfrm>
              <a:off x="10744553" y="1420917"/>
              <a:ext cx="41910" cy="290195"/>
            </a:xfrm>
            <a:custGeom>
              <a:avLst/>
              <a:gdLst/>
              <a:ahLst/>
              <a:cxnLst/>
              <a:rect l="l" t="t" r="r" b="b"/>
              <a:pathLst>
                <a:path w="41909" h="290194">
                  <a:moveTo>
                    <a:pt x="26052" y="7754"/>
                  </a:moveTo>
                  <a:lnTo>
                    <a:pt x="26053" y="229276"/>
                  </a:lnTo>
                  <a:lnTo>
                    <a:pt x="26053" y="233533"/>
                  </a:lnTo>
                  <a:lnTo>
                    <a:pt x="23571" y="236878"/>
                  </a:lnTo>
                  <a:lnTo>
                    <a:pt x="20883" y="236878"/>
                  </a:lnTo>
                  <a:lnTo>
                    <a:pt x="17885" y="236878"/>
                  </a:lnTo>
                  <a:lnTo>
                    <a:pt x="15714" y="233533"/>
                  </a:lnTo>
                  <a:lnTo>
                    <a:pt x="15714" y="229276"/>
                  </a:lnTo>
                  <a:lnTo>
                    <a:pt x="15714" y="7754"/>
                  </a:lnTo>
                  <a:lnTo>
                    <a:pt x="15714" y="3344"/>
                  </a:lnTo>
                  <a:lnTo>
                    <a:pt x="17885" y="0"/>
                  </a:lnTo>
                  <a:lnTo>
                    <a:pt x="20883" y="0"/>
                  </a:lnTo>
                  <a:lnTo>
                    <a:pt x="23571" y="0"/>
                  </a:lnTo>
                  <a:lnTo>
                    <a:pt x="26052" y="3344"/>
                  </a:lnTo>
                  <a:lnTo>
                    <a:pt x="26052" y="7754"/>
                  </a:lnTo>
                  <a:close/>
                </a:path>
                <a:path w="41909" h="290194">
                  <a:moveTo>
                    <a:pt x="20883" y="229276"/>
                  </a:moveTo>
                  <a:lnTo>
                    <a:pt x="41457" y="199020"/>
                  </a:lnTo>
                  <a:lnTo>
                    <a:pt x="20883" y="290092"/>
                  </a:lnTo>
                  <a:lnTo>
                    <a:pt x="0" y="199020"/>
                  </a:lnTo>
                  <a:lnTo>
                    <a:pt x="20883" y="229276"/>
                  </a:lnTo>
                  <a:close/>
                </a:path>
              </a:pathLst>
            </a:custGeom>
            <a:ln w="3175">
              <a:solidFill>
                <a:srgbClr val="0000FF"/>
              </a:solidFill>
            </a:ln>
          </p:spPr>
          <p:txBody>
            <a:bodyPr wrap="square" lIns="0" tIns="0" rIns="0" bIns="0" rtlCol="0"/>
            <a:lstStyle/>
            <a:p/>
          </p:txBody>
        </p:sp>
        <p:sp>
          <p:nvSpPr>
            <p:cNvPr id="77" name="object 77" descr=""/>
            <p:cNvSpPr/>
            <p:nvPr/>
          </p:nvSpPr>
          <p:spPr>
            <a:xfrm>
              <a:off x="8332694" y="4717819"/>
              <a:ext cx="41910" cy="243204"/>
            </a:xfrm>
            <a:custGeom>
              <a:avLst/>
              <a:gdLst/>
              <a:ahLst/>
              <a:cxnLst/>
              <a:rect l="l" t="t" r="r" b="b"/>
              <a:pathLst>
                <a:path w="41909" h="243204">
                  <a:moveTo>
                    <a:pt x="0" y="151941"/>
                  </a:moveTo>
                  <a:lnTo>
                    <a:pt x="20604" y="243034"/>
                  </a:lnTo>
                  <a:lnTo>
                    <a:pt x="32782" y="189835"/>
                  </a:lnTo>
                  <a:lnTo>
                    <a:pt x="17875" y="189835"/>
                  </a:lnTo>
                  <a:lnTo>
                    <a:pt x="15394" y="186557"/>
                  </a:lnTo>
                  <a:lnTo>
                    <a:pt x="15394" y="174628"/>
                  </a:lnTo>
                  <a:lnTo>
                    <a:pt x="0" y="151941"/>
                  </a:lnTo>
                  <a:close/>
                </a:path>
                <a:path w="41909" h="243204">
                  <a:moveTo>
                    <a:pt x="15456" y="174628"/>
                  </a:moveTo>
                  <a:lnTo>
                    <a:pt x="15394" y="186557"/>
                  </a:lnTo>
                  <a:lnTo>
                    <a:pt x="17875" y="189835"/>
                  </a:lnTo>
                  <a:lnTo>
                    <a:pt x="23582" y="189835"/>
                  </a:lnTo>
                  <a:lnTo>
                    <a:pt x="25815" y="186557"/>
                  </a:lnTo>
                  <a:lnTo>
                    <a:pt x="25815" y="182185"/>
                  </a:lnTo>
                  <a:lnTo>
                    <a:pt x="20604" y="182185"/>
                  </a:lnTo>
                  <a:lnTo>
                    <a:pt x="15456" y="174628"/>
                  </a:lnTo>
                  <a:close/>
                </a:path>
                <a:path w="41909" h="243204">
                  <a:moveTo>
                    <a:pt x="41457" y="151941"/>
                  </a:moveTo>
                  <a:lnTo>
                    <a:pt x="25815" y="174628"/>
                  </a:lnTo>
                  <a:lnTo>
                    <a:pt x="25815" y="186557"/>
                  </a:lnTo>
                  <a:lnTo>
                    <a:pt x="23582" y="189835"/>
                  </a:lnTo>
                  <a:lnTo>
                    <a:pt x="32782" y="189835"/>
                  </a:lnTo>
                  <a:lnTo>
                    <a:pt x="41457" y="151941"/>
                  </a:lnTo>
                  <a:close/>
                </a:path>
                <a:path w="41909" h="243204">
                  <a:moveTo>
                    <a:pt x="23582" y="0"/>
                  </a:moveTo>
                  <a:lnTo>
                    <a:pt x="17875" y="0"/>
                  </a:lnTo>
                  <a:lnTo>
                    <a:pt x="15394" y="3284"/>
                  </a:lnTo>
                  <a:lnTo>
                    <a:pt x="15456" y="174628"/>
                  </a:lnTo>
                  <a:lnTo>
                    <a:pt x="20604" y="182185"/>
                  </a:lnTo>
                  <a:lnTo>
                    <a:pt x="25815" y="174628"/>
                  </a:lnTo>
                  <a:lnTo>
                    <a:pt x="25815" y="3284"/>
                  </a:lnTo>
                  <a:lnTo>
                    <a:pt x="23582" y="0"/>
                  </a:lnTo>
                  <a:close/>
                </a:path>
                <a:path w="41909" h="243204">
                  <a:moveTo>
                    <a:pt x="25815" y="174628"/>
                  </a:moveTo>
                  <a:lnTo>
                    <a:pt x="20604" y="182185"/>
                  </a:lnTo>
                  <a:lnTo>
                    <a:pt x="25815" y="182185"/>
                  </a:lnTo>
                  <a:lnTo>
                    <a:pt x="25815" y="174628"/>
                  </a:lnTo>
                  <a:close/>
                </a:path>
              </a:pathLst>
            </a:custGeom>
            <a:solidFill>
              <a:srgbClr val="000000"/>
            </a:solidFill>
          </p:spPr>
          <p:txBody>
            <a:bodyPr wrap="square" lIns="0" tIns="0" rIns="0" bIns="0" rtlCol="0"/>
            <a:lstStyle/>
            <a:p/>
          </p:txBody>
        </p:sp>
        <p:sp>
          <p:nvSpPr>
            <p:cNvPr id="78" name="object 78" descr=""/>
            <p:cNvSpPr/>
            <p:nvPr/>
          </p:nvSpPr>
          <p:spPr>
            <a:xfrm>
              <a:off x="8332694" y="4717819"/>
              <a:ext cx="41910" cy="243204"/>
            </a:xfrm>
            <a:custGeom>
              <a:avLst/>
              <a:gdLst/>
              <a:ahLst/>
              <a:cxnLst/>
              <a:rect l="l" t="t" r="r" b="b"/>
              <a:pathLst>
                <a:path w="41909" h="243204">
                  <a:moveTo>
                    <a:pt x="25815" y="7282"/>
                  </a:moveTo>
                  <a:lnTo>
                    <a:pt x="25815" y="182185"/>
                  </a:lnTo>
                  <a:lnTo>
                    <a:pt x="25815" y="186557"/>
                  </a:lnTo>
                  <a:lnTo>
                    <a:pt x="23582" y="189835"/>
                  </a:lnTo>
                  <a:lnTo>
                    <a:pt x="20604" y="189835"/>
                  </a:lnTo>
                  <a:lnTo>
                    <a:pt x="17875" y="189835"/>
                  </a:lnTo>
                  <a:lnTo>
                    <a:pt x="15394" y="186557"/>
                  </a:lnTo>
                  <a:lnTo>
                    <a:pt x="15394" y="182185"/>
                  </a:lnTo>
                  <a:lnTo>
                    <a:pt x="15394" y="7282"/>
                  </a:lnTo>
                  <a:lnTo>
                    <a:pt x="15394" y="3284"/>
                  </a:lnTo>
                  <a:lnTo>
                    <a:pt x="17875" y="0"/>
                  </a:lnTo>
                  <a:lnTo>
                    <a:pt x="20604" y="0"/>
                  </a:lnTo>
                  <a:lnTo>
                    <a:pt x="23582" y="0"/>
                  </a:lnTo>
                  <a:lnTo>
                    <a:pt x="25815" y="3284"/>
                  </a:lnTo>
                  <a:lnTo>
                    <a:pt x="25815" y="7282"/>
                  </a:lnTo>
                  <a:close/>
                </a:path>
                <a:path w="41909" h="243204">
                  <a:moveTo>
                    <a:pt x="20604" y="182185"/>
                  </a:moveTo>
                  <a:lnTo>
                    <a:pt x="41457" y="151941"/>
                  </a:lnTo>
                  <a:lnTo>
                    <a:pt x="20604" y="243034"/>
                  </a:lnTo>
                  <a:lnTo>
                    <a:pt x="0" y="151941"/>
                  </a:lnTo>
                  <a:lnTo>
                    <a:pt x="20604" y="182185"/>
                  </a:lnTo>
                  <a:close/>
                </a:path>
              </a:pathLst>
            </a:custGeom>
            <a:ln w="3175">
              <a:solidFill>
                <a:srgbClr val="000000"/>
              </a:solidFill>
            </a:ln>
          </p:spPr>
          <p:txBody>
            <a:bodyPr wrap="square" lIns="0" tIns="0" rIns="0" bIns="0" rtlCol="0"/>
            <a:lstStyle/>
            <a:p/>
          </p:txBody>
        </p:sp>
        <p:sp>
          <p:nvSpPr>
            <p:cNvPr id="79" name="object 79" descr=""/>
            <p:cNvSpPr/>
            <p:nvPr/>
          </p:nvSpPr>
          <p:spPr>
            <a:xfrm>
              <a:off x="9832077" y="4717819"/>
              <a:ext cx="41910" cy="243204"/>
            </a:xfrm>
            <a:custGeom>
              <a:avLst/>
              <a:gdLst/>
              <a:ahLst/>
              <a:cxnLst/>
              <a:rect l="l" t="t" r="r" b="b"/>
              <a:pathLst>
                <a:path w="41909" h="243204">
                  <a:moveTo>
                    <a:pt x="0" y="151941"/>
                  </a:moveTo>
                  <a:lnTo>
                    <a:pt x="20573" y="243034"/>
                  </a:lnTo>
                  <a:lnTo>
                    <a:pt x="32769" y="189835"/>
                  </a:lnTo>
                  <a:lnTo>
                    <a:pt x="17885" y="189835"/>
                  </a:lnTo>
                  <a:lnTo>
                    <a:pt x="15404" y="186557"/>
                  </a:lnTo>
                  <a:lnTo>
                    <a:pt x="15404" y="174586"/>
                  </a:lnTo>
                  <a:lnTo>
                    <a:pt x="0" y="151941"/>
                  </a:lnTo>
                  <a:close/>
                </a:path>
                <a:path w="41909" h="243204">
                  <a:moveTo>
                    <a:pt x="15404" y="174586"/>
                  </a:moveTo>
                  <a:lnTo>
                    <a:pt x="15404" y="186557"/>
                  </a:lnTo>
                  <a:lnTo>
                    <a:pt x="17885" y="189835"/>
                  </a:lnTo>
                  <a:lnTo>
                    <a:pt x="23571" y="189835"/>
                  </a:lnTo>
                  <a:lnTo>
                    <a:pt x="25846" y="186557"/>
                  </a:lnTo>
                  <a:lnTo>
                    <a:pt x="25846" y="182185"/>
                  </a:lnTo>
                  <a:lnTo>
                    <a:pt x="20573" y="182185"/>
                  </a:lnTo>
                  <a:lnTo>
                    <a:pt x="15404" y="174586"/>
                  </a:lnTo>
                  <a:close/>
                </a:path>
                <a:path w="41909" h="243204">
                  <a:moveTo>
                    <a:pt x="41457" y="151941"/>
                  </a:moveTo>
                  <a:lnTo>
                    <a:pt x="25846" y="174586"/>
                  </a:lnTo>
                  <a:lnTo>
                    <a:pt x="25846" y="186557"/>
                  </a:lnTo>
                  <a:lnTo>
                    <a:pt x="23571" y="189835"/>
                  </a:lnTo>
                  <a:lnTo>
                    <a:pt x="32769" y="189835"/>
                  </a:lnTo>
                  <a:lnTo>
                    <a:pt x="41457" y="151941"/>
                  </a:lnTo>
                  <a:close/>
                </a:path>
                <a:path w="41909" h="243204">
                  <a:moveTo>
                    <a:pt x="23571" y="0"/>
                  </a:moveTo>
                  <a:lnTo>
                    <a:pt x="17885" y="0"/>
                  </a:lnTo>
                  <a:lnTo>
                    <a:pt x="15404" y="3284"/>
                  </a:lnTo>
                  <a:lnTo>
                    <a:pt x="15404" y="174586"/>
                  </a:lnTo>
                  <a:lnTo>
                    <a:pt x="20573" y="182185"/>
                  </a:lnTo>
                  <a:lnTo>
                    <a:pt x="25820" y="174586"/>
                  </a:lnTo>
                  <a:lnTo>
                    <a:pt x="25846" y="3284"/>
                  </a:lnTo>
                  <a:lnTo>
                    <a:pt x="23571" y="0"/>
                  </a:lnTo>
                  <a:close/>
                </a:path>
                <a:path w="41909" h="243204">
                  <a:moveTo>
                    <a:pt x="25846" y="174586"/>
                  </a:moveTo>
                  <a:lnTo>
                    <a:pt x="20573" y="182185"/>
                  </a:lnTo>
                  <a:lnTo>
                    <a:pt x="25846" y="182185"/>
                  </a:lnTo>
                  <a:lnTo>
                    <a:pt x="25846" y="174586"/>
                  </a:lnTo>
                  <a:close/>
                </a:path>
              </a:pathLst>
            </a:custGeom>
            <a:solidFill>
              <a:srgbClr val="000000"/>
            </a:solidFill>
          </p:spPr>
          <p:txBody>
            <a:bodyPr wrap="square" lIns="0" tIns="0" rIns="0" bIns="0" rtlCol="0"/>
            <a:lstStyle/>
            <a:p/>
          </p:txBody>
        </p:sp>
        <p:sp>
          <p:nvSpPr>
            <p:cNvPr id="80" name="object 80" descr=""/>
            <p:cNvSpPr/>
            <p:nvPr/>
          </p:nvSpPr>
          <p:spPr>
            <a:xfrm>
              <a:off x="9832077" y="4717819"/>
              <a:ext cx="41910" cy="243204"/>
            </a:xfrm>
            <a:custGeom>
              <a:avLst/>
              <a:gdLst/>
              <a:ahLst/>
              <a:cxnLst/>
              <a:rect l="l" t="t" r="r" b="b"/>
              <a:pathLst>
                <a:path w="41909" h="243204">
                  <a:moveTo>
                    <a:pt x="25846" y="7282"/>
                  </a:moveTo>
                  <a:lnTo>
                    <a:pt x="25846" y="182185"/>
                  </a:lnTo>
                  <a:lnTo>
                    <a:pt x="25846" y="186557"/>
                  </a:lnTo>
                  <a:lnTo>
                    <a:pt x="23571" y="189835"/>
                  </a:lnTo>
                  <a:lnTo>
                    <a:pt x="15404" y="7282"/>
                  </a:lnTo>
                  <a:lnTo>
                    <a:pt x="15404" y="3284"/>
                  </a:lnTo>
                  <a:lnTo>
                    <a:pt x="17885" y="0"/>
                  </a:lnTo>
                  <a:lnTo>
                    <a:pt x="20573" y="0"/>
                  </a:lnTo>
                  <a:lnTo>
                    <a:pt x="23571" y="0"/>
                  </a:lnTo>
                  <a:lnTo>
                    <a:pt x="25846" y="3284"/>
                  </a:lnTo>
                  <a:lnTo>
                    <a:pt x="25846" y="7282"/>
                  </a:lnTo>
                  <a:close/>
                </a:path>
                <a:path w="41909" h="243204">
                  <a:moveTo>
                    <a:pt x="20573" y="182185"/>
                  </a:moveTo>
                  <a:lnTo>
                    <a:pt x="41457" y="151941"/>
                  </a:lnTo>
                  <a:lnTo>
                    <a:pt x="20573" y="243034"/>
                  </a:lnTo>
                  <a:lnTo>
                    <a:pt x="0" y="151941"/>
                  </a:lnTo>
                  <a:lnTo>
                    <a:pt x="20573" y="182185"/>
                  </a:lnTo>
                  <a:close/>
                </a:path>
              </a:pathLst>
            </a:custGeom>
            <a:ln w="3175">
              <a:solidFill>
                <a:srgbClr val="000000"/>
              </a:solidFill>
            </a:ln>
          </p:spPr>
          <p:txBody>
            <a:bodyPr wrap="square" lIns="0" tIns="0" rIns="0" bIns="0" rtlCol="0"/>
            <a:lstStyle/>
            <a:p/>
          </p:txBody>
        </p:sp>
      </p:grpSp>
      <p:sp>
        <p:nvSpPr>
          <p:cNvPr id="81" name="object 81" descr=""/>
          <p:cNvSpPr txBox="1"/>
          <p:nvPr/>
        </p:nvSpPr>
        <p:spPr>
          <a:xfrm>
            <a:off x="10111337" y="4749675"/>
            <a:ext cx="970280" cy="189865"/>
          </a:xfrm>
          <a:prstGeom prst="rect">
            <a:avLst/>
          </a:prstGeom>
        </p:spPr>
        <p:txBody>
          <a:bodyPr wrap="square" lIns="0" tIns="15875" rIns="0" bIns="0" rtlCol="0" vert="horz">
            <a:spAutoFit/>
          </a:bodyPr>
          <a:lstStyle/>
          <a:p>
            <a:pPr marL="12700">
              <a:lnSpc>
                <a:spcPct val="100000"/>
              </a:lnSpc>
              <a:spcBef>
                <a:spcPts val="125"/>
              </a:spcBef>
            </a:pPr>
            <a:r>
              <a:rPr dirty="0" sz="1050" spc="-330" b="1">
                <a:solidFill>
                  <a:srgbClr val="0000FF"/>
                </a:solidFill>
                <a:latin typeface="宋体"/>
                <a:cs typeface="宋体"/>
              </a:rPr>
              <a:t>公共数据总线</a:t>
            </a:r>
            <a:r>
              <a:rPr dirty="0" sz="1050" spc="-290" b="1">
                <a:solidFill>
                  <a:srgbClr val="0000FF"/>
                </a:solidFill>
                <a:latin typeface="宋体"/>
                <a:cs typeface="宋体"/>
              </a:rPr>
              <a:t>（</a:t>
            </a:r>
            <a:r>
              <a:rPr dirty="0" sz="1050" spc="-290" b="1">
                <a:solidFill>
                  <a:srgbClr val="0000FF"/>
                </a:solidFill>
                <a:latin typeface="Times New Roman"/>
                <a:cs typeface="Times New Roman"/>
              </a:rPr>
              <a:t>CDB</a:t>
            </a:r>
            <a:r>
              <a:rPr dirty="0" sz="1050" spc="-290" b="1">
                <a:solidFill>
                  <a:srgbClr val="0000FF"/>
                </a:solidFill>
                <a:latin typeface="宋体"/>
                <a:cs typeface="宋体"/>
              </a:rPr>
              <a:t>）</a:t>
            </a:r>
            <a:endParaRPr sz="1050">
              <a:latin typeface="宋体"/>
              <a:cs typeface="宋体"/>
            </a:endParaRPr>
          </a:p>
        </p:txBody>
      </p:sp>
      <p:grpSp>
        <p:nvGrpSpPr>
          <p:cNvPr id="82" name="object 82" descr=""/>
          <p:cNvGrpSpPr/>
          <p:nvPr/>
        </p:nvGrpSpPr>
        <p:grpSpPr>
          <a:xfrm>
            <a:off x="9418433" y="2220837"/>
            <a:ext cx="2391410" cy="2741295"/>
            <a:chOff x="9418433" y="2220837"/>
            <a:chExt cx="2391410" cy="2741295"/>
          </a:xfrm>
        </p:grpSpPr>
        <p:sp>
          <p:nvSpPr>
            <p:cNvPr id="83" name="object 83" descr=""/>
            <p:cNvSpPr/>
            <p:nvPr/>
          </p:nvSpPr>
          <p:spPr>
            <a:xfrm>
              <a:off x="11222710" y="4717819"/>
              <a:ext cx="41910" cy="243204"/>
            </a:xfrm>
            <a:custGeom>
              <a:avLst/>
              <a:gdLst/>
              <a:ahLst/>
              <a:cxnLst/>
              <a:rect l="l" t="t" r="r" b="b"/>
              <a:pathLst>
                <a:path w="41909" h="243204">
                  <a:moveTo>
                    <a:pt x="0" y="151941"/>
                  </a:moveTo>
                  <a:lnTo>
                    <a:pt x="20573" y="243034"/>
                  </a:lnTo>
                  <a:lnTo>
                    <a:pt x="32769" y="189835"/>
                  </a:lnTo>
                  <a:lnTo>
                    <a:pt x="17885" y="189835"/>
                  </a:lnTo>
                  <a:lnTo>
                    <a:pt x="15611" y="186557"/>
                  </a:lnTo>
                  <a:lnTo>
                    <a:pt x="15611" y="174890"/>
                  </a:lnTo>
                  <a:lnTo>
                    <a:pt x="0" y="151941"/>
                  </a:lnTo>
                  <a:close/>
                </a:path>
                <a:path w="41909" h="243204">
                  <a:moveTo>
                    <a:pt x="15611" y="174890"/>
                  </a:moveTo>
                  <a:lnTo>
                    <a:pt x="15611" y="186557"/>
                  </a:lnTo>
                  <a:lnTo>
                    <a:pt x="17885" y="189835"/>
                  </a:lnTo>
                  <a:lnTo>
                    <a:pt x="23571" y="189835"/>
                  </a:lnTo>
                  <a:lnTo>
                    <a:pt x="26053" y="186557"/>
                  </a:lnTo>
                  <a:lnTo>
                    <a:pt x="26053" y="182185"/>
                  </a:lnTo>
                  <a:lnTo>
                    <a:pt x="20573" y="182185"/>
                  </a:lnTo>
                  <a:lnTo>
                    <a:pt x="15611" y="174890"/>
                  </a:lnTo>
                  <a:close/>
                </a:path>
                <a:path w="41909" h="243204">
                  <a:moveTo>
                    <a:pt x="41457" y="151941"/>
                  </a:moveTo>
                  <a:lnTo>
                    <a:pt x="26053" y="174250"/>
                  </a:lnTo>
                  <a:lnTo>
                    <a:pt x="26053" y="186557"/>
                  </a:lnTo>
                  <a:lnTo>
                    <a:pt x="23571" y="189835"/>
                  </a:lnTo>
                  <a:lnTo>
                    <a:pt x="32769" y="189835"/>
                  </a:lnTo>
                  <a:lnTo>
                    <a:pt x="41457" y="151941"/>
                  </a:lnTo>
                  <a:close/>
                </a:path>
                <a:path w="41909" h="243204">
                  <a:moveTo>
                    <a:pt x="23571" y="0"/>
                  </a:moveTo>
                  <a:lnTo>
                    <a:pt x="17885" y="0"/>
                  </a:lnTo>
                  <a:lnTo>
                    <a:pt x="15611" y="3284"/>
                  </a:lnTo>
                  <a:lnTo>
                    <a:pt x="15611" y="174890"/>
                  </a:lnTo>
                  <a:lnTo>
                    <a:pt x="20573" y="182185"/>
                  </a:lnTo>
                  <a:lnTo>
                    <a:pt x="26053" y="174250"/>
                  </a:lnTo>
                  <a:lnTo>
                    <a:pt x="26053" y="3284"/>
                  </a:lnTo>
                  <a:lnTo>
                    <a:pt x="23571" y="0"/>
                  </a:lnTo>
                  <a:close/>
                </a:path>
                <a:path w="41909" h="243204">
                  <a:moveTo>
                    <a:pt x="26053" y="174250"/>
                  </a:moveTo>
                  <a:lnTo>
                    <a:pt x="20573" y="182185"/>
                  </a:lnTo>
                  <a:lnTo>
                    <a:pt x="26053" y="182185"/>
                  </a:lnTo>
                  <a:lnTo>
                    <a:pt x="26053" y="174250"/>
                  </a:lnTo>
                  <a:close/>
                </a:path>
              </a:pathLst>
            </a:custGeom>
            <a:solidFill>
              <a:srgbClr val="000000"/>
            </a:solidFill>
          </p:spPr>
          <p:txBody>
            <a:bodyPr wrap="square" lIns="0" tIns="0" rIns="0" bIns="0" rtlCol="0"/>
            <a:lstStyle/>
            <a:p/>
          </p:txBody>
        </p:sp>
        <p:sp>
          <p:nvSpPr>
            <p:cNvPr id="84" name="object 84" descr=""/>
            <p:cNvSpPr/>
            <p:nvPr/>
          </p:nvSpPr>
          <p:spPr>
            <a:xfrm>
              <a:off x="11222710" y="4717819"/>
              <a:ext cx="41910" cy="243204"/>
            </a:xfrm>
            <a:custGeom>
              <a:avLst/>
              <a:gdLst/>
              <a:ahLst/>
              <a:cxnLst/>
              <a:rect l="l" t="t" r="r" b="b"/>
              <a:pathLst>
                <a:path w="41909" h="243204">
                  <a:moveTo>
                    <a:pt x="26053" y="7282"/>
                  </a:moveTo>
                  <a:lnTo>
                    <a:pt x="26053" y="182185"/>
                  </a:lnTo>
                  <a:lnTo>
                    <a:pt x="26053" y="186557"/>
                  </a:lnTo>
                  <a:lnTo>
                    <a:pt x="23571" y="189835"/>
                  </a:lnTo>
                  <a:lnTo>
                    <a:pt x="20573" y="189835"/>
                  </a:lnTo>
                  <a:lnTo>
                    <a:pt x="17885" y="189835"/>
                  </a:lnTo>
                  <a:lnTo>
                    <a:pt x="15611" y="186557"/>
                  </a:lnTo>
                  <a:lnTo>
                    <a:pt x="15611" y="182185"/>
                  </a:lnTo>
                  <a:lnTo>
                    <a:pt x="15611" y="7282"/>
                  </a:lnTo>
                  <a:lnTo>
                    <a:pt x="15611" y="3284"/>
                  </a:lnTo>
                  <a:lnTo>
                    <a:pt x="17885" y="0"/>
                  </a:lnTo>
                  <a:lnTo>
                    <a:pt x="20573" y="0"/>
                  </a:lnTo>
                  <a:lnTo>
                    <a:pt x="23571" y="0"/>
                  </a:lnTo>
                  <a:lnTo>
                    <a:pt x="26053" y="3284"/>
                  </a:lnTo>
                  <a:lnTo>
                    <a:pt x="26053" y="7282"/>
                  </a:lnTo>
                  <a:close/>
                </a:path>
                <a:path w="41909" h="243204">
                  <a:moveTo>
                    <a:pt x="20573" y="182185"/>
                  </a:moveTo>
                  <a:lnTo>
                    <a:pt x="41457" y="151941"/>
                  </a:lnTo>
                  <a:lnTo>
                    <a:pt x="20573" y="243034"/>
                  </a:lnTo>
                  <a:lnTo>
                    <a:pt x="0" y="151941"/>
                  </a:lnTo>
                  <a:lnTo>
                    <a:pt x="20573" y="182185"/>
                  </a:lnTo>
                  <a:close/>
                </a:path>
              </a:pathLst>
            </a:custGeom>
            <a:ln w="3175">
              <a:solidFill>
                <a:srgbClr val="000000"/>
              </a:solidFill>
            </a:ln>
          </p:spPr>
          <p:txBody>
            <a:bodyPr wrap="square" lIns="0" tIns="0" rIns="0" bIns="0" rtlCol="0"/>
            <a:lstStyle/>
            <a:p/>
          </p:txBody>
        </p:sp>
        <p:sp>
          <p:nvSpPr>
            <p:cNvPr id="85" name="object 85" descr=""/>
            <p:cNvSpPr/>
            <p:nvPr/>
          </p:nvSpPr>
          <p:spPr>
            <a:xfrm>
              <a:off x="9679895" y="4058299"/>
              <a:ext cx="41910" cy="337820"/>
            </a:xfrm>
            <a:custGeom>
              <a:avLst/>
              <a:gdLst/>
              <a:ahLst/>
              <a:cxnLst/>
              <a:rect l="l" t="t" r="r" b="b"/>
              <a:pathLst>
                <a:path w="41909" h="337820">
                  <a:moveTo>
                    <a:pt x="0" y="245955"/>
                  </a:moveTo>
                  <a:lnTo>
                    <a:pt x="20573" y="337407"/>
                  </a:lnTo>
                  <a:lnTo>
                    <a:pt x="32721" y="284208"/>
                  </a:lnTo>
                  <a:lnTo>
                    <a:pt x="17885" y="284208"/>
                  </a:lnTo>
                  <a:lnTo>
                    <a:pt x="15611" y="280575"/>
                  </a:lnTo>
                  <a:lnTo>
                    <a:pt x="15611" y="269179"/>
                  </a:lnTo>
                  <a:lnTo>
                    <a:pt x="0" y="245955"/>
                  </a:lnTo>
                  <a:close/>
                </a:path>
                <a:path w="41909" h="337820">
                  <a:moveTo>
                    <a:pt x="15611" y="269179"/>
                  </a:moveTo>
                  <a:lnTo>
                    <a:pt x="15611" y="280575"/>
                  </a:lnTo>
                  <a:lnTo>
                    <a:pt x="17885" y="284208"/>
                  </a:lnTo>
                  <a:lnTo>
                    <a:pt x="23571" y="284208"/>
                  </a:lnTo>
                  <a:lnTo>
                    <a:pt x="25846" y="280575"/>
                  </a:lnTo>
                  <a:lnTo>
                    <a:pt x="25846" y="276561"/>
                  </a:lnTo>
                  <a:lnTo>
                    <a:pt x="20573" y="276561"/>
                  </a:lnTo>
                  <a:lnTo>
                    <a:pt x="15611" y="269179"/>
                  </a:lnTo>
                  <a:close/>
                </a:path>
                <a:path w="41909" h="337820">
                  <a:moveTo>
                    <a:pt x="41457" y="245955"/>
                  </a:moveTo>
                  <a:lnTo>
                    <a:pt x="25846" y="268834"/>
                  </a:lnTo>
                  <a:lnTo>
                    <a:pt x="25846" y="280575"/>
                  </a:lnTo>
                  <a:lnTo>
                    <a:pt x="23571" y="284208"/>
                  </a:lnTo>
                  <a:lnTo>
                    <a:pt x="32721" y="284208"/>
                  </a:lnTo>
                  <a:lnTo>
                    <a:pt x="41457" y="245955"/>
                  </a:lnTo>
                  <a:close/>
                </a:path>
                <a:path w="41909" h="337820">
                  <a:moveTo>
                    <a:pt x="23571" y="0"/>
                  </a:moveTo>
                  <a:lnTo>
                    <a:pt x="17885" y="0"/>
                  </a:lnTo>
                  <a:lnTo>
                    <a:pt x="15611" y="3284"/>
                  </a:lnTo>
                  <a:lnTo>
                    <a:pt x="15611" y="269179"/>
                  </a:lnTo>
                  <a:lnTo>
                    <a:pt x="20573" y="276561"/>
                  </a:lnTo>
                  <a:lnTo>
                    <a:pt x="25846" y="268834"/>
                  </a:lnTo>
                  <a:lnTo>
                    <a:pt x="25846" y="3284"/>
                  </a:lnTo>
                  <a:lnTo>
                    <a:pt x="23571" y="0"/>
                  </a:lnTo>
                  <a:close/>
                </a:path>
                <a:path w="41909" h="337820">
                  <a:moveTo>
                    <a:pt x="25846" y="268834"/>
                  </a:moveTo>
                  <a:lnTo>
                    <a:pt x="20573" y="276561"/>
                  </a:lnTo>
                  <a:lnTo>
                    <a:pt x="25846" y="276561"/>
                  </a:lnTo>
                  <a:lnTo>
                    <a:pt x="25846" y="268834"/>
                  </a:lnTo>
                  <a:close/>
                </a:path>
              </a:pathLst>
            </a:custGeom>
            <a:solidFill>
              <a:srgbClr val="000000"/>
            </a:solidFill>
          </p:spPr>
          <p:txBody>
            <a:bodyPr wrap="square" lIns="0" tIns="0" rIns="0" bIns="0" rtlCol="0"/>
            <a:lstStyle/>
            <a:p/>
          </p:txBody>
        </p:sp>
        <p:sp>
          <p:nvSpPr>
            <p:cNvPr id="86" name="object 86" descr=""/>
            <p:cNvSpPr/>
            <p:nvPr/>
          </p:nvSpPr>
          <p:spPr>
            <a:xfrm>
              <a:off x="9679895" y="4058299"/>
              <a:ext cx="41910" cy="337820"/>
            </a:xfrm>
            <a:custGeom>
              <a:avLst/>
              <a:gdLst/>
              <a:ahLst/>
              <a:cxnLst/>
              <a:rect l="l" t="t" r="r" b="b"/>
              <a:pathLst>
                <a:path w="41909" h="337820">
                  <a:moveTo>
                    <a:pt x="25846" y="7647"/>
                  </a:moveTo>
                  <a:lnTo>
                    <a:pt x="25846" y="276561"/>
                  </a:lnTo>
                  <a:lnTo>
                    <a:pt x="25846" y="280575"/>
                  </a:lnTo>
                  <a:lnTo>
                    <a:pt x="23571" y="284208"/>
                  </a:lnTo>
                  <a:lnTo>
                    <a:pt x="15611" y="7647"/>
                  </a:lnTo>
                  <a:lnTo>
                    <a:pt x="15611" y="3284"/>
                  </a:lnTo>
                  <a:lnTo>
                    <a:pt x="17885" y="0"/>
                  </a:lnTo>
                  <a:lnTo>
                    <a:pt x="20573" y="0"/>
                  </a:lnTo>
                  <a:lnTo>
                    <a:pt x="23571" y="0"/>
                  </a:lnTo>
                  <a:lnTo>
                    <a:pt x="25846" y="3284"/>
                  </a:lnTo>
                  <a:lnTo>
                    <a:pt x="25846" y="7647"/>
                  </a:lnTo>
                  <a:close/>
                </a:path>
                <a:path w="41909" h="337820">
                  <a:moveTo>
                    <a:pt x="20573" y="276561"/>
                  </a:moveTo>
                  <a:lnTo>
                    <a:pt x="41457" y="245955"/>
                  </a:lnTo>
                  <a:lnTo>
                    <a:pt x="20573" y="337407"/>
                  </a:lnTo>
                  <a:lnTo>
                    <a:pt x="0" y="245955"/>
                  </a:lnTo>
                  <a:lnTo>
                    <a:pt x="20573" y="276561"/>
                  </a:lnTo>
                  <a:close/>
                </a:path>
              </a:pathLst>
            </a:custGeom>
            <a:ln w="3175">
              <a:solidFill>
                <a:srgbClr val="000000"/>
              </a:solidFill>
            </a:ln>
          </p:spPr>
          <p:txBody>
            <a:bodyPr wrap="square" lIns="0" tIns="0" rIns="0" bIns="0" rtlCol="0"/>
            <a:lstStyle/>
            <a:p/>
          </p:txBody>
        </p:sp>
        <p:sp>
          <p:nvSpPr>
            <p:cNvPr id="87" name="object 87" descr=""/>
            <p:cNvSpPr/>
            <p:nvPr/>
          </p:nvSpPr>
          <p:spPr>
            <a:xfrm>
              <a:off x="10071104" y="4058299"/>
              <a:ext cx="41275" cy="337820"/>
            </a:xfrm>
            <a:custGeom>
              <a:avLst/>
              <a:gdLst/>
              <a:ahLst/>
              <a:cxnLst/>
              <a:rect l="l" t="t" r="r" b="b"/>
              <a:pathLst>
                <a:path w="41275" h="337820">
                  <a:moveTo>
                    <a:pt x="0" y="245955"/>
                  </a:moveTo>
                  <a:lnTo>
                    <a:pt x="20573" y="337407"/>
                  </a:lnTo>
                  <a:lnTo>
                    <a:pt x="32601" y="284208"/>
                  </a:lnTo>
                  <a:lnTo>
                    <a:pt x="17885" y="284208"/>
                  </a:lnTo>
                  <a:lnTo>
                    <a:pt x="15404" y="280575"/>
                  </a:lnTo>
                  <a:lnTo>
                    <a:pt x="15404" y="268871"/>
                  </a:lnTo>
                  <a:lnTo>
                    <a:pt x="0" y="245955"/>
                  </a:lnTo>
                  <a:close/>
                </a:path>
                <a:path w="41275" h="337820">
                  <a:moveTo>
                    <a:pt x="15404" y="268871"/>
                  </a:moveTo>
                  <a:lnTo>
                    <a:pt x="15404" y="280575"/>
                  </a:lnTo>
                  <a:lnTo>
                    <a:pt x="17885" y="284208"/>
                  </a:lnTo>
                  <a:lnTo>
                    <a:pt x="23571" y="284208"/>
                  </a:lnTo>
                  <a:lnTo>
                    <a:pt x="25846" y="280575"/>
                  </a:lnTo>
                  <a:lnTo>
                    <a:pt x="25846" y="276561"/>
                  </a:lnTo>
                  <a:lnTo>
                    <a:pt x="20573" y="276561"/>
                  </a:lnTo>
                  <a:lnTo>
                    <a:pt x="15404" y="268871"/>
                  </a:lnTo>
                  <a:close/>
                </a:path>
                <a:path w="41275" h="337820">
                  <a:moveTo>
                    <a:pt x="41250" y="245955"/>
                  </a:moveTo>
                  <a:lnTo>
                    <a:pt x="25846" y="268871"/>
                  </a:lnTo>
                  <a:lnTo>
                    <a:pt x="25846" y="280575"/>
                  </a:lnTo>
                  <a:lnTo>
                    <a:pt x="23571" y="284208"/>
                  </a:lnTo>
                  <a:lnTo>
                    <a:pt x="32601" y="284208"/>
                  </a:lnTo>
                  <a:lnTo>
                    <a:pt x="41250" y="245955"/>
                  </a:lnTo>
                  <a:close/>
                </a:path>
                <a:path w="41275" h="337820">
                  <a:moveTo>
                    <a:pt x="23571" y="0"/>
                  </a:moveTo>
                  <a:lnTo>
                    <a:pt x="17885" y="0"/>
                  </a:lnTo>
                  <a:lnTo>
                    <a:pt x="15404" y="3284"/>
                  </a:lnTo>
                  <a:lnTo>
                    <a:pt x="15404" y="268871"/>
                  </a:lnTo>
                  <a:lnTo>
                    <a:pt x="20573" y="276561"/>
                  </a:lnTo>
                  <a:lnTo>
                    <a:pt x="25768" y="268871"/>
                  </a:lnTo>
                  <a:lnTo>
                    <a:pt x="25846" y="3284"/>
                  </a:lnTo>
                  <a:lnTo>
                    <a:pt x="23571" y="0"/>
                  </a:lnTo>
                  <a:close/>
                </a:path>
                <a:path w="41275" h="337820">
                  <a:moveTo>
                    <a:pt x="25846" y="268871"/>
                  </a:moveTo>
                  <a:lnTo>
                    <a:pt x="20573" y="276561"/>
                  </a:lnTo>
                  <a:lnTo>
                    <a:pt x="25846" y="276561"/>
                  </a:lnTo>
                  <a:lnTo>
                    <a:pt x="25846" y="268871"/>
                  </a:lnTo>
                  <a:close/>
                </a:path>
              </a:pathLst>
            </a:custGeom>
            <a:solidFill>
              <a:srgbClr val="000000"/>
            </a:solidFill>
          </p:spPr>
          <p:txBody>
            <a:bodyPr wrap="square" lIns="0" tIns="0" rIns="0" bIns="0" rtlCol="0"/>
            <a:lstStyle/>
            <a:p/>
          </p:txBody>
        </p:sp>
        <p:sp>
          <p:nvSpPr>
            <p:cNvPr id="88" name="object 88" descr=""/>
            <p:cNvSpPr/>
            <p:nvPr/>
          </p:nvSpPr>
          <p:spPr>
            <a:xfrm>
              <a:off x="10071104" y="4058299"/>
              <a:ext cx="41275" cy="337820"/>
            </a:xfrm>
            <a:custGeom>
              <a:avLst/>
              <a:gdLst/>
              <a:ahLst/>
              <a:cxnLst/>
              <a:rect l="l" t="t" r="r" b="b"/>
              <a:pathLst>
                <a:path w="41275" h="337820">
                  <a:moveTo>
                    <a:pt x="25846" y="7647"/>
                  </a:moveTo>
                  <a:lnTo>
                    <a:pt x="25846" y="276561"/>
                  </a:lnTo>
                  <a:lnTo>
                    <a:pt x="25846" y="280575"/>
                  </a:lnTo>
                  <a:lnTo>
                    <a:pt x="23571" y="284208"/>
                  </a:lnTo>
                  <a:lnTo>
                    <a:pt x="20573" y="284208"/>
                  </a:lnTo>
                  <a:lnTo>
                    <a:pt x="17885" y="284208"/>
                  </a:lnTo>
                  <a:lnTo>
                    <a:pt x="15404" y="280575"/>
                  </a:lnTo>
                  <a:lnTo>
                    <a:pt x="15404" y="276561"/>
                  </a:lnTo>
                  <a:lnTo>
                    <a:pt x="15404" y="7647"/>
                  </a:lnTo>
                  <a:lnTo>
                    <a:pt x="15404" y="3284"/>
                  </a:lnTo>
                  <a:lnTo>
                    <a:pt x="17885" y="0"/>
                  </a:lnTo>
                  <a:lnTo>
                    <a:pt x="20573" y="0"/>
                  </a:lnTo>
                  <a:lnTo>
                    <a:pt x="23571" y="0"/>
                  </a:lnTo>
                  <a:lnTo>
                    <a:pt x="25846" y="3284"/>
                  </a:lnTo>
                  <a:lnTo>
                    <a:pt x="25846" y="7647"/>
                  </a:lnTo>
                  <a:close/>
                </a:path>
                <a:path w="41275" h="337820">
                  <a:moveTo>
                    <a:pt x="20573" y="276561"/>
                  </a:moveTo>
                  <a:lnTo>
                    <a:pt x="41250" y="245955"/>
                  </a:lnTo>
                  <a:lnTo>
                    <a:pt x="20573" y="337407"/>
                  </a:lnTo>
                  <a:lnTo>
                    <a:pt x="0" y="245955"/>
                  </a:lnTo>
                  <a:lnTo>
                    <a:pt x="20573" y="276561"/>
                  </a:lnTo>
                  <a:close/>
                </a:path>
              </a:pathLst>
            </a:custGeom>
            <a:ln w="3175">
              <a:solidFill>
                <a:srgbClr val="000000"/>
              </a:solidFill>
            </a:ln>
          </p:spPr>
          <p:txBody>
            <a:bodyPr wrap="square" lIns="0" tIns="0" rIns="0" bIns="0" rtlCol="0"/>
            <a:lstStyle/>
            <a:p/>
          </p:txBody>
        </p:sp>
        <p:sp>
          <p:nvSpPr>
            <p:cNvPr id="89" name="object 89" descr=""/>
            <p:cNvSpPr/>
            <p:nvPr/>
          </p:nvSpPr>
          <p:spPr>
            <a:xfrm>
              <a:off x="11440129" y="4011288"/>
              <a:ext cx="41275" cy="384810"/>
            </a:xfrm>
            <a:custGeom>
              <a:avLst/>
              <a:gdLst/>
              <a:ahLst/>
              <a:cxnLst/>
              <a:rect l="l" t="t" r="r" b="b"/>
              <a:pathLst>
                <a:path w="41275" h="384810">
                  <a:moveTo>
                    <a:pt x="0" y="293331"/>
                  </a:moveTo>
                  <a:lnTo>
                    <a:pt x="20677" y="384418"/>
                  </a:lnTo>
                  <a:lnTo>
                    <a:pt x="32692" y="331219"/>
                  </a:lnTo>
                  <a:lnTo>
                    <a:pt x="17678" y="331219"/>
                  </a:lnTo>
                  <a:lnTo>
                    <a:pt x="15404" y="327950"/>
                  </a:lnTo>
                  <a:lnTo>
                    <a:pt x="15404" y="315973"/>
                  </a:lnTo>
                  <a:lnTo>
                    <a:pt x="0" y="293331"/>
                  </a:lnTo>
                  <a:close/>
                </a:path>
                <a:path w="41275" h="384810">
                  <a:moveTo>
                    <a:pt x="15481" y="315973"/>
                  </a:moveTo>
                  <a:lnTo>
                    <a:pt x="15404" y="327950"/>
                  </a:lnTo>
                  <a:lnTo>
                    <a:pt x="17678" y="331219"/>
                  </a:lnTo>
                  <a:lnTo>
                    <a:pt x="23571" y="331219"/>
                  </a:lnTo>
                  <a:lnTo>
                    <a:pt x="25846" y="327950"/>
                  </a:lnTo>
                  <a:lnTo>
                    <a:pt x="25846" y="323572"/>
                  </a:lnTo>
                  <a:lnTo>
                    <a:pt x="20677" y="323572"/>
                  </a:lnTo>
                  <a:lnTo>
                    <a:pt x="15481" y="315973"/>
                  </a:lnTo>
                  <a:close/>
                </a:path>
                <a:path w="41275" h="384810">
                  <a:moveTo>
                    <a:pt x="41250" y="293331"/>
                  </a:moveTo>
                  <a:lnTo>
                    <a:pt x="25846" y="315973"/>
                  </a:lnTo>
                  <a:lnTo>
                    <a:pt x="25846" y="327950"/>
                  </a:lnTo>
                  <a:lnTo>
                    <a:pt x="23571" y="331219"/>
                  </a:lnTo>
                  <a:lnTo>
                    <a:pt x="32692" y="331219"/>
                  </a:lnTo>
                  <a:lnTo>
                    <a:pt x="41250" y="293331"/>
                  </a:lnTo>
                  <a:close/>
                </a:path>
                <a:path w="41275" h="384810">
                  <a:moveTo>
                    <a:pt x="23571" y="0"/>
                  </a:moveTo>
                  <a:lnTo>
                    <a:pt x="17678" y="0"/>
                  </a:lnTo>
                  <a:lnTo>
                    <a:pt x="15404" y="3284"/>
                  </a:lnTo>
                  <a:lnTo>
                    <a:pt x="15481" y="315973"/>
                  </a:lnTo>
                  <a:lnTo>
                    <a:pt x="20677" y="323572"/>
                  </a:lnTo>
                  <a:lnTo>
                    <a:pt x="25846" y="315973"/>
                  </a:lnTo>
                  <a:lnTo>
                    <a:pt x="25846" y="3284"/>
                  </a:lnTo>
                  <a:lnTo>
                    <a:pt x="23571" y="0"/>
                  </a:lnTo>
                  <a:close/>
                </a:path>
                <a:path w="41275" h="384810">
                  <a:moveTo>
                    <a:pt x="25846" y="315973"/>
                  </a:moveTo>
                  <a:lnTo>
                    <a:pt x="20677" y="323572"/>
                  </a:lnTo>
                  <a:lnTo>
                    <a:pt x="25846" y="323572"/>
                  </a:lnTo>
                  <a:lnTo>
                    <a:pt x="25846" y="315973"/>
                  </a:lnTo>
                  <a:close/>
                </a:path>
              </a:pathLst>
            </a:custGeom>
            <a:solidFill>
              <a:srgbClr val="000000"/>
            </a:solidFill>
          </p:spPr>
          <p:txBody>
            <a:bodyPr wrap="square" lIns="0" tIns="0" rIns="0" bIns="0" rtlCol="0"/>
            <a:lstStyle/>
            <a:p/>
          </p:txBody>
        </p:sp>
        <p:sp>
          <p:nvSpPr>
            <p:cNvPr id="90" name="object 90" descr=""/>
            <p:cNvSpPr/>
            <p:nvPr/>
          </p:nvSpPr>
          <p:spPr>
            <a:xfrm>
              <a:off x="11440129" y="4011288"/>
              <a:ext cx="41275" cy="384810"/>
            </a:xfrm>
            <a:custGeom>
              <a:avLst/>
              <a:gdLst/>
              <a:ahLst/>
              <a:cxnLst/>
              <a:rect l="l" t="t" r="r" b="b"/>
              <a:pathLst>
                <a:path w="41275" h="384810">
                  <a:moveTo>
                    <a:pt x="25846" y="7297"/>
                  </a:moveTo>
                  <a:lnTo>
                    <a:pt x="25846" y="323572"/>
                  </a:lnTo>
                  <a:lnTo>
                    <a:pt x="25846" y="327950"/>
                  </a:lnTo>
                  <a:lnTo>
                    <a:pt x="23571" y="331219"/>
                  </a:lnTo>
                  <a:lnTo>
                    <a:pt x="15404" y="7297"/>
                  </a:lnTo>
                  <a:lnTo>
                    <a:pt x="15404" y="3284"/>
                  </a:lnTo>
                  <a:lnTo>
                    <a:pt x="17678" y="0"/>
                  </a:lnTo>
                  <a:lnTo>
                    <a:pt x="20676" y="0"/>
                  </a:lnTo>
                  <a:lnTo>
                    <a:pt x="23571" y="0"/>
                  </a:lnTo>
                  <a:lnTo>
                    <a:pt x="25846" y="3284"/>
                  </a:lnTo>
                  <a:lnTo>
                    <a:pt x="25846" y="7297"/>
                  </a:lnTo>
                  <a:close/>
                </a:path>
                <a:path w="41275" h="384810">
                  <a:moveTo>
                    <a:pt x="20677" y="323572"/>
                  </a:moveTo>
                  <a:lnTo>
                    <a:pt x="41250" y="293331"/>
                  </a:lnTo>
                  <a:lnTo>
                    <a:pt x="20677" y="384418"/>
                  </a:lnTo>
                  <a:lnTo>
                    <a:pt x="0" y="293331"/>
                  </a:lnTo>
                  <a:lnTo>
                    <a:pt x="20677" y="323572"/>
                  </a:lnTo>
                  <a:close/>
                </a:path>
              </a:pathLst>
            </a:custGeom>
            <a:ln w="3175">
              <a:solidFill>
                <a:srgbClr val="000000"/>
              </a:solidFill>
            </a:ln>
          </p:spPr>
          <p:txBody>
            <a:bodyPr wrap="square" lIns="0" tIns="0" rIns="0" bIns="0" rtlCol="0"/>
            <a:lstStyle/>
            <a:p/>
          </p:txBody>
        </p:sp>
        <p:sp>
          <p:nvSpPr>
            <p:cNvPr id="91" name="object 91" descr=""/>
            <p:cNvSpPr/>
            <p:nvPr/>
          </p:nvSpPr>
          <p:spPr>
            <a:xfrm>
              <a:off x="9700468" y="3406867"/>
              <a:ext cx="2108200" cy="0"/>
            </a:xfrm>
            <a:custGeom>
              <a:avLst/>
              <a:gdLst/>
              <a:ahLst/>
              <a:cxnLst/>
              <a:rect l="l" t="t" r="r" b="b"/>
              <a:pathLst>
                <a:path w="2108200" h="0">
                  <a:moveTo>
                    <a:pt x="0" y="0"/>
                  </a:moveTo>
                  <a:lnTo>
                    <a:pt x="2107814" y="0"/>
                  </a:lnTo>
                </a:path>
              </a:pathLst>
            </a:custGeom>
            <a:ln w="11316">
              <a:solidFill>
                <a:srgbClr val="0000FF"/>
              </a:solidFill>
            </a:ln>
          </p:spPr>
          <p:txBody>
            <a:bodyPr wrap="square" lIns="0" tIns="0" rIns="0" bIns="0" rtlCol="0"/>
            <a:lstStyle/>
            <a:p/>
          </p:txBody>
        </p:sp>
        <p:sp>
          <p:nvSpPr>
            <p:cNvPr id="92" name="object 92" descr=""/>
            <p:cNvSpPr/>
            <p:nvPr/>
          </p:nvSpPr>
          <p:spPr>
            <a:xfrm>
              <a:off x="9679895" y="2975072"/>
              <a:ext cx="41910" cy="619760"/>
            </a:xfrm>
            <a:custGeom>
              <a:avLst/>
              <a:gdLst/>
              <a:ahLst/>
              <a:cxnLst/>
              <a:rect l="l" t="t" r="r" b="b"/>
              <a:pathLst>
                <a:path w="41909" h="619760">
                  <a:moveTo>
                    <a:pt x="0" y="528644"/>
                  </a:moveTo>
                  <a:lnTo>
                    <a:pt x="20573" y="619746"/>
                  </a:lnTo>
                  <a:lnTo>
                    <a:pt x="32768" y="566547"/>
                  </a:lnTo>
                  <a:lnTo>
                    <a:pt x="17885" y="566547"/>
                  </a:lnTo>
                  <a:lnTo>
                    <a:pt x="15611" y="563263"/>
                  </a:lnTo>
                  <a:lnTo>
                    <a:pt x="15611" y="551590"/>
                  </a:lnTo>
                  <a:lnTo>
                    <a:pt x="0" y="528644"/>
                  </a:lnTo>
                  <a:close/>
                </a:path>
                <a:path w="41909" h="619760">
                  <a:moveTo>
                    <a:pt x="15611" y="551590"/>
                  </a:moveTo>
                  <a:lnTo>
                    <a:pt x="15611" y="563263"/>
                  </a:lnTo>
                  <a:lnTo>
                    <a:pt x="17885" y="566547"/>
                  </a:lnTo>
                  <a:lnTo>
                    <a:pt x="23571" y="566547"/>
                  </a:lnTo>
                  <a:lnTo>
                    <a:pt x="25846" y="563263"/>
                  </a:lnTo>
                  <a:lnTo>
                    <a:pt x="25846" y="558884"/>
                  </a:lnTo>
                  <a:lnTo>
                    <a:pt x="20573" y="558884"/>
                  </a:lnTo>
                  <a:lnTo>
                    <a:pt x="15611" y="551590"/>
                  </a:lnTo>
                  <a:close/>
                </a:path>
                <a:path w="41909" h="619760">
                  <a:moveTo>
                    <a:pt x="41457" y="528644"/>
                  </a:moveTo>
                  <a:lnTo>
                    <a:pt x="25846" y="551249"/>
                  </a:lnTo>
                  <a:lnTo>
                    <a:pt x="25846" y="563263"/>
                  </a:lnTo>
                  <a:lnTo>
                    <a:pt x="23571" y="566547"/>
                  </a:lnTo>
                  <a:lnTo>
                    <a:pt x="32768" y="566547"/>
                  </a:lnTo>
                  <a:lnTo>
                    <a:pt x="41457" y="528644"/>
                  </a:lnTo>
                  <a:close/>
                </a:path>
                <a:path w="41909" h="619760">
                  <a:moveTo>
                    <a:pt x="23571" y="0"/>
                  </a:moveTo>
                  <a:lnTo>
                    <a:pt x="17885" y="0"/>
                  </a:lnTo>
                  <a:lnTo>
                    <a:pt x="15611" y="3192"/>
                  </a:lnTo>
                  <a:lnTo>
                    <a:pt x="15611" y="551590"/>
                  </a:lnTo>
                  <a:lnTo>
                    <a:pt x="20573" y="558884"/>
                  </a:lnTo>
                  <a:lnTo>
                    <a:pt x="25846" y="551249"/>
                  </a:lnTo>
                  <a:lnTo>
                    <a:pt x="25846" y="3192"/>
                  </a:lnTo>
                  <a:lnTo>
                    <a:pt x="23571" y="0"/>
                  </a:lnTo>
                  <a:close/>
                </a:path>
                <a:path w="41909" h="619760">
                  <a:moveTo>
                    <a:pt x="25846" y="551249"/>
                  </a:moveTo>
                  <a:lnTo>
                    <a:pt x="20573" y="558884"/>
                  </a:lnTo>
                  <a:lnTo>
                    <a:pt x="25846" y="558884"/>
                  </a:lnTo>
                  <a:lnTo>
                    <a:pt x="25846" y="551249"/>
                  </a:lnTo>
                  <a:close/>
                </a:path>
              </a:pathLst>
            </a:custGeom>
            <a:solidFill>
              <a:srgbClr val="000000"/>
            </a:solidFill>
          </p:spPr>
          <p:txBody>
            <a:bodyPr wrap="square" lIns="0" tIns="0" rIns="0" bIns="0" rtlCol="0"/>
            <a:lstStyle/>
            <a:p/>
          </p:txBody>
        </p:sp>
        <p:sp>
          <p:nvSpPr>
            <p:cNvPr id="93" name="object 93" descr=""/>
            <p:cNvSpPr/>
            <p:nvPr/>
          </p:nvSpPr>
          <p:spPr>
            <a:xfrm>
              <a:off x="9679895" y="2975072"/>
              <a:ext cx="41910" cy="619760"/>
            </a:xfrm>
            <a:custGeom>
              <a:avLst/>
              <a:gdLst/>
              <a:ahLst/>
              <a:cxnLst/>
              <a:rect l="l" t="t" r="r" b="b"/>
              <a:pathLst>
                <a:path w="41909" h="619760">
                  <a:moveTo>
                    <a:pt x="25846" y="7602"/>
                  </a:moveTo>
                  <a:lnTo>
                    <a:pt x="25846" y="558884"/>
                  </a:lnTo>
                  <a:lnTo>
                    <a:pt x="25846" y="563263"/>
                  </a:lnTo>
                  <a:lnTo>
                    <a:pt x="23571" y="566547"/>
                  </a:lnTo>
                  <a:lnTo>
                    <a:pt x="20573" y="566547"/>
                  </a:lnTo>
                  <a:lnTo>
                    <a:pt x="17885" y="566547"/>
                  </a:lnTo>
                  <a:lnTo>
                    <a:pt x="15611" y="563263"/>
                  </a:lnTo>
                  <a:lnTo>
                    <a:pt x="15611" y="558884"/>
                  </a:lnTo>
                  <a:lnTo>
                    <a:pt x="15611" y="7602"/>
                  </a:lnTo>
                  <a:lnTo>
                    <a:pt x="15611" y="3192"/>
                  </a:lnTo>
                  <a:lnTo>
                    <a:pt x="17885" y="0"/>
                  </a:lnTo>
                  <a:lnTo>
                    <a:pt x="20573" y="0"/>
                  </a:lnTo>
                  <a:lnTo>
                    <a:pt x="23571" y="0"/>
                  </a:lnTo>
                  <a:lnTo>
                    <a:pt x="25846" y="3192"/>
                  </a:lnTo>
                  <a:lnTo>
                    <a:pt x="25846" y="7602"/>
                  </a:lnTo>
                  <a:close/>
                </a:path>
                <a:path w="41909" h="619760">
                  <a:moveTo>
                    <a:pt x="20573" y="558884"/>
                  </a:moveTo>
                  <a:lnTo>
                    <a:pt x="41457" y="528644"/>
                  </a:lnTo>
                  <a:lnTo>
                    <a:pt x="20573" y="619746"/>
                  </a:lnTo>
                  <a:lnTo>
                    <a:pt x="0" y="528644"/>
                  </a:lnTo>
                  <a:lnTo>
                    <a:pt x="20573" y="558884"/>
                  </a:lnTo>
                  <a:close/>
                </a:path>
              </a:pathLst>
            </a:custGeom>
            <a:ln w="3175">
              <a:solidFill>
                <a:srgbClr val="000000"/>
              </a:solidFill>
            </a:ln>
          </p:spPr>
          <p:txBody>
            <a:bodyPr wrap="square" lIns="0" tIns="0" rIns="0" bIns="0" rtlCol="0"/>
            <a:lstStyle/>
            <a:p/>
          </p:txBody>
        </p:sp>
        <p:sp>
          <p:nvSpPr>
            <p:cNvPr id="94" name="object 94" descr=""/>
            <p:cNvSpPr/>
            <p:nvPr/>
          </p:nvSpPr>
          <p:spPr>
            <a:xfrm>
              <a:off x="10049290" y="2833675"/>
              <a:ext cx="41910" cy="761365"/>
            </a:xfrm>
            <a:custGeom>
              <a:avLst/>
              <a:gdLst/>
              <a:ahLst/>
              <a:cxnLst/>
              <a:rect l="l" t="t" r="r" b="b"/>
              <a:pathLst>
                <a:path w="41909" h="761364">
                  <a:moveTo>
                    <a:pt x="0" y="670041"/>
                  </a:moveTo>
                  <a:lnTo>
                    <a:pt x="20573" y="761144"/>
                  </a:lnTo>
                  <a:lnTo>
                    <a:pt x="32768" y="707945"/>
                  </a:lnTo>
                  <a:lnTo>
                    <a:pt x="17885" y="707945"/>
                  </a:lnTo>
                  <a:lnTo>
                    <a:pt x="15611" y="704661"/>
                  </a:lnTo>
                  <a:lnTo>
                    <a:pt x="15611" y="692988"/>
                  </a:lnTo>
                  <a:lnTo>
                    <a:pt x="0" y="670041"/>
                  </a:lnTo>
                  <a:close/>
                </a:path>
                <a:path w="41909" h="761364">
                  <a:moveTo>
                    <a:pt x="15611" y="692988"/>
                  </a:moveTo>
                  <a:lnTo>
                    <a:pt x="15611" y="704661"/>
                  </a:lnTo>
                  <a:lnTo>
                    <a:pt x="17885" y="707945"/>
                  </a:lnTo>
                  <a:lnTo>
                    <a:pt x="23571" y="707945"/>
                  </a:lnTo>
                  <a:lnTo>
                    <a:pt x="25846" y="704661"/>
                  </a:lnTo>
                  <a:lnTo>
                    <a:pt x="25846" y="700282"/>
                  </a:lnTo>
                  <a:lnTo>
                    <a:pt x="20573" y="700282"/>
                  </a:lnTo>
                  <a:lnTo>
                    <a:pt x="15611" y="692988"/>
                  </a:lnTo>
                  <a:close/>
                </a:path>
                <a:path w="41909" h="761364">
                  <a:moveTo>
                    <a:pt x="41457" y="670041"/>
                  </a:moveTo>
                  <a:lnTo>
                    <a:pt x="25846" y="692647"/>
                  </a:lnTo>
                  <a:lnTo>
                    <a:pt x="25846" y="704661"/>
                  </a:lnTo>
                  <a:lnTo>
                    <a:pt x="23571" y="707945"/>
                  </a:lnTo>
                  <a:lnTo>
                    <a:pt x="32768" y="707945"/>
                  </a:lnTo>
                  <a:lnTo>
                    <a:pt x="41457" y="670041"/>
                  </a:lnTo>
                  <a:close/>
                </a:path>
                <a:path w="41909" h="761364">
                  <a:moveTo>
                    <a:pt x="23571" y="0"/>
                  </a:moveTo>
                  <a:lnTo>
                    <a:pt x="17885" y="0"/>
                  </a:lnTo>
                  <a:lnTo>
                    <a:pt x="15611" y="3648"/>
                  </a:lnTo>
                  <a:lnTo>
                    <a:pt x="15611" y="692988"/>
                  </a:lnTo>
                  <a:lnTo>
                    <a:pt x="20573" y="700282"/>
                  </a:lnTo>
                  <a:lnTo>
                    <a:pt x="25846" y="692647"/>
                  </a:lnTo>
                  <a:lnTo>
                    <a:pt x="25846" y="3648"/>
                  </a:lnTo>
                  <a:lnTo>
                    <a:pt x="23571" y="0"/>
                  </a:lnTo>
                  <a:close/>
                </a:path>
                <a:path w="41909" h="761364">
                  <a:moveTo>
                    <a:pt x="25846" y="692647"/>
                  </a:moveTo>
                  <a:lnTo>
                    <a:pt x="20573" y="700282"/>
                  </a:lnTo>
                  <a:lnTo>
                    <a:pt x="25846" y="700282"/>
                  </a:lnTo>
                  <a:lnTo>
                    <a:pt x="25846" y="692647"/>
                  </a:lnTo>
                  <a:close/>
                </a:path>
              </a:pathLst>
            </a:custGeom>
            <a:solidFill>
              <a:srgbClr val="000000"/>
            </a:solidFill>
          </p:spPr>
          <p:txBody>
            <a:bodyPr wrap="square" lIns="0" tIns="0" rIns="0" bIns="0" rtlCol="0"/>
            <a:lstStyle/>
            <a:p/>
          </p:txBody>
        </p:sp>
        <p:sp>
          <p:nvSpPr>
            <p:cNvPr id="95" name="object 95" descr=""/>
            <p:cNvSpPr/>
            <p:nvPr/>
          </p:nvSpPr>
          <p:spPr>
            <a:xfrm>
              <a:off x="10049290" y="2833675"/>
              <a:ext cx="41910" cy="761365"/>
            </a:xfrm>
            <a:custGeom>
              <a:avLst/>
              <a:gdLst/>
              <a:ahLst/>
              <a:cxnLst/>
              <a:rect l="l" t="t" r="r" b="b"/>
              <a:pathLst>
                <a:path w="41909" h="761364">
                  <a:moveTo>
                    <a:pt x="25846" y="7602"/>
                  </a:moveTo>
                  <a:lnTo>
                    <a:pt x="25846" y="700282"/>
                  </a:lnTo>
                  <a:lnTo>
                    <a:pt x="25846" y="704661"/>
                  </a:lnTo>
                  <a:lnTo>
                    <a:pt x="23571" y="707945"/>
                  </a:lnTo>
                  <a:lnTo>
                    <a:pt x="20573" y="707945"/>
                  </a:lnTo>
                  <a:lnTo>
                    <a:pt x="17885" y="707945"/>
                  </a:lnTo>
                  <a:lnTo>
                    <a:pt x="15611" y="704661"/>
                  </a:lnTo>
                  <a:lnTo>
                    <a:pt x="15611" y="700282"/>
                  </a:lnTo>
                  <a:lnTo>
                    <a:pt x="15611" y="7602"/>
                  </a:lnTo>
                  <a:lnTo>
                    <a:pt x="15611" y="3648"/>
                  </a:lnTo>
                  <a:lnTo>
                    <a:pt x="17885" y="0"/>
                  </a:lnTo>
                  <a:lnTo>
                    <a:pt x="20573" y="0"/>
                  </a:lnTo>
                  <a:lnTo>
                    <a:pt x="23571" y="0"/>
                  </a:lnTo>
                  <a:lnTo>
                    <a:pt x="25846" y="3648"/>
                  </a:lnTo>
                  <a:lnTo>
                    <a:pt x="25846" y="7602"/>
                  </a:lnTo>
                  <a:close/>
                </a:path>
                <a:path w="41909" h="761364">
                  <a:moveTo>
                    <a:pt x="20573" y="700282"/>
                  </a:moveTo>
                  <a:lnTo>
                    <a:pt x="41457" y="670041"/>
                  </a:lnTo>
                  <a:lnTo>
                    <a:pt x="20573" y="761144"/>
                  </a:lnTo>
                  <a:lnTo>
                    <a:pt x="0" y="670041"/>
                  </a:lnTo>
                  <a:lnTo>
                    <a:pt x="20573" y="700282"/>
                  </a:lnTo>
                  <a:close/>
                </a:path>
              </a:pathLst>
            </a:custGeom>
            <a:ln w="3175">
              <a:solidFill>
                <a:srgbClr val="000000"/>
              </a:solidFill>
            </a:ln>
          </p:spPr>
          <p:txBody>
            <a:bodyPr wrap="square" lIns="0" tIns="0" rIns="0" bIns="0" rtlCol="0"/>
            <a:lstStyle/>
            <a:p/>
          </p:txBody>
        </p:sp>
        <p:sp>
          <p:nvSpPr>
            <p:cNvPr id="96" name="object 96" descr=""/>
            <p:cNvSpPr/>
            <p:nvPr/>
          </p:nvSpPr>
          <p:spPr>
            <a:xfrm>
              <a:off x="11027105" y="2975073"/>
              <a:ext cx="41910" cy="714375"/>
            </a:xfrm>
            <a:custGeom>
              <a:avLst/>
              <a:gdLst/>
              <a:ahLst/>
              <a:cxnLst/>
              <a:rect l="l" t="t" r="r" b="b"/>
              <a:pathLst>
                <a:path w="41909" h="714375">
                  <a:moveTo>
                    <a:pt x="0" y="623015"/>
                  </a:moveTo>
                  <a:lnTo>
                    <a:pt x="20780" y="714118"/>
                  </a:lnTo>
                  <a:lnTo>
                    <a:pt x="32854" y="660919"/>
                  </a:lnTo>
                  <a:lnTo>
                    <a:pt x="17885" y="660919"/>
                  </a:lnTo>
                  <a:lnTo>
                    <a:pt x="15611" y="657635"/>
                  </a:lnTo>
                  <a:lnTo>
                    <a:pt x="15611" y="645745"/>
                  </a:lnTo>
                  <a:lnTo>
                    <a:pt x="0" y="623015"/>
                  </a:lnTo>
                  <a:close/>
                </a:path>
                <a:path w="41909" h="714375">
                  <a:moveTo>
                    <a:pt x="15611" y="645745"/>
                  </a:moveTo>
                  <a:lnTo>
                    <a:pt x="15611" y="657635"/>
                  </a:lnTo>
                  <a:lnTo>
                    <a:pt x="17885" y="660919"/>
                  </a:lnTo>
                  <a:lnTo>
                    <a:pt x="23571" y="660919"/>
                  </a:lnTo>
                  <a:lnTo>
                    <a:pt x="26053" y="657635"/>
                  </a:lnTo>
                  <a:lnTo>
                    <a:pt x="26053" y="653271"/>
                  </a:lnTo>
                  <a:lnTo>
                    <a:pt x="20780" y="653271"/>
                  </a:lnTo>
                  <a:lnTo>
                    <a:pt x="15611" y="645745"/>
                  </a:lnTo>
                  <a:close/>
                </a:path>
                <a:path w="41909" h="714375">
                  <a:moveTo>
                    <a:pt x="41457" y="623015"/>
                  </a:moveTo>
                  <a:lnTo>
                    <a:pt x="26053" y="645556"/>
                  </a:lnTo>
                  <a:lnTo>
                    <a:pt x="26053" y="657635"/>
                  </a:lnTo>
                  <a:lnTo>
                    <a:pt x="23571" y="660919"/>
                  </a:lnTo>
                  <a:lnTo>
                    <a:pt x="32854" y="660919"/>
                  </a:lnTo>
                  <a:lnTo>
                    <a:pt x="41457" y="623015"/>
                  </a:lnTo>
                  <a:close/>
                </a:path>
                <a:path w="41909" h="714375">
                  <a:moveTo>
                    <a:pt x="23571" y="0"/>
                  </a:moveTo>
                  <a:lnTo>
                    <a:pt x="17885" y="0"/>
                  </a:lnTo>
                  <a:lnTo>
                    <a:pt x="15611" y="3192"/>
                  </a:lnTo>
                  <a:lnTo>
                    <a:pt x="15611" y="645745"/>
                  </a:lnTo>
                  <a:lnTo>
                    <a:pt x="20780" y="653271"/>
                  </a:lnTo>
                  <a:lnTo>
                    <a:pt x="26053" y="645556"/>
                  </a:lnTo>
                  <a:lnTo>
                    <a:pt x="26052" y="3192"/>
                  </a:lnTo>
                  <a:lnTo>
                    <a:pt x="23571" y="0"/>
                  </a:lnTo>
                  <a:close/>
                </a:path>
                <a:path w="41909" h="714375">
                  <a:moveTo>
                    <a:pt x="26053" y="645556"/>
                  </a:moveTo>
                  <a:lnTo>
                    <a:pt x="20780" y="653271"/>
                  </a:lnTo>
                  <a:lnTo>
                    <a:pt x="26053" y="653271"/>
                  </a:lnTo>
                  <a:lnTo>
                    <a:pt x="26053" y="645556"/>
                  </a:lnTo>
                  <a:close/>
                </a:path>
              </a:pathLst>
            </a:custGeom>
            <a:solidFill>
              <a:srgbClr val="000000"/>
            </a:solidFill>
          </p:spPr>
          <p:txBody>
            <a:bodyPr wrap="square" lIns="0" tIns="0" rIns="0" bIns="0" rtlCol="0"/>
            <a:lstStyle/>
            <a:p/>
          </p:txBody>
        </p:sp>
        <p:sp>
          <p:nvSpPr>
            <p:cNvPr id="97" name="object 97" descr=""/>
            <p:cNvSpPr/>
            <p:nvPr/>
          </p:nvSpPr>
          <p:spPr>
            <a:xfrm>
              <a:off x="11027105" y="2975073"/>
              <a:ext cx="41910" cy="714375"/>
            </a:xfrm>
            <a:custGeom>
              <a:avLst/>
              <a:gdLst/>
              <a:ahLst/>
              <a:cxnLst/>
              <a:rect l="l" t="t" r="r" b="b"/>
              <a:pathLst>
                <a:path w="41909" h="714375">
                  <a:moveTo>
                    <a:pt x="26052" y="7602"/>
                  </a:moveTo>
                  <a:lnTo>
                    <a:pt x="26053" y="653271"/>
                  </a:lnTo>
                  <a:lnTo>
                    <a:pt x="26053" y="657635"/>
                  </a:lnTo>
                  <a:lnTo>
                    <a:pt x="23571" y="660919"/>
                  </a:lnTo>
                  <a:lnTo>
                    <a:pt x="20780" y="660919"/>
                  </a:lnTo>
                  <a:lnTo>
                    <a:pt x="17885" y="660919"/>
                  </a:lnTo>
                  <a:lnTo>
                    <a:pt x="15611" y="657635"/>
                  </a:lnTo>
                  <a:lnTo>
                    <a:pt x="15611" y="653271"/>
                  </a:lnTo>
                  <a:lnTo>
                    <a:pt x="15611" y="7602"/>
                  </a:lnTo>
                  <a:lnTo>
                    <a:pt x="15611" y="3192"/>
                  </a:lnTo>
                  <a:lnTo>
                    <a:pt x="17885" y="0"/>
                  </a:lnTo>
                  <a:lnTo>
                    <a:pt x="20780" y="0"/>
                  </a:lnTo>
                  <a:lnTo>
                    <a:pt x="23571" y="0"/>
                  </a:lnTo>
                  <a:lnTo>
                    <a:pt x="26052" y="3192"/>
                  </a:lnTo>
                  <a:lnTo>
                    <a:pt x="26052" y="7602"/>
                  </a:lnTo>
                  <a:close/>
                </a:path>
                <a:path w="41909" h="714375">
                  <a:moveTo>
                    <a:pt x="20780" y="653271"/>
                  </a:moveTo>
                  <a:lnTo>
                    <a:pt x="41457" y="623015"/>
                  </a:lnTo>
                  <a:lnTo>
                    <a:pt x="20780" y="714118"/>
                  </a:lnTo>
                  <a:lnTo>
                    <a:pt x="0" y="623015"/>
                  </a:lnTo>
                  <a:lnTo>
                    <a:pt x="20780" y="653271"/>
                  </a:lnTo>
                  <a:close/>
                </a:path>
              </a:pathLst>
            </a:custGeom>
            <a:ln w="3175">
              <a:solidFill>
                <a:srgbClr val="000000"/>
              </a:solidFill>
            </a:ln>
          </p:spPr>
          <p:txBody>
            <a:bodyPr wrap="square" lIns="0" tIns="0" rIns="0" bIns="0" rtlCol="0"/>
            <a:lstStyle/>
            <a:p/>
          </p:txBody>
        </p:sp>
        <p:sp>
          <p:nvSpPr>
            <p:cNvPr id="98" name="object 98" descr=""/>
            <p:cNvSpPr/>
            <p:nvPr/>
          </p:nvSpPr>
          <p:spPr>
            <a:xfrm>
              <a:off x="11418315" y="2833675"/>
              <a:ext cx="41910" cy="855980"/>
            </a:xfrm>
            <a:custGeom>
              <a:avLst/>
              <a:gdLst/>
              <a:ahLst/>
              <a:cxnLst/>
              <a:rect l="l" t="t" r="r" b="b"/>
              <a:pathLst>
                <a:path w="41909" h="855979">
                  <a:moveTo>
                    <a:pt x="0" y="764412"/>
                  </a:moveTo>
                  <a:lnTo>
                    <a:pt x="20573" y="855515"/>
                  </a:lnTo>
                  <a:lnTo>
                    <a:pt x="32768" y="802316"/>
                  </a:lnTo>
                  <a:lnTo>
                    <a:pt x="17885" y="802316"/>
                  </a:lnTo>
                  <a:lnTo>
                    <a:pt x="15611" y="799032"/>
                  </a:lnTo>
                  <a:lnTo>
                    <a:pt x="15611" y="787371"/>
                  </a:lnTo>
                  <a:lnTo>
                    <a:pt x="0" y="764412"/>
                  </a:lnTo>
                  <a:close/>
                </a:path>
                <a:path w="41909" h="855979">
                  <a:moveTo>
                    <a:pt x="15611" y="787371"/>
                  </a:moveTo>
                  <a:lnTo>
                    <a:pt x="15611" y="799032"/>
                  </a:lnTo>
                  <a:lnTo>
                    <a:pt x="17885" y="802316"/>
                  </a:lnTo>
                  <a:lnTo>
                    <a:pt x="23571" y="802316"/>
                  </a:lnTo>
                  <a:lnTo>
                    <a:pt x="25846" y="799032"/>
                  </a:lnTo>
                  <a:lnTo>
                    <a:pt x="25846" y="794668"/>
                  </a:lnTo>
                  <a:lnTo>
                    <a:pt x="20573" y="794668"/>
                  </a:lnTo>
                  <a:lnTo>
                    <a:pt x="15611" y="787371"/>
                  </a:lnTo>
                  <a:close/>
                </a:path>
                <a:path w="41909" h="855979">
                  <a:moveTo>
                    <a:pt x="41457" y="764412"/>
                  </a:moveTo>
                  <a:lnTo>
                    <a:pt x="25846" y="787030"/>
                  </a:lnTo>
                  <a:lnTo>
                    <a:pt x="25846" y="799032"/>
                  </a:lnTo>
                  <a:lnTo>
                    <a:pt x="23571" y="802316"/>
                  </a:lnTo>
                  <a:lnTo>
                    <a:pt x="32768" y="802316"/>
                  </a:lnTo>
                  <a:lnTo>
                    <a:pt x="41457" y="764412"/>
                  </a:lnTo>
                  <a:close/>
                </a:path>
                <a:path w="41909" h="855979">
                  <a:moveTo>
                    <a:pt x="23571" y="0"/>
                  </a:moveTo>
                  <a:lnTo>
                    <a:pt x="17885" y="0"/>
                  </a:lnTo>
                  <a:lnTo>
                    <a:pt x="15611" y="3648"/>
                  </a:lnTo>
                  <a:lnTo>
                    <a:pt x="15611" y="787371"/>
                  </a:lnTo>
                  <a:lnTo>
                    <a:pt x="20573" y="794668"/>
                  </a:lnTo>
                  <a:lnTo>
                    <a:pt x="25846" y="787030"/>
                  </a:lnTo>
                  <a:lnTo>
                    <a:pt x="25846" y="3648"/>
                  </a:lnTo>
                  <a:lnTo>
                    <a:pt x="23571" y="0"/>
                  </a:lnTo>
                  <a:close/>
                </a:path>
                <a:path w="41909" h="855979">
                  <a:moveTo>
                    <a:pt x="25846" y="787030"/>
                  </a:moveTo>
                  <a:lnTo>
                    <a:pt x="20573" y="794668"/>
                  </a:lnTo>
                  <a:lnTo>
                    <a:pt x="25846" y="794668"/>
                  </a:lnTo>
                  <a:lnTo>
                    <a:pt x="25846" y="787030"/>
                  </a:lnTo>
                  <a:close/>
                </a:path>
              </a:pathLst>
            </a:custGeom>
            <a:solidFill>
              <a:srgbClr val="000000"/>
            </a:solidFill>
          </p:spPr>
          <p:txBody>
            <a:bodyPr wrap="square" lIns="0" tIns="0" rIns="0" bIns="0" rtlCol="0"/>
            <a:lstStyle/>
            <a:p/>
          </p:txBody>
        </p:sp>
        <p:sp>
          <p:nvSpPr>
            <p:cNvPr id="99" name="object 99" descr=""/>
            <p:cNvSpPr/>
            <p:nvPr/>
          </p:nvSpPr>
          <p:spPr>
            <a:xfrm>
              <a:off x="11418314" y="2833675"/>
              <a:ext cx="41910" cy="855980"/>
            </a:xfrm>
            <a:custGeom>
              <a:avLst/>
              <a:gdLst/>
              <a:ahLst/>
              <a:cxnLst/>
              <a:rect l="l" t="t" r="r" b="b"/>
              <a:pathLst>
                <a:path w="41909" h="855979">
                  <a:moveTo>
                    <a:pt x="25846" y="7906"/>
                  </a:moveTo>
                  <a:lnTo>
                    <a:pt x="25846" y="794668"/>
                  </a:lnTo>
                  <a:lnTo>
                    <a:pt x="25846" y="799032"/>
                  </a:lnTo>
                  <a:lnTo>
                    <a:pt x="23571" y="802316"/>
                  </a:lnTo>
                  <a:lnTo>
                    <a:pt x="20573" y="802316"/>
                  </a:lnTo>
                  <a:lnTo>
                    <a:pt x="17885" y="802316"/>
                  </a:lnTo>
                  <a:lnTo>
                    <a:pt x="15611" y="799032"/>
                  </a:lnTo>
                  <a:lnTo>
                    <a:pt x="15611" y="794668"/>
                  </a:lnTo>
                  <a:lnTo>
                    <a:pt x="15611" y="7906"/>
                  </a:lnTo>
                  <a:lnTo>
                    <a:pt x="15611" y="3648"/>
                  </a:lnTo>
                  <a:lnTo>
                    <a:pt x="17885" y="0"/>
                  </a:lnTo>
                  <a:lnTo>
                    <a:pt x="20573" y="0"/>
                  </a:lnTo>
                  <a:lnTo>
                    <a:pt x="23571" y="0"/>
                  </a:lnTo>
                  <a:lnTo>
                    <a:pt x="25846" y="3648"/>
                  </a:lnTo>
                  <a:lnTo>
                    <a:pt x="25846" y="7906"/>
                  </a:lnTo>
                  <a:close/>
                </a:path>
                <a:path w="41909" h="855979">
                  <a:moveTo>
                    <a:pt x="20573" y="794668"/>
                  </a:moveTo>
                  <a:lnTo>
                    <a:pt x="41457" y="764412"/>
                  </a:lnTo>
                  <a:lnTo>
                    <a:pt x="20573" y="855515"/>
                  </a:lnTo>
                  <a:lnTo>
                    <a:pt x="0" y="764412"/>
                  </a:lnTo>
                  <a:lnTo>
                    <a:pt x="20573" y="794668"/>
                  </a:lnTo>
                  <a:close/>
                </a:path>
              </a:pathLst>
            </a:custGeom>
            <a:ln w="3175">
              <a:solidFill>
                <a:srgbClr val="000000"/>
              </a:solidFill>
            </a:ln>
          </p:spPr>
          <p:txBody>
            <a:bodyPr wrap="square" lIns="0" tIns="0" rIns="0" bIns="0" rtlCol="0"/>
            <a:lstStyle/>
            <a:p/>
          </p:txBody>
        </p:sp>
        <p:sp>
          <p:nvSpPr>
            <p:cNvPr id="100" name="object 100" descr=""/>
            <p:cNvSpPr/>
            <p:nvPr/>
          </p:nvSpPr>
          <p:spPr>
            <a:xfrm>
              <a:off x="9419261" y="3116318"/>
              <a:ext cx="41275" cy="478790"/>
            </a:xfrm>
            <a:custGeom>
              <a:avLst/>
              <a:gdLst/>
              <a:ahLst/>
              <a:cxnLst/>
              <a:rect l="l" t="t" r="r" b="b"/>
              <a:pathLst>
                <a:path w="41275" h="478789">
                  <a:moveTo>
                    <a:pt x="0" y="387398"/>
                  </a:moveTo>
                  <a:lnTo>
                    <a:pt x="20573" y="478501"/>
                  </a:lnTo>
                  <a:lnTo>
                    <a:pt x="32587" y="425302"/>
                  </a:lnTo>
                  <a:lnTo>
                    <a:pt x="17885" y="425302"/>
                  </a:lnTo>
                  <a:lnTo>
                    <a:pt x="15404" y="422018"/>
                  </a:lnTo>
                  <a:lnTo>
                    <a:pt x="15404" y="409889"/>
                  </a:lnTo>
                  <a:lnTo>
                    <a:pt x="0" y="387398"/>
                  </a:lnTo>
                  <a:close/>
                </a:path>
                <a:path w="41275" h="478789">
                  <a:moveTo>
                    <a:pt x="15404" y="410041"/>
                  </a:moveTo>
                  <a:lnTo>
                    <a:pt x="15404" y="422018"/>
                  </a:lnTo>
                  <a:lnTo>
                    <a:pt x="17885" y="425302"/>
                  </a:lnTo>
                  <a:lnTo>
                    <a:pt x="23261" y="425302"/>
                  </a:lnTo>
                  <a:lnTo>
                    <a:pt x="25846" y="422018"/>
                  </a:lnTo>
                  <a:lnTo>
                    <a:pt x="25846" y="417639"/>
                  </a:lnTo>
                  <a:lnTo>
                    <a:pt x="20573" y="417639"/>
                  </a:lnTo>
                  <a:lnTo>
                    <a:pt x="15404" y="410041"/>
                  </a:lnTo>
                  <a:close/>
                </a:path>
                <a:path w="41275" h="478789">
                  <a:moveTo>
                    <a:pt x="41147" y="387398"/>
                  </a:moveTo>
                  <a:lnTo>
                    <a:pt x="25846" y="409889"/>
                  </a:lnTo>
                  <a:lnTo>
                    <a:pt x="25846" y="422018"/>
                  </a:lnTo>
                  <a:lnTo>
                    <a:pt x="23261" y="425302"/>
                  </a:lnTo>
                  <a:lnTo>
                    <a:pt x="32587" y="425302"/>
                  </a:lnTo>
                  <a:lnTo>
                    <a:pt x="41147" y="387398"/>
                  </a:lnTo>
                  <a:close/>
                </a:path>
                <a:path w="41275" h="478789">
                  <a:moveTo>
                    <a:pt x="23261" y="0"/>
                  </a:moveTo>
                  <a:lnTo>
                    <a:pt x="17885" y="0"/>
                  </a:lnTo>
                  <a:lnTo>
                    <a:pt x="15404" y="3344"/>
                  </a:lnTo>
                  <a:lnTo>
                    <a:pt x="15404" y="410041"/>
                  </a:lnTo>
                  <a:lnTo>
                    <a:pt x="20573" y="417639"/>
                  </a:lnTo>
                  <a:lnTo>
                    <a:pt x="25742" y="410041"/>
                  </a:lnTo>
                  <a:lnTo>
                    <a:pt x="25846" y="3344"/>
                  </a:lnTo>
                  <a:lnTo>
                    <a:pt x="23261" y="0"/>
                  </a:lnTo>
                  <a:close/>
                </a:path>
                <a:path w="41275" h="478789">
                  <a:moveTo>
                    <a:pt x="25846" y="410041"/>
                  </a:moveTo>
                  <a:lnTo>
                    <a:pt x="20573" y="417639"/>
                  </a:lnTo>
                  <a:lnTo>
                    <a:pt x="25846" y="417639"/>
                  </a:lnTo>
                  <a:lnTo>
                    <a:pt x="25846" y="410041"/>
                  </a:lnTo>
                  <a:close/>
                </a:path>
              </a:pathLst>
            </a:custGeom>
            <a:solidFill>
              <a:srgbClr val="000000"/>
            </a:solidFill>
          </p:spPr>
          <p:txBody>
            <a:bodyPr wrap="square" lIns="0" tIns="0" rIns="0" bIns="0" rtlCol="0"/>
            <a:lstStyle/>
            <a:p/>
          </p:txBody>
        </p:sp>
        <p:sp>
          <p:nvSpPr>
            <p:cNvPr id="101" name="object 101" descr=""/>
            <p:cNvSpPr/>
            <p:nvPr/>
          </p:nvSpPr>
          <p:spPr>
            <a:xfrm>
              <a:off x="9419261" y="3116318"/>
              <a:ext cx="41275" cy="478790"/>
            </a:xfrm>
            <a:custGeom>
              <a:avLst/>
              <a:gdLst/>
              <a:ahLst/>
              <a:cxnLst/>
              <a:rect l="l" t="t" r="r" b="b"/>
              <a:pathLst>
                <a:path w="41275" h="478789">
                  <a:moveTo>
                    <a:pt x="25846" y="7754"/>
                  </a:moveTo>
                  <a:lnTo>
                    <a:pt x="25846" y="417639"/>
                  </a:lnTo>
                  <a:lnTo>
                    <a:pt x="25846" y="422018"/>
                  </a:lnTo>
                  <a:lnTo>
                    <a:pt x="23261" y="425302"/>
                  </a:lnTo>
                  <a:lnTo>
                    <a:pt x="20573" y="425302"/>
                  </a:lnTo>
                  <a:lnTo>
                    <a:pt x="17885" y="425302"/>
                  </a:lnTo>
                  <a:lnTo>
                    <a:pt x="15404" y="422018"/>
                  </a:lnTo>
                  <a:lnTo>
                    <a:pt x="15404" y="417639"/>
                  </a:lnTo>
                  <a:lnTo>
                    <a:pt x="15404" y="7754"/>
                  </a:lnTo>
                  <a:lnTo>
                    <a:pt x="15404" y="3344"/>
                  </a:lnTo>
                  <a:lnTo>
                    <a:pt x="17885" y="0"/>
                  </a:lnTo>
                  <a:lnTo>
                    <a:pt x="20573" y="0"/>
                  </a:lnTo>
                  <a:lnTo>
                    <a:pt x="23261" y="0"/>
                  </a:lnTo>
                  <a:lnTo>
                    <a:pt x="25846" y="3344"/>
                  </a:lnTo>
                  <a:lnTo>
                    <a:pt x="25846" y="7754"/>
                  </a:lnTo>
                  <a:close/>
                </a:path>
                <a:path w="41275" h="478789">
                  <a:moveTo>
                    <a:pt x="20573" y="417639"/>
                  </a:moveTo>
                  <a:lnTo>
                    <a:pt x="41147" y="387398"/>
                  </a:lnTo>
                  <a:lnTo>
                    <a:pt x="20573" y="478501"/>
                  </a:lnTo>
                  <a:lnTo>
                    <a:pt x="0" y="387398"/>
                  </a:lnTo>
                  <a:lnTo>
                    <a:pt x="20573" y="417639"/>
                  </a:lnTo>
                  <a:close/>
                </a:path>
              </a:pathLst>
            </a:custGeom>
            <a:ln w="3175">
              <a:solidFill>
                <a:srgbClr val="000000"/>
              </a:solidFill>
            </a:ln>
          </p:spPr>
          <p:txBody>
            <a:bodyPr wrap="square" lIns="0" tIns="0" rIns="0" bIns="0" rtlCol="0"/>
            <a:lstStyle/>
            <a:p/>
          </p:txBody>
        </p:sp>
        <p:sp>
          <p:nvSpPr>
            <p:cNvPr id="102" name="object 102" descr=""/>
            <p:cNvSpPr/>
            <p:nvPr/>
          </p:nvSpPr>
          <p:spPr>
            <a:xfrm>
              <a:off x="10766472" y="3116318"/>
              <a:ext cx="41910" cy="573405"/>
            </a:xfrm>
            <a:custGeom>
              <a:avLst/>
              <a:gdLst/>
              <a:ahLst/>
              <a:cxnLst/>
              <a:rect l="l" t="t" r="r" b="b"/>
              <a:pathLst>
                <a:path w="41909" h="573404">
                  <a:moveTo>
                    <a:pt x="0" y="481770"/>
                  </a:moveTo>
                  <a:lnTo>
                    <a:pt x="20573" y="572872"/>
                  </a:lnTo>
                  <a:lnTo>
                    <a:pt x="32768" y="519673"/>
                  </a:lnTo>
                  <a:lnTo>
                    <a:pt x="17885" y="519673"/>
                  </a:lnTo>
                  <a:lnTo>
                    <a:pt x="15300" y="516389"/>
                  </a:lnTo>
                  <a:lnTo>
                    <a:pt x="15300" y="504272"/>
                  </a:lnTo>
                  <a:lnTo>
                    <a:pt x="0" y="481770"/>
                  </a:lnTo>
                  <a:close/>
                </a:path>
                <a:path w="41909" h="573404">
                  <a:moveTo>
                    <a:pt x="15300" y="504272"/>
                  </a:moveTo>
                  <a:lnTo>
                    <a:pt x="15300" y="516389"/>
                  </a:lnTo>
                  <a:lnTo>
                    <a:pt x="17885" y="519673"/>
                  </a:lnTo>
                  <a:lnTo>
                    <a:pt x="23571" y="519673"/>
                  </a:lnTo>
                  <a:lnTo>
                    <a:pt x="25742" y="516389"/>
                  </a:lnTo>
                  <a:lnTo>
                    <a:pt x="25742" y="512026"/>
                  </a:lnTo>
                  <a:lnTo>
                    <a:pt x="20573" y="512026"/>
                  </a:lnTo>
                  <a:lnTo>
                    <a:pt x="15300" y="504272"/>
                  </a:lnTo>
                  <a:close/>
                </a:path>
                <a:path w="41909" h="573404">
                  <a:moveTo>
                    <a:pt x="41457" y="481770"/>
                  </a:moveTo>
                  <a:lnTo>
                    <a:pt x="25742" y="504536"/>
                  </a:lnTo>
                  <a:lnTo>
                    <a:pt x="25742" y="516389"/>
                  </a:lnTo>
                  <a:lnTo>
                    <a:pt x="23571" y="519673"/>
                  </a:lnTo>
                  <a:lnTo>
                    <a:pt x="32768" y="519673"/>
                  </a:lnTo>
                  <a:lnTo>
                    <a:pt x="41457" y="481770"/>
                  </a:lnTo>
                  <a:close/>
                </a:path>
                <a:path w="41909" h="573404">
                  <a:moveTo>
                    <a:pt x="23571" y="0"/>
                  </a:moveTo>
                  <a:lnTo>
                    <a:pt x="17885" y="0"/>
                  </a:lnTo>
                  <a:lnTo>
                    <a:pt x="15300" y="3344"/>
                  </a:lnTo>
                  <a:lnTo>
                    <a:pt x="15300" y="504272"/>
                  </a:lnTo>
                  <a:lnTo>
                    <a:pt x="20573" y="512026"/>
                  </a:lnTo>
                  <a:lnTo>
                    <a:pt x="25742" y="504536"/>
                  </a:lnTo>
                  <a:lnTo>
                    <a:pt x="25742" y="3344"/>
                  </a:lnTo>
                  <a:lnTo>
                    <a:pt x="23571" y="0"/>
                  </a:lnTo>
                  <a:close/>
                </a:path>
                <a:path w="41909" h="573404">
                  <a:moveTo>
                    <a:pt x="25742" y="504536"/>
                  </a:moveTo>
                  <a:lnTo>
                    <a:pt x="20573" y="512026"/>
                  </a:lnTo>
                  <a:lnTo>
                    <a:pt x="25742" y="512026"/>
                  </a:lnTo>
                  <a:lnTo>
                    <a:pt x="25742" y="504536"/>
                  </a:lnTo>
                  <a:close/>
                </a:path>
              </a:pathLst>
            </a:custGeom>
            <a:solidFill>
              <a:srgbClr val="000000"/>
            </a:solidFill>
          </p:spPr>
          <p:txBody>
            <a:bodyPr wrap="square" lIns="0" tIns="0" rIns="0" bIns="0" rtlCol="0"/>
            <a:lstStyle/>
            <a:p/>
          </p:txBody>
        </p:sp>
        <p:sp>
          <p:nvSpPr>
            <p:cNvPr id="103" name="object 103" descr=""/>
            <p:cNvSpPr/>
            <p:nvPr/>
          </p:nvSpPr>
          <p:spPr>
            <a:xfrm>
              <a:off x="10766472" y="3116318"/>
              <a:ext cx="41910" cy="573405"/>
            </a:xfrm>
            <a:custGeom>
              <a:avLst/>
              <a:gdLst/>
              <a:ahLst/>
              <a:cxnLst/>
              <a:rect l="l" t="t" r="r" b="b"/>
              <a:pathLst>
                <a:path w="41909" h="573404">
                  <a:moveTo>
                    <a:pt x="25742" y="7754"/>
                  </a:moveTo>
                  <a:lnTo>
                    <a:pt x="25742" y="512026"/>
                  </a:lnTo>
                  <a:lnTo>
                    <a:pt x="25742" y="516389"/>
                  </a:lnTo>
                  <a:lnTo>
                    <a:pt x="23571" y="519673"/>
                  </a:lnTo>
                  <a:lnTo>
                    <a:pt x="20573" y="519673"/>
                  </a:lnTo>
                  <a:lnTo>
                    <a:pt x="17885" y="519673"/>
                  </a:lnTo>
                  <a:lnTo>
                    <a:pt x="15300" y="516389"/>
                  </a:lnTo>
                  <a:lnTo>
                    <a:pt x="15300" y="512026"/>
                  </a:lnTo>
                  <a:lnTo>
                    <a:pt x="15300" y="7754"/>
                  </a:lnTo>
                  <a:lnTo>
                    <a:pt x="15300" y="3344"/>
                  </a:lnTo>
                  <a:lnTo>
                    <a:pt x="17885" y="0"/>
                  </a:lnTo>
                  <a:lnTo>
                    <a:pt x="20573" y="0"/>
                  </a:lnTo>
                  <a:lnTo>
                    <a:pt x="23571" y="0"/>
                  </a:lnTo>
                  <a:lnTo>
                    <a:pt x="25742" y="3344"/>
                  </a:lnTo>
                  <a:lnTo>
                    <a:pt x="25742" y="7754"/>
                  </a:lnTo>
                  <a:close/>
                </a:path>
                <a:path w="41909" h="573404">
                  <a:moveTo>
                    <a:pt x="20573" y="512026"/>
                  </a:moveTo>
                  <a:lnTo>
                    <a:pt x="41457" y="481770"/>
                  </a:lnTo>
                  <a:lnTo>
                    <a:pt x="20573" y="572872"/>
                  </a:lnTo>
                  <a:lnTo>
                    <a:pt x="0" y="481770"/>
                  </a:lnTo>
                  <a:lnTo>
                    <a:pt x="20573" y="512026"/>
                  </a:lnTo>
                  <a:close/>
                </a:path>
              </a:pathLst>
            </a:custGeom>
            <a:ln w="3175">
              <a:solidFill>
                <a:srgbClr val="000000"/>
              </a:solidFill>
            </a:ln>
          </p:spPr>
          <p:txBody>
            <a:bodyPr wrap="square" lIns="0" tIns="0" rIns="0" bIns="0" rtlCol="0"/>
            <a:lstStyle/>
            <a:p/>
          </p:txBody>
        </p:sp>
        <p:sp>
          <p:nvSpPr>
            <p:cNvPr id="104" name="object 104" descr=""/>
            <p:cNvSpPr/>
            <p:nvPr/>
          </p:nvSpPr>
          <p:spPr>
            <a:xfrm>
              <a:off x="9439835" y="3124072"/>
              <a:ext cx="1347470" cy="0"/>
            </a:xfrm>
            <a:custGeom>
              <a:avLst/>
              <a:gdLst/>
              <a:ahLst/>
              <a:cxnLst/>
              <a:rect l="l" t="t" r="r" b="b"/>
              <a:pathLst>
                <a:path w="1347470" h="0">
                  <a:moveTo>
                    <a:pt x="0" y="0"/>
                  </a:moveTo>
                  <a:lnTo>
                    <a:pt x="1347210" y="0"/>
                  </a:lnTo>
                </a:path>
              </a:pathLst>
            </a:custGeom>
            <a:ln w="11316">
              <a:solidFill>
                <a:srgbClr val="000000"/>
              </a:solidFill>
            </a:ln>
          </p:spPr>
          <p:txBody>
            <a:bodyPr wrap="square" lIns="0" tIns="0" rIns="0" bIns="0" rtlCol="0"/>
            <a:lstStyle/>
            <a:p/>
          </p:txBody>
        </p:sp>
        <p:sp>
          <p:nvSpPr>
            <p:cNvPr id="105" name="object 105" descr=""/>
            <p:cNvSpPr/>
            <p:nvPr/>
          </p:nvSpPr>
          <p:spPr>
            <a:xfrm>
              <a:off x="9788656" y="2221561"/>
              <a:ext cx="41275" cy="902969"/>
            </a:xfrm>
            <a:custGeom>
              <a:avLst/>
              <a:gdLst/>
              <a:ahLst/>
              <a:cxnLst/>
              <a:rect l="l" t="t" r="r" b="b"/>
              <a:pathLst>
                <a:path w="41275" h="902969">
                  <a:moveTo>
                    <a:pt x="0" y="811439"/>
                  </a:moveTo>
                  <a:lnTo>
                    <a:pt x="20573" y="902511"/>
                  </a:lnTo>
                  <a:lnTo>
                    <a:pt x="32594" y="849297"/>
                  </a:lnTo>
                  <a:lnTo>
                    <a:pt x="17885" y="849297"/>
                  </a:lnTo>
                  <a:lnTo>
                    <a:pt x="15404" y="845952"/>
                  </a:lnTo>
                  <a:lnTo>
                    <a:pt x="15404" y="834093"/>
                  </a:lnTo>
                  <a:lnTo>
                    <a:pt x="0" y="811439"/>
                  </a:lnTo>
                  <a:close/>
                </a:path>
                <a:path w="41275" h="902969">
                  <a:moveTo>
                    <a:pt x="15404" y="834093"/>
                  </a:moveTo>
                  <a:lnTo>
                    <a:pt x="15404" y="845952"/>
                  </a:lnTo>
                  <a:lnTo>
                    <a:pt x="17885" y="849297"/>
                  </a:lnTo>
                  <a:lnTo>
                    <a:pt x="23571" y="849297"/>
                  </a:lnTo>
                  <a:lnTo>
                    <a:pt x="25742" y="845952"/>
                  </a:lnTo>
                  <a:lnTo>
                    <a:pt x="25742" y="841695"/>
                  </a:lnTo>
                  <a:lnTo>
                    <a:pt x="20573" y="841695"/>
                  </a:lnTo>
                  <a:lnTo>
                    <a:pt x="15404" y="834093"/>
                  </a:lnTo>
                  <a:close/>
                </a:path>
                <a:path w="41275" h="902969">
                  <a:moveTo>
                    <a:pt x="41147" y="811439"/>
                  </a:moveTo>
                  <a:lnTo>
                    <a:pt x="25742" y="834093"/>
                  </a:lnTo>
                  <a:lnTo>
                    <a:pt x="25742" y="845952"/>
                  </a:lnTo>
                  <a:lnTo>
                    <a:pt x="23571" y="849297"/>
                  </a:lnTo>
                  <a:lnTo>
                    <a:pt x="32594" y="849297"/>
                  </a:lnTo>
                  <a:lnTo>
                    <a:pt x="41147" y="811439"/>
                  </a:lnTo>
                  <a:close/>
                </a:path>
                <a:path w="41275" h="902969">
                  <a:moveTo>
                    <a:pt x="23571" y="0"/>
                  </a:moveTo>
                  <a:lnTo>
                    <a:pt x="17885" y="0"/>
                  </a:lnTo>
                  <a:lnTo>
                    <a:pt x="15404" y="3192"/>
                  </a:lnTo>
                  <a:lnTo>
                    <a:pt x="15404" y="834093"/>
                  </a:lnTo>
                  <a:lnTo>
                    <a:pt x="20573" y="841695"/>
                  </a:lnTo>
                  <a:lnTo>
                    <a:pt x="25742" y="834093"/>
                  </a:lnTo>
                  <a:lnTo>
                    <a:pt x="25742" y="3192"/>
                  </a:lnTo>
                  <a:lnTo>
                    <a:pt x="23571" y="0"/>
                  </a:lnTo>
                  <a:close/>
                </a:path>
                <a:path w="41275" h="902969">
                  <a:moveTo>
                    <a:pt x="25742" y="834093"/>
                  </a:moveTo>
                  <a:lnTo>
                    <a:pt x="20573" y="841695"/>
                  </a:lnTo>
                  <a:lnTo>
                    <a:pt x="25742" y="841695"/>
                  </a:lnTo>
                  <a:lnTo>
                    <a:pt x="25742" y="834093"/>
                  </a:lnTo>
                  <a:close/>
                </a:path>
              </a:pathLst>
            </a:custGeom>
            <a:solidFill>
              <a:srgbClr val="000000"/>
            </a:solidFill>
          </p:spPr>
          <p:txBody>
            <a:bodyPr wrap="square" lIns="0" tIns="0" rIns="0" bIns="0" rtlCol="0"/>
            <a:lstStyle/>
            <a:p/>
          </p:txBody>
        </p:sp>
        <p:sp>
          <p:nvSpPr>
            <p:cNvPr id="106" name="object 106" descr=""/>
            <p:cNvSpPr/>
            <p:nvPr/>
          </p:nvSpPr>
          <p:spPr>
            <a:xfrm>
              <a:off x="9788656" y="2221561"/>
              <a:ext cx="41275" cy="902969"/>
            </a:xfrm>
            <a:custGeom>
              <a:avLst/>
              <a:gdLst/>
              <a:ahLst/>
              <a:cxnLst/>
              <a:rect l="l" t="t" r="r" b="b"/>
              <a:pathLst>
                <a:path w="41275" h="902969">
                  <a:moveTo>
                    <a:pt x="25742" y="7602"/>
                  </a:moveTo>
                  <a:lnTo>
                    <a:pt x="25742" y="841695"/>
                  </a:lnTo>
                  <a:lnTo>
                    <a:pt x="25742" y="845952"/>
                  </a:lnTo>
                  <a:lnTo>
                    <a:pt x="23571" y="849297"/>
                  </a:lnTo>
                  <a:lnTo>
                    <a:pt x="20573" y="849297"/>
                  </a:lnTo>
                  <a:lnTo>
                    <a:pt x="17885" y="849297"/>
                  </a:lnTo>
                  <a:lnTo>
                    <a:pt x="15404" y="845952"/>
                  </a:lnTo>
                  <a:lnTo>
                    <a:pt x="15404" y="841695"/>
                  </a:lnTo>
                  <a:lnTo>
                    <a:pt x="15404" y="7602"/>
                  </a:lnTo>
                  <a:lnTo>
                    <a:pt x="15404" y="3192"/>
                  </a:lnTo>
                  <a:lnTo>
                    <a:pt x="17885" y="0"/>
                  </a:lnTo>
                  <a:lnTo>
                    <a:pt x="20573" y="0"/>
                  </a:lnTo>
                  <a:lnTo>
                    <a:pt x="23571" y="0"/>
                  </a:lnTo>
                  <a:lnTo>
                    <a:pt x="25742" y="3192"/>
                  </a:lnTo>
                  <a:lnTo>
                    <a:pt x="25742" y="7602"/>
                  </a:lnTo>
                  <a:close/>
                </a:path>
                <a:path w="41275" h="902969">
                  <a:moveTo>
                    <a:pt x="20573" y="841695"/>
                  </a:moveTo>
                  <a:lnTo>
                    <a:pt x="41147" y="811439"/>
                  </a:lnTo>
                  <a:lnTo>
                    <a:pt x="20573" y="902511"/>
                  </a:lnTo>
                  <a:lnTo>
                    <a:pt x="0" y="811439"/>
                  </a:lnTo>
                  <a:lnTo>
                    <a:pt x="20573" y="841695"/>
                  </a:lnTo>
                  <a:close/>
                </a:path>
              </a:pathLst>
            </a:custGeom>
            <a:ln w="3175">
              <a:solidFill>
                <a:srgbClr val="000000"/>
              </a:solidFill>
            </a:ln>
          </p:spPr>
          <p:txBody>
            <a:bodyPr wrap="square" lIns="0" tIns="0" rIns="0" bIns="0" rtlCol="0"/>
            <a:lstStyle/>
            <a:p/>
          </p:txBody>
        </p:sp>
        <p:sp>
          <p:nvSpPr>
            <p:cNvPr id="107" name="object 107" descr=""/>
            <p:cNvSpPr/>
            <p:nvPr/>
          </p:nvSpPr>
          <p:spPr>
            <a:xfrm>
              <a:off x="9700468" y="2370560"/>
              <a:ext cx="1738630" cy="612140"/>
            </a:xfrm>
            <a:custGeom>
              <a:avLst/>
              <a:gdLst/>
              <a:ahLst/>
              <a:cxnLst/>
              <a:rect l="l" t="t" r="r" b="b"/>
              <a:pathLst>
                <a:path w="1738629" h="612139">
                  <a:moveTo>
                    <a:pt x="0" y="612114"/>
                  </a:moveTo>
                  <a:lnTo>
                    <a:pt x="1347417" y="612114"/>
                  </a:lnTo>
                </a:path>
                <a:path w="1738629" h="612139">
                  <a:moveTo>
                    <a:pt x="956208" y="0"/>
                  </a:moveTo>
                  <a:lnTo>
                    <a:pt x="956208" y="612114"/>
                  </a:lnTo>
                </a:path>
                <a:path w="1738629" h="612139">
                  <a:moveTo>
                    <a:pt x="369394" y="471020"/>
                  </a:moveTo>
                  <a:lnTo>
                    <a:pt x="1738419" y="471020"/>
                  </a:lnTo>
                </a:path>
                <a:path w="1738629" h="612139">
                  <a:moveTo>
                    <a:pt x="1173420" y="0"/>
                  </a:moveTo>
                  <a:lnTo>
                    <a:pt x="1173420" y="471020"/>
                  </a:lnTo>
                </a:path>
              </a:pathLst>
            </a:custGeom>
            <a:ln w="9506">
              <a:solidFill>
                <a:srgbClr val="000000"/>
              </a:solidFill>
            </a:ln>
          </p:spPr>
          <p:txBody>
            <a:bodyPr wrap="square" lIns="0" tIns="0" rIns="0" bIns="0" rtlCol="0"/>
            <a:lstStyle/>
            <a:p/>
          </p:txBody>
        </p:sp>
        <p:sp>
          <p:nvSpPr>
            <p:cNvPr id="108" name="object 108" descr=""/>
            <p:cNvSpPr/>
            <p:nvPr/>
          </p:nvSpPr>
          <p:spPr>
            <a:xfrm>
              <a:off x="9683100" y="3377675"/>
              <a:ext cx="24130" cy="46355"/>
            </a:xfrm>
            <a:custGeom>
              <a:avLst/>
              <a:gdLst/>
              <a:ahLst/>
              <a:cxnLst/>
              <a:rect l="l" t="t" r="r" b="b"/>
              <a:pathLst>
                <a:path w="24129" h="46354">
                  <a:moveTo>
                    <a:pt x="11889" y="0"/>
                  </a:moveTo>
                  <a:lnTo>
                    <a:pt x="7240" y="1838"/>
                  </a:lnTo>
                  <a:lnTo>
                    <a:pt x="3463" y="6841"/>
                  </a:lnTo>
                  <a:lnTo>
                    <a:pt x="927" y="14239"/>
                  </a:lnTo>
                  <a:lnTo>
                    <a:pt x="0" y="23262"/>
                  </a:lnTo>
                  <a:lnTo>
                    <a:pt x="927" y="32237"/>
                  </a:lnTo>
                  <a:lnTo>
                    <a:pt x="3463" y="39530"/>
                  </a:lnTo>
                  <a:lnTo>
                    <a:pt x="7240" y="44429"/>
                  </a:lnTo>
                  <a:lnTo>
                    <a:pt x="11889" y="46220"/>
                  </a:lnTo>
                  <a:lnTo>
                    <a:pt x="16462" y="44429"/>
                  </a:lnTo>
                  <a:lnTo>
                    <a:pt x="20173" y="39530"/>
                  </a:lnTo>
                  <a:lnTo>
                    <a:pt x="22662" y="32237"/>
                  </a:lnTo>
                  <a:lnTo>
                    <a:pt x="23571" y="23262"/>
                  </a:lnTo>
                  <a:lnTo>
                    <a:pt x="22662" y="14239"/>
                  </a:lnTo>
                  <a:lnTo>
                    <a:pt x="20173" y="6841"/>
                  </a:lnTo>
                  <a:lnTo>
                    <a:pt x="16462" y="1838"/>
                  </a:lnTo>
                  <a:lnTo>
                    <a:pt x="11889" y="0"/>
                  </a:lnTo>
                  <a:close/>
                </a:path>
              </a:pathLst>
            </a:custGeom>
            <a:solidFill>
              <a:srgbClr val="000000"/>
            </a:solidFill>
          </p:spPr>
          <p:txBody>
            <a:bodyPr wrap="square" lIns="0" tIns="0" rIns="0" bIns="0" rtlCol="0"/>
            <a:lstStyle/>
            <a:p/>
          </p:txBody>
        </p:sp>
        <p:sp>
          <p:nvSpPr>
            <p:cNvPr id="109" name="object 109" descr=""/>
            <p:cNvSpPr/>
            <p:nvPr/>
          </p:nvSpPr>
          <p:spPr>
            <a:xfrm>
              <a:off x="9683100" y="3377675"/>
              <a:ext cx="24130" cy="46355"/>
            </a:xfrm>
            <a:custGeom>
              <a:avLst/>
              <a:gdLst/>
              <a:ahLst/>
              <a:cxnLst/>
              <a:rect l="l" t="t" r="r" b="b"/>
              <a:pathLst>
                <a:path w="24129" h="46354">
                  <a:moveTo>
                    <a:pt x="11889" y="0"/>
                  </a:moveTo>
                  <a:lnTo>
                    <a:pt x="7240" y="1838"/>
                  </a:lnTo>
                  <a:lnTo>
                    <a:pt x="3463" y="6841"/>
                  </a:lnTo>
                  <a:lnTo>
                    <a:pt x="927" y="14239"/>
                  </a:lnTo>
                  <a:lnTo>
                    <a:pt x="0" y="23262"/>
                  </a:lnTo>
                  <a:lnTo>
                    <a:pt x="927" y="32237"/>
                  </a:lnTo>
                  <a:lnTo>
                    <a:pt x="3463" y="39530"/>
                  </a:lnTo>
                  <a:lnTo>
                    <a:pt x="7240" y="44429"/>
                  </a:lnTo>
                  <a:lnTo>
                    <a:pt x="11889" y="46220"/>
                  </a:lnTo>
                  <a:lnTo>
                    <a:pt x="16462" y="44429"/>
                  </a:lnTo>
                  <a:lnTo>
                    <a:pt x="20173" y="39530"/>
                  </a:lnTo>
                  <a:lnTo>
                    <a:pt x="22662" y="32237"/>
                  </a:lnTo>
                  <a:lnTo>
                    <a:pt x="23571" y="23262"/>
                  </a:lnTo>
                  <a:lnTo>
                    <a:pt x="22662" y="14239"/>
                  </a:lnTo>
                  <a:lnTo>
                    <a:pt x="20173" y="6841"/>
                  </a:lnTo>
                  <a:lnTo>
                    <a:pt x="16462" y="1838"/>
                  </a:lnTo>
                  <a:lnTo>
                    <a:pt x="11889" y="0"/>
                  </a:lnTo>
                </a:path>
              </a:pathLst>
            </a:custGeom>
            <a:ln w="8442">
              <a:solidFill>
                <a:srgbClr val="000000"/>
              </a:solidFill>
            </a:ln>
          </p:spPr>
          <p:txBody>
            <a:bodyPr wrap="square" lIns="0" tIns="0" rIns="0" bIns="0" rtlCol="0"/>
            <a:lstStyle/>
            <a:p/>
          </p:txBody>
        </p:sp>
        <p:sp>
          <p:nvSpPr>
            <p:cNvPr id="110" name="object 110" descr=""/>
            <p:cNvSpPr/>
            <p:nvPr/>
          </p:nvSpPr>
          <p:spPr>
            <a:xfrm>
              <a:off x="9419261" y="3116318"/>
              <a:ext cx="41275" cy="478790"/>
            </a:xfrm>
            <a:custGeom>
              <a:avLst/>
              <a:gdLst/>
              <a:ahLst/>
              <a:cxnLst/>
              <a:rect l="l" t="t" r="r" b="b"/>
              <a:pathLst>
                <a:path w="41275" h="478789">
                  <a:moveTo>
                    <a:pt x="0" y="387398"/>
                  </a:moveTo>
                  <a:lnTo>
                    <a:pt x="20573" y="478501"/>
                  </a:lnTo>
                  <a:lnTo>
                    <a:pt x="32587" y="425302"/>
                  </a:lnTo>
                  <a:lnTo>
                    <a:pt x="17885" y="425302"/>
                  </a:lnTo>
                  <a:lnTo>
                    <a:pt x="15404" y="422018"/>
                  </a:lnTo>
                  <a:lnTo>
                    <a:pt x="15404" y="409889"/>
                  </a:lnTo>
                  <a:lnTo>
                    <a:pt x="0" y="387398"/>
                  </a:lnTo>
                  <a:close/>
                </a:path>
                <a:path w="41275" h="478789">
                  <a:moveTo>
                    <a:pt x="15404" y="410041"/>
                  </a:moveTo>
                  <a:lnTo>
                    <a:pt x="15404" y="422018"/>
                  </a:lnTo>
                  <a:lnTo>
                    <a:pt x="17885" y="425302"/>
                  </a:lnTo>
                  <a:lnTo>
                    <a:pt x="23261" y="425302"/>
                  </a:lnTo>
                  <a:lnTo>
                    <a:pt x="25846" y="422018"/>
                  </a:lnTo>
                  <a:lnTo>
                    <a:pt x="25846" y="417639"/>
                  </a:lnTo>
                  <a:lnTo>
                    <a:pt x="20573" y="417639"/>
                  </a:lnTo>
                  <a:lnTo>
                    <a:pt x="15404" y="410041"/>
                  </a:lnTo>
                  <a:close/>
                </a:path>
                <a:path w="41275" h="478789">
                  <a:moveTo>
                    <a:pt x="41147" y="387398"/>
                  </a:moveTo>
                  <a:lnTo>
                    <a:pt x="25846" y="409889"/>
                  </a:lnTo>
                  <a:lnTo>
                    <a:pt x="25846" y="422018"/>
                  </a:lnTo>
                  <a:lnTo>
                    <a:pt x="23261" y="425302"/>
                  </a:lnTo>
                  <a:lnTo>
                    <a:pt x="32587" y="425302"/>
                  </a:lnTo>
                  <a:lnTo>
                    <a:pt x="41147" y="387398"/>
                  </a:lnTo>
                  <a:close/>
                </a:path>
                <a:path w="41275" h="478789">
                  <a:moveTo>
                    <a:pt x="23261" y="0"/>
                  </a:moveTo>
                  <a:lnTo>
                    <a:pt x="17885" y="0"/>
                  </a:lnTo>
                  <a:lnTo>
                    <a:pt x="15404" y="3344"/>
                  </a:lnTo>
                  <a:lnTo>
                    <a:pt x="15404" y="410041"/>
                  </a:lnTo>
                  <a:lnTo>
                    <a:pt x="20573" y="417639"/>
                  </a:lnTo>
                  <a:lnTo>
                    <a:pt x="25742" y="410041"/>
                  </a:lnTo>
                  <a:lnTo>
                    <a:pt x="25846" y="3344"/>
                  </a:lnTo>
                  <a:lnTo>
                    <a:pt x="23261" y="0"/>
                  </a:lnTo>
                  <a:close/>
                </a:path>
                <a:path w="41275" h="478789">
                  <a:moveTo>
                    <a:pt x="25846" y="410041"/>
                  </a:moveTo>
                  <a:lnTo>
                    <a:pt x="20573" y="417639"/>
                  </a:lnTo>
                  <a:lnTo>
                    <a:pt x="25846" y="417639"/>
                  </a:lnTo>
                  <a:lnTo>
                    <a:pt x="25846" y="410041"/>
                  </a:lnTo>
                  <a:close/>
                </a:path>
              </a:pathLst>
            </a:custGeom>
            <a:solidFill>
              <a:srgbClr val="000000"/>
            </a:solidFill>
          </p:spPr>
          <p:txBody>
            <a:bodyPr wrap="square" lIns="0" tIns="0" rIns="0" bIns="0" rtlCol="0"/>
            <a:lstStyle/>
            <a:p/>
          </p:txBody>
        </p:sp>
        <p:sp>
          <p:nvSpPr>
            <p:cNvPr id="111" name="object 111" descr=""/>
            <p:cNvSpPr/>
            <p:nvPr/>
          </p:nvSpPr>
          <p:spPr>
            <a:xfrm>
              <a:off x="9419261" y="3116318"/>
              <a:ext cx="41275" cy="478790"/>
            </a:xfrm>
            <a:custGeom>
              <a:avLst/>
              <a:gdLst/>
              <a:ahLst/>
              <a:cxnLst/>
              <a:rect l="l" t="t" r="r" b="b"/>
              <a:pathLst>
                <a:path w="41275" h="478789">
                  <a:moveTo>
                    <a:pt x="25846" y="7754"/>
                  </a:moveTo>
                  <a:lnTo>
                    <a:pt x="25846" y="417639"/>
                  </a:lnTo>
                  <a:lnTo>
                    <a:pt x="25846" y="422018"/>
                  </a:lnTo>
                  <a:lnTo>
                    <a:pt x="23261" y="425302"/>
                  </a:lnTo>
                  <a:lnTo>
                    <a:pt x="20573" y="425302"/>
                  </a:lnTo>
                  <a:lnTo>
                    <a:pt x="17885" y="425302"/>
                  </a:lnTo>
                  <a:lnTo>
                    <a:pt x="15404" y="422018"/>
                  </a:lnTo>
                  <a:lnTo>
                    <a:pt x="15404" y="417639"/>
                  </a:lnTo>
                  <a:lnTo>
                    <a:pt x="15404" y="7754"/>
                  </a:lnTo>
                  <a:lnTo>
                    <a:pt x="15404" y="3344"/>
                  </a:lnTo>
                  <a:lnTo>
                    <a:pt x="17885" y="0"/>
                  </a:lnTo>
                  <a:lnTo>
                    <a:pt x="20573" y="0"/>
                  </a:lnTo>
                  <a:lnTo>
                    <a:pt x="23261" y="0"/>
                  </a:lnTo>
                  <a:lnTo>
                    <a:pt x="25846" y="3344"/>
                  </a:lnTo>
                  <a:lnTo>
                    <a:pt x="25846" y="7754"/>
                  </a:lnTo>
                  <a:close/>
                </a:path>
                <a:path w="41275" h="478789">
                  <a:moveTo>
                    <a:pt x="20573" y="417639"/>
                  </a:moveTo>
                  <a:lnTo>
                    <a:pt x="41147" y="387398"/>
                  </a:lnTo>
                  <a:lnTo>
                    <a:pt x="20573" y="478501"/>
                  </a:lnTo>
                  <a:lnTo>
                    <a:pt x="0" y="387398"/>
                  </a:lnTo>
                  <a:lnTo>
                    <a:pt x="20573" y="417639"/>
                  </a:lnTo>
                  <a:close/>
                </a:path>
              </a:pathLst>
            </a:custGeom>
            <a:ln w="3175">
              <a:solidFill>
                <a:srgbClr val="000000"/>
              </a:solidFill>
            </a:ln>
          </p:spPr>
          <p:txBody>
            <a:bodyPr wrap="square" lIns="0" tIns="0" rIns="0" bIns="0" rtlCol="0"/>
            <a:lstStyle/>
            <a:p/>
          </p:txBody>
        </p:sp>
        <p:sp>
          <p:nvSpPr>
            <p:cNvPr id="112" name="object 112" descr=""/>
            <p:cNvSpPr/>
            <p:nvPr/>
          </p:nvSpPr>
          <p:spPr>
            <a:xfrm>
              <a:off x="10057457" y="3371441"/>
              <a:ext cx="24130" cy="46990"/>
            </a:xfrm>
            <a:custGeom>
              <a:avLst/>
              <a:gdLst/>
              <a:ahLst/>
              <a:cxnLst/>
              <a:rect l="l" t="t" r="r" b="b"/>
              <a:pathLst>
                <a:path w="24129" h="46989">
                  <a:moveTo>
                    <a:pt x="12199" y="0"/>
                  </a:moveTo>
                  <a:lnTo>
                    <a:pt x="7458" y="1860"/>
                  </a:lnTo>
                  <a:lnTo>
                    <a:pt x="3579" y="6898"/>
                  </a:lnTo>
                  <a:lnTo>
                    <a:pt x="961" y="14303"/>
                  </a:lnTo>
                  <a:lnTo>
                    <a:pt x="0" y="23262"/>
                  </a:lnTo>
                  <a:lnTo>
                    <a:pt x="961" y="32308"/>
                  </a:lnTo>
                  <a:lnTo>
                    <a:pt x="3579" y="39758"/>
                  </a:lnTo>
                  <a:lnTo>
                    <a:pt x="7458" y="44813"/>
                  </a:lnTo>
                  <a:lnTo>
                    <a:pt x="12199" y="46676"/>
                  </a:lnTo>
                  <a:lnTo>
                    <a:pt x="16728" y="44813"/>
                  </a:lnTo>
                  <a:lnTo>
                    <a:pt x="20444" y="39758"/>
                  </a:lnTo>
                  <a:lnTo>
                    <a:pt x="22957" y="32308"/>
                  </a:lnTo>
                  <a:lnTo>
                    <a:pt x="23881" y="23262"/>
                  </a:lnTo>
                  <a:lnTo>
                    <a:pt x="22957" y="14303"/>
                  </a:lnTo>
                  <a:lnTo>
                    <a:pt x="20444" y="6898"/>
                  </a:lnTo>
                  <a:lnTo>
                    <a:pt x="16728" y="1860"/>
                  </a:lnTo>
                  <a:lnTo>
                    <a:pt x="12199" y="0"/>
                  </a:lnTo>
                  <a:close/>
                </a:path>
              </a:pathLst>
            </a:custGeom>
            <a:solidFill>
              <a:srgbClr val="000000"/>
            </a:solidFill>
          </p:spPr>
          <p:txBody>
            <a:bodyPr wrap="square" lIns="0" tIns="0" rIns="0" bIns="0" rtlCol="0"/>
            <a:lstStyle/>
            <a:p/>
          </p:txBody>
        </p:sp>
        <p:sp>
          <p:nvSpPr>
            <p:cNvPr id="113" name="object 113" descr=""/>
            <p:cNvSpPr/>
            <p:nvPr/>
          </p:nvSpPr>
          <p:spPr>
            <a:xfrm>
              <a:off x="10057457" y="3371441"/>
              <a:ext cx="24130" cy="46990"/>
            </a:xfrm>
            <a:custGeom>
              <a:avLst/>
              <a:gdLst/>
              <a:ahLst/>
              <a:cxnLst/>
              <a:rect l="l" t="t" r="r" b="b"/>
              <a:pathLst>
                <a:path w="24129" h="46989">
                  <a:moveTo>
                    <a:pt x="12199" y="0"/>
                  </a:moveTo>
                  <a:lnTo>
                    <a:pt x="7458" y="1860"/>
                  </a:lnTo>
                  <a:lnTo>
                    <a:pt x="3579" y="6898"/>
                  </a:lnTo>
                  <a:lnTo>
                    <a:pt x="961" y="14303"/>
                  </a:lnTo>
                  <a:lnTo>
                    <a:pt x="0" y="23262"/>
                  </a:lnTo>
                  <a:lnTo>
                    <a:pt x="961" y="32308"/>
                  </a:lnTo>
                  <a:lnTo>
                    <a:pt x="3579" y="39758"/>
                  </a:lnTo>
                  <a:lnTo>
                    <a:pt x="7458" y="44813"/>
                  </a:lnTo>
                  <a:lnTo>
                    <a:pt x="12199" y="46676"/>
                  </a:lnTo>
                  <a:lnTo>
                    <a:pt x="16728" y="44813"/>
                  </a:lnTo>
                  <a:lnTo>
                    <a:pt x="20444" y="39758"/>
                  </a:lnTo>
                  <a:lnTo>
                    <a:pt x="22957" y="32308"/>
                  </a:lnTo>
                  <a:lnTo>
                    <a:pt x="23881" y="23262"/>
                  </a:lnTo>
                  <a:lnTo>
                    <a:pt x="22957" y="14303"/>
                  </a:lnTo>
                  <a:lnTo>
                    <a:pt x="20444" y="6898"/>
                  </a:lnTo>
                  <a:lnTo>
                    <a:pt x="16728" y="1860"/>
                  </a:lnTo>
                  <a:lnTo>
                    <a:pt x="12199" y="0"/>
                  </a:lnTo>
                </a:path>
              </a:pathLst>
            </a:custGeom>
            <a:ln w="8446">
              <a:solidFill>
                <a:srgbClr val="000000"/>
              </a:solidFill>
            </a:ln>
          </p:spPr>
          <p:txBody>
            <a:bodyPr wrap="square" lIns="0" tIns="0" rIns="0" bIns="0" rtlCol="0"/>
            <a:lstStyle/>
            <a:p/>
          </p:txBody>
        </p:sp>
        <p:sp>
          <p:nvSpPr>
            <p:cNvPr id="114" name="object 114" descr=""/>
            <p:cNvSpPr/>
            <p:nvPr/>
          </p:nvSpPr>
          <p:spPr>
            <a:xfrm>
              <a:off x="11035273" y="3377675"/>
              <a:ext cx="24130" cy="46355"/>
            </a:xfrm>
            <a:custGeom>
              <a:avLst/>
              <a:gdLst/>
              <a:ahLst/>
              <a:cxnLst/>
              <a:rect l="l" t="t" r="r" b="b"/>
              <a:pathLst>
                <a:path w="24129" h="46354">
                  <a:moveTo>
                    <a:pt x="12199" y="0"/>
                  </a:moveTo>
                  <a:lnTo>
                    <a:pt x="7458" y="1838"/>
                  </a:lnTo>
                  <a:lnTo>
                    <a:pt x="3579" y="6841"/>
                  </a:lnTo>
                  <a:lnTo>
                    <a:pt x="961" y="14239"/>
                  </a:lnTo>
                  <a:lnTo>
                    <a:pt x="0" y="23262"/>
                  </a:lnTo>
                  <a:lnTo>
                    <a:pt x="961" y="32237"/>
                  </a:lnTo>
                  <a:lnTo>
                    <a:pt x="3579" y="39530"/>
                  </a:lnTo>
                  <a:lnTo>
                    <a:pt x="7458" y="44429"/>
                  </a:lnTo>
                  <a:lnTo>
                    <a:pt x="12199" y="46220"/>
                  </a:lnTo>
                  <a:lnTo>
                    <a:pt x="16761" y="44429"/>
                  </a:lnTo>
                  <a:lnTo>
                    <a:pt x="20547" y="39530"/>
                  </a:lnTo>
                  <a:lnTo>
                    <a:pt x="23132" y="32237"/>
                  </a:lnTo>
                  <a:lnTo>
                    <a:pt x="24088" y="23262"/>
                  </a:lnTo>
                  <a:lnTo>
                    <a:pt x="23132" y="14239"/>
                  </a:lnTo>
                  <a:lnTo>
                    <a:pt x="20547" y="6841"/>
                  </a:lnTo>
                  <a:lnTo>
                    <a:pt x="16761" y="1838"/>
                  </a:lnTo>
                  <a:lnTo>
                    <a:pt x="12199" y="0"/>
                  </a:lnTo>
                  <a:close/>
                </a:path>
              </a:pathLst>
            </a:custGeom>
            <a:solidFill>
              <a:srgbClr val="000000"/>
            </a:solidFill>
          </p:spPr>
          <p:txBody>
            <a:bodyPr wrap="square" lIns="0" tIns="0" rIns="0" bIns="0" rtlCol="0"/>
            <a:lstStyle/>
            <a:p/>
          </p:txBody>
        </p:sp>
        <p:sp>
          <p:nvSpPr>
            <p:cNvPr id="115" name="object 115" descr=""/>
            <p:cNvSpPr/>
            <p:nvPr/>
          </p:nvSpPr>
          <p:spPr>
            <a:xfrm>
              <a:off x="11035273" y="3377675"/>
              <a:ext cx="24130" cy="46355"/>
            </a:xfrm>
            <a:custGeom>
              <a:avLst/>
              <a:gdLst/>
              <a:ahLst/>
              <a:cxnLst/>
              <a:rect l="l" t="t" r="r" b="b"/>
              <a:pathLst>
                <a:path w="24129" h="46354">
                  <a:moveTo>
                    <a:pt x="12199" y="0"/>
                  </a:moveTo>
                  <a:lnTo>
                    <a:pt x="7458" y="1838"/>
                  </a:lnTo>
                  <a:lnTo>
                    <a:pt x="3579" y="6841"/>
                  </a:lnTo>
                  <a:lnTo>
                    <a:pt x="961" y="14239"/>
                  </a:lnTo>
                  <a:lnTo>
                    <a:pt x="0" y="23262"/>
                  </a:lnTo>
                  <a:lnTo>
                    <a:pt x="961" y="32237"/>
                  </a:lnTo>
                  <a:lnTo>
                    <a:pt x="3579" y="39530"/>
                  </a:lnTo>
                  <a:lnTo>
                    <a:pt x="7458" y="44429"/>
                  </a:lnTo>
                  <a:lnTo>
                    <a:pt x="12199" y="46220"/>
                  </a:lnTo>
                  <a:lnTo>
                    <a:pt x="16761" y="44429"/>
                  </a:lnTo>
                  <a:lnTo>
                    <a:pt x="20547" y="39530"/>
                  </a:lnTo>
                  <a:lnTo>
                    <a:pt x="23132" y="32237"/>
                  </a:lnTo>
                  <a:lnTo>
                    <a:pt x="24088" y="23262"/>
                  </a:lnTo>
                  <a:lnTo>
                    <a:pt x="23132" y="14239"/>
                  </a:lnTo>
                  <a:lnTo>
                    <a:pt x="20547" y="6841"/>
                  </a:lnTo>
                  <a:lnTo>
                    <a:pt x="16761" y="1838"/>
                  </a:lnTo>
                  <a:lnTo>
                    <a:pt x="12199" y="0"/>
                  </a:lnTo>
                </a:path>
              </a:pathLst>
            </a:custGeom>
            <a:ln w="8468">
              <a:solidFill>
                <a:srgbClr val="000000"/>
              </a:solidFill>
            </a:ln>
          </p:spPr>
          <p:txBody>
            <a:bodyPr wrap="square" lIns="0" tIns="0" rIns="0" bIns="0" rtlCol="0"/>
            <a:lstStyle/>
            <a:p/>
          </p:txBody>
        </p:sp>
        <p:sp>
          <p:nvSpPr>
            <p:cNvPr id="116" name="object 116" descr=""/>
            <p:cNvSpPr/>
            <p:nvPr/>
          </p:nvSpPr>
          <p:spPr>
            <a:xfrm>
              <a:off x="11426482" y="3383909"/>
              <a:ext cx="24130" cy="46355"/>
            </a:xfrm>
            <a:custGeom>
              <a:avLst/>
              <a:gdLst/>
              <a:ahLst/>
              <a:cxnLst/>
              <a:rect l="l" t="t" r="r" b="b"/>
              <a:pathLst>
                <a:path w="24129" h="46354">
                  <a:moveTo>
                    <a:pt x="11889" y="0"/>
                  </a:moveTo>
                  <a:lnTo>
                    <a:pt x="7327" y="1791"/>
                  </a:lnTo>
                  <a:lnTo>
                    <a:pt x="3540" y="6689"/>
                  </a:lnTo>
                  <a:lnTo>
                    <a:pt x="956" y="13982"/>
                  </a:lnTo>
                  <a:lnTo>
                    <a:pt x="0" y="22958"/>
                  </a:lnTo>
                  <a:lnTo>
                    <a:pt x="956" y="32109"/>
                  </a:lnTo>
                  <a:lnTo>
                    <a:pt x="3540" y="39492"/>
                  </a:lnTo>
                  <a:lnTo>
                    <a:pt x="7327" y="44424"/>
                  </a:lnTo>
                  <a:lnTo>
                    <a:pt x="11889" y="46220"/>
                  </a:lnTo>
                  <a:lnTo>
                    <a:pt x="16598" y="44424"/>
                  </a:lnTo>
                  <a:lnTo>
                    <a:pt x="20405" y="39492"/>
                  </a:lnTo>
                  <a:lnTo>
                    <a:pt x="22953" y="32109"/>
                  </a:lnTo>
                  <a:lnTo>
                    <a:pt x="23881" y="22958"/>
                  </a:lnTo>
                  <a:lnTo>
                    <a:pt x="22953" y="13982"/>
                  </a:lnTo>
                  <a:lnTo>
                    <a:pt x="20405" y="6689"/>
                  </a:lnTo>
                  <a:lnTo>
                    <a:pt x="16598" y="1791"/>
                  </a:lnTo>
                  <a:lnTo>
                    <a:pt x="11889" y="0"/>
                  </a:lnTo>
                  <a:close/>
                </a:path>
              </a:pathLst>
            </a:custGeom>
            <a:solidFill>
              <a:srgbClr val="000000"/>
            </a:solidFill>
          </p:spPr>
          <p:txBody>
            <a:bodyPr wrap="square" lIns="0" tIns="0" rIns="0" bIns="0" rtlCol="0"/>
            <a:lstStyle/>
            <a:p/>
          </p:txBody>
        </p:sp>
        <p:sp>
          <p:nvSpPr>
            <p:cNvPr id="117" name="object 117" descr=""/>
            <p:cNvSpPr/>
            <p:nvPr/>
          </p:nvSpPr>
          <p:spPr>
            <a:xfrm>
              <a:off x="11426482" y="3383909"/>
              <a:ext cx="24130" cy="46355"/>
            </a:xfrm>
            <a:custGeom>
              <a:avLst/>
              <a:gdLst/>
              <a:ahLst/>
              <a:cxnLst/>
              <a:rect l="l" t="t" r="r" b="b"/>
              <a:pathLst>
                <a:path w="24129" h="46354">
                  <a:moveTo>
                    <a:pt x="11889" y="0"/>
                  </a:moveTo>
                  <a:lnTo>
                    <a:pt x="7327" y="1791"/>
                  </a:lnTo>
                  <a:lnTo>
                    <a:pt x="3540" y="6689"/>
                  </a:lnTo>
                  <a:lnTo>
                    <a:pt x="956" y="13982"/>
                  </a:lnTo>
                  <a:lnTo>
                    <a:pt x="0" y="22958"/>
                  </a:lnTo>
                  <a:lnTo>
                    <a:pt x="956" y="32109"/>
                  </a:lnTo>
                  <a:lnTo>
                    <a:pt x="3540" y="39492"/>
                  </a:lnTo>
                  <a:lnTo>
                    <a:pt x="7327" y="44424"/>
                  </a:lnTo>
                  <a:lnTo>
                    <a:pt x="11889" y="46220"/>
                  </a:lnTo>
                  <a:lnTo>
                    <a:pt x="16598" y="44424"/>
                  </a:lnTo>
                  <a:lnTo>
                    <a:pt x="20405" y="39492"/>
                  </a:lnTo>
                  <a:lnTo>
                    <a:pt x="22953" y="32109"/>
                  </a:lnTo>
                  <a:lnTo>
                    <a:pt x="23881" y="22958"/>
                  </a:lnTo>
                  <a:lnTo>
                    <a:pt x="22953" y="13982"/>
                  </a:lnTo>
                  <a:lnTo>
                    <a:pt x="20405" y="6689"/>
                  </a:lnTo>
                  <a:lnTo>
                    <a:pt x="16598" y="1791"/>
                  </a:lnTo>
                  <a:lnTo>
                    <a:pt x="11889" y="0"/>
                  </a:lnTo>
                </a:path>
              </a:pathLst>
            </a:custGeom>
            <a:ln w="8458">
              <a:solidFill>
                <a:srgbClr val="000000"/>
              </a:solidFill>
            </a:ln>
          </p:spPr>
          <p:txBody>
            <a:bodyPr wrap="square" lIns="0" tIns="0" rIns="0" bIns="0" rtlCol="0"/>
            <a:lstStyle/>
            <a:p/>
          </p:txBody>
        </p:sp>
        <p:sp>
          <p:nvSpPr>
            <p:cNvPr id="118" name="object 118" descr=""/>
            <p:cNvSpPr/>
            <p:nvPr/>
          </p:nvSpPr>
          <p:spPr>
            <a:xfrm>
              <a:off x="10640342" y="2954547"/>
              <a:ext cx="24130" cy="46990"/>
            </a:xfrm>
            <a:custGeom>
              <a:avLst/>
              <a:gdLst/>
              <a:ahLst/>
              <a:cxnLst/>
              <a:rect l="l" t="t" r="r" b="b"/>
              <a:pathLst>
                <a:path w="24129" h="46989">
                  <a:moveTo>
                    <a:pt x="11682" y="0"/>
                  </a:moveTo>
                  <a:lnTo>
                    <a:pt x="7109" y="1862"/>
                  </a:lnTo>
                  <a:lnTo>
                    <a:pt x="3398" y="6917"/>
                  </a:lnTo>
                  <a:lnTo>
                    <a:pt x="909" y="14367"/>
                  </a:lnTo>
                  <a:lnTo>
                    <a:pt x="0" y="23414"/>
                  </a:lnTo>
                  <a:lnTo>
                    <a:pt x="909" y="32389"/>
                  </a:lnTo>
                  <a:lnTo>
                    <a:pt x="3398" y="39682"/>
                  </a:lnTo>
                  <a:lnTo>
                    <a:pt x="7109" y="44581"/>
                  </a:lnTo>
                  <a:lnTo>
                    <a:pt x="11682" y="46372"/>
                  </a:lnTo>
                  <a:lnTo>
                    <a:pt x="16375" y="44581"/>
                  </a:lnTo>
                  <a:lnTo>
                    <a:pt x="20147" y="39682"/>
                  </a:lnTo>
                  <a:lnTo>
                    <a:pt x="22659" y="32389"/>
                  </a:lnTo>
                  <a:lnTo>
                    <a:pt x="23571" y="23414"/>
                  </a:lnTo>
                  <a:lnTo>
                    <a:pt x="22659" y="14367"/>
                  </a:lnTo>
                  <a:lnTo>
                    <a:pt x="20147" y="6917"/>
                  </a:lnTo>
                  <a:lnTo>
                    <a:pt x="16375" y="1862"/>
                  </a:lnTo>
                  <a:lnTo>
                    <a:pt x="11682" y="0"/>
                  </a:lnTo>
                  <a:close/>
                </a:path>
              </a:pathLst>
            </a:custGeom>
            <a:solidFill>
              <a:srgbClr val="000000"/>
            </a:solidFill>
          </p:spPr>
          <p:txBody>
            <a:bodyPr wrap="square" lIns="0" tIns="0" rIns="0" bIns="0" rtlCol="0"/>
            <a:lstStyle/>
            <a:p/>
          </p:txBody>
        </p:sp>
        <p:sp>
          <p:nvSpPr>
            <p:cNvPr id="119" name="object 119" descr=""/>
            <p:cNvSpPr/>
            <p:nvPr/>
          </p:nvSpPr>
          <p:spPr>
            <a:xfrm>
              <a:off x="10640342" y="2954547"/>
              <a:ext cx="24130" cy="46990"/>
            </a:xfrm>
            <a:custGeom>
              <a:avLst/>
              <a:gdLst/>
              <a:ahLst/>
              <a:cxnLst/>
              <a:rect l="l" t="t" r="r" b="b"/>
              <a:pathLst>
                <a:path w="24129" h="46989">
                  <a:moveTo>
                    <a:pt x="11682" y="0"/>
                  </a:moveTo>
                  <a:lnTo>
                    <a:pt x="7109" y="1862"/>
                  </a:lnTo>
                  <a:lnTo>
                    <a:pt x="3398" y="6917"/>
                  </a:lnTo>
                  <a:lnTo>
                    <a:pt x="909" y="14367"/>
                  </a:lnTo>
                  <a:lnTo>
                    <a:pt x="0" y="23414"/>
                  </a:lnTo>
                  <a:lnTo>
                    <a:pt x="909" y="32389"/>
                  </a:lnTo>
                  <a:lnTo>
                    <a:pt x="3398" y="39682"/>
                  </a:lnTo>
                  <a:lnTo>
                    <a:pt x="7109" y="44581"/>
                  </a:lnTo>
                  <a:lnTo>
                    <a:pt x="11682" y="46372"/>
                  </a:lnTo>
                  <a:lnTo>
                    <a:pt x="16375" y="44581"/>
                  </a:lnTo>
                  <a:lnTo>
                    <a:pt x="20147" y="39682"/>
                  </a:lnTo>
                  <a:lnTo>
                    <a:pt x="22659" y="32389"/>
                  </a:lnTo>
                  <a:lnTo>
                    <a:pt x="23571" y="23414"/>
                  </a:lnTo>
                  <a:lnTo>
                    <a:pt x="22659" y="14367"/>
                  </a:lnTo>
                  <a:lnTo>
                    <a:pt x="20147" y="6917"/>
                  </a:lnTo>
                  <a:lnTo>
                    <a:pt x="16375" y="1862"/>
                  </a:lnTo>
                  <a:lnTo>
                    <a:pt x="11682" y="0"/>
                  </a:lnTo>
                </a:path>
              </a:pathLst>
            </a:custGeom>
            <a:ln w="8438">
              <a:solidFill>
                <a:srgbClr val="000000"/>
              </a:solidFill>
            </a:ln>
          </p:spPr>
          <p:txBody>
            <a:bodyPr wrap="square" lIns="0" tIns="0" rIns="0" bIns="0" rtlCol="0"/>
            <a:lstStyle/>
            <a:p/>
          </p:txBody>
        </p:sp>
        <p:sp>
          <p:nvSpPr>
            <p:cNvPr id="120" name="object 120" descr=""/>
            <p:cNvSpPr/>
            <p:nvPr/>
          </p:nvSpPr>
          <p:spPr>
            <a:xfrm>
              <a:off x="10861482" y="2817255"/>
              <a:ext cx="24130" cy="46355"/>
            </a:xfrm>
            <a:custGeom>
              <a:avLst/>
              <a:gdLst/>
              <a:ahLst/>
              <a:cxnLst/>
              <a:rect l="l" t="t" r="r" b="b"/>
              <a:pathLst>
                <a:path w="24129" h="46355">
                  <a:moveTo>
                    <a:pt x="11992" y="0"/>
                  </a:moveTo>
                  <a:lnTo>
                    <a:pt x="7371" y="1791"/>
                  </a:lnTo>
                  <a:lnTo>
                    <a:pt x="3553" y="6689"/>
                  </a:lnTo>
                  <a:lnTo>
                    <a:pt x="957" y="13982"/>
                  </a:lnTo>
                  <a:lnTo>
                    <a:pt x="0" y="22958"/>
                  </a:lnTo>
                  <a:lnTo>
                    <a:pt x="957" y="31980"/>
                  </a:lnTo>
                  <a:lnTo>
                    <a:pt x="3553" y="39378"/>
                  </a:lnTo>
                  <a:lnTo>
                    <a:pt x="7371" y="44381"/>
                  </a:lnTo>
                  <a:lnTo>
                    <a:pt x="11992" y="46220"/>
                  </a:lnTo>
                  <a:lnTo>
                    <a:pt x="16674" y="44381"/>
                  </a:lnTo>
                  <a:lnTo>
                    <a:pt x="20521" y="39378"/>
                  </a:lnTo>
                  <a:lnTo>
                    <a:pt x="23129" y="31980"/>
                  </a:lnTo>
                  <a:lnTo>
                    <a:pt x="24088" y="22958"/>
                  </a:lnTo>
                  <a:lnTo>
                    <a:pt x="23129" y="13982"/>
                  </a:lnTo>
                  <a:lnTo>
                    <a:pt x="20521" y="6689"/>
                  </a:lnTo>
                  <a:lnTo>
                    <a:pt x="16674" y="1791"/>
                  </a:lnTo>
                  <a:lnTo>
                    <a:pt x="11992" y="0"/>
                  </a:lnTo>
                  <a:close/>
                </a:path>
              </a:pathLst>
            </a:custGeom>
            <a:solidFill>
              <a:srgbClr val="000000"/>
            </a:solidFill>
          </p:spPr>
          <p:txBody>
            <a:bodyPr wrap="square" lIns="0" tIns="0" rIns="0" bIns="0" rtlCol="0"/>
            <a:lstStyle/>
            <a:p/>
          </p:txBody>
        </p:sp>
        <p:sp>
          <p:nvSpPr>
            <p:cNvPr id="121" name="object 121" descr=""/>
            <p:cNvSpPr/>
            <p:nvPr/>
          </p:nvSpPr>
          <p:spPr>
            <a:xfrm>
              <a:off x="10861482" y="2817255"/>
              <a:ext cx="24130" cy="46355"/>
            </a:xfrm>
            <a:custGeom>
              <a:avLst/>
              <a:gdLst/>
              <a:ahLst/>
              <a:cxnLst/>
              <a:rect l="l" t="t" r="r" b="b"/>
              <a:pathLst>
                <a:path w="24129" h="46355">
                  <a:moveTo>
                    <a:pt x="11992" y="0"/>
                  </a:moveTo>
                  <a:lnTo>
                    <a:pt x="7371" y="1791"/>
                  </a:lnTo>
                  <a:lnTo>
                    <a:pt x="3553" y="6689"/>
                  </a:lnTo>
                  <a:lnTo>
                    <a:pt x="957" y="13982"/>
                  </a:lnTo>
                  <a:lnTo>
                    <a:pt x="0" y="22958"/>
                  </a:lnTo>
                  <a:lnTo>
                    <a:pt x="957" y="31980"/>
                  </a:lnTo>
                  <a:lnTo>
                    <a:pt x="3553" y="39378"/>
                  </a:lnTo>
                  <a:lnTo>
                    <a:pt x="7371" y="44381"/>
                  </a:lnTo>
                  <a:lnTo>
                    <a:pt x="11992" y="46220"/>
                  </a:lnTo>
                  <a:lnTo>
                    <a:pt x="16674" y="44381"/>
                  </a:lnTo>
                  <a:lnTo>
                    <a:pt x="20521" y="39378"/>
                  </a:lnTo>
                  <a:lnTo>
                    <a:pt x="23129" y="31980"/>
                  </a:lnTo>
                  <a:lnTo>
                    <a:pt x="24088" y="22958"/>
                  </a:lnTo>
                  <a:lnTo>
                    <a:pt x="23129" y="13982"/>
                  </a:lnTo>
                  <a:lnTo>
                    <a:pt x="20521" y="6689"/>
                  </a:lnTo>
                  <a:lnTo>
                    <a:pt x="16674" y="1791"/>
                  </a:lnTo>
                  <a:lnTo>
                    <a:pt x="11992" y="0"/>
                  </a:lnTo>
                </a:path>
              </a:pathLst>
            </a:custGeom>
            <a:ln w="8468">
              <a:solidFill>
                <a:srgbClr val="000000"/>
              </a:solidFill>
            </a:ln>
          </p:spPr>
          <p:txBody>
            <a:bodyPr wrap="square" lIns="0" tIns="0" rIns="0" bIns="0" rtlCol="0"/>
            <a:lstStyle/>
            <a:p/>
          </p:txBody>
        </p:sp>
        <p:sp>
          <p:nvSpPr>
            <p:cNvPr id="122" name="object 122" descr=""/>
            <p:cNvSpPr/>
            <p:nvPr/>
          </p:nvSpPr>
          <p:spPr>
            <a:xfrm>
              <a:off x="10868926" y="2669624"/>
              <a:ext cx="939800" cy="61594"/>
            </a:xfrm>
            <a:custGeom>
              <a:avLst/>
              <a:gdLst/>
              <a:ahLst/>
              <a:cxnLst/>
              <a:rect l="l" t="t" r="r" b="b"/>
              <a:pathLst>
                <a:path w="939800" h="61594">
                  <a:moveTo>
                    <a:pt x="877325" y="0"/>
                  </a:moveTo>
                  <a:lnTo>
                    <a:pt x="898209" y="30712"/>
                  </a:lnTo>
                  <a:lnTo>
                    <a:pt x="877325" y="60968"/>
                  </a:lnTo>
                  <a:lnTo>
                    <a:pt x="924394" y="38010"/>
                  </a:lnTo>
                  <a:lnTo>
                    <a:pt x="900897" y="38010"/>
                  </a:lnTo>
                  <a:lnTo>
                    <a:pt x="903378" y="34665"/>
                  </a:lnTo>
                  <a:lnTo>
                    <a:pt x="903378" y="26302"/>
                  </a:lnTo>
                  <a:lnTo>
                    <a:pt x="900897" y="22958"/>
                  </a:lnTo>
                  <a:lnTo>
                    <a:pt x="923695" y="22958"/>
                  </a:lnTo>
                  <a:lnTo>
                    <a:pt x="877325" y="0"/>
                  </a:lnTo>
                  <a:close/>
                </a:path>
                <a:path w="939800" h="61594">
                  <a:moveTo>
                    <a:pt x="892936" y="22958"/>
                  </a:moveTo>
                  <a:lnTo>
                    <a:pt x="2274" y="22958"/>
                  </a:lnTo>
                  <a:lnTo>
                    <a:pt x="0" y="26302"/>
                  </a:lnTo>
                  <a:lnTo>
                    <a:pt x="0" y="34665"/>
                  </a:lnTo>
                  <a:lnTo>
                    <a:pt x="2274" y="38010"/>
                  </a:lnTo>
                  <a:lnTo>
                    <a:pt x="893172" y="38010"/>
                  </a:lnTo>
                  <a:lnTo>
                    <a:pt x="898209" y="30712"/>
                  </a:lnTo>
                  <a:lnTo>
                    <a:pt x="892936" y="22958"/>
                  </a:lnTo>
                  <a:close/>
                </a:path>
                <a:path w="939800" h="61594">
                  <a:moveTo>
                    <a:pt x="923695" y="22958"/>
                  </a:moveTo>
                  <a:lnTo>
                    <a:pt x="900897" y="22958"/>
                  </a:lnTo>
                  <a:lnTo>
                    <a:pt x="903378" y="26302"/>
                  </a:lnTo>
                  <a:lnTo>
                    <a:pt x="903378" y="34665"/>
                  </a:lnTo>
                  <a:lnTo>
                    <a:pt x="900897" y="38010"/>
                  </a:lnTo>
                  <a:lnTo>
                    <a:pt x="924394" y="38010"/>
                  </a:lnTo>
                  <a:lnTo>
                    <a:pt x="939356" y="30712"/>
                  </a:lnTo>
                  <a:lnTo>
                    <a:pt x="923695" y="22958"/>
                  </a:lnTo>
                  <a:close/>
                </a:path>
              </a:pathLst>
            </a:custGeom>
            <a:solidFill>
              <a:srgbClr val="000000"/>
            </a:solidFill>
          </p:spPr>
          <p:txBody>
            <a:bodyPr wrap="square" lIns="0" tIns="0" rIns="0" bIns="0" rtlCol="0"/>
            <a:lstStyle/>
            <a:p/>
          </p:txBody>
        </p:sp>
        <p:sp>
          <p:nvSpPr>
            <p:cNvPr id="123" name="object 123" descr=""/>
            <p:cNvSpPr/>
            <p:nvPr/>
          </p:nvSpPr>
          <p:spPr>
            <a:xfrm>
              <a:off x="10868926" y="2669624"/>
              <a:ext cx="939800" cy="61594"/>
            </a:xfrm>
            <a:custGeom>
              <a:avLst/>
              <a:gdLst/>
              <a:ahLst/>
              <a:cxnLst/>
              <a:rect l="l" t="t" r="r" b="b"/>
              <a:pathLst>
                <a:path w="939800" h="61594">
                  <a:moveTo>
                    <a:pt x="4962" y="22958"/>
                  </a:moveTo>
                  <a:lnTo>
                    <a:pt x="898209" y="22958"/>
                  </a:lnTo>
                  <a:lnTo>
                    <a:pt x="900897" y="22958"/>
                  </a:lnTo>
                  <a:lnTo>
                    <a:pt x="903378" y="26302"/>
                  </a:lnTo>
                  <a:lnTo>
                    <a:pt x="903378" y="30712"/>
                  </a:lnTo>
                  <a:lnTo>
                    <a:pt x="903378" y="34665"/>
                  </a:lnTo>
                  <a:lnTo>
                    <a:pt x="900897" y="38010"/>
                  </a:lnTo>
                  <a:lnTo>
                    <a:pt x="898209" y="38010"/>
                  </a:lnTo>
                  <a:lnTo>
                    <a:pt x="4962" y="38010"/>
                  </a:lnTo>
                  <a:lnTo>
                    <a:pt x="2274" y="38010"/>
                  </a:lnTo>
                  <a:lnTo>
                    <a:pt x="0" y="34665"/>
                  </a:lnTo>
                  <a:lnTo>
                    <a:pt x="0" y="30712"/>
                  </a:lnTo>
                  <a:lnTo>
                    <a:pt x="0" y="26302"/>
                  </a:lnTo>
                  <a:lnTo>
                    <a:pt x="2274" y="22958"/>
                  </a:lnTo>
                  <a:lnTo>
                    <a:pt x="4962" y="22958"/>
                  </a:lnTo>
                  <a:close/>
                </a:path>
                <a:path w="939800" h="61594">
                  <a:moveTo>
                    <a:pt x="898209" y="30712"/>
                  </a:moveTo>
                  <a:lnTo>
                    <a:pt x="877325" y="0"/>
                  </a:lnTo>
                  <a:lnTo>
                    <a:pt x="939356" y="30712"/>
                  </a:lnTo>
                  <a:lnTo>
                    <a:pt x="877325" y="60968"/>
                  </a:lnTo>
                  <a:lnTo>
                    <a:pt x="898209" y="30712"/>
                  </a:lnTo>
                  <a:close/>
                </a:path>
              </a:pathLst>
            </a:custGeom>
            <a:ln w="3175">
              <a:solidFill>
                <a:srgbClr val="000000"/>
              </a:solidFill>
            </a:ln>
          </p:spPr>
          <p:txBody>
            <a:bodyPr wrap="square" lIns="0" tIns="0" rIns="0" bIns="0" rtlCol="0"/>
            <a:lstStyle/>
            <a:p/>
          </p:txBody>
        </p:sp>
        <p:sp>
          <p:nvSpPr>
            <p:cNvPr id="124" name="object 124" descr=""/>
            <p:cNvSpPr/>
            <p:nvPr/>
          </p:nvSpPr>
          <p:spPr>
            <a:xfrm>
              <a:off x="10861482" y="2682091"/>
              <a:ext cx="24130" cy="46355"/>
            </a:xfrm>
            <a:custGeom>
              <a:avLst/>
              <a:gdLst/>
              <a:ahLst/>
              <a:cxnLst/>
              <a:rect l="l" t="t" r="r" b="b"/>
              <a:pathLst>
                <a:path w="24129" h="46355">
                  <a:moveTo>
                    <a:pt x="11992" y="0"/>
                  </a:moveTo>
                  <a:lnTo>
                    <a:pt x="7371" y="1791"/>
                  </a:lnTo>
                  <a:lnTo>
                    <a:pt x="3553" y="6689"/>
                  </a:lnTo>
                  <a:lnTo>
                    <a:pt x="957" y="13982"/>
                  </a:lnTo>
                  <a:lnTo>
                    <a:pt x="0" y="22958"/>
                  </a:lnTo>
                  <a:lnTo>
                    <a:pt x="957" y="32109"/>
                  </a:lnTo>
                  <a:lnTo>
                    <a:pt x="3553" y="39492"/>
                  </a:lnTo>
                  <a:lnTo>
                    <a:pt x="7371" y="44424"/>
                  </a:lnTo>
                  <a:lnTo>
                    <a:pt x="11992" y="46220"/>
                  </a:lnTo>
                  <a:lnTo>
                    <a:pt x="16674" y="44424"/>
                  </a:lnTo>
                  <a:lnTo>
                    <a:pt x="20521" y="39492"/>
                  </a:lnTo>
                  <a:lnTo>
                    <a:pt x="23129" y="32109"/>
                  </a:lnTo>
                  <a:lnTo>
                    <a:pt x="24088" y="22958"/>
                  </a:lnTo>
                  <a:lnTo>
                    <a:pt x="23129" y="13982"/>
                  </a:lnTo>
                  <a:lnTo>
                    <a:pt x="20521" y="6689"/>
                  </a:lnTo>
                  <a:lnTo>
                    <a:pt x="16674" y="1791"/>
                  </a:lnTo>
                  <a:lnTo>
                    <a:pt x="11992" y="0"/>
                  </a:lnTo>
                  <a:close/>
                </a:path>
              </a:pathLst>
            </a:custGeom>
            <a:solidFill>
              <a:srgbClr val="000000"/>
            </a:solidFill>
          </p:spPr>
          <p:txBody>
            <a:bodyPr wrap="square" lIns="0" tIns="0" rIns="0" bIns="0" rtlCol="0"/>
            <a:lstStyle/>
            <a:p/>
          </p:txBody>
        </p:sp>
        <p:sp>
          <p:nvSpPr>
            <p:cNvPr id="125" name="object 125" descr=""/>
            <p:cNvSpPr/>
            <p:nvPr/>
          </p:nvSpPr>
          <p:spPr>
            <a:xfrm>
              <a:off x="10861482" y="2682091"/>
              <a:ext cx="24130" cy="46355"/>
            </a:xfrm>
            <a:custGeom>
              <a:avLst/>
              <a:gdLst/>
              <a:ahLst/>
              <a:cxnLst/>
              <a:rect l="l" t="t" r="r" b="b"/>
              <a:pathLst>
                <a:path w="24129" h="46355">
                  <a:moveTo>
                    <a:pt x="11992" y="0"/>
                  </a:moveTo>
                  <a:lnTo>
                    <a:pt x="7371" y="1791"/>
                  </a:lnTo>
                  <a:lnTo>
                    <a:pt x="3553" y="6689"/>
                  </a:lnTo>
                  <a:lnTo>
                    <a:pt x="957" y="13982"/>
                  </a:lnTo>
                  <a:lnTo>
                    <a:pt x="0" y="22958"/>
                  </a:lnTo>
                  <a:lnTo>
                    <a:pt x="957" y="32109"/>
                  </a:lnTo>
                  <a:lnTo>
                    <a:pt x="3553" y="39492"/>
                  </a:lnTo>
                  <a:lnTo>
                    <a:pt x="7371" y="44424"/>
                  </a:lnTo>
                  <a:lnTo>
                    <a:pt x="11992" y="46220"/>
                  </a:lnTo>
                  <a:lnTo>
                    <a:pt x="16674" y="44424"/>
                  </a:lnTo>
                  <a:lnTo>
                    <a:pt x="20521" y="39492"/>
                  </a:lnTo>
                  <a:lnTo>
                    <a:pt x="23129" y="32109"/>
                  </a:lnTo>
                  <a:lnTo>
                    <a:pt x="24088" y="22958"/>
                  </a:lnTo>
                  <a:lnTo>
                    <a:pt x="23129" y="13982"/>
                  </a:lnTo>
                  <a:lnTo>
                    <a:pt x="20521" y="6689"/>
                  </a:lnTo>
                  <a:lnTo>
                    <a:pt x="16674" y="1791"/>
                  </a:lnTo>
                  <a:lnTo>
                    <a:pt x="11992" y="0"/>
                  </a:lnTo>
                </a:path>
              </a:pathLst>
            </a:custGeom>
            <a:ln w="8468">
              <a:solidFill>
                <a:srgbClr val="000000"/>
              </a:solidFill>
            </a:ln>
          </p:spPr>
          <p:txBody>
            <a:bodyPr wrap="square" lIns="0" tIns="0" rIns="0" bIns="0" rtlCol="0"/>
            <a:lstStyle/>
            <a:p/>
          </p:txBody>
        </p:sp>
        <p:sp>
          <p:nvSpPr>
            <p:cNvPr id="126" name="object 126" descr=""/>
            <p:cNvSpPr/>
            <p:nvPr/>
          </p:nvSpPr>
          <p:spPr>
            <a:xfrm>
              <a:off x="11048920" y="4011288"/>
              <a:ext cx="41910" cy="384810"/>
            </a:xfrm>
            <a:custGeom>
              <a:avLst/>
              <a:gdLst/>
              <a:ahLst/>
              <a:cxnLst/>
              <a:rect l="l" t="t" r="r" b="b"/>
              <a:pathLst>
                <a:path w="41909" h="384810">
                  <a:moveTo>
                    <a:pt x="0" y="293331"/>
                  </a:moveTo>
                  <a:lnTo>
                    <a:pt x="20573" y="384418"/>
                  </a:lnTo>
                  <a:lnTo>
                    <a:pt x="32770" y="331219"/>
                  </a:lnTo>
                  <a:lnTo>
                    <a:pt x="17885" y="331219"/>
                  </a:lnTo>
                  <a:lnTo>
                    <a:pt x="15404" y="327950"/>
                  </a:lnTo>
                  <a:lnTo>
                    <a:pt x="15404" y="315973"/>
                  </a:lnTo>
                  <a:lnTo>
                    <a:pt x="0" y="293331"/>
                  </a:lnTo>
                  <a:close/>
                </a:path>
                <a:path w="41909" h="384810">
                  <a:moveTo>
                    <a:pt x="15404" y="315973"/>
                  </a:moveTo>
                  <a:lnTo>
                    <a:pt x="15404" y="327950"/>
                  </a:lnTo>
                  <a:lnTo>
                    <a:pt x="17885" y="331219"/>
                  </a:lnTo>
                  <a:lnTo>
                    <a:pt x="23571" y="331219"/>
                  </a:lnTo>
                  <a:lnTo>
                    <a:pt x="25846" y="327950"/>
                  </a:lnTo>
                  <a:lnTo>
                    <a:pt x="25846" y="323572"/>
                  </a:lnTo>
                  <a:lnTo>
                    <a:pt x="20573" y="323572"/>
                  </a:lnTo>
                  <a:lnTo>
                    <a:pt x="15404" y="315973"/>
                  </a:lnTo>
                  <a:close/>
                </a:path>
                <a:path w="41909" h="384810">
                  <a:moveTo>
                    <a:pt x="41457" y="293331"/>
                  </a:moveTo>
                  <a:lnTo>
                    <a:pt x="25846" y="315973"/>
                  </a:lnTo>
                  <a:lnTo>
                    <a:pt x="25846" y="327950"/>
                  </a:lnTo>
                  <a:lnTo>
                    <a:pt x="23571" y="331219"/>
                  </a:lnTo>
                  <a:lnTo>
                    <a:pt x="32770" y="331219"/>
                  </a:lnTo>
                  <a:lnTo>
                    <a:pt x="41457" y="293331"/>
                  </a:lnTo>
                  <a:close/>
                </a:path>
                <a:path w="41909" h="384810">
                  <a:moveTo>
                    <a:pt x="23571" y="0"/>
                  </a:moveTo>
                  <a:lnTo>
                    <a:pt x="17885" y="0"/>
                  </a:lnTo>
                  <a:lnTo>
                    <a:pt x="15404" y="3284"/>
                  </a:lnTo>
                  <a:lnTo>
                    <a:pt x="15404" y="315973"/>
                  </a:lnTo>
                  <a:lnTo>
                    <a:pt x="20573" y="323572"/>
                  </a:lnTo>
                  <a:lnTo>
                    <a:pt x="25820" y="315973"/>
                  </a:lnTo>
                  <a:lnTo>
                    <a:pt x="25846" y="3284"/>
                  </a:lnTo>
                  <a:lnTo>
                    <a:pt x="23571" y="0"/>
                  </a:lnTo>
                  <a:close/>
                </a:path>
                <a:path w="41909" h="384810">
                  <a:moveTo>
                    <a:pt x="25846" y="315973"/>
                  </a:moveTo>
                  <a:lnTo>
                    <a:pt x="20573" y="323572"/>
                  </a:lnTo>
                  <a:lnTo>
                    <a:pt x="25846" y="323572"/>
                  </a:lnTo>
                  <a:lnTo>
                    <a:pt x="25846" y="315973"/>
                  </a:lnTo>
                  <a:close/>
                </a:path>
              </a:pathLst>
            </a:custGeom>
            <a:solidFill>
              <a:srgbClr val="000000"/>
            </a:solidFill>
          </p:spPr>
          <p:txBody>
            <a:bodyPr wrap="square" lIns="0" tIns="0" rIns="0" bIns="0" rtlCol="0"/>
            <a:lstStyle/>
            <a:p/>
          </p:txBody>
        </p:sp>
        <p:sp>
          <p:nvSpPr>
            <p:cNvPr id="127" name="object 127" descr=""/>
            <p:cNvSpPr/>
            <p:nvPr/>
          </p:nvSpPr>
          <p:spPr>
            <a:xfrm>
              <a:off x="11048920" y="4011288"/>
              <a:ext cx="41910" cy="384810"/>
            </a:xfrm>
            <a:custGeom>
              <a:avLst/>
              <a:gdLst/>
              <a:ahLst/>
              <a:cxnLst/>
              <a:rect l="l" t="t" r="r" b="b"/>
              <a:pathLst>
                <a:path w="41909" h="384810">
                  <a:moveTo>
                    <a:pt x="25846" y="7297"/>
                  </a:moveTo>
                  <a:lnTo>
                    <a:pt x="25846" y="323572"/>
                  </a:lnTo>
                  <a:lnTo>
                    <a:pt x="25846" y="327950"/>
                  </a:lnTo>
                  <a:lnTo>
                    <a:pt x="23571" y="331219"/>
                  </a:lnTo>
                  <a:lnTo>
                    <a:pt x="20573" y="331219"/>
                  </a:lnTo>
                  <a:lnTo>
                    <a:pt x="17885" y="331219"/>
                  </a:lnTo>
                  <a:lnTo>
                    <a:pt x="15404" y="327950"/>
                  </a:lnTo>
                  <a:lnTo>
                    <a:pt x="15404" y="323572"/>
                  </a:lnTo>
                  <a:lnTo>
                    <a:pt x="15404" y="7297"/>
                  </a:lnTo>
                  <a:lnTo>
                    <a:pt x="15404" y="3284"/>
                  </a:lnTo>
                  <a:lnTo>
                    <a:pt x="17885" y="0"/>
                  </a:lnTo>
                  <a:lnTo>
                    <a:pt x="20573" y="0"/>
                  </a:lnTo>
                  <a:lnTo>
                    <a:pt x="23571" y="0"/>
                  </a:lnTo>
                  <a:lnTo>
                    <a:pt x="25846" y="3284"/>
                  </a:lnTo>
                  <a:lnTo>
                    <a:pt x="25846" y="7297"/>
                  </a:lnTo>
                  <a:close/>
                </a:path>
                <a:path w="41909" h="384810">
                  <a:moveTo>
                    <a:pt x="20573" y="323572"/>
                  </a:moveTo>
                  <a:lnTo>
                    <a:pt x="41457" y="293331"/>
                  </a:lnTo>
                  <a:lnTo>
                    <a:pt x="20573" y="384418"/>
                  </a:lnTo>
                  <a:lnTo>
                    <a:pt x="0" y="293331"/>
                  </a:lnTo>
                  <a:lnTo>
                    <a:pt x="20573" y="323572"/>
                  </a:lnTo>
                  <a:close/>
                </a:path>
              </a:pathLst>
            </a:custGeom>
            <a:ln w="3175">
              <a:solidFill>
                <a:srgbClr val="000000"/>
              </a:solidFill>
            </a:ln>
          </p:spPr>
          <p:txBody>
            <a:bodyPr wrap="square" lIns="0" tIns="0" rIns="0" bIns="0" rtlCol="0"/>
            <a:lstStyle/>
            <a:p/>
          </p:txBody>
        </p:sp>
      </p:grpSp>
      <p:sp>
        <p:nvSpPr>
          <p:cNvPr id="128" name="object 128" descr=""/>
          <p:cNvSpPr txBox="1"/>
          <p:nvPr/>
        </p:nvSpPr>
        <p:spPr>
          <a:xfrm>
            <a:off x="10632811" y="3714117"/>
            <a:ext cx="72390" cy="330200"/>
          </a:xfrm>
          <a:prstGeom prst="rect">
            <a:avLst/>
          </a:prstGeom>
        </p:spPr>
        <p:txBody>
          <a:bodyPr wrap="square" lIns="0" tIns="15875" rIns="0" bIns="0" rtlCol="0" vert="horz">
            <a:spAutoFit/>
          </a:bodyPr>
          <a:lstStyle/>
          <a:p>
            <a:pPr marL="12700">
              <a:lnSpc>
                <a:spcPts val="1180"/>
              </a:lnSpc>
              <a:spcBef>
                <a:spcPts val="125"/>
              </a:spcBef>
            </a:pPr>
            <a:r>
              <a:rPr dirty="0" sz="1050" spc="-105">
                <a:latin typeface="Times New Roman"/>
                <a:cs typeface="Times New Roman"/>
              </a:rPr>
              <a:t>2</a:t>
            </a:r>
            <a:endParaRPr sz="1050">
              <a:latin typeface="Times New Roman"/>
              <a:cs typeface="Times New Roman"/>
            </a:endParaRPr>
          </a:p>
          <a:p>
            <a:pPr marL="12700">
              <a:lnSpc>
                <a:spcPts val="1180"/>
              </a:lnSpc>
            </a:pPr>
            <a:r>
              <a:rPr dirty="0" sz="1050" spc="-105">
                <a:latin typeface="Times New Roman"/>
                <a:cs typeface="Times New Roman"/>
              </a:rPr>
              <a:t>1</a:t>
            </a:r>
            <a:endParaRPr sz="1050">
              <a:latin typeface="Times New Roman"/>
              <a:cs typeface="Times New Roman"/>
            </a:endParaRPr>
          </a:p>
        </p:txBody>
      </p:sp>
      <p:sp>
        <p:nvSpPr>
          <p:cNvPr id="129" name="object 129" descr=""/>
          <p:cNvSpPr txBox="1"/>
          <p:nvPr/>
        </p:nvSpPr>
        <p:spPr>
          <a:xfrm>
            <a:off x="10355119" y="3571200"/>
            <a:ext cx="118745" cy="189865"/>
          </a:xfrm>
          <a:prstGeom prst="rect">
            <a:avLst/>
          </a:prstGeom>
        </p:spPr>
        <p:txBody>
          <a:bodyPr wrap="square" lIns="0" tIns="15875" rIns="0" bIns="0" rtlCol="0" vert="horz">
            <a:spAutoFit/>
          </a:bodyPr>
          <a:lstStyle/>
          <a:p>
            <a:pPr marL="12700">
              <a:lnSpc>
                <a:spcPct val="100000"/>
              </a:lnSpc>
              <a:spcBef>
                <a:spcPts val="125"/>
              </a:spcBef>
            </a:pPr>
            <a:r>
              <a:rPr dirty="0" sz="1050" spc="-380" b="1">
                <a:latin typeface="宋体"/>
                <a:cs typeface="宋体"/>
              </a:rPr>
              <a:t>保</a:t>
            </a:r>
            <a:endParaRPr sz="1050">
              <a:latin typeface="宋体"/>
              <a:cs typeface="宋体"/>
            </a:endParaRPr>
          </a:p>
        </p:txBody>
      </p:sp>
      <p:sp>
        <p:nvSpPr>
          <p:cNvPr id="130" name="object 130" descr=""/>
          <p:cNvSpPr txBox="1"/>
          <p:nvPr/>
        </p:nvSpPr>
        <p:spPr>
          <a:xfrm>
            <a:off x="10355119" y="3706274"/>
            <a:ext cx="118745" cy="325120"/>
          </a:xfrm>
          <a:prstGeom prst="rect">
            <a:avLst/>
          </a:prstGeom>
        </p:spPr>
        <p:txBody>
          <a:bodyPr wrap="square" lIns="0" tIns="41910" rIns="0" bIns="0" rtlCol="0" vert="horz">
            <a:spAutoFit/>
          </a:bodyPr>
          <a:lstStyle/>
          <a:p>
            <a:pPr marL="12700" marR="5080">
              <a:lnSpc>
                <a:spcPts val="1060"/>
              </a:lnSpc>
              <a:spcBef>
                <a:spcPts val="330"/>
              </a:spcBef>
            </a:pPr>
            <a:r>
              <a:rPr dirty="0" sz="1050" spc="-380" b="1">
                <a:latin typeface="宋体"/>
                <a:cs typeface="宋体"/>
              </a:rPr>
              <a:t>留站</a:t>
            </a:r>
            <a:endParaRPr sz="1050">
              <a:latin typeface="宋体"/>
              <a:cs typeface="宋体"/>
            </a:endParaRPr>
          </a:p>
        </p:txBody>
      </p:sp>
      <p:sp>
        <p:nvSpPr>
          <p:cNvPr id="131" name="object 131" descr=""/>
          <p:cNvSpPr txBox="1"/>
          <p:nvPr/>
        </p:nvSpPr>
        <p:spPr>
          <a:xfrm>
            <a:off x="9329125" y="4082511"/>
            <a:ext cx="214629" cy="189865"/>
          </a:xfrm>
          <a:prstGeom prst="rect">
            <a:avLst/>
          </a:prstGeom>
        </p:spPr>
        <p:txBody>
          <a:bodyPr wrap="square" lIns="0" tIns="15875" rIns="0" bIns="0" rtlCol="0" vert="horz">
            <a:spAutoFit/>
          </a:bodyPr>
          <a:lstStyle/>
          <a:p>
            <a:pPr marL="12700">
              <a:lnSpc>
                <a:spcPct val="100000"/>
              </a:lnSpc>
              <a:spcBef>
                <a:spcPts val="125"/>
              </a:spcBef>
            </a:pPr>
            <a:r>
              <a:rPr dirty="0" sz="1050" spc="-350" b="1">
                <a:latin typeface="宋体"/>
                <a:cs typeface="宋体"/>
              </a:rPr>
              <a:t>标识</a:t>
            </a:r>
            <a:endParaRPr sz="1050">
              <a:latin typeface="宋体"/>
              <a:cs typeface="宋体"/>
            </a:endParaRPr>
          </a:p>
        </p:txBody>
      </p:sp>
      <p:sp>
        <p:nvSpPr>
          <p:cNvPr id="132" name="object 132" descr=""/>
          <p:cNvSpPr txBox="1"/>
          <p:nvPr/>
        </p:nvSpPr>
        <p:spPr>
          <a:xfrm>
            <a:off x="10688742" y="4026028"/>
            <a:ext cx="214629" cy="189865"/>
          </a:xfrm>
          <a:prstGeom prst="rect">
            <a:avLst/>
          </a:prstGeom>
        </p:spPr>
        <p:txBody>
          <a:bodyPr wrap="square" lIns="0" tIns="15875" rIns="0" bIns="0" rtlCol="0" vert="horz">
            <a:spAutoFit/>
          </a:bodyPr>
          <a:lstStyle/>
          <a:p>
            <a:pPr marL="12700">
              <a:lnSpc>
                <a:spcPct val="100000"/>
              </a:lnSpc>
              <a:spcBef>
                <a:spcPts val="125"/>
              </a:spcBef>
            </a:pPr>
            <a:r>
              <a:rPr dirty="0" sz="1050" spc="-350" b="1">
                <a:latin typeface="宋体"/>
                <a:cs typeface="宋体"/>
              </a:rPr>
              <a:t>标识</a:t>
            </a:r>
            <a:endParaRPr sz="1050">
              <a:latin typeface="宋体"/>
              <a:cs typeface="宋体"/>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68/175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7718774" y="0"/>
                </a:lnTo>
              </a:path>
              <a:path w="11201400" h="0">
                <a:moveTo>
                  <a:pt x="8330993" y="0"/>
                </a:moveTo>
                <a:lnTo>
                  <a:pt x="9082085" y="0"/>
                </a:lnTo>
              </a:path>
              <a:path w="11201400" h="0">
                <a:moveTo>
                  <a:pt x="9721959"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673404" y="1336624"/>
            <a:ext cx="4215765" cy="391795"/>
          </a:xfrm>
          <a:prstGeom prst="rect">
            <a:avLst/>
          </a:prstGeom>
        </p:spPr>
        <p:txBody>
          <a:bodyPr wrap="square" lIns="0" tIns="12700" rIns="0" bIns="0" rtlCol="0" vert="horz">
            <a:spAutoFit/>
          </a:bodyPr>
          <a:lstStyle/>
          <a:p>
            <a:pPr marL="696595" indent="-683895">
              <a:lnSpc>
                <a:spcPct val="100000"/>
              </a:lnSpc>
              <a:spcBef>
                <a:spcPts val="100"/>
              </a:spcBef>
              <a:buClr>
                <a:srgbClr val="40458B"/>
              </a:buClr>
              <a:buSzPct val="89583"/>
              <a:buFont typeface="Wingdings"/>
              <a:buChar char=""/>
              <a:tabLst>
                <a:tab pos="696595" algn="l"/>
              </a:tabLst>
            </a:pPr>
            <a:r>
              <a:rPr dirty="0" sz="2400" spc="-10">
                <a:solidFill>
                  <a:srgbClr val="9933FF"/>
                </a:solidFill>
                <a:latin typeface="黑体"/>
                <a:cs typeface="黑体"/>
              </a:rPr>
              <a:t>load</a:t>
            </a:r>
            <a:r>
              <a:rPr dirty="0" sz="2400" spc="-10">
                <a:solidFill>
                  <a:srgbClr val="40458B"/>
                </a:solidFill>
                <a:latin typeface="黑体"/>
                <a:cs typeface="黑体"/>
              </a:rPr>
              <a:t>缓冲器和</a:t>
            </a:r>
            <a:r>
              <a:rPr dirty="0" sz="2400" spc="-10">
                <a:solidFill>
                  <a:srgbClr val="9933FF"/>
                </a:solidFill>
                <a:latin typeface="黑体"/>
                <a:cs typeface="黑体"/>
              </a:rPr>
              <a:t>store</a:t>
            </a:r>
            <a:r>
              <a:rPr dirty="0" sz="2400" spc="-25">
                <a:solidFill>
                  <a:srgbClr val="40458B"/>
                </a:solidFill>
                <a:latin typeface="黑体"/>
                <a:cs typeface="黑体"/>
              </a:rPr>
              <a:t>缓冲器</a:t>
            </a:r>
            <a:endParaRPr sz="2400">
              <a:latin typeface="黑体"/>
              <a:cs typeface="黑体"/>
            </a:endParaRPr>
          </a:p>
        </p:txBody>
      </p:sp>
      <p:sp>
        <p:nvSpPr>
          <p:cNvPr id="11" name="object 11" descr=""/>
          <p:cNvSpPr txBox="1"/>
          <p:nvPr/>
        </p:nvSpPr>
        <p:spPr>
          <a:xfrm>
            <a:off x="1222044" y="1928622"/>
            <a:ext cx="3507740" cy="848994"/>
          </a:xfrm>
          <a:prstGeom prst="rect">
            <a:avLst/>
          </a:prstGeom>
        </p:spPr>
        <p:txBody>
          <a:bodyPr wrap="square" lIns="0" tIns="13335" rIns="0" bIns="0" rtlCol="0" vert="horz">
            <a:spAutoFit/>
          </a:bodyPr>
          <a:lstStyle/>
          <a:p>
            <a:pPr marL="21590">
              <a:lnSpc>
                <a:spcPct val="100000"/>
              </a:lnSpc>
              <a:spcBef>
                <a:spcPts val="105"/>
              </a:spcBef>
            </a:pPr>
            <a:r>
              <a:rPr dirty="0" sz="2000" spc="-10" b="1">
                <a:solidFill>
                  <a:srgbClr val="9966FF"/>
                </a:solidFill>
                <a:latin typeface="宋体"/>
                <a:cs typeface="宋体"/>
              </a:rPr>
              <a:t>存放读</a:t>
            </a:r>
            <a:r>
              <a:rPr dirty="0" sz="2000" spc="-10" b="1">
                <a:solidFill>
                  <a:srgbClr val="9966FF"/>
                </a:solidFill>
                <a:latin typeface="Tahoma"/>
                <a:cs typeface="Tahoma"/>
              </a:rPr>
              <a:t>/</a:t>
            </a:r>
            <a:r>
              <a:rPr dirty="0" sz="2000" spc="-20" b="1">
                <a:solidFill>
                  <a:srgbClr val="9966FF"/>
                </a:solidFill>
                <a:latin typeface="宋体"/>
                <a:cs typeface="宋体"/>
              </a:rPr>
              <a:t>写存储器的数据或地址</a:t>
            </a:r>
            <a:endParaRPr sz="2000">
              <a:latin typeface="宋体"/>
              <a:cs typeface="宋体"/>
            </a:endParaRPr>
          </a:p>
          <a:p>
            <a:pPr marL="393065" indent="-380365">
              <a:lnSpc>
                <a:spcPct val="100000"/>
              </a:lnSpc>
              <a:spcBef>
                <a:spcPts val="1680"/>
              </a:spcBef>
              <a:buClr>
                <a:srgbClr val="006FC0"/>
              </a:buClr>
              <a:buSzPct val="65000"/>
              <a:buFont typeface="Wingdings"/>
              <a:buChar char=""/>
              <a:tabLst>
                <a:tab pos="393065" algn="l"/>
              </a:tabLst>
            </a:pPr>
            <a:r>
              <a:rPr dirty="0" sz="2000" spc="-10" b="1">
                <a:solidFill>
                  <a:srgbClr val="001F5F"/>
                </a:solidFill>
                <a:latin typeface="宋体"/>
                <a:cs typeface="宋体"/>
              </a:rPr>
              <a:t>load</a:t>
            </a:r>
            <a:r>
              <a:rPr dirty="0" sz="2000" spc="-15" b="1">
                <a:solidFill>
                  <a:srgbClr val="001F5F"/>
                </a:solidFill>
                <a:latin typeface="宋体"/>
                <a:cs typeface="宋体"/>
              </a:rPr>
              <a:t>缓冲器的作用有</a:t>
            </a:r>
            <a:r>
              <a:rPr dirty="0" sz="2000" spc="-10" b="1">
                <a:solidFill>
                  <a:srgbClr val="001F5F"/>
                </a:solidFill>
                <a:latin typeface="宋体"/>
                <a:cs typeface="宋体"/>
              </a:rPr>
              <a:t>3</a:t>
            </a:r>
            <a:r>
              <a:rPr dirty="0" sz="2000" spc="-30" b="1">
                <a:solidFill>
                  <a:srgbClr val="001F5F"/>
                </a:solidFill>
                <a:latin typeface="宋体"/>
                <a:cs typeface="宋体"/>
              </a:rPr>
              <a:t>个：</a:t>
            </a:r>
            <a:endParaRPr sz="2000">
              <a:latin typeface="宋体"/>
              <a:cs typeface="宋体"/>
            </a:endParaRPr>
          </a:p>
        </p:txBody>
      </p:sp>
      <p:sp>
        <p:nvSpPr>
          <p:cNvPr id="12" name="object 12" descr=""/>
          <p:cNvSpPr txBox="1"/>
          <p:nvPr/>
        </p:nvSpPr>
        <p:spPr>
          <a:xfrm>
            <a:off x="1222044" y="2950921"/>
            <a:ext cx="3628390" cy="300355"/>
          </a:xfrm>
          <a:prstGeom prst="rect">
            <a:avLst/>
          </a:prstGeom>
        </p:spPr>
        <p:txBody>
          <a:bodyPr wrap="square" lIns="0" tIns="12700" rIns="0" bIns="0" rtlCol="0" vert="horz">
            <a:spAutoFit/>
          </a:bodyPr>
          <a:lstStyle/>
          <a:p>
            <a:pPr marL="393065" indent="-380365">
              <a:lnSpc>
                <a:spcPct val="100000"/>
              </a:lnSpc>
              <a:spcBef>
                <a:spcPts val="100"/>
              </a:spcBef>
              <a:buClr>
                <a:srgbClr val="9966FF"/>
              </a:buClr>
              <a:buSzPct val="63888"/>
              <a:buFont typeface="Wingdings"/>
              <a:buChar char=""/>
              <a:tabLst>
                <a:tab pos="393065" algn="l"/>
              </a:tabLst>
            </a:pPr>
            <a:r>
              <a:rPr dirty="0" sz="1800" spc="-25" b="1">
                <a:solidFill>
                  <a:srgbClr val="FF09FF"/>
                </a:solidFill>
                <a:latin typeface="宋体"/>
                <a:cs typeface="宋体"/>
              </a:rPr>
              <a:t>存放用于计算有效地址的分量；</a:t>
            </a:r>
            <a:endParaRPr sz="1800">
              <a:latin typeface="宋体"/>
              <a:cs typeface="宋体"/>
            </a:endParaRPr>
          </a:p>
        </p:txBody>
      </p:sp>
      <p:sp>
        <p:nvSpPr>
          <p:cNvPr id="13" name="object 13" descr=""/>
          <p:cNvSpPr txBox="1"/>
          <p:nvPr/>
        </p:nvSpPr>
        <p:spPr>
          <a:xfrm>
            <a:off x="1222044" y="3417823"/>
            <a:ext cx="5242560" cy="299720"/>
          </a:xfrm>
          <a:prstGeom prst="rect">
            <a:avLst/>
          </a:prstGeom>
        </p:spPr>
        <p:txBody>
          <a:bodyPr wrap="square" lIns="0" tIns="12700" rIns="0" bIns="0" rtlCol="0" vert="horz">
            <a:spAutoFit/>
          </a:bodyPr>
          <a:lstStyle/>
          <a:p>
            <a:pPr marL="393065" indent="-380365">
              <a:lnSpc>
                <a:spcPct val="100000"/>
              </a:lnSpc>
              <a:spcBef>
                <a:spcPts val="100"/>
              </a:spcBef>
              <a:buClr>
                <a:srgbClr val="9966FF"/>
              </a:buClr>
              <a:buSzPct val="63888"/>
              <a:buFont typeface="Wingdings"/>
              <a:buChar char=""/>
              <a:tabLst>
                <a:tab pos="393065" algn="l"/>
              </a:tabLst>
            </a:pPr>
            <a:r>
              <a:rPr dirty="0" sz="1800" spc="-10" b="1">
                <a:solidFill>
                  <a:srgbClr val="FF09FF"/>
                </a:solidFill>
                <a:latin typeface="宋体"/>
                <a:cs typeface="宋体"/>
              </a:rPr>
              <a:t>记录正在进行的</a:t>
            </a:r>
            <a:r>
              <a:rPr dirty="0" sz="1800" spc="-10" b="1">
                <a:solidFill>
                  <a:srgbClr val="9933FF"/>
                </a:solidFill>
                <a:latin typeface="宋体"/>
                <a:cs typeface="宋体"/>
              </a:rPr>
              <a:t>load</a:t>
            </a:r>
            <a:r>
              <a:rPr dirty="0" sz="1800" spc="-15" b="1">
                <a:solidFill>
                  <a:srgbClr val="FF09FF"/>
                </a:solidFill>
                <a:latin typeface="宋体"/>
                <a:cs typeface="宋体"/>
              </a:rPr>
              <a:t>访存，等待存储器的响应；</a:t>
            </a:r>
            <a:endParaRPr sz="1800">
              <a:latin typeface="宋体"/>
              <a:cs typeface="宋体"/>
            </a:endParaRPr>
          </a:p>
        </p:txBody>
      </p:sp>
      <p:sp>
        <p:nvSpPr>
          <p:cNvPr id="14" name="object 14" descr=""/>
          <p:cNvSpPr txBox="1"/>
          <p:nvPr/>
        </p:nvSpPr>
        <p:spPr>
          <a:xfrm>
            <a:off x="1222044" y="3884167"/>
            <a:ext cx="8011795" cy="2197100"/>
          </a:xfrm>
          <a:prstGeom prst="rect">
            <a:avLst/>
          </a:prstGeom>
        </p:spPr>
        <p:txBody>
          <a:bodyPr wrap="square" lIns="0" tIns="12700" rIns="0" bIns="0" rtlCol="0" vert="horz">
            <a:spAutoFit/>
          </a:bodyPr>
          <a:lstStyle/>
          <a:p>
            <a:pPr marL="393065" indent="-380365">
              <a:lnSpc>
                <a:spcPct val="100000"/>
              </a:lnSpc>
              <a:spcBef>
                <a:spcPts val="100"/>
              </a:spcBef>
              <a:buClr>
                <a:srgbClr val="9966FF"/>
              </a:buClr>
              <a:buSzPct val="63888"/>
              <a:buFont typeface="Wingdings"/>
              <a:buChar char=""/>
              <a:tabLst>
                <a:tab pos="393065" algn="l"/>
              </a:tabLst>
            </a:pPr>
            <a:r>
              <a:rPr dirty="0" sz="1800" spc="-10" b="1">
                <a:solidFill>
                  <a:srgbClr val="FF09FF"/>
                </a:solidFill>
                <a:latin typeface="宋体"/>
                <a:cs typeface="宋体"/>
              </a:rPr>
              <a:t>保存已经完成了的</a:t>
            </a:r>
            <a:r>
              <a:rPr dirty="0" sz="1800" spc="-10" b="1">
                <a:solidFill>
                  <a:srgbClr val="9933FF"/>
                </a:solidFill>
                <a:latin typeface="宋体"/>
                <a:cs typeface="宋体"/>
              </a:rPr>
              <a:t>load</a:t>
            </a:r>
            <a:r>
              <a:rPr dirty="0" sz="1800" spc="-10" b="1">
                <a:solidFill>
                  <a:srgbClr val="FF09FF"/>
                </a:solidFill>
                <a:latin typeface="宋体"/>
                <a:cs typeface="宋体"/>
              </a:rPr>
              <a:t>的结果（即从存储器取来的数据），等待</a:t>
            </a:r>
            <a:r>
              <a:rPr dirty="0" sz="1800" spc="-10" b="1">
                <a:solidFill>
                  <a:srgbClr val="9933FF"/>
                </a:solidFill>
                <a:latin typeface="宋体"/>
                <a:cs typeface="宋体"/>
              </a:rPr>
              <a:t>CDB</a:t>
            </a:r>
            <a:r>
              <a:rPr dirty="0" sz="1800" spc="-25" b="1">
                <a:solidFill>
                  <a:srgbClr val="FF09FF"/>
                </a:solidFill>
                <a:latin typeface="宋体"/>
                <a:cs typeface="宋体"/>
              </a:rPr>
              <a:t>传输。</a:t>
            </a:r>
            <a:endParaRPr sz="1800">
              <a:latin typeface="宋体"/>
              <a:cs typeface="宋体"/>
            </a:endParaRPr>
          </a:p>
          <a:p>
            <a:pPr marL="396240" indent="-381000">
              <a:lnSpc>
                <a:spcPct val="100000"/>
              </a:lnSpc>
              <a:spcBef>
                <a:spcPts val="1460"/>
              </a:spcBef>
              <a:buClr>
                <a:srgbClr val="006FC0"/>
              </a:buClr>
              <a:buSzPct val="65000"/>
              <a:buFont typeface="Wingdings"/>
              <a:buChar char=""/>
              <a:tabLst>
                <a:tab pos="396240" algn="l"/>
              </a:tabLst>
            </a:pPr>
            <a:r>
              <a:rPr dirty="0" sz="2000" b="1">
                <a:solidFill>
                  <a:srgbClr val="001F5F"/>
                </a:solidFill>
                <a:latin typeface="宋体"/>
                <a:cs typeface="宋体"/>
              </a:rPr>
              <a:t>store</a:t>
            </a:r>
            <a:r>
              <a:rPr dirty="0" sz="2000" spc="-20" b="1">
                <a:solidFill>
                  <a:srgbClr val="001F5F"/>
                </a:solidFill>
                <a:latin typeface="宋体"/>
                <a:cs typeface="宋体"/>
              </a:rPr>
              <a:t>缓冲器的作用有</a:t>
            </a:r>
            <a:r>
              <a:rPr dirty="0" sz="2000" spc="-10" b="1">
                <a:solidFill>
                  <a:srgbClr val="001F5F"/>
                </a:solidFill>
                <a:latin typeface="宋体"/>
                <a:cs typeface="宋体"/>
              </a:rPr>
              <a:t>3</a:t>
            </a:r>
            <a:r>
              <a:rPr dirty="0" sz="2000" spc="-35" b="1">
                <a:solidFill>
                  <a:srgbClr val="001F5F"/>
                </a:solidFill>
                <a:latin typeface="宋体"/>
                <a:cs typeface="宋体"/>
              </a:rPr>
              <a:t>个：</a:t>
            </a:r>
            <a:endParaRPr sz="2000">
              <a:latin typeface="宋体"/>
              <a:cs typeface="宋体"/>
            </a:endParaRPr>
          </a:p>
          <a:p>
            <a:pPr marL="396240" indent="-381000">
              <a:lnSpc>
                <a:spcPct val="100000"/>
              </a:lnSpc>
              <a:spcBef>
                <a:spcPts val="1570"/>
              </a:spcBef>
              <a:buClr>
                <a:srgbClr val="9966FF"/>
              </a:buClr>
              <a:buSzPct val="63888"/>
              <a:buFont typeface="Wingdings"/>
              <a:buChar char=""/>
              <a:tabLst>
                <a:tab pos="396240" algn="l"/>
              </a:tabLst>
            </a:pPr>
            <a:r>
              <a:rPr dirty="0" sz="1800" spc="-15" b="1">
                <a:solidFill>
                  <a:srgbClr val="FF09FF"/>
                </a:solidFill>
                <a:latin typeface="宋体"/>
                <a:cs typeface="宋体"/>
              </a:rPr>
              <a:t>存放用于计算有效地址的分量；</a:t>
            </a:r>
            <a:endParaRPr sz="1800">
              <a:latin typeface="宋体"/>
              <a:cs typeface="宋体"/>
            </a:endParaRPr>
          </a:p>
          <a:p>
            <a:pPr marL="396240" indent="-381000">
              <a:lnSpc>
                <a:spcPct val="100000"/>
              </a:lnSpc>
              <a:spcBef>
                <a:spcPts val="1510"/>
              </a:spcBef>
              <a:buClr>
                <a:srgbClr val="9966FF"/>
              </a:buClr>
              <a:buSzPct val="63888"/>
              <a:buFont typeface="Wingdings"/>
              <a:buChar char=""/>
              <a:tabLst>
                <a:tab pos="396240" algn="l"/>
              </a:tabLst>
            </a:pPr>
            <a:r>
              <a:rPr dirty="0" sz="1800" spc="-10" b="1">
                <a:solidFill>
                  <a:srgbClr val="FF09FF"/>
                </a:solidFill>
                <a:latin typeface="宋体"/>
                <a:cs typeface="宋体"/>
              </a:rPr>
              <a:t>保存正在进行的store访存的目标地址，该store</a:t>
            </a:r>
            <a:r>
              <a:rPr dirty="0" sz="1800" spc="-15" b="1">
                <a:solidFill>
                  <a:srgbClr val="FF09FF"/>
                </a:solidFill>
                <a:latin typeface="宋体"/>
                <a:cs typeface="宋体"/>
              </a:rPr>
              <a:t>正在等待存储数据的到达；</a:t>
            </a:r>
            <a:endParaRPr sz="1800">
              <a:latin typeface="宋体"/>
              <a:cs typeface="宋体"/>
            </a:endParaRPr>
          </a:p>
          <a:p>
            <a:pPr marL="396240" indent="-381000">
              <a:lnSpc>
                <a:spcPct val="100000"/>
              </a:lnSpc>
              <a:spcBef>
                <a:spcPts val="1515"/>
              </a:spcBef>
              <a:buClr>
                <a:srgbClr val="9966FF"/>
              </a:buClr>
              <a:buSzPct val="63888"/>
              <a:buFont typeface="Wingdings"/>
              <a:buChar char=""/>
              <a:tabLst>
                <a:tab pos="396240" algn="l"/>
              </a:tabLst>
            </a:pPr>
            <a:r>
              <a:rPr dirty="0" sz="1800" spc="-20" b="1">
                <a:solidFill>
                  <a:srgbClr val="FF09FF"/>
                </a:solidFill>
                <a:latin typeface="宋体"/>
                <a:cs typeface="宋体"/>
              </a:rPr>
              <a:t>保存该</a:t>
            </a:r>
            <a:r>
              <a:rPr dirty="0" sz="1800" spc="-10" b="1">
                <a:solidFill>
                  <a:srgbClr val="FF09FF"/>
                </a:solidFill>
                <a:latin typeface="宋体"/>
                <a:cs typeface="宋体"/>
              </a:rPr>
              <a:t>store</a:t>
            </a:r>
            <a:r>
              <a:rPr dirty="0" sz="1800" spc="-25" b="1">
                <a:solidFill>
                  <a:srgbClr val="FF09FF"/>
                </a:solidFill>
                <a:latin typeface="宋体"/>
                <a:cs typeface="宋体"/>
              </a:rPr>
              <a:t>的地址和数据，直到存储部件接收。</a:t>
            </a:r>
            <a:endParaRPr sz="1800">
              <a:latin typeface="宋体"/>
              <a:cs typeface="宋体"/>
            </a:endParaRPr>
          </a:p>
        </p:txBody>
      </p:sp>
      <p:sp>
        <p:nvSpPr>
          <p:cNvPr id="15" name="object 15" descr=""/>
          <p:cNvSpPr txBox="1"/>
          <p:nvPr/>
        </p:nvSpPr>
        <p:spPr>
          <a:xfrm>
            <a:off x="898042" y="812672"/>
            <a:ext cx="27686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000"/>
                </a:solidFill>
                <a:latin typeface="黑体"/>
                <a:cs typeface="黑体"/>
              </a:rPr>
              <a:t>上图中的各组成部件</a:t>
            </a:r>
            <a:endParaRPr sz="2400">
              <a:latin typeface="黑体"/>
              <a:cs typeface="黑体"/>
            </a:endParaRPr>
          </a:p>
        </p:txBody>
      </p:sp>
      <p:sp>
        <p:nvSpPr>
          <p:cNvPr id="16" name="object 16" descr=""/>
          <p:cNvSpPr txBox="1"/>
          <p:nvPr/>
        </p:nvSpPr>
        <p:spPr>
          <a:xfrm>
            <a:off x="8598179" y="43971"/>
            <a:ext cx="743585" cy="181610"/>
          </a:xfrm>
          <a:prstGeom prst="rect">
            <a:avLst/>
          </a:prstGeom>
        </p:spPr>
        <p:txBody>
          <a:bodyPr wrap="square" lIns="0" tIns="15240" rIns="0" bIns="0" rtlCol="0" vert="horz">
            <a:spAutoFit/>
          </a:bodyPr>
          <a:lstStyle/>
          <a:p>
            <a:pPr marL="12700">
              <a:lnSpc>
                <a:spcPct val="100000"/>
              </a:lnSpc>
              <a:spcBef>
                <a:spcPts val="120"/>
              </a:spcBef>
            </a:pPr>
            <a:r>
              <a:rPr dirty="0" sz="1000" spc="-70" b="1">
                <a:latin typeface="宋体"/>
                <a:cs typeface="宋体"/>
              </a:rPr>
              <a:t>从指令部件来</a:t>
            </a:r>
            <a:endParaRPr sz="1000">
              <a:latin typeface="宋体"/>
              <a:cs typeface="宋体"/>
            </a:endParaRPr>
          </a:p>
        </p:txBody>
      </p:sp>
      <p:sp>
        <p:nvSpPr>
          <p:cNvPr id="17" name="object 17" descr=""/>
          <p:cNvSpPr txBox="1"/>
          <p:nvPr/>
        </p:nvSpPr>
        <p:spPr>
          <a:xfrm>
            <a:off x="9572804" y="401965"/>
            <a:ext cx="801370" cy="181610"/>
          </a:xfrm>
          <a:prstGeom prst="rect">
            <a:avLst/>
          </a:prstGeom>
        </p:spPr>
        <p:txBody>
          <a:bodyPr wrap="square" lIns="0" tIns="15240" rIns="0" bIns="0" rtlCol="0" vert="horz">
            <a:spAutoFit/>
          </a:bodyPr>
          <a:lstStyle/>
          <a:p>
            <a:pPr marL="12700">
              <a:lnSpc>
                <a:spcPct val="100000"/>
              </a:lnSpc>
              <a:spcBef>
                <a:spcPts val="120"/>
              </a:spcBef>
            </a:pPr>
            <a:r>
              <a:rPr dirty="0" sz="1000" spc="-105" b="1">
                <a:latin typeface="宋体"/>
                <a:cs typeface="宋体"/>
              </a:rPr>
              <a:t>浮点寄存器 </a:t>
            </a:r>
            <a:r>
              <a:rPr dirty="0" sz="1000" spc="-25" b="1">
                <a:latin typeface="Times New Roman"/>
                <a:cs typeface="Times New Roman"/>
              </a:rPr>
              <a:t>FP</a:t>
            </a:r>
            <a:endParaRPr sz="1000">
              <a:latin typeface="Times New Roman"/>
              <a:cs typeface="Times New Roman"/>
            </a:endParaRPr>
          </a:p>
        </p:txBody>
      </p:sp>
      <p:sp>
        <p:nvSpPr>
          <p:cNvPr id="18" name="object 18" descr=""/>
          <p:cNvSpPr txBox="1"/>
          <p:nvPr/>
        </p:nvSpPr>
        <p:spPr>
          <a:xfrm>
            <a:off x="6678822" y="1428799"/>
            <a:ext cx="666750" cy="181610"/>
          </a:xfrm>
          <a:prstGeom prst="rect">
            <a:avLst/>
          </a:prstGeom>
        </p:spPr>
        <p:txBody>
          <a:bodyPr wrap="square" lIns="0" tIns="15240" rIns="0" bIns="0" rtlCol="0" vert="horz">
            <a:spAutoFit/>
          </a:bodyPr>
          <a:lstStyle/>
          <a:p>
            <a:pPr marL="12700">
              <a:lnSpc>
                <a:spcPct val="100000"/>
              </a:lnSpc>
              <a:spcBef>
                <a:spcPts val="120"/>
              </a:spcBef>
            </a:pPr>
            <a:r>
              <a:rPr dirty="0" sz="1000" spc="-45" b="1">
                <a:latin typeface="Times New Roman"/>
                <a:cs typeface="Times New Roman"/>
              </a:rPr>
              <a:t>store</a:t>
            </a:r>
            <a:r>
              <a:rPr dirty="0" sz="1000" spc="20" b="1">
                <a:latin typeface="Times New Roman"/>
                <a:cs typeface="Times New Roman"/>
              </a:rPr>
              <a:t> </a:t>
            </a:r>
            <a:r>
              <a:rPr dirty="0" sz="1000" spc="-60" b="1">
                <a:latin typeface="宋体"/>
                <a:cs typeface="宋体"/>
              </a:rPr>
              <a:t>缓冲器</a:t>
            </a:r>
            <a:endParaRPr sz="1000">
              <a:latin typeface="宋体"/>
              <a:cs typeface="宋体"/>
            </a:endParaRPr>
          </a:p>
        </p:txBody>
      </p:sp>
      <p:sp>
        <p:nvSpPr>
          <p:cNvPr id="19" name="object 19" descr=""/>
          <p:cNvSpPr txBox="1"/>
          <p:nvPr/>
        </p:nvSpPr>
        <p:spPr>
          <a:xfrm>
            <a:off x="7985894" y="1651698"/>
            <a:ext cx="634365" cy="181610"/>
          </a:xfrm>
          <a:prstGeom prst="rect">
            <a:avLst/>
          </a:prstGeom>
        </p:spPr>
        <p:txBody>
          <a:bodyPr wrap="square" lIns="0" tIns="15240" rIns="0" bIns="0" rtlCol="0" vert="horz">
            <a:spAutoFit/>
          </a:bodyPr>
          <a:lstStyle/>
          <a:p>
            <a:pPr marL="12700">
              <a:lnSpc>
                <a:spcPct val="100000"/>
              </a:lnSpc>
              <a:spcBef>
                <a:spcPts val="120"/>
              </a:spcBef>
            </a:pPr>
            <a:r>
              <a:rPr dirty="0" sz="1000" spc="-40" b="1">
                <a:latin typeface="Times New Roman"/>
                <a:cs typeface="Times New Roman"/>
              </a:rPr>
              <a:t>load</a:t>
            </a:r>
            <a:r>
              <a:rPr dirty="0" sz="1000" spc="5" b="1">
                <a:latin typeface="Times New Roman"/>
                <a:cs typeface="Times New Roman"/>
              </a:rPr>
              <a:t> </a:t>
            </a:r>
            <a:r>
              <a:rPr dirty="0" sz="1000" spc="-60" b="1">
                <a:latin typeface="宋体"/>
                <a:cs typeface="宋体"/>
              </a:rPr>
              <a:t>缓冲器</a:t>
            </a:r>
            <a:endParaRPr sz="1000">
              <a:latin typeface="宋体"/>
              <a:cs typeface="宋体"/>
            </a:endParaRPr>
          </a:p>
        </p:txBody>
      </p:sp>
      <p:sp>
        <p:nvSpPr>
          <p:cNvPr id="20" name="object 20" descr=""/>
          <p:cNvSpPr txBox="1"/>
          <p:nvPr/>
        </p:nvSpPr>
        <p:spPr>
          <a:xfrm>
            <a:off x="7596194" y="1406207"/>
            <a:ext cx="668020" cy="223520"/>
          </a:xfrm>
          <a:prstGeom prst="rect">
            <a:avLst/>
          </a:prstGeom>
          <a:ln w="10656">
            <a:solidFill>
              <a:srgbClr val="000000"/>
            </a:solidFill>
          </a:ln>
        </p:spPr>
        <p:txBody>
          <a:bodyPr wrap="square" lIns="0" tIns="38100" rIns="0" bIns="0" rtlCol="0" vert="horz">
            <a:spAutoFit/>
          </a:bodyPr>
          <a:lstStyle/>
          <a:p>
            <a:pPr marL="97155">
              <a:lnSpc>
                <a:spcPct val="100000"/>
              </a:lnSpc>
              <a:spcBef>
                <a:spcPts val="300"/>
              </a:spcBef>
            </a:pPr>
            <a:r>
              <a:rPr dirty="0" sz="1000" spc="-65" b="1">
                <a:latin typeface="宋体"/>
                <a:cs typeface="宋体"/>
              </a:rPr>
              <a:t>地址部件</a:t>
            </a:r>
            <a:endParaRPr sz="1000">
              <a:latin typeface="宋体"/>
              <a:cs typeface="宋体"/>
            </a:endParaRPr>
          </a:p>
        </p:txBody>
      </p:sp>
      <p:sp>
        <p:nvSpPr>
          <p:cNvPr id="21" name="object 21" descr=""/>
          <p:cNvSpPr txBox="1"/>
          <p:nvPr/>
        </p:nvSpPr>
        <p:spPr>
          <a:xfrm>
            <a:off x="7484947" y="1024236"/>
            <a:ext cx="796925" cy="181610"/>
          </a:xfrm>
          <a:prstGeom prst="rect">
            <a:avLst/>
          </a:prstGeom>
        </p:spPr>
        <p:txBody>
          <a:bodyPr wrap="square" lIns="0" tIns="15240" rIns="0" bIns="0" rtlCol="0" vert="horz">
            <a:spAutoFit/>
          </a:bodyPr>
          <a:lstStyle/>
          <a:p>
            <a:pPr marL="12700">
              <a:lnSpc>
                <a:spcPct val="100000"/>
              </a:lnSpc>
              <a:spcBef>
                <a:spcPts val="120"/>
              </a:spcBef>
            </a:pPr>
            <a:r>
              <a:rPr dirty="0" sz="1000" spc="-35" b="1">
                <a:latin typeface="Times New Roman"/>
                <a:cs typeface="Times New Roman"/>
              </a:rPr>
              <a:t>load/store</a:t>
            </a:r>
            <a:r>
              <a:rPr dirty="0" sz="1000" b="1">
                <a:latin typeface="Times New Roman"/>
                <a:cs typeface="Times New Roman"/>
              </a:rPr>
              <a:t> </a:t>
            </a:r>
            <a:r>
              <a:rPr dirty="0" sz="1000" spc="-55" b="1">
                <a:latin typeface="宋体"/>
                <a:cs typeface="宋体"/>
              </a:rPr>
              <a:t>操作</a:t>
            </a:r>
            <a:endParaRPr sz="1000">
              <a:latin typeface="宋体"/>
              <a:cs typeface="宋体"/>
            </a:endParaRPr>
          </a:p>
        </p:txBody>
      </p:sp>
      <p:sp>
        <p:nvSpPr>
          <p:cNvPr id="22" name="object 22" descr=""/>
          <p:cNvSpPr txBox="1"/>
          <p:nvPr/>
        </p:nvSpPr>
        <p:spPr>
          <a:xfrm>
            <a:off x="9210332" y="1205900"/>
            <a:ext cx="504190" cy="181610"/>
          </a:xfrm>
          <a:prstGeom prst="rect">
            <a:avLst/>
          </a:prstGeom>
        </p:spPr>
        <p:txBody>
          <a:bodyPr wrap="square" lIns="0" tIns="15240" rIns="0" bIns="0" rtlCol="0" vert="horz">
            <a:spAutoFit/>
          </a:bodyPr>
          <a:lstStyle/>
          <a:p>
            <a:pPr marL="12700">
              <a:lnSpc>
                <a:spcPct val="100000"/>
              </a:lnSpc>
              <a:spcBef>
                <a:spcPts val="120"/>
              </a:spcBef>
            </a:pPr>
            <a:r>
              <a:rPr dirty="0" sz="1000" spc="-65" b="1">
                <a:latin typeface="宋体"/>
                <a:cs typeface="宋体"/>
              </a:rPr>
              <a:t>浮点操作</a:t>
            </a:r>
            <a:endParaRPr sz="1000">
              <a:latin typeface="宋体"/>
              <a:cs typeface="宋体"/>
            </a:endParaRPr>
          </a:p>
        </p:txBody>
      </p:sp>
      <p:sp>
        <p:nvSpPr>
          <p:cNvPr id="23" name="object 23" descr=""/>
          <p:cNvSpPr txBox="1"/>
          <p:nvPr/>
        </p:nvSpPr>
        <p:spPr>
          <a:xfrm>
            <a:off x="9544077" y="1518622"/>
            <a:ext cx="622935" cy="181610"/>
          </a:xfrm>
          <a:prstGeom prst="rect">
            <a:avLst/>
          </a:prstGeom>
        </p:spPr>
        <p:txBody>
          <a:bodyPr wrap="square" lIns="0" tIns="15240" rIns="0" bIns="0" rtlCol="0" vert="horz">
            <a:spAutoFit/>
          </a:bodyPr>
          <a:lstStyle/>
          <a:p>
            <a:pPr marL="12700">
              <a:lnSpc>
                <a:spcPct val="100000"/>
              </a:lnSpc>
              <a:spcBef>
                <a:spcPts val="120"/>
              </a:spcBef>
            </a:pPr>
            <a:r>
              <a:rPr dirty="0" sz="1000" spc="-70" b="1">
                <a:latin typeface="宋体"/>
                <a:cs typeface="宋体"/>
              </a:rPr>
              <a:t>操作数总线</a:t>
            </a:r>
            <a:endParaRPr sz="1000">
              <a:latin typeface="宋体"/>
              <a:cs typeface="宋体"/>
            </a:endParaRPr>
          </a:p>
        </p:txBody>
      </p:sp>
      <p:sp>
        <p:nvSpPr>
          <p:cNvPr id="24" name="object 24" descr=""/>
          <p:cNvSpPr txBox="1"/>
          <p:nvPr/>
        </p:nvSpPr>
        <p:spPr>
          <a:xfrm>
            <a:off x="9723725" y="2009692"/>
            <a:ext cx="504190" cy="181610"/>
          </a:xfrm>
          <a:prstGeom prst="rect">
            <a:avLst/>
          </a:prstGeom>
        </p:spPr>
        <p:txBody>
          <a:bodyPr wrap="square" lIns="0" tIns="15240" rIns="0" bIns="0" rtlCol="0" vert="horz">
            <a:spAutoFit/>
          </a:bodyPr>
          <a:lstStyle/>
          <a:p>
            <a:pPr marL="12700">
              <a:lnSpc>
                <a:spcPct val="100000"/>
              </a:lnSpc>
              <a:spcBef>
                <a:spcPts val="120"/>
              </a:spcBef>
            </a:pPr>
            <a:r>
              <a:rPr dirty="0" sz="1000" spc="-65" b="1">
                <a:latin typeface="宋体"/>
                <a:cs typeface="宋体"/>
              </a:rPr>
              <a:t>操作总线</a:t>
            </a:r>
            <a:endParaRPr sz="1000">
              <a:latin typeface="宋体"/>
              <a:cs typeface="宋体"/>
            </a:endParaRPr>
          </a:p>
        </p:txBody>
      </p:sp>
      <p:sp>
        <p:nvSpPr>
          <p:cNvPr id="25" name="object 25" descr=""/>
          <p:cNvSpPr txBox="1"/>
          <p:nvPr/>
        </p:nvSpPr>
        <p:spPr>
          <a:xfrm>
            <a:off x="6623193" y="2946746"/>
            <a:ext cx="267335" cy="181610"/>
          </a:xfrm>
          <a:prstGeom prst="rect">
            <a:avLst/>
          </a:prstGeom>
        </p:spPr>
        <p:txBody>
          <a:bodyPr wrap="square" lIns="0" tIns="15240" rIns="0" bIns="0" rtlCol="0" vert="horz">
            <a:spAutoFit/>
          </a:bodyPr>
          <a:lstStyle/>
          <a:p>
            <a:pPr marL="12700">
              <a:lnSpc>
                <a:spcPct val="100000"/>
              </a:lnSpc>
              <a:spcBef>
                <a:spcPts val="120"/>
              </a:spcBef>
            </a:pPr>
            <a:r>
              <a:rPr dirty="0" sz="1000" spc="-55" b="1">
                <a:latin typeface="宋体"/>
                <a:cs typeface="宋体"/>
              </a:rPr>
              <a:t>数据</a:t>
            </a:r>
            <a:endParaRPr sz="1000">
              <a:latin typeface="宋体"/>
              <a:cs typeface="宋体"/>
            </a:endParaRPr>
          </a:p>
        </p:txBody>
      </p:sp>
      <p:grpSp>
        <p:nvGrpSpPr>
          <p:cNvPr id="26" name="object 26" descr=""/>
          <p:cNvGrpSpPr/>
          <p:nvPr/>
        </p:nvGrpSpPr>
        <p:grpSpPr>
          <a:xfrm>
            <a:off x="6700435" y="462688"/>
            <a:ext cx="4796790" cy="2423160"/>
            <a:chOff x="6700435" y="462688"/>
            <a:chExt cx="4796790" cy="2423160"/>
          </a:xfrm>
        </p:grpSpPr>
        <p:sp>
          <p:nvSpPr>
            <p:cNvPr id="27" name="object 27" descr=""/>
            <p:cNvSpPr/>
            <p:nvPr/>
          </p:nvSpPr>
          <p:spPr>
            <a:xfrm>
              <a:off x="8709375" y="468085"/>
              <a:ext cx="612775" cy="670560"/>
            </a:xfrm>
            <a:custGeom>
              <a:avLst/>
              <a:gdLst/>
              <a:ahLst/>
              <a:cxnLst/>
              <a:rect l="l" t="t" r="r" b="b"/>
              <a:pathLst>
                <a:path w="612775" h="670560">
                  <a:moveTo>
                    <a:pt x="612218" y="0"/>
                  </a:moveTo>
                  <a:lnTo>
                    <a:pt x="0" y="0"/>
                  </a:lnTo>
                  <a:lnTo>
                    <a:pt x="0" y="669979"/>
                  </a:lnTo>
                  <a:lnTo>
                    <a:pt x="612218" y="669980"/>
                  </a:lnTo>
                  <a:lnTo>
                    <a:pt x="612218" y="0"/>
                  </a:lnTo>
                  <a:close/>
                </a:path>
              </a:pathLst>
            </a:custGeom>
            <a:solidFill>
              <a:srgbClr val="FFCC99"/>
            </a:solidFill>
          </p:spPr>
          <p:txBody>
            <a:bodyPr wrap="square" lIns="0" tIns="0" rIns="0" bIns="0" rtlCol="0"/>
            <a:lstStyle/>
            <a:p/>
          </p:txBody>
        </p:sp>
        <p:sp>
          <p:nvSpPr>
            <p:cNvPr id="28" name="object 28" descr=""/>
            <p:cNvSpPr/>
            <p:nvPr/>
          </p:nvSpPr>
          <p:spPr>
            <a:xfrm>
              <a:off x="8709375" y="468085"/>
              <a:ext cx="612775" cy="670560"/>
            </a:xfrm>
            <a:custGeom>
              <a:avLst/>
              <a:gdLst/>
              <a:ahLst/>
              <a:cxnLst/>
              <a:rect l="l" t="t" r="r" b="b"/>
              <a:pathLst>
                <a:path w="612775" h="670560">
                  <a:moveTo>
                    <a:pt x="0" y="669979"/>
                  </a:moveTo>
                  <a:lnTo>
                    <a:pt x="612218" y="669980"/>
                  </a:lnTo>
                  <a:lnTo>
                    <a:pt x="612218" y="0"/>
                  </a:lnTo>
                  <a:lnTo>
                    <a:pt x="0" y="0"/>
                  </a:lnTo>
                  <a:lnTo>
                    <a:pt x="0" y="669979"/>
                  </a:lnTo>
                  <a:close/>
                </a:path>
              </a:pathLst>
            </a:custGeom>
            <a:ln w="10253">
              <a:solidFill>
                <a:srgbClr val="000000"/>
              </a:solidFill>
            </a:ln>
          </p:spPr>
          <p:txBody>
            <a:bodyPr wrap="square" lIns="0" tIns="0" rIns="0" bIns="0" rtlCol="0"/>
            <a:lstStyle/>
            <a:p/>
          </p:txBody>
        </p:sp>
        <p:sp>
          <p:nvSpPr>
            <p:cNvPr id="29" name="object 29" descr=""/>
            <p:cNvSpPr/>
            <p:nvPr/>
          </p:nvSpPr>
          <p:spPr>
            <a:xfrm>
              <a:off x="8709375" y="602156"/>
              <a:ext cx="612775" cy="401955"/>
            </a:xfrm>
            <a:custGeom>
              <a:avLst/>
              <a:gdLst/>
              <a:ahLst/>
              <a:cxnLst/>
              <a:rect l="l" t="t" r="r" b="b"/>
              <a:pathLst>
                <a:path w="612775" h="401955">
                  <a:moveTo>
                    <a:pt x="0" y="0"/>
                  </a:moveTo>
                  <a:lnTo>
                    <a:pt x="612284" y="0"/>
                  </a:lnTo>
                </a:path>
                <a:path w="612775" h="401955">
                  <a:moveTo>
                    <a:pt x="0" y="134085"/>
                  </a:moveTo>
                  <a:lnTo>
                    <a:pt x="612284" y="134085"/>
                  </a:lnTo>
                </a:path>
                <a:path w="612775" h="401955">
                  <a:moveTo>
                    <a:pt x="0" y="268170"/>
                  </a:moveTo>
                  <a:lnTo>
                    <a:pt x="612284" y="268170"/>
                  </a:lnTo>
                </a:path>
                <a:path w="612775" h="401955">
                  <a:moveTo>
                    <a:pt x="0" y="401823"/>
                  </a:moveTo>
                  <a:lnTo>
                    <a:pt x="612284" y="401823"/>
                  </a:lnTo>
                </a:path>
              </a:pathLst>
            </a:custGeom>
            <a:ln w="10292">
              <a:solidFill>
                <a:srgbClr val="000000"/>
              </a:solidFill>
            </a:ln>
          </p:spPr>
          <p:txBody>
            <a:bodyPr wrap="square" lIns="0" tIns="0" rIns="0" bIns="0" rtlCol="0"/>
            <a:lstStyle/>
            <a:p/>
          </p:txBody>
        </p:sp>
        <p:sp>
          <p:nvSpPr>
            <p:cNvPr id="30" name="object 30" descr=""/>
            <p:cNvSpPr/>
            <p:nvPr/>
          </p:nvSpPr>
          <p:spPr>
            <a:xfrm>
              <a:off x="6705833" y="1852610"/>
              <a:ext cx="835025" cy="982344"/>
            </a:xfrm>
            <a:custGeom>
              <a:avLst/>
              <a:gdLst/>
              <a:ahLst/>
              <a:cxnLst/>
              <a:rect l="l" t="t" r="r" b="b"/>
              <a:pathLst>
                <a:path w="835025" h="982344">
                  <a:moveTo>
                    <a:pt x="834732" y="0"/>
                  </a:moveTo>
                  <a:lnTo>
                    <a:pt x="0" y="0"/>
                  </a:lnTo>
                  <a:lnTo>
                    <a:pt x="0" y="982341"/>
                  </a:lnTo>
                  <a:lnTo>
                    <a:pt x="834732" y="982341"/>
                  </a:lnTo>
                  <a:lnTo>
                    <a:pt x="834732" y="0"/>
                  </a:lnTo>
                  <a:close/>
                </a:path>
              </a:pathLst>
            </a:custGeom>
            <a:solidFill>
              <a:srgbClr val="CCFFCC"/>
            </a:solidFill>
          </p:spPr>
          <p:txBody>
            <a:bodyPr wrap="square" lIns="0" tIns="0" rIns="0" bIns="0" rtlCol="0"/>
            <a:lstStyle/>
            <a:p/>
          </p:txBody>
        </p:sp>
        <p:sp>
          <p:nvSpPr>
            <p:cNvPr id="31" name="object 31" descr=""/>
            <p:cNvSpPr/>
            <p:nvPr/>
          </p:nvSpPr>
          <p:spPr>
            <a:xfrm>
              <a:off x="6705833" y="1852610"/>
              <a:ext cx="835025" cy="982344"/>
            </a:xfrm>
            <a:custGeom>
              <a:avLst/>
              <a:gdLst/>
              <a:ahLst/>
              <a:cxnLst/>
              <a:rect l="l" t="t" r="r" b="b"/>
              <a:pathLst>
                <a:path w="835025" h="982344">
                  <a:moveTo>
                    <a:pt x="0" y="982341"/>
                  </a:moveTo>
                  <a:lnTo>
                    <a:pt x="834732" y="982341"/>
                  </a:lnTo>
                  <a:lnTo>
                    <a:pt x="834732" y="0"/>
                  </a:lnTo>
                  <a:lnTo>
                    <a:pt x="0" y="0"/>
                  </a:lnTo>
                  <a:lnTo>
                    <a:pt x="0" y="982341"/>
                  </a:lnTo>
                  <a:close/>
                </a:path>
              </a:pathLst>
            </a:custGeom>
            <a:ln w="10222">
              <a:solidFill>
                <a:srgbClr val="000000"/>
              </a:solidFill>
            </a:ln>
          </p:spPr>
          <p:txBody>
            <a:bodyPr wrap="square" lIns="0" tIns="0" rIns="0" bIns="0" rtlCol="0"/>
            <a:lstStyle/>
            <a:p/>
          </p:txBody>
        </p:sp>
        <p:sp>
          <p:nvSpPr>
            <p:cNvPr id="32" name="object 32" descr=""/>
            <p:cNvSpPr/>
            <p:nvPr/>
          </p:nvSpPr>
          <p:spPr>
            <a:xfrm>
              <a:off x="6705833" y="1852610"/>
              <a:ext cx="835025" cy="982344"/>
            </a:xfrm>
            <a:custGeom>
              <a:avLst/>
              <a:gdLst/>
              <a:ahLst/>
              <a:cxnLst/>
              <a:rect l="l" t="t" r="r" b="b"/>
              <a:pathLst>
                <a:path w="835025" h="982344">
                  <a:moveTo>
                    <a:pt x="0" y="163497"/>
                  </a:moveTo>
                  <a:lnTo>
                    <a:pt x="834732" y="163497"/>
                  </a:lnTo>
                </a:path>
                <a:path w="835025" h="982344">
                  <a:moveTo>
                    <a:pt x="0" y="327572"/>
                  </a:moveTo>
                  <a:lnTo>
                    <a:pt x="834732" y="327572"/>
                  </a:lnTo>
                </a:path>
                <a:path w="835025" h="982344">
                  <a:moveTo>
                    <a:pt x="0" y="491343"/>
                  </a:moveTo>
                  <a:lnTo>
                    <a:pt x="834732" y="491343"/>
                  </a:lnTo>
                </a:path>
                <a:path w="835025" h="982344">
                  <a:moveTo>
                    <a:pt x="0" y="654769"/>
                  </a:moveTo>
                  <a:lnTo>
                    <a:pt x="834732" y="654769"/>
                  </a:lnTo>
                </a:path>
                <a:path w="835025" h="982344">
                  <a:moveTo>
                    <a:pt x="0" y="818901"/>
                  </a:moveTo>
                  <a:lnTo>
                    <a:pt x="834732" y="818901"/>
                  </a:lnTo>
                </a:path>
                <a:path w="835025" h="982344">
                  <a:moveTo>
                    <a:pt x="417359" y="0"/>
                  </a:moveTo>
                  <a:lnTo>
                    <a:pt x="417359" y="982341"/>
                  </a:lnTo>
                </a:path>
              </a:pathLst>
            </a:custGeom>
            <a:ln w="10292">
              <a:solidFill>
                <a:srgbClr val="000000"/>
              </a:solidFill>
            </a:ln>
          </p:spPr>
          <p:txBody>
            <a:bodyPr wrap="square" lIns="0" tIns="0" rIns="0" bIns="0" rtlCol="0"/>
            <a:lstStyle/>
            <a:p/>
          </p:txBody>
        </p:sp>
        <p:sp>
          <p:nvSpPr>
            <p:cNvPr id="33" name="object 33" descr=""/>
            <p:cNvSpPr/>
            <p:nvPr/>
          </p:nvSpPr>
          <p:spPr>
            <a:xfrm>
              <a:off x="7735425" y="1852610"/>
              <a:ext cx="417830" cy="982344"/>
            </a:xfrm>
            <a:custGeom>
              <a:avLst/>
              <a:gdLst/>
              <a:ahLst/>
              <a:cxnLst/>
              <a:rect l="l" t="t" r="r" b="b"/>
              <a:pathLst>
                <a:path w="417829" h="982344">
                  <a:moveTo>
                    <a:pt x="417373" y="0"/>
                  </a:moveTo>
                  <a:lnTo>
                    <a:pt x="0" y="0"/>
                  </a:lnTo>
                  <a:lnTo>
                    <a:pt x="0" y="982341"/>
                  </a:lnTo>
                  <a:lnTo>
                    <a:pt x="417373" y="982341"/>
                  </a:lnTo>
                  <a:lnTo>
                    <a:pt x="417373" y="0"/>
                  </a:lnTo>
                  <a:close/>
                </a:path>
              </a:pathLst>
            </a:custGeom>
            <a:solidFill>
              <a:srgbClr val="CCFFCC"/>
            </a:solidFill>
          </p:spPr>
          <p:txBody>
            <a:bodyPr wrap="square" lIns="0" tIns="0" rIns="0" bIns="0" rtlCol="0"/>
            <a:lstStyle/>
            <a:p/>
          </p:txBody>
        </p:sp>
        <p:sp>
          <p:nvSpPr>
            <p:cNvPr id="34" name="object 34" descr=""/>
            <p:cNvSpPr/>
            <p:nvPr/>
          </p:nvSpPr>
          <p:spPr>
            <a:xfrm>
              <a:off x="7735425" y="1852610"/>
              <a:ext cx="417830" cy="982344"/>
            </a:xfrm>
            <a:custGeom>
              <a:avLst/>
              <a:gdLst/>
              <a:ahLst/>
              <a:cxnLst/>
              <a:rect l="l" t="t" r="r" b="b"/>
              <a:pathLst>
                <a:path w="417829" h="982344">
                  <a:moveTo>
                    <a:pt x="0" y="982341"/>
                  </a:moveTo>
                  <a:lnTo>
                    <a:pt x="417373" y="982341"/>
                  </a:lnTo>
                  <a:lnTo>
                    <a:pt x="417373" y="0"/>
                  </a:lnTo>
                  <a:lnTo>
                    <a:pt x="0" y="0"/>
                  </a:lnTo>
                  <a:lnTo>
                    <a:pt x="0" y="982341"/>
                  </a:lnTo>
                  <a:close/>
                </a:path>
              </a:pathLst>
            </a:custGeom>
            <a:ln w="9988">
              <a:solidFill>
                <a:srgbClr val="000000"/>
              </a:solidFill>
            </a:ln>
          </p:spPr>
          <p:txBody>
            <a:bodyPr wrap="square" lIns="0" tIns="0" rIns="0" bIns="0" rtlCol="0"/>
            <a:lstStyle/>
            <a:p/>
          </p:txBody>
        </p:sp>
        <p:sp>
          <p:nvSpPr>
            <p:cNvPr id="35" name="object 35" descr=""/>
            <p:cNvSpPr/>
            <p:nvPr/>
          </p:nvSpPr>
          <p:spPr>
            <a:xfrm>
              <a:off x="7735425" y="2016108"/>
              <a:ext cx="417830" cy="655955"/>
            </a:xfrm>
            <a:custGeom>
              <a:avLst/>
              <a:gdLst/>
              <a:ahLst/>
              <a:cxnLst/>
              <a:rect l="l" t="t" r="r" b="b"/>
              <a:pathLst>
                <a:path w="417829" h="655955">
                  <a:moveTo>
                    <a:pt x="0" y="0"/>
                  </a:moveTo>
                  <a:lnTo>
                    <a:pt x="417399" y="0"/>
                  </a:lnTo>
                </a:path>
                <a:path w="417829" h="655955">
                  <a:moveTo>
                    <a:pt x="0" y="164074"/>
                  </a:moveTo>
                  <a:lnTo>
                    <a:pt x="417399" y="164074"/>
                  </a:lnTo>
                </a:path>
                <a:path w="417829" h="655955">
                  <a:moveTo>
                    <a:pt x="0" y="327845"/>
                  </a:moveTo>
                  <a:lnTo>
                    <a:pt x="417399" y="327846"/>
                  </a:lnTo>
                </a:path>
                <a:path w="417829" h="655955">
                  <a:moveTo>
                    <a:pt x="0" y="491271"/>
                  </a:moveTo>
                  <a:lnTo>
                    <a:pt x="417399" y="491271"/>
                  </a:lnTo>
                </a:path>
                <a:path w="417829" h="655955">
                  <a:moveTo>
                    <a:pt x="0" y="655403"/>
                  </a:moveTo>
                  <a:lnTo>
                    <a:pt x="417399" y="655403"/>
                  </a:lnTo>
                </a:path>
              </a:pathLst>
            </a:custGeom>
            <a:ln w="10292">
              <a:solidFill>
                <a:srgbClr val="000000"/>
              </a:solidFill>
            </a:ln>
          </p:spPr>
          <p:txBody>
            <a:bodyPr wrap="square" lIns="0" tIns="0" rIns="0" bIns="0" rtlCol="0"/>
            <a:lstStyle/>
            <a:p/>
          </p:txBody>
        </p:sp>
        <p:sp>
          <p:nvSpPr>
            <p:cNvPr id="36" name="object 36" descr=""/>
            <p:cNvSpPr/>
            <p:nvPr/>
          </p:nvSpPr>
          <p:spPr>
            <a:xfrm>
              <a:off x="8598171" y="2433085"/>
              <a:ext cx="1141095" cy="447040"/>
            </a:xfrm>
            <a:custGeom>
              <a:avLst/>
              <a:gdLst/>
              <a:ahLst/>
              <a:cxnLst/>
              <a:rect l="l" t="t" r="r" b="b"/>
              <a:pathLst>
                <a:path w="1141095" h="447039">
                  <a:moveTo>
                    <a:pt x="1140848" y="0"/>
                  </a:moveTo>
                  <a:lnTo>
                    <a:pt x="0" y="0"/>
                  </a:lnTo>
                  <a:lnTo>
                    <a:pt x="0" y="446778"/>
                  </a:lnTo>
                  <a:lnTo>
                    <a:pt x="1140848" y="446778"/>
                  </a:lnTo>
                  <a:lnTo>
                    <a:pt x="1140848" y="0"/>
                  </a:lnTo>
                  <a:close/>
                </a:path>
              </a:pathLst>
            </a:custGeom>
            <a:solidFill>
              <a:srgbClr val="CCFFCC"/>
            </a:solidFill>
          </p:spPr>
          <p:txBody>
            <a:bodyPr wrap="square" lIns="0" tIns="0" rIns="0" bIns="0" rtlCol="0"/>
            <a:lstStyle/>
            <a:p/>
          </p:txBody>
        </p:sp>
        <p:sp>
          <p:nvSpPr>
            <p:cNvPr id="37" name="object 37" descr=""/>
            <p:cNvSpPr/>
            <p:nvPr/>
          </p:nvSpPr>
          <p:spPr>
            <a:xfrm>
              <a:off x="8598171" y="2433085"/>
              <a:ext cx="1141095" cy="447040"/>
            </a:xfrm>
            <a:custGeom>
              <a:avLst/>
              <a:gdLst/>
              <a:ahLst/>
              <a:cxnLst/>
              <a:rect l="l" t="t" r="r" b="b"/>
              <a:pathLst>
                <a:path w="1141095" h="447039">
                  <a:moveTo>
                    <a:pt x="0" y="446778"/>
                  </a:moveTo>
                  <a:lnTo>
                    <a:pt x="1140848" y="446778"/>
                  </a:lnTo>
                  <a:lnTo>
                    <a:pt x="1140848" y="0"/>
                  </a:lnTo>
                  <a:lnTo>
                    <a:pt x="0" y="0"/>
                  </a:lnTo>
                  <a:lnTo>
                    <a:pt x="0" y="446778"/>
                  </a:lnTo>
                  <a:close/>
                </a:path>
              </a:pathLst>
            </a:custGeom>
            <a:ln w="10615">
              <a:solidFill>
                <a:srgbClr val="000000"/>
              </a:solidFill>
            </a:ln>
          </p:spPr>
          <p:txBody>
            <a:bodyPr wrap="square" lIns="0" tIns="0" rIns="0" bIns="0" rtlCol="0"/>
            <a:lstStyle/>
            <a:p/>
          </p:txBody>
        </p:sp>
        <p:sp>
          <p:nvSpPr>
            <p:cNvPr id="38" name="object 38" descr=""/>
            <p:cNvSpPr/>
            <p:nvPr/>
          </p:nvSpPr>
          <p:spPr>
            <a:xfrm>
              <a:off x="8598171" y="2433099"/>
              <a:ext cx="1141095" cy="447040"/>
            </a:xfrm>
            <a:custGeom>
              <a:avLst/>
              <a:gdLst/>
              <a:ahLst/>
              <a:cxnLst/>
              <a:rect l="l" t="t" r="r" b="b"/>
              <a:pathLst>
                <a:path w="1141095" h="447039">
                  <a:moveTo>
                    <a:pt x="0" y="149267"/>
                  </a:moveTo>
                  <a:lnTo>
                    <a:pt x="1140769" y="149267"/>
                  </a:lnTo>
                </a:path>
                <a:path w="1141095" h="447039">
                  <a:moveTo>
                    <a:pt x="0" y="297496"/>
                  </a:moveTo>
                  <a:lnTo>
                    <a:pt x="1140769" y="297496"/>
                  </a:lnTo>
                </a:path>
                <a:path w="1141095" h="447039">
                  <a:moveTo>
                    <a:pt x="194210" y="0"/>
                  </a:moveTo>
                  <a:lnTo>
                    <a:pt x="194210" y="446763"/>
                  </a:lnTo>
                </a:path>
                <a:path w="1141095" h="447039">
                  <a:moveTo>
                    <a:pt x="679536" y="0"/>
                  </a:moveTo>
                  <a:lnTo>
                    <a:pt x="679536" y="446763"/>
                  </a:lnTo>
                </a:path>
              </a:pathLst>
            </a:custGeom>
            <a:ln w="10292">
              <a:solidFill>
                <a:srgbClr val="000000"/>
              </a:solidFill>
            </a:ln>
          </p:spPr>
          <p:txBody>
            <a:bodyPr wrap="square" lIns="0" tIns="0" rIns="0" bIns="0" rtlCol="0"/>
            <a:lstStyle/>
            <a:p/>
          </p:txBody>
        </p:sp>
        <p:sp>
          <p:nvSpPr>
            <p:cNvPr id="39" name="object 39" descr=""/>
            <p:cNvSpPr/>
            <p:nvPr/>
          </p:nvSpPr>
          <p:spPr>
            <a:xfrm>
              <a:off x="10350828" y="2522591"/>
              <a:ext cx="1141095" cy="312420"/>
            </a:xfrm>
            <a:custGeom>
              <a:avLst/>
              <a:gdLst/>
              <a:ahLst/>
              <a:cxnLst/>
              <a:rect l="l" t="t" r="r" b="b"/>
              <a:pathLst>
                <a:path w="1141095" h="312419">
                  <a:moveTo>
                    <a:pt x="1140848" y="0"/>
                  </a:moveTo>
                  <a:lnTo>
                    <a:pt x="0" y="0"/>
                  </a:lnTo>
                  <a:lnTo>
                    <a:pt x="0" y="312361"/>
                  </a:lnTo>
                  <a:lnTo>
                    <a:pt x="1140848" y="312361"/>
                  </a:lnTo>
                  <a:lnTo>
                    <a:pt x="1140848" y="0"/>
                  </a:lnTo>
                  <a:close/>
                </a:path>
              </a:pathLst>
            </a:custGeom>
            <a:solidFill>
              <a:srgbClr val="CCFFCC"/>
            </a:solidFill>
          </p:spPr>
          <p:txBody>
            <a:bodyPr wrap="square" lIns="0" tIns="0" rIns="0" bIns="0" rtlCol="0"/>
            <a:lstStyle/>
            <a:p/>
          </p:txBody>
        </p:sp>
        <p:sp>
          <p:nvSpPr>
            <p:cNvPr id="40" name="object 40" descr=""/>
            <p:cNvSpPr/>
            <p:nvPr/>
          </p:nvSpPr>
          <p:spPr>
            <a:xfrm>
              <a:off x="10350828" y="2522591"/>
              <a:ext cx="1141095" cy="312420"/>
            </a:xfrm>
            <a:custGeom>
              <a:avLst/>
              <a:gdLst/>
              <a:ahLst/>
              <a:cxnLst/>
              <a:rect l="l" t="t" r="r" b="b"/>
              <a:pathLst>
                <a:path w="1141095" h="312419">
                  <a:moveTo>
                    <a:pt x="0" y="312361"/>
                  </a:moveTo>
                  <a:lnTo>
                    <a:pt x="1140848" y="312361"/>
                  </a:lnTo>
                  <a:lnTo>
                    <a:pt x="1140848" y="0"/>
                  </a:lnTo>
                  <a:lnTo>
                    <a:pt x="0" y="0"/>
                  </a:lnTo>
                  <a:lnTo>
                    <a:pt x="0" y="312361"/>
                  </a:lnTo>
                  <a:close/>
                </a:path>
              </a:pathLst>
            </a:custGeom>
            <a:ln w="10670">
              <a:solidFill>
                <a:srgbClr val="000000"/>
              </a:solidFill>
            </a:ln>
          </p:spPr>
          <p:txBody>
            <a:bodyPr wrap="square" lIns="0" tIns="0" rIns="0" bIns="0" rtlCol="0"/>
            <a:lstStyle/>
            <a:p/>
          </p:txBody>
        </p:sp>
        <p:sp>
          <p:nvSpPr>
            <p:cNvPr id="41" name="object 41" descr=""/>
            <p:cNvSpPr/>
            <p:nvPr/>
          </p:nvSpPr>
          <p:spPr>
            <a:xfrm>
              <a:off x="10350828" y="2522591"/>
              <a:ext cx="1141095" cy="312420"/>
            </a:xfrm>
            <a:custGeom>
              <a:avLst/>
              <a:gdLst/>
              <a:ahLst/>
              <a:cxnLst/>
              <a:rect l="l" t="t" r="r" b="b"/>
              <a:pathLst>
                <a:path w="1141095" h="312419">
                  <a:moveTo>
                    <a:pt x="0" y="156173"/>
                  </a:moveTo>
                  <a:lnTo>
                    <a:pt x="1140901" y="156173"/>
                  </a:lnTo>
                </a:path>
                <a:path w="1141095" h="312419">
                  <a:moveTo>
                    <a:pt x="194342" y="0"/>
                  </a:moveTo>
                  <a:lnTo>
                    <a:pt x="194342" y="312361"/>
                  </a:lnTo>
                </a:path>
                <a:path w="1141095" h="312419">
                  <a:moveTo>
                    <a:pt x="679934" y="0"/>
                  </a:moveTo>
                  <a:lnTo>
                    <a:pt x="679934" y="312361"/>
                  </a:lnTo>
                </a:path>
              </a:pathLst>
            </a:custGeom>
            <a:ln w="10292">
              <a:solidFill>
                <a:srgbClr val="000000"/>
              </a:solidFill>
            </a:ln>
          </p:spPr>
          <p:txBody>
            <a:bodyPr wrap="square" lIns="0" tIns="0" rIns="0" bIns="0" rtlCol="0"/>
            <a:lstStyle/>
            <a:p/>
          </p:txBody>
        </p:sp>
      </p:grpSp>
      <p:sp>
        <p:nvSpPr>
          <p:cNvPr id="42" name="object 42" descr=""/>
          <p:cNvSpPr txBox="1"/>
          <p:nvPr/>
        </p:nvSpPr>
        <p:spPr>
          <a:xfrm>
            <a:off x="6817090" y="3192570"/>
            <a:ext cx="1169035" cy="312420"/>
          </a:xfrm>
          <a:prstGeom prst="rect">
            <a:avLst/>
          </a:prstGeom>
          <a:solidFill>
            <a:srgbClr val="CCFFFF"/>
          </a:solidFill>
          <a:ln w="10681">
            <a:solidFill>
              <a:srgbClr val="000000"/>
            </a:solidFill>
          </a:ln>
        </p:spPr>
        <p:txBody>
          <a:bodyPr wrap="square" lIns="0" tIns="71755" rIns="0" bIns="0" rtlCol="0" vert="horz">
            <a:spAutoFit/>
          </a:bodyPr>
          <a:lstStyle/>
          <a:p>
            <a:pPr marL="346710">
              <a:lnSpc>
                <a:spcPct val="100000"/>
              </a:lnSpc>
              <a:spcBef>
                <a:spcPts val="565"/>
              </a:spcBef>
            </a:pPr>
            <a:r>
              <a:rPr dirty="0" sz="1000" spc="-65" b="1">
                <a:latin typeface="宋体"/>
                <a:cs typeface="宋体"/>
              </a:rPr>
              <a:t>存储部件</a:t>
            </a:r>
            <a:endParaRPr sz="1000">
              <a:latin typeface="宋体"/>
              <a:cs typeface="宋体"/>
            </a:endParaRPr>
          </a:p>
        </p:txBody>
      </p:sp>
      <p:sp>
        <p:nvSpPr>
          <p:cNvPr id="43" name="object 43" descr=""/>
          <p:cNvSpPr txBox="1"/>
          <p:nvPr/>
        </p:nvSpPr>
        <p:spPr>
          <a:xfrm>
            <a:off x="8793043" y="3192571"/>
            <a:ext cx="890905" cy="312420"/>
          </a:xfrm>
          <a:prstGeom prst="rect">
            <a:avLst/>
          </a:prstGeom>
          <a:solidFill>
            <a:srgbClr val="FFBCDE"/>
          </a:solidFill>
          <a:ln w="10649">
            <a:solidFill>
              <a:srgbClr val="000000"/>
            </a:solidFill>
          </a:ln>
        </p:spPr>
        <p:txBody>
          <a:bodyPr wrap="square" lIns="0" tIns="71755" rIns="0" bIns="0" rtlCol="0" vert="horz">
            <a:spAutoFit/>
          </a:bodyPr>
          <a:lstStyle/>
          <a:p>
            <a:pPr marL="151130">
              <a:lnSpc>
                <a:spcPct val="100000"/>
              </a:lnSpc>
              <a:spcBef>
                <a:spcPts val="565"/>
              </a:spcBef>
            </a:pPr>
            <a:r>
              <a:rPr dirty="0" sz="1000" spc="-70" b="1">
                <a:latin typeface="宋体"/>
                <a:cs typeface="宋体"/>
              </a:rPr>
              <a:t>浮点加法器</a:t>
            </a:r>
            <a:endParaRPr sz="1000">
              <a:latin typeface="宋体"/>
              <a:cs typeface="宋体"/>
            </a:endParaRPr>
          </a:p>
        </p:txBody>
      </p:sp>
      <p:sp>
        <p:nvSpPr>
          <p:cNvPr id="44" name="object 44" descr=""/>
          <p:cNvSpPr txBox="1"/>
          <p:nvPr/>
        </p:nvSpPr>
        <p:spPr>
          <a:xfrm>
            <a:off x="10573766" y="3192571"/>
            <a:ext cx="890905" cy="312420"/>
          </a:xfrm>
          <a:prstGeom prst="rect">
            <a:avLst/>
          </a:prstGeom>
          <a:solidFill>
            <a:srgbClr val="E6CDFF"/>
          </a:solidFill>
          <a:ln w="10649">
            <a:solidFill>
              <a:srgbClr val="000000"/>
            </a:solidFill>
          </a:ln>
        </p:spPr>
        <p:txBody>
          <a:bodyPr wrap="square" lIns="0" tIns="66675" rIns="0" bIns="0" rtlCol="0" vert="horz">
            <a:spAutoFit/>
          </a:bodyPr>
          <a:lstStyle/>
          <a:p>
            <a:pPr marL="156210">
              <a:lnSpc>
                <a:spcPct val="100000"/>
              </a:lnSpc>
              <a:spcBef>
                <a:spcPts val="525"/>
              </a:spcBef>
            </a:pPr>
            <a:r>
              <a:rPr dirty="0" sz="1000" spc="-70" b="1">
                <a:latin typeface="宋体"/>
                <a:cs typeface="宋体"/>
              </a:rPr>
              <a:t>浮点乘法器</a:t>
            </a:r>
            <a:endParaRPr sz="1000">
              <a:latin typeface="宋体"/>
              <a:cs typeface="宋体"/>
            </a:endParaRPr>
          </a:p>
        </p:txBody>
      </p:sp>
      <p:grpSp>
        <p:nvGrpSpPr>
          <p:cNvPr id="45" name="object 45" descr=""/>
          <p:cNvGrpSpPr/>
          <p:nvPr/>
        </p:nvGrpSpPr>
        <p:grpSpPr>
          <a:xfrm>
            <a:off x="6928983" y="236578"/>
            <a:ext cx="3789679" cy="2957195"/>
            <a:chOff x="6928983" y="236578"/>
            <a:chExt cx="3789679" cy="2957195"/>
          </a:xfrm>
        </p:grpSpPr>
        <p:sp>
          <p:nvSpPr>
            <p:cNvPr id="46" name="object 46" descr=""/>
            <p:cNvSpPr/>
            <p:nvPr/>
          </p:nvSpPr>
          <p:spPr>
            <a:xfrm>
              <a:off x="10072684" y="646736"/>
              <a:ext cx="640080" cy="625475"/>
            </a:xfrm>
            <a:custGeom>
              <a:avLst/>
              <a:gdLst/>
              <a:ahLst/>
              <a:cxnLst/>
              <a:rect l="l" t="t" r="r" b="b"/>
              <a:pathLst>
                <a:path w="640079" h="625475">
                  <a:moveTo>
                    <a:pt x="639874" y="0"/>
                  </a:moveTo>
                  <a:lnTo>
                    <a:pt x="0" y="0"/>
                  </a:lnTo>
                  <a:lnTo>
                    <a:pt x="0" y="625414"/>
                  </a:lnTo>
                  <a:lnTo>
                    <a:pt x="639874" y="625414"/>
                  </a:lnTo>
                  <a:lnTo>
                    <a:pt x="639874" y="0"/>
                  </a:lnTo>
                  <a:close/>
                </a:path>
              </a:pathLst>
            </a:custGeom>
            <a:solidFill>
              <a:srgbClr val="FFFF99"/>
            </a:solidFill>
          </p:spPr>
          <p:txBody>
            <a:bodyPr wrap="square" lIns="0" tIns="0" rIns="0" bIns="0" rtlCol="0"/>
            <a:lstStyle/>
            <a:p/>
          </p:txBody>
        </p:sp>
        <p:sp>
          <p:nvSpPr>
            <p:cNvPr id="47" name="object 47" descr=""/>
            <p:cNvSpPr/>
            <p:nvPr/>
          </p:nvSpPr>
          <p:spPr>
            <a:xfrm>
              <a:off x="10072684" y="646736"/>
              <a:ext cx="640080" cy="625475"/>
            </a:xfrm>
            <a:custGeom>
              <a:avLst/>
              <a:gdLst/>
              <a:ahLst/>
              <a:cxnLst/>
              <a:rect l="l" t="t" r="r" b="b"/>
              <a:pathLst>
                <a:path w="640079" h="625475">
                  <a:moveTo>
                    <a:pt x="0" y="625414"/>
                  </a:moveTo>
                  <a:lnTo>
                    <a:pt x="639874" y="625414"/>
                  </a:lnTo>
                  <a:lnTo>
                    <a:pt x="639874" y="0"/>
                  </a:lnTo>
                  <a:lnTo>
                    <a:pt x="0" y="0"/>
                  </a:lnTo>
                  <a:lnTo>
                    <a:pt x="0" y="625414"/>
                  </a:lnTo>
                  <a:close/>
                </a:path>
              </a:pathLst>
            </a:custGeom>
            <a:ln w="10302">
              <a:solidFill>
                <a:srgbClr val="000000"/>
              </a:solidFill>
            </a:ln>
          </p:spPr>
          <p:txBody>
            <a:bodyPr wrap="square" lIns="0" tIns="0" rIns="0" bIns="0" rtlCol="0"/>
            <a:lstStyle/>
            <a:p/>
          </p:txBody>
        </p:sp>
        <p:sp>
          <p:nvSpPr>
            <p:cNvPr id="48" name="object 48" descr=""/>
            <p:cNvSpPr/>
            <p:nvPr/>
          </p:nvSpPr>
          <p:spPr>
            <a:xfrm>
              <a:off x="10072684" y="803284"/>
              <a:ext cx="640080" cy="313055"/>
            </a:xfrm>
            <a:custGeom>
              <a:avLst/>
              <a:gdLst/>
              <a:ahLst/>
              <a:cxnLst/>
              <a:rect l="l" t="t" r="r" b="b"/>
              <a:pathLst>
                <a:path w="640079" h="313055">
                  <a:moveTo>
                    <a:pt x="0" y="0"/>
                  </a:moveTo>
                  <a:lnTo>
                    <a:pt x="639953" y="0"/>
                  </a:lnTo>
                </a:path>
                <a:path w="640079" h="313055">
                  <a:moveTo>
                    <a:pt x="0" y="156144"/>
                  </a:moveTo>
                  <a:lnTo>
                    <a:pt x="639953" y="156144"/>
                  </a:lnTo>
                </a:path>
                <a:path w="640079" h="313055">
                  <a:moveTo>
                    <a:pt x="0" y="312577"/>
                  </a:moveTo>
                  <a:lnTo>
                    <a:pt x="639953" y="312577"/>
                  </a:lnTo>
                </a:path>
              </a:pathLst>
            </a:custGeom>
            <a:ln w="10292">
              <a:solidFill>
                <a:srgbClr val="000000"/>
              </a:solidFill>
            </a:ln>
          </p:spPr>
          <p:txBody>
            <a:bodyPr wrap="square" lIns="0" tIns="0" rIns="0" bIns="0" rtlCol="0"/>
            <a:lstStyle/>
            <a:p/>
          </p:txBody>
        </p:sp>
        <p:sp>
          <p:nvSpPr>
            <p:cNvPr id="49" name="object 49" descr=""/>
            <p:cNvSpPr/>
            <p:nvPr/>
          </p:nvSpPr>
          <p:spPr>
            <a:xfrm>
              <a:off x="8961172" y="237530"/>
              <a:ext cx="53340" cy="231140"/>
            </a:xfrm>
            <a:custGeom>
              <a:avLst/>
              <a:gdLst/>
              <a:ahLst/>
              <a:cxnLst/>
              <a:rect l="l" t="t" r="r" b="b"/>
              <a:pathLst>
                <a:path w="53340" h="231140">
                  <a:moveTo>
                    <a:pt x="0" y="144177"/>
                  </a:moveTo>
                  <a:lnTo>
                    <a:pt x="26344" y="230540"/>
                  </a:lnTo>
                  <a:lnTo>
                    <a:pt x="41970" y="180078"/>
                  </a:lnTo>
                  <a:lnTo>
                    <a:pt x="22902" y="180078"/>
                  </a:lnTo>
                  <a:lnTo>
                    <a:pt x="19990" y="176906"/>
                  </a:lnTo>
                  <a:lnTo>
                    <a:pt x="19990" y="165948"/>
                  </a:lnTo>
                  <a:lnTo>
                    <a:pt x="0" y="144177"/>
                  </a:lnTo>
                  <a:close/>
                </a:path>
                <a:path w="53340" h="231140">
                  <a:moveTo>
                    <a:pt x="19990" y="165948"/>
                  </a:moveTo>
                  <a:lnTo>
                    <a:pt x="19990" y="176906"/>
                  </a:lnTo>
                  <a:lnTo>
                    <a:pt x="22902" y="180078"/>
                  </a:lnTo>
                  <a:lnTo>
                    <a:pt x="30183" y="180078"/>
                  </a:lnTo>
                  <a:lnTo>
                    <a:pt x="32964" y="176906"/>
                  </a:lnTo>
                  <a:lnTo>
                    <a:pt x="32964" y="172869"/>
                  </a:lnTo>
                  <a:lnTo>
                    <a:pt x="26344" y="172869"/>
                  </a:lnTo>
                  <a:lnTo>
                    <a:pt x="19990" y="165948"/>
                  </a:lnTo>
                  <a:close/>
                </a:path>
                <a:path w="53340" h="231140">
                  <a:moveTo>
                    <a:pt x="53086" y="144177"/>
                  </a:moveTo>
                  <a:lnTo>
                    <a:pt x="32964" y="165767"/>
                  </a:lnTo>
                  <a:lnTo>
                    <a:pt x="32964" y="176906"/>
                  </a:lnTo>
                  <a:lnTo>
                    <a:pt x="30183" y="180078"/>
                  </a:lnTo>
                  <a:lnTo>
                    <a:pt x="41970" y="180078"/>
                  </a:lnTo>
                  <a:lnTo>
                    <a:pt x="53086" y="144177"/>
                  </a:lnTo>
                  <a:close/>
                </a:path>
                <a:path w="53340" h="231140">
                  <a:moveTo>
                    <a:pt x="30183" y="0"/>
                  </a:moveTo>
                  <a:lnTo>
                    <a:pt x="22902" y="0"/>
                  </a:lnTo>
                  <a:lnTo>
                    <a:pt x="19990" y="3171"/>
                  </a:lnTo>
                  <a:lnTo>
                    <a:pt x="19990" y="165948"/>
                  </a:lnTo>
                  <a:lnTo>
                    <a:pt x="26344" y="172869"/>
                  </a:lnTo>
                  <a:lnTo>
                    <a:pt x="32964" y="165767"/>
                  </a:lnTo>
                  <a:lnTo>
                    <a:pt x="32964" y="3171"/>
                  </a:lnTo>
                  <a:lnTo>
                    <a:pt x="30183" y="0"/>
                  </a:lnTo>
                  <a:close/>
                </a:path>
                <a:path w="53340" h="231140">
                  <a:moveTo>
                    <a:pt x="32964" y="165767"/>
                  </a:moveTo>
                  <a:lnTo>
                    <a:pt x="26344" y="172869"/>
                  </a:lnTo>
                  <a:lnTo>
                    <a:pt x="32964" y="172869"/>
                  </a:lnTo>
                  <a:lnTo>
                    <a:pt x="32964" y="165767"/>
                  </a:lnTo>
                  <a:close/>
                </a:path>
              </a:pathLst>
            </a:custGeom>
            <a:solidFill>
              <a:srgbClr val="000000"/>
            </a:solidFill>
          </p:spPr>
          <p:txBody>
            <a:bodyPr wrap="square" lIns="0" tIns="0" rIns="0" bIns="0" rtlCol="0"/>
            <a:lstStyle/>
            <a:p/>
          </p:txBody>
        </p:sp>
        <p:sp>
          <p:nvSpPr>
            <p:cNvPr id="50" name="object 50" descr=""/>
            <p:cNvSpPr/>
            <p:nvPr/>
          </p:nvSpPr>
          <p:spPr>
            <a:xfrm>
              <a:off x="8961172" y="237530"/>
              <a:ext cx="53340" cy="231140"/>
            </a:xfrm>
            <a:custGeom>
              <a:avLst/>
              <a:gdLst/>
              <a:ahLst/>
              <a:cxnLst/>
              <a:rect l="l" t="t" r="r" b="b"/>
              <a:pathLst>
                <a:path w="53340" h="231140">
                  <a:moveTo>
                    <a:pt x="32964" y="7353"/>
                  </a:moveTo>
                  <a:lnTo>
                    <a:pt x="32964" y="172869"/>
                  </a:lnTo>
                  <a:lnTo>
                    <a:pt x="32964" y="176906"/>
                  </a:lnTo>
                  <a:lnTo>
                    <a:pt x="30183" y="180078"/>
                  </a:lnTo>
                  <a:lnTo>
                    <a:pt x="26344" y="180078"/>
                  </a:lnTo>
                  <a:lnTo>
                    <a:pt x="22902" y="180078"/>
                  </a:lnTo>
                  <a:lnTo>
                    <a:pt x="19990" y="176906"/>
                  </a:lnTo>
                  <a:lnTo>
                    <a:pt x="19990" y="172869"/>
                  </a:lnTo>
                  <a:lnTo>
                    <a:pt x="19990" y="7353"/>
                  </a:lnTo>
                  <a:lnTo>
                    <a:pt x="19990" y="3171"/>
                  </a:lnTo>
                  <a:lnTo>
                    <a:pt x="22902" y="0"/>
                  </a:lnTo>
                  <a:lnTo>
                    <a:pt x="26344" y="0"/>
                  </a:lnTo>
                  <a:lnTo>
                    <a:pt x="30183" y="0"/>
                  </a:lnTo>
                  <a:lnTo>
                    <a:pt x="32964" y="3171"/>
                  </a:lnTo>
                  <a:lnTo>
                    <a:pt x="32964" y="7353"/>
                  </a:lnTo>
                  <a:close/>
                </a:path>
                <a:path w="53340" h="231140">
                  <a:moveTo>
                    <a:pt x="26344" y="172869"/>
                  </a:moveTo>
                  <a:lnTo>
                    <a:pt x="53086" y="144177"/>
                  </a:lnTo>
                  <a:lnTo>
                    <a:pt x="26344" y="230540"/>
                  </a:lnTo>
                  <a:lnTo>
                    <a:pt x="0" y="144177"/>
                  </a:lnTo>
                  <a:lnTo>
                    <a:pt x="26344" y="172869"/>
                  </a:lnTo>
                  <a:close/>
                </a:path>
              </a:pathLst>
            </a:custGeom>
            <a:ln w="3175">
              <a:solidFill>
                <a:srgbClr val="000000"/>
              </a:solidFill>
            </a:ln>
          </p:spPr>
          <p:txBody>
            <a:bodyPr wrap="square" lIns="0" tIns="0" rIns="0" bIns="0" rtlCol="0"/>
            <a:lstStyle/>
            <a:p/>
          </p:txBody>
        </p:sp>
        <p:sp>
          <p:nvSpPr>
            <p:cNvPr id="51" name="object 51" descr=""/>
            <p:cNvSpPr/>
            <p:nvPr/>
          </p:nvSpPr>
          <p:spPr>
            <a:xfrm>
              <a:off x="7930283" y="1138065"/>
              <a:ext cx="946150" cy="89535"/>
            </a:xfrm>
            <a:custGeom>
              <a:avLst/>
              <a:gdLst/>
              <a:ahLst/>
              <a:cxnLst/>
              <a:rect l="l" t="t" r="r" b="b"/>
              <a:pathLst>
                <a:path w="946150" h="89534">
                  <a:moveTo>
                    <a:pt x="946029" y="0"/>
                  </a:moveTo>
                  <a:lnTo>
                    <a:pt x="946029" y="89101"/>
                  </a:lnTo>
                </a:path>
                <a:path w="946150" h="89534">
                  <a:moveTo>
                    <a:pt x="0" y="89101"/>
                  </a:moveTo>
                  <a:lnTo>
                    <a:pt x="946029" y="89101"/>
                  </a:lnTo>
                </a:path>
              </a:pathLst>
            </a:custGeom>
            <a:ln w="10292">
              <a:solidFill>
                <a:srgbClr val="000000"/>
              </a:solidFill>
            </a:ln>
          </p:spPr>
          <p:txBody>
            <a:bodyPr wrap="square" lIns="0" tIns="0" rIns="0" bIns="0" rtlCol="0"/>
            <a:lstStyle/>
            <a:p/>
          </p:txBody>
        </p:sp>
        <p:sp>
          <p:nvSpPr>
            <p:cNvPr id="52" name="object 52" descr=""/>
            <p:cNvSpPr/>
            <p:nvPr/>
          </p:nvSpPr>
          <p:spPr>
            <a:xfrm>
              <a:off x="7903938" y="1220246"/>
              <a:ext cx="52705" cy="186055"/>
            </a:xfrm>
            <a:custGeom>
              <a:avLst/>
              <a:gdLst/>
              <a:ahLst/>
              <a:cxnLst/>
              <a:rect l="l" t="t" r="r" b="b"/>
              <a:pathLst>
                <a:path w="52704" h="186055">
                  <a:moveTo>
                    <a:pt x="0" y="99194"/>
                  </a:moveTo>
                  <a:lnTo>
                    <a:pt x="26344" y="185989"/>
                  </a:lnTo>
                  <a:lnTo>
                    <a:pt x="41661" y="135527"/>
                  </a:lnTo>
                  <a:lnTo>
                    <a:pt x="22902" y="135527"/>
                  </a:lnTo>
                  <a:lnTo>
                    <a:pt x="19725" y="132066"/>
                  </a:lnTo>
                  <a:lnTo>
                    <a:pt x="19725" y="120892"/>
                  </a:lnTo>
                  <a:lnTo>
                    <a:pt x="0" y="99194"/>
                  </a:lnTo>
                  <a:close/>
                </a:path>
                <a:path w="52704" h="186055">
                  <a:moveTo>
                    <a:pt x="19725" y="120892"/>
                  </a:moveTo>
                  <a:lnTo>
                    <a:pt x="19725" y="132066"/>
                  </a:lnTo>
                  <a:lnTo>
                    <a:pt x="22902" y="135527"/>
                  </a:lnTo>
                  <a:lnTo>
                    <a:pt x="29786" y="135527"/>
                  </a:lnTo>
                  <a:lnTo>
                    <a:pt x="32964" y="132066"/>
                  </a:lnTo>
                  <a:lnTo>
                    <a:pt x="32964" y="128174"/>
                  </a:lnTo>
                  <a:lnTo>
                    <a:pt x="26344" y="128174"/>
                  </a:lnTo>
                  <a:lnTo>
                    <a:pt x="19725" y="120892"/>
                  </a:lnTo>
                  <a:close/>
                </a:path>
                <a:path w="52704" h="186055">
                  <a:moveTo>
                    <a:pt x="52689" y="99194"/>
                  </a:moveTo>
                  <a:lnTo>
                    <a:pt x="32964" y="120892"/>
                  </a:lnTo>
                  <a:lnTo>
                    <a:pt x="32964" y="132066"/>
                  </a:lnTo>
                  <a:lnTo>
                    <a:pt x="29786" y="135527"/>
                  </a:lnTo>
                  <a:lnTo>
                    <a:pt x="41661" y="135527"/>
                  </a:lnTo>
                  <a:lnTo>
                    <a:pt x="52689" y="99194"/>
                  </a:lnTo>
                  <a:close/>
                </a:path>
                <a:path w="52704" h="186055">
                  <a:moveTo>
                    <a:pt x="29786" y="0"/>
                  </a:moveTo>
                  <a:lnTo>
                    <a:pt x="22902" y="0"/>
                  </a:lnTo>
                  <a:lnTo>
                    <a:pt x="19725" y="3171"/>
                  </a:lnTo>
                  <a:lnTo>
                    <a:pt x="19725" y="120892"/>
                  </a:lnTo>
                  <a:lnTo>
                    <a:pt x="26344" y="128174"/>
                  </a:lnTo>
                  <a:lnTo>
                    <a:pt x="32964" y="120892"/>
                  </a:lnTo>
                  <a:lnTo>
                    <a:pt x="32964" y="3171"/>
                  </a:lnTo>
                  <a:lnTo>
                    <a:pt x="29786" y="0"/>
                  </a:lnTo>
                  <a:close/>
                </a:path>
                <a:path w="52704" h="186055">
                  <a:moveTo>
                    <a:pt x="32964" y="120892"/>
                  </a:moveTo>
                  <a:lnTo>
                    <a:pt x="26344" y="128174"/>
                  </a:lnTo>
                  <a:lnTo>
                    <a:pt x="32964" y="128174"/>
                  </a:lnTo>
                  <a:lnTo>
                    <a:pt x="32964" y="120892"/>
                  </a:lnTo>
                  <a:close/>
                </a:path>
              </a:pathLst>
            </a:custGeom>
            <a:solidFill>
              <a:srgbClr val="000000"/>
            </a:solidFill>
          </p:spPr>
          <p:txBody>
            <a:bodyPr wrap="square" lIns="0" tIns="0" rIns="0" bIns="0" rtlCol="0"/>
            <a:lstStyle/>
            <a:p/>
          </p:txBody>
        </p:sp>
        <p:sp>
          <p:nvSpPr>
            <p:cNvPr id="53" name="object 53" descr=""/>
            <p:cNvSpPr/>
            <p:nvPr/>
          </p:nvSpPr>
          <p:spPr>
            <a:xfrm>
              <a:off x="7903938" y="1220246"/>
              <a:ext cx="52705" cy="186055"/>
            </a:xfrm>
            <a:custGeom>
              <a:avLst/>
              <a:gdLst/>
              <a:ahLst/>
              <a:cxnLst/>
              <a:rect l="l" t="t" r="r" b="b"/>
              <a:pathLst>
                <a:path w="52704" h="186055">
                  <a:moveTo>
                    <a:pt x="32964" y="6920"/>
                  </a:moveTo>
                  <a:lnTo>
                    <a:pt x="32964" y="128174"/>
                  </a:lnTo>
                  <a:lnTo>
                    <a:pt x="32964" y="132066"/>
                  </a:lnTo>
                  <a:lnTo>
                    <a:pt x="29786" y="135527"/>
                  </a:lnTo>
                  <a:lnTo>
                    <a:pt x="26344" y="135527"/>
                  </a:lnTo>
                  <a:lnTo>
                    <a:pt x="22902" y="135527"/>
                  </a:lnTo>
                  <a:lnTo>
                    <a:pt x="19725" y="132066"/>
                  </a:lnTo>
                  <a:lnTo>
                    <a:pt x="19725" y="128174"/>
                  </a:lnTo>
                  <a:lnTo>
                    <a:pt x="19725" y="6920"/>
                  </a:lnTo>
                  <a:lnTo>
                    <a:pt x="19725" y="3171"/>
                  </a:lnTo>
                  <a:lnTo>
                    <a:pt x="22902" y="0"/>
                  </a:lnTo>
                  <a:lnTo>
                    <a:pt x="26344" y="0"/>
                  </a:lnTo>
                  <a:lnTo>
                    <a:pt x="29786" y="0"/>
                  </a:lnTo>
                  <a:lnTo>
                    <a:pt x="32964" y="3171"/>
                  </a:lnTo>
                  <a:lnTo>
                    <a:pt x="32964" y="6920"/>
                  </a:lnTo>
                  <a:close/>
                </a:path>
                <a:path w="52704" h="186055">
                  <a:moveTo>
                    <a:pt x="26344" y="128174"/>
                  </a:moveTo>
                  <a:lnTo>
                    <a:pt x="52689" y="99194"/>
                  </a:lnTo>
                  <a:lnTo>
                    <a:pt x="26344" y="185989"/>
                  </a:lnTo>
                  <a:lnTo>
                    <a:pt x="0" y="99194"/>
                  </a:lnTo>
                  <a:lnTo>
                    <a:pt x="26344" y="128174"/>
                  </a:lnTo>
                  <a:close/>
                </a:path>
              </a:pathLst>
            </a:custGeom>
            <a:ln w="3175">
              <a:solidFill>
                <a:srgbClr val="000000"/>
              </a:solidFill>
            </a:ln>
          </p:spPr>
          <p:txBody>
            <a:bodyPr wrap="square" lIns="0" tIns="0" rIns="0" bIns="0" rtlCol="0"/>
            <a:lstStyle/>
            <a:p/>
          </p:txBody>
        </p:sp>
        <p:sp>
          <p:nvSpPr>
            <p:cNvPr id="54" name="object 54" descr=""/>
            <p:cNvSpPr/>
            <p:nvPr/>
          </p:nvSpPr>
          <p:spPr>
            <a:xfrm>
              <a:off x="7903938" y="1622070"/>
              <a:ext cx="52705" cy="231140"/>
            </a:xfrm>
            <a:custGeom>
              <a:avLst/>
              <a:gdLst/>
              <a:ahLst/>
              <a:cxnLst/>
              <a:rect l="l" t="t" r="r" b="b"/>
              <a:pathLst>
                <a:path w="52704" h="231139">
                  <a:moveTo>
                    <a:pt x="0" y="144177"/>
                  </a:moveTo>
                  <a:lnTo>
                    <a:pt x="26344" y="230540"/>
                  </a:lnTo>
                  <a:lnTo>
                    <a:pt x="41738" y="180078"/>
                  </a:lnTo>
                  <a:lnTo>
                    <a:pt x="22902" y="180078"/>
                  </a:lnTo>
                  <a:lnTo>
                    <a:pt x="19725" y="176906"/>
                  </a:lnTo>
                  <a:lnTo>
                    <a:pt x="19725" y="165660"/>
                  </a:lnTo>
                  <a:lnTo>
                    <a:pt x="0" y="144177"/>
                  </a:lnTo>
                  <a:close/>
                </a:path>
                <a:path w="52704" h="231139">
                  <a:moveTo>
                    <a:pt x="19725" y="165660"/>
                  </a:moveTo>
                  <a:lnTo>
                    <a:pt x="19725" y="176906"/>
                  </a:lnTo>
                  <a:lnTo>
                    <a:pt x="22902" y="180078"/>
                  </a:lnTo>
                  <a:lnTo>
                    <a:pt x="29786" y="180078"/>
                  </a:lnTo>
                  <a:lnTo>
                    <a:pt x="32964" y="176906"/>
                  </a:lnTo>
                  <a:lnTo>
                    <a:pt x="32964" y="172869"/>
                  </a:lnTo>
                  <a:lnTo>
                    <a:pt x="26344" y="172869"/>
                  </a:lnTo>
                  <a:lnTo>
                    <a:pt x="19725" y="165660"/>
                  </a:lnTo>
                  <a:close/>
                </a:path>
                <a:path w="52704" h="231139">
                  <a:moveTo>
                    <a:pt x="52689" y="144177"/>
                  </a:moveTo>
                  <a:lnTo>
                    <a:pt x="32964" y="165660"/>
                  </a:lnTo>
                  <a:lnTo>
                    <a:pt x="32964" y="176906"/>
                  </a:lnTo>
                  <a:lnTo>
                    <a:pt x="29786" y="180078"/>
                  </a:lnTo>
                  <a:lnTo>
                    <a:pt x="41738" y="180078"/>
                  </a:lnTo>
                  <a:lnTo>
                    <a:pt x="52689" y="144177"/>
                  </a:lnTo>
                  <a:close/>
                </a:path>
                <a:path w="52704" h="231139">
                  <a:moveTo>
                    <a:pt x="29786" y="0"/>
                  </a:moveTo>
                  <a:lnTo>
                    <a:pt x="22902" y="0"/>
                  </a:lnTo>
                  <a:lnTo>
                    <a:pt x="19725" y="3171"/>
                  </a:lnTo>
                  <a:lnTo>
                    <a:pt x="19725" y="165660"/>
                  </a:lnTo>
                  <a:lnTo>
                    <a:pt x="26344" y="172869"/>
                  </a:lnTo>
                  <a:lnTo>
                    <a:pt x="32964" y="165660"/>
                  </a:lnTo>
                  <a:lnTo>
                    <a:pt x="32964" y="3171"/>
                  </a:lnTo>
                  <a:lnTo>
                    <a:pt x="29786" y="0"/>
                  </a:lnTo>
                  <a:close/>
                </a:path>
                <a:path w="52704" h="231139">
                  <a:moveTo>
                    <a:pt x="32964" y="165660"/>
                  </a:moveTo>
                  <a:lnTo>
                    <a:pt x="26344" y="172869"/>
                  </a:lnTo>
                  <a:lnTo>
                    <a:pt x="32964" y="172869"/>
                  </a:lnTo>
                  <a:lnTo>
                    <a:pt x="32964" y="165660"/>
                  </a:lnTo>
                  <a:close/>
                </a:path>
              </a:pathLst>
            </a:custGeom>
            <a:solidFill>
              <a:srgbClr val="000000"/>
            </a:solidFill>
          </p:spPr>
          <p:txBody>
            <a:bodyPr wrap="square" lIns="0" tIns="0" rIns="0" bIns="0" rtlCol="0"/>
            <a:lstStyle/>
            <a:p/>
          </p:txBody>
        </p:sp>
        <p:sp>
          <p:nvSpPr>
            <p:cNvPr id="55" name="object 55" descr=""/>
            <p:cNvSpPr/>
            <p:nvPr/>
          </p:nvSpPr>
          <p:spPr>
            <a:xfrm>
              <a:off x="7903938" y="1622070"/>
              <a:ext cx="52705" cy="231140"/>
            </a:xfrm>
            <a:custGeom>
              <a:avLst/>
              <a:gdLst/>
              <a:ahLst/>
              <a:cxnLst/>
              <a:rect l="l" t="t" r="r" b="b"/>
              <a:pathLst>
                <a:path w="52704" h="231139">
                  <a:moveTo>
                    <a:pt x="32964" y="7353"/>
                  </a:moveTo>
                  <a:lnTo>
                    <a:pt x="32964" y="172869"/>
                  </a:lnTo>
                  <a:lnTo>
                    <a:pt x="32964" y="176906"/>
                  </a:lnTo>
                  <a:lnTo>
                    <a:pt x="29786" y="180078"/>
                  </a:lnTo>
                  <a:lnTo>
                    <a:pt x="26344" y="180078"/>
                  </a:lnTo>
                  <a:lnTo>
                    <a:pt x="22902" y="180078"/>
                  </a:lnTo>
                  <a:lnTo>
                    <a:pt x="19725" y="176906"/>
                  </a:lnTo>
                  <a:lnTo>
                    <a:pt x="19725" y="172869"/>
                  </a:lnTo>
                  <a:lnTo>
                    <a:pt x="19725" y="7353"/>
                  </a:lnTo>
                  <a:lnTo>
                    <a:pt x="19725" y="3171"/>
                  </a:lnTo>
                  <a:lnTo>
                    <a:pt x="22902" y="0"/>
                  </a:lnTo>
                  <a:lnTo>
                    <a:pt x="26344" y="0"/>
                  </a:lnTo>
                  <a:lnTo>
                    <a:pt x="29786" y="0"/>
                  </a:lnTo>
                  <a:lnTo>
                    <a:pt x="32964" y="3171"/>
                  </a:lnTo>
                  <a:lnTo>
                    <a:pt x="32964" y="7353"/>
                  </a:lnTo>
                  <a:close/>
                </a:path>
                <a:path w="52704" h="231139">
                  <a:moveTo>
                    <a:pt x="26344" y="172869"/>
                  </a:moveTo>
                  <a:lnTo>
                    <a:pt x="52689" y="144177"/>
                  </a:lnTo>
                  <a:lnTo>
                    <a:pt x="26344" y="230540"/>
                  </a:lnTo>
                  <a:lnTo>
                    <a:pt x="0" y="144177"/>
                  </a:lnTo>
                  <a:lnTo>
                    <a:pt x="26344" y="172869"/>
                  </a:lnTo>
                  <a:close/>
                </a:path>
              </a:pathLst>
            </a:custGeom>
            <a:ln w="3175">
              <a:solidFill>
                <a:srgbClr val="000000"/>
              </a:solidFill>
            </a:ln>
          </p:spPr>
          <p:txBody>
            <a:bodyPr wrap="square" lIns="0" tIns="0" rIns="0" bIns="0" rtlCol="0"/>
            <a:lstStyle/>
            <a:p/>
          </p:txBody>
        </p:sp>
        <p:sp>
          <p:nvSpPr>
            <p:cNvPr id="56" name="object 56" descr=""/>
            <p:cNvSpPr/>
            <p:nvPr/>
          </p:nvSpPr>
          <p:spPr>
            <a:xfrm>
              <a:off x="7375268" y="1711316"/>
              <a:ext cx="53340" cy="141605"/>
            </a:xfrm>
            <a:custGeom>
              <a:avLst/>
              <a:gdLst/>
              <a:ahLst/>
              <a:cxnLst/>
              <a:rect l="l" t="t" r="r" b="b"/>
              <a:pathLst>
                <a:path w="53340" h="141605">
                  <a:moveTo>
                    <a:pt x="0" y="54931"/>
                  </a:moveTo>
                  <a:lnTo>
                    <a:pt x="26384" y="141294"/>
                  </a:lnTo>
                  <a:lnTo>
                    <a:pt x="41801" y="90832"/>
                  </a:lnTo>
                  <a:lnTo>
                    <a:pt x="22571" y="90832"/>
                  </a:lnTo>
                  <a:lnTo>
                    <a:pt x="19712" y="87660"/>
                  </a:lnTo>
                  <a:lnTo>
                    <a:pt x="19712" y="76367"/>
                  </a:lnTo>
                  <a:lnTo>
                    <a:pt x="0" y="54931"/>
                  </a:lnTo>
                  <a:close/>
                </a:path>
                <a:path w="53340" h="141605">
                  <a:moveTo>
                    <a:pt x="19712" y="76367"/>
                  </a:moveTo>
                  <a:lnTo>
                    <a:pt x="19712" y="87660"/>
                  </a:lnTo>
                  <a:lnTo>
                    <a:pt x="22571" y="90832"/>
                  </a:lnTo>
                  <a:lnTo>
                    <a:pt x="29879" y="90832"/>
                  </a:lnTo>
                  <a:lnTo>
                    <a:pt x="33056" y="87660"/>
                  </a:lnTo>
                  <a:lnTo>
                    <a:pt x="33056" y="83623"/>
                  </a:lnTo>
                  <a:lnTo>
                    <a:pt x="26384" y="83623"/>
                  </a:lnTo>
                  <a:lnTo>
                    <a:pt x="19712" y="76367"/>
                  </a:lnTo>
                  <a:close/>
                </a:path>
                <a:path w="53340" h="141605">
                  <a:moveTo>
                    <a:pt x="52769" y="54931"/>
                  </a:moveTo>
                  <a:lnTo>
                    <a:pt x="33056" y="76367"/>
                  </a:lnTo>
                  <a:lnTo>
                    <a:pt x="33056" y="87660"/>
                  </a:lnTo>
                  <a:lnTo>
                    <a:pt x="29879" y="90832"/>
                  </a:lnTo>
                  <a:lnTo>
                    <a:pt x="41801" y="90832"/>
                  </a:lnTo>
                  <a:lnTo>
                    <a:pt x="52769" y="54931"/>
                  </a:lnTo>
                  <a:close/>
                </a:path>
                <a:path w="53340" h="141605">
                  <a:moveTo>
                    <a:pt x="29879" y="0"/>
                  </a:moveTo>
                  <a:lnTo>
                    <a:pt x="22571" y="0"/>
                  </a:lnTo>
                  <a:lnTo>
                    <a:pt x="19712" y="3460"/>
                  </a:lnTo>
                  <a:lnTo>
                    <a:pt x="19712" y="76367"/>
                  </a:lnTo>
                  <a:lnTo>
                    <a:pt x="26384" y="83623"/>
                  </a:lnTo>
                  <a:lnTo>
                    <a:pt x="33056" y="76367"/>
                  </a:lnTo>
                  <a:lnTo>
                    <a:pt x="33056" y="3460"/>
                  </a:lnTo>
                  <a:lnTo>
                    <a:pt x="29879" y="0"/>
                  </a:lnTo>
                  <a:close/>
                </a:path>
                <a:path w="53340" h="141605">
                  <a:moveTo>
                    <a:pt x="33056" y="76367"/>
                  </a:moveTo>
                  <a:lnTo>
                    <a:pt x="26384" y="83623"/>
                  </a:lnTo>
                  <a:lnTo>
                    <a:pt x="33056" y="83623"/>
                  </a:lnTo>
                  <a:lnTo>
                    <a:pt x="33056" y="76367"/>
                  </a:lnTo>
                  <a:close/>
                </a:path>
              </a:pathLst>
            </a:custGeom>
            <a:solidFill>
              <a:srgbClr val="000000"/>
            </a:solidFill>
          </p:spPr>
          <p:txBody>
            <a:bodyPr wrap="square" lIns="0" tIns="0" rIns="0" bIns="0" rtlCol="0"/>
            <a:lstStyle/>
            <a:p/>
          </p:txBody>
        </p:sp>
        <p:sp>
          <p:nvSpPr>
            <p:cNvPr id="57" name="object 57" descr=""/>
            <p:cNvSpPr/>
            <p:nvPr/>
          </p:nvSpPr>
          <p:spPr>
            <a:xfrm>
              <a:off x="7375268" y="1711316"/>
              <a:ext cx="53340" cy="141605"/>
            </a:xfrm>
            <a:custGeom>
              <a:avLst/>
              <a:gdLst/>
              <a:ahLst/>
              <a:cxnLst/>
              <a:rect l="l" t="t" r="r" b="b"/>
              <a:pathLst>
                <a:path w="53340" h="141605">
                  <a:moveTo>
                    <a:pt x="33056" y="7208"/>
                  </a:moveTo>
                  <a:lnTo>
                    <a:pt x="33056" y="83623"/>
                  </a:lnTo>
                  <a:lnTo>
                    <a:pt x="33056" y="87660"/>
                  </a:lnTo>
                  <a:lnTo>
                    <a:pt x="29879" y="90832"/>
                  </a:lnTo>
                  <a:lnTo>
                    <a:pt x="26384" y="90832"/>
                  </a:lnTo>
                  <a:lnTo>
                    <a:pt x="22571" y="90832"/>
                  </a:lnTo>
                  <a:lnTo>
                    <a:pt x="19712" y="87660"/>
                  </a:lnTo>
                  <a:lnTo>
                    <a:pt x="19712" y="83623"/>
                  </a:lnTo>
                  <a:lnTo>
                    <a:pt x="19712" y="7208"/>
                  </a:lnTo>
                  <a:lnTo>
                    <a:pt x="19712" y="3460"/>
                  </a:lnTo>
                  <a:lnTo>
                    <a:pt x="22571" y="0"/>
                  </a:lnTo>
                  <a:lnTo>
                    <a:pt x="26384" y="0"/>
                  </a:lnTo>
                  <a:lnTo>
                    <a:pt x="29879" y="0"/>
                  </a:lnTo>
                  <a:lnTo>
                    <a:pt x="33056" y="3460"/>
                  </a:lnTo>
                  <a:lnTo>
                    <a:pt x="33056" y="7208"/>
                  </a:lnTo>
                  <a:close/>
                </a:path>
                <a:path w="53340" h="141605">
                  <a:moveTo>
                    <a:pt x="26384" y="83623"/>
                  </a:moveTo>
                  <a:lnTo>
                    <a:pt x="52769" y="54931"/>
                  </a:lnTo>
                  <a:lnTo>
                    <a:pt x="26384" y="141294"/>
                  </a:lnTo>
                  <a:lnTo>
                    <a:pt x="0" y="54931"/>
                  </a:lnTo>
                  <a:lnTo>
                    <a:pt x="26384" y="83623"/>
                  </a:lnTo>
                  <a:close/>
                </a:path>
              </a:pathLst>
            </a:custGeom>
            <a:ln w="3175">
              <a:solidFill>
                <a:srgbClr val="000000"/>
              </a:solidFill>
            </a:ln>
          </p:spPr>
          <p:txBody>
            <a:bodyPr wrap="square" lIns="0" tIns="0" rIns="0" bIns="0" rtlCol="0"/>
            <a:lstStyle/>
            <a:p/>
          </p:txBody>
        </p:sp>
        <p:sp>
          <p:nvSpPr>
            <p:cNvPr id="58" name="object 58" descr=""/>
            <p:cNvSpPr/>
            <p:nvPr/>
          </p:nvSpPr>
          <p:spPr>
            <a:xfrm>
              <a:off x="7401653" y="1718525"/>
              <a:ext cx="528955" cy="0"/>
            </a:xfrm>
            <a:custGeom>
              <a:avLst/>
              <a:gdLst/>
              <a:ahLst/>
              <a:cxnLst/>
              <a:rect l="l" t="t" r="r" b="b"/>
              <a:pathLst>
                <a:path w="528954" h="0">
                  <a:moveTo>
                    <a:pt x="0" y="0"/>
                  </a:moveTo>
                  <a:lnTo>
                    <a:pt x="528630" y="0"/>
                  </a:lnTo>
                </a:path>
              </a:pathLst>
            </a:custGeom>
            <a:ln w="10731">
              <a:solidFill>
                <a:srgbClr val="000000"/>
              </a:solidFill>
            </a:ln>
          </p:spPr>
          <p:txBody>
            <a:bodyPr wrap="square" lIns="0" tIns="0" rIns="0" bIns="0" rtlCol="0"/>
            <a:lstStyle/>
            <a:p/>
          </p:txBody>
        </p:sp>
        <p:sp>
          <p:nvSpPr>
            <p:cNvPr id="59" name="object 59" descr=""/>
            <p:cNvSpPr/>
            <p:nvPr/>
          </p:nvSpPr>
          <p:spPr>
            <a:xfrm>
              <a:off x="6929935" y="2828031"/>
              <a:ext cx="53340" cy="365125"/>
            </a:xfrm>
            <a:custGeom>
              <a:avLst/>
              <a:gdLst/>
              <a:ahLst/>
              <a:cxnLst/>
              <a:rect l="l" t="t" r="r" b="b"/>
              <a:pathLst>
                <a:path w="53340" h="365125">
                  <a:moveTo>
                    <a:pt x="0" y="277816"/>
                  </a:moveTo>
                  <a:lnTo>
                    <a:pt x="26371" y="364539"/>
                  </a:lnTo>
                  <a:lnTo>
                    <a:pt x="41904" y="314091"/>
                  </a:lnTo>
                  <a:lnTo>
                    <a:pt x="22876" y="314091"/>
                  </a:lnTo>
                  <a:lnTo>
                    <a:pt x="20016" y="310645"/>
                  </a:lnTo>
                  <a:lnTo>
                    <a:pt x="20016" y="299845"/>
                  </a:lnTo>
                  <a:lnTo>
                    <a:pt x="0" y="277816"/>
                  </a:lnTo>
                  <a:close/>
                </a:path>
                <a:path w="53340" h="365125">
                  <a:moveTo>
                    <a:pt x="20016" y="299845"/>
                  </a:moveTo>
                  <a:lnTo>
                    <a:pt x="20016" y="310645"/>
                  </a:lnTo>
                  <a:lnTo>
                    <a:pt x="22876" y="314091"/>
                  </a:lnTo>
                  <a:lnTo>
                    <a:pt x="30197" y="314091"/>
                  </a:lnTo>
                  <a:lnTo>
                    <a:pt x="33056" y="310645"/>
                  </a:lnTo>
                  <a:lnTo>
                    <a:pt x="33056" y="306839"/>
                  </a:lnTo>
                  <a:lnTo>
                    <a:pt x="26371" y="306839"/>
                  </a:lnTo>
                  <a:lnTo>
                    <a:pt x="20016" y="299845"/>
                  </a:lnTo>
                  <a:close/>
                </a:path>
                <a:path w="53340" h="365125">
                  <a:moveTo>
                    <a:pt x="53073" y="277816"/>
                  </a:moveTo>
                  <a:lnTo>
                    <a:pt x="33056" y="299572"/>
                  </a:lnTo>
                  <a:lnTo>
                    <a:pt x="33056" y="310645"/>
                  </a:lnTo>
                  <a:lnTo>
                    <a:pt x="30197" y="314091"/>
                  </a:lnTo>
                  <a:lnTo>
                    <a:pt x="41904" y="314091"/>
                  </a:lnTo>
                  <a:lnTo>
                    <a:pt x="53073" y="277816"/>
                  </a:lnTo>
                  <a:close/>
                </a:path>
                <a:path w="53340" h="365125">
                  <a:moveTo>
                    <a:pt x="30197" y="0"/>
                  </a:moveTo>
                  <a:lnTo>
                    <a:pt x="22876" y="0"/>
                  </a:lnTo>
                  <a:lnTo>
                    <a:pt x="20016" y="3114"/>
                  </a:lnTo>
                  <a:lnTo>
                    <a:pt x="20016" y="299845"/>
                  </a:lnTo>
                  <a:lnTo>
                    <a:pt x="26371" y="306839"/>
                  </a:lnTo>
                  <a:lnTo>
                    <a:pt x="33056" y="299572"/>
                  </a:lnTo>
                  <a:lnTo>
                    <a:pt x="33056" y="3114"/>
                  </a:lnTo>
                  <a:lnTo>
                    <a:pt x="30197" y="0"/>
                  </a:lnTo>
                  <a:close/>
                </a:path>
                <a:path w="53340" h="365125">
                  <a:moveTo>
                    <a:pt x="33056" y="299572"/>
                  </a:moveTo>
                  <a:lnTo>
                    <a:pt x="26371" y="306839"/>
                  </a:lnTo>
                  <a:lnTo>
                    <a:pt x="33056" y="306839"/>
                  </a:lnTo>
                  <a:lnTo>
                    <a:pt x="33056" y="299572"/>
                  </a:lnTo>
                  <a:close/>
                </a:path>
              </a:pathLst>
            </a:custGeom>
            <a:solidFill>
              <a:srgbClr val="000000"/>
            </a:solidFill>
          </p:spPr>
          <p:txBody>
            <a:bodyPr wrap="square" lIns="0" tIns="0" rIns="0" bIns="0" rtlCol="0"/>
            <a:lstStyle/>
            <a:p/>
          </p:txBody>
        </p:sp>
        <p:sp>
          <p:nvSpPr>
            <p:cNvPr id="60" name="object 60" descr=""/>
            <p:cNvSpPr/>
            <p:nvPr/>
          </p:nvSpPr>
          <p:spPr>
            <a:xfrm>
              <a:off x="6929935" y="2828031"/>
              <a:ext cx="53340" cy="365125"/>
            </a:xfrm>
            <a:custGeom>
              <a:avLst/>
              <a:gdLst/>
              <a:ahLst/>
              <a:cxnLst/>
              <a:rect l="l" t="t" r="r" b="b"/>
              <a:pathLst>
                <a:path w="53340" h="365125">
                  <a:moveTo>
                    <a:pt x="33056" y="6920"/>
                  </a:moveTo>
                  <a:lnTo>
                    <a:pt x="33056" y="306839"/>
                  </a:lnTo>
                  <a:lnTo>
                    <a:pt x="33056" y="310645"/>
                  </a:lnTo>
                  <a:lnTo>
                    <a:pt x="30197" y="314091"/>
                  </a:lnTo>
                  <a:lnTo>
                    <a:pt x="26371" y="314091"/>
                  </a:lnTo>
                  <a:lnTo>
                    <a:pt x="22876" y="314091"/>
                  </a:lnTo>
                  <a:lnTo>
                    <a:pt x="20016" y="310645"/>
                  </a:lnTo>
                  <a:lnTo>
                    <a:pt x="20016" y="306839"/>
                  </a:lnTo>
                  <a:lnTo>
                    <a:pt x="20016" y="6920"/>
                  </a:lnTo>
                  <a:lnTo>
                    <a:pt x="20016" y="3114"/>
                  </a:lnTo>
                  <a:lnTo>
                    <a:pt x="22876" y="0"/>
                  </a:lnTo>
                  <a:lnTo>
                    <a:pt x="26371" y="0"/>
                  </a:lnTo>
                  <a:lnTo>
                    <a:pt x="30197" y="0"/>
                  </a:lnTo>
                  <a:lnTo>
                    <a:pt x="33056" y="3114"/>
                  </a:lnTo>
                  <a:lnTo>
                    <a:pt x="33056" y="6920"/>
                  </a:lnTo>
                  <a:close/>
                </a:path>
                <a:path w="53340" h="365125">
                  <a:moveTo>
                    <a:pt x="26371" y="306839"/>
                  </a:moveTo>
                  <a:lnTo>
                    <a:pt x="53073" y="277816"/>
                  </a:lnTo>
                  <a:lnTo>
                    <a:pt x="26371" y="364539"/>
                  </a:lnTo>
                  <a:lnTo>
                    <a:pt x="0" y="277816"/>
                  </a:lnTo>
                  <a:lnTo>
                    <a:pt x="26371" y="306839"/>
                  </a:lnTo>
                  <a:close/>
                </a:path>
              </a:pathLst>
            </a:custGeom>
            <a:ln w="3175">
              <a:solidFill>
                <a:srgbClr val="000000"/>
              </a:solidFill>
            </a:ln>
          </p:spPr>
          <p:txBody>
            <a:bodyPr wrap="square" lIns="0" tIns="0" rIns="0" bIns="0" rtlCol="0"/>
            <a:lstStyle/>
            <a:p/>
          </p:txBody>
        </p:sp>
        <p:sp>
          <p:nvSpPr>
            <p:cNvPr id="61" name="object 61" descr=""/>
            <p:cNvSpPr/>
            <p:nvPr/>
          </p:nvSpPr>
          <p:spPr>
            <a:xfrm>
              <a:off x="7848204" y="2828031"/>
              <a:ext cx="53340" cy="365125"/>
            </a:xfrm>
            <a:custGeom>
              <a:avLst/>
              <a:gdLst/>
              <a:ahLst/>
              <a:cxnLst/>
              <a:rect l="l" t="t" r="r" b="b"/>
              <a:pathLst>
                <a:path w="53340" h="365125">
                  <a:moveTo>
                    <a:pt x="0" y="277816"/>
                  </a:moveTo>
                  <a:lnTo>
                    <a:pt x="26477" y="364539"/>
                  </a:lnTo>
                  <a:lnTo>
                    <a:pt x="41802" y="314091"/>
                  </a:lnTo>
                  <a:lnTo>
                    <a:pt x="22902" y="314091"/>
                  </a:lnTo>
                  <a:lnTo>
                    <a:pt x="19725" y="310645"/>
                  </a:lnTo>
                  <a:lnTo>
                    <a:pt x="19725" y="299547"/>
                  </a:lnTo>
                  <a:lnTo>
                    <a:pt x="0" y="277816"/>
                  </a:lnTo>
                  <a:close/>
                </a:path>
                <a:path w="53340" h="365125">
                  <a:moveTo>
                    <a:pt x="19824" y="299547"/>
                  </a:moveTo>
                  <a:lnTo>
                    <a:pt x="19725" y="310645"/>
                  </a:lnTo>
                  <a:lnTo>
                    <a:pt x="22902" y="314091"/>
                  </a:lnTo>
                  <a:lnTo>
                    <a:pt x="29919" y="314091"/>
                  </a:lnTo>
                  <a:lnTo>
                    <a:pt x="33096" y="310645"/>
                  </a:lnTo>
                  <a:lnTo>
                    <a:pt x="33096" y="306839"/>
                  </a:lnTo>
                  <a:lnTo>
                    <a:pt x="26477" y="306839"/>
                  </a:lnTo>
                  <a:lnTo>
                    <a:pt x="19824" y="299547"/>
                  </a:lnTo>
                  <a:close/>
                </a:path>
                <a:path w="53340" h="365125">
                  <a:moveTo>
                    <a:pt x="52821" y="277816"/>
                  </a:moveTo>
                  <a:lnTo>
                    <a:pt x="33096" y="299547"/>
                  </a:lnTo>
                  <a:lnTo>
                    <a:pt x="33096" y="310645"/>
                  </a:lnTo>
                  <a:lnTo>
                    <a:pt x="29919" y="314091"/>
                  </a:lnTo>
                  <a:lnTo>
                    <a:pt x="41802" y="314091"/>
                  </a:lnTo>
                  <a:lnTo>
                    <a:pt x="52821" y="277816"/>
                  </a:lnTo>
                  <a:close/>
                </a:path>
                <a:path w="53340" h="365125">
                  <a:moveTo>
                    <a:pt x="29919" y="0"/>
                  </a:moveTo>
                  <a:lnTo>
                    <a:pt x="22902" y="0"/>
                  </a:lnTo>
                  <a:lnTo>
                    <a:pt x="19725" y="3114"/>
                  </a:lnTo>
                  <a:lnTo>
                    <a:pt x="19824" y="299547"/>
                  </a:lnTo>
                  <a:lnTo>
                    <a:pt x="26477" y="306839"/>
                  </a:lnTo>
                  <a:lnTo>
                    <a:pt x="33096" y="299547"/>
                  </a:lnTo>
                  <a:lnTo>
                    <a:pt x="33096" y="3114"/>
                  </a:lnTo>
                  <a:lnTo>
                    <a:pt x="29919" y="0"/>
                  </a:lnTo>
                  <a:close/>
                </a:path>
                <a:path w="53340" h="365125">
                  <a:moveTo>
                    <a:pt x="33096" y="299547"/>
                  </a:moveTo>
                  <a:lnTo>
                    <a:pt x="26477" y="306839"/>
                  </a:lnTo>
                  <a:lnTo>
                    <a:pt x="33096" y="306839"/>
                  </a:lnTo>
                  <a:lnTo>
                    <a:pt x="33096" y="299547"/>
                  </a:lnTo>
                  <a:close/>
                </a:path>
              </a:pathLst>
            </a:custGeom>
            <a:solidFill>
              <a:srgbClr val="000000"/>
            </a:solidFill>
          </p:spPr>
          <p:txBody>
            <a:bodyPr wrap="square" lIns="0" tIns="0" rIns="0" bIns="0" rtlCol="0"/>
            <a:lstStyle/>
            <a:p/>
          </p:txBody>
        </p:sp>
        <p:sp>
          <p:nvSpPr>
            <p:cNvPr id="62" name="object 62" descr=""/>
            <p:cNvSpPr/>
            <p:nvPr/>
          </p:nvSpPr>
          <p:spPr>
            <a:xfrm>
              <a:off x="7848204" y="2828031"/>
              <a:ext cx="53340" cy="365125"/>
            </a:xfrm>
            <a:custGeom>
              <a:avLst/>
              <a:gdLst/>
              <a:ahLst/>
              <a:cxnLst/>
              <a:rect l="l" t="t" r="r" b="b"/>
              <a:pathLst>
                <a:path w="53340" h="365125">
                  <a:moveTo>
                    <a:pt x="33096" y="6920"/>
                  </a:moveTo>
                  <a:lnTo>
                    <a:pt x="33096" y="306839"/>
                  </a:lnTo>
                  <a:lnTo>
                    <a:pt x="33096" y="310645"/>
                  </a:lnTo>
                  <a:lnTo>
                    <a:pt x="29919" y="314091"/>
                  </a:lnTo>
                  <a:lnTo>
                    <a:pt x="26477" y="314091"/>
                  </a:lnTo>
                  <a:lnTo>
                    <a:pt x="22902" y="314091"/>
                  </a:lnTo>
                  <a:lnTo>
                    <a:pt x="19725" y="310645"/>
                  </a:lnTo>
                  <a:lnTo>
                    <a:pt x="19725" y="306839"/>
                  </a:lnTo>
                  <a:lnTo>
                    <a:pt x="19725" y="6920"/>
                  </a:lnTo>
                  <a:lnTo>
                    <a:pt x="19725" y="3114"/>
                  </a:lnTo>
                  <a:lnTo>
                    <a:pt x="22902" y="0"/>
                  </a:lnTo>
                  <a:lnTo>
                    <a:pt x="26477" y="0"/>
                  </a:lnTo>
                  <a:lnTo>
                    <a:pt x="29919" y="0"/>
                  </a:lnTo>
                  <a:lnTo>
                    <a:pt x="33096" y="3114"/>
                  </a:lnTo>
                  <a:lnTo>
                    <a:pt x="33096" y="6920"/>
                  </a:lnTo>
                  <a:close/>
                </a:path>
                <a:path w="53340" h="365125">
                  <a:moveTo>
                    <a:pt x="26477" y="306839"/>
                  </a:moveTo>
                  <a:lnTo>
                    <a:pt x="52821" y="277816"/>
                  </a:lnTo>
                  <a:lnTo>
                    <a:pt x="26477" y="364539"/>
                  </a:lnTo>
                  <a:lnTo>
                    <a:pt x="0" y="277816"/>
                  </a:lnTo>
                  <a:lnTo>
                    <a:pt x="26477" y="306839"/>
                  </a:lnTo>
                  <a:close/>
                </a:path>
              </a:pathLst>
            </a:custGeom>
            <a:ln w="3175">
              <a:solidFill>
                <a:srgbClr val="000000"/>
              </a:solidFill>
            </a:ln>
          </p:spPr>
          <p:txBody>
            <a:bodyPr wrap="square" lIns="0" tIns="0" rIns="0" bIns="0" rtlCol="0"/>
            <a:lstStyle/>
            <a:p/>
          </p:txBody>
        </p:sp>
        <p:sp>
          <p:nvSpPr>
            <p:cNvPr id="63" name="object 63" descr=""/>
            <p:cNvSpPr/>
            <p:nvPr/>
          </p:nvSpPr>
          <p:spPr>
            <a:xfrm>
              <a:off x="7346024" y="2834952"/>
              <a:ext cx="528955" cy="134620"/>
            </a:xfrm>
            <a:custGeom>
              <a:avLst/>
              <a:gdLst/>
              <a:ahLst/>
              <a:cxnLst/>
              <a:rect l="l" t="t" r="r" b="b"/>
              <a:pathLst>
                <a:path w="528954" h="134619">
                  <a:moveTo>
                    <a:pt x="0" y="0"/>
                  </a:moveTo>
                  <a:lnTo>
                    <a:pt x="0" y="134056"/>
                  </a:lnTo>
                </a:path>
                <a:path w="528954" h="134619">
                  <a:moveTo>
                    <a:pt x="0" y="134056"/>
                  </a:moveTo>
                  <a:lnTo>
                    <a:pt x="528656" y="134056"/>
                  </a:lnTo>
                </a:path>
              </a:pathLst>
            </a:custGeom>
            <a:ln w="10292">
              <a:solidFill>
                <a:srgbClr val="000000"/>
              </a:solidFill>
            </a:ln>
          </p:spPr>
          <p:txBody>
            <a:bodyPr wrap="square" lIns="0" tIns="0" rIns="0" bIns="0" rtlCol="0"/>
            <a:lstStyle/>
            <a:p/>
          </p:txBody>
        </p:sp>
      </p:grpSp>
      <p:sp>
        <p:nvSpPr>
          <p:cNvPr id="64" name="object 64" descr=""/>
          <p:cNvSpPr txBox="1"/>
          <p:nvPr/>
        </p:nvSpPr>
        <p:spPr>
          <a:xfrm>
            <a:off x="8522587" y="489192"/>
            <a:ext cx="144780" cy="309880"/>
          </a:xfrm>
          <a:prstGeom prst="rect">
            <a:avLst/>
          </a:prstGeom>
        </p:spPr>
        <p:txBody>
          <a:bodyPr wrap="square" lIns="0" tIns="40005" rIns="0" bIns="0" rtlCol="0" vert="horz">
            <a:spAutoFit/>
          </a:bodyPr>
          <a:lstStyle/>
          <a:p>
            <a:pPr marL="12700" marR="5080">
              <a:lnSpc>
                <a:spcPts val="1010"/>
              </a:lnSpc>
              <a:spcBef>
                <a:spcPts val="315"/>
              </a:spcBef>
            </a:pPr>
            <a:r>
              <a:rPr dirty="0" sz="1000" spc="-100" b="1">
                <a:latin typeface="宋体"/>
                <a:cs typeface="宋体"/>
              </a:rPr>
              <a:t>指令</a:t>
            </a:r>
            <a:endParaRPr sz="1000">
              <a:latin typeface="宋体"/>
              <a:cs typeface="宋体"/>
            </a:endParaRPr>
          </a:p>
        </p:txBody>
      </p:sp>
      <p:sp>
        <p:nvSpPr>
          <p:cNvPr id="65" name="object 65" descr=""/>
          <p:cNvSpPr txBox="1"/>
          <p:nvPr/>
        </p:nvSpPr>
        <p:spPr>
          <a:xfrm>
            <a:off x="8522587" y="745370"/>
            <a:ext cx="144780" cy="309880"/>
          </a:xfrm>
          <a:prstGeom prst="rect">
            <a:avLst/>
          </a:prstGeom>
        </p:spPr>
        <p:txBody>
          <a:bodyPr wrap="square" lIns="0" tIns="40005" rIns="0" bIns="0" rtlCol="0" vert="horz">
            <a:spAutoFit/>
          </a:bodyPr>
          <a:lstStyle/>
          <a:p>
            <a:pPr marL="12700" marR="5080">
              <a:lnSpc>
                <a:spcPts val="1010"/>
              </a:lnSpc>
              <a:spcBef>
                <a:spcPts val="315"/>
              </a:spcBef>
            </a:pPr>
            <a:r>
              <a:rPr dirty="0" sz="1000" spc="-100" b="1">
                <a:latin typeface="宋体"/>
                <a:cs typeface="宋体"/>
              </a:rPr>
              <a:t>队列</a:t>
            </a:r>
            <a:endParaRPr sz="1000">
              <a:latin typeface="宋体"/>
              <a:cs typeface="宋体"/>
            </a:endParaRPr>
          </a:p>
        </p:txBody>
      </p:sp>
      <p:sp>
        <p:nvSpPr>
          <p:cNvPr id="66" name="object 66" descr=""/>
          <p:cNvSpPr txBox="1"/>
          <p:nvPr/>
        </p:nvSpPr>
        <p:spPr>
          <a:xfrm>
            <a:off x="7930292" y="2946747"/>
            <a:ext cx="267335" cy="181610"/>
          </a:xfrm>
          <a:prstGeom prst="rect">
            <a:avLst/>
          </a:prstGeom>
        </p:spPr>
        <p:txBody>
          <a:bodyPr wrap="square" lIns="0" tIns="15240" rIns="0" bIns="0" rtlCol="0" vert="horz">
            <a:spAutoFit/>
          </a:bodyPr>
          <a:lstStyle/>
          <a:p>
            <a:pPr marL="12700">
              <a:lnSpc>
                <a:spcPct val="100000"/>
              </a:lnSpc>
              <a:spcBef>
                <a:spcPts val="120"/>
              </a:spcBef>
            </a:pPr>
            <a:r>
              <a:rPr dirty="0" sz="1000" spc="-55" b="1">
                <a:latin typeface="宋体"/>
                <a:cs typeface="宋体"/>
              </a:rPr>
              <a:t>地址</a:t>
            </a:r>
            <a:endParaRPr sz="1000">
              <a:latin typeface="宋体"/>
              <a:cs typeface="宋体"/>
            </a:endParaRPr>
          </a:p>
        </p:txBody>
      </p:sp>
      <p:sp>
        <p:nvSpPr>
          <p:cNvPr id="67" name="object 67" descr=""/>
          <p:cNvSpPr txBox="1"/>
          <p:nvPr/>
        </p:nvSpPr>
        <p:spPr>
          <a:xfrm>
            <a:off x="8486843" y="2410823"/>
            <a:ext cx="85090" cy="481965"/>
          </a:xfrm>
          <a:prstGeom prst="rect">
            <a:avLst/>
          </a:prstGeom>
        </p:spPr>
        <p:txBody>
          <a:bodyPr wrap="square" lIns="0" tIns="15240" rIns="0" bIns="0" rtlCol="0" vert="horz">
            <a:spAutoFit/>
          </a:bodyPr>
          <a:lstStyle/>
          <a:p>
            <a:pPr marL="12700">
              <a:lnSpc>
                <a:spcPts val="1190"/>
              </a:lnSpc>
              <a:spcBef>
                <a:spcPts val="120"/>
              </a:spcBef>
            </a:pPr>
            <a:r>
              <a:rPr dirty="0" sz="1000" spc="-50">
                <a:latin typeface="Times New Roman"/>
                <a:cs typeface="Times New Roman"/>
              </a:rPr>
              <a:t>3</a:t>
            </a:r>
            <a:endParaRPr sz="1000">
              <a:latin typeface="Times New Roman"/>
              <a:cs typeface="Times New Roman"/>
            </a:endParaRPr>
          </a:p>
          <a:p>
            <a:pPr marL="12700">
              <a:lnSpc>
                <a:spcPts val="1185"/>
              </a:lnSpc>
            </a:pPr>
            <a:r>
              <a:rPr dirty="0" sz="1000" spc="-50">
                <a:latin typeface="Times New Roman"/>
                <a:cs typeface="Times New Roman"/>
              </a:rPr>
              <a:t>2</a:t>
            </a:r>
            <a:endParaRPr sz="1000">
              <a:latin typeface="Times New Roman"/>
              <a:cs typeface="Times New Roman"/>
            </a:endParaRPr>
          </a:p>
          <a:p>
            <a:pPr marL="12700">
              <a:lnSpc>
                <a:spcPts val="1190"/>
              </a:lnSpc>
            </a:pPr>
            <a:r>
              <a:rPr dirty="0" sz="1000" spc="-50">
                <a:latin typeface="Times New Roman"/>
                <a:cs typeface="Times New Roman"/>
              </a:rPr>
              <a:t>1</a:t>
            </a:r>
            <a:endParaRPr sz="1000">
              <a:latin typeface="Times New Roman"/>
              <a:cs typeface="Times New Roman"/>
            </a:endParaRPr>
          </a:p>
        </p:txBody>
      </p:sp>
      <p:sp>
        <p:nvSpPr>
          <p:cNvPr id="68" name="object 68" descr=""/>
          <p:cNvSpPr txBox="1"/>
          <p:nvPr/>
        </p:nvSpPr>
        <p:spPr>
          <a:xfrm>
            <a:off x="8181429" y="2483677"/>
            <a:ext cx="85090" cy="364490"/>
          </a:xfrm>
          <a:prstGeom prst="rect">
            <a:avLst/>
          </a:prstGeom>
        </p:spPr>
        <p:txBody>
          <a:bodyPr wrap="square" lIns="0" tIns="28575" rIns="0" bIns="0" rtlCol="0" vert="horz">
            <a:spAutoFit/>
          </a:bodyPr>
          <a:lstStyle/>
          <a:p>
            <a:pPr marL="12700">
              <a:lnSpc>
                <a:spcPct val="100000"/>
              </a:lnSpc>
              <a:spcBef>
                <a:spcPts val="225"/>
              </a:spcBef>
            </a:pPr>
            <a:r>
              <a:rPr dirty="0" sz="1000" spc="-50">
                <a:latin typeface="Times New Roman"/>
                <a:cs typeface="Times New Roman"/>
              </a:rPr>
              <a:t>2</a:t>
            </a:r>
            <a:endParaRPr sz="1000">
              <a:latin typeface="Times New Roman"/>
              <a:cs typeface="Times New Roman"/>
            </a:endParaRPr>
          </a:p>
          <a:p>
            <a:pPr marL="12700">
              <a:lnSpc>
                <a:spcPct val="100000"/>
              </a:lnSpc>
              <a:spcBef>
                <a:spcPts val="135"/>
              </a:spcBef>
            </a:pPr>
            <a:r>
              <a:rPr dirty="0" sz="1000" spc="-50">
                <a:latin typeface="Times New Roman"/>
                <a:cs typeface="Times New Roman"/>
              </a:rPr>
              <a:t>1</a:t>
            </a:r>
            <a:endParaRPr sz="1000">
              <a:latin typeface="Times New Roman"/>
              <a:cs typeface="Times New Roman"/>
            </a:endParaRPr>
          </a:p>
        </p:txBody>
      </p:sp>
      <p:sp>
        <p:nvSpPr>
          <p:cNvPr id="69" name="object 69" descr=""/>
          <p:cNvSpPr txBox="1"/>
          <p:nvPr/>
        </p:nvSpPr>
        <p:spPr>
          <a:xfrm>
            <a:off x="8181429" y="2348625"/>
            <a:ext cx="85090" cy="181610"/>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3</a:t>
            </a:r>
            <a:endParaRPr sz="1000">
              <a:latin typeface="Times New Roman"/>
              <a:cs typeface="Times New Roman"/>
            </a:endParaRPr>
          </a:p>
        </p:txBody>
      </p:sp>
      <p:sp>
        <p:nvSpPr>
          <p:cNvPr id="70" name="object 70" descr=""/>
          <p:cNvSpPr txBox="1"/>
          <p:nvPr/>
        </p:nvSpPr>
        <p:spPr>
          <a:xfrm>
            <a:off x="8181429" y="1996211"/>
            <a:ext cx="85090" cy="360680"/>
          </a:xfrm>
          <a:prstGeom prst="rect">
            <a:avLst/>
          </a:prstGeom>
        </p:spPr>
        <p:txBody>
          <a:bodyPr wrap="square" lIns="0" tIns="27305" rIns="0" bIns="0" rtlCol="0" vert="horz">
            <a:spAutoFit/>
          </a:bodyPr>
          <a:lstStyle/>
          <a:p>
            <a:pPr marL="12700">
              <a:lnSpc>
                <a:spcPct val="100000"/>
              </a:lnSpc>
              <a:spcBef>
                <a:spcPts val="215"/>
              </a:spcBef>
            </a:pPr>
            <a:r>
              <a:rPr dirty="0" sz="1000" spc="-50">
                <a:latin typeface="Times New Roman"/>
                <a:cs typeface="Times New Roman"/>
              </a:rPr>
              <a:t>5</a:t>
            </a:r>
            <a:endParaRPr sz="1000">
              <a:latin typeface="Times New Roman"/>
              <a:cs typeface="Times New Roman"/>
            </a:endParaRPr>
          </a:p>
          <a:p>
            <a:pPr marL="12700">
              <a:lnSpc>
                <a:spcPct val="100000"/>
              </a:lnSpc>
              <a:spcBef>
                <a:spcPts val="114"/>
              </a:spcBef>
            </a:pPr>
            <a:r>
              <a:rPr dirty="0" sz="1000" spc="-50">
                <a:latin typeface="Times New Roman"/>
                <a:cs typeface="Times New Roman"/>
              </a:rPr>
              <a:t>4</a:t>
            </a:r>
            <a:endParaRPr sz="1000">
              <a:latin typeface="Times New Roman"/>
              <a:cs typeface="Times New Roman"/>
            </a:endParaRPr>
          </a:p>
        </p:txBody>
      </p:sp>
      <p:sp>
        <p:nvSpPr>
          <p:cNvPr id="71" name="object 71" descr=""/>
          <p:cNvSpPr txBox="1"/>
          <p:nvPr/>
        </p:nvSpPr>
        <p:spPr>
          <a:xfrm>
            <a:off x="8181429" y="1840283"/>
            <a:ext cx="85090" cy="181610"/>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6</a:t>
            </a:r>
            <a:endParaRPr sz="1000">
              <a:latin typeface="Times New Roman"/>
              <a:cs typeface="Times New Roman"/>
            </a:endParaRPr>
          </a:p>
        </p:txBody>
      </p:sp>
      <p:grpSp>
        <p:nvGrpSpPr>
          <p:cNvPr id="72" name="object 72" descr=""/>
          <p:cNvGrpSpPr/>
          <p:nvPr/>
        </p:nvGrpSpPr>
        <p:grpSpPr>
          <a:xfrm>
            <a:off x="6533548" y="370663"/>
            <a:ext cx="5214620" cy="3363595"/>
            <a:chOff x="6533548" y="370663"/>
            <a:chExt cx="5214620" cy="3363595"/>
          </a:xfrm>
        </p:grpSpPr>
        <p:sp>
          <p:nvSpPr>
            <p:cNvPr id="73" name="object 73" descr=""/>
            <p:cNvSpPr/>
            <p:nvPr/>
          </p:nvSpPr>
          <p:spPr>
            <a:xfrm>
              <a:off x="6876213" y="1622070"/>
              <a:ext cx="53340" cy="231140"/>
            </a:xfrm>
            <a:custGeom>
              <a:avLst/>
              <a:gdLst/>
              <a:ahLst/>
              <a:cxnLst/>
              <a:rect l="l" t="t" r="r" b="b"/>
              <a:pathLst>
                <a:path w="53340" h="231139">
                  <a:moveTo>
                    <a:pt x="0" y="144177"/>
                  </a:moveTo>
                  <a:lnTo>
                    <a:pt x="26384" y="230540"/>
                  </a:lnTo>
                  <a:lnTo>
                    <a:pt x="41986" y="180078"/>
                  </a:lnTo>
                  <a:lnTo>
                    <a:pt x="22876" y="180078"/>
                  </a:lnTo>
                  <a:lnTo>
                    <a:pt x="20016" y="176906"/>
                  </a:lnTo>
                  <a:lnTo>
                    <a:pt x="20016" y="165944"/>
                  </a:lnTo>
                  <a:lnTo>
                    <a:pt x="0" y="144177"/>
                  </a:lnTo>
                  <a:close/>
                </a:path>
                <a:path w="53340" h="231139">
                  <a:moveTo>
                    <a:pt x="20016" y="165944"/>
                  </a:moveTo>
                  <a:lnTo>
                    <a:pt x="20016" y="176906"/>
                  </a:lnTo>
                  <a:lnTo>
                    <a:pt x="22876" y="180078"/>
                  </a:lnTo>
                  <a:lnTo>
                    <a:pt x="30197" y="180078"/>
                  </a:lnTo>
                  <a:lnTo>
                    <a:pt x="33056" y="176906"/>
                  </a:lnTo>
                  <a:lnTo>
                    <a:pt x="33056" y="172869"/>
                  </a:lnTo>
                  <a:lnTo>
                    <a:pt x="26384" y="172869"/>
                  </a:lnTo>
                  <a:lnTo>
                    <a:pt x="20016" y="165944"/>
                  </a:lnTo>
                  <a:close/>
                </a:path>
                <a:path w="53340" h="231139">
                  <a:moveTo>
                    <a:pt x="53086" y="144177"/>
                  </a:moveTo>
                  <a:lnTo>
                    <a:pt x="33056" y="165699"/>
                  </a:lnTo>
                  <a:lnTo>
                    <a:pt x="33056" y="176906"/>
                  </a:lnTo>
                  <a:lnTo>
                    <a:pt x="30197" y="180078"/>
                  </a:lnTo>
                  <a:lnTo>
                    <a:pt x="41986" y="180078"/>
                  </a:lnTo>
                  <a:lnTo>
                    <a:pt x="53086" y="144177"/>
                  </a:lnTo>
                  <a:close/>
                </a:path>
                <a:path w="53340" h="231139">
                  <a:moveTo>
                    <a:pt x="30197" y="0"/>
                  </a:moveTo>
                  <a:lnTo>
                    <a:pt x="22876" y="0"/>
                  </a:lnTo>
                  <a:lnTo>
                    <a:pt x="20016" y="3171"/>
                  </a:lnTo>
                  <a:lnTo>
                    <a:pt x="20016" y="165944"/>
                  </a:lnTo>
                  <a:lnTo>
                    <a:pt x="26384" y="172869"/>
                  </a:lnTo>
                  <a:lnTo>
                    <a:pt x="33056" y="165699"/>
                  </a:lnTo>
                  <a:lnTo>
                    <a:pt x="33056" y="3171"/>
                  </a:lnTo>
                  <a:lnTo>
                    <a:pt x="30197" y="0"/>
                  </a:lnTo>
                  <a:close/>
                </a:path>
                <a:path w="53340" h="231139">
                  <a:moveTo>
                    <a:pt x="33056" y="165699"/>
                  </a:moveTo>
                  <a:lnTo>
                    <a:pt x="26384" y="172869"/>
                  </a:lnTo>
                  <a:lnTo>
                    <a:pt x="33056" y="172869"/>
                  </a:lnTo>
                  <a:lnTo>
                    <a:pt x="33056" y="165699"/>
                  </a:lnTo>
                  <a:close/>
                </a:path>
              </a:pathLst>
            </a:custGeom>
            <a:solidFill>
              <a:srgbClr val="0000FF"/>
            </a:solidFill>
          </p:spPr>
          <p:txBody>
            <a:bodyPr wrap="square" lIns="0" tIns="0" rIns="0" bIns="0" rtlCol="0"/>
            <a:lstStyle/>
            <a:p/>
          </p:txBody>
        </p:sp>
        <p:sp>
          <p:nvSpPr>
            <p:cNvPr id="74" name="object 74" descr=""/>
            <p:cNvSpPr/>
            <p:nvPr/>
          </p:nvSpPr>
          <p:spPr>
            <a:xfrm>
              <a:off x="6876213" y="1622070"/>
              <a:ext cx="53340" cy="231140"/>
            </a:xfrm>
            <a:custGeom>
              <a:avLst/>
              <a:gdLst/>
              <a:ahLst/>
              <a:cxnLst/>
              <a:rect l="l" t="t" r="r" b="b"/>
              <a:pathLst>
                <a:path w="53340" h="231139">
                  <a:moveTo>
                    <a:pt x="33056" y="7353"/>
                  </a:moveTo>
                  <a:lnTo>
                    <a:pt x="33056" y="172869"/>
                  </a:lnTo>
                  <a:lnTo>
                    <a:pt x="33056" y="176906"/>
                  </a:lnTo>
                  <a:lnTo>
                    <a:pt x="30197" y="180078"/>
                  </a:lnTo>
                  <a:lnTo>
                    <a:pt x="26384" y="180078"/>
                  </a:lnTo>
                  <a:lnTo>
                    <a:pt x="22876" y="180078"/>
                  </a:lnTo>
                  <a:lnTo>
                    <a:pt x="20016" y="176906"/>
                  </a:lnTo>
                  <a:lnTo>
                    <a:pt x="20016" y="172869"/>
                  </a:lnTo>
                  <a:lnTo>
                    <a:pt x="20016" y="7353"/>
                  </a:lnTo>
                  <a:lnTo>
                    <a:pt x="20016" y="3171"/>
                  </a:lnTo>
                  <a:lnTo>
                    <a:pt x="22876" y="0"/>
                  </a:lnTo>
                  <a:lnTo>
                    <a:pt x="26384" y="0"/>
                  </a:lnTo>
                  <a:lnTo>
                    <a:pt x="30197" y="0"/>
                  </a:lnTo>
                  <a:lnTo>
                    <a:pt x="33056" y="3171"/>
                  </a:lnTo>
                  <a:lnTo>
                    <a:pt x="33056" y="7353"/>
                  </a:lnTo>
                  <a:close/>
                </a:path>
                <a:path w="53340" h="231139">
                  <a:moveTo>
                    <a:pt x="26384" y="172869"/>
                  </a:moveTo>
                  <a:lnTo>
                    <a:pt x="53086" y="144177"/>
                  </a:lnTo>
                  <a:lnTo>
                    <a:pt x="26384" y="230540"/>
                  </a:lnTo>
                  <a:lnTo>
                    <a:pt x="0" y="144177"/>
                  </a:lnTo>
                  <a:lnTo>
                    <a:pt x="26384" y="172869"/>
                  </a:lnTo>
                  <a:close/>
                </a:path>
              </a:pathLst>
            </a:custGeom>
            <a:ln w="3175">
              <a:solidFill>
                <a:srgbClr val="0000FF"/>
              </a:solidFill>
            </a:ln>
          </p:spPr>
          <p:txBody>
            <a:bodyPr wrap="square" lIns="0" tIns="0" rIns="0" bIns="0" rtlCol="0"/>
            <a:lstStyle/>
            <a:p/>
          </p:txBody>
        </p:sp>
        <p:sp>
          <p:nvSpPr>
            <p:cNvPr id="75" name="object 75" descr=""/>
            <p:cNvSpPr/>
            <p:nvPr/>
          </p:nvSpPr>
          <p:spPr>
            <a:xfrm>
              <a:off x="6538945" y="378969"/>
              <a:ext cx="5203825" cy="3349625"/>
            </a:xfrm>
            <a:custGeom>
              <a:avLst/>
              <a:gdLst/>
              <a:ahLst/>
              <a:cxnLst/>
              <a:rect l="l" t="t" r="r" b="b"/>
              <a:pathLst>
                <a:path w="5203825" h="3349625">
                  <a:moveTo>
                    <a:pt x="0" y="1250454"/>
                  </a:moveTo>
                  <a:lnTo>
                    <a:pt x="361745" y="1250454"/>
                  </a:lnTo>
                </a:path>
                <a:path w="5203825" h="3349625">
                  <a:moveTo>
                    <a:pt x="0" y="1250454"/>
                  </a:moveTo>
                  <a:lnTo>
                    <a:pt x="0" y="3349523"/>
                  </a:lnTo>
                </a:path>
                <a:path w="5203825" h="3349625">
                  <a:moveTo>
                    <a:pt x="0" y="3349523"/>
                  </a:moveTo>
                  <a:lnTo>
                    <a:pt x="5203257" y="3349523"/>
                  </a:lnTo>
                </a:path>
                <a:path w="5203825" h="3349625">
                  <a:moveTo>
                    <a:pt x="5203257" y="3349523"/>
                  </a:moveTo>
                  <a:lnTo>
                    <a:pt x="5203257" y="0"/>
                  </a:lnTo>
                </a:path>
                <a:path w="5203825" h="3349625">
                  <a:moveTo>
                    <a:pt x="3867881" y="0"/>
                  </a:moveTo>
                  <a:lnTo>
                    <a:pt x="5203257" y="0"/>
                  </a:lnTo>
                </a:path>
              </a:pathLst>
            </a:custGeom>
            <a:ln w="10292">
              <a:solidFill>
                <a:srgbClr val="0000FF"/>
              </a:solidFill>
            </a:ln>
          </p:spPr>
          <p:txBody>
            <a:bodyPr wrap="square" lIns="0" tIns="0" rIns="0" bIns="0" rtlCol="0"/>
            <a:lstStyle/>
            <a:p/>
          </p:txBody>
        </p:sp>
        <p:sp>
          <p:nvSpPr>
            <p:cNvPr id="76" name="object 76" descr=""/>
            <p:cNvSpPr/>
            <p:nvPr/>
          </p:nvSpPr>
          <p:spPr>
            <a:xfrm>
              <a:off x="10380085" y="371616"/>
              <a:ext cx="53340" cy="275590"/>
            </a:xfrm>
            <a:custGeom>
              <a:avLst/>
              <a:gdLst/>
              <a:ahLst/>
              <a:cxnLst/>
              <a:rect l="l" t="t" r="r" b="b"/>
              <a:pathLst>
                <a:path w="53340" h="275590">
                  <a:moveTo>
                    <a:pt x="0" y="188728"/>
                  </a:moveTo>
                  <a:lnTo>
                    <a:pt x="26741" y="275091"/>
                  </a:lnTo>
                  <a:lnTo>
                    <a:pt x="42135" y="224629"/>
                  </a:lnTo>
                  <a:lnTo>
                    <a:pt x="22902" y="224629"/>
                  </a:lnTo>
                  <a:lnTo>
                    <a:pt x="20122" y="221457"/>
                  </a:lnTo>
                  <a:lnTo>
                    <a:pt x="20122" y="210318"/>
                  </a:lnTo>
                  <a:lnTo>
                    <a:pt x="0" y="188728"/>
                  </a:lnTo>
                  <a:close/>
                </a:path>
                <a:path w="53340" h="275590">
                  <a:moveTo>
                    <a:pt x="20122" y="210318"/>
                  </a:moveTo>
                  <a:lnTo>
                    <a:pt x="20122" y="221457"/>
                  </a:lnTo>
                  <a:lnTo>
                    <a:pt x="22902" y="224629"/>
                  </a:lnTo>
                  <a:lnTo>
                    <a:pt x="30183" y="224629"/>
                  </a:lnTo>
                  <a:lnTo>
                    <a:pt x="33361" y="221457"/>
                  </a:lnTo>
                  <a:lnTo>
                    <a:pt x="33361" y="217420"/>
                  </a:lnTo>
                  <a:lnTo>
                    <a:pt x="26741" y="217420"/>
                  </a:lnTo>
                  <a:lnTo>
                    <a:pt x="20122" y="210318"/>
                  </a:lnTo>
                  <a:close/>
                </a:path>
                <a:path w="53340" h="275590">
                  <a:moveTo>
                    <a:pt x="53086" y="188728"/>
                  </a:moveTo>
                  <a:lnTo>
                    <a:pt x="33361" y="210318"/>
                  </a:lnTo>
                  <a:lnTo>
                    <a:pt x="33361" y="221457"/>
                  </a:lnTo>
                  <a:lnTo>
                    <a:pt x="30183" y="224629"/>
                  </a:lnTo>
                  <a:lnTo>
                    <a:pt x="42135" y="224629"/>
                  </a:lnTo>
                  <a:lnTo>
                    <a:pt x="53086" y="188728"/>
                  </a:lnTo>
                  <a:close/>
                </a:path>
                <a:path w="53340" h="275590">
                  <a:moveTo>
                    <a:pt x="30183" y="0"/>
                  </a:moveTo>
                  <a:lnTo>
                    <a:pt x="22902" y="0"/>
                  </a:lnTo>
                  <a:lnTo>
                    <a:pt x="20122" y="3171"/>
                  </a:lnTo>
                  <a:lnTo>
                    <a:pt x="20122" y="210318"/>
                  </a:lnTo>
                  <a:lnTo>
                    <a:pt x="26741" y="217420"/>
                  </a:lnTo>
                  <a:lnTo>
                    <a:pt x="33262" y="210318"/>
                  </a:lnTo>
                  <a:lnTo>
                    <a:pt x="33361" y="3171"/>
                  </a:lnTo>
                  <a:lnTo>
                    <a:pt x="30183" y="0"/>
                  </a:lnTo>
                  <a:close/>
                </a:path>
                <a:path w="53340" h="275590">
                  <a:moveTo>
                    <a:pt x="33361" y="210318"/>
                  </a:moveTo>
                  <a:lnTo>
                    <a:pt x="26741" y="217420"/>
                  </a:lnTo>
                  <a:lnTo>
                    <a:pt x="33361" y="217420"/>
                  </a:lnTo>
                  <a:lnTo>
                    <a:pt x="33361" y="210318"/>
                  </a:lnTo>
                  <a:close/>
                </a:path>
              </a:pathLst>
            </a:custGeom>
            <a:solidFill>
              <a:srgbClr val="0000FF"/>
            </a:solidFill>
          </p:spPr>
          <p:txBody>
            <a:bodyPr wrap="square" lIns="0" tIns="0" rIns="0" bIns="0" rtlCol="0"/>
            <a:lstStyle/>
            <a:p/>
          </p:txBody>
        </p:sp>
        <p:sp>
          <p:nvSpPr>
            <p:cNvPr id="77" name="object 77" descr=""/>
            <p:cNvSpPr/>
            <p:nvPr/>
          </p:nvSpPr>
          <p:spPr>
            <a:xfrm>
              <a:off x="10380085" y="371616"/>
              <a:ext cx="53340" cy="275590"/>
            </a:xfrm>
            <a:custGeom>
              <a:avLst/>
              <a:gdLst/>
              <a:ahLst/>
              <a:cxnLst/>
              <a:rect l="l" t="t" r="r" b="b"/>
              <a:pathLst>
                <a:path w="53340" h="275590">
                  <a:moveTo>
                    <a:pt x="33361" y="7353"/>
                  </a:moveTo>
                  <a:lnTo>
                    <a:pt x="33361" y="217420"/>
                  </a:lnTo>
                  <a:lnTo>
                    <a:pt x="33361" y="221457"/>
                  </a:lnTo>
                  <a:lnTo>
                    <a:pt x="30183" y="224629"/>
                  </a:lnTo>
                  <a:lnTo>
                    <a:pt x="26741" y="224629"/>
                  </a:lnTo>
                  <a:lnTo>
                    <a:pt x="22902" y="224629"/>
                  </a:lnTo>
                  <a:lnTo>
                    <a:pt x="20122" y="221457"/>
                  </a:lnTo>
                  <a:lnTo>
                    <a:pt x="20122" y="217420"/>
                  </a:lnTo>
                  <a:lnTo>
                    <a:pt x="20122" y="7353"/>
                  </a:lnTo>
                  <a:lnTo>
                    <a:pt x="20122" y="3171"/>
                  </a:lnTo>
                  <a:lnTo>
                    <a:pt x="22902" y="0"/>
                  </a:lnTo>
                  <a:lnTo>
                    <a:pt x="26741" y="0"/>
                  </a:lnTo>
                  <a:lnTo>
                    <a:pt x="30183" y="0"/>
                  </a:lnTo>
                  <a:lnTo>
                    <a:pt x="33361" y="3171"/>
                  </a:lnTo>
                  <a:lnTo>
                    <a:pt x="33361" y="7353"/>
                  </a:lnTo>
                  <a:close/>
                </a:path>
                <a:path w="53340" h="275590">
                  <a:moveTo>
                    <a:pt x="26741" y="217420"/>
                  </a:moveTo>
                  <a:lnTo>
                    <a:pt x="53086" y="188728"/>
                  </a:lnTo>
                  <a:lnTo>
                    <a:pt x="26741" y="275091"/>
                  </a:lnTo>
                  <a:lnTo>
                    <a:pt x="0" y="188728"/>
                  </a:lnTo>
                  <a:lnTo>
                    <a:pt x="26741" y="217420"/>
                  </a:lnTo>
                  <a:close/>
                </a:path>
              </a:pathLst>
            </a:custGeom>
            <a:ln w="3175">
              <a:solidFill>
                <a:srgbClr val="0000FF"/>
              </a:solidFill>
            </a:ln>
          </p:spPr>
          <p:txBody>
            <a:bodyPr wrap="square" lIns="0" tIns="0" rIns="0" bIns="0" rtlCol="0"/>
            <a:lstStyle/>
            <a:p/>
          </p:txBody>
        </p:sp>
        <p:sp>
          <p:nvSpPr>
            <p:cNvPr id="78" name="object 78" descr=""/>
            <p:cNvSpPr/>
            <p:nvPr/>
          </p:nvSpPr>
          <p:spPr>
            <a:xfrm>
              <a:off x="7291667" y="3498026"/>
              <a:ext cx="53340" cy="230504"/>
            </a:xfrm>
            <a:custGeom>
              <a:avLst/>
              <a:gdLst/>
              <a:ahLst/>
              <a:cxnLst/>
              <a:rect l="l" t="t" r="r" b="b"/>
              <a:pathLst>
                <a:path w="53340" h="230504">
                  <a:moveTo>
                    <a:pt x="0" y="144084"/>
                  </a:moveTo>
                  <a:lnTo>
                    <a:pt x="26384" y="230466"/>
                  </a:lnTo>
                  <a:lnTo>
                    <a:pt x="41978" y="180019"/>
                  </a:lnTo>
                  <a:lnTo>
                    <a:pt x="22889" y="180019"/>
                  </a:lnTo>
                  <a:lnTo>
                    <a:pt x="19712" y="176910"/>
                  </a:lnTo>
                  <a:lnTo>
                    <a:pt x="19712" y="165597"/>
                  </a:lnTo>
                  <a:lnTo>
                    <a:pt x="0" y="144084"/>
                  </a:lnTo>
                  <a:close/>
                </a:path>
                <a:path w="53340" h="230504">
                  <a:moveTo>
                    <a:pt x="19791" y="165597"/>
                  </a:moveTo>
                  <a:lnTo>
                    <a:pt x="19712" y="176910"/>
                  </a:lnTo>
                  <a:lnTo>
                    <a:pt x="22889" y="180019"/>
                  </a:lnTo>
                  <a:lnTo>
                    <a:pt x="30197" y="180019"/>
                  </a:lnTo>
                  <a:lnTo>
                    <a:pt x="33056" y="176910"/>
                  </a:lnTo>
                  <a:lnTo>
                    <a:pt x="33056" y="172763"/>
                  </a:lnTo>
                  <a:lnTo>
                    <a:pt x="26384" y="172763"/>
                  </a:lnTo>
                  <a:lnTo>
                    <a:pt x="19791" y="165597"/>
                  </a:lnTo>
                  <a:close/>
                </a:path>
                <a:path w="53340" h="230504">
                  <a:moveTo>
                    <a:pt x="53086" y="144084"/>
                  </a:moveTo>
                  <a:lnTo>
                    <a:pt x="33056" y="165597"/>
                  </a:lnTo>
                  <a:lnTo>
                    <a:pt x="33056" y="176910"/>
                  </a:lnTo>
                  <a:lnTo>
                    <a:pt x="30197" y="180019"/>
                  </a:lnTo>
                  <a:lnTo>
                    <a:pt x="41978" y="180019"/>
                  </a:lnTo>
                  <a:lnTo>
                    <a:pt x="53086" y="144084"/>
                  </a:lnTo>
                  <a:close/>
                </a:path>
                <a:path w="53340" h="230504">
                  <a:moveTo>
                    <a:pt x="30197" y="0"/>
                  </a:moveTo>
                  <a:lnTo>
                    <a:pt x="22889" y="0"/>
                  </a:lnTo>
                  <a:lnTo>
                    <a:pt x="19712" y="3114"/>
                  </a:lnTo>
                  <a:lnTo>
                    <a:pt x="19791" y="165597"/>
                  </a:lnTo>
                  <a:lnTo>
                    <a:pt x="26384" y="172763"/>
                  </a:lnTo>
                  <a:lnTo>
                    <a:pt x="33056" y="165597"/>
                  </a:lnTo>
                  <a:lnTo>
                    <a:pt x="33056" y="3114"/>
                  </a:lnTo>
                  <a:lnTo>
                    <a:pt x="30197" y="0"/>
                  </a:lnTo>
                  <a:close/>
                </a:path>
                <a:path w="53340" h="230504">
                  <a:moveTo>
                    <a:pt x="33056" y="165597"/>
                  </a:moveTo>
                  <a:lnTo>
                    <a:pt x="26384" y="172763"/>
                  </a:lnTo>
                  <a:lnTo>
                    <a:pt x="33056" y="172763"/>
                  </a:lnTo>
                  <a:lnTo>
                    <a:pt x="33056" y="165597"/>
                  </a:lnTo>
                  <a:close/>
                </a:path>
              </a:pathLst>
            </a:custGeom>
            <a:solidFill>
              <a:srgbClr val="000000"/>
            </a:solidFill>
          </p:spPr>
          <p:txBody>
            <a:bodyPr wrap="square" lIns="0" tIns="0" rIns="0" bIns="0" rtlCol="0"/>
            <a:lstStyle/>
            <a:p/>
          </p:txBody>
        </p:sp>
        <p:sp>
          <p:nvSpPr>
            <p:cNvPr id="79" name="object 79" descr=""/>
            <p:cNvSpPr/>
            <p:nvPr/>
          </p:nvSpPr>
          <p:spPr>
            <a:xfrm>
              <a:off x="7291667" y="3498026"/>
              <a:ext cx="53340" cy="230504"/>
            </a:xfrm>
            <a:custGeom>
              <a:avLst/>
              <a:gdLst/>
              <a:ahLst/>
              <a:cxnLst/>
              <a:rect l="l" t="t" r="r" b="b"/>
              <a:pathLst>
                <a:path w="53340" h="230504">
                  <a:moveTo>
                    <a:pt x="33056" y="6906"/>
                  </a:moveTo>
                  <a:lnTo>
                    <a:pt x="33056" y="172763"/>
                  </a:lnTo>
                  <a:lnTo>
                    <a:pt x="33056" y="176910"/>
                  </a:lnTo>
                  <a:lnTo>
                    <a:pt x="30197" y="180019"/>
                  </a:lnTo>
                  <a:lnTo>
                    <a:pt x="26384" y="180019"/>
                  </a:lnTo>
                  <a:lnTo>
                    <a:pt x="22889" y="180019"/>
                  </a:lnTo>
                  <a:lnTo>
                    <a:pt x="19712" y="176910"/>
                  </a:lnTo>
                  <a:lnTo>
                    <a:pt x="19712" y="172763"/>
                  </a:lnTo>
                  <a:lnTo>
                    <a:pt x="19712" y="6906"/>
                  </a:lnTo>
                  <a:lnTo>
                    <a:pt x="19712" y="3114"/>
                  </a:lnTo>
                  <a:lnTo>
                    <a:pt x="22889" y="0"/>
                  </a:lnTo>
                  <a:lnTo>
                    <a:pt x="26384" y="0"/>
                  </a:lnTo>
                  <a:lnTo>
                    <a:pt x="30197" y="0"/>
                  </a:lnTo>
                  <a:lnTo>
                    <a:pt x="33056" y="3114"/>
                  </a:lnTo>
                  <a:lnTo>
                    <a:pt x="33056" y="6906"/>
                  </a:lnTo>
                  <a:close/>
                </a:path>
                <a:path w="53340" h="230504">
                  <a:moveTo>
                    <a:pt x="26384" y="172763"/>
                  </a:moveTo>
                  <a:lnTo>
                    <a:pt x="53086" y="144084"/>
                  </a:lnTo>
                  <a:lnTo>
                    <a:pt x="26384" y="230466"/>
                  </a:lnTo>
                  <a:lnTo>
                    <a:pt x="0" y="144084"/>
                  </a:lnTo>
                  <a:lnTo>
                    <a:pt x="26384" y="172763"/>
                  </a:lnTo>
                  <a:close/>
                </a:path>
              </a:pathLst>
            </a:custGeom>
            <a:ln w="3175">
              <a:solidFill>
                <a:srgbClr val="000000"/>
              </a:solidFill>
            </a:ln>
          </p:spPr>
          <p:txBody>
            <a:bodyPr wrap="square" lIns="0" tIns="0" rIns="0" bIns="0" rtlCol="0"/>
            <a:lstStyle/>
            <a:p/>
          </p:txBody>
        </p:sp>
        <p:sp>
          <p:nvSpPr>
            <p:cNvPr id="80" name="object 80" descr=""/>
            <p:cNvSpPr/>
            <p:nvPr/>
          </p:nvSpPr>
          <p:spPr>
            <a:xfrm>
              <a:off x="9211646" y="3498026"/>
              <a:ext cx="53340" cy="230504"/>
            </a:xfrm>
            <a:custGeom>
              <a:avLst/>
              <a:gdLst/>
              <a:ahLst/>
              <a:cxnLst/>
              <a:rect l="l" t="t" r="r" b="b"/>
              <a:pathLst>
                <a:path w="53340" h="230504">
                  <a:moveTo>
                    <a:pt x="0" y="144084"/>
                  </a:moveTo>
                  <a:lnTo>
                    <a:pt x="26344" y="230466"/>
                  </a:lnTo>
                  <a:lnTo>
                    <a:pt x="41962" y="180019"/>
                  </a:lnTo>
                  <a:lnTo>
                    <a:pt x="22902" y="180019"/>
                  </a:lnTo>
                  <a:lnTo>
                    <a:pt x="19725" y="176910"/>
                  </a:lnTo>
                  <a:lnTo>
                    <a:pt x="19725" y="165557"/>
                  </a:lnTo>
                  <a:lnTo>
                    <a:pt x="0" y="144084"/>
                  </a:lnTo>
                  <a:close/>
                </a:path>
                <a:path w="53340" h="230504">
                  <a:moveTo>
                    <a:pt x="19725" y="165557"/>
                  </a:moveTo>
                  <a:lnTo>
                    <a:pt x="19725" y="176910"/>
                  </a:lnTo>
                  <a:lnTo>
                    <a:pt x="22902" y="180019"/>
                  </a:lnTo>
                  <a:lnTo>
                    <a:pt x="30183" y="180019"/>
                  </a:lnTo>
                  <a:lnTo>
                    <a:pt x="33096" y="176910"/>
                  </a:lnTo>
                  <a:lnTo>
                    <a:pt x="33096" y="172763"/>
                  </a:lnTo>
                  <a:lnTo>
                    <a:pt x="26344" y="172763"/>
                  </a:lnTo>
                  <a:lnTo>
                    <a:pt x="19725" y="165557"/>
                  </a:lnTo>
                  <a:close/>
                </a:path>
                <a:path w="53340" h="230504">
                  <a:moveTo>
                    <a:pt x="53086" y="144084"/>
                  </a:moveTo>
                  <a:lnTo>
                    <a:pt x="33096" y="165557"/>
                  </a:lnTo>
                  <a:lnTo>
                    <a:pt x="33096" y="176910"/>
                  </a:lnTo>
                  <a:lnTo>
                    <a:pt x="30183" y="180019"/>
                  </a:lnTo>
                  <a:lnTo>
                    <a:pt x="41962" y="180019"/>
                  </a:lnTo>
                  <a:lnTo>
                    <a:pt x="53086" y="144084"/>
                  </a:lnTo>
                  <a:close/>
                </a:path>
                <a:path w="53340" h="230504">
                  <a:moveTo>
                    <a:pt x="30183" y="0"/>
                  </a:moveTo>
                  <a:lnTo>
                    <a:pt x="22902" y="0"/>
                  </a:lnTo>
                  <a:lnTo>
                    <a:pt x="19725" y="3114"/>
                  </a:lnTo>
                  <a:lnTo>
                    <a:pt x="19725" y="165557"/>
                  </a:lnTo>
                  <a:lnTo>
                    <a:pt x="26344" y="172763"/>
                  </a:lnTo>
                  <a:lnTo>
                    <a:pt x="33063" y="165557"/>
                  </a:lnTo>
                  <a:lnTo>
                    <a:pt x="33096" y="3114"/>
                  </a:lnTo>
                  <a:lnTo>
                    <a:pt x="30183" y="0"/>
                  </a:lnTo>
                  <a:close/>
                </a:path>
                <a:path w="53340" h="230504">
                  <a:moveTo>
                    <a:pt x="33096" y="165557"/>
                  </a:moveTo>
                  <a:lnTo>
                    <a:pt x="26344" y="172763"/>
                  </a:lnTo>
                  <a:lnTo>
                    <a:pt x="33096" y="172763"/>
                  </a:lnTo>
                  <a:lnTo>
                    <a:pt x="33096" y="165557"/>
                  </a:lnTo>
                  <a:close/>
                </a:path>
              </a:pathLst>
            </a:custGeom>
            <a:solidFill>
              <a:srgbClr val="000000"/>
            </a:solidFill>
          </p:spPr>
          <p:txBody>
            <a:bodyPr wrap="square" lIns="0" tIns="0" rIns="0" bIns="0" rtlCol="0"/>
            <a:lstStyle/>
            <a:p/>
          </p:txBody>
        </p:sp>
        <p:sp>
          <p:nvSpPr>
            <p:cNvPr id="81" name="object 81" descr=""/>
            <p:cNvSpPr/>
            <p:nvPr/>
          </p:nvSpPr>
          <p:spPr>
            <a:xfrm>
              <a:off x="9211647" y="3498026"/>
              <a:ext cx="53340" cy="230504"/>
            </a:xfrm>
            <a:custGeom>
              <a:avLst/>
              <a:gdLst/>
              <a:ahLst/>
              <a:cxnLst/>
              <a:rect l="l" t="t" r="r" b="b"/>
              <a:pathLst>
                <a:path w="53340" h="230504">
                  <a:moveTo>
                    <a:pt x="33096" y="6906"/>
                  </a:moveTo>
                  <a:lnTo>
                    <a:pt x="33096" y="172763"/>
                  </a:lnTo>
                  <a:lnTo>
                    <a:pt x="33096" y="176910"/>
                  </a:lnTo>
                  <a:lnTo>
                    <a:pt x="30183" y="180019"/>
                  </a:lnTo>
                  <a:lnTo>
                    <a:pt x="26344" y="180019"/>
                  </a:lnTo>
                  <a:lnTo>
                    <a:pt x="22902" y="180019"/>
                  </a:lnTo>
                  <a:lnTo>
                    <a:pt x="19725" y="176910"/>
                  </a:lnTo>
                  <a:lnTo>
                    <a:pt x="19725" y="172763"/>
                  </a:lnTo>
                  <a:lnTo>
                    <a:pt x="19725" y="6906"/>
                  </a:lnTo>
                  <a:lnTo>
                    <a:pt x="19725" y="3114"/>
                  </a:lnTo>
                  <a:lnTo>
                    <a:pt x="22902" y="0"/>
                  </a:lnTo>
                  <a:lnTo>
                    <a:pt x="26344" y="0"/>
                  </a:lnTo>
                  <a:lnTo>
                    <a:pt x="30183" y="0"/>
                  </a:lnTo>
                  <a:lnTo>
                    <a:pt x="33096" y="3114"/>
                  </a:lnTo>
                  <a:lnTo>
                    <a:pt x="33096" y="6906"/>
                  </a:lnTo>
                  <a:close/>
                </a:path>
                <a:path w="53340" h="230504">
                  <a:moveTo>
                    <a:pt x="26344" y="172763"/>
                  </a:moveTo>
                  <a:lnTo>
                    <a:pt x="53086" y="144084"/>
                  </a:lnTo>
                  <a:lnTo>
                    <a:pt x="26344" y="230466"/>
                  </a:lnTo>
                  <a:lnTo>
                    <a:pt x="0" y="144084"/>
                  </a:lnTo>
                  <a:lnTo>
                    <a:pt x="26344" y="172763"/>
                  </a:lnTo>
                  <a:close/>
                </a:path>
              </a:pathLst>
            </a:custGeom>
            <a:ln w="3175">
              <a:solidFill>
                <a:srgbClr val="000000"/>
              </a:solidFill>
            </a:ln>
          </p:spPr>
          <p:txBody>
            <a:bodyPr wrap="square" lIns="0" tIns="0" rIns="0" bIns="0" rtlCol="0"/>
            <a:lstStyle/>
            <a:p/>
          </p:txBody>
        </p:sp>
      </p:grpSp>
      <p:sp>
        <p:nvSpPr>
          <p:cNvPr id="82" name="object 82" descr=""/>
          <p:cNvSpPr txBox="1"/>
          <p:nvPr/>
        </p:nvSpPr>
        <p:spPr>
          <a:xfrm>
            <a:off x="9572804" y="3527577"/>
            <a:ext cx="1235710" cy="181610"/>
          </a:xfrm>
          <a:prstGeom prst="rect">
            <a:avLst/>
          </a:prstGeom>
        </p:spPr>
        <p:txBody>
          <a:bodyPr wrap="square" lIns="0" tIns="15240" rIns="0" bIns="0" rtlCol="0" vert="horz">
            <a:spAutoFit/>
          </a:bodyPr>
          <a:lstStyle/>
          <a:p>
            <a:pPr marL="12700">
              <a:lnSpc>
                <a:spcPct val="100000"/>
              </a:lnSpc>
              <a:spcBef>
                <a:spcPts val="120"/>
              </a:spcBef>
            </a:pPr>
            <a:r>
              <a:rPr dirty="0" sz="1000" spc="-70" b="1">
                <a:solidFill>
                  <a:srgbClr val="0000FF"/>
                </a:solidFill>
                <a:latin typeface="宋体"/>
                <a:cs typeface="宋体"/>
              </a:rPr>
              <a:t>公共数据总线</a:t>
            </a:r>
            <a:r>
              <a:rPr dirty="0" sz="1000" spc="-35" b="1">
                <a:solidFill>
                  <a:srgbClr val="0000FF"/>
                </a:solidFill>
                <a:latin typeface="宋体"/>
                <a:cs typeface="宋体"/>
              </a:rPr>
              <a:t>（</a:t>
            </a:r>
            <a:r>
              <a:rPr dirty="0" sz="1000" spc="-35" b="1">
                <a:solidFill>
                  <a:srgbClr val="0000FF"/>
                </a:solidFill>
                <a:latin typeface="Times New Roman"/>
                <a:cs typeface="Times New Roman"/>
              </a:rPr>
              <a:t>CDB</a:t>
            </a:r>
            <a:r>
              <a:rPr dirty="0" sz="1000" spc="-35" b="1">
                <a:solidFill>
                  <a:srgbClr val="0000FF"/>
                </a:solidFill>
                <a:latin typeface="宋体"/>
                <a:cs typeface="宋体"/>
              </a:rPr>
              <a:t>）</a:t>
            </a:r>
            <a:endParaRPr sz="1000">
              <a:latin typeface="宋体"/>
              <a:cs typeface="宋体"/>
            </a:endParaRPr>
          </a:p>
        </p:txBody>
      </p:sp>
      <p:grpSp>
        <p:nvGrpSpPr>
          <p:cNvPr id="83" name="object 83" descr=""/>
          <p:cNvGrpSpPr/>
          <p:nvPr/>
        </p:nvGrpSpPr>
        <p:grpSpPr>
          <a:xfrm>
            <a:off x="8682078" y="1129930"/>
            <a:ext cx="3061335" cy="2599690"/>
            <a:chOff x="8682078" y="1129930"/>
            <a:chExt cx="3061335" cy="2599690"/>
          </a:xfrm>
        </p:grpSpPr>
        <p:sp>
          <p:nvSpPr>
            <p:cNvPr id="84" name="object 84" descr=""/>
            <p:cNvSpPr/>
            <p:nvPr/>
          </p:nvSpPr>
          <p:spPr>
            <a:xfrm>
              <a:off x="10992370" y="3498026"/>
              <a:ext cx="53340" cy="230504"/>
            </a:xfrm>
            <a:custGeom>
              <a:avLst/>
              <a:gdLst/>
              <a:ahLst/>
              <a:cxnLst/>
              <a:rect l="l" t="t" r="r" b="b"/>
              <a:pathLst>
                <a:path w="53340" h="230504">
                  <a:moveTo>
                    <a:pt x="0" y="144084"/>
                  </a:moveTo>
                  <a:lnTo>
                    <a:pt x="26344" y="230466"/>
                  </a:lnTo>
                  <a:lnTo>
                    <a:pt x="41962" y="180019"/>
                  </a:lnTo>
                  <a:lnTo>
                    <a:pt x="22902" y="180019"/>
                  </a:lnTo>
                  <a:lnTo>
                    <a:pt x="19990" y="176910"/>
                  </a:lnTo>
                  <a:lnTo>
                    <a:pt x="19990" y="165846"/>
                  </a:lnTo>
                  <a:lnTo>
                    <a:pt x="0" y="144084"/>
                  </a:lnTo>
                  <a:close/>
                </a:path>
                <a:path w="53340" h="230504">
                  <a:moveTo>
                    <a:pt x="19990" y="165846"/>
                  </a:moveTo>
                  <a:lnTo>
                    <a:pt x="19990" y="176910"/>
                  </a:lnTo>
                  <a:lnTo>
                    <a:pt x="22902" y="180019"/>
                  </a:lnTo>
                  <a:lnTo>
                    <a:pt x="30183" y="180019"/>
                  </a:lnTo>
                  <a:lnTo>
                    <a:pt x="33361" y="176910"/>
                  </a:lnTo>
                  <a:lnTo>
                    <a:pt x="33361" y="172763"/>
                  </a:lnTo>
                  <a:lnTo>
                    <a:pt x="26344" y="172763"/>
                  </a:lnTo>
                  <a:lnTo>
                    <a:pt x="19990" y="165846"/>
                  </a:lnTo>
                  <a:close/>
                </a:path>
                <a:path w="53340" h="230504">
                  <a:moveTo>
                    <a:pt x="53086" y="144084"/>
                  </a:moveTo>
                  <a:lnTo>
                    <a:pt x="33361" y="165239"/>
                  </a:lnTo>
                  <a:lnTo>
                    <a:pt x="33361" y="176910"/>
                  </a:lnTo>
                  <a:lnTo>
                    <a:pt x="30183" y="180019"/>
                  </a:lnTo>
                  <a:lnTo>
                    <a:pt x="41962" y="180019"/>
                  </a:lnTo>
                  <a:lnTo>
                    <a:pt x="53086" y="144084"/>
                  </a:lnTo>
                  <a:close/>
                </a:path>
                <a:path w="53340" h="230504">
                  <a:moveTo>
                    <a:pt x="30183" y="0"/>
                  </a:moveTo>
                  <a:lnTo>
                    <a:pt x="22902" y="0"/>
                  </a:lnTo>
                  <a:lnTo>
                    <a:pt x="19990" y="3114"/>
                  </a:lnTo>
                  <a:lnTo>
                    <a:pt x="19990" y="165846"/>
                  </a:lnTo>
                  <a:lnTo>
                    <a:pt x="26344" y="172763"/>
                  </a:lnTo>
                  <a:lnTo>
                    <a:pt x="33361" y="165239"/>
                  </a:lnTo>
                  <a:lnTo>
                    <a:pt x="33361" y="3114"/>
                  </a:lnTo>
                  <a:lnTo>
                    <a:pt x="30183" y="0"/>
                  </a:lnTo>
                  <a:close/>
                </a:path>
                <a:path w="53340" h="230504">
                  <a:moveTo>
                    <a:pt x="33361" y="165239"/>
                  </a:moveTo>
                  <a:lnTo>
                    <a:pt x="26344" y="172763"/>
                  </a:lnTo>
                  <a:lnTo>
                    <a:pt x="33361" y="172763"/>
                  </a:lnTo>
                  <a:lnTo>
                    <a:pt x="33361" y="165239"/>
                  </a:lnTo>
                  <a:close/>
                </a:path>
              </a:pathLst>
            </a:custGeom>
            <a:solidFill>
              <a:srgbClr val="000000"/>
            </a:solidFill>
          </p:spPr>
          <p:txBody>
            <a:bodyPr wrap="square" lIns="0" tIns="0" rIns="0" bIns="0" rtlCol="0"/>
            <a:lstStyle/>
            <a:p/>
          </p:txBody>
        </p:sp>
        <p:sp>
          <p:nvSpPr>
            <p:cNvPr id="85" name="object 85" descr=""/>
            <p:cNvSpPr/>
            <p:nvPr/>
          </p:nvSpPr>
          <p:spPr>
            <a:xfrm>
              <a:off x="10992370" y="3498026"/>
              <a:ext cx="53340" cy="230504"/>
            </a:xfrm>
            <a:custGeom>
              <a:avLst/>
              <a:gdLst/>
              <a:ahLst/>
              <a:cxnLst/>
              <a:rect l="l" t="t" r="r" b="b"/>
              <a:pathLst>
                <a:path w="53340" h="230504">
                  <a:moveTo>
                    <a:pt x="33361" y="6906"/>
                  </a:moveTo>
                  <a:lnTo>
                    <a:pt x="33361" y="172763"/>
                  </a:lnTo>
                  <a:lnTo>
                    <a:pt x="33361" y="176910"/>
                  </a:lnTo>
                  <a:lnTo>
                    <a:pt x="30183" y="180019"/>
                  </a:lnTo>
                  <a:lnTo>
                    <a:pt x="26344" y="180019"/>
                  </a:lnTo>
                  <a:lnTo>
                    <a:pt x="22902" y="180019"/>
                  </a:lnTo>
                  <a:lnTo>
                    <a:pt x="19990" y="176910"/>
                  </a:lnTo>
                  <a:lnTo>
                    <a:pt x="19990" y="172763"/>
                  </a:lnTo>
                  <a:lnTo>
                    <a:pt x="19990" y="6906"/>
                  </a:lnTo>
                  <a:lnTo>
                    <a:pt x="19990" y="3114"/>
                  </a:lnTo>
                  <a:lnTo>
                    <a:pt x="22902" y="0"/>
                  </a:lnTo>
                  <a:lnTo>
                    <a:pt x="26344" y="0"/>
                  </a:lnTo>
                  <a:lnTo>
                    <a:pt x="30183" y="0"/>
                  </a:lnTo>
                  <a:lnTo>
                    <a:pt x="33361" y="3114"/>
                  </a:lnTo>
                  <a:lnTo>
                    <a:pt x="33361" y="6906"/>
                  </a:lnTo>
                  <a:close/>
                </a:path>
                <a:path w="53340" h="230504">
                  <a:moveTo>
                    <a:pt x="26344" y="172763"/>
                  </a:moveTo>
                  <a:lnTo>
                    <a:pt x="53086" y="144084"/>
                  </a:lnTo>
                  <a:lnTo>
                    <a:pt x="26344" y="230466"/>
                  </a:lnTo>
                  <a:lnTo>
                    <a:pt x="0" y="144084"/>
                  </a:lnTo>
                  <a:lnTo>
                    <a:pt x="26344" y="172763"/>
                  </a:lnTo>
                  <a:close/>
                </a:path>
              </a:pathLst>
            </a:custGeom>
            <a:ln w="3175">
              <a:solidFill>
                <a:srgbClr val="000000"/>
              </a:solidFill>
            </a:ln>
          </p:spPr>
          <p:txBody>
            <a:bodyPr wrap="square" lIns="0" tIns="0" rIns="0" bIns="0" rtlCol="0"/>
            <a:lstStyle/>
            <a:p/>
          </p:txBody>
        </p:sp>
        <p:sp>
          <p:nvSpPr>
            <p:cNvPr id="86" name="object 86" descr=""/>
            <p:cNvSpPr/>
            <p:nvPr/>
          </p:nvSpPr>
          <p:spPr>
            <a:xfrm>
              <a:off x="9016775" y="2872611"/>
              <a:ext cx="53340" cy="320040"/>
            </a:xfrm>
            <a:custGeom>
              <a:avLst/>
              <a:gdLst/>
              <a:ahLst/>
              <a:cxnLst/>
              <a:rect l="l" t="t" r="r" b="b"/>
              <a:pathLst>
                <a:path w="53340" h="320039">
                  <a:moveTo>
                    <a:pt x="0" y="233236"/>
                  </a:moveTo>
                  <a:lnTo>
                    <a:pt x="26344" y="319959"/>
                  </a:lnTo>
                  <a:lnTo>
                    <a:pt x="41900" y="269511"/>
                  </a:lnTo>
                  <a:lnTo>
                    <a:pt x="22902" y="269511"/>
                  </a:lnTo>
                  <a:lnTo>
                    <a:pt x="19990" y="266065"/>
                  </a:lnTo>
                  <a:lnTo>
                    <a:pt x="19990" y="255258"/>
                  </a:lnTo>
                  <a:lnTo>
                    <a:pt x="0" y="233236"/>
                  </a:lnTo>
                  <a:close/>
                </a:path>
                <a:path w="53340" h="320039">
                  <a:moveTo>
                    <a:pt x="19990" y="255258"/>
                  </a:moveTo>
                  <a:lnTo>
                    <a:pt x="19990" y="266065"/>
                  </a:lnTo>
                  <a:lnTo>
                    <a:pt x="22902" y="269511"/>
                  </a:lnTo>
                  <a:lnTo>
                    <a:pt x="30183" y="269511"/>
                  </a:lnTo>
                  <a:lnTo>
                    <a:pt x="33096" y="266065"/>
                  </a:lnTo>
                  <a:lnTo>
                    <a:pt x="33096" y="262259"/>
                  </a:lnTo>
                  <a:lnTo>
                    <a:pt x="26344" y="262259"/>
                  </a:lnTo>
                  <a:lnTo>
                    <a:pt x="19990" y="255258"/>
                  </a:lnTo>
                  <a:close/>
                </a:path>
                <a:path w="53340" h="320039">
                  <a:moveTo>
                    <a:pt x="53086" y="233236"/>
                  </a:moveTo>
                  <a:lnTo>
                    <a:pt x="33096" y="254931"/>
                  </a:lnTo>
                  <a:lnTo>
                    <a:pt x="33096" y="266065"/>
                  </a:lnTo>
                  <a:lnTo>
                    <a:pt x="30183" y="269511"/>
                  </a:lnTo>
                  <a:lnTo>
                    <a:pt x="41900" y="269511"/>
                  </a:lnTo>
                  <a:lnTo>
                    <a:pt x="53086" y="233236"/>
                  </a:lnTo>
                  <a:close/>
                </a:path>
                <a:path w="53340" h="320039">
                  <a:moveTo>
                    <a:pt x="30183" y="0"/>
                  </a:moveTo>
                  <a:lnTo>
                    <a:pt x="22902" y="0"/>
                  </a:lnTo>
                  <a:lnTo>
                    <a:pt x="19990" y="3114"/>
                  </a:lnTo>
                  <a:lnTo>
                    <a:pt x="19990" y="255258"/>
                  </a:lnTo>
                  <a:lnTo>
                    <a:pt x="26344" y="262259"/>
                  </a:lnTo>
                  <a:lnTo>
                    <a:pt x="33096" y="254931"/>
                  </a:lnTo>
                  <a:lnTo>
                    <a:pt x="33096" y="3114"/>
                  </a:lnTo>
                  <a:lnTo>
                    <a:pt x="30183" y="0"/>
                  </a:lnTo>
                  <a:close/>
                </a:path>
                <a:path w="53340" h="320039">
                  <a:moveTo>
                    <a:pt x="33096" y="254931"/>
                  </a:moveTo>
                  <a:lnTo>
                    <a:pt x="26344" y="262259"/>
                  </a:lnTo>
                  <a:lnTo>
                    <a:pt x="33096" y="262259"/>
                  </a:lnTo>
                  <a:lnTo>
                    <a:pt x="33096" y="254931"/>
                  </a:lnTo>
                  <a:close/>
                </a:path>
              </a:pathLst>
            </a:custGeom>
            <a:solidFill>
              <a:srgbClr val="000000"/>
            </a:solidFill>
          </p:spPr>
          <p:txBody>
            <a:bodyPr wrap="square" lIns="0" tIns="0" rIns="0" bIns="0" rtlCol="0"/>
            <a:lstStyle/>
            <a:p/>
          </p:txBody>
        </p:sp>
        <p:sp>
          <p:nvSpPr>
            <p:cNvPr id="87" name="object 87" descr=""/>
            <p:cNvSpPr/>
            <p:nvPr/>
          </p:nvSpPr>
          <p:spPr>
            <a:xfrm>
              <a:off x="9016775" y="2872611"/>
              <a:ext cx="53340" cy="320040"/>
            </a:xfrm>
            <a:custGeom>
              <a:avLst/>
              <a:gdLst/>
              <a:ahLst/>
              <a:cxnLst/>
              <a:rect l="l" t="t" r="r" b="b"/>
              <a:pathLst>
                <a:path w="53340" h="320039">
                  <a:moveTo>
                    <a:pt x="33096" y="7252"/>
                  </a:moveTo>
                  <a:lnTo>
                    <a:pt x="33096" y="262259"/>
                  </a:lnTo>
                  <a:lnTo>
                    <a:pt x="33096" y="266065"/>
                  </a:lnTo>
                  <a:lnTo>
                    <a:pt x="30183" y="269511"/>
                  </a:lnTo>
                  <a:lnTo>
                    <a:pt x="26344" y="269511"/>
                  </a:lnTo>
                  <a:lnTo>
                    <a:pt x="22902" y="269511"/>
                  </a:lnTo>
                  <a:lnTo>
                    <a:pt x="19990" y="266065"/>
                  </a:lnTo>
                  <a:lnTo>
                    <a:pt x="19990" y="262259"/>
                  </a:lnTo>
                  <a:lnTo>
                    <a:pt x="19990" y="7252"/>
                  </a:lnTo>
                  <a:lnTo>
                    <a:pt x="19990" y="3114"/>
                  </a:lnTo>
                  <a:lnTo>
                    <a:pt x="22902" y="0"/>
                  </a:lnTo>
                  <a:lnTo>
                    <a:pt x="26344" y="0"/>
                  </a:lnTo>
                  <a:lnTo>
                    <a:pt x="30183" y="0"/>
                  </a:lnTo>
                  <a:lnTo>
                    <a:pt x="33096" y="3114"/>
                  </a:lnTo>
                  <a:lnTo>
                    <a:pt x="33096" y="7252"/>
                  </a:lnTo>
                  <a:close/>
                </a:path>
                <a:path w="53340" h="320039">
                  <a:moveTo>
                    <a:pt x="26344" y="262259"/>
                  </a:moveTo>
                  <a:lnTo>
                    <a:pt x="53086" y="233236"/>
                  </a:lnTo>
                  <a:lnTo>
                    <a:pt x="26344" y="319959"/>
                  </a:lnTo>
                  <a:lnTo>
                    <a:pt x="0" y="233236"/>
                  </a:lnTo>
                  <a:lnTo>
                    <a:pt x="26344" y="262259"/>
                  </a:lnTo>
                  <a:close/>
                </a:path>
              </a:pathLst>
            </a:custGeom>
            <a:ln w="3175">
              <a:solidFill>
                <a:srgbClr val="000000"/>
              </a:solidFill>
            </a:ln>
          </p:spPr>
          <p:txBody>
            <a:bodyPr wrap="square" lIns="0" tIns="0" rIns="0" bIns="0" rtlCol="0"/>
            <a:lstStyle/>
            <a:p/>
          </p:txBody>
        </p:sp>
        <p:sp>
          <p:nvSpPr>
            <p:cNvPr id="88" name="object 88" descr=""/>
            <p:cNvSpPr/>
            <p:nvPr/>
          </p:nvSpPr>
          <p:spPr>
            <a:xfrm>
              <a:off x="9517723" y="2872611"/>
              <a:ext cx="53340" cy="320040"/>
            </a:xfrm>
            <a:custGeom>
              <a:avLst/>
              <a:gdLst/>
              <a:ahLst/>
              <a:cxnLst/>
              <a:rect l="l" t="t" r="r" b="b"/>
              <a:pathLst>
                <a:path w="53340" h="320039">
                  <a:moveTo>
                    <a:pt x="0" y="233236"/>
                  </a:moveTo>
                  <a:lnTo>
                    <a:pt x="26344" y="319959"/>
                  </a:lnTo>
                  <a:lnTo>
                    <a:pt x="41746" y="269511"/>
                  </a:lnTo>
                  <a:lnTo>
                    <a:pt x="22902" y="269511"/>
                  </a:lnTo>
                  <a:lnTo>
                    <a:pt x="19725" y="266065"/>
                  </a:lnTo>
                  <a:lnTo>
                    <a:pt x="19725" y="254967"/>
                  </a:lnTo>
                  <a:lnTo>
                    <a:pt x="0" y="233236"/>
                  </a:lnTo>
                  <a:close/>
                </a:path>
                <a:path w="53340" h="320039">
                  <a:moveTo>
                    <a:pt x="19725" y="254967"/>
                  </a:moveTo>
                  <a:lnTo>
                    <a:pt x="19725" y="266065"/>
                  </a:lnTo>
                  <a:lnTo>
                    <a:pt x="22902" y="269511"/>
                  </a:lnTo>
                  <a:lnTo>
                    <a:pt x="30183" y="269511"/>
                  </a:lnTo>
                  <a:lnTo>
                    <a:pt x="33096" y="266065"/>
                  </a:lnTo>
                  <a:lnTo>
                    <a:pt x="33096" y="262259"/>
                  </a:lnTo>
                  <a:lnTo>
                    <a:pt x="26344" y="262259"/>
                  </a:lnTo>
                  <a:lnTo>
                    <a:pt x="19725" y="254967"/>
                  </a:lnTo>
                  <a:close/>
                </a:path>
                <a:path w="53340" h="320039">
                  <a:moveTo>
                    <a:pt x="52821" y="233236"/>
                  </a:moveTo>
                  <a:lnTo>
                    <a:pt x="33096" y="254967"/>
                  </a:lnTo>
                  <a:lnTo>
                    <a:pt x="33096" y="266065"/>
                  </a:lnTo>
                  <a:lnTo>
                    <a:pt x="30183" y="269511"/>
                  </a:lnTo>
                  <a:lnTo>
                    <a:pt x="41746" y="269511"/>
                  </a:lnTo>
                  <a:lnTo>
                    <a:pt x="52821" y="233236"/>
                  </a:lnTo>
                  <a:close/>
                </a:path>
                <a:path w="53340" h="320039">
                  <a:moveTo>
                    <a:pt x="30183" y="0"/>
                  </a:moveTo>
                  <a:lnTo>
                    <a:pt x="22902" y="0"/>
                  </a:lnTo>
                  <a:lnTo>
                    <a:pt x="19725" y="3114"/>
                  </a:lnTo>
                  <a:lnTo>
                    <a:pt x="19725" y="254967"/>
                  </a:lnTo>
                  <a:lnTo>
                    <a:pt x="26344" y="262259"/>
                  </a:lnTo>
                  <a:lnTo>
                    <a:pt x="32997" y="254967"/>
                  </a:lnTo>
                  <a:lnTo>
                    <a:pt x="33096" y="3114"/>
                  </a:lnTo>
                  <a:lnTo>
                    <a:pt x="30183" y="0"/>
                  </a:lnTo>
                  <a:close/>
                </a:path>
                <a:path w="53340" h="320039">
                  <a:moveTo>
                    <a:pt x="33096" y="254967"/>
                  </a:moveTo>
                  <a:lnTo>
                    <a:pt x="26344" y="262259"/>
                  </a:lnTo>
                  <a:lnTo>
                    <a:pt x="33096" y="262259"/>
                  </a:lnTo>
                  <a:lnTo>
                    <a:pt x="33096" y="254967"/>
                  </a:lnTo>
                  <a:close/>
                </a:path>
              </a:pathLst>
            </a:custGeom>
            <a:solidFill>
              <a:srgbClr val="000000"/>
            </a:solidFill>
          </p:spPr>
          <p:txBody>
            <a:bodyPr wrap="square" lIns="0" tIns="0" rIns="0" bIns="0" rtlCol="0"/>
            <a:lstStyle/>
            <a:p/>
          </p:txBody>
        </p:sp>
        <p:sp>
          <p:nvSpPr>
            <p:cNvPr id="89" name="object 89" descr=""/>
            <p:cNvSpPr/>
            <p:nvPr/>
          </p:nvSpPr>
          <p:spPr>
            <a:xfrm>
              <a:off x="9517723" y="2872611"/>
              <a:ext cx="53340" cy="320040"/>
            </a:xfrm>
            <a:custGeom>
              <a:avLst/>
              <a:gdLst/>
              <a:ahLst/>
              <a:cxnLst/>
              <a:rect l="l" t="t" r="r" b="b"/>
              <a:pathLst>
                <a:path w="53340" h="320039">
                  <a:moveTo>
                    <a:pt x="33096" y="7252"/>
                  </a:moveTo>
                  <a:lnTo>
                    <a:pt x="33096" y="262259"/>
                  </a:lnTo>
                  <a:lnTo>
                    <a:pt x="33096" y="266065"/>
                  </a:lnTo>
                  <a:lnTo>
                    <a:pt x="30183" y="269511"/>
                  </a:lnTo>
                  <a:lnTo>
                    <a:pt x="26344" y="269511"/>
                  </a:lnTo>
                  <a:lnTo>
                    <a:pt x="22902" y="269511"/>
                  </a:lnTo>
                  <a:lnTo>
                    <a:pt x="19725" y="266065"/>
                  </a:lnTo>
                  <a:lnTo>
                    <a:pt x="19725" y="262259"/>
                  </a:lnTo>
                  <a:lnTo>
                    <a:pt x="19725" y="7252"/>
                  </a:lnTo>
                  <a:lnTo>
                    <a:pt x="19725" y="3114"/>
                  </a:lnTo>
                  <a:lnTo>
                    <a:pt x="22902" y="0"/>
                  </a:lnTo>
                  <a:lnTo>
                    <a:pt x="26344" y="0"/>
                  </a:lnTo>
                  <a:lnTo>
                    <a:pt x="30183" y="0"/>
                  </a:lnTo>
                  <a:lnTo>
                    <a:pt x="33096" y="3114"/>
                  </a:lnTo>
                  <a:lnTo>
                    <a:pt x="33096" y="7252"/>
                  </a:lnTo>
                  <a:close/>
                </a:path>
                <a:path w="53340" h="320039">
                  <a:moveTo>
                    <a:pt x="26344" y="262259"/>
                  </a:moveTo>
                  <a:lnTo>
                    <a:pt x="52821" y="233236"/>
                  </a:lnTo>
                  <a:lnTo>
                    <a:pt x="26344" y="319959"/>
                  </a:lnTo>
                  <a:lnTo>
                    <a:pt x="0" y="233236"/>
                  </a:lnTo>
                  <a:lnTo>
                    <a:pt x="26344" y="262259"/>
                  </a:lnTo>
                  <a:close/>
                </a:path>
              </a:pathLst>
            </a:custGeom>
            <a:ln w="3175">
              <a:solidFill>
                <a:srgbClr val="000000"/>
              </a:solidFill>
            </a:ln>
          </p:spPr>
          <p:txBody>
            <a:bodyPr wrap="square" lIns="0" tIns="0" rIns="0" bIns="0" rtlCol="0"/>
            <a:lstStyle/>
            <a:p/>
          </p:txBody>
        </p:sp>
        <p:sp>
          <p:nvSpPr>
            <p:cNvPr id="90" name="object 90" descr=""/>
            <p:cNvSpPr/>
            <p:nvPr/>
          </p:nvSpPr>
          <p:spPr>
            <a:xfrm>
              <a:off x="11270777" y="2828031"/>
              <a:ext cx="53340" cy="365125"/>
            </a:xfrm>
            <a:custGeom>
              <a:avLst/>
              <a:gdLst/>
              <a:ahLst/>
              <a:cxnLst/>
              <a:rect l="l" t="t" r="r" b="b"/>
              <a:pathLst>
                <a:path w="53340" h="365125">
                  <a:moveTo>
                    <a:pt x="0" y="278162"/>
                  </a:moveTo>
                  <a:lnTo>
                    <a:pt x="26477" y="364539"/>
                  </a:lnTo>
                  <a:lnTo>
                    <a:pt x="41863" y="314091"/>
                  </a:lnTo>
                  <a:lnTo>
                    <a:pt x="22637" y="314091"/>
                  </a:lnTo>
                  <a:lnTo>
                    <a:pt x="19725" y="310991"/>
                  </a:lnTo>
                  <a:lnTo>
                    <a:pt x="19725" y="299634"/>
                  </a:lnTo>
                  <a:lnTo>
                    <a:pt x="0" y="278162"/>
                  </a:lnTo>
                  <a:close/>
                </a:path>
                <a:path w="53340" h="365125">
                  <a:moveTo>
                    <a:pt x="19824" y="299634"/>
                  </a:moveTo>
                  <a:lnTo>
                    <a:pt x="19725" y="310991"/>
                  </a:lnTo>
                  <a:lnTo>
                    <a:pt x="22637" y="314091"/>
                  </a:lnTo>
                  <a:lnTo>
                    <a:pt x="30183" y="314091"/>
                  </a:lnTo>
                  <a:lnTo>
                    <a:pt x="33096" y="310991"/>
                  </a:lnTo>
                  <a:lnTo>
                    <a:pt x="33096" y="306839"/>
                  </a:lnTo>
                  <a:lnTo>
                    <a:pt x="26477" y="306839"/>
                  </a:lnTo>
                  <a:lnTo>
                    <a:pt x="19824" y="299634"/>
                  </a:lnTo>
                  <a:close/>
                </a:path>
                <a:path w="53340" h="365125">
                  <a:moveTo>
                    <a:pt x="52821" y="278162"/>
                  </a:moveTo>
                  <a:lnTo>
                    <a:pt x="33096" y="299634"/>
                  </a:lnTo>
                  <a:lnTo>
                    <a:pt x="33096" y="310991"/>
                  </a:lnTo>
                  <a:lnTo>
                    <a:pt x="30183" y="314091"/>
                  </a:lnTo>
                  <a:lnTo>
                    <a:pt x="41863" y="314091"/>
                  </a:lnTo>
                  <a:lnTo>
                    <a:pt x="52821" y="278162"/>
                  </a:lnTo>
                  <a:close/>
                </a:path>
                <a:path w="53340" h="365125">
                  <a:moveTo>
                    <a:pt x="30183" y="0"/>
                  </a:moveTo>
                  <a:lnTo>
                    <a:pt x="22637" y="0"/>
                  </a:lnTo>
                  <a:lnTo>
                    <a:pt x="19725" y="3114"/>
                  </a:lnTo>
                  <a:lnTo>
                    <a:pt x="19824" y="299634"/>
                  </a:lnTo>
                  <a:lnTo>
                    <a:pt x="26477" y="306839"/>
                  </a:lnTo>
                  <a:lnTo>
                    <a:pt x="33096" y="299634"/>
                  </a:lnTo>
                  <a:lnTo>
                    <a:pt x="33096" y="3114"/>
                  </a:lnTo>
                  <a:lnTo>
                    <a:pt x="30183" y="0"/>
                  </a:lnTo>
                  <a:close/>
                </a:path>
                <a:path w="53340" h="365125">
                  <a:moveTo>
                    <a:pt x="33096" y="299634"/>
                  </a:moveTo>
                  <a:lnTo>
                    <a:pt x="26477" y="306839"/>
                  </a:lnTo>
                  <a:lnTo>
                    <a:pt x="33096" y="306839"/>
                  </a:lnTo>
                  <a:lnTo>
                    <a:pt x="33096" y="299634"/>
                  </a:lnTo>
                  <a:close/>
                </a:path>
              </a:pathLst>
            </a:custGeom>
            <a:solidFill>
              <a:srgbClr val="000000"/>
            </a:solidFill>
          </p:spPr>
          <p:txBody>
            <a:bodyPr wrap="square" lIns="0" tIns="0" rIns="0" bIns="0" rtlCol="0"/>
            <a:lstStyle/>
            <a:p/>
          </p:txBody>
        </p:sp>
        <p:sp>
          <p:nvSpPr>
            <p:cNvPr id="91" name="object 91" descr=""/>
            <p:cNvSpPr/>
            <p:nvPr/>
          </p:nvSpPr>
          <p:spPr>
            <a:xfrm>
              <a:off x="11270778" y="2828031"/>
              <a:ext cx="53340" cy="365125"/>
            </a:xfrm>
            <a:custGeom>
              <a:avLst/>
              <a:gdLst/>
              <a:ahLst/>
              <a:cxnLst/>
              <a:rect l="l" t="t" r="r" b="b"/>
              <a:pathLst>
                <a:path w="53340" h="365125">
                  <a:moveTo>
                    <a:pt x="33096" y="6920"/>
                  </a:moveTo>
                  <a:lnTo>
                    <a:pt x="33096" y="306839"/>
                  </a:lnTo>
                  <a:lnTo>
                    <a:pt x="33096" y="310991"/>
                  </a:lnTo>
                  <a:lnTo>
                    <a:pt x="30183" y="314091"/>
                  </a:lnTo>
                  <a:lnTo>
                    <a:pt x="26477" y="314091"/>
                  </a:lnTo>
                  <a:lnTo>
                    <a:pt x="22637" y="314091"/>
                  </a:lnTo>
                  <a:lnTo>
                    <a:pt x="19725" y="310991"/>
                  </a:lnTo>
                  <a:lnTo>
                    <a:pt x="19725" y="306839"/>
                  </a:lnTo>
                  <a:lnTo>
                    <a:pt x="19725" y="6920"/>
                  </a:lnTo>
                  <a:lnTo>
                    <a:pt x="19725" y="3114"/>
                  </a:lnTo>
                  <a:lnTo>
                    <a:pt x="22637" y="0"/>
                  </a:lnTo>
                  <a:lnTo>
                    <a:pt x="26477" y="0"/>
                  </a:lnTo>
                  <a:lnTo>
                    <a:pt x="30183" y="0"/>
                  </a:lnTo>
                  <a:lnTo>
                    <a:pt x="33096" y="3114"/>
                  </a:lnTo>
                  <a:lnTo>
                    <a:pt x="33096" y="6920"/>
                  </a:lnTo>
                  <a:close/>
                </a:path>
                <a:path w="53340" h="365125">
                  <a:moveTo>
                    <a:pt x="26477" y="306839"/>
                  </a:moveTo>
                  <a:lnTo>
                    <a:pt x="52821" y="278162"/>
                  </a:lnTo>
                  <a:lnTo>
                    <a:pt x="26477" y="364539"/>
                  </a:lnTo>
                  <a:lnTo>
                    <a:pt x="0" y="278162"/>
                  </a:lnTo>
                  <a:lnTo>
                    <a:pt x="26477" y="306839"/>
                  </a:lnTo>
                  <a:close/>
                </a:path>
              </a:pathLst>
            </a:custGeom>
            <a:ln w="3175">
              <a:solidFill>
                <a:srgbClr val="000000"/>
              </a:solidFill>
            </a:ln>
          </p:spPr>
          <p:txBody>
            <a:bodyPr wrap="square" lIns="0" tIns="0" rIns="0" bIns="0" rtlCol="0"/>
            <a:lstStyle/>
            <a:p/>
          </p:txBody>
        </p:sp>
        <p:sp>
          <p:nvSpPr>
            <p:cNvPr id="92" name="object 92" descr=""/>
            <p:cNvSpPr/>
            <p:nvPr/>
          </p:nvSpPr>
          <p:spPr>
            <a:xfrm>
              <a:off x="9043120" y="2254867"/>
              <a:ext cx="2699385" cy="0"/>
            </a:xfrm>
            <a:custGeom>
              <a:avLst/>
              <a:gdLst/>
              <a:ahLst/>
              <a:cxnLst/>
              <a:rect l="l" t="t" r="r" b="b"/>
              <a:pathLst>
                <a:path w="2699384" h="0">
                  <a:moveTo>
                    <a:pt x="0" y="0"/>
                  </a:moveTo>
                  <a:lnTo>
                    <a:pt x="2699084" y="0"/>
                  </a:lnTo>
                </a:path>
              </a:pathLst>
            </a:custGeom>
            <a:ln w="10731">
              <a:solidFill>
                <a:srgbClr val="0000FF"/>
              </a:solidFill>
            </a:ln>
          </p:spPr>
          <p:txBody>
            <a:bodyPr wrap="square" lIns="0" tIns="0" rIns="0" bIns="0" rtlCol="0"/>
            <a:lstStyle/>
            <a:p/>
          </p:txBody>
        </p:sp>
        <p:sp>
          <p:nvSpPr>
            <p:cNvPr id="93" name="object 93" descr=""/>
            <p:cNvSpPr/>
            <p:nvPr/>
          </p:nvSpPr>
          <p:spPr>
            <a:xfrm>
              <a:off x="9016775" y="1845402"/>
              <a:ext cx="53340" cy="588010"/>
            </a:xfrm>
            <a:custGeom>
              <a:avLst/>
              <a:gdLst/>
              <a:ahLst/>
              <a:cxnLst/>
              <a:rect l="l" t="t" r="r" b="b"/>
              <a:pathLst>
                <a:path w="53340" h="588010">
                  <a:moveTo>
                    <a:pt x="0" y="501306"/>
                  </a:moveTo>
                  <a:lnTo>
                    <a:pt x="26344" y="587697"/>
                  </a:lnTo>
                  <a:lnTo>
                    <a:pt x="41960" y="537249"/>
                  </a:lnTo>
                  <a:lnTo>
                    <a:pt x="22902" y="537249"/>
                  </a:lnTo>
                  <a:lnTo>
                    <a:pt x="19990" y="534135"/>
                  </a:lnTo>
                  <a:lnTo>
                    <a:pt x="19990" y="523066"/>
                  </a:lnTo>
                  <a:lnTo>
                    <a:pt x="0" y="501306"/>
                  </a:lnTo>
                  <a:close/>
                </a:path>
                <a:path w="53340" h="588010">
                  <a:moveTo>
                    <a:pt x="19990" y="523066"/>
                  </a:moveTo>
                  <a:lnTo>
                    <a:pt x="19990" y="534135"/>
                  </a:lnTo>
                  <a:lnTo>
                    <a:pt x="22902" y="537249"/>
                  </a:lnTo>
                  <a:lnTo>
                    <a:pt x="30183" y="537249"/>
                  </a:lnTo>
                  <a:lnTo>
                    <a:pt x="33096" y="534135"/>
                  </a:lnTo>
                  <a:lnTo>
                    <a:pt x="33096" y="529983"/>
                  </a:lnTo>
                  <a:lnTo>
                    <a:pt x="26344" y="529983"/>
                  </a:lnTo>
                  <a:lnTo>
                    <a:pt x="19990" y="523066"/>
                  </a:lnTo>
                  <a:close/>
                </a:path>
                <a:path w="53340" h="588010">
                  <a:moveTo>
                    <a:pt x="53086" y="501306"/>
                  </a:moveTo>
                  <a:lnTo>
                    <a:pt x="33096" y="522743"/>
                  </a:lnTo>
                  <a:lnTo>
                    <a:pt x="33096" y="534135"/>
                  </a:lnTo>
                  <a:lnTo>
                    <a:pt x="30183" y="537249"/>
                  </a:lnTo>
                  <a:lnTo>
                    <a:pt x="41960" y="537249"/>
                  </a:lnTo>
                  <a:lnTo>
                    <a:pt x="53086" y="501306"/>
                  </a:lnTo>
                  <a:close/>
                </a:path>
                <a:path w="53340" h="588010">
                  <a:moveTo>
                    <a:pt x="30183" y="0"/>
                  </a:moveTo>
                  <a:lnTo>
                    <a:pt x="22902" y="0"/>
                  </a:lnTo>
                  <a:lnTo>
                    <a:pt x="19990" y="3027"/>
                  </a:lnTo>
                  <a:lnTo>
                    <a:pt x="19990" y="523066"/>
                  </a:lnTo>
                  <a:lnTo>
                    <a:pt x="26344" y="529983"/>
                  </a:lnTo>
                  <a:lnTo>
                    <a:pt x="33096" y="522743"/>
                  </a:lnTo>
                  <a:lnTo>
                    <a:pt x="33096" y="3027"/>
                  </a:lnTo>
                  <a:lnTo>
                    <a:pt x="30183" y="0"/>
                  </a:lnTo>
                  <a:close/>
                </a:path>
                <a:path w="53340" h="588010">
                  <a:moveTo>
                    <a:pt x="33096" y="522743"/>
                  </a:moveTo>
                  <a:lnTo>
                    <a:pt x="26344" y="529983"/>
                  </a:lnTo>
                  <a:lnTo>
                    <a:pt x="33096" y="529983"/>
                  </a:lnTo>
                  <a:lnTo>
                    <a:pt x="33096" y="522743"/>
                  </a:lnTo>
                  <a:close/>
                </a:path>
              </a:pathLst>
            </a:custGeom>
            <a:solidFill>
              <a:srgbClr val="000000"/>
            </a:solidFill>
          </p:spPr>
          <p:txBody>
            <a:bodyPr wrap="square" lIns="0" tIns="0" rIns="0" bIns="0" rtlCol="0"/>
            <a:lstStyle/>
            <a:p/>
          </p:txBody>
        </p:sp>
        <p:sp>
          <p:nvSpPr>
            <p:cNvPr id="94" name="object 94" descr=""/>
            <p:cNvSpPr/>
            <p:nvPr/>
          </p:nvSpPr>
          <p:spPr>
            <a:xfrm>
              <a:off x="9016775" y="1845402"/>
              <a:ext cx="53340" cy="588010"/>
            </a:xfrm>
            <a:custGeom>
              <a:avLst/>
              <a:gdLst/>
              <a:ahLst/>
              <a:cxnLst/>
              <a:rect l="l" t="t" r="r" b="b"/>
              <a:pathLst>
                <a:path w="53340" h="588010">
                  <a:moveTo>
                    <a:pt x="33096" y="7208"/>
                  </a:moveTo>
                  <a:lnTo>
                    <a:pt x="33096" y="529983"/>
                  </a:lnTo>
                  <a:lnTo>
                    <a:pt x="33096" y="534135"/>
                  </a:lnTo>
                  <a:lnTo>
                    <a:pt x="30183" y="537249"/>
                  </a:lnTo>
                  <a:lnTo>
                    <a:pt x="26344" y="537249"/>
                  </a:lnTo>
                  <a:lnTo>
                    <a:pt x="22902" y="537249"/>
                  </a:lnTo>
                  <a:lnTo>
                    <a:pt x="19990" y="534135"/>
                  </a:lnTo>
                  <a:lnTo>
                    <a:pt x="19990" y="529983"/>
                  </a:lnTo>
                  <a:lnTo>
                    <a:pt x="19990" y="7208"/>
                  </a:lnTo>
                  <a:lnTo>
                    <a:pt x="19990" y="3027"/>
                  </a:lnTo>
                  <a:lnTo>
                    <a:pt x="22902" y="0"/>
                  </a:lnTo>
                  <a:lnTo>
                    <a:pt x="26344" y="0"/>
                  </a:lnTo>
                  <a:lnTo>
                    <a:pt x="30183" y="0"/>
                  </a:lnTo>
                  <a:lnTo>
                    <a:pt x="33096" y="3027"/>
                  </a:lnTo>
                  <a:lnTo>
                    <a:pt x="33096" y="7208"/>
                  </a:lnTo>
                  <a:close/>
                </a:path>
                <a:path w="53340" h="588010">
                  <a:moveTo>
                    <a:pt x="26344" y="529983"/>
                  </a:moveTo>
                  <a:lnTo>
                    <a:pt x="53086" y="501306"/>
                  </a:lnTo>
                  <a:lnTo>
                    <a:pt x="26344" y="587697"/>
                  </a:lnTo>
                  <a:lnTo>
                    <a:pt x="0" y="501306"/>
                  </a:lnTo>
                  <a:lnTo>
                    <a:pt x="26344" y="529983"/>
                  </a:lnTo>
                  <a:close/>
                </a:path>
              </a:pathLst>
            </a:custGeom>
            <a:ln w="3175">
              <a:solidFill>
                <a:srgbClr val="000000"/>
              </a:solidFill>
            </a:ln>
          </p:spPr>
          <p:txBody>
            <a:bodyPr wrap="square" lIns="0" tIns="0" rIns="0" bIns="0" rtlCol="0"/>
            <a:lstStyle/>
            <a:p/>
          </p:txBody>
        </p:sp>
        <p:sp>
          <p:nvSpPr>
            <p:cNvPr id="95" name="object 95" descr=""/>
            <p:cNvSpPr/>
            <p:nvPr/>
          </p:nvSpPr>
          <p:spPr>
            <a:xfrm>
              <a:off x="9489790" y="1711316"/>
              <a:ext cx="53340" cy="721995"/>
            </a:xfrm>
            <a:custGeom>
              <a:avLst/>
              <a:gdLst/>
              <a:ahLst/>
              <a:cxnLst/>
              <a:rect l="l" t="t" r="r" b="b"/>
              <a:pathLst>
                <a:path w="53340" h="721994">
                  <a:moveTo>
                    <a:pt x="0" y="635391"/>
                  </a:moveTo>
                  <a:lnTo>
                    <a:pt x="26344" y="721783"/>
                  </a:lnTo>
                  <a:lnTo>
                    <a:pt x="41960" y="671335"/>
                  </a:lnTo>
                  <a:lnTo>
                    <a:pt x="22902" y="671335"/>
                  </a:lnTo>
                  <a:lnTo>
                    <a:pt x="19990" y="668221"/>
                  </a:lnTo>
                  <a:lnTo>
                    <a:pt x="19990" y="657151"/>
                  </a:lnTo>
                  <a:lnTo>
                    <a:pt x="0" y="635391"/>
                  </a:lnTo>
                  <a:close/>
                </a:path>
                <a:path w="53340" h="721994">
                  <a:moveTo>
                    <a:pt x="19990" y="657151"/>
                  </a:moveTo>
                  <a:lnTo>
                    <a:pt x="19990" y="668221"/>
                  </a:lnTo>
                  <a:lnTo>
                    <a:pt x="22902" y="671335"/>
                  </a:lnTo>
                  <a:lnTo>
                    <a:pt x="30183" y="671335"/>
                  </a:lnTo>
                  <a:lnTo>
                    <a:pt x="33096" y="668221"/>
                  </a:lnTo>
                  <a:lnTo>
                    <a:pt x="33096" y="664068"/>
                  </a:lnTo>
                  <a:lnTo>
                    <a:pt x="26344" y="664068"/>
                  </a:lnTo>
                  <a:lnTo>
                    <a:pt x="19990" y="657151"/>
                  </a:lnTo>
                  <a:close/>
                </a:path>
                <a:path w="53340" h="721994">
                  <a:moveTo>
                    <a:pt x="53086" y="635391"/>
                  </a:moveTo>
                  <a:lnTo>
                    <a:pt x="33096" y="656828"/>
                  </a:lnTo>
                  <a:lnTo>
                    <a:pt x="33096" y="668221"/>
                  </a:lnTo>
                  <a:lnTo>
                    <a:pt x="30183" y="671335"/>
                  </a:lnTo>
                  <a:lnTo>
                    <a:pt x="41960" y="671335"/>
                  </a:lnTo>
                  <a:lnTo>
                    <a:pt x="53086" y="635391"/>
                  </a:lnTo>
                  <a:close/>
                </a:path>
                <a:path w="53340" h="721994">
                  <a:moveTo>
                    <a:pt x="30183" y="0"/>
                  </a:moveTo>
                  <a:lnTo>
                    <a:pt x="22902" y="0"/>
                  </a:lnTo>
                  <a:lnTo>
                    <a:pt x="19990" y="3460"/>
                  </a:lnTo>
                  <a:lnTo>
                    <a:pt x="19990" y="657151"/>
                  </a:lnTo>
                  <a:lnTo>
                    <a:pt x="26344" y="664068"/>
                  </a:lnTo>
                  <a:lnTo>
                    <a:pt x="33096" y="656828"/>
                  </a:lnTo>
                  <a:lnTo>
                    <a:pt x="33096" y="3460"/>
                  </a:lnTo>
                  <a:lnTo>
                    <a:pt x="30183" y="0"/>
                  </a:lnTo>
                  <a:close/>
                </a:path>
                <a:path w="53340" h="721994">
                  <a:moveTo>
                    <a:pt x="33096" y="656828"/>
                  </a:moveTo>
                  <a:lnTo>
                    <a:pt x="26344" y="664068"/>
                  </a:lnTo>
                  <a:lnTo>
                    <a:pt x="33096" y="664068"/>
                  </a:lnTo>
                  <a:lnTo>
                    <a:pt x="33096" y="656828"/>
                  </a:lnTo>
                  <a:close/>
                </a:path>
              </a:pathLst>
            </a:custGeom>
            <a:solidFill>
              <a:srgbClr val="000000"/>
            </a:solidFill>
          </p:spPr>
          <p:txBody>
            <a:bodyPr wrap="square" lIns="0" tIns="0" rIns="0" bIns="0" rtlCol="0"/>
            <a:lstStyle/>
            <a:p/>
          </p:txBody>
        </p:sp>
        <p:sp>
          <p:nvSpPr>
            <p:cNvPr id="96" name="object 96" descr=""/>
            <p:cNvSpPr/>
            <p:nvPr/>
          </p:nvSpPr>
          <p:spPr>
            <a:xfrm>
              <a:off x="9489790" y="1711316"/>
              <a:ext cx="53340" cy="721995"/>
            </a:xfrm>
            <a:custGeom>
              <a:avLst/>
              <a:gdLst/>
              <a:ahLst/>
              <a:cxnLst/>
              <a:rect l="l" t="t" r="r" b="b"/>
              <a:pathLst>
                <a:path w="53340" h="721994">
                  <a:moveTo>
                    <a:pt x="33096" y="7208"/>
                  </a:moveTo>
                  <a:lnTo>
                    <a:pt x="33096" y="664068"/>
                  </a:lnTo>
                  <a:lnTo>
                    <a:pt x="33096" y="668221"/>
                  </a:lnTo>
                  <a:lnTo>
                    <a:pt x="30183" y="671335"/>
                  </a:lnTo>
                  <a:lnTo>
                    <a:pt x="26344" y="671335"/>
                  </a:lnTo>
                  <a:lnTo>
                    <a:pt x="22902" y="671335"/>
                  </a:lnTo>
                  <a:lnTo>
                    <a:pt x="19990" y="668221"/>
                  </a:lnTo>
                  <a:lnTo>
                    <a:pt x="19990" y="664068"/>
                  </a:lnTo>
                  <a:lnTo>
                    <a:pt x="19990" y="7208"/>
                  </a:lnTo>
                  <a:lnTo>
                    <a:pt x="19990" y="3460"/>
                  </a:lnTo>
                  <a:lnTo>
                    <a:pt x="22902" y="0"/>
                  </a:lnTo>
                  <a:lnTo>
                    <a:pt x="26344" y="0"/>
                  </a:lnTo>
                  <a:lnTo>
                    <a:pt x="30183" y="0"/>
                  </a:lnTo>
                  <a:lnTo>
                    <a:pt x="33096" y="3460"/>
                  </a:lnTo>
                  <a:lnTo>
                    <a:pt x="33096" y="7208"/>
                  </a:lnTo>
                  <a:close/>
                </a:path>
                <a:path w="53340" h="721994">
                  <a:moveTo>
                    <a:pt x="26344" y="664068"/>
                  </a:moveTo>
                  <a:lnTo>
                    <a:pt x="53086" y="635391"/>
                  </a:lnTo>
                  <a:lnTo>
                    <a:pt x="26344" y="721783"/>
                  </a:lnTo>
                  <a:lnTo>
                    <a:pt x="0" y="635391"/>
                  </a:lnTo>
                  <a:lnTo>
                    <a:pt x="26344" y="664068"/>
                  </a:lnTo>
                  <a:close/>
                </a:path>
              </a:pathLst>
            </a:custGeom>
            <a:ln w="3175">
              <a:solidFill>
                <a:srgbClr val="000000"/>
              </a:solidFill>
            </a:ln>
          </p:spPr>
          <p:txBody>
            <a:bodyPr wrap="square" lIns="0" tIns="0" rIns="0" bIns="0" rtlCol="0"/>
            <a:lstStyle/>
            <a:p/>
          </p:txBody>
        </p:sp>
        <p:sp>
          <p:nvSpPr>
            <p:cNvPr id="97" name="object 97" descr=""/>
            <p:cNvSpPr/>
            <p:nvPr/>
          </p:nvSpPr>
          <p:spPr>
            <a:xfrm>
              <a:off x="10741896" y="1845402"/>
              <a:ext cx="53340" cy="677545"/>
            </a:xfrm>
            <a:custGeom>
              <a:avLst/>
              <a:gdLst/>
              <a:ahLst/>
              <a:cxnLst/>
              <a:rect l="l" t="t" r="r" b="b"/>
              <a:pathLst>
                <a:path w="53340" h="677544">
                  <a:moveTo>
                    <a:pt x="0" y="590797"/>
                  </a:moveTo>
                  <a:lnTo>
                    <a:pt x="26609" y="677188"/>
                  </a:lnTo>
                  <a:lnTo>
                    <a:pt x="42070" y="626741"/>
                  </a:lnTo>
                  <a:lnTo>
                    <a:pt x="22902" y="626741"/>
                  </a:lnTo>
                  <a:lnTo>
                    <a:pt x="19990" y="623626"/>
                  </a:lnTo>
                  <a:lnTo>
                    <a:pt x="19990" y="612351"/>
                  </a:lnTo>
                  <a:lnTo>
                    <a:pt x="0" y="590797"/>
                  </a:lnTo>
                  <a:close/>
                </a:path>
                <a:path w="53340" h="677544">
                  <a:moveTo>
                    <a:pt x="19990" y="612351"/>
                  </a:moveTo>
                  <a:lnTo>
                    <a:pt x="19990" y="623626"/>
                  </a:lnTo>
                  <a:lnTo>
                    <a:pt x="22902" y="626741"/>
                  </a:lnTo>
                  <a:lnTo>
                    <a:pt x="30183" y="626741"/>
                  </a:lnTo>
                  <a:lnTo>
                    <a:pt x="33361" y="623626"/>
                  </a:lnTo>
                  <a:lnTo>
                    <a:pt x="33361" y="619488"/>
                  </a:lnTo>
                  <a:lnTo>
                    <a:pt x="26609" y="619488"/>
                  </a:lnTo>
                  <a:lnTo>
                    <a:pt x="19990" y="612351"/>
                  </a:lnTo>
                  <a:close/>
                </a:path>
                <a:path w="53340" h="677544">
                  <a:moveTo>
                    <a:pt x="53086" y="590797"/>
                  </a:moveTo>
                  <a:lnTo>
                    <a:pt x="33361" y="612172"/>
                  </a:lnTo>
                  <a:lnTo>
                    <a:pt x="33361" y="623626"/>
                  </a:lnTo>
                  <a:lnTo>
                    <a:pt x="30183" y="626741"/>
                  </a:lnTo>
                  <a:lnTo>
                    <a:pt x="42070" y="626741"/>
                  </a:lnTo>
                  <a:lnTo>
                    <a:pt x="53086" y="590797"/>
                  </a:lnTo>
                  <a:close/>
                </a:path>
                <a:path w="53340" h="677544">
                  <a:moveTo>
                    <a:pt x="30183" y="0"/>
                  </a:moveTo>
                  <a:lnTo>
                    <a:pt x="22902" y="0"/>
                  </a:lnTo>
                  <a:lnTo>
                    <a:pt x="19990" y="3027"/>
                  </a:lnTo>
                  <a:lnTo>
                    <a:pt x="19990" y="612351"/>
                  </a:lnTo>
                  <a:lnTo>
                    <a:pt x="26609" y="619488"/>
                  </a:lnTo>
                  <a:lnTo>
                    <a:pt x="33361" y="612172"/>
                  </a:lnTo>
                  <a:lnTo>
                    <a:pt x="33361" y="3027"/>
                  </a:lnTo>
                  <a:lnTo>
                    <a:pt x="30183" y="0"/>
                  </a:lnTo>
                  <a:close/>
                </a:path>
                <a:path w="53340" h="677544">
                  <a:moveTo>
                    <a:pt x="33361" y="612172"/>
                  </a:moveTo>
                  <a:lnTo>
                    <a:pt x="26609" y="619488"/>
                  </a:lnTo>
                  <a:lnTo>
                    <a:pt x="33361" y="619488"/>
                  </a:lnTo>
                  <a:lnTo>
                    <a:pt x="33361" y="612172"/>
                  </a:lnTo>
                  <a:close/>
                </a:path>
              </a:pathLst>
            </a:custGeom>
            <a:solidFill>
              <a:srgbClr val="000000"/>
            </a:solidFill>
          </p:spPr>
          <p:txBody>
            <a:bodyPr wrap="square" lIns="0" tIns="0" rIns="0" bIns="0" rtlCol="0"/>
            <a:lstStyle/>
            <a:p/>
          </p:txBody>
        </p:sp>
        <p:sp>
          <p:nvSpPr>
            <p:cNvPr id="98" name="object 98" descr=""/>
            <p:cNvSpPr/>
            <p:nvPr/>
          </p:nvSpPr>
          <p:spPr>
            <a:xfrm>
              <a:off x="10741896" y="1845402"/>
              <a:ext cx="53340" cy="677545"/>
            </a:xfrm>
            <a:custGeom>
              <a:avLst/>
              <a:gdLst/>
              <a:ahLst/>
              <a:cxnLst/>
              <a:rect l="l" t="t" r="r" b="b"/>
              <a:pathLst>
                <a:path w="53340" h="677544">
                  <a:moveTo>
                    <a:pt x="33361" y="7208"/>
                  </a:moveTo>
                  <a:lnTo>
                    <a:pt x="33361" y="619488"/>
                  </a:lnTo>
                  <a:lnTo>
                    <a:pt x="33361" y="623626"/>
                  </a:lnTo>
                  <a:lnTo>
                    <a:pt x="30183" y="626741"/>
                  </a:lnTo>
                  <a:lnTo>
                    <a:pt x="26609" y="626741"/>
                  </a:lnTo>
                  <a:lnTo>
                    <a:pt x="22902" y="626741"/>
                  </a:lnTo>
                  <a:lnTo>
                    <a:pt x="19990" y="623626"/>
                  </a:lnTo>
                  <a:lnTo>
                    <a:pt x="19990" y="619488"/>
                  </a:lnTo>
                  <a:lnTo>
                    <a:pt x="19990" y="7208"/>
                  </a:lnTo>
                  <a:lnTo>
                    <a:pt x="19990" y="3027"/>
                  </a:lnTo>
                  <a:lnTo>
                    <a:pt x="22902" y="0"/>
                  </a:lnTo>
                  <a:lnTo>
                    <a:pt x="26609" y="0"/>
                  </a:lnTo>
                  <a:lnTo>
                    <a:pt x="30183" y="0"/>
                  </a:lnTo>
                  <a:lnTo>
                    <a:pt x="33361" y="3027"/>
                  </a:lnTo>
                  <a:lnTo>
                    <a:pt x="33361" y="7208"/>
                  </a:lnTo>
                  <a:close/>
                </a:path>
                <a:path w="53340" h="677544">
                  <a:moveTo>
                    <a:pt x="26609" y="619488"/>
                  </a:moveTo>
                  <a:lnTo>
                    <a:pt x="53086" y="590797"/>
                  </a:lnTo>
                  <a:lnTo>
                    <a:pt x="26609" y="677188"/>
                  </a:lnTo>
                  <a:lnTo>
                    <a:pt x="0" y="590797"/>
                  </a:lnTo>
                  <a:lnTo>
                    <a:pt x="26609" y="619488"/>
                  </a:lnTo>
                  <a:close/>
                </a:path>
              </a:pathLst>
            </a:custGeom>
            <a:ln w="3175">
              <a:solidFill>
                <a:srgbClr val="000000"/>
              </a:solidFill>
            </a:ln>
          </p:spPr>
          <p:txBody>
            <a:bodyPr wrap="square" lIns="0" tIns="0" rIns="0" bIns="0" rtlCol="0"/>
            <a:lstStyle/>
            <a:p/>
          </p:txBody>
        </p:sp>
        <p:sp>
          <p:nvSpPr>
            <p:cNvPr id="99" name="object 99" descr=""/>
            <p:cNvSpPr/>
            <p:nvPr/>
          </p:nvSpPr>
          <p:spPr>
            <a:xfrm>
              <a:off x="11242844" y="1711316"/>
              <a:ext cx="53340" cy="811530"/>
            </a:xfrm>
            <a:custGeom>
              <a:avLst/>
              <a:gdLst/>
              <a:ahLst/>
              <a:cxnLst/>
              <a:rect l="l" t="t" r="r" b="b"/>
              <a:pathLst>
                <a:path w="53340" h="811530">
                  <a:moveTo>
                    <a:pt x="0" y="724882"/>
                  </a:moveTo>
                  <a:lnTo>
                    <a:pt x="26344" y="811274"/>
                  </a:lnTo>
                  <a:lnTo>
                    <a:pt x="41960" y="760826"/>
                  </a:lnTo>
                  <a:lnTo>
                    <a:pt x="22902" y="760826"/>
                  </a:lnTo>
                  <a:lnTo>
                    <a:pt x="19990" y="757712"/>
                  </a:lnTo>
                  <a:lnTo>
                    <a:pt x="19990" y="746653"/>
                  </a:lnTo>
                  <a:lnTo>
                    <a:pt x="0" y="724882"/>
                  </a:lnTo>
                  <a:close/>
                </a:path>
                <a:path w="53340" h="811530">
                  <a:moveTo>
                    <a:pt x="19990" y="746653"/>
                  </a:moveTo>
                  <a:lnTo>
                    <a:pt x="19990" y="757712"/>
                  </a:lnTo>
                  <a:lnTo>
                    <a:pt x="22902" y="760826"/>
                  </a:lnTo>
                  <a:lnTo>
                    <a:pt x="30183" y="760826"/>
                  </a:lnTo>
                  <a:lnTo>
                    <a:pt x="33096" y="757712"/>
                  </a:lnTo>
                  <a:lnTo>
                    <a:pt x="33096" y="753574"/>
                  </a:lnTo>
                  <a:lnTo>
                    <a:pt x="26344" y="753574"/>
                  </a:lnTo>
                  <a:lnTo>
                    <a:pt x="19990" y="746653"/>
                  </a:lnTo>
                  <a:close/>
                </a:path>
                <a:path w="53340" h="811530">
                  <a:moveTo>
                    <a:pt x="53086" y="724882"/>
                  </a:moveTo>
                  <a:lnTo>
                    <a:pt x="33096" y="746330"/>
                  </a:lnTo>
                  <a:lnTo>
                    <a:pt x="33096" y="757712"/>
                  </a:lnTo>
                  <a:lnTo>
                    <a:pt x="30183" y="760826"/>
                  </a:lnTo>
                  <a:lnTo>
                    <a:pt x="41960" y="760826"/>
                  </a:lnTo>
                  <a:lnTo>
                    <a:pt x="53086" y="724882"/>
                  </a:lnTo>
                  <a:close/>
                </a:path>
                <a:path w="53340" h="811530">
                  <a:moveTo>
                    <a:pt x="30183" y="0"/>
                  </a:moveTo>
                  <a:lnTo>
                    <a:pt x="22902" y="0"/>
                  </a:lnTo>
                  <a:lnTo>
                    <a:pt x="19990" y="3460"/>
                  </a:lnTo>
                  <a:lnTo>
                    <a:pt x="19990" y="746653"/>
                  </a:lnTo>
                  <a:lnTo>
                    <a:pt x="26344" y="753574"/>
                  </a:lnTo>
                  <a:lnTo>
                    <a:pt x="33096" y="746330"/>
                  </a:lnTo>
                  <a:lnTo>
                    <a:pt x="33096" y="3460"/>
                  </a:lnTo>
                  <a:lnTo>
                    <a:pt x="30183" y="0"/>
                  </a:lnTo>
                  <a:close/>
                </a:path>
                <a:path w="53340" h="811530">
                  <a:moveTo>
                    <a:pt x="33096" y="746330"/>
                  </a:moveTo>
                  <a:lnTo>
                    <a:pt x="26344" y="753574"/>
                  </a:lnTo>
                  <a:lnTo>
                    <a:pt x="33096" y="753574"/>
                  </a:lnTo>
                  <a:lnTo>
                    <a:pt x="33096" y="746330"/>
                  </a:lnTo>
                  <a:close/>
                </a:path>
              </a:pathLst>
            </a:custGeom>
            <a:solidFill>
              <a:srgbClr val="000000"/>
            </a:solidFill>
          </p:spPr>
          <p:txBody>
            <a:bodyPr wrap="square" lIns="0" tIns="0" rIns="0" bIns="0" rtlCol="0"/>
            <a:lstStyle/>
            <a:p/>
          </p:txBody>
        </p:sp>
        <p:sp>
          <p:nvSpPr>
            <p:cNvPr id="100" name="object 100" descr=""/>
            <p:cNvSpPr/>
            <p:nvPr/>
          </p:nvSpPr>
          <p:spPr>
            <a:xfrm>
              <a:off x="11242844" y="1711316"/>
              <a:ext cx="53340" cy="811530"/>
            </a:xfrm>
            <a:custGeom>
              <a:avLst/>
              <a:gdLst/>
              <a:ahLst/>
              <a:cxnLst/>
              <a:rect l="l" t="t" r="r" b="b"/>
              <a:pathLst>
                <a:path w="53340" h="811530">
                  <a:moveTo>
                    <a:pt x="33096" y="7497"/>
                  </a:moveTo>
                  <a:lnTo>
                    <a:pt x="33096" y="753574"/>
                  </a:lnTo>
                  <a:lnTo>
                    <a:pt x="33096" y="757712"/>
                  </a:lnTo>
                  <a:lnTo>
                    <a:pt x="30183" y="760826"/>
                  </a:lnTo>
                  <a:lnTo>
                    <a:pt x="26344" y="760826"/>
                  </a:lnTo>
                  <a:lnTo>
                    <a:pt x="22902" y="760826"/>
                  </a:lnTo>
                  <a:lnTo>
                    <a:pt x="19990" y="757712"/>
                  </a:lnTo>
                  <a:lnTo>
                    <a:pt x="19990" y="753574"/>
                  </a:lnTo>
                  <a:lnTo>
                    <a:pt x="19990" y="7497"/>
                  </a:lnTo>
                  <a:lnTo>
                    <a:pt x="19990" y="3460"/>
                  </a:lnTo>
                  <a:lnTo>
                    <a:pt x="22902" y="0"/>
                  </a:lnTo>
                  <a:lnTo>
                    <a:pt x="26344" y="0"/>
                  </a:lnTo>
                  <a:lnTo>
                    <a:pt x="30183" y="0"/>
                  </a:lnTo>
                  <a:lnTo>
                    <a:pt x="33096" y="3460"/>
                  </a:lnTo>
                  <a:lnTo>
                    <a:pt x="33096" y="7497"/>
                  </a:lnTo>
                  <a:close/>
                </a:path>
                <a:path w="53340" h="811530">
                  <a:moveTo>
                    <a:pt x="26344" y="753574"/>
                  </a:moveTo>
                  <a:lnTo>
                    <a:pt x="53086" y="724882"/>
                  </a:lnTo>
                  <a:lnTo>
                    <a:pt x="26344" y="811274"/>
                  </a:lnTo>
                  <a:lnTo>
                    <a:pt x="0" y="724882"/>
                  </a:lnTo>
                  <a:lnTo>
                    <a:pt x="26344" y="753574"/>
                  </a:lnTo>
                  <a:close/>
                </a:path>
              </a:pathLst>
            </a:custGeom>
            <a:ln w="3175">
              <a:solidFill>
                <a:srgbClr val="000000"/>
              </a:solidFill>
            </a:ln>
          </p:spPr>
          <p:txBody>
            <a:bodyPr wrap="square" lIns="0" tIns="0" rIns="0" bIns="0" rtlCol="0"/>
            <a:lstStyle/>
            <a:p/>
          </p:txBody>
        </p:sp>
        <p:sp>
          <p:nvSpPr>
            <p:cNvPr id="101" name="object 101" descr=""/>
            <p:cNvSpPr/>
            <p:nvPr/>
          </p:nvSpPr>
          <p:spPr>
            <a:xfrm>
              <a:off x="8683030" y="1979343"/>
              <a:ext cx="52705" cy="454025"/>
            </a:xfrm>
            <a:custGeom>
              <a:avLst/>
              <a:gdLst/>
              <a:ahLst/>
              <a:cxnLst/>
              <a:rect l="l" t="t" r="r" b="b"/>
              <a:pathLst>
                <a:path w="52704" h="454025">
                  <a:moveTo>
                    <a:pt x="0" y="367365"/>
                  </a:moveTo>
                  <a:lnTo>
                    <a:pt x="26344" y="453756"/>
                  </a:lnTo>
                  <a:lnTo>
                    <a:pt x="41728" y="403308"/>
                  </a:lnTo>
                  <a:lnTo>
                    <a:pt x="22902" y="403308"/>
                  </a:lnTo>
                  <a:lnTo>
                    <a:pt x="19725" y="400194"/>
                  </a:lnTo>
                  <a:lnTo>
                    <a:pt x="19725" y="388836"/>
                  </a:lnTo>
                  <a:lnTo>
                    <a:pt x="0" y="367365"/>
                  </a:lnTo>
                  <a:close/>
                </a:path>
                <a:path w="52704" h="454025">
                  <a:moveTo>
                    <a:pt x="19725" y="388836"/>
                  </a:moveTo>
                  <a:lnTo>
                    <a:pt x="19725" y="400194"/>
                  </a:lnTo>
                  <a:lnTo>
                    <a:pt x="22902" y="403308"/>
                  </a:lnTo>
                  <a:lnTo>
                    <a:pt x="29786" y="403308"/>
                  </a:lnTo>
                  <a:lnTo>
                    <a:pt x="33096" y="400194"/>
                  </a:lnTo>
                  <a:lnTo>
                    <a:pt x="33096" y="396042"/>
                  </a:lnTo>
                  <a:lnTo>
                    <a:pt x="26344" y="396042"/>
                  </a:lnTo>
                  <a:lnTo>
                    <a:pt x="19725" y="388836"/>
                  </a:lnTo>
                  <a:close/>
                </a:path>
                <a:path w="52704" h="454025">
                  <a:moveTo>
                    <a:pt x="52689" y="367365"/>
                  </a:moveTo>
                  <a:lnTo>
                    <a:pt x="33096" y="388692"/>
                  </a:lnTo>
                  <a:lnTo>
                    <a:pt x="33096" y="400194"/>
                  </a:lnTo>
                  <a:lnTo>
                    <a:pt x="29786" y="403308"/>
                  </a:lnTo>
                  <a:lnTo>
                    <a:pt x="41728" y="403308"/>
                  </a:lnTo>
                  <a:lnTo>
                    <a:pt x="52689" y="367365"/>
                  </a:lnTo>
                  <a:close/>
                </a:path>
                <a:path w="52704" h="454025">
                  <a:moveTo>
                    <a:pt x="29786" y="0"/>
                  </a:moveTo>
                  <a:lnTo>
                    <a:pt x="22902" y="0"/>
                  </a:lnTo>
                  <a:lnTo>
                    <a:pt x="19725" y="3171"/>
                  </a:lnTo>
                  <a:lnTo>
                    <a:pt x="19725" y="388836"/>
                  </a:lnTo>
                  <a:lnTo>
                    <a:pt x="26344" y="396042"/>
                  </a:lnTo>
                  <a:lnTo>
                    <a:pt x="33096" y="388692"/>
                  </a:lnTo>
                  <a:lnTo>
                    <a:pt x="33096" y="3171"/>
                  </a:lnTo>
                  <a:lnTo>
                    <a:pt x="29786" y="0"/>
                  </a:lnTo>
                  <a:close/>
                </a:path>
                <a:path w="52704" h="454025">
                  <a:moveTo>
                    <a:pt x="33096" y="388692"/>
                  </a:moveTo>
                  <a:lnTo>
                    <a:pt x="26344" y="396042"/>
                  </a:lnTo>
                  <a:lnTo>
                    <a:pt x="33096" y="396042"/>
                  </a:lnTo>
                  <a:lnTo>
                    <a:pt x="33096" y="388692"/>
                  </a:lnTo>
                  <a:close/>
                </a:path>
              </a:pathLst>
            </a:custGeom>
            <a:solidFill>
              <a:srgbClr val="000000"/>
            </a:solidFill>
          </p:spPr>
          <p:txBody>
            <a:bodyPr wrap="square" lIns="0" tIns="0" rIns="0" bIns="0" rtlCol="0"/>
            <a:lstStyle/>
            <a:p/>
          </p:txBody>
        </p:sp>
        <p:sp>
          <p:nvSpPr>
            <p:cNvPr id="102" name="object 102" descr=""/>
            <p:cNvSpPr/>
            <p:nvPr/>
          </p:nvSpPr>
          <p:spPr>
            <a:xfrm>
              <a:off x="8683030" y="1979343"/>
              <a:ext cx="52705" cy="454025"/>
            </a:xfrm>
            <a:custGeom>
              <a:avLst/>
              <a:gdLst/>
              <a:ahLst/>
              <a:cxnLst/>
              <a:rect l="l" t="t" r="r" b="b"/>
              <a:pathLst>
                <a:path w="52704" h="454025">
                  <a:moveTo>
                    <a:pt x="33096" y="7353"/>
                  </a:moveTo>
                  <a:lnTo>
                    <a:pt x="33096" y="396042"/>
                  </a:lnTo>
                  <a:lnTo>
                    <a:pt x="33096" y="400194"/>
                  </a:lnTo>
                  <a:lnTo>
                    <a:pt x="29786" y="403308"/>
                  </a:lnTo>
                  <a:lnTo>
                    <a:pt x="26344" y="403308"/>
                  </a:lnTo>
                  <a:lnTo>
                    <a:pt x="22902" y="403308"/>
                  </a:lnTo>
                  <a:lnTo>
                    <a:pt x="19725" y="400194"/>
                  </a:lnTo>
                  <a:lnTo>
                    <a:pt x="19725" y="396042"/>
                  </a:lnTo>
                  <a:lnTo>
                    <a:pt x="19725" y="7353"/>
                  </a:lnTo>
                  <a:lnTo>
                    <a:pt x="19725" y="3171"/>
                  </a:lnTo>
                  <a:lnTo>
                    <a:pt x="22902" y="0"/>
                  </a:lnTo>
                  <a:lnTo>
                    <a:pt x="26344" y="0"/>
                  </a:lnTo>
                  <a:lnTo>
                    <a:pt x="29786" y="0"/>
                  </a:lnTo>
                  <a:lnTo>
                    <a:pt x="33096" y="3171"/>
                  </a:lnTo>
                  <a:lnTo>
                    <a:pt x="33096" y="7353"/>
                  </a:lnTo>
                  <a:close/>
                </a:path>
                <a:path w="52704" h="454025">
                  <a:moveTo>
                    <a:pt x="26344" y="396042"/>
                  </a:moveTo>
                  <a:lnTo>
                    <a:pt x="52689" y="367365"/>
                  </a:lnTo>
                  <a:lnTo>
                    <a:pt x="26344" y="453756"/>
                  </a:lnTo>
                  <a:lnTo>
                    <a:pt x="0" y="367365"/>
                  </a:lnTo>
                  <a:lnTo>
                    <a:pt x="26344" y="396042"/>
                  </a:lnTo>
                  <a:close/>
                </a:path>
              </a:pathLst>
            </a:custGeom>
            <a:ln w="3175">
              <a:solidFill>
                <a:srgbClr val="000000"/>
              </a:solidFill>
            </a:ln>
          </p:spPr>
          <p:txBody>
            <a:bodyPr wrap="square" lIns="0" tIns="0" rIns="0" bIns="0" rtlCol="0"/>
            <a:lstStyle/>
            <a:p/>
          </p:txBody>
        </p:sp>
        <p:sp>
          <p:nvSpPr>
            <p:cNvPr id="103" name="object 103" descr=""/>
            <p:cNvSpPr/>
            <p:nvPr/>
          </p:nvSpPr>
          <p:spPr>
            <a:xfrm>
              <a:off x="10408151" y="1979343"/>
              <a:ext cx="53340" cy="543560"/>
            </a:xfrm>
            <a:custGeom>
              <a:avLst/>
              <a:gdLst/>
              <a:ahLst/>
              <a:cxnLst/>
              <a:rect l="l" t="t" r="r" b="b"/>
              <a:pathLst>
                <a:path w="53340" h="543560">
                  <a:moveTo>
                    <a:pt x="0" y="456856"/>
                  </a:moveTo>
                  <a:lnTo>
                    <a:pt x="26344" y="543247"/>
                  </a:lnTo>
                  <a:lnTo>
                    <a:pt x="41960" y="492799"/>
                  </a:lnTo>
                  <a:lnTo>
                    <a:pt x="22902" y="492799"/>
                  </a:lnTo>
                  <a:lnTo>
                    <a:pt x="19593" y="489685"/>
                  </a:lnTo>
                  <a:lnTo>
                    <a:pt x="19593" y="478194"/>
                  </a:lnTo>
                  <a:lnTo>
                    <a:pt x="0" y="456856"/>
                  </a:lnTo>
                  <a:close/>
                </a:path>
                <a:path w="53340" h="543560">
                  <a:moveTo>
                    <a:pt x="19593" y="478194"/>
                  </a:moveTo>
                  <a:lnTo>
                    <a:pt x="19593" y="489685"/>
                  </a:lnTo>
                  <a:lnTo>
                    <a:pt x="22902" y="492799"/>
                  </a:lnTo>
                  <a:lnTo>
                    <a:pt x="30183" y="492799"/>
                  </a:lnTo>
                  <a:lnTo>
                    <a:pt x="32964" y="489685"/>
                  </a:lnTo>
                  <a:lnTo>
                    <a:pt x="32964" y="485547"/>
                  </a:lnTo>
                  <a:lnTo>
                    <a:pt x="26344" y="485547"/>
                  </a:lnTo>
                  <a:lnTo>
                    <a:pt x="19593" y="478194"/>
                  </a:lnTo>
                  <a:close/>
                </a:path>
                <a:path w="53340" h="543560">
                  <a:moveTo>
                    <a:pt x="53086" y="456856"/>
                  </a:moveTo>
                  <a:lnTo>
                    <a:pt x="32964" y="478445"/>
                  </a:lnTo>
                  <a:lnTo>
                    <a:pt x="32964" y="489685"/>
                  </a:lnTo>
                  <a:lnTo>
                    <a:pt x="30183" y="492799"/>
                  </a:lnTo>
                  <a:lnTo>
                    <a:pt x="41960" y="492799"/>
                  </a:lnTo>
                  <a:lnTo>
                    <a:pt x="53086" y="456856"/>
                  </a:lnTo>
                  <a:close/>
                </a:path>
                <a:path w="53340" h="543560">
                  <a:moveTo>
                    <a:pt x="30183" y="0"/>
                  </a:moveTo>
                  <a:lnTo>
                    <a:pt x="22902" y="0"/>
                  </a:lnTo>
                  <a:lnTo>
                    <a:pt x="19593" y="3171"/>
                  </a:lnTo>
                  <a:lnTo>
                    <a:pt x="19593" y="478194"/>
                  </a:lnTo>
                  <a:lnTo>
                    <a:pt x="26344" y="485547"/>
                  </a:lnTo>
                  <a:lnTo>
                    <a:pt x="32964" y="478445"/>
                  </a:lnTo>
                  <a:lnTo>
                    <a:pt x="32964" y="3171"/>
                  </a:lnTo>
                  <a:lnTo>
                    <a:pt x="30183" y="0"/>
                  </a:lnTo>
                  <a:close/>
                </a:path>
                <a:path w="53340" h="543560">
                  <a:moveTo>
                    <a:pt x="32964" y="478445"/>
                  </a:moveTo>
                  <a:lnTo>
                    <a:pt x="26344" y="485547"/>
                  </a:lnTo>
                  <a:lnTo>
                    <a:pt x="32964" y="485547"/>
                  </a:lnTo>
                  <a:lnTo>
                    <a:pt x="32964" y="478445"/>
                  </a:lnTo>
                  <a:close/>
                </a:path>
              </a:pathLst>
            </a:custGeom>
            <a:solidFill>
              <a:srgbClr val="000000"/>
            </a:solidFill>
          </p:spPr>
          <p:txBody>
            <a:bodyPr wrap="square" lIns="0" tIns="0" rIns="0" bIns="0" rtlCol="0"/>
            <a:lstStyle/>
            <a:p/>
          </p:txBody>
        </p:sp>
        <p:sp>
          <p:nvSpPr>
            <p:cNvPr id="104" name="object 104" descr=""/>
            <p:cNvSpPr/>
            <p:nvPr/>
          </p:nvSpPr>
          <p:spPr>
            <a:xfrm>
              <a:off x="10408151" y="1979343"/>
              <a:ext cx="53340" cy="543560"/>
            </a:xfrm>
            <a:custGeom>
              <a:avLst/>
              <a:gdLst/>
              <a:ahLst/>
              <a:cxnLst/>
              <a:rect l="l" t="t" r="r" b="b"/>
              <a:pathLst>
                <a:path w="53340" h="543560">
                  <a:moveTo>
                    <a:pt x="32964" y="7353"/>
                  </a:moveTo>
                  <a:lnTo>
                    <a:pt x="32964" y="485547"/>
                  </a:lnTo>
                  <a:lnTo>
                    <a:pt x="32964" y="489685"/>
                  </a:lnTo>
                  <a:lnTo>
                    <a:pt x="30183" y="492799"/>
                  </a:lnTo>
                  <a:lnTo>
                    <a:pt x="26344" y="492799"/>
                  </a:lnTo>
                  <a:lnTo>
                    <a:pt x="22902" y="492799"/>
                  </a:lnTo>
                  <a:lnTo>
                    <a:pt x="19593" y="489685"/>
                  </a:lnTo>
                  <a:lnTo>
                    <a:pt x="19593" y="485547"/>
                  </a:lnTo>
                  <a:lnTo>
                    <a:pt x="19593" y="7353"/>
                  </a:lnTo>
                  <a:lnTo>
                    <a:pt x="19593" y="3171"/>
                  </a:lnTo>
                  <a:lnTo>
                    <a:pt x="22902" y="0"/>
                  </a:lnTo>
                  <a:lnTo>
                    <a:pt x="26344" y="0"/>
                  </a:lnTo>
                  <a:lnTo>
                    <a:pt x="30183" y="0"/>
                  </a:lnTo>
                  <a:lnTo>
                    <a:pt x="32964" y="3171"/>
                  </a:lnTo>
                  <a:lnTo>
                    <a:pt x="32964" y="7353"/>
                  </a:lnTo>
                  <a:close/>
                </a:path>
                <a:path w="53340" h="543560">
                  <a:moveTo>
                    <a:pt x="26344" y="485547"/>
                  </a:moveTo>
                  <a:lnTo>
                    <a:pt x="53086" y="456856"/>
                  </a:lnTo>
                  <a:lnTo>
                    <a:pt x="26344" y="543247"/>
                  </a:lnTo>
                  <a:lnTo>
                    <a:pt x="0" y="456856"/>
                  </a:lnTo>
                  <a:lnTo>
                    <a:pt x="26344" y="485547"/>
                  </a:lnTo>
                  <a:close/>
                </a:path>
              </a:pathLst>
            </a:custGeom>
            <a:ln w="3175">
              <a:solidFill>
                <a:srgbClr val="000000"/>
              </a:solidFill>
            </a:ln>
          </p:spPr>
          <p:txBody>
            <a:bodyPr wrap="square" lIns="0" tIns="0" rIns="0" bIns="0" rtlCol="0"/>
            <a:lstStyle/>
            <a:p/>
          </p:txBody>
        </p:sp>
        <p:sp>
          <p:nvSpPr>
            <p:cNvPr id="105" name="object 105" descr=""/>
            <p:cNvSpPr/>
            <p:nvPr/>
          </p:nvSpPr>
          <p:spPr>
            <a:xfrm>
              <a:off x="8709375" y="1986696"/>
              <a:ext cx="1725295" cy="0"/>
            </a:xfrm>
            <a:custGeom>
              <a:avLst/>
              <a:gdLst/>
              <a:ahLst/>
              <a:cxnLst/>
              <a:rect l="l" t="t" r="r" b="b"/>
              <a:pathLst>
                <a:path w="1725295" h="0">
                  <a:moveTo>
                    <a:pt x="0" y="0"/>
                  </a:moveTo>
                  <a:lnTo>
                    <a:pt x="1725120" y="0"/>
                  </a:lnTo>
                </a:path>
              </a:pathLst>
            </a:custGeom>
            <a:ln w="10731">
              <a:solidFill>
                <a:srgbClr val="000000"/>
              </a:solidFill>
            </a:ln>
          </p:spPr>
          <p:txBody>
            <a:bodyPr wrap="square" lIns="0" tIns="0" rIns="0" bIns="0" rtlCol="0"/>
            <a:lstStyle/>
            <a:p/>
          </p:txBody>
        </p:sp>
        <p:sp>
          <p:nvSpPr>
            <p:cNvPr id="106" name="object 106" descr=""/>
            <p:cNvSpPr/>
            <p:nvPr/>
          </p:nvSpPr>
          <p:spPr>
            <a:xfrm>
              <a:off x="9156045" y="1130856"/>
              <a:ext cx="52705" cy="855980"/>
            </a:xfrm>
            <a:custGeom>
              <a:avLst/>
              <a:gdLst/>
              <a:ahLst/>
              <a:cxnLst/>
              <a:rect l="l" t="t" r="r" b="b"/>
              <a:pathLst>
                <a:path w="52704" h="855980">
                  <a:moveTo>
                    <a:pt x="0" y="769477"/>
                  </a:moveTo>
                  <a:lnTo>
                    <a:pt x="26344" y="855839"/>
                  </a:lnTo>
                  <a:lnTo>
                    <a:pt x="41738" y="805377"/>
                  </a:lnTo>
                  <a:lnTo>
                    <a:pt x="22902" y="805377"/>
                  </a:lnTo>
                  <a:lnTo>
                    <a:pt x="19725" y="802205"/>
                  </a:lnTo>
                  <a:lnTo>
                    <a:pt x="19725" y="790959"/>
                  </a:lnTo>
                  <a:lnTo>
                    <a:pt x="0" y="769477"/>
                  </a:lnTo>
                  <a:close/>
                </a:path>
                <a:path w="52704" h="855980">
                  <a:moveTo>
                    <a:pt x="19725" y="790959"/>
                  </a:moveTo>
                  <a:lnTo>
                    <a:pt x="19725" y="802205"/>
                  </a:lnTo>
                  <a:lnTo>
                    <a:pt x="22902" y="805377"/>
                  </a:lnTo>
                  <a:lnTo>
                    <a:pt x="30183" y="805377"/>
                  </a:lnTo>
                  <a:lnTo>
                    <a:pt x="32964" y="802205"/>
                  </a:lnTo>
                  <a:lnTo>
                    <a:pt x="32964" y="798168"/>
                  </a:lnTo>
                  <a:lnTo>
                    <a:pt x="26344" y="798168"/>
                  </a:lnTo>
                  <a:lnTo>
                    <a:pt x="19725" y="790959"/>
                  </a:lnTo>
                  <a:close/>
                </a:path>
                <a:path w="52704" h="855980">
                  <a:moveTo>
                    <a:pt x="52689" y="769477"/>
                  </a:moveTo>
                  <a:lnTo>
                    <a:pt x="32964" y="790959"/>
                  </a:lnTo>
                  <a:lnTo>
                    <a:pt x="32964" y="802205"/>
                  </a:lnTo>
                  <a:lnTo>
                    <a:pt x="30183" y="805377"/>
                  </a:lnTo>
                  <a:lnTo>
                    <a:pt x="41738" y="805377"/>
                  </a:lnTo>
                  <a:lnTo>
                    <a:pt x="52689" y="769477"/>
                  </a:lnTo>
                  <a:close/>
                </a:path>
                <a:path w="52704" h="855980">
                  <a:moveTo>
                    <a:pt x="30183" y="0"/>
                  </a:moveTo>
                  <a:lnTo>
                    <a:pt x="22902" y="0"/>
                  </a:lnTo>
                  <a:lnTo>
                    <a:pt x="19725" y="3027"/>
                  </a:lnTo>
                  <a:lnTo>
                    <a:pt x="19725" y="790959"/>
                  </a:lnTo>
                  <a:lnTo>
                    <a:pt x="26344" y="798168"/>
                  </a:lnTo>
                  <a:lnTo>
                    <a:pt x="32964" y="790959"/>
                  </a:lnTo>
                  <a:lnTo>
                    <a:pt x="32964" y="3027"/>
                  </a:lnTo>
                  <a:lnTo>
                    <a:pt x="30183" y="0"/>
                  </a:lnTo>
                  <a:close/>
                </a:path>
                <a:path w="52704" h="855980">
                  <a:moveTo>
                    <a:pt x="32964" y="790959"/>
                  </a:moveTo>
                  <a:lnTo>
                    <a:pt x="26344" y="798168"/>
                  </a:lnTo>
                  <a:lnTo>
                    <a:pt x="32964" y="798168"/>
                  </a:lnTo>
                  <a:lnTo>
                    <a:pt x="32964" y="790959"/>
                  </a:lnTo>
                  <a:close/>
                </a:path>
              </a:pathLst>
            </a:custGeom>
            <a:solidFill>
              <a:srgbClr val="000000"/>
            </a:solidFill>
          </p:spPr>
          <p:txBody>
            <a:bodyPr wrap="square" lIns="0" tIns="0" rIns="0" bIns="0" rtlCol="0"/>
            <a:lstStyle/>
            <a:p/>
          </p:txBody>
        </p:sp>
        <p:sp>
          <p:nvSpPr>
            <p:cNvPr id="107" name="object 107" descr=""/>
            <p:cNvSpPr/>
            <p:nvPr/>
          </p:nvSpPr>
          <p:spPr>
            <a:xfrm>
              <a:off x="9156045" y="1130856"/>
              <a:ext cx="52705" cy="855980"/>
            </a:xfrm>
            <a:custGeom>
              <a:avLst/>
              <a:gdLst/>
              <a:ahLst/>
              <a:cxnLst/>
              <a:rect l="l" t="t" r="r" b="b"/>
              <a:pathLst>
                <a:path w="52704" h="855980">
                  <a:moveTo>
                    <a:pt x="32964" y="7208"/>
                  </a:moveTo>
                  <a:lnTo>
                    <a:pt x="32964" y="798168"/>
                  </a:lnTo>
                  <a:lnTo>
                    <a:pt x="32964" y="802205"/>
                  </a:lnTo>
                  <a:lnTo>
                    <a:pt x="30183" y="805377"/>
                  </a:lnTo>
                  <a:lnTo>
                    <a:pt x="26344" y="805377"/>
                  </a:lnTo>
                  <a:lnTo>
                    <a:pt x="22902" y="805377"/>
                  </a:lnTo>
                  <a:lnTo>
                    <a:pt x="19725" y="802205"/>
                  </a:lnTo>
                  <a:lnTo>
                    <a:pt x="19725" y="798168"/>
                  </a:lnTo>
                  <a:lnTo>
                    <a:pt x="19725" y="7208"/>
                  </a:lnTo>
                  <a:lnTo>
                    <a:pt x="19725" y="3027"/>
                  </a:lnTo>
                  <a:lnTo>
                    <a:pt x="22902" y="0"/>
                  </a:lnTo>
                  <a:lnTo>
                    <a:pt x="26344" y="0"/>
                  </a:lnTo>
                  <a:lnTo>
                    <a:pt x="30183" y="0"/>
                  </a:lnTo>
                  <a:lnTo>
                    <a:pt x="32964" y="3027"/>
                  </a:lnTo>
                  <a:lnTo>
                    <a:pt x="32964" y="7208"/>
                  </a:lnTo>
                  <a:close/>
                </a:path>
                <a:path w="52704" h="855980">
                  <a:moveTo>
                    <a:pt x="26344" y="798168"/>
                  </a:moveTo>
                  <a:lnTo>
                    <a:pt x="52689" y="769477"/>
                  </a:lnTo>
                  <a:lnTo>
                    <a:pt x="26344" y="855839"/>
                  </a:lnTo>
                  <a:lnTo>
                    <a:pt x="0" y="769477"/>
                  </a:lnTo>
                  <a:lnTo>
                    <a:pt x="26344" y="798168"/>
                  </a:lnTo>
                  <a:close/>
                </a:path>
              </a:pathLst>
            </a:custGeom>
            <a:ln w="3175">
              <a:solidFill>
                <a:srgbClr val="000000"/>
              </a:solidFill>
            </a:ln>
          </p:spPr>
          <p:txBody>
            <a:bodyPr wrap="square" lIns="0" tIns="0" rIns="0" bIns="0" rtlCol="0"/>
            <a:lstStyle/>
            <a:p/>
          </p:txBody>
        </p:sp>
        <p:sp>
          <p:nvSpPr>
            <p:cNvPr id="108" name="object 108" descr=""/>
            <p:cNvSpPr/>
            <p:nvPr/>
          </p:nvSpPr>
          <p:spPr>
            <a:xfrm>
              <a:off x="9043120" y="1272151"/>
              <a:ext cx="2226310" cy="581025"/>
            </a:xfrm>
            <a:custGeom>
              <a:avLst/>
              <a:gdLst/>
              <a:ahLst/>
              <a:cxnLst/>
              <a:rect l="l" t="t" r="r" b="b"/>
              <a:pathLst>
                <a:path w="2226309" h="581025">
                  <a:moveTo>
                    <a:pt x="0" y="580459"/>
                  </a:moveTo>
                  <a:lnTo>
                    <a:pt x="1725385" y="580460"/>
                  </a:lnTo>
                </a:path>
                <a:path w="2226309" h="581025">
                  <a:moveTo>
                    <a:pt x="1224437" y="0"/>
                  </a:moveTo>
                  <a:lnTo>
                    <a:pt x="1224437" y="580459"/>
                  </a:lnTo>
                </a:path>
                <a:path w="2226309" h="581025">
                  <a:moveTo>
                    <a:pt x="473014" y="446662"/>
                  </a:moveTo>
                  <a:lnTo>
                    <a:pt x="2226069" y="446663"/>
                  </a:lnTo>
                </a:path>
                <a:path w="2226309" h="581025">
                  <a:moveTo>
                    <a:pt x="1502580" y="0"/>
                  </a:moveTo>
                  <a:lnTo>
                    <a:pt x="1502580" y="446662"/>
                  </a:lnTo>
                </a:path>
              </a:pathLst>
            </a:custGeom>
            <a:ln w="10292">
              <a:solidFill>
                <a:srgbClr val="000000"/>
              </a:solidFill>
            </a:ln>
          </p:spPr>
          <p:txBody>
            <a:bodyPr wrap="square" lIns="0" tIns="0" rIns="0" bIns="0" rtlCol="0"/>
            <a:lstStyle/>
            <a:p/>
          </p:txBody>
        </p:sp>
        <p:sp>
          <p:nvSpPr>
            <p:cNvPr id="109" name="object 109" descr=""/>
            <p:cNvSpPr/>
            <p:nvPr/>
          </p:nvSpPr>
          <p:spPr>
            <a:xfrm>
              <a:off x="9020879" y="2227185"/>
              <a:ext cx="30480" cy="44450"/>
            </a:xfrm>
            <a:custGeom>
              <a:avLst/>
              <a:gdLst/>
              <a:ahLst/>
              <a:cxnLst/>
              <a:rect l="l" t="t" r="r" b="b"/>
              <a:pathLst>
                <a:path w="30479" h="44450">
                  <a:moveTo>
                    <a:pt x="15224" y="0"/>
                  </a:moveTo>
                  <a:lnTo>
                    <a:pt x="9271" y="1743"/>
                  </a:lnTo>
                  <a:lnTo>
                    <a:pt x="4434" y="6488"/>
                  </a:lnTo>
                  <a:lnTo>
                    <a:pt x="1187" y="13503"/>
                  </a:lnTo>
                  <a:lnTo>
                    <a:pt x="0" y="22059"/>
                  </a:lnTo>
                  <a:lnTo>
                    <a:pt x="1187" y="30570"/>
                  </a:lnTo>
                  <a:lnTo>
                    <a:pt x="4434" y="37486"/>
                  </a:lnTo>
                  <a:lnTo>
                    <a:pt x="9271" y="42131"/>
                  </a:lnTo>
                  <a:lnTo>
                    <a:pt x="15224" y="43830"/>
                  </a:lnTo>
                  <a:lnTo>
                    <a:pt x="21080" y="42131"/>
                  </a:lnTo>
                  <a:lnTo>
                    <a:pt x="25831" y="37486"/>
                  </a:lnTo>
                  <a:lnTo>
                    <a:pt x="29019" y="30570"/>
                  </a:lnTo>
                  <a:lnTo>
                    <a:pt x="30183" y="22059"/>
                  </a:lnTo>
                  <a:lnTo>
                    <a:pt x="29019" y="13503"/>
                  </a:lnTo>
                  <a:lnTo>
                    <a:pt x="25831" y="6488"/>
                  </a:lnTo>
                  <a:lnTo>
                    <a:pt x="21080" y="1743"/>
                  </a:lnTo>
                  <a:lnTo>
                    <a:pt x="15224" y="0"/>
                  </a:lnTo>
                  <a:close/>
                </a:path>
              </a:pathLst>
            </a:custGeom>
            <a:solidFill>
              <a:srgbClr val="000000"/>
            </a:solidFill>
          </p:spPr>
          <p:txBody>
            <a:bodyPr wrap="square" lIns="0" tIns="0" rIns="0" bIns="0" rtlCol="0"/>
            <a:lstStyle/>
            <a:p/>
          </p:txBody>
        </p:sp>
        <p:sp>
          <p:nvSpPr>
            <p:cNvPr id="110" name="object 110" descr=""/>
            <p:cNvSpPr/>
            <p:nvPr/>
          </p:nvSpPr>
          <p:spPr>
            <a:xfrm>
              <a:off x="9020879" y="2227185"/>
              <a:ext cx="30480" cy="44450"/>
            </a:xfrm>
            <a:custGeom>
              <a:avLst/>
              <a:gdLst/>
              <a:ahLst/>
              <a:cxnLst/>
              <a:rect l="l" t="t" r="r" b="b"/>
              <a:pathLst>
                <a:path w="30479" h="44450">
                  <a:moveTo>
                    <a:pt x="15224" y="0"/>
                  </a:moveTo>
                  <a:lnTo>
                    <a:pt x="9271" y="1743"/>
                  </a:lnTo>
                  <a:lnTo>
                    <a:pt x="4434" y="6488"/>
                  </a:lnTo>
                  <a:lnTo>
                    <a:pt x="1187" y="13503"/>
                  </a:lnTo>
                  <a:lnTo>
                    <a:pt x="0" y="22059"/>
                  </a:lnTo>
                  <a:lnTo>
                    <a:pt x="1187" y="30570"/>
                  </a:lnTo>
                  <a:lnTo>
                    <a:pt x="4434" y="37486"/>
                  </a:lnTo>
                  <a:lnTo>
                    <a:pt x="9271" y="42131"/>
                  </a:lnTo>
                  <a:lnTo>
                    <a:pt x="15224" y="43830"/>
                  </a:lnTo>
                  <a:lnTo>
                    <a:pt x="21080" y="42131"/>
                  </a:lnTo>
                  <a:lnTo>
                    <a:pt x="25831" y="37486"/>
                  </a:lnTo>
                  <a:lnTo>
                    <a:pt x="29019" y="30570"/>
                  </a:lnTo>
                  <a:lnTo>
                    <a:pt x="30183" y="22059"/>
                  </a:lnTo>
                  <a:lnTo>
                    <a:pt x="29019" y="13503"/>
                  </a:lnTo>
                  <a:lnTo>
                    <a:pt x="25831" y="6488"/>
                  </a:lnTo>
                  <a:lnTo>
                    <a:pt x="21080" y="1743"/>
                  </a:lnTo>
                  <a:lnTo>
                    <a:pt x="15224" y="0"/>
                  </a:lnTo>
                </a:path>
              </a:pathLst>
            </a:custGeom>
            <a:ln w="10136">
              <a:solidFill>
                <a:srgbClr val="000000"/>
              </a:solidFill>
            </a:ln>
          </p:spPr>
          <p:txBody>
            <a:bodyPr wrap="square" lIns="0" tIns="0" rIns="0" bIns="0" rtlCol="0"/>
            <a:lstStyle/>
            <a:p/>
          </p:txBody>
        </p:sp>
        <p:sp>
          <p:nvSpPr>
            <p:cNvPr id="111" name="object 111" descr=""/>
            <p:cNvSpPr/>
            <p:nvPr/>
          </p:nvSpPr>
          <p:spPr>
            <a:xfrm>
              <a:off x="8683030" y="1979343"/>
              <a:ext cx="52705" cy="454025"/>
            </a:xfrm>
            <a:custGeom>
              <a:avLst/>
              <a:gdLst/>
              <a:ahLst/>
              <a:cxnLst/>
              <a:rect l="l" t="t" r="r" b="b"/>
              <a:pathLst>
                <a:path w="52704" h="454025">
                  <a:moveTo>
                    <a:pt x="0" y="367365"/>
                  </a:moveTo>
                  <a:lnTo>
                    <a:pt x="26344" y="453756"/>
                  </a:lnTo>
                  <a:lnTo>
                    <a:pt x="41728" y="403308"/>
                  </a:lnTo>
                  <a:lnTo>
                    <a:pt x="22902" y="403308"/>
                  </a:lnTo>
                  <a:lnTo>
                    <a:pt x="19725" y="400194"/>
                  </a:lnTo>
                  <a:lnTo>
                    <a:pt x="19725" y="388836"/>
                  </a:lnTo>
                  <a:lnTo>
                    <a:pt x="0" y="367365"/>
                  </a:lnTo>
                  <a:close/>
                </a:path>
                <a:path w="52704" h="454025">
                  <a:moveTo>
                    <a:pt x="19725" y="388836"/>
                  </a:moveTo>
                  <a:lnTo>
                    <a:pt x="19725" y="400194"/>
                  </a:lnTo>
                  <a:lnTo>
                    <a:pt x="22902" y="403308"/>
                  </a:lnTo>
                  <a:lnTo>
                    <a:pt x="29786" y="403308"/>
                  </a:lnTo>
                  <a:lnTo>
                    <a:pt x="33096" y="400194"/>
                  </a:lnTo>
                  <a:lnTo>
                    <a:pt x="33096" y="396042"/>
                  </a:lnTo>
                  <a:lnTo>
                    <a:pt x="26344" y="396042"/>
                  </a:lnTo>
                  <a:lnTo>
                    <a:pt x="19725" y="388836"/>
                  </a:lnTo>
                  <a:close/>
                </a:path>
                <a:path w="52704" h="454025">
                  <a:moveTo>
                    <a:pt x="52689" y="367365"/>
                  </a:moveTo>
                  <a:lnTo>
                    <a:pt x="33096" y="388692"/>
                  </a:lnTo>
                  <a:lnTo>
                    <a:pt x="33096" y="400194"/>
                  </a:lnTo>
                  <a:lnTo>
                    <a:pt x="29786" y="403308"/>
                  </a:lnTo>
                  <a:lnTo>
                    <a:pt x="41728" y="403308"/>
                  </a:lnTo>
                  <a:lnTo>
                    <a:pt x="52689" y="367365"/>
                  </a:lnTo>
                  <a:close/>
                </a:path>
                <a:path w="52704" h="454025">
                  <a:moveTo>
                    <a:pt x="29786" y="0"/>
                  </a:moveTo>
                  <a:lnTo>
                    <a:pt x="22902" y="0"/>
                  </a:lnTo>
                  <a:lnTo>
                    <a:pt x="19725" y="3171"/>
                  </a:lnTo>
                  <a:lnTo>
                    <a:pt x="19725" y="388836"/>
                  </a:lnTo>
                  <a:lnTo>
                    <a:pt x="26344" y="396042"/>
                  </a:lnTo>
                  <a:lnTo>
                    <a:pt x="33096" y="388692"/>
                  </a:lnTo>
                  <a:lnTo>
                    <a:pt x="33096" y="3171"/>
                  </a:lnTo>
                  <a:lnTo>
                    <a:pt x="29786" y="0"/>
                  </a:lnTo>
                  <a:close/>
                </a:path>
                <a:path w="52704" h="454025">
                  <a:moveTo>
                    <a:pt x="33096" y="388692"/>
                  </a:moveTo>
                  <a:lnTo>
                    <a:pt x="26344" y="396042"/>
                  </a:lnTo>
                  <a:lnTo>
                    <a:pt x="33096" y="396042"/>
                  </a:lnTo>
                  <a:lnTo>
                    <a:pt x="33096" y="388692"/>
                  </a:lnTo>
                  <a:close/>
                </a:path>
              </a:pathLst>
            </a:custGeom>
            <a:solidFill>
              <a:srgbClr val="000000"/>
            </a:solidFill>
          </p:spPr>
          <p:txBody>
            <a:bodyPr wrap="square" lIns="0" tIns="0" rIns="0" bIns="0" rtlCol="0"/>
            <a:lstStyle/>
            <a:p/>
          </p:txBody>
        </p:sp>
        <p:sp>
          <p:nvSpPr>
            <p:cNvPr id="112" name="object 112" descr=""/>
            <p:cNvSpPr/>
            <p:nvPr/>
          </p:nvSpPr>
          <p:spPr>
            <a:xfrm>
              <a:off x="8683030" y="1979343"/>
              <a:ext cx="52705" cy="454025"/>
            </a:xfrm>
            <a:custGeom>
              <a:avLst/>
              <a:gdLst/>
              <a:ahLst/>
              <a:cxnLst/>
              <a:rect l="l" t="t" r="r" b="b"/>
              <a:pathLst>
                <a:path w="52704" h="454025">
                  <a:moveTo>
                    <a:pt x="33096" y="7353"/>
                  </a:moveTo>
                  <a:lnTo>
                    <a:pt x="33096" y="396042"/>
                  </a:lnTo>
                  <a:lnTo>
                    <a:pt x="33096" y="400194"/>
                  </a:lnTo>
                  <a:lnTo>
                    <a:pt x="29786" y="403308"/>
                  </a:lnTo>
                  <a:lnTo>
                    <a:pt x="26344" y="403308"/>
                  </a:lnTo>
                  <a:lnTo>
                    <a:pt x="22902" y="403308"/>
                  </a:lnTo>
                  <a:lnTo>
                    <a:pt x="19725" y="400194"/>
                  </a:lnTo>
                  <a:lnTo>
                    <a:pt x="19725" y="396042"/>
                  </a:lnTo>
                  <a:lnTo>
                    <a:pt x="19725" y="7353"/>
                  </a:lnTo>
                  <a:lnTo>
                    <a:pt x="19725" y="3171"/>
                  </a:lnTo>
                  <a:lnTo>
                    <a:pt x="22902" y="0"/>
                  </a:lnTo>
                  <a:lnTo>
                    <a:pt x="26344" y="0"/>
                  </a:lnTo>
                  <a:lnTo>
                    <a:pt x="29786" y="0"/>
                  </a:lnTo>
                  <a:lnTo>
                    <a:pt x="33096" y="3171"/>
                  </a:lnTo>
                  <a:lnTo>
                    <a:pt x="33096" y="7353"/>
                  </a:lnTo>
                  <a:close/>
                </a:path>
                <a:path w="52704" h="454025">
                  <a:moveTo>
                    <a:pt x="26344" y="396042"/>
                  </a:moveTo>
                  <a:lnTo>
                    <a:pt x="52689" y="367365"/>
                  </a:lnTo>
                  <a:lnTo>
                    <a:pt x="26344" y="453756"/>
                  </a:lnTo>
                  <a:lnTo>
                    <a:pt x="0" y="367365"/>
                  </a:lnTo>
                  <a:lnTo>
                    <a:pt x="26344" y="396042"/>
                  </a:lnTo>
                  <a:close/>
                </a:path>
              </a:pathLst>
            </a:custGeom>
            <a:ln w="3175">
              <a:solidFill>
                <a:srgbClr val="000000"/>
              </a:solidFill>
            </a:ln>
          </p:spPr>
          <p:txBody>
            <a:bodyPr wrap="square" lIns="0" tIns="0" rIns="0" bIns="0" rtlCol="0"/>
            <a:lstStyle/>
            <a:p/>
          </p:txBody>
        </p:sp>
        <p:sp>
          <p:nvSpPr>
            <p:cNvPr id="113" name="object 113" descr=""/>
            <p:cNvSpPr/>
            <p:nvPr/>
          </p:nvSpPr>
          <p:spPr>
            <a:xfrm>
              <a:off x="9500248" y="2221273"/>
              <a:ext cx="31115" cy="44450"/>
            </a:xfrm>
            <a:custGeom>
              <a:avLst/>
              <a:gdLst/>
              <a:ahLst/>
              <a:cxnLst/>
              <a:rect l="l" t="t" r="r" b="b"/>
              <a:pathLst>
                <a:path w="31115" h="44450">
                  <a:moveTo>
                    <a:pt x="15621" y="0"/>
                  </a:moveTo>
                  <a:lnTo>
                    <a:pt x="9550" y="1763"/>
                  </a:lnTo>
                  <a:lnTo>
                    <a:pt x="4583" y="6542"/>
                  </a:lnTo>
                  <a:lnTo>
                    <a:pt x="1230" y="13563"/>
                  </a:lnTo>
                  <a:lnTo>
                    <a:pt x="0" y="22059"/>
                  </a:lnTo>
                  <a:lnTo>
                    <a:pt x="1230" y="30637"/>
                  </a:lnTo>
                  <a:lnTo>
                    <a:pt x="4583" y="37702"/>
                  </a:lnTo>
                  <a:lnTo>
                    <a:pt x="9550" y="42496"/>
                  </a:lnTo>
                  <a:lnTo>
                    <a:pt x="15621" y="44262"/>
                  </a:lnTo>
                  <a:lnTo>
                    <a:pt x="21421" y="42496"/>
                  </a:lnTo>
                  <a:lnTo>
                    <a:pt x="26179" y="37702"/>
                  </a:lnTo>
                  <a:lnTo>
                    <a:pt x="29397" y="30637"/>
                  </a:lnTo>
                  <a:lnTo>
                    <a:pt x="30581" y="22059"/>
                  </a:lnTo>
                  <a:lnTo>
                    <a:pt x="29397" y="13563"/>
                  </a:lnTo>
                  <a:lnTo>
                    <a:pt x="26179" y="6542"/>
                  </a:lnTo>
                  <a:lnTo>
                    <a:pt x="21421" y="1763"/>
                  </a:lnTo>
                  <a:lnTo>
                    <a:pt x="15621" y="0"/>
                  </a:lnTo>
                  <a:close/>
                </a:path>
              </a:pathLst>
            </a:custGeom>
            <a:solidFill>
              <a:srgbClr val="000000"/>
            </a:solidFill>
          </p:spPr>
          <p:txBody>
            <a:bodyPr wrap="square" lIns="0" tIns="0" rIns="0" bIns="0" rtlCol="0"/>
            <a:lstStyle/>
            <a:p/>
          </p:txBody>
        </p:sp>
        <p:sp>
          <p:nvSpPr>
            <p:cNvPr id="114" name="object 114" descr=""/>
            <p:cNvSpPr/>
            <p:nvPr/>
          </p:nvSpPr>
          <p:spPr>
            <a:xfrm>
              <a:off x="9500248" y="2221273"/>
              <a:ext cx="31115" cy="44450"/>
            </a:xfrm>
            <a:custGeom>
              <a:avLst/>
              <a:gdLst/>
              <a:ahLst/>
              <a:cxnLst/>
              <a:rect l="l" t="t" r="r" b="b"/>
              <a:pathLst>
                <a:path w="31115" h="44450">
                  <a:moveTo>
                    <a:pt x="15621" y="0"/>
                  </a:moveTo>
                  <a:lnTo>
                    <a:pt x="9550" y="1763"/>
                  </a:lnTo>
                  <a:lnTo>
                    <a:pt x="4583" y="6542"/>
                  </a:lnTo>
                  <a:lnTo>
                    <a:pt x="1230" y="13563"/>
                  </a:lnTo>
                  <a:lnTo>
                    <a:pt x="0" y="22059"/>
                  </a:lnTo>
                  <a:lnTo>
                    <a:pt x="1230" y="30637"/>
                  </a:lnTo>
                  <a:lnTo>
                    <a:pt x="4583" y="37702"/>
                  </a:lnTo>
                  <a:lnTo>
                    <a:pt x="9550" y="42496"/>
                  </a:lnTo>
                  <a:lnTo>
                    <a:pt x="15621" y="44262"/>
                  </a:lnTo>
                  <a:lnTo>
                    <a:pt x="21421" y="42496"/>
                  </a:lnTo>
                  <a:lnTo>
                    <a:pt x="26179" y="37702"/>
                  </a:lnTo>
                  <a:lnTo>
                    <a:pt x="29397" y="30637"/>
                  </a:lnTo>
                  <a:lnTo>
                    <a:pt x="30581" y="22059"/>
                  </a:lnTo>
                  <a:lnTo>
                    <a:pt x="29397" y="13563"/>
                  </a:lnTo>
                  <a:lnTo>
                    <a:pt x="26179" y="6542"/>
                  </a:lnTo>
                  <a:lnTo>
                    <a:pt x="21421" y="1763"/>
                  </a:lnTo>
                  <a:lnTo>
                    <a:pt x="15621" y="0"/>
                  </a:lnTo>
                </a:path>
              </a:pathLst>
            </a:custGeom>
            <a:ln w="10137">
              <a:solidFill>
                <a:srgbClr val="000000"/>
              </a:solidFill>
            </a:ln>
          </p:spPr>
          <p:txBody>
            <a:bodyPr wrap="square" lIns="0" tIns="0" rIns="0" bIns="0" rtlCol="0"/>
            <a:lstStyle/>
            <a:p/>
          </p:txBody>
        </p:sp>
        <p:sp>
          <p:nvSpPr>
            <p:cNvPr id="115" name="object 115" descr=""/>
            <p:cNvSpPr/>
            <p:nvPr/>
          </p:nvSpPr>
          <p:spPr>
            <a:xfrm>
              <a:off x="10752354" y="2227185"/>
              <a:ext cx="31115" cy="44450"/>
            </a:xfrm>
            <a:custGeom>
              <a:avLst/>
              <a:gdLst/>
              <a:ahLst/>
              <a:cxnLst/>
              <a:rect l="l" t="t" r="r" b="b"/>
              <a:pathLst>
                <a:path w="31115" h="44450">
                  <a:moveTo>
                    <a:pt x="15621" y="0"/>
                  </a:moveTo>
                  <a:lnTo>
                    <a:pt x="9550" y="1743"/>
                  </a:lnTo>
                  <a:lnTo>
                    <a:pt x="4583" y="6488"/>
                  </a:lnTo>
                  <a:lnTo>
                    <a:pt x="1230" y="13503"/>
                  </a:lnTo>
                  <a:lnTo>
                    <a:pt x="0" y="22059"/>
                  </a:lnTo>
                  <a:lnTo>
                    <a:pt x="1230" y="30570"/>
                  </a:lnTo>
                  <a:lnTo>
                    <a:pt x="4583" y="37486"/>
                  </a:lnTo>
                  <a:lnTo>
                    <a:pt x="9550" y="42131"/>
                  </a:lnTo>
                  <a:lnTo>
                    <a:pt x="15621" y="43830"/>
                  </a:lnTo>
                  <a:lnTo>
                    <a:pt x="21463" y="42131"/>
                  </a:lnTo>
                  <a:lnTo>
                    <a:pt x="26311" y="37486"/>
                  </a:lnTo>
                  <a:lnTo>
                    <a:pt x="29621" y="30570"/>
                  </a:lnTo>
                  <a:lnTo>
                    <a:pt x="30845" y="22059"/>
                  </a:lnTo>
                  <a:lnTo>
                    <a:pt x="29621" y="13503"/>
                  </a:lnTo>
                  <a:lnTo>
                    <a:pt x="26311" y="6488"/>
                  </a:lnTo>
                  <a:lnTo>
                    <a:pt x="21463" y="1743"/>
                  </a:lnTo>
                  <a:lnTo>
                    <a:pt x="15621" y="0"/>
                  </a:lnTo>
                  <a:close/>
                </a:path>
              </a:pathLst>
            </a:custGeom>
            <a:solidFill>
              <a:srgbClr val="000000"/>
            </a:solidFill>
          </p:spPr>
          <p:txBody>
            <a:bodyPr wrap="square" lIns="0" tIns="0" rIns="0" bIns="0" rtlCol="0"/>
            <a:lstStyle/>
            <a:p/>
          </p:txBody>
        </p:sp>
        <p:sp>
          <p:nvSpPr>
            <p:cNvPr id="116" name="object 116" descr=""/>
            <p:cNvSpPr/>
            <p:nvPr/>
          </p:nvSpPr>
          <p:spPr>
            <a:xfrm>
              <a:off x="10752354" y="2227185"/>
              <a:ext cx="31115" cy="44450"/>
            </a:xfrm>
            <a:custGeom>
              <a:avLst/>
              <a:gdLst/>
              <a:ahLst/>
              <a:cxnLst/>
              <a:rect l="l" t="t" r="r" b="b"/>
              <a:pathLst>
                <a:path w="31115" h="44450">
                  <a:moveTo>
                    <a:pt x="15621" y="0"/>
                  </a:moveTo>
                  <a:lnTo>
                    <a:pt x="9550" y="1743"/>
                  </a:lnTo>
                  <a:lnTo>
                    <a:pt x="4583" y="6488"/>
                  </a:lnTo>
                  <a:lnTo>
                    <a:pt x="1230" y="13503"/>
                  </a:lnTo>
                  <a:lnTo>
                    <a:pt x="0" y="22059"/>
                  </a:lnTo>
                  <a:lnTo>
                    <a:pt x="1230" y="30570"/>
                  </a:lnTo>
                  <a:lnTo>
                    <a:pt x="4583" y="37486"/>
                  </a:lnTo>
                  <a:lnTo>
                    <a:pt x="9550" y="42131"/>
                  </a:lnTo>
                  <a:lnTo>
                    <a:pt x="15621" y="43830"/>
                  </a:lnTo>
                  <a:lnTo>
                    <a:pt x="21463" y="42131"/>
                  </a:lnTo>
                  <a:lnTo>
                    <a:pt x="26311" y="37486"/>
                  </a:lnTo>
                  <a:lnTo>
                    <a:pt x="29621" y="30570"/>
                  </a:lnTo>
                  <a:lnTo>
                    <a:pt x="30845" y="22059"/>
                  </a:lnTo>
                  <a:lnTo>
                    <a:pt x="29621" y="13503"/>
                  </a:lnTo>
                  <a:lnTo>
                    <a:pt x="26311" y="6488"/>
                  </a:lnTo>
                  <a:lnTo>
                    <a:pt x="21463" y="1743"/>
                  </a:lnTo>
                  <a:lnTo>
                    <a:pt x="15621" y="0"/>
                  </a:lnTo>
                </a:path>
              </a:pathLst>
            </a:custGeom>
            <a:ln w="10144">
              <a:solidFill>
                <a:srgbClr val="000000"/>
              </a:solidFill>
            </a:ln>
          </p:spPr>
          <p:txBody>
            <a:bodyPr wrap="square" lIns="0" tIns="0" rIns="0" bIns="0" rtlCol="0"/>
            <a:lstStyle/>
            <a:p/>
          </p:txBody>
        </p:sp>
        <p:sp>
          <p:nvSpPr>
            <p:cNvPr id="117" name="object 117" descr=""/>
            <p:cNvSpPr/>
            <p:nvPr/>
          </p:nvSpPr>
          <p:spPr>
            <a:xfrm>
              <a:off x="11253303" y="2233096"/>
              <a:ext cx="31115" cy="44450"/>
            </a:xfrm>
            <a:custGeom>
              <a:avLst/>
              <a:gdLst/>
              <a:ahLst/>
              <a:cxnLst/>
              <a:rect l="l" t="t" r="r" b="b"/>
              <a:pathLst>
                <a:path w="31115" h="44450">
                  <a:moveTo>
                    <a:pt x="15224" y="0"/>
                  </a:moveTo>
                  <a:lnTo>
                    <a:pt x="9382" y="1698"/>
                  </a:lnTo>
                  <a:lnTo>
                    <a:pt x="4534" y="6343"/>
                  </a:lnTo>
                  <a:lnTo>
                    <a:pt x="1224" y="13259"/>
                  </a:lnTo>
                  <a:lnTo>
                    <a:pt x="0" y="21770"/>
                  </a:lnTo>
                  <a:lnTo>
                    <a:pt x="1224" y="30448"/>
                  </a:lnTo>
                  <a:lnTo>
                    <a:pt x="4534" y="37450"/>
                  </a:lnTo>
                  <a:lnTo>
                    <a:pt x="9382" y="42126"/>
                  </a:lnTo>
                  <a:lnTo>
                    <a:pt x="15224" y="43830"/>
                  </a:lnTo>
                  <a:lnTo>
                    <a:pt x="21254" y="42126"/>
                  </a:lnTo>
                  <a:lnTo>
                    <a:pt x="26129" y="37450"/>
                  </a:lnTo>
                  <a:lnTo>
                    <a:pt x="29391" y="30448"/>
                  </a:lnTo>
                  <a:lnTo>
                    <a:pt x="30581" y="21770"/>
                  </a:lnTo>
                  <a:lnTo>
                    <a:pt x="29391" y="13259"/>
                  </a:lnTo>
                  <a:lnTo>
                    <a:pt x="26129" y="6343"/>
                  </a:lnTo>
                  <a:lnTo>
                    <a:pt x="21254" y="1698"/>
                  </a:lnTo>
                  <a:lnTo>
                    <a:pt x="15224" y="0"/>
                  </a:lnTo>
                  <a:close/>
                </a:path>
              </a:pathLst>
            </a:custGeom>
            <a:solidFill>
              <a:srgbClr val="000000"/>
            </a:solidFill>
          </p:spPr>
          <p:txBody>
            <a:bodyPr wrap="square" lIns="0" tIns="0" rIns="0" bIns="0" rtlCol="0"/>
            <a:lstStyle/>
            <a:p/>
          </p:txBody>
        </p:sp>
        <p:sp>
          <p:nvSpPr>
            <p:cNvPr id="118" name="object 118" descr=""/>
            <p:cNvSpPr/>
            <p:nvPr/>
          </p:nvSpPr>
          <p:spPr>
            <a:xfrm>
              <a:off x="11253303" y="2233096"/>
              <a:ext cx="31115" cy="44450"/>
            </a:xfrm>
            <a:custGeom>
              <a:avLst/>
              <a:gdLst/>
              <a:ahLst/>
              <a:cxnLst/>
              <a:rect l="l" t="t" r="r" b="b"/>
              <a:pathLst>
                <a:path w="31115" h="44450">
                  <a:moveTo>
                    <a:pt x="15224" y="0"/>
                  </a:moveTo>
                  <a:lnTo>
                    <a:pt x="9382" y="1698"/>
                  </a:lnTo>
                  <a:lnTo>
                    <a:pt x="4534" y="6343"/>
                  </a:lnTo>
                  <a:lnTo>
                    <a:pt x="1224" y="13259"/>
                  </a:lnTo>
                  <a:lnTo>
                    <a:pt x="0" y="21770"/>
                  </a:lnTo>
                  <a:lnTo>
                    <a:pt x="1224" y="30448"/>
                  </a:lnTo>
                  <a:lnTo>
                    <a:pt x="4534" y="37450"/>
                  </a:lnTo>
                  <a:lnTo>
                    <a:pt x="9382" y="42126"/>
                  </a:lnTo>
                  <a:lnTo>
                    <a:pt x="15224" y="43830"/>
                  </a:lnTo>
                  <a:lnTo>
                    <a:pt x="21254" y="42126"/>
                  </a:lnTo>
                  <a:lnTo>
                    <a:pt x="26129" y="37450"/>
                  </a:lnTo>
                  <a:lnTo>
                    <a:pt x="29391" y="30448"/>
                  </a:lnTo>
                  <a:lnTo>
                    <a:pt x="30581" y="21770"/>
                  </a:lnTo>
                  <a:lnTo>
                    <a:pt x="29391" y="13259"/>
                  </a:lnTo>
                  <a:lnTo>
                    <a:pt x="26129" y="6343"/>
                  </a:lnTo>
                  <a:lnTo>
                    <a:pt x="21254" y="1698"/>
                  </a:lnTo>
                  <a:lnTo>
                    <a:pt x="15224" y="0"/>
                  </a:lnTo>
                </a:path>
              </a:pathLst>
            </a:custGeom>
            <a:ln w="10141">
              <a:solidFill>
                <a:srgbClr val="000000"/>
              </a:solidFill>
            </a:ln>
          </p:spPr>
          <p:txBody>
            <a:bodyPr wrap="square" lIns="0" tIns="0" rIns="0" bIns="0" rtlCol="0"/>
            <a:lstStyle/>
            <a:p/>
          </p:txBody>
        </p:sp>
        <p:sp>
          <p:nvSpPr>
            <p:cNvPr id="119" name="object 119" descr=""/>
            <p:cNvSpPr/>
            <p:nvPr/>
          </p:nvSpPr>
          <p:spPr>
            <a:xfrm>
              <a:off x="10246640" y="1825938"/>
              <a:ext cx="30480" cy="44450"/>
            </a:xfrm>
            <a:custGeom>
              <a:avLst/>
              <a:gdLst/>
              <a:ahLst/>
              <a:cxnLst/>
              <a:rect l="l" t="t" r="r" b="b"/>
              <a:pathLst>
                <a:path w="30479" h="44450">
                  <a:moveTo>
                    <a:pt x="14959" y="0"/>
                  </a:moveTo>
                  <a:lnTo>
                    <a:pt x="9103" y="1766"/>
                  </a:lnTo>
                  <a:lnTo>
                    <a:pt x="4352" y="6560"/>
                  </a:lnTo>
                  <a:lnTo>
                    <a:pt x="1164" y="13624"/>
                  </a:lnTo>
                  <a:lnTo>
                    <a:pt x="0" y="22203"/>
                  </a:lnTo>
                  <a:lnTo>
                    <a:pt x="1164" y="30714"/>
                  </a:lnTo>
                  <a:lnTo>
                    <a:pt x="4352" y="37630"/>
                  </a:lnTo>
                  <a:lnTo>
                    <a:pt x="9103" y="42275"/>
                  </a:lnTo>
                  <a:lnTo>
                    <a:pt x="14959" y="43974"/>
                  </a:lnTo>
                  <a:lnTo>
                    <a:pt x="20968" y="42275"/>
                  </a:lnTo>
                  <a:lnTo>
                    <a:pt x="25798" y="37630"/>
                  </a:lnTo>
                  <a:lnTo>
                    <a:pt x="29015" y="30714"/>
                  </a:lnTo>
                  <a:lnTo>
                    <a:pt x="30183" y="22203"/>
                  </a:lnTo>
                  <a:lnTo>
                    <a:pt x="29015" y="13624"/>
                  </a:lnTo>
                  <a:lnTo>
                    <a:pt x="25798" y="6560"/>
                  </a:lnTo>
                  <a:lnTo>
                    <a:pt x="20968" y="1766"/>
                  </a:lnTo>
                  <a:lnTo>
                    <a:pt x="14959" y="0"/>
                  </a:lnTo>
                  <a:close/>
                </a:path>
              </a:pathLst>
            </a:custGeom>
            <a:solidFill>
              <a:srgbClr val="000000"/>
            </a:solidFill>
          </p:spPr>
          <p:txBody>
            <a:bodyPr wrap="square" lIns="0" tIns="0" rIns="0" bIns="0" rtlCol="0"/>
            <a:lstStyle/>
            <a:p/>
          </p:txBody>
        </p:sp>
        <p:sp>
          <p:nvSpPr>
            <p:cNvPr id="120" name="object 120" descr=""/>
            <p:cNvSpPr/>
            <p:nvPr/>
          </p:nvSpPr>
          <p:spPr>
            <a:xfrm>
              <a:off x="10246640" y="1825938"/>
              <a:ext cx="30480" cy="44450"/>
            </a:xfrm>
            <a:custGeom>
              <a:avLst/>
              <a:gdLst/>
              <a:ahLst/>
              <a:cxnLst/>
              <a:rect l="l" t="t" r="r" b="b"/>
              <a:pathLst>
                <a:path w="30479" h="44450">
                  <a:moveTo>
                    <a:pt x="14959" y="0"/>
                  </a:moveTo>
                  <a:lnTo>
                    <a:pt x="9103" y="1766"/>
                  </a:lnTo>
                  <a:lnTo>
                    <a:pt x="4352" y="6560"/>
                  </a:lnTo>
                  <a:lnTo>
                    <a:pt x="1164" y="13624"/>
                  </a:lnTo>
                  <a:lnTo>
                    <a:pt x="0" y="22203"/>
                  </a:lnTo>
                  <a:lnTo>
                    <a:pt x="1164" y="30714"/>
                  </a:lnTo>
                  <a:lnTo>
                    <a:pt x="4352" y="37630"/>
                  </a:lnTo>
                  <a:lnTo>
                    <a:pt x="9103" y="42275"/>
                  </a:lnTo>
                  <a:lnTo>
                    <a:pt x="14959" y="43974"/>
                  </a:lnTo>
                  <a:lnTo>
                    <a:pt x="20968" y="42275"/>
                  </a:lnTo>
                  <a:lnTo>
                    <a:pt x="25798" y="37630"/>
                  </a:lnTo>
                  <a:lnTo>
                    <a:pt x="29015" y="30714"/>
                  </a:lnTo>
                  <a:lnTo>
                    <a:pt x="30183" y="22203"/>
                  </a:lnTo>
                  <a:lnTo>
                    <a:pt x="29015" y="13624"/>
                  </a:lnTo>
                  <a:lnTo>
                    <a:pt x="25798" y="6560"/>
                  </a:lnTo>
                  <a:lnTo>
                    <a:pt x="20968" y="1766"/>
                  </a:lnTo>
                  <a:lnTo>
                    <a:pt x="14959" y="0"/>
                  </a:lnTo>
                </a:path>
              </a:pathLst>
            </a:custGeom>
            <a:ln w="10135">
              <a:solidFill>
                <a:srgbClr val="000000"/>
              </a:solidFill>
            </a:ln>
          </p:spPr>
          <p:txBody>
            <a:bodyPr wrap="square" lIns="0" tIns="0" rIns="0" bIns="0" rtlCol="0"/>
            <a:lstStyle/>
            <a:p/>
          </p:txBody>
        </p:sp>
        <p:sp>
          <p:nvSpPr>
            <p:cNvPr id="121" name="object 121" descr=""/>
            <p:cNvSpPr/>
            <p:nvPr/>
          </p:nvSpPr>
          <p:spPr>
            <a:xfrm>
              <a:off x="10529814" y="1695745"/>
              <a:ext cx="31115" cy="44450"/>
            </a:xfrm>
            <a:custGeom>
              <a:avLst/>
              <a:gdLst/>
              <a:ahLst/>
              <a:cxnLst/>
              <a:rect l="l" t="t" r="r" b="b"/>
              <a:pathLst>
                <a:path w="31115" h="44450">
                  <a:moveTo>
                    <a:pt x="15356" y="0"/>
                  </a:moveTo>
                  <a:lnTo>
                    <a:pt x="9438" y="1698"/>
                  </a:lnTo>
                  <a:lnTo>
                    <a:pt x="4550" y="6343"/>
                  </a:lnTo>
                  <a:lnTo>
                    <a:pt x="1226" y="13259"/>
                  </a:lnTo>
                  <a:lnTo>
                    <a:pt x="0" y="21770"/>
                  </a:lnTo>
                  <a:lnTo>
                    <a:pt x="1226" y="30326"/>
                  </a:lnTo>
                  <a:lnTo>
                    <a:pt x="4550" y="37342"/>
                  </a:lnTo>
                  <a:lnTo>
                    <a:pt x="9438" y="42086"/>
                  </a:lnTo>
                  <a:lnTo>
                    <a:pt x="15356" y="43830"/>
                  </a:lnTo>
                  <a:lnTo>
                    <a:pt x="21351" y="42086"/>
                  </a:lnTo>
                  <a:lnTo>
                    <a:pt x="26278" y="37342"/>
                  </a:lnTo>
                  <a:lnTo>
                    <a:pt x="29617" y="30326"/>
                  </a:lnTo>
                  <a:lnTo>
                    <a:pt x="30845" y="21770"/>
                  </a:lnTo>
                  <a:lnTo>
                    <a:pt x="29617" y="13259"/>
                  </a:lnTo>
                  <a:lnTo>
                    <a:pt x="26278" y="6343"/>
                  </a:lnTo>
                  <a:lnTo>
                    <a:pt x="21351" y="1698"/>
                  </a:lnTo>
                  <a:lnTo>
                    <a:pt x="15356" y="0"/>
                  </a:lnTo>
                  <a:close/>
                </a:path>
              </a:pathLst>
            </a:custGeom>
            <a:solidFill>
              <a:srgbClr val="000000"/>
            </a:solidFill>
          </p:spPr>
          <p:txBody>
            <a:bodyPr wrap="square" lIns="0" tIns="0" rIns="0" bIns="0" rtlCol="0"/>
            <a:lstStyle/>
            <a:p/>
          </p:txBody>
        </p:sp>
        <p:sp>
          <p:nvSpPr>
            <p:cNvPr id="122" name="object 122" descr=""/>
            <p:cNvSpPr/>
            <p:nvPr/>
          </p:nvSpPr>
          <p:spPr>
            <a:xfrm>
              <a:off x="10529814" y="1695745"/>
              <a:ext cx="31115" cy="44450"/>
            </a:xfrm>
            <a:custGeom>
              <a:avLst/>
              <a:gdLst/>
              <a:ahLst/>
              <a:cxnLst/>
              <a:rect l="l" t="t" r="r" b="b"/>
              <a:pathLst>
                <a:path w="31115" h="44450">
                  <a:moveTo>
                    <a:pt x="15356" y="0"/>
                  </a:moveTo>
                  <a:lnTo>
                    <a:pt x="9438" y="1698"/>
                  </a:lnTo>
                  <a:lnTo>
                    <a:pt x="4550" y="6343"/>
                  </a:lnTo>
                  <a:lnTo>
                    <a:pt x="1226" y="13259"/>
                  </a:lnTo>
                  <a:lnTo>
                    <a:pt x="0" y="21770"/>
                  </a:lnTo>
                  <a:lnTo>
                    <a:pt x="1226" y="30326"/>
                  </a:lnTo>
                  <a:lnTo>
                    <a:pt x="4550" y="37342"/>
                  </a:lnTo>
                  <a:lnTo>
                    <a:pt x="9438" y="42086"/>
                  </a:lnTo>
                  <a:lnTo>
                    <a:pt x="15356" y="43830"/>
                  </a:lnTo>
                  <a:lnTo>
                    <a:pt x="21351" y="42086"/>
                  </a:lnTo>
                  <a:lnTo>
                    <a:pt x="26278" y="37342"/>
                  </a:lnTo>
                  <a:lnTo>
                    <a:pt x="29617" y="30326"/>
                  </a:lnTo>
                  <a:lnTo>
                    <a:pt x="30845" y="21770"/>
                  </a:lnTo>
                  <a:lnTo>
                    <a:pt x="29617" y="13259"/>
                  </a:lnTo>
                  <a:lnTo>
                    <a:pt x="26278" y="6343"/>
                  </a:lnTo>
                  <a:lnTo>
                    <a:pt x="21351" y="1698"/>
                  </a:lnTo>
                  <a:lnTo>
                    <a:pt x="15356" y="0"/>
                  </a:lnTo>
                </a:path>
              </a:pathLst>
            </a:custGeom>
            <a:ln w="10144">
              <a:solidFill>
                <a:srgbClr val="000000"/>
              </a:solidFill>
            </a:ln>
          </p:spPr>
          <p:txBody>
            <a:bodyPr wrap="square" lIns="0" tIns="0" rIns="0" bIns="0" rtlCol="0"/>
            <a:lstStyle/>
            <a:p/>
          </p:txBody>
        </p:sp>
        <p:sp>
          <p:nvSpPr>
            <p:cNvPr id="123" name="object 123" descr=""/>
            <p:cNvSpPr/>
            <p:nvPr/>
          </p:nvSpPr>
          <p:spPr>
            <a:xfrm>
              <a:off x="10539345" y="1555748"/>
              <a:ext cx="1203325" cy="58419"/>
            </a:xfrm>
            <a:custGeom>
              <a:avLst/>
              <a:gdLst/>
              <a:ahLst/>
              <a:cxnLst/>
              <a:rect l="l" t="t" r="r" b="b"/>
              <a:pathLst>
                <a:path w="1203325" h="58419">
                  <a:moveTo>
                    <a:pt x="1123426" y="0"/>
                  </a:moveTo>
                  <a:lnTo>
                    <a:pt x="1150168" y="29123"/>
                  </a:lnTo>
                  <a:lnTo>
                    <a:pt x="1123426" y="57815"/>
                  </a:lnTo>
                  <a:lnTo>
                    <a:pt x="1183699" y="36044"/>
                  </a:lnTo>
                  <a:lnTo>
                    <a:pt x="1153610" y="36044"/>
                  </a:lnTo>
                  <a:lnTo>
                    <a:pt x="1156788" y="32872"/>
                  </a:lnTo>
                  <a:lnTo>
                    <a:pt x="1156788" y="24942"/>
                  </a:lnTo>
                  <a:lnTo>
                    <a:pt x="1153610" y="21770"/>
                  </a:lnTo>
                  <a:lnTo>
                    <a:pt x="1182803" y="21770"/>
                  </a:lnTo>
                  <a:lnTo>
                    <a:pt x="1123426" y="0"/>
                  </a:lnTo>
                  <a:close/>
                </a:path>
                <a:path w="1203325" h="58419">
                  <a:moveTo>
                    <a:pt x="1143417" y="21770"/>
                  </a:moveTo>
                  <a:lnTo>
                    <a:pt x="2912" y="21770"/>
                  </a:lnTo>
                  <a:lnTo>
                    <a:pt x="0" y="24942"/>
                  </a:lnTo>
                  <a:lnTo>
                    <a:pt x="0" y="32872"/>
                  </a:lnTo>
                  <a:lnTo>
                    <a:pt x="2912" y="36044"/>
                  </a:lnTo>
                  <a:lnTo>
                    <a:pt x="1143718" y="36044"/>
                  </a:lnTo>
                  <a:lnTo>
                    <a:pt x="1150168" y="29123"/>
                  </a:lnTo>
                  <a:lnTo>
                    <a:pt x="1143417" y="21770"/>
                  </a:lnTo>
                  <a:close/>
                </a:path>
                <a:path w="1203325" h="58419">
                  <a:moveTo>
                    <a:pt x="1182803" y="21770"/>
                  </a:moveTo>
                  <a:lnTo>
                    <a:pt x="1153610" y="21770"/>
                  </a:lnTo>
                  <a:lnTo>
                    <a:pt x="1156788" y="24942"/>
                  </a:lnTo>
                  <a:lnTo>
                    <a:pt x="1156788" y="32872"/>
                  </a:lnTo>
                  <a:lnTo>
                    <a:pt x="1153610" y="36044"/>
                  </a:lnTo>
                  <a:lnTo>
                    <a:pt x="1183699" y="36044"/>
                  </a:lnTo>
                  <a:lnTo>
                    <a:pt x="1202858" y="29123"/>
                  </a:lnTo>
                  <a:lnTo>
                    <a:pt x="1182803" y="21770"/>
                  </a:lnTo>
                  <a:close/>
                </a:path>
              </a:pathLst>
            </a:custGeom>
            <a:solidFill>
              <a:srgbClr val="000000"/>
            </a:solidFill>
          </p:spPr>
          <p:txBody>
            <a:bodyPr wrap="square" lIns="0" tIns="0" rIns="0" bIns="0" rtlCol="0"/>
            <a:lstStyle/>
            <a:p/>
          </p:txBody>
        </p:sp>
        <p:sp>
          <p:nvSpPr>
            <p:cNvPr id="124" name="object 124" descr=""/>
            <p:cNvSpPr/>
            <p:nvPr/>
          </p:nvSpPr>
          <p:spPr>
            <a:xfrm>
              <a:off x="10539345" y="1555749"/>
              <a:ext cx="1203325" cy="58419"/>
            </a:xfrm>
            <a:custGeom>
              <a:avLst/>
              <a:gdLst/>
              <a:ahLst/>
              <a:cxnLst/>
              <a:rect l="l" t="t" r="r" b="b"/>
              <a:pathLst>
                <a:path w="1203325" h="58419">
                  <a:moveTo>
                    <a:pt x="6354" y="21770"/>
                  </a:moveTo>
                  <a:lnTo>
                    <a:pt x="1150168" y="21770"/>
                  </a:lnTo>
                  <a:lnTo>
                    <a:pt x="1153610" y="21770"/>
                  </a:lnTo>
                  <a:lnTo>
                    <a:pt x="1156788" y="24942"/>
                  </a:lnTo>
                  <a:lnTo>
                    <a:pt x="1156788" y="29123"/>
                  </a:lnTo>
                  <a:lnTo>
                    <a:pt x="1156788" y="32872"/>
                  </a:lnTo>
                  <a:lnTo>
                    <a:pt x="1153610" y="36044"/>
                  </a:lnTo>
                  <a:lnTo>
                    <a:pt x="1150168" y="36044"/>
                  </a:lnTo>
                  <a:lnTo>
                    <a:pt x="6354" y="36044"/>
                  </a:lnTo>
                  <a:lnTo>
                    <a:pt x="2912" y="36044"/>
                  </a:lnTo>
                  <a:lnTo>
                    <a:pt x="0" y="32872"/>
                  </a:lnTo>
                  <a:lnTo>
                    <a:pt x="0" y="29123"/>
                  </a:lnTo>
                  <a:lnTo>
                    <a:pt x="0" y="24942"/>
                  </a:lnTo>
                  <a:lnTo>
                    <a:pt x="2912" y="21770"/>
                  </a:lnTo>
                  <a:lnTo>
                    <a:pt x="6354" y="21770"/>
                  </a:lnTo>
                  <a:close/>
                </a:path>
                <a:path w="1203325" h="58419">
                  <a:moveTo>
                    <a:pt x="1150168" y="29123"/>
                  </a:moveTo>
                  <a:lnTo>
                    <a:pt x="1123426" y="0"/>
                  </a:lnTo>
                  <a:lnTo>
                    <a:pt x="1202858" y="29123"/>
                  </a:lnTo>
                  <a:lnTo>
                    <a:pt x="1123426" y="57815"/>
                  </a:lnTo>
                  <a:lnTo>
                    <a:pt x="1150168" y="29123"/>
                  </a:lnTo>
                  <a:close/>
                </a:path>
              </a:pathLst>
            </a:custGeom>
            <a:ln w="3175">
              <a:solidFill>
                <a:srgbClr val="000000"/>
              </a:solidFill>
            </a:ln>
          </p:spPr>
          <p:txBody>
            <a:bodyPr wrap="square" lIns="0" tIns="0" rIns="0" bIns="0" rtlCol="0"/>
            <a:lstStyle/>
            <a:p/>
          </p:txBody>
        </p:sp>
        <p:sp>
          <p:nvSpPr>
            <p:cNvPr id="125" name="object 125" descr=""/>
            <p:cNvSpPr/>
            <p:nvPr/>
          </p:nvSpPr>
          <p:spPr>
            <a:xfrm>
              <a:off x="10529814" y="1567571"/>
              <a:ext cx="31115" cy="44450"/>
            </a:xfrm>
            <a:custGeom>
              <a:avLst/>
              <a:gdLst/>
              <a:ahLst/>
              <a:cxnLst/>
              <a:rect l="l" t="t" r="r" b="b"/>
              <a:pathLst>
                <a:path w="31115" h="44450">
                  <a:moveTo>
                    <a:pt x="15356" y="0"/>
                  </a:moveTo>
                  <a:lnTo>
                    <a:pt x="9438" y="1698"/>
                  </a:lnTo>
                  <a:lnTo>
                    <a:pt x="4550" y="6343"/>
                  </a:lnTo>
                  <a:lnTo>
                    <a:pt x="1226" y="13259"/>
                  </a:lnTo>
                  <a:lnTo>
                    <a:pt x="0" y="21770"/>
                  </a:lnTo>
                  <a:lnTo>
                    <a:pt x="1226" y="30448"/>
                  </a:lnTo>
                  <a:lnTo>
                    <a:pt x="4550" y="37450"/>
                  </a:lnTo>
                  <a:lnTo>
                    <a:pt x="9438" y="42126"/>
                  </a:lnTo>
                  <a:lnTo>
                    <a:pt x="15356" y="43830"/>
                  </a:lnTo>
                  <a:lnTo>
                    <a:pt x="21351" y="42126"/>
                  </a:lnTo>
                  <a:lnTo>
                    <a:pt x="26278" y="37450"/>
                  </a:lnTo>
                  <a:lnTo>
                    <a:pt x="29617" y="30448"/>
                  </a:lnTo>
                  <a:lnTo>
                    <a:pt x="30845" y="21770"/>
                  </a:lnTo>
                  <a:lnTo>
                    <a:pt x="29617" y="13259"/>
                  </a:lnTo>
                  <a:lnTo>
                    <a:pt x="26278" y="6343"/>
                  </a:lnTo>
                  <a:lnTo>
                    <a:pt x="21351" y="1698"/>
                  </a:lnTo>
                  <a:lnTo>
                    <a:pt x="15356" y="0"/>
                  </a:lnTo>
                  <a:close/>
                </a:path>
              </a:pathLst>
            </a:custGeom>
            <a:solidFill>
              <a:srgbClr val="000000"/>
            </a:solidFill>
          </p:spPr>
          <p:txBody>
            <a:bodyPr wrap="square" lIns="0" tIns="0" rIns="0" bIns="0" rtlCol="0"/>
            <a:lstStyle/>
            <a:p/>
          </p:txBody>
        </p:sp>
        <p:sp>
          <p:nvSpPr>
            <p:cNvPr id="126" name="object 126" descr=""/>
            <p:cNvSpPr/>
            <p:nvPr/>
          </p:nvSpPr>
          <p:spPr>
            <a:xfrm>
              <a:off x="10529814" y="1567571"/>
              <a:ext cx="31115" cy="44450"/>
            </a:xfrm>
            <a:custGeom>
              <a:avLst/>
              <a:gdLst/>
              <a:ahLst/>
              <a:cxnLst/>
              <a:rect l="l" t="t" r="r" b="b"/>
              <a:pathLst>
                <a:path w="31115" h="44450">
                  <a:moveTo>
                    <a:pt x="15356" y="0"/>
                  </a:moveTo>
                  <a:lnTo>
                    <a:pt x="9438" y="1698"/>
                  </a:lnTo>
                  <a:lnTo>
                    <a:pt x="4550" y="6343"/>
                  </a:lnTo>
                  <a:lnTo>
                    <a:pt x="1226" y="13259"/>
                  </a:lnTo>
                  <a:lnTo>
                    <a:pt x="0" y="21770"/>
                  </a:lnTo>
                  <a:lnTo>
                    <a:pt x="1226" y="30448"/>
                  </a:lnTo>
                  <a:lnTo>
                    <a:pt x="4550" y="37450"/>
                  </a:lnTo>
                  <a:lnTo>
                    <a:pt x="9438" y="42126"/>
                  </a:lnTo>
                  <a:lnTo>
                    <a:pt x="15356" y="43830"/>
                  </a:lnTo>
                  <a:lnTo>
                    <a:pt x="21351" y="42126"/>
                  </a:lnTo>
                  <a:lnTo>
                    <a:pt x="26278" y="37450"/>
                  </a:lnTo>
                  <a:lnTo>
                    <a:pt x="29617" y="30448"/>
                  </a:lnTo>
                  <a:lnTo>
                    <a:pt x="30845" y="21770"/>
                  </a:lnTo>
                  <a:lnTo>
                    <a:pt x="29617" y="13259"/>
                  </a:lnTo>
                  <a:lnTo>
                    <a:pt x="26278" y="6343"/>
                  </a:lnTo>
                  <a:lnTo>
                    <a:pt x="21351" y="1698"/>
                  </a:lnTo>
                  <a:lnTo>
                    <a:pt x="15356" y="0"/>
                  </a:lnTo>
                </a:path>
              </a:pathLst>
            </a:custGeom>
            <a:ln w="10144">
              <a:solidFill>
                <a:srgbClr val="000000"/>
              </a:solidFill>
            </a:ln>
          </p:spPr>
          <p:txBody>
            <a:bodyPr wrap="square" lIns="0" tIns="0" rIns="0" bIns="0" rtlCol="0"/>
            <a:lstStyle/>
            <a:p/>
          </p:txBody>
        </p:sp>
        <p:sp>
          <p:nvSpPr>
            <p:cNvPr id="127" name="object 127" descr=""/>
            <p:cNvSpPr/>
            <p:nvPr/>
          </p:nvSpPr>
          <p:spPr>
            <a:xfrm>
              <a:off x="10769829" y="2828031"/>
              <a:ext cx="53340" cy="365125"/>
            </a:xfrm>
            <a:custGeom>
              <a:avLst/>
              <a:gdLst/>
              <a:ahLst/>
              <a:cxnLst/>
              <a:rect l="l" t="t" r="r" b="b"/>
              <a:pathLst>
                <a:path w="53340" h="365125">
                  <a:moveTo>
                    <a:pt x="0" y="278162"/>
                  </a:moveTo>
                  <a:lnTo>
                    <a:pt x="26344" y="364539"/>
                  </a:lnTo>
                  <a:lnTo>
                    <a:pt x="41963" y="314091"/>
                  </a:lnTo>
                  <a:lnTo>
                    <a:pt x="22902" y="314091"/>
                  </a:lnTo>
                  <a:lnTo>
                    <a:pt x="19725" y="310991"/>
                  </a:lnTo>
                  <a:lnTo>
                    <a:pt x="19725" y="299634"/>
                  </a:lnTo>
                  <a:lnTo>
                    <a:pt x="0" y="278162"/>
                  </a:lnTo>
                  <a:close/>
                </a:path>
                <a:path w="53340" h="365125">
                  <a:moveTo>
                    <a:pt x="19725" y="299634"/>
                  </a:moveTo>
                  <a:lnTo>
                    <a:pt x="19725" y="310991"/>
                  </a:lnTo>
                  <a:lnTo>
                    <a:pt x="22902" y="314091"/>
                  </a:lnTo>
                  <a:lnTo>
                    <a:pt x="30183" y="314091"/>
                  </a:lnTo>
                  <a:lnTo>
                    <a:pt x="33096" y="310991"/>
                  </a:lnTo>
                  <a:lnTo>
                    <a:pt x="33096" y="306839"/>
                  </a:lnTo>
                  <a:lnTo>
                    <a:pt x="26344" y="306839"/>
                  </a:lnTo>
                  <a:lnTo>
                    <a:pt x="19725" y="299634"/>
                  </a:lnTo>
                  <a:close/>
                </a:path>
                <a:path w="53340" h="365125">
                  <a:moveTo>
                    <a:pt x="53086" y="278162"/>
                  </a:moveTo>
                  <a:lnTo>
                    <a:pt x="33096" y="299634"/>
                  </a:lnTo>
                  <a:lnTo>
                    <a:pt x="33096" y="310991"/>
                  </a:lnTo>
                  <a:lnTo>
                    <a:pt x="30183" y="314091"/>
                  </a:lnTo>
                  <a:lnTo>
                    <a:pt x="41963" y="314091"/>
                  </a:lnTo>
                  <a:lnTo>
                    <a:pt x="53086" y="278162"/>
                  </a:lnTo>
                  <a:close/>
                </a:path>
                <a:path w="53340" h="365125">
                  <a:moveTo>
                    <a:pt x="30183" y="0"/>
                  </a:moveTo>
                  <a:lnTo>
                    <a:pt x="22902" y="0"/>
                  </a:lnTo>
                  <a:lnTo>
                    <a:pt x="19725" y="3114"/>
                  </a:lnTo>
                  <a:lnTo>
                    <a:pt x="19725" y="299634"/>
                  </a:lnTo>
                  <a:lnTo>
                    <a:pt x="26344" y="306839"/>
                  </a:lnTo>
                  <a:lnTo>
                    <a:pt x="33063" y="299634"/>
                  </a:lnTo>
                  <a:lnTo>
                    <a:pt x="33096" y="3114"/>
                  </a:lnTo>
                  <a:lnTo>
                    <a:pt x="30183" y="0"/>
                  </a:lnTo>
                  <a:close/>
                </a:path>
                <a:path w="53340" h="365125">
                  <a:moveTo>
                    <a:pt x="33096" y="299634"/>
                  </a:moveTo>
                  <a:lnTo>
                    <a:pt x="26344" y="306839"/>
                  </a:lnTo>
                  <a:lnTo>
                    <a:pt x="33096" y="306839"/>
                  </a:lnTo>
                  <a:lnTo>
                    <a:pt x="33096" y="299634"/>
                  </a:lnTo>
                  <a:close/>
                </a:path>
              </a:pathLst>
            </a:custGeom>
            <a:solidFill>
              <a:srgbClr val="000000"/>
            </a:solidFill>
          </p:spPr>
          <p:txBody>
            <a:bodyPr wrap="square" lIns="0" tIns="0" rIns="0" bIns="0" rtlCol="0"/>
            <a:lstStyle/>
            <a:p/>
          </p:txBody>
        </p:sp>
        <p:sp>
          <p:nvSpPr>
            <p:cNvPr id="128" name="object 128" descr=""/>
            <p:cNvSpPr/>
            <p:nvPr/>
          </p:nvSpPr>
          <p:spPr>
            <a:xfrm>
              <a:off x="10769829" y="2828031"/>
              <a:ext cx="53340" cy="365125"/>
            </a:xfrm>
            <a:custGeom>
              <a:avLst/>
              <a:gdLst/>
              <a:ahLst/>
              <a:cxnLst/>
              <a:rect l="l" t="t" r="r" b="b"/>
              <a:pathLst>
                <a:path w="53340" h="365125">
                  <a:moveTo>
                    <a:pt x="33096" y="6920"/>
                  </a:moveTo>
                  <a:lnTo>
                    <a:pt x="33096" y="306839"/>
                  </a:lnTo>
                  <a:lnTo>
                    <a:pt x="33096" y="310991"/>
                  </a:lnTo>
                  <a:lnTo>
                    <a:pt x="30183" y="314091"/>
                  </a:lnTo>
                  <a:lnTo>
                    <a:pt x="26344" y="314091"/>
                  </a:lnTo>
                  <a:lnTo>
                    <a:pt x="22902" y="314091"/>
                  </a:lnTo>
                  <a:lnTo>
                    <a:pt x="19725" y="310991"/>
                  </a:lnTo>
                  <a:lnTo>
                    <a:pt x="19725" y="306839"/>
                  </a:lnTo>
                  <a:lnTo>
                    <a:pt x="19725" y="6920"/>
                  </a:lnTo>
                  <a:lnTo>
                    <a:pt x="19725" y="3114"/>
                  </a:lnTo>
                  <a:lnTo>
                    <a:pt x="22902" y="0"/>
                  </a:lnTo>
                  <a:lnTo>
                    <a:pt x="26344" y="0"/>
                  </a:lnTo>
                  <a:lnTo>
                    <a:pt x="30183" y="0"/>
                  </a:lnTo>
                  <a:lnTo>
                    <a:pt x="33096" y="3114"/>
                  </a:lnTo>
                  <a:lnTo>
                    <a:pt x="33096" y="6920"/>
                  </a:lnTo>
                  <a:close/>
                </a:path>
                <a:path w="53340" h="365125">
                  <a:moveTo>
                    <a:pt x="26344" y="306839"/>
                  </a:moveTo>
                  <a:lnTo>
                    <a:pt x="53086" y="278162"/>
                  </a:lnTo>
                  <a:lnTo>
                    <a:pt x="26344" y="364539"/>
                  </a:lnTo>
                  <a:lnTo>
                    <a:pt x="0" y="278162"/>
                  </a:lnTo>
                  <a:lnTo>
                    <a:pt x="26344" y="306839"/>
                  </a:lnTo>
                  <a:close/>
                </a:path>
              </a:pathLst>
            </a:custGeom>
            <a:ln w="3175">
              <a:solidFill>
                <a:srgbClr val="000000"/>
              </a:solidFill>
            </a:ln>
          </p:spPr>
          <p:txBody>
            <a:bodyPr wrap="square" lIns="0" tIns="0" rIns="0" bIns="0" rtlCol="0"/>
            <a:lstStyle/>
            <a:p/>
          </p:txBody>
        </p:sp>
      </p:grpSp>
      <p:sp>
        <p:nvSpPr>
          <p:cNvPr id="129" name="object 129" descr=""/>
          <p:cNvSpPr txBox="1"/>
          <p:nvPr/>
        </p:nvSpPr>
        <p:spPr>
          <a:xfrm>
            <a:off x="9884971" y="2410044"/>
            <a:ext cx="144780" cy="181610"/>
          </a:xfrm>
          <a:prstGeom prst="rect">
            <a:avLst/>
          </a:prstGeom>
        </p:spPr>
        <p:txBody>
          <a:bodyPr wrap="square" lIns="0" tIns="15240" rIns="0" bIns="0" rtlCol="0" vert="horz">
            <a:spAutoFit/>
          </a:bodyPr>
          <a:lstStyle/>
          <a:p>
            <a:pPr marL="12700">
              <a:lnSpc>
                <a:spcPct val="100000"/>
              </a:lnSpc>
              <a:spcBef>
                <a:spcPts val="120"/>
              </a:spcBef>
            </a:pPr>
            <a:r>
              <a:rPr dirty="0" sz="1000" spc="-50" b="1">
                <a:latin typeface="宋体"/>
                <a:cs typeface="宋体"/>
              </a:rPr>
              <a:t>保</a:t>
            </a:r>
            <a:endParaRPr sz="1000">
              <a:latin typeface="宋体"/>
              <a:cs typeface="宋体"/>
            </a:endParaRPr>
          </a:p>
        </p:txBody>
      </p:sp>
      <p:sp>
        <p:nvSpPr>
          <p:cNvPr id="130" name="object 130" descr=""/>
          <p:cNvSpPr txBox="1"/>
          <p:nvPr/>
        </p:nvSpPr>
        <p:spPr>
          <a:xfrm>
            <a:off x="9884971" y="2545572"/>
            <a:ext cx="440690" cy="314325"/>
          </a:xfrm>
          <a:prstGeom prst="rect">
            <a:avLst/>
          </a:prstGeom>
        </p:spPr>
        <p:txBody>
          <a:bodyPr wrap="square" lIns="0" tIns="15240" rIns="0" bIns="0" rtlCol="0" vert="horz">
            <a:spAutoFit/>
          </a:bodyPr>
          <a:lstStyle/>
          <a:p>
            <a:pPr marL="12700">
              <a:lnSpc>
                <a:spcPts val="1125"/>
              </a:lnSpc>
              <a:spcBef>
                <a:spcPts val="120"/>
              </a:spcBef>
              <a:tabLst>
                <a:tab pos="367665" algn="l"/>
              </a:tabLst>
            </a:pPr>
            <a:r>
              <a:rPr dirty="0" baseline="2777" sz="1500" spc="-75" b="1">
                <a:latin typeface="宋体"/>
                <a:cs typeface="宋体"/>
              </a:rPr>
              <a:t>留</a:t>
            </a:r>
            <a:r>
              <a:rPr dirty="0" baseline="2777" sz="1500" b="1">
                <a:latin typeface="宋体"/>
                <a:cs typeface="宋体"/>
              </a:rPr>
              <a:t>	</a:t>
            </a:r>
            <a:r>
              <a:rPr dirty="0" sz="1000" spc="-50">
                <a:latin typeface="Times New Roman"/>
                <a:cs typeface="Times New Roman"/>
              </a:rPr>
              <a:t>2</a:t>
            </a:r>
            <a:endParaRPr sz="1000">
              <a:latin typeface="Times New Roman"/>
              <a:cs typeface="Times New Roman"/>
            </a:endParaRPr>
          </a:p>
          <a:p>
            <a:pPr marL="12700">
              <a:lnSpc>
                <a:spcPts val="1125"/>
              </a:lnSpc>
              <a:tabLst>
                <a:tab pos="367665" algn="l"/>
              </a:tabLst>
            </a:pPr>
            <a:r>
              <a:rPr dirty="0" baseline="5555" sz="1500" spc="-75" b="1">
                <a:latin typeface="宋体"/>
                <a:cs typeface="宋体"/>
              </a:rPr>
              <a:t>站</a:t>
            </a:r>
            <a:r>
              <a:rPr dirty="0" baseline="5555" sz="1500" b="1">
                <a:latin typeface="宋体"/>
                <a:cs typeface="宋体"/>
              </a:rPr>
              <a:t>	</a:t>
            </a:r>
            <a:r>
              <a:rPr dirty="0" sz="1000" spc="-50">
                <a:latin typeface="Times New Roman"/>
                <a:cs typeface="Times New Roman"/>
              </a:rPr>
              <a:t>1</a:t>
            </a:r>
            <a:endParaRPr sz="1000">
              <a:latin typeface="Times New Roman"/>
              <a:cs typeface="Times New Roman"/>
            </a:endParaRPr>
          </a:p>
        </p:txBody>
      </p:sp>
      <p:sp>
        <p:nvSpPr>
          <p:cNvPr id="131" name="object 131" descr=""/>
          <p:cNvSpPr txBox="1"/>
          <p:nvPr/>
        </p:nvSpPr>
        <p:spPr>
          <a:xfrm>
            <a:off x="8571172" y="2894914"/>
            <a:ext cx="267335" cy="181610"/>
          </a:xfrm>
          <a:prstGeom prst="rect">
            <a:avLst/>
          </a:prstGeom>
        </p:spPr>
        <p:txBody>
          <a:bodyPr wrap="square" lIns="0" tIns="15240" rIns="0" bIns="0" rtlCol="0" vert="horz">
            <a:spAutoFit/>
          </a:bodyPr>
          <a:lstStyle/>
          <a:p>
            <a:pPr marL="12700">
              <a:lnSpc>
                <a:spcPct val="100000"/>
              </a:lnSpc>
              <a:spcBef>
                <a:spcPts val="120"/>
              </a:spcBef>
            </a:pPr>
            <a:r>
              <a:rPr dirty="0" sz="1000" spc="-55" b="1">
                <a:latin typeface="宋体"/>
                <a:cs typeface="宋体"/>
              </a:rPr>
              <a:t>标识</a:t>
            </a:r>
            <a:endParaRPr sz="1000">
              <a:latin typeface="宋体"/>
              <a:cs typeface="宋体"/>
            </a:endParaRPr>
          </a:p>
        </p:txBody>
      </p:sp>
      <p:sp>
        <p:nvSpPr>
          <p:cNvPr id="132" name="object 132" descr=""/>
          <p:cNvSpPr txBox="1"/>
          <p:nvPr/>
        </p:nvSpPr>
        <p:spPr>
          <a:xfrm>
            <a:off x="10312180" y="2841353"/>
            <a:ext cx="267335" cy="181610"/>
          </a:xfrm>
          <a:prstGeom prst="rect">
            <a:avLst/>
          </a:prstGeom>
        </p:spPr>
        <p:txBody>
          <a:bodyPr wrap="square" lIns="0" tIns="15240" rIns="0" bIns="0" rtlCol="0" vert="horz">
            <a:spAutoFit/>
          </a:bodyPr>
          <a:lstStyle/>
          <a:p>
            <a:pPr marL="12700">
              <a:lnSpc>
                <a:spcPct val="100000"/>
              </a:lnSpc>
              <a:spcBef>
                <a:spcPts val="120"/>
              </a:spcBef>
            </a:pPr>
            <a:r>
              <a:rPr dirty="0" sz="1000" spc="-55" b="1">
                <a:latin typeface="宋体"/>
                <a:cs typeface="宋体"/>
              </a:rPr>
              <a:t>标识</a:t>
            </a:r>
            <a:endParaRPr sz="1000">
              <a:latin typeface="宋体"/>
              <a:cs typeface="宋体"/>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69/175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745642" y="1134084"/>
            <a:ext cx="9317355" cy="1383030"/>
          </a:xfrm>
          <a:prstGeom prst="rect">
            <a:avLst/>
          </a:prstGeom>
        </p:spPr>
        <p:txBody>
          <a:bodyPr wrap="square" lIns="0" tIns="127635" rIns="0" bIns="0" rtlCol="0" vert="horz">
            <a:spAutoFit/>
          </a:bodyPr>
          <a:lstStyle/>
          <a:p>
            <a:pPr marL="911860" indent="-899160">
              <a:lnSpc>
                <a:spcPct val="100000"/>
              </a:lnSpc>
              <a:spcBef>
                <a:spcPts val="1005"/>
              </a:spcBef>
              <a:buSzPct val="89583"/>
              <a:buFont typeface="Wingdings"/>
              <a:buChar char=""/>
              <a:tabLst>
                <a:tab pos="911860" algn="l"/>
              </a:tabLst>
            </a:pPr>
            <a:r>
              <a:rPr dirty="0" sz="2400">
                <a:solidFill>
                  <a:srgbClr val="40458B"/>
                </a:solidFill>
                <a:latin typeface="黑体"/>
                <a:cs typeface="黑体"/>
              </a:rPr>
              <a:t>浮点寄存器</a:t>
            </a:r>
            <a:r>
              <a:rPr dirty="0" sz="2400" spc="-25">
                <a:solidFill>
                  <a:srgbClr val="9933FF"/>
                </a:solidFill>
                <a:latin typeface="黑体"/>
                <a:cs typeface="黑体"/>
              </a:rPr>
              <a:t>FP</a:t>
            </a:r>
            <a:endParaRPr sz="2400">
              <a:latin typeface="黑体"/>
              <a:cs typeface="黑体"/>
            </a:endParaRPr>
          </a:p>
          <a:p>
            <a:pPr lvl="1" marL="869315" indent="-457834">
              <a:lnSpc>
                <a:spcPct val="100000"/>
              </a:lnSpc>
              <a:spcBef>
                <a:spcPts val="830"/>
              </a:spcBef>
              <a:buClr>
                <a:srgbClr val="4668F5"/>
              </a:buClr>
              <a:buSzPct val="68181"/>
              <a:buFont typeface="Wingdings"/>
              <a:buChar char=""/>
              <a:tabLst>
                <a:tab pos="869315" algn="l"/>
              </a:tabLst>
            </a:pPr>
            <a:r>
              <a:rPr dirty="0" sz="2200" spc="-20" b="1">
                <a:solidFill>
                  <a:srgbClr val="9966FF"/>
                </a:solidFill>
                <a:latin typeface="宋体"/>
                <a:cs typeface="宋体"/>
              </a:rPr>
              <a:t>共有</a:t>
            </a:r>
            <a:r>
              <a:rPr dirty="0" sz="2200" spc="-10" b="1">
                <a:solidFill>
                  <a:srgbClr val="9933FF"/>
                </a:solidFill>
                <a:latin typeface="宋体"/>
                <a:cs typeface="宋体"/>
              </a:rPr>
              <a:t>16</a:t>
            </a:r>
            <a:r>
              <a:rPr dirty="0" sz="2200" spc="-20" b="1">
                <a:solidFill>
                  <a:srgbClr val="9966FF"/>
                </a:solidFill>
                <a:latin typeface="宋体"/>
                <a:cs typeface="宋体"/>
              </a:rPr>
              <a:t>个浮点寄存器：</a:t>
            </a:r>
            <a:r>
              <a:rPr dirty="0" sz="2200" spc="-10" b="1">
                <a:solidFill>
                  <a:srgbClr val="D50092"/>
                </a:solidFill>
                <a:latin typeface="宋体"/>
                <a:cs typeface="宋体"/>
              </a:rPr>
              <a:t>F0，F2，F4，…，F30</a:t>
            </a:r>
            <a:r>
              <a:rPr dirty="0" sz="2200" spc="-50" b="1">
                <a:solidFill>
                  <a:srgbClr val="D50092"/>
                </a:solidFill>
                <a:latin typeface="宋体"/>
                <a:cs typeface="宋体"/>
              </a:rPr>
              <a:t>。</a:t>
            </a:r>
            <a:endParaRPr sz="2200">
              <a:latin typeface="宋体"/>
              <a:cs typeface="宋体"/>
            </a:endParaRPr>
          </a:p>
          <a:p>
            <a:pPr lvl="1" marL="869315" indent="-457834">
              <a:lnSpc>
                <a:spcPct val="100000"/>
              </a:lnSpc>
              <a:spcBef>
                <a:spcPts val="790"/>
              </a:spcBef>
              <a:buClr>
                <a:srgbClr val="4668F5"/>
              </a:buClr>
              <a:buSzPct val="68181"/>
              <a:buFont typeface="Wingdings"/>
              <a:buChar char=""/>
              <a:tabLst>
                <a:tab pos="869315" algn="l"/>
              </a:tabLst>
            </a:pPr>
            <a:r>
              <a:rPr dirty="0" sz="2200" spc="-25" b="1">
                <a:solidFill>
                  <a:srgbClr val="9966FF"/>
                </a:solidFill>
                <a:latin typeface="宋体"/>
                <a:cs typeface="宋体"/>
              </a:rPr>
              <a:t>它们通过一对总线连接到功能部件，并通过</a:t>
            </a:r>
            <a:r>
              <a:rPr dirty="0" sz="2200" spc="-10" b="1">
                <a:solidFill>
                  <a:srgbClr val="9933FF"/>
                </a:solidFill>
                <a:latin typeface="宋体"/>
                <a:cs typeface="宋体"/>
              </a:rPr>
              <a:t>CDB</a:t>
            </a:r>
            <a:r>
              <a:rPr dirty="0" sz="2200" spc="-20" b="1">
                <a:solidFill>
                  <a:srgbClr val="9966FF"/>
                </a:solidFill>
                <a:latin typeface="宋体"/>
                <a:cs typeface="宋体"/>
              </a:rPr>
              <a:t>连接到</a:t>
            </a:r>
            <a:r>
              <a:rPr dirty="0" sz="2200" spc="-10" b="1">
                <a:solidFill>
                  <a:srgbClr val="9933FF"/>
                </a:solidFill>
                <a:latin typeface="宋体"/>
                <a:cs typeface="宋体"/>
              </a:rPr>
              <a:t>store</a:t>
            </a:r>
            <a:r>
              <a:rPr dirty="0" sz="2200" spc="-30" b="1">
                <a:solidFill>
                  <a:srgbClr val="9966FF"/>
                </a:solidFill>
                <a:latin typeface="宋体"/>
                <a:cs typeface="宋体"/>
              </a:rPr>
              <a:t>缓冲器。</a:t>
            </a:r>
            <a:endParaRPr sz="2200">
              <a:latin typeface="宋体"/>
              <a:cs typeface="宋体"/>
            </a:endParaRPr>
          </a:p>
        </p:txBody>
      </p:sp>
      <p:sp>
        <p:nvSpPr>
          <p:cNvPr id="11" name="object 11" descr=""/>
          <p:cNvSpPr txBox="1"/>
          <p:nvPr/>
        </p:nvSpPr>
        <p:spPr>
          <a:xfrm>
            <a:off x="745642" y="2481820"/>
            <a:ext cx="5088255" cy="946785"/>
          </a:xfrm>
          <a:prstGeom prst="rect">
            <a:avLst/>
          </a:prstGeom>
        </p:spPr>
        <p:txBody>
          <a:bodyPr wrap="square" lIns="0" tIns="127635" rIns="0" bIns="0" rtlCol="0" vert="horz">
            <a:spAutoFit/>
          </a:bodyPr>
          <a:lstStyle/>
          <a:p>
            <a:pPr marL="911860" indent="-899160">
              <a:lnSpc>
                <a:spcPct val="100000"/>
              </a:lnSpc>
              <a:spcBef>
                <a:spcPts val="1005"/>
              </a:spcBef>
              <a:buSzPct val="89583"/>
              <a:buFont typeface="Wingdings"/>
              <a:buChar char=""/>
              <a:tabLst>
                <a:tab pos="911860" algn="l"/>
              </a:tabLst>
            </a:pPr>
            <a:r>
              <a:rPr dirty="0" sz="2400" spc="-15">
                <a:solidFill>
                  <a:srgbClr val="40458B"/>
                </a:solidFill>
                <a:latin typeface="黑体"/>
                <a:cs typeface="黑体"/>
              </a:rPr>
              <a:t>指令队列</a:t>
            </a:r>
            <a:endParaRPr sz="2400">
              <a:latin typeface="黑体"/>
              <a:cs typeface="黑体"/>
            </a:endParaRPr>
          </a:p>
          <a:p>
            <a:pPr lvl="1" marL="869315" indent="-457834">
              <a:lnSpc>
                <a:spcPct val="100000"/>
              </a:lnSpc>
              <a:spcBef>
                <a:spcPts val="825"/>
              </a:spcBef>
              <a:buClr>
                <a:srgbClr val="4668F5"/>
              </a:buClr>
              <a:buSzPct val="68181"/>
              <a:buFont typeface="Wingdings"/>
              <a:buChar char=""/>
              <a:tabLst>
                <a:tab pos="869315" algn="l"/>
              </a:tabLst>
            </a:pPr>
            <a:r>
              <a:rPr dirty="0" sz="2200" spc="-25" b="1">
                <a:solidFill>
                  <a:srgbClr val="9966FF"/>
                </a:solidFill>
                <a:latin typeface="宋体"/>
                <a:cs typeface="宋体"/>
              </a:rPr>
              <a:t>指令部件送来的指令放入指令队列</a:t>
            </a:r>
            <a:endParaRPr sz="2200">
              <a:latin typeface="宋体"/>
              <a:cs typeface="宋体"/>
            </a:endParaRPr>
          </a:p>
        </p:txBody>
      </p:sp>
      <p:sp>
        <p:nvSpPr>
          <p:cNvPr id="12" name="object 12" descr=""/>
          <p:cNvSpPr txBox="1"/>
          <p:nvPr/>
        </p:nvSpPr>
        <p:spPr>
          <a:xfrm>
            <a:off x="1144930" y="3504057"/>
            <a:ext cx="5531485" cy="360680"/>
          </a:xfrm>
          <a:prstGeom prst="rect">
            <a:avLst/>
          </a:prstGeom>
        </p:spPr>
        <p:txBody>
          <a:bodyPr wrap="square" lIns="0" tIns="12065" rIns="0" bIns="0" rtlCol="0" vert="horz">
            <a:spAutoFit/>
          </a:bodyPr>
          <a:lstStyle/>
          <a:p>
            <a:pPr marL="469900" indent="-457200">
              <a:lnSpc>
                <a:spcPct val="100000"/>
              </a:lnSpc>
              <a:spcBef>
                <a:spcPts val="95"/>
              </a:spcBef>
              <a:buClr>
                <a:srgbClr val="4668F5"/>
              </a:buClr>
              <a:buSzPct val="68181"/>
              <a:buFont typeface="Wingdings"/>
              <a:buChar char=""/>
              <a:tabLst>
                <a:tab pos="469900" algn="l"/>
              </a:tabLst>
            </a:pPr>
            <a:r>
              <a:rPr dirty="0" sz="2200" spc="-25" b="1">
                <a:solidFill>
                  <a:srgbClr val="9966FF"/>
                </a:solidFill>
                <a:latin typeface="宋体"/>
                <a:cs typeface="宋体"/>
              </a:rPr>
              <a:t>指令队列中的指令按先进先出的顺序流出</a:t>
            </a:r>
            <a:endParaRPr sz="2200">
              <a:latin typeface="宋体"/>
              <a:cs typeface="宋体"/>
            </a:endParaRPr>
          </a:p>
        </p:txBody>
      </p:sp>
      <p:sp>
        <p:nvSpPr>
          <p:cNvPr id="13" name="object 13" descr=""/>
          <p:cNvSpPr txBox="1"/>
          <p:nvPr/>
        </p:nvSpPr>
        <p:spPr>
          <a:xfrm>
            <a:off x="8670306" y="2818921"/>
            <a:ext cx="744220" cy="181610"/>
          </a:xfrm>
          <a:prstGeom prst="rect">
            <a:avLst/>
          </a:prstGeom>
        </p:spPr>
        <p:txBody>
          <a:bodyPr wrap="square" lIns="0" tIns="15240" rIns="0" bIns="0" rtlCol="0" vert="horz">
            <a:spAutoFit/>
          </a:bodyPr>
          <a:lstStyle/>
          <a:p>
            <a:pPr marL="12700">
              <a:lnSpc>
                <a:spcPct val="100000"/>
              </a:lnSpc>
              <a:spcBef>
                <a:spcPts val="120"/>
              </a:spcBef>
            </a:pPr>
            <a:r>
              <a:rPr dirty="0" sz="1000" spc="-70" b="1">
                <a:latin typeface="宋体"/>
                <a:cs typeface="宋体"/>
              </a:rPr>
              <a:t>从指令部件来</a:t>
            </a:r>
            <a:endParaRPr sz="1000">
              <a:latin typeface="宋体"/>
              <a:cs typeface="宋体"/>
            </a:endParaRPr>
          </a:p>
        </p:txBody>
      </p:sp>
      <p:sp>
        <p:nvSpPr>
          <p:cNvPr id="14" name="object 14" descr=""/>
          <p:cNvSpPr txBox="1"/>
          <p:nvPr/>
        </p:nvSpPr>
        <p:spPr>
          <a:xfrm>
            <a:off x="9645215" y="3176914"/>
            <a:ext cx="802005" cy="181610"/>
          </a:xfrm>
          <a:prstGeom prst="rect">
            <a:avLst/>
          </a:prstGeom>
        </p:spPr>
        <p:txBody>
          <a:bodyPr wrap="square" lIns="0" tIns="15240" rIns="0" bIns="0" rtlCol="0" vert="horz">
            <a:spAutoFit/>
          </a:bodyPr>
          <a:lstStyle/>
          <a:p>
            <a:pPr marL="12700">
              <a:lnSpc>
                <a:spcPct val="100000"/>
              </a:lnSpc>
              <a:spcBef>
                <a:spcPts val="120"/>
              </a:spcBef>
            </a:pPr>
            <a:r>
              <a:rPr dirty="0" sz="1000" spc="-105" b="1">
                <a:latin typeface="宋体"/>
                <a:cs typeface="宋体"/>
              </a:rPr>
              <a:t>浮点寄存器 </a:t>
            </a:r>
            <a:r>
              <a:rPr dirty="0" sz="1000" spc="-25" b="1">
                <a:latin typeface="Times New Roman"/>
                <a:cs typeface="Times New Roman"/>
              </a:rPr>
              <a:t>FP</a:t>
            </a:r>
            <a:endParaRPr sz="1000">
              <a:latin typeface="Times New Roman"/>
              <a:cs typeface="Times New Roman"/>
            </a:endParaRPr>
          </a:p>
        </p:txBody>
      </p:sp>
      <p:sp>
        <p:nvSpPr>
          <p:cNvPr id="15" name="object 15" descr=""/>
          <p:cNvSpPr txBox="1"/>
          <p:nvPr/>
        </p:nvSpPr>
        <p:spPr>
          <a:xfrm>
            <a:off x="6750391" y="4203749"/>
            <a:ext cx="666750" cy="181610"/>
          </a:xfrm>
          <a:prstGeom prst="rect">
            <a:avLst/>
          </a:prstGeom>
        </p:spPr>
        <p:txBody>
          <a:bodyPr wrap="square" lIns="0" tIns="15240" rIns="0" bIns="0" rtlCol="0" vert="horz">
            <a:spAutoFit/>
          </a:bodyPr>
          <a:lstStyle/>
          <a:p>
            <a:pPr marL="12700">
              <a:lnSpc>
                <a:spcPct val="100000"/>
              </a:lnSpc>
              <a:spcBef>
                <a:spcPts val="120"/>
              </a:spcBef>
            </a:pPr>
            <a:r>
              <a:rPr dirty="0" sz="1000" spc="-45" b="1">
                <a:latin typeface="Times New Roman"/>
                <a:cs typeface="Times New Roman"/>
              </a:rPr>
              <a:t>store</a:t>
            </a:r>
            <a:r>
              <a:rPr dirty="0" sz="1000" spc="20" b="1">
                <a:latin typeface="Times New Roman"/>
                <a:cs typeface="Times New Roman"/>
              </a:rPr>
              <a:t> </a:t>
            </a:r>
            <a:r>
              <a:rPr dirty="0" sz="1000" spc="-60" b="1">
                <a:latin typeface="宋体"/>
                <a:cs typeface="宋体"/>
              </a:rPr>
              <a:t>缓冲器</a:t>
            </a:r>
            <a:endParaRPr sz="1000">
              <a:latin typeface="宋体"/>
              <a:cs typeface="宋体"/>
            </a:endParaRPr>
          </a:p>
        </p:txBody>
      </p:sp>
      <p:sp>
        <p:nvSpPr>
          <p:cNvPr id="16" name="object 16" descr=""/>
          <p:cNvSpPr txBox="1"/>
          <p:nvPr/>
        </p:nvSpPr>
        <p:spPr>
          <a:xfrm>
            <a:off x="7668026" y="4181157"/>
            <a:ext cx="668655" cy="223520"/>
          </a:xfrm>
          <a:prstGeom prst="rect">
            <a:avLst/>
          </a:prstGeom>
          <a:ln w="10656">
            <a:solidFill>
              <a:srgbClr val="000000"/>
            </a:solidFill>
          </a:ln>
        </p:spPr>
        <p:txBody>
          <a:bodyPr wrap="square" lIns="0" tIns="38100" rIns="0" bIns="0" rtlCol="0" vert="horz">
            <a:spAutoFit/>
          </a:bodyPr>
          <a:lstStyle/>
          <a:p>
            <a:pPr marL="97155">
              <a:lnSpc>
                <a:spcPct val="100000"/>
              </a:lnSpc>
              <a:spcBef>
                <a:spcPts val="300"/>
              </a:spcBef>
            </a:pPr>
            <a:r>
              <a:rPr dirty="0" sz="1000" spc="-65" b="1">
                <a:latin typeface="宋体"/>
                <a:cs typeface="宋体"/>
              </a:rPr>
              <a:t>地址部件</a:t>
            </a:r>
            <a:endParaRPr sz="1000">
              <a:latin typeface="宋体"/>
              <a:cs typeface="宋体"/>
            </a:endParaRPr>
          </a:p>
        </p:txBody>
      </p:sp>
      <p:sp>
        <p:nvSpPr>
          <p:cNvPr id="17" name="object 17" descr=""/>
          <p:cNvSpPr txBox="1"/>
          <p:nvPr/>
        </p:nvSpPr>
        <p:spPr>
          <a:xfrm>
            <a:off x="7556749" y="3799186"/>
            <a:ext cx="796925" cy="181610"/>
          </a:xfrm>
          <a:prstGeom prst="rect">
            <a:avLst/>
          </a:prstGeom>
        </p:spPr>
        <p:txBody>
          <a:bodyPr wrap="square" lIns="0" tIns="15240" rIns="0" bIns="0" rtlCol="0" vert="horz">
            <a:spAutoFit/>
          </a:bodyPr>
          <a:lstStyle/>
          <a:p>
            <a:pPr marL="12700">
              <a:lnSpc>
                <a:spcPct val="100000"/>
              </a:lnSpc>
              <a:spcBef>
                <a:spcPts val="120"/>
              </a:spcBef>
            </a:pPr>
            <a:r>
              <a:rPr dirty="0" sz="1000" spc="-35" b="1">
                <a:latin typeface="Times New Roman"/>
                <a:cs typeface="Times New Roman"/>
              </a:rPr>
              <a:t>load/store</a:t>
            </a:r>
            <a:r>
              <a:rPr dirty="0" sz="1000" b="1">
                <a:latin typeface="Times New Roman"/>
                <a:cs typeface="Times New Roman"/>
              </a:rPr>
              <a:t> </a:t>
            </a:r>
            <a:r>
              <a:rPr dirty="0" sz="1000" spc="-55" b="1">
                <a:latin typeface="宋体"/>
                <a:cs typeface="宋体"/>
              </a:rPr>
              <a:t>操作</a:t>
            </a:r>
            <a:endParaRPr sz="1000">
              <a:latin typeface="宋体"/>
              <a:cs typeface="宋体"/>
            </a:endParaRPr>
          </a:p>
        </p:txBody>
      </p:sp>
      <p:sp>
        <p:nvSpPr>
          <p:cNvPr id="18" name="object 18" descr=""/>
          <p:cNvSpPr txBox="1"/>
          <p:nvPr/>
        </p:nvSpPr>
        <p:spPr>
          <a:xfrm>
            <a:off x="9282637" y="3980850"/>
            <a:ext cx="504190" cy="181610"/>
          </a:xfrm>
          <a:prstGeom prst="rect">
            <a:avLst/>
          </a:prstGeom>
        </p:spPr>
        <p:txBody>
          <a:bodyPr wrap="square" lIns="0" tIns="15240" rIns="0" bIns="0" rtlCol="0" vert="horz">
            <a:spAutoFit/>
          </a:bodyPr>
          <a:lstStyle/>
          <a:p>
            <a:pPr marL="12700">
              <a:lnSpc>
                <a:spcPct val="100000"/>
              </a:lnSpc>
              <a:spcBef>
                <a:spcPts val="120"/>
              </a:spcBef>
            </a:pPr>
            <a:r>
              <a:rPr dirty="0" sz="1000" spc="-65" b="1">
                <a:latin typeface="宋体"/>
                <a:cs typeface="宋体"/>
              </a:rPr>
              <a:t>浮点操作</a:t>
            </a:r>
            <a:endParaRPr sz="1000">
              <a:latin typeface="宋体"/>
              <a:cs typeface="宋体"/>
            </a:endParaRPr>
          </a:p>
        </p:txBody>
      </p:sp>
      <p:sp>
        <p:nvSpPr>
          <p:cNvPr id="19" name="object 19" descr=""/>
          <p:cNvSpPr txBox="1"/>
          <p:nvPr/>
        </p:nvSpPr>
        <p:spPr>
          <a:xfrm>
            <a:off x="9616478" y="4293572"/>
            <a:ext cx="623570" cy="181610"/>
          </a:xfrm>
          <a:prstGeom prst="rect">
            <a:avLst/>
          </a:prstGeom>
        </p:spPr>
        <p:txBody>
          <a:bodyPr wrap="square" lIns="0" tIns="15240" rIns="0" bIns="0" rtlCol="0" vert="horz">
            <a:spAutoFit/>
          </a:bodyPr>
          <a:lstStyle/>
          <a:p>
            <a:pPr marL="12700">
              <a:lnSpc>
                <a:spcPct val="100000"/>
              </a:lnSpc>
              <a:spcBef>
                <a:spcPts val="120"/>
              </a:spcBef>
            </a:pPr>
            <a:r>
              <a:rPr dirty="0" sz="1000" spc="-70" b="1">
                <a:latin typeface="宋体"/>
                <a:cs typeface="宋体"/>
              </a:rPr>
              <a:t>操作数总线</a:t>
            </a:r>
            <a:endParaRPr sz="1000">
              <a:latin typeface="宋体"/>
              <a:cs typeface="宋体"/>
            </a:endParaRPr>
          </a:p>
        </p:txBody>
      </p:sp>
      <p:sp>
        <p:nvSpPr>
          <p:cNvPr id="20" name="object 20" descr=""/>
          <p:cNvSpPr txBox="1"/>
          <p:nvPr/>
        </p:nvSpPr>
        <p:spPr>
          <a:xfrm>
            <a:off x="9796178" y="4784641"/>
            <a:ext cx="504190" cy="181610"/>
          </a:xfrm>
          <a:prstGeom prst="rect">
            <a:avLst/>
          </a:prstGeom>
        </p:spPr>
        <p:txBody>
          <a:bodyPr wrap="square" lIns="0" tIns="15240" rIns="0" bIns="0" rtlCol="0" vert="horz">
            <a:spAutoFit/>
          </a:bodyPr>
          <a:lstStyle/>
          <a:p>
            <a:pPr marL="12700">
              <a:lnSpc>
                <a:spcPct val="100000"/>
              </a:lnSpc>
              <a:spcBef>
                <a:spcPts val="120"/>
              </a:spcBef>
            </a:pPr>
            <a:r>
              <a:rPr dirty="0" sz="1000" spc="-65" b="1">
                <a:latin typeface="宋体"/>
                <a:cs typeface="宋体"/>
              </a:rPr>
              <a:t>操作总线</a:t>
            </a:r>
            <a:endParaRPr sz="1000">
              <a:latin typeface="宋体"/>
              <a:cs typeface="宋体"/>
            </a:endParaRPr>
          </a:p>
        </p:txBody>
      </p:sp>
      <p:sp>
        <p:nvSpPr>
          <p:cNvPr id="21" name="object 21" descr=""/>
          <p:cNvSpPr txBox="1"/>
          <p:nvPr/>
        </p:nvSpPr>
        <p:spPr>
          <a:xfrm>
            <a:off x="6694747" y="5721696"/>
            <a:ext cx="267335" cy="181610"/>
          </a:xfrm>
          <a:prstGeom prst="rect">
            <a:avLst/>
          </a:prstGeom>
        </p:spPr>
        <p:txBody>
          <a:bodyPr wrap="square" lIns="0" tIns="15240" rIns="0" bIns="0" rtlCol="0" vert="horz">
            <a:spAutoFit/>
          </a:bodyPr>
          <a:lstStyle/>
          <a:p>
            <a:pPr marL="12700">
              <a:lnSpc>
                <a:spcPct val="100000"/>
              </a:lnSpc>
              <a:spcBef>
                <a:spcPts val="120"/>
              </a:spcBef>
            </a:pPr>
            <a:r>
              <a:rPr dirty="0" sz="1000" spc="-55" b="1">
                <a:latin typeface="宋体"/>
                <a:cs typeface="宋体"/>
              </a:rPr>
              <a:t>数据</a:t>
            </a:r>
            <a:endParaRPr sz="1000">
              <a:latin typeface="宋体"/>
              <a:cs typeface="宋体"/>
            </a:endParaRPr>
          </a:p>
        </p:txBody>
      </p:sp>
      <p:grpSp>
        <p:nvGrpSpPr>
          <p:cNvPr id="22" name="object 22" descr=""/>
          <p:cNvGrpSpPr/>
          <p:nvPr/>
        </p:nvGrpSpPr>
        <p:grpSpPr>
          <a:xfrm>
            <a:off x="6772009" y="3237638"/>
            <a:ext cx="4798695" cy="2423160"/>
            <a:chOff x="6772009" y="3237638"/>
            <a:chExt cx="4798695" cy="2423160"/>
          </a:xfrm>
        </p:grpSpPr>
        <p:sp>
          <p:nvSpPr>
            <p:cNvPr id="23" name="object 23" descr=""/>
            <p:cNvSpPr/>
            <p:nvPr/>
          </p:nvSpPr>
          <p:spPr>
            <a:xfrm>
              <a:off x="8781530" y="3243035"/>
              <a:ext cx="612775" cy="670560"/>
            </a:xfrm>
            <a:custGeom>
              <a:avLst/>
              <a:gdLst/>
              <a:ahLst/>
              <a:cxnLst/>
              <a:rect l="l" t="t" r="r" b="b"/>
              <a:pathLst>
                <a:path w="612775" h="670560">
                  <a:moveTo>
                    <a:pt x="612396" y="0"/>
                  </a:moveTo>
                  <a:lnTo>
                    <a:pt x="0" y="0"/>
                  </a:lnTo>
                  <a:lnTo>
                    <a:pt x="0" y="669979"/>
                  </a:lnTo>
                  <a:lnTo>
                    <a:pt x="612396" y="669979"/>
                  </a:lnTo>
                  <a:lnTo>
                    <a:pt x="612396" y="0"/>
                  </a:lnTo>
                  <a:close/>
                </a:path>
              </a:pathLst>
            </a:custGeom>
            <a:solidFill>
              <a:srgbClr val="FFCC99"/>
            </a:solidFill>
          </p:spPr>
          <p:txBody>
            <a:bodyPr wrap="square" lIns="0" tIns="0" rIns="0" bIns="0" rtlCol="0"/>
            <a:lstStyle/>
            <a:p/>
          </p:txBody>
        </p:sp>
        <p:sp>
          <p:nvSpPr>
            <p:cNvPr id="24" name="object 24" descr=""/>
            <p:cNvSpPr/>
            <p:nvPr/>
          </p:nvSpPr>
          <p:spPr>
            <a:xfrm>
              <a:off x="8781530" y="3243035"/>
              <a:ext cx="612775" cy="670560"/>
            </a:xfrm>
            <a:custGeom>
              <a:avLst/>
              <a:gdLst/>
              <a:ahLst/>
              <a:cxnLst/>
              <a:rect l="l" t="t" r="r" b="b"/>
              <a:pathLst>
                <a:path w="612775" h="670560">
                  <a:moveTo>
                    <a:pt x="0" y="669979"/>
                  </a:moveTo>
                  <a:lnTo>
                    <a:pt x="612396" y="669979"/>
                  </a:lnTo>
                  <a:lnTo>
                    <a:pt x="612396" y="0"/>
                  </a:lnTo>
                  <a:lnTo>
                    <a:pt x="0" y="0"/>
                  </a:lnTo>
                  <a:lnTo>
                    <a:pt x="0" y="669979"/>
                  </a:lnTo>
                  <a:close/>
                </a:path>
              </a:pathLst>
            </a:custGeom>
            <a:ln w="10255">
              <a:solidFill>
                <a:srgbClr val="000000"/>
              </a:solidFill>
            </a:ln>
          </p:spPr>
          <p:txBody>
            <a:bodyPr wrap="square" lIns="0" tIns="0" rIns="0" bIns="0" rtlCol="0"/>
            <a:lstStyle/>
            <a:p/>
          </p:txBody>
        </p:sp>
        <p:sp>
          <p:nvSpPr>
            <p:cNvPr id="25" name="object 25" descr=""/>
            <p:cNvSpPr/>
            <p:nvPr/>
          </p:nvSpPr>
          <p:spPr>
            <a:xfrm>
              <a:off x="8781530" y="3377106"/>
              <a:ext cx="612775" cy="401955"/>
            </a:xfrm>
            <a:custGeom>
              <a:avLst/>
              <a:gdLst/>
              <a:ahLst/>
              <a:cxnLst/>
              <a:rect l="l" t="t" r="r" b="b"/>
              <a:pathLst>
                <a:path w="612775" h="401954">
                  <a:moveTo>
                    <a:pt x="0" y="0"/>
                  </a:moveTo>
                  <a:lnTo>
                    <a:pt x="612462" y="0"/>
                  </a:lnTo>
                </a:path>
                <a:path w="612775" h="401954">
                  <a:moveTo>
                    <a:pt x="0" y="134085"/>
                  </a:moveTo>
                  <a:lnTo>
                    <a:pt x="612462" y="134085"/>
                  </a:lnTo>
                </a:path>
                <a:path w="612775" h="401954">
                  <a:moveTo>
                    <a:pt x="0" y="268170"/>
                  </a:moveTo>
                  <a:lnTo>
                    <a:pt x="612462" y="268170"/>
                  </a:lnTo>
                </a:path>
                <a:path w="612775" h="401954">
                  <a:moveTo>
                    <a:pt x="0" y="401823"/>
                  </a:moveTo>
                  <a:lnTo>
                    <a:pt x="612462" y="401823"/>
                  </a:lnTo>
                </a:path>
              </a:pathLst>
            </a:custGeom>
            <a:ln w="10294">
              <a:solidFill>
                <a:srgbClr val="000000"/>
              </a:solidFill>
            </a:ln>
          </p:spPr>
          <p:txBody>
            <a:bodyPr wrap="square" lIns="0" tIns="0" rIns="0" bIns="0" rtlCol="0"/>
            <a:lstStyle/>
            <a:p/>
          </p:txBody>
        </p:sp>
        <p:sp>
          <p:nvSpPr>
            <p:cNvPr id="26" name="object 26" descr=""/>
            <p:cNvSpPr/>
            <p:nvPr/>
          </p:nvSpPr>
          <p:spPr>
            <a:xfrm>
              <a:off x="6777406" y="4627560"/>
              <a:ext cx="835025" cy="982344"/>
            </a:xfrm>
            <a:custGeom>
              <a:avLst/>
              <a:gdLst/>
              <a:ahLst/>
              <a:cxnLst/>
              <a:rect l="l" t="t" r="r" b="b"/>
              <a:pathLst>
                <a:path w="835025" h="982345">
                  <a:moveTo>
                    <a:pt x="834975" y="0"/>
                  </a:moveTo>
                  <a:lnTo>
                    <a:pt x="0" y="0"/>
                  </a:lnTo>
                  <a:lnTo>
                    <a:pt x="0" y="982341"/>
                  </a:lnTo>
                  <a:lnTo>
                    <a:pt x="834975" y="982341"/>
                  </a:lnTo>
                  <a:lnTo>
                    <a:pt x="834975" y="0"/>
                  </a:lnTo>
                  <a:close/>
                </a:path>
              </a:pathLst>
            </a:custGeom>
            <a:solidFill>
              <a:srgbClr val="CCFFCC"/>
            </a:solidFill>
          </p:spPr>
          <p:txBody>
            <a:bodyPr wrap="square" lIns="0" tIns="0" rIns="0" bIns="0" rtlCol="0"/>
            <a:lstStyle/>
            <a:p/>
          </p:txBody>
        </p:sp>
        <p:sp>
          <p:nvSpPr>
            <p:cNvPr id="27" name="object 27" descr=""/>
            <p:cNvSpPr/>
            <p:nvPr/>
          </p:nvSpPr>
          <p:spPr>
            <a:xfrm>
              <a:off x="6777406" y="4627560"/>
              <a:ext cx="835025" cy="982344"/>
            </a:xfrm>
            <a:custGeom>
              <a:avLst/>
              <a:gdLst/>
              <a:ahLst/>
              <a:cxnLst/>
              <a:rect l="l" t="t" r="r" b="b"/>
              <a:pathLst>
                <a:path w="835025" h="982345">
                  <a:moveTo>
                    <a:pt x="0" y="982341"/>
                  </a:moveTo>
                  <a:lnTo>
                    <a:pt x="834975" y="982341"/>
                  </a:lnTo>
                  <a:lnTo>
                    <a:pt x="834975" y="0"/>
                  </a:lnTo>
                  <a:lnTo>
                    <a:pt x="0" y="0"/>
                  </a:lnTo>
                  <a:lnTo>
                    <a:pt x="0" y="982341"/>
                  </a:lnTo>
                  <a:close/>
                </a:path>
              </a:pathLst>
            </a:custGeom>
            <a:ln w="10223">
              <a:solidFill>
                <a:srgbClr val="000000"/>
              </a:solidFill>
            </a:ln>
          </p:spPr>
          <p:txBody>
            <a:bodyPr wrap="square" lIns="0" tIns="0" rIns="0" bIns="0" rtlCol="0"/>
            <a:lstStyle/>
            <a:p/>
          </p:txBody>
        </p:sp>
        <p:sp>
          <p:nvSpPr>
            <p:cNvPr id="28" name="object 28" descr=""/>
            <p:cNvSpPr/>
            <p:nvPr/>
          </p:nvSpPr>
          <p:spPr>
            <a:xfrm>
              <a:off x="6777406" y="4627560"/>
              <a:ext cx="835025" cy="982344"/>
            </a:xfrm>
            <a:custGeom>
              <a:avLst/>
              <a:gdLst/>
              <a:ahLst/>
              <a:cxnLst/>
              <a:rect l="l" t="t" r="r" b="b"/>
              <a:pathLst>
                <a:path w="835025" h="982345">
                  <a:moveTo>
                    <a:pt x="0" y="163497"/>
                  </a:moveTo>
                  <a:lnTo>
                    <a:pt x="834975" y="163497"/>
                  </a:lnTo>
                </a:path>
                <a:path w="835025" h="982345">
                  <a:moveTo>
                    <a:pt x="0" y="327572"/>
                  </a:moveTo>
                  <a:lnTo>
                    <a:pt x="834975" y="327572"/>
                  </a:lnTo>
                </a:path>
                <a:path w="835025" h="982345">
                  <a:moveTo>
                    <a:pt x="0" y="491343"/>
                  </a:moveTo>
                  <a:lnTo>
                    <a:pt x="834975" y="491343"/>
                  </a:lnTo>
                </a:path>
                <a:path w="835025" h="982345">
                  <a:moveTo>
                    <a:pt x="0" y="654769"/>
                  </a:moveTo>
                  <a:lnTo>
                    <a:pt x="834975" y="654769"/>
                  </a:lnTo>
                </a:path>
                <a:path w="835025" h="982345">
                  <a:moveTo>
                    <a:pt x="0" y="818901"/>
                  </a:moveTo>
                  <a:lnTo>
                    <a:pt x="834975" y="818901"/>
                  </a:lnTo>
                </a:path>
                <a:path w="835025" h="982345">
                  <a:moveTo>
                    <a:pt x="417481" y="0"/>
                  </a:moveTo>
                  <a:lnTo>
                    <a:pt x="417481" y="982341"/>
                  </a:lnTo>
                </a:path>
              </a:pathLst>
            </a:custGeom>
            <a:ln w="10294">
              <a:solidFill>
                <a:srgbClr val="000000"/>
              </a:solidFill>
            </a:ln>
          </p:spPr>
          <p:txBody>
            <a:bodyPr wrap="square" lIns="0" tIns="0" rIns="0" bIns="0" rtlCol="0"/>
            <a:lstStyle/>
            <a:p/>
          </p:txBody>
        </p:sp>
        <p:sp>
          <p:nvSpPr>
            <p:cNvPr id="29" name="object 29" descr=""/>
            <p:cNvSpPr/>
            <p:nvPr/>
          </p:nvSpPr>
          <p:spPr>
            <a:xfrm>
              <a:off x="7807297" y="4627560"/>
              <a:ext cx="417830" cy="982344"/>
            </a:xfrm>
            <a:custGeom>
              <a:avLst/>
              <a:gdLst/>
              <a:ahLst/>
              <a:cxnLst/>
              <a:rect l="l" t="t" r="r" b="b"/>
              <a:pathLst>
                <a:path w="417829" h="982345">
                  <a:moveTo>
                    <a:pt x="417494" y="0"/>
                  </a:moveTo>
                  <a:lnTo>
                    <a:pt x="0" y="0"/>
                  </a:lnTo>
                  <a:lnTo>
                    <a:pt x="0" y="982341"/>
                  </a:lnTo>
                  <a:lnTo>
                    <a:pt x="417494" y="982341"/>
                  </a:lnTo>
                  <a:lnTo>
                    <a:pt x="417494" y="0"/>
                  </a:lnTo>
                  <a:close/>
                </a:path>
              </a:pathLst>
            </a:custGeom>
            <a:solidFill>
              <a:srgbClr val="CCFFCC"/>
            </a:solidFill>
          </p:spPr>
          <p:txBody>
            <a:bodyPr wrap="square" lIns="0" tIns="0" rIns="0" bIns="0" rtlCol="0"/>
            <a:lstStyle/>
            <a:p/>
          </p:txBody>
        </p:sp>
        <p:sp>
          <p:nvSpPr>
            <p:cNvPr id="30" name="object 30" descr=""/>
            <p:cNvSpPr/>
            <p:nvPr/>
          </p:nvSpPr>
          <p:spPr>
            <a:xfrm>
              <a:off x="7807297" y="4627560"/>
              <a:ext cx="417830" cy="982344"/>
            </a:xfrm>
            <a:custGeom>
              <a:avLst/>
              <a:gdLst/>
              <a:ahLst/>
              <a:cxnLst/>
              <a:rect l="l" t="t" r="r" b="b"/>
              <a:pathLst>
                <a:path w="417829" h="982345">
                  <a:moveTo>
                    <a:pt x="0" y="982341"/>
                  </a:moveTo>
                  <a:lnTo>
                    <a:pt x="417494" y="982341"/>
                  </a:lnTo>
                  <a:lnTo>
                    <a:pt x="417494" y="0"/>
                  </a:lnTo>
                  <a:lnTo>
                    <a:pt x="0" y="0"/>
                  </a:lnTo>
                  <a:lnTo>
                    <a:pt x="0" y="982341"/>
                  </a:lnTo>
                  <a:close/>
                </a:path>
              </a:pathLst>
            </a:custGeom>
            <a:ln w="9990">
              <a:solidFill>
                <a:srgbClr val="000000"/>
              </a:solidFill>
            </a:ln>
          </p:spPr>
          <p:txBody>
            <a:bodyPr wrap="square" lIns="0" tIns="0" rIns="0" bIns="0" rtlCol="0"/>
            <a:lstStyle/>
            <a:p/>
          </p:txBody>
        </p:sp>
        <p:sp>
          <p:nvSpPr>
            <p:cNvPr id="31" name="object 31" descr=""/>
            <p:cNvSpPr/>
            <p:nvPr/>
          </p:nvSpPr>
          <p:spPr>
            <a:xfrm>
              <a:off x="7807297" y="4791058"/>
              <a:ext cx="417830" cy="655955"/>
            </a:xfrm>
            <a:custGeom>
              <a:avLst/>
              <a:gdLst/>
              <a:ahLst/>
              <a:cxnLst/>
              <a:rect l="l" t="t" r="r" b="b"/>
              <a:pathLst>
                <a:path w="417829" h="655954">
                  <a:moveTo>
                    <a:pt x="0" y="0"/>
                  </a:moveTo>
                  <a:lnTo>
                    <a:pt x="417520" y="0"/>
                  </a:lnTo>
                </a:path>
                <a:path w="417829" h="655954">
                  <a:moveTo>
                    <a:pt x="0" y="164074"/>
                  </a:moveTo>
                  <a:lnTo>
                    <a:pt x="417520" y="164074"/>
                  </a:lnTo>
                </a:path>
                <a:path w="417829" h="655954">
                  <a:moveTo>
                    <a:pt x="0" y="327845"/>
                  </a:moveTo>
                  <a:lnTo>
                    <a:pt x="417520" y="327845"/>
                  </a:lnTo>
                </a:path>
                <a:path w="417829" h="655954">
                  <a:moveTo>
                    <a:pt x="0" y="491271"/>
                  </a:moveTo>
                  <a:lnTo>
                    <a:pt x="417520" y="491271"/>
                  </a:lnTo>
                </a:path>
                <a:path w="417829" h="655954">
                  <a:moveTo>
                    <a:pt x="0" y="655403"/>
                  </a:moveTo>
                  <a:lnTo>
                    <a:pt x="417520" y="655403"/>
                  </a:lnTo>
                </a:path>
              </a:pathLst>
            </a:custGeom>
            <a:ln w="10294">
              <a:solidFill>
                <a:srgbClr val="000000"/>
              </a:solidFill>
            </a:ln>
          </p:spPr>
          <p:txBody>
            <a:bodyPr wrap="square" lIns="0" tIns="0" rIns="0" bIns="0" rtlCol="0"/>
            <a:lstStyle/>
            <a:p/>
          </p:txBody>
        </p:sp>
        <p:sp>
          <p:nvSpPr>
            <p:cNvPr id="32" name="object 32" descr=""/>
            <p:cNvSpPr/>
            <p:nvPr/>
          </p:nvSpPr>
          <p:spPr>
            <a:xfrm>
              <a:off x="8670294" y="5208035"/>
              <a:ext cx="1141730" cy="447040"/>
            </a:xfrm>
            <a:custGeom>
              <a:avLst/>
              <a:gdLst/>
              <a:ahLst/>
              <a:cxnLst/>
              <a:rect l="l" t="t" r="r" b="b"/>
              <a:pathLst>
                <a:path w="1141729" h="447039">
                  <a:moveTo>
                    <a:pt x="1141180" y="0"/>
                  </a:moveTo>
                  <a:lnTo>
                    <a:pt x="0" y="0"/>
                  </a:lnTo>
                  <a:lnTo>
                    <a:pt x="0" y="446778"/>
                  </a:lnTo>
                  <a:lnTo>
                    <a:pt x="1141180" y="446778"/>
                  </a:lnTo>
                  <a:lnTo>
                    <a:pt x="1141180" y="0"/>
                  </a:lnTo>
                  <a:close/>
                </a:path>
              </a:pathLst>
            </a:custGeom>
            <a:solidFill>
              <a:srgbClr val="CCFFCC"/>
            </a:solidFill>
          </p:spPr>
          <p:txBody>
            <a:bodyPr wrap="square" lIns="0" tIns="0" rIns="0" bIns="0" rtlCol="0"/>
            <a:lstStyle/>
            <a:p/>
          </p:txBody>
        </p:sp>
        <p:sp>
          <p:nvSpPr>
            <p:cNvPr id="33" name="object 33" descr=""/>
            <p:cNvSpPr/>
            <p:nvPr/>
          </p:nvSpPr>
          <p:spPr>
            <a:xfrm>
              <a:off x="8670294" y="5208035"/>
              <a:ext cx="1141730" cy="447040"/>
            </a:xfrm>
            <a:custGeom>
              <a:avLst/>
              <a:gdLst/>
              <a:ahLst/>
              <a:cxnLst/>
              <a:rect l="l" t="t" r="r" b="b"/>
              <a:pathLst>
                <a:path w="1141729" h="447039">
                  <a:moveTo>
                    <a:pt x="0" y="446778"/>
                  </a:moveTo>
                  <a:lnTo>
                    <a:pt x="1141180" y="446778"/>
                  </a:lnTo>
                  <a:lnTo>
                    <a:pt x="1141180" y="0"/>
                  </a:lnTo>
                  <a:lnTo>
                    <a:pt x="0" y="0"/>
                  </a:lnTo>
                  <a:lnTo>
                    <a:pt x="0" y="446778"/>
                  </a:lnTo>
                  <a:close/>
                </a:path>
              </a:pathLst>
            </a:custGeom>
            <a:ln w="10615">
              <a:solidFill>
                <a:srgbClr val="000000"/>
              </a:solidFill>
            </a:ln>
          </p:spPr>
          <p:txBody>
            <a:bodyPr wrap="square" lIns="0" tIns="0" rIns="0" bIns="0" rtlCol="0"/>
            <a:lstStyle/>
            <a:p/>
          </p:txBody>
        </p:sp>
        <p:sp>
          <p:nvSpPr>
            <p:cNvPr id="34" name="object 34" descr=""/>
            <p:cNvSpPr/>
            <p:nvPr/>
          </p:nvSpPr>
          <p:spPr>
            <a:xfrm>
              <a:off x="8670294" y="5208049"/>
              <a:ext cx="1141095" cy="447040"/>
            </a:xfrm>
            <a:custGeom>
              <a:avLst/>
              <a:gdLst/>
              <a:ahLst/>
              <a:cxnLst/>
              <a:rect l="l" t="t" r="r" b="b"/>
              <a:pathLst>
                <a:path w="1141095" h="447039">
                  <a:moveTo>
                    <a:pt x="0" y="149267"/>
                  </a:moveTo>
                  <a:lnTo>
                    <a:pt x="1141100" y="149267"/>
                  </a:lnTo>
                </a:path>
                <a:path w="1141095" h="447039">
                  <a:moveTo>
                    <a:pt x="0" y="297496"/>
                  </a:moveTo>
                  <a:lnTo>
                    <a:pt x="1141100" y="297496"/>
                  </a:lnTo>
                </a:path>
                <a:path w="1141095" h="447039">
                  <a:moveTo>
                    <a:pt x="194266" y="0"/>
                  </a:moveTo>
                  <a:lnTo>
                    <a:pt x="194266" y="446763"/>
                  </a:lnTo>
                </a:path>
                <a:path w="1141095" h="447039">
                  <a:moveTo>
                    <a:pt x="679734" y="0"/>
                  </a:moveTo>
                  <a:lnTo>
                    <a:pt x="679734" y="446763"/>
                  </a:lnTo>
                </a:path>
              </a:pathLst>
            </a:custGeom>
            <a:ln w="10294">
              <a:solidFill>
                <a:srgbClr val="000000"/>
              </a:solidFill>
            </a:ln>
          </p:spPr>
          <p:txBody>
            <a:bodyPr wrap="square" lIns="0" tIns="0" rIns="0" bIns="0" rtlCol="0"/>
            <a:lstStyle/>
            <a:p/>
          </p:txBody>
        </p:sp>
        <p:sp>
          <p:nvSpPr>
            <p:cNvPr id="35" name="object 35" descr=""/>
            <p:cNvSpPr/>
            <p:nvPr/>
          </p:nvSpPr>
          <p:spPr>
            <a:xfrm>
              <a:off x="10423460" y="5297540"/>
              <a:ext cx="1141730" cy="312420"/>
            </a:xfrm>
            <a:custGeom>
              <a:avLst/>
              <a:gdLst/>
              <a:ahLst/>
              <a:cxnLst/>
              <a:rect l="l" t="t" r="r" b="b"/>
              <a:pathLst>
                <a:path w="1141729" h="312420">
                  <a:moveTo>
                    <a:pt x="1141180" y="0"/>
                  </a:moveTo>
                  <a:lnTo>
                    <a:pt x="0" y="0"/>
                  </a:lnTo>
                  <a:lnTo>
                    <a:pt x="0" y="312361"/>
                  </a:lnTo>
                  <a:lnTo>
                    <a:pt x="1141180" y="312361"/>
                  </a:lnTo>
                  <a:lnTo>
                    <a:pt x="1141180" y="0"/>
                  </a:lnTo>
                  <a:close/>
                </a:path>
              </a:pathLst>
            </a:custGeom>
            <a:solidFill>
              <a:srgbClr val="CCFFCC"/>
            </a:solidFill>
          </p:spPr>
          <p:txBody>
            <a:bodyPr wrap="square" lIns="0" tIns="0" rIns="0" bIns="0" rtlCol="0"/>
            <a:lstStyle/>
            <a:p/>
          </p:txBody>
        </p:sp>
        <p:sp>
          <p:nvSpPr>
            <p:cNvPr id="36" name="object 36" descr=""/>
            <p:cNvSpPr/>
            <p:nvPr/>
          </p:nvSpPr>
          <p:spPr>
            <a:xfrm>
              <a:off x="10423460" y="5297540"/>
              <a:ext cx="1141730" cy="312420"/>
            </a:xfrm>
            <a:custGeom>
              <a:avLst/>
              <a:gdLst/>
              <a:ahLst/>
              <a:cxnLst/>
              <a:rect l="l" t="t" r="r" b="b"/>
              <a:pathLst>
                <a:path w="1141729" h="312420">
                  <a:moveTo>
                    <a:pt x="0" y="312361"/>
                  </a:moveTo>
                  <a:lnTo>
                    <a:pt x="1141180" y="312361"/>
                  </a:lnTo>
                  <a:lnTo>
                    <a:pt x="1141180" y="0"/>
                  </a:lnTo>
                  <a:lnTo>
                    <a:pt x="0" y="0"/>
                  </a:lnTo>
                  <a:lnTo>
                    <a:pt x="0" y="312361"/>
                  </a:lnTo>
                  <a:close/>
                </a:path>
              </a:pathLst>
            </a:custGeom>
            <a:ln w="10670">
              <a:solidFill>
                <a:srgbClr val="000000"/>
              </a:solidFill>
            </a:ln>
          </p:spPr>
          <p:txBody>
            <a:bodyPr wrap="square" lIns="0" tIns="0" rIns="0" bIns="0" rtlCol="0"/>
            <a:lstStyle/>
            <a:p/>
          </p:txBody>
        </p:sp>
        <p:sp>
          <p:nvSpPr>
            <p:cNvPr id="37" name="object 37" descr=""/>
            <p:cNvSpPr/>
            <p:nvPr/>
          </p:nvSpPr>
          <p:spPr>
            <a:xfrm>
              <a:off x="10423460" y="5297540"/>
              <a:ext cx="1141730" cy="312420"/>
            </a:xfrm>
            <a:custGeom>
              <a:avLst/>
              <a:gdLst/>
              <a:ahLst/>
              <a:cxnLst/>
              <a:rect l="l" t="t" r="r" b="b"/>
              <a:pathLst>
                <a:path w="1141729" h="312420">
                  <a:moveTo>
                    <a:pt x="0" y="156173"/>
                  </a:moveTo>
                  <a:lnTo>
                    <a:pt x="1141233" y="156173"/>
                  </a:lnTo>
                </a:path>
                <a:path w="1141729" h="312420">
                  <a:moveTo>
                    <a:pt x="194398" y="0"/>
                  </a:moveTo>
                  <a:lnTo>
                    <a:pt x="194399" y="312361"/>
                  </a:lnTo>
                </a:path>
                <a:path w="1141729" h="312420">
                  <a:moveTo>
                    <a:pt x="680131" y="0"/>
                  </a:moveTo>
                  <a:lnTo>
                    <a:pt x="680131" y="312361"/>
                  </a:lnTo>
                </a:path>
              </a:pathLst>
            </a:custGeom>
            <a:ln w="10294">
              <a:solidFill>
                <a:srgbClr val="000000"/>
              </a:solidFill>
            </a:ln>
          </p:spPr>
          <p:txBody>
            <a:bodyPr wrap="square" lIns="0" tIns="0" rIns="0" bIns="0" rtlCol="0"/>
            <a:lstStyle/>
            <a:p/>
          </p:txBody>
        </p:sp>
      </p:grpSp>
      <p:sp>
        <p:nvSpPr>
          <p:cNvPr id="38" name="object 38" descr=""/>
          <p:cNvSpPr txBox="1"/>
          <p:nvPr/>
        </p:nvSpPr>
        <p:spPr>
          <a:xfrm>
            <a:off x="6888695" y="5967520"/>
            <a:ext cx="1169670" cy="312420"/>
          </a:xfrm>
          <a:prstGeom prst="rect">
            <a:avLst/>
          </a:prstGeom>
          <a:solidFill>
            <a:srgbClr val="CCFFFF"/>
          </a:solidFill>
          <a:ln w="10682">
            <a:solidFill>
              <a:srgbClr val="000000"/>
            </a:solidFill>
          </a:ln>
        </p:spPr>
        <p:txBody>
          <a:bodyPr wrap="square" lIns="0" tIns="71755" rIns="0" bIns="0" rtlCol="0" vert="horz">
            <a:spAutoFit/>
          </a:bodyPr>
          <a:lstStyle/>
          <a:p>
            <a:pPr marL="346710">
              <a:lnSpc>
                <a:spcPct val="100000"/>
              </a:lnSpc>
              <a:spcBef>
                <a:spcPts val="565"/>
              </a:spcBef>
            </a:pPr>
            <a:r>
              <a:rPr dirty="0" sz="1000" spc="-65" b="1">
                <a:latin typeface="宋体"/>
                <a:cs typeface="宋体"/>
              </a:rPr>
              <a:t>存储部件</a:t>
            </a:r>
            <a:endParaRPr sz="1000">
              <a:latin typeface="宋体"/>
              <a:cs typeface="宋体"/>
            </a:endParaRPr>
          </a:p>
        </p:txBody>
      </p:sp>
      <p:sp>
        <p:nvSpPr>
          <p:cNvPr id="39" name="object 39" descr=""/>
          <p:cNvSpPr txBox="1"/>
          <p:nvPr/>
        </p:nvSpPr>
        <p:spPr>
          <a:xfrm>
            <a:off x="8865223" y="5967520"/>
            <a:ext cx="890905" cy="312420"/>
          </a:xfrm>
          <a:prstGeom prst="rect">
            <a:avLst/>
          </a:prstGeom>
          <a:solidFill>
            <a:srgbClr val="FFBCDE"/>
          </a:solidFill>
          <a:ln w="10649">
            <a:solidFill>
              <a:srgbClr val="000000"/>
            </a:solidFill>
          </a:ln>
        </p:spPr>
        <p:txBody>
          <a:bodyPr wrap="square" lIns="0" tIns="71755" rIns="0" bIns="0" rtlCol="0" vert="horz">
            <a:spAutoFit/>
          </a:bodyPr>
          <a:lstStyle/>
          <a:p>
            <a:pPr marL="151130">
              <a:lnSpc>
                <a:spcPct val="100000"/>
              </a:lnSpc>
              <a:spcBef>
                <a:spcPts val="565"/>
              </a:spcBef>
            </a:pPr>
            <a:r>
              <a:rPr dirty="0" sz="1000" spc="-70" b="1">
                <a:latin typeface="宋体"/>
                <a:cs typeface="宋体"/>
              </a:rPr>
              <a:t>浮点加法器</a:t>
            </a:r>
            <a:endParaRPr sz="1000">
              <a:latin typeface="宋体"/>
              <a:cs typeface="宋体"/>
            </a:endParaRPr>
          </a:p>
        </p:txBody>
      </p:sp>
      <p:sp>
        <p:nvSpPr>
          <p:cNvPr id="40" name="object 40" descr=""/>
          <p:cNvSpPr txBox="1"/>
          <p:nvPr/>
        </p:nvSpPr>
        <p:spPr>
          <a:xfrm>
            <a:off x="10646463" y="5967520"/>
            <a:ext cx="890905" cy="312420"/>
          </a:xfrm>
          <a:prstGeom prst="rect">
            <a:avLst/>
          </a:prstGeom>
          <a:solidFill>
            <a:srgbClr val="E6CDFF"/>
          </a:solidFill>
          <a:ln w="10649">
            <a:solidFill>
              <a:srgbClr val="000000"/>
            </a:solidFill>
          </a:ln>
        </p:spPr>
        <p:txBody>
          <a:bodyPr wrap="square" lIns="0" tIns="66675" rIns="0" bIns="0" rtlCol="0" vert="horz">
            <a:spAutoFit/>
          </a:bodyPr>
          <a:lstStyle/>
          <a:p>
            <a:pPr marL="156210">
              <a:lnSpc>
                <a:spcPct val="100000"/>
              </a:lnSpc>
              <a:spcBef>
                <a:spcPts val="525"/>
              </a:spcBef>
            </a:pPr>
            <a:r>
              <a:rPr dirty="0" sz="1000" spc="-70" b="1">
                <a:latin typeface="宋体"/>
                <a:cs typeface="宋体"/>
              </a:rPr>
              <a:t>浮点乘法器</a:t>
            </a:r>
            <a:endParaRPr sz="1000">
              <a:latin typeface="宋体"/>
              <a:cs typeface="宋体"/>
            </a:endParaRPr>
          </a:p>
        </p:txBody>
      </p:sp>
      <p:grpSp>
        <p:nvGrpSpPr>
          <p:cNvPr id="41" name="object 41" descr=""/>
          <p:cNvGrpSpPr/>
          <p:nvPr/>
        </p:nvGrpSpPr>
        <p:grpSpPr>
          <a:xfrm>
            <a:off x="7000622" y="3011528"/>
            <a:ext cx="3790315" cy="2957195"/>
            <a:chOff x="7000622" y="3011528"/>
            <a:chExt cx="3790315" cy="2957195"/>
          </a:xfrm>
        </p:grpSpPr>
        <p:sp>
          <p:nvSpPr>
            <p:cNvPr id="42" name="object 42" descr=""/>
            <p:cNvSpPr/>
            <p:nvPr/>
          </p:nvSpPr>
          <p:spPr>
            <a:xfrm>
              <a:off x="10145236" y="3421686"/>
              <a:ext cx="640080" cy="625475"/>
            </a:xfrm>
            <a:custGeom>
              <a:avLst/>
              <a:gdLst/>
              <a:ahLst/>
              <a:cxnLst/>
              <a:rect l="l" t="t" r="r" b="b"/>
              <a:pathLst>
                <a:path w="640079" h="625475">
                  <a:moveTo>
                    <a:pt x="640060" y="0"/>
                  </a:moveTo>
                  <a:lnTo>
                    <a:pt x="0" y="0"/>
                  </a:lnTo>
                  <a:lnTo>
                    <a:pt x="0" y="625414"/>
                  </a:lnTo>
                  <a:lnTo>
                    <a:pt x="640060" y="625414"/>
                  </a:lnTo>
                  <a:lnTo>
                    <a:pt x="640060" y="0"/>
                  </a:lnTo>
                  <a:close/>
                </a:path>
              </a:pathLst>
            </a:custGeom>
            <a:solidFill>
              <a:srgbClr val="FFFF99"/>
            </a:solidFill>
          </p:spPr>
          <p:txBody>
            <a:bodyPr wrap="square" lIns="0" tIns="0" rIns="0" bIns="0" rtlCol="0"/>
            <a:lstStyle/>
            <a:p/>
          </p:txBody>
        </p:sp>
        <p:sp>
          <p:nvSpPr>
            <p:cNvPr id="43" name="object 43" descr=""/>
            <p:cNvSpPr/>
            <p:nvPr/>
          </p:nvSpPr>
          <p:spPr>
            <a:xfrm>
              <a:off x="10145236" y="3421686"/>
              <a:ext cx="640080" cy="625475"/>
            </a:xfrm>
            <a:custGeom>
              <a:avLst/>
              <a:gdLst/>
              <a:ahLst/>
              <a:cxnLst/>
              <a:rect l="l" t="t" r="r" b="b"/>
              <a:pathLst>
                <a:path w="640079" h="625475">
                  <a:moveTo>
                    <a:pt x="0" y="625414"/>
                  </a:moveTo>
                  <a:lnTo>
                    <a:pt x="640060" y="625414"/>
                  </a:lnTo>
                  <a:lnTo>
                    <a:pt x="640060" y="0"/>
                  </a:lnTo>
                  <a:lnTo>
                    <a:pt x="0" y="0"/>
                  </a:lnTo>
                  <a:lnTo>
                    <a:pt x="0" y="625414"/>
                  </a:lnTo>
                  <a:close/>
                </a:path>
              </a:pathLst>
            </a:custGeom>
            <a:ln w="10304">
              <a:solidFill>
                <a:srgbClr val="000000"/>
              </a:solidFill>
            </a:ln>
          </p:spPr>
          <p:txBody>
            <a:bodyPr wrap="square" lIns="0" tIns="0" rIns="0" bIns="0" rtlCol="0"/>
            <a:lstStyle/>
            <a:p/>
          </p:txBody>
        </p:sp>
        <p:sp>
          <p:nvSpPr>
            <p:cNvPr id="44" name="object 44" descr=""/>
            <p:cNvSpPr/>
            <p:nvPr/>
          </p:nvSpPr>
          <p:spPr>
            <a:xfrm>
              <a:off x="10145236" y="3578234"/>
              <a:ext cx="640715" cy="313055"/>
            </a:xfrm>
            <a:custGeom>
              <a:avLst/>
              <a:gdLst/>
              <a:ahLst/>
              <a:cxnLst/>
              <a:rect l="l" t="t" r="r" b="b"/>
              <a:pathLst>
                <a:path w="640715" h="313054">
                  <a:moveTo>
                    <a:pt x="0" y="0"/>
                  </a:moveTo>
                  <a:lnTo>
                    <a:pt x="640139" y="0"/>
                  </a:lnTo>
                </a:path>
                <a:path w="640715" h="313054">
                  <a:moveTo>
                    <a:pt x="0" y="156144"/>
                  </a:moveTo>
                  <a:lnTo>
                    <a:pt x="640139" y="156144"/>
                  </a:lnTo>
                </a:path>
                <a:path w="640715" h="313054">
                  <a:moveTo>
                    <a:pt x="0" y="312577"/>
                  </a:moveTo>
                  <a:lnTo>
                    <a:pt x="640139" y="312577"/>
                  </a:lnTo>
                </a:path>
              </a:pathLst>
            </a:custGeom>
            <a:ln w="10294">
              <a:solidFill>
                <a:srgbClr val="000000"/>
              </a:solidFill>
            </a:ln>
          </p:spPr>
          <p:txBody>
            <a:bodyPr wrap="square" lIns="0" tIns="0" rIns="0" bIns="0" rtlCol="0"/>
            <a:lstStyle/>
            <a:p/>
          </p:txBody>
        </p:sp>
        <p:sp>
          <p:nvSpPr>
            <p:cNvPr id="45" name="object 45" descr=""/>
            <p:cNvSpPr/>
            <p:nvPr/>
          </p:nvSpPr>
          <p:spPr>
            <a:xfrm>
              <a:off x="9033401" y="3012480"/>
              <a:ext cx="53340" cy="231140"/>
            </a:xfrm>
            <a:custGeom>
              <a:avLst/>
              <a:gdLst/>
              <a:ahLst/>
              <a:cxnLst/>
              <a:rect l="l" t="t" r="r" b="b"/>
              <a:pathLst>
                <a:path w="53340" h="231139">
                  <a:moveTo>
                    <a:pt x="0" y="144177"/>
                  </a:moveTo>
                  <a:lnTo>
                    <a:pt x="26352" y="230540"/>
                  </a:lnTo>
                  <a:lnTo>
                    <a:pt x="41982" y="180078"/>
                  </a:lnTo>
                  <a:lnTo>
                    <a:pt x="22909" y="180078"/>
                  </a:lnTo>
                  <a:lnTo>
                    <a:pt x="19996" y="176906"/>
                  </a:lnTo>
                  <a:lnTo>
                    <a:pt x="19996" y="165948"/>
                  </a:lnTo>
                  <a:lnTo>
                    <a:pt x="0" y="144177"/>
                  </a:lnTo>
                  <a:close/>
                </a:path>
                <a:path w="53340" h="231139">
                  <a:moveTo>
                    <a:pt x="19996" y="165948"/>
                  </a:moveTo>
                  <a:lnTo>
                    <a:pt x="19996" y="176906"/>
                  </a:lnTo>
                  <a:lnTo>
                    <a:pt x="22909" y="180078"/>
                  </a:lnTo>
                  <a:lnTo>
                    <a:pt x="30192" y="180078"/>
                  </a:lnTo>
                  <a:lnTo>
                    <a:pt x="32973" y="176906"/>
                  </a:lnTo>
                  <a:lnTo>
                    <a:pt x="32973" y="172869"/>
                  </a:lnTo>
                  <a:lnTo>
                    <a:pt x="26352" y="172869"/>
                  </a:lnTo>
                  <a:lnTo>
                    <a:pt x="19996" y="165948"/>
                  </a:lnTo>
                  <a:close/>
                </a:path>
                <a:path w="53340" h="231139">
                  <a:moveTo>
                    <a:pt x="53102" y="144177"/>
                  </a:moveTo>
                  <a:lnTo>
                    <a:pt x="32973" y="165767"/>
                  </a:lnTo>
                  <a:lnTo>
                    <a:pt x="32973" y="176906"/>
                  </a:lnTo>
                  <a:lnTo>
                    <a:pt x="30192" y="180078"/>
                  </a:lnTo>
                  <a:lnTo>
                    <a:pt x="41982" y="180078"/>
                  </a:lnTo>
                  <a:lnTo>
                    <a:pt x="53102" y="144177"/>
                  </a:lnTo>
                  <a:close/>
                </a:path>
                <a:path w="53340" h="231139">
                  <a:moveTo>
                    <a:pt x="30192" y="0"/>
                  </a:moveTo>
                  <a:lnTo>
                    <a:pt x="22909" y="0"/>
                  </a:lnTo>
                  <a:lnTo>
                    <a:pt x="19996" y="3171"/>
                  </a:lnTo>
                  <a:lnTo>
                    <a:pt x="19996" y="165948"/>
                  </a:lnTo>
                  <a:lnTo>
                    <a:pt x="26352" y="172869"/>
                  </a:lnTo>
                  <a:lnTo>
                    <a:pt x="32973" y="165767"/>
                  </a:lnTo>
                  <a:lnTo>
                    <a:pt x="32973" y="3171"/>
                  </a:lnTo>
                  <a:lnTo>
                    <a:pt x="30192" y="0"/>
                  </a:lnTo>
                  <a:close/>
                </a:path>
                <a:path w="53340" h="231139">
                  <a:moveTo>
                    <a:pt x="32973" y="165767"/>
                  </a:moveTo>
                  <a:lnTo>
                    <a:pt x="26352" y="172869"/>
                  </a:lnTo>
                  <a:lnTo>
                    <a:pt x="32973" y="172869"/>
                  </a:lnTo>
                  <a:lnTo>
                    <a:pt x="32973" y="165767"/>
                  </a:lnTo>
                  <a:close/>
                </a:path>
              </a:pathLst>
            </a:custGeom>
            <a:solidFill>
              <a:srgbClr val="000000"/>
            </a:solidFill>
          </p:spPr>
          <p:txBody>
            <a:bodyPr wrap="square" lIns="0" tIns="0" rIns="0" bIns="0" rtlCol="0"/>
            <a:lstStyle/>
            <a:p/>
          </p:txBody>
        </p:sp>
        <p:sp>
          <p:nvSpPr>
            <p:cNvPr id="46" name="object 46" descr=""/>
            <p:cNvSpPr/>
            <p:nvPr/>
          </p:nvSpPr>
          <p:spPr>
            <a:xfrm>
              <a:off x="9033401" y="3012480"/>
              <a:ext cx="53340" cy="231140"/>
            </a:xfrm>
            <a:custGeom>
              <a:avLst/>
              <a:gdLst/>
              <a:ahLst/>
              <a:cxnLst/>
              <a:rect l="l" t="t" r="r" b="b"/>
              <a:pathLst>
                <a:path w="53340" h="231139">
                  <a:moveTo>
                    <a:pt x="32973" y="7353"/>
                  </a:moveTo>
                  <a:lnTo>
                    <a:pt x="32973" y="172869"/>
                  </a:lnTo>
                  <a:lnTo>
                    <a:pt x="32973" y="176906"/>
                  </a:lnTo>
                  <a:lnTo>
                    <a:pt x="30192" y="180078"/>
                  </a:lnTo>
                  <a:lnTo>
                    <a:pt x="26352" y="180078"/>
                  </a:lnTo>
                  <a:lnTo>
                    <a:pt x="22909" y="180078"/>
                  </a:lnTo>
                  <a:lnTo>
                    <a:pt x="19996" y="176906"/>
                  </a:lnTo>
                  <a:lnTo>
                    <a:pt x="19996" y="172869"/>
                  </a:lnTo>
                  <a:lnTo>
                    <a:pt x="19996" y="7353"/>
                  </a:lnTo>
                  <a:lnTo>
                    <a:pt x="19996" y="3171"/>
                  </a:lnTo>
                  <a:lnTo>
                    <a:pt x="22909" y="0"/>
                  </a:lnTo>
                  <a:lnTo>
                    <a:pt x="26352" y="0"/>
                  </a:lnTo>
                  <a:lnTo>
                    <a:pt x="30192" y="0"/>
                  </a:lnTo>
                  <a:lnTo>
                    <a:pt x="32973" y="3171"/>
                  </a:lnTo>
                  <a:lnTo>
                    <a:pt x="32973" y="7353"/>
                  </a:lnTo>
                  <a:close/>
                </a:path>
                <a:path w="53340" h="231139">
                  <a:moveTo>
                    <a:pt x="26352" y="172869"/>
                  </a:moveTo>
                  <a:lnTo>
                    <a:pt x="53102" y="144177"/>
                  </a:lnTo>
                  <a:lnTo>
                    <a:pt x="26352" y="230540"/>
                  </a:lnTo>
                  <a:lnTo>
                    <a:pt x="0" y="144177"/>
                  </a:lnTo>
                  <a:lnTo>
                    <a:pt x="26352" y="172869"/>
                  </a:lnTo>
                  <a:close/>
                </a:path>
              </a:pathLst>
            </a:custGeom>
            <a:ln w="3175">
              <a:solidFill>
                <a:srgbClr val="000000"/>
              </a:solidFill>
            </a:ln>
          </p:spPr>
          <p:txBody>
            <a:bodyPr wrap="square" lIns="0" tIns="0" rIns="0" bIns="0" rtlCol="0"/>
            <a:lstStyle/>
            <a:p/>
          </p:txBody>
        </p:sp>
        <p:sp>
          <p:nvSpPr>
            <p:cNvPr id="47" name="object 47" descr=""/>
            <p:cNvSpPr/>
            <p:nvPr/>
          </p:nvSpPr>
          <p:spPr>
            <a:xfrm>
              <a:off x="8002212" y="3913015"/>
              <a:ext cx="946785" cy="89535"/>
            </a:xfrm>
            <a:custGeom>
              <a:avLst/>
              <a:gdLst/>
              <a:ahLst/>
              <a:cxnLst/>
              <a:rect l="l" t="t" r="r" b="b"/>
              <a:pathLst>
                <a:path w="946784" h="89535">
                  <a:moveTo>
                    <a:pt x="946304" y="0"/>
                  </a:moveTo>
                  <a:lnTo>
                    <a:pt x="946304" y="89101"/>
                  </a:lnTo>
                </a:path>
                <a:path w="946784" h="89535">
                  <a:moveTo>
                    <a:pt x="0" y="89101"/>
                  </a:moveTo>
                  <a:lnTo>
                    <a:pt x="946304" y="89101"/>
                  </a:lnTo>
                </a:path>
              </a:pathLst>
            </a:custGeom>
            <a:ln w="10294">
              <a:solidFill>
                <a:srgbClr val="000000"/>
              </a:solidFill>
            </a:ln>
          </p:spPr>
          <p:txBody>
            <a:bodyPr wrap="square" lIns="0" tIns="0" rIns="0" bIns="0" rtlCol="0"/>
            <a:lstStyle/>
            <a:p/>
          </p:txBody>
        </p:sp>
        <p:sp>
          <p:nvSpPr>
            <p:cNvPr id="48" name="object 48" descr=""/>
            <p:cNvSpPr/>
            <p:nvPr/>
          </p:nvSpPr>
          <p:spPr>
            <a:xfrm>
              <a:off x="7975860" y="3995196"/>
              <a:ext cx="52705" cy="186055"/>
            </a:xfrm>
            <a:custGeom>
              <a:avLst/>
              <a:gdLst/>
              <a:ahLst/>
              <a:cxnLst/>
              <a:rect l="l" t="t" r="r" b="b"/>
              <a:pathLst>
                <a:path w="52704" h="186054">
                  <a:moveTo>
                    <a:pt x="0" y="99194"/>
                  </a:moveTo>
                  <a:lnTo>
                    <a:pt x="26352" y="185989"/>
                  </a:lnTo>
                  <a:lnTo>
                    <a:pt x="41673" y="135527"/>
                  </a:lnTo>
                  <a:lnTo>
                    <a:pt x="22909" y="135527"/>
                  </a:lnTo>
                  <a:lnTo>
                    <a:pt x="19731" y="132066"/>
                  </a:lnTo>
                  <a:lnTo>
                    <a:pt x="19731" y="120892"/>
                  </a:lnTo>
                  <a:lnTo>
                    <a:pt x="0" y="99194"/>
                  </a:lnTo>
                  <a:close/>
                </a:path>
                <a:path w="52704" h="186054">
                  <a:moveTo>
                    <a:pt x="19731" y="120892"/>
                  </a:moveTo>
                  <a:lnTo>
                    <a:pt x="19731" y="132066"/>
                  </a:lnTo>
                  <a:lnTo>
                    <a:pt x="22909" y="135527"/>
                  </a:lnTo>
                  <a:lnTo>
                    <a:pt x="29795" y="135527"/>
                  </a:lnTo>
                  <a:lnTo>
                    <a:pt x="32973" y="132066"/>
                  </a:lnTo>
                  <a:lnTo>
                    <a:pt x="32973" y="128174"/>
                  </a:lnTo>
                  <a:lnTo>
                    <a:pt x="26352" y="128174"/>
                  </a:lnTo>
                  <a:lnTo>
                    <a:pt x="19731" y="120892"/>
                  </a:lnTo>
                  <a:close/>
                </a:path>
                <a:path w="52704" h="186054">
                  <a:moveTo>
                    <a:pt x="52704" y="99194"/>
                  </a:moveTo>
                  <a:lnTo>
                    <a:pt x="32973" y="120892"/>
                  </a:lnTo>
                  <a:lnTo>
                    <a:pt x="32973" y="132066"/>
                  </a:lnTo>
                  <a:lnTo>
                    <a:pt x="29795" y="135527"/>
                  </a:lnTo>
                  <a:lnTo>
                    <a:pt x="41673" y="135527"/>
                  </a:lnTo>
                  <a:lnTo>
                    <a:pt x="52704" y="99194"/>
                  </a:lnTo>
                  <a:close/>
                </a:path>
                <a:path w="52704" h="186054">
                  <a:moveTo>
                    <a:pt x="29795" y="0"/>
                  </a:moveTo>
                  <a:lnTo>
                    <a:pt x="22909" y="0"/>
                  </a:lnTo>
                  <a:lnTo>
                    <a:pt x="19731" y="3171"/>
                  </a:lnTo>
                  <a:lnTo>
                    <a:pt x="19731" y="120892"/>
                  </a:lnTo>
                  <a:lnTo>
                    <a:pt x="26352" y="128174"/>
                  </a:lnTo>
                  <a:lnTo>
                    <a:pt x="32973" y="120892"/>
                  </a:lnTo>
                  <a:lnTo>
                    <a:pt x="32973" y="3171"/>
                  </a:lnTo>
                  <a:lnTo>
                    <a:pt x="29795" y="0"/>
                  </a:lnTo>
                  <a:close/>
                </a:path>
                <a:path w="52704" h="186054">
                  <a:moveTo>
                    <a:pt x="32973" y="120892"/>
                  </a:moveTo>
                  <a:lnTo>
                    <a:pt x="26352" y="128174"/>
                  </a:lnTo>
                  <a:lnTo>
                    <a:pt x="32973" y="128174"/>
                  </a:lnTo>
                  <a:lnTo>
                    <a:pt x="32973" y="120892"/>
                  </a:lnTo>
                  <a:close/>
                </a:path>
              </a:pathLst>
            </a:custGeom>
            <a:solidFill>
              <a:srgbClr val="000000"/>
            </a:solidFill>
          </p:spPr>
          <p:txBody>
            <a:bodyPr wrap="square" lIns="0" tIns="0" rIns="0" bIns="0" rtlCol="0"/>
            <a:lstStyle/>
            <a:p/>
          </p:txBody>
        </p:sp>
        <p:sp>
          <p:nvSpPr>
            <p:cNvPr id="49" name="object 49" descr=""/>
            <p:cNvSpPr/>
            <p:nvPr/>
          </p:nvSpPr>
          <p:spPr>
            <a:xfrm>
              <a:off x="7975860" y="3995196"/>
              <a:ext cx="52705" cy="186055"/>
            </a:xfrm>
            <a:custGeom>
              <a:avLst/>
              <a:gdLst/>
              <a:ahLst/>
              <a:cxnLst/>
              <a:rect l="l" t="t" r="r" b="b"/>
              <a:pathLst>
                <a:path w="52704" h="186054">
                  <a:moveTo>
                    <a:pt x="32973" y="6920"/>
                  </a:moveTo>
                  <a:lnTo>
                    <a:pt x="32973" y="128174"/>
                  </a:lnTo>
                  <a:lnTo>
                    <a:pt x="32973" y="132066"/>
                  </a:lnTo>
                  <a:lnTo>
                    <a:pt x="29795" y="135527"/>
                  </a:lnTo>
                  <a:lnTo>
                    <a:pt x="26352" y="135527"/>
                  </a:lnTo>
                  <a:lnTo>
                    <a:pt x="22909" y="135527"/>
                  </a:lnTo>
                  <a:lnTo>
                    <a:pt x="19731" y="132066"/>
                  </a:lnTo>
                  <a:lnTo>
                    <a:pt x="19731" y="128174"/>
                  </a:lnTo>
                  <a:lnTo>
                    <a:pt x="19731" y="6920"/>
                  </a:lnTo>
                  <a:lnTo>
                    <a:pt x="19731" y="3171"/>
                  </a:lnTo>
                  <a:lnTo>
                    <a:pt x="22909" y="0"/>
                  </a:lnTo>
                  <a:lnTo>
                    <a:pt x="26352" y="0"/>
                  </a:lnTo>
                  <a:lnTo>
                    <a:pt x="29795" y="0"/>
                  </a:lnTo>
                  <a:lnTo>
                    <a:pt x="32973" y="3171"/>
                  </a:lnTo>
                  <a:lnTo>
                    <a:pt x="32973" y="6920"/>
                  </a:lnTo>
                  <a:close/>
                </a:path>
                <a:path w="52704" h="186054">
                  <a:moveTo>
                    <a:pt x="26352" y="128174"/>
                  </a:moveTo>
                  <a:lnTo>
                    <a:pt x="52704" y="99194"/>
                  </a:lnTo>
                  <a:lnTo>
                    <a:pt x="26352" y="185989"/>
                  </a:lnTo>
                  <a:lnTo>
                    <a:pt x="0" y="99194"/>
                  </a:lnTo>
                  <a:lnTo>
                    <a:pt x="26352" y="128174"/>
                  </a:lnTo>
                  <a:close/>
                </a:path>
              </a:pathLst>
            </a:custGeom>
            <a:ln w="3175">
              <a:solidFill>
                <a:srgbClr val="000000"/>
              </a:solidFill>
            </a:ln>
          </p:spPr>
          <p:txBody>
            <a:bodyPr wrap="square" lIns="0" tIns="0" rIns="0" bIns="0" rtlCol="0"/>
            <a:lstStyle/>
            <a:p/>
          </p:txBody>
        </p:sp>
        <p:sp>
          <p:nvSpPr>
            <p:cNvPr id="50" name="object 50" descr=""/>
            <p:cNvSpPr/>
            <p:nvPr/>
          </p:nvSpPr>
          <p:spPr>
            <a:xfrm>
              <a:off x="7975860" y="4397020"/>
              <a:ext cx="52705" cy="231140"/>
            </a:xfrm>
            <a:custGeom>
              <a:avLst/>
              <a:gdLst/>
              <a:ahLst/>
              <a:cxnLst/>
              <a:rect l="l" t="t" r="r" b="b"/>
              <a:pathLst>
                <a:path w="52704" h="231139">
                  <a:moveTo>
                    <a:pt x="0" y="144177"/>
                  </a:moveTo>
                  <a:lnTo>
                    <a:pt x="26352" y="230540"/>
                  </a:lnTo>
                  <a:lnTo>
                    <a:pt x="41750" y="180078"/>
                  </a:lnTo>
                  <a:lnTo>
                    <a:pt x="22909" y="180078"/>
                  </a:lnTo>
                  <a:lnTo>
                    <a:pt x="19731" y="176906"/>
                  </a:lnTo>
                  <a:lnTo>
                    <a:pt x="19731" y="165660"/>
                  </a:lnTo>
                  <a:lnTo>
                    <a:pt x="0" y="144177"/>
                  </a:lnTo>
                  <a:close/>
                </a:path>
                <a:path w="52704" h="231139">
                  <a:moveTo>
                    <a:pt x="19731" y="165660"/>
                  </a:moveTo>
                  <a:lnTo>
                    <a:pt x="19731" y="176906"/>
                  </a:lnTo>
                  <a:lnTo>
                    <a:pt x="22909" y="180078"/>
                  </a:lnTo>
                  <a:lnTo>
                    <a:pt x="29795" y="180078"/>
                  </a:lnTo>
                  <a:lnTo>
                    <a:pt x="32973" y="176906"/>
                  </a:lnTo>
                  <a:lnTo>
                    <a:pt x="32973" y="172869"/>
                  </a:lnTo>
                  <a:lnTo>
                    <a:pt x="26352" y="172869"/>
                  </a:lnTo>
                  <a:lnTo>
                    <a:pt x="19731" y="165660"/>
                  </a:lnTo>
                  <a:close/>
                </a:path>
                <a:path w="52704" h="231139">
                  <a:moveTo>
                    <a:pt x="52704" y="144177"/>
                  </a:moveTo>
                  <a:lnTo>
                    <a:pt x="32973" y="165660"/>
                  </a:lnTo>
                  <a:lnTo>
                    <a:pt x="32973" y="176906"/>
                  </a:lnTo>
                  <a:lnTo>
                    <a:pt x="29795" y="180078"/>
                  </a:lnTo>
                  <a:lnTo>
                    <a:pt x="41750" y="180078"/>
                  </a:lnTo>
                  <a:lnTo>
                    <a:pt x="52704" y="144177"/>
                  </a:lnTo>
                  <a:close/>
                </a:path>
                <a:path w="52704" h="231139">
                  <a:moveTo>
                    <a:pt x="29795" y="0"/>
                  </a:moveTo>
                  <a:lnTo>
                    <a:pt x="22909" y="0"/>
                  </a:lnTo>
                  <a:lnTo>
                    <a:pt x="19731" y="3171"/>
                  </a:lnTo>
                  <a:lnTo>
                    <a:pt x="19731" y="165660"/>
                  </a:lnTo>
                  <a:lnTo>
                    <a:pt x="26352" y="172869"/>
                  </a:lnTo>
                  <a:lnTo>
                    <a:pt x="32973" y="165660"/>
                  </a:lnTo>
                  <a:lnTo>
                    <a:pt x="32973" y="3171"/>
                  </a:lnTo>
                  <a:lnTo>
                    <a:pt x="29795" y="0"/>
                  </a:lnTo>
                  <a:close/>
                </a:path>
                <a:path w="52704" h="231139">
                  <a:moveTo>
                    <a:pt x="32973" y="165660"/>
                  </a:moveTo>
                  <a:lnTo>
                    <a:pt x="26352" y="172869"/>
                  </a:lnTo>
                  <a:lnTo>
                    <a:pt x="32973" y="172869"/>
                  </a:lnTo>
                  <a:lnTo>
                    <a:pt x="32973" y="165660"/>
                  </a:lnTo>
                  <a:close/>
                </a:path>
              </a:pathLst>
            </a:custGeom>
            <a:solidFill>
              <a:srgbClr val="000000"/>
            </a:solidFill>
          </p:spPr>
          <p:txBody>
            <a:bodyPr wrap="square" lIns="0" tIns="0" rIns="0" bIns="0" rtlCol="0"/>
            <a:lstStyle/>
            <a:p/>
          </p:txBody>
        </p:sp>
        <p:sp>
          <p:nvSpPr>
            <p:cNvPr id="51" name="object 51" descr=""/>
            <p:cNvSpPr/>
            <p:nvPr/>
          </p:nvSpPr>
          <p:spPr>
            <a:xfrm>
              <a:off x="7975860" y="4397020"/>
              <a:ext cx="52705" cy="231140"/>
            </a:xfrm>
            <a:custGeom>
              <a:avLst/>
              <a:gdLst/>
              <a:ahLst/>
              <a:cxnLst/>
              <a:rect l="l" t="t" r="r" b="b"/>
              <a:pathLst>
                <a:path w="52704" h="231139">
                  <a:moveTo>
                    <a:pt x="32973" y="7353"/>
                  </a:moveTo>
                  <a:lnTo>
                    <a:pt x="32973" y="172869"/>
                  </a:lnTo>
                  <a:lnTo>
                    <a:pt x="32973" y="176906"/>
                  </a:lnTo>
                  <a:lnTo>
                    <a:pt x="29795" y="180078"/>
                  </a:lnTo>
                  <a:lnTo>
                    <a:pt x="26352" y="180078"/>
                  </a:lnTo>
                  <a:lnTo>
                    <a:pt x="22909" y="180078"/>
                  </a:lnTo>
                  <a:lnTo>
                    <a:pt x="19731" y="176906"/>
                  </a:lnTo>
                  <a:lnTo>
                    <a:pt x="19731" y="172869"/>
                  </a:lnTo>
                  <a:lnTo>
                    <a:pt x="19731" y="7353"/>
                  </a:lnTo>
                  <a:lnTo>
                    <a:pt x="19731" y="3171"/>
                  </a:lnTo>
                  <a:lnTo>
                    <a:pt x="22909" y="0"/>
                  </a:lnTo>
                  <a:lnTo>
                    <a:pt x="26352" y="0"/>
                  </a:lnTo>
                  <a:lnTo>
                    <a:pt x="29795" y="0"/>
                  </a:lnTo>
                  <a:lnTo>
                    <a:pt x="32973" y="3171"/>
                  </a:lnTo>
                  <a:lnTo>
                    <a:pt x="32973" y="7353"/>
                  </a:lnTo>
                  <a:close/>
                </a:path>
                <a:path w="52704" h="231139">
                  <a:moveTo>
                    <a:pt x="26352" y="172869"/>
                  </a:moveTo>
                  <a:lnTo>
                    <a:pt x="52704" y="144177"/>
                  </a:lnTo>
                  <a:lnTo>
                    <a:pt x="26352" y="230540"/>
                  </a:lnTo>
                  <a:lnTo>
                    <a:pt x="0" y="144177"/>
                  </a:lnTo>
                  <a:lnTo>
                    <a:pt x="26352" y="172869"/>
                  </a:lnTo>
                  <a:close/>
                </a:path>
              </a:pathLst>
            </a:custGeom>
            <a:ln w="3175">
              <a:solidFill>
                <a:srgbClr val="000000"/>
              </a:solidFill>
            </a:ln>
          </p:spPr>
          <p:txBody>
            <a:bodyPr wrap="square" lIns="0" tIns="0" rIns="0" bIns="0" rtlCol="0"/>
            <a:lstStyle/>
            <a:p/>
          </p:txBody>
        </p:sp>
        <p:sp>
          <p:nvSpPr>
            <p:cNvPr id="52" name="object 52" descr=""/>
            <p:cNvSpPr/>
            <p:nvPr/>
          </p:nvSpPr>
          <p:spPr>
            <a:xfrm>
              <a:off x="7447036" y="4486266"/>
              <a:ext cx="53340" cy="141605"/>
            </a:xfrm>
            <a:custGeom>
              <a:avLst/>
              <a:gdLst/>
              <a:ahLst/>
              <a:cxnLst/>
              <a:rect l="l" t="t" r="r" b="b"/>
              <a:pathLst>
                <a:path w="53340" h="141604">
                  <a:moveTo>
                    <a:pt x="0" y="54931"/>
                  </a:moveTo>
                  <a:lnTo>
                    <a:pt x="26392" y="141294"/>
                  </a:lnTo>
                  <a:lnTo>
                    <a:pt x="41813" y="90832"/>
                  </a:lnTo>
                  <a:lnTo>
                    <a:pt x="22578" y="90832"/>
                  </a:lnTo>
                  <a:lnTo>
                    <a:pt x="19717" y="87660"/>
                  </a:lnTo>
                  <a:lnTo>
                    <a:pt x="19717" y="76367"/>
                  </a:lnTo>
                  <a:lnTo>
                    <a:pt x="0" y="54931"/>
                  </a:lnTo>
                  <a:close/>
                </a:path>
                <a:path w="53340" h="141604">
                  <a:moveTo>
                    <a:pt x="19717" y="76367"/>
                  </a:moveTo>
                  <a:lnTo>
                    <a:pt x="19717" y="87660"/>
                  </a:lnTo>
                  <a:lnTo>
                    <a:pt x="22578" y="90832"/>
                  </a:lnTo>
                  <a:lnTo>
                    <a:pt x="29888" y="90832"/>
                  </a:lnTo>
                  <a:lnTo>
                    <a:pt x="33066" y="87660"/>
                  </a:lnTo>
                  <a:lnTo>
                    <a:pt x="33066" y="83623"/>
                  </a:lnTo>
                  <a:lnTo>
                    <a:pt x="26392" y="83623"/>
                  </a:lnTo>
                  <a:lnTo>
                    <a:pt x="19717" y="76367"/>
                  </a:lnTo>
                  <a:close/>
                </a:path>
                <a:path w="53340" h="141604">
                  <a:moveTo>
                    <a:pt x="52784" y="54931"/>
                  </a:moveTo>
                  <a:lnTo>
                    <a:pt x="33066" y="76367"/>
                  </a:lnTo>
                  <a:lnTo>
                    <a:pt x="33066" y="87660"/>
                  </a:lnTo>
                  <a:lnTo>
                    <a:pt x="29888" y="90832"/>
                  </a:lnTo>
                  <a:lnTo>
                    <a:pt x="41813" y="90832"/>
                  </a:lnTo>
                  <a:lnTo>
                    <a:pt x="52784" y="54931"/>
                  </a:lnTo>
                  <a:close/>
                </a:path>
                <a:path w="53340" h="141604">
                  <a:moveTo>
                    <a:pt x="29888" y="0"/>
                  </a:moveTo>
                  <a:lnTo>
                    <a:pt x="22578" y="0"/>
                  </a:lnTo>
                  <a:lnTo>
                    <a:pt x="19717" y="3460"/>
                  </a:lnTo>
                  <a:lnTo>
                    <a:pt x="19717" y="76367"/>
                  </a:lnTo>
                  <a:lnTo>
                    <a:pt x="26392" y="83623"/>
                  </a:lnTo>
                  <a:lnTo>
                    <a:pt x="33066" y="76367"/>
                  </a:lnTo>
                  <a:lnTo>
                    <a:pt x="33066" y="3460"/>
                  </a:lnTo>
                  <a:lnTo>
                    <a:pt x="29888" y="0"/>
                  </a:lnTo>
                  <a:close/>
                </a:path>
                <a:path w="53340" h="141604">
                  <a:moveTo>
                    <a:pt x="33066" y="76367"/>
                  </a:moveTo>
                  <a:lnTo>
                    <a:pt x="26392" y="83623"/>
                  </a:lnTo>
                  <a:lnTo>
                    <a:pt x="33066" y="83623"/>
                  </a:lnTo>
                  <a:lnTo>
                    <a:pt x="33066" y="76367"/>
                  </a:lnTo>
                  <a:close/>
                </a:path>
              </a:pathLst>
            </a:custGeom>
            <a:solidFill>
              <a:srgbClr val="000000"/>
            </a:solidFill>
          </p:spPr>
          <p:txBody>
            <a:bodyPr wrap="square" lIns="0" tIns="0" rIns="0" bIns="0" rtlCol="0"/>
            <a:lstStyle/>
            <a:p/>
          </p:txBody>
        </p:sp>
        <p:sp>
          <p:nvSpPr>
            <p:cNvPr id="53" name="object 53" descr=""/>
            <p:cNvSpPr/>
            <p:nvPr/>
          </p:nvSpPr>
          <p:spPr>
            <a:xfrm>
              <a:off x="7447036" y="4486266"/>
              <a:ext cx="53340" cy="141605"/>
            </a:xfrm>
            <a:custGeom>
              <a:avLst/>
              <a:gdLst/>
              <a:ahLst/>
              <a:cxnLst/>
              <a:rect l="l" t="t" r="r" b="b"/>
              <a:pathLst>
                <a:path w="53340" h="141604">
                  <a:moveTo>
                    <a:pt x="33066" y="7208"/>
                  </a:moveTo>
                  <a:lnTo>
                    <a:pt x="33066" y="83623"/>
                  </a:lnTo>
                  <a:lnTo>
                    <a:pt x="33066" y="87660"/>
                  </a:lnTo>
                  <a:lnTo>
                    <a:pt x="29888" y="90832"/>
                  </a:lnTo>
                  <a:lnTo>
                    <a:pt x="26392" y="90832"/>
                  </a:lnTo>
                  <a:lnTo>
                    <a:pt x="22578" y="90832"/>
                  </a:lnTo>
                  <a:lnTo>
                    <a:pt x="19717" y="87660"/>
                  </a:lnTo>
                  <a:lnTo>
                    <a:pt x="19717" y="83623"/>
                  </a:lnTo>
                  <a:lnTo>
                    <a:pt x="19717" y="7208"/>
                  </a:lnTo>
                  <a:lnTo>
                    <a:pt x="19717" y="3460"/>
                  </a:lnTo>
                  <a:lnTo>
                    <a:pt x="22578" y="0"/>
                  </a:lnTo>
                  <a:lnTo>
                    <a:pt x="26392" y="0"/>
                  </a:lnTo>
                  <a:lnTo>
                    <a:pt x="29888" y="0"/>
                  </a:lnTo>
                  <a:lnTo>
                    <a:pt x="33066" y="3460"/>
                  </a:lnTo>
                  <a:lnTo>
                    <a:pt x="33066" y="7208"/>
                  </a:lnTo>
                  <a:close/>
                </a:path>
                <a:path w="53340" h="141604">
                  <a:moveTo>
                    <a:pt x="26392" y="83623"/>
                  </a:moveTo>
                  <a:lnTo>
                    <a:pt x="52784" y="54931"/>
                  </a:lnTo>
                  <a:lnTo>
                    <a:pt x="26392" y="141294"/>
                  </a:lnTo>
                  <a:lnTo>
                    <a:pt x="0" y="54931"/>
                  </a:lnTo>
                  <a:lnTo>
                    <a:pt x="26392" y="83623"/>
                  </a:lnTo>
                  <a:close/>
                </a:path>
              </a:pathLst>
            </a:custGeom>
            <a:ln w="3175">
              <a:solidFill>
                <a:srgbClr val="000000"/>
              </a:solidFill>
            </a:ln>
          </p:spPr>
          <p:txBody>
            <a:bodyPr wrap="square" lIns="0" tIns="0" rIns="0" bIns="0" rtlCol="0"/>
            <a:lstStyle/>
            <a:p/>
          </p:txBody>
        </p:sp>
        <p:sp>
          <p:nvSpPr>
            <p:cNvPr id="54" name="object 54" descr=""/>
            <p:cNvSpPr/>
            <p:nvPr/>
          </p:nvSpPr>
          <p:spPr>
            <a:xfrm>
              <a:off x="7473429" y="4493475"/>
              <a:ext cx="528955" cy="0"/>
            </a:xfrm>
            <a:custGeom>
              <a:avLst/>
              <a:gdLst/>
              <a:ahLst/>
              <a:cxnLst/>
              <a:rect l="l" t="t" r="r" b="b"/>
              <a:pathLst>
                <a:path w="528954" h="0">
                  <a:moveTo>
                    <a:pt x="0" y="0"/>
                  </a:moveTo>
                  <a:lnTo>
                    <a:pt x="528783" y="0"/>
                  </a:lnTo>
                </a:path>
              </a:pathLst>
            </a:custGeom>
            <a:ln w="10731">
              <a:solidFill>
                <a:srgbClr val="000000"/>
              </a:solidFill>
            </a:ln>
          </p:spPr>
          <p:txBody>
            <a:bodyPr wrap="square" lIns="0" tIns="0" rIns="0" bIns="0" rtlCol="0"/>
            <a:lstStyle/>
            <a:p/>
          </p:txBody>
        </p:sp>
        <p:sp>
          <p:nvSpPr>
            <p:cNvPr id="55" name="object 55" descr=""/>
            <p:cNvSpPr/>
            <p:nvPr/>
          </p:nvSpPr>
          <p:spPr>
            <a:xfrm>
              <a:off x="7001574" y="5602981"/>
              <a:ext cx="53340" cy="365125"/>
            </a:xfrm>
            <a:custGeom>
              <a:avLst/>
              <a:gdLst/>
              <a:ahLst/>
              <a:cxnLst/>
              <a:rect l="l" t="t" r="r" b="b"/>
              <a:pathLst>
                <a:path w="53340" h="365125">
                  <a:moveTo>
                    <a:pt x="0" y="277816"/>
                  </a:moveTo>
                  <a:lnTo>
                    <a:pt x="26378" y="364539"/>
                  </a:lnTo>
                  <a:lnTo>
                    <a:pt x="41916" y="314091"/>
                  </a:lnTo>
                  <a:lnTo>
                    <a:pt x="22882" y="314091"/>
                  </a:lnTo>
                  <a:lnTo>
                    <a:pt x="20022" y="310645"/>
                  </a:lnTo>
                  <a:lnTo>
                    <a:pt x="20022" y="299845"/>
                  </a:lnTo>
                  <a:lnTo>
                    <a:pt x="0" y="277816"/>
                  </a:lnTo>
                  <a:close/>
                </a:path>
                <a:path w="53340" h="365125">
                  <a:moveTo>
                    <a:pt x="20022" y="299845"/>
                  </a:moveTo>
                  <a:lnTo>
                    <a:pt x="20022" y="310645"/>
                  </a:lnTo>
                  <a:lnTo>
                    <a:pt x="22882" y="314091"/>
                  </a:lnTo>
                  <a:lnTo>
                    <a:pt x="30206" y="314091"/>
                  </a:lnTo>
                  <a:lnTo>
                    <a:pt x="33066" y="310645"/>
                  </a:lnTo>
                  <a:lnTo>
                    <a:pt x="33066" y="306839"/>
                  </a:lnTo>
                  <a:lnTo>
                    <a:pt x="26378" y="306839"/>
                  </a:lnTo>
                  <a:lnTo>
                    <a:pt x="20022" y="299845"/>
                  </a:lnTo>
                  <a:close/>
                </a:path>
                <a:path w="53340" h="365125">
                  <a:moveTo>
                    <a:pt x="53088" y="277816"/>
                  </a:moveTo>
                  <a:lnTo>
                    <a:pt x="33066" y="299572"/>
                  </a:lnTo>
                  <a:lnTo>
                    <a:pt x="33066" y="310645"/>
                  </a:lnTo>
                  <a:lnTo>
                    <a:pt x="30206" y="314091"/>
                  </a:lnTo>
                  <a:lnTo>
                    <a:pt x="41916" y="314091"/>
                  </a:lnTo>
                  <a:lnTo>
                    <a:pt x="53088" y="277816"/>
                  </a:lnTo>
                  <a:close/>
                </a:path>
                <a:path w="53340" h="365125">
                  <a:moveTo>
                    <a:pt x="30205" y="0"/>
                  </a:moveTo>
                  <a:lnTo>
                    <a:pt x="22882" y="0"/>
                  </a:lnTo>
                  <a:lnTo>
                    <a:pt x="20022" y="3114"/>
                  </a:lnTo>
                  <a:lnTo>
                    <a:pt x="20022" y="299845"/>
                  </a:lnTo>
                  <a:lnTo>
                    <a:pt x="26378" y="306839"/>
                  </a:lnTo>
                  <a:lnTo>
                    <a:pt x="33066" y="299572"/>
                  </a:lnTo>
                  <a:lnTo>
                    <a:pt x="33066" y="3114"/>
                  </a:lnTo>
                  <a:lnTo>
                    <a:pt x="30205" y="0"/>
                  </a:lnTo>
                  <a:close/>
                </a:path>
                <a:path w="53340" h="365125">
                  <a:moveTo>
                    <a:pt x="33066" y="299572"/>
                  </a:moveTo>
                  <a:lnTo>
                    <a:pt x="26378" y="306839"/>
                  </a:lnTo>
                  <a:lnTo>
                    <a:pt x="33066" y="306839"/>
                  </a:lnTo>
                  <a:lnTo>
                    <a:pt x="33066" y="299572"/>
                  </a:lnTo>
                  <a:close/>
                </a:path>
              </a:pathLst>
            </a:custGeom>
            <a:solidFill>
              <a:srgbClr val="000000"/>
            </a:solidFill>
          </p:spPr>
          <p:txBody>
            <a:bodyPr wrap="square" lIns="0" tIns="0" rIns="0" bIns="0" rtlCol="0"/>
            <a:lstStyle/>
            <a:p/>
          </p:txBody>
        </p:sp>
        <p:sp>
          <p:nvSpPr>
            <p:cNvPr id="56" name="object 56" descr=""/>
            <p:cNvSpPr/>
            <p:nvPr/>
          </p:nvSpPr>
          <p:spPr>
            <a:xfrm>
              <a:off x="7001574" y="5602981"/>
              <a:ext cx="53340" cy="365125"/>
            </a:xfrm>
            <a:custGeom>
              <a:avLst/>
              <a:gdLst/>
              <a:ahLst/>
              <a:cxnLst/>
              <a:rect l="l" t="t" r="r" b="b"/>
              <a:pathLst>
                <a:path w="53340" h="365125">
                  <a:moveTo>
                    <a:pt x="33066" y="6920"/>
                  </a:moveTo>
                  <a:lnTo>
                    <a:pt x="33066" y="306839"/>
                  </a:lnTo>
                  <a:lnTo>
                    <a:pt x="33066" y="310645"/>
                  </a:lnTo>
                  <a:lnTo>
                    <a:pt x="30206" y="314091"/>
                  </a:lnTo>
                  <a:lnTo>
                    <a:pt x="26378" y="314091"/>
                  </a:lnTo>
                  <a:lnTo>
                    <a:pt x="22882" y="314091"/>
                  </a:lnTo>
                  <a:lnTo>
                    <a:pt x="20022" y="310645"/>
                  </a:lnTo>
                  <a:lnTo>
                    <a:pt x="20022" y="306839"/>
                  </a:lnTo>
                  <a:lnTo>
                    <a:pt x="20022" y="6920"/>
                  </a:lnTo>
                  <a:lnTo>
                    <a:pt x="20022" y="3114"/>
                  </a:lnTo>
                  <a:lnTo>
                    <a:pt x="22882" y="0"/>
                  </a:lnTo>
                  <a:lnTo>
                    <a:pt x="26378" y="0"/>
                  </a:lnTo>
                  <a:lnTo>
                    <a:pt x="30205" y="0"/>
                  </a:lnTo>
                  <a:lnTo>
                    <a:pt x="33066" y="3114"/>
                  </a:lnTo>
                  <a:lnTo>
                    <a:pt x="33066" y="6920"/>
                  </a:lnTo>
                  <a:close/>
                </a:path>
                <a:path w="53340" h="365125">
                  <a:moveTo>
                    <a:pt x="26378" y="306839"/>
                  </a:moveTo>
                  <a:lnTo>
                    <a:pt x="53088" y="277816"/>
                  </a:lnTo>
                  <a:lnTo>
                    <a:pt x="26378" y="364539"/>
                  </a:lnTo>
                  <a:lnTo>
                    <a:pt x="0" y="277816"/>
                  </a:lnTo>
                  <a:lnTo>
                    <a:pt x="26378" y="306839"/>
                  </a:lnTo>
                  <a:close/>
                </a:path>
              </a:pathLst>
            </a:custGeom>
            <a:ln w="3175">
              <a:solidFill>
                <a:srgbClr val="000000"/>
              </a:solidFill>
            </a:ln>
          </p:spPr>
          <p:txBody>
            <a:bodyPr wrap="square" lIns="0" tIns="0" rIns="0" bIns="0" rtlCol="0"/>
            <a:lstStyle/>
            <a:p/>
          </p:txBody>
        </p:sp>
        <p:sp>
          <p:nvSpPr>
            <p:cNvPr id="57" name="object 57" descr=""/>
            <p:cNvSpPr/>
            <p:nvPr/>
          </p:nvSpPr>
          <p:spPr>
            <a:xfrm>
              <a:off x="7920110" y="5602981"/>
              <a:ext cx="53340" cy="365125"/>
            </a:xfrm>
            <a:custGeom>
              <a:avLst/>
              <a:gdLst/>
              <a:ahLst/>
              <a:cxnLst/>
              <a:rect l="l" t="t" r="r" b="b"/>
              <a:pathLst>
                <a:path w="53340" h="365125">
                  <a:moveTo>
                    <a:pt x="0" y="277816"/>
                  </a:moveTo>
                  <a:lnTo>
                    <a:pt x="26484" y="364539"/>
                  </a:lnTo>
                  <a:lnTo>
                    <a:pt x="41814" y="314091"/>
                  </a:lnTo>
                  <a:lnTo>
                    <a:pt x="22909" y="314091"/>
                  </a:lnTo>
                  <a:lnTo>
                    <a:pt x="19731" y="310645"/>
                  </a:lnTo>
                  <a:lnTo>
                    <a:pt x="19731" y="299547"/>
                  </a:lnTo>
                  <a:lnTo>
                    <a:pt x="0" y="277816"/>
                  </a:lnTo>
                  <a:close/>
                </a:path>
                <a:path w="53340" h="365125">
                  <a:moveTo>
                    <a:pt x="19830" y="299547"/>
                  </a:moveTo>
                  <a:lnTo>
                    <a:pt x="19731" y="310645"/>
                  </a:lnTo>
                  <a:lnTo>
                    <a:pt x="22909" y="314091"/>
                  </a:lnTo>
                  <a:lnTo>
                    <a:pt x="29927" y="314091"/>
                  </a:lnTo>
                  <a:lnTo>
                    <a:pt x="33106" y="310645"/>
                  </a:lnTo>
                  <a:lnTo>
                    <a:pt x="33106" y="306839"/>
                  </a:lnTo>
                  <a:lnTo>
                    <a:pt x="26484" y="306839"/>
                  </a:lnTo>
                  <a:lnTo>
                    <a:pt x="19830" y="299547"/>
                  </a:lnTo>
                  <a:close/>
                </a:path>
                <a:path w="53340" h="365125">
                  <a:moveTo>
                    <a:pt x="52837" y="277816"/>
                  </a:moveTo>
                  <a:lnTo>
                    <a:pt x="33106" y="299547"/>
                  </a:lnTo>
                  <a:lnTo>
                    <a:pt x="33106" y="310645"/>
                  </a:lnTo>
                  <a:lnTo>
                    <a:pt x="29927" y="314091"/>
                  </a:lnTo>
                  <a:lnTo>
                    <a:pt x="41814" y="314091"/>
                  </a:lnTo>
                  <a:lnTo>
                    <a:pt x="52837" y="277816"/>
                  </a:lnTo>
                  <a:close/>
                </a:path>
                <a:path w="53340" h="365125">
                  <a:moveTo>
                    <a:pt x="29927" y="0"/>
                  </a:moveTo>
                  <a:lnTo>
                    <a:pt x="22909" y="0"/>
                  </a:lnTo>
                  <a:lnTo>
                    <a:pt x="19731" y="3114"/>
                  </a:lnTo>
                  <a:lnTo>
                    <a:pt x="19830" y="299547"/>
                  </a:lnTo>
                  <a:lnTo>
                    <a:pt x="26484" y="306839"/>
                  </a:lnTo>
                  <a:lnTo>
                    <a:pt x="33106" y="299547"/>
                  </a:lnTo>
                  <a:lnTo>
                    <a:pt x="33106" y="3114"/>
                  </a:lnTo>
                  <a:lnTo>
                    <a:pt x="29927" y="0"/>
                  </a:lnTo>
                  <a:close/>
                </a:path>
                <a:path w="53340" h="365125">
                  <a:moveTo>
                    <a:pt x="33106" y="299547"/>
                  </a:moveTo>
                  <a:lnTo>
                    <a:pt x="26484" y="306839"/>
                  </a:lnTo>
                  <a:lnTo>
                    <a:pt x="33106" y="306839"/>
                  </a:lnTo>
                  <a:lnTo>
                    <a:pt x="33106" y="299547"/>
                  </a:lnTo>
                  <a:close/>
                </a:path>
              </a:pathLst>
            </a:custGeom>
            <a:solidFill>
              <a:srgbClr val="000000"/>
            </a:solidFill>
          </p:spPr>
          <p:txBody>
            <a:bodyPr wrap="square" lIns="0" tIns="0" rIns="0" bIns="0" rtlCol="0"/>
            <a:lstStyle/>
            <a:p/>
          </p:txBody>
        </p:sp>
        <p:sp>
          <p:nvSpPr>
            <p:cNvPr id="58" name="object 58" descr=""/>
            <p:cNvSpPr/>
            <p:nvPr/>
          </p:nvSpPr>
          <p:spPr>
            <a:xfrm>
              <a:off x="7920110" y="5602981"/>
              <a:ext cx="53340" cy="365125"/>
            </a:xfrm>
            <a:custGeom>
              <a:avLst/>
              <a:gdLst/>
              <a:ahLst/>
              <a:cxnLst/>
              <a:rect l="l" t="t" r="r" b="b"/>
              <a:pathLst>
                <a:path w="53340" h="365125">
                  <a:moveTo>
                    <a:pt x="33106" y="6920"/>
                  </a:moveTo>
                  <a:lnTo>
                    <a:pt x="33106" y="306839"/>
                  </a:lnTo>
                  <a:lnTo>
                    <a:pt x="33106" y="310645"/>
                  </a:lnTo>
                  <a:lnTo>
                    <a:pt x="29927" y="314091"/>
                  </a:lnTo>
                  <a:lnTo>
                    <a:pt x="26484" y="314091"/>
                  </a:lnTo>
                  <a:lnTo>
                    <a:pt x="22909" y="314091"/>
                  </a:lnTo>
                  <a:lnTo>
                    <a:pt x="19731" y="310645"/>
                  </a:lnTo>
                  <a:lnTo>
                    <a:pt x="19731" y="306839"/>
                  </a:lnTo>
                  <a:lnTo>
                    <a:pt x="19731" y="6920"/>
                  </a:lnTo>
                  <a:lnTo>
                    <a:pt x="19731" y="3114"/>
                  </a:lnTo>
                  <a:lnTo>
                    <a:pt x="22909" y="0"/>
                  </a:lnTo>
                  <a:lnTo>
                    <a:pt x="26484" y="0"/>
                  </a:lnTo>
                  <a:lnTo>
                    <a:pt x="29927" y="0"/>
                  </a:lnTo>
                  <a:lnTo>
                    <a:pt x="33106" y="3114"/>
                  </a:lnTo>
                  <a:lnTo>
                    <a:pt x="33106" y="6920"/>
                  </a:lnTo>
                  <a:close/>
                </a:path>
                <a:path w="53340" h="365125">
                  <a:moveTo>
                    <a:pt x="26484" y="306839"/>
                  </a:moveTo>
                  <a:lnTo>
                    <a:pt x="52837" y="277816"/>
                  </a:lnTo>
                  <a:lnTo>
                    <a:pt x="26484" y="364539"/>
                  </a:lnTo>
                  <a:lnTo>
                    <a:pt x="0" y="277816"/>
                  </a:lnTo>
                  <a:lnTo>
                    <a:pt x="26484" y="306839"/>
                  </a:lnTo>
                  <a:close/>
                </a:path>
              </a:pathLst>
            </a:custGeom>
            <a:ln w="3175">
              <a:solidFill>
                <a:srgbClr val="000000"/>
              </a:solidFill>
            </a:ln>
          </p:spPr>
          <p:txBody>
            <a:bodyPr wrap="square" lIns="0" tIns="0" rIns="0" bIns="0" rtlCol="0"/>
            <a:lstStyle/>
            <a:p/>
          </p:txBody>
        </p:sp>
        <p:sp>
          <p:nvSpPr>
            <p:cNvPr id="59" name="object 59" descr=""/>
            <p:cNvSpPr/>
            <p:nvPr/>
          </p:nvSpPr>
          <p:spPr>
            <a:xfrm>
              <a:off x="7417784" y="5609902"/>
              <a:ext cx="528955" cy="134620"/>
            </a:xfrm>
            <a:custGeom>
              <a:avLst/>
              <a:gdLst/>
              <a:ahLst/>
              <a:cxnLst/>
              <a:rect l="l" t="t" r="r" b="b"/>
              <a:pathLst>
                <a:path w="528954" h="134620">
                  <a:moveTo>
                    <a:pt x="0" y="0"/>
                  </a:moveTo>
                  <a:lnTo>
                    <a:pt x="0" y="134056"/>
                  </a:lnTo>
                </a:path>
                <a:path w="528954" h="134620">
                  <a:moveTo>
                    <a:pt x="0" y="134056"/>
                  </a:moveTo>
                  <a:lnTo>
                    <a:pt x="528810" y="134056"/>
                  </a:lnTo>
                </a:path>
              </a:pathLst>
            </a:custGeom>
            <a:ln w="10294">
              <a:solidFill>
                <a:srgbClr val="000000"/>
              </a:solidFill>
            </a:ln>
          </p:spPr>
          <p:txBody>
            <a:bodyPr wrap="square" lIns="0" tIns="0" rIns="0" bIns="0" rtlCol="0"/>
            <a:lstStyle/>
            <a:p/>
          </p:txBody>
        </p:sp>
      </p:grpSp>
      <p:sp>
        <p:nvSpPr>
          <p:cNvPr id="60" name="object 60" descr=""/>
          <p:cNvSpPr txBox="1"/>
          <p:nvPr/>
        </p:nvSpPr>
        <p:spPr>
          <a:xfrm>
            <a:off x="8594692" y="3264142"/>
            <a:ext cx="144780" cy="565785"/>
          </a:xfrm>
          <a:prstGeom prst="rect">
            <a:avLst/>
          </a:prstGeom>
        </p:spPr>
        <p:txBody>
          <a:bodyPr wrap="square" lIns="0" tIns="40005" rIns="0" bIns="0" rtlCol="0" vert="horz">
            <a:spAutoFit/>
          </a:bodyPr>
          <a:lstStyle/>
          <a:p>
            <a:pPr algn="just" marL="12700" marR="5080">
              <a:lnSpc>
                <a:spcPts val="1010"/>
              </a:lnSpc>
              <a:spcBef>
                <a:spcPts val="315"/>
              </a:spcBef>
            </a:pPr>
            <a:r>
              <a:rPr dirty="0" sz="1000" spc="-100" b="1">
                <a:latin typeface="宋体"/>
                <a:cs typeface="宋体"/>
              </a:rPr>
              <a:t>指令队列</a:t>
            </a:r>
            <a:endParaRPr sz="1000">
              <a:latin typeface="宋体"/>
              <a:cs typeface="宋体"/>
            </a:endParaRPr>
          </a:p>
        </p:txBody>
      </p:sp>
      <p:sp>
        <p:nvSpPr>
          <p:cNvPr id="61" name="object 61" descr=""/>
          <p:cNvSpPr txBox="1"/>
          <p:nvPr/>
        </p:nvSpPr>
        <p:spPr>
          <a:xfrm>
            <a:off x="8002225" y="5721696"/>
            <a:ext cx="267335" cy="181610"/>
          </a:xfrm>
          <a:prstGeom prst="rect">
            <a:avLst/>
          </a:prstGeom>
        </p:spPr>
        <p:txBody>
          <a:bodyPr wrap="square" lIns="0" tIns="15240" rIns="0" bIns="0" rtlCol="0" vert="horz">
            <a:spAutoFit/>
          </a:bodyPr>
          <a:lstStyle/>
          <a:p>
            <a:pPr marL="12700">
              <a:lnSpc>
                <a:spcPct val="100000"/>
              </a:lnSpc>
              <a:spcBef>
                <a:spcPts val="120"/>
              </a:spcBef>
            </a:pPr>
            <a:r>
              <a:rPr dirty="0" sz="1000" spc="-55" b="1">
                <a:latin typeface="宋体"/>
                <a:cs typeface="宋体"/>
              </a:rPr>
              <a:t>地址</a:t>
            </a:r>
            <a:endParaRPr sz="1000">
              <a:latin typeface="宋体"/>
              <a:cs typeface="宋体"/>
            </a:endParaRPr>
          </a:p>
        </p:txBody>
      </p:sp>
      <p:sp>
        <p:nvSpPr>
          <p:cNvPr id="62" name="object 62" descr=""/>
          <p:cNvSpPr txBox="1"/>
          <p:nvPr/>
        </p:nvSpPr>
        <p:spPr>
          <a:xfrm>
            <a:off x="8558938" y="5185773"/>
            <a:ext cx="85090" cy="481965"/>
          </a:xfrm>
          <a:prstGeom prst="rect">
            <a:avLst/>
          </a:prstGeom>
        </p:spPr>
        <p:txBody>
          <a:bodyPr wrap="square" lIns="0" tIns="15240" rIns="0" bIns="0" rtlCol="0" vert="horz">
            <a:spAutoFit/>
          </a:bodyPr>
          <a:lstStyle/>
          <a:p>
            <a:pPr marL="12700">
              <a:lnSpc>
                <a:spcPts val="1190"/>
              </a:lnSpc>
              <a:spcBef>
                <a:spcPts val="120"/>
              </a:spcBef>
            </a:pPr>
            <a:r>
              <a:rPr dirty="0" sz="1000" spc="-50">
                <a:latin typeface="Times New Roman"/>
                <a:cs typeface="Times New Roman"/>
              </a:rPr>
              <a:t>3</a:t>
            </a:r>
            <a:endParaRPr sz="1000">
              <a:latin typeface="Times New Roman"/>
              <a:cs typeface="Times New Roman"/>
            </a:endParaRPr>
          </a:p>
          <a:p>
            <a:pPr marL="12700">
              <a:lnSpc>
                <a:spcPts val="1185"/>
              </a:lnSpc>
            </a:pPr>
            <a:r>
              <a:rPr dirty="0" sz="1000" spc="-50">
                <a:latin typeface="Times New Roman"/>
                <a:cs typeface="Times New Roman"/>
              </a:rPr>
              <a:t>2</a:t>
            </a:r>
            <a:endParaRPr sz="1000">
              <a:latin typeface="Times New Roman"/>
              <a:cs typeface="Times New Roman"/>
            </a:endParaRPr>
          </a:p>
          <a:p>
            <a:pPr marL="12700">
              <a:lnSpc>
                <a:spcPts val="1190"/>
              </a:lnSpc>
            </a:pPr>
            <a:r>
              <a:rPr dirty="0" sz="1000" spc="-50">
                <a:latin typeface="Times New Roman"/>
                <a:cs typeface="Times New Roman"/>
              </a:rPr>
              <a:t>1</a:t>
            </a:r>
            <a:endParaRPr sz="1000">
              <a:latin typeface="Times New Roman"/>
              <a:cs typeface="Times New Roman"/>
            </a:endParaRPr>
          </a:p>
        </p:txBody>
      </p:sp>
      <p:sp>
        <p:nvSpPr>
          <p:cNvPr id="63" name="object 63" descr=""/>
          <p:cNvSpPr txBox="1"/>
          <p:nvPr/>
        </p:nvSpPr>
        <p:spPr>
          <a:xfrm>
            <a:off x="8253434" y="5258627"/>
            <a:ext cx="85090" cy="364490"/>
          </a:xfrm>
          <a:prstGeom prst="rect">
            <a:avLst/>
          </a:prstGeom>
        </p:spPr>
        <p:txBody>
          <a:bodyPr wrap="square" lIns="0" tIns="28575" rIns="0" bIns="0" rtlCol="0" vert="horz">
            <a:spAutoFit/>
          </a:bodyPr>
          <a:lstStyle/>
          <a:p>
            <a:pPr marL="12700">
              <a:lnSpc>
                <a:spcPct val="100000"/>
              </a:lnSpc>
              <a:spcBef>
                <a:spcPts val="225"/>
              </a:spcBef>
            </a:pPr>
            <a:r>
              <a:rPr dirty="0" sz="1000" spc="-50">
                <a:latin typeface="Times New Roman"/>
                <a:cs typeface="Times New Roman"/>
              </a:rPr>
              <a:t>2</a:t>
            </a:r>
            <a:endParaRPr sz="1000">
              <a:latin typeface="Times New Roman"/>
              <a:cs typeface="Times New Roman"/>
            </a:endParaRPr>
          </a:p>
          <a:p>
            <a:pPr marL="12700">
              <a:lnSpc>
                <a:spcPct val="100000"/>
              </a:lnSpc>
              <a:spcBef>
                <a:spcPts val="135"/>
              </a:spcBef>
            </a:pPr>
            <a:r>
              <a:rPr dirty="0" sz="1000" spc="-50">
                <a:latin typeface="Times New Roman"/>
                <a:cs typeface="Times New Roman"/>
              </a:rPr>
              <a:t>1</a:t>
            </a:r>
            <a:endParaRPr sz="1000">
              <a:latin typeface="Times New Roman"/>
              <a:cs typeface="Times New Roman"/>
            </a:endParaRPr>
          </a:p>
        </p:txBody>
      </p:sp>
      <p:sp>
        <p:nvSpPr>
          <p:cNvPr id="64" name="object 64" descr=""/>
          <p:cNvSpPr txBox="1"/>
          <p:nvPr/>
        </p:nvSpPr>
        <p:spPr>
          <a:xfrm>
            <a:off x="8253434" y="5123575"/>
            <a:ext cx="85090" cy="181610"/>
          </a:xfrm>
          <a:prstGeom prst="rect">
            <a:avLst/>
          </a:prstGeom>
        </p:spPr>
        <p:txBody>
          <a:bodyPr wrap="square" lIns="0" tIns="15240" rIns="0" bIns="0" rtlCol="0" vert="horz">
            <a:spAutoFit/>
          </a:bodyPr>
          <a:lstStyle/>
          <a:p>
            <a:pPr marL="12700">
              <a:lnSpc>
                <a:spcPct val="100000"/>
              </a:lnSpc>
              <a:spcBef>
                <a:spcPts val="120"/>
              </a:spcBef>
            </a:pPr>
            <a:r>
              <a:rPr dirty="0" sz="1000" spc="-50">
                <a:latin typeface="Times New Roman"/>
                <a:cs typeface="Times New Roman"/>
              </a:rPr>
              <a:t>3</a:t>
            </a:r>
            <a:endParaRPr sz="1000">
              <a:latin typeface="Times New Roman"/>
              <a:cs typeface="Times New Roman"/>
            </a:endParaRPr>
          </a:p>
        </p:txBody>
      </p:sp>
      <p:sp>
        <p:nvSpPr>
          <p:cNvPr id="65" name="object 65" descr=""/>
          <p:cNvSpPr txBox="1"/>
          <p:nvPr/>
        </p:nvSpPr>
        <p:spPr>
          <a:xfrm>
            <a:off x="8253434" y="4771161"/>
            <a:ext cx="85090" cy="360680"/>
          </a:xfrm>
          <a:prstGeom prst="rect">
            <a:avLst/>
          </a:prstGeom>
        </p:spPr>
        <p:txBody>
          <a:bodyPr wrap="square" lIns="0" tIns="27305" rIns="0" bIns="0" rtlCol="0" vert="horz">
            <a:spAutoFit/>
          </a:bodyPr>
          <a:lstStyle/>
          <a:p>
            <a:pPr marL="12700">
              <a:lnSpc>
                <a:spcPct val="100000"/>
              </a:lnSpc>
              <a:spcBef>
                <a:spcPts val="215"/>
              </a:spcBef>
            </a:pPr>
            <a:r>
              <a:rPr dirty="0" sz="1000" spc="-50">
                <a:latin typeface="Times New Roman"/>
                <a:cs typeface="Times New Roman"/>
              </a:rPr>
              <a:t>5</a:t>
            </a:r>
            <a:endParaRPr sz="1000">
              <a:latin typeface="Times New Roman"/>
              <a:cs typeface="Times New Roman"/>
            </a:endParaRPr>
          </a:p>
          <a:p>
            <a:pPr marL="12700">
              <a:lnSpc>
                <a:spcPct val="100000"/>
              </a:lnSpc>
              <a:spcBef>
                <a:spcPts val="114"/>
              </a:spcBef>
            </a:pPr>
            <a:r>
              <a:rPr dirty="0" sz="1000" spc="-50">
                <a:latin typeface="Times New Roman"/>
                <a:cs typeface="Times New Roman"/>
              </a:rPr>
              <a:t>4</a:t>
            </a:r>
            <a:endParaRPr sz="1000">
              <a:latin typeface="Times New Roman"/>
              <a:cs typeface="Times New Roman"/>
            </a:endParaRPr>
          </a:p>
        </p:txBody>
      </p:sp>
      <p:sp>
        <p:nvSpPr>
          <p:cNvPr id="66" name="object 66" descr=""/>
          <p:cNvSpPr txBox="1"/>
          <p:nvPr/>
        </p:nvSpPr>
        <p:spPr>
          <a:xfrm>
            <a:off x="8057843" y="4393848"/>
            <a:ext cx="634365" cy="402590"/>
          </a:xfrm>
          <a:prstGeom prst="rect">
            <a:avLst/>
          </a:prstGeom>
        </p:spPr>
        <p:txBody>
          <a:bodyPr wrap="square" lIns="0" tIns="48260" rIns="0" bIns="0" rtlCol="0" vert="horz">
            <a:spAutoFit/>
          </a:bodyPr>
          <a:lstStyle/>
          <a:p>
            <a:pPr marL="12700">
              <a:lnSpc>
                <a:spcPct val="100000"/>
              </a:lnSpc>
              <a:spcBef>
                <a:spcPts val="380"/>
              </a:spcBef>
            </a:pPr>
            <a:r>
              <a:rPr dirty="0" sz="1000" spc="-40" b="1">
                <a:latin typeface="Times New Roman"/>
                <a:cs typeface="Times New Roman"/>
              </a:rPr>
              <a:t>load</a:t>
            </a:r>
            <a:r>
              <a:rPr dirty="0" sz="1000" spc="5" b="1">
                <a:latin typeface="Times New Roman"/>
                <a:cs typeface="Times New Roman"/>
              </a:rPr>
              <a:t> </a:t>
            </a:r>
            <a:r>
              <a:rPr dirty="0" sz="1000" spc="-60" b="1">
                <a:latin typeface="宋体"/>
                <a:cs typeface="宋体"/>
              </a:rPr>
              <a:t>缓冲器</a:t>
            </a:r>
            <a:endParaRPr sz="1000">
              <a:latin typeface="宋体"/>
              <a:cs typeface="宋体"/>
            </a:endParaRPr>
          </a:p>
          <a:p>
            <a:pPr marL="208279">
              <a:lnSpc>
                <a:spcPct val="100000"/>
              </a:lnSpc>
              <a:spcBef>
                <a:spcPts val="285"/>
              </a:spcBef>
            </a:pPr>
            <a:r>
              <a:rPr dirty="0" sz="1000" spc="-50">
                <a:latin typeface="Times New Roman"/>
                <a:cs typeface="Times New Roman"/>
              </a:rPr>
              <a:t>6</a:t>
            </a:r>
            <a:endParaRPr sz="1000">
              <a:latin typeface="Times New Roman"/>
              <a:cs typeface="Times New Roman"/>
            </a:endParaRPr>
          </a:p>
        </p:txBody>
      </p:sp>
      <p:grpSp>
        <p:nvGrpSpPr>
          <p:cNvPr id="67" name="object 67" descr=""/>
          <p:cNvGrpSpPr/>
          <p:nvPr/>
        </p:nvGrpSpPr>
        <p:grpSpPr>
          <a:xfrm>
            <a:off x="6605073" y="3145613"/>
            <a:ext cx="5215890" cy="3363595"/>
            <a:chOff x="6605073" y="3145613"/>
            <a:chExt cx="5215890" cy="3363595"/>
          </a:xfrm>
        </p:grpSpPr>
        <p:sp>
          <p:nvSpPr>
            <p:cNvPr id="68" name="object 68" descr=""/>
            <p:cNvSpPr/>
            <p:nvPr/>
          </p:nvSpPr>
          <p:spPr>
            <a:xfrm>
              <a:off x="6947836" y="4397020"/>
              <a:ext cx="53340" cy="231140"/>
            </a:xfrm>
            <a:custGeom>
              <a:avLst/>
              <a:gdLst/>
              <a:ahLst/>
              <a:cxnLst/>
              <a:rect l="l" t="t" r="r" b="b"/>
              <a:pathLst>
                <a:path w="53340" h="231139">
                  <a:moveTo>
                    <a:pt x="0" y="144177"/>
                  </a:moveTo>
                  <a:lnTo>
                    <a:pt x="26392" y="230540"/>
                  </a:lnTo>
                  <a:lnTo>
                    <a:pt x="41999" y="180078"/>
                  </a:lnTo>
                  <a:lnTo>
                    <a:pt x="22882" y="180078"/>
                  </a:lnTo>
                  <a:lnTo>
                    <a:pt x="20022" y="176906"/>
                  </a:lnTo>
                  <a:lnTo>
                    <a:pt x="20022" y="165944"/>
                  </a:lnTo>
                  <a:lnTo>
                    <a:pt x="0" y="144177"/>
                  </a:lnTo>
                  <a:close/>
                </a:path>
                <a:path w="53340" h="231139">
                  <a:moveTo>
                    <a:pt x="20022" y="165944"/>
                  </a:moveTo>
                  <a:lnTo>
                    <a:pt x="20022" y="176906"/>
                  </a:lnTo>
                  <a:lnTo>
                    <a:pt x="22882" y="180078"/>
                  </a:lnTo>
                  <a:lnTo>
                    <a:pt x="30206" y="180078"/>
                  </a:lnTo>
                  <a:lnTo>
                    <a:pt x="33066" y="176906"/>
                  </a:lnTo>
                  <a:lnTo>
                    <a:pt x="33066" y="172869"/>
                  </a:lnTo>
                  <a:lnTo>
                    <a:pt x="26392" y="172869"/>
                  </a:lnTo>
                  <a:lnTo>
                    <a:pt x="20022" y="165944"/>
                  </a:lnTo>
                  <a:close/>
                </a:path>
                <a:path w="53340" h="231139">
                  <a:moveTo>
                    <a:pt x="53102" y="144177"/>
                  </a:moveTo>
                  <a:lnTo>
                    <a:pt x="33066" y="165699"/>
                  </a:lnTo>
                  <a:lnTo>
                    <a:pt x="33066" y="176906"/>
                  </a:lnTo>
                  <a:lnTo>
                    <a:pt x="30206" y="180078"/>
                  </a:lnTo>
                  <a:lnTo>
                    <a:pt x="41999" y="180078"/>
                  </a:lnTo>
                  <a:lnTo>
                    <a:pt x="53102" y="144177"/>
                  </a:lnTo>
                  <a:close/>
                </a:path>
                <a:path w="53340" h="231139">
                  <a:moveTo>
                    <a:pt x="30205" y="0"/>
                  </a:moveTo>
                  <a:lnTo>
                    <a:pt x="22882" y="0"/>
                  </a:lnTo>
                  <a:lnTo>
                    <a:pt x="20022" y="3171"/>
                  </a:lnTo>
                  <a:lnTo>
                    <a:pt x="20022" y="165944"/>
                  </a:lnTo>
                  <a:lnTo>
                    <a:pt x="26392" y="172869"/>
                  </a:lnTo>
                  <a:lnTo>
                    <a:pt x="33066" y="165699"/>
                  </a:lnTo>
                  <a:lnTo>
                    <a:pt x="33066" y="3171"/>
                  </a:lnTo>
                  <a:lnTo>
                    <a:pt x="30205" y="0"/>
                  </a:lnTo>
                  <a:close/>
                </a:path>
                <a:path w="53340" h="231139">
                  <a:moveTo>
                    <a:pt x="33066" y="165699"/>
                  </a:moveTo>
                  <a:lnTo>
                    <a:pt x="26392" y="172869"/>
                  </a:lnTo>
                  <a:lnTo>
                    <a:pt x="33066" y="172869"/>
                  </a:lnTo>
                  <a:lnTo>
                    <a:pt x="33066" y="165699"/>
                  </a:lnTo>
                  <a:close/>
                </a:path>
              </a:pathLst>
            </a:custGeom>
            <a:solidFill>
              <a:srgbClr val="0000FF"/>
            </a:solidFill>
          </p:spPr>
          <p:txBody>
            <a:bodyPr wrap="square" lIns="0" tIns="0" rIns="0" bIns="0" rtlCol="0"/>
            <a:lstStyle/>
            <a:p/>
          </p:txBody>
        </p:sp>
        <p:sp>
          <p:nvSpPr>
            <p:cNvPr id="69" name="object 69" descr=""/>
            <p:cNvSpPr/>
            <p:nvPr/>
          </p:nvSpPr>
          <p:spPr>
            <a:xfrm>
              <a:off x="6947836" y="4397020"/>
              <a:ext cx="53340" cy="231140"/>
            </a:xfrm>
            <a:custGeom>
              <a:avLst/>
              <a:gdLst/>
              <a:ahLst/>
              <a:cxnLst/>
              <a:rect l="l" t="t" r="r" b="b"/>
              <a:pathLst>
                <a:path w="53340" h="231139">
                  <a:moveTo>
                    <a:pt x="33066" y="7353"/>
                  </a:moveTo>
                  <a:lnTo>
                    <a:pt x="33066" y="172869"/>
                  </a:lnTo>
                  <a:lnTo>
                    <a:pt x="33066" y="176906"/>
                  </a:lnTo>
                  <a:lnTo>
                    <a:pt x="30206" y="180078"/>
                  </a:lnTo>
                  <a:lnTo>
                    <a:pt x="26392" y="180078"/>
                  </a:lnTo>
                  <a:lnTo>
                    <a:pt x="22882" y="180078"/>
                  </a:lnTo>
                  <a:lnTo>
                    <a:pt x="20022" y="176906"/>
                  </a:lnTo>
                  <a:lnTo>
                    <a:pt x="20022" y="172869"/>
                  </a:lnTo>
                  <a:lnTo>
                    <a:pt x="20022" y="7353"/>
                  </a:lnTo>
                  <a:lnTo>
                    <a:pt x="20022" y="3171"/>
                  </a:lnTo>
                  <a:lnTo>
                    <a:pt x="22882" y="0"/>
                  </a:lnTo>
                  <a:lnTo>
                    <a:pt x="26392" y="0"/>
                  </a:lnTo>
                  <a:lnTo>
                    <a:pt x="30205" y="0"/>
                  </a:lnTo>
                  <a:lnTo>
                    <a:pt x="33066" y="3171"/>
                  </a:lnTo>
                  <a:lnTo>
                    <a:pt x="33066" y="7353"/>
                  </a:lnTo>
                  <a:close/>
                </a:path>
                <a:path w="53340" h="231139">
                  <a:moveTo>
                    <a:pt x="26392" y="172869"/>
                  </a:moveTo>
                  <a:lnTo>
                    <a:pt x="53102" y="144177"/>
                  </a:lnTo>
                  <a:lnTo>
                    <a:pt x="26392" y="230540"/>
                  </a:lnTo>
                  <a:lnTo>
                    <a:pt x="0" y="144177"/>
                  </a:lnTo>
                  <a:lnTo>
                    <a:pt x="26392" y="172869"/>
                  </a:lnTo>
                  <a:close/>
                </a:path>
              </a:pathLst>
            </a:custGeom>
            <a:ln w="3175">
              <a:solidFill>
                <a:srgbClr val="0000FF"/>
              </a:solidFill>
            </a:ln>
          </p:spPr>
          <p:txBody>
            <a:bodyPr wrap="square" lIns="0" tIns="0" rIns="0" bIns="0" rtlCol="0"/>
            <a:lstStyle/>
            <a:p/>
          </p:txBody>
        </p:sp>
        <p:sp>
          <p:nvSpPr>
            <p:cNvPr id="70" name="object 70" descr=""/>
            <p:cNvSpPr/>
            <p:nvPr/>
          </p:nvSpPr>
          <p:spPr>
            <a:xfrm>
              <a:off x="6610471" y="3153919"/>
              <a:ext cx="5205095" cy="3349625"/>
            </a:xfrm>
            <a:custGeom>
              <a:avLst/>
              <a:gdLst/>
              <a:ahLst/>
              <a:cxnLst/>
              <a:rect l="l" t="t" r="r" b="b"/>
              <a:pathLst>
                <a:path w="5205095" h="3349625">
                  <a:moveTo>
                    <a:pt x="0" y="1250454"/>
                  </a:moveTo>
                  <a:lnTo>
                    <a:pt x="361850" y="1250454"/>
                  </a:lnTo>
                </a:path>
                <a:path w="5205095" h="3349625">
                  <a:moveTo>
                    <a:pt x="0" y="1250454"/>
                  </a:moveTo>
                  <a:lnTo>
                    <a:pt x="0" y="3349523"/>
                  </a:lnTo>
                </a:path>
                <a:path w="5205095" h="3349625">
                  <a:moveTo>
                    <a:pt x="0" y="3349523"/>
                  </a:moveTo>
                  <a:lnTo>
                    <a:pt x="5204770" y="3349523"/>
                  </a:lnTo>
                </a:path>
                <a:path w="5205095" h="3349625">
                  <a:moveTo>
                    <a:pt x="5204770" y="3349523"/>
                  </a:moveTo>
                  <a:lnTo>
                    <a:pt x="5204769" y="0"/>
                  </a:lnTo>
                </a:path>
                <a:path w="5205095" h="3349625">
                  <a:moveTo>
                    <a:pt x="3869004" y="0"/>
                  </a:moveTo>
                  <a:lnTo>
                    <a:pt x="5204769" y="0"/>
                  </a:lnTo>
                </a:path>
              </a:pathLst>
            </a:custGeom>
            <a:ln w="10294">
              <a:solidFill>
                <a:srgbClr val="0000FF"/>
              </a:solidFill>
            </a:ln>
          </p:spPr>
          <p:txBody>
            <a:bodyPr wrap="square" lIns="0" tIns="0" rIns="0" bIns="0" rtlCol="0"/>
            <a:lstStyle/>
            <a:p/>
          </p:txBody>
        </p:sp>
        <p:sp>
          <p:nvSpPr>
            <p:cNvPr id="71" name="object 71" descr=""/>
            <p:cNvSpPr/>
            <p:nvPr/>
          </p:nvSpPr>
          <p:spPr>
            <a:xfrm>
              <a:off x="10452726" y="3146566"/>
              <a:ext cx="53340" cy="275590"/>
            </a:xfrm>
            <a:custGeom>
              <a:avLst/>
              <a:gdLst/>
              <a:ahLst/>
              <a:cxnLst/>
              <a:rect l="l" t="t" r="r" b="b"/>
              <a:pathLst>
                <a:path w="53340" h="275589">
                  <a:moveTo>
                    <a:pt x="0" y="188728"/>
                  </a:moveTo>
                  <a:lnTo>
                    <a:pt x="26749" y="275091"/>
                  </a:lnTo>
                  <a:lnTo>
                    <a:pt x="42147" y="224629"/>
                  </a:lnTo>
                  <a:lnTo>
                    <a:pt x="22909" y="224629"/>
                  </a:lnTo>
                  <a:lnTo>
                    <a:pt x="20128" y="221457"/>
                  </a:lnTo>
                  <a:lnTo>
                    <a:pt x="20128" y="210318"/>
                  </a:lnTo>
                  <a:lnTo>
                    <a:pt x="0" y="188728"/>
                  </a:lnTo>
                  <a:close/>
                </a:path>
                <a:path w="53340" h="275589">
                  <a:moveTo>
                    <a:pt x="20128" y="210318"/>
                  </a:moveTo>
                  <a:lnTo>
                    <a:pt x="20128" y="221457"/>
                  </a:lnTo>
                  <a:lnTo>
                    <a:pt x="22909" y="224629"/>
                  </a:lnTo>
                  <a:lnTo>
                    <a:pt x="30192" y="224629"/>
                  </a:lnTo>
                  <a:lnTo>
                    <a:pt x="33370" y="221457"/>
                  </a:lnTo>
                  <a:lnTo>
                    <a:pt x="33370" y="217420"/>
                  </a:lnTo>
                  <a:lnTo>
                    <a:pt x="26749" y="217420"/>
                  </a:lnTo>
                  <a:lnTo>
                    <a:pt x="20128" y="210318"/>
                  </a:lnTo>
                  <a:close/>
                </a:path>
                <a:path w="53340" h="275589">
                  <a:moveTo>
                    <a:pt x="53102" y="188728"/>
                  </a:moveTo>
                  <a:lnTo>
                    <a:pt x="33370" y="210318"/>
                  </a:lnTo>
                  <a:lnTo>
                    <a:pt x="33370" y="221457"/>
                  </a:lnTo>
                  <a:lnTo>
                    <a:pt x="30192" y="224629"/>
                  </a:lnTo>
                  <a:lnTo>
                    <a:pt x="42147" y="224629"/>
                  </a:lnTo>
                  <a:lnTo>
                    <a:pt x="53102" y="188728"/>
                  </a:lnTo>
                  <a:close/>
                </a:path>
                <a:path w="53340" h="275589">
                  <a:moveTo>
                    <a:pt x="30192" y="0"/>
                  </a:moveTo>
                  <a:lnTo>
                    <a:pt x="22909" y="0"/>
                  </a:lnTo>
                  <a:lnTo>
                    <a:pt x="20128" y="3171"/>
                  </a:lnTo>
                  <a:lnTo>
                    <a:pt x="20128" y="210318"/>
                  </a:lnTo>
                  <a:lnTo>
                    <a:pt x="26749" y="217420"/>
                  </a:lnTo>
                  <a:lnTo>
                    <a:pt x="33272" y="210318"/>
                  </a:lnTo>
                  <a:lnTo>
                    <a:pt x="33370" y="3171"/>
                  </a:lnTo>
                  <a:lnTo>
                    <a:pt x="30192" y="0"/>
                  </a:lnTo>
                  <a:close/>
                </a:path>
                <a:path w="53340" h="275589">
                  <a:moveTo>
                    <a:pt x="33370" y="210318"/>
                  </a:moveTo>
                  <a:lnTo>
                    <a:pt x="26749" y="217420"/>
                  </a:lnTo>
                  <a:lnTo>
                    <a:pt x="33370" y="217420"/>
                  </a:lnTo>
                  <a:lnTo>
                    <a:pt x="33370" y="210318"/>
                  </a:lnTo>
                  <a:close/>
                </a:path>
              </a:pathLst>
            </a:custGeom>
            <a:solidFill>
              <a:srgbClr val="0000FF"/>
            </a:solidFill>
          </p:spPr>
          <p:txBody>
            <a:bodyPr wrap="square" lIns="0" tIns="0" rIns="0" bIns="0" rtlCol="0"/>
            <a:lstStyle/>
            <a:p/>
          </p:txBody>
        </p:sp>
        <p:sp>
          <p:nvSpPr>
            <p:cNvPr id="72" name="object 72" descr=""/>
            <p:cNvSpPr/>
            <p:nvPr/>
          </p:nvSpPr>
          <p:spPr>
            <a:xfrm>
              <a:off x="10452726" y="3146566"/>
              <a:ext cx="53340" cy="275590"/>
            </a:xfrm>
            <a:custGeom>
              <a:avLst/>
              <a:gdLst/>
              <a:ahLst/>
              <a:cxnLst/>
              <a:rect l="l" t="t" r="r" b="b"/>
              <a:pathLst>
                <a:path w="53340" h="275589">
                  <a:moveTo>
                    <a:pt x="33370" y="7353"/>
                  </a:moveTo>
                  <a:lnTo>
                    <a:pt x="33370" y="217420"/>
                  </a:lnTo>
                  <a:lnTo>
                    <a:pt x="33370" y="221457"/>
                  </a:lnTo>
                  <a:lnTo>
                    <a:pt x="30192" y="224629"/>
                  </a:lnTo>
                  <a:lnTo>
                    <a:pt x="26749" y="224629"/>
                  </a:lnTo>
                  <a:lnTo>
                    <a:pt x="22909" y="224629"/>
                  </a:lnTo>
                  <a:lnTo>
                    <a:pt x="20128" y="221457"/>
                  </a:lnTo>
                  <a:lnTo>
                    <a:pt x="20128" y="217420"/>
                  </a:lnTo>
                  <a:lnTo>
                    <a:pt x="20128" y="7353"/>
                  </a:lnTo>
                  <a:lnTo>
                    <a:pt x="20128" y="3171"/>
                  </a:lnTo>
                  <a:lnTo>
                    <a:pt x="22909" y="0"/>
                  </a:lnTo>
                  <a:lnTo>
                    <a:pt x="26749" y="0"/>
                  </a:lnTo>
                  <a:lnTo>
                    <a:pt x="30192" y="0"/>
                  </a:lnTo>
                  <a:lnTo>
                    <a:pt x="33370" y="3171"/>
                  </a:lnTo>
                  <a:lnTo>
                    <a:pt x="33370" y="7353"/>
                  </a:lnTo>
                  <a:close/>
                </a:path>
                <a:path w="53340" h="275589">
                  <a:moveTo>
                    <a:pt x="26749" y="217420"/>
                  </a:moveTo>
                  <a:lnTo>
                    <a:pt x="53102" y="188728"/>
                  </a:lnTo>
                  <a:lnTo>
                    <a:pt x="26749" y="275091"/>
                  </a:lnTo>
                  <a:lnTo>
                    <a:pt x="0" y="188728"/>
                  </a:lnTo>
                  <a:lnTo>
                    <a:pt x="26749" y="217420"/>
                  </a:lnTo>
                  <a:close/>
                </a:path>
              </a:pathLst>
            </a:custGeom>
            <a:ln w="3175">
              <a:solidFill>
                <a:srgbClr val="0000FF"/>
              </a:solidFill>
            </a:ln>
          </p:spPr>
          <p:txBody>
            <a:bodyPr wrap="square" lIns="0" tIns="0" rIns="0" bIns="0" rtlCol="0"/>
            <a:lstStyle/>
            <a:p/>
          </p:txBody>
        </p:sp>
        <p:sp>
          <p:nvSpPr>
            <p:cNvPr id="73" name="object 73" descr=""/>
            <p:cNvSpPr/>
            <p:nvPr/>
          </p:nvSpPr>
          <p:spPr>
            <a:xfrm>
              <a:off x="7363411" y="6272976"/>
              <a:ext cx="53340" cy="230504"/>
            </a:xfrm>
            <a:custGeom>
              <a:avLst/>
              <a:gdLst/>
              <a:ahLst/>
              <a:cxnLst/>
              <a:rect l="l" t="t" r="r" b="b"/>
              <a:pathLst>
                <a:path w="53340" h="230504">
                  <a:moveTo>
                    <a:pt x="0" y="144084"/>
                  </a:moveTo>
                  <a:lnTo>
                    <a:pt x="26392" y="230466"/>
                  </a:lnTo>
                  <a:lnTo>
                    <a:pt x="41990" y="180019"/>
                  </a:lnTo>
                  <a:lnTo>
                    <a:pt x="22896" y="180019"/>
                  </a:lnTo>
                  <a:lnTo>
                    <a:pt x="19717" y="176910"/>
                  </a:lnTo>
                  <a:lnTo>
                    <a:pt x="19717" y="165597"/>
                  </a:lnTo>
                  <a:lnTo>
                    <a:pt x="0" y="144084"/>
                  </a:lnTo>
                  <a:close/>
                </a:path>
                <a:path w="53340" h="230504">
                  <a:moveTo>
                    <a:pt x="19797" y="165597"/>
                  </a:moveTo>
                  <a:lnTo>
                    <a:pt x="19717" y="176910"/>
                  </a:lnTo>
                  <a:lnTo>
                    <a:pt x="22896" y="180019"/>
                  </a:lnTo>
                  <a:lnTo>
                    <a:pt x="30206" y="180019"/>
                  </a:lnTo>
                  <a:lnTo>
                    <a:pt x="33066" y="176910"/>
                  </a:lnTo>
                  <a:lnTo>
                    <a:pt x="33066" y="172763"/>
                  </a:lnTo>
                  <a:lnTo>
                    <a:pt x="26392" y="172763"/>
                  </a:lnTo>
                  <a:lnTo>
                    <a:pt x="19797" y="165597"/>
                  </a:lnTo>
                  <a:close/>
                </a:path>
                <a:path w="53340" h="230504">
                  <a:moveTo>
                    <a:pt x="53102" y="144084"/>
                  </a:moveTo>
                  <a:lnTo>
                    <a:pt x="33066" y="165597"/>
                  </a:lnTo>
                  <a:lnTo>
                    <a:pt x="33066" y="176910"/>
                  </a:lnTo>
                  <a:lnTo>
                    <a:pt x="30206" y="180019"/>
                  </a:lnTo>
                  <a:lnTo>
                    <a:pt x="41990" y="180019"/>
                  </a:lnTo>
                  <a:lnTo>
                    <a:pt x="53102" y="144084"/>
                  </a:lnTo>
                  <a:close/>
                </a:path>
                <a:path w="53340" h="230504">
                  <a:moveTo>
                    <a:pt x="30205" y="0"/>
                  </a:moveTo>
                  <a:lnTo>
                    <a:pt x="22896" y="0"/>
                  </a:lnTo>
                  <a:lnTo>
                    <a:pt x="19717" y="3114"/>
                  </a:lnTo>
                  <a:lnTo>
                    <a:pt x="19797" y="165597"/>
                  </a:lnTo>
                  <a:lnTo>
                    <a:pt x="26392" y="172763"/>
                  </a:lnTo>
                  <a:lnTo>
                    <a:pt x="33066" y="165597"/>
                  </a:lnTo>
                  <a:lnTo>
                    <a:pt x="33066" y="3114"/>
                  </a:lnTo>
                  <a:lnTo>
                    <a:pt x="30205" y="0"/>
                  </a:lnTo>
                  <a:close/>
                </a:path>
                <a:path w="53340" h="230504">
                  <a:moveTo>
                    <a:pt x="33066" y="165597"/>
                  </a:moveTo>
                  <a:lnTo>
                    <a:pt x="26392" y="172763"/>
                  </a:lnTo>
                  <a:lnTo>
                    <a:pt x="33066" y="172763"/>
                  </a:lnTo>
                  <a:lnTo>
                    <a:pt x="33066" y="165597"/>
                  </a:lnTo>
                  <a:close/>
                </a:path>
              </a:pathLst>
            </a:custGeom>
            <a:solidFill>
              <a:srgbClr val="000000"/>
            </a:solidFill>
          </p:spPr>
          <p:txBody>
            <a:bodyPr wrap="square" lIns="0" tIns="0" rIns="0" bIns="0" rtlCol="0"/>
            <a:lstStyle/>
            <a:p/>
          </p:txBody>
        </p:sp>
        <p:sp>
          <p:nvSpPr>
            <p:cNvPr id="74" name="object 74" descr=""/>
            <p:cNvSpPr/>
            <p:nvPr/>
          </p:nvSpPr>
          <p:spPr>
            <a:xfrm>
              <a:off x="7363411" y="6272976"/>
              <a:ext cx="53340" cy="230504"/>
            </a:xfrm>
            <a:custGeom>
              <a:avLst/>
              <a:gdLst/>
              <a:ahLst/>
              <a:cxnLst/>
              <a:rect l="l" t="t" r="r" b="b"/>
              <a:pathLst>
                <a:path w="53340" h="230504">
                  <a:moveTo>
                    <a:pt x="33066" y="6906"/>
                  </a:moveTo>
                  <a:lnTo>
                    <a:pt x="33066" y="172763"/>
                  </a:lnTo>
                  <a:lnTo>
                    <a:pt x="33066" y="176910"/>
                  </a:lnTo>
                  <a:lnTo>
                    <a:pt x="30206" y="180019"/>
                  </a:lnTo>
                  <a:lnTo>
                    <a:pt x="26392" y="180019"/>
                  </a:lnTo>
                  <a:lnTo>
                    <a:pt x="22896" y="180019"/>
                  </a:lnTo>
                  <a:lnTo>
                    <a:pt x="19717" y="176910"/>
                  </a:lnTo>
                  <a:lnTo>
                    <a:pt x="19717" y="172763"/>
                  </a:lnTo>
                  <a:lnTo>
                    <a:pt x="19717" y="6906"/>
                  </a:lnTo>
                  <a:lnTo>
                    <a:pt x="19717" y="3114"/>
                  </a:lnTo>
                  <a:lnTo>
                    <a:pt x="22896" y="0"/>
                  </a:lnTo>
                  <a:lnTo>
                    <a:pt x="26392" y="0"/>
                  </a:lnTo>
                  <a:lnTo>
                    <a:pt x="30205" y="0"/>
                  </a:lnTo>
                  <a:lnTo>
                    <a:pt x="33066" y="3114"/>
                  </a:lnTo>
                  <a:lnTo>
                    <a:pt x="33066" y="6906"/>
                  </a:lnTo>
                  <a:close/>
                </a:path>
                <a:path w="53340" h="230504">
                  <a:moveTo>
                    <a:pt x="26392" y="172763"/>
                  </a:moveTo>
                  <a:lnTo>
                    <a:pt x="53102" y="144084"/>
                  </a:lnTo>
                  <a:lnTo>
                    <a:pt x="26392" y="230466"/>
                  </a:lnTo>
                  <a:lnTo>
                    <a:pt x="0" y="144084"/>
                  </a:lnTo>
                  <a:lnTo>
                    <a:pt x="26392" y="172763"/>
                  </a:lnTo>
                  <a:close/>
                </a:path>
              </a:pathLst>
            </a:custGeom>
            <a:ln w="3175">
              <a:solidFill>
                <a:srgbClr val="000000"/>
              </a:solidFill>
            </a:ln>
          </p:spPr>
          <p:txBody>
            <a:bodyPr wrap="square" lIns="0" tIns="0" rIns="0" bIns="0" rtlCol="0"/>
            <a:lstStyle/>
            <a:p/>
          </p:txBody>
        </p:sp>
        <p:sp>
          <p:nvSpPr>
            <p:cNvPr id="75" name="object 75" descr=""/>
            <p:cNvSpPr/>
            <p:nvPr/>
          </p:nvSpPr>
          <p:spPr>
            <a:xfrm>
              <a:off x="9283949" y="6272976"/>
              <a:ext cx="53340" cy="230504"/>
            </a:xfrm>
            <a:custGeom>
              <a:avLst/>
              <a:gdLst/>
              <a:ahLst/>
              <a:cxnLst/>
              <a:rect l="l" t="t" r="r" b="b"/>
              <a:pathLst>
                <a:path w="53340" h="230504">
                  <a:moveTo>
                    <a:pt x="0" y="144084"/>
                  </a:moveTo>
                  <a:lnTo>
                    <a:pt x="26352" y="230466"/>
                  </a:lnTo>
                  <a:lnTo>
                    <a:pt x="41974" y="180019"/>
                  </a:lnTo>
                  <a:lnTo>
                    <a:pt x="22909" y="180019"/>
                  </a:lnTo>
                  <a:lnTo>
                    <a:pt x="19731" y="176910"/>
                  </a:lnTo>
                  <a:lnTo>
                    <a:pt x="19731" y="165557"/>
                  </a:lnTo>
                  <a:lnTo>
                    <a:pt x="0" y="144084"/>
                  </a:lnTo>
                  <a:close/>
                </a:path>
                <a:path w="53340" h="230504">
                  <a:moveTo>
                    <a:pt x="19731" y="165557"/>
                  </a:moveTo>
                  <a:lnTo>
                    <a:pt x="19731" y="176910"/>
                  </a:lnTo>
                  <a:lnTo>
                    <a:pt x="22909" y="180019"/>
                  </a:lnTo>
                  <a:lnTo>
                    <a:pt x="30192" y="180019"/>
                  </a:lnTo>
                  <a:lnTo>
                    <a:pt x="33106" y="176910"/>
                  </a:lnTo>
                  <a:lnTo>
                    <a:pt x="33106" y="172763"/>
                  </a:lnTo>
                  <a:lnTo>
                    <a:pt x="26352" y="172763"/>
                  </a:lnTo>
                  <a:lnTo>
                    <a:pt x="19731" y="165557"/>
                  </a:lnTo>
                  <a:close/>
                </a:path>
                <a:path w="53340" h="230504">
                  <a:moveTo>
                    <a:pt x="53102" y="144084"/>
                  </a:moveTo>
                  <a:lnTo>
                    <a:pt x="33106" y="165557"/>
                  </a:lnTo>
                  <a:lnTo>
                    <a:pt x="33106" y="176910"/>
                  </a:lnTo>
                  <a:lnTo>
                    <a:pt x="30192" y="180019"/>
                  </a:lnTo>
                  <a:lnTo>
                    <a:pt x="41974" y="180019"/>
                  </a:lnTo>
                  <a:lnTo>
                    <a:pt x="53102" y="144084"/>
                  </a:lnTo>
                  <a:close/>
                </a:path>
                <a:path w="53340" h="230504">
                  <a:moveTo>
                    <a:pt x="30192" y="0"/>
                  </a:moveTo>
                  <a:lnTo>
                    <a:pt x="22909" y="0"/>
                  </a:lnTo>
                  <a:lnTo>
                    <a:pt x="19731" y="3114"/>
                  </a:lnTo>
                  <a:lnTo>
                    <a:pt x="19731" y="165557"/>
                  </a:lnTo>
                  <a:lnTo>
                    <a:pt x="26352" y="172763"/>
                  </a:lnTo>
                  <a:lnTo>
                    <a:pt x="33073" y="165557"/>
                  </a:lnTo>
                  <a:lnTo>
                    <a:pt x="33106" y="3114"/>
                  </a:lnTo>
                  <a:lnTo>
                    <a:pt x="30192" y="0"/>
                  </a:lnTo>
                  <a:close/>
                </a:path>
                <a:path w="53340" h="230504">
                  <a:moveTo>
                    <a:pt x="33106" y="165557"/>
                  </a:moveTo>
                  <a:lnTo>
                    <a:pt x="26352" y="172763"/>
                  </a:lnTo>
                  <a:lnTo>
                    <a:pt x="33106" y="172763"/>
                  </a:lnTo>
                  <a:lnTo>
                    <a:pt x="33106" y="165557"/>
                  </a:lnTo>
                  <a:close/>
                </a:path>
              </a:pathLst>
            </a:custGeom>
            <a:solidFill>
              <a:srgbClr val="000000"/>
            </a:solidFill>
          </p:spPr>
          <p:txBody>
            <a:bodyPr wrap="square" lIns="0" tIns="0" rIns="0" bIns="0" rtlCol="0"/>
            <a:lstStyle/>
            <a:p/>
          </p:txBody>
        </p:sp>
        <p:sp>
          <p:nvSpPr>
            <p:cNvPr id="76" name="object 76" descr=""/>
            <p:cNvSpPr/>
            <p:nvPr/>
          </p:nvSpPr>
          <p:spPr>
            <a:xfrm>
              <a:off x="9283949" y="6272976"/>
              <a:ext cx="53340" cy="230504"/>
            </a:xfrm>
            <a:custGeom>
              <a:avLst/>
              <a:gdLst/>
              <a:ahLst/>
              <a:cxnLst/>
              <a:rect l="l" t="t" r="r" b="b"/>
              <a:pathLst>
                <a:path w="53340" h="230504">
                  <a:moveTo>
                    <a:pt x="33106" y="6906"/>
                  </a:moveTo>
                  <a:lnTo>
                    <a:pt x="33106" y="172763"/>
                  </a:lnTo>
                  <a:lnTo>
                    <a:pt x="33106" y="176910"/>
                  </a:lnTo>
                  <a:lnTo>
                    <a:pt x="30192" y="180019"/>
                  </a:lnTo>
                  <a:lnTo>
                    <a:pt x="26352" y="180019"/>
                  </a:lnTo>
                  <a:lnTo>
                    <a:pt x="22909" y="180019"/>
                  </a:lnTo>
                  <a:lnTo>
                    <a:pt x="19731" y="176910"/>
                  </a:lnTo>
                  <a:lnTo>
                    <a:pt x="19731" y="172763"/>
                  </a:lnTo>
                  <a:lnTo>
                    <a:pt x="19731" y="6906"/>
                  </a:lnTo>
                  <a:lnTo>
                    <a:pt x="19731" y="3114"/>
                  </a:lnTo>
                  <a:lnTo>
                    <a:pt x="22909" y="0"/>
                  </a:lnTo>
                  <a:lnTo>
                    <a:pt x="26352" y="0"/>
                  </a:lnTo>
                  <a:lnTo>
                    <a:pt x="30192" y="0"/>
                  </a:lnTo>
                  <a:lnTo>
                    <a:pt x="33106" y="3114"/>
                  </a:lnTo>
                  <a:lnTo>
                    <a:pt x="33106" y="6906"/>
                  </a:lnTo>
                  <a:close/>
                </a:path>
                <a:path w="53340" h="230504">
                  <a:moveTo>
                    <a:pt x="26352" y="172763"/>
                  </a:moveTo>
                  <a:lnTo>
                    <a:pt x="53102" y="144084"/>
                  </a:lnTo>
                  <a:lnTo>
                    <a:pt x="26352" y="230466"/>
                  </a:lnTo>
                  <a:lnTo>
                    <a:pt x="0" y="144084"/>
                  </a:lnTo>
                  <a:lnTo>
                    <a:pt x="26352" y="172763"/>
                  </a:lnTo>
                  <a:close/>
                </a:path>
              </a:pathLst>
            </a:custGeom>
            <a:ln w="3175">
              <a:solidFill>
                <a:srgbClr val="000000"/>
              </a:solidFill>
            </a:ln>
          </p:spPr>
          <p:txBody>
            <a:bodyPr wrap="square" lIns="0" tIns="0" rIns="0" bIns="0" rtlCol="0"/>
            <a:lstStyle/>
            <a:p/>
          </p:txBody>
        </p:sp>
      </p:grpSp>
      <p:sp>
        <p:nvSpPr>
          <p:cNvPr id="77" name="object 77" descr=""/>
          <p:cNvSpPr txBox="1"/>
          <p:nvPr/>
        </p:nvSpPr>
        <p:spPr>
          <a:xfrm>
            <a:off x="9645215" y="6302527"/>
            <a:ext cx="1235710" cy="181610"/>
          </a:xfrm>
          <a:prstGeom prst="rect">
            <a:avLst/>
          </a:prstGeom>
        </p:spPr>
        <p:txBody>
          <a:bodyPr wrap="square" lIns="0" tIns="15240" rIns="0" bIns="0" rtlCol="0" vert="horz">
            <a:spAutoFit/>
          </a:bodyPr>
          <a:lstStyle/>
          <a:p>
            <a:pPr marL="12700">
              <a:lnSpc>
                <a:spcPct val="100000"/>
              </a:lnSpc>
              <a:spcBef>
                <a:spcPts val="120"/>
              </a:spcBef>
            </a:pPr>
            <a:r>
              <a:rPr dirty="0" sz="1000" spc="-70" b="1">
                <a:solidFill>
                  <a:srgbClr val="0000FF"/>
                </a:solidFill>
                <a:latin typeface="宋体"/>
                <a:cs typeface="宋体"/>
              </a:rPr>
              <a:t>公共数据总线</a:t>
            </a:r>
            <a:r>
              <a:rPr dirty="0" sz="1000" spc="-35" b="1">
                <a:solidFill>
                  <a:srgbClr val="0000FF"/>
                </a:solidFill>
                <a:latin typeface="宋体"/>
                <a:cs typeface="宋体"/>
              </a:rPr>
              <a:t>（</a:t>
            </a:r>
            <a:r>
              <a:rPr dirty="0" sz="1000" spc="-35" b="1">
                <a:solidFill>
                  <a:srgbClr val="0000FF"/>
                </a:solidFill>
                <a:latin typeface="Times New Roman"/>
                <a:cs typeface="Times New Roman"/>
              </a:rPr>
              <a:t>CDB</a:t>
            </a:r>
            <a:r>
              <a:rPr dirty="0" sz="1000" spc="-35" b="1">
                <a:solidFill>
                  <a:srgbClr val="0000FF"/>
                </a:solidFill>
                <a:latin typeface="宋体"/>
                <a:cs typeface="宋体"/>
              </a:rPr>
              <a:t>）</a:t>
            </a:r>
            <a:endParaRPr sz="1000">
              <a:latin typeface="宋体"/>
              <a:cs typeface="宋体"/>
            </a:endParaRPr>
          </a:p>
        </p:txBody>
      </p:sp>
      <p:grpSp>
        <p:nvGrpSpPr>
          <p:cNvPr id="78" name="object 78" descr=""/>
          <p:cNvGrpSpPr/>
          <p:nvPr/>
        </p:nvGrpSpPr>
        <p:grpSpPr>
          <a:xfrm>
            <a:off x="8754226" y="3904879"/>
            <a:ext cx="3062605" cy="2599690"/>
            <a:chOff x="8754226" y="3904879"/>
            <a:chExt cx="3062605" cy="2599690"/>
          </a:xfrm>
        </p:grpSpPr>
        <p:sp>
          <p:nvSpPr>
            <p:cNvPr id="79" name="object 79" descr=""/>
            <p:cNvSpPr/>
            <p:nvPr/>
          </p:nvSpPr>
          <p:spPr>
            <a:xfrm>
              <a:off x="11065189" y="6272975"/>
              <a:ext cx="53340" cy="230504"/>
            </a:xfrm>
            <a:custGeom>
              <a:avLst/>
              <a:gdLst/>
              <a:ahLst/>
              <a:cxnLst/>
              <a:rect l="l" t="t" r="r" b="b"/>
              <a:pathLst>
                <a:path w="53340" h="230504">
                  <a:moveTo>
                    <a:pt x="0" y="144084"/>
                  </a:moveTo>
                  <a:lnTo>
                    <a:pt x="26352" y="230466"/>
                  </a:lnTo>
                  <a:lnTo>
                    <a:pt x="41974" y="180019"/>
                  </a:lnTo>
                  <a:lnTo>
                    <a:pt x="22909" y="180019"/>
                  </a:lnTo>
                  <a:lnTo>
                    <a:pt x="19996" y="176910"/>
                  </a:lnTo>
                  <a:lnTo>
                    <a:pt x="19996" y="165846"/>
                  </a:lnTo>
                  <a:lnTo>
                    <a:pt x="0" y="144084"/>
                  </a:lnTo>
                  <a:close/>
                </a:path>
                <a:path w="53340" h="230504">
                  <a:moveTo>
                    <a:pt x="19996" y="165846"/>
                  </a:moveTo>
                  <a:lnTo>
                    <a:pt x="19996" y="176910"/>
                  </a:lnTo>
                  <a:lnTo>
                    <a:pt x="22909" y="180019"/>
                  </a:lnTo>
                  <a:lnTo>
                    <a:pt x="30192" y="180019"/>
                  </a:lnTo>
                  <a:lnTo>
                    <a:pt x="33370" y="176910"/>
                  </a:lnTo>
                  <a:lnTo>
                    <a:pt x="33370" y="172763"/>
                  </a:lnTo>
                  <a:lnTo>
                    <a:pt x="26352" y="172763"/>
                  </a:lnTo>
                  <a:lnTo>
                    <a:pt x="19996" y="165846"/>
                  </a:lnTo>
                  <a:close/>
                </a:path>
                <a:path w="53340" h="230504">
                  <a:moveTo>
                    <a:pt x="53102" y="144084"/>
                  </a:moveTo>
                  <a:lnTo>
                    <a:pt x="33370" y="165239"/>
                  </a:lnTo>
                  <a:lnTo>
                    <a:pt x="33370" y="176910"/>
                  </a:lnTo>
                  <a:lnTo>
                    <a:pt x="30192" y="180019"/>
                  </a:lnTo>
                  <a:lnTo>
                    <a:pt x="41974" y="180019"/>
                  </a:lnTo>
                  <a:lnTo>
                    <a:pt x="53102" y="144084"/>
                  </a:lnTo>
                  <a:close/>
                </a:path>
                <a:path w="53340" h="230504">
                  <a:moveTo>
                    <a:pt x="30192" y="0"/>
                  </a:moveTo>
                  <a:lnTo>
                    <a:pt x="22909" y="0"/>
                  </a:lnTo>
                  <a:lnTo>
                    <a:pt x="19996" y="3114"/>
                  </a:lnTo>
                  <a:lnTo>
                    <a:pt x="19996" y="165846"/>
                  </a:lnTo>
                  <a:lnTo>
                    <a:pt x="26352" y="172763"/>
                  </a:lnTo>
                  <a:lnTo>
                    <a:pt x="33370" y="165239"/>
                  </a:lnTo>
                  <a:lnTo>
                    <a:pt x="33370" y="3114"/>
                  </a:lnTo>
                  <a:lnTo>
                    <a:pt x="30192" y="0"/>
                  </a:lnTo>
                  <a:close/>
                </a:path>
                <a:path w="53340" h="230504">
                  <a:moveTo>
                    <a:pt x="33370" y="165239"/>
                  </a:moveTo>
                  <a:lnTo>
                    <a:pt x="26352" y="172763"/>
                  </a:lnTo>
                  <a:lnTo>
                    <a:pt x="33370" y="172763"/>
                  </a:lnTo>
                  <a:lnTo>
                    <a:pt x="33370" y="165239"/>
                  </a:lnTo>
                  <a:close/>
                </a:path>
              </a:pathLst>
            </a:custGeom>
            <a:solidFill>
              <a:srgbClr val="000000"/>
            </a:solidFill>
          </p:spPr>
          <p:txBody>
            <a:bodyPr wrap="square" lIns="0" tIns="0" rIns="0" bIns="0" rtlCol="0"/>
            <a:lstStyle/>
            <a:p/>
          </p:txBody>
        </p:sp>
        <p:sp>
          <p:nvSpPr>
            <p:cNvPr id="80" name="object 80" descr=""/>
            <p:cNvSpPr/>
            <p:nvPr/>
          </p:nvSpPr>
          <p:spPr>
            <a:xfrm>
              <a:off x="11065189" y="6272975"/>
              <a:ext cx="53340" cy="230504"/>
            </a:xfrm>
            <a:custGeom>
              <a:avLst/>
              <a:gdLst/>
              <a:ahLst/>
              <a:cxnLst/>
              <a:rect l="l" t="t" r="r" b="b"/>
              <a:pathLst>
                <a:path w="53340" h="230504">
                  <a:moveTo>
                    <a:pt x="33370" y="6906"/>
                  </a:moveTo>
                  <a:lnTo>
                    <a:pt x="33370" y="172763"/>
                  </a:lnTo>
                  <a:lnTo>
                    <a:pt x="33370" y="176910"/>
                  </a:lnTo>
                  <a:lnTo>
                    <a:pt x="30192" y="180019"/>
                  </a:lnTo>
                  <a:lnTo>
                    <a:pt x="26352" y="180019"/>
                  </a:lnTo>
                  <a:lnTo>
                    <a:pt x="22909" y="180019"/>
                  </a:lnTo>
                  <a:lnTo>
                    <a:pt x="19996" y="176910"/>
                  </a:lnTo>
                  <a:lnTo>
                    <a:pt x="19996" y="172763"/>
                  </a:lnTo>
                  <a:lnTo>
                    <a:pt x="19996" y="6906"/>
                  </a:lnTo>
                  <a:lnTo>
                    <a:pt x="19996" y="3114"/>
                  </a:lnTo>
                  <a:lnTo>
                    <a:pt x="22909" y="0"/>
                  </a:lnTo>
                  <a:lnTo>
                    <a:pt x="26352" y="0"/>
                  </a:lnTo>
                  <a:lnTo>
                    <a:pt x="30192" y="0"/>
                  </a:lnTo>
                  <a:lnTo>
                    <a:pt x="33370" y="3114"/>
                  </a:lnTo>
                  <a:lnTo>
                    <a:pt x="33370" y="6906"/>
                  </a:lnTo>
                  <a:close/>
                </a:path>
                <a:path w="53340" h="230504">
                  <a:moveTo>
                    <a:pt x="26352" y="172763"/>
                  </a:moveTo>
                  <a:lnTo>
                    <a:pt x="53102" y="144084"/>
                  </a:lnTo>
                  <a:lnTo>
                    <a:pt x="26352" y="230466"/>
                  </a:lnTo>
                  <a:lnTo>
                    <a:pt x="0" y="144084"/>
                  </a:lnTo>
                  <a:lnTo>
                    <a:pt x="26352" y="172763"/>
                  </a:lnTo>
                  <a:close/>
                </a:path>
              </a:pathLst>
            </a:custGeom>
            <a:ln w="3175">
              <a:solidFill>
                <a:srgbClr val="000000"/>
              </a:solidFill>
            </a:ln>
          </p:spPr>
          <p:txBody>
            <a:bodyPr wrap="square" lIns="0" tIns="0" rIns="0" bIns="0" rtlCol="0"/>
            <a:lstStyle/>
            <a:p/>
          </p:txBody>
        </p:sp>
        <p:sp>
          <p:nvSpPr>
            <p:cNvPr id="81" name="object 81" descr=""/>
            <p:cNvSpPr/>
            <p:nvPr/>
          </p:nvSpPr>
          <p:spPr>
            <a:xfrm>
              <a:off x="9089020" y="5647561"/>
              <a:ext cx="53340" cy="320040"/>
            </a:xfrm>
            <a:custGeom>
              <a:avLst/>
              <a:gdLst/>
              <a:ahLst/>
              <a:cxnLst/>
              <a:rect l="l" t="t" r="r" b="b"/>
              <a:pathLst>
                <a:path w="53340" h="320039">
                  <a:moveTo>
                    <a:pt x="0" y="233236"/>
                  </a:moveTo>
                  <a:lnTo>
                    <a:pt x="26352" y="319959"/>
                  </a:lnTo>
                  <a:lnTo>
                    <a:pt x="41913" y="269511"/>
                  </a:lnTo>
                  <a:lnTo>
                    <a:pt x="22909" y="269511"/>
                  </a:lnTo>
                  <a:lnTo>
                    <a:pt x="19996" y="266065"/>
                  </a:lnTo>
                  <a:lnTo>
                    <a:pt x="19996" y="255258"/>
                  </a:lnTo>
                  <a:lnTo>
                    <a:pt x="0" y="233236"/>
                  </a:lnTo>
                  <a:close/>
                </a:path>
                <a:path w="53340" h="320039">
                  <a:moveTo>
                    <a:pt x="19996" y="255258"/>
                  </a:moveTo>
                  <a:lnTo>
                    <a:pt x="19996" y="266065"/>
                  </a:lnTo>
                  <a:lnTo>
                    <a:pt x="22909" y="269511"/>
                  </a:lnTo>
                  <a:lnTo>
                    <a:pt x="30192" y="269511"/>
                  </a:lnTo>
                  <a:lnTo>
                    <a:pt x="33106" y="266065"/>
                  </a:lnTo>
                  <a:lnTo>
                    <a:pt x="33106" y="262259"/>
                  </a:lnTo>
                  <a:lnTo>
                    <a:pt x="26352" y="262259"/>
                  </a:lnTo>
                  <a:lnTo>
                    <a:pt x="19996" y="255258"/>
                  </a:lnTo>
                  <a:close/>
                </a:path>
                <a:path w="53340" h="320039">
                  <a:moveTo>
                    <a:pt x="53102" y="233236"/>
                  </a:moveTo>
                  <a:lnTo>
                    <a:pt x="33106" y="254931"/>
                  </a:lnTo>
                  <a:lnTo>
                    <a:pt x="33106" y="266065"/>
                  </a:lnTo>
                  <a:lnTo>
                    <a:pt x="30192" y="269511"/>
                  </a:lnTo>
                  <a:lnTo>
                    <a:pt x="41913" y="269511"/>
                  </a:lnTo>
                  <a:lnTo>
                    <a:pt x="53102" y="233236"/>
                  </a:lnTo>
                  <a:close/>
                </a:path>
                <a:path w="53340" h="320039">
                  <a:moveTo>
                    <a:pt x="30192" y="0"/>
                  </a:moveTo>
                  <a:lnTo>
                    <a:pt x="22909" y="0"/>
                  </a:lnTo>
                  <a:lnTo>
                    <a:pt x="19996" y="3114"/>
                  </a:lnTo>
                  <a:lnTo>
                    <a:pt x="19996" y="255258"/>
                  </a:lnTo>
                  <a:lnTo>
                    <a:pt x="26352" y="262259"/>
                  </a:lnTo>
                  <a:lnTo>
                    <a:pt x="33106" y="254931"/>
                  </a:lnTo>
                  <a:lnTo>
                    <a:pt x="33106" y="3114"/>
                  </a:lnTo>
                  <a:lnTo>
                    <a:pt x="30192" y="0"/>
                  </a:lnTo>
                  <a:close/>
                </a:path>
                <a:path w="53340" h="320039">
                  <a:moveTo>
                    <a:pt x="33106" y="254931"/>
                  </a:moveTo>
                  <a:lnTo>
                    <a:pt x="26352" y="262259"/>
                  </a:lnTo>
                  <a:lnTo>
                    <a:pt x="33106" y="262259"/>
                  </a:lnTo>
                  <a:lnTo>
                    <a:pt x="33106" y="254931"/>
                  </a:lnTo>
                  <a:close/>
                </a:path>
              </a:pathLst>
            </a:custGeom>
            <a:solidFill>
              <a:srgbClr val="000000"/>
            </a:solidFill>
          </p:spPr>
          <p:txBody>
            <a:bodyPr wrap="square" lIns="0" tIns="0" rIns="0" bIns="0" rtlCol="0"/>
            <a:lstStyle/>
            <a:p/>
          </p:txBody>
        </p:sp>
        <p:sp>
          <p:nvSpPr>
            <p:cNvPr id="82" name="object 82" descr=""/>
            <p:cNvSpPr/>
            <p:nvPr/>
          </p:nvSpPr>
          <p:spPr>
            <a:xfrm>
              <a:off x="9089020" y="5647561"/>
              <a:ext cx="53340" cy="320040"/>
            </a:xfrm>
            <a:custGeom>
              <a:avLst/>
              <a:gdLst/>
              <a:ahLst/>
              <a:cxnLst/>
              <a:rect l="l" t="t" r="r" b="b"/>
              <a:pathLst>
                <a:path w="53340" h="320039">
                  <a:moveTo>
                    <a:pt x="33106" y="7252"/>
                  </a:moveTo>
                  <a:lnTo>
                    <a:pt x="33106" y="262259"/>
                  </a:lnTo>
                  <a:lnTo>
                    <a:pt x="33106" y="266065"/>
                  </a:lnTo>
                  <a:lnTo>
                    <a:pt x="30192" y="269511"/>
                  </a:lnTo>
                  <a:lnTo>
                    <a:pt x="26352" y="269511"/>
                  </a:lnTo>
                  <a:lnTo>
                    <a:pt x="22909" y="269511"/>
                  </a:lnTo>
                  <a:lnTo>
                    <a:pt x="19996" y="266065"/>
                  </a:lnTo>
                  <a:lnTo>
                    <a:pt x="19996" y="262259"/>
                  </a:lnTo>
                  <a:lnTo>
                    <a:pt x="19996" y="7252"/>
                  </a:lnTo>
                  <a:lnTo>
                    <a:pt x="19996" y="3114"/>
                  </a:lnTo>
                  <a:lnTo>
                    <a:pt x="22909" y="0"/>
                  </a:lnTo>
                  <a:lnTo>
                    <a:pt x="26352" y="0"/>
                  </a:lnTo>
                  <a:lnTo>
                    <a:pt x="30192" y="0"/>
                  </a:lnTo>
                  <a:lnTo>
                    <a:pt x="33106" y="3114"/>
                  </a:lnTo>
                  <a:lnTo>
                    <a:pt x="33106" y="7252"/>
                  </a:lnTo>
                  <a:close/>
                </a:path>
                <a:path w="53340" h="320039">
                  <a:moveTo>
                    <a:pt x="26352" y="262259"/>
                  </a:moveTo>
                  <a:lnTo>
                    <a:pt x="53102" y="233236"/>
                  </a:lnTo>
                  <a:lnTo>
                    <a:pt x="26352" y="319959"/>
                  </a:lnTo>
                  <a:lnTo>
                    <a:pt x="0" y="233236"/>
                  </a:lnTo>
                  <a:lnTo>
                    <a:pt x="26352" y="262259"/>
                  </a:lnTo>
                  <a:close/>
                </a:path>
              </a:pathLst>
            </a:custGeom>
            <a:ln w="3175">
              <a:solidFill>
                <a:srgbClr val="000000"/>
              </a:solidFill>
            </a:ln>
          </p:spPr>
          <p:txBody>
            <a:bodyPr wrap="square" lIns="0" tIns="0" rIns="0" bIns="0" rtlCol="0"/>
            <a:lstStyle/>
            <a:p/>
          </p:txBody>
        </p:sp>
        <p:sp>
          <p:nvSpPr>
            <p:cNvPr id="83" name="object 83" descr=""/>
            <p:cNvSpPr/>
            <p:nvPr/>
          </p:nvSpPr>
          <p:spPr>
            <a:xfrm>
              <a:off x="9590114" y="5647561"/>
              <a:ext cx="53340" cy="320040"/>
            </a:xfrm>
            <a:custGeom>
              <a:avLst/>
              <a:gdLst/>
              <a:ahLst/>
              <a:cxnLst/>
              <a:rect l="l" t="t" r="r" b="b"/>
              <a:pathLst>
                <a:path w="53340" h="320039">
                  <a:moveTo>
                    <a:pt x="0" y="233236"/>
                  </a:moveTo>
                  <a:lnTo>
                    <a:pt x="26352" y="319959"/>
                  </a:lnTo>
                  <a:lnTo>
                    <a:pt x="41759" y="269511"/>
                  </a:lnTo>
                  <a:lnTo>
                    <a:pt x="22909" y="269511"/>
                  </a:lnTo>
                  <a:lnTo>
                    <a:pt x="19731" y="266065"/>
                  </a:lnTo>
                  <a:lnTo>
                    <a:pt x="19731" y="254967"/>
                  </a:lnTo>
                  <a:lnTo>
                    <a:pt x="0" y="233236"/>
                  </a:lnTo>
                  <a:close/>
                </a:path>
                <a:path w="53340" h="320039">
                  <a:moveTo>
                    <a:pt x="19731" y="254967"/>
                  </a:moveTo>
                  <a:lnTo>
                    <a:pt x="19731" y="266065"/>
                  </a:lnTo>
                  <a:lnTo>
                    <a:pt x="22909" y="269511"/>
                  </a:lnTo>
                  <a:lnTo>
                    <a:pt x="30192" y="269511"/>
                  </a:lnTo>
                  <a:lnTo>
                    <a:pt x="33106" y="266065"/>
                  </a:lnTo>
                  <a:lnTo>
                    <a:pt x="33106" y="262259"/>
                  </a:lnTo>
                  <a:lnTo>
                    <a:pt x="26352" y="262259"/>
                  </a:lnTo>
                  <a:lnTo>
                    <a:pt x="19731" y="254967"/>
                  </a:lnTo>
                  <a:close/>
                </a:path>
                <a:path w="53340" h="320039">
                  <a:moveTo>
                    <a:pt x="52837" y="233236"/>
                  </a:moveTo>
                  <a:lnTo>
                    <a:pt x="33106" y="254967"/>
                  </a:lnTo>
                  <a:lnTo>
                    <a:pt x="33106" y="266065"/>
                  </a:lnTo>
                  <a:lnTo>
                    <a:pt x="30192" y="269511"/>
                  </a:lnTo>
                  <a:lnTo>
                    <a:pt x="41759" y="269511"/>
                  </a:lnTo>
                  <a:lnTo>
                    <a:pt x="52837" y="233236"/>
                  </a:lnTo>
                  <a:close/>
                </a:path>
                <a:path w="53340" h="320039">
                  <a:moveTo>
                    <a:pt x="30192" y="0"/>
                  </a:moveTo>
                  <a:lnTo>
                    <a:pt x="22909" y="0"/>
                  </a:lnTo>
                  <a:lnTo>
                    <a:pt x="19731" y="3114"/>
                  </a:lnTo>
                  <a:lnTo>
                    <a:pt x="19731" y="254967"/>
                  </a:lnTo>
                  <a:lnTo>
                    <a:pt x="26352" y="262259"/>
                  </a:lnTo>
                  <a:lnTo>
                    <a:pt x="33006" y="254967"/>
                  </a:lnTo>
                  <a:lnTo>
                    <a:pt x="33106" y="3114"/>
                  </a:lnTo>
                  <a:lnTo>
                    <a:pt x="30192" y="0"/>
                  </a:lnTo>
                  <a:close/>
                </a:path>
                <a:path w="53340" h="320039">
                  <a:moveTo>
                    <a:pt x="33106" y="254967"/>
                  </a:moveTo>
                  <a:lnTo>
                    <a:pt x="26352" y="262259"/>
                  </a:lnTo>
                  <a:lnTo>
                    <a:pt x="33106" y="262259"/>
                  </a:lnTo>
                  <a:lnTo>
                    <a:pt x="33106" y="254967"/>
                  </a:lnTo>
                  <a:close/>
                </a:path>
              </a:pathLst>
            </a:custGeom>
            <a:solidFill>
              <a:srgbClr val="000000"/>
            </a:solidFill>
          </p:spPr>
          <p:txBody>
            <a:bodyPr wrap="square" lIns="0" tIns="0" rIns="0" bIns="0" rtlCol="0"/>
            <a:lstStyle/>
            <a:p/>
          </p:txBody>
        </p:sp>
        <p:sp>
          <p:nvSpPr>
            <p:cNvPr id="84" name="object 84" descr=""/>
            <p:cNvSpPr/>
            <p:nvPr/>
          </p:nvSpPr>
          <p:spPr>
            <a:xfrm>
              <a:off x="9590114" y="5647561"/>
              <a:ext cx="53340" cy="320040"/>
            </a:xfrm>
            <a:custGeom>
              <a:avLst/>
              <a:gdLst/>
              <a:ahLst/>
              <a:cxnLst/>
              <a:rect l="l" t="t" r="r" b="b"/>
              <a:pathLst>
                <a:path w="53340" h="320039">
                  <a:moveTo>
                    <a:pt x="33106" y="7252"/>
                  </a:moveTo>
                  <a:lnTo>
                    <a:pt x="33106" y="262259"/>
                  </a:lnTo>
                  <a:lnTo>
                    <a:pt x="33106" y="266065"/>
                  </a:lnTo>
                  <a:lnTo>
                    <a:pt x="30192" y="269511"/>
                  </a:lnTo>
                  <a:lnTo>
                    <a:pt x="26352" y="269511"/>
                  </a:lnTo>
                  <a:lnTo>
                    <a:pt x="22909" y="269511"/>
                  </a:lnTo>
                  <a:lnTo>
                    <a:pt x="19731" y="266065"/>
                  </a:lnTo>
                  <a:lnTo>
                    <a:pt x="19731" y="262259"/>
                  </a:lnTo>
                  <a:lnTo>
                    <a:pt x="19731" y="7252"/>
                  </a:lnTo>
                  <a:lnTo>
                    <a:pt x="19731" y="3114"/>
                  </a:lnTo>
                  <a:lnTo>
                    <a:pt x="22909" y="0"/>
                  </a:lnTo>
                  <a:lnTo>
                    <a:pt x="26352" y="0"/>
                  </a:lnTo>
                  <a:lnTo>
                    <a:pt x="30192" y="0"/>
                  </a:lnTo>
                  <a:lnTo>
                    <a:pt x="33106" y="3114"/>
                  </a:lnTo>
                  <a:lnTo>
                    <a:pt x="33106" y="7252"/>
                  </a:lnTo>
                  <a:close/>
                </a:path>
                <a:path w="53340" h="320039">
                  <a:moveTo>
                    <a:pt x="26352" y="262259"/>
                  </a:moveTo>
                  <a:lnTo>
                    <a:pt x="52837" y="233236"/>
                  </a:lnTo>
                  <a:lnTo>
                    <a:pt x="26352" y="319959"/>
                  </a:lnTo>
                  <a:lnTo>
                    <a:pt x="0" y="233236"/>
                  </a:lnTo>
                  <a:lnTo>
                    <a:pt x="26352" y="262259"/>
                  </a:lnTo>
                  <a:close/>
                </a:path>
              </a:pathLst>
            </a:custGeom>
            <a:ln w="3175">
              <a:solidFill>
                <a:srgbClr val="000000"/>
              </a:solidFill>
            </a:ln>
          </p:spPr>
          <p:txBody>
            <a:bodyPr wrap="square" lIns="0" tIns="0" rIns="0" bIns="0" rtlCol="0"/>
            <a:lstStyle/>
            <a:p/>
          </p:txBody>
        </p:sp>
        <p:sp>
          <p:nvSpPr>
            <p:cNvPr id="85" name="object 85" descr=""/>
            <p:cNvSpPr/>
            <p:nvPr/>
          </p:nvSpPr>
          <p:spPr>
            <a:xfrm>
              <a:off x="11343677" y="5602981"/>
              <a:ext cx="53340" cy="365125"/>
            </a:xfrm>
            <a:custGeom>
              <a:avLst/>
              <a:gdLst/>
              <a:ahLst/>
              <a:cxnLst/>
              <a:rect l="l" t="t" r="r" b="b"/>
              <a:pathLst>
                <a:path w="53340" h="365125">
                  <a:moveTo>
                    <a:pt x="0" y="278162"/>
                  </a:moveTo>
                  <a:lnTo>
                    <a:pt x="26484" y="364539"/>
                  </a:lnTo>
                  <a:lnTo>
                    <a:pt x="41875" y="314091"/>
                  </a:lnTo>
                  <a:lnTo>
                    <a:pt x="22644" y="314091"/>
                  </a:lnTo>
                  <a:lnTo>
                    <a:pt x="19731" y="310991"/>
                  </a:lnTo>
                  <a:lnTo>
                    <a:pt x="19731" y="299634"/>
                  </a:lnTo>
                  <a:lnTo>
                    <a:pt x="0" y="278162"/>
                  </a:lnTo>
                  <a:close/>
                </a:path>
                <a:path w="53340" h="365125">
                  <a:moveTo>
                    <a:pt x="19830" y="299634"/>
                  </a:moveTo>
                  <a:lnTo>
                    <a:pt x="19731" y="310991"/>
                  </a:lnTo>
                  <a:lnTo>
                    <a:pt x="22644" y="314091"/>
                  </a:lnTo>
                  <a:lnTo>
                    <a:pt x="30192" y="314091"/>
                  </a:lnTo>
                  <a:lnTo>
                    <a:pt x="33106" y="310991"/>
                  </a:lnTo>
                  <a:lnTo>
                    <a:pt x="33106" y="306839"/>
                  </a:lnTo>
                  <a:lnTo>
                    <a:pt x="26484" y="306839"/>
                  </a:lnTo>
                  <a:lnTo>
                    <a:pt x="19830" y="299634"/>
                  </a:lnTo>
                  <a:close/>
                </a:path>
                <a:path w="53340" h="365125">
                  <a:moveTo>
                    <a:pt x="52837" y="278162"/>
                  </a:moveTo>
                  <a:lnTo>
                    <a:pt x="33106" y="299634"/>
                  </a:lnTo>
                  <a:lnTo>
                    <a:pt x="33106" y="310991"/>
                  </a:lnTo>
                  <a:lnTo>
                    <a:pt x="30192" y="314091"/>
                  </a:lnTo>
                  <a:lnTo>
                    <a:pt x="41875" y="314091"/>
                  </a:lnTo>
                  <a:lnTo>
                    <a:pt x="52837" y="278162"/>
                  </a:lnTo>
                  <a:close/>
                </a:path>
                <a:path w="53340" h="365125">
                  <a:moveTo>
                    <a:pt x="30192" y="0"/>
                  </a:moveTo>
                  <a:lnTo>
                    <a:pt x="22644" y="0"/>
                  </a:lnTo>
                  <a:lnTo>
                    <a:pt x="19731" y="3114"/>
                  </a:lnTo>
                  <a:lnTo>
                    <a:pt x="19830" y="299634"/>
                  </a:lnTo>
                  <a:lnTo>
                    <a:pt x="26484" y="306839"/>
                  </a:lnTo>
                  <a:lnTo>
                    <a:pt x="33106" y="299634"/>
                  </a:lnTo>
                  <a:lnTo>
                    <a:pt x="33106" y="3114"/>
                  </a:lnTo>
                  <a:lnTo>
                    <a:pt x="30192" y="0"/>
                  </a:lnTo>
                  <a:close/>
                </a:path>
                <a:path w="53340" h="365125">
                  <a:moveTo>
                    <a:pt x="33106" y="299634"/>
                  </a:moveTo>
                  <a:lnTo>
                    <a:pt x="26484" y="306839"/>
                  </a:lnTo>
                  <a:lnTo>
                    <a:pt x="33106" y="306839"/>
                  </a:lnTo>
                  <a:lnTo>
                    <a:pt x="33106" y="299634"/>
                  </a:lnTo>
                  <a:close/>
                </a:path>
              </a:pathLst>
            </a:custGeom>
            <a:solidFill>
              <a:srgbClr val="000000"/>
            </a:solidFill>
          </p:spPr>
          <p:txBody>
            <a:bodyPr wrap="square" lIns="0" tIns="0" rIns="0" bIns="0" rtlCol="0"/>
            <a:lstStyle/>
            <a:p/>
          </p:txBody>
        </p:sp>
        <p:sp>
          <p:nvSpPr>
            <p:cNvPr id="86" name="object 86" descr=""/>
            <p:cNvSpPr/>
            <p:nvPr/>
          </p:nvSpPr>
          <p:spPr>
            <a:xfrm>
              <a:off x="11343677" y="5602981"/>
              <a:ext cx="53340" cy="365125"/>
            </a:xfrm>
            <a:custGeom>
              <a:avLst/>
              <a:gdLst/>
              <a:ahLst/>
              <a:cxnLst/>
              <a:rect l="l" t="t" r="r" b="b"/>
              <a:pathLst>
                <a:path w="53340" h="365125">
                  <a:moveTo>
                    <a:pt x="33106" y="6920"/>
                  </a:moveTo>
                  <a:lnTo>
                    <a:pt x="33106" y="306839"/>
                  </a:lnTo>
                  <a:lnTo>
                    <a:pt x="33106" y="310991"/>
                  </a:lnTo>
                  <a:lnTo>
                    <a:pt x="30192" y="314091"/>
                  </a:lnTo>
                  <a:lnTo>
                    <a:pt x="26484" y="314091"/>
                  </a:lnTo>
                  <a:lnTo>
                    <a:pt x="22644" y="314091"/>
                  </a:lnTo>
                  <a:lnTo>
                    <a:pt x="19731" y="310991"/>
                  </a:lnTo>
                  <a:lnTo>
                    <a:pt x="19731" y="306839"/>
                  </a:lnTo>
                  <a:lnTo>
                    <a:pt x="19731" y="6920"/>
                  </a:lnTo>
                  <a:lnTo>
                    <a:pt x="19731" y="3114"/>
                  </a:lnTo>
                  <a:lnTo>
                    <a:pt x="22644" y="0"/>
                  </a:lnTo>
                  <a:lnTo>
                    <a:pt x="26484" y="0"/>
                  </a:lnTo>
                  <a:lnTo>
                    <a:pt x="30192" y="0"/>
                  </a:lnTo>
                  <a:lnTo>
                    <a:pt x="33106" y="3114"/>
                  </a:lnTo>
                  <a:lnTo>
                    <a:pt x="33106" y="6920"/>
                  </a:lnTo>
                  <a:close/>
                </a:path>
                <a:path w="53340" h="365125">
                  <a:moveTo>
                    <a:pt x="26484" y="306839"/>
                  </a:moveTo>
                  <a:lnTo>
                    <a:pt x="52837" y="278162"/>
                  </a:lnTo>
                  <a:lnTo>
                    <a:pt x="26484" y="364539"/>
                  </a:lnTo>
                  <a:lnTo>
                    <a:pt x="0" y="278162"/>
                  </a:lnTo>
                  <a:lnTo>
                    <a:pt x="26484" y="306839"/>
                  </a:lnTo>
                  <a:close/>
                </a:path>
              </a:pathLst>
            </a:custGeom>
            <a:ln w="3175">
              <a:solidFill>
                <a:srgbClr val="000000"/>
              </a:solidFill>
            </a:ln>
          </p:spPr>
          <p:txBody>
            <a:bodyPr wrap="square" lIns="0" tIns="0" rIns="0" bIns="0" rtlCol="0"/>
            <a:lstStyle/>
            <a:p/>
          </p:txBody>
        </p:sp>
        <p:sp>
          <p:nvSpPr>
            <p:cNvPr id="87" name="object 87" descr=""/>
            <p:cNvSpPr/>
            <p:nvPr/>
          </p:nvSpPr>
          <p:spPr>
            <a:xfrm>
              <a:off x="9115372" y="5029816"/>
              <a:ext cx="2700020" cy="0"/>
            </a:xfrm>
            <a:custGeom>
              <a:avLst/>
              <a:gdLst/>
              <a:ahLst/>
              <a:cxnLst/>
              <a:rect l="l" t="t" r="r" b="b"/>
              <a:pathLst>
                <a:path w="2700020" h="0">
                  <a:moveTo>
                    <a:pt x="0" y="0"/>
                  </a:moveTo>
                  <a:lnTo>
                    <a:pt x="2699868" y="0"/>
                  </a:lnTo>
                </a:path>
              </a:pathLst>
            </a:custGeom>
            <a:ln w="10731">
              <a:solidFill>
                <a:srgbClr val="0000FF"/>
              </a:solidFill>
            </a:ln>
          </p:spPr>
          <p:txBody>
            <a:bodyPr wrap="square" lIns="0" tIns="0" rIns="0" bIns="0" rtlCol="0"/>
            <a:lstStyle/>
            <a:p/>
          </p:txBody>
        </p:sp>
        <p:sp>
          <p:nvSpPr>
            <p:cNvPr id="88" name="object 88" descr=""/>
            <p:cNvSpPr/>
            <p:nvPr/>
          </p:nvSpPr>
          <p:spPr>
            <a:xfrm>
              <a:off x="9089020" y="4620351"/>
              <a:ext cx="53340" cy="588010"/>
            </a:xfrm>
            <a:custGeom>
              <a:avLst/>
              <a:gdLst/>
              <a:ahLst/>
              <a:cxnLst/>
              <a:rect l="l" t="t" r="r" b="b"/>
              <a:pathLst>
                <a:path w="53340" h="588010">
                  <a:moveTo>
                    <a:pt x="0" y="501306"/>
                  </a:moveTo>
                  <a:lnTo>
                    <a:pt x="26352" y="587697"/>
                  </a:lnTo>
                  <a:lnTo>
                    <a:pt x="41972" y="537249"/>
                  </a:lnTo>
                  <a:lnTo>
                    <a:pt x="22909" y="537249"/>
                  </a:lnTo>
                  <a:lnTo>
                    <a:pt x="19996" y="534135"/>
                  </a:lnTo>
                  <a:lnTo>
                    <a:pt x="19996" y="523066"/>
                  </a:lnTo>
                  <a:lnTo>
                    <a:pt x="0" y="501306"/>
                  </a:lnTo>
                  <a:close/>
                </a:path>
                <a:path w="53340" h="588010">
                  <a:moveTo>
                    <a:pt x="19996" y="523066"/>
                  </a:moveTo>
                  <a:lnTo>
                    <a:pt x="19996" y="534135"/>
                  </a:lnTo>
                  <a:lnTo>
                    <a:pt x="22909" y="537249"/>
                  </a:lnTo>
                  <a:lnTo>
                    <a:pt x="30192" y="537249"/>
                  </a:lnTo>
                  <a:lnTo>
                    <a:pt x="33106" y="534135"/>
                  </a:lnTo>
                  <a:lnTo>
                    <a:pt x="33106" y="529983"/>
                  </a:lnTo>
                  <a:lnTo>
                    <a:pt x="26352" y="529983"/>
                  </a:lnTo>
                  <a:lnTo>
                    <a:pt x="19996" y="523066"/>
                  </a:lnTo>
                  <a:close/>
                </a:path>
                <a:path w="53340" h="588010">
                  <a:moveTo>
                    <a:pt x="53102" y="501306"/>
                  </a:moveTo>
                  <a:lnTo>
                    <a:pt x="33106" y="522743"/>
                  </a:lnTo>
                  <a:lnTo>
                    <a:pt x="33106" y="534135"/>
                  </a:lnTo>
                  <a:lnTo>
                    <a:pt x="30192" y="537249"/>
                  </a:lnTo>
                  <a:lnTo>
                    <a:pt x="41972" y="537249"/>
                  </a:lnTo>
                  <a:lnTo>
                    <a:pt x="53102" y="501306"/>
                  </a:lnTo>
                  <a:close/>
                </a:path>
                <a:path w="53340" h="588010">
                  <a:moveTo>
                    <a:pt x="30192" y="0"/>
                  </a:moveTo>
                  <a:lnTo>
                    <a:pt x="22909" y="0"/>
                  </a:lnTo>
                  <a:lnTo>
                    <a:pt x="19995" y="3027"/>
                  </a:lnTo>
                  <a:lnTo>
                    <a:pt x="19996" y="523066"/>
                  </a:lnTo>
                  <a:lnTo>
                    <a:pt x="26352" y="529983"/>
                  </a:lnTo>
                  <a:lnTo>
                    <a:pt x="33106" y="522743"/>
                  </a:lnTo>
                  <a:lnTo>
                    <a:pt x="33106" y="3027"/>
                  </a:lnTo>
                  <a:lnTo>
                    <a:pt x="30192" y="0"/>
                  </a:lnTo>
                  <a:close/>
                </a:path>
                <a:path w="53340" h="588010">
                  <a:moveTo>
                    <a:pt x="33106" y="522743"/>
                  </a:moveTo>
                  <a:lnTo>
                    <a:pt x="26352" y="529983"/>
                  </a:lnTo>
                  <a:lnTo>
                    <a:pt x="33106" y="529983"/>
                  </a:lnTo>
                  <a:lnTo>
                    <a:pt x="33106" y="522743"/>
                  </a:lnTo>
                  <a:close/>
                </a:path>
              </a:pathLst>
            </a:custGeom>
            <a:solidFill>
              <a:srgbClr val="000000"/>
            </a:solidFill>
          </p:spPr>
          <p:txBody>
            <a:bodyPr wrap="square" lIns="0" tIns="0" rIns="0" bIns="0" rtlCol="0"/>
            <a:lstStyle/>
            <a:p/>
          </p:txBody>
        </p:sp>
        <p:sp>
          <p:nvSpPr>
            <p:cNvPr id="89" name="object 89" descr=""/>
            <p:cNvSpPr/>
            <p:nvPr/>
          </p:nvSpPr>
          <p:spPr>
            <a:xfrm>
              <a:off x="9089020" y="4620351"/>
              <a:ext cx="53340" cy="588010"/>
            </a:xfrm>
            <a:custGeom>
              <a:avLst/>
              <a:gdLst/>
              <a:ahLst/>
              <a:cxnLst/>
              <a:rect l="l" t="t" r="r" b="b"/>
              <a:pathLst>
                <a:path w="53340" h="588010">
                  <a:moveTo>
                    <a:pt x="33106" y="7208"/>
                  </a:moveTo>
                  <a:lnTo>
                    <a:pt x="33106" y="529983"/>
                  </a:lnTo>
                  <a:lnTo>
                    <a:pt x="33106" y="534135"/>
                  </a:lnTo>
                  <a:lnTo>
                    <a:pt x="30192" y="537249"/>
                  </a:lnTo>
                  <a:lnTo>
                    <a:pt x="26352" y="537249"/>
                  </a:lnTo>
                  <a:lnTo>
                    <a:pt x="22909" y="537249"/>
                  </a:lnTo>
                  <a:lnTo>
                    <a:pt x="19996" y="534135"/>
                  </a:lnTo>
                  <a:lnTo>
                    <a:pt x="19996" y="529983"/>
                  </a:lnTo>
                  <a:lnTo>
                    <a:pt x="19995" y="7208"/>
                  </a:lnTo>
                  <a:lnTo>
                    <a:pt x="19995" y="3027"/>
                  </a:lnTo>
                  <a:lnTo>
                    <a:pt x="22909" y="0"/>
                  </a:lnTo>
                  <a:lnTo>
                    <a:pt x="26352" y="0"/>
                  </a:lnTo>
                  <a:lnTo>
                    <a:pt x="30192" y="0"/>
                  </a:lnTo>
                  <a:lnTo>
                    <a:pt x="33106" y="3027"/>
                  </a:lnTo>
                  <a:lnTo>
                    <a:pt x="33106" y="7208"/>
                  </a:lnTo>
                  <a:close/>
                </a:path>
                <a:path w="53340" h="588010">
                  <a:moveTo>
                    <a:pt x="26352" y="529983"/>
                  </a:moveTo>
                  <a:lnTo>
                    <a:pt x="53102" y="501306"/>
                  </a:lnTo>
                  <a:lnTo>
                    <a:pt x="26352" y="587697"/>
                  </a:lnTo>
                  <a:lnTo>
                    <a:pt x="0" y="501306"/>
                  </a:lnTo>
                  <a:lnTo>
                    <a:pt x="26352" y="529983"/>
                  </a:lnTo>
                  <a:close/>
                </a:path>
              </a:pathLst>
            </a:custGeom>
            <a:ln w="3175">
              <a:solidFill>
                <a:srgbClr val="000000"/>
              </a:solidFill>
            </a:ln>
          </p:spPr>
          <p:txBody>
            <a:bodyPr wrap="square" lIns="0" tIns="0" rIns="0" bIns="0" rtlCol="0"/>
            <a:lstStyle/>
            <a:p/>
          </p:txBody>
        </p:sp>
        <p:sp>
          <p:nvSpPr>
            <p:cNvPr id="90" name="object 90" descr=""/>
            <p:cNvSpPr/>
            <p:nvPr/>
          </p:nvSpPr>
          <p:spPr>
            <a:xfrm>
              <a:off x="9562172" y="4486266"/>
              <a:ext cx="53340" cy="721995"/>
            </a:xfrm>
            <a:custGeom>
              <a:avLst/>
              <a:gdLst/>
              <a:ahLst/>
              <a:cxnLst/>
              <a:rect l="l" t="t" r="r" b="b"/>
              <a:pathLst>
                <a:path w="53340" h="721995">
                  <a:moveTo>
                    <a:pt x="0" y="635391"/>
                  </a:moveTo>
                  <a:lnTo>
                    <a:pt x="26352" y="721783"/>
                  </a:lnTo>
                  <a:lnTo>
                    <a:pt x="41972" y="671335"/>
                  </a:lnTo>
                  <a:lnTo>
                    <a:pt x="22909" y="671335"/>
                  </a:lnTo>
                  <a:lnTo>
                    <a:pt x="19996" y="668221"/>
                  </a:lnTo>
                  <a:lnTo>
                    <a:pt x="19996" y="657151"/>
                  </a:lnTo>
                  <a:lnTo>
                    <a:pt x="0" y="635391"/>
                  </a:lnTo>
                  <a:close/>
                </a:path>
                <a:path w="53340" h="721995">
                  <a:moveTo>
                    <a:pt x="19996" y="657151"/>
                  </a:moveTo>
                  <a:lnTo>
                    <a:pt x="19996" y="668221"/>
                  </a:lnTo>
                  <a:lnTo>
                    <a:pt x="22909" y="671335"/>
                  </a:lnTo>
                  <a:lnTo>
                    <a:pt x="30192" y="671335"/>
                  </a:lnTo>
                  <a:lnTo>
                    <a:pt x="33106" y="668221"/>
                  </a:lnTo>
                  <a:lnTo>
                    <a:pt x="33106" y="664068"/>
                  </a:lnTo>
                  <a:lnTo>
                    <a:pt x="26352" y="664068"/>
                  </a:lnTo>
                  <a:lnTo>
                    <a:pt x="19996" y="657151"/>
                  </a:lnTo>
                  <a:close/>
                </a:path>
                <a:path w="53340" h="721995">
                  <a:moveTo>
                    <a:pt x="53102" y="635391"/>
                  </a:moveTo>
                  <a:lnTo>
                    <a:pt x="33106" y="656828"/>
                  </a:lnTo>
                  <a:lnTo>
                    <a:pt x="33106" y="668221"/>
                  </a:lnTo>
                  <a:lnTo>
                    <a:pt x="30192" y="671335"/>
                  </a:lnTo>
                  <a:lnTo>
                    <a:pt x="41972" y="671335"/>
                  </a:lnTo>
                  <a:lnTo>
                    <a:pt x="53102" y="635391"/>
                  </a:lnTo>
                  <a:close/>
                </a:path>
                <a:path w="53340" h="721995">
                  <a:moveTo>
                    <a:pt x="30192" y="0"/>
                  </a:moveTo>
                  <a:lnTo>
                    <a:pt x="22909" y="0"/>
                  </a:lnTo>
                  <a:lnTo>
                    <a:pt x="19995" y="3460"/>
                  </a:lnTo>
                  <a:lnTo>
                    <a:pt x="19996" y="657151"/>
                  </a:lnTo>
                  <a:lnTo>
                    <a:pt x="26352" y="664068"/>
                  </a:lnTo>
                  <a:lnTo>
                    <a:pt x="33106" y="656828"/>
                  </a:lnTo>
                  <a:lnTo>
                    <a:pt x="33105" y="3460"/>
                  </a:lnTo>
                  <a:lnTo>
                    <a:pt x="30192" y="0"/>
                  </a:lnTo>
                  <a:close/>
                </a:path>
                <a:path w="53340" h="721995">
                  <a:moveTo>
                    <a:pt x="33106" y="656828"/>
                  </a:moveTo>
                  <a:lnTo>
                    <a:pt x="26352" y="664068"/>
                  </a:lnTo>
                  <a:lnTo>
                    <a:pt x="33106" y="664068"/>
                  </a:lnTo>
                  <a:lnTo>
                    <a:pt x="33106" y="656828"/>
                  </a:lnTo>
                  <a:close/>
                </a:path>
              </a:pathLst>
            </a:custGeom>
            <a:solidFill>
              <a:srgbClr val="000000"/>
            </a:solidFill>
          </p:spPr>
          <p:txBody>
            <a:bodyPr wrap="square" lIns="0" tIns="0" rIns="0" bIns="0" rtlCol="0"/>
            <a:lstStyle/>
            <a:p/>
          </p:txBody>
        </p:sp>
        <p:sp>
          <p:nvSpPr>
            <p:cNvPr id="91" name="object 91" descr=""/>
            <p:cNvSpPr/>
            <p:nvPr/>
          </p:nvSpPr>
          <p:spPr>
            <a:xfrm>
              <a:off x="9562172" y="4486266"/>
              <a:ext cx="53340" cy="721995"/>
            </a:xfrm>
            <a:custGeom>
              <a:avLst/>
              <a:gdLst/>
              <a:ahLst/>
              <a:cxnLst/>
              <a:rect l="l" t="t" r="r" b="b"/>
              <a:pathLst>
                <a:path w="53340" h="721995">
                  <a:moveTo>
                    <a:pt x="33105" y="7208"/>
                  </a:moveTo>
                  <a:lnTo>
                    <a:pt x="33106" y="664068"/>
                  </a:lnTo>
                  <a:lnTo>
                    <a:pt x="33106" y="668221"/>
                  </a:lnTo>
                  <a:lnTo>
                    <a:pt x="30192" y="671335"/>
                  </a:lnTo>
                  <a:lnTo>
                    <a:pt x="26352" y="671335"/>
                  </a:lnTo>
                  <a:lnTo>
                    <a:pt x="22909" y="671335"/>
                  </a:lnTo>
                  <a:lnTo>
                    <a:pt x="19996" y="668221"/>
                  </a:lnTo>
                  <a:lnTo>
                    <a:pt x="19996" y="664068"/>
                  </a:lnTo>
                  <a:lnTo>
                    <a:pt x="19995" y="7208"/>
                  </a:lnTo>
                  <a:lnTo>
                    <a:pt x="19995" y="3460"/>
                  </a:lnTo>
                  <a:lnTo>
                    <a:pt x="22909" y="0"/>
                  </a:lnTo>
                  <a:lnTo>
                    <a:pt x="26352" y="0"/>
                  </a:lnTo>
                  <a:lnTo>
                    <a:pt x="30192" y="0"/>
                  </a:lnTo>
                  <a:lnTo>
                    <a:pt x="33105" y="3460"/>
                  </a:lnTo>
                  <a:lnTo>
                    <a:pt x="33105" y="7208"/>
                  </a:lnTo>
                  <a:close/>
                </a:path>
                <a:path w="53340" h="721995">
                  <a:moveTo>
                    <a:pt x="26352" y="664068"/>
                  </a:moveTo>
                  <a:lnTo>
                    <a:pt x="53102" y="635391"/>
                  </a:lnTo>
                  <a:lnTo>
                    <a:pt x="26352" y="721783"/>
                  </a:lnTo>
                  <a:lnTo>
                    <a:pt x="0" y="635391"/>
                  </a:lnTo>
                  <a:lnTo>
                    <a:pt x="26352" y="664068"/>
                  </a:lnTo>
                  <a:close/>
                </a:path>
              </a:pathLst>
            </a:custGeom>
            <a:ln w="3175">
              <a:solidFill>
                <a:srgbClr val="000000"/>
              </a:solidFill>
            </a:ln>
          </p:spPr>
          <p:txBody>
            <a:bodyPr wrap="square" lIns="0" tIns="0" rIns="0" bIns="0" rtlCol="0"/>
            <a:lstStyle/>
            <a:p/>
          </p:txBody>
        </p:sp>
        <p:sp>
          <p:nvSpPr>
            <p:cNvPr id="92" name="object 92" descr=""/>
            <p:cNvSpPr/>
            <p:nvPr/>
          </p:nvSpPr>
          <p:spPr>
            <a:xfrm>
              <a:off x="10814642" y="4620351"/>
              <a:ext cx="53340" cy="677545"/>
            </a:xfrm>
            <a:custGeom>
              <a:avLst/>
              <a:gdLst/>
              <a:ahLst/>
              <a:cxnLst/>
              <a:rect l="l" t="t" r="r" b="b"/>
              <a:pathLst>
                <a:path w="53340" h="677545">
                  <a:moveTo>
                    <a:pt x="0" y="590797"/>
                  </a:moveTo>
                  <a:lnTo>
                    <a:pt x="26617" y="677188"/>
                  </a:lnTo>
                  <a:lnTo>
                    <a:pt x="42083" y="626741"/>
                  </a:lnTo>
                  <a:lnTo>
                    <a:pt x="22909" y="626741"/>
                  </a:lnTo>
                  <a:lnTo>
                    <a:pt x="19996" y="623626"/>
                  </a:lnTo>
                  <a:lnTo>
                    <a:pt x="19996" y="612351"/>
                  </a:lnTo>
                  <a:lnTo>
                    <a:pt x="0" y="590797"/>
                  </a:lnTo>
                  <a:close/>
                </a:path>
                <a:path w="53340" h="677545">
                  <a:moveTo>
                    <a:pt x="19996" y="612351"/>
                  </a:moveTo>
                  <a:lnTo>
                    <a:pt x="19996" y="623626"/>
                  </a:lnTo>
                  <a:lnTo>
                    <a:pt x="22909" y="626741"/>
                  </a:lnTo>
                  <a:lnTo>
                    <a:pt x="30192" y="626741"/>
                  </a:lnTo>
                  <a:lnTo>
                    <a:pt x="33370" y="623626"/>
                  </a:lnTo>
                  <a:lnTo>
                    <a:pt x="33370" y="619488"/>
                  </a:lnTo>
                  <a:lnTo>
                    <a:pt x="26617" y="619488"/>
                  </a:lnTo>
                  <a:lnTo>
                    <a:pt x="19996" y="612351"/>
                  </a:lnTo>
                  <a:close/>
                </a:path>
                <a:path w="53340" h="677545">
                  <a:moveTo>
                    <a:pt x="53102" y="590797"/>
                  </a:moveTo>
                  <a:lnTo>
                    <a:pt x="33370" y="612172"/>
                  </a:lnTo>
                  <a:lnTo>
                    <a:pt x="33370" y="623626"/>
                  </a:lnTo>
                  <a:lnTo>
                    <a:pt x="30192" y="626741"/>
                  </a:lnTo>
                  <a:lnTo>
                    <a:pt x="42083" y="626741"/>
                  </a:lnTo>
                  <a:lnTo>
                    <a:pt x="53102" y="590797"/>
                  </a:lnTo>
                  <a:close/>
                </a:path>
                <a:path w="53340" h="677545">
                  <a:moveTo>
                    <a:pt x="30192" y="0"/>
                  </a:moveTo>
                  <a:lnTo>
                    <a:pt x="22909" y="0"/>
                  </a:lnTo>
                  <a:lnTo>
                    <a:pt x="19995" y="3027"/>
                  </a:lnTo>
                  <a:lnTo>
                    <a:pt x="19996" y="612351"/>
                  </a:lnTo>
                  <a:lnTo>
                    <a:pt x="26617" y="619488"/>
                  </a:lnTo>
                  <a:lnTo>
                    <a:pt x="33370" y="612172"/>
                  </a:lnTo>
                  <a:lnTo>
                    <a:pt x="33370" y="3027"/>
                  </a:lnTo>
                  <a:lnTo>
                    <a:pt x="30192" y="0"/>
                  </a:lnTo>
                  <a:close/>
                </a:path>
                <a:path w="53340" h="677545">
                  <a:moveTo>
                    <a:pt x="33370" y="612172"/>
                  </a:moveTo>
                  <a:lnTo>
                    <a:pt x="26617" y="619488"/>
                  </a:lnTo>
                  <a:lnTo>
                    <a:pt x="33370" y="619488"/>
                  </a:lnTo>
                  <a:lnTo>
                    <a:pt x="33370" y="612172"/>
                  </a:lnTo>
                  <a:close/>
                </a:path>
              </a:pathLst>
            </a:custGeom>
            <a:solidFill>
              <a:srgbClr val="000000"/>
            </a:solidFill>
          </p:spPr>
          <p:txBody>
            <a:bodyPr wrap="square" lIns="0" tIns="0" rIns="0" bIns="0" rtlCol="0"/>
            <a:lstStyle/>
            <a:p/>
          </p:txBody>
        </p:sp>
        <p:sp>
          <p:nvSpPr>
            <p:cNvPr id="93" name="object 93" descr=""/>
            <p:cNvSpPr/>
            <p:nvPr/>
          </p:nvSpPr>
          <p:spPr>
            <a:xfrm>
              <a:off x="10814642" y="4620351"/>
              <a:ext cx="53340" cy="677545"/>
            </a:xfrm>
            <a:custGeom>
              <a:avLst/>
              <a:gdLst/>
              <a:ahLst/>
              <a:cxnLst/>
              <a:rect l="l" t="t" r="r" b="b"/>
              <a:pathLst>
                <a:path w="53340" h="677545">
                  <a:moveTo>
                    <a:pt x="33370" y="7208"/>
                  </a:moveTo>
                  <a:lnTo>
                    <a:pt x="33370" y="619488"/>
                  </a:lnTo>
                  <a:lnTo>
                    <a:pt x="33370" y="623626"/>
                  </a:lnTo>
                  <a:lnTo>
                    <a:pt x="30192" y="626741"/>
                  </a:lnTo>
                  <a:lnTo>
                    <a:pt x="26617" y="626741"/>
                  </a:lnTo>
                  <a:lnTo>
                    <a:pt x="22909" y="626741"/>
                  </a:lnTo>
                  <a:lnTo>
                    <a:pt x="19996" y="623626"/>
                  </a:lnTo>
                  <a:lnTo>
                    <a:pt x="19996" y="619488"/>
                  </a:lnTo>
                  <a:lnTo>
                    <a:pt x="19995" y="7208"/>
                  </a:lnTo>
                  <a:lnTo>
                    <a:pt x="19995" y="3027"/>
                  </a:lnTo>
                  <a:lnTo>
                    <a:pt x="22909" y="0"/>
                  </a:lnTo>
                  <a:lnTo>
                    <a:pt x="26617" y="0"/>
                  </a:lnTo>
                  <a:lnTo>
                    <a:pt x="30192" y="0"/>
                  </a:lnTo>
                  <a:lnTo>
                    <a:pt x="33370" y="3027"/>
                  </a:lnTo>
                  <a:lnTo>
                    <a:pt x="33370" y="7208"/>
                  </a:lnTo>
                  <a:close/>
                </a:path>
                <a:path w="53340" h="677545">
                  <a:moveTo>
                    <a:pt x="26617" y="619488"/>
                  </a:moveTo>
                  <a:lnTo>
                    <a:pt x="53102" y="590797"/>
                  </a:lnTo>
                  <a:lnTo>
                    <a:pt x="26617" y="677188"/>
                  </a:lnTo>
                  <a:lnTo>
                    <a:pt x="0" y="590797"/>
                  </a:lnTo>
                  <a:lnTo>
                    <a:pt x="26617" y="619488"/>
                  </a:lnTo>
                  <a:close/>
                </a:path>
              </a:pathLst>
            </a:custGeom>
            <a:ln w="3175">
              <a:solidFill>
                <a:srgbClr val="000000"/>
              </a:solidFill>
            </a:ln>
          </p:spPr>
          <p:txBody>
            <a:bodyPr wrap="square" lIns="0" tIns="0" rIns="0" bIns="0" rtlCol="0"/>
            <a:lstStyle/>
            <a:p/>
          </p:txBody>
        </p:sp>
        <p:sp>
          <p:nvSpPr>
            <p:cNvPr id="94" name="object 94" descr=""/>
            <p:cNvSpPr/>
            <p:nvPr/>
          </p:nvSpPr>
          <p:spPr>
            <a:xfrm>
              <a:off x="11315736" y="4486266"/>
              <a:ext cx="53340" cy="811530"/>
            </a:xfrm>
            <a:custGeom>
              <a:avLst/>
              <a:gdLst/>
              <a:ahLst/>
              <a:cxnLst/>
              <a:rect l="l" t="t" r="r" b="b"/>
              <a:pathLst>
                <a:path w="53340" h="811529">
                  <a:moveTo>
                    <a:pt x="0" y="724882"/>
                  </a:moveTo>
                  <a:lnTo>
                    <a:pt x="26352" y="811274"/>
                  </a:lnTo>
                  <a:lnTo>
                    <a:pt x="41972" y="760826"/>
                  </a:lnTo>
                  <a:lnTo>
                    <a:pt x="22909" y="760826"/>
                  </a:lnTo>
                  <a:lnTo>
                    <a:pt x="19996" y="757712"/>
                  </a:lnTo>
                  <a:lnTo>
                    <a:pt x="19996" y="746653"/>
                  </a:lnTo>
                  <a:lnTo>
                    <a:pt x="0" y="724882"/>
                  </a:lnTo>
                  <a:close/>
                </a:path>
                <a:path w="53340" h="811529">
                  <a:moveTo>
                    <a:pt x="19996" y="746653"/>
                  </a:moveTo>
                  <a:lnTo>
                    <a:pt x="19996" y="757712"/>
                  </a:lnTo>
                  <a:lnTo>
                    <a:pt x="22909" y="760826"/>
                  </a:lnTo>
                  <a:lnTo>
                    <a:pt x="30192" y="760826"/>
                  </a:lnTo>
                  <a:lnTo>
                    <a:pt x="33106" y="757712"/>
                  </a:lnTo>
                  <a:lnTo>
                    <a:pt x="33106" y="753574"/>
                  </a:lnTo>
                  <a:lnTo>
                    <a:pt x="26352" y="753574"/>
                  </a:lnTo>
                  <a:lnTo>
                    <a:pt x="19996" y="746653"/>
                  </a:lnTo>
                  <a:close/>
                </a:path>
                <a:path w="53340" h="811529">
                  <a:moveTo>
                    <a:pt x="53102" y="724882"/>
                  </a:moveTo>
                  <a:lnTo>
                    <a:pt x="33106" y="746330"/>
                  </a:lnTo>
                  <a:lnTo>
                    <a:pt x="33106" y="757712"/>
                  </a:lnTo>
                  <a:lnTo>
                    <a:pt x="30192" y="760826"/>
                  </a:lnTo>
                  <a:lnTo>
                    <a:pt x="41972" y="760826"/>
                  </a:lnTo>
                  <a:lnTo>
                    <a:pt x="53102" y="724882"/>
                  </a:lnTo>
                  <a:close/>
                </a:path>
                <a:path w="53340" h="811529">
                  <a:moveTo>
                    <a:pt x="30192" y="0"/>
                  </a:moveTo>
                  <a:lnTo>
                    <a:pt x="22909" y="0"/>
                  </a:lnTo>
                  <a:lnTo>
                    <a:pt x="19995" y="3460"/>
                  </a:lnTo>
                  <a:lnTo>
                    <a:pt x="19996" y="746653"/>
                  </a:lnTo>
                  <a:lnTo>
                    <a:pt x="26352" y="753574"/>
                  </a:lnTo>
                  <a:lnTo>
                    <a:pt x="33106" y="746330"/>
                  </a:lnTo>
                  <a:lnTo>
                    <a:pt x="33105" y="3460"/>
                  </a:lnTo>
                  <a:lnTo>
                    <a:pt x="30192" y="0"/>
                  </a:lnTo>
                  <a:close/>
                </a:path>
                <a:path w="53340" h="811529">
                  <a:moveTo>
                    <a:pt x="33106" y="746330"/>
                  </a:moveTo>
                  <a:lnTo>
                    <a:pt x="26352" y="753574"/>
                  </a:lnTo>
                  <a:lnTo>
                    <a:pt x="33106" y="753574"/>
                  </a:lnTo>
                  <a:lnTo>
                    <a:pt x="33106" y="746330"/>
                  </a:lnTo>
                  <a:close/>
                </a:path>
              </a:pathLst>
            </a:custGeom>
            <a:solidFill>
              <a:srgbClr val="000000"/>
            </a:solidFill>
          </p:spPr>
          <p:txBody>
            <a:bodyPr wrap="square" lIns="0" tIns="0" rIns="0" bIns="0" rtlCol="0"/>
            <a:lstStyle/>
            <a:p/>
          </p:txBody>
        </p:sp>
        <p:sp>
          <p:nvSpPr>
            <p:cNvPr id="95" name="object 95" descr=""/>
            <p:cNvSpPr/>
            <p:nvPr/>
          </p:nvSpPr>
          <p:spPr>
            <a:xfrm>
              <a:off x="11315736" y="4486266"/>
              <a:ext cx="53340" cy="811530"/>
            </a:xfrm>
            <a:custGeom>
              <a:avLst/>
              <a:gdLst/>
              <a:ahLst/>
              <a:cxnLst/>
              <a:rect l="l" t="t" r="r" b="b"/>
              <a:pathLst>
                <a:path w="53340" h="811529">
                  <a:moveTo>
                    <a:pt x="33105" y="7497"/>
                  </a:moveTo>
                  <a:lnTo>
                    <a:pt x="33106" y="753574"/>
                  </a:lnTo>
                  <a:lnTo>
                    <a:pt x="33106" y="757712"/>
                  </a:lnTo>
                  <a:lnTo>
                    <a:pt x="30192" y="760826"/>
                  </a:lnTo>
                  <a:lnTo>
                    <a:pt x="26352" y="760826"/>
                  </a:lnTo>
                  <a:lnTo>
                    <a:pt x="22909" y="760826"/>
                  </a:lnTo>
                  <a:lnTo>
                    <a:pt x="19996" y="757712"/>
                  </a:lnTo>
                  <a:lnTo>
                    <a:pt x="19996" y="753574"/>
                  </a:lnTo>
                  <a:lnTo>
                    <a:pt x="19995" y="7497"/>
                  </a:lnTo>
                  <a:lnTo>
                    <a:pt x="19995" y="3460"/>
                  </a:lnTo>
                  <a:lnTo>
                    <a:pt x="22909" y="0"/>
                  </a:lnTo>
                  <a:lnTo>
                    <a:pt x="26352" y="0"/>
                  </a:lnTo>
                  <a:lnTo>
                    <a:pt x="30192" y="0"/>
                  </a:lnTo>
                  <a:lnTo>
                    <a:pt x="33105" y="3460"/>
                  </a:lnTo>
                  <a:lnTo>
                    <a:pt x="33105" y="7497"/>
                  </a:lnTo>
                  <a:close/>
                </a:path>
                <a:path w="53340" h="811529">
                  <a:moveTo>
                    <a:pt x="26352" y="753574"/>
                  </a:moveTo>
                  <a:lnTo>
                    <a:pt x="53102" y="724882"/>
                  </a:lnTo>
                  <a:lnTo>
                    <a:pt x="26352" y="811274"/>
                  </a:lnTo>
                  <a:lnTo>
                    <a:pt x="0" y="724882"/>
                  </a:lnTo>
                  <a:lnTo>
                    <a:pt x="26352" y="753574"/>
                  </a:lnTo>
                  <a:close/>
                </a:path>
              </a:pathLst>
            </a:custGeom>
            <a:ln w="3175">
              <a:solidFill>
                <a:srgbClr val="000000"/>
              </a:solidFill>
            </a:ln>
          </p:spPr>
          <p:txBody>
            <a:bodyPr wrap="square" lIns="0" tIns="0" rIns="0" bIns="0" rtlCol="0"/>
            <a:lstStyle/>
            <a:p/>
          </p:txBody>
        </p:sp>
        <p:sp>
          <p:nvSpPr>
            <p:cNvPr id="96" name="object 96" descr=""/>
            <p:cNvSpPr/>
            <p:nvPr/>
          </p:nvSpPr>
          <p:spPr>
            <a:xfrm>
              <a:off x="8755178" y="4754293"/>
              <a:ext cx="52705" cy="454025"/>
            </a:xfrm>
            <a:custGeom>
              <a:avLst/>
              <a:gdLst/>
              <a:ahLst/>
              <a:cxnLst/>
              <a:rect l="l" t="t" r="r" b="b"/>
              <a:pathLst>
                <a:path w="52704" h="454025">
                  <a:moveTo>
                    <a:pt x="0" y="367365"/>
                  </a:moveTo>
                  <a:lnTo>
                    <a:pt x="26352" y="453756"/>
                  </a:lnTo>
                  <a:lnTo>
                    <a:pt x="41740" y="403308"/>
                  </a:lnTo>
                  <a:lnTo>
                    <a:pt x="22909" y="403308"/>
                  </a:lnTo>
                  <a:lnTo>
                    <a:pt x="19731" y="400194"/>
                  </a:lnTo>
                  <a:lnTo>
                    <a:pt x="19731" y="388836"/>
                  </a:lnTo>
                  <a:lnTo>
                    <a:pt x="0" y="367365"/>
                  </a:lnTo>
                  <a:close/>
                </a:path>
                <a:path w="52704" h="454025">
                  <a:moveTo>
                    <a:pt x="19731" y="388836"/>
                  </a:moveTo>
                  <a:lnTo>
                    <a:pt x="19731" y="400194"/>
                  </a:lnTo>
                  <a:lnTo>
                    <a:pt x="22909" y="403308"/>
                  </a:lnTo>
                  <a:lnTo>
                    <a:pt x="29795" y="403308"/>
                  </a:lnTo>
                  <a:lnTo>
                    <a:pt x="33106" y="400194"/>
                  </a:lnTo>
                  <a:lnTo>
                    <a:pt x="33106" y="396042"/>
                  </a:lnTo>
                  <a:lnTo>
                    <a:pt x="26352" y="396042"/>
                  </a:lnTo>
                  <a:lnTo>
                    <a:pt x="19731" y="388836"/>
                  </a:lnTo>
                  <a:close/>
                </a:path>
                <a:path w="52704" h="454025">
                  <a:moveTo>
                    <a:pt x="52704" y="367365"/>
                  </a:moveTo>
                  <a:lnTo>
                    <a:pt x="33106" y="388692"/>
                  </a:lnTo>
                  <a:lnTo>
                    <a:pt x="33106" y="400194"/>
                  </a:lnTo>
                  <a:lnTo>
                    <a:pt x="29795" y="403308"/>
                  </a:lnTo>
                  <a:lnTo>
                    <a:pt x="41740" y="403308"/>
                  </a:lnTo>
                  <a:lnTo>
                    <a:pt x="52704" y="367365"/>
                  </a:lnTo>
                  <a:close/>
                </a:path>
                <a:path w="52704" h="454025">
                  <a:moveTo>
                    <a:pt x="29795" y="0"/>
                  </a:moveTo>
                  <a:lnTo>
                    <a:pt x="22909" y="0"/>
                  </a:lnTo>
                  <a:lnTo>
                    <a:pt x="19731" y="3171"/>
                  </a:lnTo>
                  <a:lnTo>
                    <a:pt x="19731" y="388836"/>
                  </a:lnTo>
                  <a:lnTo>
                    <a:pt x="26352" y="396042"/>
                  </a:lnTo>
                  <a:lnTo>
                    <a:pt x="33106" y="388692"/>
                  </a:lnTo>
                  <a:lnTo>
                    <a:pt x="33106" y="3171"/>
                  </a:lnTo>
                  <a:lnTo>
                    <a:pt x="29795" y="0"/>
                  </a:lnTo>
                  <a:close/>
                </a:path>
                <a:path w="52704" h="454025">
                  <a:moveTo>
                    <a:pt x="33106" y="388692"/>
                  </a:moveTo>
                  <a:lnTo>
                    <a:pt x="26352" y="396042"/>
                  </a:lnTo>
                  <a:lnTo>
                    <a:pt x="33106" y="396042"/>
                  </a:lnTo>
                  <a:lnTo>
                    <a:pt x="33106" y="388692"/>
                  </a:lnTo>
                  <a:close/>
                </a:path>
              </a:pathLst>
            </a:custGeom>
            <a:solidFill>
              <a:srgbClr val="000000"/>
            </a:solidFill>
          </p:spPr>
          <p:txBody>
            <a:bodyPr wrap="square" lIns="0" tIns="0" rIns="0" bIns="0" rtlCol="0"/>
            <a:lstStyle/>
            <a:p/>
          </p:txBody>
        </p:sp>
        <p:sp>
          <p:nvSpPr>
            <p:cNvPr id="97" name="object 97" descr=""/>
            <p:cNvSpPr/>
            <p:nvPr/>
          </p:nvSpPr>
          <p:spPr>
            <a:xfrm>
              <a:off x="8755178" y="4754293"/>
              <a:ext cx="52705" cy="454025"/>
            </a:xfrm>
            <a:custGeom>
              <a:avLst/>
              <a:gdLst/>
              <a:ahLst/>
              <a:cxnLst/>
              <a:rect l="l" t="t" r="r" b="b"/>
              <a:pathLst>
                <a:path w="52704" h="454025">
                  <a:moveTo>
                    <a:pt x="33106" y="7353"/>
                  </a:moveTo>
                  <a:lnTo>
                    <a:pt x="33106" y="396042"/>
                  </a:lnTo>
                  <a:lnTo>
                    <a:pt x="33106" y="400194"/>
                  </a:lnTo>
                  <a:lnTo>
                    <a:pt x="29795" y="403308"/>
                  </a:lnTo>
                  <a:lnTo>
                    <a:pt x="26352" y="403308"/>
                  </a:lnTo>
                  <a:lnTo>
                    <a:pt x="22909" y="403308"/>
                  </a:lnTo>
                  <a:lnTo>
                    <a:pt x="19731" y="400194"/>
                  </a:lnTo>
                  <a:lnTo>
                    <a:pt x="19731" y="396042"/>
                  </a:lnTo>
                  <a:lnTo>
                    <a:pt x="19731" y="7353"/>
                  </a:lnTo>
                  <a:lnTo>
                    <a:pt x="19731" y="3171"/>
                  </a:lnTo>
                  <a:lnTo>
                    <a:pt x="22909" y="0"/>
                  </a:lnTo>
                  <a:lnTo>
                    <a:pt x="26352" y="0"/>
                  </a:lnTo>
                  <a:lnTo>
                    <a:pt x="29795" y="0"/>
                  </a:lnTo>
                  <a:lnTo>
                    <a:pt x="33106" y="3171"/>
                  </a:lnTo>
                  <a:lnTo>
                    <a:pt x="33106" y="7353"/>
                  </a:lnTo>
                  <a:close/>
                </a:path>
                <a:path w="52704" h="454025">
                  <a:moveTo>
                    <a:pt x="26352" y="396042"/>
                  </a:moveTo>
                  <a:lnTo>
                    <a:pt x="52704" y="367365"/>
                  </a:lnTo>
                  <a:lnTo>
                    <a:pt x="26352" y="453756"/>
                  </a:lnTo>
                  <a:lnTo>
                    <a:pt x="0" y="367365"/>
                  </a:lnTo>
                  <a:lnTo>
                    <a:pt x="26352" y="396042"/>
                  </a:lnTo>
                  <a:close/>
                </a:path>
              </a:pathLst>
            </a:custGeom>
            <a:ln w="3175">
              <a:solidFill>
                <a:srgbClr val="000000"/>
              </a:solidFill>
            </a:ln>
          </p:spPr>
          <p:txBody>
            <a:bodyPr wrap="square" lIns="0" tIns="0" rIns="0" bIns="0" rtlCol="0"/>
            <a:lstStyle/>
            <a:p/>
          </p:txBody>
        </p:sp>
        <p:sp>
          <p:nvSpPr>
            <p:cNvPr id="98" name="object 98" descr=""/>
            <p:cNvSpPr/>
            <p:nvPr/>
          </p:nvSpPr>
          <p:spPr>
            <a:xfrm>
              <a:off x="10480800" y="4754293"/>
              <a:ext cx="53340" cy="543560"/>
            </a:xfrm>
            <a:custGeom>
              <a:avLst/>
              <a:gdLst/>
              <a:ahLst/>
              <a:cxnLst/>
              <a:rect l="l" t="t" r="r" b="b"/>
              <a:pathLst>
                <a:path w="53340" h="543560">
                  <a:moveTo>
                    <a:pt x="0" y="456856"/>
                  </a:moveTo>
                  <a:lnTo>
                    <a:pt x="26352" y="543247"/>
                  </a:lnTo>
                  <a:lnTo>
                    <a:pt x="41972" y="492799"/>
                  </a:lnTo>
                  <a:lnTo>
                    <a:pt x="22909" y="492799"/>
                  </a:lnTo>
                  <a:lnTo>
                    <a:pt x="19598" y="489685"/>
                  </a:lnTo>
                  <a:lnTo>
                    <a:pt x="19598" y="478194"/>
                  </a:lnTo>
                  <a:lnTo>
                    <a:pt x="0" y="456856"/>
                  </a:lnTo>
                  <a:close/>
                </a:path>
                <a:path w="53340" h="543560">
                  <a:moveTo>
                    <a:pt x="19598" y="478194"/>
                  </a:moveTo>
                  <a:lnTo>
                    <a:pt x="19598" y="489685"/>
                  </a:lnTo>
                  <a:lnTo>
                    <a:pt x="22909" y="492799"/>
                  </a:lnTo>
                  <a:lnTo>
                    <a:pt x="30192" y="492799"/>
                  </a:lnTo>
                  <a:lnTo>
                    <a:pt x="32973" y="489685"/>
                  </a:lnTo>
                  <a:lnTo>
                    <a:pt x="32973" y="485547"/>
                  </a:lnTo>
                  <a:lnTo>
                    <a:pt x="26352" y="485547"/>
                  </a:lnTo>
                  <a:lnTo>
                    <a:pt x="19598" y="478194"/>
                  </a:lnTo>
                  <a:close/>
                </a:path>
                <a:path w="53340" h="543560">
                  <a:moveTo>
                    <a:pt x="53102" y="456856"/>
                  </a:moveTo>
                  <a:lnTo>
                    <a:pt x="32973" y="478445"/>
                  </a:lnTo>
                  <a:lnTo>
                    <a:pt x="32973" y="489685"/>
                  </a:lnTo>
                  <a:lnTo>
                    <a:pt x="30192" y="492799"/>
                  </a:lnTo>
                  <a:lnTo>
                    <a:pt x="41972" y="492799"/>
                  </a:lnTo>
                  <a:lnTo>
                    <a:pt x="53102" y="456856"/>
                  </a:lnTo>
                  <a:close/>
                </a:path>
                <a:path w="53340" h="543560">
                  <a:moveTo>
                    <a:pt x="30192" y="0"/>
                  </a:moveTo>
                  <a:lnTo>
                    <a:pt x="22909" y="0"/>
                  </a:lnTo>
                  <a:lnTo>
                    <a:pt x="19598" y="3171"/>
                  </a:lnTo>
                  <a:lnTo>
                    <a:pt x="19598" y="478194"/>
                  </a:lnTo>
                  <a:lnTo>
                    <a:pt x="26352" y="485547"/>
                  </a:lnTo>
                  <a:lnTo>
                    <a:pt x="32973" y="478445"/>
                  </a:lnTo>
                  <a:lnTo>
                    <a:pt x="32973" y="3171"/>
                  </a:lnTo>
                  <a:lnTo>
                    <a:pt x="30192" y="0"/>
                  </a:lnTo>
                  <a:close/>
                </a:path>
                <a:path w="53340" h="543560">
                  <a:moveTo>
                    <a:pt x="32973" y="478445"/>
                  </a:moveTo>
                  <a:lnTo>
                    <a:pt x="26352" y="485547"/>
                  </a:lnTo>
                  <a:lnTo>
                    <a:pt x="32973" y="485547"/>
                  </a:lnTo>
                  <a:lnTo>
                    <a:pt x="32973" y="478445"/>
                  </a:lnTo>
                  <a:close/>
                </a:path>
              </a:pathLst>
            </a:custGeom>
            <a:solidFill>
              <a:srgbClr val="000000"/>
            </a:solidFill>
          </p:spPr>
          <p:txBody>
            <a:bodyPr wrap="square" lIns="0" tIns="0" rIns="0" bIns="0" rtlCol="0"/>
            <a:lstStyle/>
            <a:p/>
          </p:txBody>
        </p:sp>
        <p:sp>
          <p:nvSpPr>
            <p:cNvPr id="99" name="object 99" descr=""/>
            <p:cNvSpPr/>
            <p:nvPr/>
          </p:nvSpPr>
          <p:spPr>
            <a:xfrm>
              <a:off x="10480800" y="4754293"/>
              <a:ext cx="53340" cy="543560"/>
            </a:xfrm>
            <a:custGeom>
              <a:avLst/>
              <a:gdLst/>
              <a:ahLst/>
              <a:cxnLst/>
              <a:rect l="l" t="t" r="r" b="b"/>
              <a:pathLst>
                <a:path w="53340" h="543560">
                  <a:moveTo>
                    <a:pt x="32973" y="7353"/>
                  </a:moveTo>
                  <a:lnTo>
                    <a:pt x="32973" y="485547"/>
                  </a:lnTo>
                  <a:lnTo>
                    <a:pt x="32973" y="489685"/>
                  </a:lnTo>
                  <a:lnTo>
                    <a:pt x="30192" y="492799"/>
                  </a:lnTo>
                  <a:lnTo>
                    <a:pt x="26352" y="492799"/>
                  </a:lnTo>
                  <a:lnTo>
                    <a:pt x="22909" y="492799"/>
                  </a:lnTo>
                  <a:lnTo>
                    <a:pt x="19598" y="489685"/>
                  </a:lnTo>
                  <a:lnTo>
                    <a:pt x="19598" y="485547"/>
                  </a:lnTo>
                  <a:lnTo>
                    <a:pt x="19598" y="7353"/>
                  </a:lnTo>
                  <a:lnTo>
                    <a:pt x="19598" y="3171"/>
                  </a:lnTo>
                  <a:lnTo>
                    <a:pt x="22909" y="0"/>
                  </a:lnTo>
                  <a:lnTo>
                    <a:pt x="26352" y="0"/>
                  </a:lnTo>
                  <a:lnTo>
                    <a:pt x="30192" y="0"/>
                  </a:lnTo>
                  <a:lnTo>
                    <a:pt x="32973" y="3171"/>
                  </a:lnTo>
                  <a:lnTo>
                    <a:pt x="32973" y="7353"/>
                  </a:lnTo>
                  <a:close/>
                </a:path>
                <a:path w="53340" h="543560">
                  <a:moveTo>
                    <a:pt x="26352" y="485547"/>
                  </a:moveTo>
                  <a:lnTo>
                    <a:pt x="53102" y="456856"/>
                  </a:lnTo>
                  <a:lnTo>
                    <a:pt x="26352" y="543247"/>
                  </a:lnTo>
                  <a:lnTo>
                    <a:pt x="0" y="456856"/>
                  </a:lnTo>
                  <a:lnTo>
                    <a:pt x="26352" y="485547"/>
                  </a:lnTo>
                  <a:close/>
                </a:path>
              </a:pathLst>
            </a:custGeom>
            <a:ln w="3175">
              <a:solidFill>
                <a:srgbClr val="000000"/>
              </a:solidFill>
            </a:ln>
          </p:spPr>
          <p:txBody>
            <a:bodyPr wrap="square" lIns="0" tIns="0" rIns="0" bIns="0" rtlCol="0"/>
            <a:lstStyle/>
            <a:p/>
          </p:txBody>
        </p:sp>
        <p:sp>
          <p:nvSpPr>
            <p:cNvPr id="100" name="object 100" descr=""/>
            <p:cNvSpPr/>
            <p:nvPr/>
          </p:nvSpPr>
          <p:spPr>
            <a:xfrm>
              <a:off x="8781530" y="4761646"/>
              <a:ext cx="1725930" cy="0"/>
            </a:xfrm>
            <a:custGeom>
              <a:avLst/>
              <a:gdLst/>
              <a:ahLst/>
              <a:cxnLst/>
              <a:rect l="l" t="t" r="r" b="b"/>
              <a:pathLst>
                <a:path w="1725929" h="0">
                  <a:moveTo>
                    <a:pt x="0" y="0"/>
                  </a:moveTo>
                  <a:lnTo>
                    <a:pt x="1725622" y="0"/>
                  </a:lnTo>
                </a:path>
              </a:pathLst>
            </a:custGeom>
            <a:ln w="10731">
              <a:solidFill>
                <a:srgbClr val="000000"/>
              </a:solidFill>
            </a:ln>
          </p:spPr>
          <p:txBody>
            <a:bodyPr wrap="square" lIns="0" tIns="0" rIns="0" bIns="0" rtlCol="0"/>
            <a:lstStyle/>
            <a:p/>
          </p:txBody>
        </p:sp>
        <p:sp>
          <p:nvSpPr>
            <p:cNvPr id="101" name="object 101" descr=""/>
            <p:cNvSpPr/>
            <p:nvPr/>
          </p:nvSpPr>
          <p:spPr>
            <a:xfrm>
              <a:off x="9228330" y="3905806"/>
              <a:ext cx="52705" cy="855980"/>
            </a:xfrm>
            <a:custGeom>
              <a:avLst/>
              <a:gdLst/>
              <a:ahLst/>
              <a:cxnLst/>
              <a:rect l="l" t="t" r="r" b="b"/>
              <a:pathLst>
                <a:path w="52704" h="855979">
                  <a:moveTo>
                    <a:pt x="0" y="769477"/>
                  </a:moveTo>
                  <a:lnTo>
                    <a:pt x="26352" y="855839"/>
                  </a:lnTo>
                  <a:lnTo>
                    <a:pt x="41750" y="805377"/>
                  </a:lnTo>
                  <a:lnTo>
                    <a:pt x="22909" y="805377"/>
                  </a:lnTo>
                  <a:lnTo>
                    <a:pt x="19731" y="802205"/>
                  </a:lnTo>
                  <a:lnTo>
                    <a:pt x="19731" y="790959"/>
                  </a:lnTo>
                  <a:lnTo>
                    <a:pt x="0" y="769477"/>
                  </a:lnTo>
                  <a:close/>
                </a:path>
                <a:path w="52704" h="855979">
                  <a:moveTo>
                    <a:pt x="19731" y="790959"/>
                  </a:moveTo>
                  <a:lnTo>
                    <a:pt x="19731" y="802205"/>
                  </a:lnTo>
                  <a:lnTo>
                    <a:pt x="22909" y="805377"/>
                  </a:lnTo>
                  <a:lnTo>
                    <a:pt x="30192" y="805377"/>
                  </a:lnTo>
                  <a:lnTo>
                    <a:pt x="32973" y="802205"/>
                  </a:lnTo>
                  <a:lnTo>
                    <a:pt x="32973" y="798168"/>
                  </a:lnTo>
                  <a:lnTo>
                    <a:pt x="26352" y="798168"/>
                  </a:lnTo>
                  <a:lnTo>
                    <a:pt x="19731" y="790959"/>
                  </a:lnTo>
                  <a:close/>
                </a:path>
                <a:path w="52704" h="855979">
                  <a:moveTo>
                    <a:pt x="52704" y="769477"/>
                  </a:moveTo>
                  <a:lnTo>
                    <a:pt x="32973" y="790959"/>
                  </a:lnTo>
                  <a:lnTo>
                    <a:pt x="32973" y="802205"/>
                  </a:lnTo>
                  <a:lnTo>
                    <a:pt x="30192" y="805377"/>
                  </a:lnTo>
                  <a:lnTo>
                    <a:pt x="41750" y="805377"/>
                  </a:lnTo>
                  <a:lnTo>
                    <a:pt x="52704" y="769477"/>
                  </a:lnTo>
                  <a:close/>
                </a:path>
                <a:path w="52704" h="855979">
                  <a:moveTo>
                    <a:pt x="30192" y="0"/>
                  </a:moveTo>
                  <a:lnTo>
                    <a:pt x="22909" y="0"/>
                  </a:lnTo>
                  <a:lnTo>
                    <a:pt x="19731" y="3027"/>
                  </a:lnTo>
                  <a:lnTo>
                    <a:pt x="19731" y="790959"/>
                  </a:lnTo>
                  <a:lnTo>
                    <a:pt x="26352" y="798168"/>
                  </a:lnTo>
                  <a:lnTo>
                    <a:pt x="32973" y="790959"/>
                  </a:lnTo>
                  <a:lnTo>
                    <a:pt x="32973" y="3027"/>
                  </a:lnTo>
                  <a:lnTo>
                    <a:pt x="30192" y="0"/>
                  </a:lnTo>
                  <a:close/>
                </a:path>
                <a:path w="52704" h="855979">
                  <a:moveTo>
                    <a:pt x="32973" y="790959"/>
                  </a:moveTo>
                  <a:lnTo>
                    <a:pt x="26352" y="798168"/>
                  </a:lnTo>
                  <a:lnTo>
                    <a:pt x="32973" y="798168"/>
                  </a:lnTo>
                  <a:lnTo>
                    <a:pt x="32973" y="790959"/>
                  </a:lnTo>
                  <a:close/>
                </a:path>
              </a:pathLst>
            </a:custGeom>
            <a:solidFill>
              <a:srgbClr val="000000"/>
            </a:solidFill>
          </p:spPr>
          <p:txBody>
            <a:bodyPr wrap="square" lIns="0" tIns="0" rIns="0" bIns="0" rtlCol="0"/>
            <a:lstStyle/>
            <a:p/>
          </p:txBody>
        </p:sp>
        <p:sp>
          <p:nvSpPr>
            <p:cNvPr id="102" name="object 102" descr=""/>
            <p:cNvSpPr/>
            <p:nvPr/>
          </p:nvSpPr>
          <p:spPr>
            <a:xfrm>
              <a:off x="9228330" y="3905806"/>
              <a:ext cx="52705" cy="855980"/>
            </a:xfrm>
            <a:custGeom>
              <a:avLst/>
              <a:gdLst/>
              <a:ahLst/>
              <a:cxnLst/>
              <a:rect l="l" t="t" r="r" b="b"/>
              <a:pathLst>
                <a:path w="52704" h="855979">
                  <a:moveTo>
                    <a:pt x="32973" y="7208"/>
                  </a:moveTo>
                  <a:lnTo>
                    <a:pt x="32973" y="798168"/>
                  </a:lnTo>
                  <a:lnTo>
                    <a:pt x="32973" y="802205"/>
                  </a:lnTo>
                  <a:lnTo>
                    <a:pt x="30192" y="805377"/>
                  </a:lnTo>
                  <a:lnTo>
                    <a:pt x="26352" y="805377"/>
                  </a:lnTo>
                  <a:lnTo>
                    <a:pt x="22909" y="805377"/>
                  </a:lnTo>
                  <a:lnTo>
                    <a:pt x="19731" y="802205"/>
                  </a:lnTo>
                  <a:lnTo>
                    <a:pt x="19731" y="798168"/>
                  </a:lnTo>
                  <a:lnTo>
                    <a:pt x="19731" y="7208"/>
                  </a:lnTo>
                  <a:lnTo>
                    <a:pt x="19731" y="3027"/>
                  </a:lnTo>
                  <a:lnTo>
                    <a:pt x="22909" y="0"/>
                  </a:lnTo>
                  <a:lnTo>
                    <a:pt x="26352" y="0"/>
                  </a:lnTo>
                  <a:lnTo>
                    <a:pt x="30192" y="0"/>
                  </a:lnTo>
                  <a:lnTo>
                    <a:pt x="32973" y="3027"/>
                  </a:lnTo>
                  <a:lnTo>
                    <a:pt x="32973" y="7208"/>
                  </a:lnTo>
                  <a:close/>
                </a:path>
                <a:path w="52704" h="855979">
                  <a:moveTo>
                    <a:pt x="26352" y="798168"/>
                  </a:moveTo>
                  <a:lnTo>
                    <a:pt x="52704" y="769477"/>
                  </a:lnTo>
                  <a:lnTo>
                    <a:pt x="26352" y="855839"/>
                  </a:lnTo>
                  <a:lnTo>
                    <a:pt x="0" y="769477"/>
                  </a:lnTo>
                  <a:lnTo>
                    <a:pt x="26352" y="798168"/>
                  </a:lnTo>
                  <a:close/>
                </a:path>
              </a:pathLst>
            </a:custGeom>
            <a:ln w="3175">
              <a:solidFill>
                <a:srgbClr val="000000"/>
              </a:solidFill>
            </a:ln>
          </p:spPr>
          <p:txBody>
            <a:bodyPr wrap="square" lIns="0" tIns="0" rIns="0" bIns="0" rtlCol="0"/>
            <a:lstStyle/>
            <a:p/>
          </p:txBody>
        </p:sp>
        <p:sp>
          <p:nvSpPr>
            <p:cNvPr id="103" name="object 103" descr=""/>
            <p:cNvSpPr/>
            <p:nvPr/>
          </p:nvSpPr>
          <p:spPr>
            <a:xfrm>
              <a:off x="9115372" y="4047100"/>
              <a:ext cx="2226945" cy="581025"/>
            </a:xfrm>
            <a:custGeom>
              <a:avLst/>
              <a:gdLst/>
              <a:ahLst/>
              <a:cxnLst/>
              <a:rect l="l" t="t" r="r" b="b"/>
              <a:pathLst>
                <a:path w="2226945" h="581025">
                  <a:moveTo>
                    <a:pt x="0" y="580459"/>
                  </a:moveTo>
                  <a:lnTo>
                    <a:pt x="1725887" y="580459"/>
                  </a:lnTo>
                </a:path>
                <a:path w="2226945" h="581025">
                  <a:moveTo>
                    <a:pt x="1224793" y="0"/>
                  </a:moveTo>
                  <a:lnTo>
                    <a:pt x="1224793" y="580459"/>
                  </a:lnTo>
                </a:path>
                <a:path w="2226945" h="581025">
                  <a:moveTo>
                    <a:pt x="473152" y="446662"/>
                  </a:moveTo>
                  <a:lnTo>
                    <a:pt x="2226716" y="446662"/>
                  </a:lnTo>
                </a:path>
                <a:path w="2226945" h="581025">
                  <a:moveTo>
                    <a:pt x="1503016" y="0"/>
                  </a:moveTo>
                  <a:lnTo>
                    <a:pt x="1503016" y="446662"/>
                  </a:lnTo>
                </a:path>
              </a:pathLst>
            </a:custGeom>
            <a:ln w="10294">
              <a:solidFill>
                <a:srgbClr val="000000"/>
              </a:solidFill>
            </a:ln>
          </p:spPr>
          <p:txBody>
            <a:bodyPr wrap="square" lIns="0" tIns="0" rIns="0" bIns="0" rtlCol="0"/>
            <a:lstStyle/>
            <a:p/>
          </p:txBody>
        </p:sp>
        <p:sp>
          <p:nvSpPr>
            <p:cNvPr id="104" name="object 104" descr=""/>
            <p:cNvSpPr/>
            <p:nvPr/>
          </p:nvSpPr>
          <p:spPr>
            <a:xfrm>
              <a:off x="9093125" y="5002134"/>
              <a:ext cx="30480" cy="44450"/>
            </a:xfrm>
            <a:custGeom>
              <a:avLst/>
              <a:gdLst/>
              <a:ahLst/>
              <a:cxnLst/>
              <a:rect l="l" t="t" r="r" b="b"/>
              <a:pathLst>
                <a:path w="30479" h="44450">
                  <a:moveTo>
                    <a:pt x="15228" y="0"/>
                  </a:moveTo>
                  <a:lnTo>
                    <a:pt x="9273" y="1743"/>
                  </a:lnTo>
                  <a:lnTo>
                    <a:pt x="4436" y="6488"/>
                  </a:lnTo>
                  <a:lnTo>
                    <a:pt x="1187" y="13503"/>
                  </a:lnTo>
                  <a:lnTo>
                    <a:pt x="0" y="22059"/>
                  </a:lnTo>
                  <a:lnTo>
                    <a:pt x="1187" y="30570"/>
                  </a:lnTo>
                  <a:lnTo>
                    <a:pt x="4436" y="37486"/>
                  </a:lnTo>
                  <a:lnTo>
                    <a:pt x="9273" y="42131"/>
                  </a:lnTo>
                  <a:lnTo>
                    <a:pt x="15228" y="43830"/>
                  </a:lnTo>
                  <a:lnTo>
                    <a:pt x="21086" y="42131"/>
                  </a:lnTo>
                  <a:lnTo>
                    <a:pt x="25839" y="37486"/>
                  </a:lnTo>
                  <a:lnTo>
                    <a:pt x="29027" y="30570"/>
                  </a:lnTo>
                  <a:lnTo>
                    <a:pt x="30192" y="22059"/>
                  </a:lnTo>
                  <a:lnTo>
                    <a:pt x="29027" y="13503"/>
                  </a:lnTo>
                  <a:lnTo>
                    <a:pt x="25839" y="6488"/>
                  </a:lnTo>
                  <a:lnTo>
                    <a:pt x="21086" y="1743"/>
                  </a:lnTo>
                  <a:lnTo>
                    <a:pt x="15228" y="0"/>
                  </a:lnTo>
                  <a:close/>
                </a:path>
              </a:pathLst>
            </a:custGeom>
            <a:solidFill>
              <a:srgbClr val="000000"/>
            </a:solidFill>
          </p:spPr>
          <p:txBody>
            <a:bodyPr wrap="square" lIns="0" tIns="0" rIns="0" bIns="0" rtlCol="0"/>
            <a:lstStyle/>
            <a:p/>
          </p:txBody>
        </p:sp>
        <p:sp>
          <p:nvSpPr>
            <p:cNvPr id="105" name="object 105" descr=""/>
            <p:cNvSpPr/>
            <p:nvPr/>
          </p:nvSpPr>
          <p:spPr>
            <a:xfrm>
              <a:off x="9093125" y="5002134"/>
              <a:ext cx="30480" cy="44450"/>
            </a:xfrm>
            <a:custGeom>
              <a:avLst/>
              <a:gdLst/>
              <a:ahLst/>
              <a:cxnLst/>
              <a:rect l="l" t="t" r="r" b="b"/>
              <a:pathLst>
                <a:path w="30479" h="44450">
                  <a:moveTo>
                    <a:pt x="15228" y="0"/>
                  </a:moveTo>
                  <a:lnTo>
                    <a:pt x="9273" y="1743"/>
                  </a:lnTo>
                  <a:lnTo>
                    <a:pt x="4436" y="6488"/>
                  </a:lnTo>
                  <a:lnTo>
                    <a:pt x="1187" y="13503"/>
                  </a:lnTo>
                  <a:lnTo>
                    <a:pt x="0" y="22059"/>
                  </a:lnTo>
                  <a:lnTo>
                    <a:pt x="1187" y="30570"/>
                  </a:lnTo>
                  <a:lnTo>
                    <a:pt x="4436" y="37486"/>
                  </a:lnTo>
                  <a:lnTo>
                    <a:pt x="9273" y="42131"/>
                  </a:lnTo>
                  <a:lnTo>
                    <a:pt x="15228" y="43830"/>
                  </a:lnTo>
                  <a:lnTo>
                    <a:pt x="21086" y="42131"/>
                  </a:lnTo>
                  <a:lnTo>
                    <a:pt x="25839" y="37486"/>
                  </a:lnTo>
                  <a:lnTo>
                    <a:pt x="29027" y="30570"/>
                  </a:lnTo>
                  <a:lnTo>
                    <a:pt x="30192" y="22059"/>
                  </a:lnTo>
                  <a:lnTo>
                    <a:pt x="29027" y="13503"/>
                  </a:lnTo>
                  <a:lnTo>
                    <a:pt x="25839" y="6488"/>
                  </a:lnTo>
                  <a:lnTo>
                    <a:pt x="21086" y="1743"/>
                  </a:lnTo>
                  <a:lnTo>
                    <a:pt x="15228" y="0"/>
                  </a:lnTo>
                </a:path>
              </a:pathLst>
            </a:custGeom>
            <a:ln w="10138">
              <a:solidFill>
                <a:srgbClr val="000000"/>
              </a:solidFill>
            </a:ln>
          </p:spPr>
          <p:txBody>
            <a:bodyPr wrap="square" lIns="0" tIns="0" rIns="0" bIns="0" rtlCol="0"/>
            <a:lstStyle/>
            <a:p/>
          </p:txBody>
        </p:sp>
        <p:sp>
          <p:nvSpPr>
            <p:cNvPr id="106" name="object 106" descr=""/>
            <p:cNvSpPr/>
            <p:nvPr/>
          </p:nvSpPr>
          <p:spPr>
            <a:xfrm>
              <a:off x="8755178" y="4754293"/>
              <a:ext cx="52705" cy="454025"/>
            </a:xfrm>
            <a:custGeom>
              <a:avLst/>
              <a:gdLst/>
              <a:ahLst/>
              <a:cxnLst/>
              <a:rect l="l" t="t" r="r" b="b"/>
              <a:pathLst>
                <a:path w="52704" h="454025">
                  <a:moveTo>
                    <a:pt x="0" y="367365"/>
                  </a:moveTo>
                  <a:lnTo>
                    <a:pt x="26352" y="453756"/>
                  </a:lnTo>
                  <a:lnTo>
                    <a:pt x="41740" y="403308"/>
                  </a:lnTo>
                  <a:lnTo>
                    <a:pt x="22909" y="403308"/>
                  </a:lnTo>
                  <a:lnTo>
                    <a:pt x="19731" y="400194"/>
                  </a:lnTo>
                  <a:lnTo>
                    <a:pt x="19731" y="388836"/>
                  </a:lnTo>
                  <a:lnTo>
                    <a:pt x="0" y="367365"/>
                  </a:lnTo>
                  <a:close/>
                </a:path>
                <a:path w="52704" h="454025">
                  <a:moveTo>
                    <a:pt x="19731" y="388836"/>
                  </a:moveTo>
                  <a:lnTo>
                    <a:pt x="19731" y="400194"/>
                  </a:lnTo>
                  <a:lnTo>
                    <a:pt x="22909" y="403308"/>
                  </a:lnTo>
                  <a:lnTo>
                    <a:pt x="29795" y="403308"/>
                  </a:lnTo>
                  <a:lnTo>
                    <a:pt x="33106" y="400194"/>
                  </a:lnTo>
                  <a:lnTo>
                    <a:pt x="33106" y="396042"/>
                  </a:lnTo>
                  <a:lnTo>
                    <a:pt x="26352" y="396042"/>
                  </a:lnTo>
                  <a:lnTo>
                    <a:pt x="19731" y="388836"/>
                  </a:lnTo>
                  <a:close/>
                </a:path>
                <a:path w="52704" h="454025">
                  <a:moveTo>
                    <a:pt x="52704" y="367365"/>
                  </a:moveTo>
                  <a:lnTo>
                    <a:pt x="33106" y="388692"/>
                  </a:lnTo>
                  <a:lnTo>
                    <a:pt x="33106" y="400194"/>
                  </a:lnTo>
                  <a:lnTo>
                    <a:pt x="29795" y="403308"/>
                  </a:lnTo>
                  <a:lnTo>
                    <a:pt x="41740" y="403308"/>
                  </a:lnTo>
                  <a:lnTo>
                    <a:pt x="52704" y="367365"/>
                  </a:lnTo>
                  <a:close/>
                </a:path>
                <a:path w="52704" h="454025">
                  <a:moveTo>
                    <a:pt x="29795" y="0"/>
                  </a:moveTo>
                  <a:lnTo>
                    <a:pt x="22909" y="0"/>
                  </a:lnTo>
                  <a:lnTo>
                    <a:pt x="19731" y="3171"/>
                  </a:lnTo>
                  <a:lnTo>
                    <a:pt x="19731" y="388836"/>
                  </a:lnTo>
                  <a:lnTo>
                    <a:pt x="26352" y="396042"/>
                  </a:lnTo>
                  <a:lnTo>
                    <a:pt x="33106" y="388692"/>
                  </a:lnTo>
                  <a:lnTo>
                    <a:pt x="33106" y="3171"/>
                  </a:lnTo>
                  <a:lnTo>
                    <a:pt x="29795" y="0"/>
                  </a:lnTo>
                  <a:close/>
                </a:path>
                <a:path w="52704" h="454025">
                  <a:moveTo>
                    <a:pt x="33106" y="388692"/>
                  </a:moveTo>
                  <a:lnTo>
                    <a:pt x="26352" y="396042"/>
                  </a:lnTo>
                  <a:lnTo>
                    <a:pt x="33106" y="396042"/>
                  </a:lnTo>
                  <a:lnTo>
                    <a:pt x="33106" y="388692"/>
                  </a:lnTo>
                  <a:close/>
                </a:path>
              </a:pathLst>
            </a:custGeom>
            <a:solidFill>
              <a:srgbClr val="000000"/>
            </a:solidFill>
          </p:spPr>
          <p:txBody>
            <a:bodyPr wrap="square" lIns="0" tIns="0" rIns="0" bIns="0" rtlCol="0"/>
            <a:lstStyle/>
            <a:p/>
          </p:txBody>
        </p:sp>
        <p:sp>
          <p:nvSpPr>
            <p:cNvPr id="107" name="object 107" descr=""/>
            <p:cNvSpPr/>
            <p:nvPr/>
          </p:nvSpPr>
          <p:spPr>
            <a:xfrm>
              <a:off x="8755178" y="4754293"/>
              <a:ext cx="52705" cy="454025"/>
            </a:xfrm>
            <a:custGeom>
              <a:avLst/>
              <a:gdLst/>
              <a:ahLst/>
              <a:cxnLst/>
              <a:rect l="l" t="t" r="r" b="b"/>
              <a:pathLst>
                <a:path w="52704" h="454025">
                  <a:moveTo>
                    <a:pt x="33106" y="7353"/>
                  </a:moveTo>
                  <a:lnTo>
                    <a:pt x="33106" y="396042"/>
                  </a:lnTo>
                  <a:lnTo>
                    <a:pt x="33106" y="400194"/>
                  </a:lnTo>
                  <a:lnTo>
                    <a:pt x="29795" y="403308"/>
                  </a:lnTo>
                  <a:lnTo>
                    <a:pt x="26352" y="403308"/>
                  </a:lnTo>
                  <a:lnTo>
                    <a:pt x="22909" y="403308"/>
                  </a:lnTo>
                  <a:lnTo>
                    <a:pt x="19731" y="400194"/>
                  </a:lnTo>
                  <a:lnTo>
                    <a:pt x="19731" y="396042"/>
                  </a:lnTo>
                  <a:lnTo>
                    <a:pt x="19731" y="7353"/>
                  </a:lnTo>
                  <a:lnTo>
                    <a:pt x="19731" y="3171"/>
                  </a:lnTo>
                  <a:lnTo>
                    <a:pt x="22909" y="0"/>
                  </a:lnTo>
                  <a:lnTo>
                    <a:pt x="26352" y="0"/>
                  </a:lnTo>
                  <a:lnTo>
                    <a:pt x="29795" y="0"/>
                  </a:lnTo>
                  <a:lnTo>
                    <a:pt x="33106" y="3171"/>
                  </a:lnTo>
                  <a:lnTo>
                    <a:pt x="33106" y="7353"/>
                  </a:lnTo>
                  <a:close/>
                </a:path>
                <a:path w="52704" h="454025">
                  <a:moveTo>
                    <a:pt x="26352" y="396042"/>
                  </a:moveTo>
                  <a:lnTo>
                    <a:pt x="52704" y="367365"/>
                  </a:lnTo>
                  <a:lnTo>
                    <a:pt x="26352" y="453756"/>
                  </a:lnTo>
                  <a:lnTo>
                    <a:pt x="0" y="367365"/>
                  </a:lnTo>
                  <a:lnTo>
                    <a:pt x="26352" y="396042"/>
                  </a:lnTo>
                  <a:close/>
                </a:path>
              </a:pathLst>
            </a:custGeom>
            <a:ln w="3175">
              <a:solidFill>
                <a:srgbClr val="000000"/>
              </a:solidFill>
            </a:ln>
          </p:spPr>
          <p:txBody>
            <a:bodyPr wrap="square" lIns="0" tIns="0" rIns="0" bIns="0" rtlCol="0"/>
            <a:lstStyle/>
            <a:p/>
          </p:txBody>
        </p:sp>
        <p:sp>
          <p:nvSpPr>
            <p:cNvPr id="108" name="object 108" descr=""/>
            <p:cNvSpPr/>
            <p:nvPr/>
          </p:nvSpPr>
          <p:spPr>
            <a:xfrm>
              <a:off x="9572634" y="4996223"/>
              <a:ext cx="31115" cy="44450"/>
            </a:xfrm>
            <a:custGeom>
              <a:avLst/>
              <a:gdLst/>
              <a:ahLst/>
              <a:cxnLst/>
              <a:rect l="l" t="t" r="r" b="b"/>
              <a:pathLst>
                <a:path w="31115" h="44450">
                  <a:moveTo>
                    <a:pt x="15626" y="0"/>
                  </a:moveTo>
                  <a:lnTo>
                    <a:pt x="9553" y="1763"/>
                  </a:lnTo>
                  <a:lnTo>
                    <a:pt x="4585" y="6542"/>
                  </a:lnTo>
                  <a:lnTo>
                    <a:pt x="1231" y="13563"/>
                  </a:lnTo>
                  <a:lnTo>
                    <a:pt x="0" y="22059"/>
                  </a:lnTo>
                  <a:lnTo>
                    <a:pt x="1231" y="30637"/>
                  </a:lnTo>
                  <a:lnTo>
                    <a:pt x="4585" y="37702"/>
                  </a:lnTo>
                  <a:lnTo>
                    <a:pt x="9553" y="42496"/>
                  </a:lnTo>
                  <a:lnTo>
                    <a:pt x="15626" y="44262"/>
                  </a:lnTo>
                  <a:lnTo>
                    <a:pt x="21427" y="42496"/>
                  </a:lnTo>
                  <a:lnTo>
                    <a:pt x="26186" y="37702"/>
                  </a:lnTo>
                  <a:lnTo>
                    <a:pt x="29406" y="30637"/>
                  </a:lnTo>
                  <a:lnTo>
                    <a:pt x="30590" y="22059"/>
                  </a:lnTo>
                  <a:lnTo>
                    <a:pt x="29406" y="13563"/>
                  </a:lnTo>
                  <a:lnTo>
                    <a:pt x="26186" y="6542"/>
                  </a:lnTo>
                  <a:lnTo>
                    <a:pt x="21427" y="1763"/>
                  </a:lnTo>
                  <a:lnTo>
                    <a:pt x="15626" y="0"/>
                  </a:lnTo>
                  <a:close/>
                </a:path>
              </a:pathLst>
            </a:custGeom>
            <a:solidFill>
              <a:srgbClr val="000000"/>
            </a:solidFill>
          </p:spPr>
          <p:txBody>
            <a:bodyPr wrap="square" lIns="0" tIns="0" rIns="0" bIns="0" rtlCol="0"/>
            <a:lstStyle/>
            <a:p/>
          </p:txBody>
        </p:sp>
        <p:sp>
          <p:nvSpPr>
            <p:cNvPr id="109" name="object 109" descr=""/>
            <p:cNvSpPr/>
            <p:nvPr/>
          </p:nvSpPr>
          <p:spPr>
            <a:xfrm>
              <a:off x="9572634" y="4996223"/>
              <a:ext cx="31115" cy="44450"/>
            </a:xfrm>
            <a:custGeom>
              <a:avLst/>
              <a:gdLst/>
              <a:ahLst/>
              <a:cxnLst/>
              <a:rect l="l" t="t" r="r" b="b"/>
              <a:pathLst>
                <a:path w="31115" h="44450">
                  <a:moveTo>
                    <a:pt x="15626" y="0"/>
                  </a:moveTo>
                  <a:lnTo>
                    <a:pt x="9553" y="1763"/>
                  </a:lnTo>
                  <a:lnTo>
                    <a:pt x="4585" y="6542"/>
                  </a:lnTo>
                  <a:lnTo>
                    <a:pt x="1231" y="13563"/>
                  </a:lnTo>
                  <a:lnTo>
                    <a:pt x="0" y="22059"/>
                  </a:lnTo>
                  <a:lnTo>
                    <a:pt x="1231" y="30637"/>
                  </a:lnTo>
                  <a:lnTo>
                    <a:pt x="4585" y="37702"/>
                  </a:lnTo>
                  <a:lnTo>
                    <a:pt x="9553" y="42496"/>
                  </a:lnTo>
                  <a:lnTo>
                    <a:pt x="15626" y="44262"/>
                  </a:lnTo>
                  <a:lnTo>
                    <a:pt x="21427" y="42496"/>
                  </a:lnTo>
                  <a:lnTo>
                    <a:pt x="26186" y="37702"/>
                  </a:lnTo>
                  <a:lnTo>
                    <a:pt x="29406" y="30637"/>
                  </a:lnTo>
                  <a:lnTo>
                    <a:pt x="30590" y="22059"/>
                  </a:lnTo>
                  <a:lnTo>
                    <a:pt x="29406" y="13563"/>
                  </a:lnTo>
                  <a:lnTo>
                    <a:pt x="26186" y="6542"/>
                  </a:lnTo>
                  <a:lnTo>
                    <a:pt x="21427" y="1763"/>
                  </a:lnTo>
                  <a:lnTo>
                    <a:pt x="15626" y="0"/>
                  </a:lnTo>
                </a:path>
              </a:pathLst>
            </a:custGeom>
            <a:ln w="10139">
              <a:solidFill>
                <a:srgbClr val="000000"/>
              </a:solidFill>
            </a:ln>
          </p:spPr>
          <p:txBody>
            <a:bodyPr wrap="square" lIns="0" tIns="0" rIns="0" bIns="0" rtlCol="0"/>
            <a:lstStyle/>
            <a:p/>
          </p:txBody>
        </p:sp>
        <p:sp>
          <p:nvSpPr>
            <p:cNvPr id="110" name="object 110" descr=""/>
            <p:cNvSpPr/>
            <p:nvPr/>
          </p:nvSpPr>
          <p:spPr>
            <a:xfrm>
              <a:off x="10825103" y="5002134"/>
              <a:ext cx="31115" cy="44450"/>
            </a:xfrm>
            <a:custGeom>
              <a:avLst/>
              <a:gdLst/>
              <a:ahLst/>
              <a:cxnLst/>
              <a:rect l="l" t="t" r="r" b="b"/>
              <a:pathLst>
                <a:path w="31115" h="44450">
                  <a:moveTo>
                    <a:pt x="15626" y="0"/>
                  </a:moveTo>
                  <a:lnTo>
                    <a:pt x="9553" y="1743"/>
                  </a:lnTo>
                  <a:lnTo>
                    <a:pt x="4585" y="6488"/>
                  </a:lnTo>
                  <a:lnTo>
                    <a:pt x="1231" y="13503"/>
                  </a:lnTo>
                  <a:lnTo>
                    <a:pt x="0" y="22059"/>
                  </a:lnTo>
                  <a:lnTo>
                    <a:pt x="1231" y="30570"/>
                  </a:lnTo>
                  <a:lnTo>
                    <a:pt x="4585" y="37486"/>
                  </a:lnTo>
                  <a:lnTo>
                    <a:pt x="9553" y="42131"/>
                  </a:lnTo>
                  <a:lnTo>
                    <a:pt x="15626" y="43830"/>
                  </a:lnTo>
                  <a:lnTo>
                    <a:pt x="21469" y="42131"/>
                  </a:lnTo>
                  <a:lnTo>
                    <a:pt x="26319" y="37486"/>
                  </a:lnTo>
                  <a:lnTo>
                    <a:pt x="29629" y="30570"/>
                  </a:lnTo>
                  <a:lnTo>
                    <a:pt x="30854" y="22059"/>
                  </a:lnTo>
                  <a:lnTo>
                    <a:pt x="29629" y="13503"/>
                  </a:lnTo>
                  <a:lnTo>
                    <a:pt x="26319" y="6488"/>
                  </a:lnTo>
                  <a:lnTo>
                    <a:pt x="21469" y="1743"/>
                  </a:lnTo>
                  <a:lnTo>
                    <a:pt x="15626" y="0"/>
                  </a:lnTo>
                  <a:close/>
                </a:path>
              </a:pathLst>
            </a:custGeom>
            <a:solidFill>
              <a:srgbClr val="000000"/>
            </a:solidFill>
          </p:spPr>
          <p:txBody>
            <a:bodyPr wrap="square" lIns="0" tIns="0" rIns="0" bIns="0" rtlCol="0"/>
            <a:lstStyle/>
            <a:p/>
          </p:txBody>
        </p:sp>
        <p:sp>
          <p:nvSpPr>
            <p:cNvPr id="111" name="object 111" descr=""/>
            <p:cNvSpPr/>
            <p:nvPr/>
          </p:nvSpPr>
          <p:spPr>
            <a:xfrm>
              <a:off x="10825103" y="5002134"/>
              <a:ext cx="31115" cy="44450"/>
            </a:xfrm>
            <a:custGeom>
              <a:avLst/>
              <a:gdLst/>
              <a:ahLst/>
              <a:cxnLst/>
              <a:rect l="l" t="t" r="r" b="b"/>
              <a:pathLst>
                <a:path w="31115" h="44450">
                  <a:moveTo>
                    <a:pt x="15626" y="0"/>
                  </a:moveTo>
                  <a:lnTo>
                    <a:pt x="9553" y="1743"/>
                  </a:lnTo>
                  <a:lnTo>
                    <a:pt x="4585" y="6488"/>
                  </a:lnTo>
                  <a:lnTo>
                    <a:pt x="1231" y="13503"/>
                  </a:lnTo>
                  <a:lnTo>
                    <a:pt x="0" y="22059"/>
                  </a:lnTo>
                  <a:lnTo>
                    <a:pt x="1231" y="30570"/>
                  </a:lnTo>
                  <a:lnTo>
                    <a:pt x="4585" y="37486"/>
                  </a:lnTo>
                  <a:lnTo>
                    <a:pt x="9553" y="42131"/>
                  </a:lnTo>
                  <a:lnTo>
                    <a:pt x="15626" y="43830"/>
                  </a:lnTo>
                  <a:lnTo>
                    <a:pt x="21469" y="42131"/>
                  </a:lnTo>
                  <a:lnTo>
                    <a:pt x="26319" y="37486"/>
                  </a:lnTo>
                  <a:lnTo>
                    <a:pt x="29629" y="30570"/>
                  </a:lnTo>
                  <a:lnTo>
                    <a:pt x="30854" y="22059"/>
                  </a:lnTo>
                  <a:lnTo>
                    <a:pt x="29629" y="13503"/>
                  </a:lnTo>
                  <a:lnTo>
                    <a:pt x="26319" y="6488"/>
                  </a:lnTo>
                  <a:lnTo>
                    <a:pt x="21469" y="1743"/>
                  </a:lnTo>
                  <a:lnTo>
                    <a:pt x="15626" y="0"/>
                  </a:lnTo>
                </a:path>
              </a:pathLst>
            </a:custGeom>
            <a:ln w="10146">
              <a:solidFill>
                <a:srgbClr val="000000"/>
              </a:solidFill>
            </a:ln>
          </p:spPr>
          <p:txBody>
            <a:bodyPr wrap="square" lIns="0" tIns="0" rIns="0" bIns="0" rtlCol="0"/>
            <a:lstStyle/>
            <a:p/>
          </p:txBody>
        </p:sp>
        <p:sp>
          <p:nvSpPr>
            <p:cNvPr id="112" name="object 112" descr=""/>
            <p:cNvSpPr/>
            <p:nvPr/>
          </p:nvSpPr>
          <p:spPr>
            <a:xfrm>
              <a:off x="11326197" y="5008046"/>
              <a:ext cx="31115" cy="44450"/>
            </a:xfrm>
            <a:custGeom>
              <a:avLst/>
              <a:gdLst/>
              <a:ahLst/>
              <a:cxnLst/>
              <a:rect l="l" t="t" r="r" b="b"/>
              <a:pathLst>
                <a:path w="31115" h="44450">
                  <a:moveTo>
                    <a:pt x="15228" y="0"/>
                  </a:moveTo>
                  <a:lnTo>
                    <a:pt x="9385" y="1698"/>
                  </a:lnTo>
                  <a:lnTo>
                    <a:pt x="4535" y="6343"/>
                  </a:lnTo>
                  <a:lnTo>
                    <a:pt x="1224" y="13259"/>
                  </a:lnTo>
                  <a:lnTo>
                    <a:pt x="0" y="21770"/>
                  </a:lnTo>
                  <a:lnTo>
                    <a:pt x="1224" y="30448"/>
                  </a:lnTo>
                  <a:lnTo>
                    <a:pt x="4535" y="37450"/>
                  </a:lnTo>
                  <a:lnTo>
                    <a:pt x="9385" y="42126"/>
                  </a:lnTo>
                  <a:lnTo>
                    <a:pt x="15228" y="43830"/>
                  </a:lnTo>
                  <a:lnTo>
                    <a:pt x="21260" y="42126"/>
                  </a:lnTo>
                  <a:lnTo>
                    <a:pt x="26137" y="37450"/>
                  </a:lnTo>
                  <a:lnTo>
                    <a:pt x="29400" y="30448"/>
                  </a:lnTo>
                  <a:lnTo>
                    <a:pt x="30590" y="21770"/>
                  </a:lnTo>
                  <a:lnTo>
                    <a:pt x="29400" y="13259"/>
                  </a:lnTo>
                  <a:lnTo>
                    <a:pt x="26137" y="6343"/>
                  </a:lnTo>
                  <a:lnTo>
                    <a:pt x="21260" y="1698"/>
                  </a:lnTo>
                  <a:lnTo>
                    <a:pt x="15228" y="0"/>
                  </a:lnTo>
                  <a:close/>
                </a:path>
              </a:pathLst>
            </a:custGeom>
            <a:solidFill>
              <a:srgbClr val="000000"/>
            </a:solidFill>
          </p:spPr>
          <p:txBody>
            <a:bodyPr wrap="square" lIns="0" tIns="0" rIns="0" bIns="0" rtlCol="0"/>
            <a:lstStyle/>
            <a:p/>
          </p:txBody>
        </p:sp>
        <p:sp>
          <p:nvSpPr>
            <p:cNvPr id="113" name="object 113" descr=""/>
            <p:cNvSpPr/>
            <p:nvPr/>
          </p:nvSpPr>
          <p:spPr>
            <a:xfrm>
              <a:off x="11326197" y="5008046"/>
              <a:ext cx="31115" cy="44450"/>
            </a:xfrm>
            <a:custGeom>
              <a:avLst/>
              <a:gdLst/>
              <a:ahLst/>
              <a:cxnLst/>
              <a:rect l="l" t="t" r="r" b="b"/>
              <a:pathLst>
                <a:path w="31115" h="44450">
                  <a:moveTo>
                    <a:pt x="15228" y="0"/>
                  </a:moveTo>
                  <a:lnTo>
                    <a:pt x="9385" y="1698"/>
                  </a:lnTo>
                  <a:lnTo>
                    <a:pt x="4535" y="6343"/>
                  </a:lnTo>
                  <a:lnTo>
                    <a:pt x="1224" y="13259"/>
                  </a:lnTo>
                  <a:lnTo>
                    <a:pt x="0" y="21770"/>
                  </a:lnTo>
                  <a:lnTo>
                    <a:pt x="1224" y="30448"/>
                  </a:lnTo>
                  <a:lnTo>
                    <a:pt x="4535" y="37450"/>
                  </a:lnTo>
                  <a:lnTo>
                    <a:pt x="9385" y="42126"/>
                  </a:lnTo>
                  <a:lnTo>
                    <a:pt x="15228" y="43830"/>
                  </a:lnTo>
                  <a:lnTo>
                    <a:pt x="21260" y="42126"/>
                  </a:lnTo>
                  <a:lnTo>
                    <a:pt x="26137" y="37450"/>
                  </a:lnTo>
                  <a:lnTo>
                    <a:pt x="29400" y="30448"/>
                  </a:lnTo>
                  <a:lnTo>
                    <a:pt x="30590" y="21770"/>
                  </a:lnTo>
                  <a:lnTo>
                    <a:pt x="29400" y="13259"/>
                  </a:lnTo>
                  <a:lnTo>
                    <a:pt x="26137" y="6343"/>
                  </a:lnTo>
                  <a:lnTo>
                    <a:pt x="21260" y="1698"/>
                  </a:lnTo>
                  <a:lnTo>
                    <a:pt x="15228" y="0"/>
                  </a:lnTo>
                </a:path>
              </a:pathLst>
            </a:custGeom>
            <a:ln w="10143">
              <a:solidFill>
                <a:srgbClr val="000000"/>
              </a:solidFill>
            </a:ln>
          </p:spPr>
          <p:txBody>
            <a:bodyPr wrap="square" lIns="0" tIns="0" rIns="0" bIns="0" rtlCol="0"/>
            <a:lstStyle/>
            <a:p/>
          </p:txBody>
        </p:sp>
        <p:sp>
          <p:nvSpPr>
            <p:cNvPr id="114" name="object 114" descr=""/>
            <p:cNvSpPr/>
            <p:nvPr/>
          </p:nvSpPr>
          <p:spPr>
            <a:xfrm>
              <a:off x="10319242" y="4600887"/>
              <a:ext cx="30480" cy="44450"/>
            </a:xfrm>
            <a:custGeom>
              <a:avLst/>
              <a:gdLst/>
              <a:ahLst/>
              <a:cxnLst/>
              <a:rect l="l" t="t" r="r" b="b"/>
              <a:pathLst>
                <a:path w="30479" h="44450">
                  <a:moveTo>
                    <a:pt x="14963" y="0"/>
                  </a:moveTo>
                  <a:lnTo>
                    <a:pt x="9106" y="1766"/>
                  </a:lnTo>
                  <a:lnTo>
                    <a:pt x="4353" y="6560"/>
                  </a:lnTo>
                  <a:lnTo>
                    <a:pt x="1164" y="13624"/>
                  </a:lnTo>
                  <a:lnTo>
                    <a:pt x="0" y="22203"/>
                  </a:lnTo>
                  <a:lnTo>
                    <a:pt x="1164" y="30714"/>
                  </a:lnTo>
                  <a:lnTo>
                    <a:pt x="4353" y="37630"/>
                  </a:lnTo>
                  <a:lnTo>
                    <a:pt x="9106" y="42275"/>
                  </a:lnTo>
                  <a:lnTo>
                    <a:pt x="14963" y="43974"/>
                  </a:lnTo>
                  <a:lnTo>
                    <a:pt x="20974" y="42275"/>
                  </a:lnTo>
                  <a:lnTo>
                    <a:pt x="25806" y="37630"/>
                  </a:lnTo>
                  <a:lnTo>
                    <a:pt x="29023" y="30714"/>
                  </a:lnTo>
                  <a:lnTo>
                    <a:pt x="30192" y="22203"/>
                  </a:lnTo>
                  <a:lnTo>
                    <a:pt x="29023" y="13624"/>
                  </a:lnTo>
                  <a:lnTo>
                    <a:pt x="25806" y="6560"/>
                  </a:lnTo>
                  <a:lnTo>
                    <a:pt x="20974" y="1766"/>
                  </a:lnTo>
                  <a:lnTo>
                    <a:pt x="14963" y="0"/>
                  </a:lnTo>
                  <a:close/>
                </a:path>
              </a:pathLst>
            </a:custGeom>
            <a:solidFill>
              <a:srgbClr val="000000"/>
            </a:solidFill>
          </p:spPr>
          <p:txBody>
            <a:bodyPr wrap="square" lIns="0" tIns="0" rIns="0" bIns="0" rtlCol="0"/>
            <a:lstStyle/>
            <a:p/>
          </p:txBody>
        </p:sp>
        <p:sp>
          <p:nvSpPr>
            <p:cNvPr id="115" name="object 115" descr=""/>
            <p:cNvSpPr/>
            <p:nvPr/>
          </p:nvSpPr>
          <p:spPr>
            <a:xfrm>
              <a:off x="10319242" y="4600887"/>
              <a:ext cx="30480" cy="44450"/>
            </a:xfrm>
            <a:custGeom>
              <a:avLst/>
              <a:gdLst/>
              <a:ahLst/>
              <a:cxnLst/>
              <a:rect l="l" t="t" r="r" b="b"/>
              <a:pathLst>
                <a:path w="30479" h="44450">
                  <a:moveTo>
                    <a:pt x="14963" y="0"/>
                  </a:moveTo>
                  <a:lnTo>
                    <a:pt x="9106" y="1766"/>
                  </a:lnTo>
                  <a:lnTo>
                    <a:pt x="4353" y="6560"/>
                  </a:lnTo>
                  <a:lnTo>
                    <a:pt x="1164" y="13624"/>
                  </a:lnTo>
                  <a:lnTo>
                    <a:pt x="0" y="22203"/>
                  </a:lnTo>
                  <a:lnTo>
                    <a:pt x="1164" y="30714"/>
                  </a:lnTo>
                  <a:lnTo>
                    <a:pt x="4353" y="37630"/>
                  </a:lnTo>
                  <a:lnTo>
                    <a:pt x="9106" y="42275"/>
                  </a:lnTo>
                  <a:lnTo>
                    <a:pt x="14963" y="43974"/>
                  </a:lnTo>
                  <a:lnTo>
                    <a:pt x="20974" y="42275"/>
                  </a:lnTo>
                  <a:lnTo>
                    <a:pt x="25806" y="37630"/>
                  </a:lnTo>
                  <a:lnTo>
                    <a:pt x="29023" y="30714"/>
                  </a:lnTo>
                  <a:lnTo>
                    <a:pt x="30192" y="22203"/>
                  </a:lnTo>
                  <a:lnTo>
                    <a:pt x="29023" y="13624"/>
                  </a:lnTo>
                  <a:lnTo>
                    <a:pt x="25806" y="6560"/>
                  </a:lnTo>
                  <a:lnTo>
                    <a:pt x="20974" y="1766"/>
                  </a:lnTo>
                  <a:lnTo>
                    <a:pt x="14963" y="0"/>
                  </a:lnTo>
                </a:path>
              </a:pathLst>
            </a:custGeom>
            <a:ln w="10137">
              <a:solidFill>
                <a:srgbClr val="000000"/>
              </a:solidFill>
            </a:ln>
          </p:spPr>
          <p:txBody>
            <a:bodyPr wrap="square" lIns="0" tIns="0" rIns="0" bIns="0" rtlCol="0"/>
            <a:lstStyle/>
            <a:p/>
          </p:txBody>
        </p:sp>
        <p:sp>
          <p:nvSpPr>
            <p:cNvPr id="116" name="object 116" descr=""/>
            <p:cNvSpPr/>
            <p:nvPr/>
          </p:nvSpPr>
          <p:spPr>
            <a:xfrm>
              <a:off x="10602498" y="4470695"/>
              <a:ext cx="31115" cy="44450"/>
            </a:xfrm>
            <a:custGeom>
              <a:avLst/>
              <a:gdLst/>
              <a:ahLst/>
              <a:cxnLst/>
              <a:rect l="l" t="t" r="r" b="b"/>
              <a:pathLst>
                <a:path w="31115" h="44450">
                  <a:moveTo>
                    <a:pt x="15361" y="0"/>
                  </a:moveTo>
                  <a:lnTo>
                    <a:pt x="9441" y="1698"/>
                  </a:lnTo>
                  <a:lnTo>
                    <a:pt x="4552" y="6343"/>
                  </a:lnTo>
                  <a:lnTo>
                    <a:pt x="1226" y="13259"/>
                  </a:lnTo>
                  <a:lnTo>
                    <a:pt x="0" y="21770"/>
                  </a:lnTo>
                  <a:lnTo>
                    <a:pt x="1226" y="30326"/>
                  </a:lnTo>
                  <a:lnTo>
                    <a:pt x="4552" y="37342"/>
                  </a:lnTo>
                  <a:lnTo>
                    <a:pt x="9441" y="42086"/>
                  </a:lnTo>
                  <a:lnTo>
                    <a:pt x="15361" y="43830"/>
                  </a:lnTo>
                  <a:lnTo>
                    <a:pt x="21357" y="42086"/>
                  </a:lnTo>
                  <a:lnTo>
                    <a:pt x="26286" y="37342"/>
                  </a:lnTo>
                  <a:lnTo>
                    <a:pt x="29625" y="30326"/>
                  </a:lnTo>
                  <a:lnTo>
                    <a:pt x="30854" y="21770"/>
                  </a:lnTo>
                  <a:lnTo>
                    <a:pt x="29625" y="13259"/>
                  </a:lnTo>
                  <a:lnTo>
                    <a:pt x="26286" y="6343"/>
                  </a:lnTo>
                  <a:lnTo>
                    <a:pt x="21357" y="1698"/>
                  </a:lnTo>
                  <a:lnTo>
                    <a:pt x="15361" y="0"/>
                  </a:lnTo>
                  <a:close/>
                </a:path>
              </a:pathLst>
            </a:custGeom>
            <a:solidFill>
              <a:srgbClr val="000000"/>
            </a:solidFill>
          </p:spPr>
          <p:txBody>
            <a:bodyPr wrap="square" lIns="0" tIns="0" rIns="0" bIns="0" rtlCol="0"/>
            <a:lstStyle/>
            <a:p/>
          </p:txBody>
        </p:sp>
        <p:sp>
          <p:nvSpPr>
            <p:cNvPr id="117" name="object 117" descr=""/>
            <p:cNvSpPr/>
            <p:nvPr/>
          </p:nvSpPr>
          <p:spPr>
            <a:xfrm>
              <a:off x="10602498" y="4470695"/>
              <a:ext cx="31115" cy="44450"/>
            </a:xfrm>
            <a:custGeom>
              <a:avLst/>
              <a:gdLst/>
              <a:ahLst/>
              <a:cxnLst/>
              <a:rect l="l" t="t" r="r" b="b"/>
              <a:pathLst>
                <a:path w="31115" h="44450">
                  <a:moveTo>
                    <a:pt x="15361" y="0"/>
                  </a:moveTo>
                  <a:lnTo>
                    <a:pt x="9441" y="1698"/>
                  </a:lnTo>
                  <a:lnTo>
                    <a:pt x="4552" y="6343"/>
                  </a:lnTo>
                  <a:lnTo>
                    <a:pt x="1226" y="13259"/>
                  </a:lnTo>
                  <a:lnTo>
                    <a:pt x="0" y="21770"/>
                  </a:lnTo>
                  <a:lnTo>
                    <a:pt x="1226" y="30326"/>
                  </a:lnTo>
                  <a:lnTo>
                    <a:pt x="4552" y="37342"/>
                  </a:lnTo>
                  <a:lnTo>
                    <a:pt x="9441" y="42086"/>
                  </a:lnTo>
                  <a:lnTo>
                    <a:pt x="15361" y="43830"/>
                  </a:lnTo>
                  <a:lnTo>
                    <a:pt x="21357" y="42086"/>
                  </a:lnTo>
                  <a:lnTo>
                    <a:pt x="26286" y="37342"/>
                  </a:lnTo>
                  <a:lnTo>
                    <a:pt x="29625" y="30326"/>
                  </a:lnTo>
                  <a:lnTo>
                    <a:pt x="30854" y="21770"/>
                  </a:lnTo>
                  <a:lnTo>
                    <a:pt x="29625" y="13259"/>
                  </a:lnTo>
                  <a:lnTo>
                    <a:pt x="26286" y="6343"/>
                  </a:lnTo>
                  <a:lnTo>
                    <a:pt x="21357" y="1698"/>
                  </a:lnTo>
                  <a:lnTo>
                    <a:pt x="15361" y="0"/>
                  </a:lnTo>
                </a:path>
              </a:pathLst>
            </a:custGeom>
            <a:ln w="10146">
              <a:solidFill>
                <a:srgbClr val="000000"/>
              </a:solidFill>
            </a:ln>
          </p:spPr>
          <p:txBody>
            <a:bodyPr wrap="square" lIns="0" tIns="0" rIns="0" bIns="0" rtlCol="0"/>
            <a:lstStyle/>
            <a:p/>
          </p:txBody>
        </p:sp>
        <p:sp>
          <p:nvSpPr>
            <p:cNvPr id="118" name="object 118" descr=""/>
            <p:cNvSpPr/>
            <p:nvPr/>
          </p:nvSpPr>
          <p:spPr>
            <a:xfrm>
              <a:off x="10612033" y="4330698"/>
              <a:ext cx="1203325" cy="58419"/>
            </a:xfrm>
            <a:custGeom>
              <a:avLst/>
              <a:gdLst/>
              <a:ahLst/>
              <a:cxnLst/>
              <a:rect l="l" t="t" r="r" b="b"/>
              <a:pathLst>
                <a:path w="1203325" h="58420">
                  <a:moveTo>
                    <a:pt x="1123753" y="0"/>
                  </a:moveTo>
                  <a:lnTo>
                    <a:pt x="1150503" y="29123"/>
                  </a:lnTo>
                  <a:lnTo>
                    <a:pt x="1123753" y="57815"/>
                  </a:lnTo>
                  <a:lnTo>
                    <a:pt x="1184043" y="36044"/>
                  </a:lnTo>
                  <a:lnTo>
                    <a:pt x="1153946" y="36044"/>
                  </a:lnTo>
                  <a:lnTo>
                    <a:pt x="1157124" y="32872"/>
                  </a:lnTo>
                  <a:lnTo>
                    <a:pt x="1157124" y="24942"/>
                  </a:lnTo>
                  <a:lnTo>
                    <a:pt x="1153946" y="21770"/>
                  </a:lnTo>
                  <a:lnTo>
                    <a:pt x="1183147" y="21770"/>
                  </a:lnTo>
                  <a:lnTo>
                    <a:pt x="1123753" y="0"/>
                  </a:lnTo>
                  <a:close/>
                </a:path>
                <a:path w="1203325" h="58420">
                  <a:moveTo>
                    <a:pt x="1143749" y="21770"/>
                  </a:moveTo>
                  <a:lnTo>
                    <a:pt x="2913" y="21770"/>
                  </a:lnTo>
                  <a:lnTo>
                    <a:pt x="0" y="24942"/>
                  </a:lnTo>
                  <a:lnTo>
                    <a:pt x="0" y="32872"/>
                  </a:lnTo>
                  <a:lnTo>
                    <a:pt x="2913" y="36044"/>
                  </a:lnTo>
                  <a:lnTo>
                    <a:pt x="1144050" y="36044"/>
                  </a:lnTo>
                  <a:lnTo>
                    <a:pt x="1150503" y="29123"/>
                  </a:lnTo>
                  <a:lnTo>
                    <a:pt x="1143749" y="21770"/>
                  </a:lnTo>
                  <a:close/>
                </a:path>
                <a:path w="1203325" h="58420">
                  <a:moveTo>
                    <a:pt x="1183147" y="21770"/>
                  </a:moveTo>
                  <a:lnTo>
                    <a:pt x="1153946" y="21770"/>
                  </a:lnTo>
                  <a:lnTo>
                    <a:pt x="1157124" y="24942"/>
                  </a:lnTo>
                  <a:lnTo>
                    <a:pt x="1157124" y="32872"/>
                  </a:lnTo>
                  <a:lnTo>
                    <a:pt x="1153946" y="36044"/>
                  </a:lnTo>
                  <a:lnTo>
                    <a:pt x="1184043" y="36044"/>
                  </a:lnTo>
                  <a:lnTo>
                    <a:pt x="1203208" y="29123"/>
                  </a:lnTo>
                  <a:lnTo>
                    <a:pt x="1183147" y="21770"/>
                  </a:lnTo>
                  <a:close/>
                </a:path>
              </a:pathLst>
            </a:custGeom>
            <a:solidFill>
              <a:srgbClr val="000000"/>
            </a:solidFill>
          </p:spPr>
          <p:txBody>
            <a:bodyPr wrap="square" lIns="0" tIns="0" rIns="0" bIns="0" rtlCol="0"/>
            <a:lstStyle/>
            <a:p/>
          </p:txBody>
        </p:sp>
        <p:sp>
          <p:nvSpPr>
            <p:cNvPr id="119" name="object 119" descr=""/>
            <p:cNvSpPr/>
            <p:nvPr/>
          </p:nvSpPr>
          <p:spPr>
            <a:xfrm>
              <a:off x="10612032" y="4330698"/>
              <a:ext cx="1203325" cy="58419"/>
            </a:xfrm>
            <a:custGeom>
              <a:avLst/>
              <a:gdLst/>
              <a:ahLst/>
              <a:cxnLst/>
              <a:rect l="l" t="t" r="r" b="b"/>
              <a:pathLst>
                <a:path w="1203325" h="58420">
                  <a:moveTo>
                    <a:pt x="6356" y="21770"/>
                  </a:moveTo>
                  <a:lnTo>
                    <a:pt x="1150503" y="21770"/>
                  </a:lnTo>
                  <a:lnTo>
                    <a:pt x="1153946" y="21770"/>
                  </a:lnTo>
                  <a:lnTo>
                    <a:pt x="1157124" y="24942"/>
                  </a:lnTo>
                  <a:lnTo>
                    <a:pt x="1157124" y="29123"/>
                  </a:lnTo>
                  <a:lnTo>
                    <a:pt x="1157124" y="32872"/>
                  </a:lnTo>
                  <a:lnTo>
                    <a:pt x="1153946" y="36044"/>
                  </a:lnTo>
                  <a:lnTo>
                    <a:pt x="1150503" y="36044"/>
                  </a:lnTo>
                  <a:lnTo>
                    <a:pt x="6356" y="36044"/>
                  </a:lnTo>
                  <a:lnTo>
                    <a:pt x="2913" y="36044"/>
                  </a:lnTo>
                  <a:lnTo>
                    <a:pt x="0" y="32872"/>
                  </a:lnTo>
                  <a:lnTo>
                    <a:pt x="0" y="29123"/>
                  </a:lnTo>
                  <a:lnTo>
                    <a:pt x="0" y="24942"/>
                  </a:lnTo>
                  <a:lnTo>
                    <a:pt x="2913" y="21770"/>
                  </a:lnTo>
                  <a:lnTo>
                    <a:pt x="6356" y="21770"/>
                  </a:lnTo>
                  <a:close/>
                </a:path>
                <a:path w="1203325" h="58420">
                  <a:moveTo>
                    <a:pt x="1150503" y="29123"/>
                  </a:moveTo>
                  <a:lnTo>
                    <a:pt x="1123753" y="0"/>
                  </a:lnTo>
                  <a:lnTo>
                    <a:pt x="1203208" y="29123"/>
                  </a:lnTo>
                  <a:lnTo>
                    <a:pt x="1123753" y="57815"/>
                  </a:lnTo>
                  <a:lnTo>
                    <a:pt x="1150503" y="29123"/>
                  </a:lnTo>
                  <a:close/>
                </a:path>
              </a:pathLst>
            </a:custGeom>
            <a:ln w="3175">
              <a:solidFill>
                <a:srgbClr val="000000"/>
              </a:solidFill>
            </a:ln>
          </p:spPr>
          <p:txBody>
            <a:bodyPr wrap="square" lIns="0" tIns="0" rIns="0" bIns="0" rtlCol="0"/>
            <a:lstStyle/>
            <a:p/>
          </p:txBody>
        </p:sp>
        <p:sp>
          <p:nvSpPr>
            <p:cNvPr id="120" name="object 120" descr=""/>
            <p:cNvSpPr/>
            <p:nvPr/>
          </p:nvSpPr>
          <p:spPr>
            <a:xfrm>
              <a:off x="10602498" y="4342521"/>
              <a:ext cx="31115" cy="44450"/>
            </a:xfrm>
            <a:custGeom>
              <a:avLst/>
              <a:gdLst/>
              <a:ahLst/>
              <a:cxnLst/>
              <a:rect l="l" t="t" r="r" b="b"/>
              <a:pathLst>
                <a:path w="31115" h="44450">
                  <a:moveTo>
                    <a:pt x="15361" y="0"/>
                  </a:moveTo>
                  <a:lnTo>
                    <a:pt x="9441" y="1698"/>
                  </a:lnTo>
                  <a:lnTo>
                    <a:pt x="4552" y="6343"/>
                  </a:lnTo>
                  <a:lnTo>
                    <a:pt x="1226" y="13259"/>
                  </a:lnTo>
                  <a:lnTo>
                    <a:pt x="0" y="21770"/>
                  </a:lnTo>
                  <a:lnTo>
                    <a:pt x="1226" y="30448"/>
                  </a:lnTo>
                  <a:lnTo>
                    <a:pt x="4552" y="37450"/>
                  </a:lnTo>
                  <a:lnTo>
                    <a:pt x="9441" y="42126"/>
                  </a:lnTo>
                  <a:lnTo>
                    <a:pt x="15361" y="43830"/>
                  </a:lnTo>
                  <a:lnTo>
                    <a:pt x="21357" y="42126"/>
                  </a:lnTo>
                  <a:lnTo>
                    <a:pt x="26286" y="37450"/>
                  </a:lnTo>
                  <a:lnTo>
                    <a:pt x="29625" y="30448"/>
                  </a:lnTo>
                  <a:lnTo>
                    <a:pt x="30854" y="21770"/>
                  </a:lnTo>
                  <a:lnTo>
                    <a:pt x="29625" y="13259"/>
                  </a:lnTo>
                  <a:lnTo>
                    <a:pt x="26286" y="6343"/>
                  </a:lnTo>
                  <a:lnTo>
                    <a:pt x="21357" y="1698"/>
                  </a:lnTo>
                  <a:lnTo>
                    <a:pt x="15361" y="0"/>
                  </a:lnTo>
                  <a:close/>
                </a:path>
              </a:pathLst>
            </a:custGeom>
            <a:solidFill>
              <a:srgbClr val="000000"/>
            </a:solidFill>
          </p:spPr>
          <p:txBody>
            <a:bodyPr wrap="square" lIns="0" tIns="0" rIns="0" bIns="0" rtlCol="0"/>
            <a:lstStyle/>
            <a:p/>
          </p:txBody>
        </p:sp>
        <p:sp>
          <p:nvSpPr>
            <p:cNvPr id="121" name="object 121" descr=""/>
            <p:cNvSpPr/>
            <p:nvPr/>
          </p:nvSpPr>
          <p:spPr>
            <a:xfrm>
              <a:off x="10602498" y="4342521"/>
              <a:ext cx="31115" cy="44450"/>
            </a:xfrm>
            <a:custGeom>
              <a:avLst/>
              <a:gdLst/>
              <a:ahLst/>
              <a:cxnLst/>
              <a:rect l="l" t="t" r="r" b="b"/>
              <a:pathLst>
                <a:path w="31115" h="44450">
                  <a:moveTo>
                    <a:pt x="15361" y="0"/>
                  </a:moveTo>
                  <a:lnTo>
                    <a:pt x="9441" y="1698"/>
                  </a:lnTo>
                  <a:lnTo>
                    <a:pt x="4552" y="6343"/>
                  </a:lnTo>
                  <a:lnTo>
                    <a:pt x="1226" y="13259"/>
                  </a:lnTo>
                  <a:lnTo>
                    <a:pt x="0" y="21770"/>
                  </a:lnTo>
                  <a:lnTo>
                    <a:pt x="1226" y="30448"/>
                  </a:lnTo>
                  <a:lnTo>
                    <a:pt x="4552" y="37450"/>
                  </a:lnTo>
                  <a:lnTo>
                    <a:pt x="9441" y="42126"/>
                  </a:lnTo>
                  <a:lnTo>
                    <a:pt x="15361" y="43830"/>
                  </a:lnTo>
                  <a:lnTo>
                    <a:pt x="21357" y="42126"/>
                  </a:lnTo>
                  <a:lnTo>
                    <a:pt x="26286" y="37450"/>
                  </a:lnTo>
                  <a:lnTo>
                    <a:pt x="29625" y="30448"/>
                  </a:lnTo>
                  <a:lnTo>
                    <a:pt x="30854" y="21770"/>
                  </a:lnTo>
                  <a:lnTo>
                    <a:pt x="29625" y="13259"/>
                  </a:lnTo>
                  <a:lnTo>
                    <a:pt x="26286" y="6343"/>
                  </a:lnTo>
                  <a:lnTo>
                    <a:pt x="21357" y="1698"/>
                  </a:lnTo>
                  <a:lnTo>
                    <a:pt x="15361" y="0"/>
                  </a:lnTo>
                </a:path>
              </a:pathLst>
            </a:custGeom>
            <a:ln w="10146">
              <a:solidFill>
                <a:srgbClr val="000000"/>
              </a:solidFill>
            </a:ln>
          </p:spPr>
          <p:txBody>
            <a:bodyPr wrap="square" lIns="0" tIns="0" rIns="0" bIns="0" rtlCol="0"/>
            <a:lstStyle/>
            <a:p/>
          </p:txBody>
        </p:sp>
        <p:sp>
          <p:nvSpPr>
            <p:cNvPr id="122" name="object 122" descr=""/>
            <p:cNvSpPr/>
            <p:nvPr/>
          </p:nvSpPr>
          <p:spPr>
            <a:xfrm>
              <a:off x="10842584" y="5602981"/>
              <a:ext cx="53340" cy="365125"/>
            </a:xfrm>
            <a:custGeom>
              <a:avLst/>
              <a:gdLst/>
              <a:ahLst/>
              <a:cxnLst/>
              <a:rect l="l" t="t" r="r" b="b"/>
              <a:pathLst>
                <a:path w="53340" h="365125">
                  <a:moveTo>
                    <a:pt x="0" y="278162"/>
                  </a:moveTo>
                  <a:lnTo>
                    <a:pt x="26352" y="364539"/>
                  </a:lnTo>
                  <a:lnTo>
                    <a:pt x="41975" y="314091"/>
                  </a:lnTo>
                  <a:lnTo>
                    <a:pt x="22909" y="314091"/>
                  </a:lnTo>
                  <a:lnTo>
                    <a:pt x="19731" y="310991"/>
                  </a:lnTo>
                  <a:lnTo>
                    <a:pt x="19731" y="299634"/>
                  </a:lnTo>
                  <a:lnTo>
                    <a:pt x="0" y="278162"/>
                  </a:lnTo>
                  <a:close/>
                </a:path>
                <a:path w="53340" h="365125">
                  <a:moveTo>
                    <a:pt x="19731" y="299634"/>
                  </a:moveTo>
                  <a:lnTo>
                    <a:pt x="19731" y="310991"/>
                  </a:lnTo>
                  <a:lnTo>
                    <a:pt x="22909" y="314091"/>
                  </a:lnTo>
                  <a:lnTo>
                    <a:pt x="30192" y="314091"/>
                  </a:lnTo>
                  <a:lnTo>
                    <a:pt x="33106" y="310991"/>
                  </a:lnTo>
                  <a:lnTo>
                    <a:pt x="33106" y="306839"/>
                  </a:lnTo>
                  <a:lnTo>
                    <a:pt x="26352" y="306839"/>
                  </a:lnTo>
                  <a:lnTo>
                    <a:pt x="19731" y="299634"/>
                  </a:lnTo>
                  <a:close/>
                </a:path>
                <a:path w="53340" h="365125">
                  <a:moveTo>
                    <a:pt x="53102" y="278162"/>
                  </a:moveTo>
                  <a:lnTo>
                    <a:pt x="33106" y="299634"/>
                  </a:lnTo>
                  <a:lnTo>
                    <a:pt x="33106" y="310991"/>
                  </a:lnTo>
                  <a:lnTo>
                    <a:pt x="30192" y="314091"/>
                  </a:lnTo>
                  <a:lnTo>
                    <a:pt x="41975" y="314091"/>
                  </a:lnTo>
                  <a:lnTo>
                    <a:pt x="53102" y="278162"/>
                  </a:lnTo>
                  <a:close/>
                </a:path>
                <a:path w="53340" h="365125">
                  <a:moveTo>
                    <a:pt x="30192" y="0"/>
                  </a:moveTo>
                  <a:lnTo>
                    <a:pt x="22909" y="0"/>
                  </a:lnTo>
                  <a:lnTo>
                    <a:pt x="19731" y="3114"/>
                  </a:lnTo>
                  <a:lnTo>
                    <a:pt x="19731" y="299634"/>
                  </a:lnTo>
                  <a:lnTo>
                    <a:pt x="26352" y="306839"/>
                  </a:lnTo>
                  <a:lnTo>
                    <a:pt x="33073" y="299634"/>
                  </a:lnTo>
                  <a:lnTo>
                    <a:pt x="33106" y="3114"/>
                  </a:lnTo>
                  <a:lnTo>
                    <a:pt x="30192" y="0"/>
                  </a:lnTo>
                  <a:close/>
                </a:path>
                <a:path w="53340" h="365125">
                  <a:moveTo>
                    <a:pt x="33106" y="299634"/>
                  </a:moveTo>
                  <a:lnTo>
                    <a:pt x="26352" y="306839"/>
                  </a:lnTo>
                  <a:lnTo>
                    <a:pt x="33106" y="306839"/>
                  </a:lnTo>
                  <a:lnTo>
                    <a:pt x="33106" y="299634"/>
                  </a:lnTo>
                  <a:close/>
                </a:path>
              </a:pathLst>
            </a:custGeom>
            <a:solidFill>
              <a:srgbClr val="000000"/>
            </a:solidFill>
          </p:spPr>
          <p:txBody>
            <a:bodyPr wrap="square" lIns="0" tIns="0" rIns="0" bIns="0" rtlCol="0"/>
            <a:lstStyle/>
            <a:p/>
          </p:txBody>
        </p:sp>
        <p:sp>
          <p:nvSpPr>
            <p:cNvPr id="123" name="object 123" descr=""/>
            <p:cNvSpPr/>
            <p:nvPr/>
          </p:nvSpPr>
          <p:spPr>
            <a:xfrm>
              <a:off x="10842584" y="5602981"/>
              <a:ext cx="53340" cy="365125"/>
            </a:xfrm>
            <a:custGeom>
              <a:avLst/>
              <a:gdLst/>
              <a:ahLst/>
              <a:cxnLst/>
              <a:rect l="l" t="t" r="r" b="b"/>
              <a:pathLst>
                <a:path w="53340" h="365125">
                  <a:moveTo>
                    <a:pt x="33106" y="6920"/>
                  </a:moveTo>
                  <a:lnTo>
                    <a:pt x="33106" y="306839"/>
                  </a:lnTo>
                  <a:lnTo>
                    <a:pt x="33106" y="310991"/>
                  </a:lnTo>
                  <a:lnTo>
                    <a:pt x="30192" y="314091"/>
                  </a:lnTo>
                  <a:lnTo>
                    <a:pt x="26352" y="314091"/>
                  </a:lnTo>
                  <a:lnTo>
                    <a:pt x="22909" y="314091"/>
                  </a:lnTo>
                  <a:lnTo>
                    <a:pt x="19731" y="310991"/>
                  </a:lnTo>
                  <a:lnTo>
                    <a:pt x="19731" y="306839"/>
                  </a:lnTo>
                  <a:lnTo>
                    <a:pt x="19731" y="6920"/>
                  </a:lnTo>
                  <a:lnTo>
                    <a:pt x="19731" y="3114"/>
                  </a:lnTo>
                  <a:lnTo>
                    <a:pt x="22909" y="0"/>
                  </a:lnTo>
                  <a:lnTo>
                    <a:pt x="26352" y="0"/>
                  </a:lnTo>
                  <a:lnTo>
                    <a:pt x="30192" y="0"/>
                  </a:lnTo>
                  <a:lnTo>
                    <a:pt x="33106" y="3114"/>
                  </a:lnTo>
                  <a:lnTo>
                    <a:pt x="33106" y="6920"/>
                  </a:lnTo>
                  <a:close/>
                </a:path>
                <a:path w="53340" h="365125">
                  <a:moveTo>
                    <a:pt x="26352" y="306839"/>
                  </a:moveTo>
                  <a:lnTo>
                    <a:pt x="53102" y="278162"/>
                  </a:lnTo>
                  <a:lnTo>
                    <a:pt x="26352" y="364539"/>
                  </a:lnTo>
                  <a:lnTo>
                    <a:pt x="0" y="278162"/>
                  </a:lnTo>
                  <a:lnTo>
                    <a:pt x="26352" y="306839"/>
                  </a:lnTo>
                  <a:close/>
                </a:path>
              </a:pathLst>
            </a:custGeom>
            <a:ln w="3175">
              <a:solidFill>
                <a:srgbClr val="000000"/>
              </a:solidFill>
            </a:ln>
          </p:spPr>
          <p:txBody>
            <a:bodyPr wrap="square" lIns="0" tIns="0" rIns="0" bIns="0" rtlCol="0"/>
            <a:lstStyle/>
            <a:p/>
          </p:txBody>
        </p:sp>
      </p:grpSp>
      <p:sp>
        <p:nvSpPr>
          <p:cNvPr id="124" name="object 124" descr=""/>
          <p:cNvSpPr txBox="1"/>
          <p:nvPr/>
        </p:nvSpPr>
        <p:spPr>
          <a:xfrm>
            <a:off x="10313163" y="5320522"/>
            <a:ext cx="85090" cy="314325"/>
          </a:xfrm>
          <a:prstGeom prst="rect">
            <a:avLst/>
          </a:prstGeom>
        </p:spPr>
        <p:txBody>
          <a:bodyPr wrap="square" lIns="0" tIns="15240" rIns="0" bIns="0" rtlCol="0" vert="horz">
            <a:spAutoFit/>
          </a:bodyPr>
          <a:lstStyle/>
          <a:p>
            <a:pPr marL="12700">
              <a:lnSpc>
                <a:spcPts val="1125"/>
              </a:lnSpc>
              <a:spcBef>
                <a:spcPts val="120"/>
              </a:spcBef>
            </a:pPr>
            <a:r>
              <a:rPr dirty="0" sz="1000" spc="-50">
                <a:latin typeface="Times New Roman"/>
                <a:cs typeface="Times New Roman"/>
              </a:rPr>
              <a:t>2</a:t>
            </a:r>
            <a:endParaRPr sz="1000">
              <a:latin typeface="Times New Roman"/>
              <a:cs typeface="Times New Roman"/>
            </a:endParaRPr>
          </a:p>
          <a:p>
            <a:pPr marL="12700">
              <a:lnSpc>
                <a:spcPts val="1125"/>
              </a:lnSpc>
            </a:pPr>
            <a:r>
              <a:rPr dirty="0" sz="1000" spc="-50">
                <a:latin typeface="Times New Roman"/>
                <a:cs typeface="Times New Roman"/>
              </a:rPr>
              <a:t>1</a:t>
            </a:r>
            <a:endParaRPr sz="1000">
              <a:latin typeface="Times New Roman"/>
              <a:cs typeface="Times New Roman"/>
            </a:endParaRPr>
          </a:p>
        </p:txBody>
      </p:sp>
      <p:sp>
        <p:nvSpPr>
          <p:cNvPr id="125" name="object 125" descr=""/>
          <p:cNvSpPr txBox="1"/>
          <p:nvPr/>
        </p:nvSpPr>
        <p:spPr>
          <a:xfrm>
            <a:off x="9957472" y="5184994"/>
            <a:ext cx="144780" cy="181610"/>
          </a:xfrm>
          <a:prstGeom prst="rect">
            <a:avLst/>
          </a:prstGeom>
        </p:spPr>
        <p:txBody>
          <a:bodyPr wrap="square" lIns="0" tIns="15240" rIns="0" bIns="0" rtlCol="0" vert="horz">
            <a:spAutoFit/>
          </a:bodyPr>
          <a:lstStyle/>
          <a:p>
            <a:pPr marL="12700">
              <a:lnSpc>
                <a:spcPct val="100000"/>
              </a:lnSpc>
              <a:spcBef>
                <a:spcPts val="120"/>
              </a:spcBef>
            </a:pPr>
            <a:r>
              <a:rPr dirty="0" sz="1000" spc="-50" b="1">
                <a:latin typeface="宋体"/>
                <a:cs typeface="宋体"/>
              </a:rPr>
              <a:t>保</a:t>
            </a:r>
            <a:endParaRPr sz="1000">
              <a:latin typeface="宋体"/>
              <a:cs typeface="宋体"/>
            </a:endParaRPr>
          </a:p>
        </p:txBody>
      </p:sp>
      <p:sp>
        <p:nvSpPr>
          <p:cNvPr id="126" name="object 126" descr=""/>
          <p:cNvSpPr txBox="1"/>
          <p:nvPr/>
        </p:nvSpPr>
        <p:spPr>
          <a:xfrm>
            <a:off x="9957472" y="5313083"/>
            <a:ext cx="144780" cy="309880"/>
          </a:xfrm>
          <a:prstGeom prst="rect">
            <a:avLst/>
          </a:prstGeom>
        </p:spPr>
        <p:txBody>
          <a:bodyPr wrap="square" lIns="0" tIns="40005" rIns="0" bIns="0" rtlCol="0" vert="horz">
            <a:spAutoFit/>
          </a:bodyPr>
          <a:lstStyle/>
          <a:p>
            <a:pPr marL="12700" marR="5080">
              <a:lnSpc>
                <a:spcPts val="1010"/>
              </a:lnSpc>
              <a:spcBef>
                <a:spcPts val="315"/>
              </a:spcBef>
            </a:pPr>
            <a:r>
              <a:rPr dirty="0" sz="1000" spc="-100" b="1">
                <a:latin typeface="宋体"/>
                <a:cs typeface="宋体"/>
              </a:rPr>
              <a:t>留站</a:t>
            </a:r>
            <a:endParaRPr sz="1000">
              <a:latin typeface="宋体"/>
              <a:cs typeface="宋体"/>
            </a:endParaRPr>
          </a:p>
        </p:txBody>
      </p:sp>
      <p:sp>
        <p:nvSpPr>
          <p:cNvPr id="127" name="object 127" descr=""/>
          <p:cNvSpPr txBox="1"/>
          <p:nvPr/>
        </p:nvSpPr>
        <p:spPr>
          <a:xfrm>
            <a:off x="8643292" y="5669864"/>
            <a:ext cx="267335" cy="181610"/>
          </a:xfrm>
          <a:prstGeom prst="rect">
            <a:avLst/>
          </a:prstGeom>
        </p:spPr>
        <p:txBody>
          <a:bodyPr wrap="square" lIns="0" tIns="15240" rIns="0" bIns="0" rtlCol="0" vert="horz">
            <a:spAutoFit/>
          </a:bodyPr>
          <a:lstStyle/>
          <a:p>
            <a:pPr marL="12700">
              <a:lnSpc>
                <a:spcPct val="100000"/>
              </a:lnSpc>
              <a:spcBef>
                <a:spcPts val="120"/>
              </a:spcBef>
            </a:pPr>
            <a:r>
              <a:rPr dirty="0" sz="1000" spc="-55" b="1">
                <a:latin typeface="宋体"/>
                <a:cs typeface="宋体"/>
              </a:rPr>
              <a:t>标识</a:t>
            </a:r>
            <a:endParaRPr sz="1000">
              <a:latin typeface="宋体"/>
              <a:cs typeface="宋体"/>
            </a:endParaRPr>
          </a:p>
        </p:txBody>
      </p:sp>
      <p:sp>
        <p:nvSpPr>
          <p:cNvPr id="128" name="object 128" descr=""/>
          <p:cNvSpPr txBox="1"/>
          <p:nvPr/>
        </p:nvSpPr>
        <p:spPr>
          <a:xfrm>
            <a:off x="10384805" y="5616302"/>
            <a:ext cx="267335" cy="181610"/>
          </a:xfrm>
          <a:prstGeom prst="rect">
            <a:avLst/>
          </a:prstGeom>
        </p:spPr>
        <p:txBody>
          <a:bodyPr wrap="square" lIns="0" tIns="15240" rIns="0" bIns="0" rtlCol="0" vert="horz">
            <a:spAutoFit/>
          </a:bodyPr>
          <a:lstStyle/>
          <a:p>
            <a:pPr marL="12700">
              <a:lnSpc>
                <a:spcPct val="100000"/>
              </a:lnSpc>
              <a:spcBef>
                <a:spcPts val="120"/>
              </a:spcBef>
            </a:pPr>
            <a:r>
              <a:rPr dirty="0" sz="1000" spc="-55" b="1">
                <a:latin typeface="宋体"/>
                <a:cs typeface="宋体"/>
              </a:rPr>
              <a:t>标识</a:t>
            </a:r>
            <a:endParaRPr sz="1000">
              <a:latin typeface="宋体"/>
              <a:cs typeface="宋体"/>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70/175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8186" y="633309"/>
            <a:ext cx="7493634" cy="1853564"/>
          </a:xfrm>
          <a:prstGeom prst="rect">
            <a:avLst/>
          </a:prstGeom>
        </p:spPr>
        <p:txBody>
          <a:bodyPr wrap="square" lIns="0" tIns="127000" rIns="0" bIns="0" rtlCol="0" vert="horz">
            <a:spAutoFit/>
          </a:bodyPr>
          <a:lstStyle/>
          <a:p>
            <a:pPr marL="984885" indent="-457200">
              <a:lnSpc>
                <a:spcPct val="100000"/>
              </a:lnSpc>
              <a:spcBef>
                <a:spcPts val="1000"/>
              </a:spcBef>
              <a:buSzPct val="89583"/>
              <a:buFont typeface="Wingdings"/>
              <a:buChar char=""/>
              <a:tabLst>
                <a:tab pos="984885" algn="l"/>
              </a:tabLst>
            </a:pPr>
            <a:r>
              <a:rPr dirty="0" sz="2400" spc="-15">
                <a:solidFill>
                  <a:srgbClr val="40458B"/>
                </a:solidFill>
                <a:latin typeface="黑体"/>
                <a:cs typeface="黑体"/>
              </a:rPr>
              <a:t>运算部件</a:t>
            </a:r>
            <a:endParaRPr sz="2400">
              <a:latin typeface="黑体"/>
              <a:cs typeface="黑体"/>
            </a:endParaRPr>
          </a:p>
          <a:p>
            <a:pPr lvl="1" marL="1056640" indent="-457200">
              <a:lnSpc>
                <a:spcPct val="100000"/>
              </a:lnSpc>
              <a:spcBef>
                <a:spcPts val="825"/>
              </a:spcBef>
              <a:buClr>
                <a:srgbClr val="4668F5"/>
              </a:buClr>
              <a:buSzPct val="68181"/>
              <a:buFont typeface="Wingdings"/>
              <a:buChar char=""/>
              <a:tabLst>
                <a:tab pos="1056640" algn="l"/>
              </a:tabLst>
            </a:pPr>
            <a:r>
              <a:rPr dirty="0" sz="2200" spc="-30" b="1">
                <a:solidFill>
                  <a:srgbClr val="9966FF"/>
                </a:solidFill>
                <a:latin typeface="宋体"/>
                <a:cs typeface="宋体"/>
              </a:rPr>
              <a:t>浮点加法器完成加法和减法操作</a:t>
            </a:r>
            <a:endParaRPr sz="2200">
              <a:latin typeface="宋体"/>
              <a:cs typeface="宋体"/>
            </a:endParaRPr>
          </a:p>
          <a:p>
            <a:pPr lvl="1" marL="1056640" indent="-457200">
              <a:lnSpc>
                <a:spcPct val="100000"/>
              </a:lnSpc>
              <a:spcBef>
                <a:spcPts val="795"/>
              </a:spcBef>
              <a:buClr>
                <a:srgbClr val="4668F5"/>
              </a:buClr>
              <a:buSzPct val="68181"/>
              <a:buFont typeface="Wingdings"/>
              <a:buChar char=""/>
              <a:tabLst>
                <a:tab pos="1056640" algn="l"/>
              </a:tabLst>
            </a:pPr>
            <a:r>
              <a:rPr dirty="0" sz="2200" spc="-25" b="1">
                <a:solidFill>
                  <a:srgbClr val="9966FF"/>
                </a:solidFill>
                <a:latin typeface="宋体"/>
                <a:cs typeface="宋体"/>
              </a:rPr>
              <a:t>浮点乘法器完成乘法和除法操作</a:t>
            </a:r>
            <a:endParaRPr sz="2200">
              <a:latin typeface="宋体"/>
              <a:cs typeface="宋体"/>
            </a:endParaRPr>
          </a:p>
          <a:p>
            <a:pPr marL="12700">
              <a:lnSpc>
                <a:spcPct val="100000"/>
              </a:lnSpc>
              <a:spcBef>
                <a:spcPts val="830"/>
              </a:spcBef>
            </a:pPr>
            <a:r>
              <a:rPr dirty="0" sz="2400">
                <a:solidFill>
                  <a:srgbClr val="40458B"/>
                </a:solidFill>
                <a:latin typeface="黑体"/>
                <a:cs typeface="黑体"/>
              </a:rPr>
              <a:t>5.</a:t>
            </a:r>
            <a:r>
              <a:rPr dirty="0" sz="2400" spc="75">
                <a:solidFill>
                  <a:srgbClr val="40458B"/>
                </a:solidFill>
                <a:latin typeface="黑体"/>
                <a:cs typeface="黑体"/>
              </a:rPr>
              <a:t> </a:t>
            </a:r>
            <a:r>
              <a:rPr dirty="0" sz="2400">
                <a:solidFill>
                  <a:srgbClr val="001F5F"/>
                </a:solidFill>
                <a:latin typeface="黑体"/>
                <a:cs typeface="黑体"/>
              </a:rPr>
              <a:t>在</a:t>
            </a:r>
            <a:r>
              <a:rPr dirty="0" sz="2400" spc="-10">
                <a:solidFill>
                  <a:srgbClr val="001F5F"/>
                </a:solidFill>
                <a:latin typeface="黑体"/>
                <a:cs typeface="黑体"/>
              </a:rPr>
              <a:t>Tomasulo</a:t>
            </a:r>
            <a:r>
              <a:rPr dirty="0" sz="2400" spc="-5">
                <a:solidFill>
                  <a:srgbClr val="001F5F"/>
                </a:solidFill>
                <a:latin typeface="黑体"/>
                <a:cs typeface="黑体"/>
              </a:rPr>
              <a:t>算法中，寄存器换名是通过保留站和流出</a:t>
            </a:r>
            <a:endParaRPr sz="2400">
              <a:latin typeface="黑体"/>
              <a:cs typeface="黑体"/>
            </a:endParaRPr>
          </a:p>
        </p:txBody>
      </p:sp>
      <p:sp>
        <p:nvSpPr>
          <p:cNvPr id="11" name="object 11" descr=""/>
          <p:cNvSpPr txBox="1"/>
          <p:nvPr/>
        </p:nvSpPr>
        <p:spPr>
          <a:xfrm>
            <a:off x="439318" y="2387119"/>
            <a:ext cx="7056755" cy="1782445"/>
          </a:xfrm>
          <a:prstGeom prst="rect">
            <a:avLst/>
          </a:prstGeom>
        </p:spPr>
        <p:txBody>
          <a:bodyPr wrap="square" lIns="0" tIns="123190" rIns="0" bIns="0" rtlCol="0" vert="horz">
            <a:spAutoFit/>
          </a:bodyPr>
          <a:lstStyle/>
          <a:p>
            <a:pPr marL="12700">
              <a:lnSpc>
                <a:spcPct val="100000"/>
              </a:lnSpc>
              <a:spcBef>
                <a:spcPts val="970"/>
              </a:spcBef>
            </a:pPr>
            <a:r>
              <a:rPr dirty="0" sz="2400" spc="-15">
                <a:solidFill>
                  <a:srgbClr val="001F5F"/>
                </a:solidFill>
                <a:latin typeface="黑体"/>
                <a:cs typeface="黑体"/>
              </a:rPr>
              <a:t>逻辑来共同完成的。</a:t>
            </a:r>
            <a:endParaRPr sz="2400">
              <a:latin typeface="黑体"/>
              <a:cs typeface="黑体"/>
            </a:endParaRPr>
          </a:p>
          <a:p>
            <a:pPr algn="just" marL="641985" marR="5080" indent="-457200">
              <a:lnSpc>
                <a:spcPct val="110000"/>
              </a:lnSpc>
              <a:spcBef>
                <a:spcPts val="575"/>
              </a:spcBef>
              <a:buSzPct val="89583"/>
              <a:buFont typeface="Wingdings"/>
              <a:buChar char=""/>
              <a:tabLst>
                <a:tab pos="641985" algn="l"/>
              </a:tabLst>
            </a:pPr>
            <a:r>
              <a:rPr dirty="0" sz="2400">
                <a:solidFill>
                  <a:srgbClr val="40458B"/>
                </a:solidFill>
                <a:latin typeface="黑体"/>
                <a:cs typeface="黑体"/>
              </a:rPr>
              <a:t>当指令流出（发射）</a:t>
            </a:r>
            <a:r>
              <a:rPr dirty="0" sz="2400" spc="-5">
                <a:solidFill>
                  <a:srgbClr val="40458B"/>
                </a:solidFill>
                <a:latin typeface="黑体"/>
                <a:cs typeface="黑体"/>
              </a:rPr>
              <a:t>时，如果其操作数还没有计</a:t>
            </a:r>
            <a:r>
              <a:rPr dirty="0" sz="2400">
                <a:solidFill>
                  <a:srgbClr val="40458B"/>
                </a:solidFill>
                <a:latin typeface="黑体"/>
                <a:cs typeface="黑体"/>
              </a:rPr>
              <a:t>算出来，则将该指令中相应的寄存器号</a:t>
            </a:r>
            <a:r>
              <a:rPr dirty="0" sz="2400" spc="-15">
                <a:solidFill>
                  <a:srgbClr val="D50092"/>
                </a:solidFill>
                <a:latin typeface="黑体"/>
                <a:cs typeface="黑体"/>
              </a:rPr>
              <a:t>换名为将</a:t>
            </a:r>
            <a:r>
              <a:rPr dirty="0" sz="2400" spc="-5">
                <a:solidFill>
                  <a:srgbClr val="D50092"/>
                </a:solidFill>
                <a:latin typeface="黑体"/>
                <a:cs typeface="黑体"/>
              </a:rPr>
              <a:t>产生这个操作数的保留站的标识。</a:t>
            </a:r>
            <a:endParaRPr sz="2400">
              <a:latin typeface="黑体"/>
              <a:cs typeface="黑体"/>
            </a:endParaRPr>
          </a:p>
        </p:txBody>
      </p:sp>
      <p:sp>
        <p:nvSpPr>
          <p:cNvPr id="12" name="object 12" descr=""/>
          <p:cNvSpPr txBox="1"/>
          <p:nvPr/>
        </p:nvSpPr>
        <p:spPr>
          <a:xfrm>
            <a:off x="1000150" y="4209669"/>
            <a:ext cx="6466205" cy="930910"/>
          </a:xfrm>
          <a:prstGeom prst="rect">
            <a:avLst/>
          </a:prstGeom>
        </p:spPr>
        <p:txBody>
          <a:bodyPr wrap="square" lIns="0" tIns="12700" rIns="0" bIns="0" rtlCol="0" vert="horz">
            <a:spAutoFit/>
          </a:bodyPr>
          <a:lstStyle/>
          <a:p>
            <a:pPr algn="just" marL="467995" marR="5080" indent="-455930">
              <a:lnSpc>
                <a:spcPct val="110000"/>
              </a:lnSpc>
              <a:spcBef>
                <a:spcPts val="100"/>
              </a:spcBef>
              <a:buClr>
                <a:srgbClr val="9966FF"/>
              </a:buClr>
              <a:buSzPct val="69444"/>
              <a:buFont typeface="Wingdings"/>
              <a:buChar char=""/>
              <a:tabLst>
                <a:tab pos="469265" algn="l"/>
              </a:tabLst>
            </a:pPr>
            <a:r>
              <a:rPr dirty="0" sz="1800" spc="-15" b="1">
                <a:solidFill>
                  <a:srgbClr val="FF09FF"/>
                </a:solidFill>
                <a:latin typeface="宋体"/>
                <a:cs typeface="宋体"/>
              </a:rPr>
              <a:t>指令流出到保留站后，其操作数寄存器号或者换成了数据本</a:t>
            </a:r>
            <a:r>
              <a:rPr dirty="0" sz="1800" spc="-15" b="1">
                <a:solidFill>
                  <a:srgbClr val="FF09FF"/>
                </a:solidFill>
                <a:latin typeface="宋体"/>
                <a:cs typeface="宋体"/>
              </a:rPr>
              <a:t>	</a:t>
            </a:r>
            <a:r>
              <a:rPr dirty="0" sz="1800" spc="-10" b="1">
                <a:solidFill>
                  <a:srgbClr val="FF09FF"/>
                </a:solidFill>
                <a:latin typeface="宋体"/>
                <a:cs typeface="宋体"/>
              </a:rPr>
              <a:t>身（如果该数据已经就绪），或者换成了保留站的标识，</a:t>
            </a:r>
            <a:r>
              <a:rPr dirty="0" sz="1800" spc="-50" b="1">
                <a:solidFill>
                  <a:srgbClr val="D50092"/>
                </a:solidFill>
                <a:latin typeface="宋体"/>
                <a:cs typeface="宋体"/>
              </a:rPr>
              <a:t>不</a:t>
            </a:r>
            <a:r>
              <a:rPr dirty="0" sz="1800" spc="-50" b="1">
                <a:solidFill>
                  <a:srgbClr val="D50092"/>
                </a:solidFill>
                <a:latin typeface="宋体"/>
                <a:cs typeface="宋体"/>
              </a:rPr>
              <a:t>	</a:t>
            </a:r>
            <a:r>
              <a:rPr dirty="0" sz="1800" spc="-10" b="1">
                <a:solidFill>
                  <a:srgbClr val="D50092"/>
                </a:solidFill>
                <a:latin typeface="宋体"/>
                <a:cs typeface="宋体"/>
              </a:rPr>
              <a:t>再与寄存器有关系</a:t>
            </a:r>
            <a:r>
              <a:rPr dirty="0" sz="1800" spc="-10" b="1">
                <a:solidFill>
                  <a:srgbClr val="FF09FF"/>
                </a:solidFill>
                <a:latin typeface="宋体"/>
                <a:cs typeface="宋体"/>
              </a:rPr>
              <a:t>。（避免</a:t>
            </a:r>
            <a:r>
              <a:rPr dirty="0" sz="1800" spc="-10" b="1">
                <a:solidFill>
                  <a:srgbClr val="FF09FF"/>
                </a:solidFill>
                <a:latin typeface="黑体"/>
                <a:cs typeface="黑体"/>
              </a:rPr>
              <a:t>WAR</a:t>
            </a:r>
            <a:r>
              <a:rPr dirty="0" sz="1800" spc="10" b="1">
                <a:solidFill>
                  <a:srgbClr val="FF09FF"/>
                </a:solidFill>
                <a:latin typeface="宋体"/>
                <a:cs typeface="宋体"/>
              </a:rPr>
              <a:t>冲突 </a:t>
            </a:r>
            <a:r>
              <a:rPr dirty="0" sz="1800" spc="-50" b="1">
                <a:solidFill>
                  <a:srgbClr val="FF09FF"/>
                </a:solidFill>
                <a:latin typeface="宋体"/>
                <a:cs typeface="宋体"/>
              </a:rPr>
              <a:t>）</a:t>
            </a:r>
            <a:endParaRPr sz="1800">
              <a:latin typeface="宋体"/>
              <a:cs typeface="宋体"/>
            </a:endParaRPr>
          </a:p>
        </p:txBody>
      </p:sp>
      <p:pic>
        <p:nvPicPr>
          <p:cNvPr id="13" name="object 13" descr=""/>
          <p:cNvPicPr/>
          <p:nvPr/>
        </p:nvPicPr>
        <p:blipFill>
          <a:blip r:embed="rId2" cstate="print"/>
          <a:stretch>
            <a:fillRect/>
          </a:stretch>
        </p:blipFill>
        <p:spPr>
          <a:xfrm>
            <a:off x="4943475" y="888936"/>
            <a:ext cx="2952750" cy="836612"/>
          </a:xfrm>
          <a:prstGeom prst="rect">
            <a:avLst/>
          </a:prstGeom>
        </p:spPr>
      </p:pic>
      <p:sp>
        <p:nvSpPr>
          <p:cNvPr id="14" name="object 14" descr=""/>
          <p:cNvSpPr/>
          <p:nvPr/>
        </p:nvSpPr>
        <p:spPr>
          <a:xfrm>
            <a:off x="7704201" y="3471798"/>
            <a:ext cx="4105275" cy="1660525"/>
          </a:xfrm>
          <a:custGeom>
            <a:avLst/>
            <a:gdLst/>
            <a:ahLst/>
            <a:cxnLst/>
            <a:rect l="l" t="t" r="r" b="b"/>
            <a:pathLst>
              <a:path w="4105275" h="1660525">
                <a:moveTo>
                  <a:pt x="0" y="1660525"/>
                </a:moveTo>
                <a:lnTo>
                  <a:pt x="4105275" y="1660525"/>
                </a:lnTo>
                <a:lnTo>
                  <a:pt x="4105275" y="0"/>
                </a:lnTo>
                <a:lnTo>
                  <a:pt x="0" y="0"/>
                </a:lnTo>
                <a:lnTo>
                  <a:pt x="0" y="1660525"/>
                </a:lnTo>
                <a:close/>
              </a:path>
            </a:pathLst>
          </a:custGeom>
          <a:ln w="9525">
            <a:solidFill>
              <a:srgbClr val="E14B04"/>
            </a:solidFill>
          </a:ln>
        </p:spPr>
        <p:txBody>
          <a:bodyPr wrap="square" lIns="0" tIns="0" rIns="0" bIns="0" rtlCol="0"/>
          <a:lstStyle/>
          <a:p/>
        </p:txBody>
      </p:sp>
      <p:sp>
        <p:nvSpPr>
          <p:cNvPr id="15" name="object 15" descr=""/>
          <p:cNvSpPr txBox="1"/>
          <p:nvPr/>
        </p:nvSpPr>
        <p:spPr>
          <a:xfrm>
            <a:off x="8413242" y="3530345"/>
            <a:ext cx="2007235" cy="391160"/>
          </a:xfrm>
          <a:prstGeom prst="rect">
            <a:avLst/>
          </a:prstGeom>
        </p:spPr>
        <p:txBody>
          <a:bodyPr wrap="square" lIns="0" tIns="12700" rIns="0" bIns="0" rtlCol="0" vert="horz">
            <a:spAutoFit/>
          </a:bodyPr>
          <a:lstStyle/>
          <a:p>
            <a:pPr marL="469900" indent="-457200">
              <a:lnSpc>
                <a:spcPct val="100000"/>
              </a:lnSpc>
              <a:spcBef>
                <a:spcPts val="100"/>
              </a:spcBef>
              <a:buSzPct val="89583"/>
              <a:buFont typeface="Wingdings"/>
              <a:buChar char=""/>
              <a:tabLst>
                <a:tab pos="469900" algn="l"/>
              </a:tabLst>
            </a:pPr>
            <a:r>
              <a:rPr dirty="0" sz="2400" spc="-10">
                <a:solidFill>
                  <a:srgbClr val="40458B"/>
                </a:solidFill>
                <a:latin typeface="黑体"/>
                <a:cs typeface="黑体"/>
              </a:rPr>
              <a:t>消除名相关</a:t>
            </a:r>
            <a:endParaRPr sz="2400">
              <a:latin typeface="黑体"/>
              <a:cs typeface="黑体"/>
            </a:endParaRPr>
          </a:p>
        </p:txBody>
      </p:sp>
      <p:sp>
        <p:nvSpPr>
          <p:cNvPr id="16" name="object 16" descr=""/>
          <p:cNvSpPr txBox="1"/>
          <p:nvPr/>
        </p:nvSpPr>
        <p:spPr>
          <a:xfrm>
            <a:off x="8370569" y="3900068"/>
            <a:ext cx="734060" cy="964565"/>
          </a:xfrm>
          <a:prstGeom prst="rect">
            <a:avLst/>
          </a:prstGeom>
        </p:spPr>
        <p:txBody>
          <a:bodyPr wrap="square" lIns="0" tIns="12700" rIns="0" bIns="0" rtlCol="0" vert="horz">
            <a:spAutoFit/>
          </a:bodyPr>
          <a:lstStyle/>
          <a:p>
            <a:pPr marL="12700" marR="5080">
              <a:lnSpc>
                <a:spcPct val="140000"/>
              </a:lnSpc>
              <a:spcBef>
                <a:spcPts val="100"/>
              </a:spcBef>
            </a:pPr>
            <a:r>
              <a:rPr dirty="0" sz="2200" spc="-10" b="1">
                <a:solidFill>
                  <a:srgbClr val="9966FF"/>
                </a:solidFill>
                <a:latin typeface="宋体"/>
                <a:cs typeface="宋体"/>
              </a:rPr>
              <a:t>MUL.D ADD.D</a:t>
            </a:r>
            <a:endParaRPr sz="2200">
              <a:latin typeface="宋体"/>
              <a:cs typeface="宋体"/>
            </a:endParaRPr>
          </a:p>
        </p:txBody>
      </p:sp>
      <p:sp>
        <p:nvSpPr>
          <p:cNvPr id="17" name="object 17" descr=""/>
          <p:cNvSpPr txBox="1"/>
          <p:nvPr/>
        </p:nvSpPr>
        <p:spPr>
          <a:xfrm>
            <a:off x="9612883" y="3900068"/>
            <a:ext cx="1721485" cy="964565"/>
          </a:xfrm>
          <a:prstGeom prst="rect">
            <a:avLst/>
          </a:prstGeom>
        </p:spPr>
        <p:txBody>
          <a:bodyPr wrap="square" lIns="0" tIns="12700" rIns="0" bIns="0" rtlCol="0" vert="horz">
            <a:spAutoFit/>
          </a:bodyPr>
          <a:lstStyle/>
          <a:p>
            <a:pPr marL="41275" marR="5080" indent="-29209">
              <a:lnSpc>
                <a:spcPct val="140000"/>
              </a:lnSpc>
              <a:spcBef>
                <a:spcPts val="100"/>
              </a:spcBef>
            </a:pPr>
            <a:r>
              <a:rPr dirty="0" sz="2200" spc="-10" b="1">
                <a:solidFill>
                  <a:srgbClr val="9966FF"/>
                </a:solidFill>
                <a:latin typeface="宋体"/>
                <a:cs typeface="宋体"/>
              </a:rPr>
              <a:t>F12，</a:t>
            </a:r>
            <a:r>
              <a:rPr dirty="0" sz="2200" spc="-10" b="1">
                <a:solidFill>
                  <a:srgbClr val="FF0000"/>
                </a:solidFill>
                <a:latin typeface="宋体"/>
                <a:cs typeface="宋体"/>
              </a:rPr>
              <a:t>F3</a:t>
            </a:r>
            <a:r>
              <a:rPr dirty="0" sz="2200" spc="-10" b="1">
                <a:solidFill>
                  <a:srgbClr val="9966FF"/>
                </a:solidFill>
                <a:latin typeface="宋体"/>
                <a:cs typeface="宋体"/>
              </a:rPr>
              <a:t>，F14 </a:t>
            </a:r>
            <a:r>
              <a:rPr dirty="0" sz="2200" b="1">
                <a:solidFill>
                  <a:srgbClr val="FF0000"/>
                </a:solidFill>
                <a:latin typeface="宋体"/>
                <a:cs typeface="宋体"/>
              </a:rPr>
              <a:t>F3</a:t>
            </a:r>
            <a:r>
              <a:rPr dirty="0" sz="2200" b="1">
                <a:solidFill>
                  <a:srgbClr val="9966FF"/>
                </a:solidFill>
                <a:latin typeface="宋体"/>
                <a:cs typeface="宋体"/>
              </a:rPr>
              <a:t>,</a:t>
            </a:r>
            <a:r>
              <a:rPr dirty="0" sz="2200" spc="-35" b="1">
                <a:solidFill>
                  <a:srgbClr val="9966FF"/>
                </a:solidFill>
                <a:latin typeface="宋体"/>
                <a:cs typeface="宋体"/>
              </a:rPr>
              <a:t> </a:t>
            </a:r>
            <a:r>
              <a:rPr dirty="0" sz="2200" b="1">
                <a:solidFill>
                  <a:srgbClr val="9966FF"/>
                </a:solidFill>
                <a:latin typeface="宋体"/>
                <a:cs typeface="宋体"/>
              </a:rPr>
              <a:t>F2,</a:t>
            </a:r>
            <a:r>
              <a:rPr dirty="0" sz="2200" spc="-35" b="1">
                <a:solidFill>
                  <a:srgbClr val="9966FF"/>
                </a:solidFill>
                <a:latin typeface="宋体"/>
                <a:cs typeface="宋体"/>
              </a:rPr>
              <a:t> </a:t>
            </a:r>
            <a:r>
              <a:rPr dirty="0" sz="2200" spc="-25" b="1">
                <a:solidFill>
                  <a:srgbClr val="9966FF"/>
                </a:solidFill>
                <a:latin typeface="宋体"/>
                <a:cs typeface="宋体"/>
              </a:rPr>
              <a:t>F5</a:t>
            </a:r>
            <a:endParaRPr sz="2200">
              <a:latin typeface="宋体"/>
              <a:cs typeface="宋体"/>
            </a:endParaRPr>
          </a:p>
        </p:txBody>
      </p:sp>
      <p:grpSp>
        <p:nvGrpSpPr>
          <p:cNvPr id="18" name="object 18" descr=""/>
          <p:cNvGrpSpPr/>
          <p:nvPr/>
        </p:nvGrpSpPr>
        <p:grpSpPr>
          <a:xfrm>
            <a:off x="3814762" y="4786185"/>
            <a:ext cx="8277225" cy="1607185"/>
            <a:chOff x="3814762" y="4786185"/>
            <a:chExt cx="8277225" cy="1607185"/>
          </a:xfrm>
        </p:grpSpPr>
        <p:sp>
          <p:nvSpPr>
            <p:cNvPr id="19" name="object 19" descr=""/>
            <p:cNvSpPr/>
            <p:nvPr/>
          </p:nvSpPr>
          <p:spPr>
            <a:xfrm>
              <a:off x="3819525" y="4790947"/>
              <a:ext cx="8267700" cy="1597660"/>
            </a:xfrm>
            <a:custGeom>
              <a:avLst/>
              <a:gdLst/>
              <a:ahLst/>
              <a:cxnLst/>
              <a:rect l="l" t="t" r="r" b="b"/>
              <a:pathLst>
                <a:path w="8267700" h="1597660">
                  <a:moveTo>
                    <a:pt x="8178800" y="1063752"/>
                  </a:moveTo>
                  <a:lnTo>
                    <a:pt x="88900" y="1063752"/>
                  </a:lnTo>
                  <a:lnTo>
                    <a:pt x="54274" y="1070738"/>
                  </a:lnTo>
                  <a:lnTo>
                    <a:pt x="26019" y="1089790"/>
                  </a:lnTo>
                  <a:lnTo>
                    <a:pt x="6979" y="1118048"/>
                  </a:lnTo>
                  <a:lnTo>
                    <a:pt x="0" y="1152652"/>
                  </a:lnTo>
                  <a:lnTo>
                    <a:pt x="0" y="1508252"/>
                  </a:lnTo>
                  <a:lnTo>
                    <a:pt x="6979" y="1542855"/>
                  </a:lnTo>
                  <a:lnTo>
                    <a:pt x="26019" y="1571113"/>
                  </a:lnTo>
                  <a:lnTo>
                    <a:pt x="54274" y="1590165"/>
                  </a:lnTo>
                  <a:lnTo>
                    <a:pt x="88900" y="1597152"/>
                  </a:lnTo>
                  <a:lnTo>
                    <a:pt x="8178800" y="1597152"/>
                  </a:lnTo>
                  <a:lnTo>
                    <a:pt x="8213425" y="1590165"/>
                  </a:lnTo>
                  <a:lnTo>
                    <a:pt x="8241680" y="1571113"/>
                  </a:lnTo>
                  <a:lnTo>
                    <a:pt x="8260720" y="1542855"/>
                  </a:lnTo>
                  <a:lnTo>
                    <a:pt x="8267700" y="1508252"/>
                  </a:lnTo>
                  <a:lnTo>
                    <a:pt x="8267700" y="1152652"/>
                  </a:lnTo>
                  <a:lnTo>
                    <a:pt x="8260720" y="1118048"/>
                  </a:lnTo>
                  <a:lnTo>
                    <a:pt x="8241680" y="1089790"/>
                  </a:lnTo>
                  <a:lnTo>
                    <a:pt x="8213425" y="1070738"/>
                  </a:lnTo>
                  <a:lnTo>
                    <a:pt x="8178800" y="1063752"/>
                  </a:lnTo>
                  <a:close/>
                </a:path>
                <a:path w="8267700" h="1597660">
                  <a:moveTo>
                    <a:pt x="6029959" y="0"/>
                  </a:moveTo>
                  <a:lnTo>
                    <a:pt x="4822825" y="1063752"/>
                  </a:lnTo>
                  <a:lnTo>
                    <a:pt x="6889750" y="1063752"/>
                  </a:lnTo>
                  <a:lnTo>
                    <a:pt x="6029959" y="0"/>
                  </a:lnTo>
                  <a:close/>
                </a:path>
              </a:pathLst>
            </a:custGeom>
            <a:solidFill>
              <a:srgbClr val="FAF7E6"/>
            </a:solidFill>
          </p:spPr>
          <p:txBody>
            <a:bodyPr wrap="square" lIns="0" tIns="0" rIns="0" bIns="0" rtlCol="0"/>
            <a:lstStyle/>
            <a:p/>
          </p:txBody>
        </p:sp>
        <p:sp>
          <p:nvSpPr>
            <p:cNvPr id="20" name="object 20" descr=""/>
            <p:cNvSpPr/>
            <p:nvPr/>
          </p:nvSpPr>
          <p:spPr>
            <a:xfrm>
              <a:off x="3819525" y="4790947"/>
              <a:ext cx="8267700" cy="1597660"/>
            </a:xfrm>
            <a:custGeom>
              <a:avLst/>
              <a:gdLst/>
              <a:ahLst/>
              <a:cxnLst/>
              <a:rect l="l" t="t" r="r" b="b"/>
              <a:pathLst>
                <a:path w="8267700" h="1597660">
                  <a:moveTo>
                    <a:pt x="0" y="1152652"/>
                  </a:moveTo>
                  <a:lnTo>
                    <a:pt x="6979" y="1118048"/>
                  </a:lnTo>
                  <a:lnTo>
                    <a:pt x="26019" y="1089790"/>
                  </a:lnTo>
                  <a:lnTo>
                    <a:pt x="54274" y="1070738"/>
                  </a:lnTo>
                  <a:lnTo>
                    <a:pt x="88900" y="1063752"/>
                  </a:lnTo>
                  <a:lnTo>
                    <a:pt x="4822825" y="1063752"/>
                  </a:lnTo>
                  <a:lnTo>
                    <a:pt x="6029959" y="0"/>
                  </a:lnTo>
                  <a:lnTo>
                    <a:pt x="6889750" y="1063752"/>
                  </a:lnTo>
                  <a:lnTo>
                    <a:pt x="8178800" y="1063752"/>
                  </a:lnTo>
                  <a:lnTo>
                    <a:pt x="8213425" y="1070738"/>
                  </a:lnTo>
                  <a:lnTo>
                    <a:pt x="8241680" y="1089790"/>
                  </a:lnTo>
                  <a:lnTo>
                    <a:pt x="8260720" y="1118048"/>
                  </a:lnTo>
                  <a:lnTo>
                    <a:pt x="8267700" y="1152652"/>
                  </a:lnTo>
                  <a:lnTo>
                    <a:pt x="8267700" y="1286002"/>
                  </a:lnTo>
                  <a:lnTo>
                    <a:pt x="8267700" y="1508252"/>
                  </a:lnTo>
                  <a:lnTo>
                    <a:pt x="8260720" y="1542855"/>
                  </a:lnTo>
                  <a:lnTo>
                    <a:pt x="8241680" y="1571113"/>
                  </a:lnTo>
                  <a:lnTo>
                    <a:pt x="8213425" y="1590165"/>
                  </a:lnTo>
                  <a:lnTo>
                    <a:pt x="8178800" y="1597152"/>
                  </a:lnTo>
                  <a:lnTo>
                    <a:pt x="6889750" y="1597152"/>
                  </a:lnTo>
                  <a:lnTo>
                    <a:pt x="4822825" y="1597152"/>
                  </a:lnTo>
                  <a:lnTo>
                    <a:pt x="88900" y="1597152"/>
                  </a:lnTo>
                  <a:lnTo>
                    <a:pt x="54274" y="1590165"/>
                  </a:lnTo>
                  <a:lnTo>
                    <a:pt x="26019" y="1571113"/>
                  </a:lnTo>
                  <a:lnTo>
                    <a:pt x="6979" y="1542855"/>
                  </a:lnTo>
                  <a:lnTo>
                    <a:pt x="0" y="1508252"/>
                  </a:lnTo>
                  <a:lnTo>
                    <a:pt x="0" y="1286002"/>
                  </a:lnTo>
                  <a:lnTo>
                    <a:pt x="0" y="1152652"/>
                  </a:lnTo>
                  <a:close/>
                </a:path>
              </a:pathLst>
            </a:custGeom>
            <a:ln w="9525">
              <a:solidFill>
                <a:srgbClr val="40458B"/>
              </a:solidFill>
            </a:ln>
          </p:spPr>
          <p:txBody>
            <a:bodyPr wrap="square" lIns="0" tIns="0" rIns="0" bIns="0" rtlCol="0"/>
            <a:lstStyle/>
            <a:p/>
          </p:txBody>
        </p:sp>
      </p:grpSp>
      <p:sp>
        <p:nvSpPr>
          <p:cNvPr id="21" name="object 21" descr=""/>
          <p:cNvSpPr txBox="1"/>
          <p:nvPr/>
        </p:nvSpPr>
        <p:spPr>
          <a:xfrm>
            <a:off x="3924680" y="5915050"/>
            <a:ext cx="8197850" cy="513080"/>
          </a:xfrm>
          <a:prstGeom prst="rect">
            <a:avLst/>
          </a:prstGeom>
        </p:spPr>
        <p:txBody>
          <a:bodyPr wrap="square" lIns="0" tIns="12065" rIns="0" bIns="0" rtlCol="0" vert="horz">
            <a:spAutoFit/>
          </a:bodyPr>
          <a:lstStyle/>
          <a:p>
            <a:pPr marL="12700">
              <a:lnSpc>
                <a:spcPct val="100000"/>
              </a:lnSpc>
              <a:spcBef>
                <a:spcPts val="95"/>
              </a:spcBef>
            </a:pPr>
            <a:r>
              <a:rPr dirty="0" sz="1600" spc="-25">
                <a:solidFill>
                  <a:srgbClr val="40458B"/>
                </a:solidFill>
                <a:latin typeface="黑体"/>
                <a:cs typeface="黑体"/>
              </a:rPr>
              <a:t>查寄存器中的预约单，将换名信息存放于保留站中</a:t>
            </a:r>
            <a:r>
              <a:rPr dirty="0" sz="1600" spc="-20">
                <a:solidFill>
                  <a:srgbClr val="40458B"/>
                </a:solidFill>
                <a:latin typeface="Tahoma"/>
                <a:cs typeface="Tahoma"/>
              </a:rPr>
              <a:t>,ADD</a:t>
            </a:r>
            <a:r>
              <a:rPr dirty="0" sz="1600" spc="-15">
                <a:solidFill>
                  <a:srgbClr val="40458B"/>
                </a:solidFill>
                <a:latin typeface="黑体"/>
                <a:cs typeface="黑体"/>
              </a:rPr>
              <a:t>指令相对于</a:t>
            </a:r>
            <a:r>
              <a:rPr dirty="0" sz="1600" spc="-25">
                <a:solidFill>
                  <a:srgbClr val="40458B"/>
                </a:solidFill>
                <a:latin typeface="Tahoma"/>
                <a:cs typeface="Tahoma"/>
              </a:rPr>
              <a:t>MUL</a:t>
            </a:r>
            <a:r>
              <a:rPr dirty="0" sz="1600" spc="-30">
                <a:solidFill>
                  <a:srgbClr val="40458B"/>
                </a:solidFill>
                <a:latin typeface="黑体"/>
                <a:cs typeface="黑体"/>
              </a:rPr>
              <a:t>指令简单，可能先于</a:t>
            </a:r>
            <a:endParaRPr sz="1600">
              <a:latin typeface="黑体"/>
              <a:cs typeface="黑体"/>
            </a:endParaRPr>
          </a:p>
          <a:p>
            <a:pPr marL="12700">
              <a:lnSpc>
                <a:spcPct val="100000"/>
              </a:lnSpc>
            </a:pPr>
            <a:r>
              <a:rPr dirty="0" sz="1600" spc="-25">
                <a:solidFill>
                  <a:srgbClr val="40458B"/>
                </a:solidFill>
                <a:latin typeface="Tahoma"/>
                <a:cs typeface="Tahoma"/>
              </a:rPr>
              <a:t>MUL</a:t>
            </a:r>
            <a:r>
              <a:rPr dirty="0" sz="1600" spc="-15">
                <a:solidFill>
                  <a:srgbClr val="40458B"/>
                </a:solidFill>
                <a:latin typeface="黑体"/>
                <a:cs typeface="黑体"/>
              </a:rPr>
              <a:t>执行将结果写入</a:t>
            </a:r>
            <a:r>
              <a:rPr dirty="0" sz="1600" spc="-10">
                <a:solidFill>
                  <a:srgbClr val="40458B"/>
                </a:solidFill>
                <a:latin typeface="Tahoma"/>
                <a:cs typeface="Tahoma"/>
              </a:rPr>
              <a:t>F3</a:t>
            </a:r>
            <a:r>
              <a:rPr dirty="0" sz="1600" spc="-10">
                <a:solidFill>
                  <a:srgbClr val="40458B"/>
                </a:solidFill>
                <a:latin typeface="黑体"/>
                <a:cs typeface="黑体"/>
              </a:rPr>
              <a:t>，而</a:t>
            </a:r>
            <a:r>
              <a:rPr dirty="0" sz="1600" spc="-25">
                <a:solidFill>
                  <a:srgbClr val="40458B"/>
                </a:solidFill>
                <a:latin typeface="Tahoma"/>
                <a:cs typeface="Tahoma"/>
              </a:rPr>
              <a:t>MUL</a:t>
            </a:r>
            <a:r>
              <a:rPr dirty="0" sz="1600" spc="-10">
                <a:solidFill>
                  <a:srgbClr val="40458B"/>
                </a:solidFill>
                <a:latin typeface="黑体"/>
                <a:cs typeface="黑体"/>
              </a:rPr>
              <a:t>中</a:t>
            </a:r>
            <a:r>
              <a:rPr dirty="0" sz="1600" spc="-20">
                <a:solidFill>
                  <a:srgbClr val="40458B"/>
                </a:solidFill>
                <a:latin typeface="Tahoma"/>
                <a:cs typeface="Tahoma"/>
              </a:rPr>
              <a:t>F3</a:t>
            </a:r>
            <a:r>
              <a:rPr dirty="0" sz="1600" spc="-30">
                <a:solidFill>
                  <a:srgbClr val="40458B"/>
                </a:solidFill>
                <a:latin typeface="黑体"/>
                <a:cs typeface="黑体"/>
              </a:rPr>
              <a:t>通过换名不会读错，见后面流程</a:t>
            </a:r>
            <a:endParaRPr sz="1600">
              <a:latin typeface="黑体"/>
              <a:cs typeface="黑体"/>
            </a:endParaRPr>
          </a:p>
        </p:txBody>
      </p:sp>
      <p:grpSp>
        <p:nvGrpSpPr>
          <p:cNvPr id="22" name="object 22" descr=""/>
          <p:cNvGrpSpPr/>
          <p:nvPr/>
        </p:nvGrpSpPr>
        <p:grpSpPr>
          <a:xfrm>
            <a:off x="8055674" y="908050"/>
            <a:ext cx="4016375" cy="2660650"/>
            <a:chOff x="8055674" y="908050"/>
            <a:chExt cx="4016375" cy="2660650"/>
          </a:xfrm>
        </p:grpSpPr>
        <p:pic>
          <p:nvPicPr>
            <p:cNvPr id="23" name="object 23" descr=""/>
            <p:cNvPicPr/>
            <p:nvPr/>
          </p:nvPicPr>
          <p:blipFill>
            <a:blip r:embed="rId3" cstate="print"/>
            <a:stretch>
              <a:fillRect/>
            </a:stretch>
          </p:blipFill>
          <p:spPr>
            <a:xfrm>
              <a:off x="8055674" y="908050"/>
              <a:ext cx="4016029" cy="1790700"/>
            </a:xfrm>
            <a:prstGeom prst="rect">
              <a:avLst/>
            </a:prstGeom>
          </p:spPr>
        </p:pic>
        <p:sp>
          <p:nvSpPr>
            <p:cNvPr id="24" name="object 24" descr=""/>
            <p:cNvSpPr/>
            <p:nvPr/>
          </p:nvSpPr>
          <p:spPr>
            <a:xfrm>
              <a:off x="9818750" y="2711450"/>
              <a:ext cx="433705" cy="852805"/>
            </a:xfrm>
            <a:custGeom>
              <a:avLst/>
              <a:gdLst/>
              <a:ahLst/>
              <a:cxnLst/>
              <a:rect l="l" t="t" r="r" b="b"/>
              <a:pathLst>
                <a:path w="433704" h="852804">
                  <a:moveTo>
                    <a:pt x="216662" y="0"/>
                  </a:moveTo>
                  <a:lnTo>
                    <a:pt x="0" y="216153"/>
                  </a:lnTo>
                  <a:lnTo>
                    <a:pt x="108330" y="216153"/>
                  </a:lnTo>
                  <a:lnTo>
                    <a:pt x="108330" y="852424"/>
                  </a:lnTo>
                  <a:lnTo>
                    <a:pt x="324993" y="852424"/>
                  </a:lnTo>
                  <a:lnTo>
                    <a:pt x="324993" y="216153"/>
                  </a:lnTo>
                  <a:lnTo>
                    <a:pt x="433324" y="216153"/>
                  </a:lnTo>
                  <a:lnTo>
                    <a:pt x="216662" y="0"/>
                  </a:lnTo>
                  <a:close/>
                </a:path>
              </a:pathLst>
            </a:custGeom>
            <a:solidFill>
              <a:srgbClr val="EBD782"/>
            </a:solidFill>
          </p:spPr>
          <p:txBody>
            <a:bodyPr wrap="square" lIns="0" tIns="0" rIns="0" bIns="0" rtlCol="0"/>
            <a:lstStyle/>
            <a:p/>
          </p:txBody>
        </p:sp>
        <p:sp>
          <p:nvSpPr>
            <p:cNvPr id="25" name="object 25" descr=""/>
            <p:cNvSpPr/>
            <p:nvPr/>
          </p:nvSpPr>
          <p:spPr>
            <a:xfrm>
              <a:off x="9818750" y="2711450"/>
              <a:ext cx="433705" cy="852805"/>
            </a:xfrm>
            <a:custGeom>
              <a:avLst/>
              <a:gdLst/>
              <a:ahLst/>
              <a:cxnLst/>
              <a:rect l="l" t="t" r="r" b="b"/>
              <a:pathLst>
                <a:path w="433704" h="852804">
                  <a:moveTo>
                    <a:pt x="108330" y="852424"/>
                  </a:moveTo>
                  <a:lnTo>
                    <a:pt x="108330" y="216153"/>
                  </a:lnTo>
                  <a:lnTo>
                    <a:pt x="0" y="216153"/>
                  </a:lnTo>
                  <a:lnTo>
                    <a:pt x="216662" y="0"/>
                  </a:lnTo>
                  <a:lnTo>
                    <a:pt x="433324" y="216153"/>
                  </a:lnTo>
                  <a:lnTo>
                    <a:pt x="324993" y="216153"/>
                  </a:lnTo>
                  <a:lnTo>
                    <a:pt x="324993" y="852424"/>
                  </a:lnTo>
                  <a:lnTo>
                    <a:pt x="108330" y="852424"/>
                  </a:lnTo>
                  <a:close/>
                </a:path>
              </a:pathLst>
            </a:custGeom>
            <a:ln w="9524">
              <a:solidFill>
                <a:srgbClr val="40458B"/>
              </a:solidFill>
            </a:ln>
          </p:spPr>
          <p:txBody>
            <a:bodyPr wrap="square" lIns="0" tIns="0" rIns="0" bIns="0" rtlCol="0"/>
            <a:lstStyle/>
            <a:p/>
          </p:txBody>
        </p:sp>
      </p:grpSp>
      <p:sp>
        <p:nvSpPr>
          <p:cNvPr id="26" name="object 26" descr=""/>
          <p:cNvSpPr txBox="1"/>
          <p:nvPr/>
        </p:nvSpPr>
        <p:spPr>
          <a:xfrm>
            <a:off x="10346181" y="2862452"/>
            <a:ext cx="1805939" cy="448309"/>
          </a:xfrm>
          <a:prstGeom prst="rect">
            <a:avLst/>
          </a:prstGeom>
        </p:spPr>
        <p:txBody>
          <a:bodyPr wrap="square" lIns="0" tIns="24130" rIns="0" bIns="0" rtlCol="0" vert="horz">
            <a:spAutoFit/>
          </a:bodyPr>
          <a:lstStyle/>
          <a:p>
            <a:pPr marL="12700" marR="5080">
              <a:lnSpc>
                <a:spcPts val="1639"/>
              </a:lnSpc>
              <a:spcBef>
                <a:spcPts val="190"/>
              </a:spcBef>
            </a:pPr>
            <a:r>
              <a:rPr dirty="0" sz="1400" spc="-15">
                <a:solidFill>
                  <a:srgbClr val="40458B"/>
                </a:solidFill>
                <a:latin typeface="黑体"/>
                <a:cs typeface="黑体"/>
              </a:rPr>
              <a:t>冲突过程联系上图，动态调度后解决其冲突</a:t>
            </a:r>
            <a:endParaRPr sz="1400">
              <a:latin typeface="黑体"/>
              <a:cs typeface="黑体"/>
            </a:endParaRPr>
          </a:p>
        </p:txBody>
      </p:sp>
      <p:graphicFrame>
        <p:nvGraphicFramePr>
          <p:cNvPr id="27" name="object 27" descr=""/>
          <p:cNvGraphicFramePr>
            <a:graphicFrameLocks noGrp="1"/>
          </p:cNvGraphicFramePr>
          <p:nvPr/>
        </p:nvGraphicFramePr>
        <p:xfrm>
          <a:off x="1141412" y="5289550"/>
          <a:ext cx="6450330" cy="371475"/>
        </p:xfrm>
        <a:graphic>
          <a:graphicData uri="http://schemas.openxmlformats.org/drawingml/2006/table">
            <a:tbl>
              <a:tblPr firstRow="1" bandRow="1">
                <a:tableStyleId>{2D5ABB26-0587-4C30-8999-92F81FD0307C}</a:tableStyleId>
              </a:tblPr>
              <a:tblGrid>
                <a:gridCol w="786130"/>
                <a:gridCol w="864234"/>
                <a:gridCol w="1224280"/>
                <a:gridCol w="1289684"/>
                <a:gridCol w="732789"/>
                <a:gridCol w="732789"/>
                <a:gridCol w="732789"/>
              </a:tblGrid>
              <a:tr h="371475">
                <a:tc>
                  <a:txBody>
                    <a:bodyPr/>
                    <a:lstStyle/>
                    <a:p>
                      <a:pPr marL="91440">
                        <a:lnSpc>
                          <a:spcPct val="100000"/>
                        </a:lnSpc>
                        <a:spcBef>
                          <a:spcPts val="355"/>
                        </a:spcBef>
                      </a:pPr>
                      <a:r>
                        <a:rPr dirty="0" sz="1800" spc="-20" b="1">
                          <a:solidFill>
                            <a:srgbClr val="FF0000"/>
                          </a:solidFill>
                          <a:latin typeface="Tahoma"/>
                          <a:cs typeface="Tahoma"/>
                        </a:rPr>
                        <a:t>Busy</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1440">
                        <a:lnSpc>
                          <a:spcPct val="100000"/>
                        </a:lnSpc>
                        <a:spcBef>
                          <a:spcPts val="355"/>
                        </a:spcBef>
                      </a:pPr>
                      <a:r>
                        <a:rPr dirty="0" sz="1800" spc="-25" b="1">
                          <a:solidFill>
                            <a:srgbClr val="FF0000"/>
                          </a:solidFill>
                          <a:latin typeface="Tahoma"/>
                          <a:cs typeface="Tahoma"/>
                        </a:rPr>
                        <a:t>Op</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1440">
                        <a:lnSpc>
                          <a:spcPct val="100000"/>
                        </a:lnSpc>
                        <a:spcBef>
                          <a:spcPts val="370"/>
                        </a:spcBef>
                      </a:pPr>
                      <a:r>
                        <a:rPr dirty="0" sz="1800" spc="-10" b="1">
                          <a:solidFill>
                            <a:srgbClr val="FF0000"/>
                          </a:solidFill>
                          <a:latin typeface="黑体"/>
                          <a:cs typeface="黑体"/>
                        </a:rPr>
                        <a:t>操作数</a:t>
                      </a:r>
                      <a:r>
                        <a:rPr dirty="0" sz="1800" spc="-35" b="1">
                          <a:solidFill>
                            <a:srgbClr val="FF0000"/>
                          </a:solidFill>
                          <a:latin typeface="Tahoma"/>
                          <a:cs typeface="Tahoma"/>
                        </a:rPr>
                        <a:t>Vj</a:t>
                      </a:r>
                      <a:endParaRPr sz="1800">
                        <a:latin typeface="Tahoma"/>
                        <a:cs typeface="Tahoma"/>
                      </a:endParaRPr>
                    </a:p>
                  </a:txBody>
                  <a:tcPr marL="0" marR="0" marB="0" marT="469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70"/>
                        </a:spcBef>
                      </a:pPr>
                      <a:r>
                        <a:rPr dirty="0" sz="1800" spc="-10" b="1">
                          <a:solidFill>
                            <a:srgbClr val="001F5F"/>
                          </a:solidFill>
                          <a:latin typeface="黑体"/>
                          <a:cs typeface="黑体"/>
                        </a:rPr>
                        <a:t>保留站</a:t>
                      </a:r>
                      <a:r>
                        <a:rPr dirty="0" sz="1800" spc="-60" b="1">
                          <a:solidFill>
                            <a:srgbClr val="001F5F"/>
                          </a:solidFill>
                          <a:latin typeface="Tahoma"/>
                          <a:cs typeface="Tahoma"/>
                        </a:rPr>
                        <a:t>x</a:t>
                      </a:r>
                      <a:endParaRPr sz="1800">
                        <a:latin typeface="Tahoma"/>
                        <a:cs typeface="Tahoma"/>
                      </a:endParaRPr>
                    </a:p>
                  </a:txBody>
                  <a:tcPr marL="0" marR="0" marB="0" marT="469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55"/>
                        </a:spcBef>
                      </a:pPr>
                      <a:r>
                        <a:rPr dirty="0" sz="1800" spc="-25" b="1">
                          <a:solidFill>
                            <a:srgbClr val="FF0000"/>
                          </a:solidFill>
                          <a:latin typeface="Tahoma"/>
                          <a:cs typeface="Tahoma"/>
                        </a:rPr>
                        <a:t>Qj</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55"/>
                        </a:spcBef>
                      </a:pPr>
                      <a:r>
                        <a:rPr dirty="0" sz="1800" spc="-25" b="1">
                          <a:solidFill>
                            <a:srgbClr val="FF0000"/>
                          </a:solidFill>
                          <a:latin typeface="Tahoma"/>
                          <a:cs typeface="Tahoma"/>
                        </a:rPr>
                        <a:t>Qk</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55"/>
                        </a:spcBef>
                      </a:pPr>
                      <a:r>
                        <a:rPr dirty="0" sz="1800" spc="-50" b="1">
                          <a:solidFill>
                            <a:srgbClr val="FF0000"/>
                          </a:solidFill>
                          <a:latin typeface="Tahoma"/>
                          <a:cs typeface="Tahoma"/>
                        </a:rPr>
                        <a:t>A</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71/175</a:t>
            </a:r>
            <a:endParaRPr sz="1600">
              <a:latin typeface="宋体"/>
              <a:cs typeface="宋体"/>
            </a:endParaRPr>
          </a:p>
        </p:txBody>
      </p:sp>
      <p:grpSp>
        <p:nvGrpSpPr>
          <p:cNvPr id="3" name="object 3" descr=""/>
          <p:cNvGrpSpPr/>
          <p:nvPr/>
        </p:nvGrpSpPr>
        <p:grpSpPr>
          <a:xfrm>
            <a:off x="68262" y="311150"/>
            <a:ext cx="1076325" cy="274955"/>
            <a:chOff x="68262" y="311150"/>
            <a:chExt cx="1076325" cy="274955"/>
          </a:xfrm>
        </p:grpSpPr>
        <p:sp>
          <p:nvSpPr>
            <p:cNvPr id="4" name="object 4"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5" name="object 5"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6" name="object 6"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7" name="object 7"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977900" y="234137"/>
            <a:ext cx="11226800" cy="514350"/>
          </a:xfrm>
          <a:prstGeom prst="rect"/>
        </p:spPr>
        <p:txBody>
          <a:bodyPr wrap="square" lIns="0" tIns="13335" rIns="0" bIns="0" rtlCol="0" vert="horz">
            <a:spAutoFit/>
          </a:bodyPr>
          <a:lstStyle/>
          <a:p>
            <a:pPr marL="12700">
              <a:lnSpc>
                <a:spcPct val="100000"/>
              </a:lnSpc>
              <a:spcBef>
                <a:spcPts val="105"/>
              </a:spcBef>
              <a:tabLst>
                <a:tab pos="11213465" algn="l"/>
              </a:tabLst>
            </a:pPr>
            <a:r>
              <a:rPr dirty="0" u="heavy" spc="-305">
                <a:uFill>
                  <a:solidFill>
                    <a:srgbClr val="2C44A3"/>
                  </a:solidFill>
                </a:uFill>
              </a:rPr>
              <a:t>  </a:t>
            </a:r>
            <a:r>
              <a:rPr dirty="0" u="heavy">
                <a:uFill>
                  <a:solidFill>
                    <a:srgbClr val="2C44A3"/>
                  </a:solidFill>
                </a:uFill>
              </a:rPr>
              <a:t>5.3</a:t>
            </a:r>
            <a:r>
              <a:rPr dirty="0" u="heavy" spc="-10">
                <a:uFill>
                  <a:solidFill>
                    <a:srgbClr val="2C44A3"/>
                  </a:solidFill>
                </a:uFill>
              </a:rPr>
              <a:t> </a:t>
            </a:r>
            <a:r>
              <a:rPr dirty="0" u="heavy">
                <a:uFill>
                  <a:solidFill>
                    <a:srgbClr val="2C44A3"/>
                  </a:solidFill>
                </a:uFill>
              </a:rPr>
              <a:t>指令的</a:t>
            </a:r>
            <a:r>
              <a:rPr dirty="0" u="heavy" spc="-25">
                <a:uFill>
                  <a:solidFill>
                    <a:srgbClr val="2C44A3"/>
                  </a:solidFill>
                </a:uFill>
              </a:rPr>
              <a:t>动</a:t>
            </a:r>
            <a:r>
              <a:rPr dirty="0" u="heavy">
                <a:uFill>
                  <a:solidFill>
                    <a:srgbClr val="2C44A3"/>
                  </a:solidFill>
                </a:uFill>
              </a:rPr>
              <a:t>态调</a:t>
            </a:r>
            <a:r>
              <a:rPr dirty="0" u="heavy" spc="-50">
                <a:uFill>
                  <a:solidFill>
                    <a:srgbClr val="2C44A3"/>
                  </a:solidFill>
                </a:uFill>
              </a:rPr>
              <a:t>度</a:t>
            </a:r>
            <a:r>
              <a:rPr dirty="0" u="heavy">
                <a:uFill>
                  <a:solidFill>
                    <a:srgbClr val="2C44A3"/>
                  </a:solidFill>
                </a:uFill>
              </a:rPr>
              <a:t>	</a:t>
            </a:r>
          </a:p>
        </p:txBody>
      </p:sp>
      <p:sp>
        <p:nvSpPr>
          <p:cNvPr id="9" name="object 9" descr=""/>
          <p:cNvSpPr txBox="1"/>
          <p:nvPr/>
        </p:nvSpPr>
        <p:spPr>
          <a:xfrm>
            <a:off x="1186992" y="859282"/>
            <a:ext cx="9621520" cy="391160"/>
          </a:xfrm>
          <a:prstGeom prst="rect">
            <a:avLst/>
          </a:prstGeom>
        </p:spPr>
        <p:txBody>
          <a:bodyPr wrap="square" lIns="0" tIns="12700" rIns="0" bIns="0" rtlCol="0" vert="horz">
            <a:spAutoFit/>
          </a:bodyPr>
          <a:lstStyle/>
          <a:p>
            <a:pPr marL="12700">
              <a:lnSpc>
                <a:spcPct val="100000"/>
              </a:lnSpc>
              <a:spcBef>
                <a:spcPts val="100"/>
              </a:spcBef>
              <a:tabLst>
                <a:tab pos="469265" algn="l"/>
              </a:tabLst>
            </a:pPr>
            <a:r>
              <a:rPr dirty="0" sz="2400" spc="-25">
                <a:solidFill>
                  <a:srgbClr val="40458B"/>
                </a:solidFill>
                <a:latin typeface="Tahoma"/>
                <a:cs typeface="Tahoma"/>
              </a:rPr>
              <a:t>6.</a:t>
            </a:r>
            <a:r>
              <a:rPr dirty="0" sz="2400">
                <a:solidFill>
                  <a:srgbClr val="40458B"/>
                </a:solidFill>
                <a:latin typeface="Tahoma"/>
                <a:cs typeface="Tahoma"/>
              </a:rPr>
              <a:t>	</a:t>
            </a:r>
            <a:r>
              <a:rPr dirty="0" sz="2400">
                <a:solidFill>
                  <a:srgbClr val="001F5F"/>
                </a:solidFill>
                <a:latin typeface="黑体"/>
                <a:cs typeface="黑体"/>
              </a:rPr>
              <a:t>通过一个简单的例子来说明</a:t>
            </a:r>
            <a:r>
              <a:rPr dirty="0" sz="2400" spc="-10">
                <a:solidFill>
                  <a:srgbClr val="001F5F"/>
                </a:solidFill>
                <a:latin typeface="Tahoma"/>
                <a:cs typeface="Tahoma"/>
              </a:rPr>
              <a:t>Tomasulo</a:t>
            </a:r>
            <a:r>
              <a:rPr dirty="0" sz="2400" spc="-75">
                <a:solidFill>
                  <a:srgbClr val="001F5F"/>
                </a:solidFill>
                <a:latin typeface="黑体"/>
                <a:cs typeface="黑体"/>
              </a:rPr>
              <a:t>算法的基本思想 </a:t>
            </a:r>
            <a:r>
              <a:rPr dirty="0" sz="2000">
                <a:solidFill>
                  <a:srgbClr val="001F5F"/>
                </a:solidFill>
                <a:latin typeface="Tahoma"/>
                <a:cs typeface="Tahoma"/>
              </a:rPr>
              <a:t>--</a:t>
            </a:r>
            <a:r>
              <a:rPr dirty="0" sz="2000" spc="-15">
                <a:solidFill>
                  <a:srgbClr val="001F5F"/>
                </a:solidFill>
                <a:latin typeface="黑体"/>
                <a:cs typeface="黑体"/>
              </a:rPr>
              <a:t>寄存器换名实现</a:t>
            </a:r>
            <a:endParaRPr sz="2000">
              <a:latin typeface="黑体"/>
              <a:cs typeface="黑体"/>
            </a:endParaRPr>
          </a:p>
        </p:txBody>
      </p:sp>
      <p:grpSp>
        <p:nvGrpSpPr>
          <p:cNvPr id="10" name="object 10" descr=""/>
          <p:cNvGrpSpPr/>
          <p:nvPr/>
        </p:nvGrpSpPr>
        <p:grpSpPr>
          <a:xfrm>
            <a:off x="3622139" y="2064002"/>
            <a:ext cx="3738245" cy="3869690"/>
            <a:chOff x="3622139" y="2064002"/>
            <a:chExt cx="3738245" cy="3869690"/>
          </a:xfrm>
        </p:grpSpPr>
        <p:sp>
          <p:nvSpPr>
            <p:cNvPr id="11" name="object 11" descr=""/>
            <p:cNvSpPr/>
            <p:nvPr/>
          </p:nvSpPr>
          <p:spPr>
            <a:xfrm>
              <a:off x="7282545" y="5571379"/>
              <a:ext cx="76200" cy="344170"/>
            </a:xfrm>
            <a:custGeom>
              <a:avLst/>
              <a:gdLst/>
              <a:ahLst/>
              <a:cxnLst/>
              <a:rect l="l" t="t" r="r" b="b"/>
              <a:pathLst>
                <a:path w="76200" h="344170">
                  <a:moveTo>
                    <a:pt x="0" y="230871"/>
                  </a:moveTo>
                  <a:lnTo>
                    <a:pt x="37572" y="344033"/>
                  </a:lnTo>
                  <a:lnTo>
                    <a:pt x="59847" y="277942"/>
                  </a:lnTo>
                  <a:lnTo>
                    <a:pt x="32663" y="277942"/>
                  </a:lnTo>
                  <a:lnTo>
                    <a:pt x="28132" y="273868"/>
                  </a:lnTo>
                  <a:lnTo>
                    <a:pt x="28132" y="259337"/>
                  </a:lnTo>
                  <a:lnTo>
                    <a:pt x="0" y="230871"/>
                  </a:lnTo>
                  <a:close/>
                </a:path>
                <a:path w="76200" h="344170">
                  <a:moveTo>
                    <a:pt x="28132" y="259337"/>
                  </a:moveTo>
                  <a:lnTo>
                    <a:pt x="28132" y="273868"/>
                  </a:lnTo>
                  <a:lnTo>
                    <a:pt x="32663" y="277942"/>
                  </a:lnTo>
                  <a:lnTo>
                    <a:pt x="43048" y="277942"/>
                  </a:lnTo>
                  <a:lnTo>
                    <a:pt x="47202" y="273868"/>
                  </a:lnTo>
                  <a:lnTo>
                    <a:pt x="47202" y="268889"/>
                  </a:lnTo>
                  <a:lnTo>
                    <a:pt x="37572" y="268889"/>
                  </a:lnTo>
                  <a:lnTo>
                    <a:pt x="28132" y="259337"/>
                  </a:lnTo>
                  <a:close/>
                </a:path>
                <a:path w="76200" h="344170">
                  <a:moveTo>
                    <a:pt x="75712" y="230871"/>
                  </a:moveTo>
                  <a:lnTo>
                    <a:pt x="47202" y="259337"/>
                  </a:lnTo>
                  <a:lnTo>
                    <a:pt x="47202" y="273868"/>
                  </a:lnTo>
                  <a:lnTo>
                    <a:pt x="43048" y="277942"/>
                  </a:lnTo>
                  <a:lnTo>
                    <a:pt x="59847" y="277942"/>
                  </a:lnTo>
                  <a:lnTo>
                    <a:pt x="75712" y="230871"/>
                  </a:lnTo>
                  <a:close/>
                </a:path>
                <a:path w="76200" h="344170">
                  <a:moveTo>
                    <a:pt x="43048" y="0"/>
                  </a:moveTo>
                  <a:lnTo>
                    <a:pt x="32663" y="0"/>
                  </a:lnTo>
                  <a:lnTo>
                    <a:pt x="28132" y="4079"/>
                  </a:lnTo>
                  <a:lnTo>
                    <a:pt x="28132" y="259337"/>
                  </a:lnTo>
                  <a:lnTo>
                    <a:pt x="37572" y="268889"/>
                  </a:lnTo>
                  <a:lnTo>
                    <a:pt x="47155" y="259337"/>
                  </a:lnTo>
                  <a:lnTo>
                    <a:pt x="47202" y="4079"/>
                  </a:lnTo>
                  <a:lnTo>
                    <a:pt x="43048" y="0"/>
                  </a:lnTo>
                  <a:close/>
                </a:path>
                <a:path w="76200" h="344170">
                  <a:moveTo>
                    <a:pt x="47202" y="259337"/>
                  </a:moveTo>
                  <a:lnTo>
                    <a:pt x="37572" y="268889"/>
                  </a:lnTo>
                  <a:lnTo>
                    <a:pt x="47202" y="268889"/>
                  </a:lnTo>
                  <a:lnTo>
                    <a:pt x="47202" y="259337"/>
                  </a:lnTo>
                  <a:close/>
                </a:path>
              </a:pathLst>
            </a:custGeom>
            <a:solidFill>
              <a:srgbClr val="000000"/>
            </a:solidFill>
          </p:spPr>
          <p:txBody>
            <a:bodyPr wrap="square" lIns="0" tIns="0" rIns="0" bIns="0" rtlCol="0"/>
            <a:lstStyle/>
            <a:p/>
          </p:txBody>
        </p:sp>
        <p:sp>
          <p:nvSpPr>
            <p:cNvPr id="12" name="object 12" descr=""/>
            <p:cNvSpPr/>
            <p:nvPr/>
          </p:nvSpPr>
          <p:spPr>
            <a:xfrm>
              <a:off x="7282544" y="5571379"/>
              <a:ext cx="76200" cy="344170"/>
            </a:xfrm>
            <a:custGeom>
              <a:avLst/>
              <a:gdLst/>
              <a:ahLst/>
              <a:cxnLst/>
              <a:rect l="l" t="t" r="r" b="b"/>
              <a:pathLst>
                <a:path w="76200" h="344170">
                  <a:moveTo>
                    <a:pt x="47202" y="9066"/>
                  </a:moveTo>
                  <a:lnTo>
                    <a:pt x="47202" y="268889"/>
                  </a:lnTo>
                  <a:lnTo>
                    <a:pt x="47202" y="273868"/>
                  </a:lnTo>
                  <a:lnTo>
                    <a:pt x="43048" y="277942"/>
                  </a:lnTo>
                  <a:lnTo>
                    <a:pt x="37572" y="277942"/>
                  </a:lnTo>
                  <a:lnTo>
                    <a:pt x="32663" y="277942"/>
                  </a:lnTo>
                  <a:lnTo>
                    <a:pt x="28132" y="273868"/>
                  </a:lnTo>
                  <a:lnTo>
                    <a:pt x="28132" y="268889"/>
                  </a:lnTo>
                  <a:lnTo>
                    <a:pt x="28132" y="9066"/>
                  </a:lnTo>
                  <a:lnTo>
                    <a:pt x="28132" y="4079"/>
                  </a:lnTo>
                  <a:lnTo>
                    <a:pt x="32663" y="0"/>
                  </a:lnTo>
                  <a:lnTo>
                    <a:pt x="37572" y="0"/>
                  </a:lnTo>
                  <a:lnTo>
                    <a:pt x="43048" y="0"/>
                  </a:lnTo>
                  <a:lnTo>
                    <a:pt x="47202" y="4079"/>
                  </a:lnTo>
                  <a:lnTo>
                    <a:pt x="47202" y="9066"/>
                  </a:lnTo>
                  <a:close/>
                </a:path>
                <a:path w="76200" h="344170">
                  <a:moveTo>
                    <a:pt x="37572" y="268889"/>
                  </a:moveTo>
                  <a:lnTo>
                    <a:pt x="75712" y="230871"/>
                  </a:lnTo>
                  <a:lnTo>
                    <a:pt x="37572" y="344033"/>
                  </a:lnTo>
                  <a:lnTo>
                    <a:pt x="0" y="230871"/>
                  </a:lnTo>
                  <a:lnTo>
                    <a:pt x="37572" y="268889"/>
                  </a:lnTo>
                  <a:close/>
                </a:path>
              </a:pathLst>
            </a:custGeom>
            <a:ln w="3175">
              <a:solidFill>
                <a:srgbClr val="000000"/>
              </a:solidFill>
            </a:ln>
          </p:spPr>
          <p:txBody>
            <a:bodyPr wrap="square" lIns="0" tIns="0" rIns="0" bIns="0" rtlCol="0"/>
            <a:lstStyle/>
            <a:p/>
          </p:txBody>
        </p:sp>
        <p:sp>
          <p:nvSpPr>
            <p:cNvPr id="13" name="object 13" descr=""/>
            <p:cNvSpPr/>
            <p:nvPr/>
          </p:nvSpPr>
          <p:spPr>
            <a:xfrm>
              <a:off x="4147173" y="5570925"/>
              <a:ext cx="76200" cy="361315"/>
            </a:xfrm>
            <a:custGeom>
              <a:avLst/>
              <a:gdLst/>
              <a:ahLst/>
              <a:cxnLst/>
              <a:rect l="l" t="t" r="r" b="b"/>
              <a:pathLst>
                <a:path w="76200" h="361314">
                  <a:moveTo>
                    <a:pt x="0" y="247615"/>
                  </a:moveTo>
                  <a:lnTo>
                    <a:pt x="38082" y="360783"/>
                  </a:lnTo>
                  <a:lnTo>
                    <a:pt x="60058" y="294693"/>
                  </a:lnTo>
                  <a:lnTo>
                    <a:pt x="32644" y="294693"/>
                  </a:lnTo>
                  <a:lnTo>
                    <a:pt x="28566" y="290165"/>
                  </a:lnTo>
                  <a:lnTo>
                    <a:pt x="28566" y="275798"/>
                  </a:lnTo>
                  <a:lnTo>
                    <a:pt x="0" y="247615"/>
                  </a:lnTo>
                  <a:close/>
                </a:path>
                <a:path w="76200" h="361314">
                  <a:moveTo>
                    <a:pt x="28566" y="275798"/>
                  </a:moveTo>
                  <a:lnTo>
                    <a:pt x="28566" y="290165"/>
                  </a:lnTo>
                  <a:lnTo>
                    <a:pt x="32644" y="294693"/>
                  </a:lnTo>
                  <a:lnTo>
                    <a:pt x="43067" y="294693"/>
                  </a:lnTo>
                  <a:lnTo>
                    <a:pt x="47145" y="290165"/>
                  </a:lnTo>
                  <a:lnTo>
                    <a:pt x="47145" y="285186"/>
                  </a:lnTo>
                  <a:lnTo>
                    <a:pt x="38082" y="285186"/>
                  </a:lnTo>
                  <a:lnTo>
                    <a:pt x="28566" y="275798"/>
                  </a:lnTo>
                  <a:close/>
                </a:path>
                <a:path w="76200" h="361314">
                  <a:moveTo>
                    <a:pt x="75712" y="247615"/>
                  </a:moveTo>
                  <a:lnTo>
                    <a:pt x="47145" y="276137"/>
                  </a:lnTo>
                  <a:lnTo>
                    <a:pt x="47145" y="290165"/>
                  </a:lnTo>
                  <a:lnTo>
                    <a:pt x="43067" y="294693"/>
                  </a:lnTo>
                  <a:lnTo>
                    <a:pt x="60058" y="294693"/>
                  </a:lnTo>
                  <a:lnTo>
                    <a:pt x="75712" y="247615"/>
                  </a:lnTo>
                  <a:close/>
                </a:path>
                <a:path w="76200" h="361314">
                  <a:moveTo>
                    <a:pt x="43067" y="0"/>
                  </a:moveTo>
                  <a:lnTo>
                    <a:pt x="32644" y="0"/>
                  </a:lnTo>
                  <a:lnTo>
                    <a:pt x="28566" y="4533"/>
                  </a:lnTo>
                  <a:lnTo>
                    <a:pt x="28566" y="275798"/>
                  </a:lnTo>
                  <a:lnTo>
                    <a:pt x="38082" y="285186"/>
                  </a:lnTo>
                  <a:lnTo>
                    <a:pt x="47145" y="276137"/>
                  </a:lnTo>
                  <a:lnTo>
                    <a:pt x="47145" y="4533"/>
                  </a:lnTo>
                  <a:lnTo>
                    <a:pt x="43067" y="0"/>
                  </a:lnTo>
                  <a:close/>
                </a:path>
                <a:path w="76200" h="361314">
                  <a:moveTo>
                    <a:pt x="47145" y="276137"/>
                  </a:moveTo>
                  <a:lnTo>
                    <a:pt x="38082" y="285186"/>
                  </a:lnTo>
                  <a:lnTo>
                    <a:pt x="47145" y="285186"/>
                  </a:lnTo>
                  <a:lnTo>
                    <a:pt x="47145" y="276137"/>
                  </a:lnTo>
                  <a:close/>
                </a:path>
              </a:pathLst>
            </a:custGeom>
            <a:solidFill>
              <a:srgbClr val="000000"/>
            </a:solidFill>
          </p:spPr>
          <p:txBody>
            <a:bodyPr wrap="square" lIns="0" tIns="0" rIns="0" bIns="0" rtlCol="0"/>
            <a:lstStyle/>
            <a:p/>
          </p:txBody>
        </p:sp>
        <p:sp>
          <p:nvSpPr>
            <p:cNvPr id="14" name="object 14" descr=""/>
            <p:cNvSpPr/>
            <p:nvPr/>
          </p:nvSpPr>
          <p:spPr>
            <a:xfrm>
              <a:off x="4147173" y="5570925"/>
              <a:ext cx="76200" cy="361315"/>
            </a:xfrm>
            <a:custGeom>
              <a:avLst/>
              <a:gdLst/>
              <a:ahLst/>
              <a:cxnLst/>
              <a:rect l="l" t="t" r="r" b="b"/>
              <a:pathLst>
                <a:path w="76200" h="361314">
                  <a:moveTo>
                    <a:pt x="47145" y="9519"/>
                  </a:moveTo>
                  <a:lnTo>
                    <a:pt x="47145" y="285186"/>
                  </a:lnTo>
                  <a:lnTo>
                    <a:pt x="47145" y="290165"/>
                  </a:lnTo>
                  <a:lnTo>
                    <a:pt x="43067" y="294693"/>
                  </a:lnTo>
                  <a:lnTo>
                    <a:pt x="38082" y="294693"/>
                  </a:lnTo>
                  <a:lnTo>
                    <a:pt x="32644" y="294693"/>
                  </a:lnTo>
                  <a:lnTo>
                    <a:pt x="28566" y="290165"/>
                  </a:lnTo>
                  <a:lnTo>
                    <a:pt x="28566" y="285186"/>
                  </a:lnTo>
                  <a:lnTo>
                    <a:pt x="28566" y="9519"/>
                  </a:lnTo>
                  <a:lnTo>
                    <a:pt x="28566" y="4533"/>
                  </a:lnTo>
                  <a:lnTo>
                    <a:pt x="32644" y="0"/>
                  </a:lnTo>
                  <a:lnTo>
                    <a:pt x="38082" y="0"/>
                  </a:lnTo>
                  <a:lnTo>
                    <a:pt x="43067" y="0"/>
                  </a:lnTo>
                  <a:lnTo>
                    <a:pt x="47145" y="4533"/>
                  </a:lnTo>
                  <a:lnTo>
                    <a:pt x="47145" y="9519"/>
                  </a:lnTo>
                  <a:close/>
                </a:path>
                <a:path w="76200" h="361314">
                  <a:moveTo>
                    <a:pt x="38082" y="285186"/>
                  </a:moveTo>
                  <a:lnTo>
                    <a:pt x="75712" y="247615"/>
                  </a:lnTo>
                  <a:lnTo>
                    <a:pt x="38082" y="360783"/>
                  </a:lnTo>
                  <a:lnTo>
                    <a:pt x="0" y="247615"/>
                  </a:lnTo>
                  <a:lnTo>
                    <a:pt x="38082" y="285186"/>
                  </a:lnTo>
                  <a:close/>
                </a:path>
              </a:pathLst>
            </a:custGeom>
            <a:ln w="3175">
              <a:solidFill>
                <a:srgbClr val="000000"/>
              </a:solidFill>
            </a:ln>
          </p:spPr>
          <p:txBody>
            <a:bodyPr wrap="square" lIns="0" tIns="0" rIns="0" bIns="0" rtlCol="0"/>
            <a:lstStyle/>
            <a:p/>
          </p:txBody>
        </p:sp>
        <p:sp>
          <p:nvSpPr>
            <p:cNvPr id="15" name="object 15" descr=""/>
            <p:cNvSpPr/>
            <p:nvPr/>
          </p:nvSpPr>
          <p:spPr>
            <a:xfrm>
              <a:off x="4187069" y="3114769"/>
              <a:ext cx="76200" cy="520700"/>
            </a:xfrm>
            <a:custGeom>
              <a:avLst/>
              <a:gdLst/>
              <a:ahLst/>
              <a:cxnLst/>
              <a:rect l="l" t="t" r="r" b="b"/>
              <a:pathLst>
                <a:path w="76200" h="520700">
                  <a:moveTo>
                    <a:pt x="0" y="407420"/>
                  </a:moveTo>
                  <a:lnTo>
                    <a:pt x="37629" y="520561"/>
                  </a:lnTo>
                  <a:lnTo>
                    <a:pt x="59881" y="454452"/>
                  </a:lnTo>
                  <a:lnTo>
                    <a:pt x="32644" y="454452"/>
                  </a:lnTo>
                  <a:lnTo>
                    <a:pt x="28113" y="450296"/>
                  </a:lnTo>
                  <a:lnTo>
                    <a:pt x="28113" y="435615"/>
                  </a:lnTo>
                  <a:lnTo>
                    <a:pt x="0" y="407420"/>
                  </a:lnTo>
                  <a:close/>
                </a:path>
                <a:path w="76200" h="520700">
                  <a:moveTo>
                    <a:pt x="28226" y="435615"/>
                  </a:moveTo>
                  <a:lnTo>
                    <a:pt x="28113" y="450296"/>
                  </a:lnTo>
                  <a:lnTo>
                    <a:pt x="32644" y="454452"/>
                  </a:lnTo>
                  <a:lnTo>
                    <a:pt x="43067" y="454452"/>
                  </a:lnTo>
                  <a:lnTo>
                    <a:pt x="47145" y="450296"/>
                  </a:lnTo>
                  <a:lnTo>
                    <a:pt x="47145" y="445007"/>
                  </a:lnTo>
                  <a:lnTo>
                    <a:pt x="37629" y="445007"/>
                  </a:lnTo>
                  <a:lnTo>
                    <a:pt x="28226" y="435615"/>
                  </a:lnTo>
                  <a:close/>
                </a:path>
                <a:path w="76200" h="520700">
                  <a:moveTo>
                    <a:pt x="75712" y="407420"/>
                  </a:moveTo>
                  <a:lnTo>
                    <a:pt x="47145" y="435615"/>
                  </a:lnTo>
                  <a:lnTo>
                    <a:pt x="47145" y="450296"/>
                  </a:lnTo>
                  <a:lnTo>
                    <a:pt x="43067" y="454452"/>
                  </a:lnTo>
                  <a:lnTo>
                    <a:pt x="59881" y="454452"/>
                  </a:lnTo>
                  <a:lnTo>
                    <a:pt x="75712" y="407420"/>
                  </a:lnTo>
                  <a:close/>
                </a:path>
                <a:path w="76200" h="520700">
                  <a:moveTo>
                    <a:pt x="43067" y="0"/>
                  </a:moveTo>
                  <a:lnTo>
                    <a:pt x="32644" y="0"/>
                  </a:lnTo>
                  <a:lnTo>
                    <a:pt x="28113" y="3966"/>
                  </a:lnTo>
                  <a:lnTo>
                    <a:pt x="28226" y="435615"/>
                  </a:lnTo>
                  <a:lnTo>
                    <a:pt x="37629" y="445007"/>
                  </a:lnTo>
                  <a:lnTo>
                    <a:pt x="47145" y="435615"/>
                  </a:lnTo>
                  <a:lnTo>
                    <a:pt x="47145" y="3966"/>
                  </a:lnTo>
                  <a:lnTo>
                    <a:pt x="43067" y="0"/>
                  </a:lnTo>
                  <a:close/>
                </a:path>
                <a:path w="76200" h="520700">
                  <a:moveTo>
                    <a:pt x="47145" y="435615"/>
                  </a:moveTo>
                  <a:lnTo>
                    <a:pt x="37629" y="445007"/>
                  </a:lnTo>
                  <a:lnTo>
                    <a:pt x="47145" y="445007"/>
                  </a:lnTo>
                  <a:lnTo>
                    <a:pt x="47145" y="435615"/>
                  </a:lnTo>
                  <a:close/>
                </a:path>
              </a:pathLst>
            </a:custGeom>
            <a:solidFill>
              <a:srgbClr val="000000"/>
            </a:solidFill>
          </p:spPr>
          <p:txBody>
            <a:bodyPr wrap="square" lIns="0" tIns="0" rIns="0" bIns="0" rtlCol="0"/>
            <a:lstStyle/>
            <a:p/>
          </p:txBody>
        </p:sp>
        <p:sp>
          <p:nvSpPr>
            <p:cNvPr id="16" name="object 16" descr=""/>
            <p:cNvSpPr/>
            <p:nvPr/>
          </p:nvSpPr>
          <p:spPr>
            <a:xfrm>
              <a:off x="4187068" y="3114769"/>
              <a:ext cx="76200" cy="520700"/>
            </a:xfrm>
            <a:custGeom>
              <a:avLst/>
              <a:gdLst/>
              <a:ahLst/>
              <a:cxnLst/>
              <a:rect l="l" t="t" r="r" b="b"/>
              <a:pathLst>
                <a:path w="76200" h="520700">
                  <a:moveTo>
                    <a:pt x="47145" y="9444"/>
                  </a:moveTo>
                  <a:lnTo>
                    <a:pt x="47145" y="445007"/>
                  </a:lnTo>
                  <a:lnTo>
                    <a:pt x="47145" y="450296"/>
                  </a:lnTo>
                  <a:lnTo>
                    <a:pt x="43067" y="454452"/>
                  </a:lnTo>
                  <a:lnTo>
                    <a:pt x="37629" y="454452"/>
                  </a:lnTo>
                  <a:lnTo>
                    <a:pt x="32644" y="454452"/>
                  </a:lnTo>
                  <a:lnTo>
                    <a:pt x="28113" y="450296"/>
                  </a:lnTo>
                  <a:lnTo>
                    <a:pt x="28113" y="445007"/>
                  </a:lnTo>
                  <a:lnTo>
                    <a:pt x="28113" y="9444"/>
                  </a:lnTo>
                  <a:lnTo>
                    <a:pt x="28113" y="3966"/>
                  </a:lnTo>
                  <a:lnTo>
                    <a:pt x="32644" y="0"/>
                  </a:lnTo>
                  <a:lnTo>
                    <a:pt x="37629" y="0"/>
                  </a:lnTo>
                  <a:lnTo>
                    <a:pt x="43067" y="0"/>
                  </a:lnTo>
                  <a:lnTo>
                    <a:pt x="47145" y="3966"/>
                  </a:lnTo>
                  <a:lnTo>
                    <a:pt x="47145" y="9444"/>
                  </a:lnTo>
                  <a:close/>
                </a:path>
                <a:path w="76200" h="520700">
                  <a:moveTo>
                    <a:pt x="37629" y="445007"/>
                  </a:moveTo>
                  <a:lnTo>
                    <a:pt x="75712" y="407420"/>
                  </a:lnTo>
                  <a:lnTo>
                    <a:pt x="37629" y="520561"/>
                  </a:lnTo>
                  <a:lnTo>
                    <a:pt x="0" y="407420"/>
                  </a:lnTo>
                  <a:lnTo>
                    <a:pt x="37629" y="445007"/>
                  </a:lnTo>
                  <a:close/>
                </a:path>
              </a:pathLst>
            </a:custGeom>
            <a:ln w="3175">
              <a:solidFill>
                <a:srgbClr val="000000"/>
              </a:solidFill>
            </a:ln>
          </p:spPr>
          <p:txBody>
            <a:bodyPr wrap="square" lIns="0" tIns="0" rIns="0" bIns="0" rtlCol="0"/>
            <a:lstStyle/>
            <a:p/>
          </p:txBody>
        </p:sp>
        <p:sp>
          <p:nvSpPr>
            <p:cNvPr id="17" name="object 17" descr=""/>
            <p:cNvSpPr/>
            <p:nvPr/>
          </p:nvSpPr>
          <p:spPr>
            <a:xfrm>
              <a:off x="3629442" y="2071305"/>
              <a:ext cx="1230630" cy="1053465"/>
            </a:xfrm>
            <a:custGeom>
              <a:avLst/>
              <a:gdLst/>
              <a:ahLst/>
              <a:cxnLst/>
              <a:rect l="l" t="t" r="r" b="b"/>
              <a:pathLst>
                <a:path w="1230629" h="1053464">
                  <a:moveTo>
                    <a:pt x="1230388" y="0"/>
                  </a:moveTo>
                  <a:lnTo>
                    <a:pt x="0" y="0"/>
                  </a:lnTo>
                  <a:lnTo>
                    <a:pt x="0" y="1052908"/>
                  </a:lnTo>
                  <a:lnTo>
                    <a:pt x="1230388" y="1052908"/>
                  </a:lnTo>
                  <a:lnTo>
                    <a:pt x="1230388" y="0"/>
                  </a:lnTo>
                  <a:close/>
                </a:path>
              </a:pathLst>
            </a:custGeom>
            <a:solidFill>
              <a:srgbClr val="FFCC99"/>
            </a:solidFill>
          </p:spPr>
          <p:txBody>
            <a:bodyPr wrap="square" lIns="0" tIns="0" rIns="0" bIns="0" rtlCol="0"/>
            <a:lstStyle/>
            <a:p/>
          </p:txBody>
        </p:sp>
        <p:sp>
          <p:nvSpPr>
            <p:cNvPr id="18" name="object 18" descr=""/>
            <p:cNvSpPr/>
            <p:nvPr/>
          </p:nvSpPr>
          <p:spPr>
            <a:xfrm>
              <a:off x="3629442" y="2071305"/>
              <a:ext cx="1230630" cy="1053465"/>
            </a:xfrm>
            <a:custGeom>
              <a:avLst/>
              <a:gdLst/>
              <a:ahLst/>
              <a:cxnLst/>
              <a:rect l="l" t="t" r="r" b="b"/>
              <a:pathLst>
                <a:path w="1230629" h="1053464">
                  <a:moveTo>
                    <a:pt x="0" y="1052908"/>
                  </a:moveTo>
                  <a:lnTo>
                    <a:pt x="1230388" y="1052908"/>
                  </a:lnTo>
                  <a:lnTo>
                    <a:pt x="1230388" y="0"/>
                  </a:lnTo>
                  <a:lnTo>
                    <a:pt x="0" y="0"/>
                  </a:lnTo>
                  <a:lnTo>
                    <a:pt x="0" y="1052908"/>
                  </a:lnTo>
                  <a:close/>
                </a:path>
              </a:pathLst>
            </a:custGeom>
            <a:ln w="14056">
              <a:solidFill>
                <a:srgbClr val="000000"/>
              </a:solidFill>
            </a:ln>
          </p:spPr>
          <p:txBody>
            <a:bodyPr wrap="square" lIns="0" tIns="0" rIns="0" bIns="0" rtlCol="0"/>
            <a:lstStyle/>
            <a:p/>
          </p:txBody>
        </p:sp>
        <p:sp>
          <p:nvSpPr>
            <p:cNvPr id="19" name="object 19" descr=""/>
            <p:cNvSpPr/>
            <p:nvPr/>
          </p:nvSpPr>
          <p:spPr>
            <a:xfrm>
              <a:off x="3629431" y="2322753"/>
              <a:ext cx="1230630" cy="274955"/>
            </a:xfrm>
            <a:custGeom>
              <a:avLst/>
              <a:gdLst/>
              <a:ahLst/>
              <a:cxnLst/>
              <a:rect l="l" t="t" r="r" b="b"/>
              <a:pathLst>
                <a:path w="1230629" h="274955">
                  <a:moveTo>
                    <a:pt x="1230312" y="260273"/>
                  </a:moveTo>
                  <a:lnTo>
                    <a:pt x="0" y="260273"/>
                  </a:lnTo>
                  <a:lnTo>
                    <a:pt x="0" y="274332"/>
                  </a:lnTo>
                  <a:lnTo>
                    <a:pt x="1230312" y="274332"/>
                  </a:lnTo>
                  <a:lnTo>
                    <a:pt x="1230312" y="260273"/>
                  </a:lnTo>
                  <a:close/>
                </a:path>
                <a:path w="1230629" h="274955">
                  <a:moveTo>
                    <a:pt x="1230312" y="0"/>
                  </a:moveTo>
                  <a:lnTo>
                    <a:pt x="0" y="0"/>
                  </a:lnTo>
                  <a:lnTo>
                    <a:pt x="0" y="14058"/>
                  </a:lnTo>
                  <a:lnTo>
                    <a:pt x="1230312" y="14058"/>
                  </a:lnTo>
                  <a:lnTo>
                    <a:pt x="1230312" y="0"/>
                  </a:lnTo>
                  <a:close/>
                </a:path>
              </a:pathLst>
            </a:custGeom>
            <a:solidFill>
              <a:srgbClr val="000000"/>
            </a:solidFill>
          </p:spPr>
          <p:txBody>
            <a:bodyPr wrap="square" lIns="0" tIns="0" rIns="0" bIns="0" rtlCol="0"/>
            <a:lstStyle/>
            <a:p/>
          </p:txBody>
        </p:sp>
      </p:grpSp>
      <p:sp>
        <p:nvSpPr>
          <p:cNvPr id="20" name="object 20" descr=""/>
          <p:cNvSpPr txBox="1"/>
          <p:nvPr/>
        </p:nvSpPr>
        <p:spPr>
          <a:xfrm>
            <a:off x="3675688" y="1519718"/>
            <a:ext cx="1049655" cy="229870"/>
          </a:xfrm>
          <a:prstGeom prst="rect">
            <a:avLst/>
          </a:prstGeom>
        </p:spPr>
        <p:txBody>
          <a:bodyPr wrap="square" lIns="0" tIns="17780" rIns="0" bIns="0" rtlCol="0" vert="horz">
            <a:spAutoFit/>
          </a:bodyPr>
          <a:lstStyle/>
          <a:p>
            <a:pPr marL="12700">
              <a:lnSpc>
                <a:spcPct val="100000"/>
              </a:lnSpc>
              <a:spcBef>
                <a:spcPts val="140"/>
              </a:spcBef>
            </a:pPr>
            <a:r>
              <a:rPr dirty="0" sz="1300" spc="-10" b="1">
                <a:latin typeface="宋体"/>
                <a:cs typeface="宋体"/>
              </a:rPr>
              <a:t>从指令部件来</a:t>
            </a:r>
            <a:endParaRPr sz="1300">
              <a:latin typeface="宋体"/>
              <a:cs typeface="宋体"/>
            </a:endParaRPr>
          </a:p>
        </p:txBody>
      </p:sp>
      <p:sp>
        <p:nvSpPr>
          <p:cNvPr id="21" name="object 21" descr=""/>
          <p:cNvSpPr txBox="1"/>
          <p:nvPr/>
        </p:nvSpPr>
        <p:spPr>
          <a:xfrm>
            <a:off x="6677791" y="5315612"/>
            <a:ext cx="1270000" cy="292735"/>
          </a:xfrm>
          <a:prstGeom prst="rect">
            <a:avLst/>
          </a:prstGeom>
          <a:solidFill>
            <a:srgbClr val="CC99FF"/>
          </a:solidFill>
          <a:ln w="14059">
            <a:solidFill>
              <a:srgbClr val="000000"/>
            </a:solidFill>
          </a:ln>
        </p:spPr>
        <p:txBody>
          <a:bodyPr wrap="square" lIns="0" tIns="36830" rIns="0" bIns="0" rtlCol="0" vert="horz">
            <a:spAutoFit/>
          </a:bodyPr>
          <a:lstStyle/>
          <a:p>
            <a:pPr marL="126364">
              <a:lnSpc>
                <a:spcPct val="100000"/>
              </a:lnSpc>
              <a:spcBef>
                <a:spcPts val="290"/>
              </a:spcBef>
            </a:pPr>
            <a:r>
              <a:rPr dirty="0" sz="1300" spc="-30" b="1">
                <a:latin typeface="宋体"/>
                <a:cs typeface="宋体"/>
              </a:rPr>
              <a:t>浮点乘法器 </a:t>
            </a:r>
            <a:r>
              <a:rPr dirty="0" sz="1300" spc="-50" b="1">
                <a:latin typeface="Times New Roman"/>
                <a:cs typeface="Times New Roman"/>
              </a:rPr>
              <a:t>M</a:t>
            </a:r>
            <a:endParaRPr sz="1300">
              <a:latin typeface="Times New Roman"/>
              <a:cs typeface="Times New Roman"/>
            </a:endParaRPr>
          </a:p>
        </p:txBody>
      </p:sp>
      <p:grpSp>
        <p:nvGrpSpPr>
          <p:cNvPr id="22" name="object 22" descr=""/>
          <p:cNvGrpSpPr/>
          <p:nvPr/>
        </p:nvGrpSpPr>
        <p:grpSpPr>
          <a:xfrm>
            <a:off x="4185747" y="1768035"/>
            <a:ext cx="2388235" cy="1246505"/>
            <a:chOff x="4185747" y="1768035"/>
            <a:chExt cx="2388235" cy="1246505"/>
          </a:xfrm>
        </p:grpSpPr>
        <p:sp>
          <p:nvSpPr>
            <p:cNvPr id="23" name="object 23" descr=""/>
            <p:cNvSpPr/>
            <p:nvPr/>
          </p:nvSpPr>
          <p:spPr>
            <a:xfrm>
              <a:off x="5732994" y="2129650"/>
              <a:ext cx="833755" cy="877569"/>
            </a:xfrm>
            <a:custGeom>
              <a:avLst/>
              <a:gdLst/>
              <a:ahLst/>
              <a:cxnLst/>
              <a:rect l="l" t="t" r="r" b="b"/>
              <a:pathLst>
                <a:path w="833754" h="877569">
                  <a:moveTo>
                    <a:pt x="833249" y="0"/>
                  </a:moveTo>
                  <a:lnTo>
                    <a:pt x="0" y="0"/>
                  </a:lnTo>
                  <a:lnTo>
                    <a:pt x="0" y="877266"/>
                  </a:lnTo>
                  <a:lnTo>
                    <a:pt x="833249" y="877266"/>
                  </a:lnTo>
                  <a:lnTo>
                    <a:pt x="833249" y="0"/>
                  </a:lnTo>
                  <a:close/>
                </a:path>
              </a:pathLst>
            </a:custGeom>
            <a:solidFill>
              <a:srgbClr val="FFFF99"/>
            </a:solidFill>
          </p:spPr>
          <p:txBody>
            <a:bodyPr wrap="square" lIns="0" tIns="0" rIns="0" bIns="0" rtlCol="0"/>
            <a:lstStyle/>
            <a:p/>
          </p:txBody>
        </p:sp>
        <p:sp>
          <p:nvSpPr>
            <p:cNvPr id="24" name="object 24" descr=""/>
            <p:cNvSpPr/>
            <p:nvPr/>
          </p:nvSpPr>
          <p:spPr>
            <a:xfrm>
              <a:off x="5732994" y="2129650"/>
              <a:ext cx="833755" cy="877569"/>
            </a:xfrm>
            <a:custGeom>
              <a:avLst/>
              <a:gdLst/>
              <a:ahLst/>
              <a:cxnLst/>
              <a:rect l="l" t="t" r="r" b="b"/>
              <a:pathLst>
                <a:path w="833754" h="877569">
                  <a:moveTo>
                    <a:pt x="0" y="877266"/>
                  </a:moveTo>
                  <a:lnTo>
                    <a:pt x="833249" y="877266"/>
                  </a:lnTo>
                  <a:lnTo>
                    <a:pt x="833249" y="0"/>
                  </a:lnTo>
                  <a:lnTo>
                    <a:pt x="0" y="0"/>
                  </a:lnTo>
                  <a:lnTo>
                    <a:pt x="0" y="877266"/>
                  </a:lnTo>
                  <a:close/>
                </a:path>
              </a:pathLst>
            </a:custGeom>
            <a:ln w="14056">
              <a:solidFill>
                <a:srgbClr val="000000"/>
              </a:solidFill>
            </a:ln>
          </p:spPr>
          <p:txBody>
            <a:bodyPr wrap="square" lIns="0" tIns="0" rIns="0" bIns="0" rtlCol="0"/>
            <a:lstStyle/>
            <a:p/>
          </p:txBody>
        </p:sp>
        <p:sp>
          <p:nvSpPr>
            <p:cNvPr id="25" name="object 25" descr=""/>
            <p:cNvSpPr/>
            <p:nvPr/>
          </p:nvSpPr>
          <p:spPr>
            <a:xfrm>
              <a:off x="5732994" y="2780972"/>
              <a:ext cx="833755" cy="14604"/>
            </a:xfrm>
            <a:custGeom>
              <a:avLst/>
              <a:gdLst/>
              <a:ahLst/>
              <a:cxnLst/>
              <a:rect l="l" t="t" r="r" b="b"/>
              <a:pathLst>
                <a:path w="833754" h="14605">
                  <a:moveTo>
                    <a:pt x="0" y="14059"/>
                  </a:moveTo>
                  <a:lnTo>
                    <a:pt x="833211" y="14059"/>
                  </a:lnTo>
                  <a:lnTo>
                    <a:pt x="833211" y="0"/>
                  </a:lnTo>
                  <a:lnTo>
                    <a:pt x="0" y="0"/>
                  </a:lnTo>
                  <a:lnTo>
                    <a:pt x="0" y="14059"/>
                  </a:lnTo>
                  <a:close/>
                </a:path>
              </a:pathLst>
            </a:custGeom>
            <a:solidFill>
              <a:srgbClr val="000000"/>
            </a:solidFill>
          </p:spPr>
          <p:txBody>
            <a:bodyPr wrap="square" lIns="0" tIns="0" rIns="0" bIns="0" rtlCol="0"/>
            <a:lstStyle/>
            <a:p/>
          </p:txBody>
        </p:sp>
        <p:sp>
          <p:nvSpPr>
            <p:cNvPr id="26" name="object 26" descr=""/>
            <p:cNvSpPr/>
            <p:nvPr/>
          </p:nvSpPr>
          <p:spPr>
            <a:xfrm>
              <a:off x="4187069" y="1769356"/>
              <a:ext cx="76200" cy="302260"/>
            </a:xfrm>
            <a:custGeom>
              <a:avLst/>
              <a:gdLst/>
              <a:ahLst/>
              <a:cxnLst/>
              <a:rect l="l" t="t" r="r" b="b"/>
              <a:pathLst>
                <a:path w="76200" h="302260">
                  <a:moveTo>
                    <a:pt x="0" y="188882"/>
                  </a:moveTo>
                  <a:lnTo>
                    <a:pt x="37629" y="302023"/>
                  </a:lnTo>
                  <a:lnTo>
                    <a:pt x="59881" y="235914"/>
                  </a:lnTo>
                  <a:lnTo>
                    <a:pt x="32644" y="235914"/>
                  </a:lnTo>
                  <a:lnTo>
                    <a:pt x="28113" y="231381"/>
                  </a:lnTo>
                  <a:lnTo>
                    <a:pt x="28113" y="217078"/>
                  </a:lnTo>
                  <a:lnTo>
                    <a:pt x="0" y="188882"/>
                  </a:lnTo>
                  <a:close/>
                </a:path>
                <a:path w="76200" h="302260">
                  <a:moveTo>
                    <a:pt x="28226" y="217078"/>
                  </a:moveTo>
                  <a:lnTo>
                    <a:pt x="28113" y="231381"/>
                  </a:lnTo>
                  <a:lnTo>
                    <a:pt x="32644" y="235914"/>
                  </a:lnTo>
                  <a:lnTo>
                    <a:pt x="43067" y="235914"/>
                  </a:lnTo>
                  <a:lnTo>
                    <a:pt x="47145" y="231381"/>
                  </a:lnTo>
                  <a:lnTo>
                    <a:pt x="47145" y="226470"/>
                  </a:lnTo>
                  <a:lnTo>
                    <a:pt x="37629" y="226470"/>
                  </a:lnTo>
                  <a:lnTo>
                    <a:pt x="28226" y="217078"/>
                  </a:lnTo>
                  <a:close/>
                </a:path>
                <a:path w="76200" h="302260">
                  <a:moveTo>
                    <a:pt x="75712" y="188882"/>
                  </a:moveTo>
                  <a:lnTo>
                    <a:pt x="47145" y="217078"/>
                  </a:lnTo>
                  <a:lnTo>
                    <a:pt x="47145" y="231381"/>
                  </a:lnTo>
                  <a:lnTo>
                    <a:pt x="43067" y="235914"/>
                  </a:lnTo>
                  <a:lnTo>
                    <a:pt x="59881" y="235914"/>
                  </a:lnTo>
                  <a:lnTo>
                    <a:pt x="75712" y="188882"/>
                  </a:lnTo>
                  <a:close/>
                </a:path>
                <a:path w="76200" h="302260">
                  <a:moveTo>
                    <a:pt x="43067" y="0"/>
                  </a:moveTo>
                  <a:lnTo>
                    <a:pt x="32644" y="0"/>
                  </a:lnTo>
                  <a:lnTo>
                    <a:pt x="28113" y="4155"/>
                  </a:lnTo>
                  <a:lnTo>
                    <a:pt x="28226" y="217078"/>
                  </a:lnTo>
                  <a:lnTo>
                    <a:pt x="37629" y="226470"/>
                  </a:lnTo>
                  <a:lnTo>
                    <a:pt x="47145" y="217078"/>
                  </a:lnTo>
                  <a:lnTo>
                    <a:pt x="47145" y="4155"/>
                  </a:lnTo>
                  <a:lnTo>
                    <a:pt x="43067" y="0"/>
                  </a:lnTo>
                  <a:close/>
                </a:path>
                <a:path w="76200" h="302260">
                  <a:moveTo>
                    <a:pt x="47145" y="217078"/>
                  </a:moveTo>
                  <a:lnTo>
                    <a:pt x="37629" y="226470"/>
                  </a:lnTo>
                  <a:lnTo>
                    <a:pt x="47145" y="226470"/>
                  </a:lnTo>
                  <a:lnTo>
                    <a:pt x="47145" y="217078"/>
                  </a:lnTo>
                  <a:close/>
                </a:path>
              </a:pathLst>
            </a:custGeom>
            <a:solidFill>
              <a:srgbClr val="000000"/>
            </a:solidFill>
          </p:spPr>
          <p:txBody>
            <a:bodyPr wrap="square" lIns="0" tIns="0" rIns="0" bIns="0" rtlCol="0"/>
            <a:lstStyle/>
            <a:p/>
          </p:txBody>
        </p:sp>
        <p:pic>
          <p:nvPicPr>
            <p:cNvPr id="27" name="object 27" descr=""/>
            <p:cNvPicPr/>
            <p:nvPr/>
          </p:nvPicPr>
          <p:blipFill>
            <a:blip r:embed="rId2" cstate="print"/>
            <a:stretch>
              <a:fillRect/>
            </a:stretch>
          </p:blipFill>
          <p:spPr>
            <a:xfrm>
              <a:off x="4185747" y="1768035"/>
              <a:ext cx="78355" cy="304667"/>
            </a:xfrm>
            <a:prstGeom prst="rect">
              <a:avLst/>
            </a:prstGeom>
          </p:spPr>
        </p:pic>
      </p:grpSp>
      <p:sp>
        <p:nvSpPr>
          <p:cNvPr id="28" name="object 28" descr=""/>
          <p:cNvSpPr txBox="1"/>
          <p:nvPr/>
        </p:nvSpPr>
        <p:spPr>
          <a:xfrm>
            <a:off x="3368364" y="2161920"/>
            <a:ext cx="195580" cy="733425"/>
          </a:xfrm>
          <a:prstGeom prst="rect">
            <a:avLst/>
          </a:prstGeom>
        </p:spPr>
        <p:txBody>
          <a:bodyPr wrap="square" lIns="0" tIns="48260" rIns="0" bIns="0" rtlCol="0" vert="horz">
            <a:spAutoFit/>
          </a:bodyPr>
          <a:lstStyle/>
          <a:p>
            <a:pPr algn="just" marL="12700" marR="5080">
              <a:lnSpc>
                <a:spcPts val="1320"/>
              </a:lnSpc>
              <a:spcBef>
                <a:spcPts val="380"/>
              </a:spcBef>
            </a:pPr>
            <a:r>
              <a:rPr dirty="0" sz="1300" spc="-50" b="1">
                <a:latin typeface="宋体"/>
                <a:cs typeface="宋体"/>
              </a:rPr>
              <a:t>指令队列</a:t>
            </a:r>
            <a:endParaRPr sz="1300">
              <a:latin typeface="宋体"/>
              <a:cs typeface="宋体"/>
            </a:endParaRPr>
          </a:p>
        </p:txBody>
      </p:sp>
      <p:grpSp>
        <p:nvGrpSpPr>
          <p:cNvPr id="29" name="object 29" descr=""/>
          <p:cNvGrpSpPr/>
          <p:nvPr/>
        </p:nvGrpSpPr>
        <p:grpSpPr>
          <a:xfrm>
            <a:off x="3232546" y="1767769"/>
            <a:ext cx="6118860" cy="3537585"/>
            <a:chOff x="3232546" y="1767769"/>
            <a:chExt cx="6118860" cy="3537585"/>
          </a:xfrm>
        </p:grpSpPr>
        <p:sp>
          <p:nvSpPr>
            <p:cNvPr id="30" name="object 30" descr=""/>
            <p:cNvSpPr/>
            <p:nvPr/>
          </p:nvSpPr>
          <p:spPr>
            <a:xfrm>
              <a:off x="6129680" y="1778989"/>
              <a:ext cx="3214370" cy="0"/>
            </a:xfrm>
            <a:custGeom>
              <a:avLst/>
              <a:gdLst/>
              <a:ahLst/>
              <a:cxnLst/>
              <a:rect l="l" t="t" r="r" b="b"/>
              <a:pathLst>
                <a:path w="3214370" h="0">
                  <a:moveTo>
                    <a:pt x="0" y="0"/>
                  </a:moveTo>
                  <a:lnTo>
                    <a:pt x="3214273" y="0"/>
                  </a:lnTo>
                </a:path>
              </a:pathLst>
            </a:custGeom>
            <a:ln w="14059">
              <a:solidFill>
                <a:srgbClr val="000000"/>
              </a:solidFill>
            </a:ln>
          </p:spPr>
          <p:txBody>
            <a:bodyPr wrap="square" lIns="0" tIns="0" rIns="0" bIns="0" rtlCol="0"/>
            <a:lstStyle/>
            <a:p/>
          </p:txBody>
        </p:sp>
        <p:sp>
          <p:nvSpPr>
            <p:cNvPr id="31" name="object 31" descr=""/>
            <p:cNvSpPr/>
            <p:nvPr/>
          </p:nvSpPr>
          <p:spPr>
            <a:xfrm>
              <a:off x="6092107" y="1769356"/>
              <a:ext cx="75565" cy="360680"/>
            </a:xfrm>
            <a:custGeom>
              <a:avLst/>
              <a:gdLst/>
              <a:ahLst/>
              <a:cxnLst/>
              <a:rect l="l" t="t" r="r" b="b"/>
              <a:pathLst>
                <a:path w="75564" h="360680">
                  <a:moveTo>
                    <a:pt x="0" y="247247"/>
                  </a:moveTo>
                  <a:lnTo>
                    <a:pt x="37572" y="360388"/>
                  </a:lnTo>
                  <a:lnTo>
                    <a:pt x="59526" y="294279"/>
                  </a:lnTo>
                  <a:lnTo>
                    <a:pt x="32663" y="294279"/>
                  </a:lnTo>
                  <a:lnTo>
                    <a:pt x="28132" y="290123"/>
                  </a:lnTo>
                  <a:lnTo>
                    <a:pt x="28132" y="275391"/>
                  </a:lnTo>
                  <a:lnTo>
                    <a:pt x="0" y="247247"/>
                  </a:lnTo>
                  <a:close/>
                </a:path>
                <a:path w="75564" h="360680">
                  <a:moveTo>
                    <a:pt x="28132" y="275391"/>
                  </a:moveTo>
                  <a:lnTo>
                    <a:pt x="28132" y="290123"/>
                  </a:lnTo>
                  <a:lnTo>
                    <a:pt x="32663" y="294279"/>
                  </a:lnTo>
                  <a:lnTo>
                    <a:pt x="42481" y="294279"/>
                  </a:lnTo>
                  <a:lnTo>
                    <a:pt x="47013" y="290123"/>
                  </a:lnTo>
                  <a:lnTo>
                    <a:pt x="47013" y="284835"/>
                  </a:lnTo>
                  <a:lnTo>
                    <a:pt x="37572" y="284835"/>
                  </a:lnTo>
                  <a:lnTo>
                    <a:pt x="28132" y="275391"/>
                  </a:lnTo>
                  <a:close/>
                </a:path>
                <a:path w="75564" h="360680">
                  <a:moveTo>
                    <a:pt x="75145" y="247247"/>
                  </a:moveTo>
                  <a:lnTo>
                    <a:pt x="47013" y="275391"/>
                  </a:lnTo>
                  <a:lnTo>
                    <a:pt x="47013" y="290123"/>
                  </a:lnTo>
                  <a:lnTo>
                    <a:pt x="42481" y="294279"/>
                  </a:lnTo>
                  <a:lnTo>
                    <a:pt x="59526" y="294279"/>
                  </a:lnTo>
                  <a:lnTo>
                    <a:pt x="75145" y="247247"/>
                  </a:lnTo>
                  <a:close/>
                </a:path>
                <a:path w="75564" h="360680">
                  <a:moveTo>
                    <a:pt x="42481" y="0"/>
                  </a:moveTo>
                  <a:lnTo>
                    <a:pt x="32663" y="0"/>
                  </a:lnTo>
                  <a:lnTo>
                    <a:pt x="28132" y="4155"/>
                  </a:lnTo>
                  <a:lnTo>
                    <a:pt x="28132" y="275391"/>
                  </a:lnTo>
                  <a:lnTo>
                    <a:pt x="37572" y="284835"/>
                  </a:lnTo>
                  <a:lnTo>
                    <a:pt x="47013" y="275391"/>
                  </a:lnTo>
                  <a:lnTo>
                    <a:pt x="47013" y="4155"/>
                  </a:lnTo>
                  <a:lnTo>
                    <a:pt x="42481" y="0"/>
                  </a:lnTo>
                  <a:close/>
                </a:path>
                <a:path w="75564" h="360680">
                  <a:moveTo>
                    <a:pt x="47013" y="275391"/>
                  </a:moveTo>
                  <a:lnTo>
                    <a:pt x="37572" y="284835"/>
                  </a:lnTo>
                  <a:lnTo>
                    <a:pt x="47013" y="284835"/>
                  </a:lnTo>
                  <a:lnTo>
                    <a:pt x="47013" y="275391"/>
                  </a:lnTo>
                  <a:close/>
                </a:path>
              </a:pathLst>
            </a:custGeom>
            <a:solidFill>
              <a:srgbClr val="000000"/>
            </a:solidFill>
          </p:spPr>
          <p:txBody>
            <a:bodyPr wrap="square" lIns="0" tIns="0" rIns="0" bIns="0" rtlCol="0"/>
            <a:lstStyle/>
            <a:p/>
          </p:txBody>
        </p:sp>
        <p:sp>
          <p:nvSpPr>
            <p:cNvPr id="32" name="object 32" descr=""/>
            <p:cNvSpPr/>
            <p:nvPr/>
          </p:nvSpPr>
          <p:spPr>
            <a:xfrm>
              <a:off x="6092107" y="1769356"/>
              <a:ext cx="75565" cy="360680"/>
            </a:xfrm>
            <a:custGeom>
              <a:avLst/>
              <a:gdLst/>
              <a:ahLst/>
              <a:cxnLst/>
              <a:rect l="l" t="t" r="r" b="b"/>
              <a:pathLst>
                <a:path w="75564" h="360680">
                  <a:moveTo>
                    <a:pt x="47013" y="9633"/>
                  </a:moveTo>
                  <a:lnTo>
                    <a:pt x="47013" y="284835"/>
                  </a:lnTo>
                  <a:lnTo>
                    <a:pt x="47013" y="290123"/>
                  </a:lnTo>
                  <a:lnTo>
                    <a:pt x="42481" y="294279"/>
                  </a:lnTo>
                  <a:lnTo>
                    <a:pt x="37572" y="294279"/>
                  </a:lnTo>
                  <a:lnTo>
                    <a:pt x="32663" y="294279"/>
                  </a:lnTo>
                  <a:lnTo>
                    <a:pt x="28132" y="290123"/>
                  </a:lnTo>
                  <a:lnTo>
                    <a:pt x="28132" y="284835"/>
                  </a:lnTo>
                  <a:lnTo>
                    <a:pt x="28132" y="9633"/>
                  </a:lnTo>
                  <a:lnTo>
                    <a:pt x="28132" y="4155"/>
                  </a:lnTo>
                  <a:lnTo>
                    <a:pt x="32663" y="0"/>
                  </a:lnTo>
                  <a:lnTo>
                    <a:pt x="37572" y="0"/>
                  </a:lnTo>
                  <a:lnTo>
                    <a:pt x="42481" y="0"/>
                  </a:lnTo>
                  <a:lnTo>
                    <a:pt x="47013" y="4155"/>
                  </a:lnTo>
                  <a:lnTo>
                    <a:pt x="47013" y="9633"/>
                  </a:lnTo>
                  <a:close/>
                </a:path>
                <a:path w="75564" h="360680">
                  <a:moveTo>
                    <a:pt x="37572" y="284835"/>
                  </a:moveTo>
                  <a:lnTo>
                    <a:pt x="75145" y="247247"/>
                  </a:lnTo>
                  <a:lnTo>
                    <a:pt x="37572" y="360388"/>
                  </a:lnTo>
                  <a:lnTo>
                    <a:pt x="0" y="247247"/>
                  </a:lnTo>
                  <a:lnTo>
                    <a:pt x="37572" y="284835"/>
                  </a:lnTo>
                  <a:close/>
                </a:path>
              </a:pathLst>
            </a:custGeom>
            <a:ln w="3175">
              <a:solidFill>
                <a:srgbClr val="000000"/>
              </a:solidFill>
            </a:ln>
          </p:spPr>
          <p:txBody>
            <a:bodyPr wrap="square" lIns="0" tIns="0" rIns="0" bIns="0" rtlCol="0"/>
            <a:lstStyle/>
            <a:p/>
          </p:txBody>
        </p:sp>
        <p:sp>
          <p:nvSpPr>
            <p:cNvPr id="33" name="object 33" descr=""/>
            <p:cNvSpPr/>
            <p:nvPr/>
          </p:nvSpPr>
          <p:spPr>
            <a:xfrm>
              <a:off x="7639770" y="4759749"/>
              <a:ext cx="76200" cy="536575"/>
            </a:xfrm>
            <a:custGeom>
              <a:avLst/>
              <a:gdLst/>
              <a:ahLst/>
              <a:cxnLst/>
              <a:rect l="l" t="t" r="r" b="b"/>
              <a:pathLst>
                <a:path w="76200" h="536575">
                  <a:moveTo>
                    <a:pt x="0" y="422795"/>
                  </a:moveTo>
                  <a:lnTo>
                    <a:pt x="37572" y="535954"/>
                  </a:lnTo>
                  <a:lnTo>
                    <a:pt x="59847" y="469864"/>
                  </a:lnTo>
                  <a:lnTo>
                    <a:pt x="32663" y="469864"/>
                  </a:lnTo>
                  <a:lnTo>
                    <a:pt x="28132" y="465785"/>
                  </a:lnTo>
                  <a:lnTo>
                    <a:pt x="28132" y="450924"/>
                  </a:lnTo>
                  <a:lnTo>
                    <a:pt x="0" y="422795"/>
                  </a:lnTo>
                  <a:close/>
                </a:path>
                <a:path w="76200" h="536575">
                  <a:moveTo>
                    <a:pt x="28132" y="450924"/>
                  </a:moveTo>
                  <a:lnTo>
                    <a:pt x="28132" y="465785"/>
                  </a:lnTo>
                  <a:lnTo>
                    <a:pt x="32663" y="469864"/>
                  </a:lnTo>
                  <a:lnTo>
                    <a:pt x="43048" y="469864"/>
                  </a:lnTo>
                  <a:lnTo>
                    <a:pt x="47202" y="465785"/>
                  </a:lnTo>
                  <a:lnTo>
                    <a:pt x="47202" y="460364"/>
                  </a:lnTo>
                  <a:lnTo>
                    <a:pt x="37572" y="460364"/>
                  </a:lnTo>
                  <a:lnTo>
                    <a:pt x="28132" y="450924"/>
                  </a:lnTo>
                  <a:close/>
                </a:path>
                <a:path w="76200" h="536575">
                  <a:moveTo>
                    <a:pt x="75712" y="422795"/>
                  </a:moveTo>
                  <a:lnTo>
                    <a:pt x="47202" y="450924"/>
                  </a:lnTo>
                  <a:lnTo>
                    <a:pt x="47202" y="465785"/>
                  </a:lnTo>
                  <a:lnTo>
                    <a:pt x="43048" y="469864"/>
                  </a:lnTo>
                  <a:lnTo>
                    <a:pt x="59847" y="469864"/>
                  </a:lnTo>
                  <a:lnTo>
                    <a:pt x="75712" y="422795"/>
                  </a:lnTo>
                  <a:close/>
                </a:path>
                <a:path w="76200" h="536575">
                  <a:moveTo>
                    <a:pt x="43048" y="0"/>
                  </a:moveTo>
                  <a:lnTo>
                    <a:pt x="32663" y="0"/>
                  </a:lnTo>
                  <a:lnTo>
                    <a:pt x="28132" y="4514"/>
                  </a:lnTo>
                  <a:lnTo>
                    <a:pt x="28132" y="450924"/>
                  </a:lnTo>
                  <a:lnTo>
                    <a:pt x="37572" y="460364"/>
                  </a:lnTo>
                  <a:lnTo>
                    <a:pt x="47155" y="450924"/>
                  </a:lnTo>
                  <a:lnTo>
                    <a:pt x="47202" y="4514"/>
                  </a:lnTo>
                  <a:lnTo>
                    <a:pt x="43048" y="0"/>
                  </a:lnTo>
                  <a:close/>
                </a:path>
                <a:path w="76200" h="536575">
                  <a:moveTo>
                    <a:pt x="47202" y="450924"/>
                  </a:moveTo>
                  <a:lnTo>
                    <a:pt x="37572" y="460364"/>
                  </a:lnTo>
                  <a:lnTo>
                    <a:pt x="47202" y="460364"/>
                  </a:lnTo>
                  <a:lnTo>
                    <a:pt x="47202" y="450924"/>
                  </a:lnTo>
                  <a:close/>
                </a:path>
              </a:pathLst>
            </a:custGeom>
            <a:solidFill>
              <a:srgbClr val="000000"/>
            </a:solidFill>
          </p:spPr>
          <p:txBody>
            <a:bodyPr wrap="square" lIns="0" tIns="0" rIns="0" bIns="0" rtlCol="0"/>
            <a:lstStyle/>
            <a:p/>
          </p:txBody>
        </p:sp>
        <p:sp>
          <p:nvSpPr>
            <p:cNvPr id="34" name="object 34" descr=""/>
            <p:cNvSpPr/>
            <p:nvPr/>
          </p:nvSpPr>
          <p:spPr>
            <a:xfrm>
              <a:off x="7639769" y="4759749"/>
              <a:ext cx="76200" cy="536575"/>
            </a:xfrm>
            <a:custGeom>
              <a:avLst/>
              <a:gdLst/>
              <a:ahLst/>
              <a:cxnLst/>
              <a:rect l="l" t="t" r="r" b="b"/>
              <a:pathLst>
                <a:path w="76200" h="536575">
                  <a:moveTo>
                    <a:pt x="47202" y="9500"/>
                  </a:moveTo>
                  <a:lnTo>
                    <a:pt x="47202" y="460364"/>
                  </a:lnTo>
                  <a:lnTo>
                    <a:pt x="47202" y="465784"/>
                  </a:lnTo>
                  <a:lnTo>
                    <a:pt x="43048" y="469864"/>
                  </a:lnTo>
                  <a:lnTo>
                    <a:pt x="37572" y="469864"/>
                  </a:lnTo>
                  <a:lnTo>
                    <a:pt x="32663" y="469864"/>
                  </a:lnTo>
                  <a:lnTo>
                    <a:pt x="28132" y="465784"/>
                  </a:lnTo>
                  <a:lnTo>
                    <a:pt x="28132" y="460364"/>
                  </a:lnTo>
                  <a:lnTo>
                    <a:pt x="28132" y="9500"/>
                  </a:lnTo>
                  <a:lnTo>
                    <a:pt x="28132" y="4514"/>
                  </a:lnTo>
                  <a:lnTo>
                    <a:pt x="32663" y="0"/>
                  </a:lnTo>
                  <a:lnTo>
                    <a:pt x="37572" y="0"/>
                  </a:lnTo>
                  <a:lnTo>
                    <a:pt x="43048" y="0"/>
                  </a:lnTo>
                  <a:lnTo>
                    <a:pt x="47202" y="4514"/>
                  </a:lnTo>
                  <a:lnTo>
                    <a:pt x="47202" y="9500"/>
                  </a:lnTo>
                  <a:close/>
                </a:path>
                <a:path w="76200" h="536575">
                  <a:moveTo>
                    <a:pt x="37572" y="460364"/>
                  </a:moveTo>
                  <a:lnTo>
                    <a:pt x="75712" y="422795"/>
                  </a:lnTo>
                  <a:lnTo>
                    <a:pt x="37572" y="535954"/>
                  </a:lnTo>
                  <a:lnTo>
                    <a:pt x="0" y="422795"/>
                  </a:lnTo>
                  <a:lnTo>
                    <a:pt x="37572" y="460364"/>
                  </a:lnTo>
                  <a:close/>
                </a:path>
              </a:pathLst>
            </a:custGeom>
            <a:ln w="3175">
              <a:solidFill>
                <a:srgbClr val="000000"/>
              </a:solidFill>
            </a:ln>
          </p:spPr>
          <p:txBody>
            <a:bodyPr wrap="square" lIns="0" tIns="0" rIns="0" bIns="0" rtlCol="0"/>
            <a:lstStyle/>
            <a:p/>
          </p:txBody>
        </p:sp>
        <p:sp>
          <p:nvSpPr>
            <p:cNvPr id="35" name="object 35" descr=""/>
            <p:cNvSpPr/>
            <p:nvPr/>
          </p:nvSpPr>
          <p:spPr>
            <a:xfrm>
              <a:off x="3830730" y="3437003"/>
              <a:ext cx="76200" cy="681355"/>
            </a:xfrm>
            <a:custGeom>
              <a:avLst/>
              <a:gdLst/>
              <a:ahLst/>
              <a:cxnLst/>
              <a:rect l="l" t="t" r="r" b="b"/>
              <a:pathLst>
                <a:path w="76200" h="681354">
                  <a:moveTo>
                    <a:pt x="0" y="567781"/>
                  </a:moveTo>
                  <a:lnTo>
                    <a:pt x="36723" y="681300"/>
                  </a:lnTo>
                  <a:lnTo>
                    <a:pt x="59581" y="615191"/>
                  </a:lnTo>
                  <a:lnTo>
                    <a:pt x="32191" y="615191"/>
                  </a:lnTo>
                  <a:lnTo>
                    <a:pt x="28113" y="611224"/>
                  </a:lnTo>
                  <a:lnTo>
                    <a:pt x="28193" y="596226"/>
                  </a:lnTo>
                  <a:lnTo>
                    <a:pt x="0" y="567781"/>
                  </a:lnTo>
                  <a:close/>
                </a:path>
                <a:path w="76200" h="681354">
                  <a:moveTo>
                    <a:pt x="28193" y="596226"/>
                  </a:moveTo>
                  <a:lnTo>
                    <a:pt x="28113" y="611224"/>
                  </a:lnTo>
                  <a:lnTo>
                    <a:pt x="32191" y="615191"/>
                  </a:lnTo>
                  <a:lnTo>
                    <a:pt x="42614" y="615191"/>
                  </a:lnTo>
                  <a:lnTo>
                    <a:pt x="46692" y="611224"/>
                  </a:lnTo>
                  <a:lnTo>
                    <a:pt x="47145" y="606124"/>
                  </a:lnTo>
                  <a:lnTo>
                    <a:pt x="47148" y="605747"/>
                  </a:lnTo>
                  <a:lnTo>
                    <a:pt x="37629" y="605747"/>
                  </a:lnTo>
                  <a:lnTo>
                    <a:pt x="28193" y="596226"/>
                  </a:lnTo>
                  <a:close/>
                </a:path>
                <a:path w="76200" h="681354">
                  <a:moveTo>
                    <a:pt x="75712" y="568537"/>
                  </a:moveTo>
                  <a:lnTo>
                    <a:pt x="47227" y="596369"/>
                  </a:lnTo>
                  <a:lnTo>
                    <a:pt x="47145" y="606124"/>
                  </a:lnTo>
                  <a:lnTo>
                    <a:pt x="46692" y="611224"/>
                  </a:lnTo>
                  <a:lnTo>
                    <a:pt x="42614" y="615191"/>
                  </a:lnTo>
                  <a:lnTo>
                    <a:pt x="59581" y="615191"/>
                  </a:lnTo>
                  <a:lnTo>
                    <a:pt x="75712" y="568537"/>
                  </a:lnTo>
                  <a:close/>
                </a:path>
                <a:path w="76200" h="681354">
                  <a:moveTo>
                    <a:pt x="48051" y="0"/>
                  </a:moveTo>
                  <a:lnTo>
                    <a:pt x="37176" y="0"/>
                  </a:lnTo>
                  <a:lnTo>
                    <a:pt x="33098" y="4155"/>
                  </a:lnTo>
                  <a:lnTo>
                    <a:pt x="33098" y="9633"/>
                  </a:lnTo>
                  <a:lnTo>
                    <a:pt x="28193" y="596226"/>
                  </a:lnTo>
                  <a:lnTo>
                    <a:pt x="37629" y="605747"/>
                  </a:lnTo>
                  <a:lnTo>
                    <a:pt x="47227" y="596369"/>
                  </a:lnTo>
                  <a:lnTo>
                    <a:pt x="52148" y="9633"/>
                  </a:lnTo>
                  <a:lnTo>
                    <a:pt x="52148" y="4533"/>
                  </a:lnTo>
                  <a:lnTo>
                    <a:pt x="48051" y="0"/>
                  </a:lnTo>
                  <a:close/>
                </a:path>
                <a:path w="76200" h="681354">
                  <a:moveTo>
                    <a:pt x="47227" y="596369"/>
                  </a:moveTo>
                  <a:lnTo>
                    <a:pt x="37629" y="605747"/>
                  </a:lnTo>
                  <a:lnTo>
                    <a:pt x="47148" y="605747"/>
                  </a:lnTo>
                  <a:lnTo>
                    <a:pt x="47227" y="596369"/>
                  </a:lnTo>
                  <a:close/>
                </a:path>
              </a:pathLst>
            </a:custGeom>
            <a:solidFill>
              <a:srgbClr val="000000"/>
            </a:solidFill>
          </p:spPr>
          <p:txBody>
            <a:bodyPr wrap="square" lIns="0" tIns="0" rIns="0" bIns="0" rtlCol="0"/>
            <a:lstStyle/>
            <a:p/>
          </p:txBody>
        </p:sp>
        <p:sp>
          <p:nvSpPr>
            <p:cNvPr id="36" name="object 36" descr=""/>
            <p:cNvSpPr/>
            <p:nvPr/>
          </p:nvSpPr>
          <p:spPr>
            <a:xfrm>
              <a:off x="3830730" y="3437003"/>
              <a:ext cx="76200" cy="681355"/>
            </a:xfrm>
            <a:custGeom>
              <a:avLst/>
              <a:gdLst/>
              <a:ahLst/>
              <a:cxnLst/>
              <a:rect l="l" t="t" r="r" b="b"/>
              <a:pathLst>
                <a:path w="76200" h="681354">
                  <a:moveTo>
                    <a:pt x="52148" y="9633"/>
                  </a:moveTo>
                  <a:lnTo>
                    <a:pt x="47145" y="606124"/>
                  </a:lnTo>
                  <a:lnTo>
                    <a:pt x="46692" y="611224"/>
                  </a:lnTo>
                  <a:lnTo>
                    <a:pt x="42614" y="615191"/>
                  </a:lnTo>
                  <a:lnTo>
                    <a:pt x="37176" y="615191"/>
                  </a:lnTo>
                  <a:lnTo>
                    <a:pt x="32191" y="615191"/>
                  </a:lnTo>
                  <a:lnTo>
                    <a:pt x="28113" y="611224"/>
                  </a:lnTo>
                  <a:lnTo>
                    <a:pt x="28113" y="605747"/>
                  </a:lnTo>
                  <a:lnTo>
                    <a:pt x="33098" y="9633"/>
                  </a:lnTo>
                  <a:lnTo>
                    <a:pt x="33098" y="4155"/>
                  </a:lnTo>
                  <a:lnTo>
                    <a:pt x="37176" y="0"/>
                  </a:lnTo>
                  <a:lnTo>
                    <a:pt x="42614" y="0"/>
                  </a:lnTo>
                  <a:lnTo>
                    <a:pt x="48051" y="0"/>
                  </a:lnTo>
                  <a:lnTo>
                    <a:pt x="52148" y="4533"/>
                  </a:lnTo>
                  <a:lnTo>
                    <a:pt x="52148" y="9633"/>
                  </a:lnTo>
                  <a:close/>
                </a:path>
                <a:path w="76200" h="681354">
                  <a:moveTo>
                    <a:pt x="37629" y="605747"/>
                  </a:moveTo>
                  <a:lnTo>
                    <a:pt x="75712" y="568537"/>
                  </a:lnTo>
                  <a:lnTo>
                    <a:pt x="36723" y="681300"/>
                  </a:lnTo>
                  <a:lnTo>
                    <a:pt x="0" y="567781"/>
                  </a:lnTo>
                  <a:lnTo>
                    <a:pt x="37629" y="605747"/>
                  </a:lnTo>
                  <a:close/>
                </a:path>
              </a:pathLst>
            </a:custGeom>
            <a:ln w="3175">
              <a:solidFill>
                <a:srgbClr val="000000"/>
              </a:solidFill>
            </a:ln>
          </p:spPr>
          <p:txBody>
            <a:bodyPr wrap="square" lIns="0" tIns="0" rIns="0" bIns="0" rtlCol="0"/>
            <a:lstStyle/>
            <a:p/>
          </p:txBody>
        </p:sp>
        <p:sp>
          <p:nvSpPr>
            <p:cNvPr id="37" name="object 37" descr=""/>
            <p:cNvSpPr/>
            <p:nvPr/>
          </p:nvSpPr>
          <p:spPr>
            <a:xfrm>
              <a:off x="6845453" y="3455136"/>
              <a:ext cx="76200" cy="780415"/>
            </a:xfrm>
            <a:custGeom>
              <a:avLst/>
              <a:gdLst/>
              <a:ahLst/>
              <a:cxnLst/>
              <a:rect l="l" t="t" r="r" b="b"/>
              <a:pathLst>
                <a:path w="76200" h="780414">
                  <a:moveTo>
                    <a:pt x="0" y="667247"/>
                  </a:moveTo>
                  <a:lnTo>
                    <a:pt x="38139" y="779972"/>
                  </a:lnTo>
                  <a:lnTo>
                    <a:pt x="59929" y="714335"/>
                  </a:lnTo>
                  <a:lnTo>
                    <a:pt x="33230" y="714335"/>
                  </a:lnTo>
                  <a:lnTo>
                    <a:pt x="28698" y="709802"/>
                  </a:lnTo>
                  <a:lnTo>
                    <a:pt x="28673" y="695492"/>
                  </a:lnTo>
                  <a:lnTo>
                    <a:pt x="0" y="667247"/>
                  </a:lnTo>
                  <a:close/>
                </a:path>
                <a:path w="76200" h="780414">
                  <a:moveTo>
                    <a:pt x="28673" y="695492"/>
                  </a:moveTo>
                  <a:lnTo>
                    <a:pt x="28698" y="709802"/>
                  </a:lnTo>
                  <a:lnTo>
                    <a:pt x="33230" y="714335"/>
                  </a:lnTo>
                  <a:lnTo>
                    <a:pt x="38139" y="713882"/>
                  </a:lnTo>
                  <a:lnTo>
                    <a:pt x="43048" y="713882"/>
                  </a:lnTo>
                  <a:lnTo>
                    <a:pt x="47579" y="709802"/>
                  </a:lnTo>
                  <a:lnTo>
                    <a:pt x="47579" y="704816"/>
                  </a:lnTo>
                  <a:lnTo>
                    <a:pt x="38139" y="704816"/>
                  </a:lnTo>
                  <a:lnTo>
                    <a:pt x="28673" y="695492"/>
                  </a:lnTo>
                  <a:close/>
                </a:path>
                <a:path w="76200" h="780414">
                  <a:moveTo>
                    <a:pt x="75712" y="666794"/>
                  </a:moveTo>
                  <a:lnTo>
                    <a:pt x="47556" y="695286"/>
                  </a:lnTo>
                  <a:lnTo>
                    <a:pt x="47579" y="709802"/>
                  </a:lnTo>
                  <a:lnTo>
                    <a:pt x="43048" y="713882"/>
                  </a:lnTo>
                  <a:lnTo>
                    <a:pt x="38139" y="713882"/>
                  </a:lnTo>
                  <a:lnTo>
                    <a:pt x="33230" y="714335"/>
                  </a:lnTo>
                  <a:lnTo>
                    <a:pt x="59929" y="714335"/>
                  </a:lnTo>
                  <a:lnTo>
                    <a:pt x="75712" y="666794"/>
                  </a:lnTo>
                  <a:close/>
                </a:path>
                <a:path w="76200" h="780414">
                  <a:moveTo>
                    <a:pt x="41726" y="0"/>
                  </a:moveTo>
                  <a:lnTo>
                    <a:pt x="30964" y="0"/>
                  </a:lnTo>
                  <a:lnTo>
                    <a:pt x="26810" y="4155"/>
                  </a:lnTo>
                  <a:lnTo>
                    <a:pt x="26810" y="9444"/>
                  </a:lnTo>
                  <a:lnTo>
                    <a:pt x="28595" y="666794"/>
                  </a:lnTo>
                  <a:lnTo>
                    <a:pt x="28673" y="695492"/>
                  </a:lnTo>
                  <a:lnTo>
                    <a:pt x="38139" y="704816"/>
                  </a:lnTo>
                  <a:lnTo>
                    <a:pt x="47556" y="695286"/>
                  </a:lnTo>
                  <a:lnTo>
                    <a:pt x="45880" y="9444"/>
                  </a:lnTo>
                  <a:lnTo>
                    <a:pt x="45880" y="4155"/>
                  </a:lnTo>
                  <a:lnTo>
                    <a:pt x="41726" y="0"/>
                  </a:lnTo>
                  <a:close/>
                </a:path>
                <a:path w="76200" h="780414">
                  <a:moveTo>
                    <a:pt x="47556" y="695286"/>
                  </a:moveTo>
                  <a:lnTo>
                    <a:pt x="38139" y="704816"/>
                  </a:lnTo>
                  <a:lnTo>
                    <a:pt x="47579" y="704816"/>
                  </a:lnTo>
                  <a:lnTo>
                    <a:pt x="47556" y="695286"/>
                  </a:lnTo>
                  <a:close/>
                </a:path>
              </a:pathLst>
            </a:custGeom>
            <a:solidFill>
              <a:srgbClr val="000000"/>
            </a:solidFill>
          </p:spPr>
          <p:txBody>
            <a:bodyPr wrap="square" lIns="0" tIns="0" rIns="0" bIns="0" rtlCol="0"/>
            <a:lstStyle/>
            <a:p/>
          </p:txBody>
        </p:sp>
        <p:sp>
          <p:nvSpPr>
            <p:cNvPr id="38" name="object 38" descr=""/>
            <p:cNvSpPr/>
            <p:nvPr/>
          </p:nvSpPr>
          <p:spPr>
            <a:xfrm>
              <a:off x="6845453" y="3455136"/>
              <a:ext cx="76200" cy="780415"/>
            </a:xfrm>
            <a:custGeom>
              <a:avLst/>
              <a:gdLst/>
              <a:ahLst/>
              <a:cxnLst/>
              <a:rect l="l" t="t" r="r" b="b"/>
              <a:pathLst>
                <a:path w="76200" h="780414">
                  <a:moveTo>
                    <a:pt x="45880" y="9444"/>
                  </a:moveTo>
                  <a:lnTo>
                    <a:pt x="47579" y="704816"/>
                  </a:lnTo>
                  <a:lnTo>
                    <a:pt x="47579" y="709802"/>
                  </a:lnTo>
                  <a:lnTo>
                    <a:pt x="43048" y="713882"/>
                  </a:lnTo>
                  <a:lnTo>
                    <a:pt x="38139" y="713882"/>
                  </a:lnTo>
                  <a:lnTo>
                    <a:pt x="33230" y="714335"/>
                  </a:lnTo>
                  <a:lnTo>
                    <a:pt x="28698" y="709802"/>
                  </a:lnTo>
                  <a:lnTo>
                    <a:pt x="28698" y="704816"/>
                  </a:lnTo>
                  <a:lnTo>
                    <a:pt x="26810" y="9444"/>
                  </a:lnTo>
                  <a:lnTo>
                    <a:pt x="26810" y="4155"/>
                  </a:lnTo>
                  <a:lnTo>
                    <a:pt x="30964" y="0"/>
                  </a:lnTo>
                  <a:lnTo>
                    <a:pt x="36251" y="0"/>
                  </a:lnTo>
                  <a:lnTo>
                    <a:pt x="41726" y="0"/>
                  </a:lnTo>
                  <a:lnTo>
                    <a:pt x="45880" y="4155"/>
                  </a:lnTo>
                  <a:lnTo>
                    <a:pt x="45880" y="9444"/>
                  </a:lnTo>
                  <a:close/>
                </a:path>
                <a:path w="76200" h="780414">
                  <a:moveTo>
                    <a:pt x="38139" y="704816"/>
                  </a:moveTo>
                  <a:lnTo>
                    <a:pt x="75712" y="666794"/>
                  </a:lnTo>
                  <a:lnTo>
                    <a:pt x="38139" y="779972"/>
                  </a:lnTo>
                  <a:lnTo>
                    <a:pt x="0" y="667247"/>
                  </a:lnTo>
                  <a:lnTo>
                    <a:pt x="38139" y="704816"/>
                  </a:lnTo>
                  <a:close/>
                </a:path>
              </a:pathLst>
            </a:custGeom>
            <a:ln w="3175">
              <a:solidFill>
                <a:srgbClr val="000000"/>
              </a:solidFill>
            </a:ln>
          </p:spPr>
          <p:txBody>
            <a:bodyPr wrap="square" lIns="0" tIns="0" rIns="0" bIns="0" rtlCol="0"/>
            <a:lstStyle/>
            <a:p/>
          </p:txBody>
        </p:sp>
        <p:sp>
          <p:nvSpPr>
            <p:cNvPr id="39" name="object 39" descr=""/>
            <p:cNvSpPr/>
            <p:nvPr/>
          </p:nvSpPr>
          <p:spPr>
            <a:xfrm>
              <a:off x="6249385" y="3613608"/>
              <a:ext cx="76200" cy="621665"/>
            </a:xfrm>
            <a:custGeom>
              <a:avLst/>
              <a:gdLst/>
              <a:ahLst/>
              <a:cxnLst/>
              <a:rect l="l" t="t" r="r" b="b"/>
              <a:pathLst>
                <a:path w="76200" h="621664">
                  <a:moveTo>
                    <a:pt x="0" y="508774"/>
                  </a:moveTo>
                  <a:lnTo>
                    <a:pt x="38894" y="621499"/>
                  </a:lnTo>
                  <a:lnTo>
                    <a:pt x="60246" y="555863"/>
                  </a:lnTo>
                  <a:lnTo>
                    <a:pt x="33041" y="555863"/>
                  </a:lnTo>
                  <a:lnTo>
                    <a:pt x="29076" y="551330"/>
                  </a:lnTo>
                  <a:lnTo>
                    <a:pt x="28989" y="537165"/>
                  </a:lnTo>
                  <a:lnTo>
                    <a:pt x="0" y="508774"/>
                  </a:lnTo>
                  <a:close/>
                </a:path>
                <a:path w="76200" h="621664">
                  <a:moveTo>
                    <a:pt x="29106" y="537165"/>
                  </a:moveTo>
                  <a:lnTo>
                    <a:pt x="29076" y="551330"/>
                  </a:lnTo>
                  <a:lnTo>
                    <a:pt x="33041" y="555863"/>
                  </a:lnTo>
                  <a:lnTo>
                    <a:pt x="38516" y="555409"/>
                  </a:lnTo>
                  <a:lnTo>
                    <a:pt x="43425" y="555409"/>
                  </a:lnTo>
                  <a:lnTo>
                    <a:pt x="47957" y="551330"/>
                  </a:lnTo>
                  <a:lnTo>
                    <a:pt x="47579" y="546343"/>
                  </a:lnTo>
                  <a:lnTo>
                    <a:pt x="38516" y="546343"/>
                  </a:lnTo>
                  <a:lnTo>
                    <a:pt x="29106" y="537165"/>
                  </a:lnTo>
                  <a:close/>
                </a:path>
                <a:path w="76200" h="621664">
                  <a:moveTo>
                    <a:pt x="75712" y="508321"/>
                  </a:moveTo>
                  <a:lnTo>
                    <a:pt x="47495" y="537165"/>
                  </a:lnTo>
                  <a:lnTo>
                    <a:pt x="47579" y="546343"/>
                  </a:lnTo>
                  <a:lnTo>
                    <a:pt x="47957" y="551330"/>
                  </a:lnTo>
                  <a:lnTo>
                    <a:pt x="43425" y="555409"/>
                  </a:lnTo>
                  <a:lnTo>
                    <a:pt x="38516" y="555409"/>
                  </a:lnTo>
                  <a:lnTo>
                    <a:pt x="33041" y="555863"/>
                  </a:lnTo>
                  <a:lnTo>
                    <a:pt x="60246" y="555863"/>
                  </a:lnTo>
                  <a:lnTo>
                    <a:pt x="75712" y="508321"/>
                  </a:lnTo>
                  <a:close/>
                </a:path>
                <a:path w="76200" h="621664">
                  <a:moveTo>
                    <a:pt x="38516" y="0"/>
                  </a:moveTo>
                  <a:lnTo>
                    <a:pt x="28132" y="0"/>
                  </a:lnTo>
                  <a:lnTo>
                    <a:pt x="23978" y="4533"/>
                  </a:lnTo>
                  <a:lnTo>
                    <a:pt x="23978" y="9444"/>
                  </a:lnTo>
                  <a:lnTo>
                    <a:pt x="28715" y="508321"/>
                  </a:lnTo>
                  <a:lnTo>
                    <a:pt x="29106" y="537165"/>
                  </a:lnTo>
                  <a:lnTo>
                    <a:pt x="38516" y="546343"/>
                  </a:lnTo>
                  <a:lnTo>
                    <a:pt x="47495" y="537165"/>
                  </a:lnTo>
                  <a:lnTo>
                    <a:pt x="42670" y="9444"/>
                  </a:lnTo>
                  <a:lnTo>
                    <a:pt x="42670" y="3966"/>
                  </a:lnTo>
                  <a:lnTo>
                    <a:pt x="38516" y="0"/>
                  </a:lnTo>
                  <a:close/>
                </a:path>
                <a:path w="76200" h="621664">
                  <a:moveTo>
                    <a:pt x="47495" y="537165"/>
                  </a:moveTo>
                  <a:lnTo>
                    <a:pt x="38516" y="546343"/>
                  </a:lnTo>
                  <a:lnTo>
                    <a:pt x="47579" y="546343"/>
                  </a:lnTo>
                  <a:lnTo>
                    <a:pt x="47495" y="537165"/>
                  </a:lnTo>
                  <a:close/>
                </a:path>
              </a:pathLst>
            </a:custGeom>
            <a:solidFill>
              <a:srgbClr val="000000"/>
            </a:solidFill>
          </p:spPr>
          <p:txBody>
            <a:bodyPr wrap="square" lIns="0" tIns="0" rIns="0" bIns="0" rtlCol="0"/>
            <a:lstStyle/>
            <a:p/>
          </p:txBody>
        </p:sp>
        <p:sp>
          <p:nvSpPr>
            <p:cNvPr id="40" name="object 40" descr=""/>
            <p:cNvSpPr/>
            <p:nvPr/>
          </p:nvSpPr>
          <p:spPr>
            <a:xfrm>
              <a:off x="6249385" y="3613608"/>
              <a:ext cx="76200" cy="621665"/>
            </a:xfrm>
            <a:custGeom>
              <a:avLst/>
              <a:gdLst/>
              <a:ahLst/>
              <a:cxnLst/>
              <a:rect l="l" t="t" r="r" b="b"/>
              <a:pathLst>
                <a:path w="76200" h="621664">
                  <a:moveTo>
                    <a:pt x="42670" y="9444"/>
                  </a:moveTo>
                  <a:lnTo>
                    <a:pt x="47579" y="546343"/>
                  </a:lnTo>
                  <a:lnTo>
                    <a:pt x="47957" y="551330"/>
                  </a:lnTo>
                  <a:lnTo>
                    <a:pt x="43425" y="555409"/>
                  </a:lnTo>
                  <a:lnTo>
                    <a:pt x="38516" y="555409"/>
                  </a:lnTo>
                  <a:lnTo>
                    <a:pt x="33041" y="555863"/>
                  </a:lnTo>
                  <a:lnTo>
                    <a:pt x="29076" y="551330"/>
                  </a:lnTo>
                  <a:lnTo>
                    <a:pt x="29076" y="546343"/>
                  </a:lnTo>
                  <a:lnTo>
                    <a:pt x="23978" y="9444"/>
                  </a:lnTo>
                  <a:lnTo>
                    <a:pt x="23978" y="4533"/>
                  </a:lnTo>
                  <a:lnTo>
                    <a:pt x="28132" y="0"/>
                  </a:lnTo>
                  <a:lnTo>
                    <a:pt x="33607" y="0"/>
                  </a:lnTo>
                  <a:lnTo>
                    <a:pt x="38516" y="0"/>
                  </a:lnTo>
                  <a:lnTo>
                    <a:pt x="42670" y="3966"/>
                  </a:lnTo>
                  <a:lnTo>
                    <a:pt x="42670" y="9444"/>
                  </a:lnTo>
                  <a:close/>
                </a:path>
                <a:path w="76200" h="621664">
                  <a:moveTo>
                    <a:pt x="38516" y="546343"/>
                  </a:moveTo>
                  <a:lnTo>
                    <a:pt x="75712" y="508321"/>
                  </a:lnTo>
                  <a:lnTo>
                    <a:pt x="38894" y="621499"/>
                  </a:lnTo>
                  <a:lnTo>
                    <a:pt x="0" y="508774"/>
                  </a:lnTo>
                  <a:lnTo>
                    <a:pt x="38516" y="546343"/>
                  </a:lnTo>
                  <a:close/>
                </a:path>
              </a:pathLst>
            </a:custGeom>
            <a:ln w="3175">
              <a:solidFill>
                <a:srgbClr val="000000"/>
              </a:solidFill>
            </a:ln>
          </p:spPr>
          <p:txBody>
            <a:bodyPr wrap="square" lIns="0" tIns="0" rIns="0" bIns="0" rtlCol="0"/>
            <a:lstStyle/>
            <a:p/>
          </p:txBody>
        </p:sp>
        <p:sp>
          <p:nvSpPr>
            <p:cNvPr id="41" name="object 41" descr=""/>
            <p:cNvSpPr/>
            <p:nvPr/>
          </p:nvSpPr>
          <p:spPr>
            <a:xfrm>
              <a:off x="3272216" y="3006917"/>
              <a:ext cx="4365625" cy="619760"/>
            </a:xfrm>
            <a:custGeom>
              <a:avLst/>
              <a:gdLst/>
              <a:ahLst/>
              <a:cxnLst/>
              <a:rect l="l" t="t" r="r" b="b"/>
              <a:pathLst>
                <a:path w="4365625" h="619760">
                  <a:moveTo>
                    <a:pt x="0" y="619724"/>
                  </a:moveTo>
                  <a:lnTo>
                    <a:pt x="3016062" y="619724"/>
                  </a:lnTo>
                </a:path>
                <a:path w="4365625" h="619760">
                  <a:moveTo>
                    <a:pt x="595237" y="444630"/>
                  </a:moveTo>
                  <a:lnTo>
                    <a:pt x="4365287" y="444630"/>
                  </a:lnTo>
                </a:path>
                <a:path w="4365625" h="619760">
                  <a:moveTo>
                    <a:pt x="2896924" y="0"/>
                  </a:moveTo>
                  <a:lnTo>
                    <a:pt x="2896924" y="468240"/>
                  </a:lnTo>
                </a:path>
              </a:pathLst>
            </a:custGeom>
            <a:ln w="14056">
              <a:solidFill>
                <a:srgbClr val="000000"/>
              </a:solidFill>
            </a:ln>
          </p:spPr>
          <p:txBody>
            <a:bodyPr wrap="square" lIns="0" tIns="0" rIns="0" bIns="0" rtlCol="0"/>
            <a:lstStyle/>
            <a:p/>
          </p:txBody>
        </p:sp>
        <p:sp>
          <p:nvSpPr>
            <p:cNvPr id="42" name="object 42" descr=""/>
            <p:cNvSpPr/>
            <p:nvPr/>
          </p:nvSpPr>
          <p:spPr>
            <a:xfrm>
              <a:off x="3841153" y="3858967"/>
              <a:ext cx="43815" cy="57785"/>
            </a:xfrm>
            <a:custGeom>
              <a:avLst/>
              <a:gdLst/>
              <a:ahLst/>
              <a:cxnLst/>
              <a:rect l="l" t="t" r="r" b="b"/>
              <a:pathLst>
                <a:path w="43814" h="57785">
                  <a:moveTo>
                    <a:pt x="21769" y="0"/>
                  </a:moveTo>
                  <a:lnTo>
                    <a:pt x="13206" y="2225"/>
                  </a:lnTo>
                  <a:lnTo>
                    <a:pt x="6296" y="8310"/>
                  </a:lnTo>
                  <a:lnTo>
                    <a:pt x="1680" y="17371"/>
                  </a:lnTo>
                  <a:lnTo>
                    <a:pt x="0" y="28521"/>
                  </a:lnTo>
                  <a:lnTo>
                    <a:pt x="1680" y="39889"/>
                  </a:lnTo>
                  <a:lnTo>
                    <a:pt x="6296" y="49062"/>
                  </a:lnTo>
                  <a:lnTo>
                    <a:pt x="13206" y="55189"/>
                  </a:lnTo>
                  <a:lnTo>
                    <a:pt x="21769" y="57420"/>
                  </a:lnTo>
                  <a:lnTo>
                    <a:pt x="30141" y="55189"/>
                  </a:lnTo>
                  <a:lnTo>
                    <a:pt x="37072" y="49062"/>
                  </a:lnTo>
                  <a:lnTo>
                    <a:pt x="41794" y="39889"/>
                  </a:lnTo>
                  <a:lnTo>
                    <a:pt x="43539" y="28521"/>
                  </a:lnTo>
                  <a:lnTo>
                    <a:pt x="41794" y="17371"/>
                  </a:lnTo>
                  <a:lnTo>
                    <a:pt x="37072" y="8310"/>
                  </a:lnTo>
                  <a:lnTo>
                    <a:pt x="30141" y="2225"/>
                  </a:lnTo>
                  <a:lnTo>
                    <a:pt x="21769" y="0"/>
                  </a:lnTo>
                  <a:close/>
                </a:path>
              </a:pathLst>
            </a:custGeom>
            <a:solidFill>
              <a:srgbClr val="000000"/>
            </a:solidFill>
          </p:spPr>
          <p:txBody>
            <a:bodyPr wrap="square" lIns="0" tIns="0" rIns="0" bIns="0" rtlCol="0"/>
            <a:lstStyle/>
            <a:p/>
          </p:txBody>
        </p:sp>
        <p:sp>
          <p:nvSpPr>
            <p:cNvPr id="43" name="object 43" descr=""/>
            <p:cNvSpPr/>
            <p:nvPr/>
          </p:nvSpPr>
          <p:spPr>
            <a:xfrm>
              <a:off x="3841153" y="3858967"/>
              <a:ext cx="43815" cy="57785"/>
            </a:xfrm>
            <a:custGeom>
              <a:avLst/>
              <a:gdLst/>
              <a:ahLst/>
              <a:cxnLst/>
              <a:rect l="l" t="t" r="r" b="b"/>
              <a:pathLst>
                <a:path w="43814" h="57785">
                  <a:moveTo>
                    <a:pt x="21769" y="0"/>
                  </a:moveTo>
                  <a:lnTo>
                    <a:pt x="13206" y="2225"/>
                  </a:lnTo>
                  <a:lnTo>
                    <a:pt x="6296" y="8310"/>
                  </a:lnTo>
                  <a:lnTo>
                    <a:pt x="1680" y="17371"/>
                  </a:lnTo>
                  <a:lnTo>
                    <a:pt x="0" y="28521"/>
                  </a:lnTo>
                  <a:lnTo>
                    <a:pt x="1680" y="39889"/>
                  </a:lnTo>
                  <a:lnTo>
                    <a:pt x="6296" y="49062"/>
                  </a:lnTo>
                  <a:lnTo>
                    <a:pt x="13206" y="55189"/>
                  </a:lnTo>
                  <a:lnTo>
                    <a:pt x="21769" y="57420"/>
                  </a:lnTo>
                  <a:lnTo>
                    <a:pt x="30141" y="55189"/>
                  </a:lnTo>
                  <a:lnTo>
                    <a:pt x="37072" y="49062"/>
                  </a:lnTo>
                  <a:lnTo>
                    <a:pt x="41794" y="39889"/>
                  </a:lnTo>
                  <a:lnTo>
                    <a:pt x="43539" y="28521"/>
                  </a:lnTo>
                  <a:lnTo>
                    <a:pt x="41794" y="17371"/>
                  </a:lnTo>
                  <a:lnTo>
                    <a:pt x="37072" y="8310"/>
                  </a:lnTo>
                  <a:lnTo>
                    <a:pt x="30141" y="2225"/>
                  </a:lnTo>
                  <a:lnTo>
                    <a:pt x="21769" y="0"/>
                  </a:lnTo>
                </a:path>
              </a:pathLst>
            </a:custGeom>
            <a:ln w="14055">
              <a:solidFill>
                <a:srgbClr val="000000"/>
              </a:solidFill>
            </a:ln>
          </p:spPr>
          <p:txBody>
            <a:bodyPr wrap="square" lIns="0" tIns="0" rIns="0" bIns="0" rtlCol="0"/>
            <a:lstStyle/>
            <a:p/>
          </p:txBody>
        </p:sp>
        <p:sp>
          <p:nvSpPr>
            <p:cNvPr id="44" name="object 44" descr=""/>
            <p:cNvSpPr/>
            <p:nvPr/>
          </p:nvSpPr>
          <p:spPr>
            <a:xfrm>
              <a:off x="3234134" y="3613608"/>
              <a:ext cx="76200" cy="504825"/>
            </a:xfrm>
            <a:custGeom>
              <a:avLst/>
              <a:gdLst/>
              <a:ahLst/>
              <a:cxnLst/>
              <a:rect l="l" t="t" r="r" b="b"/>
              <a:pathLst>
                <a:path w="76200" h="504825">
                  <a:moveTo>
                    <a:pt x="0" y="391554"/>
                  </a:moveTo>
                  <a:lnTo>
                    <a:pt x="38082" y="504694"/>
                  </a:lnTo>
                  <a:lnTo>
                    <a:pt x="60058" y="438585"/>
                  </a:lnTo>
                  <a:lnTo>
                    <a:pt x="32626" y="438585"/>
                  </a:lnTo>
                  <a:lnTo>
                    <a:pt x="28547" y="434619"/>
                  </a:lnTo>
                  <a:lnTo>
                    <a:pt x="28507" y="419690"/>
                  </a:lnTo>
                  <a:lnTo>
                    <a:pt x="0" y="391554"/>
                  </a:lnTo>
                  <a:close/>
                </a:path>
                <a:path w="76200" h="504825">
                  <a:moveTo>
                    <a:pt x="28507" y="419690"/>
                  </a:moveTo>
                  <a:lnTo>
                    <a:pt x="28547" y="434619"/>
                  </a:lnTo>
                  <a:lnTo>
                    <a:pt x="32626" y="438585"/>
                  </a:lnTo>
                  <a:lnTo>
                    <a:pt x="43067" y="438585"/>
                  </a:lnTo>
                  <a:lnTo>
                    <a:pt x="47145" y="434619"/>
                  </a:lnTo>
                  <a:lnTo>
                    <a:pt x="47145" y="429141"/>
                  </a:lnTo>
                  <a:lnTo>
                    <a:pt x="38082" y="429141"/>
                  </a:lnTo>
                  <a:lnTo>
                    <a:pt x="28507" y="419690"/>
                  </a:lnTo>
                  <a:close/>
                </a:path>
                <a:path w="76200" h="504825">
                  <a:moveTo>
                    <a:pt x="75693" y="391554"/>
                  </a:moveTo>
                  <a:lnTo>
                    <a:pt x="47116" y="420113"/>
                  </a:lnTo>
                  <a:lnTo>
                    <a:pt x="47145" y="434619"/>
                  </a:lnTo>
                  <a:lnTo>
                    <a:pt x="43067" y="438585"/>
                  </a:lnTo>
                  <a:lnTo>
                    <a:pt x="60058" y="438585"/>
                  </a:lnTo>
                  <a:lnTo>
                    <a:pt x="75693" y="391554"/>
                  </a:lnTo>
                  <a:close/>
                </a:path>
                <a:path w="76200" h="504825">
                  <a:moveTo>
                    <a:pt x="41707" y="0"/>
                  </a:moveTo>
                  <a:lnTo>
                    <a:pt x="31266" y="0"/>
                  </a:lnTo>
                  <a:lnTo>
                    <a:pt x="26735" y="4533"/>
                  </a:lnTo>
                  <a:lnTo>
                    <a:pt x="26735" y="9444"/>
                  </a:lnTo>
                  <a:lnTo>
                    <a:pt x="28385" y="391554"/>
                  </a:lnTo>
                  <a:lnTo>
                    <a:pt x="28507" y="419690"/>
                  </a:lnTo>
                  <a:lnTo>
                    <a:pt x="38082" y="429141"/>
                  </a:lnTo>
                  <a:lnTo>
                    <a:pt x="47116" y="420113"/>
                  </a:lnTo>
                  <a:lnTo>
                    <a:pt x="45786" y="9444"/>
                  </a:lnTo>
                  <a:lnTo>
                    <a:pt x="45786" y="3966"/>
                  </a:lnTo>
                  <a:lnTo>
                    <a:pt x="41707" y="0"/>
                  </a:lnTo>
                  <a:close/>
                </a:path>
                <a:path w="76200" h="504825">
                  <a:moveTo>
                    <a:pt x="47116" y="420113"/>
                  </a:moveTo>
                  <a:lnTo>
                    <a:pt x="38082" y="429141"/>
                  </a:lnTo>
                  <a:lnTo>
                    <a:pt x="47145" y="429141"/>
                  </a:lnTo>
                  <a:lnTo>
                    <a:pt x="47116" y="420113"/>
                  </a:lnTo>
                  <a:close/>
                </a:path>
              </a:pathLst>
            </a:custGeom>
            <a:solidFill>
              <a:srgbClr val="000000"/>
            </a:solidFill>
          </p:spPr>
          <p:txBody>
            <a:bodyPr wrap="square" lIns="0" tIns="0" rIns="0" bIns="0" rtlCol="0"/>
            <a:lstStyle/>
            <a:p/>
          </p:txBody>
        </p:sp>
        <p:sp>
          <p:nvSpPr>
            <p:cNvPr id="45" name="object 45" descr=""/>
            <p:cNvSpPr/>
            <p:nvPr/>
          </p:nvSpPr>
          <p:spPr>
            <a:xfrm>
              <a:off x="3234134" y="3613608"/>
              <a:ext cx="76200" cy="504825"/>
            </a:xfrm>
            <a:custGeom>
              <a:avLst/>
              <a:gdLst/>
              <a:ahLst/>
              <a:cxnLst/>
              <a:rect l="l" t="t" r="r" b="b"/>
              <a:pathLst>
                <a:path w="76200" h="504825">
                  <a:moveTo>
                    <a:pt x="45786" y="9444"/>
                  </a:moveTo>
                  <a:lnTo>
                    <a:pt x="47145" y="429141"/>
                  </a:lnTo>
                  <a:lnTo>
                    <a:pt x="47145" y="434619"/>
                  </a:lnTo>
                  <a:lnTo>
                    <a:pt x="43067" y="438585"/>
                  </a:lnTo>
                  <a:lnTo>
                    <a:pt x="38082" y="438585"/>
                  </a:lnTo>
                  <a:lnTo>
                    <a:pt x="32626" y="438585"/>
                  </a:lnTo>
                  <a:lnTo>
                    <a:pt x="28547" y="434619"/>
                  </a:lnTo>
                  <a:lnTo>
                    <a:pt x="28547" y="429141"/>
                  </a:lnTo>
                  <a:lnTo>
                    <a:pt x="26735" y="9444"/>
                  </a:lnTo>
                  <a:lnTo>
                    <a:pt x="26735" y="4533"/>
                  </a:lnTo>
                  <a:lnTo>
                    <a:pt x="31266" y="0"/>
                  </a:lnTo>
                  <a:lnTo>
                    <a:pt x="36270" y="0"/>
                  </a:lnTo>
                  <a:lnTo>
                    <a:pt x="41707" y="0"/>
                  </a:lnTo>
                  <a:lnTo>
                    <a:pt x="45786" y="3966"/>
                  </a:lnTo>
                  <a:lnTo>
                    <a:pt x="45786" y="9444"/>
                  </a:lnTo>
                  <a:close/>
                </a:path>
                <a:path w="76200" h="504825">
                  <a:moveTo>
                    <a:pt x="38082" y="429141"/>
                  </a:moveTo>
                  <a:lnTo>
                    <a:pt x="75693" y="391554"/>
                  </a:lnTo>
                  <a:lnTo>
                    <a:pt x="38082" y="504694"/>
                  </a:lnTo>
                  <a:lnTo>
                    <a:pt x="0" y="391554"/>
                  </a:lnTo>
                  <a:lnTo>
                    <a:pt x="38082" y="429141"/>
                  </a:lnTo>
                  <a:close/>
                </a:path>
              </a:pathLst>
            </a:custGeom>
            <a:ln w="3175">
              <a:solidFill>
                <a:srgbClr val="000000"/>
              </a:solidFill>
            </a:ln>
          </p:spPr>
          <p:txBody>
            <a:bodyPr wrap="square" lIns="0" tIns="0" rIns="0" bIns="0" rtlCol="0"/>
            <a:lstStyle/>
            <a:p/>
          </p:txBody>
        </p:sp>
        <p:sp>
          <p:nvSpPr>
            <p:cNvPr id="46" name="object 46" descr=""/>
            <p:cNvSpPr/>
            <p:nvPr/>
          </p:nvSpPr>
          <p:spPr>
            <a:xfrm>
              <a:off x="4517559" y="3858967"/>
              <a:ext cx="43815" cy="57785"/>
            </a:xfrm>
            <a:custGeom>
              <a:avLst/>
              <a:gdLst/>
              <a:ahLst/>
              <a:cxnLst/>
              <a:rect l="l" t="t" r="r" b="b"/>
              <a:pathLst>
                <a:path w="43814" h="57785">
                  <a:moveTo>
                    <a:pt x="21788" y="0"/>
                  </a:moveTo>
                  <a:lnTo>
                    <a:pt x="13365" y="2225"/>
                  </a:lnTo>
                  <a:lnTo>
                    <a:pt x="6433" y="8310"/>
                  </a:lnTo>
                  <a:lnTo>
                    <a:pt x="1731" y="17371"/>
                  </a:lnTo>
                  <a:lnTo>
                    <a:pt x="0" y="28521"/>
                  </a:lnTo>
                  <a:lnTo>
                    <a:pt x="1731" y="39889"/>
                  </a:lnTo>
                  <a:lnTo>
                    <a:pt x="6433" y="49062"/>
                  </a:lnTo>
                  <a:lnTo>
                    <a:pt x="13365" y="55189"/>
                  </a:lnTo>
                  <a:lnTo>
                    <a:pt x="21788" y="57420"/>
                  </a:lnTo>
                  <a:lnTo>
                    <a:pt x="30358" y="55189"/>
                  </a:lnTo>
                  <a:lnTo>
                    <a:pt x="37247" y="49062"/>
                  </a:lnTo>
                  <a:lnTo>
                    <a:pt x="41834" y="39889"/>
                  </a:lnTo>
                  <a:lnTo>
                    <a:pt x="43501" y="28521"/>
                  </a:lnTo>
                  <a:lnTo>
                    <a:pt x="41834" y="17371"/>
                  </a:lnTo>
                  <a:lnTo>
                    <a:pt x="37247" y="8310"/>
                  </a:lnTo>
                  <a:lnTo>
                    <a:pt x="30358" y="2225"/>
                  </a:lnTo>
                  <a:lnTo>
                    <a:pt x="21788" y="0"/>
                  </a:lnTo>
                  <a:close/>
                </a:path>
              </a:pathLst>
            </a:custGeom>
            <a:solidFill>
              <a:srgbClr val="000000"/>
            </a:solidFill>
          </p:spPr>
          <p:txBody>
            <a:bodyPr wrap="square" lIns="0" tIns="0" rIns="0" bIns="0" rtlCol="0"/>
            <a:lstStyle/>
            <a:p/>
          </p:txBody>
        </p:sp>
        <p:sp>
          <p:nvSpPr>
            <p:cNvPr id="47" name="object 47" descr=""/>
            <p:cNvSpPr/>
            <p:nvPr/>
          </p:nvSpPr>
          <p:spPr>
            <a:xfrm>
              <a:off x="4517559" y="3858967"/>
              <a:ext cx="43815" cy="57785"/>
            </a:xfrm>
            <a:custGeom>
              <a:avLst/>
              <a:gdLst/>
              <a:ahLst/>
              <a:cxnLst/>
              <a:rect l="l" t="t" r="r" b="b"/>
              <a:pathLst>
                <a:path w="43814" h="57785">
                  <a:moveTo>
                    <a:pt x="21788" y="0"/>
                  </a:moveTo>
                  <a:lnTo>
                    <a:pt x="13365" y="2225"/>
                  </a:lnTo>
                  <a:lnTo>
                    <a:pt x="6433" y="8310"/>
                  </a:lnTo>
                  <a:lnTo>
                    <a:pt x="1731" y="17371"/>
                  </a:lnTo>
                  <a:lnTo>
                    <a:pt x="0" y="28521"/>
                  </a:lnTo>
                  <a:lnTo>
                    <a:pt x="1731" y="39889"/>
                  </a:lnTo>
                  <a:lnTo>
                    <a:pt x="6433" y="49062"/>
                  </a:lnTo>
                  <a:lnTo>
                    <a:pt x="13365" y="55189"/>
                  </a:lnTo>
                  <a:lnTo>
                    <a:pt x="21788" y="57420"/>
                  </a:lnTo>
                  <a:lnTo>
                    <a:pt x="30358" y="55189"/>
                  </a:lnTo>
                  <a:lnTo>
                    <a:pt x="37247" y="49062"/>
                  </a:lnTo>
                  <a:lnTo>
                    <a:pt x="41834" y="39889"/>
                  </a:lnTo>
                  <a:lnTo>
                    <a:pt x="43501" y="28521"/>
                  </a:lnTo>
                  <a:lnTo>
                    <a:pt x="41834" y="17371"/>
                  </a:lnTo>
                  <a:lnTo>
                    <a:pt x="37247" y="8310"/>
                  </a:lnTo>
                  <a:lnTo>
                    <a:pt x="30358" y="2225"/>
                  </a:lnTo>
                  <a:lnTo>
                    <a:pt x="21788" y="0"/>
                  </a:lnTo>
                </a:path>
              </a:pathLst>
            </a:custGeom>
            <a:ln w="14055">
              <a:solidFill>
                <a:srgbClr val="000000"/>
              </a:solidFill>
            </a:ln>
          </p:spPr>
          <p:txBody>
            <a:bodyPr wrap="square" lIns="0" tIns="0" rIns="0" bIns="0" rtlCol="0"/>
            <a:lstStyle/>
            <a:p/>
          </p:txBody>
        </p:sp>
        <p:sp>
          <p:nvSpPr>
            <p:cNvPr id="48" name="object 48" descr=""/>
            <p:cNvSpPr/>
            <p:nvPr/>
          </p:nvSpPr>
          <p:spPr>
            <a:xfrm>
              <a:off x="6859047" y="3854434"/>
              <a:ext cx="43815" cy="57785"/>
            </a:xfrm>
            <a:custGeom>
              <a:avLst/>
              <a:gdLst/>
              <a:ahLst/>
              <a:cxnLst/>
              <a:rect l="l" t="t" r="r" b="b"/>
              <a:pathLst>
                <a:path w="43815" h="57785">
                  <a:moveTo>
                    <a:pt x="21901" y="0"/>
                  </a:moveTo>
                  <a:lnTo>
                    <a:pt x="13461" y="2225"/>
                  </a:lnTo>
                  <a:lnTo>
                    <a:pt x="6490" y="8310"/>
                  </a:lnTo>
                  <a:lnTo>
                    <a:pt x="1749" y="17371"/>
                  </a:lnTo>
                  <a:lnTo>
                    <a:pt x="0" y="28521"/>
                  </a:lnTo>
                  <a:lnTo>
                    <a:pt x="1749" y="39730"/>
                  </a:lnTo>
                  <a:lnTo>
                    <a:pt x="6490" y="48920"/>
                  </a:lnTo>
                  <a:lnTo>
                    <a:pt x="13461" y="55136"/>
                  </a:lnTo>
                  <a:lnTo>
                    <a:pt x="21901" y="57420"/>
                  </a:lnTo>
                  <a:lnTo>
                    <a:pt x="30232" y="55136"/>
                  </a:lnTo>
                  <a:lnTo>
                    <a:pt x="37148" y="48920"/>
                  </a:lnTo>
                  <a:lnTo>
                    <a:pt x="41868" y="39730"/>
                  </a:lnTo>
                  <a:lnTo>
                    <a:pt x="43614" y="28521"/>
                  </a:lnTo>
                  <a:lnTo>
                    <a:pt x="41868" y="17371"/>
                  </a:lnTo>
                  <a:lnTo>
                    <a:pt x="37148" y="8310"/>
                  </a:lnTo>
                  <a:lnTo>
                    <a:pt x="30232" y="2225"/>
                  </a:lnTo>
                  <a:lnTo>
                    <a:pt x="21901" y="0"/>
                  </a:lnTo>
                  <a:close/>
                </a:path>
              </a:pathLst>
            </a:custGeom>
            <a:solidFill>
              <a:srgbClr val="000000"/>
            </a:solidFill>
          </p:spPr>
          <p:txBody>
            <a:bodyPr wrap="square" lIns="0" tIns="0" rIns="0" bIns="0" rtlCol="0"/>
            <a:lstStyle/>
            <a:p/>
          </p:txBody>
        </p:sp>
        <p:sp>
          <p:nvSpPr>
            <p:cNvPr id="49" name="object 49" descr=""/>
            <p:cNvSpPr/>
            <p:nvPr/>
          </p:nvSpPr>
          <p:spPr>
            <a:xfrm>
              <a:off x="6859047" y="3854434"/>
              <a:ext cx="43815" cy="57785"/>
            </a:xfrm>
            <a:custGeom>
              <a:avLst/>
              <a:gdLst/>
              <a:ahLst/>
              <a:cxnLst/>
              <a:rect l="l" t="t" r="r" b="b"/>
              <a:pathLst>
                <a:path w="43815" h="57785">
                  <a:moveTo>
                    <a:pt x="21901" y="0"/>
                  </a:moveTo>
                  <a:lnTo>
                    <a:pt x="13461" y="2225"/>
                  </a:lnTo>
                  <a:lnTo>
                    <a:pt x="6490" y="8310"/>
                  </a:lnTo>
                  <a:lnTo>
                    <a:pt x="1749" y="17371"/>
                  </a:lnTo>
                  <a:lnTo>
                    <a:pt x="0" y="28521"/>
                  </a:lnTo>
                  <a:lnTo>
                    <a:pt x="1749" y="39730"/>
                  </a:lnTo>
                  <a:lnTo>
                    <a:pt x="6490" y="48920"/>
                  </a:lnTo>
                  <a:lnTo>
                    <a:pt x="13461" y="55136"/>
                  </a:lnTo>
                  <a:lnTo>
                    <a:pt x="21901" y="57420"/>
                  </a:lnTo>
                  <a:lnTo>
                    <a:pt x="30232" y="55136"/>
                  </a:lnTo>
                  <a:lnTo>
                    <a:pt x="37148" y="48920"/>
                  </a:lnTo>
                  <a:lnTo>
                    <a:pt x="41868" y="39730"/>
                  </a:lnTo>
                  <a:lnTo>
                    <a:pt x="43614" y="28521"/>
                  </a:lnTo>
                  <a:lnTo>
                    <a:pt x="41868" y="17371"/>
                  </a:lnTo>
                  <a:lnTo>
                    <a:pt x="37148" y="8310"/>
                  </a:lnTo>
                  <a:lnTo>
                    <a:pt x="30232" y="2225"/>
                  </a:lnTo>
                  <a:lnTo>
                    <a:pt x="21901" y="0"/>
                  </a:lnTo>
                </a:path>
              </a:pathLst>
            </a:custGeom>
            <a:ln w="14055">
              <a:solidFill>
                <a:srgbClr val="000000"/>
              </a:solidFill>
            </a:ln>
          </p:spPr>
          <p:txBody>
            <a:bodyPr wrap="square" lIns="0" tIns="0" rIns="0" bIns="0" rtlCol="0"/>
            <a:lstStyle/>
            <a:p/>
          </p:txBody>
        </p:sp>
        <p:sp>
          <p:nvSpPr>
            <p:cNvPr id="50" name="object 50" descr=""/>
            <p:cNvSpPr/>
            <p:nvPr/>
          </p:nvSpPr>
          <p:spPr>
            <a:xfrm>
              <a:off x="7613525" y="3858967"/>
              <a:ext cx="43180" cy="57785"/>
            </a:xfrm>
            <a:custGeom>
              <a:avLst/>
              <a:gdLst/>
              <a:ahLst/>
              <a:cxnLst/>
              <a:rect l="l" t="t" r="r" b="b"/>
              <a:pathLst>
                <a:path w="43179" h="57785">
                  <a:moveTo>
                    <a:pt x="21335" y="0"/>
                  </a:moveTo>
                  <a:lnTo>
                    <a:pt x="12983" y="2225"/>
                  </a:lnTo>
                  <a:lnTo>
                    <a:pt x="6207" y="8310"/>
                  </a:lnTo>
                  <a:lnTo>
                    <a:pt x="1660" y="17371"/>
                  </a:lnTo>
                  <a:lnTo>
                    <a:pt x="0" y="28521"/>
                  </a:lnTo>
                  <a:lnTo>
                    <a:pt x="1660" y="39889"/>
                  </a:lnTo>
                  <a:lnTo>
                    <a:pt x="6207" y="49062"/>
                  </a:lnTo>
                  <a:lnTo>
                    <a:pt x="12983" y="55189"/>
                  </a:lnTo>
                  <a:lnTo>
                    <a:pt x="21335" y="57420"/>
                  </a:lnTo>
                  <a:lnTo>
                    <a:pt x="29825" y="55189"/>
                  </a:lnTo>
                  <a:lnTo>
                    <a:pt x="36723" y="49062"/>
                  </a:lnTo>
                  <a:lnTo>
                    <a:pt x="41354" y="39889"/>
                  </a:lnTo>
                  <a:lnTo>
                    <a:pt x="43048" y="28521"/>
                  </a:lnTo>
                  <a:lnTo>
                    <a:pt x="41354" y="17371"/>
                  </a:lnTo>
                  <a:lnTo>
                    <a:pt x="36723" y="8310"/>
                  </a:lnTo>
                  <a:lnTo>
                    <a:pt x="29825" y="2225"/>
                  </a:lnTo>
                  <a:lnTo>
                    <a:pt x="21335" y="0"/>
                  </a:lnTo>
                  <a:close/>
                </a:path>
              </a:pathLst>
            </a:custGeom>
            <a:solidFill>
              <a:srgbClr val="000000"/>
            </a:solidFill>
          </p:spPr>
          <p:txBody>
            <a:bodyPr wrap="square" lIns="0" tIns="0" rIns="0" bIns="0" rtlCol="0"/>
            <a:lstStyle/>
            <a:p/>
          </p:txBody>
        </p:sp>
        <p:sp>
          <p:nvSpPr>
            <p:cNvPr id="51" name="object 51" descr=""/>
            <p:cNvSpPr/>
            <p:nvPr/>
          </p:nvSpPr>
          <p:spPr>
            <a:xfrm>
              <a:off x="7613525" y="3858967"/>
              <a:ext cx="43180" cy="57785"/>
            </a:xfrm>
            <a:custGeom>
              <a:avLst/>
              <a:gdLst/>
              <a:ahLst/>
              <a:cxnLst/>
              <a:rect l="l" t="t" r="r" b="b"/>
              <a:pathLst>
                <a:path w="43179" h="57785">
                  <a:moveTo>
                    <a:pt x="21335" y="0"/>
                  </a:moveTo>
                  <a:lnTo>
                    <a:pt x="12983" y="2225"/>
                  </a:lnTo>
                  <a:lnTo>
                    <a:pt x="6207" y="8310"/>
                  </a:lnTo>
                  <a:lnTo>
                    <a:pt x="1660" y="17371"/>
                  </a:lnTo>
                  <a:lnTo>
                    <a:pt x="0" y="28521"/>
                  </a:lnTo>
                  <a:lnTo>
                    <a:pt x="1660" y="39889"/>
                  </a:lnTo>
                  <a:lnTo>
                    <a:pt x="6207" y="49062"/>
                  </a:lnTo>
                  <a:lnTo>
                    <a:pt x="12983" y="55189"/>
                  </a:lnTo>
                  <a:lnTo>
                    <a:pt x="21335" y="57420"/>
                  </a:lnTo>
                  <a:lnTo>
                    <a:pt x="29825" y="55189"/>
                  </a:lnTo>
                  <a:lnTo>
                    <a:pt x="36723" y="49062"/>
                  </a:lnTo>
                  <a:lnTo>
                    <a:pt x="41354" y="39889"/>
                  </a:lnTo>
                  <a:lnTo>
                    <a:pt x="43048" y="28521"/>
                  </a:lnTo>
                  <a:lnTo>
                    <a:pt x="41354" y="17371"/>
                  </a:lnTo>
                  <a:lnTo>
                    <a:pt x="36723" y="8310"/>
                  </a:lnTo>
                  <a:lnTo>
                    <a:pt x="29825" y="2225"/>
                  </a:lnTo>
                  <a:lnTo>
                    <a:pt x="21335" y="0"/>
                  </a:lnTo>
                </a:path>
              </a:pathLst>
            </a:custGeom>
            <a:ln w="14055">
              <a:solidFill>
                <a:srgbClr val="000000"/>
              </a:solidFill>
            </a:ln>
          </p:spPr>
          <p:txBody>
            <a:bodyPr wrap="square" lIns="0" tIns="0" rIns="0" bIns="0" rtlCol="0"/>
            <a:lstStyle/>
            <a:p/>
          </p:txBody>
        </p:sp>
        <p:sp>
          <p:nvSpPr>
            <p:cNvPr id="52" name="object 52" descr=""/>
            <p:cNvSpPr/>
            <p:nvPr/>
          </p:nvSpPr>
          <p:spPr>
            <a:xfrm>
              <a:off x="6142897" y="3416226"/>
              <a:ext cx="43815" cy="58419"/>
            </a:xfrm>
            <a:custGeom>
              <a:avLst/>
              <a:gdLst/>
              <a:ahLst/>
              <a:cxnLst/>
              <a:rect l="l" t="t" r="r" b="b"/>
              <a:pathLst>
                <a:path w="43814" h="58420">
                  <a:moveTo>
                    <a:pt x="21712" y="0"/>
                  </a:moveTo>
                  <a:lnTo>
                    <a:pt x="13302" y="2284"/>
                  </a:lnTo>
                  <a:lnTo>
                    <a:pt x="6395" y="8499"/>
                  </a:lnTo>
                  <a:lnTo>
                    <a:pt x="1719" y="17690"/>
                  </a:lnTo>
                  <a:lnTo>
                    <a:pt x="0" y="28899"/>
                  </a:lnTo>
                  <a:lnTo>
                    <a:pt x="1719" y="40137"/>
                  </a:lnTo>
                  <a:lnTo>
                    <a:pt x="6395" y="49392"/>
                  </a:lnTo>
                  <a:lnTo>
                    <a:pt x="13302" y="55673"/>
                  </a:lnTo>
                  <a:lnTo>
                    <a:pt x="21712" y="57987"/>
                  </a:lnTo>
                  <a:lnTo>
                    <a:pt x="30283" y="55673"/>
                  </a:lnTo>
                  <a:lnTo>
                    <a:pt x="37171" y="49392"/>
                  </a:lnTo>
                  <a:lnTo>
                    <a:pt x="41759" y="40137"/>
                  </a:lnTo>
                  <a:lnTo>
                    <a:pt x="43425" y="28899"/>
                  </a:lnTo>
                  <a:lnTo>
                    <a:pt x="41759" y="17690"/>
                  </a:lnTo>
                  <a:lnTo>
                    <a:pt x="37171" y="8499"/>
                  </a:lnTo>
                  <a:lnTo>
                    <a:pt x="30283" y="2284"/>
                  </a:lnTo>
                  <a:lnTo>
                    <a:pt x="21712" y="0"/>
                  </a:lnTo>
                  <a:close/>
                </a:path>
              </a:pathLst>
            </a:custGeom>
            <a:solidFill>
              <a:srgbClr val="000000"/>
            </a:solidFill>
          </p:spPr>
          <p:txBody>
            <a:bodyPr wrap="square" lIns="0" tIns="0" rIns="0" bIns="0" rtlCol="0"/>
            <a:lstStyle/>
            <a:p/>
          </p:txBody>
        </p:sp>
        <p:sp>
          <p:nvSpPr>
            <p:cNvPr id="53" name="object 53" descr=""/>
            <p:cNvSpPr/>
            <p:nvPr/>
          </p:nvSpPr>
          <p:spPr>
            <a:xfrm>
              <a:off x="6142897" y="3416226"/>
              <a:ext cx="43815" cy="58419"/>
            </a:xfrm>
            <a:custGeom>
              <a:avLst/>
              <a:gdLst/>
              <a:ahLst/>
              <a:cxnLst/>
              <a:rect l="l" t="t" r="r" b="b"/>
              <a:pathLst>
                <a:path w="43814" h="58420">
                  <a:moveTo>
                    <a:pt x="21712" y="0"/>
                  </a:moveTo>
                  <a:lnTo>
                    <a:pt x="13302" y="2284"/>
                  </a:lnTo>
                  <a:lnTo>
                    <a:pt x="6395" y="8499"/>
                  </a:lnTo>
                  <a:lnTo>
                    <a:pt x="1719" y="17690"/>
                  </a:lnTo>
                  <a:lnTo>
                    <a:pt x="0" y="28899"/>
                  </a:lnTo>
                  <a:lnTo>
                    <a:pt x="1719" y="40137"/>
                  </a:lnTo>
                  <a:lnTo>
                    <a:pt x="6395" y="49392"/>
                  </a:lnTo>
                  <a:lnTo>
                    <a:pt x="13302" y="55673"/>
                  </a:lnTo>
                  <a:lnTo>
                    <a:pt x="21712" y="57987"/>
                  </a:lnTo>
                  <a:lnTo>
                    <a:pt x="30283" y="55673"/>
                  </a:lnTo>
                  <a:lnTo>
                    <a:pt x="37171" y="49392"/>
                  </a:lnTo>
                  <a:lnTo>
                    <a:pt x="41759" y="40137"/>
                  </a:lnTo>
                  <a:lnTo>
                    <a:pt x="43425" y="28899"/>
                  </a:lnTo>
                  <a:lnTo>
                    <a:pt x="41759" y="17690"/>
                  </a:lnTo>
                  <a:lnTo>
                    <a:pt x="37171" y="8499"/>
                  </a:lnTo>
                  <a:lnTo>
                    <a:pt x="30283" y="2284"/>
                  </a:lnTo>
                  <a:lnTo>
                    <a:pt x="21712" y="0"/>
                  </a:lnTo>
                </a:path>
              </a:pathLst>
            </a:custGeom>
            <a:ln w="14055">
              <a:solidFill>
                <a:srgbClr val="000000"/>
              </a:solidFill>
            </a:ln>
          </p:spPr>
          <p:txBody>
            <a:bodyPr wrap="square" lIns="0" tIns="0" rIns="0" bIns="0" rtlCol="0"/>
            <a:lstStyle/>
            <a:p/>
          </p:txBody>
        </p:sp>
        <p:sp>
          <p:nvSpPr>
            <p:cNvPr id="54" name="object 54" descr=""/>
            <p:cNvSpPr/>
            <p:nvPr/>
          </p:nvSpPr>
          <p:spPr>
            <a:xfrm>
              <a:off x="6925319" y="4767437"/>
              <a:ext cx="76200" cy="536575"/>
            </a:xfrm>
            <a:custGeom>
              <a:avLst/>
              <a:gdLst/>
              <a:ahLst/>
              <a:cxnLst/>
              <a:rect l="l" t="t" r="r" b="b"/>
              <a:pathLst>
                <a:path w="76200" h="536575">
                  <a:moveTo>
                    <a:pt x="0" y="422795"/>
                  </a:moveTo>
                  <a:lnTo>
                    <a:pt x="37572" y="535973"/>
                  </a:lnTo>
                  <a:lnTo>
                    <a:pt x="59844" y="469883"/>
                  </a:lnTo>
                  <a:lnTo>
                    <a:pt x="32663" y="469883"/>
                  </a:lnTo>
                  <a:lnTo>
                    <a:pt x="28510" y="465350"/>
                  </a:lnTo>
                  <a:lnTo>
                    <a:pt x="28510" y="451302"/>
                  </a:lnTo>
                  <a:lnTo>
                    <a:pt x="0" y="422795"/>
                  </a:lnTo>
                  <a:close/>
                </a:path>
                <a:path w="76200" h="536575">
                  <a:moveTo>
                    <a:pt x="28510" y="451302"/>
                  </a:moveTo>
                  <a:lnTo>
                    <a:pt x="28510" y="465350"/>
                  </a:lnTo>
                  <a:lnTo>
                    <a:pt x="32663" y="469883"/>
                  </a:lnTo>
                  <a:lnTo>
                    <a:pt x="43048" y="469883"/>
                  </a:lnTo>
                  <a:lnTo>
                    <a:pt x="47202" y="465350"/>
                  </a:lnTo>
                  <a:lnTo>
                    <a:pt x="47202" y="460364"/>
                  </a:lnTo>
                  <a:lnTo>
                    <a:pt x="37572" y="460364"/>
                  </a:lnTo>
                  <a:lnTo>
                    <a:pt x="28510" y="451302"/>
                  </a:lnTo>
                  <a:close/>
                </a:path>
                <a:path w="76200" h="536575">
                  <a:moveTo>
                    <a:pt x="75712" y="422795"/>
                  </a:moveTo>
                  <a:lnTo>
                    <a:pt x="47202" y="450878"/>
                  </a:lnTo>
                  <a:lnTo>
                    <a:pt x="47202" y="465350"/>
                  </a:lnTo>
                  <a:lnTo>
                    <a:pt x="43048" y="469883"/>
                  </a:lnTo>
                  <a:lnTo>
                    <a:pt x="59844" y="469883"/>
                  </a:lnTo>
                  <a:lnTo>
                    <a:pt x="75712" y="422795"/>
                  </a:lnTo>
                  <a:close/>
                </a:path>
                <a:path w="76200" h="536575">
                  <a:moveTo>
                    <a:pt x="43048" y="0"/>
                  </a:moveTo>
                  <a:lnTo>
                    <a:pt x="32663" y="0"/>
                  </a:lnTo>
                  <a:lnTo>
                    <a:pt x="28510" y="4079"/>
                  </a:lnTo>
                  <a:lnTo>
                    <a:pt x="28510" y="451302"/>
                  </a:lnTo>
                  <a:lnTo>
                    <a:pt x="37572" y="460364"/>
                  </a:lnTo>
                  <a:lnTo>
                    <a:pt x="47202" y="450878"/>
                  </a:lnTo>
                  <a:lnTo>
                    <a:pt x="47202" y="4079"/>
                  </a:lnTo>
                  <a:lnTo>
                    <a:pt x="43048" y="0"/>
                  </a:lnTo>
                  <a:close/>
                </a:path>
                <a:path w="76200" h="536575">
                  <a:moveTo>
                    <a:pt x="47202" y="450878"/>
                  </a:moveTo>
                  <a:lnTo>
                    <a:pt x="37572" y="460364"/>
                  </a:lnTo>
                  <a:lnTo>
                    <a:pt x="47202" y="460364"/>
                  </a:lnTo>
                  <a:lnTo>
                    <a:pt x="47202" y="450878"/>
                  </a:lnTo>
                  <a:close/>
                </a:path>
              </a:pathLst>
            </a:custGeom>
            <a:solidFill>
              <a:srgbClr val="000000"/>
            </a:solidFill>
          </p:spPr>
          <p:txBody>
            <a:bodyPr wrap="square" lIns="0" tIns="0" rIns="0" bIns="0" rtlCol="0"/>
            <a:lstStyle/>
            <a:p/>
          </p:txBody>
        </p:sp>
        <p:sp>
          <p:nvSpPr>
            <p:cNvPr id="55" name="object 55" descr=""/>
            <p:cNvSpPr/>
            <p:nvPr/>
          </p:nvSpPr>
          <p:spPr>
            <a:xfrm>
              <a:off x="6925319" y="4767437"/>
              <a:ext cx="76200" cy="536575"/>
            </a:xfrm>
            <a:custGeom>
              <a:avLst/>
              <a:gdLst/>
              <a:ahLst/>
              <a:cxnLst/>
              <a:rect l="l" t="t" r="r" b="b"/>
              <a:pathLst>
                <a:path w="76200" h="536575">
                  <a:moveTo>
                    <a:pt x="47202" y="9519"/>
                  </a:moveTo>
                  <a:lnTo>
                    <a:pt x="47202" y="460364"/>
                  </a:lnTo>
                  <a:lnTo>
                    <a:pt x="47202" y="465350"/>
                  </a:lnTo>
                  <a:lnTo>
                    <a:pt x="43048" y="469883"/>
                  </a:lnTo>
                  <a:lnTo>
                    <a:pt x="37572" y="469883"/>
                  </a:lnTo>
                  <a:lnTo>
                    <a:pt x="32663" y="469883"/>
                  </a:lnTo>
                  <a:lnTo>
                    <a:pt x="28510" y="465350"/>
                  </a:lnTo>
                  <a:lnTo>
                    <a:pt x="28510" y="460364"/>
                  </a:lnTo>
                  <a:lnTo>
                    <a:pt x="28510" y="9519"/>
                  </a:lnTo>
                  <a:lnTo>
                    <a:pt x="28510" y="4079"/>
                  </a:lnTo>
                  <a:lnTo>
                    <a:pt x="32663" y="0"/>
                  </a:lnTo>
                  <a:lnTo>
                    <a:pt x="37572" y="0"/>
                  </a:lnTo>
                  <a:lnTo>
                    <a:pt x="43048" y="0"/>
                  </a:lnTo>
                  <a:lnTo>
                    <a:pt x="47202" y="4079"/>
                  </a:lnTo>
                  <a:lnTo>
                    <a:pt x="47202" y="9519"/>
                  </a:lnTo>
                  <a:close/>
                </a:path>
                <a:path w="76200" h="536575">
                  <a:moveTo>
                    <a:pt x="37572" y="460364"/>
                  </a:moveTo>
                  <a:lnTo>
                    <a:pt x="75712" y="422795"/>
                  </a:lnTo>
                  <a:lnTo>
                    <a:pt x="37572" y="535973"/>
                  </a:lnTo>
                  <a:lnTo>
                    <a:pt x="0" y="422795"/>
                  </a:lnTo>
                  <a:lnTo>
                    <a:pt x="37572" y="460364"/>
                  </a:lnTo>
                  <a:close/>
                </a:path>
              </a:pathLst>
            </a:custGeom>
            <a:ln w="3175">
              <a:solidFill>
                <a:srgbClr val="000000"/>
              </a:solidFill>
            </a:ln>
          </p:spPr>
          <p:txBody>
            <a:bodyPr wrap="square" lIns="0" tIns="0" rIns="0" bIns="0" rtlCol="0"/>
            <a:lstStyle/>
            <a:p/>
          </p:txBody>
        </p:sp>
        <p:sp>
          <p:nvSpPr>
            <p:cNvPr id="56" name="object 56" descr=""/>
            <p:cNvSpPr/>
            <p:nvPr/>
          </p:nvSpPr>
          <p:spPr>
            <a:xfrm>
              <a:off x="6050381" y="4235562"/>
              <a:ext cx="1944370" cy="561340"/>
            </a:xfrm>
            <a:custGeom>
              <a:avLst/>
              <a:gdLst/>
              <a:ahLst/>
              <a:cxnLst/>
              <a:rect l="l" t="t" r="r" b="b"/>
              <a:pathLst>
                <a:path w="1944370" h="561339">
                  <a:moveTo>
                    <a:pt x="1944348" y="0"/>
                  </a:moveTo>
                  <a:lnTo>
                    <a:pt x="0" y="0"/>
                  </a:lnTo>
                  <a:lnTo>
                    <a:pt x="0" y="561303"/>
                  </a:lnTo>
                  <a:lnTo>
                    <a:pt x="1944348" y="561303"/>
                  </a:lnTo>
                  <a:lnTo>
                    <a:pt x="1944348" y="0"/>
                  </a:lnTo>
                  <a:close/>
                </a:path>
              </a:pathLst>
            </a:custGeom>
            <a:solidFill>
              <a:srgbClr val="CCFFCC"/>
            </a:solidFill>
          </p:spPr>
          <p:txBody>
            <a:bodyPr wrap="square" lIns="0" tIns="0" rIns="0" bIns="0" rtlCol="0"/>
            <a:lstStyle/>
            <a:p/>
          </p:txBody>
        </p:sp>
        <p:sp>
          <p:nvSpPr>
            <p:cNvPr id="57" name="object 57" descr=""/>
            <p:cNvSpPr/>
            <p:nvPr/>
          </p:nvSpPr>
          <p:spPr>
            <a:xfrm>
              <a:off x="6050381" y="4235562"/>
              <a:ext cx="1944370" cy="561340"/>
            </a:xfrm>
            <a:custGeom>
              <a:avLst/>
              <a:gdLst/>
              <a:ahLst/>
              <a:cxnLst/>
              <a:rect l="l" t="t" r="r" b="b"/>
              <a:pathLst>
                <a:path w="1944370" h="561339">
                  <a:moveTo>
                    <a:pt x="0" y="561303"/>
                  </a:moveTo>
                  <a:lnTo>
                    <a:pt x="1944348" y="561303"/>
                  </a:lnTo>
                  <a:lnTo>
                    <a:pt x="1944348" y="0"/>
                  </a:lnTo>
                  <a:lnTo>
                    <a:pt x="0" y="0"/>
                  </a:lnTo>
                  <a:lnTo>
                    <a:pt x="0" y="561303"/>
                  </a:lnTo>
                  <a:close/>
                </a:path>
              </a:pathLst>
            </a:custGeom>
            <a:ln w="14058">
              <a:solidFill>
                <a:srgbClr val="000000"/>
              </a:solidFill>
            </a:ln>
          </p:spPr>
          <p:txBody>
            <a:bodyPr wrap="square" lIns="0" tIns="0" rIns="0" bIns="0" rtlCol="0"/>
            <a:lstStyle/>
            <a:p/>
          </p:txBody>
        </p:sp>
        <p:sp>
          <p:nvSpPr>
            <p:cNvPr id="58" name="object 58" descr=""/>
            <p:cNvSpPr/>
            <p:nvPr/>
          </p:nvSpPr>
          <p:spPr>
            <a:xfrm>
              <a:off x="6050381" y="4235108"/>
              <a:ext cx="1944370" cy="561975"/>
            </a:xfrm>
            <a:custGeom>
              <a:avLst/>
              <a:gdLst/>
              <a:ahLst/>
              <a:cxnLst/>
              <a:rect l="l" t="t" r="r" b="b"/>
              <a:pathLst>
                <a:path w="1944370" h="561975">
                  <a:moveTo>
                    <a:pt x="0" y="281548"/>
                  </a:moveTo>
                  <a:lnTo>
                    <a:pt x="1944348" y="282002"/>
                  </a:lnTo>
                </a:path>
                <a:path w="1944370" h="561975">
                  <a:moveTo>
                    <a:pt x="515824" y="0"/>
                  </a:moveTo>
                  <a:lnTo>
                    <a:pt x="516768" y="561756"/>
                  </a:lnTo>
                </a:path>
                <a:path w="1944370" h="561975">
                  <a:moveTo>
                    <a:pt x="1230275" y="453"/>
                  </a:moveTo>
                  <a:lnTo>
                    <a:pt x="1231219" y="561756"/>
                  </a:lnTo>
                </a:path>
              </a:pathLst>
            </a:custGeom>
            <a:ln w="14056">
              <a:solidFill>
                <a:srgbClr val="000000"/>
              </a:solidFill>
            </a:ln>
          </p:spPr>
          <p:txBody>
            <a:bodyPr wrap="square" lIns="0" tIns="0" rIns="0" bIns="0" rtlCol="0"/>
            <a:lstStyle/>
            <a:p/>
          </p:txBody>
        </p:sp>
      </p:grpSp>
      <p:sp>
        <p:nvSpPr>
          <p:cNvPr id="59" name="object 59" descr=""/>
          <p:cNvSpPr txBox="1"/>
          <p:nvPr/>
        </p:nvSpPr>
        <p:spPr>
          <a:xfrm>
            <a:off x="4866125" y="5649346"/>
            <a:ext cx="1751964" cy="229870"/>
          </a:xfrm>
          <a:prstGeom prst="rect">
            <a:avLst/>
          </a:prstGeom>
        </p:spPr>
        <p:txBody>
          <a:bodyPr wrap="square" lIns="0" tIns="17780" rIns="0" bIns="0" rtlCol="0" vert="horz">
            <a:spAutoFit/>
          </a:bodyPr>
          <a:lstStyle/>
          <a:p>
            <a:pPr marL="12700">
              <a:lnSpc>
                <a:spcPct val="100000"/>
              </a:lnSpc>
              <a:spcBef>
                <a:spcPts val="140"/>
              </a:spcBef>
            </a:pPr>
            <a:r>
              <a:rPr dirty="0" sz="1300" b="1">
                <a:solidFill>
                  <a:srgbClr val="0000FF"/>
                </a:solidFill>
                <a:latin typeface="宋体"/>
                <a:cs typeface="宋体"/>
              </a:rPr>
              <a:t>公共数据总线</a:t>
            </a:r>
            <a:r>
              <a:rPr dirty="0" sz="1300" spc="-10" b="1">
                <a:solidFill>
                  <a:srgbClr val="0000FF"/>
                </a:solidFill>
                <a:latin typeface="宋体"/>
                <a:cs typeface="宋体"/>
              </a:rPr>
              <a:t>（</a:t>
            </a:r>
            <a:r>
              <a:rPr dirty="0" sz="1300" spc="-10" b="1">
                <a:solidFill>
                  <a:srgbClr val="0000FF"/>
                </a:solidFill>
                <a:latin typeface="Times New Roman"/>
                <a:cs typeface="Times New Roman"/>
              </a:rPr>
              <a:t>CDB</a:t>
            </a:r>
            <a:r>
              <a:rPr dirty="0" sz="1300" spc="-10" b="1">
                <a:solidFill>
                  <a:srgbClr val="0000FF"/>
                </a:solidFill>
                <a:latin typeface="宋体"/>
                <a:cs typeface="宋体"/>
              </a:rPr>
              <a:t>）</a:t>
            </a:r>
            <a:endParaRPr sz="1300">
              <a:latin typeface="宋体"/>
              <a:cs typeface="宋体"/>
            </a:endParaRPr>
          </a:p>
        </p:txBody>
      </p:sp>
      <p:grpSp>
        <p:nvGrpSpPr>
          <p:cNvPr id="60" name="object 60" descr=""/>
          <p:cNvGrpSpPr/>
          <p:nvPr/>
        </p:nvGrpSpPr>
        <p:grpSpPr>
          <a:xfrm>
            <a:off x="3828502" y="4875214"/>
            <a:ext cx="78740" cy="422275"/>
            <a:chOff x="3828502" y="4875214"/>
            <a:chExt cx="78740" cy="422275"/>
          </a:xfrm>
        </p:grpSpPr>
        <p:sp>
          <p:nvSpPr>
            <p:cNvPr id="61" name="object 61" descr=""/>
            <p:cNvSpPr/>
            <p:nvPr/>
          </p:nvSpPr>
          <p:spPr>
            <a:xfrm>
              <a:off x="3829824" y="4876535"/>
              <a:ext cx="76200" cy="419734"/>
            </a:xfrm>
            <a:custGeom>
              <a:avLst/>
              <a:gdLst/>
              <a:ahLst/>
              <a:cxnLst/>
              <a:rect l="l" t="t" r="r" b="b"/>
              <a:pathLst>
                <a:path w="76200" h="419735">
                  <a:moveTo>
                    <a:pt x="0" y="306009"/>
                  </a:moveTo>
                  <a:lnTo>
                    <a:pt x="37629" y="419168"/>
                  </a:lnTo>
                  <a:lnTo>
                    <a:pt x="59871" y="353078"/>
                  </a:lnTo>
                  <a:lnTo>
                    <a:pt x="32644" y="353078"/>
                  </a:lnTo>
                  <a:lnTo>
                    <a:pt x="28566" y="348998"/>
                  </a:lnTo>
                  <a:lnTo>
                    <a:pt x="28566" y="334529"/>
                  </a:lnTo>
                  <a:lnTo>
                    <a:pt x="0" y="306009"/>
                  </a:lnTo>
                  <a:close/>
                </a:path>
                <a:path w="76200" h="419735">
                  <a:moveTo>
                    <a:pt x="28566" y="334529"/>
                  </a:moveTo>
                  <a:lnTo>
                    <a:pt x="28566" y="348998"/>
                  </a:lnTo>
                  <a:lnTo>
                    <a:pt x="32644" y="353078"/>
                  </a:lnTo>
                  <a:lnTo>
                    <a:pt x="43067" y="353078"/>
                  </a:lnTo>
                  <a:lnTo>
                    <a:pt x="47145" y="348998"/>
                  </a:lnTo>
                  <a:lnTo>
                    <a:pt x="47145" y="343577"/>
                  </a:lnTo>
                  <a:lnTo>
                    <a:pt x="37629" y="343577"/>
                  </a:lnTo>
                  <a:lnTo>
                    <a:pt x="28566" y="334529"/>
                  </a:lnTo>
                  <a:close/>
                </a:path>
                <a:path w="76200" h="419735">
                  <a:moveTo>
                    <a:pt x="75712" y="306009"/>
                  </a:moveTo>
                  <a:lnTo>
                    <a:pt x="47145" y="334190"/>
                  </a:lnTo>
                  <a:lnTo>
                    <a:pt x="47145" y="348998"/>
                  </a:lnTo>
                  <a:lnTo>
                    <a:pt x="43067" y="353078"/>
                  </a:lnTo>
                  <a:lnTo>
                    <a:pt x="59871" y="353078"/>
                  </a:lnTo>
                  <a:lnTo>
                    <a:pt x="75712" y="306009"/>
                  </a:lnTo>
                  <a:close/>
                </a:path>
                <a:path w="76200" h="419735">
                  <a:moveTo>
                    <a:pt x="43067" y="0"/>
                  </a:moveTo>
                  <a:lnTo>
                    <a:pt x="32644" y="0"/>
                  </a:lnTo>
                  <a:lnTo>
                    <a:pt x="28566" y="4533"/>
                  </a:lnTo>
                  <a:lnTo>
                    <a:pt x="28566" y="334529"/>
                  </a:lnTo>
                  <a:lnTo>
                    <a:pt x="37629" y="343577"/>
                  </a:lnTo>
                  <a:lnTo>
                    <a:pt x="47145" y="334190"/>
                  </a:lnTo>
                  <a:lnTo>
                    <a:pt x="47145" y="4533"/>
                  </a:lnTo>
                  <a:lnTo>
                    <a:pt x="43067" y="0"/>
                  </a:lnTo>
                  <a:close/>
                </a:path>
                <a:path w="76200" h="419735">
                  <a:moveTo>
                    <a:pt x="47145" y="334190"/>
                  </a:moveTo>
                  <a:lnTo>
                    <a:pt x="37629" y="343577"/>
                  </a:lnTo>
                  <a:lnTo>
                    <a:pt x="47145" y="343577"/>
                  </a:lnTo>
                  <a:lnTo>
                    <a:pt x="47145" y="334190"/>
                  </a:lnTo>
                  <a:close/>
                </a:path>
              </a:pathLst>
            </a:custGeom>
            <a:solidFill>
              <a:srgbClr val="000000"/>
            </a:solidFill>
          </p:spPr>
          <p:txBody>
            <a:bodyPr wrap="square" lIns="0" tIns="0" rIns="0" bIns="0" rtlCol="0"/>
            <a:lstStyle/>
            <a:p/>
          </p:txBody>
        </p:sp>
        <p:sp>
          <p:nvSpPr>
            <p:cNvPr id="62" name="object 62" descr=""/>
            <p:cNvSpPr/>
            <p:nvPr/>
          </p:nvSpPr>
          <p:spPr>
            <a:xfrm>
              <a:off x="3829824" y="4876535"/>
              <a:ext cx="76200" cy="419734"/>
            </a:xfrm>
            <a:custGeom>
              <a:avLst/>
              <a:gdLst/>
              <a:ahLst/>
              <a:cxnLst/>
              <a:rect l="l" t="t" r="r" b="b"/>
              <a:pathLst>
                <a:path w="76200" h="419735">
                  <a:moveTo>
                    <a:pt x="47145" y="9500"/>
                  </a:moveTo>
                  <a:lnTo>
                    <a:pt x="47145" y="343577"/>
                  </a:lnTo>
                  <a:lnTo>
                    <a:pt x="47145" y="348998"/>
                  </a:lnTo>
                  <a:lnTo>
                    <a:pt x="43067" y="353078"/>
                  </a:lnTo>
                  <a:lnTo>
                    <a:pt x="37629" y="353078"/>
                  </a:lnTo>
                  <a:lnTo>
                    <a:pt x="32644" y="353078"/>
                  </a:lnTo>
                  <a:lnTo>
                    <a:pt x="28566" y="348998"/>
                  </a:lnTo>
                  <a:lnTo>
                    <a:pt x="28566" y="343577"/>
                  </a:lnTo>
                  <a:lnTo>
                    <a:pt x="28566" y="9500"/>
                  </a:lnTo>
                  <a:lnTo>
                    <a:pt x="28566" y="4533"/>
                  </a:lnTo>
                  <a:lnTo>
                    <a:pt x="32644" y="0"/>
                  </a:lnTo>
                  <a:lnTo>
                    <a:pt x="37629" y="0"/>
                  </a:lnTo>
                  <a:lnTo>
                    <a:pt x="43067" y="0"/>
                  </a:lnTo>
                  <a:lnTo>
                    <a:pt x="47145" y="4533"/>
                  </a:lnTo>
                  <a:lnTo>
                    <a:pt x="47145" y="9500"/>
                  </a:lnTo>
                  <a:close/>
                </a:path>
                <a:path w="76200" h="419735">
                  <a:moveTo>
                    <a:pt x="37629" y="343577"/>
                  </a:moveTo>
                  <a:lnTo>
                    <a:pt x="75712" y="306009"/>
                  </a:lnTo>
                  <a:lnTo>
                    <a:pt x="37629" y="419168"/>
                  </a:lnTo>
                  <a:lnTo>
                    <a:pt x="0" y="306009"/>
                  </a:lnTo>
                  <a:lnTo>
                    <a:pt x="37629" y="343577"/>
                  </a:lnTo>
                  <a:close/>
                </a:path>
              </a:pathLst>
            </a:custGeom>
            <a:ln w="3175">
              <a:solidFill>
                <a:srgbClr val="000000"/>
              </a:solidFill>
            </a:ln>
          </p:spPr>
          <p:txBody>
            <a:bodyPr wrap="square" lIns="0" tIns="0" rIns="0" bIns="0" rtlCol="0"/>
            <a:lstStyle/>
            <a:p/>
          </p:txBody>
        </p:sp>
      </p:grpSp>
      <p:grpSp>
        <p:nvGrpSpPr>
          <p:cNvPr id="63" name="object 63" descr=""/>
          <p:cNvGrpSpPr/>
          <p:nvPr/>
        </p:nvGrpSpPr>
        <p:grpSpPr>
          <a:xfrm>
            <a:off x="4542935" y="4875214"/>
            <a:ext cx="78105" cy="422275"/>
            <a:chOff x="4542935" y="4875214"/>
            <a:chExt cx="78105" cy="422275"/>
          </a:xfrm>
        </p:grpSpPr>
        <p:sp>
          <p:nvSpPr>
            <p:cNvPr id="64" name="object 64" descr=""/>
            <p:cNvSpPr/>
            <p:nvPr/>
          </p:nvSpPr>
          <p:spPr>
            <a:xfrm>
              <a:off x="4544257" y="4876535"/>
              <a:ext cx="75565" cy="419734"/>
            </a:xfrm>
            <a:custGeom>
              <a:avLst/>
              <a:gdLst/>
              <a:ahLst/>
              <a:cxnLst/>
              <a:rect l="l" t="t" r="r" b="b"/>
              <a:pathLst>
                <a:path w="75564" h="419735">
                  <a:moveTo>
                    <a:pt x="0" y="306009"/>
                  </a:moveTo>
                  <a:lnTo>
                    <a:pt x="37761" y="419168"/>
                  </a:lnTo>
                  <a:lnTo>
                    <a:pt x="59705" y="353078"/>
                  </a:lnTo>
                  <a:lnTo>
                    <a:pt x="32663" y="353078"/>
                  </a:lnTo>
                  <a:lnTo>
                    <a:pt x="28132" y="348998"/>
                  </a:lnTo>
                  <a:lnTo>
                    <a:pt x="28132" y="333997"/>
                  </a:lnTo>
                  <a:lnTo>
                    <a:pt x="0" y="306009"/>
                  </a:lnTo>
                  <a:close/>
                </a:path>
                <a:path w="75564" h="419735">
                  <a:moveTo>
                    <a:pt x="28132" y="333997"/>
                  </a:moveTo>
                  <a:lnTo>
                    <a:pt x="28132" y="348998"/>
                  </a:lnTo>
                  <a:lnTo>
                    <a:pt x="32663" y="353078"/>
                  </a:lnTo>
                  <a:lnTo>
                    <a:pt x="42670" y="353078"/>
                  </a:lnTo>
                  <a:lnTo>
                    <a:pt x="47202" y="348998"/>
                  </a:lnTo>
                  <a:lnTo>
                    <a:pt x="47202" y="343577"/>
                  </a:lnTo>
                  <a:lnTo>
                    <a:pt x="37761" y="343577"/>
                  </a:lnTo>
                  <a:lnTo>
                    <a:pt x="28132" y="333997"/>
                  </a:lnTo>
                  <a:close/>
                </a:path>
                <a:path w="75564" h="419735">
                  <a:moveTo>
                    <a:pt x="75334" y="306009"/>
                  </a:moveTo>
                  <a:lnTo>
                    <a:pt x="47202" y="334138"/>
                  </a:lnTo>
                  <a:lnTo>
                    <a:pt x="47202" y="348998"/>
                  </a:lnTo>
                  <a:lnTo>
                    <a:pt x="42670" y="353078"/>
                  </a:lnTo>
                  <a:lnTo>
                    <a:pt x="59705" y="353078"/>
                  </a:lnTo>
                  <a:lnTo>
                    <a:pt x="75334" y="306009"/>
                  </a:lnTo>
                  <a:close/>
                </a:path>
                <a:path w="75564" h="419735">
                  <a:moveTo>
                    <a:pt x="42670" y="0"/>
                  </a:moveTo>
                  <a:lnTo>
                    <a:pt x="32663" y="0"/>
                  </a:lnTo>
                  <a:lnTo>
                    <a:pt x="28132" y="4533"/>
                  </a:lnTo>
                  <a:lnTo>
                    <a:pt x="28132" y="333997"/>
                  </a:lnTo>
                  <a:lnTo>
                    <a:pt x="37761" y="343577"/>
                  </a:lnTo>
                  <a:lnTo>
                    <a:pt x="47202" y="334138"/>
                  </a:lnTo>
                  <a:lnTo>
                    <a:pt x="47202" y="4533"/>
                  </a:lnTo>
                  <a:lnTo>
                    <a:pt x="42670" y="0"/>
                  </a:lnTo>
                  <a:close/>
                </a:path>
                <a:path w="75564" h="419735">
                  <a:moveTo>
                    <a:pt x="47202" y="334138"/>
                  </a:moveTo>
                  <a:lnTo>
                    <a:pt x="37761" y="343577"/>
                  </a:lnTo>
                  <a:lnTo>
                    <a:pt x="47202" y="343577"/>
                  </a:lnTo>
                  <a:lnTo>
                    <a:pt x="47202" y="334138"/>
                  </a:lnTo>
                  <a:close/>
                </a:path>
              </a:pathLst>
            </a:custGeom>
            <a:solidFill>
              <a:srgbClr val="000000"/>
            </a:solidFill>
          </p:spPr>
          <p:txBody>
            <a:bodyPr wrap="square" lIns="0" tIns="0" rIns="0" bIns="0" rtlCol="0"/>
            <a:lstStyle/>
            <a:p/>
          </p:txBody>
        </p:sp>
        <p:sp>
          <p:nvSpPr>
            <p:cNvPr id="65" name="object 65" descr=""/>
            <p:cNvSpPr/>
            <p:nvPr/>
          </p:nvSpPr>
          <p:spPr>
            <a:xfrm>
              <a:off x="4544256" y="4876535"/>
              <a:ext cx="75565" cy="419734"/>
            </a:xfrm>
            <a:custGeom>
              <a:avLst/>
              <a:gdLst/>
              <a:ahLst/>
              <a:cxnLst/>
              <a:rect l="l" t="t" r="r" b="b"/>
              <a:pathLst>
                <a:path w="75564" h="419735">
                  <a:moveTo>
                    <a:pt x="47202" y="9500"/>
                  </a:moveTo>
                  <a:lnTo>
                    <a:pt x="47202" y="343577"/>
                  </a:lnTo>
                  <a:lnTo>
                    <a:pt x="47202" y="348998"/>
                  </a:lnTo>
                  <a:lnTo>
                    <a:pt x="42670" y="353078"/>
                  </a:lnTo>
                  <a:lnTo>
                    <a:pt x="28132" y="9500"/>
                  </a:lnTo>
                  <a:lnTo>
                    <a:pt x="28132" y="4533"/>
                  </a:lnTo>
                  <a:lnTo>
                    <a:pt x="32663" y="0"/>
                  </a:lnTo>
                  <a:lnTo>
                    <a:pt x="37761" y="0"/>
                  </a:lnTo>
                  <a:lnTo>
                    <a:pt x="42670" y="0"/>
                  </a:lnTo>
                  <a:lnTo>
                    <a:pt x="47202" y="4533"/>
                  </a:lnTo>
                  <a:lnTo>
                    <a:pt x="47202" y="9500"/>
                  </a:lnTo>
                  <a:close/>
                </a:path>
                <a:path w="75564" h="419735">
                  <a:moveTo>
                    <a:pt x="37761" y="343577"/>
                  </a:moveTo>
                  <a:lnTo>
                    <a:pt x="75334" y="306009"/>
                  </a:lnTo>
                  <a:lnTo>
                    <a:pt x="37761" y="419168"/>
                  </a:lnTo>
                  <a:lnTo>
                    <a:pt x="0" y="306009"/>
                  </a:lnTo>
                  <a:lnTo>
                    <a:pt x="37761" y="343577"/>
                  </a:lnTo>
                  <a:close/>
                </a:path>
              </a:pathLst>
            </a:custGeom>
            <a:ln w="3175">
              <a:solidFill>
                <a:srgbClr val="000000"/>
              </a:solidFill>
            </a:ln>
          </p:spPr>
          <p:txBody>
            <a:bodyPr wrap="square" lIns="0" tIns="0" rIns="0" bIns="0" rtlCol="0"/>
            <a:lstStyle/>
            <a:p/>
          </p:txBody>
        </p:sp>
      </p:grpSp>
      <p:sp>
        <p:nvSpPr>
          <p:cNvPr id="66" name="object 66" descr=""/>
          <p:cNvSpPr txBox="1"/>
          <p:nvPr/>
        </p:nvSpPr>
        <p:spPr>
          <a:xfrm>
            <a:off x="2692423" y="4169895"/>
            <a:ext cx="195580" cy="565150"/>
          </a:xfrm>
          <a:prstGeom prst="rect">
            <a:avLst/>
          </a:prstGeom>
        </p:spPr>
        <p:txBody>
          <a:bodyPr wrap="square" lIns="0" tIns="48260" rIns="0" bIns="0" rtlCol="0" vert="horz">
            <a:spAutoFit/>
          </a:bodyPr>
          <a:lstStyle/>
          <a:p>
            <a:pPr algn="just" marL="12700" marR="5080">
              <a:lnSpc>
                <a:spcPts val="1320"/>
              </a:lnSpc>
              <a:spcBef>
                <a:spcPts val="380"/>
              </a:spcBef>
            </a:pPr>
            <a:r>
              <a:rPr dirty="0" sz="1300" spc="-50" b="1">
                <a:latin typeface="宋体"/>
                <a:cs typeface="宋体"/>
              </a:rPr>
              <a:t>保留站</a:t>
            </a:r>
            <a:endParaRPr sz="1300">
              <a:latin typeface="宋体"/>
              <a:cs typeface="宋体"/>
            </a:endParaRPr>
          </a:p>
        </p:txBody>
      </p:sp>
      <p:graphicFrame>
        <p:nvGraphicFramePr>
          <p:cNvPr id="67" name="object 67" descr=""/>
          <p:cNvGraphicFramePr>
            <a:graphicFrameLocks noGrp="1"/>
          </p:cNvGraphicFramePr>
          <p:nvPr/>
        </p:nvGraphicFramePr>
        <p:xfrm>
          <a:off x="2987280" y="4111274"/>
          <a:ext cx="2035175" cy="794385"/>
        </p:xfrm>
        <a:graphic>
          <a:graphicData uri="http://schemas.openxmlformats.org/drawingml/2006/table">
            <a:tbl>
              <a:tblPr firstRow="1" bandRow="1">
                <a:tableStyleId>{2D5ABB26-0587-4C30-8999-92F81FD0307C}</a:tableStyleId>
              </a:tblPr>
              <a:tblGrid>
                <a:gridCol w="515620"/>
                <a:gridCol w="714374"/>
                <a:gridCol w="714375"/>
              </a:tblGrid>
              <a:tr h="264795">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r>
              <a:tr h="264795">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r>
              <a:tr h="264795">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r>
            </a:tbl>
          </a:graphicData>
        </a:graphic>
      </p:graphicFrame>
      <p:sp>
        <p:nvSpPr>
          <p:cNvPr id="68" name="object 68" descr=""/>
          <p:cNvSpPr txBox="1"/>
          <p:nvPr/>
        </p:nvSpPr>
        <p:spPr>
          <a:xfrm>
            <a:off x="3636470" y="2595217"/>
            <a:ext cx="1216660" cy="229870"/>
          </a:xfrm>
          <a:prstGeom prst="rect">
            <a:avLst/>
          </a:prstGeom>
        </p:spPr>
        <p:txBody>
          <a:bodyPr wrap="square" lIns="0" tIns="17780" rIns="0" bIns="0" rtlCol="0" vert="horz">
            <a:spAutoFit/>
          </a:bodyPr>
          <a:lstStyle/>
          <a:p>
            <a:pPr marL="60960">
              <a:lnSpc>
                <a:spcPct val="100000"/>
              </a:lnSpc>
              <a:spcBef>
                <a:spcPts val="140"/>
              </a:spcBef>
            </a:pPr>
            <a:r>
              <a:rPr dirty="0" sz="1300">
                <a:latin typeface="Times New Roman"/>
                <a:cs typeface="Times New Roman"/>
              </a:rPr>
              <a:t>ADD</a:t>
            </a:r>
            <a:r>
              <a:rPr dirty="0" sz="1300" spc="70">
                <a:latin typeface="Times New Roman"/>
                <a:cs typeface="Times New Roman"/>
              </a:rPr>
              <a:t> </a:t>
            </a:r>
            <a:r>
              <a:rPr dirty="0" sz="1300" spc="-10">
                <a:latin typeface="Times New Roman"/>
                <a:cs typeface="Times New Roman"/>
              </a:rPr>
              <a:t>F2,F0,F6</a:t>
            </a:r>
            <a:endParaRPr sz="1300">
              <a:latin typeface="Times New Roman"/>
              <a:cs typeface="Times New Roman"/>
            </a:endParaRPr>
          </a:p>
        </p:txBody>
      </p:sp>
      <p:sp>
        <p:nvSpPr>
          <p:cNvPr id="69" name="object 69" descr=""/>
          <p:cNvSpPr txBox="1"/>
          <p:nvPr/>
        </p:nvSpPr>
        <p:spPr>
          <a:xfrm>
            <a:off x="4984130" y="4094361"/>
            <a:ext cx="478155" cy="813435"/>
          </a:xfrm>
          <a:prstGeom prst="rect">
            <a:avLst/>
          </a:prstGeom>
        </p:spPr>
        <p:txBody>
          <a:bodyPr wrap="square" lIns="0" tIns="11430" rIns="0" bIns="0" rtlCol="0" vert="horz">
            <a:spAutoFit/>
          </a:bodyPr>
          <a:lstStyle/>
          <a:p>
            <a:pPr algn="just" marL="12700" marR="5080">
              <a:lnSpc>
                <a:spcPct val="132500"/>
              </a:lnSpc>
              <a:spcBef>
                <a:spcPts val="90"/>
              </a:spcBef>
            </a:pPr>
            <a:r>
              <a:rPr dirty="0" sz="1300" spc="-20">
                <a:latin typeface="Times New Roman"/>
                <a:cs typeface="Times New Roman"/>
              </a:rPr>
              <a:t>ADD3 ADD2 ADD1</a:t>
            </a:r>
            <a:endParaRPr sz="1300">
              <a:latin typeface="Times New Roman"/>
              <a:cs typeface="Times New Roman"/>
            </a:endParaRPr>
          </a:p>
        </p:txBody>
      </p:sp>
      <p:sp>
        <p:nvSpPr>
          <p:cNvPr id="70" name="object 70" descr=""/>
          <p:cNvSpPr txBox="1"/>
          <p:nvPr/>
        </p:nvSpPr>
        <p:spPr>
          <a:xfrm>
            <a:off x="8047735" y="4180359"/>
            <a:ext cx="575310" cy="609600"/>
          </a:xfrm>
          <a:prstGeom prst="rect">
            <a:avLst/>
          </a:prstGeom>
        </p:spPr>
        <p:txBody>
          <a:bodyPr wrap="square" lIns="0" tIns="11430" rIns="0" bIns="0" rtlCol="0" vert="horz">
            <a:spAutoFit/>
          </a:bodyPr>
          <a:lstStyle/>
          <a:p>
            <a:pPr marL="12700" marR="5080">
              <a:lnSpc>
                <a:spcPct val="147400"/>
              </a:lnSpc>
              <a:spcBef>
                <a:spcPts val="90"/>
              </a:spcBef>
            </a:pPr>
            <a:r>
              <a:rPr dirty="0" sz="1300" spc="-10">
                <a:latin typeface="Times New Roman"/>
                <a:cs typeface="Times New Roman"/>
              </a:rPr>
              <a:t>MULT2 MULT1</a:t>
            </a:r>
            <a:endParaRPr sz="1300">
              <a:latin typeface="Times New Roman"/>
              <a:cs typeface="Times New Roman"/>
            </a:endParaRPr>
          </a:p>
        </p:txBody>
      </p:sp>
      <p:sp>
        <p:nvSpPr>
          <p:cNvPr id="71" name="object 71" descr=""/>
          <p:cNvSpPr txBox="1"/>
          <p:nvPr/>
        </p:nvSpPr>
        <p:spPr>
          <a:xfrm>
            <a:off x="5749370" y="4244598"/>
            <a:ext cx="195580" cy="565150"/>
          </a:xfrm>
          <a:prstGeom prst="rect">
            <a:avLst/>
          </a:prstGeom>
        </p:spPr>
        <p:txBody>
          <a:bodyPr wrap="square" lIns="0" tIns="48260" rIns="0" bIns="0" rtlCol="0" vert="horz">
            <a:spAutoFit/>
          </a:bodyPr>
          <a:lstStyle/>
          <a:p>
            <a:pPr algn="just" marL="12700" marR="5080">
              <a:lnSpc>
                <a:spcPts val="1320"/>
              </a:lnSpc>
              <a:spcBef>
                <a:spcPts val="380"/>
              </a:spcBef>
            </a:pPr>
            <a:r>
              <a:rPr dirty="0" sz="1300" spc="-50" b="1">
                <a:latin typeface="宋体"/>
                <a:cs typeface="宋体"/>
              </a:rPr>
              <a:t>保留站</a:t>
            </a:r>
            <a:endParaRPr sz="1300">
              <a:latin typeface="宋体"/>
              <a:cs typeface="宋体"/>
            </a:endParaRPr>
          </a:p>
        </p:txBody>
      </p:sp>
      <p:sp>
        <p:nvSpPr>
          <p:cNvPr id="72" name="object 72" descr=""/>
          <p:cNvSpPr txBox="1"/>
          <p:nvPr/>
        </p:nvSpPr>
        <p:spPr>
          <a:xfrm>
            <a:off x="5431983" y="2102611"/>
            <a:ext cx="195580" cy="901065"/>
          </a:xfrm>
          <a:prstGeom prst="rect">
            <a:avLst/>
          </a:prstGeom>
        </p:spPr>
        <p:txBody>
          <a:bodyPr wrap="square" lIns="0" tIns="48260" rIns="0" bIns="0" rtlCol="0" vert="horz">
            <a:spAutoFit/>
          </a:bodyPr>
          <a:lstStyle/>
          <a:p>
            <a:pPr algn="just" marL="12700" marR="5080">
              <a:lnSpc>
                <a:spcPts val="1320"/>
              </a:lnSpc>
              <a:spcBef>
                <a:spcPts val="380"/>
              </a:spcBef>
            </a:pPr>
            <a:r>
              <a:rPr dirty="0" sz="1300" spc="-50" b="1">
                <a:latin typeface="宋体"/>
                <a:cs typeface="宋体"/>
              </a:rPr>
              <a:t>浮点寄存器</a:t>
            </a:r>
            <a:endParaRPr sz="1300">
              <a:latin typeface="宋体"/>
              <a:cs typeface="宋体"/>
            </a:endParaRPr>
          </a:p>
        </p:txBody>
      </p:sp>
      <p:grpSp>
        <p:nvGrpSpPr>
          <p:cNvPr id="73" name="object 73" descr=""/>
          <p:cNvGrpSpPr/>
          <p:nvPr/>
        </p:nvGrpSpPr>
        <p:grpSpPr>
          <a:xfrm>
            <a:off x="7034889" y="2122348"/>
            <a:ext cx="650240" cy="892175"/>
            <a:chOff x="7034889" y="2122348"/>
            <a:chExt cx="650240" cy="892175"/>
          </a:xfrm>
        </p:grpSpPr>
        <p:sp>
          <p:nvSpPr>
            <p:cNvPr id="74" name="object 74" descr=""/>
            <p:cNvSpPr/>
            <p:nvPr/>
          </p:nvSpPr>
          <p:spPr>
            <a:xfrm>
              <a:off x="7042191" y="2129651"/>
              <a:ext cx="635635" cy="877569"/>
            </a:xfrm>
            <a:custGeom>
              <a:avLst/>
              <a:gdLst/>
              <a:ahLst/>
              <a:cxnLst/>
              <a:rect l="l" t="t" r="r" b="b"/>
              <a:pathLst>
                <a:path w="635634" h="877569">
                  <a:moveTo>
                    <a:pt x="635151" y="0"/>
                  </a:moveTo>
                  <a:lnTo>
                    <a:pt x="0" y="0"/>
                  </a:lnTo>
                  <a:lnTo>
                    <a:pt x="0" y="877266"/>
                  </a:lnTo>
                  <a:lnTo>
                    <a:pt x="635151" y="877266"/>
                  </a:lnTo>
                  <a:lnTo>
                    <a:pt x="635151" y="0"/>
                  </a:lnTo>
                  <a:close/>
                </a:path>
              </a:pathLst>
            </a:custGeom>
            <a:solidFill>
              <a:srgbClr val="FFFF99"/>
            </a:solidFill>
          </p:spPr>
          <p:txBody>
            <a:bodyPr wrap="square" lIns="0" tIns="0" rIns="0" bIns="0" rtlCol="0"/>
            <a:lstStyle/>
            <a:p/>
          </p:txBody>
        </p:sp>
        <p:sp>
          <p:nvSpPr>
            <p:cNvPr id="75" name="object 75" descr=""/>
            <p:cNvSpPr/>
            <p:nvPr/>
          </p:nvSpPr>
          <p:spPr>
            <a:xfrm>
              <a:off x="7042191" y="2129651"/>
              <a:ext cx="635635" cy="877569"/>
            </a:xfrm>
            <a:custGeom>
              <a:avLst/>
              <a:gdLst/>
              <a:ahLst/>
              <a:cxnLst/>
              <a:rect l="l" t="t" r="r" b="b"/>
              <a:pathLst>
                <a:path w="635634" h="877569">
                  <a:moveTo>
                    <a:pt x="0" y="877266"/>
                  </a:moveTo>
                  <a:lnTo>
                    <a:pt x="635151" y="877266"/>
                  </a:lnTo>
                  <a:lnTo>
                    <a:pt x="635151" y="0"/>
                  </a:lnTo>
                  <a:lnTo>
                    <a:pt x="0" y="0"/>
                  </a:lnTo>
                  <a:lnTo>
                    <a:pt x="0" y="877266"/>
                  </a:lnTo>
                  <a:close/>
                </a:path>
              </a:pathLst>
            </a:custGeom>
            <a:ln w="14055">
              <a:solidFill>
                <a:srgbClr val="000000"/>
              </a:solidFill>
            </a:ln>
          </p:spPr>
          <p:txBody>
            <a:bodyPr wrap="square" lIns="0" tIns="0" rIns="0" bIns="0" rtlCol="0"/>
            <a:lstStyle/>
            <a:p/>
          </p:txBody>
        </p:sp>
        <p:sp>
          <p:nvSpPr>
            <p:cNvPr id="76" name="object 76" descr=""/>
            <p:cNvSpPr/>
            <p:nvPr/>
          </p:nvSpPr>
          <p:spPr>
            <a:xfrm>
              <a:off x="7042188" y="2342197"/>
              <a:ext cx="635635" cy="453390"/>
            </a:xfrm>
            <a:custGeom>
              <a:avLst/>
              <a:gdLst/>
              <a:ahLst/>
              <a:cxnLst/>
              <a:rect l="l" t="t" r="r" b="b"/>
              <a:pathLst>
                <a:path w="635634" h="453389">
                  <a:moveTo>
                    <a:pt x="635152" y="438785"/>
                  </a:moveTo>
                  <a:lnTo>
                    <a:pt x="0" y="438785"/>
                  </a:lnTo>
                  <a:lnTo>
                    <a:pt x="0" y="452843"/>
                  </a:lnTo>
                  <a:lnTo>
                    <a:pt x="635152" y="452843"/>
                  </a:lnTo>
                  <a:lnTo>
                    <a:pt x="635152" y="438785"/>
                  </a:lnTo>
                  <a:close/>
                </a:path>
                <a:path w="635634" h="453389">
                  <a:moveTo>
                    <a:pt x="635152" y="219113"/>
                  </a:moveTo>
                  <a:lnTo>
                    <a:pt x="0" y="219113"/>
                  </a:lnTo>
                  <a:lnTo>
                    <a:pt x="0" y="233172"/>
                  </a:lnTo>
                  <a:lnTo>
                    <a:pt x="635152" y="233172"/>
                  </a:lnTo>
                  <a:lnTo>
                    <a:pt x="635152" y="219113"/>
                  </a:lnTo>
                  <a:close/>
                </a:path>
                <a:path w="635634" h="453389">
                  <a:moveTo>
                    <a:pt x="635152" y="0"/>
                  </a:moveTo>
                  <a:lnTo>
                    <a:pt x="0" y="0"/>
                  </a:lnTo>
                  <a:lnTo>
                    <a:pt x="0" y="14071"/>
                  </a:lnTo>
                  <a:lnTo>
                    <a:pt x="635152" y="14071"/>
                  </a:lnTo>
                  <a:lnTo>
                    <a:pt x="635152" y="0"/>
                  </a:lnTo>
                  <a:close/>
                </a:path>
              </a:pathLst>
            </a:custGeom>
            <a:solidFill>
              <a:srgbClr val="000000"/>
            </a:solidFill>
          </p:spPr>
          <p:txBody>
            <a:bodyPr wrap="square" lIns="0" tIns="0" rIns="0" bIns="0" rtlCol="0"/>
            <a:lstStyle/>
            <a:p/>
          </p:txBody>
        </p:sp>
      </p:grpSp>
      <p:sp>
        <p:nvSpPr>
          <p:cNvPr id="77" name="object 77" descr=""/>
          <p:cNvSpPr txBox="1"/>
          <p:nvPr/>
        </p:nvSpPr>
        <p:spPr>
          <a:xfrm>
            <a:off x="6612413" y="2104217"/>
            <a:ext cx="206375" cy="908685"/>
          </a:xfrm>
          <a:prstGeom prst="rect">
            <a:avLst/>
          </a:prstGeom>
        </p:spPr>
        <p:txBody>
          <a:bodyPr wrap="square" lIns="0" tIns="27940" rIns="0" bIns="0" rtlCol="0" vert="horz">
            <a:spAutoFit/>
          </a:bodyPr>
          <a:lstStyle/>
          <a:p>
            <a:pPr algn="just" marL="12700" marR="5080">
              <a:lnSpc>
                <a:spcPct val="109300"/>
              </a:lnSpc>
              <a:spcBef>
                <a:spcPts val="220"/>
              </a:spcBef>
            </a:pPr>
            <a:r>
              <a:rPr dirty="0" sz="1300" spc="-25">
                <a:latin typeface="Times New Roman"/>
                <a:cs typeface="Times New Roman"/>
              </a:rPr>
              <a:t>F6 F4 F2 F0</a:t>
            </a:r>
            <a:endParaRPr sz="1300">
              <a:latin typeface="Times New Roman"/>
              <a:cs typeface="Times New Roman"/>
            </a:endParaRPr>
          </a:p>
        </p:txBody>
      </p:sp>
      <p:grpSp>
        <p:nvGrpSpPr>
          <p:cNvPr id="78" name="object 78" descr=""/>
          <p:cNvGrpSpPr/>
          <p:nvPr/>
        </p:nvGrpSpPr>
        <p:grpSpPr>
          <a:xfrm>
            <a:off x="3860151" y="1771687"/>
            <a:ext cx="5491480" cy="4167504"/>
            <a:chOff x="3860151" y="1771687"/>
            <a:chExt cx="5491480" cy="4167504"/>
          </a:xfrm>
        </p:grpSpPr>
        <p:sp>
          <p:nvSpPr>
            <p:cNvPr id="79" name="object 79" descr=""/>
            <p:cNvSpPr/>
            <p:nvPr/>
          </p:nvSpPr>
          <p:spPr>
            <a:xfrm>
              <a:off x="3867454" y="1778990"/>
              <a:ext cx="5476875" cy="4152900"/>
            </a:xfrm>
            <a:custGeom>
              <a:avLst/>
              <a:gdLst/>
              <a:ahLst/>
              <a:cxnLst/>
              <a:rect l="l" t="t" r="r" b="b"/>
              <a:pathLst>
                <a:path w="5476875" h="4152900">
                  <a:moveTo>
                    <a:pt x="0" y="2105287"/>
                  </a:moveTo>
                  <a:lnTo>
                    <a:pt x="5476500" y="2105287"/>
                  </a:lnTo>
                </a:path>
                <a:path w="5476875" h="4152900">
                  <a:moveTo>
                    <a:pt x="317802" y="4152718"/>
                  </a:moveTo>
                  <a:lnTo>
                    <a:pt x="5476500" y="4152718"/>
                  </a:lnTo>
                </a:path>
                <a:path w="5476875" h="4152900">
                  <a:moveTo>
                    <a:pt x="5476500" y="4152718"/>
                  </a:moveTo>
                  <a:lnTo>
                    <a:pt x="5476500" y="0"/>
                  </a:lnTo>
                </a:path>
              </a:pathLst>
            </a:custGeom>
            <a:ln w="14056">
              <a:solidFill>
                <a:srgbClr val="000000"/>
              </a:solidFill>
            </a:ln>
          </p:spPr>
          <p:txBody>
            <a:bodyPr wrap="square" lIns="0" tIns="0" rIns="0" bIns="0" rtlCol="0"/>
            <a:lstStyle/>
            <a:p/>
          </p:txBody>
        </p:sp>
        <p:sp>
          <p:nvSpPr>
            <p:cNvPr id="80" name="object 80" descr=""/>
            <p:cNvSpPr/>
            <p:nvPr/>
          </p:nvSpPr>
          <p:spPr>
            <a:xfrm>
              <a:off x="4507136" y="3407159"/>
              <a:ext cx="75565" cy="711200"/>
            </a:xfrm>
            <a:custGeom>
              <a:avLst/>
              <a:gdLst/>
              <a:ahLst/>
              <a:cxnLst/>
              <a:rect l="l" t="t" r="r" b="b"/>
              <a:pathLst>
                <a:path w="75564" h="711200">
                  <a:moveTo>
                    <a:pt x="0" y="598002"/>
                  </a:moveTo>
                  <a:lnTo>
                    <a:pt x="38063" y="711143"/>
                  </a:lnTo>
                  <a:lnTo>
                    <a:pt x="59797" y="645034"/>
                  </a:lnTo>
                  <a:lnTo>
                    <a:pt x="32588" y="645034"/>
                  </a:lnTo>
                  <a:lnTo>
                    <a:pt x="28056" y="641068"/>
                  </a:lnTo>
                  <a:lnTo>
                    <a:pt x="28022" y="625951"/>
                  </a:lnTo>
                  <a:lnTo>
                    <a:pt x="0" y="598002"/>
                  </a:lnTo>
                  <a:close/>
                </a:path>
                <a:path w="75564" h="711200">
                  <a:moveTo>
                    <a:pt x="28022" y="625951"/>
                  </a:moveTo>
                  <a:lnTo>
                    <a:pt x="28056" y="641068"/>
                  </a:lnTo>
                  <a:lnTo>
                    <a:pt x="32588" y="645034"/>
                  </a:lnTo>
                  <a:lnTo>
                    <a:pt x="42972" y="645034"/>
                  </a:lnTo>
                  <a:lnTo>
                    <a:pt x="47126" y="641068"/>
                  </a:lnTo>
                  <a:lnTo>
                    <a:pt x="47126" y="635590"/>
                  </a:lnTo>
                  <a:lnTo>
                    <a:pt x="37686" y="635590"/>
                  </a:lnTo>
                  <a:lnTo>
                    <a:pt x="28022" y="625951"/>
                  </a:lnTo>
                  <a:close/>
                </a:path>
                <a:path w="75564" h="711200">
                  <a:moveTo>
                    <a:pt x="75259" y="598002"/>
                  </a:moveTo>
                  <a:lnTo>
                    <a:pt x="47086" y="626186"/>
                  </a:lnTo>
                  <a:lnTo>
                    <a:pt x="47126" y="641068"/>
                  </a:lnTo>
                  <a:lnTo>
                    <a:pt x="42972" y="645034"/>
                  </a:lnTo>
                  <a:lnTo>
                    <a:pt x="59797" y="645034"/>
                  </a:lnTo>
                  <a:lnTo>
                    <a:pt x="75259" y="598002"/>
                  </a:lnTo>
                  <a:close/>
                </a:path>
                <a:path w="75564" h="711200">
                  <a:moveTo>
                    <a:pt x="40329" y="0"/>
                  </a:moveTo>
                  <a:lnTo>
                    <a:pt x="29944" y="0"/>
                  </a:lnTo>
                  <a:lnTo>
                    <a:pt x="25791" y="4155"/>
                  </a:lnTo>
                  <a:lnTo>
                    <a:pt x="25791" y="9444"/>
                  </a:lnTo>
                  <a:lnTo>
                    <a:pt x="27920" y="598002"/>
                  </a:lnTo>
                  <a:lnTo>
                    <a:pt x="28022" y="625951"/>
                  </a:lnTo>
                  <a:lnTo>
                    <a:pt x="37686" y="635590"/>
                  </a:lnTo>
                  <a:lnTo>
                    <a:pt x="47086" y="626186"/>
                  </a:lnTo>
                  <a:lnTo>
                    <a:pt x="44484" y="9444"/>
                  </a:lnTo>
                  <a:lnTo>
                    <a:pt x="44483" y="4155"/>
                  </a:lnTo>
                  <a:lnTo>
                    <a:pt x="40329" y="0"/>
                  </a:lnTo>
                  <a:close/>
                </a:path>
                <a:path w="75564" h="711200">
                  <a:moveTo>
                    <a:pt x="47086" y="626186"/>
                  </a:moveTo>
                  <a:lnTo>
                    <a:pt x="37686" y="635590"/>
                  </a:lnTo>
                  <a:lnTo>
                    <a:pt x="47126" y="635590"/>
                  </a:lnTo>
                  <a:lnTo>
                    <a:pt x="47086" y="626186"/>
                  </a:lnTo>
                  <a:close/>
                </a:path>
              </a:pathLst>
            </a:custGeom>
            <a:solidFill>
              <a:srgbClr val="000000"/>
            </a:solidFill>
          </p:spPr>
          <p:txBody>
            <a:bodyPr wrap="square" lIns="0" tIns="0" rIns="0" bIns="0" rtlCol="0"/>
            <a:lstStyle/>
            <a:p/>
          </p:txBody>
        </p:sp>
        <p:sp>
          <p:nvSpPr>
            <p:cNvPr id="81" name="object 81" descr=""/>
            <p:cNvSpPr/>
            <p:nvPr/>
          </p:nvSpPr>
          <p:spPr>
            <a:xfrm>
              <a:off x="4507136" y="3407159"/>
              <a:ext cx="75565" cy="711200"/>
            </a:xfrm>
            <a:custGeom>
              <a:avLst/>
              <a:gdLst/>
              <a:ahLst/>
              <a:cxnLst/>
              <a:rect l="l" t="t" r="r" b="b"/>
              <a:pathLst>
                <a:path w="75564" h="711200">
                  <a:moveTo>
                    <a:pt x="44483" y="9066"/>
                  </a:moveTo>
                  <a:lnTo>
                    <a:pt x="47126" y="635590"/>
                  </a:lnTo>
                  <a:lnTo>
                    <a:pt x="47126" y="641068"/>
                  </a:lnTo>
                  <a:lnTo>
                    <a:pt x="42972" y="645034"/>
                  </a:lnTo>
                  <a:lnTo>
                    <a:pt x="37686" y="645034"/>
                  </a:lnTo>
                  <a:lnTo>
                    <a:pt x="32588" y="645034"/>
                  </a:lnTo>
                  <a:lnTo>
                    <a:pt x="28056" y="641068"/>
                  </a:lnTo>
                  <a:lnTo>
                    <a:pt x="28056" y="635590"/>
                  </a:lnTo>
                  <a:lnTo>
                    <a:pt x="25791" y="9444"/>
                  </a:lnTo>
                  <a:lnTo>
                    <a:pt x="25791" y="4155"/>
                  </a:lnTo>
                  <a:lnTo>
                    <a:pt x="29944" y="0"/>
                  </a:lnTo>
                  <a:lnTo>
                    <a:pt x="34854" y="0"/>
                  </a:lnTo>
                  <a:lnTo>
                    <a:pt x="40329" y="0"/>
                  </a:lnTo>
                  <a:lnTo>
                    <a:pt x="44483" y="4155"/>
                  </a:lnTo>
                  <a:lnTo>
                    <a:pt x="44483" y="9066"/>
                  </a:lnTo>
                  <a:close/>
                </a:path>
                <a:path w="75564" h="711200">
                  <a:moveTo>
                    <a:pt x="37686" y="635590"/>
                  </a:moveTo>
                  <a:lnTo>
                    <a:pt x="75259" y="598002"/>
                  </a:lnTo>
                  <a:lnTo>
                    <a:pt x="38063" y="711143"/>
                  </a:lnTo>
                  <a:lnTo>
                    <a:pt x="0" y="598002"/>
                  </a:lnTo>
                  <a:lnTo>
                    <a:pt x="37686" y="635590"/>
                  </a:lnTo>
                  <a:close/>
                </a:path>
              </a:pathLst>
            </a:custGeom>
            <a:ln w="3175">
              <a:solidFill>
                <a:srgbClr val="000000"/>
              </a:solidFill>
            </a:ln>
          </p:spPr>
          <p:txBody>
            <a:bodyPr wrap="square" lIns="0" tIns="0" rIns="0" bIns="0" rtlCol="0"/>
            <a:lstStyle/>
            <a:p/>
          </p:txBody>
        </p:sp>
        <p:sp>
          <p:nvSpPr>
            <p:cNvPr id="82" name="object 82" descr=""/>
            <p:cNvSpPr/>
            <p:nvPr/>
          </p:nvSpPr>
          <p:spPr>
            <a:xfrm>
              <a:off x="6859047" y="3416226"/>
              <a:ext cx="43815" cy="58419"/>
            </a:xfrm>
            <a:custGeom>
              <a:avLst/>
              <a:gdLst/>
              <a:ahLst/>
              <a:cxnLst/>
              <a:rect l="l" t="t" r="r" b="b"/>
              <a:pathLst>
                <a:path w="43815" h="58420">
                  <a:moveTo>
                    <a:pt x="21901" y="0"/>
                  </a:moveTo>
                  <a:lnTo>
                    <a:pt x="13461" y="2284"/>
                  </a:lnTo>
                  <a:lnTo>
                    <a:pt x="6490" y="8499"/>
                  </a:lnTo>
                  <a:lnTo>
                    <a:pt x="1749" y="17690"/>
                  </a:lnTo>
                  <a:lnTo>
                    <a:pt x="0" y="28899"/>
                  </a:lnTo>
                  <a:lnTo>
                    <a:pt x="1749" y="40137"/>
                  </a:lnTo>
                  <a:lnTo>
                    <a:pt x="6490" y="49392"/>
                  </a:lnTo>
                  <a:lnTo>
                    <a:pt x="13461" y="55673"/>
                  </a:lnTo>
                  <a:lnTo>
                    <a:pt x="21901" y="57987"/>
                  </a:lnTo>
                  <a:lnTo>
                    <a:pt x="30232" y="55673"/>
                  </a:lnTo>
                  <a:lnTo>
                    <a:pt x="37148" y="49392"/>
                  </a:lnTo>
                  <a:lnTo>
                    <a:pt x="41868" y="40137"/>
                  </a:lnTo>
                  <a:lnTo>
                    <a:pt x="43614" y="28899"/>
                  </a:lnTo>
                  <a:lnTo>
                    <a:pt x="41868" y="17690"/>
                  </a:lnTo>
                  <a:lnTo>
                    <a:pt x="37148" y="8499"/>
                  </a:lnTo>
                  <a:lnTo>
                    <a:pt x="30232" y="2284"/>
                  </a:lnTo>
                  <a:lnTo>
                    <a:pt x="21901" y="0"/>
                  </a:lnTo>
                  <a:close/>
                </a:path>
              </a:pathLst>
            </a:custGeom>
            <a:solidFill>
              <a:srgbClr val="000000"/>
            </a:solidFill>
          </p:spPr>
          <p:txBody>
            <a:bodyPr wrap="square" lIns="0" tIns="0" rIns="0" bIns="0" rtlCol="0"/>
            <a:lstStyle/>
            <a:p/>
          </p:txBody>
        </p:sp>
        <p:sp>
          <p:nvSpPr>
            <p:cNvPr id="83" name="object 83" descr=""/>
            <p:cNvSpPr/>
            <p:nvPr/>
          </p:nvSpPr>
          <p:spPr>
            <a:xfrm>
              <a:off x="6859047" y="3416226"/>
              <a:ext cx="43815" cy="58419"/>
            </a:xfrm>
            <a:custGeom>
              <a:avLst/>
              <a:gdLst/>
              <a:ahLst/>
              <a:cxnLst/>
              <a:rect l="l" t="t" r="r" b="b"/>
              <a:pathLst>
                <a:path w="43815" h="58420">
                  <a:moveTo>
                    <a:pt x="21901" y="0"/>
                  </a:moveTo>
                  <a:lnTo>
                    <a:pt x="13461" y="2284"/>
                  </a:lnTo>
                  <a:lnTo>
                    <a:pt x="6490" y="8499"/>
                  </a:lnTo>
                  <a:lnTo>
                    <a:pt x="1749" y="17690"/>
                  </a:lnTo>
                  <a:lnTo>
                    <a:pt x="0" y="28899"/>
                  </a:lnTo>
                  <a:lnTo>
                    <a:pt x="1749" y="40137"/>
                  </a:lnTo>
                  <a:lnTo>
                    <a:pt x="6490" y="49392"/>
                  </a:lnTo>
                  <a:lnTo>
                    <a:pt x="13461" y="55673"/>
                  </a:lnTo>
                  <a:lnTo>
                    <a:pt x="21901" y="57987"/>
                  </a:lnTo>
                  <a:lnTo>
                    <a:pt x="30232" y="55673"/>
                  </a:lnTo>
                  <a:lnTo>
                    <a:pt x="37148" y="49392"/>
                  </a:lnTo>
                  <a:lnTo>
                    <a:pt x="41868" y="40137"/>
                  </a:lnTo>
                  <a:lnTo>
                    <a:pt x="43614" y="28899"/>
                  </a:lnTo>
                  <a:lnTo>
                    <a:pt x="41868" y="17690"/>
                  </a:lnTo>
                  <a:lnTo>
                    <a:pt x="37148" y="8499"/>
                  </a:lnTo>
                  <a:lnTo>
                    <a:pt x="30232" y="2284"/>
                  </a:lnTo>
                  <a:lnTo>
                    <a:pt x="21901" y="0"/>
                  </a:lnTo>
                </a:path>
              </a:pathLst>
            </a:custGeom>
            <a:ln w="14055">
              <a:solidFill>
                <a:srgbClr val="000000"/>
              </a:solidFill>
            </a:ln>
          </p:spPr>
          <p:txBody>
            <a:bodyPr wrap="square" lIns="0" tIns="0" rIns="0" bIns="0" rtlCol="0"/>
            <a:lstStyle/>
            <a:p/>
          </p:txBody>
        </p:sp>
        <p:sp>
          <p:nvSpPr>
            <p:cNvPr id="84" name="object 84" descr=""/>
            <p:cNvSpPr/>
            <p:nvPr/>
          </p:nvSpPr>
          <p:spPr>
            <a:xfrm>
              <a:off x="4527075" y="3416226"/>
              <a:ext cx="43815" cy="58419"/>
            </a:xfrm>
            <a:custGeom>
              <a:avLst/>
              <a:gdLst/>
              <a:ahLst/>
              <a:cxnLst/>
              <a:rect l="l" t="t" r="r" b="b"/>
              <a:pathLst>
                <a:path w="43814" h="58420">
                  <a:moveTo>
                    <a:pt x="21712" y="0"/>
                  </a:moveTo>
                  <a:lnTo>
                    <a:pt x="13142" y="2284"/>
                  </a:lnTo>
                  <a:lnTo>
                    <a:pt x="6254" y="8499"/>
                  </a:lnTo>
                  <a:lnTo>
                    <a:pt x="1666" y="17690"/>
                  </a:lnTo>
                  <a:lnTo>
                    <a:pt x="0" y="28899"/>
                  </a:lnTo>
                  <a:lnTo>
                    <a:pt x="1666" y="40137"/>
                  </a:lnTo>
                  <a:lnTo>
                    <a:pt x="6254" y="49392"/>
                  </a:lnTo>
                  <a:lnTo>
                    <a:pt x="13142" y="55673"/>
                  </a:lnTo>
                  <a:lnTo>
                    <a:pt x="21712" y="57987"/>
                  </a:lnTo>
                  <a:lnTo>
                    <a:pt x="30312" y="55673"/>
                  </a:lnTo>
                  <a:lnTo>
                    <a:pt x="37266" y="49392"/>
                  </a:lnTo>
                  <a:lnTo>
                    <a:pt x="41918" y="40137"/>
                  </a:lnTo>
                  <a:lnTo>
                    <a:pt x="43614" y="28899"/>
                  </a:lnTo>
                  <a:lnTo>
                    <a:pt x="41918" y="17690"/>
                  </a:lnTo>
                  <a:lnTo>
                    <a:pt x="37266" y="8499"/>
                  </a:lnTo>
                  <a:lnTo>
                    <a:pt x="30312" y="2284"/>
                  </a:lnTo>
                  <a:lnTo>
                    <a:pt x="21712" y="0"/>
                  </a:lnTo>
                  <a:close/>
                </a:path>
              </a:pathLst>
            </a:custGeom>
            <a:solidFill>
              <a:srgbClr val="000000"/>
            </a:solidFill>
          </p:spPr>
          <p:txBody>
            <a:bodyPr wrap="square" lIns="0" tIns="0" rIns="0" bIns="0" rtlCol="0"/>
            <a:lstStyle/>
            <a:p/>
          </p:txBody>
        </p:sp>
        <p:sp>
          <p:nvSpPr>
            <p:cNvPr id="85" name="object 85" descr=""/>
            <p:cNvSpPr/>
            <p:nvPr/>
          </p:nvSpPr>
          <p:spPr>
            <a:xfrm>
              <a:off x="4527075" y="3416226"/>
              <a:ext cx="43815" cy="58419"/>
            </a:xfrm>
            <a:custGeom>
              <a:avLst/>
              <a:gdLst/>
              <a:ahLst/>
              <a:cxnLst/>
              <a:rect l="l" t="t" r="r" b="b"/>
              <a:pathLst>
                <a:path w="43814" h="58420">
                  <a:moveTo>
                    <a:pt x="21712" y="0"/>
                  </a:moveTo>
                  <a:lnTo>
                    <a:pt x="13142" y="2284"/>
                  </a:lnTo>
                  <a:lnTo>
                    <a:pt x="6254" y="8499"/>
                  </a:lnTo>
                  <a:lnTo>
                    <a:pt x="1666" y="17690"/>
                  </a:lnTo>
                  <a:lnTo>
                    <a:pt x="0" y="28899"/>
                  </a:lnTo>
                  <a:lnTo>
                    <a:pt x="1666" y="40137"/>
                  </a:lnTo>
                  <a:lnTo>
                    <a:pt x="6254" y="49392"/>
                  </a:lnTo>
                  <a:lnTo>
                    <a:pt x="13142" y="55673"/>
                  </a:lnTo>
                  <a:lnTo>
                    <a:pt x="21712" y="57987"/>
                  </a:lnTo>
                  <a:lnTo>
                    <a:pt x="30312" y="55673"/>
                  </a:lnTo>
                  <a:lnTo>
                    <a:pt x="37266" y="49392"/>
                  </a:lnTo>
                  <a:lnTo>
                    <a:pt x="41918" y="40137"/>
                  </a:lnTo>
                  <a:lnTo>
                    <a:pt x="43614" y="28899"/>
                  </a:lnTo>
                  <a:lnTo>
                    <a:pt x="41918" y="17690"/>
                  </a:lnTo>
                  <a:lnTo>
                    <a:pt x="37266" y="8499"/>
                  </a:lnTo>
                  <a:lnTo>
                    <a:pt x="30312" y="2284"/>
                  </a:lnTo>
                  <a:lnTo>
                    <a:pt x="21712" y="0"/>
                  </a:lnTo>
                </a:path>
              </a:pathLst>
            </a:custGeom>
            <a:ln w="14055">
              <a:solidFill>
                <a:srgbClr val="000000"/>
              </a:solidFill>
            </a:ln>
          </p:spPr>
          <p:txBody>
            <a:bodyPr wrap="square" lIns="0" tIns="0" rIns="0" bIns="0" rtlCol="0"/>
            <a:lstStyle/>
            <a:p/>
          </p:txBody>
        </p:sp>
        <p:sp>
          <p:nvSpPr>
            <p:cNvPr id="86" name="object 86" descr=""/>
            <p:cNvSpPr/>
            <p:nvPr/>
          </p:nvSpPr>
          <p:spPr>
            <a:xfrm>
              <a:off x="7599931" y="3437570"/>
              <a:ext cx="76200" cy="798195"/>
            </a:xfrm>
            <a:custGeom>
              <a:avLst/>
              <a:gdLst/>
              <a:ahLst/>
              <a:cxnLst/>
              <a:rect l="l" t="t" r="r" b="b"/>
              <a:pathLst>
                <a:path w="76200" h="798195">
                  <a:moveTo>
                    <a:pt x="0" y="684813"/>
                  </a:moveTo>
                  <a:lnTo>
                    <a:pt x="37572" y="797992"/>
                  </a:lnTo>
                  <a:lnTo>
                    <a:pt x="59755" y="731901"/>
                  </a:lnTo>
                  <a:lnTo>
                    <a:pt x="32663" y="731901"/>
                  </a:lnTo>
                  <a:lnTo>
                    <a:pt x="28510" y="727822"/>
                  </a:lnTo>
                  <a:lnTo>
                    <a:pt x="28132" y="722382"/>
                  </a:lnTo>
                  <a:lnTo>
                    <a:pt x="28107" y="712993"/>
                  </a:lnTo>
                  <a:lnTo>
                    <a:pt x="0" y="684813"/>
                  </a:lnTo>
                  <a:close/>
                </a:path>
                <a:path w="76200" h="798195">
                  <a:moveTo>
                    <a:pt x="46990" y="712993"/>
                  </a:moveTo>
                  <a:lnTo>
                    <a:pt x="37572" y="722382"/>
                  </a:lnTo>
                  <a:lnTo>
                    <a:pt x="28132" y="722382"/>
                  </a:lnTo>
                  <a:lnTo>
                    <a:pt x="28478" y="727368"/>
                  </a:lnTo>
                  <a:lnTo>
                    <a:pt x="28510" y="727822"/>
                  </a:lnTo>
                  <a:lnTo>
                    <a:pt x="32663" y="731901"/>
                  </a:lnTo>
                  <a:lnTo>
                    <a:pt x="37572" y="731448"/>
                  </a:lnTo>
                  <a:lnTo>
                    <a:pt x="43048" y="731448"/>
                  </a:lnTo>
                  <a:lnTo>
                    <a:pt x="47013" y="727368"/>
                  </a:lnTo>
                  <a:lnTo>
                    <a:pt x="47013" y="722382"/>
                  </a:lnTo>
                  <a:lnTo>
                    <a:pt x="37572" y="722382"/>
                  </a:lnTo>
                  <a:lnTo>
                    <a:pt x="28182" y="712993"/>
                  </a:lnTo>
                  <a:lnTo>
                    <a:pt x="46990" y="712993"/>
                  </a:lnTo>
                  <a:close/>
                </a:path>
                <a:path w="76200" h="798195">
                  <a:moveTo>
                    <a:pt x="75712" y="684360"/>
                  </a:moveTo>
                  <a:lnTo>
                    <a:pt x="46990" y="712993"/>
                  </a:lnTo>
                  <a:lnTo>
                    <a:pt x="47013" y="727368"/>
                  </a:lnTo>
                  <a:lnTo>
                    <a:pt x="43048" y="731448"/>
                  </a:lnTo>
                  <a:lnTo>
                    <a:pt x="37572" y="731448"/>
                  </a:lnTo>
                  <a:lnTo>
                    <a:pt x="32663" y="731901"/>
                  </a:lnTo>
                  <a:lnTo>
                    <a:pt x="59755" y="731901"/>
                  </a:lnTo>
                  <a:lnTo>
                    <a:pt x="75712" y="684360"/>
                  </a:lnTo>
                  <a:close/>
                </a:path>
                <a:path w="76200" h="798195">
                  <a:moveTo>
                    <a:pt x="41160" y="0"/>
                  </a:moveTo>
                  <a:lnTo>
                    <a:pt x="30775" y="0"/>
                  </a:lnTo>
                  <a:lnTo>
                    <a:pt x="26244" y="3966"/>
                  </a:lnTo>
                  <a:lnTo>
                    <a:pt x="26244" y="9066"/>
                  </a:lnTo>
                  <a:lnTo>
                    <a:pt x="28031" y="684360"/>
                  </a:lnTo>
                  <a:lnTo>
                    <a:pt x="28182" y="712993"/>
                  </a:lnTo>
                  <a:lnTo>
                    <a:pt x="37572" y="722382"/>
                  </a:lnTo>
                  <a:lnTo>
                    <a:pt x="46990" y="712993"/>
                  </a:lnTo>
                  <a:lnTo>
                    <a:pt x="45313" y="9066"/>
                  </a:lnTo>
                  <a:lnTo>
                    <a:pt x="45313" y="3966"/>
                  </a:lnTo>
                  <a:lnTo>
                    <a:pt x="41160" y="0"/>
                  </a:lnTo>
                  <a:close/>
                </a:path>
              </a:pathLst>
            </a:custGeom>
            <a:solidFill>
              <a:srgbClr val="000000"/>
            </a:solidFill>
          </p:spPr>
          <p:txBody>
            <a:bodyPr wrap="square" lIns="0" tIns="0" rIns="0" bIns="0" rtlCol="0"/>
            <a:lstStyle/>
            <a:p/>
          </p:txBody>
        </p:sp>
        <p:sp>
          <p:nvSpPr>
            <p:cNvPr id="87" name="object 87" descr=""/>
            <p:cNvSpPr/>
            <p:nvPr/>
          </p:nvSpPr>
          <p:spPr>
            <a:xfrm>
              <a:off x="7599931" y="3437570"/>
              <a:ext cx="76200" cy="798195"/>
            </a:xfrm>
            <a:custGeom>
              <a:avLst/>
              <a:gdLst/>
              <a:ahLst/>
              <a:cxnLst/>
              <a:rect l="l" t="t" r="r" b="b"/>
              <a:pathLst>
                <a:path w="76200" h="798195">
                  <a:moveTo>
                    <a:pt x="45313" y="9066"/>
                  </a:moveTo>
                  <a:lnTo>
                    <a:pt x="47013" y="722382"/>
                  </a:lnTo>
                  <a:lnTo>
                    <a:pt x="47013" y="727368"/>
                  </a:lnTo>
                  <a:lnTo>
                    <a:pt x="43048" y="731448"/>
                  </a:lnTo>
                  <a:lnTo>
                    <a:pt x="37572" y="731448"/>
                  </a:lnTo>
                  <a:lnTo>
                    <a:pt x="32663" y="731901"/>
                  </a:lnTo>
                  <a:lnTo>
                    <a:pt x="28510" y="727822"/>
                  </a:lnTo>
                  <a:lnTo>
                    <a:pt x="28132" y="722382"/>
                  </a:lnTo>
                  <a:lnTo>
                    <a:pt x="26244" y="9066"/>
                  </a:lnTo>
                  <a:lnTo>
                    <a:pt x="26244" y="3966"/>
                  </a:lnTo>
                  <a:lnTo>
                    <a:pt x="30775" y="0"/>
                  </a:lnTo>
                  <a:lnTo>
                    <a:pt x="36251" y="0"/>
                  </a:lnTo>
                  <a:lnTo>
                    <a:pt x="41160" y="0"/>
                  </a:lnTo>
                  <a:lnTo>
                    <a:pt x="45313" y="3966"/>
                  </a:lnTo>
                  <a:lnTo>
                    <a:pt x="45313" y="9066"/>
                  </a:lnTo>
                  <a:close/>
                </a:path>
                <a:path w="76200" h="798195">
                  <a:moveTo>
                    <a:pt x="37572" y="722382"/>
                  </a:moveTo>
                  <a:lnTo>
                    <a:pt x="75712" y="684360"/>
                  </a:lnTo>
                  <a:lnTo>
                    <a:pt x="37572" y="797992"/>
                  </a:lnTo>
                  <a:lnTo>
                    <a:pt x="0" y="684813"/>
                  </a:lnTo>
                  <a:lnTo>
                    <a:pt x="37572" y="722382"/>
                  </a:lnTo>
                  <a:close/>
                </a:path>
              </a:pathLst>
            </a:custGeom>
            <a:ln w="3175">
              <a:solidFill>
                <a:srgbClr val="000000"/>
              </a:solidFill>
            </a:ln>
          </p:spPr>
          <p:txBody>
            <a:bodyPr wrap="square" lIns="0" tIns="0" rIns="0" bIns="0" rtlCol="0"/>
            <a:lstStyle/>
            <a:p/>
          </p:txBody>
        </p:sp>
        <p:sp>
          <p:nvSpPr>
            <p:cNvPr id="88" name="object 88" descr=""/>
            <p:cNvSpPr/>
            <p:nvPr/>
          </p:nvSpPr>
          <p:spPr>
            <a:xfrm>
              <a:off x="6160078" y="3203544"/>
              <a:ext cx="3183890" cy="75565"/>
            </a:xfrm>
            <a:custGeom>
              <a:avLst/>
              <a:gdLst/>
              <a:ahLst/>
              <a:cxnLst/>
              <a:rect l="l" t="t" r="r" b="b"/>
              <a:pathLst>
                <a:path w="3183890" h="75564">
                  <a:moveTo>
                    <a:pt x="3070590" y="0"/>
                  </a:moveTo>
                  <a:lnTo>
                    <a:pt x="3108541" y="37587"/>
                  </a:lnTo>
                  <a:lnTo>
                    <a:pt x="3070590" y="75553"/>
                  </a:lnTo>
                  <a:lnTo>
                    <a:pt x="3155695" y="47031"/>
                  </a:lnTo>
                  <a:lnTo>
                    <a:pt x="3113639" y="47031"/>
                  </a:lnTo>
                  <a:lnTo>
                    <a:pt x="3118170" y="42876"/>
                  </a:lnTo>
                  <a:lnTo>
                    <a:pt x="3118170" y="32487"/>
                  </a:lnTo>
                  <a:lnTo>
                    <a:pt x="3113639" y="27954"/>
                  </a:lnTo>
                  <a:lnTo>
                    <a:pt x="3154842" y="27954"/>
                  </a:lnTo>
                  <a:lnTo>
                    <a:pt x="3070590" y="0"/>
                  </a:lnTo>
                  <a:close/>
                </a:path>
                <a:path w="3183890" h="75564">
                  <a:moveTo>
                    <a:pt x="3098815" y="27954"/>
                  </a:moveTo>
                  <a:lnTo>
                    <a:pt x="3964" y="27954"/>
                  </a:lnTo>
                  <a:lnTo>
                    <a:pt x="0" y="32487"/>
                  </a:lnTo>
                  <a:lnTo>
                    <a:pt x="0" y="42876"/>
                  </a:lnTo>
                  <a:lnTo>
                    <a:pt x="3964" y="47031"/>
                  </a:lnTo>
                  <a:lnTo>
                    <a:pt x="3099100" y="47031"/>
                  </a:lnTo>
                  <a:lnTo>
                    <a:pt x="3108541" y="37587"/>
                  </a:lnTo>
                  <a:lnTo>
                    <a:pt x="3098815" y="27954"/>
                  </a:lnTo>
                  <a:close/>
                </a:path>
                <a:path w="3183890" h="75564">
                  <a:moveTo>
                    <a:pt x="3154842" y="27954"/>
                  </a:moveTo>
                  <a:lnTo>
                    <a:pt x="3113639" y="27954"/>
                  </a:lnTo>
                  <a:lnTo>
                    <a:pt x="3118170" y="32487"/>
                  </a:lnTo>
                  <a:lnTo>
                    <a:pt x="3118170" y="42876"/>
                  </a:lnTo>
                  <a:lnTo>
                    <a:pt x="3113639" y="47031"/>
                  </a:lnTo>
                  <a:lnTo>
                    <a:pt x="3155695" y="47031"/>
                  </a:lnTo>
                  <a:lnTo>
                    <a:pt x="3183875" y="37587"/>
                  </a:lnTo>
                  <a:lnTo>
                    <a:pt x="3154842" y="27954"/>
                  </a:lnTo>
                  <a:close/>
                </a:path>
              </a:pathLst>
            </a:custGeom>
            <a:solidFill>
              <a:srgbClr val="000000"/>
            </a:solidFill>
          </p:spPr>
          <p:txBody>
            <a:bodyPr wrap="square" lIns="0" tIns="0" rIns="0" bIns="0" rtlCol="0"/>
            <a:lstStyle/>
            <a:p/>
          </p:txBody>
        </p:sp>
        <p:sp>
          <p:nvSpPr>
            <p:cNvPr id="89" name="object 89" descr=""/>
            <p:cNvSpPr/>
            <p:nvPr/>
          </p:nvSpPr>
          <p:spPr>
            <a:xfrm>
              <a:off x="6160078" y="3203544"/>
              <a:ext cx="3183890" cy="75565"/>
            </a:xfrm>
            <a:custGeom>
              <a:avLst/>
              <a:gdLst/>
              <a:ahLst/>
              <a:cxnLst/>
              <a:rect l="l" t="t" r="r" b="b"/>
              <a:pathLst>
                <a:path w="3183890" h="75564">
                  <a:moveTo>
                    <a:pt x="9062" y="27954"/>
                  </a:moveTo>
                  <a:lnTo>
                    <a:pt x="3108541" y="27954"/>
                  </a:lnTo>
                  <a:lnTo>
                    <a:pt x="3113638" y="27954"/>
                  </a:lnTo>
                  <a:lnTo>
                    <a:pt x="3118170" y="32487"/>
                  </a:lnTo>
                  <a:lnTo>
                    <a:pt x="3118170" y="37587"/>
                  </a:lnTo>
                  <a:lnTo>
                    <a:pt x="3118170" y="42876"/>
                  </a:lnTo>
                  <a:lnTo>
                    <a:pt x="3113638" y="47031"/>
                  </a:lnTo>
                  <a:lnTo>
                    <a:pt x="3108541" y="47031"/>
                  </a:lnTo>
                  <a:lnTo>
                    <a:pt x="9062" y="47031"/>
                  </a:lnTo>
                  <a:lnTo>
                    <a:pt x="3964" y="47031"/>
                  </a:lnTo>
                  <a:lnTo>
                    <a:pt x="0" y="42876"/>
                  </a:lnTo>
                  <a:lnTo>
                    <a:pt x="0" y="37587"/>
                  </a:lnTo>
                  <a:lnTo>
                    <a:pt x="0" y="32487"/>
                  </a:lnTo>
                  <a:lnTo>
                    <a:pt x="3964" y="27954"/>
                  </a:lnTo>
                  <a:lnTo>
                    <a:pt x="9062" y="27954"/>
                  </a:lnTo>
                  <a:close/>
                </a:path>
                <a:path w="3183890" h="75564">
                  <a:moveTo>
                    <a:pt x="3108541" y="37587"/>
                  </a:moveTo>
                  <a:lnTo>
                    <a:pt x="3070590" y="0"/>
                  </a:lnTo>
                  <a:lnTo>
                    <a:pt x="3183875" y="37587"/>
                  </a:lnTo>
                  <a:lnTo>
                    <a:pt x="3070590" y="75553"/>
                  </a:lnTo>
                  <a:lnTo>
                    <a:pt x="3108541" y="37587"/>
                  </a:lnTo>
                  <a:close/>
                </a:path>
              </a:pathLst>
            </a:custGeom>
            <a:ln w="3175">
              <a:solidFill>
                <a:srgbClr val="000000"/>
              </a:solidFill>
            </a:ln>
          </p:spPr>
          <p:txBody>
            <a:bodyPr wrap="square" lIns="0" tIns="0" rIns="0" bIns="0" rtlCol="0"/>
            <a:lstStyle/>
            <a:p/>
          </p:txBody>
        </p:sp>
        <p:sp>
          <p:nvSpPr>
            <p:cNvPr id="90" name="object 90" descr=""/>
            <p:cNvSpPr/>
            <p:nvPr/>
          </p:nvSpPr>
          <p:spPr>
            <a:xfrm>
              <a:off x="6146484" y="3210721"/>
              <a:ext cx="43815" cy="57785"/>
            </a:xfrm>
            <a:custGeom>
              <a:avLst/>
              <a:gdLst/>
              <a:ahLst/>
              <a:cxnLst/>
              <a:rect l="l" t="t" r="r" b="b"/>
              <a:pathLst>
                <a:path w="43814" h="57785">
                  <a:moveTo>
                    <a:pt x="22090" y="0"/>
                  </a:moveTo>
                  <a:lnTo>
                    <a:pt x="13541" y="2284"/>
                  </a:lnTo>
                  <a:lnTo>
                    <a:pt x="6513" y="8499"/>
                  </a:lnTo>
                  <a:lnTo>
                    <a:pt x="1752" y="17690"/>
                  </a:lnTo>
                  <a:lnTo>
                    <a:pt x="0" y="28899"/>
                  </a:lnTo>
                  <a:lnTo>
                    <a:pt x="1752" y="40049"/>
                  </a:lnTo>
                  <a:lnTo>
                    <a:pt x="6513" y="49109"/>
                  </a:lnTo>
                  <a:lnTo>
                    <a:pt x="13541" y="55195"/>
                  </a:lnTo>
                  <a:lnTo>
                    <a:pt x="22090" y="57420"/>
                  </a:lnTo>
                  <a:lnTo>
                    <a:pt x="30442" y="55195"/>
                  </a:lnTo>
                  <a:lnTo>
                    <a:pt x="37218" y="49109"/>
                  </a:lnTo>
                  <a:lnTo>
                    <a:pt x="41765" y="40049"/>
                  </a:lnTo>
                  <a:lnTo>
                    <a:pt x="43425" y="28899"/>
                  </a:lnTo>
                  <a:lnTo>
                    <a:pt x="41765" y="17690"/>
                  </a:lnTo>
                  <a:lnTo>
                    <a:pt x="37218" y="8499"/>
                  </a:lnTo>
                  <a:lnTo>
                    <a:pt x="30442" y="2284"/>
                  </a:lnTo>
                  <a:lnTo>
                    <a:pt x="22090" y="0"/>
                  </a:lnTo>
                  <a:close/>
                </a:path>
              </a:pathLst>
            </a:custGeom>
            <a:solidFill>
              <a:srgbClr val="000000"/>
            </a:solidFill>
          </p:spPr>
          <p:txBody>
            <a:bodyPr wrap="square" lIns="0" tIns="0" rIns="0" bIns="0" rtlCol="0"/>
            <a:lstStyle/>
            <a:p/>
          </p:txBody>
        </p:sp>
        <p:sp>
          <p:nvSpPr>
            <p:cNvPr id="91" name="object 91" descr=""/>
            <p:cNvSpPr/>
            <p:nvPr/>
          </p:nvSpPr>
          <p:spPr>
            <a:xfrm>
              <a:off x="6146484" y="3210721"/>
              <a:ext cx="43815" cy="57785"/>
            </a:xfrm>
            <a:custGeom>
              <a:avLst/>
              <a:gdLst/>
              <a:ahLst/>
              <a:cxnLst/>
              <a:rect l="l" t="t" r="r" b="b"/>
              <a:pathLst>
                <a:path w="43814" h="57785">
                  <a:moveTo>
                    <a:pt x="22090" y="0"/>
                  </a:moveTo>
                  <a:lnTo>
                    <a:pt x="13541" y="2284"/>
                  </a:lnTo>
                  <a:lnTo>
                    <a:pt x="6513" y="8499"/>
                  </a:lnTo>
                  <a:lnTo>
                    <a:pt x="1752" y="17690"/>
                  </a:lnTo>
                  <a:lnTo>
                    <a:pt x="0" y="28899"/>
                  </a:lnTo>
                  <a:lnTo>
                    <a:pt x="1752" y="40049"/>
                  </a:lnTo>
                  <a:lnTo>
                    <a:pt x="6513" y="49109"/>
                  </a:lnTo>
                  <a:lnTo>
                    <a:pt x="13541" y="55195"/>
                  </a:lnTo>
                  <a:lnTo>
                    <a:pt x="22090" y="57420"/>
                  </a:lnTo>
                  <a:lnTo>
                    <a:pt x="30442" y="55195"/>
                  </a:lnTo>
                  <a:lnTo>
                    <a:pt x="37218" y="49109"/>
                  </a:lnTo>
                  <a:lnTo>
                    <a:pt x="41765" y="40049"/>
                  </a:lnTo>
                  <a:lnTo>
                    <a:pt x="43425" y="28899"/>
                  </a:lnTo>
                  <a:lnTo>
                    <a:pt x="41765" y="17690"/>
                  </a:lnTo>
                  <a:lnTo>
                    <a:pt x="37218" y="8499"/>
                  </a:lnTo>
                  <a:lnTo>
                    <a:pt x="30442" y="2284"/>
                  </a:lnTo>
                  <a:lnTo>
                    <a:pt x="22090" y="0"/>
                  </a:lnTo>
                </a:path>
              </a:pathLst>
            </a:custGeom>
            <a:ln w="14055">
              <a:solidFill>
                <a:srgbClr val="000000"/>
              </a:solidFill>
            </a:ln>
          </p:spPr>
          <p:txBody>
            <a:bodyPr wrap="square" lIns="0" tIns="0" rIns="0" bIns="0" rtlCol="0"/>
            <a:lstStyle/>
            <a:p/>
          </p:txBody>
        </p:sp>
      </p:grpSp>
      <p:sp>
        <p:nvSpPr>
          <p:cNvPr id="92" name="object 92" descr=""/>
          <p:cNvSpPr txBox="1"/>
          <p:nvPr/>
        </p:nvSpPr>
        <p:spPr>
          <a:xfrm>
            <a:off x="7233493" y="1870474"/>
            <a:ext cx="233045" cy="229870"/>
          </a:xfrm>
          <a:prstGeom prst="rect">
            <a:avLst/>
          </a:prstGeom>
        </p:spPr>
        <p:txBody>
          <a:bodyPr wrap="square" lIns="0" tIns="17780" rIns="0" bIns="0" rtlCol="0" vert="horz">
            <a:spAutoFit/>
          </a:bodyPr>
          <a:lstStyle/>
          <a:p>
            <a:pPr marL="38100">
              <a:lnSpc>
                <a:spcPct val="100000"/>
              </a:lnSpc>
              <a:spcBef>
                <a:spcPts val="140"/>
              </a:spcBef>
            </a:pPr>
            <a:r>
              <a:rPr dirty="0" sz="1300" spc="-25">
                <a:latin typeface="Times New Roman"/>
                <a:cs typeface="Times New Roman"/>
              </a:rPr>
              <a:t>Q</a:t>
            </a:r>
            <a:r>
              <a:rPr dirty="0" baseline="-15432" sz="1350" spc="-37">
                <a:latin typeface="Times New Roman"/>
                <a:cs typeface="Times New Roman"/>
              </a:rPr>
              <a:t>i</a:t>
            </a:r>
            <a:endParaRPr baseline="-15432" sz="1350">
              <a:latin typeface="Times New Roman"/>
              <a:cs typeface="Times New Roman"/>
            </a:endParaRPr>
          </a:p>
        </p:txBody>
      </p:sp>
      <p:sp>
        <p:nvSpPr>
          <p:cNvPr id="93" name="object 93" descr=""/>
          <p:cNvSpPr txBox="1"/>
          <p:nvPr/>
        </p:nvSpPr>
        <p:spPr>
          <a:xfrm>
            <a:off x="3589547" y="5315612"/>
            <a:ext cx="1270635" cy="292735"/>
          </a:xfrm>
          <a:prstGeom prst="rect">
            <a:avLst/>
          </a:prstGeom>
          <a:solidFill>
            <a:srgbClr val="FF99CC"/>
          </a:solidFill>
          <a:ln w="14059">
            <a:solidFill>
              <a:srgbClr val="000000"/>
            </a:solidFill>
          </a:ln>
        </p:spPr>
        <p:txBody>
          <a:bodyPr wrap="square" lIns="0" tIns="36830" rIns="0" bIns="0" rtlCol="0" vert="horz">
            <a:spAutoFit/>
          </a:bodyPr>
          <a:lstStyle/>
          <a:p>
            <a:pPr marL="118745">
              <a:lnSpc>
                <a:spcPct val="100000"/>
              </a:lnSpc>
              <a:spcBef>
                <a:spcPts val="290"/>
              </a:spcBef>
            </a:pPr>
            <a:r>
              <a:rPr dirty="0" sz="1300" spc="-25" b="1">
                <a:latin typeface="宋体"/>
                <a:cs typeface="宋体"/>
              </a:rPr>
              <a:t>浮点加法器 </a:t>
            </a:r>
            <a:r>
              <a:rPr dirty="0" sz="1300" spc="-50" b="1">
                <a:latin typeface="Times New Roman"/>
                <a:cs typeface="Times New Roman"/>
              </a:rPr>
              <a:t>A</a:t>
            </a:r>
            <a:endParaRPr sz="1300">
              <a:latin typeface="Times New Roman"/>
              <a:cs typeface="Times New Roman"/>
            </a:endParaRPr>
          </a:p>
        </p:txBody>
      </p:sp>
      <p:sp>
        <p:nvSpPr>
          <p:cNvPr id="94" name="object 94" descr=""/>
          <p:cNvSpPr txBox="1"/>
          <p:nvPr/>
        </p:nvSpPr>
        <p:spPr>
          <a:xfrm>
            <a:off x="3629442" y="2848633"/>
            <a:ext cx="1230630" cy="275590"/>
          </a:xfrm>
          <a:prstGeom prst="rect">
            <a:avLst/>
          </a:prstGeom>
          <a:solidFill>
            <a:srgbClr val="FFCC99"/>
          </a:solidFill>
          <a:ln w="14057">
            <a:solidFill>
              <a:srgbClr val="000000"/>
            </a:solidFill>
          </a:ln>
        </p:spPr>
        <p:txBody>
          <a:bodyPr wrap="square" lIns="0" tIns="26670" rIns="0" bIns="0" rtlCol="0" vert="horz">
            <a:spAutoFit/>
          </a:bodyPr>
          <a:lstStyle/>
          <a:p>
            <a:pPr marL="65405">
              <a:lnSpc>
                <a:spcPct val="100000"/>
              </a:lnSpc>
              <a:spcBef>
                <a:spcPts val="210"/>
              </a:spcBef>
            </a:pPr>
            <a:r>
              <a:rPr dirty="0" sz="1300">
                <a:latin typeface="Times New Roman"/>
                <a:cs typeface="Times New Roman"/>
              </a:rPr>
              <a:t>MUL</a:t>
            </a:r>
            <a:r>
              <a:rPr dirty="0" sz="1300" spc="5">
                <a:latin typeface="Times New Roman"/>
                <a:cs typeface="Times New Roman"/>
              </a:rPr>
              <a:t> </a:t>
            </a:r>
            <a:r>
              <a:rPr dirty="0" sz="1300" spc="-10">
                <a:latin typeface="Times New Roman"/>
                <a:cs typeface="Times New Roman"/>
              </a:rPr>
              <a:t>F0,F2,F4</a:t>
            </a:r>
            <a:endParaRPr sz="1300">
              <a:latin typeface="Times New Roman"/>
              <a:cs typeface="Times New Roman"/>
            </a:endParaRPr>
          </a:p>
        </p:txBody>
      </p:sp>
      <p:sp>
        <p:nvSpPr>
          <p:cNvPr id="95" name="object 95" descr=""/>
          <p:cNvSpPr txBox="1"/>
          <p:nvPr/>
        </p:nvSpPr>
        <p:spPr>
          <a:xfrm>
            <a:off x="5732994" y="2579191"/>
            <a:ext cx="833755" cy="208915"/>
          </a:xfrm>
          <a:prstGeom prst="rect">
            <a:avLst/>
          </a:prstGeom>
          <a:solidFill>
            <a:srgbClr val="FFFF99"/>
          </a:solidFill>
          <a:ln w="14056">
            <a:solidFill>
              <a:srgbClr val="000000"/>
            </a:solidFill>
          </a:ln>
        </p:spPr>
        <p:txBody>
          <a:bodyPr wrap="square" lIns="0" tIns="0" rIns="0" bIns="0" rtlCol="0" vert="horz">
            <a:spAutoFit/>
          </a:bodyPr>
          <a:lstStyle/>
          <a:p>
            <a:pPr marL="136525">
              <a:lnSpc>
                <a:spcPts val="1435"/>
              </a:lnSpc>
            </a:pPr>
            <a:r>
              <a:rPr dirty="0" sz="1300" spc="-50">
                <a:latin typeface="Times New Roman"/>
                <a:cs typeface="Times New Roman"/>
              </a:rPr>
              <a:t>a</a:t>
            </a:r>
            <a:endParaRPr sz="1300">
              <a:latin typeface="Times New Roman"/>
              <a:cs typeface="Times New Roman"/>
            </a:endParaRPr>
          </a:p>
        </p:txBody>
      </p:sp>
      <p:sp>
        <p:nvSpPr>
          <p:cNvPr id="96" name="object 96" descr=""/>
          <p:cNvSpPr txBox="1"/>
          <p:nvPr/>
        </p:nvSpPr>
        <p:spPr>
          <a:xfrm>
            <a:off x="5732994" y="2339499"/>
            <a:ext cx="833755" cy="240029"/>
          </a:xfrm>
          <a:prstGeom prst="rect">
            <a:avLst/>
          </a:prstGeom>
          <a:solidFill>
            <a:srgbClr val="FFFF99"/>
          </a:solidFill>
          <a:ln w="14056">
            <a:solidFill>
              <a:srgbClr val="000000"/>
            </a:solidFill>
          </a:ln>
        </p:spPr>
        <p:txBody>
          <a:bodyPr wrap="square" lIns="0" tIns="0" rIns="0" bIns="0" rtlCol="0" vert="horz">
            <a:spAutoFit/>
          </a:bodyPr>
          <a:lstStyle/>
          <a:p>
            <a:pPr marL="136525">
              <a:lnSpc>
                <a:spcPts val="1540"/>
              </a:lnSpc>
            </a:pPr>
            <a:r>
              <a:rPr dirty="0" sz="1300" spc="-50">
                <a:latin typeface="Times New Roman"/>
                <a:cs typeface="Times New Roman"/>
              </a:rPr>
              <a:t>b</a:t>
            </a:r>
            <a:endParaRPr sz="1300">
              <a:latin typeface="Times New Roman"/>
              <a:cs typeface="Times New Roman"/>
            </a:endParaRPr>
          </a:p>
        </p:txBody>
      </p:sp>
      <p:sp>
        <p:nvSpPr>
          <p:cNvPr id="97" name="object 97" descr=""/>
          <p:cNvSpPr txBox="1"/>
          <p:nvPr/>
        </p:nvSpPr>
        <p:spPr>
          <a:xfrm>
            <a:off x="5732994" y="2129651"/>
            <a:ext cx="833755" cy="210185"/>
          </a:xfrm>
          <a:prstGeom prst="rect">
            <a:avLst/>
          </a:prstGeom>
          <a:solidFill>
            <a:srgbClr val="FFFF99"/>
          </a:solidFill>
          <a:ln w="14056">
            <a:solidFill>
              <a:srgbClr val="000000"/>
            </a:solidFill>
          </a:ln>
        </p:spPr>
        <p:txBody>
          <a:bodyPr wrap="square" lIns="0" tIns="0" rIns="0" bIns="0" rtlCol="0" vert="horz">
            <a:spAutoFit/>
          </a:bodyPr>
          <a:lstStyle/>
          <a:p>
            <a:pPr marL="136525">
              <a:lnSpc>
                <a:spcPts val="1515"/>
              </a:lnSpc>
            </a:pPr>
            <a:r>
              <a:rPr dirty="0" sz="1300" spc="-50">
                <a:latin typeface="Times New Roman"/>
                <a:cs typeface="Times New Roman"/>
              </a:rPr>
              <a:t>c</a:t>
            </a:r>
            <a:endParaRPr sz="1300">
              <a:latin typeface="Times New Roman"/>
              <a:cs typeface="Times New Roman"/>
            </a:endParaRPr>
          </a:p>
        </p:txBody>
      </p:sp>
      <p:sp>
        <p:nvSpPr>
          <p:cNvPr id="98" name="object 98" descr=""/>
          <p:cNvSpPr txBox="1"/>
          <p:nvPr/>
        </p:nvSpPr>
        <p:spPr>
          <a:xfrm>
            <a:off x="3636470" y="2322470"/>
            <a:ext cx="1216660" cy="229870"/>
          </a:xfrm>
          <a:prstGeom prst="rect">
            <a:avLst/>
          </a:prstGeom>
        </p:spPr>
        <p:txBody>
          <a:bodyPr wrap="square" lIns="0" tIns="17780" rIns="0" bIns="0" rtlCol="0" vert="horz">
            <a:spAutoFit/>
          </a:bodyPr>
          <a:lstStyle/>
          <a:p>
            <a:pPr algn="ctr" marR="43815">
              <a:lnSpc>
                <a:spcPct val="100000"/>
              </a:lnSpc>
              <a:spcBef>
                <a:spcPts val="140"/>
              </a:spcBef>
            </a:pPr>
            <a:r>
              <a:rPr dirty="0" sz="1300" spc="-50">
                <a:latin typeface="宋体"/>
                <a:cs typeface="宋体"/>
              </a:rPr>
              <a:t>…</a:t>
            </a:r>
            <a:endParaRPr sz="1300">
              <a:latin typeface="宋体"/>
              <a:cs typeface="宋体"/>
            </a:endParaRPr>
          </a:p>
        </p:txBody>
      </p:sp>
      <p:sp>
        <p:nvSpPr>
          <p:cNvPr id="99" name="object 99" descr=""/>
          <p:cNvSpPr txBox="1"/>
          <p:nvPr/>
        </p:nvSpPr>
        <p:spPr>
          <a:xfrm>
            <a:off x="4591050" y="6172911"/>
            <a:ext cx="1555750" cy="391795"/>
          </a:xfrm>
          <a:prstGeom prst="rect">
            <a:avLst/>
          </a:prstGeom>
        </p:spPr>
        <p:txBody>
          <a:bodyPr wrap="square" lIns="0" tIns="12700" rIns="0" bIns="0" rtlCol="0" vert="horz">
            <a:spAutoFit/>
          </a:bodyPr>
          <a:lstStyle/>
          <a:p>
            <a:pPr marL="12700">
              <a:lnSpc>
                <a:spcPct val="100000"/>
              </a:lnSpc>
              <a:spcBef>
                <a:spcPts val="100"/>
              </a:spcBef>
            </a:pPr>
            <a:r>
              <a:rPr dirty="0" sz="2400" spc="-229">
                <a:solidFill>
                  <a:srgbClr val="40458B"/>
                </a:solidFill>
                <a:latin typeface="黑体"/>
                <a:cs typeface="黑体"/>
              </a:rPr>
              <a:t>图 </a:t>
            </a:r>
            <a:r>
              <a:rPr dirty="0" sz="2400">
                <a:solidFill>
                  <a:srgbClr val="40458B"/>
                </a:solidFill>
                <a:latin typeface="Tahoma"/>
                <a:cs typeface="Tahoma"/>
              </a:rPr>
              <a:t>5.5</a:t>
            </a:r>
            <a:r>
              <a:rPr dirty="0" sz="2400" spc="5">
                <a:solidFill>
                  <a:srgbClr val="40458B"/>
                </a:solidFill>
                <a:latin typeface="Tahoma"/>
                <a:cs typeface="Tahoma"/>
              </a:rPr>
              <a:t> </a:t>
            </a:r>
            <a:r>
              <a:rPr dirty="0" sz="2400" spc="-30">
                <a:solidFill>
                  <a:srgbClr val="40458B"/>
                </a:solidFill>
                <a:latin typeface="黑体"/>
                <a:cs typeface="黑体"/>
              </a:rPr>
              <a:t>简化</a:t>
            </a:r>
            <a:endParaRPr sz="2400">
              <a:latin typeface="黑体"/>
              <a:cs typeface="黑体"/>
            </a:endParaRPr>
          </a:p>
        </p:txBody>
      </p:sp>
      <p:sp>
        <p:nvSpPr>
          <p:cNvPr id="100" name="object 100" descr=""/>
          <p:cNvSpPr txBox="1"/>
          <p:nvPr/>
        </p:nvSpPr>
        <p:spPr>
          <a:xfrm>
            <a:off x="7733156" y="1828926"/>
            <a:ext cx="1272540" cy="457834"/>
          </a:xfrm>
          <a:prstGeom prst="rect">
            <a:avLst/>
          </a:prstGeom>
        </p:spPr>
        <p:txBody>
          <a:bodyPr wrap="square" lIns="0" tIns="8255" rIns="0" bIns="0" rtlCol="0" vert="horz">
            <a:spAutoFit/>
          </a:bodyPr>
          <a:lstStyle/>
          <a:p>
            <a:pPr marL="12700" marR="5080">
              <a:lnSpc>
                <a:spcPct val="102099"/>
              </a:lnSpc>
              <a:spcBef>
                <a:spcPts val="65"/>
              </a:spcBef>
            </a:pPr>
            <a:r>
              <a:rPr dirty="0" sz="1400" spc="-15">
                <a:solidFill>
                  <a:srgbClr val="40458B"/>
                </a:solidFill>
                <a:latin typeface="黑体"/>
                <a:cs typeface="黑体"/>
              </a:rPr>
              <a:t>寄存器状态表</a:t>
            </a:r>
            <a:r>
              <a:rPr dirty="0" sz="1400" spc="-50">
                <a:solidFill>
                  <a:srgbClr val="40458B"/>
                </a:solidFill>
                <a:latin typeface="黑体"/>
                <a:cs typeface="黑体"/>
              </a:rPr>
              <a:t> </a:t>
            </a:r>
            <a:r>
              <a:rPr dirty="0" sz="1400" spc="-15">
                <a:solidFill>
                  <a:srgbClr val="40458B"/>
                </a:solidFill>
                <a:latin typeface="黑体"/>
                <a:cs typeface="黑体"/>
              </a:rPr>
              <a:t>用以指出哪个保</a:t>
            </a:r>
            <a:endParaRPr sz="1400">
              <a:latin typeface="黑体"/>
              <a:cs typeface="黑体"/>
            </a:endParaRPr>
          </a:p>
        </p:txBody>
      </p:sp>
      <p:sp>
        <p:nvSpPr>
          <p:cNvPr id="101" name="object 101" descr=""/>
          <p:cNvSpPr txBox="1"/>
          <p:nvPr/>
        </p:nvSpPr>
        <p:spPr>
          <a:xfrm>
            <a:off x="7733156" y="2259914"/>
            <a:ext cx="1272540" cy="448945"/>
          </a:xfrm>
          <a:prstGeom prst="rect">
            <a:avLst/>
          </a:prstGeom>
        </p:spPr>
        <p:txBody>
          <a:bodyPr wrap="square" lIns="0" tIns="13335" rIns="0" bIns="0" rtlCol="0" vert="horz">
            <a:spAutoFit/>
          </a:bodyPr>
          <a:lstStyle/>
          <a:p>
            <a:pPr marL="12700">
              <a:lnSpc>
                <a:spcPts val="1664"/>
              </a:lnSpc>
              <a:spcBef>
                <a:spcPts val="105"/>
              </a:spcBef>
            </a:pPr>
            <a:r>
              <a:rPr dirty="0" sz="1400" spc="-20">
                <a:solidFill>
                  <a:srgbClr val="40458B"/>
                </a:solidFill>
                <a:latin typeface="黑体"/>
                <a:cs typeface="黑体"/>
              </a:rPr>
              <a:t>留站将产生该应</a:t>
            </a:r>
            <a:endParaRPr sz="1400">
              <a:latin typeface="黑体"/>
              <a:cs typeface="黑体"/>
            </a:endParaRPr>
          </a:p>
          <a:p>
            <a:pPr marL="12700">
              <a:lnSpc>
                <a:spcPts val="1664"/>
              </a:lnSpc>
            </a:pPr>
            <a:r>
              <a:rPr dirty="0" sz="1400" spc="-15">
                <a:solidFill>
                  <a:srgbClr val="40458B"/>
                </a:solidFill>
                <a:latin typeface="黑体"/>
                <a:cs typeface="黑体"/>
              </a:rPr>
              <a:t>寄存器的值</a:t>
            </a:r>
            <a:endParaRPr sz="1400">
              <a:latin typeface="黑体"/>
              <a:cs typeface="黑体"/>
            </a:endParaRPr>
          </a:p>
        </p:txBody>
      </p:sp>
      <p:grpSp>
        <p:nvGrpSpPr>
          <p:cNvPr id="102" name="object 102" descr=""/>
          <p:cNvGrpSpPr/>
          <p:nvPr/>
        </p:nvGrpSpPr>
        <p:grpSpPr>
          <a:xfrm>
            <a:off x="2887281" y="2238375"/>
            <a:ext cx="4145915" cy="723900"/>
            <a:chOff x="2887281" y="2238375"/>
            <a:chExt cx="4145915" cy="723900"/>
          </a:xfrm>
        </p:grpSpPr>
        <p:pic>
          <p:nvPicPr>
            <p:cNvPr id="103" name="object 103" descr=""/>
            <p:cNvPicPr/>
            <p:nvPr/>
          </p:nvPicPr>
          <p:blipFill>
            <a:blip r:embed="rId3" cstate="print"/>
            <a:stretch>
              <a:fillRect/>
            </a:stretch>
          </p:blipFill>
          <p:spPr>
            <a:xfrm>
              <a:off x="6816725" y="2238375"/>
              <a:ext cx="215900" cy="76200"/>
            </a:xfrm>
            <a:prstGeom prst="rect">
              <a:avLst/>
            </a:prstGeom>
          </p:spPr>
        </p:pic>
        <p:pic>
          <p:nvPicPr>
            <p:cNvPr id="104" name="object 104" descr=""/>
            <p:cNvPicPr/>
            <p:nvPr/>
          </p:nvPicPr>
          <p:blipFill>
            <a:blip r:embed="rId3" cstate="print"/>
            <a:stretch>
              <a:fillRect/>
            </a:stretch>
          </p:blipFill>
          <p:spPr>
            <a:xfrm>
              <a:off x="6816725" y="2454275"/>
              <a:ext cx="215900" cy="76200"/>
            </a:xfrm>
            <a:prstGeom prst="rect">
              <a:avLst/>
            </a:prstGeom>
          </p:spPr>
        </p:pic>
        <p:pic>
          <p:nvPicPr>
            <p:cNvPr id="105" name="object 105" descr=""/>
            <p:cNvPicPr/>
            <p:nvPr/>
          </p:nvPicPr>
          <p:blipFill>
            <a:blip r:embed="rId3" cstate="print"/>
            <a:stretch>
              <a:fillRect/>
            </a:stretch>
          </p:blipFill>
          <p:spPr>
            <a:xfrm>
              <a:off x="6816725" y="2663825"/>
              <a:ext cx="215900" cy="76200"/>
            </a:xfrm>
            <a:prstGeom prst="rect">
              <a:avLst/>
            </a:prstGeom>
          </p:spPr>
        </p:pic>
        <p:pic>
          <p:nvPicPr>
            <p:cNvPr id="106" name="object 106" descr=""/>
            <p:cNvPicPr/>
            <p:nvPr/>
          </p:nvPicPr>
          <p:blipFill>
            <a:blip r:embed="rId3" cstate="print"/>
            <a:stretch>
              <a:fillRect/>
            </a:stretch>
          </p:blipFill>
          <p:spPr>
            <a:xfrm>
              <a:off x="6816725" y="2886075"/>
              <a:ext cx="215900" cy="76200"/>
            </a:xfrm>
            <a:prstGeom prst="rect">
              <a:avLst/>
            </a:prstGeom>
          </p:spPr>
        </p:pic>
        <p:sp>
          <p:nvSpPr>
            <p:cNvPr id="107" name="object 107" descr=""/>
            <p:cNvSpPr/>
            <p:nvPr/>
          </p:nvSpPr>
          <p:spPr>
            <a:xfrm>
              <a:off x="2892044" y="2507615"/>
              <a:ext cx="859790" cy="174625"/>
            </a:xfrm>
            <a:custGeom>
              <a:avLst/>
              <a:gdLst/>
              <a:ahLst/>
              <a:cxnLst/>
              <a:rect l="l" t="t" r="r" b="b"/>
              <a:pathLst>
                <a:path w="859789" h="174625">
                  <a:moveTo>
                    <a:pt x="0" y="0"/>
                  </a:moveTo>
                  <a:lnTo>
                    <a:pt x="859535" y="174244"/>
                  </a:lnTo>
                </a:path>
              </a:pathLst>
            </a:custGeom>
            <a:ln w="9525">
              <a:solidFill>
                <a:srgbClr val="40458B"/>
              </a:solidFill>
            </a:ln>
          </p:spPr>
          <p:txBody>
            <a:bodyPr wrap="square" lIns="0" tIns="0" rIns="0" bIns="0" rtlCol="0"/>
            <a:lstStyle/>
            <a:p/>
          </p:txBody>
        </p:sp>
      </p:grpSp>
      <p:sp>
        <p:nvSpPr>
          <p:cNvPr id="108" name="object 108" descr=""/>
          <p:cNvSpPr txBox="1"/>
          <p:nvPr/>
        </p:nvSpPr>
        <p:spPr>
          <a:xfrm>
            <a:off x="1443100" y="1558925"/>
            <a:ext cx="1729105" cy="933450"/>
          </a:xfrm>
          <a:prstGeom prst="rect">
            <a:avLst/>
          </a:prstGeom>
          <a:solidFill>
            <a:srgbClr val="FFFF99"/>
          </a:solidFill>
          <a:ln w="9525">
            <a:solidFill>
              <a:srgbClr val="40458B"/>
            </a:solidFill>
          </a:ln>
        </p:spPr>
        <p:txBody>
          <a:bodyPr wrap="square" lIns="0" tIns="46355" rIns="0" bIns="0" rtlCol="0" vert="horz">
            <a:spAutoFit/>
          </a:bodyPr>
          <a:lstStyle/>
          <a:p>
            <a:pPr algn="just" marL="91440" marR="29209">
              <a:lnSpc>
                <a:spcPct val="100000"/>
              </a:lnSpc>
              <a:spcBef>
                <a:spcPts val="365"/>
              </a:spcBef>
            </a:pPr>
            <a:r>
              <a:rPr dirty="0" sz="1400" spc="-20">
                <a:solidFill>
                  <a:srgbClr val="40458B"/>
                </a:solidFill>
                <a:latin typeface="黑体"/>
                <a:cs typeface="黑体"/>
              </a:rPr>
              <a:t>乱序情况下偶遇的两条指令，产生了冲突也可能相邻指令之间</a:t>
            </a:r>
            <a:r>
              <a:rPr dirty="0" sz="1400" spc="-25">
                <a:solidFill>
                  <a:srgbClr val="40458B"/>
                </a:solidFill>
                <a:latin typeface="黑体"/>
                <a:cs typeface="黑体"/>
              </a:rPr>
              <a:t>的冲突</a:t>
            </a:r>
            <a:endParaRPr sz="1400">
              <a:latin typeface="黑体"/>
              <a:cs typeface="黑体"/>
            </a:endParaRPr>
          </a:p>
        </p:txBody>
      </p:sp>
      <p:sp>
        <p:nvSpPr>
          <p:cNvPr id="109" name="object 109" descr=""/>
          <p:cNvSpPr txBox="1"/>
          <p:nvPr/>
        </p:nvSpPr>
        <p:spPr>
          <a:xfrm>
            <a:off x="528015" y="2915158"/>
            <a:ext cx="1767839" cy="57404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40458B"/>
                </a:solidFill>
                <a:latin typeface="Tahoma"/>
                <a:cs typeface="Tahoma"/>
              </a:rPr>
              <a:t>1</a:t>
            </a:r>
            <a:r>
              <a:rPr dirty="0" sz="1800">
                <a:solidFill>
                  <a:srgbClr val="40458B"/>
                </a:solidFill>
                <a:latin typeface="黑体"/>
                <a:cs typeface="黑体"/>
              </a:rPr>
              <a:t>、</a:t>
            </a:r>
            <a:r>
              <a:rPr dirty="0" sz="1800">
                <a:solidFill>
                  <a:srgbClr val="40458B"/>
                </a:solidFill>
                <a:latin typeface="Tahoma"/>
                <a:cs typeface="Tahoma"/>
              </a:rPr>
              <a:t>MUL</a:t>
            </a:r>
            <a:r>
              <a:rPr dirty="0" sz="1800" spc="5">
                <a:solidFill>
                  <a:srgbClr val="40458B"/>
                </a:solidFill>
                <a:latin typeface="Tahoma"/>
                <a:cs typeface="Tahoma"/>
              </a:rPr>
              <a:t> </a:t>
            </a:r>
            <a:r>
              <a:rPr dirty="0" sz="1800" spc="-10">
                <a:solidFill>
                  <a:srgbClr val="FF0000"/>
                </a:solidFill>
                <a:latin typeface="Tahoma"/>
                <a:cs typeface="Tahoma"/>
              </a:rPr>
              <a:t>F0</a:t>
            </a:r>
            <a:r>
              <a:rPr dirty="0" sz="1800" spc="-10">
                <a:solidFill>
                  <a:srgbClr val="40458B"/>
                </a:solidFill>
                <a:latin typeface="Tahoma"/>
                <a:cs typeface="Tahoma"/>
              </a:rPr>
              <a:t>,F2,F4</a:t>
            </a:r>
            <a:endParaRPr sz="1800">
              <a:latin typeface="Tahoma"/>
              <a:cs typeface="Tahoma"/>
            </a:endParaRPr>
          </a:p>
          <a:p>
            <a:pPr marL="12700">
              <a:lnSpc>
                <a:spcPct val="100000"/>
              </a:lnSpc>
            </a:pPr>
            <a:r>
              <a:rPr dirty="0" sz="1800" spc="-10">
                <a:solidFill>
                  <a:srgbClr val="40458B"/>
                </a:solidFill>
                <a:latin typeface="Tahoma"/>
                <a:cs typeface="Tahoma"/>
              </a:rPr>
              <a:t>2</a:t>
            </a:r>
            <a:r>
              <a:rPr dirty="0" sz="1800">
                <a:solidFill>
                  <a:srgbClr val="40458B"/>
                </a:solidFill>
                <a:latin typeface="黑体"/>
                <a:cs typeface="黑体"/>
              </a:rPr>
              <a:t>、</a:t>
            </a:r>
            <a:r>
              <a:rPr dirty="0" sz="1800">
                <a:solidFill>
                  <a:srgbClr val="40458B"/>
                </a:solidFill>
                <a:latin typeface="Tahoma"/>
                <a:cs typeface="Tahoma"/>
              </a:rPr>
              <a:t>ADD</a:t>
            </a:r>
            <a:r>
              <a:rPr dirty="0" sz="1800" spc="-45">
                <a:solidFill>
                  <a:srgbClr val="40458B"/>
                </a:solidFill>
                <a:latin typeface="Tahoma"/>
                <a:cs typeface="Tahoma"/>
              </a:rPr>
              <a:t> </a:t>
            </a:r>
            <a:r>
              <a:rPr dirty="0" sz="1800" spc="-10">
                <a:solidFill>
                  <a:srgbClr val="40458B"/>
                </a:solidFill>
                <a:latin typeface="Tahoma"/>
                <a:cs typeface="Tahoma"/>
              </a:rPr>
              <a:t>F2,</a:t>
            </a:r>
            <a:r>
              <a:rPr dirty="0" sz="1800" spc="-10">
                <a:solidFill>
                  <a:srgbClr val="FF0000"/>
                </a:solidFill>
                <a:latin typeface="Tahoma"/>
                <a:cs typeface="Tahoma"/>
              </a:rPr>
              <a:t>F0</a:t>
            </a:r>
            <a:r>
              <a:rPr dirty="0" sz="1800" spc="-10">
                <a:solidFill>
                  <a:srgbClr val="40458B"/>
                </a:solidFill>
                <a:latin typeface="Tahoma"/>
                <a:cs typeface="Tahoma"/>
              </a:rPr>
              <a:t>,F6</a:t>
            </a:r>
            <a:endParaRPr sz="1800">
              <a:latin typeface="Tahoma"/>
              <a:cs typeface="Tahom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72/175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p:nvPr/>
        </p:nvSpPr>
        <p:spPr>
          <a:xfrm>
            <a:off x="4054005" y="5524042"/>
            <a:ext cx="3314065" cy="483870"/>
          </a:xfrm>
          <a:custGeom>
            <a:avLst/>
            <a:gdLst/>
            <a:ahLst/>
            <a:cxnLst/>
            <a:rect l="l" t="t" r="r" b="b"/>
            <a:pathLst>
              <a:path w="3314065" h="483870">
                <a:moveTo>
                  <a:pt x="78016" y="366649"/>
                </a:moveTo>
                <a:lnTo>
                  <a:pt x="48755" y="395909"/>
                </a:lnTo>
                <a:lnTo>
                  <a:pt x="48755" y="0"/>
                </a:lnTo>
                <a:lnTo>
                  <a:pt x="29260" y="0"/>
                </a:lnTo>
                <a:lnTo>
                  <a:pt x="29260" y="395909"/>
                </a:lnTo>
                <a:lnTo>
                  <a:pt x="0" y="366649"/>
                </a:lnTo>
                <a:lnTo>
                  <a:pt x="39014" y="483666"/>
                </a:lnTo>
                <a:lnTo>
                  <a:pt x="65011" y="405663"/>
                </a:lnTo>
                <a:lnTo>
                  <a:pt x="78016" y="366649"/>
                </a:lnTo>
                <a:close/>
              </a:path>
              <a:path w="3314065" h="483870">
                <a:moveTo>
                  <a:pt x="3313925" y="350075"/>
                </a:moveTo>
                <a:lnTo>
                  <a:pt x="3284664" y="379323"/>
                </a:lnTo>
                <a:lnTo>
                  <a:pt x="3284664" y="120916"/>
                </a:lnTo>
                <a:lnTo>
                  <a:pt x="3265157" y="120916"/>
                </a:lnTo>
                <a:lnTo>
                  <a:pt x="3265157" y="379323"/>
                </a:lnTo>
                <a:lnTo>
                  <a:pt x="3235896" y="350075"/>
                </a:lnTo>
                <a:lnTo>
                  <a:pt x="3274911" y="467093"/>
                </a:lnTo>
                <a:lnTo>
                  <a:pt x="3300920" y="389077"/>
                </a:lnTo>
                <a:lnTo>
                  <a:pt x="3313925" y="350075"/>
                </a:lnTo>
                <a:close/>
              </a:path>
            </a:pathLst>
          </a:custGeom>
          <a:solidFill>
            <a:srgbClr val="000000"/>
          </a:solidFill>
        </p:spPr>
        <p:txBody>
          <a:bodyPr wrap="square" lIns="0" tIns="0" rIns="0" bIns="0" rtlCol="0"/>
          <a:lstStyle/>
          <a:p/>
        </p:txBody>
      </p:sp>
      <p:grpSp>
        <p:nvGrpSpPr>
          <p:cNvPr id="11" name="object 11" descr=""/>
          <p:cNvGrpSpPr/>
          <p:nvPr/>
        </p:nvGrpSpPr>
        <p:grpSpPr>
          <a:xfrm>
            <a:off x="2856576" y="1707504"/>
            <a:ext cx="6569075" cy="3642995"/>
            <a:chOff x="2856576" y="1707504"/>
            <a:chExt cx="6569075" cy="3642995"/>
          </a:xfrm>
        </p:grpSpPr>
        <p:sp>
          <p:nvSpPr>
            <p:cNvPr id="12" name="object 12" descr=""/>
            <p:cNvSpPr/>
            <p:nvPr/>
          </p:nvSpPr>
          <p:spPr>
            <a:xfrm>
              <a:off x="4094970" y="3105674"/>
              <a:ext cx="78105" cy="528955"/>
            </a:xfrm>
            <a:custGeom>
              <a:avLst/>
              <a:gdLst/>
              <a:ahLst/>
              <a:cxnLst/>
              <a:rect l="l" t="t" r="r" b="b"/>
              <a:pathLst>
                <a:path w="78104" h="528954">
                  <a:moveTo>
                    <a:pt x="0" y="411509"/>
                  </a:moveTo>
                  <a:lnTo>
                    <a:pt x="39010" y="528526"/>
                  </a:lnTo>
                  <a:lnTo>
                    <a:pt x="65017" y="450514"/>
                  </a:lnTo>
                  <a:lnTo>
                    <a:pt x="29257" y="450514"/>
                  </a:lnTo>
                  <a:lnTo>
                    <a:pt x="29257" y="440763"/>
                  </a:lnTo>
                  <a:lnTo>
                    <a:pt x="0" y="411509"/>
                  </a:lnTo>
                  <a:close/>
                </a:path>
                <a:path w="78104" h="528954">
                  <a:moveTo>
                    <a:pt x="29257" y="440763"/>
                  </a:moveTo>
                  <a:lnTo>
                    <a:pt x="29257" y="450514"/>
                  </a:lnTo>
                  <a:lnTo>
                    <a:pt x="39010" y="450514"/>
                  </a:lnTo>
                  <a:lnTo>
                    <a:pt x="29257" y="440763"/>
                  </a:lnTo>
                  <a:close/>
                </a:path>
                <a:path w="78104" h="528954">
                  <a:moveTo>
                    <a:pt x="48762" y="0"/>
                  </a:moveTo>
                  <a:lnTo>
                    <a:pt x="29257" y="0"/>
                  </a:lnTo>
                  <a:lnTo>
                    <a:pt x="29257" y="440763"/>
                  </a:lnTo>
                  <a:lnTo>
                    <a:pt x="39010" y="450514"/>
                  </a:lnTo>
                  <a:lnTo>
                    <a:pt x="48762" y="440763"/>
                  </a:lnTo>
                  <a:lnTo>
                    <a:pt x="48762" y="0"/>
                  </a:lnTo>
                  <a:close/>
                </a:path>
                <a:path w="78104" h="528954">
                  <a:moveTo>
                    <a:pt x="48762" y="440763"/>
                  </a:moveTo>
                  <a:lnTo>
                    <a:pt x="39010" y="450514"/>
                  </a:lnTo>
                  <a:lnTo>
                    <a:pt x="48762" y="450514"/>
                  </a:lnTo>
                  <a:lnTo>
                    <a:pt x="48762" y="440763"/>
                  </a:lnTo>
                  <a:close/>
                </a:path>
                <a:path w="78104" h="528954">
                  <a:moveTo>
                    <a:pt x="78020" y="411509"/>
                  </a:moveTo>
                  <a:lnTo>
                    <a:pt x="48762" y="440763"/>
                  </a:lnTo>
                  <a:lnTo>
                    <a:pt x="48762" y="450514"/>
                  </a:lnTo>
                  <a:lnTo>
                    <a:pt x="65017" y="450514"/>
                  </a:lnTo>
                  <a:lnTo>
                    <a:pt x="78020" y="411509"/>
                  </a:lnTo>
                  <a:close/>
                </a:path>
              </a:pathLst>
            </a:custGeom>
            <a:solidFill>
              <a:srgbClr val="000000"/>
            </a:solidFill>
          </p:spPr>
          <p:txBody>
            <a:bodyPr wrap="square" lIns="0" tIns="0" rIns="0" bIns="0" rtlCol="0"/>
            <a:lstStyle/>
            <a:p/>
          </p:txBody>
        </p:sp>
        <p:sp>
          <p:nvSpPr>
            <p:cNvPr id="13" name="object 13" descr=""/>
            <p:cNvSpPr/>
            <p:nvPr/>
          </p:nvSpPr>
          <p:spPr>
            <a:xfrm>
              <a:off x="5690490" y="2077876"/>
              <a:ext cx="860425" cy="907415"/>
            </a:xfrm>
            <a:custGeom>
              <a:avLst/>
              <a:gdLst/>
              <a:ahLst/>
              <a:cxnLst/>
              <a:rect l="l" t="t" r="r" b="b"/>
              <a:pathLst>
                <a:path w="860425" h="907414">
                  <a:moveTo>
                    <a:pt x="860176" y="0"/>
                  </a:moveTo>
                  <a:lnTo>
                    <a:pt x="0" y="0"/>
                  </a:lnTo>
                  <a:lnTo>
                    <a:pt x="0" y="906880"/>
                  </a:lnTo>
                  <a:lnTo>
                    <a:pt x="860176" y="906880"/>
                  </a:lnTo>
                  <a:lnTo>
                    <a:pt x="860176" y="0"/>
                  </a:lnTo>
                  <a:close/>
                </a:path>
              </a:pathLst>
            </a:custGeom>
            <a:solidFill>
              <a:srgbClr val="FFFF99"/>
            </a:solidFill>
          </p:spPr>
          <p:txBody>
            <a:bodyPr wrap="square" lIns="0" tIns="0" rIns="0" bIns="0" rtlCol="0"/>
            <a:lstStyle/>
            <a:p/>
          </p:txBody>
        </p:sp>
        <p:sp>
          <p:nvSpPr>
            <p:cNvPr id="14" name="object 14" descr=""/>
            <p:cNvSpPr/>
            <p:nvPr/>
          </p:nvSpPr>
          <p:spPr>
            <a:xfrm>
              <a:off x="5690490" y="2077876"/>
              <a:ext cx="860425" cy="907415"/>
            </a:xfrm>
            <a:custGeom>
              <a:avLst/>
              <a:gdLst/>
              <a:ahLst/>
              <a:cxnLst/>
              <a:rect l="l" t="t" r="r" b="b"/>
              <a:pathLst>
                <a:path w="860425" h="907414">
                  <a:moveTo>
                    <a:pt x="0" y="906880"/>
                  </a:moveTo>
                  <a:lnTo>
                    <a:pt x="860176" y="906880"/>
                  </a:lnTo>
                  <a:lnTo>
                    <a:pt x="860176" y="0"/>
                  </a:lnTo>
                  <a:lnTo>
                    <a:pt x="0" y="0"/>
                  </a:lnTo>
                  <a:lnTo>
                    <a:pt x="0" y="906880"/>
                  </a:lnTo>
                  <a:close/>
                </a:path>
              </a:pathLst>
            </a:custGeom>
            <a:ln w="14628">
              <a:solidFill>
                <a:srgbClr val="000000"/>
              </a:solidFill>
            </a:ln>
          </p:spPr>
          <p:txBody>
            <a:bodyPr wrap="square" lIns="0" tIns="0" rIns="0" bIns="0" rtlCol="0"/>
            <a:lstStyle/>
            <a:p/>
          </p:txBody>
        </p:sp>
        <p:sp>
          <p:nvSpPr>
            <p:cNvPr id="15" name="object 15" descr=""/>
            <p:cNvSpPr/>
            <p:nvPr/>
          </p:nvSpPr>
          <p:spPr>
            <a:xfrm>
              <a:off x="6100098" y="1715124"/>
              <a:ext cx="3317875" cy="0"/>
            </a:xfrm>
            <a:custGeom>
              <a:avLst/>
              <a:gdLst/>
              <a:ahLst/>
              <a:cxnLst/>
              <a:rect l="l" t="t" r="r" b="b"/>
              <a:pathLst>
                <a:path w="3317875" h="0">
                  <a:moveTo>
                    <a:pt x="0" y="0"/>
                  </a:moveTo>
                  <a:lnTo>
                    <a:pt x="3317823" y="0"/>
                  </a:lnTo>
                </a:path>
              </a:pathLst>
            </a:custGeom>
            <a:ln w="14627">
              <a:solidFill>
                <a:srgbClr val="000000"/>
              </a:solidFill>
            </a:ln>
          </p:spPr>
          <p:txBody>
            <a:bodyPr wrap="square" lIns="0" tIns="0" rIns="0" bIns="0" rtlCol="0"/>
            <a:lstStyle/>
            <a:p/>
          </p:txBody>
        </p:sp>
        <p:sp>
          <p:nvSpPr>
            <p:cNvPr id="16" name="object 16" descr=""/>
            <p:cNvSpPr/>
            <p:nvPr/>
          </p:nvSpPr>
          <p:spPr>
            <a:xfrm>
              <a:off x="3726319" y="1715134"/>
              <a:ext cx="4010660" cy="3635375"/>
            </a:xfrm>
            <a:custGeom>
              <a:avLst/>
              <a:gdLst/>
              <a:ahLst/>
              <a:cxnLst/>
              <a:rect l="l" t="t" r="r" b="b"/>
              <a:pathLst>
                <a:path w="4010659" h="3635375">
                  <a:moveTo>
                    <a:pt x="78016" y="3518319"/>
                  </a:moveTo>
                  <a:lnTo>
                    <a:pt x="48755" y="3547580"/>
                  </a:lnTo>
                  <a:lnTo>
                    <a:pt x="48755" y="3212122"/>
                  </a:lnTo>
                  <a:lnTo>
                    <a:pt x="29260" y="3212122"/>
                  </a:lnTo>
                  <a:lnTo>
                    <a:pt x="29260" y="3547580"/>
                  </a:lnTo>
                  <a:lnTo>
                    <a:pt x="0" y="3518319"/>
                  </a:lnTo>
                  <a:lnTo>
                    <a:pt x="39014" y="3635337"/>
                  </a:lnTo>
                  <a:lnTo>
                    <a:pt x="65011" y="3557320"/>
                  </a:lnTo>
                  <a:lnTo>
                    <a:pt x="78016" y="3518319"/>
                  </a:lnTo>
                  <a:close/>
                </a:path>
                <a:path w="4010659" h="3635375">
                  <a:moveTo>
                    <a:pt x="78994" y="2301722"/>
                  </a:moveTo>
                  <a:lnTo>
                    <a:pt x="49504" y="2330678"/>
                  </a:lnTo>
                  <a:lnTo>
                    <a:pt x="54610" y="1724037"/>
                  </a:lnTo>
                  <a:lnTo>
                    <a:pt x="35102" y="1724037"/>
                  </a:lnTo>
                  <a:lnTo>
                    <a:pt x="30251" y="2300935"/>
                  </a:lnTo>
                  <a:lnTo>
                    <a:pt x="30111" y="2330678"/>
                  </a:lnTo>
                  <a:lnTo>
                    <a:pt x="29921" y="2340533"/>
                  </a:lnTo>
                  <a:lnTo>
                    <a:pt x="29997" y="2330678"/>
                  </a:lnTo>
                  <a:lnTo>
                    <a:pt x="990" y="2300935"/>
                  </a:lnTo>
                  <a:lnTo>
                    <a:pt x="39014" y="2418359"/>
                  </a:lnTo>
                  <a:lnTo>
                    <a:pt x="65684" y="2340533"/>
                  </a:lnTo>
                  <a:lnTo>
                    <a:pt x="78994" y="2301722"/>
                  </a:lnTo>
                  <a:close/>
                </a:path>
                <a:path w="4010659" h="3635375">
                  <a:moveTo>
                    <a:pt x="815314" y="3518319"/>
                  </a:moveTo>
                  <a:lnTo>
                    <a:pt x="786053" y="3547580"/>
                  </a:lnTo>
                  <a:lnTo>
                    <a:pt x="786053" y="3212122"/>
                  </a:lnTo>
                  <a:lnTo>
                    <a:pt x="766546" y="3212122"/>
                  </a:lnTo>
                  <a:lnTo>
                    <a:pt x="766546" y="3547580"/>
                  </a:lnTo>
                  <a:lnTo>
                    <a:pt x="737285" y="3518319"/>
                  </a:lnTo>
                  <a:lnTo>
                    <a:pt x="776300" y="3635337"/>
                  </a:lnTo>
                  <a:lnTo>
                    <a:pt x="802309" y="3557320"/>
                  </a:lnTo>
                  <a:lnTo>
                    <a:pt x="815314" y="3518319"/>
                  </a:lnTo>
                  <a:close/>
                </a:path>
                <a:path w="4010659" h="3635375">
                  <a:moveTo>
                    <a:pt x="2412784" y="245732"/>
                  </a:moveTo>
                  <a:lnTo>
                    <a:pt x="2383523" y="274980"/>
                  </a:lnTo>
                  <a:lnTo>
                    <a:pt x="2383523" y="0"/>
                  </a:lnTo>
                  <a:lnTo>
                    <a:pt x="2364016" y="0"/>
                  </a:lnTo>
                  <a:lnTo>
                    <a:pt x="2364016" y="274980"/>
                  </a:lnTo>
                  <a:lnTo>
                    <a:pt x="2334768" y="245732"/>
                  </a:lnTo>
                  <a:lnTo>
                    <a:pt x="2373769" y="362750"/>
                  </a:lnTo>
                  <a:lnTo>
                    <a:pt x="2399779" y="284734"/>
                  </a:lnTo>
                  <a:lnTo>
                    <a:pt x="2412784" y="245732"/>
                  </a:lnTo>
                  <a:close/>
                </a:path>
                <a:path w="4010659" h="3635375">
                  <a:moveTo>
                    <a:pt x="2575458" y="2421890"/>
                  </a:moveTo>
                  <a:lnTo>
                    <a:pt x="2546502" y="2451417"/>
                  </a:lnTo>
                  <a:lnTo>
                    <a:pt x="2541524" y="1906587"/>
                  </a:lnTo>
                  <a:lnTo>
                    <a:pt x="2541511" y="1906397"/>
                  </a:lnTo>
                  <a:lnTo>
                    <a:pt x="2522016" y="1906587"/>
                  </a:lnTo>
                  <a:lnTo>
                    <a:pt x="2526995" y="2451417"/>
                  </a:lnTo>
                  <a:lnTo>
                    <a:pt x="2526995" y="2451608"/>
                  </a:lnTo>
                  <a:lnTo>
                    <a:pt x="2497429" y="2422614"/>
                  </a:lnTo>
                  <a:lnTo>
                    <a:pt x="2537612" y="2539276"/>
                  </a:lnTo>
                  <a:lnTo>
                    <a:pt x="2562733" y="2461349"/>
                  </a:lnTo>
                  <a:lnTo>
                    <a:pt x="2575458" y="2421890"/>
                  </a:lnTo>
                  <a:close/>
                </a:path>
                <a:path w="4010659" h="3635375">
                  <a:moveTo>
                    <a:pt x="3190837" y="2422169"/>
                  </a:moveTo>
                  <a:lnTo>
                    <a:pt x="3161563" y="2451519"/>
                  </a:lnTo>
                  <a:lnTo>
                    <a:pt x="3159823" y="1742567"/>
                  </a:lnTo>
                  <a:lnTo>
                    <a:pt x="3140329" y="1742567"/>
                  </a:lnTo>
                  <a:lnTo>
                    <a:pt x="3141980" y="2422169"/>
                  </a:lnTo>
                  <a:lnTo>
                    <a:pt x="3142056" y="2451519"/>
                  </a:lnTo>
                  <a:lnTo>
                    <a:pt x="3112820" y="2422360"/>
                  </a:lnTo>
                  <a:lnTo>
                    <a:pt x="3152025" y="2539276"/>
                  </a:lnTo>
                  <a:lnTo>
                    <a:pt x="3177870" y="2461285"/>
                  </a:lnTo>
                  <a:lnTo>
                    <a:pt x="3190773" y="2422360"/>
                  </a:lnTo>
                  <a:lnTo>
                    <a:pt x="3190837" y="2422169"/>
                  </a:lnTo>
                  <a:close/>
                </a:path>
                <a:path w="4010659" h="3635375">
                  <a:moveTo>
                    <a:pt x="4010253" y="3518319"/>
                  </a:moveTo>
                  <a:lnTo>
                    <a:pt x="3980992" y="3547580"/>
                  </a:lnTo>
                  <a:lnTo>
                    <a:pt x="3980992" y="3091205"/>
                  </a:lnTo>
                  <a:lnTo>
                    <a:pt x="3961485" y="3091205"/>
                  </a:lnTo>
                  <a:lnTo>
                    <a:pt x="3961485" y="3547580"/>
                  </a:lnTo>
                  <a:lnTo>
                    <a:pt x="3932237" y="3518319"/>
                  </a:lnTo>
                  <a:lnTo>
                    <a:pt x="3971239" y="3635337"/>
                  </a:lnTo>
                  <a:lnTo>
                    <a:pt x="3997248" y="3557320"/>
                  </a:lnTo>
                  <a:lnTo>
                    <a:pt x="4010253" y="3518319"/>
                  </a:lnTo>
                  <a:close/>
                </a:path>
              </a:pathLst>
            </a:custGeom>
            <a:solidFill>
              <a:srgbClr val="000000"/>
            </a:solidFill>
          </p:spPr>
          <p:txBody>
            <a:bodyPr wrap="square" lIns="0" tIns="0" rIns="0" bIns="0" rtlCol="0"/>
            <a:lstStyle/>
            <a:p/>
          </p:txBody>
        </p:sp>
        <p:sp>
          <p:nvSpPr>
            <p:cNvPr id="17" name="object 17" descr=""/>
            <p:cNvSpPr/>
            <p:nvPr/>
          </p:nvSpPr>
          <p:spPr>
            <a:xfrm>
              <a:off x="3150922" y="2984757"/>
              <a:ext cx="4505960" cy="640715"/>
            </a:xfrm>
            <a:custGeom>
              <a:avLst/>
              <a:gdLst/>
              <a:ahLst/>
              <a:cxnLst/>
              <a:rect l="l" t="t" r="r" b="b"/>
              <a:pathLst>
                <a:path w="4505959" h="640714">
                  <a:moveTo>
                    <a:pt x="0" y="640667"/>
                  </a:moveTo>
                  <a:lnTo>
                    <a:pt x="3113019" y="640667"/>
                  </a:lnTo>
                </a:path>
                <a:path w="4505959" h="640714">
                  <a:moveTo>
                    <a:pt x="614411" y="459291"/>
                  </a:moveTo>
                  <a:lnTo>
                    <a:pt x="4505685" y="459291"/>
                  </a:lnTo>
                </a:path>
                <a:path w="4505959" h="640714">
                  <a:moveTo>
                    <a:pt x="2990136" y="0"/>
                  </a:moveTo>
                  <a:lnTo>
                    <a:pt x="2990136" y="483669"/>
                  </a:lnTo>
                </a:path>
              </a:pathLst>
            </a:custGeom>
            <a:ln w="14627">
              <a:solidFill>
                <a:srgbClr val="000000"/>
              </a:solidFill>
            </a:ln>
          </p:spPr>
          <p:txBody>
            <a:bodyPr wrap="square" lIns="0" tIns="0" rIns="0" bIns="0" rtlCol="0"/>
            <a:lstStyle/>
            <a:p/>
          </p:txBody>
        </p:sp>
        <p:sp>
          <p:nvSpPr>
            <p:cNvPr id="18" name="object 18" descr=""/>
            <p:cNvSpPr/>
            <p:nvPr/>
          </p:nvSpPr>
          <p:spPr>
            <a:xfrm>
              <a:off x="3738026" y="3865308"/>
              <a:ext cx="45085" cy="59690"/>
            </a:xfrm>
            <a:custGeom>
              <a:avLst/>
              <a:gdLst/>
              <a:ahLst/>
              <a:cxnLst/>
              <a:rect l="l" t="t" r="r" b="b"/>
              <a:pathLst>
                <a:path w="45085" h="59689">
                  <a:moveTo>
                    <a:pt x="22430" y="0"/>
                  </a:moveTo>
                  <a:lnTo>
                    <a:pt x="13700" y="2331"/>
                  </a:lnTo>
                  <a:lnTo>
                    <a:pt x="6570" y="8703"/>
                  </a:lnTo>
                  <a:lnTo>
                    <a:pt x="1763" y="18183"/>
                  </a:lnTo>
                  <a:lnTo>
                    <a:pt x="0" y="29839"/>
                  </a:lnTo>
                  <a:lnTo>
                    <a:pt x="1763" y="41382"/>
                  </a:lnTo>
                  <a:lnTo>
                    <a:pt x="6570" y="50804"/>
                  </a:lnTo>
                  <a:lnTo>
                    <a:pt x="13700" y="57155"/>
                  </a:lnTo>
                  <a:lnTo>
                    <a:pt x="22430" y="59483"/>
                  </a:lnTo>
                  <a:lnTo>
                    <a:pt x="31160" y="57155"/>
                  </a:lnTo>
                  <a:lnTo>
                    <a:pt x="38291" y="50804"/>
                  </a:lnTo>
                  <a:lnTo>
                    <a:pt x="43098" y="41382"/>
                  </a:lnTo>
                  <a:lnTo>
                    <a:pt x="44861" y="29839"/>
                  </a:lnTo>
                  <a:lnTo>
                    <a:pt x="43098" y="18183"/>
                  </a:lnTo>
                  <a:lnTo>
                    <a:pt x="38291" y="8703"/>
                  </a:lnTo>
                  <a:lnTo>
                    <a:pt x="31160" y="2331"/>
                  </a:lnTo>
                  <a:lnTo>
                    <a:pt x="22430" y="0"/>
                  </a:lnTo>
                  <a:close/>
                </a:path>
              </a:pathLst>
            </a:custGeom>
            <a:solidFill>
              <a:srgbClr val="000000"/>
            </a:solidFill>
          </p:spPr>
          <p:txBody>
            <a:bodyPr wrap="square" lIns="0" tIns="0" rIns="0" bIns="0" rtlCol="0"/>
            <a:lstStyle/>
            <a:p/>
          </p:txBody>
        </p:sp>
        <p:sp>
          <p:nvSpPr>
            <p:cNvPr id="19" name="object 19" descr=""/>
            <p:cNvSpPr/>
            <p:nvPr/>
          </p:nvSpPr>
          <p:spPr>
            <a:xfrm>
              <a:off x="3738026" y="3865308"/>
              <a:ext cx="45085" cy="59690"/>
            </a:xfrm>
            <a:custGeom>
              <a:avLst/>
              <a:gdLst/>
              <a:ahLst/>
              <a:cxnLst/>
              <a:rect l="l" t="t" r="r" b="b"/>
              <a:pathLst>
                <a:path w="45085" h="59689">
                  <a:moveTo>
                    <a:pt x="22430" y="0"/>
                  </a:moveTo>
                  <a:lnTo>
                    <a:pt x="13700" y="2331"/>
                  </a:lnTo>
                  <a:lnTo>
                    <a:pt x="6570" y="8703"/>
                  </a:lnTo>
                  <a:lnTo>
                    <a:pt x="1763" y="18183"/>
                  </a:lnTo>
                  <a:lnTo>
                    <a:pt x="0" y="29839"/>
                  </a:lnTo>
                  <a:lnTo>
                    <a:pt x="1763" y="41382"/>
                  </a:lnTo>
                  <a:lnTo>
                    <a:pt x="6570" y="50804"/>
                  </a:lnTo>
                  <a:lnTo>
                    <a:pt x="13700" y="57155"/>
                  </a:lnTo>
                  <a:lnTo>
                    <a:pt x="22430" y="59483"/>
                  </a:lnTo>
                  <a:lnTo>
                    <a:pt x="31160" y="57155"/>
                  </a:lnTo>
                  <a:lnTo>
                    <a:pt x="38291" y="50804"/>
                  </a:lnTo>
                  <a:lnTo>
                    <a:pt x="43098" y="41382"/>
                  </a:lnTo>
                  <a:lnTo>
                    <a:pt x="44861" y="29839"/>
                  </a:lnTo>
                  <a:lnTo>
                    <a:pt x="43098" y="18183"/>
                  </a:lnTo>
                  <a:lnTo>
                    <a:pt x="38291" y="8703"/>
                  </a:lnTo>
                  <a:lnTo>
                    <a:pt x="31160" y="2331"/>
                  </a:lnTo>
                  <a:lnTo>
                    <a:pt x="22430" y="0"/>
                  </a:lnTo>
                  <a:close/>
                </a:path>
              </a:pathLst>
            </a:custGeom>
            <a:ln w="14628">
              <a:solidFill>
                <a:srgbClr val="000000"/>
              </a:solidFill>
            </a:ln>
          </p:spPr>
          <p:txBody>
            <a:bodyPr wrap="square" lIns="0" tIns="0" rIns="0" bIns="0" rtlCol="0"/>
            <a:lstStyle/>
            <a:p/>
          </p:txBody>
        </p:sp>
        <p:sp>
          <p:nvSpPr>
            <p:cNvPr id="20" name="object 20" descr=""/>
            <p:cNvSpPr/>
            <p:nvPr/>
          </p:nvSpPr>
          <p:spPr>
            <a:xfrm>
              <a:off x="3111462" y="3621531"/>
              <a:ext cx="1370330" cy="512445"/>
            </a:xfrm>
            <a:custGeom>
              <a:avLst/>
              <a:gdLst/>
              <a:ahLst/>
              <a:cxnLst/>
              <a:rect l="l" t="t" r="r" b="b"/>
              <a:pathLst>
                <a:path w="1370329" h="512445">
                  <a:moveTo>
                    <a:pt x="78016" y="394728"/>
                  </a:moveTo>
                  <a:lnTo>
                    <a:pt x="48882" y="424230"/>
                  </a:lnTo>
                  <a:lnTo>
                    <a:pt x="39166" y="433933"/>
                  </a:lnTo>
                  <a:lnTo>
                    <a:pt x="48780" y="424230"/>
                  </a:lnTo>
                  <a:lnTo>
                    <a:pt x="48768" y="394728"/>
                  </a:lnTo>
                  <a:lnTo>
                    <a:pt x="47256" y="0"/>
                  </a:lnTo>
                  <a:lnTo>
                    <a:pt x="27749" y="0"/>
                  </a:lnTo>
                  <a:lnTo>
                    <a:pt x="29260" y="394728"/>
                  </a:lnTo>
                  <a:lnTo>
                    <a:pt x="29375" y="424230"/>
                  </a:lnTo>
                  <a:lnTo>
                    <a:pt x="0" y="395122"/>
                  </a:lnTo>
                  <a:lnTo>
                    <a:pt x="39458" y="511962"/>
                  </a:lnTo>
                  <a:lnTo>
                    <a:pt x="65125" y="433933"/>
                  </a:lnTo>
                  <a:lnTo>
                    <a:pt x="78016" y="394728"/>
                  </a:lnTo>
                  <a:close/>
                </a:path>
                <a:path w="1370329" h="512445">
                  <a:moveTo>
                    <a:pt x="1369707" y="273621"/>
                  </a:moveTo>
                  <a:lnTo>
                    <a:pt x="1367955" y="261962"/>
                  </a:lnTo>
                  <a:lnTo>
                    <a:pt x="1363167" y="252488"/>
                  </a:lnTo>
                  <a:lnTo>
                    <a:pt x="1356042" y="246113"/>
                  </a:lnTo>
                  <a:lnTo>
                    <a:pt x="1347279" y="243789"/>
                  </a:lnTo>
                  <a:lnTo>
                    <a:pt x="1338503" y="246113"/>
                  </a:lnTo>
                  <a:lnTo>
                    <a:pt x="1331379" y="252488"/>
                  </a:lnTo>
                  <a:lnTo>
                    <a:pt x="1326591" y="261962"/>
                  </a:lnTo>
                  <a:lnTo>
                    <a:pt x="1324838" y="273621"/>
                  </a:lnTo>
                  <a:lnTo>
                    <a:pt x="1326591" y="285165"/>
                  </a:lnTo>
                  <a:lnTo>
                    <a:pt x="1331379" y="294589"/>
                  </a:lnTo>
                  <a:lnTo>
                    <a:pt x="1338503" y="300939"/>
                  </a:lnTo>
                  <a:lnTo>
                    <a:pt x="1347279" y="303263"/>
                  </a:lnTo>
                  <a:lnTo>
                    <a:pt x="1356042" y="300939"/>
                  </a:lnTo>
                  <a:lnTo>
                    <a:pt x="1363167" y="294589"/>
                  </a:lnTo>
                  <a:lnTo>
                    <a:pt x="1367955" y="285165"/>
                  </a:lnTo>
                  <a:lnTo>
                    <a:pt x="1369707" y="273621"/>
                  </a:lnTo>
                  <a:close/>
                </a:path>
              </a:pathLst>
            </a:custGeom>
            <a:solidFill>
              <a:srgbClr val="000000"/>
            </a:solidFill>
          </p:spPr>
          <p:txBody>
            <a:bodyPr wrap="square" lIns="0" tIns="0" rIns="0" bIns="0" rtlCol="0"/>
            <a:lstStyle/>
            <a:p/>
          </p:txBody>
        </p:sp>
        <p:sp>
          <p:nvSpPr>
            <p:cNvPr id="21" name="object 21" descr=""/>
            <p:cNvSpPr/>
            <p:nvPr/>
          </p:nvSpPr>
          <p:spPr>
            <a:xfrm>
              <a:off x="4436310" y="3865308"/>
              <a:ext cx="45085" cy="59690"/>
            </a:xfrm>
            <a:custGeom>
              <a:avLst/>
              <a:gdLst/>
              <a:ahLst/>
              <a:cxnLst/>
              <a:rect l="l" t="t" r="r" b="b"/>
              <a:pathLst>
                <a:path w="45085" h="59689">
                  <a:moveTo>
                    <a:pt x="22430" y="0"/>
                  </a:moveTo>
                  <a:lnTo>
                    <a:pt x="13659" y="2331"/>
                  </a:lnTo>
                  <a:lnTo>
                    <a:pt x="6534" y="8703"/>
                  </a:lnTo>
                  <a:lnTo>
                    <a:pt x="1749" y="18183"/>
                  </a:lnTo>
                  <a:lnTo>
                    <a:pt x="0" y="29839"/>
                  </a:lnTo>
                  <a:lnTo>
                    <a:pt x="1749" y="41382"/>
                  </a:lnTo>
                  <a:lnTo>
                    <a:pt x="6534" y="50804"/>
                  </a:lnTo>
                  <a:lnTo>
                    <a:pt x="13659" y="57155"/>
                  </a:lnTo>
                  <a:lnTo>
                    <a:pt x="22430" y="59483"/>
                  </a:lnTo>
                  <a:lnTo>
                    <a:pt x="31202" y="57155"/>
                  </a:lnTo>
                  <a:lnTo>
                    <a:pt x="38327" y="50804"/>
                  </a:lnTo>
                  <a:lnTo>
                    <a:pt x="43112" y="41382"/>
                  </a:lnTo>
                  <a:lnTo>
                    <a:pt x="44861" y="29839"/>
                  </a:lnTo>
                  <a:lnTo>
                    <a:pt x="43112" y="18183"/>
                  </a:lnTo>
                  <a:lnTo>
                    <a:pt x="38327" y="8703"/>
                  </a:lnTo>
                  <a:lnTo>
                    <a:pt x="31202" y="2331"/>
                  </a:lnTo>
                  <a:lnTo>
                    <a:pt x="22430" y="0"/>
                  </a:lnTo>
                  <a:close/>
                </a:path>
              </a:pathLst>
            </a:custGeom>
            <a:ln w="14628">
              <a:solidFill>
                <a:srgbClr val="000000"/>
              </a:solidFill>
            </a:ln>
          </p:spPr>
          <p:txBody>
            <a:bodyPr wrap="square" lIns="0" tIns="0" rIns="0" bIns="0" rtlCol="0"/>
            <a:lstStyle/>
            <a:p/>
          </p:txBody>
        </p:sp>
        <p:sp>
          <p:nvSpPr>
            <p:cNvPr id="22" name="object 22" descr=""/>
            <p:cNvSpPr/>
            <p:nvPr/>
          </p:nvSpPr>
          <p:spPr>
            <a:xfrm>
              <a:off x="6852996" y="3860432"/>
              <a:ext cx="45085" cy="59690"/>
            </a:xfrm>
            <a:custGeom>
              <a:avLst/>
              <a:gdLst/>
              <a:ahLst/>
              <a:cxnLst/>
              <a:rect l="l" t="t" r="r" b="b"/>
              <a:pathLst>
                <a:path w="45084" h="59689">
                  <a:moveTo>
                    <a:pt x="22430" y="0"/>
                  </a:moveTo>
                  <a:lnTo>
                    <a:pt x="13659" y="2331"/>
                  </a:lnTo>
                  <a:lnTo>
                    <a:pt x="6534" y="8703"/>
                  </a:lnTo>
                  <a:lnTo>
                    <a:pt x="1749" y="18183"/>
                  </a:lnTo>
                  <a:lnTo>
                    <a:pt x="0" y="29839"/>
                  </a:lnTo>
                  <a:lnTo>
                    <a:pt x="1749" y="41382"/>
                  </a:lnTo>
                  <a:lnTo>
                    <a:pt x="6534" y="50804"/>
                  </a:lnTo>
                  <a:lnTo>
                    <a:pt x="13659" y="57155"/>
                  </a:lnTo>
                  <a:lnTo>
                    <a:pt x="22430" y="59483"/>
                  </a:lnTo>
                  <a:lnTo>
                    <a:pt x="31202" y="57155"/>
                  </a:lnTo>
                  <a:lnTo>
                    <a:pt x="38327" y="50804"/>
                  </a:lnTo>
                  <a:lnTo>
                    <a:pt x="43112" y="41382"/>
                  </a:lnTo>
                  <a:lnTo>
                    <a:pt x="44861" y="29839"/>
                  </a:lnTo>
                  <a:lnTo>
                    <a:pt x="43112" y="18183"/>
                  </a:lnTo>
                  <a:lnTo>
                    <a:pt x="38327" y="8703"/>
                  </a:lnTo>
                  <a:lnTo>
                    <a:pt x="31202" y="2331"/>
                  </a:lnTo>
                  <a:lnTo>
                    <a:pt x="22430" y="0"/>
                  </a:lnTo>
                  <a:close/>
                </a:path>
              </a:pathLst>
            </a:custGeom>
            <a:solidFill>
              <a:srgbClr val="000000"/>
            </a:solidFill>
          </p:spPr>
          <p:txBody>
            <a:bodyPr wrap="square" lIns="0" tIns="0" rIns="0" bIns="0" rtlCol="0"/>
            <a:lstStyle/>
            <a:p/>
          </p:txBody>
        </p:sp>
        <p:sp>
          <p:nvSpPr>
            <p:cNvPr id="23" name="object 23" descr=""/>
            <p:cNvSpPr/>
            <p:nvPr/>
          </p:nvSpPr>
          <p:spPr>
            <a:xfrm>
              <a:off x="6852996" y="3860432"/>
              <a:ext cx="45085" cy="59690"/>
            </a:xfrm>
            <a:custGeom>
              <a:avLst/>
              <a:gdLst/>
              <a:ahLst/>
              <a:cxnLst/>
              <a:rect l="l" t="t" r="r" b="b"/>
              <a:pathLst>
                <a:path w="45084" h="59689">
                  <a:moveTo>
                    <a:pt x="22430" y="0"/>
                  </a:moveTo>
                  <a:lnTo>
                    <a:pt x="13659" y="2331"/>
                  </a:lnTo>
                  <a:lnTo>
                    <a:pt x="6534" y="8703"/>
                  </a:lnTo>
                  <a:lnTo>
                    <a:pt x="1749" y="18183"/>
                  </a:lnTo>
                  <a:lnTo>
                    <a:pt x="0" y="29839"/>
                  </a:lnTo>
                  <a:lnTo>
                    <a:pt x="1749" y="41382"/>
                  </a:lnTo>
                  <a:lnTo>
                    <a:pt x="6534" y="50804"/>
                  </a:lnTo>
                  <a:lnTo>
                    <a:pt x="13659" y="57155"/>
                  </a:lnTo>
                  <a:lnTo>
                    <a:pt x="22430" y="59483"/>
                  </a:lnTo>
                  <a:lnTo>
                    <a:pt x="31202" y="57155"/>
                  </a:lnTo>
                  <a:lnTo>
                    <a:pt x="38327" y="50804"/>
                  </a:lnTo>
                  <a:lnTo>
                    <a:pt x="43112" y="41382"/>
                  </a:lnTo>
                  <a:lnTo>
                    <a:pt x="44861" y="29839"/>
                  </a:lnTo>
                  <a:lnTo>
                    <a:pt x="43112" y="18183"/>
                  </a:lnTo>
                  <a:lnTo>
                    <a:pt x="38327" y="8703"/>
                  </a:lnTo>
                  <a:lnTo>
                    <a:pt x="31202" y="2331"/>
                  </a:lnTo>
                  <a:lnTo>
                    <a:pt x="22430" y="0"/>
                  </a:lnTo>
                  <a:close/>
                </a:path>
              </a:pathLst>
            </a:custGeom>
            <a:ln w="14628">
              <a:solidFill>
                <a:srgbClr val="000000"/>
              </a:solidFill>
            </a:ln>
          </p:spPr>
          <p:txBody>
            <a:bodyPr wrap="square" lIns="0" tIns="0" rIns="0" bIns="0" rtlCol="0"/>
            <a:lstStyle/>
            <a:p/>
          </p:txBody>
        </p:sp>
        <p:sp>
          <p:nvSpPr>
            <p:cNvPr id="24" name="object 24" descr=""/>
            <p:cNvSpPr/>
            <p:nvPr/>
          </p:nvSpPr>
          <p:spPr>
            <a:xfrm>
              <a:off x="7631251" y="3865308"/>
              <a:ext cx="45085" cy="59690"/>
            </a:xfrm>
            <a:custGeom>
              <a:avLst/>
              <a:gdLst/>
              <a:ahLst/>
              <a:cxnLst/>
              <a:rect l="l" t="t" r="r" b="b"/>
              <a:pathLst>
                <a:path w="45084" h="59689">
                  <a:moveTo>
                    <a:pt x="22430" y="0"/>
                  </a:moveTo>
                  <a:lnTo>
                    <a:pt x="13659" y="2331"/>
                  </a:lnTo>
                  <a:lnTo>
                    <a:pt x="6534" y="8703"/>
                  </a:lnTo>
                  <a:lnTo>
                    <a:pt x="1749" y="18183"/>
                  </a:lnTo>
                  <a:lnTo>
                    <a:pt x="0" y="29839"/>
                  </a:lnTo>
                  <a:lnTo>
                    <a:pt x="1749" y="41382"/>
                  </a:lnTo>
                  <a:lnTo>
                    <a:pt x="6534" y="50804"/>
                  </a:lnTo>
                  <a:lnTo>
                    <a:pt x="13659" y="57155"/>
                  </a:lnTo>
                  <a:lnTo>
                    <a:pt x="22430" y="59483"/>
                  </a:lnTo>
                  <a:lnTo>
                    <a:pt x="31202" y="57155"/>
                  </a:lnTo>
                  <a:lnTo>
                    <a:pt x="38327" y="50804"/>
                  </a:lnTo>
                  <a:lnTo>
                    <a:pt x="43112" y="41382"/>
                  </a:lnTo>
                  <a:lnTo>
                    <a:pt x="44861" y="29839"/>
                  </a:lnTo>
                  <a:lnTo>
                    <a:pt x="43112" y="18183"/>
                  </a:lnTo>
                  <a:lnTo>
                    <a:pt x="38327" y="8703"/>
                  </a:lnTo>
                  <a:lnTo>
                    <a:pt x="31202" y="2331"/>
                  </a:lnTo>
                  <a:lnTo>
                    <a:pt x="22430" y="0"/>
                  </a:lnTo>
                  <a:close/>
                </a:path>
              </a:pathLst>
            </a:custGeom>
            <a:solidFill>
              <a:srgbClr val="000000"/>
            </a:solidFill>
          </p:spPr>
          <p:txBody>
            <a:bodyPr wrap="square" lIns="0" tIns="0" rIns="0" bIns="0" rtlCol="0"/>
            <a:lstStyle/>
            <a:p/>
          </p:txBody>
        </p:sp>
        <p:sp>
          <p:nvSpPr>
            <p:cNvPr id="25" name="object 25" descr=""/>
            <p:cNvSpPr/>
            <p:nvPr/>
          </p:nvSpPr>
          <p:spPr>
            <a:xfrm>
              <a:off x="7631251" y="3865308"/>
              <a:ext cx="45085" cy="59690"/>
            </a:xfrm>
            <a:custGeom>
              <a:avLst/>
              <a:gdLst/>
              <a:ahLst/>
              <a:cxnLst/>
              <a:rect l="l" t="t" r="r" b="b"/>
              <a:pathLst>
                <a:path w="45084" h="59689">
                  <a:moveTo>
                    <a:pt x="22430" y="0"/>
                  </a:moveTo>
                  <a:lnTo>
                    <a:pt x="13659" y="2331"/>
                  </a:lnTo>
                  <a:lnTo>
                    <a:pt x="6534" y="8703"/>
                  </a:lnTo>
                  <a:lnTo>
                    <a:pt x="1749" y="18183"/>
                  </a:lnTo>
                  <a:lnTo>
                    <a:pt x="0" y="29839"/>
                  </a:lnTo>
                  <a:lnTo>
                    <a:pt x="1749" y="41382"/>
                  </a:lnTo>
                  <a:lnTo>
                    <a:pt x="6534" y="50804"/>
                  </a:lnTo>
                  <a:lnTo>
                    <a:pt x="13659" y="57155"/>
                  </a:lnTo>
                  <a:lnTo>
                    <a:pt x="22430" y="59483"/>
                  </a:lnTo>
                  <a:lnTo>
                    <a:pt x="31202" y="57155"/>
                  </a:lnTo>
                  <a:lnTo>
                    <a:pt x="38327" y="50804"/>
                  </a:lnTo>
                  <a:lnTo>
                    <a:pt x="43112" y="41382"/>
                  </a:lnTo>
                  <a:lnTo>
                    <a:pt x="44861" y="29839"/>
                  </a:lnTo>
                  <a:lnTo>
                    <a:pt x="43112" y="18183"/>
                  </a:lnTo>
                  <a:lnTo>
                    <a:pt x="38327" y="8703"/>
                  </a:lnTo>
                  <a:lnTo>
                    <a:pt x="31202" y="2331"/>
                  </a:lnTo>
                  <a:lnTo>
                    <a:pt x="22430" y="0"/>
                  </a:lnTo>
                  <a:close/>
                </a:path>
              </a:pathLst>
            </a:custGeom>
            <a:ln w="14628">
              <a:solidFill>
                <a:srgbClr val="000000"/>
              </a:solidFill>
            </a:ln>
          </p:spPr>
          <p:txBody>
            <a:bodyPr wrap="square" lIns="0" tIns="0" rIns="0" bIns="0" rtlCol="0"/>
            <a:lstStyle/>
            <a:p/>
          </p:txBody>
        </p:sp>
        <p:sp>
          <p:nvSpPr>
            <p:cNvPr id="26" name="object 26" descr=""/>
            <p:cNvSpPr/>
            <p:nvPr/>
          </p:nvSpPr>
          <p:spPr>
            <a:xfrm>
              <a:off x="6113752" y="3407967"/>
              <a:ext cx="45085" cy="59690"/>
            </a:xfrm>
            <a:custGeom>
              <a:avLst/>
              <a:gdLst/>
              <a:ahLst/>
              <a:cxnLst/>
              <a:rect l="l" t="t" r="r" b="b"/>
              <a:pathLst>
                <a:path w="45085" h="59689">
                  <a:moveTo>
                    <a:pt x="22430" y="0"/>
                  </a:moveTo>
                  <a:lnTo>
                    <a:pt x="13659" y="2331"/>
                  </a:lnTo>
                  <a:lnTo>
                    <a:pt x="6534" y="8703"/>
                  </a:lnTo>
                  <a:lnTo>
                    <a:pt x="1749" y="18183"/>
                  </a:lnTo>
                  <a:lnTo>
                    <a:pt x="0" y="29839"/>
                  </a:lnTo>
                  <a:lnTo>
                    <a:pt x="1749" y="41382"/>
                  </a:lnTo>
                  <a:lnTo>
                    <a:pt x="6534" y="50804"/>
                  </a:lnTo>
                  <a:lnTo>
                    <a:pt x="13659" y="57155"/>
                  </a:lnTo>
                  <a:lnTo>
                    <a:pt x="22430" y="59483"/>
                  </a:lnTo>
                  <a:lnTo>
                    <a:pt x="31202" y="57155"/>
                  </a:lnTo>
                  <a:lnTo>
                    <a:pt x="38327" y="50804"/>
                  </a:lnTo>
                  <a:lnTo>
                    <a:pt x="43112" y="41382"/>
                  </a:lnTo>
                  <a:lnTo>
                    <a:pt x="44861" y="29839"/>
                  </a:lnTo>
                  <a:lnTo>
                    <a:pt x="43112" y="18183"/>
                  </a:lnTo>
                  <a:lnTo>
                    <a:pt x="38327" y="8703"/>
                  </a:lnTo>
                  <a:lnTo>
                    <a:pt x="31202" y="2331"/>
                  </a:lnTo>
                  <a:lnTo>
                    <a:pt x="22430" y="0"/>
                  </a:lnTo>
                  <a:close/>
                </a:path>
              </a:pathLst>
            </a:custGeom>
            <a:solidFill>
              <a:srgbClr val="000000"/>
            </a:solidFill>
          </p:spPr>
          <p:txBody>
            <a:bodyPr wrap="square" lIns="0" tIns="0" rIns="0" bIns="0" rtlCol="0"/>
            <a:lstStyle/>
            <a:p/>
          </p:txBody>
        </p:sp>
        <p:sp>
          <p:nvSpPr>
            <p:cNvPr id="27" name="object 27" descr=""/>
            <p:cNvSpPr/>
            <p:nvPr/>
          </p:nvSpPr>
          <p:spPr>
            <a:xfrm>
              <a:off x="6113752" y="3407967"/>
              <a:ext cx="45085" cy="59690"/>
            </a:xfrm>
            <a:custGeom>
              <a:avLst/>
              <a:gdLst/>
              <a:ahLst/>
              <a:cxnLst/>
              <a:rect l="l" t="t" r="r" b="b"/>
              <a:pathLst>
                <a:path w="45085" h="59689">
                  <a:moveTo>
                    <a:pt x="22430" y="0"/>
                  </a:moveTo>
                  <a:lnTo>
                    <a:pt x="13659" y="2331"/>
                  </a:lnTo>
                  <a:lnTo>
                    <a:pt x="6534" y="8703"/>
                  </a:lnTo>
                  <a:lnTo>
                    <a:pt x="1749" y="18183"/>
                  </a:lnTo>
                  <a:lnTo>
                    <a:pt x="0" y="29839"/>
                  </a:lnTo>
                  <a:lnTo>
                    <a:pt x="1749" y="41382"/>
                  </a:lnTo>
                  <a:lnTo>
                    <a:pt x="6534" y="50804"/>
                  </a:lnTo>
                  <a:lnTo>
                    <a:pt x="13659" y="57155"/>
                  </a:lnTo>
                  <a:lnTo>
                    <a:pt x="22430" y="59483"/>
                  </a:lnTo>
                  <a:lnTo>
                    <a:pt x="31202" y="57155"/>
                  </a:lnTo>
                  <a:lnTo>
                    <a:pt x="38327" y="50804"/>
                  </a:lnTo>
                  <a:lnTo>
                    <a:pt x="43112" y="41382"/>
                  </a:lnTo>
                  <a:lnTo>
                    <a:pt x="44861" y="29839"/>
                  </a:lnTo>
                  <a:lnTo>
                    <a:pt x="43112" y="18183"/>
                  </a:lnTo>
                  <a:lnTo>
                    <a:pt x="38327" y="8703"/>
                  </a:lnTo>
                  <a:lnTo>
                    <a:pt x="31202" y="2331"/>
                  </a:lnTo>
                  <a:lnTo>
                    <a:pt x="22430" y="0"/>
                  </a:lnTo>
                  <a:close/>
                </a:path>
              </a:pathLst>
            </a:custGeom>
            <a:ln w="14628">
              <a:solidFill>
                <a:srgbClr val="000000"/>
              </a:solidFill>
            </a:ln>
          </p:spPr>
          <p:txBody>
            <a:bodyPr wrap="square" lIns="0" tIns="0" rIns="0" bIns="0" rtlCol="0"/>
            <a:lstStyle/>
            <a:p/>
          </p:txBody>
        </p:sp>
        <p:sp>
          <p:nvSpPr>
            <p:cNvPr id="28" name="object 28" descr=""/>
            <p:cNvSpPr/>
            <p:nvPr/>
          </p:nvSpPr>
          <p:spPr>
            <a:xfrm>
              <a:off x="6921264" y="4806338"/>
              <a:ext cx="78105" cy="544195"/>
            </a:xfrm>
            <a:custGeom>
              <a:avLst/>
              <a:gdLst/>
              <a:ahLst/>
              <a:cxnLst/>
              <a:rect l="l" t="t" r="r" b="b"/>
              <a:pathLst>
                <a:path w="78104" h="544195">
                  <a:moveTo>
                    <a:pt x="0" y="427111"/>
                  </a:moveTo>
                  <a:lnTo>
                    <a:pt x="39010" y="544128"/>
                  </a:lnTo>
                  <a:lnTo>
                    <a:pt x="65017" y="466117"/>
                  </a:lnTo>
                  <a:lnTo>
                    <a:pt x="29257" y="466117"/>
                  </a:lnTo>
                  <a:lnTo>
                    <a:pt x="29257" y="456365"/>
                  </a:lnTo>
                  <a:lnTo>
                    <a:pt x="0" y="427111"/>
                  </a:lnTo>
                  <a:close/>
                </a:path>
                <a:path w="78104" h="544195">
                  <a:moveTo>
                    <a:pt x="29257" y="456365"/>
                  </a:moveTo>
                  <a:lnTo>
                    <a:pt x="29257" y="466117"/>
                  </a:lnTo>
                  <a:lnTo>
                    <a:pt x="39010" y="466117"/>
                  </a:lnTo>
                  <a:lnTo>
                    <a:pt x="29257" y="456365"/>
                  </a:lnTo>
                  <a:close/>
                </a:path>
                <a:path w="78104" h="544195">
                  <a:moveTo>
                    <a:pt x="48762" y="0"/>
                  </a:moveTo>
                  <a:lnTo>
                    <a:pt x="29257" y="0"/>
                  </a:lnTo>
                  <a:lnTo>
                    <a:pt x="29257" y="456365"/>
                  </a:lnTo>
                  <a:lnTo>
                    <a:pt x="39010" y="466117"/>
                  </a:lnTo>
                  <a:lnTo>
                    <a:pt x="48762" y="456365"/>
                  </a:lnTo>
                  <a:lnTo>
                    <a:pt x="48762" y="0"/>
                  </a:lnTo>
                  <a:close/>
                </a:path>
                <a:path w="78104" h="544195">
                  <a:moveTo>
                    <a:pt x="48762" y="456365"/>
                  </a:moveTo>
                  <a:lnTo>
                    <a:pt x="39010" y="466117"/>
                  </a:lnTo>
                  <a:lnTo>
                    <a:pt x="48762" y="466117"/>
                  </a:lnTo>
                  <a:lnTo>
                    <a:pt x="48762" y="456365"/>
                  </a:lnTo>
                  <a:close/>
                </a:path>
                <a:path w="78104" h="544195">
                  <a:moveTo>
                    <a:pt x="78020" y="427111"/>
                  </a:moveTo>
                  <a:lnTo>
                    <a:pt x="48762" y="456365"/>
                  </a:lnTo>
                  <a:lnTo>
                    <a:pt x="48762" y="466117"/>
                  </a:lnTo>
                  <a:lnTo>
                    <a:pt x="65017" y="466117"/>
                  </a:lnTo>
                  <a:lnTo>
                    <a:pt x="78020" y="427111"/>
                  </a:lnTo>
                  <a:close/>
                </a:path>
              </a:pathLst>
            </a:custGeom>
            <a:solidFill>
              <a:srgbClr val="000000"/>
            </a:solidFill>
          </p:spPr>
          <p:txBody>
            <a:bodyPr wrap="square" lIns="0" tIns="0" rIns="0" bIns="0" rtlCol="0"/>
            <a:lstStyle/>
            <a:p/>
          </p:txBody>
        </p:sp>
        <p:sp>
          <p:nvSpPr>
            <p:cNvPr id="29" name="object 29" descr=""/>
            <p:cNvSpPr/>
            <p:nvPr/>
          </p:nvSpPr>
          <p:spPr>
            <a:xfrm>
              <a:off x="2864196" y="4133491"/>
              <a:ext cx="2007235" cy="822325"/>
            </a:xfrm>
            <a:custGeom>
              <a:avLst/>
              <a:gdLst/>
              <a:ahLst/>
              <a:cxnLst/>
              <a:rect l="l" t="t" r="r" b="b"/>
              <a:pathLst>
                <a:path w="2007235" h="822325">
                  <a:moveTo>
                    <a:pt x="2007078" y="0"/>
                  </a:moveTo>
                  <a:lnTo>
                    <a:pt x="0" y="0"/>
                  </a:lnTo>
                  <a:lnTo>
                    <a:pt x="0" y="822043"/>
                  </a:lnTo>
                  <a:lnTo>
                    <a:pt x="2007078" y="822043"/>
                  </a:lnTo>
                  <a:lnTo>
                    <a:pt x="2007078" y="0"/>
                  </a:lnTo>
                  <a:close/>
                </a:path>
              </a:pathLst>
            </a:custGeom>
            <a:solidFill>
              <a:srgbClr val="CCFFCC"/>
            </a:solidFill>
          </p:spPr>
          <p:txBody>
            <a:bodyPr wrap="square" lIns="0" tIns="0" rIns="0" bIns="0" rtlCol="0"/>
            <a:lstStyle/>
            <a:p/>
          </p:txBody>
        </p:sp>
        <p:sp>
          <p:nvSpPr>
            <p:cNvPr id="30" name="object 30" descr=""/>
            <p:cNvSpPr/>
            <p:nvPr/>
          </p:nvSpPr>
          <p:spPr>
            <a:xfrm>
              <a:off x="2864196" y="4133491"/>
              <a:ext cx="2007235" cy="822325"/>
            </a:xfrm>
            <a:custGeom>
              <a:avLst/>
              <a:gdLst/>
              <a:ahLst/>
              <a:cxnLst/>
              <a:rect l="l" t="t" r="r" b="b"/>
              <a:pathLst>
                <a:path w="2007235" h="822325">
                  <a:moveTo>
                    <a:pt x="0" y="822043"/>
                  </a:moveTo>
                  <a:lnTo>
                    <a:pt x="2007078" y="822043"/>
                  </a:lnTo>
                  <a:lnTo>
                    <a:pt x="2007078" y="0"/>
                  </a:lnTo>
                  <a:lnTo>
                    <a:pt x="0" y="0"/>
                  </a:lnTo>
                  <a:lnTo>
                    <a:pt x="0" y="822043"/>
                  </a:lnTo>
                  <a:close/>
                </a:path>
              </a:pathLst>
            </a:custGeom>
            <a:ln w="14627">
              <a:solidFill>
                <a:srgbClr val="000000"/>
              </a:solidFill>
            </a:ln>
          </p:spPr>
          <p:txBody>
            <a:bodyPr wrap="square" lIns="0" tIns="0" rIns="0" bIns="0" rtlCol="0"/>
            <a:lstStyle/>
            <a:p/>
          </p:txBody>
        </p:sp>
        <p:sp>
          <p:nvSpPr>
            <p:cNvPr id="31" name="object 31" descr=""/>
            <p:cNvSpPr/>
            <p:nvPr/>
          </p:nvSpPr>
          <p:spPr>
            <a:xfrm>
              <a:off x="2864193" y="4400194"/>
              <a:ext cx="2007235" cy="288925"/>
            </a:xfrm>
            <a:custGeom>
              <a:avLst/>
              <a:gdLst/>
              <a:ahLst/>
              <a:cxnLst/>
              <a:rect l="l" t="t" r="r" b="b"/>
              <a:pathLst>
                <a:path w="2007235" h="288925">
                  <a:moveTo>
                    <a:pt x="2007069" y="274015"/>
                  </a:moveTo>
                  <a:lnTo>
                    <a:pt x="0" y="274015"/>
                  </a:lnTo>
                  <a:lnTo>
                    <a:pt x="0" y="288645"/>
                  </a:lnTo>
                  <a:lnTo>
                    <a:pt x="2007069" y="288645"/>
                  </a:lnTo>
                  <a:lnTo>
                    <a:pt x="2007069" y="274015"/>
                  </a:lnTo>
                  <a:close/>
                </a:path>
                <a:path w="2007235" h="288925">
                  <a:moveTo>
                    <a:pt x="2007069" y="0"/>
                  </a:moveTo>
                  <a:lnTo>
                    <a:pt x="0" y="0"/>
                  </a:lnTo>
                  <a:lnTo>
                    <a:pt x="0" y="14630"/>
                  </a:lnTo>
                  <a:lnTo>
                    <a:pt x="2007069" y="14630"/>
                  </a:lnTo>
                  <a:lnTo>
                    <a:pt x="2007069" y="0"/>
                  </a:lnTo>
                  <a:close/>
                </a:path>
              </a:pathLst>
            </a:custGeom>
            <a:solidFill>
              <a:srgbClr val="000000"/>
            </a:solidFill>
          </p:spPr>
          <p:txBody>
            <a:bodyPr wrap="square" lIns="0" tIns="0" rIns="0" bIns="0" rtlCol="0"/>
            <a:lstStyle/>
            <a:p/>
          </p:txBody>
        </p:sp>
        <p:sp>
          <p:nvSpPr>
            <p:cNvPr id="32" name="object 32" descr=""/>
            <p:cNvSpPr/>
            <p:nvPr/>
          </p:nvSpPr>
          <p:spPr>
            <a:xfrm>
              <a:off x="3396687" y="4133491"/>
              <a:ext cx="737870" cy="822325"/>
            </a:xfrm>
            <a:custGeom>
              <a:avLst/>
              <a:gdLst/>
              <a:ahLst/>
              <a:cxnLst/>
              <a:rect l="l" t="t" r="r" b="b"/>
              <a:pathLst>
                <a:path w="737870" h="822325">
                  <a:moveTo>
                    <a:pt x="0" y="0"/>
                  </a:moveTo>
                  <a:lnTo>
                    <a:pt x="0" y="822043"/>
                  </a:lnTo>
                </a:path>
                <a:path w="737870" h="822325">
                  <a:moveTo>
                    <a:pt x="737294" y="0"/>
                  </a:moveTo>
                  <a:lnTo>
                    <a:pt x="737294" y="822043"/>
                  </a:lnTo>
                </a:path>
              </a:pathLst>
            </a:custGeom>
            <a:ln w="14627">
              <a:solidFill>
                <a:srgbClr val="000000"/>
              </a:solidFill>
            </a:ln>
          </p:spPr>
          <p:txBody>
            <a:bodyPr wrap="square" lIns="0" tIns="0" rIns="0" bIns="0" rtlCol="0"/>
            <a:lstStyle/>
            <a:p/>
          </p:txBody>
        </p:sp>
        <p:sp>
          <p:nvSpPr>
            <p:cNvPr id="33" name="object 33" descr=""/>
            <p:cNvSpPr/>
            <p:nvPr/>
          </p:nvSpPr>
          <p:spPr>
            <a:xfrm>
              <a:off x="6018177" y="4254409"/>
              <a:ext cx="2007235" cy="580390"/>
            </a:xfrm>
            <a:custGeom>
              <a:avLst/>
              <a:gdLst/>
              <a:ahLst/>
              <a:cxnLst/>
              <a:rect l="l" t="t" r="r" b="b"/>
              <a:pathLst>
                <a:path w="2007234" h="580389">
                  <a:moveTo>
                    <a:pt x="2007078" y="0"/>
                  </a:moveTo>
                  <a:lnTo>
                    <a:pt x="0" y="0"/>
                  </a:lnTo>
                  <a:lnTo>
                    <a:pt x="0" y="580208"/>
                  </a:lnTo>
                  <a:lnTo>
                    <a:pt x="2007078" y="580208"/>
                  </a:lnTo>
                  <a:lnTo>
                    <a:pt x="2007078" y="0"/>
                  </a:lnTo>
                  <a:close/>
                </a:path>
              </a:pathLst>
            </a:custGeom>
            <a:solidFill>
              <a:srgbClr val="CCFFCC"/>
            </a:solidFill>
          </p:spPr>
          <p:txBody>
            <a:bodyPr wrap="square" lIns="0" tIns="0" rIns="0" bIns="0" rtlCol="0"/>
            <a:lstStyle/>
            <a:p/>
          </p:txBody>
        </p:sp>
        <p:sp>
          <p:nvSpPr>
            <p:cNvPr id="34" name="object 34" descr=""/>
            <p:cNvSpPr/>
            <p:nvPr/>
          </p:nvSpPr>
          <p:spPr>
            <a:xfrm>
              <a:off x="6018177" y="4254409"/>
              <a:ext cx="2007235" cy="580390"/>
            </a:xfrm>
            <a:custGeom>
              <a:avLst/>
              <a:gdLst/>
              <a:ahLst/>
              <a:cxnLst/>
              <a:rect l="l" t="t" r="r" b="b"/>
              <a:pathLst>
                <a:path w="2007234" h="580389">
                  <a:moveTo>
                    <a:pt x="0" y="580208"/>
                  </a:moveTo>
                  <a:lnTo>
                    <a:pt x="2007078" y="580208"/>
                  </a:lnTo>
                  <a:lnTo>
                    <a:pt x="2007078" y="0"/>
                  </a:lnTo>
                  <a:lnTo>
                    <a:pt x="0" y="0"/>
                  </a:lnTo>
                  <a:lnTo>
                    <a:pt x="0" y="580208"/>
                  </a:lnTo>
                  <a:close/>
                </a:path>
              </a:pathLst>
            </a:custGeom>
            <a:ln w="14627">
              <a:solidFill>
                <a:srgbClr val="000000"/>
              </a:solidFill>
            </a:ln>
          </p:spPr>
          <p:txBody>
            <a:bodyPr wrap="square" lIns="0" tIns="0" rIns="0" bIns="0" rtlCol="0"/>
            <a:lstStyle/>
            <a:p/>
          </p:txBody>
        </p:sp>
        <p:sp>
          <p:nvSpPr>
            <p:cNvPr id="35" name="object 35" descr=""/>
            <p:cNvSpPr/>
            <p:nvPr/>
          </p:nvSpPr>
          <p:spPr>
            <a:xfrm>
              <a:off x="6018177" y="4254409"/>
              <a:ext cx="2007235" cy="580390"/>
            </a:xfrm>
            <a:custGeom>
              <a:avLst/>
              <a:gdLst/>
              <a:ahLst/>
              <a:cxnLst/>
              <a:rect l="l" t="t" r="r" b="b"/>
              <a:pathLst>
                <a:path w="2007234" h="580389">
                  <a:moveTo>
                    <a:pt x="0" y="290591"/>
                  </a:moveTo>
                  <a:lnTo>
                    <a:pt x="2007078" y="291566"/>
                  </a:lnTo>
                </a:path>
                <a:path w="2007234" h="580389">
                  <a:moveTo>
                    <a:pt x="532490" y="0"/>
                  </a:moveTo>
                  <a:lnTo>
                    <a:pt x="533465" y="580208"/>
                  </a:lnTo>
                </a:path>
                <a:path w="2007234" h="580389">
                  <a:moveTo>
                    <a:pt x="1269784" y="0"/>
                  </a:moveTo>
                  <a:lnTo>
                    <a:pt x="1270759" y="580208"/>
                  </a:lnTo>
                </a:path>
              </a:pathLst>
            </a:custGeom>
            <a:ln w="14627">
              <a:solidFill>
                <a:srgbClr val="000000"/>
              </a:solidFill>
            </a:ln>
          </p:spPr>
          <p:txBody>
            <a:bodyPr wrap="square" lIns="0" tIns="0" rIns="0" bIns="0" rtlCol="0"/>
            <a:lstStyle/>
            <a:p/>
          </p:txBody>
        </p:sp>
        <p:sp>
          <p:nvSpPr>
            <p:cNvPr id="36" name="object 36" descr=""/>
            <p:cNvSpPr/>
            <p:nvPr/>
          </p:nvSpPr>
          <p:spPr>
            <a:xfrm>
              <a:off x="7042196" y="2077876"/>
              <a:ext cx="655955" cy="907415"/>
            </a:xfrm>
            <a:custGeom>
              <a:avLst/>
              <a:gdLst/>
              <a:ahLst/>
              <a:cxnLst/>
              <a:rect l="l" t="t" r="r" b="b"/>
              <a:pathLst>
                <a:path w="655954" h="907414">
                  <a:moveTo>
                    <a:pt x="655372" y="0"/>
                  </a:moveTo>
                  <a:lnTo>
                    <a:pt x="0" y="0"/>
                  </a:lnTo>
                  <a:lnTo>
                    <a:pt x="0" y="906880"/>
                  </a:lnTo>
                  <a:lnTo>
                    <a:pt x="655372" y="906880"/>
                  </a:lnTo>
                  <a:lnTo>
                    <a:pt x="655372" y="0"/>
                  </a:lnTo>
                  <a:close/>
                </a:path>
              </a:pathLst>
            </a:custGeom>
            <a:solidFill>
              <a:srgbClr val="FFFF99"/>
            </a:solidFill>
          </p:spPr>
          <p:txBody>
            <a:bodyPr wrap="square" lIns="0" tIns="0" rIns="0" bIns="0" rtlCol="0"/>
            <a:lstStyle/>
            <a:p/>
          </p:txBody>
        </p:sp>
        <p:sp>
          <p:nvSpPr>
            <p:cNvPr id="37" name="object 37" descr=""/>
            <p:cNvSpPr/>
            <p:nvPr/>
          </p:nvSpPr>
          <p:spPr>
            <a:xfrm>
              <a:off x="7042196" y="2077876"/>
              <a:ext cx="655955" cy="907415"/>
            </a:xfrm>
            <a:custGeom>
              <a:avLst/>
              <a:gdLst/>
              <a:ahLst/>
              <a:cxnLst/>
              <a:rect l="l" t="t" r="r" b="b"/>
              <a:pathLst>
                <a:path w="655954" h="907414">
                  <a:moveTo>
                    <a:pt x="0" y="906880"/>
                  </a:moveTo>
                  <a:lnTo>
                    <a:pt x="655372" y="906880"/>
                  </a:lnTo>
                  <a:lnTo>
                    <a:pt x="655372" y="0"/>
                  </a:lnTo>
                  <a:lnTo>
                    <a:pt x="0" y="0"/>
                  </a:lnTo>
                  <a:lnTo>
                    <a:pt x="0" y="906880"/>
                  </a:lnTo>
                  <a:close/>
                </a:path>
              </a:pathLst>
            </a:custGeom>
            <a:ln w="14628">
              <a:solidFill>
                <a:srgbClr val="000000"/>
              </a:solidFill>
            </a:ln>
          </p:spPr>
          <p:txBody>
            <a:bodyPr wrap="square" lIns="0" tIns="0" rIns="0" bIns="0" rtlCol="0"/>
            <a:lstStyle/>
            <a:p/>
          </p:txBody>
        </p:sp>
        <p:sp>
          <p:nvSpPr>
            <p:cNvPr id="38" name="object 38" descr=""/>
            <p:cNvSpPr/>
            <p:nvPr/>
          </p:nvSpPr>
          <p:spPr>
            <a:xfrm>
              <a:off x="7042188" y="2297772"/>
              <a:ext cx="655955" cy="468630"/>
            </a:xfrm>
            <a:custGeom>
              <a:avLst/>
              <a:gdLst/>
              <a:ahLst/>
              <a:cxnLst/>
              <a:rect l="l" t="t" r="r" b="b"/>
              <a:pathLst>
                <a:path w="655954" h="468630">
                  <a:moveTo>
                    <a:pt x="655370" y="453440"/>
                  </a:moveTo>
                  <a:lnTo>
                    <a:pt x="0" y="453440"/>
                  </a:lnTo>
                  <a:lnTo>
                    <a:pt x="0" y="468071"/>
                  </a:lnTo>
                  <a:lnTo>
                    <a:pt x="655370" y="468071"/>
                  </a:lnTo>
                  <a:lnTo>
                    <a:pt x="655370" y="453440"/>
                  </a:lnTo>
                  <a:close/>
                </a:path>
                <a:path w="655954" h="468630">
                  <a:moveTo>
                    <a:pt x="655370" y="226237"/>
                  </a:moveTo>
                  <a:lnTo>
                    <a:pt x="0" y="226237"/>
                  </a:lnTo>
                  <a:lnTo>
                    <a:pt x="0" y="240868"/>
                  </a:lnTo>
                  <a:lnTo>
                    <a:pt x="655370" y="240868"/>
                  </a:lnTo>
                  <a:lnTo>
                    <a:pt x="655370" y="226237"/>
                  </a:lnTo>
                  <a:close/>
                </a:path>
                <a:path w="655954" h="468630">
                  <a:moveTo>
                    <a:pt x="655370" y="0"/>
                  </a:moveTo>
                  <a:lnTo>
                    <a:pt x="0" y="0"/>
                  </a:lnTo>
                  <a:lnTo>
                    <a:pt x="0" y="14630"/>
                  </a:lnTo>
                  <a:lnTo>
                    <a:pt x="655370" y="14630"/>
                  </a:lnTo>
                  <a:lnTo>
                    <a:pt x="655370" y="0"/>
                  </a:lnTo>
                  <a:close/>
                </a:path>
              </a:pathLst>
            </a:custGeom>
            <a:solidFill>
              <a:srgbClr val="000000"/>
            </a:solidFill>
          </p:spPr>
          <p:txBody>
            <a:bodyPr wrap="square" lIns="0" tIns="0" rIns="0" bIns="0" rtlCol="0"/>
            <a:lstStyle/>
            <a:p/>
          </p:txBody>
        </p:sp>
        <p:sp>
          <p:nvSpPr>
            <p:cNvPr id="39" name="object 39" descr=""/>
            <p:cNvSpPr/>
            <p:nvPr/>
          </p:nvSpPr>
          <p:spPr>
            <a:xfrm>
              <a:off x="3765334" y="3891637"/>
              <a:ext cx="5652770" cy="0"/>
            </a:xfrm>
            <a:custGeom>
              <a:avLst/>
              <a:gdLst/>
              <a:ahLst/>
              <a:cxnLst/>
              <a:rect l="l" t="t" r="r" b="b"/>
              <a:pathLst>
                <a:path w="5652770" h="0">
                  <a:moveTo>
                    <a:pt x="0" y="0"/>
                  </a:moveTo>
                  <a:lnTo>
                    <a:pt x="5652587" y="0"/>
                  </a:lnTo>
                </a:path>
              </a:pathLst>
            </a:custGeom>
            <a:ln w="14627">
              <a:solidFill>
                <a:srgbClr val="000000"/>
              </a:solidFill>
            </a:ln>
          </p:spPr>
          <p:txBody>
            <a:bodyPr wrap="square" lIns="0" tIns="0" rIns="0" bIns="0" rtlCol="0"/>
            <a:lstStyle/>
            <a:p/>
          </p:txBody>
        </p:sp>
      </p:grpSp>
      <p:sp>
        <p:nvSpPr>
          <p:cNvPr id="40" name="object 40" descr=""/>
          <p:cNvSpPr txBox="1"/>
          <p:nvPr/>
        </p:nvSpPr>
        <p:spPr>
          <a:xfrm>
            <a:off x="3567023" y="1449277"/>
            <a:ext cx="1083310" cy="236220"/>
          </a:xfrm>
          <a:prstGeom prst="rect">
            <a:avLst/>
          </a:prstGeom>
        </p:spPr>
        <p:txBody>
          <a:bodyPr wrap="square" lIns="0" tIns="16510" rIns="0" bIns="0" rtlCol="0" vert="horz">
            <a:spAutoFit/>
          </a:bodyPr>
          <a:lstStyle/>
          <a:p>
            <a:pPr marL="12700">
              <a:lnSpc>
                <a:spcPct val="100000"/>
              </a:lnSpc>
              <a:spcBef>
                <a:spcPts val="130"/>
              </a:spcBef>
            </a:pPr>
            <a:r>
              <a:rPr dirty="0" sz="1350" spc="-10" b="1">
                <a:latin typeface="宋体"/>
                <a:cs typeface="宋体"/>
              </a:rPr>
              <a:t>从指令部件来</a:t>
            </a:r>
            <a:endParaRPr sz="1350">
              <a:latin typeface="宋体"/>
              <a:cs typeface="宋体"/>
            </a:endParaRPr>
          </a:p>
        </p:txBody>
      </p:sp>
      <p:sp>
        <p:nvSpPr>
          <p:cNvPr id="41" name="object 41" descr=""/>
          <p:cNvSpPr txBox="1"/>
          <p:nvPr/>
        </p:nvSpPr>
        <p:spPr>
          <a:xfrm>
            <a:off x="6665747" y="5370944"/>
            <a:ext cx="1311275" cy="302895"/>
          </a:xfrm>
          <a:prstGeom prst="rect">
            <a:avLst/>
          </a:prstGeom>
          <a:solidFill>
            <a:srgbClr val="CC99FF"/>
          </a:solidFill>
          <a:ln w="14627">
            <a:solidFill>
              <a:srgbClr val="000000"/>
            </a:solidFill>
          </a:ln>
        </p:spPr>
        <p:txBody>
          <a:bodyPr wrap="square" lIns="0" tIns="39370" rIns="0" bIns="0" rtlCol="0" vert="horz">
            <a:spAutoFit/>
          </a:bodyPr>
          <a:lstStyle/>
          <a:p>
            <a:pPr marL="131445">
              <a:lnSpc>
                <a:spcPct val="100000"/>
              </a:lnSpc>
              <a:spcBef>
                <a:spcPts val="310"/>
              </a:spcBef>
            </a:pPr>
            <a:r>
              <a:rPr dirty="0" sz="1350" spc="-30" b="1">
                <a:latin typeface="宋体"/>
                <a:cs typeface="宋体"/>
              </a:rPr>
              <a:t>浮点乘法器 </a:t>
            </a:r>
            <a:r>
              <a:rPr dirty="0" sz="1350" spc="-50" b="1">
                <a:latin typeface="Times New Roman"/>
                <a:cs typeface="Times New Roman"/>
              </a:rPr>
              <a:t>M</a:t>
            </a:r>
            <a:endParaRPr sz="1350">
              <a:latin typeface="Times New Roman"/>
              <a:cs typeface="Times New Roman"/>
            </a:endParaRPr>
          </a:p>
        </p:txBody>
      </p:sp>
      <p:sp>
        <p:nvSpPr>
          <p:cNvPr id="42" name="object 42" descr=""/>
          <p:cNvSpPr/>
          <p:nvPr/>
        </p:nvSpPr>
        <p:spPr>
          <a:xfrm>
            <a:off x="4094970" y="1715124"/>
            <a:ext cx="78105" cy="302895"/>
          </a:xfrm>
          <a:custGeom>
            <a:avLst/>
            <a:gdLst/>
            <a:ahLst/>
            <a:cxnLst/>
            <a:rect l="l" t="t" r="r" b="b"/>
            <a:pathLst>
              <a:path w="78104" h="302894">
                <a:moveTo>
                  <a:pt x="0" y="185276"/>
                </a:moveTo>
                <a:lnTo>
                  <a:pt x="39010" y="302293"/>
                </a:lnTo>
                <a:lnTo>
                  <a:pt x="65017" y="224282"/>
                </a:lnTo>
                <a:lnTo>
                  <a:pt x="29257" y="224282"/>
                </a:lnTo>
                <a:lnTo>
                  <a:pt x="29257" y="214530"/>
                </a:lnTo>
                <a:lnTo>
                  <a:pt x="0" y="185276"/>
                </a:lnTo>
                <a:close/>
              </a:path>
              <a:path w="78104" h="302894">
                <a:moveTo>
                  <a:pt x="29257" y="214530"/>
                </a:moveTo>
                <a:lnTo>
                  <a:pt x="29257" y="224282"/>
                </a:lnTo>
                <a:lnTo>
                  <a:pt x="39010" y="224282"/>
                </a:lnTo>
                <a:lnTo>
                  <a:pt x="29257" y="214530"/>
                </a:lnTo>
                <a:close/>
              </a:path>
              <a:path w="78104" h="302894">
                <a:moveTo>
                  <a:pt x="48762" y="0"/>
                </a:moveTo>
                <a:lnTo>
                  <a:pt x="29257" y="0"/>
                </a:lnTo>
                <a:lnTo>
                  <a:pt x="29257" y="214530"/>
                </a:lnTo>
                <a:lnTo>
                  <a:pt x="39010" y="224282"/>
                </a:lnTo>
                <a:lnTo>
                  <a:pt x="48762" y="214530"/>
                </a:lnTo>
                <a:lnTo>
                  <a:pt x="48762" y="0"/>
                </a:lnTo>
                <a:close/>
              </a:path>
              <a:path w="78104" h="302894">
                <a:moveTo>
                  <a:pt x="48762" y="214530"/>
                </a:moveTo>
                <a:lnTo>
                  <a:pt x="39010" y="224282"/>
                </a:lnTo>
                <a:lnTo>
                  <a:pt x="48762" y="224282"/>
                </a:lnTo>
                <a:lnTo>
                  <a:pt x="48762" y="214530"/>
                </a:lnTo>
                <a:close/>
              </a:path>
              <a:path w="78104" h="302894">
                <a:moveTo>
                  <a:pt x="78020" y="185276"/>
                </a:moveTo>
                <a:lnTo>
                  <a:pt x="48762" y="214530"/>
                </a:lnTo>
                <a:lnTo>
                  <a:pt x="48762" y="224282"/>
                </a:lnTo>
                <a:lnTo>
                  <a:pt x="65017" y="224282"/>
                </a:lnTo>
                <a:lnTo>
                  <a:pt x="78020" y="185276"/>
                </a:lnTo>
                <a:close/>
              </a:path>
            </a:pathLst>
          </a:custGeom>
          <a:solidFill>
            <a:srgbClr val="000000"/>
          </a:solidFill>
        </p:spPr>
        <p:txBody>
          <a:bodyPr wrap="square" lIns="0" tIns="0" rIns="0" bIns="0" rtlCol="0"/>
          <a:lstStyle/>
          <a:p/>
        </p:txBody>
      </p:sp>
      <p:sp>
        <p:nvSpPr>
          <p:cNvPr id="43" name="object 43" descr=""/>
          <p:cNvSpPr txBox="1"/>
          <p:nvPr/>
        </p:nvSpPr>
        <p:spPr>
          <a:xfrm>
            <a:off x="3249694" y="2110227"/>
            <a:ext cx="201295" cy="755650"/>
          </a:xfrm>
          <a:prstGeom prst="rect">
            <a:avLst/>
          </a:prstGeom>
        </p:spPr>
        <p:txBody>
          <a:bodyPr wrap="square" lIns="0" tIns="50165" rIns="0" bIns="0" rtlCol="0" vert="horz">
            <a:spAutoFit/>
          </a:bodyPr>
          <a:lstStyle/>
          <a:p>
            <a:pPr algn="just" marL="12700" marR="5080">
              <a:lnSpc>
                <a:spcPts val="1360"/>
              </a:lnSpc>
              <a:spcBef>
                <a:spcPts val="395"/>
              </a:spcBef>
            </a:pPr>
            <a:r>
              <a:rPr dirty="0" sz="1350" spc="-50" b="1">
                <a:latin typeface="宋体"/>
                <a:cs typeface="宋体"/>
              </a:rPr>
              <a:t>指令队列</a:t>
            </a:r>
            <a:endParaRPr sz="1350">
              <a:latin typeface="宋体"/>
              <a:cs typeface="宋体"/>
            </a:endParaRPr>
          </a:p>
        </p:txBody>
      </p:sp>
      <p:sp>
        <p:nvSpPr>
          <p:cNvPr id="44" name="object 44" descr=""/>
          <p:cNvSpPr txBox="1"/>
          <p:nvPr/>
        </p:nvSpPr>
        <p:spPr>
          <a:xfrm>
            <a:off x="4796353" y="5719001"/>
            <a:ext cx="1807210" cy="236220"/>
          </a:xfrm>
          <a:prstGeom prst="rect">
            <a:avLst/>
          </a:prstGeom>
        </p:spPr>
        <p:txBody>
          <a:bodyPr wrap="square" lIns="0" tIns="16510" rIns="0" bIns="0" rtlCol="0" vert="horz">
            <a:spAutoFit/>
          </a:bodyPr>
          <a:lstStyle/>
          <a:p>
            <a:pPr marL="12700">
              <a:lnSpc>
                <a:spcPct val="100000"/>
              </a:lnSpc>
              <a:spcBef>
                <a:spcPts val="130"/>
              </a:spcBef>
            </a:pPr>
            <a:r>
              <a:rPr dirty="0" sz="1350" b="1">
                <a:solidFill>
                  <a:srgbClr val="0000FF"/>
                </a:solidFill>
                <a:latin typeface="宋体"/>
                <a:cs typeface="宋体"/>
              </a:rPr>
              <a:t>公共数据总线</a:t>
            </a:r>
            <a:r>
              <a:rPr dirty="0" sz="1350" spc="-20" b="1">
                <a:solidFill>
                  <a:srgbClr val="0000FF"/>
                </a:solidFill>
                <a:latin typeface="宋体"/>
                <a:cs typeface="宋体"/>
              </a:rPr>
              <a:t>（</a:t>
            </a:r>
            <a:r>
              <a:rPr dirty="0" sz="1350" spc="-20" b="1">
                <a:solidFill>
                  <a:srgbClr val="0000FF"/>
                </a:solidFill>
                <a:latin typeface="Times New Roman"/>
                <a:cs typeface="Times New Roman"/>
              </a:rPr>
              <a:t>CDB</a:t>
            </a:r>
            <a:r>
              <a:rPr dirty="0" sz="1350" spc="-20" b="1">
                <a:solidFill>
                  <a:srgbClr val="0000FF"/>
                </a:solidFill>
                <a:latin typeface="宋体"/>
                <a:cs typeface="宋体"/>
              </a:rPr>
              <a:t>）</a:t>
            </a:r>
            <a:endParaRPr sz="1350">
              <a:latin typeface="宋体"/>
              <a:cs typeface="宋体"/>
            </a:endParaRPr>
          </a:p>
        </p:txBody>
      </p:sp>
      <p:sp>
        <p:nvSpPr>
          <p:cNvPr id="45" name="object 45" descr=""/>
          <p:cNvSpPr txBox="1"/>
          <p:nvPr/>
        </p:nvSpPr>
        <p:spPr>
          <a:xfrm>
            <a:off x="2551722" y="4187081"/>
            <a:ext cx="201295" cy="582930"/>
          </a:xfrm>
          <a:prstGeom prst="rect">
            <a:avLst/>
          </a:prstGeom>
        </p:spPr>
        <p:txBody>
          <a:bodyPr wrap="square" lIns="0" tIns="50165" rIns="0" bIns="0" rtlCol="0" vert="horz">
            <a:spAutoFit/>
          </a:bodyPr>
          <a:lstStyle/>
          <a:p>
            <a:pPr algn="just" marL="12700" marR="5080">
              <a:lnSpc>
                <a:spcPts val="1360"/>
              </a:lnSpc>
              <a:spcBef>
                <a:spcPts val="395"/>
              </a:spcBef>
            </a:pPr>
            <a:r>
              <a:rPr dirty="0" sz="1350" spc="-50" b="1">
                <a:latin typeface="宋体"/>
                <a:cs typeface="宋体"/>
              </a:rPr>
              <a:t>保留站</a:t>
            </a:r>
            <a:endParaRPr sz="1350">
              <a:latin typeface="宋体"/>
              <a:cs typeface="宋体"/>
            </a:endParaRPr>
          </a:p>
        </p:txBody>
      </p:sp>
      <p:sp>
        <p:nvSpPr>
          <p:cNvPr id="46" name="object 46" descr=""/>
          <p:cNvSpPr txBox="1"/>
          <p:nvPr/>
        </p:nvSpPr>
        <p:spPr>
          <a:xfrm>
            <a:off x="4918066" y="4172044"/>
            <a:ext cx="492125" cy="236220"/>
          </a:xfrm>
          <a:prstGeom prst="rect">
            <a:avLst/>
          </a:prstGeom>
        </p:spPr>
        <p:txBody>
          <a:bodyPr wrap="square" lIns="0" tIns="16510" rIns="0" bIns="0" rtlCol="0" vert="horz">
            <a:spAutoFit/>
          </a:bodyPr>
          <a:lstStyle/>
          <a:p>
            <a:pPr marL="12700">
              <a:lnSpc>
                <a:spcPct val="100000"/>
              </a:lnSpc>
              <a:spcBef>
                <a:spcPts val="130"/>
              </a:spcBef>
            </a:pPr>
            <a:r>
              <a:rPr dirty="0" sz="1350" spc="-20">
                <a:latin typeface="Times New Roman"/>
                <a:cs typeface="Times New Roman"/>
              </a:rPr>
              <a:t>ADD3</a:t>
            </a:r>
            <a:endParaRPr sz="1350">
              <a:latin typeface="Times New Roman"/>
              <a:cs typeface="Times New Roman"/>
            </a:endParaRPr>
          </a:p>
        </p:txBody>
      </p:sp>
      <p:sp>
        <p:nvSpPr>
          <p:cNvPr id="47" name="object 47" descr=""/>
          <p:cNvSpPr txBox="1"/>
          <p:nvPr/>
        </p:nvSpPr>
        <p:spPr>
          <a:xfrm>
            <a:off x="4918066" y="4715003"/>
            <a:ext cx="492125" cy="236220"/>
          </a:xfrm>
          <a:prstGeom prst="rect">
            <a:avLst/>
          </a:prstGeom>
        </p:spPr>
        <p:txBody>
          <a:bodyPr wrap="square" lIns="0" tIns="16510" rIns="0" bIns="0" rtlCol="0" vert="horz">
            <a:spAutoFit/>
          </a:bodyPr>
          <a:lstStyle/>
          <a:p>
            <a:pPr marL="12700">
              <a:lnSpc>
                <a:spcPct val="100000"/>
              </a:lnSpc>
              <a:spcBef>
                <a:spcPts val="130"/>
              </a:spcBef>
            </a:pPr>
            <a:r>
              <a:rPr dirty="0" sz="1350" spc="-20">
                <a:latin typeface="Times New Roman"/>
                <a:cs typeface="Times New Roman"/>
              </a:rPr>
              <a:t>ADD1</a:t>
            </a:r>
            <a:endParaRPr sz="1350">
              <a:latin typeface="Times New Roman"/>
              <a:cs typeface="Times New Roman"/>
            </a:endParaRPr>
          </a:p>
        </p:txBody>
      </p:sp>
      <p:sp>
        <p:nvSpPr>
          <p:cNvPr id="48" name="object 48" descr=""/>
          <p:cNvSpPr txBox="1"/>
          <p:nvPr/>
        </p:nvSpPr>
        <p:spPr>
          <a:xfrm>
            <a:off x="8081603" y="4200129"/>
            <a:ext cx="594995" cy="629285"/>
          </a:xfrm>
          <a:prstGeom prst="rect">
            <a:avLst/>
          </a:prstGeom>
        </p:spPr>
        <p:txBody>
          <a:bodyPr wrap="square" lIns="0" tIns="12065" rIns="0" bIns="0" rtlCol="0" vert="horz">
            <a:spAutoFit/>
          </a:bodyPr>
          <a:lstStyle/>
          <a:p>
            <a:pPr marL="12700" marR="5080">
              <a:lnSpc>
                <a:spcPct val="146700"/>
              </a:lnSpc>
              <a:spcBef>
                <a:spcPts val="95"/>
              </a:spcBef>
            </a:pPr>
            <a:r>
              <a:rPr dirty="0" sz="1350" spc="-20">
                <a:latin typeface="Times New Roman"/>
                <a:cs typeface="Times New Roman"/>
              </a:rPr>
              <a:t>MULT2 MULT1</a:t>
            </a:r>
            <a:endParaRPr sz="1350">
              <a:latin typeface="Times New Roman"/>
              <a:cs typeface="Times New Roman"/>
            </a:endParaRPr>
          </a:p>
        </p:txBody>
      </p:sp>
      <p:sp>
        <p:nvSpPr>
          <p:cNvPr id="49" name="object 49" descr=""/>
          <p:cNvSpPr txBox="1"/>
          <p:nvPr/>
        </p:nvSpPr>
        <p:spPr>
          <a:xfrm>
            <a:off x="4918066" y="4264312"/>
            <a:ext cx="991235" cy="582930"/>
          </a:xfrm>
          <a:prstGeom prst="rect">
            <a:avLst/>
          </a:prstGeom>
        </p:spPr>
        <p:txBody>
          <a:bodyPr wrap="square" lIns="0" tIns="16510" rIns="0" bIns="0" rtlCol="0" vert="horz">
            <a:spAutoFit/>
          </a:bodyPr>
          <a:lstStyle/>
          <a:p>
            <a:pPr marL="802640">
              <a:lnSpc>
                <a:spcPts val="1490"/>
              </a:lnSpc>
              <a:spcBef>
                <a:spcPts val="130"/>
              </a:spcBef>
            </a:pPr>
            <a:r>
              <a:rPr dirty="0" sz="1350" spc="-50" b="1">
                <a:latin typeface="宋体"/>
                <a:cs typeface="宋体"/>
              </a:rPr>
              <a:t>保</a:t>
            </a:r>
            <a:endParaRPr sz="1350">
              <a:latin typeface="宋体"/>
              <a:cs typeface="宋体"/>
            </a:endParaRPr>
          </a:p>
          <a:p>
            <a:pPr marL="12700">
              <a:lnSpc>
                <a:spcPts val="1365"/>
              </a:lnSpc>
              <a:tabLst>
                <a:tab pos="802640" algn="l"/>
              </a:tabLst>
            </a:pPr>
            <a:r>
              <a:rPr dirty="0" sz="1350" spc="-20">
                <a:latin typeface="Times New Roman"/>
                <a:cs typeface="Times New Roman"/>
              </a:rPr>
              <a:t>ADD2</a:t>
            </a:r>
            <a:r>
              <a:rPr dirty="0" sz="1350">
                <a:latin typeface="Times New Roman"/>
                <a:cs typeface="Times New Roman"/>
              </a:rPr>
              <a:t>	</a:t>
            </a:r>
            <a:r>
              <a:rPr dirty="0" sz="1350" spc="-50" b="1">
                <a:latin typeface="宋体"/>
                <a:cs typeface="宋体"/>
              </a:rPr>
              <a:t>留</a:t>
            </a:r>
            <a:endParaRPr sz="1350">
              <a:latin typeface="宋体"/>
              <a:cs typeface="宋体"/>
            </a:endParaRPr>
          </a:p>
          <a:p>
            <a:pPr marL="802640">
              <a:lnSpc>
                <a:spcPts val="1490"/>
              </a:lnSpc>
            </a:pPr>
            <a:r>
              <a:rPr dirty="0" sz="1350" spc="-50" b="1">
                <a:latin typeface="宋体"/>
                <a:cs typeface="宋体"/>
              </a:rPr>
              <a:t>站</a:t>
            </a:r>
            <a:endParaRPr sz="1350">
              <a:latin typeface="宋体"/>
              <a:cs typeface="宋体"/>
            </a:endParaRPr>
          </a:p>
        </p:txBody>
      </p:sp>
      <p:sp>
        <p:nvSpPr>
          <p:cNvPr id="50" name="object 50" descr=""/>
          <p:cNvSpPr txBox="1"/>
          <p:nvPr/>
        </p:nvSpPr>
        <p:spPr>
          <a:xfrm>
            <a:off x="5380532" y="2049379"/>
            <a:ext cx="201295" cy="929005"/>
          </a:xfrm>
          <a:prstGeom prst="rect">
            <a:avLst/>
          </a:prstGeom>
        </p:spPr>
        <p:txBody>
          <a:bodyPr wrap="square" lIns="0" tIns="50165" rIns="0" bIns="0" rtlCol="0" vert="horz">
            <a:spAutoFit/>
          </a:bodyPr>
          <a:lstStyle/>
          <a:p>
            <a:pPr algn="just" marL="12700" marR="5080">
              <a:lnSpc>
                <a:spcPts val="1360"/>
              </a:lnSpc>
              <a:spcBef>
                <a:spcPts val="395"/>
              </a:spcBef>
            </a:pPr>
            <a:r>
              <a:rPr dirty="0" sz="1350" spc="-50" b="1">
                <a:latin typeface="宋体"/>
                <a:cs typeface="宋体"/>
              </a:rPr>
              <a:t>浮点寄存器</a:t>
            </a:r>
            <a:endParaRPr sz="1350">
              <a:latin typeface="宋体"/>
              <a:cs typeface="宋体"/>
            </a:endParaRPr>
          </a:p>
        </p:txBody>
      </p:sp>
      <p:sp>
        <p:nvSpPr>
          <p:cNvPr id="51" name="object 51" descr=""/>
          <p:cNvSpPr txBox="1"/>
          <p:nvPr/>
        </p:nvSpPr>
        <p:spPr>
          <a:xfrm>
            <a:off x="7266678" y="1821391"/>
            <a:ext cx="184785" cy="236220"/>
          </a:xfrm>
          <a:prstGeom prst="rect">
            <a:avLst/>
          </a:prstGeom>
        </p:spPr>
        <p:txBody>
          <a:bodyPr wrap="square" lIns="0" tIns="16510" rIns="0" bIns="0" rtlCol="0" vert="horz">
            <a:spAutoFit/>
          </a:bodyPr>
          <a:lstStyle/>
          <a:p>
            <a:pPr marL="12700">
              <a:lnSpc>
                <a:spcPct val="100000"/>
              </a:lnSpc>
              <a:spcBef>
                <a:spcPts val="130"/>
              </a:spcBef>
            </a:pPr>
            <a:r>
              <a:rPr dirty="0" baseline="2057" sz="2025" spc="-37">
                <a:latin typeface="Times New Roman"/>
                <a:cs typeface="Times New Roman"/>
              </a:rPr>
              <a:t>Q</a:t>
            </a:r>
            <a:r>
              <a:rPr dirty="0" sz="900" spc="-25">
                <a:latin typeface="Times New Roman"/>
                <a:cs typeface="Times New Roman"/>
              </a:rPr>
              <a:t>i</a:t>
            </a:r>
            <a:endParaRPr sz="900">
              <a:latin typeface="Times New Roman"/>
              <a:cs typeface="Times New Roman"/>
            </a:endParaRPr>
          </a:p>
        </p:txBody>
      </p:sp>
      <p:sp>
        <p:nvSpPr>
          <p:cNvPr id="52" name="object 52" descr=""/>
          <p:cNvSpPr/>
          <p:nvPr/>
        </p:nvSpPr>
        <p:spPr>
          <a:xfrm>
            <a:off x="4093020" y="6007705"/>
            <a:ext cx="4309745" cy="0"/>
          </a:xfrm>
          <a:custGeom>
            <a:avLst/>
            <a:gdLst/>
            <a:ahLst/>
            <a:cxnLst/>
            <a:rect l="l" t="t" r="r" b="b"/>
            <a:pathLst>
              <a:path w="4309745" h="0">
                <a:moveTo>
                  <a:pt x="0" y="0"/>
                </a:moveTo>
                <a:lnTo>
                  <a:pt x="4309680" y="0"/>
                </a:lnTo>
              </a:path>
            </a:pathLst>
          </a:custGeom>
          <a:ln w="14627">
            <a:solidFill>
              <a:srgbClr val="000000"/>
            </a:solidFill>
          </a:ln>
        </p:spPr>
        <p:txBody>
          <a:bodyPr wrap="square" lIns="0" tIns="0" rIns="0" bIns="0" rtlCol="0"/>
          <a:lstStyle/>
          <a:p/>
        </p:txBody>
      </p:sp>
      <p:grpSp>
        <p:nvGrpSpPr>
          <p:cNvPr id="53" name="object 53" descr=""/>
          <p:cNvGrpSpPr/>
          <p:nvPr/>
        </p:nvGrpSpPr>
        <p:grpSpPr>
          <a:xfrm>
            <a:off x="4425114" y="1707504"/>
            <a:ext cx="5000625" cy="3314065"/>
            <a:chOff x="4425114" y="1707504"/>
            <a:chExt cx="5000625" cy="3314065"/>
          </a:xfrm>
        </p:grpSpPr>
        <p:sp>
          <p:nvSpPr>
            <p:cNvPr id="54" name="object 54" descr=""/>
            <p:cNvSpPr/>
            <p:nvPr/>
          </p:nvSpPr>
          <p:spPr>
            <a:xfrm>
              <a:off x="9417921" y="1715124"/>
              <a:ext cx="0" cy="3298825"/>
            </a:xfrm>
            <a:custGeom>
              <a:avLst/>
              <a:gdLst/>
              <a:ahLst/>
              <a:cxnLst/>
              <a:rect l="l" t="t" r="r" b="b"/>
              <a:pathLst>
                <a:path w="0" h="3298825">
                  <a:moveTo>
                    <a:pt x="0" y="0"/>
                  </a:moveTo>
                  <a:lnTo>
                    <a:pt x="0" y="3298200"/>
                  </a:lnTo>
                </a:path>
              </a:pathLst>
            </a:custGeom>
            <a:ln w="14629">
              <a:solidFill>
                <a:srgbClr val="000000"/>
              </a:solidFill>
            </a:ln>
          </p:spPr>
          <p:txBody>
            <a:bodyPr wrap="square" lIns="0" tIns="0" rIns="0" bIns="0" rtlCol="0"/>
            <a:lstStyle/>
            <a:p/>
          </p:txBody>
        </p:sp>
        <p:sp>
          <p:nvSpPr>
            <p:cNvPr id="55" name="object 55" descr=""/>
            <p:cNvSpPr/>
            <p:nvPr/>
          </p:nvSpPr>
          <p:spPr>
            <a:xfrm>
              <a:off x="4425111" y="3407968"/>
              <a:ext cx="2473325" cy="725805"/>
            </a:xfrm>
            <a:custGeom>
              <a:avLst/>
              <a:gdLst/>
              <a:ahLst/>
              <a:cxnLst/>
              <a:rect l="l" t="t" r="r" b="b"/>
              <a:pathLst>
                <a:path w="2473325" h="725804">
                  <a:moveTo>
                    <a:pt x="78092" y="608291"/>
                  </a:moveTo>
                  <a:lnTo>
                    <a:pt x="48793" y="637781"/>
                  </a:lnTo>
                  <a:lnTo>
                    <a:pt x="39090" y="647496"/>
                  </a:lnTo>
                  <a:lnTo>
                    <a:pt x="48755" y="637781"/>
                  </a:lnTo>
                  <a:lnTo>
                    <a:pt x="48679" y="608291"/>
                  </a:lnTo>
                  <a:lnTo>
                    <a:pt x="46304" y="0"/>
                  </a:lnTo>
                  <a:lnTo>
                    <a:pt x="26797" y="0"/>
                  </a:lnTo>
                  <a:lnTo>
                    <a:pt x="29184" y="608291"/>
                  </a:lnTo>
                  <a:lnTo>
                    <a:pt x="29298" y="637781"/>
                  </a:lnTo>
                  <a:lnTo>
                    <a:pt x="0" y="608685"/>
                  </a:lnTo>
                  <a:lnTo>
                    <a:pt x="39471" y="725525"/>
                  </a:lnTo>
                  <a:lnTo>
                    <a:pt x="65176" y="647496"/>
                  </a:lnTo>
                  <a:lnTo>
                    <a:pt x="78092" y="608291"/>
                  </a:lnTo>
                  <a:close/>
                </a:path>
                <a:path w="2473325" h="725804">
                  <a:moveTo>
                    <a:pt x="2472740" y="29845"/>
                  </a:moveTo>
                  <a:lnTo>
                    <a:pt x="2470988" y="18186"/>
                  </a:lnTo>
                  <a:lnTo>
                    <a:pt x="2466200" y="8712"/>
                  </a:lnTo>
                  <a:lnTo>
                    <a:pt x="2459075" y="2336"/>
                  </a:lnTo>
                  <a:lnTo>
                    <a:pt x="2450312" y="0"/>
                  </a:lnTo>
                  <a:lnTo>
                    <a:pt x="2441537" y="2336"/>
                  </a:lnTo>
                  <a:lnTo>
                    <a:pt x="2434412" y="8712"/>
                  </a:lnTo>
                  <a:lnTo>
                    <a:pt x="2429624" y="18186"/>
                  </a:lnTo>
                  <a:lnTo>
                    <a:pt x="2427884" y="29845"/>
                  </a:lnTo>
                  <a:lnTo>
                    <a:pt x="2429624" y="41389"/>
                  </a:lnTo>
                  <a:lnTo>
                    <a:pt x="2434412" y="50812"/>
                  </a:lnTo>
                  <a:lnTo>
                    <a:pt x="2441537" y="57162"/>
                  </a:lnTo>
                  <a:lnTo>
                    <a:pt x="2450312" y="59486"/>
                  </a:lnTo>
                  <a:lnTo>
                    <a:pt x="2459075" y="57162"/>
                  </a:lnTo>
                  <a:lnTo>
                    <a:pt x="2466200" y="50812"/>
                  </a:lnTo>
                  <a:lnTo>
                    <a:pt x="2470988" y="41389"/>
                  </a:lnTo>
                  <a:lnTo>
                    <a:pt x="2472740" y="29845"/>
                  </a:lnTo>
                  <a:close/>
                </a:path>
              </a:pathLst>
            </a:custGeom>
            <a:solidFill>
              <a:srgbClr val="000000"/>
            </a:solidFill>
          </p:spPr>
          <p:txBody>
            <a:bodyPr wrap="square" lIns="0" tIns="0" rIns="0" bIns="0" rtlCol="0"/>
            <a:lstStyle/>
            <a:p/>
          </p:txBody>
        </p:sp>
        <p:sp>
          <p:nvSpPr>
            <p:cNvPr id="56" name="object 56" descr=""/>
            <p:cNvSpPr/>
            <p:nvPr/>
          </p:nvSpPr>
          <p:spPr>
            <a:xfrm>
              <a:off x="6852996" y="3407967"/>
              <a:ext cx="45085" cy="59690"/>
            </a:xfrm>
            <a:custGeom>
              <a:avLst/>
              <a:gdLst/>
              <a:ahLst/>
              <a:cxnLst/>
              <a:rect l="l" t="t" r="r" b="b"/>
              <a:pathLst>
                <a:path w="45084" h="59689">
                  <a:moveTo>
                    <a:pt x="22430" y="0"/>
                  </a:moveTo>
                  <a:lnTo>
                    <a:pt x="13659" y="2331"/>
                  </a:lnTo>
                  <a:lnTo>
                    <a:pt x="6534" y="8703"/>
                  </a:lnTo>
                  <a:lnTo>
                    <a:pt x="1749" y="18183"/>
                  </a:lnTo>
                  <a:lnTo>
                    <a:pt x="0" y="29839"/>
                  </a:lnTo>
                  <a:lnTo>
                    <a:pt x="1749" y="41382"/>
                  </a:lnTo>
                  <a:lnTo>
                    <a:pt x="6534" y="50804"/>
                  </a:lnTo>
                  <a:lnTo>
                    <a:pt x="13659" y="57155"/>
                  </a:lnTo>
                  <a:lnTo>
                    <a:pt x="22430" y="59483"/>
                  </a:lnTo>
                  <a:lnTo>
                    <a:pt x="31202" y="57155"/>
                  </a:lnTo>
                  <a:lnTo>
                    <a:pt x="38327" y="50804"/>
                  </a:lnTo>
                  <a:lnTo>
                    <a:pt x="43112" y="41382"/>
                  </a:lnTo>
                  <a:lnTo>
                    <a:pt x="44861" y="29839"/>
                  </a:lnTo>
                  <a:lnTo>
                    <a:pt x="43112" y="18183"/>
                  </a:lnTo>
                  <a:lnTo>
                    <a:pt x="38327" y="8703"/>
                  </a:lnTo>
                  <a:lnTo>
                    <a:pt x="31202" y="2331"/>
                  </a:lnTo>
                  <a:lnTo>
                    <a:pt x="22430" y="0"/>
                  </a:lnTo>
                  <a:close/>
                </a:path>
              </a:pathLst>
            </a:custGeom>
            <a:ln w="14628">
              <a:solidFill>
                <a:srgbClr val="000000"/>
              </a:solidFill>
            </a:ln>
          </p:spPr>
          <p:txBody>
            <a:bodyPr wrap="square" lIns="0" tIns="0" rIns="0" bIns="0" rtlCol="0"/>
            <a:lstStyle/>
            <a:p/>
          </p:txBody>
        </p:sp>
        <p:sp>
          <p:nvSpPr>
            <p:cNvPr id="57" name="object 57" descr=""/>
            <p:cNvSpPr/>
            <p:nvPr/>
          </p:nvSpPr>
          <p:spPr>
            <a:xfrm>
              <a:off x="4446063" y="3407967"/>
              <a:ext cx="45085" cy="59690"/>
            </a:xfrm>
            <a:custGeom>
              <a:avLst/>
              <a:gdLst/>
              <a:ahLst/>
              <a:cxnLst/>
              <a:rect l="l" t="t" r="r" b="b"/>
              <a:pathLst>
                <a:path w="45085" h="59689">
                  <a:moveTo>
                    <a:pt x="22430" y="0"/>
                  </a:moveTo>
                  <a:lnTo>
                    <a:pt x="13659" y="2331"/>
                  </a:lnTo>
                  <a:lnTo>
                    <a:pt x="6534" y="8703"/>
                  </a:lnTo>
                  <a:lnTo>
                    <a:pt x="1749" y="18183"/>
                  </a:lnTo>
                  <a:lnTo>
                    <a:pt x="0" y="29839"/>
                  </a:lnTo>
                  <a:lnTo>
                    <a:pt x="1749" y="41382"/>
                  </a:lnTo>
                  <a:lnTo>
                    <a:pt x="6534" y="50804"/>
                  </a:lnTo>
                  <a:lnTo>
                    <a:pt x="13659" y="57155"/>
                  </a:lnTo>
                  <a:lnTo>
                    <a:pt x="22430" y="59483"/>
                  </a:lnTo>
                  <a:lnTo>
                    <a:pt x="31202" y="57155"/>
                  </a:lnTo>
                  <a:lnTo>
                    <a:pt x="38327" y="50804"/>
                  </a:lnTo>
                  <a:lnTo>
                    <a:pt x="43112" y="41382"/>
                  </a:lnTo>
                  <a:lnTo>
                    <a:pt x="44861" y="29839"/>
                  </a:lnTo>
                  <a:lnTo>
                    <a:pt x="43112" y="18183"/>
                  </a:lnTo>
                  <a:lnTo>
                    <a:pt x="38327" y="8703"/>
                  </a:lnTo>
                  <a:lnTo>
                    <a:pt x="31202" y="2331"/>
                  </a:lnTo>
                  <a:lnTo>
                    <a:pt x="22430" y="0"/>
                  </a:lnTo>
                  <a:close/>
                </a:path>
              </a:pathLst>
            </a:custGeom>
            <a:solidFill>
              <a:srgbClr val="000000"/>
            </a:solidFill>
          </p:spPr>
          <p:txBody>
            <a:bodyPr wrap="square" lIns="0" tIns="0" rIns="0" bIns="0" rtlCol="0"/>
            <a:lstStyle/>
            <a:p/>
          </p:txBody>
        </p:sp>
        <p:sp>
          <p:nvSpPr>
            <p:cNvPr id="58" name="object 58" descr=""/>
            <p:cNvSpPr/>
            <p:nvPr/>
          </p:nvSpPr>
          <p:spPr>
            <a:xfrm>
              <a:off x="4446063" y="3407967"/>
              <a:ext cx="45085" cy="59690"/>
            </a:xfrm>
            <a:custGeom>
              <a:avLst/>
              <a:gdLst/>
              <a:ahLst/>
              <a:cxnLst/>
              <a:rect l="l" t="t" r="r" b="b"/>
              <a:pathLst>
                <a:path w="45085" h="59689">
                  <a:moveTo>
                    <a:pt x="22430" y="0"/>
                  </a:moveTo>
                  <a:lnTo>
                    <a:pt x="13659" y="2331"/>
                  </a:lnTo>
                  <a:lnTo>
                    <a:pt x="6534" y="8703"/>
                  </a:lnTo>
                  <a:lnTo>
                    <a:pt x="1749" y="18183"/>
                  </a:lnTo>
                  <a:lnTo>
                    <a:pt x="0" y="29839"/>
                  </a:lnTo>
                  <a:lnTo>
                    <a:pt x="1749" y="41382"/>
                  </a:lnTo>
                  <a:lnTo>
                    <a:pt x="6534" y="50804"/>
                  </a:lnTo>
                  <a:lnTo>
                    <a:pt x="13659" y="57155"/>
                  </a:lnTo>
                  <a:lnTo>
                    <a:pt x="22430" y="59483"/>
                  </a:lnTo>
                  <a:lnTo>
                    <a:pt x="31202" y="57155"/>
                  </a:lnTo>
                  <a:lnTo>
                    <a:pt x="38327" y="50804"/>
                  </a:lnTo>
                  <a:lnTo>
                    <a:pt x="43112" y="41382"/>
                  </a:lnTo>
                  <a:lnTo>
                    <a:pt x="44861" y="29839"/>
                  </a:lnTo>
                  <a:lnTo>
                    <a:pt x="43112" y="18183"/>
                  </a:lnTo>
                  <a:lnTo>
                    <a:pt x="38327" y="8703"/>
                  </a:lnTo>
                  <a:lnTo>
                    <a:pt x="31202" y="2331"/>
                  </a:lnTo>
                  <a:lnTo>
                    <a:pt x="22430" y="0"/>
                  </a:lnTo>
                  <a:close/>
                </a:path>
              </a:pathLst>
            </a:custGeom>
            <a:ln w="14628">
              <a:solidFill>
                <a:srgbClr val="000000"/>
              </a:solidFill>
            </a:ln>
          </p:spPr>
          <p:txBody>
            <a:bodyPr wrap="square" lIns="0" tIns="0" rIns="0" bIns="0" rtlCol="0"/>
            <a:lstStyle/>
            <a:p/>
          </p:txBody>
        </p:sp>
        <p:sp>
          <p:nvSpPr>
            <p:cNvPr id="59" name="object 59" descr=""/>
            <p:cNvSpPr/>
            <p:nvPr/>
          </p:nvSpPr>
          <p:spPr>
            <a:xfrm>
              <a:off x="6117641" y="3187598"/>
              <a:ext cx="3300729" cy="1067435"/>
            </a:xfrm>
            <a:custGeom>
              <a:avLst/>
              <a:gdLst/>
              <a:ahLst/>
              <a:cxnLst/>
              <a:rect l="l" t="t" r="r" b="b"/>
              <a:pathLst>
                <a:path w="3300729" h="1067435">
                  <a:moveTo>
                    <a:pt x="1577721" y="949883"/>
                  </a:moveTo>
                  <a:lnTo>
                    <a:pt x="1548498" y="979055"/>
                  </a:lnTo>
                  <a:lnTo>
                    <a:pt x="1546758" y="251574"/>
                  </a:lnTo>
                  <a:lnTo>
                    <a:pt x="1527263" y="251574"/>
                  </a:lnTo>
                  <a:lnTo>
                    <a:pt x="1528914" y="949706"/>
                  </a:lnTo>
                  <a:lnTo>
                    <a:pt x="1528991" y="979055"/>
                  </a:lnTo>
                  <a:lnTo>
                    <a:pt x="1499755" y="949883"/>
                  </a:lnTo>
                  <a:lnTo>
                    <a:pt x="1538960" y="1066812"/>
                  </a:lnTo>
                  <a:lnTo>
                    <a:pt x="1564805" y="988822"/>
                  </a:lnTo>
                  <a:lnTo>
                    <a:pt x="1577721" y="949883"/>
                  </a:lnTo>
                  <a:close/>
                </a:path>
                <a:path w="3300729" h="1067435">
                  <a:moveTo>
                    <a:pt x="3300272" y="39001"/>
                  </a:moveTo>
                  <a:lnTo>
                    <a:pt x="3271012" y="29248"/>
                  </a:lnTo>
                  <a:lnTo>
                    <a:pt x="3183242" y="0"/>
                  </a:lnTo>
                  <a:lnTo>
                    <a:pt x="3212490" y="29248"/>
                  </a:lnTo>
                  <a:lnTo>
                    <a:pt x="43599" y="29248"/>
                  </a:lnTo>
                  <a:lnTo>
                    <a:pt x="43116" y="25984"/>
                  </a:lnTo>
                  <a:lnTo>
                    <a:pt x="38328" y="16497"/>
                  </a:lnTo>
                  <a:lnTo>
                    <a:pt x="31203" y="10121"/>
                  </a:lnTo>
                  <a:lnTo>
                    <a:pt x="22440" y="7797"/>
                  </a:lnTo>
                  <a:lnTo>
                    <a:pt x="13665" y="10121"/>
                  </a:lnTo>
                  <a:lnTo>
                    <a:pt x="6540" y="16497"/>
                  </a:lnTo>
                  <a:lnTo>
                    <a:pt x="1752" y="25984"/>
                  </a:lnTo>
                  <a:lnTo>
                    <a:pt x="0" y="37630"/>
                  </a:lnTo>
                  <a:lnTo>
                    <a:pt x="1752" y="49174"/>
                  </a:lnTo>
                  <a:lnTo>
                    <a:pt x="6540" y="58597"/>
                  </a:lnTo>
                  <a:lnTo>
                    <a:pt x="13665" y="64947"/>
                  </a:lnTo>
                  <a:lnTo>
                    <a:pt x="22440" y="67284"/>
                  </a:lnTo>
                  <a:lnTo>
                    <a:pt x="31203" y="64947"/>
                  </a:lnTo>
                  <a:lnTo>
                    <a:pt x="38328" y="58597"/>
                  </a:lnTo>
                  <a:lnTo>
                    <a:pt x="43116" y="49174"/>
                  </a:lnTo>
                  <a:lnTo>
                    <a:pt x="43180" y="48755"/>
                  </a:lnTo>
                  <a:lnTo>
                    <a:pt x="3212490" y="48755"/>
                  </a:lnTo>
                  <a:lnTo>
                    <a:pt x="3183242" y="78003"/>
                  </a:lnTo>
                  <a:lnTo>
                    <a:pt x="3271012" y="48755"/>
                  </a:lnTo>
                  <a:lnTo>
                    <a:pt x="3300272" y="39001"/>
                  </a:lnTo>
                  <a:close/>
                </a:path>
              </a:pathLst>
            </a:custGeom>
            <a:solidFill>
              <a:srgbClr val="000000"/>
            </a:solidFill>
          </p:spPr>
          <p:txBody>
            <a:bodyPr wrap="square" lIns="0" tIns="0" rIns="0" bIns="0" rtlCol="0"/>
            <a:lstStyle/>
            <a:p/>
          </p:txBody>
        </p:sp>
        <p:sp>
          <p:nvSpPr>
            <p:cNvPr id="60" name="object 60" descr=""/>
            <p:cNvSpPr/>
            <p:nvPr/>
          </p:nvSpPr>
          <p:spPr>
            <a:xfrm>
              <a:off x="6117653" y="3195387"/>
              <a:ext cx="45085" cy="59690"/>
            </a:xfrm>
            <a:custGeom>
              <a:avLst/>
              <a:gdLst/>
              <a:ahLst/>
              <a:cxnLst/>
              <a:rect l="l" t="t" r="r" b="b"/>
              <a:pathLst>
                <a:path w="45085" h="59689">
                  <a:moveTo>
                    <a:pt x="22430" y="0"/>
                  </a:moveTo>
                  <a:lnTo>
                    <a:pt x="13659" y="2331"/>
                  </a:lnTo>
                  <a:lnTo>
                    <a:pt x="6534" y="8703"/>
                  </a:lnTo>
                  <a:lnTo>
                    <a:pt x="1749" y="18183"/>
                  </a:lnTo>
                  <a:lnTo>
                    <a:pt x="0" y="29839"/>
                  </a:lnTo>
                  <a:lnTo>
                    <a:pt x="1749" y="41382"/>
                  </a:lnTo>
                  <a:lnTo>
                    <a:pt x="6534" y="50804"/>
                  </a:lnTo>
                  <a:lnTo>
                    <a:pt x="13659" y="57155"/>
                  </a:lnTo>
                  <a:lnTo>
                    <a:pt x="22430" y="59483"/>
                  </a:lnTo>
                  <a:lnTo>
                    <a:pt x="31202" y="57155"/>
                  </a:lnTo>
                  <a:lnTo>
                    <a:pt x="38327" y="50804"/>
                  </a:lnTo>
                  <a:lnTo>
                    <a:pt x="43112" y="41382"/>
                  </a:lnTo>
                  <a:lnTo>
                    <a:pt x="44861" y="29839"/>
                  </a:lnTo>
                  <a:lnTo>
                    <a:pt x="43112" y="18183"/>
                  </a:lnTo>
                  <a:lnTo>
                    <a:pt x="38327" y="8703"/>
                  </a:lnTo>
                  <a:lnTo>
                    <a:pt x="31202" y="2331"/>
                  </a:lnTo>
                  <a:lnTo>
                    <a:pt x="22430" y="0"/>
                  </a:lnTo>
                  <a:close/>
                </a:path>
              </a:pathLst>
            </a:custGeom>
            <a:ln w="14628">
              <a:solidFill>
                <a:srgbClr val="000000"/>
              </a:solidFill>
            </a:ln>
          </p:spPr>
          <p:txBody>
            <a:bodyPr wrap="square" lIns="0" tIns="0" rIns="0" bIns="0" rtlCol="0"/>
            <a:lstStyle/>
            <a:p/>
          </p:txBody>
        </p:sp>
      </p:grpSp>
      <p:sp>
        <p:nvSpPr>
          <p:cNvPr id="61" name="object 61" descr=""/>
          <p:cNvSpPr txBox="1"/>
          <p:nvPr/>
        </p:nvSpPr>
        <p:spPr>
          <a:xfrm>
            <a:off x="3478608" y="5370944"/>
            <a:ext cx="1311275" cy="302895"/>
          </a:xfrm>
          <a:prstGeom prst="rect">
            <a:avLst/>
          </a:prstGeom>
          <a:solidFill>
            <a:srgbClr val="FF99CC"/>
          </a:solidFill>
          <a:ln w="14627">
            <a:solidFill>
              <a:srgbClr val="000000"/>
            </a:solidFill>
          </a:ln>
        </p:spPr>
        <p:txBody>
          <a:bodyPr wrap="square" lIns="0" tIns="39370" rIns="0" bIns="0" rtlCol="0" vert="horz">
            <a:spAutoFit/>
          </a:bodyPr>
          <a:lstStyle/>
          <a:p>
            <a:pPr marL="121920">
              <a:lnSpc>
                <a:spcPct val="100000"/>
              </a:lnSpc>
              <a:spcBef>
                <a:spcPts val="310"/>
              </a:spcBef>
            </a:pPr>
            <a:r>
              <a:rPr dirty="0" sz="1350" spc="-30" b="1">
                <a:latin typeface="宋体"/>
                <a:cs typeface="宋体"/>
              </a:rPr>
              <a:t>浮点加法器 </a:t>
            </a:r>
            <a:r>
              <a:rPr dirty="0" sz="1350" spc="-50" b="1">
                <a:latin typeface="Times New Roman"/>
                <a:cs typeface="Times New Roman"/>
              </a:rPr>
              <a:t>A</a:t>
            </a:r>
            <a:endParaRPr sz="1350">
              <a:latin typeface="Times New Roman"/>
              <a:cs typeface="Times New Roman"/>
            </a:endParaRPr>
          </a:p>
        </p:txBody>
      </p:sp>
      <p:sp>
        <p:nvSpPr>
          <p:cNvPr id="62" name="object 62" descr=""/>
          <p:cNvSpPr txBox="1"/>
          <p:nvPr/>
        </p:nvSpPr>
        <p:spPr>
          <a:xfrm>
            <a:off x="5690490" y="2531316"/>
            <a:ext cx="860425" cy="227329"/>
          </a:xfrm>
          <a:prstGeom prst="rect">
            <a:avLst/>
          </a:prstGeom>
          <a:solidFill>
            <a:srgbClr val="FFFF99"/>
          </a:solidFill>
          <a:ln w="14628">
            <a:solidFill>
              <a:srgbClr val="000000"/>
            </a:solidFill>
          </a:ln>
        </p:spPr>
        <p:txBody>
          <a:bodyPr wrap="square" lIns="0" tIns="0" rIns="0" bIns="0" rtlCol="0" vert="horz">
            <a:spAutoFit/>
          </a:bodyPr>
          <a:lstStyle/>
          <a:p>
            <a:pPr marL="141605">
              <a:lnSpc>
                <a:spcPts val="1585"/>
              </a:lnSpc>
            </a:pPr>
            <a:r>
              <a:rPr dirty="0" sz="1350" spc="-50">
                <a:latin typeface="Times New Roman"/>
                <a:cs typeface="Times New Roman"/>
              </a:rPr>
              <a:t>a</a:t>
            </a:r>
            <a:endParaRPr sz="1350">
              <a:latin typeface="Times New Roman"/>
              <a:cs typeface="Times New Roman"/>
            </a:endParaRPr>
          </a:p>
        </p:txBody>
      </p:sp>
      <p:sp>
        <p:nvSpPr>
          <p:cNvPr id="63" name="object 63" descr=""/>
          <p:cNvSpPr txBox="1"/>
          <p:nvPr/>
        </p:nvSpPr>
        <p:spPr>
          <a:xfrm>
            <a:off x="5690490" y="2305084"/>
            <a:ext cx="860425" cy="226695"/>
          </a:xfrm>
          <a:prstGeom prst="rect">
            <a:avLst/>
          </a:prstGeom>
          <a:solidFill>
            <a:srgbClr val="FFFF99"/>
          </a:solidFill>
          <a:ln w="14628">
            <a:solidFill>
              <a:srgbClr val="000000"/>
            </a:solidFill>
          </a:ln>
        </p:spPr>
        <p:txBody>
          <a:bodyPr wrap="square" lIns="0" tIns="0" rIns="0" bIns="0" rtlCol="0" vert="horz">
            <a:spAutoFit/>
          </a:bodyPr>
          <a:lstStyle/>
          <a:p>
            <a:pPr marL="141605">
              <a:lnSpc>
                <a:spcPts val="1520"/>
              </a:lnSpc>
            </a:pPr>
            <a:r>
              <a:rPr dirty="0" sz="1350" spc="-50">
                <a:latin typeface="Times New Roman"/>
                <a:cs typeface="Times New Roman"/>
              </a:rPr>
              <a:t>b</a:t>
            </a:r>
            <a:endParaRPr sz="1350">
              <a:latin typeface="Times New Roman"/>
              <a:cs typeface="Times New Roman"/>
            </a:endParaRPr>
          </a:p>
        </p:txBody>
      </p:sp>
      <p:sp>
        <p:nvSpPr>
          <p:cNvPr id="64" name="object 64" descr=""/>
          <p:cNvSpPr txBox="1"/>
          <p:nvPr/>
        </p:nvSpPr>
        <p:spPr>
          <a:xfrm>
            <a:off x="5690490" y="2077876"/>
            <a:ext cx="860425" cy="227329"/>
          </a:xfrm>
          <a:prstGeom prst="rect">
            <a:avLst/>
          </a:prstGeom>
          <a:solidFill>
            <a:srgbClr val="FFFF99"/>
          </a:solidFill>
          <a:ln w="14628">
            <a:solidFill>
              <a:srgbClr val="000000"/>
            </a:solidFill>
          </a:ln>
        </p:spPr>
        <p:txBody>
          <a:bodyPr wrap="square" lIns="0" tIns="0" rIns="0" bIns="0" rtlCol="0" vert="horz">
            <a:spAutoFit/>
          </a:bodyPr>
          <a:lstStyle/>
          <a:p>
            <a:pPr marL="141605">
              <a:lnSpc>
                <a:spcPts val="1575"/>
              </a:lnSpc>
            </a:pPr>
            <a:r>
              <a:rPr dirty="0" sz="1350" spc="-50">
                <a:latin typeface="Times New Roman"/>
                <a:cs typeface="Times New Roman"/>
              </a:rPr>
              <a:t>c</a:t>
            </a:r>
            <a:endParaRPr sz="1350">
              <a:latin typeface="Times New Roman"/>
              <a:cs typeface="Times New Roman"/>
            </a:endParaRPr>
          </a:p>
        </p:txBody>
      </p:sp>
      <p:sp>
        <p:nvSpPr>
          <p:cNvPr id="65" name="object 65" descr=""/>
          <p:cNvSpPr txBox="1"/>
          <p:nvPr/>
        </p:nvSpPr>
        <p:spPr>
          <a:xfrm>
            <a:off x="6074720" y="4572242"/>
            <a:ext cx="416559" cy="236220"/>
          </a:xfrm>
          <a:prstGeom prst="rect">
            <a:avLst/>
          </a:prstGeom>
        </p:spPr>
        <p:txBody>
          <a:bodyPr wrap="square" lIns="0" tIns="16510" rIns="0" bIns="0" rtlCol="0" vert="horz">
            <a:spAutoFit/>
          </a:bodyPr>
          <a:lstStyle/>
          <a:p>
            <a:pPr marL="12700">
              <a:lnSpc>
                <a:spcPct val="100000"/>
              </a:lnSpc>
              <a:spcBef>
                <a:spcPts val="130"/>
              </a:spcBef>
            </a:pPr>
            <a:r>
              <a:rPr dirty="0" sz="1350" spc="-25">
                <a:latin typeface="Times New Roman"/>
                <a:cs typeface="Times New Roman"/>
              </a:rPr>
              <a:t>MUL</a:t>
            </a:r>
            <a:endParaRPr sz="1350">
              <a:latin typeface="Times New Roman"/>
              <a:cs typeface="Times New Roman"/>
            </a:endParaRPr>
          </a:p>
        </p:txBody>
      </p:sp>
      <p:sp>
        <p:nvSpPr>
          <p:cNvPr id="66" name="object 66" descr=""/>
          <p:cNvSpPr txBox="1"/>
          <p:nvPr/>
        </p:nvSpPr>
        <p:spPr>
          <a:xfrm>
            <a:off x="6793874" y="4548839"/>
            <a:ext cx="103505" cy="236220"/>
          </a:xfrm>
          <a:prstGeom prst="rect">
            <a:avLst/>
          </a:prstGeom>
        </p:spPr>
        <p:txBody>
          <a:bodyPr wrap="square" lIns="0" tIns="16510" rIns="0" bIns="0" rtlCol="0" vert="horz">
            <a:spAutoFit/>
          </a:bodyPr>
          <a:lstStyle/>
          <a:p>
            <a:pPr marL="12700">
              <a:lnSpc>
                <a:spcPct val="100000"/>
              </a:lnSpc>
              <a:spcBef>
                <a:spcPts val="130"/>
              </a:spcBef>
            </a:pPr>
            <a:r>
              <a:rPr dirty="0" sz="1350" spc="-50">
                <a:latin typeface="Times New Roman"/>
                <a:cs typeface="Times New Roman"/>
              </a:rPr>
              <a:t>a</a:t>
            </a:r>
            <a:endParaRPr sz="1350">
              <a:latin typeface="Times New Roman"/>
              <a:cs typeface="Times New Roman"/>
            </a:endParaRPr>
          </a:p>
        </p:txBody>
      </p:sp>
      <p:sp>
        <p:nvSpPr>
          <p:cNvPr id="67" name="object 67" descr=""/>
          <p:cNvSpPr txBox="1"/>
          <p:nvPr/>
        </p:nvSpPr>
        <p:spPr>
          <a:xfrm>
            <a:off x="7561596" y="4548839"/>
            <a:ext cx="113664" cy="236220"/>
          </a:xfrm>
          <a:prstGeom prst="rect">
            <a:avLst/>
          </a:prstGeom>
        </p:spPr>
        <p:txBody>
          <a:bodyPr wrap="square" lIns="0" tIns="16510" rIns="0" bIns="0" rtlCol="0" vert="horz">
            <a:spAutoFit/>
          </a:bodyPr>
          <a:lstStyle/>
          <a:p>
            <a:pPr marL="12700">
              <a:lnSpc>
                <a:spcPct val="100000"/>
              </a:lnSpc>
              <a:spcBef>
                <a:spcPts val="130"/>
              </a:spcBef>
            </a:pPr>
            <a:r>
              <a:rPr dirty="0" sz="1350" spc="-50">
                <a:latin typeface="Times New Roman"/>
                <a:cs typeface="Times New Roman"/>
              </a:rPr>
              <a:t>b</a:t>
            </a:r>
            <a:endParaRPr sz="1350">
              <a:latin typeface="Times New Roman"/>
              <a:cs typeface="Times New Roman"/>
            </a:endParaRPr>
          </a:p>
        </p:txBody>
      </p:sp>
      <p:sp>
        <p:nvSpPr>
          <p:cNvPr id="68" name="object 68" descr=""/>
          <p:cNvSpPr txBox="1"/>
          <p:nvPr/>
        </p:nvSpPr>
        <p:spPr>
          <a:xfrm>
            <a:off x="6599603" y="2052695"/>
            <a:ext cx="1072515" cy="941705"/>
          </a:xfrm>
          <a:prstGeom prst="rect">
            <a:avLst/>
          </a:prstGeom>
        </p:spPr>
        <p:txBody>
          <a:bodyPr wrap="square" lIns="0" tIns="29209" rIns="0" bIns="0" rtlCol="0" vert="horz">
            <a:spAutoFit/>
          </a:bodyPr>
          <a:lstStyle/>
          <a:p>
            <a:pPr algn="just" marL="12700" marR="864869">
              <a:lnSpc>
                <a:spcPct val="108700"/>
              </a:lnSpc>
              <a:spcBef>
                <a:spcPts val="229"/>
              </a:spcBef>
            </a:pPr>
            <a:r>
              <a:rPr dirty="0" sz="1350" spc="-25">
                <a:latin typeface="Times New Roman"/>
                <a:cs typeface="Times New Roman"/>
              </a:rPr>
              <a:t>F6 F4 F2</a:t>
            </a:r>
            <a:endParaRPr sz="1350">
              <a:latin typeface="Times New Roman"/>
              <a:cs typeface="Times New Roman"/>
            </a:endParaRPr>
          </a:p>
          <a:p>
            <a:pPr algn="just" marL="12700">
              <a:lnSpc>
                <a:spcPct val="100000"/>
              </a:lnSpc>
              <a:spcBef>
                <a:spcPts val="170"/>
              </a:spcBef>
            </a:pPr>
            <a:r>
              <a:rPr dirty="0" sz="1350">
                <a:latin typeface="Times New Roman"/>
                <a:cs typeface="Times New Roman"/>
              </a:rPr>
              <a:t>F0</a:t>
            </a:r>
            <a:r>
              <a:rPr dirty="0" sz="1350" spc="434">
                <a:latin typeface="Times New Roman"/>
                <a:cs typeface="Times New Roman"/>
              </a:rPr>
              <a:t>   </a:t>
            </a:r>
            <a:r>
              <a:rPr dirty="0" baseline="2057" sz="2025" spc="-30">
                <a:latin typeface="Times New Roman"/>
                <a:cs typeface="Times New Roman"/>
              </a:rPr>
              <a:t>MULT1</a:t>
            </a:r>
            <a:endParaRPr baseline="2057" sz="2025">
              <a:latin typeface="Times New Roman"/>
              <a:cs typeface="Times New Roman"/>
            </a:endParaRPr>
          </a:p>
        </p:txBody>
      </p:sp>
      <p:graphicFrame>
        <p:nvGraphicFramePr>
          <p:cNvPr id="69" name="object 69" descr=""/>
          <p:cNvGraphicFramePr>
            <a:graphicFrameLocks noGrp="1"/>
          </p:cNvGraphicFramePr>
          <p:nvPr/>
        </p:nvGraphicFramePr>
        <p:xfrm>
          <a:off x="3512255" y="2010104"/>
          <a:ext cx="1360805" cy="1086485"/>
        </p:xfrm>
        <a:graphic>
          <a:graphicData uri="http://schemas.openxmlformats.org/drawingml/2006/table">
            <a:tbl>
              <a:tblPr firstRow="1" bandRow="1">
                <a:tableStyleId>{2D5ABB26-0587-4C30-8999-92F81FD0307C}</a:tableStyleId>
              </a:tblPr>
              <a:tblGrid>
                <a:gridCol w="1270000"/>
              </a:tblGrid>
              <a:tr h="266700">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99"/>
                    </a:solidFill>
                  </a:tcPr>
                </a:tc>
              </a:tr>
              <a:tr h="268605">
                <a:tc>
                  <a:txBody>
                    <a:bodyPr/>
                    <a:lstStyle/>
                    <a:p>
                      <a:pPr>
                        <a:lnSpc>
                          <a:spcPct val="100000"/>
                        </a:lnSpc>
                      </a:pPr>
                      <a:endParaRPr sz="1350">
                        <a:latin typeface="Times New Roman"/>
                        <a:cs typeface="Times New Roman"/>
                      </a:endParaRPr>
                    </a:p>
                    <a:p>
                      <a:pPr>
                        <a:lnSpc>
                          <a:spcPct val="100000"/>
                        </a:lnSpc>
                        <a:spcBef>
                          <a:spcPts val="1250"/>
                        </a:spcBef>
                      </a:pPr>
                      <a:endParaRPr sz="1350">
                        <a:latin typeface="Times New Roman"/>
                        <a:cs typeface="Times New Roman"/>
                      </a:endParaRPr>
                    </a:p>
                    <a:p>
                      <a:pPr marL="41275">
                        <a:lnSpc>
                          <a:spcPct val="100000"/>
                        </a:lnSpc>
                        <a:spcBef>
                          <a:spcPts val="5"/>
                        </a:spcBef>
                      </a:pPr>
                      <a:r>
                        <a:rPr dirty="0" sz="1350" spc="-50">
                          <a:latin typeface="宋体"/>
                          <a:cs typeface="宋体"/>
                        </a:rPr>
                        <a:t>…</a:t>
                      </a:r>
                      <a:endParaRPr sz="1350">
                        <a:latin typeface="宋体"/>
                        <a:cs typeface="宋体"/>
                      </a:endParaRPr>
                    </a:p>
                  </a:txBody>
                  <a:tcPr marL="0" marR="0" marB="0" marT="0" vert="vert">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99"/>
                    </a:solidFill>
                  </a:tcPr>
                </a:tc>
              </a:tr>
              <a:tr h="266700">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99"/>
                    </a:solidFill>
                  </a:tcPr>
                </a:tc>
              </a:tr>
              <a:tr h="284480">
                <a:tc>
                  <a:txBody>
                    <a:bodyPr/>
                    <a:lstStyle/>
                    <a:p>
                      <a:pPr marL="69215">
                        <a:lnSpc>
                          <a:spcPct val="100000"/>
                        </a:lnSpc>
                        <a:spcBef>
                          <a:spcPts val="185"/>
                        </a:spcBef>
                      </a:pPr>
                      <a:r>
                        <a:rPr dirty="0" sz="1350">
                          <a:latin typeface="Times New Roman"/>
                          <a:cs typeface="Times New Roman"/>
                        </a:rPr>
                        <a:t>ADD</a:t>
                      </a:r>
                      <a:r>
                        <a:rPr dirty="0" sz="1350" spc="45">
                          <a:latin typeface="Times New Roman"/>
                          <a:cs typeface="Times New Roman"/>
                        </a:rPr>
                        <a:t> </a:t>
                      </a:r>
                      <a:r>
                        <a:rPr dirty="0" sz="1350" spc="-10">
                          <a:latin typeface="Times New Roman"/>
                          <a:cs typeface="Times New Roman"/>
                        </a:rPr>
                        <a:t>F2,F0,F6</a:t>
                      </a:r>
                      <a:endParaRPr sz="1350">
                        <a:latin typeface="Times New Roman"/>
                        <a:cs typeface="Times New Roman"/>
                      </a:endParaRPr>
                    </a:p>
                  </a:txBody>
                  <a:tcPr marL="0" marR="0" marB="0" marT="2349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99"/>
                    </a:solidFill>
                  </a:tcPr>
                </a:tc>
              </a:tr>
            </a:tbl>
          </a:graphicData>
        </a:graphic>
      </p:graphicFrame>
      <p:grpSp>
        <p:nvGrpSpPr>
          <p:cNvPr id="70" name="object 70" descr=""/>
          <p:cNvGrpSpPr/>
          <p:nvPr/>
        </p:nvGrpSpPr>
        <p:grpSpPr>
          <a:xfrm>
            <a:off x="6816725" y="2824834"/>
            <a:ext cx="2240280" cy="1920875"/>
            <a:chOff x="6816725" y="2824834"/>
            <a:chExt cx="2240280" cy="1920875"/>
          </a:xfrm>
        </p:grpSpPr>
        <p:sp>
          <p:nvSpPr>
            <p:cNvPr id="71" name="object 71" descr=""/>
            <p:cNvSpPr/>
            <p:nvPr/>
          </p:nvSpPr>
          <p:spPr>
            <a:xfrm>
              <a:off x="8721588" y="2863839"/>
              <a:ext cx="328295" cy="1874520"/>
            </a:xfrm>
            <a:custGeom>
              <a:avLst/>
              <a:gdLst/>
              <a:ahLst/>
              <a:cxnLst/>
              <a:rect l="l" t="t" r="r" b="b"/>
              <a:pathLst>
                <a:path w="328295" h="1874520">
                  <a:moveTo>
                    <a:pt x="0" y="1874239"/>
                  </a:moveTo>
                  <a:lnTo>
                    <a:pt x="327686" y="1874239"/>
                  </a:lnTo>
                </a:path>
                <a:path w="328295" h="1874520">
                  <a:moveTo>
                    <a:pt x="327686" y="1874239"/>
                  </a:moveTo>
                  <a:lnTo>
                    <a:pt x="327686" y="0"/>
                  </a:lnTo>
                </a:path>
              </a:pathLst>
            </a:custGeom>
            <a:ln w="14627">
              <a:solidFill>
                <a:srgbClr val="000000"/>
              </a:solidFill>
              <a:prstDash val="sysDashDot"/>
            </a:ln>
          </p:spPr>
          <p:txBody>
            <a:bodyPr wrap="square" lIns="0" tIns="0" rIns="0" bIns="0" rtlCol="0"/>
            <a:lstStyle/>
            <a:p/>
          </p:txBody>
        </p:sp>
        <p:sp>
          <p:nvSpPr>
            <p:cNvPr id="72" name="object 72" descr=""/>
            <p:cNvSpPr/>
            <p:nvPr/>
          </p:nvSpPr>
          <p:spPr>
            <a:xfrm>
              <a:off x="7738529" y="2824834"/>
              <a:ext cx="1311275" cy="78105"/>
            </a:xfrm>
            <a:custGeom>
              <a:avLst/>
              <a:gdLst/>
              <a:ahLst/>
              <a:cxnLst/>
              <a:rect l="l" t="t" r="r" b="b"/>
              <a:pathLst>
                <a:path w="1311275" h="78105">
                  <a:moveTo>
                    <a:pt x="1310745" y="29254"/>
                  </a:moveTo>
                  <a:lnTo>
                    <a:pt x="1232724" y="29254"/>
                  </a:lnTo>
                  <a:lnTo>
                    <a:pt x="1232724" y="48757"/>
                  </a:lnTo>
                  <a:lnTo>
                    <a:pt x="1310745" y="48757"/>
                  </a:lnTo>
                  <a:lnTo>
                    <a:pt x="1310745" y="29254"/>
                  </a:lnTo>
                  <a:close/>
                </a:path>
                <a:path w="1311275" h="78105">
                  <a:moveTo>
                    <a:pt x="1174209" y="29254"/>
                  </a:moveTo>
                  <a:lnTo>
                    <a:pt x="1154703" y="29254"/>
                  </a:lnTo>
                  <a:lnTo>
                    <a:pt x="1154703" y="48757"/>
                  </a:lnTo>
                  <a:lnTo>
                    <a:pt x="1174209" y="48757"/>
                  </a:lnTo>
                  <a:lnTo>
                    <a:pt x="1174209" y="29254"/>
                  </a:lnTo>
                  <a:close/>
                </a:path>
                <a:path w="1311275" h="78105">
                  <a:moveTo>
                    <a:pt x="1096188" y="29254"/>
                  </a:moveTo>
                  <a:lnTo>
                    <a:pt x="1018167" y="29254"/>
                  </a:lnTo>
                  <a:lnTo>
                    <a:pt x="1018167" y="48757"/>
                  </a:lnTo>
                  <a:lnTo>
                    <a:pt x="1096188" y="48757"/>
                  </a:lnTo>
                  <a:lnTo>
                    <a:pt x="1096188" y="29254"/>
                  </a:lnTo>
                  <a:close/>
                </a:path>
                <a:path w="1311275" h="78105">
                  <a:moveTo>
                    <a:pt x="959652" y="29254"/>
                  </a:moveTo>
                  <a:lnTo>
                    <a:pt x="940147" y="29254"/>
                  </a:lnTo>
                  <a:lnTo>
                    <a:pt x="940147" y="48757"/>
                  </a:lnTo>
                  <a:lnTo>
                    <a:pt x="959652" y="48757"/>
                  </a:lnTo>
                  <a:lnTo>
                    <a:pt x="959652" y="29254"/>
                  </a:lnTo>
                  <a:close/>
                </a:path>
                <a:path w="1311275" h="78105">
                  <a:moveTo>
                    <a:pt x="881632" y="29254"/>
                  </a:moveTo>
                  <a:lnTo>
                    <a:pt x="803611" y="29254"/>
                  </a:lnTo>
                  <a:lnTo>
                    <a:pt x="803611" y="48757"/>
                  </a:lnTo>
                  <a:lnTo>
                    <a:pt x="881632" y="48757"/>
                  </a:lnTo>
                  <a:lnTo>
                    <a:pt x="881632" y="29254"/>
                  </a:lnTo>
                  <a:close/>
                </a:path>
                <a:path w="1311275" h="78105">
                  <a:moveTo>
                    <a:pt x="745096" y="29254"/>
                  </a:moveTo>
                  <a:lnTo>
                    <a:pt x="725590" y="29254"/>
                  </a:lnTo>
                  <a:lnTo>
                    <a:pt x="725590" y="48757"/>
                  </a:lnTo>
                  <a:lnTo>
                    <a:pt x="745096" y="48757"/>
                  </a:lnTo>
                  <a:lnTo>
                    <a:pt x="745096" y="29254"/>
                  </a:lnTo>
                  <a:close/>
                </a:path>
                <a:path w="1311275" h="78105">
                  <a:moveTo>
                    <a:pt x="667075" y="29254"/>
                  </a:moveTo>
                  <a:lnTo>
                    <a:pt x="589055" y="29254"/>
                  </a:lnTo>
                  <a:lnTo>
                    <a:pt x="589055" y="48757"/>
                  </a:lnTo>
                  <a:lnTo>
                    <a:pt x="667075" y="48757"/>
                  </a:lnTo>
                  <a:lnTo>
                    <a:pt x="667075" y="29254"/>
                  </a:lnTo>
                  <a:close/>
                </a:path>
                <a:path w="1311275" h="78105">
                  <a:moveTo>
                    <a:pt x="530539" y="29254"/>
                  </a:moveTo>
                  <a:lnTo>
                    <a:pt x="511034" y="29254"/>
                  </a:lnTo>
                  <a:lnTo>
                    <a:pt x="511034" y="48757"/>
                  </a:lnTo>
                  <a:lnTo>
                    <a:pt x="530539" y="48757"/>
                  </a:lnTo>
                  <a:lnTo>
                    <a:pt x="530539" y="29254"/>
                  </a:lnTo>
                  <a:close/>
                </a:path>
                <a:path w="1311275" h="78105">
                  <a:moveTo>
                    <a:pt x="452519" y="29254"/>
                  </a:moveTo>
                  <a:lnTo>
                    <a:pt x="374498" y="29254"/>
                  </a:lnTo>
                  <a:lnTo>
                    <a:pt x="374498" y="48757"/>
                  </a:lnTo>
                  <a:lnTo>
                    <a:pt x="452519" y="48757"/>
                  </a:lnTo>
                  <a:lnTo>
                    <a:pt x="452519" y="29254"/>
                  </a:lnTo>
                  <a:close/>
                </a:path>
                <a:path w="1311275" h="78105">
                  <a:moveTo>
                    <a:pt x="315983" y="29254"/>
                  </a:moveTo>
                  <a:lnTo>
                    <a:pt x="296478" y="29254"/>
                  </a:lnTo>
                  <a:lnTo>
                    <a:pt x="296478" y="48757"/>
                  </a:lnTo>
                  <a:lnTo>
                    <a:pt x="315983" y="48757"/>
                  </a:lnTo>
                  <a:lnTo>
                    <a:pt x="315983" y="29254"/>
                  </a:lnTo>
                  <a:close/>
                </a:path>
                <a:path w="1311275" h="78105">
                  <a:moveTo>
                    <a:pt x="237962" y="29254"/>
                  </a:moveTo>
                  <a:lnTo>
                    <a:pt x="159942" y="29254"/>
                  </a:lnTo>
                  <a:lnTo>
                    <a:pt x="159942" y="48757"/>
                  </a:lnTo>
                  <a:lnTo>
                    <a:pt x="237962" y="48757"/>
                  </a:lnTo>
                  <a:lnTo>
                    <a:pt x="237962" y="29254"/>
                  </a:lnTo>
                  <a:close/>
                </a:path>
                <a:path w="1311275" h="78105">
                  <a:moveTo>
                    <a:pt x="117030" y="0"/>
                  </a:moveTo>
                  <a:lnTo>
                    <a:pt x="0" y="39005"/>
                  </a:lnTo>
                  <a:lnTo>
                    <a:pt x="117030" y="78011"/>
                  </a:lnTo>
                  <a:lnTo>
                    <a:pt x="87773" y="48757"/>
                  </a:lnTo>
                  <a:lnTo>
                    <a:pt x="81921" y="48757"/>
                  </a:lnTo>
                  <a:lnTo>
                    <a:pt x="81921" y="42906"/>
                  </a:lnTo>
                  <a:lnTo>
                    <a:pt x="78020" y="39005"/>
                  </a:lnTo>
                  <a:lnTo>
                    <a:pt x="81921" y="35105"/>
                  </a:lnTo>
                  <a:lnTo>
                    <a:pt x="81921" y="29254"/>
                  </a:lnTo>
                  <a:lnTo>
                    <a:pt x="87773" y="29254"/>
                  </a:lnTo>
                  <a:lnTo>
                    <a:pt x="117030" y="0"/>
                  </a:lnTo>
                  <a:close/>
                </a:path>
                <a:path w="1311275" h="78105">
                  <a:moveTo>
                    <a:pt x="81921" y="42906"/>
                  </a:moveTo>
                  <a:lnTo>
                    <a:pt x="81921" y="48757"/>
                  </a:lnTo>
                  <a:lnTo>
                    <a:pt x="87773" y="48757"/>
                  </a:lnTo>
                  <a:lnTo>
                    <a:pt x="81921" y="42906"/>
                  </a:lnTo>
                  <a:close/>
                </a:path>
                <a:path w="1311275" h="78105">
                  <a:moveTo>
                    <a:pt x="101426" y="29254"/>
                  </a:moveTo>
                  <a:lnTo>
                    <a:pt x="87773" y="29254"/>
                  </a:lnTo>
                  <a:lnTo>
                    <a:pt x="81921" y="35105"/>
                  </a:lnTo>
                  <a:lnTo>
                    <a:pt x="81921" y="42906"/>
                  </a:lnTo>
                  <a:lnTo>
                    <a:pt x="87773" y="48757"/>
                  </a:lnTo>
                  <a:lnTo>
                    <a:pt x="101426" y="48757"/>
                  </a:lnTo>
                  <a:lnTo>
                    <a:pt x="101426" y="29254"/>
                  </a:lnTo>
                  <a:close/>
                </a:path>
                <a:path w="1311275" h="78105">
                  <a:moveTo>
                    <a:pt x="87773" y="29254"/>
                  </a:moveTo>
                  <a:lnTo>
                    <a:pt x="81921" y="29254"/>
                  </a:lnTo>
                  <a:lnTo>
                    <a:pt x="81921" y="35105"/>
                  </a:lnTo>
                  <a:lnTo>
                    <a:pt x="87773" y="29254"/>
                  </a:lnTo>
                  <a:close/>
                </a:path>
              </a:pathLst>
            </a:custGeom>
            <a:solidFill>
              <a:srgbClr val="000000"/>
            </a:solidFill>
          </p:spPr>
          <p:txBody>
            <a:bodyPr wrap="square" lIns="0" tIns="0" rIns="0" bIns="0" rtlCol="0"/>
            <a:lstStyle/>
            <a:p/>
          </p:txBody>
        </p:sp>
        <p:pic>
          <p:nvPicPr>
            <p:cNvPr id="73" name="object 73" descr=""/>
            <p:cNvPicPr/>
            <p:nvPr/>
          </p:nvPicPr>
          <p:blipFill>
            <a:blip r:embed="rId2" cstate="print"/>
            <a:stretch>
              <a:fillRect/>
            </a:stretch>
          </p:blipFill>
          <p:spPr>
            <a:xfrm>
              <a:off x="6816725" y="2886075"/>
              <a:ext cx="215900" cy="76200"/>
            </a:xfrm>
            <a:prstGeom prst="rect">
              <a:avLst/>
            </a:prstGeom>
          </p:spPr>
        </p:pic>
      </p:grpSp>
      <p:sp>
        <p:nvSpPr>
          <p:cNvPr id="74" name="object 74" descr=""/>
          <p:cNvSpPr txBox="1"/>
          <p:nvPr/>
        </p:nvSpPr>
        <p:spPr>
          <a:xfrm>
            <a:off x="3511422" y="3158108"/>
            <a:ext cx="1100455" cy="239395"/>
          </a:xfrm>
          <a:prstGeom prst="rect">
            <a:avLst/>
          </a:prstGeom>
        </p:spPr>
        <p:txBody>
          <a:bodyPr wrap="square" lIns="0" tIns="13335" rIns="0" bIns="0" rtlCol="0" vert="horz">
            <a:spAutoFit/>
          </a:bodyPr>
          <a:lstStyle/>
          <a:p>
            <a:pPr marL="12700">
              <a:lnSpc>
                <a:spcPct val="100000"/>
              </a:lnSpc>
              <a:spcBef>
                <a:spcPts val="105"/>
              </a:spcBef>
            </a:pPr>
            <a:r>
              <a:rPr dirty="0" sz="1400">
                <a:solidFill>
                  <a:srgbClr val="40458B"/>
                </a:solidFill>
                <a:latin typeface="Tahoma"/>
                <a:cs typeface="Tahoma"/>
              </a:rPr>
              <a:t>MUL</a:t>
            </a:r>
            <a:r>
              <a:rPr dirty="0" sz="1400" spc="-20">
                <a:solidFill>
                  <a:srgbClr val="40458B"/>
                </a:solidFill>
                <a:latin typeface="Tahoma"/>
                <a:cs typeface="Tahoma"/>
              </a:rPr>
              <a:t> </a:t>
            </a:r>
            <a:r>
              <a:rPr dirty="0" sz="1400" spc="-10">
                <a:solidFill>
                  <a:srgbClr val="40458B"/>
                </a:solidFill>
                <a:latin typeface="Tahoma"/>
                <a:cs typeface="Tahoma"/>
              </a:rPr>
              <a:t>F0,F2,F4</a:t>
            </a:r>
            <a:endParaRPr sz="1400">
              <a:latin typeface="Tahoma"/>
              <a:cs typeface="Tahoma"/>
            </a:endParaRPr>
          </a:p>
        </p:txBody>
      </p:sp>
      <p:sp>
        <p:nvSpPr>
          <p:cNvPr id="75" name="object 75" descr=""/>
          <p:cNvSpPr txBox="1"/>
          <p:nvPr/>
        </p:nvSpPr>
        <p:spPr>
          <a:xfrm>
            <a:off x="8482330" y="5047615"/>
            <a:ext cx="1769110" cy="1123315"/>
          </a:xfrm>
          <a:prstGeom prst="rect">
            <a:avLst/>
          </a:prstGeom>
        </p:spPr>
        <p:txBody>
          <a:bodyPr wrap="square" lIns="0" tIns="12700" rIns="0" bIns="0" rtlCol="0" vert="horz">
            <a:spAutoFit/>
          </a:bodyPr>
          <a:lstStyle/>
          <a:p>
            <a:pPr marL="12700" marR="5080">
              <a:lnSpc>
                <a:spcPct val="100000"/>
              </a:lnSpc>
              <a:spcBef>
                <a:spcPts val="100"/>
              </a:spcBef>
            </a:pPr>
            <a:r>
              <a:rPr dirty="0" sz="1800" spc="-10">
                <a:solidFill>
                  <a:srgbClr val="40458B"/>
                </a:solidFill>
                <a:latin typeface="Tahoma"/>
                <a:cs typeface="Tahoma"/>
              </a:rPr>
              <a:t>1</a:t>
            </a:r>
            <a:r>
              <a:rPr dirty="0" sz="1800">
                <a:solidFill>
                  <a:srgbClr val="40458B"/>
                </a:solidFill>
                <a:latin typeface="黑体"/>
                <a:cs typeface="黑体"/>
              </a:rPr>
              <a:t>、当操作数</a:t>
            </a:r>
            <a:r>
              <a:rPr dirty="0" sz="1800" spc="-10">
                <a:solidFill>
                  <a:srgbClr val="40458B"/>
                </a:solidFill>
                <a:latin typeface="Tahoma"/>
                <a:cs typeface="Tahoma"/>
              </a:rPr>
              <a:t>a</a:t>
            </a:r>
            <a:r>
              <a:rPr dirty="0" sz="1800">
                <a:solidFill>
                  <a:srgbClr val="40458B"/>
                </a:solidFill>
                <a:latin typeface="黑体"/>
                <a:cs typeface="黑体"/>
              </a:rPr>
              <a:t>和</a:t>
            </a:r>
            <a:r>
              <a:rPr dirty="0" sz="1800" spc="-50">
                <a:solidFill>
                  <a:srgbClr val="40458B"/>
                </a:solidFill>
                <a:latin typeface="Tahoma"/>
                <a:cs typeface="Tahoma"/>
              </a:rPr>
              <a:t>b</a:t>
            </a:r>
            <a:r>
              <a:rPr dirty="0" sz="1800" spc="-10">
                <a:solidFill>
                  <a:srgbClr val="40458B"/>
                </a:solidFill>
                <a:latin typeface="黑体"/>
                <a:cs typeface="黑体"/>
              </a:rPr>
              <a:t>取到保留站，该</a:t>
            </a:r>
            <a:r>
              <a:rPr dirty="0" sz="1800">
                <a:solidFill>
                  <a:srgbClr val="40458B"/>
                </a:solidFill>
                <a:latin typeface="黑体"/>
                <a:cs typeface="黑体"/>
              </a:rPr>
              <a:t>指令以后和</a:t>
            </a:r>
            <a:r>
              <a:rPr dirty="0" sz="1800" spc="-25">
                <a:solidFill>
                  <a:srgbClr val="40458B"/>
                </a:solidFill>
                <a:latin typeface="Tahoma"/>
                <a:cs typeface="Tahoma"/>
              </a:rPr>
              <a:t>F2</a:t>
            </a:r>
            <a:r>
              <a:rPr dirty="0" sz="1800" spc="-25">
                <a:solidFill>
                  <a:srgbClr val="40458B"/>
                </a:solidFill>
                <a:latin typeface="黑体"/>
                <a:cs typeface="黑体"/>
              </a:rPr>
              <a:t>， </a:t>
            </a:r>
            <a:r>
              <a:rPr dirty="0" sz="1800" spc="-20">
                <a:solidFill>
                  <a:srgbClr val="40458B"/>
                </a:solidFill>
                <a:latin typeface="Tahoma"/>
                <a:cs typeface="Tahoma"/>
              </a:rPr>
              <a:t>F6</a:t>
            </a:r>
            <a:r>
              <a:rPr dirty="0" sz="1800" spc="-20">
                <a:solidFill>
                  <a:srgbClr val="40458B"/>
                </a:solidFill>
                <a:latin typeface="黑体"/>
                <a:cs typeface="黑体"/>
              </a:rPr>
              <a:t>就没关系了</a:t>
            </a:r>
            <a:endParaRPr sz="1800">
              <a:latin typeface="黑体"/>
              <a:cs typeface="黑体"/>
            </a:endParaRPr>
          </a:p>
        </p:txBody>
      </p:sp>
      <p:sp>
        <p:nvSpPr>
          <p:cNvPr id="76" name="object 76" descr=""/>
          <p:cNvSpPr txBox="1"/>
          <p:nvPr/>
        </p:nvSpPr>
        <p:spPr>
          <a:xfrm>
            <a:off x="7855457" y="1733803"/>
            <a:ext cx="1750695" cy="29972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40458B"/>
                </a:solidFill>
                <a:latin typeface="Tahoma"/>
                <a:cs typeface="Tahoma"/>
              </a:rPr>
              <a:t>2</a:t>
            </a:r>
            <a:r>
              <a:rPr dirty="0" sz="1800" spc="-10">
                <a:solidFill>
                  <a:srgbClr val="40458B"/>
                </a:solidFill>
                <a:latin typeface="黑体"/>
                <a:cs typeface="黑体"/>
              </a:rPr>
              <a:t>、修改状态寄存</a:t>
            </a:r>
            <a:endParaRPr sz="1800">
              <a:latin typeface="黑体"/>
              <a:cs typeface="黑体"/>
            </a:endParaRPr>
          </a:p>
        </p:txBody>
      </p:sp>
      <p:sp>
        <p:nvSpPr>
          <p:cNvPr id="77" name="object 77" descr=""/>
          <p:cNvSpPr txBox="1"/>
          <p:nvPr/>
        </p:nvSpPr>
        <p:spPr>
          <a:xfrm>
            <a:off x="7855457" y="2008123"/>
            <a:ext cx="1168400" cy="29972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40458B"/>
                </a:solidFill>
                <a:latin typeface="黑体"/>
                <a:cs typeface="黑体"/>
              </a:rPr>
              <a:t>器的对应项</a:t>
            </a:r>
            <a:endParaRPr sz="1800">
              <a:latin typeface="黑体"/>
              <a:cs typeface="黑体"/>
            </a:endParaRPr>
          </a:p>
        </p:txBody>
      </p:sp>
      <p:sp>
        <p:nvSpPr>
          <p:cNvPr id="78" name="object 78" descr=""/>
          <p:cNvSpPr/>
          <p:nvPr/>
        </p:nvSpPr>
        <p:spPr>
          <a:xfrm>
            <a:off x="7775575" y="2273300"/>
            <a:ext cx="630555" cy="579755"/>
          </a:xfrm>
          <a:custGeom>
            <a:avLst/>
            <a:gdLst/>
            <a:ahLst/>
            <a:cxnLst/>
            <a:rect l="l" t="t" r="r" b="b"/>
            <a:pathLst>
              <a:path w="630554" h="579755">
                <a:moveTo>
                  <a:pt x="30352" y="499872"/>
                </a:moveTo>
                <a:lnTo>
                  <a:pt x="0" y="579374"/>
                </a:lnTo>
                <a:lnTo>
                  <a:pt x="81915" y="556005"/>
                </a:lnTo>
                <a:lnTo>
                  <a:pt x="67216" y="540003"/>
                </a:lnTo>
                <a:lnTo>
                  <a:pt x="50038" y="540003"/>
                </a:lnTo>
                <a:lnTo>
                  <a:pt x="43560" y="533019"/>
                </a:lnTo>
                <a:lnTo>
                  <a:pt x="52911" y="524430"/>
                </a:lnTo>
                <a:lnTo>
                  <a:pt x="30352" y="499872"/>
                </a:lnTo>
                <a:close/>
              </a:path>
              <a:path w="630554" h="579755">
                <a:moveTo>
                  <a:pt x="52911" y="524430"/>
                </a:moveTo>
                <a:lnTo>
                  <a:pt x="43560" y="533019"/>
                </a:lnTo>
                <a:lnTo>
                  <a:pt x="50038" y="540003"/>
                </a:lnTo>
                <a:lnTo>
                  <a:pt x="59354" y="531445"/>
                </a:lnTo>
                <a:lnTo>
                  <a:pt x="52911" y="524430"/>
                </a:lnTo>
                <a:close/>
              </a:path>
              <a:path w="630554" h="579755">
                <a:moveTo>
                  <a:pt x="59354" y="531445"/>
                </a:moveTo>
                <a:lnTo>
                  <a:pt x="50038" y="540003"/>
                </a:lnTo>
                <a:lnTo>
                  <a:pt x="67216" y="540003"/>
                </a:lnTo>
                <a:lnTo>
                  <a:pt x="59354" y="531445"/>
                </a:lnTo>
                <a:close/>
              </a:path>
              <a:path w="630554" h="579755">
                <a:moveTo>
                  <a:pt x="623824" y="0"/>
                </a:moveTo>
                <a:lnTo>
                  <a:pt x="52911" y="524430"/>
                </a:lnTo>
                <a:lnTo>
                  <a:pt x="59354" y="531445"/>
                </a:lnTo>
                <a:lnTo>
                  <a:pt x="630301" y="6985"/>
                </a:lnTo>
                <a:lnTo>
                  <a:pt x="623824" y="0"/>
                </a:lnTo>
                <a:close/>
              </a:path>
            </a:pathLst>
          </a:custGeom>
          <a:solidFill>
            <a:srgbClr val="FF0000"/>
          </a:solidFill>
        </p:spPr>
        <p:txBody>
          <a:bodyPr wrap="square" lIns="0" tIns="0" rIns="0" bIns="0" rtlCol="0"/>
          <a:lstStyle/>
          <a:p/>
        </p:txBody>
      </p:sp>
      <p:sp>
        <p:nvSpPr>
          <p:cNvPr id="79" name="object 79" descr=""/>
          <p:cNvSpPr txBox="1"/>
          <p:nvPr/>
        </p:nvSpPr>
        <p:spPr>
          <a:xfrm>
            <a:off x="528015" y="2915158"/>
            <a:ext cx="1767839" cy="57404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40458B"/>
                </a:solidFill>
                <a:latin typeface="Tahoma"/>
                <a:cs typeface="Tahoma"/>
              </a:rPr>
              <a:t>1</a:t>
            </a:r>
            <a:r>
              <a:rPr dirty="0" sz="1800">
                <a:solidFill>
                  <a:srgbClr val="40458B"/>
                </a:solidFill>
                <a:latin typeface="黑体"/>
                <a:cs typeface="黑体"/>
              </a:rPr>
              <a:t>、</a:t>
            </a:r>
            <a:r>
              <a:rPr dirty="0" sz="1800">
                <a:solidFill>
                  <a:srgbClr val="40458B"/>
                </a:solidFill>
                <a:latin typeface="Tahoma"/>
                <a:cs typeface="Tahoma"/>
              </a:rPr>
              <a:t>MUL</a:t>
            </a:r>
            <a:r>
              <a:rPr dirty="0" sz="1800" spc="5">
                <a:solidFill>
                  <a:srgbClr val="40458B"/>
                </a:solidFill>
                <a:latin typeface="Tahoma"/>
                <a:cs typeface="Tahoma"/>
              </a:rPr>
              <a:t> </a:t>
            </a:r>
            <a:r>
              <a:rPr dirty="0" sz="1800" spc="-10">
                <a:solidFill>
                  <a:srgbClr val="FF0000"/>
                </a:solidFill>
                <a:latin typeface="Tahoma"/>
                <a:cs typeface="Tahoma"/>
              </a:rPr>
              <a:t>F0</a:t>
            </a:r>
            <a:r>
              <a:rPr dirty="0" sz="1800" spc="-10">
                <a:solidFill>
                  <a:srgbClr val="40458B"/>
                </a:solidFill>
                <a:latin typeface="Tahoma"/>
                <a:cs typeface="Tahoma"/>
              </a:rPr>
              <a:t>,F2,F4</a:t>
            </a:r>
            <a:endParaRPr sz="1800">
              <a:latin typeface="Tahoma"/>
              <a:cs typeface="Tahoma"/>
            </a:endParaRPr>
          </a:p>
          <a:p>
            <a:pPr marL="12700">
              <a:lnSpc>
                <a:spcPct val="100000"/>
              </a:lnSpc>
            </a:pPr>
            <a:r>
              <a:rPr dirty="0" sz="1800" spc="-10">
                <a:solidFill>
                  <a:srgbClr val="40458B"/>
                </a:solidFill>
                <a:latin typeface="Tahoma"/>
                <a:cs typeface="Tahoma"/>
              </a:rPr>
              <a:t>2</a:t>
            </a:r>
            <a:r>
              <a:rPr dirty="0" sz="1800">
                <a:solidFill>
                  <a:srgbClr val="40458B"/>
                </a:solidFill>
                <a:latin typeface="黑体"/>
                <a:cs typeface="黑体"/>
              </a:rPr>
              <a:t>、</a:t>
            </a:r>
            <a:r>
              <a:rPr dirty="0" sz="1800">
                <a:solidFill>
                  <a:srgbClr val="40458B"/>
                </a:solidFill>
                <a:latin typeface="Tahoma"/>
                <a:cs typeface="Tahoma"/>
              </a:rPr>
              <a:t>ADD</a:t>
            </a:r>
            <a:r>
              <a:rPr dirty="0" sz="1800" spc="-45">
                <a:solidFill>
                  <a:srgbClr val="40458B"/>
                </a:solidFill>
                <a:latin typeface="Tahoma"/>
                <a:cs typeface="Tahoma"/>
              </a:rPr>
              <a:t> </a:t>
            </a:r>
            <a:r>
              <a:rPr dirty="0" sz="1800" spc="-10">
                <a:solidFill>
                  <a:srgbClr val="40458B"/>
                </a:solidFill>
                <a:latin typeface="Tahoma"/>
                <a:cs typeface="Tahoma"/>
              </a:rPr>
              <a:t>F2,</a:t>
            </a:r>
            <a:r>
              <a:rPr dirty="0" sz="1800" spc="-10">
                <a:solidFill>
                  <a:srgbClr val="FF0000"/>
                </a:solidFill>
                <a:latin typeface="Tahoma"/>
                <a:cs typeface="Tahoma"/>
              </a:rPr>
              <a:t>F0</a:t>
            </a:r>
            <a:r>
              <a:rPr dirty="0" sz="1800" spc="-10">
                <a:solidFill>
                  <a:srgbClr val="40458B"/>
                </a:solidFill>
                <a:latin typeface="Tahoma"/>
                <a:cs typeface="Tahoma"/>
              </a:rPr>
              <a:t>,F6</a:t>
            </a:r>
            <a:endParaRPr sz="1800">
              <a:latin typeface="Tahoma"/>
              <a:cs typeface="Tahom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73/175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grpSp>
        <p:nvGrpSpPr>
          <p:cNvPr id="10" name="object 10" descr=""/>
          <p:cNvGrpSpPr/>
          <p:nvPr/>
        </p:nvGrpSpPr>
        <p:grpSpPr>
          <a:xfrm>
            <a:off x="3762307" y="1866352"/>
            <a:ext cx="4535170" cy="4010660"/>
            <a:chOff x="3762307" y="1866352"/>
            <a:chExt cx="4535170" cy="4010660"/>
          </a:xfrm>
        </p:grpSpPr>
        <p:sp>
          <p:nvSpPr>
            <p:cNvPr id="11" name="object 11" descr=""/>
            <p:cNvSpPr/>
            <p:nvPr/>
          </p:nvSpPr>
          <p:spPr>
            <a:xfrm>
              <a:off x="7599608" y="5501859"/>
              <a:ext cx="78740" cy="356870"/>
            </a:xfrm>
            <a:custGeom>
              <a:avLst/>
              <a:gdLst/>
              <a:ahLst/>
              <a:cxnLst/>
              <a:rect l="l" t="t" r="r" b="b"/>
              <a:pathLst>
                <a:path w="78740" h="356870">
                  <a:moveTo>
                    <a:pt x="0" y="239323"/>
                  </a:moveTo>
                  <a:lnTo>
                    <a:pt x="38976" y="356627"/>
                  </a:lnTo>
                  <a:lnTo>
                    <a:pt x="62083" y="288117"/>
                  </a:lnTo>
                  <a:lnTo>
                    <a:pt x="33884" y="288117"/>
                  </a:lnTo>
                  <a:lnTo>
                    <a:pt x="29575" y="283894"/>
                  </a:lnTo>
                  <a:lnTo>
                    <a:pt x="29575" y="269227"/>
                  </a:lnTo>
                  <a:lnTo>
                    <a:pt x="0" y="239323"/>
                  </a:lnTo>
                  <a:close/>
                </a:path>
                <a:path w="78740" h="356870">
                  <a:moveTo>
                    <a:pt x="29575" y="269227"/>
                  </a:moveTo>
                  <a:lnTo>
                    <a:pt x="29575" y="283894"/>
                  </a:lnTo>
                  <a:lnTo>
                    <a:pt x="33884" y="288117"/>
                  </a:lnTo>
                  <a:lnTo>
                    <a:pt x="44656" y="288117"/>
                  </a:lnTo>
                  <a:lnTo>
                    <a:pt x="49357" y="283894"/>
                  </a:lnTo>
                  <a:lnTo>
                    <a:pt x="49357" y="278733"/>
                  </a:lnTo>
                  <a:lnTo>
                    <a:pt x="38976" y="278733"/>
                  </a:lnTo>
                  <a:lnTo>
                    <a:pt x="29575" y="269227"/>
                  </a:lnTo>
                  <a:close/>
                </a:path>
                <a:path w="78740" h="356870">
                  <a:moveTo>
                    <a:pt x="78540" y="239323"/>
                  </a:moveTo>
                  <a:lnTo>
                    <a:pt x="49357" y="268393"/>
                  </a:lnTo>
                  <a:lnTo>
                    <a:pt x="49357" y="283894"/>
                  </a:lnTo>
                  <a:lnTo>
                    <a:pt x="44656" y="288117"/>
                  </a:lnTo>
                  <a:lnTo>
                    <a:pt x="62083" y="288117"/>
                  </a:lnTo>
                  <a:lnTo>
                    <a:pt x="78540" y="239323"/>
                  </a:lnTo>
                  <a:close/>
                </a:path>
                <a:path w="78740" h="356870">
                  <a:moveTo>
                    <a:pt x="44656" y="0"/>
                  </a:moveTo>
                  <a:lnTo>
                    <a:pt x="33884" y="0"/>
                  </a:lnTo>
                  <a:lnTo>
                    <a:pt x="29575" y="4229"/>
                  </a:lnTo>
                  <a:lnTo>
                    <a:pt x="29575" y="269227"/>
                  </a:lnTo>
                  <a:lnTo>
                    <a:pt x="38976" y="278733"/>
                  </a:lnTo>
                  <a:lnTo>
                    <a:pt x="49357" y="268393"/>
                  </a:lnTo>
                  <a:lnTo>
                    <a:pt x="49357" y="4229"/>
                  </a:lnTo>
                  <a:lnTo>
                    <a:pt x="44656" y="0"/>
                  </a:lnTo>
                  <a:close/>
                </a:path>
                <a:path w="78740" h="356870">
                  <a:moveTo>
                    <a:pt x="49357" y="268393"/>
                  </a:moveTo>
                  <a:lnTo>
                    <a:pt x="38976" y="278733"/>
                  </a:lnTo>
                  <a:lnTo>
                    <a:pt x="49357" y="278733"/>
                  </a:lnTo>
                  <a:lnTo>
                    <a:pt x="49357" y="268393"/>
                  </a:lnTo>
                  <a:close/>
                </a:path>
              </a:pathLst>
            </a:custGeom>
            <a:solidFill>
              <a:srgbClr val="000000"/>
            </a:solidFill>
          </p:spPr>
          <p:txBody>
            <a:bodyPr wrap="square" lIns="0" tIns="0" rIns="0" bIns="0" rtlCol="0"/>
            <a:lstStyle/>
            <a:p/>
          </p:txBody>
        </p:sp>
        <p:sp>
          <p:nvSpPr>
            <p:cNvPr id="12" name="object 12" descr=""/>
            <p:cNvSpPr/>
            <p:nvPr/>
          </p:nvSpPr>
          <p:spPr>
            <a:xfrm>
              <a:off x="7599608" y="5501859"/>
              <a:ext cx="78740" cy="356870"/>
            </a:xfrm>
            <a:custGeom>
              <a:avLst/>
              <a:gdLst/>
              <a:ahLst/>
              <a:cxnLst/>
              <a:rect l="l" t="t" r="r" b="b"/>
              <a:pathLst>
                <a:path w="78740" h="356870">
                  <a:moveTo>
                    <a:pt x="49357" y="9398"/>
                  </a:moveTo>
                  <a:lnTo>
                    <a:pt x="49357" y="278733"/>
                  </a:lnTo>
                  <a:lnTo>
                    <a:pt x="49357" y="283894"/>
                  </a:lnTo>
                  <a:lnTo>
                    <a:pt x="44656" y="288117"/>
                  </a:lnTo>
                  <a:lnTo>
                    <a:pt x="38976" y="288117"/>
                  </a:lnTo>
                  <a:lnTo>
                    <a:pt x="33884" y="288117"/>
                  </a:lnTo>
                  <a:lnTo>
                    <a:pt x="29575" y="283894"/>
                  </a:lnTo>
                  <a:lnTo>
                    <a:pt x="29575" y="278733"/>
                  </a:lnTo>
                  <a:lnTo>
                    <a:pt x="29575" y="9398"/>
                  </a:lnTo>
                  <a:lnTo>
                    <a:pt x="29575" y="4229"/>
                  </a:lnTo>
                  <a:lnTo>
                    <a:pt x="33884" y="0"/>
                  </a:lnTo>
                  <a:lnTo>
                    <a:pt x="38976" y="0"/>
                  </a:lnTo>
                  <a:lnTo>
                    <a:pt x="44656" y="0"/>
                  </a:lnTo>
                  <a:lnTo>
                    <a:pt x="49357" y="4229"/>
                  </a:lnTo>
                  <a:lnTo>
                    <a:pt x="49357" y="9398"/>
                  </a:lnTo>
                  <a:close/>
                </a:path>
                <a:path w="78740" h="356870">
                  <a:moveTo>
                    <a:pt x="38976" y="278733"/>
                  </a:moveTo>
                  <a:lnTo>
                    <a:pt x="78540" y="239323"/>
                  </a:lnTo>
                  <a:lnTo>
                    <a:pt x="38976" y="356627"/>
                  </a:lnTo>
                  <a:lnTo>
                    <a:pt x="0" y="239323"/>
                  </a:lnTo>
                  <a:lnTo>
                    <a:pt x="38976" y="278733"/>
                  </a:lnTo>
                  <a:close/>
                </a:path>
              </a:pathLst>
            </a:custGeom>
            <a:ln w="3175">
              <a:solidFill>
                <a:srgbClr val="000000"/>
              </a:solidFill>
            </a:ln>
          </p:spPr>
          <p:txBody>
            <a:bodyPr wrap="square" lIns="0" tIns="0" rIns="0" bIns="0" rtlCol="0"/>
            <a:lstStyle/>
            <a:p/>
          </p:txBody>
        </p:sp>
        <p:sp>
          <p:nvSpPr>
            <p:cNvPr id="13" name="object 13" descr=""/>
            <p:cNvSpPr/>
            <p:nvPr/>
          </p:nvSpPr>
          <p:spPr>
            <a:xfrm>
              <a:off x="4348070" y="5501389"/>
              <a:ext cx="78105" cy="374015"/>
            </a:xfrm>
            <a:custGeom>
              <a:avLst/>
              <a:gdLst/>
              <a:ahLst/>
              <a:cxnLst/>
              <a:rect l="l" t="t" r="r" b="b"/>
              <a:pathLst>
                <a:path w="78104" h="374014">
                  <a:moveTo>
                    <a:pt x="0" y="256680"/>
                  </a:moveTo>
                  <a:lnTo>
                    <a:pt x="39035" y="373990"/>
                  </a:lnTo>
                  <a:lnTo>
                    <a:pt x="61832" y="305481"/>
                  </a:lnTo>
                  <a:lnTo>
                    <a:pt x="33864" y="305481"/>
                  </a:lnTo>
                  <a:lnTo>
                    <a:pt x="29163" y="300787"/>
                  </a:lnTo>
                  <a:lnTo>
                    <a:pt x="29163" y="285777"/>
                  </a:lnTo>
                  <a:lnTo>
                    <a:pt x="0" y="256680"/>
                  </a:lnTo>
                  <a:close/>
                </a:path>
                <a:path w="78104" h="374014">
                  <a:moveTo>
                    <a:pt x="29163" y="285777"/>
                  </a:moveTo>
                  <a:lnTo>
                    <a:pt x="29163" y="300787"/>
                  </a:lnTo>
                  <a:lnTo>
                    <a:pt x="33864" y="305481"/>
                  </a:lnTo>
                  <a:lnTo>
                    <a:pt x="44676" y="305481"/>
                  </a:lnTo>
                  <a:lnTo>
                    <a:pt x="48906" y="300787"/>
                  </a:lnTo>
                  <a:lnTo>
                    <a:pt x="48906" y="295626"/>
                  </a:lnTo>
                  <a:lnTo>
                    <a:pt x="39035" y="295626"/>
                  </a:lnTo>
                  <a:lnTo>
                    <a:pt x="29163" y="285777"/>
                  </a:lnTo>
                  <a:close/>
                </a:path>
                <a:path w="78104" h="374014">
                  <a:moveTo>
                    <a:pt x="78070" y="256680"/>
                  </a:moveTo>
                  <a:lnTo>
                    <a:pt x="48906" y="285777"/>
                  </a:lnTo>
                  <a:lnTo>
                    <a:pt x="48906" y="300787"/>
                  </a:lnTo>
                  <a:lnTo>
                    <a:pt x="44676" y="305481"/>
                  </a:lnTo>
                  <a:lnTo>
                    <a:pt x="61832" y="305481"/>
                  </a:lnTo>
                  <a:lnTo>
                    <a:pt x="78070" y="256680"/>
                  </a:lnTo>
                  <a:close/>
                </a:path>
                <a:path w="78104" h="374014">
                  <a:moveTo>
                    <a:pt x="44676" y="0"/>
                  </a:moveTo>
                  <a:lnTo>
                    <a:pt x="33864" y="0"/>
                  </a:lnTo>
                  <a:lnTo>
                    <a:pt x="29163" y="4699"/>
                  </a:lnTo>
                  <a:lnTo>
                    <a:pt x="29163" y="285777"/>
                  </a:lnTo>
                  <a:lnTo>
                    <a:pt x="39035" y="295626"/>
                  </a:lnTo>
                  <a:lnTo>
                    <a:pt x="48906" y="285777"/>
                  </a:lnTo>
                  <a:lnTo>
                    <a:pt x="48906" y="4699"/>
                  </a:lnTo>
                  <a:lnTo>
                    <a:pt x="44676" y="0"/>
                  </a:lnTo>
                  <a:close/>
                </a:path>
                <a:path w="78104" h="374014">
                  <a:moveTo>
                    <a:pt x="48906" y="285777"/>
                  </a:moveTo>
                  <a:lnTo>
                    <a:pt x="39035" y="295626"/>
                  </a:lnTo>
                  <a:lnTo>
                    <a:pt x="48906" y="295626"/>
                  </a:lnTo>
                  <a:lnTo>
                    <a:pt x="48906" y="285777"/>
                  </a:lnTo>
                  <a:close/>
                </a:path>
              </a:pathLst>
            </a:custGeom>
            <a:solidFill>
              <a:srgbClr val="000000"/>
            </a:solidFill>
          </p:spPr>
          <p:txBody>
            <a:bodyPr wrap="square" lIns="0" tIns="0" rIns="0" bIns="0" rtlCol="0"/>
            <a:lstStyle/>
            <a:p/>
          </p:txBody>
        </p:sp>
        <p:sp>
          <p:nvSpPr>
            <p:cNvPr id="14" name="object 14" descr=""/>
            <p:cNvSpPr/>
            <p:nvPr/>
          </p:nvSpPr>
          <p:spPr>
            <a:xfrm>
              <a:off x="4348070" y="5501389"/>
              <a:ext cx="78105" cy="374015"/>
            </a:xfrm>
            <a:custGeom>
              <a:avLst/>
              <a:gdLst/>
              <a:ahLst/>
              <a:cxnLst/>
              <a:rect l="l" t="t" r="r" b="b"/>
              <a:pathLst>
                <a:path w="78104" h="374014">
                  <a:moveTo>
                    <a:pt x="48906" y="9868"/>
                  </a:moveTo>
                  <a:lnTo>
                    <a:pt x="48906" y="295626"/>
                  </a:lnTo>
                  <a:lnTo>
                    <a:pt x="48906" y="300787"/>
                  </a:lnTo>
                  <a:lnTo>
                    <a:pt x="44676" y="305481"/>
                  </a:lnTo>
                  <a:lnTo>
                    <a:pt x="39035" y="305481"/>
                  </a:lnTo>
                  <a:lnTo>
                    <a:pt x="33864" y="305481"/>
                  </a:lnTo>
                  <a:lnTo>
                    <a:pt x="29163" y="300787"/>
                  </a:lnTo>
                  <a:lnTo>
                    <a:pt x="29163" y="295626"/>
                  </a:lnTo>
                  <a:lnTo>
                    <a:pt x="29163" y="9868"/>
                  </a:lnTo>
                  <a:lnTo>
                    <a:pt x="29163" y="4699"/>
                  </a:lnTo>
                  <a:lnTo>
                    <a:pt x="33864" y="0"/>
                  </a:lnTo>
                  <a:lnTo>
                    <a:pt x="39035" y="0"/>
                  </a:lnTo>
                  <a:lnTo>
                    <a:pt x="44676" y="0"/>
                  </a:lnTo>
                  <a:lnTo>
                    <a:pt x="48906" y="4699"/>
                  </a:lnTo>
                  <a:lnTo>
                    <a:pt x="48906" y="9868"/>
                  </a:lnTo>
                  <a:close/>
                </a:path>
                <a:path w="78104" h="374014">
                  <a:moveTo>
                    <a:pt x="39035" y="295626"/>
                  </a:moveTo>
                  <a:lnTo>
                    <a:pt x="78070" y="256680"/>
                  </a:lnTo>
                  <a:lnTo>
                    <a:pt x="39035" y="373990"/>
                  </a:lnTo>
                  <a:lnTo>
                    <a:pt x="0" y="256680"/>
                  </a:lnTo>
                  <a:lnTo>
                    <a:pt x="39035" y="295626"/>
                  </a:lnTo>
                  <a:close/>
                </a:path>
              </a:pathLst>
            </a:custGeom>
            <a:ln w="3175">
              <a:solidFill>
                <a:srgbClr val="000000"/>
              </a:solidFill>
            </a:ln>
          </p:spPr>
          <p:txBody>
            <a:bodyPr wrap="square" lIns="0" tIns="0" rIns="0" bIns="0" rtlCol="0"/>
            <a:lstStyle/>
            <a:p/>
          </p:txBody>
        </p:sp>
        <p:sp>
          <p:nvSpPr>
            <p:cNvPr id="15" name="object 15" descr=""/>
            <p:cNvSpPr/>
            <p:nvPr/>
          </p:nvSpPr>
          <p:spPr>
            <a:xfrm>
              <a:off x="4388986" y="2955318"/>
              <a:ext cx="78740" cy="539750"/>
            </a:xfrm>
            <a:custGeom>
              <a:avLst/>
              <a:gdLst/>
              <a:ahLst/>
              <a:cxnLst/>
              <a:rect l="l" t="t" r="r" b="b"/>
              <a:pathLst>
                <a:path w="78739" h="539750">
                  <a:moveTo>
                    <a:pt x="0" y="422335"/>
                  </a:moveTo>
                  <a:lnTo>
                    <a:pt x="39035" y="539617"/>
                  </a:lnTo>
                  <a:lnTo>
                    <a:pt x="62118" y="471088"/>
                  </a:lnTo>
                  <a:lnTo>
                    <a:pt x="33864" y="471088"/>
                  </a:lnTo>
                  <a:lnTo>
                    <a:pt x="29634" y="466781"/>
                  </a:lnTo>
                  <a:lnTo>
                    <a:pt x="29634" y="451914"/>
                  </a:lnTo>
                  <a:lnTo>
                    <a:pt x="0" y="422335"/>
                  </a:lnTo>
                  <a:close/>
                </a:path>
                <a:path w="78739" h="539750">
                  <a:moveTo>
                    <a:pt x="29634" y="451914"/>
                  </a:moveTo>
                  <a:lnTo>
                    <a:pt x="29634" y="466781"/>
                  </a:lnTo>
                  <a:lnTo>
                    <a:pt x="33864" y="471088"/>
                  </a:lnTo>
                  <a:lnTo>
                    <a:pt x="44676" y="471088"/>
                  </a:lnTo>
                  <a:lnTo>
                    <a:pt x="48906" y="466781"/>
                  </a:lnTo>
                  <a:lnTo>
                    <a:pt x="48906" y="461298"/>
                  </a:lnTo>
                  <a:lnTo>
                    <a:pt x="39035" y="461298"/>
                  </a:lnTo>
                  <a:lnTo>
                    <a:pt x="29634" y="451914"/>
                  </a:lnTo>
                  <a:close/>
                </a:path>
                <a:path w="78739" h="539750">
                  <a:moveTo>
                    <a:pt x="78540" y="422335"/>
                  </a:moveTo>
                  <a:lnTo>
                    <a:pt x="48906" y="451562"/>
                  </a:lnTo>
                  <a:lnTo>
                    <a:pt x="48906" y="466781"/>
                  </a:lnTo>
                  <a:lnTo>
                    <a:pt x="44676" y="471088"/>
                  </a:lnTo>
                  <a:lnTo>
                    <a:pt x="62118" y="471088"/>
                  </a:lnTo>
                  <a:lnTo>
                    <a:pt x="78540" y="422335"/>
                  </a:lnTo>
                  <a:close/>
                </a:path>
                <a:path w="78739" h="539750">
                  <a:moveTo>
                    <a:pt x="44676" y="0"/>
                  </a:moveTo>
                  <a:lnTo>
                    <a:pt x="33864" y="0"/>
                  </a:lnTo>
                  <a:lnTo>
                    <a:pt x="29634" y="4111"/>
                  </a:lnTo>
                  <a:lnTo>
                    <a:pt x="29634" y="451914"/>
                  </a:lnTo>
                  <a:lnTo>
                    <a:pt x="39035" y="461298"/>
                  </a:lnTo>
                  <a:lnTo>
                    <a:pt x="48906" y="451562"/>
                  </a:lnTo>
                  <a:lnTo>
                    <a:pt x="48906" y="4111"/>
                  </a:lnTo>
                  <a:lnTo>
                    <a:pt x="44676" y="0"/>
                  </a:lnTo>
                  <a:close/>
                </a:path>
                <a:path w="78739" h="539750">
                  <a:moveTo>
                    <a:pt x="48906" y="451562"/>
                  </a:moveTo>
                  <a:lnTo>
                    <a:pt x="39035" y="461298"/>
                  </a:lnTo>
                  <a:lnTo>
                    <a:pt x="48906" y="461298"/>
                  </a:lnTo>
                  <a:lnTo>
                    <a:pt x="48906" y="451562"/>
                  </a:lnTo>
                  <a:close/>
                </a:path>
              </a:pathLst>
            </a:custGeom>
            <a:solidFill>
              <a:srgbClr val="000000"/>
            </a:solidFill>
          </p:spPr>
          <p:txBody>
            <a:bodyPr wrap="square" lIns="0" tIns="0" rIns="0" bIns="0" rtlCol="0"/>
            <a:lstStyle/>
            <a:p/>
          </p:txBody>
        </p:sp>
        <p:sp>
          <p:nvSpPr>
            <p:cNvPr id="16" name="object 16" descr=""/>
            <p:cNvSpPr/>
            <p:nvPr/>
          </p:nvSpPr>
          <p:spPr>
            <a:xfrm>
              <a:off x="4388986" y="2955318"/>
              <a:ext cx="78740" cy="539750"/>
            </a:xfrm>
            <a:custGeom>
              <a:avLst/>
              <a:gdLst/>
              <a:ahLst/>
              <a:cxnLst/>
              <a:rect l="l" t="t" r="r" b="b"/>
              <a:pathLst>
                <a:path w="78739" h="539750">
                  <a:moveTo>
                    <a:pt x="48906" y="9789"/>
                  </a:moveTo>
                  <a:lnTo>
                    <a:pt x="48906" y="461298"/>
                  </a:lnTo>
                  <a:lnTo>
                    <a:pt x="48906" y="466781"/>
                  </a:lnTo>
                  <a:lnTo>
                    <a:pt x="44676" y="471088"/>
                  </a:lnTo>
                  <a:lnTo>
                    <a:pt x="39035" y="471088"/>
                  </a:lnTo>
                  <a:lnTo>
                    <a:pt x="33864" y="471088"/>
                  </a:lnTo>
                  <a:lnTo>
                    <a:pt x="29634" y="466781"/>
                  </a:lnTo>
                  <a:lnTo>
                    <a:pt x="29634" y="461298"/>
                  </a:lnTo>
                  <a:lnTo>
                    <a:pt x="29634" y="9789"/>
                  </a:lnTo>
                  <a:lnTo>
                    <a:pt x="29634" y="4111"/>
                  </a:lnTo>
                  <a:lnTo>
                    <a:pt x="33864" y="0"/>
                  </a:lnTo>
                  <a:lnTo>
                    <a:pt x="39035" y="0"/>
                  </a:lnTo>
                  <a:lnTo>
                    <a:pt x="44676" y="0"/>
                  </a:lnTo>
                  <a:lnTo>
                    <a:pt x="48906" y="4111"/>
                  </a:lnTo>
                  <a:lnTo>
                    <a:pt x="48906" y="9789"/>
                  </a:lnTo>
                  <a:close/>
                </a:path>
                <a:path w="78739" h="539750">
                  <a:moveTo>
                    <a:pt x="39035" y="461298"/>
                  </a:moveTo>
                  <a:lnTo>
                    <a:pt x="78540" y="422335"/>
                  </a:lnTo>
                  <a:lnTo>
                    <a:pt x="39035" y="539617"/>
                  </a:lnTo>
                  <a:lnTo>
                    <a:pt x="0" y="422335"/>
                  </a:lnTo>
                  <a:lnTo>
                    <a:pt x="39035" y="461298"/>
                  </a:lnTo>
                  <a:close/>
                </a:path>
              </a:pathLst>
            </a:custGeom>
            <a:ln w="3175">
              <a:solidFill>
                <a:srgbClr val="000000"/>
              </a:solidFill>
            </a:ln>
          </p:spPr>
          <p:txBody>
            <a:bodyPr wrap="square" lIns="0" tIns="0" rIns="0" bIns="0" rtlCol="0"/>
            <a:lstStyle/>
            <a:p/>
          </p:txBody>
        </p:sp>
        <p:sp>
          <p:nvSpPr>
            <p:cNvPr id="17" name="object 17" descr=""/>
            <p:cNvSpPr/>
            <p:nvPr/>
          </p:nvSpPr>
          <p:spPr>
            <a:xfrm>
              <a:off x="3810995" y="1873654"/>
              <a:ext cx="1276350" cy="1091565"/>
            </a:xfrm>
            <a:custGeom>
              <a:avLst/>
              <a:gdLst/>
              <a:ahLst/>
              <a:cxnLst/>
              <a:rect l="l" t="t" r="r" b="b"/>
              <a:pathLst>
                <a:path w="1276350" h="1091564">
                  <a:moveTo>
                    <a:pt x="1275889" y="0"/>
                  </a:moveTo>
                  <a:lnTo>
                    <a:pt x="0" y="0"/>
                  </a:lnTo>
                  <a:lnTo>
                    <a:pt x="0" y="1091453"/>
                  </a:lnTo>
                  <a:lnTo>
                    <a:pt x="1275889" y="1091453"/>
                  </a:lnTo>
                  <a:lnTo>
                    <a:pt x="1275889" y="0"/>
                  </a:lnTo>
                  <a:close/>
                </a:path>
              </a:pathLst>
            </a:custGeom>
            <a:solidFill>
              <a:srgbClr val="FFCC99"/>
            </a:solidFill>
          </p:spPr>
          <p:txBody>
            <a:bodyPr wrap="square" lIns="0" tIns="0" rIns="0" bIns="0" rtlCol="0"/>
            <a:lstStyle/>
            <a:p/>
          </p:txBody>
        </p:sp>
        <p:sp>
          <p:nvSpPr>
            <p:cNvPr id="18" name="object 18" descr=""/>
            <p:cNvSpPr/>
            <p:nvPr/>
          </p:nvSpPr>
          <p:spPr>
            <a:xfrm>
              <a:off x="3810995" y="1873654"/>
              <a:ext cx="1276350" cy="1091565"/>
            </a:xfrm>
            <a:custGeom>
              <a:avLst/>
              <a:gdLst/>
              <a:ahLst/>
              <a:cxnLst/>
              <a:rect l="l" t="t" r="r" b="b"/>
              <a:pathLst>
                <a:path w="1276350" h="1091564">
                  <a:moveTo>
                    <a:pt x="0" y="1091453"/>
                  </a:moveTo>
                  <a:lnTo>
                    <a:pt x="1275889" y="1091453"/>
                  </a:lnTo>
                  <a:lnTo>
                    <a:pt x="1275889" y="0"/>
                  </a:lnTo>
                  <a:lnTo>
                    <a:pt x="0" y="0"/>
                  </a:lnTo>
                  <a:lnTo>
                    <a:pt x="0" y="1091453"/>
                  </a:lnTo>
                  <a:close/>
                </a:path>
              </a:pathLst>
            </a:custGeom>
            <a:ln w="14576">
              <a:solidFill>
                <a:srgbClr val="000000"/>
              </a:solidFill>
            </a:ln>
          </p:spPr>
          <p:txBody>
            <a:bodyPr wrap="square" lIns="0" tIns="0" rIns="0" bIns="0" rtlCol="0"/>
            <a:lstStyle/>
            <a:p/>
          </p:txBody>
        </p:sp>
        <p:sp>
          <p:nvSpPr>
            <p:cNvPr id="19" name="object 19" descr=""/>
            <p:cNvSpPr/>
            <p:nvPr/>
          </p:nvSpPr>
          <p:spPr>
            <a:xfrm>
              <a:off x="3810990" y="2134298"/>
              <a:ext cx="1276350" cy="552450"/>
            </a:xfrm>
            <a:custGeom>
              <a:avLst/>
              <a:gdLst/>
              <a:ahLst/>
              <a:cxnLst/>
              <a:rect l="l" t="t" r="r" b="b"/>
              <a:pathLst>
                <a:path w="1276350" h="552450">
                  <a:moveTo>
                    <a:pt x="1275892" y="537857"/>
                  </a:moveTo>
                  <a:lnTo>
                    <a:pt x="0" y="537857"/>
                  </a:lnTo>
                  <a:lnTo>
                    <a:pt x="0" y="552437"/>
                  </a:lnTo>
                  <a:lnTo>
                    <a:pt x="1275892" y="552437"/>
                  </a:lnTo>
                  <a:lnTo>
                    <a:pt x="1275892" y="537857"/>
                  </a:lnTo>
                  <a:close/>
                </a:path>
                <a:path w="1276350" h="552450">
                  <a:moveTo>
                    <a:pt x="1275892" y="269811"/>
                  </a:moveTo>
                  <a:lnTo>
                    <a:pt x="0" y="269811"/>
                  </a:lnTo>
                  <a:lnTo>
                    <a:pt x="0" y="284391"/>
                  </a:lnTo>
                  <a:lnTo>
                    <a:pt x="1275892" y="284391"/>
                  </a:lnTo>
                  <a:lnTo>
                    <a:pt x="1275892" y="269811"/>
                  </a:lnTo>
                  <a:close/>
                </a:path>
                <a:path w="1276350" h="552450">
                  <a:moveTo>
                    <a:pt x="1275892" y="0"/>
                  </a:moveTo>
                  <a:lnTo>
                    <a:pt x="0" y="0"/>
                  </a:lnTo>
                  <a:lnTo>
                    <a:pt x="0" y="14579"/>
                  </a:lnTo>
                  <a:lnTo>
                    <a:pt x="1275892" y="14579"/>
                  </a:lnTo>
                  <a:lnTo>
                    <a:pt x="1275892" y="0"/>
                  </a:lnTo>
                  <a:close/>
                </a:path>
              </a:pathLst>
            </a:custGeom>
            <a:solidFill>
              <a:srgbClr val="000000"/>
            </a:solidFill>
          </p:spPr>
          <p:txBody>
            <a:bodyPr wrap="square" lIns="0" tIns="0" rIns="0" bIns="0" rtlCol="0"/>
            <a:lstStyle/>
            <a:p/>
          </p:txBody>
        </p:sp>
        <p:sp>
          <p:nvSpPr>
            <p:cNvPr id="20" name="object 20" descr=""/>
            <p:cNvSpPr/>
            <p:nvPr/>
          </p:nvSpPr>
          <p:spPr>
            <a:xfrm>
              <a:off x="3769609" y="5236730"/>
              <a:ext cx="1317625" cy="303530"/>
            </a:xfrm>
            <a:custGeom>
              <a:avLst/>
              <a:gdLst/>
              <a:ahLst/>
              <a:cxnLst/>
              <a:rect l="l" t="t" r="r" b="b"/>
              <a:pathLst>
                <a:path w="1317625" h="303529">
                  <a:moveTo>
                    <a:pt x="1317275" y="0"/>
                  </a:moveTo>
                  <a:lnTo>
                    <a:pt x="0" y="0"/>
                  </a:lnTo>
                  <a:lnTo>
                    <a:pt x="0" y="303133"/>
                  </a:lnTo>
                  <a:lnTo>
                    <a:pt x="1317275" y="303133"/>
                  </a:lnTo>
                  <a:lnTo>
                    <a:pt x="1317275" y="0"/>
                  </a:lnTo>
                  <a:close/>
                </a:path>
              </a:pathLst>
            </a:custGeom>
            <a:solidFill>
              <a:srgbClr val="FF99CC"/>
            </a:solidFill>
          </p:spPr>
          <p:txBody>
            <a:bodyPr wrap="square" lIns="0" tIns="0" rIns="0" bIns="0" rtlCol="0"/>
            <a:lstStyle/>
            <a:p/>
          </p:txBody>
        </p:sp>
        <p:sp>
          <p:nvSpPr>
            <p:cNvPr id="21" name="object 21" descr=""/>
            <p:cNvSpPr/>
            <p:nvPr/>
          </p:nvSpPr>
          <p:spPr>
            <a:xfrm>
              <a:off x="3769609" y="5236730"/>
              <a:ext cx="1317625" cy="303530"/>
            </a:xfrm>
            <a:custGeom>
              <a:avLst/>
              <a:gdLst/>
              <a:ahLst/>
              <a:cxnLst/>
              <a:rect l="l" t="t" r="r" b="b"/>
              <a:pathLst>
                <a:path w="1317625" h="303529">
                  <a:moveTo>
                    <a:pt x="0" y="303133"/>
                  </a:moveTo>
                  <a:lnTo>
                    <a:pt x="1317275" y="303133"/>
                  </a:lnTo>
                  <a:lnTo>
                    <a:pt x="1317275" y="0"/>
                  </a:lnTo>
                  <a:lnTo>
                    <a:pt x="0" y="0"/>
                  </a:lnTo>
                  <a:lnTo>
                    <a:pt x="0" y="303133"/>
                  </a:lnTo>
                  <a:close/>
                </a:path>
              </a:pathLst>
            </a:custGeom>
            <a:ln w="14574">
              <a:solidFill>
                <a:srgbClr val="000000"/>
              </a:solidFill>
            </a:ln>
          </p:spPr>
          <p:txBody>
            <a:bodyPr wrap="square" lIns="0" tIns="0" rIns="0" bIns="0" rtlCol="0"/>
            <a:lstStyle/>
            <a:p/>
          </p:txBody>
        </p:sp>
        <p:sp>
          <p:nvSpPr>
            <p:cNvPr id="22" name="object 22" descr=""/>
            <p:cNvSpPr/>
            <p:nvPr/>
          </p:nvSpPr>
          <p:spPr>
            <a:xfrm>
              <a:off x="6972847" y="5236730"/>
              <a:ext cx="1316990" cy="303530"/>
            </a:xfrm>
            <a:custGeom>
              <a:avLst/>
              <a:gdLst/>
              <a:ahLst/>
              <a:cxnLst/>
              <a:rect l="l" t="t" r="r" b="b"/>
              <a:pathLst>
                <a:path w="1316990" h="303529">
                  <a:moveTo>
                    <a:pt x="1316805" y="0"/>
                  </a:moveTo>
                  <a:lnTo>
                    <a:pt x="0" y="0"/>
                  </a:lnTo>
                  <a:lnTo>
                    <a:pt x="0" y="303133"/>
                  </a:lnTo>
                  <a:lnTo>
                    <a:pt x="1316805" y="303133"/>
                  </a:lnTo>
                  <a:lnTo>
                    <a:pt x="1316805" y="0"/>
                  </a:lnTo>
                  <a:close/>
                </a:path>
              </a:pathLst>
            </a:custGeom>
            <a:solidFill>
              <a:srgbClr val="CC99FF"/>
            </a:solidFill>
          </p:spPr>
          <p:txBody>
            <a:bodyPr wrap="square" lIns="0" tIns="0" rIns="0" bIns="0" rtlCol="0"/>
            <a:lstStyle/>
            <a:p/>
          </p:txBody>
        </p:sp>
        <p:sp>
          <p:nvSpPr>
            <p:cNvPr id="23" name="object 23" descr=""/>
            <p:cNvSpPr/>
            <p:nvPr/>
          </p:nvSpPr>
          <p:spPr>
            <a:xfrm>
              <a:off x="6972847" y="5236730"/>
              <a:ext cx="1316990" cy="303530"/>
            </a:xfrm>
            <a:custGeom>
              <a:avLst/>
              <a:gdLst/>
              <a:ahLst/>
              <a:cxnLst/>
              <a:rect l="l" t="t" r="r" b="b"/>
              <a:pathLst>
                <a:path w="1316990" h="303529">
                  <a:moveTo>
                    <a:pt x="0" y="303133"/>
                  </a:moveTo>
                  <a:lnTo>
                    <a:pt x="1316805" y="303133"/>
                  </a:lnTo>
                  <a:lnTo>
                    <a:pt x="1316805" y="0"/>
                  </a:lnTo>
                  <a:lnTo>
                    <a:pt x="0" y="0"/>
                  </a:lnTo>
                  <a:lnTo>
                    <a:pt x="0" y="303133"/>
                  </a:lnTo>
                  <a:close/>
                </a:path>
              </a:pathLst>
            </a:custGeom>
            <a:ln w="14574">
              <a:solidFill>
                <a:srgbClr val="000000"/>
              </a:solidFill>
            </a:ln>
          </p:spPr>
          <p:txBody>
            <a:bodyPr wrap="square" lIns="0" tIns="0" rIns="0" bIns="0" rtlCol="0"/>
            <a:lstStyle/>
            <a:p/>
          </p:txBody>
        </p:sp>
      </p:grpSp>
      <p:sp>
        <p:nvSpPr>
          <p:cNvPr id="24" name="object 24" descr=""/>
          <p:cNvSpPr txBox="1"/>
          <p:nvPr/>
        </p:nvSpPr>
        <p:spPr>
          <a:xfrm>
            <a:off x="3859443" y="1302340"/>
            <a:ext cx="1088390" cy="237490"/>
          </a:xfrm>
          <a:prstGeom prst="rect">
            <a:avLst/>
          </a:prstGeom>
        </p:spPr>
        <p:txBody>
          <a:bodyPr wrap="square" lIns="0" tIns="17145" rIns="0" bIns="0" rtlCol="0" vert="horz">
            <a:spAutoFit/>
          </a:bodyPr>
          <a:lstStyle/>
          <a:p>
            <a:pPr marL="12700">
              <a:lnSpc>
                <a:spcPct val="100000"/>
              </a:lnSpc>
              <a:spcBef>
                <a:spcPts val="135"/>
              </a:spcBef>
            </a:pPr>
            <a:r>
              <a:rPr dirty="0" sz="1350" spc="-10" b="1">
                <a:latin typeface="宋体"/>
                <a:cs typeface="宋体"/>
              </a:rPr>
              <a:t>从指令部件来</a:t>
            </a:r>
            <a:endParaRPr sz="1350">
              <a:latin typeface="宋体"/>
              <a:cs typeface="宋体"/>
            </a:endParaRPr>
          </a:p>
        </p:txBody>
      </p:sp>
      <p:sp>
        <p:nvSpPr>
          <p:cNvPr id="25" name="object 25" descr=""/>
          <p:cNvSpPr txBox="1"/>
          <p:nvPr/>
        </p:nvSpPr>
        <p:spPr>
          <a:xfrm>
            <a:off x="7090788" y="5257018"/>
            <a:ext cx="1121410" cy="237490"/>
          </a:xfrm>
          <a:prstGeom prst="rect">
            <a:avLst/>
          </a:prstGeom>
        </p:spPr>
        <p:txBody>
          <a:bodyPr wrap="square" lIns="0" tIns="17145" rIns="0" bIns="0" rtlCol="0" vert="horz">
            <a:spAutoFit/>
          </a:bodyPr>
          <a:lstStyle/>
          <a:p>
            <a:pPr marL="12700">
              <a:lnSpc>
                <a:spcPct val="100000"/>
              </a:lnSpc>
              <a:spcBef>
                <a:spcPts val="135"/>
              </a:spcBef>
            </a:pPr>
            <a:r>
              <a:rPr dirty="0" sz="1350" spc="-35" b="1">
                <a:latin typeface="宋体"/>
                <a:cs typeface="宋体"/>
              </a:rPr>
              <a:t>浮点乘法器 </a:t>
            </a:r>
            <a:r>
              <a:rPr dirty="0" sz="1350" spc="-50" b="1">
                <a:latin typeface="Times New Roman"/>
                <a:cs typeface="Times New Roman"/>
              </a:rPr>
              <a:t>M</a:t>
            </a:r>
            <a:endParaRPr sz="1350">
              <a:latin typeface="Times New Roman"/>
              <a:cs typeface="Times New Roman"/>
            </a:endParaRPr>
          </a:p>
        </p:txBody>
      </p:sp>
      <p:grpSp>
        <p:nvGrpSpPr>
          <p:cNvPr id="26" name="object 26" descr=""/>
          <p:cNvGrpSpPr/>
          <p:nvPr/>
        </p:nvGrpSpPr>
        <p:grpSpPr>
          <a:xfrm>
            <a:off x="4387615" y="1559282"/>
            <a:ext cx="2476500" cy="1291590"/>
            <a:chOff x="4387615" y="1559282"/>
            <a:chExt cx="2476500" cy="1291590"/>
          </a:xfrm>
        </p:grpSpPr>
        <p:sp>
          <p:nvSpPr>
            <p:cNvPr id="27" name="object 27" descr=""/>
            <p:cNvSpPr/>
            <p:nvPr/>
          </p:nvSpPr>
          <p:spPr>
            <a:xfrm>
              <a:off x="5992163" y="1934136"/>
              <a:ext cx="864869" cy="909955"/>
            </a:xfrm>
            <a:custGeom>
              <a:avLst/>
              <a:gdLst/>
              <a:ahLst/>
              <a:cxnLst/>
              <a:rect l="l" t="t" r="r" b="b"/>
              <a:pathLst>
                <a:path w="864870" h="909955">
                  <a:moveTo>
                    <a:pt x="864381" y="0"/>
                  </a:moveTo>
                  <a:lnTo>
                    <a:pt x="0" y="0"/>
                  </a:lnTo>
                  <a:lnTo>
                    <a:pt x="0" y="909381"/>
                  </a:lnTo>
                  <a:lnTo>
                    <a:pt x="864381" y="909381"/>
                  </a:lnTo>
                  <a:lnTo>
                    <a:pt x="864381" y="0"/>
                  </a:lnTo>
                  <a:close/>
                </a:path>
              </a:pathLst>
            </a:custGeom>
            <a:solidFill>
              <a:srgbClr val="FFFF99"/>
            </a:solidFill>
          </p:spPr>
          <p:txBody>
            <a:bodyPr wrap="square" lIns="0" tIns="0" rIns="0" bIns="0" rtlCol="0"/>
            <a:lstStyle/>
            <a:p/>
          </p:txBody>
        </p:sp>
        <p:sp>
          <p:nvSpPr>
            <p:cNvPr id="28" name="object 28" descr=""/>
            <p:cNvSpPr/>
            <p:nvPr/>
          </p:nvSpPr>
          <p:spPr>
            <a:xfrm>
              <a:off x="5992163" y="1934136"/>
              <a:ext cx="864869" cy="909955"/>
            </a:xfrm>
            <a:custGeom>
              <a:avLst/>
              <a:gdLst/>
              <a:ahLst/>
              <a:cxnLst/>
              <a:rect l="l" t="t" r="r" b="b"/>
              <a:pathLst>
                <a:path w="864870" h="909955">
                  <a:moveTo>
                    <a:pt x="0" y="909381"/>
                  </a:moveTo>
                  <a:lnTo>
                    <a:pt x="864381" y="909381"/>
                  </a:lnTo>
                  <a:lnTo>
                    <a:pt x="864381" y="0"/>
                  </a:lnTo>
                  <a:lnTo>
                    <a:pt x="0" y="0"/>
                  </a:lnTo>
                  <a:lnTo>
                    <a:pt x="0" y="909381"/>
                  </a:lnTo>
                  <a:close/>
                </a:path>
              </a:pathLst>
            </a:custGeom>
            <a:ln w="14576">
              <a:solidFill>
                <a:srgbClr val="000000"/>
              </a:solidFill>
            </a:ln>
          </p:spPr>
          <p:txBody>
            <a:bodyPr wrap="square" lIns="0" tIns="0" rIns="0" bIns="0" rtlCol="0"/>
            <a:lstStyle/>
            <a:p/>
          </p:txBody>
        </p:sp>
        <p:sp>
          <p:nvSpPr>
            <p:cNvPr id="29" name="object 29" descr=""/>
            <p:cNvSpPr/>
            <p:nvPr/>
          </p:nvSpPr>
          <p:spPr>
            <a:xfrm>
              <a:off x="5992163" y="2609301"/>
              <a:ext cx="864869" cy="14604"/>
            </a:xfrm>
            <a:custGeom>
              <a:avLst/>
              <a:gdLst/>
              <a:ahLst/>
              <a:cxnLst/>
              <a:rect l="l" t="t" r="r" b="b"/>
              <a:pathLst>
                <a:path w="864870" h="14605">
                  <a:moveTo>
                    <a:pt x="0" y="14573"/>
                  </a:moveTo>
                  <a:lnTo>
                    <a:pt x="864342" y="14573"/>
                  </a:lnTo>
                  <a:lnTo>
                    <a:pt x="864342" y="0"/>
                  </a:lnTo>
                  <a:lnTo>
                    <a:pt x="0" y="0"/>
                  </a:lnTo>
                  <a:lnTo>
                    <a:pt x="0" y="14573"/>
                  </a:lnTo>
                  <a:close/>
                </a:path>
              </a:pathLst>
            </a:custGeom>
            <a:solidFill>
              <a:srgbClr val="000000"/>
            </a:solidFill>
          </p:spPr>
          <p:txBody>
            <a:bodyPr wrap="square" lIns="0" tIns="0" rIns="0" bIns="0" rtlCol="0"/>
            <a:lstStyle/>
            <a:p/>
          </p:txBody>
        </p:sp>
        <p:sp>
          <p:nvSpPr>
            <p:cNvPr id="30" name="object 30" descr=""/>
            <p:cNvSpPr/>
            <p:nvPr/>
          </p:nvSpPr>
          <p:spPr>
            <a:xfrm>
              <a:off x="4388986" y="1560653"/>
              <a:ext cx="78740" cy="313690"/>
            </a:xfrm>
            <a:custGeom>
              <a:avLst/>
              <a:gdLst/>
              <a:ahLst/>
              <a:cxnLst/>
              <a:rect l="l" t="t" r="r" b="b"/>
              <a:pathLst>
                <a:path w="78739" h="313689">
                  <a:moveTo>
                    <a:pt x="0" y="195797"/>
                  </a:moveTo>
                  <a:lnTo>
                    <a:pt x="39035" y="313080"/>
                  </a:lnTo>
                  <a:lnTo>
                    <a:pt x="62118" y="244551"/>
                  </a:lnTo>
                  <a:lnTo>
                    <a:pt x="33864" y="244551"/>
                  </a:lnTo>
                  <a:lnTo>
                    <a:pt x="29634" y="239851"/>
                  </a:lnTo>
                  <a:lnTo>
                    <a:pt x="29634" y="225376"/>
                  </a:lnTo>
                  <a:lnTo>
                    <a:pt x="0" y="195797"/>
                  </a:lnTo>
                  <a:close/>
                </a:path>
                <a:path w="78739" h="313689">
                  <a:moveTo>
                    <a:pt x="29634" y="225376"/>
                  </a:moveTo>
                  <a:lnTo>
                    <a:pt x="29634" y="239851"/>
                  </a:lnTo>
                  <a:lnTo>
                    <a:pt x="33864" y="244551"/>
                  </a:lnTo>
                  <a:lnTo>
                    <a:pt x="44676" y="244551"/>
                  </a:lnTo>
                  <a:lnTo>
                    <a:pt x="48906" y="239851"/>
                  </a:lnTo>
                  <a:lnTo>
                    <a:pt x="48906" y="234761"/>
                  </a:lnTo>
                  <a:lnTo>
                    <a:pt x="39035" y="234761"/>
                  </a:lnTo>
                  <a:lnTo>
                    <a:pt x="29634" y="225376"/>
                  </a:lnTo>
                  <a:close/>
                </a:path>
                <a:path w="78739" h="313689">
                  <a:moveTo>
                    <a:pt x="78540" y="195797"/>
                  </a:moveTo>
                  <a:lnTo>
                    <a:pt x="48906" y="225025"/>
                  </a:lnTo>
                  <a:lnTo>
                    <a:pt x="48906" y="239851"/>
                  </a:lnTo>
                  <a:lnTo>
                    <a:pt x="44676" y="244551"/>
                  </a:lnTo>
                  <a:lnTo>
                    <a:pt x="62118" y="244551"/>
                  </a:lnTo>
                  <a:lnTo>
                    <a:pt x="78540" y="195797"/>
                  </a:lnTo>
                  <a:close/>
                </a:path>
                <a:path w="78739" h="313689">
                  <a:moveTo>
                    <a:pt x="44676" y="0"/>
                  </a:moveTo>
                  <a:lnTo>
                    <a:pt x="33864" y="0"/>
                  </a:lnTo>
                  <a:lnTo>
                    <a:pt x="29634" y="4307"/>
                  </a:lnTo>
                  <a:lnTo>
                    <a:pt x="29634" y="225376"/>
                  </a:lnTo>
                  <a:lnTo>
                    <a:pt x="39035" y="234761"/>
                  </a:lnTo>
                  <a:lnTo>
                    <a:pt x="48906" y="225025"/>
                  </a:lnTo>
                  <a:lnTo>
                    <a:pt x="48906" y="4307"/>
                  </a:lnTo>
                  <a:lnTo>
                    <a:pt x="44676" y="0"/>
                  </a:lnTo>
                  <a:close/>
                </a:path>
                <a:path w="78739" h="313689">
                  <a:moveTo>
                    <a:pt x="48906" y="225025"/>
                  </a:moveTo>
                  <a:lnTo>
                    <a:pt x="39035" y="234761"/>
                  </a:lnTo>
                  <a:lnTo>
                    <a:pt x="48906" y="234761"/>
                  </a:lnTo>
                  <a:lnTo>
                    <a:pt x="48906" y="225025"/>
                  </a:lnTo>
                  <a:close/>
                </a:path>
              </a:pathLst>
            </a:custGeom>
            <a:solidFill>
              <a:srgbClr val="000000"/>
            </a:solidFill>
          </p:spPr>
          <p:txBody>
            <a:bodyPr wrap="square" lIns="0" tIns="0" rIns="0" bIns="0" rtlCol="0"/>
            <a:lstStyle/>
            <a:p/>
          </p:txBody>
        </p:sp>
        <p:pic>
          <p:nvPicPr>
            <p:cNvPr id="31" name="object 31" descr=""/>
            <p:cNvPicPr/>
            <p:nvPr/>
          </p:nvPicPr>
          <p:blipFill>
            <a:blip r:embed="rId2" cstate="print"/>
            <a:stretch>
              <a:fillRect/>
            </a:stretch>
          </p:blipFill>
          <p:spPr>
            <a:xfrm>
              <a:off x="4387615" y="1559282"/>
              <a:ext cx="81282" cy="315822"/>
            </a:xfrm>
            <a:prstGeom prst="rect">
              <a:avLst/>
            </a:prstGeom>
          </p:spPr>
        </p:pic>
      </p:grpSp>
      <p:sp>
        <p:nvSpPr>
          <p:cNvPr id="32" name="object 32" descr=""/>
          <p:cNvSpPr txBox="1"/>
          <p:nvPr/>
        </p:nvSpPr>
        <p:spPr>
          <a:xfrm>
            <a:off x="3540168" y="1968052"/>
            <a:ext cx="201930" cy="758825"/>
          </a:xfrm>
          <a:prstGeom prst="rect">
            <a:avLst/>
          </a:prstGeom>
        </p:spPr>
        <p:txBody>
          <a:bodyPr wrap="square" lIns="0" tIns="49530" rIns="0" bIns="0" rtlCol="0" vert="horz">
            <a:spAutoFit/>
          </a:bodyPr>
          <a:lstStyle/>
          <a:p>
            <a:pPr algn="just" marL="12700" marR="5080">
              <a:lnSpc>
                <a:spcPts val="1370"/>
              </a:lnSpc>
              <a:spcBef>
                <a:spcPts val="390"/>
              </a:spcBef>
            </a:pPr>
            <a:r>
              <a:rPr dirty="0" sz="1350" spc="-50" b="1">
                <a:latin typeface="宋体"/>
                <a:cs typeface="宋体"/>
              </a:rPr>
              <a:t>指令队列</a:t>
            </a:r>
            <a:endParaRPr sz="1350">
              <a:latin typeface="宋体"/>
              <a:cs typeface="宋体"/>
            </a:endParaRPr>
          </a:p>
        </p:txBody>
      </p:sp>
      <p:grpSp>
        <p:nvGrpSpPr>
          <p:cNvPr id="33" name="object 33" descr=""/>
          <p:cNvGrpSpPr/>
          <p:nvPr/>
        </p:nvGrpSpPr>
        <p:grpSpPr>
          <a:xfrm>
            <a:off x="3399330" y="1559065"/>
            <a:ext cx="6346190" cy="3651250"/>
            <a:chOff x="3399330" y="1559065"/>
            <a:chExt cx="6346190" cy="3651250"/>
          </a:xfrm>
        </p:grpSpPr>
        <p:sp>
          <p:nvSpPr>
            <p:cNvPr id="34" name="object 34" descr=""/>
            <p:cNvSpPr/>
            <p:nvPr/>
          </p:nvSpPr>
          <p:spPr>
            <a:xfrm>
              <a:off x="6404258" y="1570638"/>
              <a:ext cx="3334385" cy="0"/>
            </a:xfrm>
            <a:custGeom>
              <a:avLst/>
              <a:gdLst/>
              <a:ahLst/>
              <a:cxnLst/>
              <a:rect l="l" t="t" r="r" b="b"/>
              <a:pathLst>
                <a:path w="3334384" h="0">
                  <a:moveTo>
                    <a:pt x="0" y="0"/>
                  </a:moveTo>
                  <a:lnTo>
                    <a:pt x="3333780" y="0"/>
                  </a:lnTo>
                </a:path>
              </a:pathLst>
            </a:custGeom>
            <a:ln w="14573">
              <a:solidFill>
                <a:srgbClr val="000000"/>
              </a:solidFill>
            </a:ln>
          </p:spPr>
          <p:txBody>
            <a:bodyPr wrap="square" lIns="0" tIns="0" rIns="0" bIns="0" rtlCol="0"/>
            <a:lstStyle/>
            <a:p/>
          </p:txBody>
        </p:sp>
        <p:sp>
          <p:nvSpPr>
            <p:cNvPr id="35" name="object 35" descr=""/>
            <p:cNvSpPr/>
            <p:nvPr/>
          </p:nvSpPr>
          <p:spPr>
            <a:xfrm>
              <a:off x="6364693" y="1560653"/>
              <a:ext cx="78740" cy="374015"/>
            </a:xfrm>
            <a:custGeom>
              <a:avLst/>
              <a:gdLst/>
              <a:ahLst/>
              <a:cxnLst/>
              <a:rect l="l" t="t" r="r" b="b"/>
              <a:pathLst>
                <a:path w="78739" h="374014">
                  <a:moveTo>
                    <a:pt x="0" y="256298"/>
                  </a:moveTo>
                  <a:lnTo>
                    <a:pt x="39564" y="373581"/>
                  </a:lnTo>
                  <a:lnTo>
                    <a:pt x="62338" y="305052"/>
                  </a:lnTo>
                  <a:lnTo>
                    <a:pt x="33884" y="305052"/>
                  </a:lnTo>
                  <a:lnTo>
                    <a:pt x="29575" y="300744"/>
                  </a:lnTo>
                  <a:lnTo>
                    <a:pt x="29575" y="285472"/>
                  </a:lnTo>
                  <a:lnTo>
                    <a:pt x="0" y="256298"/>
                  </a:lnTo>
                  <a:close/>
                </a:path>
                <a:path w="78739" h="374014">
                  <a:moveTo>
                    <a:pt x="29623" y="285472"/>
                  </a:moveTo>
                  <a:lnTo>
                    <a:pt x="29575" y="300744"/>
                  </a:lnTo>
                  <a:lnTo>
                    <a:pt x="33884" y="305052"/>
                  </a:lnTo>
                  <a:lnTo>
                    <a:pt x="44656" y="305052"/>
                  </a:lnTo>
                  <a:lnTo>
                    <a:pt x="49357" y="300744"/>
                  </a:lnTo>
                  <a:lnTo>
                    <a:pt x="49357" y="295262"/>
                  </a:lnTo>
                  <a:lnTo>
                    <a:pt x="39564" y="295262"/>
                  </a:lnTo>
                  <a:lnTo>
                    <a:pt x="29623" y="285472"/>
                  </a:lnTo>
                  <a:close/>
                </a:path>
                <a:path w="78739" h="374014">
                  <a:moveTo>
                    <a:pt x="78540" y="256298"/>
                  </a:moveTo>
                  <a:lnTo>
                    <a:pt x="49357" y="285472"/>
                  </a:lnTo>
                  <a:lnTo>
                    <a:pt x="49357" y="300744"/>
                  </a:lnTo>
                  <a:lnTo>
                    <a:pt x="44656" y="305052"/>
                  </a:lnTo>
                  <a:lnTo>
                    <a:pt x="62338" y="305052"/>
                  </a:lnTo>
                  <a:lnTo>
                    <a:pt x="78540" y="256298"/>
                  </a:lnTo>
                  <a:close/>
                </a:path>
                <a:path w="78739" h="374014">
                  <a:moveTo>
                    <a:pt x="44656" y="0"/>
                  </a:moveTo>
                  <a:lnTo>
                    <a:pt x="33884" y="0"/>
                  </a:lnTo>
                  <a:lnTo>
                    <a:pt x="29575" y="4307"/>
                  </a:lnTo>
                  <a:lnTo>
                    <a:pt x="29623" y="285472"/>
                  </a:lnTo>
                  <a:lnTo>
                    <a:pt x="39564" y="295262"/>
                  </a:lnTo>
                  <a:lnTo>
                    <a:pt x="49357" y="285472"/>
                  </a:lnTo>
                  <a:lnTo>
                    <a:pt x="49357" y="4307"/>
                  </a:lnTo>
                  <a:lnTo>
                    <a:pt x="44656" y="0"/>
                  </a:lnTo>
                  <a:close/>
                </a:path>
                <a:path w="78739" h="374014">
                  <a:moveTo>
                    <a:pt x="49357" y="285472"/>
                  </a:moveTo>
                  <a:lnTo>
                    <a:pt x="39564" y="295262"/>
                  </a:lnTo>
                  <a:lnTo>
                    <a:pt x="49357" y="295262"/>
                  </a:lnTo>
                  <a:lnTo>
                    <a:pt x="49357" y="285472"/>
                  </a:lnTo>
                  <a:close/>
                </a:path>
              </a:pathLst>
            </a:custGeom>
            <a:solidFill>
              <a:srgbClr val="000000"/>
            </a:solidFill>
          </p:spPr>
          <p:txBody>
            <a:bodyPr wrap="square" lIns="0" tIns="0" rIns="0" bIns="0" rtlCol="0"/>
            <a:lstStyle/>
            <a:p/>
          </p:txBody>
        </p:sp>
        <p:sp>
          <p:nvSpPr>
            <p:cNvPr id="36" name="object 36" descr=""/>
            <p:cNvSpPr/>
            <p:nvPr/>
          </p:nvSpPr>
          <p:spPr>
            <a:xfrm>
              <a:off x="6364693" y="1560653"/>
              <a:ext cx="78740" cy="374015"/>
            </a:xfrm>
            <a:custGeom>
              <a:avLst/>
              <a:gdLst/>
              <a:ahLst/>
              <a:cxnLst/>
              <a:rect l="l" t="t" r="r" b="b"/>
              <a:pathLst>
                <a:path w="78739" h="374014">
                  <a:moveTo>
                    <a:pt x="49357" y="9985"/>
                  </a:moveTo>
                  <a:lnTo>
                    <a:pt x="49357" y="295262"/>
                  </a:lnTo>
                  <a:lnTo>
                    <a:pt x="49357" y="300744"/>
                  </a:lnTo>
                  <a:lnTo>
                    <a:pt x="44656" y="305052"/>
                  </a:lnTo>
                  <a:lnTo>
                    <a:pt x="39564" y="305052"/>
                  </a:lnTo>
                  <a:lnTo>
                    <a:pt x="33884" y="305052"/>
                  </a:lnTo>
                  <a:lnTo>
                    <a:pt x="29575" y="300744"/>
                  </a:lnTo>
                  <a:lnTo>
                    <a:pt x="29575" y="295262"/>
                  </a:lnTo>
                  <a:lnTo>
                    <a:pt x="29575" y="9985"/>
                  </a:lnTo>
                  <a:lnTo>
                    <a:pt x="29575" y="4307"/>
                  </a:lnTo>
                  <a:lnTo>
                    <a:pt x="33884" y="0"/>
                  </a:lnTo>
                  <a:lnTo>
                    <a:pt x="39564" y="0"/>
                  </a:lnTo>
                  <a:lnTo>
                    <a:pt x="44656" y="0"/>
                  </a:lnTo>
                  <a:lnTo>
                    <a:pt x="49357" y="4307"/>
                  </a:lnTo>
                  <a:lnTo>
                    <a:pt x="49357" y="9985"/>
                  </a:lnTo>
                  <a:close/>
                </a:path>
                <a:path w="78739" h="374014">
                  <a:moveTo>
                    <a:pt x="39564" y="295262"/>
                  </a:moveTo>
                  <a:lnTo>
                    <a:pt x="78540" y="256298"/>
                  </a:lnTo>
                  <a:lnTo>
                    <a:pt x="39564" y="373581"/>
                  </a:lnTo>
                  <a:lnTo>
                    <a:pt x="0" y="256298"/>
                  </a:lnTo>
                  <a:lnTo>
                    <a:pt x="39564" y="295262"/>
                  </a:lnTo>
                  <a:close/>
                </a:path>
              </a:pathLst>
            </a:custGeom>
            <a:ln w="3175">
              <a:solidFill>
                <a:srgbClr val="000000"/>
              </a:solidFill>
            </a:ln>
          </p:spPr>
          <p:txBody>
            <a:bodyPr wrap="square" lIns="0" tIns="0" rIns="0" bIns="0" rtlCol="0"/>
            <a:lstStyle/>
            <a:p/>
          </p:txBody>
        </p:sp>
        <p:sp>
          <p:nvSpPr>
            <p:cNvPr id="37" name="object 37" descr=""/>
            <p:cNvSpPr/>
            <p:nvPr/>
          </p:nvSpPr>
          <p:spPr>
            <a:xfrm>
              <a:off x="4018864" y="4810205"/>
              <a:ext cx="78105" cy="398145"/>
            </a:xfrm>
            <a:custGeom>
              <a:avLst/>
              <a:gdLst/>
              <a:ahLst/>
              <a:cxnLst/>
              <a:rect l="l" t="t" r="r" b="b"/>
              <a:pathLst>
                <a:path w="78104" h="398145">
                  <a:moveTo>
                    <a:pt x="0" y="280597"/>
                  </a:moveTo>
                  <a:lnTo>
                    <a:pt x="39035" y="397919"/>
                  </a:lnTo>
                  <a:lnTo>
                    <a:pt x="61830" y="329409"/>
                  </a:lnTo>
                  <a:lnTo>
                    <a:pt x="33394" y="329409"/>
                  </a:lnTo>
                  <a:lnTo>
                    <a:pt x="29163" y="325180"/>
                  </a:lnTo>
                  <a:lnTo>
                    <a:pt x="29163" y="310044"/>
                  </a:lnTo>
                  <a:lnTo>
                    <a:pt x="0" y="280597"/>
                  </a:lnTo>
                  <a:close/>
                </a:path>
                <a:path w="78104" h="398145">
                  <a:moveTo>
                    <a:pt x="29163" y="310044"/>
                  </a:moveTo>
                  <a:lnTo>
                    <a:pt x="29163" y="325180"/>
                  </a:lnTo>
                  <a:lnTo>
                    <a:pt x="33394" y="329409"/>
                  </a:lnTo>
                  <a:lnTo>
                    <a:pt x="44206" y="329409"/>
                  </a:lnTo>
                  <a:lnTo>
                    <a:pt x="48906" y="325180"/>
                  </a:lnTo>
                  <a:lnTo>
                    <a:pt x="48906" y="320011"/>
                  </a:lnTo>
                  <a:lnTo>
                    <a:pt x="39035" y="320011"/>
                  </a:lnTo>
                  <a:lnTo>
                    <a:pt x="29163" y="310044"/>
                  </a:lnTo>
                  <a:close/>
                </a:path>
                <a:path w="78104" h="398145">
                  <a:moveTo>
                    <a:pt x="78070" y="280597"/>
                  </a:moveTo>
                  <a:lnTo>
                    <a:pt x="48906" y="310044"/>
                  </a:lnTo>
                  <a:lnTo>
                    <a:pt x="48906" y="325180"/>
                  </a:lnTo>
                  <a:lnTo>
                    <a:pt x="44206" y="329409"/>
                  </a:lnTo>
                  <a:lnTo>
                    <a:pt x="61830" y="329409"/>
                  </a:lnTo>
                  <a:lnTo>
                    <a:pt x="78070" y="280597"/>
                  </a:lnTo>
                  <a:close/>
                </a:path>
                <a:path w="78104" h="398145">
                  <a:moveTo>
                    <a:pt x="44206" y="0"/>
                  </a:moveTo>
                  <a:lnTo>
                    <a:pt x="33394" y="0"/>
                  </a:lnTo>
                  <a:lnTo>
                    <a:pt x="29163" y="4229"/>
                  </a:lnTo>
                  <a:lnTo>
                    <a:pt x="29163" y="310044"/>
                  </a:lnTo>
                  <a:lnTo>
                    <a:pt x="39035" y="320011"/>
                  </a:lnTo>
                  <a:lnTo>
                    <a:pt x="48906" y="310044"/>
                  </a:lnTo>
                  <a:lnTo>
                    <a:pt x="48906" y="4229"/>
                  </a:lnTo>
                  <a:lnTo>
                    <a:pt x="44206" y="0"/>
                  </a:lnTo>
                  <a:close/>
                </a:path>
                <a:path w="78104" h="398145">
                  <a:moveTo>
                    <a:pt x="48906" y="310044"/>
                  </a:moveTo>
                  <a:lnTo>
                    <a:pt x="39035" y="320011"/>
                  </a:lnTo>
                  <a:lnTo>
                    <a:pt x="48906" y="320011"/>
                  </a:lnTo>
                  <a:lnTo>
                    <a:pt x="48906" y="310044"/>
                  </a:lnTo>
                  <a:close/>
                </a:path>
              </a:pathLst>
            </a:custGeom>
            <a:solidFill>
              <a:srgbClr val="000000"/>
            </a:solidFill>
          </p:spPr>
          <p:txBody>
            <a:bodyPr wrap="square" lIns="0" tIns="0" rIns="0" bIns="0" rtlCol="0"/>
            <a:lstStyle/>
            <a:p/>
          </p:txBody>
        </p:sp>
        <p:sp>
          <p:nvSpPr>
            <p:cNvPr id="38" name="object 38" descr=""/>
            <p:cNvSpPr/>
            <p:nvPr/>
          </p:nvSpPr>
          <p:spPr>
            <a:xfrm>
              <a:off x="4018864" y="4810205"/>
              <a:ext cx="78105" cy="398145"/>
            </a:xfrm>
            <a:custGeom>
              <a:avLst/>
              <a:gdLst/>
              <a:ahLst/>
              <a:cxnLst/>
              <a:rect l="l" t="t" r="r" b="b"/>
              <a:pathLst>
                <a:path w="78104" h="398145">
                  <a:moveTo>
                    <a:pt x="48906" y="9848"/>
                  </a:moveTo>
                  <a:lnTo>
                    <a:pt x="48906" y="320011"/>
                  </a:lnTo>
                  <a:lnTo>
                    <a:pt x="48906" y="325180"/>
                  </a:lnTo>
                  <a:lnTo>
                    <a:pt x="44206" y="329409"/>
                  </a:lnTo>
                  <a:lnTo>
                    <a:pt x="29163" y="9848"/>
                  </a:lnTo>
                  <a:lnTo>
                    <a:pt x="29163" y="4229"/>
                  </a:lnTo>
                  <a:lnTo>
                    <a:pt x="33394" y="0"/>
                  </a:lnTo>
                  <a:lnTo>
                    <a:pt x="39035" y="0"/>
                  </a:lnTo>
                  <a:lnTo>
                    <a:pt x="44206" y="0"/>
                  </a:lnTo>
                  <a:lnTo>
                    <a:pt x="48906" y="4229"/>
                  </a:lnTo>
                  <a:lnTo>
                    <a:pt x="48906" y="9848"/>
                  </a:lnTo>
                  <a:close/>
                </a:path>
                <a:path w="78104" h="398145">
                  <a:moveTo>
                    <a:pt x="39035" y="320011"/>
                  </a:moveTo>
                  <a:lnTo>
                    <a:pt x="78070" y="280597"/>
                  </a:lnTo>
                  <a:lnTo>
                    <a:pt x="39035" y="397919"/>
                  </a:lnTo>
                  <a:lnTo>
                    <a:pt x="0" y="280597"/>
                  </a:lnTo>
                  <a:lnTo>
                    <a:pt x="39035" y="320011"/>
                  </a:lnTo>
                  <a:close/>
                </a:path>
              </a:pathLst>
            </a:custGeom>
            <a:ln w="3175">
              <a:solidFill>
                <a:srgbClr val="000000"/>
              </a:solidFill>
            </a:ln>
          </p:spPr>
          <p:txBody>
            <a:bodyPr wrap="square" lIns="0" tIns="0" rIns="0" bIns="0" rtlCol="0"/>
            <a:lstStyle/>
            <a:p/>
          </p:txBody>
        </p:sp>
        <p:sp>
          <p:nvSpPr>
            <p:cNvPr id="39" name="object 39" descr=""/>
            <p:cNvSpPr/>
            <p:nvPr/>
          </p:nvSpPr>
          <p:spPr>
            <a:xfrm>
              <a:off x="4759598" y="4810205"/>
              <a:ext cx="78740" cy="398145"/>
            </a:xfrm>
            <a:custGeom>
              <a:avLst/>
              <a:gdLst/>
              <a:ahLst/>
              <a:cxnLst/>
              <a:rect l="l" t="t" r="r" b="b"/>
              <a:pathLst>
                <a:path w="78739" h="398145">
                  <a:moveTo>
                    <a:pt x="0" y="280597"/>
                  </a:moveTo>
                  <a:lnTo>
                    <a:pt x="38976" y="397919"/>
                  </a:lnTo>
                  <a:lnTo>
                    <a:pt x="62080" y="329409"/>
                  </a:lnTo>
                  <a:lnTo>
                    <a:pt x="33884" y="329409"/>
                  </a:lnTo>
                  <a:lnTo>
                    <a:pt x="29575" y="325180"/>
                  </a:lnTo>
                  <a:lnTo>
                    <a:pt x="29575" y="310504"/>
                  </a:lnTo>
                  <a:lnTo>
                    <a:pt x="0" y="280597"/>
                  </a:lnTo>
                  <a:close/>
                </a:path>
                <a:path w="78739" h="398145">
                  <a:moveTo>
                    <a:pt x="29575" y="310504"/>
                  </a:moveTo>
                  <a:lnTo>
                    <a:pt x="29575" y="325180"/>
                  </a:lnTo>
                  <a:lnTo>
                    <a:pt x="33884" y="329409"/>
                  </a:lnTo>
                  <a:lnTo>
                    <a:pt x="44656" y="329409"/>
                  </a:lnTo>
                  <a:lnTo>
                    <a:pt x="48965" y="325180"/>
                  </a:lnTo>
                  <a:lnTo>
                    <a:pt x="48965" y="320011"/>
                  </a:lnTo>
                  <a:lnTo>
                    <a:pt x="38976" y="320011"/>
                  </a:lnTo>
                  <a:lnTo>
                    <a:pt x="29575" y="310504"/>
                  </a:lnTo>
                  <a:close/>
                </a:path>
                <a:path w="78739" h="398145">
                  <a:moveTo>
                    <a:pt x="78540" y="280597"/>
                  </a:moveTo>
                  <a:lnTo>
                    <a:pt x="48965" y="310060"/>
                  </a:lnTo>
                  <a:lnTo>
                    <a:pt x="48965" y="325180"/>
                  </a:lnTo>
                  <a:lnTo>
                    <a:pt x="44656" y="329409"/>
                  </a:lnTo>
                  <a:lnTo>
                    <a:pt x="62080" y="329409"/>
                  </a:lnTo>
                  <a:lnTo>
                    <a:pt x="78540" y="280597"/>
                  </a:lnTo>
                  <a:close/>
                </a:path>
                <a:path w="78739" h="398145">
                  <a:moveTo>
                    <a:pt x="44656" y="0"/>
                  </a:moveTo>
                  <a:lnTo>
                    <a:pt x="33884" y="0"/>
                  </a:lnTo>
                  <a:lnTo>
                    <a:pt x="29575" y="4229"/>
                  </a:lnTo>
                  <a:lnTo>
                    <a:pt x="29575" y="310504"/>
                  </a:lnTo>
                  <a:lnTo>
                    <a:pt x="38976" y="320011"/>
                  </a:lnTo>
                  <a:lnTo>
                    <a:pt x="48965" y="310060"/>
                  </a:lnTo>
                  <a:lnTo>
                    <a:pt x="48965" y="4229"/>
                  </a:lnTo>
                  <a:lnTo>
                    <a:pt x="44656" y="0"/>
                  </a:lnTo>
                  <a:close/>
                </a:path>
                <a:path w="78739" h="398145">
                  <a:moveTo>
                    <a:pt x="48965" y="310060"/>
                  </a:moveTo>
                  <a:lnTo>
                    <a:pt x="38976" y="320011"/>
                  </a:lnTo>
                  <a:lnTo>
                    <a:pt x="48965" y="320011"/>
                  </a:lnTo>
                  <a:lnTo>
                    <a:pt x="48965" y="310060"/>
                  </a:lnTo>
                  <a:close/>
                </a:path>
              </a:pathLst>
            </a:custGeom>
            <a:solidFill>
              <a:srgbClr val="000000"/>
            </a:solidFill>
          </p:spPr>
          <p:txBody>
            <a:bodyPr wrap="square" lIns="0" tIns="0" rIns="0" bIns="0" rtlCol="0"/>
            <a:lstStyle/>
            <a:p/>
          </p:txBody>
        </p:sp>
        <p:sp>
          <p:nvSpPr>
            <p:cNvPr id="40" name="object 40" descr=""/>
            <p:cNvSpPr/>
            <p:nvPr/>
          </p:nvSpPr>
          <p:spPr>
            <a:xfrm>
              <a:off x="4759598" y="4810205"/>
              <a:ext cx="78740" cy="398145"/>
            </a:xfrm>
            <a:custGeom>
              <a:avLst/>
              <a:gdLst/>
              <a:ahLst/>
              <a:cxnLst/>
              <a:rect l="l" t="t" r="r" b="b"/>
              <a:pathLst>
                <a:path w="78739" h="398145">
                  <a:moveTo>
                    <a:pt x="48965" y="9848"/>
                  </a:moveTo>
                  <a:lnTo>
                    <a:pt x="48965" y="320011"/>
                  </a:lnTo>
                  <a:lnTo>
                    <a:pt x="48965" y="325180"/>
                  </a:lnTo>
                  <a:lnTo>
                    <a:pt x="44656" y="329409"/>
                  </a:lnTo>
                  <a:lnTo>
                    <a:pt x="38976" y="329409"/>
                  </a:lnTo>
                  <a:lnTo>
                    <a:pt x="33884" y="329409"/>
                  </a:lnTo>
                  <a:lnTo>
                    <a:pt x="29575" y="325180"/>
                  </a:lnTo>
                  <a:lnTo>
                    <a:pt x="29575" y="320011"/>
                  </a:lnTo>
                  <a:lnTo>
                    <a:pt x="29575" y="9848"/>
                  </a:lnTo>
                  <a:lnTo>
                    <a:pt x="29575" y="4229"/>
                  </a:lnTo>
                  <a:lnTo>
                    <a:pt x="33884" y="0"/>
                  </a:lnTo>
                  <a:lnTo>
                    <a:pt x="38976" y="0"/>
                  </a:lnTo>
                  <a:lnTo>
                    <a:pt x="44656" y="0"/>
                  </a:lnTo>
                  <a:lnTo>
                    <a:pt x="48965" y="4229"/>
                  </a:lnTo>
                  <a:lnTo>
                    <a:pt x="48965" y="9848"/>
                  </a:lnTo>
                  <a:close/>
                </a:path>
                <a:path w="78739" h="398145">
                  <a:moveTo>
                    <a:pt x="38976" y="320011"/>
                  </a:moveTo>
                  <a:lnTo>
                    <a:pt x="78540" y="280597"/>
                  </a:lnTo>
                  <a:lnTo>
                    <a:pt x="38976" y="397919"/>
                  </a:lnTo>
                  <a:lnTo>
                    <a:pt x="0" y="280597"/>
                  </a:lnTo>
                  <a:lnTo>
                    <a:pt x="38976" y="320011"/>
                  </a:lnTo>
                  <a:close/>
                </a:path>
              </a:pathLst>
            </a:custGeom>
            <a:ln w="3175">
              <a:solidFill>
                <a:srgbClr val="000000"/>
              </a:solidFill>
            </a:ln>
          </p:spPr>
          <p:txBody>
            <a:bodyPr wrap="square" lIns="0" tIns="0" rIns="0" bIns="0" rtlCol="0"/>
            <a:lstStyle/>
            <a:p/>
          </p:txBody>
        </p:sp>
        <p:sp>
          <p:nvSpPr>
            <p:cNvPr id="41" name="object 41" descr=""/>
            <p:cNvSpPr/>
            <p:nvPr/>
          </p:nvSpPr>
          <p:spPr>
            <a:xfrm>
              <a:off x="7970181" y="4628133"/>
              <a:ext cx="78740" cy="581025"/>
            </a:xfrm>
            <a:custGeom>
              <a:avLst/>
              <a:gdLst/>
              <a:ahLst/>
              <a:cxnLst/>
              <a:rect l="l" t="t" r="r" b="b"/>
              <a:pathLst>
                <a:path w="78740" h="581025">
                  <a:moveTo>
                    <a:pt x="0" y="462669"/>
                  </a:moveTo>
                  <a:lnTo>
                    <a:pt x="39172" y="580461"/>
                  </a:lnTo>
                  <a:lnTo>
                    <a:pt x="62226" y="511481"/>
                  </a:lnTo>
                  <a:lnTo>
                    <a:pt x="33884" y="511481"/>
                  </a:lnTo>
                  <a:lnTo>
                    <a:pt x="29183" y="507252"/>
                  </a:lnTo>
                  <a:lnTo>
                    <a:pt x="29183" y="492032"/>
                  </a:lnTo>
                  <a:lnTo>
                    <a:pt x="0" y="462669"/>
                  </a:lnTo>
                  <a:close/>
                </a:path>
                <a:path w="78740" h="581025">
                  <a:moveTo>
                    <a:pt x="29183" y="492032"/>
                  </a:moveTo>
                  <a:lnTo>
                    <a:pt x="29183" y="507252"/>
                  </a:lnTo>
                  <a:lnTo>
                    <a:pt x="33884" y="511481"/>
                  </a:lnTo>
                  <a:lnTo>
                    <a:pt x="44656" y="511481"/>
                  </a:lnTo>
                  <a:lnTo>
                    <a:pt x="48965" y="507252"/>
                  </a:lnTo>
                  <a:lnTo>
                    <a:pt x="48965" y="502083"/>
                  </a:lnTo>
                  <a:lnTo>
                    <a:pt x="39172" y="502083"/>
                  </a:lnTo>
                  <a:lnTo>
                    <a:pt x="29183" y="492032"/>
                  </a:lnTo>
                  <a:close/>
                </a:path>
                <a:path w="78740" h="581025">
                  <a:moveTo>
                    <a:pt x="78540" y="462669"/>
                  </a:moveTo>
                  <a:lnTo>
                    <a:pt x="48965" y="492278"/>
                  </a:lnTo>
                  <a:lnTo>
                    <a:pt x="48965" y="507252"/>
                  </a:lnTo>
                  <a:lnTo>
                    <a:pt x="44656" y="511481"/>
                  </a:lnTo>
                  <a:lnTo>
                    <a:pt x="62226" y="511481"/>
                  </a:lnTo>
                  <a:lnTo>
                    <a:pt x="78540" y="462669"/>
                  </a:lnTo>
                  <a:close/>
                </a:path>
                <a:path w="78740" h="581025">
                  <a:moveTo>
                    <a:pt x="44656" y="0"/>
                  </a:moveTo>
                  <a:lnTo>
                    <a:pt x="33884" y="0"/>
                  </a:lnTo>
                  <a:lnTo>
                    <a:pt x="29183" y="4699"/>
                  </a:lnTo>
                  <a:lnTo>
                    <a:pt x="29183" y="492032"/>
                  </a:lnTo>
                  <a:lnTo>
                    <a:pt x="39172" y="502083"/>
                  </a:lnTo>
                  <a:lnTo>
                    <a:pt x="48965" y="492278"/>
                  </a:lnTo>
                  <a:lnTo>
                    <a:pt x="48965" y="4699"/>
                  </a:lnTo>
                  <a:lnTo>
                    <a:pt x="44656" y="0"/>
                  </a:lnTo>
                  <a:close/>
                </a:path>
                <a:path w="78740" h="581025">
                  <a:moveTo>
                    <a:pt x="48965" y="492278"/>
                  </a:moveTo>
                  <a:lnTo>
                    <a:pt x="39172" y="502083"/>
                  </a:lnTo>
                  <a:lnTo>
                    <a:pt x="48965" y="502083"/>
                  </a:lnTo>
                  <a:lnTo>
                    <a:pt x="48965" y="492278"/>
                  </a:lnTo>
                  <a:close/>
                </a:path>
              </a:pathLst>
            </a:custGeom>
            <a:solidFill>
              <a:srgbClr val="000000"/>
            </a:solidFill>
          </p:spPr>
          <p:txBody>
            <a:bodyPr wrap="square" lIns="0" tIns="0" rIns="0" bIns="0" rtlCol="0"/>
            <a:lstStyle/>
            <a:p/>
          </p:txBody>
        </p:sp>
        <p:sp>
          <p:nvSpPr>
            <p:cNvPr id="42" name="object 42" descr=""/>
            <p:cNvSpPr/>
            <p:nvPr/>
          </p:nvSpPr>
          <p:spPr>
            <a:xfrm>
              <a:off x="7970181" y="4628133"/>
              <a:ext cx="78740" cy="581025"/>
            </a:xfrm>
            <a:custGeom>
              <a:avLst/>
              <a:gdLst/>
              <a:ahLst/>
              <a:cxnLst/>
              <a:rect l="l" t="t" r="r" b="b"/>
              <a:pathLst>
                <a:path w="78740" h="581025">
                  <a:moveTo>
                    <a:pt x="48965" y="9848"/>
                  </a:moveTo>
                  <a:lnTo>
                    <a:pt x="48965" y="502083"/>
                  </a:lnTo>
                  <a:lnTo>
                    <a:pt x="48965" y="507252"/>
                  </a:lnTo>
                  <a:lnTo>
                    <a:pt x="44656" y="511481"/>
                  </a:lnTo>
                  <a:lnTo>
                    <a:pt x="39172" y="511481"/>
                  </a:lnTo>
                  <a:lnTo>
                    <a:pt x="33884" y="511481"/>
                  </a:lnTo>
                  <a:lnTo>
                    <a:pt x="29183" y="507252"/>
                  </a:lnTo>
                  <a:lnTo>
                    <a:pt x="29183" y="502083"/>
                  </a:lnTo>
                  <a:lnTo>
                    <a:pt x="29183" y="9848"/>
                  </a:lnTo>
                  <a:lnTo>
                    <a:pt x="29183" y="4699"/>
                  </a:lnTo>
                  <a:lnTo>
                    <a:pt x="33884" y="0"/>
                  </a:lnTo>
                  <a:lnTo>
                    <a:pt x="39172" y="0"/>
                  </a:lnTo>
                  <a:lnTo>
                    <a:pt x="44656" y="0"/>
                  </a:lnTo>
                  <a:lnTo>
                    <a:pt x="48965" y="4699"/>
                  </a:lnTo>
                  <a:lnTo>
                    <a:pt x="48965" y="9848"/>
                  </a:lnTo>
                  <a:close/>
                </a:path>
                <a:path w="78740" h="581025">
                  <a:moveTo>
                    <a:pt x="39172" y="502083"/>
                  </a:moveTo>
                  <a:lnTo>
                    <a:pt x="78540" y="462669"/>
                  </a:lnTo>
                  <a:lnTo>
                    <a:pt x="39172" y="580461"/>
                  </a:lnTo>
                  <a:lnTo>
                    <a:pt x="0" y="462669"/>
                  </a:lnTo>
                  <a:lnTo>
                    <a:pt x="39172" y="502083"/>
                  </a:lnTo>
                  <a:close/>
                </a:path>
              </a:pathLst>
            </a:custGeom>
            <a:ln w="3175">
              <a:solidFill>
                <a:srgbClr val="000000"/>
              </a:solidFill>
            </a:ln>
          </p:spPr>
          <p:txBody>
            <a:bodyPr wrap="square" lIns="0" tIns="0" rIns="0" bIns="0" rtlCol="0"/>
            <a:lstStyle/>
            <a:p/>
          </p:txBody>
        </p:sp>
        <p:sp>
          <p:nvSpPr>
            <p:cNvPr id="43" name="object 43" descr=""/>
            <p:cNvSpPr/>
            <p:nvPr/>
          </p:nvSpPr>
          <p:spPr>
            <a:xfrm>
              <a:off x="4019804" y="3289348"/>
              <a:ext cx="78105" cy="706755"/>
            </a:xfrm>
            <a:custGeom>
              <a:avLst/>
              <a:gdLst/>
              <a:ahLst/>
              <a:cxnLst/>
              <a:rect l="l" t="t" r="r" b="b"/>
              <a:pathLst>
                <a:path w="78104" h="706754">
                  <a:moveTo>
                    <a:pt x="0" y="588567"/>
                  </a:moveTo>
                  <a:lnTo>
                    <a:pt x="38095" y="706241"/>
                  </a:lnTo>
                  <a:lnTo>
                    <a:pt x="61531" y="637712"/>
                  </a:lnTo>
                  <a:lnTo>
                    <a:pt x="33394" y="637712"/>
                  </a:lnTo>
                  <a:lnTo>
                    <a:pt x="28693" y="633600"/>
                  </a:lnTo>
                  <a:lnTo>
                    <a:pt x="28785" y="617941"/>
                  </a:lnTo>
                  <a:lnTo>
                    <a:pt x="0" y="588567"/>
                  </a:lnTo>
                  <a:close/>
                </a:path>
                <a:path w="78104" h="706754">
                  <a:moveTo>
                    <a:pt x="28785" y="617941"/>
                  </a:moveTo>
                  <a:lnTo>
                    <a:pt x="28693" y="633600"/>
                  </a:lnTo>
                  <a:lnTo>
                    <a:pt x="33394" y="637712"/>
                  </a:lnTo>
                  <a:lnTo>
                    <a:pt x="44206" y="637712"/>
                  </a:lnTo>
                  <a:lnTo>
                    <a:pt x="48436" y="633600"/>
                  </a:lnTo>
                  <a:lnTo>
                    <a:pt x="48440" y="627922"/>
                  </a:lnTo>
                  <a:lnTo>
                    <a:pt x="38565" y="627922"/>
                  </a:lnTo>
                  <a:lnTo>
                    <a:pt x="28785" y="617941"/>
                  </a:lnTo>
                  <a:close/>
                </a:path>
                <a:path w="78104" h="706754">
                  <a:moveTo>
                    <a:pt x="78070" y="589350"/>
                  </a:moveTo>
                  <a:lnTo>
                    <a:pt x="48521" y="618201"/>
                  </a:lnTo>
                  <a:lnTo>
                    <a:pt x="48436" y="633600"/>
                  </a:lnTo>
                  <a:lnTo>
                    <a:pt x="44206" y="637712"/>
                  </a:lnTo>
                  <a:lnTo>
                    <a:pt x="61531" y="637712"/>
                  </a:lnTo>
                  <a:lnTo>
                    <a:pt x="78070" y="589350"/>
                  </a:lnTo>
                  <a:close/>
                </a:path>
                <a:path w="78104" h="706754">
                  <a:moveTo>
                    <a:pt x="49376" y="0"/>
                  </a:moveTo>
                  <a:lnTo>
                    <a:pt x="38565" y="0"/>
                  </a:lnTo>
                  <a:lnTo>
                    <a:pt x="34334" y="4307"/>
                  </a:lnTo>
                  <a:lnTo>
                    <a:pt x="34334" y="9985"/>
                  </a:lnTo>
                  <a:lnTo>
                    <a:pt x="28785" y="617941"/>
                  </a:lnTo>
                  <a:lnTo>
                    <a:pt x="38565" y="627922"/>
                  </a:lnTo>
                  <a:lnTo>
                    <a:pt x="48521" y="618201"/>
                  </a:lnTo>
                  <a:lnTo>
                    <a:pt x="53627" y="9985"/>
                  </a:lnTo>
                  <a:lnTo>
                    <a:pt x="53627" y="4699"/>
                  </a:lnTo>
                  <a:lnTo>
                    <a:pt x="49376" y="0"/>
                  </a:lnTo>
                  <a:close/>
                </a:path>
                <a:path w="78104" h="706754">
                  <a:moveTo>
                    <a:pt x="48521" y="618201"/>
                  </a:moveTo>
                  <a:lnTo>
                    <a:pt x="38565" y="627922"/>
                  </a:lnTo>
                  <a:lnTo>
                    <a:pt x="48440" y="627922"/>
                  </a:lnTo>
                  <a:lnTo>
                    <a:pt x="48521" y="618201"/>
                  </a:lnTo>
                  <a:close/>
                </a:path>
              </a:pathLst>
            </a:custGeom>
            <a:solidFill>
              <a:srgbClr val="000000"/>
            </a:solidFill>
          </p:spPr>
          <p:txBody>
            <a:bodyPr wrap="square" lIns="0" tIns="0" rIns="0" bIns="0" rtlCol="0"/>
            <a:lstStyle/>
            <a:p/>
          </p:txBody>
        </p:sp>
        <p:sp>
          <p:nvSpPr>
            <p:cNvPr id="44" name="object 44" descr=""/>
            <p:cNvSpPr/>
            <p:nvPr/>
          </p:nvSpPr>
          <p:spPr>
            <a:xfrm>
              <a:off x="4019804" y="3289348"/>
              <a:ext cx="78105" cy="706755"/>
            </a:xfrm>
            <a:custGeom>
              <a:avLst/>
              <a:gdLst/>
              <a:ahLst/>
              <a:cxnLst/>
              <a:rect l="l" t="t" r="r" b="b"/>
              <a:pathLst>
                <a:path w="78104" h="706754">
                  <a:moveTo>
                    <a:pt x="53627" y="9985"/>
                  </a:moveTo>
                  <a:lnTo>
                    <a:pt x="48436" y="628314"/>
                  </a:lnTo>
                  <a:lnTo>
                    <a:pt x="48436" y="633600"/>
                  </a:lnTo>
                  <a:lnTo>
                    <a:pt x="44206" y="637712"/>
                  </a:lnTo>
                  <a:lnTo>
                    <a:pt x="38565" y="637712"/>
                  </a:lnTo>
                  <a:lnTo>
                    <a:pt x="33394" y="637712"/>
                  </a:lnTo>
                  <a:lnTo>
                    <a:pt x="28693" y="633600"/>
                  </a:lnTo>
                  <a:lnTo>
                    <a:pt x="28693" y="627922"/>
                  </a:lnTo>
                  <a:lnTo>
                    <a:pt x="34334" y="9985"/>
                  </a:lnTo>
                  <a:lnTo>
                    <a:pt x="34334" y="4307"/>
                  </a:lnTo>
                  <a:lnTo>
                    <a:pt x="38565" y="0"/>
                  </a:lnTo>
                  <a:lnTo>
                    <a:pt x="44206" y="0"/>
                  </a:lnTo>
                  <a:lnTo>
                    <a:pt x="49376" y="0"/>
                  </a:lnTo>
                  <a:lnTo>
                    <a:pt x="53627" y="4699"/>
                  </a:lnTo>
                  <a:lnTo>
                    <a:pt x="53627" y="9985"/>
                  </a:lnTo>
                  <a:close/>
                </a:path>
                <a:path w="78104" h="706754">
                  <a:moveTo>
                    <a:pt x="38565" y="627922"/>
                  </a:moveTo>
                  <a:lnTo>
                    <a:pt x="78070" y="589350"/>
                  </a:lnTo>
                  <a:lnTo>
                    <a:pt x="38095" y="706241"/>
                  </a:lnTo>
                  <a:lnTo>
                    <a:pt x="0" y="588567"/>
                  </a:lnTo>
                  <a:lnTo>
                    <a:pt x="38565" y="627922"/>
                  </a:lnTo>
                  <a:close/>
                </a:path>
              </a:pathLst>
            </a:custGeom>
            <a:ln w="3175">
              <a:solidFill>
                <a:srgbClr val="000000"/>
              </a:solidFill>
            </a:ln>
          </p:spPr>
          <p:txBody>
            <a:bodyPr wrap="square" lIns="0" tIns="0" rIns="0" bIns="0" rtlCol="0"/>
            <a:lstStyle/>
            <a:p/>
          </p:txBody>
        </p:sp>
        <p:sp>
          <p:nvSpPr>
            <p:cNvPr id="45" name="object 45" descr=""/>
            <p:cNvSpPr/>
            <p:nvPr/>
          </p:nvSpPr>
          <p:spPr>
            <a:xfrm>
              <a:off x="7146774" y="3308145"/>
              <a:ext cx="78740" cy="808990"/>
            </a:xfrm>
            <a:custGeom>
              <a:avLst/>
              <a:gdLst/>
              <a:ahLst/>
              <a:cxnLst/>
              <a:rect l="l" t="t" r="r" b="b"/>
              <a:pathLst>
                <a:path w="78740" h="808989">
                  <a:moveTo>
                    <a:pt x="0" y="691674"/>
                  </a:moveTo>
                  <a:lnTo>
                    <a:pt x="39564" y="808525"/>
                  </a:lnTo>
                  <a:lnTo>
                    <a:pt x="61941" y="740486"/>
                  </a:lnTo>
                  <a:lnTo>
                    <a:pt x="33884" y="740486"/>
                  </a:lnTo>
                  <a:lnTo>
                    <a:pt x="29575" y="735787"/>
                  </a:lnTo>
                  <a:lnTo>
                    <a:pt x="29183" y="730618"/>
                  </a:lnTo>
                  <a:lnTo>
                    <a:pt x="29164" y="720814"/>
                  </a:lnTo>
                  <a:lnTo>
                    <a:pt x="0" y="691674"/>
                  </a:lnTo>
                  <a:close/>
                </a:path>
                <a:path w="78740" h="808989">
                  <a:moveTo>
                    <a:pt x="48938" y="720594"/>
                  </a:moveTo>
                  <a:lnTo>
                    <a:pt x="38976" y="730618"/>
                  </a:lnTo>
                  <a:lnTo>
                    <a:pt x="29183" y="730618"/>
                  </a:lnTo>
                  <a:lnTo>
                    <a:pt x="29575" y="735787"/>
                  </a:lnTo>
                  <a:lnTo>
                    <a:pt x="33884" y="740486"/>
                  </a:lnTo>
                  <a:lnTo>
                    <a:pt x="38976" y="740016"/>
                  </a:lnTo>
                  <a:lnTo>
                    <a:pt x="44656" y="740016"/>
                  </a:lnTo>
                  <a:lnTo>
                    <a:pt x="48965" y="735787"/>
                  </a:lnTo>
                  <a:lnTo>
                    <a:pt x="48965" y="730618"/>
                  </a:lnTo>
                  <a:lnTo>
                    <a:pt x="38976" y="730618"/>
                  </a:lnTo>
                  <a:lnTo>
                    <a:pt x="29164" y="720814"/>
                  </a:lnTo>
                  <a:lnTo>
                    <a:pt x="48939" y="720814"/>
                  </a:lnTo>
                  <a:lnTo>
                    <a:pt x="48938" y="720594"/>
                  </a:lnTo>
                  <a:close/>
                </a:path>
                <a:path w="78740" h="808989">
                  <a:moveTo>
                    <a:pt x="78149" y="691204"/>
                  </a:moveTo>
                  <a:lnTo>
                    <a:pt x="48938" y="720594"/>
                  </a:lnTo>
                  <a:lnTo>
                    <a:pt x="48965" y="735787"/>
                  </a:lnTo>
                  <a:lnTo>
                    <a:pt x="44656" y="740016"/>
                  </a:lnTo>
                  <a:lnTo>
                    <a:pt x="38976" y="740016"/>
                  </a:lnTo>
                  <a:lnTo>
                    <a:pt x="33884" y="740486"/>
                  </a:lnTo>
                  <a:lnTo>
                    <a:pt x="61941" y="740486"/>
                  </a:lnTo>
                  <a:lnTo>
                    <a:pt x="78149" y="691204"/>
                  </a:lnTo>
                  <a:close/>
                </a:path>
                <a:path w="78740" h="808989">
                  <a:moveTo>
                    <a:pt x="42698" y="0"/>
                  </a:moveTo>
                  <a:lnTo>
                    <a:pt x="31925" y="0"/>
                  </a:lnTo>
                  <a:lnTo>
                    <a:pt x="27812" y="4307"/>
                  </a:lnTo>
                  <a:lnTo>
                    <a:pt x="29108" y="691204"/>
                  </a:lnTo>
                  <a:lnTo>
                    <a:pt x="29164" y="720814"/>
                  </a:lnTo>
                  <a:lnTo>
                    <a:pt x="38976" y="730618"/>
                  </a:lnTo>
                  <a:lnTo>
                    <a:pt x="48938" y="720594"/>
                  </a:lnTo>
                  <a:lnTo>
                    <a:pt x="47007" y="9789"/>
                  </a:lnTo>
                  <a:lnTo>
                    <a:pt x="47007" y="4307"/>
                  </a:lnTo>
                  <a:lnTo>
                    <a:pt x="42698" y="0"/>
                  </a:lnTo>
                  <a:close/>
                </a:path>
              </a:pathLst>
            </a:custGeom>
            <a:solidFill>
              <a:srgbClr val="000000"/>
            </a:solidFill>
          </p:spPr>
          <p:txBody>
            <a:bodyPr wrap="square" lIns="0" tIns="0" rIns="0" bIns="0" rtlCol="0"/>
            <a:lstStyle/>
            <a:p/>
          </p:txBody>
        </p:sp>
        <p:sp>
          <p:nvSpPr>
            <p:cNvPr id="46" name="object 46" descr=""/>
            <p:cNvSpPr/>
            <p:nvPr/>
          </p:nvSpPr>
          <p:spPr>
            <a:xfrm>
              <a:off x="7146774" y="3308145"/>
              <a:ext cx="78740" cy="808990"/>
            </a:xfrm>
            <a:custGeom>
              <a:avLst/>
              <a:gdLst/>
              <a:ahLst/>
              <a:cxnLst/>
              <a:rect l="l" t="t" r="r" b="b"/>
              <a:pathLst>
                <a:path w="78740" h="808989">
                  <a:moveTo>
                    <a:pt x="47007" y="9789"/>
                  </a:moveTo>
                  <a:lnTo>
                    <a:pt x="48965" y="730618"/>
                  </a:lnTo>
                  <a:lnTo>
                    <a:pt x="48965" y="735787"/>
                  </a:lnTo>
                  <a:lnTo>
                    <a:pt x="44656" y="740016"/>
                  </a:lnTo>
                  <a:lnTo>
                    <a:pt x="38976" y="740016"/>
                  </a:lnTo>
                  <a:lnTo>
                    <a:pt x="33884" y="740486"/>
                  </a:lnTo>
                  <a:lnTo>
                    <a:pt x="29575" y="735787"/>
                  </a:lnTo>
                  <a:lnTo>
                    <a:pt x="29183" y="730618"/>
                  </a:lnTo>
                  <a:lnTo>
                    <a:pt x="27812" y="9789"/>
                  </a:lnTo>
                  <a:lnTo>
                    <a:pt x="27812" y="4307"/>
                  </a:lnTo>
                  <a:lnTo>
                    <a:pt x="31925" y="0"/>
                  </a:lnTo>
                  <a:lnTo>
                    <a:pt x="37213" y="0"/>
                  </a:lnTo>
                  <a:lnTo>
                    <a:pt x="42698" y="0"/>
                  </a:lnTo>
                  <a:lnTo>
                    <a:pt x="47007" y="4307"/>
                  </a:lnTo>
                  <a:lnTo>
                    <a:pt x="47007" y="9789"/>
                  </a:lnTo>
                  <a:close/>
                </a:path>
                <a:path w="78740" h="808989">
                  <a:moveTo>
                    <a:pt x="38976" y="730618"/>
                  </a:moveTo>
                  <a:lnTo>
                    <a:pt x="78149" y="691204"/>
                  </a:lnTo>
                  <a:lnTo>
                    <a:pt x="39564" y="808525"/>
                  </a:lnTo>
                  <a:lnTo>
                    <a:pt x="0" y="691674"/>
                  </a:lnTo>
                  <a:lnTo>
                    <a:pt x="38976" y="730618"/>
                  </a:lnTo>
                  <a:close/>
                </a:path>
              </a:pathLst>
            </a:custGeom>
            <a:ln w="3175">
              <a:solidFill>
                <a:srgbClr val="000000"/>
              </a:solidFill>
            </a:ln>
          </p:spPr>
          <p:txBody>
            <a:bodyPr wrap="square" lIns="0" tIns="0" rIns="0" bIns="0" rtlCol="0"/>
            <a:lstStyle/>
            <a:p/>
          </p:txBody>
        </p:sp>
        <p:sp>
          <p:nvSpPr>
            <p:cNvPr id="47" name="object 47" descr=""/>
            <p:cNvSpPr/>
            <p:nvPr/>
          </p:nvSpPr>
          <p:spPr>
            <a:xfrm>
              <a:off x="6528239" y="3472419"/>
              <a:ext cx="78740" cy="644525"/>
            </a:xfrm>
            <a:custGeom>
              <a:avLst/>
              <a:gdLst/>
              <a:ahLst/>
              <a:cxnLst/>
              <a:rect l="l" t="t" r="r" b="b"/>
              <a:pathLst>
                <a:path w="78740" h="644525">
                  <a:moveTo>
                    <a:pt x="0" y="527399"/>
                  </a:moveTo>
                  <a:lnTo>
                    <a:pt x="40543" y="644251"/>
                  </a:lnTo>
                  <a:lnTo>
                    <a:pt x="62579" y="576212"/>
                  </a:lnTo>
                  <a:lnTo>
                    <a:pt x="34471" y="576212"/>
                  </a:lnTo>
                  <a:lnTo>
                    <a:pt x="29771" y="571513"/>
                  </a:lnTo>
                  <a:lnTo>
                    <a:pt x="29689" y="556623"/>
                  </a:lnTo>
                  <a:lnTo>
                    <a:pt x="0" y="527399"/>
                  </a:lnTo>
                  <a:close/>
                </a:path>
                <a:path w="78740" h="644525">
                  <a:moveTo>
                    <a:pt x="29689" y="556623"/>
                  </a:moveTo>
                  <a:lnTo>
                    <a:pt x="29771" y="571513"/>
                  </a:lnTo>
                  <a:lnTo>
                    <a:pt x="34471" y="576212"/>
                  </a:lnTo>
                  <a:lnTo>
                    <a:pt x="39564" y="575742"/>
                  </a:lnTo>
                  <a:lnTo>
                    <a:pt x="45244" y="575742"/>
                  </a:lnTo>
                  <a:lnTo>
                    <a:pt x="49553" y="571513"/>
                  </a:lnTo>
                  <a:lnTo>
                    <a:pt x="49553" y="566344"/>
                  </a:lnTo>
                  <a:lnTo>
                    <a:pt x="39564" y="566344"/>
                  </a:lnTo>
                  <a:lnTo>
                    <a:pt x="29689" y="556623"/>
                  </a:lnTo>
                  <a:close/>
                </a:path>
                <a:path w="78740" h="644525">
                  <a:moveTo>
                    <a:pt x="78540" y="526930"/>
                  </a:moveTo>
                  <a:lnTo>
                    <a:pt x="49458" y="556339"/>
                  </a:lnTo>
                  <a:lnTo>
                    <a:pt x="49553" y="571513"/>
                  </a:lnTo>
                  <a:lnTo>
                    <a:pt x="45244" y="575742"/>
                  </a:lnTo>
                  <a:lnTo>
                    <a:pt x="39564" y="575742"/>
                  </a:lnTo>
                  <a:lnTo>
                    <a:pt x="34471" y="576212"/>
                  </a:lnTo>
                  <a:lnTo>
                    <a:pt x="62579" y="576212"/>
                  </a:lnTo>
                  <a:lnTo>
                    <a:pt x="78540" y="526930"/>
                  </a:lnTo>
                  <a:close/>
                </a:path>
                <a:path w="78740" h="644525">
                  <a:moveTo>
                    <a:pt x="40151" y="0"/>
                  </a:moveTo>
                  <a:lnTo>
                    <a:pt x="29183" y="0"/>
                  </a:lnTo>
                  <a:lnTo>
                    <a:pt x="24482" y="4699"/>
                  </a:lnTo>
                  <a:lnTo>
                    <a:pt x="25070" y="9789"/>
                  </a:lnTo>
                  <a:lnTo>
                    <a:pt x="29686" y="556339"/>
                  </a:lnTo>
                  <a:lnTo>
                    <a:pt x="29689" y="556623"/>
                  </a:lnTo>
                  <a:lnTo>
                    <a:pt x="39564" y="566344"/>
                  </a:lnTo>
                  <a:lnTo>
                    <a:pt x="49458" y="556339"/>
                  </a:lnTo>
                  <a:lnTo>
                    <a:pt x="44264" y="9789"/>
                  </a:lnTo>
                  <a:lnTo>
                    <a:pt x="44264" y="4111"/>
                  </a:lnTo>
                  <a:lnTo>
                    <a:pt x="40151" y="0"/>
                  </a:lnTo>
                  <a:close/>
                </a:path>
                <a:path w="78740" h="644525">
                  <a:moveTo>
                    <a:pt x="49458" y="556339"/>
                  </a:moveTo>
                  <a:lnTo>
                    <a:pt x="39564" y="566344"/>
                  </a:lnTo>
                  <a:lnTo>
                    <a:pt x="49553" y="566344"/>
                  </a:lnTo>
                  <a:lnTo>
                    <a:pt x="49458" y="556339"/>
                  </a:lnTo>
                  <a:close/>
                </a:path>
              </a:pathLst>
            </a:custGeom>
            <a:solidFill>
              <a:srgbClr val="000000"/>
            </a:solidFill>
          </p:spPr>
          <p:txBody>
            <a:bodyPr wrap="square" lIns="0" tIns="0" rIns="0" bIns="0" rtlCol="0"/>
            <a:lstStyle/>
            <a:p/>
          </p:txBody>
        </p:sp>
        <p:sp>
          <p:nvSpPr>
            <p:cNvPr id="48" name="object 48" descr=""/>
            <p:cNvSpPr/>
            <p:nvPr/>
          </p:nvSpPr>
          <p:spPr>
            <a:xfrm>
              <a:off x="6528239" y="3472419"/>
              <a:ext cx="78740" cy="644525"/>
            </a:xfrm>
            <a:custGeom>
              <a:avLst/>
              <a:gdLst/>
              <a:ahLst/>
              <a:cxnLst/>
              <a:rect l="l" t="t" r="r" b="b"/>
              <a:pathLst>
                <a:path w="78740" h="644525">
                  <a:moveTo>
                    <a:pt x="44264" y="9789"/>
                  </a:moveTo>
                  <a:lnTo>
                    <a:pt x="49553" y="566344"/>
                  </a:lnTo>
                  <a:lnTo>
                    <a:pt x="49553" y="571513"/>
                  </a:lnTo>
                  <a:lnTo>
                    <a:pt x="45244" y="575742"/>
                  </a:lnTo>
                  <a:lnTo>
                    <a:pt x="39564" y="575742"/>
                  </a:lnTo>
                  <a:lnTo>
                    <a:pt x="34471" y="576212"/>
                  </a:lnTo>
                  <a:lnTo>
                    <a:pt x="29771" y="571513"/>
                  </a:lnTo>
                  <a:lnTo>
                    <a:pt x="29771" y="566344"/>
                  </a:lnTo>
                  <a:lnTo>
                    <a:pt x="25070" y="9789"/>
                  </a:lnTo>
                  <a:lnTo>
                    <a:pt x="24482" y="4699"/>
                  </a:lnTo>
                  <a:lnTo>
                    <a:pt x="29183" y="0"/>
                  </a:lnTo>
                  <a:lnTo>
                    <a:pt x="34471" y="0"/>
                  </a:lnTo>
                  <a:lnTo>
                    <a:pt x="40151" y="0"/>
                  </a:lnTo>
                  <a:lnTo>
                    <a:pt x="44264" y="4111"/>
                  </a:lnTo>
                  <a:lnTo>
                    <a:pt x="44264" y="9789"/>
                  </a:lnTo>
                  <a:close/>
                </a:path>
                <a:path w="78740" h="644525">
                  <a:moveTo>
                    <a:pt x="39564" y="566344"/>
                  </a:moveTo>
                  <a:lnTo>
                    <a:pt x="78540" y="526930"/>
                  </a:lnTo>
                  <a:lnTo>
                    <a:pt x="40543" y="644251"/>
                  </a:lnTo>
                  <a:lnTo>
                    <a:pt x="0" y="527399"/>
                  </a:lnTo>
                  <a:lnTo>
                    <a:pt x="39564" y="566344"/>
                  </a:lnTo>
                  <a:close/>
                </a:path>
              </a:pathLst>
            </a:custGeom>
            <a:ln w="3175">
              <a:solidFill>
                <a:srgbClr val="000000"/>
              </a:solidFill>
            </a:ln>
          </p:spPr>
          <p:txBody>
            <a:bodyPr wrap="square" lIns="0" tIns="0" rIns="0" bIns="0" rtlCol="0"/>
            <a:lstStyle/>
            <a:p/>
          </p:txBody>
        </p:sp>
        <p:sp>
          <p:nvSpPr>
            <p:cNvPr id="49" name="object 49" descr=""/>
            <p:cNvSpPr/>
            <p:nvPr/>
          </p:nvSpPr>
          <p:spPr>
            <a:xfrm>
              <a:off x="3440423" y="2843517"/>
              <a:ext cx="4527550" cy="642620"/>
            </a:xfrm>
            <a:custGeom>
              <a:avLst/>
              <a:gdLst/>
              <a:ahLst/>
              <a:cxnLst/>
              <a:rect l="l" t="t" r="r" b="b"/>
              <a:pathLst>
                <a:path w="4527550" h="642620">
                  <a:moveTo>
                    <a:pt x="0" y="642411"/>
                  </a:moveTo>
                  <a:lnTo>
                    <a:pt x="3128359" y="642411"/>
                  </a:lnTo>
                </a:path>
                <a:path w="4527550" h="642620">
                  <a:moveTo>
                    <a:pt x="617477" y="460907"/>
                  </a:moveTo>
                  <a:lnTo>
                    <a:pt x="4527407" y="460907"/>
                  </a:lnTo>
                </a:path>
                <a:path w="4527550" h="642620">
                  <a:moveTo>
                    <a:pt x="3004574" y="0"/>
                  </a:moveTo>
                  <a:lnTo>
                    <a:pt x="3004574" y="485381"/>
                  </a:lnTo>
                </a:path>
              </a:pathLst>
            </a:custGeom>
            <a:ln w="14576">
              <a:solidFill>
                <a:srgbClr val="000000"/>
              </a:solidFill>
            </a:ln>
          </p:spPr>
          <p:txBody>
            <a:bodyPr wrap="square" lIns="0" tIns="0" rIns="0" bIns="0" rtlCol="0"/>
            <a:lstStyle/>
            <a:p/>
          </p:txBody>
        </p:sp>
        <p:sp>
          <p:nvSpPr>
            <p:cNvPr id="50" name="object 50" descr=""/>
            <p:cNvSpPr/>
            <p:nvPr/>
          </p:nvSpPr>
          <p:spPr>
            <a:xfrm>
              <a:off x="4030616" y="3726760"/>
              <a:ext cx="45085" cy="59690"/>
            </a:xfrm>
            <a:custGeom>
              <a:avLst/>
              <a:gdLst/>
              <a:ahLst/>
              <a:cxnLst/>
              <a:rect l="l" t="t" r="r" b="b"/>
              <a:pathLst>
                <a:path w="45085" h="59689">
                  <a:moveTo>
                    <a:pt x="22112" y="0"/>
                  </a:moveTo>
                  <a:lnTo>
                    <a:pt x="13501" y="2306"/>
                  </a:lnTo>
                  <a:lnTo>
                    <a:pt x="6473" y="8615"/>
                  </a:lnTo>
                  <a:lnTo>
                    <a:pt x="1736" y="18007"/>
                  </a:lnTo>
                  <a:lnTo>
                    <a:pt x="0" y="29565"/>
                  </a:lnTo>
                  <a:lnTo>
                    <a:pt x="1736" y="41349"/>
                  </a:lnTo>
                  <a:lnTo>
                    <a:pt x="6473" y="50858"/>
                  </a:lnTo>
                  <a:lnTo>
                    <a:pt x="13501" y="57209"/>
                  </a:lnTo>
                  <a:lnTo>
                    <a:pt x="22112" y="59522"/>
                  </a:lnTo>
                  <a:lnTo>
                    <a:pt x="30995" y="57209"/>
                  </a:lnTo>
                  <a:lnTo>
                    <a:pt x="38163" y="50858"/>
                  </a:lnTo>
                  <a:lnTo>
                    <a:pt x="42952" y="41349"/>
                  </a:lnTo>
                  <a:lnTo>
                    <a:pt x="44695" y="29565"/>
                  </a:lnTo>
                  <a:lnTo>
                    <a:pt x="42952" y="18007"/>
                  </a:lnTo>
                  <a:lnTo>
                    <a:pt x="38163" y="8615"/>
                  </a:lnTo>
                  <a:lnTo>
                    <a:pt x="30995" y="2306"/>
                  </a:lnTo>
                  <a:lnTo>
                    <a:pt x="22112" y="0"/>
                  </a:lnTo>
                  <a:close/>
                </a:path>
              </a:pathLst>
            </a:custGeom>
            <a:solidFill>
              <a:srgbClr val="000000"/>
            </a:solidFill>
          </p:spPr>
          <p:txBody>
            <a:bodyPr wrap="square" lIns="0" tIns="0" rIns="0" bIns="0" rtlCol="0"/>
            <a:lstStyle/>
            <a:p/>
          </p:txBody>
        </p:sp>
        <p:sp>
          <p:nvSpPr>
            <p:cNvPr id="51" name="object 51" descr=""/>
            <p:cNvSpPr/>
            <p:nvPr/>
          </p:nvSpPr>
          <p:spPr>
            <a:xfrm>
              <a:off x="4030616" y="3726760"/>
              <a:ext cx="45085" cy="59690"/>
            </a:xfrm>
            <a:custGeom>
              <a:avLst/>
              <a:gdLst/>
              <a:ahLst/>
              <a:cxnLst/>
              <a:rect l="l" t="t" r="r" b="b"/>
              <a:pathLst>
                <a:path w="45085" h="59689">
                  <a:moveTo>
                    <a:pt x="22112" y="0"/>
                  </a:moveTo>
                  <a:lnTo>
                    <a:pt x="13501" y="2306"/>
                  </a:lnTo>
                  <a:lnTo>
                    <a:pt x="6473" y="8615"/>
                  </a:lnTo>
                  <a:lnTo>
                    <a:pt x="1736" y="18007"/>
                  </a:lnTo>
                  <a:lnTo>
                    <a:pt x="0" y="29565"/>
                  </a:lnTo>
                  <a:lnTo>
                    <a:pt x="1736" y="41349"/>
                  </a:lnTo>
                  <a:lnTo>
                    <a:pt x="6473" y="50858"/>
                  </a:lnTo>
                  <a:lnTo>
                    <a:pt x="13501" y="57209"/>
                  </a:lnTo>
                  <a:lnTo>
                    <a:pt x="22112" y="59522"/>
                  </a:lnTo>
                  <a:lnTo>
                    <a:pt x="30995" y="57209"/>
                  </a:lnTo>
                  <a:lnTo>
                    <a:pt x="38163" y="50858"/>
                  </a:lnTo>
                  <a:lnTo>
                    <a:pt x="42952" y="41349"/>
                  </a:lnTo>
                  <a:lnTo>
                    <a:pt x="44695" y="29565"/>
                  </a:lnTo>
                  <a:lnTo>
                    <a:pt x="42952" y="18007"/>
                  </a:lnTo>
                  <a:lnTo>
                    <a:pt x="38163" y="8615"/>
                  </a:lnTo>
                  <a:lnTo>
                    <a:pt x="30995" y="2306"/>
                  </a:lnTo>
                  <a:lnTo>
                    <a:pt x="22112" y="0"/>
                  </a:lnTo>
                </a:path>
              </a:pathLst>
            </a:custGeom>
            <a:ln w="14577">
              <a:solidFill>
                <a:srgbClr val="000000"/>
              </a:solidFill>
            </a:ln>
          </p:spPr>
          <p:txBody>
            <a:bodyPr wrap="square" lIns="0" tIns="0" rIns="0" bIns="0" rtlCol="0"/>
            <a:lstStyle/>
            <a:p/>
          </p:txBody>
        </p:sp>
        <p:sp>
          <p:nvSpPr>
            <p:cNvPr id="52" name="object 52" descr=""/>
            <p:cNvSpPr/>
            <p:nvPr/>
          </p:nvSpPr>
          <p:spPr>
            <a:xfrm>
              <a:off x="3400917" y="3472419"/>
              <a:ext cx="78105" cy="523240"/>
            </a:xfrm>
            <a:custGeom>
              <a:avLst/>
              <a:gdLst/>
              <a:ahLst/>
              <a:cxnLst/>
              <a:rect l="l" t="t" r="r" b="b"/>
              <a:pathLst>
                <a:path w="78104" h="523239">
                  <a:moveTo>
                    <a:pt x="0" y="405888"/>
                  </a:moveTo>
                  <a:lnTo>
                    <a:pt x="39505" y="523170"/>
                  </a:lnTo>
                  <a:lnTo>
                    <a:pt x="62028" y="454641"/>
                  </a:lnTo>
                  <a:lnTo>
                    <a:pt x="33845" y="454641"/>
                  </a:lnTo>
                  <a:lnTo>
                    <a:pt x="29614" y="450529"/>
                  </a:lnTo>
                  <a:lnTo>
                    <a:pt x="29573" y="435407"/>
                  </a:lnTo>
                  <a:lnTo>
                    <a:pt x="0" y="405888"/>
                  </a:lnTo>
                  <a:close/>
                </a:path>
                <a:path w="78104" h="523239">
                  <a:moveTo>
                    <a:pt x="29573" y="435407"/>
                  </a:moveTo>
                  <a:lnTo>
                    <a:pt x="29614" y="450529"/>
                  </a:lnTo>
                  <a:lnTo>
                    <a:pt x="33845" y="454641"/>
                  </a:lnTo>
                  <a:lnTo>
                    <a:pt x="44676" y="454641"/>
                  </a:lnTo>
                  <a:lnTo>
                    <a:pt x="48906" y="450529"/>
                  </a:lnTo>
                  <a:lnTo>
                    <a:pt x="48906" y="444851"/>
                  </a:lnTo>
                  <a:lnTo>
                    <a:pt x="39035" y="444851"/>
                  </a:lnTo>
                  <a:lnTo>
                    <a:pt x="29573" y="435407"/>
                  </a:lnTo>
                  <a:close/>
                </a:path>
                <a:path w="78104" h="523239">
                  <a:moveTo>
                    <a:pt x="78051" y="405888"/>
                  </a:moveTo>
                  <a:lnTo>
                    <a:pt x="48875" y="435025"/>
                  </a:lnTo>
                  <a:lnTo>
                    <a:pt x="48906" y="450529"/>
                  </a:lnTo>
                  <a:lnTo>
                    <a:pt x="44676" y="454641"/>
                  </a:lnTo>
                  <a:lnTo>
                    <a:pt x="62028" y="454641"/>
                  </a:lnTo>
                  <a:lnTo>
                    <a:pt x="78051" y="405888"/>
                  </a:lnTo>
                  <a:close/>
                </a:path>
                <a:path w="78104" h="523239">
                  <a:moveTo>
                    <a:pt x="42796" y="0"/>
                  </a:moveTo>
                  <a:lnTo>
                    <a:pt x="31964" y="0"/>
                  </a:lnTo>
                  <a:lnTo>
                    <a:pt x="27734" y="4699"/>
                  </a:lnTo>
                  <a:lnTo>
                    <a:pt x="27734" y="9789"/>
                  </a:lnTo>
                  <a:lnTo>
                    <a:pt x="29446" y="405888"/>
                  </a:lnTo>
                  <a:lnTo>
                    <a:pt x="29571" y="435025"/>
                  </a:lnTo>
                  <a:lnTo>
                    <a:pt x="29573" y="435407"/>
                  </a:lnTo>
                  <a:lnTo>
                    <a:pt x="39035" y="444851"/>
                  </a:lnTo>
                  <a:lnTo>
                    <a:pt x="48875" y="435025"/>
                  </a:lnTo>
                  <a:lnTo>
                    <a:pt x="47496" y="9789"/>
                  </a:lnTo>
                  <a:lnTo>
                    <a:pt x="47496" y="4111"/>
                  </a:lnTo>
                  <a:lnTo>
                    <a:pt x="42796" y="0"/>
                  </a:lnTo>
                  <a:close/>
                </a:path>
                <a:path w="78104" h="523239">
                  <a:moveTo>
                    <a:pt x="48875" y="435025"/>
                  </a:moveTo>
                  <a:lnTo>
                    <a:pt x="39035" y="444851"/>
                  </a:lnTo>
                  <a:lnTo>
                    <a:pt x="48906" y="444851"/>
                  </a:lnTo>
                  <a:lnTo>
                    <a:pt x="48875" y="435025"/>
                  </a:lnTo>
                  <a:close/>
                </a:path>
              </a:pathLst>
            </a:custGeom>
            <a:solidFill>
              <a:srgbClr val="000000"/>
            </a:solidFill>
          </p:spPr>
          <p:txBody>
            <a:bodyPr wrap="square" lIns="0" tIns="0" rIns="0" bIns="0" rtlCol="0"/>
            <a:lstStyle/>
            <a:p/>
          </p:txBody>
        </p:sp>
        <p:sp>
          <p:nvSpPr>
            <p:cNvPr id="53" name="object 53" descr=""/>
            <p:cNvSpPr/>
            <p:nvPr/>
          </p:nvSpPr>
          <p:spPr>
            <a:xfrm>
              <a:off x="3400917" y="3472419"/>
              <a:ext cx="78105" cy="523240"/>
            </a:xfrm>
            <a:custGeom>
              <a:avLst/>
              <a:gdLst/>
              <a:ahLst/>
              <a:cxnLst/>
              <a:rect l="l" t="t" r="r" b="b"/>
              <a:pathLst>
                <a:path w="78104" h="523239">
                  <a:moveTo>
                    <a:pt x="47496" y="9789"/>
                  </a:moveTo>
                  <a:lnTo>
                    <a:pt x="48906" y="444851"/>
                  </a:lnTo>
                  <a:lnTo>
                    <a:pt x="48906" y="450529"/>
                  </a:lnTo>
                  <a:lnTo>
                    <a:pt x="44676" y="454641"/>
                  </a:lnTo>
                  <a:lnTo>
                    <a:pt x="39505" y="454641"/>
                  </a:lnTo>
                  <a:lnTo>
                    <a:pt x="33845" y="454641"/>
                  </a:lnTo>
                  <a:lnTo>
                    <a:pt x="29614" y="450529"/>
                  </a:lnTo>
                  <a:lnTo>
                    <a:pt x="29614" y="444851"/>
                  </a:lnTo>
                  <a:lnTo>
                    <a:pt x="27734" y="9789"/>
                  </a:lnTo>
                  <a:lnTo>
                    <a:pt x="27734" y="4699"/>
                  </a:lnTo>
                  <a:lnTo>
                    <a:pt x="31964" y="0"/>
                  </a:lnTo>
                  <a:lnTo>
                    <a:pt x="37625" y="0"/>
                  </a:lnTo>
                  <a:lnTo>
                    <a:pt x="42796" y="0"/>
                  </a:lnTo>
                  <a:lnTo>
                    <a:pt x="47496" y="4111"/>
                  </a:lnTo>
                  <a:lnTo>
                    <a:pt x="47496" y="9789"/>
                  </a:lnTo>
                  <a:close/>
                </a:path>
                <a:path w="78104" h="523239">
                  <a:moveTo>
                    <a:pt x="39035" y="444851"/>
                  </a:moveTo>
                  <a:lnTo>
                    <a:pt x="78051" y="405888"/>
                  </a:lnTo>
                  <a:lnTo>
                    <a:pt x="39505" y="523170"/>
                  </a:lnTo>
                  <a:lnTo>
                    <a:pt x="0" y="405888"/>
                  </a:lnTo>
                  <a:lnTo>
                    <a:pt x="39035" y="444851"/>
                  </a:lnTo>
                  <a:close/>
                </a:path>
              </a:pathLst>
            </a:custGeom>
            <a:ln w="3175">
              <a:solidFill>
                <a:srgbClr val="000000"/>
              </a:solidFill>
            </a:ln>
          </p:spPr>
          <p:txBody>
            <a:bodyPr wrap="square" lIns="0" tIns="0" rIns="0" bIns="0" rtlCol="0"/>
            <a:lstStyle/>
            <a:p/>
          </p:txBody>
        </p:sp>
        <p:sp>
          <p:nvSpPr>
            <p:cNvPr id="54" name="object 54" descr=""/>
            <p:cNvSpPr/>
            <p:nvPr/>
          </p:nvSpPr>
          <p:spPr>
            <a:xfrm>
              <a:off x="4732294" y="3726760"/>
              <a:ext cx="45720" cy="59690"/>
            </a:xfrm>
            <a:custGeom>
              <a:avLst/>
              <a:gdLst/>
              <a:ahLst/>
              <a:cxnLst/>
              <a:rect l="l" t="t" r="r" b="b"/>
              <a:pathLst>
                <a:path w="45720" h="59689">
                  <a:moveTo>
                    <a:pt x="22014" y="0"/>
                  </a:moveTo>
                  <a:lnTo>
                    <a:pt x="13452" y="2306"/>
                  </a:lnTo>
                  <a:lnTo>
                    <a:pt x="6453" y="8615"/>
                  </a:lnTo>
                  <a:lnTo>
                    <a:pt x="1732" y="18007"/>
                  </a:lnTo>
                  <a:lnTo>
                    <a:pt x="0" y="29565"/>
                  </a:lnTo>
                  <a:lnTo>
                    <a:pt x="1732" y="41349"/>
                  </a:lnTo>
                  <a:lnTo>
                    <a:pt x="6453" y="50858"/>
                  </a:lnTo>
                  <a:lnTo>
                    <a:pt x="13452" y="57209"/>
                  </a:lnTo>
                  <a:lnTo>
                    <a:pt x="22014" y="59522"/>
                  </a:lnTo>
                  <a:lnTo>
                    <a:pt x="30997" y="57209"/>
                  </a:lnTo>
                  <a:lnTo>
                    <a:pt x="38345" y="50858"/>
                  </a:lnTo>
                  <a:lnTo>
                    <a:pt x="43305" y="41349"/>
                  </a:lnTo>
                  <a:lnTo>
                    <a:pt x="45126" y="29565"/>
                  </a:lnTo>
                  <a:lnTo>
                    <a:pt x="43305" y="18007"/>
                  </a:lnTo>
                  <a:lnTo>
                    <a:pt x="38345" y="8615"/>
                  </a:lnTo>
                  <a:lnTo>
                    <a:pt x="30997" y="2306"/>
                  </a:lnTo>
                  <a:lnTo>
                    <a:pt x="22014" y="0"/>
                  </a:lnTo>
                  <a:close/>
                </a:path>
              </a:pathLst>
            </a:custGeom>
            <a:solidFill>
              <a:srgbClr val="000000"/>
            </a:solidFill>
          </p:spPr>
          <p:txBody>
            <a:bodyPr wrap="square" lIns="0" tIns="0" rIns="0" bIns="0" rtlCol="0"/>
            <a:lstStyle/>
            <a:p/>
          </p:txBody>
        </p:sp>
        <p:sp>
          <p:nvSpPr>
            <p:cNvPr id="55" name="object 55" descr=""/>
            <p:cNvSpPr/>
            <p:nvPr/>
          </p:nvSpPr>
          <p:spPr>
            <a:xfrm>
              <a:off x="4732294" y="3726760"/>
              <a:ext cx="45720" cy="59690"/>
            </a:xfrm>
            <a:custGeom>
              <a:avLst/>
              <a:gdLst/>
              <a:ahLst/>
              <a:cxnLst/>
              <a:rect l="l" t="t" r="r" b="b"/>
              <a:pathLst>
                <a:path w="45720" h="59689">
                  <a:moveTo>
                    <a:pt x="22014" y="0"/>
                  </a:moveTo>
                  <a:lnTo>
                    <a:pt x="13452" y="2306"/>
                  </a:lnTo>
                  <a:lnTo>
                    <a:pt x="6453" y="8615"/>
                  </a:lnTo>
                  <a:lnTo>
                    <a:pt x="1732" y="18007"/>
                  </a:lnTo>
                  <a:lnTo>
                    <a:pt x="0" y="29565"/>
                  </a:lnTo>
                  <a:lnTo>
                    <a:pt x="1732" y="41349"/>
                  </a:lnTo>
                  <a:lnTo>
                    <a:pt x="6453" y="50858"/>
                  </a:lnTo>
                  <a:lnTo>
                    <a:pt x="13452" y="57209"/>
                  </a:lnTo>
                  <a:lnTo>
                    <a:pt x="22014" y="59522"/>
                  </a:lnTo>
                  <a:lnTo>
                    <a:pt x="30997" y="57209"/>
                  </a:lnTo>
                  <a:lnTo>
                    <a:pt x="38345" y="50858"/>
                  </a:lnTo>
                  <a:lnTo>
                    <a:pt x="43305" y="41349"/>
                  </a:lnTo>
                  <a:lnTo>
                    <a:pt x="45126" y="29565"/>
                  </a:lnTo>
                  <a:lnTo>
                    <a:pt x="43305" y="18007"/>
                  </a:lnTo>
                  <a:lnTo>
                    <a:pt x="38345" y="8615"/>
                  </a:lnTo>
                  <a:lnTo>
                    <a:pt x="30997" y="2306"/>
                  </a:lnTo>
                  <a:lnTo>
                    <a:pt x="22014" y="0"/>
                  </a:lnTo>
                </a:path>
              </a:pathLst>
            </a:custGeom>
            <a:ln w="14577">
              <a:solidFill>
                <a:srgbClr val="000000"/>
              </a:solidFill>
            </a:ln>
          </p:spPr>
          <p:txBody>
            <a:bodyPr wrap="square" lIns="0" tIns="0" rIns="0" bIns="0" rtlCol="0"/>
            <a:lstStyle/>
            <a:p/>
          </p:txBody>
        </p:sp>
        <p:sp>
          <p:nvSpPr>
            <p:cNvPr id="56" name="object 56" descr=""/>
            <p:cNvSpPr/>
            <p:nvPr/>
          </p:nvSpPr>
          <p:spPr>
            <a:xfrm>
              <a:off x="7160484" y="3722061"/>
              <a:ext cx="45085" cy="59690"/>
            </a:xfrm>
            <a:custGeom>
              <a:avLst/>
              <a:gdLst/>
              <a:ahLst/>
              <a:cxnLst/>
              <a:rect l="l" t="t" r="r" b="b"/>
              <a:pathLst>
                <a:path w="45084" h="59689">
                  <a:moveTo>
                    <a:pt x="22524" y="0"/>
                  </a:moveTo>
                  <a:lnTo>
                    <a:pt x="13799" y="2306"/>
                  </a:lnTo>
                  <a:lnTo>
                    <a:pt x="6634" y="8615"/>
                  </a:lnTo>
                  <a:lnTo>
                    <a:pt x="1784" y="18007"/>
                  </a:lnTo>
                  <a:lnTo>
                    <a:pt x="0" y="29565"/>
                  </a:lnTo>
                  <a:lnTo>
                    <a:pt x="1784" y="41184"/>
                  </a:lnTo>
                  <a:lnTo>
                    <a:pt x="6634" y="50711"/>
                  </a:lnTo>
                  <a:lnTo>
                    <a:pt x="13799" y="57154"/>
                  </a:lnTo>
                  <a:lnTo>
                    <a:pt x="22524" y="59522"/>
                  </a:lnTo>
                  <a:lnTo>
                    <a:pt x="31414" y="57154"/>
                  </a:lnTo>
                  <a:lnTo>
                    <a:pt x="38560" y="50711"/>
                  </a:lnTo>
                  <a:lnTo>
                    <a:pt x="43319" y="41184"/>
                  </a:lnTo>
                  <a:lnTo>
                    <a:pt x="45048" y="29565"/>
                  </a:lnTo>
                  <a:lnTo>
                    <a:pt x="43319" y="18007"/>
                  </a:lnTo>
                  <a:lnTo>
                    <a:pt x="38560" y="8615"/>
                  </a:lnTo>
                  <a:lnTo>
                    <a:pt x="31414" y="2306"/>
                  </a:lnTo>
                  <a:lnTo>
                    <a:pt x="22524" y="0"/>
                  </a:lnTo>
                  <a:close/>
                </a:path>
              </a:pathLst>
            </a:custGeom>
            <a:solidFill>
              <a:srgbClr val="000000"/>
            </a:solidFill>
          </p:spPr>
          <p:txBody>
            <a:bodyPr wrap="square" lIns="0" tIns="0" rIns="0" bIns="0" rtlCol="0"/>
            <a:lstStyle/>
            <a:p/>
          </p:txBody>
        </p:sp>
        <p:sp>
          <p:nvSpPr>
            <p:cNvPr id="57" name="object 57" descr=""/>
            <p:cNvSpPr/>
            <p:nvPr/>
          </p:nvSpPr>
          <p:spPr>
            <a:xfrm>
              <a:off x="7160484" y="3722061"/>
              <a:ext cx="45085" cy="59690"/>
            </a:xfrm>
            <a:custGeom>
              <a:avLst/>
              <a:gdLst/>
              <a:ahLst/>
              <a:cxnLst/>
              <a:rect l="l" t="t" r="r" b="b"/>
              <a:pathLst>
                <a:path w="45084" h="59689">
                  <a:moveTo>
                    <a:pt x="22524" y="0"/>
                  </a:moveTo>
                  <a:lnTo>
                    <a:pt x="13799" y="2306"/>
                  </a:lnTo>
                  <a:lnTo>
                    <a:pt x="6634" y="8615"/>
                  </a:lnTo>
                  <a:lnTo>
                    <a:pt x="1784" y="18007"/>
                  </a:lnTo>
                  <a:lnTo>
                    <a:pt x="0" y="29565"/>
                  </a:lnTo>
                  <a:lnTo>
                    <a:pt x="1784" y="41184"/>
                  </a:lnTo>
                  <a:lnTo>
                    <a:pt x="6634" y="50711"/>
                  </a:lnTo>
                  <a:lnTo>
                    <a:pt x="13799" y="57154"/>
                  </a:lnTo>
                  <a:lnTo>
                    <a:pt x="22524" y="59522"/>
                  </a:lnTo>
                  <a:lnTo>
                    <a:pt x="31414" y="57154"/>
                  </a:lnTo>
                  <a:lnTo>
                    <a:pt x="38560" y="50711"/>
                  </a:lnTo>
                  <a:lnTo>
                    <a:pt x="43319" y="41184"/>
                  </a:lnTo>
                  <a:lnTo>
                    <a:pt x="45048" y="29565"/>
                  </a:lnTo>
                  <a:lnTo>
                    <a:pt x="43319" y="18007"/>
                  </a:lnTo>
                  <a:lnTo>
                    <a:pt x="38560" y="8615"/>
                  </a:lnTo>
                  <a:lnTo>
                    <a:pt x="31414" y="2306"/>
                  </a:lnTo>
                  <a:lnTo>
                    <a:pt x="22524" y="0"/>
                  </a:lnTo>
                </a:path>
              </a:pathLst>
            </a:custGeom>
            <a:ln w="14577">
              <a:solidFill>
                <a:srgbClr val="000000"/>
              </a:solidFill>
            </a:ln>
          </p:spPr>
          <p:txBody>
            <a:bodyPr wrap="square" lIns="0" tIns="0" rIns="0" bIns="0" rtlCol="0"/>
            <a:lstStyle/>
            <a:p/>
          </p:txBody>
        </p:sp>
        <p:sp>
          <p:nvSpPr>
            <p:cNvPr id="58" name="object 58" descr=""/>
            <p:cNvSpPr/>
            <p:nvPr/>
          </p:nvSpPr>
          <p:spPr>
            <a:xfrm>
              <a:off x="7942956" y="3726760"/>
              <a:ext cx="45085" cy="59690"/>
            </a:xfrm>
            <a:custGeom>
              <a:avLst/>
              <a:gdLst/>
              <a:ahLst/>
              <a:cxnLst/>
              <a:rect l="l" t="t" r="r" b="b"/>
              <a:pathLst>
                <a:path w="45084" h="59689">
                  <a:moveTo>
                    <a:pt x="22132" y="0"/>
                  </a:moveTo>
                  <a:lnTo>
                    <a:pt x="13468" y="2306"/>
                  </a:lnTo>
                  <a:lnTo>
                    <a:pt x="6438" y="8615"/>
                  </a:lnTo>
                  <a:lnTo>
                    <a:pt x="1722" y="18007"/>
                  </a:lnTo>
                  <a:lnTo>
                    <a:pt x="0" y="29565"/>
                  </a:lnTo>
                  <a:lnTo>
                    <a:pt x="1722" y="41349"/>
                  </a:lnTo>
                  <a:lnTo>
                    <a:pt x="6438" y="50858"/>
                  </a:lnTo>
                  <a:lnTo>
                    <a:pt x="13468" y="57209"/>
                  </a:lnTo>
                  <a:lnTo>
                    <a:pt x="22132" y="59522"/>
                  </a:lnTo>
                  <a:lnTo>
                    <a:pt x="31022" y="57209"/>
                  </a:lnTo>
                  <a:lnTo>
                    <a:pt x="38168" y="50858"/>
                  </a:lnTo>
                  <a:lnTo>
                    <a:pt x="42927" y="41349"/>
                  </a:lnTo>
                  <a:lnTo>
                    <a:pt x="44656" y="29565"/>
                  </a:lnTo>
                  <a:lnTo>
                    <a:pt x="42927" y="18007"/>
                  </a:lnTo>
                  <a:lnTo>
                    <a:pt x="38168" y="8615"/>
                  </a:lnTo>
                  <a:lnTo>
                    <a:pt x="31022" y="2306"/>
                  </a:lnTo>
                  <a:lnTo>
                    <a:pt x="22132" y="0"/>
                  </a:lnTo>
                  <a:close/>
                </a:path>
              </a:pathLst>
            </a:custGeom>
            <a:solidFill>
              <a:srgbClr val="000000"/>
            </a:solidFill>
          </p:spPr>
          <p:txBody>
            <a:bodyPr wrap="square" lIns="0" tIns="0" rIns="0" bIns="0" rtlCol="0"/>
            <a:lstStyle/>
            <a:p/>
          </p:txBody>
        </p:sp>
        <p:sp>
          <p:nvSpPr>
            <p:cNvPr id="59" name="object 59" descr=""/>
            <p:cNvSpPr/>
            <p:nvPr/>
          </p:nvSpPr>
          <p:spPr>
            <a:xfrm>
              <a:off x="7942956" y="3726760"/>
              <a:ext cx="45085" cy="59690"/>
            </a:xfrm>
            <a:custGeom>
              <a:avLst/>
              <a:gdLst/>
              <a:ahLst/>
              <a:cxnLst/>
              <a:rect l="l" t="t" r="r" b="b"/>
              <a:pathLst>
                <a:path w="45084" h="59689">
                  <a:moveTo>
                    <a:pt x="22132" y="0"/>
                  </a:moveTo>
                  <a:lnTo>
                    <a:pt x="13468" y="2306"/>
                  </a:lnTo>
                  <a:lnTo>
                    <a:pt x="6438" y="8615"/>
                  </a:lnTo>
                  <a:lnTo>
                    <a:pt x="1722" y="18007"/>
                  </a:lnTo>
                  <a:lnTo>
                    <a:pt x="0" y="29565"/>
                  </a:lnTo>
                  <a:lnTo>
                    <a:pt x="1722" y="41349"/>
                  </a:lnTo>
                  <a:lnTo>
                    <a:pt x="6438" y="50858"/>
                  </a:lnTo>
                  <a:lnTo>
                    <a:pt x="13468" y="57209"/>
                  </a:lnTo>
                  <a:lnTo>
                    <a:pt x="22132" y="59522"/>
                  </a:lnTo>
                  <a:lnTo>
                    <a:pt x="31022" y="57209"/>
                  </a:lnTo>
                  <a:lnTo>
                    <a:pt x="38168" y="50858"/>
                  </a:lnTo>
                  <a:lnTo>
                    <a:pt x="42927" y="41349"/>
                  </a:lnTo>
                  <a:lnTo>
                    <a:pt x="44656" y="29565"/>
                  </a:lnTo>
                  <a:lnTo>
                    <a:pt x="42927" y="18007"/>
                  </a:lnTo>
                  <a:lnTo>
                    <a:pt x="38168" y="8615"/>
                  </a:lnTo>
                  <a:lnTo>
                    <a:pt x="31022" y="2306"/>
                  </a:lnTo>
                  <a:lnTo>
                    <a:pt x="22132" y="0"/>
                  </a:lnTo>
                </a:path>
              </a:pathLst>
            </a:custGeom>
            <a:ln w="14577">
              <a:solidFill>
                <a:srgbClr val="000000"/>
              </a:solidFill>
            </a:ln>
          </p:spPr>
          <p:txBody>
            <a:bodyPr wrap="square" lIns="0" tIns="0" rIns="0" bIns="0" rtlCol="0"/>
            <a:lstStyle/>
            <a:p/>
          </p:txBody>
        </p:sp>
        <p:sp>
          <p:nvSpPr>
            <p:cNvPr id="60" name="object 60" descr=""/>
            <p:cNvSpPr/>
            <p:nvPr/>
          </p:nvSpPr>
          <p:spPr>
            <a:xfrm>
              <a:off x="6417772" y="3267811"/>
              <a:ext cx="45720" cy="60325"/>
            </a:xfrm>
            <a:custGeom>
              <a:avLst/>
              <a:gdLst/>
              <a:ahLst/>
              <a:cxnLst/>
              <a:rect l="l" t="t" r="r" b="b"/>
              <a:pathLst>
                <a:path w="45720" h="60325">
                  <a:moveTo>
                    <a:pt x="22524" y="0"/>
                  </a:moveTo>
                  <a:lnTo>
                    <a:pt x="13716" y="2367"/>
                  </a:lnTo>
                  <a:lnTo>
                    <a:pt x="6561" y="8810"/>
                  </a:lnTo>
                  <a:lnTo>
                    <a:pt x="1756" y="18337"/>
                  </a:lnTo>
                  <a:lnTo>
                    <a:pt x="0" y="29957"/>
                  </a:lnTo>
                  <a:lnTo>
                    <a:pt x="1756" y="41606"/>
                  </a:lnTo>
                  <a:lnTo>
                    <a:pt x="6561" y="51201"/>
                  </a:lnTo>
                  <a:lnTo>
                    <a:pt x="13716" y="57711"/>
                  </a:lnTo>
                  <a:lnTo>
                    <a:pt x="22524" y="60109"/>
                  </a:lnTo>
                  <a:lnTo>
                    <a:pt x="31279" y="57711"/>
                  </a:lnTo>
                  <a:lnTo>
                    <a:pt x="38511" y="51201"/>
                  </a:lnTo>
                  <a:lnTo>
                    <a:pt x="43429" y="41606"/>
                  </a:lnTo>
                  <a:lnTo>
                    <a:pt x="45244" y="29957"/>
                  </a:lnTo>
                  <a:lnTo>
                    <a:pt x="43429" y="18337"/>
                  </a:lnTo>
                  <a:lnTo>
                    <a:pt x="38511" y="8810"/>
                  </a:lnTo>
                  <a:lnTo>
                    <a:pt x="31279" y="2367"/>
                  </a:lnTo>
                  <a:lnTo>
                    <a:pt x="22524" y="0"/>
                  </a:lnTo>
                  <a:close/>
                </a:path>
              </a:pathLst>
            </a:custGeom>
            <a:solidFill>
              <a:srgbClr val="000000"/>
            </a:solidFill>
          </p:spPr>
          <p:txBody>
            <a:bodyPr wrap="square" lIns="0" tIns="0" rIns="0" bIns="0" rtlCol="0"/>
            <a:lstStyle/>
            <a:p/>
          </p:txBody>
        </p:sp>
        <p:sp>
          <p:nvSpPr>
            <p:cNvPr id="61" name="object 61" descr=""/>
            <p:cNvSpPr/>
            <p:nvPr/>
          </p:nvSpPr>
          <p:spPr>
            <a:xfrm>
              <a:off x="6417772" y="3267811"/>
              <a:ext cx="45720" cy="60325"/>
            </a:xfrm>
            <a:custGeom>
              <a:avLst/>
              <a:gdLst/>
              <a:ahLst/>
              <a:cxnLst/>
              <a:rect l="l" t="t" r="r" b="b"/>
              <a:pathLst>
                <a:path w="45720" h="60325">
                  <a:moveTo>
                    <a:pt x="22524" y="0"/>
                  </a:moveTo>
                  <a:lnTo>
                    <a:pt x="13716" y="2367"/>
                  </a:lnTo>
                  <a:lnTo>
                    <a:pt x="6561" y="8810"/>
                  </a:lnTo>
                  <a:lnTo>
                    <a:pt x="1756" y="18337"/>
                  </a:lnTo>
                  <a:lnTo>
                    <a:pt x="0" y="29957"/>
                  </a:lnTo>
                  <a:lnTo>
                    <a:pt x="1756" y="41606"/>
                  </a:lnTo>
                  <a:lnTo>
                    <a:pt x="6561" y="51201"/>
                  </a:lnTo>
                  <a:lnTo>
                    <a:pt x="13716" y="57711"/>
                  </a:lnTo>
                  <a:lnTo>
                    <a:pt x="22524" y="60109"/>
                  </a:lnTo>
                  <a:lnTo>
                    <a:pt x="31279" y="57711"/>
                  </a:lnTo>
                  <a:lnTo>
                    <a:pt x="38511" y="51201"/>
                  </a:lnTo>
                  <a:lnTo>
                    <a:pt x="43429" y="41606"/>
                  </a:lnTo>
                  <a:lnTo>
                    <a:pt x="45244" y="29957"/>
                  </a:lnTo>
                  <a:lnTo>
                    <a:pt x="43429" y="18337"/>
                  </a:lnTo>
                  <a:lnTo>
                    <a:pt x="38511" y="8810"/>
                  </a:lnTo>
                  <a:lnTo>
                    <a:pt x="31279" y="2367"/>
                  </a:lnTo>
                  <a:lnTo>
                    <a:pt x="22524" y="0"/>
                  </a:lnTo>
                </a:path>
              </a:pathLst>
            </a:custGeom>
            <a:ln w="14577">
              <a:solidFill>
                <a:srgbClr val="000000"/>
              </a:solidFill>
            </a:ln>
          </p:spPr>
          <p:txBody>
            <a:bodyPr wrap="square" lIns="0" tIns="0" rIns="0" bIns="0" rtlCol="0"/>
            <a:lstStyle/>
            <a:p/>
          </p:txBody>
        </p:sp>
        <p:sp>
          <p:nvSpPr>
            <p:cNvPr id="62" name="object 62" descr=""/>
            <p:cNvSpPr/>
            <p:nvPr/>
          </p:nvSpPr>
          <p:spPr>
            <a:xfrm>
              <a:off x="7229036" y="4628133"/>
              <a:ext cx="78740" cy="580390"/>
            </a:xfrm>
            <a:custGeom>
              <a:avLst/>
              <a:gdLst/>
              <a:ahLst/>
              <a:cxnLst/>
              <a:rect l="l" t="t" r="r" b="b"/>
              <a:pathLst>
                <a:path w="78740" h="580389">
                  <a:moveTo>
                    <a:pt x="0" y="462669"/>
                  </a:moveTo>
                  <a:lnTo>
                    <a:pt x="39564" y="579991"/>
                  </a:lnTo>
                  <a:lnTo>
                    <a:pt x="62324" y="511481"/>
                  </a:lnTo>
                  <a:lnTo>
                    <a:pt x="33884" y="511481"/>
                  </a:lnTo>
                  <a:lnTo>
                    <a:pt x="29575" y="507252"/>
                  </a:lnTo>
                  <a:lnTo>
                    <a:pt x="29575" y="492180"/>
                  </a:lnTo>
                  <a:lnTo>
                    <a:pt x="0" y="462669"/>
                  </a:lnTo>
                  <a:close/>
                </a:path>
                <a:path w="78740" h="580389">
                  <a:moveTo>
                    <a:pt x="29623" y="492180"/>
                  </a:moveTo>
                  <a:lnTo>
                    <a:pt x="29575" y="507252"/>
                  </a:lnTo>
                  <a:lnTo>
                    <a:pt x="33884" y="511481"/>
                  </a:lnTo>
                  <a:lnTo>
                    <a:pt x="44656" y="511481"/>
                  </a:lnTo>
                  <a:lnTo>
                    <a:pt x="49357" y="507252"/>
                  </a:lnTo>
                  <a:lnTo>
                    <a:pt x="49357" y="502083"/>
                  </a:lnTo>
                  <a:lnTo>
                    <a:pt x="39564" y="502083"/>
                  </a:lnTo>
                  <a:lnTo>
                    <a:pt x="29623" y="492180"/>
                  </a:lnTo>
                  <a:close/>
                </a:path>
                <a:path w="78740" h="580389">
                  <a:moveTo>
                    <a:pt x="78540" y="462669"/>
                  </a:moveTo>
                  <a:lnTo>
                    <a:pt x="49357" y="492180"/>
                  </a:lnTo>
                  <a:lnTo>
                    <a:pt x="49357" y="507252"/>
                  </a:lnTo>
                  <a:lnTo>
                    <a:pt x="44656" y="511481"/>
                  </a:lnTo>
                  <a:lnTo>
                    <a:pt x="62324" y="511481"/>
                  </a:lnTo>
                  <a:lnTo>
                    <a:pt x="78540" y="462669"/>
                  </a:lnTo>
                  <a:close/>
                </a:path>
                <a:path w="78740" h="580389">
                  <a:moveTo>
                    <a:pt x="44656" y="0"/>
                  </a:moveTo>
                  <a:lnTo>
                    <a:pt x="33884" y="0"/>
                  </a:lnTo>
                  <a:lnTo>
                    <a:pt x="29575" y="4699"/>
                  </a:lnTo>
                  <a:lnTo>
                    <a:pt x="29623" y="492180"/>
                  </a:lnTo>
                  <a:lnTo>
                    <a:pt x="39564" y="502083"/>
                  </a:lnTo>
                  <a:lnTo>
                    <a:pt x="49357" y="492180"/>
                  </a:lnTo>
                  <a:lnTo>
                    <a:pt x="49357" y="4699"/>
                  </a:lnTo>
                  <a:lnTo>
                    <a:pt x="44656" y="0"/>
                  </a:lnTo>
                  <a:close/>
                </a:path>
                <a:path w="78740" h="580389">
                  <a:moveTo>
                    <a:pt x="49357" y="492180"/>
                  </a:moveTo>
                  <a:lnTo>
                    <a:pt x="39564" y="502083"/>
                  </a:lnTo>
                  <a:lnTo>
                    <a:pt x="49357" y="502083"/>
                  </a:lnTo>
                  <a:lnTo>
                    <a:pt x="49357" y="492180"/>
                  </a:lnTo>
                  <a:close/>
                </a:path>
              </a:pathLst>
            </a:custGeom>
            <a:solidFill>
              <a:srgbClr val="000000"/>
            </a:solidFill>
          </p:spPr>
          <p:txBody>
            <a:bodyPr wrap="square" lIns="0" tIns="0" rIns="0" bIns="0" rtlCol="0"/>
            <a:lstStyle/>
            <a:p/>
          </p:txBody>
        </p:sp>
        <p:sp>
          <p:nvSpPr>
            <p:cNvPr id="63" name="object 63" descr=""/>
            <p:cNvSpPr/>
            <p:nvPr/>
          </p:nvSpPr>
          <p:spPr>
            <a:xfrm>
              <a:off x="7229036" y="4628133"/>
              <a:ext cx="78740" cy="580390"/>
            </a:xfrm>
            <a:custGeom>
              <a:avLst/>
              <a:gdLst/>
              <a:ahLst/>
              <a:cxnLst/>
              <a:rect l="l" t="t" r="r" b="b"/>
              <a:pathLst>
                <a:path w="78740" h="580389">
                  <a:moveTo>
                    <a:pt x="49357" y="9848"/>
                  </a:moveTo>
                  <a:lnTo>
                    <a:pt x="49357" y="502083"/>
                  </a:lnTo>
                  <a:lnTo>
                    <a:pt x="49357" y="507252"/>
                  </a:lnTo>
                  <a:lnTo>
                    <a:pt x="44656" y="511481"/>
                  </a:lnTo>
                  <a:lnTo>
                    <a:pt x="39564" y="511481"/>
                  </a:lnTo>
                  <a:lnTo>
                    <a:pt x="33884" y="511481"/>
                  </a:lnTo>
                  <a:lnTo>
                    <a:pt x="29575" y="507252"/>
                  </a:lnTo>
                  <a:lnTo>
                    <a:pt x="29575" y="502083"/>
                  </a:lnTo>
                  <a:lnTo>
                    <a:pt x="29575" y="9848"/>
                  </a:lnTo>
                  <a:lnTo>
                    <a:pt x="29575" y="4699"/>
                  </a:lnTo>
                  <a:lnTo>
                    <a:pt x="33884" y="0"/>
                  </a:lnTo>
                  <a:lnTo>
                    <a:pt x="39564" y="0"/>
                  </a:lnTo>
                  <a:lnTo>
                    <a:pt x="44656" y="0"/>
                  </a:lnTo>
                  <a:lnTo>
                    <a:pt x="49357" y="4699"/>
                  </a:lnTo>
                  <a:lnTo>
                    <a:pt x="49357" y="9848"/>
                  </a:lnTo>
                  <a:close/>
                </a:path>
                <a:path w="78740" h="580389">
                  <a:moveTo>
                    <a:pt x="39564" y="502083"/>
                  </a:moveTo>
                  <a:lnTo>
                    <a:pt x="78540" y="462669"/>
                  </a:lnTo>
                  <a:lnTo>
                    <a:pt x="39564" y="579991"/>
                  </a:lnTo>
                  <a:lnTo>
                    <a:pt x="0" y="462669"/>
                  </a:lnTo>
                  <a:lnTo>
                    <a:pt x="39564" y="502083"/>
                  </a:lnTo>
                  <a:close/>
                </a:path>
              </a:pathLst>
            </a:custGeom>
            <a:ln w="3175">
              <a:solidFill>
                <a:srgbClr val="000000"/>
              </a:solidFill>
            </a:ln>
          </p:spPr>
          <p:txBody>
            <a:bodyPr wrap="square" lIns="0" tIns="0" rIns="0" bIns="0" rtlCol="0"/>
            <a:lstStyle/>
            <a:p/>
          </p:txBody>
        </p:sp>
      </p:grpSp>
      <p:sp>
        <p:nvSpPr>
          <p:cNvPr id="64" name="object 64" descr=""/>
          <p:cNvSpPr txBox="1"/>
          <p:nvPr/>
        </p:nvSpPr>
        <p:spPr>
          <a:xfrm>
            <a:off x="5093967" y="5583146"/>
            <a:ext cx="1815464" cy="237490"/>
          </a:xfrm>
          <a:prstGeom prst="rect">
            <a:avLst/>
          </a:prstGeom>
        </p:spPr>
        <p:txBody>
          <a:bodyPr wrap="square" lIns="0" tIns="17145" rIns="0" bIns="0" rtlCol="0" vert="horz">
            <a:spAutoFit/>
          </a:bodyPr>
          <a:lstStyle/>
          <a:p>
            <a:pPr marL="12700">
              <a:lnSpc>
                <a:spcPct val="100000"/>
              </a:lnSpc>
              <a:spcBef>
                <a:spcPts val="135"/>
              </a:spcBef>
            </a:pPr>
            <a:r>
              <a:rPr dirty="0" sz="1350" b="1">
                <a:solidFill>
                  <a:srgbClr val="0000FF"/>
                </a:solidFill>
                <a:latin typeface="宋体"/>
                <a:cs typeface="宋体"/>
              </a:rPr>
              <a:t>公共数据总线</a:t>
            </a:r>
            <a:r>
              <a:rPr dirty="0" sz="1350" spc="-20" b="1">
                <a:solidFill>
                  <a:srgbClr val="0000FF"/>
                </a:solidFill>
                <a:latin typeface="宋体"/>
                <a:cs typeface="宋体"/>
              </a:rPr>
              <a:t>（</a:t>
            </a:r>
            <a:r>
              <a:rPr dirty="0" sz="1350" spc="-20" b="1">
                <a:solidFill>
                  <a:srgbClr val="0000FF"/>
                </a:solidFill>
                <a:latin typeface="Times New Roman"/>
                <a:cs typeface="Times New Roman"/>
              </a:rPr>
              <a:t>CDB</a:t>
            </a:r>
            <a:r>
              <a:rPr dirty="0" sz="1350" spc="-20" b="1">
                <a:solidFill>
                  <a:srgbClr val="0000FF"/>
                </a:solidFill>
                <a:latin typeface="宋体"/>
                <a:cs typeface="宋体"/>
              </a:rPr>
              <a:t>）</a:t>
            </a:r>
            <a:endParaRPr sz="1350">
              <a:latin typeface="宋体"/>
              <a:cs typeface="宋体"/>
            </a:endParaRPr>
          </a:p>
        </p:txBody>
      </p:sp>
      <p:sp>
        <p:nvSpPr>
          <p:cNvPr id="65" name="object 65" descr=""/>
          <p:cNvSpPr txBox="1"/>
          <p:nvPr/>
        </p:nvSpPr>
        <p:spPr>
          <a:xfrm>
            <a:off x="2839441" y="4049535"/>
            <a:ext cx="201930" cy="585470"/>
          </a:xfrm>
          <a:prstGeom prst="rect">
            <a:avLst/>
          </a:prstGeom>
        </p:spPr>
        <p:txBody>
          <a:bodyPr wrap="square" lIns="0" tIns="49530" rIns="0" bIns="0" rtlCol="0" vert="horz">
            <a:spAutoFit/>
          </a:bodyPr>
          <a:lstStyle/>
          <a:p>
            <a:pPr algn="just" marL="12700" marR="5080">
              <a:lnSpc>
                <a:spcPts val="1370"/>
              </a:lnSpc>
              <a:spcBef>
                <a:spcPts val="390"/>
              </a:spcBef>
            </a:pPr>
            <a:r>
              <a:rPr dirty="0" sz="1350" spc="-50" b="1">
                <a:latin typeface="宋体"/>
                <a:cs typeface="宋体"/>
              </a:rPr>
              <a:t>保留站</a:t>
            </a:r>
            <a:endParaRPr sz="1350">
              <a:latin typeface="宋体"/>
              <a:cs typeface="宋体"/>
            </a:endParaRPr>
          </a:p>
        </p:txBody>
      </p:sp>
      <p:sp>
        <p:nvSpPr>
          <p:cNvPr id="66" name="object 66" descr=""/>
          <p:cNvSpPr txBox="1"/>
          <p:nvPr/>
        </p:nvSpPr>
        <p:spPr>
          <a:xfrm>
            <a:off x="5216185" y="4031835"/>
            <a:ext cx="495300" cy="237490"/>
          </a:xfrm>
          <a:prstGeom prst="rect">
            <a:avLst/>
          </a:prstGeom>
        </p:spPr>
        <p:txBody>
          <a:bodyPr wrap="square" lIns="0" tIns="17145" rIns="0" bIns="0" rtlCol="0" vert="horz">
            <a:spAutoFit/>
          </a:bodyPr>
          <a:lstStyle/>
          <a:p>
            <a:pPr marL="12700">
              <a:lnSpc>
                <a:spcPct val="100000"/>
              </a:lnSpc>
              <a:spcBef>
                <a:spcPts val="135"/>
              </a:spcBef>
            </a:pPr>
            <a:r>
              <a:rPr dirty="0" sz="1350" spc="-20">
                <a:latin typeface="Times New Roman"/>
                <a:cs typeface="Times New Roman"/>
              </a:rPr>
              <a:t>ADD3</a:t>
            </a:r>
            <a:endParaRPr sz="1350">
              <a:latin typeface="Times New Roman"/>
              <a:cs typeface="Times New Roman"/>
            </a:endParaRPr>
          </a:p>
        </p:txBody>
      </p:sp>
      <p:grpSp>
        <p:nvGrpSpPr>
          <p:cNvPr id="67" name="object 67" descr=""/>
          <p:cNvGrpSpPr/>
          <p:nvPr/>
        </p:nvGrpSpPr>
        <p:grpSpPr>
          <a:xfrm>
            <a:off x="3144830" y="3988287"/>
            <a:ext cx="5201285" cy="839469"/>
            <a:chOff x="3144830" y="3988287"/>
            <a:chExt cx="5201285" cy="839469"/>
          </a:xfrm>
        </p:grpSpPr>
        <p:sp>
          <p:nvSpPr>
            <p:cNvPr id="68" name="object 68" descr=""/>
            <p:cNvSpPr/>
            <p:nvPr/>
          </p:nvSpPr>
          <p:spPr>
            <a:xfrm>
              <a:off x="3152132" y="3995590"/>
              <a:ext cx="2017395" cy="824865"/>
            </a:xfrm>
            <a:custGeom>
              <a:avLst/>
              <a:gdLst/>
              <a:ahLst/>
              <a:cxnLst/>
              <a:rect l="l" t="t" r="r" b="b"/>
              <a:pathLst>
                <a:path w="2017395" h="824864">
                  <a:moveTo>
                    <a:pt x="2016995" y="0"/>
                  </a:moveTo>
                  <a:lnTo>
                    <a:pt x="0" y="0"/>
                  </a:lnTo>
                  <a:lnTo>
                    <a:pt x="0" y="824463"/>
                  </a:lnTo>
                  <a:lnTo>
                    <a:pt x="2016995" y="824463"/>
                  </a:lnTo>
                  <a:lnTo>
                    <a:pt x="2016995" y="0"/>
                  </a:lnTo>
                  <a:close/>
                </a:path>
              </a:pathLst>
            </a:custGeom>
            <a:solidFill>
              <a:srgbClr val="CCFFCC"/>
            </a:solidFill>
          </p:spPr>
          <p:txBody>
            <a:bodyPr wrap="square" lIns="0" tIns="0" rIns="0" bIns="0" rtlCol="0"/>
            <a:lstStyle/>
            <a:p/>
          </p:txBody>
        </p:sp>
        <p:sp>
          <p:nvSpPr>
            <p:cNvPr id="69" name="object 69" descr=""/>
            <p:cNvSpPr/>
            <p:nvPr/>
          </p:nvSpPr>
          <p:spPr>
            <a:xfrm>
              <a:off x="3152132" y="3995590"/>
              <a:ext cx="2017395" cy="824865"/>
            </a:xfrm>
            <a:custGeom>
              <a:avLst/>
              <a:gdLst/>
              <a:ahLst/>
              <a:cxnLst/>
              <a:rect l="l" t="t" r="r" b="b"/>
              <a:pathLst>
                <a:path w="2017395" h="824864">
                  <a:moveTo>
                    <a:pt x="0" y="824463"/>
                  </a:moveTo>
                  <a:lnTo>
                    <a:pt x="2016995" y="824463"/>
                  </a:lnTo>
                  <a:lnTo>
                    <a:pt x="2016995" y="0"/>
                  </a:lnTo>
                  <a:lnTo>
                    <a:pt x="0" y="0"/>
                  </a:lnTo>
                  <a:lnTo>
                    <a:pt x="0" y="824463"/>
                  </a:lnTo>
                  <a:close/>
                </a:path>
              </a:pathLst>
            </a:custGeom>
            <a:ln w="14574">
              <a:solidFill>
                <a:srgbClr val="000000"/>
              </a:solidFill>
            </a:ln>
          </p:spPr>
          <p:txBody>
            <a:bodyPr wrap="square" lIns="0" tIns="0" rIns="0" bIns="0" rtlCol="0"/>
            <a:lstStyle/>
            <a:p/>
          </p:txBody>
        </p:sp>
        <p:sp>
          <p:nvSpPr>
            <p:cNvPr id="70" name="object 70" descr=""/>
            <p:cNvSpPr/>
            <p:nvPr/>
          </p:nvSpPr>
          <p:spPr>
            <a:xfrm>
              <a:off x="3152132" y="3995590"/>
              <a:ext cx="2017395" cy="824865"/>
            </a:xfrm>
            <a:custGeom>
              <a:avLst/>
              <a:gdLst/>
              <a:ahLst/>
              <a:cxnLst/>
              <a:rect l="l" t="t" r="r" b="b"/>
              <a:pathLst>
                <a:path w="2017395" h="824864">
                  <a:moveTo>
                    <a:pt x="0" y="274977"/>
                  </a:moveTo>
                  <a:lnTo>
                    <a:pt x="2017014" y="274977"/>
                  </a:lnTo>
                </a:path>
                <a:path w="2017395" h="824864">
                  <a:moveTo>
                    <a:pt x="0" y="549485"/>
                  </a:moveTo>
                  <a:lnTo>
                    <a:pt x="2017014" y="549485"/>
                  </a:lnTo>
                </a:path>
                <a:path w="2017395" h="824864">
                  <a:moveTo>
                    <a:pt x="535175" y="0"/>
                  </a:moveTo>
                  <a:lnTo>
                    <a:pt x="535175" y="824463"/>
                  </a:lnTo>
                </a:path>
                <a:path w="2017395" h="824864">
                  <a:moveTo>
                    <a:pt x="1275889" y="0"/>
                  </a:moveTo>
                  <a:lnTo>
                    <a:pt x="1275889" y="824463"/>
                  </a:lnTo>
                </a:path>
              </a:pathLst>
            </a:custGeom>
            <a:ln w="14576">
              <a:solidFill>
                <a:srgbClr val="000000"/>
              </a:solidFill>
            </a:ln>
          </p:spPr>
          <p:txBody>
            <a:bodyPr wrap="square" lIns="0" tIns="0" rIns="0" bIns="0" rtlCol="0"/>
            <a:lstStyle/>
            <a:p/>
          </p:txBody>
        </p:sp>
        <p:sp>
          <p:nvSpPr>
            <p:cNvPr id="71" name="object 71" descr=""/>
            <p:cNvSpPr/>
            <p:nvPr/>
          </p:nvSpPr>
          <p:spPr>
            <a:xfrm>
              <a:off x="6321799" y="4117141"/>
              <a:ext cx="2016760" cy="582295"/>
            </a:xfrm>
            <a:custGeom>
              <a:avLst/>
              <a:gdLst/>
              <a:ahLst/>
              <a:cxnLst/>
              <a:rect l="l" t="t" r="r" b="b"/>
              <a:pathLst>
                <a:path w="2016759" h="582295">
                  <a:moveTo>
                    <a:pt x="2016603" y="0"/>
                  </a:moveTo>
                  <a:lnTo>
                    <a:pt x="0" y="0"/>
                  </a:lnTo>
                  <a:lnTo>
                    <a:pt x="0" y="581851"/>
                  </a:lnTo>
                  <a:lnTo>
                    <a:pt x="2016603" y="581851"/>
                  </a:lnTo>
                  <a:lnTo>
                    <a:pt x="2016603" y="0"/>
                  </a:lnTo>
                  <a:close/>
                </a:path>
              </a:pathLst>
            </a:custGeom>
            <a:solidFill>
              <a:srgbClr val="CCFFCC"/>
            </a:solidFill>
          </p:spPr>
          <p:txBody>
            <a:bodyPr wrap="square" lIns="0" tIns="0" rIns="0" bIns="0" rtlCol="0"/>
            <a:lstStyle/>
            <a:p/>
          </p:txBody>
        </p:sp>
        <p:sp>
          <p:nvSpPr>
            <p:cNvPr id="72" name="object 72" descr=""/>
            <p:cNvSpPr/>
            <p:nvPr/>
          </p:nvSpPr>
          <p:spPr>
            <a:xfrm>
              <a:off x="6321799" y="4117141"/>
              <a:ext cx="2016760" cy="582295"/>
            </a:xfrm>
            <a:custGeom>
              <a:avLst/>
              <a:gdLst/>
              <a:ahLst/>
              <a:cxnLst/>
              <a:rect l="l" t="t" r="r" b="b"/>
              <a:pathLst>
                <a:path w="2016759" h="582295">
                  <a:moveTo>
                    <a:pt x="0" y="581851"/>
                  </a:moveTo>
                  <a:lnTo>
                    <a:pt x="2016603" y="581851"/>
                  </a:lnTo>
                  <a:lnTo>
                    <a:pt x="2016603" y="0"/>
                  </a:lnTo>
                  <a:lnTo>
                    <a:pt x="0" y="0"/>
                  </a:lnTo>
                  <a:lnTo>
                    <a:pt x="0" y="581851"/>
                  </a:lnTo>
                  <a:close/>
                </a:path>
              </a:pathLst>
            </a:custGeom>
            <a:ln w="14574">
              <a:solidFill>
                <a:srgbClr val="000000"/>
              </a:solidFill>
            </a:ln>
          </p:spPr>
          <p:txBody>
            <a:bodyPr wrap="square" lIns="0" tIns="0" rIns="0" bIns="0" rtlCol="0"/>
            <a:lstStyle/>
            <a:p/>
          </p:txBody>
        </p:sp>
        <p:sp>
          <p:nvSpPr>
            <p:cNvPr id="73" name="object 73" descr=""/>
            <p:cNvSpPr/>
            <p:nvPr/>
          </p:nvSpPr>
          <p:spPr>
            <a:xfrm>
              <a:off x="6321799" y="4116671"/>
              <a:ext cx="2016760" cy="582930"/>
            </a:xfrm>
            <a:custGeom>
              <a:avLst/>
              <a:gdLst/>
              <a:ahLst/>
              <a:cxnLst/>
              <a:rect l="l" t="t" r="r" b="b"/>
              <a:pathLst>
                <a:path w="2016759" h="582929">
                  <a:moveTo>
                    <a:pt x="0" y="291855"/>
                  </a:moveTo>
                  <a:lnTo>
                    <a:pt x="2016603" y="292325"/>
                  </a:lnTo>
                </a:path>
                <a:path w="2016759" h="582929">
                  <a:moveTo>
                    <a:pt x="534705" y="0"/>
                  </a:moveTo>
                  <a:lnTo>
                    <a:pt x="536272" y="582321"/>
                  </a:lnTo>
                </a:path>
                <a:path w="2016759" h="582929">
                  <a:moveTo>
                    <a:pt x="1276046" y="469"/>
                  </a:moveTo>
                  <a:lnTo>
                    <a:pt x="1276829" y="582321"/>
                  </a:lnTo>
                </a:path>
              </a:pathLst>
            </a:custGeom>
            <a:ln w="14576">
              <a:solidFill>
                <a:srgbClr val="000000"/>
              </a:solidFill>
            </a:ln>
          </p:spPr>
          <p:txBody>
            <a:bodyPr wrap="square" lIns="0" tIns="0" rIns="0" bIns="0" rtlCol="0"/>
            <a:lstStyle/>
            <a:p/>
          </p:txBody>
        </p:sp>
      </p:grpSp>
      <p:sp>
        <p:nvSpPr>
          <p:cNvPr id="74" name="object 74" descr=""/>
          <p:cNvSpPr txBox="1"/>
          <p:nvPr/>
        </p:nvSpPr>
        <p:spPr>
          <a:xfrm>
            <a:off x="5216185" y="4289916"/>
            <a:ext cx="495300" cy="237490"/>
          </a:xfrm>
          <a:prstGeom prst="rect">
            <a:avLst/>
          </a:prstGeom>
        </p:spPr>
        <p:txBody>
          <a:bodyPr wrap="square" lIns="0" tIns="17145" rIns="0" bIns="0" rtlCol="0" vert="horz">
            <a:spAutoFit/>
          </a:bodyPr>
          <a:lstStyle/>
          <a:p>
            <a:pPr marL="12700">
              <a:lnSpc>
                <a:spcPct val="100000"/>
              </a:lnSpc>
              <a:spcBef>
                <a:spcPts val="135"/>
              </a:spcBef>
            </a:pPr>
            <a:r>
              <a:rPr dirty="0" sz="1350" spc="-20">
                <a:latin typeface="Times New Roman"/>
                <a:cs typeface="Times New Roman"/>
              </a:rPr>
              <a:t>ADD2</a:t>
            </a:r>
            <a:endParaRPr sz="1350">
              <a:latin typeface="Times New Roman"/>
              <a:cs typeface="Times New Roman"/>
            </a:endParaRPr>
          </a:p>
        </p:txBody>
      </p:sp>
      <p:sp>
        <p:nvSpPr>
          <p:cNvPr id="75" name="object 75" descr=""/>
          <p:cNvSpPr txBox="1"/>
          <p:nvPr/>
        </p:nvSpPr>
        <p:spPr>
          <a:xfrm>
            <a:off x="5216185" y="4562074"/>
            <a:ext cx="495300" cy="237490"/>
          </a:xfrm>
          <a:prstGeom prst="rect">
            <a:avLst/>
          </a:prstGeom>
        </p:spPr>
        <p:txBody>
          <a:bodyPr wrap="square" lIns="0" tIns="17145" rIns="0" bIns="0" rtlCol="0" vert="horz">
            <a:spAutoFit/>
          </a:bodyPr>
          <a:lstStyle/>
          <a:p>
            <a:pPr marL="12700">
              <a:lnSpc>
                <a:spcPct val="100000"/>
              </a:lnSpc>
              <a:spcBef>
                <a:spcPts val="135"/>
              </a:spcBef>
            </a:pPr>
            <a:r>
              <a:rPr dirty="0" sz="1350" spc="-20">
                <a:latin typeface="Times New Roman"/>
                <a:cs typeface="Times New Roman"/>
              </a:rPr>
              <a:t>ADD1</a:t>
            </a:r>
            <a:endParaRPr sz="1350">
              <a:latin typeface="Times New Roman"/>
              <a:cs typeface="Times New Roman"/>
            </a:endParaRPr>
          </a:p>
        </p:txBody>
      </p:sp>
      <p:sp>
        <p:nvSpPr>
          <p:cNvPr id="76" name="object 76" descr=""/>
          <p:cNvSpPr txBox="1"/>
          <p:nvPr/>
        </p:nvSpPr>
        <p:spPr>
          <a:xfrm>
            <a:off x="8393863" y="4060383"/>
            <a:ext cx="595630" cy="631190"/>
          </a:xfrm>
          <a:prstGeom prst="rect">
            <a:avLst/>
          </a:prstGeom>
        </p:spPr>
        <p:txBody>
          <a:bodyPr wrap="square" lIns="0" tIns="11430" rIns="0" bIns="0" rtlCol="0" vert="horz">
            <a:spAutoFit/>
          </a:bodyPr>
          <a:lstStyle/>
          <a:p>
            <a:pPr marL="12700" marR="5080">
              <a:lnSpc>
                <a:spcPct val="147100"/>
              </a:lnSpc>
              <a:spcBef>
                <a:spcPts val="90"/>
              </a:spcBef>
            </a:pPr>
            <a:r>
              <a:rPr dirty="0" sz="1350" spc="-10">
                <a:latin typeface="Times New Roman"/>
                <a:cs typeface="Times New Roman"/>
              </a:rPr>
              <a:t>MULT2 MULT1</a:t>
            </a:r>
            <a:endParaRPr sz="1350">
              <a:latin typeface="Times New Roman"/>
              <a:cs typeface="Times New Roman"/>
            </a:endParaRPr>
          </a:p>
        </p:txBody>
      </p:sp>
      <p:sp>
        <p:nvSpPr>
          <p:cNvPr id="77" name="object 77" descr=""/>
          <p:cNvSpPr txBox="1"/>
          <p:nvPr/>
        </p:nvSpPr>
        <p:spPr>
          <a:xfrm>
            <a:off x="6010213" y="4126973"/>
            <a:ext cx="201930" cy="585470"/>
          </a:xfrm>
          <a:prstGeom prst="rect">
            <a:avLst/>
          </a:prstGeom>
        </p:spPr>
        <p:txBody>
          <a:bodyPr wrap="square" lIns="0" tIns="49530" rIns="0" bIns="0" rtlCol="0" vert="horz">
            <a:spAutoFit/>
          </a:bodyPr>
          <a:lstStyle/>
          <a:p>
            <a:pPr algn="just" marL="12700" marR="5080">
              <a:lnSpc>
                <a:spcPts val="1370"/>
              </a:lnSpc>
              <a:spcBef>
                <a:spcPts val="390"/>
              </a:spcBef>
            </a:pPr>
            <a:r>
              <a:rPr dirty="0" sz="1350" spc="-50" b="1">
                <a:latin typeface="宋体"/>
                <a:cs typeface="宋体"/>
              </a:rPr>
              <a:t>保留站</a:t>
            </a:r>
            <a:endParaRPr sz="1350">
              <a:latin typeface="宋体"/>
              <a:cs typeface="宋体"/>
            </a:endParaRPr>
          </a:p>
        </p:txBody>
      </p:sp>
      <p:sp>
        <p:nvSpPr>
          <p:cNvPr id="78" name="object 78" descr=""/>
          <p:cNvSpPr txBox="1"/>
          <p:nvPr/>
        </p:nvSpPr>
        <p:spPr>
          <a:xfrm>
            <a:off x="5680967" y="1906571"/>
            <a:ext cx="201930" cy="932815"/>
          </a:xfrm>
          <a:prstGeom prst="rect">
            <a:avLst/>
          </a:prstGeom>
        </p:spPr>
        <p:txBody>
          <a:bodyPr wrap="square" lIns="0" tIns="49530" rIns="0" bIns="0" rtlCol="0" vert="horz">
            <a:spAutoFit/>
          </a:bodyPr>
          <a:lstStyle/>
          <a:p>
            <a:pPr algn="just" marL="12700" marR="5080">
              <a:lnSpc>
                <a:spcPts val="1370"/>
              </a:lnSpc>
              <a:spcBef>
                <a:spcPts val="390"/>
              </a:spcBef>
            </a:pPr>
            <a:r>
              <a:rPr dirty="0" sz="1350" spc="-50" b="1">
                <a:latin typeface="宋体"/>
                <a:cs typeface="宋体"/>
              </a:rPr>
              <a:t>浮点寄存器</a:t>
            </a:r>
            <a:endParaRPr sz="1350">
              <a:latin typeface="宋体"/>
              <a:cs typeface="宋体"/>
            </a:endParaRPr>
          </a:p>
        </p:txBody>
      </p:sp>
      <p:grpSp>
        <p:nvGrpSpPr>
          <p:cNvPr id="79" name="object 79" descr=""/>
          <p:cNvGrpSpPr/>
          <p:nvPr/>
        </p:nvGrpSpPr>
        <p:grpSpPr>
          <a:xfrm>
            <a:off x="7343560" y="1926834"/>
            <a:ext cx="673100" cy="924560"/>
            <a:chOff x="7343560" y="1926834"/>
            <a:chExt cx="673100" cy="924560"/>
          </a:xfrm>
        </p:grpSpPr>
        <p:sp>
          <p:nvSpPr>
            <p:cNvPr id="80" name="object 80" descr=""/>
            <p:cNvSpPr/>
            <p:nvPr/>
          </p:nvSpPr>
          <p:spPr>
            <a:xfrm>
              <a:off x="7350862" y="1934136"/>
              <a:ext cx="658495" cy="909955"/>
            </a:xfrm>
            <a:custGeom>
              <a:avLst/>
              <a:gdLst/>
              <a:ahLst/>
              <a:cxnLst/>
              <a:rect l="l" t="t" r="r" b="b"/>
              <a:pathLst>
                <a:path w="658495" h="909955">
                  <a:moveTo>
                    <a:pt x="658412" y="0"/>
                  </a:moveTo>
                  <a:lnTo>
                    <a:pt x="0" y="0"/>
                  </a:lnTo>
                  <a:lnTo>
                    <a:pt x="0" y="909381"/>
                  </a:lnTo>
                  <a:lnTo>
                    <a:pt x="658412" y="909381"/>
                  </a:lnTo>
                  <a:lnTo>
                    <a:pt x="658412" y="0"/>
                  </a:lnTo>
                  <a:close/>
                </a:path>
              </a:pathLst>
            </a:custGeom>
            <a:solidFill>
              <a:srgbClr val="FFFF99"/>
            </a:solidFill>
          </p:spPr>
          <p:txBody>
            <a:bodyPr wrap="square" lIns="0" tIns="0" rIns="0" bIns="0" rtlCol="0"/>
            <a:lstStyle/>
            <a:p/>
          </p:txBody>
        </p:sp>
        <p:sp>
          <p:nvSpPr>
            <p:cNvPr id="81" name="object 81" descr=""/>
            <p:cNvSpPr/>
            <p:nvPr/>
          </p:nvSpPr>
          <p:spPr>
            <a:xfrm>
              <a:off x="7350862" y="1934136"/>
              <a:ext cx="658495" cy="909955"/>
            </a:xfrm>
            <a:custGeom>
              <a:avLst/>
              <a:gdLst/>
              <a:ahLst/>
              <a:cxnLst/>
              <a:rect l="l" t="t" r="r" b="b"/>
              <a:pathLst>
                <a:path w="658495" h="909955">
                  <a:moveTo>
                    <a:pt x="0" y="909381"/>
                  </a:moveTo>
                  <a:lnTo>
                    <a:pt x="658412" y="909381"/>
                  </a:lnTo>
                  <a:lnTo>
                    <a:pt x="658412" y="0"/>
                  </a:lnTo>
                  <a:lnTo>
                    <a:pt x="0" y="0"/>
                  </a:lnTo>
                  <a:lnTo>
                    <a:pt x="0" y="909381"/>
                  </a:lnTo>
                  <a:close/>
                </a:path>
              </a:pathLst>
            </a:custGeom>
            <a:ln w="14577">
              <a:solidFill>
                <a:srgbClr val="000000"/>
              </a:solidFill>
            </a:ln>
          </p:spPr>
          <p:txBody>
            <a:bodyPr wrap="square" lIns="0" tIns="0" rIns="0" bIns="0" rtlCol="0"/>
            <a:lstStyle/>
            <a:p/>
          </p:txBody>
        </p:sp>
        <p:sp>
          <p:nvSpPr>
            <p:cNvPr id="82" name="object 82" descr=""/>
            <p:cNvSpPr/>
            <p:nvPr/>
          </p:nvSpPr>
          <p:spPr>
            <a:xfrm>
              <a:off x="7350861" y="2154465"/>
              <a:ext cx="658495" cy="469900"/>
            </a:xfrm>
            <a:custGeom>
              <a:avLst/>
              <a:gdLst/>
              <a:ahLst/>
              <a:cxnLst/>
              <a:rect l="l" t="t" r="r" b="b"/>
              <a:pathLst>
                <a:path w="658495" h="469900">
                  <a:moveTo>
                    <a:pt x="658482" y="454837"/>
                  </a:moveTo>
                  <a:lnTo>
                    <a:pt x="0" y="454837"/>
                  </a:lnTo>
                  <a:lnTo>
                    <a:pt x="0" y="469417"/>
                  </a:lnTo>
                  <a:lnTo>
                    <a:pt x="658482" y="469417"/>
                  </a:lnTo>
                  <a:lnTo>
                    <a:pt x="658482" y="454837"/>
                  </a:lnTo>
                  <a:close/>
                </a:path>
                <a:path w="658495" h="469900">
                  <a:moveTo>
                    <a:pt x="658482" y="227126"/>
                  </a:moveTo>
                  <a:lnTo>
                    <a:pt x="0" y="227126"/>
                  </a:lnTo>
                  <a:lnTo>
                    <a:pt x="0" y="241706"/>
                  </a:lnTo>
                  <a:lnTo>
                    <a:pt x="658482" y="241706"/>
                  </a:lnTo>
                  <a:lnTo>
                    <a:pt x="658482" y="227126"/>
                  </a:lnTo>
                  <a:close/>
                </a:path>
                <a:path w="658495" h="469900">
                  <a:moveTo>
                    <a:pt x="658482" y="0"/>
                  </a:moveTo>
                  <a:lnTo>
                    <a:pt x="0" y="0"/>
                  </a:lnTo>
                  <a:lnTo>
                    <a:pt x="0" y="14579"/>
                  </a:lnTo>
                  <a:lnTo>
                    <a:pt x="658482" y="14579"/>
                  </a:lnTo>
                  <a:lnTo>
                    <a:pt x="658482" y="0"/>
                  </a:lnTo>
                  <a:close/>
                </a:path>
              </a:pathLst>
            </a:custGeom>
            <a:solidFill>
              <a:srgbClr val="000000"/>
            </a:solidFill>
          </p:spPr>
          <p:txBody>
            <a:bodyPr wrap="square" lIns="0" tIns="0" rIns="0" bIns="0" rtlCol="0"/>
            <a:lstStyle/>
            <a:p/>
          </p:txBody>
        </p:sp>
      </p:grpSp>
      <p:sp>
        <p:nvSpPr>
          <p:cNvPr id="83" name="object 83" descr=""/>
          <p:cNvSpPr txBox="1"/>
          <p:nvPr/>
        </p:nvSpPr>
        <p:spPr>
          <a:xfrm>
            <a:off x="6905110" y="1908236"/>
            <a:ext cx="213360" cy="941069"/>
          </a:xfrm>
          <a:prstGeom prst="rect">
            <a:avLst/>
          </a:prstGeom>
        </p:spPr>
        <p:txBody>
          <a:bodyPr wrap="square" lIns="0" tIns="28575" rIns="0" bIns="0" rtlCol="0" vert="horz">
            <a:spAutoFit/>
          </a:bodyPr>
          <a:lstStyle/>
          <a:p>
            <a:pPr algn="just" marL="12700" marR="5080">
              <a:lnSpc>
                <a:spcPct val="109100"/>
              </a:lnSpc>
              <a:spcBef>
                <a:spcPts val="225"/>
              </a:spcBef>
            </a:pPr>
            <a:r>
              <a:rPr dirty="0" sz="1350" spc="-25">
                <a:latin typeface="Times New Roman"/>
                <a:cs typeface="Times New Roman"/>
              </a:rPr>
              <a:t>F6 F4 F2 F0</a:t>
            </a:r>
            <a:endParaRPr sz="1350">
              <a:latin typeface="Times New Roman"/>
              <a:cs typeface="Times New Roman"/>
            </a:endParaRPr>
          </a:p>
        </p:txBody>
      </p:sp>
      <p:sp>
        <p:nvSpPr>
          <p:cNvPr id="84" name="object 84" descr=""/>
          <p:cNvSpPr/>
          <p:nvPr/>
        </p:nvSpPr>
        <p:spPr>
          <a:xfrm>
            <a:off x="4057900" y="1570638"/>
            <a:ext cx="5680710" cy="4305300"/>
          </a:xfrm>
          <a:custGeom>
            <a:avLst/>
            <a:gdLst/>
            <a:ahLst/>
            <a:cxnLst/>
            <a:rect l="l" t="t" r="r" b="b"/>
            <a:pathLst>
              <a:path w="5680709" h="4305300">
                <a:moveTo>
                  <a:pt x="0" y="2182358"/>
                </a:moveTo>
                <a:lnTo>
                  <a:pt x="5680138" y="2182358"/>
                </a:lnTo>
              </a:path>
              <a:path w="5680709" h="4305300">
                <a:moveTo>
                  <a:pt x="329206" y="4304741"/>
                </a:moveTo>
                <a:lnTo>
                  <a:pt x="5680138" y="4304741"/>
                </a:lnTo>
              </a:path>
              <a:path w="5680709" h="4305300">
                <a:moveTo>
                  <a:pt x="5680138" y="4304741"/>
                </a:moveTo>
                <a:lnTo>
                  <a:pt x="5680138" y="0"/>
                </a:lnTo>
              </a:path>
            </a:pathLst>
          </a:custGeom>
          <a:ln w="14576">
            <a:solidFill>
              <a:srgbClr val="000000"/>
            </a:solidFill>
          </a:ln>
        </p:spPr>
        <p:txBody>
          <a:bodyPr wrap="square" lIns="0" tIns="0" rIns="0" bIns="0" rtlCol="0"/>
          <a:lstStyle/>
          <a:p/>
        </p:txBody>
      </p:sp>
      <p:sp>
        <p:nvSpPr>
          <p:cNvPr id="85" name="object 85" descr=""/>
          <p:cNvSpPr txBox="1"/>
          <p:nvPr/>
        </p:nvSpPr>
        <p:spPr>
          <a:xfrm>
            <a:off x="7550344" y="1665936"/>
            <a:ext cx="238760" cy="237490"/>
          </a:xfrm>
          <a:prstGeom prst="rect">
            <a:avLst/>
          </a:prstGeom>
        </p:spPr>
        <p:txBody>
          <a:bodyPr wrap="square" lIns="0" tIns="17145" rIns="0" bIns="0" rtlCol="0" vert="horz">
            <a:spAutoFit/>
          </a:bodyPr>
          <a:lstStyle/>
          <a:p>
            <a:pPr marL="38100">
              <a:lnSpc>
                <a:spcPct val="100000"/>
              </a:lnSpc>
              <a:spcBef>
                <a:spcPts val="135"/>
              </a:spcBef>
            </a:pPr>
            <a:r>
              <a:rPr dirty="0" sz="1350" spc="-25">
                <a:latin typeface="Times New Roman"/>
                <a:cs typeface="Times New Roman"/>
              </a:rPr>
              <a:t>Q</a:t>
            </a:r>
            <a:r>
              <a:rPr dirty="0" baseline="-15432" sz="1350" spc="-37">
                <a:latin typeface="Times New Roman"/>
                <a:cs typeface="Times New Roman"/>
              </a:rPr>
              <a:t>i</a:t>
            </a:r>
            <a:endParaRPr baseline="-15432" sz="1350">
              <a:latin typeface="Times New Roman"/>
              <a:cs typeface="Times New Roman"/>
            </a:endParaRPr>
          </a:p>
        </p:txBody>
      </p:sp>
      <p:sp>
        <p:nvSpPr>
          <p:cNvPr id="86" name="object 86" descr=""/>
          <p:cNvSpPr txBox="1"/>
          <p:nvPr/>
        </p:nvSpPr>
        <p:spPr>
          <a:xfrm>
            <a:off x="3880597" y="5257018"/>
            <a:ext cx="1083945" cy="237490"/>
          </a:xfrm>
          <a:prstGeom prst="rect">
            <a:avLst/>
          </a:prstGeom>
        </p:spPr>
        <p:txBody>
          <a:bodyPr wrap="square" lIns="0" tIns="17145" rIns="0" bIns="0" rtlCol="0" vert="horz">
            <a:spAutoFit/>
          </a:bodyPr>
          <a:lstStyle/>
          <a:p>
            <a:pPr marL="12700">
              <a:lnSpc>
                <a:spcPct val="100000"/>
              </a:lnSpc>
              <a:spcBef>
                <a:spcPts val="135"/>
              </a:spcBef>
            </a:pPr>
            <a:r>
              <a:rPr dirty="0" sz="1350" spc="-30" b="1">
                <a:latin typeface="宋体"/>
                <a:cs typeface="宋体"/>
              </a:rPr>
              <a:t>浮点加法器 </a:t>
            </a:r>
            <a:r>
              <a:rPr dirty="0" sz="1350" spc="-50" b="1">
                <a:latin typeface="Times New Roman"/>
                <a:cs typeface="Times New Roman"/>
              </a:rPr>
              <a:t>A</a:t>
            </a:r>
            <a:endParaRPr sz="1350">
              <a:latin typeface="Times New Roman"/>
              <a:cs typeface="Times New Roman"/>
            </a:endParaRPr>
          </a:p>
        </p:txBody>
      </p:sp>
      <p:grpSp>
        <p:nvGrpSpPr>
          <p:cNvPr id="87" name="object 87" descr=""/>
          <p:cNvGrpSpPr/>
          <p:nvPr/>
        </p:nvGrpSpPr>
        <p:grpSpPr>
          <a:xfrm>
            <a:off x="4719425" y="3256825"/>
            <a:ext cx="2493645" cy="740410"/>
            <a:chOff x="4719425" y="3256825"/>
            <a:chExt cx="2493645" cy="740410"/>
          </a:xfrm>
        </p:grpSpPr>
        <p:sp>
          <p:nvSpPr>
            <p:cNvPr id="88" name="object 88" descr=""/>
            <p:cNvSpPr/>
            <p:nvPr/>
          </p:nvSpPr>
          <p:spPr>
            <a:xfrm>
              <a:off x="4721013" y="3258412"/>
              <a:ext cx="78740" cy="737235"/>
            </a:xfrm>
            <a:custGeom>
              <a:avLst/>
              <a:gdLst/>
              <a:ahLst/>
              <a:cxnLst/>
              <a:rect l="l" t="t" r="r" b="b"/>
              <a:pathLst>
                <a:path w="78739" h="737235">
                  <a:moveTo>
                    <a:pt x="0" y="619894"/>
                  </a:moveTo>
                  <a:lnTo>
                    <a:pt x="39564" y="737177"/>
                  </a:lnTo>
                  <a:lnTo>
                    <a:pt x="62109" y="668648"/>
                  </a:lnTo>
                  <a:lnTo>
                    <a:pt x="33884" y="668648"/>
                  </a:lnTo>
                  <a:lnTo>
                    <a:pt x="29575" y="664536"/>
                  </a:lnTo>
                  <a:lnTo>
                    <a:pt x="29535" y="649420"/>
                  </a:lnTo>
                  <a:lnTo>
                    <a:pt x="0" y="619894"/>
                  </a:lnTo>
                  <a:close/>
                </a:path>
                <a:path w="78739" h="737235">
                  <a:moveTo>
                    <a:pt x="29535" y="649420"/>
                  </a:moveTo>
                  <a:lnTo>
                    <a:pt x="29575" y="664536"/>
                  </a:lnTo>
                  <a:lnTo>
                    <a:pt x="33884" y="668648"/>
                  </a:lnTo>
                  <a:lnTo>
                    <a:pt x="44656" y="668648"/>
                  </a:lnTo>
                  <a:lnTo>
                    <a:pt x="48965" y="664536"/>
                  </a:lnTo>
                  <a:lnTo>
                    <a:pt x="48965" y="658858"/>
                  </a:lnTo>
                  <a:lnTo>
                    <a:pt x="38976" y="658858"/>
                  </a:lnTo>
                  <a:lnTo>
                    <a:pt x="29535" y="649420"/>
                  </a:lnTo>
                  <a:close/>
                </a:path>
                <a:path w="78739" h="737235">
                  <a:moveTo>
                    <a:pt x="78149" y="619894"/>
                  </a:moveTo>
                  <a:lnTo>
                    <a:pt x="48929" y="648958"/>
                  </a:lnTo>
                  <a:lnTo>
                    <a:pt x="48965" y="664536"/>
                  </a:lnTo>
                  <a:lnTo>
                    <a:pt x="44656" y="668648"/>
                  </a:lnTo>
                  <a:lnTo>
                    <a:pt x="62109" y="668648"/>
                  </a:lnTo>
                  <a:lnTo>
                    <a:pt x="78149" y="619894"/>
                  </a:lnTo>
                  <a:close/>
                </a:path>
                <a:path w="78739" h="737235">
                  <a:moveTo>
                    <a:pt x="41914" y="0"/>
                  </a:moveTo>
                  <a:lnTo>
                    <a:pt x="30946" y="0"/>
                  </a:lnTo>
                  <a:lnTo>
                    <a:pt x="26833" y="4307"/>
                  </a:lnTo>
                  <a:lnTo>
                    <a:pt x="26833" y="9789"/>
                  </a:lnTo>
                  <a:lnTo>
                    <a:pt x="29410" y="619894"/>
                  </a:lnTo>
                  <a:lnTo>
                    <a:pt x="29535" y="649420"/>
                  </a:lnTo>
                  <a:lnTo>
                    <a:pt x="38976" y="658858"/>
                  </a:lnTo>
                  <a:lnTo>
                    <a:pt x="48929" y="648958"/>
                  </a:lnTo>
                  <a:lnTo>
                    <a:pt x="46616" y="9789"/>
                  </a:lnTo>
                  <a:lnTo>
                    <a:pt x="46615" y="4307"/>
                  </a:lnTo>
                  <a:lnTo>
                    <a:pt x="41914" y="0"/>
                  </a:lnTo>
                  <a:close/>
                </a:path>
                <a:path w="78739" h="737235">
                  <a:moveTo>
                    <a:pt x="48929" y="648958"/>
                  </a:moveTo>
                  <a:lnTo>
                    <a:pt x="38976" y="658858"/>
                  </a:lnTo>
                  <a:lnTo>
                    <a:pt x="48965" y="658858"/>
                  </a:lnTo>
                  <a:lnTo>
                    <a:pt x="48929" y="648958"/>
                  </a:lnTo>
                  <a:close/>
                </a:path>
              </a:pathLst>
            </a:custGeom>
            <a:solidFill>
              <a:srgbClr val="000000"/>
            </a:solidFill>
          </p:spPr>
          <p:txBody>
            <a:bodyPr wrap="square" lIns="0" tIns="0" rIns="0" bIns="0" rtlCol="0"/>
            <a:lstStyle/>
            <a:p/>
          </p:txBody>
        </p:sp>
        <p:sp>
          <p:nvSpPr>
            <p:cNvPr id="89" name="object 89" descr=""/>
            <p:cNvSpPr/>
            <p:nvPr/>
          </p:nvSpPr>
          <p:spPr>
            <a:xfrm>
              <a:off x="4721013" y="3258412"/>
              <a:ext cx="78740" cy="737235"/>
            </a:xfrm>
            <a:custGeom>
              <a:avLst/>
              <a:gdLst/>
              <a:ahLst/>
              <a:cxnLst/>
              <a:rect l="l" t="t" r="r" b="b"/>
              <a:pathLst>
                <a:path w="78739" h="737235">
                  <a:moveTo>
                    <a:pt x="46615" y="9398"/>
                  </a:moveTo>
                  <a:lnTo>
                    <a:pt x="48965" y="658858"/>
                  </a:lnTo>
                  <a:lnTo>
                    <a:pt x="48965" y="664536"/>
                  </a:lnTo>
                  <a:lnTo>
                    <a:pt x="44656" y="668648"/>
                  </a:lnTo>
                  <a:lnTo>
                    <a:pt x="39564" y="668648"/>
                  </a:lnTo>
                  <a:lnTo>
                    <a:pt x="33884" y="668648"/>
                  </a:lnTo>
                  <a:lnTo>
                    <a:pt x="29575" y="664536"/>
                  </a:lnTo>
                  <a:lnTo>
                    <a:pt x="29575" y="658858"/>
                  </a:lnTo>
                  <a:lnTo>
                    <a:pt x="26833" y="9789"/>
                  </a:lnTo>
                  <a:lnTo>
                    <a:pt x="26833" y="4307"/>
                  </a:lnTo>
                  <a:lnTo>
                    <a:pt x="30946" y="0"/>
                  </a:lnTo>
                  <a:lnTo>
                    <a:pt x="36626" y="0"/>
                  </a:lnTo>
                  <a:lnTo>
                    <a:pt x="41914" y="0"/>
                  </a:lnTo>
                  <a:lnTo>
                    <a:pt x="46615" y="4307"/>
                  </a:lnTo>
                  <a:lnTo>
                    <a:pt x="46615" y="9398"/>
                  </a:lnTo>
                  <a:close/>
                </a:path>
                <a:path w="78739" h="737235">
                  <a:moveTo>
                    <a:pt x="38976" y="658858"/>
                  </a:moveTo>
                  <a:lnTo>
                    <a:pt x="78149" y="619894"/>
                  </a:lnTo>
                  <a:lnTo>
                    <a:pt x="39564" y="737177"/>
                  </a:lnTo>
                  <a:lnTo>
                    <a:pt x="0" y="619894"/>
                  </a:lnTo>
                  <a:lnTo>
                    <a:pt x="38976" y="658858"/>
                  </a:lnTo>
                  <a:close/>
                </a:path>
              </a:pathLst>
            </a:custGeom>
            <a:ln w="3175">
              <a:solidFill>
                <a:srgbClr val="000000"/>
              </a:solidFill>
            </a:ln>
          </p:spPr>
          <p:txBody>
            <a:bodyPr wrap="square" lIns="0" tIns="0" rIns="0" bIns="0" rtlCol="0"/>
            <a:lstStyle/>
            <a:p/>
          </p:txBody>
        </p:sp>
        <p:sp>
          <p:nvSpPr>
            <p:cNvPr id="90" name="object 90" descr=""/>
            <p:cNvSpPr/>
            <p:nvPr/>
          </p:nvSpPr>
          <p:spPr>
            <a:xfrm>
              <a:off x="7160484" y="3267811"/>
              <a:ext cx="45085" cy="60325"/>
            </a:xfrm>
            <a:custGeom>
              <a:avLst/>
              <a:gdLst/>
              <a:ahLst/>
              <a:cxnLst/>
              <a:rect l="l" t="t" r="r" b="b"/>
              <a:pathLst>
                <a:path w="45084" h="60325">
                  <a:moveTo>
                    <a:pt x="22524" y="0"/>
                  </a:moveTo>
                  <a:lnTo>
                    <a:pt x="13799" y="2367"/>
                  </a:lnTo>
                  <a:lnTo>
                    <a:pt x="6634" y="8810"/>
                  </a:lnTo>
                  <a:lnTo>
                    <a:pt x="1784" y="18337"/>
                  </a:lnTo>
                  <a:lnTo>
                    <a:pt x="0" y="29957"/>
                  </a:lnTo>
                  <a:lnTo>
                    <a:pt x="1784" y="41606"/>
                  </a:lnTo>
                  <a:lnTo>
                    <a:pt x="6634" y="51201"/>
                  </a:lnTo>
                  <a:lnTo>
                    <a:pt x="13799" y="57711"/>
                  </a:lnTo>
                  <a:lnTo>
                    <a:pt x="22524" y="60109"/>
                  </a:lnTo>
                  <a:lnTo>
                    <a:pt x="31414" y="57711"/>
                  </a:lnTo>
                  <a:lnTo>
                    <a:pt x="38560" y="51201"/>
                  </a:lnTo>
                  <a:lnTo>
                    <a:pt x="43319" y="41606"/>
                  </a:lnTo>
                  <a:lnTo>
                    <a:pt x="45048" y="29957"/>
                  </a:lnTo>
                  <a:lnTo>
                    <a:pt x="43319" y="18337"/>
                  </a:lnTo>
                  <a:lnTo>
                    <a:pt x="38560" y="8810"/>
                  </a:lnTo>
                  <a:lnTo>
                    <a:pt x="31414" y="2367"/>
                  </a:lnTo>
                  <a:lnTo>
                    <a:pt x="22524" y="0"/>
                  </a:lnTo>
                  <a:close/>
                </a:path>
              </a:pathLst>
            </a:custGeom>
            <a:solidFill>
              <a:srgbClr val="000000"/>
            </a:solidFill>
          </p:spPr>
          <p:txBody>
            <a:bodyPr wrap="square" lIns="0" tIns="0" rIns="0" bIns="0" rtlCol="0"/>
            <a:lstStyle/>
            <a:p/>
          </p:txBody>
        </p:sp>
        <p:sp>
          <p:nvSpPr>
            <p:cNvPr id="91" name="object 91" descr=""/>
            <p:cNvSpPr/>
            <p:nvPr/>
          </p:nvSpPr>
          <p:spPr>
            <a:xfrm>
              <a:off x="7160484" y="3267811"/>
              <a:ext cx="45085" cy="60325"/>
            </a:xfrm>
            <a:custGeom>
              <a:avLst/>
              <a:gdLst/>
              <a:ahLst/>
              <a:cxnLst/>
              <a:rect l="l" t="t" r="r" b="b"/>
              <a:pathLst>
                <a:path w="45084" h="60325">
                  <a:moveTo>
                    <a:pt x="22524" y="0"/>
                  </a:moveTo>
                  <a:lnTo>
                    <a:pt x="13799" y="2367"/>
                  </a:lnTo>
                  <a:lnTo>
                    <a:pt x="6634" y="8810"/>
                  </a:lnTo>
                  <a:lnTo>
                    <a:pt x="1784" y="18337"/>
                  </a:lnTo>
                  <a:lnTo>
                    <a:pt x="0" y="29957"/>
                  </a:lnTo>
                  <a:lnTo>
                    <a:pt x="1784" y="41606"/>
                  </a:lnTo>
                  <a:lnTo>
                    <a:pt x="6634" y="51201"/>
                  </a:lnTo>
                  <a:lnTo>
                    <a:pt x="13799" y="57711"/>
                  </a:lnTo>
                  <a:lnTo>
                    <a:pt x="22524" y="60109"/>
                  </a:lnTo>
                  <a:lnTo>
                    <a:pt x="31414" y="57711"/>
                  </a:lnTo>
                  <a:lnTo>
                    <a:pt x="38560" y="51201"/>
                  </a:lnTo>
                  <a:lnTo>
                    <a:pt x="43319" y="41606"/>
                  </a:lnTo>
                  <a:lnTo>
                    <a:pt x="45048" y="29957"/>
                  </a:lnTo>
                  <a:lnTo>
                    <a:pt x="43319" y="18337"/>
                  </a:lnTo>
                  <a:lnTo>
                    <a:pt x="38560" y="8810"/>
                  </a:lnTo>
                  <a:lnTo>
                    <a:pt x="31414" y="2367"/>
                  </a:lnTo>
                  <a:lnTo>
                    <a:pt x="22524" y="0"/>
                  </a:lnTo>
                </a:path>
              </a:pathLst>
            </a:custGeom>
            <a:ln w="14577">
              <a:solidFill>
                <a:srgbClr val="000000"/>
              </a:solidFill>
            </a:ln>
          </p:spPr>
          <p:txBody>
            <a:bodyPr wrap="square" lIns="0" tIns="0" rIns="0" bIns="0" rtlCol="0"/>
            <a:lstStyle/>
            <a:p/>
          </p:txBody>
        </p:sp>
      </p:grpSp>
      <p:sp>
        <p:nvSpPr>
          <p:cNvPr id="92" name="object 92" descr=""/>
          <p:cNvSpPr txBox="1"/>
          <p:nvPr/>
        </p:nvSpPr>
        <p:spPr>
          <a:xfrm>
            <a:off x="5999451" y="2365520"/>
            <a:ext cx="850265" cy="237490"/>
          </a:xfrm>
          <a:prstGeom prst="rect">
            <a:avLst/>
          </a:prstGeom>
        </p:spPr>
        <p:txBody>
          <a:bodyPr wrap="square" lIns="0" tIns="17145" rIns="0" bIns="0" rtlCol="0" vert="horz">
            <a:spAutoFit/>
          </a:bodyPr>
          <a:lstStyle/>
          <a:p>
            <a:pPr marL="135255">
              <a:lnSpc>
                <a:spcPct val="100000"/>
              </a:lnSpc>
              <a:spcBef>
                <a:spcPts val="135"/>
              </a:spcBef>
            </a:pPr>
            <a:r>
              <a:rPr dirty="0" sz="1350" spc="-50">
                <a:latin typeface="Times New Roman"/>
                <a:cs typeface="Times New Roman"/>
              </a:rPr>
              <a:t>a</a:t>
            </a:r>
            <a:endParaRPr sz="1350">
              <a:latin typeface="Times New Roman"/>
              <a:cs typeface="Times New Roman"/>
            </a:endParaRPr>
          </a:p>
        </p:txBody>
      </p:sp>
      <p:sp>
        <p:nvSpPr>
          <p:cNvPr id="93" name="object 93" descr=""/>
          <p:cNvSpPr txBox="1"/>
          <p:nvPr/>
        </p:nvSpPr>
        <p:spPr>
          <a:xfrm>
            <a:off x="5992162" y="2161751"/>
            <a:ext cx="864869" cy="227329"/>
          </a:xfrm>
          <a:prstGeom prst="rect">
            <a:avLst/>
          </a:prstGeom>
          <a:solidFill>
            <a:srgbClr val="FFFF99"/>
          </a:solidFill>
          <a:ln w="14576">
            <a:solidFill>
              <a:srgbClr val="000000"/>
            </a:solidFill>
          </a:ln>
        </p:spPr>
        <p:txBody>
          <a:bodyPr wrap="square" lIns="0" tIns="0" rIns="0" bIns="0" rtlCol="0" vert="horz">
            <a:spAutoFit/>
          </a:bodyPr>
          <a:lstStyle/>
          <a:p>
            <a:pPr marL="142240">
              <a:lnSpc>
                <a:spcPts val="1515"/>
              </a:lnSpc>
            </a:pPr>
            <a:r>
              <a:rPr dirty="0" sz="1350" spc="-50">
                <a:latin typeface="Times New Roman"/>
                <a:cs typeface="Times New Roman"/>
              </a:rPr>
              <a:t>b</a:t>
            </a:r>
            <a:endParaRPr sz="1350">
              <a:latin typeface="Times New Roman"/>
              <a:cs typeface="Times New Roman"/>
            </a:endParaRPr>
          </a:p>
        </p:txBody>
      </p:sp>
      <p:sp>
        <p:nvSpPr>
          <p:cNvPr id="94" name="object 94" descr=""/>
          <p:cNvSpPr txBox="1"/>
          <p:nvPr/>
        </p:nvSpPr>
        <p:spPr>
          <a:xfrm>
            <a:off x="5992162" y="1934136"/>
            <a:ext cx="864869" cy="227965"/>
          </a:xfrm>
          <a:prstGeom prst="rect">
            <a:avLst/>
          </a:prstGeom>
          <a:solidFill>
            <a:srgbClr val="FFFF99"/>
          </a:solidFill>
          <a:ln w="14576">
            <a:solidFill>
              <a:srgbClr val="000000"/>
            </a:solidFill>
          </a:ln>
        </p:spPr>
        <p:txBody>
          <a:bodyPr wrap="square" lIns="0" tIns="0" rIns="0" bIns="0" rtlCol="0" vert="horz">
            <a:spAutoFit/>
          </a:bodyPr>
          <a:lstStyle/>
          <a:p>
            <a:pPr marL="142240">
              <a:lnSpc>
                <a:spcPts val="1570"/>
              </a:lnSpc>
            </a:pPr>
            <a:r>
              <a:rPr dirty="0" sz="1350" spc="-50">
                <a:latin typeface="Times New Roman"/>
                <a:cs typeface="Times New Roman"/>
              </a:rPr>
              <a:t>c</a:t>
            </a:r>
            <a:endParaRPr sz="1350">
              <a:latin typeface="Times New Roman"/>
              <a:cs typeface="Times New Roman"/>
            </a:endParaRPr>
          </a:p>
        </p:txBody>
      </p:sp>
      <p:grpSp>
        <p:nvGrpSpPr>
          <p:cNvPr id="95" name="object 95" descr=""/>
          <p:cNvGrpSpPr/>
          <p:nvPr/>
        </p:nvGrpSpPr>
        <p:grpSpPr>
          <a:xfrm>
            <a:off x="4734864" y="3045755"/>
            <a:ext cx="5005070" cy="1073150"/>
            <a:chOff x="4734864" y="3045755"/>
            <a:chExt cx="5005070" cy="1073150"/>
          </a:xfrm>
        </p:grpSpPr>
        <p:sp>
          <p:nvSpPr>
            <p:cNvPr id="96" name="object 96" descr=""/>
            <p:cNvSpPr/>
            <p:nvPr/>
          </p:nvSpPr>
          <p:spPr>
            <a:xfrm>
              <a:off x="4742166" y="3267810"/>
              <a:ext cx="45085" cy="60325"/>
            </a:xfrm>
            <a:custGeom>
              <a:avLst/>
              <a:gdLst/>
              <a:ahLst/>
              <a:cxnLst/>
              <a:rect l="l" t="t" r="r" b="b"/>
              <a:pathLst>
                <a:path w="45085" h="60325">
                  <a:moveTo>
                    <a:pt x="22132" y="0"/>
                  </a:moveTo>
                  <a:lnTo>
                    <a:pt x="13468" y="2367"/>
                  </a:lnTo>
                  <a:lnTo>
                    <a:pt x="6438" y="8810"/>
                  </a:lnTo>
                  <a:lnTo>
                    <a:pt x="1722" y="18337"/>
                  </a:lnTo>
                  <a:lnTo>
                    <a:pt x="0" y="29957"/>
                  </a:lnTo>
                  <a:lnTo>
                    <a:pt x="1722" y="41606"/>
                  </a:lnTo>
                  <a:lnTo>
                    <a:pt x="6438" y="51201"/>
                  </a:lnTo>
                  <a:lnTo>
                    <a:pt x="13468" y="57711"/>
                  </a:lnTo>
                  <a:lnTo>
                    <a:pt x="22132" y="60109"/>
                  </a:lnTo>
                  <a:lnTo>
                    <a:pt x="31022" y="57711"/>
                  </a:lnTo>
                  <a:lnTo>
                    <a:pt x="38168" y="51201"/>
                  </a:lnTo>
                  <a:lnTo>
                    <a:pt x="42927" y="41606"/>
                  </a:lnTo>
                  <a:lnTo>
                    <a:pt x="44656" y="29957"/>
                  </a:lnTo>
                  <a:lnTo>
                    <a:pt x="42927" y="18337"/>
                  </a:lnTo>
                  <a:lnTo>
                    <a:pt x="38168" y="8810"/>
                  </a:lnTo>
                  <a:lnTo>
                    <a:pt x="31022" y="2367"/>
                  </a:lnTo>
                  <a:lnTo>
                    <a:pt x="22132" y="0"/>
                  </a:lnTo>
                  <a:close/>
                </a:path>
              </a:pathLst>
            </a:custGeom>
            <a:solidFill>
              <a:srgbClr val="000000"/>
            </a:solidFill>
          </p:spPr>
          <p:txBody>
            <a:bodyPr wrap="square" lIns="0" tIns="0" rIns="0" bIns="0" rtlCol="0"/>
            <a:lstStyle/>
            <a:p/>
          </p:txBody>
        </p:sp>
        <p:sp>
          <p:nvSpPr>
            <p:cNvPr id="97" name="object 97" descr=""/>
            <p:cNvSpPr/>
            <p:nvPr/>
          </p:nvSpPr>
          <p:spPr>
            <a:xfrm>
              <a:off x="4742166" y="3267810"/>
              <a:ext cx="45085" cy="60325"/>
            </a:xfrm>
            <a:custGeom>
              <a:avLst/>
              <a:gdLst/>
              <a:ahLst/>
              <a:cxnLst/>
              <a:rect l="l" t="t" r="r" b="b"/>
              <a:pathLst>
                <a:path w="45085" h="60325">
                  <a:moveTo>
                    <a:pt x="22132" y="0"/>
                  </a:moveTo>
                  <a:lnTo>
                    <a:pt x="13468" y="2367"/>
                  </a:lnTo>
                  <a:lnTo>
                    <a:pt x="6438" y="8810"/>
                  </a:lnTo>
                  <a:lnTo>
                    <a:pt x="1722" y="18337"/>
                  </a:lnTo>
                  <a:lnTo>
                    <a:pt x="0" y="29957"/>
                  </a:lnTo>
                  <a:lnTo>
                    <a:pt x="1722" y="41606"/>
                  </a:lnTo>
                  <a:lnTo>
                    <a:pt x="6438" y="51201"/>
                  </a:lnTo>
                  <a:lnTo>
                    <a:pt x="13468" y="57711"/>
                  </a:lnTo>
                  <a:lnTo>
                    <a:pt x="22132" y="60109"/>
                  </a:lnTo>
                  <a:lnTo>
                    <a:pt x="31022" y="57711"/>
                  </a:lnTo>
                  <a:lnTo>
                    <a:pt x="38168" y="51201"/>
                  </a:lnTo>
                  <a:lnTo>
                    <a:pt x="42927" y="41606"/>
                  </a:lnTo>
                  <a:lnTo>
                    <a:pt x="44656" y="29957"/>
                  </a:lnTo>
                  <a:lnTo>
                    <a:pt x="42927" y="18337"/>
                  </a:lnTo>
                  <a:lnTo>
                    <a:pt x="38168" y="8810"/>
                  </a:lnTo>
                  <a:lnTo>
                    <a:pt x="31022" y="2367"/>
                  </a:lnTo>
                  <a:lnTo>
                    <a:pt x="22132" y="0"/>
                  </a:lnTo>
                </a:path>
              </a:pathLst>
            </a:custGeom>
            <a:ln w="14577">
              <a:solidFill>
                <a:srgbClr val="000000"/>
              </a:solidFill>
            </a:ln>
          </p:spPr>
          <p:txBody>
            <a:bodyPr wrap="square" lIns="0" tIns="0" rIns="0" bIns="0" rtlCol="0"/>
            <a:lstStyle/>
            <a:p/>
          </p:txBody>
        </p:sp>
        <p:sp>
          <p:nvSpPr>
            <p:cNvPr id="98" name="object 98" descr=""/>
            <p:cNvSpPr/>
            <p:nvPr/>
          </p:nvSpPr>
          <p:spPr>
            <a:xfrm>
              <a:off x="7928854" y="3289936"/>
              <a:ext cx="78740" cy="827405"/>
            </a:xfrm>
            <a:custGeom>
              <a:avLst/>
              <a:gdLst/>
              <a:ahLst/>
              <a:cxnLst/>
              <a:rect l="l" t="t" r="r" b="b"/>
              <a:pathLst>
                <a:path w="78740" h="827404">
                  <a:moveTo>
                    <a:pt x="0" y="709883"/>
                  </a:moveTo>
                  <a:lnTo>
                    <a:pt x="38976" y="827205"/>
                  </a:lnTo>
                  <a:lnTo>
                    <a:pt x="61987" y="758695"/>
                  </a:lnTo>
                  <a:lnTo>
                    <a:pt x="33884" y="758695"/>
                  </a:lnTo>
                  <a:lnTo>
                    <a:pt x="29575" y="754466"/>
                  </a:lnTo>
                  <a:lnTo>
                    <a:pt x="29183" y="748827"/>
                  </a:lnTo>
                  <a:lnTo>
                    <a:pt x="29157" y="739016"/>
                  </a:lnTo>
                  <a:lnTo>
                    <a:pt x="0" y="709883"/>
                  </a:lnTo>
                  <a:close/>
                </a:path>
                <a:path w="78740" h="827404">
                  <a:moveTo>
                    <a:pt x="48939" y="739016"/>
                  </a:moveTo>
                  <a:lnTo>
                    <a:pt x="38976" y="748827"/>
                  </a:lnTo>
                  <a:lnTo>
                    <a:pt x="29183" y="748827"/>
                  </a:lnTo>
                  <a:lnTo>
                    <a:pt x="29542" y="753996"/>
                  </a:lnTo>
                  <a:lnTo>
                    <a:pt x="29575" y="754466"/>
                  </a:lnTo>
                  <a:lnTo>
                    <a:pt x="33884" y="758695"/>
                  </a:lnTo>
                  <a:lnTo>
                    <a:pt x="38976" y="758225"/>
                  </a:lnTo>
                  <a:lnTo>
                    <a:pt x="44656" y="758225"/>
                  </a:lnTo>
                  <a:lnTo>
                    <a:pt x="48965" y="753996"/>
                  </a:lnTo>
                  <a:lnTo>
                    <a:pt x="48965" y="748827"/>
                  </a:lnTo>
                  <a:lnTo>
                    <a:pt x="38976" y="748827"/>
                  </a:lnTo>
                  <a:lnTo>
                    <a:pt x="29157" y="739016"/>
                  </a:lnTo>
                  <a:lnTo>
                    <a:pt x="48939" y="739016"/>
                  </a:lnTo>
                  <a:close/>
                </a:path>
                <a:path w="78740" h="827404">
                  <a:moveTo>
                    <a:pt x="78540" y="709413"/>
                  </a:moveTo>
                  <a:lnTo>
                    <a:pt x="48939" y="739016"/>
                  </a:lnTo>
                  <a:lnTo>
                    <a:pt x="48965" y="753996"/>
                  </a:lnTo>
                  <a:lnTo>
                    <a:pt x="44656" y="758225"/>
                  </a:lnTo>
                  <a:lnTo>
                    <a:pt x="38976" y="758225"/>
                  </a:lnTo>
                  <a:lnTo>
                    <a:pt x="33884" y="758695"/>
                  </a:lnTo>
                  <a:lnTo>
                    <a:pt x="61987" y="758695"/>
                  </a:lnTo>
                  <a:lnTo>
                    <a:pt x="78540" y="709413"/>
                  </a:lnTo>
                  <a:close/>
                </a:path>
                <a:path w="78740" h="827404">
                  <a:moveTo>
                    <a:pt x="42698" y="0"/>
                  </a:moveTo>
                  <a:lnTo>
                    <a:pt x="31925" y="0"/>
                  </a:lnTo>
                  <a:lnTo>
                    <a:pt x="27224" y="4111"/>
                  </a:lnTo>
                  <a:lnTo>
                    <a:pt x="27224" y="9398"/>
                  </a:lnTo>
                  <a:lnTo>
                    <a:pt x="29079" y="709413"/>
                  </a:lnTo>
                  <a:lnTo>
                    <a:pt x="29157" y="739016"/>
                  </a:lnTo>
                  <a:lnTo>
                    <a:pt x="38976" y="748827"/>
                  </a:lnTo>
                  <a:lnTo>
                    <a:pt x="48825" y="739016"/>
                  </a:lnTo>
                  <a:lnTo>
                    <a:pt x="48861" y="709413"/>
                  </a:lnTo>
                  <a:lnTo>
                    <a:pt x="47007" y="9398"/>
                  </a:lnTo>
                  <a:lnTo>
                    <a:pt x="47007" y="4111"/>
                  </a:lnTo>
                  <a:lnTo>
                    <a:pt x="42698" y="0"/>
                  </a:lnTo>
                  <a:close/>
                </a:path>
              </a:pathLst>
            </a:custGeom>
            <a:solidFill>
              <a:srgbClr val="000000"/>
            </a:solidFill>
          </p:spPr>
          <p:txBody>
            <a:bodyPr wrap="square" lIns="0" tIns="0" rIns="0" bIns="0" rtlCol="0"/>
            <a:lstStyle/>
            <a:p/>
          </p:txBody>
        </p:sp>
        <p:sp>
          <p:nvSpPr>
            <p:cNvPr id="99" name="object 99" descr=""/>
            <p:cNvSpPr/>
            <p:nvPr/>
          </p:nvSpPr>
          <p:spPr>
            <a:xfrm>
              <a:off x="7928854" y="3289936"/>
              <a:ext cx="78740" cy="827405"/>
            </a:xfrm>
            <a:custGeom>
              <a:avLst/>
              <a:gdLst/>
              <a:ahLst/>
              <a:cxnLst/>
              <a:rect l="l" t="t" r="r" b="b"/>
              <a:pathLst>
                <a:path w="78740" h="827404">
                  <a:moveTo>
                    <a:pt x="47007" y="9398"/>
                  </a:moveTo>
                  <a:lnTo>
                    <a:pt x="48965" y="748827"/>
                  </a:lnTo>
                  <a:lnTo>
                    <a:pt x="48965" y="753996"/>
                  </a:lnTo>
                  <a:lnTo>
                    <a:pt x="44656" y="758225"/>
                  </a:lnTo>
                  <a:lnTo>
                    <a:pt x="38976" y="758225"/>
                  </a:lnTo>
                  <a:lnTo>
                    <a:pt x="33884" y="758695"/>
                  </a:lnTo>
                  <a:lnTo>
                    <a:pt x="29575" y="754466"/>
                  </a:lnTo>
                  <a:lnTo>
                    <a:pt x="29183" y="748827"/>
                  </a:lnTo>
                  <a:lnTo>
                    <a:pt x="27224" y="9398"/>
                  </a:lnTo>
                  <a:lnTo>
                    <a:pt x="27224" y="4111"/>
                  </a:lnTo>
                  <a:lnTo>
                    <a:pt x="31925" y="0"/>
                  </a:lnTo>
                  <a:lnTo>
                    <a:pt x="37605" y="0"/>
                  </a:lnTo>
                  <a:lnTo>
                    <a:pt x="42698" y="0"/>
                  </a:lnTo>
                  <a:lnTo>
                    <a:pt x="47007" y="4111"/>
                  </a:lnTo>
                  <a:lnTo>
                    <a:pt x="47007" y="9398"/>
                  </a:lnTo>
                  <a:close/>
                </a:path>
                <a:path w="78740" h="827404">
                  <a:moveTo>
                    <a:pt x="38976" y="748827"/>
                  </a:moveTo>
                  <a:lnTo>
                    <a:pt x="78540" y="709413"/>
                  </a:lnTo>
                  <a:lnTo>
                    <a:pt x="38976" y="827205"/>
                  </a:lnTo>
                  <a:lnTo>
                    <a:pt x="0" y="709883"/>
                  </a:lnTo>
                  <a:lnTo>
                    <a:pt x="38976" y="748827"/>
                  </a:lnTo>
                  <a:close/>
                </a:path>
              </a:pathLst>
            </a:custGeom>
            <a:ln w="3175">
              <a:solidFill>
                <a:srgbClr val="000000"/>
              </a:solidFill>
            </a:ln>
          </p:spPr>
          <p:txBody>
            <a:bodyPr wrap="square" lIns="0" tIns="0" rIns="0" bIns="0" rtlCol="0"/>
            <a:lstStyle/>
            <a:p/>
          </p:txBody>
        </p:sp>
        <p:sp>
          <p:nvSpPr>
            <p:cNvPr id="100" name="object 100" descr=""/>
            <p:cNvSpPr/>
            <p:nvPr/>
          </p:nvSpPr>
          <p:spPr>
            <a:xfrm>
              <a:off x="6435204" y="3047343"/>
              <a:ext cx="3303270" cy="78740"/>
            </a:xfrm>
            <a:custGeom>
              <a:avLst/>
              <a:gdLst/>
              <a:ahLst/>
              <a:cxnLst/>
              <a:rect l="l" t="t" r="r" b="b"/>
              <a:pathLst>
                <a:path w="3303270" h="78739">
                  <a:moveTo>
                    <a:pt x="3185316" y="0"/>
                  </a:moveTo>
                  <a:lnTo>
                    <a:pt x="3224685" y="38963"/>
                  </a:lnTo>
                  <a:lnTo>
                    <a:pt x="3185316" y="78318"/>
                  </a:lnTo>
                  <a:lnTo>
                    <a:pt x="3273601" y="48753"/>
                  </a:lnTo>
                  <a:lnTo>
                    <a:pt x="3229973" y="48753"/>
                  </a:lnTo>
                  <a:lnTo>
                    <a:pt x="3234086" y="44446"/>
                  </a:lnTo>
                  <a:lnTo>
                    <a:pt x="3234086" y="33677"/>
                  </a:lnTo>
                  <a:lnTo>
                    <a:pt x="3229973" y="28978"/>
                  </a:lnTo>
                  <a:lnTo>
                    <a:pt x="3272716" y="28978"/>
                  </a:lnTo>
                  <a:lnTo>
                    <a:pt x="3185316" y="0"/>
                  </a:lnTo>
                  <a:close/>
                </a:path>
                <a:path w="3303270" h="78739">
                  <a:moveTo>
                    <a:pt x="3214595" y="28978"/>
                  </a:moveTo>
                  <a:lnTo>
                    <a:pt x="4700" y="28977"/>
                  </a:lnTo>
                  <a:lnTo>
                    <a:pt x="0" y="33677"/>
                  </a:lnTo>
                  <a:lnTo>
                    <a:pt x="0" y="44445"/>
                  </a:lnTo>
                  <a:lnTo>
                    <a:pt x="4700" y="48753"/>
                  </a:lnTo>
                  <a:lnTo>
                    <a:pt x="3214892" y="48753"/>
                  </a:lnTo>
                  <a:lnTo>
                    <a:pt x="3224685" y="38963"/>
                  </a:lnTo>
                  <a:lnTo>
                    <a:pt x="3214595" y="28978"/>
                  </a:lnTo>
                  <a:close/>
                </a:path>
                <a:path w="3303270" h="78739">
                  <a:moveTo>
                    <a:pt x="3272716" y="28978"/>
                  </a:moveTo>
                  <a:lnTo>
                    <a:pt x="3229973" y="28978"/>
                  </a:lnTo>
                  <a:lnTo>
                    <a:pt x="3234086" y="33677"/>
                  </a:lnTo>
                  <a:lnTo>
                    <a:pt x="3234086" y="44446"/>
                  </a:lnTo>
                  <a:lnTo>
                    <a:pt x="3229973" y="48753"/>
                  </a:lnTo>
                  <a:lnTo>
                    <a:pt x="3273601" y="48753"/>
                  </a:lnTo>
                  <a:lnTo>
                    <a:pt x="3302834" y="38963"/>
                  </a:lnTo>
                  <a:lnTo>
                    <a:pt x="3272716" y="28978"/>
                  </a:lnTo>
                  <a:close/>
                </a:path>
              </a:pathLst>
            </a:custGeom>
            <a:solidFill>
              <a:srgbClr val="000000"/>
            </a:solidFill>
          </p:spPr>
          <p:txBody>
            <a:bodyPr wrap="square" lIns="0" tIns="0" rIns="0" bIns="0" rtlCol="0"/>
            <a:lstStyle/>
            <a:p/>
          </p:txBody>
        </p:sp>
        <p:sp>
          <p:nvSpPr>
            <p:cNvPr id="101" name="object 101" descr=""/>
            <p:cNvSpPr/>
            <p:nvPr/>
          </p:nvSpPr>
          <p:spPr>
            <a:xfrm>
              <a:off x="6435204" y="3047343"/>
              <a:ext cx="3303270" cy="78740"/>
            </a:xfrm>
            <a:custGeom>
              <a:avLst/>
              <a:gdLst/>
              <a:ahLst/>
              <a:cxnLst/>
              <a:rect l="l" t="t" r="r" b="b"/>
              <a:pathLst>
                <a:path w="3303270" h="78739">
                  <a:moveTo>
                    <a:pt x="9793" y="28977"/>
                  </a:moveTo>
                  <a:lnTo>
                    <a:pt x="3224685" y="28978"/>
                  </a:lnTo>
                  <a:lnTo>
                    <a:pt x="3229973" y="28978"/>
                  </a:lnTo>
                  <a:lnTo>
                    <a:pt x="3234086" y="33677"/>
                  </a:lnTo>
                  <a:lnTo>
                    <a:pt x="3234086" y="38963"/>
                  </a:lnTo>
                  <a:lnTo>
                    <a:pt x="3234086" y="44446"/>
                  </a:lnTo>
                  <a:lnTo>
                    <a:pt x="3229973" y="48753"/>
                  </a:lnTo>
                  <a:lnTo>
                    <a:pt x="3224685" y="48753"/>
                  </a:lnTo>
                  <a:lnTo>
                    <a:pt x="9793" y="48753"/>
                  </a:lnTo>
                  <a:lnTo>
                    <a:pt x="4700" y="48753"/>
                  </a:lnTo>
                  <a:lnTo>
                    <a:pt x="0" y="44445"/>
                  </a:lnTo>
                  <a:lnTo>
                    <a:pt x="0" y="38963"/>
                  </a:lnTo>
                  <a:lnTo>
                    <a:pt x="0" y="33677"/>
                  </a:lnTo>
                  <a:lnTo>
                    <a:pt x="4700" y="28977"/>
                  </a:lnTo>
                  <a:lnTo>
                    <a:pt x="9793" y="28977"/>
                  </a:lnTo>
                  <a:close/>
                </a:path>
                <a:path w="3303270" h="78739">
                  <a:moveTo>
                    <a:pt x="3224685" y="38963"/>
                  </a:moveTo>
                  <a:lnTo>
                    <a:pt x="3185316" y="0"/>
                  </a:lnTo>
                  <a:lnTo>
                    <a:pt x="3302834" y="38963"/>
                  </a:lnTo>
                  <a:lnTo>
                    <a:pt x="3185316" y="78318"/>
                  </a:lnTo>
                  <a:lnTo>
                    <a:pt x="3224685" y="38963"/>
                  </a:lnTo>
                  <a:close/>
                </a:path>
              </a:pathLst>
            </a:custGeom>
            <a:ln w="3175">
              <a:solidFill>
                <a:srgbClr val="000000"/>
              </a:solidFill>
            </a:ln>
          </p:spPr>
          <p:txBody>
            <a:bodyPr wrap="square" lIns="0" tIns="0" rIns="0" bIns="0" rtlCol="0"/>
            <a:lstStyle/>
            <a:p/>
          </p:txBody>
        </p:sp>
        <p:sp>
          <p:nvSpPr>
            <p:cNvPr id="102" name="object 102" descr=""/>
            <p:cNvSpPr/>
            <p:nvPr/>
          </p:nvSpPr>
          <p:spPr>
            <a:xfrm>
              <a:off x="6421494" y="3054783"/>
              <a:ext cx="45720" cy="59690"/>
            </a:xfrm>
            <a:custGeom>
              <a:avLst/>
              <a:gdLst/>
              <a:ahLst/>
              <a:cxnLst/>
              <a:rect l="l" t="t" r="r" b="b"/>
              <a:pathLst>
                <a:path w="45720" h="59689">
                  <a:moveTo>
                    <a:pt x="22720" y="0"/>
                  </a:moveTo>
                  <a:lnTo>
                    <a:pt x="13964" y="2367"/>
                  </a:lnTo>
                  <a:lnTo>
                    <a:pt x="6732" y="8810"/>
                  </a:lnTo>
                  <a:lnTo>
                    <a:pt x="1814" y="18337"/>
                  </a:lnTo>
                  <a:lnTo>
                    <a:pt x="0" y="29957"/>
                  </a:lnTo>
                  <a:lnTo>
                    <a:pt x="1814" y="41515"/>
                  </a:lnTo>
                  <a:lnTo>
                    <a:pt x="6732" y="50907"/>
                  </a:lnTo>
                  <a:lnTo>
                    <a:pt x="13964" y="57215"/>
                  </a:lnTo>
                  <a:lnTo>
                    <a:pt x="22720" y="59522"/>
                  </a:lnTo>
                  <a:lnTo>
                    <a:pt x="31362" y="57215"/>
                  </a:lnTo>
                  <a:lnTo>
                    <a:pt x="38536" y="50907"/>
                  </a:lnTo>
                  <a:lnTo>
                    <a:pt x="43432" y="41515"/>
                  </a:lnTo>
                  <a:lnTo>
                    <a:pt x="45244" y="29957"/>
                  </a:lnTo>
                  <a:lnTo>
                    <a:pt x="43432" y="18337"/>
                  </a:lnTo>
                  <a:lnTo>
                    <a:pt x="38536" y="8810"/>
                  </a:lnTo>
                  <a:lnTo>
                    <a:pt x="31362" y="2367"/>
                  </a:lnTo>
                  <a:lnTo>
                    <a:pt x="22720" y="0"/>
                  </a:lnTo>
                  <a:close/>
                </a:path>
              </a:pathLst>
            </a:custGeom>
            <a:solidFill>
              <a:srgbClr val="000000"/>
            </a:solidFill>
          </p:spPr>
          <p:txBody>
            <a:bodyPr wrap="square" lIns="0" tIns="0" rIns="0" bIns="0" rtlCol="0"/>
            <a:lstStyle/>
            <a:p/>
          </p:txBody>
        </p:sp>
        <p:sp>
          <p:nvSpPr>
            <p:cNvPr id="103" name="object 103" descr=""/>
            <p:cNvSpPr/>
            <p:nvPr/>
          </p:nvSpPr>
          <p:spPr>
            <a:xfrm>
              <a:off x="6421494" y="3054783"/>
              <a:ext cx="45720" cy="59690"/>
            </a:xfrm>
            <a:custGeom>
              <a:avLst/>
              <a:gdLst/>
              <a:ahLst/>
              <a:cxnLst/>
              <a:rect l="l" t="t" r="r" b="b"/>
              <a:pathLst>
                <a:path w="45720" h="59689">
                  <a:moveTo>
                    <a:pt x="22720" y="0"/>
                  </a:moveTo>
                  <a:lnTo>
                    <a:pt x="13964" y="2367"/>
                  </a:lnTo>
                  <a:lnTo>
                    <a:pt x="6732" y="8810"/>
                  </a:lnTo>
                  <a:lnTo>
                    <a:pt x="1814" y="18337"/>
                  </a:lnTo>
                  <a:lnTo>
                    <a:pt x="0" y="29957"/>
                  </a:lnTo>
                  <a:lnTo>
                    <a:pt x="1814" y="41515"/>
                  </a:lnTo>
                  <a:lnTo>
                    <a:pt x="6732" y="50907"/>
                  </a:lnTo>
                  <a:lnTo>
                    <a:pt x="13964" y="57215"/>
                  </a:lnTo>
                  <a:lnTo>
                    <a:pt x="22720" y="59522"/>
                  </a:lnTo>
                  <a:lnTo>
                    <a:pt x="31362" y="57215"/>
                  </a:lnTo>
                  <a:lnTo>
                    <a:pt x="38536" y="50907"/>
                  </a:lnTo>
                  <a:lnTo>
                    <a:pt x="43432" y="41515"/>
                  </a:lnTo>
                  <a:lnTo>
                    <a:pt x="45244" y="29957"/>
                  </a:lnTo>
                  <a:lnTo>
                    <a:pt x="43432" y="18337"/>
                  </a:lnTo>
                  <a:lnTo>
                    <a:pt x="38536" y="8810"/>
                  </a:lnTo>
                  <a:lnTo>
                    <a:pt x="31362" y="2367"/>
                  </a:lnTo>
                  <a:lnTo>
                    <a:pt x="22720" y="0"/>
                  </a:lnTo>
                </a:path>
              </a:pathLst>
            </a:custGeom>
            <a:ln w="14577">
              <a:solidFill>
                <a:srgbClr val="000000"/>
              </a:solidFill>
            </a:ln>
          </p:spPr>
          <p:txBody>
            <a:bodyPr wrap="square" lIns="0" tIns="0" rIns="0" bIns="0" rtlCol="0"/>
            <a:lstStyle/>
            <a:p/>
          </p:txBody>
        </p:sp>
      </p:grpSp>
      <p:sp>
        <p:nvSpPr>
          <p:cNvPr id="104" name="object 104" descr=""/>
          <p:cNvSpPr txBox="1"/>
          <p:nvPr/>
        </p:nvSpPr>
        <p:spPr>
          <a:xfrm>
            <a:off x="6378239" y="4433044"/>
            <a:ext cx="418465" cy="237490"/>
          </a:xfrm>
          <a:prstGeom prst="rect">
            <a:avLst/>
          </a:prstGeom>
        </p:spPr>
        <p:txBody>
          <a:bodyPr wrap="square" lIns="0" tIns="17145" rIns="0" bIns="0" rtlCol="0" vert="horz">
            <a:spAutoFit/>
          </a:bodyPr>
          <a:lstStyle/>
          <a:p>
            <a:pPr marL="12700">
              <a:lnSpc>
                <a:spcPct val="100000"/>
              </a:lnSpc>
              <a:spcBef>
                <a:spcPts val="135"/>
              </a:spcBef>
            </a:pPr>
            <a:r>
              <a:rPr dirty="0" sz="1350" spc="-25">
                <a:latin typeface="Times New Roman"/>
                <a:cs typeface="Times New Roman"/>
              </a:rPr>
              <a:t>MUL</a:t>
            </a:r>
            <a:endParaRPr sz="1350">
              <a:latin typeface="Times New Roman"/>
              <a:cs typeface="Times New Roman"/>
            </a:endParaRPr>
          </a:p>
        </p:txBody>
      </p:sp>
      <p:sp>
        <p:nvSpPr>
          <p:cNvPr id="105" name="object 105" descr=""/>
          <p:cNvSpPr txBox="1"/>
          <p:nvPr/>
        </p:nvSpPr>
        <p:spPr>
          <a:xfrm>
            <a:off x="7100189" y="4409568"/>
            <a:ext cx="104139" cy="237490"/>
          </a:xfrm>
          <a:prstGeom prst="rect">
            <a:avLst/>
          </a:prstGeom>
        </p:spPr>
        <p:txBody>
          <a:bodyPr wrap="square" lIns="0" tIns="17145" rIns="0" bIns="0" rtlCol="0" vert="horz">
            <a:spAutoFit/>
          </a:bodyPr>
          <a:lstStyle/>
          <a:p>
            <a:pPr marL="12700">
              <a:lnSpc>
                <a:spcPct val="100000"/>
              </a:lnSpc>
              <a:spcBef>
                <a:spcPts val="135"/>
              </a:spcBef>
            </a:pPr>
            <a:r>
              <a:rPr dirty="0" sz="1350" spc="-50">
                <a:latin typeface="Times New Roman"/>
                <a:cs typeface="Times New Roman"/>
              </a:rPr>
              <a:t>a</a:t>
            </a:r>
            <a:endParaRPr sz="1350">
              <a:latin typeface="Times New Roman"/>
              <a:cs typeface="Times New Roman"/>
            </a:endParaRPr>
          </a:p>
        </p:txBody>
      </p:sp>
      <p:sp>
        <p:nvSpPr>
          <p:cNvPr id="106" name="object 106" descr=""/>
          <p:cNvSpPr txBox="1"/>
          <p:nvPr/>
        </p:nvSpPr>
        <p:spPr>
          <a:xfrm>
            <a:off x="7871889" y="4409568"/>
            <a:ext cx="113664" cy="237490"/>
          </a:xfrm>
          <a:prstGeom prst="rect">
            <a:avLst/>
          </a:prstGeom>
        </p:spPr>
        <p:txBody>
          <a:bodyPr wrap="square" lIns="0" tIns="17145" rIns="0" bIns="0" rtlCol="0" vert="horz">
            <a:spAutoFit/>
          </a:bodyPr>
          <a:lstStyle/>
          <a:p>
            <a:pPr marL="12700">
              <a:lnSpc>
                <a:spcPct val="100000"/>
              </a:lnSpc>
              <a:spcBef>
                <a:spcPts val="135"/>
              </a:spcBef>
            </a:pPr>
            <a:r>
              <a:rPr dirty="0" sz="1350" spc="-50">
                <a:latin typeface="Times New Roman"/>
                <a:cs typeface="Times New Roman"/>
              </a:rPr>
              <a:t>b</a:t>
            </a:r>
            <a:endParaRPr sz="1350">
              <a:latin typeface="Times New Roman"/>
              <a:cs typeface="Times New Roman"/>
            </a:endParaRPr>
          </a:p>
        </p:txBody>
      </p:sp>
      <p:sp>
        <p:nvSpPr>
          <p:cNvPr id="107" name="object 107" descr=""/>
          <p:cNvSpPr txBox="1"/>
          <p:nvPr/>
        </p:nvSpPr>
        <p:spPr>
          <a:xfrm>
            <a:off x="7358151" y="2604785"/>
            <a:ext cx="643890" cy="237490"/>
          </a:xfrm>
          <a:prstGeom prst="rect">
            <a:avLst/>
          </a:prstGeom>
        </p:spPr>
        <p:txBody>
          <a:bodyPr wrap="square" lIns="0" tIns="17145" rIns="0" bIns="0" rtlCol="0" vert="horz">
            <a:spAutoFit/>
          </a:bodyPr>
          <a:lstStyle/>
          <a:p>
            <a:pPr marL="39370">
              <a:lnSpc>
                <a:spcPct val="100000"/>
              </a:lnSpc>
              <a:spcBef>
                <a:spcPts val="135"/>
              </a:spcBef>
            </a:pPr>
            <a:r>
              <a:rPr dirty="0" sz="1350" spc="-10">
                <a:latin typeface="Times New Roman"/>
                <a:cs typeface="Times New Roman"/>
              </a:rPr>
              <a:t>MULT1</a:t>
            </a:r>
            <a:endParaRPr sz="1350">
              <a:latin typeface="Times New Roman"/>
              <a:cs typeface="Times New Roman"/>
            </a:endParaRPr>
          </a:p>
        </p:txBody>
      </p:sp>
      <p:pic>
        <p:nvPicPr>
          <p:cNvPr id="108" name="object 108" descr=""/>
          <p:cNvPicPr/>
          <p:nvPr/>
        </p:nvPicPr>
        <p:blipFill>
          <a:blip r:embed="rId3" cstate="print"/>
          <a:stretch>
            <a:fillRect/>
          </a:stretch>
        </p:blipFill>
        <p:spPr>
          <a:xfrm>
            <a:off x="8049310" y="2681789"/>
            <a:ext cx="1329907" cy="1867947"/>
          </a:xfrm>
          <a:prstGeom prst="rect">
            <a:avLst/>
          </a:prstGeom>
        </p:spPr>
      </p:pic>
      <p:sp>
        <p:nvSpPr>
          <p:cNvPr id="109" name="object 109" descr=""/>
          <p:cNvSpPr txBox="1"/>
          <p:nvPr/>
        </p:nvSpPr>
        <p:spPr>
          <a:xfrm>
            <a:off x="7358151" y="2367870"/>
            <a:ext cx="643890" cy="237490"/>
          </a:xfrm>
          <a:prstGeom prst="rect">
            <a:avLst/>
          </a:prstGeom>
        </p:spPr>
        <p:txBody>
          <a:bodyPr wrap="square" lIns="0" tIns="17145" rIns="0" bIns="0" rtlCol="0" vert="horz">
            <a:spAutoFit/>
          </a:bodyPr>
          <a:lstStyle/>
          <a:p>
            <a:pPr marL="83820">
              <a:lnSpc>
                <a:spcPct val="100000"/>
              </a:lnSpc>
              <a:spcBef>
                <a:spcPts val="135"/>
              </a:spcBef>
            </a:pPr>
            <a:r>
              <a:rPr dirty="0" sz="1350" spc="-20">
                <a:latin typeface="Times New Roman"/>
                <a:cs typeface="Times New Roman"/>
              </a:rPr>
              <a:t>ADD1</a:t>
            </a:r>
            <a:endParaRPr sz="1350">
              <a:latin typeface="Times New Roman"/>
              <a:cs typeface="Times New Roman"/>
            </a:endParaRPr>
          </a:p>
        </p:txBody>
      </p:sp>
      <p:sp>
        <p:nvSpPr>
          <p:cNvPr id="110" name="object 110" descr=""/>
          <p:cNvSpPr txBox="1"/>
          <p:nvPr/>
        </p:nvSpPr>
        <p:spPr>
          <a:xfrm>
            <a:off x="4722415" y="4547996"/>
            <a:ext cx="104139" cy="237490"/>
          </a:xfrm>
          <a:prstGeom prst="rect">
            <a:avLst/>
          </a:prstGeom>
        </p:spPr>
        <p:txBody>
          <a:bodyPr wrap="square" lIns="0" tIns="17145" rIns="0" bIns="0" rtlCol="0" vert="horz">
            <a:spAutoFit/>
          </a:bodyPr>
          <a:lstStyle/>
          <a:p>
            <a:pPr marL="12700">
              <a:lnSpc>
                <a:spcPct val="100000"/>
              </a:lnSpc>
              <a:spcBef>
                <a:spcPts val="135"/>
              </a:spcBef>
            </a:pPr>
            <a:r>
              <a:rPr dirty="0" sz="1350" spc="-50">
                <a:latin typeface="Times New Roman"/>
                <a:cs typeface="Times New Roman"/>
              </a:rPr>
              <a:t>c</a:t>
            </a:r>
            <a:endParaRPr sz="1350">
              <a:latin typeface="Times New Roman"/>
              <a:cs typeface="Times New Roman"/>
            </a:endParaRPr>
          </a:p>
        </p:txBody>
      </p:sp>
      <p:grpSp>
        <p:nvGrpSpPr>
          <p:cNvPr id="111" name="object 111" descr=""/>
          <p:cNvGrpSpPr/>
          <p:nvPr/>
        </p:nvGrpSpPr>
        <p:grpSpPr>
          <a:xfrm>
            <a:off x="2684779" y="2439196"/>
            <a:ext cx="6692265" cy="3056255"/>
            <a:chOff x="2684779" y="2439196"/>
            <a:chExt cx="6692265" cy="3056255"/>
          </a:xfrm>
        </p:grpSpPr>
        <p:sp>
          <p:nvSpPr>
            <p:cNvPr id="112" name="object 112" descr=""/>
            <p:cNvSpPr/>
            <p:nvPr/>
          </p:nvSpPr>
          <p:spPr>
            <a:xfrm>
              <a:off x="5696801" y="4715889"/>
              <a:ext cx="179705" cy="14604"/>
            </a:xfrm>
            <a:custGeom>
              <a:avLst/>
              <a:gdLst/>
              <a:ahLst/>
              <a:cxnLst/>
              <a:rect l="l" t="t" r="r" b="b"/>
              <a:pathLst>
                <a:path w="179704" h="14604">
                  <a:moveTo>
                    <a:pt x="55625" y="0"/>
                  </a:moveTo>
                  <a:lnTo>
                    <a:pt x="3329" y="0"/>
                  </a:lnTo>
                  <a:lnTo>
                    <a:pt x="0" y="3289"/>
                  </a:lnTo>
                  <a:lnTo>
                    <a:pt x="0" y="11258"/>
                  </a:lnTo>
                  <a:lnTo>
                    <a:pt x="3329" y="14547"/>
                  </a:lnTo>
                  <a:lnTo>
                    <a:pt x="55625" y="14547"/>
                  </a:lnTo>
                  <a:lnTo>
                    <a:pt x="58758" y="11258"/>
                  </a:lnTo>
                  <a:lnTo>
                    <a:pt x="58758" y="3289"/>
                  </a:lnTo>
                  <a:lnTo>
                    <a:pt x="55625" y="0"/>
                  </a:lnTo>
                  <a:close/>
                </a:path>
                <a:path w="179704" h="14604">
                  <a:moveTo>
                    <a:pt x="114383" y="0"/>
                  </a:moveTo>
                  <a:lnTo>
                    <a:pt x="106353" y="0"/>
                  </a:lnTo>
                  <a:lnTo>
                    <a:pt x="103023" y="3289"/>
                  </a:lnTo>
                  <a:lnTo>
                    <a:pt x="103023" y="11258"/>
                  </a:lnTo>
                  <a:lnTo>
                    <a:pt x="106353" y="14547"/>
                  </a:lnTo>
                  <a:lnTo>
                    <a:pt x="114383" y="14547"/>
                  </a:lnTo>
                  <a:lnTo>
                    <a:pt x="117713" y="11258"/>
                  </a:lnTo>
                  <a:lnTo>
                    <a:pt x="117713" y="3289"/>
                  </a:lnTo>
                  <a:lnTo>
                    <a:pt x="114383" y="0"/>
                  </a:lnTo>
                  <a:close/>
                </a:path>
                <a:path w="179704" h="14604">
                  <a:moveTo>
                    <a:pt x="176472" y="0"/>
                  </a:moveTo>
                  <a:lnTo>
                    <a:pt x="165112" y="0"/>
                  </a:lnTo>
                  <a:lnTo>
                    <a:pt x="161782" y="3289"/>
                  </a:lnTo>
                  <a:lnTo>
                    <a:pt x="161782" y="11258"/>
                  </a:lnTo>
                  <a:lnTo>
                    <a:pt x="165112" y="14547"/>
                  </a:lnTo>
                  <a:lnTo>
                    <a:pt x="176472" y="14547"/>
                  </a:lnTo>
                  <a:lnTo>
                    <a:pt x="179214" y="11258"/>
                  </a:lnTo>
                  <a:lnTo>
                    <a:pt x="179214" y="3289"/>
                  </a:lnTo>
                  <a:lnTo>
                    <a:pt x="176472" y="0"/>
                  </a:lnTo>
                  <a:close/>
                </a:path>
              </a:pathLst>
            </a:custGeom>
            <a:solidFill>
              <a:srgbClr val="000000"/>
            </a:solidFill>
          </p:spPr>
          <p:txBody>
            <a:bodyPr wrap="square" lIns="0" tIns="0" rIns="0" bIns="0" rtlCol="0"/>
            <a:lstStyle/>
            <a:p/>
          </p:txBody>
        </p:sp>
        <p:sp>
          <p:nvSpPr>
            <p:cNvPr id="113" name="object 113" descr=""/>
            <p:cNvSpPr/>
            <p:nvPr/>
          </p:nvSpPr>
          <p:spPr>
            <a:xfrm>
              <a:off x="5696801" y="4715889"/>
              <a:ext cx="179705" cy="14604"/>
            </a:xfrm>
            <a:custGeom>
              <a:avLst/>
              <a:gdLst/>
              <a:ahLst/>
              <a:cxnLst/>
              <a:rect l="l" t="t" r="r" b="b"/>
              <a:pathLst>
                <a:path w="179704" h="14604">
                  <a:moveTo>
                    <a:pt x="7638" y="0"/>
                  </a:moveTo>
                  <a:lnTo>
                    <a:pt x="51316" y="0"/>
                  </a:lnTo>
                  <a:lnTo>
                    <a:pt x="55625" y="0"/>
                  </a:lnTo>
                  <a:lnTo>
                    <a:pt x="58758" y="3289"/>
                  </a:lnTo>
                  <a:lnTo>
                    <a:pt x="58758" y="7029"/>
                  </a:lnTo>
                  <a:lnTo>
                    <a:pt x="58758" y="11258"/>
                  </a:lnTo>
                  <a:lnTo>
                    <a:pt x="55625" y="14547"/>
                  </a:lnTo>
                  <a:lnTo>
                    <a:pt x="51316" y="14547"/>
                  </a:lnTo>
                  <a:lnTo>
                    <a:pt x="7638" y="14547"/>
                  </a:lnTo>
                  <a:lnTo>
                    <a:pt x="3329" y="14547"/>
                  </a:lnTo>
                  <a:lnTo>
                    <a:pt x="0" y="11258"/>
                  </a:lnTo>
                  <a:lnTo>
                    <a:pt x="0" y="7029"/>
                  </a:lnTo>
                  <a:lnTo>
                    <a:pt x="0" y="3289"/>
                  </a:lnTo>
                  <a:lnTo>
                    <a:pt x="3329" y="0"/>
                  </a:lnTo>
                  <a:lnTo>
                    <a:pt x="7638" y="0"/>
                  </a:lnTo>
                  <a:close/>
                </a:path>
                <a:path w="179704" h="14604">
                  <a:moveTo>
                    <a:pt x="110074" y="0"/>
                  </a:moveTo>
                  <a:lnTo>
                    <a:pt x="110662" y="0"/>
                  </a:lnTo>
                  <a:lnTo>
                    <a:pt x="114383" y="0"/>
                  </a:lnTo>
                  <a:lnTo>
                    <a:pt x="117713" y="3289"/>
                  </a:lnTo>
                  <a:lnTo>
                    <a:pt x="117713" y="7029"/>
                  </a:lnTo>
                  <a:lnTo>
                    <a:pt x="117713" y="11258"/>
                  </a:lnTo>
                  <a:lnTo>
                    <a:pt x="114383" y="14547"/>
                  </a:lnTo>
                  <a:lnTo>
                    <a:pt x="110662" y="14547"/>
                  </a:lnTo>
                  <a:lnTo>
                    <a:pt x="110074" y="14547"/>
                  </a:lnTo>
                  <a:lnTo>
                    <a:pt x="106353" y="14547"/>
                  </a:lnTo>
                  <a:lnTo>
                    <a:pt x="103023" y="11258"/>
                  </a:lnTo>
                  <a:lnTo>
                    <a:pt x="103023" y="7029"/>
                  </a:lnTo>
                  <a:lnTo>
                    <a:pt x="103023" y="3289"/>
                  </a:lnTo>
                  <a:lnTo>
                    <a:pt x="106353" y="0"/>
                  </a:lnTo>
                  <a:lnTo>
                    <a:pt x="110074" y="0"/>
                  </a:lnTo>
                  <a:close/>
                </a:path>
                <a:path w="179704" h="14604">
                  <a:moveTo>
                    <a:pt x="169421" y="0"/>
                  </a:moveTo>
                  <a:lnTo>
                    <a:pt x="172163" y="0"/>
                  </a:lnTo>
                  <a:lnTo>
                    <a:pt x="176472" y="0"/>
                  </a:lnTo>
                  <a:lnTo>
                    <a:pt x="179214" y="3289"/>
                  </a:lnTo>
                  <a:lnTo>
                    <a:pt x="179214" y="7029"/>
                  </a:lnTo>
                  <a:lnTo>
                    <a:pt x="179214" y="11258"/>
                  </a:lnTo>
                  <a:lnTo>
                    <a:pt x="176472" y="14547"/>
                  </a:lnTo>
                  <a:lnTo>
                    <a:pt x="172163" y="14547"/>
                  </a:lnTo>
                  <a:lnTo>
                    <a:pt x="169421" y="14547"/>
                  </a:lnTo>
                  <a:lnTo>
                    <a:pt x="165112" y="14547"/>
                  </a:lnTo>
                  <a:lnTo>
                    <a:pt x="161782" y="11258"/>
                  </a:lnTo>
                  <a:lnTo>
                    <a:pt x="161782" y="7029"/>
                  </a:lnTo>
                  <a:lnTo>
                    <a:pt x="161782" y="3289"/>
                  </a:lnTo>
                  <a:lnTo>
                    <a:pt x="165112" y="0"/>
                  </a:lnTo>
                  <a:lnTo>
                    <a:pt x="169421" y="0"/>
                  </a:lnTo>
                  <a:close/>
                </a:path>
              </a:pathLst>
            </a:custGeom>
            <a:ln w="3175">
              <a:solidFill>
                <a:srgbClr val="000000"/>
              </a:solidFill>
            </a:ln>
          </p:spPr>
          <p:txBody>
            <a:bodyPr wrap="square" lIns="0" tIns="0" rIns="0" bIns="0" rtlCol="0"/>
            <a:lstStyle/>
            <a:p/>
          </p:txBody>
        </p:sp>
        <p:sp>
          <p:nvSpPr>
            <p:cNvPr id="114" name="object 114" descr=""/>
            <p:cNvSpPr/>
            <p:nvPr/>
          </p:nvSpPr>
          <p:spPr>
            <a:xfrm>
              <a:off x="5861522" y="3967982"/>
              <a:ext cx="14604" cy="762635"/>
            </a:xfrm>
            <a:custGeom>
              <a:avLst/>
              <a:gdLst/>
              <a:ahLst/>
              <a:cxnLst/>
              <a:rect l="l" t="t" r="r" b="b"/>
              <a:pathLst>
                <a:path w="14604" h="762635">
                  <a:moveTo>
                    <a:pt x="11751" y="703793"/>
                  </a:moveTo>
                  <a:lnTo>
                    <a:pt x="3133" y="703793"/>
                  </a:lnTo>
                  <a:lnTo>
                    <a:pt x="0" y="707083"/>
                  </a:lnTo>
                  <a:lnTo>
                    <a:pt x="0" y="759165"/>
                  </a:lnTo>
                  <a:lnTo>
                    <a:pt x="3133" y="762454"/>
                  </a:lnTo>
                  <a:lnTo>
                    <a:pt x="11751" y="762454"/>
                  </a:lnTo>
                  <a:lnTo>
                    <a:pt x="14493" y="759165"/>
                  </a:lnTo>
                  <a:lnTo>
                    <a:pt x="14493" y="707083"/>
                  </a:lnTo>
                  <a:lnTo>
                    <a:pt x="11751" y="703793"/>
                  </a:lnTo>
                  <a:close/>
                </a:path>
                <a:path w="14604" h="762635">
                  <a:moveTo>
                    <a:pt x="11751" y="645132"/>
                  </a:moveTo>
                  <a:lnTo>
                    <a:pt x="3133" y="645132"/>
                  </a:lnTo>
                  <a:lnTo>
                    <a:pt x="0" y="648422"/>
                  </a:lnTo>
                  <a:lnTo>
                    <a:pt x="0" y="656391"/>
                  </a:lnTo>
                  <a:lnTo>
                    <a:pt x="3133" y="659680"/>
                  </a:lnTo>
                  <a:lnTo>
                    <a:pt x="11751" y="659680"/>
                  </a:lnTo>
                  <a:lnTo>
                    <a:pt x="14493" y="656391"/>
                  </a:lnTo>
                  <a:lnTo>
                    <a:pt x="14493" y="648422"/>
                  </a:lnTo>
                  <a:lnTo>
                    <a:pt x="11751" y="645132"/>
                  </a:lnTo>
                  <a:close/>
                </a:path>
                <a:path w="14604" h="762635">
                  <a:moveTo>
                    <a:pt x="11751" y="542378"/>
                  </a:moveTo>
                  <a:lnTo>
                    <a:pt x="3133" y="542378"/>
                  </a:lnTo>
                  <a:lnTo>
                    <a:pt x="0" y="545667"/>
                  </a:lnTo>
                  <a:lnTo>
                    <a:pt x="0" y="597750"/>
                  </a:lnTo>
                  <a:lnTo>
                    <a:pt x="3133" y="601039"/>
                  </a:lnTo>
                  <a:lnTo>
                    <a:pt x="11751" y="601039"/>
                  </a:lnTo>
                  <a:lnTo>
                    <a:pt x="14493" y="597750"/>
                  </a:lnTo>
                  <a:lnTo>
                    <a:pt x="14493" y="545667"/>
                  </a:lnTo>
                  <a:lnTo>
                    <a:pt x="11751" y="542378"/>
                  </a:lnTo>
                  <a:close/>
                </a:path>
                <a:path w="14604" h="762635">
                  <a:moveTo>
                    <a:pt x="11751" y="483717"/>
                  </a:moveTo>
                  <a:lnTo>
                    <a:pt x="3133" y="483717"/>
                  </a:lnTo>
                  <a:lnTo>
                    <a:pt x="0" y="487006"/>
                  </a:lnTo>
                  <a:lnTo>
                    <a:pt x="0" y="494975"/>
                  </a:lnTo>
                  <a:lnTo>
                    <a:pt x="3133" y="498265"/>
                  </a:lnTo>
                  <a:lnTo>
                    <a:pt x="11751" y="498265"/>
                  </a:lnTo>
                  <a:lnTo>
                    <a:pt x="14493" y="494975"/>
                  </a:lnTo>
                  <a:lnTo>
                    <a:pt x="14493" y="487006"/>
                  </a:lnTo>
                  <a:lnTo>
                    <a:pt x="11751" y="483717"/>
                  </a:lnTo>
                  <a:close/>
                </a:path>
                <a:path w="14604" h="762635">
                  <a:moveTo>
                    <a:pt x="11751" y="380963"/>
                  </a:moveTo>
                  <a:lnTo>
                    <a:pt x="3133" y="380963"/>
                  </a:lnTo>
                  <a:lnTo>
                    <a:pt x="0" y="384232"/>
                  </a:lnTo>
                  <a:lnTo>
                    <a:pt x="0" y="436334"/>
                  </a:lnTo>
                  <a:lnTo>
                    <a:pt x="3133" y="439604"/>
                  </a:lnTo>
                  <a:lnTo>
                    <a:pt x="11751" y="439604"/>
                  </a:lnTo>
                  <a:lnTo>
                    <a:pt x="14493" y="436334"/>
                  </a:lnTo>
                  <a:lnTo>
                    <a:pt x="14493" y="384232"/>
                  </a:lnTo>
                  <a:lnTo>
                    <a:pt x="11751" y="380963"/>
                  </a:lnTo>
                  <a:close/>
                </a:path>
                <a:path w="14604" h="762635">
                  <a:moveTo>
                    <a:pt x="11751" y="322302"/>
                  </a:moveTo>
                  <a:lnTo>
                    <a:pt x="3133" y="322302"/>
                  </a:lnTo>
                  <a:lnTo>
                    <a:pt x="0" y="325591"/>
                  </a:lnTo>
                  <a:lnTo>
                    <a:pt x="0" y="334030"/>
                  </a:lnTo>
                  <a:lnTo>
                    <a:pt x="3133" y="337319"/>
                  </a:lnTo>
                  <a:lnTo>
                    <a:pt x="11751" y="337319"/>
                  </a:lnTo>
                  <a:lnTo>
                    <a:pt x="14493" y="334030"/>
                  </a:lnTo>
                  <a:lnTo>
                    <a:pt x="14493" y="325591"/>
                  </a:lnTo>
                  <a:lnTo>
                    <a:pt x="11751" y="322302"/>
                  </a:lnTo>
                  <a:close/>
                </a:path>
                <a:path w="14604" h="762635">
                  <a:moveTo>
                    <a:pt x="11751" y="219528"/>
                  </a:moveTo>
                  <a:lnTo>
                    <a:pt x="3133" y="219528"/>
                  </a:lnTo>
                  <a:lnTo>
                    <a:pt x="0" y="223287"/>
                  </a:lnTo>
                  <a:lnTo>
                    <a:pt x="0" y="275369"/>
                  </a:lnTo>
                  <a:lnTo>
                    <a:pt x="3133" y="278189"/>
                  </a:lnTo>
                  <a:lnTo>
                    <a:pt x="11751" y="278189"/>
                  </a:lnTo>
                  <a:lnTo>
                    <a:pt x="14493" y="275369"/>
                  </a:lnTo>
                  <a:lnTo>
                    <a:pt x="14493" y="223287"/>
                  </a:lnTo>
                  <a:lnTo>
                    <a:pt x="11751" y="219528"/>
                  </a:lnTo>
                  <a:close/>
                </a:path>
                <a:path w="14604" h="762635">
                  <a:moveTo>
                    <a:pt x="11751" y="160886"/>
                  </a:moveTo>
                  <a:lnTo>
                    <a:pt x="3133" y="160886"/>
                  </a:lnTo>
                  <a:lnTo>
                    <a:pt x="0" y="164156"/>
                  </a:lnTo>
                  <a:lnTo>
                    <a:pt x="0" y="172615"/>
                  </a:lnTo>
                  <a:lnTo>
                    <a:pt x="3133" y="175904"/>
                  </a:lnTo>
                  <a:lnTo>
                    <a:pt x="11751" y="175904"/>
                  </a:lnTo>
                  <a:lnTo>
                    <a:pt x="14493" y="172615"/>
                  </a:lnTo>
                  <a:lnTo>
                    <a:pt x="14493" y="164156"/>
                  </a:lnTo>
                  <a:lnTo>
                    <a:pt x="11751" y="160886"/>
                  </a:lnTo>
                  <a:close/>
                </a:path>
                <a:path w="14604" h="762635">
                  <a:moveTo>
                    <a:pt x="11751" y="58582"/>
                  </a:moveTo>
                  <a:lnTo>
                    <a:pt x="3133" y="58582"/>
                  </a:lnTo>
                  <a:lnTo>
                    <a:pt x="0" y="61402"/>
                  </a:lnTo>
                  <a:lnTo>
                    <a:pt x="0" y="113954"/>
                  </a:lnTo>
                  <a:lnTo>
                    <a:pt x="3133" y="117243"/>
                  </a:lnTo>
                  <a:lnTo>
                    <a:pt x="11751" y="117243"/>
                  </a:lnTo>
                  <a:lnTo>
                    <a:pt x="14493" y="113954"/>
                  </a:lnTo>
                  <a:lnTo>
                    <a:pt x="14493" y="61402"/>
                  </a:lnTo>
                  <a:lnTo>
                    <a:pt x="11751" y="58582"/>
                  </a:lnTo>
                  <a:close/>
                </a:path>
                <a:path w="14604" h="762635">
                  <a:moveTo>
                    <a:pt x="11751" y="0"/>
                  </a:moveTo>
                  <a:lnTo>
                    <a:pt x="3133" y="0"/>
                  </a:lnTo>
                  <a:lnTo>
                    <a:pt x="0" y="2741"/>
                  </a:lnTo>
                  <a:lnTo>
                    <a:pt x="0" y="11160"/>
                  </a:lnTo>
                  <a:lnTo>
                    <a:pt x="3133" y="14489"/>
                  </a:lnTo>
                  <a:lnTo>
                    <a:pt x="11751" y="14489"/>
                  </a:lnTo>
                  <a:lnTo>
                    <a:pt x="14493" y="11160"/>
                  </a:lnTo>
                  <a:lnTo>
                    <a:pt x="14493" y="2741"/>
                  </a:lnTo>
                  <a:lnTo>
                    <a:pt x="11751" y="0"/>
                  </a:lnTo>
                  <a:close/>
                </a:path>
              </a:pathLst>
            </a:custGeom>
            <a:solidFill>
              <a:srgbClr val="000000"/>
            </a:solidFill>
          </p:spPr>
          <p:txBody>
            <a:bodyPr wrap="square" lIns="0" tIns="0" rIns="0" bIns="0" rtlCol="0"/>
            <a:lstStyle/>
            <a:p/>
          </p:txBody>
        </p:sp>
        <p:sp>
          <p:nvSpPr>
            <p:cNvPr id="115" name="object 115" descr=""/>
            <p:cNvSpPr/>
            <p:nvPr/>
          </p:nvSpPr>
          <p:spPr>
            <a:xfrm>
              <a:off x="5861522" y="3967982"/>
              <a:ext cx="14604" cy="762635"/>
            </a:xfrm>
            <a:custGeom>
              <a:avLst/>
              <a:gdLst/>
              <a:ahLst/>
              <a:cxnLst/>
              <a:rect l="l" t="t" r="r" b="b"/>
              <a:pathLst>
                <a:path w="14604" h="762635">
                  <a:moveTo>
                    <a:pt x="0" y="754936"/>
                  </a:moveTo>
                  <a:lnTo>
                    <a:pt x="0" y="711292"/>
                  </a:lnTo>
                  <a:lnTo>
                    <a:pt x="0" y="707083"/>
                  </a:lnTo>
                  <a:lnTo>
                    <a:pt x="3133" y="703793"/>
                  </a:lnTo>
                  <a:lnTo>
                    <a:pt x="14493" y="754936"/>
                  </a:lnTo>
                  <a:lnTo>
                    <a:pt x="14493" y="759165"/>
                  </a:lnTo>
                  <a:lnTo>
                    <a:pt x="11751" y="762454"/>
                  </a:lnTo>
                  <a:lnTo>
                    <a:pt x="7442" y="762454"/>
                  </a:lnTo>
                  <a:lnTo>
                    <a:pt x="3133" y="762454"/>
                  </a:lnTo>
                  <a:lnTo>
                    <a:pt x="0" y="759165"/>
                  </a:lnTo>
                  <a:lnTo>
                    <a:pt x="0" y="754936"/>
                  </a:lnTo>
                  <a:close/>
                </a:path>
                <a:path w="14604" h="762635">
                  <a:moveTo>
                    <a:pt x="0" y="652651"/>
                  </a:moveTo>
                  <a:lnTo>
                    <a:pt x="0" y="648422"/>
                  </a:lnTo>
                  <a:lnTo>
                    <a:pt x="3133" y="645133"/>
                  </a:lnTo>
                  <a:lnTo>
                    <a:pt x="7442" y="645133"/>
                  </a:lnTo>
                  <a:lnTo>
                    <a:pt x="11751" y="645133"/>
                  </a:lnTo>
                  <a:lnTo>
                    <a:pt x="14493" y="648422"/>
                  </a:lnTo>
                  <a:lnTo>
                    <a:pt x="14493" y="652651"/>
                  </a:lnTo>
                  <a:lnTo>
                    <a:pt x="14493" y="656391"/>
                  </a:lnTo>
                  <a:lnTo>
                    <a:pt x="11751" y="659680"/>
                  </a:lnTo>
                  <a:lnTo>
                    <a:pt x="7442" y="659680"/>
                  </a:lnTo>
                  <a:lnTo>
                    <a:pt x="3133" y="659680"/>
                  </a:lnTo>
                  <a:lnTo>
                    <a:pt x="0" y="656391"/>
                  </a:lnTo>
                  <a:lnTo>
                    <a:pt x="0" y="652651"/>
                  </a:lnTo>
                  <a:close/>
                </a:path>
                <a:path w="14604" h="762635">
                  <a:moveTo>
                    <a:pt x="0" y="593990"/>
                  </a:moveTo>
                  <a:lnTo>
                    <a:pt x="0" y="549877"/>
                  </a:lnTo>
                  <a:lnTo>
                    <a:pt x="0" y="545667"/>
                  </a:lnTo>
                  <a:lnTo>
                    <a:pt x="3133" y="542378"/>
                  </a:lnTo>
                  <a:lnTo>
                    <a:pt x="7442" y="542378"/>
                  </a:lnTo>
                  <a:lnTo>
                    <a:pt x="11751" y="542378"/>
                  </a:lnTo>
                  <a:lnTo>
                    <a:pt x="14493" y="545667"/>
                  </a:lnTo>
                  <a:lnTo>
                    <a:pt x="14493" y="549877"/>
                  </a:lnTo>
                  <a:lnTo>
                    <a:pt x="14493" y="593990"/>
                  </a:lnTo>
                  <a:lnTo>
                    <a:pt x="14493" y="597750"/>
                  </a:lnTo>
                  <a:lnTo>
                    <a:pt x="11751" y="601039"/>
                  </a:lnTo>
                  <a:lnTo>
                    <a:pt x="7442" y="601039"/>
                  </a:lnTo>
                  <a:lnTo>
                    <a:pt x="3133" y="601039"/>
                  </a:lnTo>
                  <a:lnTo>
                    <a:pt x="0" y="597750"/>
                  </a:lnTo>
                  <a:lnTo>
                    <a:pt x="0" y="593990"/>
                  </a:lnTo>
                  <a:close/>
                </a:path>
                <a:path w="14604" h="762635">
                  <a:moveTo>
                    <a:pt x="0" y="491236"/>
                  </a:moveTo>
                  <a:lnTo>
                    <a:pt x="0" y="487006"/>
                  </a:lnTo>
                  <a:lnTo>
                    <a:pt x="3133" y="483717"/>
                  </a:lnTo>
                  <a:lnTo>
                    <a:pt x="7442" y="483717"/>
                  </a:lnTo>
                  <a:lnTo>
                    <a:pt x="11751" y="483717"/>
                  </a:lnTo>
                  <a:lnTo>
                    <a:pt x="14493" y="487006"/>
                  </a:lnTo>
                  <a:lnTo>
                    <a:pt x="14493" y="491236"/>
                  </a:lnTo>
                  <a:lnTo>
                    <a:pt x="14493" y="494975"/>
                  </a:lnTo>
                  <a:lnTo>
                    <a:pt x="11751" y="498265"/>
                  </a:lnTo>
                  <a:lnTo>
                    <a:pt x="7442" y="498265"/>
                  </a:lnTo>
                  <a:lnTo>
                    <a:pt x="3133" y="498265"/>
                  </a:lnTo>
                  <a:lnTo>
                    <a:pt x="0" y="494975"/>
                  </a:lnTo>
                  <a:lnTo>
                    <a:pt x="0" y="491236"/>
                  </a:lnTo>
                  <a:close/>
                </a:path>
                <a:path w="14604" h="762635">
                  <a:moveTo>
                    <a:pt x="0" y="432575"/>
                  </a:moveTo>
                  <a:lnTo>
                    <a:pt x="0" y="388462"/>
                  </a:lnTo>
                  <a:lnTo>
                    <a:pt x="0" y="384232"/>
                  </a:lnTo>
                  <a:lnTo>
                    <a:pt x="3133" y="380963"/>
                  </a:lnTo>
                  <a:lnTo>
                    <a:pt x="7442" y="380963"/>
                  </a:lnTo>
                  <a:lnTo>
                    <a:pt x="11751" y="380963"/>
                  </a:lnTo>
                  <a:lnTo>
                    <a:pt x="14493" y="384232"/>
                  </a:lnTo>
                  <a:lnTo>
                    <a:pt x="14493" y="388462"/>
                  </a:lnTo>
                  <a:lnTo>
                    <a:pt x="14493" y="432575"/>
                  </a:lnTo>
                  <a:lnTo>
                    <a:pt x="14493" y="436334"/>
                  </a:lnTo>
                  <a:lnTo>
                    <a:pt x="11751" y="439604"/>
                  </a:lnTo>
                  <a:lnTo>
                    <a:pt x="7442" y="439604"/>
                  </a:lnTo>
                  <a:lnTo>
                    <a:pt x="3133" y="439604"/>
                  </a:lnTo>
                  <a:lnTo>
                    <a:pt x="0" y="436334"/>
                  </a:lnTo>
                  <a:lnTo>
                    <a:pt x="0" y="432575"/>
                  </a:lnTo>
                  <a:close/>
                </a:path>
                <a:path w="14604" h="762635">
                  <a:moveTo>
                    <a:pt x="0" y="329801"/>
                  </a:moveTo>
                  <a:lnTo>
                    <a:pt x="0" y="325591"/>
                  </a:lnTo>
                  <a:lnTo>
                    <a:pt x="3133" y="322302"/>
                  </a:lnTo>
                  <a:lnTo>
                    <a:pt x="7442" y="322302"/>
                  </a:lnTo>
                  <a:lnTo>
                    <a:pt x="11751" y="322302"/>
                  </a:lnTo>
                  <a:lnTo>
                    <a:pt x="14493" y="325591"/>
                  </a:lnTo>
                  <a:lnTo>
                    <a:pt x="14493" y="329801"/>
                  </a:lnTo>
                  <a:lnTo>
                    <a:pt x="14493" y="334030"/>
                  </a:lnTo>
                  <a:lnTo>
                    <a:pt x="11751" y="337319"/>
                  </a:lnTo>
                  <a:lnTo>
                    <a:pt x="7442" y="337319"/>
                  </a:lnTo>
                  <a:lnTo>
                    <a:pt x="3133" y="337319"/>
                  </a:lnTo>
                  <a:lnTo>
                    <a:pt x="0" y="334030"/>
                  </a:lnTo>
                  <a:lnTo>
                    <a:pt x="0" y="329801"/>
                  </a:lnTo>
                  <a:close/>
                </a:path>
                <a:path w="14604" h="762635">
                  <a:moveTo>
                    <a:pt x="0" y="271159"/>
                  </a:moveTo>
                  <a:lnTo>
                    <a:pt x="0" y="227046"/>
                  </a:lnTo>
                  <a:lnTo>
                    <a:pt x="0" y="223287"/>
                  </a:lnTo>
                  <a:lnTo>
                    <a:pt x="3133" y="219528"/>
                  </a:lnTo>
                  <a:lnTo>
                    <a:pt x="7442" y="219528"/>
                  </a:lnTo>
                  <a:lnTo>
                    <a:pt x="11751" y="219528"/>
                  </a:lnTo>
                  <a:lnTo>
                    <a:pt x="14493" y="223287"/>
                  </a:lnTo>
                  <a:lnTo>
                    <a:pt x="14493" y="227046"/>
                  </a:lnTo>
                  <a:lnTo>
                    <a:pt x="14493" y="271159"/>
                  </a:lnTo>
                  <a:lnTo>
                    <a:pt x="14493" y="275369"/>
                  </a:lnTo>
                  <a:lnTo>
                    <a:pt x="11751" y="278189"/>
                  </a:lnTo>
                  <a:lnTo>
                    <a:pt x="7442" y="278189"/>
                  </a:lnTo>
                  <a:lnTo>
                    <a:pt x="3133" y="278189"/>
                  </a:lnTo>
                  <a:lnTo>
                    <a:pt x="0" y="275369"/>
                  </a:lnTo>
                  <a:lnTo>
                    <a:pt x="0" y="271159"/>
                  </a:lnTo>
                  <a:close/>
                </a:path>
                <a:path w="14604" h="762635">
                  <a:moveTo>
                    <a:pt x="0" y="168385"/>
                  </a:moveTo>
                  <a:lnTo>
                    <a:pt x="0" y="164156"/>
                  </a:lnTo>
                  <a:lnTo>
                    <a:pt x="3133" y="160886"/>
                  </a:lnTo>
                  <a:lnTo>
                    <a:pt x="7442" y="160886"/>
                  </a:lnTo>
                  <a:lnTo>
                    <a:pt x="11751" y="160886"/>
                  </a:lnTo>
                  <a:lnTo>
                    <a:pt x="14493" y="164156"/>
                  </a:lnTo>
                  <a:lnTo>
                    <a:pt x="14493" y="168385"/>
                  </a:lnTo>
                  <a:lnTo>
                    <a:pt x="14493" y="172615"/>
                  </a:lnTo>
                  <a:lnTo>
                    <a:pt x="11751" y="175904"/>
                  </a:lnTo>
                  <a:lnTo>
                    <a:pt x="7442" y="175904"/>
                  </a:lnTo>
                  <a:lnTo>
                    <a:pt x="3133" y="175904"/>
                  </a:lnTo>
                  <a:lnTo>
                    <a:pt x="0" y="172615"/>
                  </a:lnTo>
                  <a:lnTo>
                    <a:pt x="0" y="168385"/>
                  </a:lnTo>
                  <a:close/>
                </a:path>
                <a:path w="14604" h="762635">
                  <a:moveTo>
                    <a:pt x="0" y="109724"/>
                  </a:moveTo>
                  <a:lnTo>
                    <a:pt x="0" y="65631"/>
                  </a:lnTo>
                  <a:lnTo>
                    <a:pt x="0" y="61402"/>
                  </a:lnTo>
                  <a:lnTo>
                    <a:pt x="3133" y="58582"/>
                  </a:lnTo>
                  <a:lnTo>
                    <a:pt x="7442" y="58582"/>
                  </a:lnTo>
                  <a:lnTo>
                    <a:pt x="11751" y="58582"/>
                  </a:lnTo>
                  <a:lnTo>
                    <a:pt x="14493" y="61402"/>
                  </a:lnTo>
                  <a:lnTo>
                    <a:pt x="14493" y="65631"/>
                  </a:lnTo>
                  <a:lnTo>
                    <a:pt x="14493" y="109724"/>
                  </a:lnTo>
                  <a:lnTo>
                    <a:pt x="14493" y="113954"/>
                  </a:lnTo>
                  <a:lnTo>
                    <a:pt x="11751" y="117243"/>
                  </a:lnTo>
                  <a:lnTo>
                    <a:pt x="7442" y="117243"/>
                  </a:lnTo>
                  <a:lnTo>
                    <a:pt x="3133" y="117243"/>
                  </a:lnTo>
                  <a:lnTo>
                    <a:pt x="0" y="113954"/>
                  </a:lnTo>
                  <a:lnTo>
                    <a:pt x="0" y="109724"/>
                  </a:lnTo>
                  <a:close/>
                </a:path>
                <a:path w="14604" h="762635">
                  <a:moveTo>
                    <a:pt x="0" y="7048"/>
                  </a:moveTo>
                  <a:lnTo>
                    <a:pt x="0" y="2741"/>
                  </a:lnTo>
                  <a:lnTo>
                    <a:pt x="3133" y="0"/>
                  </a:lnTo>
                  <a:lnTo>
                    <a:pt x="7442" y="0"/>
                  </a:lnTo>
                  <a:lnTo>
                    <a:pt x="11751" y="0"/>
                  </a:lnTo>
                  <a:lnTo>
                    <a:pt x="14493" y="2741"/>
                  </a:lnTo>
                  <a:lnTo>
                    <a:pt x="14493" y="7048"/>
                  </a:lnTo>
                  <a:lnTo>
                    <a:pt x="14493" y="11160"/>
                  </a:lnTo>
                  <a:lnTo>
                    <a:pt x="11751" y="14489"/>
                  </a:lnTo>
                  <a:lnTo>
                    <a:pt x="7442" y="14489"/>
                  </a:lnTo>
                  <a:lnTo>
                    <a:pt x="3133" y="14489"/>
                  </a:lnTo>
                  <a:lnTo>
                    <a:pt x="0" y="11160"/>
                  </a:lnTo>
                  <a:lnTo>
                    <a:pt x="0" y="7048"/>
                  </a:lnTo>
                  <a:close/>
                </a:path>
              </a:pathLst>
            </a:custGeom>
            <a:ln w="3175">
              <a:solidFill>
                <a:srgbClr val="000000"/>
              </a:solidFill>
            </a:ln>
          </p:spPr>
          <p:txBody>
            <a:bodyPr wrap="square" lIns="0" tIns="0" rIns="0" bIns="0" rtlCol="0"/>
            <a:lstStyle/>
            <a:p/>
          </p:txBody>
        </p:sp>
        <p:pic>
          <p:nvPicPr>
            <p:cNvPr id="116" name="object 116" descr=""/>
            <p:cNvPicPr/>
            <p:nvPr/>
          </p:nvPicPr>
          <p:blipFill>
            <a:blip r:embed="rId4" cstate="print"/>
            <a:stretch>
              <a:fillRect/>
            </a:stretch>
          </p:blipFill>
          <p:spPr>
            <a:xfrm>
              <a:off x="5860151" y="2439196"/>
              <a:ext cx="3230756" cy="1504703"/>
            </a:xfrm>
            <a:prstGeom prst="rect">
              <a:avLst/>
            </a:prstGeom>
          </p:spPr>
        </p:pic>
        <p:sp>
          <p:nvSpPr>
            <p:cNvPr id="117" name="object 117" descr=""/>
            <p:cNvSpPr/>
            <p:nvPr/>
          </p:nvSpPr>
          <p:spPr>
            <a:xfrm>
              <a:off x="9030778" y="4594828"/>
              <a:ext cx="344170" cy="14604"/>
            </a:xfrm>
            <a:custGeom>
              <a:avLst/>
              <a:gdLst/>
              <a:ahLst/>
              <a:cxnLst/>
              <a:rect l="l" t="t" r="r" b="b"/>
              <a:pathLst>
                <a:path w="344170" h="14604">
                  <a:moveTo>
                    <a:pt x="56016" y="0"/>
                  </a:moveTo>
                  <a:lnTo>
                    <a:pt x="3721" y="0"/>
                  </a:lnTo>
                  <a:lnTo>
                    <a:pt x="0" y="2799"/>
                  </a:lnTo>
                  <a:lnTo>
                    <a:pt x="0" y="11258"/>
                  </a:lnTo>
                  <a:lnTo>
                    <a:pt x="3721" y="14547"/>
                  </a:lnTo>
                  <a:lnTo>
                    <a:pt x="56016" y="14547"/>
                  </a:lnTo>
                  <a:lnTo>
                    <a:pt x="58758" y="11258"/>
                  </a:lnTo>
                  <a:lnTo>
                    <a:pt x="58758" y="2799"/>
                  </a:lnTo>
                  <a:lnTo>
                    <a:pt x="56016" y="0"/>
                  </a:lnTo>
                  <a:close/>
                </a:path>
                <a:path w="344170" h="14604">
                  <a:moveTo>
                    <a:pt x="158453" y="0"/>
                  </a:moveTo>
                  <a:lnTo>
                    <a:pt x="106745" y="0"/>
                  </a:lnTo>
                  <a:lnTo>
                    <a:pt x="103023" y="2799"/>
                  </a:lnTo>
                  <a:lnTo>
                    <a:pt x="103023" y="11258"/>
                  </a:lnTo>
                  <a:lnTo>
                    <a:pt x="106745" y="14547"/>
                  </a:lnTo>
                  <a:lnTo>
                    <a:pt x="158453" y="14547"/>
                  </a:lnTo>
                  <a:lnTo>
                    <a:pt x="161782" y="11258"/>
                  </a:lnTo>
                  <a:lnTo>
                    <a:pt x="161782" y="2799"/>
                  </a:lnTo>
                  <a:lnTo>
                    <a:pt x="158453" y="0"/>
                  </a:lnTo>
                  <a:close/>
                </a:path>
                <a:path w="344170" h="14604">
                  <a:moveTo>
                    <a:pt x="261476" y="0"/>
                  </a:moveTo>
                  <a:lnTo>
                    <a:pt x="209769" y="0"/>
                  </a:lnTo>
                  <a:lnTo>
                    <a:pt x="205851" y="2799"/>
                  </a:lnTo>
                  <a:lnTo>
                    <a:pt x="205851" y="11258"/>
                  </a:lnTo>
                  <a:lnTo>
                    <a:pt x="209769" y="14547"/>
                  </a:lnTo>
                  <a:lnTo>
                    <a:pt x="261476" y="14547"/>
                  </a:lnTo>
                  <a:lnTo>
                    <a:pt x="264806" y="11258"/>
                  </a:lnTo>
                  <a:lnTo>
                    <a:pt x="264806" y="2799"/>
                  </a:lnTo>
                  <a:lnTo>
                    <a:pt x="261476" y="0"/>
                  </a:lnTo>
                  <a:close/>
                </a:path>
                <a:path w="344170" h="14604">
                  <a:moveTo>
                    <a:pt x="340997" y="0"/>
                  </a:moveTo>
                  <a:lnTo>
                    <a:pt x="312205" y="0"/>
                  </a:lnTo>
                  <a:lnTo>
                    <a:pt x="308875" y="2799"/>
                  </a:lnTo>
                  <a:lnTo>
                    <a:pt x="308875" y="11258"/>
                  </a:lnTo>
                  <a:lnTo>
                    <a:pt x="312205" y="14547"/>
                  </a:lnTo>
                  <a:lnTo>
                    <a:pt x="340997" y="14547"/>
                  </a:lnTo>
                  <a:lnTo>
                    <a:pt x="344130" y="11258"/>
                  </a:lnTo>
                  <a:lnTo>
                    <a:pt x="344130" y="2799"/>
                  </a:lnTo>
                  <a:lnTo>
                    <a:pt x="340997" y="0"/>
                  </a:lnTo>
                  <a:close/>
                </a:path>
              </a:pathLst>
            </a:custGeom>
            <a:solidFill>
              <a:srgbClr val="000000"/>
            </a:solidFill>
          </p:spPr>
          <p:txBody>
            <a:bodyPr wrap="square" lIns="0" tIns="0" rIns="0" bIns="0" rtlCol="0"/>
            <a:lstStyle/>
            <a:p/>
          </p:txBody>
        </p:sp>
        <p:sp>
          <p:nvSpPr>
            <p:cNvPr id="118" name="object 118" descr=""/>
            <p:cNvSpPr/>
            <p:nvPr/>
          </p:nvSpPr>
          <p:spPr>
            <a:xfrm>
              <a:off x="9030778" y="4594828"/>
              <a:ext cx="344170" cy="14604"/>
            </a:xfrm>
            <a:custGeom>
              <a:avLst/>
              <a:gdLst/>
              <a:ahLst/>
              <a:cxnLst/>
              <a:rect l="l" t="t" r="r" b="b"/>
              <a:pathLst>
                <a:path w="344170" h="14604">
                  <a:moveTo>
                    <a:pt x="7442" y="0"/>
                  </a:moveTo>
                  <a:lnTo>
                    <a:pt x="51707" y="0"/>
                  </a:lnTo>
                  <a:lnTo>
                    <a:pt x="56016" y="0"/>
                  </a:lnTo>
                  <a:lnTo>
                    <a:pt x="58758" y="2799"/>
                  </a:lnTo>
                  <a:lnTo>
                    <a:pt x="58758" y="7029"/>
                  </a:lnTo>
                  <a:lnTo>
                    <a:pt x="58758" y="11258"/>
                  </a:lnTo>
                  <a:lnTo>
                    <a:pt x="56016" y="14547"/>
                  </a:lnTo>
                  <a:lnTo>
                    <a:pt x="7442" y="14547"/>
                  </a:lnTo>
                  <a:lnTo>
                    <a:pt x="0" y="7029"/>
                  </a:lnTo>
                  <a:lnTo>
                    <a:pt x="0" y="2799"/>
                  </a:lnTo>
                  <a:lnTo>
                    <a:pt x="3721" y="0"/>
                  </a:lnTo>
                  <a:lnTo>
                    <a:pt x="7442" y="0"/>
                  </a:lnTo>
                  <a:close/>
                </a:path>
                <a:path w="344170" h="14604">
                  <a:moveTo>
                    <a:pt x="110466" y="0"/>
                  </a:moveTo>
                  <a:lnTo>
                    <a:pt x="154731" y="0"/>
                  </a:lnTo>
                  <a:lnTo>
                    <a:pt x="158453" y="0"/>
                  </a:lnTo>
                  <a:lnTo>
                    <a:pt x="161782" y="2799"/>
                  </a:lnTo>
                  <a:lnTo>
                    <a:pt x="161782" y="7029"/>
                  </a:lnTo>
                  <a:lnTo>
                    <a:pt x="161782" y="11258"/>
                  </a:lnTo>
                  <a:lnTo>
                    <a:pt x="158453" y="14547"/>
                  </a:lnTo>
                  <a:lnTo>
                    <a:pt x="154731" y="14547"/>
                  </a:lnTo>
                  <a:lnTo>
                    <a:pt x="110466" y="14547"/>
                  </a:lnTo>
                  <a:lnTo>
                    <a:pt x="106745" y="14547"/>
                  </a:lnTo>
                  <a:lnTo>
                    <a:pt x="103023" y="11258"/>
                  </a:lnTo>
                  <a:lnTo>
                    <a:pt x="103023" y="7029"/>
                  </a:lnTo>
                  <a:lnTo>
                    <a:pt x="103023" y="2799"/>
                  </a:lnTo>
                  <a:lnTo>
                    <a:pt x="106745" y="0"/>
                  </a:lnTo>
                  <a:lnTo>
                    <a:pt x="110466" y="0"/>
                  </a:lnTo>
                  <a:close/>
                </a:path>
                <a:path w="344170" h="14604">
                  <a:moveTo>
                    <a:pt x="213490" y="0"/>
                  </a:moveTo>
                  <a:lnTo>
                    <a:pt x="257167" y="0"/>
                  </a:lnTo>
                  <a:lnTo>
                    <a:pt x="261476" y="0"/>
                  </a:lnTo>
                  <a:lnTo>
                    <a:pt x="264806" y="2799"/>
                  </a:lnTo>
                  <a:lnTo>
                    <a:pt x="264806" y="7029"/>
                  </a:lnTo>
                  <a:lnTo>
                    <a:pt x="264806" y="11258"/>
                  </a:lnTo>
                  <a:lnTo>
                    <a:pt x="261476" y="14547"/>
                  </a:lnTo>
                  <a:lnTo>
                    <a:pt x="257167" y="14547"/>
                  </a:lnTo>
                  <a:lnTo>
                    <a:pt x="213490" y="14547"/>
                  </a:lnTo>
                  <a:lnTo>
                    <a:pt x="209769" y="14547"/>
                  </a:lnTo>
                  <a:lnTo>
                    <a:pt x="205851" y="11258"/>
                  </a:lnTo>
                  <a:lnTo>
                    <a:pt x="205851" y="7029"/>
                  </a:lnTo>
                  <a:lnTo>
                    <a:pt x="205851" y="2799"/>
                  </a:lnTo>
                  <a:lnTo>
                    <a:pt x="209769" y="0"/>
                  </a:lnTo>
                  <a:lnTo>
                    <a:pt x="213490" y="0"/>
                  </a:lnTo>
                  <a:close/>
                </a:path>
                <a:path w="344170" h="14604">
                  <a:moveTo>
                    <a:pt x="315926" y="0"/>
                  </a:moveTo>
                  <a:lnTo>
                    <a:pt x="336688" y="0"/>
                  </a:lnTo>
                  <a:lnTo>
                    <a:pt x="340997" y="0"/>
                  </a:lnTo>
                  <a:lnTo>
                    <a:pt x="344130" y="2799"/>
                  </a:lnTo>
                  <a:lnTo>
                    <a:pt x="344130" y="7029"/>
                  </a:lnTo>
                  <a:lnTo>
                    <a:pt x="344130" y="11258"/>
                  </a:lnTo>
                  <a:lnTo>
                    <a:pt x="340997" y="14547"/>
                  </a:lnTo>
                  <a:lnTo>
                    <a:pt x="336688" y="14547"/>
                  </a:lnTo>
                  <a:lnTo>
                    <a:pt x="315926" y="14547"/>
                  </a:lnTo>
                  <a:lnTo>
                    <a:pt x="312205" y="14547"/>
                  </a:lnTo>
                  <a:lnTo>
                    <a:pt x="308875" y="11258"/>
                  </a:lnTo>
                  <a:lnTo>
                    <a:pt x="308875" y="7029"/>
                  </a:lnTo>
                  <a:lnTo>
                    <a:pt x="308875" y="2799"/>
                  </a:lnTo>
                  <a:lnTo>
                    <a:pt x="312205" y="0"/>
                  </a:lnTo>
                  <a:lnTo>
                    <a:pt x="315926" y="0"/>
                  </a:lnTo>
                  <a:close/>
                </a:path>
              </a:pathLst>
            </a:custGeom>
            <a:ln w="3175">
              <a:solidFill>
                <a:srgbClr val="000000"/>
              </a:solidFill>
            </a:ln>
          </p:spPr>
          <p:txBody>
            <a:bodyPr wrap="square" lIns="0" tIns="0" rIns="0" bIns="0" rtlCol="0"/>
            <a:lstStyle/>
            <a:p/>
          </p:txBody>
        </p:sp>
        <p:sp>
          <p:nvSpPr>
            <p:cNvPr id="119" name="object 119" descr=""/>
            <p:cNvSpPr/>
            <p:nvPr/>
          </p:nvSpPr>
          <p:spPr>
            <a:xfrm>
              <a:off x="9360415" y="4594828"/>
              <a:ext cx="14604" cy="381635"/>
            </a:xfrm>
            <a:custGeom>
              <a:avLst/>
              <a:gdLst/>
              <a:ahLst/>
              <a:cxnLst/>
              <a:rect l="l" t="t" r="r" b="b"/>
              <a:pathLst>
                <a:path w="14604" h="381635">
                  <a:moveTo>
                    <a:pt x="11360" y="0"/>
                  </a:moveTo>
                  <a:lnTo>
                    <a:pt x="3329" y="0"/>
                  </a:lnTo>
                  <a:lnTo>
                    <a:pt x="0" y="2799"/>
                  </a:lnTo>
                  <a:lnTo>
                    <a:pt x="0" y="55371"/>
                  </a:lnTo>
                  <a:lnTo>
                    <a:pt x="3329" y="58641"/>
                  </a:lnTo>
                  <a:lnTo>
                    <a:pt x="11360" y="58641"/>
                  </a:lnTo>
                  <a:lnTo>
                    <a:pt x="14493" y="55371"/>
                  </a:lnTo>
                  <a:lnTo>
                    <a:pt x="14493" y="2799"/>
                  </a:lnTo>
                  <a:lnTo>
                    <a:pt x="11360" y="0"/>
                  </a:lnTo>
                  <a:close/>
                </a:path>
                <a:path w="14604" h="381635">
                  <a:moveTo>
                    <a:pt x="11360" y="102284"/>
                  </a:moveTo>
                  <a:lnTo>
                    <a:pt x="3329" y="102284"/>
                  </a:lnTo>
                  <a:lnTo>
                    <a:pt x="0" y="105573"/>
                  </a:lnTo>
                  <a:lnTo>
                    <a:pt x="0" y="114012"/>
                  </a:lnTo>
                  <a:lnTo>
                    <a:pt x="3329" y="117302"/>
                  </a:lnTo>
                  <a:lnTo>
                    <a:pt x="11360" y="117302"/>
                  </a:lnTo>
                  <a:lnTo>
                    <a:pt x="14493" y="114012"/>
                  </a:lnTo>
                  <a:lnTo>
                    <a:pt x="14493" y="105573"/>
                  </a:lnTo>
                  <a:lnTo>
                    <a:pt x="11360" y="102284"/>
                  </a:lnTo>
                  <a:close/>
                </a:path>
                <a:path w="14604" h="381635">
                  <a:moveTo>
                    <a:pt x="11360" y="160945"/>
                  </a:moveTo>
                  <a:lnTo>
                    <a:pt x="3329" y="160945"/>
                  </a:lnTo>
                  <a:lnTo>
                    <a:pt x="0" y="164234"/>
                  </a:lnTo>
                  <a:lnTo>
                    <a:pt x="0" y="216786"/>
                  </a:lnTo>
                  <a:lnTo>
                    <a:pt x="3329" y="219606"/>
                  </a:lnTo>
                  <a:lnTo>
                    <a:pt x="11360" y="219606"/>
                  </a:lnTo>
                  <a:lnTo>
                    <a:pt x="14493" y="216786"/>
                  </a:lnTo>
                  <a:lnTo>
                    <a:pt x="14493" y="164234"/>
                  </a:lnTo>
                  <a:lnTo>
                    <a:pt x="11360" y="160945"/>
                  </a:lnTo>
                  <a:close/>
                </a:path>
                <a:path w="14604" h="381635">
                  <a:moveTo>
                    <a:pt x="11360" y="263699"/>
                  </a:moveTo>
                  <a:lnTo>
                    <a:pt x="3329" y="263699"/>
                  </a:lnTo>
                  <a:lnTo>
                    <a:pt x="0" y="266989"/>
                  </a:lnTo>
                  <a:lnTo>
                    <a:pt x="0" y="275428"/>
                  </a:lnTo>
                  <a:lnTo>
                    <a:pt x="3329" y="278717"/>
                  </a:lnTo>
                  <a:lnTo>
                    <a:pt x="11360" y="278717"/>
                  </a:lnTo>
                  <a:lnTo>
                    <a:pt x="14493" y="275428"/>
                  </a:lnTo>
                  <a:lnTo>
                    <a:pt x="14493" y="266989"/>
                  </a:lnTo>
                  <a:lnTo>
                    <a:pt x="11360" y="263699"/>
                  </a:lnTo>
                  <a:close/>
                </a:path>
                <a:path w="14604" h="381635">
                  <a:moveTo>
                    <a:pt x="11360" y="322360"/>
                  </a:moveTo>
                  <a:lnTo>
                    <a:pt x="3329" y="322360"/>
                  </a:lnTo>
                  <a:lnTo>
                    <a:pt x="0" y="325650"/>
                  </a:lnTo>
                  <a:lnTo>
                    <a:pt x="0" y="377732"/>
                  </a:lnTo>
                  <a:lnTo>
                    <a:pt x="3329" y="381021"/>
                  </a:lnTo>
                  <a:lnTo>
                    <a:pt x="11360" y="381021"/>
                  </a:lnTo>
                  <a:lnTo>
                    <a:pt x="14493" y="377732"/>
                  </a:lnTo>
                  <a:lnTo>
                    <a:pt x="14493" y="325650"/>
                  </a:lnTo>
                  <a:lnTo>
                    <a:pt x="11360" y="322360"/>
                  </a:lnTo>
                  <a:close/>
                </a:path>
              </a:pathLst>
            </a:custGeom>
            <a:solidFill>
              <a:srgbClr val="000000"/>
            </a:solidFill>
          </p:spPr>
          <p:txBody>
            <a:bodyPr wrap="square" lIns="0" tIns="0" rIns="0" bIns="0" rtlCol="0"/>
            <a:lstStyle/>
            <a:p/>
          </p:txBody>
        </p:sp>
        <p:sp>
          <p:nvSpPr>
            <p:cNvPr id="120" name="object 120" descr=""/>
            <p:cNvSpPr/>
            <p:nvPr/>
          </p:nvSpPr>
          <p:spPr>
            <a:xfrm>
              <a:off x="9360415" y="4594828"/>
              <a:ext cx="14604" cy="381635"/>
            </a:xfrm>
            <a:custGeom>
              <a:avLst/>
              <a:gdLst/>
              <a:ahLst/>
              <a:cxnLst/>
              <a:rect l="l" t="t" r="r" b="b"/>
              <a:pathLst>
                <a:path w="14604" h="381635">
                  <a:moveTo>
                    <a:pt x="14493" y="7029"/>
                  </a:moveTo>
                  <a:lnTo>
                    <a:pt x="14493" y="51142"/>
                  </a:lnTo>
                  <a:lnTo>
                    <a:pt x="14493" y="55371"/>
                  </a:lnTo>
                  <a:lnTo>
                    <a:pt x="11360" y="58641"/>
                  </a:lnTo>
                  <a:lnTo>
                    <a:pt x="7051" y="58641"/>
                  </a:lnTo>
                  <a:lnTo>
                    <a:pt x="3329" y="58641"/>
                  </a:lnTo>
                  <a:lnTo>
                    <a:pt x="0" y="55371"/>
                  </a:lnTo>
                  <a:lnTo>
                    <a:pt x="0" y="51142"/>
                  </a:lnTo>
                  <a:lnTo>
                    <a:pt x="0" y="7029"/>
                  </a:lnTo>
                  <a:lnTo>
                    <a:pt x="0" y="2799"/>
                  </a:lnTo>
                  <a:lnTo>
                    <a:pt x="3329" y="0"/>
                  </a:lnTo>
                  <a:lnTo>
                    <a:pt x="7051" y="0"/>
                  </a:lnTo>
                  <a:lnTo>
                    <a:pt x="11360" y="0"/>
                  </a:lnTo>
                  <a:lnTo>
                    <a:pt x="14493" y="2799"/>
                  </a:lnTo>
                  <a:lnTo>
                    <a:pt x="14493" y="7029"/>
                  </a:lnTo>
                  <a:close/>
                </a:path>
                <a:path w="14604" h="381635">
                  <a:moveTo>
                    <a:pt x="14493" y="109803"/>
                  </a:moveTo>
                  <a:lnTo>
                    <a:pt x="14493" y="114012"/>
                  </a:lnTo>
                  <a:lnTo>
                    <a:pt x="11360" y="117302"/>
                  </a:lnTo>
                  <a:lnTo>
                    <a:pt x="7051" y="117302"/>
                  </a:lnTo>
                  <a:lnTo>
                    <a:pt x="3329" y="117302"/>
                  </a:lnTo>
                  <a:lnTo>
                    <a:pt x="0" y="114012"/>
                  </a:lnTo>
                  <a:lnTo>
                    <a:pt x="0" y="109803"/>
                  </a:lnTo>
                  <a:lnTo>
                    <a:pt x="0" y="105573"/>
                  </a:lnTo>
                  <a:lnTo>
                    <a:pt x="3329" y="102284"/>
                  </a:lnTo>
                  <a:lnTo>
                    <a:pt x="7051" y="102284"/>
                  </a:lnTo>
                  <a:lnTo>
                    <a:pt x="11360" y="102284"/>
                  </a:lnTo>
                  <a:lnTo>
                    <a:pt x="14493" y="105573"/>
                  </a:lnTo>
                  <a:lnTo>
                    <a:pt x="14493" y="109803"/>
                  </a:lnTo>
                  <a:close/>
                </a:path>
                <a:path w="14604" h="381635">
                  <a:moveTo>
                    <a:pt x="14493" y="168444"/>
                  </a:moveTo>
                  <a:lnTo>
                    <a:pt x="14493" y="212557"/>
                  </a:lnTo>
                  <a:lnTo>
                    <a:pt x="14493" y="216786"/>
                  </a:lnTo>
                  <a:lnTo>
                    <a:pt x="11360" y="219606"/>
                  </a:lnTo>
                  <a:lnTo>
                    <a:pt x="7051" y="219606"/>
                  </a:lnTo>
                  <a:lnTo>
                    <a:pt x="3329" y="219606"/>
                  </a:lnTo>
                  <a:lnTo>
                    <a:pt x="0" y="216786"/>
                  </a:lnTo>
                  <a:lnTo>
                    <a:pt x="0" y="212557"/>
                  </a:lnTo>
                  <a:lnTo>
                    <a:pt x="0" y="168444"/>
                  </a:lnTo>
                  <a:lnTo>
                    <a:pt x="0" y="164234"/>
                  </a:lnTo>
                  <a:lnTo>
                    <a:pt x="3329" y="160945"/>
                  </a:lnTo>
                  <a:lnTo>
                    <a:pt x="7051" y="160945"/>
                  </a:lnTo>
                  <a:lnTo>
                    <a:pt x="11360" y="160945"/>
                  </a:lnTo>
                  <a:lnTo>
                    <a:pt x="14493" y="164234"/>
                  </a:lnTo>
                  <a:lnTo>
                    <a:pt x="14493" y="168444"/>
                  </a:lnTo>
                  <a:close/>
                </a:path>
                <a:path w="14604" h="381635">
                  <a:moveTo>
                    <a:pt x="14493" y="271218"/>
                  </a:moveTo>
                  <a:lnTo>
                    <a:pt x="14493" y="275428"/>
                  </a:lnTo>
                  <a:lnTo>
                    <a:pt x="11360" y="278717"/>
                  </a:lnTo>
                  <a:lnTo>
                    <a:pt x="7051" y="278717"/>
                  </a:lnTo>
                  <a:lnTo>
                    <a:pt x="3329" y="278717"/>
                  </a:lnTo>
                  <a:lnTo>
                    <a:pt x="0" y="275428"/>
                  </a:lnTo>
                  <a:lnTo>
                    <a:pt x="0" y="271218"/>
                  </a:lnTo>
                  <a:lnTo>
                    <a:pt x="0" y="266989"/>
                  </a:lnTo>
                  <a:lnTo>
                    <a:pt x="3329" y="263699"/>
                  </a:lnTo>
                  <a:lnTo>
                    <a:pt x="7051" y="263699"/>
                  </a:lnTo>
                  <a:lnTo>
                    <a:pt x="11360" y="263699"/>
                  </a:lnTo>
                  <a:lnTo>
                    <a:pt x="14493" y="266989"/>
                  </a:lnTo>
                  <a:lnTo>
                    <a:pt x="14493" y="271218"/>
                  </a:lnTo>
                  <a:close/>
                </a:path>
                <a:path w="14604" h="381635">
                  <a:moveTo>
                    <a:pt x="14493" y="329859"/>
                  </a:moveTo>
                  <a:lnTo>
                    <a:pt x="14493" y="373973"/>
                  </a:lnTo>
                  <a:lnTo>
                    <a:pt x="14493" y="377732"/>
                  </a:lnTo>
                  <a:lnTo>
                    <a:pt x="11360" y="381021"/>
                  </a:lnTo>
                  <a:lnTo>
                    <a:pt x="7051" y="381021"/>
                  </a:lnTo>
                  <a:lnTo>
                    <a:pt x="3329" y="381021"/>
                  </a:lnTo>
                  <a:lnTo>
                    <a:pt x="0" y="377732"/>
                  </a:lnTo>
                  <a:lnTo>
                    <a:pt x="0" y="373973"/>
                  </a:lnTo>
                  <a:lnTo>
                    <a:pt x="0" y="329859"/>
                  </a:lnTo>
                  <a:lnTo>
                    <a:pt x="0" y="325650"/>
                  </a:lnTo>
                  <a:lnTo>
                    <a:pt x="3329" y="322360"/>
                  </a:lnTo>
                  <a:lnTo>
                    <a:pt x="7051" y="322360"/>
                  </a:lnTo>
                  <a:lnTo>
                    <a:pt x="11360" y="322360"/>
                  </a:lnTo>
                  <a:lnTo>
                    <a:pt x="14493" y="325650"/>
                  </a:lnTo>
                  <a:lnTo>
                    <a:pt x="14493" y="329859"/>
                  </a:lnTo>
                  <a:close/>
                </a:path>
              </a:pathLst>
            </a:custGeom>
            <a:ln w="3175">
              <a:solidFill>
                <a:srgbClr val="000000"/>
              </a:solidFill>
            </a:ln>
          </p:spPr>
          <p:txBody>
            <a:bodyPr wrap="square" lIns="0" tIns="0" rIns="0" bIns="0" rtlCol="0"/>
            <a:lstStyle/>
            <a:p/>
          </p:txBody>
        </p:sp>
        <p:sp>
          <p:nvSpPr>
            <p:cNvPr id="121" name="object 121" descr=""/>
            <p:cNvSpPr/>
            <p:nvPr/>
          </p:nvSpPr>
          <p:spPr>
            <a:xfrm>
              <a:off x="4214982" y="5019023"/>
              <a:ext cx="5131435" cy="15240"/>
            </a:xfrm>
            <a:custGeom>
              <a:avLst/>
              <a:gdLst/>
              <a:ahLst/>
              <a:cxnLst/>
              <a:rect l="l" t="t" r="r" b="b"/>
              <a:pathLst>
                <a:path w="5131434" h="15239">
                  <a:moveTo>
                    <a:pt x="55487" y="0"/>
                  </a:moveTo>
                  <a:lnTo>
                    <a:pt x="3760" y="0"/>
                  </a:lnTo>
                  <a:lnTo>
                    <a:pt x="0" y="3269"/>
                  </a:lnTo>
                  <a:lnTo>
                    <a:pt x="0" y="11728"/>
                  </a:lnTo>
                  <a:lnTo>
                    <a:pt x="3760" y="14998"/>
                  </a:lnTo>
                  <a:lnTo>
                    <a:pt x="55487" y="14998"/>
                  </a:lnTo>
                  <a:lnTo>
                    <a:pt x="58778" y="11728"/>
                  </a:lnTo>
                  <a:lnTo>
                    <a:pt x="58778" y="3269"/>
                  </a:lnTo>
                  <a:lnTo>
                    <a:pt x="55487" y="0"/>
                  </a:lnTo>
                  <a:close/>
                </a:path>
                <a:path w="5131434" h="15239">
                  <a:moveTo>
                    <a:pt x="114285" y="0"/>
                  </a:moveTo>
                  <a:lnTo>
                    <a:pt x="106745" y="0"/>
                  </a:lnTo>
                  <a:lnTo>
                    <a:pt x="102984" y="3269"/>
                  </a:lnTo>
                  <a:lnTo>
                    <a:pt x="102984" y="11728"/>
                  </a:lnTo>
                  <a:lnTo>
                    <a:pt x="106745" y="14998"/>
                  </a:lnTo>
                  <a:lnTo>
                    <a:pt x="114285" y="14998"/>
                  </a:lnTo>
                  <a:lnTo>
                    <a:pt x="118046" y="11728"/>
                  </a:lnTo>
                  <a:lnTo>
                    <a:pt x="118046" y="3269"/>
                  </a:lnTo>
                  <a:lnTo>
                    <a:pt x="114285" y="0"/>
                  </a:lnTo>
                  <a:close/>
                </a:path>
                <a:path w="5131434" h="15239">
                  <a:moveTo>
                    <a:pt x="217270" y="0"/>
                  </a:moveTo>
                  <a:lnTo>
                    <a:pt x="165543" y="0"/>
                  </a:lnTo>
                  <a:lnTo>
                    <a:pt x="162252" y="3269"/>
                  </a:lnTo>
                  <a:lnTo>
                    <a:pt x="162252" y="11728"/>
                  </a:lnTo>
                  <a:lnTo>
                    <a:pt x="165543" y="14998"/>
                  </a:lnTo>
                  <a:lnTo>
                    <a:pt x="217270" y="14998"/>
                  </a:lnTo>
                  <a:lnTo>
                    <a:pt x="221031" y="11728"/>
                  </a:lnTo>
                  <a:lnTo>
                    <a:pt x="221031" y="3269"/>
                  </a:lnTo>
                  <a:lnTo>
                    <a:pt x="217270" y="0"/>
                  </a:lnTo>
                  <a:close/>
                </a:path>
                <a:path w="5131434" h="15239">
                  <a:moveTo>
                    <a:pt x="276049" y="0"/>
                  </a:moveTo>
                  <a:lnTo>
                    <a:pt x="268057" y="0"/>
                  </a:lnTo>
                  <a:lnTo>
                    <a:pt x="264767" y="3269"/>
                  </a:lnTo>
                  <a:lnTo>
                    <a:pt x="264767" y="11728"/>
                  </a:lnTo>
                  <a:lnTo>
                    <a:pt x="268057" y="14998"/>
                  </a:lnTo>
                  <a:lnTo>
                    <a:pt x="276049" y="14998"/>
                  </a:lnTo>
                  <a:lnTo>
                    <a:pt x="279809" y="11728"/>
                  </a:lnTo>
                  <a:lnTo>
                    <a:pt x="279809" y="3269"/>
                  </a:lnTo>
                  <a:lnTo>
                    <a:pt x="276049" y="0"/>
                  </a:lnTo>
                  <a:close/>
                </a:path>
                <a:path w="5131434" h="15239">
                  <a:moveTo>
                    <a:pt x="379053" y="0"/>
                  </a:moveTo>
                  <a:lnTo>
                    <a:pt x="326855" y="0"/>
                  </a:lnTo>
                  <a:lnTo>
                    <a:pt x="324035" y="3269"/>
                  </a:lnTo>
                  <a:lnTo>
                    <a:pt x="324035" y="11728"/>
                  </a:lnTo>
                  <a:lnTo>
                    <a:pt x="326855" y="14998"/>
                  </a:lnTo>
                  <a:lnTo>
                    <a:pt x="379053" y="14998"/>
                  </a:lnTo>
                  <a:lnTo>
                    <a:pt x="382813" y="11728"/>
                  </a:lnTo>
                  <a:lnTo>
                    <a:pt x="382813" y="3269"/>
                  </a:lnTo>
                  <a:lnTo>
                    <a:pt x="379053" y="0"/>
                  </a:lnTo>
                  <a:close/>
                </a:path>
                <a:path w="5131434" h="15239">
                  <a:moveTo>
                    <a:pt x="437831" y="0"/>
                  </a:moveTo>
                  <a:lnTo>
                    <a:pt x="429840" y="0"/>
                  </a:lnTo>
                  <a:lnTo>
                    <a:pt x="426550" y="3269"/>
                  </a:lnTo>
                  <a:lnTo>
                    <a:pt x="426550" y="11728"/>
                  </a:lnTo>
                  <a:lnTo>
                    <a:pt x="429840" y="14998"/>
                  </a:lnTo>
                  <a:lnTo>
                    <a:pt x="437831" y="14998"/>
                  </a:lnTo>
                  <a:lnTo>
                    <a:pt x="441592" y="11728"/>
                  </a:lnTo>
                  <a:lnTo>
                    <a:pt x="441592" y="3269"/>
                  </a:lnTo>
                  <a:lnTo>
                    <a:pt x="437831" y="0"/>
                  </a:lnTo>
                  <a:close/>
                </a:path>
                <a:path w="5131434" h="15239">
                  <a:moveTo>
                    <a:pt x="540894" y="0"/>
                  </a:moveTo>
                  <a:lnTo>
                    <a:pt x="488618" y="0"/>
                  </a:lnTo>
                  <a:lnTo>
                    <a:pt x="485328" y="3269"/>
                  </a:lnTo>
                  <a:lnTo>
                    <a:pt x="485328" y="11728"/>
                  </a:lnTo>
                  <a:lnTo>
                    <a:pt x="488618" y="14998"/>
                  </a:lnTo>
                  <a:lnTo>
                    <a:pt x="540894" y="14998"/>
                  </a:lnTo>
                  <a:lnTo>
                    <a:pt x="544028" y="11728"/>
                  </a:lnTo>
                  <a:lnTo>
                    <a:pt x="544028" y="3269"/>
                  </a:lnTo>
                  <a:lnTo>
                    <a:pt x="540894" y="0"/>
                  </a:lnTo>
                  <a:close/>
                </a:path>
                <a:path w="5131434" h="15239">
                  <a:moveTo>
                    <a:pt x="599653" y="0"/>
                  </a:moveTo>
                  <a:lnTo>
                    <a:pt x="591623" y="0"/>
                  </a:lnTo>
                  <a:lnTo>
                    <a:pt x="588293" y="3269"/>
                  </a:lnTo>
                  <a:lnTo>
                    <a:pt x="588293" y="11728"/>
                  </a:lnTo>
                  <a:lnTo>
                    <a:pt x="591623" y="14998"/>
                  </a:lnTo>
                  <a:lnTo>
                    <a:pt x="599653" y="14998"/>
                  </a:lnTo>
                  <a:lnTo>
                    <a:pt x="602983" y="11728"/>
                  </a:lnTo>
                  <a:lnTo>
                    <a:pt x="602983" y="3269"/>
                  </a:lnTo>
                  <a:lnTo>
                    <a:pt x="599653" y="0"/>
                  </a:lnTo>
                  <a:close/>
                </a:path>
                <a:path w="5131434" h="15239">
                  <a:moveTo>
                    <a:pt x="702677" y="0"/>
                  </a:moveTo>
                  <a:lnTo>
                    <a:pt x="650382" y="0"/>
                  </a:lnTo>
                  <a:lnTo>
                    <a:pt x="647052" y="3269"/>
                  </a:lnTo>
                  <a:lnTo>
                    <a:pt x="647052" y="11728"/>
                  </a:lnTo>
                  <a:lnTo>
                    <a:pt x="650382" y="14998"/>
                  </a:lnTo>
                  <a:lnTo>
                    <a:pt x="702677" y="14998"/>
                  </a:lnTo>
                  <a:lnTo>
                    <a:pt x="705811" y="11728"/>
                  </a:lnTo>
                  <a:lnTo>
                    <a:pt x="705811" y="3269"/>
                  </a:lnTo>
                  <a:lnTo>
                    <a:pt x="702677" y="0"/>
                  </a:lnTo>
                  <a:close/>
                </a:path>
                <a:path w="5131434" h="15239">
                  <a:moveTo>
                    <a:pt x="761436" y="0"/>
                  </a:moveTo>
                  <a:lnTo>
                    <a:pt x="753405" y="0"/>
                  </a:lnTo>
                  <a:lnTo>
                    <a:pt x="750076" y="3269"/>
                  </a:lnTo>
                  <a:lnTo>
                    <a:pt x="750076" y="11728"/>
                  </a:lnTo>
                  <a:lnTo>
                    <a:pt x="753405" y="14998"/>
                  </a:lnTo>
                  <a:lnTo>
                    <a:pt x="761436" y="14998"/>
                  </a:lnTo>
                  <a:lnTo>
                    <a:pt x="764765" y="11728"/>
                  </a:lnTo>
                  <a:lnTo>
                    <a:pt x="764765" y="3269"/>
                  </a:lnTo>
                  <a:lnTo>
                    <a:pt x="761436" y="0"/>
                  </a:lnTo>
                  <a:close/>
                </a:path>
                <a:path w="5131434" h="15239">
                  <a:moveTo>
                    <a:pt x="864460" y="0"/>
                  </a:moveTo>
                  <a:lnTo>
                    <a:pt x="812164" y="0"/>
                  </a:lnTo>
                  <a:lnTo>
                    <a:pt x="808835" y="3269"/>
                  </a:lnTo>
                  <a:lnTo>
                    <a:pt x="808835" y="11728"/>
                  </a:lnTo>
                  <a:lnTo>
                    <a:pt x="812164" y="14998"/>
                  </a:lnTo>
                  <a:lnTo>
                    <a:pt x="864460" y="14998"/>
                  </a:lnTo>
                  <a:lnTo>
                    <a:pt x="867593" y="11728"/>
                  </a:lnTo>
                  <a:lnTo>
                    <a:pt x="867593" y="3269"/>
                  </a:lnTo>
                  <a:lnTo>
                    <a:pt x="864460" y="0"/>
                  </a:lnTo>
                  <a:close/>
                </a:path>
                <a:path w="5131434" h="15239">
                  <a:moveTo>
                    <a:pt x="923218" y="0"/>
                  </a:moveTo>
                  <a:lnTo>
                    <a:pt x="915188" y="0"/>
                  </a:lnTo>
                  <a:lnTo>
                    <a:pt x="911858" y="3269"/>
                  </a:lnTo>
                  <a:lnTo>
                    <a:pt x="911858" y="11728"/>
                  </a:lnTo>
                  <a:lnTo>
                    <a:pt x="915188" y="14998"/>
                  </a:lnTo>
                  <a:lnTo>
                    <a:pt x="923218" y="14998"/>
                  </a:lnTo>
                  <a:lnTo>
                    <a:pt x="926548" y="11728"/>
                  </a:lnTo>
                  <a:lnTo>
                    <a:pt x="926548" y="3269"/>
                  </a:lnTo>
                  <a:lnTo>
                    <a:pt x="923218" y="0"/>
                  </a:lnTo>
                  <a:close/>
                </a:path>
                <a:path w="5131434" h="15239">
                  <a:moveTo>
                    <a:pt x="1026242" y="0"/>
                  </a:moveTo>
                  <a:lnTo>
                    <a:pt x="973947" y="0"/>
                  </a:lnTo>
                  <a:lnTo>
                    <a:pt x="970617" y="3269"/>
                  </a:lnTo>
                  <a:lnTo>
                    <a:pt x="970617" y="11728"/>
                  </a:lnTo>
                  <a:lnTo>
                    <a:pt x="973947" y="14998"/>
                  </a:lnTo>
                  <a:lnTo>
                    <a:pt x="1026242" y="14998"/>
                  </a:lnTo>
                  <a:lnTo>
                    <a:pt x="1029376" y="11728"/>
                  </a:lnTo>
                  <a:lnTo>
                    <a:pt x="1029376" y="3269"/>
                  </a:lnTo>
                  <a:lnTo>
                    <a:pt x="1026242" y="0"/>
                  </a:lnTo>
                  <a:close/>
                </a:path>
                <a:path w="5131434" h="15239">
                  <a:moveTo>
                    <a:pt x="1085001" y="0"/>
                  </a:moveTo>
                  <a:lnTo>
                    <a:pt x="1076971" y="0"/>
                  </a:lnTo>
                  <a:lnTo>
                    <a:pt x="1073641" y="3269"/>
                  </a:lnTo>
                  <a:lnTo>
                    <a:pt x="1073641" y="11728"/>
                  </a:lnTo>
                  <a:lnTo>
                    <a:pt x="1076971" y="14998"/>
                  </a:lnTo>
                  <a:lnTo>
                    <a:pt x="1085001" y="14998"/>
                  </a:lnTo>
                  <a:lnTo>
                    <a:pt x="1088331" y="11728"/>
                  </a:lnTo>
                  <a:lnTo>
                    <a:pt x="1088331" y="3269"/>
                  </a:lnTo>
                  <a:lnTo>
                    <a:pt x="1085001" y="0"/>
                  </a:lnTo>
                  <a:close/>
                </a:path>
                <a:path w="5131434" h="15239">
                  <a:moveTo>
                    <a:pt x="1188025" y="0"/>
                  </a:moveTo>
                  <a:lnTo>
                    <a:pt x="1135730" y="0"/>
                  </a:lnTo>
                  <a:lnTo>
                    <a:pt x="1132400" y="3269"/>
                  </a:lnTo>
                  <a:lnTo>
                    <a:pt x="1132400" y="11728"/>
                  </a:lnTo>
                  <a:lnTo>
                    <a:pt x="1135730" y="14998"/>
                  </a:lnTo>
                  <a:lnTo>
                    <a:pt x="1188025" y="14998"/>
                  </a:lnTo>
                  <a:lnTo>
                    <a:pt x="1191159" y="11728"/>
                  </a:lnTo>
                  <a:lnTo>
                    <a:pt x="1191159" y="3269"/>
                  </a:lnTo>
                  <a:lnTo>
                    <a:pt x="1188025" y="0"/>
                  </a:lnTo>
                  <a:close/>
                </a:path>
                <a:path w="5131434" h="15239">
                  <a:moveTo>
                    <a:pt x="1246784" y="0"/>
                  </a:moveTo>
                  <a:lnTo>
                    <a:pt x="1238362" y="0"/>
                  </a:lnTo>
                  <a:lnTo>
                    <a:pt x="1235424" y="3269"/>
                  </a:lnTo>
                  <a:lnTo>
                    <a:pt x="1235424" y="11728"/>
                  </a:lnTo>
                  <a:lnTo>
                    <a:pt x="1238362" y="14998"/>
                  </a:lnTo>
                  <a:lnTo>
                    <a:pt x="1246784" y="14998"/>
                  </a:lnTo>
                  <a:lnTo>
                    <a:pt x="1250113" y="11728"/>
                  </a:lnTo>
                  <a:lnTo>
                    <a:pt x="1250113" y="3269"/>
                  </a:lnTo>
                  <a:lnTo>
                    <a:pt x="1246784" y="0"/>
                  </a:lnTo>
                  <a:close/>
                </a:path>
                <a:path w="5131434" h="15239">
                  <a:moveTo>
                    <a:pt x="1349808" y="0"/>
                  </a:moveTo>
                  <a:lnTo>
                    <a:pt x="1297120" y="0"/>
                  </a:lnTo>
                  <a:lnTo>
                    <a:pt x="1294183" y="3269"/>
                  </a:lnTo>
                  <a:lnTo>
                    <a:pt x="1294183" y="11728"/>
                  </a:lnTo>
                  <a:lnTo>
                    <a:pt x="1297120" y="14998"/>
                  </a:lnTo>
                  <a:lnTo>
                    <a:pt x="1349808" y="14998"/>
                  </a:lnTo>
                  <a:lnTo>
                    <a:pt x="1352941" y="11728"/>
                  </a:lnTo>
                  <a:lnTo>
                    <a:pt x="1352941" y="3269"/>
                  </a:lnTo>
                  <a:lnTo>
                    <a:pt x="1349808" y="0"/>
                  </a:lnTo>
                  <a:close/>
                </a:path>
                <a:path w="5131434" h="15239">
                  <a:moveTo>
                    <a:pt x="1408566" y="0"/>
                  </a:moveTo>
                  <a:lnTo>
                    <a:pt x="1399948" y="0"/>
                  </a:lnTo>
                  <a:lnTo>
                    <a:pt x="1396815" y="3269"/>
                  </a:lnTo>
                  <a:lnTo>
                    <a:pt x="1396815" y="11728"/>
                  </a:lnTo>
                  <a:lnTo>
                    <a:pt x="1399948" y="14998"/>
                  </a:lnTo>
                  <a:lnTo>
                    <a:pt x="1408566" y="14998"/>
                  </a:lnTo>
                  <a:lnTo>
                    <a:pt x="1411896" y="11728"/>
                  </a:lnTo>
                  <a:lnTo>
                    <a:pt x="1411896" y="3269"/>
                  </a:lnTo>
                  <a:lnTo>
                    <a:pt x="1408566" y="0"/>
                  </a:lnTo>
                  <a:close/>
                </a:path>
                <a:path w="5131434" h="15239">
                  <a:moveTo>
                    <a:pt x="1511590" y="0"/>
                  </a:moveTo>
                  <a:lnTo>
                    <a:pt x="1458903" y="0"/>
                  </a:lnTo>
                  <a:lnTo>
                    <a:pt x="1455573" y="3269"/>
                  </a:lnTo>
                  <a:lnTo>
                    <a:pt x="1455573" y="11728"/>
                  </a:lnTo>
                  <a:lnTo>
                    <a:pt x="1458903" y="14998"/>
                  </a:lnTo>
                  <a:lnTo>
                    <a:pt x="1511590" y="14998"/>
                  </a:lnTo>
                  <a:lnTo>
                    <a:pt x="1514332" y="11728"/>
                  </a:lnTo>
                  <a:lnTo>
                    <a:pt x="1514332" y="3269"/>
                  </a:lnTo>
                  <a:lnTo>
                    <a:pt x="1511590" y="0"/>
                  </a:lnTo>
                  <a:close/>
                </a:path>
                <a:path w="5131434" h="15239">
                  <a:moveTo>
                    <a:pt x="1570349" y="0"/>
                  </a:moveTo>
                  <a:lnTo>
                    <a:pt x="1561731" y="0"/>
                  </a:lnTo>
                  <a:lnTo>
                    <a:pt x="1558597" y="3269"/>
                  </a:lnTo>
                  <a:lnTo>
                    <a:pt x="1558597" y="11728"/>
                  </a:lnTo>
                  <a:lnTo>
                    <a:pt x="1561731" y="14998"/>
                  </a:lnTo>
                  <a:lnTo>
                    <a:pt x="1570349" y="14998"/>
                  </a:lnTo>
                  <a:lnTo>
                    <a:pt x="1573091" y="11728"/>
                  </a:lnTo>
                  <a:lnTo>
                    <a:pt x="1573091" y="3269"/>
                  </a:lnTo>
                  <a:lnTo>
                    <a:pt x="1570349" y="0"/>
                  </a:lnTo>
                  <a:close/>
                </a:path>
                <a:path w="5131434" h="15239">
                  <a:moveTo>
                    <a:pt x="1672785" y="0"/>
                  </a:moveTo>
                  <a:lnTo>
                    <a:pt x="1620686" y="0"/>
                  </a:lnTo>
                  <a:lnTo>
                    <a:pt x="1617356" y="3269"/>
                  </a:lnTo>
                  <a:lnTo>
                    <a:pt x="1617356" y="11728"/>
                  </a:lnTo>
                  <a:lnTo>
                    <a:pt x="1620686" y="14998"/>
                  </a:lnTo>
                  <a:lnTo>
                    <a:pt x="1672785" y="14998"/>
                  </a:lnTo>
                  <a:lnTo>
                    <a:pt x="1676115" y="11728"/>
                  </a:lnTo>
                  <a:lnTo>
                    <a:pt x="1676115" y="3269"/>
                  </a:lnTo>
                  <a:lnTo>
                    <a:pt x="1672785" y="0"/>
                  </a:lnTo>
                  <a:close/>
                </a:path>
                <a:path w="5131434" h="15239">
                  <a:moveTo>
                    <a:pt x="1731544" y="0"/>
                  </a:moveTo>
                  <a:lnTo>
                    <a:pt x="1723514" y="0"/>
                  </a:lnTo>
                  <a:lnTo>
                    <a:pt x="1720380" y="3269"/>
                  </a:lnTo>
                  <a:lnTo>
                    <a:pt x="1720380" y="11728"/>
                  </a:lnTo>
                  <a:lnTo>
                    <a:pt x="1723514" y="14998"/>
                  </a:lnTo>
                  <a:lnTo>
                    <a:pt x="1731544" y="14998"/>
                  </a:lnTo>
                  <a:lnTo>
                    <a:pt x="1734874" y="11728"/>
                  </a:lnTo>
                  <a:lnTo>
                    <a:pt x="1734874" y="3269"/>
                  </a:lnTo>
                  <a:lnTo>
                    <a:pt x="1731544" y="0"/>
                  </a:lnTo>
                  <a:close/>
                </a:path>
                <a:path w="5131434" h="15239">
                  <a:moveTo>
                    <a:pt x="1834568" y="0"/>
                  </a:moveTo>
                  <a:lnTo>
                    <a:pt x="1782469" y="0"/>
                  </a:lnTo>
                  <a:lnTo>
                    <a:pt x="1779139" y="3269"/>
                  </a:lnTo>
                  <a:lnTo>
                    <a:pt x="1779139" y="11728"/>
                  </a:lnTo>
                  <a:lnTo>
                    <a:pt x="1782469" y="14998"/>
                  </a:lnTo>
                  <a:lnTo>
                    <a:pt x="1834568" y="14998"/>
                  </a:lnTo>
                  <a:lnTo>
                    <a:pt x="1837898" y="11728"/>
                  </a:lnTo>
                  <a:lnTo>
                    <a:pt x="1837898" y="3269"/>
                  </a:lnTo>
                  <a:lnTo>
                    <a:pt x="1834568" y="0"/>
                  </a:lnTo>
                  <a:close/>
                </a:path>
                <a:path w="5131434" h="15239">
                  <a:moveTo>
                    <a:pt x="1893327" y="0"/>
                  </a:moveTo>
                  <a:lnTo>
                    <a:pt x="1885296" y="0"/>
                  </a:lnTo>
                  <a:lnTo>
                    <a:pt x="1882163" y="3269"/>
                  </a:lnTo>
                  <a:lnTo>
                    <a:pt x="1882163" y="11728"/>
                  </a:lnTo>
                  <a:lnTo>
                    <a:pt x="1885296" y="14998"/>
                  </a:lnTo>
                  <a:lnTo>
                    <a:pt x="1893327" y="14998"/>
                  </a:lnTo>
                  <a:lnTo>
                    <a:pt x="1896657" y="11728"/>
                  </a:lnTo>
                  <a:lnTo>
                    <a:pt x="1896657" y="3269"/>
                  </a:lnTo>
                  <a:lnTo>
                    <a:pt x="1893327" y="0"/>
                  </a:lnTo>
                  <a:close/>
                </a:path>
                <a:path w="5131434" h="15239">
                  <a:moveTo>
                    <a:pt x="1996351" y="0"/>
                  </a:moveTo>
                  <a:lnTo>
                    <a:pt x="1944251" y="0"/>
                  </a:lnTo>
                  <a:lnTo>
                    <a:pt x="1940922" y="3269"/>
                  </a:lnTo>
                  <a:lnTo>
                    <a:pt x="1940922" y="11728"/>
                  </a:lnTo>
                  <a:lnTo>
                    <a:pt x="1944251" y="14998"/>
                  </a:lnTo>
                  <a:lnTo>
                    <a:pt x="1996351" y="14998"/>
                  </a:lnTo>
                  <a:lnTo>
                    <a:pt x="1999680" y="11728"/>
                  </a:lnTo>
                  <a:lnTo>
                    <a:pt x="1999680" y="3269"/>
                  </a:lnTo>
                  <a:lnTo>
                    <a:pt x="1996351" y="0"/>
                  </a:lnTo>
                  <a:close/>
                </a:path>
                <a:path w="5131434" h="15239">
                  <a:moveTo>
                    <a:pt x="2055110" y="0"/>
                  </a:moveTo>
                  <a:lnTo>
                    <a:pt x="2047079" y="0"/>
                  </a:lnTo>
                  <a:lnTo>
                    <a:pt x="2043945" y="3269"/>
                  </a:lnTo>
                  <a:lnTo>
                    <a:pt x="2043945" y="11728"/>
                  </a:lnTo>
                  <a:lnTo>
                    <a:pt x="2047079" y="14998"/>
                  </a:lnTo>
                  <a:lnTo>
                    <a:pt x="2055110" y="14998"/>
                  </a:lnTo>
                  <a:lnTo>
                    <a:pt x="2058439" y="11728"/>
                  </a:lnTo>
                  <a:lnTo>
                    <a:pt x="2058439" y="3269"/>
                  </a:lnTo>
                  <a:lnTo>
                    <a:pt x="2055110" y="0"/>
                  </a:lnTo>
                  <a:close/>
                </a:path>
                <a:path w="5131434" h="15239">
                  <a:moveTo>
                    <a:pt x="2158133" y="0"/>
                  </a:moveTo>
                  <a:lnTo>
                    <a:pt x="2106034" y="0"/>
                  </a:lnTo>
                  <a:lnTo>
                    <a:pt x="2102704" y="3269"/>
                  </a:lnTo>
                  <a:lnTo>
                    <a:pt x="2102704" y="11728"/>
                  </a:lnTo>
                  <a:lnTo>
                    <a:pt x="2106034" y="14998"/>
                  </a:lnTo>
                  <a:lnTo>
                    <a:pt x="2158133" y="14998"/>
                  </a:lnTo>
                  <a:lnTo>
                    <a:pt x="2161463" y="11728"/>
                  </a:lnTo>
                  <a:lnTo>
                    <a:pt x="2161463" y="3269"/>
                  </a:lnTo>
                  <a:lnTo>
                    <a:pt x="2158133" y="0"/>
                  </a:lnTo>
                  <a:close/>
                </a:path>
                <a:path w="5131434" h="15239">
                  <a:moveTo>
                    <a:pt x="2216892" y="0"/>
                  </a:moveTo>
                  <a:lnTo>
                    <a:pt x="2208470" y="0"/>
                  </a:lnTo>
                  <a:lnTo>
                    <a:pt x="2205728" y="3269"/>
                  </a:lnTo>
                  <a:lnTo>
                    <a:pt x="2205728" y="11728"/>
                  </a:lnTo>
                  <a:lnTo>
                    <a:pt x="2208470" y="14998"/>
                  </a:lnTo>
                  <a:lnTo>
                    <a:pt x="2216892" y="14998"/>
                  </a:lnTo>
                  <a:lnTo>
                    <a:pt x="2220222" y="11728"/>
                  </a:lnTo>
                  <a:lnTo>
                    <a:pt x="2220222" y="3269"/>
                  </a:lnTo>
                  <a:lnTo>
                    <a:pt x="2216892" y="0"/>
                  </a:lnTo>
                  <a:close/>
                </a:path>
                <a:path w="5131434" h="15239">
                  <a:moveTo>
                    <a:pt x="2319916" y="0"/>
                  </a:moveTo>
                  <a:lnTo>
                    <a:pt x="2267229" y="0"/>
                  </a:lnTo>
                  <a:lnTo>
                    <a:pt x="2264487" y="3269"/>
                  </a:lnTo>
                  <a:lnTo>
                    <a:pt x="2264487" y="11728"/>
                  </a:lnTo>
                  <a:lnTo>
                    <a:pt x="2267229" y="14998"/>
                  </a:lnTo>
                  <a:lnTo>
                    <a:pt x="2319916" y="14998"/>
                  </a:lnTo>
                  <a:lnTo>
                    <a:pt x="2323246" y="11728"/>
                  </a:lnTo>
                  <a:lnTo>
                    <a:pt x="2323246" y="3269"/>
                  </a:lnTo>
                  <a:lnTo>
                    <a:pt x="2319916" y="0"/>
                  </a:lnTo>
                  <a:close/>
                </a:path>
                <a:path w="5131434" h="15239">
                  <a:moveTo>
                    <a:pt x="2378675" y="0"/>
                  </a:moveTo>
                  <a:lnTo>
                    <a:pt x="2370253" y="0"/>
                  </a:lnTo>
                  <a:lnTo>
                    <a:pt x="2366923" y="3269"/>
                  </a:lnTo>
                  <a:lnTo>
                    <a:pt x="2366923" y="11728"/>
                  </a:lnTo>
                  <a:lnTo>
                    <a:pt x="2370253" y="14998"/>
                  </a:lnTo>
                  <a:lnTo>
                    <a:pt x="2378675" y="14998"/>
                  </a:lnTo>
                  <a:lnTo>
                    <a:pt x="2382005" y="11728"/>
                  </a:lnTo>
                  <a:lnTo>
                    <a:pt x="2382005" y="3269"/>
                  </a:lnTo>
                  <a:lnTo>
                    <a:pt x="2378675" y="0"/>
                  </a:lnTo>
                  <a:close/>
                </a:path>
                <a:path w="5131434" h="15239">
                  <a:moveTo>
                    <a:pt x="2481699" y="0"/>
                  </a:moveTo>
                  <a:lnTo>
                    <a:pt x="2429012" y="0"/>
                  </a:lnTo>
                  <a:lnTo>
                    <a:pt x="2425682" y="3269"/>
                  </a:lnTo>
                  <a:lnTo>
                    <a:pt x="2425682" y="11728"/>
                  </a:lnTo>
                  <a:lnTo>
                    <a:pt x="2429012" y="14998"/>
                  </a:lnTo>
                  <a:lnTo>
                    <a:pt x="2481699" y="14998"/>
                  </a:lnTo>
                  <a:lnTo>
                    <a:pt x="2484441" y="11728"/>
                  </a:lnTo>
                  <a:lnTo>
                    <a:pt x="2484441" y="3269"/>
                  </a:lnTo>
                  <a:lnTo>
                    <a:pt x="2481699" y="0"/>
                  </a:lnTo>
                  <a:close/>
                </a:path>
                <a:path w="5131434" h="15239">
                  <a:moveTo>
                    <a:pt x="2540458" y="0"/>
                  </a:moveTo>
                  <a:lnTo>
                    <a:pt x="2532035" y="0"/>
                  </a:lnTo>
                  <a:lnTo>
                    <a:pt x="2528706" y="3269"/>
                  </a:lnTo>
                  <a:lnTo>
                    <a:pt x="2528706" y="11728"/>
                  </a:lnTo>
                  <a:lnTo>
                    <a:pt x="2532035" y="14998"/>
                  </a:lnTo>
                  <a:lnTo>
                    <a:pt x="2540458" y="14998"/>
                  </a:lnTo>
                  <a:lnTo>
                    <a:pt x="2543787" y="11728"/>
                  </a:lnTo>
                  <a:lnTo>
                    <a:pt x="2543787" y="3269"/>
                  </a:lnTo>
                  <a:lnTo>
                    <a:pt x="2540458" y="0"/>
                  </a:lnTo>
                  <a:close/>
                </a:path>
                <a:path w="5131434" h="15239">
                  <a:moveTo>
                    <a:pt x="2643090" y="0"/>
                  </a:moveTo>
                  <a:lnTo>
                    <a:pt x="2590794" y="0"/>
                  </a:lnTo>
                  <a:lnTo>
                    <a:pt x="2587465" y="3269"/>
                  </a:lnTo>
                  <a:lnTo>
                    <a:pt x="2587465" y="11728"/>
                  </a:lnTo>
                  <a:lnTo>
                    <a:pt x="2590794" y="14998"/>
                  </a:lnTo>
                  <a:lnTo>
                    <a:pt x="2643090" y="14998"/>
                  </a:lnTo>
                  <a:lnTo>
                    <a:pt x="2646223" y="11728"/>
                  </a:lnTo>
                  <a:lnTo>
                    <a:pt x="2646223" y="3269"/>
                  </a:lnTo>
                  <a:lnTo>
                    <a:pt x="2643090" y="0"/>
                  </a:lnTo>
                  <a:close/>
                </a:path>
                <a:path w="5131434" h="15239">
                  <a:moveTo>
                    <a:pt x="2701849" y="0"/>
                  </a:moveTo>
                  <a:lnTo>
                    <a:pt x="2693818" y="0"/>
                  </a:lnTo>
                  <a:lnTo>
                    <a:pt x="2690488" y="3269"/>
                  </a:lnTo>
                  <a:lnTo>
                    <a:pt x="2690488" y="11728"/>
                  </a:lnTo>
                  <a:lnTo>
                    <a:pt x="2693818" y="14998"/>
                  </a:lnTo>
                  <a:lnTo>
                    <a:pt x="2701849" y="14998"/>
                  </a:lnTo>
                  <a:lnTo>
                    <a:pt x="2705178" y="11728"/>
                  </a:lnTo>
                  <a:lnTo>
                    <a:pt x="2705178" y="3269"/>
                  </a:lnTo>
                  <a:lnTo>
                    <a:pt x="2701849" y="0"/>
                  </a:lnTo>
                  <a:close/>
                </a:path>
                <a:path w="5131434" h="15239">
                  <a:moveTo>
                    <a:pt x="2804872" y="0"/>
                  </a:moveTo>
                  <a:lnTo>
                    <a:pt x="2752969" y="0"/>
                  </a:lnTo>
                  <a:lnTo>
                    <a:pt x="2749247" y="3269"/>
                  </a:lnTo>
                  <a:lnTo>
                    <a:pt x="2749247" y="11728"/>
                  </a:lnTo>
                  <a:lnTo>
                    <a:pt x="2752969" y="14998"/>
                  </a:lnTo>
                  <a:lnTo>
                    <a:pt x="2804872" y="14998"/>
                  </a:lnTo>
                  <a:lnTo>
                    <a:pt x="2808006" y="11728"/>
                  </a:lnTo>
                  <a:lnTo>
                    <a:pt x="2808006" y="3269"/>
                  </a:lnTo>
                  <a:lnTo>
                    <a:pt x="2804872" y="0"/>
                  </a:lnTo>
                  <a:close/>
                </a:path>
                <a:path w="5131434" h="15239">
                  <a:moveTo>
                    <a:pt x="2863631" y="0"/>
                  </a:moveTo>
                  <a:lnTo>
                    <a:pt x="2855601" y="0"/>
                  </a:lnTo>
                  <a:lnTo>
                    <a:pt x="2852271" y="3269"/>
                  </a:lnTo>
                  <a:lnTo>
                    <a:pt x="2852271" y="11728"/>
                  </a:lnTo>
                  <a:lnTo>
                    <a:pt x="2855601" y="14998"/>
                  </a:lnTo>
                  <a:lnTo>
                    <a:pt x="2863631" y="14998"/>
                  </a:lnTo>
                  <a:lnTo>
                    <a:pt x="2866961" y="11728"/>
                  </a:lnTo>
                  <a:lnTo>
                    <a:pt x="2866961" y="3269"/>
                  </a:lnTo>
                  <a:lnTo>
                    <a:pt x="2863631" y="0"/>
                  </a:lnTo>
                  <a:close/>
                </a:path>
                <a:path w="5131434" h="15239">
                  <a:moveTo>
                    <a:pt x="2966655" y="0"/>
                  </a:moveTo>
                  <a:lnTo>
                    <a:pt x="2914360" y="0"/>
                  </a:lnTo>
                  <a:lnTo>
                    <a:pt x="2911030" y="3269"/>
                  </a:lnTo>
                  <a:lnTo>
                    <a:pt x="2911030" y="11728"/>
                  </a:lnTo>
                  <a:lnTo>
                    <a:pt x="2914360" y="14998"/>
                  </a:lnTo>
                  <a:lnTo>
                    <a:pt x="2966655" y="14998"/>
                  </a:lnTo>
                  <a:lnTo>
                    <a:pt x="2969789" y="11728"/>
                  </a:lnTo>
                  <a:lnTo>
                    <a:pt x="2969789" y="3269"/>
                  </a:lnTo>
                  <a:lnTo>
                    <a:pt x="2966655" y="0"/>
                  </a:lnTo>
                  <a:close/>
                </a:path>
                <a:path w="5131434" h="15239">
                  <a:moveTo>
                    <a:pt x="3025414" y="0"/>
                  </a:moveTo>
                  <a:lnTo>
                    <a:pt x="3017383" y="0"/>
                  </a:lnTo>
                  <a:lnTo>
                    <a:pt x="3014054" y="3269"/>
                  </a:lnTo>
                  <a:lnTo>
                    <a:pt x="3014054" y="11728"/>
                  </a:lnTo>
                  <a:lnTo>
                    <a:pt x="3017383" y="14998"/>
                  </a:lnTo>
                  <a:lnTo>
                    <a:pt x="3025414" y="14998"/>
                  </a:lnTo>
                  <a:lnTo>
                    <a:pt x="3028744" y="11728"/>
                  </a:lnTo>
                  <a:lnTo>
                    <a:pt x="3028744" y="3269"/>
                  </a:lnTo>
                  <a:lnTo>
                    <a:pt x="3025414" y="0"/>
                  </a:lnTo>
                  <a:close/>
                </a:path>
                <a:path w="5131434" h="15239">
                  <a:moveTo>
                    <a:pt x="3128438" y="0"/>
                  </a:moveTo>
                  <a:lnTo>
                    <a:pt x="3076142" y="0"/>
                  </a:lnTo>
                  <a:lnTo>
                    <a:pt x="3072813" y="3269"/>
                  </a:lnTo>
                  <a:lnTo>
                    <a:pt x="3072813" y="11728"/>
                  </a:lnTo>
                  <a:lnTo>
                    <a:pt x="3076142" y="14998"/>
                  </a:lnTo>
                  <a:lnTo>
                    <a:pt x="3128438" y="14998"/>
                  </a:lnTo>
                  <a:lnTo>
                    <a:pt x="3131571" y="11728"/>
                  </a:lnTo>
                  <a:lnTo>
                    <a:pt x="3131571" y="3269"/>
                  </a:lnTo>
                  <a:lnTo>
                    <a:pt x="3128438" y="0"/>
                  </a:lnTo>
                  <a:close/>
                </a:path>
                <a:path w="5131434" h="15239">
                  <a:moveTo>
                    <a:pt x="3187197" y="0"/>
                  </a:moveTo>
                  <a:lnTo>
                    <a:pt x="3179166" y="0"/>
                  </a:lnTo>
                  <a:lnTo>
                    <a:pt x="3175836" y="3269"/>
                  </a:lnTo>
                  <a:lnTo>
                    <a:pt x="3175836" y="11728"/>
                  </a:lnTo>
                  <a:lnTo>
                    <a:pt x="3179166" y="14998"/>
                  </a:lnTo>
                  <a:lnTo>
                    <a:pt x="3187197" y="14998"/>
                  </a:lnTo>
                  <a:lnTo>
                    <a:pt x="3190526" y="11728"/>
                  </a:lnTo>
                  <a:lnTo>
                    <a:pt x="3190526" y="3269"/>
                  </a:lnTo>
                  <a:lnTo>
                    <a:pt x="3187197" y="0"/>
                  </a:lnTo>
                  <a:close/>
                </a:path>
                <a:path w="5131434" h="15239">
                  <a:moveTo>
                    <a:pt x="3290220" y="0"/>
                  </a:moveTo>
                  <a:lnTo>
                    <a:pt x="3237925" y="0"/>
                  </a:lnTo>
                  <a:lnTo>
                    <a:pt x="3234595" y="3269"/>
                  </a:lnTo>
                  <a:lnTo>
                    <a:pt x="3234595" y="11728"/>
                  </a:lnTo>
                  <a:lnTo>
                    <a:pt x="3237925" y="14998"/>
                  </a:lnTo>
                  <a:lnTo>
                    <a:pt x="3290220" y="14998"/>
                  </a:lnTo>
                  <a:lnTo>
                    <a:pt x="3293354" y="11728"/>
                  </a:lnTo>
                  <a:lnTo>
                    <a:pt x="3293354" y="3269"/>
                  </a:lnTo>
                  <a:lnTo>
                    <a:pt x="3290220" y="0"/>
                  </a:lnTo>
                  <a:close/>
                </a:path>
                <a:path w="5131434" h="15239">
                  <a:moveTo>
                    <a:pt x="3348979" y="0"/>
                  </a:moveTo>
                  <a:lnTo>
                    <a:pt x="3340949" y="0"/>
                  </a:lnTo>
                  <a:lnTo>
                    <a:pt x="3337227" y="3269"/>
                  </a:lnTo>
                  <a:lnTo>
                    <a:pt x="3337227" y="11728"/>
                  </a:lnTo>
                  <a:lnTo>
                    <a:pt x="3340949" y="14998"/>
                  </a:lnTo>
                  <a:lnTo>
                    <a:pt x="3348979" y="14998"/>
                  </a:lnTo>
                  <a:lnTo>
                    <a:pt x="3352309" y="11728"/>
                  </a:lnTo>
                  <a:lnTo>
                    <a:pt x="3352309" y="3269"/>
                  </a:lnTo>
                  <a:lnTo>
                    <a:pt x="3348979" y="0"/>
                  </a:lnTo>
                  <a:close/>
                </a:path>
                <a:path w="5131434" h="15239">
                  <a:moveTo>
                    <a:pt x="3452003" y="0"/>
                  </a:moveTo>
                  <a:lnTo>
                    <a:pt x="3399708" y="0"/>
                  </a:lnTo>
                  <a:lnTo>
                    <a:pt x="3396378" y="3269"/>
                  </a:lnTo>
                  <a:lnTo>
                    <a:pt x="3396378" y="11728"/>
                  </a:lnTo>
                  <a:lnTo>
                    <a:pt x="3399708" y="14998"/>
                  </a:lnTo>
                  <a:lnTo>
                    <a:pt x="3452003" y="14998"/>
                  </a:lnTo>
                  <a:lnTo>
                    <a:pt x="3455137" y="11728"/>
                  </a:lnTo>
                  <a:lnTo>
                    <a:pt x="3455137" y="3269"/>
                  </a:lnTo>
                  <a:lnTo>
                    <a:pt x="3452003" y="0"/>
                  </a:lnTo>
                  <a:close/>
                </a:path>
                <a:path w="5131434" h="15239">
                  <a:moveTo>
                    <a:pt x="3510762" y="0"/>
                  </a:moveTo>
                  <a:lnTo>
                    <a:pt x="3502732" y="0"/>
                  </a:lnTo>
                  <a:lnTo>
                    <a:pt x="3499402" y="3269"/>
                  </a:lnTo>
                  <a:lnTo>
                    <a:pt x="3499402" y="11728"/>
                  </a:lnTo>
                  <a:lnTo>
                    <a:pt x="3502732" y="14998"/>
                  </a:lnTo>
                  <a:lnTo>
                    <a:pt x="3510762" y="14998"/>
                  </a:lnTo>
                  <a:lnTo>
                    <a:pt x="3513896" y="11728"/>
                  </a:lnTo>
                  <a:lnTo>
                    <a:pt x="3513896" y="3269"/>
                  </a:lnTo>
                  <a:lnTo>
                    <a:pt x="3510762" y="0"/>
                  </a:lnTo>
                  <a:close/>
                </a:path>
                <a:path w="5131434" h="15239">
                  <a:moveTo>
                    <a:pt x="3613786" y="0"/>
                  </a:moveTo>
                  <a:lnTo>
                    <a:pt x="3561490" y="0"/>
                  </a:lnTo>
                  <a:lnTo>
                    <a:pt x="3558161" y="3269"/>
                  </a:lnTo>
                  <a:lnTo>
                    <a:pt x="3558161" y="11728"/>
                  </a:lnTo>
                  <a:lnTo>
                    <a:pt x="3561490" y="14998"/>
                  </a:lnTo>
                  <a:lnTo>
                    <a:pt x="3613786" y="14998"/>
                  </a:lnTo>
                  <a:lnTo>
                    <a:pt x="3616920" y="11728"/>
                  </a:lnTo>
                  <a:lnTo>
                    <a:pt x="3616920" y="3269"/>
                  </a:lnTo>
                  <a:lnTo>
                    <a:pt x="3613786" y="0"/>
                  </a:lnTo>
                  <a:close/>
                </a:path>
                <a:path w="5131434" h="15239">
                  <a:moveTo>
                    <a:pt x="3672545" y="0"/>
                  </a:moveTo>
                  <a:lnTo>
                    <a:pt x="3664514" y="0"/>
                  </a:lnTo>
                  <a:lnTo>
                    <a:pt x="3661185" y="3269"/>
                  </a:lnTo>
                  <a:lnTo>
                    <a:pt x="3661185" y="11728"/>
                  </a:lnTo>
                  <a:lnTo>
                    <a:pt x="3664514" y="14998"/>
                  </a:lnTo>
                  <a:lnTo>
                    <a:pt x="3672545" y="14998"/>
                  </a:lnTo>
                  <a:lnTo>
                    <a:pt x="3675678" y="11728"/>
                  </a:lnTo>
                  <a:lnTo>
                    <a:pt x="3675678" y="3269"/>
                  </a:lnTo>
                  <a:lnTo>
                    <a:pt x="3672545" y="0"/>
                  </a:lnTo>
                  <a:close/>
                </a:path>
                <a:path w="5131434" h="15239">
                  <a:moveTo>
                    <a:pt x="3774981" y="0"/>
                  </a:moveTo>
                  <a:lnTo>
                    <a:pt x="3723273" y="0"/>
                  </a:lnTo>
                  <a:lnTo>
                    <a:pt x="3719943" y="3269"/>
                  </a:lnTo>
                  <a:lnTo>
                    <a:pt x="3719943" y="11728"/>
                  </a:lnTo>
                  <a:lnTo>
                    <a:pt x="3723273" y="14998"/>
                  </a:lnTo>
                  <a:lnTo>
                    <a:pt x="3774981" y="14998"/>
                  </a:lnTo>
                  <a:lnTo>
                    <a:pt x="3778702" y="11728"/>
                  </a:lnTo>
                  <a:lnTo>
                    <a:pt x="3778702" y="3269"/>
                  </a:lnTo>
                  <a:lnTo>
                    <a:pt x="3774981" y="0"/>
                  </a:lnTo>
                  <a:close/>
                </a:path>
                <a:path w="5131434" h="15239">
                  <a:moveTo>
                    <a:pt x="3833740" y="0"/>
                  </a:moveTo>
                  <a:lnTo>
                    <a:pt x="3826297" y="0"/>
                  </a:lnTo>
                  <a:lnTo>
                    <a:pt x="3822967" y="3269"/>
                  </a:lnTo>
                  <a:lnTo>
                    <a:pt x="3822967" y="11728"/>
                  </a:lnTo>
                  <a:lnTo>
                    <a:pt x="3826297" y="14998"/>
                  </a:lnTo>
                  <a:lnTo>
                    <a:pt x="3833740" y="14998"/>
                  </a:lnTo>
                  <a:lnTo>
                    <a:pt x="3837461" y="11728"/>
                  </a:lnTo>
                  <a:lnTo>
                    <a:pt x="3837461" y="3269"/>
                  </a:lnTo>
                  <a:lnTo>
                    <a:pt x="3833740" y="0"/>
                  </a:lnTo>
                  <a:close/>
                </a:path>
                <a:path w="5131434" h="15239">
                  <a:moveTo>
                    <a:pt x="3936763" y="0"/>
                  </a:moveTo>
                  <a:lnTo>
                    <a:pt x="3885056" y="0"/>
                  </a:lnTo>
                  <a:lnTo>
                    <a:pt x="3881726" y="3269"/>
                  </a:lnTo>
                  <a:lnTo>
                    <a:pt x="3881726" y="11728"/>
                  </a:lnTo>
                  <a:lnTo>
                    <a:pt x="3885056" y="14998"/>
                  </a:lnTo>
                  <a:lnTo>
                    <a:pt x="3936763" y="14998"/>
                  </a:lnTo>
                  <a:lnTo>
                    <a:pt x="3940485" y="11728"/>
                  </a:lnTo>
                  <a:lnTo>
                    <a:pt x="3940485" y="3269"/>
                  </a:lnTo>
                  <a:lnTo>
                    <a:pt x="3936763" y="0"/>
                  </a:lnTo>
                  <a:close/>
                </a:path>
                <a:path w="5131434" h="15239">
                  <a:moveTo>
                    <a:pt x="3996110" y="0"/>
                  </a:moveTo>
                  <a:lnTo>
                    <a:pt x="3987492" y="0"/>
                  </a:lnTo>
                  <a:lnTo>
                    <a:pt x="3984358" y="3269"/>
                  </a:lnTo>
                  <a:lnTo>
                    <a:pt x="3984358" y="11728"/>
                  </a:lnTo>
                  <a:lnTo>
                    <a:pt x="3987492" y="14998"/>
                  </a:lnTo>
                  <a:lnTo>
                    <a:pt x="3996110" y="14998"/>
                  </a:lnTo>
                  <a:lnTo>
                    <a:pt x="3999244" y="11728"/>
                  </a:lnTo>
                  <a:lnTo>
                    <a:pt x="3999244" y="3269"/>
                  </a:lnTo>
                  <a:lnTo>
                    <a:pt x="3996110" y="0"/>
                  </a:lnTo>
                  <a:close/>
                </a:path>
                <a:path w="5131434" h="15239">
                  <a:moveTo>
                    <a:pt x="4098938" y="0"/>
                  </a:moveTo>
                  <a:lnTo>
                    <a:pt x="4046447" y="0"/>
                  </a:lnTo>
                  <a:lnTo>
                    <a:pt x="4043509" y="3269"/>
                  </a:lnTo>
                  <a:lnTo>
                    <a:pt x="4043509" y="11728"/>
                  </a:lnTo>
                  <a:lnTo>
                    <a:pt x="4046447" y="14998"/>
                  </a:lnTo>
                  <a:lnTo>
                    <a:pt x="4098938" y="14998"/>
                  </a:lnTo>
                  <a:lnTo>
                    <a:pt x="4102268" y="11728"/>
                  </a:lnTo>
                  <a:lnTo>
                    <a:pt x="4102268" y="3269"/>
                  </a:lnTo>
                  <a:lnTo>
                    <a:pt x="4098938" y="0"/>
                  </a:lnTo>
                  <a:close/>
                </a:path>
                <a:path w="5131434" h="15239">
                  <a:moveTo>
                    <a:pt x="4157893" y="0"/>
                  </a:moveTo>
                  <a:lnTo>
                    <a:pt x="4149275" y="0"/>
                  </a:lnTo>
                  <a:lnTo>
                    <a:pt x="4146141" y="3269"/>
                  </a:lnTo>
                  <a:lnTo>
                    <a:pt x="4146141" y="11728"/>
                  </a:lnTo>
                  <a:lnTo>
                    <a:pt x="4149275" y="14998"/>
                  </a:lnTo>
                  <a:lnTo>
                    <a:pt x="4157893" y="14998"/>
                  </a:lnTo>
                  <a:lnTo>
                    <a:pt x="4161026" y="11728"/>
                  </a:lnTo>
                  <a:lnTo>
                    <a:pt x="4161026" y="3269"/>
                  </a:lnTo>
                  <a:lnTo>
                    <a:pt x="4157893" y="0"/>
                  </a:lnTo>
                  <a:close/>
                </a:path>
                <a:path w="5131434" h="15239">
                  <a:moveTo>
                    <a:pt x="4260329" y="0"/>
                  </a:moveTo>
                  <a:lnTo>
                    <a:pt x="4208229" y="0"/>
                  </a:lnTo>
                  <a:lnTo>
                    <a:pt x="4204900" y="3269"/>
                  </a:lnTo>
                  <a:lnTo>
                    <a:pt x="4204900" y="11728"/>
                  </a:lnTo>
                  <a:lnTo>
                    <a:pt x="4208229" y="14998"/>
                  </a:lnTo>
                  <a:lnTo>
                    <a:pt x="4260329" y="14998"/>
                  </a:lnTo>
                  <a:lnTo>
                    <a:pt x="4263658" y="11728"/>
                  </a:lnTo>
                  <a:lnTo>
                    <a:pt x="4263658" y="3269"/>
                  </a:lnTo>
                  <a:lnTo>
                    <a:pt x="4260329" y="0"/>
                  </a:lnTo>
                  <a:close/>
                </a:path>
                <a:path w="5131434" h="15239">
                  <a:moveTo>
                    <a:pt x="4319675" y="0"/>
                  </a:moveTo>
                  <a:lnTo>
                    <a:pt x="4311057" y="0"/>
                  </a:lnTo>
                  <a:lnTo>
                    <a:pt x="4307923" y="3269"/>
                  </a:lnTo>
                  <a:lnTo>
                    <a:pt x="4307923" y="11728"/>
                  </a:lnTo>
                  <a:lnTo>
                    <a:pt x="4311057" y="14998"/>
                  </a:lnTo>
                  <a:lnTo>
                    <a:pt x="4319675" y="14998"/>
                  </a:lnTo>
                  <a:lnTo>
                    <a:pt x="4322417" y="11728"/>
                  </a:lnTo>
                  <a:lnTo>
                    <a:pt x="4322417" y="3269"/>
                  </a:lnTo>
                  <a:lnTo>
                    <a:pt x="4319675" y="0"/>
                  </a:lnTo>
                  <a:close/>
                </a:path>
                <a:path w="5131434" h="15239">
                  <a:moveTo>
                    <a:pt x="4422111" y="0"/>
                  </a:moveTo>
                  <a:lnTo>
                    <a:pt x="4370012" y="0"/>
                  </a:lnTo>
                  <a:lnTo>
                    <a:pt x="4366682" y="3269"/>
                  </a:lnTo>
                  <a:lnTo>
                    <a:pt x="4366682" y="11728"/>
                  </a:lnTo>
                  <a:lnTo>
                    <a:pt x="4370012" y="14998"/>
                  </a:lnTo>
                  <a:lnTo>
                    <a:pt x="4422111" y="14998"/>
                  </a:lnTo>
                  <a:lnTo>
                    <a:pt x="4425441" y="11728"/>
                  </a:lnTo>
                  <a:lnTo>
                    <a:pt x="4425441" y="3269"/>
                  </a:lnTo>
                  <a:lnTo>
                    <a:pt x="4422111" y="0"/>
                  </a:lnTo>
                  <a:close/>
                </a:path>
                <a:path w="5131434" h="15239">
                  <a:moveTo>
                    <a:pt x="4480870" y="0"/>
                  </a:moveTo>
                  <a:lnTo>
                    <a:pt x="4472840" y="0"/>
                  </a:lnTo>
                  <a:lnTo>
                    <a:pt x="4469706" y="3269"/>
                  </a:lnTo>
                  <a:lnTo>
                    <a:pt x="4469706" y="11728"/>
                  </a:lnTo>
                  <a:lnTo>
                    <a:pt x="4472840" y="14998"/>
                  </a:lnTo>
                  <a:lnTo>
                    <a:pt x="4480870" y="14998"/>
                  </a:lnTo>
                  <a:lnTo>
                    <a:pt x="4484200" y="11728"/>
                  </a:lnTo>
                  <a:lnTo>
                    <a:pt x="4484200" y="3269"/>
                  </a:lnTo>
                  <a:lnTo>
                    <a:pt x="4480870" y="0"/>
                  </a:lnTo>
                  <a:close/>
                </a:path>
                <a:path w="5131434" h="15239">
                  <a:moveTo>
                    <a:pt x="4583894" y="0"/>
                  </a:moveTo>
                  <a:lnTo>
                    <a:pt x="4531599" y="0"/>
                  </a:lnTo>
                  <a:lnTo>
                    <a:pt x="4528465" y="3269"/>
                  </a:lnTo>
                  <a:lnTo>
                    <a:pt x="4528465" y="11728"/>
                  </a:lnTo>
                  <a:lnTo>
                    <a:pt x="4531599" y="14998"/>
                  </a:lnTo>
                  <a:lnTo>
                    <a:pt x="4583894" y="14998"/>
                  </a:lnTo>
                  <a:lnTo>
                    <a:pt x="4587224" y="11728"/>
                  </a:lnTo>
                  <a:lnTo>
                    <a:pt x="4587224" y="3269"/>
                  </a:lnTo>
                  <a:lnTo>
                    <a:pt x="4583894" y="0"/>
                  </a:lnTo>
                  <a:close/>
                </a:path>
                <a:path w="5131434" h="15239">
                  <a:moveTo>
                    <a:pt x="4642653" y="0"/>
                  </a:moveTo>
                  <a:lnTo>
                    <a:pt x="4634623" y="0"/>
                  </a:lnTo>
                  <a:lnTo>
                    <a:pt x="4631489" y="3269"/>
                  </a:lnTo>
                  <a:lnTo>
                    <a:pt x="4631489" y="11728"/>
                  </a:lnTo>
                  <a:lnTo>
                    <a:pt x="4634623" y="14998"/>
                  </a:lnTo>
                  <a:lnTo>
                    <a:pt x="4642653" y="14998"/>
                  </a:lnTo>
                  <a:lnTo>
                    <a:pt x="4645983" y="11728"/>
                  </a:lnTo>
                  <a:lnTo>
                    <a:pt x="4645983" y="3269"/>
                  </a:lnTo>
                  <a:lnTo>
                    <a:pt x="4642653" y="0"/>
                  </a:lnTo>
                  <a:close/>
                </a:path>
                <a:path w="5131434" h="15239">
                  <a:moveTo>
                    <a:pt x="4745677" y="0"/>
                  </a:moveTo>
                  <a:lnTo>
                    <a:pt x="4693381" y="0"/>
                  </a:lnTo>
                  <a:lnTo>
                    <a:pt x="4690248" y="3269"/>
                  </a:lnTo>
                  <a:lnTo>
                    <a:pt x="4690248" y="11728"/>
                  </a:lnTo>
                  <a:lnTo>
                    <a:pt x="4693381" y="14998"/>
                  </a:lnTo>
                  <a:lnTo>
                    <a:pt x="4745677" y="14998"/>
                  </a:lnTo>
                  <a:lnTo>
                    <a:pt x="4749007" y="11728"/>
                  </a:lnTo>
                  <a:lnTo>
                    <a:pt x="4749007" y="3269"/>
                  </a:lnTo>
                  <a:lnTo>
                    <a:pt x="4745677" y="0"/>
                  </a:lnTo>
                  <a:close/>
                </a:path>
                <a:path w="5131434" h="15239">
                  <a:moveTo>
                    <a:pt x="4804436" y="0"/>
                  </a:moveTo>
                  <a:lnTo>
                    <a:pt x="4796405" y="0"/>
                  </a:lnTo>
                  <a:lnTo>
                    <a:pt x="4793272" y="3269"/>
                  </a:lnTo>
                  <a:lnTo>
                    <a:pt x="4793272" y="11728"/>
                  </a:lnTo>
                  <a:lnTo>
                    <a:pt x="4796405" y="14998"/>
                  </a:lnTo>
                  <a:lnTo>
                    <a:pt x="4804436" y="14998"/>
                  </a:lnTo>
                  <a:lnTo>
                    <a:pt x="4807765" y="11728"/>
                  </a:lnTo>
                  <a:lnTo>
                    <a:pt x="4807765" y="3269"/>
                  </a:lnTo>
                  <a:lnTo>
                    <a:pt x="4804436" y="0"/>
                  </a:lnTo>
                  <a:close/>
                </a:path>
                <a:path w="5131434" h="15239">
                  <a:moveTo>
                    <a:pt x="4907460" y="0"/>
                  </a:moveTo>
                  <a:lnTo>
                    <a:pt x="4855164" y="0"/>
                  </a:lnTo>
                  <a:lnTo>
                    <a:pt x="4852030" y="3269"/>
                  </a:lnTo>
                  <a:lnTo>
                    <a:pt x="4852030" y="11728"/>
                  </a:lnTo>
                  <a:lnTo>
                    <a:pt x="4855164" y="14998"/>
                  </a:lnTo>
                  <a:lnTo>
                    <a:pt x="4907460" y="14998"/>
                  </a:lnTo>
                  <a:lnTo>
                    <a:pt x="4910789" y="11728"/>
                  </a:lnTo>
                  <a:lnTo>
                    <a:pt x="4910789" y="3269"/>
                  </a:lnTo>
                  <a:lnTo>
                    <a:pt x="4907460" y="0"/>
                  </a:lnTo>
                  <a:close/>
                </a:path>
                <a:path w="5131434" h="15239">
                  <a:moveTo>
                    <a:pt x="4966218" y="0"/>
                  </a:moveTo>
                  <a:lnTo>
                    <a:pt x="4957796" y="0"/>
                  </a:lnTo>
                  <a:lnTo>
                    <a:pt x="4955054" y="3269"/>
                  </a:lnTo>
                  <a:lnTo>
                    <a:pt x="4955054" y="11728"/>
                  </a:lnTo>
                  <a:lnTo>
                    <a:pt x="4957796" y="14998"/>
                  </a:lnTo>
                  <a:lnTo>
                    <a:pt x="4966218" y="14998"/>
                  </a:lnTo>
                  <a:lnTo>
                    <a:pt x="4969548" y="11728"/>
                  </a:lnTo>
                  <a:lnTo>
                    <a:pt x="4969548" y="3269"/>
                  </a:lnTo>
                  <a:lnTo>
                    <a:pt x="4966218" y="0"/>
                  </a:lnTo>
                  <a:close/>
                </a:path>
                <a:path w="5131434" h="15239">
                  <a:moveTo>
                    <a:pt x="5069242" y="0"/>
                  </a:moveTo>
                  <a:lnTo>
                    <a:pt x="5016555" y="0"/>
                  </a:lnTo>
                  <a:lnTo>
                    <a:pt x="5013813" y="3269"/>
                  </a:lnTo>
                  <a:lnTo>
                    <a:pt x="5013813" y="11728"/>
                  </a:lnTo>
                  <a:lnTo>
                    <a:pt x="5016555" y="14998"/>
                  </a:lnTo>
                  <a:lnTo>
                    <a:pt x="5069242" y="14998"/>
                  </a:lnTo>
                  <a:lnTo>
                    <a:pt x="5072572" y="11728"/>
                  </a:lnTo>
                  <a:lnTo>
                    <a:pt x="5072572" y="3269"/>
                  </a:lnTo>
                  <a:lnTo>
                    <a:pt x="5069242" y="0"/>
                  </a:lnTo>
                  <a:close/>
                </a:path>
                <a:path w="5131434" h="15239">
                  <a:moveTo>
                    <a:pt x="5128001" y="0"/>
                  </a:moveTo>
                  <a:lnTo>
                    <a:pt x="5119579" y="0"/>
                  </a:lnTo>
                  <a:lnTo>
                    <a:pt x="5116249" y="3269"/>
                  </a:lnTo>
                  <a:lnTo>
                    <a:pt x="5116249" y="11728"/>
                  </a:lnTo>
                  <a:lnTo>
                    <a:pt x="5119579" y="14998"/>
                  </a:lnTo>
                  <a:lnTo>
                    <a:pt x="5128001" y="14998"/>
                  </a:lnTo>
                  <a:lnTo>
                    <a:pt x="5131331" y="11728"/>
                  </a:lnTo>
                  <a:lnTo>
                    <a:pt x="5131331" y="3269"/>
                  </a:lnTo>
                  <a:lnTo>
                    <a:pt x="5128001" y="0"/>
                  </a:lnTo>
                  <a:close/>
                </a:path>
              </a:pathLst>
            </a:custGeom>
            <a:solidFill>
              <a:srgbClr val="000000"/>
            </a:solidFill>
          </p:spPr>
          <p:txBody>
            <a:bodyPr wrap="square" lIns="0" tIns="0" rIns="0" bIns="0" rtlCol="0"/>
            <a:lstStyle/>
            <a:p/>
          </p:txBody>
        </p:sp>
        <p:pic>
          <p:nvPicPr>
            <p:cNvPr id="122" name="object 122" descr=""/>
            <p:cNvPicPr/>
            <p:nvPr/>
          </p:nvPicPr>
          <p:blipFill>
            <a:blip r:embed="rId5" cstate="print"/>
            <a:stretch>
              <a:fillRect/>
            </a:stretch>
          </p:blipFill>
          <p:spPr>
            <a:xfrm>
              <a:off x="2684779" y="4432490"/>
              <a:ext cx="6662904" cy="1062418"/>
            </a:xfrm>
            <a:prstGeom prst="rect">
              <a:avLst/>
            </a:prstGeom>
          </p:spPr>
        </p:pic>
      </p:grpSp>
      <p:sp>
        <p:nvSpPr>
          <p:cNvPr id="123" name="object 123" descr=""/>
          <p:cNvSpPr txBox="1"/>
          <p:nvPr/>
        </p:nvSpPr>
        <p:spPr>
          <a:xfrm>
            <a:off x="3217033" y="4555045"/>
            <a:ext cx="1141730" cy="237490"/>
          </a:xfrm>
          <a:prstGeom prst="rect">
            <a:avLst/>
          </a:prstGeom>
        </p:spPr>
        <p:txBody>
          <a:bodyPr wrap="square" lIns="0" tIns="17145" rIns="0" bIns="0" rtlCol="0" vert="horz">
            <a:spAutoFit/>
          </a:bodyPr>
          <a:lstStyle/>
          <a:p>
            <a:pPr marL="12700">
              <a:lnSpc>
                <a:spcPct val="100000"/>
              </a:lnSpc>
              <a:spcBef>
                <a:spcPts val="135"/>
              </a:spcBef>
              <a:tabLst>
                <a:tab pos="558165" algn="l"/>
              </a:tabLst>
            </a:pPr>
            <a:r>
              <a:rPr dirty="0" sz="1350" spc="-25">
                <a:latin typeface="Times New Roman"/>
                <a:cs typeface="Times New Roman"/>
              </a:rPr>
              <a:t>ADD</a:t>
            </a:r>
            <a:r>
              <a:rPr dirty="0" sz="1350">
                <a:latin typeface="Times New Roman"/>
                <a:cs typeface="Times New Roman"/>
              </a:rPr>
              <a:t>	</a:t>
            </a:r>
            <a:r>
              <a:rPr dirty="0" sz="1350" spc="-20">
                <a:latin typeface="Times New Roman"/>
                <a:cs typeface="Times New Roman"/>
              </a:rPr>
              <a:t>MULT1</a:t>
            </a:r>
            <a:endParaRPr sz="1350">
              <a:latin typeface="Times New Roman"/>
              <a:cs typeface="Times New Roman"/>
            </a:endParaRPr>
          </a:p>
        </p:txBody>
      </p:sp>
      <p:sp>
        <p:nvSpPr>
          <p:cNvPr id="124" name="object 124" descr=""/>
          <p:cNvSpPr txBox="1"/>
          <p:nvPr/>
        </p:nvSpPr>
        <p:spPr>
          <a:xfrm>
            <a:off x="1350391" y="1179703"/>
            <a:ext cx="1767205" cy="57404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40458B"/>
                </a:solidFill>
                <a:latin typeface="Tahoma"/>
                <a:cs typeface="Tahoma"/>
              </a:rPr>
              <a:t>1</a:t>
            </a:r>
            <a:r>
              <a:rPr dirty="0" sz="1800">
                <a:solidFill>
                  <a:srgbClr val="40458B"/>
                </a:solidFill>
                <a:latin typeface="黑体"/>
                <a:cs typeface="黑体"/>
              </a:rPr>
              <a:t>、</a:t>
            </a:r>
            <a:r>
              <a:rPr dirty="0" sz="1800">
                <a:solidFill>
                  <a:srgbClr val="40458B"/>
                </a:solidFill>
                <a:latin typeface="Tahoma"/>
                <a:cs typeface="Tahoma"/>
              </a:rPr>
              <a:t>MUL</a:t>
            </a:r>
            <a:r>
              <a:rPr dirty="0" sz="1800" spc="5">
                <a:solidFill>
                  <a:srgbClr val="40458B"/>
                </a:solidFill>
                <a:latin typeface="Tahoma"/>
                <a:cs typeface="Tahoma"/>
              </a:rPr>
              <a:t> </a:t>
            </a:r>
            <a:r>
              <a:rPr dirty="0" sz="1800" spc="-10">
                <a:solidFill>
                  <a:srgbClr val="FF0000"/>
                </a:solidFill>
                <a:latin typeface="Tahoma"/>
                <a:cs typeface="Tahoma"/>
              </a:rPr>
              <a:t>F0</a:t>
            </a:r>
            <a:r>
              <a:rPr dirty="0" sz="1800" spc="-10">
                <a:solidFill>
                  <a:srgbClr val="40458B"/>
                </a:solidFill>
                <a:latin typeface="Tahoma"/>
                <a:cs typeface="Tahoma"/>
              </a:rPr>
              <a:t>,F2,F4</a:t>
            </a:r>
            <a:endParaRPr sz="1800">
              <a:latin typeface="Tahoma"/>
              <a:cs typeface="Tahoma"/>
            </a:endParaRPr>
          </a:p>
          <a:p>
            <a:pPr marL="12700">
              <a:lnSpc>
                <a:spcPct val="100000"/>
              </a:lnSpc>
            </a:pPr>
            <a:r>
              <a:rPr dirty="0" sz="1800" spc="-10">
                <a:solidFill>
                  <a:srgbClr val="40458B"/>
                </a:solidFill>
                <a:latin typeface="Tahoma"/>
                <a:cs typeface="Tahoma"/>
              </a:rPr>
              <a:t>2</a:t>
            </a:r>
            <a:r>
              <a:rPr dirty="0" sz="1800">
                <a:solidFill>
                  <a:srgbClr val="40458B"/>
                </a:solidFill>
                <a:latin typeface="黑体"/>
                <a:cs typeface="黑体"/>
              </a:rPr>
              <a:t>、</a:t>
            </a:r>
            <a:r>
              <a:rPr dirty="0" sz="1800">
                <a:solidFill>
                  <a:srgbClr val="40458B"/>
                </a:solidFill>
                <a:latin typeface="Tahoma"/>
                <a:cs typeface="Tahoma"/>
              </a:rPr>
              <a:t>ADD</a:t>
            </a:r>
            <a:r>
              <a:rPr dirty="0" sz="1800" spc="-45">
                <a:solidFill>
                  <a:srgbClr val="40458B"/>
                </a:solidFill>
                <a:latin typeface="Tahoma"/>
                <a:cs typeface="Tahoma"/>
              </a:rPr>
              <a:t> </a:t>
            </a:r>
            <a:r>
              <a:rPr dirty="0" sz="1800" spc="-10">
                <a:solidFill>
                  <a:srgbClr val="40458B"/>
                </a:solidFill>
                <a:latin typeface="Tahoma"/>
                <a:cs typeface="Tahoma"/>
              </a:rPr>
              <a:t>F2</a:t>
            </a:r>
            <a:r>
              <a:rPr dirty="0" sz="1800" spc="-10">
                <a:solidFill>
                  <a:srgbClr val="FF0000"/>
                </a:solidFill>
                <a:latin typeface="Tahoma"/>
                <a:cs typeface="Tahoma"/>
              </a:rPr>
              <a:t>,F</a:t>
            </a:r>
            <a:r>
              <a:rPr dirty="0" sz="1800" spc="-10">
                <a:solidFill>
                  <a:srgbClr val="40458B"/>
                </a:solidFill>
                <a:latin typeface="Tahoma"/>
                <a:cs typeface="Tahoma"/>
              </a:rPr>
              <a:t>0,F6</a:t>
            </a:r>
            <a:endParaRPr sz="1800">
              <a:latin typeface="Tahoma"/>
              <a:cs typeface="Tahoma"/>
            </a:endParaRPr>
          </a:p>
        </p:txBody>
      </p:sp>
      <p:grpSp>
        <p:nvGrpSpPr>
          <p:cNvPr id="125" name="object 125" descr=""/>
          <p:cNvGrpSpPr/>
          <p:nvPr/>
        </p:nvGrpSpPr>
        <p:grpSpPr>
          <a:xfrm>
            <a:off x="2639567" y="2560637"/>
            <a:ext cx="5333365" cy="2456815"/>
            <a:chOff x="2639567" y="2560637"/>
            <a:chExt cx="5333365" cy="2456815"/>
          </a:xfrm>
        </p:grpSpPr>
        <p:sp>
          <p:nvSpPr>
            <p:cNvPr id="126" name="object 126" descr=""/>
            <p:cNvSpPr/>
            <p:nvPr/>
          </p:nvSpPr>
          <p:spPr>
            <a:xfrm>
              <a:off x="7391653" y="2565400"/>
              <a:ext cx="576580" cy="432434"/>
            </a:xfrm>
            <a:custGeom>
              <a:avLst/>
              <a:gdLst/>
              <a:ahLst/>
              <a:cxnLst/>
              <a:rect l="l" t="t" r="r" b="b"/>
              <a:pathLst>
                <a:path w="576579" h="432435">
                  <a:moveTo>
                    <a:pt x="0" y="216026"/>
                  </a:moveTo>
                  <a:lnTo>
                    <a:pt x="4638" y="177177"/>
                  </a:lnTo>
                  <a:lnTo>
                    <a:pt x="18014" y="140619"/>
                  </a:lnTo>
                  <a:lnTo>
                    <a:pt x="39313" y="106962"/>
                  </a:lnTo>
                  <a:lnTo>
                    <a:pt x="67724" y="76814"/>
                  </a:lnTo>
                  <a:lnTo>
                    <a:pt x="102436" y="50783"/>
                  </a:lnTo>
                  <a:lnTo>
                    <a:pt x="142635" y="29478"/>
                  </a:lnTo>
                  <a:lnTo>
                    <a:pt x="187509" y="13506"/>
                  </a:lnTo>
                  <a:lnTo>
                    <a:pt x="236247" y="3478"/>
                  </a:lnTo>
                  <a:lnTo>
                    <a:pt x="288036" y="0"/>
                  </a:lnTo>
                  <a:lnTo>
                    <a:pt x="339791" y="3478"/>
                  </a:lnTo>
                  <a:lnTo>
                    <a:pt x="388511" y="13506"/>
                  </a:lnTo>
                  <a:lnTo>
                    <a:pt x="433380" y="29478"/>
                  </a:lnTo>
                  <a:lnTo>
                    <a:pt x="473583" y="50783"/>
                  </a:lnTo>
                  <a:lnTo>
                    <a:pt x="508305" y="76814"/>
                  </a:lnTo>
                  <a:lnTo>
                    <a:pt x="536730" y="106962"/>
                  </a:lnTo>
                  <a:lnTo>
                    <a:pt x="558043" y="140619"/>
                  </a:lnTo>
                  <a:lnTo>
                    <a:pt x="571428" y="177177"/>
                  </a:lnTo>
                  <a:lnTo>
                    <a:pt x="576072" y="216026"/>
                  </a:lnTo>
                  <a:lnTo>
                    <a:pt x="571428" y="254839"/>
                  </a:lnTo>
                  <a:lnTo>
                    <a:pt x="558043" y="291367"/>
                  </a:lnTo>
                  <a:lnTo>
                    <a:pt x="536730" y="325002"/>
                  </a:lnTo>
                  <a:lnTo>
                    <a:pt x="508305" y="355134"/>
                  </a:lnTo>
                  <a:lnTo>
                    <a:pt x="473583" y="381154"/>
                  </a:lnTo>
                  <a:lnTo>
                    <a:pt x="433380" y="402453"/>
                  </a:lnTo>
                  <a:lnTo>
                    <a:pt x="388511" y="418421"/>
                  </a:lnTo>
                  <a:lnTo>
                    <a:pt x="339791" y="428449"/>
                  </a:lnTo>
                  <a:lnTo>
                    <a:pt x="288036" y="431926"/>
                  </a:lnTo>
                  <a:lnTo>
                    <a:pt x="236247" y="428449"/>
                  </a:lnTo>
                  <a:lnTo>
                    <a:pt x="187509" y="418421"/>
                  </a:lnTo>
                  <a:lnTo>
                    <a:pt x="142635" y="402453"/>
                  </a:lnTo>
                  <a:lnTo>
                    <a:pt x="102436" y="381154"/>
                  </a:lnTo>
                  <a:lnTo>
                    <a:pt x="67724" y="355134"/>
                  </a:lnTo>
                  <a:lnTo>
                    <a:pt x="39313" y="325002"/>
                  </a:lnTo>
                  <a:lnTo>
                    <a:pt x="18014" y="291367"/>
                  </a:lnTo>
                  <a:lnTo>
                    <a:pt x="4638" y="254839"/>
                  </a:lnTo>
                  <a:lnTo>
                    <a:pt x="0" y="216026"/>
                  </a:lnTo>
                  <a:close/>
                </a:path>
              </a:pathLst>
            </a:custGeom>
            <a:ln w="9525">
              <a:solidFill>
                <a:srgbClr val="FF0000"/>
              </a:solidFill>
            </a:ln>
          </p:spPr>
          <p:txBody>
            <a:bodyPr wrap="square" lIns="0" tIns="0" rIns="0" bIns="0" rtlCol="0"/>
            <a:lstStyle/>
            <a:p/>
          </p:txBody>
        </p:sp>
        <p:sp>
          <p:nvSpPr>
            <p:cNvPr id="127" name="object 127" descr=""/>
            <p:cNvSpPr/>
            <p:nvPr/>
          </p:nvSpPr>
          <p:spPr>
            <a:xfrm>
              <a:off x="2639567" y="2880868"/>
              <a:ext cx="4754245" cy="2136140"/>
            </a:xfrm>
            <a:custGeom>
              <a:avLst/>
              <a:gdLst/>
              <a:ahLst/>
              <a:cxnLst/>
              <a:rect l="l" t="t" r="r" b="b"/>
              <a:pathLst>
                <a:path w="4754245" h="2136140">
                  <a:moveTo>
                    <a:pt x="53975" y="2066544"/>
                  </a:moveTo>
                  <a:lnTo>
                    <a:pt x="0" y="2132457"/>
                  </a:lnTo>
                  <a:lnTo>
                    <a:pt x="85089" y="2136013"/>
                  </a:lnTo>
                  <a:lnTo>
                    <a:pt x="73827" y="2110867"/>
                  </a:lnTo>
                  <a:lnTo>
                    <a:pt x="59817" y="2110867"/>
                  </a:lnTo>
                  <a:lnTo>
                    <a:pt x="56006" y="2102104"/>
                  </a:lnTo>
                  <a:lnTo>
                    <a:pt x="67580" y="2096921"/>
                  </a:lnTo>
                  <a:lnTo>
                    <a:pt x="53975" y="2066544"/>
                  </a:lnTo>
                  <a:close/>
                </a:path>
                <a:path w="4754245" h="2136140">
                  <a:moveTo>
                    <a:pt x="67580" y="2096921"/>
                  </a:moveTo>
                  <a:lnTo>
                    <a:pt x="56006" y="2102104"/>
                  </a:lnTo>
                  <a:lnTo>
                    <a:pt x="59817" y="2110867"/>
                  </a:lnTo>
                  <a:lnTo>
                    <a:pt x="71486" y="2105641"/>
                  </a:lnTo>
                  <a:lnTo>
                    <a:pt x="67580" y="2096921"/>
                  </a:lnTo>
                  <a:close/>
                </a:path>
                <a:path w="4754245" h="2136140">
                  <a:moveTo>
                    <a:pt x="71486" y="2105641"/>
                  </a:moveTo>
                  <a:lnTo>
                    <a:pt x="59817" y="2110867"/>
                  </a:lnTo>
                  <a:lnTo>
                    <a:pt x="73827" y="2110867"/>
                  </a:lnTo>
                  <a:lnTo>
                    <a:pt x="71486" y="2105641"/>
                  </a:lnTo>
                  <a:close/>
                </a:path>
                <a:path w="4754245" h="2136140">
                  <a:moveTo>
                    <a:pt x="4750181" y="0"/>
                  </a:moveTo>
                  <a:lnTo>
                    <a:pt x="67580" y="2096921"/>
                  </a:lnTo>
                  <a:lnTo>
                    <a:pt x="71486" y="2105641"/>
                  </a:lnTo>
                  <a:lnTo>
                    <a:pt x="4753990" y="8762"/>
                  </a:lnTo>
                  <a:lnTo>
                    <a:pt x="4750181" y="0"/>
                  </a:lnTo>
                  <a:close/>
                </a:path>
              </a:pathLst>
            </a:custGeom>
            <a:solidFill>
              <a:srgbClr val="FF0000"/>
            </a:solidFill>
          </p:spPr>
          <p:txBody>
            <a:bodyPr wrap="square" lIns="0" tIns="0" rIns="0" bIns="0" rtlCol="0"/>
            <a:lstStyle/>
            <a:p/>
          </p:txBody>
        </p:sp>
      </p:grpSp>
      <p:sp>
        <p:nvSpPr>
          <p:cNvPr id="128" name="object 128" descr=""/>
          <p:cNvSpPr txBox="1"/>
          <p:nvPr/>
        </p:nvSpPr>
        <p:spPr>
          <a:xfrm>
            <a:off x="1525016" y="5010658"/>
            <a:ext cx="1170305" cy="566420"/>
          </a:xfrm>
          <a:prstGeom prst="rect">
            <a:avLst/>
          </a:prstGeom>
        </p:spPr>
        <p:txBody>
          <a:bodyPr wrap="square" lIns="0" tIns="27939" rIns="0" bIns="0" rtlCol="0" vert="horz">
            <a:spAutoFit/>
          </a:bodyPr>
          <a:lstStyle/>
          <a:p>
            <a:pPr marL="12700" marR="5080">
              <a:lnSpc>
                <a:spcPts val="2100"/>
              </a:lnSpc>
              <a:spcBef>
                <a:spcPts val="219"/>
              </a:spcBef>
            </a:pPr>
            <a:r>
              <a:rPr dirty="0" sz="1800" spc="-10">
                <a:solidFill>
                  <a:srgbClr val="40458B"/>
                </a:solidFill>
                <a:latin typeface="黑体"/>
                <a:cs typeface="黑体"/>
              </a:rPr>
              <a:t>两个地方在</a:t>
            </a:r>
            <a:r>
              <a:rPr dirty="0" sz="1800">
                <a:solidFill>
                  <a:srgbClr val="40458B"/>
                </a:solidFill>
                <a:latin typeface="黑体"/>
                <a:cs typeface="黑体"/>
              </a:rPr>
              <a:t>等</a:t>
            </a:r>
            <a:r>
              <a:rPr dirty="0" sz="1800" spc="-10">
                <a:solidFill>
                  <a:srgbClr val="40458B"/>
                </a:solidFill>
                <a:latin typeface="Tahoma"/>
                <a:cs typeface="Tahoma"/>
              </a:rPr>
              <a:t>MULT1</a:t>
            </a:r>
            <a:endParaRPr sz="1800">
              <a:latin typeface="Tahoma"/>
              <a:cs typeface="Tahoma"/>
            </a:endParaRPr>
          </a:p>
        </p:txBody>
      </p:sp>
      <p:grpSp>
        <p:nvGrpSpPr>
          <p:cNvPr id="129" name="object 129" descr=""/>
          <p:cNvGrpSpPr/>
          <p:nvPr/>
        </p:nvGrpSpPr>
        <p:grpSpPr>
          <a:xfrm>
            <a:off x="2680080" y="1680845"/>
            <a:ext cx="2035175" cy="2903855"/>
            <a:chOff x="2680080" y="1680845"/>
            <a:chExt cx="2035175" cy="2903855"/>
          </a:xfrm>
        </p:grpSpPr>
        <p:sp>
          <p:nvSpPr>
            <p:cNvPr id="130" name="object 130" descr=""/>
            <p:cNvSpPr/>
            <p:nvPr/>
          </p:nvSpPr>
          <p:spPr>
            <a:xfrm>
              <a:off x="3053460" y="1721612"/>
              <a:ext cx="1661795" cy="2863215"/>
            </a:xfrm>
            <a:custGeom>
              <a:avLst/>
              <a:gdLst/>
              <a:ahLst/>
              <a:cxnLst/>
              <a:rect l="l" t="t" r="r" b="b"/>
              <a:pathLst>
                <a:path w="1661795" h="2863215">
                  <a:moveTo>
                    <a:pt x="1619103" y="2799516"/>
                  </a:moveTo>
                  <a:lnTo>
                    <a:pt x="1590293" y="2816225"/>
                  </a:lnTo>
                  <a:lnTo>
                    <a:pt x="1661414" y="2863088"/>
                  </a:lnTo>
                  <a:lnTo>
                    <a:pt x="1658196" y="2810510"/>
                  </a:lnTo>
                  <a:lnTo>
                    <a:pt x="1625473" y="2810510"/>
                  </a:lnTo>
                  <a:lnTo>
                    <a:pt x="1619103" y="2799516"/>
                  </a:lnTo>
                  <a:close/>
                </a:path>
                <a:path w="1661795" h="2863215">
                  <a:moveTo>
                    <a:pt x="1627320" y="2794751"/>
                  </a:moveTo>
                  <a:lnTo>
                    <a:pt x="1619103" y="2799516"/>
                  </a:lnTo>
                  <a:lnTo>
                    <a:pt x="1625473" y="2810510"/>
                  </a:lnTo>
                  <a:lnTo>
                    <a:pt x="1633727" y="2805811"/>
                  </a:lnTo>
                  <a:lnTo>
                    <a:pt x="1627320" y="2794751"/>
                  </a:lnTo>
                  <a:close/>
                </a:path>
                <a:path w="1661795" h="2863215">
                  <a:moveTo>
                    <a:pt x="1656206" y="2777998"/>
                  </a:moveTo>
                  <a:lnTo>
                    <a:pt x="1627320" y="2794751"/>
                  </a:lnTo>
                  <a:lnTo>
                    <a:pt x="1633727" y="2805811"/>
                  </a:lnTo>
                  <a:lnTo>
                    <a:pt x="1625473" y="2810510"/>
                  </a:lnTo>
                  <a:lnTo>
                    <a:pt x="1658196" y="2810510"/>
                  </a:lnTo>
                  <a:lnTo>
                    <a:pt x="1656206" y="2777998"/>
                  </a:lnTo>
                  <a:close/>
                </a:path>
                <a:path w="1661795" h="2863215">
                  <a:moveTo>
                    <a:pt x="8127" y="0"/>
                  </a:moveTo>
                  <a:lnTo>
                    <a:pt x="0" y="4825"/>
                  </a:lnTo>
                  <a:lnTo>
                    <a:pt x="1619103" y="2799516"/>
                  </a:lnTo>
                  <a:lnTo>
                    <a:pt x="1627320" y="2794751"/>
                  </a:lnTo>
                  <a:lnTo>
                    <a:pt x="8127" y="0"/>
                  </a:lnTo>
                  <a:close/>
                </a:path>
              </a:pathLst>
            </a:custGeom>
            <a:solidFill>
              <a:srgbClr val="FF0000"/>
            </a:solidFill>
          </p:spPr>
          <p:txBody>
            <a:bodyPr wrap="square" lIns="0" tIns="0" rIns="0" bIns="0" rtlCol="0"/>
            <a:lstStyle/>
            <a:p/>
          </p:txBody>
        </p:sp>
        <p:sp>
          <p:nvSpPr>
            <p:cNvPr id="131" name="object 131" descr=""/>
            <p:cNvSpPr/>
            <p:nvPr/>
          </p:nvSpPr>
          <p:spPr>
            <a:xfrm>
              <a:off x="2680080" y="1680845"/>
              <a:ext cx="1202055" cy="2820035"/>
            </a:xfrm>
            <a:custGeom>
              <a:avLst/>
              <a:gdLst/>
              <a:ahLst/>
              <a:cxnLst/>
              <a:rect l="l" t="t" r="r" b="b"/>
              <a:pathLst>
                <a:path w="1202054" h="2820035">
                  <a:moveTo>
                    <a:pt x="1162539" y="2751388"/>
                  </a:moveTo>
                  <a:lnTo>
                    <a:pt x="1131823" y="2764409"/>
                  </a:lnTo>
                  <a:lnTo>
                    <a:pt x="1196594" y="2819654"/>
                  </a:lnTo>
                  <a:lnTo>
                    <a:pt x="1200062" y="2764409"/>
                  </a:lnTo>
                  <a:lnTo>
                    <a:pt x="1200142" y="2763138"/>
                  </a:lnTo>
                  <a:lnTo>
                    <a:pt x="1167510" y="2763138"/>
                  </a:lnTo>
                  <a:lnTo>
                    <a:pt x="1162539" y="2751388"/>
                  </a:lnTo>
                  <a:close/>
                </a:path>
                <a:path w="1202054" h="2820035">
                  <a:moveTo>
                    <a:pt x="1171336" y="2747659"/>
                  </a:moveTo>
                  <a:lnTo>
                    <a:pt x="1162539" y="2751388"/>
                  </a:lnTo>
                  <a:lnTo>
                    <a:pt x="1167510" y="2763138"/>
                  </a:lnTo>
                  <a:lnTo>
                    <a:pt x="1176273" y="2759329"/>
                  </a:lnTo>
                  <a:lnTo>
                    <a:pt x="1171336" y="2747659"/>
                  </a:lnTo>
                  <a:close/>
                </a:path>
                <a:path w="1202054" h="2820035">
                  <a:moveTo>
                    <a:pt x="1201928" y="2734691"/>
                  </a:moveTo>
                  <a:lnTo>
                    <a:pt x="1171336" y="2747659"/>
                  </a:lnTo>
                  <a:lnTo>
                    <a:pt x="1176273" y="2759329"/>
                  </a:lnTo>
                  <a:lnTo>
                    <a:pt x="1167510" y="2763138"/>
                  </a:lnTo>
                  <a:lnTo>
                    <a:pt x="1200142" y="2763138"/>
                  </a:lnTo>
                  <a:lnTo>
                    <a:pt x="1201928" y="2734691"/>
                  </a:lnTo>
                  <a:close/>
                </a:path>
                <a:path w="1202054" h="2820035">
                  <a:moveTo>
                    <a:pt x="8762" y="0"/>
                  </a:moveTo>
                  <a:lnTo>
                    <a:pt x="0" y="3809"/>
                  </a:lnTo>
                  <a:lnTo>
                    <a:pt x="1162539" y="2751388"/>
                  </a:lnTo>
                  <a:lnTo>
                    <a:pt x="1171336" y="2747659"/>
                  </a:lnTo>
                  <a:lnTo>
                    <a:pt x="8762" y="0"/>
                  </a:lnTo>
                  <a:close/>
                </a:path>
              </a:pathLst>
            </a:custGeom>
            <a:solidFill>
              <a:srgbClr val="2C44A3"/>
            </a:solidFill>
          </p:spPr>
          <p:txBody>
            <a:bodyPr wrap="square" lIns="0" tIns="0" rIns="0" bIns="0" rtlCol="0"/>
            <a:lstStyle/>
            <a:p/>
          </p:txBody>
        </p:sp>
      </p:grpSp>
      <p:sp>
        <p:nvSpPr>
          <p:cNvPr id="132" name="object 132" descr=""/>
          <p:cNvSpPr txBox="1"/>
          <p:nvPr/>
        </p:nvSpPr>
        <p:spPr>
          <a:xfrm>
            <a:off x="8009381" y="1392173"/>
            <a:ext cx="1625600" cy="29972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40458B"/>
                </a:solidFill>
                <a:latin typeface="黑体"/>
                <a:cs typeface="黑体"/>
              </a:rPr>
              <a:t>修改状态寄存器</a:t>
            </a:r>
            <a:endParaRPr sz="1800">
              <a:latin typeface="黑体"/>
              <a:cs typeface="黑体"/>
            </a:endParaRPr>
          </a:p>
        </p:txBody>
      </p:sp>
      <p:sp>
        <p:nvSpPr>
          <p:cNvPr id="133" name="object 133" descr=""/>
          <p:cNvSpPr txBox="1"/>
          <p:nvPr/>
        </p:nvSpPr>
        <p:spPr>
          <a:xfrm>
            <a:off x="8009381" y="1658873"/>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solidFill>
                  <a:srgbClr val="40458B"/>
                </a:solidFill>
                <a:latin typeface="黑体"/>
                <a:cs typeface="黑体"/>
              </a:rPr>
              <a:t>的对应项</a:t>
            </a:r>
            <a:endParaRPr sz="1800">
              <a:latin typeface="黑体"/>
              <a:cs typeface="黑体"/>
            </a:endParaRPr>
          </a:p>
        </p:txBody>
      </p:sp>
      <p:sp>
        <p:nvSpPr>
          <p:cNvPr id="134" name="object 134" descr=""/>
          <p:cNvSpPr/>
          <p:nvPr/>
        </p:nvSpPr>
        <p:spPr>
          <a:xfrm>
            <a:off x="7929626" y="1924050"/>
            <a:ext cx="630555" cy="579755"/>
          </a:xfrm>
          <a:custGeom>
            <a:avLst/>
            <a:gdLst/>
            <a:ahLst/>
            <a:cxnLst/>
            <a:rect l="l" t="t" r="r" b="b"/>
            <a:pathLst>
              <a:path w="630554" h="579755">
                <a:moveTo>
                  <a:pt x="30225" y="499872"/>
                </a:moveTo>
                <a:lnTo>
                  <a:pt x="0" y="579374"/>
                </a:lnTo>
                <a:lnTo>
                  <a:pt x="81788" y="556005"/>
                </a:lnTo>
                <a:lnTo>
                  <a:pt x="67089" y="540003"/>
                </a:lnTo>
                <a:lnTo>
                  <a:pt x="49910" y="540003"/>
                </a:lnTo>
                <a:lnTo>
                  <a:pt x="43433" y="533019"/>
                </a:lnTo>
                <a:lnTo>
                  <a:pt x="52784" y="524431"/>
                </a:lnTo>
                <a:lnTo>
                  <a:pt x="30225" y="499872"/>
                </a:lnTo>
                <a:close/>
              </a:path>
              <a:path w="630554" h="579755">
                <a:moveTo>
                  <a:pt x="52784" y="524431"/>
                </a:moveTo>
                <a:lnTo>
                  <a:pt x="43433" y="533019"/>
                </a:lnTo>
                <a:lnTo>
                  <a:pt x="49910" y="540003"/>
                </a:lnTo>
                <a:lnTo>
                  <a:pt x="59227" y="531445"/>
                </a:lnTo>
                <a:lnTo>
                  <a:pt x="52784" y="524431"/>
                </a:lnTo>
                <a:close/>
              </a:path>
              <a:path w="630554" h="579755">
                <a:moveTo>
                  <a:pt x="59227" y="531445"/>
                </a:moveTo>
                <a:lnTo>
                  <a:pt x="49910" y="540003"/>
                </a:lnTo>
                <a:lnTo>
                  <a:pt x="67089" y="540003"/>
                </a:lnTo>
                <a:lnTo>
                  <a:pt x="59227" y="531445"/>
                </a:lnTo>
                <a:close/>
              </a:path>
              <a:path w="630554" h="579755">
                <a:moveTo>
                  <a:pt x="623824" y="0"/>
                </a:moveTo>
                <a:lnTo>
                  <a:pt x="52784" y="524431"/>
                </a:lnTo>
                <a:lnTo>
                  <a:pt x="59227" y="531445"/>
                </a:lnTo>
                <a:lnTo>
                  <a:pt x="630174" y="6985"/>
                </a:lnTo>
                <a:lnTo>
                  <a:pt x="623824" y="0"/>
                </a:lnTo>
                <a:close/>
              </a:path>
            </a:pathLst>
          </a:custGeom>
          <a:solidFill>
            <a:srgbClr val="FF0000"/>
          </a:solidFill>
        </p:spPr>
        <p:txBody>
          <a:bodyPr wrap="square" lIns="0" tIns="0" rIns="0" bIns="0" rtlCol="0"/>
          <a:lstStyle/>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74/175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p:nvPr/>
        </p:nvSpPr>
        <p:spPr>
          <a:xfrm>
            <a:off x="4028935" y="3004680"/>
            <a:ext cx="3328670" cy="2914015"/>
          </a:xfrm>
          <a:custGeom>
            <a:avLst/>
            <a:gdLst/>
            <a:ahLst/>
            <a:cxnLst/>
            <a:rect l="l" t="t" r="r" b="b"/>
            <a:pathLst>
              <a:path w="3328670" h="2914015">
                <a:moveTo>
                  <a:pt x="78346" y="2796400"/>
                </a:moveTo>
                <a:lnTo>
                  <a:pt x="48971" y="2825775"/>
                </a:lnTo>
                <a:lnTo>
                  <a:pt x="48971" y="2549664"/>
                </a:lnTo>
                <a:lnTo>
                  <a:pt x="29375" y="2549664"/>
                </a:lnTo>
                <a:lnTo>
                  <a:pt x="29375" y="2825775"/>
                </a:lnTo>
                <a:lnTo>
                  <a:pt x="0" y="2796400"/>
                </a:lnTo>
                <a:lnTo>
                  <a:pt x="39166" y="2913900"/>
                </a:lnTo>
                <a:lnTo>
                  <a:pt x="65290" y="2835567"/>
                </a:lnTo>
                <a:lnTo>
                  <a:pt x="78346" y="2796400"/>
                </a:lnTo>
                <a:close/>
              </a:path>
              <a:path w="3328670" h="2914015">
                <a:moveTo>
                  <a:pt x="119481" y="413194"/>
                </a:moveTo>
                <a:lnTo>
                  <a:pt x="90106" y="442569"/>
                </a:lnTo>
                <a:lnTo>
                  <a:pt x="90106" y="0"/>
                </a:lnTo>
                <a:lnTo>
                  <a:pt x="70510" y="0"/>
                </a:lnTo>
                <a:lnTo>
                  <a:pt x="70510" y="442569"/>
                </a:lnTo>
                <a:lnTo>
                  <a:pt x="41135" y="413194"/>
                </a:lnTo>
                <a:lnTo>
                  <a:pt x="80302" y="530694"/>
                </a:lnTo>
                <a:lnTo>
                  <a:pt x="106426" y="452361"/>
                </a:lnTo>
                <a:lnTo>
                  <a:pt x="119481" y="413194"/>
                </a:lnTo>
                <a:close/>
              </a:path>
              <a:path w="3328670" h="2914015">
                <a:moveTo>
                  <a:pt x="3328111" y="2779763"/>
                </a:moveTo>
                <a:lnTo>
                  <a:pt x="3298736" y="2809138"/>
                </a:lnTo>
                <a:lnTo>
                  <a:pt x="3298736" y="2549664"/>
                </a:lnTo>
                <a:lnTo>
                  <a:pt x="3279140" y="2549664"/>
                </a:lnTo>
                <a:lnTo>
                  <a:pt x="3279140" y="2809138"/>
                </a:lnTo>
                <a:lnTo>
                  <a:pt x="3249752" y="2779763"/>
                </a:lnTo>
                <a:lnTo>
                  <a:pt x="3288931" y="2897251"/>
                </a:lnTo>
                <a:lnTo>
                  <a:pt x="3315055" y="2818930"/>
                </a:lnTo>
                <a:lnTo>
                  <a:pt x="3328111" y="2779763"/>
                </a:lnTo>
                <a:close/>
              </a:path>
            </a:pathLst>
          </a:custGeom>
          <a:solidFill>
            <a:srgbClr val="000000"/>
          </a:solidFill>
        </p:spPr>
        <p:txBody>
          <a:bodyPr wrap="square" lIns="0" tIns="0" rIns="0" bIns="0" rtlCol="0"/>
          <a:lstStyle/>
          <a:p/>
        </p:txBody>
      </p:sp>
      <p:sp>
        <p:nvSpPr>
          <p:cNvPr id="11" name="object 11" descr=""/>
          <p:cNvSpPr txBox="1"/>
          <p:nvPr/>
        </p:nvSpPr>
        <p:spPr>
          <a:xfrm>
            <a:off x="3539917" y="1341559"/>
            <a:ext cx="1087755" cy="237490"/>
          </a:xfrm>
          <a:prstGeom prst="rect">
            <a:avLst/>
          </a:prstGeom>
        </p:spPr>
        <p:txBody>
          <a:bodyPr wrap="square" lIns="0" tIns="17145" rIns="0" bIns="0" rtlCol="0" vert="horz">
            <a:spAutoFit/>
          </a:bodyPr>
          <a:lstStyle/>
          <a:p>
            <a:pPr marL="12700">
              <a:lnSpc>
                <a:spcPct val="100000"/>
              </a:lnSpc>
              <a:spcBef>
                <a:spcPts val="135"/>
              </a:spcBef>
            </a:pPr>
            <a:r>
              <a:rPr dirty="0" sz="1350" spc="-10" b="1">
                <a:latin typeface="宋体"/>
                <a:cs typeface="宋体"/>
              </a:rPr>
              <a:t>从指令部件来</a:t>
            </a:r>
            <a:endParaRPr sz="1350">
              <a:latin typeface="宋体"/>
              <a:cs typeface="宋体"/>
            </a:endParaRPr>
          </a:p>
        </p:txBody>
      </p:sp>
      <p:grpSp>
        <p:nvGrpSpPr>
          <p:cNvPr id="12" name="object 12" descr=""/>
          <p:cNvGrpSpPr/>
          <p:nvPr/>
        </p:nvGrpSpPr>
        <p:grpSpPr>
          <a:xfrm>
            <a:off x="3082351" y="1600820"/>
            <a:ext cx="6341110" cy="2557780"/>
            <a:chOff x="3082351" y="1600820"/>
            <a:chExt cx="6341110" cy="2557780"/>
          </a:xfrm>
        </p:grpSpPr>
        <p:sp>
          <p:nvSpPr>
            <p:cNvPr id="13" name="object 13" descr=""/>
            <p:cNvSpPr/>
            <p:nvPr/>
          </p:nvSpPr>
          <p:spPr>
            <a:xfrm>
              <a:off x="3492206" y="1911970"/>
              <a:ext cx="1275715" cy="1092835"/>
            </a:xfrm>
            <a:custGeom>
              <a:avLst/>
              <a:gdLst/>
              <a:ahLst/>
              <a:cxnLst/>
              <a:rect l="l" t="t" r="r" b="b"/>
              <a:pathLst>
                <a:path w="1275714" h="1092835">
                  <a:moveTo>
                    <a:pt x="1275223" y="0"/>
                  </a:moveTo>
                  <a:lnTo>
                    <a:pt x="0" y="0"/>
                  </a:lnTo>
                  <a:lnTo>
                    <a:pt x="0" y="1092706"/>
                  </a:lnTo>
                  <a:lnTo>
                    <a:pt x="1275223" y="1092706"/>
                  </a:lnTo>
                  <a:lnTo>
                    <a:pt x="1275223" y="0"/>
                  </a:lnTo>
                  <a:close/>
                </a:path>
              </a:pathLst>
            </a:custGeom>
            <a:solidFill>
              <a:srgbClr val="FFCC99"/>
            </a:solidFill>
          </p:spPr>
          <p:txBody>
            <a:bodyPr wrap="square" lIns="0" tIns="0" rIns="0" bIns="0" rtlCol="0"/>
            <a:lstStyle/>
            <a:p/>
          </p:txBody>
        </p:sp>
        <p:sp>
          <p:nvSpPr>
            <p:cNvPr id="14" name="object 14" descr=""/>
            <p:cNvSpPr/>
            <p:nvPr/>
          </p:nvSpPr>
          <p:spPr>
            <a:xfrm>
              <a:off x="3492206" y="1911970"/>
              <a:ext cx="1275715" cy="1092835"/>
            </a:xfrm>
            <a:custGeom>
              <a:avLst/>
              <a:gdLst/>
              <a:ahLst/>
              <a:cxnLst/>
              <a:rect l="l" t="t" r="r" b="b"/>
              <a:pathLst>
                <a:path w="1275714" h="1092835">
                  <a:moveTo>
                    <a:pt x="0" y="1092706"/>
                  </a:moveTo>
                  <a:lnTo>
                    <a:pt x="1275223" y="1092706"/>
                  </a:lnTo>
                  <a:lnTo>
                    <a:pt x="1275223" y="0"/>
                  </a:lnTo>
                  <a:lnTo>
                    <a:pt x="0" y="0"/>
                  </a:lnTo>
                  <a:lnTo>
                    <a:pt x="0" y="1092706"/>
                  </a:lnTo>
                  <a:close/>
                </a:path>
              </a:pathLst>
            </a:custGeom>
            <a:ln w="14688">
              <a:solidFill>
                <a:srgbClr val="000000"/>
              </a:solidFill>
            </a:ln>
          </p:spPr>
          <p:txBody>
            <a:bodyPr wrap="square" lIns="0" tIns="0" rIns="0" bIns="0" rtlCol="0"/>
            <a:lstStyle/>
            <a:p/>
          </p:txBody>
        </p:sp>
        <p:sp>
          <p:nvSpPr>
            <p:cNvPr id="15" name="object 15" descr=""/>
            <p:cNvSpPr/>
            <p:nvPr/>
          </p:nvSpPr>
          <p:spPr>
            <a:xfrm>
              <a:off x="3492195" y="2172919"/>
              <a:ext cx="1275715" cy="553720"/>
            </a:xfrm>
            <a:custGeom>
              <a:avLst/>
              <a:gdLst/>
              <a:ahLst/>
              <a:cxnLst/>
              <a:rect l="l" t="t" r="r" b="b"/>
              <a:pathLst>
                <a:path w="1275714" h="553719">
                  <a:moveTo>
                    <a:pt x="1275232" y="538518"/>
                  </a:moveTo>
                  <a:lnTo>
                    <a:pt x="0" y="538518"/>
                  </a:lnTo>
                  <a:lnTo>
                    <a:pt x="0" y="553199"/>
                  </a:lnTo>
                  <a:lnTo>
                    <a:pt x="1275232" y="553199"/>
                  </a:lnTo>
                  <a:lnTo>
                    <a:pt x="1275232" y="538518"/>
                  </a:lnTo>
                  <a:close/>
                </a:path>
                <a:path w="1275714" h="553719">
                  <a:moveTo>
                    <a:pt x="1275232" y="270230"/>
                  </a:moveTo>
                  <a:lnTo>
                    <a:pt x="0" y="270230"/>
                  </a:lnTo>
                  <a:lnTo>
                    <a:pt x="0" y="284924"/>
                  </a:lnTo>
                  <a:lnTo>
                    <a:pt x="1275232" y="284924"/>
                  </a:lnTo>
                  <a:lnTo>
                    <a:pt x="1275232" y="270230"/>
                  </a:lnTo>
                  <a:close/>
                </a:path>
                <a:path w="1275714" h="553719">
                  <a:moveTo>
                    <a:pt x="1275232" y="0"/>
                  </a:moveTo>
                  <a:lnTo>
                    <a:pt x="0" y="0"/>
                  </a:lnTo>
                  <a:lnTo>
                    <a:pt x="0" y="14681"/>
                  </a:lnTo>
                  <a:lnTo>
                    <a:pt x="1275232" y="14681"/>
                  </a:lnTo>
                  <a:lnTo>
                    <a:pt x="1275232" y="0"/>
                  </a:lnTo>
                  <a:close/>
                </a:path>
              </a:pathLst>
            </a:custGeom>
            <a:solidFill>
              <a:srgbClr val="000000"/>
            </a:solidFill>
          </p:spPr>
          <p:txBody>
            <a:bodyPr wrap="square" lIns="0" tIns="0" rIns="0" bIns="0" rtlCol="0"/>
            <a:lstStyle/>
            <a:p/>
          </p:txBody>
        </p:sp>
        <p:sp>
          <p:nvSpPr>
            <p:cNvPr id="16" name="object 16" descr=""/>
            <p:cNvSpPr/>
            <p:nvPr/>
          </p:nvSpPr>
          <p:spPr>
            <a:xfrm>
              <a:off x="5672427" y="1972676"/>
              <a:ext cx="864235" cy="910590"/>
            </a:xfrm>
            <a:custGeom>
              <a:avLst/>
              <a:gdLst/>
              <a:ahLst/>
              <a:cxnLst/>
              <a:rect l="l" t="t" r="r" b="b"/>
              <a:pathLst>
                <a:path w="864234" h="910589">
                  <a:moveTo>
                    <a:pt x="863861" y="0"/>
                  </a:moveTo>
                  <a:lnTo>
                    <a:pt x="0" y="0"/>
                  </a:lnTo>
                  <a:lnTo>
                    <a:pt x="0" y="910588"/>
                  </a:lnTo>
                  <a:lnTo>
                    <a:pt x="863861" y="910588"/>
                  </a:lnTo>
                  <a:lnTo>
                    <a:pt x="863861" y="0"/>
                  </a:lnTo>
                  <a:close/>
                </a:path>
              </a:pathLst>
            </a:custGeom>
            <a:solidFill>
              <a:srgbClr val="FFFF99"/>
            </a:solidFill>
          </p:spPr>
          <p:txBody>
            <a:bodyPr wrap="square" lIns="0" tIns="0" rIns="0" bIns="0" rtlCol="0"/>
            <a:lstStyle/>
            <a:p/>
          </p:txBody>
        </p:sp>
        <p:sp>
          <p:nvSpPr>
            <p:cNvPr id="17" name="object 17" descr=""/>
            <p:cNvSpPr/>
            <p:nvPr/>
          </p:nvSpPr>
          <p:spPr>
            <a:xfrm>
              <a:off x="5672427" y="1972676"/>
              <a:ext cx="864235" cy="910590"/>
            </a:xfrm>
            <a:custGeom>
              <a:avLst/>
              <a:gdLst/>
              <a:ahLst/>
              <a:cxnLst/>
              <a:rect l="l" t="t" r="r" b="b"/>
              <a:pathLst>
                <a:path w="864234" h="910589">
                  <a:moveTo>
                    <a:pt x="0" y="910588"/>
                  </a:moveTo>
                  <a:lnTo>
                    <a:pt x="863861" y="910588"/>
                  </a:lnTo>
                  <a:lnTo>
                    <a:pt x="863861" y="0"/>
                  </a:lnTo>
                  <a:lnTo>
                    <a:pt x="0" y="0"/>
                  </a:lnTo>
                  <a:lnTo>
                    <a:pt x="0" y="910588"/>
                  </a:lnTo>
                  <a:close/>
                </a:path>
              </a:pathLst>
            </a:custGeom>
            <a:ln w="14689">
              <a:solidFill>
                <a:srgbClr val="000000"/>
              </a:solidFill>
            </a:ln>
          </p:spPr>
          <p:txBody>
            <a:bodyPr wrap="square" lIns="0" tIns="0" rIns="0" bIns="0" rtlCol="0"/>
            <a:lstStyle/>
            <a:p/>
          </p:txBody>
        </p:sp>
        <p:sp>
          <p:nvSpPr>
            <p:cNvPr id="18" name="object 18" descr=""/>
            <p:cNvSpPr/>
            <p:nvPr/>
          </p:nvSpPr>
          <p:spPr>
            <a:xfrm>
              <a:off x="5672427" y="2648763"/>
              <a:ext cx="864235" cy="15240"/>
            </a:xfrm>
            <a:custGeom>
              <a:avLst/>
              <a:gdLst/>
              <a:ahLst/>
              <a:cxnLst/>
              <a:rect l="l" t="t" r="r" b="b"/>
              <a:pathLst>
                <a:path w="864234" h="15239">
                  <a:moveTo>
                    <a:pt x="0" y="14686"/>
                  </a:moveTo>
                  <a:lnTo>
                    <a:pt x="863861" y="14686"/>
                  </a:lnTo>
                  <a:lnTo>
                    <a:pt x="863861" y="0"/>
                  </a:lnTo>
                  <a:lnTo>
                    <a:pt x="0" y="0"/>
                  </a:lnTo>
                  <a:lnTo>
                    <a:pt x="0" y="14686"/>
                  </a:lnTo>
                  <a:close/>
                </a:path>
              </a:pathLst>
            </a:custGeom>
            <a:solidFill>
              <a:srgbClr val="000000"/>
            </a:solidFill>
          </p:spPr>
          <p:txBody>
            <a:bodyPr wrap="square" lIns="0" tIns="0" rIns="0" bIns="0" rtlCol="0"/>
            <a:lstStyle/>
            <a:p/>
          </p:txBody>
        </p:sp>
        <p:sp>
          <p:nvSpPr>
            <p:cNvPr id="19" name="object 19" descr=""/>
            <p:cNvSpPr/>
            <p:nvPr/>
          </p:nvSpPr>
          <p:spPr>
            <a:xfrm>
              <a:off x="4070072" y="1608440"/>
              <a:ext cx="78740" cy="303530"/>
            </a:xfrm>
            <a:custGeom>
              <a:avLst/>
              <a:gdLst/>
              <a:ahLst/>
              <a:cxnLst/>
              <a:rect l="l" t="t" r="r" b="b"/>
              <a:pathLst>
                <a:path w="78739" h="303530">
                  <a:moveTo>
                    <a:pt x="0" y="186034"/>
                  </a:moveTo>
                  <a:lnTo>
                    <a:pt x="39177" y="303529"/>
                  </a:lnTo>
                  <a:lnTo>
                    <a:pt x="65295" y="225199"/>
                  </a:lnTo>
                  <a:lnTo>
                    <a:pt x="29383" y="225199"/>
                  </a:lnTo>
                  <a:lnTo>
                    <a:pt x="29383" y="215408"/>
                  </a:lnTo>
                  <a:lnTo>
                    <a:pt x="0" y="186034"/>
                  </a:lnTo>
                  <a:close/>
                </a:path>
                <a:path w="78739" h="303530">
                  <a:moveTo>
                    <a:pt x="29383" y="215408"/>
                  </a:moveTo>
                  <a:lnTo>
                    <a:pt x="29383" y="225199"/>
                  </a:lnTo>
                  <a:lnTo>
                    <a:pt x="39177" y="225199"/>
                  </a:lnTo>
                  <a:lnTo>
                    <a:pt x="29383" y="215408"/>
                  </a:lnTo>
                  <a:close/>
                </a:path>
                <a:path w="78739" h="303530">
                  <a:moveTo>
                    <a:pt x="48971" y="0"/>
                  </a:moveTo>
                  <a:lnTo>
                    <a:pt x="29383" y="0"/>
                  </a:lnTo>
                  <a:lnTo>
                    <a:pt x="29383" y="215408"/>
                  </a:lnTo>
                  <a:lnTo>
                    <a:pt x="39177" y="225199"/>
                  </a:lnTo>
                  <a:lnTo>
                    <a:pt x="48971" y="215408"/>
                  </a:lnTo>
                  <a:lnTo>
                    <a:pt x="48971" y="0"/>
                  </a:lnTo>
                  <a:close/>
                </a:path>
                <a:path w="78739" h="303530">
                  <a:moveTo>
                    <a:pt x="48971" y="215408"/>
                  </a:moveTo>
                  <a:lnTo>
                    <a:pt x="39177" y="225199"/>
                  </a:lnTo>
                  <a:lnTo>
                    <a:pt x="48971" y="225199"/>
                  </a:lnTo>
                  <a:lnTo>
                    <a:pt x="48971" y="215408"/>
                  </a:lnTo>
                  <a:close/>
                </a:path>
                <a:path w="78739" h="303530">
                  <a:moveTo>
                    <a:pt x="78354" y="186034"/>
                  </a:moveTo>
                  <a:lnTo>
                    <a:pt x="48971" y="215408"/>
                  </a:lnTo>
                  <a:lnTo>
                    <a:pt x="48971" y="225199"/>
                  </a:lnTo>
                  <a:lnTo>
                    <a:pt x="65295" y="225199"/>
                  </a:lnTo>
                  <a:lnTo>
                    <a:pt x="78354" y="186034"/>
                  </a:lnTo>
                  <a:close/>
                </a:path>
              </a:pathLst>
            </a:custGeom>
            <a:solidFill>
              <a:srgbClr val="000000"/>
            </a:solidFill>
          </p:spPr>
          <p:txBody>
            <a:bodyPr wrap="square" lIns="0" tIns="0" rIns="0" bIns="0" rtlCol="0"/>
            <a:lstStyle/>
            <a:p/>
          </p:txBody>
        </p:sp>
        <p:sp>
          <p:nvSpPr>
            <p:cNvPr id="20" name="object 20" descr=""/>
            <p:cNvSpPr/>
            <p:nvPr/>
          </p:nvSpPr>
          <p:spPr>
            <a:xfrm>
              <a:off x="6083789" y="1608440"/>
              <a:ext cx="3332479" cy="0"/>
            </a:xfrm>
            <a:custGeom>
              <a:avLst/>
              <a:gdLst/>
              <a:ahLst/>
              <a:cxnLst/>
              <a:rect l="l" t="t" r="r" b="b"/>
              <a:pathLst>
                <a:path w="3332479" h="0">
                  <a:moveTo>
                    <a:pt x="0" y="0"/>
                  </a:moveTo>
                  <a:lnTo>
                    <a:pt x="3332035" y="0"/>
                  </a:lnTo>
                </a:path>
              </a:pathLst>
            </a:custGeom>
            <a:ln w="14686">
              <a:solidFill>
                <a:srgbClr val="000000"/>
              </a:solidFill>
            </a:ln>
          </p:spPr>
          <p:txBody>
            <a:bodyPr wrap="square" lIns="0" tIns="0" rIns="0" bIns="0" rtlCol="0"/>
            <a:lstStyle/>
            <a:p/>
          </p:txBody>
        </p:sp>
        <p:sp>
          <p:nvSpPr>
            <p:cNvPr id="21" name="object 21" descr=""/>
            <p:cNvSpPr/>
            <p:nvPr/>
          </p:nvSpPr>
          <p:spPr>
            <a:xfrm>
              <a:off x="3700843" y="1608442"/>
              <a:ext cx="3203575" cy="2550160"/>
            </a:xfrm>
            <a:custGeom>
              <a:avLst/>
              <a:gdLst/>
              <a:ahLst/>
              <a:cxnLst/>
              <a:rect l="l" t="t" r="r" b="b"/>
              <a:pathLst>
                <a:path w="3203575" h="2550160">
                  <a:moveTo>
                    <a:pt x="78333" y="2311133"/>
                  </a:moveTo>
                  <a:lnTo>
                    <a:pt x="48717" y="2340216"/>
                  </a:lnTo>
                  <a:lnTo>
                    <a:pt x="53848" y="1731098"/>
                  </a:lnTo>
                  <a:lnTo>
                    <a:pt x="34251" y="1731098"/>
                  </a:lnTo>
                  <a:lnTo>
                    <a:pt x="29375" y="2310358"/>
                  </a:lnTo>
                  <a:lnTo>
                    <a:pt x="29248" y="2340216"/>
                  </a:lnTo>
                  <a:lnTo>
                    <a:pt x="29044" y="2350109"/>
                  </a:lnTo>
                  <a:lnTo>
                    <a:pt x="29121" y="2340216"/>
                  </a:lnTo>
                  <a:lnTo>
                    <a:pt x="0" y="2310358"/>
                  </a:lnTo>
                  <a:lnTo>
                    <a:pt x="38176" y="2428265"/>
                  </a:lnTo>
                  <a:lnTo>
                    <a:pt x="64973" y="2350109"/>
                  </a:lnTo>
                  <a:lnTo>
                    <a:pt x="78333" y="2311133"/>
                  </a:lnTo>
                  <a:close/>
                </a:path>
                <a:path w="3203575" h="2550160">
                  <a:moveTo>
                    <a:pt x="2422118" y="246748"/>
                  </a:moveTo>
                  <a:lnTo>
                    <a:pt x="2392730" y="276123"/>
                  </a:lnTo>
                  <a:lnTo>
                    <a:pt x="2392730" y="0"/>
                  </a:lnTo>
                  <a:lnTo>
                    <a:pt x="2373147" y="0"/>
                  </a:lnTo>
                  <a:lnTo>
                    <a:pt x="2373147" y="276123"/>
                  </a:lnTo>
                  <a:lnTo>
                    <a:pt x="2343759" y="246748"/>
                  </a:lnTo>
                  <a:lnTo>
                    <a:pt x="2382939" y="364236"/>
                  </a:lnTo>
                  <a:lnTo>
                    <a:pt x="2409063" y="285915"/>
                  </a:lnTo>
                  <a:lnTo>
                    <a:pt x="2422118" y="246748"/>
                  </a:lnTo>
                  <a:close/>
                </a:path>
                <a:path w="3203575" h="2550160">
                  <a:moveTo>
                    <a:pt x="2585491" y="2431808"/>
                  </a:moveTo>
                  <a:lnTo>
                    <a:pt x="2556408" y="2461450"/>
                  </a:lnTo>
                  <a:lnTo>
                    <a:pt x="2551404" y="1914398"/>
                  </a:lnTo>
                  <a:lnTo>
                    <a:pt x="2551404" y="1914194"/>
                  </a:lnTo>
                  <a:lnTo>
                    <a:pt x="2531808" y="1914398"/>
                  </a:lnTo>
                  <a:lnTo>
                    <a:pt x="2536812" y="2461450"/>
                  </a:lnTo>
                  <a:lnTo>
                    <a:pt x="2536812" y="2461653"/>
                  </a:lnTo>
                  <a:lnTo>
                    <a:pt x="2507132" y="2432532"/>
                  </a:lnTo>
                  <a:lnTo>
                    <a:pt x="2547480" y="2549677"/>
                  </a:lnTo>
                  <a:lnTo>
                    <a:pt x="2572715" y="2471420"/>
                  </a:lnTo>
                  <a:lnTo>
                    <a:pt x="2585491" y="2431808"/>
                  </a:lnTo>
                  <a:close/>
                </a:path>
                <a:path w="3203575" h="2550160">
                  <a:moveTo>
                    <a:pt x="3203511" y="2432075"/>
                  </a:moveTo>
                  <a:lnTo>
                    <a:pt x="3174098" y="2461552"/>
                  </a:lnTo>
                  <a:lnTo>
                    <a:pt x="3172358" y="1749704"/>
                  </a:lnTo>
                  <a:lnTo>
                    <a:pt x="3152775" y="1749704"/>
                  </a:lnTo>
                  <a:lnTo>
                    <a:pt x="3154438" y="2432075"/>
                  </a:lnTo>
                  <a:lnTo>
                    <a:pt x="3154515" y="2461552"/>
                  </a:lnTo>
                  <a:lnTo>
                    <a:pt x="3125152" y="2432278"/>
                  </a:lnTo>
                  <a:lnTo>
                    <a:pt x="3164522" y="2549677"/>
                  </a:lnTo>
                  <a:lnTo>
                    <a:pt x="3190494" y="2471356"/>
                  </a:lnTo>
                  <a:lnTo>
                    <a:pt x="3203448" y="2432278"/>
                  </a:lnTo>
                  <a:lnTo>
                    <a:pt x="3203511" y="2432075"/>
                  </a:lnTo>
                  <a:close/>
                </a:path>
              </a:pathLst>
            </a:custGeom>
            <a:solidFill>
              <a:srgbClr val="000000"/>
            </a:solidFill>
          </p:spPr>
          <p:txBody>
            <a:bodyPr wrap="square" lIns="0" tIns="0" rIns="0" bIns="0" rtlCol="0"/>
            <a:lstStyle/>
            <a:p/>
          </p:txBody>
        </p:sp>
        <p:sp>
          <p:nvSpPr>
            <p:cNvPr id="22" name="object 22" descr=""/>
            <p:cNvSpPr/>
            <p:nvPr/>
          </p:nvSpPr>
          <p:spPr>
            <a:xfrm>
              <a:off x="3121979" y="2883264"/>
              <a:ext cx="4525010" cy="643890"/>
            </a:xfrm>
            <a:custGeom>
              <a:avLst/>
              <a:gdLst/>
              <a:ahLst/>
              <a:cxnLst/>
              <a:rect l="l" t="t" r="r" b="b"/>
              <a:pathLst>
                <a:path w="4525009" h="643889">
                  <a:moveTo>
                    <a:pt x="0" y="643286"/>
                  </a:moveTo>
                  <a:lnTo>
                    <a:pt x="3126354" y="643286"/>
                  </a:lnTo>
                </a:path>
                <a:path w="4525009" h="643889">
                  <a:moveTo>
                    <a:pt x="617043" y="461169"/>
                  </a:moveTo>
                  <a:lnTo>
                    <a:pt x="4524987" y="461169"/>
                  </a:lnTo>
                </a:path>
                <a:path w="4525009" h="643889">
                  <a:moveTo>
                    <a:pt x="3002945" y="0"/>
                  </a:moveTo>
                  <a:lnTo>
                    <a:pt x="3002946" y="485647"/>
                  </a:lnTo>
                </a:path>
              </a:pathLst>
            </a:custGeom>
            <a:ln w="14689">
              <a:solidFill>
                <a:srgbClr val="000000"/>
              </a:solidFill>
            </a:ln>
          </p:spPr>
          <p:txBody>
            <a:bodyPr wrap="square" lIns="0" tIns="0" rIns="0" bIns="0" rtlCol="0"/>
            <a:lstStyle/>
            <a:p/>
          </p:txBody>
        </p:sp>
        <p:sp>
          <p:nvSpPr>
            <p:cNvPr id="23" name="object 23" descr=""/>
            <p:cNvSpPr/>
            <p:nvPr/>
          </p:nvSpPr>
          <p:spPr>
            <a:xfrm>
              <a:off x="3711599" y="3767417"/>
              <a:ext cx="45085" cy="60325"/>
            </a:xfrm>
            <a:custGeom>
              <a:avLst/>
              <a:gdLst/>
              <a:ahLst/>
              <a:cxnLst/>
              <a:rect l="l" t="t" r="r" b="b"/>
              <a:pathLst>
                <a:path w="45085" h="60325">
                  <a:moveTo>
                    <a:pt x="22526" y="0"/>
                  </a:moveTo>
                  <a:lnTo>
                    <a:pt x="13759" y="2340"/>
                  </a:lnTo>
                  <a:lnTo>
                    <a:pt x="6598" y="8738"/>
                  </a:lnTo>
                  <a:lnTo>
                    <a:pt x="1770" y="18257"/>
                  </a:lnTo>
                  <a:lnTo>
                    <a:pt x="0" y="29961"/>
                  </a:lnTo>
                  <a:lnTo>
                    <a:pt x="1770" y="41551"/>
                  </a:lnTo>
                  <a:lnTo>
                    <a:pt x="6598" y="51012"/>
                  </a:lnTo>
                  <a:lnTo>
                    <a:pt x="13759" y="57389"/>
                  </a:lnTo>
                  <a:lnTo>
                    <a:pt x="22526" y="59726"/>
                  </a:lnTo>
                  <a:lnTo>
                    <a:pt x="31294" y="57389"/>
                  </a:lnTo>
                  <a:lnTo>
                    <a:pt x="38455" y="51012"/>
                  </a:lnTo>
                  <a:lnTo>
                    <a:pt x="43283" y="41551"/>
                  </a:lnTo>
                  <a:lnTo>
                    <a:pt x="45053" y="29961"/>
                  </a:lnTo>
                  <a:lnTo>
                    <a:pt x="43283" y="18257"/>
                  </a:lnTo>
                  <a:lnTo>
                    <a:pt x="38455" y="8738"/>
                  </a:lnTo>
                  <a:lnTo>
                    <a:pt x="31294" y="2340"/>
                  </a:lnTo>
                  <a:lnTo>
                    <a:pt x="22526" y="0"/>
                  </a:lnTo>
                  <a:close/>
                </a:path>
              </a:pathLst>
            </a:custGeom>
            <a:solidFill>
              <a:srgbClr val="000000"/>
            </a:solidFill>
          </p:spPr>
          <p:txBody>
            <a:bodyPr wrap="square" lIns="0" tIns="0" rIns="0" bIns="0" rtlCol="0"/>
            <a:lstStyle/>
            <a:p/>
          </p:txBody>
        </p:sp>
        <p:sp>
          <p:nvSpPr>
            <p:cNvPr id="24" name="object 24" descr=""/>
            <p:cNvSpPr/>
            <p:nvPr/>
          </p:nvSpPr>
          <p:spPr>
            <a:xfrm>
              <a:off x="3711599" y="3767417"/>
              <a:ext cx="45085" cy="60325"/>
            </a:xfrm>
            <a:custGeom>
              <a:avLst/>
              <a:gdLst/>
              <a:ahLst/>
              <a:cxnLst/>
              <a:rect l="l" t="t" r="r" b="b"/>
              <a:pathLst>
                <a:path w="45085" h="60325">
                  <a:moveTo>
                    <a:pt x="22526" y="0"/>
                  </a:moveTo>
                  <a:lnTo>
                    <a:pt x="13759" y="2340"/>
                  </a:lnTo>
                  <a:lnTo>
                    <a:pt x="6598" y="8738"/>
                  </a:lnTo>
                  <a:lnTo>
                    <a:pt x="1770" y="18257"/>
                  </a:lnTo>
                  <a:lnTo>
                    <a:pt x="0" y="29961"/>
                  </a:lnTo>
                  <a:lnTo>
                    <a:pt x="1770" y="41551"/>
                  </a:lnTo>
                  <a:lnTo>
                    <a:pt x="6598" y="51012"/>
                  </a:lnTo>
                  <a:lnTo>
                    <a:pt x="13759" y="57389"/>
                  </a:lnTo>
                  <a:lnTo>
                    <a:pt x="22526" y="59726"/>
                  </a:lnTo>
                  <a:lnTo>
                    <a:pt x="31294" y="57389"/>
                  </a:lnTo>
                  <a:lnTo>
                    <a:pt x="38455" y="51012"/>
                  </a:lnTo>
                  <a:lnTo>
                    <a:pt x="43283" y="41551"/>
                  </a:lnTo>
                  <a:lnTo>
                    <a:pt x="45053" y="29961"/>
                  </a:lnTo>
                  <a:lnTo>
                    <a:pt x="43283" y="18257"/>
                  </a:lnTo>
                  <a:lnTo>
                    <a:pt x="38455" y="8738"/>
                  </a:lnTo>
                  <a:lnTo>
                    <a:pt x="31294" y="2340"/>
                  </a:lnTo>
                  <a:lnTo>
                    <a:pt x="22526" y="0"/>
                  </a:lnTo>
                  <a:close/>
                </a:path>
              </a:pathLst>
            </a:custGeom>
            <a:ln w="14689">
              <a:solidFill>
                <a:srgbClr val="000000"/>
              </a:solidFill>
            </a:ln>
          </p:spPr>
          <p:txBody>
            <a:bodyPr wrap="square" lIns="0" tIns="0" rIns="0" bIns="0" rtlCol="0"/>
            <a:lstStyle/>
            <a:p/>
          </p:txBody>
        </p:sp>
        <p:sp>
          <p:nvSpPr>
            <p:cNvPr id="25" name="object 25" descr=""/>
            <p:cNvSpPr/>
            <p:nvPr/>
          </p:nvSpPr>
          <p:spPr>
            <a:xfrm>
              <a:off x="3082340" y="3522637"/>
              <a:ext cx="1376045" cy="514350"/>
            </a:xfrm>
            <a:custGeom>
              <a:avLst/>
              <a:gdLst/>
              <a:ahLst/>
              <a:cxnLst/>
              <a:rect l="l" t="t" r="r" b="b"/>
              <a:pathLst>
                <a:path w="1376045" h="514350">
                  <a:moveTo>
                    <a:pt x="78359" y="396354"/>
                  </a:moveTo>
                  <a:lnTo>
                    <a:pt x="49098" y="425970"/>
                  </a:lnTo>
                  <a:lnTo>
                    <a:pt x="39344" y="435711"/>
                  </a:lnTo>
                  <a:lnTo>
                    <a:pt x="48996" y="425970"/>
                  </a:lnTo>
                  <a:lnTo>
                    <a:pt x="48983" y="396354"/>
                  </a:lnTo>
                  <a:lnTo>
                    <a:pt x="47472" y="0"/>
                  </a:lnTo>
                  <a:lnTo>
                    <a:pt x="27876" y="0"/>
                  </a:lnTo>
                  <a:lnTo>
                    <a:pt x="29387" y="396354"/>
                  </a:lnTo>
                  <a:lnTo>
                    <a:pt x="29502" y="425970"/>
                  </a:lnTo>
                  <a:lnTo>
                    <a:pt x="0" y="396748"/>
                  </a:lnTo>
                  <a:lnTo>
                    <a:pt x="39636" y="514070"/>
                  </a:lnTo>
                  <a:lnTo>
                    <a:pt x="65405" y="435711"/>
                  </a:lnTo>
                  <a:lnTo>
                    <a:pt x="78359" y="396354"/>
                  </a:lnTo>
                  <a:close/>
                </a:path>
                <a:path w="1376045" h="514350">
                  <a:moveTo>
                    <a:pt x="1375575" y="274751"/>
                  </a:moveTo>
                  <a:lnTo>
                    <a:pt x="1373822" y="263042"/>
                  </a:lnTo>
                  <a:lnTo>
                    <a:pt x="1369021" y="253530"/>
                  </a:lnTo>
                  <a:lnTo>
                    <a:pt x="1361859" y="247129"/>
                  </a:lnTo>
                  <a:lnTo>
                    <a:pt x="1353058" y="244792"/>
                  </a:lnTo>
                  <a:lnTo>
                    <a:pt x="1344244" y="247129"/>
                  </a:lnTo>
                  <a:lnTo>
                    <a:pt x="1337094" y="253530"/>
                  </a:lnTo>
                  <a:lnTo>
                    <a:pt x="1332280" y="263042"/>
                  </a:lnTo>
                  <a:lnTo>
                    <a:pt x="1330528" y="274751"/>
                  </a:lnTo>
                  <a:lnTo>
                    <a:pt x="1332280" y="286334"/>
                  </a:lnTo>
                  <a:lnTo>
                    <a:pt x="1337094" y="295795"/>
                  </a:lnTo>
                  <a:lnTo>
                    <a:pt x="1344244" y="302171"/>
                  </a:lnTo>
                  <a:lnTo>
                    <a:pt x="1353058" y="304507"/>
                  </a:lnTo>
                  <a:lnTo>
                    <a:pt x="1361859" y="302171"/>
                  </a:lnTo>
                  <a:lnTo>
                    <a:pt x="1369021" y="295795"/>
                  </a:lnTo>
                  <a:lnTo>
                    <a:pt x="1373822" y="286334"/>
                  </a:lnTo>
                  <a:lnTo>
                    <a:pt x="1375575" y="274751"/>
                  </a:lnTo>
                  <a:close/>
                </a:path>
              </a:pathLst>
            </a:custGeom>
            <a:solidFill>
              <a:srgbClr val="000000"/>
            </a:solidFill>
          </p:spPr>
          <p:txBody>
            <a:bodyPr wrap="square" lIns="0" tIns="0" rIns="0" bIns="0" rtlCol="0"/>
            <a:lstStyle/>
            <a:p/>
          </p:txBody>
        </p:sp>
        <p:sp>
          <p:nvSpPr>
            <p:cNvPr id="26" name="object 26" descr=""/>
            <p:cNvSpPr/>
            <p:nvPr/>
          </p:nvSpPr>
          <p:spPr>
            <a:xfrm>
              <a:off x="4412874" y="3767417"/>
              <a:ext cx="45085" cy="60325"/>
            </a:xfrm>
            <a:custGeom>
              <a:avLst/>
              <a:gdLst/>
              <a:ahLst/>
              <a:cxnLst/>
              <a:rect l="l" t="t" r="r" b="b"/>
              <a:pathLst>
                <a:path w="45085" h="60325">
                  <a:moveTo>
                    <a:pt x="22526" y="0"/>
                  </a:moveTo>
                  <a:lnTo>
                    <a:pt x="13718" y="2340"/>
                  </a:lnTo>
                  <a:lnTo>
                    <a:pt x="6562" y="8738"/>
                  </a:lnTo>
                  <a:lnTo>
                    <a:pt x="1756" y="18257"/>
                  </a:lnTo>
                  <a:lnTo>
                    <a:pt x="0" y="29961"/>
                  </a:lnTo>
                  <a:lnTo>
                    <a:pt x="1756" y="41551"/>
                  </a:lnTo>
                  <a:lnTo>
                    <a:pt x="6562" y="51012"/>
                  </a:lnTo>
                  <a:lnTo>
                    <a:pt x="13718" y="57389"/>
                  </a:lnTo>
                  <a:lnTo>
                    <a:pt x="22526" y="59726"/>
                  </a:lnTo>
                  <a:lnTo>
                    <a:pt x="31335" y="57389"/>
                  </a:lnTo>
                  <a:lnTo>
                    <a:pt x="38491" y="51012"/>
                  </a:lnTo>
                  <a:lnTo>
                    <a:pt x="43297" y="41551"/>
                  </a:lnTo>
                  <a:lnTo>
                    <a:pt x="45053" y="29961"/>
                  </a:lnTo>
                  <a:lnTo>
                    <a:pt x="43297" y="18257"/>
                  </a:lnTo>
                  <a:lnTo>
                    <a:pt x="38491" y="8738"/>
                  </a:lnTo>
                  <a:lnTo>
                    <a:pt x="31335" y="2340"/>
                  </a:lnTo>
                  <a:lnTo>
                    <a:pt x="22526" y="0"/>
                  </a:lnTo>
                  <a:close/>
                </a:path>
              </a:pathLst>
            </a:custGeom>
            <a:ln w="14689">
              <a:solidFill>
                <a:srgbClr val="000000"/>
              </a:solidFill>
            </a:ln>
          </p:spPr>
          <p:txBody>
            <a:bodyPr wrap="square" lIns="0" tIns="0" rIns="0" bIns="0" rtlCol="0"/>
            <a:lstStyle/>
            <a:p/>
          </p:txBody>
        </p:sp>
        <p:sp>
          <p:nvSpPr>
            <p:cNvPr id="27" name="object 27" descr=""/>
            <p:cNvSpPr/>
            <p:nvPr/>
          </p:nvSpPr>
          <p:spPr>
            <a:xfrm>
              <a:off x="6839912" y="3762521"/>
              <a:ext cx="45085" cy="60325"/>
            </a:xfrm>
            <a:custGeom>
              <a:avLst/>
              <a:gdLst/>
              <a:ahLst/>
              <a:cxnLst/>
              <a:rect l="l" t="t" r="r" b="b"/>
              <a:pathLst>
                <a:path w="45084" h="60325">
                  <a:moveTo>
                    <a:pt x="22526" y="0"/>
                  </a:moveTo>
                  <a:lnTo>
                    <a:pt x="13718" y="2340"/>
                  </a:lnTo>
                  <a:lnTo>
                    <a:pt x="6562" y="8738"/>
                  </a:lnTo>
                  <a:lnTo>
                    <a:pt x="1756" y="18257"/>
                  </a:lnTo>
                  <a:lnTo>
                    <a:pt x="0" y="29961"/>
                  </a:lnTo>
                  <a:lnTo>
                    <a:pt x="1756" y="41551"/>
                  </a:lnTo>
                  <a:lnTo>
                    <a:pt x="6562" y="51012"/>
                  </a:lnTo>
                  <a:lnTo>
                    <a:pt x="13718" y="57389"/>
                  </a:lnTo>
                  <a:lnTo>
                    <a:pt x="22526" y="59726"/>
                  </a:lnTo>
                  <a:lnTo>
                    <a:pt x="31335" y="57389"/>
                  </a:lnTo>
                  <a:lnTo>
                    <a:pt x="38491" y="51012"/>
                  </a:lnTo>
                  <a:lnTo>
                    <a:pt x="43297" y="41551"/>
                  </a:lnTo>
                  <a:lnTo>
                    <a:pt x="45053" y="29961"/>
                  </a:lnTo>
                  <a:lnTo>
                    <a:pt x="43297" y="18257"/>
                  </a:lnTo>
                  <a:lnTo>
                    <a:pt x="38491" y="8738"/>
                  </a:lnTo>
                  <a:lnTo>
                    <a:pt x="31335" y="2340"/>
                  </a:lnTo>
                  <a:lnTo>
                    <a:pt x="22526" y="0"/>
                  </a:lnTo>
                  <a:close/>
                </a:path>
              </a:pathLst>
            </a:custGeom>
            <a:solidFill>
              <a:srgbClr val="000000"/>
            </a:solidFill>
          </p:spPr>
          <p:txBody>
            <a:bodyPr wrap="square" lIns="0" tIns="0" rIns="0" bIns="0" rtlCol="0"/>
            <a:lstStyle/>
            <a:p/>
          </p:txBody>
        </p:sp>
        <p:sp>
          <p:nvSpPr>
            <p:cNvPr id="28" name="object 28" descr=""/>
            <p:cNvSpPr/>
            <p:nvPr/>
          </p:nvSpPr>
          <p:spPr>
            <a:xfrm>
              <a:off x="6839912" y="3762521"/>
              <a:ext cx="45085" cy="60325"/>
            </a:xfrm>
            <a:custGeom>
              <a:avLst/>
              <a:gdLst/>
              <a:ahLst/>
              <a:cxnLst/>
              <a:rect l="l" t="t" r="r" b="b"/>
              <a:pathLst>
                <a:path w="45084" h="60325">
                  <a:moveTo>
                    <a:pt x="22526" y="0"/>
                  </a:moveTo>
                  <a:lnTo>
                    <a:pt x="13718" y="2340"/>
                  </a:lnTo>
                  <a:lnTo>
                    <a:pt x="6562" y="8738"/>
                  </a:lnTo>
                  <a:lnTo>
                    <a:pt x="1756" y="18257"/>
                  </a:lnTo>
                  <a:lnTo>
                    <a:pt x="0" y="29961"/>
                  </a:lnTo>
                  <a:lnTo>
                    <a:pt x="1756" y="41551"/>
                  </a:lnTo>
                  <a:lnTo>
                    <a:pt x="6562" y="51012"/>
                  </a:lnTo>
                  <a:lnTo>
                    <a:pt x="13718" y="57389"/>
                  </a:lnTo>
                  <a:lnTo>
                    <a:pt x="22526" y="59726"/>
                  </a:lnTo>
                  <a:lnTo>
                    <a:pt x="31335" y="57389"/>
                  </a:lnTo>
                  <a:lnTo>
                    <a:pt x="38491" y="51012"/>
                  </a:lnTo>
                  <a:lnTo>
                    <a:pt x="43297" y="41551"/>
                  </a:lnTo>
                  <a:lnTo>
                    <a:pt x="45053" y="29961"/>
                  </a:lnTo>
                  <a:lnTo>
                    <a:pt x="43297" y="18257"/>
                  </a:lnTo>
                  <a:lnTo>
                    <a:pt x="38491" y="8738"/>
                  </a:lnTo>
                  <a:lnTo>
                    <a:pt x="31335" y="2340"/>
                  </a:lnTo>
                  <a:lnTo>
                    <a:pt x="22526" y="0"/>
                  </a:lnTo>
                  <a:close/>
                </a:path>
              </a:pathLst>
            </a:custGeom>
            <a:ln w="14689">
              <a:solidFill>
                <a:srgbClr val="000000"/>
              </a:solidFill>
            </a:ln>
          </p:spPr>
          <p:txBody>
            <a:bodyPr wrap="square" lIns="0" tIns="0" rIns="0" bIns="0" rtlCol="0"/>
            <a:lstStyle/>
            <a:p/>
          </p:txBody>
        </p:sp>
        <p:sp>
          <p:nvSpPr>
            <p:cNvPr id="29" name="object 29" descr=""/>
            <p:cNvSpPr/>
            <p:nvPr/>
          </p:nvSpPr>
          <p:spPr>
            <a:xfrm>
              <a:off x="7621501" y="3767417"/>
              <a:ext cx="45085" cy="60325"/>
            </a:xfrm>
            <a:custGeom>
              <a:avLst/>
              <a:gdLst/>
              <a:ahLst/>
              <a:cxnLst/>
              <a:rect l="l" t="t" r="r" b="b"/>
              <a:pathLst>
                <a:path w="45084" h="60325">
                  <a:moveTo>
                    <a:pt x="22526" y="0"/>
                  </a:moveTo>
                  <a:lnTo>
                    <a:pt x="13718" y="2340"/>
                  </a:lnTo>
                  <a:lnTo>
                    <a:pt x="6562" y="8738"/>
                  </a:lnTo>
                  <a:lnTo>
                    <a:pt x="1756" y="18257"/>
                  </a:lnTo>
                  <a:lnTo>
                    <a:pt x="0" y="29961"/>
                  </a:lnTo>
                  <a:lnTo>
                    <a:pt x="1756" y="41551"/>
                  </a:lnTo>
                  <a:lnTo>
                    <a:pt x="6562" y="51012"/>
                  </a:lnTo>
                  <a:lnTo>
                    <a:pt x="13718" y="57389"/>
                  </a:lnTo>
                  <a:lnTo>
                    <a:pt x="22526" y="59726"/>
                  </a:lnTo>
                  <a:lnTo>
                    <a:pt x="31335" y="57389"/>
                  </a:lnTo>
                  <a:lnTo>
                    <a:pt x="38491" y="51012"/>
                  </a:lnTo>
                  <a:lnTo>
                    <a:pt x="43297" y="41551"/>
                  </a:lnTo>
                  <a:lnTo>
                    <a:pt x="45053" y="29961"/>
                  </a:lnTo>
                  <a:lnTo>
                    <a:pt x="43297" y="18257"/>
                  </a:lnTo>
                  <a:lnTo>
                    <a:pt x="38491" y="8738"/>
                  </a:lnTo>
                  <a:lnTo>
                    <a:pt x="31335" y="2340"/>
                  </a:lnTo>
                  <a:lnTo>
                    <a:pt x="22526" y="0"/>
                  </a:lnTo>
                  <a:close/>
                </a:path>
              </a:pathLst>
            </a:custGeom>
            <a:solidFill>
              <a:srgbClr val="000000"/>
            </a:solidFill>
          </p:spPr>
          <p:txBody>
            <a:bodyPr wrap="square" lIns="0" tIns="0" rIns="0" bIns="0" rtlCol="0"/>
            <a:lstStyle/>
            <a:p/>
          </p:txBody>
        </p:sp>
        <p:sp>
          <p:nvSpPr>
            <p:cNvPr id="30" name="object 30" descr=""/>
            <p:cNvSpPr/>
            <p:nvPr/>
          </p:nvSpPr>
          <p:spPr>
            <a:xfrm>
              <a:off x="7621501" y="3767417"/>
              <a:ext cx="45085" cy="60325"/>
            </a:xfrm>
            <a:custGeom>
              <a:avLst/>
              <a:gdLst/>
              <a:ahLst/>
              <a:cxnLst/>
              <a:rect l="l" t="t" r="r" b="b"/>
              <a:pathLst>
                <a:path w="45084" h="60325">
                  <a:moveTo>
                    <a:pt x="22526" y="0"/>
                  </a:moveTo>
                  <a:lnTo>
                    <a:pt x="13718" y="2340"/>
                  </a:lnTo>
                  <a:lnTo>
                    <a:pt x="6562" y="8738"/>
                  </a:lnTo>
                  <a:lnTo>
                    <a:pt x="1756" y="18257"/>
                  </a:lnTo>
                  <a:lnTo>
                    <a:pt x="0" y="29961"/>
                  </a:lnTo>
                  <a:lnTo>
                    <a:pt x="1756" y="41551"/>
                  </a:lnTo>
                  <a:lnTo>
                    <a:pt x="6562" y="51012"/>
                  </a:lnTo>
                  <a:lnTo>
                    <a:pt x="13718" y="57389"/>
                  </a:lnTo>
                  <a:lnTo>
                    <a:pt x="22526" y="59726"/>
                  </a:lnTo>
                  <a:lnTo>
                    <a:pt x="31335" y="57389"/>
                  </a:lnTo>
                  <a:lnTo>
                    <a:pt x="38491" y="51012"/>
                  </a:lnTo>
                  <a:lnTo>
                    <a:pt x="43297" y="41551"/>
                  </a:lnTo>
                  <a:lnTo>
                    <a:pt x="45053" y="29961"/>
                  </a:lnTo>
                  <a:lnTo>
                    <a:pt x="43297" y="18257"/>
                  </a:lnTo>
                  <a:lnTo>
                    <a:pt x="38491" y="8738"/>
                  </a:lnTo>
                  <a:lnTo>
                    <a:pt x="31335" y="2340"/>
                  </a:lnTo>
                  <a:lnTo>
                    <a:pt x="22526" y="0"/>
                  </a:lnTo>
                  <a:close/>
                </a:path>
              </a:pathLst>
            </a:custGeom>
            <a:ln w="14689">
              <a:solidFill>
                <a:srgbClr val="000000"/>
              </a:solidFill>
            </a:ln>
          </p:spPr>
          <p:txBody>
            <a:bodyPr wrap="square" lIns="0" tIns="0" rIns="0" bIns="0" rtlCol="0"/>
            <a:lstStyle/>
            <a:p/>
          </p:txBody>
        </p:sp>
        <p:sp>
          <p:nvSpPr>
            <p:cNvPr id="31" name="object 31" descr=""/>
            <p:cNvSpPr/>
            <p:nvPr/>
          </p:nvSpPr>
          <p:spPr>
            <a:xfrm>
              <a:off x="6097501" y="3308206"/>
              <a:ext cx="45085" cy="60325"/>
            </a:xfrm>
            <a:custGeom>
              <a:avLst/>
              <a:gdLst/>
              <a:ahLst/>
              <a:cxnLst/>
              <a:rect l="l" t="t" r="r" b="b"/>
              <a:pathLst>
                <a:path w="45085" h="60325">
                  <a:moveTo>
                    <a:pt x="22526" y="0"/>
                  </a:moveTo>
                  <a:lnTo>
                    <a:pt x="13718" y="2340"/>
                  </a:lnTo>
                  <a:lnTo>
                    <a:pt x="6562" y="8738"/>
                  </a:lnTo>
                  <a:lnTo>
                    <a:pt x="1756" y="18257"/>
                  </a:lnTo>
                  <a:lnTo>
                    <a:pt x="0" y="29961"/>
                  </a:lnTo>
                  <a:lnTo>
                    <a:pt x="1756" y="41551"/>
                  </a:lnTo>
                  <a:lnTo>
                    <a:pt x="6562" y="51012"/>
                  </a:lnTo>
                  <a:lnTo>
                    <a:pt x="13718" y="57389"/>
                  </a:lnTo>
                  <a:lnTo>
                    <a:pt x="22526" y="59726"/>
                  </a:lnTo>
                  <a:lnTo>
                    <a:pt x="31335" y="57389"/>
                  </a:lnTo>
                  <a:lnTo>
                    <a:pt x="38491" y="51012"/>
                  </a:lnTo>
                  <a:lnTo>
                    <a:pt x="43297" y="41551"/>
                  </a:lnTo>
                  <a:lnTo>
                    <a:pt x="45053" y="29961"/>
                  </a:lnTo>
                  <a:lnTo>
                    <a:pt x="43297" y="18257"/>
                  </a:lnTo>
                  <a:lnTo>
                    <a:pt x="38491" y="8738"/>
                  </a:lnTo>
                  <a:lnTo>
                    <a:pt x="31335" y="2340"/>
                  </a:lnTo>
                  <a:lnTo>
                    <a:pt x="22526" y="0"/>
                  </a:lnTo>
                  <a:close/>
                </a:path>
              </a:pathLst>
            </a:custGeom>
            <a:solidFill>
              <a:srgbClr val="000000"/>
            </a:solidFill>
          </p:spPr>
          <p:txBody>
            <a:bodyPr wrap="square" lIns="0" tIns="0" rIns="0" bIns="0" rtlCol="0"/>
            <a:lstStyle/>
            <a:p/>
          </p:txBody>
        </p:sp>
        <p:sp>
          <p:nvSpPr>
            <p:cNvPr id="32" name="object 32" descr=""/>
            <p:cNvSpPr/>
            <p:nvPr/>
          </p:nvSpPr>
          <p:spPr>
            <a:xfrm>
              <a:off x="6097501" y="3308206"/>
              <a:ext cx="45085" cy="60325"/>
            </a:xfrm>
            <a:custGeom>
              <a:avLst/>
              <a:gdLst/>
              <a:ahLst/>
              <a:cxnLst/>
              <a:rect l="l" t="t" r="r" b="b"/>
              <a:pathLst>
                <a:path w="45085" h="60325">
                  <a:moveTo>
                    <a:pt x="22526" y="0"/>
                  </a:moveTo>
                  <a:lnTo>
                    <a:pt x="13718" y="2340"/>
                  </a:lnTo>
                  <a:lnTo>
                    <a:pt x="6562" y="8738"/>
                  </a:lnTo>
                  <a:lnTo>
                    <a:pt x="1756" y="18257"/>
                  </a:lnTo>
                  <a:lnTo>
                    <a:pt x="0" y="29961"/>
                  </a:lnTo>
                  <a:lnTo>
                    <a:pt x="1756" y="41551"/>
                  </a:lnTo>
                  <a:lnTo>
                    <a:pt x="6562" y="51012"/>
                  </a:lnTo>
                  <a:lnTo>
                    <a:pt x="13718" y="57389"/>
                  </a:lnTo>
                  <a:lnTo>
                    <a:pt x="22526" y="59726"/>
                  </a:lnTo>
                  <a:lnTo>
                    <a:pt x="31335" y="57389"/>
                  </a:lnTo>
                  <a:lnTo>
                    <a:pt x="38491" y="51012"/>
                  </a:lnTo>
                  <a:lnTo>
                    <a:pt x="43297" y="41551"/>
                  </a:lnTo>
                  <a:lnTo>
                    <a:pt x="45053" y="29961"/>
                  </a:lnTo>
                  <a:lnTo>
                    <a:pt x="43297" y="18257"/>
                  </a:lnTo>
                  <a:lnTo>
                    <a:pt x="38491" y="8738"/>
                  </a:lnTo>
                  <a:lnTo>
                    <a:pt x="31335" y="2340"/>
                  </a:lnTo>
                  <a:lnTo>
                    <a:pt x="22526" y="0"/>
                  </a:lnTo>
                  <a:close/>
                </a:path>
              </a:pathLst>
            </a:custGeom>
            <a:ln w="14689">
              <a:solidFill>
                <a:srgbClr val="000000"/>
              </a:solidFill>
            </a:ln>
          </p:spPr>
          <p:txBody>
            <a:bodyPr wrap="square" lIns="0" tIns="0" rIns="0" bIns="0" rtlCol="0"/>
            <a:lstStyle/>
            <a:p/>
          </p:txBody>
        </p:sp>
      </p:grpSp>
      <p:sp>
        <p:nvSpPr>
          <p:cNvPr id="33" name="object 33" descr=""/>
          <p:cNvSpPr txBox="1"/>
          <p:nvPr/>
        </p:nvSpPr>
        <p:spPr>
          <a:xfrm>
            <a:off x="6651861" y="5279209"/>
            <a:ext cx="1316355" cy="303530"/>
          </a:xfrm>
          <a:prstGeom prst="rect">
            <a:avLst/>
          </a:prstGeom>
          <a:solidFill>
            <a:srgbClr val="CC99FF"/>
          </a:solidFill>
          <a:ln w="14687">
            <a:solidFill>
              <a:srgbClr val="000000"/>
            </a:solidFill>
          </a:ln>
        </p:spPr>
        <p:txBody>
          <a:bodyPr wrap="square" lIns="0" tIns="40005" rIns="0" bIns="0" rtlCol="0" vert="horz">
            <a:spAutoFit/>
          </a:bodyPr>
          <a:lstStyle/>
          <a:p>
            <a:pPr marL="130810">
              <a:lnSpc>
                <a:spcPct val="100000"/>
              </a:lnSpc>
              <a:spcBef>
                <a:spcPts val="315"/>
              </a:spcBef>
            </a:pPr>
            <a:r>
              <a:rPr dirty="0" sz="1350" spc="-30" b="1">
                <a:latin typeface="宋体"/>
                <a:cs typeface="宋体"/>
              </a:rPr>
              <a:t>浮点乘法器 </a:t>
            </a:r>
            <a:r>
              <a:rPr dirty="0" sz="1350" spc="-50" b="1">
                <a:latin typeface="Times New Roman"/>
                <a:cs typeface="Times New Roman"/>
              </a:rPr>
              <a:t>M</a:t>
            </a:r>
            <a:endParaRPr sz="1350">
              <a:latin typeface="Times New Roman"/>
              <a:cs typeface="Times New Roman"/>
            </a:endParaRPr>
          </a:p>
        </p:txBody>
      </p:sp>
      <p:sp>
        <p:nvSpPr>
          <p:cNvPr id="34" name="object 34" descr=""/>
          <p:cNvSpPr txBox="1"/>
          <p:nvPr/>
        </p:nvSpPr>
        <p:spPr>
          <a:xfrm>
            <a:off x="3220759" y="2005211"/>
            <a:ext cx="201930" cy="758825"/>
          </a:xfrm>
          <a:prstGeom prst="rect">
            <a:avLst/>
          </a:prstGeom>
        </p:spPr>
        <p:txBody>
          <a:bodyPr wrap="square" lIns="0" tIns="49530" rIns="0" bIns="0" rtlCol="0" vert="horz">
            <a:spAutoFit/>
          </a:bodyPr>
          <a:lstStyle/>
          <a:p>
            <a:pPr algn="just" marL="12700" marR="5080">
              <a:lnSpc>
                <a:spcPts val="1370"/>
              </a:lnSpc>
              <a:spcBef>
                <a:spcPts val="390"/>
              </a:spcBef>
            </a:pPr>
            <a:r>
              <a:rPr dirty="0" sz="1350" spc="-50" b="1">
                <a:latin typeface="宋体"/>
                <a:cs typeface="宋体"/>
              </a:rPr>
              <a:t>指令队列</a:t>
            </a:r>
            <a:endParaRPr sz="1350">
              <a:latin typeface="宋体"/>
              <a:cs typeface="宋体"/>
            </a:endParaRPr>
          </a:p>
        </p:txBody>
      </p:sp>
      <p:sp>
        <p:nvSpPr>
          <p:cNvPr id="35" name="object 35" descr=""/>
          <p:cNvSpPr txBox="1"/>
          <p:nvPr/>
        </p:nvSpPr>
        <p:spPr>
          <a:xfrm>
            <a:off x="4773926" y="5628742"/>
            <a:ext cx="1814830" cy="237490"/>
          </a:xfrm>
          <a:prstGeom prst="rect">
            <a:avLst/>
          </a:prstGeom>
        </p:spPr>
        <p:txBody>
          <a:bodyPr wrap="square" lIns="0" tIns="17145" rIns="0" bIns="0" rtlCol="0" vert="horz">
            <a:spAutoFit/>
          </a:bodyPr>
          <a:lstStyle/>
          <a:p>
            <a:pPr marL="12700">
              <a:lnSpc>
                <a:spcPct val="100000"/>
              </a:lnSpc>
              <a:spcBef>
                <a:spcPts val="135"/>
              </a:spcBef>
            </a:pPr>
            <a:r>
              <a:rPr dirty="0" sz="1350" b="1">
                <a:solidFill>
                  <a:srgbClr val="0000FF"/>
                </a:solidFill>
                <a:latin typeface="宋体"/>
                <a:cs typeface="宋体"/>
              </a:rPr>
              <a:t>公共数据总线</a:t>
            </a:r>
            <a:r>
              <a:rPr dirty="0" sz="1350" spc="-20" b="1">
                <a:solidFill>
                  <a:srgbClr val="0000FF"/>
                </a:solidFill>
                <a:latin typeface="宋体"/>
                <a:cs typeface="宋体"/>
              </a:rPr>
              <a:t>（</a:t>
            </a:r>
            <a:r>
              <a:rPr dirty="0" sz="1350" spc="-20" b="1">
                <a:solidFill>
                  <a:srgbClr val="0000FF"/>
                </a:solidFill>
                <a:latin typeface="Times New Roman"/>
                <a:cs typeface="Times New Roman"/>
              </a:rPr>
              <a:t>CDB</a:t>
            </a:r>
            <a:r>
              <a:rPr dirty="0" sz="1350" spc="-20">
                <a:solidFill>
                  <a:srgbClr val="0000FF"/>
                </a:solidFill>
                <a:latin typeface="宋体"/>
                <a:cs typeface="宋体"/>
              </a:rPr>
              <a:t>）</a:t>
            </a:r>
            <a:endParaRPr sz="1350">
              <a:latin typeface="宋体"/>
              <a:cs typeface="宋体"/>
            </a:endParaRPr>
          </a:p>
        </p:txBody>
      </p:sp>
      <p:sp>
        <p:nvSpPr>
          <p:cNvPr id="36" name="object 36" descr=""/>
          <p:cNvSpPr/>
          <p:nvPr/>
        </p:nvSpPr>
        <p:spPr>
          <a:xfrm>
            <a:off x="3699846" y="4862101"/>
            <a:ext cx="78740" cy="389255"/>
          </a:xfrm>
          <a:custGeom>
            <a:avLst/>
            <a:gdLst/>
            <a:ahLst/>
            <a:cxnLst/>
            <a:rect l="l" t="t" r="r" b="b"/>
            <a:pathLst>
              <a:path w="78739" h="389254">
                <a:moveTo>
                  <a:pt x="0" y="271218"/>
                </a:moveTo>
                <a:lnTo>
                  <a:pt x="39177" y="388713"/>
                </a:lnTo>
                <a:lnTo>
                  <a:pt x="65295" y="310383"/>
                </a:lnTo>
                <a:lnTo>
                  <a:pt x="29383" y="310383"/>
                </a:lnTo>
                <a:lnTo>
                  <a:pt x="29383" y="300592"/>
                </a:lnTo>
                <a:lnTo>
                  <a:pt x="0" y="271218"/>
                </a:lnTo>
                <a:close/>
              </a:path>
              <a:path w="78739" h="389254">
                <a:moveTo>
                  <a:pt x="29383" y="300592"/>
                </a:moveTo>
                <a:lnTo>
                  <a:pt x="29383" y="310383"/>
                </a:lnTo>
                <a:lnTo>
                  <a:pt x="39177" y="310383"/>
                </a:lnTo>
                <a:lnTo>
                  <a:pt x="29383" y="300592"/>
                </a:lnTo>
                <a:close/>
              </a:path>
              <a:path w="78739" h="389254">
                <a:moveTo>
                  <a:pt x="48971" y="0"/>
                </a:moveTo>
                <a:lnTo>
                  <a:pt x="29383" y="0"/>
                </a:lnTo>
                <a:lnTo>
                  <a:pt x="29383" y="300592"/>
                </a:lnTo>
                <a:lnTo>
                  <a:pt x="39177" y="310383"/>
                </a:lnTo>
                <a:lnTo>
                  <a:pt x="48971" y="300592"/>
                </a:lnTo>
                <a:lnTo>
                  <a:pt x="48971" y="0"/>
                </a:lnTo>
                <a:close/>
              </a:path>
              <a:path w="78739" h="389254">
                <a:moveTo>
                  <a:pt x="48971" y="300592"/>
                </a:moveTo>
                <a:lnTo>
                  <a:pt x="39177" y="310383"/>
                </a:lnTo>
                <a:lnTo>
                  <a:pt x="48971" y="310383"/>
                </a:lnTo>
                <a:lnTo>
                  <a:pt x="48971" y="300592"/>
                </a:lnTo>
                <a:close/>
              </a:path>
              <a:path w="78739" h="389254">
                <a:moveTo>
                  <a:pt x="78354" y="271218"/>
                </a:moveTo>
                <a:lnTo>
                  <a:pt x="48971" y="300592"/>
                </a:lnTo>
                <a:lnTo>
                  <a:pt x="48971" y="310383"/>
                </a:lnTo>
                <a:lnTo>
                  <a:pt x="65295" y="310383"/>
                </a:lnTo>
                <a:lnTo>
                  <a:pt x="78354" y="271218"/>
                </a:lnTo>
                <a:close/>
              </a:path>
            </a:pathLst>
          </a:custGeom>
          <a:solidFill>
            <a:srgbClr val="000000"/>
          </a:solidFill>
        </p:spPr>
        <p:txBody>
          <a:bodyPr wrap="square" lIns="0" tIns="0" rIns="0" bIns="0" rtlCol="0"/>
          <a:lstStyle/>
          <a:p/>
        </p:txBody>
      </p:sp>
      <p:sp>
        <p:nvSpPr>
          <p:cNvPr id="37" name="object 37" descr=""/>
          <p:cNvSpPr/>
          <p:nvPr/>
        </p:nvSpPr>
        <p:spPr>
          <a:xfrm>
            <a:off x="4440298" y="4862101"/>
            <a:ext cx="78740" cy="389255"/>
          </a:xfrm>
          <a:custGeom>
            <a:avLst/>
            <a:gdLst/>
            <a:ahLst/>
            <a:cxnLst/>
            <a:rect l="l" t="t" r="r" b="b"/>
            <a:pathLst>
              <a:path w="78739" h="389254">
                <a:moveTo>
                  <a:pt x="0" y="271218"/>
                </a:moveTo>
                <a:lnTo>
                  <a:pt x="39177" y="388713"/>
                </a:lnTo>
                <a:lnTo>
                  <a:pt x="65295" y="310383"/>
                </a:lnTo>
                <a:lnTo>
                  <a:pt x="29383" y="310383"/>
                </a:lnTo>
                <a:lnTo>
                  <a:pt x="29383" y="300592"/>
                </a:lnTo>
                <a:lnTo>
                  <a:pt x="0" y="271218"/>
                </a:lnTo>
                <a:close/>
              </a:path>
              <a:path w="78739" h="389254">
                <a:moveTo>
                  <a:pt x="29383" y="300592"/>
                </a:moveTo>
                <a:lnTo>
                  <a:pt x="29383" y="310383"/>
                </a:lnTo>
                <a:lnTo>
                  <a:pt x="39177" y="310383"/>
                </a:lnTo>
                <a:lnTo>
                  <a:pt x="29383" y="300592"/>
                </a:lnTo>
                <a:close/>
              </a:path>
              <a:path w="78739" h="389254">
                <a:moveTo>
                  <a:pt x="48971" y="0"/>
                </a:moveTo>
                <a:lnTo>
                  <a:pt x="29383" y="0"/>
                </a:lnTo>
                <a:lnTo>
                  <a:pt x="29383" y="300592"/>
                </a:lnTo>
                <a:lnTo>
                  <a:pt x="39177" y="310383"/>
                </a:lnTo>
                <a:lnTo>
                  <a:pt x="48971" y="300592"/>
                </a:lnTo>
                <a:lnTo>
                  <a:pt x="48971" y="0"/>
                </a:lnTo>
                <a:close/>
              </a:path>
              <a:path w="78739" h="389254">
                <a:moveTo>
                  <a:pt x="48971" y="300592"/>
                </a:moveTo>
                <a:lnTo>
                  <a:pt x="39177" y="310383"/>
                </a:lnTo>
                <a:lnTo>
                  <a:pt x="48971" y="310383"/>
                </a:lnTo>
                <a:lnTo>
                  <a:pt x="48971" y="300592"/>
                </a:lnTo>
                <a:close/>
              </a:path>
              <a:path w="78739" h="389254">
                <a:moveTo>
                  <a:pt x="78354" y="271218"/>
                </a:moveTo>
                <a:lnTo>
                  <a:pt x="48971" y="300592"/>
                </a:lnTo>
                <a:lnTo>
                  <a:pt x="48971" y="310383"/>
                </a:lnTo>
                <a:lnTo>
                  <a:pt x="65295" y="310383"/>
                </a:lnTo>
                <a:lnTo>
                  <a:pt x="78354" y="271218"/>
                </a:lnTo>
                <a:close/>
              </a:path>
            </a:pathLst>
          </a:custGeom>
          <a:solidFill>
            <a:srgbClr val="000000"/>
          </a:solidFill>
        </p:spPr>
        <p:txBody>
          <a:bodyPr wrap="square" lIns="0" tIns="0" rIns="0" bIns="0" rtlCol="0"/>
          <a:lstStyle/>
          <a:p/>
        </p:txBody>
      </p:sp>
      <p:sp>
        <p:nvSpPr>
          <p:cNvPr id="38" name="object 38" descr=""/>
          <p:cNvSpPr/>
          <p:nvPr/>
        </p:nvSpPr>
        <p:spPr>
          <a:xfrm>
            <a:off x="7648926" y="4679983"/>
            <a:ext cx="78740" cy="570865"/>
          </a:xfrm>
          <a:custGeom>
            <a:avLst/>
            <a:gdLst/>
            <a:ahLst/>
            <a:cxnLst/>
            <a:rect l="l" t="t" r="r" b="b"/>
            <a:pathLst>
              <a:path w="78740" h="570864">
                <a:moveTo>
                  <a:pt x="0" y="453336"/>
                </a:moveTo>
                <a:lnTo>
                  <a:pt x="39177" y="570831"/>
                </a:lnTo>
                <a:lnTo>
                  <a:pt x="65295" y="492501"/>
                </a:lnTo>
                <a:lnTo>
                  <a:pt x="29383" y="492501"/>
                </a:lnTo>
                <a:lnTo>
                  <a:pt x="29383" y="482709"/>
                </a:lnTo>
                <a:lnTo>
                  <a:pt x="0" y="453336"/>
                </a:lnTo>
                <a:close/>
              </a:path>
              <a:path w="78740" h="570864">
                <a:moveTo>
                  <a:pt x="29383" y="482709"/>
                </a:moveTo>
                <a:lnTo>
                  <a:pt x="29383" y="492501"/>
                </a:lnTo>
                <a:lnTo>
                  <a:pt x="39177" y="492501"/>
                </a:lnTo>
                <a:lnTo>
                  <a:pt x="29383" y="482709"/>
                </a:lnTo>
                <a:close/>
              </a:path>
              <a:path w="78740" h="570864">
                <a:moveTo>
                  <a:pt x="48971" y="0"/>
                </a:moveTo>
                <a:lnTo>
                  <a:pt x="29383" y="0"/>
                </a:lnTo>
                <a:lnTo>
                  <a:pt x="29383" y="482709"/>
                </a:lnTo>
                <a:lnTo>
                  <a:pt x="39177" y="492501"/>
                </a:lnTo>
                <a:lnTo>
                  <a:pt x="48971" y="482709"/>
                </a:lnTo>
                <a:lnTo>
                  <a:pt x="48971" y="0"/>
                </a:lnTo>
                <a:close/>
              </a:path>
              <a:path w="78740" h="570864">
                <a:moveTo>
                  <a:pt x="48971" y="482709"/>
                </a:moveTo>
                <a:lnTo>
                  <a:pt x="39177" y="492501"/>
                </a:lnTo>
                <a:lnTo>
                  <a:pt x="48971" y="492501"/>
                </a:lnTo>
                <a:lnTo>
                  <a:pt x="48971" y="482709"/>
                </a:lnTo>
                <a:close/>
              </a:path>
              <a:path w="78740" h="570864">
                <a:moveTo>
                  <a:pt x="78354" y="453336"/>
                </a:moveTo>
                <a:lnTo>
                  <a:pt x="48971" y="482709"/>
                </a:lnTo>
                <a:lnTo>
                  <a:pt x="48971" y="492501"/>
                </a:lnTo>
                <a:lnTo>
                  <a:pt x="65295" y="492501"/>
                </a:lnTo>
                <a:lnTo>
                  <a:pt x="78354" y="453336"/>
                </a:lnTo>
                <a:close/>
              </a:path>
            </a:pathLst>
          </a:custGeom>
          <a:solidFill>
            <a:srgbClr val="000000"/>
          </a:solidFill>
        </p:spPr>
        <p:txBody>
          <a:bodyPr wrap="square" lIns="0" tIns="0" rIns="0" bIns="0" rtlCol="0"/>
          <a:lstStyle/>
          <a:p/>
        </p:txBody>
      </p:sp>
      <p:sp>
        <p:nvSpPr>
          <p:cNvPr id="39" name="object 39" descr=""/>
          <p:cNvSpPr/>
          <p:nvPr/>
        </p:nvSpPr>
        <p:spPr>
          <a:xfrm>
            <a:off x="6908473" y="4679983"/>
            <a:ext cx="78740" cy="570865"/>
          </a:xfrm>
          <a:custGeom>
            <a:avLst/>
            <a:gdLst/>
            <a:ahLst/>
            <a:cxnLst/>
            <a:rect l="l" t="t" r="r" b="b"/>
            <a:pathLst>
              <a:path w="78740" h="570864">
                <a:moveTo>
                  <a:pt x="0" y="453336"/>
                </a:moveTo>
                <a:lnTo>
                  <a:pt x="39177" y="570831"/>
                </a:lnTo>
                <a:lnTo>
                  <a:pt x="65295" y="492501"/>
                </a:lnTo>
                <a:lnTo>
                  <a:pt x="29383" y="492501"/>
                </a:lnTo>
                <a:lnTo>
                  <a:pt x="29383" y="482709"/>
                </a:lnTo>
                <a:lnTo>
                  <a:pt x="0" y="453336"/>
                </a:lnTo>
                <a:close/>
              </a:path>
              <a:path w="78740" h="570864">
                <a:moveTo>
                  <a:pt x="29383" y="482709"/>
                </a:moveTo>
                <a:lnTo>
                  <a:pt x="29383" y="492501"/>
                </a:lnTo>
                <a:lnTo>
                  <a:pt x="39177" y="492501"/>
                </a:lnTo>
                <a:lnTo>
                  <a:pt x="29383" y="482709"/>
                </a:lnTo>
                <a:close/>
              </a:path>
              <a:path w="78740" h="570864">
                <a:moveTo>
                  <a:pt x="48971" y="0"/>
                </a:moveTo>
                <a:lnTo>
                  <a:pt x="29383" y="0"/>
                </a:lnTo>
                <a:lnTo>
                  <a:pt x="29383" y="482709"/>
                </a:lnTo>
                <a:lnTo>
                  <a:pt x="39177" y="492501"/>
                </a:lnTo>
                <a:lnTo>
                  <a:pt x="48971" y="482709"/>
                </a:lnTo>
                <a:lnTo>
                  <a:pt x="48971" y="0"/>
                </a:lnTo>
                <a:close/>
              </a:path>
              <a:path w="78740" h="570864">
                <a:moveTo>
                  <a:pt x="48971" y="482709"/>
                </a:moveTo>
                <a:lnTo>
                  <a:pt x="39177" y="492501"/>
                </a:lnTo>
                <a:lnTo>
                  <a:pt x="48971" y="492501"/>
                </a:lnTo>
                <a:lnTo>
                  <a:pt x="48971" y="482709"/>
                </a:lnTo>
                <a:close/>
              </a:path>
              <a:path w="78740" h="570864">
                <a:moveTo>
                  <a:pt x="78354" y="453336"/>
                </a:moveTo>
                <a:lnTo>
                  <a:pt x="48971" y="482709"/>
                </a:lnTo>
                <a:lnTo>
                  <a:pt x="48971" y="492501"/>
                </a:lnTo>
                <a:lnTo>
                  <a:pt x="65295" y="492501"/>
                </a:lnTo>
                <a:lnTo>
                  <a:pt x="78354" y="453336"/>
                </a:lnTo>
                <a:close/>
              </a:path>
            </a:pathLst>
          </a:custGeom>
          <a:solidFill>
            <a:srgbClr val="000000"/>
          </a:solidFill>
        </p:spPr>
        <p:txBody>
          <a:bodyPr wrap="square" lIns="0" tIns="0" rIns="0" bIns="0" rtlCol="0"/>
          <a:lstStyle/>
          <a:p/>
        </p:txBody>
      </p:sp>
      <p:sp>
        <p:nvSpPr>
          <p:cNvPr id="40" name="object 40" descr=""/>
          <p:cNvSpPr txBox="1"/>
          <p:nvPr/>
        </p:nvSpPr>
        <p:spPr>
          <a:xfrm>
            <a:off x="2520267" y="4090558"/>
            <a:ext cx="201930" cy="584835"/>
          </a:xfrm>
          <a:prstGeom prst="rect">
            <a:avLst/>
          </a:prstGeom>
        </p:spPr>
        <p:txBody>
          <a:bodyPr wrap="square" lIns="0" tIns="49530" rIns="0" bIns="0" rtlCol="0" vert="horz">
            <a:spAutoFit/>
          </a:bodyPr>
          <a:lstStyle/>
          <a:p>
            <a:pPr algn="just" marL="12700" marR="5080">
              <a:lnSpc>
                <a:spcPts val="1370"/>
              </a:lnSpc>
              <a:spcBef>
                <a:spcPts val="390"/>
              </a:spcBef>
            </a:pPr>
            <a:r>
              <a:rPr dirty="0" sz="1350" spc="-50" b="1">
                <a:latin typeface="宋体"/>
                <a:cs typeface="宋体"/>
              </a:rPr>
              <a:t>保留站</a:t>
            </a:r>
            <a:endParaRPr sz="1350">
              <a:latin typeface="宋体"/>
              <a:cs typeface="宋体"/>
            </a:endParaRPr>
          </a:p>
        </p:txBody>
      </p:sp>
      <p:sp>
        <p:nvSpPr>
          <p:cNvPr id="41" name="object 41" descr=""/>
          <p:cNvSpPr txBox="1"/>
          <p:nvPr/>
        </p:nvSpPr>
        <p:spPr>
          <a:xfrm>
            <a:off x="8072857" y="4103658"/>
            <a:ext cx="597535" cy="631825"/>
          </a:xfrm>
          <a:prstGeom prst="rect">
            <a:avLst/>
          </a:prstGeom>
        </p:spPr>
        <p:txBody>
          <a:bodyPr wrap="square" lIns="0" tIns="11430" rIns="0" bIns="0" rtlCol="0" vert="horz">
            <a:spAutoFit/>
          </a:bodyPr>
          <a:lstStyle/>
          <a:p>
            <a:pPr marL="12700" marR="5080">
              <a:lnSpc>
                <a:spcPct val="147300"/>
              </a:lnSpc>
              <a:spcBef>
                <a:spcPts val="90"/>
              </a:spcBef>
            </a:pPr>
            <a:r>
              <a:rPr dirty="0" sz="1350" spc="-10">
                <a:latin typeface="Times New Roman"/>
                <a:cs typeface="Times New Roman"/>
              </a:rPr>
              <a:t>MULT2 MULT1</a:t>
            </a:r>
            <a:endParaRPr sz="1350">
              <a:latin typeface="Times New Roman"/>
              <a:cs typeface="Times New Roman"/>
            </a:endParaRPr>
          </a:p>
        </p:txBody>
      </p:sp>
      <p:sp>
        <p:nvSpPr>
          <p:cNvPr id="42" name="object 42" descr=""/>
          <p:cNvSpPr txBox="1"/>
          <p:nvPr/>
        </p:nvSpPr>
        <p:spPr>
          <a:xfrm>
            <a:off x="4870760" y="4020413"/>
            <a:ext cx="1046480" cy="823594"/>
          </a:xfrm>
          <a:prstGeom prst="rect">
            <a:avLst/>
          </a:prstGeom>
        </p:spPr>
        <p:txBody>
          <a:bodyPr wrap="square" lIns="0" tIns="72390" rIns="0" bIns="0" rtlCol="0" vert="horz">
            <a:spAutoFit/>
          </a:bodyPr>
          <a:lstStyle/>
          <a:p>
            <a:pPr marL="38100">
              <a:lnSpc>
                <a:spcPct val="100000"/>
              </a:lnSpc>
              <a:spcBef>
                <a:spcPts val="570"/>
              </a:spcBef>
              <a:tabLst>
                <a:tab pos="831215" algn="l"/>
              </a:tabLst>
            </a:pPr>
            <a:r>
              <a:rPr dirty="0" sz="1350" spc="-20">
                <a:latin typeface="Times New Roman"/>
                <a:cs typeface="Times New Roman"/>
              </a:rPr>
              <a:t>ADD3</a:t>
            </a:r>
            <a:r>
              <a:rPr dirty="0" sz="1350">
                <a:latin typeface="Times New Roman"/>
                <a:cs typeface="Times New Roman"/>
              </a:rPr>
              <a:t>	</a:t>
            </a:r>
            <a:r>
              <a:rPr dirty="0" baseline="-30864" sz="2025" spc="-75" b="1">
                <a:latin typeface="宋体"/>
                <a:cs typeface="宋体"/>
              </a:rPr>
              <a:t>保</a:t>
            </a:r>
            <a:endParaRPr baseline="-30864" sz="2025">
              <a:latin typeface="宋体"/>
              <a:cs typeface="宋体"/>
            </a:endParaRPr>
          </a:p>
          <a:p>
            <a:pPr marL="38100">
              <a:lnSpc>
                <a:spcPct val="100000"/>
              </a:lnSpc>
              <a:spcBef>
                <a:spcPts val="480"/>
              </a:spcBef>
              <a:tabLst>
                <a:tab pos="831215" algn="l"/>
              </a:tabLst>
            </a:pPr>
            <a:r>
              <a:rPr dirty="0" baseline="2057" sz="2025" spc="-30">
                <a:latin typeface="Times New Roman"/>
                <a:cs typeface="Times New Roman"/>
              </a:rPr>
              <a:t>ADD2</a:t>
            </a:r>
            <a:r>
              <a:rPr dirty="0" baseline="2057" sz="2025">
                <a:latin typeface="Times New Roman"/>
                <a:cs typeface="Times New Roman"/>
              </a:rPr>
              <a:t>	</a:t>
            </a:r>
            <a:r>
              <a:rPr dirty="0" sz="1350" spc="-50" b="1">
                <a:latin typeface="宋体"/>
                <a:cs typeface="宋体"/>
              </a:rPr>
              <a:t>留</a:t>
            </a:r>
            <a:endParaRPr sz="1350">
              <a:latin typeface="宋体"/>
              <a:cs typeface="宋体"/>
            </a:endParaRPr>
          </a:p>
          <a:p>
            <a:pPr marL="38100">
              <a:lnSpc>
                <a:spcPct val="100000"/>
              </a:lnSpc>
              <a:spcBef>
                <a:spcPts val="459"/>
              </a:spcBef>
              <a:tabLst>
                <a:tab pos="831215" algn="l"/>
              </a:tabLst>
            </a:pPr>
            <a:r>
              <a:rPr dirty="0" sz="1350" spc="-20">
                <a:latin typeface="Times New Roman"/>
                <a:cs typeface="Times New Roman"/>
              </a:rPr>
              <a:t>ADD1</a:t>
            </a:r>
            <a:r>
              <a:rPr dirty="0" sz="1350">
                <a:latin typeface="Times New Roman"/>
                <a:cs typeface="Times New Roman"/>
              </a:rPr>
              <a:t>	</a:t>
            </a:r>
            <a:r>
              <a:rPr dirty="0" baseline="28806" sz="2025" spc="-75" b="1">
                <a:latin typeface="宋体"/>
                <a:cs typeface="宋体"/>
              </a:rPr>
              <a:t>站</a:t>
            </a:r>
            <a:endParaRPr baseline="28806" sz="2025">
              <a:latin typeface="宋体"/>
              <a:cs typeface="宋体"/>
            </a:endParaRPr>
          </a:p>
        </p:txBody>
      </p:sp>
      <p:sp>
        <p:nvSpPr>
          <p:cNvPr id="43" name="object 43" descr=""/>
          <p:cNvSpPr txBox="1"/>
          <p:nvPr/>
        </p:nvSpPr>
        <p:spPr>
          <a:xfrm>
            <a:off x="5360803" y="1944114"/>
            <a:ext cx="201930" cy="932815"/>
          </a:xfrm>
          <a:prstGeom prst="rect">
            <a:avLst/>
          </a:prstGeom>
        </p:spPr>
        <p:txBody>
          <a:bodyPr wrap="square" lIns="0" tIns="49530" rIns="0" bIns="0" rtlCol="0" vert="horz">
            <a:spAutoFit/>
          </a:bodyPr>
          <a:lstStyle/>
          <a:p>
            <a:pPr algn="just" marL="12700" marR="5080">
              <a:lnSpc>
                <a:spcPts val="1370"/>
              </a:lnSpc>
              <a:spcBef>
                <a:spcPts val="390"/>
              </a:spcBef>
            </a:pPr>
            <a:r>
              <a:rPr dirty="0" sz="1350" spc="-50" b="1">
                <a:latin typeface="宋体"/>
                <a:cs typeface="宋体"/>
              </a:rPr>
              <a:t>浮点寄存器</a:t>
            </a:r>
            <a:endParaRPr sz="1350">
              <a:latin typeface="宋体"/>
              <a:cs typeface="宋体"/>
            </a:endParaRPr>
          </a:p>
        </p:txBody>
      </p:sp>
      <p:grpSp>
        <p:nvGrpSpPr>
          <p:cNvPr id="44" name="object 44" descr=""/>
          <p:cNvGrpSpPr/>
          <p:nvPr/>
        </p:nvGrpSpPr>
        <p:grpSpPr>
          <a:xfrm>
            <a:off x="3731403" y="1965056"/>
            <a:ext cx="5692140" cy="1836420"/>
            <a:chOff x="3731403" y="1965056"/>
            <a:chExt cx="5692140" cy="1836420"/>
          </a:xfrm>
        </p:grpSpPr>
        <p:sp>
          <p:nvSpPr>
            <p:cNvPr id="45" name="object 45" descr=""/>
            <p:cNvSpPr/>
            <p:nvPr/>
          </p:nvSpPr>
          <p:spPr>
            <a:xfrm>
              <a:off x="7029923" y="1972676"/>
              <a:ext cx="658495" cy="910590"/>
            </a:xfrm>
            <a:custGeom>
              <a:avLst/>
              <a:gdLst/>
              <a:ahLst/>
              <a:cxnLst/>
              <a:rect l="l" t="t" r="r" b="b"/>
              <a:pathLst>
                <a:path w="658495" h="910589">
                  <a:moveTo>
                    <a:pt x="658179" y="0"/>
                  </a:moveTo>
                  <a:lnTo>
                    <a:pt x="0" y="0"/>
                  </a:lnTo>
                  <a:lnTo>
                    <a:pt x="0" y="910588"/>
                  </a:lnTo>
                  <a:lnTo>
                    <a:pt x="658179" y="910588"/>
                  </a:lnTo>
                  <a:lnTo>
                    <a:pt x="658179" y="0"/>
                  </a:lnTo>
                  <a:close/>
                </a:path>
              </a:pathLst>
            </a:custGeom>
            <a:solidFill>
              <a:srgbClr val="FFFF99"/>
            </a:solidFill>
          </p:spPr>
          <p:txBody>
            <a:bodyPr wrap="square" lIns="0" tIns="0" rIns="0" bIns="0" rtlCol="0"/>
            <a:lstStyle/>
            <a:p/>
          </p:txBody>
        </p:sp>
        <p:sp>
          <p:nvSpPr>
            <p:cNvPr id="46" name="object 46" descr=""/>
            <p:cNvSpPr/>
            <p:nvPr/>
          </p:nvSpPr>
          <p:spPr>
            <a:xfrm>
              <a:off x="7029923" y="1972676"/>
              <a:ext cx="658495" cy="910590"/>
            </a:xfrm>
            <a:custGeom>
              <a:avLst/>
              <a:gdLst/>
              <a:ahLst/>
              <a:cxnLst/>
              <a:rect l="l" t="t" r="r" b="b"/>
              <a:pathLst>
                <a:path w="658495" h="910589">
                  <a:moveTo>
                    <a:pt x="0" y="910588"/>
                  </a:moveTo>
                  <a:lnTo>
                    <a:pt x="658179" y="910588"/>
                  </a:lnTo>
                  <a:lnTo>
                    <a:pt x="658179" y="0"/>
                  </a:lnTo>
                  <a:lnTo>
                    <a:pt x="0" y="0"/>
                  </a:lnTo>
                  <a:lnTo>
                    <a:pt x="0" y="910588"/>
                  </a:lnTo>
                  <a:close/>
                </a:path>
              </a:pathLst>
            </a:custGeom>
            <a:ln w="14689">
              <a:solidFill>
                <a:srgbClr val="000000"/>
              </a:solidFill>
            </a:ln>
          </p:spPr>
          <p:txBody>
            <a:bodyPr wrap="square" lIns="0" tIns="0" rIns="0" bIns="0" rtlCol="0"/>
            <a:lstStyle/>
            <a:p/>
          </p:txBody>
        </p:sp>
        <p:sp>
          <p:nvSpPr>
            <p:cNvPr id="47" name="object 47" descr=""/>
            <p:cNvSpPr/>
            <p:nvPr/>
          </p:nvSpPr>
          <p:spPr>
            <a:xfrm>
              <a:off x="7029923" y="2193469"/>
              <a:ext cx="658495" cy="15240"/>
            </a:xfrm>
            <a:custGeom>
              <a:avLst/>
              <a:gdLst/>
              <a:ahLst/>
              <a:cxnLst/>
              <a:rect l="l" t="t" r="r" b="b"/>
              <a:pathLst>
                <a:path w="658495" h="15239">
                  <a:moveTo>
                    <a:pt x="0" y="14686"/>
                  </a:moveTo>
                  <a:lnTo>
                    <a:pt x="658179" y="14686"/>
                  </a:lnTo>
                  <a:lnTo>
                    <a:pt x="658179" y="0"/>
                  </a:lnTo>
                  <a:lnTo>
                    <a:pt x="0" y="0"/>
                  </a:lnTo>
                  <a:lnTo>
                    <a:pt x="0" y="14686"/>
                  </a:lnTo>
                  <a:close/>
                </a:path>
              </a:pathLst>
            </a:custGeom>
            <a:solidFill>
              <a:srgbClr val="000000"/>
            </a:solidFill>
          </p:spPr>
          <p:txBody>
            <a:bodyPr wrap="square" lIns="0" tIns="0" rIns="0" bIns="0" rtlCol="0"/>
            <a:lstStyle/>
            <a:p/>
          </p:txBody>
        </p:sp>
        <p:sp>
          <p:nvSpPr>
            <p:cNvPr id="48" name="object 48" descr=""/>
            <p:cNvSpPr/>
            <p:nvPr/>
          </p:nvSpPr>
          <p:spPr>
            <a:xfrm>
              <a:off x="3739023" y="3793853"/>
              <a:ext cx="5676900" cy="0"/>
            </a:xfrm>
            <a:custGeom>
              <a:avLst/>
              <a:gdLst/>
              <a:ahLst/>
              <a:cxnLst/>
              <a:rect l="l" t="t" r="r" b="b"/>
              <a:pathLst>
                <a:path w="5676900" h="0">
                  <a:moveTo>
                    <a:pt x="0" y="0"/>
                  </a:moveTo>
                  <a:lnTo>
                    <a:pt x="5676802" y="0"/>
                  </a:lnTo>
                </a:path>
              </a:pathLst>
            </a:custGeom>
            <a:ln w="14686">
              <a:solidFill>
                <a:srgbClr val="000000"/>
              </a:solidFill>
            </a:ln>
          </p:spPr>
          <p:txBody>
            <a:bodyPr wrap="square" lIns="0" tIns="0" rIns="0" bIns="0" rtlCol="0"/>
            <a:lstStyle/>
            <a:p/>
          </p:txBody>
        </p:sp>
      </p:grpSp>
      <p:sp>
        <p:nvSpPr>
          <p:cNvPr id="49" name="object 49" descr=""/>
          <p:cNvSpPr txBox="1"/>
          <p:nvPr/>
        </p:nvSpPr>
        <p:spPr>
          <a:xfrm>
            <a:off x="6584508" y="1947443"/>
            <a:ext cx="213360" cy="945515"/>
          </a:xfrm>
          <a:prstGeom prst="rect">
            <a:avLst/>
          </a:prstGeom>
        </p:spPr>
        <p:txBody>
          <a:bodyPr wrap="square" lIns="0" tIns="28575" rIns="0" bIns="0" rtlCol="0" vert="horz">
            <a:spAutoFit/>
          </a:bodyPr>
          <a:lstStyle/>
          <a:p>
            <a:pPr algn="just" marL="12700" marR="5080">
              <a:lnSpc>
                <a:spcPct val="109700"/>
              </a:lnSpc>
              <a:spcBef>
                <a:spcPts val="225"/>
              </a:spcBef>
            </a:pPr>
            <a:r>
              <a:rPr dirty="0" sz="1350" spc="-25">
                <a:latin typeface="Times New Roman"/>
                <a:cs typeface="Times New Roman"/>
              </a:rPr>
              <a:t>F6 F4 F2 F0</a:t>
            </a:r>
            <a:endParaRPr sz="1350">
              <a:latin typeface="Times New Roman"/>
              <a:cs typeface="Times New Roman"/>
            </a:endParaRPr>
          </a:p>
        </p:txBody>
      </p:sp>
      <p:sp>
        <p:nvSpPr>
          <p:cNvPr id="50" name="object 50" descr=""/>
          <p:cNvSpPr txBox="1"/>
          <p:nvPr/>
        </p:nvSpPr>
        <p:spPr>
          <a:xfrm>
            <a:off x="7254833" y="1715194"/>
            <a:ext cx="185420" cy="237490"/>
          </a:xfrm>
          <a:prstGeom prst="rect">
            <a:avLst/>
          </a:prstGeom>
        </p:spPr>
        <p:txBody>
          <a:bodyPr wrap="square" lIns="0" tIns="17145" rIns="0" bIns="0" rtlCol="0" vert="horz">
            <a:spAutoFit/>
          </a:bodyPr>
          <a:lstStyle/>
          <a:p>
            <a:pPr marL="12700">
              <a:lnSpc>
                <a:spcPct val="100000"/>
              </a:lnSpc>
              <a:spcBef>
                <a:spcPts val="135"/>
              </a:spcBef>
            </a:pPr>
            <a:r>
              <a:rPr dirty="0" baseline="2057" sz="2025" spc="-37">
                <a:latin typeface="Times New Roman"/>
                <a:cs typeface="Times New Roman"/>
              </a:rPr>
              <a:t>Q</a:t>
            </a:r>
            <a:r>
              <a:rPr dirty="0" sz="900" spc="-25">
                <a:latin typeface="Times New Roman"/>
                <a:cs typeface="Times New Roman"/>
              </a:rPr>
              <a:t>i</a:t>
            </a:r>
            <a:endParaRPr sz="900">
              <a:latin typeface="Times New Roman"/>
              <a:cs typeface="Times New Roman"/>
            </a:endParaRPr>
          </a:p>
        </p:txBody>
      </p:sp>
      <p:grpSp>
        <p:nvGrpSpPr>
          <p:cNvPr id="51" name="object 51" descr=""/>
          <p:cNvGrpSpPr/>
          <p:nvPr/>
        </p:nvGrpSpPr>
        <p:grpSpPr>
          <a:xfrm>
            <a:off x="4060493" y="1600820"/>
            <a:ext cx="5363210" cy="4325620"/>
            <a:chOff x="4060493" y="1600820"/>
            <a:chExt cx="5363210" cy="4325620"/>
          </a:xfrm>
        </p:grpSpPr>
        <p:sp>
          <p:nvSpPr>
            <p:cNvPr id="52" name="object 52" descr=""/>
            <p:cNvSpPr/>
            <p:nvPr/>
          </p:nvSpPr>
          <p:spPr>
            <a:xfrm>
              <a:off x="4068113" y="1608440"/>
              <a:ext cx="5347970" cy="4310380"/>
            </a:xfrm>
            <a:custGeom>
              <a:avLst/>
              <a:gdLst/>
              <a:ahLst/>
              <a:cxnLst/>
              <a:rect l="l" t="t" r="r" b="b"/>
              <a:pathLst>
                <a:path w="5347970" h="4310380">
                  <a:moveTo>
                    <a:pt x="0" y="4310133"/>
                  </a:moveTo>
                  <a:lnTo>
                    <a:pt x="5347712" y="4310133"/>
                  </a:lnTo>
                </a:path>
                <a:path w="5347970" h="4310380">
                  <a:moveTo>
                    <a:pt x="5347712" y="4310133"/>
                  </a:moveTo>
                  <a:lnTo>
                    <a:pt x="5347711" y="0"/>
                  </a:lnTo>
                </a:path>
              </a:pathLst>
            </a:custGeom>
            <a:ln w="14689">
              <a:solidFill>
                <a:srgbClr val="000000"/>
              </a:solidFill>
            </a:ln>
          </p:spPr>
          <p:txBody>
            <a:bodyPr wrap="square" lIns="0" tIns="0" rIns="0" bIns="0" rtlCol="0"/>
            <a:lstStyle/>
            <a:p/>
          </p:txBody>
        </p:sp>
        <p:sp>
          <p:nvSpPr>
            <p:cNvPr id="53" name="object 53" descr=""/>
            <p:cNvSpPr/>
            <p:nvPr/>
          </p:nvSpPr>
          <p:spPr>
            <a:xfrm>
              <a:off x="4401629" y="3308210"/>
              <a:ext cx="2483485" cy="728980"/>
            </a:xfrm>
            <a:custGeom>
              <a:avLst/>
              <a:gdLst/>
              <a:ahLst/>
              <a:cxnLst/>
              <a:rect l="l" t="t" r="r" b="b"/>
              <a:pathLst>
                <a:path w="2483484" h="728979">
                  <a:moveTo>
                    <a:pt x="78422" y="610781"/>
                  </a:moveTo>
                  <a:lnTo>
                    <a:pt x="49009" y="640384"/>
                  </a:lnTo>
                  <a:lnTo>
                    <a:pt x="39255" y="650138"/>
                  </a:lnTo>
                  <a:lnTo>
                    <a:pt x="48971" y="640384"/>
                  </a:lnTo>
                  <a:lnTo>
                    <a:pt x="48895" y="610781"/>
                  </a:lnTo>
                  <a:lnTo>
                    <a:pt x="46494" y="0"/>
                  </a:lnTo>
                  <a:lnTo>
                    <a:pt x="26911" y="0"/>
                  </a:lnTo>
                  <a:lnTo>
                    <a:pt x="29298" y="610781"/>
                  </a:lnTo>
                  <a:lnTo>
                    <a:pt x="29413" y="640384"/>
                  </a:lnTo>
                  <a:lnTo>
                    <a:pt x="0" y="611174"/>
                  </a:lnTo>
                  <a:lnTo>
                    <a:pt x="39636" y="728497"/>
                  </a:lnTo>
                  <a:lnTo>
                    <a:pt x="65455" y="650138"/>
                  </a:lnTo>
                  <a:lnTo>
                    <a:pt x="78422" y="610781"/>
                  </a:lnTo>
                  <a:close/>
                </a:path>
                <a:path w="2483484" h="728979">
                  <a:moveTo>
                    <a:pt x="2483332" y="29959"/>
                  </a:moveTo>
                  <a:lnTo>
                    <a:pt x="2481580" y="18262"/>
                  </a:lnTo>
                  <a:lnTo>
                    <a:pt x="2476766" y="8737"/>
                  </a:lnTo>
                  <a:lnTo>
                    <a:pt x="2469616" y="2336"/>
                  </a:lnTo>
                  <a:lnTo>
                    <a:pt x="2460802" y="0"/>
                  </a:lnTo>
                  <a:lnTo>
                    <a:pt x="2452001" y="2336"/>
                  </a:lnTo>
                  <a:lnTo>
                    <a:pt x="2444839" y="8737"/>
                  </a:lnTo>
                  <a:lnTo>
                    <a:pt x="2440038" y="18262"/>
                  </a:lnTo>
                  <a:lnTo>
                    <a:pt x="2438273" y="29959"/>
                  </a:lnTo>
                  <a:lnTo>
                    <a:pt x="2440038" y="41554"/>
                  </a:lnTo>
                  <a:lnTo>
                    <a:pt x="2444839" y="51015"/>
                  </a:lnTo>
                  <a:lnTo>
                    <a:pt x="2452001" y="57391"/>
                  </a:lnTo>
                  <a:lnTo>
                    <a:pt x="2460802" y="59728"/>
                  </a:lnTo>
                  <a:lnTo>
                    <a:pt x="2469616" y="57391"/>
                  </a:lnTo>
                  <a:lnTo>
                    <a:pt x="2476766" y="51015"/>
                  </a:lnTo>
                  <a:lnTo>
                    <a:pt x="2481580" y="41554"/>
                  </a:lnTo>
                  <a:lnTo>
                    <a:pt x="2483332" y="29959"/>
                  </a:lnTo>
                  <a:close/>
                </a:path>
              </a:pathLst>
            </a:custGeom>
            <a:solidFill>
              <a:srgbClr val="000000"/>
            </a:solidFill>
          </p:spPr>
          <p:txBody>
            <a:bodyPr wrap="square" lIns="0" tIns="0" rIns="0" bIns="0" rtlCol="0"/>
            <a:lstStyle/>
            <a:p/>
          </p:txBody>
        </p:sp>
        <p:sp>
          <p:nvSpPr>
            <p:cNvPr id="54" name="object 54" descr=""/>
            <p:cNvSpPr/>
            <p:nvPr/>
          </p:nvSpPr>
          <p:spPr>
            <a:xfrm>
              <a:off x="6839912" y="3308206"/>
              <a:ext cx="45085" cy="60325"/>
            </a:xfrm>
            <a:custGeom>
              <a:avLst/>
              <a:gdLst/>
              <a:ahLst/>
              <a:cxnLst/>
              <a:rect l="l" t="t" r="r" b="b"/>
              <a:pathLst>
                <a:path w="45084" h="60325">
                  <a:moveTo>
                    <a:pt x="22526" y="0"/>
                  </a:moveTo>
                  <a:lnTo>
                    <a:pt x="13718" y="2340"/>
                  </a:lnTo>
                  <a:lnTo>
                    <a:pt x="6562" y="8738"/>
                  </a:lnTo>
                  <a:lnTo>
                    <a:pt x="1756" y="18257"/>
                  </a:lnTo>
                  <a:lnTo>
                    <a:pt x="0" y="29961"/>
                  </a:lnTo>
                  <a:lnTo>
                    <a:pt x="1756" y="41551"/>
                  </a:lnTo>
                  <a:lnTo>
                    <a:pt x="6562" y="51012"/>
                  </a:lnTo>
                  <a:lnTo>
                    <a:pt x="13718" y="57389"/>
                  </a:lnTo>
                  <a:lnTo>
                    <a:pt x="22526" y="59726"/>
                  </a:lnTo>
                  <a:lnTo>
                    <a:pt x="31335" y="57389"/>
                  </a:lnTo>
                  <a:lnTo>
                    <a:pt x="38491" y="51012"/>
                  </a:lnTo>
                  <a:lnTo>
                    <a:pt x="43297" y="41551"/>
                  </a:lnTo>
                  <a:lnTo>
                    <a:pt x="45053" y="29961"/>
                  </a:lnTo>
                  <a:lnTo>
                    <a:pt x="43297" y="18257"/>
                  </a:lnTo>
                  <a:lnTo>
                    <a:pt x="38491" y="8738"/>
                  </a:lnTo>
                  <a:lnTo>
                    <a:pt x="31335" y="2340"/>
                  </a:lnTo>
                  <a:lnTo>
                    <a:pt x="22526" y="0"/>
                  </a:lnTo>
                  <a:close/>
                </a:path>
              </a:pathLst>
            </a:custGeom>
            <a:ln w="14689">
              <a:solidFill>
                <a:srgbClr val="000000"/>
              </a:solidFill>
            </a:ln>
          </p:spPr>
          <p:txBody>
            <a:bodyPr wrap="square" lIns="0" tIns="0" rIns="0" bIns="0" rtlCol="0"/>
            <a:lstStyle/>
            <a:p/>
          </p:txBody>
        </p:sp>
        <p:sp>
          <p:nvSpPr>
            <p:cNvPr id="55" name="object 55" descr=""/>
            <p:cNvSpPr/>
            <p:nvPr/>
          </p:nvSpPr>
          <p:spPr>
            <a:xfrm>
              <a:off x="4422668" y="3308206"/>
              <a:ext cx="45085" cy="60325"/>
            </a:xfrm>
            <a:custGeom>
              <a:avLst/>
              <a:gdLst/>
              <a:ahLst/>
              <a:cxnLst/>
              <a:rect l="l" t="t" r="r" b="b"/>
              <a:pathLst>
                <a:path w="45085" h="60325">
                  <a:moveTo>
                    <a:pt x="22526" y="0"/>
                  </a:moveTo>
                  <a:lnTo>
                    <a:pt x="13718" y="2340"/>
                  </a:lnTo>
                  <a:lnTo>
                    <a:pt x="6562" y="8738"/>
                  </a:lnTo>
                  <a:lnTo>
                    <a:pt x="1756" y="18257"/>
                  </a:lnTo>
                  <a:lnTo>
                    <a:pt x="0" y="29961"/>
                  </a:lnTo>
                  <a:lnTo>
                    <a:pt x="1756" y="41551"/>
                  </a:lnTo>
                  <a:lnTo>
                    <a:pt x="6562" y="51012"/>
                  </a:lnTo>
                  <a:lnTo>
                    <a:pt x="13718" y="57389"/>
                  </a:lnTo>
                  <a:lnTo>
                    <a:pt x="22526" y="59726"/>
                  </a:lnTo>
                  <a:lnTo>
                    <a:pt x="31335" y="57389"/>
                  </a:lnTo>
                  <a:lnTo>
                    <a:pt x="38491" y="51012"/>
                  </a:lnTo>
                  <a:lnTo>
                    <a:pt x="43297" y="41551"/>
                  </a:lnTo>
                  <a:lnTo>
                    <a:pt x="45053" y="29961"/>
                  </a:lnTo>
                  <a:lnTo>
                    <a:pt x="43297" y="18257"/>
                  </a:lnTo>
                  <a:lnTo>
                    <a:pt x="38491" y="8738"/>
                  </a:lnTo>
                  <a:lnTo>
                    <a:pt x="31335" y="2340"/>
                  </a:lnTo>
                  <a:lnTo>
                    <a:pt x="22526" y="0"/>
                  </a:lnTo>
                  <a:close/>
                </a:path>
              </a:pathLst>
            </a:custGeom>
            <a:solidFill>
              <a:srgbClr val="000000"/>
            </a:solidFill>
          </p:spPr>
          <p:txBody>
            <a:bodyPr wrap="square" lIns="0" tIns="0" rIns="0" bIns="0" rtlCol="0"/>
            <a:lstStyle/>
            <a:p/>
          </p:txBody>
        </p:sp>
        <p:sp>
          <p:nvSpPr>
            <p:cNvPr id="56" name="object 56" descr=""/>
            <p:cNvSpPr/>
            <p:nvPr/>
          </p:nvSpPr>
          <p:spPr>
            <a:xfrm>
              <a:off x="4422668" y="3308206"/>
              <a:ext cx="45085" cy="60325"/>
            </a:xfrm>
            <a:custGeom>
              <a:avLst/>
              <a:gdLst/>
              <a:ahLst/>
              <a:cxnLst/>
              <a:rect l="l" t="t" r="r" b="b"/>
              <a:pathLst>
                <a:path w="45085" h="60325">
                  <a:moveTo>
                    <a:pt x="22526" y="0"/>
                  </a:moveTo>
                  <a:lnTo>
                    <a:pt x="13718" y="2340"/>
                  </a:lnTo>
                  <a:lnTo>
                    <a:pt x="6562" y="8738"/>
                  </a:lnTo>
                  <a:lnTo>
                    <a:pt x="1756" y="18257"/>
                  </a:lnTo>
                  <a:lnTo>
                    <a:pt x="0" y="29961"/>
                  </a:lnTo>
                  <a:lnTo>
                    <a:pt x="1756" y="41551"/>
                  </a:lnTo>
                  <a:lnTo>
                    <a:pt x="6562" y="51012"/>
                  </a:lnTo>
                  <a:lnTo>
                    <a:pt x="13718" y="57389"/>
                  </a:lnTo>
                  <a:lnTo>
                    <a:pt x="22526" y="59726"/>
                  </a:lnTo>
                  <a:lnTo>
                    <a:pt x="31335" y="57389"/>
                  </a:lnTo>
                  <a:lnTo>
                    <a:pt x="38491" y="51012"/>
                  </a:lnTo>
                  <a:lnTo>
                    <a:pt x="43297" y="41551"/>
                  </a:lnTo>
                  <a:lnTo>
                    <a:pt x="45053" y="29961"/>
                  </a:lnTo>
                  <a:lnTo>
                    <a:pt x="43297" y="18257"/>
                  </a:lnTo>
                  <a:lnTo>
                    <a:pt x="38491" y="8738"/>
                  </a:lnTo>
                  <a:lnTo>
                    <a:pt x="31335" y="2340"/>
                  </a:lnTo>
                  <a:lnTo>
                    <a:pt x="22526" y="0"/>
                  </a:lnTo>
                  <a:close/>
                </a:path>
              </a:pathLst>
            </a:custGeom>
            <a:ln w="14689">
              <a:solidFill>
                <a:srgbClr val="000000"/>
              </a:solidFill>
            </a:ln>
          </p:spPr>
          <p:txBody>
            <a:bodyPr wrap="square" lIns="0" tIns="0" rIns="0" bIns="0" rtlCol="0"/>
            <a:lstStyle/>
            <a:p/>
          </p:txBody>
        </p:sp>
        <p:sp>
          <p:nvSpPr>
            <p:cNvPr id="57" name="object 57" descr=""/>
            <p:cNvSpPr/>
            <p:nvPr/>
          </p:nvSpPr>
          <p:spPr>
            <a:xfrm>
              <a:off x="6101410" y="3086925"/>
              <a:ext cx="3314700" cy="1071245"/>
            </a:xfrm>
            <a:custGeom>
              <a:avLst/>
              <a:gdLst/>
              <a:ahLst/>
              <a:cxnLst/>
              <a:rect l="l" t="t" r="r" b="b"/>
              <a:pathLst>
                <a:path w="3314700" h="1071245">
                  <a:moveTo>
                    <a:pt x="1584477" y="953770"/>
                  </a:moveTo>
                  <a:lnTo>
                    <a:pt x="1555127" y="983068"/>
                  </a:lnTo>
                  <a:lnTo>
                    <a:pt x="1553387" y="252615"/>
                  </a:lnTo>
                  <a:lnTo>
                    <a:pt x="1533791" y="252615"/>
                  </a:lnTo>
                  <a:lnTo>
                    <a:pt x="1535468" y="953592"/>
                  </a:lnTo>
                  <a:lnTo>
                    <a:pt x="1535531" y="983068"/>
                  </a:lnTo>
                  <a:lnTo>
                    <a:pt x="1535557" y="992873"/>
                  </a:lnTo>
                  <a:lnTo>
                    <a:pt x="1535531" y="983068"/>
                  </a:lnTo>
                  <a:lnTo>
                    <a:pt x="1506181" y="953770"/>
                  </a:lnTo>
                  <a:lnTo>
                    <a:pt x="1545551" y="1071194"/>
                  </a:lnTo>
                  <a:lnTo>
                    <a:pt x="1571510" y="992873"/>
                  </a:lnTo>
                  <a:lnTo>
                    <a:pt x="1584477" y="953770"/>
                  </a:lnTo>
                  <a:close/>
                </a:path>
                <a:path w="3314700" h="1071245">
                  <a:moveTo>
                    <a:pt x="3314408" y="39166"/>
                  </a:moveTo>
                  <a:lnTo>
                    <a:pt x="3285020" y="29375"/>
                  </a:lnTo>
                  <a:lnTo>
                    <a:pt x="3196882" y="0"/>
                  </a:lnTo>
                  <a:lnTo>
                    <a:pt x="3226257" y="29375"/>
                  </a:lnTo>
                  <a:lnTo>
                    <a:pt x="43776" y="29375"/>
                  </a:lnTo>
                  <a:lnTo>
                    <a:pt x="43294" y="26098"/>
                  </a:lnTo>
                  <a:lnTo>
                    <a:pt x="38493" y="16573"/>
                  </a:lnTo>
                  <a:lnTo>
                    <a:pt x="31343" y="10172"/>
                  </a:lnTo>
                  <a:lnTo>
                    <a:pt x="22529" y="7835"/>
                  </a:lnTo>
                  <a:lnTo>
                    <a:pt x="13716" y="10172"/>
                  </a:lnTo>
                  <a:lnTo>
                    <a:pt x="6565" y="16573"/>
                  </a:lnTo>
                  <a:lnTo>
                    <a:pt x="1765" y="26098"/>
                  </a:lnTo>
                  <a:lnTo>
                    <a:pt x="0" y="37795"/>
                  </a:lnTo>
                  <a:lnTo>
                    <a:pt x="1765" y="49390"/>
                  </a:lnTo>
                  <a:lnTo>
                    <a:pt x="6565" y="58851"/>
                  </a:lnTo>
                  <a:lnTo>
                    <a:pt x="13716" y="65227"/>
                  </a:lnTo>
                  <a:lnTo>
                    <a:pt x="22529" y="67564"/>
                  </a:lnTo>
                  <a:lnTo>
                    <a:pt x="31343" y="65227"/>
                  </a:lnTo>
                  <a:lnTo>
                    <a:pt x="38493" y="58851"/>
                  </a:lnTo>
                  <a:lnTo>
                    <a:pt x="43294" y="49390"/>
                  </a:lnTo>
                  <a:lnTo>
                    <a:pt x="43357" y="48958"/>
                  </a:lnTo>
                  <a:lnTo>
                    <a:pt x="3226257" y="48958"/>
                  </a:lnTo>
                  <a:lnTo>
                    <a:pt x="3196882" y="78333"/>
                  </a:lnTo>
                  <a:lnTo>
                    <a:pt x="3285020" y="48958"/>
                  </a:lnTo>
                  <a:lnTo>
                    <a:pt x="3314408" y="39166"/>
                  </a:lnTo>
                  <a:close/>
                </a:path>
              </a:pathLst>
            </a:custGeom>
            <a:solidFill>
              <a:srgbClr val="000000"/>
            </a:solidFill>
          </p:spPr>
          <p:txBody>
            <a:bodyPr wrap="square" lIns="0" tIns="0" rIns="0" bIns="0" rtlCol="0"/>
            <a:lstStyle/>
            <a:p/>
          </p:txBody>
        </p:sp>
        <p:sp>
          <p:nvSpPr>
            <p:cNvPr id="58" name="object 58" descr=""/>
            <p:cNvSpPr/>
            <p:nvPr/>
          </p:nvSpPr>
          <p:spPr>
            <a:xfrm>
              <a:off x="6101419" y="3094756"/>
              <a:ext cx="45085" cy="60325"/>
            </a:xfrm>
            <a:custGeom>
              <a:avLst/>
              <a:gdLst/>
              <a:ahLst/>
              <a:cxnLst/>
              <a:rect l="l" t="t" r="r" b="b"/>
              <a:pathLst>
                <a:path w="45085" h="60325">
                  <a:moveTo>
                    <a:pt x="22526" y="0"/>
                  </a:moveTo>
                  <a:lnTo>
                    <a:pt x="13718" y="2340"/>
                  </a:lnTo>
                  <a:lnTo>
                    <a:pt x="6562" y="8738"/>
                  </a:lnTo>
                  <a:lnTo>
                    <a:pt x="1756" y="18257"/>
                  </a:lnTo>
                  <a:lnTo>
                    <a:pt x="0" y="29961"/>
                  </a:lnTo>
                  <a:lnTo>
                    <a:pt x="1756" y="41551"/>
                  </a:lnTo>
                  <a:lnTo>
                    <a:pt x="6562" y="51012"/>
                  </a:lnTo>
                  <a:lnTo>
                    <a:pt x="13718" y="57389"/>
                  </a:lnTo>
                  <a:lnTo>
                    <a:pt x="22526" y="59726"/>
                  </a:lnTo>
                  <a:lnTo>
                    <a:pt x="31335" y="57389"/>
                  </a:lnTo>
                  <a:lnTo>
                    <a:pt x="38491" y="51012"/>
                  </a:lnTo>
                  <a:lnTo>
                    <a:pt x="43297" y="41551"/>
                  </a:lnTo>
                  <a:lnTo>
                    <a:pt x="45053" y="29961"/>
                  </a:lnTo>
                  <a:lnTo>
                    <a:pt x="43297" y="18257"/>
                  </a:lnTo>
                  <a:lnTo>
                    <a:pt x="38491" y="8738"/>
                  </a:lnTo>
                  <a:lnTo>
                    <a:pt x="31335" y="2340"/>
                  </a:lnTo>
                  <a:lnTo>
                    <a:pt x="22526" y="0"/>
                  </a:lnTo>
                  <a:close/>
                </a:path>
              </a:pathLst>
            </a:custGeom>
            <a:ln w="14689">
              <a:solidFill>
                <a:srgbClr val="000000"/>
              </a:solidFill>
            </a:ln>
          </p:spPr>
          <p:txBody>
            <a:bodyPr wrap="square" lIns="0" tIns="0" rIns="0" bIns="0" rtlCol="0"/>
            <a:lstStyle/>
            <a:p/>
          </p:txBody>
        </p:sp>
      </p:grpSp>
      <p:sp>
        <p:nvSpPr>
          <p:cNvPr id="59" name="object 59" descr=""/>
          <p:cNvSpPr txBox="1"/>
          <p:nvPr/>
        </p:nvSpPr>
        <p:spPr>
          <a:xfrm>
            <a:off x="3451069" y="5279209"/>
            <a:ext cx="1316355" cy="303530"/>
          </a:xfrm>
          <a:prstGeom prst="rect">
            <a:avLst/>
          </a:prstGeom>
          <a:solidFill>
            <a:srgbClr val="FF99CC"/>
          </a:solidFill>
          <a:ln w="14687">
            <a:solidFill>
              <a:srgbClr val="000000"/>
            </a:solidFill>
          </a:ln>
        </p:spPr>
        <p:txBody>
          <a:bodyPr wrap="square" lIns="0" tIns="40005" rIns="0" bIns="0" rtlCol="0" vert="horz">
            <a:spAutoFit/>
          </a:bodyPr>
          <a:lstStyle/>
          <a:p>
            <a:pPr marL="122555">
              <a:lnSpc>
                <a:spcPct val="100000"/>
              </a:lnSpc>
              <a:spcBef>
                <a:spcPts val="315"/>
              </a:spcBef>
            </a:pPr>
            <a:r>
              <a:rPr dirty="0" sz="1350" spc="-30" b="1">
                <a:latin typeface="宋体"/>
                <a:cs typeface="宋体"/>
              </a:rPr>
              <a:t>浮点加法器 </a:t>
            </a:r>
            <a:r>
              <a:rPr dirty="0" sz="1350" spc="-50" b="1">
                <a:latin typeface="Times New Roman"/>
                <a:cs typeface="Times New Roman"/>
              </a:rPr>
              <a:t>A</a:t>
            </a:r>
            <a:endParaRPr sz="1350">
              <a:latin typeface="Times New Roman"/>
              <a:cs typeface="Times New Roman"/>
            </a:endParaRPr>
          </a:p>
        </p:txBody>
      </p:sp>
      <p:sp>
        <p:nvSpPr>
          <p:cNvPr id="60" name="object 60" descr=""/>
          <p:cNvSpPr txBox="1"/>
          <p:nvPr/>
        </p:nvSpPr>
        <p:spPr>
          <a:xfrm>
            <a:off x="5672427" y="2427970"/>
            <a:ext cx="864235" cy="228600"/>
          </a:xfrm>
          <a:prstGeom prst="rect">
            <a:avLst/>
          </a:prstGeom>
          <a:solidFill>
            <a:srgbClr val="FFFF99"/>
          </a:solidFill>
          <a:ln w="14689">
            <a:solidFill>
              <a:srgbClr val="000000"/>
            </a:solidFill>
          </a:ln>
        </p:spPr>
        <p:txBody>
          <a:bodyPr wrap="square" lIns="0" tIns="0" rIns="0" bIns="0" rtlCol="0" vert="horz">
            <a:spAutoFit/>
          </a:bodyPr>
          <a:lstStyle/>
          <a:p>
            <a:pPr marL="141605">
              <a:lnSpc>
                <a:spcPts val="1590"/>
              </a:lnSpc>
            </a:pPr>
            <a:r>
              <a:rPr dirty="0" sz="1350" spc="-50">
                <a:latin typeface="Times New Roman"/>
                <a:cs typeface="Times New Roman"/>
              </a:rPr>
              <a:t>a</a:t>
            </a:r>
            <a:endParaRPr sz="1350">
              <a:latin typeface="Times New Roman"/>
              <a:cs typeface="Times New Roman"/>
            </a:endParaRPr>
          </a:p>
        </p:txBody>
      </p:sp>
      <p:sp>
        <p:nvSpPr>
          <p:cNvPr id="61" name="object 61" descr=""/>
          <p:cNvSpPr txBox="1"/>
          <p:nvPr/>
        </p:nvSpPr>
        <p:spPr>
          <a:xfrm>
            <a:off x="5672427" y="2200812"/>
            <a:ext cx="864235" cy="227329"/>
          </a:xfrm>
          <a:prstGeom prst="rect">
            <a:avLst/>
          </a:prstGeom>
          <a:solidFill>
            <a:srgbClr val="FFFF99"/>
          </a:solidFill>
          <a:ln w="14689">
            <a:solidFill>
              <a:srgbClr val="000000"/>
            </a:solidFill>
          </a:ln>
        </p:spPr>
        <p:txBody>
          <a:bodyPr wrap="square" lIns="0" tIns="0" rIns="0" bIns="0" rtlCol="0" vert="horz">
            <a:spAutoFit/>
          </a:bodyPr>
          <a:lstStyle/>
          <a:p>
            <a:pPr marL="141605">
              <a:lnSpc>
                <a:spcPts val="1525"/>
              </a:lnSpc>
            </a:pPr>
            <a:r>
              <a:rPr dirty="0" sz="1350" spc="-50">
                <a:latin typeface="Times New Roman"/>
                <a:cs typeface="Times New Roman"/>
              </a:rPr>
              <a:t>b</a:t>
            </a:r>
            <a:endParaRPr sz="1350">
              <a:latin typeface="Times New Roman"/>
              <a:cs typeface="Times New Roman"/>
            </a:endParaRPr>
          </a:p>
        </p:txBody>
      </p:sp>
      <p:sp>
        <p:nvSpPr>
          <p:cNvPr id="62" name="object 62" descr=""/>
          <p:cNvSpPr txBox="1"/>
          <p:nvPr/>
        </p:nvSpPr>
        <p:spPr>
          <a:xfrm>
            <a:off x="5672427" y="1972676"/>
            <a:ext cx="864235" cy="228600"/>
          </a:xfrm>
          <a:prstGeom prst="rect">
            <a:avLst/>
          </a:prstGeom>
          <a:solidFill>
            <a:srgbClr val="FFFF99"/>
          </a:solidFill>
          <a:ln w="14689">
            <a:solidFill>
              <a:srgbClr val="000000"/>
            </a:solidFill>
          </a:ln>
        </p:spPr>
        <p:txBody>
          <a:bodyPr wrap="square" lIns="0" tIns="0" rIns="0" bIns="0" rtlCol="0" vert="horz">
            <a:spAutoFit/>
          </a:bodyPr>
          <a:lstStyle/>
          <a:p>
            <a:pPr marL="141605">
              <a:lnSpc>
                <a:spcPts val="1580"/>
              </a:lnSpc>
            </a:pPr>
            <a:r>
              <a:rPr dirty="0" sz="1350" spc="-50">
                <a:latin typeface="Times New Roman"/>
                <a:cs typeface="Times New Roman"/>
              </a:rPr>
              <a:t>c</a:t>
            </a:r>
            <a:endParaRPr sz="1350">
              <a:latin typeface="Times New Roman"/>
              <a:cs typeface="Times New Roman"/>
            </a:endParaRPr>
          </a:p>
        </p:txBody>
      </p:sp>
      <p:sp>
        <p:nvSpPr>
          <p:cNvPr id="63" name="object 63" descr=""/>
          <p:cNvSpPr txBox="1"/>
          <p:nvPr/>
        </p:nvSpPr>
        <p:spPr>
          <a:xfrm>
            <a:off x="7287742" y="2632049"/>
            <a:ext cx="104139" cy="237490"/>
          </a:xfrm>
          <a:prstGeom prst="rect">
            <a:avLst/>
          </a:prstGeom>
        </p:spPr>
        <p:txBody>
          <a:bodyPr wrap="square" lIns="0" tIns="17145" rIns="0" bIns="0" rtlCol="0" vert="horz">
            <a:spAutoFit/>
          </a:bodyPr>
          <a:lstStyle/>
          <a:p>
            <a:pPr marL="12700">
              <a:lnSpc>
                <a:spcPct val="100000"/>
              </a:lnSpc>
              <a:spcBef>
                <a:spcPts val="135"/>
              </a:spcBef>
            </a:pPr>
            <a:r>
              <a:rPr dirty="0" sz="1350" spc="-50">
                <a:latin typeface="Times New Roman"/>
                <a:cs typeface="Times New Roman"/>
              </a:rPr>
              <a:t>e</a:t>
            </a:r>
            <a:endParaRPr sz="1350">
              <a:latin typeface="Times New Roman"/>
              <a:cs typeface="Times New Roman"/>
            </a:endParaRPr>
          </a:p>
        </p:txBody>
      </p:sp>
      <p:sp>
        <p:nvSpPr>
          <p:cNvPr id="64" name="object 64" descr=""/>
          <p:cNvSpPr txBox="1"/>
          <p:nvPr/>
        </p:nvSpPr>
        <p:spPr>
          <a:xfrm>
            <a:off x="7029923" y="2427970"/>
            <a:ext cx="658495" cy="228600"/>
          </a:xfrm>
          <a:prstGeom prst="rect">
            <a:avLst/>
          </a:prstGeom>
          <a:solidFill>
            <a:srgbClr val="FFFF99"/>
          </a:solidFill>
          <a:ln w="14689">
            <a:solidFill>
              <a:srgbClr val="000000"/>
            </a:solidFill>
          </a:ln>
        </p:spPr>
        <p:txBody>
          <a:bodyPr wrap="square" lIns="0" tIns="0" rIns="0" bIns="0" rtlCol="0" vert="horz">
            <a:spAutoFit/>
          </a:bodyPr>
          <a:lstStyle/>
          <a:p>
            <a:pPr marL="91440">
              <a:lnSpc>
                <a:spcPts val="1605"/>
              </a:lnSpc>
            </a:pPr>
            <a:r>
              <a:rPr dirty="0" sz="1350" spc="-20">
                <a:latin typeface="Times New Roman"/>
                <a:cs typeface="Times New Roman"/>
              </a:rPr>
              <a:t>ADD1</a:t>
            </a:r>
            <a:endParaRPr sz="1350">
              <a:latin typeface="Times New Roman"/>
              <a:cs typeface="Times New Roman"/>
            </a:endParaRPr>
          </a:p>
        </p:txBody>
      </p:sp>
      <p:graphicFrame>
        <p:nvGraphicFramePr>
          <p:cNvPr id="65" name="object 65" descr=""/>
          <p:cNvGraphicFramePr>
            <a:graphicFrameLocks noGrp="1"/>
          </p:cNvGraphicFramePr>
          <p:nvPr/>
        </p:nvGraphicFramePr>
        <p:xfrm>
          <a:off x="2826682" y="4029352"/>
          <a:ext cx="2106930" cy="824864"/>
        </p:xfrm>
        <a:graphic>
          <a:graphicData uri="http://schemas.openxmlformats.org/drawingml/2006/table">
            <a:tbl>
              <a:tblPr firstRow="1" bandRow="1">
                <a:tableStyleId>{2D5ABB26-0587-4C30-8999-92F81FD0307C}</a:tableStyleId>
              </a:tblPr>
              <a:tblGrid>
                <a:gridCol w="534670"/>
                <a:gridCol w="740410"/>
                <a:gridCol w="740409"/>
              </a:tblGrid>
              <a:tr h="274955">
                <a:tc>
                  <a:txBody>
                    <a:bodyPr/>
                    <a:lstStyle/>
                    <a:p>
                      <a:pPr>
                        <a:lnSpc>
                          <a:spcPct val="100000"/>
                        </a:lnSpc>
                      </a:pPr>
                      <a:endParaRPr sz="17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7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7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r>
              <a:tr h="274955">
                <a:tc>
                  <a:txBody>
                    <a:bodyPr/>
                    <a:lstStyle/>
                    <a:p>
                      <a:pPr>
                        <a:lnSpc>
                          <a:spcPct val="100000"/>
                        </a:lnSpc>
                      </a:pPr>
                      <a:endParaRPr sz="17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7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7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r>
              <a:tr h="274955">
                <a:tc>
                  <a:txBody>
                    <a:bodyPr/>
                    <a:lstStyle/>
                    <a:p>
                      <a:pPr marL="76200">
                        <a:lnSpc>
                          <a:spcPct val="100000"/>
                        </a:lnSpc>
                        <a:spcBef>
                          <a:spcPts val="290"/>
                        </a:spcBef>
                      </a:pPr>
                      <a:r>
                        <a:rPr dirty="0" sz="1350" spc="-25">
                          <a:latin typeface="Times New Roman"/>
                          <a:cs typeface="Times New Roman"/>
                        </a:rPr>
                        <a:t>ADD</a:t>
                      </a:r>
                      <a:endParaRPr sz="135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gn="ctr" marR="23495">
                        <a:lnSpc>
                          <a:spcPct val="100000"/>
                        </a:lnSpc>
                        <a:spcBef>
                          <a:spcPts val="85"/>
                        </a:spcBef>
                      </a:pPr>
                      <a:r>
                        <a:rPr dirty="0" sz="1350" spc="-50">
                          <a:latin typeface="Times New Roman"/>
                          <a:cs typeface="Times New Roman"/>
                        </a:rPr>
                        <a:t>e</a:t>
                      </a:r>
                      <a:endParaRPr sz="1350">
                        <a:latin typeface="Times New Roman"/>
                        <a:cs typeface="Times New Roman"/>
                      </a:endParaRPr>
                    </a:p>
                  </a:txBody>
                  <a:tcPr marL="0" marR="0" marB="0" marT="1079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gn="ctr" marR="41910">
                        <a:lnSpc>
                          <a:spcPct val="100000"/>
                        </a:lnSpc>
                        <a:spcBef>
                          <a:spcPts val="180"/>
                        </a:spcBef>
                      </a:pPr>
                      <a:r>
                        <a:rPr dirty="0" sz="1350" spc="-50">
                          <a:latin typeface="Times New Roman"/>
                          <a:cs typeface="Times New Roman"/>
                        </a:rPr>
                        <a:t>c</a:t>
                      </a:r>
                      <a:endParaRPr sz="1350">
                        <a:latin typeface="Times New Roman"/>
                        <a:cs typeface="Times New Roman"/>
                      </a:endParaRPr>
                    </a:p>
                  </a:txBody>
                  <a:tcPr marL="0" marR="0" marB="0" marT="228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r>
            </a:tbl>
          </a:graphicData>
        </a:graphic>
      </p:graphicFrame>
      <p:grpSp>
        <p:nvGrpSpPr>
          <p:cNvPr id="66" name="object 66" descr=""/>
          <p:cNvGrpSpPr/>
          <p:nvPr/>
        </p:nvGrpSpPr>
        <p:grpSpPr>
          <a:xfrm>
            <a:off x="5376853" y="2479864"/>
            <a:ext cx="3388995" cy="2292985"/>
            <a:chOff x="5376853" y="2479864"/>
            <a:chExt cx="3388995" cy="2292985"/>
          </a:xfrm>
        </p:grpSpPr>
        <p:sp>
          <p:nvSpPr>
            <p:cNvPr id="67" name="object 67" descr=""/>
            <p:cNvSpPr/>
            <p:nvPr/>
          </p:nvSpPr>
          <p:spPr>
            <a:xfrm>
              <a:off x="5384473" y="2519029"/>
              <a:ext cx="3373754" cy="2246630"/>
            </a:xfrm>
            <a:custGeom>
              <a:avLst/>
              <a:gdLst/>
              <a:ahLst/>
              <a:cxnLst/>
              <a:rect l="l" t="t" r="r" b="b"/>
              <a:pathLst>
                <a:path w="3373754" h="2246629">
                  <a:moveTo>
                    <a:pt x="0" y="2246138"/>
                  </a:moveTo>
                  <a:lnTo>
                    <a:pt x="164544" y="2246138"/>
                  </a:lnTo>
                </a:path>
                <a:path w="3373754" h="2246629">
                  <a:moveTo>
                    <a:pt x="164544" y="2246138"/>
                  </a:moveTo>
                  <a:lnTo>
                    <a:pt x="164544" y="1456941"/>
                  </a:lnTo>
                </a:path>
                <a:path w="3373754" h="2246629">
                  <a:moveTo>
                    <a:pt x="164544" y="1456941"/>
                  </a:moveTo>
                  <a:lnTo>
                    <a:pt x="3373172" y="1456941"/>
                  </a:lnTo>
                </a:path>
                <a:path w="3373754" h="2246629">
                  <a:moveTo>
                    <a:pt x="3373172" y="1456941"/>
                  </a:moveTo>
                  <a:lnTo>
                    <a:pt x="3373172" y="0"/>
                  </a:lnTo>
                </a:path>
              </a:pathLst>
            </a:custGeom>
            <a:ln w="14689">
              <a:solidFill>
                <a:srgbClr val="000000"/>
              </a:solidFill>
              <a:prstDash val="sysDashDot"/>
            </a:ln>
          </p:spPr>
          <p:txBody>
            <a:bodyPr wrap="square" lIns="0" tIns="0" rIns="0" bIns="0" rtlCol="0"/>
            <a:lstStyle/>
            <a:p/>
          </p:txBody>
        </p:sp>
        <p:sp>
          <p:nvSpPr>
            <p:cNvPr id="68" name="object 68" descr=""/>
            <p:cNvSpPr/>
            <p:nvPr/>
          </p:nvSpPr>
          <p:spPr>
            <a:xfrm>
              <a:off x="7688103" y="2479864"/>
              <a:ext cx="1069975" cy="78740"/>
            </a:xfrm>
            <a:custGeom>
              <a:avLst/>
              <a:gdLst/>
              <a:ahLst/>
              <a:cxnLst/>
              <a:rect l="l" t="t" r="r" b="b"/>
              <a:pathLst>
                <a:path w="1069975" h="78739">
                  <a:moveTo>
                    <a:pt x="1069542" y="29373"/>
                  </a:moveTo>
                  <a:lnTo>
                    <a:pt x="991187" y="29373"/>
                  </a:lnTo>
                  <a:lnTo>
                    <a:pt x="991187" y="48956"/>
                  </a:lnTo>
                  <a:lnTo>
                    <a:pt x="1069542" y="48956"/>
                  </a:lnTo>
                  <a:lnTo>
                    <a:pt x="1069542" y="29373"/>
                  </a:lnTo>
                  <a:close/>
                </a:path>
                <a:path w="1069975" h="78739">
                  <a:moveTo>
                    <a:pt x="932421" y="29373"/>
                  </a:moveTo>
                  <a:lnTo>
                    <a:pt x="912832" y="29373"/>
                  </a:lnTo>
                  <a:lnTo>
                    <a:pt x="912832" y="48956"/>
                  </a:lnTo>
                  <a:lnTo>
                    <a:pt x="932421" y="48956"/>
                  </a:lnTo>
                  <a:lnTo>
                    <a:pt x="932421" y="29373"/>
                  </a:lnTo>
                  <a:close/>
                </a:path>
                <a:path w="1069975" h="78739">
                  <a:moveTo>
                    <a:pt x="854066" y="29373"/>
                  </a:moveTo>
                  <a:lnTo>
                    <a:pt x="775712" y="29373"/>
                  </a:lnTo>
                  <a:lnTo>
                    <a:pt x="775712" y="48956"/>
                  </a:lnTo>
                  <a:lnTo>
                    <a:pt x="854066" y="48956"/>
                  </a:lnTo>
                  <a:lnTo>
                    <a:pt x="854066" y="29373"/>
                  </a:lnTo>
                  <a:close/>
                </a:path>
                <a:path w="1069975" h="78739">
                  <a:moveTo>
                    <a:pt x="716945" y="29373"/>
                  </a:moveTo>
                  <a:lnTo>
                    <a:pt x="697357" y="29373"/>
                  </a:lnTo>
                  <a:lnTo>
                    <a:pt x="697357" y="48956"/>
                  </a:lnTo>
                  <a:lnTo>
                    <a:pt x="716945" y="48956"/>
                  </a:lnTo>
                  <a:lnTo>
                    <a:pt x="716945" y="29373"/>
                  </a:lnTo>
                  <a:close/>
                </a:path>
                <a:path w="1069975" h="78739">
                  <a:moveTo>
                    <a:pt x="638591" y="29373"/>
                  </a:moveTo>
                  <a:lnTo>
                    <a:pt x="560236" y="29373"/>
                  </a:lnTo>
                  <a:lnTo>
                    <a:pt x="560236" y="48956"/>
                  </a:lnTo>
                  <a:lnTo>
                    <a:pt x="638591" y="48956"/>
                  </a:lnTo>
                  <a:lnTo>
                    <a:pt x="638591" y="29373"/>
                  </a:lnTo>
                  <a:close/>
                </a:path>
                <a:path w="1069975" h="78739">
                  <a:moveTo>
                    <a:pt x="501470" y="29373"/>
                  </a:moveTo>
                  <a:lnTo>
                    <a:pt x="481881" y="29373"/>
                  </a:lnTo>
                  <a:lnTo>
                    <a:pt x="481881" y="48956"/>
                  </a:lnTo>
                  <a:lnTo>
                    <a:pt x="501470" y="48956"/>
                  </a:lnTo>
                  <a:lnTo>
                    <a:pt x="501470" y="29373"/>
                  </a:lnTo>
                  <a:close/>
                </a:path>
                <a:path w="1069975" h="78739">
                  <a:moveTo>
                    <a:pt x="423115" y="29373"/>
                  </a:moveTo>
                  <a:lnTo>
                    <a:pt x="344760" y="29373"/>
                  </a:lnTo>
                  <a:lnTo>
                    <a:pt x="344760" y="48956"/>
                  </a:lnTo>
                  <a:lnTo>
                    <a:pt x="423115" y="48956"/>
                  </a:lnTo>
                  <a:lnTo>
                    <a:pt x="423115" y="29373"/>
                  </a:lnTo>
                  <a:close/>
                </a:path>
                <a:path w="1069975" h="78739">
                  <a:moveTo>
                    <a:pt x="285994" y="29373"/>
                  </a:moveTo>
                  <a:lnTo>
                    <a:pt x="266406" y="29373"/>
                  </a:lnTo>
                  <a:lnTo>
                    <a:pt x="266406" y="48956"/>
                  </a:lnTo>
                  <a:lnTo>
                    <a:pt x="285994" y="48956"/>
                  </a:lnTo>
                  <a:lnTo>
                    <a:pt x="285994" y="29373"/>
                  </a:lnTo>
                  <a:close/>
                </a:path>
                <a:path w="1069975" h="78739">
                  <a:moveTo>
                    <a:pt x="207640" y="29373"/>
                  </a:moveTo>
                  <a:lnTo>
                    <a:pt x="129285" y="29373"/>
                  </a:lnTo>
                  <a:lnTo>
                    <a:pt x="129285" y="48956"/>
                  </a:lnTo>
                  <a:lnTo>
                    <a:pt x="207640" y="48956"/>
                  </a:lnTo>
                  <a:lnTo>
                    <a:pt x="207640" y="29373"/>
                  </a:lnTo>
                  <a:close/>
                </a:path>
                <a:path w="1069975" h="78739">
                  <a:moveTo>
                    <a:pt x="117532" y="0"/>
                  </a:moveTo>
                  <a:lnTo>
                    <a:pt x="0" y="39165"/>
                  </a:lnTo>
                  <a:lnTo>
                    <a:pt x="117532" y="78330"/>
                  </a:lnTo>
                  <a:lnTo>
                    <a:pt x="78354" y="39165"/>
                  </a:lnTo>
                  <a:lnTo>
                    <a:pt x="117532" y="0"/>
                  </a:lnTo>
                  <a:close/>
                </a:path>
              </a:pathLst>
            </a:custGeom>
            <a:solidFill>
              <a:srgbClr val="000000"/>
            </a:solidFill>
          </p:spPr>
          <p:txBody>
            <a:bodyPr wrap="square" lIns="0" tIns="0" rIns="0" bIns="0" rtlCol="0"/>
            <a:lstStyle/>
            <a:p/>
          </p:txBody>
        </p:sp>
        <p:pic>
          <p:nvPicPr>
            <p:cNvPr id="69" name="object 69" descr=""/>
            <p:cNvPicPr/>
            <p:nvPr/>
          </p:nvPicPr>
          <p:blipFill>
            <a:blip r:embed="rId2" cstate="print"/>
            <a:stretch>
              <a:fillRect/>
            </a:stretch>
          </p:blipFill>
          <p:spPr>
            <a:xfrm>
              <a:off x="6888099" y="2743200"/>
              <a:ext cx="215900" cy="76200"/>
            </a:xfrm>
            <a:prstGeom prst="rect">
              <a:avLst/>
            </a:prstGeom>
          </p:spPr>
        </p:pic>
      </p:grpSp>
      <p:sp>
        <p:nvSpPr>
          <p:cNvPr id="70" name="object 70" descr=""/>
          <p:cNvSpPr txBox="1"/>
          <p:nvPr/>
        </p:nvSpPr>
        <p:spPr>
          <a:xfrm>
            <a:off x="5383148" y="5997041"/>
            <a:ext cx="3732529"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FF0000"/>
                </a:solidFill>
                <a:latin typeface="黑体"/>
                <a:cs typeface="黑体"/>
              </a:rPr>
              <a:t>解决了</a:t>
            </a:r>
            <a:r>
              <a:rPr dirty="0" sz="2400" spc="-30">
                <a:solidFill>
                  <a:srgbClr val="FF0000"/>
                </a:solidFill>
                <a:latin typeface="Tahoma"/>
                <a:cs typeface="Tahoma"/>
              </a:rPr>
              <a:t>RAW</a:t>
            </a:r>
            <a:r>
              <a:rPr dirty="0" sz="2400">
                <a:solidFill>
                  <a:srgbClr val="FF0000"/>
                </a:solidFill>
                <a:latin typeface="黑体"/>
                <a:cs typeface="黑体"/>
              </a:rPr>
              <a:t>冲突</a:t>
            </a:r>
            <a:r>
              <a:rPr dirty="0" sz="2400" spc="-20">
                <a:solidFill>
                  <a:srgbClr val="FF0000"/>
                </a:solidFill>
                <a:latin typeface="黑体"/>
                <a:cs typeface="黑体"/>
              </a:rPr>
              <a:t>（</a:t>
            </a:r>
            <a:r>
              <a:rPr dirty="0" sz="2400" spc="-20">
                <a:solidFill>
                  <a:srgbClr val="FF0000"/>
                </a:solidFill>
                <a:latin typeface="Tahoma"/>
                <a:cs typeface="Tahoma"/>
              </a:rPr>
              <a:t>F0</a:t>
            </a:r>
            <a:r>
              <a:rPr dirty="0" sz="2400">
                <a:solidFill>
                  <a:srgbClr val="FF0000"/>
                </a:solidFill>
                <a:latin typeface="黑体"/>
                <a:cs typeface="黑体"/>
              </a:rPr>
              <a:t>之间</a:t>
            </a:r>
            <a:r>
              <a:rPr dirty="0" sz="2400" spc="-50">
                <a:solidFill>
                  <a:srgbClr val="FF0000"/>
                </a:solidFill>
                <a:latin typeface="黑体"/>
                <a:cs typeface="黑体"/>
              </a:rPr>
              <a:t>）</a:t>
            </a:r>
            <a:endParaRPr sz="2400">
              <a:latin typeface="黑体"/>
              <a:cs typeface="黑体"/>
            </a:endParaRPr>
          </a:p>
        </p:txBody>
      </p:sp>
      <p:sp>
        <p:nvSpPr>
          <p:cNvPr id="71" name="object 71" descr=""/>
          <p:cNvSpPr txBox="1"/>
          <p:nvPr/>
        </p:nvSpPr>
        <p:spPr>
          <a:xfrm>
            <a:off x="7688706" y="5570016"/>
            <a:ext cx="3424554" cy="29972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40458B"/>
                </a:solidFill>
                <a:latin typeface="Tahoma"/>
                <a:cs typeface="Tahoma"/>
              </a:rPr>
              <a:t>MUL1</a:t>
            </a:r>
            <a:r>
              <a:rPr dirty="0" sz="1800">
                <a:solidFill>
                  <a:srgbClr val="40458B"/>
                </a:solidFill>
                <a:latin typeface="黑体"/>
                <a:cs typeface="黑体"/>
              </a:rPr>
              <a:t>的结果</a:t>
            </a:r>
            <a:r>
              <a:rPr dirty="0" sz="1800" spc="-10">
                <a:solidFill>
                  <a:srgbClr val="40458B"/>
                </a:solidFill>
                <a:latin typeface="Tahoma"/>
                <a:cs typeface="Tahoma"/>
              </a:rPr>
              <a:t>e</a:t>
            </a:r>
            <a:r>
              <a:rPr dirty="0" sz="1800">
                <a:solidFill>
                  <a:srgbClr val="40458B"/>
                </a:solidFill>
                <a:latin typeface="黑体"/>
                <a:cs typeface="黑体"/>
              </a:rPr>
              <a:t>产生，送往</a:t>
            </a:r>
            <a:r>
              <a:rPr dirty="0" sz="1800" spc="-10">
                <a:solidFill>
                  <a:srgbClr val="40458B"/>
                </a:solidFill>
                <a:latin typeface="Tahoma"/>
                <a:cs typeface="Tahoma"/>
              </a:rPr>
              <a:t>CDB</a:t>
            </a:r>
            <a:r>
              <a:rPr dirty="0" sz="1800" spc="-25">
                <a:solidFill>
                  <a:srgbClr val="40458B"/>
                </a:solidFill>
                <a:latin typeface="黑体"/>
                <a:cs typeface="黑体"/>
              </a:rPr>
              <a:t>广播</a:t>
            </a:r>
            <a:endParaRPr sz="1800">
              <a:latin typeface="黑体"/>
              <a:cs typeface="黑体"/>
            </a:endParaRPr>
          </a:p>
        </p:txBody>
      </p:sp>
      <p:graphicFrame>
        <p:nvGraphicFramePr>
          <p:cNvPr id="72" name="object 72" descr=""/>
          <p:cNvGraphicFramePr>
            <a:graphicFrameLocks noGrp="1"/>
          </p:cNvGraphicFramePr>
          <p:nvPr/>
        </p:nvGraphicFramePr>
        <p:xfrm>
          <a:off x="5994173" y="4150765"/>
          <a:ext cx="2143760" cy="582295"/>
        </p:xfrm>
        <a:graphic>
          <a:graphicData uri="http://schemas.openxmlformats.org/drawingml/2006/table">
            <a:tbl>
              <a:tblPr firstRow="1" bandRow="1">
                <a:tableStyleId>{2D5ABB26-0587-4C30-8999-92F81FD0307C}</a:tableStyleId>
              </a:tblPr>
              <a:tblGrid>
                <a:gridCol w="572135"/>
                <a:gridCol w="740409"/>
                <a:gridCol w="739775"/>
              </a:tblGrid>
              <a:tr h="292100">
                <a:tc>
                  <a:txBody>
                    <a:bodyPr/>
                    <a:lstStyle/>
                    <a:p>
                      <a:pPr marR="30480">
                        <a:lnSpc>
                          <a:spcPct val="100000"/>
                        </a:lnSpc>
                      </a:pPr>
                      <a:endParaRPr sz="17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7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7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r>
              <a:tr h="290195">
                <a:tc>
                  <a:txBody>
                    <a:bodyPr/>
                    <a:lstStyle/>
                    <a:p>
                      <a:pPr marL="186690">
                        <a:lnSpc>
                          <a:spcPct val="100000"/>
                        </a:lnSpc>
                        <a:spcBef>
                          <a:spcPts val="250"/>
                        </a:spcBef>
                      </a:pPr>
                      <a:r>
                        <a:rPr dirty="0" sz="1200" spc="-20">
                          <a:solidFill>
                            <a:srgbClr val="40458B"/>
                          </a:solidFill>
                          <a:latin typeface="Tahoma"/>
                          <a:cs typeface="Tahoma"/>
                        </a:rPr>
                        <a:t>MUL1</a:t>
                      </a:r>
                      <a:endParaRPr sz="1200">
                        <a:latin typeface="Tahoma"/>
                        <a:cs typeface="Tahoma"/>
                      </a:endParaRPr>
                    </a:p>
                  </a:txBody>
                  <a:tcPr marL="0" marR="0" marB="0" marT="3175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gn="ctr" marL="83820">
                        <a:lnSpc>
                          <a:spcPts val="1380"/>
                        </a:lnSpc>
                      </a:pPr>
                      <a:r>
                        <a:rPr dirty="0" sz="1200" spc="-50">
                          <a:solidFill>
                            <a:srgbClr val="40458B"/>
                          </a:solidFill>
                          <a:latin typeface="Tahoma"/>
                          <a:cs typeface="Tahoma"/>
                        </a:rPr>
                        <a:t>a</a:t>
                      </a:r>
                      <a:endParaRPr sz="1200">
                        <a:latin typeface="Tahoma"/>
                        <a:cs typeface="Tahoma"/>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gn="ctr" marR="50800">
                        <a:lnSpc>
                          <a:spcPct val="100000"/>
                        </a:lnSpc>
                        <a:spcBef>
                          <a:spcPts val="250"/>
                        </a:spcBef>
                      </a:pPr>
                      <a:r>
                        <a:rPr dirty="0" sz="1200" spc="-50">
                          <a:solidFill>
                            <a:srgbClr val="40458B"/>
                          </a:solidFill>
                          <a:latin typeface="Tahoma"/>
                          <a:cs typeface="Tahoma"/>
                        </a:rPr>
                        <a:t>b</a:t>
                      </a:r>
                      <a:endParaRPr sz="1200">
                        <a:latin typeface="Tahoma"/>
                        <a:cs typeface="Tahoma"/>
                      </a:endParaRPr>
                    </a:p>
                  </a:txBody>
                  <a:tcPr marL="0" marR="0" marB="0" marT="3175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r>
            </a:tbl>
          </a:graphicData>
        </a:graphic>
      </p:graphicFrame>
      <p:sp>
        <p:nvSpPr>
          <p:cNvPr id="73" name="object 73" descr=""/>
          <p:cNvSpPr/>
          <p:nvPr/>
        </p:nvSpPr>
        <p:spPr>
          <a:xfrm>
            <a:off x="7702804" y="1283842"/>
            <a:ext cx="2421890" cy="1445260"/>
          </a:xfrm>
          <a:custGeom>
            <a:avLst/>
            <a:gdLst/>
            <a:ahLst/>
            <a:cxnLst/>
            <a:rect l="l" t="t" r="r" b="b"/>
            <a:pathLst>
              <a:path w="2421890" h="1445260">
                <a:moveTo>
                  <a:pt x="2353746" y="34919"/>
                </a:moveTo>
                <a:lnTo>
                  <a:pt x="0" y="1436624"/>
                </a:lnTo>
                <a:lnTo>
                  <a:pt x="4952" y="1444879"/>
                </a:lnTo>
                <a:lnTo>
                  <a:pt x="2358579" y="43043"/>
                </a:lnTo>
                <a:lnTo>
                  <a:pt x="2353746" y="34919"/>
                </a:lnTo>
                <a:close/>
              </a:path>
              <a:path w="2421890" h="1445260">
                <a:moveTo>
                  <a:pt x="2403409" y="28448"/>
                </a:moveTo>
                <a:lnTo>
                  <a:pt x="2364613" y="28448"/>
                </a:lnTo>
                <a:lnTo>
                  <a:pt x="2369439" y="36576"/>
                </a:lnTo>
                <a:lnTo>
                  <a:pt x="2358579" y="43043"/>
                </a:lnTo>
                <a:lnTo>
                  <a:pt x="2375662" y="71755"/>
                </a:lnTo>
                <a:lnTo>
                  <a:pt x="2403409" y="28448"/>
                </a:lnTo>
                <a:close/>
              </a:path>
              <a:path w="2421890" h="1445260">
                <a:moveTo>
                  <a:pt x="2364613" y="28448"/>
                </a:moveTo>
                <a:lnTo>
                  <a:pt x="2353746" y="34919"/>
                </a:lnTo>
                <a:lnTo>
                  <a:pt x="2358579" y="43043"/>
                </a:lnTo>
                <a:lnTo>
                  <a:pt x="2369439" y="36576"/>
                </a:lnTo>
                <a:lnTo>
                  <a:pt x="2364613" y="28448"/>
                </a:lnTo>
                <a:close/>
              </a:path>
              <a:path w="2421890" h="1445260">
                <a:moveTo>
                  <a:pt x="2421636" y="0"/>
                </a:moveTo>
                <a:lnTo>
                  <a:pt x="2336673" y="6223"/>
                </a:lnTo>
                <a:lnTo>
                  <a:pt x="2353746" y="34919"/>
                </a:lnTo>
                <a:lnTo>
                  <a:pt x="2364613" y="28448"/>
                </a:lnTo>
                <a:lnTo>
                  <a:pt x="2403409" y="28448"/>
                </a:lnTo>
                <a:lnTo>
                  <a:pt x="2421636" y="0"/>
                </a:lnTo>
                <a:close/>
              </a:path>
            </a:pathLst>
          </a:custGeom>
          <a:solidFill>
            <a:srgbClr val="FF0000"/>
          </a:solidFill>
        </p:spPr>
        <p:txBody>
          <a:bodyPr wrap="square" lIns="0" tIns="0" rIns="0" bIns="0" rtlCol="0"/>
          <a:lstStyle/>
          <a:p/>
        </p:txBody>
      </p:sp>
      <p:sp>
        <p:nvSpPr>
          <p:cNvPr id="74" name="object 74" descr=""/>
          <p:cNvSpPr txBox="1"/>
          <p:nvPr/>
        </p:nvSpPr>
        <p:spPr>
          <a:xfrm>
            <a:off x="8994775" y="985773"/>
            <a:ext cx="2671445" cy="299720"/>
          </a:xfrm>
          <a:prstGeom prst="rect">
            <a:avLst/>
          </a:prstGeom>
        </p:spPr>
        <p:txBody>
          <a:bodyPr wrap="square" lIns="0" tIns="12700" rIns="0" bIns="0" rtlCol="0" vert="horz">
            <a:spAutoFit/>
          </a:bodyPr>
          <a:lstStyle/>
          <a:p>
            <a:pPr marL="12700">
              <a:lnSpc>
                <a:spcPct val="100000"/>
              </a:lnSpc>
              <a:spcBef>
                <a:spcPts val="100"/>
              </a:spcBef>
            </a:pPr>
            <a:r>
              <a:rPr dirty="0" sz="1800" spc="-40">
                <a:solidFill>
                  <a:srgbClr val="40458B"/>
                </a:solidFill>
                <a:latin typeface="Tahoma"/>
                <a:cs typeface="Tahoma"/>
              </a:rPr>
              <a:t>MULT1</a:t>
            </a:r>
            <a:r>
              <a:rPr dirty="0" sz="1800">
                <a:solidFill>
                  <a:srgbClr val="40458B"/>
                </a:solidFill>
                <a:latin typeface="黑体"/>
                <a:cs typeface="黑体"/>
              </a:rPr>
              <a:t>结果</a:t>
            </a:r>
            <a:r>
              <a:rPr dirty="0" sz="1800" spc="-10">
                <a:solidFill>
                  <a:srgbClr val="40458B"/>
                </a:solidFill>
                <a:latin typeface="Tahoma"/>
                <a:cs typeface="Tahoma"/>
              </a:rPr>
              <a:t>e</a:t>
            </a:r>
            <a:r>
              <a:rPr dirty="0" sz="1800">
                <a:solidFill>
                  <a:srgbClr val="40458B"/>
                </a:solidFill>
                <a:latin typeface="黑体"/>
                <a:cs typeface="黑体"/>
              </a:rPr>
              <a:t>产生，写入</a:t>
            </a:r>
            <a:r>
              <a:rPr dirty="0" sz="1800" spc="-25">
                <a:solidFill>
                  <a:srgbClr val="40458B"/>
                </a:solidFill>
                <a:latin typeface="Tahoma"/>
                <a:cs typeface="Tahoma"/>
              </a:rPr>
              <a:t>F0</a:t>
            </a:r>
            <a:endParaRPr sz="1800">
              <a:latin typeface="Tahoma"/>
              <a:cs typeface="Tahoma"/>
            </a:endParaRPr>
          </a:p>
        </p:txBody>
      </p:sp>
      <p:sp>
        <p:nvSpPr>
          <p:cNvPr id="75" name="object 75" descr=""/>
          <p:cNvSpPr txBox="1"/>
          <p:nvPr/>
        </p:nvSpPr>
        <p:spPr>
          <a:xfrm>
            <a:off x="1745742" y="4978145"/>
            <a:ext cx="1737360" cy="29972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40458B"/>
                </a:solidFill>
                <a:latin typeface="Tahoma"/>
                <a:cs typeface="Tahoma"/>
              </a:rPr>
              <a:t>ADD</a:t>
            </a:r>
            <a:r>
              <a:rPr dirty="0" sz="1800">
                <a:solidFill>
                  <a:srgbClr val="40458B"/>
                </a:solidFill>
                <a:latin typeface="黑体"/>
                <a:cs typeface="黑体"/>
              </a:rPr>
              <a:t>指令得到</a:t>
            </a:r>
            <a:r>
              <a:rPr dirty="0" sz="1800" spc="-10">
                <a:solidFill>
                  <a:srgbClr val="40458B"/>
                </a:solidFill>
                <a:latin typeface="Tahoma"/>
                <a:cs typeface="Tahoma"/>
              </a:rPr>
              <a:t>e</a:t>
            </a:r>
            <a:r>
              <a:rPr dirty="0" sz="1800" spc="-50">
                <a:solidFill>
                  <a:srgbClr val="40458B"/>
                </a:solidFill>
                <a:latin typeface="黑体"/>
                <a:cs typeface="黑体"/>
              </a:rPr>
              <a:t>后</a:t>
            </a:r>
            <a:endParaRPr sz="1800">
              <a:latin typeface="黑体"/>
              <a:cs typeface="黑体"/>
            </a:endParaRPr>
          </a:p>
        </p:txBody>
      </p:sp>
      <p:sp>
        <p:nvSpPr>
          <p:cNvPr id="76" name="object 76" descr=""/>
          <p:cNvSpPr txBox="1"/>
          <p:nvPr/>
        </p:nvSpPr>
        <p:spPr>
          <a:xfrm>
            <a:off x="1745742" y="5252161"/>
            <a:ext cx="1628139" cy="300355"/>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40458B"/>
                </a:solidFill>
                <a:latin typeface="黑体"/>
                <a:cs typeface="黑体"/>
              </a:rPr>
              <a:t>马上就可以执行</a:t>
            </a:r>
            <a:endParaRPr sz="1800">
              <a:latin typeface="黑体"/>
              <a:cs typeface="黑体"/>
            </a:endParaRPr>
          </a:p>
        </p:txBody>
      </p:sp>
      <p:sp>
        <p:nvSpPr>
          <p:cNvPr id="77" name="object 77" descr=""/>
          <p:cNvSpPr/>
          <p:nvPr/>
        </p:nvSpPr>
        <p:spPr>
          <a:xfrm>
            <a:off x="4223766" y="3733038"/>
            <a:ext cx="5330825" cy="1884045"/>
          </a:xfrm>
          <a:custGeom>
            <a:avLst/>
            <a:gdLst/>
            <a:ahLst/>
            <a:cxnLst/>
            <a:rect l="l" t="t" r="r" b="b"/>
            <a:pathLst>
              <a:path w="5330825" h="1884045">
                <a:moveTo>
                  <a:pt x="5118227" y="34925"/>
                </a:moveTo>
                <a:lnTo>
                  <a:pt x="76200" y="34925"/>
                </a:lnTo>
                <a:lnTo>
                  <a:pt x="76200" y="1651"/>
                </a:lnTo>
                <a:lnTo>
                  <a:pt x="0" y="39751"/>
                </a:lnTo>
                <a:lnTo>
                  <a:pt x="76200" y="77851"/>
                </a:lnTo>
                <a:lnTo>
                  <a:pt x="76200" y="44450"/>
                </a:lnTo>
                <a:lnTo>
                  <a:pt x="5118227" y="44450"/>
                </a:lnTo>
                <a:lnTo>
                  <a:pt x="5118227" y="34925"/>
                </a:lnTo>
                <a:close/>
              </a:path>
              <a:path w="5330825" h="1884045">
                <a:moveTo>
                  <a:pt x="5330698" y="76200"/>
                </a:moveTo>
                <a:lnTo>
                  <a:pt x="5324348" y="63500"/>
                </a:lnTo>
                <a:lnTo>
                  <a:pt x="5292598" y="0"/>
                </a:lnTo>
                <a:lnTo>
                  <a:pt x="5254498" y="76200"/>
                </a:lnTo>
                <a:lnTo>
                  <a:pt x="5287772" y="76200"/>
                </a:lnTo>
                <a:lnTo>
                  <a:pt x="5287772" y="1883537"/>
                </a:lnTo>
                <a:lnTo>
                  <a:pt x="5297297" y="1883537"/>
                </a:lnTo>
                <a:lnTo>
                  <a:pt x="5297297" y="76200"/>
                </a:lnTo>
                <a:lnTo>
                  <a:pt x="5330698" y="76200"/>
                </a:lnTo>
                <a:close/>
              </a:path>
            </a:pathLst>
          </a:custGeom>
          <a:solidFill>
            <a:srgbClr val="FF0000"/>
          </a:solidFill>
        </p:spPr>
        <p:txBody>
          <a:bodyPr wrap="square" lIns="0" tIns="0" rIns="0" bIns="0" rtlCol="0"/>
          <a:lstStyle/>
          <a:p/>
        </p:txBody>
      </p:sp>
      <p:sp>
        <p:nvSpPr>
          <p:cNvPr id="78" name="object 78" descr=""/>
          <p:cNvSpPr/>
          <p:nvPr/>
        </p:nvSpPr>
        <p:spPr>
          <a:xfrm>
            <a:off x="4185665" y="3772789"/>
            <a:ext cx="76200" cy="509270"/>
          </a:xfrm>
          <a:custGeom>
            <a:avLst/>
            <a:gdLst/>
            <a:ahLst/>
            <a:cxnLst/>
            <a:rect l="l" t="t" r="r" b="b"/>
            <a:pathLst>
              <a:path w="76200" h="509270">
                <a:moveTo>
                  <a:pt x="33274" y="432816"/>
                </a:moveTo>
                <a:lnTo>
                  <a:pt x="0" y="432816"/>
                </a:lnTo>
                <a:lnTo>
                  <a:pt x="38100" y="509016"/>
                </a:lnTo>
                <a:lnTo>
                  <a:pt x="69850" y="445516"/>
                </a:lnTo>
                <a:lnTo>
                  <a:pt x="33274" y="445516"/>
                </a:lnTo>
                <a:lnTo>
                  <a:pt x="33274" y="432816"/>
                </a:lnTo>
                <a:close/>
              </a:path>
              <a:path w="76200" h="509270">
                <a:moveTo>
                  <a:pt x="42799" y="0"/>
                </a:moveTo>
                <a:lnTo>
                  <a:pt x="33274" y="0"/>
                </a:lnTo>
                <a:lnTo>
                  <a:pt x="33274" y="445516"/>
                </a:lnTo>
                <a:lnTo>
                  <a:pt x="42799" y="445516"/>
                </a:lnTo>
                <a:lnTo>
                  <a:pt x="42799" y="0"/>
                </a:lnTo>
                <a:close/>
              </a:path>
              <a:path w="76200" h="509270">
                <a:moveTo>
                  <a:pt x="76200" y="432816"/>
                </a:moveTo>
                <a:lnTo>
                  <a:pt x="42799" y="432816"/>
                </a:lnTo>
                <a:lnTo>
                  <a:pt x="42799" y="445516"/>
                </a:lnTo>
                <a:lnTo>
                  <a:pt x="69850" y="445516"/>
                </a:lnTo>
                <a:lnTo>
                  <a:pt x="76200" y="432816"/>
                </a:lnTo>
                <a:close/>
              </a:path>
            </a:pathLst>
          </a:custGeom>
          <a:solidFill>
            <a:srgbClr val="FF0000"/>
          </a:solidFill>
        </p:spPr>
        <p:txBody>
          <a:bodyPr wrap="square" lIns="0" tIns="0" rIns="0" bIns="0" rtlCol="0"/>
          <a:lstStyle/>
          <a:p/>
        </p:txBody>
      </p:sp>
      <p:sp>
        <p:nvSpPr>
          <p:cNvPr id="79" name="object 79" descr=""/>
          <p:cNvSpPr txBox="1"/>
          <p:nvPr/>
        </p:nvSpPr>
        <p:spPr>
          <a:xfrm>
            <a:off x="528015" y="2915158"/>
            <a:ext cx="1767839" cy="574040"/>
          </a:xfrm>
          <a:prstGeom prst="rect">
            <a:avLst/>
          </a:prstGeom>
        </p:spPr>
        <p:txBody>
          <a:bodyPr wrap="square" lIns="0" tIns="12700" rIns="0" bIns="0" rtlCol="0" vert="horz">
            <a:spAutoFit/>
          </a:bodyPr>
          <a:lstStyle/>
          <a:p>
            <a:pPr marL="12700">
              <a:lnSpc>
                <a:spcPct val="100000"/>
              </a:lnSpc>
              <a:spcBef>
                <a:spcPts val="100"/>
              </a:spcBef>
            </a:pPr>
            <a:r>
              <a:rPr dirty="0" sz="1800" spc="-10">
                <a:solidFill>
                  <a:srgbClr val="40458B"/>
                </a:solidFill>
                <a:latin typeface="Tahoma"/>
                <a:cs typeface="Tahoma"/>
              </a:rPr>
              <a:t>1</a:t>
            </a:r>
            <a:r>
              <a:rPr dirty="0" sz="1800">
                <a:solidFill>
                  <a:srgbClr val="40458B"/>
                </a:solidFill>
                <a:latin typeface="黑体"/>
                <a:cs typeface="黑体"/>
              </a:rPr>
              <a:t>、</a:t>
            </a:r>
            <a:r>
              <a:rPr dirty="0" sz="1800">
                <a:solidFill>
                  <a:srgbClr val="40458B"/>
                </a:solidFill>
                <a:latin typeface="Tahoma"/>
                <a:cs typeface="Tahoma"/>
              </a:rPr>
              <a:t>MUL</a:t>
            </a:r>
            <a:r>
              <a:rPr dirty="0" sz="1800" spc="5">
                <a:solidFill>
                  <a:srgbClr val="40458B"/>
                </a:solidFill>
                <a:latin typeface="Tahoma"/>
                <a:cs typeface="Tahoma"/>
              </a:rPr>
              <a:t> </a:t>
            </a:r>
            <a:r>
              <a:rPr dirty="0" sz="1800" spc="-10">
                <a:solidFill>
                  <a:srgbClr val="FF0000"/>
                </a:solidFill>
                <a:latin typeface="Tahoma"/>
                <a:cs typeface="Tahoma"/>
              </a:rPr>
              <a:t>F0</a:t>
            </a:r>
            <a:r>
              <a:rPr dirty="0" sz="1800" spc="-10">
                <a:solidFill>
                  <a:srgbClr val="40458B"/>
                </a:solidFill>
                <a:latin typeface="Tahoma"/>
                <a:cs typeface="Tahoma"/>
              </a:rPr>
              <a:t>,F2,F4</a:t>
            </a:r>
            <a:endParaRPr sz="1800">
              <a:latin typeface="Tahoma"/>
              <a:cs typeface="Tahoma"/>
            </a:endParaRPr>
          </a:p>
          <a:p>
            <a:pPr marL="12700">
              <a:lnSpc>
                <a:spcPct val="100000"/>
              </a:lnSpc>
            </a:pPr>
            <a:r>
              <a:rPr dirty="0" sz="1800" spc="-10">
                <a:solidFill>
                  <a:srgbClr val="40458B"/>
                </a:solidFill>
                <a:latin typeface="Tahoma"/>
                <a:cs typeface="Tahoma"/>
              </a:rPr>
              <a:t>2</a:t>
            </a:r>
            <a:r>
              <a:rPr dirty="0" sz="1800">
                <a:solidFill>
                  <a:srgbClr val="40458B"/>
                </a:solidFill>
                <a:latin typeface="黑体"/>
                <a:cs typeface="黑体"/>
              </a:rPr>
              <a:t>、</a:t>
            </a:r>
            <a:r>
              <a:rPr dirty="0" sz="1800">
                <a:solidFill>
                  <a:srgbClr val="40458B"/>
                </a:solidFill>
                <a:latin typeface="Tahoma"/>
                <a:cs typeface="Tahoma"/>
              </a:rPr>
              <a:t>ADD</a:t>
            </a:r>
            <a:r>
              <a:rPr dirty="0" sz="1800" spc="-45">
                <a:solidFill>
                  <a:srgbClr val="40458B"/>
                </a:solidFill>
                <a:latin typeface="Tahoma"/>
                <a:cs typeface="Tahoma"/>
              </a:rPr>
              <a:t> </a:t>
            </a:r>
            <a:r>
              <a:rPr dirty="0" sz="1800" spc="-10">
                <a:solidFill>
                  <a:srgbClr val="40458B"/>
                </a:solidFill>
                <a:latin typeface="Tahoma"/>
                <a:cs typeface="Tahoma"/>
              </a:rPr>
              <a:t>F2,</a:t>
            </a:r>
            <a:r>
              <a:rPr dirty="0" sz="1800" spc="-10">
                <a:solidFill>
                  <a:srgbClr val="FF0000"/>
                </a:solidFill>
                <a:latin typeface="Tahoma"/>
                <a:cs typeface="Tahoma"/>
              </a:rPr>
              <a:t>F0</a:t>
            </a:r>
            <a:r>
              <a:rPr dirty="0" sz="1800" spc="-10">
                <a:solidFill>
                  <a:srgbClr val="40458B"/>
                </a:solidFill>
                <a:latin typeface="Tahoma"/>
                <a:cs typeface="Tahoma"/>
              </a:rPr>
              <a:t>,F6</a:t>
            </a:r>
            <a:endParaRPr sz="1800">
              <a:latin typeface="Tahoma"/>
              <a:cs typeface="Tahom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75/175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74777" y="893775"/>
            <a:ext cx="2394585" cy="391795"/>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001F5F"/>
                </a:solidFill>
                <a:latin typeface="Tahoma"/>
                <a:cs typeface="Tahoma"/>
              </a:rPr>
              <a:t>WAW</a:t>
            </a:r>
            <a:r>
              <a:rPr dirty="0" sz="2400" spc="-30" b="1">
                <a:solidFill>
                  <a:srgbClr val="001F5F"/>
                </a:solidFill>
                <a:latin typeface="黑体"/>
                <a:cs typeface="黑体"/>
              </a:rPr>
              <a:t>冲突的解决</a:t>
            </a:r>
            <a:endParaRPr sz="2400">
              <a:latin typeface="黑体"/>
              <a:cs typeface="黑体"/>
            </a:endParaRPr>
          </a:p>
        </p:txBody>
      </p:sp>
      <p:sp>
        <p:nvSpPr>
          <p:cNvPr id="11" name="object 11" descr=""/>
          <p:cNvSpPr txBox="1"/>
          <p:nvPr/>
        </p:nvSpPr>
        <p:spPr>
          <a:xfrm>
            <a:off x="-13614" y="1369821"/>
            <a:ext cx="4029710" cy="391160"/>
          </a:xfrm>
          <a:prstGeom prst="rect">
            <a:avLst/>
          </a:prstGeom>
        </p:spPr>
        <p:txBody>
          <a:bodyPr wrap="square" lIns="0" tIns="12700" rIns="0" bIns="0" rtlCol="0" vert="horz">
            <a:spAutoFit/>
          </a:bodyPr>
          <a:lstStyle/>
          <a:p>
            <a:pPr marL="354965" indent="-342265">
              <a:lnSpc>
                <a:spcPct val="100000"/>
              </a:lnSpc>
              <a:spcBef>
                <a:spcPts val="100"/>
              </a:spcBef>
              <a:buClr>
                <a:srgbClr val="40458B"/>
              </a:buClr>
              <a:buFont typeface="Wingdings"/>
              <a:buChar char=""/>
              <a:tabLst>
                <a:tab pos="354965" algn="l"/>
              </a:tabLst>
            </a:pPr>
            <a:r>
              <a:rPr dirty="0" sz="2400">
                <a:solidFill>
                  <a:srgbClr val="001F5F"/>
                </a:solidFill>
                <a:latin typeface="黑体"/>
                <a:cs typeface="黑体"/>
              </a:rPr>
              <a:t>本质：乱序执行，按序写</a:t>
            </a:r>
            <a:r>
              <a:rPr dirty="0" sz="2400" spc="-50">
                <a:solidFill>
                  <a:srgbClr val="001F5F"/>
                </a:solidFill>
                <a:latin typeface="黑体"/>
                <a:cs typeface="黑体"/>
              </a:rPr>
              <a:t></a:t>
            </a:r>
            <a:endParaRPr sz="2400">
              <a:latin typeface="黑体"/>
              <a:cs typeface="黑体"/>
            </a:endParaRPr>
          </a:p>
        </p:txBody>
      </p:sp>
      <p:pic>
        <p:nvPicPr>
          <p:cNvPr id="12" name="object 12" descr=""/>
          <p:cNvPicPr/>
          <p:nvPr/>
        </p:nvPicPr>
        <p:blipFill>
          <a:blip r:embed="rId2" cstate="print"/>
          <a:stretch>
            <a:fillRect/>
          </a:stretch>
        </p:blipFill>
        <p:spPr>
          <a:xfrm>
            <a:off x="3729888" y="1455547"/>
            <a:ext cx="238125" cy="250825"/>
          </a:xfrm>
          <a:prstGeom prst="rect">
            <a:avLst/>
          </a:prstGeom>
        </p:spPr>
      </p:pic>
      <p:sp>
        <p:nvSpPr>
          <p:cNvPr id="13" name="object 13" descr=""/>
          <p:cNvSpPr txBox="1"/>
          <p:nvPr/>
        </p:nvSpPr>
        <p:spPr>
          <a:xfrm>
            <a:off x="-13614" y="1845309"/>
            <a:ext cx="4335145" cy="391160"/>
          </a:xfrm>
          <a:prstGeom prst="rect">
            <a:avLst/>
          </a:prstGeom>
        </p:spPr>
        <p:txBody>
          <a:bodyPr wrap="square" lIns="0" tIns="12700" rIns="0" bIns="0" rtlCol="0" vert="horz">
            <a:spAutoFit/>
          </a:bodyPr>
          <a:lstStyle/>
          <a:p>
            <a:pPr marL="354965" indent="-342265">
              <a:lnSpc>
                <a:spcPct val="100000"/>
              </a:lnSpc>
              <a:spcBef>
                <a:spcPts val="100"/>
              </a:spcBef>
              <a:buClr>
                <a:srgbClr val="40458B"/>
              </a:buClr>
              <a:buFont typeface="Wingdings"/>
              <a:buChar char=""/>
              <a:tabLst>
                <a:tab pos="354965" algn="l"/>
              </a:tabLst>
            </a:pPr>
            <a:r>
              <a:rPr dirty="0" sz="2400" spc="-5">
                <a:solidFill>
                  <a:srgbClr val="001F5F"/>
                </a:solidFill>
                <a:latin typeface="黑体"/>
                <a:cs typeface="黑体"/>
              </a:rPr>
              <a:t>假设整个过程不存在结构冲突</a:t>
            </a:r>
            <a:endParaRPr sz="2400">
              <a:latin typeface="黑体"/>
              <a:cs typeface="黑体"/>
            </a:endParaRPr>
          </a:p>
        </p:txBody>
      </p:sp>
      <p:sp>
        <p:nvSpPr>
          <p:cNvPr id="14" name="object 14" descr=""/>
          <p:cNvSpPr txBox="1"/>
          <p:nvPr/>
        </p:nvSpPr>
        <p:spPr>
          <a:xfrm>
            <a:off x="-13614" y="2210335"/>
            <a:ext cx="9466580" cy="977900"/>
          </a:xfrm>
          <a:prstGeom prst="rect">
            <a:avLst/>
          </a:prstGeom>
        </p:spPr>
        <p:txBody>
          <a:bodyPr wrap="square" lIns="0" tIns="123190" rIns="0" bIns="0" rtlCol="0" vert="horz">
            <a:spAutoFit/>
          </a:bodyPr>
          <a:lstStyle/>
          <a:p>
            <a:pPr marL="354965" indent="-342265">
              <a:lnSpc>
                <a:spcPct val="100000"/>
              </a:lnSpc>
              <a:spcBef>
                <a:spcPts val="970"/>
              </a:spcBef>
              <a:buClr>
                <a:srgbClr val="40458B"/>
              </a:buClr>
              <a:buFont typeface="Wingdings"/>
              <a:buChar char=""/>
              <a:tabLst>
                <a:tab pos="354965" algn="l"/>
              </a:tabLst>
            </a:pPr>
            <a:r>
              <a:rPr dirty="0" sz="2400" spc="-25">
                <a:solidFill>
                  <a:srgbClr val="001F5F"/>
                </a:solidFill>
                <a:latin typeface="黑体"/>
                <a:cs typeface="黑体"/>
              </a:rPr>
              <a:t>过程</a:t>
            </a:r>
            <a:endParaRPr sz="2400">
              <a:latin typeface="黑体"/>
              <a:cs typeface="黑体"/>
            </a:endParaRPr>
          </a:p>
          <a:p>
            <a:pPr marL="12700">
              <a:lnSpc>
                <a:spcPct val="100000"/>
              </a:lnSpc>
              <a:spcBef>
                <a:spcPts val="865"/>
              </a:spcBef>
            </a:pPr>
            <a:r>
              <a:rPr dirty="0" sz="2400">
                <a:solidFill>
                  <a:srgbClr val="001F5F"/>
                </a:solidFill>
                <a:latin typeface="黑体"/>
                <a:cs typeface="黑体"/>
              </a:rPr>
              <a:t>1</a:t>
            </a:r>
            <a:r>
              <a:rPr dirty="0" sz="2400" spc="-114">
                <a:solidFill>
                  <a:srgbClr val="001F5F"/>
                </a:solidFill>
                <a:latin typeface="黑体"/>
                <a:cs typeface="黑体"/>
              </a:rPr>
              <a:t>、指令 </a:t>
            </a:r>
            <a:r>
              <a:rPr dirty="0" sz="2400">
                <a:solidFill>
                  <a:srgbClr val="001F5F"/>
                </a:solidFill>
                <a:latin typeface="Tahoma"/>
                <a:cs typeface="Tahoma"/>
              </a:rPr>
              <a:t>SUB.D</a:t>
            </a:r>
            <a:r>
              <a:rPr dirty="0" sz="2400" spc="-40">
                <a:solidFill>
                  <a:srgbClr val="001F5F"/>
                </a:solidFill>
                <a:latin typeface="Tahoma"/>
                <a:cs typeface="Tahoma"/>
              </a:rPr>
              <a:t> </a:t>
            </a:r>
            <a:r>
              <a:rPr dirty="0" sz="2400">
                <a:solidFill>
                  <a:srgbClr val="001F5F"/>
                </a:solidFill>
                <a:latin typeface="Tahoma"/>
                <a:cs typeface="Tahoma"/>
              </a:rPr>
              <a:t>F4</a:t>
            </a:r>
            <a:r>
              <a:rPr dirty="0" sz="2400" spc="-5">
                <a:solidFill>
                  <a:srgbClr val="001F5F"/>
                </a:solidFill>
                <a:latin typeface="Tahoma"/>
                <a:cs typeface="Tahoma"/>
              </a:rPr>
              <a:t>, </a:t>
            </a:r>
            <a:r>
              <a:rPr dirty="0" sz="2400">
                <a:solidFill>
                  <a:srgbClr val="001F5F"/>
                </a:solidFill>
                <a:latin typeface="Tahoma"/>
                <a:cs typeface="Tahoma"/>
              </a:rPr>
              <a:t>F2</a:t>
            </a:r>
            <a:r>
              <a:rPr dirty="0" sz="2400" spc="-10">
                <a:solidFill>
                  <a:srgbClr val="001F5F"/>
                </a:solidFill>
                <a:latin typeface="Tahoma"/>
                <a:cs typeface="Tahoma"/>
              </a:rPr>
              <a:t>, </a:t>
            </a:r>
            <a:r>
              <a:rPr dirty="0" sz="2400">
                <a:solidFill>
                  <a:srgbClr val="001F5F"/>
                </a:solidFill>
                <a:latin typeface="Tahoma"/>
                <a:cs typeface="Tahoma"/>
              </a:rPr>
              <a:t>F6</a:t>
            </a:r>
            <a:r>
              <a:rPr dirty="0" sz="2400" spc="-20">
                <a:solidFill>
                  <a:srgbClr val="001F5F"/>
                </a:solidFill>
                <a:latin typeface="Tahoma"/>
                <a:cs typeface="Tahoma"/>
              </a:rPr>
              <a:t> </a:t>
            </a:r>
            <a:r>
              <a:rPr dirty="0" sz="2400">
                <a:solidFill>
                  <a:srgbClr val="001F5F"/>
                </a:solidFill>
                <a:latin typeface="黑体"/>
                <a:cs typeface="黑体"/>
              </a:rPr>
              <a:t>进入保留站，要写入</a:t>
            </a:r>
            <a:r>
              <a:rPr dirty="0" sz="2400" spc="-20">
                <a:solidFill>
                  <a:srgbClr val="001F5F"/>
                </a:solidFill>
                <a:latin typeface="Tahoma"/>
                <a:cs typeface="Tahoma"/>
              </a:rPr>
              <a:t>F4</a:t>
            </a:r>
            <a:r>
              <a:rPr dirty="0" sz="2400" spc="-10">
                <a:solidFill>
                  <a:srgbClr val="001F5F"/>
                </a:solidFill>
                <a:latin typeface="黑体"/>
                <a:cs typeface="黑体"/>
              </a:rPr>
              <a:t>，更改寄存组中</a:t>
            </a:r>
            <a:r>
              <a:rPr dirty="0" sz="2400" spc="-25">
                <a:solidFill>
                  <a:srgbClr val="001F5F"/>
                </a:solidFill>
                <a:latin typeface="Tahoma"/>
                <a:cs typeface="Tahoma"/>
              </a:rPr>
              <a:t>Q4</a:t>
            </a:r>
            <a:r>
              <a:rPr dirty="0" sz="2400" spc="-50">
                <a:solidFill>
                  <a:srgbClr val="001F5F"/>
                </a:solidFill>
                <a:latin typeface="黑体"/>
                <a:cs typeface="黑体"/>
              </a:rPr>
              <a:t>状</a:t>
            </a:r>
            <a:endParaRPr sz="2400">
              <a:latin typeface="黑体"/>
              <a:cs typeface="黑体"/>
            </a:endParaRPr>
          </a:p>
        </p:txBody>
      </p:sp>
      <p:sp>
        <p:nvSpPr>
          <p:cNvPr id="15" name="object 15" descr=""/>
          <p:cNvSpPr txBox="1"/>
          <p:nvPr/>
        </p:nvSpPr>
        <p:spPr>
          <a:xfrm>
            <a:off x="-13614" y="3199003"/>
            <a:ext cx="694245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1F5F"/>
                </a:solidFill>
                <a:latin typeface="黑体"/>
                <a:cs typeface="黑体"/>
              </a:rPr>
              <a:t>态为</a:t>
            </a:r>
            <a:r>
              <a:rPr dirty="0" sz="2400" spc="-20">
                <a:solidFill>
                  <a:srgbClr val="001F5F"/>
                </a:solidFill>
                <a:latin typeface="Tahoma"/>
                <a:cs typeface="Tahoma"/>
              </a:rPr>
              <a:t>SUB1</a:t>
            </a:r>
            <a:r>
              <a:rPr dirty="0" sz="2400" spc="-20">
                <a:solidFill>
                  <a:srgbClr val="001F5F"/>
                </a:solidFill>
                <a:latin typeface="黑体"/>
                <a:cs typeface="黑体"/>
              </a:rPr>
              <a:t>（</a:t>
            </a:r>
            <a:r>
              <a:rPr dirty="0" sz="2400">
                <a:solidFill>
                  <a:srgbClr val="001F5F"/>
                </a:solidFill>
                <a:latin typeface="黑体"/>
                <a:cs typeface="黑体"/>
              </a:rPr>
              <a:t>假设保留站编号为</a:t>
            </a:r>
            <a:r>
              <a:rPr dirty="0" sz="2400" spc="-20">
                <a:solidFill>
                  <a:srgbClr val="001F5F"/>
                </a:solidFill>
                <a:latin typeface="Tahoma"/>
                <a:cs typeface="Tahoma"/>
              </a:rPr>
              <a:t>SUB1</a:t>
            </a:r>
            <a:r>
              <a:rPr dirty="0" sz="2400" spc="-20">
                <a:solidFill>
                  <a:srgbClr val="001F5F"/>
                </a:solidFill>
                <a:latin typeface="黑体"/>
                <a:cs typeface="黑体"/>
              </a:rPr>
              <a:t>）</a:t>
            </a:r>
            <a:r>
              <a:rPr dirty="0" sz="2400" spc="-10">
                <a:solidFill>
                  <a:srgbClr val="001F5F"/>
                </a:solidFill>
                <a:latin typeface="黑体"/>
                <a:cs typeface="黑体"/>
              </a:rPr>
              <a:t>其他细节略。</a:t>
            </a:r>
            <a:endParaRPr sz="2400">
              <a:latin typeface="黑体"/>
              <a:cs typeface="黑体"/>
            </a:endParaRPr>
          </a:p>
        </p:txBody>
      </p:sp>
      <p:sp>
        <p:nvSpPr>
          <p:cNvPr id="16" name="object 16" descr=""/>
          <p:cNvSpPr txBox="1"/>
          <p:nvPr/>
        </p:nvSpPr>
        <p:spPr>
          <a:xfrm>
            <a:off x="5383148" y="769954"/>
            <a:ext cx="2520950" cy="1672589"/>
          </a:xfrm>
          <a:prstGeom prst="rect">
            <a:avLst/>
          </a:prstGeom>
        </p:spPr>
        <p:txBody>
          <a:bodyPr wrap="square" lIns="0" tIns="13335" rIns="0" bIns="0" rtlCol="0" vert="horz">
            <a:spAutoFit/>
          </a:bodyPr>
          <a:lstStyle/>
          <a:p>
            <a:pPr marL="12700" marR="5080">
              <a:lnSpc>
                <a:spcPct val="150000"/>
              </a:lnSpc>
              <a:spcBef>
                <a:spcPts val="105"/>
              </a:spcBef>
            </a:pPr>
            <a:r>
              <a:rPr dirty="0" sz="2400">
                <a:solidFill>
                  <a:srgbClr val="40458B"/>
                </a:solidFill>
                <a:latin typeface="Tahoma"/>
                <a:cs typeface="Tahoma"/>
              </a:rPr>
              <a:t>SUB.D</a:t>
            </a:r>
            <a:r>
              <a:rPr dirty="0" sz="2400" spc="-30">
                <a:solidFill>
                  <a:srgbClr val="40458B"/>
                </a:solidFill>
                <a:latin typeface="Tahoma"/>
                <a:cs typeface="Tahoma"/>
              </a:rPr>
              <a:t> </a:t>
            </a:r>
            <a:r>
              <a:rPr dirty="0" sz="2400">
                <a:solidFill>
                  <a:srgbClr val="40458B"/>
                </a:solidFill>
                <a:latin typeface="Tahoma"/>
                <a:cs typeface="Tahoma"/>
              </a:rPr>
              <a:t>F4,</a:t>
            </a:r>
            <a:r>
              <a:rPr dirty="0" sz="2400" spc="-30">
                <a:solidFill>
                  <a:srgbClr val="40458B"/>
                </a:solidFill>
                <a:latin typeface="Tahoma"/>
                <a:cs typeface="Tahoma"/>
              </a:rPr>
              <a:t> </a:t>
            </a:r>
            <a:r>
              <a:rPr dirty="0" sz="2400">
                <a:solidFill>
                  <a:srgbClr val="40458B"/>
                </a:solidFill>
                <a:latin typeface="Tahoma"/>
                <a:cs typeface="Tahoma"/>
              </a:rPr>
              <a:t>F2,</a:t>
            </a:r>
            <a:r>
              <a:rPr dirty="0" sz="2400" spc="-25">
                <a:solidFill>
                  <a:srgbClr val="40458B"/>
                </a:solidFill>
                <a:latin typeface="Tahoma"/>
                <a:cs typeface="Tahoma"/>
              </a:rPr>
              <a:t> F6 </a:t>
            </a:r>
            <a:r>
              <a:rPr dirty="0" sz="2400">
                <a:solidFill>
                  <a:srgbClr val="40458B"/>
                </a:solidFill>
                <a:latin typeface="Tahoma"/>
                <a:cs typeface="Tahoma"/>
              </a:rPr>
              <a:t>MUL.D</a:t>
            </a:r>
            <a:r>
              <a:rPr dirty="0" sz="2400" spc="-45">
                <a:solidFill>
                  <a:srgbClr val="40458B"/>
                </a:solidFill>
                <a:latin typeface="Tahoma"/>
                <a:cs typeface="Tahoma"/>
              </a:rPr>
              <a:t> </a:t>
            </a:r>
            <a:r>
              <a:rPr dirty="0" sz="2400">
                <a:solidFill>
                  <a:srgbClr val="40458B"/>
                </a:solidFill>
                <a:latin typeface="Tahoma"/>
                <a:cs typeface="Tahoma"/>
              </a:rPr>
              <a:t>F4,</a:t>
            </a:r>
            <a:r>
              <a:rPr dirty="0" sz="2400" spc="-50">
                <a:solidFill>
                  <a:srgbClr val="40458B"/>
                </a:solidFill>
                <a:latin typeface="Tahoma"/>
                <a:cs typeface="Tahoma"/>
              </a:rPr>
              <a:t> </a:t>
            </a:r>
            <a:r>
              <a:rPr dirty="0" sz="2400">
                <a:solidFill>
                  <a:srgbClr val="40458B"/>
                </a:solidFill>
                <a:latin typeface="Tahoma"/>
                <a:cs typeface="Tahoma"/>
              </a:rPr>
              <a:t>F8,</a:t>
            </a:r>
            <a:r>
              <a:rPr dirty="0" sz="2400" spc="-40">
                <a:solidFill>
                  <a:srgbClr val="40458B"/>
                </a:solidFill>
                <a:latin typeface="Tahoma"/>
                <a:cs typeface="Tahoma"/>
              </a:rPr>
              <a:t> </a:t>
            </a:r>
            <a:r>
              <a:rPr dirty="0" sz="2400" spc="-25">
                <a:solidFill>
                  <a:srgbClr val="40458B"/>
                </a:solidFill>
                <a:latin typeface="Tahoma"/>
                <a:cs typeface="Tahoma"/>
              </a:rPr>
              <a:t>F10 </a:t>
            </a:r>
            <a:r>
              <a:rPr dirty="0" sz="2400">
                <a:solidFill>
                  <a:srgbClr val="40458B"/>
                </a:solidFill>
                <a:latin typeface="Tahoma"/>
                <a:cs typeface="Tahoma"/>
              </a:rPr>
              <a:t>ADD</a:t>
            </a:r>
            <a:r>
              <a:rPr dirty="0" sz="2400" spc="-45">
                <a:solidFill>
                  <a:srgbClr val="40458B"/>
                </a:solidFill>
                <a:latin typeface="Tahoma"/>
                <a:cs typeface="Tahoma"/>
              </a:rPr>
              <a:t> </a:t>
            </a:r>
            <a:r>
              <a:rPr dirty="0" sz="2400">
                <a:solidFill>
                  <a:srgbClr val="40458B"/>
                </a:solidFill>
                <a:latin typeface="Tahoma"/>
                <a:cs typeface="Tahoma"/>
              </a:rPr>
              <a:t>F8,</a:t>
            </a:r>
            <a:r>
              <a:rPr dirty="0" sz="2400" spc="-25">
                <a:solidFill>
                  <a:srgbClr val="40458B"/>
                </a:solidFill>
                <a:latin typeface="Tahoma"/>
                <a:cs typeface="Tahoma"/>
              </a:rPr>
              <a:t> </a:t>
            </a:r>
            <a:r>
              <a:rPr dirty="0" sz="2400">
                <a:solidFill>
                  <a:srgbClr val="40458B"/>
                </a:solidFill>
                <a:latin typeface="Tahoma"/>
                <a:cs typeface="Tahoma"/>
              </a:rPr>
              <a:t>F4,</a:t>
            </a:r>
            <a:r>
              <a:rPr dirty="0" sz="2400" spc="-35">
                <a:solidFill>
                  <a:srgbClr val="40458B"/>
                </a:solidFill>
                <a:latin typeface="Tahoma"/>
                <a:cs typeface="Tahoma"/>
              </a:rPr>
              <a:t> </a:t>
            </a:r>
            <a:r>
              <a:rPr dirty="0" sz="2400" spc="-25">
                <a:solidFill>
                  <a:srgbClr val="40458B"/>
                </a:solidFill>
                <a:latin typeface="Tahoma"/>
                <a:cs typeface="Tahoma"/>
              </a:rPr>
              <a:t>F10</a:t>
            </a:r>
            <a:endParaRPr sz="2400">
              <a:latin typeface="Tahoma"/>
              <a:cs typeface="Tahoma"/>
            </a:endParaRPr>
          </a:p>
        </p:txBody>
      </p:sp>
      <p:graphicFrame>
        <p:nvGraphicFramePr>
          <p:cNvPr id="17" name="object 17" descr=""/>
          <p:cNvGraphicFramePr>
            <a:graphicFrameLocks noGrp="1"/>
          </p:cNvGraphicFramePr>
          <p:nvPr/>
        </p:nvGraphicFramePr>
        <p:xfrm>
          <a:off x="1778889" y="4641596"/>
          <a:ext cx="4841875" cy="365760"/>
        </p:xfrm>
        <a:graphic>
          <a:graphicData uri="http://schemas.openxmlformats.org/drawingml/2006/table">
            <a:tbl>
              <a:tblPr firstRow="1" bandRow="1">
                <a:tableStyleId>{2D5ABB26-0587-4C30-8999-92F81FD0307C}</a:tableStyleId>
              </a:tblPr>
              <a:tblGrid>
                <a:gridCol w="950594"/>
                <a:gridCol w="950594"/>
                <a:gridCol w="950594"/>
                <a:gridCol w="950594"/>
                <a:gridCol w="950595"/>
              </a:tblGrid>
              <a:tr h="365760">
                <a:tc>
                  <a:txBody>
                    <a:bodyPr/>
                    <a:lstStyle/>
                    <a:p>
                      <a:pPr marL="91440">
                        <a:lnSpc>
                          <a:spcPct val="100000"/>
                        </a:lnSpc>
                        <a:spcBef>
                          <a:spcPts val="355"/>
                        </a:spcBef>
                      </a:pPr>
                      <a:r>
                        <a:rPr dirty="0" sz="1800" spc="-20" b="1">
                          <a:solidFill>
                            <a:srgbClr val="40458B"/>
                          </a:solidFill>
                          <a:latin typeface="Tahoma"/>
                          <a:cs typeface="Tahoma"/>
                        </a:rPr>
                        <a:t>SUB1</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marL="91440">
                        <a:lnSpc>
                          <a:spcPct val="100000"/>
                        </a:lnSpc>
                        <a:spcBef>
                          <a:spcPts val="355"/>
                        </a:spcBef>
                      </a:pPr>
                      <a:r>
                        <a:rPr dirty="0" sz="1800" spc="-25" b="1">
                          <a:solidFill>
                            <a:srgbClr val="40458B"/>
                          </a:solidFill>
                          <a:latin typeface="Tahoma"/>
                          <a:cs typeface="Tahoma"/>
                        </a:rPr>
                        <a:t>SUB</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a:lnSpc>
                          <a:spcPct val="100000"/>
                        </a:lnSpc>
                      </a:pPr>
                      <a:endParaRPr sz="2300">
                        <a:latin typeface="Times New Roman"/>
                        <a:cs typeface="Times New Roman"/>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a:lnSpc>
                          <a:spcPct val="100000"/>
                        </a:lnSpc>
                      </a:pPr>
                      <a:endParaRPr sz="2300">
                        <a:latin typeface="Times New Roman"/>
                        <a:cs typeface="Times New Roman"/>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a:lnSpc>
                          <a:spcPct val="100000"/>
                        </a:lnSpc>
                      </a:pPr>
                      <a:endParaRPr sz="2300">
                        <a:latin typeface="Times New Roman"/>
                        <a:cs typeface="Times New Roman"/>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r>
            </a:tbl>
          </a:graphicData>
        </a:graphic>
      </p:graphicFrame>
      <p:grpSp>
        <p:nvGrpSpPr>
          <p:cNvPr id="18" name="object 18" descr=""/>
          <p:cNvGrpSpPr/>
          <p:nvPr/>
        </p:nvGrpSpPr>
        <p:grpSpPr>
          <a:xfrm>
            <a:off x="8283067" y="4347845"/>
            <a:ext cx="1285875" cy="1488440"/>
            <a:chOff x="8283067" y="4347845"/>
            <a:chExt cx="1285875" cy="1488440"/>
          </a:xfrm>
        </p:grpSpPr>
        <p:sp>
          <p:nvSpPr>
            <p:cNvPr id="19" name="object 19" descr=""/>
            <p:cNvSpPr/>
            <p:nvPr/>
          </p:nvSpPr>
          <p:spPr>
            <a:xfrm>
              <a:off x="8287893" y="4352671"/>
              <a:ext cx="1276350" cy="365760"/>
            </a:xfrm>
            <a:custGeom>
              <a:avLst/>
              <a:gdLst/>
              <a:ahLst/>
              <a:cxnLst/>
              <a:rect l="l" t="t" r="r" b="b"/>
              <a:pathLst>
                <a:path w="1276350" h="365760">
                  <a:moveTo>
                    <a:pt x="1275969" y="0"/>
                  </a:moveTo>
                  <a:lnTo>
                    <a:pt x="0" y="0"/>
                  </a:lnTo>
                  <a:lnTo>
                    <a:pt x="0" y="365759"/>
                  </a:lnTo>
                  <a:lnTo>
                    <a:pt x="1275969" y="365759"/>
                  </a:lnTo>
                  <a:lnTo>
                    <a:pt x="1275969" y="0"/>
                  </a:lnTo>
                  <a:close/>
                </a:path>
              </a:pathLst>
            </a:custGeom>
            <a:solidFill>
              <a:srgbClr val="EBD782"/>
            </a:solidFill>
          </p:spPr>
          <p:txBody>
            <a:bodyPr wrap="square" lIns="0" tIns="0" rIns="0" bIns="0" rtlCol="0"/>
            <a:lstStyle/>
            <a:p/>
          </p:txBody>
        </p:sp>
        <p:sp>
          <p:nvSpPr>
            <p:cNvPr id="20" name="object 20" descr=""/>
            <p:cNvSpPr/>
            <p:nvPr/>
          </p:nvSpPr>
          <p:spPr>
            <a:xfrm>
              <a:off x="8283067" y="4347845"/>
              <a:ext cx="1285875" cy="1488440"/>
            </a:xfrm>
            <a:custGeom>
              <a:avLst/>
              <a:gdLst/>
              <a:ahLst/>
              <a:cxnLst/>
              <a:rect l="l" t="t" r="r" b="b"/>
              <a:pathLst>
                <a:path w="1285875" h="1488439">
                  <a:moveTo>
                    <a:pt x="0" y="370585"/>
                  </a:moveTo>
                  <a:lnTo>
                    <a:pt x="1285493" y="370585"/>
                  </a:lnTo>
                </a:path>
                <a:path w="1285875" h="1488439">
                  <a:moveTo>
                    <a:pt x="0" y="741425"/>
                  </a:moveTo>
                  <a:lnTo>
                    <a:pt x="1285493" y="741425"/>
                  </a:lnTo>
                </a:path>
                <a:path w="1285875" h="1488439">
                  <a:moveTo>
                    <a:pt x="0" y="1112265"/>
                  </a:moveTo>
                  <a:lnTo>
                    <a:pt x="1285493" y="1112265"/>
                  </a:lnTo>
                </a:path>
                <a:path w="1285875" h="1488439">
                  <a:moveTo>
                    <a:pt x="4825" y="0"/>
                  </a:moveTo>
                  <a:lnTo>
                    <a:pt x="4825" y="1487830"/>
                  </a:lnTo>
                </a:path>
                <a:path w="1285875" h="1488439">
                  <a:moveTo>
                    <a:pt x="1280667" y="0"/>
                  </a:moveTo>
                  <a:lnTo>
                    <a:pt x="1280667" y="1487830"/>
                  </a:lnTo>
                </a:path>
                <a:path w="1285875" h="1488439">
                  <a:moveTo>
                    <a:pt x="0" y="4825"/>
                  </a:moveTo>
                  <a:lnTo>
                    <a:pt x="1285493" y="4825"/>
                  </a:lnTo>
                </a:path>
                <a:path w="1285875" h="1488439">
                  <a:moveTo>
                    <a:pt x="0" y="1483067"/>
                  </a:moveTo>
                  <a:lnTo>
                    <a:pt x="1285493" y="1483067"/>
                  </a:lnTo>
                </a:path>
              </a:pathLst>
            </a:custGeom>
            <a:ln w="9525">
              <a:solidFill>
                <a:srgbClr val="E9D47B"/>
              </a:solidFill>
            </a:ln>
          </p:spPr>
          <p:txBody>
            <a:bodyPr wrap="square" lIns="0" tIns="0" rIns="0" bIns="0" rtlCol="0"/>
            <a:lstStyle/>
            <a:p/>
          </p:txBody>
        </p:sp>
      </p:grpSp>
      <p:grpSp>
        <p:nvGrpSpPr>
          <p:cNvPr id="21" name="object 21" descr=""/>
          <p:cNvGrpSpPr/>
          <p:nvPr/>
        </p:nvGrpSpPr>
        <p:grpSpPr>
          <a:xfrm>
            <a:off x="10281602" y="4306633"/>
            <a:ext cx="1285875" cy="1488440"/>
            <a:chOff x="10281602" y="4306633"/>
            <a:chExt cx="1285875" cy="1488440"/>
          </a:xfrm>
        </p:grpSpPr>
        <p:sp>
          <p:nvSpPr>
            <p:cNvPr id="22" name="object 22" descr=""/>
            <p:cNvSpPr/>
            <p:nvPr/>
          </p:nvSpPr>
          <p:spPr>
            <a:xfrm>
              <a:off x="10286365" y="4311396"/>
              <a:ext cx="1276350" cy="365760"/>
            </a:xfrm>
            <a:custGeom>
              <a:avLst/>
              <a:gdLst/>
              <a:ahLst/>
              <a:cxnLst/>
              <a:rect l="l" t="t" r="r" b="b"/>
              <a:pathLst>
                <a:path w="1276350" h="365760">
                  <a:moveTo>
                    <a:pt x="1275969" y="0"/>
                  </a:moveTo>
                  <a:lnTo>
                    <a:pt x="0" y="0"/>
                  </a:lnTo>
                  <a:lnTo>
                    <a:pt x="0" y="365759"/>
                  </a:lnTo>
                  <a:lnTo>
                    <a:pt x="1275969" y="365759"/>
                  </a:lnTo>
                  <a:lnTo>
                    <a:pt x="1275969" y="0"/>
                  </a:lnTo>
                  <a:close/>
                </a:path>
              </a:pathLst>
            </a:custGeom>
            <a:solidFill>
              <a:srgbClr val="FFE7FF"/>
            </a:solidFill>
          </p:spPr>
          <p:txBody>
            <a:bodyPr wrap="square" lIns="0" tIns="0" rIns="0" bIns="0" rtlCol="0"/>
            <a:lstStyle/>
            <a:p/>
          </p:txBody>
        </p:sp>
        <p:sp>
          <p:nvSpPr>
            <p:cNvPr id="23" name="object 23" descr=""/>
            <p:cNvSpPr/>
            <p:nvPr/>
          </p:nvSpPr>
          <p:spPr>
            <a:xfrm>
              <a:off x="10281666" y="4306697"/>
              <a:ext cx="1285875" cy="1487805"/>
            </a:xfrm>
            <a:custGeom>
              <a:avLst/>
              <a:gdLst/>
              <a:ahLst/>
              <a:cxnLst/>
              <a:rect l="l" t="t" r="r" b="b"/>
              <a:pathLst>
                <a:path w="1285875" h="1487804">
                  <a:moveTo>
                    <a:pt x="0" y="370458"/>
                  </a:moveTo>
                  <a:lnTo>
                    <a:pt x="1285366" y="370458"/>
                  </a:lnTo>
                </a:path>
                <a:path w="1285875" h="1487804">
                  <a:moveTo>
                    <a:pt x="0" y="741298"/>
                  </a:moveTo>
                  <a:lnTo>
                    <a:pt x="1285366" y="741298"/>
                  </a:lnTo>
                </a:path>
                <a:path w="1285875" h="1487804">
                  <a:moveTo>
                    <a:pt x="0" y="1112139"/>
                  </a:moveTo>
                  <a:lnTo>
                    <a:pt x="1285366" y="1112139"/>
                  </a:lnTo>
                </a:path>
                <a:path w="1285875" h="1487804">
                  <a:moveTo>
                    <a:pt x="4699" y="0"/>
                  </a:moveTo>
                  <a:lnTo>
                    <a:pt x="4699" y="1487779"/>
                  </a:lnTo>
                </a:path>
                <a:path w="1285875" h="1487804">
                  <a:moveTo>
                    <a:pt x="1280667" y="0"/>
                  </a:moveTo>
                  <a:lnTo>
                    <a:pt x="1280667" y="1487779"/>
                  </a:lnTo>
                </a:path>
                <a:path w="1285875" h="1487804">
                  <a:moveTo>
                    <a:pt x="0" y="4698"/>
                  </a:moveTo>
                  <a:lnTo>
                    <a:pt x="1285366" y="4698"/>
                  </a:lnTo>
                </a:path>
                <a:path w="1285875" h="1487804">
                  <a:moveTo>
                    <a:pt x="0" y="1483017"/>
                  </a:moveTo>
                  <a:lnTo>
                    <a:pt x="1285366" y="1483017"/>
                  </a:lnTo>
                </a:path>
              </a:pathLst>
            </a:custGeom>
            <a:ln w="9525">
              <a:solidFill>
                <a:srgbClr val="E9D47B"/>
              </a:solidFill>
            </a:ln>
          </p:spPr>
          <p:txBody>
            <a:bodyPr wrap="square" lIns="0" tIns="0" rIns="0" bIns="0" rtlCol="0"/>
            <a:lstStyle/>
            <a:p/>
          </p:txBody>
        </p:sp>
      </p:grpSp>
      <p:sp>
        <p:nvSpPr>
          <p:cNvPr id="24" name="object 24" descr=""/>
          <p:cNvSpPr txBox="1"/>
          <p:nvPr/>
        </p:nvSpPr>
        <p:spPr>
          <a:xfrm>
            <a:off x="7893811" y="3844544"/>
            <a:ext cx="18542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浮点寄存器组</a:t>
            </a:r>
            <a:endParaRPr sz="2400">
              <a:latin typeface="黑体"/>
              <a:cs typeface="黑体"/>
            </a:endParaRPr>
          </a:p>
        </p:txBody>
      </p:sp>
      <p:sp>
        <p:nvSpPr>
          <p:cNvPr id="25" name="object 25" descr=""/>
          <p:cNvSpPr txBox="1"/>
          <p:nvPr/>
        </p:nvSpPr>
        <p:spPr>
          <a:xfrm>
            <a:off x="7717281" y="5435600"/>
            <a:ext cx="35052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Tahoma"/>
                <a:cs typeface="Tahoma"/>
              </a:rPr>
              <a:t>F4</a:t>
            </a:r>
            <a:endParaRPr sz="2400">
              <a:latin typeface="Tahoma"/>
              <a:cs typeface="Tahoma"/>
            </a:endParaRPr>
          </a:p>
        </p:txBody>
      </p:sp>
      <p:sp>
        <p:nvSpPr>
          <p:cNvPr id="26" name="object 26" descr=""/>
          <p:cNvSpPr txBox="1"/>
          <p:nvPr/>
        </p:nvSpPr>
        <p:spPr>
          <a:xfrm>
            <a:off x="9843643" y="5491378"/>
            <a:ext cx="40894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Tahoma"/>
                <a:cs typeface="Tahoma"/>
              </a:rPr>
              <a:t>Q4</a:t>
            </a:r>
            <a:endParaRPr sz="2400">
              <a:latin typeface="Tahoma"/>
              <a:cs typeface="Tahoma"/>
            </a:endParaRPr>
          </a:p>
        </p:txBody>
      </p:sp>
      <p:sp>
        <p:nvSpPr>
          <p:cNvPr id="27" name="object 27" descr=""/>
          <p:cNvSpPr txBox="1"/>
          <p:nvPr/>
        </p:nvSpPr>
        <p:spPr>
          <a:xfrm>
            <a:off x="10544047" y="3958208"/>
            <a:ext cx="31242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Tahoma"/>
                <a:cs typeface="Tahoma"/>
              </a:rPr>
              <a:t>Qi</a:t>
            </a:r>
            <a:endParaRPr sz="2400">
              <a:latin typeface="Tahoma"/>
              <a:cs typeface="Tahoma"/>
            </a:endParaRPr>
          </a:p>
        </p:txBody>
      </p:sp>
      <p:sp>
        <p:nvSpPr>
          <p:cNvPr id="28" name="object 28" descr=""/>
          <p:cNvSpPr txBox="1"/>
          <p:nvPr/>
        </p:nvSpPr>
        <p:spPr>
          <a:xfrm>
            <a:off x="1615566" y="4010914"/>
            <a:ext cx="941069"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保留站</a:t>
            </a:r>
            <a:endParaRPr sz="2400">
              <a:latin typeface="黑体"/>
              <a:cs typeface="黑体"/>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76/175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pic>
        <p:nvPicPr>
          <p:cNvPr id="10" name="object 10" descr=""/>
          <p:cNvPicPr/>
          <p:nvPr/>
        </p:nvPicPr>
        <p:blipFill>
          <a:blip r:embed="rId2" cstate="print"/>
          <a:stretch>
            <a:fillRect/>
          </a:stretch>
        </p:blipFill>
        <p:spPr>
          <a:xfrm>
            <a:off x="3836568" y="1759457"/>
            <a:ext cx="238125" cy="250825"/>
          </a:xfrm>
          <a:prstGeom prst="rect">
            <a:avLst/>
          </a:prstGeom>
        </p:spPr>
      </p:pic>
      <p:sp>
        <p:nvSpPr>
          <p:cNvPr id="11" name="object 11" descr=""/>
          <p:cNvSpPr txBox="1"/>
          <p:nvPr/>
        </p:nvSpPr>
        <p:spPr>
          <a:xfrm>
            <a:off x="96418" y="1087654"/>
            <a:ext cx="4330700" cy="2404110"/>
          </a:xfrm>
          <a:prstGeom prst="rect">
            <a:avLst/>
          </a:prstGeom>
        </p:spPr>
        <p:txBody>
          <a:bodyPr wrap="square" lIns="0" tIns="122555" rIns="0" bIns="0" rtlCol="0" vert="horz">
            <a:spAutoFit/>
          </a:bodyPr>
          <a:lstStyle/>
          <a:p>
            <a:pPr marL="100965">
              <a:lnSpc>
                <a:spcPct val="100000"/>
              </a:lnSpc>
              <a:spcBef>
                <a:spcPts val="965"/>
              </a:spcBef>
            </a:pPr>
            <a:r>
              <a:rPr dirty="0" sz="2400" b="1">
                <a:solidFill>
                  <a:srgbClr val="001F5F"/>
                </a:solidFill>
                <a:latin typeface="Tahoma"/>
                <a:cs typeface="Tahoma"/>
              </a:rPr>
              <a:t>WAW</a:t>
            </a:r>
            <a:r>
              <a:rPr dirty="0" sz="2400" spc="-30" b="1">
                <a:solidFill>
                  <a:srgbClr val="001F5F"/>
                </a:solidFill>
                <a:latin typeface="黑体"/>
                <a:cs typeface="黑体"/>
              </a:rPr>
              <a:t>冲突的解决</a:t>
            </a:r>
            <a:endParaRPr sz="2400">
              <a:latin typeface="黑体"/>
              <a:cs typeface="黑体"/>
            </a:endParaRPr>
          </a:p>
          <a:p>
            <a:pPr marL="354965" indent="-342265">
              <a:lnSpc>
                <a:spcPct val="100000"/>
              </a:lnSpc>
              <a:spcBef>
                <a:spcPts val="870"/>
              </a:spcBef>
              <a:buClr>
                <a:srgbClr val="40458B"/>
              </a:buClr>
              <a:buFont typeface="Wingdings"/>
              <a:buChar char=""/>
              <a:tabLst>
                <a:tab pos="354965" algn="l"/>
              </a:tabLst>
            </a:pPr>
            <a:r>
              <a:rPr dirty="0" sz="2400">
                <a:solidFill>
                  <a:srgbClr val="001F5F"/>
                </a:solidFill>
                <a:latin typeface="黑体"/>
                <a:cs typeface="黑体"/>
              </a:rPr>
              <a:t>本质：乱序执行，按序写</a:t>
            </a:r>
            <a:r>
              <a:rPr dirty="0" sz="2400" spc="-50">
                <a:solidFill>
                  <a:srgbClr val="001F5F"/>
                </a:solidFill>
                <a:latin typeface="黑体"/>
                <a:cs typeface="黑体"/>
              </a:rPr>
              <a:t></a:t>
            </a:r>
            <a:endParaRPr sz="2400">
              <a:latin typeface="黑体"/>
              <a:cs typeface="黑体"/>
            </a:endParaRPr>
          </a:p>
          <a:p>
            <a:pPr marL="354965" indent="-342265">
              <a:lnSpc>
                <a:spcPct val="100000"/>
              </a:lnSpc>
              <a:spcBef>
                <a:spcPts val="860"/>
              </a:spcBef>
              <a:buClr>
                <a:srgbClr val="40458B"/>
              </a:buClr>
              <a:buFont typeface="Wingdings"/>
              <a:buChar char=""/>
              <a:tabLst>
                <a:tab pos="354965" algn="l"/>
              </a:tabLst>
            </a:pPr>
            <a:r>
              <a:rPr dirty="0" sz="2400" spc="-5">
                <a:solidFill>
                  <a:srgbClr val="001F5F"/>
                </a:solidFill>
                <a:latin typeface="黑体"/>
                <a:cs typeface="黑体"/>
              </a:rPr>
              <a:t>假设整个过程不存在结构冲突</a:t>
            </a:r>
            <a:endParaRPr sz="2400">
              <a:latin typeface="黑体"/>
              <a:cs typeface="黑体"/>
            </a:endParaRPr>
          </a:p>
          <a:p>
            <a:pPr marL="354965" indent="-342265">
              <a:lnSpc>
                <a:spcPct val="100000"/>
              </a:lnSpc>
              <a:spcBef>
                <a:spcPts val="869"/>
              </a:spcBef>
              <a:buClr>
                <a:srgbClr val="40458B"/>
              </a:buClr>
              <a:buFont typeface="Wingdings"/>
              <a:buChar char=""/>
              <a:tabLst>
                <a:tab pos="354965" algn="l"/>
              </a:tabLst>
            </a:pPr>
            <a:r>
              <a:rPr dirty="0" sz="2400" spc="-25">
                <a:solidFill>
                  <a:srgbClr val="001F5F"/>
                </a:solidFill>
                <a:latin typeface="黑体"/>
                <a:cs typeface="黑体"/>
              </a:rPr>
              <a:t>过程</a:t>
            </a:r>
            <a:endParaRPr sz="2400">
              <a:latin typeface="黑体"/>
              <a:cs typeface="黑体"/>
            </a:endParaRPr>
          </a:p>
          <a:p>
            <a:pPr marL="12700">
              <a:lnSpc>
                <a:spcPct val="100000"/>
              </a:lnSpc>
              <a:spcBef>
                <a:spcPts val="865"/>
              </a:spcBef>
            </a:pPr>
            <a:r>
              <a:rPr dirty="0" sz="2400">
                <a:solidFill>
                  <a:srgbClr val="001F5F"/>
                </a:solidFill>
                <a:latin typeface="黑体"/>
                <a:cs typeface="黑体"/>
              </a:rPr>
              <a:t>1</a:t>
            </a:r>
            <a:r>
              <a:rPr dirty="0" sz="2400" spc="-10">
                <a:solidFill>
                  <a:srgbClr val="001F5F"/>
                </a:solidFill>
                <a:latin typeface="黑体"/>
                <a:cs typeface="黑体"/>
              </a:rPr>
              <a:t>、流出过程</a:t>
            </a:r>
            <a:endParaRPr sz="2400">
              <a:latin typeface="黑体"/>
              <a:cs typeface="黑体"/>
            </a:endParaRPr>
          </a:p>
        </p:txBody>
      </p:sp>
      <p:sp>
        <p:nvSpPr>
          <p:cNvPr id="12" name="object 12" descr=""/>
          <p:cNvSpPr txBox="1"/>
          <p:nvPr/>
        </p:nvSpPr>
        <p:spPr>
          <a:xfrm>
            <a:off x="4854955" y="938022"/>
            <a:ext cx="2520950" cy="1671955"/>
          </a:xfrm>
          <a:prstGeom prst="rect">
            <a:avLst/>
          </a:prstGeom>
        </p:spPr>
        <p:txBody>
          <a:bodyPr wrap="square" lIns="0" tIns="12700" rIns="0" bIns="0" rtlCol="0" vert="horz">
            <a:spAutoFit/>
          </a:bodyPr>
          <a:lstStyle/>
          <a:p>
            <a:pPr marL="12700" marR="5080">
              <a:lnSpc>
                <a:spcPct val="150000"/>
              </a:lnSpc>
              <a:spcBef>
                <a:spcPts val="100"/>
              </a:spcBef>
            </a:pPr>
            <a:r>
              <a:rPr dirty="0" sz="2400">
                <a:solidFill>
                  <a:srgbClr val="40458B"/>
                </a:solidFill>
                <a:latin typeface="Tahoma"/>
                <a:cs typeface="Tahoma"/>
              </a:rPr>
              <a:t>SUB.D</a:t>
            </a:r>
            <a:r>
              <a:rPr dirty="0" sz="2400" spc="-50">
                <a:solidFill>
                  <a:srgbClr val="40458B"/>
                </a:solidFill>
                <a:latin typeface="Tahoma"/>
                <a:cs typeface="Tahoma"/>
              </a:rPr>
              <a:t> </a:t>
            </a:r>
            <a:r>
              <a:rPr dirty="0" sz="2400">
                <a:solidFill>
                  <a:srgbClr val="40458B"/>
                </a:solidFill>
                <a:latin typeface="Tahoma"/>
                <a:cs typeface="Tahoma"/>
              </a:rPr>
              <a:t>F4,</a:t>
            </a:r>
            <a:r>
              <a:rPr dirty="0" sz="2400" spc="-50">
                <a:solidFill>
                  <a:srgbClr val="40458B"/>
                </a:solidFill>
                <a:latin typeface="Tahoma"/>
                <a:cs typeface="Tahoma"/>
              </a:rPr>
              <a:t> </a:t>
            </a:r>
            <a:r>
              <a:rPr dirty="0" sz="2400">
                <a:solidFill>
                  <a:srgbClr val="40458B"/>
                </a:solidFill>
                <a:latin typeface="Tahoma"/>
                <a:cs typeface="Tahoma"/>
              </a:rPr>
              <a:t>F2,</a:t>
            </a:r>
            <a:r>
              <a:rPr dirty="0" sz="2400" spc="-45">
                <a:solidFill>
                  <a:srgbClr val="40458B"/>
                </a:solidFill>
                <a:latin typeface="Tahoma"/>
                <a:cs typeface="Tahoma"/>
              </a:rPr>
              <a:t> </a:t>
            </a:r>
            <a:r>
              <a:rPr dirty="0" sz="2400" spc="-25">
                <a:solidFill>
                  <a:srgbClr val="40458B"/>
                </a:solidFill>
                <a:latin typeface="Tahoma"/>
                <a:cs typeface="Tahoma"/>
              </a:rPr>
              <a:t>F6 </a:t>
            </a:r>
            <a:r>
              <a:rPr dirty="0" sz="2400">
                <a:solidFill>
                  <a:srgbClr val="40458B"/>
                </a:solidFill>
                <a:latin typeface="Tahoma"/>
                <a:cs typeface="Tahoma"/>
              </a:rPr>
              <a:t>MUL.D</a:t>
            </a:r>
            <a:r>
              <a:rPr dirty="0" sz="2400" spc="-55">
                <a:solidFill>
                  <a:srgbClr val="40458B"/>
                </a:solidFill>
                <a:latin typeface="Tahoma"/>
                <a:cs typeface="Tahoma"/>
              </a:rPr>
              <a:t> </a:t>
            </a:r>
            <a:r>
              <a:rPr dirty="0" sz="2400">
                <a:solidFill>
                  <a:srgbClr val="40458B"/>
                </a:solidFill>
                <a:latin typeface="Tahoma"/>
                <a:cs typeface="Tahoma"/>
              </a:rPr>
              <a:t>F4,</a:t>
            </a:r>
            <a:r>
              <a:rPr dirty="0" sz="2400" spc="-60">
                <a:solidFill>
                  <a:srgbClr val="40458B"/>
                </a:solidFill>
                <a:latin typeface="Tahoma"/>
                <a:cs typeface="Tahoma"/>
              </a:rPr>
              <a:t> </a:t>
            </a:r>
            <a:r>
              <a:rPr dirty="0" sz="2400">
                <a:solidFill>
                  <a:srgbClr val="40458B"/>
                </a:solidFill>
                <a:latin typeface="Tahoma"/>
                <a:cs typeface="Tahoma"/>
              </a:rPr>
              <a:t>F8,</a:t>
            </a:r>
            <a:r>
              <a:rPr dirty="0" sz="2400" spc="-45">
                <a:solidFill>
                  <a:srgbClr val="40458B"/>
                </a:solidFill>
                <a:latin typeface="Tahoma"/>
                <a:cs typeface="Tahoma"/>
              </a:rPr>
              <a:t> </a:t>
            </a:r>
            <a:r>
              <a:rPr dirty="0" sz="2400" spc="-25">
                <a:solidFill>
                  <a:srgbClr val="40458B"/>
                </a:solidFill>
                <a:latin typeface="Tahoma"/>
                <a:cs typeface="Tahoma"/>
              </a:rPr>
              <a:t>F10 </a:t>
            </a:r>
            <a:r>
              <a:rPr dirty="0" sz="2400">
                <a:solidFill>
                  <a:srgbClr val="40458B"/>
                </a:solidFill>
                <a:latin typeface="Tahoma"/>
                <a:cs typeface="Tahoma"/>
              </a:rPr>
              <a:t>ADD</a:t>
            </a:r>
            <a:r>
              <a:rPr dirty="0" sz="2400" spc="-45">
                <a:solidFill>
                  <a:srgbClr val="40458B"/>
                </a:solidFill>
                <a:latin typeface="Tahoma"/>
                <a:cs typeface="Tahoma"/>
              </a:rPr>
              <a:t> </a:t>
            </a:r>
            <a:r>
              <a:rPr dirty="0" sz="2400">
                <a:solidFill>
                  <a:srgbClr val="40458B"/>
                </a:solidFill>
                <a:latin typeface="Tahoma"/>
                <a:cs typeface="Tahoma"/>
              </a:rPr>
              <a:t>F8,</a:t>
            </a:r>
            <a:r>
              <a:rPr dirty="0" sz="2400" spc="-25">
                <a:solidFill>
                  <a:srgbClr val="40458B"/>
                </a:solidFill>
                <a:latin typeface="Tahoma"/>
                <a:cs typeface="Tahoma"/>
              </a:rPr>
              <a:t> </a:t>
            </a:r>
            <a:r>
              <a:rPr dirty="0" sz="2400">
                <a:solidFill>
                  <a:srgbClr val="40458B"/>
                </a:solidFill>
                <a:latin typeface="Tahoma"/>
                <a:cs typeface="Tahoma"/>
              </a:rPr>
              <a:t>F4,</a:t>
            </a:r>
            <a:r>
              <a:rPr dirty="0" sz="2400" spc="-35">
                <a:solidFill>
                  <a:srgbClr val="40458B"/>
                </a:solidFill>
                <a:latin typeface="Tahoma"/>
                <a:cs typeface="Tahoma"/>
              </a:rPr>
              <a:t> </a:t>
            </a:r>
            <a:r>
              <a:rPr dirty="0" sz="2400" spc="-25">
                <a:solidFill>
                  <a:srgbClr val="40458B"/>
                </a:solidFill>
                <a:latin typeface="Tahoma"/>
                <a:cs typeface="Tahoma"/>
              </a:rPr>
              <a:t>F10</a:t>
            </a:r>
            <a:endParaRPr sz="2400">
              <a:latin typeface="Tahoma"/>
              <a:cs typeface="Tahoma"/>
            </a:endParaRPr>
          </a:p>
        </p:txBody>
      </p:sp>
      <p:graphicFrame>
        <p:nvGraphicFramePr>
          <p:cNvPr id="13" name="object 13" descr=""/>
          <p:cNvGraphicFramePr>
            <a:graphicFrameLocks noGrp="1"/>
          </p:cNvGraphicFramePr>
          <p:nvPr/>
        </p:nvGraphicFramePr>
        <p:xfrm>
          <a:off x="7077202" y="5888558"/>
          <a:ext cx="4841875" cy="365760"/>
        </p:xfrm>
        <a:graphic>
          <a:graphicData uri="http://schemas.openxmlformats.org/drawingml/2006/table">
            <a:tbl>
              <a:tblPr firstRow="1" bandRow="1">
                <a:tableStyleId>{2D5ABB26-0587-4C30-8999-92F81FD0307C}</a:tableStyleId>
              </a:tblPr>
              <a:tblGrid>
                <a:gridCol w="950594"/>
                <a:gridCol w="950594"/>
                <a:gridCol w="950594"/>
                <a:gridCol w="950594"/>
                <a:gridCol w="950595"/>
              </a:tblGrid>
              <a:tr h="365760">
                <a:tc>
                  <a:txBody>
                    <a:bodyPr/>
                    <a:lstStyle/>
                    <a:p>
                      <a:pPr marL="92075">
                        <a:lnSpc>
                          <a:spcPct val="100000"/>
                        </a:lnSpc>
                        <a:spcBef>
                          <a:spcPts val="360"/>
                        </a:spcBef>
                      </a:pPr>
                      <a:r>
                        <a:rPr dirty="0" sz="1800" spc="-20" b="1">
                          <a:solidFill>
                            <a:srgbClr val="40458B"/>
                          </a:solidFill>
                          <a:latin typeface="Tahoma"/>
                          <a:cs typeface="Tahoma"/>
                        </a:rPr>
                        <a:t>SUB1</a:t>
                      </a:r>
                      <a:endParaRPr sz="1800">
                        <a:latin typeface="Tahoma"/>
                        <a:cs typeface="Tahoma"/>
                      </a:endParaRPr>
                    </a:p>
                  </a:txBody>
                  <a:tcPr marL="0" marR="0" marB="0" marT="4572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marL="92075">
                        <a:lnSpc>
                          <a:spcPct val="100000"/>
                        </a:lnSpc>
                        <a:spcBef>
                          <a:spcPts val="360"/>
                        </a:spcBef>
                      </a:pPr>
                      <a:r>
                        <a:rPr dirty="0" sz="1800" spc="-25" b="1">
                          <a:solidFill>
                            <a:srgbClr val="40458B"/>
                          </a:solidFill>
                          <a:latin typeface="Tahoma"/>
                          <a:cs typeface="Tahoma"/>
                        </a:rPr>
                        <a:t>SUB</a:t>
                      </a:r>
                      <a:endParaRPr sz="1800">
                        <a:latin typeface="Tahoma"/>
                        <a:cs typeface="Tahoma"/>
                      </a:endParaRPr>
                    </a:p>
                  </a:txBody>
                  <a:tcPr marL="0" marR="0" marB="0" marT="4572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a:lnSpc>
                          <a:spcPct val="100000"/>
                        </a:lnSpc>
                      </a:pPr>
                      <a:endParaRPr sz="2300">
                        <a:latin typeface="Times New Roman"/>
                        <a:cs typeface="Times New Roman"/>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a:lnSpc>
                          <a:spcPct val="100000"/>
                        </a:lnSpc>
                      </a:pPr>
                      <a:endParaRPr sz="2300">
                        <a:latin typeface="Times New Roman"/>
                        <a:cs typeface="Times New Roman"/>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a:lnSpc>
                          <a:spcPct val="100000"/>
                        </a:lnSpc>
                      </a:pPr>
                      <a:endParaRPr sz="2300">
                        <a:latin typeface="Times New Roman"/>
                        <a:cs typeface="Times New Roman"/>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r>
            </a:tbl>
          </a:graphicData>
        </a:graphic>
      </p:graphicFrame>
      <p:sp>
        <p:nvSpPr>
          <p:cNvPr id="14" name="object 14" descr=""/>
          <p:cNvSpPr txBox="1"/>
          <p:nvPr/>
        </p:nvSpPr>
        <p:spPr>
          <a:xfrm>
            <a:off x="96418" y="3538955"/>
            <a:ext cx="11304270" cy="2816860"/>
          </a:xfrm>
          <a:prstGeom prst="rect">
            <a:avLst/>
          </a:prstGeom>
        </p:spPr>
        <p:txBody>
          <a:bodyPr wrap="square" lIns="0" tIns="49530" rIns="0" bIns="0" rtlCol="0" vert="horz">
            <a:spAutoFit/>
          </a:bodyPr>
          <a:lstStyle/>
          <a:p>
            <a:pPr marL="584200">
              <a:lnSpc>
                <a:spcPct val="100000"/>
              </a:lnSpc>
              <a:spcBef>
                <a:spcPts val="390"/>
              </a:spcBef>
            </a:pPr>
            <a:r>
              <a:rPr dirty="0" sz="2400" spc="-155">
                <a:solidFill>
                  <a:srgbClr val="001F5F"/>
                </a:solidFill>
                <a:latin typeface="黑体"/>
                <a:cs typeface="黑体"/>
              </a:rPr>
              <a:t>指令 </a:t>
            </a:r>
            <a:r>
              <a:rPr dirty="0" sz="2400">
                <a:solidFill>
                  <a:srgbClr val="001F5F"/>
                </a:solidFill>
                <a:latin typeface="Tahoma"/>
                <a:cs typeface="Tahoma"/>
              </a:rPr>
              <a:t>SUB.D</a:t>
            </a:r>
            <a:r>
              <a:rPr dirty="0" sz="2400" spc="10">
                <a:solidFill>
                  <a:srgbClr val="001F5F"/>
                </a:solidFill>
                <a:latin typeface="Tahoma"/>
                <a:cs typeface="Tahoma"/>
              </a:rPr>
              <a:t> </a:t>
            </a:r>
            <a:r>
              <a:rPr dirty="0" sz="2400">
                <a:solidFill>
                  <a:srgbClr val="001F5F"/>
                </a:solidFill>
                <a:latin typeface="Tahoma"/>
                <a:cs typeface="Tahoma"/>
              </a:rPr>
              <a:t>F4</a:t>
            </a:r>
            <a:r>
              <a:rPr dirty="0" sz="2400" spc="10">
                <a:solidFill>
                  <a:srgbClr val="001F5F"/>
                </a:solidFill>
                <a:latin typeface="Tahoma"/>
                <a:cs typeface="Tahoma"/>
              </a:rPr>
              <a:t>, </a:t>
            </a:r>
            <a:r>
              <a:rPr dirty="0" sz="2400">
                <a:solidFill>
                  <a:srgbClr val="001F5F"/>
                </a:solidFill>
                <a:latin typeface="Tahoma"/>
                <a:cs typeface="Tahoma"/>
              </a:rPr>
              <a:t>F2</a:t>
            </a:r>
            <a:r>
              <a:rPr dirty="0" sz="2400" spc="5">
                <a:solidFill>
                  <a:srgbClr val="001F5F"/>
                </a:solidFill>
                <a:latin typeface="Tahoma"/>
                <a:cs typeface="Tahoma"/>
              </a:rPr>
              <a:t>, </a:t>
            </a:r>
            <a:r>
              <a:rPr dirty="0" sz="2400">
                <a:solidFill>
                  <a:srgbClr val="001F5F"/>
                </a:solidFill>
                <a:latin typeface="Tahoma"/>
                <a:cs typeface="Tahoma"/>
              </a:rPr>
              <a:t>F6</a:t>
            </a:r>
            <a:r>
              <a:rPr dirty="0" sz="2400" spc="15">
                <a:solidFill>
                  <a:srgbClr val="001F5F"/>
                </a:solidFill>
                <a:latin typeface="Tahoma"/>
                <a:cs typeface="Tahoma"/>
              </a:rPr>
              <a:t> </a:t>
            </a:r>
            <a:r>
              <a:rPr dirty="0" sz="2400" spc="-10">
                <a:solidFill>
                  <a:srgbClr val="001F5F"/>
                </a:solidFill>
                <a:latin typeface="黑体"/>
                <a:cs typeface="黑体"/>
              </a:rPr>
              <a:t>进入保留站，要写入</a:t>
            </a:r>
            <a:r>
              <a:rPr dirty="0" sz="2400" spc="-10">
                <a:solidFill>
                  <a:srgbClr val="001F5F"/>
                </a:solidFill>
                <a:latin typeface="Tahoma"/>
                <a:cs typeface="Tahoma"/>
              </a:rPr>
              <a:t>F4</a:t>
            </a:r>
            <a:r>
              <a:rPr dirty="0" sz="2400" spc="-10">
                <a:solidFill>
                  <a:srgbClr val="001F5F"/>
                </a:solidFill>
                <a:latin typeface="黑体"/>
                <a:cs typeface="黑体"/>
              </a:rPr>
              <a:t>，更改寄存组中</a:t>
            </a:r>
            <a:r>
              <a:rPr dirty="0" sz="2400" spc="-25">
                <a:solidFill>
                  <a:srgbClr val="001F5F"/>
                </a:solidFill>
                <a:latin typeface="Tahoma"/>
                <a:cs typeface="Tahoma"/>
              </a:rPr>
              <a:t>Q4</a:t>
            </a:r>
            <a:r>
              <a:rPr dirty="0" sz="2400" spc="-10">
                <a:solidFill>
                  <a:srgbClr val="001F5F"/>
                </a:solidFill>
                <a:latin typeface="黑体"/>
                <a:cs typeface="黑体"/>
              </a:rPr>
              <a:t>状态为</a:t>
            </a:r>
            <a:r>
              <a:rPr dirty="0" sz="2400" spc="-20">
                <a:solidFill>
                  <a:srgbClr val="001F5F"/>
                </a:solidFill>
                <a:latin typeface="Tahoma"/>
                <a:cs typeface="Tahoma"/>
              </a:rPr>
              <a:t>SUB1</a:t>
            </a:r>
            <a:endParaRPr sz="2400">
              <a:latin typeface="Tahoma"/>
              <a:cs typeface="Tahoma"/>
            </a:endParaRPr>
          </a:p>
          <a:p>
            <a:pPr marL="12700">
              <a:lnSpc>
                <a:spcPct val="100000"/>
              </a:lnSpc>
              <a:spcBef>
                <a:spcPts val="290"/>
              </a:spcBef>
            </a:pPr>
            <a:r>
              <a:rPr dirty="0" sz="2400">
                <a:solidFill>
                  <a:srgbClr val="001F5F"/>
                </a:solidFill>
                <a:latin typeface="黑体"/>
                <a:cs typeface="黑体"/>
              </a:rPr>
              <a:t>（假设保留站编号为</a:t>
            </a:r>
            <a:r>
              <a:rPr dirty="0" sz="2400" spc="-20">
                <a:solidFill>
                  <a:srgbClr val="001F5F"/>
                </a:solidFill>
                <a:latin typeface="Tahoma"/>
                <a:cs typeface="Tahoma"/>
              </a:rPr>
              <a:t>SUB1</a:t>
            </a:r>
            <a:r>
              <a:rPr dirty="0" sz="2400" spc="-20">
                <a:solidFill>
                  <a:srgbClr val="001F5F"/>
                </a:solidFill>
                <a:latin typeface="黑体"/>
                <a:cs typeface="黑体"/>
              </a:rPr>
              <a:t>）</a:t>
            </a:r>
            <a:r>
              <a:rPr dirty="0" sz="2400" spc="-10">
                <a:solidFill>
                  <a:srgbClr val="001F5F"/>
                </a:solidFill>
                <a:latin typeface="黑体"/>
                <a:cs typeface="黑体"/>
              </a:rPr>
              <a:t>其他细节略。</a:t>
            </a:r>
            <a:endParaRPr sz="2400">
              <a:latin typeface="黑体"/>
              <a:cs typeface="黑体"/>
            </a:endParaRPr>
          </a:p>
          <a:p>
            <a:pPr marL="12700" marR="5080" indent="304800">
              <a:lnSpc>
                <a:spcPct val="110000"/>
              </a:lnSpc>
              <a:spcBef>
                <a:spcPts val="575"/>
              </a:spcBef>
            </a:pPr>
            <a:r>
              <a:rPr dirty="0" sz="2400">
                <a:solidFill>
                  <a:srgbClr val="001F5F"/>
                </a:solidFill>
                <a:latin typeface="黑体"/>
                <a:cs typeface="黑体"/>
              </a:rPr>
              <a:t>此后，后续指令不会再去寄存器组寻找F4的值，而是被指引到SUB1保留站中等待</a:t>
            </a:r>
            <a:r>
              <a:rPr dirty="0" sz="2400" spc="-25">
                <a:solidFill>
                  <a:srgbClr val="001F5F"/>
                </a:solidFill>
                <a:latin typeface="黑体"/>
                <a:cs typeface="黑体"/>
              </a:rPr>
              <a:t>F4</a:t>
            </a:r>
            <a:r>
              <a:rPr dirty="0" sz="2400">
                <a:solidFill>
                  <a:srgbClr val="001F5F"/>
                </a:solidFill>
                <a:latin typeface="黑体"/>
                <a:cs typeface="黑体"/>
              </a:rPr>
              <a:t>的结果，即相当于将逻辑寄存器F4</a:t>
            </a:r>
            <a:r>
              <a:rPr dirty="0" sz="2400" spc="-5">
                <a:solidFill>
                  <a:srgbClr val="001F5F"/>
                </a:solidFill>
                <a:latin typeface="黑体"/>
                <a:cs typeface="黑体"/>
              </a:rPr>
              <a:t>重新命名为一个新的标签</a:t>
            </a:r>
            <a:r>
              <a:rPr dirty="0" sz="2400" spc="-20">
                <a:solidFill>
                  <a:srgbClr val="001F5F"/>
                </a:solidFill>
                <a:latin typeface="黑体"/>
                <a:cs typeface="黑体"/>
              </a:rPr>
              <a:t>SUB1</a:t>
            </a:r>
            <a:endParaRPr sz="2400">
              <a:latin typeface="黑体"/>
              <a:cs typeface="黑体"/>
            </a:endParaRPr>
          </a:p>
          <a:p>
            <a:pPr>
              <a:lnSpc>
                <a:spcPct val="100000"/>
              </a:lnSpc>
              <a:spcBef>
                <a:spcPts val="2725"/>
              </a:spcBef>
            </a:pPr>
            <a:endParaRPr sz="2400">
              <a:latin typeface="黑体"/>
              <a:cs typeface="黑体"/>
            </a:endParaRPr>
          </a:p>
          <a:p>
            <a:pPr algn="ctr" marL="1555750">
              <a:lnSpc>
                <a:spcPct val="100000"/>
              </a:lnSpc>
            </a:pPr>
            <a:r>
              <a:rPr dirty="0" sz="2400" spc="-20">
                <a:solidFill>
                  <a:srgbClr val="40458B"/>
                </a:solidFill>
                <a:latin typeface="黑体"/>
                <a:cs typeface="黑体"/>
              </a:rPr>
              <a:t>保留站</a:t>
            </a:r>
            <a:endParaRPr sz="2400">
              <a:latin typeface="黑体"/>
              <a:cs typeface="黑体"/>
            </a:endParaRPr>
          </a:p>
        </p:txBody>
      </p:sp>
      <p:grpSp>
        <p:nvGrpSpPr>
          <p:cNvPr id="15" name="object 15" descr=""/>
          <p:cNvGrpSpPr/>
          <p:nvPr/>
        </p:nvGrpSpPr>
        <p:grpSpPr>
          <a:xfrm>
            <a:off x="8556879" y="1624711"/>
            <a:ext cx="1285875" cy="1488440"/>
            <a:chOff x="8556879" y="1624711"/>
            <a:chExt cx="1285875" cy="1488440"/>
          </a:xfrm>
        </p:grpSpPr>
        <p:sp>
          <p:nvSpPr>
            <p:cNvPr id="16" name="object 16" descr=""/>
            <p:cNvSpPr/>
            <p:nvPr/>
          </p:nvSpPr>
          <p:spPr>
            <a:xfrm>
              <a:off x="8561705" y="1629537"/>
              <a:ext cx="1276350" cy="365760"/>
            </a:xfrm>
            <a:custGeom>
              <a:avLst/>
              <a:gdLst/>
              <a:ahLst/>
              <a:cxnLst/>
              <a:rect l="l" t="t" r="r" b="b"/>
              <a:pathLst>
                <a:path w="1276350" h="365760">
                  <a:moveTo>
                    <a:pt x="1275969" y="0"/>
                  </a:moveTo>
                  <a:lnTo>
                    <a:pt x="0" y="0"/>
                  </a:lnTo>
                  <a:lnTo>
                    <a:pt x="0" y="365760"/>
                  </a:lnTo>
                  <a:lnTo>
                    <a:pt x="1275969" y="365760"/>
                  </a:lnTo>
                  <a:lnTo>
                    <a:pt x="1275969" y="0"/>
                  </a:lnTo>
                  <a:close/>
                </a:path>
              </a:pathLst>
            </a:custGeom>
            <a:solidFill>
              <a:srgbClr val="EBD782"/>
            </a:solidFill>
          </p:spPr>
          <p:txBody>
            <a:bodyPr wrap="square" lIns="0" tIns="0" rIns="0" bIns="0" rtlCol="0"/>
            <a:lstStyle/>
            <a:p/>
          </p:txBody>
        </p:sp>
        <p:sp>
          <p:nvSpPr>
            <p:cNvPr id="17" name="object 17" descr=""/>
            <p:cNvSpPr/>
            <p:nvPr/>
          </p:nvSpPr>
          <p:spPr>
            <a:xfrm>
              <a:off x="8556879" y="1624711"/>
              <a:ext cx="1285875" cy="1487805"/>
            </a:xfrm>
            <a:custGeom>
              <a:avLst/>
              <a:gdLst/>
              <a:ahLst/>
              <a:cxnLst/>
              <a:rect l="l" t="t" r="r" b="b"/>
              <a:pathLst>
                <a:path w="1285875" h="1487805">
                  <a:moveTo>
                    <a:pt x="0" y="370586"/>
                  </a:moveTo>
                  <a:lnTo>
                    <a:pt x="1285494" y="370586"/>
                  </a:lnTo>
                </a:path>
                <a:path w="1285875" h="1487805">
                  <a:moveTo>
                    <a:pt x="0" y="741426"/>
                  </a:moveTo>
                  <a:lnTo>
                    <a:pt x="1285494" y="741426"/>
                  </a:lnTo>
                </a:path>
                <a:path w="1285875" h="1487805">
                  <a:moveTo>
                    <a:pt x="0" y="1112265"/>
                  </a:moveTo>
                  <a:lnTo>
                    <a:pt x="1285494" y="1112265"/>
                  </a:lnTo>
                </a:path>
                <a:path w="1285875" h="1487805">
                  <a:moveTo>
                    <a:pt x="4825" y="0"/>
                  </a:moveTo>
                  <a:lnTo>
                    <a:pt x="4825" y="1487804"/>
                  </a:lnTo>
                </a:path>
                <a:path w="1285875" h="1487805">
                  <a:moveTo>
                    <a:pt x="1280668" y="0"/>
                  </a:moveTo>
                  <a:lnTo>
                    <a:pt x="1280668" y="1487804"/>
                  </a:lnTo>
                </a:path>
                <a:path w="1285875" h="1487805">
                  <a:moveTo>
                    <a:pt x="0" y="4825"/>
                  </a:moveTo>
                  <a:lnTo>
                    <a:pt x="1285494" y="4825"/>
                  </a:lnTo>
                </a:path>
                <a:path w="1285875" h="1487805">
                  <a:moveTo>
                    <a:pt x="0" y="1483105"/>
                  </a:moveTo>
                  <a:lnTo>
                    <a:pt x="1285494" y="1483105"/>
                  </a:lnTo>
                </a:path>
              </a:pathLst>
            </a:custGeom>
            <a:ln w="9525">
              <a:solidFill>
                <a:srgbClr val="E9D47B"/>
              </a:solidFill>
            </a:ln>
          </p:spPr>
          <p:txBody>
            <a:bodyPr wrap="square" lIns="0" tIns="0" rIns="0" bIns="0" rtlCol="0"/>
            <a:lstStyle/>
            <a:p/>
          </p:txBody>
        </p:sp>
      </p:grpSp>
      <p:graphicFrame>
        <p:nvGraphicFramePr>
          <p:cNvPr id="18" name="object 18" descr=""/>
          <p:cNvGraphicFramePr>
            <a:graphicFrameLocks noGrp="1"/>
          </p:cNvGraphicFramePr>
          <p:nvPr/>
        </p:nvGraphicFramePr>
        <p:xfrm>
          <a:off x="10555414" y="1583499"/>
          <a:ext cx="1362075" cy="1476375"/>
        </p:xfrm>
        <a:graphic>
          <a:graphicData uri="http://schemas.openxmlformats.org/drawingml/2006/table">
            <a:tbl>
              <a:tblPr firstRow="1" bandRow="1">
                <a:tableStyleId>{2D5ABB26-0587-4C30-8999-92F81FD0307C}</a:tableStyleId>
              </a:tblPr>
              <a:tblGrid>
                <a:gridCol w="1275715"/>
              </a:tblGrid>
              <a:tr h="365760">
                <a:tc>
                  <a:txBody>
                    <a:bodyPr/>
                    <a:lstStyle/>
                    <a:p>
                      <a:pPr>
                        <a:lnSpc>
                          <a:spcPct val="100000"/>
                        </a:lnSpc>
                      </a:pPr>
                      <a:endParaRPr sz="2300">
                        <a:latin typeface="Times New Roman"/>
                        <a:cs typeface="Times New Roman"/>
                      </a:endParaRPr>
                    </a:p>
                  </a:txBody>
                  <a:tcPr marL="0" marR="0" marB="0" marT="0">
                    <a:lnL w="9525">
                      <a:solidFill>
                        <a:srgbClr val="E9D47B"/>
                      </a:solidFill>
                      <a:prstDash val="solid"/>
                    </a:lnL>
                    <a:lnR w="9525">
                      <a:solidFill>
                        <a:srgbClr val="E9D47B"/>
                      </a:solidFill>
                      <a:prstDash val="solid"/>
                    </a:lnR>
                    <a:lnT w="9525">
                      <a:solidFill>
                        <a:srgbClr val="E9D47B"/>
                      </a:solidFill>
                      <a:prstDash val="solid"/>
                    </a:lnT>
                    <a:lnB w="9525">
                      <a:solidFill>
                        <a:srgbClr val="E9D47B"/>
                      </a:solidFill>
                      <a:prstDash val="solid"/>
                    </a:lnB>
                    <a:solidFill>
                      <a:srgbClr val="FFE7FF"/>
                    </a:solidFill>
                  </a:tcPr>
                </a:tc>
              </a:tr>
              <a:tr h="370205">
                <a:tc>
                  <a:txBody>
                    <a:bodyPr/>
                    <a:lstStyle/>
                    <a:p>
                      <a:pPr>
                        <a:lnSpc>
                          <a:spcPct val="100000"/>
                        </a:lnSpc>
                      </a:pPr>
                      <a:endParaRPr sz="2300">
                        <a:latin typeface="Times New Roman"/>
                        <a:cs typeface="Times New Roman"/>
                      </a:endParaRPr>
                    </a:p>
                  </a:txBody>
                  <a:tcPr marL="0" marR="0" marB="0" marT="0">
                    <a:lnL w="9525">
                      <a:solidFill>
                        <a:srgbClr val="E9D47B"/>
                      </a:solidFill>
                      <a:prstDash val="solid"/>
                    </a:lnL>
                    <a:lnR w="9525">
                      <a:solidFill>
                        <a:srgbClr val="E9D47B"/>
                      </a:solidFill>
                      <a:prstDash val="solid"/>
                    </a:lnR>
                    <a:lnT w="9525">
                      <a:solidFill>
                        <a:srgbClr val="E9D47B"/>
                      </a:solidFill>
                      <a:prstDash val="solid"/>
                    </a:lnT>
                    <a:lnB w="9525">
                      <a:solidFill>
                        <a:srgbClr val="E9D47B"/>
                      </a:solidFill>
                      <a:prstDash val="solid"/>
                    </a:lnB>
                  </a:tcPr>
                </a:tc>
              </a:tr>
              <a:tr h="370205">
                <a:tc>
                  <a:txBody>
                    <a:bodyPr/>
                    <a:lstStyle/>
                    <a:p>
                      <a:pPr>
                        <a:lnSpc>
                          <a:spcPct val="100000"/>
                        </a:lnSpc>
                      </a:pPr>
                      <a:endParaRPr sz="2300">
                        <a:latin typeface="Times New Roman"/>
                        <a:cs typeface="Times New Roman"/>
                      </a:endParaRPr>
                    </a:p>
                  </a:txBody>
                  <a:tcPr marL="0" marR="0" marB="0" marT="0">
                    <a:lnL w="9525">
                      <a:solidFill>
                        <a:srgbClr val="E9D47B"/>
                      </a:solidFill>
                      <a:prstDash val="solid"/>
                    </a:lnL>
                    <a:lnR w="9525">
                      <a:solidFill>
                        <a:srgbClr val="E9D47B"/>
                      </a:solidFill>
                      <a:prstDash val="solid"/>
                    </a:lnR>
                    <a:lnT w="9525">
                      <a:solidFill>
                        <a:srgbClr val="E9D47B"/>
                      </a:solidFill>
                      <a:prstDash val="solid"/>
                    </a:lnT>
                    <a:lnB w="9525">
                      <a:solidFill>
                        <a:srgbClr val="E9D47B"/>
                      </a:solidFill>
                      <a:prstDash val="solid"/>
                    </a:lnB>
                  </a:tcPr>
                </a:tc>
              </a:tr>
              <a:tr h="370205">
                <a:tc>
                  <a:txBody>
                    <a:bodyPr/>
                    <a:lstStyle/>
                    <a:p>
                      <a:pPr marL="92075">
                        <a:lnSpc>
                          <a:spcPct val="100000"/>
                        </a:lnSpc>
                        <a:spcBef>
                          <a:spcPts val="350"/>
                        </a:spcBef>
                      </a:pPr>
                      <a:r>
                        <a:rPr dirty="0" sz="1800" spc="-20">
                          <a:solidFill>
                            <a:srgbClr val="40458B"/>
                          </a:solidFill>
                          <a:latin typeface="Tahoma"/>
                          <a:cs typeface="Tahoma"/>
                        </a:rPr>
                        <a:t>SUB1</a:t>
                      </a:r>
                      <a:endParaRPr sz="1800">
                        <a:latin typeface="Tahoma"/>
                        <a:cs typeface="Tahoma"/>
                      </a:endParaRPr>
                    </a:p>
                  </a:txBody>
                  <a:tcPr marL="0" marR="0" marB="0" marT="44450">
                    <a:lnL w="9525">
                      <a:solidFill>
                        <a:srgbClr val="E9D47B"/>
                      </a:solidFill>
                      <a:prstDash val="solid"/>
                    </a:lnL>
                    <a:lnR w="9525">
                      <a:solidFill>
                        <a:srgbClr val="E9D47B"/>
                      </a:solidFill>
                      <a:prstDash val="solid"/>
                    </a:lnR>
                    <a:lnT w="9525">
                      <a:solidFill>
                        <a:srgbClr val="E9D47B"/>
                      </a:solidFill>
                      <a:prstDash val="solid"/>
                    </a:lnT>
                    <a:lnB w="9525">
                      <a:solidFill>
                        <a:srgbClr val="E9D47B"/>
                      </a:solidFill>
                      <a:prstDash val="solid"/>
                    </a:lnB>
                  </a:tcPr>
                </a:tc>
              </a:tr>
            </a:tbl>
          </a:graphicData>
        </a:graphic>
      </p:graphicFrame>
      <p:sp>
        <p:nvSpPr>
          <p:cNvPr id="19" name="object 19" descr=""/>
          <p:cNvSpPr txBox="1"/>
          <p:nvPr/>
        </p:nvSpPr>
        <p:spPr>
          <a:xfrm>
            <a:off x="8167878" y="1120902"/>
            <a:ext cx="18542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浮点寄存器组</a:t>
            </a:r>
            <a:endParaRPr sz="2400">
              <a:latin typeface="黑体"/>
              <a:cs typeface="黑体"/>
            </a:endParaRPr>
          </a:p>
        </p:txBody>
      </p:sp>
      <p:sp>
        <p:nvSpPr>
          <p:cNvPr id="20" name="object 20" descr=""/>
          <p:cNvSpPr txBox="1"/>
          <p:nvPr/>
        </p:nvSpPr>
        <p:spPr>
          <a:xfrm>
            <a:off x="7991093" y="2711272"/>
            <a:ext cx="350520" cy="391795"/>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Tahoma"/>
                <a:cs typeface="Tahoma"/>
              </a:rPr>
              <a:t>F4</a:t>
            </a:r>
            <a:endParaRPr sz="2400">
              <a:latin typeface="Tahoma"/>
              <a:cs typeface="Tahoma"/>
            </a:endParaRPr>
          </a:p>
        </p:txBody>
      </p:sp>
      <p:sp>
        <p:nvSpPr>
          <p:cNvPr id="21" name="object 21" descr=""/>
          <p:cNvSpPr txBox="1"/>
          <p:nvPr/>
        </p:nvSpPr>
        <p:spPr>
          <a:xfrm>
            <a:off x="10117581" y="2767710"/>
            <a:ext cx="40894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Tahoma"/>
                <a:cs typeface="Tahoma"/>
              </a:rPr>
              <a:t>Q4</a:t>
            </a:r>
            <a:endParaRPr sz="2400">
              <a:latin typeface="Tahoma"/>
              <a:cs typeface="Tahoma"/>
            </a:endParaRPr>
          </a:p>
        </p:txBody>
      </p:sp>
      <p:sp>
        <p:nvSpPr>
          <p:cNvPr id="22" name="object 22" descr=""/>
          <p:cNvSpPr txBox="1"/>
          <p:nvPr/>
        </p:nvSpPr>
        <p:spPr>
          <a:xfrm>
            <a:off x="10842497" y="463910"/>
            <a:ext cx="1244600" cy="1122680"/>
          </a:xfrm>
          <a:prstGeom prst="rect">
            <a:avLst/>
          </a:prstGeom>
        </p:spPr>
        <p:txBody>
          <a:bodyPr wrap="square" lIns="0" tIns="12065" rIns="0" bIns="0" rtlCol="0" vert="horz">
            <a:spAutoFit/>
          </a:bodyPr>
          <a:lstStyle/>
          <a:p>
            <a:pPr marL="12700" marR="5080">
              <a:lnSpc>
                <a:spcPct val="150000"/>
              </a:lnSpc>
              <a:spcBef>
                <a:spcPts val="95"/>
              </a:spcBef>
            </a:pPr>
            <a:r>
              <a:rPr dirty="0" sz="2400" spc="-15">
                <a:solidFill>
                  <a:srgbClr val="40458B"/>
                </a:solidFill>
                <a:latin typeface="黑体"/>
                <a:cs typeface="黑体"/>
              </a:rPr>
              <a:t>寄存器状</a:t>
            </a:r>
            <a:r>
              <a:rPr dirty="0" sz="2400" spc="-10">
                <a:solidFill>
                  <a:srgbClr val="40458B"/>
                </a:solidFill>
                <a:latin typeface="黑体"/>
                <a:cs typeface="黑体"/>
              </a:rPr>
              <a:t>态组</a:t>
            </a:r>
            <a:r>
              <a:rPr dirty="0" sz="2400" spc="-25">
                <a:solidFill>
                  <a:srgbClr val="40458B"/>
                </a:solidFill>
                <a:latin typeface="Tahoma"/>
                <a:cs typeface="Tahoma"/>
              </a:rPr>
              <a:t>Qi</a:t>
            </a:r>
            <a:endParaRPr sz="2400">
              <a:latin typeface="Tahoma"/>
              <a:cs typeface="Tahom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77/175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74777" y="893775"/>
            <a:ext cx="2394585" cy="391795"/>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001F5F"/>
                </a:solidFill>
                <a:latin typeface="Tahoma"/>
                <a:cs typeface="Tahoma"/>
              </a:rPr>
              <a:t>WAW</a:t>
            </a:r>
            <a:r>
              <a:rPr dirty="0" sz="2400" spc="-30" b="1">
                <a:solidFill>
                  <a:srgbClr val="001F5F"/>
                </a:solidFill>
                <a:latin typeface="黑体"/>
                <a:cs typeface="黑体"/>
              </a:rPr>
              <a:t>冲突的解决</a:t>
            </a:r>
            <a:endParaRPr sz="2400">
              <a:latin typeface="黑体"/>
              <a:cs typeface="黑体"/>
            </a:endParaRPr>
          </a:p>
        </p:txBody>
      </p:sp>
      <p:sp>
        <p:nvSpPr>
          <p:cNvPr id="11" name="object 11" descr=""/>
          <p:cNvSpPr txBox="1"/>
          <p:nvPr/>
        </p:nvSpPr>
        <p:spPr>
          <a:xfrm>
            <a:off x="-13614" y="1369821"/>
            <a:ext cx="4029710" cy="391160"/>
          </a:xfrm>
          <a:prstGeom prst="rect">
            <a:avLst/>
          </a:prstGeom>
        </p:spPr>
        <p:txBody>
          <a:bodyPr wrap="square" lIns="0" tIns="12700" rIns="0" bIns="0" rtlCol="0" vert="horz">
            <a:spAutoFit/>
          </a:bodyPr>
          <a:lstStyle/>
          <a:p>
            <a:pPr marL="354965" indent="-342265">
              <a:lnSpc>
                <a:spcPct val="100000"/>
              </a:lnSpc>
              <a:spcBef>
                <a:spcPts val="100"/>
              </a:spcBef>
              <a:buClr>
                <a:srgbClr val="40458B"/>
              </a:buClr>
              <a:buFont typeface="Wingdings"/>
              <a:buChar char=""/>
              <a:tabLst>
                <a:tab pos="354965" algn="l"/>
              </a:tabLst>
            </a:pPr>
            <a:r>
              <a:rPr dirty="0" sz="2400">
                <a:solidFill>
                  <a:srgbClr val="001F5F"/>
                </a:solidFill>
                <a:latin typeface="黑体"/>
                <a:cs typeface="黑体"/>
              </a:rPr>
              <a:t>本质：乱序执行，按序写</a:t>
            </a:r>
            <a:r>
              <a:rPr dirty="0" sz="2400" spc="-50">
                <a:solidFill>
                  <a:srgbClr val="001F5F"/>
                </a:solidFill>
                <a:latin typeface="黑体"/>
                <a:cs typeface="黑体"/>
              </a:rPr>
              <a:t></a:t>
            </a:r>
            <a:endParaRPr sz="2400">
              <a:latin typeface="黑体"/>
              <a:cs typeface="黑体"/>
            </a:endParaRPr>
          </a:p>
        </p:txBody>
      </p:sp>
      <p:pic>
        <p:nvPicPr>
          <p:cNvPr id="12" name="object 12" descr=""/>
          <p:cNvPicPr/>
          <p:nvPr/>
        </p:nvPicPr>
        <p:blipFill>
          <a:blip r:embed="rId2" cstate="print"/>
          <a:stretch>
            <a:fillRect/>
          </a:stretch>
        </p:blipFill>
        <p:spPr>
          <a:xfrm>
            <a:off x="3729888" y="1455547"/>
            <a:ext cx="238125" cy="250825"/>
          </a:xfrm>
          <a:prstGeom prst="rect">
            <a:avLst/>
          </a:prstGeom>
        </p:spPr>
      </p:pic>
      <p:sp>
        <p:nvSpPr>
          <p:cNvPr id="13" name="object 13" descr=""/>
          <p:cNvSpPr txBox="1"/>
          <p:nvPr/>
        </p:nvSpPr>
        <p:spPr>
          <a:xfrm>
            <a:off x="-13614" y="1845309"/>
            <a:ext cx="4335145" cy="391160"/>
          </a:xfrm>
          <a:prstGeom prst="rect">
            <a:avLst/>
          </a:prstGeom>
        </p:spPr>
        <p:txBody>
          <a:bodyPr wrap="square" lIns="0" tIns="12700" rIns="0" bIns="0" rtlCol="0" vert="horz">
            <a:spAutoFit/>
          </a:bodyPr>
          <a:lstStyle/>
          <a:p>
            <a:pPr marL="354965" indent="-342265">
              <a:lnSpc>
                <a:spcPct val="100000"/>
              </a:lnSpc>
              <a:spcBef>
                <a:spcPts val="100"/>
              </a:spcBef>
              <a:buClr>
                <a:srgbClr val="40458B"/>
              </a:buClr>
              <a:buFont typeface="Wingdings"/>
              <a:buChar char=""/>
              <a:tabLst>
                <a:tab pos="354965" algn="l"/>
              </a:tabLst>
            </a:pPr>
            <a:r>
              <a:rPr dirty="0" sz="2400" spc="-5">
                <a:solidFill>
                  <a:srgbClr val="001F5F"/>
                </a:solidFill>
                <a:latin typeface="黑体"/>
                <a:cs typeface="黑体"/>
              </a:rPr>
              <a:t>假设整个过程不存在结构冲突</a:t>
            </a:r>
            <a:endParaRPr sz="2400">
              <a:latin typeface="黑体"/>
              <a:cs typeface="黑体"/>
            </a:endParaRPr>
          </a:p>
        </p:txBody>
      </p:sp>
      <p:sp>
        <p:nvSpPr>
          <p:cNvPr id="14" name="object 14" descr=""/>
          <p:cNvSpPr txBox="1"/>
          <p:nvPr/>
        </p:nvSpPr>
        <p:spPr>
          <a:xfrm>
            <a:off x="-13614" y="2320493"/>
            <a:ext cx="978535" cy="391795"/>
          </a:xfrm>
          <a:prstGeom prst="rect">
            <a:avLst/>
          </a:prstGeom>
        </p:spPr>
        <p:txBody>
          <a:bodyPr wrap="square" lIns="0" tIns="12700" rIns="0" bIns="0" rtlCol="0" vert="horz">
            <a:spAutoFit/>
          </a:bodyPr>
          <a:lstStyle/>
          <a:p>
            <a:pPr marL="354965" indent="-342265">
              <a:lnSpc>
                <a:spcPct val="100000"/>
              </a:lnSpc>
              <a:spcBef>
                <a:spcPts val="100"/>
              </a:spcBef>
              <a:buClr>
                <a:srgbClr val="40458B"/>
              </a:buClr>
              <a:buFont typeface="Wingdings"/>
              <a:buChar char=""/>
              <a:tabLst>
                <a:tab pos="354965" algn="l"/>
              </a:tabLst>
            </a:pPr>
            <a:r>
              <a:rPr dirty="0" sz="2400" spc="-25">
                <a:solidFill>
                  <a:srgbClr val="001F5F"/>
                </a:solidFill>
                <a:latin typeface="黑体"/>
                <a:cs typeface="黑体"/>
              </a:rPr>
              <a:t>过程</a:t>
            </a:r>
            <a:endParaRPr sz="2400">
              <a:latin typeface="黑体"/>
              <a:cs typeface="黑体"/>
            </a:endParaRPr>
          </a:p>
        </p:txBody>
      </p:sp>
      <p:sp>
        <p:nvSpPr>
          <p:cNvPr id="15" name="object 15" descr=""/>
          <p:cNvSpPr txBox="1"/>
          <p:nvPr/>
        </p:nvSpPr>
        <p:spPr>
          <a:xfrm>
            <a:off x="-13614" y="2796666"/>
            <a:ext cx="806386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1F5F"/>
                </a:solidFill>
                <a:latin typeface="黑体"/>
                <a:cs typeface="黑体"/>
              </a:rPr>
              <a:t>2</a:t>
            </a:r>
            <a:r>
              <a:rPr dirty="0" sz="2400" spc="-5">
                <a:solidFill>
                  <a:srgbClr val="001F5F"/>
                </a:solidFill>
                <a:latin typeface="黑体"/>
                <a:cs typeface="黑体"/>
              </a:rPr>
              <a:t>、在“写结果”阶段通过</a:t>
            </a:r>
            <a:r>
              <a:rPr dirty="0" sz="2400" spc="-10">
                <a:solidFill>
                  <a:srgbClr val="001F5F"/>
                </a:solidFill>
                <a:latin typeface="Tahoma"/>
                <a:cs typeface="Tahoma"/>
              </a:rPr>
              <a:t>CDB</a:t>
            </a:r>
            <a:r>
              <a:rPr dirty="0" sz="2400" spc="-5">
                <a:solidFill>
                  <a:srgbClr val="001F5F"/>
                </a:solidFill>
                <a:latin typeface="黑体"/>
                <a:cs typeface="黑体"/>
              </a:rPr>
              <a:t>广播和状态控制来保证顺序。</a:t>
            </a:r>
            <a:endParaRPr sz="2400">
              <a:latin typeface="黑体"/>
              <a:cs typeface="黑体"/>
            </a:endParaRPr>
          </a:p>
        </p:txBody>
      </p:sp>
      <p:sp>
        <p:nvSpPr>
          <p:cNvPr id="16" name="object 16" descr=""/>
          <p:cNvSpPr txBox="1"/>
          <p:nvPr/>
        </p:nvSpPr>
        <p:spPr>
          <a:xfrm>
            <a:off x="291185" y="3272154"/>
            <a:ext cx="7799070" cy="391160"/>
          </a:xfrm>
          <a:prstGeom prst="rect">
            <a:avLst/>
          </a:prstGeom>
        </p:spPr>
        <p:txBody>
          <a:bodyPr wrap="square" lIns="0" tIns="12700" rIns="0" bIns="0" rtlCol="0" vert="horz">
            <a:spAutoFit/>
          </a:bodyPr>
          <a:lstStyle/>
          <a:p>
            <a:pPr marL="12700">
              <a:lnSpc>
                <a:spcPct val="100000"/>
              </a:lnSpc>
              <a:spcBef>
                <a:spcPts val="100"/>
              </a:spcBef>
              <a:tabLst>
                <a:tab pos="2908300" algn="l"/>
                <a:tab pos="3517900" algn="l"/>
                <a:tab pos="4127500" algn="l"/>
              </a:tabLst>
            </a:pPr>
            <a:r>
              <a:rPr dirty="0" sz="2400">
                <a:solidFill>
                  <a:srgbClr val="001F5F"/>
                </a:solidFill>
                <a:latin typeface="黑体"/>
                <a:cs typeface="黑体"/>
              </a:rPr>
              <a:t>假设后面指令</a:t>
            </a:r>
            <a:r>
              <a:rPr dirty="0" sz="2400" spc="-10">
                <a:solidFill>
                  <a:srgbClr val="001F5F"/>
                </a:solidFill>
                <a:latin typeface="黑体"/>
                <a:cs typeface="黑体"/>
              </a:rPr>
              <a:t> MUL.D</a:t>
            </a:r>
            <a:r>
              <a:rPr dirty="0" sz="2400">
                <a:solidFill>
                  <a:srgbClr val="001F5F"/>
                </a:solidFill>
                <a:latin typeface="黑体"/>
                <a:cs typeface="黑体"/>
              </a:rPr>
              <a:t>	</a:t>
            </a:r>
            <a:r>
              <a:rPr dirty="0" sz="2400" spc="-25">
                <a:solidFill>
                  <a:srgbClr val="001F5F"/>
                </a:solidFill>
                <a:latin typeface="黑体"/>
                <a:cs typeface="黑体"/>
              </a:rPr>
              <a:t>F4,</a:t>
            </a:r>
            <a:r>
              <a:rPr dirty="0" sz="2400">
                <a:solidFill>
                  <a:srgbClr val="001F5F"/>
                </a:solidFill>
                <a:latin typeface="黑体"/>
                <a:cs typeface="黑体"/>
              </a:rPr>
              <a:t>	</a:t>
            </a:r>
            <a:r>
              <a:rPr dirty="0" sz="2400" spc="-25">
                <a:solidFill>
                  <a:srgbClr val="001F5F"/>
                </a:solidFill>
                <a:latin typeface="黑体"/>
                <a:cs typeface="黑体"/>
              </a:rPr>
              <a:t>F8,</a:t>
            </a:r>
            <a:r>
              <a:rPr dirty="0" sz="2400">
                <a:solidFill>
                  <a:srgbClr val="001F5F"/>
                </a:solidFill>
                <a:latin typeface="黑体"/>
                <a:cs typeface="黑体"/>
              </a:rPr>
              <a:t>	F10 也进入了保留站（例</a:t>
            </a:r>
            <a:r>
              <a:rPr dirty="0" sz="2400" spc="-50">
                <a:solidFill>
                  <a:srgbClr val="001F5F"/>
                </a:solidFill>
                <a:latin typeface="黑体"/>
                <a:cs typeface="黑体"/>
              </a:rPr>
              <a:t>如</a:t>
            </a:r>
            <a:endParaRPr sz="2400">
              <a:latin typeface="黑体"/>
              <a:cs typeface="黑体"/>
            </a:endParaRPr>
          </a:p>
        </p:txBody>
      </p:sp>
      <p:sp>
        <p:nvSpPr>
          <p:cNvPr id="17" name="object 17" descr=""/>
          <p:cNvSpPr txBox="1"/>
          <p:nvPr/>
        </p:nvSpPr>
        <p:spPr>
          <a:xfrm>
            <a:off x="-13614" y="3674186"/>
            <a:ext cx="8103870" cy="39179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001F5F"/>
                </a:solidFill>
                <a:latin typeface="黑体"/>
                <a:cs typeface="黑体"/>
              </a:rPr>
              <a:t>Mult1）。在流出阶段，它同样会检查目标寄存器F4，</a:t>
            </a:r>
            <a:r>
              <a:rPr dirty="0" sz="2400" spc="-25">
                <a:solidFill>
                  <a:srgbClr val="001F5F"/>
                </a:solidFill>
                <a:latin typeface="黑体"/>
                <a:cs typeface="黑体"/>
              </a:rPr>
              <a:t>并发现</a:t>
            </a:r>
            <a:endParaRPr sz="2400">
              <a:latin typeface="黑体"/>
              <a:cs typeface="黑体"/>
            </a:endParaRPr>
          </a:p>
        </p:txBody>
      </p:sp>
      <p:sp>
        <p:nvSpPr>
          <p:cNvPr id="18" name="object 18" descr=""/>
          <p:cNvSpPr txBox="1"/>
          <p:nvPr/>
        </p:nvSpPr>
        <p:spPr>
          <a:xfrm>
            <a:off x="-13614" y="4077080"/>
            <a:ext cx="4446905" cy="391160"/>
          </a:xfrm>
          <a:prstGeom prst="rect">
            <a:avLst/>
          </a:prstGeom>
        </p:spPr>
        <p:txBody>
          <a:bodyPr wrap="square" lIns="0" tIns="12700" rIns="0" bIns="0" rtlCol="0" vert="horz">
            <a:spAutoFit/>
          </a:bodyPr>
          <a:lstStyle/>
          <a:p>
            <a:pPr marL="12700">
              <a:lnSpc>
                <a:spcPct val="100000"/>
              </a:lnSpc>
              <a:spcBef>
                <a:spcPts val="100"/>
              </a:spcBef>
              <a:tabLst>
                <a:tab pos="469265" algn="l"/>
                <a:tab pos="2603500" algn="l"/>
              </a:tabLst>
            </a:pPr>
            <a:r>
              <a:rPr dirty="0" sz="2400" spc="-25">
                <a:solidFill>
                  <a:srgbClr val="001F5F"/>
                </a:solidFill>
                <a:latin typeface="黑体"/>
                <a:cs typeface="黑体"/>
              </a:rPr>
              <a:t>F4</a:t>
            </a:r>
            <a:r>
              <a:rPr dirty="0" sz="2400">
                <a:solidFill>
                  <a:srgbClr val="001F5F"/>
                </a:solidFill>
                <a:latin typeface="黑体"/>
                <a:cs typeface="黑体"/>
              </a:rPr>
              <a:t>	目前正被</a:t>
            </a:r>
            <a:r>
              <a:rPr dirty="0" sz="2400" spc="-15">
                <a:solidFill>
                  <a:srgbClr val="001F5F"/>
                </a:solidFill>
                <a:latin typeface="黑体"/>
                <a:cs typeface="黑体"/>
              </a:rPr>
              <a:t> </a:t>
            </a:r>
            <a:r>
              <a:rPr dirty="0" sz="2400" spc="-20">
                <a:solidFill>
                  <a:srgbClr val="001F5F"/>
                </a:solidFill>
                <a:latin typeface="黑体"/>
                <a:cs typeface="黑体"/>
              </a:rPr>
              <a:t>SUB1</a:t>
            </a:r>
            <a:r>
              <a:rPr dirty="0" sz="2400">
                <a:solidFill>
                  <a:srgbClr val="001F5F"/>
                </a:solidFill>
                <a:latin typeface="黑体"/>
                <a:cs typeface="黑体"/>
              </a:rPr>
              <a:t>	“预约”着</a:t>
            </a:r>
            <a:r>
              <a:rPr dirty="0" sz="2400" spc="-50">
                <a:solidFill>
                  <a:srgbClr val="001F5F"/>
                </a:solidFill>
                <a:latin typeface="黑体"/>
                <a:cs typeface="黑体"/>
              </a:rPr>
              <a:t>。</a:t>
            </a:r>
            <a:endParaRPr sz="2400">
              <a:latin typeface="黑体"/>
              <a:cs typeface="黑体"/>
            </a:endParaRPr>
          </a:p>
        </p:txBody>
      </p:sp>
      <p:sp>
        <p:nvSpPr>
          <p:cNvPr id="19" name="object 19" descr=""/>
          <p:cNvSpPr txBox="1"/>
          <p:nvPr/>
        </p:nvSpPr>
        <p:spPr>
          <a:xfrm>
            <a:off x="443585" y="4552569"/>
            <a:ext cx="368427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001F5F"/>
                </a:solidFill>
                <a:latin typeface="黑体"/>
                <a:cs typeface="黑体"/>
              </a:rPr>
              <a:t>此时，</a:t>
            </a:r>
            <a:r>
              <a:rPr dirty="0" sz="2400" spc="-10">
                <a:solidFill>
                  <a:srgbClr val="001F5F"/>
                </a:solidFill>
                <a:latin typeface="黑体"/>
                <a:cs typeface="黑体"/>
              </a:rPr>
              <a:t>Q4</a:t>
            </a:r>
            <a:r>
              <a:rPr dirty="0" sz="2400">
                <a:solidFill>
                  <a:srgbClr val="001F5F"/>
                </a:solidFill>
                <a:latin typeface="黑体"/>
                <a:cs typeface="黑体"/>
              </a:rPr>
              <a:t>状态更改为MUL1</a:t>
            </a:r>
            <a:r>
              <a:rPr dirty="0" sz="2400" spc="-50">
                <a:solidFill>
                  <a:srgbClr val="001F5F"/>
                </a:solidFill>
                <a:latin typeface="黑体"/>
                <a:cs typeface="黑体"/>
              </a:rPr>
              <a:t>。</a:t>
            </a:r>
            <a:endParaRPr sz="2400">
              <a:latin typeface="黑体"/>
              <a:cs typeface="黑体"/>
            </a:endParaRPr>
          </a:p>
        </p:txBody>
      </p:sp>
      <p:sp>
        <p:nvSpPr>
          <p:cNvPr id="20" name="object 20" descr=""/>
          <p:cNvSpPr txBox="1"/>
          <p:nvPr/>
        </p:nvSpPr>
        <p:spPr>
          <a:xfrm>
            <a:off x="8268716" y="958168"/>
            <a:ext cx="2520950" cy="1672589"/>
          </a:xfrm>
          <a:prstGeom prst="rect">
            <a:avLst/>
          </a:prstGeom>
        </p:spPr>
        <p:txBody>
          <a:bodyPr wrap="square" lIns="0" tIns="12700" rIns="0" bIns="0" rtlCol="0" vert="horz">
            <a:spAutoFit/>
          </a:bodyPr>
          <a:lstStyle/>
          <a:p>
            <a:pPr marL="12700" marR="5080">
              <a:lnSpc>
                <a:spcPct val="150100"/>
              </a:lnSpc>
              <a:spcBef>
                <a:spcPts val="100"/>
              </a:spcBef>
            </a:pPr>
            <a:r>
              <a:rPr dirty="0" sz="2400">
                <a:solidFill>
                  <a:srgbClr val="40458B"/>
                </a:solidFill>
                <a:latin typeface="Tahoma"/>
                <a:cs typeface="Tahoma"/>
              </a:rPr>
              <a:t>SUB.D</a:t>
            </a:r>
            <a:r>
              <a:rPr dirty="0" sz="2400" spc="-40">
                <a:solidFill>
                  <a:srgbClr val="40458B"/>
                </a:solidFill>
                <a:latin typeface="Tahoma"/>
                <a:cs typeface="Tahoma"/>
              </a:rPr>
              <a:t> </a:t>
            </a:r>
            <a:r>
              <a:rPr dirty="0" sz="2400">
                <a:solidFill>
                  <a:srgbClr val="40458B"/>
                </a:solidFill>
                <a:latin typeface="Tahoma"/>
                <a:cs typeface="Tahoma"/>
              </a:rPr>
              <a:t>F4,</a:t>
            </a:r>
            <a:r>
              <a:rPr dirty="0" sz="2400" spc="-35">
                <a:solidFill>
                  <a:srgbClr val="40458B"/>
                </a:solidFill>
                <a:latin typeface="Tahoma"/>
                <a:cs typeface="Tahoma"/>
              </a:rPr>
              <a:t> </a:t>
            </a:r>
            <a:r>
              <a:rPr dirty="0" sz="2400">
                <a:solidFill>
                  <a:srgbClr val="40458B"/>
                </a:solidFill>
                <a:latin typeface="Tahoma"/>
                <a:cs typeface="Tahoma"/>
              </a:rPr>
              <a:t>F2,</a:t>
            </a:r>
            <a:r>
              <a:rPr dirty="0" sz="2400" spc="-25">
                <a:solidFill>
                  <a:srgbClr val="40458B"/>
                </a:solidFill>
                <a:latin typeface="Tahoma"/>
                <a:cs typeface="Tahoma"/>
              </a:rPr>
              <a:t> F6 </a:t>
            </a:r>
            <a:r>
              <a:rPr dirty="0" sz="2400">
                <a:solidFill>
                  <a:srgbClr val="40458B"/>
                </a:solidFill>
                <a:latin typeface="Tahoma"/>
                <a:cs typeface="Tahoma"/>
              </a:rPr>
              <a:t>MUL.D</a:t>
            </a:r>
            <a:r>
              <a:rPr dirty="0" sz="2400" spc="-50">
                <a:solidFill>
                  <a:srgbClr val="40458B"/>
                </a:solidFill>
                <a:latin typeface="Tahoma"/>
                <a:cs typeface="Tahoma"/>
              </a:rPr>
              <a:t> </a:t>
            </a:r>
            <a:r>
              <a:rPr dirty="0" sz="2400">
                <a:solidFill>
                  <a:srgbClr val="40458B"/>
                </a:solidFill>
                <a:latin typeface="Tahoma"/>
                <a:cs typeface="Tahoma"/>
              </a:rPr>
              <a:t>F4,</a:t>
            </a:r>
            <a:r>
              <a:rPr dirty="0" sz="2400" spc="-60">
                <a:solidFill>
                  <a:srgbClr val="40458B"/>
                </a:solidFill>
                <a:latin typeface="Tahoma"/>
                <a:cs typeface="Tahoma"/>
              </a:rPr>
              <a:t> </a:t>
            </a:r>
            <a:r>
              <a:rPr dirty="0" sz="2400">
                <a:solidFill>
                  <a:srgbClr val="40458B"/>
                </a:solidFill>
                <a:latin typeface="Tahoma"/>
                <a:cs typeface="Tahoma"/>
              </a:rPr>
              <a:t>F8,</a:t>
            </a:r>
            <a:r>
              <a:rPr dirty="0" sz="2400" spc="-50">
                <a:solidFill>
                  <a:srgbClr val="40458B"/>
                </a:solidFill>
                <a:latin typeface="Tahoma"/>
                <a:cs typeface="Tahoma"/>
              </a:rPr>
              <a:t> </a:t>
            </a:r>
            <a:r>
              <a:rPr dirty="0" sz="2400" spc="-25">
                <a:solidFill>
                  <a:srgbClr val="40458B"/>
                </a:solidFill>
                <a:latin typeface="Tahoma"/>
                <a:cs typeface="Tahoma"/>
              </a:rPr>
              <a:t>F10 </a:t>
            </a:r>
            <a:r>
              <a:rPr dirty="0" sz="2400">
                <a:solidFill>
                  <a:srgbClr val="40458B"/>
                </a:solidFill>
                <a:latin typeface="Tahoma"/>
                <a:cs typeface="Tahoma"/>
              </a:rPr>
              <a:t>ADD</a:t>
            </a:r>
            <a:r>
              <a:rPr dirty="0" sz="2400" spc="-45">
                <a:solidFill>
                  <a:srgbClr val="40458B"/>
                </a:solidFill>
                <a:latin typeface="Tahoma"/>
                <a:cs typeface="Tahoma"/>
              </a:rPr>
              <a:t> </a:t>
            </a:r>
            <a:r>
              <a:rPr dirty="0" sz="2400">
                <a:solidFill>
                  <a:srgbClr val="40458B"/>
                </a:solidFill>
                <a:latin typeface="Tahoma"/>
                <a:cs typeface="Tahoma"/>
              </a:rPr>
              <a:t>F8,</a:t>
            </a:r>
            <a:r>
              <a:rPr dirty="0" sz="2400" spc="-25">
                <a:solidFill>
                  <a:srgbClr val="40458B"/>
                </a:solidFill>
                <a:latin typeface="Tahoma"/>
                <a:cs typeface="Tahoma"/>
              </a:rPr>
              <a:t> </a:t>
            </a:r>
            <a:r>
              <a:rPr dirty="0" sz="2400">
                <a:solidFill>
                  <a:srgbClr val="40458B"/>
                </a:solidFill>
                <a:latin typeface="Tahoma"/>
                <a:cs typeface="Tahoma"/>
              </a:rPr>
              <a:t>F4,</a:t>
            </a:r>
            <a:r>
              <a:rPr dirty="0" sz="2400" spc="-40">
                <a:solidFill>
                  <a:srgbClr val="40458B"/>
                </a:solidFill>
                <a:latin typeface="Tahoma"/>
                <a:cs typeface="Tahoma"/>
              </a:rPr>
              <a:t> </a:t>
            </a:r>
            <a:r>
              <a:rPr dirty="0" sz="2400" spc="-25">
                <a:solidFill>
                  <a:srgbClr val="40458B"/>
                </a:solidFill>
                <a:latin typeface="Tahoma"/>
                <a:cs typeface="Tahoma"/>
              </a:rPr>
              <a:t>F10</a:t>
            </a:r>
            <a:endParaRPr sz="2400">
              <a:latin typeface="Tahoma"/>
              <a:cs typeface="Tahoma"/>
            </a:endParaRPr>
          </a:p>
        </p:txBody>
      </p:sp>
      <p:graphicFrame>
        <p:nvGraphicFramePr>
          <p:cNvPr id="21" name="object 21" descr=""/>
          <p:cNvGraphicFramePr>
            <a:graphicFrameLocks noGrp="1"/>
          </p:cNvGraphicFramePr>
          <p:nvPr/>
        </p:nvGraphicFramePr>
        <p:xfrm>
          <a:off x="1512824" y="5404103"/>
          <a:ext cx="4841875" cy="570865"/>
        </p:xfrm>
        <a:graphic>
          <a:graphicData uri="http://schemas.openxmlformats.org/drawingml/2006/table">
            <a:tbl>
              <a:tblPr firstRow="1" bandRow="1">
                <a:tableStyleId>{2D5ABB26-0587-4C30-8999-92F81FD0307C}</a:tableStyleId>
              </a:tblPr>
              <a:tblGrid>
                <a:gridCol w="950594"/>
                <a:gridCol w="950594"/>
                <a:gridCol w="950594"/>
                <a:gridCol w="950594"/>
                <a:gridCol w="950595"/>
              </a:tblGrid>
              <a:tr h="570865">
                <a:tc>
                  <a:txBody>
                    <a:bodyPr/>
                    <a:lstStyle/>
                    <a:p>
                      <a:pPr marL="91440">
                        <a:lnSpc>
                          <a:spcPct val="100000"/>
                        </a:lnSpc>
                        <a:spcBef>
                          <a:spcPts val="355"/>
                        </a:spcBef>
                      </a:pPr>
                      <a:r>
                        <a:rPr dirty="0" sz="1800" spc="-20" b="1">
                          <a:solidFill>
                            <a:srgbClr val="40458B"/>
                          </a:solidFill>
                          <a:latin typeface="Tahoma"/>
                          <a:cs typeface="Tahoma"/>
                        </a:rPr>
                        <a:t>MUL1</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marL="91440">
                        <a:lnSpc>
                          <a:spcPct val="100000"/>
                        </a:lnSpc>
                        <a:spcBef>
                          <a:spcPts val="355"/>
                        </a:spcBef>
                      </a:pPr>
                      <a:r>
                        <a:rPr dirty="0" sz="1800" spc="-25" b="1">
                          <a:solidFill>
                            <a:srgbClr val="40458B"/>
                          </a:solidFill>
                          <a:latin typeface="Tahoma"/>
                          <a:cs typeface="Tahoma"/>
                        </a:rPr>
                        <a:t>MUL</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a:lnSpc>
                          <a:spcPct val="100000"/>
                        </a:lnSpc>
                      </a:pPr>
                      <a:endParaRPr sz="2300">
                        <a:latin typeface="Times New Roman"/>
                        <a:cs typeface="Times New Roman"/>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a:lnSpc>
                          <a:spcPct val="100000"/>
                        </a:lnSpc>
                      </a:pPr>
                      <a:endParaRPr sz="2300">
                        <a:latin typeface="Times New Roman"/>
                        <a:cs typeface="Times New Roman"/>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a:lnSpc>
                          <a:spcPct val="100000"/>
                        </a:lnSpc>
                      </a:pPr>
                      <a:endParaRPr sz="2300">
                        <a:latin typeface="Times New Roman"/>
                        <a:cs typeface="Times New Roman"/>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r>
            </a:tbl>
          </a:graphicData>
        </a:graphic>
      </p:graphicFrame>
      <p:grpSp>
        <p:nvGrpSpPr>
          <p:cNvPr id="22" name="object 22" descr=""/>
          <p:cNvGrpSpPr/>
          <p:nvPr/>
        </p:nvGrpSpPr>
        <p:grpSpPr>
          <a:xfrm>
            <a:off x="8283067" y="4347845"/>
            <a:ext cx="1285875" cy="1488440"/>
            <a:chOff x="8283067" y="4347845"/>
            <a:chExt cx="1285875" cy="1488440"/>
          </a:xfrm>
        </p:grpSpPr>
        <p:sp>
          <p:nvSpPr>
            <p:cNvPr id="23" name="object 23" descr=""/>
            <p:cNvSpPr/>
            <p:nvPr/>
          </p:nvSpPr>
          <p:spPr>
            <a:xfrm>
              <a:off x="8287893" y="4352671"/>
              <a:ext cx="1276350" cy="365760"/>
            </a:xfrm>
            <a:custGeom>
              <a:avLst/>
              <a:gdLst/>
              <a:ahLst/>
              <a:cxnLst/>
              <a:rect l="l" t="t" r="r" b="b"/>
              <a:pathLst>
                <a:path w="1276350" h="365760">
                  <a:moveTo>
                    <a:pt x="1275969" y="0"/>
                  </a:moveTo>
                  <a:lnTo>
                    <a:pt x="0" y="0"/>
                  </a:lnTo>
                  <a:lnTo>
                    <a:pt x="0" y="365759"/>
                  </a:lnTo>
                  <a:lnTo>
                    <a:pt x="1275969" y="365759"/>
                  </a:lnTo>
                  <a:lnTo>
                    <a:pt x="1275969" y="0"/>
                  </a:lnTo>
                  <a:close/>
                </a:path>
              </a:pathLst>
            </a:custGeom>
            <a:solidFill>
              <a:srgbClr val="EBD782"/>
            </a:solidFill>
          </p:spPr>
          <p:txBody>
            <a:bodyPr wrap="square" lIns="0" tIns="0" rIns="0" bIns="0" rtlCol="0"/>
            <a:lstStyle/>
            <a:p/>
          </p:txBody>
        </p:sp>
        <p:sp>
          <p:nvSpPr>
            <p:cNvPr id="24" name="object 24" descr=""/>
            <p:cNvSpPr/>
            <p:nvPr/>
          </p:nvSpPr>
          <p:spPr>
            <a:xfrm>
              <a:off x="8283067" y="4347845"/>
              <a:ext cx="1285875" cy="1488440"/>
            </a:xfrm>
            <a:custGeom>
              <a:avLst/>
              <a:gdLst/>
              <a:ahLst/>
              <a:cxnLst/>
              <a:rect l="l" t="t" r="r" b="b"/>
              <a:pathLst>
                <a:path w="1285875" h="1488439">
                  <a:moveTo>
                    <a:pt x="0" y="370585"/>
                  </a:moveTo>
                  <a:lnTo>
                    <a:pt x="1285493" y="370585"/>
                  </a:lnTo>
                </a:path>
                <a:path w="1285875" h="1488439">
                  <a:moveTo>
                    <a:pt x="0" y="741425"/>
                  </a:moveTo>
                  <a:lnTo>
                    <a:pt x="1285493" y="741425"/>
                  </a:lnTo>
                </a:path>
                <a:path w="1285875" h="1488439">
                  <a:moveTo>
                    <a:pt x="0" y="1112265"/>
                  </a:moveTo>
                  <a:lnTo>
                    <a:pt x="1285493" y="1112265"/>
                  </a:lnTo>
                </a:path>
                <a:path w="1285875" h="1488439">
                  <a:moveTo>
                    <a:pt x="4825" y="0"/>
                  </a:moveTo>
                  <a:lnTo>
                    <a:pt x="4825" y="1487830"/>
                  </a:lnTo>
                </a:path>
                <a:path w="1285875" h="1488439">
                  <a:moveTo>
                    <a:pt x="1280667" y="0"/>
                  </a:moveTo>
                  <a:lnTo>
                    <a:pt x="1280667" y="1487830"/>
                  </a:lnTo>
                </a:path>
                <a:path w="1285875" h="1488439">
                  <a:moveTo>
                    <a:pt x="0" y="4825"/>
                  </a:moveTo>
                  <a:lnTo>
                    <a:pt x="1285493" y="4825"/>
                  </a:lnTo>
                </a:path>
                <a:path w="1285875" h="1488439">
                  <a:moveTo>
                    <a:pt x="0" y="1483067"/>
                  </a:moveTo>
                  <a:lnTo>
                    <a:pt x="1285493" y="1483067"/>
                  </a:lnTo>
                </a:path>
              </a:pathLst>
            </a:custGeom>
            <a:ln w="9525">
              <a:solidFill>
                <a:srgbClr val="E9D47B"/>
              </a:solidFill>
            </a:ln>
          </p:spPr>
          <p:txBody>
            <a:bodyPr wrap="square" lIns="0" tIns="0" rIns="0" bIns="0" rtlCol="0"/>
            <a:lstStyle/>
            <a:p/>
          </p:txBody>
        </p:sp>
      </p:grpSp>
      <p:graphicFrame>
        <p:nvGraphicFramePr>
          <p:cNvPr id="25" name="object 25" descr=""/>
          <p:cNvGraphicFramePr>
            <a:graphicFrameLocks noGrp="1"/>
          </p:cNvGraphicFramePr>
          <p:nvPr/>
        </p:nvGraphicFramePr>
        <p:xfrm>
          <a:off x="10281602" y="4306633"/>
          <a:ext cx="1362075" cy="1477645"/>
        </p:xfrm>
        <a:graphic>
          <a:graphicData uri="http://schemas.openxmlformats.org/drawingml/2006/table">
            <a:tbl>
              <a:tblPr firstRow="1" bandRow="1">
                <a:tableStyleId>{2D5ABB26-0587-4C30-8999-92F81FD0307C}</a:tableStyleId>
              </a:tblPr>
              <a:tblGrid>
                <a:gridCol w="1275715"/>
              </a:tblGrid>
              <a:tr h="365760">
                <a:tc>
                  <a:txBody>
                    <a:bodyPr/>
                    <a:lstStyle/>
                    <a:p>
                      <a:pPr>
                        <a:lnSpc>
                          <a:spcPct val="100000"/>
                        </a:lnSpc>
                      </a:pPr>
                      <a:endParaRPr sz="2300">
                        <a:latin typeface="Times New Roman"/>
                        <a:cs typeface="Times New Roman"/>
                      </a:endParaRPr>
                    </a:p>
                  </a:txBody>
                  <a:tcPr marL="0" marR="0" marB="0" marT="0">
                    <a:lnL w="9525">
                      <a:solidFill>
                        <a:srgbClr val="E9D47B"/>
                      </a:solidFill>
                      <a:prstDash val="solid"/>
                    </a:lnL>
                    <a:lnR w="9525">
                      <a:solidFill>
                        <a:srgbClr val="E9D47B"/>
                      </a:solidFill>
                      <a:prstDash val="solid"/>
                    </a:lnR>
                    <a:lnT w="9525">
                      <a:solidFill>
                        <a:srgbClr val="E9D47B"/>
                      </a:solidFill>
                      <a:prstDash val="solid"/>
                    </a:lnT>
                    <a:lnB w="9525">
                      <a:solidFill>
                        <a:srgbClr val="E9D47B"/>
                      </a:solidFill>
                      <a:prstDash val="solid"/>
                    </a:lnB>
                    <a:solidFill>
                      <a:srgbClr val="FFE7FF"/>
                    </a:solidFill>
                  </a:tcPr>
                </a:tc>
              </a:tr>
              <a:tr h="370205">
                <a:tc>
                  <a:txBody>
                    <a:bodyPr/>
                    <a:lstStyle/>
                    <a:p>
                      <a:pPr>
                        <a:lnSpc>
                          <a:spcPct val="100000"/>
                        </a:lnSpc>
                      </a:pPr>
                      <a:endParaRPr sz="2300">
                        <a:latin typeface="Times New Roman"/>
                        <a:cs typeface="Times New Roman"/>
                      </a:endParaRPr>
                    </a:p>
                  </a:txBody>
                  <a:tcPr marL="0" marR="0" marB="0" marT="0">
                    <a:lnL w="9525">
                      <a:solidFill>
                        <a:srgbClr val="E9D47B"/>
                      </a:solidFill>
                      <a:prstDash val="solid"/>
                    </a:lnL>
                    <a:lnR w="9525">
                      <a:solidFill>
                        <a:srgbClr val="E9D47B"/>
                      </a:solidFill>
                      <a:prstDash val="solid"/>
                    </a:lnR>
                    <a:lnT w="9525">
                      <a:solidFill>
                        <a:srgbClr val="E9D47B"/>
                      </a:solidFill>
                      <a:prstDash val="solid"/>
                    </a:lnT>
                    <a:lnB w="9525">
                      <a:solidFill>
                        <a:srgbClr val="E9D47B"/>
                      </a:solidFill>
                      <a:prstDash val="solid"/>
                    </a:lnB>
                  </a:tcPr>
                </a:tc>
              </a:tr>
              <a:tr h="370840">
                <a:tc>
                  <a:txBody>
                    <a:bodyPr/>
                    <a:lstStyle/>
                    <a:p>
                      <a:pPr>
                        <a:lnSpc>
                          <a:spcPct val="100000"/>
                        </a:lnSpc>
                      </a:pPr>
                      <a:endParaRPr sz="2300">
                        <a:latin typeface="Times New Roman"/>
                        <a:cs typeface="Times New Roman"/>
                      </a:endParaRPr>
                    </a:p>
                  </a:txBody>
                  <a:tcPr marL="0" marR="0" marB="0" marT="0">
                    <a:lnL w="9525">
                      <a:solidFill>
                        <a:srgbClr val="E9D47B"/>
                      </a:solidFill>
                      <a:prstDash val="solid"/>
                    </a:lnL>
                    <a:lnR w="9525">
                      <a:solidFill>
                        <a:srgbClr val="E9D47B"/>
                      </a:solidFill>
                      <a:prstDash val="solid"/>
                    </a:lnR>
                    <a:lnT w="9525">
                      <a:solidFill>
                        <a:srgbClr val="E9D47B"/>
                      </a:solidFill>
                      <a:prstDash val="solid"/>
                    </a:lnT>
                    <a:lnB w="9525">
                      <a:solidFill>
                        <a:srgbClr val="E9D47B"/>
                      </a:solidFill>
                      <a:prstDash val="solid"/>
                    </a:lnB>
                  </a:tcPr>
                </a:tc>
              </a:tr>
              <a:tr h="370840">
                <a:tc>
                  <a:txBody>
                    <a:bodyPr/>
                    <a:lstStyle/>
                    <a:p>
                      <a:pPr marL="92075">
                        <a:lnSpc>
                          <a:spcPct val="100000"/>
                        </a:lnSpc>
                        <a:spcBef>
                          <a:spcPts val="359"/>
                        </a:spcBef>
                      </a:pPr>
                      <a:r>
                        <a:rPr dirty="0" sz="1800" spc="-20">
                          <a:solidFill>
                            <a:srgbClr val="FF0000"/>
                          </a:solidFill>
                          <a:latin typeface="Tahoma"/>
                          <a:cs typeface="Tahoma"/>
                        </a:rPr>
                        <a:t>MUL1</a:t>
                      </a:r>
                      <a:endParaRPr sz="1800">
                        <a:latin typeface="Tahoma"/>
                        <a:cs typeface="Tahoma"/>
                      </a:endParaRPr>
                    </a:p>
                  </a:txBody>
                  <a:tcPr marL="0" marR="0" marB="0" marT="45719">
                    <a:lnL w="9525">
                      <a:solidFill>
                        <a:srgbClr val="E9D47B"/>
                      </a:solidFill>
                      <a:prstDash val="solid"/>
                    </a:lnL>
                    <a:lnR w="9525">
                      <a:solidFill>
                        <a:srgbClr val="E9D47B"/>
                      </a:solidFill>
                      <a:prstDash val="solid"/>
                    </a:lnR>
                    <a:lnT w="9525">
                      <a:solidFill>
                        <a:srgbClr val="E9D47B"/>
                      </a:solidFill>
                      <a:prstDash val="solid"/>
                    </a:lnT>
                    <a:lnB w="9525">
                      <a:solidFill>
                        <a:srgbClr val="E9D47B"/>
                      </a:solidFill>
                      <a:prstDash val="solid"/>
                    </a:lnB>
                  </a:tcPr>
                </a:tc>
              </a:tr>
            </a:tbl>
          </a:graphicData>
        </a:graphic>
      </p:graphicFrame>
      <p:sp>
        <p:nvSpPr>
          <p:cNvPr id="26" name="object 26" descr=""/>
          <p:cNvSpPr txBox="1"/>
          <p:nvPr/>
        </p:nvSpPr>
        <p:spPr>
          <a:xfrm>
            <a:off x="8077581" y="3983812"/>
            <a:ext cx="1854200" cy="391795"/>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浮点寄存器组</a:t>
            </a:r>
            <a:endParaRPr sz="2400">
              <a:latin typeface="黑体"/>
              <a:cs typeface="黑体"/>
            </a:endParaRPr>
          </a:p>
        </p:txBody>
      </p:sp>
      <p:sp>
        <p:nvSpPr>
          <p:cNvPr id="27" name="object 27" descr=""/>
          <p:cNvSpPr txBox="1"/>
          <p:nvPr/>
        </p:nvSpPr>
        <p:spPr>
          <a:xfrm>
            <a:off x="7717281" y="5435600"/>
            <a:ext cx="35052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Tahoma"/>
                <a:cs typeface="Tahoma"/>
              </a:rPr>
              <a:t>F4</a:t>
            </a:r>
            <a:endParaRPr sz="2400">
              <a:latin typeface="Tahoma"/>
              <a:cs typeface="Tahoma"/>
            </a:endParaRPr>
          </a:p>
        </p:txBody>
      </p:sp>
      <p:sp>
        <p:nvSpPr>
          <p:cNvPr id="28" name="object 28" descr=""/>
          <p:cNvSpPr txBox="1"/>
          <p:nvPr/>
        </p:nvSpPr>
        <p:spPr>
          <a:xfrm>
            <a:off x="9843643" y="5491378"/>
            <a:ext cx="40894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Tahoma"/>
                <a:cs typeface="Tahoma"/>
              </a:rPr>
              <a:t>Q4</a:t>
            </a:r>
            <a:endParaRPr sz="2400">
              <a:latin typeface="Tahoma"/>
              <a:cs typeface="Tahoma"/>
            </a:endParaRPr>
          </a:p>
        </p:txBody>
      </p:sp>
      <p:sp>
        <p:nvSpPr>
          <p:cNvPr id="29" name="object 29" descr=""/>
          <p:cNvSpPr txBox="1"/>
          <p:nvPr/>
        </p:nvSpPr>
        <p:spPr>
          <a:xfrm>
            <a:off x="10568431" y="3369640"/>
            <a:ext cx="1244600" cy="391795"/>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寄存器状</a:t>
            </a:r>
            <a:endParaRPr sz="2400">
              <a:latin typeface="黑体"/>
              <a:cs typeface="黑体"/>
            </a:endParaRPr>
          </a:p>
        </p:txBody>
      </p:sp>
      <p:sp>
        <p:nvSpPr>
          <p:cNvPr id="30" name="object 30" descr=""/>
          <p:cNvSpPr txBox="1"/>
          <p:nvPr/>
        </p:nvSpPr>
        <p:spPr>
          <a:xfrm>
            <a:off x="10568431" y="3918966"/>
            <a:ext cx="92265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态组</a:t>
            </a:r>
            <a:r>
              <a:rPr dirty="0" sz="2400" spc="-25">
                <a:solidFill>
                  <a:srgbClr val="40458B"/>
                </a:solidFill>
                <a:latin typeface="Tahoma"/>
                <a:cs typeface="Tahoma"/>
              </a:rPr>
              <a:t>Qi</a:t>
            </a:r>
            <a:endParaRPr sz="2400">
              <a:latin typeface="Tahoma"/>
              <a:cs typeface="Tahoma"/>
            </a:endParaRPr>
          </a:p>
        </p:txBody>
      </p:sp>
      <p:sp>
        <p:nvSpPr>
          <p:cNvPr id="31" name="object 31" descr=""/>
          <p:cNvSpPr txBox="1"/>
          <p:nvPr/>
        </p:nvSpPr>
        <p:spPr>
          <a:xfrm>
            <a:off x="558190" y="5466689"/>
            <a:ext cx="939800" cy="391795"/>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黑体"/>
                <a:cs typeface="黑体"/>
              </a:rPr>
              <a:t>保留站</a:t>
            </a:r>
            <a:endParaRPr sz="2400">
              <a:latin typeface="黑体"/>
              <a:cs typeface="黑体"/>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78/175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74777" y="893775"/>
            <a:ext cx="2394585" cy="391795"/>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001F5F"/>
                </a:solidFill>
                <a:latin typeface="Tahoma"/>
                <a:cs typeface="Tahoma"/>
              </a:rPr>
              <a:t>WAW</a:t>
            </a:r>
            <a:r>
              <a:rPr dirty="0" sz="2400" spc="-30" b="1">
                <a:solidFill>
                  <a:srgbClr val="001F5F"/>
                </a:solidFill>
                <a:latin typeface="黑体"/>
                <a:cs typeface="黑体"/>
              </a:rPr>
              <a:t>冲突的解决</a:t>
            </a:r>
            <a:endParaRPr sz="2400">
              <a:latin typeface="黑体"/>
              <a:cs typeface="黑体"/>
            </a:endParaRPr>
          </a:p>
        </p:txBody>
      </p:sp>
      <p:sp>
        <p:nvSpPr>
          <p:cNvPr id="11" name="object 11" descr=""/>
          <p:cNvSpPr txBox="1"/>
          <p:nvPr/>
        </p:nvSpPr>
        <p:spPr>
          <a:xfrm>
            <a:off x="-13614" y="1369821"/>
            <a:ext cx="4029710" cy="391160"/>
          </a:xfrm>
          <a:prstGeom prst="rect">
            <a:avLst/>
          </a:prstGeom>
        </p:spPr>
        <p:txBody>
          <a:bodyPr wrap="square" lIns="0" tIns="12700" rIns="0" bIns="0" rtlCol="0" vert="horz">
            <a:spAutoFit/>
          </a:bodyPr>
          <a:lstStyle/>
          <a:p>
            <a:pPr marL="354965" indent="-342265">
              <a:lnSpc>
                <a:spcPct val="100000"/>
              </a:lnSpc>
              <a:spcBef>
                <a:spcPts val="100"/>
              </a:spcBef>
              <a:buClr>
                <a:srgbClr val="40458B"/>
              </a:buClr>
              <a:buFont typeface="Wingdings"/>
              <a:buChar char=""/>
              <a:tabLst>
                <a:tab pos="354965" algn="l"/>
              </a:tabLst>
            </a:pPr>
            <a:r>
              <a:rPr dirty="0" sz="2400">
                <a:solidFill>
                  <a:srgbClr val="001F5F"/>
                </a:solidFill>
                <a:latin typeface="黑体"/>
                <a:cs typeface="黑体"/>
              </a:rPr>
              <a:t>本质：乱序执行，按序写</a:t>
            </a:r>
            <a:r>
              <a:rPr dirty="0" sz="2400" spc="-50">
                <a:solidFill>
                  <a:srgbClr val="001F5F"/>
                </a:solidFill>
                <a:latin typeface="黑体"/>
                <a:cs typeface="黑体"/>
              </a:rPr>
              <a:t></a:t>
            </a:r>
            <a:endParaRPr sz="2400">
              <a:latin typeface="黑体"/>
              <a:cs typeface="黑体"/>
            </a:endParaRPr>
          </a:p>
        </p:txBody>
      </p:sp>
      <p:pic>
        <p:nvPicPr>
          <p:cNvPr id="12" name="object 12" descr=""/>
          <p:cNvPicPr/>
          <p:nvPr/>
        </p:nvPicPr>
        <p:blipFill>
          <a:blip r:embed="rId2" cstate="print"/>
          <a:stretch>
            <a:fillRect/>
          </a:stretch>
        </p:blipFill>
        <p:spPr>
          <a:xfrm>
            <a:off x="3729888" y="1455547"/>
            <a:ext cx="238125" cy="250825"/>
          </a:xfrm>
          <a:prstGeom prst="rect">
            <a:avLst/>
          </a:prstGeom>
        </p:spPr>
      </p:pic>
      <p:sp>
        <p:nvSpPr>
          <p:cNvPr id="13" name="object 13" descr=""/>
          <p:cNvSpPr txBox="1"/>
          <p:nvPr/>
        </p:nvSpPr>
        <p:spPr>
          <a:xfrm>
            <a:off x="-13614" y="1845309"/>
            <a:ext cx="4335145" cy="391160"/>
          </a:xfrm>
          <a:prstGeom prst="rect">
            <a:avLst/>
          </a:prstGeom>
        </p:spPr>
        <p:txBody>
          <a:bodyPr wrap="square" lIns="0" tIns="12700" rIns="0" bIns="0" rtlCol="0" vert="horz">
            <a:spAutoFit/>
          </a:bodyPr>
          <a:lstStyle/>
          <a:p>
            <a:pPr marL="354965" indent="-342265">
              <a:lnSpc>
                <a:spcPct val="100000"/>
              </a:lnSpc>
              <a:spcBef>
                <a:spcPts val="100"/>
              </a:spcBef>
              <a:buClr>
                <a:srgbClr val="40458B"/>
              </a:buClr>
              <a:buFont typeface="Wingdings"/>
              <a:buChar char=""/>
              <a:tabLst>
                <a:tab pos="354965" algn="l"/>
              </a:tabLst>
            </a:pPr>
            <a:r>
              <a:rPr dirty="0" sz="2400" spc="-5">
                <a:solidFill>
                  <a:srgbClr val="001F5F"/>
                </a:solidFill>
                <a:latin typeface="黑体"/>
                <a:cs typeface="黑体"/>
              </a:rPr>
              <a:t>假设整个过程不存在结构冲突</a:t>
            </a:r>
            <a:endParaRPr sz="2400">
              <a:latin typeface="黑体"/>
              <a:cs typeface="黑体"/>
            </a:endParaRPr>
          </a:p>
        </p:txBody>
      </p:sp>
      <p:sp>
        <p:nvSpPr>
          <p:cNvPr id="14" name="object 14" descr=""/>
          <p:cNvSpPr txBox="1"/>
          <p:nvPr/>
        </p:nvSpPr>
        <p:spPr>
          <a:xfrm>
            <a:off x="-13614" y="2320493"/>
            <a:ext cx="978535" cy="391795"/>
          </a:xfrm>
          <a:prstGeom prst="rect">
            <a:avLst/>
          </a:prstGeom>
        </p:spPr>
        <p:txBody>
          <a:bodyPr wrap="square" lIns="0" tIns="12700" rIns="0" bIns="0" rtlCol="0" vert="horz">
            <a:spAutoFit/>
          </a:bodyPr>
          <a:lstStyle/>
          <a:p>
            <a:pPr marL="354965" indent="-342265">
              <a:lnSpc>
                <a:spcPct val="100000"/>
              </a:lnSpc>
              <a:spcBef>
                <a:spcPts val="100"/>
              </a:spcBef>
              <a:buClr>
                <a:srgbClr val="40458B"/>
              </a:buClr>
              <a:buFont typeface="Wingdings"/>
              <a:buChar char=""/>
              <a:tabLst>
                <a:tab pos="354965" algn="l"/>
              </a:tabLst>
            </a:pPr>
            <a:r>
              <a:rPr dirty="0" sz="2400" spc="-25">
                <a:solidFill>
                  <a:srgbClr val="001F5F"/>
                </a:solidFill>
                <a:latin typeface="黑体"/>
                <a:cs typeface="黑体"/>
              </a:rPr>
              <a:t>过程</a:t>
            </a:r>
            <a:endParaRPr sz="2400">
              <a:latin typeface="黑体"/>
              <a:cs typeface="黑体"/>
            </a:endParaRPr>
          </a:p>
        </p:txBody>
      </p:sp>
      <p:sp>
        <p:nvSpPr>
          <p:cNvPr id="15" name="object 15" descr=""/>
          <p:cNvSpPr txBox="1"/>
          <p:nvPr/>
        </p:nvSpPr>
        <p:spPr>
          <a:xfrm>
            <a:off x="-13614" y="2796666"/>
            <a:ext cx="806386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1F5F"/>
                </a:solidFill>
                <a:latin typeface="黑体"/>
                <a:cs typeface="黑体"/>
              </a:rPr>
              <a:t>2</a:t>
            </a:r>
            <a:r>
              <a:rPr dirty="0" sz="2400" spc="-5">
                <a:solidFill>
                  <a:srgbClr val="001F5F"/>
                </a:solidFill>
                <a:latin typeface="黑体"/>
                <a:cs typeface="黑体"/>
              </a:rPr>
              <a:t>、在“写结果”阶段通过</a:t>
            </a:r>
            <a:r>
              <a:rPr dirty="0" sz="2400" spc="-10">
                <a:solidFill>
                  <a:srgbClr val="001F5F"/>
                </a:solidFill>
                <a:latin typeface="Tahoma"/>
                <a:cs typeface="Tahoma"/>
              </a:rPr>
              <a:t>CDB</a:t>
            </a:r>
            <a:r>
              <a:rPr dirty="0" sz="2400" spc="-5">
                <a:solidFill>
                  <a:srgbClr val="001F5F"/>
                </a:solidFill>
                <a:latin typeface="黑体"/>
                <a:cs typeface="黑体"/>
              </a:rPr>
              <a:t>广播和状态控制来保证顺序。</a:t>
            </a:r>
            <a:endParaRPr sz="2400">
              <a:latin typeface="黑体"/>
              <a:cs typeface="黑体"/>
            </a:endParaRPr>
          </a:p>
        </p:txBody>
      </p:sp>
      <p:sp>
        <p:nvSpPr>
          <p:cNvPr id="16" name="object 16" descr=""/>
          <p:cNvSpPr txBox="1"/>
          <p:nvPr/>
        </p:nvSpPr>
        <p:spPr>
          <a:xfrm>
            <a:off x="-13614" y="3235919"/>
            <a:ext cx="8882380" cy="2513330"/>
          </a:xfrm>
          <a:prstGeom prst="rect">
            <a:avLst/>
          </a:prstGeom>
        </p:spPr>
        <p:txBody>
          <a:bodyPr wrap="square" lIns="0" tIns="12065" rIns="0" bIns="0" rtlCol="0" vert="horz">
            <a:spAutoFit/>
          </a:bodyPr>
          <a:lstStyle/>
          <a:p>
            <a:pPr algn="just" marL="12700" marR="5080" indent="457200">
              <a:lnSpc>
                <a:spcPct val="110000"/>
              </a:lnSpc>
              <a:spcBef>
                <a:spcPts val="95"/>
              </a:spcBef>
            </a:pPr>
            <a:r>
              <a:rPr dirty="0" sz="2400" spc="-10">
                <a:solidFill>
                  <a:srgbClr val="001F5F"/>
                </a:solidFill>
                <a:latin typeface="黑体"/>
                <a:cs typeface="黑体"/>
              </a:rPr>
              <a:t>ADD</a:t>
            </a:r>
            <a:r>
              <a:rPr dirty="0" sz="2400">
                <a:solidFill>
                  <a:srgbClr val="001F5F"/>
                </a:solidFill>
                <a:latin typeface="黑体"/>
                <a:cs typeface="黑体"/>
              </a:rPr>
              <a:t>指令要流出、需要读F4的指令，则会连接到 Mult1</a:t>
            </a:r>
            <a:r>
              <a:rPr dirty="0" sz="2400" spc="-15">
                <a:solidFill>
                  <a:srgbClr val="001F5F"/>
                </a:solidFill>
                <a:latin typeface="黑体"/>
                <a:cs typeface="黑体"/>
              </a:rPr>
              <a:t> 来等待</a:t>
            </a:r>
            <a:r>
              <a:rPr dirty="0" sz="2400" spc="-10">
                <a:solidFill>
                  <a:srgbClr val="001F5F"/>
                </a:solidFill>
                <a:latin typeface="黑体"/>
                <a:cs typeface="黑体"/>
              </a:rPr>
              <a:t>结果，</a:t>
            </a:r>
            <a:r>
              <a:rPr dirty="0" sz="2400">
                <a:solidFill>
                  <a:srgbClr val="001F5F"/>
                </a:solidFill>
                <a:latin typeface="Tahoma"/>
                <a:cs typeface="Tahoma"/>
              </a:rPr>
              <a:t>SUB </a:t>
            </a:r>
            <a:r>
              <a:rPr dirty="0" sz="2400" spc="-10">
                <a:solidFill>
                  <a:srgbClr val="001F5F"/>
                </a:solidFill>
                <a:latin typeface="黑体"/>
                <a:cs typeface="黑体"/>
              </a:rPr>
              <a:t>指令（在</a:t>
            </a:r>
            <a:r>
              <a:rPr dirty="0" sz="2400" spc="-10">
                <a:solidFill>
                  <a:srgbClr val="001F5F"/>
                </a:solidFill>
                <a:latin typeface="Tahoma"/>
                <a:cs typeface="Tahoma"/>
              </a:rPr>
              <a:t>SUB1</a:t>
            </a:r>
            <a:r>
              <a:rPr dirty="0" sz="2400" spc="-10">
                <a:solidFill>
                  <a:srgbClr val="001F5F"/>
                </a:solidFill>
                <a:latin typeface="黑体"/>
                <a:cs typeface="黑体"/>
              </a:rPr>
              <a:t>中）仍然会继续执行</a:t>
            </a:r>
            <a:r>
              <a:rPr dirty="0" sz="2400">
                <a:solidFill>
                  <a:srgbClr val="001F5F"/>
                </a:solidFill>
                <a:latin typeface="Tahoma"/>
                <a:cs typeface="Tahoma"/>
              </a:rPr>
              <a:t>,</a:t>
            </a:r>
            <a:r>
              <a:rPr dirty="0" sz="2400" spc="-15">
                <a:solidFill>
                  <a:srgbClr val="001F5F"/>
                </a:solidFill>
                <a:latin typeface="黑体"/>
                <a:cs typeface="黑体"/>
              </a:rPr>
              <a:t>执行完毕时，其结</a:t>
            </a:r>
            <a:r>
              <a:rPr dirty="0" sz="2400">
                <a:solidFill>
                  <a:srgbClr val="001F5F"/>
                </a:solidFill>
                <a:latin typeface="黑体"/>
                <a:cs typeface="黑体"/>
              </a:rPr>
              <a:t>果</a:t>
            </a:r>
            <a:r>
              <a:rPr dirty="0" sz="2400" spc="-10">
                <a:solidFill>
                  <a:srgbClr val="001F5F"/>
                </a:solidFill>
                <a:latin typeface="Tahoma"/>
                <a:cs typeface="Tahoma"/>
              </a:rPr>
              <a:t>CDB</a:t>
            </a:r>
            <a:r>
              <a:rPr dirty="0" sz="2400">
                <a:solidFill>
                  <a:srgbClr val="001F5F"/>
                </a:solidFill>
                <a:latin typeface="黑体"/>
                <a:cs typeface="黑体"/>
              </a:rPr>
              <a:t>广播，但此时发现</a:t>
            </a:r>
            <a:r>
              <a:rPr dirty="0" sz="2400" spc="-25">
                <a:solidFill>
                  <a:srgbClr val="001F5F"/>
                </a:solidFill>
                <a:latin typeface="Tahoma"/>
                <a:cs typeface="Tahoma"/>
              </a:rPr>
              <a:t>F4</a:t>
            </a:r>
            <a:r>
              <a:rPr dirty="0" sz="2400">
                <a:solidFill>
                  <a:srgbClr val="001F5F"/>
                </a:solidFill>
                <a:latin typeface="黑体"/>
                <a:cs typeface="黑体"/>
              </a:rPr>
              <a:t>属于</a:t>
            </a:r>
            <a:r>
              <a:rPr dirty="0" sz="2400" spc="-25">
                <a:solidFill>
                  <a:srgbClr val="001F5F"/>
                </a:solidFill>
                <a:latin typeface="Tahoma"/>
                <a:cs typeface="Tahoma"/>
              </a:rPr>
              <a:t>MUL1</a:t>
            </a:r>
            <a:r>
              <a:rPr dirty="0" sz="2400">
                <a:solidFill>
                  <a:srgbClr val="001F5F"/>
                </a:solidFill>
                <a:latin typeface="黑体"/>
                <a:cs typeface="黑体"/>
              </a:rPr>
              <a:t>而不是自己的</a:t>
            </a:r>
            <a:r>
              <a:rPr dirty="0" sz="2400" spc="-10">
                <a:solidFill>
                  <a:srgbClr val="001F5F"/>
                </a:solidFill>
                <a:latin typeface="Tahoma"/>
                <a:cs typeface="Tahoma"/>
              </a:rPr>
              <a:t>SUB1,</a:t>
            </a:r>
            <a:r>
              <a:rPr dirty="0" sz="2400" spc="-15">
                <a:solidFill>
                  <a:srgbClr val="001F5F"/>
                </a:solidFill>
                <a:latin typeface="黑体"/>
                <a:cs typeface="黑体"/>
              </a:rPr>
              <a:t>其结果不</a:t>
            </a:r>
            <a:r>
              <a:rPr dirty="0" sz="2400">
                <a:solidFill>
                  <a:srgbClr val="001F5F"/>
                </a:solidFill>
                <a:latin typeface="黑体"/>
                <a:cs typeface="黑体"/>
              </a:rPr>
              <a:t>会写入</a:t>
            </a:r>
            <a:r>
              <a:rPr dirty="0" sz="2400" spc="-20">
                <a:solidFill>
                  <a:srgbClr val="001F5F"/>
                </a:solidFill>
                <a:latin typeface="Tahoma"/>
                <a:cs typeface="Tahoma"/>
              </a:rPr>
              <a:t>F4</a:t>
            </a:r>
            <a:r>
              <a:rPr dirty="0" sz="2400" spc="-10">
                <a:solidFill>
                  <a:srgbClr val="001F5F"/>
                </a:solidFill>
                <a:latin typeface="黑体"/>
                <a:cs typeface="黑体"/>
              </a:rPr>
              <a:t>，只能被传递给等待</a:t>
            </a:r>
            <a:r>
              <a:rPr dirty="0" sz="2400" spc="-25">
                <a:solidFill>
                  <a:srgbClr val="001F5F"/>
                </a:solidFill>
                <a:latin typeface="Tahoma"/>
                <a:cs typeface="Tahoma"/>
              </a:rPr>
              <a:t>SUB1</a:t>
            </a:r>
            <a:r>
              <a:rPr dirty="0" sz="2400">
                <a:solidFill>
                  <a:srgbClr val="001F5F"/>
                </a:solidFill>
                <a:latin typeface="黑体"/>
                <a:cs typeface="黑体"/>
              </a:rPr>
              <a:t>结果的指令（若有的话</a:t>
            </a:r>
            <a:r>
              <a:rPr dirty="0" sz="2400" spc="-50">
                <a:solidFill>
                  <a:srgbClr val="001F5F"/>
                </a:solidFill>
                <a:latin typeface="黑体"/>
                <a:cs typeface="黑体"/>
              </a:rPr>
              <a:t>）</a:t>
            </a:r>
            <a:endParaRPr sz="2400">
              <a:latin typeface="黑体"/>
              <a:cs typeface="黑体"/>
            </a:endParaRPr>
          </a:p>
          <a:p>
            <a:pPr marL="469900">
              <a:lnSpc>
                <a:spcPct val="100000"/>
              </a:lnSpc>
              <a:spcBef>
                <a:spcPts val="865"/>
              </a:spcBef>
            </a:pPr>
            <a:r>
              <a:rPr dirty="0" sz="2400">
                <a:solidFill>
                  <a:srgbClr val="001F5F"/>
                </a:solidFill>
                <a:latin typeface="黑体"/>
                <a:cs typeface="黑体"/>
              </a:rPr>
              <a:t>随后</a:t>
            </a:r>
            <a:r>
              <a:rPr dirty="0" sz="2400" spc="-10">
                <a:solidFill>
                  <a:srgbClr val="001F5F"/>
                </a:solidFill>
                <a:latin typeface="黑体"/>
                <a:cs typeface="黑体"/>
              </a:rPr>
              <a:t>，NUL执行完毕，CDB广播其结果时，发现寄存器状态Q4</a:t>
            </a:r>
            <a:r>
              <a:rPr dirty="0" sz="2400" spc="-50">
                <a:solidFill>
                  <a:srgbClr val="001F5F"/>
                </a:solidFill>
                <a:latin typeface="黑体"/>
                <a:cs typeface="黑体"/>
              </a:rPr>
              <a:t>显</a:t>
            </a:r>
            <a:endParaRPr sz="2400">
              <a:latin typeface="黑体"/>
              <a:cs typeface="黑体"/>
            </a:endParaRPr>
          </a:p>
          <a:p>
            <a:pPr marL="12700">
              <a:lnSpc>
                <a:spcPct val="100000"/>
              </a:lnSpc>
              <a:spcBef>
                <a:spcPts val="290"/>
              </a:spcBef>
            </a:pPr>
            <a:r>
              <a:rPr dirty="0" sz="2400">
                <a:solidFill>
                  <a:srgbClr val="001F5F"/>
                </a:solidFill>
                <a:latin typeface="黑体"/>
                <a:cs typeface="黑体"/>
              </a:rPr>
              <a:t>示的是自己的MUL1，因此将结果正式写入</a:t>
            </a:r>
            <a:r>
              <a:rPr dirty="0" sz="2400" spc="-10">
                <a:solidFill>
                  <a:srgbClr val="001F5F"/>
                </a:solidFill>
                <a:latin typeface="黑体"/>
                <a:cs typeface="黑体"/>
              </a:rPr>
              <a:t>F4</a:t>
            </a:r>
            <a:r>
              <a:rPr dirty="0" sz="2400" spc="-15">
                <a:solidFill>
                  <a:srgbClr val="001F5F"/>
                </a:solidFill>
                <a:latin typeface="黑体"/>
                <a:cs typeface="黑体"/>
              </a:rPr>
              <a:t>，并通知其他需要</a:t>
            </a:r>
            <a:endParaRPr sz="2400">
              <a:latin typeface="黑体"/>
              <a:cs typeface="黑体"/>
            </a:endParaRPr>
          </a:p>
        </p:txBody>
      </p:sp>
      <p:sp>
        <p:nvSpPr>
          <p:cNvPr id="17" name="object 17" descr=""/>
          <p:cNvSpPr txBox="1"/>
          <p:nvPr/>
        </p:nvSpPr>
        <p:spPr>
          <a:xfrm>
            <a:off x="-13614" y="5759907"/>
            <a:ext cx="200723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001F5F"/>
                </a:solidFill>
                <a:latin typeface="黑体"/>
                <a:cs typeface="黑体"/>
              </a:rPr>
              <a:t>MULT1</a:t>
            </a:r>
            <a:r>
              <a:rPr dirty="0" sz="2400" spc="-15">
                <a:solidFill>
                  <a:srgbClr val="001F5F"/>
                </a:solidFill>
                <a:latin typeface="黑体"/>
                <a:cs typeface="黑体"/>
              </a:rPr>
              <a:t>的指令。</a:t>
            </a:r>
            <a:endParaRPr sz="2400">
              <a:latin typeface="黑体"/>
              <a:cs typeface="黑体"/>
            </a:endParaRPr>
          </a:p>
        </p:txBody>
      </p:sp>
      <p:sp>
        <p:nvSpPr>
          <p:cNvPr id="18" name="object 18" descr=""/>
          <p:cNvSpPr txBox="1"/>
          <p:nvPr/>
        </p:nvSpPr>
        <p:spPr>
          <a:xfrm>
            <a:off x="5054853" y="741760"/>
            <a:ext cx="2616835" cy="1672589"/>
          </a:xfrm>
          <a:prstGeom prst="rect">
            <a:avLst/>
          </a:prstGeom>
        </p:spPr>
        <p:txBody>
          <a:bodyPr wrap="square" lIns="0" tIns="12700" rIns="0" bIns="0" rtlCol="0" vert="horz">
            <a:spAutoFit/>
          </a:bodyPr>
          <a:lstStyle/>
          <a:p>
            <a:pPr marL="12700" marR="5080">
              <a:lnSpc>
                <a:spcPct val="150100"/>
              </a:lnSpc>
              <a:spcBef>
                <a:spcPts val="100"/>
              </a:spcBef>
              <a:tabLst>
                <a:tab pos="1048385" algn="l"/>
                <a:tab pos="1088390" algn="l"/>
              </a:tabLst>
            </a:pPr>
            <a:r>
              <a:rPr dirty="0" sz="2400" spc="-10">
                <a:solidFill>
                  <a:srgbClr val="40458B"/>
                </a:solidFill>
                <a:latin typeface="Tahoma"/>
                <a:cs typeface="Tahoma"/>
              </a:rPr>
              <a:t>SUB.D</a:t>
            </a:r>
            <a:r>
              <a:rPr dirty="0" sz="2400">
                <a:solidFill>
                  <a:srgbClr val="40458B"/>
                </a:solidFill>
                <a:latin typeface="Tahoma"/>
                <a:cs typeface="Tahoma"/>
              </a:rPr>
              <a:t>	</a:t>
            </a:r>
            <a:r>
              <a:rPr dirty="0" sz="2400">
                <a:solidFill>
                  <a:srgbClr val="FF0000"/>
                </a:solidFill>
                <a:latin typeface="Tahoma"/>
                <a:cs typeface="Tahoma"/>
              </a:rPr>
              <a:t>F4</a:t>
            </a:r>
            <a:r>
              <a:rPr dirty="0" sz="2400">
                <a:solidFill>
                  <a:srgbClr val="40458B"/>
                </a:solidFill>
                <a:latin typeface="Tahoma"/>
                <a:cs typeface="Tahoma"/>
              </a:rPr>
              <a:t>,</a:t>
            </a:r>
            <a:r>
              <a:rPr dirty="0" sz="2400" spc="-35">
                <a:solidFill>
                  <a:srgbClr val="40458B"/>
                </a:solidFill>
                <a:latin typeface="Tahoma"/>
                <a:cs typeface="Tahoma"/>
              </a:rPr>
              <a:t> </a:t>
            </a:r>
            <a:r>
              <a:rPr dirty="0" sz="2400">
                <a:solidFill>
                  <a:srgbClr val="40458B"/>
                </a:solidFill>
                <a:latin typeface="Tahoma"/>
                <a:cs typeface="Tahoma"/>
              </a:rPr>
              <a:t>F2,</a:t>
            </a:r>
            <a:r>
              <a:rPr dirty="0" sz="2400" spc="-25">
                <a:solidFill>
                  <a:srgbClr val="40458B"/>
                </a:solidFill>
                <a:latin typeface="Tahoma"/>
                <a:cs typeface="Tahoma"/>
              </a:rPr>
              <a:t> F6 </a:t>
            </a:r>
            <a:r>
              <a:rPr dirty="0" sz="2400" spc="-10">
                <a:solidFill>
                  <a:srgbClr val="40458B"/>
                </a:solidFill>
                <a:latin typeface="Tahoma"/>
                <a:cs typeface="Tahoma"/>
              </a:rPr>
              <a:t>MUL.D</a:t>
            </a:r>
            <a:r>
              <a:rPr dirty="0" sz="2400">
                <a:solidFill>
                  <a:srgbClr val="40458B"/>
                </a:solidFill>
                <a:latin typeface="Tahoma"/>
                <a:cs typeface="Tahoma"/>
              </a:rPr>
              <a:t>		</a:t>
            </a:r>
            <a:r>
              <a:rPr dirty="0" sz="2400" spc="-745">
                <a:solidFill>
                  <a:srgbClr val="40458B"/>
                </a:solidFill>
                <a:latin typeface="Tahoma"/>
                <a:cs typeface="Tahoma"/>
              </a:rPr>
              <a:t> </a:t>
            </a:r>
            <a:r>
              <a:rPr dirty="0" sz="2400">
                <a:solidFill>
                  <a:srgbClr val="FF0000"/>
                </a:solidFill>
                <a:latin typeface="Tahoma"/>
                <a:cs typeface="Tahoma"/>
              </a:rPr>
              <a:t>F4</a:t>
            </a:r>
            <a:r>
              <a:rPr dirty="0" sz="2400">
                <a:solidFill>
                  <a:srgbClr val="40458B"/>
                </a:solidFill>
                <a:latin typeface="Tahoma"/>
                <a:cs typeface="Tahoma"/>
              </a:rPr>
              <a:t>,</a:t>
            </a:r>
            <a:r>
              <a:rPr dirty="0" sz="2400" spc="-50">
                <a:solidFill>
                  <a:srgbClr val="40458B"/>
                </a:solidFill>
                <a:latin typeface="Tahoma"/>
                <a:cs typeface="Tahoma"/>
              </a:rPr>
              <a:t> </a:t>
            </a:r>
            <a:r>
              <a:rPr dirty="0" sz="2400">
                <a:solidFill>
                  <a:srgbClr val="40458B"/>
                </a:solidFill>
                <a:latin typeface="Tahoma"/>
                <a:cs typeface="Tahoma"/>
              </a:rPr>
              <a:t>F8,</a:t>
            </a:r>
            <a:r>
              <a:rPr dirty="0" sz="2400" spc="-55">
                <a:solidFill>
                  <a:srgbClr val="40458B"/>
                </a:solidFill>
                <a:latin typeface="Tahoma"/>
                <a:cs typeface="Tahoma"/>
              </a:rPr>
              <a:t> </a:t>
            </a:r>
            <a:r>
              <a:rPr dirty="0" sz="2400" spc="-25">
                <a:solidFill>
                  <a:srgbClr val="40458B"/>
                </a:solidFill>
                <a:latin typeface="Tahoma"/>
                <a:cs typeface="Tahoma"/>
              </a:rPr>
              <a:t>F10 </a:t>
            </a:r>
            <a:r>
              <a:rPr dirty="0" sz="2400" spc="-10">
                <a:solidFill>
                  <a:srgbClr val="40458B"/>
                </a:solidFill>
                <a:latin typeface="Tahoma"/>
                <a:cs typeface="Tahoma"/>
              </a:rPr>
              <a:t>ADD.D</a:t>
            </a:r>
            <a:r>
              <a:rPr dirty="0" sz="2400">
                <a:solidFill>
                  <a:srgbClr val="40458B"/>
                </a:solidFill>
                <a:latin typeface="Tahoma"/>
                <a:cs typeface="Tahoma"/>
              </a:rPr>
              <a:t>		F8,</a:t>
            </a:r>
            <a:r>
              <a:rPr dirty="0" sz="2400" spc="-45">
                <a:solidFill>
                  <a:srgbClr val="40458B"/>
                </a:solidFill>
                <a:latin typeface="Tahoma"/>
                <a:cs typeface="Tahoma"/>
              </a:rPr>
              <a:t> </a:t>
            </a:r>
            <a:r>
              <a:rPr dirty="0" sz="2400">
                <a:solidFill>
                  <a:srgbClr val="FF0000"/>
                </a:solidFill>
                <a:latin typeface="Tahoma"/>
                <a:cs typeface="Tahoma"/>
              </a:rPr>
              <a:t>F4</a:t>
            </a:r>
            <a:r>
              <a:rPr dirty="0" sz="2400">
                <a:solidFill>
                  <a:srgbClr val="40458B"/>
                </a:solidFill>
                <a:latin typeface="Tahoma"/>
                <a:cs typeface="Tahoma"/>
              </a:rPr>
              <a:t>,</a:t>
            </a:r>
            <a:r>
              <a:rPr dirty="0" sz="2400" spc="-35">
                <a:solidFill>
                  <a:srgbClr val="40458B"/>
                </a:solidFill>
                <a:latin typeface="Tahoma"/>
                <a:cs typeface="Tahoma"/>
              </a:rPr>
              <a:t> </a:t>
            </a:r>
            <a:r>
              <a:rPr dirty="0" sz="2400" spc="-25">
                <a:solidFill>
                  <a:srgbClr val="40458B"/>
                </a:solidFill>
                <a:latin typeface="Tahoma"/>
                <a:cs typeface="Tahoma"/>
              </a:rPr>
              <a:t>F10</a:t>
            </a:r>
            <a:endParaRPr sz="2400">
              <a:latin typeface="Tahoma"/>
              <a:cs typeface="Tahoma"/>
            </a:endParaRPr>
          </a:p>
        </p:txBody>
      </p:sp>
      <p:graphicFrame>
        <p:nvGraphicFramePr>
          <p:cNvPr id="19" name="object 19" descr=""/>
          <p:cNvGraphicFramePr>
            <a:graphicFrameLocks noGrp="1"/>
          </p:cNvGraphicFramePr>
          <p:nvPr/>
        </p:nvGraphicFramePr>
        <p:xfrm>
          <a:off x="7619618" y="5867437"/>
          <a:ext cx="4648835" cy="570865"/>
        </p:xfrm>
        <a:graphic>
          <a:graphicData uri="http://schemas.openxmlformats.org/drawingml/2006/table">
            <a:tbl>
              <a:tblPr firstRow="1" bandRow="1">
                <a:tableStyleId>{2D5ABB26-0587-4C30-8999-92F81FD0307C}</a:tableStyleId>
              </a:tblPr>
              <a:tblGrid>
                <a:gridCol w="950594"/>
                <a:gridCol w="950594"/>
                <a:gridCol w="950594"/>
                <a:gridCol w="950594"/>
                <a:gridCol w="763904"/>
              </a:tblGrid>
              <a:tr h="570865">
                <a:tc>
                  <a:txBody>
                    <a:bodyPr/>
                    <a:lstStyle/>
                    <a:p>
                      <a:pPr marL="92075">
                        <a:lnSpc>
                          <a:spcPct val="100000"/>
                        </a:lnSpc>
                        <a:spcBef>
                          <a:spcPts val="355"/>
                        </a:spcBef>
                      </a:pPr>
                      <a:r>
                        <a:rPr dirty="0" sz="1800" spc="-20" b="1">
                          <a:solidFill>
                            <a:srgbClr val="40458B"/>
                          </a:solidFill>
                          <a:latin typeface="Tahoma"/>
                          <a:cs typeface="Tahoma"/>
                        </a:rPr>
                        <a:t>ADD1</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marL="92075">
                        <a:lnSpc>
                          <a:spcPct val="100000"/>
                        </a:lnSpc>
                        <a:spcBef>
                          <a:spcPts val="355"/>
                        </a:spcBef>
                      </a:pPr>
                      <a:r>
                        <a:rPr dirty="0" sz="1800" spc="-25" b="1">
                          <a:solidFill>
                            <a:srgbClr val="40458B"/>
                          </a:solidFill>
                          <a:latin typeface="Tahoma"/>
                          <a:cs typeface="Tahoma"/>
                        </a:rPr>
                        <a:t>ADD</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a:lnSpc>
                          <a:spcPct val="100000"/>
                        </a:lnSpc>
                      </a:pPr>
                      <a:endParaRPr sz="2300">
                        <a:latin typeface="Times New Roman"/>
                        <a:cs typeface="Times New Roman"/>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a:lnSpc>
                          <a:spcPct val="100000"/>
                        </a:lnSpc>
                      </a:pPr>
                      <a:endParaRPr sz="2300">
                        <a:latin typeface="Times New Roman"/>
                        <a:cs typeface="Times New Roman"/>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F7EECD"/>
                    </a:solidFill>
                  </a:tcPr>
                </a:tc>
                <a:tc>
                  <a:txBody>
                    <a:bodyPr/>
                    <a:lstStyle/>
                    <a:p>
                      <a:pPr>
                        <a:lnSpc>
                          <a:spcPct val="100000"/>
                        </a:lnSpc>
                      </a:pPr>
                      <a:endParaRPr sz="2300">
                        <a:latin typeface="Times New Roman"/>
                        <a:cs typeface="Times New Roman"/>
                      </a:endParaRPr>
                    </a:p>
                  </a:txBody>
                  <a:tcPr marL="0" marR="0" marB="0" marT="0">
                    <a:lnL w="12700">
                      <a:solidFill>
                        <a:srgbClr val="FFFFFF"/>
                      </a:solidFill>
                      <a:prstDash val="solid"/>
                    </a:lnL>
                    <a:lnT w="12700">
                      <a:solidFill>
                        <a:srgbClr val="FFFFFF"/>
                      </a:solidFill>
                      <a:prstDash val="solid"/>
                    </a:lnT>
                    <a:lnB w="38100">
                      <a:solidFill>
                        <a:srgbClr val="FFFFFF"/>
                      </a:solidFill>
                      <a:prstDash val="solid"/>
                    </a:lnB>
                    <a:solidFill>
                      <a:srgbClr val="F7EECD"/>
                    </a:solidFill>
                  </a:tcPr>
                </a:tc>
              </a:tr>
            </a:tbl>
          </a:graphicData>
        </a:graphic>
      </p:graphicFrame>
      <p:grpSp>
        <p:nvGrpSpPr>
          <p:cNvPr id="20" name="object 20" descr=""/>
          <p:cNvGrpSpPr/>
          <p:nvPr/>
        </p:nvGrpSpPr>
        <p:grpSpPr>
          <a:xfrm>
            <a:off x="9537954" y="1626044"/>
            <a:ext cx="743585" cy="1488440"/>
            <a:chOff x="9537954" y="1626044"/>
            <a:chExt cx="743585" cy="1488440"/>
          </a:xfrm>
        </p:grpSpPr>
        <p:sp>
          <p:nvSpPr>
            <p:cNvPr id="21" name="object 21" descr=""/>
            <p:cNvSpPr/>
            <p:nvPr/>
          </p:nvSpPr>
          <p:spPr>
            <a:xfrm>
              <a:off x="9542780" y="1630807"/>
              <a:ext cx="734060" cy="365760"/>
            </a:xfrm>
            <a:custGeom>
              <a:avLst/>
              <a:gdLst/>
              <a:ahLst/>
              <a:cxnLst/>
              <a:rect l="l" t="t" r="r" b="b"/>
              <a:pathLst>
                <a:path w="734059" h="365760">
                  <a:moveTo>
                    <a:pt x="733501" y="0"/>
                  </a:moveTo>
                  <a:lnTo>
                    <a:pt x="0" y="0"/>
                  </a:lnTo>
                  <a:lnTo>
                    <a:pt x="0" y="365760"/>
                  </a:lnTo>
                  <a:lnTo>
                    <a:pt x="733501" y="365760"/>
                  </a:lnTo>
                  <a:lnTo>
                    <a:pt x="733501" y="0"/>
                  </a:lnTo>
                  <a:close/>
                </a:path>
              </a:pathLst>
            </a:custGeom>
            <a:solidFill>
              <a:srgbClr val="EBD782"/>
            </a:solidFill>
          </p:spPr>
          <p:txBody>
            <a:bodyPr wrap="square" lIns="0" tIns="0" rIns="0" bIns="0" rtlCol="0"/>
            <a:lstStyle/>
            <a:p/>
          </p:txBody>
        </p:sp>
        <p:sp>
          <p:nvSpPr>
            <p:cNvPr id="22" name="object 22" descr=""/>
            <p:cNvSpPr/>
            <p:nvPr/>
          </p:nvSpPr>
          <p:spPr>
            <a:xfrm>
              <a:off x="9537954" y="1626108"/>
              <a:ext cx="743585" cy="1487805"/>
            </a:xfrm>
            <a:custGeom>
              <a:avLst/>
              <a:gdLst/>
              <a:ahLst/>
              <a:cxnLst/>
              <a:rect l="l" t="t" r="r" b="b"/>
              <a:pathLst>
                <a:path w="743584" h="1487805">
                  <a:moveTo>
                    <a:pt x="0" y="370458"/>
                  </a:moveTo>
                  <a:lnTo>
                    <a:pt x="743076" y="370458"/>
                  </a:lnTo>
                </a:path>
                <a:path w="743584" h="1487805">
                  <a:moveTo>
                    <a:pt x="0" y="741299"/>
                  </a:moveTo>
                  <a:lnTo>
                    <a:pt x="743076" y="741299"/>
                  </a:lnTo>
                </a:path>
                <a:path w="743584" h="1487805">
                  <a:moveTo>
                    <a:pt x="0" y="1112139"/>
                  </a:moveTo>
                  <a:lnTo>
                    <a:pt x="743076" y="1112139"/>
                  </a:lnTo>
                </a:path>
                <a:path w="743584" h="1487805">
                  <a:moveTo>
                    <a:pt x="4825" y="0"/>
                  </a:moveTo>
                  <a:lnTo>
                    <a:pt x="4825" y="1487804"/>
                  </a:lnTo>
                </a:path>
                <a:path w="743584" h="1487805">
                  <a:moveTo>
                    <a:pt x="738251" y="0"/>
                  </a:moveTo>
                  <a:lnTo>
                    <a:pt x="738251" y="1487804"/>
                  </a:lnTo>
                </a:path>
                <a:path w="743584" h="1487805">
                  <a:moveTo>
                    <a:pt x="0" y="4699"/>
                  </a:moveTo>
                  <a:lnTo>
                    <a:pt x="743076" y="4699"/>
                  </a:lnTo>
                </a:path>
                <a:path w="743584" h="1487805">
                  <a:moveTo>
                    <a:pt x="0" y="1482978"/>
                  </a:moveTo>
                  <a:lnTo>
                    <a:pt x="743076" y="1482978"/>
                  </a:lnTo>
                </a:path>
              </a:pathLst>
            </a:custGeom>
            <a:ln w="9525">
              <a:solidFill>
                <a:srgbClr val="E9D47B"/>
              </a:solidFill>
            </a:ln>
          </p:spPr>
          <p:txBody>
            <a:bodyPr wrap="square" lIns="0" tIns="0" rIns="0" bIns="0" rtlCol="0"/>
            <a:lstStyle/>
            <a:p/>
          </p:txBody>
        </p:sp>
      </p:grpSp>
      <p:graphicFrame>
        <p:nvGraphicFramePr>
          <p:cNvPr id="23" name="object 23" descr=""/>
          <p:cNvGraphicFramePr>
            <a:graphicFrameLocks noGrp="1"/>
          </p:cNvGraphicFramePr>
          <p:nvPr/>
        </p:nvGraphicFramePr>
        <p:xfrm>
          <a:off x="10787697" y="1712912"/>
          <a:ext cx="1031875" cy="1476375"/>
        </p:xfrm>
        <a:graphic>
          <a:graphicData uri="http://schemas.openxmlformats.org/drawingml/2006/table">
            <a:tbl>
              <a:tblPr firstRow="1" bandRow="1">
                <a:tableStyleId>{2D5ABB26-0587-4C30-8999-92F81FD0307C}</a:tableStyleId>
              </a:tblPr>
              <a:tblGrid>
                <a:gridCol w="946150"/>
              </a:tblGrid>
              <a:tr h="365760">
                <a:tc>
                  <a:txBody>
                    <a:bodyPr/>
                    <a:lstStyle/>
                    <a:p>
                      <a:pPr>
                        <a:lnSpc>
                          <a:spcPct val="100000"/>
                        </a:lnSpc>
                      </a:pPr>
                      <a:endParaRPr sz="2300">
                        <a:latin typeface="Times New Roman"/>
                        <a:cs typeface="Times New Roman"/>
                      </a:endParaRPr>
                    </a:p>
                  </a:txBody>
                  <a:tcPr marL="0" marR="0" marB="0" marT="0">
                    <a:lnL w="9525">
                      <a:solidFill>
                        <a:srgbClr val="E9D47B"/>
                      </a:solidFill>
                      <a:prstDash val="solid"/>
                    </a:lnL>
                    <a:lnR w="9525">
                      <a:solidFill>
                        <a:srgbClr val="E9D47B"/>
                      </a:solidFill>
                      <a:prstDash val="solid"/>
                    </a:lnR>
                    <a:lnT w="9525">
                      <a:solidFill>
                        <a:srgbClr val="E9D47B"/>
                      </a:solidFill>
                      <a:prstDash val="solid"/>
                    </a:lnT>
                    <a:lnB w="9525">
                      <a:solidFill>
                        <a:srgbClr val="E9D47B"/>
                      </a:solidFill>
                      <a:prstDash val="solid"/>
                    </a:lnB>
                    <a:solidFill>
                      <a:srgbClr val="FFE7FF"/>
                    </a:solidFill>
                  </a:tcPr>
                </a:tc>
              </a:tr>
              <a:tr h="370205">
                <a:tc>
                  <a:txBody>
                    <a:bodyPr/>
                    <a:lstStyle/>
                    <a:p>
                      <a:pPr>
                        <a:lnSpc>
                          <a:spcPct val="100000"/>
                        </a:lnSpc>
                      </a:pPr>
                      <a:endParaRPr sz="2300">
                        <a:latin typeface="Times New Roman"/>
                        <a:cs typeface="Times New Roman"/>
                      </a:endParaRPr>
                    </a:p>
                  </a:txBody>
                  <a:tcPr marL="0" marR="0" marB="0" marT="0">
                    <a:lnL w="9525">
                      <a:solidFill>
                        <a:srgbClr val="E9D47B"/>
                      </a:solidFill>
                      <a:prstDash val="solid"/>
                    </a:lnL>
                    <a:lnR w="9525">
                      <a:solidFill>
                        <a:srgbClr val="E9D47B"/>
                      </a:solidFill>
                      <a:prstDash val="solid"/>
                    </a:lnR>
                    <a:lnT w="9525">
                      <a:solidFill>
                        <a:srgbClr val="E9D47B"/>
                      </a:solidFill>
                      <a:prstDash val="solid"/>
                    </a:lnT>
                    <a:lnB w="9525">
                      <a:solidFill>
                        <a:srgbClr val="E9D47B"/>
                      </a:solidFill>
                      <a:prstDash val="solid"/>
                    </a:lnB>
                  </a:tcPr>
                </a:tc>
              </a:tr>
              <a:tr h="370205">
                <a:tc>
                  <a:txBody>
                    <a:bodyPr/>
                    <a:lstStyle/>
                    <a:p>
                      <a:pPr>
                        <a:lnSpc>
                          <a:spcPct val="100000"/>
                        </a:lnSpc>
                      </a:pPr>
                      <a:endParaRPr sz="2300">
                        <a:latin typeface="Times New Roman"/>
                        <a:cs typeface="Times New Roman"/>
                      </a:endParaRPr>
                    </a:p>
                  </a:txBody>
                  <a:tcPr marL="0" marR="0" marB="0" marT="0">
                    <a:lnL w="9525">
                      <a:solidFill>
                        <a:srgbClr val="E9D47B"/>
                      </a:solidFill>
                      <a:prstDash val="solid"/>
                    </a:lnL>
                    <a:lnR w="9525">
                      <a:solidFill>
                        <a:srgbClr val="E9D47B"/>
                      </a:solidFill>
                      <a:prstDash val="solid"/>
                    </a:lnR>
                    <a:lnT w="9525">
                      <a:solidFill>
                        <a:srgbClr val="E9D47B"/>
                      </a:solidFill>
                      <a:prstDash val="solid"/>
                    </a:lnT>
                    <a:lnB w="9525">
                      <a:solidFill>
                        <a:srgbClr val="E9D47B"/>
                      </a:solidFill>
                      <a:prstDash val="solid"/>
                    </a:lnB>
                  </a:tcPr>
                </a:tc>
              </a:tr>
              <a:tr h="370205">
                <a:tc>
                  <a:txBody>
                    <a:bodyPr/>
                    <a:lstStyle/>
                    <a:p>
                      <a:pPr marL="92710">
                        <a:lnSpc>
                          <a:spcPct val="100000"/>
                        </a:lnSpc>
                        <a:spcBef>
                          <a:spcPts val="350"/>
                        </a:spcBef>
                      </a:pPr>
                      <a:r>
                        <a:rPr dirty="0" sz="1800" spc="-20">
                          <a:solidFill>
                            <a:srgbClr val="FF0000"/>
                          </a:solidFill>
                          <a:latin typeface="Tahoma"/>
                          <a:cs typeface="Tahoma"/>
                        </a:rPr>
                        <a:t>MUL1</a:t>
                      </a:r>
                      <a:endParaRPr sz="1800">
                        <a:latin typeface="Tahoma"/>
                        <a:cs typeface="Tahoma"/>
                      </a:endParaRPr>
                    </a:p>
                  </a:txBody>
                  <a:tcPr marL="0" marR="0" marB="0" marT="44450">
                    <a:lnL w="9525">
                      <a:solidFill>
                        <a:srgbClr val="E9D47B"/>
                      </a:solidFill>
                      <a:prstDash val="solid"/>
                    </a:lnL>
                    <a:lnR w="9525">
                      <a:solidFill>
                        <a:srgbClr val="E9D47B"/>
                      </a:solidFill>
                      <a:prstDash val="solid"/>
                    </a:lnR>
                    <a:lnT w="9525">
                      <a:solidFill>
                        <a:srgbClr val="E9D47B"/>
                      </a:solidFill>
                      <a:prstDash val="solid"/>
                    </a:lnT>
                    <a:lnB w="9525">
                      <a:solidFill>
                        <a:srgbClr val="E9D47B"/>
                      </a:solidFill>
                      <a:prstDash val="solid"/>
                    </a:lnB>
                  </a:tcPr>
                </a:tc>
              </a:tr>
            </a:tbl>
          </a:graphicData>
        </a:graphic>
      </p:graphicFrame>
      <p:sp>
        <p:nvSpPr>
          <p:cNvPr id="24" name="object 24" descr=""/>
          <p:cNvSpPr txBox="1"/>
          <p:nvPr/>
        </p:nvSpPr>
        <p:spPr>
          <a:xfrm>
            <a:off x="8729218" y="1039190"/>
            <a:ext cx="1551940" cy="331470"/>
          </a:xfrm>
          <a:prstGeom prst="rect">
            <a:avLst/>
          </a:prstGeom>
        </p:spPr>
        <p:txBody>
          <a:bodyPr wrap="square" lIns="0" tIns="13335" rIns="0" bIns="0" rtlCol="0" vert="horz">
            <a:spAutoFit/>
          </a:bodyPr>
          <a:lstStyle/>
          <a:p>
            <a:pPr marL="12700">
              <a:lnSpc>
                <a:spcPct val="100000"/>
              </a:lnSpc>
              <a:spcBef>
                <a:spcPts val="105"/>
              </a:spcBef>
            </a:pPr>
            <a:r>
              <a:rPr dirty="0" sz="2000" spc="-20">
                <a:solidFill>
                  <a:srgbClr val="40458B"/>
                </a:solidFill>
                <a:latin typeface="黑体"/>
                <a:cs typeface="黑体"/>
              </a:rPr>
              <a:t>浮点寄存器组</a:t>
            </a:r>
            <a:endParaRPr sz="2000">
              <a:latin typeface="黑体"/>
              <a:cs typeface="黑体"/>
            </a:endParaRPr>
          </a:p>
        </p:txBody>
      </p:sp>
      <p:sp>
        <p:nvSpPr>
          <p:cNvPr id="25" name="object 25" descr=""/>
          <p:cNvSpPr txBox="1"/>
          <p:nvPr/>
        </p:nvSpPr>
        <p:spPr>
          <a:xfrm>
            <a:off x="9035542" y="2726816"/>
            <a:ext cx="35052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Tahoma"/>
                <a:cs typeface="Tahoma"/>
              </a:rPr>
              <a:t>F4</a:t>
            </a:r>
            <a:endParaRPr sz="2400">
              <a:latin typeface="Tahoma"/>
              <a:cs typeface="Tahoma"/>
            </a:endParaRPr>
          </a:p>
        </p:txBody>
      </p:sp>
      <p:sp>
        <p:nvSpPr>
          <p:cNvPr id="26" name="object 26" descr=""/>
          <p:cNvSpPr txBox="1"/>
          <p:nvPr/>
        </p:nvSpPr>
        <p:spPr>
          <a:xfrm>
            <a:off x="10349865" y="2896565"/>
            <a:ext cx="408940" cy="391795"/>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Tahoma"/>
                <a:cs typeface="Tahoma"/>
              </a:rPr>
              <a:t>Q4</a:t>
            </a:r>
            <a:endParaRPr sz="2400">
              <a:latin typeface="Tahoma"/>
              <a:cs typeface="Tahoma"/>
            </a:endParaRPr>
          </a:p>
        </p:txBody>
      </p:sp>
      <p:sp>
        <p:nvSpPr>
          <p:cNvPr id="27" name="object 27" descr=""/>
          <p:cNvSpPr txBox="1"/>
          <p:nvPr/>
        </p:nvSpPr>
        <p:spPr>
          <a:xfrm>
            <a:off x="11074654" y="605764"/>
            <a:ext cx="1043940" cy="939800"/>
          </a:xfrm>
          <a:prstGeom prst="rect">
            <a:avLst/>
          </a:prstGeom>
        </p:spPr>
        <p:txBody>
          <a:bodyPr wrap="square" lIns="0" tIns="12700" rIns="0" bIns="0" rtlCol="0" vert="horz">
            <a:spAutoFit/>
          </a:bodyPr>
          <a:lstStyle/>
          <a:p>
            <a:pPr marL="12700" marR="5080">
              <a:lnSpc>
                <a:spcPct val="150000"/>
              </a:lnSpc>
              <a:spcBef>
                <a:spcPts val="100"/>
              </a:spcBef>
            </a:pPr>
            <a:r>
              <a:rPr dirty="0" sz="2000" spc="-15">
                <a:solidFill>
                  <a:srgbClr val="40458B"/>
                </a:solidFill>
                <a:latin typeface="黑体"/>
                <a:cs typeface="黑体"/>
              </a:rPr>
              <a:t>寄存器状</a:t>
            </a:r>
            <a:r>
              <a:rPr dirty="0" sz="2000">
                <a:solidFill>
                  <a:srgbClr val="40458B"/>
                </a:solidFill>
                <a:latin typeface="黑体"/>
                <a:cs typeface="黑体"/>
              </a:rPr>
              <a:t>态组</a:t>
            </a:r>
            <a:r>
              <a:rPr dirty="0" sz="2000" spc="-25">
                <a:solidFill>
                  <a:srgbClr val="40458B"/>
                </a:solidFill>
                <a:latin typeface="Tahoma"/>
                <a:cs typeface="Tahoma"/>
              </a:rPr>
              <a:t>Qi</a:t>
            </a:r>
            <a:endParaRPr sz="2000">
              <a:latin typeface="Tahoma"/>
              <a:cs typeface="Tahoma"/>
            </a:endParaRPr>
          </a:p>
        </p:txBody>
      </p:sp>
      <p:sp>
        <p:nvSpPr>
          <p:cNvPr id="28" name="object 28" descr=""/>
          <p:cNvSpPr txBox="1"/>
          <p:nvPr/>
        </p:nvSpPr>
        <p:spPr>
          <a:xfrm>
            <a:off x="6463665" y="5873902"/>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保留站</a:t>
            </a:r>
            <a:endParaRPr sz="2400">
              <a:latin typeface="黑体"/>
              <a:cs typeface="黑体"/>
            </a:endParaRPr>
          </a:p>
        </p:txBody>
      </p:sp>
      <p:sp>
        <p:nvSpPr>
          <p:cNvPr id="29" name="object 29" descr=""/>
          <p:cNvSpPr txBox="1"/>
          <p:nvPr/>
        </p:nvSpPr>
        <p:spPr>
          <a:xfrm>
            <a:off x="1854454" y="6140297"/>
            <a:ext cx="2154555"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FF0000"/>
                </a:solidFill>
                <a:latin typeface="黑体"/>
                <a:cs typeface="黑体"/>
              </a:rPr>
              <a:t>至此</a:t>
            </a:r>
            <a:r>
              <a:rPr dirty="0" sz="2000" spc="-40">
                <a:solidFill>
                  <a:srgbClr val="FF0000"/>
                </a:solidFill>
                <a:latin typeface="Tahoma"/>
                <a:cs typeface="Tahoma"/>
              </a:rPr>
              <a:t>WAW</a:t>
            </a:r>
            <a:r>
              <a:rPr dirty="0" sz="2000" spc="-15">
                <a:solidFill>
                  <a:srgbClr val="FF0000"/>
                </a:solidFill>
                <a:latin typeface="黑体"/>
                <a:cs typeface="黑体"/>
              </a:rPr>
              <a:t>冲突解决</a:t>
            </a:r>
            <a:endParaRPr sz="2000">
              <a:latin typeface="黑体"/>
              <a:cs typeface="黑体"/>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79/175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pic>
        <p:nvPicPr>
          <p:cNvPr id="10" name="object 10" descr=""/>
          <p:cNvPicPr/>
          <p:nvPr/>
        </p:nvPicPr>
        <p:blipFill>
          <a:blip r:embed="rId2" cstate="print"/>
          <a:stretch>
            <a:fillRect/>
          </a:stretch>
        </p:blipFill>
        <p:spPr>
          <a:xfrm>
            <a:off x="5149342" y="2612644"/>
            <a:ext cx="238125" cy="250825"/>
          </a:xfrm>
          <a:prstGeom prst="rect">
            <a:avLst/>
          </a:prstGeom>
        </p:spPr>
      </p:pic>
      <p:sp>
        <p:nvSpPr>
          <p:cNvPr id="11" name="object 11" descr=""/>
          <p:cNvSpPr txBox="1"/>
          <p:nvPr/>
        </p:nvSpPr>
        <p:spPr>
          <a:xfrm>
            <a:off x="342087" y="1063912"/>
            <a:ext cx="11722100" cy="4924425"/>
          </a:xfrm>
          <a:prstGeom prst="rect">
            <a:avLst/>
          </a:prstGeom>
        </p:spPr>
        <p:txBody>
          <a:bodyPr wrap="square" lIns="0" tIns="121920" rIns="0" bIns="0" rtlCol="0" vert="horz">
            <a:spAutoFit/>
          </a:bodyPr>
          <a:lstStyle/>
          <a:p>
            <a:pPr marL="100965">
              <a:lnSpc>
                <a:spcPct val="100000"/>
              </a:lnSpc>
              <a:spcBef>
                <a:spcPts val="960"/>
              </a:spcBef>
            </a:pPr>
            <a:r>
              <a:rPr dirty="0" sz="2400" spc="-30" b="1">
                <a:solidFill>
                  <a:srgbClr val="001F5F"/>
                </a:solidFill>
                <a:latin typeface="Tahoma"/>
                <a:cs typeface="Tahoma"/>
              </a:rPr>
              <a:t>Tomasulo</a:t>
            </a:r>
            <a:r>
              <a:rPr dirty="0" sz="2400" spc="-35" b="1">
                <a:solidFill>
                  <a:srgbClr val="001F5F"/>
                </a:solidFill>
                <a:latin typeface="黑体"/>
                <a:cs typeface="黑体"/>
              </a:rPr>
              <a:t>算法</a:t>
            </a:r>
            <a:endParaRPr sz="2400">
              <a:latin typeface="黑体"/>
              <a:cs typeface="黑体"/>
            </a:endParaRPr>
          </a:p>
          <a:p>
            <a:pPr marL="507365" indent="-494665">
              <a:lnSpc>
                <a:spcPct val="100000"/>
              </a:lnSpc>
              <a:spcBef>
                <a:spcPts val="865"/>
              </a:spcBef>
              <a:buClr>
                <a:srgbClr val="40458B"/>
              </a:buClr>
              <a:buFont typeface="Wingdings"/>
              <a:buChar char=""/>
              <a:tabLst>
                <a:tab pos="507365" algn="l"/>
              </a:tabLst>
            </a:pPr>
            <a:r>
              <a:rPr dirty="0" sz="2400">
                <a:solidFill>
                  <a:srgbClr val="FF0000"/>
                </a:solidFill>
                <a:latin typeface="黑体"/>
                <a:cs typeface="黑体"/>
              </a:rPr>
              <a:t>WAR</a:t>
            </a:r>
            <a:r>
              <a:rPr dirty="0" sz="2400" spc="5">
                <a:solidFill>
                  <a:srgbClr val="FF0000"/>
                </a:solidFill>
                <a:latin typeface="黑体"/>
                <a:cs typeface="黑体"/>
              </a:rPr>
              <a:t> 和 </a:t>
            </a:r>
            <a:r>
              <a:rPr dirty="0" sz="2400" spc="-10">
                <a:solidFill>
                  <a:srgbClr val="FF0000"/>
                </a:solidFill>
                <a:latin typeface="黑体"/>
                <a:cs typeface="黑体"/>
              </a:rPr>
              <a:t>WAW：</a:t>
            </a:r>
            <a:r>
              <a:rPr dirty="0" sz="2400" spc="-10">
                <a:solidFill>
                  <a:srgbClr val="001F5F"/>
                </a:solidFill>
                <a:latin typeface="黑体"/>
                <a:cs typeface="黑体"/>
              </a:rPr>
              <a:t>可以通过寄存器重命名消除 </a:t>
            </a:r>
            <a:r>
              <a:rPr dirty="0" sz="2400">
                <a:solidFill>
                  <a:srgbClr val="001F5F"/>
                </a:solidFill>
                <a:latin typeface="黑体"/>
                <a:cs typeface="黑体"/>
              </a:rPr>
              <a:t>WAR</a:t>
            </a:r>
            <a:r>
              <a:rPr dirty="0" sz="2400" spc="5">
                <a:solidFill>
                  <a:srgbClr val="001F5F"/>
                </a:solidFill>
                <a:latin typeface="黑体"/>
                <a:cs typeface="黑体"/>
              </a:rPr>
              <a:t> 和 </a:t>
            </a:r>
            <a:r>
              <a:rPr dirty="0" sz="2400">
                <a:solidFill>
                  <a:srgbClr val="001F5F"/>
                </a:solidFill>
                <a:latin typeface="黑体"/>
                <a:cs typeface="黑体"/>
              </a:rPr>
              <a:t>WAW</a:t>
            </a:r>
            <a:r>
              <a:rPr dirty="0" sz="2400" spc="-5">
                <a:solidFill>
                  <a:srgbClr val="001F5F"/>
                </a:solidFill>
                <a:latin typeface="黑体"/>
                <a:cs typeface="黑体"/>
              </a:rPr>
              <a:t> 相关</a:t>
            </a:r>
            <a:r>
              <a:rPr dirty="0" sz="2400" spc="-10">
                <a:solidFill>
                  <a:srgbClr val="001F5F"/>
                </a:solidFill>
                <a:latin typeface="黑体"/>
                <a:cs typeface="黑体"/>
              </a:rPr>
              <a:t>（</a:t>
            </a:r>
            <a:r>
              <a:rPr dirty="0" sz="2400" spc="-15">
                <a:solidFill>
                  <a:srgbClr val="001F5F"/>
                </a:solidFill>
                <a:latin typeface="黑体"/>
                <a:cs typeface="黑体"/>
              </a:rPr>
              <a:t>通过保留站号间接实</a:t>
            </a:r>
            <a:endParaRPr sz="2400">
              <a:latin typeface="黑体"/>
              <a:cs typeface="黑体"/>
            </a:endParaRPr>
          </a:p>
          <a:p>
            <a:pPr marL="355600">
              <a:lnSpc>
                <a:spcPct val="100000"/>
              </a:lnSpc>
              <a:spcBef>
                <a:spcPts val="290"/>
              </a:spcBef>
            </a:pPr>
            <a:r>
              <a:rPr dirty="0" sz="2400" spc="-5">
                <a:solidFill>
                  <a:srgbClr val="001F5F"/>
                </a:solidFill>
                <a:latin typeface="黑体"/>
                <a:cs typeface="黑体"/>
              </a:rPr>
              <a:t>现重命名</a:t>
            </a:r>
            <a:r>
              <a:rPr dirty="0" sz="2400" spc="-50">
                <a:solidFill>
                  <a:srgbClr val="001F5F"/>
                </a:solidFill>
                <a:latin typeface="黑体"/>
                <a:cs typeface="黑体"/>
              </a:rPr>
              <a:t>）</a:t>
            </a:r>
            <a:endParaRPr sz="2400">
              <a:latin typeface="黑体"/>
              <a:cs typeface="黑体"/>
            </a:endParaRPr>
          </a:p>
          <a:p>
            <a:pPr marL="355600" marR="5080" indent="-342900">
              <a:lnSpc>
                <a:spcPct val="110000"/>
              </a:lnSpc>
              <a:spcBef>
                <a:spcPts val="575"/>
              </a:spcBef>
              <a:buFont typeface="Wingdings"/>
              <a:buChar char=""/>
              <a:tabLst>
                <a:tab pos="355600" algn="l"/>
                <a:tab pos="507365" algn="l"/>
                <a:tab pos="1422400" algn="l"/>
                <a:tab pos="5080000" algn="l"/>
              </a:tabLst>
            </a:pPr>
            <a:r>
              <a:rPr dirty="0" sz="2400">
                <a:solidFill>
                  <a:srgbClr val="40458B"/>
                </a:solidFill>
                <a:latin typeface="Times New Roman"/>
                <a:cs typeface="Times New Roman"/>
              </a:rPr>
              <a:t>	</a:t>
            </a:r>
            <a:r>
              <a:rPr dirty="0" sz="2400" spc="-20">
                <a:solidFill>
                  <a:srgbClr val="FF0000"/>
                </a:solidFill>
                <a:latin typeface="黑体"/>
                <a:cs typeface="黑体"/>
              </a:rPr>
              <a:t>RAW：</a:t>
            </a:r>
            <a:r>
              <a:rPr dirty="0" sz="2400">
                <a:solidFill>
                  <a:srgbClr val="FF0000"/>
                </a:solidFill>
                <a:latin typeface="黑体"/>
                <a:cs typeface="黑体"/>
              </a:rPr>
              <a:t>	</a:t>
            </a:r>
            <a:r>
              <a:rPr dirty="0" sz="2400">
                <a:solidFill>
                  <a:srgbClr val="001F5F"/>
                </a:solidFill>
                <a:latin typeface="黑体"/>
                <a:cs typeface="黑体"/>
              </a:rPr>
              <a:t>也可以通过总线结构在</a:t>
            </a:r>
            <a:r>
              <a:rPr dirty="0" sz="2400" spc="-50">
                <a:solidFill>
                  <a:srgbClr val="001F5F"/>
                </a:solidFill>
                <a:latin typeface="黑体"/>
                <a:cs typeface="黑体"/>
              </a:rPr>
              <a:t>写</a:t>
            </a:r>
            <a:r>
              <a:rPr dirty="0" sz="2400">
                <a:solidFill>
                  <a:srgbClr val="001F5F"/>
                </a:solidFill>
                <a:latin typeface="黑体"/>
                <a:cs typeface="黑体"/>
              </a:rPr>
              <a:t>	寄存器之前将值送入需要的指令中，即利用前</a:t>
            </a:r>
            <a:r>
              <a:rPr dirty="0" sz="2400" spc="-50">
                <a:solidFill>
                  <a:srgbClr val="001F5F"/>
                </a:solidFill>
                <a:latin typeface="黑体"/>
                <a:cs typeface="黑体"/>
              </a:rPr>
              <a:t>推</a:t>
            </a:r>
            <a:r>
              <a:rPr dirty="0" sz="2400" spc="-10">
                <a:solidFill>
                  <a:srgbClr val="001F5F"/>
                </a:solidFill>
                <a:latin typeface="黑体"/>
                <a:cs typeface="黑体"/>
              </a:rPr>
              <a:t>或前送，消</a:t>
            </a:r>
            <a:r>
              <a:rPr dirty="0" sz="2400">
                <a:solidFill>
                  <a:srgbClr val="001F5F"/>
                </a:solidFill>
                <a:latin typeface="黑体"/>
                <a:cs typeface="黑体"/>
              </a:rPr>
              <a:t>除</a:t>
            </a:r>
            <a:r>
              <a:rPr dirty="0" sz="2400" spc="-10">
                <a:solidFill>
                  <a:srgbClr val="001F5F"/>
                </a:solidFill>
                <a:latin typeface="黑体"/>
                <a:cs typeface="黑体"/>
              </a:rPr>
              <a:t>RAW相关；或</a:t>
            </a:r>
            <a:r>
              <a:rPr dirty="0" sz="2400">
                <a:solidFill>
                  <a:srgbClr val="001F5F"/>
                </a:solidFill>
                <a:latin typeface="黑体"/>
                <a:cs typeface="黑体"/>
              </a:rPr>
              <a:t>者</a:t>
            </a:r>
            <a:r>
              <a:rPr dirty="0" sz="2400" spc="-360">
                <a:solidFill>
                  <a:srgbClr val="001F5F"/>
                </a:solidFill>
                <a:latin typeface="黑体"/>
                <a:cs typeface="黑体"/>
              </a:rPr>
              <a:t> </a:t>
            </a:r>
            <a:r>
              <a:rPr dirty="0" sz="2400" spc="-10">
                <a:solidFill>
                  <a:srgbClr val="001F5F"/>
                </a:solidFill>
                <a:latin typeface="Tahoma"/>
                <a:cs typeface="Tahoma"/>
              </a:rPr>
              <a:t>RAW</a:t>
            </a:r>
            <a:r>
              <a:rPr dirty="0" sz="2400" spc="-10">
                <a:solidFill>
                  <a:srgbClr val="001F5F"/>
                </a:solidFill>
                <a:latin typeface="黑体"/>
                <a:cs typeface="黑体"/>
              </a:rPr>
              <a:t>的解决依赖于总线</a:t>
            </a:r>
            <a:r>
              <a:rPr dirty="0" sz="2400">
                <a:solidFill>
                  <a:srgbClr val="001F5F"/>
                </a:solidFill>
                <a:latin typeface="黑体"/>
                <a:cs typeface="黑体"/>
              </a:rPr>
              <a:t>，</a:t>
            </a:r>
            <a:r>
              <a:rPr dirty="0" sz="2400" spc="-375">
                <a:solidFill>
                  <a:srgbClr val="001F5F"/>
                </a:solidFill>
                <a:latin typeface="黑体"/>
                <a:cs typeface="黑体"/>
              </a:rPr>
              <a:t> </a:t>
            </a:r>
            <a:r>
              <a:rPr dirty="0" sz="2400" spc="-10">
                <a:solidFill>
                  <a:srgbClr val="001F5F"/>
                </a:solidFill>
                <a:latin typeface="黑体"/>
                <a:cs typeface="黑体"/>
              </a:rPr>
              <a:t>因为总线直接将值广播到了</a:t>
            </a:r>
            <a:r>
              <a:rPr dirty="0" sz="2400" spc="-50">
                <a:solidFill>
                  <a:srgbClr val="001F5F"/>
                </a:solidFill>
                <a:latin typeface="黑体"/>
                <a:cs typeface="黑体"/>
              </a:rPr>
              <a:t>保</a:t>
            </a:r>
            <a:r>
              <a:rPr dirty="0" sz="2400">
                <a:solidFill>
                  <a:srgbClr val="001F5F"/>
                </a:solidFill>
                <a:latin typeface="黑体"/>
                <a:cs typeface="黑体"/>
              </a:rPr>
              <a:t>留站，这样就能直接完成数据前推操作，缓解</a:t>
            </a:r>
            <a:r>
              <a:rPr dirty="0" sz="2400" spc="-10">
                <a:solidFill>
                  <a:srgbClr val="001F5F"/>
                </a:solidFill>
                <a:latin typeface="Tahoma"/>
                <a:cs typeface="Tahoma"/>
              </a:rPr>
              <a:t>RAW</a:t>
            </a:r>
            <a:r>
              <a:rPr dirty="0" sz="2400">
                <a:solidFill>
                  <a:srgbClr val="001F5F"/>
                </a:solidFill>
                <a:latin typeface="黑体"/>
                <a:cs typeface="黑体"/>
              </a:rPr>
              <a:t>冲突</a:t>
            </a:r>
            <a:r>
              <a:rPr dirty="0" sz="2400" spc="-50">
                <a:solidFill>
                  <a:srgbClr val="001F5F"/>
                </a:solidFill>
                <a:latin typeface="黑体"/>
                <a:cs typeface="黑体"/>
              </a:rPr>
              <a:t>。</a:t>
            </a:r>
            <a:endParaRPr sz="2400">
              <a:latin typeface="黑体"/>
              <a:cs typeface="黑体"/>
            </a:endParaRPr>
          </a:p>
          <a:p>
            <a:pPr marL="469265" indent="-456565">
              <a:lnSpc>
                <a:spcPct val="100000"/>
              </a:lnSpc>
              <a:spcBef>
                <a:spcPts val="865"/>
              </a:spcBef>
              <a:buClr>
                <a:srgbClr val="40458B"/>
              </a:buClr>
              <a:buAutoNum type="arabicPeriod" startAt="7"/>
              <a:tabLst>
                <a:tab pos="469265" algn="l"/>
              </a:tabLst>
            </a:pPr>
            <a:r>
              <a:rPr dirty="0" sz="2400">
                <a:solidFill>
                  <a:srgbClr val="001F5F"/>
                </a:solidFill>
                <a:latin typeface="黑体"/>
                <a:cs typeface="黑体"/>
              </a:rPr>
              <a:t>Tomasulo算法具有以下</a:t>
            </a:r>
            <a:r>
              <a:rPr dirty="0" sz="2400" spc="-10">
                <a:solidFill>
                  <a:srgbClr val="D50092"/>
                </a:solidFill>
                <a:latin typeface="黑体"/>
                <a:cs typeface="黑体"/>
              </a:rPr>
              <a:t>两个特点：</a:t>
            </a:r>
            <a:endParaRPr sz="2400">
              <a:latin typeface="黑体"/>
              <a:cs typeface="黑体"/>
            </a:endParaRPr>
          </a:p>
          <a:p>
            <a:pPr lvl="1" marL="1099185" indent="-457200">
              <a:lnSpc>
                <a:spcPct val="100000"/>
              </a:lnSpc>
              <a:spcBef>
                <a:spcPts val="865"/>
              </a:spcBef>
              <a:buSzPct val="89583"/>
              <a:buFont typeface="Wingdings"/>
              <a:buChar char=""/>
              <a:tabLst>
                <a:tab pos="1099185" algn="l"/>
              </a:tabLst>
            </a:pPr>
            <a:r>
              <a:rPr dirty="0" sz="2400" spc="-15">
                <a:solidFill>
                  <a:srgbClr val="40458B"/>
                </a:solidFill>
                <a:latin typeface="黑体"/>
                <a:cs typeface="黑体"/>
              </a:rPr>
              <a:t>冲突检测和指令执行控制是分布的</a:t>
            </a:r>
            <a:endParaRPr sz="2400">
              <a:latin typeface="黑体"/>
              <a:cs typeface="黑体"/>
            </a:endParaRPr>
          </a:p>
          <a:p>
            <a:pPr marL="1164590">
              <a:lnSpc>
                <a:spcPct val="100000"/>
              </a:lnSpc>
              <a:spcBef>
                <a:spcPts val="825"/>
              </a:spcBef>
            </a:pPr>
            <a:r>
              <a:rPr dirty="0" sz="2200" spc="-25" b="1">
                <a:solidFill>
                  <a:srgbClr val="9966FF"/>
                </a:solidFill>
                <a:latin typeface="宋体"/>
                <a:cs typeface="宋体"/>
              </a:rPr>
              <a:t>每个功能部件的保留站中的信息决定了什么时候指令可以在该功能部件开始执行。</a:t>
            </a:r>
            <a:endParaRPr sz="2200">
              <a:latin typeface="宋体"/>
              <a:cs typeface="宋体"/>
            </a:endParaRPr>
          </a:p>
          <a:p>
            <a:pPr lvl="1" marL="1099185" marR="99060" indent="-457834">
              <a:lnSpc>
                <a:spcPct val="110000"/>
              </a:lnSpc>
              <a:spcBef>
                <a:spcPts val="545"/>
              </a:spcBef>
              <a:buSzPct val="89583"/>
              <a:buFont typeface="Wingdings"/>
              <a:buChar char=""/>
              <a:tabLst>
                <a:tab pos="1099185" algn="l"/>
              </a:tabLst>
            </a:pPr>
            <a:r>
              <a:rPr dirty="0" sz="2400">
                <a:solidFill>
                  <a:srgbClr val="40458B"/>
                </a:solidFill>
                <a:latin typeface="黑体"/>
                <a:cs typeface="黑体"/>
              </a:rPr>
              <a:t>计算结果通过</a:t>
            </a:r>
            <a:r>
              <a:rPr dirty="0" sz="2400">
                <a:solidFill>
                  <a:srgbClr val="9933FF"/>
                </a:solidFill>
                <a:latin typeface="黑体"/>
                <a:cs typeface="黑体"/>
              </a:rPr>
              <a:t>CDB</a:t>
            </a:r>
            <a:r>
              <a:rPr dirty="0" sz="2400" spc="-5">
                <a:solidFill>
                  <a:srgbClr val="40458B"/>
                </a:solidFill>
                <a:latin typeface="黑体"/>
                <a:cs typeface="黑体"/>
              </a:rPr>
              <a:t>直接从产生它的保留站传送到所有需要它的功能部件，而不用</a:t>
            </a:r>
            <a:r>
              <a:rPr dirty="0" sz="2400" spc="-20">
                <a:solidFill>
                  <a:srgbClr val="40458B"/>
                </a:solidFill>
                <a:latin typeface="黑体"/>
                <a:cs typeface="黑体"/>
              </a:rPr>
              <a:t>经过寄存器。</a:t>
            </a:r>
            <a:endParaRPr sz="2400">
              <a:latin typeface="黑体"/>
              <a:cs typeface="黑体"/>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80/175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pic>
        <p:nvPicPr>
          <p:cNvPr id="10" name="object 10" descr=""/>
          <p:cNvPicPr/>
          <p:nvPr/>
        </p:nvPicPr>
        <p:blipFill>
          <a:blip r:embed="rId2" cstate="print"/>
          <a:stretch>
            <a:fillRect/>
          </a:stretch>
        </p:blipFill>
        <p:spPr>
          <a:xfrm>
            <a:off x="7730743" y="1426336"/>
            <a:ext cx="238125" cy="250825"/>
          </a:xfrm>
          <a:prstGeom prst="rect">
            <a:avLst/>
          </a:prstGeom>
        </p:spPr>
      </p:pic>
      <p:sp>
        <p:nvSpPr>
          <p:cNvPr id="11" name="object 11" descr=""/>
          <p:cNvSpPr txBox="1"/>
          <p:nvPr/>
        </p:nvSpPr>
        <p:spPr>
          <a:xfrm>
            <a:off x="197916" y="902041"/>
            <a:ext cx="12065000" cy="5479415"/>
          </a:xfrm>
          <a:prstGeom prst="rect">
            <a:avLst/>
          </a:prstGeom>
        </p:spPr>
        <p:txBody>
          <a:bodyPr wrap="square" lIns="0" tIns="48895" rIns="0" bIns="0" rtlCol="0" vert="horz">
            <a:spAutoFit/>
          </a:bodyPr>
          <a:lstStyle/>
          <a:p>
            <a:pPr marL="365760" indent="-353060">
              <a:lnSpc>
                <a:spcPct val="100000"/>
              </a:lnSpc>
              <a:spcBef>
                <a:spcPts val="385"/>
              </a:spcBef>
              <a:buFont typeface="Tahoma"/>
              <a:buAutoNum type="arabicPeriod" startAt="8"/>
              <a:tabLst>
                <a:tab pos="365760" algn="l"/>
              </a:tabLst>
            </a:pPr>
            <a:r>
              <a:rPr dirty="0" sz="2400" spc="-10">
                <a:solidFill>
                  <a:srgbClr val="40458B"/>
                </a:solidFill>
                <a:latin typeface="黑体"/>
                <a:cs typeface="黑体"/>
              </a:rPr>
              <a:t>指令执行的步骤</a:t>
            </a:r>
            <a:endParaRPr sz="2400">
              <a:latin typeface="黑体"/>
              <a:cs typeface="黑体"/>
            </a:endParaRPr>
          </a:p>
          <a:p>
            <a:pPr marL="641985">
              <a:lnSpc>
                <a:spcPct val="100000"/>
              </a:lnSpc>
              <a:spcBef>
                <a:spcPts val="285"/>
              </a:spcBef>
              <a:tabLst>
                <a:tab pos="7805420" algn="l"/>
              </a:tabLst>
            </a:pPr>
            <a:r>
              <a:rPr dirty="0" sz="2400" spc="-10">
                <a:solidFill>
                  <a:srgbClr val="40458B"/>
                </a:solidFill>
                <a:latin typeface="黑体"/>
                <a:cs typeface="黑体"/>
              </a:rPr>
              <a:t>使用Tomasulo算法的流水线需3段（流出—执</a:t>
            </a:r>
            <a:r>
              <a:rPr dirty="0" sz="2400">
                <a:solidFill>
                  <a:srgbClr val="40458B"/>
                </a:solidFill>
                <a:latin typeface="黑体"/>
                <a:cs typeface="黑体"/>
              </a:rPr>
              <a:t>行</a:t>
            </a:r>
            <a:r>
              <a:rPr dirty="0" sz="2400" spc="-10">
                <a:solidFill>
                  <a:srgbClr val="40458B"/>
                </a:solidFill>
                <a:latin typeface="黑体"/>
                <a:cs typeface="黑体"/>
              </a:rPr>
              <a:t>—</a:t>
            </a:r>
            <a:r>
              <a:rPr dirty="0" sz="2400" spc="-50">
                <a:solidFill>
                  <a:srgbClr val="40458B"/>
                </a:solidFill>
                <a:latin typeface="黑体"/>
                <a:cs typeface="黑体"/>
              </a:rPr>
              <a:t>写</a:t>
            </a:r>
            <a:r>
              <a:rPr dirty="0" sz="2400">
                <a:solidFill>
                  <a:srgbClr val="40458B"/>
                </a:solidFill>
                <a:latin typeface="黑体"/>
                <a:cs typeface="黑体"/>
              </a:rPr>
              <a:t>	</a:t>
            </a:r>
            <a:r>
              <a:rPr dirty="0" sz="2400" spc="-25">
                <a:solidFill>
                  <a:srgbClr val="40458B"/>
                </a:solidFill>
                <a:latin typeface="黑体"/>
                <a:cs typeface="黑体"/>
              </a:rPr>
              <a:t>）</a:t>
            </a:r>
            <a:r>
              <a:rPr dirty="0" sz="2400" spc="-25" b="1">
                <a:solidFill>
                  <a:srgbClr val="40458B"/>
                </a:solidFill>
                <a:latin typeface="黑体"/>
                <a:cs typeface="黑体"/>
              </a:rPr>
              <a:t>：</a:t>
            </a:r>
            <a:endParaRPr sz="2400">
              <a:latin typeface="黑体"/>
              <a:cs typeface="黑体"/>
            </a:endParaRPr>
          </a:p>
          <a:p>
            <a:pPr lvl="1" marL="469265" indent="-456565">
              <a:lnSpc>
                <a:spcPct val="100000"/>
              </a:lnSpc>
              <a:spcBef>
                <a:spcPts val="290"/>
              </a:spcBef>
              <a:buFont typeface="Wingdings"/>
              <a:buChar char=""/>
              <a:tabLst>
                <a:tab pos="469265" algn="l"/>
              </a:tabLst>
            </a:pPr>
            <a:r>
              <a:rPr dirty="0" sz="2400">
                <a:solidFill>
                  <a:srgbClr val="40458B"/>
                </a:solidFill>
                <a:latin typeface="黑体"/>
                <a:cs typeface="黑体"/>
              </a:rPr>
              <a:t>流出：从指令队列的头部取一条指令（完成两个工作：分析源操作数和预约结果存放</a:t>
            </a:r>
            <a:r>
              <a:rPr dirty="0" sz="2400" spc="-50">
                <a:solidFill>
                  <a:srgbClr val="40458B"/>
                </a:solidFill>
                <a:latin typeface="黑体"/>
                <a:cs typeface="黑体"/>
              </a:rPr>
              <a:t>）</a:t>
            </a:r>
            <a:endParaRPr sz="2400">
              <a:latin typeface="黑体"/>
              <a:cs typeface="黑体"/>
            </a:endParaRPr>
          </a:p>
          <a:p>
            <a:pPr lvl="2" marL="1099185" indent="-457200">
              <a:lnSpc>
                <a:spcPct val="100000"/>
              </a:lnSpc>
              <a:spcBef>
                <a:spcPts val="290"/>
              </a:spcBef>
              <a:buClr>
                <a:srgbClr val="006FC0"/>
              </a:buClr>
              <a:buSzPct val="64583"/>
              <a:buFont typeface="Wingdings"/>
              <a:buChar char=""/>
              <a:tabLst>
                <a:tab pos="1099185" algn="l"/>
              </a:tabLst>
            </a:pPr>
            <a:r>
              <a:rPr dirty="0" sz="2400" spc="-10">
                <a:solidFill>
                  <a:srgbClr val="9966FF"/>
                </a:solidFill>
                <a:latin typeface="黑体"/>
                <a:cs typeface="黑体"/>
              </a:rPr>
              <a:t>分析操作数从哪里来</a:t>
            </a:r>
            <a:endParaRPr sz="2400">
              <a:latin typeface="黑体"/>
              <a:cs typeface="黑体"/>
            </a:endParaRPr>
          </a:p>
          <a:p>
            <a:pPr lvl="3" marL="1369695" indent="-381000">
              <a:lnSpc>
                <a:spcPct val="100000"/>
              </a:lnSpc>
              <a:spcBef>
                <a:spcPts val="1395"/>
              </a:spcBef>
              <a:buClr>
                <a:srgbClr val="9966FF"/>
              </a:buClr>
              <a:buSzPct val="63888"/>
              <a:buFont typeface="Wingdings"/>
              <a:buChar char=""/>
              <a:tabLst>
                <a:tab pos="1369695" algn="l"/>
              </a:tabLst>
            </a:pPr>
            <a:r>
              <a:rPr dirty="0" sz="1800" spc="-10" b="1">
                <a:solidFill>
                  <a:srgbClr val="FF09FF"/>
                </a:solidFill>
                <a:latin typeface="宋体"/>
                <a:cs typeface="宋体"/>
              </a:rPr>
              <a:t>如果该指令的操作所要求的保留站有空闲的，就把该指令送到该保留站（设为r）</a:t>
            </a:r>
            <a:r>
              <a:rPr dirty="0" sz="1800" spc="-50" b="1">
                <a:solidFill>
                  <a:srgbClr val="FF09FF"/>
                </a:solidFill>
                <a:latin typeface="宋体"/>
                <a:cs typeface="宋体"/>
              </a:rPr>
              <a:t>。</a:t>
            </a:r>
            <a:endParaRPr sz="1800">
              <a:latin typeface="宋体"/>
              <a:cs typeface="宋体"/>
            </a:endParaRPr>
          </a:p>
          <a:p>
            <a:pPr lvl="3" marL="1369695" indent="-381000">
              <a:lnSpc>
                <a:spcPct val="100000"/>
              </a:lnSpc>
              <a:spcBef>
                <a:spcPts val="869"/>
              </a:spcBef>
              <a:buClr>
                <a:srgbClr val="9966FF"/>
              </a:buClr>
              <a:buSzPct val="63888"/>
              <a:buFont typeface="Wingdings"/>
              <a:buChar char=""/>
              <a:tabLst>
                <a:tab pos="1369695" algn="l"/>
              </a:tabLst>
            </a:pPr>
            <a:r>
              <a:rPr dirty="0" sz="1800" spc="-10" b="1">
                <a:solidFill>
                  <a:srgbClr val="FF09FF"/>
                </a:solidFill>
                <a:latin typeface="宋体"/>
                <a:cs typeface="宋体"/>
              </a:rPr>
              <a:t>如果其操作数在寄存器中已经就绪，就将这些操作数送入保留站</a:t>
            </a:r>
            <a:r>
              <a:rPr dirty="0" sz="1800" spc="-10" b="1">
                <a:solidFill>
                  <a:srgbClr val="9933FF"/>
                </a:solidFill>
                <a:latin typeface="宋体"/>
                <a:cs typeface="宋体"/>
              </a:rPr>
              <a:t>r</a:t>
            </a:r>
            <a:r>
              <a:rPr dirty="0" sz="1800" spc="-50" b="1">
                <a:solidFill>
                  <a:srgbClr val="FF09FF"/>
                </a:solidFill>
                <a:latin typeface="宋体"/>
                <a:cs typeface="宋体"/>
              </a:rPr>
              <a:t>。</a:t>
            </a:r>
            <a:endParaRPr sz="1800">
              <a:latin typeface="宋体"/>
              <a:cs typeface="宋体"/>
            </a:endParaRPr>
          </a:p>
          <a:p>
            <a:pPr lvl="3" marL="1369695" indent="-381000">
              <a:lnSpc>
                <a:spcPct val="100000"/>
              </a:lnSpc>
              <a:spcBef>
                <a:spcPts val="865"/>
              </a:spcBef>
              <a:buClr>
                <a:srgbClr val="9966FF"/>
              </a:buClr>
              <a:buSzPct val="63888"/>
              <a:buFont typeface="Wingdings"/>
              <a:buChar char=""/>
              <a:tabLst>
                <a:tab pos="1369695" algn="l"/>
              </a:tabLst>
            </a:pPr>
            <a:r>
              <a:rPr dirty="0" sz="1800" spc="-10" b="1">
                <a:solidFill>
                  <a:srgbClr val="FF09FF"/>
                </a:solidFill>
                <a:latin typeface="宋体"/>
                <a:cs typeface="宋体"/>
              </a:rPr>
              <a:t>如果其操作数还没有就绪，就把将产生该操作数的保留站的标识送入保留站</a:t>
            </a:r>
            <a:r>
              <a:rPr dirty="0" sz="1800" spc="-10" b="1">
                <a:solidFill>
                  <a:srgbClr val="9933FF"/>
                </a:solidFill>
                <a:latin typeface="宋体"/>
                <a:cs typeface="宋体"/>
              </a:rPr>
              <a:t>r</a:t>
            </a:r>
            <a:r>
              <a:rPr dirty="0" sz="1800" spc="-50" b="1">
                <a:solidFill>
                  <a:srgbClr val="FF09FF"/>
                </a:solidFill>
                <a:latin typeface="宋体"/>
                <a:cs typeface="宋体"/>
              </a:rPr>
              <a:t>。</a:t>
            </a:r>
            <a:endParaRPr sz="1800">
              <a:latin typeface="宋体"/>
              <a:cs typeface="宋体"/>
            </a:endParaRPr>
          </a:p>
          <a:p>
            <a:pPr lvl="3" marL="1369695" indent="-381000">
              <a:lnSpc>
                <a:spcPct val="100000"/>
              </a:lnSpc>
              <a:spcBef>
                <a:spcPts val="860"/>
              </a:spcBef>
              <a:buClr>
                <a:srgbClr val="9966FF"/>
              </a:buClr>
              <a:buSzPct val="63888"/>
              <a:buFont typeface="Wingdings"/>
              <a:buChar char=""/>
              <a:tabLst>
                <a:tab pos="1369695" algn="l"/>
              </a:tabLst>
            </a:pPr>
            <a:r>
              <a:rPr dirty="0" sz="1800" spc="-10" b="1">
                <a:solidFill>
                  <a:srgbClr val="FF09FF"/>
                </a:solidFill>
                <a:latin typeface="宋体"/>
                <a:cs typeface="宋体"/>
              </a:rPr>
              <a:t>一旦被记录的保留站完成计算，它将直接把数据送给保留站</a:t>
            </a:r>
            <a:r>
              <a:rPr dirty="0" sz="1800" spc="-10" b="1">
                <a:solidFill>
                  <a:srgbClr val="9933FF"/>
                </a:solidFill>
                <a:latin typeface="宋体"/>
                <a:cs typeface="宋体"/>
              </a:rPr>
              <a:t>r</a:t>
            </a:r>
            <a:r>
              <a:rPr dirty="0" sz="1800" spc="-50" b="1">
                <a:solidFill>
                  <a:srgbClr val="FF09FF"/>
                </a:solidFill>
                <a:latin typeface="宋体"/>
                <a:cs typeface="宋体"/>
              </a:rPr>
              <a:t>。</a:t>
            </a:r>
            <a:endParaRPr sz="1800">
              <a:latin typeface="宋体"/>
              <a:cs typeface="宋体"/>
            </a:endParaRPr>
          </a:p>
          <a:p>
            <a:pPr marL="1799589">
              <a:lnSpc>
                <a:spcPct val="100000"/>
              </a:lnSpc>
              <a:spcBef>
                <a:spcPts val="865"/>
              </a:spcBef>
            </a:pPr>
            <a:r>
              <a:rPr dirty="0" sz="1800" spc="-20" b="1">
                <a:solidFill>
                  <a:srgbClr val="FF09FF"/>
                </a:solidFill>
                <a:latin typeface="宋体"/>
                <a:cs typeface="宋体"/>
              </a:rPr>
              <a:t>（</a:t>
            </a:r>
            <a:r>
              <a:rPr dirty="0" sz="1800" spc="-20" b="1">
                <a:solidFill>
                  <a:srgbClr val="FF0000"/>
                </a:solidFill>
                <a:latin typeface="宋体"/>
                <a:cs typeface="宋体"/>
              </a:rPr>
              <a:t>寄存器换名(换成保留站的标识)</a:t>
            </a:r>
            <a:r>
              <a:rPr dirty="0" sz="1800" spc="-20" b="1">
                <a:solidFill>
                  <a:srgbClr val="FF09FF"/>
                </a:solidFill>
                <a:latin typeface="宋体"/>
                <a:cs typeface="宋体"/>
              </a:rPr>
              <a:t>和</a:t>
            </a:r>
            <a:r>
              <a:rPr dirty="0" sz="1800" spc="-20" b="1">
                <a:solidFill>
                  <a:srgbClr val="FF0000"/>
                </a:solidFill>
                <a:latin typeface="宋体"/>
                <a:cs typeface="宋体"/>
              </a:rPr>
              <a:t>对操作数进行缓冲</a:t>
            </a:r>
            <a:r>
              <a:rPr dirty="0" sz="1800" spc="-20" b="1">
                <a:solidFill>
                  <a:srgbClr val="FF09FF"/>
                </a:solidFill>
                <a:latin typeface="宋体"/>
                <a:cs typeface="宋体"/>
              </a:rPr>
              <a:t>，消除</a:t>
            </a:r>
            <a:r>
              <a:rPr dirty="0" sz="1800" spc="-10" b="1">
                <a:solidFill>
                  <a:srgbClr val="9933FF"/>
                </a:solidFill>
                <a:latin typeface="宋体"/>
                <a:cs typeface="宋体"/>
              </a:rPr>
              <a:t>WAR</a:t>
            </a:r>
            <a:r>
              <a:rPr dirty="0" sz="1800" spc="-20" b="1">
                <a:solidFill>
                  <a:srgbClr val="FF09FF"/>
                </a:solidFill>
                <a:latin typeface="宋体"/>
                <a:cs typeface="宋体"/>
              </a:rPr>
              <a:t>冲突，见前面</a:t>
            </a:r>
            <a:r>
              <a:rPr dirty="0" sz="1800" b="1">
                <a:solidFill>
                  <a:srgbClr val="FF09FF"/>
                </a:solidFill>
                <a:latin typeface="宋体"/>
                <a:cs typeface="宋体"/>
              </a:rPr>
              <a:t>ppt</a:t>
            </a:r>
            <a:r>
              <a:rPr dirty="0" sz="1800" spc="210" b="1">
                <a:solidFill>
                  <a:srgbClr val="FF09FF"/>
                </a:solidFill>
                <a:latin typeface="宋体"/>
                <a:cs typeface="宋体"/>
              </a:rPr>
              <a:t> </a:t>
            </a:r>
            <a:r>
              <a:rPr dirty="0" sz="1800" spc="-20" b="1">
                <a:solidFill>
                  <a:srgbClr val="FF09FF"/>
                </a:solidFill>
                <a:latin typeface="宋体"/>
                <a:cs typeface="宋体"/>
              </a:rPr>
              <a:t>p69）</a:t>
            </a:r>
            <a:endParaRPr sz="1800">
              <a:latin typeface="宋体"/>
              <a:cs typeface="宋体"/>
            </a:endParaRPr>
          </a:p>
          <a:p>
            <a:pPr lvl="2" marL="1082040" indent="-457834">
              <a:lnSpc>
                <a:spcPct val="100000"/>
              </a:lnSpc>
              <a:spcBef>
                <a:spcPts val="930"/>
              </a:spcBef>
              <a:buClr>
                <a:srgbClr val="4668F5"/>
              </a:buClr>
              <a:buSzPct val="70000"/>
              <a:buFont typeface="Wingdings"/>
              <a:buChar char=""/>
              <a:tabLst>
                <a:tab pos="1082040" algn="l"/>
              </a:tabLst>
            </a:pPr>
            <a:r>
              <a:rPr dirty="0" sz="2000" spc="-15" b="1">
                <a:solidFill>
                  <a:srgbClr val="9966FF"/>
                </a:solidFill>
                <a:latin typeface="宋体"/>
                <a:cs typeface="宋体"/>
              </a:rPr>
              <a:t>完成对目标寄存器的预约工作</a:t>
            </a:r>
            <a:endParaRPr sz="2000">
              <a:latin typeface="宋体"/>
              <a:cs typeface="宋体"/>
            </a:endParaRPr>
          </a:p>
          <a:p>
            <a:pPr algn="just" lvl="3" marL="1369695" marR="727075" indent="-381635">
              <a:lnSpc>
                <a:spcPct val="119600"/>
              </a:lnSpc>
              <a:spcBef>
                <a:spcPts val="475"/>
              </a:spcBef>
              <a:buClr>
                <a:srgbClr val="9966FF"/>
              </a:buClr>
              <a:buSzPct val="68750"/>
              <a:buFont typeface="Wingdings"/>
              <a:buChar char=""/>
              <a:tabLst>
                <a:tab pos="1369695" algn="l"/>
              </a:tabLst>
            </a:pPr>
            <a:r>
              <a:rPr dirty="0" sz="1600" spc="-85" b="1">
                <a:solidFill>
                  <a:srgbClr val="FF0000"/>
                </a:solidFill>
                <a:latin typeface="宋体"/>
                <a:cs typeface="宋体"/>
              </a:rPr>
              <a:t>分析 结果要到哪里去 </a:t>
            </a:r>
            <a:r>
              <a:rPr dirty="0" sz="1600" spc="-25" b="1">
                <a:solidFill>
                  <a:srgbClr val="FF09FF"/>
                </a:solidFill>
                <a:latin typeface="宋体"/>
                <a:cs typeface="宋体"/>
              </a:rPr>
              <a:t>，将之设置为保留站</a:t>
            </a:r>
            <a:r>
              <a:rPr dirty="0" sz="1600" spc="-15" b="1">
                <a:solidFill>
                  <a:srgbClr val="FF09FF"/>
                </a:solidFill>
                <a:latin typeface="Tahoma"/>
                <a:cs typeface="Tahoma"/>
              </a:rPr>
              <a:t>r</a:t>
            </a:r>
            <a:r>
              <a:rPr dirty="0" sz="1600" spc="-25" b="1">
                <a:solidFill>
                  <a:srgbClr val="FF09FF"/>
                </a:solidFill>
                <a:latin typeface="宋体"/>
                <a:cs typeface="宋体"/>
              </a:rPr>
              <a:t>的结果</a:t>
            </a:r>
            <a:r>
              <a:rPr dirty="0" sz="1600" b="1">
                <a:solidFill>
                  <a:srgbClr val="FF09FF"/>
                </a:solidFill>
                <a:latin typeface="Tahoma"/>
                <a:cs typeface="Tahoma"/>
              </a:rPr>
              <a:t>---</a:t>
            </a:r>
            <a:r>
              <a:rPr dirty="0" sz="1600" spc="-25" b="1">
                <a:solidFill>
                  <a:srgbClr val="FF09FF"/>
                </a:solidFill>
                <a:latin typeface="宋体"/>
                <a:cs typeface="宋体"/>
              </a:rPr>
              <a:t>这相当于完成了写操作</a:t>
            </a:r>
            <a:r>
              <a:rPr dirty="0" sz="1600" spc="-5" b="1">
                <a:solidFill>
                  <a:srgbClr val="FF09FF"/>
                </a:solidFill>
                <a:latin typeface="宋体"/>
                <a:cs typeface="宋体"/>
              </a:rPr>
              <a:t>（</a:t>
            </a:r>
            <a:r>
              <a:rPr dirty="0" sz="1600" spc="-20" b="1">
                <a:solidFill>
                  <a:srgbClr val="001F5F"/>
                </a:solidFill>
                <a:latin typeface="宋体"/>
                <a:cs typeface="宋体"/>
              </a:rPr>
              <a:t>预约</a:t>
            </a:r>
            <a:r>
              <a:rPr dirty="0" sz="1600" spc="-25" b="1">
                <a:solidFill>
                  <a:srgbClr val="FF09FF"/>
                </a:solidFill>
                <a:latin typeface="宋体"/>
                <a:cs typeface="宋体"/>
              </a:rPr>
              <a:t>）（</a:t>
            </a:r>
            <a:r>
              <a:rPr dirty="0" sz="1800">
                <a:solidFill>
                  <a:srgbClr val="FF09FF"/>
                </a:solidFill>
                <a:latin typeface="宋体"/>
                <a:cs typeface="宋体"/>
              </a:rPr>
              <a:t>提前完成了写操作虽然不知道结果，但是把保留站表示暂时作为结果看待</a:t>
            </a:r>
            <a:r>
              <a:rPr dirty="0" sz="1600" spc="-25" b="1">
                <a:solidFill>
                  <a:srgbClr val="FF09FF"/>
                </a:solidFill>
                <a:latin typeface="宋体"/>
                <a:cs typeface="宋体"/>
              </a:rPr>
              <a:t>）（</a:t>
            </a:r>
            <a:r>
              <a:rPr dirty="0" sz="1600" spc="-30" b="1">
                <a:solidFill>
                  <a:srgbClr val="FF09FF"/>
                </a:solidFill>
                <a:latin typeface="宋体"/>
                <a:cs typeface="宋体"/>
              </a:rPr>
              <a:t>由于指令按序流出，当多条指令写同一个结果寄</a:t>
            </a:r>
            <a:r>
              <a:rPr dirty="0" sz="1600" spc="-15" b="1">
                <a:solidFill>
                  <a:srgbClr val="FF09FF"/>
                </a:solidFill>
                <a:latin typeface="宋体"/>
                <a:cs typeface="宋体"/>
              </a:rPr>
              <a:t>存器，最后留下的一定是最后一条指令的，即消除了写后写冲突</a:t>
            </a:r>
            <a:r>
              <a:rPr dirty="0" sz="1600" b="1">
                <a:solidFill>
                  <a:srgbClr val="FF09FF"/>
                </a:solidFill>
                <a:latin typeface="宋体"/>
                <a:cs typeface="宋体"/>
              </a:rPr>
              <a:t>）</a:t>
            </a:r>
            <a:r>
              <a:rPr dirty="0" sz="1600" b="1">
                <a:solidFill>
                  <a:srgbClr val="006FC0"/>
                </a:solidFill>
                <a:latin typeface="宋体"/>
                <a:cs typeface="宋体"/>
              </a:rPr>
              <a:t>（</a:t>
            </a:r>
            <a:r>
              <a:rPr dirty="0" sz="1600" spc="-15" b="1">
                <a:solidFill>
                  <a:srgbClr val="006FC0"/>
                </a:solidFill>
                <a:latin typeface="宋体"/>
                <a:cs typeface="宋体"/>
              </a:rPr>
              <a:t>消除了</a:t>
            </a:r>
            <a:r>
              <a:rPr dirty="0" sz="1600" spc="-5" b="1">
                <a:solidFill>
                  <a:srgbClr val="006FC0"/>
                </a:solidFill>
                <a:latin typeface="宋体"/>
                <a:cs typeface="宋体"/>
              </a:rPr>
              <a:t>WAW冲突</a:t>
            </a:r>
            <a:r>
              <a:rPr dirty="0" sz="1600" spc="-20" b="1">
                <a:solidFill>
                  <a:srgbClr val="006FC0"/>
                </a:solidFill>
                <a:latin typeface="宋体"/>
                <a:cs typeface="宋体"/>
              </a:rPr>
              <a:t>）</a:t>
            </a:r>
            <a:endParaRPr sz="1600">
              <a:latin typeface="宋体"/>
              <a:cs typeface="宋体"/>
            </a:endParaRPr>
          </a:p>
          <a:p>
            <a:pPr algn="just" lvl="2" marL="1080770" indent="-456565">
              <a:lnSpc>
                <a:spcPct val="100000"/>
              </a:lnSpc>
              <a:spcBef>
                <a:spcPts val="894"/>
              </a:spcBef>
              <a:buClr>
                <a:srgbClr val="4668F5"/>
              </a:buClr>
              <a:buSzPct val="70000"/>
              <a:buFont typeface="Wingdings"/>
              <a:buChar char=""/>
              <a:tabLst>
                <a:tab pos="1080770" algn="l"/>
              </a:tabLst>
            </a:pPr>
            <a:r>
              <a:rPr dirty="0" sz="2000" spc="-45" b="1">
                <a:solidFill>
                  <a:srgbClr val="9966FF"/>
                </a:solidFill>
                <a:latin typeface="宋体"/>
                <a:cs typeface="宋体"/>
              </a:rPr>
              <a:t>如果没有空闲的保留站，指令就不能流出。 </a:t>
            </a:r>
            <a:r>
              <a:rPr dirty="0" sz="2000" spc="-10" b="1">
                <a:solidFill>
                  <a:srgbClr val="40458B"/>
                </a:solidFill>
                <a:latin typeface="宋体"/>
                <a:cs typeface="宋体"/>
              </a:rPr>
              <a:t>（发生了结构冲突</a:t>
            </a:r>
            <a:r>
              <a:rPr dirty="0" sz="2000" spc="-50" b="1">
                <a:solidFill>
                  <a:srgbClr val="40458B"/>
                </a:solidFill>
                <a:latin typeface="宋体"/>
                <a:cs typeface="宋体"/>
              </a:rPr>
              <a:t>）</a:t>
            </a:r>
            <a:endParaRPr sz="2000">
              <a:latin typeface="宋体"/>
              <a:cs typeface="宋体"/>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81/175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97916" y="938276"/>
            <a:ext cx="12065000" cy="391160"/>
          </a:xfrm>
          <a:prstGeom prst="rect">
            <a:avLst/>
          </a:prstGeom>
        </p:spPr>
        <p:txBody>
          <a:bodyPr wrap="square" lIns="0" tIns="12700" rIns="0" bIns="0" rtlCol="0" vert="horz">
            <a:spAutoFit/>
          </a:bodyPr>
          <a:lstStyle/>
          <a:p>
            <a:pPr marL="469265" indent="-456565">
              <a:lnSpc>
                <a:spcPct val="100000"/>
              </a:lnSpc>
              <a:spcBef>
                <a:spcPts val="100"/>
              </a:spcBef>
              <a:buFont typeface="Wingdings"/>
              <a:buChar char=""/>
              <a:tabLst>
                <a:tab pos="469265" algn="l"/>
              </a:tabLst>
            </a:pPr>
            <a:r>
              <a:rPr dirty="0" sz="2400">
                <a:solidFill>
                  <a:srgbClr val="40458B"/>
                </a:solidFill>
                <a:latin typeface="黑体"/>
                <a:cs typeface="黑体"/>
              </a:rPr>
              <a:t>流出：从指令队列的头部取一条指令（完成两个工作：分析源操作数和预约结果存放</a:t>
            </a:r>
            <a:r>
              <a:rPr dirty="0" sz="2400" spc="-50">
                <a:solidFill>
                  <a:srgbClr val="40458B"/>
                </a:solidFill>
                <a:latin typeface="黑体"/>
                <a:cs typeface="黑体"/>
              </a:rPr>
              <a:t>）</a:t>
            </a:r>
            <a:endParaRPr sz="2400">
              <a:latin typeface="黑体"/>
              <a:cs typeface="黑体"/>
            </a:endParaRPr>
          </a:p>
        </p:txBody>
      </p:sp>
      <p:sp>
        <p:nvSpPr>
          <p:cNvPr id="11" name="object 11" descr=""/>
          <p:cNvSpPr/>
          <p:nvPr/>
        </p:nvSpPr>
        <p:spPr>
          <a:xfrm>
            <a:off x="1487550" y="2738501"/>
            <a:ext cx="1224280" cy="2519680"/>
          </a:xfrm>
          <a:custGeom>
            <a:avLst/>
            <a:gdLst/>
            <a:ahLst/>
            <a:cxnLst/>
            <a:rect l="l" t="t" r="r" b="b"/>
            <a:pathLst>
              <a:path w="1224280" h="2519679">
                <a:moveTo>
                  <a:pt x="1223899" y="2519299"/>
                </a:moveTo>
                <a:lnTo>
                  <a:pt x="1147140" y="2518505"/>
                </a:lnTo>
                <a:lnTo>
                  <a:pt x="1073224" y="2516188"/>
                </a:lnTo>
                <a:lnTo>
                  <a:pt x="1002724" y="2512442"/>
                </a:lnTo>
                <a:lnTo>
                  <a:pt x="936214" y="2507363"/>
                </a:lnTo>
                <a:lnTo>
                  <a:pt x="874268" y="2501045"/>
                </a:lnTo>
                <a:lnTo>
                  <a:pt x="817460" y="2493583"/>
                </a:lnTo>
                <a:lnTo>
                  <a:pt x="766364" y="2485073"/>
                </a:lnTo>
                <a:lnTo>
                  <a:pt x="721554" y="2475610"/>
                </a:lnTo>
                <a:lnTo>
                  <a:pt x="683604" y="2465288"/>
                </a:lnTo>
                <a:lnTo>
                  <a:pt x="630580" y="2442450"/>
                </a:lnTo>
                <a:lnTo>
                  <a:pt x="611886" y="2417318"/>
                </a:lnTo>
                <a:lnTo>
                  <a:pt x="611886" y="1361567"/>
                </a:lnTo>
                <a:lnTo>
                  <a:pt x="607118" y="1348786"/>
                </a:lnTo>
                <a:lnTo>
                  <a:pt x="570700" y="1324733"/>
                </a:lnTo>
                <a:lnTo>
                  <a:pt x="502259" y="1303329"/>
                </a:lnTo>
                <a:lnTo>
                  <a:pt x="457463" y="1293862"/>
                </a:lnTo>
                <a:lnTo>
                  <a:pt x="406382" y="1285344"/>
                </a:lnTo>
                <a:lnTo>
                  <a:pt x="349588" y="1277874"/>
                </a:lnTo>
                <a:lnTo>
                  <a:pt x="287655" y="1271546"/>
                </a:lnTo>
                <a:lnTo>
                  <a:pt x="221157" y="1266458"/>
                </a:lnTo>
                <a:lnTo>
                  <a:pt x="150666" y="1262704"/>
                </a:lnTo>
                <a:lnTo>
                  <a:pt x="76755" y="1260381"/>
                </a:lnTo>
                <a:lnTo>
                  <a:pt x="0" y="1259586"/>
                </a:lnTo>
                <a:lnTo>
                  <a:pt x="76755" y="1258792"/>
                </a:lnTo>
                <a:lnTo>
                  <a:pt x="150666" y="1256475"/>
                </a:lnTo>
                <a:lnTo>
                  <a:pt x="221157" y="1252731"/>
                </a:lnTo>
                <a:lnTo>
                  <a:pt x="287655" y="1247653"/>
                </a:lnTo>
                <a:lnTo>
                  <a:pt x="349588" y="1241339"/>
                </a:lnTo>
                <a:lnTo>
                  <a:pt x="406382" y="1233883"/>
                </a:lnTo>
                <a:lnTo>
                  <a:pt x="457463" y="1225380"/>
                </a:lnTo>
                <a:lnTo>
                  <a:pt x="502259" y="1215927"/>
                </a:lnTo>
                <a:lnTo>
                  <a:pt x="540196" y="1205617"/>
                </a:lnTo>
                <a:lnTo>
                  <a:pt x="593199" y="1182813"/>
                </a:lnTo>
                <a:lnTo>
                  <a:pt x="611886" y="1157732"/>
                </a:lnTo>
                <a:lnTo>
                  <a:pt x="611886" y="101853"/>
                </a:lnTo>
                <a:lnTo>
                  <a:pt x="616655" y="89075"/>
                </a:lnTo>
                <a:lnTo>
                  <a:pt x="653088" y="65037"/>
                </a:lnTo>
                <a:lnTo>
                  <a:pt x="721554" y="43658"/>
                </a:lnTo>
                <a:lnTo>
                  <a:pt x="766364" y="34205"/>
                </a:lnTo>
                <a:lnTo>
                  <a:pt x="817460" y="25702"/>
                </a:lnTo>
                <a:lnTo>
                  <a:pt x="874268" y="18246"/>
                </a:lnTo>
                <a:lnTo>
                  <a:pt x="936214" y="11932"/>
                </a:lnTo>
                <a:lnTo>
                  <a:pt x="1002724" y="6854"/>
                </a:lnTo>
                <a:lnTo>
                  <a:pt x="1073224" y="3110"/>
                </a:lnTo>
                <a:lnTo>
                  <a:pt x="1147140" y="793"/>
                </a:lnTo>
                <a:lnTo>
                  <a:pt x="1223899" y="0"/>
                </a:lnTo>
              </a:path>
            </a:pathLst>
          </a:custGeom>
          <a:ln w="9525">
            <a:solidFill>
              <a:srgbClr val="40458B"/>
            </a:solidFill>
          </a:ln>
        </p:spPr>
        <p:txBody>
          <a:bodyPr wrap="square" lIns="0" tIns="0" rIns="0" bIns="0" rtlCol="0"/>
          <a:lstStyle/>
          <a:p/>
        </p:txBody>
      </p:sp>
      <p:sp>
        <p:nvSpPr>
          <p:cNvPr id="12" name="object 12" descr=""/>
          <p:cNvSpPr txBox="1"/>
          <p:nvPr/>
        </p:nvSpPr>
        <p:spPr>
          <a:xfrm>
            <a:off x="1134567" y="3255721"/>
            <a:ext cx="330835" cy="1480185"/>
          </a:xfrm>
          <a:prstGeom prst="rect">
            <a:avLst/>
          </a:prstGeom>
        </p:spPr>
        <p:txBody>
          <a:bodyPr wrap="square" lIns="0" tIns="15875" rIns="0" bIns="0" rtlCol="0" vert="horz">
            <a:spAutoFit/>
          </a:bodyPr>
          <a:lstStyle/>
          <a:p>
            <a:pPr algn="just" marL="12700" marR="5080">
              <a:lnSpc>
                <a:spcPct val="99200"/>
              </a:lnSpc>
              <a:spcBef>
                <a:spcPts val="125"/>
              </a:spcBef>
            </a:pPr>
            <a:r>
              <a:rPr dirty="0" sz="2400" spc="-50">
                <a:solidFill>
                  <a:srgbClr val="40458B"/>
                </a:solidFill>
                <a:latin typeface="黑体"/>
                <a:cs typeface="黑体"/>
              </a:rPr>
              <a:t>流出阶段</a:t>
            </a:r>
            <a:endParaRPr sz="2400">
              <a:latin typeface="黑体"/>
              <a:cs typeface="黑体"/>
            </a:endParaRPr>
          </a:p>
        </p:txBody>
      </p:sp>
      <p:sp>
        <p:nvSpPr>
          <p:cNvPr id="13" name="object 13" descr=""/>
          <p:cNvSpPr/>
          <p:nvPr/>
        </p:nvSpPr>
        <p:spPr>
          <a:xfrm>
            <a:off x="3503676" y="1838325"/>
            <a:ext cx="1224280" cy="1800225"/>
          </a:xfrm>
          <a:custGeom>
            <a:avLst/>
            <a:gdLst/>
            <a:ahLst/>
            <a:cxnLst/>
            <a:rect l="l" t="t" r="r" b="b"/>
            <a:pathLst>
              <a:path w="1224279" h="1800225">
                <a:moveTo>
                  <a:pt x="1223899" y="1800225"/>
                </a:moveTo>
                <a:lnTo>
                  <a:pt x="1147140" y="1799429"/>
                </a:lnTo>
                <a:lnTo>
                  <a:pt x="1073224" y="1797106"/>
                </a:lnTo>
                <a:lnTo>
                  <a:pt x="1002724" y="1793352"/>
                </a:lnTo>
                <a:lnTo>
                  <a:pt x="936214" y="1788264"/>
                </a:lnTo>
                <a:lnTo>
                  <a:pt x="874268" y="1781936"/>
                </a:lnTo>
                <a:lnTo>
                  <a:pt x="817460" y="1774466"/>
                </a:lnTo>
                <a:lnTo>
                  <a:pt x="766364" y="1765948"/>
                </a:lnTo>
                <a:lnTo>
                  <a:pt x="721554" y="1756481"/>
                </a:lnTo>
                <a:lnTo>
                  <a:pt x="683604" y="1746158"/>
                </a:lnTo>
                <a:lnTo>
                  <a:pt x="630580" y="1723334"/>
                </a:lnTo>
                <a:lnTo>
                  <a:pt x="611886" y="1698244"/>
                </a:lnTo>
                <a:lnTo>
                  <a:pt x="611886" y="1002157"/>
                </a:lnTo>
                <a:lnTo>
                  <a:pt x="607118" y="989349"/>
                </a:lnTo>
                <a:lnTo>
                  <a:pt x="570700" y="965254"/>
                </a:lnTo>
                <a:lnTo>
                  <a:pt x="502259" y="943822"/>
                </a:lnTo>
                <a:lnTo>
                  <a:pt x="457463" y="934344"/>
                </a:lnTo>
                <a:lnTo>
                  <a:pt x="406382" y="925820"/>
                </a:lnTo>
                <a:lnTo>
                  <a:pt x="349588" y="918344"/>
                </a:lnTo>
                <a:lnTo>
                  <a:pt x="287655" y="912013"/>
                </a:lnTo>
                <a:lnTo>
                  <a:pt x="221157" y="906922"/>
                </a:lnTo>
                <a:lnTo>
                  <a:pt x="150666" y="903167"/>
                </a:lnTo>
                <a:lnTo>
                  <a:pt x="76755" y="900844"/>
                </a:lnTo>
                <a:lnTo>
                  <a:pt x="0" y="900049"/>
                </a:lnTo>
                <a:lnTo>
                  <a:pt x="76755" y="899255"/>
                </a:lnTo>
                <a:lnTo>
                  <a:pt x="150666" y="896938"/>
                </a:lnTo>
                <a:lnTo>
                  <a:pt x="221157" y="893192"/>
                </a:lnTo>
                <a:lnTo>
                  <a:pt x="287655" y="888113"/>
                </a:lnTo>
                <a:lnTo>
                  <a:pt x="349588" y="881795"/>
                </a:lnTo>
                <a:lnTo>
                  <a:pt x="406382" y="874333"/>
                </a:lnTo>
                <a:lnTo>
                  <a:pt x="457463" y="865823"/>
                </a:lnTo>
                <a:lnTo>
                  <a:pt x="502259" y="856360"/>
                </a:lnTo>
                <a:lnTo>
                  <a:pt x="540196" y="846038"/>
                </a:lnTo>
                <a:lnTo>
                  <a:pt x="593199" y="823200"/>
                </a:lnTo>
                <a:lnTo>
                  <a:pt x="611886" y="798067"/>
                </a:lnTo>
                <a:lnTo>
                  <a:pt x="611886" y="101980"/>
                </a:lnTo>
                <a:lnTo>
                  <a:pt x="616655" y="89200"/>
                </a:lnTo>
                <a:lnTo>
                  <a:pt x="653088" y="65147"/>
                </a:lnTo>
                <a:lnTo>
                  <a:pt x="721554" y="43743"/>
                </a:lnTo>
                <a:lnTo>
                  <a:pt x="766364" y="34276"/>
                </a:lnTo>
                <a:lnTo>
                  <a:pt x="817460" y="25758"/>
                </a:lnTo>
                <a:lnTo>
                  <a:pt x="874268" y="18288"/>
                </a:lnTo>
                <a:lnTo>
                  <a:pt x="936214" y="11960"/>
                </a:lnTo>
                <a:lnTo>
                  <a:pt x="1002724" y="6872"/>
                </a:lnTo>
                <a:lnTo>
                  <a:pt x="1073224" y="3118"/>
                </a:lnTo>
                <a:lnTo>
                  <a:pt x="1147140" y="795"/>
                </a:lnTo>
                <a:lnTo>
                  <a:pt x="1223899" y="0"/>
                </a:lnTo>
              </a:path>
            </a:pathLst>
          </a:custGeom>
          <a:ln w="9525">
            <a:solidFill>
              <a:srgbClr val="40458B"/>
            </a:solidFill>
          </a:ln>
        </p:spPr>
        <p:txBody>
          <a:bodyPr wrap="square" lIns="0" tIns="0" rIns="0" bIns="0" rtlCol="0"/>
          <a:lstStyle/>
          <a:p/>
        </p:txBody>
      </p:sp>
      <p:sp>
        <p:nvSpPr>
          <p:cNvPr id="14" name="object 14" descr=""/>
          <p:cNvSpPr txBox="1"/>
          <p:nvPr/>
        </p:nvSpPr>
        <p:spPr>
          <a:xfrm>
            <a:off x="2817622" y="1995296"/>
            <a:ext cx="330835" cy="1480185"/>
          </a:xfrm>
          <a:prstGeom prst="rect">
            <a:avLst/>
          </a:prstGeom>
        </p:spPr>
        <p:txBody>
          <a:bodyPr wrap="square" lIns="0" tIns="15240" rIns="0" bIns="0" rtlCol="0" vert="horz">
            <a:spAutoFit/>
          </a:bodyPr>
          <a:lstStyle/>
          <a:p>
            <a:pPr algn="just" marL="12700" marR="5080">
              <a:lnSpc>
                <a:spcPct val="99200"/>
              </a:lnSpc>
              <a:spcBef>
                <a:spcPts val="120"/>
              </a:spcBef>
            </a:pPr>
            <a:r>
              <a:rPr dirty="0" sz="2400" spc="-50">
                <a:solidFill>
                  <a:srgbClr val="40458B"/>
                </a:solidFill>
                <a:latin typeface="黑体"/>
                <a:cs typeface="黑体"/>
              </a:rPr>
              <a:t>源操作数</a:t>
            </a:r>
            <a:endParaRPr sz="2400">
              <a:latin typeface="黑体"/>
              <a:cs typeface="黑体"/>
            </a:endParaRPr>
          </a:p>
        </p:txBody>
      </p:sp>
      <p:sp>
        <p:nvSpPr>
          <p:cNvPr id="15" name="object 15" descr=""/>
          <p:cNvSpPr txBox="1"/>
          <p:nvPr/>
        </p:nvSpPr>
        <p:spPr>
          <a:xfrm>
            <a:off x="4816602" y="1613153"/>
            <a:ext cx="63500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40458B"/>
                </a:solidFill>
                <a:latin typeface="黑体"/>
                <a:cs typeface="黑体"/>
              </a:rPr>
              <a:t>就绪</a:t>
            </a:r>
            <a:endParaRPr sz="2400">
              <a:latin typeface="黑体"/>
              <a:cs typeface="黑体"/>
            </a:endParaRPr>
          </a:p>
        </p:txBody>
      </p:sp>
      <p:sp>
        <p:nvSpPr>
          <p:cNvPr id="16" name="object 16" descr=""/>
          <p:cNvSpPr txBox="1"/>
          <p:nvPr/>
        </p:nvSpPr>
        <p:spPr>
          <a:xfrm>
            <a:off x="4591050" y="3324859"/>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未就绪</a:t>
            </a:r>
            <a:endParaRPr sz="2400">
              <a:latin typeface="黑体"/>
              <a:cs typeface="黑体"/>
            </a:endParaRPr>
          </a:p>
        </p:txBody>
      </p:sp>
      <p:sp>
        <p:nvSpPr>
          <p:cNvPr id="17" name="object 17" descr=""/>
          <p:cNvSpPr/>
          <p:nvPr/>
        </p:nvSpPr>
        <p:spPr>
          <a:xfrm>
            <a:off x="5759450" y="1824101"/>
            <a:ext cx="1129030" cy="14604"/>
          </a:xfrm>
          <a:custGeom>
            <a:avLst/>
            <a:gdLst/>
            <a:ahLst/>
            <a:cxnLst/>
            <a:rect l="l" t="t" r="r" b="b"/>
            <a:pathLst>
              <a:path w="1129029" h="14605">
                <a:moveTo>
                  <a:pt x="0" y="14224"/>
                </a:moveTo>
                <a:lnTo>
                  <a:pt x="1128776" y="0"/>
                </a:lnTo>
              </a:path>
            </a:pathLst>
          </a:custGeom>
          <a:ln w="9525">
            <a:solidFill>
              <a:srgbClr val="40458B"/>
            </a:solidFill>
          </a:ln>
        </p:spPr>
        <p:txBody>
          <a:bodyPr wrap="square" lIns="0" tIns="0" rIns="0" bIns="0" rtlCol="0"/>
          <a:lstStyle/>
          <a:p/>
        </p:txBody>
      </p:sp>
      <p:sp>
        <p:nvSpPr>
          <p:cNvPr id="18" name="object 18" descr=""/>
          <p:cNvSpPr txBox="1"/>
          <p:nvPr/>
        </p:nvSpPr>
        <p:spPr>
          <a:xfrm>
            <a:off x="7037578" y="1639646"/>
            <a:ext cx="2159000" cy="391795"/>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操作数送保留站</a:t>
            </a:r>
            <a:endParaRPr sz="2400">
              <a:latin typeface="黑体"/>
              <a:cs typeface="黑体"/>
            </a:endParaRPr>
          </a:p>
        </p:txBody>
      </p:sp>
      <p:sp>
        <p:nvSpPr>
          <p:cNvPr id="19" name="object 19" descr=""/>
          <p:cNvSpPr/>
          <p:nvPr/>
        </p:nvSpPr>
        <p:spPr>
          <a:xfrm>
            <a:off x="5700776" y="3551173"/>
            <a:ext cx="1130300" cy="14604"/>
          </a:xfrm>
          <a:custGeom>
            <a:avLst/>
            <a:gdLst/>
            <a:ahLst/>
            <a:cxnLst/>
            <a:rect l="l" t="t" r="r" b="b"/>
            <a:pathLst>
              <a:path w="1130300" h="14604">
                <a:moveTo>
                  <a:pt x="0" y="14350"/>
                </a:moveTo>
                <a:lnTo>
                  <a:pt x="1130300" y="0"/>
                </a:lnTo>
              </a:path>
            </a:pathLst>
          </a:custGeom>
          <a:ln w="9525">
            <a:solidFill>
              <a:srgbClr val="40458B"/>
            </a:solidFill>
          </a:ln>
        </p:spPr>
        <p:txBody>
          <a:bodyPr wrap="square" lIns="0" tIns="0" rIns="0" bIns="0" rtlCol="0"/>
          <a:lstStyle/>
          <a:p/>
        </p:txBody>
      </p:sp>
      <p:sp>
        <p:nvSpPr>
          <p:cNvPr id="20" name="object 20" descr=""/>
          <p:cNvSpPr txBox="1"/>
          <p:nvPr/>
        </p:nvSpPr>
        <p:spPr>
          <a:xfrm>
            <a:off x="6980301" y="3367227"/>
            <a:ext cx="4907280" cy="391795"/>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产生该操作数的保留站号送往保留站</a:t>
            </a:r>
            <a:endParaRPr sz="2400">
              <a:latin typeface="黑体"/>
              <a:cs typeface="黑体"/>
            </a:endParaRPr>
          </a:p>
        </p:txBody>
      </p:sp>
      <p:sp>
        <p:nvSpPr>
          <p:cNvPr id="21" name="object 21" descr=""/>
          <p:cNvSpPr txBox="1"/>
          <p:nvPr/>
        </p:nvSpPr>
        <p:spPr>
          <a:xfrm>
            <a:off x="2898394" y="4624832"/>
            <a:ext cx="330200" cy="1845945"/>
          </a:xfrm>
          <a:prstGeom prst="rect">
            <a:avLst/>
          </a:prstGeom>
        </p:spPr>
        <p:txBody>
          <a:bodyPr wrap="square" lIns="0" tIns="14604" rIns="0" bIns="0" rtlCol="0" vert="horz">
            <a:spAutoFit/>
          </a:bodyPr>
          <a:lstStyle/>
          <a:p>
            <a:pPr algn="just" marL="12700" marR="5080">
              <a:lnSpc>
                <a:spcPct val="99400"/>
              </a:lnSpc>
              <a:spcBef>
                <a:spcPts val="114"/>
              </a:spcBef>
            </a:pPr>
            <a:r>
              <a:rPr dirty="0" sz="2400" spc="-50">
                <a:solidFill>
                  <a:srgbClr val="40458B"/>
                </a:solidFill>
                <a:latin typeface="黑体"/>
                <a:cs typeface="黑体"/>
              </a:rPr>
              <a:t>目标操作数</a:t>
            </a:r>
            <a:endParaRPr sz="2400">
              <a:latin typeface="黑体"/>
              <a:cs typeface="黑体"/>
            </a:endParaRPr>
          </a:p>
        </p:txBody>
      </p:sp>
      <p:sp>
        <p:nvSpPr>
          <p:cNvPr id="22" name="object 22" descr=""/>
          <p:cNvSpPr/>
          <p:nvPr/>
        </p:nvSpPr>
        <p:spPr>
          <a:xfrm>
            <a:off x="3383026" y="5557901"/>
            <a:ext cx="1129030" cy="14604"/>
          </a:xfrm>
          <a:custGeom>
            <a:avLst/>
            <a:gdLst/>
            <a:ahLst/>
            <a:cxnLst/>
            <a:rect l="l" t="t" r="r" b="b"/>
            <a:pathLst>
              <a:path w="1129029" h="14604">
                <a:moveTo>
                  <a:pt x="0" y="14224"/>
                </a:moveTo>
                <a:lnTo>
                  <a:pt x="1128649" y="0"/>
                </a:lnTo>
              </a:path>
            </a:pathLst>
          </a:custGeom>
          <a:ln w="9525">
            <a:solidFill>
              <a:srgbClr val="40458B"/>
            </a:solidFill>
          </a:ln>
        </p:spPr>
        <p:txBody>
          <a:bodyPr wrap="square" lIns="0" tIns="0" rIns="0" bIns="0" rtlCol="0"/>
          <a:lstStyle/>
          <a:p/>
        </p:txBody>
      </p:sp>
      <p:sp>
        <p:nvSpPr>
          <p:cNvPr id="23" name="object 23" descr=""/>
          <p:cNvSpPr txBox="1"/>
          <p:nvPr/>
        </p:nvSpPr>
        <p:spPr>
          <a:xfrm>
            <a:off x="4690998" y="5385917"/>
            <a:ext cx="185420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预约结果写</a:t>
            </a:r>
            <a:r>
              <a:rPr dirty="0" sz="2400" spc="-50">
                <a:solidFill>
                  <a:srgbClr val="40458B"/>
                </a:solidFill>
                <a:latin typeface="黑体"/>
                <a:cs typeface="黑体"/>
              </a:rPr>
              <a:t></a:t>
            </a:r>
            <a:endParaRPr sz="2400">
              <a:latin typeface="黑体"/>
              <a:cs typeface="黑体"/>
            </a:endParaRPr>
          </a:p>
        </p:txBody>
      </p:sp>
      <p:pic>
        <p:nvPicPr>
          <p:cNvPr id="24" name="object 24" descr=""/>
          <p:cNvPicPr/>
          <p:nvPr/>
        </p:nvPicPr>
        <p:blipFill>
          <a:blip r:embed="rId2" cstate="print"/>
          <a:stretch>
            <a:fillRect/>
          </a:stretch>
        </p:blipFill>
        <p:spPr>
          <a:xfrm>
            <a:off x="6259448" y="5471642"/>
            <a:ext cx="238125" cy="25082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82/175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3684904"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72618" y="539623"/>
            <a:ext cx="11958320" cy="5981700"/>
          </a:xfrm>
          <a:prstGeom prst="rect">
            <a:avLst/>
          </a:prstGeom>
        </p:spPr>
        <p:txBody>
          <a:bodyPr wrap="square" lIns="0" tIns="178435" rIns="0" bIns="0" rtlCol="0" vert="horz">
            <a:spAutoFit/>
          </a:bodyPr>
          <a:lstStyle/>
          <a:p>
            <a:pPr marL="469900" indent="-457200">
              <a:lnSpc>
                <a:spcPct val="100000"/>
              </a:lnSpc>
              <a:spcBef>
                <a:spcPts val="1405"/>
              </a:spcBef>
              <a:buFont typeface="Tahoma"/>
              <a:buAutoNum type="arabicPeriod" startAt="7"/>
              <a:tabLst>
                <a:tab pos="469900" algn="l"/>
              </a:tabLst>
            </a:pPr>
            <a:r>
              <a:rPr dirty="0" sz="2400" spc="-10">
                <a:solidFill>
                  <a:srgbClr val="40458B"/>
                </a:solidFill>
                <a:latin typeface="黑体"/>
                <a:cs typeface="黑体"/>
              </a:rPr>
              <a:t>指令执行的步骤</a:t>
            </a:r>
            <a:endParaRPr sz="2400">
              <a:latin typeface="黑体"/>
              <a:cs typeface="黑体"/>
            </a:endParaRPr>
          </a:p>
          <a:p>
            <a:pPr lvl="1" marL="840105" indent="-457200">
              <a:lnSpc>
                <a:spcPct val="100000"/>
              </a:lnSpc>
              <a:spcBef>
                <a:spcPts val="1310"/>
              </a:spcBef>
              <a:buSzPct val="89583"/>
              <a:buFont typeface="Wingdings"/>
              <a:buChar char=""/>
              <a:tabLst>
                <a:tab pos="840105" algn="l"/>
              </a:tabLst>
            </a:pPr>
            <a:r>
              <a:rPr dirty="0" sz="2400" spc="-25">
                <a:solidFill>
                  <a:srgbClr val="40458B"/>
                </a:solidFill>
                <a:latin typeface="黑体"/>
                <a:cs typeface="黑体"/>
              </a:rPr>
              <a:t>执行</a:t>
            </a:r>
            <a:endParaRPr sz="2400">
              <a:latin typeface="黑体"/>
              <a:cs typeface="黑体"/>
            </a:endParaRPr>
          </a:p>
          <a:p>
            <a:pPr lvl="2" marL="1056640" marR="53340" indent="-457200">
              <a:lnSpc>
                <a:spcPct val="120000"/>
              </a:lnSpc>
              <a:spcBef>
                <a:spcPts val="545"/>
              </a:spcBef>
              <a:buClr>
                <a:srgbClr val="4668F5"/>
              </a:buClr>
              <a:buSzPct val="70000"/>
              <a:buFont typeface="Wingdings"/>
              <a:buChar char=""/>
              <a:tabLst>
                <a:tab pos="1056640" algn="l"/>
              </a:tabLst>
            </a:pPr>
            <a:r>
              <a:rPr dirty="0" sz="2000" spc="-20" b="1">
                <a:solidFill>
                  <a:srgbClr val="9966FF"/>
                </a:solidFill>
                <a:latin typeface="宋体"/>
                <a:cs typeface="宋体"/>
              </a:rPr>
              <a:t>当两个操作数都就绪后，本保留站就用相应的功能部件开始执行指令规定的操作</a:t>
            </a:r>
            <a:r>
              <a:rPr dirty="0" sz="2000" spc="-10" b="1">
                <a:solidFill>
                  <a:srgbClr val="9966FF"/>
                </a:solidFill>
                <a:latin typeface="宋体"/>
                <a:cs typeface="宋体"/>
              </a:rPr>
              <a:t>（</a:t>
            </a:r>
            <a:r>
              <a:rPr dirty="0" sz="2000" spc="-25" b="1">
                <a:solidFill>
                  <a:srgbClr val="9966FF"/>
                </a:solidFill>
                <a:latin typeface="宋体"/>
                <a:cs typeface="宋体"/>
              </a:rPr>
              <a:t>即依靠推迟方</a:t>
            </a:r>
            <a:r>
              <a:rPr dirty="0" sz="2000" spc="-10" b="1">
                <a:solidFill>
                  <a:srgbClr val="9966FF"/>
                </a:solidFill>
                <a:latin typeface="宋体"/>
                <a:cs typeface="宋体"/>
              </a:rPr>
              <a:t>法解决</a:t>
            </a:r>
            <a:r>
              <a:rPr dirty="0" sz="2000" spc="-10" b="1">
                <a:solidFill>
                  <a:srgbClr val="9966FF"/>
                </a:solidFill>
                <a:latin typeface="Tahoma"/>
                <a:cs typeface="Tahoma"/>
              </a:rPr>
              <a:t>RAW</a:t>
            </a:r>
            <a:r>
              <a:rPr dirty="0" sz="2000" spc="-20" b="1">
                <a:solidFill>
                  <a:srgbClr val="9966FF"/>
                </a:solidFill>
                <a:latin typeface="宋体"/>
                <a:cs typeface="宋体"/>
              </a:rPr>
              <a:t>冲突，由于结果数据是从其产生的部件</a:t>
            </a:r>
            <a:r>
              <a:rPr dirty="0" sz="2000" spc="-10" b="1">
                <a:solidFill>
                  <a:srgbClr val="9966FF"/>
                </a:solidFill>
                <a:latin typeface="宋体"/>
                <a:cs typeface="宋体"/>
              </a:rPr>
              <a:t>（</a:t>
            </a:r>
            <a:r>
              <a:rPr dirty="0" sz="2000" spc="-15" b="1">
                <a:solidFill>
                  <a:srgbClr val="9966FF"/>
                </a:solidFill>
                <a:latin typeface="宋体"/>
                <a:cs typeface="宋体"/>
              </a:rPr>
              <a:t>保留站</a:t>
            </a:r>
            <a:r>
              <a:rPr dirty="0" sz="2000" spc="-10" b="1">
                <a:solidFill>
                  <a:srgbClr val="9966FF"/>
                </a:solidFill>
                <a:latin typeface="宋体"/>
                <a:cs typeface="宋体"/>
              </a:rPr>
              <a:t>）</a:t>
            </a:r>
            <a:r>
              <a:rPr dirty="0" sz="2000" spc="-25" b="1">
                <a:solidFill>
                  <a:srgbClr val="9966FF"/>
                </a:solidFill>
                <a:latin typeface="宋体"/>
                <a:cs typeface="宋体"/>
              </a:rPr>
              <a:t>直接送到需要它的地方，因此已经</a:t>
            </a:r>
            <a:r>
              <a:rPr dirty="0" sz="2000" spc="-15" b="1">
                <a:solidFill>
                  <a:srgbClr val="9966FF"/>
                </a:solidFill>
                <a:latin typeface="宋体"/>
                <a:cs typeface="宋体"/>
              </a:rPr>
              <a:t>是最大限度地减少了</a:t>
            </a:r>
            <a:r>
              <a:rPr dirty="0" sz="2000" spc="-10" b="1">
                <a:solidFill>
                  <a:srgbClr val="9966FF"/>
                </a:solidFill>
                <a:latin typeface="Tahoma"/>
                <a:cs typeface="Tahoma"/>
              </a:rPr>
              <a:t>RAW</a:t>
            </a:r>
            <a:r>
              <a:rPr dirty="0" sz="2000" spc="-20" b="1">
                <a:solidFill>
                  <a:srgbClr val="9966FF"/>
                </a:solidFill>
                <a:latin typeface="宋体"/>
                <a:cs typeface="宋体"/>
              </a:rPr>
              <a:t>冲突影响</a:t>
            </a:r>
            <a:r>
              <a:rPr dirty="0" sz="2000" spc="-15" b="1">
                <a:solidFill>
                  <a:srgbClr val="9966FF"/>
                </a:solidFill>
                <a:latin typeface="宋体"/>
                <a:cs typeface="宋体"/>
              </a:rPr>
              <a:t>）</a:t>
            </a:r>
            <a:r>
              <a:rPr dirty="0" sz="2000" spc="-50" b="1">
                <a:solidFill>
                  <a:srgbClr val="9966FF"/>
                </a:solidFill>
                <a:latin typeface="宋体"/>
                <a:cs typeface="宋体"/>
              </a:rPr>
              <a:t>。</a:t>
            </a:r>
            <a:endParaRPr sz="2000">
              <a:latin typeface="宋体"/>
              <a:cs typeface="宋体"/>
            </a:endParaRPr>
          </a:p>
          <a:p>
            <a:pPr lvl="2" marL="1056640" indent="-457200">
              <a:lnSpc>
                <a:spcPct val="100000"/>
              </a:lnSpc>
              <a:spcBef>
                <a:spcPts val="960"/>
              </a:spcBef>
              <a:buClr>
                <a:srgbClr val="4668F5"/>
              </a:buClr>
              <a:buSzPct val="70000"/>
              <a:buFont typeface="Wingdings"/>
              <a:buChar char=""/>
              <a:tabLst>
                <a:tab pos="1056640" algn="l"/>
              </a:tabLst>
            </a:pPr>
            <a:r>
              <a:rPr dirty="0" sz="2000" spc="-10" b="1">
                <a:solidFill>
                  <a:srgbClr val="9933FF"/>
                </a:solidFill>
                <a:latin typeface="宋体"/>
                <a:cs typeface="宋体"/>
              </a:rPr>
              <a:t>load</a:t>
            </a:r>
            <a:r>
              <a:rPr dirty="0" sz="2000" spc="-10" b="1">
                <a:solidFill>
                  <a:srgbClr val="9966FF"/>
                </a:solidFill>
                <a:latin typeface="宋体"/>
                <a:cs typeface="宋体"/>
              </a:rPr>
              <a:t>和</a:t>
            </a:r>
            <a:r>
              <a:rPr dirty="0" sz="2000" spc="-10" b="1">
                <a:solidFill>
                  <a:srgbClr val="9933FF"/>
                </a:solidFill>
                <a:latin typeface="宋体"/>
                <a:cs typeface="宋体"/>
              </a:rPr>
              <a:t>store</a:t>
            </a:r>
            <a:r>
              <a:rPr dirty="0" sz="2000" spc="-25" b="1">
                <a:solidFill>
                  <a:srgbClr val="9966FF"/>
                </a:solidFill>
                <a:latin typeface="宋体"/>
                <a:cs typeface="宋体"/>
              </a:rPr>
              <a:t>指令的执行需要两个步骤：</a:t>
            </a:r>
            <a:endParaRPr sz="2000">
              <a:latin typeface="宋体"/>
              <a:cs typeface="宋体"/>
            </a:endParaRPr>
          </a:p>
          <a:p>
            <a:pPr lvl="3" marL="1344930" indent="-381000">
              <a:lnSpc>
                <a:spcPct val="100000"/>
              </a:lnSpc>
              <a:spcBef>
                <a:spcPts val="894"/>
              </a:spcBef>
              <a:buClr>
                <a:srgbClr val="9966FF"/>
              </a:buClr>
              <a:buSzPct val="63888"/>
              <a:buFont typeface="Wingdings"/>
              <a:buChar char=""/>
              <a:tabLst>
                <a:tab pos="1344930" algn="l"/>
              </a:tabLst>
            </a:pPr>
            <a:r>
              <a:rPr dirty="0" sz="1800" spc="-10" b="1">
                <a:solidFill>
                  <a:srgbClr val="FF09FF"/>
                </a:solidFill>
                <a:latin typeface="宋体"/>
                <a:cs typeface="宋体"/>
              </a:rPr>
              <a:t>计算有效地址（要等到基地址寄存器就绪</a:t>
            </a:r>
            <a:r>
              <a:rPr dirty="0" sz="1800" spc="-50" b="1">
                <a:solidFill>
                  <a:srgbClr val="FF09FF"/>
                </a:solidFill>
                <a:latin typeface="宋体"/>
                <a:cs typeface="宋体"/>
              </a:rPr>
              <a:t>）</a:t>
            </a:r>
            <a:endParaRPr sz="1800">
              <a:latin typeface="宋体"/>
              <a:cs typeface="宋体"/>
            </a:endParaRPr>
          </a:p>
          <a:p>
            <a:pPr lvl="3" marL="1344930" marR="5080" indent="-381635">
              <a:lnSpc>
                <a:spcPct val="120100"/>
              </a:lnSpc>
              <a:spcBef>
                <a:spcPts val="430"/>
              </a:spcBef>
              <a:buClr>
                <a:srgbClr val="9966FF"/>
              </a:buClr>
              <a:buSzPct val="63888"/>
              <a:buFont typeface="Wingdings"/>
              <a:buChar char=""/>
              <a:tabLst>
                <a:tab pos="1344930" algn="l"/>
              </a:tabLst>
            </a:pPr>
            <a:r>
              <a:rPr dirty="0" sz="1800" spc="-10" b="1">
                <a:solidFill>
                  <a:srgbClr val="FF09FF"/>
                </a:solidFill>
                <a:latin typeface="宋体"/>
                <a:cs typeface="宋体"/>
              </a:rPr>
              <a:t>把有效地址放入</a:t>
            </a:r>
            <a:r>
              <a:rPr dirty="0" sz="1800" spc="-10" b="1">
                <a:solidFill>
                  <a:srgbClr val="9933FF"/>
                </a:solidFill>
                <a:latin typeface="宋体"/>
                <a:cs typeface="宋体"/>
              </a:rPr>
              <a:t>load</a:t>
            </a:r>
            <a:r>
              <a:rPr dirty="0" sz="1800" spc="-10" b="1">
                <a:solidFill>
                  <a:srgbClr val="FF09FF"/>
                </a:solidFill>
                <a:latin typeface="宋体"/>
                <a:cs typeface="宋体"/>
              </a:rPr>
              <a:t>或</a:t>
            </a:r>
            <a:r>
              <a:rPr dirty="0" sz="1800" spc="-10" b="1">
                <a:solidFill>
                  <a:srgbClr val="9933FF"/>
                </a:solidFill>
                <a:latin typeface="宋体"/>
                <a:cs typeface="宋体"/>
              </a:rPr>
              <a:t>store</a:t>
            </a:r>
            <a:r>
              <a:rPr dirty="0" sz="1800" spc="-10" b="1">
                <a:solidFill>
                  <a:srgbClr val="FF09FF"/>
                </a:solidFill>
                <a:latin typeface="宋体"/>
                <a:cs typeface="宋体"/>
              </a:rPr>
              <a:t>缓冲器，load执行的条件是存储器部件就绪，而store</a:t>
            </a:r>
            <a:r>
              <a:rPr dirty="0" sz="1800" spc="-15" b="1">
                <a:solidFill>
                  <a:srgbClr val="FF09FF"/>
                </a:solidFill>
                <a:latin typeface="宋体"/>
                <a:cs typeface="宋体"/>
              </a:rPr>
              <a:t>指令在执行前必须等要存入存储器的数据到达。通过按序进行有效地址计算确保程序的顺序，有助于避免访问存储器的冲突。</a:t>
            </a:r>
            <a:endParaRPr sz="1800">
              <a:latin typeface="宋体"/>
              <a:cs typeface="宋体"/>
            </a:endParaRPr>
          </a:p>
          <a:p>
            <a:pPr marL="911860" indent="-457200">
              <a:lnSpc>
                <a:spcPct val="100000"/>
              </a:lnSpc>
              <a:spcBef>
                <a:spcPts val="1055"/>
              </a:spcBef>
              <a:buSzPct val="89583"/>
              <a:buFont typeface="Wingdings"/>
              <a:buChar char=""/>
              <a:tabLst>
                <a:tab pos="911860" algn="l"/>
              </a:tabLst>
            </a:pPr>
            <a:r>
              <a:rPr dirty="0" sz="2400" spc="-20">
                <a:solidFill>
                  <a:srgbClr val="40458B"/>
                </a:solidFill>
                <a:latin typeface="黑体"/>
                <a:cs typeface="黑体"/>
              </a:rPr>
              <a:t>写结果</a:t>
            </a:r>
            <a:endParaRPr sz="2400">
              <a:latin typeface="黑体"/>
              <a:cs typeface="黑体"/>
            </a:endParaRPr>
          </a:p>
          <a:p>
            <a:pPr lvl="1" marL="1056640" indent="-457200">
              <a:lnSpc>
                <a:spcPct val="100000"/>
              </a:lnSpc>
              <a:spcBef>
                <a:spcPts val="1025"/>
              </a:spcBef>
              <a:buClr>
                <a:srgbClr val="4668F5"/>
              </a:buClr>
              <a:buSzPct val="70000"/>
              <a:buFont typeface="Wingdings"/>
              <a:buChar char=""/>
              <a:tabLst>
                <a:tab pos="1056640" algn="l"/>
              </a:tabLst>
            </a:pPr>
            <a:r>
              <a:rPr dirty="0" sz="2000" spc="-20" b="1">
                <a:solidFill>
                  <a:srgbClr val="9966FF"/>
                </a:solidFill>
                <a:latin typeface="宋体"/>
                <a:cs typeface="宋体"/>
              </a:rPr>
              <a:t>功能部件计算完毕后，就将计算结果放到</a:t>
            </a:r>
            <a:r>
              <a:rPr dirty="0" sz="2000" spc="-20" b="1">
                <a:solidFill>
                  <a:srgbClr val="9933FF"/>
                </a:solidFill>
                <a:latin typeface="宋体"/>
                <a:cs typeface="宋体"/>
              </a:rPr>
              <a:t>CDB</a:t>
            </a:r>
            <a:r>
              <a:rPr dirty="0" sz="2000" spc="-20" b="1">
                <a:solidFill>
                  <a:srgbClr val="9966FF"/>
                </a:solidFill>
                <a:latin typeface="宋体"/>
                <a:cs typeface="宋体"/>
              </a:rPr>
              <a:t>上，所有等待该计算结果的寄存器和保留站</a:t>
            </a:r>
            <a:r>
              <a:rPr dirty="0" sz="2000" spc="-10" b="1">
                <a:solidFill>
                  <a:srgbClr val="9966FF"/>
                </a:solidFill>
                <a:latin typeface="宋体"/>
                <a:cs typeface="宋体"/>
              </a:rPr>
              <a:t>（</a:t>
            </a:r>
            <a:r>
              <a:rPr dirty="0" sz="2000" spc="-30" b="1">
                <a:solidFill>
                  <a:srgbClr val="9966FF"/>
                </a:solidFill>
                <a:latin typeface="宋体"/>
                <a:cs typeface="宋体"/>
              </a:rPr>
              <a:t>包括</a:t>
            </a:r>
            <a:endParaRPr sz="2000">
              <a:latin typeface="宋体"/>
              <a:cs typeface="宋体"/>
            </a:endParaRPr>
          </a:p>
          <a:p>
            <a:pPr marL="1056640">
              <a:lnSpc>
                <a:spcPct val="100000"/>
              </a:lnSpc>
              <a:spcBef>
                <a:spcPts val="480"/>
              </a:spcBef>
            </a:pPr>
            <a:r>
              <a:rPr dirty="0" sz="2000" b="1">
                <a:solidFill>
                  <a:srgbClr val="9933FF"/>
                </a:solidFill>
                <a:latin typeface="宋体"/>
                <a:cs typeface="宋体"/>
              </a:rPr>
              <a:t>store</a:t>
            </a:r>
            <a:r>
              <a:rPr dirty="0" sz="2000" spc="-20" b="1">
                <a:solidFill>
                  <a:srgbClr val="9966FF"/>
                </a:solidFill>
                <a:latin typeface="宋体"/>
                <a:cs typeface="宋体"/>
              </a:rPr>
              <a:t>缓冲器</a:t>
            </a:r>
            <a:r>
              <a:rPr dirty="0" sz="2000" spc="-15" b="1">
                <a:solidFill>
                  <a:srgbClr val="9966FF"/>
                </a:solidFill>
                <a:latin typeface="宋体"/>
                <a:cs typeface="宋体"/>
              </a:rPr>
              <a:t>）</a:t>
            </a:r>
            <a:r>
              <a:rPr dirty="0" sz="2000" spc="-20" b="1">
                <a:solidFill>
                  <a:srgbClr val="9966FF"/>
                </a:solidFill>
                <a:latin typeface="宋体"/>
                <a:cs typeface="宋体"/>
              </a:rPr>
              <a:t>都同时从</a:t>
            </a:r>
            <a:r>
              <a:rPr dirty="0" sz="2000" spc="-10" b="1">
                <a:solidFill>
                  <a:srgbClr val="9933FF"/>
                </a:solidFill>
                <a:latin typeface="宋体"/>
                <a:cs typeface="宋体"/>
              </a:rPr>
              <a:t>CDB</a:t>
            </a:r>
            <a:r>
              <a:rPr dirty="0" sz="2000" spc="-25" b="1">
                <a:solidFill>
                  <a:srgbClr val="9966FF"/>
                </a:solidFill>
                <a:latin typeface="宋体"/>
                <a:cs typeface="宋体"/>
              </a:rPr>
              <a:t>上获得所需要的数据。</a:t>
            </a:r>
            <a:endParaRPr sz="2000">
              <a:latin typeface="宋体"/>
              <a:cs typeface="宋体"/>
            </a:endParaRPr>
          </a:p>
          <a:p>
            <a:pPr lvl="1" marL="1056640" indent="-457200">
              <a:lnSpc>
                <a:spcPct val="100000"/>
              </a:lnSpc>
              <a:spcBef>
                <a:spcPts val="1025"/>
              </a:spcBef>
              <a:buClr>
                <a:srgbClr val="4668F5"/>
              </a:buClr>
              <a:buSzPct val="68181"/>
              <a:buFont typeface="Wingdings"/>
              <a:buChar char=""/>
              <a:tabLst>
                <a:tab pos="1056640" algn="l"/>
              </a:tabLst>
            </a:pPr>
            <a:r>
              <a:rPr dirty="0" sz="2200" spc="-30">
                <a:solidFill>
                  <a:srgbClr val="9966FF"/>
                </a:solidFill>
                <a:latin typeface="宋体"/>
                <a:cs typeface="宋体"/>
              </a:rPr>
              <a:t>保留站、寄存器组和</a:t>
            </a:r>
            <a:r>
              <a:rPr dirty="0" sz="2200" spc="-20">
                <a:solidFill>
                  <a:srgbClr val="9966FF"/>
                </a:solidFill>
                <a:latin typeface="Tahoma"/>
                <a:cs typeface="Tahoma"/>
              </a:rPr>
              <a:t>load/store</a:t>
            </a:r>
            <a:r>
              <a:rPr dirty="0" sz="2200" spc="-30">
                <a:solidFill>
                  <a:srgbClr val="9966FF"/>
                </a:solidFill>
                <a:latin typeface="宋体"/>
                <a:cs typeface="宋体"/>
              </a:rPr>
              <a:t>缓冲器都包含</a:t>
            </a:r>
            <a:r>
              <a:rPr dirty="0" sz="2000" spc="-10" b="1">
                <a:solidFill>
                  <a:srgbClr val="9966FF"/>
                </a:solidFill>
                <a:latin typeface="宋体"/>
                <a:cs typeface="宋体"/>
              </a:rPr>
              <a:t>附加标志信息</a:t>
            </a:r>
            <a:r>
              <a:rPr dirty="0" sz="2200" spc="-35">
                <a:solidFill>
                  <a:srgbClr val="9966FF"/>
                </a:solidFill>
                <a:latin typeface="宋体"/>
                <a:cs typeface="宋体"/>
              </a:rPr>
              <a:t>，用于检测和消除冲突。</a:t>
            </a:r>
            <a:endParaRPr sz="2200">
              <a:latin typeface="宋体"/>
              <a:cs typeface="宋体"/>
            </a:endParaRPr>
          </a:p>
          <a:p>
            <a:pPr lvl="1" marL="1056640" indent="-457200">
              <a:lnSpc>
                <a:spcPct val="100000"/>
              </a:lnSpc>
              <a:spcBef>
                <a:spcPts val="994"/>
              </a:spcBef>
              <a:buClr>
                <a:srgbClr val="4668F5"/>
              </a:buClr>
              <a:buSzPct val="70000"/>
              <a:buFont typeface="Wingdings"/>
              <a:buChar char=""/>
              <a:tabLst>
                <a:tab pos="1056640" algn="l"/>
              </a:tabLst>
            </a:pPr>
            <a:r>
              <a:rPr dirty="0" sz="2000" spc="-10">
                <a:solidFill>
                  <a:srgbClr val="9966FF"/>
                </a:solidFill>
                <a:latin typeface="宋体"/>
                <a:cs typeface="宋体"/>
              </a:rPr>
              <a:t>结果写回寄存器，释放保留站。</a:t>
            </a:r>
            <a:endParaRPr sz="2000">
              <a:latin typeface="宋体"/>
              <a:cs typeface="宋体"/>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83/175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422019" y="193928"/>
            <a:ext cx="1651635" cy="513715"/>
          </a:xfrm>
          <a:prstGeom prst="rect"/>
        </p:spPr>
        <p:txBody>
          <a:bodyPr wrap="square" lIns="0" tIns="12700" rIns="0" bIns="0" rtlCol="0" vert="horz">
            <a:spAutoFit/>
          </a:bodyPr>
          <a:lstStyle/>
          <a:p>
            <a:pPr marL="12700">
              <a:lnSpc>
                <a:spcPct val="100000"/>
              </a:lnSpc>
              <a:spcBef>
                <a:spcPts val="100"/>
              </a:spcBef>
            </a:pPr>
            <a:r>
              <a:rPr dirty="0" spc="-20"/>
              <a:t>三个阶段</a:t>
            </a:r>
          </a:p>
        </p:txBody>
      </p:sp>
      <p:pic>
        <p:nvPicPr>
          <p:cNvPr id="10" name="object 10" descr=""/>
          <p:cNvPicPr/>
          <p:nvPr/>
        </p:nvPicPr>
        <p:blipFill>
          <a:blip r:embed="rId2" cstate="print"/>
          <a:stretch>
            <a:fillRect/>
          </a:stretch>
        </p:blipFill>
        <p:spPr>
          <a:xfrm>
            <a:off x="623887" y="1006475"/>
            <a:ext cx="10840513" cy="5188158"/>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84/175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sp>
        <p:nvSpPr>
          <p:cNvPr id="4" name="object 4"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5" name="object 5" descr=""/>
          <p:cNvSpPr txBox="1"/>
          <p:nvPr/>
        </p:nvSpPr>
        <p:spPr>
          <a:xfrm>
            <a:off x="2803398" y="1429588"/>
            <a:ext cx="5374005" cy="422909"/>
          </a:xfrm>
          <a:prstGeom prst="rect">
            <a:avLst/>
          </a:prstGeom>
        </p:spPr>
        <p:txBody>
          <a:bodyPr wrap="square" lIns="0" tIns="13335" rIns="0" bIns="0" rtlCol="0" vert="horz">
            <a:spAutoFit/>
          </a:bodyPr>
          <a:lstStyle/>
          <a:p>
            <a:pPr marL="12700">
              <a:lnSpc>
                <a:spcPct val="100000"/>
              </a:lnSpc>
              <a:spcBef>
                <a:spcPts val="105"/>
              </a:spcBef>
              <a:tabLst>
                <a:tab pos="5029835" algn="l"/>
              </a:tabLst>
            </a:pPr>
            <a:r>
              <a:rPr dirty="0" sz="2600" spc="-10">
                <a:latin typeface="微软雅黑"/>
                <a:cs typeface="微软雅黑"/>
              </a:rPr>
              <a:t>“流出”段流出指令的</a:t>
            </a:r>
            <a:r>
              <a:rPr dirty="0" sz="2600" spc="-20">
                <a:latin typeface="微软雅黑"/>
                <a:cs typeface="微软雅黑"/>
              </a:rPr>
              <a:t>条</a:t>
            </a:r>
            <a:r>
              <a:rPr dirty="0" sz="2600" spc="-10">
                <a:latin typeface="微软雅黑"/>
                <a:cs typeface="微软雅黑"/>
              </a:rPr>
              <a:t>件是</a:t>
            </a:r>
            <a:r>
              <a:rPr dirty="0" sz="2600" spc="-50">
                <a:latin typeface="微软雅黑"/>
                <a:cs typeface="微软雅黑"/>
              </a:rPr>
              <a:t>（</a:t>
            </a:r>
            <a:r>
              <a:rPr dirty="0" sz="2600">
                <a:latin typeface="微软雅黑"/>
                <a:cs typeface="微软雅黑"/>
              </a:rPr>
              <a:t>	</a:t>
            </a:r>
            <a:r>
              <a:rPr dirty="0" sz="2600" spc="-50">
                <a:latin typeface="微软雅黑"/>
                <a:cs typeface="微软雅黑"/>
              </a:rPr>
              <a:t>）</a:t>
            </a:r>
            <a:endParaRPr sz="2600">
              <a:latin typeface="微软雅黑"/>
              <a:cs typeface="微软雅黑"/>
            </a:endParaRPr>
          </a:p>
        </p:txBody>
      </p:sp>
      <p:sp>
        <p:nvSpPr>
          <p:cNvPr id="6" name="object 6" descr=""/>
          <p:cNvSpPr txBox="1"/>
          <p:nvPr/>
        </p:nvSpPr>
        <p:spPr>
          <a:xfrm>
            <a:off x="3878071" y="2663189"/>
            <a:ext cx="1678939" cy="422275"/>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保留站空闲</a:t>
            </a:r>
            <a:endParaRPr sz="2600">
              <a:latin typeface="微软雅黑"/>
              <a:cs typeface="微软雅黑"/>
            </a:endParaRPr>
          </a:p>
        </p:txBody>
      </p:sp>
      <p:sp>
        <p:nvSpPr>
          <p:cNvPr id="7" name="object 7" descr=""/>
          <p:cNvSpPr txBox="1"/>
          <p:nvPr/>
        </p:nvSpPr>
        <p:spPr>
          <a:xfrm>
            <a:off x="3878071" y="3520566"/>
            <a:ext cx="1678939" cy="422275"/>
          </a:xfrm>
          <a:prstGeom prst="rect">
            <a:avLst/>
          </a:prstGeom>
        </p:spPr>
        <p:txBody>
          <a:bodyPr wrap="square" lIns="0" tIns="13335" rIns="0" bIns="0" rtlCol="0" vert="horz">
            <a:spAutoFit/>
          </a:bodyPr>
          <a:lstStyle/>
          <a:p>
            <a:pPr marL="12700">
              <a:lnSpc>
                <a:spcPct val="100000"/>
              </a:lnSpc>
              <a:spcBef>
                <a:spcPts val="105"/>
              </a:spcBef>
            </a:pPr>
            <a:r>
              <a:rPr dirty="0" sz="2600" spc="-10">
                <a:latin typeface="微软雅黑"/>
                <a:cs typeface="微软雅黑"/>
              </a:rPr>
              <a:t>指令已就绪</a:t>
            </a:r>
            <a:endParaRPr sz="2600">
              <a:latin typeface="微软雅黑"/>
              <a:cs typeface="微软雅黑"/>
            </a:endParaRPr>
          </a:p>
        </p:txBody>
      </p:sp>
      <p:sp>
        <p:nvSpPr>
          <p:cNvPr id="8" name="object 8" descr=""/>
          <p:cNvSpPr txBox="1"/>
          <p:nvPr/>
        </p:nvSpPr>
        <p:spPr>
          <a:xfrm>
            <a:off x="3878071" y="4377944"/>
            <a:ext cx="1678939" cy="422275"/>
          </a:xfrm>
          <a:prstGeom prst="rect">
            <a:avLst/>
          </a:prstGeom>
        </p:spPr>
        <p:txBody>
          <a:bodyPr wrap="square" lIns="0" tIns="12700" rIns="0" bIns="0" rtlCol="0" vert="horz">
            <a:spAutoFit/>
          </a:bodyPr>
          <a:lstStyle/>
          <a:p>
            <a:pPr marL="12700">
              <a:lnSpc>
                <a:spcPct val="100000"/>
              </a:lnSpc>
              <a:spcBef>
                <a:spcPts val="100"/>
              </a:spcBef>
            </a:pPr>
            <a:r>
              <a:rPr dirty="0" sz="2600" spc="-10">
                <a:latin typeface="微软雅黑"/>
                <a:cs typeface="微软雅黑"/>
              </a:rPr>
              <a:t>数据无相关</a:t>
            </a:r>
            <a:endParaRPr sz="2600">
              <a:latin typeface="微软雅黑"/>
              <a:cs typeface="微软雅黑"/>
            </a:endParaRPr>
          </a:p>
        </p:txBody>
      </p:sp>
      <p:sp>
        <p:nvSpPr>
          <p:cNvPr id="9" name="object 9" descr=""/>
          <p:cNvSpPr txBox="1"/>
          <p:nvPr/>
        </p:nvSpPr>
        <p:spPr>
          <a:xfrm>
            <a:off x="3878071" y="5235321"/>
            <a:ext cx="1678939" cy="422275"/>
          </a:xfrm>
          <a:prstGeom prst="rect">
            <a:avLst/>
          </a:prstGeom>
        </p:spPr>
        <p:txBody>
          <a:bodyPr wrap="square" lIns="0" tIns="12700" rIns="0" bIns="0" rtlCol="0" vert="horz">
            <a:spAutoFit/>
          </a:bodyPr>
          <a:lstStyle/>
          <a:p>
            <a:pPr marL="12700">
              <a:lnSpc>
                <a:spcPct val="100000"/>
              </a:lnSpc>
              <a:spcBef>
                <a:spcPts val="100"/>
              </a:spcBef>
            </a:pPr>
            <a:r>
              <a:rPr dirty="0" sz="2600" spc="-10">
                <a:latin typeface="微软雅黑"/>
                <a:cs typeface="微软雅黑"/>
              </a:rPr>
              <a:t>以上都不是</a:t>
            </a:r>
            <a:endParaRPr sz="2600">
              <a:latin typeface="微软雅黑"/>
              <a:cs typeface="微软雅黑"/>
            </a:endParaRPr>
          </a:p>
        </p:txBody>
      </p:sp>
      <p:grpSp>
        <p:nvGrpSpPr>
          <p:cNvPr id="10" name="object 10" descr=""/>
          <p:cNvGrpSpPr/>
          <p:nvPr/>
        </p:nvGrpSpPr>
        <p:grpSpPr>
          <a:xfrm>
            <a:off x="3071876" y="2616200"/>
            <a:ext cx="539750" cy="539750"/>
            <a:chOff x="3071876" y="2616200"/>
            <a:chExt cx="539750" cy="539750"/>
          </a:xfrm>
        </p:grpSpPr>
        <p:sp>
          <p:nvSpPr>
            <p:cNvPr id="11" name="object 11" descr=""/>
            <p:cNvSpPr/>
            <p:nvPr/>
          </p:nvSpPr>
          <p:spPr>
            <a:xfrm>
              <a:off x="3084576" y="2628900"/>
              <a:ext cx="514350" cy="514350"/>
            </a:xfrm>
            <a:custGeom>
              <a:avLst/>
              <a:gdLst/>
              <a:ahLst/>
              <a:cxnLst/>
              <a:rect l="l" t="t" r="r" b="b"/>
              <a:pathLst>
                <a:path w="514350" h="514350">
                  <a:moveTo>
                    <a:pt x="257175" y="0"/>
                  </a:moveTo>
                  <a:lnTo>
                    <a:pt x="210926" y="4145"/>
                  </a:lnTo>
                  <a:lnTo>
                    <a:pt x="167406" y="16095"/>
                  </a:lnTo>
                  <a:lnTo>
                    <a:pt x="127338" y="35122"/>
                  </a:lnTo>
                  <a:lnTo>
                    <a:pt x="91447" y="60500"/>
                  </a:lnTo>
                  <a:lnTo>
                    <a:pt x="60458" y="91500"/>
                  </a:lnTo>
                  <a:lnTo>
                    <a:pt x="35094" y="127395"/>
                  </a:lnTo>
                  <a:lnTo>
                    <a:pt x="16080" y="167457"/>
                  </a:lnTo>
                  <a:lnTo>
                    <a:pt x="4140" y="210960"/>
                  </a:lnTo>
                  <a:lnTo>
                    <a:pt x="0" y="257175"/>
                  </a:lnTo>
                  <a:lnTo>
                    <a:pt x="4140" y="303389"/>
                  </a:lnTo>
                  <a:lnTo>
                    <a:pt x="16080" y="346892"/>
                  </a:lnTo>
                  <a:lnTo>
                    <a:pt x="35094" y="386954"/>
                  </a:lnTo>
                  <a:lnTo>
                    <a:pt x="60458" y="422849"/>
                  </a:lnTo>
                  <a:lnTo>
                    <a:pt x="91447" y="453849"/>
                  </a:lnTo>
                  <a:lnTo>
                    <a:pt x="127338" y="479227"/>
                  </a:lnTo>
                  <a:lnTo>
                    <a:pt x="167406" y="498254"/>
                  </a:lnTo>
                  <a:lnTo>
                    <a:pt x="210926"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60"/>
                  </a:lnTo>
                  <a:lnTo>
                    <a:pt x="498254" y="167457"/>
                  </a:lnTo>
                  <a:lnTo>
                    <a:pt x="479227" y="127395"/>
                  </a:lnTo>
                  <a:lnTo>
                    <a:pt x="453849" y="91500"/>
                  </a:lnTo>
                  <a:lnTo>
                    <a:pt x="422849" y="60500"/>
                  </a:lnTo>
                  <a:lnTo>
                    <a:pt x="386954" y="35122"/>
                  </a:lnTo>
                  <a:lnTo>
                    <a:pt x="346892" y="16095"/>
                  </a:lnTo>
                  <a:lnTo>
                    <a:pt x="303389" y="4145"/>
                  </a:lnTo>
                  <a:lnTo>
                    <a:pt x="257175" y="0"/>
                  </a:lnTo>
                  <a:close/>
                </a:path>
              </a:pathLst>
            </a:custGeom>
            <a:solidFill>
              <a:srgbClr val="00FF00"/>
            </a:solidFill>
          </p:spPr>
          <p:txBody>
            <a:bodyPr wrap="square" lIns="0" tIns="0" rIns="0" bIns="0" rtlCol="0"/>
            <a:lstStyle/>
            <a:p/>
          </p:txBody>
        </p:sp>
        <p:sp>
          <p:nvSpPr>
            <p:cNvPr id="12" name="object 12" descr=""/>
            <p:cNvSpPr/>
            <p:nvPr/>
          </p:nvSpPr>
          <p:spPr>
            <a:xfrm>
              <a:off x="3084576" y="2628900"/>
              <a:ext cx="514350" cy="514350"/>
            </a:xfrm>
            <a:custGeom>
              <a:avLst/>
              <a:gdLst/>
              <a:ahLst/>
              <a:cxnLst/>
              <a:rect l="l" t="t" r="r" b="b"/>
              <a:pathLst>
                <a:path w="514350" h="514350">
                  <a:moveTo>
                    <a:pt x="0" y="257175"/>
                  </a:moveTo>
                  <a:lnTo>
                    <a:pt x="4140" y="210960"/>
                  </a:lnTo>
                  <a:lnTo>
                    <a:pt x="16080" y="167457"/>
                  </a:lnTo>
                  <a:lnTo>
                    <a:pt x="35094" y="127395"/>
                  </a:lnTo>
                  <a:lnTo>
                    <a:pt x="60458" y="91500"/>
                  </a:lnTo>
                  <a:lnTo>
                    <a:pt x="91447" y="60500"/>
                  </a:lnTo>
                  <a:lnTo>
                    <a:pt x="127338" y="35122"/>
                  </a:lnTo>
                  <a:lnTo>
                    <a:pt x="167406" y="16095"/>
                  </a:lnTo>
                  <a:lnTo>
                    <a:pt x="210926" y="4145"/>
                  </a:lnTo>
                  <a:lnTo>
                    <a:pt x="257175" y="0"/>
                  </a:lnTo>
                  <a:lnTo>
                    <a:pt x="303389" y="4145"/>
                  </a:lnTo>
                  <a:lnTo>
                    <a:pt x="346892" y="16095"/>
                  </a:lnTo>
                  <a:lnTo>
                    <a:pt x="386954" y="35122"/>
                  </a:lnTo>
                  <a:lnTo>
                    <a:pt x="422849" y="60500"/>
                  </a:lnTo>
                  <a:lnTo>
                    <a:pt x="453849" y="91500"/>
                  </a:lnTo>
                  <a:lnTo>
                    <a:pt x="479227" y="127395"/>
                  </a:lnTo>
                  <a:lnTo>
                    <a:pt x="498254" y="167457"/>
                  </a:lnTo>
                  <a:lnTo>
                    <a:pt x="510204" y="210960"/>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26" y="510204"/>
                  </a:lnTo>
                  <a:lnTo>
                    <a:pt x="167406" y="498254"/>
                  </a:lnTo>
                  <a:lnTo>
                    <a:pt x="127338" y="479227"/>
                  </a:lnTo>
                  <a:lnTo>
                    <a:pt x="91447" y="453849"/>
                  </a:lnTo>
                  <a:lnTo>
                    <a:pt x="60458" y="422849"/>
                  </a:lnTo>
                  <a:lnTo>
                    <a:pt x="35094" y="386954"/>
                  </a:lnTo>
                  <a:lnTo>
                    <a:pt x="16080" y="346892"/>
                  </a:lnTo>
                  <a:lnTo>
                    <a:pt x="4140" y="303389"/>
                  </a:lnTo>
                  <a:lnTo>
                    <a:pt x="0" y="257175"/>
                  </a:lnTo>
                  <a:close/>
                </a:path>
              </a:pathLst>
            </a:custGeom>
            <a:ln w="25400">
              <a:solidFill>
                <a:srgbClr val="000000"/>
              </a:solidFill>
            </a:ln>
          </p:spPr>
          <p:txBody>
            <a:bodyPr wrap="square" lIns="0" tIns="0" rIns="0" bIns="0" rtlCol="0"/>
            <a:lstStyle/>
            <a:p/>
          </p:txBody>
        </p:sp>
      </p:grpSp>
      <p:sp>
        <p:nvSpPr>
          <p:cNvPr id="13" name="object 13" descr=""/>
          <p:cNvSpPr txBox="1"/>
          <p:nvPr/>
        </p:nvSpPr>
        <p:spPr>
          <a:xfrm>
            <a:off x="3258058" y="2744469"/>
            <a:ext cx="16827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A</a:t>
            </a:r>
            <a:endParaRPr sz="1600">
              <a:latin typeface="微软雅黑"/>
              <a:cs typeface="微软雅黑"/>
            </a:endParaRPr>
          </a:p>
        </p:txBody>
      </p:sp>
      <p:grpSp>
        <p:nvGrpSpPr>
          <p:cNvPr id="14" name="object 14" descr=""/>
          <p:cNvGrpSpPr/>
          <p:nvPr/>
        </p:nvGrpSpPr>
        <p:grpSpPr>
          <a:xfrm>
            <a:off x="3078226" y="3479800"/>
            <a:ext cx="527050" cy="527050"/>
            <a:chOff x="3078226" y="3479800"/>
            <a:chExt cx="527050" cy="527050"/>
          </a:xfrm>
        </p:grpSpPr>
        <p:sp>
          <p:nvSpPr>
            <p:cNvPr id="15" name="object 15" descr=""/>
            <p:cNvSpPr/>
            <p:nvPr/>
          </p:nvSpPr>
          <p:spPr>
            <a:xfrm>
              <a:off x="3084576" y="3486150"/>
              <a:ext cx="514350" cy="514350"/>
            </a:xfrm>
            <a:custGeom>
              <a:avLst/>
              <a:gdLst/>
              <a:ahLst/>
              <a:cxnLst/>
              <a:rect l="l" t="t" r="r" b="b"/>
              <a:pathLst>
                <a:path w="514350" h="514350">
                  <a:moveTo>
                    <a:pt x="257175" y="0"/>
                  </a:moveTo>
                  <a:lnTo>
                    <a:pt x="210926" y="4145"/>
                  </a:lnTo>
                  <a:lnTo>
                    <a:pt x="167406" y="16095"/>
                  </a:lnTo>
                  <a:lnTo>
                    <a:pt x="127338" y="35122"/>
                  </a:lnTo>
                  <a:lnTo>
                    <a:pt x="91447" y="60500"/>
                  </a:lnTo>
                  <a:lnTo>
                    <a:pt x="60458" y="91500"/>
                  </a:lnTo>
                  <a:lnTo>
                    <a:pt x="35094" y="127395"/>
                  </a:lnTo>
                  <a:lnTo>
                    <a:pt x="16080" y="167457"/>
                  </a:lnTo>
                  <a:lnTo>
                    <a:pt x="4140" y="210960"/>
                  </a:lnTo>
                  <a:lnTo>
                    <a:pt x="0" y="257175"/>
                  </a:lnTo>
                  <a:lnTo>
                    <a:pt x="4140" y="303389"/>
                  </a:lnTo>
                  <a:lnTo>
                    <a:pt x="16080" y="346892"/>
                  </a:lnTo>
                  <a:lnTo>
                    <a:pt x="35094" y="386954"/>
                  </a:lnTo>
                  <a:lnTo>
                    <a:pt x="60458" y="422849"/>
                  </a:lnTo>
                  <a:lnTo>
                    <a:pt x="91447" y="453849"/>
                  </a:lnTo>
                  <a:lnTo>
                    <a:pt x="127338" y="479227"/>
                  </a:lnTo>
                  <a:lnTo>
                    <a:pt x="167406" y="498254"/>
                  </a:lnTo>
                  <a:lnTo>
                    <a:pt x="210926"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60"/>
                  </a:lnTo>
                  <a:lnTo>
                    <a:pt x="498254" y="167457"/>
                  </a:lnTo>
                  <a:lnTo>
                    <a:pt x="479227" y="127395"/>
                  </a:lnTo>
                  <a:lnTo>
                    <a:pt x="453849" y="91500"/>
                  </a:lnTo>
                  <a:lnTo>
                    <a:pt x="422849" y="60500"/>
                  </a:lnTo>
                  <a:lnTo>
                    <a:pt x="386954" y="35122"/>
                  </a:lnTo>
                  <a:lnTo>
                    <a:pt x="346892" y="16095"/>
                  </a:lnTo>
                  <a:lnTo>
                    <a:pt x="303389" y="4145"/>
                  </a:lnTo>
                  <a:lnTo>
                    <a:pt x="257175" y="0"/>
                  </a:lnTo>
                  <a:close/>
                </a:path>
              </a:pathLst>
            </a:custGeom>
            <a:solidFill>
              <a:srgbClr val="808080"/>
            </a:solidFill>
          </p:spPr>
          <p:txBody>
            <a:bodyPr wrap="square" lIns="0" tIns="0" rIns="0" bIns="0" rtlCol="0"/>
            <a:lstStyle/>
            <a:p/>
          </p:txBody>
        </p:sp>
        <p:sp>
          <p:nvSpPr>
            <p:cNvPr id="16" name="object 16" descr=""/>
            <p:cNvSpPr/>
            <p:nvPr/>
          </p:nvSpPr>
          <p:spPr>
            <a:xfrm>
              <a:off x="3084576" y="3486150"/>
              <a:ext cx="514350" cy="514350"/>
            </a:xfrm>
            <a:custGeom>
              <a:avLst/>
              <a:gdLst/>
              <a:ahLst/>
              <a:cxnLst/>
              <a:rect l="l" t="t" r="r" b="b"/>
              <a:pathLst>
                <a:path w="514350" h="514350">
                  <a:moveTo>
                    <a:pt x="0" y="257175"/>
                  </a:moveTo>
                  <a:lnTo>
                    <a:pt x="4140" y="210960"/>
                  </a:lnTo>
                  <a:lnTo>
                    <a:pt x="16080" y="167457"/>
                  </a:lnTo>
                  <a:lnTo>
                    <a:pt x="35094" y="127395"/>
                  </a:lnTo>
                  <a:lnTo>
                    <a:pt x="60458" y="91500"/>
                  </a:lnTo>
                  <a:lnTo>
                    <a:pt x="91447" y="60500"/>
                  </a:lnTo>
                  <a:lnTo>
                    <a:pt x="127338" y="35122"/>
                  </a:lnTo>
                  <a:lnTo>
                    <a:pt x="167406" y="16095"/>
                  </a:lnTo>
                  <a:lnTo>
                    <a:pt x="210926" y="4145"/>
                  </a:lnTo>
                  <a:lnTo>
                    <a:pt x="257175" y="0"/>
                  </a:lnTo>
                  <a:lnTo>
                    <a:pt x="303389" y="4145"/>
                  </a:lnTo>
                  <a:lnTo>
                    <a:pt x="346892" y="16095"/>
                  </a:lnTo>
                  <a:lnTo>
                    <a:pt x="386954" y="35122"/>
                  </a:lnTo>
                  <a:lnTo>
                    <a:pt x="422849" y="60500"/>
                  </a:lnTo>
                  <a:lnTo>
                    <a:pt x="453849" y="91500"/>
                  </a:lnTo>
                  <a:lnTo>
                    <a:pt x="479227" y="127395"/>
                  </a:lnTo>
                  <a:lnTo>
                    <a:pt x="498254" y="167457"/>
                  </a:lnTo>
                  <a:lnTo>
                    <a:pt x="510204" y="210960"/>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26" y="510204"/>
                  </a:lnTo>
                  <a:lnTo>
                    <a:pt x="167406" y="498254"/>
                  </a:lnTo>
                  <a:lnTo>
                    <a:pt x="127338" y="479227"/>
                  </a:lnTo>
                  <a:lnTo>
                    <a:pt x="91447" y="453849"/>
                  </a:lnTo>
                  <a:lnTo>
                    <a:pt x="60458" y="422849"/>
                  </a:lnTo>
                  <a:lnTo>
                    <a:pt x="35094" y="386954"/>
                  </a:lnTo>
                  <a:lnTo>
                    <a:pt x="16080" y="346892"/>
                  </a:lnTo>
                  <a:lnTo>
                    <a:pt x="4140" y="303389"/>
                  </a:lnTo>
                  <a:lnTo>
                    <a:pt x="0" y="257175"/>
                  </a:lnTo>
                  <a:close/>
                </a:path>
              </a:pathLst>
            </a:custGeom>
            <a:ln w="12700">
              <a:solidFill>
                <a:srgbClr val="000000"/>
              </a:solidFill>
            </a:ln>
          </p:spPr>
          <p:txBody>
            <a:bodyPr wrap="square" lIns="0" tIns="0" rIns="0" bIns="0" rtlCol="0"/>
            <a:lstStyle/>
            <a:p/>
          </p:txBody>
        </p:sp>
      </p:grpSp>
      <p:sp>
        <p:nvSpPr>
          <p:cNvPr id="17" name="object 17" descr=""/>
          <p:cNvSpPr txBox="1"/>
          <p:nvPr/>
        </p:nvSpPr>
        <p:spPr>
          <a:xfrm>
            <a:off x="3266059" y="3601973"/>
            <a:ext cx="153035"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B</a:t>
            </a:r>
            <a:endParaRPr sz="1600">
              <a:latin typeface="微软雅黑"/>
              <a:cs typeface="微软雅黑"/>
            </a:endParaRPr>
          </a:p>
        </p:txBody>
      </p:sp>
      <p:grpSp>
        <p:nvGrpSpPr>
          <p:cNvPr id="18" name="object 18" descr=""/>
          <p:cNvGrpSpPr/>
          <p:nvPr/>
        </p:nvGrpSpPr>
        <p:grpSpPr>
          <a:xfrm>
            <a:off x="3078226" y="4337050"/>
            <a:ext cx="527050" cy="527050"/>
            <a:chOff x="3078226" y="4337050"/>
            <a:chExt cx="527050" cy="527050"/>
          </a:xfrm>
        </p:grpSpPr>
        <p:sp>
          <p:nvSpPr>
            <p:cNvPr id="19" name="object 19" descr=""/>
            <p:cNvSpPr/>
            <p:nvPr/>
          </p:nvSpPr>
          <p:spPr>
            <a:xfrm>
              <a:off x="3084576" y="4343400"/>
              <a:ext cx="514350" cy="514350"/>
            </a:xfrm>
            <a:custGeom>
              <a:avLst/>
              <a:gdLst/>
              <a:ahLst/>
              <a:cxnLst/>
              <a:rect l="l" t="t" r="r" b="b"/>
              <a:pathLst>
                <a:path w="514350" h="514350">
                  <a:moveTo>
                    <a:pt x="257175" y="0"/>
                  </a:moveTo>
                  <a:lnTo>
                    <a:pt x="210926" y="4145"/>
                  </a:lnTo>
                  <a:lnTo>
                    <a:pt x="167406" y="16095"/>
                  </a:lnTo>
                  <a:lnTo>
                    <a:pt x="127338" y="35122"/>
                  </a:lnTo>
                  <a:lnTo>
                    <a:pt x="91447" y="60500"/>
                  </a:lnTo>
                  <a:lnTo>
                    <a:pt x="60458" y="91500"/>
                  </a:lnTo>
                  <a:lnTo>
                    <a:pt x="35094" y="127395"/>
                  </a:lnTo>
                  <a:lnTo>
                    <a:pt x="16080" y="167457"/>
                  </a:lnTo>
                  <a:lnTo>
                    <a:pt x="4140" y="210960"/>
                  </a:lnTo>
                  <a:lnTo>
                    <a:pt x="0" y="257175"/>
                  </a:lnTo>
                  <a:lnTo>
                    <a:pt x="4140" y="303389"/>
                  </a:lnTo>
                  <a:lnTo>
                    <a:pt x="16080" y="346892"/>
                  </a:lnTo>
                  <a:lnTo>
                    <a:pt x="35094" y="386954"/>
                  </a:lnTo>
                  <a:lnTo>
                    <a:pt x="60458" y="422849"/>
                  </a:lnTo>
                  <a:lnTo>
                    <a:pt x="91447" y="453849"/>
                  </a:lnTo>
                  <a:lnTo>
                    <a:pt x="127338" y="479227"/>
                  </a:lnTo>
                  <a:lnTo>
                    <a:pt x="167406" y="498254"/>
                  </a:lnTo>
                  <a:lnTo>
                    <a:pt x="210926" y="510204"/>
                  </a:lnTo>
                  <a:lnTo>
                    <a:pt x="257175" y="514350"/>
                  </a:lnTo>
                  <a:lnTo>
                    <a:pt x="303389" y="510204"/>
                  </a:lnTo>
                  <a:lnTo>
                    <a:pt x="346892" y="498254"/>
                  </a:lnTo>
                  <a:lnTo>
                    <a:pt x="386954" y="479227"/>
                  </a:lnTo>
                  <a:lnTo>
                    <a:pt x="422849" y="453849"/>
                  </a:lnTo>
                  <a:lnTo>
                    <a:pt x="453849" y="422849"/>
                  </a:lnTo>
                  <a:lnTo>
                    <a:pt x="479227" y="386954"/>
                  </a:lnTo>
                  <a:lnTo>
                    <a:pt x="498254" y="346892"/>
                  </a:lnTo>
                  <a:lnTo>
                    <a:pt x="510204" y="303389"/>
                  </a:lnTo>
                  <a:lnTo>
                    <a:pt x="514350" y="257175"/>
                  </a:lnTo>
                  <a:lnTo>
                    <a:pt x="510204" y="210960"/>
                  </a:lnTo>
                  <a:lnTo>
                    <a:pt x="498254" y="167457"/>
                  </a:lnTo>
                  <a:lnTo>
                    <a:pt x="479227" y="127395"/>
                  </a:lnTo>
                  <a:lnTo>
                    <a:pt x="453849" y="91500"/>
                  </a:lnTo>
                  <a:lnTo>
                    <a:pt x="422849" y="60500"/>
                  </a:lnTo>
                  <a:lnTo>
                    <a:pt x="386954" y="35122"/>
                  </a:lnTo>
                  <a:lnTo>
                    <a:pt x="346892" y="16095"/>
                  </a:lnTo>
                  <a:lnTo>
                    <a:pt x="303389" y="4145"/>
                  </a:lnTo>
                  <a:lnTo>
                    <a:pt x="257175" y="0"/>
                  </a:lnTo>
                  <a:close/>
                </a:path>
              </a:pathLst>
            </a:custGeom>
            <a:solidFill>
              <a:srgbClr val="808080"/>
            </a:solidFill>
          </p:spPr>
          <p:txBody>
            <a:bodyPr wrap="square" lIns="0" tIns="0" rIns="0" bIns="0" rtlCol="0"/>
            <a:lstStyle/>
            <a:p/>
          </p:txBody>
        </p:sp>
        <p:sp>
          <p:nvSpPr>
            <p:cNvPr id="20" name="object 20" descr=""/>
            <p:cNvSpPr/>
            <p:nvPr/>
          </p:nvSpPr>
          <p:spPr>
            <a:xfrm>
              <a:off x="3084576" y="4343400"/>
              <a:ext cx="514350" cy="514350"/>
            </a:xfrm>
            <a:custGeom>
              <a:avLst/>
              <a:gdLst/>
              <a:ahLst/>
              <a:cxnLst/>
              <a:rect l="l" t="t" r="r" b="b"/>
              <a:pathLst>
                <a:path w="514350" h="514350">
                  <a:moveTo>
                    <a:pt x="0" y="257175"/>
                  </a:moveTo>
                  <a:lnTo>
                    <a:pt x="4140" y="210960"/>
                  </a:lnTo>
                  <a:lnTo>
                    <a:pt x="16080" y="167457"/>
                  </a:lnTo>
                  <a:lnTo>
                    <a:pt x="35094" y="127395"/>
                  </a:lnTo>
                  <a:lnTo>
                    <a:pt x="60458" y="91500"/>
                  </a:lnTo>
                  <a:lnTo>
                    <a:pt x="91447" y="60500"/>
                  </a:lnTo>
                  <a:lnTo>
                    <a:pt x="127338" y="35122"/>
                  </a:lnTo>
                  <a:lnTo>
                    <a:pt x="167406" y="16095"/>
                  </a:lnTo>
                  <a:lnTo>
                    <a:pt x="210926" y="4145"/>
                  </a:lnTo>
                  <a:lnTo>
                    <a:pt x="257175" y="0"/>
                  </a:lnTo>
                  <a:lnTo>
                    <a:pt x="303389" y="4145"/>
                  </a:lnTo>
                  <a:lnTo>
                    <a:pt x="346892" y="16095"/>
                  </a:lnTo>
                  <a:lnTo>
                    <a:pt x="386954" y="35122"/>
                  </a:lnTo>
                  <a:lnTo>
                    <a:pt x="422849" y="60500"/>
                  </a:lnTo>
                  <a:lnTo>
                    <a:pt x="453849" y="91500"/>
                  </a:lnTo>
                  <a:lnTo>
                    <a:pt x="479227" y="127395"/>
                  </a:lnTo>
                  <a:lnTo>
                    <a:pt x="498254" y="167457"/>
                  </a:lnTo>
                  <a:lnTo>
                    <a:pt x="510204" y="210960"/>
                  </a:lnTo>
                  <a:lnTo>
                    <a:pt x="514350" y="257175"/>
                  </a:lnTo>
                  <a:lnTo>
                    <a:pt x="510204" y="303389"/>
                  </a:lnTo>
                  <a:lnTo>
                    <a:pt x="498254" y="346892"/>
                  </a:lnTo>
                  <a:lnTo>
                    <a:pt x="479227" y="386954"/>
                  </a:lnTo>
                  <a:lnTo>
                    <a:pt x="453849" y="422849"/>
                  </a:lnTo>
                  <a:lnTo>
                    <a:pt x="422849" y="453849"/>
                  </a:lnTo>
                  <a:lnTo>
                    <a:pt x="386954" y="479227"/>
                  </a:lnTo>
                  <a:lnTo>
                    <a:pt x="346892" y="498254"/>
                  </a:lnTo>
                  <a:lnTo>
                    <a:pt x="303389" y="510204"/>
                  </a:lnTo>
                  <a:lnTo>
                    <a:pt x="257175" y="514350"/>
                  </a:lnTo>
                  <a:lnTo>
                    <a:pt x="210926" y="510204"/>
                  </a:lnTo>
                  <a:lnTo>
                    <a:pt x="167406" y="498254"/>
                  </a:lnTo>
                  <a:lnTo>
                    <a:pt x="127338" y="479227"/>
                  </a:lnTo>
                  <a:lnTo>
                    <a:pt x="91447" y="453849"/>
                  </a:lnTo>
                  <a:lnTo>
                    <a:pt x="60458" y="422849"/>
                  </a:lnTo>
                  <a:lnTo>
                    <a:pt x="35094" y="386954"/>
                  </a:lnTo>
                  <a:lnTo>
                    <a:pt x="16080" y="346892"/>
                  </a:lnTo>
                  <a:lnTo>
                    <a:pt x="4140" y="303389"/>
                  </a:lnTo>
                  <a:lnTo>
                    <a:pt x="0" y="257175"/>
                  </a:lnTo>
                  <a:close/>
                </a:path>
              </a:pathLst>
            </a:custGeom>
            <a:ln w="12700">
              <a:solidFill>
                <a:srgbClr val="000000"/>
              </a:solidFill>
            </a:ln>
          </p:spPr>
          <p:txBody>
            <a:bodyPr wrap="square" lIns="0" tIns="0" rIns="0" bIns="0" rtlCol="0"/>
            <a:lstStyle/>
            <a:p/>
          </p:txBody>
        </p:sp>
      </p:grpSp>
      <p:sp>
        <p:nvSpPr>
          <p:cNvPr id="21" name="object 21" descr=""/>
          <p:cNvSpPr txBox="1"/>
          <p:nvPr/>
        </p:nvSpPr>
        <p:spPr>
          <a:xfrm>
            <a:off x="3261105" y="4459351"/>
            <a:ext cx="16129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C</a:t>
            </a:r>
            <a:endParaRPr sz="1600">
              <a:latin typeface="微软雅黑"/>
              <a:cs typeface="微软雅黑"/>
            </a:endParaRPr>
          </a:p>
        </p:txBody>
      </p:sp>
      <p:grpSp>
        <p:nvGrpSpPr>
          <p:cNvPr id="22" name="object 22" descr=""/>
          <p:cNvGrpSpPr/>
          <p:nvPr/>
        </p:nvGrpSpPr>
        <p:grpSpPr>
          <a:xfrm>
            <a:off x="3078226" y="5194300"/>
            <a:ext cx="527050" cy="527050"/>
            <a:chOff x="3078226" y="5194300"/>
            <a:chExt cx="527050" cy="527050"/>
          </a:xfrm>
        </p:grpSpPr>
        <p:sp>
          <p:nvSpPr>
            <p:cNvPr id="23" name="object 23" descr=""/>
            <p:cNvSpPr/>
            <p:nvPr/>
          </p:nvSpPr>
          <p:spPr>
            <a:xfrm>
              <a:off x="3084576" y="5200650"/>
              <a:ext cx="514350" cy="514350"/>
            </a:xfrm>
            <a:custGeom>
              <a:avLst/>
              <a:gdLst/>
              <a:ahLst/>
              <a:cxnLst/>
              <a:rect l="l" t="t" r="r" b="b"/>
              <a:pathLst>
                <a:path w="514350" h="514350">
                  <a:moveTo>
                    <a:pt x="257175" y="0"/>
                  </a:moveTo>
                  <a:lnTo>
                    <a:pt x="210926" y="4145"/>
                  </a:lnTo>
                  <a:lnTo>
                    <a:pt x="167406" y="16095"/>
                  </a:lnTo>
                  <a:lnTo>
                    <a:pt x="127338" y="35122"/>
                  </a:lnTo>
                  <a:lnTo>
                    <a:pt x="91447" y="60500"/>
                  </a:lnTo>
                  <a:lnTo>
                    <a:pt x="60458" y="91500"/>
                  </a:lnTo>
                  <a:lnTo>
                    <a:pt x="35094" y="127395"/>
                  </a:lnTo>
                  <a:lnTo>
                    <a:pt x="16080" y="167457"/>
                  </a:lnTo>
                  <a:lnTo>
                    <a:pt x="4140" y="210960"/>
                  </a:lnTo>
                  <a:lnTo>
                    <a:pt x="0" y="257175"/>
                  </a:lnTo>
                  <a:lnTo>
                    <a:pt x="4140" y="303403"/>
                  </a:lnTo>
                  <a:lnTo>
                    <a:pt x="16080" y="346912"/>
                  </a:lnTo>
                  <a:lnTo>
                    <a:pt x="35094" y="386977"/>
                  </a:lnTo>
                  <a:lnTo>
                    <a:pt x="60458" y="422870"/>
                  </a:lnTo>
                  <a:lnTo>
                    <a:pt x="91447" y="453866"/>
                  </a:lnTo>
                  <a:lnTo>
                    <a:pt x="127338" y="479238"/>
                  </a:lnTo>
                  <a:lnTo>
                    <a:pt x="167406" y="498260"/>
                  </a:lnTo>
                  <a:lnTo>
                    <a:pt x="210926" y="510206"/>
                  </a:lnTo>
                  <a:lnTo>
                    <a:pt x="257175" y="514350"/>
                  </a:lnTo>
                  <a:lnTo>
                    <a:pt x="303389" y="510206"/>
                  </a:lnTo>
                  <a:lnTo>
                    <a:pt x="346892" y="498260"/>
                  </a:lnTo>
                  <a:lnTo>
                    <a:pt x="386954" y="479238"/>
                  </a:lnTo>
                  <a:lnTo>
                    <a:pt x="422849" y="453866"/>
                  </a:lnTo>
                  <a:lnTo>
                    <a:pt x="453849" y="422870"/>
                  </a:lnTo>
                  <a:lnTo>
                    <a:pt x="479227" y="386977"/>
                  </a:lnTo>
                  <a:lnTo>
                    <a:pt x="498254" y="346912"/>
                  </a:lnTo>
                  <a:lnTo>
                    <a:pt x="510204" y="303403"/>
                  </a:lnTo>
                  <a:lnTo>
                    <a:pt x="514350" y="257175"/>
                  </a:lnTo>
                  <a:lnTo>
                    <a:pt x="510204" y="210960"/>
                  </a:lnTo>
                  <a:lnTo>
                    <a:pt x="498254" y="167457"/>
                  </a:lnTo>
                  <a:lnTo>
                    <a:pt x="479227" y="127395"/>
                  </a:lnTo>
                  <a:lnTo>
                    <a:pt x="453849" y="91500"/>
                  </a:lnTo>
                  <a:lnTo>
                    <a:pt x="422849" y="60500"/>
                  </a:lnTo>
                  <a:lnTo>
                    <a:pt x="386954" y="35122"/>
                  </a:lnTo>
                  <a:lnTo>
                    <a:pt x="346892" y="16095"/>
                  </a:lnTo>
                  <a:lnTo>
                    <a:pt x="303389" y="4145"/>
                  </a:lnTo>
                  <a:lnTo>
                    <a:pt x="257175" y="0"/>
                  </a:lnTo>
                  <a:close/>
                </a:path>
              </a:pathLst>
            </a:custGeom>
            <a:solidFill>
              <a:srgbClr val="808080"/>
            </a:solidFill>
          </p:spPr>
          <p:txBody>
            <a:bodyPr wrap="square" lIns="0" tIns="0" rIns="0" bIns="0" rtlCol="0"/>
            <a:lstStyle/>
            <a:p/>
          </p:txBody>
        </p:sp>
        <p:sp>
          <p:nvSpPr>
            <p:cNvPr id="24" name="object 24" descr=""/>
            <p:cNvSpPr/>
            <p:nvPr/>
          </p:nvSpPr>
          <p:spPr>
            <a:xfrm>
              <a:off x="3084576" y="5200650"/>
              <a:ext cx="514350" cy="514350"/>
            </a:xfrm>
            <a:custGeom>
              <a:avLst/>
              <a:gdLst/>
              <a:ahLst/>
              <a:cxnLst/>
              <a:rect l="l" t="t" r="r" b="b"/>
              <a:pathLst>
                <a:path w="514350" h="514350">
                  <a:moveTo>
                    <a:pt x="0" y="257175"/>
                  </a:moveTo>
                  <a:lnTo>
                    <a:pt x="4140" y="210960"/>
                  </a:lnTo>
                  <a:lnTo>
                    <a:pt x="16080" y="167457"/>
                  </a:lnTo>
                  <a:lnTo>
                    <a:pt x="35094" y="127395"/>
                  </a:lnTo>
                  <a:lnTo>
                    <a:pt x="60458" y="91500"/>
                  </a:lnTo>
                  <a:lnTo>
                    <a:pt x="91447" y="60500"/>
                  </a:lnTo>
                  <a:lnTo>
                    <a:pt x="127338" y="35122"/>
                  </a:lnTo>
                  <a:lnTo>
                    <a:pt x="167406" y="16095"/>
                  </a:lnTo>
                  <a:lnTo>
                    <a:pt x="210926" y="4145"/>
                  </a:lnTo>
                  <a:lnTo>
                    <a:pt x="257175" y="0"/>
                  </a:lnTo>
                  <a:lnTo>
                    <a:pt x="303389" y="4145"/>
                  </a:lnTo>
                  <a:lnTo>
                    <a:pt x="346892" y="16095"/>
                  </a:lnTo>
                  <a:lnTo>
                    <a:pt x="386954" y="35122"/>
                  </a:lnTo>
                  <a:lnTo>
                    <a:pt x="422849" y="60500"/>
                  </a:lnTo>
                  <a:lnTo>
                    <a:pt x="453849" y="91500"/>
                  </a:lnTo>
                  <a:lnTo>
                    <a:pt x="479227" y="127395"/>
                  </a:lnTo>
                  <a:lnTo>
                    <a:pt x="498254" y="167457"/>
                  </a:lnTo>
                  <a:lnTo>
                    <a:pt x="510204" y="210960"/>
                  </a:lnTo>
                  <a:lnTo>
                    <a:pt x="514350" y="257175"/>
                  </a:lnTo>
                  <a:lnTo>
                    <a:pt x="510204" y="303403"/>
                  </a:lnTo>
                  <a:lnTo>
                    <a:pt x="498254" y="346912"/>
                  </a:lnTo>
                  <a:lnTo>
                    <a:pt x="479227" y="386977"/>
                  </a:lnTo>
                  <a:lnTo>
                    <a:pt x="453849" y="422870"/>
                  </a:lnTo>
                  <a:lnTo>
                    <a:pt x="422849" y="453866"/>
                  </a:lnTo>
                  <a:lnTo>
                    <a:pt x="386954" y="479238"/>
                  </a:lnTo>
                  <a:lnTo>
                    <a:pt x="346892" y="498260"/>
                  </a:lnTo>
                  <a:lnTo>
                    <a:pt x="303389" y="510206"/>
                  </a:lnTo>
                  <a:lnTo>
                    <a:pt x="257175" y="514350"/>
                  </a:lnTo>
                  <a:lnTo>
                    <a:pt x="210926" y="510206"/>
                  </a:lnTo>
                  <a:lnTo>
                    <a:pt x="167406" y="498260"/>
                  </a:lnTo>
                  <a:lnTo>
                    <a:pt x="127338" y="479238"/>
                  </a:lnTo>
                  <a:lnTo>
                    <a:pt x="91447" y="453866"/>
                  </a:lnTo>
                  <a:lnTo>
                    <a:pt x="60458" y="422870"/>
                  </a:lnTo>
                  <a:lnTo>
                    <a:pt x="35094" y="386977"/>
                  </a:lnTo>
                  <a:lnTo>
                    <a:pt x="16080" y="346912"/>
                  </a:lnTo>
                  <a:lnTo>
                    <a:pt x="4140" y="303403"/>
                  </a:lnTo>
                  <a:lnTo>
                    <a:pt x="0" y="257175"/>
                  </a:lnTo>
                  <a:close/>
                </a:path>
              </a:pathLst>
            </a:custGeom>
            <a:ln w="12700">
              <a:solidFill>
                <a:srgbClr val="000000"/>
              </a:solidFill>
            </a:ln>
          </p:spPr>
          <p:txBody>
            <a:bodyPr wrap="square" lIns="0" tIns="0" rIns="0" bIns="0" rtlCol="0"/>
            <a:lstStyle/>
            <a:p/>
          </p:txBody>
        </p:sp>
      </p:grpSp>
      <p:sp>
        <p:nvSpPr>
          <p:cNvPr id="25" name="object 25" descr=""/>
          <p:cNvSpPr txBox="1"/>
          <p:nvPr/>
        </p:nvSpPr>
        <p:spPr>
          <a:xfrm>
            <a:off x="3251708" y="5316423"/>
            <a:ext cx="180340" cy="269240"/>
          </a:xfrm>
          <a:prstGeom prst="rect">
            <a:avLst/>
          </a:prstGeom>
        </p:spPr>
        <p:txBody>
          <a:bodyPr wrap="square" lIns="0" tIns="12065" rIns="0" bIns="0" rtlCol="0" vert="horz">
            <a:spAutoFit/>
          </a:bodyPr>
          <a:lstStyle/>
          <a:p>
            <a:pPr marL="12700">
              <a:lnSpc>
                <a:spcPct val="100000"/>
              </a:lnSpc>
              <a:spcBef>
                <a:spcPts val="95"/>
              </a:spcBef>
            </a:pPr>
            <a:r>
              <a:rPr dirty="0" sz="1600" spc="-50">
                <a:solidFill>
                  <a:srgbClr val="FFFFFF"/>
                </a:solidFill>
                <a:latin typeface="微软雅黑"/>
                <a:cs typeface="微软雅黑"/>
              </a:rPr>
              <a:t>D</a:t>
            </a:r>
            <a:endParaRPr sz="1600">
              <a:latin typeface="微软雅黑"/>
              <a:cs typeface="微软雅黑"/>
            </a:endParaRPr>
          </a:p>
        </p:txBody>
      </p:sp>
      <p:grpSp>
        <p:nvGrpSpPr>
          <p:cNvPr id="26" name="object 26" descr=""/>
          <p:cNvGrpSpPr/>
          <p:nvPr/>
        </p:nvGrpSpPr>
        <p:grpSpPr>
          <a:xfrm>
            <a:off x="7732776" y="5761037"/>
            <a:ext cx="1581150" cy="449580"/>
            <a:chOff x="7732776" y="5761037"/>
            <a:chExt cx="1581150" cy="449580"/>
          </a:xfrm>
        </p:grpSpPr>
        <p:sp>
          <p:nvSpPr>
            <p:cNvPr id="27" name="object 27" descr=""/>
            <p:cNvSpPr/>
            <p:nvPr/>
          </p:nvSpPr>
          <p:spPr>
            <a:xfrm>
              <a:off x="7751826" y="5780087"/>
              <a:ext cx="1543050" cy="411480"/>
            </a:xfrm>
            <a:custGeom>
              <a:avLst/>
              <a:gdLst/>
              <a:ahLst/>
              <a:cxnLst/>
              <a:rect l="l" t="t" r="r" b="b"/>
              <a:pathLst>
                <a:path w="1543050" h="411479">
                  <a:moveTo>
                    <a:pt x="1474470" y="0"/>
                  </a:moveTo>
                  <a:lnTo>
                    <a:pt x="68452" y="0"/>
                  </a:lnTo>
                  <a:lnTo>
                    <a:pt x="41790" y="5385"/>
                  </a:lnTo>
                  <a:lnTo>
                    <a:pt x="20034" y="20072"/>
                  </a:lnTo>
                  <a:lnTo>
                    <a:pt x="5373" y="41855"/>
                  </a:lnTo>
                  <a:lnTo>
                    <a:pt x="0" y="68529"/>
                  </a:lnTo>
                  <a:lnTo>
                    <a:pt x="0" y="342633"/>
                  </a:lnTo>
                  <a:lnTo>
                    <a:pt x="5373" y="369307"/>
                  </a:lnTo>
                  <a:lnTo>
                    <a:pt x="20034" y="391090"/>
                  </a:lnTo>
                  <a:lnTo>
                    <a:pt x="41790" y="405776"/>
                  </a:lnTo>
                  <a:lnTo>
                    <a:pt x="68452" y="411162"/>
                  </a:lnTo>
                  <a:lnTo>
                    <a:pt x="1474470" y="411162"/>
                  </a:lnTo>
                  <a:lnTo>
                    <a:pt x="1501151" y="405776"/>
                  </a:lnTo>
                  <a:lnTo>
                    <a:pt x="1522952" y="391090"/>
                  </a:lnTo>
                  <a:lnTo>
                    <a:pt x="1537656" y="369307"/>
                  </a:lnTo>
                  <a:lnTo>
                    <a:pt x="1543050" y="342633"/>
                  </a:lnTo>
                  <a:lnTo>
                    <a:pt x="1543050" y="68529"/>
                  </a:lnTo>
                  <a:lnTo>
                    <a:pt x="1537656" y="41855"/>
                  </a:lnTo>
                  <a:lnTo>
                    <a:pt x="1522952" y="20072"/>
                  </a:lnTo>
                  <a:lnTo>
                    <a:pt x="1501151" y="5385"/>
                  </a:lnTo>
                  <a:lnTo>
                    <a:pt x="1474470" y="0"/>
                  </a:lnTo>
                  <a:close/>
                </a:path>
              </a:pathLst>
            </a:custGeom>
            <a:solidFill>
              <a:srgbClr val="808080"/>
            </a:solidFill>
          </p:spPr>
          <p:txBody>
            <a:bodyPr wrap="square" lIns="0" tIns="0" rIns="0" bIns="0" rtlCol="0"/>
            <a:lstStyle/>
            <a:p/>
          </p:txBody>
        </p:sp>
        <p:sp>
          <p:nvSpPr>
            <p:cNvPr id="28" name="object 28" descr=""/>
            <p:cNvSpPr/>
            <p:nvPr/>
          </p:nvSpPr>
          <p:spPr>
            <a:xfrm>
              <a:off x="7751826" y="5780087"/>
              <a:ext cx="1543050" cy="411480"/>
            </a:xfrm>
            <a:custGeom>
              <a:avLst/>
              <a:gdLst/>
              <a:ahLst/>
              <a:cxnLst/>
              <a:rect l="l" t="t" r="r" b="b"/>
              <a:pathLst>
                <a:path w="1543050" h="411479">
                  <a:moveTo>
                    <a:pt x="0" y="68529"/>
                  </a:moveTo>
                  <a:lnTo>
                    <a:pt x="5373" y="41855"/>
                  </a:lnTo>
                  <a:lnTo>
                    <a:pt x="20034" y="20072"/>
                  </a:lnTo>
                  <a:lnTo>
                    <a:pt x="41790" y="5385"/>
                  </a:lnTo>
                  <a:lnTo>
                    <a:pt x="68452" y="0"/>
                  </a:lnTo>
                  <a:lnTo>
                    <a:pt x="1474470" y="0"/>
                  </a:lnTo>
                  <a:lnTo>
                    <a:pt x="1501151" y="5385"/>
                  </a:lnTo>
                  <a:lnTo>
                    <a:pt x="1522952" y="20072"/>
                  </a:lnTo>
                  <a:lnTo>
                    <a:pt x="1537656" y="41855"/>
                  </a:lnTo>
                  <a:lnTo>
                    <a:pt x="1543050" y="68529"/>
                  </a:lnTo>
                  <a:lnTo>
                    <a:pt x="1543050" y="342633"/>
                  </a:lnTo>
                  <a:lnTo>
                    <a:pt x="1537656" y="369307"/>
                  </a:lnTo>
                  <a:lnTo>
                    <a:pt x="1522952" y="391090"/>
                  </a:lnTo>
                  <a:lnTo>
                    <a:pt x="1501151" y="405776"/>
                  </a:lnTo>
                  <a:lnTo>
                    <a:pt x="1474470" y="411162"/>
                  </a:lnTo>
                  <a:lnTo>
                    <a:pt x="68452" y="411162"/>
                  </a:lnTo>
                  <a:lnTo>
                    <a:pt x="41790" y="405776"/>
                  </a:lnTo>
                  <a:lnTo>
                    <a:pt x="20034" y="391090"/>
                  </a:lnTo>
                  <a:lnTo>
                    <a:pt x="5373" y="369307"/>
                  </a:lnTo>
                  <a:lnTo>
                    <a:pt x="0" y="342633"/>
                  </a:lnTo>
                  <a:lnTo>
                    <a:pt x="0" y="68529"/>
                  </a:lnTo>
                  <a:close/>
                </a:path>
              </a:pathLst>
            </a:custGeom>
            <a:ln w="38100">
              <a:solidFill>
                <a:srgbClr val="000000"/>
              </a:solidFill>
            </a:ln>
          </p:spPr>
          <p:txBody>
            <a:bodyPr wrap="square" lIns="0" tIns="0" rIns="0" bIns="0" rtlCol="0"/>
            <a:lstStyle/>
            <a:p/>
          </p:txBody>
        </p:sp>
      </p:grpSp>
      <p:sp>
        <p:nvSpPr>
          <p:cNvPr id="29" name="object 29" descr=""/>
          <p:cNvSpPr txBox="1"/>
          <p:nvPr/>
        </p:nvSpPr>
        <p:spPr>
          <a:xfrm>
            <a:off x="8308340" y="5844946"/>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提交</a:t>
            </a:r>
            <a:endParaRPr sz="1600">
              <a:latin typeface="微软雅黑"/>
              <a:cs typeface="微软雅黑"/>
            </a:endParaRPr>
          </a:p>
        </p:txBody>
      </p:sp>
      <p:sp>
        <p:nvSpPr>
          <p:cNvPr id="30" name="object 30"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sp>
        <p:nvSpPr>
          <p:cNvPr id="31" name="object 31"/>
          <p:cNvSpPr txBox="1">
            <a:spLocks noGrp="1"/>
          </p:cNvSpPr>
          <p:nvPr>
            <p:ph type="title"/>
          </p:nvPr>
        </p:nvSpPr>
        <p:spPr>
          <a:xfrm>
            <a:off x="190500" y="0"/>
            <a:ext cx="8953500" cy="635000"/>
          </a:xfrm>
          <a:prstGeom prst="rect"/>
          <a:solidFill>
            <a:srgbClr val="F6F7F8"/>
          </a:solidFill>
        </p:spPr>
        <p:txBody>
          <a:bodyPr wrap="square" lIns="0" tIns="106045" rIns="0" bIns="0" rtlCol="0" vert="horz">
            <a:spAutoFit/>
          </a:bodyPr>
          <a:lstStyle/>
          <a:p>
            <a:pPr marL="154940">
              <a:lnSpc>
                <a:spcPct val="100000"/>
              </a:lnSpc>
              <a:spcBef>
                <a:spcPts val="835"/>
              </a:spcBef>
              <a:tabLst>
                <a:tab pos="1426845" algn="l"/>
              </a:tabLst>
            </a:pPr>
            <a:r>
              <a:rPr dirty="0" sz="2600">
                <a:solidFill>
                  <a:srgbClr val="000000"/>
                </a:solidFill>
                <a:latin typeface="微软雅黑"/>
                <a:cs typeface="微软雅黑"/>
              </a:rPr>
              <a:t>单选</a:t>
            </a:r>
            <a:r>
              <a:rPr dirty="0" sz="2600" spc="-50">
                <a:solidFill>
                  <a:srgbClr val="000000"/>
                </a:solidFill>
                <a:latin typeface="微软雅黑"/>
                <a:cs typeface="微软雅黑"/>
              </a:rPr>
              <a:t>题</a:t>
            </a:r>
            <a:r>
              <a:rPr dirty="0" sz="2600">
                <a:solidFill>
                  <a:srgbClr val="000000"/>
                </a:solidFill>
                <a:latin typeface="微软雅黑"/>
                <a:cs typeface="微软雅黑"/>
              </a:rPr>
              <a:t>	</a:t>
            </a:r>
            <a:r>
              <a:rPr dirty="0" baseline="-4166" sz="3000">
                <a:solidFill>
                  <a:srgbClr val="808080"/>
                </a:solidFill>
                <a:latin typeface="微软雅黑"/>
                <a:cs typeface="微软雅黑"/>
              </a:rPr>
              <a:t>1</a:t>
            </a:r>
            <a:r>
              <a:rPr dirty="0" baseline="-4166" sz="3000" spc="-75">
                <a:solidFill>
                  <a:srgbClr val="808080"/>
                </a:solidFill>
                <a:latin typeface="微软雅黑"/>
                <a:cs typeface="微软雅黑"/>
              </a:rPr>
              <a:t>分</a:t>
            </a:r>
            <a:endParaRPr baseline="-4166" sz="3000">
              <a:latin typeface="微软雅黑"/>
              <a:cs typeface="微软雅黑"/>
            </a:endParaRPr>
          </a:p>
        </p:txBody>
      </p:sp>
      <p:pic>
        <p:nvPicPr>
          <p:cNvPr id="32" name="object 32"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85/175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3684904" cy="513715"/>
          </a:xfrm>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graphicFrame>
        <p:nvGraphicFramePr>
          <p:cNvPr id="10" name="object 10" descr=""/>
          <p:cNvGraphicFramePr>
            <a:graphicFrameLocks noGrp="1"/>
          </p:cNvGraphicFramePr>
          <p:nvPr/>
        </p:nvGraphicFramePr>
        <p:xfrm>
          <a:off x="3143250" y="5746750"/>
          <a:ext cx="6450330" cy="371475"/>
        </p:xfrm>
        <a:graphic>
          <a:graphicData uri="http://schemas.openxmlformats.org/drawingml/2006/table">
            <a:tbl>
              <a:tblPr firstRow="1" bandRow="1">
                <a:tableStyleId>{2D5ABB26-0587-4C30-8999-92F81FD0307C}</a:tableStyleId>
              </a:tblPr>
              <a:tblGrid>
                <a:gridCol w="786130"/>
                <a:gridCol w="864234"/>
                <a:gridCol w="1224280"/>
                <a:gridCol w="1289684"/>
                <a:gridCol w="732789"/>
                <a:gridCol w="732789"/>
                <a:gridCol w="732789"/>
              </a:tblGrid>
              <a:tr h="371475">
                <a:tc>
                  <a:txBody>
                    <a:bodyPr/>
                    <a:lstStyle/>
                    <a:p>
                      <a:pPr marL="91440">
                        <a:lnSpc>
                          <a:spcPct val="100000"/>
                        </a:lnSpc>
                        <a:spcBef>
                          <a:spcPts val="355"/>
                        </a:spcBef>
                      </a:pPr>
                      <a:r>
                        <a:rPr dirty="0" sz="1800" spc="-20" b="1">
                          <a:solidFill>
                            <a:srgbClr val="FF0000"/>
                          </a:solidFill>
                          <a:latin typeface="Tahoma"/>
                          <a:cs typeface="Tahoma"/>
                        </a:rPr>
                        <a:t>Busy</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1440">
                        <a:lnSpc>
                          <a:spcPct val="100000"/>
                        </a:lnSpc>
                        <a:spcBef>
                          <a:spcPts val="355"/>
                        </a:spcBef>
                      </a:pPr>
                      <a:r>
                        <a:rPr dirty="0" sz="1800" spc="-25" b="1">
                          <a:solidFill>
                            <a:srgbClr val="FF0000"/>
                          </a:solidFill>
                          <a:latin typeface="Tahoma"/>
                          <a:cs typeface="Tahoma"/>
                        </a:rPr>
                        <a:t>Op</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1440">
                        <a:lnSpc>
                          <a:spcPct val="100000"/>
                        </a:lnSpc>
                        <a:spcBef>
                          <a:spcPts val="370"/>
                        </a:spcBef>
                      </a:pPr>
                      <a:r>
                        <a:rPr dirty="0" sz="1800" spc="-15" b="1">
                          <a:solidFill>
                            <a:srgbClr val="FF0000"/>
                          </a:solidFill>
                          <a:latin typeface="黑体"/>
                          <a:cs typeface="黑体"/>
                        </a:rPr>
                        <a:t>操作数</a:t>
                      </a:r>
                      <a:r>
                        <a:rPr dirty="0" sz="1800" spc="-25" b="1">
                          <a:solidFill>
                            <a:srgbClr val="FF0000"/>
                          </a:solidFill>
                          <a:latin typeface="Tahoma"/>
                          <a:cs typeface="Tahoma"/>
                        </a:rPr>
                        <a:t>Vj</a:t>
                      </a:r>
                      <a:endParaRPr sz="1800">
                        <a:latin typeface="Tahoma"/>
                        <a:cs typeface="Tahoma"/>
                      </a:endParaRPr>
                    </a:p>
                  </a:txBody>
                  <a:tcPr marL="0" marR="0" marB="0" marT="469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70"/>
                        </a:spcBef>
                      </a:pPr>
                      <a:r>
                        <a:rPr dirty="0" sz="1800" spc="-20" b="1">
                          <a:solidFill>
                            <a:srgbClr val="FF0000"/>
                          </a:solidFill>
                          <a:latin typeface="黑体"/>
                          <a:cs typeface="黑体"/>
                        </a:rPr>
                        <a:t>操作数</a:t>
                      </a:r>
                      <a:r>
                        <a:rPr dirty="0" sz="1800" spc="-25" b="1">
                          <a:solidFill>
                            <a:srgbClr val="FF0000"/>
                          </a:solidFill>
                          <a:latin typeface="Tahoma"/>
                          <a:cs typeface="Tahoma"/>
                        </a:rPr>
                        <a:t>Vk</a:t>
                      </a:r>
                      <a:endParaRPr sz="1800">
                        <a:latin typeface="Tahoma"/>
                        <a:cs typeface="Tahoma"/>
                      </a:endParaRPr>
                    </a:p>
                  </a:txBody>
                  <a:tcPr marL="0" marR="0" marB="0" marT="469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55"/>
                        </a:spcBef>
                      </a:pPr>
                      <a:r>
                        <a:rPr dirty="0" sz="1800" spc="-25" b="1">
                          <a:solidFill>
                            <a:srgbClr val="FF0000"/>
                          </a:solidFill>
                          <a:latin typeface="Tahoma"/>
                          <a:cs typeface="Tahoma"/>
                        </a:rPr>
                        <a:t>Qj</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55"/>
                        </a:spcBef>
                      </a:pPr>
                      <a:r>
                        <a:rPr dirty="0" sz="1800" spc="-25" b="1">
                          <a:solidFill>
                            <a:srgbClr val="FF0000"/>
                          </a:solidFill>
                          <a:latin typeface="Tahoma"/>
                          <a:cs typeface="Tahoma"/>
                        </a:rPr>
                        <a:t>Qk</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55"/>
                        </a:spcBef>
                      </a:pPr>
                      <a:r>
                        <a:rPr dirty="0" sz="1800" spc="-50" b="1">
                          <a:solidFill>
                            <a:srgbClr val="FF0000"/>
                          </a:solidFill>
                          <a:latin typeface="Tahoma"/>
                          <a:cs typeface="Tahoma"/>
                        </a:rPr>
                        <a:t>A</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r>
            </a:tbl>
          </a:graphicData>
        </a:graphic>
      </p:graphicFrame>
      <p:sp>
        <p:nvSpPr>
          <p:cNvPr id="11" name="object 11" descr=""/>
          <p:cNvSpPr txBox="1"/>
          <p:nvPr/>
        </p:nvSpPr>
        <p:spPr>
          <a:xfrm>
            <a:off x="197916" y="612775"/>
            <a:ext cx="11786235" cy="5534660"/>
          </a:xfrm>
          <a:prstGeom prst="rect">
            <a:avLst/>
          </a:prstGeom>
        </p:spPr>
        <p:txBody>
          <a:bodyPr wrap="square" lIns="0" tIns="121920" rIns="0" bIns="0" rtlCol="0" vert="horz">
            <a:spAutoFit/>
          </a:bodyPr>
          <a:lstStyle/>
          <a:p>
            <a:pPr marL="469265" indent="-456565">
              <a:lnSpc>
                <a:spcPct val="100000"/>
              </a:lnSpc>
              <a:spcBef>
                <a:spcPts val="960"/>
              </a:spcBef>
              <a:buClr>
                <a:srgbClr val="40458B"/>
              </a:buClr>
              <a:buAutoNum type="arabicPeriod" startAt="9"/>
              <a:tabLst>
                <a:tab pos="469265" algn="l"/>
              </a:tabLst>
            </a:pPr>
            <a:r>
              <a:rPr dirty="0" sz="2400" spc="-5">
                <a:solidFill>
                  <a:srgbClr val="001F5F"/>
                </a:solidFill>
                <a:latin typeface="黑体"/>
                <a:cs typeface="黑体"/>
              </a:rPr>
              <a:t>每个</a:t>
            </a:r>
            <a:r>
              <a:rPr dirty="0" sz="2400">
                <a:solidFill>
                  <a:srgbClr val="FF0000"/>
                </a:solidFill>
                <a:latin typeface="黑体"/>
                <a:cs typeface="黑体"/>
              </a:rPr>
              <a:t>保留站</a:t>
            </a:r>
            <a:r>
              <a:rPr dirty="0" sz="2400">
                <a:solidFill>
                  <a:srgbClr val="001F5F"/>
                </a:solidFill>
                <a:latin typeface="黑体"/>
                <a:cs typeface="黑体"/>
              </a:rPr>
              <a:t>有以下7个字段：</a:t>
            </a:r>
            <a:r>
              <a:rPr dirty="0" sz="2400" spc="-5">
                <a:solidFill>
                  <a:srgbClr val="FF0000"/>
                </a:solidFill>
                <a:latin typeface="黑体"/>
                <a:cs typeface="黑体"/>
              </a:rPr>
              <a:t>联系</a:t>
            </a:r>
            <a:r>
              <a:rPr dirty="0" sz="2400">
                <a:solidFill>
                  <a:srgbClr val="FF0000"/>
                </a:solidFill>
                <a:latin typeface="黑体"/>
                <a:cs typeface="黑体"/>
              </a:rPr>
              <a:t>R\I</a:t>
            </a:r>
            <a:r>
              <a:rPr dirty="0" sz="2400" spc="-10">
                <a:solidFill>
                  <a:srgbClr val="FF0000"/>
                </a:solidFill>
                <a:latin typeface="黑体"/>
                <a:cs typeface="黑体"/>
              </a:rPr>
              <a:t>类指令格式</a:t>
            </a:r>
            <a:endParaRPr sz="2400">
              <a:latin typeface="黑体"/>
              <a:cs typeface="黑体"/>
            </a:endParaRPr>
          </a:p>
          <a:p>
            <a:pPr lvl="1" marL="1099185" indent="-457200">
              <a:lnSpc>
                <a:spcPct val="100000"/>
              </a:lnSpc>
              <a:spcBef>
                <a:spcPts val="865"/>
              </a:spcBef>
              <a:buClr>
                <a:srgbClr val="40458B"/>
              </a:buClr>
              <a:buSzPct val="89583"/>
              <a:buFont typeface="Wingdings"/>
              <a:buChar char=""/>
              <a:tabLst>
                <a:tab pos="1099185" algn="l"/>
              </a:tabLst>
            </a:pPr>
            <a:r>
              <a:rPr dirty="0" sz="2400">
                <a:solidFill>
                  <a:srgbClr val="D50092"/>
                </a:solidFill>
                <a:latin typeface="黑体"/>
                <a:cs typeface="黑体"/>
              </a:rPr>
              <a:t>Op：</a:t>
            </a:r>
            <a:r>
              <a:rPr dirty="0" sz="2400" spc="-5">
                <a:solidFill>
                  <a:srgbClr val="40458B"/>
                </a:solidFill>
                <a:latin typeface="黑体"/>
                <a:cs typeface="黑体"/>
              </a:rPr>
              <a:t>要对源操作数进行的操作</a:t>
            </a:r>
            <a:endParaRPr sz="2400">
              <a:latin typeface="黑体"/>
              <a:cs typeface="黑体"/>
            </a:endParaRPr>
          </a:p>
          <a:p>
            <a:pPr lvl="1" marL="1099185" indent="-457200">
              <a:lnSpc>
                <a:spcPct val="100000"/>
              </a:lnSpc>
              <a:spcBef>
                <a:spcPts val="865"/>
              </a:spcBef>
              <a:buClr>
                <a:srgbClr val="40458B"/>
              </a:buClr>
              <a:buSzPct val="89583"/>
              <a:buFont typeface="Wingdings"/>
              <a:buChar char=""/>
              <a:tabLst>
                <a:tab pos="1099185" algn="l"/>
              </a:tabLst>
            </a:pPr>
            <a:r>
              <a:rPr dirty="0" sz="2400" spc="-10">
                <a:solidFill>
                  <a:srgbClr val="D50092"/>
                </a:solidFill>
                <a:latin typeface="黑体"/>
                <a:cs typeface="黑体"/>
              </a:rPr>
              <a:t>Qj，Qk：</a:t>
            </a:r>
            <a:r>
              <a:rPr dirty="0" sz="2400" spc="-10">
                <a:solidFill>
                  <a:srgbClr val="40458B"/>
                </a:solidFill>
                <a:latin typeface="黑体"/>
                <a:cs typeface="黑体"/>
              </a:rPr>
              <a:t>产生源操作数的保留站号</a:t>
            </a:r>
            <a:r>
              <a:rPr dirty="0" sz="2000" spc="-10">
                <a:solidFill>
                  <a:srgbClr val="D50092"/>
                </a:solidFill>
                <a:latin typeface="黑体"/>
                <a:cs typeface="黑体"/>
              </a:rPr>
              <a:t>或者为</a:t>
            </a:r>
            <a:r>
              <a:rPr dirty="0" sz="2000" spc="-50">
                <a:solidFill>
                  <a:srgbClr val="D50092"/>
                </a:solidFill>
                <a:latin typeface="黑体"/>
                <a:cs typeface="黑体"/>
              </a:rPr>
              <a:t>0</a:t>
            </a:r>
            <a:endParaRPr sz="2000">
              <a:latin typeface="黑体"/>
              <a:cs typeface="黑体"/>
            </a:endParaRPr>
          </a:p>
          <a:p>
            <a:pPr lvl="2" marL="1783080" indent="-457200">
              <a:lnSpc>
                <a:spcPct val="100000"/>
              </a:lnSpc>
              <a:spcBef>
                <a:spcPts val="735"/>
              </a:spcBef>
              <a:buClr>
                <a:srgbClr val="4668F5"/>
              </a:buClr>
              <a:buSzPct val="69444"/>
              <a:buFont typeface="Wingdings"/>
              <a:buChar char=""/>
              <a:tabLst>
                <a:tab pos="1783080" algn="l"/>
              </a:tabLst>
            </a:pPr>
            <a:r>
              <a:rPr dirty="0" sz="1800" spc="-10" b="1">
                <a:solidFill>
                  <a:srgbClr val="D50092"/>
                </a:solidFill>
                <a:latin typeface="宋体"/>
                <a:cs typeface="宋体"/>
              </a:rPr>
              <a:t>若为</a:t>
            </a:r>
            <a:r>
              <a:rPr dirty="0" sz="1800" spc="-10" b="1">
                <a:solidFill>
                  <a:srgbClr val="D50092"/>
                </a:solidFill>
                <a:latin typeface="黑体"/>
                <a:cs typeface="黑体"/>
              </a:rPr>
              <a:t>0</a:t>
            </a:r>
            <a:r>
              <a:rPr dirty="0" sz="1800" spc="-10" b="1">
                <a:solidFill>
                  <a:srgbClr val="D50092"/>
                </a:solidFill>
                <a:latin typeface="宋体"/>
                <a:cs typeface="宋体"/>
              </a:rPr>
              <a:t>：表示操作数就绪，操作数就绪且放在</a:t>
            </a:r>
            <a:r>
              <a:rPr dirty="0" sz="1800" spc="-10" b="1">
                <a:solidFill>
                  <a:srgbClr val="D50092"/>
                </a:solidFill>
                <a:latin typeface="黑体"/>
                <a:cs typeface="黑体"/>
              </a:rPr>
              <a:t>Vj</a:t>
            </a:r>
            <a:r>
              <a:rPr dirty="0" sz="1800" spc="-10" b="1">
                <a:solidFill>
                  <a:srgbClr val="D50092"/>
                </a:solidFill>
                <a:latin typeface="宋体"/>
                <a:cs typeface="宋体"/>
              </a:rPr>
              <a:t>或</a:t>
            </a:r>
            <a:r>
              <a:rPr dirty="0" sz="1800" spc="-10" b="1">
                <a:solidFill>
                  <a:srgbClr val="D50092"/>
                </a:solidFill>
                <a:latin typeface="黑体"/>
                <a:cs typeface="黑体"/>
              </a:rPr>
              <a:t>Vk</a:t>
            </a:r>
            <a:r>
              <a:rPr dirty="0" sz="1800" spc="-20" b="1">
                <a:solidFill>
                  <a:srgbClr val="D50092"/>
                </a:solidFill>
                <a:latin typeface="宋体"/>
                <a:cs typeface="宋体"/>
              </a:rPr>
              <a:t>，或不需要操作数</a:t>
            </a:r>
            <a:endParaRPr sz="1800">
              <a:latin typeface="宋体"/>
              <a:cs typeface="宋体"/>
            </a:endParaRPr>
          </a:p>
          <a:p>
            <a:pPr lvl="2" marL="1783080" indent="-457200">
              <a:lnSpc>
                <a:spcPct val="100000"/>
              </a:lnSpc>
              <a:spcBef>
                <a:spcPts val="645"/>
              </a:spcBef>
              <a:buClr>
                <a:srgbClr val="4668F5"/>
              </a:buClr>
              <a:buSzPct val="69444"/>
              <a:buFont typeface="Wingdings"/>
              <a:buChar char=""/>
              <a:tabLst>
                <a:tab pos="1783080" algn="l"/>
              </a:tabLst>
            </a:pPr>
            <a:r>
              <a:rPr dirty="0" sz="1800" spc="-10" b="1">
                <a:solidFill>
                  <a:srgbClr val="D50092"/>
                </a:solidFill>
                <a:latin typeface="宋体"/>
                <a:cs typeface="宋体"/>
              </a:rPr>
              <a:t>若不为</a:t>
            </a:r>
            <a:r>
              <a:rPr dirty="0" sz="1800" spc="-10" b="1">
                <a:solidFill>
                  <a:srgbClr val="D50092"/>
                </a:solidFill>
                <a:latin typeface="黑体"/>
                <a:cs typeface="黑体"/>
              </a:rPr>
              <a:t>0</a:t>
            </a:r>
            <a:r>
              <a:rPr dirty="0" sz="1800" spc="-10" b="1">
                <a:solidFill>
                  <a:srgbClr val="D50092"/>
                </a:solidFill>
                <a:latin typeface="宋体"/>
                <a:cs typeface="宋体"/>
              </a:rPr>
              <a:t>，表示产生源操作数的保留站号，即等着这个保留站号的结果释放，释放后操作数携带</a:t>
            </a:r>
            <a:r>
              <a:rPr dirty="0" sz="1800" spc="-25" b="1">
                <a:solidFill>
                  <a:srgbClr val="D50092"/>
                </a:solidFill>
                <a:latin typeface="黑体"/>
                <a:cs typeface="黑体"/>
              </a:rPr>
              <a:t>tag</a:t>
            </a:r>
            <a:endParaRPr sz="1800">
              <a:latin typeface="黑体"/>
              <a:cs typeface="黑体"/>
            </a:endParaRPr>
          </a:p>
          <a:p>
            <a:pPr lvl="1" marL="1403985" indent="-762000">
              <a:lnSpc>
                <a:spcPct val="100000"/>
              </a:lnSpc>
              <a:spcBef>
                <a:spcPts val="780"/>
              </a:spcBef>
              <a:buClr>
                <a:srgbClr val="40458B"/>
              </a:buClr>
              <a:buSzPct val="89583"/>
              <a:buFont typeface="Wingdings"/>
              <a:buChar char=""/>
              <a:tabLst>
                <a:tab pos="1403985" algn="l"/>
                <a:tab pos="8415020" algn="l"/>
              </a:tabLst>
            </a:pPr>
            <a:r>
              <a:rPr dirty="0" sz="2400">
                <a:solidFill>
                  <a:srgbClr val="D50092"/>
                </a:solidFill>
                <a:latin typeface="黑体"/>
                <a:cs typeface="黑体"/>
              </a:rPr>
              <a:t>Vj，Vk：表示</a:t>
            </a:r>
            <a:r>
              <a:rPr dirty="0" sz="2400">
                <a:solidFill>
                  <a:srgbClr val="40458B"/>
                </a:solidFill>
                <a:latin typeface="黑体"/>
                <a:cs typeface="黑体"/>
              </a:rPr>
              <a:t>源操作数的值（ </a:t>
            </a:r>
            <a:r>
              <a:rPr dirty="0" sz="2400">
                <a:solidFill>
                  <a:srgbClr val="D50092"/>
                </a:solidFill>
                <a:latin typeface="黑体"/>
                <a:cs typeface="黑体"/>
              </a:rPr>
              <a:t>Vj---rs，Vk-----</a:t>
            </a:r>
            <a:r>
              <a:rPr dirty="0" sz="2400" spc="-25">
                <a:solidFill>
                  <a:srgbClr val="D50092"/>
                </a:solidFill>
                <a:latin typeface="黑体"/>
                <a:cs typeface="黑体"/>
              </a:rPr>
              <a:t>rt</a:t>
            </a:r>
            <a:r>
              <a:rPr dirty="0" sz="2400">
                <a:solidFill>
                  <a:srgbClr val="D50092"/>
                </a:solidFill>
                <a:latin typeface="黑体"/>
                <a:cs typeface="黑体"/>
              </a:rPr>
              <a:t>	</a:t>
            </a:r>
            <a:r>
              <a:rPr dirty="0" sz="2400" spc="-50">
                <a:solidFill>
                  <a:srgbClr val="40458B"/>
                </a:solidFill>
                <a:latin typeface="黑体"/>
                <a:cs typeface="黑体"/>
              </a:rPr>
              <a:t>）</a:t>
            </a:r>
            <a:endParaRPr sz="2400">
              <a:latin typeface="黑体"/>
              <a:cs typeface="黑体"/>
            </a:endParaRPr>
          </a:p>
          <a:p>
            <a:pPr marL="1343025" indent="-381000">
              <a:lnSpc>
                <a:spcPct val="100000"/>
              </a:lnSpc>
              <a:spcBef>
                <a:spcPts val="735"/>
              </a:spcBef>
              <a:buClr>
                <a:srgbClr val="9966FF"/>
              </a:buClr>
              <a:buSzPct val="63888"/>
              <a:buFont typeface="Wingdings"/>
              <a:buChar char=""/>
              <a:tabLst>
                <a:tab pos="1343025" algn="l"/>
              </a:tabLst>
            </a:pPr>
            <a:r>
              <a:rPr dirty="0" sz="1800" spc="-10" b="1">
                <a:solidFill>
                  <a:srgbClr val="FF09FF"/>
                </a:solidFill>
                <a:latin typeface="宋体"/>
                <a:cs typeface="宋体"/>
              </a:rPr>
              <a:t>对于每一个操作数来说，</a:t>
            </a:r>
            <a:r>
              <a:rPr dirty="0" sz="1800" spc="-10" b="1">
                <a:solidFill>
                  <a:srgbClr val="9933FF"/>
                </a:solidFill>
                <a:latin typeface="宋体"/>
                <a:cs typeface="宋体"/>
              </a:rPr>
              <a:t>V</a:t>
            </a:r>
            <a:r>
              <a:rPr dirty="0" sz="1800" spc="-10" b="1">
                <a:solidFill>
                  <a:srgbClr val="FF09FF"/>
                </a:solidFill>
                <a:latin typeface="宋体"/>
                <a:cs typeface="宋体"/>
              </a:rPr>
              <a:t>或</a:t>
            </a:r>
            <a:r>
              <a:rPr dirty="0" sz="1800" spc="-10" b="1">
                <a:solidFill>
                  <a:srgbClr val="9933FF"/>
                </a:solidFill>
                <a:latin typeface="宋体"/>
                <a:cs typeface="宋体"/>
              </a:rPr>
              <a:t>Q</a:t>
            </a:r>
            <a:r>
              <a:rPr dirty="0" sz="1800" spc="-15" b="1">
                <a:solidFill>
                  <a:srgbClr val="FF09FF"/>
                </a:solidFill>
                <a:latin typeface="宋体"/>
                <a:cs typeface="宋体"/>
              </a:rPr>
              <a:t>字段只有一个有效。</a:t>
            </a:r>
            <a:endParaRPr sz="1800">
              <a:latin typeface="宋体"/>
              <a:cs typeface="宋体"/>
            </a:endParaRPr>
          </a:p>
          <a:p>
            <a:pPr marL="1343025" indent="-381000">
              <a:lnSpc>
                <a:spcPct val="100000"/>
              </a:lnSpc>
              <a:spcBef>
                <a:spcPts val="650"/>
              </a:spcBef>
              <a:buClr>
                <a:srgbClr val="9966FF"/>
              </a:buClr>
              <a:buSzPct val="63888"/>
              <a:buFont typeface="Wingdings"/>
              <a:buChar char=""/>
              <a:tabLst>
                <a:tab pos="1343025" algn="l"/>
              </a:tabLst>
            </a:pPr>
            <a:r>
              <a:rPr dirty="0" sz="1800" spc="-10" b="1">
                <a:solidFill>
                  <a:srgbClr val="FF09FF"/>
                </a:solidFill>
                <a:latin typeface="宋体"/>
                <a:cs typeface="宋体"/>
              </a:rPr>
              <a:t>对于</a:t>
            </a:r>
            <a:r>
              <a:rPr dirty="0" sz="1800" spc="-10" b="1">
                <a:solidFill>
                  <a:srgbClr val="9933FF"/>
                </a:solidFill>
                <a:latin typeface="宋体"/>
                <a:cs typeface="宋体"/>
              </a:rPr>
              <a:t>load</a:t>
            </a:r>
            <a:r>
              <a:rPr dirty="0" sz="1800" spc="-10" b="1">
                <a:solidFill>
                  <a:srgbClr val="FF09FF"/>
                </a:solidFill>
                <a:latin typeface="宋体"/>
                <a:cs typeface="宋体"/>
              </a:rPr>
              <a:t>来说，</a:t>
            </a:r>
            <a:r>
              <a:rPr dirty="0" sz="1800" spc="-10" b="1">
                <a:solidFill>
                  <a:srgbClr val="9933FF"/>
                </a:solidFill>
                <a:latin typeface="宋体"/>
                <a:cs typeface="宋体"/>
              </a:rPr>
              <a:t>Vk</a:t>
            </a:r>
            <a:r>
              <a:rPr dirty="0" sz="1800" spc="-15" b="1">
                <a:solidFill>
                  <a:srgbClr val="FF09FF"/>
                </a:solidFill>
                <a:latin typeface="宋体"/>
                <a:cs typeface="宋体"/>
              </a:rPr>
              <a:t>字段用于保存偏移量。</a:t>
            </a:r>
            <a:endParaRPr sz="1800">
              <a:latin typeface="宋体"/>
              <a:cs typeface="宋体"/>
            </a:endParaRPr>
          </a:p>
          <a:p>
            <a:pPr marL="1099185" indent="-457200">
              <a:lnSpc>
                <a:spcPct val="100000"/>
              </a:lnSpc>
              <a:spcBef>
                <a:spcPts val="780"/>
              </a:spcBef>
              <a:buClr>
                <a:srgbClr val="40458B"/>
              </a:buClr>
              <a:buSzPct val="89583"/>
              <a:buFont typeface="Wingdings"/>
              <a:buChar char=""/>
              <a:tabLst>
                <a:tab pos="1099185" algn="l"/>
              </a:tabLst>
            </a:pPr>
            <a:r>
              <a:rPr dirty="0" sz="2400">
                <a:solidFill>
                  <a:srgbClr val="D50092"/>
                </a:solidFill>
                <a:latin typeface="黑体"/>
                <a:cs typeface="黑体"/>
              </a:rPr>
              <a:t>Busy：</a:t>
            </a:r>
            <a:r>
              <a:rPr dirty="0" sz="2400">
                <a:solidFill>
                  <a:srgbClr val="40458B"/>
                </a:solidFill>
                <a:latin typeface="黑体"/>
                <a:cs typeface="黑体"/>
              </a:rPr>
              <a:t>为“</a:t>
            </a:r>
            <a:r>
              <a:rPr dirty="0" sz="2400">
                <a:solidFill>
                  <a:srgbClr val="9933FF"/>
                </a:solidFill>
                <a:latin typeface="黑体"/>
                <a:cs typeface="黑体"/>
              </a:rPr>
              <a:t>yes</a:t>
            </a:r>
            <a:r>
              <a:rPr dirty="0" sz="2400">
                <a:solidFill>
                  <a:srgbClr val="40458B"/>
                </a:solidFill>
                <a:latin typeface="Times New Roman"/>
                <a:cs typeface="Times New Roman"/>
              </a:rPr>
              <a:t>”</a:t>
            </a:r>
            <a:r>
              <a:rPr dirty="0" sz="2400" spc="-5">
                <a:solidFill>
                  <a:srgbClr val="40458B"/>
                </a:solidFill>
                <a:latin typeface="黑体"/>
                <a:cs typeface="黑体"/>
              </a:rPr>
              <a:t>表示本保留站或缓冲单元“忙”</a:t>
            </a:r>
            <a:endParaRPr sz="2400">
              <a:latin typeface="黑体"/>
              <a:cs typeface="黑体"/>
            </a:endParaRPr>
          </a:p>
          <a:p>
            <a:pPr marL="1099185" indent="-457200">
              <a:lnSpc>
                <a:spcPct val="100000"/>
              </a:lnSpc>
              <a:spcBef>
                <a:spcPts val="865"/>
              </a:spcBef>
              <a:buClr>
                <a:srgbClr val="40458B"/>
              </a:buClr>
              <a:buSzPct val="89583"/>
              <a:buFont typeface="Wingdings"/>
              <a:buChar char=""/>
              <a:tabLst>
                <a:tab pos="1099185" algn="l"/>
              </a:tabLst>
            </a:pPr>
            <a:r>
              <a:rPr dirty="0" sz="2400" spc="-10">
                <a:solidFill>
                  <a:srgbClr val="D50092"/>
                </a:solidFill>
                <a:latin typeface="黑体"/>
                <a:cs typeface="黑体"/>
              </a:rPr>
              <a:t>A：</a:t>
            </a:r>
            <a:r>
              <a:rPr dirty="0" sz="2400" spc="-10">
                <a:solidFill>
                  <a:srgbClr val="40458B"/>
                </a:solidFill>
                <a:latin typeface="黑体"/>
                <a:cs typeface="黑体"/>
              </a:rPr>
              <a:t>仅</a:t>
            </a:r>
            <a:r>
              <a:rPr dirty="0" sz="2400" spc="-10">
                <a:solidFill>
                  <a:srgbClr val="9933FF"/>
                </a:solidFill>
                <a:latin typeface="黑体"/>
                <a:cs typeface="黑体"/>
              </a:rPr>
              <a:t>load</a:t>
            </a:r>
            <a:r>
              <a:rPr dirty="0" sz="2400" spc="-10">
                <a:solidFill>
                  <a:srgbClr val="40458B"/>
                </a:solidFill>
                <a:latin typeface="黑体"/>
                <a:cs typeface="黑体"/>
              </a:rPr>
              <a:t>和</a:t>
            </a:r>
            <a:r>
              <a:rPr dirty="0" sz="2400" spc="-10">
                <a:solidFill>
                  <a:srgbClr val="9933FF"/>
                </a:solidFill>
                <a:latin typeface="黑体"/>
                <a:cs typeface="黑体"/>
              </a:rPr>
              <a:t>store</a:t>
            </a:r>
            <a:r>
              <a:rPr dirty="0" sz="2400" spc="-10">
                <a:solidFill>
                  <a:srgbClr val="40458B"/>
                </a:solidFill>
                <a:latin typeface="黑体"/>
                <a:cs typeface="黑体"/>
              </a:rPr>
              <a:t>缓冲器有该字段。</a:t>
            </a:r>
            <a:r>
              <a:rPr dirty="0" sz="2400" spc="-10">
                <a:solidFill>
                  <a:srgbClr val="FF0000"/>
                </a:solidFill>
                <a:latin typeface="黑体"/>
                <a:cs typeface="黑体"/>
              </a:rPr>
              <a:t>开始</a:t>
            </a:r>
            <a:r>
              <a:rPr dirty="0" sz="2400" spc="-5">
                <a:solidFill>
                  <a:srgbClr val="40458B"/>
                </a:solidFill>
                <a:latin typeface="黑体"/>
                <a:cs typeface="黑体"/>
              </a:rPr>
              <a:t>是存放指令中的立即数字段，地址计算</a:t>
            </a:r>
            <a:endParaRPr sz="2400">
              <a:latin typeface="黑体"/>
              <a:cs typeface="黑体"/>
            </a:endParaRPr>
          </a:p>
          <a:p>
            <a:pPr marL="1099185">
              <a:lnSpc>
                <a:spcPct val="100000"/>
              </a:lnSpc>
              <a:spcBef>
                <a:spcPts val="290"/>
              </a:spcBef>
            </a:pPr>
            <a:r>
              <a:rPr dirty="0" sz="2400">
                <a:solidFill>
                  <a:srgbClr val="FF0000"/>
                </a:solidFill>
                <a:latin typeface="黑体"/>
                <a:cs typeface="黑体"/>
              </a:rPr>
              <a:t>后</a:t>
            </a:r>
            <a:r>
              <a:rPr dirty="0" sz="2400" spc="-10">
                <a:solidFill>
                  <a:srgbClr val="40458B"/>
                </a:solidFill>
                <a:latin typeface="黑体"/>
                <a:cs typeface="黑体"/>
              </a:rPr>
              <a:t>存放有效地址。</a:t>
            </a:r>
            <a:endParaRPr sz="2400">
              <a:latin typeface="黑体"/>
              <a:cs typeface="黑体"/>
            </a:endParaRPr>
          </a:p>
          <a:p>
            <a:pPr>
              <a:lnSpc>
                <a:spcPct val="100000"/>
              </a:lnSpc>
              <a:spcBef>
                <a:spcPts val="505"/>
              </a:spcBef>
            </a:pPr>
            <a:endParaRPr sz="2400">
              <a:latin typeface="黑体"/>
              <a:cs typeface="黑体"/>
            </a:endParaRPr>
          </a:p>
          <a:p>
            <a:pPr marL="1812925">
              <a:lnSpc>
                <a:spcPct val="100000"/>
              </a:lnSpc>
            </a:pPr>
            <a:r>
              <a:rPr dirty="0" sz="2400" spc="-30">
                <a:solidFill>
                  <a:srgbClr val="FF0000"/>
                </a:solidFill>
                <a:latin typeface="黑体"/>
                <a:cs typeface="黑体"/>
              </a:rPr>
              <a:t>标识</a:t>
            </a:r>
            <a:endParaRPr sz="2400">
              <a:latin typeface="黑体"/>
              <a:cs typeface="黑体"/>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86/175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900480" y="930402"/>
            <a:ext cx="10826115" cy="2807970"/>
          </a:xfrm>
          <a:prstGeom prst="rect">
            <a:avLst/>
          </a:prstGeom>
        </p:spPr>
        <p:txBody>
          <a:bodyPr wrap="square" lIns="0" tIns="12700" rIns="0" bIns="0" rtlCol="0" vert="horz">
            <a:spAutoFit/>
          </a:bodyPr>
          <a:lstStyle/>
          <a:p>
            <a:pPr marL="317500">
              <a:lnSpc>
                <a:spcPct val="100000"/>
              </a:lnSpc>
              <a:spcBef>
                <a:spcPts val="100"/>
              </a:spcBef>
            </a:pPr>
            <a:r>
              <a:rPr dirty="0" sz="2400">
                <a:solidFill>
                  <a:srgbClr val="40458B"/>
                </a:solidFill>
                <a:latin typeface="黑体"/>
                <a:cs typeface="黑体"/>
              </a:rPr>
              <a:t>9. 每个</a:t>
            </a:r>
            <a:r>
              <a:rPr dirty="0" sz="2400">
                <a:solidFill>
                  <a:srgbClr val="FF0000"/>
                </a:solidFill>
                <a:latin typeface="黑体"/>
                <a:cs typeface="黑体"/>
              </a:rPr>
              <a:t>保留站</a:t>
            </a:r>
            <a:r>
              <a:rPr dirty="0" sz="2400">
                <a:solidFill>
                  <a:srgbClr val="40458B"/>
                </a:solidFill>
                <a:latin typeface="黑体"/>
                <a:cs typeface="黑体"/>
              </a:rPr>
              <a:t>有以下7</a:t>
            </a:r>
            <a:r>
              <a:rPr dirty="0" sz="2400" spc="-15">
                <a:solidFill>
                  <a:srgbClr val="40458B"/>
                </a:solidFill>
                <a:latin typeface="黑体"/>
                <a:cs typeface="黑体"/>
              </a:rPr>
              <a:t>个字段：</a:t>
            </a:r>
            <a:endParaRPr sz="2400">
              <a:latin typeface="黑体"/>
              <a:cs typeface="黑体"/>
            </a:endParaRPr>
          </a:p>
          <a:p>
            <a:pPr>
              <a:lnSpc>
                <a:spcPct val="100000"/>
              </a:lnSpc>
              <a:spcBef>
                <a:spcPts val="1165"/>
              </a:spcBef>
            </a:pPr>
            <a:endParaRPr sz="2400">
              <a:latin typeface="黑体"/>
              <a:cs typeface="黑体"/>
            </a:endParaRPr>
          </a:p>
          <a:p>
            <a:pPr marL="469265" indent="-456565">
              <a:lnSpc>
                <a:spcPct val="100000"/>
              </a:lnSpc>
              <a:buClr>
                <a:srgbClr val="40458B"/>
              </a:buClr>
              <a:buSzPct val="89583"/>
              <a:buFont typeface="Wingdings"/>
              <a:buChar char=""/>
              <a:tabLst>
                <a:tab pos="469265" algn="l"/>
              </a:tabLst>
            </a:pPr>
            <a:r>
              <a:rPr dirty="0" sz="2400">
                <a:solidFill>
                  <a:srgbClr val="D50092"/>
                </a:solidFill>
                <a:latin typeface="黑体"/>
                <a:cs typeface="黑体"/>
              </a:rPr>
              <a:t>Qi：</a:t>
            </a:r>
            <a:r>
              <a:rPr dirty="0" sz="2400" spc="-10">
                <a:solidFill>
                  <a:srgbClr val="40458B"/>
                </a:solidFill>
                <a:latin typeface="黑体"/>
                <a:cs typeface="黑体"/>
              </a:rPr>
              <a:t>寄存器状态表</a:t>
            </a:r>
            <a:endParaRPr sz="2400">
              <a:latin typeface="黑体"/>
              <a:cs typeface="黑体"/>
            </a:endParaRPr>
          </a:p>
          <a:p>
            <a:pPr lvl="1" marL="713105" indent="-380365">
              <a:lnSpc>
                <a:spcPct val="100000"/>
              </a:lnSpc>
              <a:spcBef>
                <a:spcPts val="1780"/>
              </a:spcBef>
              <a:buClr>
                <a:srgbClr val="9966FF"/>
              </a:buClr>
              <a:buSzPct val="65000"/>
              <a:buFont typeface="Wingdings"/>
              <a:buChar char=""/>
              <a:tabLst>
                <a:tab pos="713105" algn="l"/>
              </a:tabLst>
            </a:pPr>
            <a:r>
              <a:rPr dirty="0" sz="2000" spc="-25" b="1">
                <a:solidFill>
                  <a:srgbClr val="FF09FF"/>
                </a:solidFill>
                <a:latin typeface="宋体"/>
                <a:cs typeface="宋体"/>
              </a:rPr>
              <a:t>每个寄存器在该表中有对应的一项，用于存放将把结果写入该寄存器的保留站的站号。</a:t>
            </a:r>
            <a:endParaRPr sz="2000">
              <a:latin typeface="宋体"/>
              <a:cs typeface="宋体"/>
            </a:endParaRPr>
          </a:p>
          <a:p>
            <a:pPr lvl="1" marL="713105" marR="5080" indent="-381000">
              <a:lnSpc>
                <a:spcPct val="150000"/>
              </a:lnSpc>
              <a:spcBef>
                <a:spcPts val="480"/>
              </a:spcBef>
              <a:buClr>
                <a:srgbClr val="9966FF"/>
              </a:buClr>
              <a:buSzPct val="65000"/>
              <a:buFont typeface="Wingdings"/>
              <a:buChar char=""/>
              <a:tabLst>
                <a:tab pos="713105" algn="l"/>
              </a:tabLst>
            </a:pPr>
            <a:r>
              <a:rPr dirty="0" sz="2000" spc="-10" b="1">
                <a:solidFill>
                  <a:srgbClr val="FF09FF"/>
                </a:solidFill>
                <a:latin typeface="宋体"/>
                <a:cs typeface="宋体"/>
              </a:rPr>
              <a:t>为</a:t>
            </a:r>
            <a:r>
              <a:rPr dirty="0" sz="2000" spc="-10" b="1">
                <a:solidFill>
                  <a:srgbClr val="9933FF"/>
                </a:solidFill>
                <a:latin typeface="黑体"/>
                <a:cs typeface="黑体"/>
              </a:rPr>
              <a:t>0</a:t>
            </a:r>
            <a:r>
              <a:rPr dirty="0" sz="2000" spc="-25" b="1">
                <a:solidFill>
                  <a:srgbClr val="FF09FF"/>
                </a:solidFill>
                <a:latin typeface="宋体"/>
                <a:cs typeface="宋体"/>
              </a:rPr>
              <a:t>表示当前没有正在执行的要写入该寄存器的指令，也即该寄存器中的内容就绪。否则当数据未就绪的时候展示该数据来源对应的保留站的标志或站号。</a:t>
            </a:r>
            <a:endParaRPr sz="2000">
              <a:latin typeface="宋体"/>
              <a:cs typeface="宋体"/>
            </a:endParaRPr>
          </a:p>
        </p:txBody>
      </p:sp>
      <p:graphicFrame>
        <p:nvGraphicFramePr>
          <p:cNvPr id="11" name="object 11" descr=""/>
          <p:cNvGraphicFramePr>
            <a:graphicFrameLocks noGrp="1"/>
          </p:cNvGraphicFramePr>
          <p:nvPr/>
        </p:nvGraphicFramePr>
        <p:xfrm>
          <a:off x="3143250" y="5470525"/>
          <a:ext cx="6450330" cy="371475"/>
        </p:xfrm>
        <a:graphic>
          <a:graphicData uri="http://schemas.openxmlformats.org/drawingml/2006/table">
            <a:tbl>
              <a:tblPr firstRow="1" bandRow="1">
                <a:tableStyleId>{2D5ABB26-0587-4C30-8999-92F81FD0307C}</a:tableStyleId>
              </a:tblPr>
              <a:tblGrid>
                <a:gridCol w="786130"/>
                <a:gridCol w="864234"/>
                <a:gridCol w="1224280"/>
                <a:gridCol w="1289684"/>
                <a:gridCol w="732789"/>
                <a:gridCol w="732789"/>
                <a:gridCol w="732789"/>
              </a:tblGrid>
              <a:tr h="371475">
                <a:tc>
                  <a:txBody>
                    <a:bodyPr/>
                    <a:lstStyle/>
                    <a:p>
                      <a:pPr marL="91440">
                        <a:lnSpc>
                          <a:spcPct val="100000"/>
                        </a:lnSpc>
                        <a:spcBef>
                          <a:spcPts val="355"/>
                        </a:spcBef>
                      </a:pPr>
                      <a:r>
                        <a:rPr dirty="0" sz="1800" spc="-20" b="1">
                          <a:solidFill>
                            <a:srgbClr val="FF0000"/>
                          </a:solidFill>
                          <a:latin typeface="Tahoma"/>
                          <a:cs typeface="Tahoma"/>
                        </a:rPr>
                        <a:t>Busy</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1440">
                        <a:lnSpc>
                          <a:spcPct val="100000"/>
                        </a:lnSpc>
                        <a:spcBef>
                          <a:spcPts val="355"/>
                        </a:spcBef>
                      </a:pPr>
                      <a:r>
                        <a:rPr dirty="0" sz="1800" spc="-25" b="1">
                          <a:solidFill>
                            <a:srgbClr val="FF0000"/>
                          </a:solidFill>
                          <a:latin typeface="Tahoma"/>
                          <a:cs typeface="Tahoma"/>
                        </a:rPr>
                        <a:t>Op</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1440">
                        <a:lnSpc>
                          <a:spcPct val="100000"/>
                        </a:lnSpc>
                        <a:spcBef>
                          <a:spcPts val="370"/>
                        </a:spcBef>
                      </a:pPr>
                      <a:r>
                        <a:rPr dirty="0" sz="1800" spc="-15" b="1">
                          <a:solidFill>
                            <a:srgbClr val="FF0000"/>
                          </a:solidFill>
                          <a:latin typeface="黑体"/>
                          <a:cs typeface="黑体"/>
                        </a:rPr>
                        <a:t>操作数</a:t>
                      </a:r>
                      <a:r>
                        <a:rPr dirty="0" sz="1800" spc="-25" b="1">
                          <a:solidFill>
                            <a:srgbClr val="FF0000"/>
                          </a:solidFill>
                          <a:latin typeface="Tahoma"/>
                          <a:cs typeface="Tahoma"/>
                        </a:rPr>
                        <a:t>Vj</a:t>
                      </a:r>
                      <a:endParaRPr sz="1800">
                        <a:latin typeface="Tahoma"/>
                        <a:cs typeface="Tahoma"/>
                      </a:endParaRPr>
                    </a:p>
                  </a:txBody>
                  <a:tcPr marL="0" marR="0" marB="0" marT="469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70"/>
                        </a:spcBef>
                      </a:pPr>
                      <a:r>
                        <a:rPr dirty="0" sz="1800" spc="-10" b="1">
                          <a:solidFill>
                            <a:srgbClr val="FF0000"/>
                          </a:solidFill>
                          <a:latin typeface="黑体"/>
                          <a:cs typeface="黑体"/>
                        </a:rPr>
                        <a:t>操作数</a:t>
                      </a:r>
                      <a:r>
                        <a:rPr dirty="0" sz="1800" spc="-35" b="1">
                          <a:solidFill>
                            <a:srgbClr val="FF0000"/>
                          </a:solidFill>
                          <a:latin typeface="Tahoma"/>
                          <a:cs typeface="Tahoma"/>
                        </a:rPr>
                        <a:t>Vk</a:t>
                      </a:r>
                      <a:endParaRPr sz="1800">
                        <a:latin typeface="Tahoma"/>
                        <a:cs typeface="Tahoma"/>
                      </a:endParaRPr>
                    </a:p>
                  </a:txBody>
                  <a:tcPr marL="0" marR="0" marB="0" marT="469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55"/>
                        </a:spcBef>
                      </a:pPr>
                      <a:r>
                        <a:rPr dirty="0" sz="1800" spc="-25" b="1">
                          <a:solidFill>
                            <a:srgbClr val="FF0000"/>
                          </a:solidFill>
                          <a:latin typeface="Tahoma"/>
                          <a:cs typeface="Tahoma"/>
                        </a:rPr>
                        <a:t>Qj</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55"/>
                        </a:spcBef>
                      </a:pPr>
                      <a:r>
                        <a:rPr dirty="0" sz="1800" spc="-25" b="1">
                          <a:solidFill>
                            <a:srgbClr val="FF0000"/>
                          </a:solidFill>
                          <a:latin typeface="Tahoma"/>
                          <a:cs typeface="Tahoma"/>
                        </a:rPr>
                        <a:t>Qk</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c>
                  <a:txBody>
                    <a:bodyPr/>
                    <a:lstStyle/>
                    <a:p>
                      <a:pPr marL="92075">
                        <a:lnSpc>
                          <a:spcPct val="100000"/>
                        </a:lnSpc>
                        <a:spcBef>
                          <a:spcPts val="355"/>
                        </a:spcBef>
                      </a:pPr>
                      <a:r>
                        <a:rPr dirty="0" sz="1800" spc="-50" b="1">
                          <a:solidFill>
                            <a:srgbClr val="FF0000"/>
                          </a:solidFill>
                          <a:latin typeface="Tahoma"/>
                          <a:cs typeface="Tahoma"/>
                        </a:rPr>
                        <a:t>A</a:t>
                      </a:r>
                      <a:endParaRPr sz="1800">
                        <a:latin typeface="Tahoma"/>
                        <a:cs typeface="Tahoma"/>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7C1EB"/>
                    </a:solidFill>
                  </a:tcPr>
                </a:tc>
              </a:tr>
            </a:tbl>
          </a:graphicData>
        </a:graphic>
      </p:graphicFrame>
      <p:sp>
        <p:nvSpPr>
          <p:cNvPr id="12" name="object 12" descr=""/>
          <p:cNvSpPr txBox="1"/>
          <p:nvPr/>
        </p:nvSpPr>
        <p:spPr>
          <a:xfrm>
            <a:off x="1998345" y="5479491"/>
            <a:ext cx="63500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黑体"/>
                <a:cs typeface="黑体"/>
              </a:rPr>
              <a:t>标识</a:t>
            </a:r>
            <a:endParaRPr sz="2400">
              <a:latin typeface="黑体"/>
              <a:cs typeface="黑体"/>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87/175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728268" y="701116"/>
            <a:ext cx="10161270" cy="2080260"/>
          </a:xfrm>
          <a:prstGeom prst="rect">
            <a:avLst/>
          </a:prstGeom>
        </p:spPr>
        <p:txBody>
          <a:bodyPr wrap="square" lIns="0" tIns="12700" rIns="0" bIns="0" rtlCol="0" vert="horz">
            <a:spAutoFit/>
          </a:bodyPr>
          <a:lstStyle/>
          <a:p>
            <a:pPr marL="469265">
              <a:lnSpc>
                <a:spcPct val="100000"/>
              </a:lnSpc>
              <a:spcBef>
                <a:spcPts val="100"/>
              </a:spcBef>
            </a:pPr>
            <a:r>
              <a:rPr dirty="0" sz="2400">
                <a:solidFill>
                  <a:srgbClr val="006600"/>
                </a:solidFill>
                <a:latin typeface="黑体"/>
                <a:cs typeface="黑体"/>
              </a:rPr>
              <a:t>5.3.2</a:t>
            </a:r>
            <a:r>
              <a:rPr dirty="0" sz="2400" spc="-30">
                <a:solidFill>
                  <a:srgbClr val="006600"/>
                </a:solidFill>
                <a:latin typeface="黑体"/>
                <a:cs typeface="黑体"/>
              </a:rPr>
              <a:t> 举例</a:t>
            </a:r>
            <a:endParaRPr sz="2400">
              <a:latin typeface="黑体"/>
              <a:cs typeface="黑体"/>
            </a:endParaRPr>
          </a:p>
          <a:p>
            <a:pPr marL="478790">
              <a:lnSpc>
                <a:spcPct val="100000"/>
              </a:lnSpc>
              <a:spcBef>
                <a:spcPts val="2175"/>
              </a:spcBef>
            </a:pPr>
            <a:r>
              <a:rPr dirty="0" sz="2000" spc="-15" b="1">
                <a:solidFill>
                  <a:srgbClr val="001F5F"/>
                </a:solidFill>
                <a:latin typeface="宋体"/>
                <a:cs typeface="宋体"/>
              </a:rPr>
              <a:t>例</a:t>
            </a:r>
            <a:r>
              <a:rPr dirty="0" sz="2000" b="1">
                <a:solidFill>
                  <a:srgbClr val="001F5F"/>
                </a:solidFill>
                <a:latin typeface="宋体"/>
                <a:cs typeface="宋体"/>
              </a:rPr>
              <a:t>5.2</a:t>
            </a:r>
            <a:r>
              <a:rPr dirty="0" sz="2000" spc="60" b="1">
                <a:solidFill>
                  <a:srgbClr val="001F5F"/>
                </a:solidFill>
                <a:latin typeface="宋体"/>
                <a:cs typeface="宋体"/>
              </a:rPr>
              <a:t> </a:t>
            </a:r>
            <a:r>
              <a:rPr dirty="0" sz="2000" spc="-25" b="1">
                <a:latin typeface="宋体"/>
                <a:cs typeface="宋体"/>
              </a:rPr>
              <a:t>对于下述指令序列，给出当第一条指令完成并写入结果时，</a:t>
            </a:r>
            <a:r>
              <a:rPr dirty="0" sz="2000" spc="-10" b="1">
                <a:latin typeface="宋体"/>
                <a:cs typeface="宋体"/>
              </a:rPr>
              <a:t>Tomasulo</a:t>
            </a:r>
            <a:r>
              <a:rPr dirty="0" sz="2000" spc="-30" b="1">
                <a:latin typeface="宋体"/>
                <a:cs typeface="宋体"/>
              </a:rPr>
              <a:t>算法所</a:t>
            </a:r>
            <a:endParaRPr sz="2000">
              <a:latin typeface="宋体"/>
              <a:cs typeface="宋体"/>
            </a:endParaRPr>
          </a:p>
          <a:p>
            <a:pPr marL="12700">
              <a:lnSpc>
                <a:spcPct val="100000"/>
              </a:lnSpc>
              <a:spcBef>
                <a:spcPts val="1520"/>
              </a:spcBef>
            </a:pPr>
            <a:r>
              <a:rPr dirty="0" sz="2000" spc="-20" b="1">
                <a:latin typeface="宋体"/>
                <a:cs typeface="宋体"/>
              </a:rPr>
              <a:t>用的各信息表中的内容。</a:t>
            </a:r>
            <a:r>
              <a:rPr dirty="0" sz="2400" spc="-40">
                <a:solidFill>
                  <a:srgbClr val="001F5F"/>
                </a:solidFill>
                <a:latin typeface="黑体"/>
                <a:cs typeface="黑体"/>
              </a:rPr>
              <a:t>假设各种操作的延迟为： </a:t>
            </a:r>
            <a:r>
              <a:rPr dirty="0" sz="2400" spc="-10">
                <a:solidFill>
                  <a:srgbClr val="001F5F"/>
                </a:solidFill>
                <a:latin typeface="Tahoma"/>
                <a:cs typeface="Tahoma"/>
              </a:rPr>
              <a:t>load</a:t>
            </a:r>
            <a:r>
              <a:rPr dirty="0" sz="2400" spc="-10">
                <a:solidFill>
                  <a:srgbClr val="001F5F"/>
                </a:solidFill>
                <a:latin typeface="黑体"/>
                <a:cs typeface="黑体"/>
              </a:rPr>
              <a:t>：</a:t>
            </a:r>
            <a:r>
              <a:rPr dirty="0" sz="2400" spc="-10">
                <a:solidFill>
                  <a:srgbClr val="001F5F"/>
                </a:solidFill>
                <a:latin typeface="Tahoma"/>
                <a:cs typeface="Tahoma"/>
              </a:rPr>
              <a:t>1</a:t>
            </a:r>
            <a:r>
              <a:rPr dirty="0" sz="2400" spc="-55">
                <a:solidFill>
                  <a:srgbClr val="001F5F"/>
                </a:solidFill>
                <a:latin typeface="黑体"/>
                <a:cs typeface="黑体"/>
              </a:rPr>
              <a:t>个时钟周期 ，加法：</a:t>
            </a:r>
            <a:endParaRPr sz="2400">
              <a:latin typeface="黑体"/>
              <a:cs typeface="黑体"/>
            </a:endParaRPr>
          </a:p>
          <a:p>
            <a:pPr marL="12700">
              <a:lnSpc>
                <a:spcPct val="100000"/>
              </a:lnSpc>
              <a:spcBef>
                <a:spcPts val="1440"/>
              </a:spcBef>
            </a:pPr>
            <a:r>
              <a:rPr dirty="0" sz="2400" spc="-25">
                <a:solidFill>
                  <a:srgbClr val="001F5F"/>
                </a:solidFill>
                <a:latin typeface="Tahoma"/>
                <a:cs typeface="Tahoma"/>
              </a:rPr>
              <a:t>2</a:t>
            </a:r>
            <a:r>
              <a:rPr dirty="0" sz="2400" spc="-55">
                <a:solidFill>
                  <a:srgbClr val="001F5F"/>
                </a:solidFill>
                <a:latin typeface="黑体"/>
                <a:cs typeface="黑体"/>
              </a:rPr>
              <a:t>个时钟周期， 乘法：</a:t>
            </a:r>
            <a:r>
              <a:rPr dirty="0" sz="2400" spc="-20">
                <a:solidFill>
                  <a:srgbClr val="001F5F"/>
                </a:solidFill>
                <a:latin typeface="Tahoma"/>
                <a:cs typeface="Tahoma"/>
              </a:rPr>
              <a:t>10</a:t>
            </a:r>
            <a:r>
              <a:rPr dirty="0" sz="2400" spc="-60">
                <a:solidFill>
                  <a:srgbClr val="001F5F"/>
                </a:solidFill>
                <a:latin typeface="黑体"/>
                <a:cs typeface="黑体"/>
              </a:rPr>
              <a:t>个时钟周期 ，除法：</a:t>
            </a:r>
            <a:r>
              <a:rPr dirty="0" sz="2400" spc="-20">
                <a:solidFill>
                  <a:srgbClr val="001F5F"/>
                </a:solidFill>
                <a:latin typeface="Tahoma"/>
                <a:cs typeface="Tahoma"/>
              </a:rPr>
              <a:t>40</a:t>
            </a:r>
            <a:r>
              <a:rPr dirty="0" sz="2400" spc="-20">
                <a:solidFill>
                  <a:srgbClr val="001F5F"/>
                </a:solidFill>
                <a:latin typeface="黑体"/>
                <a:cs typeface="黑体"/>
              </a:rPr>
              <a:t>个时钟周期</a:t>
            </a:r>
            <a:endParaRPr sz="2400">
              <a:latin typeface="黑体"/>
              <a:cs typeface="黑体"/>
            </a:endParaRPr>
          </a:p>
        </p:txBody>
      </p:sp>
      <p:graphicFrame>
        <p:nvGraphicFramePr>
          <p:cNvPr id="11" name="object 11" descr=""/>
          <p:cNvGraphicFramePr>
            <a:graphicFrameLocks noGrp="1"/>
          </p:cNvGraphicFramePr>
          <p:nvPr/>
        </p:nvGraphicFramePr>
        <p:xfrm>
          <a:off x="1804923" y="2985452"/>
          <a:ext cx="3019425" cy="2863849"/>
        </p:xfrm>
        <a:graphic>
          <a:graphicData uri="http://schemas.openxmlformats.org/drawingml/2006/table">
            <a:tbl>
              <a:tblPr firstRow="1" bandRow="1">
                <a:tableStyleId>{2D5ABB26-0587-4C30-8999-92F81FD0307C}</a:tableStyleId>
              </a:tblPr>
              <a:tblGrid>
                <a:gridCol w="1011555"/>
                <a:gridCol w="1931035"/>
              </a:tblGrid>
              <a:tr h="408305">
                <a:tc>
                  <a:txBody>
                    <a:bodyPr/>
                    <a:lstStyle/>
                    <a:p>
                      <a:pPr marL="31750">
                        <a:lnSpc>
                          <a:spcPts val="2545"/>
                        </a:lnSpc>
                      </a:pPr>
                      <a:r>
                        <a:rPr dirty="0" sz="2400" spc="-25" b="1">
                          <a:solidFill>
                            <a:srgbClr val="40458B"/>
                          </a:solidFill>
                          <a:latin typeface="宋体"/>
                          <a:cs typeface="宋体"/>
                        </a:rPr>
                        <a:t>L.D</a:t>
                      </a:r>
                      <a:endParaRPr sz="2400">
                        <a:latin typeface="宋体"/>
                        <a:cs typeface="宋体"/>
                      </a:endParaRPr>
                    </a:p>
                  </a:txBody>
                  <a:tcPr marL="0" marR="0" marB="0" marT="0"/>
                </a:tc>
                <a:tc>
                  <a:txBody>
                    <a:bodyPr/>
                    <a:lstStyle/>
                    <a:p>
                      <a:pPr marL="210185">
                        <a:lnSpc>
                          <a:spcPts val="2545"/>
                        </a:lnSpc>
                      </a:pPr>
                      <a:r>
                        <a:rPr dirty="0" sz="2400" spc="-10" b="1">
                          <a:solidFill>
                            <a:srgbClr val="40458B"/>
                          </a:solidFill>
                          <a:latin typeface="宋体"/>
                          <a:cs typeface="宋体"/>
                        </a:rPr>
                        <a:t>F6,34（R2）</a:t>
                      </a:r>
                      <a:endParaRPr sz="2400">
                        <a:latin typeface="宋体"/>
                        <a:cs typeface="宋体"/>
                      </a:endParaRPr>
                    </a:p>
                  </a:txBody>
                  <a:tcPr marL="0" marR="0" marB="0" marT="0"/>
                </a:tc>
              </a:tr>
              <a:tr h="511809">
                <a:tc>
                  <a:txBody>
                    <a:bodyPr/>
                    <a:lstStyle/>
                    <a:p>
                      <a:pPr marL="31750">
                        <a:lnSpc>
                          <a:spcPct val="100000"/>
                        </a:lnSpc>
                        <a:spcBef>
                          <a:spcPts val="475"/>
                        </a:spcBef>
                      </a:pPr>
                      <a:r>
                        <a:rPr dirty="0" sz="2400" spc="-25" b="1">
                          <a:solidFill>
                            <a:srgbClr val="40458B"/>
                          </a:solidFill>
                          <a:latin typeface="宋体"/>
                          <a:cs typeface="宋体"/>
                        </a:rPr>
                        <a:t>L.D</a:t>
                      </a:r>
                      <a:endParaRPr sz="2400">
                        <a:latin typeface="宋体"/>
                        <a:cs typeface="宋体"/>
                      </a:endParaRPr>
                    </a:p>
                  </a:txBody>
                  <a:tcPr marL="0" marR="0" marB="0" marT="60325"/>
                </a:tc>
                <a:tc>
                  <a:txBody>
                    <a:bodyPr/>
                    <a:lstStyle/>
                    <a:p>
                      <a:pPr marL="210185">
                        <a:lnSpc>
                          <a:spcPct val="100000"/>
                        </a:lnSpc>
                        <a:spcBef>
                          <a:spcPts val="475"/>
                        </a:spcBef>
                      </a:pPr>
                      <a:r>
                        <a:rPr dirty="0" sz="2400" spc="-10" b="1">
                          <a:solidFill>
                            <a:srgbClr val="40458B"/>
                          </a:solidFill>
                          <a:latin typeface="宋体"/>
                          <a:cs typeface="宋体"/>
                        </a:rPr>
                        <a:t>F2,45（R3）</a:t>
                      </a:r>
                      <a:endParaRPr sz="2400">
                        <a:latin typeface="宋体"/>
                        <a:cs typeface="宋体"/>
                      </a:endParaRPr>
                    </a:p>
                  </a:txBody>
                  <a:tcPr marL="0" marR="0" marB="0" marT="60325"/>
                </a:tc>
              </a:tr>
              <a:tr h="511809">
                <a:tc>
                  <a:txBody>
                    <a:bodyPr/>
                    <a:lstStyle/>
                    <a:p>
                      <a:pPr marL="31750">
                        <a:lnSpc>
                          <a:spcPct val="100000"/>
                        </a:lnSpc>
                        <a:spcBef>
                          <a:spcPts val="480"/>
                        </a:spcBef>
                      </a:pPr>
                      <a:r>
                        <a:rPr dirty="0" sz="2400" spc="-10" b="1">
                          <a:solidFill>
                            <a:srgbClr val="40458B"/>
                          </a:solidFill>
                          <a:latin typeface="宋体"/>
                          <a:cs typeface="宋体"/>
                        </a:rPr>
                        <a:t>MUL.D</a:t>
                      </a:r>
                      <a:endParaRPr sz="2400">
                        <a:latin typeface="宋体"/>
                        <a:cs typeface="宋体"/>
                      </a:endParaRPr>
                    </a:p>
                  </a:txBody>
                  <a:tcPr marL="0" marR="0" marB="0" marT="60960"/>
                </a:tc>
                <a:tc>
                  <a:txBody>
                    <a:bodyPr/>
                    <a:lstStyle/>
                    <a:p>
                      <a:pPr marL="210185">
                        <a:lnSpc>
                          <a:spcPct val="100000"/>
                        </a:lnSpc>
                        <a:spcBef>
                          <a:spcPts val="480"/>
                        </a:spcBef>
                      </a:pPr>
                      <a:r>
                        <a:rPr dirty="0" sz="2400" spc="-10" b="1">
                          <a:solidFill>
                            <a:srgbClr val="40458B"/>
                          </a:solidFill>
                          <a:latin typeface="宋体"/>
                          <a:cs typeface="宋体"/>
                        </a:rPr>
                        <a:t>F0,F2,F4</a:t>
                      </a:r>
                      <a:endParaRPr sz="2400">
                        <a:latin typeface="宋体"/>
                        <a:cs typeface="宋体"/>
                      </a:endParaRPr>
                    </a:p>
                  </a:txBody>
                  <a:tcPr marL="0" marR="0" marB="0" marT="60960"/>
                </a:tc>
              </a:tr>
              <a:tr h="511809">
                <a:tc>
                  <a:txBody>
                    <a:bodyPr/>
                    <a:lstStyle/>
                    <a:p>
                      <a:pPr marL="31750">
                        <a:lnSpc>
                          <a:spcPct val="100000"/>
                        </a:lnSpc>
                        <a:spcBef>
                          <a:spcPts val="480"/>
                        </a:spcBef>
                      </a:pPr>
                      <a:r>
                        <a:rPr dirty="0" sz="2400" spc="-10" b="1">
                          <a:solidFill>
                            <a:srgbClr val="40458B"/>
                          </a:solidFill>
                          <a:latin typeface="宋体"/>
                          <a:cs typeface="宋体"/>
                        </a:rPr>
                        <a:t>SUB.D</a:t>
                      </a:r>
                      <a:endParaRPr sz="2400">
                        <a:latin typeface="宋体"/>
                        <a:cs typeface="宋体"/>
                      </a:endParaRPr>
                    </a:p>
                  </a:txBody>
                  <a:tcPr marL="0" marR="0" marB="0" marT="60960"/>
                </a:tc>
                <a:tc>
                  <a:txBody>
                    <a:bodyPr/>
                    <a:lstStyle/>
                    <a:p>
                      <a:pPr marL="210185">
                        <a:lnSpc>
                          <a:spcPct val="100000"/>
                        </a:lnSpc>
                        <a:spcBef>
                          <a:spcPts val="480"/>
                        </a:spcBef>
                      </a:pPr>
                      <a:r>
                        <a:rPr dirty="0" sz="2400" spc="-10" b="1">
                          <a:solidFill>
                            <a:srgbClr val="40458B"/>
                          </a:solidFill>
                          <a:latin typeface="宋体"/>
                          <a:cs typeface="宋体"/>
                        </a:rPr>
                        <a:t>F8,F2,F6</a:t>
                      </a:r>
                      <a:endParaRPr sz="2400">
                        <a:latin typeface="宋体"/>
                        <a:cs typeface="宋体"/>
                      </a:endParaRPr>
                    </a:p>
                  </a:txBody>
                  <a:tcPr marL="0" marR="0" marB="0" marT="60960"/>
                </a:tc>
              </a:tr>
              <a:tr h="511809">
                <a:tc>
                  <a:txBody>
                    <a:bodyPr/>
                    <a:lstStyle/>
                    <a:p>
                      <a:pPr marL="31750">
                        <a:lnSpc>
                          <a:spcPct val="100000"/>
                        </a:lnSpc>
                        <a:spcBef>
                          <a:spcPts val="475"/>
                        </a:spcBef>
                      </a:pPr>
                      <a:r>
                        <a:rPr dirty="0" sz="2400" spc="-10" b="1">
                          <a:solidFill>
                            <a:srgbClr val="40458B"/>
                          </a:solidFill>
                          <a:latin typeface="宋体"/>
                          <a:cs typeface="宋体"/>
                        </a:rPr>
                        <a:t>DIV.D</a:t>
                      </a:r>
                      <a:endParaRPr sz="2400">
                        <a:latin typeface="宋体"/>
                        <a:cs typeface="宋体"/>
                      </a:endParaRPr>
                    </a:p>
                  </a:txBody>
                  <a:tcPr marL="0" marR="0" marB="0" marT="60325"/>
                </a:tc>
                <a:tc>
                  <a:txBody>
                    <a:bodyPr/>
                    <a:lstStyle/>
                    <a:p>
                      <a:pPr marL="210185">
                        <a:lnSpc>
                          <a:spcPct val="100000"/>
                        </a:lnSpc>
                        <a:spcBef>
                          <a:spcPts val="475"/>
                        </a:spcBef>
                      </a:pPr>
                      <a:r>
                        <a:rPr dirty="0" sz="2400" spc="-10" b="1">
                          <a:solidFill>
                            <a:srgbClr val="40458B"/>
                          </a:solidFill>
                          <a:latin typeface="宋体"/>
                          <a:cs typeface="宋体"/>
                        </a:rPr>
                        <a:t>F10,F0,F6</a:t>
                      </a:r>
                      <a:endParaRPr sz="2400">
                        <a:latin typeface="宋体"/>
                        <a:cs typeface="宋体"/>
                      </a:endParaRPr>
                    </a:p>
                  </a:txBody>
                  <a:tcPr marL="0" marR="0" marB="0" marT="60325"/>
                </a:tc>
              </a:tr>
              <a:tr h="408305">
                <a:tc>
                  <a:txBody>
                    <a:bodyPr/>
                    <a:lstStyle/>
                    <a:p>
                      <a:pPr marL="31750">
                        <a:lnSpc>
                          <a:spcPts val="2635"/>
                        </a:lnSpc>
                        <a:spcBef>
                          <a:spcPts val="480"/>
                        </a:spcBef>
                      </a:pPr>
                      <a:r>
                        <a:rPr dirty="0" sz="2400" spc="-10" b="1">
                          <a:solidFill>
                            <a:srgbClr val="40458B"/>
                          </a:solidFill>
                          <a:latin typeface="宋体"/>
                          <a:cs typeface="宋体"/>
                        </a:rPr>
                        <a:t>ADD.D</a:t>
                      </a:r>
                      <a:endParaRPr sz="2400">
                        <a:latin typeface="宋体"/>
                        <a:cs typeface="宋体"/>
                      </a:endParaRPr>
                    </a:p>
                  </a:txBody>
                  <a:tcPr marL="0" marR="0" marB="0" marT="60960"/>
                </a:tc>
                <a:tc>
                  <a:txBody>
                    <a:bodyPr/>
                    <a:lstStyle/>
                    <a:p>
                      <a:pPr marL="210185">
                        <a:lnSpc>
                          <a:spcPts val="2635"/>
                        </a:lnSpc>
                        <a:spcBef>
                          <a:spcPts val="480"/>
                        </a:spcBef>
                      </a:pPr>
                      <a:r>
                        <a:rPr dirty="0" sz="2400" spc="-10" b="1">
                          <a:solidFill>
                            <a:srgbClr val="40458B"/>
                          </a:solidFill>
                          <a:latin typeface="宋体"/>
                          <a:cs typeface="宋体"/>
                        </a:rPr>
                        <a:t>F6,F8,F2</a:t>
                      </a:r>
                      <a:endParaRPr sz="2400">
                        <a:latin typeface="宋体"/>
                        <a:cs typeface="宋体"/>
                      </a:endParaRPr>
                    </a:p>
                  </a:txBody>
                  <a:tcPr marL="0" marR="0" marB="0" marT="60960"/>
                </a:tc>
              </a:tr>
            </a:tbl>
          </a:graphicData>
        </a:graphic>
      </p:graphicFrame>
      <p:sp>
        <p:nvSpPr>
          <p:cNvPr id="12" name="object 12" descr=""/>
          <p:cNvSpPr txBox="1"/>
          <p:nvPr/>
        </p:nvSpPr>
        <p:spPr>
          <a:xfrm>
            <a:off x="5238750" y="3596385"/>
            <a:ext cx="5849620" cy="2220595"/>
          </a:xfrm>
          <a:prstGeom prst="rect">
            <a:avLst/>
          </a:prstGeom>
        </p:spPr>
        <p:txBody>
          <a:bodyPr wrap="square" lIns="0" tIns="195580" rIns="0" bIns="0" rtlCol="0" vert="horz">
            <a:spAutoFit/>
          </a:bodyPr>
          <a:lstStyle/>
          <a:p>
            <a:pPr marL="12700">
              <a:lnSpc>
                <a:spcPct val="100000"/>
              </a:lnSpc>
              <a:spcBef>
                <a:spcPts val="1540"/>
              </a:spcBef>
            </a:pPr>
            <a:r>
              <a:rPr dirty="0" sz="2400" spc="-20" b="1">
                <a:solidFill>
                  <a:srgbClr val="FF0000"/>
                </a:solidFill>
                <a:latin typeface="宋体"/>
                <a:cs typeface="宋体"/>
              </a:rPr>
              <a:t>分析：联系图5.5</a:t>
            </a:r>
            <a:r>
              <a:rPr dirty="0" sz="2400" spc="-25" b="1">
                <a:solidFill>
                  <a:srgbClr val="FF0000"/>
                </a:solidFill>
                <a:latin typeface="宋体"/>
                <a:cs typeface="宋体"/>
              </a:rPr>
              <a:t>，确定哪些信息表。</a:t>
            </a:r>
            <a:endParaRPr sz="2400">
              <a:latin typeface="宋体"/>
              <a:cs typeface="宋体"/>
            </a:endParaRPr>
          </a:p>
          <a:p>
            <a:pPr marL="12700" marR="5080">
              <a:lnSpc>
                <a:spcPct val="150000"/>
              </a:lnSpc>
            </a:pPr>
            <a:r>
              <a:rPr dirty="0" sz="2400" spc="-20" b="1">
                <a:solidFill>
                  <a:srgbClr val="FF0000"/>
                </a:solidFill>
                <a:latin typeface="宋体"/>
                <a:cs typeface="宋体"/>
              </a:rPr>
              <a:t>各信息表包括：</a:t>
            </a:r>
            <a:r>
              <a:rPr dirty="0" sz="2400" spc="-20" b="1">
                <a:solidFill>
                  <a:srgbClr val="006FC0"/>
                </a:solidFill>
                <a:latin typeface="宋体"/>
                <a:cs typeface="宋体"/>
              </a:rPr>
              <a:t>保留站、load缓冲器（</a:t>
            </a:r>
            <a:r>
              <a:rPr dirty="0" sz="2400" spc="-35" b="1">
                <a:solidFill>
                  <a:srgbClr val="006FC0"/>
                </a:solidFill>
                <a:latin typeface="宋体"/>
                <a:cs typeface="宋体"/>
              </a:rPr>
              <a:t>也可</a:t>
            </a:r>
            <a:r>
              <a:rPr dirty="0" sz="2400" spc="-25" b="1">
                <a:solidFill>
                  <a:srgbClr val="006FC0"/>
                </a:solidFill>
                <a:latin typeface="宋体"/>
                <a:cs typeface="宋体"/>
              </a:rPr>
              <a:t>以成为保留站）</a:t>
            </a:r>
            <a:r>
              <a:rPr dirty="0" sz="2400" spc="-30" b="1">
                <a:solidFill>
                  <a:srgbClr val="006FC0"/>
                </a:solidFill>
                <a:latin typeface="宋体"/>
                <a:cs typeface="宋体"/>
              </a:rPr>
              <a:t>以及寄存器状态表，没有</a:t>
            </a:r>
            <a:r>
              <a:rPr dirty="0" sz="2400" spc="-50" b="1">
                <a:solidFill>
                  <a:srgbClr val="006FC0"/>
                </a:solidFill>
                <a:latin typeface="宋体"/>
                <a:cs typeface="宋体"/>
              </a:rPr>
              <a:t> </a:t>
            </a:r>
            <a:r>
              <a:rPr dirty="0" sz="2400" spc="-20" b="1">
                <a:solidFill>
                  <a:srgbClr val="006FC0"/>
                </a:solidFill>
                <a:latin typeface="宋体"/>
                <a:cs typeface="宋体"/>
              </a:rPr>
              <a:t>strore指令不考虑stroke</a:t>
            </a:r>
            <a:r>
              <a:rPr dirty="0" sz="2400" spc="-35" b="1">
                <a:solidFill>
                  <a:srgbClr val="006FC0"/>
                </a:solidFill>
                <a:latin typeface="宋体"/>
                <a:cs typeface="宋体"/>
              </a:rPr>
              <a:t>缓冲器</a:t>
            </a:r>
            <a:endParaRPr sz="2400">
              <a:latin typeface="宋体"/>
              <a:cs typeface="宋体"/>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88/175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graphicFrame>
        <p:nvGraphicFramePr>
          <p:cNvPr id="10" name="object 10" descr=""/>
          <p:cNvGraphicFramePr>
            <a:graphicFrameLocks noGrp="1"/>
          </p:cNvGraphicFramePr>
          <p:nvPr/>
        </p:nvGraphicFramePr>
        <p:xfrm>
          <a:off x="4017708" y="1985962"/>
          <a:ext cx="7458709" cy="4189095"/>
        </p:xfrm>
        <a:graphic>
          <a:graphicData uri="http://schemas.openxmlformats.org/drawingml/2006/table">
            <a:tbl>
              <a:tblPr firstRow="1" bandRow="1">
                <a:tableStyleId>{2D5ABB26-0587-4C30-8999-92F81FD0307C}</a:tableStyleId>
              </a:tblPr>
              <a:tblGrid>
                <a:gridCol w="1427480"/>
                <a:gridCol w="2169795"/>
                <a:gridCol w="1159510"/>
                <a:gridCol w="1109980"/>
                <a:gridCol w="1506220"/>
              </a:tblGrid>
              <a:tr h="594995">
                <a:tc rowSpan="2">
                  <a:txBody>
                    <a:bodyPr/>
                    <a:lstStyle/>
                    <a:p>
                      <a:pPr marL="725805">
                        <a:lnSpc>
                          <a:spcPct val="100000"/>
                        </a:lnSpc>
                        <a:spcBef>
                          <a:spcPts val="2440"/>
                        </a:spcBef>
                      </a:pPr>
                      <a:r>
                        <a:rPr dirty="0" sz="2400" spc="-50" b="1">
                          <a:solidFill>
                            <a:srgbClr val="E14B04"/>
                          </a:solidFill>
                          <a:latin typeface="宋体"/>
                          <a:cs typeface="宋体"/>
                        </a:rPr>
                        <a:t>指</a:t>
                      </a:r>
                      <a:endParaRPr sz="2400">
                        <a:latin typeface="宋体"/>
                        <a:cs typeface="宋体"/>
                      </a:endParaRPr>
                    </a:p>
                  </a:txBody>
                  <a:tcPr marL="0" marR="0" marB="0" marT="30988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rowSpan="2">
                  <a:txBody>
                    <a:bodyPr/>
                    <a:lstStyle/>
                    <a:p>
                      <a:pPr marL="528955">
                        <a:lnSpc>
                          <a:spcPct val="100000"/>
                        </a:lnSpc>
                        <a:spcBef>
                          <a:spcPts val="2440"/>
                        </a:spcBef>
                      </a:pPr>
                      <a:r>
                        <a:rPr dirty="0" sz="2400" spc="-50" b="1">
                          <a:solidFill>
                            <a:srgbClr val="E14B04"/>
                          </a:solidFill>
                          <a:latin typeface="宋体"/>
                          <a:cs typeface="宋体"/>
                        </a:rPr>
                        <a:t>令</a:t>
                      </a:r>
                      <a:endParaRPr sz="2400">
                        <a:latin typeface="宋体"/>
                        <a:cs typeface="宋体"/>
                      </a:endParaRPr>
                    </a:p>
                  </a:txBody>
                  <a:tcPr marL="0" marR="0" marB="0" marT="30988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gridSpan="3">
                  <a:txBody>
                    <a:bodyPr/>
                    <a:lstStyle/>
                    <a:p>
                      <a:pPr marL="1249680">
                        <a:lnSpc>
                          <a:spcPct val="100000"/>
                        </a:lnSpc>
                        <a:spcBef>
                          <a:spcPts val="1240"/>
                        </a:spcBef>
                      </a:pPr>
                      <a:r>
                        <a:rPr dirty="0" sz="1800" spc="-20" b="1">
                          <a:solidFill>
                            <a:srgbClr val="E14B04"/>
                          </a:solidFill>
                          <a:latin typeface="宋体"/>
                          <a:cs typeface="宋体"/>
                        </a:rPr>
                        <a:t>指令状态表</a:t>
                      </a:r>
                      <a:endParaRPr sz="1800">
                        <a:latin typeface="宋体"/>
                        <a:cs typeface="宋体"/>
                      </a:endParaRPr>
                    </a:p>
                  </a:txBody>
                  <a:tcPr marL="0" marR="0" marB="0" marT="1574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hMerge="1">
                  <a:txBody>
                    <a:bodyPr/>
                    <a:lstStyle/>
                    <a:p>
                      <a:pPr/>
                    </a:p>
                  </a:txBody>
                  <a:tcPr marL="0" marR="0" marB="0" marT="0"/>
                </a:tc>
              </a:tr>
              <a:tr h="394970">
                <a:tc vMerge="1">
                  <a:txBody>
                    <a:bodyPr/>
                    <a:lstStyle/>
                    <a:p>
                      <a:pPr/>
                    </a:p>
                  </a:txBody>
                  <a:tcPr marL="0" marR="0" marB="0" marT="30988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vMerge="1">
                  <a:txBody>
                    <a:bodyPr/>
                    <a:lstStyle/>
                    <a:p>
                      <a:pPr/>
                    </a:p>
                  </a:txBody>
                  <a:tcPr marL="0" marR="0" marB="0" marT="30988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20979">
                        <a:lnSpc>
                          <a:spcPts val="2825"/>
                        </a:lnSpc>
                        <a:spcBef>
                          <a:spcPts val="185"/>
                        </a:spcBef>
                      </a:pPr>
                      <a:r>
                        <a:rPr dirty="0" sz="2400" spc="-40" b="1">
                          <a:solidFill>
                            <a:srgbClr val="E14B04"/>
                          </a:solidFill>
                          <a:latin typeface="宋体"/>
                          <a:cs typeface="宋体"/>
                        </a:rPr>
                        <a:t>流出</a:t>
                      </a:r>
                      <a:endParaRPr sz="2400">
                        <a:latin typeface="宋体"/>
                        <a:cs typeface="宋体"/>
                      </a:endParaRPr>
                    </a:p>
                  </a:txBody>
                  <a:tcPr marL="0" marR="0" marB="0" marT="2349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31445">
                        <a:lnSpc>
                          <a:spcPts val="2825"/>
                        </a:lnSpc>
                        <a:spcBef>
                          <a:spcPts val="185"/>
                        </a:spcBef>
                      </a:pPr>
                      <a:r>
                        <a:rPr dirty="0" sz="2400" spc="-40" b="1">
                          <a:solidFill>
                            <a:srgbClr val="E14B04"/>
                          </a:solidFill>
                          <a:latin typeface="宋体"/>
                          <a:cs typeface="宋体"/>
                        </a:rPr>
                        <a:t>执行</a:t>
                      </a:r>
                      <a:endParaRPr sz="2400">
                        <a:latin typeface="宋体"/>
                        <a:cs typeface="宋体"/>
                      </a:endParaRPr>
                    </a:p>
                  </a:txBody>
                  <a:tcPr marL="0" marR="0" marB="0" marT="2349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91440">
                        <a:lnSpc>
                          <a:spcPts val="2825"/>
                        </a:lnSpc>
                        <a:spcBef>
                          <a:spcPts val="185"/>
                        </a:spcBef>
                      </a:pPr>
                      <a:r>
                        <a:rPr dirty="0" sz="2400" spc="-35" b="1">
                          <a:solidFill>
                            <a:srgbClr val="E14B04"/>
                          </a:solidFill>
                          <a:latin typeface="宋体"/>
                          <a:cs typeface="宋体"/>
                        </a:rPr>
                        <a:t>写结果</a:t>
                      </a:r>
                      <a:endParaRPr sz="2400">
                        <a:latin typeface="宋体"/>
                        <a:cs typeface="宋体"/>
                      </a:endParaRPr>
                    </a:p>
                  </a:txBody>
                  <a:tcPr marL="0" marR="0" marB="0" marT="2349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52450">
                <a:tc gridSpan="2">
                  <a:txBody>
                    <a:bodyPr/>
                    <a:lstStyle/>
                    <a:p>
                      <a:pPr marL="238125">
                        <a:lnSpc>
                          <a:spcPct val="100000"/>
                        </a:lnSpc>
                        <a:spcBef>
                          <a:spcPts val="1155"/>
                        </a:spcBef>
                        <a:tabLst>
                          <a:tab pos="1762125" algn="l"/>
                        </a:tabLst>
                      </a:pPr>
                      <a:r>
                        <a:rPr dirty="0" sz="2400" spc="-25" b="1">
                          <a:solidFill>
                            <a:srgbClr val="40458B"/>
                          </a:solidFill>
                          <a:latin typeface="Times New Roman"/>
                          <a:cs typeface="Times New Roman"/>
                        </a:rPr>
                        <a:t>L.D</a:t>
                      </a:r>
                      <a:r>
                        <a:rPr dirty="0" sz="2400" b="1">
                          <a:solidFill>
                            <a:srgbClr val="40458B"/>
                          </a:solidFill>
                          <a:latin typeface="Times New Roman"/>
                          <a:cs typeface="Times New Roman"/>
                        </a:rPr>
                        <a:t>	F6 , </a:t>
                      </a:r>
                      <a:r>
                        <a:rPr dirty="0" sz="2400" spc="-10" b="1">
                          <a:solidFill>
                            <a:srgbClr val="40458B"/>
                          </a:solidFill>
                          <a:latin typeface="Times New Roman"/>
                          <a:cs typeface="Times New Roman"/>
                        </a:rPr>
                        <a:t>34(R2)</a:t>
                      </a:r>
                      <a:endParaRPr sz="2400">
                        <a:latin typeface="Times New Roman"/>
                        <a:cs typeface="Times New Roman"/>
                      </a:endParaRPr>
                    </a:p>
                  </a:txBody>
                  <a:tcPr marL="0" marR="0" marB="0" marT="1466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a:txBody>
                    <a:bodyPr/>
                    <a:lstStyle/>
                    <a:p>
                      <a:pPr marL="220979">
                        <a:lnSpc>
                          <a:spcPct val="100000"/>
                        </a:lnSpc>
                        <a:spcBef>
                          <a:spcPts val="1125"/>
                        </a:spcBef>
                        <a:tabLst>
                          <a:tab pos="513080" algn="l"/>
                        </a:tabLst>
                      </a:pPr>
                      <a:r>
                        <a:rPr dirty="0" baseline="-6944" sz="3600" spc="-75" b="1">
                          <a:solidFill>
                            <a:srgbClr val="FF0000"/>
                          </a:solidFill>
                          <a:latin typeface="Times New Roman"/>
                          <a:cs typeface="Times New Roman"/>
                        </a:rPr>
                        <a:t>1</a:t>
                      </a:r>
                      <a:r>
                        <a:rPr dirty="0" baseline="-6944" sz="3600" b="1">
                          <a:solidFill>
                            <a:srgbClr val="FF0000"/>
                          </a:solidFill>
                          <a:latin typeface="Times New Roman"/>
                          <a:cs typeface="Times New Roman"/>
                        </a:rPr>
                        <a:t>	</a:t>
                      </a:r>
                      <a:r>
                        <a:rPr dirty="0" sz="2400" spc="-50" b="1">
                          <a:solidFill>
                            <a:srgbClr val="40458B"/>
                          </a:solidFill>
                          <a:latin typeface="Times New Roman"/>
                          <a:cs typeface="Times New Roman"/>
                        </a:rPr>
                        <a:t>√</a:t>
                      </a:r>
                      <a:endParaRPr sz="2400">
                        <a:latin typeface="Times New Roman"/>
                        <a:cs typeface="Times New Roman"/>
                      </a:endParaRPr>
                    </a:p>
                  </a:txBody>
                  <a:tcPr marL="0" marR="0" marB="0" marT="1428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gridSpan="2">
                  <a:txBody>
                    <a:bodyPr/>
                    <a:lstStyle/>
                    <a:p>
                      <a:pPr marL="238125">
                        <a:lnSpc>
                          <a:spcPct val="100000"/>
                        </a:lnSpc>
                        <a:spcBef>
                          <a:spcPts val="840"/>
                        </a:spcBef>
                        <a:tabLst>
                          <a:tab pos="1762125" algn="l"/>
                        </a:tabLst>
                      </a:pPr>
                      <a:r>
                        <a:rPr dirty="0" sz="2400" spc="-25" b="1">
                          <a:solidFill>
                            <a:srgbClr val="40458B"/>
                          </a:solidFill>
                          <a:latin typeface="Times New Roman"/>
                          <a:cs typeface="Times New Roman"/>
                        </a:rPr>
                        <a:t>L.D</a:t>
                      </a:r>
                      <a:r>
                        <a:rPr dirty="0" sz="2400" b="1">
                          <a:solidFill>
                            <a:srgbClr val="40458B"/>
                          </a:solidFill>
                          <a:latin typeface="Times New Roman"/>
                          <a:cs typeface="Times New Roman"/>
                        </a:rPr>
                        <a:t>	F2 , </a:t>
                      </a:r>
                      <a:r>
                        <a:rPr dirty="0" sz="2400" spc="-10" b="1">
                          <a:solidFill>
                            <a:srgbClr val="40458B"/>
                          </a:solidFill>
                          <a:latin typeface="Times New Roman"/>
                          <a:cs typeface="Times New Roman"/>
                        </a:rPr>
                        <a:t>45(R3)</a:t>
                      </a:r>
                      <a:endParaRPr sz="2400">
                        <a:latin typeface="Times New Roman"/>
                        <a:cs typeface="Times New Roman"/>
                      </a:endParaRPr>
                    </a:p>
                  </a:txBody>
                  <a:tcPr marL="0" marR="0" marB="0" marT="1066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a:txBody>
                    <a:bodyPr/>
                    <a:lstStyle/>
                    <a:p>
                      <a:pPr marL="85725">
                        <a:lnSpc>
                          <a:spcPct val="100000"/>
                        </a:lnSpc>
                        <a:spcBef>
                          <a:spcPts val="560"/>
                        </a:spcBef>
                      </a:pPr>
                      <a:r>
                        <a:rPr dirty="0" sz="2400" spc="-10" b="1">
                          <a:solidFill>
                            <a:srgbClr val="40458B"/>
                          </a:solidFill>
                          <a:latin typeface="Times New Roman"/>
                          <a:cs typeface="Times New Roman"/>
                        </a:rPr>
                        <a:t>MUL.D</a:t>
                      </a:r>
                      <a:endParaRPr sz="2400">
                        <a:latin typeface="Times New Roman"/>
                        <a:cs typeface="Times New Roman"/>
                      </a:endParaRPr>
                    </a:p>
                  </a:txBody>
                  <a:tcPr marL="0" marR="0" marB="0" marT="7112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560"/>
                        </a:spcBef>
                      </a:pPr>
                      <a:r>
                        <a:rPr dirty="0" sz="2400" b="1">
                          <a:solidFill>
                            <a:srgbClr val="40458B"/>
                          </a:solidFill>
                          <a:latin typeface="Times New Roman"/>
                          <a:cs typeface="Times New Roman"/>
                        </a:rPr>
                        <a:t>F0</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F2 , </a:t>
                      </a:r>
                      <a:r>
                        <a:rPr dirty="0" sz="2400" spc="-25" b="1">
                          <a:solidFill>
                            <a:srgbClr val="40458B"/>
                          </a:solidFill>
                          <a:latin typeface="Times New Roman"/>
                          <a:cs typeface="Times New Roman"/>
                        </a:rPr>
                        <a:t>F4</a:t>
                      </a:r>
                      <a:endParaRPr sz="2400">
                        <a:latin typeface="Times New Roman"/>
                        <a:cs typeface="Times New Roman"/>
                      </a:endParaRPr>
                    </a:p>
                  </a:txBody>
                  <a:tcPr marL="0" marR="0" marB="0" marT="7112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490220">
                <a:tc>
                  <a:txBody>
                    <a:bodyPr/>
                    <a:lstStyle/>
                    <a:p>
                      <a:pPr marL="85725">
                        <a:lnSpc>
                          <a:spcPct val="100000"/>
                        </a:lnSpc>
                        <a:spcBef>
                          <a:spcPts val="280"/>
                        </a:spcBef>
                      </a:pPr>
                      <a:r>
                        <a:rPr dirty="0" sz="2400" spc="-10" b="1">
                          <a:solidFill>
                            <a:srgbClr val="40458B"/>
                          </a:solidFill>
                          <a:latin typeface="Times New Roman"/>
                          <a:cs typeface="Times New Roman"/>
                        </a:rPr>
                        <a:t>SUB.D</a:t>
                      </a:r>
                      <a:endParaRPr sz="2400">
                        <a:latin typeface="Times New Roman"/>
                        <a:cs typeface="Times New Roman"/>
                      </a:endParaRPr>
                    </a:p>
                  </a:txBody>
                  <a:tcPr marL="0" marR="0" marB="0" marT="3556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280"/>
                        </a:spcBef>
                      </a:pPr>
                      <a:r>
                        <a:rPr dirty="0" sz="2400" b="1">
                          <a:solidFill>
                            <a:srgbClr val="40458B"/>
                          </a:solidFill>
                          <a:latin typeface="Times New Roman"/>
                          <a:cs typeface="Times New Roman"/>
                        </a:rPr>
                        <a:t>F8</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F6 , </a:t>
                      </a:r>
                      <a:r>
                        <a:rPr dirty="0" sz="2400" spc="-25" b="1">
                          <a:solidFill>
                            <a:srgbClr val="40458B"/>
                          </a:solidFill>
                          <a:latin typeface="Times New Roman"/>
                          <a:cs typeface="Times New Roman"/>
                        </a:rPr>
                        <a:t>F2</a:t>
                      </a:r>
                      <a:endParaRPr sz="2400">
                        <a:latin typeface="Times New Roman"/>
                        <a:cs typeface="Times New Roman"/>
                      </a:endParaRPr>
                    </a:p>
                  </a:txBody>
                  <a:tcPr marL="0" marR="0" marB="0" marT="3556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a:txBody>
                    <a:bodyPr/>
                    <a:lstStyle/>
                    <a:p>
                      <a:pPr marL="85725">
                        <a:lnSpc>
                          <a:spcPct val="100000"/>
                        </a:lnSpc>
                        <a:spcBef>
                          <a:spcPts val="450"/>
                        </a:spcBef>
                      </a:pPr>
                      <a:r>
                        <a:rPr dirty="0" sz="2400" spc="-10" b="1">
                          <a:solidFill>
                            <a:srgbClr val="40458B"/>
                          </a:solidFill>
                          <a:latin typeface="Times New Roman"/>
                          <a:cs typeface="Times New Roman"/>
                        </a:rPr>
                        <a:t>DIV.D</a:t>
                      </a:r>
                      <a:endParaRPr sz="2400">
                        <a:latin typeface="Times New Roman"/>
                        <a:cs typeface="Times New Roman"/>
                      </a:endParaRPr>
                    </a:p>
                  </a:txBody>
                  <a:tcPr marL="0" marR="0" marB="0" marT="5715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450"/>
                        </a:spcBef>
                      </a:pPr>
                      <a:r>
                        <a:rPr dirty="0" sz="2400" b="1">
                          <a:solidFill>
                            <a:srgbClr val="40458B"/>
                          </a:solidFill>
                          <a:latin typeface="Times New Roman"/>
                          <a:cs typeface="Times New Roman"/>
                        </a:rPr>
                        <a:t>F10</a:t>
                      </a:r>
                      <a:r>
                        <a:rPr dirty="0" sz="2400" spc="-10" b="1">
                          <a:solidFill>
                            <a:srgbClr val="40458B"/>
                          </a:solidFill>
                          <a:latin typeface="Times New Roman"/>
                          <a:cs typeface="Times New Roman"/>
                        </a:rPr>
                        <a:t> </a:t>
                      </a:r>
                      <a:r>
                        <a:rPr dirty="0" sz="2400" b="1">
                          <a:solidFill>
                            <a:srgbClr val="40458B"/>
                          </a:solidFill>
                          <a:latin typeface="Times New Roman"/>
                          <a:cs typeface="Times New Roman"/>
                        </a:rPr>
                        <a:t>,</a:t>
                      </a:r>
                      <a:r>
                        <a:rPr dirty="0" sz="2400" spc="-10" b="1">
                          <a:solidFill>
                            <a:srgbClr val="40458B"/>
                          </a:solidFill>
                          <a:latin typeface="Times New Roman"/>
                          <a:cs typeface="Times New Roman"/>
                        </a:rPr>
                        <a:t> </a:t>
                      </a:r>
                      <a:r>
                        <a:rPr dirty="0" sz="2400" b="1">
                          <a:solidFill>
                            <a:srgbClr val="40458B"/>
                          </a:solidFill>
                          <a:latin typeface="Times New Roman"/>
                          <a:cs typeface="Times New Roman"/>
                        </a:rPr>
                        <a:t>F0</a:t>
                      </a:r>
                      <a:r>
                        <a:rPr dirty="0" sz="2400" spc="-10" b="1">
                          <a:solidFill>
                            <a:srgbClr val="40458B"/>
                          </a:solidFill>
                          <a:latin typeface="Times New Roman"/>
                          <a:cs typeface="Times New Roman"/>
                        </a:rPr>
                        <a:t> </a:t>
                      </a:r>
                      <a:r>
                        <a:rPr dirty="0" sz="2400" b="1">
                          <a:solidFill>
                            <a:srgbClr val="40458B"/>
                          </a:solidFill>
                          <a:latin typeface="Times New Roman"/>
                          <a:cs typeface="Times New Roman"/>
                        </a:rPr>
                        <a:t>,</a:t>
                      </a:r>
                      <a:r>
                        <a:rPr dirty="0" sz="2400" spc="-5" b="1">
                          <a:solidFill>
                            <a:srgbClr val="40458B"/>
                          </a:solidFill>
                          <a:latin typeface="Times New Roman"/>
                          <a:cs typeface="Times New Roman"/>
                        </a:rPr>
                        <a:t> </a:t>
                      </a:r>
                      <a:r>
                        <a:rPr dirty="0" sz="2400" spc="-25" b="1">
                          <a:solidFill>
                            <a:srgbClr val="40458B"/>
                          </a:solidFill>
                          <a:latin typeface="Times New Roman"/>
                          <a:cs typeface="Times New Roman"/>
                        </a:rPr>
                        <a:t>F6</a:t>
                      </a:r>
                      <a:endParaRPr sz="2400">
                        <a:latin typeface="Times New Roman"/>
                        <a:cs typeface="Times New Roman"/>
                      </a:endParaRPr>
                    </a:p>
                  </a:txBody>
                  <a:tcPr marL="0" marR="0" marB="0" marT="5715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14350">
                <a:tc>
                  <a:txBody>
                    <a:bodyPr/>
                    <a:lstStyle/>
                    <a:p>
                      <a:pPr marL="68580">
                        <a:lnSpc>
                          <a:spcPct val="100000"/>
                        </a:lnSpc>
                        <a:spcBef>
                          <a:spcPts val="170"/>
                        </a:spcBef>
                      </a:pPr>
                      <a:r>
                        <a:rPr dirty="0" sz="2400" spc="-10" b="1">
                          <a:solidFill>
                            <a:srgbClr val="40458B"/>
                          </a:solidFill>
                          <a:latin typeface="Times New Roman"/>
                          <a:cs typeface="Times New Roman"/>
                        </a:rPr>
                        <a:t>ADD.D</a:t>
                      </a:r>
                      <a:endParaRPr sz="2400">
                        <a:latin typeface="Times New Roman"/>
                        <a:cs typeface="Times New Roman"/>
                      </a:endParaRPr>
                    </a:p>
                  </a:txBody>
                  <a:tcPr marL="0" marR="0" marB="0" marT="2159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170"/>
                        </a:spcBef>
                      </a:pPr>
                      <a:r>
                        <a:rPr dirty="0" sz="2400" b="1">
                          <a:solidFill>
                            <a:srgbClr val="40458B"/>
                          </a:solidFill>
                          <a:latin typeface="Times New Roman"/>
                          <a:cs typeface="Times New Roman"/>
                        </a:rPr>
                        <a:t>F6</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F8 , </a:t>
                      </a:r>
                      <a:r>
                        <a:rPr dirty="0" sz="2400" spc="-25" b="1">
                          <a:solidFill>
                            <a:srgbClr val="40458B"/>
                          </a:solidFill>
                          <a:latin typeface="Times New Roman"/>
                          <a:cs typeface="Times New Roman"/>
                        </a:rPr>
                        <a:t>F2</a:t>
                      </a:r>
                      <a:endParaRPr sz="2400">
                        <a:latin typeface="Times New Roman"/>
                        <a:cs typeface="Times New Roman"/>
                      </a:endParaRPr>
                    </a:p>
                  </a:txBody>
                  <a:tcPr marL="0" marR="0" marB="0" marT="2159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bl>
          </a:graphicData>
        </a:graphic>
      </p:graphicFrame>
      <p:sp>
        <p:nvSpPr>
          <p:cNvPr id="11" name="object 11" descr=""/>
          <p:cNvSpPr txBox="1"/>
          <p:nvPr/>
        </p:nvSpPr>
        <p:spPr>
          <a:xfrm>
            <a:off x="100990" y="699089"/>
            <a:ext cx="11483340" cy="3942715"/>
          </a:xfrm>
          <a:prstGeom prst="rect">
            <a:avLst/>
          </a:prstGeom>
        </p:spPr>
        <p:txBody>
          <a:bodyPr wrap="square" lIns="0" tIns="196215" rIns="0" bIns="0" rtlCol="0" vert="horz">
            <a:spAutoFit/>
          </a:bodyPr>
          <a:lstStyle/>
          <a:p>
            <a:pPr marL="669290">
              <a:lnSpc>
                <a:spcPct val="100000"/>
              </a:lnSpc>
              <a:spcBef>
                <a:spcPts val="1545"/>
              </a:spcBef>
            </a:pPr>
            <a:r>
              <a:rPr dirty="0" sz="2000" spc="-15" b="1">
                <a:latin typeface="宋体"/>
                <a:cs typeface="宋体"/>
              </a:rPr>
              <a:t>当采用</a:t>
            </a:r>
            <a:r>
              <a:rPr dirty="0" sz="2000" b="1">
                <a:latin typeface="宋体"/>
                <a:cs typeface="宋体"/>
              </a:rPr>
              <a:t>Tomasulo</a:t>
            </a:r>
            <a:r>
              <a:rPr dirty="0" sz="2000" spc="-20" b="1">
                <a:latin typeface="宋体"/>
                <a:cs typeface="宋体"/>
              </a:rPr>
              <a:t>算法时，在上述给定的时刻，保留站、</a:t>
            </a:r>
            <a:r>
              <a:rPr dirty="0" sz="2000" spc="-10" b="1">
                <a:latin typeface="宋体"/>
                <a:cs typeface="宋体"/>
              </a:rPr>
              <a:t>load</a:t>
            </a:r>
            <a:r>
              <a:rPr dirty="0" sz="2000" spc="-20" b="1">
                <a:latin typeface="宋体"/>
                <a:cs typeface="宋体"/>
              </a:rPr>
              <a:t>缓冲器以及寄存器状态表中的内容</a:t>
            </a:r>
            <a:r>
              <a:rPr dirty="0" sz="2400" spc="-50">
                <a:latin typeface="黑体"/>
                <a:cs typeface="黑体"/>
              </a:rPr>
              <a:t>。</a:t>
            </a:r>
            <a:endParaRPr sz="2400">
              <a:latin typeface="黑体"/>
              <a:cs typeface="黑体"/>
            </a:endParaRPr>
          </a:p>
          <a:p>
            <a:pPr marL="541020">
              <a:lnSpc>
                <a:spcPct val="100000"/>
              </a:lnSpc>
              <a:spcBef>
                <a:spcPts val="1445"/>
              </a:spcBef>
              <a:tabLst>
                <a:tab pos="6028055" algn="l"/>
              </a:tabLst>
            </a:pPr>
            <a:r>
              <a:rPr dirty="0" sz="2400">
                <a:latin typeface="黑体"/>
                <a:cs typeface="黑体"/>
              </a:rPr>
              <a:t>第一个时钟周期</a:t>
            </a:r>
            <a:r>
              <a:rPr dirty="0" sz="2400" spc="-445">
                <a:latin typeface="黑体"/>
                <a:cs typeface="黑体"/>
              </a:rPr>
              <a:t> </a:t>
            </a:r>
            <a:r>
              <a:rPr dirty="0" sz="2400">
                <a:solidFill>
                  <a:srgbClr val="40458B"/>
                </a:solidFill>
                <a:latin typeface="黑体"/>
                <a:cs typeface="黑体"/>
              </a:rPr>
              <a:t>：</a:t>
            </a:r>
            <a:r>
              <a:rPr dirty="0" sz="2400">
                <a:solidFill>
                  <a:srgbClr val="FF0000"/>
                </a:solidFill>
                <a:latin typeface="黑体"/>
                <a:cs typeface="黑体"/>
              </a:rPr>
              <a:t>指令队列就绪</a:t>
            </a:r>
            <a:r>
              <a:rPr dirty="0" sz="2400" spc="300">
                <a:solidFill>
                  <a:srgbClr val="FF0000"/>
                </a:solidFill>
                <a:latin typeface="黑体"/>
                <a:cs typeface="黑体"/>
              </a:rPr>
              <a:t> </a:t>
            </a:r>
            <a:r>
              <a:rPr dirty="0" sz="2400" spc="-25">
                <a:solidFill>
                  <a:srgbClr val="006FC0"/>
                </a:solidFill>
                <a:latin typeface="Tahoma"/>
                <a:cs typeface="Tahoma"/>
              </a:rPr>
              <a:t>L.D</a:t>
            </a:r>
            <a:r>
              <a:rPr dirty="0" sz="2400">
                <a:solidFill>
                  <a:srgbClr val="006FC0"/>
                </a:solidFill>
                <a:latin typeface="Tahoma"/>
                <a:cs typeface="Tahoma"/>
              </a:rPr>
              <a:t>	</a:t>
            </a:r>
            <a:r>
              <a:rPr dirty="0" sz="2400" spc="-20">
                <a:solidFill>
                  <a:srgbClr val="006FC0"/>
                </a:solidFill>
                <a:latin typeface="Tahoma"/>
                <a:cs typeface="Tahoma"/>
              </a:rPr>
              <a:t>F6,34</a:t>
            </a:r>
            <a:r>
              <a:rPr dirty="0" sz="2400" spc="-20">
                <a:solidFill>
                  <a:srgbClr val="006FC0"/>
                </a:solidFill>
                <a:latin typeface="黑体"/>
                <a:cs typeface="黑体"/>
              </a:rPr>
              <a:t>（</a:t>
            </a:r>
            <a:r>
              <a:rPr dirty="0" sz="2400" spc="-20">
                <a:solidFill>
                  <a:srgbClr val="006FC0"/>
                </a:solidFill>
                <a:latin typeface="Tahoma"/>
                <a:cs typeface="Tahoma"/>
              </a:rPr>
              <a:t>R2</a:t>
            </a:r>
            <a:r>
              <a:rPr dirty="0" sz="2400" spc="-20">
                <a:solidFill>
                  <a:srgbClr val="006FC0"/>
                </a:solidFill>
                <a:latin typeface="黑体"/>
                <a:cs typeface="黑体"/>
              </a:rPr>
              <a:t>）</a:t>
            </a:r>
            <a:r>
              <a:rPr dirty="0" sz="2400">
                <a:solidFill>
                  <a:srgbClr val="006FC0"/>
                </a:solidFill>
                <a:latin typeface="黑体"/>
                <a:cs typeface="黑体"/>
              </a:rPr>
              <a:t>流</a:t>
            </a:r>
            <a:r>
              <a:rPr dirty="0" sz="2400" spc="-50">
                <a:solidFill>
                  <a:srgbClr val="006FC0"/>
                </a:solidFill>
                <a:latin typeface="黑体"/>
                <a:cs typeface="黑体"/>
              </a:rPr>
              <a:t>出</a:t>
            </a:r>
            <a:endParaRPr sz="2400">
              <a:latin typeface="黑体"/>
              <a:cs typeface="黑体"/>
            </a:endParaRPr>
          </a:p>
          <a:p>
            <a:pPr>
              <a:lnSpc>
                <a:spcPct val="100000"/>
              </a:lnSpc>
            </a:pPr>
            <a:endParaRPr sz="2400">
              <a:latin typeface="黑体"/>
              <a:cs typeface="黑体"/>
            </a:endParaRPr>
          </a:p>
          <a:p>
            <a:pPr>
              <a:lnSpc>
                <a:spcPct val="100000"/>
              </a:lnSpc>
              <a:spcBef>
                <a:spcPts val="110"/>
              </a:spcBef>
            </a:pPr>
            <a:endParaRPr sz="2400">
              <a:latin typeface="黑体"/>
              <a:cs typeface="黑体"/>
            </a:endParaRPr>
          </a:p>
          <a:p>
            <a:pPr marL="12700">
              <a:lnSpc>
                <a:spcPct val="100000"/>
              </a:lnSpc>
            </a:pPr>
            <a:r>
              <a:rPr dirty="0" sz="2400" spc="-35" b="1">
                <a:solidFill>
                  <a:srgbClr val="FF0000"/>
                </a:solidFill>
                <a:latin typeface="宋体"/>
                <a:cs typeface="宋体"/>
              </a:rPr>
              <a:t>分析：</a:t>
            </a:r>
            <a:endParaRPr sz="2400">
              <a:latin typeface="宋体"/>
              <a:cs typeface="宋体"/>
            </a:endParaRPr>
          </a:p>
          <a:p>
            <a:pPr marL="12700" marR="7785734">
              <a:lnSpc>
                <a:spcPct val="150000"/>
              </a:lnSpc>
            </a:pPr>
            <a:r>
              <a:rPr dirty="0" sz="2400" spc="-20" b="1">
                <a:solidFill>
                  <a:srgbClr val="FF0000"/>
                </a:solidFill>
                <a:latin typeface="宋体"/>
                <a:cs typeface="宋体"/>
              </a:rPr>
              <a:t>第一个时钟周期（</a:t>
            </a:r>
            <a:r>
              <a:rPr dirty="0" sz="2400" spc="-30" b="1">
                <a:solidFill>
                  <a:srgbClr val="FF0000"/>
                </a:solidFill>
                <a:latin typeface="宋体"/>
                <a:cs typeface="宋体"/>
              </a:rPr>
              <a:t>流出阶段</a:t>
            </a:r>
            <a:r>
              <a:rPr dirty="0" sz="2400" spc="-25" b="1">
                <a:solidFill>
                  <a:srgbClr val="006FC0"/>
                </a:solidFill>
                <a:latin typeface="宋体"/>
                <a:cs typeface="宋体"/>
              </a:rPr>
              <a:t>需要的操作：</a:t>
            </a:r>
            <a:r>
              <a:rPr dirty="0" sz="2400" spc="-10" b="1">
                <a:solidFill>
                  <a:srgbClr val="FF0000"/>
                </a:solidFill>
                <a:latin typeface="宋体"/>
                <a:cs typeface="宋体"/>
              </a:rPr>
              <a:t>LD</a:t>
            </a:r>
            <a:r>
              <a:rPr dirty="0" sz="2400" spc="-25" b="1">
                <a:solidFill>
                  <a:srgbClr val="FF0000"/>
                </a:solidFill>
                <a:latin typeface="宋体"/>
                <a:cs typeface="宋体"/>
              </a:rPr>
              <a:t>指令流出</a:t>
            </a:r>
            <a:r>
              <a:rPr dirty="0" sz="2400" spc="-50" b="1">
                <a:solidFill>
                  <a:srgbClr val="006FC0"/>
                </a:solidFill>
                <a:latin typeface="宋体"/>
                <a:cs typeface="宋体"/>
              </a:rPr>
              <a:t>，</a:t>
            </a:r>
            <a:endParaRPr sz="2400">
              <a:latin typeface="宋体"/>
              <a:cs typeface="宋体"/>
            </a:endParaRPr>
          </a:p>
          <a:p>
            <a:pPr marL="12700">
              <a:lnSpc>
                <a:spcPct val="100000"/>
              </a:lnSpc>
              <a:spcBef>
                <a:spcPts val="1445"/>
              </a:spcBef>
            </a:pPr>
            <a:r>
              <a:rPr dirty="0" sz="2400" spc="-25" b="1">
                <a:solidFill>
                  <a:srgbClr val="006FC0"/>
                </a:solidFill>
                <a:latin typeface="宋体"/>
                <a:cs typeface="宋体"/>
              </a:rPr>
              <a:t>进入保留站，源操作数读出</a:t>
            </a:r>
            <a:endParaRPr sz="2400">
              <a:latin typeface="宋体"/>
              <a:cs typeface="宋体"/>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89/175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342391" y="665670"/>
            <a:ext cx="11341735" cy="904875"/>
          </a:xfrm>
          <a:prstGeom prst="rect">
            <a:avLst/>
          </a:prstGeom>
        </p:spPr>
        <p:txBody>
          <a:bodyPr wrap="square" lIns="0" tIns="86360" rIns="0" bIns="0" rtlCol="0" vert="horz">
            <a:spAutoFit/>
          </a:bodyPr>
          <a:lstStyle/>
          <a:p>
            <a:pPr marL="784860">
              <a:lnSpc>
                <a:spcPct val="100000"/>
              </a:lnSpc>
              <a:spcBef>
                <a:spcPts val="680"/>
              </a:spcBef>
            </a:pPr>
            <a:r>
              <a:rPr dirty="0" sz="2000" spc="-15" b="1">
                <a:latin typeface="宋体"/>
                <a:cs typeface="宋体"/>
              </a:rPr>
              <a:t>当采用</a:t>
            </a:r>
            <a:r>
              <a:rPr dirty="0" sz="2000" spc="-10" b="1">
                <a:latin typeface="宋体"/>
                <a:cs typeface="宋体"/>
              </a:rPr>
              <a:t>Tomasulo</a:t>
            </a:r>
            <a:r>
              <a:rPr dirty="0" sz="2000" spc="-20" b="1">
                <a:latin typeface="宋体"/>
                <a:cs typeface="宋体"/>
              </a:rPr>
              <a:t>算法时，在上述给定的时刻，留站、</a:t>
            </a:r>
            <a:r>
              <a:rPr dirty="0" sz="2000" spc="-10" b="1">
                <a:latin typeface="宋体"/>
                <a:cs typeface="宋体"/>
              </a:rPr>
              <a:t>load</a:t>
            </a:r>
            <a:r>
              <a:rPr dirty="0" sz="2000" spc="-20" b="1">
                <a:latin typeface="宋体"/>
                <a:cs typeface="宋体"/>
              </a:rPr>
              <a:t>缓冲器以及寄存器状态表中的内容</a:t>
            </a:r>
            <a:r>
              <a:rPr dirty="0" sz="2400" spc="-50">
                <a:latin typeface="黑体"/>
                <a:cs typeface="黑体"/>
              </a:rPr>
              <a:t>。</a:t>
            </a:r>
            <a:endParaRPr sz="2400">
              <a:latin typeface="黑体"/>
              <a:cs typeface="黑体"/>
            </a:endParaRPr>
          </a:p>
          <a:p>
            <a:pPr marL="12700">
              <a:lnSpc>
                <a:spcPct val="100000"/>
              </a:lnSpc>
              <a:spcBef>
                <a:spcPts val="580"/>
              </a:spcBef>
              <a:tabLst>
                <a:tab pos="7328534" algn="l"/>
              </a:tabLst>
            </a:pPr>
            <a:r>
              <a:rPr dirty="0" sz="2400">
                <a:latin typeface="黑体"/>
                <a:cs typeface="黑体"/>
              </a:rPr>
              <a:t>第一个时钟周期</a:t>
            </a:r>
            <a:r>
              <a:rPr dirty="0" sz="2400" spc="-445">
                <a:latin typeface="黑体"/>
                <a:cs typeface="黑体"/>
              </a:rPr>
              <a:t> </a:t>
            </a:r>
            <a:r>
              <a:rPr dirty="0" sz="2400">
                <a:solidFill>
                  <a:srgbClr val="40458B"/>
                </a:solidFill>
                <a:latin typeface="黑体"/>
                <a:cs typeface="黑体"/>
              </a:rPr>
              <a:t>：</a:t>
            </a:r>
            <a:r>
              <a:rPr dirty="0" sz="2400">
                <a:solidFill>
                  <a:srgbClr val="FF0000"/>
                </a:solidFill>
                <a:latin typeface="黑体"/>
                <a:cs typeface="黑体"/>
              </a:rPr>
              <a:t>保留站情况</a:t>
            </a:r>
            <a:r>
              <a:rPr dirty="0" sz="2400" spc="-455">
                <a:solidFill>
                  <a:srgbClr val="FF0000"/>
                </a:solidFill>
                <a:latin typeface="黑体"/>
                <a:cs typeface="黑体"/>
              </a:rPr>
              <a:t> </a:t>
            </a:r>
            <a:r>
              <a:rPr dirty="0" sz="2400" spc="-10">
                <a:solidFill>
                  <a:srgbClr val="FF0000"/>
                </a:solidFill>
                <a:latin typeface="黑体"/>
                <a:cs typeface="黑体"/>
              </a:rPr>
              <a:t>（</a:t>
            </a:r>
            <a:r>
              <a:rPr dirty="0" sz="2400" spc="-10">
                <a:solidFill>
                  <a:srgbClr val="FF0000"/>
                </a:solidFill>
                <a:latin typeface="Tahoma"/>
                <a:cs typeface="Tahoma"/>
              </a:rPr>
              <a:t>LOAD</a:t>
            </a:r>
            <a:r>
              <a:rPr dirty="0" sz="2400">
                <a:solidFill>
                  <a:srgbClr val="FF0000"/>
                </a:solidFill>
                <a:latin typeface="黑体"/>
                <a:cs typeface="黑体"/>
              </a:rPr>
              <a:t>缓冲区）</a:t>
            </a:r>
            <a:r>
              <a:rPr dirty="0" sz="2400" spc="310">
                <a:solidFill>
                  <a:srgbClr val="FF0000"/>
                </a:solidFill>
                <a:latin typeface="黑体"/>
                <a:cs typeface="黑体"/>
              </a:rPr>
              <a:t> </a:t>
            </a:r>
            <a:r>
              <a:rPr dirty="0" sz="2400" spc="-25" b="1">
                <a:solidFill>
                  <a:srgbClr val="001F5F"/>
                </a:solidFill>
                <a:latin typeface="宋体"/>
                <a:cs typeface="宋体"/>
              </a:rPr>
              <a:t>L.D</a:t>
            </a:r>
            <a:r>
              <a:rPr dirty="0" sz="2400" b="1">
                <a:solidFill>
                  <a:srgbClr val="001F5F"/>
                </a:solidFill>
                <a:latin typeface="宋体"/>
                <a:cs typeface="宋体"/>
              </a:rPr>
              <a:t>	</a:t>
            </a:r>
            <a:r>
              <a:rPr dirty="0" sz="2400" spc="-10" b="1">
                <a:solidFill>
                  <a:srgbClr val="001F5F"/>
                </a:solidFill>
                <a:latin typeface="宋体"/>
                <a:cs typeface="宋体"/>
              </a:rPr>
              <a:t>F6,34（R2）</a:t>
            </a:r>
            <a:endParaRPr sz="2400">
              <a:latin typeface="宋体"/>
              <a:cs typeface="宋体"/>
            </a:endParaRPr>
          </a:p>
        </p:txBody>
      </p:sp>
      <p:graphicFrame>
        <p:nvGraphicFramePr>
          <p:cNvPr id="11" name="object 11" descr=""/>
          <p:cNvGraphicFramePr>
            <a:graphicFrameLocks noGrp="1"/>
          </p:cNvGraphicFramePr>
          <p:nvPr/>
        </p:nvGraphicFramePr>
        <p:xfrm>
          <a:off x="1627187" y="1868487"/>
          <a:ext cx="8924925" cy="3960495"/>
        </p:xfrm>
        <a:graphic>
          <a:graphicData uri="http://schemas.openxmlformats.org/drawingml/2006/table">
            <a:tbl>
              <a:tblPr firstRow="1" bandRow="1">
                <a:tableStyleId>{2D5ABB26-0587-4C30-8999-92F81FD0307C}</a:tableStyleId>
              </a:tblPr>
              <a:tblGrid>
                <a:gridCol w="958850"/>
                <a:gridCol w="933450"/>
                <a:gridCol w="819150"/>
                <a:gridCol w="889000"/>
                <a:gridCol w="2006600"/>
                <a:gridCol w="914400"/>
                <a:gridCol w="914400"/>
                <a:gridCol w="1403350"/>
              </a:tblGrid>
              <a:tr h="547370">
                <a:tc rowSpan="2">
                  <a:txBody>
                    <a:bodyPr/>
                    <a:lstStyle/>
                    <a:p>
                      <a:pPr>
                        <a:lnSpc>
                          <a:spcPct val="100000"/>
                        </a:lnSpc>
                        <a:spcBef>
                          <a:spcPts val="840"/>
                        </a:spcBef>
                      </a:pPr>
                      <a:endParaRPr sz="2400">
                        <a:latin typeface="Times New Roman"/>
                        <a:cs typeface="Times New Roman"/>
                      </a:endParaRPr>
                    </a:p>
                    <a:p>
                      <a:pPr marL="183515">
                        <a:lnSpc>
                          <a:spcPct val="100000"/>
                        </a:lnSpc>
                      </a:pPr>
                      <a:r>
                        <a:rPr dirty="0" sz="2400" spc="-35" b="1">
                          <a:solidFill>
                            <a:srgbClr val="E14B04"/>
                          </a:solidFill>
                          <a:latin typeface="宋体"/>
                          <a:cs typeface="宋体"/>
                        </a:rPr>
                        <a:t>名称</a:t>
                      </a:r>
                      <a:endParaRPr sz="2400">
                        <a:latin typeface="宋体"/>
                        <a:cs typeface="宋体"/>
                      </a:endParaRPr>
                    </a:p>
                  </a:txBody>
                  <a:tcPr marL="0" marR="0" marB="0" marT="1066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gridSpan="7">
                  <a:txBody>
                    <a:bodyPr/>
                    <a:lstStyle/>
                    <a:p>
                      <a:pPr algn="ctr" marR="596900">
                        <a:lnSpc>
                          <a:spcPct val="100000"/>
                        </a:lnSpc>
                        <a:spcBef>
                          <a:spcPts val="1350"/>
                        </a:spcBef>
                      </a:pPr>
                      <a:r>
                        <a:rPr dirty="0" sz="1800" spc="-35" b="1">
                          <a:solidFill>
                            <a:srgbClr val="E14B04"/>
                          </a:solidFill>
                          <a:latin typeface="宋体"/>
                          <a:cs typeface="宋体"/>
                        </a:rPr>
                        <a:t>保留站</a:t>
                      </a:r>
                      <a:endParaRPr sz="1800">
                        <a:latin typeface="宋体"/>
                        <a:cs typeface="宋体"/>
                      </a:endParaRPr>
                    </a:p>
                  </a:txBody>
                  <a:tcPr marL="0" marR="0" marB="0" marT="17145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495300">
                <a:tc vMerge="1">
                  <a:txBody>
                    <a:bodyPr/>
                    <a:lstStyle/>
                    <a:p>
                      <a:pPr/>
                    </a:p>
                  </a:txBody>
                  <a:tcPr marL="0" marR="0" marB="0" marT="1066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r" marR="43815">
                        <a:lnSpc>
                          <a:spcPct val="100000"/>
                        </a:lnSpc>
                        <a:spcBef>
                          <a:spcPts val="1270"/>
                        </a:spcBef>
                      </a:pPr>
                      <a:r>
                        <a:rPr dirty="0" sz="2000" spc="-20" b="1">
                          <a:solidFill>
                            <a:srgbClr val="40458B"/>
                          </a:solidFill>
                          <a:latin typeface="宋体"/>
                          <a:cs typeface="宋体"/>
                        </a:rPr>
                        <a:t>Busy</a:t>
                      </a:r>
                      <a:endParaRPr sz="2000">
                        <a:latin typeface="宋体"/>
                        <a:cs typeface="宋体"/>
                      </a:endParaRPr>
                    </a:p>
                  </a:txBody>
                  <a:tcPr marL="0" marR="0" marB="0" marT="1612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339090">
                        <a:lnSpc>
                          <a:spcPts val="2250"/>
                        </a:lnSpc>
                        <a:spcBef>
                          <a:spcPts val="1550"/>
                        </a:spcBef>
                      </a:pPr>
                      <a:r>
                        <a:rPr dirty="0" sz="2000" spc="-25" b="1">
                          <a:solidFill>
                            <a:srgbClr val="40458B"/>
                          </a:solidFill>
                          <a:latin typeface="宋体"/>
                          <a:cs typeface="宋体"/>
                        </a:rPr>
                        <a:t>Op</a:t>
                      </a:r>
                      <a:endParaRPr sz="2000">
                        <a:latin typeface="宋体"/>
                        <a:cs typeface="宋体"/>
                      </a:endParaRPr>
                    </a:p>
                  </a:txBody>
                  <a:tcPr marL="0" marR="0" marB="0" marT="19685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91770">
                        <a:lnSpc>
                          <a:spcPct val="100000"/>
                        </a:lnSpc>
                        <a:spcBef>
                          <a:spcPts val="1340"/>
                        </a:spcBef>
                      </a:pPr>
                      <a:r>
                        <a:rPr dirty="0" sz="2000" spc="-25" b="1">
                          <a:solidFill>
                            <a:srgbClr val="40458B"/>
                          </a:solidFill>
                          <a:latin typeface="宋体"/>
                          <a:cs typeface="宋体"/>
                        </a:rPr>
                        <a:t>Vj</a:t>
                      </a:r>
                      <a:endParaRPr sz="2000">
                        <a:latin typeface="宋体"/>
                        <a:cs typeface="宋体"/>
                      </a:endParaRPr>
                    </a:p>
                  </a:txBody>
                  <a:tcPr marL="0" marR="0" marB="0" marT="1701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652780">
                        <a:lnSpc>
                          <a:spcPct val="100000"/>
                        </a:lnSpc>
                        <a:spcBef>
                          <a:spcPts val="1260"/>
                        </a:spcBef>
                      </a:pPr>
                      <a:r>
                        <a:rPr dirty="0" sz="2000" spc="-25" b="1">
                          <a:solidFill>
                            <a:srgbClr val="40458B"/>
                          </a:solidFill>
                          <a:latin typeface="宋体"/>
                          <a:cs typeface="宋体"/>
                        </a:rPr>
                        <a:t>Vk</a:t>
                      </a:r>
                      <a:endParaRPr sz="2000">
                        <a:latin typeface="宋体"/>
                        <a:cs typeface="宋体"/>
                      </a:endParaRPr>
                    </a:p>
                  </a:txBody>
                  <a:tcPr marL="0" marR="0" marB="0" marT="1600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264795">
                        <a:lnSpc>
                          <a:spcPct val="100000"/>
                        </a:lnSpc>
                        <a:spcBef>
                          <a:spcPts val="1145"/>
                        </a:spcBef>
                      </a:pPr>
                      <a:r>
                        <a:rPr dirty="0" sz="2000" spc="-25" b="1">
                          <a:solidFill>
                            <a:srgbClr val="40458B"/>
                          </a:solidFill>
                          <a:latin typeface="宋体"/>
                          <a:cs typeface="宋体"/>
                        </a:rPr>
                        <a:t>Qj</a:t>
                      </a:r>
                      <a:endParaRPr sz="2000">
                        <a:latin typeface="宋体"/>
                        <a:cs typeface="宋体"/>
                      </a:endParaRPr>
                    </a:p>
                  </a:txBody>
                  <a:tcPr marL="0" marR="0" marB="0" marT="1454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ctr" marL="15240">
                        <a:lnSpc>
                          <a:spcPct val="100000"/>
                        </a:lnSpc>
                        <a:spcBef>
                          <a:spcPts val="1085"/>
                        </a:spcBef>
                      </a:pPr>
                      <a:r>
                        <a:rPr dirty="0" sz="2000" spc="-25" b="1">
                          <a:solidFill>
                            <a:srgbClr val="40458B"/>
                          </a:solidFill>
                          <a:latin typeface="宋体"/>
                          <a:cs typeface="宋体"/>
                        </a:rPr>
                        <a:t>Qk</a:t>
                      </a:r>
                      <a:endParaRPr sz="2000">
                        <a:latin typeface="宋体"/>
                        <a:cs typeface="宋体"/>
                      </a:endParaRPr>
                    </a:p>
                  </a:txBody>
                  <a:tcPr marL="0" marR="0" marB="0" marT="13779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399415">
                        <a:lnSpc>
                          <a:spcPct val="100000"/>
                        </a:lnSpc>
                        <a:spcBef>
                          <a:spcPts val="1220"/>
                        </a:spcBef>
                      </a:pPr>
                      <a:r>
                        <a:rPr dirty="0" sz="2000" spc="-50" b="1">
                          <a:solidFill>
                            <a:srgbClr val="40458B"/>
                          </a:solidFill>
                          <a:latin typeface="宋体"/>
                          <a:cs typeface="宋体"/>
                        </a:rPr>
                        <a:t>A</a:t>
                      </a:r>
                      <a:endParaRPr sz="2000">
                        <a:latin typeface="宋体"/>
                        <a:cs typeface="宋体"/>
                      </a:endParaRPr>
                    </a:p>
                  </a:txBody>
                  <a:tcPr marL="0" marR="0" marB="0" marT="15494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390525">
                <a:tc>
                  <a:txBody>
                    <a:bodyPr/>
                    <a:lstStyle/>
                    <a:p>
                      <a:pPr marL="135890">
                        <a:lnSpc>
                          <a:spcPct val="100000"/>
                        </a:lnSpc>
                        <a:spcBef>
                          <a:spcPts val="434"/>
                        </a:spcBef>
                      </a:pPr>
                      <a:r>
                        <a:rPr dirty="0" sz="2000" spc="-10" b="1">
                          <a:solidFill>
                            <a:srgbClr val="FF0000"/>
                          </a:solidFill>
                          <a:latin typeface="宋体"/>
                          <a:cs typeface="宋体"/>
                        </a:rPr>
                        <a:t>Load1</a:t>
                      </a:r>
                      <a:endParaRPr sz="2000">
                        <a:latin typeface="宋体"/>
                        <a:cs typeface="宋体"/>
                      </a:endParaRPr>
                    </a:p>
                  </a:txBody>
                  <a:tcPr marL="0" marR="0" marB="0" marT="5524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r" marR="107950">
                        <a:lnSpc>
                          <a:spcPct val="100000"/>
                        </a:lnSpc>
                        <a:spcBef>
                          <a:spcPts val="495"/>
                        </a:spcBef>
                      </a:pPr>
                      <a:r>
                        <a:rPr dirty="0" sz="2000" spc="-25" b="1">
                          <a:solidFill>
                            <a:srgbClr val="FF0000"/>
                          </a:solidFill>
                          <a:latin typeface="宋体"/>
                          <a:cs typeface="宋体"/>
                        </a:rPr>
                        <a:t>yes</a:t>
                      </a:r>
                      <a:endParaRPr sz="2000">
                        <a:latin typeface="宋体"/>
                        <a:cs typeface="宋体"/>
                      </a:endParaRPr>
                    </a:p>
                  </a:txBody>
                  <a:tcPr marL="0" marR="0" marB="0" marT="6286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314960">
                        <a:lnSpc>
                          <a:spcPts val="2205"/>
                        </a:lnSpc>
                        <a:spcBef>
                          <a:spcPts val="770"/>
                        </a:spcBef>
                      </a:pPr>
                      <a:r>
                        <a:rPr dirty="0" sz="2000" spc="-25" b="1">
                          <a:solidFill>
                            <a:srgbClr val="FF0000"/>
                          </a:solidFill>
                          <a:latin typeface="宋体"/>
                          <a:cs typeface="宋体"/>
                        </a:rPr>
                        <a:t>L.D</a:t>
                      </a:r>
                      <a:endParaRPr sz="2000">
                        <a:latin typeface="宋体"/>
                        <a:cs typeface="宋体"/>
                      </a:endParaRPr>
                    </a:p>
                  </a:txBody>
                  <a:tcPr marL="0" marR="0" marB="0" marT="977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62560">
                        <a:lnSpc>
                          <a:spcPct val="100000"/>
                        </a:lnSpc>
                        <a:spcBef>
                          <a:spcPts val="480"/>
                        </a:spcBef>
                      </a:pPr>
                      <a:r>
                        <a:rPr dirty="0" sz="2000" spc="-10" b="1">
                          <a:solidFill>
                            <a:srgbClr val="FF0000"/>
                          </a:solidFill>
                          <a:latin typeface="宋体"/>
                          <a:cs typeface="宋体"/>
                        </a:rPr>
                        <a:t>R[R2]</a:t>
                      </a:r>
                      <a:endParaRPr sz="2000">
                        <a:latin typeface="宋体"/>
                        <a:cs typeface="宋体"/>
                      </a:endParaRPr>
                    </a:p>
                  </a:txBody>
                  <a:tcPr marL="0" marR="0" marB="0" marT="609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292100">
                        <a:lnSpc>
                          <a:spcPct val="100000"/>
                        </a:lnSpc>
                        <a:spcBef>
                          <a:spcPts val="370"/>
                        </a:spcBef>
                      </a:pPr>
                      <a:r>
                        <a:rPr dirty="0" sz="2000" spc="-50" b="1">
                          <a:solidFill>
                            <a:srgbClr val="40458B"/>
                          </a:solidFill>
                          <a:latin typeface="宋体"/>
                          <a:cs typeface="宋体"/>
                        </a:rPr>
                        <a:t>0</a:t>
                      </a:r>
                      <a:endParaRPr sz="2000">
                        <a:latin typeface="宋体"/>
                        <a:cs typeface="宋体"/>
                      </a:endParaRPr>
                    </a:p>
                  </a:txBody>
                  <a:tcPr marL="0" marR="0" marB="0" marT="469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40335">
                        <a:lnSpc>
                          <a:spcPct val="100000"/>
                        </a:lnSpc>
                        <a:spcBef>
                          <a:spcPts val="440"/>
                        </a:spcBef>
                      </a:pPr>
                      <a:r>
                        <a:rPr dirty="0" sz="2000" spc="-25" b="1">
                          <a:solidFill>
                            <a:srgbClr val="FF0000"/>
                          </a:solidFill>
                          <a:latin typeface="宋体"/>
                          <a:cs typeface="宋体"/>
                        </a:rPr>
                        <a:t>34</a:t>
                      </a:r>
                      <a:endParaRPr sz="2000">
                        <a:latin typeface="宋体"/>
                        <a:cs typeface="宋体"/>
                      </a:endParaRPr>
                    </a:p>
                  </a:txBody>
                  <a:tcPr marL="0" marR="0" marB="0" marT="558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404495">
                <a:tc>
                  <a:txBody>
                    <a:bodyPr/>
                    <a:lstStyle/>
                    <a:p>
                      <a:pPr marL="135890">
                        <a:lnSpc>
                          <a:spcPct val="100000"/>
                        </a:lnSpc>
                        <a:spcBef>
                          <a:spcPts val="484"/>
                        </a:spcBef>
                      </a:pPr>
                      <a:r>
                        <a:rPr dirty="0" sz="2000" spc="-10" b="1">
                          <a:solidFill>
                            <a:srgbClr val="40458B"/>
                          </a:solidFill>
                          <a:latin typeface="宋体"/>
                          <a:cs typeface="宋体"/>
                        </a:rPr>
                        <a:t>Load2</a:t>
                      </a:r>
                      <a:endParaRPr sz="2000">
                        <a:latin typeface="宋体"/>
                        <a:cs typeface="宋体"/>
                      </a:endParaRPr>
                    </a:p>
                  </a:txBody>
                  <a:tcPr marL="0" marR="0" marB="0" marT="6159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468630">
                        <a:lnSpc>
                          <a:spcPct val="100000"/>
                        </a:lnSpc>
                        <a:spcBef>
                          <a:spcPts val="540"/>
                        </a:spcBef>
                      </a:pPr>
                      <a:r>
                        <a:rPr dirty="0" sz="2000" spc="-25" b="1">
                          <a:solidFill>
                            <a:srgbClr val="40458B"/>
                          </a:solidFill>
                          <a:latin typeface="宋体"/>
                          <a:cs typeface="宋体"/>
                        </a:rPr>
                        <a:t>no</a:t>
                      </a:r>
                      <a:endParaRPr sz="2000">
                        <a:latin typeface="宋体"/>
                        <a:cs typeface="宋体"/>
                      </a:endParaRPr>
                    </a:p>
                  </a:txBody>
                  <a:tcPr marL="0" marR="0" marB="0" marT="685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375920">
                <a:tc>
                  <a:txBody>
                    <a:bodyPr/>
                    <a:lstStyle/>
                    <a:p>
                      <a:pPr marL="135890">
                        <a:lnSpc>
                          <a:spcPct val="100000"/>
                        </a:lnSpc>
                        <a:spcBef>
                          <a:spcPts val="415"/>
                        </a:spcBef>
                      </a:pPr>
                      <a:r>
                        <a:rPr dirty="0" sz="2000" spc="-20" b="1">
                          <a:solidFill>
                            <a:srgbClr val="40458B"/>
                          </a:solidFill>
                          <a:latin typeface="宋体"/>
                          <a:cs typeface="宋体"/>
                        </a:rPr>
                        <a:t>Add1</a:t>
                      </a:r>
                      <a:endParaRPr sz="2000">
                        <a:latin typeface="宋体"/>
                        <a:cs typeface="宋体"/>
                      </a:endParaRPr>
                    </a:p>
                  </a:txBody>
                  <a:tcPr marL="0" marR="0" marB="0" marT="5270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468630">
                        <a:lnSpc>
                          <a:spcPts val="2390"/>
                        </a:lnSpc>
                        <a:spcBef>
                          <a:spcPts val="475"/>
                        </a:spcBef>
                      </a:pPr>
                      <a:r>
                        <a:rPr dirty="0" sz="2000" spc="-25" b="1">
                          <a:solidFill>
                            <a:srgbClr val="40458B"/>
                          </a:solidFill>
                          <a:latin typeface="宋体"/>
                          <a:cs typeface="宋体"/>
                        </a:rPr>
                        <a:t>no</a:t>
                      </a:r>
                      <a:endParaRPr sz="2000">
                        <a:latin typeface="宋体"/>
                        <a:cs typeface="宋体"/>
                      </a:endParaRPr>
                    </a:p>
                  </a:txBody>
                  <a:tcPr marL="0" marR="0" marB="0" marT="6032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92075">
                        <a:lnSpc>
                          <a:spcPts val="2230"/>
                        </a:lnSpc>
                      </a:pPr>
                      <a:r>
                        <a:rPr dirty="0" sz="2400" spc="-20">
                          <a:solidFill>
                            <a:srgbClr val="FF0000"/>
                          </a:solidFill>
                          <a:latin typeface="黑体"/>
                          <a:cs typeface="黑体"/>
                        </a:rPr>
                        <a:t>立即数</a:t>
                      </a:r>
                      <a:endParaRPr sz="2400">
                        <a:latin typeface="黑体"/>
                        <a:cs typeface="黑体"/>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423545">
                <a:tc>
                  <a:txBody>
                    <a:bodyPr/>
                    <a:lstStyle/>
                    <a:p>
                      <a:pPr marL="135890">
                        <a:lnSpc>
                          <a:spcPct val="100000"/>
                        </a:lnSpc>
                        <a:spcBef>
                          <a:spcPts val="570"/>
                        </a:spcBef>
                      </a:pPr>
                      <a:r>
                        <a:rPr dirty="0" sz="2000" spc="-20" b="1">
                          <a:solidFill>
                            <a:srgbClr val="40458B"/>
                          </a:solidFill>
                          <a:latin typeface="宋体"/>
                          <a:cs typeface="宋体"/>
                        </a:rPr>
                        <a:t>Add2</a:t>
                      </a:r>
                      <a:endParaRPr sz="2000">
                        <a:latin typeface="宋体"/>
                        <a:cs typeface="宋体"/>
                      </a:endParaRPr>
                    </a:p>
                  </a:txBody>
                  <a:tcPr marL="0" marR="0" marB="0" marT="723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468630">
                        <a:lnSpc>
                          <a:spcPct val="100000"/>
                        </a:lnSpc>
                        <a:spcBef>
                          <a:spcPts val="630"/>
                        </a:spcBef>
                      </a:pPr>
                      <a:r>
                        <a:rPr dirty="0" sz="2000" spc="-25" b="1">
                          <a:solidFill>
                            <a:srgbClr val="40458B"/>
                          </a:solidFill>
                          <a:latin typeface="宋体"/>
                          <a:cs typeface="宋体"/>
                        </a:rPr>
                        <a:t>no</a:t>
                      </a:r>
                      <a:endParaRPr sz="2000">
                        <a:latin typeface="宋体"/>
                        <a:cs typeface="宋体"/>
                      </a:endParaRPr>
                    </a:p>
                  </a:txBody>
                  <a:tcPr marL="0" marR="0" marB="0" marT="800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92075">
                        <a:lnSpc>
                          <a:spcPts val="2075"/>
                        </a:lnSpc>
                      </a:pPr>
                      <a:r>
                        <a:rPr dirty="0" sz="2400" spc="-20">
                          <a:solidFill>
                            <a:srgbClr val="FF0000"/>
                          </a:solidFill>
                          <a:latin typeface="黑体"/>
                          <a:cs typeface="黑体"/>
                        </a:rPr>
                        <a:t>送过来</a:t>
                      </a:r>
                      <a:endParaRPr sz="2400">
                        <a:latin typeface="黑体"/>
                        <a:cs typeface="黑体"/>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423545">
                <a:tc>
                  <a:txBody>
                    <a:bodyPr/>
                    <a:lstStyle/>
                    <a:p>
                      <a:pPr marL="135890">
                        <a:lnSpc>
                          <a:spcPct val="100000"/>
                        </a:lnSpc>
                        <a:spcBef>
                          <a:spcPts val="355"/>
                        </a:spcBef>
                      </a:pPr>
                      <a:r>
                        <a:rPr dirty="0" sz="2000" spc="-20" b="1">
                          <a:solidFill>
                            <a:srgbClr val="40458B"/>
                          </a:solidFill>
                          <a:latin typeface="宋体"/>
                          <a:cs typeface="宋体"/>
                        </a:rPr>
                        <a:t>Add3</a:t>
                      </a:r>
                      <a:endParaRPr sz="2000">
                        <a:latin typeface="宋体"/>
                        <a:cs typeface="宋体"/>
                      </a:endParaRPr>
                    </a:p>
                  </a:txBody>
                  <a:tcPr marL="0" marR="0" marB="0" marT="450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468630">
                        <a:lnSpc>
                          <a:spcPct val="100000"/>
                        </a:lnSpc>
                        <a:spcBef>
                          <a:spcPts val="409"/>
                        </a:spcBef>
                      </a:pPr>
                      <a:r>
                        <a:rPr dirty="0" sz="2000" spc="-25" b="1">
                          <a:solidFill>
                            <a:srgbClr val="40458B"/>
                          </a:solidFill>
                          <a:latin typeface="宋体"/>
                          <a:cs typeface="宋体"/>
                        </a:rPr>
                        <a:t>no</a:t>
                      </a:r>
                      <a:endParaRPr sz="2000">
                        <a:latin typeface="宋体"/>
                        <a:cs typeface="宋体"/>
                      </a:endParaRPr>
                    </a:p>
                  </a:txBody>
                  <a:tcPr marL="0" marR="0" marB="0" marT="52069">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396875">
                <a:tc>
                  <a:txBody>
                    <a:bodyPr/>
                    <a:lstStyle/>
                    <a:p>
                      <a:pPr marL="135890">
                        <a:lnSpc>
                          <a:spcPct val="100000"/>
                        </a:lnSpc>
                        <a:spcBef>
                          <a:spcPts val="140"/>
                        </a:spcBef>
                      </a:pPr>
                      <a:r>
                        <a:rPr dirty="0" sz="2000" spc="-10" b="1">
                          <a:solidFill>
                            <a:srgbClr val="40458B"/>
                          </a:solidFill>
                          <a:latin typeface="宋体"/>
                          <a:cs typeface="宋体"/>
                        </a:rPr>
                        <a:t>Mult1</a:t>
                      </a:r>
                      <a:endParaRPr sz="2000">
                        <a:latin typeface="宋体"/>
                        <a:cs typeface="宋体"/>
                      </a:endParaRPr>
                    </a:p>
                  </a:txBody>
                  <a:tcPr marL="0" marR="0" marB="0" marT="177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468630">
                        <a:lnSpc>
                          <a:spcPct val="100000"/>
                        </a:lnSpc>
                        <a:spcBef>
                          <a:spcPts val="200"/>
                        </a:spcBef>
                      </a:pPr>
                      <a:r>
                        <a:rPr dirty="0" sz="2000" spc="-25" b="1">
                          <a:solidFill>
                            <a:srgbClr val="40458B"/>
                          </a:solidFill>
                          <a:latin typeface="宋体"/>
                          <a:cs typeface="宋体"/>
                        </a:rPr>
                        <a:t>no</a:t>
                      </a:r>
                      <a:endParaRPr sz="2000">
                        <a:latin typeface="宋体"/>
                        <a:cs typeface="宋体"/>
                      </a:endParaRPr>
                    </a:p>
                  </a:txBody>
                  <a:tcPr marL="0" marR="0" marB="0" marT="2540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502920">
                <a:tc>
                  <a:txBody>
                    <a:bodyPr/>
                    <a:lstStyle/>
                    <a:p>
                      <a:pPr marL="135890">
                        <a:lnSpc>
                          <a:spcPct val="100000"/>
                        </a:lnSpc>
                        <a:spcBef>
                          <a:spcPts val="135"/>
                        </a:spcBef>
                      </a:pPr>
                      <a:r>
                        <a:rPr dirty="0" sz="2000" spc="-10" b="1">
                          <a:solidFill>
                            <a:srgbClr val="40458B"/>
                          </a:solidFill>
                          <a:latin typeface="宋体"/>
                          <a:cs typeface="宋体"/>
                        </a:rPr>
                        <a:t>Mult2</a:t>
                      </a:r>
                      <a:endParaRPr sz="2000">
                        <a:latin typeface="宋体"/>
                        <a:cs typeface="宋体"/>
                      </a:endParaRPr>
                    </a:p>
                  </a:txBody>
                  <a:tcPr marL="0" marR="0" marB="0" marT="1714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468630">
                        <a:lnSpc>
                          <a:spcPct val="100000"/>
                        </a:lnSpc>
                        <a:spcBef>
                          <a:spcPts val="190"/>
                        </a:spcBef>
                      </a:pPr>
                      <a:r>
                        <a:rPr dirty="0" sz="2000" spc="-25" b="1">
                          <a:solidFill>
                            <a:srgbClr val="40458B"/>
                          </a:solidFill>
                          <a:latin typeface="宋体"/>
                          <a:cs typeface="宋体"/>
                        </a:rPr>
                        <a:t>no</a:t>
                      </a:r>
                      <a:endParaRPr sz="2000">
                        <a:latin typeface="宋体"/>
                        <a:cs typeface="宋体"/>
                      </a:endParaRPr>
                    </a:p>
                  </a:txBody>
                  <a:tcPr marL="0" marR="0" marB="0" marT="241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90/175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97916" y="753237"/>
            <a:ext cx="10521950" cy="1530350"/>
          </a:xfrm>
          <a:prstGeom prst="rect">
            <a:avLst/>
          </a:prstGeom>
        </p:spPr>
        <p:txBody>
          <a:bodyPr wrap="square" lIns="0" tIns="17780" rIns="0" bIns="0" rtlCol="0" vert="horz">
            <a:spAutoFit/>
          </a:bodyPr>
          <a:lstStyle/>
          <a:p>
            <a:pPr marL="12700" marR="5080" indent="772160">
              <a:lnSpc>
                <a:spcPts val="2450"/>
              </a:lnSpc>
              <a:spcBef>
                <a:spcPts val="140"/>
              </a:spcBef>
            </a:pPr>
            <a:r>
              <a:rPr dirty="0" sz="2000" spc="-10" b="1">
                <a:latin typeface="宋体"/>
                <a:cs typeface="宋体"/>
              </a:rPr>
              <a:t>当采用Tomasulo</a:t>
            </a:r>
            <a:r>
              <a:rPr dirty="0" sz="2000" spc="-20" b="1">
                <a:latin typeface="宋体"/>
                <a:cs typeface="宋体"/>
              </a:rPr>
              <a:t>算法时，在上述给定的时刻，留站、load</a:t>
            </a:r>
            <a:r>
              <a:rPr dirty="0" sz="2000" spc="-25" b="1">
                <a:latin typeface="宋体"/>
                <a:cs typeface="宋体"/>
              </a:rPr>
              <a:t>缓冲器以及寄存器状态表中的</a:t>
            </a:r>
            <a:r>
              <a:rPr dirty="0" sz="2000" spc="-10" b="1">
                <a:latin typeface="宋体"/>
                <a:cs typeface="宋体"/>
              </a:rPr>
              <a:t>内容</a:t>
            </a:r>
            <a:r>
              <a:rPr dirty="0" sz="2400" spc="-50">
                <a:latin typeface="黑体"/>
                <a:cs typeface="黑体"/>
              </a:rPr>
              <a:t>。</a:t>
            </a:r>
            <a:endParaRPr sz="2400">
              <a:latin typeface="黑体"/>
              <a:cs typeface="黑体"/>
            </a:endParaRPr>
          </a:p>
          <a:p>
            <a:pPr marL="12700">
              <a:lnSpc>
                <a:spcPct val="100000"/>
              </a:lnSpc>
              <a:spcBef>
                <a:spcPts val="570"/>
              </a:spcBef>
            </a:pPr>
            <a:r>
              <a:rPr dirty="0" sz="2400" spc="-75">
                <a:latin typeface="黑体"/>
                <a:cs typeface="黑体"/>
              </a:rPr>
              <a:t>第一个周期 </a:t>
            </a:r>
            <a:r>
              <a:rPr dirty="0" sz="2400">
                <a:solidFill>
                  <a:srgbClr val="40458B"/>
                </a:solidFill>
                <a:latin typeface="黑体"/>
                <a:cs typeface="黑体"/>
              </a:rPr>
              <a:t>：</a:t>
            </a:r>
            <a:r>
              <a:rPr dirty="0" sz="2400" spc="-5">
                <a:solidFill>
                  <a:srgbClr val="FF0000"/>
                </a:solidFill>
                <a:latin typeface="黑体"/>
                <a:cs typeface="黑体"/>
              </a:rPr>
              <a:t>寄存器状态，预约结果寄存器</a:t>
            </a:r>
            <a:endParaRPr sz="2400">
              <a:latin typeface="黑体"/>
              <a:cs typeface="黑体"/>
            </a:endParaRPr>
          </a:p>
          <a:p>
            <a:pPr marL="1861185">
              <a:lnSpc>
                <a:spcPct val="100000"/>
              </a:lnSpc>
              <a:spcBef>
                <a:spcPts val="575"/>
              </a:spcBef>
              <a:tabLst>
                <a:tab pos="2755900" algn="l"/>
              </a:tabLst>
            </a:pPr>
            <a:r>
              <a:rPr dirty="0" sz="2400" spc="-25" b="1">
                <a:solidFill>
                  <a:srgbClr val="001F5F"/>
                </a:solidFill>
                <a:latin typeface="宋体"/>
                <a:cs typeface="宋体"/>
              </a:rPr>
              <a:t>L.D</a:t>
            </a:r>
            <a:r>
              <a:rPr dirty="0" sz="2400" b="1">
                <a:solidFill>
                  <a:srgbClr val="001F5F"/>
                </a:solidFill>
                <a:latin typeface="宋体"/>
                <a:cs typeface="宋体"/>
              </a:rPr>
              <a:t>	</a:t>
            </a:r>
            <a:r>
              <a:rPr dirty="0" sz="2400" spc="-10" b="1">
                <a:solidFill>
                  <a:srgbClr val="001F5F"/>
                </a:solidFill>
                <a:latin typeface="宋体"/>
                <a:cs typeface="宋体"/>
              </a:rPr>
              <a:t>F6,34（R2）</a:t>
            </a:r>
            <a:endParaRPr sz="2400">
              <a:latin typeface="宋体"/>
              <a:cs typeface="宋体"/>
            </a:endParaRPr>
          </a:p>
        </p:txBody>
      </p:sp>
      <p:graphicFrame>
        <p:nvGraphicFramePr>
          <p:cNvPr id="11" name="object 11" descr=""/>
          <p:cNvGraphicFramePr>
            <a:graphicFrameLocks noGrp="1"/>
          </p:cNvGraphicFramePr>
          <p:nvPr/>
        </p:nvGraphicFramePr>
        <p:xfrm>
          <a:off x="2281237" y="2919412"/>
          <a:ext cx="7952740" cy="1470660"/>
        </p:xfrm>
        <a:graphic>
          <a:graphicData uri="http://schemas.openxmlformats.org/drawingml/2006/table">
            <a:tbl>
              <a:tblPr firstRow="1" bandRow="1">
                <a:tableStyleId>{2D5ABB26-0587-4C30-8999-92F81FD0307C}</a:tableStyleId>
              </a:tblPr>
              <a:tblGrid>
                <a:gridCol w="1433830"/>
                <a:gridCol w="843280"/>
                <a:gridCol w="845185"/>
                <a:gridCol w="954404"/>
                <a:gridCol w="765810"/>
                <a:gridCol w="757554"/>
                <a:gridCol w="830579"/>
                <a:gridCol w="678179"/>
                <a:gridCol w="762634"/>
              </a:tblGrid>
              <a:tr h="394970">
                <a:tc rowSpan="2">
                  <a:txBody>
                    <a:bodyPr/>
                    <a:lstStyle/>
                    <a:p>
                      <a:pPr>
                        <a:lnSpc>
                          <a:spcPct val="100000"/>
                        </a:lnSpc>
                      </a:pPr>
                      <a:endParaRPr sz="22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gridSpan="8">
                  <a:txBody>
                    <a:bodyPr/>
                    <a:lstStyle/>
                    <a:p>
                      <a:pPr algn="ctr" marL="56515">
                        <a:lnSpc>
                          <a:spcPct val="100000"/>
                        </a:lnSpc>
                        <a:spcBef>
                          <a:spcPts val="425"/>
                        </a:spcBef>
                      </a:pPr>
                      <a:r>
                        <a:rPr dirty="0" sz="1800" spc="-20" b="1">
                          <a:solidFill>
                            <a:srgbClr val="E14B04"/>
                          </a:solidFill>
                          <a:latin typeface="宋体"/>
                          <a:cs typeface="宋体"/>
                        </a:rPr>
                        <a:t>寄存器状态表</a:t>
                      </a:r>
                      <a:endParaRPr sz="1800">
                        <a:latin typeface="宋体"/>
                        <a:cs typeface="宋体"/>
                      </a:endParaRPr>
                    </a:p>
                  </a:txBody>
                  <a:tcPr marL="0" marR="0" marB="0" marT="539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518795">
                <a:tc vMerge="1">
                  <a:txBody>
                    <a:bodyPr/>
                    <a:lstStyle/>
                    <a:p>
                      <a:p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82245">
                        <a:lnSpc>
                          <a:spcPct val="100000"/>
                        </a:lnSpc>
                        <a:spcBef>
                          <a:spcPts val="925"/>
                        </a:spcBef>
                      </a:pPr>
                      <a:r>
                        <a:rPr dirty="0" sz="2400" spc="-25" b="1">
                          <a:solidFill>
                            <a:srgbClr val="40458B"/>
                          </a:solidFill>
                          <a:latin typeface="宋体"/>
                          <a:cs typeface="宋体"/>
                        </a:rPr>
                        <a:t>F0</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62890">
                        <a:lnSpc>
                          <a:spcPct val="100000"/>
                        </a:lnSpc>
                        <a:spcBef>
                          <a:spcPts val="925"/>
                        </a:spcBef>
                      </a:pPr>
                      <a:r>
                        <a:rPr dirty="0" sz="2400" spc="-25" b="1">
                          <a:solidFill>
                            <a:srgbClr val="40458B"/>
                          </a:solidFill>
                          <a:latin typeface="宋体"/>
                          <a:cs typeface="宋体"/>
                        </a:rPr>
                        <a:t>F2</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87960" marR="240665">
                        <a:lnSpc>
                          <a:spcPct val="100000"/>
                        </a:lnSpc>
                        <a:spcBef>
                          <a:spcPts val="925"/>
                        </a:spcBef>
                      </a:pPr>
                      <a:r>
                        <a:rPr dirty="0" sz="2400" spc="-25" b="1">
                          <a:solidFill>
                            <a:srgbClr val="40458B"/>
                          </a:solidFill>
                          <a:latin typeface="宋体"/>
                          <a:cs typeface="宋体"/>
                        </a:rPr>
                        <a:t>F4</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52095">
                        <a:lnSpc>
                          <a:spcPct val="100000"/>
                        </a:lnSpc>
                        <a:spcBef>
                          <a:spcPts val="925"/>
                        </a:spcBef>
                      </a:pPr>
                      <a:r>
                        <a:rPr dirty="0" sz="2400" spc="-25" b="1">
                          <a:solidFill>
                            <a:srgbClr val="40458B"/>
                          </a:solidFill>
                          <a:latin typeface="宋体"/>
                          <a:cs typeface="宋体"/>
                        </a:rPr>
                        <a:t>F6</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56540">
                        <a:lnSpc>
                          <a:spcPct val="100000"/>
                        </a:lnSpc>
                        <a:spcBef>
                          <a:spcPts val="925"/>
                        </a:spcBef>
                      </a:pPr>
                      <a:r>
                        <a:rPr dirty="0" sz="2400" spc="-25" b="1">
                          <a:solidFill>
                            <a:srgbClr val="40458B"/>
                          </a:solidFill>
                          <a:latin typeface="宋体"/>
                          <a:cs typeface="宋体"/>
                        </a:rPr>
                        <a:t>F8</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69240">
                        <a:lnSpc>
                          <a:spcPct val="100000"/>
                        </a:lnSpc>
                        <a:spcBef>
                          <a:spcPts val="925"/>
                        </a:spcBef>
                      </a:pPr>
                      <a:r>
                        <a:rPr dirty="0" sz="2400" spc="-25" b="1">
                          <a:solidFill>
                            <a:srgbClr val="40458B"/>
                          </a:solidFill>
                          <a:latin typeface="宋体"/>
                          <a:cs typeface="宋体"/>
                        </a:rPr>
                        <a:t>F10</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08279">
                        <a:lnSpc>
                          <a:spcPct val="100000"/>
                        </a:lnSpc>
                        <a:spcBef>
                          <a:spcPts val="925"/>
                        </a:spcBef>
                      </a:pPr>
                      <a:r>
                        <a:rPr dirty="0" sz="2400" spc="-50" b="1">
                          <a:solidFill>
                            <a:srgbClr val="40458B"/>
                          </a:solidFill>
                          <a:latin typeface="宋体"/>
                          <a:cs typeface="宋体"/>
                        </a:rPr>
                        <a:t>…</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44780">
                        <a:lnSpc>
                          <a:spcPct val="100000"/>
                        </a:lnSpc>
                        <a:spcBef>
                          <a:spcPts val="925"/>
                        </a:spcBef>
                      </a:pPr>
                      <a:r>
                        <a:rPr dirty="0" sz="2400" spc="-25" b="1">
                          <a:solidFill>
                            <a:srgbClr val="40458B"/>
                          </a:solidFill>
                          <a:latin typeface="宋体"/>
                          <a:cs typeface="宋体"/>
                        </a:rPr>
                        <a:t>F30</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56895">
                <a:tc>
                  <a:txBody>
                    <a:bodyPr/>
                    <a:lstStyle/>
                    <a:p>
                      <a:pPr marL="399415">
                        <a:lnSpc>
                          <a:spcPct val="100000"/>
                        </a:lnSpc>
                        <a:spcBef>
                          <a:spcPts val="1160"/>
                        </a:spcBef>
                      </a:pPr>
                      <a:r>
                        <a:rPr dirty="0" sz="2400" spc="-25" b="1">
                          <a:solidFill>
                            <a:srgbClr val="40458B"/>
                          </a:solidFill>
                          <a:latin typeface="宋体"/>
                          <a:cs typeface="宋体"/>
                        </a:rPr>
                        <a:t>Qi</a:t>
                      </a:r>
                      <a:endParaRPr sz="2400">
                        <a:latin typeface="宋体"/>
                        <a:cs typeface="宋体"/>
                      </a:endParaRPr>
                    </a:p>
                  </a:txBody>
                  <a:tcPr marL="0" marR="0" marB="0" marT="1473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2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2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r">
                        <a:lnSpc>
                          <a:spcPct val="100000"/>
                        </a:lnSpc>
                        <a:spcBef>
                          <a:spcPts val="1360"/>
                        </a:spcBef>
                      </a:pPr>
                      <a:r>
                        <a:rPr dirty="0" sz="2200" spc="-25" b="1">
                          <a:solidFill>
                            <a:srgbClr val="CC3399"/>
                          </a:solidFill>
                          <a:latin typeface="宋体"/>
                          <a:cs typeface="宋体"/>
                        </a:rPr>
                        <a:t>Lo</a:t>
                      </a:r>
                      <a:endParaRPr sz="2200">
                        <a:latin typeface="宋体"/>
                        <a:cs typeface="宋体"/>
                      </a:endParaRPr>
                    </a:p>
                  </a:txBody>
                  <a:tcPr marL="0" marR="0" marB="0" marT="1727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43840">
                        <a:lnSpc>
                          <a:spcPct val="100000"/>
                        </a:lnSpc>
                        <a:spcBef>
                          <a:spcPts val="1360"/>
                        </a:spcBef>
                      </a:pPr>
                      <a:r>
                        <a:rPr dirty="0" sz="2200" spc="-25" b="1">
                          <a:solidFill>
                            <a:srgbClr val="CC3399"/>
                          </a:solidFill>
                          <a:latin typeface="宋体"/>
                          <a:cs typeface="宋体"/>
                        </a:rPr>
                        <a:t>ad1</a:t>
                      </a:r>
                      <a:endParaRPr sz="2200">
                        <a:latin typeface="宋体"/>
                        <a:cs typeface="宋体"/>
                      </a:endParaRPr>
                    </a:p>
                  </a:txBody>
                  <a:tcPr marL="0" marR="0" marB="0" marT="1727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42545">
                        <a:lnSpc>
                          <a:spcPct val="100000"/>
                        </a:lnSpc>
                        <a:spcBef>
                          <a:spcPts val="1160"/>
                        </a:spcBef>
                      </a:pPr>
                      <a:r>
                        <a:rPr dirty="0" sz="2400" spc="-50">
                          <a:solidFill>
                            <a:srgbClr val="40458B"/>
                          </a:solidFill>
                          <a:latin typeface="宋体"/>
                          <a:cs typeface="宋体"/>
                        </a:rPr>
                        <a:t>…</a:t>
                      </a:r>
                      <a:endParaRPr sz="2400">
                        <a:latin typeface="宋体"/>
                        <a:cs typeface="宋体"/>
                      </a:endParaRPr>
                    </a:p>
                  </a:txBody>
                  <a:tcPr marL="0" marR="0" marB="0" marT="1473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2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2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2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bl>
          </a:graphicData>
        </a:graphic>
      </p:graphicFrame>
      <p:sp>
        <p:nvSpPr>
          <p:cNvPr id="12" name="object 12" descr=""/>
          <p:cNvSpPr txBox="1"/>
          <p:nvPr/>
        </p:nvSpPr>
        <p:spPr>
          <a:xfrm>
            <a:off x="3003295" y="5201158"/>
            <a:ext cx="5845810" cy="748030"/>
          </a:xfrm>
          <a:prstGeom prst="rect">
            <a:avLst/>
          </a:prstGeom>
        </p:spPr>
        <p:txBody>
          <a:bodyPr wrap="square" lIns="0" tIns="31750" rIns="0" bIns="0" rtlCol="0" vert="horz">
            <a:spAutoFit/>
          </a:bodyPr>
          <a:lstStyle/>
          <a:p>
            <a:pPr marL="12700" marR="5080">
              <a:lnSpc>
                <a:spcPts val="2810"/>
              </a:lnSpc>
              <a:spcBef>
                <a:spcPts val="250"/>
              </a:spcBef>
            </a:pPr>
            <a:r>
              <a:rPr dirty="0" sz="2400" spc="-25" b="1">
                <a:solidFill>
                  <a:srgbClr val="006FC0"/>
                </a:solidFill>
                <a:latin typeface="黑体"/>
                <a:cs typeface="黑体"/>
              </a:rPr>
              <a:t>寄存器可以提供这个寄存器中的数是立即数</a:t>
            </a:r>
            <a:r>
              <a:rPr dirty="0" sz="2400" spc="-30" b="1">
                <a:solidFill>
                  <a:srgbClr val="006FC0"/>
                </a:solidFill>
                <a:latin typeface="黑体"/>
                <a:cs typeface="黑体"/>
              </a:rPr>
              <a:t>还是在等待其他指令的信息</a:t>
            </a:r>
            <a:endParaRPr sz="2400">
              <a:latin typeface="黑体"/>
              <a:cs typeface="黑体"/>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91/175</a:t>
            </a:r>
            <a:endParaRPr sz="1600">
              <a:latin typeface="宋体"/>
              <a:cs typeface="宋体"/>
            </a:endParaRPr>
          </a:p>
        </p:txBody>
      </p:sp>
      <p:grpSp>
        <p:nvGrpSpPr>
          <p:cNvPr id="3" name="object 3" descr=""/>
          <p:cNvGrpSpPr/>
          <p:nvPr/>
        </p:nvGrpSpPr>
        <p:grpSpPr>
          <a:xfrm>
            <a:off x="68262" y="311150"/>
            <a:ext cx="1076325" cy="274955"/>
            <a:chOff x="68262" y="311150"/>
            <a:chExt cx="1076325" cy="274955"/>
          </a:xfrm>
        </p:grpSpPr>
        <p:sp>
          <p:nvSpPr>
            <p:cNvPr id="4" name="object 4"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5" name="object 5"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6" name="object 6"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grpSp>
        <p:nvGrpSpPr>
          <p:cNvPr id="7" name="object 7" descr=""/>
          <p:cNvGrpSpPr/>
          <p:nvPr/>
        </p:nvGrpSpPr>
        <p:grpSpPr>
          <a:xfrm>
            <a:off x="990600" y="347662"/>
            <a:ext cx="11201400" cy="840105"/>
            <a:chOff x="990600" y="347662"/>
            <a:chExt cx="11201400" cy="840105"/>
          </a:xfrm>
        </p:grpSpPr>
        <p:sp>
          <p:nvSpPr>
            <p:cNvPr id="8" name="object 8"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pic>
          <p:nvPicPr>
            <p:cNvPr id="9" name="object 9" descr=""/>
            <p:cNvPicPr/>
            <p:nvPr/>
          </p:nvPicPr>
          <p:blipFill>
            <a:blip r:embed="rId2" cstate="print"/>
            <a:stretch>
              <a:fillRect/>
            </a:stretch>
          </p:blipFill>
          <p:spPr>
            <a:xfrm>
              <a:off x="7053198" y="347662"/>
              <a:ext cx="3506724" cy="839787"/>
            </a:xfrm>
            <a:prstGeom prst="rect">
              <a:avLst/>
            </a:prstGeom>
          </p:spPr>
        </p:pic>
      </p:grpSp>
      <p:sp>
        <p:nvSpPr>
          <p:cNvPr id="10" name="object 10"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11" name="object 11"/>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2" name="object 12" descr=""/>
          <p:cNvSpPr txBox="1"/>
          <p:nvPr/>
        </p:nvSpPr>
        <p:spPr>
          <a:xfrm>
            <a:off x="1602994" y="1435100"/>
            <a:ext cx="3927475" cy="391160"/>
          </a:xfrm>
          <a:prstGeom prst="rect">
            <a:avLst/>
          </a:prstGeom>
        </p:spPr>
        <p:txBody>
          <a:bodyPr wrap="square" lIns="0" tIns="12700" rIns="0" bIns="0" rtlCol="0" vert="horz">
            <a:spAutoFit/>
          </a:bodyPr>
          <a:lstStyle/>
          <a:p>
            <a:pPr marL="12700">
              <a:lnSpc>
                <a:spcPct val="100000"/>
              </a:lnSpc>
              <a:spcBef>
                <a:spcPts val="100"/>
              </a:spcBef>
            </a:pPr>
            <a:r>
              <a:rPr dirty="0" sz="2400" spc="-75">
                <a:latin typeface="黑体"/>
                <a:cs typeface="黑体"/>
              </a:rPr>
              <a:t>第二个周期 </a:t>
            </a:r>
            <a:r>
              <a:rPr dirty="0" sz="2400" spc="-5">
                <a:solidFill>
                  <a:srgbClr val="40458B"/>
                </a:solidFill>
                <a:latin typeface="黑体"/>
                <a:cs typeface="黑体"/>
              </a:rPr>
              <a:t>：指令状态，</a:t>
            </a:r>
            <a:r>
              <a:rPr dirty="0" sz="2400" spc="-20">
                <a:solidFill>
                  <a:srgbClr val="006FC0"/>
                </a:solidFill>
                <a:latin typeface="Tahoma"/>
                <a:cs typeface="Tahoma"/>
              </a:rPr>
              <a:t>L.D</a:t>
            </a:r>
            <a:endParaRPr sz="2400">
              <a:latin typeface="Tahoma"/>
              <a:cs typeface="Tahoma"/>
            </a:endParaRPr>
          </a:p>
        </p:txBody>
      </p:sp>
      <p:sp>
        <p:nvSpPr>
          <p:cNvPr id="13" name="object 13" descr=""/>
          <p:cNvSpPr txBox="1"/>
          <p:nvPr/>
        </p:nvSpPr>
        <p:spPr>
          <a:xfrm>
            <a:off x="6175628" y="1435100"/>
            <a:ext cx="4456430"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006FC0"/>
                </a:solidFill>
                <a:latin typeface="Tahoma"/>
                <a:cs typeface="Tahoma"/>
              </a:rPr>
              <a:t>F2,45</a:t>
            </a:r>
            <a:r>
              <a:rPr dirty="0" sz="2400" spc="-20">
                <a:solidFill>
                  <a:srgbClr val="006FC0"/>
                </a:solidFill>
                <a:latin typeface="黑体"/>
                <a:cs typeface="黑体"/>
              </a:rPr>
              <a:t>（</a:t>
            </a:r>
            <a:r>
              <a:rPr dirty="0" sz="2400" spc="-20">
                <a:solidFill>
                  <a:srgbClr val="006FC0"/>
                </a:solidFill>
                <a:latin typeface="Tahoma"/>
                <a:cs typeface="Tahoma"/>
              </a:rPr>
              <a:t>R3</a:t>
            </a:r>
            <a:r>
              <a:rPr dirty="0" sz="2400" spc="-20">
                <a:solidFill>
                  <a:srgbClr val="006FC0"/>
                </a:solidFill>
                <a:latin typeface="黑体"/>
                <a:cs typeface="黑体"/>
              </a:rPr>
              <a:t>）</a:t>
            </a:r>
            <a:r>
              <a:rPr dirty="0" sz="2400">
                <a:solidFill>
                  <a:srgbClr val="006FC0"/>
                </a:solidFill>
                <a:latin typeface="黑体"/>
                <a:cs typeface="黑体"/>
              </a:rPr>
              <a:t>流出</a:t>
            </a:r>
            <a:r>
              <a:rPr dirty="0" sz="2400" spc="-20">
                <a:solidFill>
                  <a:srgbClr val="006FC0"/>
                </a:solidFill>
                <a:latin typeface="Tahoma"/>
                <a:cs typeface="Tahoma"/>
              </a:rPr>
              <a:t>+</a:t>
            </a:r>
            <a:r>
              <a:rPr dirty="0" sz="2400">
                <a:solidFill>
                  <a:srgbClr val="006FC0"/>
                </a:solidFill>
                <a:latin typeface="黑体"/>
                <a:cs typeface="黑体"/>
              </a:rPr>
              <a:t>第一个</a:t>
            </a:r>
            <a:r>
              <a:rPr dirty="0" sz="2400" spc="-20">
                <a:solidFill>
                  <a:srgbClr val="006FC0"/>
                </a:solidFill>
                <a:latin typeface="Tahoma"/>
                <a:cs typeface="Tahoma"/>
              </a:rPr>
              <a:t>LD</a:t>
            </a:r>
            <a:r>
              <a:rPr dirty="0" sz="2400" spc="-25">
                <a:solidFill>
                  <a:srgbClr val="006FC0"/>
                </a:solidFill>
                <a:latin typeface="黑体"/>
                <a:cs typeface="黑体"/>
              </a:rPr>
              <a:t>执行</a:t>
            </a:r>
            <a:endParaRPr sz="2400">
              <a:latin typeface="黑体"/>
              <a:cs typeface="黑体"/>
            </a:endParaRPr>
          </a:p>
        </p:txBody>
      </p:sp>
      <p:graphicFrame>
        <p:nvGraphicFramePr>
          <p:cNvPr id="14" name="object 14" descr=""/>
          <p:cNvGraphicFramePr>
            <a:graphicFrameLocks noGrp="1"/>
          </p:cNvGraphicFramePr>
          <p:nvPr/>
        </p:nvGraphicFramePr>
        <p:xfrm>
          <a:off x="2362009" y="2152650"/>
          <a:ext cx="7458709" cy="4189095"/>
        </p:xfrm>
        <a:graphic>
          <a:graphicData uri="http://schemas.openxmlformats.org/drawingml/2006/table">
            <a:tbl>
              <a:tblPr firstRow="1" bandRow="1">
                <a:tableStyleId>{2D5ABB26-0587-4C30-8999-92F81FD0307C}</a:tableStyleId>
              </a:tblPr>
              <a:tblGrid>
                <a:gridCol w="1426845"/>
                <a:gridCol w="2169795"/>
                <a:gridCol w="1158875"/>
                <a:gridCol w="1109344"/>
                <a:gridCol w="1505584"/>
              </a:tblGrid>
              <a:tr h="594995">
                <a:tc rowSpan="2">
                  <a:txBody>
                    <a:bodyPr/>
                    <a:lstStyle/>
                    <a:p>
                      <a:pPr marL="725805">
                        <a:lnSpc>
                          <a:spcPct val="100000"/>
                        </a:lnSpc>
                        <a:spcBef>
                          <a:spcPts val="2440"/>
                        </a:spcBef>
                      </a:pPr>
                      <a:r>
                        <a:rPr dirty="0" sz="2400" spc="-50" b="1">
                          <a:solidFill>
                            <a:srgbClr val="E14B04"/>
                          </a:solidFill>
                          <a:latin typeface="宋体"/>
                          <a:cs typeface="宋体"/>
                        </a:rPr>
                        <a:t>指</a:t>
                      </a:r>
                      <a:endParaRPr sz="2400">
                        <a:latin typeface="宋体"/>
                        <a:cs typeface="宋体"/>
                      </a:endParaRPr>
                    </a:p>
                  </a:txBody>
                  <a:tcPr marL="0" marR="0" marB="0" marT="30988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rowSpan="2">
                  <a:txBody>
                    <a:bodyPr/>
                    <a:lstStyle/>
                    <a:p>
                      <a:pPr marL="528955">
                        <a:lnSpc>
                          <a:spcPct val="100000"/>
                        </a:lnSpc>
                        <a:spcBef>
                          <a:spcPts val="2440"/>
                        </a:spcBef>
                      </a:pPr>
                      <a:r>
                        <a:rPr dirty="0" sz="2400" spc="-50" b="1">
                          <a:solidFill>
                            <a:srgbClr val="E14B04"/>
                          </a:solidFill>
                          <a:latin typeface="宋体"/>
                          <a:cs typeface="宋体"/>
                        </a:rPr>
                        <a:t>令</a:t>
                      </a:r>
                      <a:endParaRPr sz="2400">
                        <a:latin typeface="宋体"/>
                        <a:cs typeface="宋体"/>
                      </a:endParaRPr>
                    </a:p>
                  </a:txBody>
                  <a:tcPr marL="0" marR="0" marB="0" marT="30988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gridSpan="3">
                  <a:txBody>
                    <a:bodyPr/>
                    <a:lstStyle/>
                    <a:p>
                      <a:pPr marL="1249680">
                        <a:lnSpc>
                          <a:spcPct val="100000"/>
                        </a:lnSpc>
                        <a:spcBef>
                          <a:spcPts val="1240"/>
                        </a:spcBef>
                      </a:pPr>
                      <a:r>
                        <a:rPr dirty="0" sz="1800" spc="-20" b="1">
                          <a:solidFill>
                            <a:srgbClr val="E14B04"/>
                          </a:solidFill>
                          <a:latin typeface="宋体"/>
                          <a:cs typeface="宋体"/>
                        </a:rPr>
                        <a:t>指令状态表</a:t>
                      </a:r>
                      <a:endParaRPr sz="1800">
                        <a:latin typeface="宋体"/>
                        <a:cs typeface="宋体"/>
                      </a:endParaRPr>
                    </a:p>
                  </a:txBody>
                  <a:tcPr marL="0" marR="0" marB="0" marT="1574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hMerge="1">
                  <a:txBody>
                    <a:bodyPr/>
                    <a:lstStyle/>
                    <a:p>
                      <a:pPr/>
                    </a:p>
                  </a:txBody>
                  <a:tcPr marL="0" marR="0" marB="0" marT="0"/>
                </a:tc>
              </a:tr>
              <a:tr h="394970">
                <a:tc vMerge="1">
                  <a:txBody>
                    <a:bodyPr/>
                    <a:lstStyle/>
                    <a:p>
                      <a:pPr/>
                    </a:p>
                  </a:txBody>
                  <a:tcPr marL="0" marR="0" marB="0" marT="30988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vMerge="1">
                  <a:txBody>
                    <a:bodyPr/>
                    <a:lstStyle/>
                    <a:p>
                      <a:pPr/>
                    </a:p>
                  </a:txBody>
                  <a:tcPr marL="0" marR="0" marB="0" marT="30988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20345">
                        <a:lnSpc>
                          <a:spcPts val="2825"/>
                        </a:lnSpc>
                        <a:spcBef>
                          <a:spcPts val="190"/>
                        </a:spcBef>
                      </a:pPr>
                      <a:r>
                        <a:rPr dirty="0" sz="2400" spc="-40" b="1">
                          <a:solidFill>
                            <a:srgbClr val="E14B04"/>
                          </a:solidFill>
                          <a:latin typeface="宋体"/>
                          <a:cs typeface="宋体"/>
                        </a:rPr>
                        <a:t>流出</a:t>
                      </a:r>
                      <a:endParaRPr sz="2400">
                        <a:latin typeface="宋体"/>
                        <a:cs typeface="宋体"/>
                      </a:endParaRPr>
                    </a:p>
                  </a:txBody>
                  <a:tcPr marL="0" marR="0" marB="0" marT="241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31445">
                        <a:lnSpc>
                          <a:spcPts val="2825"/>
                        </a:lnSpc>
                        <a:spcBef>
                          <a:spcPts val="190"/>
                        </a:spcBef>
                      </a:pPr>
                      <a:r>
                        <a:rPr dirty="0" sz="2400" spc="-40" b="1">
                          <a:solidFill>
                            <a:srgbClr val="E14B04"/>
                          </a:solidFill>
                          <a:latin typeface="宋体"/>
                          <a:cs typeface="宋体"/>
                        </a:rPr>
                        <a:t>执行</a:t>
                      </a:r>
                      <a:endParaRPr sz="2400">
                        <a:latin typeface="宋体"/>
                        <a:cs typeface="宋体"/>
                      </a:endParaRPr>
                    </a:p>
                  </a:txBody>
                  <a:tcPr marL="0" marR="0" marB="0" marT="241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91440">
                        <a:lnSpc>
                          <a:spcPts val="2825"/>
                        </a:lnSpc>
                        <a:spcBef>
                          <a:spcPts val="190"/>
                        </a:spcBef>
                      </a:pPr>
                      <a:r>
                        <a:rPr dirty="0" sz="2400" spc="-35" b="1">
                          <a:solidFill>
                            <a:srgbClr val="E14B04"/>
                          </a:solidFill>
                          <a:latin typeface="宋体"/>
                          <a:cs typeface="宋体"/>
                        </a:rPr>
                        <a:t>写结果</a:t>
                      </a:r>
                      <a:endParaRPr sz="2400">
                        <a:latin typeface="宋体"/>
                        <a:cs typeface="宋体"/>
                      </a:endParaRPr>
                    </a:p>
                  </a:txBody>
                  <a:tcPr marL="0" marR="0" marB="0" marT="241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52450">
                <a:tc gridSpan="2">
                  <a:txBody>
                    <a:bodyPr/>
                    <a:lstStyle/>
                    <a:p>
                      <a:pPr marL="237490">
                        <a:lnSpc>
                          <a:spcPct val="100000"/>
                        </a:lnSpc>
                        <a:spcBef>
                          <a:spcPts val="1155"/>
                        </a:spcBef>
                        <a:tabLst>
                          <a:tab pos="1761489" algn="l"/>
                        </a:tabLst>
                      </a:pPr>
                      <a:r>
                        <a:rPr dirty="0" sz="2400" spc="-25" b="1">
                          <a:solidFill>
                            <a:srgbClr val="40458B"/>
                          </a:solidFill>
                          <a:latin typeface="Times New Roman"/>
                          <a:cs typeface="Times New Roman"/>
                        </a:rPr>
                        <a:t>L.D</a:t>
                      </a:r>
                      <a:r>
                        <a:rPr dirty="0" sz="2400" b="1">
                          <a:solidFill>
                            <a:srgbClr val="40458B"/>
                          </a:solidFill>
                          <a:latin typeface="Times New Roman"/>
                          <a:cs typeface="Times New Roman"/>
                        </a:rPr>
                        <a:t>	F6 , </a:t>
                      </a:r>
                      <a:r>
                        <a:rPr dirty="0" sz="2400" spc="-10" b="1">
                          <a:solidFill>
                            <a:srgbClr val="40458B"/>
                          </a:solidFill>
                          <a:latin typeface="Times New Roman"/>
                          <a:cs typeface="Times New Roman"/>
                        </a:rPr>
                        <a:t>34(R2)</a:t>
                      </a:r>
                      <a:endParaRPr sz="2400">
                        <a:latin typeface="Times New Roman"/>
                        <a:cs typeface="Times New Roman"/>
                      </a:endParaRPr>
                    </a:p>
                  </a:txBody>
                  <a:tcPr marL="0" marR="0" marB="0" marT="1466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a:txBody>
                    <a:bodyPr/>
                    <a:lstStyle/>
                    <a:p>
                      <a:pPr marL="149225">
                        <a:lnSpc>
                          <a:spcPct val="100000"/>
                        </a:lnSpc>
                        <a:spcBef>
                          <a:spcPts val="70"/>
                        </a:spcBef>
                        <a:tabLst>
                          <a:tab pos="479425" algn="l"/>
                        </a:tabLst>
                      </a:pPr>
                      <a:r>
                        <a:rPr dirty="0" baseline="-16203" sz="3600" spc="-75" b="1">
                          <a:solidFill>
                            <a:srgbClr val="FF0000"/>
                          </a:solidFill>
                          <a:latin typeface="Times New Roman"/>
                          <a:cs typeface="Times New Roman"/>
                        </a:rPr>
                        <a:t>1</a:t>
                      </a:r>
                      <a:r>
                        <a:rPr dirty="0" baseline="-16203" sz="3600" b="1">
                          <a:solidFill>
                            <a:srgbClr val="FF0000"/>
                          </a:solidFill>
                          <a:latin typeface="Times New Roman"/>
                          <a:cs typeface="Times New Roman"/>
                        </a:rPr>
                        <a:t>	</a:t>
                      </a:r>
                      <a:r>
                        <a:rPr dirty="0" sz="2400" spc="-50" b="1">
                          <a:solidFill>
                            <a:srgbClr val="40458B"/>
                          </a:solidFill>
                          <a:latin typeface="Times New Roman"/>
                          <a:cs typeface="Times New Roman"/>
                        </a:rPr>
                        <a:t>√</a:t>
                      </a:r>
                      <a:endParaRPr sz="2400">
                        <a:latin typeface="Times New Roman"/>
                        <a:cs typeface="Times New Roman"/>
                      </a:endParaRPr>
                    </a:p>
                  </a:txBody>
                  <a:tcPr marL="0" marR="0" marB="0" marT="88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09220">
                        <a:lnSpc>
                          <a:spcPct val="100000"/>
                        </a:lnSpc>
                        <a:spcBef>
                          <a:spcPts val="280"/>
                        </a:spcBef>
                      </a:pPr>
                      <a:r>
                        <a:rPr dirty="0" sz="2400" b="1">
                          <a:solidFill>
                            <a:srgbClr val="FF0000"/>
                          </a:solidFill>
                          <a:latin typeface="Times New Roman"/>
                          <a:cs typeface="Times New Roman"/>
                        </a:rPr>
                        <a:t>2</a:t>
                      </a:r>
                      <a:r>
                        <a:rPr dirty="0" sz="2400" spc="135" b="1">
                          <a:solidFill>
                            <a:srgbClr val="FF0000"/>
                          </a:solidFill>
                          <a:latin typeface="Times New Roman"/>
                          <a:cs typeface="Times New Roman"/>
                        </a:rPr>
                        <a:t> </a:t>
                      </a:r>
                      <a:r>
                        <a:rPr dirty="0" baseline="-2314" sz="3600" spc="-75" b="1">
                          <a:solidFill>
                            <a:srgbClr val="40458B"/>
                          </a:solidFill>
                          <a:latin typeface="Times New Roman"/>
                          <a:cs typeface="Times New Roman"/>
                        </a:rPr>
                        <a:t>√</a:t>
                      </a:r>
                      <a:endParaRPr baseline="-2314" sz="3600">
                        <a:latin typeface="Times New Roman"/>
                        <a:cs typeface="Times New Roman"/>
                      </a:endParaRPr>
                    </a:p>
                  </a:txBody>
                  <a:tcPr marL="0" marR="0" marB="0" marT="355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gridSpan="2">
                  <a:txBody>
                    <a:bodyPr/>
                    <a:lstStyle/>
                    <a:p>
                      <a:pPr marL="237490">
                        <a:lnSpc>
                          <a:spcPct val="100000"/>
                        </a:lnSpc>
                        <a:spcBef>
                          <a:spcPts val="840"/>
                        </a:spcBef>
                        <a:tabLst>
                          <a:tab pos="1761489" algn="l"/>
                        </a:tabLst>
                      </a:pPr>
                      <a:r>
                        <a:rPr dirty="0" sz="2400" spc="-25" b="1">
                          <a:solidFill>
                            <a:srgbClr val="40458B"/>
                          </a:solidFill>
                          <a:latin typeface="Times New Roman"/>
                          <a:cs typeface="Times New Roman"/>
                        </a:rPr>
                        <a:t>L.D</a:t>
                      </a:r>
                      <a:r>
                        <a:rPr dirty="0" sz="2400" b="1">
                          <a:solidFill>
                            <a:srgbClr val="40458B"/>
                          </a:solidFill>
                          <a:latin typeface="Times New Roman"/>
                          <a:cs typeface="Times New Roman"/>
                        </a:rPr>
                        <a:t>	F2 , </a:t>
                      </a:r>
                      <a:r>
                        <a:rPr dirty="0" sz="2400" spc="-10" b="1">
                          <a:solidFill>
                            <a:srgbClr val="40458B"/>
                          </a:solidFill>
                          <a:latin typeface="Times New Roman"/>
                          <a:cs typeface="Times New Roman"/>
                        </a:rPr>
                        <a:t>45(R3)</a:t>
                      </a:r>
                      <a:endParaRPr sz="2400">
                        <a:latin typeface="Times New Roman"/>
                        <a:cs typeface="Times New Roman"/>
                      </a:endParaRPr>
                    </a:p>
                  </a:txBody>
                  <a:tcPr marL="0" marR="0" marB="0" marT="1066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a:txBody>
                    <a:bodyPr/>
                    <a:lstStyle/>
                    <a:p>
                      <a:pPr marL="93345">
                        <a:lnSpc>
                          <a:spcPts val="2660"/>
                        </a:lnSpc>
                        <a:tabLst>
                          <a:tab pos="496570" algn="l"/>
                        </a:tabLst>
                      </a:pPr>
                      <a:r>
                        <a:rPr dirty="0" baseline="-10416" sz="3600" spc="-75" b="1">
                          <a:solidFill>
                            <a:srgbClr val="FF0000"/>
                          </a:solidFill>
                          <a:latin typeface="Times New Roman"/>
                          <a:cs typeface="Times New Roman"/>
                        </a:rPr>
                        <a:t>2</a:t>
                      </a:r>
                      <a:r>
                        <a:rPr dirty="0" baseline="-10416" sz="3600" b="1">
                          <a:solidFill>
                            <a:srgbClr val="FF0000"/>
                          </a:solidFill>
                          <a:latin typeface="Times New Roman"/>
                          <a:cs typeface="Times New Roman"/>
                        </a:rPr>
                        <a:t>	</a:t>
                      </a:r>
                      <a:r>
                        <a:rPr dirty="0" sz="2400" spc="-50" b="1">
                          <a:solidFill>
                            <a:srgbClr val="40458B"/>
                          </a:solidFill>
                          <a:latin typeface="Times New Roman"/>
                          <a:cs typeface="Times New Roman"/>
                        </a:rPr>
                        <a:t>√</a:t>
                      </a: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a:txBody>
                    <a:bodyPr/>
                    <a:lstStyle/>
                    <a:p>
                      <a:pPr marL="85090">
                        <a:lnSpc>
                          <a:spcPct val="100000"/>
                        </a:lnSpc>
                        <a:spcBef>
                          <a:spcPts val="560"/>
                        </a:spcBef>
                      </a:pPr>
                      <a:r>
                        <a:rPr dirty="0" sz="2400" spc="-10" b="1">
                          <a:solidFill>
                            <a:srgbClr val="40458B"/>
                          </a:solidFill>
                          <a:latin typeface="Times New Roman"/>
                          <a:cs typeface="Times New Roman"/>
                        </a:rPr>
                        <a:t>MUL.D</a:t>
                      </a:r>
                      <a:endParaRPr sz="2400">
                        <a:latin typeface="Times New Roman"/>
                        <a:cs typeface="Times New Roman"/>
                      </a:endParaRPr>
                    </a:p>
                  </a:txBody>
                  <a:tcPr marL="0" marR="0" marB="0" marT="7112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560"/>
                        </a:spcBef>
                      </a:pPr>
                      <a:r>
                        <a:rPr dirty="0" sz="2400" b="1">
                          <a:solidFill>
                            <a:srgbClr val="40458B"/>
                          </a:solidFill>
                          <a:latin typeface="Times New Roman"/>
                          <a:cs typeface="Times New Roman"/>
                        </a:rPr>
                        <a:t>F0</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F2 , </a:t>
                      </a:r>
                      <a:r>
                        <a:rPr dirty="0" sz="2400" spc="-25" b="1">
                          <a:solidFill>
                            <a:srgbClr val="40458B"/>
                          </a:solidFill>
                          <a:latin typeface="Times New Roman"/>
                          <a:cs typeface="Times New Roman"/>
                        </a:rPr>
                        <a:t>F4</a:t>
                      </a:r>
                      <a:endParaRPr sz="2400">
                        <a:latin typeface="Times New Roman"/>
                        <a:cs typeface="Times New Roman"/>
                      </a:endParaRPr>
                    </a:p>
                  </a:txBody>
                  <a:tcPr marL="0" marR="0" marB="0" marT="7112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490220">
                <a:tc>
                  <a:txBody>
                    <a:bodyPr/>
                    <a:lstStyle/>
                    <a:p>
                      <a:pPr marL="85090">
                        <a:lnSpc>
                          <a:spcPct val="100000"/>
                        </a:lnSpc>
                        <a:spcBef>
                          <a:spcPts val="280"/>
                        </a:spcBef>
                      </a:pPr>
                      <a:r>
                        <a:rPr dirty="0" sz="2400" spc="-10" b="1">
                          <a:solidFill>
                            <a:srgbClr val="40458B"/>
                          </a:solidFill>
                          <a:latin typeface="Times New Roman"/>
                          <a:cs typeface="Times New Roman"/>
                        </a:rPr>
                        <a:t>SUB.D</a:t>
                      </a:r>
                      <a:endParaRPr sz="2400">
                        <a:latin typeface="Times New Roman"/>
                        <a:cs typeface="Times New Roman"/>
                      </a:endParaRPr>
                    </a:p>
                  </a:txBody>
                  <a:tcPr marL="0" marR="0" marB="0" marT="3556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280"/>
                        </a:spcBef>
                      </a:pPr>
                      <a:r>
                        <a:rPr dirty="0" sz="2400" b="1">
                          <a:solidFill>
                            <a:srgbClr val="40458B"/>
                          </a:solidFill>
                          <a:latin typeface="Times New Roman"/>
                          <a:cs typeface="Times New Roman"/>
                        </a:rPr>
                        <a:t>F8</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F6 , </a:t>
                      </a:r>
                      <a:r>
                        <a:rPr dirty="0" sz="2400" spc="-25" b="1">
                          <a:solidFill>
                            <a:srgbClr val="40458B"/>
                          </a:solidFill>
                          <a:latin typeface="Times New Roman"/>
                          <a:cs typeface="Times New Roman"/>
                        </a:rPr>
                        <a:t>F2</a:t>
                      </a:r>
                      <a:endParaRPr sz="2400">
                        <a:latin typeface="Times New Roman"/>
                        <a:cs typeface="Times New Roman"/>
                      </a:endParaRPr>
                    </a:p>
                  </a:txBody>
                  <a:tcPr marL="0" marR="0" marB="0" marT="3556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a:txBody>
                    <a:bodyPr/>
                    <a:lstStyle/>
                    <a:p>
                      <a:pPr marL="85090">
                        <a:lnSpc>
                          <a:spcPct val="100000"/>
                        </a:lnSpc>
                        <a:spcBef>
                          <a:spcPts val="450"/>
                        </a:spcBef>
                      </a:pPr>
                      <a:r>
                        <a:rPr dirty="0" sz="2400" spc="-10" b="1">
                          <a:solidFill>
                            <a:srgbClr val="40458B"/>
                          </a:solidFill>
                          <a:latin typeface="Times New Roman"/>
                          <a:cs typeface="Times New Roman"/>
                        </a:rPr>
                        <a:t>DIV.D</a:t>
                      </a:r>
                      <a:endParaRPr sz="2400">
                        <a:latin typeface="Times New Roman"/>
                        <a:cs typeface="Times New Roman"/>
                      </a:endParaRPr>
                    </a:p>
                  </a:txBody>
                  <a:tcPr marL="0" marR="0" marB="0" marT="5715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450"/>
                        </a:spcBef>
                      </a:pPr>
                      <a:r>
                        <a:rPr dirty="0" sz="2400" b="1">
                          <a:solidFill>
                            <a:srgbClr val="40458B"/>
                          </a:solidFill>
                          <a:latin typeface="Times New Roman"/>
                          <a:cs typeface="Times New Roman"/>
                        </a:rPr>
                        <a:t>F10</a:t>
                      </a:r>
                      <a:r>
                        <a:rPr dirty="0" sz="2400" spc="-10" b="1">
                          <a:solidFill>
                            <a:srgbClr val="40458B"/>
                          </a:solidFill>
                          <a:latin typeface="Times New Roman"/>
                          <a:cs typeface="Times New Roman"/>
                        </a:rPr>
                        <a:t> </a:t>
                      </a:r>
                      <a:r>
                        <a:rPr dirty="0" sz="2400" b="1">
                          <a:solidFill>
                            <a:srgbClr val="40458B"/>
                          </a:solidFill>
                          <a:latin typeface="Times New Roman"/>
                          <a:cs typeface="Times New Roman"/>
                        </a:rPr>
                        <a:t>,</a:t>
                      </a:r>
                      <a:r>
                        <a:rPr dirty="0" sz="2400" spc="-10" b="1">
                          <a:solidFill>
                            <a:srgbClr val="40458B"/>
                          </a:solidFill>
                          <a:latin typeface="Times New Roman"/>
                          <a:cs typeface="Times New Roman"/>
                        </a:rPr>
                        <a:t> </a:t>
                      </a:r>
                      <a:r>
                        <a:rPr dirty="0" sz="2400" b="1">
                          <a:solidFill>
                            <a:srgbClr val="40458B"/>
                          </a:solidFill>
                          <a:latin typeface="Times New Roman"/>
                          <a:cs typeface="Times New Roman"/>
                        </a:rPr>
                        <a:t>F0</a:t>
                      </a:r>
                      <a:r>
                        <a:rPr dirty="0" sz="2400" spc="-10" b="1">
                          <a:solidFill>
                            <a:srgbClr val="40458B"/>
                          </a:solidFill>
                          <a:latin typeface="Times New Roman"/>
                          <a:cs typeface="Times New Roman"/>
                        </a:rPr>
                        <a:t> </a:t>
                      </a:r>
                      <a:r>
                        <a:rPr dirty="0" sz="2400" b="1">
                          <a:solidFill>
                            <a:srgbClr val="40458B"/>
                          </a:solidFill>
                          <a:latin typeface="Times New Roman"/>
                          <a:cs typeface="Times New Roman"/>
                        </a:rPr>
                        <a:t>,</a:t>
                      </a:r>
                      <a:r>
                        <a:rPr dirty="0" sz="2400" spc="-5" b="1">
                          <a:solidFill>
                            <a:srgbClr val="40458B"/>
                          </a:solidFill>
                          <a:latin typeface="Times New Roman"/>
                          <a:cs typeface="Times New Roman"/>
                        </a:rPr>
                        <a:t> </a:t>
                      </a:r>
                      <a:r>
                        <a:rPr dirty="0" sz="2400" spc="-25" b="1">
                          <a:solidFill>
                            <a:srgbClr val="40458B"/>
                          </a:solidFill>
                          <a:latin typeface="Times New Roman"/>
                          <a:cs typeface="Times New Roman"/>
                        </a:rPr>
                        <a:t>F6</a:t>
                      </a:r>
                      <a:endParaRPr sz="2400">
                        <a:latin typeface="Times New Roman"/>
                        <a:cs typeface="Times New Roman"/>
                      </a:endParaRPr>
                    </a:p>
                  </a:txBody>
                  <a:tcPr marL="0" marR="0" marB="0" marT="5715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14350">
                <a:tc>
                  <a:txBody>
                    <a:bodyPr/>
                    <a:lstStyle/>
                    <a:p>
                      <a:pPr marL="68580">
                        <a:lnSpc>
                          <a:spcPct val="100000"/>
                        </a:lnSpc>
                        <a:spcBef>
                          <a:spcPts val="170"/>
                        </a:spcBef>
                      </a:pPr>
                      <a:r>
                        <a:rPr dirty="0" sz="2400" spc="-10" b="1">
                          <a:solidFill>
                            <a:srgbClr val="40458B"/>
                          </a:solidFill>
                          <a:latin typeface="Times New Roman"/>
                          <a:cs typeface="Times New Roman"/>
                        </a:rPr>
                        <a:t>ADD.D</a:t>
                      </a:r>
                      <a:endParaRPr sz="2400">
                        <a:latin typeface="Times New Roman"/>
                        <a:cs typeface="Times New Roman"/>
                      </a:endParaRPr>
                    </a:p>
                  </a:txBody>
                  <a:tcPr marL="0" marR="0" marB="0" marT="2159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170"/>
                        </a:spcBef>
                      </a:pPr>
                      <a:r>
                        <a:rPr dirty="0" sz="2400" b="1">
                          <a:solidFill>
                            <a:srgbClr val="40458B"/>
                          </a:solidFill>
                          <a:latin typeface="Times New Roman"/>
                          <a:cs typeface="Times New Roman"/>
                        </a:rPr>
                        <a:t>F6</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F8 , </a:t>
                      </a:r>
                      <a:r>
                        <a:rPr dirty="0" sz="2400" spc="-25" b="1">
                          <a:solidFill>
                            <a:srgbClr val="40458B"/>
                          </a:solidFill>
                          <a:latin typeface="Times New Roman"/>
                          <a:cs typeface="Times New Roman"/>
                        </a:rPr>
                        <a:t>F2</a:t>
                      </a:r>
                      <a:endParaRPr sz="2400">
                        <a:latin typeface="Times New Roman"/>
                        <a:cs typeface="Times New Roman"/>
                      </a:endParaRPr>
                    </a:p>
                  </a:txBody>
                  <a:tcPr marL="0" marR="0" marB="0" marT="2159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92/175</a:t>
            </a:r>
            <a:endParaRPr sz="1600">
              <a:latin typeface="宋体"/>
              <a:cs typeface="宋体"/>
            </a:endParaRPr>
          </a:p>
        </p:txBody>
      </p:sp>
      <p:grpSp>
        <p:nvGrpSpPr>
          <p:cNvPr id="3" name="object 3" descr=""/>
          <p:cNvGrpSpPr/>
          <p:nvPr/>
        </p:nvGrpSpPr>
        <p:grpSpPr>
          <a:xfrm>
            <a:off x="68262" y="311150"/>
            <a:ext cx="1076325" cy="274955"/>
            <a:chOff x="68262" y="311150"/>
            <a:chExt cx="1076325" cy="274955"/>
          </a:xfrm>
        </p:grpSpPr>
        <p:sp>
          <p:nvSpPr>
            <p:cNvPr id="4" name="object 4"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5" name="object 5"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6" name="object 6"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grpSp>
        <p:nvGrpSpPr>
          <p:cNvPr id="7" name="object 7" descr=""/>
          <p:cNvGrpSpPr/>
          <p:nvPr/>
        </p:nvGrpSpPr>
        <p:grpSpPr>
          <a:xfrm>
            <a:off x="990600" y="188912"/>
            <a:ext cx="11201400" cy="840105"/>
            <a:chOff x="990600" y="188912"/>
            <a:chExt cx="11201400" cy="840105"/>
          </a:xfrm>
        </p:grpSpPr>
        <p:sp>
          <p:nvSpPr>
            <p:cNvPr id="8" name="object 8"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pic>
          <p:nvPicPr>
            <p:cNvPr id="9" name="object 9" descr=""/>
            <p:cNvPicPr/>
            <p:nvPr/>
          </p:nvPicPr>
          <p:blipFill>
            <a:blip r:embed="rId2" cstate="print"/>
            <a:stretch>
              <a:fillRect/>
            </a:stretch>
          </p:blipFill>
          <p:spPr>
            <a:xfrm>
              <a:off x="7542276" y="188912"/>
              <a:ext cx="3506597" cy="839787"/>
            </a:xfrm>
            <a:prstGeom prst="rect">
              <a:avLst/>
            </a:prstGeom>
          </p:spPr>
        </p:pic>
      </p:grpSp>
      <p:sp>
        <p:nvSpPr>
          <p:cNvPr id="10" name="object 10"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11" name="object 11"/>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grpSp>
        <p:nvGrpSpPr>
          <p:cNvPr id="12" name="object 12" descr=""/>
          <p:cNvGrpSpPr/>
          <p:nvPr/>
        </p:nvGrpSpPr>
        <p:grpSpPr>
          <a:xfrm>
            <a:off x="1627187" y="1868487"/>
            <a:ext cx="8848725" cy="3971925"/>
            <a:chOff x="1627187" y="1868487"/>
            <a:chExt cx="8848725" cy="3971925"/>
          </a:xfrm>
        </p:grpSpPr>
        <p:sp>
          <p:nvSpPr>
            <p:cNvPr id="13" name="object 13" descr=""/>
            <p:cNvSpPr/>
            <p:nvPr/>
          </p:nvSpPr>
          <p:spPr>
            <a:xfrm>
              <a:off x="1631950" y="1873250"/>
              <a:ext cx="8839200" cy="3962400"/>
            </a:xfrm>
            <a:custGeom>
              <a:avLst/>
              <a:gdLst/>
              <a:ahLst/>
              <a:cxnLst/>
              <a:rect l="l" t="t" r="r" b="b"/>
              <a:pathLst>
                <a:path w="8839200" h="3962400">
                  <a:moveTo>
                    <a:pt x="8839200" y="0"/>
                  </a:moveTo>
                  <a:lnTo>
                    <a:pt x="0" y="0"/>
                  </a:lnTo>
                  <a:lnTo>
                    <a:pt x="0" y="3962400"/>
                  </a:lnTo>
                  <a:lnTo>
                    <a:pt x="8839200" y="3962400"/>
                  </a:lnTo>
                  <a:lnTo>
                    <a:pt x="8839200" y="0"/>
                  </a:lnTo>
                  <a:close/>
                </a:path>
              </a:pathLst>
            </a:custGeom>
            <a:solidFill>
              <a:srgbClr val="F8FBA1"/>
            </a:solidFill>
          </p:spPr>
          <p:txBody>
            <a:bodyPr wrap="square" lIns="0" tIns="0" rIns="0" bIns="0" rtlCol="0"/>
            <a:lstStyle/>
            <a:p/>
          </p:txBody>
        </p:sp>
        <p:sp>
          <p:nvSpPr>
            <p:cNvPr id="14" name="object 14" descr=""/>
            <p:cNvSpPr/>
            <p:nvPr/>
          </p:nvSpPr>
          <p:spPr>
            <a:xfrm>
              <a:off x="1631950" y="1873250"/>
              <a:ext cx="8839200" cy="3962400"/>
            </a:xfrm>
            <a:custGeom>
              <a:avLst/>
              <a:gdLst/>
              <a:ahLst/>
              <a:cxnLst/>
              <a:rect l="l" t="t" r="r" b="b"/>
              <a:pathLst>
                <a:path w="8839200" h="3962400">
                  <a:moveTo>
                    <a:pt x="0" y="3962400"/>
                  </a:moveTo>
                  <a:lnTo>
                    <a:pt x="8839200" y="3962400"/>
                  </a:lnTo>
                  <a:lnTo>
                    <a:pt x="8839200" y="0"/>
                  </a:lnTo>
                  <a:lnTo>
                    <a:pt x="0" y="0"/>
                  </a:lnTo>
                  <a:lnTo>
                    <a:pt x="0" y="3962400"/>
                  </a:lnTo>
                  <a:close/>
                </a:path>
              </a:pathLst>
            </a:custGeom>
            <a:ln w="9525">
              <a:solidFill>
                <a:srgbClr val="40458B"/>
              </a:solidFill>
            </a:ln>
          </p:spPr>
          <p:txBody>
            <a:bodyPr wrap="square" lIns="0" tIns="0" rIns="0" bIns="0" rtlCol="0"/>
            <a:lstStyle/>
            <a:p/>
          </p:txBody>
        </p:sp>
      </p:grpSp>
      <p:sp>
        <p:nvSpPr>
          <p:cNvPr id="15" name="object 15" descr=""/>
          <p:cNvSpPr txBox="1"/>
          <p:nvPr/>
        </p:nvSpPr>
        <p:spPr>
          <a:xfrm>
            <a:off x="1631950" y="1873250"/>
            <a:ext cx="958850" cy="1043305"/>
          </a:xfrm>
          <a:prstGeom prst="rect">
            <a:avLst/>
          </a:prstGeom>
          <a:solidFill>
            <a:srgbClr val="F8FBA1"/>
          </a:solidFill>
          <a:ln w="9525">
            <a:solidFill>
              <a:srgbClr val="40458B"/>
            </a:solidFill>
          </a:ln>
        </p:spPr>
        <p:txBody>
          <a:bodyPr wrap="square" lIns="0" tIns="106680" rIns="0" bIns="0" rtlCol="0" vert="horz">
            <a:spAutoFit/>
          </a:bodyPr>
          <a:lstStyle/>
          <a:p>
            <a:pPr>
              <a:lnSpc>
                <a:spcPct val="100000"/>
              </a:lnSpc>
              <a:spcBef>
                <a:spcPts val="840"/>
              </a:spcBef>
            </a:pPr>
            <a:endParaRPr sz="2400">
              <a:latin typeface="Times New Roman"/>
              <a:cs typeface="Times New Roman"/>
            </a:endParaRPr>
          </a:p>
          <a:p>
            <a:pPr marL="183515">
              <a:lnSpc>
                <a:spcPct val="100000"/>
              </a:lnSpc>
            </a:pPr>
            <a:r>
              <a:rPr dirty="0" sz="2400" spc="-35" b="1">
                <a:solidFill>
                  <a:srgbClr val="E14B04"/>
                </a:solidFill>
                <a:latin typeface="宋体"/>
                <a:cs typeface="宋体"/>
              </a:rPr>
              <a:t>名称</a:t>
            </a:r>
            <a:endParaRPr sz="2400">
              <a:latin typeface="宋体"/>
              <a:cs typeface="宋体"/>
            </a:endParaRPr>
          </a:p>
        </p:txBody>
      </p:sp>
      <p:sp>
        <p:nvSpPr>
          <p:cNvPr id="16" name="object 16" descr=""/>
          <p:cNvSpPr txBox="1"/>
          <p:nvPr/>
        </p:nvSpPr>
        <p:spPr>
          <a:xfrm>
            <a:off x="2590800" y="1873250"/>
            <a:ext cx="7880350" cy="548005"/>
          </a:xfrm>
          <a:prstGeom prst="rect">
            <a:avLst/>
          </a:prstGeom>
          <a:solidFill>
            <a:srgbClr val="F8FBA1"/>
          </a:solidFill>
          <a:ln w="9525">
            <a:solidFill>
              <a:srgbClr val="40458B"/>
            </a:solidFill>
          </a:ln>
        </p:spPr>
        <p:txBody>
          <a:bodyPr wrap="square" lIns="0" tIns="171450" rIns="0" bIns="0" rtlCol="0" vert="horz">
            <a:spAutoFit/>
          </a:bodyPr>
          <a:lstStyle/>
          <a:p>
            <a:pPr algn="ctr" marR="596900">
              <a:lnSpc>
                <a:spcPct val="100000"/>
              </a:lnSpc>
              <a:spcBef>
                <a:spcPts val="1350"/>
              </a:spcBef>
            </a:pPr>
            <a:r>
              <a:rPr dirty="0" sz="1800" spc="-35" b="1">
                <a:solidFill>
                  <a:srgbClr val="E14B04"/>
                </a:solidFill>
                <a:latin typeface="宋体"/>
                <a:cs typeface="宋体"/>
              </a:rPr>
              <a:t>保留站</a:t>
            </a:r>
            <a:endParaRPr sz="1800">
              <a:latin typeface="宋体"/>
              <a:cs typeface="宋体"/>
            </a:endParaRPr>
          </a:p>
        </p:txBody>
      </p:sp>
      <p:sp>
        <p:nvSpPr>
          <p:cNvPr id="17" name="object 17" descr=""/>
          <p:cNvSpPr txBox="1"/>
          <p:nvPr/>
        </p:nvSpPr>
        <p:spPr>
          <a:xfrm>
            <a:off x="1631950" y="2916301"/>
            <a:ext cx="958850" cy="390525"/>
          </a:xfrm>
          <a:prstGeom prst="rect">
            <a:avLst/>
          </a:prstGeom>
          <a:solidFill>
            <a:srgbClr val="F8FBA1"/>
          </a:solidFill>
          <a:ln w="9525">
            <a:solidFill>
              <a:srgbClr val="40458B"/>
            </a:solidFill>
          </a:ln>
        </p:spPr>
        <p:txBody>
          <a:bodyPr wrap="square" lIns="0" tIns="55244" rIns="0" bIns="0" rtlCol="0" vert="horz">
            <a:spAutoFit/>
          </a:bodyPr>
          <a:lstStyle/>
          <a:p>
            <a:pPr marL="135890">
              <a:lnSpc>
                <a:spcPct val="100000"/>
              </a:lnSpc>
              <a:spcBef>
                <a:spcPts val="434"/>
              </a:spcBef>
            </a:pPr>
            <a:r>
              <a:rPr dirty="0" sz="2000" spc="-10" b="1">
                <a:solidFill>
                  <a:srgbClr val="40458B"/>
                </a:solidFill>
                <a:latin typeface="宋体"/>
                <a:cs typeface="宋体"/>
              </a:rPr>
              <a:t>Load1</a:t>
            </a:r>
            <a:endParaRPr sz="2000">
              <a:latin typeface="宋体"/>
              <a:cs typeface="宋体"/>
            </a:endParaRPr>
          </a:p>
        </p:txBody>
      </p:sp>
      <p:sp>
        <p:nvSpPr>
          <p:cNvPr id="18" name="object 18" descr=""/>
          <p:cNvSpPr txBox="1"/>
          <p:nvPr/>
        </p:nvSpPr>
        <p:spPr>
          <a:xfrm>
            <a:off x="1631950" y="3306826"/>
            <a:ext cx="958850" cy="405130"/>
          </a:xfrm>
          <a:prstGeom prst="rect">
            <a:avLst/>
          </a:prstGeom>
          <a:solidFill>
            <a:srgbClr val="F8FBA1"/>
          </a:solidFill>
          <a:ln w="9525">
            <a:solidFill>
              <a:srgbClr val="40458B"/>
            </a:solidFill>
          </a:ln>
        </p:spPr>
        <p:txBody>
          <a:bodyPr wrap="square" lIns="0" tIns="61594" rIns="0" bIns="0" rtlCol="0" vert="horz">
            <a:spAutoFit/>
          </a:bodyPr>
          <a:lstStyle/>
          <a:p>
            <a:pPr marL="135890">
              <a:lnSpc>
                <a:spcPct val="100000"/>
              </a:lnSpc>
              <a:spcBef>
                <a:spcPts val="484"/>
              </a:spcBef>
            </a:pPr>
            <a:r>
              <a:rPr dirty="0" sz="2000" spc="-10" b="1">
                <a:solidFill>
                  <a:srgbClr val="40458B"/>
                </a:solidFill>
                <a:latin typeface="宋体"/>
                <a:cs typeface="宋体"/>
              </a:rPr>
              <a:t>Load2</a:t>
            </a:r>
            <a:endParaRPr sz="2000">
              <a:latin typeface="宋体"/>
              <a:cs typeface="宋体"/>
            </a:endParaRPr>
          </a:p>
        </p:txBody>
      </p:sp>
      <p:sp>
        <p:nvSpPr>
          <p:cNvPr id="19" name="object 19" descr=""/>
          <p:cNvSpPr txBox="1"/>
          <p:nvPr/>
        </p:nvSpPr>
        <p:spPr>
          <a:xfrm>
            <a:off x="1631950" y="3711575"/>
            <a:ext cx="958850" cy="376555"/>
          </a:xfrm>
          <a:prstGeom prst="rect">
            <a:avLst/>
          </a:prstGeom>
          <a:solidFill>
            <a:srgbClr val="F8FBA1"/>
          </a:solidFill>
          <a:ln w="9525">
            <a:solidFill>
              <a:srgbClr val="40458B"/>
            </a:solidFill>
          </a:ln>
        </p:spPr>
        <p:txBody>
          <a:bodyPr wrap="square" lIns="0" tIns="52705" rIns="0" bIns="0" rtlCol="0" vert="horz">
            <a:spAutoFit/>
          </a:bodyPr>
          <a:lstStyle/>
          <a:p>
            <a:pPr marL="135890">
              <a:lnSpc>
                <a:spcPct val="100000"/>
              </a:lnSpc>
              <a:spcBef>
                <a:spcPts val="415"/>
              </a:spcBef>
            </a:pPr>
            <a:r>
              <a:rPr dirty="0" sz="2000" spc="-20" b="1">
                <a:solidFill>
                  <a:srgbClr val="40458B"/>
                </a:solidFill>
                <a:latin typeface="宋体"/>
                <a:cs typeface="宋体"/>
              </a:rPr>
              <a:t>Add1</a:t>
            </a:r>
            <a:endParaRPr sz="2000">
              <a:latin typeface="宋体"/>
              <a:cs typeface="宋体"/>
            </a:endParaRPr>
          </a:p>
        </p:txBody>
      </p:sp>
      <p:sp>
        <p:nvSpPr>
          <p:cNvPr id="20" name="object 20" descr=""/>
          <p:cNvSpPr txBox="1"/>
          <p:nvPr/>
        </p:nvSpPr>
        <p:spPr>
          <a:xfrm>
            <a:off x="1631950" y="4087876"/>
            <a:ext cx="958850" cy="424180"/>
          </a:xfrm>
          <a:prstGeom prst="rect">
            <a:avLst/>
          </a:prstGeom>
          <a:solidFill>
            <a:srgbClr val="F8FBA1"/>
          </a:solidFill>
          <a:ln w="9525">
            <a:solidFill>
              <a:srgbClr val="40458B"/>
            </a:solidFill>
          </a:ln>
        </p:spPr>
        <p:txBody>
          <a:bodyPr wrap="square" lIns="0" tIns="72390" rIns="0" bIns="0" rtlCol="0" vert="horz">
            <a:spAutoFit/>
          </a:bodyPr>
          <a:lstStyle/>
          <a:p>
            <a:pPr marL="135890">
              <a:lnSpc>
                <a:spcPct val="100000"/>
              </a:lnSpc>
              <a:spcBef>
                <a:spcPts val="570"/>
              </a:spcBef>
            </a:pPr>
            <a:r>
              <a:rPr dirty="0" sz="2000" spc="-20" b="1">
                <a:solidFill>
                  <a:srgbClr val="40458B"/>
                </a:solidFill>
                <a:latin typeface="宋体"/>
                <a:cs typeface="宋体"/>
              </a:rPr>
              <a:t>Add2</a:t>
            </a:r>
            <a:endParaRPr sz="2000">
              <a:latin typeface="宋体"/>
              <a:cs typeface="宋体"/>
            </a:endParaRPr>
          </a:p>
        </p:txBody>
      </p:sp>
      <p:sp>
        <p:nvSpPr>
          <p:cNvPr id="21" name="object 21" descr=""/>
          <p:cNvSpPr txBox="1"/>
          <p:nvPr/>
        </p:nvSpPr>
        <p:spPr>
          <a:xfrm>
            <a:off x="1631950" y="4511675"/>
            <a:ext cx="958850" cy="424180"/>
          </a:xfrm>
          <a:prstGeom prst="rect">
            <a:avLst/>
          </a:prstGeom>
          <a:solidFill>
            <a:srgbClr val="F8FBA1"/>
          </a:solidFill>
          <a:ln w="9525">
            <a:solidFill>
              <a:srgbClr val="40458B"/>
            </a:solidFill>
          </a:ln>
        </p:spPr>
        <p:txBody>
          <a:bodyPr wrap="square" lIns="0" tIns="45085" rIns="0" bIns="0" rtlCol="0" vert="horz">
            <a:spAutoFit/>
          </a:bodyPr>
          <a:lstStyle/>
          <a:p>
            <a:pPr marL="135890">
              <a:lnSpc>
                <a:spcPct val="100000"/>
              </a:lnSpc>
              <a:spcBef>
                <a:spcPts val="355"/>
              </a:spcBef>
            </a:pPr>
            <a:r>
              <a:rPr dirty="0" sz="2000" spc="-20" b="1">
                <a:solidFill>
                  <a:srgbClr val="40458B"/>
                </a:solidFill>
                <a:latin typeface="宋体"/>
                <a:cs typeface="宋体"/>
              </a:rPr>
              <a:t>Add3</a:t>
            </a:r>
            <a:endParaRPr sz="2000">
              <a:latin typeface="宋体"/>
              <a:cs typeface="宋体"/>
            </a:endParaRPr>
          </a:p>
        </p:txBody>
      </p:sp>
      <p:sp>
        <p:nvSpPr>
          <p:cNvPr id="22" name="object 22" descr=""/>
          <p:cNvSpPr txBox="1"/>
          <p:nvPr/>
        </p:nvSpPr>
        <p:spPr>
          <a:xfrm>
            <a:off x="1631950" y="4935537"/>
            <a:ext cx="958850" cy="397510"/>
          </a:xfrm>
          <a:prstGeom prst="rect">
            <a:avLst/>
          </a:prstGeom>
          <a:solidFill>
            <a:srgbClr val="F8FBA1"/>
          </a:solidFill>
          <a:ln w="9525">
            <a:solidFill>
              <a:srgbClr val="40458B"/>
            </a:solidFill>
          </a:ln>
        </p:spPr>
        <p:txBody>
          <a:bodyPr wrap="square" lIns="0" tIns="17780" rIns="0" bIns="0" rtlCol="0" vert="horz">
            <a:spAutoFit/>
          </a:bodyPr>
          <a:lstStyle/>
          <a:p>
            <a:pPr marL="135890">
              <a:lnSpc>
                <a:spcPct val="100000"/>
              </a:lnSpc>
              <a:spcBef>
                <a:spcPts val="140"/>
              </a:spcBef>
            </a:pPr>
            <a:r>
              <a:rPr dirty="0" sz="2000" spc="-10" b="1">
                <a:solidFill>
                  <a:srgbClr val="40458B"/>
                </a:solidFill>
                <a:latin typeface="宋体"/>
                <a:cs typeface="宋体"/>
              </a:rPr>
              <a:t>Mult1</a:t>
            </a:r>
            <a:endParaRPr sz="2000">
              <a:latin typeface="宋体"/>
              <a:cs typeface="宋体"/>
            </a:endParaRPr>
          </a:p>
        </p:txBody>
      </p:sp>
      <p:sp>
        <p:nvSpPr>
          <p:cNvPr id="23" name="object 23" descr=""/>
          <p:cNvSpPr txBox="1"/>
          <p:nvPr/>
        </p:nvSpPr>
        <p:spPr>
          <a:xfrm>
            <a:off x="1631950" y="5332476"/>
            <a:ext cx="958850" cy="503555"/>
          </a:xfrm>
          <a:prstGeom prst="rect">
            <a:avLst/>
          </a:prstGeom>
          <a:solidFill>
            <a:srgbClr val="F8FBA1"/>
          </a:solidFill>
          <a:ln w="9525">
            <a:solidFill>
              <a:srgbClr val="40458B"/>
            </a:solidFill>
          </a:ln>
        </p:spPr>
        <p:txBody>
          <a:bodyPr wrap="square" lIns="0" tIns="17145" rIns="0" bIns="0" rtlCol="0" vert="horz">
            <a:spAutoFit/>
          </a:bodyPr>
          <a:lstStyle/>
          <a:p>
            <a:pPr marL="135890">
              <a:lnSpc>
                <a:spcPct val="100000"/>
              </a:lnSpc>
              <a:spcBef>
                <a:spcPts val="135"/>
              </a:spcBef>
            </a:pPr>
            <a:r>
              <a:rPr dirty="0" sz="2000" spc="-10" b="1">
                <a:solidFill>
                  <a:srgbClr val="40458B"/>
                </a:solidFill>
                <a:latin typeface="宋体"/>
                <a:cs typeface="宋体"/>
              </a:rPr>
              <a:t>Mult2</a:t>
            </a:r>
            <a:endParaRPr sz="2000">
              <a:latin typeface="宋体"/>
              <a:cs typeface="宋体"/>
            </a:endParaRPr>
          </a:p>
        </p:txBody>
      </p:sp>
      <p:sp>
        <p:nvSpPr>
          <p:cNvPr id="24" name="object 24" descr=""/>
          <p:cNvSpPr txBox="1"/>
          <p:nvPr/>
        </p:nvSpPr>
        <p:spPr>
          <a:xfrm>
            <a:off x="2590800" y="2421001"/>
            <a:ext cx="933450" cy="495300"/>
          </a:xfrm>
          <a:prstGeom prst="rect">
            <a:avLst/>
          </a:prstGeom>
          <a:solidFill>
            <a:srgbClr val="F8FBA1"/>
          </a:solidFill>
          <a:ln w="9525">
            <a:solidFill>
              <a:srgbClr val="40458B"/>
            </a:solidFill>
          </a:ln>
        </p:spPr>
        <p:txBody>
          <a:bodyPr wrap="square" lIns="0" tIns="161290" rIns="0" bIns="0" rtlCol="0" vert="horz">
            <a:spAutoFit/>
          </a:bodyPr>
          <a:lstStyle/>
          <a:p>
            <a:pPr marL="363220">
              <a:lnSpc>
                <a:spcPct val="100000"/>
              </a:lnSpc>
              <a:spcBef>
                <a:spcPts val="1270"/>
              </a:spcBef>
            </a:pPr>
            <a:r>
              <a:rPr dirty="0" sz="2000" spc="-20" b="1">
                <a:solidFill>
                  <a:srgbClr val="40458B"/>
                </a:solidFill>
                <a:latin typeface="宋体"/>
                <a:cs typeface="宋体"/>
              </a:rPr>
              <a:t>Busy</a:t>
            </a:r>
            <a:endParaRPr sz="2000">
              <a:latin typeface="宋体"/>
              <a:cs typeface="宋体"/>
            </a:endParaRPr>
          </a:p>
        </p:txBody>
      </p:sp>
      <p:sp>
        <p:nvSpPr>
          <p:cNvPr id="25" name="object 25" descr=""/>
          <p:cNvSpPr txBox="1"/>
          <p:nvPr/>
        </p:nvSpPr>
        <p:spPr>
          <a:xfrm>
            <a:off x="2590800" y="2916301"/>
            <a:ext cx="933450" cy="390525"/>
          </a:xfrm>
          <a:prstGeom prst="rect">
            <a:avLst/>
          </a:prstGeom>
          <a:solidFill>
            <a:srgbClr val="F8FBA1"/>
          </a:solidFill>
          <a:ln w="9525">
            <a:solidFill>
              <a:srgbClr val="40458B"/>
            </a:solidFill>
          </a:ln>
        </p:spPr>
        <p:txBody>
          <a:bodyPr wrap="square" lIns="0" tIns="62865" rIns="0" bIns="0" rtlCol="0" vert="horz">
            <a:spAutoFit/>
          </a:bodyPr>
          <a:lstStyle/>
          <a:p>
            <a:pPr marL="428625">
              <a:lnSpc>
                <a:spcPct val="100000"/>
              </a:lnSpc>
              <a:spcBef>
                <a:spcPts val="495"/>
              </a:spcBef>
            </a:pPr>
            <a:r>
              <a:rPr dirty="0" sz="2000" spc="-25" b="1">
                <a:solidFill>
                  <a:srgbClr val="40458B"/>
                </a:solidFill>
                <a:latin typeface="宋体"/>
                <a:cs typeface="宋体"/>
              </a:rPr>
              <a:t>yes</a:t>
            </a:r>
            <a:endParaRPr sz="2000">
              <a:latin typeface="宋体"/>
              <a:cs typeface="宋体"/>
            </a:endParaRPr>
          </a:p>
        </p:txBody>
      </p:sp>
      <p:sp>
        <p:nvSpPr>
          <p:cNvPr id="26" name="object 26" descr=""/>
          <p:cNvSpPr txBox="1"/>
          <p:nvPr/>
        </p:nvSpPr>
        <p:spPr>
          <a:xfrm>
            <a:off x="2590800" y="3306826"/>
            <a:ext cx="933450" cy="405130"/>
          </a:xfrm>
          <a:prstGeom prst="rect">
            <a:avLst/>
          </a:prstGeom>
          <a:solidFill>
            <a:srgbClr val="F8FBA1"/>
          </a:solidFill>
          <a:ln w="9525">
            <a:solidFill>
              <a:srgbClr val="40458B"/>
            </a:solidFill>
          </a:ln>
        </p:spPr>
        <p:txBody>
          <a:bodyPr wrap="square" lIns="0" tIns="68580" rIns="0" bIns="0" rtlCol="0" vert="horz">
            <a:spAutoFit/>
          </a:bodyPr>
          <a:lstStyle/>
          <a:p>
            <a:pPr marL="468630">
              <a:lnSpc>
                <a:spcPct val="100000"/>
              </a:lnSpc>
              <a:spcBef>
                <a:spcPts val="540"/>
              </a:spcBef>
            </a:pPr>
            <a:r>
              <a:rPr dirty="0" sz="2000" spc="-25" b="1">
                <a:solidFill>
                  <a:srgbClr val="FF0000"/>
                </a:solidFill>
                <a:latin typeface="宋体"/>
                <a:cs typeface="宋体"/>
              </a:rPr>
              <a:t>yes</a:t>
            </a:r>
            <a:endParaRPr sz="2000">
              <a:latin typeface="宋体"/>
              <a:cs typeface="宋体"/>
            </a:endParaRPr>
          </a:p>
        </p:txBody>
      </p:sp>
      <p:sp>
        <p:nvSpPr>
          <p:cNvPr id="27" name="object 27" descr=""/>
          <p:cNvSpPr txBox="1"/>
          <p:nvPr/>
        </p:nvSpPr>
        <p:spPr>
          <a:xfrm>
            <a:off x="2590800" y="3711575"/>
            <a:ext cx="933450" cy="376555"/>
          </a:xfrm>
          <a:prstGeom prst="rect">
            <a:avLst/>
          </a:prstGeom>
          <a:solidFill>
            <a:srgbClr val="F8FBA1"/>
          </a:solidFill>
          <a:ln w="9525">
            <a:solidFill>
              <a:srgbClr val="40458B"/>
            </a:solidFill>
          </a:ln>
        </p:spPr>
        <p:txBody>
          <a:bodyPr wrap="square" lIns="0" tIns="60325" rIns="0" bIns="0" rtlCol="0" vert="horz">
            <a:spAutoFit/>
          </a:bodyPr>
          <a:lstStyle/>
          <a:p>
            <a:pPr marL="468630">
              <a:lnSpc>
                <a:spcPct val="100000"/>
              </a:lnSpc>
              <a:spcBef>
                <a:spcPts val="475"/>
              </a:spcBef>
            </a:pPr>
            <a:r>
              <a:rPr dirty="0" sz="2000" spc="-25" b="1">
                <a:solidFill>
                  <a:srgbClr val="40458B"/>
                </a:solidFill>
                <a:latin typeface="宋体"/>
                <a:cs typeface="宋体"/>
              </a:rPr>
              <a:t>no</a:t>
            </a:r>
            <a:endParaRPr sz="2000">
              <a:latin typeface="宋体"/>
              <a:cs typeface="宋体"/>
            </a:endParaRPr>
          </a:p>
        </p:txBody>
      </p:sp>
      <p:sp>
        <p:nvSpPr>
          <p:cNvPr id="28" name="object 28" descr=""/>
          <p:cNvSpPr txBox="1"/>
          <p:nvPr/>
        </p:nvSpPr>
        <p:spPr>
          <a:xfrm>
            <a:off x="2590800" y="4087876"/>
            <a:ext cx="933450" cy="424180"/>
          </a:xfrm>
          <a:prstGeom prst="rect">
            <a:avLst/>
          </a:prstGeom>
          <a:solidFill>
            <a:srgbClr val="F8FBA1"/>
          </a:solidFill>
          <a:ln w="9525">
            <a:solidFill>
              <a:srgbClr val="40458B"/>
            </a:solidFill>
          </a:ln>
        </p:spPr>
        <p:txBody>
          <a:bodyPr wrap="square" lIns="0" tIns="80010" rIns="0" bIns="0" rtlCol="0" vert="horz">
            <a:spAutoFit/>
          </a:bodyPr>
          <a:lstStyle/>
          <a:p>
            <a:pPr marL="468630">
              <a:lnSpc>
                <a:spcPct val="100000"/>
              </a:lnSpc>
              <a:spcBef>
                <a:spcPts val="630"/>
              </a:spcBef>
            </a:pPr>
            <a:r>
              <a:rPr dirty="0" sz="2000" spc="-25" b="1">
                <a:solidFill>
                  <a:srgbClr val="40458B"/>
                </a:solidFill>
                <a:latin typeface="宋体"/>
                <a:cs typeface="宋体"/>
              </a:rPr>
              <a:t>no</a:t>
            </a:r>
            <a:endParaRPr sz="2000">
              <a:latin typeface="宋体"/>
              <a:cs typeface="宋体"/>
            </a:endParaRPr>
          </a:p>
        </p:txBody>
      </p:sp>
      <p:sp>
        <p:nvSpPr>
          <p:cNvPr id="29" name="object 29" descr=""/>
          <p:cNvSpPr txBox="1"/>
          <p:nvPr/>
        </p:nvSpPr>
        <p:spPr>
          <a:xfrm>
            <a:off x="2590800" y="4511675"/>
            <a:ext cx="933450" cy="424180"/>
          </a:xfrm>
          <a:prstGeom prst="rect">
            <a:avLst/>
          </a:prstGeom>
          <a:solidFill>
            <a:srgbClr val="F8FBA1"/>
          </a:solidFill>
          <a:ln w="9525">
            <a:solidFill>
              <a:srgbClr val="40458B"/>
            </a:solidFill>
          </a:ln>
        </p:spPr>
        <p:txBody>
          <a:bodyPr wrap="square" lIns="0" tIns="52069" rIns="0" bIns="0" rtlCol="0" vert="horz">
            <a:spAutoFit/>
          </a:bodyPr>
          <a:lstStyle/>
          <a:p>
            <a:pPr marL="468630">
              <a:lnSpc>
                <a:spcPct val="100000"/>
              </a:lnSpc>
              <a:spcBef>
                <a:spcPts val="409"/>
              </a:spcBef>
            </a:pPr>
            <a:r>
              <a:rPr dirty="0" sz="2000" spc="-25" b="1">
                <a:solidFill>
                  <a:srgbClr val="40458B"/>
                </a:solidFill>
                <a:latin typeface="宋体"/>
                <a:cs typeface="宋体"/>
              </a:rPr>
              <a:t>no</a:t>
            </a:r>
            <a:endParaRPr sz="2000">
              <a:latin typeface="宋体"/>
              <a:cs typeface="宋体"/>
            </a:endParaRPr>
          </a:p>
        </p:txBody>
      </p:sp>
      <p:sp>
        <p:nvSpPr>
          <p:cNvPr id="30" name="object 30" descr=""/>
          <p:cNvSpPr txBox="1"/>
          <p:nvPr/>
        </p:nvSpPr>
        <p:spPr>
          <a:xfrm>
            <a:off x="2590800" y="4935537"/>
            <a:ext cx="933450" cy="397510"/>
          </a:xfrm>
          <a:prstGeom prst="rect">
            <a:avLst/>
          </a:prstGeom>
          <a:solidFill>
            <a:srgbClr val="F8FBA1"/>
          </a:solidFill>
          <a:ln w="9525">
            <a:solidFill>
              <a:srgbClr val="40458B"/>
            </a:solidFill>
          </a:ln>
        </p:spPr>
        <p:txBody>
          <a:bodyPr wrap="square" lIns="0" tIns="25400" rIns="0" bIns="0" rtlCol="0" vert="horz">
            <a:spAutoFit/>
          </a:bodyPr>
          <a:lstStyle/>
          <a:p>
            <a:pPr marL="468630">
              <a:lnSpc>
                <a:spcPct val="100000"/>
              </a:lnSpc>
              <a:spcBef>
                <a:spcPts val="200"/>
              </a:spcBef>
            </a:pPr>
            <a:r>
              <a:rPr dirty="0" sz="2000" spc="-25" b="1">
                <a:solidFill>
                  <a:srgbClr val="40458B"/>
                </a:solidFill>
                <a:latin typeface="宋体"/>
                <a:cs typeface="宋体"/>
              </a:rPr>
              <a:t>no</a:t>
            </a:r>
            <a:endParaRPr sz="2000">
              <a:latin typeface="宋体"/>
              <a:cs typeface="宋体"/>
            </a:endParaRPr>
          </a:p>
        </p:txBody>
      </p:sp>
      <p:sp>
        <p:nvSpPr>
          <p:cNvPr id="31" name="object 31" descr=""/>
          <p:cNvSpPr txBox="1"/>
          <p:nvPr/>
        </p:nvSpPr>
        <p:spPr>
          <a:xfrm>
            <a:off x="2590800" y="5332476"/>
            <a:ext cx="933450" cy="503555"/>
          </a:xfrm>
          <a:prstGeom prst="rect">
            <a:avLst/>
          </a:prstGeom>
          <a:solidFill>
            <a:srgbClr val="F8FBA1"/>
          </a:solidFill>
          <a:ln w="9525">
            <a:solidFill>
              <a:srgbClr val="40458B"/>
            </a:solidFill>
          </a:ln>
        </p:spPr>
        <p:txBody>
          <a:bodyPr wrap="square" lIns="0" tIns="24130" rIns="0" bIns="0" rtlCol="0" vert="horz">
            <a:spAutoFit/>
          </a:bodyPr>
          <a:lstStyle/>
          <a:p>
            <a:pPr marL="468630">
              <a:lnSpc>
                <a:spcPct val="100000"/>
              </a:lnSpc>
              <a:spcBef>
                <a:spcPts val="190"/>
              </a:spcBef>
            </a:pPr>
            <a:r>
              <a:rPr dirty="0" sz="2000" spc="-25" b="1">
                <a:solidFill>
                  <a:srgbClr val="40458B"/>
                </a:solidFill>
                <a:latin typeface="宋体"/>
                <a:cs typeface="宋体"/>
              </a:rPr>
              <a:t>no</a:t>
            </a:r>
            <a:endParaRPr sz="2000">
              <a:latin typeface="宋体"/>
              <a:cs typeface="宋体"/>
            </a:endParaRPr>
          </a:p>
        </p:txBody>
      </p:sp>
      <p:sp>
        <p:nvSpPr>
          <p:cNvPr id="32" name="object 32" descr=""/>
          <p:cNvSpPr txBox="1"/>
          <p:nvPr/>
        </p:nvSpPr>
        <p:spPr>
          <a:xfrm>
            <a:off x="4343400" y="2421001"/>
            <a:ext cx="889000" cy="495300"/>
          </a:xfrm>
          <a:prstGeom prst="rect">
            <a:avLst/>
          </a:prstGeom>
          <a:solidFill>
            <a:srgbClr val="F8FBA1"/>
          </a:solidFill>
          <a:ln w="9525">
            <a:solidFill>
              <a:srgbClr val="40458B"/>
            </a:solidFill>
          </a:ln>
        </p:spPr>
        <p:txBody>
          <a:bodyPr wrap="square" lIns="0" tIns="170180" rIns="0" bIns="0" rtlCol="0" vert="horz">
            <a:spAutoFit/>
          </a:bodyPr>
          <a:lstStyle/>
          <a:p>
            <a:pPr marL="191770">
              <a:lnSpc>
                <a:spcPct val="100000"/>
              </a:lnSpc>
              <a:spcBef>
                <a:spcPts val="1340"/>
              </a:spcBef>
            </a:pPr>
            <a:r>
              <a:rPr dirty="0" sz="2000" spc="-25" b="1">
                <a:solidFill>
                  <a:srgbClr val="40458B"/>
                </a:solidFill>
                <a:latin typeface="宋体"/>
                <a:cs typeface="宋体"/>
              </a:rPr>
              <a:t>Vj</a:t>
            </a:r>
            <a:endParaRPr sz="2000">
              <a:latin typeface="宋体"/>
              <a:cs typeface="宋体"/>
            </a:endParaRPr>
          </a:p>
        </p:txBody>
      </p:sp>
      <p:sp>
        <p:nvSpPr>
          <p:cNvPr id="33" name="object 33" descr=""/>
          <p:cNvSpPr txBox="1"/>
          <p:nvPr/>
        </p:nvSpPr>
        <p:spPr>
          <a:xfrm>
            <a:off x="5232400" y="2421001"/>
            <a:ext cx="2006600" cy="495300"/>
          </a:xfrm>
          <a:prstGeom prst="rect">
            <a:avLst/>
          </a:prstGeom>
          <a:solidFill>
            <a:srgbClr val="F8FBA1"/>
          </a:solidFill>
          <a:ln w="9525">
            <a:solidFill>
              <a:srgbClr val="40458B"/>
            </a:solidFill>
          </a:ln>
        </p:spPr>
        <p:txBody>
          <a:bodyPr wrap="square" lIns="0" tIns="160020" rIns="0" bIns="0" rtlCol="0" vert="horz">
            <a:spAutoFit/>
          </a:bodyPr>
          <a:lstStyle/>
          <a:p>
            <a:pPr marL="652780">
              <a:lnSpc>
                <a:spcPct val="100000"/>
              </a:lnSpc>
              <a:spcBef>
                <a:spcPts val="1260"/>
              </a:spcBef>
            </a:pPr>
            <a:r>
              <a:rPr dirty="0" sz="2000" spc="-25" b="1">
                <a:solidFill>
                  <a:srgbClr val="40458B"/>
                </a:solidFill>
                <a:latin typeface="宋体"/>
                <a:cs typeface="宋体"/>
              </a:rPr>
              <a:t>Vk</a:t>
            </a:r>
            <a:endParaRPr sz="2000">
              <a:latin typeface="宋体"/>
              <a:cs typeface="宋体"/>
            </a:endParaRPr>
          </a:p>
        </p:txBody>
      </p:sp>
      <p:sp>
        <p:nvSpPr>
          <p:cNvPr id="34" name="object 34" descr=""/>
          <p:cNvSpPr txBox="1"/>
          <p:nvPr/>
        </p:nvSpPr>
        <p:spPr>
          <a:xfrm>
            <a:off x="4343400" y="2916301"/>
            <a:ext cx="889000" cy="390525"/>
          </a:xfrm>
          <a:prstGeom prst="rect">
            <a:avLst/>
          </a:prstGeom>
          <a:solidFill>
            <a:srgbClr val="F8FBA1"/>
          </a:solidFill>
          <a:ln w="9525">
            <a:solidFill>
              <a:srgbClr val="40458B"/>
            </a:solidFill>
          </a:ln>
        </p:spPr>
        <p:txBody>
          <a:bodyPr wrap="square" lIns="0" tIns="60960" rIns="0" bIns="0" rtlCol="0" vert="horz">
            <a:spAutoFit/>
          </a:bodyPr>
          <a:lstStyle/>
          <a:p>
            <a:pPr marL="162560">
              <a:lnSpc>
                <a:spcPct val="100000"/>
              </a:lnSpc>
              <a:spcBef>
                <a:spcPts val="480"/>
              </a:spcBef>
            </a:pPr>
            <a:r>
              <a:rPr dirty="0" sz="2000" spc="-10" b="1">
                <a:solidFill>
                  <a:srgbClr val="40458B"/>
                </a:solidFill>
                <a:latin typeface="宋体"/>
                <a:cs typeface="宋体"/>
              </a:rPr>
              <a:t>R[R2]</a:t>
            </a:r>
            <a:endParaRPr sz="2000">
              <a:latin typeface="宋体"/>
              <a:cs typeface="宋体"/>
            </a:endParaRPr>
          </a:p>
        </p:txBody>
      </p:sp>
      <p:sp>
        <p:nvSpPr>
          <p:cNvPr id="35" name="object 35" descr=""/>
          <p:cNvSpPr txBox="1"/>
          <p:nvPr/>
        </p:nvSpPr>
        <p:spPr>
          <a:xfrm>
            <a:off x="4343400" y="3306826"/>
            <a:ext cx="889000" cy="405130"/>
          </a:xfrm>
          <a:prstGeom prst="rect">
            <a:avLst/>
          </a:prstGeom>
          <a:solidFill>
            <a:srgbClr val="F8FBA1"/>
          </a:solidFill>
          <a:ln w="9525">
            <a:solidFill>
              <a:srgbClr val="40458B"/>
            </a:solidFill>
          </a:ln>
        </p:spPr>
        <p:txBody>
          <a:bodyPr wrap="square" lIns="0" tIns="66675" rIns="0" bIns="0" rtlCol="0" vert="horz">
            <a:spAutoFit/>
          </a:bodyPr>
          <a:lstStyle/>
          <a:p>
            <a:pPr marL="162560">
              <a:lnSpc>
                <a:spcPct val="100000"/>
              </a:lnSpc>
              <a:spcBef>
                <a:spcPts val="525"/>
              </a:spcBef>
            </a:pPr>
            <a:r>
              <a:rPr dirty="0" sz="2000" spc="-10" b="1">
                <a:solidFill>
                  <a:srgbClr val="FF0000"/>
                </a:solidFill>
                <a:latin typeface="宋体"/>
                <a:cs typeface="宋体"/>
              </a:rPr>
              <a:t>R[R3]</a:t>
            </a:r>
            <a:endParaRPr sz="2000">
              <a:latin typeface="宋体"/>
              <a:cs typeface="宋体"/>
            </a:endParaRPr>
          </a:p>
        </p:txBody>
      </p:sp>
      <p:sp>
        <p:nvSpPr>
          <p:cNvPr id="36" name="object 36" descr=""/>
          <p:cNvSpPr txBox="1"/>
          <p:nvPr/>
        </p:nvSpPr>
        <p:spPr>
          <a:xfrm>
            <a:off x="7239000" y="2421001"/>
            <a:ext cx="914400" cy="495300"/>
          </a:xfrm>
          <a:prstGeom prst="rect">
            <a:avLst/>
          </a:prstGeom>
          <a:solidFill>
            <a:srgbClr val="F8FBA1"/>
          </a:solidFill>
          <a:ln w="9525">
            <a:solidFill>
              <a:srgbClr val="40458B"/>
            </a:solidFill>
          </a:ln>
        </p:spPr>
        <p:txBody>
          <a:bodyPr wrap="square" lIns="0" tIns="145415" rIns="0" bIns="0" rtlCol="0" vert="horz">
            <a:spAutoFit/>
          </a:bodyPr>
          <a:lstStyle/>
          <a:p>
            <a:pPr marL="264795">
              <a:lnSpc>
                <a:spcPct val="100000"/>
              </a:lnSpc>
              <a:spcBef>
                <a:spcPts val="1145"/>
              </a:spcBef>
            </a:pPr>
            <a:r>
              <a:rPr dirty="0" sz="2000" spc="-25" b="1">
                <a:solidFill>
                  <a:srgbClr val="40458B"/>
                </a:solidFill>
                <a:latin typeface="宋体"/>
                <a:cs typeface="宋体"/>
              </a:rPr>
              <a:t>Qj</a:t>
            </a:r>
            <a:endParaRPr sz="2000">
              <a:latin typeface="宋体"/>
              <a:cs typeface="宋体"/>
            </a:endParaRPr>
          </a:p>
        </p:txBody>
      </p:sp>
      <p:sp>
        <p:nvSpPr>
          <p:cNvPr id="37" name="object 37" descr=""/>
          <p:cNvSpPr txBox="1"/>
          <p:nvPr/>
        </p:nvSpPr>
        <p:spPr>
          <a:xfrm>
            <a:off x="7243762" y="2949956"/>
            <a:ext cx="904875" cy="330835"/>
          </a:xfrm>
          <a:prstGeom prst="rect">
            <a:avLst/>
          </a:prstGeom>
        </p:spPr>
        <p:txBody>
          <a:bodyPr wrap="square" lIns="0" tIns="13335" rIns="0" bIns="0" rtlCol="0" vert="horz">
            <a:spAutoFit/>
          </a:bodyPr>
          <a:lstStyle/>
          <a:p>
            <a:pPr marL="287655">
              <a:lnSpc>
                <a:spcPct val="100000"/>
              </a:lnSpc>
              <a:spcBef>
                <a:spcPts val="105"/>
              </a:spcBef>
            </a:pPr>
            <a:r>
              <a:rPr dirty="0" sz="2000" spc="-50" b="1">
                <a:solidFill>
                  <a:srgbClr val="40458B"/>
                </a:solidFill>
                <a:latin typeface="宋体"/>
                <a:cs typeface="宋体"/>
              </a:rPr>
              <a:t>0</a:t>
            </a:r>
            <a:endParaRPr sz="2000">
              <a:latin typeface="宋体"/>
              <a:cs typeface="宋体"/>
            </a:endParaRPr>
          </a:p>
        </p:txBody>
      </p:sp>
      <p:sp>
        <p:nvSpPr>
          <p:cNvPr id="38" name="object 38" descr=""/>
          <p:cNvSpPr txBox="1"/>
          <p:nvPr/>
        </p:nvSpPr>
        <p:spPr>
          <a:xfrm>
            <a:off x="7243762" y="3345891"/>
            <a:ext cx="904875" cy="331470"/>
          </a:xfrm>
          <a:prstGeom prst="rect">
            <a:avLst/>
          </a:prstGeom>
        </p:spPr>
        <p:txBody>
          <a:bodyPr wrap="square" lIns="0" tIns="13335" rIns="0" bIns="0" rtlCol="0" vert="horz">
            <a:spAutoFit/>
          </a:bodyPr>
          <a:lstStyle/>
          <a:p>
            <a:pPr marL="287655">
              <a:lnSpc>
                <a:spcPct val="100000"/>
              </a:lnSpc>
              <a:spcBef>
                <a:spcPts val="105"/>
              </a:spcBef>
            </a:pPr>
            <a:r>
              <a:rPr dirty="0" sz="2000" spc="-50" b="1">
                <a:solidFill>
                  <a:srgbClr val="FF0000"/>
                </a:solidFill>
                <a:latin typeface="宋体"/>
                <a:cs typeface="宋体"/>
              </a:rPr>
              <a:t>0</a:t>
            </a:r>
            <a:endParaRPr sz="2000">
              <a:latin typeface="宋体"/>
              <a:cs typeface="宋体"/>
            </a:endParaRPr>
          </a:p>
        </p:txBody>
      </p:sp>
      <p:sp>
        <p:nvSpPr>
          <p:cNvPr id="39" name="object 39" descr=""/>
          <p:cNvSpPr txBox="1"/>
          <p:nvPr/>
        </p:nvSpPr>
        <p:spPr>
          <a:xfrm>
            <a:off x="8153400" y="2421001"/>
            <a:ext cx="914400" cy="495300"/>
          </a:xfrm>
          <a:prstGeom prst="rect">
            <a:avLst/>
          </a:prstGeom>
          <a:solidFill>
            <a:srgbClr val="F8FBA1"/>
          </a:solidFill>
          <a:ln w="9525">
            <a:solidFill>
              <a:srgbClr val="40458B"/>
            </a:solidFill>
          </a:ln>
        </p:spPr>
        <p:txBody>
          <a:bodyPr wrap="square" lIns="0" tIns="137795" rIns="0" bIns="0" rtlCol="0" vert="horz">
            <a:spAutoFit/>
          </a:bodyPr>
          <a:lstStyle/>
          <a:p>
            <a:pPr algn="ctr" marL="15240">
              <a:lnSpc>
                <a:spcPct val="100000"/>
              </a:lnSpc>
              <a:spcBef>
                <a:spcPts val="1085"/>
              </a:spcBef>
            </a:pPr>
            <a:r>
              <a:rPr dirty="0" sz="2000" spc="-25" b="1">
                <a:solidFill>
                  <a:srgbClr val="40458B"/>
                </a:solidFill>
                <a:latin typeface="宋体"/>
                <a:cs typeface="宋体"/>
              </a:rPr>
              <a:t>Qk</a:t>
            </a:r>
            <a:endParaRPr sz="2000">
              <a:latin typeface="宋体"/>
              <a:cs typeface="宋体"/>
            </a:endParaRPr>
          </a:p>
        </p:txBody>
      </p:sp>
      <p:sp>
        <p:nvSpPr>
          <p:cNvPr id="40" name="object 40" descr=""/>
          <p:cNvSpPr txBox="1"/>
          <p:nvPr/>
        </p:nvSpPr>
        <p:spPr>
          <a:xfrm>
            <a:off x="9067800" y="2421001"/>
            <a:ext cx="1403350" cy="495300"/>
          </a:xfrm>
          <a:prstGeom prst="rect">
            <a:avLst/>
          </a:prstGeom>
          <a:solidFill>
            <a:srgbClr val="F8FBA1"/>
          </a:solidFill>
          <a:ln w="9525">
            <a:solidFill>
              <a:srgbClr val="40458B"/>
            </a:solidFill>
          </a:ln>
        </p:spPr>
        <p:txBody>
          <a:bodyPr wrap="square" lIns="0" tIns="154940" rIns="0" bIns="0" rtlCol="0" vert="horz">
            <a:spAutoFit/>
          </a:bodyPr>
          <a:lstStyle/>
          <a:p>
            <a:pPr marL="399415">
              <a:lnSpc>
                <a:spcPct val="100000"/>
              </a:lnSpc>
              <a:spcBef>
                <a:spcPts val="1220"/>
              </a:spcBef>
            </a:pPr>
            <a:r>
              <a:rPr dirty="0" sz="2000" spc="-50" b="1">
                <a:solidFill>
                  <a:srgbClr val="40458B"/>
                </a:solidFill>
                <a:latin typeface="宋体"/>
                <a:cs typeface="宋体"/>
              </a:rPr>
              <a:t>A</a:t>
            </a:r>
            <a:endParaRPr sz="2000">
              <a:latin typeface="宋体"/>
              <a:cs typeface="宋体"/>
            </a:endParaRPr>
          </a:p>
        </p:txBody>
      </p:sp>
      <p:sp>
        <p:nvSpPr>
          <p:cNvPr id="41" name="object 41" descr=""/>
          <p:cNvSpPr txBox="1"/>
          <p:nvPr/>
        </p:nvSpPr>
        <p:spPr>
          <a:xfrm>
            <a:off x="9067545" y="2959049"/>
            <a:ext cx="1442720" cy="331470"/>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FF0000"/>
                </a:solidFill>
                <a:latin typeface="宋体"/>
                <a:cs typeface="宋体"/>
              </a:rPr>
              <a:t>34+Regs[R2]</a:t>
            </a:r>
            <a:endParaRPr sz="2000">
              <a:latin typeface="宋体"/>
              <a:cs typeface="宋体"/>
            </a:endParaRPr>
          </a:p>
        </p:txBody>
      </p:sp>
      <p:sp>
        <p:nvSpPr>
          <p:cNvPr id="42" name="object 42" descr=""/>
          <p:cNvSpPr txBox="1"/>
          <p:nvPr/>
        </p:nvSpPr>
        <p:spPr>
          <a:xfrm>
            <a:off x="9072562" y="3355975"/>
            <a:ext cx="1393825" cy="330835"/>
          </a:xfrm>
          <a:prstGeom prst="rect">
            <a:avLst/>
          </a:prstGeom>
        </p:spPr>
        <p:txBody>
          <a:bodyPr wrap="square" lIns="0" tIns="13335" rIns="0" bIns="0" rtlCol="0" vert="horz">
            <a:spAutoFit/>
          </a:bodyPr>
          <a:lstStyle/>
          <a:p>
            <a:pPr marL="7620">
              <a:lnSpc>
                <a:spcPct val="100000"/>
              </a:lnSpc>
              <a:spcBef>
                <a:spcPts val="105"/>
              </a:spcBef>
            </a:pPr>
            <a:r>
              <a:rPr dirty="0" sz="2000" spc="-25" b="1">
                <a:solidFill>
                  <a:srgbClr val="FF0000"/>
                </a:solidFill>
                <a:latin typeface="宋体"/>
                <a:cs typeface="宋体"/>
              </a:rPr>
              <a:t>45</a:t>
            </a:r>
            <a:endParaRPr sz="2000">
              <a:latin typeface="宋体"/>
              <a:cs typeface="宋体"/>
            </a:endParaRPr>
          </a:p>
        </p:txBody>
      </p:sp>
      <p:grpSp>
        <p:nvGrpSpPr>
          <p:cNvPr id="43" name="object 43" descr=""/>
          <p:cNvGrpSpPr/>
          <p:nvPr/>
        </p:nvGrpSpPr>
        <p:grpSpPr>
          <a:xfrm>
            <a:off x="1665287" y="1882838"/>
            <a:ext cx="8861425" cy="4010025"/>
            <a:chOff x="1665287" y="1882838"/>
            <a:chExt cx="8861425" cy="4010025"/>
          </a:xfrm>
        </p:grpSpPr>
        <p:sp>
          <p:nvSpPr>
            <p:cNvPr id="44" name="object 44" descr=""/>
            <p:cNvSpPr/>
            <p:nvPr/>
          </p:nvSpPr>
          <p:spPr>
            <a:xfrm>
              <a:off x="1670050" y="1887601"/>
              <a:ext cx="8851900" cy="4000500"/>
            </a:xfrm>
            <a:custGeom>
              <a:avLst/>
              <a:gdLst/>
              <a:ahLst/>
              <a:cxnLst/>
              <a:rect l="l" t="t" r="r" b="b"/>
              <a:pathLst>
                <a:path w="8851900" h="4000500">
                  <a:moveTo>
                    <a:pt x="0" y="1028700"/>
                  </a:moveTo>
                  <a:lnTo>
                    <a:pt x="8839200" y="1028700"/>
                  </a:lnTo>
                </a:path>
                <a:path w="8851900" h="4000500">
                  <a:moveTo>
                    <a:pt x="920750" y="0"/>
                  </a:moveTo>
                  <a:lnTo>
                    <a:pt x="920750" y="3962336"/>
                  </a:lnTo>
                </a:path>
                <a:path w="8851900" h="4000500">
                  <a:moveTo>
                    <a:pt x="1854200" y="533400"/>
                  </a:moveTo>
                  <a:lnTo>
                    <a:pt x="1854200" y="3962336"/>
                  </a:lnTo>
                </a:path>
                <a:path w="8851900" h="4000500">
                  <a:moveTo>
                    <a:pt x="2673350" y="533400"/>
                  </a:moveTo>
                  <a:lnTo>
                    <a:pt x="2673350" y="3962336"/>
                  </a:lnTo>
                </a:path>
                <a:path w="8851900" h="4000500">
                  <a:moveTo>
                    <a:pt x="3562350" y="571500"/>
                  </a:moveTo>
                  <a:lnTo>
                    <a:pt x="3562350" y="4000436"/>
                  </a:lnTo>
                </a:path>
                <a:path w="8851900" h="4000500">
                  <a:moveTo>
                    <a:pt x="5568950" y="533400"/>
                  </a:moveTo>
                  <a:lnTo>
                    <a:pt x="5568950" y="3962336"/>
                  </a:lnTo>
                </a:path>
                <a:path w="8851900" h="4000500">
                  <a:moveTo>
                    <a:pt x="6483350" y="3840099"/>
                  </a:moveTo>
                  <a:lnTo>
                    <a:pt x="6483350" y="3962336"/>
                  </a:lnTo>
                </a:path>
                <a:path w="8851900" h="4000500">
                  <a:moveTo>
                    <a:pt x="6483350" y="533400"/>
                  </a:moveTo>
                  <a:lnTo>
                    <a:pt x="6483350" y="2117725"/>
                  </a:lnTo>
                </a:path>
                <a:path w="8851900" h="4000500">
                  <a:moveTo>
                    <a:pt x="7397750" y="3840099"/>
                  </a:moveTo>
                  <a:lnTo>
                    <a:pt x="7397750" y="3962336"/>
                  </a:lnTo>
                </a:path>
                <a:path w="8851900" h="4000500">
                  <a:moveTo>
                    <a:pt x="7397750" y="533400"/>
                  </a:moveTo>
                  <a:lnTo>
                    <a:pt x="7397750" y="2117725"/>
                  </a:lnTo>
                </a:path>
                <a:path w="8851900" h="4000500">
                  <a:moveTo>
                    <a:pt x="6350" y="1419225"/>
                  </a:moveTo>
                  <a:lnTo>
                    <a:pt x="8845550" y="1419225"/>
                  </a:lnTo>
                </a:path>
                <a:path w="8851900" h="4000500">
                  <a:moveTo>
                    <a:pt x="12700" y="1823974"/>
                  </a:moveTo>
                  <a:lnTo>
                    <a:pt x="8851900" y="1823974"/>
                  </a:lnTo>
                </a:path>
                <a:path w="8851900" h="4000500">
                  <a:moveTo>
                    <a:pt x="6350" y="2200275"/>
                  </a:moveTo>
                  <a:lnTo>
                    <a:pt x="6011926" y="2200275"/>
                  </a:lnTo>
                </a:path>
                <a:path w="8851900" h="4000500">
                  <a:moveTo>
                    <a:pt x="6350" y="2624074"/>
                  </a:moveTo>
                  <a:lnTo>
                    <a:pt x="6011926" y="2624074"/>
                  </a:lnTo>
                </a:path>
              </a:pathLst>
            </a:custGeom>
            <a:ln w="9525">
              <a:solidFill>
                <a:srgbClr val="40458B"/>
              </a:solidFill>
            </a:ln>
          </p:spPr>
          <p:txBody>
            <a:bodyPr wrap="square" lIns="0" tIns="0" rIns="0" bIns="0" rtlCol="0"/>
            <a:lstStyle/>
            <a:p/>
          </p:txBody>
        </p:sp>
        <p:sp>
          <p:nvSpPr>
            <p:cNvPr id="45" name="object 45" descr=""/>
            <p:cNvSpPr/>
            <p:nvPr/>
          </p:nvSpPr>
          <p:spPr>
            <a:xfrm>
              <a:off x="1676400" y="4935537"/>
              <a:ext cx="6005830" cy="0"/>
            </a:xfrm>
            <a:custGeom>
              <a:avLst/>
              <a:gdLst/>
              <a:ahLst/>
              <a:cxnLst/>
              <a:rect l="l" t="t" r="r" b="b"/>
              <a:pathLst>
                <a:path w="6005830" h="0">
                  <a:moveTo>
                    <a:pt x="0" y="0"/>
                  </a:moveTo>
                  <a:lnTo>
                    <a:pt x="6005576" y="0"/>
                  </a:lnTo>
                </a:path>
              </a:pathLst>
            </a:custGeom>
            <a:ln w="9651">
              <a:solidFill>
                <a:srgbClr val="40458B"/>
              </a:solidFill>
            </a:ln>
          </p:spPr>
          <p:txBody>
            <a:bodyPr wrap="square" lIns="0" tIns="0" rIns="0" bIns="0" rtlCol="0"/>
            <a:lstStyle/>
            <a:p/>
          </p:txBody>
        </p:sp>
        <p:sp>
          <p:nvSpPr>
            <p:cNvPr id="46" name="object 46" descr=""/>
            <p:cNvSpPr/>
            <p:nvPr/>
          </p:nvSpPr>
          <p:spPr>
            <a:xfrm>
              <a:off x="1682750" y="5332476"/>
              <a:ext cx="5999480" cy="0"/>
            </a:xfrm>
            <a:custGeom>
              <a:avLst/>
              <a:gdLst/>
              <a:ahLst/>
              <a:cxnLst/>
              <a:rect l="l" t="t" r="r" b="b"/>
              <a:pathLst>
                <a:path w="5999480" h="0">
                  <a:moveTo>
                    <a:pt x="0" y="0"/>
                  </a:moveTo>
                  <a:lnTo>
                    <a:pt x="5999226" y="0"/>
                  </a:lnTo>
                </a:path>
              </a:pathLst>
            </a:custGeom>
            <a:ln w="9525">
              <a:solidFill>
                <a:srgbClr val="40458B"/>
              </a:solidFill>
            </a:ln>
          </p:spPr>
          <p:txBody>
            <a:bodyPr wrap="square" lIns="0" tIns="0" rIns="0" bIns="0" rtlCol="0"/>
            <a:lstStyle/>
            <a:p/>
          </p:txBody>
        </p:sp>
      </p:grpSp>
      <p:sp>
        <p:nvSpPr>
          <p:cNvPr id="47" name="object 47" descr=""/>
          <p:cNvSpPr txBox="1"/>
          <p:nvPr/>
        </p:nvSpPr>
        <p:spPr>
          <a:xfrm>
            <a:off x="3524250" y="2421001"/>
            <a:ext cx="819150" cy="495300"/>
          </a:xfrm>
          <a:prstGeom prst="rect">
            <a:avLst/>
          </a:prstGeom>
          <a:solidFill>
            <a:srgbClr val="F8FBA1"/>
          </a:solidFill>
          <a:ln w="9525">
            <a:solidFill>
              <a:srgbClr val="40458B"/>
            </a:solidFill>
          </a:ln>
        </p:spPr>
        <p:txBody>
          <a:bodyPr wrap="square" lIns="0" tIns="196850" rIns="0" bIns="0" rtlCol="0" vert="horz">
            <a:spAutoFit/>
          </a:bodyPr>
          <a:lstStyle/>
          <a:p>
            <a:pPr marL="339090">
              <a:lnSpc>
                <a:spcPts val="2350"/>
              </a:lnSpc>
              <a:spcBef>
                <a:spcPts val="1550"/>
              </a:spcBef>
            </a:pPr>
            <a:r>
              <a:rPr dirty="0" sz="2000" spc="-25" b="1">
                <a:solidFill>
                  <a:srgbClr val="40458B"/>
                </a:solidFill>
                <a:latin typeface="宋体"/>
                <a:cs typeface="宋体"/>
              </a:rPr>
              <a:t>Op</a:t>
            </a:r>
            <a:endParaRPr sz="2000">
              <a:latin typeface="宋体"/>
              <a:cs typeface="宋体"/>
            </a:endParaRPr>
          </a:p>
        </p:txBody>
      </p:sp>
      <p:sp>
        <p:nvSpPr>
          <p:cNvPr id="48" name="object 48" descr=""/>
          <p:cNvSpPr txBox="1"/>
          <p:nvPr/>
        </p:nvSpPr>
        <p:spPr>
          <a:xfrm>
            <a:off x="3524250" y="2916301"/>
            <a:ext cx="819150" cy="390525"/>
          </a:xfrm>
          <a:prstGeom prst="rect">
            <a:avLst/>
          </a:prstGeom>
          <a:solidFill>
            <a:srgbClr val="F8FBA1"/>
          </a:solidFill>
          <a:ln w="9525">
            <a:solidFill>
              <a:srgbClr val="40458B"/>
            </a:solidFill>
          </a:ln>
        </p:spPr>
        <p:txBody>
          <a:bodyPr wrap="square" lIns="0" tIns="97790" rIns="0" bIns="0" rtlCol="0" vert="horz">
            <a:spAutoFit/>
          </a:bodyPr>
          <a:lstStyle/>
          <a:p>
            <a:pPr marL="314960">
              <a:lnSpc>
                <a:spcPts val="2305"/>
              </a:lnSpc>
              <a:spcBef>
                <a:spcPts val="770"/>
              </a:spcBef>
            </a:pPr>
            <a:r>
              <a:rPr dirty="0" sz="2000" spc="-25" b="1">
                <a:solidFill>
                  <a:srgbClr val="40458B"/>
                </a:solidFill>
                <a:latin typeface="宋体"/>
                <a:cs typeface="宋体"/>
              </a:rPr>
              <a:t>L.D</a:t>
            </a:r>
            <a:endParaRPr sz="2000">
              <a:latin typeface="宋体"/>
              <a:cs typeface="宋体"/>
            </a:endParaRPr>
          </a:p>
        </p:txBody>
      </p:sp>
      <p:sp>
        <p:nvSpPr>
          <p:cNvPr id="49" name="object 49" descr=""/>
          <p:cNvSpPr txBox="1"/>
          <p:nvPr/>
        </p:nvSpPr>
        <p:spPr>
          <a:xfrm>
            <a:off x="3524250" y="3306826"/>
            <a:ext cx="819150" cy="405130"/>
          </a:xfrm>
          <a:prstGeom prst="rect">
            <a:avLst/>
          </a:prstGeom>
          <a:solidFill>
            <a:srgbClr val="F8FBA1"/>
          </a:solidFill>
          <a:ln w="9525">
            <a:solidFill>
              <a:srgbClr val="40458B"/>
            </a:solidFill>
          </a:ln>
        </p:spPr>
        <p:txBody>
          <a:bodyPr wrap="square" lIns="0" tIns="103505" rIns="0" bIns="0" rtlCol="0" vert="horz">
            <a:spAutoFit/>
          </a:bodyPr>
          <a:lstStyle/>
          <a:p>
            <a:pPr marL="314960">
              <a:lnSpc>
                <a:spcPts val="2370"/>
              </a:lnSpc>
              <a:spcBef>
                <a:spcPts val="815"/>
              </a:spcBef>
            </a:pPr>
            <a:r>
              <a:rPr dirty="0" sz="2000" spc="-25" b="1">
                <a:solidFill>
                  <a:srgbClr val="FF0000"/>
                </a:solidFill>
                <a:latin typeface="宋体"/>
                <a:cs typeface="宋体"/>
              </a:rPr>
              <a:t>L.D</a:t>
            </a:r>
            <a:endParaRPr sz="2000">
              <a:latin typeface="宋体"/>
              <a:cs typeface="宋体"/>
            </a:endParaRPr>
          </a:p>
        </p:txBody>
      </p:sp>
      <p:sp>
        <p:nvSpPr>
          <p:cNvPr id="50" name="object 50" descr=""/>
          <p:cNvSpPr txBox="1"/>
          <p:nvPr/>
        </p:nvSpPr>
        <p:spPr>
          <a:xfrm>
            <a:off x="1602994" y="1048194"/>
            <a:ext cx="7967980" cy="904875"/>
          </a:xfrm>
          <a:prstGeom prst="rect">
            <a:avLst/>
          </a:prstGeom>
        </p:spPr>
        <p:txBody>
          <a:bodyPr wrap="square" lIns="0" tIns="86360" rIns="0" bIns="0" rtlCol="0" vert="horz">
            <a:spAutoFit/>
          </a:bodyPr>
          <a:lstStyle/>
          <a:p>
            <a:pPr marL="12700">
              <a:lnSpc>
                <a:spcPct val="100000"/>
              </a:lnSpc>
              <a:spcBef>
                <a:spcPts val="680"/>
              </a:spcBef>
              <a:tabLst>
                <a:tab pos="4584700" algn="l"/>
              </a:tabLst>
            </a:pPr>
            <a:r>
              <a:rPr dirty="0" sz="2400" spc="-10">
                <a:latin typeface="黑体"/>
                <a:cs typeface="黑体"/>
              </a:rPr>
              <a:t>第二个周</a:t>
            </a:r>
            <a:r>
              <a:rPr dirty="0" sz="2400">
                <a:latin typeface="黑体"/>
                <a:cs typeface="黑体"/>
              </a:rPr>
              <a:t>期</a:t>
            </a:r>
            <a:r>
              <a:rPr dirty="0" sz="2400" spc="-425">
                <a:latin typeface="黑体"/>
                <a:cs typeface="黑体"/>
              </a:rPr>
              <a:t> </a:t>
            </a:r>
            <a:r>
              <a:rPr dirty="0" sz="2400" spc="-10">
                <a:solidFill>
                  <a:srgbClr val="40458B"/>
                </a:solidFill>
                <a:latin typeface="黑体"/>
                <a:cs typeface="黑体"/>
              </a:rPr>
              <a:t>：</a:t>
            </a:r>
            <a:r>
              <a:rPr dirty="0" sz="2400">
                <a:solidFill>
                  <a:srgbClr val="FF0000"/>
                </a:solidFill>
                <a:latin typeface="黑体"/>
                <a:cs typeface="黑体"/>
              </a:rPr>
              <a:t>保留站情</a:t>
            </a:r>
            <a:r>
              <a:rPr dirty="0" sz="2400" spc="-10">
                <a:solidFill>
                  <a:srgbClr val="FF0000"/>
                </a:solidFill>
                <a:latin typeface="黑体"/>
                <a:cs typeface="黑体"/>
              </a:rPr>
              <a:t>况</a:t>
            </a:r>
            <a:r>
              <a:rPr dirty="0" sz="2400" spc="-20">
                <a:solidFill>
                  <a:srgbClr val="40458B"/>
                </a:solidFill>
                <a:latin typeface="黑体"/>
                <a:cs typeface="黑体"/>
              </a:rPr>
              <a:t>，</a:t>
            </a:r>
            <a:r>
              <a:rPr dirty="0" sz="2400" spc="-20">
                <a:solidFill>
                  <a:srgbClr val="006FC0"/>
                </a:solidFill>
                <a:latin typeface="Tahoma"/>
                <a:cs typeface="Tahoma"/>
              </a:rPr>
              <a:t>L.D</a:t>
            </a:r>
            <a:r>
              <a:rPr dirty="0" sz="2400">
                <a:solidFill>
                  <a:srgbClr val="006FC0"/>
                </a:solidFill>
                <a:latin typeface="Tahoma"/>
                <a:cs typeface="Tahoma"/>
              </a:rPr>
              <a:t>	</a:t>
            </a:r>
            <a:r>
              <a:rPr dirty="0" sz="2400" spc="-10">
                <a:solidFill>
                  <a:srgbClr val="006FC0"/>
                </a:solidFill>
                <a:latin typeface="Tahoma"/>
                <a:cs typeface="Tahoma"/>
              </a:rPr>
              <a:t>F2,45</a:t>
            </a:r>
            <a:r>
              <a:rPr dirty="0" sz="2400" spc="-10">
                <a:solidFill>
                  <a:srgbClr val="006FC0"/>
                </a:solidFill>
                <a:latin typeface="黑体"/>
                <a:cs typeface="黑体"/>
              </a:rPr>
              <a:t>（</a:t>
            </a:r>
            <a:r>
              <a:rPr dirty="0" sz="2400" spc="-10">
                <a:solidFill>
                  <a:srgbClr val="006FC0"/>
                </a:solidFill>
                <a:latin typeface="Tahoma"/>
                <a:cs typeface="Tahoma"/>
              </a:rPr>
              <a:t>R3</a:t>
            </a:r>
            <a:r>
              <a:rPr dirty="0" sz="2400" spc="-10">
                <a:solidFill>
                  <a:srgbClr val="006FC0"/>
                </a:solidFill>
                <a:latin typeface="黑体"/>
                <a:cs typeface="黑体"/>
              </a:rPr>
              <a:t>）流</a:t>
            </a:r>
            <a:r>
              <a:rPr dirty="0" sz="2400" spc="-50">
                <a:solidFill>
                  <a:srgbClr val="006FC0"/>
                </a:solidFill>
                <a:latin typeface="黑体"/>
                <a:cs typeface="黑体"/>
              </a:rPr>
              <a:t>出</a:t>
            </a:r>
            <a:endParaRPr sz="2400">
              <a:latin typeface="黑体"/>
              <a:cs typeface="黑体"/>
            </a:endParaRPr>
          </a:p>
          <a:p>
            <a:pPr marL="3632200">
              <a:lnSpc>
                <a:spcPct val="100000"/>
              </a:lnSpc>
              <a:spcBef>
                <a:spcPts val="580"/>
              </a:spcBef>
            </a:pPr>
            <a:r>
              <a:rPr dirty="0" sz="2400">
                <a:solidFill>
                  <a:srgbClr val="006FC0"/>
                </a:solidFill>
                <a:latin typeface="黑体"/>
                <a:cs typeface="黑体"/>
              </a:rPr>
              <a:t>且第一个</a:t>
            </a:r>
            <a:r>
              <a:rPr dirty="0" sz="2400" spc="-20">
                <a:solidFill>
                  <a:srgbClr val="006FC0"/>
                </a:solidFill>
                <a:latin typeface="Tahoma"/>
                <a:cs typeface="Tahoma"/>
              </a:rPr>
              <a:t>LD</a:t>
            </a:r>
            <a:r>
              <a:rPr dirty="0" sz="2400" spc="-10">
                <a:solidFill>
                  <a:srgbClr val="006FC0"/>
                </a:solidFill>
                <a:latin typeface="黑体"/>
                <a:cs typeface="黑体"/>
              </a:rPr>
              <a:t>执行：计算有效地址</a:t>
            </a:r>
            <a:endParaRPr sz="2400">
              <a:latin typeface="黑体"/>
              <a:cs typeface="黑体"/>
            </a:endParaRPr>
          </a:p>
        </p:txBody>
      </p:sp>
      <p:grpSp>
        <p:nvGrpSpPr>
          <p:cNvPr id="51" name="object 51" descr=""/>
          <p:cNvGrpSpPr/>
          <p:nvPr/>
        </p:nvGrpSpPr>
        <p:grpSpPr>
          <a:xfrm>
            <a:off x="7433246" y="3215449"/>
            <a:ext cx="3181350" cy="2517140"/>
            <a:chOff x="7433246" y="3215449"/>
            <a:chExt cx="3181350" cy="2517140"/>
          </a:xfrm>
        </p:grpSpPr>
        <p:sp>
          <p:nvSpPr>
            <p:cNvPr id="52" name="object 52" descr=""/>
            <p:cNvSpPr/>
            <p:nvPr/>
          </p:nvSpPr>
          <p:spPr>
            <a:xfrm>
              <a:off x="7681975" y="4005325"/>
              <a:ext cx="2927350" cy="1722755"/>
            </a:xfrm>
            <a:custGeom>
              <a:avLst/>
              <a:gdLst/>
              <a:ahLst/>
              <a:cxnLst/>
              <a:rect l="l" t="t" r="r" b="b"/>
              <a:pathLst>
                <a:path w="2927350" h="1722754">
                  <a:moveTo>
                    <a:pt x="2927350" y="0"/>
                  </a:moveTo>
                  <a:lnTo>
                    <a:pt x="0" y="0"/>
                  </a:lnTo>
                  <a:lnTo>
                    <a:pt x="0" y="1722374"/>
                  </a:lnTo>
                  <a:lnTo>
                    <a:pt x="2927350" y="1722374"/>
                  </a:lnTo>
                  <a:lnTo>
                    <a:pt x="2927350" y="0"/>
                  </a:lnTo>
                  <a:close/>
                </a:path>
              </a:pathLst>
            </a:custGeom>
            <a:solidFill>
              <a:srgbClr val="FFACFF"/>
            </a:solidFill>
          </p:spPr>
          <p:txBody>
            <a:bodyPr wrap="square" lIns="0" tIns="0" rIns="0" bIns="0" rtlCol="0"/>
            <a:lstStyle/>
            <a:p/>
          </p:txBody>
        </p:sp>
        <p:sp>
          <p:nvSpPr>
            <p:cNvPr id="53" name="object 53" descr=""/>
            <p:cNvSpPr/>
            <p:nvPr/>
          </p:nvSpPr>
          <p:spPr>
            <a:xfrm>
              <a:off x="7438008" y="3220211"/>
              <a:ext cx="3171825" cy="2507615"/>
            </a:xfrm>
            <a:custGeom>
              <a:avLst/>
              <a:gdLst/>
              <a:ahLst/>
              <a:cxnLst/>
              <a:rect l="l" t="t" r="r" b="b"/>
              <a:pathLst>
                <a:path w="3171825" h="2507615">
                  <a:moveTo>
                    <a:pt x="243967" y="2507488"/>
                  </a:moveTo>
                  <a:lnTo>
                    <a:pt x="3171317" y="2507488"/>
                  </a:lnTo>
                  <a:lnTo>
                    <a:pt x="3171317" y="785113"/>
                  </a:lnTo>
                  <a:lnTo>
                    <a:pt x="243967" y="785113"/>
                  </a:lnTo>
                  <a:lnTo>
                    <a:pt x="243967" y="2507488"/>
                  </a:lnTo>
                  <a:close/>
                </a:path>
                <a:path w="3171825" h="2507615">
                  <a:moveTo>
                    <a:pt x="0" y="784987"/>
                  </a:moveTo>
                  <a:lnTo>
                    <a:pt x="0" y="2507488"/>
                  </a:lnTo>
                </a:path>
                <a:path w="3171825" h="2507615">
                  <a:moveTo>
                    <a:pt x="0" y="1107948"/>
                  </a:moveTo>
                  <a:lnTo>
                    <a:pt x="1839214" y="0"/>
                  </a:lnTo>
                </a:path>
              </a:pathLst>
            </a:custGeom>
            <a:ln w="9525">
              <a:solidFill>
                <a:srgbClr val="40458B"/>
              </a:solidFill>
            </a:ln>
          </p:spPr>
          <p:txBody>
            <a:bodyPr wrap="square" lIns="0" tIns="0" rIns="0" bIns="0" rtlCol="0"/>
            <a:lstStyle/>
            <a:p/>
          </p:txBody>
        </p:sp>
      </p:grpSp>
      <p:sp>
        <p:nvSpPr>
          <p:cNvPr id="54" name="object 54" descr=""/>
          <p:cNvSpPr txBox="1"/>
          <p:nvPr/>
        </p:nvSpPr>
        <p:spPr>
          <a:xfrm>
            <a:off x="7761478" y="4039361"/>
            <a:ext cx="2768600" cy="756920"/>
          </a:xfrm>
          <a:prstGeom prst="rect">
            <a:avLst/>
          </a:prstGeom>
        </p:spPr>
        <p:txBody>
          <a:bodyPr wrap="square" lIns="0" tIns="12700" rIns="0" bIns="0" rtlCol="0" vert="horz">
            <a:spAutoFit/>
          </a:bodyPr>
          <a:lstStyle/>
          <a:p>
            <a:pPr marL="12700" marR="5080">
              <a:lnSpc>
                <a:spcPct val="100000"/>
              </a:lnSpc>
              <a:spcBef>
                <a:spcPts val="100"/>
              </a:spcBef>
            </a:pPr>
            <a:r>
              <a:rPr dirty="0" sz="2400" spc="-10">
                <a:solidFill>
                  <a:srgbClr val="40458B"/>
                </a:solidFill>
                <a:latin typeface="黑体"/>
                <a:cs typeface="黑体"/>
              </a:rPr>
              <a:t>计算有效地址，同时第二条指令进入流水</a:t>
            </a:r>
            <a:endParaRPr sz="2400">
              <a:latin typeface="黑体"/>
              <a:cs typeface="黑体"/>
            </a:endParaRPr>
          </a:p>
        </p:txBody>
      </p:sp>
      <p:sp>
        <p:nvSpPr>
          <p:cNvPr id="55" name="object 55" descr=""/>
          <p:cNvSpPr txBox="1"/>
          <p:nvPr/>
        </p:nvSpPr>
        <p:spPr>
          <a:xfrm>
            <a:off x="7761478" y="4770577"/>
            <a:ext cx="330835"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40458B"/>
                </a:solidFill>
                <a:latin typeface="黑体"/>
                <a:cs typeface="黑体"/>
              </a:rPr>
              <a:t>站</a:t>
            </a:r>
            <a:endParaRPr sz="2400">
              <a:latin typeface="黑体"/>
              <a:cs typeface="黑体"/>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93/175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graphicFrame>
        <p:nvGraphicFramePr>
          <p:cNvPr id="10" name="object 10" descr=""/>
          <p:cNvGraphicFramePr>
            <a:graphicFrameLocks noGrp="1"/>
          </p:cNvGraphicFramePr>
          <p:nvPr/>
        </p:nvGraphicFramePr>
        <p:xfrm>
          <a:off x="2281237" y="2919412"/>
          <a:ext cx="7952740" cy="1470660"/>
        </p:xfrm>
        <a:graphic>
          <a:graphicData uri="http://schemas.openxmlformats.org/drawingml/2006/table">
            <a:tbl>
              <a:tblPr firstRow="1" bandRow="1">
                <a:tableStyleId>{2D5ABB26-0587-4C30-8999-92F81FD0307C}</a:tableStyleId>
              </a:tblPr>
              <a:tblGrid>
                <a:gridCol w="1433830"/>
                <a:gridCol w="843280"/>
                <a:gridCol w="1029335"/>
                <a:gridCol w="770254"/>
                <a:gridCol w="765810"/>
                <a:gridCol w="757554"/>
                <a:gridCol w="830579"/>
                <a:gridCol w="678179"/>
                <a:gridCol w="762634"/>
              </a:tblGrid>
              <a:tr h="394970">
                <a:tc rowSpan="2">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gridSpan="8">
                  <a:txBody>
                    <a:bodyPr/>
                    <a:lstStyle/>
                    <a:p>
                      <a:pPr algn="ctr" marL="56515">
                        <a:lnSpc>
                          <a:spcPct val="100000"/>
                        </a:lnSpc>
                        <a:spcBef>
                          <a:spcPts val="425"/>
                        </a:spcBef>
                      </a:pPr>
                      <a:r>
                        <a:rPr dirty="0" sz="1800" spc="-20" b="1">
                          <a:solidFill>
                            <a:srgbClr val="E14B04"/>
                          </a:solidFill>
                          <a:latin typeface="宋体"/>
                          <a:cs typeface="宋体"/>
                        </a:rPr>
                        <a:t>寄存器状态表</a:t>
                      </a:r>
                      <a:endParaRPr sz="1800">
                        <a:latin typeface="宋体"/>
                        <a:cs typeface="宋体"/>
                      </a:endParaRPr>
                    </a:p>
                  </a:txBody>
                  <a:tcPr marL="0" marR="0" marB="0" marT="539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518795">
                <a:tc vMerge="1">
                  <a:txBody>
                    <a:bodyPr/>
                    <a:lstStyle/>
                    <a:p>
                      <a:p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82245">
                        <a:lnSpc>
                          <a:spcPct val="100000"/>
                        </a:lnSpc>
                        <a:spcBef>
                          <a:spcPts val="925"/>
                        </a:spcBef>
                      </a:pPr>
                      <a:r>
                        <a:rPr dirty="0" sz="2400" spc="-25" b="1">
                          <a:solidFill>
                            <a:srgbClr val="40458B"/>
                          </a:solidFill>
                          <a:latin typeface="宋体"/>
                          <a:cs typeface="宋体"/>
                        </a:rPr>
                        <a:t>F0</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62890">
                        <a:lnSpc>
                          <a:spcPct val="100000"/>
                        </a:lnSpc>
                        <a:spcBef>
                          <a:spcPts val="925"/>
                        </a:spcBef>
                      </a:pPr>
                      <a:r>
                        <a:rPr dirty="0" sz="2400" spc="-25" b="1">
                          <a:solidFill>
                            <a:srgbClr val="40458B"/>
                          </a:solidFill>
                          <a:latin typeface="宋体"/>
                          <a:cs typeface="宋体"/>
                        </a:rPr>
                        <a:t>F2</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3810" marR="240665">
                        <a:lnSpc>
                          <a:spcPct val="100000"/>
                        </a:lnSpc>
                        <a:spcBef>
                          <a:spcPts val="925"/>
                        </a:spcBef>
                      </a:pPr>
                      <a:r>
                        <a:rPr dirty="0" sz="2400" spc="-25" b="1">
                          <a:solidFill>
                            <a:srgbClr val="40458B"/>
                          </a:solidFill>
                          <a:latin typeface="宋体"/>
                          <a:cs typeface="宋体"/>
                        </a:rPr>
                        <a:t>F4</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52095">
                        <a:lnSpc>
                          <a:spcPct val="100000"/>
                        </a:lnSpc>
                        <a:spcBef>
                          <a:spcPts val="925"/>
                        </a:spcBef>
                      </a:pPr>
                      <a:r>
                        <a:rPr dirty="0" sz="2400" spc="-25" b="1">
                          <a:solidFill>
                            <a:srgbClr val="40458B"/>
                          </a:solidFill>
                          <a:latin typeface="宋体"/>
                          <a:cs typeface="宋体"/>
                        </a:rPr>
                        <a:t>F6</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56540">
                        <a:lnSpc>
                          <a:spcPct val="100000"/>
                        </a:lnSpc>
                        <a:spcBef>
                          <a:spcPts val="925"/>
                        </a:spcBef>
                      </a:pPr>
                      <a:r>
                        <a:rPr dirty="0" sz="2400" spc="-25" b="1">
                          <a:solidFill>
                            <a:srgbClr val="40458B"/>
                          </a:solidFill>
                          <a:latin typeface="宋体"/>
                          <a:cs typeface="宋体"/>
                        </a:rPr>
                        <a:t>F8</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69240">
                        <a:lnSpc>
                          <a:spcPct val="100000"/>
                        </a:lnSpc>
                        <a:spcBef>
                          <a:spcPts val="925"/>
                        </a:spcBef>
                      </a:pPr>
                      <a:r>
                        <a:rPr dirty="0" sz="2400" spc="-25" b="1">
                          <a:solidFill>
                            <a:srgbClr val="40458B"/>
                          </a:solidFill>
                          <a:latin typeface="宋体"/>
                          <a:cs typeface="宋体"/>
                        </a:rPr>
                        <a:t>F10</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08279">
                        <a:lnSpc>
                          <a:spcPct val="100000"/>
                        </a:lnSpc>
                        <a:spcBef>
                          <a:spcPts val="925"/>
                        </a:spcBef>
                      </a:pPr>
                      <a:r>
                        <a:rPr dirty="0" sz="2400" spc="-50" b="1">
                          <a:solidFill>
                            <a:srgbClr val="40458B"/>
                          </a:solidFill>
                          <a:latin typeface="宋体"/>
                          <a:cs typeface="宋体"/>
                        </a:rPr>
                        <a:t>…</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44780">
                        <a:lnSpc>
                          <a:spcPct val="100000"/>
                        </a:lnSpc>
                        <a:spcBef>
                          <a:spcPts val="925"/>
                        </a:spcBef>
                      </a:pPr>
                      <a:r>
                        <a:rPr dirty="0" sz="2400" spc="-25" b="1">
                          <a:solidFill>
                            <a:srgbClr val="40458B"/>
                          </a:solidFill>
                          <a:latin typeface="宋体"/>
                          <a:cs typeface="宋体"/>
                        </a:rPr>
                        <a:t>F30</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56895">
                <a:tc>
                  <a:txBody>
                    <a:bodyPr/>
                    <a:lstStyle/>
                    <a:p>
                      <a:pPr marL="399415">
                        <a:lnSpc>
                          <a:spcPct val="100000"/>
                        </a:lnSpc>
                        <a:spcBef>
                          <a:spcPts val="1160"/>
                        </a:spcBef>
                      </a:pPr>
                      <a:r>
                        <a:rPr dirty="0" sz="2400" spc="-25" b="1">
                          <a:solidFill>
                            <a:srgbClr val="40458B"/>
                          </a:solidFill>
                          <a:latin typeface="宋体"/>
                          <a:cs typeface="宋体"/>
                        </a:rPr>
                        <a:t>Qi</a:t>
                      </a:r>
                      <a:endParaRPr sz="2400">
                        <a:latin typeface="宋体"/>
                        <a:cs typeface="宋体"/>
                      </a:endParaRPr>
                    </a:p>
                  </a:txBody>
                  <a:tcPr marL="0" marR="0" marB="0" marT="1473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25730">
                        <a:lnSpc>
                          <a:spcPct val="100000"/>
                        </a:lnSpc>
                        <a:spcBef>
                          <a:spcPts val="1160"/>
                        </a:spcBef>
                      </a:pPr>
                      <a:r>
                        <a:rPr dirty="0" sz="2400" spc="-10" b="1">
                          <a:solidFill>
                            <a:srgbClr val="FF0000"/>
                          </a:solidFill>
                          <a:latin typeface="宋体"/>
                          <a:cs typeface="宋体"/>
                        </a:rPr>
                        <a:t>Load2</a:t>
                      </a:r>
                      <a:endParaRPr sz="2400">
                        <a:latin typeface="宋体"/>
                        <a:cs typeface="宋体"/>
                      </a:endParaRPr>
                    </a:p>
                  </a:txBody>
                  <a:tcPr marL="0" marR="0" marB="0" marT="1473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r">
                        <a:lnSpc>
                          <a:spcPct val="100000"/>
                        </a:lnSpc>
                        <a:spcBef>
                          <a:spcPts val="1360"/>
                        </a:spcBef>
                      </a:pPr>
                      <a:r>
                        <a:rPr dirty="0" sz="2200" spc="-25" b="1">
                          <a:solidFill>
                            <a:srgbClr val="CC3399"/>
                          </a:solidFill>
                          <a:latin typeface="宋体"/>
                          <a:cs typeface="宋体"/>
                        </a:rPr>
                        <a:t>lo</a:t>
                      </a:r>
                      <a:endParaRPr sz="2200">
                        <a:latin typeface="宋体"/>
                        <a:cs typeface="宋体"/>
                      </a:endParaRPr>
                    </a:p>
                  </a:txBody>
                  <a:tcPr marL="0" marR="0" marB="0" marT="1727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43840">
                        <a:lnSpc>
                          <a:spcPct val="100000"/>
                        </a:lnSpc>
                        <a:spcBef>
                          <a:spcPts val="1360"/>
                        </a:spcBef>
                      </a:pPr>
                      <a:r>
                        <a:rPr dirty="0" sz="2200" spc="-25" b="1">
                          <a:solidFill>
                            <a:srgbClr val="CC3399"/>
                          </a:solidFill>
                          <a:latin typeface="宋体"/>
                          <a:cs typeface="宋体"/>
                        </a:rPr>
                        <a:t>ad1</a:t>
                      </a:r>
                      <a:endParaRPr sz="2200">
                        <a:latin typeface="宋体"/>
                        <a:cs typeface="宋体"/>
                      </a:endParaRPr>
                    </a:p>
                  </a:txBody>
                  <a:tcPr marL="0" marR="0" marB="0" marT="1727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42545">
                        <a:lnSpc>
                          <a:spcPct val="100000"/>
                        </a:lnSpc>
                        <a:spcBef>
                          <a:spcPts val="1160"/>
                        </a:spcBef>
                      </a:pPr>
                      <a:r>
                        <a:rPr dirty="0" sz="2400" spc="-50">
                          <a:solidFill>
                            <a:srgbClr val="40458B"/>
                          </a:solidFill>
                          <a:latin typeface="宋体"/>
                          <a:cs typeface="宋体"/>
                        </a:rPr>
                        <a:t>…</a:t>
                      </a:r>
                      <a:endParaRPr sz="2400">
                        <a:latin typeface="宋体"/>
                        <a:cs typeface="宋体"/>
                      </a:endParaRPr>
                    </a:p>
                  </a:txBody>
                  <a:tcPr marL="0" marR="0" marB="0" marT="1473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bl>
          </a:graphicData>
        </a:graphic>
      </p:graphicFrame>
      <p:sp>
        <p:nvSpPr>
          <p:cNvPr id="11" name="object 11" descr=""/>
          <p:cNvSpPr txBox="1"/>
          <p:nvPr/>
        </p:nvSpPr>
        <p:spPr>
          <a:xfrm>
            <a:off x="1618869" y="1956816"/>
            <a:ext cx="6285230" cy="904240"/>
          </a:xfrm>
          <a:prstGeom prst="rect">
            <a:avLst/>
          </a:prstGeom>
        </p:spPr>
        <p:txBody>
          <a:bodyPr wrap="square" lIns="0" tIns="85725" rIns="0" bIns="0" rtlCol="0" vert="horz">
            <a:spAutoFit/>
          </a:bodyPr>
          <a:lstStyle/>
          <a:p>
            <a:pPr marL="12700">
              <a:lnSpc>
                <a:spcPct val="100000"/>
              </a:lnSpc>
              <a:spcBef>
                <a:spcPts val="675"/>
              </a:spcBef>
            </a:pPr>
            <a:r>
              <a:rPr dirty="0" sz="2400" spc="-75">
                <a:latin typeface="黑体"/>
                <a:cs typeface="黑体"/>
              </a:rPr>
              <a:t>第二个周期 </a:t>
            </a:r>
            <a:r>
              <a:rPr dirty="0" sz="2400">
                <a:solidFill>
                  <a:srgbClr val="40458B"/>
                </a:solidFill>
                <a:latin typeface="黑体"/>
                <a:cs typeface="黑体"/>
              </a:rPr>
              <a:t>：</a:t>
            </a:r>
            <a:r>
              <a:rPr dirty="0" sz="2400">
                <a:solidFill>
                  <a:srgbClr val="FF0000"/>
                </a:solidFill>
                <a:latin typeface="黑体"/>
                <a:cs typeface="黑体"/>
              </a:rPr>
              <a:t>寄存器状态</a:t>
            </a:r>
            <a:r>
              <a:rPr dirty="0" sz="2400" spc="-10">
                <a:solidFill>
                  <a:srgbClr val="40458B"/>
                </a:solidFill>
                <a:latin typeface="黑体"/>
                <a:cs typeface="黑体"/>
              </a:rPr>
              <a:t>，预约结果寄存器</a:t>
            </a:r>
            <a:endParaRPr sz="2400">
              <a:latin typeface="黑体"/>
              <a:cs typeface="黑体"/>
            </a:endParaRPr>
          </a:p>
          <a:p>
            <a:pPr marL="965200">
              <a:lnSpc>
                <a:spcPct val="100000"/>
              </a:lnSpc>
              <a:spcBef>
                <a:spcPts val="580"/>
              </a:spcBef>
              <a:tabLst>
                <a:tab pos="1841500" algn="l"/>
              </a:tabLst>
            </a:pPr>
            <a:r>
              <a:rPr dirty="0" sz="2400" spc="-25">
                <a:solidFill>
                  <a:srgbClr val="006FC0"/>
                </a:solidFill>
                <a:latin typeface="Tahoma"/>
                <a:cs typeface="Tahoma"/>
              </a:rPr>
              <a:t>L.D</a:t>
            </a:r>
            <a:r>
              <a:rPr dirty="0" sz="2400">
                <a:solidFill>
                  <a:srgbClr val="006FC0"/>
                </a:solidFill>
                <a:latin typeface="Tahoma"/>
                <a:cs typeface="Tahoma"/>
              </a:rPr>
              <a:t>	</a:t>
            </a:r>
            <a:r>
              <a:rPr dirty="0" sz="2400" spc="-20">
                <a:solidFill>
                  <a:srgbClr val="006FC0"/>
                </a:solidFill>
                <a:latin typeface="Tahoma"/>
                <a:cs typeface="Tahoma"/>
              </a:rPr>
              <a:t>F2,45</a:t>
            </a:r>
            <a:r>
              <a:rPr dirty="0" sz="2400" spc="-20">
                <a:solidFill>
                  <a:srgbClr val="006FC0"/>
                </a:solidFill>
                <a:latin typeface="黑体"/>
                <a:cs typeface="黑体"/>
              </a:rPr>
              <a:t>（</a:t>
            </a:r>
            <a:r>
              <a:rPr dirty="0" sz="2400" spc="-20">
                <a:solidFill>
                  <a:srgbClr val="006FC0"/>
                </a:solidFill>
                <a:latin typeface="Tahoma"/>
                <a:cs typeface="Tahoma"/>
              </a:rPr>
              <a:t>R3</a:t>
            </a:r>
            <a:r>
              <a:rPr dirty="0" sz="2400" spc="-20">
                <a:solidFill>
                  <a:srgbClr val="006FC0"/>
                </a:solidFill>
                <a:latin typeface="黑体"/>
                <a:cs typeface="黑体"/>
              </a:rPr>
              <a:t>）</a:t>
            </a:r>
            <a:r>
              <a:rPr dirty="0" sz="2400">
                <a:solidFill>
                  <a:srgbClr val="006FC0"/>
                </a:solidFill>
                <a:latin typeface="黑体"/>
                <a:cs typeface="黑体"/>
              </a:rPr>
              <a:t>流出</a:t>
            </a:r>
            <a:r>
              <a:rPr dirty="0" sz="2400" spc="-20">
                <a:solidFill>
                  <a:srgbClr val="006FC0"/>
                </a:solidFill>
                <a:latin typeface="Tahoma"/>
                <a:cs typeface="Tahoma"/>
              </a:rPr>
              <a:t>+</a:t>
            </a:r>
            <a:r>
              <a:rPr dirty="0" sz="2400">
                <a:solidFill>
                  <a:srgbClr val="006FC0"/>
                </a:solidFill>
                <a:latin typeface="黑体"/>
                <a:cs typeface="黑体"/>
              </a:rPr>
              <a:t>第一个</a:t>
            </a:r>
            <a:r>
              <a:rPr dirty="0" sz="2400" spc="-20">
                <a:solidFill>
                  <a:srgbClr val="006FC0"/>
                </a:solidFill>
                <a:latin typeface="Tahoma"/>
                <a:cs typeface="Tahoma"/>
              </a:rPr>
              <a:t>LD</a:t>
            </a:r>
            <a:r>
              <a:rPr dirty="0" sz="2400" spc="-25">
                <a:solidFill>
                  <a:srgbClr val="006FC0"/>
                </a:solidFill>
                <a:latin typeface="黑体"/>
                <a:cs typeface="黑体"/>
              </a:rPr>
              <a:t>执行</a:t>
            </a:r>
            <a:endParaRPr sz="2400">
              <a:latin typeface="黑体"/>
              <a:cs typeface="黑体"/>
            </a:endParaRPr>
          </a:p>
        </p:txBody>
      </p:sp>
      <p:pic>
        <p:nvPicPr>
          <p:cNvPr id="12" name="object 12" descr=""/>
          <p:cNvPicPr/>
          <p:nvPr/>
        </p:nvPicPr>
        <p:blipFill>
          <a:blip r:embed="rId2" cstate="print"/>
          <a:stretch>
            <a:fillRect/>
          </a:stretch>
        </p:blipFill>
        <p:spPr>
          <a:xfrm>
            <a:off x="7121929" y="937886"/>
            <a:ext cx="3244728" cy="729746"/>
          </a:xfrm>
          <a:prstGeom prst="rect">
            <a:avLst/>
          </a:prstGeom>
        </p:spPr>
      </p:pic>
      <p:sp>
        <p:nvSpPr>
          <p:cNvPr id="13" name="object 13" descr=""/>
          <p:cNvSpPr txBox="1"/>
          <p:nvPr/>
        </p:nvSpPr>
        <p:spPr>
          <a:xfrm>
            <a:off x="4586096" y="4615688"/>
            <a:ext cx="1570355" cy="756920"/>
          </a:xfrm>
          <a:prstGeom prst="rect">
            <a:avLst/>
          </a:prstGeom>
        </p:spPr>
        <p:txBody>
          <a:bodyPr wrap="square" lIns="0" tIns="12700" rIns="0" bIns="0" rtlCol="0" vert="horz">
            <a:spAutoFit/>
          </a:bodyPr>
          <a:lstStyle/>
          <a:p>
            <a:pPr marL="12700" marR="5080">
              <a:lnSpc>
                <a:spcPct val="100000"/>
              </a:lnSpc>
              <a:spcBef>
                <a:spcPts val="100"/>
              </a:spcBef>
            </a:pPr>
            <a:r>
              <a:rPr dirty="0" sz="2400">
                <a:solidFill>
                  <a:srgbClr val="40458B"/>
                </a:solidFill>
                <a:latin typeface="黑体"/>
                <a:cs typeface="黑体"/>
              </a:rPr>
              <a:t>等待</a:t>
            </a:r>
            <a:r>
              <a:rPr dirty="0" sz="2400" spc="-10">
                <a:solidFill>
                  <a:srgbClr val="40458B"/>
                </a:solidFill>
                <a:latin typeface="Tahoma"/>
                <a:cs typeface="Tahoma"/>
              </a:rPr>
              <a:t>load2</a:t>
            </a:r>
            <a:r>
              <a:rPr dirty="0" sz="2400">
                <a:solidFill>
                  <a:srgbClr val="40458B"/>
                </a:solidFill>
                <a:latin typeface="黑体"/>
                <a:cs typeface="黑体"/>
              </a:rPr>
              <a:t>结果送入</a:t>
            </a:r>
            <a:r>
              <a:rPr dirty="0" sz="2400" spc="-25">
                <a:solidFill>
                  <a:srgbClr val="40458B"/>
                </a:solidFill>
                <a:latin typeface="Tahoma"/>
                <a:cs typeface="Tahoma"/>
              </a:rPr>
              <a:t>F2</a:t>
            </a:r>
            <a:endParaRPr sz="2400">
              <a:latin typeface="Tahoma"/>
              <a:cs typeface="Tahoma"/>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94/175</a:t>
            </a:r>
            <a:endParaRPr sz="1600">
              <a:latin typeface="宋体"/>
              <a:cs typeface="宋体"/>
            </a:endParaRPr>
          </a:p>
        </p:txBody>
      </p:sp>
      <p:grpSp>
        <p:nvGrpSpPr>
          <p:cNvPr id="3" name="object 3" descr=""/>
          <p:cNvGrpSpPr/>
          <p:nvPr/>
        </p:nvGrpSpPr>
        <p:grpSpPr>
          <a:xfrm>
            <a:off x="68262" y="311150"/>
            <a:ext cx="1076325" cy="274955"/>
            <a:chOff x="68262" y="311150"/>
            <a:chExt cx="1076325" cy="274955"/>
          </a:xfrm>
        </p:grpSpPr>
        <p:sp>
          <p:nvSpPr>
            <p:cNvPr id="4" name="object 4"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5" name="object 5"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6" name="object 6"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grpSp>
        <p:nvGrpSpPr>
          <p:cNvPr id="7" name="object 7" descr=""/>
          <p:cNvGrpSpPr/>
          <p:nvPr/>
        </p:nvGrpSpPr>
        <p:grpSpPr>
          <a:xfrm>
            <a:off x="990600" y="249237"/>
            <a:ext cx="11201400" cy="1135380"/>
            <a:chOff x="990600" y="249237"/>
            <a:chExt cx="11201400" cy="1135380"/>
          </a:xfrm>
        </p:grpSpPr>
        <p:sp>
          <p:nvSpPr>
            <p:cNvPr id="8" name="object 8"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pic>
          <p:nvPicPr>
            <p:cNvPr id="9" name="object 9" descr=""/>
            <p:cNvPicPr/>
            <p:nvPr/>
          </p:nvPicPr>
          <p:blipFill>
            <a:blip r:embed="rId2" cstate="print"/>
            <a:stretch>
              <a:fillRect/>
            </a:stretch>
          </p:blipFill>
          <p:spPr>
            <a:xfrm>
              <a:off x="7104126" y="249237"/>
              <a:ext cx="3455797" cy="1135062"/>
            </a:xfrm>
            <a:prstGeom prst="rect">
              <a:avLst/>
            </a:prstGeom>
          </p:spPr>
        </p:pic>
      </p:grpSp>
      <p:sp>
        <p:nvSpPr>
          <p:cNvPr id="10" name="object 10"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11" name="object 11"/>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2" name="object 12" descr=""/>
          <p:cNvSpPr txBox="1"/>
          <p:nvPr/>
        </p:nvSpPr>
        <p:spPr>
          <a:xfrm>
            <a:off x="-16357" y="1411351"/>
            <a:ext cx="4359910" cy="391160"/>
          </a:xfrm>
          <a:prstGeom prst="rect">
            <a:avLst/>
          </a:prstGeom>
        </p:spPr>
        <p:txBody>
          <a:bodyPr wrap="square" lIns="0" tIns="12700" rIns="0" bIns="0" rtlCol="0" vert="horz">
            <a:spAutoFit/>
          </a:bodyPr>
          <a:lstStyle/>
          <a:p>
            <a:pPr marL="12700">
              <a:lnSpc>
                <a:spcPct val="100000"/>
              </a:lnSpc>
              <a:spcBef>
                <a:spcPts val="100"/>
              </a:spcBef>
            </a:pPr>
            <a:r>
              <a:rPr dirty="0" sz="2400" spc="-75">
                <a:latin typeface="黑体"/>
                <a:cs typeface="黑体"/>
              </a:rPr>
              <a:t>第三个周期 </a:t>
            </a:r>
            <a:r>
              <a:rPr dirty="0" sz="2400">
                <a:solidFill>
                  <a:srgbClr val="40458B"/>
                </a:solidFill>
                <a:latin typeface="黑体"/>
                <a:cs typeface="黑体"/>
              </a:rPr>
              <a:t>：</a:t>
            </a:r>
            <a:r>
              <a:rPr dirty="0" sz="2400" spc="-5">
                <a:solidFill>
                  <a:srgbClr val="FF0000"/>
                </a:solidFill>
                <a:latin typeface="黑体"/>
                <a:cs typeface="黑体"/>
              </a:rPr>
              <a:t>指令状态，</a:t>
            </a:r>
            <a:r>
              <a:rPr dirty="0" sz="2400" spc="-10">
                <a:solidFill>
                  <a:srgbClr val="006FC0"/>
                </a:solidFill>
                <a:latin typeface="Tahoma"/>
                <a:cs typeface="Tahoma"/>
              </a:rPr>
              <a:t>MUL.D</a:t>
            </a:r>
            <a:endParaRPr sz="2400">
              <a:latin typeface="Tahoma"/>
              <a:cs typeface="Tahoma"/>
            </a:endParaRPr>
          </a:p>
        </p:txBody>
      </p:sp>
      <p:sp>
        <p:nvSpPr>
          <p:cNvPr id="13" name="object 13" descr=""/>
          <p:cNvSpPr txBox="1"/>
          <p:nvPr/>
        </p:nvSpPr>
        <p:spPr>
          <a:xfrm>
            <a:off x="4555997" y="1411351"/>
            <a:ext cx="7626984"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006FC0"/>
                </a:solidFill>
                <a:latin typeface="Tahoma"/>
                <a:cs typeface="Tahoma"/>
              </a:rPr>
              <a:t>F0,F2MF4</a:t>
            </a:r>
            <a:r>
              <a:rPr dirty="0" sz="2400">
                <a:solidFill>
                  <a:srgbClr val="006FC0"/>
                </a:solidFill>
                <a:latin typeface="黑体"/>
                <a:cs typeface="黑体"/>
              </a:rPr>
              <a:t>流出</a:t>
            </a:r>
            <a:r>
              <a:rPr dirty="0" sz="2400">
                <a:solidFill>
                  <a:srgbClr val="006FC0"/>
                </a:solidFill>
                <a:latin typeface="Tahoma"/>
                <a:cs typeface="Tahoma"/>
              </a:rPr>
              <a:t>,</a:t>
            </a:r>
            <a:r>
              <a:rPr dirty="0" sz="2400">
                <a:solidFill>
                  <a:srgbClr val="006FC0"/>
                </a:solidFill>
                <a:latin typeface="黑体"/>
                <a:cs typeface="黑体"/>
              </a:rPr>
              <a:t>第一条</a:t>
            </a:r>
            <a:r>
              <a:rPr dirty="0" sz="2400" spc="-20">
                <a:solidFill>
                  <a:srgbClr val="006FC0"/>
                </a:solidFill>
                <a:latin typeface="Tahoma"/>
                <a:cs typeface="Tahoma"/>
              </a:rPr>
              <a:t>LD</a:t>
            </a:r>
            <a:r>
              <a:rPr dirty="0" sz="2400">
                <a:solidFill>
                  <a:srgbClr val="006FC0"/>
                </a:solidFill>
                <a:latin typeface="黑体"/>
                <a:cs typeface="黑体"/>
              </a:rPr>
              <a:t>仍执行，第二条</a:t>
            </a:r>
            <a:r>
              <a:rPr dirty="0" sz="2400" spc="-20">
                <a:solidFill>
                  <a:srgbClr val="006FC0"/>
                </a:solidFill>
                <a:latin typeface="Tahoma"/>
                <a:cs typeface="Tahoma"/>
              </a:rPr>
              <a:t>LD</a:t>
            </a:r>
            <a:r>
              <a:rPr dirty="0" sz="2400" spc="-10">
                <a:solidFill>
                  <a:srgbClr val="006FC0"/>
                </a:solidFill>
                <a:latin typeface="黑体"/>
                <a:cs typeface="黑体"/>
              </a:rPr>
              <a:t>指令开始执行</a:t>
            </a:r>
            <a:endParaRPr sz="2400">
              <a:latin typeface="黑体"/>
              <a:cs typeface="黑体"/>
            </a:endParaRPr>
          </a:p>
        </p:txBody>
      </p:sp>
      <p:graphicFrame>
        <p:nvGraphicFramePr>
          <p:cNvPr id="14" name="object 14" descr=""/>
          <p:cNvGraphicFramePr>
            <a:graphicFrameLocks noGrp="1"/>
          </p:cNvGraphicFramePr>
          <p:nvPr/>
        </p:nvGraphicFramePr>
        <p:xfrm>
          <a:off x="2504884" y="1989137"/>
          <a:ext cx="7458709" cy="4189095"/>
        </p:xfrm>
        <a:graphic>
          <a:graphicData uri="http://schemas.openxmlformats.org/drawingml/2006/table">
            <a:tbl>
              <a:tblPr firstRow="1" bandRow="1">
                <a:tableStyleId>{2D5ABB26-0587-4C30-8999-92F81FD0307C}</a:tableStyleId>
              </a:tblPr>
              <a:tblGrid>
                <a:gridCol w="1427480"/>
                <a:gridCol w="2170430"/>
                <a:gridCol w="1160144"/>
                <a:gridCol w="1110614"/>
                <a:gridCol w="1506855"/>
              </a:tblGrid>
              <a:tr h="594995">
                <a:tc rowSpan="2">
                  <a:txBody>
                    <a:bodyPr/>
                    <a:lstStyle/>
                    <a:p>
                      <a:pPr marL="725805">
                        <a:lnSpc>
                          <a:spcPct val="100000"/>
                        </a:lnSpc>
                        <a:spcBef>
                          <a:spcPts val="2440"/>
                        </a:spcBef>
                      </a:pPr>
                      <a:r>
                        <a:rPr dirty="0" sz="2400" spc="-50" b="1">
                          <a:solidFill>
                            <a:srgbClr val="E14B04"/>
                          </a:solidFill>
                          <a:latin typeface="宋体"/>
                          <a:cs typeface="宋体"/>
                        </a:rPr>
                        <a:t>指</a:t>
                      </a:r>
                      <a:endParaRPr sz="2400">
                        <a:latin typeface="宋体"/>
                        <a:cs typeface="宋体"/>
                      </a:endParaRPr>
                    </a:p>
                  </a:txBody>
                  <a:tcPr marL="0" marR="0" marB="0" marT="30988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rowSpan="2">
                  <a:txBody>
                    <a:bodyPr/>
                    <a:lstStyle/>
                    <a:p>
                      <a:pPr marL="528320">
                        <a:lnSpc>
                          <a:spcPct val="100000"/>
                        </a:lnSpc>
                        <a:spcBef>
                          <a:spcPts val="2440"/>
                        </a:spcBef>
                      </a:pPr>
                      <a:r>
                        <a:rPr dirty="0" sz="2400" spc="-50" b="1">
                          <a:solidFill>
                            <a:srgbClr val="E14B04"/>
                          </a:solidFill>
                          <a:latin typeface="宋体"/>
                          <a:cs typeface="宋体"/>
                        </a:rPr>
                        <a:t>令</a:t>
                      </a:r>
                      <a:endParaRPr sz="2400">
                        <a:latin typeface="宋体"/>
                        <a:cs typeface="宋体"/>
                      </a:endParaRPr>
                    </a:p>
                  </a:txBody>
                  <a:tcPr marL="0" marR="0" marB="0" marT="30988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gridSpan="3">
                  <a:txBody>
                    <a:bodyPr/>
                    <a:lstStyle/>
                    <a:p>
                      <a:pPr marL="1249045">
                        <a:lnSpc>
                          <a:spcPct val="100000"/>
                        </a:lnSpc>
                        <a:spcBef>
                          <a:spcPts val="1240"/>
                        </a:spcBef>
                      </a:pPr>
                      <a:r>
                        <a:rPr dirty="0" sz="1800" spc="-20" b="1">
                          <a:solidFill>
                            <a:srgbClr val="E14B04"/>
                          </a:solidFill>
                          <a:latin typeface="宋体"/>
                          <a:cs typeface="宋体"/>
                        </a:rPr>
                        <a:t>指令状态表</a:t>
                      </a:r>
                      <a:endParaRPr sz="1800">
                        <a:latin typeface="宋体"/>
                        <a:cs typeface="宋体"/>
                      </a:endParaRPr>
                    </a:p>
                  </a:txBody>
                  <a:tcPr marL="0" marR="0" marB="0" marT="1574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hMerge="1">
                  <a:txBody>
                    <a:bodyPr/>
                    <a:lstStyle/>
                    <a:p>
                      <a:pPr/>
                    </a:p>
                  </a:txBody>
                  <a:tcPr marL="0" marR="0" marB="0" marT="0"/>
                </a:tc>
              </a:tr>
              <a:tr h="394970">
                <a:tc vMerge="1">
                  <a:txBody>
                    <a:bodyPr/>
                    <a:lstStyle/>
                    <a:p>
                      <a:pPr/>
                    </a:p>
                  </a:txBody>
                  <a:tcPr marL="0" marR="0" marB="0" marT="30988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vMerge="1">
                  <a:txBody>
                    <a:bodyPr/>
                    <a:lstStyle/>
                    <a:p>
                      <a:pPr/>
                    </a:p>
                  </a:txBody>
                  <a:tcPr marL="0" marR="0" marB="0" marT="30988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r" marR="318135">
                        <a:lnSpc>
                          <a:spcPts val="2820"/>
                        </a:lnSpc>
                        <a:spcBef>
                          <a:spcPts val="190"/>
                        </a:spcBef>
                      </a:pPr>
                      <a:r>
                        <a:rPr dirty="0" sz="2400" spc="-35" b="1">
                          <a:solidFill>
                            <a:srgbClr val="E14B04"/>
                          </a:solidFill>
                          <a:latin typeface="宋体"/>
                          <a:cs typeface="宋体"/>
                        </a:rPr>
                        <a:t>流出</a:t>
                      </a:r>
                      <a:endParaRPr sz="2400">
                        <a:latin typeface="宋体"/>
                        <a:cs typeface="宋体"/>
                      </a:endParaRPr>
                    </a:p>
                  </a:txBody>
                  <a:tcPr marL="0" marR="0" marB="0" marT="241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30810">
                        <a:lnSpc>
                          <a:spcPts val="2820"/>
                        </a:lnSpc>
                        <a:spcBef>
                          <a:spcPts val="190"/>
                        </a:spcBef>
                      </a:pPr>
                      <a:r>
                        <a:rPr dirty="0" sz="2400" spc="-35" b="1">
                          <a:solidFill>
                            <a:srgbClr val="E14B04"/>
                          </a:solidFill>
                          <a:latin typeface="宋体"/>
                          <a:cs typeface="宋体"/>
                        </a:rPr>
                        <a:t>执行</a:t>
                      </a:r>
                      <a:endParaRPr sz="2400">
                        <a:latin typeface="宋体"/>
                        <a:cs typeface="宋体"/>
                      </a:endParaRPr>
                    </a:p>
                  </a:txBody>
                  <a:tcPr marL="0" marR="0" marB="0" marT="241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91440">
                        <a:lnSpc>
                          <a:spcPts val="2820"/>
                        </a:lnSpc>
                        <a:spcBef>
                          <a:spcPts val="190"/>
                        </a:spcBef>
                      </a:pPr>
                      <a:r>
                        <a:rPr dirty="0" sz="2400" spc="-35" b="1">
                          <a:solidFill>
                            <a:srgbClr val="E14B04"/>
                          </a:solidFill>
                          <a:latin typeface="宋体"/>
                          <a:cs typeface="宋体"/>
                        </a:rPr>
                        <a:t>写结果</a:t>
                      </a:r>
                      <a:endParaRPr sz="2400">
                        <a:latin typeface="宋体"/>
                        <a:cs typeface="宋体"/>
                      </a:endParaRPr>
                    </a:p>
                  </a:txBody>
                  <a:tcPr marL="0" marR="0" marB="0" marT="241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52450">
                <a:tc gridSpan="2">
                  <a:txBody>
                    <a:bodyPr/>
                    <a:lstStyle/>
                    <a:p>
                      <a:pPr marL="238125">
                        <a:lnSpc>
                          <a:spcPct val="100000"/>
                        </a:lnSpc>
                        <a:spcBef>
                          <a:spcPts val="1155"/>
                        </a:spcBef>
                        <a:tabLst>
                          <a:tab pos="1761489" algn="l"/>
                        </a:tabLst>
                      </a:pPr>
                      <a:r>
                        <a:rPr dirty="0" sz="2400" spc="-25" b="1">
                          <a:solidFill>
                            <a:srgbClr val="40458B"/>
                          </a:solidFill>
                          <a:latin typeface="Times New Roman"/>
                          <a:cs typeface="Times New Roman"/>
                        </a:rPr>
                        <a:t>L.D</a:t>
                      </a:r>
                      <a:r>
                        <a:rPr dirty="0" sz="2400" b="1">
                          <a:solidFill>
                            <a:srgbClr val="40458B"/>
                          </a:solidFill>
                          <a:latin typeface="Times New Roman"/>
                          <a:cs typeface="Times New Roman"/>
                        </a:rPr>
                        <a:t>	F6</a:t>
                      </a:r>
                      <a:r>
                        <a:rPr dirty="0" sz="2400" spc="-10" b="1">
                          <a:solidFill>
                            <a:srgbClr val="40458B"/>
                          </a:solidFill>
                          <a:latin typeface="Times New Roman"/>
                          <a:cs typeface="Times New Roman"/>
                        </a:rPr>
                        <a:t> </a:t>
                      </a:r>
                      <a:r>
                        <a:rPr dirty="0" sz="2400" b="1">
                          <a:solidFill>
                            <a:srgbClr val="40458B"/>
                          </a:solidFill>
                          <a:latin typeface="Times New Roman"/>
                          <a:cs typeface="Times New Roman"/>
                        </a:rPr>
                        <a:t>, </a:t>
                      </a:r>
                      <a:r>
                        <a:rPr dirty="0" sz="2400" spc="-10" b="1">
                          <a:solidFill>
                            <a:srgbClr val="40458B"/>
                          </a:solidFill>
                          <a:latin typeface="Times New Roman"/>
                          <a:cs typeface="Times New Roman"/>
                        </a:rPr>
                        <a:t>34(R2)</a:t>
                      </a:r>
                      <a:endParaRPr sz="2400">
                        <a:latin typeface="Times New Roman"/>
                        <a:cs typeface="Times New Roman"/>
                      </a:endParaRPr>
                    </a:p>
                  </a:txBody>
                  <a:tcPr marL="0" marR="0" marB="0" marT="1466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a:txBody>
                    <a:bodyPr/>
                    <a:lstStyle/>
                    <a:p>
                      <a:pPr marL="73025">
                        <a:lnSpc>
                          <a:spcPct val="100000"/>
                        </a:lnSpc>
                        <a:spcBef>
                          <a:spcPts val="1355"/>
                        </a:spcBef>
                      </a:pPr>
                      <a:r>
                        <a:rPr dirty="0" baseline="-4629" sz="3600" b="1">
                          <a:solidFill>
                            <a:srgbClr val="FF0000"/>
                          </a:solidFill>
                          <a:latin typeface="Times New Roman"/>
                          <a:cs typeface="Times New Roman"/>
                        </a:rPr>
                        <a:t>1</a:t>
                      </a:r>
                      <a:r>
                        <a:rPr dirty="0" baseline="-4629" sz="3600" spc="412" b="1">
                          <a:solidFill>
                            <a:srgbClr val="FF0000"/>
                          </a:solidFill>
                          <a:latin typeface="Times New Roman"/>
                          <a:cs typeface="Times New Roman"/>
                        </a:rPr>
                        <a:t> </a:t>
                      </a:r>
                      <a:r>
                        <a:rPr dirty="0" sz="2400" spc="-50" b="1">
                          <a:solidFill>
                            <a:srgbClr val="40458B"/>
                          </a:solidFill>
                          <a:latin typeface="Times New Roman"/>
                          <a:cs typeface="Times New Roman"/>
                        </a:rPr>
                        <a:t>√</a:t>
                      </a:r>
                      <a:endParaRPr sz="2400">
                        <a:latin typeface="Times New Roman"/>
                        <a:cs typeface="Times New Roman"/>
                      </a:endParaRPr>
                    </a:p>
                  </a:txBody>
                  <a:tcPr marL="0" marR="0" marB="0" marT="1720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59690">
                        <a:lnSpc>
                          <a:spcPct val="100000"/>
                        </a:lnSpc>
                        <a:spcBef>
                          <a:spcPts val="1140"/>
                        </a:spcBef>
                        <a:tabLst>
                          <a:tab pos="629920" algn="l"/>
                        </a:tabLst>
                      </a:pPr>
                      <a:r>
                        <a:rPr dirty="0" baseline="-3472" sz="3600" b="1">
                          <a:solidFill>
                            <a:srgbClr val="FF0000"/>
                          </a:solidFill>
                          <a:latin typeface="Times New Roman"/>
                          <a:cs typeface="Times New Roman"/>
                        </a:rPr>
                        <a:t>2</a:t>
                      </a:r>
                      <a:r>
                        <a:rPr dirty="0" baseline="-3472" sz="3600" spc="202" b="1">
                          <a:solidFill>
                            <a:srgbClr val="FF0000"/>
                          </a:solidFill>
                          <a:latin typeface="Times New Roman"/>
                          <a:cs typeface="Times New Roman"/>
                        </a:rPr>
                        <a:t> </a:t>
                      </a:r>
                      <a:r>
                        <a:rPr dirty="0" sz="2400" spc="-50" b="1">
                          <a:solidFill>
                            <a:srgbClr val="40458B"/>
                          </a:solidFill>
                          <a:latin typeface="Times New Roman"/>
                          <a:cs typeface="Times New Roman"/>
                        </a:rPr>
                        <a:t>√</a:t>
                      </a:r>
                      <a:r>
                        <a:rPr dirty="0" sz="2400" b="1">
                          <a:solidFill>
                            <a:srgbClr val="40458B"/>
                          </a:solidFill>
                          <a:latin typeface="Times New Roman"/>
                          <a:cs typeface="Times New Roman"/>
                        </a:rPr>
                        <a:t>	</a:t>
                      </a:r>
                      <a:r>
                        <a:rPr dirty="0" baseline="-4629" sz="3600" b="1">
                          <a:solidFill>
                            <a:srgbClr val="40458B"/>
                          </a:solidFill>
                          <a:latin typeface="Times New Roman"/>
                          <a:cs typeface="Times New Roman"/>
                        </a:rPr>
                        <a:t>√</a:t>
                      </a:r>
                      <a:r>
                        <a:rPr dirty="0" baseline="-4629" sz="3600" spc="120" b="1">
                          <a:solidFill>
                            <a:srgbClr val="40458B"/>
                          </a:solidFill>
                          <a:latin typeface="Times New Roman"/>
                          <a:cs typeface="Times New Roman"/>
                        </a:rPr>
                        <a:t> </a:t>
                      </a:r>
                      <a:r>
                        <a:rPr dirty="0" sz="2400" spc="-60" b="1">
                          <a:solidFill>
                            <a:srgbClr val="FF0000"/>
                          </a:solidFill>
                          <a:latin typeface="Times New Roman"/>
                          <a:cs typeface="Times New Roman"/>
                        </a:rPr>
                        <a:t>3</a:t>
                      </a:r>
                      <a:endParaRPr sz="2400">
                        <a:latin typeface="Times New Roman"/>
                        <a:cs typeface="Times New Roman"/>
                      </a:endParaRPr>
                    </a:p>
                  </a:txBody>
                  <a:tcPr marL="0" marR="0" marB="0" marT="1447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gridSpan="2">
                  <a:txBody>
                    <a:bodyPr/>
                    <a:lstStyle/>
                    <a:p>
                      <a:pPr marL="238125">
                        <a:lnSpc>
                          <a:spcPct val="100000"/>
                        </a:lnSpc>
                        <a:spcBef>
                          <a:spcPts val="840"/>
                        </a:spcBef>
                        <a:tabLst>
                          <a:tab pos="1761489" algn="l"/>
                        </a:tabLst>
                      </a:pPr>
                      <a:r>
                        <a:rPr dirty="0" sz="2400" spc="-25" b="1">
                          <a:solidFill>
                            <a:srgbClr val="40458B"/>
                          </a:solidFill>
                          <a:latin typeface="Times New Roman"/>
                          <a:cs typeface="Times New Roman"/>
                        </a:rPr>
                        <a:t>L.D</a:t>
                      </a:r>
                      <a:r>
                        <a:rPr dirty="0" sz="2400" b="1">
                          <a:solidFill>
                            <a:srgbClr val="40458B"/>
                          </a:solidFill>
                          <a:latin typeface="Times New Roman"/>
                          <a:cs typeface="Times New Roman"/>
                        </a:rPr>
                        <a:t>	F2</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a:t>
                      </a:r>
                      <a:r>
                        <a:rPr dirty="0" sz="2400" spc="-10" b="1">
                          <a:solidFill>
                            <a:srgbClr val="40458B"/>
                          </a:solidFill>
                          <a:latin typeface="Times New Roman"/>
                          <a:cs typeface="Times New Roman"/>
                        </a:rPr>
                        <a:t>45(R3)</a:t>
                      </a:r>
                      <a:endParaRPr sz="2400">
                        <a:latin typeface="Times New Roman"/>
                        <a:cs typeface="Times New Roman"/>
                      </a:endParaRPr>
                    </a:p>
                  </a:txBody>
                  <a:tcPr marL="0" marR="0" marB="0" marT="1066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a:txBody>
                    <a:bodyPr/>
                    <a:lstStyle/>
                    <a:p>
                      <a:pPr algn="r" marR="328930">
                        <a:lnSpc>
                          <a:spcPct val="100000"/>
                        </a:lnSpc>
                        <a:spcBef>
                          <a:spcPts val="1045"/>
                        </a:spcBef>
                        <a:tabLst>
                          <a:tab pos="299720" algn="l"/>
                        </a:tabLst>
                      </a:pPr>
                      <a:r>
                        <a:rPr dirty="0" sz="2400" spc="-50" b="1">
                          <a:solidFill>
                            <a:srgbClr val="40458B"/>
                          </a:solidFill>
                          <a:latin typeface="Times New Roman"/>
                          <a:cs typeface="Times New Roman"/>
                        </a:rPr>
                        <a:t>√</a:t>
                      </a:r>
                      <a:r>
                        <a:rPr dirty="0" sz="2400" b="1">
                          <a:solidFill>
                            <a:srgbClr val="40458B"/>
                          </a:solidFill>
                          <a:latin typeface="Times New Roman"/>
                          <a:cs typeface="Times New Roman"/>
                        </a:rPr>
                        <a:t>	</a:t>
                      </a:r>
                      <a:r>
                        <a:rPr dirty="0" sz="2400" spc="-50" b="1">
                          <a:solidFill>
                            <a:srgbClr val="FF0000"/>
                          </a:solidFill>
                          <a:latin typeface="Times New Roman"/>
                          <a:cs typeface="Times New Roman"/>
                        </a:rPr>
                        <a:t>2</a:t>
                      </a:r>
                      <a:endParaRPr sz="2400">
                        <a:latin typeface="Times New Roman"/>
                        <a:cs typeface="Times New Roman"/>
                      </a:endParaRPr>
                    </a:p>
                  </a:txBody>
                  <a:tcPr marL="0" marR="0" marB="0" marT="1327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92075">
                        <a:lnSpc>
                          <a:spcPts val="2655"/>
                        </a:lnSpc>
                        <a:spcBef>
                          <a:spcPts val="1555"/>
                        </a:spcBef>
                      </a:pPr>
                      <a:r>
                        <a:rPr dirty="0" sz="2400" b="1">
                          <a:solidFill>
                            <a:srgbClr val="FF0000"/>
                          </a:solidFill>
                          <a:latin typeface="Times New Roman"/>
                          <a:cs typeface="Times New Roman"/>
                        </a:rPr>
                        <a:t>3</a:t>
                      </a:r>
                      <a:r>
                        <a:rPr dirty="0" sz="2400" spc="-340" b="1">
                          <a:solidFill>
                            <a:srgbClr val="FF0000"/>
                          </a:solidFill>
                          <a:latin typeface="Times New Roman"/>
                          <a:cs typeface="Times New Roman"/>
                        </a:rPr>
                        <a:t> </a:t>
                      </a:r>
                      <a:r>
                        <a:rPr dirty="0" sz="2400" spc="-50" b="1">
                          <a:solidFill>
                            <a:srgbClr val="40458B"/>
                          </a:solidFill>
                          <a:latin typeface="Times New Roman"/>
                          <a:cs typeface="Times New Roman"/>
                        </a:rPr>
                        <a:t>√</a:t>
                      </a:r>
                      <a:endParaRPr sz="2400">
                        <a:latin typeface="Times New Roman"/>
                        <a:cs typeface="Times New Roman"/>
                      </a:endParaRPr>
                    </a:p>
                  </a:txBody>
                  <a:tcPr marL="0" marR="0" marB="0" marT="1974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a:txBody>
                    <a:bodyPr/>
                    <a:lstStyle/>
                    <a:p>
                      <a:pPr marL="85725">
                        <a:lnSpc>
                          <a:spcPct val="100000"/>
                        </a:lnSpc>
                        <a:spcBef>
                          <a:spcPts val="560"/>
                        </a:spcBef>
                      </a:pPr>
                      <a:r>
                        <a:rPr dirty="0" sz="2400" spc="-10" b="1">
                          <a:solidFill>
                            <a:srgbClr val="40458B"/>
                          </a:solidFill>
                          <a:latin typeface="Times New Roman"/>
                          <a:cs typeface="Times New Roman"/>
                        </a:rPr>
                        <a:t>MUL.D</a:t>
                      </a:r>
                      <a:endParaRPr sz="2400">
                        <a:latin typeface="Times New Roman"/>
                        <a:cs typeface="Times New Roman"/>
                      </a:endParaRPr>
                    </a:p>
                  </a:txBody>
                  <a:tcPr marL="0" marR="0" marB="0" marT="7112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560"/>
                        </a:spcBef>
                      </a:pPr>
                      <a:r>
                        <a:rPr dirty="0" sz="2400" b="1">
                          <a:solidFill>
                            <a:srgbClr val="40458B"/>
                          </a:solidFill>
                          <a:latin typeface="Times New Roman"/>
                          <a:cs typeface="Times New Roman"/>
                        </a:rPr>
                        <a:t>F0</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F2</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a:t>
                      </a:r>
                      <a:r>
                        <a:rPr dirty="0" sz="2400" spc="-25" b="1">
                          <a:solidFill>
                            <a:srgbClr val="40458B"/>
                          </a:solidFill>
                          <a:latin typeface="Times New Roman"/>
                          <a:cs typeface="Times New Roman"/>
                        </a:rPr>
                        <a:t>F4</a:t>
                      </a:r>
                      <a:endParaRPr sz="2400">
                        <a:latin typeface="Times New Roman"/>
                        <a:cs typeface="Times New Roman"/>
                      </a:endParaRPr>
                    </a:p>
                  </a:txBody>
                  <a:tcPr marL="0" marR="0" marB="0" marT="7112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31445">
                        <a:lnSpc>
                          <a:spcPct val="100000"/>
                        </a:lnSpc>
                        <a:spcBef>
                          <a:spcPts val="844"/>
                        </a:spcBef>
                      </a:pPr>
                      <a:r>
                        <a:rPr dirty="0" sz="2400" b="1">
                          <a:solidFill>
                            <a:srgbClr val="FF0000"/>
                          </a:solidFill>
                          <a:latin typeface="Times New Roman"/>
                          <a:cs typeface="Times New Roman"/>
                        </a:rPr>
                        <a:t>3</a:t>
                      </a:r>
                      <a:r>
                        <a:rPr dirty="0" sz="2400" spc="135" b="1">
                          <a:solidFill>
                            <a:srgbClr val="FF0000"/>
                          </a:solidFill>
                          <a:latin typeface="Times New Roman"/>
                          <a:cs typeface="Times New Roman"/>
                        </a:rPr>
                        <a:t> </a:t>
                      </a:r>
                      <a:r>
                        <a:rPr dirty="0" baseline="-5787" sz="3600" spc="-75" b="1">
                          <a:solidFill>
                            <a:srgbClr val="40458B"/>
                          </a:solidFill>
                          <a:latin typeface="Times New Roman"/>
                          <a:cs typeface="Times New Roman"/>
                        </a:rPr>
                        <a:t>√</a:t>
                      </a:r>
                      <a:endParaRPr baseline="-5787" sz="3600">
                        <a:latin typeface="Times New Roman"/>
                        <a:cs typeface="Times New Roman"/>
                      </a:endParaRPr>
                    </a:p>
                  </a:txBody>
                  <a:tcPr marL="0" marR="0" marB="0" marT="10731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490220">
                <a:tc>
                  <a:txBody>
                    <a:bodyPr/>
                    <a:lstStyle/>
                    <a:p>
                      <a:pPr marL="85725">
                        <a:lnSpc>
                          <a:spcPct val="100000"/>
                        </a:lnSpc>
                        <a:spcBef>
                          <a:spcPts val="280"/>
                        </a:spcBef>
                      </a:pPr>
                      <a:r>
                        <a:rPr dirty="0" sz="2400" spc="-10" b="1">
                          <a:solidFill>
                            <a:srgbClr val="40458B"/>
                          </a:solidFill>
                          <a:latin typeface="Times New Roman"/>
                          <a:cs typeface="Times New Roman"/>
                        </a:rPr>
                        <a:t>SUB.D</a:t>
                      </a:r>
                      <a:endParaRPr sz="2400">
                        <a:latin typeface="Times New Roman"/>
                        <a:cs typeface="Times New Roman"/>
                      </a:endParaRPr>
                    </a:p>
                  </a:txBody>
                  <a:tcPr marL="0" marR="0" marB="0" marT="3556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280"/>
                        </a:spcBef>
                      </a:pPr>
                      <a:r>
                        <a:rPr dirty="0" sz="2400" b="1">
                          <a:solidFill>
                            <a:srgbClr val="40458B"/>
                          </a:solidFill>
                          <a:latin typeface="Times New Roman"/>
                          <a:cs typeface="Times New Roman"/>
                        </a:rPr>
                        <a:t>F8</a:t>
                      </a:r>
                      <a:r>
                        <a:rPr dirty="0" sz="2400" spc="-20" b="1">
                          <a:solidFill>
                            <a:srgbClr val="40458B"/>
                          </a:solidFill>
                          <a:latin typeface="Times New Roman"/>
                          <a:cs typeface="Times New Roman"/>
                        </a:rPr>
                        <a:t> </a:t>
                      </a:r>
                      <a:r>
                        <a:rPr dirty="0" sz="2400" b="1">
                          <a:solidFill>
                            <a:srgbClr val="40458B"/>
                          </a:solidFill>
                          <a:latin typeface="Times New Roman"/>
                          <a:cs typeface="Times New Roman"/>
                        </a:rPr>
                        <a:t>, F6</a:t>
                      </a:r>
                      <a:r>
                        <a:rPr dirty="0" sz="2400" spc="-10" b="1">
                          <a:solidFill>
                            <a:srgbClr val="40458B"/>
                          </a:solidFill>
                          <a:latin typeface="Times New Roman"/>
                          <a:cs typeface="Times New Roman"/>
                        </a:rPr>
                        <a:t> </a:t>
                      </a:r>
                      <a:r>
                        <a:rPr dirty="0" sz="2400" b="1">
                          <a:solidFill>
                            <a:srgbClr val="40458B"/>
                          </a:solidFill>
                          <a:latin typeface="Times New Roman"/>
                          <a:cs typeface="Times New Roman"/>
                        </a:rPr>
                        <a:t>,</a:t>
                      </a:r>
                      <a:r>
                        <a:rPr dirty="0" sz="2400" spc="-5" b="1">
                          <a:solidFill>
                            <a:srgbClr val="40458B"/>
                          </a:solidFill>
                          <a:latin typeface="Times New Roman"/>
                          <a:cs typeface="Times New Roman"/>
                        </a:rPr>
                        <a:t> </a:t>
                      </a:r>
                      <a:r>
                        <a:rPr dirty="0" sz="2400" spc="-25" b="1">
                          <a:solidFill>
                            <a:srgbClr val="40458B"/>
                          </a:solidFill>
                          <a:latin typeface="Times New Roman"/>
                          <a:cs typeface="Times New Roman"/>
                        </a:rPr>
                        <a:t>F2</a:t>
                      </a:r>
                      <a:endParaRPr sz="2400">
                        <a:latin typeface="Times New Roman"/>
                        <a:cs typeface="Times New Roman"/>
                      </a:endParaRPr>
                    </a:p>
                  </a:txBody>
                  <a:tcPr marL="0" marR="0" marB="0" marT="3556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a:txBody>
                    <a:bodyPr/>
                    <a:lstStyle/>
                    <a:p>
                      <a:pPr marL="85725">
                        <a:lnSpc>
                          <a:spcPct val="100000"/>
                        </a:lnSpc>
                        <a:spcBef>
                          <a:spcPts val="450"/>
                        </a:spcBef>
                      </a:pPr>
                      <a:r>
                        <a:rPr dirty="0" sz="2400" spc="-10" b="1">
                          <a:solidFill>
                            <a:srgbClr val="40458B"/>
                          </a:solidFill>
                          <a:latin typeface="Times New Roman"/>
                          <a:cs typeface="Times New Roman"/>
                        </a:rPr>
                        <a:t>DIV.D</a:t>
                      </a:r>
                      <a:endParaRPr sz="2400">
                        <a:latin typeface="Times New Roman"/>
                        <a:cs typeface="Times New Roman"/>
                      </a:endParaRPr>
                    </a:p>
                  </a:txBody>
                  <a:tcPr marL="0" marR="0" marB="0" marT="5715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450"/>
                        </a:spcBef>
                      </a:pPr>
                      <a:r>
                        <a:rPr dirty="0" sz="2400" b="1">
                          <a:solidFill>
                            <a:srgbClr val="40458B"/>
                          </a:solidFill>
                          <a:latin typeface="Times New Roman"/>
                          <a:cs typeface="Times New Roman"/>
                        </a:rPr>
                        <a:t>F10</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F0</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a:t>
                      </a:r>
                      <a:r>
                        <a:rPr dirty="0" sz="2400" spc="-25" b="1">
                          <a:solidFill>
                            <a:srgbClr val="40458B"/>
                          </a:solidFill>
                          <a:latin typeface="Times New Roman"/>
                          <a:cs typeface="Times New Roman"/>
                        </a:rPr>
                        <a:t>F6</a:t>
                      </a:r>
                      <a:endParaRPr sz="2400">
                        <a:latin typeface="Times New Roman"/>
                        <a:cs typeface="Times New Roman"/>
                      </a:endParaRPr>
                    </a:p>
                  </a:txBody>
                  <a:tcPr marL="0" marR="0" marB="0" marT="5715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14350">
                <a:tc>
                  <a:txBody>
                    <a:bodyPr/>
                    <a:lstStyle/>
                    <a:p>
                      <a:pPr marL="68580">
                        <a:lnSpc>
                          <a:spcPct val="100000"/>
                        </a:lnSpc>
                        <a:spcBef>
                          <a:spcPts val="170"/>
                        </a:spcBef>
                      </a:pPr>
                      <a:r>
                        <a:rPr dirty="0" sz="2400" spc="-10" b="1">
                          <a:solidFill>
                            <a:srgbClr val="40458B"/>
                          </a:solidFill>
                          <a:latin typeface="Times New Roman"/>
                          <a:cs typeface="Times New Roman"/>
                        </a:rPr>
                        <a:t>ADD.D</a:t>
                      </a:r>
                      <a:endParaRPr sz="2400">
                        <a:latin typeface="Times New Roman"/>
                        <a:cs typeface="Times New Roman"/>
                      </a:endParaRPr>
                    </a:p>
                  </a:txBody>
                  <a:tcPr marL="0" marR="0" marB="0" marT="2159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170"/>
                        </a:spcBef>
                      </a:pPr>
                      <a:r>
                        <a:rPr dirty="0" sz="2400" b="1">
                          <a:solidFill>
                            <a:srgbClr val="40458B"/>
                          </a:solidFill>
                          <a:latin typeface="Times New Roman"/>
                          <a:cs typeface="Times New Roman"/>
                        </a:rPr>
                        <a:t>F6</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F8</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a:t>
                      </a:r>
                      <a:r>
                        <a:rPr dirty="0" sz="2400" spc="-25" b="1">
                          <a:solidFill>
                            <a:srgbClr val="40458B"/>
                          </a:solidFill>
                          <a:latin typeface="Times New Roman"/>
                          <a:cs typeface="Times New Roman"/>
                        </a:rPr>
                        <a:t>F2</a:t>
                      </a:r>
                      <a:endParaRPr sz="2400">
                        <a:latin typeface="Times New Roman"/>
                        <a:cs typeface="Times New Roman"/>
                      </a:endParaRPr>
                    </a:p>
                  </a:txBody>
                  <a:tcPr marL="0" marR="0" marB="0" marT="2159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95/175</a:t>
            </a:r>
            <a:endParaRPr sz="1600">
              <a:latin typeface="宋体"/>
              <a:cs typeface="宋体"/>
            </a:endParaRPr>
          </a:p>
        </p:txBody>
      </p:sp>
      <p:grpSp>
        <p:nvGrpSpPr>
          <p:cNvPr id="3" name="object 3" descr=""/>
          <p:cNvGrpSpPr/>
          <p:nvPr/>
        </p:nvGrpSpPr>
        <p:grpSpPr>
          <a:xfrm>
            <a:off x="68262" y="311150"/>
            <a:ext cx="1076325" cy="274955"/>
            <a:chOff x="68262" y="311150"/>
            <a:chExt cx="1076325" cy="274955"/>
          </a:xfrm>
        </p:grpSpPr>
        <p:sp>
          <p:nvSpPr>
            <p:cNvPr id="4" name="object 4"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5" name="object 5"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6" name="object 6"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grpSp>
        <p:nvGrpSpPr>
          <p:cNvPr id="7" name="object 7" descr=""/>
          <p:cNvGrpSpPr/>
          <p:nvPr/>
        </p:nvGrpSpPr>
        <p:grpSpPr>
          <a:xfrm>
            <a:off x="990600" y="63436"/>
            <a:ext cx="11201400" cy="1024255"/>
            <a:chOff x="990600" y="63436"/>
            <a:chExt cx="11201400" cy="1024255"/>
          </a:xfrm>
        </p:grpSpPr>
        <p:sp>
          <p:nvSpPr>
            <p:cNvPr id="8" name="object 8"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pic>
          <p:nvPicPr>
            <p:cNvPr id="9" name="object 9" descr=""/>
            <p:cNvPicPr/>
            <p:nvPr/>
          </p:nvPicPr>
          <p:blipFill>
            <a:blip r:embed="rId2" cstate="print"/>
            <a:stretch>
              <a:fillRect/>
            </a:stretch>
          </p:blipFill>
          <p:spPr>
            <a:xfrm>
              <a:off x="7162800" y="63436"/>
              <a:ext cx="3456051" cy="1023937"/>
            </a:xfrm>
            <a:prstGeom prst="rect">
              <a:avLst/>
            </a:prstGeom>
          </p:spPr>
        </p:pic>
      </p:grpSp>
      <p:sp>
        <p:nvSpPr>
          <p:cNvPr id="10" name="object 10"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11" name="object 11"/>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grpSp>
        <p:nvGrpSpPr>
          <p:cNvPr id="12" name="object 12" descr=""/>
          <p:cNvGrpSpPr/>
          <p:nvPr/>
        </p:nvGrpSpPr>
        <p:grpSpPr>
          <a:xfrm>
            <a:off x="1631950" y="1873250"/>
            <a:ext cx="8890000" cy="4022725"/>
            <a:chOff x="1631950" y="1873250"/>
            <a:chExt cx="8890000" cy="4022725"/>
          </a:xfrm>
        </p:grpSpPr>
        <p:sp>
          <p:nvSpPr>
            <p:cNvPr id="13" name="object 13" descr=""/>
            <p:cNvSpPr/>
            <p:nvPr/>
          </p:nvSpPr>
          <p:spPr>
            <a:xfrm>
              <a:off x="1631950" y="1873250"/>
              <a:ext cx="8890000" cy="3962400"/>
            </a:xfrm>
            <a:custGeom>
              <a:avLst/>
              <a:gdLst/>
              <a:ahLst/>
              <a:cxnLst/>
              <a:rect l="l" t="t" r="r" b="b"/>
              <a:pathLst>
                <a:path w="8890000" h="3962400">
                  <a:moveTo>
                    <a:pt x="8890000" y="0"/>
                  </a:moveTo>
                  <a:lnTo>
                    <a:pt x="0" y="0"/>
                  </a:lnTo>
                  <a:lnTo>
                    <a:pt x="0" y="3962400"/>
                  </a:lnTo>
                  <a:lnTo>
                    <a:pt x="8890000" y="3962400"/>
                  </a:lnTo>
                  <a:lnTo>
                    <a:pt x="8890000" y="0"/>
                  </a:lnTo>
                  <a:close/>
                </a:path>
              </a:pathLst>
            </a:custGeom>
            <a:solidFill>
              <a:srgbClr val="F8FBA1"/>
            </a:solidFill>
          </p:spPr>
          <p:txBody>
            <a:bodyPr wrap="square" lIns="0" tIns="0" rIns="0" bIns="0" rtlCol="0"/>
            <a:lstStyle/>
            <a:p/>
          </p:txBody>
        </p:sp>
        <p:sp>
          <p:nvSpPr>
            <p:cNvPr id="14" name="object 14" descr=""/>
            <p:cNvSpPr/>
            <p:nvPr/>
          </p:nvSpPr>
          <p:spPr>
            <a:xfrm>
              <a:off x="5375275" y="2466975"/>
              <a:ext cx="3600450" cy="3429000"/>
            </a:xfrm>
            <a:custGeom>
              <a:avLst/>
              <a:gdLst/>
              <a:ahLst/>
              <a:cxnLst/>
              <a:rect l="l" t="t" r="r" b="b"/>
              <a:pathLst>
                <a:path w="3600450" h="3429000">
                  <a:moveTo>
                    <a:pt x="0" y="0"/>
                  </a:moveTo>
                  <a:lnTo>
                    <a:pt x="0" y="3429000"/>
                  </a:lnTo>
                </a:path>
                <a:path w="3600450" h="3429000">
                  <a:moveTo>
                    <a:pt x="3600450" y="0"/>
                  </a:moveTo>
                  <a:lnTo>
                    <a:pt x="3600450" y="3429000"/>
                  </a:lnTo>
                </a:path>
              </a:pathLst>
            </a:custGeom>
            <a:ln w="9525">
              <a:solidFill>
                <a:srgbClr val="40458B"/>
              </a:solidFill>
            </a:ln>
          </p:spPr>
          <p:txBody>
            <a:bodyPr wrap="square" lIns="0" tIns="0" rIns="0" bIns="0" rtlCol="0"/>
            <a:lstStyle/>
            <a:p/>
          </p:txBody>
        </p:sp>
      </p:grpSp>
      <p:sp>
        <p:nvSpPr>
          <p:cNvPr id="15" name="object 15" descr=""/>
          <p:cNvSpPr txBox="1"/>
          <p:nvPr/>
        </p:nvSpPr>
        <p:spPr>
          <a:xfrm>
            <a:off x="313740" y="974852"/>
            <a:ext cx="11577320" cy="1122680"/>
          </a:xfrm>
          <a:prstGeom prst="rect">
            <a:avLst/>
          </a:prstGeom>
        </p:spPr>
        <p:txBody>
          <a:bodyPr wrap="square" lIns="0" tIns="12700" rIns="0" bIns="0" rtlCol="0" vert="horz">
            <a:spAutoFit/>
          </a:bodyPr>
          <a:lstStyle/>
          <a:p>
            <a:pPr marL="12700" marR="5080">
              <a:lnSpc>
                <a:spcPct val="150000"/>
              </a:lnSpc>
              <a:spcBef>
                <a:spcPts val="100"/>
              </a:spcBef>
            </a:pPr>
            <a:r>
              <a:rPr dirty="0" sz="2400" spc="-75">
                <a:latin typeface="黑体"/>
                <a:cs typeface="黑体"/>
              </a:rPr>
              <a:t>第三个周期 </a:t>
            </a:r>
            <a:r>
              <a:rPr dirty="0" sz="2400">
                <a:solidFill>
                  <a:srgbClr val="40458B"/>
                </a:solidFill>
                <a:latin typeface="黑体"/>
                <a:cs typeface="黑体"/>
              </a:rPr>
              <a:t>：</a:t>
            </a:r>
            <a:r>
              <a:rPr dirty="0" sz="2400">
                <a:solidFill>
                  <a:srgbClr val="FF0000"/>
                </a:solidFill>
                <a:latin typeface="黑体"/>
                <a:cs typeface="黑体"/>
              </a:rPr>
              <a:t>保留站状态，</a:t>
            </a:r>
            <a:r>
              <a:rPr dirty="0" sz="2400">
                <a:solidFill>
                  <a:srgbClr val="006FC0"/>
                </a:solidFill>
                <a:latin typeface="Tahoma"/>
                <a:cs typeface="Tahoma"/>
              </a:rPr>
              <a:t>MUL.D</a:t>
            </a:r>
            <a:r>
              <a:rPr dirty="0" sz="2400" spc="-35">
                <a:solidFill>
                  <a:srgbClr val="006FC0"/>
                </a:solidFill>
                <a:latin typeface="Tahoma"/>
                <a:cs typeface="Tahoma"/>
              </a:rPr>
              <a:t> </a:t>
            </a:r>
            <a:r>
              <a:rPr dirty="0" sz="2400" spc="-10">
                <a:solidFill>
                  <a:srgbClr val="006FC0"/>
                </a:solidFill>
                <a:latin typeface="Tahoma"/>
                <a:cs typeface="Tahoma"/>
              </a:rPr>
              <a:t>F0,F2</a:t>
            </a:r>
            <a:r>
              <a:rPr dirty="0" sz="2400" spc="-10">
                <a:solidFill>
                  <a:srgbClr val="006FC0"/>
                </a:solidFill>
                <a:latin typeface="黑体"/>
                <a:cs typeface="黑体"/>
              </a:rPr>
              <a:t>，</a:t>
            </a:r>
            <a:r>
              <a:rPr dirty="0" sz="2400" spc="-10">
                <a:solidFill>
                  <a:srgbClr val="006FC0"/>
                </a:solidFill>
                <a:latin typeface="Tahoma"/>
                <a:cs typeface="Tahoma"/>
              </a:rPr>
              <a:t>F4</a:t>
            </a:r>
            <a:r>
              <a:rPr dirty="0" sz="2400">
                <a:solidFill>
                  <a:srgbClr val="006FC0"/>
                </a:solidFill>
                <a:latin typeface="黑体"/>
                <a:cs typeface="黑体"/>
              </a:rPr>
              <a:t>流出</a:t>
            </a:r>
            <a:r>
              <a:rPr dirty="0" sz="2400">
                <a:solidFill>
                  <a:srgbClr val="006FC0"/>
                </a:solidFill>
                <a:latin typeface="Tahoma"/>
                <a:cs typeface="Tahoma"/>
              </a:rPr>
              <a:t>,</a:t>
            </a:r>
            <a:r>
              <a:rPr dirty="0" sz="2400">
                <a:solidFill>
                  <a:srgbClr val="006FC0"/>
                </a:solidFill>
                <a:latin typeface="黑体"/>
                <a:cs typeface="黑体"/>
              </a:rPr>
              <a:t>第一条</a:t>
            </a:r>
            <a:r>
              <a:rPr dirty="0" sz="2400" spc="-10">
                <a:solidFill>
                  <a:srgbClr val="006FC0"/>
                </a:solidFill>
                <a:latin typeface="Tahoma"/>
                <a:cs typeface="Tahoma"/>
              </a:rPr>
              <a:t>L/D</a:t>
            </a:r>
            <a:r>
              <a:rPr dirty="0" sz="2400" spc="-5">
                <a:solidFill>
                  <a:srgbClr val="006FC0"/>
                </a:solidFill>
                <a:latin typeface="黑体"/>
                <a:cs typeface="黑体"/>
              </a:rPr>
              <a:t>仍执行，第二条指令开始</a:t>
            </a:r>
            <a:r>
              <a:rPr dirty="0" sz="2400" spc="-25">
                <a:solidFill>
                  <a:srgbClr val="006FC0"/>
                </a:solidFill>
                <a:latin typeface="黑体"/>
                <a:cs typeface="黑体"/>
              </a:rPr>
              <a:t>执行</a:t>
            </a:r>
            <a:endParaRPr sz="2400">
              <a:latin typeface="黑体"/>
              <a:cs typeface="黑体"/>
            </a:endParaRPr>
          </a:p>
        </p:txBody>
      </p:sp>
      <p:sp>
        <p:nvSpPr>
          <p:cNvPr id="16" name="object 16" descr=""/>
          <p:cNvSpPr txBox="1"/>
          <p:nvPr/>
        </p:nvSpPr>
        <p:spPr>
          <a:xfrm>
            <a:off x="10448925" y="5541061"/>
            <a:ext cx="1046480" cy="330835"/>
          </a:xfrm>
          <a:prstGeom prst="rect">
            <a:avLst/>
          </a:prstGeom>
        </p:spPr>
        <p:txBody>
          <a:bodyPr wrap="square" lIns="0" tIns="12700" rIns="0" bIns="0" rtlCol="0" vert="horz">
            <a:spAutoFit/>
          </a:bodyPr>
          <a:lstStyle/>
          <a:p>
            <a:pPr marL="12700">
              <a:lnSpc>
                <a:spcPct val="100000"/>
              </a:lnSpc>
              <a:spcBef>
                <a:spcPts val="100"/>
              </a:spcBef>
            </a:pPr>
            <a:r>
              <a:rPr dirty="0" sz="2000" spc="-15">
                <a:solidFill>
                  <a:srgbClr val="40458B"/>
                </a:solidFill>
                <a:latin typeface="黑体"/>
                <a:cs typeface="黑体"/>
              </a:rPr>
              <a:t>其状态为</a:t>
            </a:r>
            <a:endParaRPr sz="2000">
              <a:latin typeface="黑体"/>
              <a:cs typeface="黑体"/>
            </a:endParaRPr>
          </a:p>
        </p:txBody>
      </p:sp>
      <p:sp>
        <p:nvSpPr>
          <p:cNvPr id="17" name="object 17" descr=""/>
          <p:cNvSpPr txBox="1"/>
          <p:nvPr/>
        </p:nvSpPr>
        <p:spPr>
          <a:xfrm>
            <a:off x="6737350" y="5845555"/>
            <a:ext cx="5210175" cy="636270"/>
          </a:xfrm>
          <a:prstGeom prst="rect">
            <a:avLst/>
          </a:prstGeom>
        </p:spPr>
        <p:txBody>
          <a:bodyPr wrap="square" lIns="0" tIns="13335" rIns="0" bIns="0" rtlCol="0" vert="horz">
            <a:spAutoFit/>
          </a:bodyPr>
          <a:lstStyle/>
          <a:p>
            <a:pPr marL="12700">
              <a:lnSpc>
                <a:spcPct val="100000"/>
              </a:lnSpc>
              <a:spcBef>
                <a:spcPts val="105"/>
              </a:spcBef>
            </a:pPr>
            <a:r>
              <a:rPr dirty="0" sz="2000" spc="-10">
                <a:solidFill>
                  <a:srgbClr val="40458B"/>
                </a:solidFill>
                <a:latin typeface="Tahoma"/>
                <a:cs typeface="Tahoma"/>
              </a:rPr>
              <a:t>load2</a:t>
            </a:r>
            <a:r>
              <a:rPr dirty="0" sz="2000" spc="-30">
                <a:solidFill>
                  <a:srgbClr val="40458B"/>
                </a:solidFill>
                <a:latin typeface="黑体"/>
                <a:cs typeface="黑体"/>
              </a:rPr>
              <a:t>，因此将其状态值拷贝转过来，因为没有</a:t>
            </a:r>
            <a:endParaRPr sz="2000">
              <a:latin typeface="黑体"/>
              <a:cs typeface="黑体"/>
            </a:endParaRPr>
          </a:p>
          <a:p>
            <a:pPr marL="12700">
              <a:lnSpc>
                <a:spcPct val="100000"/>
              </a:lnSpc>
            </a:pPr>
            <a:r>
              <a:rPr dirty="0" sz="2000" spc="-5">
                <a:solidFill>
                  <a:srgbClr val="40458B"/>
                </a:solidFill>
                <a:latin typeface="黑体"/>
                <a:cs typeface="黑体"/>
              </a:rPr>
              <a:t>就绪。</a:t>
            </a:r>
            <a:r>
              <a:rPr dirty="0" u="sng" sz="2000" spc="-15">
                <a:solidFill>
                  <a:srgbClr val="FF0000"/>
                </a:solidFill>
                <a:uFill>
                  <a:solidFill>
                    <a:srgbClr val="FF0000"/>
                  </a:solidFill>
                </a:uFill>
                <a:latin typeface="黑体"/>
                <a:cs typeface="黑体"/>
              </a:rPr>
              <a:t>注意先查看状态表</a:t>
            </a:r>
            <a:r>
              <a:rPr dirty="0" u="sng" sz="2000">
                <a:solidFill>
                  <a:srgbClr val="FF0000"/>
                </a:solidFill>
                <a:uFill>
                  <a:solidFill>
                    <a:srgbClr val="FF0000"/>
                  </a:solidFill>
                </a:uFill>
                <a:latin typeface="Tahoma"/>
                <a:cs typeface="Tahoma"/>
              </a:rPr>
              <a:t>Qi</a:t>
            </a:r>
            <a:r>
              <a:rPr dirty="0" u="sng" sz="2000" spc="5">
                <a:solidFill>
                  <a:srgbClr val="FF0000"/>
                </a:solidFill>
                <a:uFill>
                  <a:solidFill>
                    <a:srgbClr val="FF0000"/>
                  </a:solidFill>
                </a:uFill>
                <a:latin typeface="Tahoma"/>
                <a:cs typeface="Tahoma"/>
              </a:rPr>
              <a:t>, </a:t>
            </a:r>
            <a:r>
              <a:rPr dirty="0" u="sng" sz="2000" spc="-15">
                <a:solidFill>
                  <a:srgbClr val="FF0000"/>
                </a:solidFill>
                <a:uFill>
                  <a:solidFill>
                    <a:srgbClr val="FF0000"/>
                  </a:solidFill>
                </a:uFill>
                <a:latin typeface="黑体"/>
                <a:cs typeface="黑体"/>
              </a:rPr>
              <a:t>再来填写该项</a:t>
            </a:r>
            <a:endParaRPr sz="2000">
              <a:latin typeface="黑体"/>
              <a:cs typeface="黑体"/>
            </a:endParaRPr>
          </a:p>
        </p:txBody>
      </p:sp>
      <p:graphicFrame>
        <p:nvGraphicFramePr>
          <p:cNvPr id="18" name="object 18" descr=""/>
          <p:cNvGraphicFramePr>
            <a:graphicFrameLocks noGrp="1"/>
          </p:cNvGraphicFramePr>
          <p:nvPr/>
        </p:nvGraphicFramePr>
        <p:xfrm>
          <a:off x="1627187" y="1868487"/>
          <a:ext cx="9553575" cy="3960495"/>
        </p:xfrm>
        <a:graphic>
          <a:graphicData uri="http://schemas.openxmlformats.org/drawingml/2006/table">
            <a:tbl>
              <a:tblPr firstRow="1" bandRow="1">
                <a:tableStyleId>{2D5ABB26-0587-4C30-8999-92F81FD0307C}</a:tableStyleId>
              </a:tblPr>
              <a:tblGrid>
                <a:gridCol w="995680"/>
                <a:gridCol w="1070610"/>
                <a:gridCol w="901700"/>
                <a:gridCol w="1096010"/>
                <a:gridCol w="1891664"/>
                <a:gridCol w="1061085"/>
                <a:gridCol w="904875"/>
                <a:gridCol w="1546225"/>
              </a:tblGrid>
              <a:tr h="547370">
                <a:tc rowSpan="2">
                  <a:txBody>
                    <a:bodyPr/>
                    <a:lstStyle/>
                    <a:p>
                      <a:pPr marR="30480">
                        <a:lnSpc>
                          <a:spcPct val="100000"/>
                        </a:lnSpc>
                        <a:spcBef>
                          <a:spcPts val="840"/>
                        </a:spcBef>
                      </a:pPr>
                      <a:endParaRPr sz="2400">
                        <a:latin typeface="Times New Roman"/>
                        <a:cs typeface="Times New Roman"/>
                      </a:endParaRPr>
                    </a:p>
                    <a:p>
                      <a:pPr marL="183515" marR="30480">
                        <a:lnSpc>
                          <a:spcPct val="100000"/>
                        </a:lnSpc>
                      </a:pPr>
                      <a:r>
                        <a:rPr dirty="0" sz="2400" spc="-35" b="1">
                          <a:solidFill>
                            <a:srgbClr val="E14B04"/>
                          </a:solidFill>
                          <a:latin typeface="宋体"/>
                          <a:cs typeface="宋体"/>
                        </a:rPr>
                        <a:t>名称</a:t>
                      </a:r>
                      <a:endParaRPr sz="2400">
                        <a:latin typeface="宋体"/>
                        <a:cs typeface="宋体"/>
                      </a:endParaRPr>
                    </a:p>
                  </a:txBody>
                  <a:tcPr marL="0" marR="0" marB="0" marT="1066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gridSpan="7">
                  <a:txBody>
                    <a:bodyPr/>
                    <a:lstStyle/>
                    <a:p>
                      <a:pPr algn="ctr" marR="647700">
                        <a:lnSpc>
                          <a:spcPct val="100000"/>
                        </a:lnSpc>
                        <a:spcBef>
                          <a:spcPts val="1350"/>
                        </a:spcBef>
                      </a:pPr>
                      <a:r>
                        <a:rPr dirty="0" sz="1800" spc="-35" b="1">
                          <a:solidFill>
                            <a:srgbClr val="E14B04"/>
                          </a:solidFill>
                          <a:latin typeface="宋体"/>
                          <a:cs typeface="宋体"/>
                        </a:rPr>
                        <a:t>保留站</a:t>
                      </a:r>
                      <a:endParaRPr sz="1800">
                        <a:latin typeface="宋体"/>
                        <a:cs typeface="宋体"/>
                      </a:endParaRPr>
                    </a:p>
                  </a:txBody>
                  <a:tcPr marL="0" marR="0" marB="0" marT="17145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495300">
                <a:tc vMerge="1">
                  <a:txBody>
                    <a:bodyPr/>
                    <a:lstStyle/>
                    <a:p>
                      <a:pPr/>
                    </a:p>
                  </a:txBody>
                  <a:tcPr marL="0" marR="0" marB="0" marT="1066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r" marR="180975">
                        <a:lnSpc>
                          <a:spcPct val="100000"/>
                        </a:lnSpc>
                        <a:spcBef>
                          <a:spcPts val="1270"/>
                        </a:spcBef>
                      </a:pPr>
                      <a:r>
                        <a:rPr dirty="0" sz="2000" spc="-20" b="1">
                          <a:solidFill>
                            <a:srgbClr val="40458B"/>
                          </a:solidFill>
                          <a:latin typeface="宋体"/>
                          <a:cs typeface="宋体"/>
                        </a:rPr>
                        <a:t>Busy</a:t>
                      </a:r>
                      <a:endParaRPr sz="2000">
                        <a:latin typeface="宋体"/>
                        <a:cs typeface="宋体"/>
                      </a:endParaRPr>
                    </a:p>
                  </a:txBody>
                  <a:tcPr marL="0" marR="0" marB="0" marT="1612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339090" marR="76200">
                        <a:lnSpc>
                          <a:spcPts val="2250"/>
                        </a:lnSpc>
                        <a:spcBef>
                          <a:spcPts val="1550"/>
                        </a:spcBef>
                      </a:pPr>
                      <a:r>
                        <a:rPr dirty="0" sz="2000" spc="-25" b="1">
                          <a:solidFill>
                            <a:srgbClr val="40458B"/>
                          </a:solidFill>
                          <a:latin typeface="宋体"/>
                          <a:cs typeface="宋体"/>
                        </a:rPr>
                        <a:t>Op</a:t>
                      </a:r>
                      <a:endParaRPr sz="2000">
                        <a:latin typeface="宋体"/>
                        <a:cs typeface="宋体"/>
                      </a:endParaRPr>
                    </a:p>
                  </a:txBody>
                  <a:tcPr marL="0" marR="0" marB="0" marT="19685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91770" marR="57785">
                        <a:lnSpc>
                          <a:spcPct val="100000"/>
                        </a:lnSpc>
                        <a:spcBef>
                          <a:spcPts val="1340"/>
                        </a:spcBef>
                      </a:pPr>
                      <a:r>
                        <a:rPr dirty="0" sz="2000" spc="-25" b="1">
                          <a:solidFill>
                            <a:srgbClr val="40458B"/>
                          </a:solidFill>
                          <a:latin typeface="宋体"/>
                          <a:cs typeface="宋体"/>
                        </a:rPr>
                        <a:t>Vj</a:t>
                      </a:r>
                      <a:endParaRPr sz="2000">
                        <a:latin typeface="宋体"/>
                        <a:cs typeface="宋体"/>
                      </a:endParaRPr>
                    </a:p>
                  </a:txBody>
                  <a:tcPr marL="0" marR="0" marB="0" marT="1701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549910" marR="21590">
                        <a:lnSpc>
                          <a:spcPts val="2265"/>
                        </a:lnSpc>
                        <a:spcBef>
                          <a:spcPts val="1535"/>
                        </a:spcBef>
                      </a:pPr>
                      <a:r>
                        <a:rPr dirty="0" sz="2000" spc="-25" b="1">
                          <a:solidFill>
                            <a:srgbClr val="40458B"/>
                          </a:solidFill>
                          <a:latin typeface="宋体"/>
                          <a:cs typeface="宋体"/>
                        </a:rPr>
                        <a:t>Vk</a:t>
                      </a:r>
                      <a:endParaRPr sz="2000">
                        <a:latin typeface="宋体"/>
                        <a:cs typeface="宋体"/>
                      </a:endParaRPr>
                    </a:p>
                  </a:txBody>
                  <a:tcPr marL="0" marR="0" marB="0" marT="19494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264795" marR="140335">
                        <a:lnSpc>
                          <a:spcPct val="100000"/>
                        </a:lnSpc>
                        <a:spcBef>
                          <a:spcPts val="1145"/>
                        </a:spcBef>
                      </a:pPr>
                      <a:r>
                        <a:rPr dirty="0" sz="2000" spc="-25" b="1">
                          <a:solidFill>
                            <a:srgbClr val="40458B"/>
                          </a:solidFill>
                          <a:latin typeface="宋体"/>
                          <a:cs typeface="宋体"/>
                        </a:rPr>
                        <a:t>Qj</a:t>
                      </a:r>
                      <a:endParaRPr sz="2000">
                        <a:latin typeface="宋体"/>
                        <a:cs typeface="宋体"/>
                      </a:endParaRPr>
                    </a:p>
                  </a:txBody>
                  <a:tcPr marL="0" marR="0" marB="0" marT="1454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334645" marR="76200">
                        <a:lnSpc>
                          <a:spcPct val="100000"/>
                        </a:lnSpc>
                        <a:spcBef>
                          <a:spcPts val="1085"/>
                        </a:spcBef>
                      </a:pPr>
                      <a:r>
                        <a:rPr dirty="0" sz="2000" spc="-25" b="1">
                          <a:solidFill>
                            <a:srgbClr val="40458B"/>
                          </a:solidFill>
                          <a:latin typeface="宋体"/>
                          <a:cs typeface="宋体"/>
                        </a:rPr>
                        <a:t>Qk</a:t>
                      </a:r>
                      <a:endParaRPr sz="2000">
                        <a:latin typeface="宋体"/>
                        <a:cs typeface="宋体"/>
                      </a:endParaRPr>
                    </a:p>
                  </a:txBody>
                  <a:tcPr marL="0" marR="0" marB="0" marT="13779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ctr" marL="383540">
                        <a:lnSpc>
                          <a:spcPct val="100000"/>
                        </a:lnSpc>
                        <a:spcBef>
                          <a:spcPts val="720"/>
                        </a:spcBef>
                      </a:pPr>
                      <a:r>
                        <a:rPr dirty="0" sz="2000" spc="-50" b="1">
                          <a:solidFill>
                            <a:srgbClr val="40458B"/>
                          </a:solidFill>
                          <a:latin typeface="宋体"/>
                          <a:cs typeface="宋体"/>
                        </a:rPr>
                        <a:t>A</a:t>
                      </a:r>
                      <a:endParaRPr sz="2000">
                        <a:latin typeface="宋体"/>
                        <a:cs typeface="宋体"/>
                      </a:endParaRPr>
                    </a:p>
                  </a:txBody>
                  <a:tcPr marL="0" marR="0" marB="0" marT="9144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390525">
                <a:tc>
                  <a:txBody>
                    <a:bodyPr/>
                    <a:lstStyle/>
                    <a:p>
                      <a:pPr marL="135890" marR="30480">
                        <a:lnSpc>
                          <a:spcPct val="100000"/>
                        </a:lnSpc>
                        <a:spcBef>
                          <a:spcPts val="434"/>
                        </a:spcBef>
                      </a:pPr>
                      <a:r>
                        <a:rPr dirty="0" sz="2000" spc="-10" b="1">
                          <a:solidFill>
                            <a:srgbClr val="40458B"/>
                          </a:solidFill>
                          <a:latin typeface="宋体"/>
                          <a:cs typeface="宋体"/>
                        </a:rPr>
                        <a:t>Load1</a:t>
                      </a:r>
                      <a:endParaRPr sz="2000">
                        <a:latin typeface="宋体"/>
                        <a:cs typeface="宋体"/>
                      </a:endParaRPr>
                    </a:p>
                  </a:txBody>
                  <a:tcPr marL="0" marR="0" marB="0" marT="5524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r" marR="245110">
                        <a:lnSpc>
                          <a:spcPct val="100000"/>
                        </a:lnSpc>
                        <a:spcBef>
                          <a:spcPts val="495"/>
                        </a:spcBef>
                      </a:pPr>
                      <a:r>
                        <a:rPr dirty="0" sz="2000" spc="-25" b="1">
                          <a:solidFill>
                            <a:srgbClr val="40458B"/>
                          </a:solidFill>
                          <a:latin typeface="宋体"/>
                          <a:cs typeface="宋体"/>
                        </a:rPr>
                        <a:t>yes</a:t>
                      </a:r>
                      <a:endParaRPr sz="2000">
                        <a:latin typeface="宋体"/>
                        <a:cs typeface="宋体"/>
                      </a:endParaRPr>
                    </a:p>
                  </a:txBody>
                  <a:tcPr marL="0" marR="0" marB="0" marT="6286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314960" marR="76200">
                        <a:lnSpc>
                          <a:spcPts val="2205"/>
                        </a:lnSpc>
                        <a:spcBef>
                          <a:spcPts val="770"/>
                        </a:spcBef>
                      </a:pPr>
                      <a:r>
                        <a:rPr dirty="0" sz="2000" spc="-25" b="1">
                          <a:solidFill>
                            <a:srgbClr val="40458B"/>
                          </a:solidFill>
                          <a:latin typeface="宋体"/>
                          <a:cs typeface="宋体"/>
                        </a:rPr>
                        <a:t>L.D</a:t>
                      </a:r>
                      <a:endParaRPr sz="2000">
                        <a:latin typeface="宋体"/>
                        <a:cs typeface="宋体"/>
                      </a:endParaRPr>
                    </a:p>
                  </a:txBody>
                  <a:tcPr marL="0" marR="0" marB="0" marT="977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258445" marR="57785">
                        <a:lnSpc>
                          <a:spcPts val="2410"/>
                        </a:lnSpc>
                        <a:spcBef>
                          <a:spcPts val="565"/>
                        </a:spcBef>
                      </a:pPr>
                      <a:r>
                        <a:rPr dirty="0" sz="2200" spc="-10" b="1">
                          <a:solidFill>
                            <a:srgbClr val="40458B"/>
                          </a:solidFill>
                          <a:latin typeface="宋体"/>
                          <a:cs typeface="宋体"/>
                        </a:rPr>
                        <a:t>R[R2]</a:t>
                      </a:r>
                      <a:endParaRPr sz="2200">
                        <a:latin typeface="宋体"/>
                        <a:cs typeface="宋体"/>
                      </a:endParaRPr>
                    </a:p>
                  </a:txBody>
                  <a:tcPr marL="0" marR="0" marB="0" marT="7175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21590">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292100" marR="140335">
                        <a:lnSpc>
                          <a:spcPct val="100000"/>
                        </a:lnSpc>
                        <a:spcBef>
                          <a:spcPts val="370"/>
                        </a:spcBef>
                      </a:pPr>
                      <a:r>
                        <a:rPr dirty="0" sz="2000" spc="-50" b="1">
                          <a:solidFill>
                            <a:srgbClr val="40458B"/>
                          </a:solidFill>
                          <a:latin typeface="宋体"/>
                          <a:cs typeface="宋体"/>
                        </a:rPr>
                        <a:t>0</a:t>
                      </a:r>
                      <a:endParaRPr sz="2000">
                        <a:latin typeface="宋体"/>
                        <a:cs typeface="宋体"/>
                      </a:endParaRPr>
                    </a:p>
                  </a:txBody>
                  <a:tcPr marL="0" marR="0" marB="0" marT="469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76200">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r" marR="121285">
                        <a:lnSpc>
                          <a:spcPts val="2345"/>
                        </a:lnSpc>
                      </a:pPr>
                      <a:r>
                        <a:rPr dirty="0" sz="2000" spc="-10" b="1">
                          <a:solidFill>
                            <a:srgbClr val="40458B"/>
                          </a:solidFill>
                          <a:latin typeface="宋体"/>
                          <a:cs typeface="宋体"/>
                        </a:rPr>
                        <a:t>34+Regs[R2]</a:t>
                      </a:r>
                      <a:endParaRPr sz="2000">
                        <a:latin typeface="宋体"/>
                        <a:cs typeface="宋体"/>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404495">
                <a:tc>
                  <a:txBody>
                    <a:bodyPr/>
                    <a:lstStyle/>
                    <a:p>
                      <a:pPr marL="135890" marR="30480">
                        <a:lnSpc>
                          <a:spcPct val="100000"/>
                        </a:lnSpc>
                        <a:spcBef>
                          <a:spcPts val="484"/>
                        </a:spcBef>
                      </a:pPr>
                      <a:r>
                        <a:rPr dirty="0" sz="2000" spc="-10" b="1">
                          <a:solidFill>
                            <a:srgbClr val="40458B"/>
                          </a:solidFill>
                          <a:latin typeface="宋体"/>
                          <a:cs typeface="宋体"/>
                        </a:rPr>
                        <a:t>Load2</a:t>
                      </a:r>
                      <a:endParaRPr sz="2000">
                        <a:latin typeface="宋体"/>
                        <a:cs typeface="宋体"/>
                      </a:endParaRPr>
                    </a:p>
                  </a:txBody>
                  <a:tcPr marL="0" marR="0" marB="0" marT="6159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r" marR="205104">
                        <a:lnSpc>
                          <a:spcPct val="100000"/>
                        </a:lnSpc>
                        <a:spcBef>
                          <a:spcPts val="540"/>
                        </a:spcBef>
                      </a:pPr>
                      <a:r>
                        <a:rPr dirty="0" sz="2000" spc="-25" b="1">
                          <a:solidFill>
                            <a:srgbClr val="FF0000"/>
                          </a:solidFill>
                          <a:latin typeface="宋体"/>
                          <a:cs typeface="宋体"/>
                        </a:rPr>
                        <a:t>yes</a:t>
                      </a:r>
                      <a:endParaRPr sz="2000">
                        <a:latin typeface="宋体"/>
                        <a:cs typeface="宋体"/>
                      </a:endParaRPr>
                    </a:p>
                  </a:txBody>
                  <a:tcPr marL="0" marR="0" marB="0" marT="685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314960" marR="76200">
                        <a:lnSpc>
                          <a:spcPts val="2270"/>
                        </a:lnSpc>
                        <a:spcBef>
                          <a:spcPts val="815"/>
                        </a:spcBef>
                      </a:pPr>
                      <a:r>
                        <a:rPr dirty="0" sz="2000" spc="-25" b="1">
                          <a:solidFill>
                            <a:srgbClr val="FF0000"/>
                          </a:solidFill>
                          <a:latin typeface="宋体"/>
                          <a:cs typeface="宋体"/>
                        </a:rPr>
                        <a:t>L.D</a:t>
                      </a:r>
                      <a:endParaRPr sz="2000">
                        <a:latin typeface="宋体"/>
                        <a:cs typeface="宋体"/>
                      </a:endParaRPr>
                    </a:p>
                  </a:txBody>
                  <a:tcPr marL="0" marR="0" marB="0" marT="10350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202565" marR="57785">
                        <a:lnSpc>
                          <a:spcPts val="2285"/>
                        </a:lnSpc>
                        <a:spcBef>
                          <a:spcPts val="800"/>
                        </a:spcBef>
                      </a:pPr>
                      <a:r>
                        <a:rPr dirty="0" sz="2000" spc="-10" b="1">
                          <a:solidFill>
                            <a:srgbClr val="FF0000"/>
                          </a:solidFill>
                          <a:latin typeface="宋体"/>
                          <a:cs typeface="宋体"/>
                        </a:rPr>
                        <a:t>R[R3]</a:t>
                      </a:r>
                      <a:endParaRPr sz="2000">
                        <a:latin typeface="宋体"/>
                        <a:cs typeface="宋体"/>
                      </a:endParaRPr>
                    </a:p>
                  </a:txBody>
                  <a:tcPr marL="0" marR="0" marB="0" marT="10160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21590">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292100" marR="140335">
                        <a:lnSpc>
                          <a:spcPct val="100000"/>
                        </a:lnSpc>
                        <a:spcBef>
                          <a:spcPts val="414"/>
                        </a:spcBef>
                      </a:pPr>
                      <a:r>
                        <a:rPr dirty="0" sz="2000" spc="-50" b="1">
                          <a:solidFill>
                            <a:srgbClr val="FF0000"/>
                          </a:solidFill>
                          <a:latin typeface="宋体"/>
                          <a:cs typeface="宋体"/>
                        </a:rPr>
                        <a:t>0</a:t>
                      </a:r>
                      <a:endParaRPr sz="2000">
                        <a:latin typeface="宋体"/>
                        <a:cs typeface="宋体"/>
                      </a:endParaRPr>
                    </a:p>
                  </a:txBody>
                  <a:tcPr marL="0" marR="0" marB="0" marT="5270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76200">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r" marR="121285">
                        <a:lnSpc>
                          <a:spcPts val="2390"/>
                        </a:lnSpc>
                      </a:pPr>
                      <a:r>
                        <a:rPr dirty="0" sz="2000" spc="-10" b="1">
                          <a:solidFill>
                            <a:srgbClr val="40458B"/>
                          </a:solidFill>
                          <a:latin typeface="宋体"/>
                          <a:cs typeface="宋体"/>
                        </a:rPr>
                        <a:t>45+Regs[R3]</a:t>
                      </a:r>
                      <a:endParaRPr sz="2000">
                        <a:latin typeface="宋体"/>
                        <a:cs typeface="宋体"/>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375920">
                <a:tc>
                  <a:txBody>
                    <a:bodyPr/>
                    <a:lstStyle/>
                    <a:p>
                      <a:pPr marL="135890" marR="30480">
                        <a:lnSpc>
                          <a:spcPct val="100000"/>
                        </a:lnSpc>
                        <a:spcBef>
                          <a:spcPts val="415"/>
                        </a:spcBef>
                      </a:pPr>
                      <a:r>
                        <a:rPr dirty="0" sz="2000" spc="-20" b="1">
                          <a:solidFill>
                            <a:srgbClr val="40458B"/>
                          </a:solidFill>
                          <a:latin typeface="宋体"/>
                          <a:cs typeface="宋体"/>
                        </a:rPr>
                        <a:t>Add1</a:t>
                      </a:r>
                      <a:endParaRPr sz="2000">
                        <a:latin typeface="宋体"/>
                        <a:cs typeface="宋体"/>
                      </a:endParaRPr>
                    </a:p>
                  </a:txBody>
                  <a:tcPr marL="0" marR="0" marB="0" marT="5270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468630" marR="130810">
                        <a:lnSpc>
                          <a:spcPts val="2390"/>
                        </a:lnSpc>
                        <a:spcBef>
                          <a:spcPts val="475"/>
                        </a:spcBef>
                      </a:pPr>
                      <a:r>
                        <a:rPr dirty="0" sz="2000" spc="-25" b="1">
                          <a:latin typeface="宋体"/>
                          <a:cs typeface="宋体"/>
                        </a:rPr>
                        <a:t>no</a:t>
                      </a:r>
                      <a:endParaRPr sz="2000">
                        <a:latin typeface="宋体"/>
                        <a:cs typeface="宋体"/>
                      </a:endParaRPr>
                    </a:p>
                  </a:txBody>
                  <a:tcPr marL="0" marR="0" marB="0" marT="6032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76200">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57785">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21590">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140335">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76200">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423545">
                <a:tc>
                  <a:txBody>
                    <a:bodyPr/>
                    <a:lstStyle/>
                    <a:p>
                      <a:pPr marL="135890" marR="30480">
                        <a:lnSpc>
                          <a:spcPct val="100000"/>
                        </a:lnSpc>
                        <a:spcBef>
                          <a:spcPts val="570"/>
                        </a:spcBef>
                      </a:pPr>
                      <a:r>
                        <a:rPr dirty="0" sz="2000" spc="-20" b="1">
                          <a:solidFill>
                            <a:srgbClr val="40458B"/>
                          </a:solidFill>
                          <a:latin typeface="宋体"/>
                          <a:cs typeface="宋体"/>
                        </a:rPr>
                        <a:t>Add2</a:t>
                      </a:r>
                      <a:endParaRPr sz="2000">
                        <a:latin typeface="宋体"/>
                        <a:cs typeface="宋体"/>
                      </a:endParaRPr>
                    </a:p>
                  </a:txBody>
                  <a:tcPr marL="0" marR="0" marB="0" marT="723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468630" marR="130810">
                        <a:lnSpc>
                          <a:spcPct val="100000"/>
                        </a:lnSpc>
                        <a:spcBef>
                          <a:spcPts val="630"/>
                        </a:spcBef>
                      </a:pPr>
                      <a:r>
                        <a:rPr dirty="0" sz="2000" spc="-25" b="1">
                          <a:solidFill>
                            <a:srgbClr val="40458B"/>
                          </a:solidFill>
                          <a:latin typeface="宋体"/>
                          <a:cs typeface="宋体"/>
                        </a:rPr>
                        <a:t>no</a:t>
                      </a:r>
                      <a:endParaRPr sz="2000">
                        <a:latin typeface="宋体"/>
                        <a:cs typeface="宋体"/>
                      </a:endParaRPr>
                    </a:p>
                  </a:txBody>
                  <a:tcPr marL="0" marR="0" marB="0" marT="800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76200">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57785">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21590">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140335">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76200">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423545">
                <a:tc>
                  <a:txBody>
                    <a:bodyPr/>
                    <a:lstStyle/>
                    <a:p>
                      <a:pPr marL="135890" marR="30480">
                        <a:lnSpc>
                          <a:spcPct val="100000"/>
                        </a:lnSpc>
                        <a:spcBef>
                          <a:spcPts val="355"/>
                        </a:spcBef>
                      </a:pPr>
                      <a:r>
                        <a:rPr dirty="0" sz="2000" spc="-20" b="1">
                          <a:solidFill>
                            <a:srgbClr val="40458B"/>
                          </a:solidFill>
                          <a:latin typeface="宋体"/>
                          <a:cs typeface="宋体"/>
                        </a:rPr>
                        <a:t>Add3</a:t>
                      </a:r>
                      <a:endParaRPr sz="2000">
                        <a:latin typeface="宋体"/>
                        <a:cs typeface="宋体"/>
                      </a:endParaRPr>
                    </a:p>
                  </a:txBody>
                  <a:tcPr marL="0" marR="0" marB="0" marT="450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468630" marR="130810">
                        <a:lnSpc>
                          <a:spcPct val="100000"/>
                        </a:lnSpc>
                        <a:spcBef>
                          <a:spcPts val="409"/>
                        </a:spcBef>
                      </a:pPr>
                      <a:r>
                        <a:rPr dirty="0" sz="2000" spc="-25" b="1">
                          <a:solidFill>
                            <a:srgbClr val="40458B"/>
                          </a:solidFill>
                          <a:latin typeface="宋体"/>
                          <a:cs typeface="宋体"/>
                        </a:rPr>
                        <a:t>no</a:t>
                      </a:r>
                      <a:endParaRPr sz="2000">
                        <a:latin typeface="宋体"/>
                        <a:cs typeface="宋体"/>
                      </a:endParaRPr>
                    </a:p>
                  </a:txBody>
                  <a:tcPr marL="0" marR="0" marB="0" marT="52069">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76200">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57785">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21590">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140335">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76200">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352425">
                <a:tc>
                  <a:txBody>
                    <a:bodyPr/>
                    <a:lstStyle/>
                    <a:p>
                      <a:pPr marL="135890" marR="30480">
                        <a:lnSpc>
                          <a:spcPct val="100000"/>
                        </a:lnSpc>
                        <a:spcBef>
                          <a:spcPts val="140"/>
                        </a:spcBef>
                      </a:pPr>
                      <a:r>
                        <a:rPr dirty="0" sz="2000" spc="-10" b="1">
                          <a:solidFill>
                            <a:srgbClr val="40458B"/>
                          </a:solidFill>
                          <a:latin typeface="宋体"/>
                          <a:cs typeface="宋体"/>
                        </a:rPr>
                        <a:t>Mult1</a:t>
                      </a:r>
                      <a:endParaRPr sz="2000">
                        <a:latin typeface="宋体"/>
                        <a:cs typeface="宋体"/>
                      </a:endParaRPr>
                    </a:p>
                  </a:txBody>
                  <a:tcPr marL="0" marR="0" marB="0" marT="177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r" marR="205104">
                        <a:lnSpc>
                          <a:spcPct val="100000"/>
                        </a:lnSpc>
                        <a:spcBef>
                          <a:spcPts val="200"/>
                        </a:spcBef>
                      </a:pPr>
                      <a:r>
                        <a:rPr dirty="0" sz="2000" spc="-25" b="1">
                          <a:solidFill>
                            <a:srgbClr val="40458B"/>
                          </a:solidFill>
                          <a:latin typeface="宋体"/>
                          <a:cs typeface="宋体"/>
                        </a:rPr>
                        <a:t>yes</a:t>
                      </a:r>
                      <a:endParaRPr sz="2000">
                        <a:latin typeface="宋体"/>
                        <a:cs typeface="宋体"/>
                      </a:endParaRPr>
                    </a:p>
                  </a:txBody>
                  <a:tcPr marL="0" marR="0" marB="0" marT="2540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57150" marR="76200">
                        <a:lnSpc>
                          <a:spcPts val="2205"/>
                        </a:lnSpc>
                        <a:spcBef>
                          <a:spcPts val="470"/>
                        </a:spcBef>
                      </a:pPr>
                      <a:r>
                        <a:rPr dirty="0" sz="2000" spc="-10" b="1">
                          <a:solidFill>
                            <a:srgbClr val="FF0000"/>
                          </a:solidFill>
                          <a:latin typeface="宋体"/>
                          <a:cs typeface="宋体"/>
                        </a:rPr>
                        <a:t>MUL.D</a:t>
                      </a:r>
                      <a:endParaRPr sz="2000">
                        <a:latin typeface="宋体"/>
                        <a:cs typeface="宋体"/>
                      </a:endParaRPr>
                    </a:p>
                  </a:txBody>
                  <a:tcPr marL="0" marR="0" marB="0" marT="596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57785">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99390" marR="21590">
                        <a:lnSpc>
                          <a:spcPts val="2215"/>
                        </a:lnSpc>
                        <a:spcBef>
                          <a:spcPts val="459"/>
                        </a:spcBef>
                      </a:pPr>
                      <a:r>
                        <a:rPr dirty="0" sz="2000" spc="-20" b="1">
                          <a:solidFill>
                            <a:srgbClr val="9933FF"/>
                          </a:solidFill>
                          <a:latin typeface="宋体"/>
                          <a:cs typeface="宋体"/>
                        </a:rPr>
                        <a:t>(F4)</a:t>
                      </a:r>
                      <a:endParaRPr sz="2000">
                        <a:latin typeface="宋体"/>
                        <a:cs typeface="宋体"/>
                      </a:endParaRPr>
                    </a:p>
                  </a:txBody>
                  <a:tcPr marL="0" marR="0" marB="0" marT="58419">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64465" marR="140335">
                        <a:lnSpc>
                          <a:spcPct val="100000"/>
                        </a:lnSpc>
                        <a:spcBef>
                          <a:spcPts val="75"/>
                        </a:spcBef>
                      </a:pPr>
                      <a:r>
                        <a:rPr dirty="0" sz="2000" spc="-10" b="1">
                          <a:solidFill>
                            <a:srgbClr val="FF0000"/>
                          </a:solidFill>
                          <a:latin typeface="宋体"/>
                          <a:cs typeface="宋体"/>
                        </a:rPr>
                        <a:t>Load2</a:t>
                      </a:r>
                      <a:endParaRPr sz="2000">
                        <a:latin typeface="宋体"/>
                        <a:cs typeface="宋体"/>
                      </a:endParaRPr>
                    </a:p>
                  </a:txBody>
                  <a:tcPr marL="0" marR="0" marB="0" marT="952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tcPr>
                </a:tc>
                <a:tc>
                  <a:txBody>
                    <a:bodyPr/>
                    <a:lstStyle/>
                    <a:p>
                      <a:pPr marL="196215" marR="76200">
                        <a:lnSpc>
                          <a:spcPct val="100000"/>
                        </a:lnSpc>
                        <a:spcBef>
                          <a:spcPts val="10"/>
                        </a:spcBef>
                      </a:pPr>
                      <a:r>
                        <a:rPr dirty="0" sz="2000" spc="-50" b="1">
                          <a:solidFill>
                            <a:srgbClr val="9933FF"/>
                          </a:solidFill>
                          <a:latin typeface="宋体"/>
                          <a:cs typeface="宋体"/>
                        </a:rPr>
                        <a:t>0</a:t>
                      </a:r>
                      <a:endParaRPr sz="2000">
                        <a:latin typeface="宋体"/>
                        <a:cs typeface="宋体"/>
                      </a:endParaRPr>
                    </a:p>
                  </a:txBody>
                  <a:tcPr marL="0" marR="0" marB="0" marT="127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547370">
                <a:tc>
                  <a:txBody>
                    <a:bodyPr/>
                    <a:lstStyle/>
                    <a:p>
                      <a:pPr marL="135890" marR="30480">
                        <a:lnSpc>
                          <a:spcPts val="2330"/>
                        </a:lnSpc>
                        <a:spcBef>
                          <a:spcPts val="484"/>
                        </a:spcBef>
                      </a:pPr>
                      <a:r>
                        <a:rPr dirty="0" sz="2000" spc="-10" b="1">
                          <a:solidFill>
                            <a:srgbClr val="40458B"/>
                          </a:solidFill>
                          <a:latin typeface="宋体"/>
                          <a:cs typeface="宋体"/>
                        </a:rPr>
                        <a:t>Mult2</a:t>
                      </a:r>
                      <a:endParaRPr sz="2000">
                        <a:latin typeface="宋体"/>
                        <a:cs typeface="宋体"/>
                      </a:endParaRPr>
                    </a:p>
                    <a:p>
                      <a:pPr marL="476884">
                        <a:lnSpc>
                          <a:spcPts val="1395"/>
                        </a:lnSpc>
                      </a:pPr>
                      <a:r>
                        <a:rPr dirty="0" sz="2000" spc="-25">
                          <a:solidFill>
                            <a:srgbClr val="40458B"/>
                          </a:solidFill>
                          <a:latin typeface="黑体"/>
                          <a:cs typeface="黑体"/>
                        </a:rPr>
                        <a:t>再看</a:t>
                      </a:r>
                      <a:endParaRPr sz="2000">
                        <a:latin typeface="黑体"/>
                        <a:cs typeface="黑体"/>
                      </a:endParaRPr>
                    </a:p>
                  </a:txBody>
                  <a:tcPr marL="0" marR="0" marB="0" marT="6159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468630" marR="130810">
                        <a:lnSpc>
                          <a:spcPts val="2300"/>
                        </a:lnSpc>
                        <a:spcBef>
                          <a:spcPts val="540"/>
                        </a:spcBef>
                      </a:pPr>
                      <a:r>
                        <a:rPr dirty="0" sz="2000" spc="-25" b="1">
                          <a:solidFill>
                            <a:srgbClr val="40458B"/>
                          </a:solidFill>
                          <a:latin typeface="宋体"/>
                          <a:cs typeface="宋体"/>
                        </a:rPr>
                        <a:t>no</a:t>
                      </a:r>
                      <a:endParaRPr sz="2000">
                        <a:latin typeface="宋体"/>
                        <a:cs typeface="宋体"/>
                      </a:endParaRPr>
                    </a:p>
                    <a:p>
                      <a:pPr marL="30480">
                        <a:lnSpc>
                          <a:spcPts val="1365"/>
                        </a:lnSpc>
                      </a:pPr>
                      <a:r>
                        <a:rPr dirty="0" sz="2000" spc="-20">
                          <a:solidFill>
                            <a:srgbClr val="40458B"/>
                          </a:solidFill>
                          <a:latin typeface="Tahoma"/>
                          <a:cs typeface="Tahoma"/>
                        </a:rPr>
                        <a:t>F4</a:t>
                      </a:r>
                      <a:r>
                        <a:rPr dirty="0" sz="2000" spc="-20">
                          <a:solidFill>
                            <a:srgbClr val="40458B"/>
                          </a:solidFill>
                          <a:latin typeface="黑体"/>
                          <a:cs typeface="黑体"/>
                        </a:rPr>
                        <a:t>寄存器</a:t>
                      </a:r>
                      <a:endParaRPr sz="2000">
                        <a:latin typeface="黑体"/>
                        <a:cs typeface="黑体"/>
                      </a:endParaRPr>
                    </a:p>
                  </a:txBody>
                  <a:tcPr marL="0" marR="0" marB="0" marT="685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76200">
                        <a:lnSpc>
                          <a:spcPct val="100000"/>
                        </a:lnSpc>
                        <a:spcBef>
                          <a:spcPts val="445"/>
                        </a:spcBef>
                      </a:pPr>
                      <a:endParaRPr sz="2000">
                        <a:latin typeface="Times New Roman"/>
                        <a:cs typeface="Times New Roman"/>
                      </a:endParaRPr>
                    </a:p>
                    <a:p>
                      <a:pPr marL="128905">
                        <a:lnSpc>
                          <a:spcPts val="1465"/>
                        </a:lnSpc>
                      </a:pPr>
                      <a:r>
                        <a:rPr dirty="0" sz="2000" spc="-20">
                          <a:solidFill>
                            <a:srgbClr val="40458B"/>
                          </a:solidFill>
                          <a:latin typeface="黑体"/>
                          <a:cs typeface="黑体"/>
                        </a:rPr>
                        <a:t>操作数</a:t>
                      </a:r>
                      <a:endParaRPr sz="2000">
                        <a:latin typeface="黑体"/>
                        <a:cs typeface="黑体"/>
                      </a:endParaRPr>
                    </a:p>
                  </a:txBody>
                  <a:tcPr marL="0" marR="0" marB="0" marT="565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tcPr>
                </a:tc>
                <a:tc>
                  <a:txBody>
                    <a:bodyPr/>
                    <a:lstStyle/>
                    <a:p>
                      <a:pPr marR="57785">
                        <a:lnSpc>
                          <a:spcPct val="100000"/>
                        </a:lnSpc>
                        <a:spcBef>
                          <a:spcPts val="445"/>
                        </a:spcBef>
                      </a:pPr>
                      <a:endParaRPr sz="2000">
                        <a:latin typeface="Times New Roman"/>
                        <a:cs typeface="Times New Roman"/>
                      </a:endParaRPr>
                    </a:p>
                    <a:p>
                      <a:pPr marL="71120">
                        <a:lnSpc>
                          <a:spcPts val="1465"/>
                        </a:lnSpc>
                      </a:pPr>
                      <a:r>
                        <a:rPr dirty="0" sz="2000" spc="-20">
                          <a:solidFill>
                            <a:srgbClr val="40458B"/>
                          </a:solidFill>
                          <a:latin typeface="黑体"/>
                          <a:cs typeface="黑体"/>
                        </a:rPr>
                        <a:t>的状态表</a:t>
                      </a:r>
                      <a:endParaRPr sz="2000">
                        <a:latin typeface="黑体"/>
                        <a:cs typeface="黑体"/>
                      </a:endParaRPr>
                    </a:p>
                  </a:txBody>
                  <a:tcPr marL="0" marR="0" marB="0" marT="565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tcPr>
                </a:tc>
                <a:tc>
                  <a:txBody>
                    <a:bodyPr/>
                    <a:lstStyle/>
                    <a:p>
                      <a:pPr marR="21590">
                        <a:lnSpc>
                          <a:spcPct val="100000"/>
                        </a:lnSpc>
                        <a:spcBef>
                          <a:spcPts val="445"/>
                        </a:spcBef>
                      </a:pPr>
                      <a:endParaRPr sz="2000">
                        <a:latin typeface="Times New Roman"/>
                        <a:cs typeface="Times New Roman"/>
                      </a:endParaRPr>
                    </a:p>
                    <a:p>
                      <a:pPr marL="56515">
                        <a:lnSpc>
                          <a:spcPts val="1465"/>
                        </a:lnSpc>
                        <a:tabLst>
                          <a:tab pos="1374140" algn="l"/>
                        </a:tabLst>
                      </a:pPr>
                      <a:r>
                        <a:rPr dirty="0" sz="2000" spc="-10">
                          <a:solidFill>
                            <a:srgbClr val="40458B"/>
                          </a:solidFill>
                          <a:latin typeface="Tahoma"/>
                          <a:cs typeface="Tahoma"/>
                        </a:rPr>
                        <a:t>Qi</a:t>
                      </a:r>
                      <a:r>
                        <a:rPr dirty="0" sz="2000" spc="-10">
                          <a:solidFill>
                            <a:srgbClr val="40458B"/>
                          </a:solidFill>
                          <a:latin typeface="黑体"/>
                          <a:cs typeface="黑体"/>
                        </a:rPr>
                        <a:t>，其</a:t>
                      </a:r>
                      <a:r>
                        <a:rPr dirty="0" sz="2000" spc="-60">
                          <a:solidFill>
                            <a:srgbClr val="40458B"/>
                          </a:solidFill>
                          <a:latin typeface="黑体"/>
                          <a:cs typeface="黑体"/>
                        </a:rPr>
                        <a:t>状</a:t>
                      </a:r>
                      <a:r>
                        <a:rPr dirty="0" sz="2000">
                          <a:solidFill>
                            <a:srgbClr val="40458B"/>
                          </a:solidFill>
                          <a:latin typeface="黑体"/>
                          <a:cs typeface="黑体"/>
                        </a:rPr>
                        <a:t>	</a:t>
                      </a:r>
                      <a:r>
                        <a:rPr dirty="0" baseline="18055" sz="3000">
                          <a:solidFill>
                            <a:srgbClr val="FF0000"/>
                          </a:solidFill>
                          <a:latin typeface="黑体"/>
                          <a:cs typeface="黑体"/>
                        </a:rPr>
                        <a:t>先</a:t>
                      </a:r>
                      <a:r>
                        <a:rPr dirty="0" baseline="18055" sz="3000" spc="-75">
                          <a:solidFill>
                            <a:srgbClr val="FF0000"/>
                          </a:solidFill>
                          <a:latin typeface="黑体"/>
                          <a:cs typeface="黑体"/>
                        </a:rPr>
                        <a:t>看</a:t>
                      </a:r>
                      <a:endParaRPr baseline="18055" sz="3000">
                        <a:latin typeface="黑体"/>
                        <a:cs typeface="黑体"/>
                      </a:endParaRPr>
                    </a:p>
                  </a:txBody>
                  <a:tcPr marL="0" marR="0" marB="0" marT="565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tcPr>
                </a:tc>
                <a:tc>
                  <a:txBody>
                    <a:bodyPr/>
                    <a:lstStyle/>
                    <a:p>
                      <a:pPr marL="23495">
                        <a:lnSpc>
                          <a:spcPts val="2115"/>
                        </a:lnSpc>
                        <a:spcBef>
                          <a:spcPts val="2095"/>
                        </a:spcBef>
                      </a:pPr>
                      <a:r>
                        <a:rPr dirty="0" sz="2000" spc="-10">
                          <a:solidFill>
                            <a:srgbClr val="40458B"/>
                          </a:solidFill>
                          <a:latin typeface="Tahoma"/>
                          <a:cs typeface="Tahoma"/>
                        </a:rPr>
                        <a:t>F2</a:t>
                      </a:r>
                      <a:r>
                        <a:rPr dirty="0" sz="2000" spc="-20">
                          <a:solidFill>
                            <a:srgbClr val="40458B"/>
                          </a:solidFill>
                          <a:latin typeface="黑体"/>
                          <a:cs typeface="黑体"/>
                        </a:rPr>
                        <a:t>寄存器</a:t>
                      </a:r>
                      <a:endParaRPr sz="2000">
                        <a:latin typeface="黑体"/>
                        <a:cs typeface="黑体"/>
                      </a:endParaRPr>
                    </a:p>
                  </a:txBody>
                  <a:tcPr marL="0" marR="0" marB="0" marT="26606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tcPr>
                </a:tc>
                <a:tc>
                  <a:txBody>
                    <a:bodyPr/>
                    <a:lstStyle/>
                    <a:p>
                      <a:pPr marL="140335">
                        <a:lnSpc>
                          <a:spcPts val="2115"/>
                        </a:lnSpc>
                        <a:spcBef>
                          <a:spcPts val="2095"/>
                        </a:spcBef>
                      </a:pPr>
                      <a:r>
                        <a:rPr dirty="0" sz="2000" spc="-20">
                          <a:solidFill>
                            <a:srgbClr val="40458B"/>
                          </a:solidFill>
                          <a:latin typeface="黑体"/>
                          <a:cs typeface="黑体"/>
                        </a:rPr>
                        <a:t>操作数</a:t>
                      </a:r>
                      <a:endParaRPr sz="2000">
                        <a:latin typeface="黑体"/>
                        <a:cs typeface="黑体"/>
                      </a:endParaRPr>
                    </a:p>
                  </a:txBody>
                  <a:tcPr marL="0" marR="0" marB="0" marT="26606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r" marR="125730">
                        <a:lnSpc>
                          <a:spcPts val="2115"/>
                        </a:lnSpc>
                        <a:spcBef>
                          <a:spcPts val="2095"/>
                        </a:spcBef>
                      </a:pPr>
                      <a:r>
                        <a:rPr dirty="0" sz="2000" spc="-5">
                          <a:solidFill>
                            <a:srgbClr val="40458B"/>
                          </a:solidFill>
                          <a:latin typeface="黑体"/>
                          <a:cs typeface="黑体"/>
                        </a:rPr>
                        <a:t>的状态表</a:t>
                      </a:r>
                      <a:r>
                        <a:rPr dirty="0" sz="2000" spc="-25">
                          <a:solidFill>
                            <a:srgbClr val="40458B"/>
                          </a:solidFill>
                          <a:latin typeface="Tahoma"/>
                          <a:cs typeface="Tahoma"/>
                        </a:rPr>
                        <a:t>Qi,</a:t>
                      </a:r>
                      <a:endParaRPr sz="2000">
                        <a:latin typeface="Tahoma"/>
                        <a:cs typeface="Tahoma"/>
                      </a:endParaRPr>
                    </a:p>
                  </a:txBody>
                  <a:tcPr marL="0" marR="0" marB="0" marT="26606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bl>
          </a:graphicData>
        </a:graphic>
      </p:graphicFrame>
      <p:sp>
        <p:nvSpPr>
          <p:cNvPr id="19" name="object 19" descr=""/>
          <p:cNvSpPr/>
          <p:nvPr/>
        </p:nvSpPr>
        <p:spPr>
          <a:xfrm>
            <a:off x="7458456" y="5197475"/>
            <a:ext cx="135890" cy="433070"/>
          </a:xfrm>
          <a:custGeom>
            <a:avLst/>
            <a:gdLst/>
            <a:ahLst/>
            <a:cxnLst/>
            <a:rect l="l" t="t" r="r" b="b"/>
            <a:pathLst>
              <a:path w="135890" h="433070">
                <a:moveTo>
                  <a:pt x="88016" y="71244"/>
                </a:moveTo>
                <a:lnTo>
                  <a:pt x="0" y="427545"/>
                </a:lnTo>
                <a:lnTo>
                  <a:pt x="21463" y="432879"/>
                </a:lnTo>
                <a:lnTo>
                  <a:pt x="109600" y="76584"/>
                </a:lnTo>
                <a:lnTo>
                  <a:pt x="88016" y="71244"/>
                </a:lnTo>
                <a:close/>
              </a:path>
              <a:path w="135890" h="433070">
                <a:moveTo>
                  <a:pt x="130339" y="58928"/>
                </a:moveTo>
                <a:lnTo>
                  <a:pt x="91059" y="58928"/>
                </a:lnTo>
                <a:lnTo>
                  <a:pt x="112649" y="64262"/>
                </a:lnTo>
                <a:lnTo>
                  <a:pt x="109600" y="76584"/>
                </a:lnTo>
                <a:lnTo>
                  <a:pt x="135763" y="83058"/>
                </a:lnTo>
                <a:lnTo>
                  <a:pt x="130339" y="58928"/>
                </a:lnTo>
                <a:close/>
              </a:path>
              <a:path w="135890" h="433070">
                <a:moveTo>
                  <a:pt x="91059" y="58928"/>
                </a:moveTo>
                <a:lnTo>
                  <a:pt x="88016" y="71244"/>
                </a:lnTo>
                <a:lnTo>
                  <a:pt x="109600" y="76584"/>
                </a:lnTo>
                <a:lnTo>
                  <a:pt x="112523" y="64769"/>
                </a:lnTo>
                <a:lnTo>
                  <a:pt x="112649" y="64262"/>
                </a:lnTo>
                <a:lnTo>
                  <a:pt x="91059" y="58928"/>
                </a:lnTo>
                <a:close/>
              </a:path>
              <a:path w="135890" h="433070">
                <a:moveTo>
                  <a:pt x="117094" y="0"/>
                </a:moveTo>
                <a:lnTo>
                  <a:pt x="61849" y="64769"/>
                </a:lnTo>
                <a:lnTo>
                  <a:pt x="88016" y="71244"/>
                </a:lnTo>
                <a:lnTo>
                  <a:pt x="91059" y="58928"/>
                </a:lnTo>
                <a:lnTo>
                  <a:pt x="130339" y="58928"/>
                </a:lnTo>
                <a:lnTo>
                  <a:pt x="117094" y="0"/>
                </a:lnTo>
                <a:close/>
              </a:path>
            </a:pathLst>
          </a:custGeom>
          <a:solidFill>
            <a:srgbClr val="FF0000"/>
          </a:solidFill>
        </p:spPr>
        <p:txBody>
          <a:bodyPr wrap="square" lIns="0" tIns="0" rIns="0" bIns="0" rtlCol="0"/>
          <a:lstStyle/>
          <a:p/>
        </p:txBody>
      </p:sp>
      <p:sp>
        <p:nvSpPr>
          <p:cNvPr id="20" name="object 20" descr=""/>
          <p:cNvSpPr txBox="1"/>
          <p:nvPr/>
        </p:nvSpPr>
        <p:spPr>
          <a:xfrm>
            <a:off x="2096770" y="5928766"/>
            <a:ext cx="4285615" cy="635635"/>
          </a:xfrm>
          <a:prstGeom prst="rect">
            <a:avLst/>
          </a:prstGeom>
        </p:spPr>
        <p:txBody>
          <a:bodyPr wrap="square" lIns="0" tIns="12700" rIns="0" bIns="0" rtlCol="0" vert="horz">
            <a:spAutoFit/>
          </a:bodyPr>
          <a:lstStyle/>
          <a:p>
            <a:pPr marL="12700" marR="5080">
              <a:lnSpc>
                <a:spcPct val="100000"/>
              </a:lnSpc>
              <a:spcBef>
                <a:spcPts val="100"/>
              </a:spcBef>
            </a:pPr>
            <a:r>
              <a:rPr dirty="0" sz="2000" spc="-10">
                <a:solidFill>
                  <a:srgbClr val="40458B"/>
                </a:solidFill>
                <a:latin typeface="黑体"/>
                <a:cs typeface="黑体"/>
              </a:rPr>
              <a:t>态为空，表示其数据就绪</a:t>
            </a:r>
            <a:r>
              <a:rPr dirty="0" sz="2000" spc="-10">
                <a:solidFill>
                  <a:srgbClr val="40458B"/>
                </a:solidFill>
                <a:latin typeface="Tahoma"/>
                <a:cs typeface="Tahoma"/>
              </a:rPr>
              <a:t>Qk</a:t>
            </a:r>
            <a:r>
              <a:rPr dirty="0" sz="2000">
                <a:solidFill>
                  <a:srgbClr val="40458B"/>
                </a:solidFill>
                <a:latin typeface="黑体"/>
                <a:cs typeface="黑体"/>
              </a:rPr>
              <a:t>为</a:t>
            </a:r>
            <a:r>
              <a:rPr dirty="0" sz="2000" spc="-10">
                <a:solidFill>
                  <a:srgbClr val="40458B"/>
                </a:solidFill>
                <a:latin typeface="Tahoma"/>
                <a:cs typeface="Tahoma"/>
              </a:rPr>
              <a:t>0</a:t>
            </a:r>
            <a:r>
              <a:rPr dirty="0" sz="2000" spc="-20">
                <a:solidFill>
                  <a:srgbClr val="40458B"/>
                </a:solidFill>
                <a:latin typeface="黑体"/>
                <a:cs typeface="黑体"/>
              </a:rPr>
              <a:t>，则将</a:t>
            </a:r>
            <a:r>
              <a:rPr dirty="0" sz="2000">
                <a:solidFill>
                  <a:srgbClr val="40458B"/>
                </a:solidFill>
                <a:latin typeface="黑体"/>
                <a:cs typeface="黑体"/>
              </a:rPr>
              <a:t>数据送往</a:t>
            </a:r>
            <a:r>
              <a:rPr dirty="0" sz="2000" spc="-25">
                <a:solidFill>
                  <a:srgbClr val="40458B"/>
                </a:solidFill>
                <a:latin typeface="Tahoma"/>
                <a:cs typeface="Tahoma"/>
              </a:rPr>
              <a:t>VK</a:t>
            </a:r>
            <a:endParaRPr sz="2000">
              <a:latin typeface="Tahoma"/>
              <a:cs typeface="Tahoma"/>
            </a:endParaRPr>
          </a:p>
        </p:txBody>
      </p:sp>
      <p:sp>
        <p:nvSpPr>
          <p:cNvPr id="21" name="object 21" descr=""/>
          <p:cNvSpPr/>
          <p:nvPr/>
        </p:nvSpPr>
        <p:spPr>
          <a:xfrm>
            <a:off x="3664584" y="5305044"/>
            <a:ext cx="1929764" cy="487680"/>
          </a:xfrm>
          <a:custGeom>
            <a:avLst/>
            <a:gdLst/>
            <a:ahLst/>
            <a:cxnLst/>
            <a:rect l="l" t="t" r="r" b="b"/>
            <a:pathLst>
              <a:path w="1929764" h="487679">
                <a:moveTo>
                  <a:pt x="1853028" y="26170"/>
                </a:moveTo>
                <a:lnTo>
                  <a:pt x="0" y="465823"/>
                </a:lnTo>
                <a:lnTo>
                  <a:pt x="5079" y="487438"/>
                </a:lnTo>
                <a:lnTo>
                  <a:pt x="1858172" y="47901"/>
                </a:lnTo>
                <a:lnTo>
                  <a:pt x="1853028" y="26170"/>
                </a:lnTo>
                <a:close/>
              </a:path>
              <a:path w="1929764" h="487679">
                <a:moveTo>
                  <a:pt x="1925201" y="23240"/>
                </a:moveTo>
                <a:lnTo>
                  <a:pt x="1865376" y="23240"/>
                </a:lnTo>
                <a:lnTo>
                  <a:pt x="1870582" y="44957"/>
                </a:lnTo>
                <a:lnTo>
                  <a:pt x="1858172" y="47901"/>
                </a:lnTo>
                <a:lnTo>
                  <a:pt x="1864360" y="74040"/>
                </a:lnTo>
                <a:lnTo>
                  <a:pt x="1925201" y="23240"/>
                </a:lnTo>
                <a:close/>
              </a:path>
              <a:path w="1929764" h="487679">
                <a:moveTo>
                  <a:pt x="1865376" y="23240"/>
                </a:moveTo>
                <a:lnTo>
                  <a:pt x="1853028" y="26170"/>
                </a:lnTo>
                <a:lnTo>
                  <a:pt x="1858172" y="47901"/>
                </a:lnTo>
                <a:lnTo>
                  <a:pt x="1870582" y="44957"/>
                </a:lnTo>
                <a:lnTo>
                  <a:pt x="1865376" y="23240"/>
                </a:lnTo>
                <a:close/>
              </a:path>
              <a:path w="1929764" h="487679">
                <a:moveTo>
                  <a:pt x="1846834" y="0"/>
                </a:moveTo>
                <a:lnTo>
                  <a:pt x="1853028" y="26170"/>
                </a:lnTo>
                <a:lnTo>
                  <a:pt x="1865376" y="23240"/>
                </a:lnTo>
                <a:lnTo>
                  <a:pt x="1925201" y="23240"/>
                </a:lnTo>
                <a:lnTo>
                  <a:pt x="1929764" y="19430"/>
                </a:lnTo>
                <a:lnTo>
                  <a:pt x="1846834" y="0"/>
                </a:lnTo>
                <a:close/>
              </a:path>
            </a:pathLst>
          </a:custGeom>
          <a:solidFill>
            <a:srgbClr val="FF0000"/>
          </a:solidFill>
        </p:spPr>
        <p:txBody>
          <a:bodyPr wrap="square" lIns="0" tIns="0" rIns="0" bIns="0" rtlCol="0"/>
          <a:lstStyle/>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96/175</a:t>
            </a:r>
            <a:endParaRPr sz="1600">
              <a:latin typeface="宋体"/>
              <a:cs typeface="宋体"/>
            </a:endParaRPr>
          </a:p>
        </p:txBody>
      </p:sp>
      <p:grpSp>
        <p:nvGrpSpPr>
          <p:cNvPr id="3" name="object 3" descr=""/>
          <p:cNvGrpSpPr/>
          <p:nvPr/>
        </p:nvGrpSpPr>
        <p:grpSpPr>
          <a:xfrm>
            <a:off x="990600" y="596900"/>
            <a:ext cx="11201400" cy="1190625"/>
            <a:chOff x="990600" y="596900"/>
            <a:chExt cx="11201400" cy="1190625"/>
          </a:xfrm>
        </p:grpSpPr>
        <p:sp>
          <p:nvSpPr>
            <p:cNvPr id="4" name="object 4"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pic>
          <p:nvPicPr>
            <p:cNvPr id="5" name="object 5" descr=""/>
            <p:cNvPicPr/>
            <p:nvPr/>
          </p:nvPicPr>
          <p:blipFill>
            <a:blip r:embed="rId2" cstate="print"/>
            <a:stretch>
              <a:fillRect/>
            </a:stretch>
          </p:blipFill>
          <p:spPr>
            <a:xfrm>
              <a:off x="7032625" y="596900"/>
              <a:ext cx="3456051" cy="1190625"/>
            </a:xfrm>
            <a:prstGeom prst="rect">
              <a:avLst/>
            </a:prstGeom>
          </p:spPr>
        </p:pic>
      </p:grpSp>
      <p:grpSp>
        <p:nvGrpSpPr>
          <p:cNvPr id="6" name="object 6" descr=""/>
          <p:cNvGrpSpPr/>
          <p:nvPr/>
        </p:nvGrpSpPr>
        <p:grpSpPr>
          <a:xfrm>
            <a:off x="68262" y="311150"/>
            <a:ext cx="1076325" cy="274955"/>
            <a:chOff x="68262" y="311150"/>
            <a:chExt cx="1076325" cy="274955"/>
          </a:xfrm>
        </p:grpSpPr>
        <p:sp>
          <p:nvSpPr>
            <p:cNvPr id="7" name="object 7"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8" name="object 8"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9" name="object 9"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10" name="object 10"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11" name="object 11"/>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graphicFrame>
        <p:nvGraphicFramePr>
          <p:cNvPr id="12" name="object 12" descr=""/>
          <p:cNvGraphicFramePr>
            <a:graphicFrameLocks noGrp="1"/>
          </p:cNvGraphicFramePr>
          <p:nvPr/>
        </p:nvGraphicFramePr>
        <p:xfrm>
          <a:off x="2281237" y="2919412"/>
          <a:ext cx="8007984" cy="1470660"/>
        </p:xfrm>
        <a:graphic>
          <a:graphicData uri="http://schemas.openxmlformats.org/drawingml/2006/table">
            <a:tbl>
              <a:tblPr firstRow="1" bandRow="1">
                <a:tableStyleId>{2D5ABB26-0587-4C30-8999-92F81FD0307C}</a:tableStyleId>
              </a:tblPr>
              <a:tblGrid>
                <a:gridCol w="1433830"/>
                <a:gridCol w="843280"/>
                <a:gridCol w="900430"/>
                <a:gridCol w="954404"/>
                <a:gridCol w="765810"/>
                <a:gridCol w="757554"/>
                <a:gridCol w="830579"/>
                <a:gridCol w="678179"/>
                <a:gridCol w="762634"/>
              </a:tblGrid>
              <a:tr h="394970">
                <a:tc rowSpan="2">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gridSpan="8">
                  <a:txBody>
                    <a:bodyPr/>
                    <a:lstStyle/>
                    <a:p>
                      <a:pPr algn="ctr" marL="56515">
                        <a:lnSpc>
                          <a:spcPct val="100000"/>
                        </a:lnSpc>
                        <a:spcBef>
                          <a:spcPts val="425"/>
                        </a:spcBef>
                      </a:pPr>
                      <a:r>
                        <a:rPr dirty="0" sz="1800" spc="-20" b="1">
                          <a:solidFill>
                            <a:srgbClr val="E14B04"/>
                          </a:solidFill>
                          <a:latin typeface="宋体"/>
                          <a:cs typeface="宋体"/>
                        </a:rPr>
                        <a:t>寄存器状态表</a:t>
                      </a:r>
                      <a:endParaRPr sz="1800">
                        <a:latin typeface="宋体"/>
                        <a:cs typeface="宋体"/>
                      </a:endParaRPr>
                    </a:p>
                  </a:txBody>
                  <a:tcPr marL="0" marR="0" marB="0" marT="539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518795">
                <a:tc vMerge="1">
                  <a:txBody>
                    <a:bodyPr/>
                    <a:lstStyle/>
                    <a:p>
                      <a:p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82245">
                        <a:lnSpc>
                          <a:spcPct val="100000"/>
                        </a:lnSpc>
                        <a:spcBef>
                          <a:spcPts val="925"/>
                        </a:spcBef>
                      </a:pPr>
                      <a:r>
                        <a:rPr dirty="0" sz="2400" spc="-25" b="1">
                          <a:solidFill>
                            <a:srgbClr val="40458B"/>
                          </a:solidFill>
                          <a:latin typeface="宋体"/>
                          <a:cs typeface="宋体"/>
                        </a:rPr>
                        <a:t>F0</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62890" marR="48895">
                        <a:lnSpc>
                          <a:spcPct val="100000"/>
                        </a:lnSpc>
                        <a:spcBef>
                          <a:spcPts val="925"/>
                        </a:spcBef>
                      </a:pPr>
                      <a:r>
                        <a:rPr dirty="0" sz="2400" spc="-25" b="1">
                          <a:solidFill>
                            <a:srgbClr val="40458B"/>
                          </a:solidFill>
                          <a:latin typeface="宋体"/>
                          <a:cs typeface="宋体"/>
                        </a:rPr>
                        <a:t>F2</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87960" marR="240665">
                        <a:lnSpc>
                          <a:spcPct val="100000"/>
                        </a:lnSpc>
                        <a:spcBef>
                          <a:spcPts val="925"/>
                        </a:spcBef>
                      </a:pPr>
                      <a:r>
                        <a:rPr dirty="0" sz="2400" spc="-25" b="1">
                          <a:solidFill>
                            <a:srgbClr val="40458B"/>
                          </a:solidFill>
                          <a:latin typeface="宋体"/>
                          <a:cs typeface="宋体"/>
                        </a:rPr>
                        <a:t>F4</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52095">
                        <a:lnSpc>
                          <a:spcPct val="100000"/>
                        </a:lnSpc>
                        <a:spcBef>
                          <a:spcPts val="925"/>
                        </a:spcBef>
                      </a:pPr>
                      <a:r>
                        <a:rPr dirty="0" sz="2400" spc="-25" b="1">
                          <a:solidFill>
                            <a:srgbClr val="40458B"/>
                          </a:solidFill>
                          <a:latin typeface="宋体"/>
                          <a:cs typeface="宋体"/>
                        </a:rPr>
                        <a:t>F6</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56540">
                        <a:lnSpc>
                          <a:spcPct val="100000"/>
                        </a:lnSpc>
                        <a:spcBef>
                          <a:spcPts val="925"/>
                        </a:spcBef>
                      </a:pPr>
                      <a:r>
                        <a:rPr dirty="0" sz="2400" spc="-25" b="1">
                          <a:solidFill>
                            <a:srgbClr val="40458B"/>
                          </a:solidFill>
                          <a:latin typeface="宋体"/>
                          <a:cs typeface="宋体"/>
                        </a:rPr>
                        <a:t>F8</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69240">
                        <a:lnSpc>
                          <a:spcPct val="100000"/>
                        </a:lnSpc>
                        <a:spcBef>
                          <a:spcPts val="925"/>
                        </a:spcBef>
                      </a:pPr>
                      <a:r>
                        <a:rPr dirty="0" sz="2400" spc="-25" b="1">
                          <a:solidFill>
                            <a:srgbClr val="40458B"/>
                          </a:solidFill>
                          <a:latin typeface="宋体"/>
                          <a:cs typeface="宋体"/>
                        </a:rPr>
                        <a:t>F10</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08279">
                        <a:lnSpc>
                          <a:spcPct val="100000"/>
                        </a:lnSpc>
                        <a:spcBef>
                          <a:spcPts val="925"/>
                        </a:spcBef>
                      </a:pPr>
                      <a:r>
                        <a:rPr dirty="0" sz="2400" spc="-50" b="1">
                          <a:solidFill>
                            <a:srgbClr val="40458B"/>
                          </a:solidFill>
                          <a:latin typeface="宋体"/>
                          <a:cs typeface="宋体"/>
                        </a:rPr>
                        <a:t>…</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44780">
                        <a:lnSpc>
                          <a:spcPct val="100000"/>
                        </a:lnSpc>
                        <a:spcBef>
                          <a:spcPts val="925"/>
                        </a:spcBef>
                      </a:pPr>
                      <a:r>
                        <a:rPr dirty="0" sz="2400" spc="-25" b="1">
                          <a:solidFill>
                            <a:srgbClr val="40458B"/>
                          </a:solidFill>
                          <a:latin typeface="宋体"/>
                          <a:cs typeface="宋体"/>
                        </a:rPr>
                        <a:t>F30</a:t>
                      </a:r>
                      <a:endParaRPr sz="2400">
                        <a:latin typeface="宋体"/>
                        <a:cs typeface="宋体"/>
                      </a:endParaRPr>
                    </a:p>
                  </a:txBody>
                  <a:tcPr marL="0" marR="0" marB="0" marT="1174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56895">
                <a:tc>
                  <a:txBody>
                    <a:bodyPr/>
                    <a:lstStyle/>
                    <a:p>
                      <a:pPr marL="399415">
                        <a:lnSpc>
                          <a:spcPct val="100000"/>
                        </a:lnSpc>
                        <a:spcBef>
                          <a:spcPts val="1160"/>
                        </a:spcBef>
                      </a:pPr>
                      <a:r>
                        <a:rPr dirty="0" sz="2400" spc="-25" b="1">
                          <a:solidFill>
                            <a:srgbClr val="40458B"/>
                          </a:solidFill>
                          <a:latin typeface="宋体"/>
                          <a:cs typeface="宋体"/>
                        </a:rPr>
                        <a:t>Qi</a:t>
                      </a:r>
                      <a:endParaRPr sz="2400">
                        <a:latin typeface="宋体"/>
                        <a:cs typeface="宋体"/>
                      </a:endParaRPr>
                    </a:p>
                  </a:txBody>
                  <a:tcPr marL="0" marR="0" marB="0" marT="1473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43180">
                        <a:lnSpc>
                          <a:spcPct val="100000"/>
                        </a:lnSpc>
                        <a:spcBef>
                          <a:spcPts val="1160"/>
                        </a:spcBef>
                      </a:pPr>
                      <a:r>
                        <a:rPr dirty="0" sz="2400" spc="-10" b="1">
                          <a:solidFill>
                            <a:srgbClr val="40458B"/>
                          </a:solidFill>
                          <a:latin typeface="宋体"/>
                          <a:cs typeface="宋体"/>
                        </a:rPr>
                        <a:t>Mult1</a:t>
                      </a:r>
                      <a:endParaRPr sz="2400">
                        <a:latin typeface="宋体"/>
                        <a:cs typeface="宋体"/>
                      </a:endParaRPr>
                    </a:p>
                  </a:txBody>
                  <a:tcPr marL="0" marR="0" marB="0" marT="1473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25730">
                        <a:lnSpc>
                          <a:spcPct val="100000"/>
                        </a:lnSpc>
                        <a:spcBef>
                          <a:spcPts val="1160"/>
                        </a:spcBef>
                      </a:pPr>
                      <a:r>
                        <a:rPr dirty="0" sz="2400" spc="-10" b="1">
                          <a:solidFill>
                            <a:srgbClr val="FF0000"/>
                          </a:solidFill>
                          <a:latin typeface="宋体"/>
                          <a:cs typeface="宋体"/>
                        </a:rPr>
                        <a:t>Load2</a:t>
                      </a:r>
                      <a:endParaRPr sz="2400">
                        <a:latin typeface="宋体"/>
                        <a:cs typeface="宋体"/>
                      </a:endParaRPr>
                    </a:p>
                  </a:txBody>
                  <a:tcPr marL="0" marR="0" marB="0" marT="1473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r">
                        <a:lnSpc>
                          <a:spcPct val="100000"/>
                        </a:lnSpc>
                        <a:spcBef>
                          <a:spcPts val="1360"/>
                        </a:spcBef>
                      </a:pPr>
                      <a:r>
                        <a:rPr dirty="0" sz="2200" spc="-25" b="1">
                          <a:solidFill>
                            <a:srgbClr val="CC3399"/>
                          </a:solidFill>
                          <a:latin typeface="宋体"/>
                          <a:cs typeface="宋体"/>
                        </a:rPr>
                        <a:t>Lo</a:t>
                      </a:r>
                      <a:endParaRPr sz="2200">
                        <a:latin typeface="宋体"/>
                        <a:cs typeface="宋体"/>
                      </a:endParaRPr>
                    </a:p>
                  </a:txBody>
                  <a:tcPr marL="0" marR="0" marB="0" marT="1727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43840">
                        <a:lnSpc>
                          <a:spcPct val="100000"/>
                        </a:lnSpc>
                        <a:spcBef>
                          <a:spcPts val="1360"/>
                        </a:spcBef>
                      </a:pPr>
                      <a:r>
                        <a:rPr dirty="0" sz="2200" spc="-25" b="1">
                          <a:solidFill>
                            <a:srgbClr val="CC3399"/>
                          </a:solidFill>
                          <a:latin typeface="宋体"/>
                          <a:cs typeface="宋体"/>
                        </a:rPr>
                        <a:t>ad1</a:t>
                      </a:r>
                      <a:endParaRPr sz="2200">
                        <a:latin typeface="宋体"/>
                        <a:cs typeface="宋体"/>
                      </a:endParaRPr>
                    </a:p>
                  </a:txBody>
                  <a:tcPr marL="0" marR="0" marB="0" marT="1727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42545">
                        <a:lnSpc>
                          <a:spcPct val="100000"/>
                        </a:lnSpc>
                        <a:spcBef>
                          <a:spcPts val="1160"/>
                        </a:spcBef>
                      </a:pPr>
                      <a:r>
                        <a:rPr dirty="0" sz="2400" spc="-50">
                          <a:solidFill>
                            <a:srgbClr val="40458B"/>
                          </a:solidFill>
                          <a:latin typeface="宋体"/>
                          <a:cs typeface="宋体"/>
                        </a:rPr>
                        <a:t>…</a:t>
                      </a:r>
                      <a:endParaRPr sz="2400">
                        <a:latin typeface="宋体"/>
                        <a:cs typeface="宋体"/>
                      </a:endParaRPr>
                    </a:p>
                  </a:txBody>
                  <a:tcPr marL="0" marR="0" marB="0" marT="1473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bl>
          </a:graphicData>
        </a:graphic>
      </p:graphicFrame>
      <p:sp>
        <p:nvSpPr>
          <p:cNvPr id="13" name="object 13" descr=""/>
          <p:cNvSpPr txBox="1"/>
          <p:nvPr/>
        </p:nvSpPr>
        <p:spPr>
          <a:xfrm>
            <a:off x="1782317" y="1810491"/>
            <a:ext cx="8834120" cy="1122680"/>
          </a:xfrm>
          <a:prstGeom prst="rect">
            <a:avLst/>
          </a:prstGeom>
        </p:spPr>
        <p:txBody>
          <a:bodyPr wrap="square" lIns="0" tIns="12065" rIns="0" bIns="0" rtlCol="0" vert="horz">
            <a:spAutoFit/>
          </a:bodyPr>
          <a:lstStyle/>
          <a:p>
            <a:pPr marL="12700" marR="5080">
              <a:lnSpc>
                <a:spcPct val="150000"/>
              </a:lnSpc>
              <a:spcBef>
                <a:spcPts val="95"/>
              </a:spcBef>
            </a:pPr>
            <a:r>
              <a:rPr dirty="0" sz="2400" spc="-75">
                <a:latin typeface="黑体"/>
                <a:cs typeface="黑体"/>
              </a:rPr>
              <a:t>第三个周期 </a:t>
            </a:r>
            <a:r>
              <a:rPr dirty="0" sz="2400">
                <a:solidFill>
                  <a:srgbClr val="40458B"/>
                </a:solidFill>
                <a:latin typeface="黑体"/>
                <a:cs typeface="黑体"/>
              </a:rPr>
              <a:t>：</a:t>
            </a:r>
            <a:r>
              <a:rPr dirty="0" sz="2400">
                <a:solidFill>
                  <a:srgbClr val="FF0000"/>
                </a:solidFill>
                <a:latin typeface="黑体"/>
                <a:cs typeface="黑体"/>
              </a:rPr>
              <a:t>寄存器状态，</a:t>
            </a:r>
            <a:r>
              <a:rPr dirty="0" sz="2400">
                <a:solidFill>
                  <a:srgbClr val="006FC0"/>
                </a:solidFill>
                <a:latin typeface="Tahoma"/>
                <a:cs typeface="Tahoma"/>
              </a:rPr>
              <a:t>MUL.D</a:t>
            </a:r>
            <a:r>
              <a:rPr dirty="0" sz="2400" spc="-35">
                <a:solidFill>
                  <a:srgbClr val="006FC0"/>
                </a:solidFill>
                <a:latin typeface="Tahoma"/>
                <a:cs typeface="Tahoma"/>
              </a:rPr>
              <a:t> </a:t>
            </a:r>
            <a:r>
              <a:rPr dirty="0" sz="2400" spc="-10">
                <a:solidFill>
                  <a:srgbClr val="006FC0"/>
                </a:solidFill>
                <a:latin typeface="Tahoma"/>
                <a:cs typeface="Tahoma"/>
              </a:rPr>
              <a:t>F0,F2</a:t>
            </a:r>
            <a:r>
              <a:rPr dirty="0" sz="2400" spc="-10">
                <a:solidFill>
                  <a:srgbClr val="006FC0"/>
                </a:solidFill>
                <a:latin typeface="黑体"/>
                <a:cs typeface="黑体"/>
              </a:rPr>
              <a:t>，</a:t>
            </a:r>
            <a:r>
              <a:rPr dirty="0" sz="2400" spc="-10">
                <a:solidFill>
                  <a:srgbClr val="006FC0"/>
                </a:solidFill>
                <a:latin typeface="Tahoma"/>
                <a:cs typeface="Tahoma"/>
              </a:rPr>
              <a:t>F4</a:t>
            </a:r>
            <a:r>
              <a:rPr dirty="0" sz="2400">
                <a:solidFill>
                  <a:srgbClr val="006FC0"/>
                </a:solidFill>
                <a:latin typeface="黑体"/>
                <a:cs typeface="黑体"/>
              </a:rPr>
              <a:t>流出</a:t>
            </a:r>
            <a:r>
              <a:rPr dirty="0" sz="2400">
                <a:solidFill>
                  <a:srgbClr val="006FC0"/>
                </a:solidFill>
                <a:latin typeface="Tahoma"/>
                <a:cs typeface="Tahoma"/>
              </a:rPr>
              <a:t>,</a:t>
            </a:r>
            <a:r>
              <a:rPr dirty="0" sz="2400">
                <a:solidFill>
                  <a:srgbClr val="006FC0"/>
                </a:solidFill>
                <a:latin typeface="黑体"/>
                <a:cs typeface="黑体"/>
              </a:rPr>
              <a:t>第一条</a:t>
            </a:r>
            <a:r>
              <a:rPr dirty="0" sz="2400" spc="-10">
                <a:solidFill>
                  <a:srgbClr val="006FC0"/>
                </a:solidFill>
                <a:latin typeface="Tahoma"/>
                <a:cs typeface="Tahoma"/>
              </a:rPr>
              <a:t>L/D</a:t>
            </a:r>
            <a:r>
              <a:rPr dirty="0" sz="2400" spc="-25">
                <a:solidFill>
                  <a:srgbClr val="006FC0"/>
                </a:solidFill>
                <a:latin typeface="黑体"/>
                <a:cs typeface="黑体"/>
              </a:rPr>
              <a:t>仍执</a:t>
            </a:r>
            <a:r>
              <a:rPr dirty="0" sz="2400" spc="-15">
                <a:solidFill>
                  <a:srgbClr val="006FC0"/>
                </a:solidFill>
                <a:latin typeface="黑体"/>
                <a:cs typeface="黑体"/>
              </a:rPr>
              <a:t>行，第二条指令开始执行</a:t>
            </a:r>
            <a:endParaRPr sz="2400">
              <a:latin typeface="黑体"/>
              <a:cs typeface="黑体"/>
            </a:endParaRPr>
          </a:p>
        </p:txBody>
      </p:sp>
      <p:sp>
        <p:nvSpPr>
          <p:cNvPr id="14" name="object 14" descr=""/>
          <p:cNvSpPr/>
          <p:nvPr/>
        </p:nvSpPr>
        <p:spPr>
          <a:xfrm>
            <a:off x="3648075" y="3860800"/>
            <a:ext cx="1025525" cy="692150"/>
          </a:xfrm>
          <a:custGeom>
            <a:avLst/>
            <a:gdLst/>
            <a:ahLst/>
            <a:cxnLst/>
            <a:rect l="l" t="t" r="r" b="b"/>
            <a:pathLst>
              <a:path w="1025525" h="692150">
                <a:moveTo>
                  <a:pt x="0" y="346075"/>
                </a:moveTo>
                <a:lnTo>
                  <a:pt x="11828" y="271832"/>
                </a:lnTo>
                <a:lnTo>
                  <a:pt x="45644" y="203140"/>
                </a:lnTo>
                <a:lnTo>
                  <a:pt x="70014" y="171402"/>
                </a:lnTo>
                <a:lnTo>
                  <a:pt x="98942" y="141686"/>
                </a:lnTo>
                <a:lnTo>
                  <a:pt x="132113" y="114201"/>
                </a:lnTo>
                <a:lnTo>
                  <a:pt x="169216" y="89159"/>
                </a:lnTo>
                <a:lnTo>
                  <a:pt x="209937" y="66771"/>
                </a:lnTo>
                <a:lnTo>
                  <a:pt x="253962" y="47248"/>
                </a:lnTo>
                <a:lnTo>
                  <a:pt x="300979" y="30802"/>
                </a:lnTo>
                <a:lnTo>
                  <a:pt x="350674" y="17642"/>
                </a:lnTo>
                <a:lnTo>
                  <a:pt x="402734" y="7981"/>
                </a:lnTo>
                <a:lnTo>
                  <a:pt x="456847" y="2030"/>
                </a:lnTo>
                <a:lnTo>
                  <a:pt x="512699" y="0"/>
                </a:lnTo>
                <a:lnTo>
                  <a:pt x="568574" y="2030"/>
                </a:lnTo>
                <a:lnTo>
                  <a:pt x="622707" y="7981"/>
                </a:lnTo>
                <a:lnTo>
                  <a:pt x="674785" y="17642"/>
                </a:lnTo>
                <a:lnTo>
                  <a:pt x="724495" y="30802"/>
                </a:lnTo>
                <a:lnTo>
                  <a:pt x="771525" y="47248"/>
                </a:lnTo>
                <a:lnTo>
                  <a:pt x="815560" y="66771"/>
                </a:lnTo>
                <a:lnTo>
                  <a:pt x="856289" y="89159"/>
                </a:lnTo>
                <a:lnTo>
                  <a:pt x="893398" y="114201"/>
                </a:lnTo>
                <a:lnTo>
                  <a:pt x="926574" y="141686"/>
                </a:lnTo>
                <a:lnTo>
                  <a:pt x="955505" y="171402"/>
                </a:lnTo>
                <a:lnTo>
                  <a:pt x="979878" y="203140"/>
                </a:lnTo>
                <a:lnTo>
                  <a:pt x="999379" y="236687"/>
                </a:lnTo>
                <a:lnTo>
                  <a:pt x="1022515" y="308365"/>
                </a:lnTo>
                <a:lnTo>
                  <a:pt x="1025525" y="346075"/>
                </a:lnTo>
                <a:lnTo>
                  <a:pt x="1022515" y="383784"/>
                </a:lnTo>
                <a:lnTo>
                  <a:pt x="999379" y="455462"/>
                </a:lnTo>
                <a:lnTo>
                  <a:pt x="979878" y="489009"/>
                </a:lnTo>
                <a:lnTo>
                  <a:pt x="955505" y="520747"/>
                </a:lnTo>
                <a:lnTo>
                  <a:pt x="926574" y="550463"/>
                </a:lnTo>
                <a:lnTo>
                  <a:pt x="893398" y="577948"/>
                </a:lnTo>
                <a:lnTo>
                  <a:pt x="856289" y="602990"/>
                </a:lnTo>
                <a:lnTo>
                  <a:pt x="815560" y="625378"/>
                </a:lnTo>
                <a:lnTo>
                  <a:pt x="771525" y="644901"/>
                </a:lnTo>
                <a:lnTo>
                  <a:pt x="724495" y="661347"/>
                </a:lnTo>
                <a:lnTo>
                  <a:pt x="674785" y="674507"/>
                </a:lnTo>
                <a:lnTo>
                  <a:pt x="622707" y="684168"/>
                </a:lnTo>
                <a:lnTo>
                  <a:pt x="568574" y="690119"/>
                </a:lnTo>
                <a:lnTo>
                  <a:pt x="512699" y="692150"/>
                </a:lnTo>
                <a:lnTo>
                  <a:pt x="456847" y="690119"/>
                </a:lnTo>
                <a:lnTo>
                  <a:pt x="402734" y="684168"/>
                </a:lnTo>
                <a:lnTo>
                  <a:pt x="350674" y="674507"/>
                </a:lnTo>
                <a:lnTo>
                  <a:pt x="300979" y="661347"/>
                </a:lnTo>
                <a:lnTo>
                  <a:pt x="253962" y="644901"/>
                </a:lnTo>
                <a:lnTo>
                  <a:pt x="209937" y="625378"/>
                </a:lnTo>
                <a:lnTo>
                  <a:pt x="169216" y="602990"/>
                </a:lnTo>
                <a:lnTo>
                  <a:pt x="132113" y="577948"/>
                </a:lnTo>
                <a:lnTo>
                  <a:pt x="98942" y="550463"/>
                </a:lnTo>
                <a:lnTo>
                  <a:pt x="70014" y="520747"/>
                </a:lnTo>
                <a:lnTo>
                  <a:pt x="45644" y="489009"/>
                </a:lnTo>
                <a:lnTo>
                  <a:pt x="26144" y="455462"/>
                </a:lnTo>
                <a:lnTo>
                  <a:pt x="3009" y="383784"/>
                </a:lnTo>
                <a:lnTo>
                  <a:pt x="0" y="346075"/>
                </a:lnTo>
                <a:close/>
              </a:path>
            </a:pathLst>
          </a:custGeom>
          <a:ln w="9525">
            <a:solidFill>
              <a:srgbClr val="FF0000"/>
            </a:solidFill>
          </a:ln>
        </p:spPr>
        <p:txBody>
          <a:bodyPr wrap="square" lIns="0" tIns="0" rIns="0" bIns="0" rtlCol="0"/>
          <a:lstStyle/>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97/175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graphicFrame>
        <p:nvGraphicFramePr>
          <p:cNvPr id="10" name="object 10" descr=""/>
          <p:cNvGraphicFramePr>
            <a:graphicFrameLocks noGrp="1"/>
          </p:cNvGraphicFramePr>
          <p:nvPr/>
        </p:nvGraphicFramePr>
        <p:xfrm>
          <a:off x="2504884" y="1989137"/>
          <a:ext cx="7458709" cy="4189095"/>
        </p:xfrm>
        <a:graphic>
          <a:graphicData uri="http://schemas.openxmlformats.org/drawingml/2006/table">
            <a:tbl>
              <a:tblPr firstRow="1" bandRow="1">
                <a:tableStyleId>{2D5ABB26-0587-4C30-8999-92F81FD0307C}</a:tableStyleId>
              </a:tblPr>
              <a:tblGrid>
                <a:gridCol w="1427480"/>
                <a:gridCol w="2170430"/>
                <a:gridCol w="1160144"/>
                <a:gridCol w="1110614"/>
                <a:gridCol w="1506855"/>
              </a:tblGrid>
              <a:tr h="594995">
                <a:tc rowSpan="2">
                  <a:txBody>
                    <a:bodyPr/>
                    <a:lstStyle/>
                    <a:p>
                      <a:pPr marL="725805">
                        <a:lnSpc>
                          <a:spcPct val="100000"/>
                        </a:lnSpc>
                        <a:spcBef>
                          <a:spcPts val="2440"/>
                        </a:spcBef>
                      </a:pPr>
                      <a:r>
                        <a:rPr dirty="0" sz="2400" spc="-50" b="1">
                          <a:solidFill>
                            <a:srgbClr val="E14B04"/>
                          </a:solidFill>
                          <a:latin typeface="宋体"/>
                          <a:cs typeface="宋体"/>
                        </a:rPr>
                        <a:t>指</a:t>
                      </a:r>
                      <a:endParaRPr sz="2400">
                        <a:latin typeface="宋体"/>
                        <a:cs typeface="宋体"/>
                      </a:endParaRPr>
                    </a:p>
                  </a:txBody>
                  <a:tcPr marL="0" marR="0" marB="0" marT="30988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rowSpan="2">
                  <a:txBody>
                    <a:bodyPr/>
                    <a:lstStyle/>
                    <a:p>
                      <a:pPr marL="528320">
                        <a:lnSpc>
                          <a:spcPct val="100000"/>
                        </a:lnSpc>
                        <a:spcBef>
                          <a:spcPts val="2440"/>
                        </a:spcBef>
                      </a:pPr>
                      <a:r>
                        <a:rPr dirty="0" sz="2400" spc="-50" b="1">
                          <a:solidFill>
                            <a:srgbClr val="E14B04"/>
                          </a:solidFill>
                          <a:latin typeface="宋体"/>
                          <a:cs typeface="宋体"/>
                        </a:rPr>
                        <a:t>令</a:t>
                      </a:r>
                      <a:endParaRPr sz="2400">
                        <a:latin typeface="宋体"/>
                        <a:cs typeface="宋体"/>
                      </a:endParaRPr>
                    </a:p>
                  </a:txBody>
                  <a:tcPr marL="0" marR="0" marB="0" marT="30988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gridSpan="3">
                  <a:txBody>
                    <a:bodyPr/>
                    <a:lstStyle/>
                    <a:p>
                      <a:pPr marL="1249045">
                        <a:lnSpc>
                          <a:spcPct val="100000"/>
                        </a:lnSpc>
                        <a:spcBef>
                          <a:spcPts val="1240"/>
                        </a:spcBef>
                      </a:pPr>
                      <a:r>
                        <a:rPr dirty="0" sz="1800" spc="-20" b="1">
                          <a:solidFill>
                            <a:srgbClr val="E14B04"/>
                          </a:solidFill>
                          <a:latin typeface="宋体"/>
                          <a:cs typeface="宋体"/>
                        </a:rPr>
                        <a:t>指令状态表</a:t>
                      </a:r>
                      <a:endParaRPr sz="1800">
                        <a:latin typeface="宋体"/>
                        <a:cs typeface="宋体"/>
                      </a:endParaRPr>
                    </a:p>
                  </a:txBody>
                  <a:tcPr marL="0" marR="0" marB="0" marT="1574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hMerge="1">
                  <a:txBody>
                    <a:bodyPr/>
                    <a:lstStyle/>
                    <a:p>
                      <a:pPr/>
                    </a:p>
                  </a:txBody>
                  <a:tcPr marL="0" marR="0" marB="0" marT="0"/>
                </a:tc>
              </a:tr>
              <a:tr h="394970">
                <a:tc vMerge="1">
                  <a:txBody>
                    <a:bodyPr/>
                    <a:lstStyle/>
                    <a:p>
                      <a:pPr/>
                    </a:p>
                  </a:txBody>
                  <a:tcPr marL="0" marR="0" marB="0" marT="30988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vMerge="1">
                  <a:txBody>
                    <a:bodyPr/>
                    <a:lstStyle/>
                    <a:p>
                      <a:pPr/>
                    </a:p>
                  </a:txBody>
                  <a:tcPr marL="0" marR="0" marB="0" marT="30988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r" marR="318135">
                        <a:lnSpc>
                          <a:spcPts val="2820"/>
                        </a:lnSpc>
                        <a:spcBef>
                          <a:spcPts val="190"/>
                        </a:spcBef>
                      </a:pPr>
                      <a:r>
                        <a:rPr dirty="0" sz="2400" spc="-35" b="1">
                          <a:solidFill>
                            <a:srgbClr val="E14B04"/>
                          </a:solidFill>
                          <a:latin typeface="宋体"/>
                          <a:cs typeface="宋体"/>
                        </a:rPr>
                        <a:t>流出</a:t>
                      </a:r>
                      <a:endParaRPr sz="2400">
                        <a:latin typeface="宋体"/>
                        <a:cs typeface="宋体"/>
                      </a:endParaRPr>
                    </a:p>
                  </a:txBody>
                  <a:tcPr marL="0" marR="0" marB="0" marT="241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30810">
                        <a:lnSpc>
                          <a:spcPts val="2820"/>
                        </a:lnSpc>
                        <a:spcBef>
                          <a:spcPts val="190"/>
                        </a:spcBef>
                      </a:pPr>
                      <a:r>
                        <a:rPr dirty="0" sz="2400" spc="-35" b="1">
                          <a:solidFill>
                            <a:srgbClr val="E14B04"/>
                          </a:solidFill>
                          <a:latin typeface="宋体"/>
                          <a:cs typeface="宋体"/>
                        </a:rPr>
                        <a:t>执行</a:t>
                      </a:r>
                      <a:endParaRPr sz="2400">
                        <a:latin typeface="宋体"/>
                        <a:cs typeface="宋体"/>
                      </a:endParaRPr>
                    </a:p>
                  </a:txBody>
                  <a:tcPr marL="0" marR="0" marB="0" marT="241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R="396240">
                        <a:lnSpc>
                          <a:spcPts val="2820"/>
                        </a:lnSpc>
                        <a:spcBef>
                          <a:spcPts val="190"/>
                        </a:spcBef>
                      </a:pPr>
                      <a:r>
                        <a:rPr dirty="0" sz="2400" spc="-35" b="1">
                          <a:solidFill>
                            <a:srgbClr val="E14B04"/>
                          </a:solidFill>
                          <a:latin typeface="宋体"/>
                          <a:cs typeface="宋体"/>
                        </a:rPr>
                        <a:t>写结果</a:t>
                      </a:r>
                      <a:endParaRPr sz="2400">
                        <a:latin typeface="宋体"/>
                        <a:cs typeface="宋体"/>
                      </a:endParaRPr>
                    </a:p>
                  </a:txBody>
                  <a:tcPr marL="0" marR="0" marB="0" marT="241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52450">
                <a:tc gridSpan="2">
                  <a:txBody>
                    <a:bodyPr/>
                    <a:lstStyle/>
                    <a:p>
                      <a:pPr marL="238125">
                        <a:lnSpc>
                          <a:spcPct val="100000"/>
                        </a:lnSpc>
                        <a:spcBef>
                          <a:spcPts val="1155"/>
                        </a:spcBef>
                        <a:tabLst>
                          <a:tab pos="1761489" algn="l"/>
                        </a:tabLst>
                      </a:pPr>
                      <a:r>
                        <a:rPr dirty="0" sz="2400" spc="-25" b="1">
                          <a:solidFill>
                            <a:srgbClr val="40458B"/>
                          </a:solidFill>
                          <a:latin typeface="Times New Roman"/>
                          <a:cs typeface="Times New Roman"/>
                        </a:rPr>
                        <a:t>L.D</a:t>
                      </a:r>
                      <a:r>
                        <a:rPr dirty="0" sz="2400" b="1">
                          <a:solidFill>
                            <a:srgbClr val="40458B"/>
                          </a:solidFill>
                          <a:latin typeface="Times New Roman"/>
                          <a:cs typeface="Times New Roman"/>
                        </a:rPr>
                        <a:t>	F6</a:t>
                      </a:r>
                      <a:r>
                        <a:rPr dirty="0" sz="2400" spc="-10" b="1">
                          <a:solidFill>
                            <a:srgbClr val="40458B"/>
                          </a:solidFill>
                          <a:latin typeface="Times New Roman"/>
                          <a:cs typeface="Times New Roman"/>
                        </a:rPr>
                        <a:t> </a:t>
                      </a:r>
                      <a:r>
                        <a:rPr dirty="0" sz="2400" b="1">
                          <a:solidFill>
                            <a:srgbClr val="40458B"/>
                          </a:solidFill>
                          <a:latin typeface="Times New Roman"/>
                          <a:cs typeface="Times New Roman"/>
                        </a:rPr>
                        <a:t>, </a:t>
                      </a:r>
                      <a:r>
                        <a:rPr dirty="0" sz="2400" spc="-10" b="1">
                          <a:solidFill>
                            <a:srgbClr val="40458B"/>
                          </a:solidFill>
                          <a:latin typeface="Times New Roman"/>
                          <a:cs typeface="Times New Roman"/>
                        </a:rPr>
                        <a:t>34(R2)</a:t>
                      </a:r>
                      <a:endParaRPr sz="2400">
                        <a:latin typeface="Times New Roman"/>
                        <a:cs typeface="Times New Roman"/>
                      </a:endParaRPr>
                    </a:p>
                  </a:txBody>
                  <a:tcPr marL="0" marR="0" marB="0" marT="1466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a:txBody>
                    <a:bodyPr/>
                    <a:lstStyle/>
                    <a:p>
                      <a:pPr marL="73025">
                        <a:lnSpc>
                          <a:spcPct val="100000"/>
                        </a:lnSpc>
                        <a:spcBef>
                          <a:spcPts val="1355"/>
                        </a:spcBef>
                      </a:pPr>
                      <a:r>
                        <a:rPr dirty="0" baseline="-4629" sz="3600" b="1">
                          <a:solidFill>
                            <a:srgbClr val="FF0000"/>
                          </a:solidFill>
                          <a:latin typeface="Times New Roman"/>
                          <a:cs typeface="Times New Roman"/>
                        </a:rPr>
                        <a:t>1</a:t>
                      </a:r>
                      <a:r>
                        <a:rPr dirty="0" baseline="-4629" sz="3600" spc="412" b="1">
                          <a:solidFill>
                            <a:srgbClr val="FF0000"/>
                          </a:solidFill>
                          <a:latin typeface="Times New Roman"/>
                          <a:cs typeface="Times New Roman"/>
                        </a:rPr>
                        <a:t> </a:t>
                      </a:r>
                      <a:r>
                        <a:rPr dirty="0" sz="2400" spc="-50" b="1">
                          <a:solidFill>
                            <a:srgbClr val="40458B"/>
                          </a:solidFill>
                          <a:latin typeface="Times New Roman"/>
                          <a:cs typeface="Times New Roman"/>
                        </a:rPr>
                        <a:t>√</a:t>
                      </a:r>
                      <a:endParaRPr sz="2400">
                        <a:latin typeface="Times New Roman"/>
                        <a:cs typeface="Times New Roman"/>
                      </a:endParaRPr>
                    </a:p>
                  </a:txBody>
                  <a:tcPr marL="0" marR="0" marB="0" marT="1720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59690">
                        <a:lnSpc>
                          <a:spcPct val="100000"/>
                        </a:lnSpc>
                        <a:spcBef>
                          <a:spcPts val="1140"/>
                        </a:spcBef>
                        <a:tabLst>
                          <a:tab pos="629920" algn="l"/>
                        </a:tabLst>
                      </a:pPr>
                      <a:r>
                        <a:rPr dirty="0" baseline="-3472" sz="3600" b="1">
                          <a:solidFill>
                            <a:srgbClr val="FF0000"/>
                          </a:solidFill>
                          <a:latin typeface="Times New Roman"/>
                          <a:cs typeface="Times New Roman"/>
                        </a:rPr>
                        <a:t>2</a:t>
                      </a:r>
                      <a:r>
                        <a:rPr dirty="0" baseline="-3472" sz="3600" spc="202" b="1">
                          <a:solidFill>
                            <a:srgbClr val="FF0000"/>
                          </a:solidFill>
                          <a:latin typeface="Times New Roman"/>
                          <a:cs typeface="Times New Roman"/>
                        </a:rPr>
                        <a:t> </a:t>
                      </a:r>
                      <a:r>
                        <a:rPr dirty="0" sz="2400" spc="-50" b="1">
                          <a:solidFill>
                            <a:srgbClr val="40458B"/>
                          </a:solidFill>
                          <a:latin typeface="Times New Roman"/>
                          <a:cs typeface="Times New Roman"/>
                        </a:rPr>
                        <a:t>√</a:t>
                      </a:r>
                      <a:r>
                        <a:rPr dirty="0" sz="2400" b="1">
                          <a:solidFill>
                            <a:srgbClr val="40458B"/>
                          </a:solidFill>
                          <a:latin typeface="Times New Roman"/>
                          <a:cs typeface="Times New Roman"/>
                        </a:rPr>
                        <a:t>	</a:t>
                      </a:r>
                      <a:r>
                        <a:rPr dirty="0" baseline="-4629" sz="3600" b="1">
                          <a:solidFill>
                            <a:srgbClr val="40458B"/>
                          </a:solidFill>
                          <a:latin typeface="Times New Roman"/>
                          <a:cs typeface="Times New Roman"/>
                        </a:rPr>
                        <a:t>√</a:t>
                      </a:r>
                      <a:r>
                        <a:rPr dirty="0" baseline="-4629" sz="3600" spc="120" b="1">
                          <a:solidFill>
                            <a:srgbClr val="40458B"/>
                          </a:solidFill>
                          <a:latin typeface="Times New Roman"/>
                          <a:cs typeface="Times New Roman"/>
                        </a:rPr>
                        <a:t> </a:t>
                      </a:r>
                      <a:r>
                        <a:rPr dirty="0" sz="2400" spc="-60" b="1">
                          <a:solidFill>
                            <a:srgbClr val="FF0000"/>
                          </a:solidFill>
                          <a:latin typeface="Times New Roman"/>
                          <a:cs typeface="Times New Roman"/>
                        </a:rPr>
                        <a:t>3</a:t>
                      </a:r>
                      <a:endParaRPr sz="2400">
                        <a:latin typeface="Times New Roman"/>
                        <a:cs typeface="Times New Roman"/>
                      </a:endParaRPr>
                    </a:p>
                  </a:txBody>
                  <a:tcPr marL="0" marR="0" marB="0" marT="1447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R="401320">
                        <a:lnSpc>
                          <a:spcPct val="100000"/>
                        </a:lnSpc>
                        <a:spcBef>
                          <a:spcPts val="1120"/>
                        </a:spcBef>
                      </a:pPr>
                      <a:r>
                        <a:rPr dirty="0" baseline="-16203" sz="3600" b="1">
                          <a:solidFill>
                            <a:srgbClr val="40458B"/>
                          </a:solidFill>
                          <a:latin typeface="Times New Roman"/>
                          <a:cs typeface="Times New Roman"/>
                        </a:rPr>
                        <a:t>√</a:t>
                      </a:r>
                      <a:r>
                        <a:rPr dirty="0" baseline="-16203" sz="3600" spc="270" b="1">
                          <a:solidFill>
                            <a:srgbClr val="40458B"/>
                          </a:solidFill>
                          <a:latin typeface="Times New Roman"/>
                          <a:cs typeface="Times New Roman"/>
                        </a:rPr>
                        <a:t> </a:t>
                      </a:r>
                      <a:r>
                        <a:rPr dirty="0" sz="2400" spc="-50" b="1">
                          <a:solidFill>
                            <a:srgbClr val="FF0000"/>
                          </a:solidFill>
                          <a:latin typeface="Times New Roman"/>
                          <a:cs typeface="Times New Roman"/>
                        </a:rPr>
                        <a:t>4</a:t>
                      </a:r>
                      <a:endParaRPr sz="2400">
                        <a:latin typeface="Times New Roman"/>
                        <a:cs typeface="Times New Roman"/>
                      </a:endParaRPr>
                    </a:p>
                  </a:txBody>
                  <a:tcPr marL="0" marR="0" marB="0" marT="14224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gridSpan="2">
                  <a:txBody>
                    <a:bodyPr/>
                    <a:lstStyle/>
                    <a:p>
                      <a:pPr marL="238125">
                        <a:lnSpc>
                          <a:spcPct val="100000"/>
                        </a:lnSpc>
                        <a:spcBef>
                          <a:spcPts val="840"/>
                        </a:spcBef>
                        <a:tabLst>
                          <a:tab pos="1761489" algn="l"/>
                        </a:tabLst>
                      </a:pPr>
                      <a:r>
                        <a:rPr dirty="0" sz="2400" spc="-25" b="1">
                          <a:solidFill>
                            <a:srgbClr val="40458B"/>
                          </a:solidFill>
                          <a:latin typeface="Times New Roman"/>
                          <a:cs typeface="Times New Roman"/>
                        </a:rPr>
                        <a:t>L.D</a:t>
                      </a:r>
                      <a:r>
                        <a:rPr dirty="0" sz="2400" b="1">
                          <a:solidFill>
                            <a:srgbClr val="40458B"/>
                          </a:solidFill>
                          <a:latin typeface="Times New Roman"/>
                          <a:cs typeface="Times New Roman"/>
                        </a:rPr>
                        <a:t>	F2</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a:t>
                      </a:r>
                      <a:r>
                        <a:rPr dirty="0" sz="2400" spc="-10" b="1">
                          <a:solidFill>
                            <a:srgbClr val="40458B"/>
                          </a:solidFill>
                          <a:latin typeface="Times New Roman"/>
                          <a:cs typeface="Times New Roman"/>
                        </a:rPr>
                        <a:t>45(R3)</a:t>
                      </a:r>
                      <a:endParaRPr sz="2400">
                        <a:latin typeface="Times New Roman"/>
                        <a:cs typeface="Times New Roman"/>
                      </a:endParaRPr>
                    </a:p>
                  </a:txBody>
                  <a:tcPr marL="0" marR="0" marB="0" marT="1066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a:txBody>
                    <a:bodyPr/>
                    <a:lstStyle/>
                    <a:p>
                      <a:pPr algn="r" marR="328930">
                        <a:lnSpc>
                          <a:spcPct val="100000"/>
                        </a:lnSpc>
                        <a:spcBef>
                          <a:spcPts val="1045"/>
                        </a:spcBef>
                        <a:tabLst>
                          <a:tab pos="299720" algn="l"/>
                        </a:tabLst>
                      </a:pPr>
                      <a:r>
                        <a:rPr dirty="0" sz="2400" spc="-50" b="1">
                          <a:solidFill>
                            <a:srgbClr val="40458B"/>
                          </a:solidFill>
                          <a:latin typeface="Times New Roman"/>
                          <a:cs typeface="Times New Roman"/>
                        </a:rPr>
                        <a:t>√</a:t>
                      </a:r>
                      <a:r>
                        <a:rPr dirty="0" sz="2400" b="1">
                          <a:solidFill>
                            <a:srgbClr val="40458B"/>
                          </a:solidFill>
                          <a:latin typeface="Times New Roman"/>
                          <a:cs typeface="Times New Roman"/>
                        </a:rPr>
                        <a:t>	</a:t>
                      </a:r>
                      <a:r>
                        <a:rPr dirty="0" sz="2400" spc="-50" b="1">
                          <a:solidFill>
                            <a:srgbClr val="FF0000"/>
                          </a:solidFill>
                          <a:latin typeface="Times New Roman"/>
                          <a:cs typeface="Times New Roman"/>
                        </a:rPr>
                        <a:t>2</a:t>
                      </a:r>
                      <a:endParaRPr sz="2400">
                        <a:latin typeface="Times New Roman"/>
                        <a:cs typeface="Times New Roman"/>
                      </a:endParaRPr>
                    </a:p>
                  </a:txBody>
                  <a:tcPr marL="0" marR="0" marB="0" marT="1327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92075">
                        <a:lnSpc>
                          <a:spcPts val="2655"/>
                        </a:lnSpc>
                        <a:spcBef>
                          <a:spcPts val="1555"/>
                        </a:spcBef>
                        <a:tabLst>
                          <a:tab pos="577215" algn="l"/>
                        </a:tabLst>
                      </a:pPr>
                      <a:r>
                        <a:rPr dirty="0" sz="2400" b="1">
                          <a:solidFill>
                            <a:srgbClr val="FF0000"/>
                          </a:solidFill>
                          <a:latin typeface="Times New Roman"/>
                          <a:cs typeface="Times New Roman"/>
                        </a:rPr>
                        <a:t>3</a:t>
                      </a:r>
                      <a:r>
                        <a:rPr dirty="0" sz="2400" spc="-340" b="1">
                          <a:solidFill>
                            <a:srgbClr val="FF0000"/>
                          </a:solidFill>
                          <a:latin typeface="Times New Roman"/>
                          <a:cs typeface="Times New Roman"/>
                        </a:rPr>
                        <a:t> </a:t>
                      </a:r>
                      <a:r>
                        <a:rPr dirty="0" sz="2400" spc="-50" b="1">
                          <a:solidFill>
                            <a:srgbClr val="40458B"/>
                          </a:solidFill>
                          <a:latin typeface="Times New Roman"/>
                          <a:cs typeface="Times New Roman"/>
                        </a:rPr>
                        <a:t>√</a:t>
                      </a:r>
                      <a:r>
                        <a:rPr dirty="0" sz="2400" b="1">
                          <a:solidFill>
                            <a:srgbClr val="40458B"/>
                          </a:solidFill>
                          <a:latin typeface="Times New Roman"/>
                          <a:cs typeface="Times New Roman"/>
                        </a:rPr>
                        <a:t>	</a:t>
                      </a:r>
                      <a:r>
                        <a:rPr dirty="0" baseline="5787" sz="3600" b="1">
                          <a:solidFill>
                            <a:srgbClr val="40458B"/>
                          </a:solidFill>
                          <a:latin typeface="Times New Roman"/>
                          <a:cs typeface="Times New Roman"/>
                        </a:rPr>
                        <a:t>√</a:t>
                      </a:r>
                      <a:r>
                        <a:rPr dirty="0" baseline="5787" sz="3600" spc="270" b="1">
                          <a:solidFill>
                            <a:srgbClr val="40458B"/>
                          </a:solidFill>
                          <a:latin typeface="Times New Roman"/>
                          <a:cs typeface="Times New Roman"/>
                        </a:rPr>
                        <a:t> </a:t>
                      </a:r>
                      <a:r>
                        <a:rPr dirty="0" baseline="21990" sz="3600" spc="-75" b="1">
                          <a:solidFill>
                            <a:srgbClr val="FF0000"/>
                          </a:solidFill>
                          <a:latin typeface="Times New Roman"/>
                          <a:cs typeface="Times New Roman"/>
                        </a:rPr>
                        <a:t>4</a:t>
                      </a:r>
                      <a:endParaRPr baseline="21990" sz="3600">
                        <a:latin typeface="Times New Roman"/>
                        <a:cs typeface="Times New Roman"/>
                      </a:endParaRPr>
                    </a:p>
                  </a:txBody>
                  <a:tcPr marL="0" marR="0" marB="0" marT="1974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a:txBody>
                    <a:bodyPr/>
                    <a:lstStyle/>
                    <a:p>
                      <a:pPr marL="85725">
                        <a:lnSpc>
                          <a:spcPct val="100000"/>
                        </a:lnSpc>
                        <a:spcBef>
                          <a:spcPts val="560"/>
                        </a:spcBef>
                      </a:pPr>
                      <a:r>
                        <a:rPr dirty="0" sz="2400" spc="-10" b="1">
                          <a:solidFill>
                            <a:srgbClr val="40458B"/>
                          </a:solidFill>
                          <a:latin typeface="Times New Roman"/>
                          <a:cs typeface="Times New Roman"/>
                        </a:rPr>
                        <a:t>MUL.D</a:t>
                      </a:r>
                      <a:endParaRPr sz="2400">
                        <a:latin typeface="Times New Roman"/>
                        <a:cs typeface="Times New Roman"/>
                      </a:endParaRPr>
                    </a:p>
                  </a:txBody>
                  <a:tcPr marL="0" marR="0" marB="0" marT="7112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560"/>
                        </a:spcBef>
                      </a:pPr>
                      <a:r>
                        <a:rPr dirty="0" sz="2400" b="1">
                          <a:solidFill>
                            <a:srgbClr val="40458B"/>
                          </a:solidFill>
                          <a:latin typeface="Times New Roman"/>
                          <a:cs typeface="Times New Roman"/>
                        </a:rPr>
                        <a:t>F0</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F2</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a:t>
                      </a:r>
                      <a:r>
                        <a:rPr dirty="0" sz="2400" spc="-25" b="1">
                          <a:solidFill>
                            <a:srgbClr val="40458B"/>
                          </a:solidFill>
                          <a:latin typeface="Times New Roman"/>
                          <a:cs typeface="Times New Roman"/>
                        </a:rPr>
                        <a:t>F4</a:t>
                      </a:r>
                      <a:endParaRPr sz="2400">
                        <a:latin typeface="Times New Roman"/>
                        <a:cs typeface="Times New Roman"/>
                      </a:endParaRPr>
                    </a:p>
                  </a:txBody>
                  <a:tcPr marL="0" marR="0" marB="0" marT="7112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31445">
                        <a:lnSpc>
                          <a:spcPct val="100000"/>
                        </a:lnSpc>
                        <a:spcBef>
                          <a:spcPts val="844"/>
                        </a:spcBef>
                      </a:pPr>
                      <a:r>
                        <a:rPr dirty="0" sz="2400" b="1">
                          <a:solidFill>
                            <a:srgbClr val="FF0000"/>
                          </a:solidFill>
                          <a:latin typeface="Times New Roman"/>
                          <a:cs typeface="Times New Roman"/>
                        </a:rPr>
                        <a:t>3</a:t>
                      </a:r>
                      <a:r>
                        <a:rPr dirty="0" sz="2400" spc="135" b="1">
                          <a:solidFill>
                            <a:srgbClr val="FF0000"/>
                          </a:solidFill>
                          <a:latin typeface="Times New Roman"/>
                          <a:cs typeface="Times New Roman"/>
                        </a:rPr>
                        <a:t> </a:t>
                      </a:r>
                      <a:r>
                        <a:rPr dirty="0" baseline="-5787" sz="3600" spc="-75" b="1">
                          <a:solidFill>
                            <a:srgbClr val="40458B"/>
                          </a:solidFill>
                          <a:latin typeface="Times New Roman"/>
                          <a:cs typeface="Times New Roman"/>
                        </a:rPr>
                        <a:t>√</a:t>
                      </a:r>
                      <a:endParaRPr baseline="-5787" sz="3600">
                        <a:latin typeface="Times New Roman"/>
                        <a:cs typeface="Times New Roman"/>
                      </a:endParaRPr>
                    </a:p>
                  </a:txBody>
                  <a:tcPr marL="0" marR="0" marB="0" marT="10731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17170">
                        <a:lnSpc>
                          <a:spcPct val="100000"/>
                        </a:lnSpc>
                        <a:spcBef>
                          <a:spcPts val="229"/>
                        </a:spcBef>
                        <a:tabLst>
                          <a:tab pos="582295" algn="l"/>
                        </a:tabLst>
                      </a:pPr>
                      <a:r>
                        <a:rPr dirty="0" baseline="-8101" sz="3600" spc="-75" b="1">
                          <a:solidFill>
                            <a:srgbClr val="40458B"/>
                          </a:solidFill>
                          <a:latin typeface="Times New Roman"/>
                          <a:cs typeface="Times New Roman"/>
                        </a:rPr>
                        <a:t>√</a:t>
                      </a:r>
                      <a:r>
                        <a:rPr dirty="0" baseline="-8101" sz="3600" b="1">
                          <a:solidFill>
                            <a:srgbClr val="40458B"/>
                          </a:solidFill>
                          <a:latin typeface="Times New Roman"/>
                          <a:cs typeface="Times New Roman"/>
                        </a:rPr>
                        <a:t>	</a:t>
                      </a:r>
                      <a:r>
                        <a:rPr dirty="0" sz="2400" spc="-50" b="1">
                          <a:solidFill>
                            <a:srgbClr val="FF0000"/>
                          </a:solidFill>
                          <a:latin typeface="Times New Roman"/>
                          <a:cs typeface="Times New Roman"/>
                        </a:rPr>
                        <a:t>4</a:t>
                      </a:r>
                      <a:endParaRPr sz="2400">
                        <a:latin typeface="Times New Roman"/>
                        <a:cs typeface="Times New Roman"/>
                      </a:endParaRPr>
                    </a:p>
                  </a:txBody>
                  <a:tcPr marL="0" marR="0" marB="0" marT="29209">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490220">
                <a:tc>
                  <a:txBody>
                    <a:bodyPr/>
                    <a:lstStyle/>
                    <a:p>
                      <a:pPr marL="85725">
                        <a:lnSpc>
                          <a:spcPct val="100000"/>
                        </a:lnSpc>
                        <a:spcBef>
                          <a:spcPts val="280"/>
                        </a:spcBef>
                      </a:pPr>
                      <a:r>
                        <a:rPr dirty="0" sz="2400" spc="-10" b="1">
                          <a:solidFill>
                            <a:srgbClr val="40458B"/>
                          </a:solidFill>
                          <a:latin typeface="Times New Roman"/>
                          <a:cs typeface="Times New Roman"/>
                        </a:rPr>
                        <a:t>SUB.D</a:t>
                      </a:r>
                      <a:endParaRPr sz="2400">
                        <a:latin typeface="Times New Roman"/>
                        <a:cs typeface="Times New Roman"/>
                      </a:endParaRPr>
                    </a:p>
                  </a:txBody>
                  <a:tcPr marL="0" marR="0" marB="0" marT="3556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280"/>
                        </a:spcBef>
                      </a:pPr>
                      <a:r>
                        <a:rPr dirty="0" sz="2400" b="1">
                          <a:solidFill>
                            <a:srgbClr val="40458B"/>
                          </a:solidFill>
                          <a:latin typeface="Times New Roman"/>
                          <a:cs typeface="Times New Roman"/>
                        </a:rPr>
                        <a:t>F8</a:t>
                      </a:r>
                      <a:r>
                        <a:rPr dirty="0" sz="2400" spc="-20" b="1">
                          <a:solidFill>
                            <a:srgbClr val="40458B"/>
                          </a:solidFill>
                          <a:latin typeface="Times New Roman"/>
                          <a:cs typeface="Times New Roman"/>
                        </a:rPr>
                        <a:t> </a:t>
                      </a:r>
                      <a:r>
                        <a:rPr dirty="0" sz="2400" b="1">
                          <a:solidFill>
                            <a:srgbClr val="40458B"/>
                          </a:solidFill>
                          <a:latin typeface="Times New Roman"/>
                          <a:cs typeface="Times New Roman"/>
                        </a:rPr>
                        <a:t>, F6</a:t>
                      </a:r>
                      <a:r>
                        <a:rPr dirty="0" sz="2400" spc="-10" b="1">
                          <a:solidFill>
                            <a:srgbClr val="40458B"/>
                          </a:solidFill>
                          <a:latin typeface="Times New Roman"/>
                          <a:cs typeface="Times New Roman"/>
                        </a:rPr>
                        <a:t> </a:t>
                      </a:r>
                      <a:r>
                        <a:rPr dirty="0" sz="2400" b="1">
                          <a:solidFill>
                            <a:srgbClr val="40458B"/>
                          </a:solidFill>
                          <a:latin typeface="Times New Roman"/>
                          <a:cs typeface="Times New Roman"/>
                        </a:rPr>
                        <a:t>,</a:t>
                      </a:r>
                      <a:r>
                        <a:rPr dirty="0" sz="2400" spc="-5" b="1">
                          <a:solidFill>
                            <a:srgbClr val="40458B"/>
                          </a:solidFill>
                          <a:latin typeface="Times New Roman"/>
                          <a:cs typeface="Times New Roman"/>
                        </a:rPr>
                        <a:t> </a:t>
                      </a:r>
                      <a:r>
                        <a:rPr dirty="0" sz="2400" spc="-25" b="1">
                          <a:solidFill>
                            <a:srgbClr val="40458B"/>
                          </a:solidFill>
                          <a:latin typeface="Times New Roman"/>
                          <a:cs typeface="Times New Roman"/>
                        </a:rPr>
                        <a:t>F2</a:t>
                      </a:r>
                      <a:endParaRPr sz="2400">
                        <a:latin typeface="Times New Roman"/>
                        <a:cs typeface="Times New Roman"/>
                      </a:endParaRPr>
                    </a:p>
                  </a:txBody>
                  <a:tcPr marL="0" marR="0" marB="0" marT="3556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r" marR="309880">
                        <a:lnSpc>
                          <a:spcPts val="2515"/>
                        </a:lnSpc>
                        <a:spcBef>
                          <a:spcPts val="1245"/>
                        </a:spcBef>
                        <a:tabLst>
                          <a:tab pos="400050" algn="l"/>
                        </a:tabLst>
                      </a:pPr>
                      <a:r>
                        <a:rPr dirty="0" baseline="-5787" sz="3600" spc="-75" b="1">
                          <a:solidFill>
                            <a:srgbClr val="40458B"/>
                          </a:solidFill>
                          <a:latin typeface="Times New Roman"/>
                          <a:cs typeface="Times New Roman"/>
                        </a:rPr>
                        <a:t>√</a:t>
                      </a:r>
                      <a:r>
                        <a:rPr dirty="0" baseline="-5787" sz="3600" b="1">
                          <a:solidFill>
                            <a:srgbClr val="40458B"/>
                          </a:solidFill>
                          <a:latin typeface="Times New Roman"/>
                          <a:cs typeface="Times New Roman"/>
                        </a:rPr>
                        <a:t>	</a:t>
                      </a:r>
                      <a:r>
                        <a:rPr dirty="0" sz="2400" spc="-50" b="1">
                          <a:solidFill>
                            <a:srgbClr val="FF0000"/>
                          </a:solidFill>
                          <a:latin typeface="Times New Roman"/>
                          <a:cs typeface="Times New Roman"/>
                        </a:rPr>
                        <a:t>4</a:t>
                      </a:r>
                      <a:endParaRPr sz="2400">
                        <a:latin typeface="Times New Roman"/>
                        <a:cs typeface="Times New Roman"/>
                      </a:endParaRPr>
                    </a:p>
                  </a:txBody>
                  <a:tcPr marL="0" marR="0" marB="0" marT="1581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a:txBody>
                    <a:bodyPr/>
                    <a:lstStyle/>
                    <a:p>
                      <a:pPr marL="85725">
                        <a:lnSpc>
                          <a:spcPct val="100000"/>
                        </a:lnSpc>
                        <a:spcBef>
                          <a:spcPts val="450"/>
                        </a:spcBef>
                      </a:pPr>
                      <a:r>
                        <a:rPr dirty="0" sz="2400" spc="-10" b="1">
                          <a:solidFill>
                            <a:srgbClr val="40458B"/>
                          </a:solidFill>
                          <a:latin typeface="Times New Roman"/>
                          <a:cs typeface="Times New Roman"/>
                        </a:rPr>
                        <a:t>DIV.D</a:t>
                      </a:r>
                      <a:endParaRPr sz="2400">
                        <a:latin typeface="Times New Roman"/>
                        <a:cs typeface="Times New Roman"/>
                      </a:endParaRPr>
                    </a:p>
                  </a:txBody>
                  <a:tcPr marL="0" marR="0" marB="0" marT="5715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450"/>
                        </a:spcBef>
                      </a:pPr>
                      <a:r>
                        <a:rPr dirty="0" sz="2400" b="1">
                          <a:solidFill>
                            <a:srgbClr val="40458B"/>
                          </a:solidFill>
                          <a:latin typeface="Times New Roman"/>
                          <a:cs typeface="Times New Roman"/>
                        </a:rPr>
                        <a:t>F10</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F0</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a:t>
                      </a:r>
                      <a:r>
                        <a:rPr dirty="0" sz="2400" spc="-25" b="1">
                          <a:solidFill>
                            <a:srgbClr val="40458B"/>
                          </a:solidFill>
                          <a:latin typeface="Times New Roman"/>
                          <a:cs typeface="Times New Roman"/>
                        </a:rPr>
                        <a:t>F6</a:t>
                      </a:r>
                      <a:endParaRPr sz="2400">
                        <a:latin typeface="Times New Roman"/>
                        <a:cs typeface="Times New Roman"/>
                      </a:endParaRPr>
                    </a:p>
                  </a:txBody>
                  <a:tcPr marL="0" marR="0" marB="0" marT="5715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14350">
                <a:tc>
                  <a:txBody>
                    <a:bodyPr/>
                    <a:lstStyle/>
                    <a:p>
                      <a:pPr marL="68580">
                        <a:lnSpc>
                          <a:spcPct val="100000"/>
                        </a:lnSpc>
                        <a:spcBef>
                          <a:spcPts val="170"/>
                        </a:spcBef>
                      </a:pPr>
                      <a:r>
                        <a:rPr dirty="0" sz="2400" spc="-10" b="1">
                          <a:solidFill>
                            <a:srgbClr val="40458B"/>
                          </a:solidFill>
                          <a:latin typeface="Times New Roman"/>
                          <a:cs typeface="Times New Roman"/>
                        </a:rPr>
                        <a:t>ADD.D</a:t>
                      </a:r>
                      <a:endParaRPr sz="2400">
                        <a:latin typeface="Times New Roman"/>
                        <a:cs typeface="Times New Roman"/>
                      </a:endParaRPr>
                    </a:p>
                  </a:txBody>
                  <a:tcPr marL="0" marR="0" marB="0" marT="2159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marL="334645">
                        <a:lnSpc>
                          <a:spcPct val="100000"/>
                        </a:lnSpc>
                        <a:spcBef>
                          <a:spcPts val="170"/>
                        </a:spcBef>
                      </a:pPr>
                      <a:r>
                        <a:rPr dirty="0" sz="2400" b="1">
                          <a:solidFill>
                            <a:srgbClr val="40458B"/>
                          </a:solidFill>
                          <a:latin typeface="Times New Roman"/>
                          <a:cs typeface="Times New Roman"/>
                        </a:rPr>
                        <a:t>F6</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F8</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a:t>
                      </a:r>
                      <a:r>
                        <a:rPr dirty="0" sz="2400" spc="-25" b="1">
                          <a:solidFill>
                            <a:srgbClr val="40458B"/>
                          </a:solidFill>
                          <a:latin typeface="Times New Roman"/>
                          <a:cs typeface="Times New Roman"/>
                        </a:rPr>
                        <a:t>F2</a:t>
                      </a:r>
                      <a:endParaRPr sz="2400">
                        <a:latin typeface="Times New Roman"/>
                        <a:cs typeface="Times New Roman"/>
                      </a:endParaRPr>
                    </a:p>
                  </a:txBody>
                  <a:tcPr marL="0" marR="0" marB="0" marT="2159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4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bl>
          </a:graphicData>
        </a:graphic>
      </p:graphicFrame>
      <p:sp>
        <p:nvSpPr>
          <p:cNvPr id="11" name="object 11" descr=""/>
          <p:cNvSpPr txBox="1"/>
          <p:nvPr/>
        </p:nvSpPr>
        <p:spPr>
          <a:xfrm>
            <a:off x="1159560" y="1263777"/>
            <a:ext cx="5398135" cy="452120"/>
          </a:xfrm>
          <a:prstGeom prst="rect">
            <a:avLst/>
          </a:prstGeom>
        </p:spPr>
        <p:txBody>
          <a:bodyPr wrap="square" lIns="0" tIns="12065" rIns="0" bIns="0" rtlCol="0" vert="horz">
            <a:spAutoFit/>
          </a:bodyPr>
          <a:lstStyle/>
          <a:p>
            <a:pPr marL="12700">
              <a:lnSpc>
                <a:spcPct val="100000"/>
              </a:lnSpc>
              <a:spcBef>
                <a:spcPts val="95"/>
              </a:spcBef>
            </a:pPr>
            <a:r>
              <a:rPr dirty="0" sz="2800" spc="-25" b="1">
                <a:solidFill>
                  <a:srgbClr val="006FC0"/>
                </a:solidFill>
                <a:latin typeface="宋体"/>
                <a:cs typeface="宋体"/>
              </a:rPr>
              <a:t>第</a:t>
            </a:r>
            <a:r>
              <a:rPr dirty="0" sz="2800" spc="-20" b="1">
                <a:solidFill>
                  <a:srgbClr val="006FC0"/>
                </a:solidFill>
                <a:latin typeface="宋体"/>
                <a:cs typeface="宋体"/>
              </a:rPr>
              <a:t>4个周期，</a:t>
            </a:r>
            <a:r>
              <a:rPr dirty="0" sz="2800" b="1">
                <a:solidFill>
                  <a:srgbClr val="006FC0"/>
                </a:solidFill>
                <a:latin typeface="宋体"/>
                <a:cs typeface="宋体"/>
              </a:rPr>
              <a:t>L.D</a:t>
            </a:r>
            <a:r>
              <a:rPr dirty="0" sz="2800" spc="60" b="1">
                <a:solidFill>
                  <a:srgbClr val="006FC0"/>
                </a:solidFill>
                <a:latin typeface="宋体"/>
                <a:cs typeface="宋体"/>
              </a:rPr>
              <a:t> </a:t>
            </a:r>
            <a:r>
              <a:rPr dirty="0" sz="2800" spc="-20" b="1">
                <a:solidFill>
                  <a:srgbClr val="006FC0"/>
                </a:solidFill>
                <a:latin typeface="宋体"/>
                <a:cs typeface="宋体"/>
              </a:rPr>
              <a:t>F6,34(R2</a:t>
            </a:r>
            <a:r>
              <a:rPr dirty="0" sz="2800" spc="-35" b="1">
                <a:solidFill>
                  <a:srgbClr val="006FC0"/>
                </a:solidFill>
                <a:latin typeface="宋体"/>
                <a:cs typeface="宋体"/>
              </a:rPr>
              <a:t>)写结果</a:t>
            </a:r>
            <a:endParaRPr sz="2800">
              <a:latin typeface="宋体"/>
              <a:cs typeface="宋体"/>
            </a:endParaRPr>
          </a:p>
        </p:txBody>
      </p:sp>
      <p:pic>
        <p:nvPicPr>
          <p:cNvPr id="12" name="object 12" descr=""/>
          <p:cNvPicPr/>
          <p:nvPr/>
        </p:nvPicPr>
        <p:blipFill>
          <a:blip r:embed="rId2" cstate="print"/>
          <a:stretch>
            <a:fillRect/>
          </a:stretch>
        </p:blipFill>
        <p:spPr>
          <a:xfrm>
            <a:off x="7927975" y="0"/>
            <a:ext cx="4264025" cy="2144649"/>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671637" y="407987"/>
          <a:ext cx="8943340" cy="3961765"/>
        </p:xfrm>
        <a:graphic>
          <a:graphicData uri="http://schemas.openxmlformats.org/drawingml/2006/table">
            <a:tbl>
              <a:tblPr firstRow="1" bandRow="1">
                <a:tableStyleId>{2D5ABB26-0587-4C30-8999-92F81FD0307C}</a:tableStyleId>
              </a:tblPr>
              <a:tblGrid>
                <a:gridCol w="914400"/>
                <a:gridCol w="933450"/>
                <a:gridCol w="819150"/>
                <a:gridCol w="533400"/>
                <a:gridCol w="2362200"/>
                <a:gridCol w="914400"/>
                <a:gridCol w="914400"/>
                <a:gridCol w="1466215"/>
              </a:tblGrid>
              <a:tr h="533400">
                <a:tc rowSpan="2">
                  <a:txBody>
                    <a:bodyPr/>
                    <a:lstStyle/>
                    <a:p>
                      <a:pPr>
                        <a:lnSpc>
                          <a:spcPct val="100000"/>
                        </a:lnSpc>
                        <a:spcBef>
                          <a:spcPts val="725"/>
                        </a:spcBef>
                      </a:pPr>
                      <a:endParaRPr sz="2400">
                        <a:latin typeface="Times New Roman"/>
                        <a:cs typeface="Times New Roman"/>
                      </a:endParaRPr>
                    </a:p>
                    <a:p>
                      <a:pPr marL="139065">
                        <a:lnSpc>
                          <a:spcPct val="100000"/>
                        </a:lnSpc>
                        <a:spcBef>
                          <a:spcPts val="5"/>
                        </a:spcBef>
                      </a:pPr>
                      <a:r>
                        <a:rPr dirty="0" sz="2400" spc="-35" b="1">
                          <a:solidFill>
                            <a:srgbClr val="E14B04"/>
                          </a:solidFill>
                          <a:latin typeface="宋体"/>
                          <a:cs typeface="宋体"/>
                        </a:rPr>
                        <a:t>名称</a:t>
                      </a:r>
                      <a:endParaRPr sz="2400">
                        <a:latin typeface="宋体"/>
                        <a:cs typeface="宋体"/>
                      </a:endParaRPr>
                    </a:p>
                  </a:txBody>
                  <a:tcPr marL="0" marR="0" marB="0" marT="920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gridSpan="7">
                  <a:txBody>
                    <a:bodyPr/>
                    <a:lstStyle/>
                    <a:p>
                      <a:pPr algn="ctr" marR="659765">
                        <a:lnSpc>
                          <a:spcPct val="100000"/>
                        </a:lnSpc>
                        <a:spcBef>
                          <a:spcPts val="1235"/>
                        </a:spcBef>
                      </a:pPr>
                      <a:r>
                        <a:rPr dirty="0" sz="1800" spc="-25" b="1">
                          <a:solidFill>
                            <a:srgbClr val="E14B04"/>
                          </a:solidFill>
                          <a:latin typeface="宋体"/>
                          <a:cs typeface="宋体"/>
                        </a:rPr>
                        <a:t>保留站</a:t>
                      </a:r>
                      <a:endParaRPr sz="1800">
                        <a:latin typeface="宋体"/>
                        <a:cs typeface="宋体"/>
                      </a:endParaRPr>
                    </a:p>
                  </a:txBody>
                  <a:tcPr marL="0" marR="0" marB="0" marT="15684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542925">
                <a:tc vMerge="1">
                  <a:txBody>
                    <a:bodyPr/>
                    <a:lstStyle/>
                    <a:p>
                      <a:pPr/>
                    </a:p>
                  </a:txBody>
                  <a:tcPr marL="0" marR="0" marB="0" marT="920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96850">
                        <a:lnSpc>
                          <a:spcPct val="100000"/>
                        </a:lnSpc>
                        <a:spcBef>
                          <a:spcPts val="955"/>
                        </a:spcBef>
                      </a:pPr>
                      <a:r>
                        <a:rPr dirty="0" sz="2000" spc="-20" b="1">
                          <a:solidFill>
                            <a:srgbClr val="40458B"/>
                          </a:solidFill>
                          <a:latin typeface="宋体"/>
                          <a:cs typeface="宋体"/>
                        </a:rPr>
                        <a:t>Busy</a:t>
                      </a:r>
                      <a:endParaRPr sz="2000">
                        <a:latin typeface="宋体"/>
                        <a:cs typeface="宋体"/>
                      </a:endParaRPr>
                    </a:p>
                  </a:txBody>
                  <a:tcPr marL="0" marR="0" marB="0" marT="1212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250190">
                        <a:lnSpc>
                          <a:spcPct val="100000"/>
                        </a:lnSpc>
                        <a:spcBef>
                          <a:spcPts val="1330"/>
                        </a:spcBef>
                      </a:pPr>
                      <a:r>
                        <a:rPr dirty="0" sz="2000" spc="-25" b="1">
                          <a:solidFill>
                            <a:srgbClr val="40458B"/>
                          </a:solidFill>
                          <a:latin typeface="宋体"/>
                          <a:cs typeface="宋体"/>
                        </a:rPr>
                        <a:t>Op</a:t>
                      </a:r>
                      <a:endParaRPr sz="2000">
                        <a:latin typeface="宋体"/>
                        <a:cs typeface="宋体"/>
                      </a:endParaRPr>
                    </a:p>
                  </a:txBody>
                  <a:tcPr marL="0" marR="0" marB="0" marT="1689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91770">
                        <a:lnSpc>
                          <a:spcPct val="100000"/>
                        </a:lnSpc>
                        <a:spcBef>
                          <a:spcPts val="1335"/>
                        </a:spcBef>
                      </a:pPr>
                      <a:r>
                        <a:rPr dirty="0" sz="2000" spc="-25" b="1">
                          <a:solidFill>
                            <a:srgbClr val="40458B"/>
                          </a:solidFill>
                          <a:latin typeface="宋体"/>
                          <a:cs typeface="宋体"/>
                        </a:rPr>
                        <a:t>Vj</a:t>
                      </a:r>
                      <a:endParaRPr sz="2000">
                        <a:latin typeface="宋体"/>
                        <a:cs typeface="宋体"/>
                      </a:endParaRPr>
                    </a:p>
                  </a:txBody>
                  <a:tcPr marL="0" marR="0" marB="0" marT="16954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ctr" marR="77470">
                        <a:lnSpc>
                          <a:spcPct val="100000"/>
                        </a:lnSpc>
                        <a:spcBef>
                          <a:spcPts val="1255"/>
                        </a:spcBef>
                      </a:pPr>
                      <a:r>
                        <a:rPr dirty="0" sz="2000" spc="-25" b="1">
                          <a:solidFill>
                            <a:srgbClr val="40458B"/>
                          </a:solidFill>
                          <a:latin typeface="宋体"/>
                          <a:cs typeface="宋体"/>
                        </a:rPr>
                        <a:t>Vk</a:t>
                      </a:r>
                      <a:endParaRPr sz="2000">
                        <a:latin typeface="宋体"/>
                        <a:cs typeface="宋体"/>
                      </a:endParaRPr>
                    </a:p>
                  </a:txBody>
                  <a:tcPr marL="0" marR="0" marB="0" marT="1593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264795">
                        <a:lnSpc>
                          <a:spcPct val="100000"/>
                        </a:lnSpc>
                        <a:spcBef>
                          <a:spcPts val="1145"/>
                        </a:spcBef>
                      </a:pPr>
                      <a:r>
                        <a:rPr dirty="0" sz="2000" spc="-25" b="1">
                          <a:solidFill>
                            <a:srgbClr val="40458B"/>
                          </a:solidFill>
                          <a:latin typeface="宋体"/>
                          <a:cs typeface="宋体"/>
                        </a:rPr>
                        <a:t>Qj</a:t>
                      </a:r>
                      <a:endParaRPr sz="2000">
                        <a:latin typeface="宋体"/>
                        <a:cs typeface="宋体"/>
                      </a:endParaRPr>
                    </a:p>
                  </a:txBody>
                  <a:tcPr marL="0" marR="0" marB="0" marT="1454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ctr" marL="15240">
                        <a:lnSpc>
                          <a:spcPct val="100000"/>
                        </a:lnSpc>
                        <a:spcBef>
                          <a:spcPts val="1080"/>
                        </a:spcBef>
                      </a:pPr>
                      <a:r>
                        <a:rPr dirty="0" sz="2000" spc="-25" b="1">
                          <a:solidFill>
                            <a:srgbClr val="40458B"/>
                          </a:solidFill>
                          <a:latin typeface="宋体"/>
                          <a:cs typeface="宋体"/>
                        </a:rPr>
                        <a:t>Qk</a:t>
                      </a:r>
                      <a:endParaRPr sz="2000">
                        <a:latin typeface="宋体"/>
                        <a:cs typeface="宋体"/>
                      </a:endParaRPr>
                    </a:p>
                  </a:txBody>
                  <a:tcPr marL="0" marR="0" marB="0" marT="1371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ctr" marR="240029">
                        <a:lnSpc>
                          <a:spcPct val="100000"/>
                        </a:lnSpc>
                        <a:spcBef>
                          <a:spcPts val="1220"/>
                        </a:spcBef>
                      </a:pPr>
                      <a:r>
                        <a:rPr dirty="0" sz="2000" spc="-50" b="1">
                          <a:solidFill>
                            <a:srgbClr val="40458B"/>
                          </a:solidFill>
                          <a:latin typeface="宋体"/>
                          <a:cs typeface="宋体"/>
                        </a:rPr>
                        <a:t>A</a:t>
                      </a:r>
                      <a:endParaRPr sz="2000">
                        <a:latin typeface="宋体"/>
                        <a:cs typeface="宋体"/>
                      </a:endParaRPr>
                    </a:p>
                  </a:txBody>
                  <a:tcPr marL="0" marR="0" marB="0" marT="15494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342900">
                <a:tc>
                  <a:txBody>
                    <a:bodyPr/>
                    <a:lstStyle/>
                    <a:p>
                      <a:pPr marL="91440">
                        <a:lnSpc>
                          <a:spcPct val="100000"/>
                        </a:lnSpc>
                        <a:spcBef>
                          <a:spcPts val="60"/>
                        </a:spcBef>
                      </a:pPr>
                      <a:r>
                        <a:rPr dirty="0" sz="2000" spc="-10" b="1">
                          <a:solidFill>
                            <a:srgbClr val="40458B"/>
                          </a:solidFill>
                          <a:latin typeface="宋体"/>
                          <a:cs typeface="宋体"/>
                        </a:rPr>
                        <a:t>Load1</a:t>
                      </a:r>
                      <a:endParaRPr sz="2000">
                        <a:latin typeface="宋体"/>
                        <a:cs typeface="宋体"/>
                      </a:endParaRPr>
                    </a:p>
                  </a:txBody>
                  <a:tcPr marL="0" marR="0" marB="0" marT="76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301625">
                        <a:lnSpc>
                          <a:spcPts val="2205"/>
                        </a:lnSpc>
                      </a:pPr>
                      <a:r>
                        <a:rPr dirty="0" sz="2000" spc="-25" b="1">
                          <a:solidFill>
                            <a:srgbClr val="40458B"/>
                          </a:solidFill>
                          <a:latin typeface="宋体"/>
                          <a:cs typeface="宋体"/>
                        </a:rPr>
                        <a:t>no</a:t>
                      </a:r>
                      <a:endParaRPr sz="2000">
                        <a:latin typeface="宋体"/>
                        <a:cs typeface="宋体"/>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12065">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428625">
                <a:tc>
                  <a:txBody>
                    <a:bodyPr/>
                    <a:lstStyle/>
                    <a:p>
                      <a:pPr marL="91440">
                        <a:lnSpc>
                          <a:spcPct val="100000"/>
                        </a:lnSpc>
                        <a:spcBef>
                          <a:spcPts val="480"/>
                        </a:spcBef>
                      </a:pPr>
                      <a:r>
                        <a:rPr dirty="0" sz="2000" spc="-10" b="1">
                          <a:solidFill>
                            <a:srgbClr val="40458B"/>
                          </a:solidFill>
                          <a:latin typeface="宋体"/>
                          <a:cs typeface="宋体"/>
                        </a:rPr>
                        <a:t>Load2</a:t>
                      </a:r>
                      <a:endParaRPr sz="2000">
                        <a:latin typeface="宋体"/>
                        <a:cs typeface="宋体"/>
                      </a:endParaRPr>
                    </a:p>
                  </a:txBody>
                  <a:tcPr marL="0" marR="0" marB="0" marT="609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72085">
                        <a:lnSpc>
                          <a:spcPct val="100000"/>
                        </a:lnSpc>
                        <a:spcBef>
                          <a:spcPts val="225"/>
                        </a:spcBef>
                      </a:pPr>
                      <a:r>
                        <a:rPr dirty="0" sz="2000" spc="-25" b="1">
                          <a:solidFill>
                            <a:srgbClr val="40458B"/>
                          </a:solidFill>
                          <a:latin typeface="宋体"/>
                          <a:cs typeface="宋体"/>
                        </a:rPr>
                        <a:t>yes</a:t>
                      </a:r>
                      <a:endParaRPr sz="2000">
                        <a:latin typeface="宋体"/>
                        <a:cs typeface="宋体"/>
                      </a:endParaRPr>
                    </a:p>
                  </a:txBody>
                  <a:tcPr marL="0" marR="0" marB="0" marT="285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96520">
                        <a:lnSpc>
                          <a:spcPct val="100000"/>
                        </a:lnSpc>
                        <a:spcBef>
                          <a:spcPts val="600"/>
                        </a:spcBef>
                      </a:pPr>
                      <a:r>
                        <a:rPr dirty="0" sz="2000" spc="-25" b="1">
                          <a:solidFill>
                            <a:srgbClr val="40458B"/>
                          </a:solidFill>
                          <a:latin typeface="宋体"/>
                          <a:cs typeface="宋体"/>
                        </a:rPr>
                        <a:t>L.D</a:t>
                      </a:r>
                      <a:endParaRPr sz="2000">
                        <a:latin typeface="宋体"/>
                        <a:cs typeface="宋体"/>
                      </a:endParaRPr>
                    </a:p>
                  </a:txBody>
                  <a:tcPr marL="0" marR="0" marB="0" marT="7620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45085">
                        <a:lnSpc>
                          <a:spcPct val="100000"/>
                        </a:lnSpc>
                        <a:spcBef>
                          <a:spcPts val="484"/>
                        </a:spcBef>
                      </a:pPr>
                      <a:r>
                        <a:rPr dirty="0" sz="2000" spc="-10" b="1">
                          <a:solidFill>
                            <a:srgbClr val="40458B"/>
                          </a:solidFill>
                          <a:latin typeface="宋体"/>
                          <a:cs typeface="宋体"/>
                        </a:rPr>
                        <a:t>45+Regs[R3</a:t>
                      </a:r>
                      <a:r>
                        <a:rPr dirty="0" sz="2000" spc="-10" b="1">
                          <a:solidFill>
                            <a:srgbClr val="B1B1B1"/>
                          </a:solidFill>
                          <a:latin typeface="宋体"/>
                          <a:cs typeface="宋体"/>
                        </a:rPr>
                        <a:t>]</a:t>
                      </a:r>
                      <a:endParaRPr sz="2000">
                        <a:latin typeface="宋体"/>
                        <a:cs typeface="宋体"/>
                      </a:endParaRPr>
                    </a:p>
                  </a:txBody>
                  <a:tcPr marL="0" marR="0" marB="0" marT="6159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352425">
                <a:tc>
                  <a:txBody>
                    <a:bodyPr/>
                    <a:lstStyle/>
                    <a:p>
                      <a:pPr marL="91440">
                        <a:lnSpc>
                          <a:spcPct val="100000"/>
                        </a:lnSpc>
                        <a:spcBef>
                          <a:spcPts val="225"/>
                        </a:spcBef>
                      </a:pPr>
                      <a:r>
                        <a:rPr dirty="0" sz="2000" spc="-20" b="1">
                          <a:solidFill>
                            <a:srgbClr val="40458B"/>
                          </a:solidFill>
                          <a:latin typeface="宋体"/>
                          <a:cs typeface="宋体"/>
                        </a:rPr>
                        <a:t>Add1</a:t>
                      </a:r>
                      <a:endParaRPr sz="2000">
                        <a:latin typeface="宋体"/>
                        <a:cs typeface="宋体"/>
                      </a:endParaRPr>
                    </a:p>
                  </a:txBody>
                  <a:tcPr marL="0" marR="0" marB="0" marT="285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72085">
                        <a:lnSpc>
                          <a:spcPts val="2370"/>
                        </a:lnSpc>
                      </a:pPr>
                      <a:r>
                        <a:rPr dirty="0" sz="2000" spc="-25" b="1">
                          <a:solidFill>
                            <a:srgbClr val="40458B"/>
                          </a:solidFill>
                          <a:latin typeface="宋体"/>
                          <a:cs typeface="宋体"/>
                        </a:rPr>
                        <a:t>yes</a:t>
                      </a:r>
                      <a:endParaRPr sz="2000">
                        <a:latin typeface="宋体"/>
                        <a:cs typeface="宋体"/>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96520">
                        <a:lnSpc>
                          <a:spcPts val="2330"/>
                        </a:lnSpc>
                        <a:spcBef>
                          <a:spcPts val="345"/>
                        </a:spcBef>
                      </a:pPr>
                      <a:r>
                        <a:rPr dirty="0" sz="2000" spc="-10" b="1">
                          <a:solidFill>
                            <a:srgbClr val="40458B"/>
                          </a:solidFill>
                          <a:latin typeface="宋体"/>
                          <a:cs typeface="宋体"/>
                        </a:rPr>
                        <a:t>SUB.D</a:t>
                      </a:r>
                      <a:endParaRPr sz="2000">
                        <a:latin typeface="宋体"/>
                        <a:cs typeface="宋体"/>
                      </a:endParaRPr>
                    </a:p>
                  </a:txBody>
                  <a:tcPr marL="0" marR="0" marB="0" marT="438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44145">
                        <a:lnSpc>
                          <a:spcPct val="100000"/>
                        </a:lnSpc>
                        <a:spcBef>
                          <a:spcPts val="270"/>
                        </a:spcBef>
                      </a:pPr>
                      <a:r>
                        <a:rPr dirty="0" sz="2000" spc="-10" b="1">
                          <a:solidFill>
                            <a:srgbClr val="40458B"/>
                          </a:solidFill>
                          <a:latin typeface="宋体"/>
                          <a:cs typeface="宋体"/>
                        </a:rPr>
                        <a:t>Mem[34+Regs[R2]]</a:t>
                      </a:r>
                      <a:endParaRPr sz="2000">
                        <a:latin typeface="宋体"/>
                        <a:cs typeface="宋体"/>
                      </a:endParaRPr>
                    </a:p>
                  </a:txBody>
                  <a:tcPr marL="0" marR="0" marB="0" marT="342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64465">
                        <a:lnSpc>
                          <a:spcPct val="100000"/>
                        </a:lnSpc>
                        <a:spcBef>
                          <a:spcPts val="155"/>
                        </a:spcBef>
                      </a:pPr>
                      <a:r>
                        <a:rPr dirty="0" sz="2000" spc="-10" b="1">
                          <a:solidFill>
                            <a:srgbClr val="CC3399"/>
                          </a:solidFill>
                          <a:latin typeface="宋体"/>
                          <a:cs typeface="宋体"/>
                        </a:rPr>
                        <a:t>Load2</a:t>
                      </a:r>
                      <a:endParaRPr sz="2000">
                        <a:latin typeface="宋体"/>
                        <a:cs typeface="宋体"/>
                      </a:endParaRPr>
                    </a:p>
                  </a:txBody>
                  <a:tcPr marL="0" marR="0" marB="0" marT="196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12065">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423545">
                <a:tc>
                  <a:txBody>
                    <a:bodyPr/>
                    <a:lstStyle/>
                    <a:p>
                      <a:pPr marL="91440">
                        <a:lnSpc>
                          <a:spcPct val="100000"/>
                        </a:lnSpc>
                        <a:spcBef>
                          <a:spcPts val="570"/>
                        </a:spcBef>
                      </a:pPr>
                      <a:r>
                        <a:rPr dirty="0" sz="2000" spc="-20" b="1">
                          <a:solidFill>
                            <a:srgbClr val="40458B"/>
                          </a:solidFill>
                          <a:latin typeface="宋体"/>
                          <a:cs typeface="宋体"/>
                        </a:rPr>
                        <a:t>Add2</a:t>
                      </a:r>
                      <a:endParaRPr sz="2000">
                        <a:latin typeface="宋体"/>
                        <a:cs typeface="宋体"/>
                      </a:endParaRPr>
                    </a:p>
                  </a:txBody>
                  <a:tcPr marL="0" marR="0" marB="0" marT="723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301625">
                        <a:lnSpc>
                          <a:spcPct val="100000"/>
                        </a:lnSpc>
                        <a:spcBef>
                          <a:spcPts val="315"/>
                        </a:spcBef>
                      </a:pPr>
                      <a:r>
                        <a:rPr dirty="0" sz="2000" spc="-25" b="1">
                          <a:solidFill>
                            <a:srgbClr val="40458B"/>
                          </a:solidFill>
                          <a:latin typeface="宋体"/>
                          <a:cs typeface="宋体"/>
                        </a:rPr>
                        <a:t>no</a:t>
                      </a:r>
                      <a:endParaRPr sz="2000">
                        <a:latin typeface="宋体"/>
                        <a:cs typeface="宋体"/>
                      </a:endParaRPr>
                    </a:p>
                  </a:txBody>
                  <a:tcPr marL="0" marR="0" marB="0" marT="4000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153795">
                        <a:lnSpc>
                          <a:spcPts val="1570"/>
                        </a:lnSpc>
                        <a:spcBef>
                          <a:spcPts val="1664"/>
                        </a:spcBef>
                      </a:pPr>
                      <a:r>
                        <a:rPr dirty="0" sz="2400" spc="-10">
                          <a:solidFill>
                            <a:srgbClr val="40458B"/>
                          </a:solidFill>
                          <a:latin typeface="Tahoma"/>
                          <a:cs typeface="Tahoma"/>
                        </a:rPr>
                        <a:t>CDB</a:t>
                      </a:r>
                      <a:r>
                        <a:rPr dirty="0" sz="2400" spc="-25">
                          <a:solidFill>
                            <a:srgbClr val="40458B"/>
                          </a:solidFill>
                          <a:latin typeface="黑体"/>
                          <a:cs typeface="黑体"/>
                        </a:rPr>
                        <a:t>广播</a:t>
                      </a:r>
                      <a:endParaRPr sz="2400">
                        <a:latin typeface="黑体"/>
                        <a:cs typeface="黑体"/>
                      </a:endParaRPr>
                    </a:p>
                  </a:txBody>
                  <a:tcPr marL="0" marR="0" marB="0" marT="21145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12065">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423545">
                <a:tc>
                  <a:txBody>
                    <a:bodyPr/>
                    <a:lstStyle/>
                    <a:p>
                      <a:pPr marL="91440">
                        <a:lnSpc>
                          <a:spcPct val="100000"/>
                        </a:lnSpc>
                        <a:spcBef>
                          <a:spcPts val="355"/>
                        </a:spcBef>
                      </a:pPr>
                      <a:r>
                        <a:rPr dirty="0" sz="2000" spc="-20" b="1">
                          <a:solidFill>
                            <a:srgbClr val="40458B"/>
                          </a:solidFill>
                          <a:latin typeface="宋体"/>
                          <a:cs typeface="宋体"/>
                        </a:rPr>
                        <a:t>Add3</a:t>
                      </a:r>
                      <a:endParaRPr sz="2000">
                        <a:latin typeface="宋体"/>
                        <a:cs typeface="宋体"/>
                      </a:endParaRPr>
                    </a:p>
                  </a:txBody>
                  <a:tcPr marL="0" marR="0" marB="0" marT="450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301625">
                        <a:lnSpc>
                          <a:spcPct val="100000"/>
                        </a:lnSpc>
                        <a:spcBef>
                          <a:spcPts val="100"/>
                        </a:spcBef>
                      </a:pPr>
                      <a:r>
                        <a:rPr dirty="0" sz="2000" spc="-25" b="1">
                          <a:solidFill>
                            <a:srgbClr val="40458B"/>
                          </a:solidFill>
                          <a:latin typeface="宋体"/>
                          <a:cs typeface="宋体"/>
                        </a:rPr>
                        <a:t>no</a:t>
                      </a:r>
                      <a:endParaRPr sz="2000">
                        <a:latin typeface="宋体"/>
                        <a:cs typeface="宋体"/>
                      </a:endParaRPr>
                    </a:p>
                  </a:txBody>
                  <a:tcPr marL="0" marR="0" marB="0" marT="1270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12065">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371475">
                <a:tc>
                  <a:txBody>
                    <a:bodyPr/>
                    <a:lstStyle/>
                    <a:p>
                      <a:pPr marL="91440">
                        <a:lnSpc>
                          <a:spcPct val="100000"/>
                        </a:lnSpc>
                        <a:spcBef>
                          <a:spcPts val="135"/>
                        </a:spcBef>
                      </a:pPr>
                      <a:r>
                        <a:rPr dirty="0" sz="2000" spc="-10" b="1">
                          <a:solidFill>
                            <a:srgbClr val="40458B"/>
                          </a:solidFill>
                          <a:latin typeface="宋体"/>
                          <a:cs typeface="宋体"/>
                        </a:rPr>
                        <a:t>Mult1</a:t>
                      </a:r>
                      <a:endParaRPr sz="2000">
                        <a:latin typeface="宋体"/>
                        <a:cs typeface="宋体"/>
                      </a:endParaRPr>
                    </a:p>
                  </a:txBody>
                  <a:tcPr marL="0" marR="0" marB="0" marT="1714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72085">
                        <a:lnSpc>
                          <a:spcPts val="2285"/>
                        </a:lnSpc>
                      </a:pPr>
                      <a:r>
                        <a:rPr dirty="0" sz="2000" spc="-25" b="1">
                          <a:solidFill>
                            <a:srgbClr val="40458B"/>
                          </a:solidFill>
                          <a:latin typeface="宋体"/>
                          <a:cs typeface="宋体"/>
                        </a:rPr>
                        <a:t>yes</a:t>
                      </a:r>
                      <a:endParaRPr sz="2000">
                        <a:latin typeface="宋体"/>
                        <a:cs typeface="宋体"/>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96520">
                        <a:lnSpc>
                          <a:spcPct val="100000"/>
                        </a:lnSpc>
                        <a:spcBef>
                          <a:spcPts val="254"/>
                        </a:spcBef>
                      </a:pPr>
                      <a:r>
                        <a:rPr dirty="0" sz="2000" spc="-10" b="1">
                          <a:solidFill>
                            <a:srgbClr val="40458B"/>
                          </a:solidFill>
                          <a:latin typeface="宋体"/>
                          <a:cs typeface="宋体"/>
                        </a:rPr>
                        <a:t>MUL.D</a:t>
                      </a:r>
                      <a:endParaRPr sz="2000">
                        <a:latin typeface="宋体"/>
                        <a:cs typeface="宋体"/>
                      </a:endParaRPr>
                    </a:p>
                  </a:txBody>
                  <a:tcPr marL="0" marR="0" marB="0" marT="3238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787400">
                        <a:lnSpc>
                          <a:spcPct val="100000"/>
                        </a:lnSpc>
                        <a:spcBef>
                          <a:spcPts val="180"/>
                        </a:spcBef>
                      </a:pPr>
                      <a:r>
                        <a:rPr dirty="0" sz="2000" spc="-10" b="1">
                          <a:solidFill>
                            <a:srgbClr val="40458B"/>
                          </a:solidFill>
                          <a:latin typeface="宋体"/>
                          <a:cs typeface="宋体"/>
                        </a:rPr>
                        <a:t>Reg[F4]</a:t>
                      </a:r>
                      <a:endParaRPr sz="2000">
                        <a:latin typeface="宋体"/>
                        <a:cs typeface="宋体"/>
                      </a:endParaRPr>
                    </a:p>
                  </a:txBody>
                  <a:tcPr marL="0" marR="0" marB="0" marT="228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64465">
                        <a:lnSpc>
                          <a:spcPct val="100000"/>
                        </a:lnSpc>
                        <a:spcBef>
                          <a:spcPts val="70"/>
                        </a:spcBef>
                      </a:pPr>
                      <a:r>
                        <a:rPr dirty="0" sz="2000" spc="-10" b="1">
                          <a:solidFill>
                            <a:srgbClr val="CC3399"/>
                          </a:solidFill>
                          <a:latin typeface="宋体"/>
                          <a:cs typeface="宋体"/>
                        </a:rPr>
                        <a:t>Load2</a:t>
                      </a:r>
                      <a:endParaRPr sz="2000">
                        <a:latin typeface="宋体"/>
                        <a:cs typeface="宋体"/>
                      </a:endParaRPr>
                    </a:p>
                  </a:txBody>
                  <a:tcPr marL="0" marR="0" marB="0" marT="88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12065">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542925">
                <a:tc>
                  <a:txBody>
                    <a:bodyPr/>
                    <a:lstStyle/>
                    <a:p>
                      <a:pPr marL="91440">
                        <a:lnSpc>
                          <a:spcPct val="100000"/>
                        </a:lnSpc>
                        <a:spcBef>
                          <a:spcPts val="330"/>
                        </a:spcBef>
                      </a:pPr>
                      <a:r>
                        <a:rPr dirty="0" sz="2000" spc="-10" b="1">
                          <a:solidFill>
                            <a:srgbClr val="40458B"/>
                          </a:solidFill>
                          <a:latin typeface="宋体"/>
                          <a:cs typeface="宋体"/>
                        </a:rPr>
                        <a:t>Mult2</a:t>
                      </a:r>
                      <a:endParaRPr sz="2000">
                        <a:latin typeface="宋体"/>
                        <a:cs typeface="宋体"/>
                      </a:endParaRPr>
                    </a:p>
                  </a:txBody>
                  <a:tcPr marL="0" marR="0" marB="0" marT="419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301625">
                        <a:lnSpc>
                          <a:spcPct val="100000"/>
                        </a:lnSpc>
                        <a:spcBef>
                          <a:spcPts val="75"/>
                        </a:spcBef>
                      </a:pPr>
                      <a:r>
                        <a:rPr dirty="0" sz="2000" spc="-25" b="1">
                          <a:solidFill>
                            <a:srgbClr val="40458B"/>
                          </a:solidFill>
                          <a:latin typeface="宋体"/>
                          <a:cs typeface="宋体"/>
                        </a:rPr>
                        <a:t>no</a:t>
                      </a:r>
                      <a:endParaRPr sz="2000">
                        <a:latin typeface="宋体"/>
                        <a:cs typeface="宋体"/>
                      </a:endParaRPr>
                    </a:p>
                  </a:txBody>
                  <a:tcPr marL="0" marR="0" marB="0" marT="952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12065">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bl>
          </a:graphicData>
        </a:graphic>
      </p:graphicFrame>
      <p:graphicFrame>
        <p:nvGraphicFramePr>
          <p:cNvPr id="3" name="object 3" descr=""/>
          <p:cNvGraphicFramePr>
            <a:graphicFrameLocks noGrp="1"/>
          </p:cNvGraphicFramePr>
          <p:nvPr/>
        </p:nvGraphicFramePr>
        <p:xfrm>
          <a:off x="2297112" y="4757673"/>
          <a:ext cx="7852410" cy="1470660"/>
        </p:xfrm>
        <a:graphic>
          <a:graphicData uri="http://schemas.openxmlformats.org/drawingml/2006/table">
            <a:tbl>
              <a:tblPr firstRow="1" bandRow="1">
                <a:tableStyleId>{2D5ABB26-0587-4C30-8999-92F81FD0307C}</a:tableStyleId>
              </a:tblPr>
              <a:tblGrid>
                <a:gridCol w="1433830"/>
                <a:gridCol w="843280"/>
                <a:gridCol w="845185"/>
                <a:gridCol w="707389"/>
                <a:gridCol w="1523364"/>
                <a:gridCol w="831214"/>
                <a:gridCol w="825499"/>
                <a:gridCol w="763270"/>
              </a:tblGrid>
              <a:tr h="394970">
                <a:tc rowSpan="2">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gridSpan="7">
                  <a:txBody>
                    <a:bodyPr/>
                    <a:lstStyle/>
                    <a:p>
                      <a:pPr algn="ctr" marL="55244">
                        <a:lnSpc>
                          <a:spcPct val="100000"/>
                        </a:lnSpc>
                        <a:spcBef>
                          <a:spcPts val="430"/>
                        </a:spcBef>
                      </a:pPr>
                      <a:r>
                        <a:rPr dirty="0" sz="1800" spc="-20" b="1">
                          <a:solidFill>
                            <a:srgbClr val="E14B04"/>
                          </a:solidFill>
                          <a:latin typeface="宋体"/>
                          <a:cs typeface="宋体"/>
                        </a:rPr>
                        <a:t>寄存器状态表</a:t>
                      </a:r>
                      <a:endParaRPr sz="1800">
                        <a:latin typeface="宋体"/>
                        <a:cs typeface="宋体"/>
                      </a:endParaRPr>
                    </a:p>
                  </a:txBody>
                  <a:tcPr marL="0" marR="0" marB="0" marT="546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518795">
                <a:tc vMerge="1">
                  <a:txBody>
                    <a:bodyPr/>
                    <a:lstStyle/>
                    <a:p>
                      <a:p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82245">
                        <a:lnSpc>
                          <a:spcPct val="100000"/>
                        </a:lnSpc>
                        <a:spcBef>
                          <a:spcPts val="930"/>
                        </a:spcBef>
                      </a:pPr>
                      <a:r>
                        <a:rPr dirty="0" sz="2400" spc="-25" b="1">
                          <a:solidFill>
                            <a:srgbClr val="40458B"/>
                          </a:solidFill>
                          <a:latin typeface="宋体"/>
                          <a:cs typeface="宋体"/>
                        </a:rPr>
                        <a:t>F0</a:t>
                      </a:r>
                      <a:endParaRPr sz="2400">
                        <a:latin typeface="宋体"/>
                        <a:cs typeface="宋体"/>
                      </a:endParaRPr>
                    </a:p>
                  </a:txBody>
                  <a:tcPr marL="0" marR="0" marB="0" marT="1181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R="2540">
                        <a:lnSpc>
                          <a:spcPct val="100000"/>
                        </a:lnSpc>
                        <a:spcBef>
                          <a:spcPts val="930"/>
                        </a:spcBef>
                      </a:pPr>
                      <a:r>
                        <a:rPr dirty="0" sz="2400" spc="-25" b="1">
                          <a:solidFill>
                            <a:srgbClr val="40458B"/>
                          </a:solidFill>
                          <a:latin typeface="宋体"/>
                          <a:cs typeface="宋体"/>
                        </a:rPr>
                        <a:t>F2</a:t>
                      </a:r>
                      <a:endParaRPr sz="2400">
                        <a:latin typeface="宋体"/>
                        <a:cs typeface="宋体"/>
                      </a:endParaRPr>
                    </a:p>
                  </a:txBody>
                  <a:tcPr marL="0" marR="0" marB="0" marT="1181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87960">
                        <a:lnSpc>
                          <a:spcPct val="100000"/>
                        </a:lnSpc>
                        <a:spcBef>
                          <a:spcPts val="930"/>
                        </a:spcBef>
                      </a:pPr>
                      <a:r>
                        <a:rPr dirty="0" sz="2400" spc="-25" b="1">
                          <a:solidFill>
                            <a:srgbClr val="40458B"/>
                          </a:solidFill>
                          <a:latin typeface="宋体"/>
                          <a:cs typeface="宋体"/>
                        </a:rPr>
                        <a:t>F4</a:t>
                      </a:r>
                      <a:endParaRPr sz="2400">
                        <a:latin typeface="宋体"/>
                        <a:cs typeface="宋体"/>
                      </a:endParaRPr>
                    </a:p>
                  </a:txBody>
                  <a:tcPr marL="0" marR="0" marB="0" marT="1181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52095">
                        <a:lnSpc>
                          <a:spcPct val="100000"/>
                        </a:lnSpc>
                        <a:spcBef>
                          <a:spcPts val="930"/>
                        </a:spcBef>
                      </a:pPr>
                      <a:r>
                        <a:rPr dirty="0" sz="2400" spc="-25" b="1">
                          <a:solidFill>
                            <a:srgbClr val="40458B"/>
                          </a:solidFill>
                          <a:latin typeface="宋体"/>
                          <a:cs typeface="宋体"/>
                        </a:rPr>
                        <a:t>F6</a:t>
                      </a:r>
                      <a:endParaRPr sz="2400">
                        <a:latin typeface="宋体"/>
                        <a:cs typeface="宋体"/>
                      </a:endParaRPr>
                    </a:p>
                  </a:txBody>
                  <a:tcPr marL="0" marR="0" marB="0" marT="1181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14935">
                        <a:lnSpc>
                          <a:spcPct val="100000"/>
                        </a:lnSpc>
                        <a:spcBef>
                          <a:spcPts val="930"/>
                        </a:spcBef>
                      </a:pPr>
                      <a:r>
                        <a:rPr dirty="0" sz="2400" spc="-25" b="1">
                          <a:solidFill>
                            <a:srgbClr val="40458B"/>
                          </a:solidFill>
                          <a:latin typeface="宋体"/>
                          <a:cs typeface="宋体"/>
                        </a:rPr>
                        <a:t>F8</a:t>
                      </a:r>
                      <a:endParaRPr sz="2400">
                        <a:latin typeface="宋体"/>
                        <a:cs typeface="宋体"/>
                      </a:endParaRPr>
                    </a:p>
                  </a:txBody>
                  <a:tcPr marL="0" marR="0" marB="0" marT="1181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spcBef>
                          <a:spcPts val="930"/>
                        </a:spcBef>
                        <a:tabLst>
                          <a:tab pos="514984" algn="l"/>
                        </a:tabLst>
                      </a:pPr>
                      <a:r>
                        <a:rPr dirty="0" sz="2400" spc="-50" b="1">
                          <a:solidFill>
                            <a:srgbClr val="40458B"/>
                          </a:solidFill>
                          <a:latin typeface="宋体"/>
                          <a:cs typeface="宋体"/>
                        </a:rPr>
                        <a:t>…</a:t>
                      </a:r>
                      <a:r>
                        <a:rPr dirty="0" sz="2400" b="1">
                          <a:solidFill>
                            <a:srgbClr val="40458B"/>
                          </a:solidFill>
                          <a:latin typeface="宋体"/>
                          <a:cs typeface="宋体"/>
                        </a:rPr>
                        <a:t>	</a:t>
                      </a:r>
                      <a:r>
                        <a:rPr dirty="0" sz="2400" spc="-25" b="1">
                          <a:solidFill>
                            <a:srgbClr val="40458B"/>
                          </a:solidFill>
                          <a:latin typeface="宋体"/>
                          <a:cs typeface="宋体"/>
                        </a:rPr>
                        <a:t>F3</a:t>
                      </a:r>
                      <a:endParaRPr sz="2400">
                        <a:latin typeface="宋体"/>
                        <a:cs typeface="宋体"/>
                      </a:endParaRPr>
                    </a:p>
                  </a:txBody>
                  <a:tcPr marL="0" marR="0" marB="0" marT="1181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44780">
                        <a:lnSpc>
                          <a:spcPct val="100000"/>
                        </a:lnSpc>
                        <a:spcBef>
                          <a:spcPts val="930"/>
                        </a:spcBef>
                      </a:pPr>
                      <a:r>
                        <a:rPr dirty="0" sz="2400" spc="-50" b="1">
                          <a:solidFill>
                            <a:srgbClr val="40458B"/>
                          </a:solidFill>
                          <a:latin typeface="宋体"/>
                          <a:cs typeface="宋体"/>
                        </a:rPr>
                        <a:t>0</a:t>
                      </a:r>
                      <a:endParaRPr sz="2400">
                        <a:latin typeface="宋体"/>
                        <a:cs typeface="宋体"/>
                      </a:endParaRPr>
                    </a:p>
                  </a:txBody>
                  <a:tcPr marL="0" marR="0" marB="0" marT="1181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56895">
                <a:tc>
                  <a:txBody>
                    <a:bodyPr/>
                    <a:lstStyle/>
                    <a:p>
                      <a:pPr marL="399415">
                        <a:lnSpc>
                          <a:spcPct val="100000"/>
                        </a:lnSpc>
                        <a:spcBef>
                          <a:spcPts val="1090"/>
                        </a:spcBef>
                      </a:pPr>
                      <a:r>
                        <a:rPr dirty="0" sz="2400" spc="-25" b="1">
                          <a:solidFill>
                            <a:srgbClr val="40458B"/>
                          </a:solidFill>
                          <a:latin typeface="宋体"/>
                          <a:cs typeface="宋体"/>
                        </a:rPr>
                        <a:t>Qi</a:t>
                      </a:r>
                      <a:endParaRPr sz="2400">
                        <a:latin typeface="宋体"/>
                        <a:cs typeface="宋体"/>
                      </a:endParaRPr>
                    </a:p>
                  </a:txBody>
                  <a:tcPr marL="0" marR="0" marB="0" marT="1384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43180">
                        <a:lnSpc>
                          <a:spcPct val="100000"/>
                        </a:lnSpc>
                        <a:spcBef>
                          <a:spcPts val="1290"/>
                        </a:spcBef>
                      </a:pPr>
                      <a:r>
                        <a:rPr dirty="0" sz="2200" spc="-10" b="1">
                          <a:solidFill>
                            <a:srgbClr val="CC3399"/>
                          </a:solidFill>
                          <a:latin typeface="宋体"/>
                          <a:cs typeface="宋体"/>
                        </a:rPr>
                        <a:t>Mult1</a:t>
                      </a:r>
                      <a:endParaRPr sz="2200">
                        <a:latin typeface="宋体"/>
                        <a:cs typeface="宋体"/>
                      </a:endParaRPr>
                    </a:p>
                  </a:txBody>
                  <a:tcPr marL="0" marR="0" marB="0" marT="1638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R="36195">
                        <a:lnSpc>
                          <a:spcPct val="100000"/>
                        </a:lnSpc>
                        <a:spcBef>
                          <a:spcPts val="1290"/>
                        </a:spcBef>
                      </a:pPr>
                      <a:r>
                        <a:rPr dirty="0" sz="2200" spc="-10" b="1">
                          <a:solidFill>
                            <a:srgbClr val="CC3399"/>
                          </a:solidFill>
                          <a:latin typeface="宋体"/>
                          <a:cs typeface="宋体"/>
                        </a:rPr>
                        <a:t>Load2</a:t>
                      </a:r>
                      <a:endParaRPr sz="2200">
                        <a:latin typeface="宋体"/>
                        <a:cs typeface="宋体"/>
                      </a:endParaRPr>
                    </a:p>
                  </a:txBody>
                  <a:tcPr marL="0" marR="0" marB="0" marT="1638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47320">
                        <a:lnSpc>
                          <a:spcPct val="100000"/>
                        </a:lnSpc>
                        <a:spcBef>
                          <a:spcPts val="1090"/>
                        </a:spcBef>
                      </a:pPr>
                      <a:r>
                        <a:rPr dirty="0" sz="2400" spc="-50">
                          <a:solidFill>
                            <a:srgbClr val="001F5F"/>
                          </a:solidFill>
                          <a:latin typeface="Tahoma"/>
                          <a:cs typeface="Tahoma"/>
                        </a:rPr>
                        <a:t>0</a:t>
                      </a:r>
                      <a:endParaRPr sz="2400">
                        <a:latin typeface="Tahoma"/>
                        <a:cs typeface="Tahoma"/>
                      </a:endParaRPr>
                    </a:p>
                  </a:txBody>
                  <a:tcPr marL="0" marR="0" marB="0" marT="1384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R="140335">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1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bl>
          </a:graphicData>
        </a:graphic>
      </p:graphicFrame>
      <p:sp>
        <p:nvSpPr>
          <p:cNvPr id="4" name="object 4" descr=""/>
          <p:cNvSpPr txBox="1"/>
          <p:nvPr/>
        </p:nvSpPr>
        <p:spPr>
          <a:xfrm>
            <a:off x="3491865" y="46989"/>
            <a:ext cx="1179195"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FF0000"/>
                </a:solidFill>
                <a:latin typeface="宋体"/>
                <a:cs typeface="宋体"/>
              </a:rPr>
              <a:t>第4</a:t>
            </a:r>
            <a:r>
              <a:rPr dirty="0" sz="2000" spc="-25" b="1">
                <a:solidFill>
                  <a:srgbClr val="FF0000"/>
                </a:solidFill>
                <a:latin typeface="宋体"/>
                <a:cs typeface="宋体"/>
              </a:rPr>
              <a:t>个周期</a:t>
            </a:r>
            <a:endParaRPr sz="2000">
              <a:latin typeface="宋体"/>
              <a:cs typeface="宋体"/>
            </a:endParaRPr>
          </a:p>
        </p:txBody>
      </p:sp>
      <p:sp>
        <p:nvSpPr>
          <p:cNvPr id="5" name="object 5" descr=""/>
          <p:cNvSpPr txBox="1"/>
          <p:nvPr/>
        </p:nvSpPr>
        <p:spPr>
          <a:xfrm>
            <a:off x="4522723" y="6433820"/>
            <a:ext cx="717105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实际应该为</a:t>
            </a:r>
            <a:r>
              <a:rPr dirty="0" sz="2400" b="1">
                <a:solidFill>
                  <a:srgbClr val="CC3399"/>
                </a:solidFill>
                <a:latin typeface="宋体"/>
                <a:cs typeface="宋体"/>
              </a:rPr>
              <a:t>Mem[34+R[32</a:t>
            </a:r>
            <a:r>
              <a:rPr dirty="0" sz="2400" spc="-70" b="1">
                <a:solidFill>
                  <a:srgbClr val="CC3399"/>
                </a:solidFill>
                <a:latin typeface="宋体"/>
                <a:cs typeface="宋体"/>
              </a:rPr>
              <a:t>] </a:t>
            </a:r>
            <a:r>
              <a:rPr dirty="0" sz="2400" spc="-5">
                <a:solidFill>
                  <a:srgbClr val="40458B"/>
                </a:solidFill>
                <a:latin typeface="黑体"/>
                <a:cs typeface="黑体"/>
              </a:rPr>
              <a:t>，表示数据就绪，</a:t>
            </a:r>
            <a:r>
              <a:rPr dirty="0" sz="2400" spc="-10">
                <a:solidFill>
                  <a:srgbClr val="40458B"/>
                </a:solidFill>
                <a:latin typeface="Tahoma"/>
                <a:cs typeface="Tahoma"/>
              </a:rPr>
              <a:t>CDB</a:t>
            </a:r>
            <a:r>
              <a:rPr dirty="0" sz="2400" spc="-25">
                <a:solidFill>
                  <a:srgbClr val="40458B"/>
                </a:solidFill>
                <a:latin typeface="黑体"/>
                <a:cs typeface="黑体"/>
              </a:rPr>
              <a:t>广播</a:t>
            </a:r>
            <a:endParaRPr sz="2400">
              <a:latin typeface="黑体"/>
              <a:cs typeface="黑体"/>
            </a:endParaRPr>
          </a:p>
        </p:txBody>
      </p:sp>
      <p:sp>
        <p:nvSpPr>
          <p:cNvPr id="6" name="object 6" descr=""/>
          <p:cNvSpPr/>
          <p:nvPr/>
        </p:nvSpPr>
        <p:spPr>
          <a:xfrm>
            <a:off x="6796023" y="6210300"/>
            <a:ext cx="370205" cy="295910"/>
          </a:xfrm>
          <a:custGeom>
            <a:avLst/>
            <a:gdLst/>
            <a:ahLst/>
            <a:cxnLst/>
            <a:rect l="l" t="t" r="r" b="b"/>
            <a:pathLst>
              <a:path w="370204" h="295909">
                <a:moveTo>
                  <a:pt x="62651" y="43763"/>
                </a:moveTo>
                <a:lnTo>
                  <a:pt x="56706" y="51222"/>
                </a:lnTo>
                <a:lnTo>
                  <a:pt x="363854" y="295821"/>
                </a:lnTo>
                <a:lnTo>
                  <a:pt x="369697" y="288378"/>
                </a:lnTo>
                <a:lnTo>
                  <a:pt x="62651" y="43763"/>
                </a:lnTo>
                <a:close/>
              </a:path>
              <a:path w="370204" h="295909">
                <a:moveTo>
                  <a:pt x="0" y="0"/>
                </a:moveTo>
                <a:lnTo>
                  <a:pt x="35941" y="77279"/>
                </a:lnTo>
                <a:lnTo>
                  <a:pt x="56706" y="51222"/>
                </a:lnTo>
                <a:lnTo>
                  <a:pt x="46735" y="43281"/>
                </a:lnTo>
                <a:lnTo>
                  <a:pt x="52704" y="35839"/>
                </a:lnTo>
                <a:lnTo>
                  <a:pt x="68965" y="35839"/>
                </a:lnTo>
                <a:lnTo>
                  <a:pt x="83439" y="17678"/>
                </a:lnTo>
                <a:lnTo>
                  <a:pt x="0" y="0"/>
                </a:lnTo>
                <a:close/>
              </a:path>
              <a:path w="370204" h="295909">
                <a:moveTo>
                  <a:pt x="52704" y="35839"/>
                </a:moveTo>
                <a:lnTo>
                  <a:pt x="46735" y="43281"/>
                </a:lnTo>
                <a:lnTo>
                  <a:pt x="56706" y="51222"/>
                </a:lnTo>
                <a:lnTo>
                  <a:pt x="62651" y="43763"/>
                </a:lnTo>
                <a:lnTo>
                  <a:pt x="52704" y="35839"/>
                </a:lnTo>
                <a:close/>
              </a:path>
              <a:path w="370204" h="295909">
                <a:moveTo>
                  <a:pt x="68965" y="35839"/>
                </a:moveTo>
                <a:lnTo>
                  <a:pt x="52704" y="35839"/>
                </a:lnTo>
                <a:lnTo>
                  <a:pt x="62651" y="43763"/>
                </a:lnTo>
                <a:lnTo>
                  <a:pt x="68965" y="35839"/>
                </a:lnTo>
                <a:close/>
              </a:path>
            </a:pathLst>
          </a:custGeom>
          <a:solidFill>
            <a:srgbClr val="40458B"/>
          </a:solidFill>
        </p:spPr>
        <p:txBody>
          <a:bodyPr wrap="square" lIns="0" tIns="0" rIns="0" bIns="0" rtlCol="0"/>
          <a:lstStyle/>
          <a:p/>
        </p:txBody>
      </p:sp>
      <p:sp>
        <p:nvSpPr>
          <p:cNvPr id="7" name="object 7"/>
          <p:cNvSpPr txBox="1">
            <a:spLocks noGrp="1"/>
          </p:cNvSpPr>
          <p:nvPr>
            <p:ph type="title"/>
          </p:nvPr>
        </p:nvSpPr>
        <p:spPr>
          <a:xfrm>
            <a:off x="439318" y="1278712"/>
            <a:ext cx="739140" cy="2372995"/>
          </a:xfrm>
          <a:prstGeom prst="rect"/>
        </p:spPr>
        <p:txBody>
          <a:bodyPr wrap="square" lIns="0" tIns="55244" rIns="0" bIns="0" rtlCol="0" vert="horz">
            <a:spAutoFit/>
          </a:bodyPr>
          <a:lstStyle/>
          <a:p>
            <a:pPr marL="12700" marR="5080">
              <a:lnSpc>
                <a:spcPct val="90000"/>
              </a:lnSpc>
              <a:spcBef>
                <a:spcPts val="434"/>
              </a:spcBef>
            </a:pPr>
            <a:r>
              <a:rPr dirty="0" sz="2800" spc="-30" b="1">
                <a:solidFill>
                  <a:srgbClr val="006FC0"/>
                </a:solidFill>
                <a:latin typeface="宋体"/>
                <a:cs typeface="宋体"/>
              </a:rPr>
              <a:t>第</a:t>
            </a:r>
            <a:r>
              <a:rPr dirty="0" sz="2800" spc="-60" b="1">
                <a:solidFill>
                  <a:srgbClr val="006FC0"/>
                </a:solidFill>
                <a:latin typeface="宋体"/>
                <a:cs typeface="宋体"/>
              </a:rPr>
              <a:t>4</a:t>
            </a:r>
            <a:r>
              <a:rPr dirty="0" sz="2800" spc="-50" b="1">
                <a:solidFill>
                  <a:srgbClr val="006FC0"/>
                </a:solidFill>
                <a:latin typeface="宋体"/>
                <a:cs typeface="宋体"/>
              </a:rPr>
              <a:t>个</a:t>
            </a:r>
            <a:r>
              <a:rPr dirty="0" sz="2800" spc="-50" b="1">
                <a:solidFill>
                  <a:srgbClr val="006FC0"/>
                </a:solidFill>
                <a:latin typeface="宋体"/>
                <a:cs typeface="宋体"/>
              </a:rPr>
              <a:t> </a:t>
            </a:r>
            <a:r>
              <a:rPr dirty="0" sz="2800" spc="-45" b="1">
                <a:solidFill>
                  <a:srgbClr val="006FC0"/>
                </a:solidFill>
                <a:latin typeface="宋体"/>
                <a:cs typeface="宋体"/>
              </a:rPr>
              <a:t>周期</a:t>
            </a:r>
            <a:r>
              <a:rPr dirty="0" sz="2800" spc="-50" b="1">
                <a:solidFill>
                  <a:srgbClr val="006FC0"/>
                </a:solidFill>
                <a:latin typeface="宋体"/>
                <a:cs typeface="宋体"/>
              </a:rPr>
              <a:t>， </a:t>
            </a:r>
            <a:r>
              <a:rPr dirty="0" sz="2800" spc="-25" b="1">
                <a:solidFill>
                  <a:srgbClr val="006FC0"/>
                </a:solidFill>
                <a:latin typeface="宋体"/>
                <a:cs typeface="宋体"/>
              </a:rPr>
              <a:t>L.D</a:t>
            </a:r>
            <a:endParaRPr sz="2800">
              <a:latin typeface="宋体"/>
              <a:cs typeface="宋体"/>
            </a:endParaRPr>
          </a:p>
          <a:p>
            <a:pPr marL="12700">
              <a:lnSpc>
                <a:spcPts val="3025"/>
              </a:lnSpc>
            </a:pPr>
            <a:r>
              <a:rPr dirty="0" sz="2800" spc="-25" b="1">
                <a:solidFill>
                  <a:srgbClr val="006FC0"/>
                </a:solidFill>
                <a:latin typeface="宋体"/>
                <a:cs typeface="宋体"/>
              </a:rPr>
              <a:t>F6,</a:t>
            </a:r>
            <a:endParaRPr sz="2800">
              <a:latin typeface="宋体"/>
              <a:cs typeface="宋体"/>
            </a:endParaRPr>
          </a:p>
        </p:txBody>
      </p:sp>
      <p:sp>
        <p:nvSpPr>
          <p:cNvPr id="8" name="object 8" descr=""/>
          <p:cNvSpPr txBox="1"/>
          <p:nvPr/>
        </p:nvSpPr>
        <p:spPr>
          <a:xfrm>
            <a:off x="439318" y="3583940"/>
            <a:ext cx="565150" cy="1977389"/>
          </a:xfrm>
          <a:prstGeom prst="rect">
            <a:avLst/>
          </a:prstGeom>
        </p:spPr>
        <p:txBody>
          <a:bodyPr wrap="square" lIns="0" tIns="12065" rIns="0" bIns="0" rtlCol="0" vert="horz">
            <a:spAutoFit/>
          </a:bodyPr>
          <a:lstStyle/>
          <a:p>
            <a:pPr marL="12700">
              <a:lnSpc>
                <a:spcPts val="3190"/>
              </a:lnSpc>
              <a:spcBef>
                <a:spcPts val="95"/>
              </a:spcBef>
            </a:pPr>
            <a:r>
              <a:rPr dirty="0" sz="2800" spc="-25" b="1">
                <a:solidFill>
                  <a:srgbClr val="006FC0"/>
                </a:solidFill>
                <a:latin typeface="宋体"/>
                <a:cs typeface="宋体"/>
              </a:rPr>
              <a:t>34(</a:t>
            </a:r>
            <a:endParaRPr sz="2800">
              <a:latin typeface="宋体"/>
              <a:cs typeface="宋体"/>
            </a:endParaRPr>
          </a:p>
          <a:p>
            <a:pPr marL="12700">
              <a:lnSpc>
                <a:spcPts val="3025"/>
              </a:lnSpc>
            </a:pPr>
            <a:r>
              <a:rPr dirty="0" sz="2800" spc="-25" b="1">
                <a:solidFill>
                  <a:srgbClr val="006FC0"/>
                </a:solidFill>
                <a:latin typeface="宋体"/>
                <a:cs typeface="宋体"/>
              </a:rPr>
              <a:t>R2)</a:t>
            </a:r>
            <a:endParaRPr sz="2800">
              <a:latin typeface="宋体"/>
              <a:cs typeface="宋体"/>
            </a:endParaRPr>
          </a:p>
          <a:p>
            <a:pPr algn="just" marL="12700" marR="189230">
              <a:lnSpc>
                <a:spcPct val="88700"/>
              </a:lnSpc>
              <a:spcBef>
                <a:spcPts val="210"/>
              </a:spcBef>
            </a:pPr>
            <a:r>
              <a:rPr dirty="0" sz="2800" spc="-50" b="1">
                <a:solidFill>
                  <a:srgbClr val="006FC0"/>
                </a:solidFill>
                <a:latin typeface="宋体"/>
                <a:cs typeface="宋体"/>
              </a:rPr>
              <a:t>写结果</a:t>
            </a:r>
            <a:endParaRPr sz="2800">
              <a:latin typeface="宋体"/>
              <a:cs typeface="宋体"/>
            </a:endParaRPr>
          </a:p>
        </p:txBody>
      </p:sp>
      <p:pic>
        <p:nvPicPr>
          <p:cNvPr id="9" name="object 9" descr=""/>
          <p:cNvPicPr/>
          <p:nvPr/>
        </p:nvPicPr>
        <p:blipFill>
          <a:blip r:embed="rId2" cstate="print"/>
          <a:stretch>
            <a:fillRect/>
          </a:stretch>
        </p:blipFill>
        <p:spPr>
          <a:xfrm>
            <a:off x="7927975" y="0"/>
            <a:ext cx="4264025" cy="1025525"/>
          </a:xfrm>
          <a:prstGeom prst="rect">
            <a:avLst/>
          </a:prstGeom>
        </p:spPr>
      </p:pic>
      <p:sp>
        <p:nvSpPr>
          <p:cNvPr id="10" name="object 10" descr=""/>
          <p:cNvSpPr/>
          <p:nvPr/>
        </p:nvSpPr>
        <p:spPr>
          <a:xfrm>
            <a:off x="6324600" y="2624073"/>
            <a:ext cx="370205" cy="295910"/>
          </a:xfrm>
          <a:custGeom>
            <a:avLst/>
            <a:gdLst/>
            <a:ahLst/>
            <a:cxnLst/>
            <a:rect l="l" t="t" r="r" b="b"/>
            <a:pathLst>
              <a:path w="370204" h="295910">
                <a:moveTo>
                  <a:pt x="62518" y="43855"/>
                </a:moveTo>
                <a:lnTo>
                  <a:pt x="56653" y="51210"/>
                </a:lnTo>
                <a:lnTo>
                  <a:pt x="363727" y="295910"/>
                </a:lnTo>
                <a:lnTo>
                  <a:pt x="369697" y="288416"/>
                </a:lnTo>
                <a:lnTo>
                  <a:pt x="62518" y="43855"/>
                </a:lnTo>
                <a:close/>
              </a:path>
              <a:path w="370204" h="295910">
                <a:moveTo>
                  <a:pt x="0" y="0"/>
                </a:moveTo>
                <a:lnTo>
                  <a:pt x="35813" y="77342"/>
                </a:lnTo>
                <a:lnTo>
                  <a:pt x="56653" y="51210"/>
                </a:lnTo>
                <a:lnTo>
                  <a:pt x="46736" y="43306"/>
                </a:lnTo>
                <a:lnTo>
                  <a:pt x="52577" y="35940"/>
                </a:lnTo>
                <a:lnTo>
                  <a:pt x="68829" y="35940"/>
                </a:lnTo>
                <a:lnTo>
                  <a:pt x="83312" y="17779"/>
                </a:lnTo>
                <a:lnTo>
                  <a:pt x="0" y="0"/>
                </a:lnTo>
                <a:close/>
              </a:path>
              <a:path w="370204" h="295910">
                <a:moveTo>
                  <a:pt x="52577" y="35940"/>
                </a:moveTo>
                <a:lnTo>
                  <a:pt x="46736" y="43306"/>
                </a:lnTo>
                <a:lnTo>
                  <a:pt x="56653" y="51210"/>
                </a:lnTo>
                <a:lnTo>
                  <a:pt x="62518" y="43855"/>
                </a:lnTo>
                <a:lnTo>
                  <a:pt x="52577" y="35940"/>
                </a:lnTo>
                <a:close/>
              </a:path>
              <a:path w="370204" h="295910">
                <a:moveTo>
                  <a:pt x="68829" y="35940"/>
                </a:moveTo>
                <a:lnTo>
                  <a:pt x="52577" y="35940"/>
                </a:lnTo>
                <a:lnTo>
                  <a:pt x="62518" y="43855"/>
                </a:lnTo>
                <a:lnTo>
                  <a:pt x="68829" y="35940"/>
                </a:lnTo>
                <a:close/>
              </a:path>
            </a:pathLst>
          </a:custGeom>
          <a:solidFill>
            <a:srgbClr val="40458B"/>
          </a:solidFill>
        </p:spPr>
        <p:txBody>
          <a:bodyPr wrap="square" lIns="0" tIns="0" rIns="0" bIns="0" rtlCol="0"/>
          <a:lstStyle/>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245342" y="158242"/>
            <a:ext cx="6477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99/175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5512435" cy="513715"/>
          </a:xfrm>
          <a:prstGeom prst="rect"/>
        </p:spPr>
        <p:txBody>
          <a:bodyPr wrap="square" lIns="0" tIns="12700" rIns="0" bIns="0" rtlCol="0" vert="horz">
            <a:spAutoFit/>
          </a:bodyPr>
          <a:lstStyle/>
          <a:p>
            <a:pPr marL="12700">
              <a:lnSpc>
                <a:spcPct val="100000"/>
              </a:lnSpc>
              <a:spcBef>
                <a:spcPts val="100"/>
              </a:spcBef>
            </a:pPr>
            <a:r>
              <a:rPr dirty="0">
                <a:solidFill>
                  <a:srgbClr val="FF0000"/>
                </a:solidFill>
              </a:rPr>
              <a:t>解读</a:t>
            </a:r>
            <a:r>
              <a:rPr dirty="0" spc="-10">
                <a:solidFill>
                  <a:srgbClr val="FF0000"/>
                </a:solidFill>
              </a:rPr>
              <a:t>WAR</a:t>
            </a:r>
            <a:r>
              <a:rPr dirty="0" spc="-20">
                <a:solidFill>
                  <a:srgbClr val="FF0000"/>
                </a:solidFill>
              </a:rPr>
              <a:t>冲突如何通过换名解决</a:t>
            </a:r>
          </a:p>
        </p:txBody>
      </p:sp>
      <p:grpSp>
        <p:nvGrpSpPr>
          <p:cNvPr id="10" name="object 10" descr=""/>
          <p:cNvGrpSpPr/>
          <p:nvPr/>
        </p:nvGrpSpPr>
        <p:grpSpPr>
          <a:xfrm>
            <a:off x="1627187" y="1868487"/>
            <a:ext cx="8848725" cy="3971925"/>
            <a:chOff x="1627187" y="1868487"/>
            <a:chExt cx="8848725" cy="3971925"/>
          </a:xfrm>
        </p:grpSpPr>
        <p:sp>
          <p:nvSpPr>
            <p:cNvPr id="11" name="object 11" descr=""/>
            <p:cNvSpPr/>
            <p:nvPr/>
          </p:nvSpPr>
          <p:spPr>
            <a:xfrm>
              <a:off x="1631950" y="1873250"/>
              <a:ext cx="8839200" cy="3962400"/>
            </a:xfrm>
            <a:custGeom>
              <a:avLst/>
              <a:gdLst/>
              <a:ahLst/>
              <a:cxnLst/>
              <a:rect l="l" t="t" r="r" b="b"/>
              <a:pathLst>
                <a:path w="8839200" h="3962400">
                  <a:moveTo>
                    <a:pt x="8839200" y="0"/>
                  </a:moveTo>
                  <a:lnTo>
                    <a:pt x="0" y="0"/>
                  </a:lnTo>
                  <a:lnTo>
                    <a:pt x="0" y="3962400"/>
                  </a:lnTo>
                  <a:lnTo>
                    <a:pt x="8839200" y="3962400"/>
                  </a:lnTo>
                  <a:lnTo>
                    <a:pt x="8839200" y="0"/>
                  </a:lnTo>
                  <a:close/>
                </a:path>
              </a:pathLst>
            </a:custGeom>
            <a:solidFill>
              <a:srgbClr val="F8FBA1"/>
            </a:solidFill>
          </p:spPr>
          <p:txBody>
            <a:bodyPr wrap="square" lIns="0" tIns="0" rIns="0" bIns="0" rtlCol="0"/>
            <a:lstStyle/>
            <a:p/>
          </p:txBody>
        </p:sp>
        <p:sp>
          <p:nvSpPr>
            <p:cNvPr id="12" name="object 12" descr=""/>
            <p:cNvSpPr/>
            <p:nvPr/>
          </p:nvSpPr>
          <p:spPr>
            <a:xfrm>
              <a:off x="1631950" y="1873250"/>
              <a:ext cx="8839200" cy="3962400"/>
            </a:xfrm>
            <a:custGeom>
              <a:avLst/>
              <a:gdLst/>
              <a:ahLst/>
              <a:cxnLst/>
              <a:rect l="l" t="t" r="r" b="b"/>
              <a:pathLst>
                <a:path w="8839200" h="3962400">
                  <a:moveTo>
                    <a:pt x="0" y="3962400"/>
                  </a:moveTo>
                  <a:lnTo>
                    <a:pt x="8839200" y="3962400"/>
                  </a:lnTo>
                  <a:lnTo>
                    <a:pt x="8839200" y="0"/>
                  </a:lnTo>
                  <a:lnTo>
                    <a:pt x="0" y="0"/>
                  </a:lnTo>
                  <a:lnTo>
                    <a:pt x="0" y="3962400"/>
                  </a:lnTo>
                  <a:close/>
                </a:path>
              </a:pathLst>
            </a:custGeom>
            <a:ln w="9525">
              <a:solidFill>
                <a:srgbClr val="40458B"/>
              </a:solidFill>
            </a:ln>
          </p:spPr>
          <p:txBody>
            <a:bodyPr wrap="square" lIns="0" tIns="0" rIns="0" bIns="0" rtlCol="0"/>
            <a:lstStyle/>
            <a:p/>
          </p:txBody>
        </p:sp>
      </p:grpSp>
      <p:sp>
        <p:nvSpPr>
          <p:cNvPr id="13" name="object 13" descr=""/>
          <p:cNvSpPr txBox="1"/>
          <p:nvPr/>
        </p:nvSpPr>
        <p:spPr>
          <a:xfrm>
            <a:off x="1631950" y="1873250"/>
            <a:ext cx="958850" cy="1043305"/>
          </a:xfrm>
          <a:prstGeom prst="rect">
            <a:avLst/>
          </a:prstGeom>
          <a:solidFill>
            <a:srgbClr val="F8FBA1"/>
          </a:solidFill>
          <a:ln w="9525">
            <a:solidFill>
              <a:srgbClr val="40458B"/>
            </a:solidFill>
          </a:ln>
        </p:spPr>
        <p:txBody>
          <a:bodyPr wrap="square" lIns="0" tIns="106680" rIns="0" bIns="0" rtlCol="0" vert="horz">
            <a:spAutoFit/>
          </a:bodyPr>
          <a:lstStyle/>
          <a:p>
            <a:pPr>
              <a:lnSpc>
                <a:spcPct val="100000"/>
              </a:lnSpc>
              <a:spcBef>
                <a:spcPts val="840"/>
              </a:spcBef>
            </a:pPr>
            <a:endParaRPr sz="2400">
              <a:latin typeface="Times New Roman"/>
              <a:cs typeface="Times New Roman"/>
            </a:endParaRPr>
          </a:p>
          <a:p>
            <a:pPr marL="183515">
              <a:lnSpc>
                <a:spcPct val="100000"/>
              </a:lnSpc>
            </a:pPr>
            <a:r>
              <a:rPr dirty="0" sz="2400" spc="-35" b="1">
                <a:solidFill>
                  <a:srgbClr val="E14B04"/>
                </a:solidFill>
                <a:latin typeface="宋体"/>
                <a:cs typeface="宋体"/>
              </a:rPr>
              <a:t>名称</a:t>
            </a:r>
            <a:endParaRPr sz="2400">
              <a:latin typeface="宋体"/>
              <a:cs typeface="宋体"/>
            </a:endParaRPr>
          </a:p>
        </p:txBody>
      </p:sp>
      <p:sp>
        <p:nvSpPr>
          <p:cNvPr id="14" name="object 14" descr=""/>
          <p:cNvSpPr txBox="1"/>
          <p:nvPr/>
        </p:nvSpPr>
        <p:spPr>
          <a:xfrm>
            <a:off x="2590800" y="1873250"/>
            <a:ext cx="7880350" cy="548005"/>
          </a:xfrm>
          <a:prstGeom prst="rect">
            <a:avLst/>
          </a:prstGeom>
          <a:solidFill>
            <a:srgbClr val="F8FBA1"/>
          </a:solidFill>
          <a:ln w="9525">
            <a:solidFill>
              <a:srgbClr val="40458B"/>
            </a:solidFill>
          </a:ln>
        </p:spPr>
        <p:txBody>
          <a:bodyPr wrap="square" lIns="0" tIns="171450" rIns="0" bIns="0" rtlCol="0" vert="horz">
            <a:spAutoFit/>
          </a:bodyPr>
          <a:lstStyle/>
          <a:p>
            <a:pPr algn="ctr" marR="596900">
              <a:lnSpc>
                <a:spcPct val="100000"/>
              </a:lnSpc>
              <a:spcBef>
                <a:spcPts val="1350"/>
              </a:spcBef>
            </a:pPr>
            <a:r>
              <a:rPr dirty="0" sz="1800" spc="-35" b="1">
                <a:solidFill>
                  <a:srgbClr val="E14B04"/>
                </a:solidFill>
                <a:latin typeface="宋体"/>
                <a:cs typeface="宋体"/>
              </a:rPr>
              <a:t>保留站</a:t>
            </a:r>
            <a:endParaRPr sz="1800">
              <a:latin typeface="宋体"/>
              <a:cs typeface="宋体"/>
            </a:endParaRPr>
          </a:p>
        </p:txBody>
      </p:sp>
      <p:sp>
        <p:nvSpPr>
          <p:cNvPr id="15" name="object 15" descr=""/>
          <p:cNvSpPr txBox="1"/>
          <p:nvPr/>
        </p:nvSpPr>
        <p:spPr>
          <a:xfrm>
            <a:off x="1631950" y="2916301"/>
            <a:ext cx="958850" cy="390525"/>
          </a:xfrm>
          <a:prstGeom prst="rect">
            <a:avLst/>
          </a:prstGeom>
          <a:solidFill>
            <a:srgbClr val="F8FBA1"/>
          </a:solidFill>
          <a:ln w="9525">
            <a:solidFill>
              <a:srgbClr val="40458B"/>
            </a:solidFill>
          </a:ln>
        </p:spPr>
        <p:txBody>
          <a:bodyPr wrap="square" lIns="0" tIns="55244" rIns="0" bIns="0" rtlCol="0" vert="horz">
            <a:spAutoFit/>
          </a:bodyPr>
          <a:lstStyle/>
          <a:p>
            <a:pPr marL="135890">
              <a:lnSpc>
                <a:spcPct val="100000"/>
              </a:lnSpc>
              <a:spcBef>
                <a:spcPts val="434"/>
              </a:spcBef>
            </a:pPr>
            <a:r>
              <a:rPr dirty="0" sz="2000" spc="-20" b="1">
                <a:solidFill>
                  <a:srgbClr val="40458B"/>
                </a:solidFill>
                <a:latin typeface="宋体"/>
                <a:cs typeface="宋体"/>
              </a:rPr>
              <a:t>ADD1</a:t>
            </a:r>
            <a:endParaRPr sz="2000">
              <a:latin typeface="宋体"/>
              <a:cs typeface="宋体"/>
            </a:endParaRPr>
          </a:p>
        </p:txBody>
      </p:sp>
      <p:sp>
        <p:nvSpPr>
          <p:cNvPr id="16" name="object 16" descr=""/>
          <p:cNvSpPr txBox="1"/>
          <p:nvPr/>
        </p:nvSpPr>
        <p:spPr>
          <a:xfrm>
            <a:off x="1631950" y="3306826"/>
            <a:ext cx="958850" cy="405130"/>
          </a:xfrm>
          <a:prstGeom prst="rect">
            <a:avLst/>
          </a:prstGeom>
          <a:solidFill>
            <a:srgbClr val="F8FBA1"/>
          </a:solidFill>
          <a:ln w="9525">
            <a:solidFill>
              <a:srgbClr val="40458B"/>
            </a:solidFill>
          </a:ln>
        </p:spPr>
        <p:txBody>
          <a:bodyPr wrap="square" lIns="0" tIns="61594" rIns="0" bIns="0" rtlCol="0" vert="horz">
            <a:spAutoFit/>
          </a:bodyPr>
          <a:lstStyle/>
          <a:p>
            <a:pPr marL="135890">
              <a:lnSpc>
                <a:spcPct val="100000"/>
              </a:lnSpc>
              <a:spcBef>
                <a:spcPts val="484"/>
              </a:spcBef>
            </a:pPr>
            <a:r>
              <a:rPr dirty="0" sz="2000" spc="-10" b="1">
                <a:solidFill>
                  <a:srgbClr val="40458B"/>
                </a:solidFill>
                <a:latin typeface="宋体"/>
                <a:cs typeface="宋体"/>
              </a:rPr>
              <a:t>Mult1</a:t>
            </a:r>
            <a:endParaRPr sz="2000">
              <a:latin typeface="宋体"/>
              <a:cs typeface="宋体"/>
            </a:endParaRPr>
          </a:p>
        </p:txBody>
      </p:sp>
      <p:sp>
        <p:nvSpPr>
          <p:cNvPr id="17" name="object 17" descr=""/>
          <p:cNvSpPr txBox="1"/>
          <p:nvPr/>
        </p:nvSpPr>
        <p:spPr>
          <a:xfrm>
            <a:off x="1631950" y="3711575"/>
            <a:ext cx="958850" cy="376555"/>
          </a:xfrm>
          <a:prstGeom prst="rect">
            <a:avLst/>
          </a:prstGeom>
          <a:solidFill>
            <a:srgbClr val="F8FBA1"/>
          </a:solidFill>
          <a:ln w="9525">
            <a:solidFill>
              <a:srgbClr val="40458B"/>
            </a:solidFill>
          </a:ln>
        </p:spPr>
        <p:txBody>
          <a:bodyPr wrap="square" lIns="0" tIns="52705" rIns="0" bIns="0" rtlCol="0" vert="horz">
            <a:spAutoFit/>
          </a:bodyPr>
          <a:lstStyle/>
          <a:p>
            <a:pPr marL="135890">
              <a:lnSpc>
                <a:spcPct val="100000"/>
              </a:lnSpc>
              <a:spcBef>
                <a:spcPts val="415"/>
              </a:spcBef>
            </a:pPr>
            <a:r>
              <a:rPr dirty="0" sz="2000" spc="-20" b="1">
                <a:solidFill>
                  <a:srgbClr val="40458B"/>
                </a:solidFill>
                <a:latin typeface="宋体"/>
                <a:cs typeface="宋体"/>
              </a:rPr>
              <a:t>Add1</a:t>
            </a:r>
            <a:endParaRPr sz="2000">
              <a:latin typeface="宋体"/>
              <a:cs typeface="宋体"/>
            </a:endParaRPr>
          </a:p>
        </p:txBody>
      </p:sp>
      <p:sp>
        <p:nvSpPr>
          <p:cNvPr id="18" name="object 18" descr=""/>
          <p:cNvSpPr txBox="1"/>
          <p:nvPr/>
        </p:nvSpPr>
        <p:spPr>
          <a:xfrm>
            <a:off x="1631950" y="4087876"/>
            <a:ext cx="958850" cy="424180"/>
          </a:xfrm>
          <a:prstGeom prst="rect">
            <a:avLst/>
          </a:prstGeom>
          <a:solidFill>
            <a:srgbClr val="F8FBA1"/>
          </a:solidFill>
          <a:ln w="9525">
            <a:solidFill>
              <a:srgbClr val="40458B"/>
            </a:solidFill>
          </a:ln>
        </p:spPr>
        <p:txBody>
          <a:bodyPr wrap="square" lIns="0" tIns="72390" rIns="0" bIns="0" rtlCol="0" vert="horz">
            <a:spAutoFit/>
          </a:bodyPr>
          <a:lstStyle/>
          <a:p>
            <a:pPr marL="135890">
              <a:lnSpc>
                <a:spcPct val="100000"/>
              </a:lnSpc>
              <a:spcBef>
                <a:spcPts val="570"/>
              </a:spcBef>
            </a:pPr>
            <a:r>
              <a:rPr dirty="0" sz="2000" spc="-20" b="1">
                <a:solidFill>
                  <a:srgbClr val="40458B"/>
                </a:solidFill>
                <a:latin typeface="宋体"/>
                <a:cs typeface="宋体"/>
              </a:rPr>
              <a:t>Add2</a:t>
            </a:r>
            <a:endParaRPr sz="2000">
              <a:latin typeface="宋体"/>
              <a:cs typeface="宋体"/>
            </a:endParaRPr>
          </a:p>
        </p:txBody>
      </p:sp>
      <p:sp>
        <p:nvSpPr>
          <p:cNvPr id="19" name="object 19" descr=""/>
          <p:cNvSpPr txBox="1"/>
          <p:nvPr/>
        </p:nvSpPr>
        <p:spPr>
          <a:xfrm>
            <a:off x="1631950" y="4511675"/>
            <a:ext cx="958850" cy="424180"/>
          </a:xfrm>
          <a:prstGeom prst="rect">
            <a:avLst/>
          </a:prstGeom>
          <a:ln w="9525">
            <a:solidFill>
              <a:srgbClr val="40458B"/>
            </a:solidFill>
          </a:ln>
        </p:spPr>
        <p:txBody>
          <a:bodyPr wrap="square" lIns="0" tIns="45085" rIns="0" bIns="0" rtlCol="0" vert="horz">
            <a:spAutoFit/>
          </a:bodyPr>
          <a:lstStyle/>
          <a:p>
            <a:pPr marL="135890">
              <a:lnSpc>
                <a:spcPct val="100000"/>
              </a:lnSpc>
              <a:spcBef>
                <a:spcPts val="355"/>
              </a:spcBef>
            </a:pPr>
            <a:r>
              <a:rPr dirty="0" sz="2000" spc="-20" b="1">
                <a:solidFill>
                  <a:srgbClr val="40458B"/>
                </a:solidFill>
                <a:latin typeface="宋体"/>
                <a:cs typeface="宋体"/>
              </a:rPr>
              <a:t>Add3</a:t>
            </a:r>
            <a:endParaRPr sz="2000">
              <a:latin typeface="宋体"/>
              <a:cs typeface="宋体"/>
            </a:endParaRPr>
          </a:p>
        </p:txBody>
      </p:sp>
      <p:sp>
        <p:nvSpPr>
          <p:cNvPr id="20" name="object 20" descr=""/>
          <p:cNvSpPr txBox="1"/>
          <p:nvPr/>
        </p:nvSpPr>
        <p:spPr>
          <a:xfrm>
            <a:off x="1631950" y="4935537"/>
            <a:ext cx="958850" cy="397510"/>
          </a:xfrm>
          <a:prstGeom prst="rect">
            <a:avLst/>
          </a:prstGeom>
          <a:ln w="9525">
            <a:solidFill>
              <a:srgbClr val="40458B"/>
            </a:solidFill>
          </a:ln>
        </p:spPr>
        <p:txBody>
          <a:bodyPr wrap="square" lIns="0" tIns="17780" rIns="0" bIns="0" rtlCol="0" vert="horz">
            <a:spAutoFit/>
          </a:bodyPr>
          <a:lstStyle/>
          <a:p>
            <a:pPr marL="135890">
              <a:lnSpc>
                <a:spcPct val="100000"/>
              </a:lnSpc>
              <a:spcBef>
                <a:spcPts val="140"/>
              </a:spcBef>
            </a:pPr>
            <a:r>
              <a:rPr dirty="0" sz="2000" spc="-10" b="1">
                <a:solidFill>
                  <a:srgbClr val="40458B"/>
                </a:solidFill>
                <a:latin typeface="宋体"/>
                <a:cs typeface="宋体"/>
              </a:rPr>
              <a:t>Mult1</a:t>
            </a:r>
            <a:endParaRPr sz="2000">
              <a:latin typeface="宋体"/>
              <a:cs typeface="宋体"/>
            </a:endParaRPr>
          </a:p>
        </p:txBody>
      </p:sp>
      <p:sp>
        <p:nvSpPr>
          <p:cNvPr id="21" name="object 21" descr=""/>
          <p:cNvSpPr txBox="1"/>
          <p:nvPr/>
        </p:nvSpPr>
        <p:spPr>
          <a:xfrm>
            <a:off x="1631950" y="5332476"/>
            <a:ext cx="958850" cy="503555"/>
          </a:xfrm>
          <a:prstGeom prst="rect">
            <a:avLst/>
          </a:prstGeom>
          <a:ln w="9525">
            <a:solidFill>
              <a:srgbClr val="40458B"/>
            </a:solidFill>
          </a:ln>
        </p:spPr>
        <p:txBody>
          <a:bodyPr wrap="square" lIns="0" tIns="17145" rIns="0" bIns="0" rtlCol="0" vert="horz">
            <a:spAutoFit/>
          </a:bodyPr>
          <a:lstStyle/>
          <a:p>
            <a:pPr marL="135890">
              <a:lnSpc>
                <a:spcPct val="100000"/>
              </a:lnSpc>
              <a:spcBef>
                <a:spcPts val="135"/>
              </a:spcBef>
            </a:pPr>
            <a:r>
              <a:rPr dirty="0" sz="2000" spc="-10" b="1">
                <a:solidFill>
                  <a:srgbClr val="40458B"/>
                </a:solidFill>
                <a:latin typeface="宋体"/>
                <a:cs typeface="宋体"/>
              </a:rPr>
              <a:t>Mult2</a:t>
            </a:r>
            <a:endParaRPr sz="2000">
              <a:latin typeface="宋体"/>
              <a:cs typeface="宋体"/>
            </a:endParaRPr>
          </a:p>
        </p:txBody>
      </p:sp>
      <p:sp>
        <p:nvSpPr>
          <p:cNvPr id="22" name="object 22" descr=""/>
          <p:cNvSpPr txBox="1"/>
          <p:nvPr/>
        </p:nvSpPr>
        <p:spPr>
          <a:xfrm>
            <a:off x="2590800" y="2421001"/>
            <a:ext cx="933450" cy="495300"/>
          </a:xfrm>
          <a:prstGeom prst="rect">
            <a:avLst/>
          </a:prstGeom>
          <a:solidFill>
            <a:srgbClr val="F8FBA1"/>
          </a:solidFill>
          <a:ln w="9525">
            <a:solidFill>
              <a:srgbClr val="40458B"/>
            </a:solidFill>
          </a:ln>
        </p:spPr>
        <p:txBody>
          <a:bodyPr wrap="square" lIns="0" tIns="161290" rIns="0" bIns="0" rtlCol="0" vert="horz">
            <a:spAutoFit/>
          </a:bodyPr>
          <a:lstStyle/>
          <a:p>
            <a:pPr marL="363220">
              <a:lnSpc>
                <a:spcPct val="100000"/>
              </a:lnSpc>
              <a:spcBef>
                <a:spcPts val="1270"/>
              </a:spcBef>
            </a:pPr>
            <a:r>
              <a:rPr dirty="0" sz="2000" spc="-20" b="1">
                <a:solidFill>
                  <a:srgbClr val="40458B"/>
                </a:solidFill>
                <a:latin typeface="宋体"/>
                <a:cs typeface="宋体"/>
              </a:rPr>
              <a:t>Busy</a:t>
            </a:r>
            <a:endParaRPr sz="2000">
              <a:latin typeface="宋体"/>
              <a:cs typeface="宋体"/>
            </a:endParaRPr>
          </a:p>
        </p:txBody>
      </p:sp>
      <p:sp>
        <p:nvSpPr>
          <p:cNvPr id="23" name="object 23" descr=""/>
          <p:cNvSpPr txBox="1"/>
          <p:nvPr/>
        </p:nvSpPr>
        <p:spPr>
          <a:xfrm>
            <a:off x="2590800" y="2916301"/>
            <a:ext cx="933450" cy="390525"/>
          </a:xfrm>
          <a:prstGeom prst="rect">
            <a:avLst/>
          </a:prstGeom>
          <a:solidFill>
            <a:srgbClr val="F8FBA1"/>
          </a:solidFill>
          <a:ln w="9525">
            <a:solidFill>
              <a:srgbClr val="40458B"/>
            </a:solidFill>
          </a:ln>
        </p:spPr>
        <p:txBody>
          <a:bodyPr wrap="square" lIns="0" tIns="62865" rIns="0" bIns="0" rtlCol="0" vert="horz">
            <a:spAutoFit/>
          </a:bodyPr>
          <a:lstStyle/>
          <a:p>
            <a:pPr marL="428625">
              <a:lnSpc>
                <a:spcPct val="100000"/>
              </a:lnSpc>
              <a:spcBef>
                <a:spcPts val="495"/>
              </a:spcBef>
            </a:pPr>
            <a:r>
              <a:rPr dirty="0" sz="2000" spc="-25" b="1">
                <a:solidFill>
                  <a:srgbClr val="40458B"/>
                </a:solidFill>
                <a:latin typeface="宋体"/>
                <a:cs typeface="宋体"/>
              </a:rPr>
              <a:t>yes</a:t>
            </a:r>
            <a:endParaRPr sz="2000">
              <a:latin typeface="宋体"/>
              <a:cs typeface="宋体"/>
            </a:endParaRPr>
          </a:p>
        </p:txBody>
      </p:sp>
      <p:sp>
        <p:nvSpPr>
          <p:cNvPr id="24" name="object 24" descr=""/>
          <p:cNvSpPr txBox="1"/>
          <p:nvPr/>
        </p:nvSpPr>
        <p:spPr>
          <a:xfrm>
            <a:off x="2590800" y="3306826"/>
            <a:ext cx="933450" cy="405130"/>
          </a:xfrm>
          <a:prstGeom prst="rect">
            <a:avLst/>
          </a:prstGeom>
          <a:solidFill>
            <a:srgbClr val="F8FBA1"/>
          </a:solidFill>
          <a:ln w="9525">
            <a:solidFill>
              <a:srgbClr val="40458B"/>
            </a:solidFill>
          </a:ln>
        </p:spPr>
        <p:txBody>
          <a:bodyPr wrap="square" lIns="0" tIns="68580" rIns="0" bIns="0" rtlCol="0" vert="horz">
            <a:spAutoFit/>
          </a:bodyPr>
          <a:lstStyle/>
          <a:p>
            <a:pPr marL="468630">
              <a:lnSpc>
                <a:spcPct val="100000"/>
              </a:lnSpc>
              <a:spcBef>
                <a:spcPts val="540"/>
              </a:spcBef>
            </a:pPr>
            <a:r>
              <a:rPr dirty="0" sz="2000" spc="-25" b="1">
                <a:solidFill>
                  <a:srgbClr val="FF0000"/>
                </a:solidFill>
                <a:latin typeface="宋体"/>
                <a:cs typeface="宋体"/>
              </a:rPr>
              <a:t>no</a:t>
            </a:r>
            <a:endParaRPr sz="2000">
              <a:latin typeface="宋体"/>
              <a:cs typeface="宋体"/>
            </a:endParaRPr>
          </a:p>
        </p:txBody>
      </p:sp>
      <p:sp>
        <p:nvSpPr>
          <p:cNvPr id="25" name="object 25" descr=""/>
          <p:cNvSpPr txBox="1"/>
          <p:nvPr/>
        </p:nvSpPr>
        <p:spPr>
          <a:xfrm>
            <a:off x="2590800" y="3711575"/>
            <a:ext cx="933450" cy="376555"/>
          </a:xfrm>
          <a:prstGeom prst="rect">
            <a:avLst/>
          </a:prstGeom>
          <a:solidFill>
            <a:srgbClr val="F8FBA1"/>
          </a:solidFill>
          <a:ln w="9525">
            <a:solidFill>
              <a:srgbClr val="40458B"/>
            </a:solidFill>
          </a:ln>
        </p:spPr>
        <p:txBody>
          <a:bodyPr wrap="square" lIns="0" tIns="60325" rIns="0" bIns="0" rtlCol="0" vert="horz">
            <a:spAutoFit/>
          </a:bodyPr>
          <a:lstStyle/>
          <a:p>
            <a:pPr marL="468630">
              <a:lnSpc>
                <a:spcPct val="100000"/>
              </a:lnSpc>
              <a:spcBef>
                <a:spcPts val="475"/>
              </a:spcBef>
            </a:pPr>
            <a:r>
              <a:rPr dirty="0" sz="2000" spc="-25" b="1">
                <a:solidFill>
                  <a:srgbClr val="40458B"/>
                </a:solidFill>
                <a:latin typeface="宋体"/>
                <a:cs typeface="宋体"/>
              </a:rPr>
              <a:t>no</a:t>
            </a:r>
            <a:endParaRPr sz="2000">
              <a:latin typeface="宋体"/>
              <a:cs typeface="宋体"/>
            </a:endParaRPr>
          </a:p>
        </p:txBody>
      </p:sp>
      <p:sp>
        <p:nvSpPr>
          <p:cNvPr id="26" name="object 26" descr=""/>
          <p:cNvSpPr txBox="1"/>
          <p:nvPr/>
        </p:nvSpPr>
        <p:spPr>
          <a:xfrm>
            <a:off x="2590800" y="4087876"/>
            <a:ext cx="933450" cy="424180"/>
          </a:xfrm>
          <a:prstGeom prst="rect">
            <a:avLst/>
          </a:prstGeom>
          <a:solidFill>
            <a:srgbClr val="F8FBA1"/>
          </a:solidFill>
          <a:ln w="9525">
            <a:solidFill>
              <a:srgbClr val="40458B"/>
            </a:solidFill>
          </a:ln>
        </p:spPr>
        <p:txBody>
          <a:bodyPr wrap="square" lIns="0" tIns="80010" rIns="0" bIns="0" rtlCol="0" vert="horz">
            <a:spAutoFit/>
          </a:bodyPr>
          <a:lstStyle/>
          <a:p>
            <a:pPr marL="468630">
              <a:lnSpc>
                <a:spcPct val="100000"/>
              </a:lnSpc>
              <a:spcBef>
                <a:spcPts val="630"/>
              </a:spcBef>
            </a:pPr>
            <a:r>
              <a:rPr dirty="0" sz="2000" spc="-25" b="1">
                <a:solidFill>
                  <a:srgbClr val="40458B"/>
                </a:solidFill>
                <a:latin typeface="宋体"/>
                <a:cs typeface="宋体"/>
              </a:rPr>
              <a:t>no</a:t>
            </a:r>
            <a:endParaRPr sz="2000">
              <a:latin typeface="宋体"/>
              <a:cs typeface="宋体"/>
            </a:endParaRPr>
          </a:p>
        </p:txBody>
      </p:sp>
      <p:sp>
        <p:nvSpPr>
          <p:cNvPr id="27" name="object 27" descr=""/>
          <p:cNvSpPr txBox="1"/>
          <p:nvPr/>
        </p:nvSpPr>
        <p:spPr>
          <a:xfrm>
            <a:off x="2590800" y="4511675"/>
            <a:ext cx="933450" cy="424180"/>
          </a:xfrm>
          <a:prstGeom prst="rect">
            <a:avLst/>
          </a:prstGeom>
          <a:ln w="9525">
            <a:solidFill>
              <a:srgbClr val="40458B"/>
            </a:solidFill>
          </a:ln>
        </p:spPr>
        <p:txBody>
          <a:bodyPr wrap="square" lIns="0" tIns="52069" rIns="0" bIns="0" rtlCol="0" vert="horz">
            <a:spAutoFit/>
          </a:bodyPr>
          <a:lstStyle/>
          <a:p>
            <a:pPr marL="468630">
              <a:lnSpc>
                <a:spcPct val="100000"/>
              </a:lnSpc>
              <a:spcBef>
                <a:spcPts val="409"/>
              </a:spcBef>
            </a:pPr>
            <a:r>
              <a:rPr dirty="0" sz="2000" spc="-25" b="1">
                <a:solidFill>
                  <a:srgbClr val="40458B"/>
                </a:solidFill>
                <a:latin typeface="宋体"/>
                <a:cs typeface="宋体"/>
              </a:rPr>
              <a:t>no</a:t>
            </a:r>
            <a:endParaRPr sz="2000">
              <a:latin typeface="宋体"/>
              <a:cs typeface="宋体"/>
            </a:endParaRPr>
          </a:p>
        </p:txBody>
      </p:sp>
      <p:sp>
        <p:nvSpPr>
          <p:cNvPr id="28" name="object 28" descr=""/>
          <p:cNvSpPr txBox="1"/>
          <p:nvPr/>
        </p:nvSpPr>
        <p:spPr>
          <a:xfrm>
            <a:off x="2590800" y="4935537"/>
            <a:ext cx="933450" cy="397510"/>
          </a:xfrm>
          <a:prstGeom prst="rect">
            <a:avLst/>
          </a:prstGeom>
          <a:ln w="9525">
            <a:solidFill>
              <a:srgbClr val="40458B"/>
            </a:solidFill>
          </a:ln>
        </p:spPr>
        <p:txBody>
          <a:bodyPr wrap="square" lIns="0" tIns="25400" rIns="0" bIns="0" rtlCol="0" vert="horz">
            <a:spAutoFit/>
          </a:bodyPr>
          <a:lstStyle/>
          <a:p>
            <a:pPr marL="468630">
              <a:lnSpc>
                <a:spcPct val="100000"/>
              </a:lnSpc>
              <a:spcBef>
                <a:spcPts val="200"/>
              </a:spcBef>
            </a:pPr>
            <a:r>
              <a:rPr dirty="0" sz="2000" spc="-25" b="1">
                <a:solidFill>
                  <a:srgbClr val="40458B"/>
                </a:solidFill>
                <a:latin typeface="宋体"/>
                <a:cs typeface="宋体"/>
              </a:rPr>
              <a:t>no</a:t>
            </a:r>
            <a:endParaRPr sz="2000">
              <a:latin typeface="宋体"/>
              <a:cs typeface="宋体"/>
            </a:endParaRPr>
          </a:p>
        </p:txBody>
      </p:sp>
      <p:sp>
        <p:nvSpPr>
          <p:cNvPr id="29" name="object 29" descr=""/>
          <p:cNvSpPr txBox="1"/>
          <p:nvPr/>
        </p:nvSpPr>
        <p:spPr>
          <a:xfrm>
            <a:off x="4343400" y="2421001"/>
            <a:ext cx="889000" cy="495300"/>
          </a:xfrm>
          <a:prstGeom prst="rect">
            <a:avLst/>
          </a:prstGeom>
          <a:solidFill>
            <a:srgbClr val="F8FBA1"/>
          </a:solidFill>
          <a:ln w="9525">
            <a:solidFill>
              <a:srgbClr val="40458B"/>
            </a:solidFill>
          </a:ln>
        </p:spPr>
        <p:txBody>
          <a:bodyPr wrap="square" lIns="0" tIns="170180" rIns="0" bIns="0" rtlCol="0" vert="horz">
            <a:spAutoFit/>
          </a:bodyPr>
          <a:lstStyle/>
          <a:p>
            <a:pPr marL="191770">
              <a:lnSpc>
                <a:spcPct val="100000"/>
              </a:lnSpc>
              <a:spcBef>
                <a:spcPts val="1340"/>
              </a:spcBef>
            </a:pPr>
            <a:r>
              <a:rPr dirty="0" sz="2000" spc="-25" b="1">
                <a:solidFill>
                  <a:srgbClr val="40458B"/>
                </a:solidFill>
                <a:latin typeface="宋体"/>
                <a:cs typeface="宋体"/>
              </a:rPr>
              <a:t>Vj</a:t>
            </a:r>
            <a:endParaRPr sz="2000">
              <a:latin typeface="宋体"/>
              <a:cs typeface="宋体"/>
            </a:endParaRPr>
          </a:p>
        </p:txBody>
      </p:sp>
      <p:sp>
        <p:nvSpPr>
          <p:cNvPr id="30" name="object 30" descr=""/>
          <p:cNvSpPr txBox="1"/>
          <p:nvPr/>
        </p:nvSpPr>
        <p:spPr>
          <a:xfrm>
            <a:off x="5232400" y="2421001"/>
            <a:ext cx="2006600" cy="495300"/>
          </a:xfrm>
          <a:prstGeom prst="rect">
            <a:avLst/>
          </a:prstGeom>
          <a:solidFill>
            <a:srgbClr val="F8FBA1"/>
          </a:solidFill>
          <a:ln w="9525">
            <a:solidFill>
              <a:srgbClr val="40458B"/>
            </a:solidFill>
          </a:ln>
        </p:spPr>
        <p:txBody>
          <a:bodyPr wrap="square" lIns="0" tIns="188595" rIns="0" bIns="0" rtlCol="0" vert="horz">
            <a:spAutoFit/>
          </a:bodyPr>
          <a:lstStyle/>
          <a:p>
            <a:pPr algn="ctr" marR="165735">
              <a:lnSpc>
                <a:spcPct val="100000"/>
              </a:lnSpc>
              <a:spcBef>
                <a:spcPts val="1485"/>
              </a:spcBef>
            </a:pPr>
            <a:r>
              <a:rPr dirty="0" sz="2000" spc="-25" b="1">
                <a:solidFill>
                  <a:srgbClr val="40458B"/>
                </a:solidFill>
                <a:latin typeface="宋体"/>
                <a:cs typeface="宋体"/>
              </a:rPr>
              <a:t>Vk</a:t>
            </a:r>
            <a:endParaRPr sz="2000">
              <a:latin typeface="宋体"/>
              <a:cs typeface="宋体"/>
            </a:endParaRPr>
          </a:p>
        </p:txBody>
      </p:sp>
      <p:sp>
        <p:nvSpPr>
          <p:cNvPr id="31" name="object 31" descr=""/>
          <p:cNvSpPr txBox="1"/>
          <p:nvPr/>
        </p:nvSpPr>
        <p:spPr>
          <a:xfrm>
            <a:off x="4626990" y="2992882"/>
            <a:ext cx="153035" cy="330835"/>
          </a:xfrm>
          <a:prstGeom prst="rect">
            <a:avLst/>
          </a:prstGeom>
        </p:spPr>
        <p:txBody>
          <a:bodyPr wrap="square" lIns="0" tIns="13335" rIns="0" bIns="0" rtlCol="0" vert="horz">
            <a:spAutoFit/>
          </a:bodyPr>
          <a:lstStyle/>
          <a:p>
            <a:pPr marL="12700">
              <a:lnSpc>
                <a:spcPct val="100000"/>
              </a:lnSpc>
              <a:spcBef>
                <a:spcPts val="105"/>
              </a:spcBef>
            </a:pPr>
            <a:r>
              <a:rPr dirty="0" sz="2000" spc="-50" b="1">
                <a:solidFill>
                  <a:srgbClr val="FF0000"/>
                </a:solidFill>
                <a:latin typeface="宋体"/>
                <a:cs typeface="宋体"/>
              </a:rPr>
              <a:t>4</a:t>
            </a:r>
            <a:endParaRPr sz="2000">
              <a:latin typeface="宋体"/>
              <a:cs typeface="宋体"/>
            </a:endParaRPr>
          </a:p>
        </p:txBody>
      </p:sp>
      <p:sp>
        <p:nvSpPr>
          <p:cNvPr id="32" name="object 32" descr=""/>
          <p:cNvSpPr txBox="1"/>
          <p:nvPr/>
        </p:nvSpPr>
        <p:spPr>
          <a:xfrm>
            <a:off x="5237162" y="2992882"/>
            <a:ext cx="1997075" cy="330835"/>
          </a:xfrm>
          <a:prstGeom prst="rect">
            <a:avLst/>
          </a:prstGeom>
        </p:spPr>
        <p:txBody>
          <a:bodyPr wrap="square" lIns="0" tIns="13335" rIns="0" bIns="0" rtlCol="0" vert="horz">
            <a:spAutoFit/>
          </a:bodyPr>
          <a:lstStyle/>
          <a:p>
            <a:pPr algn="ctr" marR="225425">
              <a:lnSpc>
                <a:spcPct val="100000"/>
              </a:lnSpc>
              <a:spcBef>
                <a:spcPts val="105"/>
              </a:spcBef>
            </a:pPr>
            <a:r>
              <a:rPr dirty="0" sz="2000" spc="-50" b="1">
                <a:solidFill>
                  <a:srgbClr val="FF0000"/>
                </a:solidFill>
                <a:latin typeface="宋体"/>
                <a:cs typeface="宋体"/>
              </a:rPr>
              <a:t>6</a:t>
            </a:r>
            <a:endParaRPr sz="2000">
              <a:latin typeface="宋体"/>
              <a:cs typeface="宋体"/>
            </a:endParaRPr>
          </a:p>
        </p:txBody>
      </p:sp>
      <p:sp>
        <p:nvSpPr>
          <p:cNvPr id="33" name="object 33" descr=""/>
          <p:cNvSpPr txBox="1"/>
          <p:nvPr/>
        </p:nvSpPr>
        <p:spPr>
          <a:xfrm>
            <a:off x="7239000" y="2421001"/>
            <a:ext cx="914400" cy="495300"/>
          </a:xfrm>
          <a:prstGeom prst="rect">
            <a:avLst/>
          </a:prstGeom>
          <a:solidFill>
            <a:srgbClr val="F8FBA1"/>
          </a:solidFill>
          <a:ln w="9525">
            <a:solidFill>
              <a:srgbClr val="40458B"/>
            </a:solidFill>
          </a:ln>
        </p:spPr>
        <p:txBody>
          <a:bodyPr wrap="square" lIns="0" tIns="145415" rIns="0" bIns="0" rtlCol="0" vert="horz">
            <a:spAutoFit/>
          </a:bodyPr>
          <a:lstStyle/>
          <a:p>
            <a:pPr marL="264795">
              <a:lnSpc>
                <a:spcPct val="100000"/>
              </a:lnSpc>
              <a:spcBef>
                <a:spcPts val="1145"/>
              </a:spcBef>
            </a:pPr>
            <a:r>
              <a:rPr dirty="0" sz="2000" spc="-25" b="1">
                <a:solidFill>
                  <a:srgbClr val="40458B"/>
                </a:solidFill>
                <a:latin typeface="宋体"/>
                <a:cs typeface="宋体"/>
              </a:rPr>
              <a:t>Qj</a:t>
            </a:r>
            <a:endParaRPr sz="2000">
              <a:latin typeface="宋体"/>
              <a:cs typeface="宋体"/>
            </a:endParaRPr>
          </a:p>
        </p:txBody>
      </p:sp>
      <p:sp>
        <p:nvSpPr>
          <p:cNvPr id="34" name="object 34" descr=""/>
          <p:cNvSpPr txBox="1"/>
          <p:nvPr/>
        </p:nvSpPr>
        <p:spPr>
          <a:xfrm>
            <a:off x="7239000" y="2916301"/>
            <a:ext cx="914400" cy="390525"/>
          </a:xfrm>
          <a:prstGeom prst="rect">
            <a:avLst/>
          </a:prstGeom>
          <a:solidFill>
            <a:srgbClr val="F8FBA1"/>
          </a:solidFill>
          <a:ln w="9525">
            <a:solidFill>
              <a:srgbClr val="40458B"/>
            </a:solidFill>
          </a:ln>
        </p:spPr>
        <p:txBody>
          <a:bodyPr wrap="square" lIns="0" tIns="46990" rIns="0" bIns="0" rtlCol="0" vert="horz">
            <a:spAutoFit/>
          </a:bodyPr>
          <a:lstStyle/>
          <a:p>
            <a:pPr marL="292100">
              <a:lnSpc>
                <a:spcPct val="100000"/>
              </a:lnSpc>
              <a:spcBef>
                <a:spcPts val="370"/>
              </a:spcBef>
            </a:pPr>
            <a:r>
              <a:rPr dirty="0" sz="2000" spc="-50" b="1">
                <a:solidFill>
                  <a:srgbClr val="40458B"/>
                </a:solidFill>
                <a:latin typeface="宋体"/>
                <a:cs typeface="宋体"/>
              </a:rPr>
              <a:t>0</a:t>
            </a:r>
            <a:endParaRPr sz="2000">
              <a:latin typeface="宋体"/>
              <a:cs typeface="宋体"/>
            </a:endParaRPr>
          </a:p>
        </p:txBody>
      </p:sp>
      <p:sp>
        <p:nvSpPr>
          <p:cNvPr id="35" name="object 35" descr=""/>
          <p:cNvSpPr txBox="1"/>
          <p:nvPr/>
        </p:nvSpPr>
        <p:spPr>
          <a:xfrm>
            <a:off x="8153400" y="2421001"/>
            <a:ext cx="914400" cy="495300"/>
          </a:xfrm>
          <a:prstGeom prst="rect">
            <a:avLst/>
          </a:prstGeom>
          <a:solidFill>
            <a:srgbClr val="F8FBA1"/>
          </a:solidFill>
          <a:ln w="9525">
            <a:solidFill>
              <a:srgbClr val="40458B"/>
            </a:solidFill>
          </a:ln>
        </p:spPr>
        <p:txBody>
          <a:bodyPr wrap="square" lIns="0" tIns="137795" rIns="0" bIns="0" rtlCol="0" vert="horz">
            <a:spAutoFit/>
          </a:bodyPr>
          <a:lstStyle/>
          <a:p>
            <a:pPr algn="ctr" marL="15240">
              <a:lnSpc>
                <a:spcPct val="100000"/>
              </a:lnSpc>
              <a:spcBef>
                <a:spcPts val="1085"/>
              </a:spcBef>
            </a:pPr>
            <a:r>
              <a:rPr dirty="0" sz="2000" spc="-25" b="1">
                <a:solidFill>
                  <a:srgbClr val="40458B"/>
                </a:solidFill>
                <a:latin typeface="宋体"/>
                <a:cs typeface="宋体"/>
              </a:rPr>
              <a:t>Qk</a:t>
            </a:r>
            <a:endParaRPr sz="2000">
              <a:latin typeface="宋体"/>
              <a:cs typeface="宋体"/>
            </a:endParaRPr>
          </a:p>
        </p:txBody>
      </p:sp>
      <p:sp>
        <p:nvSpPr>
          <p:cNvPr id="36" name="object 36" descr=""/>
          <p:cNvSpPr txBox="1"/>
          <p:nvPr/>
        </p:nvSpPr>
        <p:spPr>
          <a:xfrm>
            <a:off x="8153400" y="2916301"/>
            <a:ext cx="914400" cy="390525"/>
          </a:xfrm>
          <a:prstGeom prst="rect">
            <a:avLst/>
          </a:prstGeom>
          <a:solidFill>
            <a:srgbClr val="F8FBA1"/>
          </a:solidFill>
          <a:ln w="9525">
            <a:solidFill>
              <a:srgbClr val="40458B"/>
            </a:solidFill>
          </a:ln>
        </p:spPr>
        <p:txBody>
          <a:bodyPr wrap="square" lIns="0" tIns="38735" rIns="0" bIns="0" rtlCol="0" vert="horz">
            <a:spAutoFit/>
          </a:bodyPr>
          <a:lstStyle/>
          <a:p>
            <a:pPr algn="ctr" marL="120650">
              <a:lnSpc>
                <a:spcPct val="100000"/>
              </a:lnSpc>
              <a:spcBef>
                <a:spcPts val="305"/>
              </a:spcBef>
            </a:pPr>
            <a:r>
              <a:rPr dirty="0" sz="2000" spc="-50" b="1">
                <a:solidFill>
                  <a:srgbClr val="40458B"/>
                </a:solidFill>
                <a:latin typeface="宋体"/>
                <a:cs typeface="宋体"/>
              </a:rPr>
              <a:t>0</a:t>
            </a:r>
            <a:endParaRPr sz="2000">
              <a:latin typeface="宋体"/>
              <a:cs typeface="宋体"/>
            </a:endParaRPr>
          </a:p>
        </p:txBody>
      </p:sp>
      <p:sp>
        <p:nvSpPr>
          <p:cNvPr id="37" name="object 37" descr=""/>
          <p:cNvSpPr txBox="1"/>
          <p:nvPr/>
        </p:nvSpPr>
        <p:spPr>
          <a:xfrm>
            <a:off x="9067800" y="2421001"/>
            <a:ext cx="1403350" cy="495300"/>
          </a:xfrm>
          <a:prstGeom prst="rect">
            <a:avLst/>
          </a:prstGeom>
          <a:solidFill>
            <a:srgbClr val="F8FBA1"/>
          </a:solidFill>
          <a:ln w="9525">
            <a:solidFill>
              <a:srgbClr val="40458B"/>
            </a:solidFill>
          </a:ln>
        </p:spPr>
        <p:txBody>
          <a:bodyPr wrap="square" lIns="0" tIns="154940" rIns="0" bIns="0" rtlCol="0" vert="horz">
            <a:spAutoFit/>
          </a:bodyPr>
          <a:lstStyle/>
          <a:p>
            <a:pPr marL="399415">
              <a:lnSpc>
                <a:spcPct val="100000"/>
              </a:lnSpc>
              <a:spcBef>
                <a:spcPts val="1220"/>
              </a:spcBef>
            </a:pPr>
            <a:r>
              <a:rPr dirty="0" sz="2000" spc="-50" b="1">
                <a:solidFill>
                  <a:srgbClr val="40458B"/>
                </a:solidFill>
                <a:latin typeface="宋体"/>
                <a:cs typeface="宋体"/>
              </a:rPr>
              <a:t>A</a:t>
            </a:r>
            <a:endParaRPr sz="2000">
              <a:latin typeface="宋体"/>
              <a:cs typeface="宋体"/>
            </a:endParaRPr>
          </a:p>
        </p:txBody>
      </p:sp>
      <p:grpSp>
        <p:nvGrpSpPr>
          <p:cNvPr id="38" name="object 38" descr=""/>
          <p:cNvGrpSpPr/>
          <p:nvPr/>
        </p:nvGrpSpPr>
        <p:grpSpPr>
          <a:xfrm>
            <a:off x="1665287" y="1882838"/>
            <a:ext cx="8861425" cy="4010025"/>
            <a:chOff x="1665287" y="1882838"/>
            <a:chExt cx="8861425" cy="4010025"/>
          </a:xfrm>
        </p:grpSpPr>
        <p:sp>
          <p:nvSpPr>
            <p:cNvPr id="39" name="object 39" descr=""/>
            <p:cNvSpPr/>
            <p:nvPr/>
          </p:nvSpPr>
          <p:spPr>
            <a:xfrm>
              <a:off x="1670050" y="1887601"/>
              <a:ext cx="8851900" cy="4000500"/>
            </a:xfrm>
            <a:custGeom>
              <a:avLst/>
              <a:gdLst/>
              <a:ahLst/>
              <a:cxnLst/>
              <a:rect l="l" t="t" r="r" b="b"/>
              <a:pathLst>
                <a:path w="8851900" h="4000500">
                  <a:moveTo>
                    <a:pt x="0" y="1028700"/>
                  </a:moveTo>
                  <a:lnTo>
                    <a:pt x="8839200" y="1028700"/>
                  </a:lnTo>
                </a:path>
                <a:path w="8851900" h="4000500">
                  <a:moveTo>
                    <a:pt x="920750" y="0"/>
                  </a:moveTo>
                  <a:lnTo>
                    <a:pt x="920750" y="3962336"/>
                  </a:lnTo>
                </a:path>
                <a:path w="8851900" h="4000500">
                  <a:moveTo>
                    <a:pt x="1854200" y="533400"/>
                  </a:moveTo>
                  <a:lnTo>
                    <a:pt x="1854200" y="3962336"/>
                  </a:lnTo>
                </a:path>
                <a:path w="8851900" h="4000500">
                  <a:moveTo>
                    <a:pt x="2673350" y="533400"/>
                  </a:moveTo>
                  <a:lnTo>
                    <a:pt x="2673350" y="3962336"/>
                  </a:lnTo>
                </a:path>
                <a:path w="8851900" h="4000500">
                  <a:moveTo>
                    <a:pt x="3562350" y="571500"/>
                  </a:moveTo>
                  <a:lnTo>
                    <a:pt x="3562350" y="4000436"/>
                  </a:lnTo>
                </a:path>
                <a:path w="8851900" h="4000500">
                  <a:moveTo>
                    <a:pt x="5568950" y="533400"/>
                  </a:moveTo>
                  <a:lnTo>
                    <a:pt x="5568950" y="3962336"/>
                  </a:lnTo>
                </a:path>
                <a:path w="8851900" h="4000500">
                  <a:moveTo>
                    <a:pt x="6483350" y="533400"/>
                  </a:moveTo>
                  <a:lnTo>
                    <a:pt x="6483350" y="2117725"/>
                  </a:lnTo>
                </a:path>
                <a:path w="8851900" h="4000500">
                  <a:moveTo>
                    <a:pt x="7397750" y="533400"/>
                  </a:moveTo>
                  <a:lnTo>
                    <a:pt x="7397750" y="2117725"/>
                  </a:lnTo>
                </a:path>
                <a:path w="8851900" h="4000500">
                  <a:moveTo>
                    <a:pt x="6350" y="1419225"/>
                  </a:moveTo>
                  <a:lnTo>
                    <a:pt x="8845550" y="1419225"/>
                  </a:lnTo>
                </a:path>
                <a:path w="8851900" h="4000500">
                  <a:moveTo>
                    <a:pt x="12700" y="1823974"/>
                  </a:moveTo>
                  <a:lnTo>
                    <a:pt x="8851900" y="1823974"/>
                  </a:lnTo>
                </a:path>
                <a:path w="8851900" h="4000500">
                  <a:moveTo>
                    <a:pt x="6350" y="2200275"/>
                  </a:moveTo>
                  <a:lnTo>
                    <a:pt x="5865876" y="2200275"/>
                  </a:lnTo>
                </a:path>
                <a:path w="8851900" h="4000500">
                  <a:moveTo>
                    <a:pt x="6350" y="2624074"/>
                  </a:moveTo>
                  <a:lnTo>
                    <a:pt x="5865876" y="2624074"/>
                  </a:lnTo>
                </a:path>
              </a:pathLst>
            </a:custGeom>
            <a:ln w="9525">
              <a:solidFill>
                <a:srgbClr val="40458B"/>
              </a:solidFill>
            </a:ln>
          </p:spPr>
          <p:txBody>
            <a:bodyPr wrap="square" lIns="0" tIns="0" rIns="0" bIns="0" rtlCol="0"/>
            <a:lstStyle/>
            <a:p/>
          </p:txBody>
        </p:sp>
        <p:sp>
          <p:nvSpPr>
            <p:cNvPr id="40" name="object 40" descr=""/>
            <p:cNvSpPr/>
            <p:nvPr/>
          </p:nvSpPr>
          <p:spPr>
            <a:xfrm>
              <a:off x="1676400" y="4935537"/>
              <a:ext cx="5859780" cy="0"/>
            </a:xfrm>
            <a:custGeom>
              <a:avLst/>
              <a:gdLst/>
              <a:ahLst/>
              <a:cxnLst/>
              <a:rect l="l" t="t" r="r" b="b"/>
              <a:pathLst>
                <a:path w="5859780" h="0">
                  <a:moveTo>
                    <a:pt x="0" y="0"/>
                  </a:moveTo>
                  <a:lnTo>
                    <a:pt x="5859526" y="0"/>
                  </a:lnTo>
                </a:path>
              </a:pathLst>
            </a:custGeom>
            <a:ln w="9651">
              <a:solidFill>
                <a:srgbClr val="40458B"/>
              </a:solidFill>
            </a:ln>
          </p:spPr>
          <p:txBody>
            <a:bodyPr wrap="square" lIns="0" tIns="0" rIns="0" bIns="0" rtlCol="0"/>
            <a:lstStyle/>
            <a:p/>
          </p:txBody>
        </p:sp>
        <p:sp>
          <p:nvSpPr>
            <p:cNvPr id="41" name="object 41" descr=""/>
            <p:cNvSpPr/>
            <p:nvPr/>
          </p:nvSpPr>
          <p:spPr>
            <a:xfrm>
              <a:off x="1682750" y="5332476"/>
              <a:ext cx="5853430" cy="0"/>
            </a:xfrm>
            <a:custGeom>
              <a:avLst/>
              <a:gdLst/>
              <a:ahLst/>
              <a:cxnLst/>
              <a:rect l="l" t="t" r="r" b="b"/>
              <a:pathLst>
                <a:path w="5853430" h="0">
                  <a:moveTo>
                    <a:pt x="0" y="0"/>
                  </a:moveTo>
                  <a:lnTo>
                    <a:pt x="5853176" y="0"/>
                  </a:lnTo>
                </a:path>
              </a:pathLst>
            </a:custGeom>
            <a:ln w="9525">
              <a:solidFill>
                <a:srgbClr val="40458B"/>
              </a:solidFill>
            </a:ln>
          </p:spPr>
          <p:txBody>
            <a:bodyPr wrap="square" lIns="0" tIns="0" rIns="0" bIns="0" rtlCol="0"/>
            <a:lstStyle/>
            <a:p/>
          </p:txBody>
        </p:sp>
      </p:grpSp>
      <p:sp>
        <p:nvSpPr>
          <p:cNvPr id="42" name="object 42" descr=""/>
          <p:cNvSpPr txBox="1"/>
          <p:nvPr/>
        </p:nvSpPr>
        <p:spPr>
          <a:xfrm>
            <a:off x="3524250" y="2421001"/>
            <a:ext cx="819150" cy="495300"/>
          </a:xfrm>
          <a:prstGeom prst="rect">
            <a:avLst/>
          </a:prstGeom>
          <a:solidFill>
            <a:srgbClr val="F8FBA1"/>
          </a:solidFill>
          <a:ln w="9525">
            <a:solidFill>
              <a:srgbClr val="40458B"/>
            </a:solidFill>
          </a:ln>
        </p:spPr>
        <p:txBody>
          <a:bodyPr wrap="square" lIns="0" tIns="154940" rIns="0" bIns="0" rtlCol="0" vert="horz">
            <a:spAutoFit/>
          </a:bodyPr>
          <a:lstStyle/>
          <a:p>
            <a:pPr marL="245110">
              <a:lnSpc>
                <a:spcPct val="100000"/>
              </a:lnSpc>
              <a:spcBef>
                <a:spcPts val="1220"/>
              </a:spcBef>
            </a:pPr>
            <a:r>
              <a:rPr dirty="0" sz="2000" spc="-25" b="1">
                <a:solidFill>
                  <a:srgbClr val="40458B"/>
                </a:solidFill>
                <a:latin typeface="宋体"/>
                <a:cs typeface="宋体"/>
              </a:rPr>
              <a:t>Op</a:t>
            </a:r>
            <a:endParaRPr sz="2000">
              <a:latin typeface="宋体"/>
              <a:cs typeface="宋体"/>
            </a:endParaRPr>
          </a:p>
        </p:txBody>
      </p:sp>
      <p:sp>
        <p:nvSpPr>
          <p:cNvPr id="43" name="object 43" descr=""/>
          <p:cNvSpPr txBox="1"/>
          <p:nvPr/>
        </p:nvSpPr>
        <p:spPr>
          <a:xfrm>
            <a:off x="3732657" y="2959049"/>
            <a:ext cx="671830" cy="331470"/>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40458B"/>
                </a:solidFill>
                <a:latin typeface="宋体"/>
                <a:cs typeface="宋体"/>
              </a:rPr>
              <a:t>ADD.D</a:t>
            </a:r>
            <a:endParaRPr sz="2000">
              <a:latin typeface="宋体"/>
              <a:cs typeface="宋体"/>
            </a:endParaRPr>
          </a:p>
        </p:txBody>
      </p:sp>
      <p:sp>
        <p:nvSpPr>
          <p:cNvPr id="44" name="object 44" descr=""/>
          <p:cNvSpPr txBox="1"/>
          <p:nvPr/>
        </p:nvSpPr>
        <p:spPr>
          <a:xfrm>
            <a:off x="1602994" y="1049720"/>
            <a:ext cx="8453120" cy="901700"/>
          </a:xfrm>
          <a:prstGeom prst="rect">
            <a:avLst/>
          </a:prstGeom>
        </p:spPr>
        <p:txBody>
          <a:bodyPr wrap="square" lIns="0" tIns="85090" rIns="0" bIns="0" rtlCol="0" vert="horz">
            <a:spAutoFit/>
          </a:bodyPr>
          <a:lstStyle/>
          <a:p>
            <a:pPr marL="12700">
              <a:lnSpc>
                <a:spcPct val="100000"/>
              </a:lnSpc>
              <a:spcBef>
                <a:spcPts val="670"/>
              </a:spcBef>
              <a:tabLst>
                <a:tab pos="6671945" algn="l"/>
              </a:tabLst>
            </a:pPr>
            <a:r>
              <a:rPr dirty="0" sz="2400" spc="-10">
                <a:latin typeface="黑体"/>
                <a:cs typeface="黑体"/>
              </a:rPr>
              <a:t>第一个周</a:t>
            </a:r>
            <a:r>
              <a:rPr dirty="0" sz="2400">
                <a:latin typeface="黑体"/>
                <a:cs typeface="黑体"/>
              </a:rPr>
              <a:t>期</a:t>
            </a:r>
            <a:r>
              <a:rPr dirty="0" sz="2400" spc="-385">
                <a:latin typeface="黑体"/>
                <a:cs typeface="黑体"/>
              </a:rPr>
              <a:t> </a:t>
            </a:r>
            <a:r>
              <a:rPr dirty="0" sz="2400" spc="-10">
                <a:solidFill>
                  <a:srgbClr val="40458B"/>
                </a:solidFill>
                <a:latin typeface="黑体"/>
                <a:cs typeface="黑体"/>
              </a:rPr>
              <a:t>：指令流出后</a:t>
            </a:r>
            <a:r>
              <a:rPr dirty="0" sz="2400">
                <a:solidFill>
                  <a:srgbClr val="40458B"/>
                </a:solidFill>
                <a:latin typeface="黑体"/>
                <a:cs typeface="黑体"/>
              </a:rPr>
              <a:t>，</a:t>
            </a:r>
            <a:r>
              <a:rPr dirty="0" sz="2400" spc="-10">
                <a:solidFill>
                  <a:srgbClr val="FF0000"/>
                </a:solidFill>
                <a:latin typeface="黑体"/>
                <a:cs typeface="黑体"/>
              </a:rPr>
              <a:t>保留站情况</a:t>
            </a:r>
            <a:r>
              <a:rPr dirty="0" sz="2400" spc="-10">
                <a:solidFill>
                  <a:srgbClr val="40458B"/>
                </a:solidFill>
                <a:latin typeface="黑体"/>
                <a:cs typeface="黑体"/>
              </a:rPr>
              <a:t>，</a:t>
            </a:r>
            <a:r>
              <a:rPr dirty="0" sz="2400" spc="-10">
                <a:solidFill>
                  <a:srgbClr val="006FC0"/>
                </a:solidFill>
                <a:latin typeface="Tahoma"/>
                <a:cs typeface="Tahoma"/>
              </a:rPr>
              <a:t>ADD.D</a:t>
            </a:r>
            <a:r>
              <a:rPr dirty="0" sz="2400">
                <a:solidFill>
                  <a:srgbClr val="006FC0"/>
                </a:solidFill>
                <a:latin typeface="Tahoma"/>
                <a:cs typeface="Tahoma"/>
              </a:rPr>
              <a:t>	</a:t>
            </a:r>
            <a:r>
              <a:rPr dirty="0" sz="2400" spc="-10">
                <a:solidFill>
                  <a:srgbClr val="006FC0"/>
                </a:solidFill>
                <a:latin typeface="Tahoma"/>
                <a:cs typeface="Tahoma"/>
              </a:rPr>
              <a:t>F2,</a:t>
            </a:r>
            <a:r>
              <a:rPr dirty="0" sz="2400" spc="-10">
                <a:solidFill>
                  <a:srgbClr val="FF0000"/>
                </a:solidFill>
                <a:latin typeface="Tahoma"/>
                <a:cs typeface="Tahoma"/>
              </a:rPr>
              <a:t>F4</a:t>
            </a:r>
            <a:r>
              <a:rPr dirty="0" sz="2400" spc="-10">
                <a:solidFill>
                  <a:srgbClr val="006FC0"/>
                </a:solidFill>
                <a:latin typeface="Tahoma"/>
                <a:cs typeface="Tahoma"/>
              </a:rPr>
              <a:t>,F6</a:t>
            </a:r>
            <a:r>
              <a:rPr dirty="0" sz="2400" spc="-10">
                <a:solidFill>
                  <a:srgbClr val="006FC0"/>
                </a:solidFill>
                <a:latin typeface="黑体"/>
                <a:cs typeface="黑体"/>
              </a:rPr>
              <a:t>流</a:t>
            </a:r>
            <a:r>
              <a:rPr dirty="0" sz="2400" spc="-50">
                <a:solidFill>
                  <a:srgbClr val="006FC0"/>
                </a:solidFill>
                <a:latin typeface="黑体"/>
                <a:cs typeface="黑体"/>
              </a:rPr>
              <a:t>入</a:t>
            </a:r>
            <a:endParaRPr sz="2400">
              <a:latin typeface="黑体"/>
              <a:cs typeface="黑体"/>
            </a:endParaRPr>
          </a:p>
          <a:p>
            <a:pPr marL="5537200">
              <a:lnSpc>
                <a:spcPct val="100000"/>
              </a:lnSpc>
              <a:spcBef>
                <a:spcPts val="565"/>
              </a:spcBef>
              <a:tabLst>
                <a:tab pos="6614795" algn="l"/>
              </a:tabLst>
            </a:pPr>
            <a:r>
              <a:rPr dirty="0" sz="2400" spc="-10">
                <a:solidFill>
                  <a:srgbClr val="006FC0"/>
                </a:solidFill>
                <a:latin typeface="Tahoma"/>
                <a:cs typeface="Tahoma"/>
              </a:rPr>
              <a:t>MUL.D</a:t>
            </a:r>
            <a:r>
              <a:rPr dirty="0" sz="2400">
                <a:solidFill>
                  <a:srgbClr val="006FC0"/>
                </a:solidFill>
                <a:latin typeface="Tahoma"/>
                <a:cs typeface="Tahoma"/>
              </a:rPr>
              <a:t>	</a:t>
            </a:r>
            <a:r>
              <a:rPr dirty="0" sz="2400" spc="-10">
                <a:solidFill>
                  <a:srgbClr val="FF0000"/>
                </a:solidFill>
                <a:latin typeface="Tahoma"/>
                <a:cs typeface="Tahoma"/>
              </a:rPr>
              <a:t>F4</a:t>
            </a:r>
            <a:r>
              <a:rPr dirty="0" sz="2400" spc="-10">
                <a:solidFill>
                  <a:srgbClr val="006FC0"/>
                </a:solidFill>
                <a:latin typeface="Tahoma"/>
                <a:cs typeface="Tahoma"/>
              </a:rPr>
              <a:t>,F0,F10</a:t>
            </a:r>
            <a:endParaRPr sz="2400">
              <a:latin typeface="Tahoma"/>
              <a:cs typeface="Tahoma"/>
            </a:endParaRPr>
          </a:p>
        </p:txBody>
      </p:sp>
      <p:grpSp>
        <p:nvGrpSpPr>
          <p:cNvPr id="45" name="object 45" descr=""/>
          <p:cNvGrpSpPr/>
          <p:nvPr/>
        </p:nvGrpSpPr>
        <p:grpSpPr>
          <a:xfrm>
            <a:off x="4799266" y="3240087"/>
            <a:ext cx="6847205" cy="2752725"/>
            <a:chOff x="4799266" y="3240087"/>
            <a:chExt cx="6847205" cy="2752725"/>
          </a:xfrm>
        </p:grpSpPr>
        <p:sp>
          <p:nvSpPr>
            <p:cNvPr id="46" name="object 46" descr=""/>
            <p:cNvSpPr/>
            <p:nvPr/>
          </p:nvSpPr>
          <p:spPr>
            <a:xfrm>
              <a:off x="7535925" y="4005326"/>
              <a:ext cx="4105275" cy="1983105"/>
            </a:xfrm>
            <a:custGeom>
              <a:avLst/>
              <a:gdLst/>
              <a:ahLst/>
              <a:cxnLst/>
              <a:rect l="l" t="t" r="r" b="b"/>
              <a:pathLst>
                <a:path w="4105275" h="1983104">
                  <a:moveTo>
                    <a:pt x="4105275" y="0"/>
                  </a:moveTo>
                  <a:lnTo>
                    <a:pt x="0" y="0"/>
                  </a:lnTo>
                  <a:lnTo>
                    <a:pt x="0" y="1982724"/>
                  </a:lnTo>
                  <a:lnTo>
                    <a:pt x="4105275" y="1982724"/>
                  </a:lnTo>
                  <a:lnTo>
                    <a:pt x="4105275" y="0"/>
                  </a:lnTo>
                  <a:close/>
                </a:path>
              </a:pathLst>
            </a:custGeom>
            <a:solidFill>
              <a:srgbClr val="FFACFF"/>
            </a:solidFill>
          </p:spPr>
          <p:txBody>
            <a:bodyPr wrap="square" lIns="0" tIns="0" rIns="0" bIns="0" rtlCol="0"/>
            <a:lstStyle/>
            <a:p/>
          </p:txBody>
        </p:sp>
        <p:sp>
          <p:nvSpPr>
            <p:cNvPr id="47" name="object 47" descr=""/>
            <p:cNvSpPr/>
            <p:nvPr/>
          </p:nvSpPr>
          <p:spPr>
            <a:xfrm>
              <a:off x="4804028" y="3244850"/>
              <a:ext cx="6837680" cy="2743200"/>
            </a:xfrm>
            <a:custGeom>
              <a:avLst/>
              <a:gdLst/>
              <a:ahLst/>
              <a:cxnLst/>
              <a:rect l="l" t="t" r="r" b="b"/>
              <a:pathLst>
                <a:path w="6837680" h="2743200">
                  <a:moveTo>
                    <a:pt x="2731897" y="2743200"/>
                  </a:moveTo>
                  <a:lnTo>
                    <a:pt x="6837172" y="2743200"/>
                  </a:lnTo>
                  <a:lnTo>
                    <a:pt x="6837172" y="760476"/>
                  </a:lnTo>
                  <a:lnTo>
                    <a:pt x="2731897" y="760476"/>
                  </a:lnTo>
                  <a:lnTo>
                    <a:pt x="2731897" y="2743200"/>
                  </a:lnTo>
                  <a:close/>
                </a:path>
                <a:path w="6837680" h="2743200">
                  <a:moveTo>
                    <a:pt x="2389759" y="760349"/>
                  </a:moveTo>
                  <a:lnTo>
                    <a:pt x="2389759" y="2743200"/>
                  </a:lnTo>
                </a:path>
                <a:path w="6837680" h="2743200">
                  <a:moveTo>
                    <a:pt x="2389759" y="1132205"/>
                  </a:moveTo>
                  <a:lnTo>
                    <a:pt x="0" y="0"/>
                  </a:lnTo>
                </a:path>
              </a:pathLst>
            </a:custGeom>
            <a:ln w="9525">
              <a:solidFill>
                <a:srgbClr val="40458B"/>
              </a:solidFill>
            </a:ln>
          </p:spPr>
          <p:txBody>
            <a:bodyPr wrap="square" lIns="0" tIns="0" rIns="0" bIns="0" rtlCol="0"/>
            <a:lstStyle/>
            <a:p/>
          </p:txBody>
        </p:sp>
      </p:grpSp>
      <p:sp>
        <p:nvSpPr>
          <p:cNvPr id="48" name="object 48" descr=""/>
          <p:cNvSpPr txBox="1"/>
          <p:nvPr/>
        </p:nvSpPr>
        <p:spPr>
          <a:xfrm>
            <a:off x="7615555" y="4039361"/>
            <a:ext cx="3985260" cy="1489075"/>
          </a:xfrm>
          <a:prstGeom prst="rect">
            <a:avLst/>
          </a:prstGeom>
        </p:spPr>
        <p:txBody>
          <a:bodyPr wrap="square" lIns="0" tIns="12700" rIns="0" bIns="0" rtlCol="0" vert="horz">
            <a:spAutoFit/>
          </a:bodyPr>
          <a:lstStyle/>
          <a:p>
            <a:pPr marL="12700" marR="5080">
              <a:lnSpc>
                <a:spcPct val="100000"/>
              </a:lnSpc>
              <a:spcBef>
                <a:spcPts val="100"/>
              </a:spcBef>
            </a:pPr>
            <a:r>
              <a:rPr dirty="0" sz="2400">
                <a:solidFill>
                  <a:srgbClr val="40458B"/>
                </a:solidFill>
                <a:latin typeface="黑体"/>
                <a:cs typeface="黑体"/>
              </a:rPr>
              <a:t>此时</a:t>
            </a:r>
            <a:r>
              <a:rPr dirty="0" sz="2400" spc="-25">
                <a:solidFill>
                  <a:srgbClr val="40458B"/>
                </a:solidFill>
                <a:latin typeface="Tahoma"/>
                <a:cs typeface="Tahoma"/>
              </a:rPr>
              <a:t>F4</a:t>
            </a:r>
            <a:r>
              <a:rPr dirty="0" sz="2400" spc="-5">
                <a:solidFill>
                  <a:srgbClr val="40458B"/>
                </a:solidFill>
                <a:latin typeface="黑体"/>
                <a:cs typeface="黑体"/>
              </a:rPr>
              <a:t>的值来自</a:t>
            </a:r>
            <a:r>
              <a:rPr dirty="0" sz="2400" spc="-25">
                <a:solidFill>
                  <a:srgbClr val="40458B"/>
                </a:solidFill>
                <a:latin typeface="Tahoma"/>
                <a:cs typeface="Tahoma"/>
              </a:rPr>
              <a:t>FP</a:t>
            </a:r>
            <a:r>
              <a:rPr dirty="0" sz="2400" spc="-15">
                <a:solidFill>
                  <a:srgbClr val="40458B"/>
                </a:solidFill>
                <a:latin typeface="黑体"/>
                <a:cs typeface="黑体"/>
              </a:rPr>
              <a:t>寄存组，</a:t>
            </a:r>
            <a:r>
              <a:rPr dirty="0" sz="2400">
                <a:solidFill>
                  <a:srgbClr val="40458B"/>
                </a:solidFill>
                <a:latin typeface="黑体"/>
                <a:cs typeface="黑体"/>
              </a:rPr>
              <a:t>将</a:t>
            </a:r>
            <a:r>
              <a:rPr dirty="0" sz="2400" spc="-25">
                <a:solidFill>
                  <a:srgbClr val="40458B"/>
                </a:solidFill>
                <a:latin typeface="Tahoma"/>
                <a:cs typeface="Tahoma"/>
              </a:rPr>
              <a:t>F4</a:t>
            </a:r>
            <a:r>
              <a:rPr dirty="0" sz="2400">
                <a:solidFill>
                  <a:srgbClr val="40458B"/>
                </a:solidFill>
                <a:latin typeface="黑体"/>
                <a:cs typeface="黑体"/>
              </a:rPr>
              <a:t>的数值</a:t>
            </a:r>
            <a:r>
              <a:rPr dirty="0" sz="2400" spc="-25">
                <a:solidFill>
                  <a:srgbClr val="40458B"/>
                </a:solidFill>
                <a:latin typeface="Tahoma"/>
                <a:cs typeface="Tahoma"/>
              </a:rPr>
              <a:t>4</a:t>
            </a:r>
            <a:r>
              <a:rPr dirty="0" sz="2400">
                <a:solidFill>
                  <a:srgbClr val="40458B"/>
                </a:solidFill>
                <a:latin typeface="黑体"/>
                <a:cs typeface="黑体"/>
              </a:rPr>
              <a:t>传输到</a:t>
            </a:r>
            <a:r>
              <a:rPr dirty="0" sz="2400" spc="-20">
                <a:solidFill>
                  <a:srgbClr val="40458B"/>
                </a:solidFill>
                <a:latin typeface="Tahoma"/>
                <a:cs typeface="Tahoma"/>
              </a:rPr>
              <a:t>Vj</a:t>
            </a:r>
            <a:r>
              <a:rPr dirty="0" sz="2400" spc="-25">
                <a:solidFill>
                  <a:srgbClr val="40458B"/>
                </a:solidFill>
                <a:latin typeface="黑体"/>
                <a:cs typeface="黑体"/>
              </a:rPr>
              <a:t>，此时</a:t>
            </a:r>
            <a:r>
              <a:rPr dirty="0" sz="2400" spc="-50">
                <a:solidFill>
                  <a:srgbClr val="40458B"/>
                </a:solidFill>
                <a:latin typeface="黑体"/>
                <a:cs typeface="黑体"/>
              </a:rPr>
              <a:t> </a:t>
            </a:r>
            <a:r>
              <a:rPr dirty="0" sz="2400" spc="-10">
                <a:solidFill>
                  <a:srgbClr val="40458B"/>
                </a:solidFill>
                <a:latin typeface="Tahoma"/>
                <a:cs typeface="Tahoma"/>
              </a:rPr>
              <a:t>F4</a:t>
            </a:r>
            <a:r>
              <a:rPr dirty="0" sz="2400" spc="-10">
                <a:solidFill>
                  <a:srgbClr val="40458B"/>
                </a:solidFill>
                <a:latin typeface="黑体"/>
                <a:cs typeface="黑体"/>
              </a:rPr>
              <a:t>已经换名为</a:t>
            </a:r>
            <a:r>
              <a:rPr dirty="0" sz="2400" spc="-20">
                <a:solidFill>
                  <a:srgbClr val="40458B"/>
                </a:solidFill>
                <a:latin typeface="Tahoma"/>
                <a:cs typeface="Tahoma"/>
              </a:rPr>
              <a:t>Vj</a:t>
            </a:r>
            <a:r>
              <a:rPr dirty="0" sz="2400" spc="-20">
                <a:solidFill>
                  <a:srgbClr val="40458B"/>
                </a:solidFill>
                <a:latin typeface="黑体"/>
                <a:cs typeface="黑体"/>
              </a:rPr>
              <a:t>，即</a:t>
            </a:r>
            <a:r>
              <a:rPr dirty="0" sz="2400" spc="-10">
                <a:solidFill>
                  <a:srgbClr val="40458B"/>
                </a:solidFill>
                <a:latin typeface="Tahoma"/>
                <a:cs typeface="Tahoma"/>
              </a:rPr>
              <a:t>ADD</a:t>
            </a:r>
            <a:r>
              <a:rPr dirty="0" sz="2400" spc="-25">
                <a:solidFill>
                  <a:srgbClr val="40458B"/>
                </a:solidFill>
                <a:latin typeface="黑体"/>
                <a:cs typeface="黑体"/>
              </a:rPr>
              <a:t>指令</a:t>
            </a:r>
            <a:r>
              <a:rPr dirty="0" sz="2400">
                <a:solidFill>
                  <a:srgbClr val="40458B"/>
                </a:solidFill>
                <a:latin typeface="黑体"/>
                <a:cs typeface="黑体"/>
              </a:rPr>
              <a:t>与</a:t>
            </a:r>
            <a:r>
              <a:rPr dirty="0" sz="2400" spc="-25">
                <a:solidFill>
                  <a:srgbClr val="40458B"/>
                </a:solidFill>
                <a:latin typeface="Tahoma"/>
                <a:cs typeface="Tahoma"/>
              </a:rPr>
              <a:t>F4</a:t>
            </a:r>
            <a:r>
              <a:rPr dirty="0" sz="2400">
                <a:solidFill>
                  <a:srgbClr val="40458B"/>
                </a:solidFill>
                <a:latin typeface="黑体"/>
                <a:cs typeface="黑体"/>
              </a:rPr>
              <a:t>无关，也即与</a:t>
            </a:r>
            <a:r>
              <a:rPr dirty="0" sz="2400" spc="-25">
                <a:solidFill>
                  <a:srgbClr val="40458B"/>
                </a:solidFill>
                <a:latin typeface="Tahoma"/>
                <a:cs typeface="Tahoma"/>
              </a:rPr>
              <a:t>MUL</a:t>
            </a:r>
            <a:r>
              <a:rPr dirty="0" sz="2400" spc="-20">
                <a:solidFill>
                  <a:srgbClr val="40458B"/>
                </a:solidFill>
                <a:latin typeface="黑体"/>
                <a:cs typeface="黑体"/>
              </a:rPr>
              <a:t>的冲突</a:t>
            </a:r>
            <a:endParaRPr sz="2400">
              <a:latin typeface="黑体"/>
              <a:cs typeface="黑体"/>
            </a:endParaRPr>
          </a:p>
        </p:txBody>
      </p:sp>
      <p:sp>
        <p:nvSpPr>
          <p:cNvPr id="49" name="object 49" descr=""/>
          <p:cNvSpPr txBox="1"/>
          <p:nvPr/>
        </p:nvSpPr>
        <p:spPr>
          <a:xfrm>
            <a:off x="7615555" y="5502655"/>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不存在</a:t>
            </a:r>
            <a:endParaRPr sz="2400">
              <a:latin typeface="黑体"/>
              <a:cs typeface="黑体"/>
            </a:endParaRPr>
          </a:p>
        </p:txBody>
      </p:sp>
      <p:pic>
        <p:nvPicPr>
          <p:cNvPr id="50" name="object 50" descr=""/>
          <p:cNvPicPr/>
          <p:nvPr/>
        </p:nvPicPr>
        <p:blipFill>
          <a:blip r:embed="rId2" cstate="print"/>
          <a:stretch>
            <a:fillRect/>
          </a:stretch>
        </p:blipFill>
        <p:spPr>
          <a:xfrm>
            <a:off x="407987" y="4503801"/>
            <a:ext cx="6851650" cy="1360424"/>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101/175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774293" y="1008831"/>
            <a:ext cx="10893425" cy="3376295"/>
          </a:xfrm>
          <a:prstGeom prst="rect">
            <a:avLst/>
          </a:prstGeom>
        </p:spPr>
        <p:txBody>
          <a:bodyPr wrap="square" lIns="0" tIns="158115" rIns="0" bIns="0" rtlCol="0" vert="horz">
            <a:spAutoFit/>
          </a:bodyPr>
          <a:lstStyle/>
          <a:p>
            <a:pPr marL="12700">
              <a:lnSpc>
                <a:spcPct val="100000"/>
              </a:lnSpc>
              <a:spcBef>
                <a:spcPts val="1245"/>
              </a:spcBef>
            </a:pPr>
            <a:r>
              <a:rPr dirty="0" sz="2400">
                <a:solidFill>
                  <a:srgbClr val="001F5F"/>
                </a:solidFill>
                <a:latin typeface="黑体"/>
                <a:cs typeface="黑体"/>
              </a:rPr>
              <a:t>Tomasulo</a:t>
            </a:r>
            <a:r>
              <a:rPr dirty="0" sz="2400" spc="-5">
                <a:solidFill>
                  <a:srgbClr val="001F5F"/>
                </a:solidFill>
                <a:latin typeface="黑体"/>
                <a:cs typeface="黑体"/>
              </a:rPr>
              <a:t>算法具有两个主要的优点：</a:t>
            </a:r>
            <a:endParaRPr sz="2400">
              <a:latin typeface="黑体"/>
              <a:cs typeface="黑体"/>
            </a:endParaRPr>
          </a:p>
          <a:p>
            <a:pPr marL="1099185" indent="-457200">
              <a:lnSpc>
                <a:spcPct val="100000"/>
              </a:lnSpc>
              <a:spcBef>
                <a:spcPts val="1155"/>
              </a:spcBef>
              <a:buSzPct val="89583"/>
              <a:buFont typeface="Wingdings"/>
              <a:buChar char=""/>
              <a:tabLst>
                <a:tab pos="1099185" algn="l"/>
              </a:tabLst>
            </a:pPr>
            <a:r>
              <a:rPr dirty="0" sz="2400" spc="-10">
                <a:solidFill>
                  <a:srgbClr val="40458B"/>
                </a:solidFill>
                <a:latin typeface="黑体"/>
                <a:cs typeface="黑体"/>
              </a:rPr>
              <a:t>冲突检测逻辑是分布的（冲突的检测由硬件完成</a:t>
            </a:r>
            <a:r>
              <a:rPr dirty="0" sz="2400" spc="-50">
                <a:solidFill>
                  <a:srgbClr val="40458B"/>
                </a:solidFill>
                <a:latin typeface="黑体"/>
                <a:cs typeface="黑体"/>
              </a:rPr>
              <a:t>）</a:t>
            </a:r>
            <a:endParaRPr sz="2400">
              <a:latin typeface="黑体"/>
              <a:cs typeface="黑体"/>
            </a:endParaRPr>
          </a:p>
          <a:p>
            <a:pPr marL="1306195">
              <a:lnSpc>
                <a:spcPct val="100000"/>
              </a:lnSpc>
              <a:spcBef>
                <a:spcPts val="1090"/>
              </a:spcBef>
            </a:pPr>
            <a:r>
              <a:rPr dirty="0" sz="2200" spc="-20" b="1">
                <a:solidFill>
                  <a:srgbClr val="9966FF"/>
                </a:solidFill>
                <a:latin typeface="宋体"/>
                <a:cs typeface="宋体"/>
              </a:rPr>
              <a:t>（通过</a:t>
            </a:r>
            <a:r>
              <a:rPr dirty="0" sz="2200" spc="-25" b="1">
                <a:solidFill>
                  <a:srgbClr val="D50092"/>
                </a:solidFill>
                <a:latin typeface="宋体"/>
                <a:cs typeface="宋体"/>
              </a:rPr>
              <a:t>保留站</a:t>
            </a:r>
            <a:r>
              <a:rPr dirty="0" sz="2200" spc="-20" b="1">
                <a:solidFill>
                  <a:srgbClr val="9966FF"/>
                </a:solidFill>
                <a:latin typeface="宋体"/>
                <a:cs typeface="宋体"/>
              </a:rPr>
              <a:t>和</a:t>
            </a:r>
            <a:r>
              <a:rPr dirty="0" sz="2200" spc="-10" b="1">
                <a:solidFill>
                  <a:srgbClr val="D50092"/>
                </a:solidFill>
                <a:latin typeface="宋体"/>
                <a:cs typeface="宋体"/>
              </a:rPr>
              <a:t>CDB</a:t>
            </a:r>
            <a:r>
              <a:rPr dirty="0" sz="2200" spc="-20" b="1">
                <a:solidFill>
                  <a:srgbClr val="9966FF"/>
                </a:solidFill>
                <a:latin typeface="宋体"/>
                <a:cs typeface="宋体"/>
              </a:rPr>
              <a:t>实现</a:t>
            </a:r>
            <a:r>
              <a:rPr dirty="0" sz="2200" spc="-50" b="1">
                <a:solidFill>
                  <a:srgbClr val="9966FF"/>
                </a:solidFill>
                <a:latin typeface="宋体"/>
                <a:cs typeface="宋体"/>
              </a:rPr>
              <a:t>）</a:t>
            </a:r>
            <a:endParaRPr sz="2200">
              <a:latin typeface="宋体"/>
              <a:cs typeface="宋体"/>
            </a:endParaRPr>
          </a:p>
          <a:p>
            <a:pPr marL="1056005" indent="-456565">
              <a:lnSpc>
                <a:spcPct val="100000"/>
              </a:lnSpc>
              <a:spcBef>
                <a:spcPts val="1055"/>
              </a:spcBef>
              <a:buClr>
                <a:srgbClr val="4668F5"/>
              </a:buClr>
              <a:buSzPct val="68181"/>
              <a:buFont typeface="Wingdings"/>
              <a:buChar char=""/>
              <a:tabLst>
                <a:tab pos="1056005" algn="l"/>
              </a:tabLst>
            </a:pPr>
            <a:r>
              <a:rPr dirty="0" sz="2200" spc="-25" b="1">
                <a:solidFill>
                  <a:srgbClr val="9966FF"/>
                </a:solidFill>
                <a:latin typeface="宋体"/>
                <a:cs typeface="宋体"/>
              </a:rPr>
              <a:t>如果有多条指令已经获得了一个操作数，并同时在等待同一运算结果，那么这个</a:t>
            </a:r>
            <a:endParaRPr sz="2200">
              <a:latin typeface="宋体"/>
              <a:cs typeface="宋体"/>
            </a:endParaRPr>
          </a:p>
          <a:p>
            <a:pPr marL="1056640">
              <a:lnSpc>
                <a:spcPct val="100000"/>
              </a:lnSpc>
              <a:spcBef>
                <a:spcPts val="530"/>
              </a:spcBef>
            </a:pPr>
            <a:r>
              <a:rPr dirty="0" sz="2200" spc="-25" b="1">
                <a:solidFill>
                  <a:srgbClr val="9966FF"/>
                </a:solidFill>
                <a:latin typeface="宋体"/>
                <a:cs typeface="宋体"/>
              </a:rPr>
              <a:t>结果一产生，就可以通过</a:t>
            </a:r>
            <a:r>
              <a:rPr dirty="0" sz="2200" spc="-10" b="1">
                <a:solidFill>
                  <a:srgbClr val="9933FF"/>
                </a:solidFill>
                <a:latin typeface="宋体"/>
                <a:cs typeface="宋体"/>
              </a:rPr>
              <a:t>CDB</a:t>
            </a:r>
            <a:r>
              <a:rPr dirty="0" sz="2200" spc="-30" b="1">
                <a:solidFill>
                  <a:srgbClr val="9966FF"/>
                </a:solidFill>
                <a:latin typeface="宋体"/>
                <a:cs typeface="宋体"/>
              </a:rPr>
              <a:t>同时播送给所有这些指令，使它们可以同时执行。</a:t>
            </a:r>
            <a:endParaRPr sz="2200">
              <a:latin typeface="宋体"/>
              <a:cs typeface="宋体"/>
            </a:endParaRPr>
          </a:p>
          <a:p>
            <a:pPr marL="1099185" indent="-457200">
              <a:lnSpc>
                <a:spcPct val="100000"/>
              </a:lnSpc>
              <a:spcBef>
                <a:spcPts val="1120"/>
              </a:spcBef>
              <a:buSzPct val="89583"/>
              <a:buFont typeface="Wingdings"/>
              <a:buChar char=""/>
              <a:tabLst>
                <a:tab pos="1099185" algn="l"/>
              </a:tabLst>
            </a:pPr>
            <a:r>
              <a:rPr dirty="0" sz="2400">
                <a:solidFill>
                  <a:srgbClr val="40458B"/>
                </a:solidFill>
                <a:latin typeface="黑体"/>
                <a:cs typeface="黑体"/>
              </a:rPr>
              <a:t>消除了</a:t>
            </a:r>
            <a:r>
              <a:rPr dirty="0" sz="2400">
                <a:solidFill>
                  <a:srgbClr val="9933FF"/>
                </a:solidFill>
                <a:latin typeface="黑体"/>
                <a:cs typeface="黑体"/>
              </a:rPr>
              <a:t>WAW</a:t>
            </a:r>
            <a:r>
              <a:rPr dirty="0" sz="2400">
                <a:solidFill>
                  <a:srgbClr val="40458B"/>
                </a:solidFill>
                <a:latin typeface="黑体"/>
                <a:cs typeface="黑体"/>
              </a:rPr>
              <a:t>冲突和</a:t>
            </a:r>
            <a:r>
              <a:rPr dirty="0" sz="2400">
                <a:solidFill>
                  <a:srgbClr val="9933FF"/>
                </a:solidFill>
                <a:latin typeface="黑体"/>
                <a:cs typeface="黑体"/>
              </a:rPr>
              <a:t>WAR</a:t>
            </a:r>
            <a:r>
              <a:rPr dirty="0" sz="2400" spc="-10">
                <a:solidFill>
                  <a:srgbClr val="40458B"/>
                </a:solidFill>
                <a:latin typeface="黑体"/>
                <a:cs typeface="黑体"/>
              </a:rPr>
              <a:t>冲突导致的停顿</a:t>
            </a:r>
            <a:endParaRPr sz="2400">
              <a:latin typeface="黑体"/>
              <a:cs typeface="黑体"/>
            </a:endParaRPr>
          </a:p>
          <a:p>
            <a:pPr marL="1176655">
              <a:lnSpc>
                <a:spcPct val="100000"/>
              </a:lnSpc>
              <a:spcBef>
                <a:spcPts val="1090"/>
              </a:spcBef>
            </a:pPr>
            <a:r>
              <a:rPr dirty="0" sz="2200" spc="-20" b="1">
                <a:solidFill>
                  <a:srgbClr val="9966FF"/>
                </a:solidFill>
                <a:latin typeface="宋体"/>
                <a:cs typeface="宋体"/>
              </a:rPr>
              <a:t>使用</a:t>
            </a:r>
            <a:r>
              <a:rPr dirty="0" sz="2200" spc="-20" b="1">
                <a:solidFill>
                  <a:srgbClr val="D50092"/>
                </a:solidFill>
                <a:latin typeface="宋体"/>
                <a:cs typeface="宋体"/>
              </a:rPr>
              <a:t>保留站</a:t>
            </a:r>
            <a:r>
              <a:rPr dirty="0" sz="2200" spc="-20" b="1">
                <a:solidFill>
                  <a:srgbClr val="9966FF"/>
                </a:solidFill>
                <a:latin typeface="宋体"/>
                <a:cs typeface="宋体"/>
              </a:rPr>
              <a:t>进行</a:t>
            </a:r>
            <a:r>
              <a:rPr dirty="0" sz="2200" spc="-20" b="1">
                <a:solidFill>
                  <a:srgbClr val="D50092"/>
                </a:solidFill>
                <a:latin typeface="宋体"/>
                <a:cs typeface="宋体"/>
              </a:rPr>
              <a:t>寄存器换名</a:t>
            </a:r>
            <a:r>
              <a:rPr dirty="0" sz="2200" spc="-25" b="1">
                <a:solidFill>
                  <a:srgbClr val="9966FF"/>
                </a:solidFill>
                <a:latin typeface="宋体"/>
                <a:cs typeface="宋体"/>
              </a:rPr>
              <a:t>，并且在操作数一旦就绪就将之放入保留站。</a:t>
            </a:r>
            <a:endParaRPr sz="2200">
              <a:latin typeface="宋体"/>
              <a:cs typeface="宋体"/>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102/175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782317" y="1315338"/>
            <a:ext cx="7842250" cy="3866515"/>
          </a:xfrm>
          <a:prstGeom prst="rect">
            <a:avLst/>
          </a:prstGeom>
        </p:spPr>
        <p:txBody>
          <a:bodyPr wrap="square" lIns="0" tIns="195580" rIns="0" bIns="0" rtlCol="0" vert="horz">
            <a:spAutoFit/>
          </a:bodyPr>
          <a:lstStyle/>
          <a:p>
            <a:pPr marL="166370">
              <a:lnSpc>
                <a:spcPct val="100000"/>
              </a:lnSpc>
              <a:spcBef>
                <a:spcPts val="1540"/>
              </a:spcBef>
            </a:pPr>
            <a:r>
              <a:rPr dirty="0" sz="2400" spc="-20" b="1">
                <a:solidFill>
                  <a:srgbClr val="001F5F"/>
                </a:solidFill>
                <a:latin typeface="宋体"/>
                <a:cs typeface="宋体"/>
              </a:rPr>
              <a:t>例</a:t>
            </a:r>
            <a:r>
              <a:rPr dirty="0" sz="2400" b="1">
                <a:solidFill>
                  <a:srgbClr val="001F5F"/>
                </a:solidFill>
                <a:latin typeface="宋体"/>
                <a:cs typeface="宋体"/>
              </a:rPr>
              <a:t>5.3</a:t>
            </a:r>
            <a:r>
              <a:rPr dirty="0" sz="2400" spc="90" b="1">
                <a:solidFill>
                  <a:srgbClr val="001F5F"/>
                </a:solidFill>
                <a:latin typeface="宋体"/>
                <a:cs typeface="宋体"/>
              </a:rPr>
              <a:t> </a:t>
            </a:r>
            <a:r>
              <a:rPr dirty="0" sz="2400" spc="-20" b="1">
                <a:latin typeface="宋体"/>
                <a:cs typeface="宋体"/>
              </a:rPr>
              <a:t>对于例5.2</a:t>
            </a:r>
            <a:r>
              <a:rPr dirty="0" sz="2400" spc="-25" b="1">
                <a:latin typeface="宋体"/>
                <a:cs typeface="宋体"/>
              </a:rPr>
              <a:t>中的代码，假设各种操作的延迟为：</a:t>
            </a:r>
            <a:endParaRPr sz="2400">
              <a:latin typeface="宋体"/>
              <a:cs typeface="宋体"/>
            </a:endParaRPr>
          </a:p>
          <a:p>
            <a:pPr marL="1551940" marR="3522345">
              <a:lnSpc>
                <a:spcPct val="150000"/>
              </a:lnSpc>
            </a:pPr>
            <a:r>
              <a:rPr dirty="0" sz="2400" spc="-20" b="1">
                <a:solidFill>
                  <a:srgbClr val="40458B"/>
                </a:solidFill>
                <a:latin typeface="宋体"/>
                <a:cs typeface="宋体"/>
              </a:rPr>
              <a:t>load：</a:t>
            </a:r>
            <a:r>
              <a:rPr dirty="0" sz="2400" spc="-20" b="1">
                <a:solidFill>
                  <a:srgbClr val="D50092"/>
                </a:solidFill>
                <a:latin typeface="宋体"/>
                <a:cs typeface="宋体"/>
              </a:rPr>
              <a:t>1</a:t>
            </a:r>
            <a:r>
              <a:rPr dirty="0" sz="2400" spc="-30" b="1">
                <a:solidFill>
                  <a:srgbClr val="40458B"/>
                </a:solidFill>
                <a:latin typeface="宋体"/>
                <a:cs typeface="宋体"/>
              </a:rPr>
              <a:t>个时钟周期</a:t>
            </a:r>
            <a:r>
              <a:rPr dirty="0" sz="2400" spc="-20" b="1">
                <a:solidFill>
                  <a:srgbClr val="40458B"/>
                </a:solidFill>
                <a:latin typeface="宋体"/>
                <a:cs typeface="宋体"/>
              </a:rPr>
              <a:t>加法：</a:t>
            </a:r>
            <a:r>
              <a:rPr dirty="0" sz="2400" spc="-20" b="1">
                <a:solidFill>
                  <a:srgbClr val="D50092"/>
                </a:solidFill>
                <a:latin typeface="宋体"/>
                <a:cs typeface="宋体"/>
              </a:rPr>
              <a:t>2</a:t>
            </a:r>
            <a:r>
              <a:rPr dirty="0" sz="2400" spc="-30" b="1">
                <a:solidFill>
                  <a:srgbClr val="40458B"/>
                </a:solidFill>
                <a:latin typeface="宋体"/>
                <a:cs typeface="宋体"/>
              </a:rPr>
              <a:t>个时钟周期</a:t>
            </a:r>
            <a:r>
              <a:rPr dirty="0" sz="2400" spc="-20" b="1">
                <a:solidFill>
                  <a:srgbClr val="40458B"/>
                </a:solidFill>
                <a:latin typeface="宋体"/>
                <a:cs typeface="宋体"/>
              </a:rPr>
              <a:t>乘法：</a:t>
            </a:r>
            <a:r>
              <a:rPr dirty="0" sz="2400" spc="-20" b="1">
                <a:solidFill>
                  <a:srgbClr val="D50092"/>
                </a:solidFill>
                <a:latin typeface="宋体"/>
                <a:cs typeface="宋体"/>
              </a:rPr>
              <a:t>10</a:t>
            </a:r>
            <a:r>
              <a:rPr dirty="0" sz="2400" spc="-30" b="1">
                <a:solidFill>
                  <a:srgbClr val="40458B"/>
                </a:solidFill>
                <a:latin typeface="宋体"/>
                <a:cs typeface="宋体"/>
              </a:rPr>
              <a:t>个时钟周期</a:t>
            </a:r>
            <a:r>
              <a:rPr dirty="0" sz="2400" spc="-20" b="1">
                <a:solidFill>
                  <a:srgbClr val="40458B"/>
                </a:solidFill>
                <a:latin typeface="宋体"/>
                <a:cs typeface="宋体"/>
              </a:rPr>
              <a:t>除法：</a:t>
            </a:r>
            <a:r>
              <a:rPr dirty="0" sz="2400" spc="-10" b="1">
                <a:solidFill>
                  <a:srgbClr val="D50092"/>
                </a:solidFill>
                <a:latin typeface="宋体"/>
                <a:cs typeface="宋体"/>
              </a:rPr>
              <a:t>40</a:t>
            </a:r>
            <a:r>
              <a:rPr dirty="0" sz="2400" spc="-30" b="1">
                <a:solidFill>
                  <a:srgbClr val="40458B"/>
                </a:solidFill>
                <a:latin typeface="宋体"/>
                <a:cs typeface="宋体"/>
              </a:rPr>
              <a:t>个时钟周期</a:t>
            </a:r>
            <a:endParaRPr sz="2400">
              <a:latin typeface="宋体"/>
              <a:cs typeface="宋体"/>
            </a:endParaRPr>
          </a:p>
          <a:p>
            <a:pPr marL="782320">
              <a:lnSpc>
                <a:spcPct val="100000"/>
              </a:lnSpc>
              <a:spcBef>
                <a:spcPts val="1440"/>
              </a:spcBef>
            </a:pPr>
            <a:r>
              <a:rPr dirty="0" sz="2400" spc="-20" b="1">
                <a:latin typeface="宋体"/>
                <a:cs typeface="宋体"/>
              </a:rPr>
              <a:t>给出</a:t>
            </a:r>
            <a:r>
              <a:rPr dirty="0" sz="2400" spc="-20" b="1">
                <a:solidFill>
                  <a:srgbClr val="D50092"/>
                </a:solidFill>
                <a:latin typeface="宋体"/>
                <a:cs typeface="宋体"/>
              </a:rPr>
              <a:t>MUL.D</a:t>
            </a:r>
            <a:r>
              <a:rPr dirty="0" sz="2400" spc="-25" b="1">
                <a:latin typeface="宋体"/>
                <a:cs typeface="宋体"/>
              </a:rPr>
              <a:t>指令准备写结果时各状态表的内容。</a:t>
            </a:r>
            <a:endParaRPr sz="2400">
              <a:latin typeface="宋体"/>
              <a:cs typeface="宋体"/>
            </a:endParaRPr>
          </a:p>
          <a:p>
            <a:pPr marL="12700">
              <a:lnSpc>
                <a:spcPct val="100000"/>
              </a:lnSpc>
              <a:spcBef>
                <a:spcPts val="1440"/>
              </a:spcBef>
              <a:tabLst>
                <a:tab pos="626745" algn="l"/>
              </a:tabLst>
            </a:pPr>
            <a:r>
              <a:rPr dirty="0" sz="2400" spc="-50" b="1">
                <a:solidFill>
                  <a:srgbClr val="001F5F"/>
                </a:solidFill>
                <a:latin typeface="宋体"/>
                <a:cs typeface="宋体"/>
              </a:rPr>
              <a:t>解</a:t>
            </a:r>
            <a:r>
              <a:rPr dirty="0" sz="2400" b="1">
                <a:solidFill>
                  <a:srgbClr val="001F5F"/>
                </a:solidFill>
                <a:latin typeface="宋体"/>
                <a:cs typeface="宋体"/>
              </a:rPr>
              <a:t>	</a:t>
            </a:r>
            <a:r>
              <a:rPr dirty="0" sz="2400" spc="-20" b="1">
                <a:latin typeface="宋体"/>
                <a:cs typeface="宋体"/>
              </a:rPr>
              <a:t>MUL.D指令准备写结果时各状态表的内容如下图所示</a:t>
            </a:r>
            <a:r>
              <a:rPr dirty="0" sz="2400" spc="-50" b="1">
                <a:latin typeface="宋体"/>
                <a:cs typeface="宋体"/>
              </a:rPr>
              <a:t>。</a:t>
            </a:r>
            <a:endParaRPr sz="2400">
              <a:latin typeface="宋体"/>
              <a:cs typeface="宋体"/>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103/175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graphicFrame>
        <p:nvGraphicFramePr>
          <p:cNvPr id="10" name="object 10" descr=""/>
          <p:cNvGraphicFramePr>
            <a:graphicFrameLocks noGrp="1"/>
          </p:cNvGraphicFramePr>
          <p:nvPr/>
        </p:nvGraphicFramePr>
        <p:xfrm>
          <a:off x="2586037" y="1408112"/>
          <a:ext cx="7172325" cy="4189095"/>
        </p:xfrm>
        <a:graphic>
          <a:graphicData uri="http://schemas.openxmlformats.org/drawingml/2006/table">
            <a:tbl>
              <a:tblPr firstRow="1" bandRow="1">
                <a:tableStyleId>{2D5ABB26-0587-4C30-8999-92F81FD0307C}</a:tableStyleId>
              </a:tblPr>
              <a:tblGrid>
                <a:gridCol w="1493520"/>
                <a:gridCol w="1964055"/>
                <a:gridCol w="1114425"/>
                <a:gridCol w="1066800"/>
                <a:gridCol w="1447800"/>
              </a:tblGrid>
              <a:tr h="594995">
                <a:tc rowSpan="2">
                  <a:txBody>
                    <a:bodyPr/>
                    <a:lstStyle/>
                    <a:p>
                      <a:pPr marL="701040">
                        <a:lnSpc>
                          <a:spcPct val="100000"/>
                        </a:lnSpc>
                        <a:spcBef>
                          <a:spcPts val="2440"/>
                        </a:spcBef>
                      </a:pPr>
                      <a:r>
                        <a:rPr dirty="0" sz="2400" spc="-50" b="1">
                          <a:solidFill>
                            <a:srgbClr val="E14B04"/>
                          </a:solidFill>
                          <a:latin typeface="宋体"/>
                          <a:cs typeface="宋体"/>
                        </a:rPr>
                        <a:t>指</a:t>
                      </a:r>
                      <a:endParaRPr sz="2400">
                        <a:latin typeface="宋体"/>
                        <a:cs typeface="宋体"/>
                      </a:endParaRPr>
                    </a:p>
                  </a:txBody>
                  <a:tcPr marL="0" marR="0" marB="0" marT="30988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rowSpan="2">
                  <a:txBody>
                    <a:bodyPr/>
                    <a:lstStyle/>
                    <a:p>
                      <a:pPr marL="437515">
                        <a:lnSpc>
                          <a:spcPct val="100000"/>
                        </a:lnSpc>
                        <a:spcBef>
                          <a:spcPts val="2440"/>
                        </a:spcBef>
                      </a:pPr>
                      <a:r>
                        <a:rPr dirty="0" sz="2400" spc="-50" b="1">
                          <a:solidFill>
                            <a:srgbClr val="E14B04"/>
                          </a:solidFill>
                          <a:latin typeface="宋体"/>
                          <a:cs typeface="宋体"/>
                        </a:rPr>
                        <a:t>令</a:t>
                      </a:r>
                      <a:endParaRPr sz="2400">
                        <a:latin typeface="宋体"/>
                        <a:cs typeface="宋体"/>
                      </a:endParaRPr>
                    </a:p>
                  </a:txBody>
                  <a:tcPr marL="0" marR="0" marB="0" marT="30988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gridSpan="3">
                  <a:txBody>
                    <a:bodyPr/>
                    <a:lstStyle/>
                    <a:p>
                      <a:pPr algn="ctr" marL="10795">
                        <a:lnSpc>
                          <a:spcPct val="100000"/>
                        </a:lnSpc>
                        <a:spcBef>
                          <a:spcPts val="1240"/>
                        </a:spcBef>
                      </a:pPr>
                      <a:r>
                        <a:rPr dirty="0" sz="1800" spc="-20" b="1">
                          <a:solidFill>
                            <a:srgbClr val="E14B04"/>
                          </a:solidFill>
                          <a:latin typeface="宋体"/>
                          <a:cs typeface="宋体"/>
                        </a:rPr>
                        <a:t>指令状态表</a:t>
                      </a:r>
                      <a:endParaRPr sz="1800">
                        <a:latin typeface="宋体"/>
                        <a:cs typeface="宋体"/>
                      </a:endParaRPr>
                    </a:p>
                  </a:txBody>
                  <a:tcPr marL="0" marR="0" marB="0" marT="1574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hMerge="1">
                  <a:txBody>
                    <a:bodyPr/>
                    <a:lstStyle/>
                    <a:p>
                      <a:pPr/>
                    </a:p>
                  </a:txBody>
                  <a:tcPr marL="0" marR="0" marB="0" marT="0"/>
                </a:tc>
              </a:tr>
              <a:tr h="394970">
                <a:tc vMerge="1">
                  <a:txBody>
                    <a:bodyPr/>
                    <a:lstStyle/>
                    <a:p>
                      <a:pPr/>
                    </a:p>
                  </a:txBody>
                  <a:tcPr marL="0" marR="0" marB="0" marT="30988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vMerge="1">
                  <a:txBody>
                    <a:bodyPr/>
                    <a:lstStyle/>
                    <a:p>
                      <a:pPr/>
                    </a:p>
                  </a:txBody>
                  <a:tcPr marL="0" marR="0" marB="0" marT="30988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15900">
                        <a:lnSpc>
                          <a:spcPts val="2825"/>
                        </a:lnSpc>
                        <a:spcBef>
                          <a:spcPts val="185"/>
                        </a:spcBef>
                      </a:pPr>
                      <a:r>
                        <a:rPr dirty="0" sz="2400" spc="-35" b="1">
                          <a:solidFill>
                            <a:srgbClr val="E14B04"/>
                          </a:solidFill>
                          <a:latin typeface="宋体"/>
                          <a:cs typeface="宋体"/>
                        </a:rPr>
                        <a:t>流出</a:t>
                      </a:r>
                      <a:endParaRPr sz="2400">
                        <a:latin typeface="宋体"/>
                        <a:cs typeface="宋体"/>
                      </a:endParaRPr>
                    </a:p>
                  </a:txBody>
                  <a:tcPr marL="0" marR="0" marB="0" marT="2349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71450">
                        <a:lnSpc>
                          <a:spcPts val="2825"/>
                        </a:lnSpc>
                        <a:spcBef>
                          <a:spcPts val="185"/>
                        </a:spcBef>
                      </a:pPr>
                      <a:r>
                        <a:rPr dirty="0" sz="2400" spc="-35" b="1">
                          <a:solidFill>
                            <a:srgbClr val="E14B04"/>
                          </a:solidFill>
                          <a:latin typeface="宋体"/>
                          <a:cs typeface="宋体"/>
                        </a:rPr>
                        <a:t>执行</a:t>
                      </a:r>
                      <a:endParaRPr sz="2400">
                        <a:latin typeface="宋体"/>
                        <a:cs typeface="宋体"/>
                      </a:endParaRPr>
                    </a:p>
                  </a:txBody>
                  <a:tcPr marL="0" marR="0" marB="0" marT="2349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74625">
                        <a:lnSpc>
                          <a:spcPts val="2825"/>
                        </a:lnSpc>
                        <a:spcBef>
                          <a:spcPts val="185"/>
                        </a:spcBef>
                      </a:pPr>
                      <a:r>
                        <a:rPr dirty="0" sz="2400" spc="-35" b="1">
                          <a:solidFill>
                            <a:srgbClr val="E14B04"/>
                          </a:solidFill>
                          <a:latin typeface="宋体"/>
                          <a:cs typeface="宋体"/>
                        </a:rPr>
                        <a:t>写结果</a:t>
                      </a:r>
                      <a:endParaRPr sz="2400">
                        <a:latin typeface="宋体"/>
                        <a:cs typeface="宋体"/>
                      </a:endParaRPr>
                    </a:p>
                  </a:txBody>
                  <a:tcPr marL="0" marR="0" marB="0" marT="2349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52450">
                <a:tc gridSpan="2">
                  <a:txBody>
                    <a:bodyPr/>
                    <a:lstStyle/>
                    <a:p>
                      <a:pPr marL="167640">
                        <a:lnSpc>
                          <a:spcPct val="100000"/>
                        </a:lnSpc>
                        <a:spcBef>
                          <a:spcPts val="1155"/>
                        </a:spcBef>
                        <a:tabLst>
                          <a:tab pos="1844039" algn="l"/>
                        </a:tabLst>
                      </a:pPr>
                      <a:r>
                        <a:rPr dirty="0" sz="2400" spc="-25" b="1">
                          <a:solidFill>
                            <a:srgbClr val="40458B"/>
                          </a:solidFill>
                          <a:latin typeface="Times New Roman"/>
                          <a:cs typeface="Times New Roman"/>
                        </a:rPr>
                        <a:t>L.D</a:t>
                      </a:r>
                      <a:r>
                        <a:rPr dirty="0" sz="2400" b="1">
                          <a:solidFill>
                            <a:srgbClr val="40458B"/>
                          </a:solidFill>
                          <a:latin typeface="Times New Roman"/>
                          <a:cs typeface="Times New Roman"/>
                        </a:rPr>
                        <a:t>	F6</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a:t>
                      </a:r>
                      <a:r>
                        <a:rPr dirty="0" sz="2400" spc="-10" b="1">
                          <a:solidFill>
                            <a:srgbClr val="40458B"/>
                          </a:solidFill>
                          <a:latin typeface="Times New Roman"/>
                          <a:cs typeface="Times New Roman"/>
                        </a:rPr>
                        <a:t>34(R2)</a:t>
                      </a:r>
                      <a:endParaRPr sz="2400">
                        <a:latin typeface="Times New Roman"/>
                        <a:cs typeface="Times New Roman"/>
                      </a:endParaRPr>
                    </a:p>
                  </a:txBody>
                  <a:tcPr marL="0" marR="0" marB="0" marT="1466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a:txBody>
                    <a:bodyPr/>
                    <a:lstStyle/>
                    <a:p>
                      <a:pPr algn="ctr" marL="94615">
                        <a:lnSpc>
                          <a:spcPct val="100000"/>
                        </a:lnSpc>
                        <a:spcBef>
                          <a:spcPts val="1155"/>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1466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R="69850">
                        <a:lnSpc>
                          <a:spcPct val="100000"/>
                        </a:lnSpc>
                        <a:spcBef>
                          <a:spcPts val="1155"/>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1466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349250">
                        <a:lnSpc>
                          <a:spcPct val="100000"/>
                        </a:lnSpc>
                        <a:spcBef>
                          <a:spcPts val="1155"/>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1466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gridSpan="2">
                  <a:txBody>
                    <a:bodyPr/>
                    <a:lstStyle/>
                    <a:p>
                      <a:pPr marL="167640">
                        <a:lnSpc>
                          <a:spcPct val="100000"/>
                        </a:lnSpc>
                        <a:spcBef>
                          <a:spcPts val="840"/>
                        </a:spcBef>
                        <a:tabLst>
                          <a:tab pos="1844039" algn="l"/>
                        </a:tabLst>
                      </a:pPr>
                      <a:r>
                        <a:rPr dirty="0" sz="2400" spc="-25" b="1">
                          <a:solidFill>
                            <a:srgbClr val="40458B"/>
                          </a:solidFill>
                          <a:latin typeface="Times New Roman"/>
                          <a:cs typeface="Times New Roman"/>
                        </a:rPr>
                        <a:t>L.D</a:t>
                      </a:r>
                      <a:r>
                        <a:rPr dirty="0" sz="2400" b="1">
                          <a:solidFill>
                            <a:srgbClr val="40458B"/>
                          </a:solidFill>
                          <a:latin typeface="Times New Roman"/>
                          <a:cs typeface="Times New Roman"/>
                        </a:rPr>
                        <a:t>	F2</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a:t>
                      </a:r>
                      <a:r>
                        <a:rPr dirty="0" sz="2400" spc="-10" b="1">
                          <a:solidFill>
                            <a:srgbClr val="40458B"/>
                          </a:solidFill>
                          <a:latin typeface="Times New Roman"/>
                          <a:cs typeface="Times New Roman"/>
                        </a:rPr>
                        <a:t>45(R3)</a:t>
                      </a:r>
                      <a:endParaRPr sz="2400">
                        <a:latin typeface="Times New Roman"/>
                        <a:cs typeface="Times New Roman"/>
                      </a:endParaRPr>
                    </a:p>
                  </a:txBody>
                  <a:tcPr marL="0" marR="0" marB="0" marT="1066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a:txBody>
                    <a:bodyPr/>
                    <a:lstStyle/>
                    <a:p>
                      <a:pPr algn="ctr" marL="94615">
                        <a:lnSpc>
                          <a:spcPct val="100000"/>
                        </a:lnSpc>
                        <a:spcBef>
                          <a:spcPts val="840"/>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1066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R="69850">
                        <a:lnSpc>
                          <a:spcPct val="100000"/>
                        </a:lnSpc>
                        <a:spcBef>
                          <a:spcPts val="840"/>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1066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349250">
                        <a:lnSpc>
                          <a:spcPct val="100000"/>
                        </a:lnSpc>
                        <a:spcBef>
                          <a:spcPts val="840"/>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1066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a:txBody>
                    <a:bodyPr/>
                    <a:lstStyle/>
                    <a:p>
                      <a:pPr marL="167640">
                        <a:lnSpc>
                          <a:spcPct val="100000"/>
                        </a:lnSpc>
                        <a:spcBef>
                          <a:spcPts val="560"/>
                        </a:spcBef>
                      </a:pPr>
                      <a:r>
                        <a:rPr dirty="0" sz="2400" spc="-10" b="1">
                          <a:solidFill>
                            <a:srgbClr val="40458B"/>
                          </a:solidFill>
                          <a:latin typeface="Times New Roman"/>
                          <a:cs typeface="Times New Roman"/>
                        </a:rPr>
                        <a:t>MUL.D</a:t>
                      </a:r>
                      <a:endParaRPr sz="2400">
                        <a:latin typeface="Times New Roman"/>
                        <a:cs typeface="Times New Roman"/>
                      </a:endParaRPr>
                    </a:p>
                  </a:txBody>
                  <a:tcPr marL="0" marR="0" marB="0" marT="7112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algn="r" marR="115570">
                        <a:lnSpc>
                          <a:spcPct val="100000"/>
                        </a:lnSpc>
                        <a:spcBef>
                          <a:spcPts val="560"/>
                        </a:spcBef>
                      </a:pPr>
                      <a:r>
                        <a:rPr dirty="0" sz="2400" b="1">
                          <a:solidFill>
                            <a:srgbClr val="40458B"/>
                          </a:solidFill>
                          <a:latin typeface="Times New Roman"/>
                          <a:cs typeface="Times New Roman"/>
                        </a:rPr>
                        <a:t>F0</a:t>
                      </a:r>
                      <a:r>
                        <a:rPr dirty="0" sz="2400" spc="-10" b="1">
                          <a:solidFill>
                            <a:srgbClr val="40458B"/>
                          </a:solidFill>
                          <a:latin typeface="Times New Roman"/>
                          <a:cs typeface="Times New Roman"/>
                        </a:rPr>
                        <a:t> </a:t>
                      </a:r>
                      <a:r>
                        <a:rPr dirty="0" sz="2400" b="1">
                          <a:solidFill>
                            <a:srgbClr val="40458B"/>
                          </a:solidFill>
                          <a:latin typeface="Times New Roman"/>
                          <a:cs typeface="Times New Roman"/>
                        </a:rPr>
                        <a:t>,</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F2</a:t>
                      </a:r>
                      <a:r>
                        <a:rPr dirty="0" sz="2400" spc="-10" b="1">
                          <a:solidFill>
                            <a:srgbClr val="40458B"/>
                          </a:solidFill>
                          <a:latin typeface="Times New Roman"/>
                          <a:cs typeface="Times New Roman"/>
                        </a:rPr>
                        <a:t> </a:t>
                      </a:r>
                      <a:r>
                        <a:rPr dirty="0" sz="2400" b="1">
                          <a:solidFill>
                            <a:srgbClr val="40458B"/>
                          </a:solidFill>
                          <a:latin typeface="Times New Roman"/>
                          <a:cs typeface="Times New Roman"/>
                        </a:rPr>
                        <a:t>,</a:t>
                      </a:r>
                      <a:r>
                        <a:rPr dirty="0" sz="2400" spc="-5" b="1">
                          <a:solidFill>
                            <a:srgbClr val="40458B"/>
                          </a:solidFill>
                          <a:latin typeface="Times New Roman"/>
                          <a:cs typeface="Times New Roman"/>
                        </a:rPr>
                        <a:t> </a:t>
                      </a:r>
                      <a:r>
                        <a:rPr dirty="0" sz="2400" spc="-25" b="1">
                          <a:solidFill>
                            <a:srgbClr val="40458B"/>
                          </a:solidFill>
                          <a:latin typeface="Times New Roman"/>
                          <a:cs typeface="Times New Roman"/>
                        </a:rPr>
                        <a:t>F4</a:t>
                      </a:r>
                      <a:endParaRPr sz="2400">
                        <a:latin typeface="Times New Roman"/>
                        <a:cs typeface="Times New Roman"/>
                      </a:endParaRPr>
                    </a:p>
                  </a:txBody>
                  <a:tcPr marL="0" marR="0" marB="0" marT="7112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L="177165">
                        <a:lnSpc>
                          <a:spcPct val="100000"/>
                        </a:lnSpc>
                        <a:spcBef>
                          <a:spcPts val="560"/>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711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L="4445">
                        <a:lnSpc>
                          <a:spcPct val="100000"/>
                        </a:lnSpc>
                        <a:spcBef>
                          <a:spcPts val="560"/>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711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490220">
                <a:tc>
                  <a:txBody>
                    <a:bodyPr/>
                    <a:lstStyle/>
                    <a:p>
                      <a:pPr marL="167640">
                        <a:lnSpc>
                          <a:spcPct val="100000"/>
                        </a:lnSpc>
                        <a:spcBef>
                          <a:spcPts val="280"/>
                        </a:spcBef>
                      </a:pPr>
                      <a:r>
                        <a:rPr dirty="0" sz="2400" spc="-10" b="1">
                          <a:solidFill>
                            <a:srgbClr val="40458B"/>
                          </a:solidFill>
                          <a:latin typeface="Times New Roman"/>
                          <a:cs typeface="Times New Roman"/>
                        </a:rPr>
                        <a:t>SUB.D</a:t>
                      </a:r>
                      <a:endParaRPr sz="2400">
                        <a:latin typeface="Times New Roman"/>
                        <a:cs typeface="Times New Roman"/>
                      </a:endParaRPr>
                    </a:p>
                  </a:txBody>
                  <a:tcPr marL="0" marR="0" marB="0" marT="3556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algn="r" marR="158115">
                        <a:lnSpc>
                          <a:spcPct val="100000"/>
                        </a:lnSpc>
                        <a:spcBef>
                          <a:spcPts val="280"/>
                        </a:spcBef>
                      </a:pPr>
                      <a:r>
                        <a:rPr dirty="0" sz="2400" b="1">
                          <a:solidFill>
                            <a:srgbClr val="40458B"/>
                          </a:solidFill>
                          <a:latin typeface="Times New Roman"/>
                          <a:cs typeface="Times New Roman"/>
                        </a:rPr>
                        <a:t>F8</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F6</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 </a:t>
                      </a:r>
                      <a:r>
                        <a:rPr dirty="0" sz="2400" spc="-25" b="1">
                          <a:solidFill>
                            <a:srgbClr val="40458B"/>
                          </a:solidFill>
                          <a:latin typeface="Times New Roman"/>
                          <a:cs typeface="Times New Roman"/>
                        </a:rPr>
                        <a:t>F2</a:t>
                      </a:r>
                      <a:endParaRPr sz="2400">
                        <a:latin typeface="Times New Roman"/>
                        <a:cs typeface="Times New Roman"/>
                      </a:endParaRPr>
                    </a:p>
                  </a:txBody>
                  <a:tcPr marL="0" marR="0" marB="0" marT="3556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L="94615">
                        <a:lnSpc>
                          <a:spcPct val="100000"/>
                        </a:lnSpc>
                        <a:spcBef>
                          <a:spcPts val="280"/>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355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R="69850">
                        <a:lnSpc>
                          <a:spcPct val="100000"/>
                        </a:lnSpc>
                        <a:spcBef>
                          <a:spcPts val="280"/>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355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349250">
                        <a:lnSpc>
                          <a:spcPct val="100000"/>
                        </a:lnSpc>
                        <a:spcBef>
                          <a:spcPts val="280"/>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355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47370">
                <a:tc>
                  <a:txBody>
                    <a:bodyPr/>
                    <a:lstStyle/>
                    <a:p>
                      <a:pPr marL="167640">
                        <a:lnSpc>
                          <a:spcPct val="100000"/>
                        </a:lnSpc>
                        <a:spcBef>
                          <a:spcPts val="450"/>
                        </a:spcBef>
                      </a:pPr>
                      <a:r>
                        <a:rPr dirty="0" sz="2400" spc="-10" b="1">
                          <a:solidFill>
                            <a:srgbClr val="40458B"/>
                          </a:solidFill>
                          <a:latin typeface="Times New Roman"/>
                          <a:cs typeface="Times New Roman"/>
                        </a:rPr>
                        <a:t>DIV.D</a:t>
                      </a:r>
                      <a:endParaRPr sz="2400">
                        <a:latin typeface="Times New Roman"/>
                        <a:cs typeface="Times New Roman"/>
                      </a:endParaRPr>
                    </a:p>
                  </a:txBody>
                  <a:tcPr marL="0" marR="0" marB="0" marT="5715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algn="r" marR="132715">
                        <a:lnSpc>
                          <a:spcPct val="100000"/>
                        </a:lnSpc>
                        <a:spcBef>
                          <a:spcPts val="450"/>
                        </a:spcBef>
                      </a:pPr>
                      <a:r>
                        <a:rPr dirty="0" sz="2400" b="1">
                          <a:solidFill>
                            <a:srgbClr val="40458B"/>
                          </a:solidFill>
                          <a:latin typeface="Times New Roman"/>
                          <a:cs typeface="Times New Roman"/>
                        </a:rPr>
                        <a:t>F10,</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F0,</a:t>
                      </a:r>
                      <a:r>
                        <a:rPr dirty="0" sz="2400" spc="-5" b="1">
                          <a:solidFill>
                            <a:srgbClr val="40458B"/>
                          </a:solidFill>
                          <a:latin typeface="Times New Roman"/>
                          <a:cs typeface="Times New Roman"/>
                        </a:rPr>
                        <a:t> </a:t>
                      </a:r>
                      <a:r>
                        <a:rPr dirty="0" sz="2400" spc="-25" b="1">
                          <a:solidFill>
                            <a:srgbClr val="40458B"/>
                          </a:solidFill>
                          <a:latin typeface="Times New Roman"/>
                          <a:cs typeface="Times New Roman"/>
                        </a:rPr>
                        <a:t>F6</a:t>
                      </a:r>
                      <a:endParaRPr sz="2400">
                        <a:latin typeface="Times New Roman"/>
                        <a:cs typeface="Times New Roman"/>
                      </a:endParaRPr>
                    </a:p>
                  </a:txBody>
                  <a:tcPr marL="0" marR="0" marB="0" marT="5715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L="143510">
                        <a:lnSpc>
                          <a:spcPct val="100000"/>
                        </a:lnSpc>
                        <a:spcBef>
                          <a:spcPts val="450"/>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5715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3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14350">
                <a:tc>
                  <a:txBody>
                    <a:bodyPr/>
                    <a:lstStyle/>
                    <a:p>
                      <a:pPr marL="167640">
                        <a:lnSpc>
                          <a:spcPct val="100000"/>
                        </a:lnSpc>
                        <a:spcBef>
                          <a:spcPts val="170"/>
                        </a:spcBef>
                      </a:pPr>
                      <a:r>
                        <a:rPr dirty="0" sz="2400" spc="-10" b="1">
                          <a:solidFill>
                            <a:srgbClr val="40458B"/>
                          </a:solidFill>
                          <a:latin typeface="Times New Roman"/>
                          <a:cs typeface="Times New Roman"/>
                        </a:rPr>
                        <a:t>ADD.D</a:t>
                      </a:r>
                      <a:endParaRPr sz="2400">
                        <a:latin typeface="Times New Roman"/>
                        <a:cs typeface="Times New Roman"/>
                      </a:endParaRPr>
                    </a:p>
                  </a:txBody>
                  <a:tcPr marL="0" marR="0" marB="0" marT="21590">
                    <a:lnL w="9525">
                      <a:solidFill>
                        <a:srgbClr val="40458B"/>
                      </a:solidFill>
                      <a:prstDash val="solid"/>
                    </a:lnL>
                    <a:lnT w="9525">
                      <a:solidFill>
                        <a:srgbClr val="40458B"/>
                      </a:solidFill>
                      <a:prstDash val="solid"/>
                    </a:lnT>
                    <a:lnB w="9525">
                      <a:solidFill>
                        <a:srgbClr val="40458B"/>
                      </a:solidFill>
                      <a:prstDash val="solid"/>
                    </a:lnB>
                    <a:solidFill>
                      <a:srgbClr val="F8FCAE"/>
                    </a:solidFill>
                  </a:tcPr>
                </a:tc>
                <a:tc>
                  <a:txBody>
                    <a:bodyPr/>
                    <a:lstStyle/>
                    <a:p>
                      <a:pPr algn="r" marR="164465">
                        <a:lnSpc>
                          <a:spcPct val="100000"/>
                        </a:lnSpc>
                        <a:spcBef>
                          <a:spcPts val="170"/>
                        </a:spcBef>
                      </a:pPr>
                      <a:r>
                        <a:rPr dirty="0" sz="2400" b="1">
                          <a:solidFill>
                            <a:srgbClr val="40458B"/>
                          </a:solidFill>
                          <a:latin typeface="Times New Roman"/>
                          <a:cs typeface="Times New Roman"/>
                        </a:rPr>
                        <a:t>F6</a:t>
                      </a:r>
                      <a:r>
                        <a:rPr dirty="0" sz="2400" spc="-10" b="1">
                          <a:solidFill>
                            <a:srgbClr val="40458B"/>
                          </a:solidFill>
                          <a:latin typeface="Times New Roman"/>
                          <a:cs typeface="Times New Roman"/>
                        </a:rPr>
                        <a:t> </a:t>
                      </a:r>
                      <a:r>
                        <a:rPr dirty="0" sz="2400" b="1">
                          <a:solidFill>
                            <a:srgbClr val="40458B"/>
                          </a:solidFill>
                          <a:latin typeface="Times New Roman"/>
                          <a:cs typeface="Times New Roman"/>
                        </a:rPr>
                        <a:t>,</a:t>
                      </a:r>
                      <a:r>
                        <a:rPr dirty="0" sz="2400" spc="-5" b="1">
                          <a:solidFill>
                            <a:srgbClr val="40458B"/>
                          </a:solidFill>
                          <a:latin typeface="Times New Roman"/>
                          <a:cs typeface="Times New Roman"/>
                        </a:rPr>
                        <a:t> </a:t>
                      </a:r>
                      <a:r>
                        <a:rPr dirty="0" sz="2400" b="1">
                          <a:solidFill>
                            <a:srgbClr val="40458B"/>
                          </a:solidFill>
                          <a:latin typeface="Times New Roman"/>
                          <a:cs typeface="Times New Roman"/>
                        </a:rPr>
                        <a:t>F8</a:t>
                      </a:r>
                      <a:r>
                        <a:rPr dirty="0" sz="2400" spc="-10" b="1">
                          <a:solidFill>
                            <a:srgbClr val="40458B"/>
                          </a:solidFill>
                          <a:latin typeface="Times New Roman"/>
                          <a:cs typeface="Times New Roman"/>
                        </a:rPr>
                        <a:t> </a:t>
                      </a:r>
                      <a:r>
                        <a:rPr dirty="0" sz="2400" b="1">
                          <a:solidFill>
                            <a:srgbClr val="40458B"/>
                          </a:solidFill>
                          <a:latin typeface="Times New Roman"/>
                          <a:cs typeface="Times New Roman"/>
                        </a:rPr>
                        <a:t>,</a:t>
                      </a:r>
                      <a:r>
                        <a:rPr dirty="0" sz="2400" spc="-5" b="1">
                          <a:solidFill>
                            <a:srgbClr val="40458B"/>
                          </a:solidFill>
                          <a:latin typeface="Times New Roman"/>
                          <a:cs typeface="Times New Roman"/>
                        </a:rPr>
                        <a:t> </a:t>
                      </a:r>
                      <a:r>
                        <a:rPr dirty="0" sz="2400" spc="-25" b="1">
                          <a:solidFill>
                            <a:srgbClr val="40458B"/>
                          </a:solidFill>
                          <a:latin typeface="Times New Roman"/>
                          <a:cs typeface="Times New Roman"/>
                        </a:rPr>
                        <a:t>F2</a:t>
                      </a:r>
                      <a:endParaRPr sz="2400">
                        <a:latin typeface="Times New Roman"/>
                        <a:cs typeface="Times New Roman"/>
                      </a:endParaRPr>
                    </a:p>
                  </a:txBody>
                  <a:tcPr marL="0" marR="0" marB="0" marT="21590">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L="79375">
                        <a:lnSpc>
                          <a:spcPct val="100000"/>
                        </a:lnSpc>
                        <a:spcBef>
                          <a:spcPts val="170"/>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215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R="85090">
                        <a:lnSpc>
                          <a:spcPct val="100000"/>
                        </a:lnSpc>
                        <a:spcBef>
                          <a:spcPts val="170"/>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215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418465">
                        <a:lnSpc>
                          <a:spcPct val="100000"/>
                        </a:lnSpc>
                        <a:spcBef>
                          <a:spcPts val="170"/>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215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671637" y="342963"/>
          <a:ext cx="8934450" cy="3961765"/>
        </p:xfrm>
        <a:graphic>
          <a:graphicData uri="http://schemas.openxmlformats.org/drawingml/2006/table">
            <a:tbl>
              <a:tblPr firstRow="1" bandRow="1">
                <a:tableStyleId>{2D5ABB26-0587-4C30-8999-92F81FD0307C}</a:tableStyleId>
              </a:tblPr>
              <a:tblGrid>
                <a:gridCol w="914400"/>
                <a:gridCol w="685800"/>
                <a:gridCol w="914400"/>
                <a:gridCol w="2209800"/>
                <a:gridCol w="2209800"/>
                <a:gridCol w="771525"/>
                <a:gridCol w="609600"/>
                <a:gridCol w="533400"/>
              </a:tblGrid>
              <a:tr h="533400">
                <a:tc rowSpan="2">
                  <a:txBody>
                    <a:bodyPr/>
                    <a:lstStyle/>
                    <a:p>
                      <a:pPr>
                        <a:lnSpc>
                          <a:spcPct val="100000"/>
                        </a:lnSpc>
                        <a:spcBef>
                          <a:spcPts val="725"/>
                        </a:spcBef>
                      </a:pPr>
                      <a:endParaRPr sz="2400">
                        <a:latin typeface="Times New Roman"/>
                        <a:cs typeface="Times New Roman"/>
                      </a:endParaRPr>
                    </a:p>
                    <a:p>
                      <a:pPr marL="139065">
                        <a:lnSpc>
                          <a:spcPct val="100000"/>
                        </a:lnSpc>
                      </a:pPr>
                      <a:r>
                        <a:rPr dirty="0" sz="2400" spc="-35" b="1">
                          <a:solidFill>
                            <a:srgbClr val="E14B04"/>
                          </a:solidFill>
                          <a:latin typeface="宋体"/>
                          <a:cs typeface="宋体"/>
                        </a:rPr>
                        <a:t>名称</a:t>
                      </a:r>
                      <a:endParaRPr sz="2400">
                        <a:latin typeface="宋体"/>
                        <a:cs typeface="宋体"/>
                      </a:endParaRPr>
                    </a:p>
                  </a:txBody>
                  <a:tcPr marL="0" marR="0" marB="0" marT="920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gridSpan="7">
                  <a:txBody>
                    <a:bodyPr/>
                    <a:lstStyle/>
                    <a:p>
                      <a:pPr algn="ctr" marR="641350">
                        <a:lnSpc>
                          <a:spcPct val="100000"/>
                        </a:lnSpc>
                        <a:spcBef>
                          <a:spcPts val="1235"/>
                        </a:spcBef>
                      </a:pPr>
                      <a:r>
                        <a:rPr dirty="0" sz="1800" spc="-25" b="1">
                          <a:solidFill>
                            <a:srgbClr val="E14B04"/>
                          </a:solidFill>
                          <a:latin typeface="宋体"/>
                          <a:cs typeface="宋体"/>
                        </a:rPr>
                        <a:t>保留站</a:t>
                      </a:r>
                      <a:endParaRPr sz="1800">
                        <a:latin typeface="宋体"/>
                        <a:cs typeface="宋体"/>
                      </a:endParaRPr>
                    </a:p>
                  </a:txBody>
                  <a:tcPr marL="0" marR="0" marB="0" marT="15684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542925">
                <a:tc vMerge="1">
                  <a:txBody>
                    <a:bodyPr/>
                    <a:lstStyle/>
                    <a:p>
                      <a:pPr/>
                    </a:p>
                  </a:txBody>
                  <a:tcPr marL="0" marR="0" marB="0" marT="920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20650">
                        <a:lnSpc>
                          <a:spcPct val="100000"/>
                        </a:lnSpc>
                        <a:spcBef>
                          <a:spcPts val="955"/>
                        </a:spcBef>
                      </a:pPr>
                      <a:r>
                        <a:rPr dirty="0" sz="2000" spc="-20" b="1">
                          <a:solidFill>
                            <a:srgbClr val="40458B"/>
                          </a:solidFill>
                          <a:latin typeface="宋体"/>
                          <a:cs typeface="宋体"/>
                        </a:rPr>
                        <a:t>Busy</a:t>
                      </a:r>
                      <a:endParaRPr sz="2000">
                        <a:latin typeface="宋体"/>
                        <a:cs typeface="宋体"/>
                      </a:endParaRPr>
                    </a:p>
                  </a:txBody>
                  <a:tcPr marL="0" marR="0" marB="0" marT="1212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ctr">
                        <a:lnSpc>
                          <a:spcPct val="100000"/>
                        </a:lnSpc>
                        <a:spcBef>
                          <a:spcPts val="1035"/>
                        </a:spcBef>
                      </a:pPr>
                      <a:r>
                        <a:rPr dirty="0" sz="2000" spc="-25" b="1">
                          <a:solidFill>
                            <a:srgbClr val="40458B"/>
                          </a:solidFill>
                          <a:latin typeface="宋体"/>
                          <a:cs typeface="宋体"/>
                        </a:rPr>
                        <a:t>Op</a:t>
                      </a:r>
                      <a:endParaRPr sz="2000">
                        <a:latin typeface="宋体"/>
                        <a:cs typeface="宋体"/>
                      </a:endParaRPr>
                    </a:p>
                  </a:txBody>
                  <a:tcPr marL="0" marR="0" marB="0" marT="13144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734695">
                        <a:lnSpc>
                          <a:spcPct val="100000"/>
                        </a:lnSpc>
                        <a:spcBef>
                          <a:spcPts val="725"/>
                        </a:spcBef>
                      </a:pPr>
                      <a:r>
                        <a:rPr dirty="0" sz="2000" spc="-25" b="1">
                          <a:solidFill>
                            <a:srgbClr val="40458B"/>
                          </a:solidFill>
                          <a:latin typeface="宋体"/>
                          <a:cs typeface="宋体"/>
                        </a:rPr>
                        <a:t>Vj</a:t>
                      </a:r>
                      <a:endParaRPr sz="2000">
                        <a:latin typeface="宋体"/>
                        <a:cs typeface="宋体"/>
                      </a:endParaRPr>
                    </a:p>
                  </a:txBody>
                  <a:tcPr marL="0" marR="0" marB="0" marT="920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ctr">
                        <a:lnSpc>
                          <a:spcPct val="100000"/>
                        </a:lnSpc>
                        <a:spcBef>
                          <a:spcPts val="1045"/>
                        </a:spcBef>
                      </a:pPr>
                      <a:r>
                        <a:rPr dirty="0" sz="2000" spc="-25" b="1">
                          <a:solidFill>
                            <a:srgbClr val="40458B"/>
                          </a:solidFill>
                          <a:latin typeface="宋体"/>
                          <a:cs typeface="宋体"/>
                        </a:rPr>
                        <a:t>Vk</a:t>
                      </a:r>
                      <a:endParaRPr sz="2000">
                        <a:latin typeface="宋体"/>
                        <a:cs typeface="宋体"/>
                      </a:endParaRPr>
                    </a:p>
                  </a:txBody>
                  <a:tcPr marL="0" marR="0" marB="0" marT="1327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250825" marR="3175">
                        <a:lnSpc>
                          <a:spcPct val="100000"/>
                        </a:lnSpc>
                        <a:spcBef>
                          <a:spcPts val="1145"/>
                        </a:spcBef>
                      </a:pPr>
                      <a:r>
                        <a:rPr dirty="0" sz="2000" spc="-25" b="1">
                          <a:solidFill>
                            <a:srgbClr val="40458B"/>
                          </a:solidFill>
                          <a:latin typeface="宋体"/>
                          <a:cs typeface="宋体"/>
                        </a:rPr>
                        <a:t>Qj</a:t>
                      </a:r>
                      <a:endParaRPr sz="2000">
                        <a:latin typeface="宋体"/>
                        <a:cs typeface="宋体"/>
                      </a:endParaRPr>
                    </a:p>
                  </a:txBody>
                  <a:tcPr marL="0" marR="0" marB="0" marT="1454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212725">
                        <a:lnSpc>
                          <a:spcPct val="100000"/>
                        </a:lnSpc>
                        <a:spcBef>
                          <a:spcPts val="1035"/>
                        </a:spcBef>
                      </a:pPr>
                      <a:r>
                        <a:rPr dirty="0" sz="2000" spc="-25" b="1">
                          <a:solidFill>
                            <a:srgbClr val="40458B"/>
                          </a:solidFill>
                          <a:latin typeface="宋体"/>
                          <a:cs typeface="宋体"/>
                        </a:rPr>
                        <a:t>Qk</a:t>
                      </a:r>
                      <a:endParaRPr sz="2000">
                        <a:latin typeface="宋体"/>
                        <a:cs typeface="宋体"/>
                      </a:endParaRPr>
                    </a:p>
                  </a:txBody>
                  <a:tcPr marL="0" marR="0" marB="0" marT="13144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ctr">
                        <a:lnSpc>
                          <a:spcPct val="100000"/>
                        </a:lnSpc>
                        <a:spcBef>
                          <a:spcPts val="994"/>
                        </a:spcBef>
                      </a:pPr>
                      <a:r>
                        <a:rPr dirty="0" sz="2000" spc="-50" b="1">
                          <a:solidFill>
                            <a:srgbClr val="40458B"/>
                          </a:solidFill>
                          <a:latin typeface="宋体"/>
                          <a:cs typeface="宋体"/>
                        </a:rPr>
                        <a:t>A</a:t>
                      </a:r>
                      <a:endParaRPr sz="2000">
                        <a:latin typeface="宋体"/>
                        <a:cs typeface="宋体"/>
                      </a:endParaRPr>
                    </a:p>
                  </a:txBody>
                  <a:tcPr marL="0" marR="0" marB="0" marT="12636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342900">
                <a:tc>
                  <a:txBody>
                    <a:bodyPr/>
                    <a:lstStyle/>
                    <a:p>
                      <a:pPr marL="167640">
                        <a:lnSpc>
                          <a:spcPct val="100000"/>
                        </a:lnSpc>
                        <a:spcBef>
                          <a:spcPts val="60"/>
                        </a:spcBef>
                      </a:pPr>
                      <a:r>
                        <a:rPr dirty="0" sz="2000" spc="-10" b="1">
                          <a:solidFill>
                            <a:srgbClr val="40458B"/>
                          </a:solidFill>
                          <a:latin typeface="宋体"/>
                          <a:cs typeface="宋体"/>
                        </a:rPr>
                        <a:t>Load1</a:t>
                      </a:r>
                      <a:endParaRPr sz="2000">
                        <a:latin typeface="宋体"/>
                        <a:cs typeface="宋体"/>
                      </a:endParaRPr>
                    </a:p>
                  </a:txBody>
                  <a:tcPr marL="0" marR="0" marB="0" marT="76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95885">
                        <a:lnSpc>
                          <a:spcPts val="2205"/>
                        </a:lnSpc>
                      </a:pPr>
                      <a:r>
                        <a:rPr dirty="0" sz="2000" spc="-25" b="1">
                          <a:solidFill>
                            <a:srgbClr val="40458B"/>
                          </a:solidFill>
                          <a:latin typeface="宋体"/>
                          <a:cs typeface="宋体"/>
                        </a:rPr>
                        <a:t>no</a:t>
                      </a:r>
                      <a:endParaRPr sz="2000">
                        <a:latin typeface="宋体"/>
                        <a:cs typeface="宋体"/>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3175">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428625">
                <a:tc>
                  <a:txBody>
                    <a:bodyPr/>
                    <a:lstStyle/>
                    <a:p>
                      <a:pPr marL="167640">
                        <a:lnSpc>
                          <a:spcPct val="100000"/>
                        </a:lnSpc>
                        <a:spcBef>
                          <a:spcPts val="480"/>
                        </a:spcBef>
                      </a:pPr>
                      <a:r>
                        <a:rPr dirty="0" sz="2000" spc="-10" b="1">
                          <a:solidFill>
                            <a:srgbClr val="40458B"/>
                          </a:solidFill>
                          <a:latin typeface="宋体"/>
                          <a:cs typeface="宋体"/>
                        </a:rPr>
                        <a:t>Load2</a:t>
                      </a:r>
                      <a:endParaRPr sz="2000">
                        <a:latin typeface="宋体"/>
                        <a:cs typeface="宋体"/>
                      </a:endParaRPr>
                    </a:p>
                  </a:txBody>
                  <a:tcPr marL="0" marR="0" marB="0" marT="609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95885">
                        <a:lnSpc>
                          <a:spcPct val="100000"/>
                        </a:lnSpc>
                        <a:spcBef>
                          <a:spcPts val="225"/>
                        </a:spcBef>
                      </a:pPr>
                      <a:r>
                        <a:rPr dirty="0" sz="2000" spc="-25" b="1">
                          <a:solidFill>
                            <a:srgbClr val="40458B"/>
                          </a:solidFill>
                          <a:latin typeface="宋体"/>
                          <a:cs typeface="宋体"/>
                        </a:rPr>
                        <a:t>yes</a:t>
                      </a:r>
                      <a:endParaRPr sz="2000">
                        <a:latin typeface="宋体"/>
                        <a:cs typeface="宋体"/>
                      </a:endParaRPr>
                    </a:p>
                  </a:txBody>
                  <a:tcPr marL="0" marR="0" marB="0" marT="285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3175">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352425">
                <a:tc>
                  <a:txBody>
                    <a:bodyPr/>
                    <a:lstStyle/>
                    <a:p>
                      <a:pPr marL="167640">
                        <a:lnSpc>
                          <a:spcPct val="100000"/>
                        </a:lnSpc>
                        <a:spcBef>
                          <a:spcPts val="225"/>
                        </a:spcBef>
                      </a:pPr>
                      <a:r>
                        <a:rPr dirty="0" sz="2000" spc="-20" b="1">
                          <a:solidFill>
                            <a:srgbClr val="40458B"/>
                          </a:solidFill>
                          <a:latin typeface="宋体"/>
                          <a:cs typeface="宋体"/>
                        </a:rPr>
                        <a:t>Add1</a:t>
                      </a:r>
                      <a:endParaRPr sz="2000">
                        <a:latin typeface="宋体"/>
                        <a:cs typeface="宋体"/>
                      </a:endParaRPr>
                    </a:p>
                  </a:txBody>
                  <a:tcPr marL="0" marR="0" marB="0" marT="2857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95885">
                        <a:lnSpc>
                          <a:spcPts val="2370"/>
                        </a:lnSpc>
                      </a:pPr>
                      <a:r>
                        <a:rPr dirty="0" sz="2000" spc="-25" b="1">
                          <a:solidFill>
                            <a:srgbClr val="40458B"/>
                          </a:solidFill>
                          <a:latin typeface="宋体"/>
                          <a:cs typeface="宋体"/>
                        </a:rPr>
                        <a:t>yes</a:t>
                      </a:r>
                      <a:endParaRPr sz="2000">
                        <a:latin typeface="宋体"/>
                        <a:cs typeface="宋体"/>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3175">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423545">
                <a:tc>
                  <a:txBody>
                    <a:bodyPr/>
                    <a:lstStyle/>
                    <a:p>
                      <a:pPr marL="167640">
                        <a:lnSpc>
                          <a:spcPct val="100000"/>
                        </a:lnSpc>
                        <a:spcBef>
                          <a:spcPts val="570"/>
                        </a:spcBef>
                      </a:pPr>
                      <a:r>
                        <a:rPr dirty="0" sz="2000" spc="-20" b="1">
                          <a:solidFill>
                            <a:srgbClr val="40458B"/>
                          </a:solidFill>
                          <a:latin typeface="宋体"/>
                          <a:cs typeface="宋体"/>
                        </a:rPr>
                        <a:t>Add2</a:t>
                      </a:r>
                      <a:endParaRPr sz="2000">
                        <a:latin typeface="宋体"/>
                        <a:cs typeface="宋体"/>
                      </a:endParaRPr>
                    </a:p>
                  </a:txBody>
                  <a:tcPr marL="0" marR="0" marB="0" marT="723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95885">
                        <a:lnSpc>
                          <a:spcPct val="100000"/>
                        </a:lnSpc>
                        <a:spcBef>
                          <a:spcPts val="315"/>
                        </a:spcBef>
                      </a:pPr>
                      <a:r>
                        <a:rPr dirty="0" sz="2000" spc="-25" b="1">
                          <a:solidFill>
                            <a:srgbClr val="40458B"/>
                          </a:solidFill>
                          <a:latin typeface="宋体"/>
                          <a:cs typeface="宋体"/>
                        </a:rPr>
                        <a:t>yes</a:t>
                      </a:r>
                      <a:endParaRPr sz="2000">
                        <a:latin typeface="宋体"/>
                        <a:cs typeface="宋体"/>
                      </a:endParaRPr>
                    </a:p>
                  </a:txBody>
                  <a:tcPr marL="0" marR="0" marB="0" marT="4000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3175">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423545">
                <a:tc>
                  <a:txBody>
                    <a:bodyPr/>
                    <a:lstStyle/>
                    <a:p>
                      <a:pPr marL="167640">
                        <a:lnSpc>
                          <a:spcPct val="100000"/>
                        </a:lnSpc>
                        <a:spcBef>
                          <a:spcPts val="355"/>
                        </a:spcBef>
                      </a:pPr>
                      <a:r>
                        <a:rPr dirty="0" sz="2000" spc="-20" b="1">
                          <a:solidFill>
                            <a:srgbClr val="40458B"/>
                          </a:solidFill>
                          <a:latin typeface="宋体"/>
                          <a:cs typeface="宋体"/>
                        </a:rPr>
                        <a:t>Add3</a:t>
                      </a:r>
                      <a:endParaRPr sz="2000">
                        <a:latin typeface="宋体"/>
                        <a:cs typeface="宋体"/>
                      </a:endParaRPr>
                    </a:p>
                  </a:txBody>
                  <a:tcPr marL="0" marR="0" marB="0" marT="450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95885">
                        <a:lnSpc>
                          <a:spcPct val="100000"/>
                        </a:lnSpc>
                        <a:spcBef>
                          <a:spcPts val="100"/>
                        </a:spcBef>
                      </a:pPr>
                      <a:r>
                        <a:rPr dirty="0" sz="2000" spc="-25" b="1">
                          <a:solidFill>
                            <a:srgbClr val="40458B"/>
                          </a:solidFill>
                          <a:latin typeface="宋体"/>
                          <a:cs typeface="宋体"/>
                        </a:rPr>
                        <a:t>no</a:t>
                      </a:r>
                      <a:endParaRPr sz="2000">
                        <a:latin typeface="宋体"/>
                        <a:cs typeface="宋体"/>
                      </a:endParaRPr>
                    </a:p>
                  </a:txBody>
                  <a:tcPr marL="0" marR="0" marB="0" marT="1270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3175">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371475">
                <a:tc>
                  <a:txBody>
                    <a:bodyPr/>
                    <a:lstStyle/>
                    <a:p>
                      <a:pPr marL="167640">
                        <a:lnSpc>
                          <a:spcPct val="100000"/>
                        </a:lnSpc>
                        <a:spcBef>
                          <a:spcPts val="140"/>
                        </a:spcBef>
                      </a:pPr>
                      <a:r>
                        <a:rPr dirty="0" sz="2000" spc="-10" b="1">
                          <a:solidFill>
                            <a:srgbClr val="40458B"/>
                          </a:solidFill>
                          <a:latin typeface="宋体"/>
                          <a:cs typeface="宋体"/>
                        </a:rPr>
                        <a:t>Mult1</a:t>
                      </a:r>
                      <a:endParaRPr sz="2000">
                        <a:latin typeface="宋体"/>
                        <a:cs typeface="宋体"/>
                      </a:endParaRPr>
                    </a:p>
                  </a:txBody>
                  <a:tcPr marL="0" marR="0" marB="0" marT="177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95885">
                        <a:lnSpc>
                          <a:spcPts val="2280"/>
                        </a:lnSpc>
                      </a:pPr>
                      <a:r>
                        <a:rPr dirty="0" sz="2000" spc="-25" b="1">
                          <a:solidFill>
                            <a:srgbClr val="40458B"/>
                          </a:solidFill>
                          <a:latin typeface="宋体"/>
                          <a:cs typeface="宋体"/>
                        </a:rPr>
                        <a:t>yes</a:t>
                      </a:r>
                      <a:endParaRPr sz="2000">
                        <a:latin typeface="宋体"/>
                        <a:cs typeface="宋体"/>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r" marR="63500">
                        <a:lnSpc>
                          <a:spcPts val="2355"/>
                        </a:lnSpc>
                      </a:pPr>
                      <a:r>
                        <a:rPr dirty="0" sz="2000" spc="-10" b="1">
                          <a:solidFill>
                            <a:srgbClr val="40458B"/>
                          </a:solidFill>
                          <a:latin typeface="宋体"/>
                          <a:cs typeface="宋体"/>
                        </a:rPr>
                        <a:t>MUL.D</a:t>
                      </a:r>
                      <a:endParaRPr sz="2000">
                        <a:latin typeface="宋体"/>
                        <a:cs typeface="宋体"/>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92075">
                        <a:lnSpc>
                          <a:spcPts val="2205"/>
                        </a:lnSpc>
                      </a:pPr>
                      <a:r>
                        <a:rPr dirty="0" sz="2000" spc="-10" b="1">
                          <a:solidFill>
                            <a:srgbClr val="40458B"/>
                          </a:solidFill>
                          <a:latin typeface="宋体"/>
                          <a:cs typeface="宋体"/>
                        </a:rPr>
                        <a:t>Mem[45+Regs[R3]]</a:t>
                      </a:r>
                      <a:endParaRPr sz="2000">
                        <a:latin typeface="宋体"/>
                        <a:cs typeface="宋体"/>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735330">
                        <a:lnSpc>
                          <a:spcPct val="100000"/>
                        </a:lnSpc>
                        <a:spcBef>
                          <a:spcPts val="245"/>
                        </a:spcBef>
                      </a:pPr>
                      <a:r>
                        <a:rPr dirty="0" sz="2000" spc="-10" b="1">
                          <a:solidFill>
                            <a:srgbClr val="40458B"/>
                          </a:solidFill>
                          <a:latin typeface="宋体"/>
                          <a:cs typeface="宋体"/>
                        </a:rPr>
                        <a:t>Reg[F4]</a:t>
                      </a:r>
                      <a:endParaRPr sz="2000">
                        <a:latin typeface="宋体"/>
                        <a:cs typeface="宋体"/>
                      </a:endParaRPr>
                    </a:p>
                  </a:txBody>
                  <a:tcPr marL="0" marR="0" marB="0" marT="311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R="3175">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r h="542925">
                <a:tc>
                  <a:txBody>
                    <a:bodyPr/>
                    <a:lstStyle/>
                    <a:p>
                      <a:pPr marL="167640">
                        <a:lnSpc>
                          <a:spcPct val="100000"/>
                        </a:lnSpc>
                        <a:spcBef>
                          <a:spcPts val="334"/>
                        </a:spcBef>
                      </a:pPr>
                      <a:r>
                        <a:rPr dirty="0" sz="2000" spc="-10" b="1">
                          <a:solidFill>
                            <a:srgbClr val="40458B"/>
                          </a:solidFill>
                          <a:latin typeface="宋体"/>
                          <a:cs typeface="宋体"/>
                        </a:rPr>
                        <a:t>Mult2</a:t>
                      </a:r>
                      <a:endParaRPr sz="2000">
                        <a:latin typeface="宋体"/>
                        <a:cs typeface="宋体"/>
                      </a:endParaRPr>
                    </a:p>
                  </a:txBody>
                  <a:tcPr marL="0" marR="0" marB="0" marT="4254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95885">
                        <a:lnSpc>
                          <a:spcPct val="100000"/>
                        </a:lnSpc>
                        <a:spcBef>
                          <a:spcPts val="80"/>
                        </a:spcBef>
                      </a:pPr>
                      <a:r>
                        <a:rPr dirty="0" sz="2000" spc="-25" b="1">
                          <a:solidFill>
                            <a:srgbClr val="40458B"/>
                          </a:solidFill>
                          <a:latin typeface="宋体"/>
                          <a:cs typeface="宋体"/>
                        </a:rPr>
                        <a:t>yes</a:t>
                      </a:r>
                      <a:endParaRPr sz="2000">
                        <a:latin typeface="宋体"/>
                        <a:cs typeface="宋体"/>
                      </a:endParaRPr>
                    </a:p>
                  </a:txBody>
                  <a:tcPr marL="0" marR="0" marB="0" marT="101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gn="r" marR="64769">
                        <a:lnSpc>
                          <a:spcPct val="100000"/>
                        </a:lnSpc>
                        <a:spcBef>
                          <a:spcPts val="155"/>
                        </a:spcBef>
                      </a:pPr>
                      <a:r>
                        <a:rPr dirty="0" sz="2000" spc="-10" b="1">
                          <a:solidFill>
                            <a:srgbClr val="40458B"/>
                          </a:solidFill>
                          <a:latin typeface="宋体"/>
                          <a:cs typeface="宋体"/>
                        </a:rPr>
                        <a:t>DIV.D</a:t>
                      </a:r>
                      <a:endParaRPr sz="2000">
                        <a:latin typeface="宋体"/>
                        <a:cs typeface="宋体"/>
                      </a:endParaRPr>
                    </a:p>
                  </a:txBody>
                  <a:tcPr marL="0" marR="0" marB="0" marT="196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92075">
                        <a:lnSpc>
                          <a:spcPct val="100000"/>
                        </a:lnSpc>
                        <a:spcBef>
                          <a:spcPts val="440"/>
                        </a:spcBef>
                      </a:pPr>
                      <a:r>
                        <a:rPr dirty="0" sz="2000" spc="-10" b="1">
                          <a:solidFill>
                            <a:srgbClr val="40458B"/>
                          </a:solidFill>
                          <a:latin typeface="宋体"/>
                          <a:cs typeface="宋体"/>
                        </a:rPr>
                        <a:t>Mem[34+Regs[R2]]</a:t>
                      </a:r>
                      <a:endParaRPr sz="2000">
                        <a:latin typeface="宋体"/>
                        <a:cs typeface="宋体"/>
                      </a:endParaRPr>
                    </a:p>
                  </a:txBody>
                  <a:tcPr marL="0" marR="0" marB="0" marT="558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marL="121285">
                        <a:lnSpc>
                          <a:spcPct val="100000"/>
                        </a:lnSpc>
                        <a:spcBef>
                          <a:spcPts val="660"/>
                        </a:spcBef>
                      </a:pPr>
                      <a:r>
                        <a:rPr dirty="0" sz="2000" spc="-10" b="1">
                          <a:solidFill>
                            <a:srgbClr val="CC3399"/>
                          </a:solidFill>
                          <a:latin typeface="宋体"/>
                          <a:cs typeface="宋体"/>
                        </a:rPr>
                        <a:t>Mult1</a:t>
                      </a:r>
                      <a:endParaRPr sz="2000">
                        <a:latin typeface="宋体"/>
                        <a:cs typeface="宋体"/>
                      </a:endParaRPr>
                    </a:p>
                  </a:txBody>
                  <a:tcPr marL="0" marR="0" marB="0" marT="8382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BA1"/>
                    </a:solidFill>
                  </a:tcPr>
                </a:tc>
              </a:tr>
            </a:tbl>
          </a:graphicData>
        </a:graphic>
      </p:graphicFrame>
      <p:graphicFrame>
        <p:nvGraphicFramePr>
          <p:cNvPr id="3" name="object 3" descr=""/>
          <p:cNvGraphicFramePr>
            <a:graphicFrameLocks noGrp="1"/>
          </p:cNvGraphicFramePr>
          <p:nvPr/>
        </p:nvGraphicFramePr>
        <p:xfrm>
          <a:off x="2214562" y="4690998"/>
          <a:ext cx="7705725" cy="1470660"/>
        </p:xfrm>
        <a:graphic>
          <a:graphicData uri="http://schemas.openxmlformats.org/drawingml/2006/table">
            <a:tbl>
              <a:tblPr firstRow="1" bandRow="1">
                <a:tableStyleId>{2D5ABB26-0587-4C30-8999-92F81FD0307C}</a:tableStyleId>
              </a:tblPr>
              <a:tblGrid>
                <a:gridCol w="1433830"/>
                <a:gridCol w="843280"/>
                <a:gridCol w="934085"/>
                <a:gridCol w="572135"/>
                <a:gridCol w="819785"/>
                <a:gridCol w="715010"/>
                <a:gridCol w="934085"/>
                <a:gridCol w="610234"/>
                <a:gridCol w="762634"/>
              </a:tblGrid>
              <a:tr h="394970">
                <a:tc rowSpan="2">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gridSpan="8">
                  <a:txBody>
                    <a:bodyPr/>
                    <a:lstStyle/>
                    <a:p>
                      <a:pPr algn="ctr" marL="158750">
                        <a:lnSpc>
                          <a:spcPct val="100000"/>
                        </a:lnSpc>
                        <a:spcBef>
                          <a:spcPts val="430"/>
                        </a:spcBef>
                      </a:pPr>
                      <a:r>
                        <a:rPr dirty="0" sz="1800" spc="-20" b="1">
                          <a:solidFill>
                            <a:srgbClr val="E14B04"/>
                          </a:solidFill>
                          <a:latin typeface="宋体"/>
                          <a:cs typeface="宋体"/>
                        </a:rPr>
                        <a:t>寄存器状态表</a:t>
                      </a:r>
                      <a:endParaRPr sz="1800">
                        <a:latin typeface="宋体"/>
                        <a:cs typeface="宋体"/>
                      </a:endParaRPr>
                    </a:p>
                  </a:txBody>
                  <a:tcPr marL="0" marR="0" marB="0" marT="546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518795">
                <a:tc vMerge="1">
                  <a:txBody>
                    <a:bodyPr/>
                    <a:lstStyle/>
                    <a:p>
                      <a:p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97485">
                        <a:lnSpc>
                          <a:spcPct val="100000"/>
                        </a:lnSpc>
                        <a:spcBef>
                          <a:spcPts val="805"/>
                        </a:spcBef>
                      </a:pPr>
                      <a:r>
                        <a:rPr dirty="0" sz="2400" spc="-25" b="1">
                          <a:solidFill>
                            <a:srgbClr val="40458B"/>
                          </a:solidFill>
                          <a:latin typeface="宋体"/>
                          <a:cs typeface="宋体"/>
                        </a:rPr>
                        <a:t>F0</a:t>
                      </a:r>
                      <a:endParaRPr sz="2400">
                        <a:latin typeface="宋体"/>
                        <a:cs typeface="宋体"/>
                      </a:endParaRPr>
                    </a:p>
                  </a:txBody>
                  <a:tcPr marL="0" marR="0" marB="0" marT="10223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76860">
                        <a:lnSpc>
                          <a:spcPct val="100000"/>
                        </a:lnSpc>
                        <a:spcBef>
                          <a:spcPts val="805"/>
                        </a:spcBef>
                      </a:pPr>
                      <a:r>
                        <a:rPr dirty="0" sz="2400" spc="-25" b="1">
                          <a:solidFill>
                            <a:srgbClr val="40458B"/>
                          </a:solidFill>
                          <a:latin typeface="宋体"/>
                          <a:cs typeface="宋体"/>
                        </a:rPr>
                        <a:t>F2</a:t>
                      </a:r>
                      <a:endParaRPr sz="2400">
                        <a:latin typeface="宋体"/>
                        <a:cs typeface="宋体"/>
                      </a:endParaRPr>
                    </a:p>
                  </a:txBody>
                  <a:tcPr marL="0" marR="0" marB="0" marT="10223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10489">
                        <a:lnSpc>
                          <a:spcPct val="100000"/>
                        </a:lnSpc>
                        <a:spcBef>
                          <a:spcPts val="805"/>
                        </a:spcBef>
                      </a:pPr>
                      <a:r>
                        <a:rPr dirty="0" sz="2400" spc="-25" b="1">
                          <a:solidFill>
                            <a:srgbClr val="40458B"/>
                          </a:solidFill>
                          <a:latin typeface="宋体"/>
                          <a:cs typeface="宋体"/>
                        </a:rPr>
                        <a:t>F4</a:t>
                      </a:r>
                      <a:endParaRPr sz="2400">
                        <a:latin typeface="宋体"/>
                        <a:cs typeface="宋体"/>
                      </a:endParaRPr>
                    </a:p>
                  </a:txBody>
                  <a:tcPr marL="0" marR="0" marB="0" marT="10223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306705">
                        <a:lnSpc>
                          <a:spcPct val="100000"/>
                        </a:lnSpc>
                        <a:spcBef>
                          <a:spcPts val="805"/>
                        </a:spcBef>
                      </a:pPr>
                      <a:r>
                        <a:rPr dirty="0" sz="2400" spc="-25" b="1">
                          <a:solidFill>
                            <a:srgbClr val="40458B"/>
                          </a:solidFill>
                          <a:latin typeface="宋体"/>
                          <a:cs typeface="宋体"/>
                        </a:rPr>
                        <a:t>F6</a:t>
                      </a:r>
                      <a:endParaRPr sz="2400">
                        <a:latin typeface="宋体"/>
                        <a:cs typeface="宋体"/>
                      </a:endParaRPr>
                    </a:p>
                  </a:txBody>
                  <a:tcPr marL="0" marR="0" marB="0" marT="10223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254635">
                        <a:lnSpc>
                          <a:spcPct val="100000"/>
                        </a:lnSpc>
                        <a:spcBef>
                          <a:spcPts val="805"/>
                        </a:spcBef>
                      </a:pPr>
                      <a:r>
                        <a:rPr dirty="0" sz="2400" spc="-25" b="1">
                          <a:solidFill>
                            <a:srgbClr val="40458B"/>
                          </a:solidFill>
                          <a:latin typeface="宋体"/>
                          <a:cs typeface="宋体"/>
                        </a:rPr>
                        <a:t>F8</a:t>
                      </a:r>
                      <a:endParaRPr sz="2400">
                        <a:latin typeface="宋体"/>
                        <a:cs typeface="宋体"/>
                      </a:endParaRPr>
                    </a:p>
                  </a:txBody>
                  <a:tcPr marL="0" marR="0" marB="0" marT="10223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309245">
                        <a:lnSpc>
                          <a:spcPct val="100000"/>
                        </a:lnSpc>
                        <a:spcBef>
                          <a:spcPts val="805"/>
                        </a:spcBef>
                      </a:pPr>
                      <a:r>
                        <a:rPr dirty="0" sz="2400" spc="-25" b="1">
                          <a:solidFill>
                            <a:srgbClr val="40458B"/>
                          </a:solidFill>
                          <a:latin typeface="宋体"/>
                          <a:cs typeface="宋体"/>
                        </a:rPr>
                        <a:t>F10</a:t>
                      </a:r>
                      <a:endParaRPr sz="2400">
                        <a:latin typeface="宋体"/>
                        <a:cs typeface="宋体"/>
                      </a:endParaRPr>
                    </a:p>
                  </a:txBody>
                  <a:tcPr marL="0" marR="0" marB="0" marT="10223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L="11430">
                        <a:lnSpc>
                          <a:spcPct val="100000"/>
                        </a:lnSpc>
                        <a:spcBef>
                          <a:spcPts val="805"/>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10223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160655">
                        <a:lnSpc>
                          <a:spcPct val="100000"/>
                        </a:lnSpc>
                        <a:spcBef>
                          <a:spcPts val="805"/>
                        </a:spcBef>
                      </a:pPr>
                      <a:r>
                        <a:rPr dirty="0" sz="2400" spc="-25" b="1">
                          <a:solidFill>
                            <a:srgbClr val="40458B"/>
                          </a:solidFill>
                          <a:latin typeface="宋体"/>
                          <a:cs typeface="宋体"/>
                        </a:rPr>
                        <a:t>F30</a:t>
                      </a:r>
                      <a:endParaRPr sz="2400">
                        <a:latin typeface="宋体"/>
                        <a:cs typeface="宋体"/>
                      </a:endParaRPr>
                    </a:p>
                  </a:txBody>
                  <a:tcPr marL="0" marR="0" marB="0" marT="10223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r h="556895">
                <a:tc>
                  <a:txBody>
                    <a:bodyPr/>
                    <a:lstStyle/>
                    <a:p>
                      <a:pPr algn="ctr" marR="10795">
                        <a:lnSpc>
                          <a:spcPct val="100000"/>
                        </a:lnSpc>
                        <a:spcBef>
                          <a:spcPts val="1040"/>
                        </a:spcBef>
                      </a:pPr>
                      <a:r>
                        <a:rPr dirty="0" sz="2400" spc="-25" b="1">
                          <a:solidFill>
                            <a:srgbClr val="40458B"/>
                          </a:solidFill>
                          <a:latin typeface="宋体"/>
                          <a:cs typeface="宋体"/>
                        </a:rPr>
                        <a:t>Qi</a:t>
                      </a:r>
                      <a:endParaRPr sz="2400">
                        <a:latin typeface="宋体"/>
                        <a:cs typeface="宋体"/>
                      </a:endParaRPr>
                    </a:p>
                  </a:txBody>
                  <a:tcPr marL="0" marR="0" marB="0" marT="1320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43180">
                        <a:lnSpc>
                          <a:spcPct val="100000"/>
                        </a:lnSpc>
                        <a:spcBef>
                          <a:spcPts val="1040"/>
                        </a:spcBef>
                      </a:pPr>
                      <a:r>
                        <a:rPr dirty="0" sz="2400" spc="-10" b="1">
                          <a:solidFill>
                            <a:srgbClr val="CC3399"/>
                          </a:solidFill>
                          <a:latin typeface="宋体"/>
                          <a:cs typeface="宋体"/>
                        </a:rPr>
                        <a:t>Mult1</a:t>
                      </a:r>
                      <a:endParaRPr sz="2400">
                        <a:latin typeface="宋体"/>
                        <a:cs typeface="宋体"/>
                      </a:endParaRPr>
                    </a:p>
                  </a:txBody>
                  <a:tcPr marL="0" marR="0" marB="0" marT="1320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marL="63500">
                        <a:lnSpc>
                          <a:spcPct val="100000"/>
                        </a:lnSpc>
                        <a:spcBef>
                          <a:spcPts val="1040"/>
                        </a:spcBef>
                      </a:pPr>
                      <a:r>
                        <a:rPr dirty="0" sz="2400" spc="-10" b="1">
                          <a:solidFill>
                            <a:srgbClr val="CC3399"/>
                          </a:solidFill>
                          <a:latin typeface="宋体"/>
                          <a:cs typeface="宋体"/>
                        </a:rPr>
                        <a:t>Mult2</a:t>
                      </a:r>
                      <a:endParaRPr sz="2400">
                        <a:latin typeface="宋体"/>
                        <a:cs typeface="宋体"/>
                      </a:endParaRPr>
                    </a:p>
                  </a:txBody>
                  <a:tcPr marL="0" marR="0" marB="0" marT="1320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gn="ctr" marL="11430">
                        <a:lnSpc>
                          <a:spcPct val="100000"/>
                        </a:lnSpc>
                        <a:spcBef>
                          <a:spcPts val="1040"/>
                        </a:spcBef>
                      </a:pPr>
                      <a:r>
                        <a:rPr dirty="0" sz="2400" spc="-50" b="1">
                          <a:solidFill>
                            <a:srgbClr val="40458B"/>
                          </a:solidFill>
                          <a:latin typeface="Times New Roman"/>
                          <a:cs typeface="Times New Roman"/>
                        </a:rPr>
                        <a:t>…</a:t>
                      </a:r>
                      <a:endParaRPr sz="2400">
                        <a:latin typeface="Times New Roman"/>
                        <a:cs typeface="Times New Roman"/>
                      </a:endParaRPr>
                    </a:p>
                  </a:txBody>
                  <a:tcPr marL="0" marR="0" marB="0" marT="1320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c>
                  <a:txBody>
                    <a:bodyPr/>
                    <a:lstStyle/>
                    <a:p>
                      <a:pPr>
                        <a:lnSpc>
                          <a:spcPct val="100000"/>
                        </a:lnSpc>
                      </a:pPr>
                      <a:endParaRPr sz="2000">
                        <a:latin typeface="Times New Roman"/>
                        <a:cs typeface="Times New Roman"/>
                      </a:endParaRPr>
                    </a:p>
                  </a:txBody>
                  <a:tcPr marL="0" marR="0" marB="0" marT="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8FCAE"/>
                    </a:solidFill>
                  </a:tcPr>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105/175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1764029" y="4045711"/>
            <a:ext cx="5055235" cy="1342390"/>
          </a:xfrm>
          <a:prstGeom prst="rect">
            <a:avLst/>
          </a:prstGeom>
        </p:spPr>
        <p:txBody>
          <a:bodyPr wrap="square" lIns="0" tIns="85725" rIns="0" bIns="0" rtlCol="0" vert="horz">
            <a:spAutoFit/>
          </a:bodyPr>
          <a:lstStyle/>
          <a:p>
            <a:pPr marL="469265" indent="-456565">
              <a:lnSpc>
                <a:spcPct val="100000"/>
              </a:lnSpc>
              <a:spcBef>
                <a:spcPts val="675"/>
              </a:spcBef>
              <a:buClr>
                <a:srgbClr val="40458B"/>
              </a:buClr>
              <a:buSzPct val="89583"/>
              <a:buFont typeface="Wingdings"/>
              <a:buChar char=""/>
              <a:tabLst>
                <a:tab pos="469265" algn="l"/>
              </a:tabLst>
            </a:pPr>
            <a:r>
              <a:rPr dirty="0" sz="2400" spc="-10">
                <a:solidFill>
                  <a:srgbClr val="D50092"/>
                </a:solidFill>
                <a:latin typeface="黑体"/>
                <a:cs typeface="黑体"/>
              </a:rPr>
              <a:t>result：</a:t>
            </a:r>
            <a:r>
              <a:rPr dirty="0" sz="2400">
                <a:solidFill>
                  <a:srgbClr val="40458B"/>
                </a:solidFill>
                <a:latin typeface="黑体"/>
                <a:cs typeface="黑体"/>
              </a:rPr>
              <a:t>浮点部件或load</a:t>
            </a:r>
            <a:r>
              <a:rPr dirty="0" sz="2400" spc="-15">
                <a:solidFill>
                  <a:srgbClr val="40458B"/>
                </a:solidFill>
                <a:latin typeface="黑体"/>
                <a:cs typeface="黑体"/>
              </a:rPr>
              <a:t>缓冲器返</a:t>
            </a:r>
            <a:endParaRPr sz="2400">
              <a:latin typeface="黑体"/>
              <a:cs typeface="黑体"/>
            </a:endParaRPr>
          </a:p>
          <a:p>
            <a:pPr marL="469265" indent="-456565">
              <a:lnSpc>
                <a:spcPct val="100000"/>
              </a:lnSpc>
              <a:spcBef>
                <a:spcPts val="575"/>
              </a:spcBef>
              <a:buClr>
                <a:srgbClr val="40458B"/>
              </a:buClr>
              <a:buSzPct val="89583"/>
              <a:buFont typeface="Wingdings"/>
              <a:buChar char=""/>
              <a:tabLst>
                <a:tab pos="469265" algn="l"/>
              </a:tabLst>
            </a:pPr>
            <a:r>
              <a:rPr dirty="0" sz="2400" spc="-10">
                <a:solidFill>
                  <a:srgbClr val="D50092"/>
                </a:solidFill>
                <a:latin typeface="黑体"/>
                <a:cs typeface="黑体"/>
              </a:rPr>
              <a:t>Qi：</a:t>
            </a:r>
            <a:r>
              <a:rPr dirty="0" sz="2400" spc="-10">
                <a:solidFill>
                  <a:srgbClr val="40458B"/>
                </a:solidFill>
                <a:latin typeface="黑体"/>
                <a:cs typeface="黑体"/>
              </a:rPr>
              <a:t>寄存器状态表；</a:t>
            </a:r>
            <a:endParaRPr sz="2400">
              <a:latin typeface="黑体"/>
              <a:cs typeface="黑体"/>
            </a:endParaRPr>
          </a:p>
          <a:p>
            <a:pPr marL="469265" indent="-456565">
              <a:lnSpc>
                <a:spcPct val="100000"/>
              </a:lnSpc>
              <a:spcBef>
                <a:spcPts val="575"/>
              </a:spcBef>
              <a:buClr>
                <a:srgbClr val="40458B"/>
              </a:buClr>
              <a:buSzPct val="89583"/>
              <a:buFont typeface="Wingdings"/>
              <a:buChar char=""/>
              <a:tabLst>
                <a:tab pos="469265" algn="l"/>
              </a:tabLst>
            </a:pPr>
            <a:r>
              <a:rPr dirty="0" sz="2400">
                <a:solidFill>
                  <a:srgbClr val="D50092"/>
                </a:solidFill>
                <a:latin typeface="黑体"/>
                <a:cs typeface="黑体"/>
              </a:rPr>
              <a:t>Regs[</a:t>
            </a:r>
            <a:r>
              <a:rPr dirty="0" sz="2400" spc="-10">
                <a:solidFill>
                  <a:srgbClr val="D50092"/>
                </a:solidFill>
                <a:latin typeface="黑体"/>
                <a:cs typeface="黑体"/>
              </a:rPr>
              <a:t> ]：</a:t>
            </a:r>
            <a:r>
              <a:rPr dirty="0" sz="2400" spc="-10">
                <a:solidFill>
                  <a:srgbClr val="40458B"/>
                </a:solidFill>
                <a:latin typeface="黑体"/>
                <a:cs typeface="黑体"/>
              </a:rPr>
              <a:t>寄存器组；</a:t>
            </a:r>
            <a:endParaRPr sz="2400">
              <a:latin typeface="黑体"/>
              <a:cs typeface="黑体"/>
            </a:endParaRPr>
          </a:p>
        </p:txBody>
      </p:sp>
      <p:sp>
        <p:nvSpPr>
          <p:cNvPr id="11" name="object 11" descr=""/>
          <p:cNvSpPr txBox="1"/>
          <p:nvPr/>
        </p:nvSpPr>
        <p:spPr>
          <a:xfrm>
            <a:off x="1134567" y="798017"/>
            <a:ext cx="7970520" cy="3273425"/>
          </a:xfrm>
          <a:prstGeom prst="rect">
            <a:avLst/>
          </a:prstGeom>
        </p:spPr>
        <p:txBody>
          <a:bodyPr wrap="square" lIns="0" tIns="12700" rIns="0" bIns="0" rtlCol="0" vert="horz">
            <a:spAutoFit/>
          </a:bodyPr>
          <a:lstStyle/>
          <a:p>
            <a:pPr marL="161925">
              <a:lnSpc>
                <a:spcPct val="100000"/>
              </a:lnSpc>
              <a:spcBef>
                <a:spcPts val="100"/>
              </a:spcBef>
            </a:pPr>
            <a:r>
              <a:rPr dirty="0" sz="2400">
                <a:solidFill>
                  <a:srgbClr val="006600"/>
                </a:solidFill>
                <a:latin typeface="黑体"/>
                <a:cs typeface="黑体"/>
              </a:rPr>
              <a:t>5.3.3</a:t>
            </a:r>
            <a:r>
              <a:rPr dirty="0" sz="2400" spc="-30">
                <a:solidFill>
                  <a:srgbClr val="006600"/>
                </a:solidFill>
                <a:latin typeface="黑体"/>
                <a:cs typeface="黑体"/>
              </a:rPr>
              <a:t> 具体算法</a:t>
            </a:r>
            <a:endParaRPr sz="2400">
              <a:latin typeface="黑体"/>
              <a:cs typeface="黑体"/>
            </a:endParaRPr>
          </a:p>
          <a:p>
            <a:pPr marL="12700">
              <a:lnSpc>
                <a:spcPct val="100000"/>
              </a:lnSpc>
              <a:spcBef>
                <a:spcPts val="1980"/>
              </a:spcBef>
            </a:pPr>
            <a:r>
              <a:rPr dirty="0" sz="2800" spc="-30">
                <a:solidFill>
                  <a:srgbClr val="001F5F"/>
                </a:solidFill>
                <a:latin typeface="黑体"/>
                <a:cs typeface="黑体"/>
              </a:rPr>
              <a:t>各符号的意义</a:t>
            </a:r>
            <a:endParaRPr sz="2800">
              <a:latin typeface="黑体"/>
              <a:cs typeface="黑体"/>
            </a:endParaRPr>
          </a:p>
          <a:p>
            <a:pPr marL="1099185" indent="-457200">
              <a:lnSpc>
                <a:spcPct val="100000"/>
              </a:lnSpc>
              <a:spcBef>
                <a:spcPts val="640"/>
              </a:spcBef>
              <a:buClr>
                <a:srgbClr val="40458B"/>
              </a:buClr>
              <a:buSzPct val="89583"/>
              <a:buFont typeface="Wingdings"/>
              <a:buChar char=""/>
              <a:tabLst>
                <a:tab pos="1099185" algn="l"/>
              </a:tabLst>
            </a:pPr>
            <a:r>
              <a:rPr dirty="0" sz="2400">
                <a:solidFill>
                  <a:srgbClr val="D50092"/>
                </a:solidFill>
                <a:latin typeface="黑体"/>
                <a:cs typeface="黑体"/>
              </a:rPr>
              <a:t>r：</a:t>
            </a:r>
            <a:r>
              <a:rPr dirty="0" sz="2400" spc="-5">
                <a:solidFill>
                  <a:srgbClr val="40458B"/>
                </a:solidFill>
                <a:latin typeface="黑体"/>
                <a:cs typeface="黑体"/>
              </a:rPr>
              <a:t>分配给当前指令的保留站或者缓冲器单元编号；</a:t>
            </a:r>
            <a:endParaRPr sz="2400">
              <a:latin typeface="黑体"/>
              <a:cs typeface="黑体"/>
            </a:endParaRPr>
          </a:p>
          <a:p>
            <a:pPr marL="1099185" indent="-457200">
              <a:lnSpc>
                <a:spcPct val="100000"/>
              </a:lnSpc>
              <a:spcBef>
                <a:spcPts val="580"/>
              </a:spcBef>
              <a:buClr>
                <a:srgbClr val="40458B"/>
              </a:buClr>
              <a:buSzPct val="89583"/>
              <a:buFont typeface="Wingdings"/>
              <a:buChar char=""/>
              <a:tabLst>
                <a:tab pos="1099185" algn="l"/>
              </a:tabLst>
            </a:pPr>
            <a:r>
              <a:rPr dirty="0" sz="2400" spc="-10">
                <a:solidFill>
                  <a:srgbClr val="D50092"/>
                </a:solidFill>
                <a:latin typeface="黑体"/>
                <a:cs typeface="黑体"/>
              </a:rPr>
              <a:t>rd：</a:t>
            </a:r>
            <a:r>
              <a:rPr dirty="0" sz="2400" spc="-20">
                <a:solidFill>
                  <a:srgbClr val="40458B"/>
                </a:solidFill>
                <a:latin typeface="黑体"/>
                <a:cs typeface="黑体"/>
              </a:rPr>
              <a:t>目标寄存器编号；</a:t>
            </a:r>
            <a:endParaRPr sz="2400">
              <a:latin typeface="黑体"/>
              <a:cs typeface="黑体"/>
            </a:endParaRPr>
          </a:p>
          <a:p>
            <a:pPr marL="1099185" indent="-457200">
              <a:lnSpc>
                <a:spcPct val="100000"/>
              </a:lnSpc>
              <a:spcBef>
                <a:spcPts val="575"/>
              </a:spcBef>
              <a:buClr>
                <a:srgbClr val="40458B"/>
              </a:buClr>
              <a:buSzPct val="89583"/>
              <a:buFont typeface="Wingdings"/>
              <a:buChar char=""/>
              <a:tabLst>
                <a:tab pos="1099185" algn="l"/>
              </a:tabLst>
            </a:pPr>
            <a:r>
              <a:rPr dirty="0" sz="2400" spc="-10">
                <a:solidFill>
                  <a:srgbClr val="D50092"/>
                </a:solidFill>
                <a:latin typeface="黑体"/>
                <a:cs typeface="黑体"/>
              </a:rPr>
              <a:t>rs</a:t>
            </a:r>
            <a:r>
              <a:rPr dirty="0" sz="2400">
                <a:solidFill>
                  <a:srgbClr val="D50092"/>
                </a:solidFill>
                <a:latin typeface="黑体"/>
                <a:cs typeface="黑体"/>
              </a:rPr>
              <a:t>、rt：</a:t>
            </a:r>
            <a:r>
              <a:rPr dirty="0" sz="2400" spc="-10">
                <a:solidFill>
                  <a:srgbClr val="40458B"/>
                </a:solidFill>
                <a:latin typeface="黑体"/>
                <a:cs typeface="黑体"/>
              </a:rPr>
              <a:t>操作数寄存器编号；</a:t>
            </a:r>
            <a:endParaRPr sz="2400">
              <a:latin typeface="黑体"/>
              <a:cs typeface="黑体"/>
            </a:endParaRPr>
          </a:p>
          <a:p>
            <a:pPr marL="1099185" indent="-457200">
              <a:lnSpc>
                <a:spcPct val="100000"/>
              </a:lnSpc>
              <a:spcBef>
                <a:spcPts val="580"/>
              </a:spcBef>
              <a:buClr>
                <a:srgbClr val="40458B"/>
              </a:buClr>
              <a:buSzPct val="89583"/>
              <a:buFont typeface="Wingdings"/>
              <a:buChar char=""/>
              <a:tabLst>
                <a:tab pos="1099185" algn="l"/>
              </a:tabLst>
            </a:pPr>
            <a:r>
              <a:rPr dirty="0" sz="2400" spc="-10">
                <a:solidFill>
                  <a:srgbClr val="D50092"/>
                </a:solidFill>
                <a:latin typeface="黑体"/>
                <a:cs typeface="黑体"/>
              </a:rPr>
              <a:t>imm：</a:t>
            </a:r>
            <a:r>
              <a:rPr dirty="0" sz="2400" spc="-5">
                <a:solidFill>
                  <a:srgbClr val="40458B"/>
                </a:solidFill>
                <a:latin typeface="黑体"/>
                <a:cs typeface="黑体"/>
              </a:rPr>
              <a:t>符号扩展后的立即数；</a:t>
            </a:r>
            <a:endParaRPr sz="2400">
              <a:latin typeface="黑体"/>
              <a:cs typeface="黑体"/>
            </a:endParaRPr>
          </a:p>
          <a:p>
            <a:pPr marL="1099185" indent="-457200">
              <a:lnSpc>
                <a:spcPct val="100000"/>
              </a:lnSpc>
              <a:spcBef>
                <a:spcPts val="575"/>
              </a:spcBef>
              <a:buClr>
                <a:srgbClr val="40458B"/>
              </a:buClr>
              <a:buSzPct val="89583"/>
              <a:buFont typeface="Wingdings"/>
              <a:buChar char=""/>
              <a:tabLst>
                <a:tab pos="1099185" algn="l"/>
              </a:tabLst>
            </a:pPr>
            <a:r>
              <a:rPr dirty="0" sz="2400" spc="-10">
                <a:solidFill>
                  <a:srgbClr val="D50092"/>
                </a:solidFill>
                <a:latin typeface="黑体"/>
                <a:cs typeface="黑体"/>
              </a:rPr>
              <a:t>RS：</a:t>
            </a:r>
            <a:r>
              <a:rPr dirty="0" sz="2400" spc="-20">
                <a:solidFill>
                  <a:srgbClr val="40458B"/>
                </a:solidFill>
                <a:latin typeface="黑体"/>
                <a:cs typeface="黑体"/>
              </a:rPr>
              <a:t>保留站；</a:t>
            </a:r>
            <a:endParaRPr sz="2400">
              <a:latin typeface="黑体"/>
              <a:cs typeface="黑体"/>
            </a:endParaRPr>
          </a:p>
        </p:txBody>
      </p:sp>
      <p:pic>
        <p:nvPicPr>
          <p:cNvPr id="12" name="object 12" descr=""/>
          <p:cNvPicPr/>
          <p:nvPr/>
        </p:nvPicPr>
        <p:blipFill>
          <a:blip r:embed="rId2" cstate="print"/>
          <a:stretch>
            <a:fillRect/>
          </a:stretch>
        </p:blipFill>
        <p:spPr>
          <a:xfrm>
            <a:off x="6838188" y="4204589"/>
            <a:ext cx="238125" cy="250825"/>
          </a:xfrm>
          <a:prstGeom prst="rect">
            <a:avLst/>
          </a:prstGeom>
        </p:spPr>
      </p:pic>
      <p:sp>
        <p:nvSpPr>
          <p:cNvPr id="13" name="object 13" descr=""/>
          <p:cNvSpPr txBox="1"/>
          <p:nvPr/>
        </p:nvSpPr>
        <p:spPr>
          <a:xfrm>
            <a:off x="7098538" y="4118864"/>
            <a:ext cx="1244600" cy="391160"/>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40458B"/>
                </a:solidFill>
                <a:latin typeface="黑体"/>
                <a:cs typeface="黑体"/>
              </a:rPr>
              <a:t>的结果；</a:t>
            </a:r>
            <a:endParaRPr sz="2400">
              <a:latin typeface="黑体"/>
              <a:cs typeface="黑体"/>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106/175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741070" y="799541"/>
            <a:ext cx="11537950" cy="4324985"/>
          </a:xfrm>
          <a:prstGeom prst="rect">
            <a:avLst/>
          </a:prstGeom>
        </p:spPr>
        <p:txBody>
          <a:bodyPr wrap="square" lIns="0" tIns="12065" rIns="0" bIns="0" rtlCol="0" vert="horz">
            <a:spAutoFit/>
          </a:bodyPr>
          <a:lstStyle/>
          <a:p>
            <a:pPr marL="261620">
              <a:lnSpc>
                <a:spcPct val="100000"/>
              </a:lnSpc>
              <a:spcBef>
                <a:spcPts val="95"/>
              </a:spcBef>
            </a:pPr>
            <a:r>
              <a:rPr dirty="0" sz="2800" spc="-35">
                <a:solidFill>
                  <a:srgbClr val="40458B"/>
                </a:solidFill>
                <a:latin typeface="黑体"/>
                <a:cs typeface="黑体"/>
              </a:rPr>
              <a:t>各符号的意义</a:t>
            </a:r>
            <a:endParaRPr sz="2800">
              <a:latin typeface="黑体"/>
              <a:cs typeface="黑体"/>
            </a:endParaRPr>
          </a:p>
          <a:p>
            <a:pPr marL="469265" indent="-456565">
              <a:lnSpc>
                <a:spcPct val="100000"/>
              </a:lnSpc>
              <a:spcBef>
                <a:spcPts val="2180"/>
              </a:spcBef>
              <a:buSzPct val="89583"/>
              <a:buFont typeface="Wingdings"/>
              <a:buChar char=""/>
              <a:tabLst>
                <a:tab pos="469265" algn="l"/>
              </a:tabLst>
            </a:pPr>
            <a:r>
              <a:rPr dirty="0" sz="2400" spc="-10">
                <a:solidFill>
                  <a:srgbClr val="40458B"/>
                </a:solidFill>
                <a:latin typeface="黑体"/>
                <a:cs typeface="黑体"/>
              </a:rPr>
              <a:t>与</a:t>
            </a:r>
            <a:r>
              <a:rPr dirty="0" sz="2400" spc="-20" b="1">
                <a:solidFill>
                  <a:srgbClr val="40458B"/>
                </a:solidFill>
                <a:latin typeface="宋体"/>
                <a:cs typeface="宋体"/>
              </a:rPr>
              <a:t>rs</a:t>
            </a:r>
            <a:r>
              <a:rPr dirty="0" sz="2400" spc="-5">
                <a:solidFill>
                  <a:srgbClr val="40458B"/>
                </a:solidFill>
                <a:latin typeface="黑体"/>
                <a:cs typeface="黑体"/>
              </a:rPr>
              <a:t>对应的保留站字段：</a:t>
            </a:r>
            <a:r>
              <a:rPr dirty="0" sz="2400" spc="-10" b="1">
                <a:solidFill>
                  <a:srgbClr val="D50092"/>
                </a:solidFill>
                <a:latin typeface="宋体"/>
                <a:cs typeface="宋体"/>
              </a:rPr>
              <a:t>Vj</a:t>
            </a:r>
            <a:r>
              <a:rPr dirty="0" sz="2400" spc="-10" b="1">
                <a:solidFill>
                  <a:srgbClr val="D50092"/>
                </a:solidFill>
                <a:latin typeface="黑体"/>
                <a:cs typeface="黑体"/>
              </a:rPr>
              <a:t>，</a:t>
            </a:r>
            <a:r>
              <a:rPr dirty="0" sz="2400" spc="-10" b="1">
                <a:solidFill>
                  <a:srgbClr val="D50092"/>
                </a:solidFill>
                <a:latin typeface="宋体"/>
                <a:cs typeface="宋体"/>
              </a:rPr>
              <a:t>Qj</a:t>
            </a:r>
            <a:endParaRPr sz="2400">
              <a:latin typeface="宋体"/>
              <a:cs typeface="宋体"/>
            </a:endParaRPr>
          </a:p>
          <a:p>
            <a:pPr marL="628015">
              <a:lnSpc>
                <a:spcPct val="100000"/>
              </a:lnSpc>
              <a:spcBef>
                <a:spcPts val="1375"/>
              </a:spcBef>
            </a:pPr>
            <a:r>
              <a:rPr dirty="0" sz="2200" spc="15" b="1">
                <a:solidFill>
                  <a:srgbClr val="D50092"/>
                </a:solidFill>
                <a:latin typeface="黑体"/>
                <a:cs typeface="黑体"/>
              </a:rPr>
              <a:t>若数据可用， </a:t>
            </a:r>
            <a:r>
              <a:rPr dirty="0" sz="2200" spc="-10" b="1">
                <a:solidFill>
                  <a:srgbClr val="D50092"/>
                </a:solidFill>
                <a:latin typeface="宋体"/>
                <a:cs typeface="宋体"/>
              </a:rPr>
              <a:t>Vj</a:t>
            </a:r>
            <a:r>
              <a:rPr dirty="0" sz="2200" spc="-20" b="1">
                <a:solidFill>
                  <a:srgbClr val="D50092"/>
                </a:solidFill>
                <a:latin typeface="黑体"/>
                <a:cs typeface="黑体"/>
              </a:rPr>
              <a:t>存放就绪的数据，</a:t>
            </a:r>
            <a:r>
              <a:rPr dirty="0" sz="2200" spc="-10" b="1">
                <a:solidFill>
                  <a:srgbClr val="D50092"/>
                </a:solidFill>
                <a:latin typeface="宋体"/>
                <a:cs typeface="宋体"/>
              </a:rPr>
              <a:t>Qj</a:t>
            </a:r>
            <a:r>
              <a:rPr dirty="0" sz="2200" spc="-25" b="1">
                <a:solidFill>
                  <a:srgbClr val="D50092"/>
                </a:solidFill>
                <a:latin typeface="黑体"/>
                <a:cs typeface="黑体"/>
              </a:rPr>
              <a:t>则保存为</a:t>
            </a:r>
            <a:r>
              <a:rPr dirty="0" sz="2200" spc="-10" b="1">
                <a:solidFill>
                  <a:srgbClr val="D50092"/>
                </a:solidFill>
                <a:latin typeface="宋体"/>
                <a:cs typeface="宋体"/>
              </a:rPr>
              <a:t>0</a:t>
            </a:r>
            <a:r>
              <a:rPr dirty="0" sz="2200" spc="-10" b="1">
                <a:solidFill>
                  <a:srgbClr val="D50092"/>
                </a:solidFill>
                <a:latin typeface="黑体"/>
                <a:cs typeface="黑体"/>
              </a:rPr>
              <a:t>，</a:t>
            </a:r>
            <a:r>
              <a:rPr dirty="0" sz="2200" spc="-25" b="1">
                <a:solidFill>
                  <a:srgbClr val="006FC0"/>
                </a:solidFill>
                <a:latin typeface="黑体"/>
                <a:cs typeface="黑体"/>
              </a:rPr>
              <a:t>否则</a:t>
            </a:r>
            <a:r>
              <a:rPr dirty="0" sz="2200" spc="-10" b="1">
                <a:solidFill>
                  <a:srgbClr val="D50092"/>
                </a:solidFill>
                <a:latin typeface="宋体"/>
                <a:cs typeface="宋体"/>
              </a:rPr>
              <a:t>Qj</a:t>
            </a:r>
            <a:r>
              <a:rPr dirty="0" sz="2200" spc="-30" b="1">
                <a:solidFill>
                  <a:srgbClr val="D50092"/>
                </a:solidFill>
                <a:latin typeface="黑体"/>
                <a:cs typeface="黑体"/>
              </a:rPr>
              <a:t>保存产生这个操作数的保留站</a:t>
            </a:r>
            <a:endParaRPr sz="2200">
              <a:latin typeface="黑体"/>
              <a:cs typeface="黑体"/>
            </a:endParaRPr>
          </a:p>
          <a:p>
            <a:pPr marL="12700">
              <a:lnSpc>
                <a:spcPct val="100000"/>
              </a:lnSpc>
              <a:spcBef>
                <a:spcPts val="600"/>
              </a:spcBef>
            </a:pPr>
            <a:r>
              <a:rPr dirty="0" sz="2200" spc="-10" b="1">
                <a:solidFill>
                  <a:srgbClr val="D50092"/>
                </a:solidFill>
                <a:latin typeface="黑体"/>
                <a:cs typeface="黑体"/>
              </a:rPr>
              <a:t>号</a:t>
            </a:r>
            <a:r>
              <a:rPr dirty="0" sz="2200" spc="-25" b="1">
                <a:solidFill>
                  <a:srgbClr val="D50092"/>
                </a:solidFill>
                <a:latin typeface="黑体"/>
                <a:cs typeface="黑体"/>
              </a:rPr>
              <a:t>（这个操作数可能来自一个功能部件或者来自缓冲区单元）</a:t>
            </a:r>
            <a:r>
              <a:rPr dirty="0" sz="2200" spc="-50" b="1">
                <a:solidFill>
                  <a:srgbClr val="D50092"/>
                </a:solidFill>
                <a:latin typeface="黑体"/>
                <a:cs typeface="黑体"/>
              </a:rPr>
              <a:t>。</a:t>
            </a:r>
            <a:endParaRPr sz="2200">
              <a:latin typeface="黑体"/>
              <a:cs typeface="黑体"/>
            </a:endParaRPr>
          </a:p>
          <a:p>
            <a:pPr marL="469265" indent="-456565">
              <a:lnSpc>
                <a:spcPct val="100000"/>
              </a:lnSpc>
              <a:spcBef>
                <a:spcPts val="1120"/>
              </a:spcBef>
              <a:buSzPct val="89583"/>
              <a:buFont typeface="Wingdings"/>
              <a:buChar char=""/>
              <a:tabLst>
                <a:tab pos="469265" algn="l"/>
              </a:tabLst>
            </a:pPr>
            <a:r>
              <a:rPr dirty="0" sz="2400" spc="-10">
                <a:solidFill>
                  <a:srgbClr val="40458B"/>
                </a:solidFill>
                <a:latin typeface="黑体"/>
                <a:cs typeface="黑体"/>
              </a:rPr>
              <a:t>与</a:t>
            </a:r>
            <a:r>
              <a:rPr dirty="0" sz="2400" spc="-20" b="1">
                <a:solidFill>
                  <a:srgbClr val="40458B"/>
                </a:solidFill>
                <a:latin typeface="宋体"/>
                <a:cs typeface="宋体"/>
              </a:rPr>
              <a:t>rt</a:t>
            </a:r>
            <a:r>
              <a:rPr dirty="0" sz="2400" spc="-5">
                <a:solidFill>
                  <a:srgbClr val="40458B"/>
                </a:solidFill>
                <a:latin typeface="黑体"/>
                <a:cs typeface="黑体"/>
              </a:rPr>
              <a:t>对应的保留站字段：</a:t>
            </a:r>
            <a:r>
              <a:rPr dirty="0" sz="2400" spc="-10" b="1">
                <a:solidFill>
                  <a:srgbClr val="D50092"/>
                </a:solidFill>
                <a:latin typeface="宋体"/>
                <a:cs typeface="宋体"/>
              </a:rPr>
              <a:t>Vk</a:t>
            </a:r>
            <a:r>
              <a:rPr dirty="0" sz="2400" spc="-10" b="1">
                <a:solidFill>
                  <a:srgbClr val="D50092"/>
                </a:solidFill>
                <a:latin typeface="黑体"/>
                <a:cs typeface="黑体"/>
              </a:rPr>
              <a:t>，</a:t>
            </a:r>
            <a:r>
              <a:rPr dirty="0" sz="2400" spc="-10" b="1">
                <a:solidFill>
                  <a:srgbClr val="D50092"/>
                </a:solidFill>
                <a:latin typeface="宋体"/>
                <a:cs typeface="宋体"/>
              </a:rPr>
              <a:t>Qk</a:t>
            </a:r>
            <a:endParaRPr sz="2400">
              <a:latin typeface="宋体"/>
              <a:cs typeface="宋体"/>
            </a:endParaRPr>
          </a:p>
          <a:p>
            <a:pPr marL="469265" indent="-456565">
              <a:lnSpc>
                <a:spcPct val="100000"/>
              </a:lnSpc>
              <a:spcBef>
                <a:spcPts val="1155"/>
              </a:spcBef>
              <a:buClr>
                <a:srgbClr val="40458B"/>
              </a:buClr>
              <a:buSzPct val="89583"/>
              <a:buFont typeface="Wingdings"/>
              <a:buChar char=""/>
              <a:tabLst>
                <a:tab pos="469265" algn="l"/>
              </a:tabLst>
            </a:pPr>
            <a:r>
              <a:rPr dirty="0" sz="2400" spc="-10">
                <a:solidFill>
                  <a:srgbClr val="9933FF"/>
                </a:solidFill>
                <a:latin typeface="黑体"/>
                <a:cs typeface="黑体"/>
              </a:rPr>
              <a:t>Qi、Qj</a:t>
            </a:r>
            <a:r>
              <a:rPr dirty="0" sz="2400">
                <a:solidFill>
                  <a:srgbClr val="9933FF"/>
                </a:solidFill>
                <a:latin typeface="黑体"/>
                <a:cs typeface="黑体"/>
              </a:rPr>
              <a:t>、</a:t>
            </a:r>
            <a:r>
              <a:rPr dirty="0" sz="2400" spc="-10">
                <a:solidFill>
                  <a:srgbClr val="9933FF"/>
                </a:solidFill>
                <a:latin typeface="黑体"/>
                <a:cs typeface="黑体"/>
              </a:rPr>
              <a:t>Qk</a:t>
            </a:r>
            <a:r>
              <a:rPr dirty="0" sz="2400" spc="-10">
                <a:solidFill>
                  <a:srgbClr val="40458B"/>
                </a:solidFill>
                <a:latin typeface="黑体"/>
                <a:cs typeface="黑体"/>
              </a:rPr>
              <a:t>的内容或者为</a:t>
            </a:r>
            <a:r>
              <a:rPr dirty="0" sz="2400" spc="-10">
                <a:solidFill>
                  <a:srgbClr val="D50092"/>
                </a:solidFill>
                <a:latin typeface="黑体"/>
                <a:cs typeface="黑体"/>
              </a:rPr>
              <a:t>0</a:t>
            </a:r>
            <a:r>
              <a:rPr dirty="0" sz="2400" spc="-10">
                <a:solidFill>
                  <a:srgbClr val="40458B"/>
                </a:solidFill>
                <a:latin typeface="黑体"/>
                <a:cs typeface="黑体"/>
              </a:rPr>
              <a:t>，或者是一个大于</a:t>
            </a:r>
            <a:r>
              <a:rPr dirty="0" sz="2400" spc="-10">
                <a:solidFill>
                  <a:srgbClr val="D50092"/>
                </a:solidFill>
                <a:latin typeface="黑体"/>
                <a:cs typeface="黑体"/>
              </a:rPr>
              <a:t>0</a:t>
            </a:r>
            <a:r>
              <a:rPr dirty="0" sz="2400" spc="-15">
                <a:solidFill>
                  <a:srgbClr val="40458B"/>
                </a:solidFill>
                <a:latin typeface="黑体"/>
                <a:cs typeface="黑体"/>
              </a:rPr>
              <a:t>的整数。</a:t>
            </a:r>
            <a:endParaRPr sz="2400">
              <a:latin typeface="黑体"/>
              <a:cs typeface="黑体"/>
            </a:endParaRPr>
          </a:p>
          <a:p>
            <a:pPr lvl="1" marL="794385" indent="-457200">
              <a:lnSpc>
                <a:spcPct val="100000"/>
              </a:lnSpc>
              <a:spcBef>
                <a:spcPts val="1025"/>
              </a:spcBef>
              <a:buClr>
                <a:srgbClr val="4668F5"/>
              </a:buClr>
              <a:buSzPct val="70000"/>
              <a:buFont typeface="Wingdings"/>
              <a:buChar char=""/>
              <a:tabLst>
                <a:tab pos="794385" algn="l"/>
              </a:tabLst>
            </a:pPr>
            <a:r>
              <a:rPr dirty="0" sz="2000" spc="-10" b="1">
                <a:solidFill>
                  <a:srgbClr val="9933FF"/>
                </a:solidFill>
                <a:latin typeface="宋体"/>
                <a:cs typeface="宋体"/>
              </a:rPr>
              <a:t>Qi</a:t>
            </a:r>
            <a:r>
              <a:rPr dirty="0" sz="2000" spc="-10" b="1">
                <a:solidFill>
                  <a:srgbClr val="9966FF"/>
                </a:solidFill>
                <a:latin typeface="宋体"/>
                <a:cs typeface="宋体"/>
              </a:rPr>
              <a:t>为</a:t>
            </a:r>
            <a:r>
              <a:rPr dirty="0" sz="2000" spc="-10" b="1">
                <a:solidFill>
                  <a:srgbClr val="D50092"/>
                </a:solidFill>
                <a:latin typeface="宋体"/>
                <a:cs typeface="宋体"/>
              </a:rPr>
              <a:t>0</a:t>
            </a:r>
            <a:r>
              <a:rPr dirty="0" sz="2000" spc="-25" b="1">
                <a:solidFill>
                  <a:srgbClr val="9966FF"/>
                </a:solidFill>
                <a:latin typeface="宋体"/>
                <a:cs typeface="宋体"/>
              </a:rPr>
              <a:t>表示相应寄存器中的数据就绪。</a:t>
            </a:r>
            <a:endParaRPr sz="2000">
              <a:latin typeface="宋体"/>
              <a:cs typeface="宋体"/>
            </a:endParaRPr>
          </a:p>
          <a:p>
            <a:pPr lvl="1" marL="794385" indent="-457200">
              <a:lnSpc>
                <a:spcPct val="100000"/>
              </a:lnSpc>
              <a:spcBef>
                <a:spcPts val="960"/>
              </a:spcBef>
              <a:buClr>
                <a:srgbClr val="4668F5"/>
              </a:buClr>
              <a:buSzPct val="70000"/>
              <a:buFont typeface="Wingdings"/>
              <a:buChar char=""/>
              <a:tabLst>
                <a:tab pos="794385" algn="l"/>
              </a:tabLst>
            </a:pPr>
            <a:r>
              <a:rPr dirty="0" sz="2000" spc="-10" b="1">
                <a:solidFill>
                  <a:srgbClr val="9933FF"/>
                </a:solidFill>
                <a:latin typeface="宋体"/>
                <a:cs typeface="宋体"/>
              </a:rPr>
              <a:t>Qj、Qk</a:t>
            </a:r>
            <a:r>
              <a:rPr dirty="0" sz="2000" spc="-10" b="1">
                <a:solidFill>
                  <a:srgbClr val="9966FF"/>
                </a:solidFill>
                <a:latin typeface="宋体"/>
                <a:cs typeface="宋体"/>
              </a:rPr>
              <a:t>为</a:t>
            </a:r>
            <a:r>
              <a:rPr dirty="0" sz="2000" spc="-15" b="1">
                <a:solidFill>
                  <a:srgbClr val="D50092"/>
                </a:solidFill>
                <a:latin typeface="宋体"/>
                <a:cs typeface="宋体"/>
              </a:rPr>
              <a:t>0</a:t>
            </a:r>
            <a:r>
              <a:rPr dirty="0" sz="2000" spc="-20" b="1">
                <a:solidFill>
                  <a:srgbClr val="9966FF"/>
                </a:solidFill>
                <a:latin typeface="宋体"/>
                <a:cs typeface="宋体"/>
              </a:rPr>
              <a:t>表示保留站或缓冲器单元中的</a:t>
            </a:r>
            <a:r>
              <a:rPr dirty="0" sz="2000" spc="-15" b="1">
                <a:solidFill>
                  <a:srgbClr val="9933FF"/>
                </a:solidFill>
                <a:latin typeface="宋体"/>
                <a:cs typeface="宋体"/>
              </a:rPr>
              <a:t>Vj</a:t>
            </a:r>
            <a:r>
              <a:rPr dirty="0" sz="2000" spc="-10" b="1">
                <a:solidFill>
                  <a:srgbClr val="9966FF"/>
                </a:solidFill>
                <a:latin typeface="宋体"/>
                <a:cs typeface="宋体"/>
              </a:rPr>
              <a:t>或</a:t>
            </a:r>
            <a:r>
              <a:rPr dirty="0" sz="2000" spc="-10" b="1">
                <a:solidFill>
                  <a:srgbClr val="9933FF"/>
                </a:solidFill>
                <a:latin typeface="宋体"/>
                <a:cs typeface="宋体"/>
              </a:rPr>
              <a:t>Vk</a:t>
            </a:r>
            <a:r>
              <a:rPr dirty="0" sz="2000" spc="-25" b="1">
                <a:solidFill>
                  <a:srgbClr val="9966FF"/>
                </a:solidFill>
                <a:latin typeface="宋体"/>
                <a:cs typeface="宋体"/>
              </a:rPr>
              <a:t>字段中的数据就绪。</a:t>
            </a:r>
            <a:endParaRPr sz="2000">
              <a:latin typeface="宋体"/>
              <a:cs typeface="宋体"/>
            </a:endParaRPr>
          </a:p>
          <a:p>
            <a:pPr lvl="1" marL="794385" indent="-457200">
              <a:lnSpc>
                <a:spcPct val="100000"/>
              </a:lnSpc>
              <a:spcBef>
                <a:spcPts val="960"/>
              </a:spcBef>
              <a:buClr>
                <a:srgbClr val="4668F5"/>
              </a:buClr>
              <a:buSzPct val="70000"/>
              <a:buFont typeface="Wingdings"/>
              <a:buChar char=""/>
              <a:tabLst>
                <a:tab pos="794385" algn="l"/>
              </a:tabLst>
            </a:pPr>
            <a:r>
              <a:rPr dirty="0" sz="2000" spc="-15" b="1">
                <a:solidFill>
                  <a:srgbClr val="9966FF"/>
                </a:solidFill>
                <a:latin typeface="宋体"/>
                <a:cs typeface="宋体"/>
              </a:rPr>
              <a:t>当它们为</a:t>
            </a:r>
            <a:r>
              <a:rPr dirty="0" sz="2000" spc="-20" b="1">
                <a:solidFill>
                  <a:srgbClr val="D50092"/>
                </a:solidFill>
                <a:latin typeface="宋体"/>
                <a:cs typeface="宋体"/>
              </a:rPr>
              <a:t>正整数</a:t>
            </a:r>
            <a:r>
              <a:rPr dirty="0" sz="2000" spc="-10" b="1">
                <a:solidFill>
                  <a:srgbClr val="D50092"/>
                </a:solidFill>
                <a:latin typeface="宋体"/>
                <a:cs typeface="宋体"/>
              </a:rPr>
              <a:t>（</a:t>
            </a:r>
            <a:r>
              <a:rPr dirty="0" sz="2000" spc="-20" b="1">
                <a:solidFill>
                  <a:srgbClr val="D50092"/>
                </a:solidFill>
                <a:latin typeface="宋体"/>
                <a:cs typeface="宋体"/>
              </a:rPr>
              <a:t>保留站的编号</a:t>
            </a:r>
            <a:r>
              <a:rPr dirty="0" sz="2000" spc="-10" b="1">
                <a:solidFill>
                  <a:srgbClr val="D50092"/>
                </a:solidFill>
                <a:latin typeface="宋体"/>
                <a:cs typeface="宋体"/>
              </a:rPr>
              <a:t>）</a:t>
            </a:r>
            <a:r>
              <a:rPr dirty="0" sz="2000" spc="-25" b="1">
                <a:solidFill>
                  <a:srgbClr val="9966FF"/>
                </a:solidFill>
                <a:latin typeface="宋体"/>
                <a:cs typeface="宋体"/>
              </a:rPr>
              <a:t>时，表示相应的寄存器、保留站或缓冲器单元正在等待结果。</a:t>
            </a:r>
            <a:endParaRPr sz="2000">
              <a:latin typeface="宋体"/>
              <a:cs typeface="宋体"/>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107/175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5.3</a:t>
            </a:r>
            <a:r>
              <a:rPr dirty="0" spc="-15"/>
              <a:t> 指令的动态调度</a:t>
            </a:r>
          </a:p>
        </p:txBody>
      </p:sp>
      <p:sp>
        <p:nvSpPr>
          <p:cNvPr id="10" name="object 10" descr=""/>
          <p:cNvSpPr txBox="1"/>
          <p:nvPr/>
        </p:nvSpPr>
        <p:spPr>
          <a:xfrm>
            <a:off x="6596253" y="1866138"/>
            <a:ext cx="2659380" cy="391160"/>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40458B"/>
                </a:solidFill>
                <a:latin typeface="微软雅黑"/>
                <a:cs typeface="微软雅黑"/>
              </a:rPr>
              <a:t>L.D</a:t>
            </a:r>
            <a:r>
              <a:rPr dirty="0" sz="2400" spc="-55" b="1">
                <a:solidFill>
                  <a:srgbClr val="40458B"/>
                </a:solidFill>
                <a:latin typeface="微软雅黑"/>
                <a:cs typeface="微软雅黑"/>
              </a:rPr>
              <a:t> </a:t>
            </a:r>
            <a:r>
              <a:rPr dirty="0" sz="2400" spc="-10" b="1">
                <a:solidFill>
                  <a:srgbClr val="40458B"/>
                </a:solidFill>
                <a:latin typeface="微软雅黑"/>
                <a:cs typeface="微软雅黑"/>
              </a:rPr>
              <a:t>F2，45（R3）</a:t>
            </a:r>
            <a:endParaRPr sz="2400">
              <a:latin typeface="微软雅黑"/>
              <a:cs typeface="微软雅黑"/>
            </a:endParaRPr>
          </a:p>
        </p:txBody>
      </p:sp>
      <p:sp>
        <p:nvSpPr>
          <p:cNvPr id="11" name="object 11" descr=""/>
          <p:cNvSpPr/>
          <p:nvPr/>
        </p:nvSpPr>
        <p:spPr>
          <a:xfrm>
            <a:off x="8607425" y="2378075"/>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799" y="0"/>
                </a:moveTo>
                <a:lnTo>
                  <a:pt x="0" y="85725"/>
                </a:lnTo>
                <a:lnTo>
                  <a:pt x="28575" y="85725"/>
                </a:lnTo>
                <a:lnTo>
                  <a:pt x="28575" y="71374"/>
                </a:lnTo>
                <a:lnTo>
                  <a:pt x="78538" y="71374"/>
                </a:lnTo>
                <a:lnTo>
                  <a:pt x="42799" y="0"/>
                </a:lnTo>
                <a:close/>
              </a:path>
              <a:path w="85725" h="457200">
                <a:moveTo>
                  <a:pt x="78538" y="71374"/>
                </a:moveTo>
                <a:lnTo>
                  <a:pt x="57150" y="71374"/>
                </a:lnTo>
                <a:lnTo>
                  <a:pt x="57150" y="85725"/>
                </a:lnTo>
                <a:lnTo>
                  <a:pt x="85725" y="85725"/>
                </a:lnTo>
                <a:lnTo>
                  <a:pt x="78538" y="71374"/>
                </a:lnTo>
                <a:close/>
              </a:path>
            </a:pathLst>
          </a:custGeom>
          <a:solidFill>
            <a:srgbClr val="5782F8"/>
          </a:solidFill>
        </p:spPr>
        <p:txBody>
          <a:bodyPr wrap="square" lIns="0" tIns="0" rIns="0" bIns="0" rtlCol="0"/>
          <a:lstStyle/>
          <a:p/>
        </p:txBody>
      </p:sp>
      <p:sp>
        <p:nvSpPr>
          <p:cNvPr id="12" name="object 12" descr=""/>
          <p:cNvSpPr/>
          <p:nvPr/>
        </p:nvSpPr>
        <p:spPr>
          <a:xfrm>
            <a:off x="7388225" y="2378075"/>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799" y="0"/>
                </a:moveTo>
                <a:lnTo>
                  <a:pt x="0" y="85725"/>
                </a:lnTo>
                <a:lnTo>
                  <a:pt x="28575" y="85725"/>
                </a:lnTo>
                <a:lnTo>
                  <a:pt x="28575" y="71374"/>
                </a:lnTo>
                <a:lnTo>
                  <a:pt x="78538" y="71374"/>
                </a:lnTo>
                <a:lnTo>
                  <a:pt x="42799" y="0"/>
                </a:lnTo>
                <a:close/>
              </a:path>
              <a:path w="85725" h="457200">
                <a:moveTo>
                  <a:pt x="78538" y="71374"/>
                </a:moveTo>
                <a:lnTo>
                  <a:pt x="57150" y="71374"/>
                </a:lnTo>
                <a:lnTo>
                  <a:pt x="57150" y="85725"/>
                </a:lnTo>
                <a:lnTo>
                  <a:pt x="85725" y="85725"/>
                </a:lnTo>
                <a:lnTo>
                  <a:pt x="78538" y="71374"/>
                </a:lnTo>
                <a:close/>
              </a:path>
            </a:pathLst>
          </a:custGeom>
          <a:solidFill>
            <a:srgbClr val="5782F8"/>
          </a:solidFill>
        </p:spPr>
        <p:txBody>
          <a:bodyPr wrap="square" lIns="0" tIns="0" rIns="0" bIns="0" rtlCol="0"/>
          <a:lstStyle/>
          <a:p/>
        </p:txBody>
      </p:sp>
      <p:sp>
        <p:nvSpPr>
          <p:cNvPr id="13" name="object 13" descr=""/>
          <p:cNvSpPr/>
          <p:nvPr/>
        </p:nvSpPr>
        <p:spPr>
          <a:xfrm>
            <a:off x="7997825" y="2378075"/>
            <a:ext cx="85725" cy="457200"/>
          </a:xfrm>
          <a:custGeom>
            <a:avLst/>
            <a:gdLst/>
            <a:ahLst/>
            <a:cxnLst/>
            <a:rect l="l" t="t" r="r" b="b"/>
            <a:pathLst>
              <a:path w="85725" h="457200">
                <a:moveTo>
                  <a:pt x="57150" y="71500"/>
                </a:moveTo>
                <a:lnTo>
                  <a:pt x="28575" y="71500"/>
                </a:lnTo>
                <a:lnTo>
                  <a:pt x="28575" y="457200"/>
                </a:lnTo>
                <a:lnTo>
                  <a:pt x="57150" y="457200"/>
                </a:lnTo>
                <a:lnTo>
                  <a:pt x="57150" y="71500"/>
                </a:lnTo>
                <a:close/>
              </a:path>
              <a:path w="85725" h="457200">
                <a:moveTo>
                  <a:pt x="42799" y="0"/>
                </a:moveTo>
                <a:lnTo>
                  <a:pt x="0" y="85725"/>
                </a:lnTo>
                <a:lnTo>
                  <a:pt x="28575" y="85725"/>
                </a:lnTo>
                <a:lnTo>
                  <a:pt x="28575" y="71500"/>
                </a:lnTo>
                <a:lnTo>
                  <a:pt x="78602" y="71500"/>
                </a:lnTo>
                <a:lnTo>
                  <a:pt x="42799" y="0"/>
                </a:lnTo>
                <a:close/>
              </a:path>
              <a:path w="85725" h="457200">
                <a:moveTo>
                  <a:pt x="78602" y="71500"/>
                </a:moveTo>
                <a:lnTo>
                  <a:pt x="57150" y="71500"/>
                </a:lnTo>
                <a:lnTo>
                  <a:pt x="57150" y="85725"/>
                </a:lnTo>
                <a:lnTo>
                  <a:pt x="85725" y="85725"/>
                </a:lnTo>
                <a:lnTo>
                  <a:pt x="78602" y="71500"/>
                </a:lnTo>
                <a:close/>
              </a:path>
            </a:pathLst>
          </a:custGeom>
          <a:solidFill>
            <a:srgbClr val="5782F8"/>
          </a:solidFill>
        </p:spPr>
        <p:txBody>
          <a:bodyPr wrap="square" lIns="0" tIns="0" rIns="0" bIns="0" rtlCol="0"/>
          <a:lstStyle/>
          <a:p/>
        </p:txBody>
      </p:sp>
      <p:sp>
        <p:nvSpPr>
          <p:cNvPr id="14" name="object 14" descr=""/>
          <p:cNvSpPr txBox="1"/>
          <p:nvPr/>
        </p:nvSpPr>
        <p:spPr>
          <a:xfrm>
            <a:off x="8577833" y="3388867"/>
            <a:ext cx="132715" cy="452120"/>
          </a:xfrm>
          <a:prstGeom prst="rect">
            <a:avLst/>
          </a:prstGeom>
        </p:spPr>
        <p:txBody>
          <a:bodyPr wrap="square" lIns="0" tIns="12065" rIns="0" bIns="0" rtlCol="0" vert="horz">
            <a:spAutoFit/>
          </a:bodyPr>
          <a:lstStyle/>
          <a:p>
            <a:pPr marL="12700">
              <a:lnSpc>
                <a:spcPct val="100000"/>
              </a:lnSpc>
              <a:spcBef>
                <a:spcPts val="95"/>
              </a:spcBef>
            </a:pPr>
            <a:r>
              <a:rPr dirty="0" sz="2800" spc="-50" b="1">
                <a:solidFill>
                  <a:srgbClr val="40458B"/>
                </a:solidFill>
                <a:latin typeface="微软雅黑"/>
                <a:cs typeface="微软雅黑"/>
              </a:rPr>
              <a:t>j</a:t>
            </a:r>
            <a:endParaRPr sz="2800">
              <a:latin typeface="微软雅黑"/>
              <a:cs typeface="微软雅黑"/>
            </a:endParaRPr>
          </a:p>
        </p:txBody>
      </p:sp>
      <p:sp>
        <p:nvSpPr>
          <p:cNvPr id="15" name="object 15" descr=""/>
          <p:cNvSpPr txBox="1"/>
          <p:nvPr/>
        </p:nvSpPr>
        <p:spPr>
          <a:xfrm>
            <a:off x="2017267" y="1118742"/>
            <a:ext cx="3444240" cy="1188085"/>
          </a:xfrm>
          <a:prstGeom prst="rect">
            <a:avLst/>
          </a:prstGeom>
        </p:spPr>
        <p:txBody>
          <a:bodyPr wrap="square" lIns="0" tIns="12065" rIns="0" bIns="0" rtlCol="0" vert="horz">
            <a:spAutoFit/>
          </a:bodyPr>
          <a:lstStyle/>
          <a:p>
            <a:pPr marL="12700">
              <a:lnSpc>
                <a:spcPct val="100000"/>
              </a:lnSpc>
              <a:spcBef>
                <a:spcPts val="95"/>
              </a:spcBef>
            </a:pPr>
            <a:r>
              <a:rPr dirty="0" sz="2800" spc="-10" b="1">
                <a:latin typeface="宋体"/>
                <a:cs typeface="宋体"/>
              </a:rPr>
              <a:t>符号说明： </a:t>
            </a:r>
            <a:r>
              <a:rPr dirty="0" sz="2800" spc="-25" b="1">
                <a:latin typeface="宋体"/>
                <a:cs typeface="宋体"/>
              </a:rPr>
              <a:t>（举例</a:t>
            </a:r>
            <a:r>
              <a:rPr dirty="0" sz="2800" spc="-50" b="1">
                <a:latin typeface="宋体"/>
                <a:cs typeface="宋体"/>
              </a:rPr>
              <a:t>）</a:t>
            </a:r>
            <a:endParaRPr sz="2800">
              <a:latin typeface="宋体"/>
              <a:cs typeface="宋体"/>
            </a:endParaRPr>
          </a:p>
          <a:p>
            <a:pPr marL="428625">
              <a:lnSpc>
                <a:spcPct val="100000"/>
              </a:lnSpc>
              <a:spcBef>
                <a:spcPts val="2915"/>
              </a:spcBef>
              <a:tabLst>
                <a:tab pos="1745614" algn="l"/>
              </a:tabLst>
            </a:pPr>
            <a:r>
              <a:rPr dirty="0" sz="2400" spc="-10" b="1">
                <a:solidFill>
                  <a:srgbClr val="40458B"/>
                </a:solidFill>
                <a:latin typeface="微软雅黑"/>
                <a:cs typeface="微软雅黑"/>
              </a:rPr>
              <a:t>MUL.D</a:t>
            </a:r>
            <a:r>
              <a:rPr dirty="0" sz="2400" b="1">
                <a:solidFill>
                  <a:srgbClr val="40458B"/>
                </a:solidFill>
                <a:latin typeface="微软雅黑"/>
                <a:cs typeface="微软雅黑"/>
              </a:rPr>
              <a:t>	</a:t>
            </a:r>
            <a:r>
              <a:rPr dirty="0" sz="2400" spc="-10" b="1">
                <a:solidFill>
                  <a:srgbClr val="40458B"/>
                </a:solidFill>
                <a:latin typeface="微软雅黑"/>
                <a:cs typeface="微软雅黑"/>
              </a:rPr>
              <a:t>F4，F0，F2</a:t>
            </a:r>
            <a:endParaRPr sz="2400">
              <a:latin typeface="微软雅黑"/>
              <a:cs typeface="微软雅黑"/>
            </a:endParaRPr>
          </a:p>
        </p:txBody>
      </p:sp>
      <p:sp>
        <p:nvSpPr>
          <p:cNvPr id="16" name="object 16" descr=""/>
          <p:cNvSpPr/>
          <p:nvPr/>
        </p:nvSpPr>
        <p:spPr>
          <a:xfrm>
            <a:off x="3984625" y="2392426"/>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925" y="0"/>
                </a:moveTo>
                <a:lnTo>
                  <a:pt x="0" y="85725"/>
                </a:lnTo>
                <a:lnTo>
                  <a:pt x="28575" y="85725"/>
                </a:lnTo>
                <a:lnTo>
                  <a:pt x="28575" y="71374"/>
                </a:lnTo>
                <a:lnTo>
                  <a:pt x="78560" y="71374"/>
                </a:lnTo>
                <a:lnTo>
                  <a:pt x="42925" y="0"/>
                </a:lnTo>
                <a:close/>
              </a:path>
              <a:path w="85725" h="457200">
                <a:moveTo>
                  <a:pt x="78560" y="71374"/>
                </a:moveTo>
                <a:lnTo>
                  <a:pt x="57150" y="71374"/>
                </a:lnTo>
                <a:lnTo>
                  <a:pt x="57150" y="85725"/>
                </a:lnTo>
                <a:lnTo>
                  <a:pt x="85725" y="85725"/>
                </a:lnTo>
                <a:lnTo>
                  <a:pt x="78560" y="71374"/>
                </a:lnTo>
                <a:close/>
              </a:path>
            </a:pathLst>
          </a:custGeom>
          <a:solidFill>
            <a:srgbClr val="5782F8"/>
          </a:solidFill>
        </p:spPr>
        <p:txBody>
          <a:bodyPr wrap="square" lIns="0" tIns="0" rIns="0" bIns="0" rtlCol="0"/>
          <a:lstStyle/>
          <a:p/>
        </p:txBody>
      </p:sp>
      <p:sp>
        <p:nvSpPr>
          <p:cNvPr id="17" name="object 17" descr=""/>
          <p:cNvSpPr txBox="1"/>
          <p:nvPr/>
        </p:nvSpPr>
        <p:spPr>
          <a:xfrm>
            <a:off x="3801871" y="2761545"/>
            <a:ext cx="410209" cy="1122045"/>
          </a:xfrm>
          <a:prstGeom prst="rect">
            <a:avLst/>
          </a:prstGeom>
        </p:spPr>
        <p:txBody>
          <a:bodyPr wrap="square" lIns="0" tIns="13335" rIns="0" bIns="0" rtlCol="0" vert="horz">
            <a:spAutoFit/>
          </a:bodyPr>
          <a:lstStyle/>
          <a:p>
            <a:pPr marL="88900" marR="5080" indent="-76200">
              <a:lnSpc>
                <a:spcPct val="128400"/>
              </a:lnSpc>
              <a:spcBef>
                <a:spcPts val="105"/>
              </a:spcBef>
            </a:pPr>
            <a:r>
              <a:rPr dirty="0" sz="2800" spc="-30" b="1">
                <a:solidFill>
                  <a:srgbClr val="D50092"/>
                </a:solidFill>
                <a:latin typeface="微软雅黑"/>
                <a:cs typeface="微软雅黑"/>
              </a:rPr>
              <a:t>rd </a:t>
            </a:r>
            <a:r>
              <a:rPr dirty="0" sz="2800" spc="-50" b="1">
                <a:solidFill>
                  <a:srgbClr val="40458B"/>
                </a:solidFill>
                <a:latin typeface="微软雅黑"/>
                <a:cs typeface="微软雅黑"/>
              </a:rPr>
              <a:t>i</a:t>
            </a:r>
            <a:endParaRPr sz="2800">
              <a:latin typeface="微软雅黑"/>
              <a:cs typeface="微软雅黑"/>
            </a:endParaRPr>
          </a:p>
        </p:txBody>
      </p:sp>
      <p:sp>
        <p:nvSpPr>
          <p:cNvPr id="18" name="object 18" descr=""/>
          <p:cNvSpPr/>
          <p:nvPr/>
        </p:nvSpPr>
        <p:spPr>
          <a:xfrm>
            <a:off x="4594225" y="2392426"/>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799" y="0"/>
                </a:moveTo>
                <a:lnTo>
                  <a:pt x="0" y="85725"/>
                </a:lnTo>
                <a:lnTo>
                  <a:pt x="28575" y="85725"/>
                </a:lnTo>
                <a:lnTo>
                  <a:pt x="28575" y="71374"/>
                </a:lnTo>
                <a:lnTo>
                  <a:pt x="78538" y="71374"/>
                </a:lnTo>
                <a:lnTo>
                  <a:pt x="42799" y="0"/>
                </a:lnTo>
                <a:close/>
              </a:path>
              <a:path w="85725" h="457200">
                <a:moveTo>
                  <a:pt x="78538" y="71374"/>
                </a:moveTo>
                <a:lnTo>
                  <a:pt x="57150" y="71374"/>
                </a:lnTo>
                <a:lnTo>
                  <a:pt x="57150" y="85725"/>
                </a:lnTo>
                <a:lnTo>
                  <a:pt x="85725" y="85725"/>
                </a:lnTo>
                <a:lnTo>
                  <a:pt x="78538" y="71374"/>
                </a:lnTo>
                <a:close/>
              </a:path>
            </a:pathLst>
          </a:custGeom>
          <a:solidFill>
            <a:srgbClr val="5782F8"/>
          </a:solidFill>
        </p:spPr>
        <p:txBody>
          <a:bodyPr wrap="square" lIns="0" tIns="0" rIns="0" bIns="0" rtlCol="0"/>
          <a:lstStyle/>
          <a:p/>
        </p:txBody>
      </p:sp>
      <p:sp>
        <p:nvSpPr>
          <p:cNvPr id="19" name="object 19" descr=""/>
          <p:cNvSpPr/>
          <p:nvPr/>
        </p:nvSpPr>
        <p:spPr>
          <a:xfrm>
            <a:off x="5203825" y="2392426"/>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799" y="0"/>
                </a:moveTo>
                <a:lnTo>
                  <a:pt x="0" y="85725"/>
                </a:lnTo>
                <a:lnTo>
                  <a:pt x="28575" y="85725"/>
                </a:lnTo>
                <a:lnTo>
                  <a:pt x="28575" y="71374"/>
                </a:lnTo>
                <a:lnTo>
                  <a:pt x="78538" y="71374"/>
                </a:lnTo>
                <a:lnTo>
                  <a:pt x="42799" y="0"/>
                </a:lnTo>
                <a:close/>
              </a:path>
              <a:path w="85725" h="457200">
                <a:moveTo>
                  <a:pt x="78538" y="71374"/>
                </a:moveTo>
                <a:lnTo>
                  <a:pt x="57150" y="71374"/>
                </a:lnTo>
                <a:lnTo>
                  <a:pt x="57150" y="85725"/>
                </a:lnTo>
                <a:lnTo>
                  <a:pt x="85725" y="85725"/>
                </a:lnTo>
                <a:lnTo>
                  <a:pt x="78538" y="71374"/>
                </a:lnTo>
                <a:close/>
              </a:path>
            </a:pathLst>
          </a:custGeom>
          <a:solidFill>
            <a:srgbClr val="5782F8"/>
          </a:solidFill>
        </p:spPr>
        <p:txBody>
          <a:bodyPr wrap="square" lIns="0" tIns="0" rIns="0" bIns="0" rtlCol="0"/>
          <a:lstStyle/>
          <a:p/>
        </p:txBody>
      </p:sp>
      <p:sp>
        <p:nvSpPr>
          <p:cNvPr id="20" name="object 20" descr=""/>
          <p:cNvSpPr txBox="1"/>
          <p:nvPr/>
        </p:nvSpPr>
        <p:spPr>
          <a:xfrm>
            <a:off x="4487671" y="2761431"/>
            <a:ext cx="4502785" cy="1093470"/>
          </a:xfrm>
          <a:prstGeom prst="rect">
            <a:avLst/>
          </a:prstGeom>
        </p:spPr>
        <p:txBody>
          <a:bodyPr wrap="square" lIns="0" tIns="120014" rIns="0" bIns="0" rtlCol="0" vert="horz">
            <a:spAutoFit/>
          </a:bodyPr>
          <a:lstStyle/>
          <a:p>
            <a:pPr marL="12700">
              <a:lnSpc>
                <a:spcPct val="100000"/>
              </a:lnSpc>
              <a:spcBef>
                <a:spcPts val="944"/>
              </a:spcBef>
              <a:tabLst>
                <a:tab pos="622300" algn="l"/>
                <a:tab pos="2806700" algn="l"/>
                <a:tab pos="3340100" algn="l"/>
              </a:tabLst>
            </a:pPr>
            <a:r>
              <a:rPr dirty="0" baseline="-1984" sz="4200" spc="-37" b="1">
                <a:solidFill>
                  <a:srgbClr val="D50092"/>
                </a:solidFill>
                <a:latin typeface="微软雅黑"/>
                <a:cs typeface="微软雅黑"/>
              </a:rPr>
              <a:t>rs</a:t>
            </a:r>
            <a:r>
              <a:rPr dirty="0" baseline="-1984" sz="4200" b="1">
                <a:solidFill>
                  <a:srgbClr val="D50092"/>
                </a:solidFill>
                <a:latin typeface="微软雅黑"/>
                <a:cs typeface="微软雅黑"/>
              </a:rPr>
              <a:t>	</a:t>
            </a:r>
            <a:r>
              <a:rPr dirty="0" sz="2800" spc="-25" b="1">
                <a:solidFill>
                  <a:srgbClr val="D50092"/>
                </a:solidFill>
                <a:latin typeface="微软雅黑"/>
                <a:cs typeface="微软雅黑"/>
              </a:rPr>
              <a:t>rt</a:t>
            </a:r>
            <a:r>
              <a:rPr dirty="0" sz="2800" b="1">
                <a:solidFill>
                  <a:srgbClr val="D50092"/>
                </a:solidFill>
                <a:latin typeface="微软雅黑"/>
                <a:cs typeface="微软雅黑"/>
              </a:rPr>
              <a:t>	</a:t>
            </a:r>
            <a:r>
              <a:rPr dirty="0" baseline="1984" sz="4200" spc="-37" b="1">
                <a:solidFill>
                  <a:srgbClr val="D50092"/>
                </a:solidFill>
                <a:latin typeface="微软雅黑"/>
                <a:cs typeface="微软雅黑"/>
              </a:rPr>
              <a:t>rt</a:t>
            </a:r>
            <a:r>
              <a:rPr dirty="0" baseline="1984" sz="4200" b="1">
                <a:solidFill>
                  <a:srgbClr val="D50092"/>
                </a:solidFill>
                <a:latin typeface="微软雅黑"/>
                <a:cs typeface="微软雅黑"/>
              </a:rPr>
              <a:t>	</a:t>
            </a:r>
            <a:r>
              <a:rPr dirty="0" sz="2400" b="1">
                <a:solidFill>
                  <a:srgbClr val="D50092"/>
                </a:solidFill>
                <a:latin typeface="微软雅黑"/>
                <a:cs typeface="微软雅黑"/>
              </a:rPr>
              <a:t>imm</a:t>
            </a:r>
            <a:r>
              <a:rPr dirty="0" sz="2400" spc="250" b="1">
                <a:solidFill>
                  <a:srgbClr val="D50092"/>
                </a:solidFill>
                <a:latin typeface="微软雅黑"/>
                <a:cs typeface="微软雅黑"/>
              </a:rPr>
              <a:t> </a:t>
            </a:r>
            <a:r>
              <a:rPr dirty="0" sz="2800" spc="-25" b="1">
                <a:solidFill>
                  <a:srgbClr val="D50092"/>
                </a:solidFill>
                <a:latin typeface="微软雅黑"/>
                <a:cs typeface="微软雅黑"/>
              </a:rPr>
              <a:t>rs</a:t>
            </a:r>
            <a:endParaRPr sz="2800">
              <a:latin typeface="微软雅黑"/>
              <a:cs typeface="微软雅黑"/>
            </a:endParaRPr>
          </a:p>
          <a:p>
            <a:pPr marL="118745">
              <a:lnSpc>
                <a:spcPct val="100000"/>
              </a:lnSpc>
              <a:spcBef>
                <a:spcPts val="845"/>
              </a:spcBef>
              <a:tabLst>
                <a:tab pos="757555" algn="l"/>
                <a:tab pos="2882900" algn="l"/>
              </a:tabLst>
            </a:pPr>
            <a:r>
              <a:rPr dirty="0" sz="2800" spc="-50" b="1">
                <a:solidFill>
                  <a:srgbClr val="40458B"/>
                </a:solidFill>
                <a:latin typeface="微软雅黑"/>
                <a:cs typeface="微软雅黑"/>
              </a:rPr>
              <a:t>j</a:t>
            </a:r>
            <a:r>
              <a:rPr dirty="0" sz="2800" b="1">
                <a:solidFill>
                  <a:srgbClr val="40458B"/>
                </a:solidFill>
                <a:latin typeface="微软雅黑"/>
                <a:cs typeface="微软雅黑"/>
              </a:rPr>
              <a:t>	</a:t>
            </a:r>
            <a:r>
              <a:rPr dirty="0" sz="2800" spc="-50" b="1">
                <a:solidFill>
                  <a:srgbClr val="40458B"/>
                </a:solidFill>
                <a:latin typeface="微软雅黑"/>
                <a:cs typeface="微软雅黑"/>
              </a:rPr>
              <a:t>k</a:t>
            </a:r>
            <a:r>
              <a:rPr dirty="0" sz="2800" b="1">
                <a:solidFill>
                  <a:srgbClr val="40458B"/>
                </a:solidFill>
                <a:latin typeface="微软雅黑"/>
                <a:cs typeface="微软雅黑"/>
              </a:rPr>
              <a:t>	</a:t>
            </a:r>
            <a:r>
              <a:rPr dirty="0" sz="2800" spc="-50" b="1">
                <a:solidFill>
                  <a:srgbClr val="40458B"/>
                </a:solidFill>
                <a:latin typeface="微软雅黑"/>
                <a:cs typeface="微软雅黑"/>
              </a:rPr>
              <a:t>k</a:t>
            </a:r>
            <a:endParaRPr sz="2800">
              <a:latin typeface="微软雅黑"/>
              <a:cs typeface="微软雅黑"/>
            </a:endParaRPr>
          </a:p>
        </p:txBody>
      </p:sp>
      <p:sp>
        <p:nvSpPr>
          <p:cNvPr id="21" name="object 21" descr=""/>
          <p:cNvSpPr/>
          <p:nvPr/>
        </p:nvSpPr>
        <p:spPr>
          <a:xfrm>
            <a:off x="6946900" y="4800600"/>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799" y="0"/>
                </a:moveTo>
                <a:lnTo>
                  <a:pt x="0" y="85725"/>
                </a:lnTo>
                <a:lnTo>
                  <a:pt x="28575" y="85725"/>
                </a:lnTo>
                <a:lnTo>
                  <a:pt x="28575" y="71374"/>
                </a:lnTo>
                <a:lnTo>
                  <a:pt x="78538" y="71374"/>
                </a:lnTo>
                <a:lnTo>
                  <a:pt x="42799" y="0"/>
                </a:lnTo>
                <a:close/>
              </a:path>
              <a:path w="85725" h="457200">
                <a:moveTo>
                  <a:pt x="78538" y="71374"/>
                </a:moveTo>
                <a:lnTo>
                  <a:pt x="57150" y="71374"/>
                </a:lnTo>
                <a:lnTo>
                  <a:pt x="57150" y="85725"/>
                </a:lnTo>
                <a:lnTo>
                  <a:pt x="85725" y="85725"/>
                </a:lnTo>
                <a:lnTo>
                  <a:pt x="78538" y="71374"/>
                </a:lnTo>
                <a:close/>
              </a:path>
            </a:pathLst>
          </a:custGeom>
          <a:solidFill>
            <a:srgbClr val="5782F8"/>
          </a:solidFill>
        </p:spPr>
        <p:txBody>
          <a:bodyPr wrap="square" lIns="0" tIns="0" rIns="0" bIns="0" rtlCol="0"/>
          <a:lstStyle/>
          <a:p/>
        </p:txBody>
      </p:sp>
      <p:sp>
        <p:nvSpPr>
          <p:cNvPr id="22" name="object 22" descr=""/>
          <p:cNvSpPr/>
          <p:nvPr/>
        </p:nvSpPr>
        <p:spPr>
          <a:xfrm>
            <a:off x="5727700" y="4800600"/>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799" y="0"/>
                </a:moveTo>
                <a:lnTo>
                  <a:pt x="0" y="85725"/>
                </a:lnTo>
                <a:lnTo>
                  <a:pt x="28575" y="85725"/>
                </a:lnTo>
                <a:lnTo>
                  <a:pt x="28575" y="71374"/>
                </a:lnTo>
                <a:lnTo>
                  <a:pt x="78538" y="71374"/>
                </a:lnTo>
                <a:lnTo>
                  <a:pt x="42799" y="0"/>
                </a:lnTo>
                <a:close/>
              </a:path>
              <a:path w="85725" h="457200">
                <a:moveTo>
                  <a:pt x="78538" y="71374"/>
                </a:moveTo>
                <a:lnTo>
                  <a:pt x="57150" y="71374"/>
                </a:lnTo>
                <a:lnTo>
                  <a:pt x="57150" y="85725"/>
                </a:lnTo>
                <a:lnTo>
                  <a:pt x="85725" y="85725"/>
                </a:lnTo>
                <a:lnTo>
                  <a:pt x="78538" y="71374"/>
                </a:lnTo>
                <a:close/>
              </a:path>
            </a:pathLst>
          </a:custGeom>
          <a:solidFill>
            <a:srgbClr val="5782F8"/>
          </a:solidFill>
        </p:spPr>
        <p:txBody>
          <a:bodyPr wrap="square" lIns="0" tIns="0" rIns="0" bIns="0" rtlCol="0"/>
          <a:lstStyle/>
          <a:p/>
        </p:txBody>
      </p:sp>
      <p:sp>
        <p:nvSpPr>
          <p:cNvPr id="23" name="object 23" descr=""/>
          <p:cNvSpPr txBox="1"/>
          <p:nvPr/>
        </p:nvSpPr>
        <p:spPr>
          <a:xfrm>
            <a:off x="4975352" y="4318838"/>
            <a:ext cx="2549525" cy="1411605"/>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40458B"/>
                </a:solidFill>
                <a:latin typeface="微软雅黑"/>
                <a:cs typeface="微软雅黑"/>
              </a:rPr>
              <a:t>S.D</a:t>
            </a:r>
            <a:r>
              <a:rPr dirty="0" sz="2400" spc="-15" b="1">
                <a:solidFill>
                  <a:srgbClr val="40458B"/>
                </a:solidFill>
                <a:latin typeface="微软雅黑"/>
                <a:cs typeface="微软雅黑"/>
              </a:rPr>
              <a:t> </a:t>
            </a:r>
            <a:r>
              <a:rPr dirty="0" sz="2400" b="1">
                <a:solidFill>
                  <a:srgbClr val="40458B"/>
                </a:solidFill>
                <a:latin typeface="微软雅黑"/>
                <a:cs typeface="微软雅黑"/>
              </a:rPr>
              <a:t>F3,</a:t>
            </a:r>
            <a:r>
              <a:rPr dirty="0" sz="2400" spc="-30" b="1">
                <a:solidFill>
                  <a:srgbClr val="40458B"/>
                </a:solidFill>
                <a:latin typeface="微软雅黑"/>
                <a:cs typeface="微软雅黑"/>
              </a:rPr>
              <a:t> </a:t>
            </a:r>
            <a:r>
              <a:rPr dirty="0" sz="2400" spc="-10" b="1">
                <a:solidFill>
                  <a:srgbClr val="40458B"/>
                </a:solidFill>
                <a:latin typeface="微软雅黑"/>
                <a:cs typeface="微软雅黑"/>
              </a:rPr>
              <a:t>40（R4）</a:t>
            </a:r>
            <a:endParaRPr sz="2400">
              <a:latin typeface="微软雅黑"/>
              <a:cs typeface="微软雅黑"/>
            </a:endParaRPr>
          </a:p>
          <a:p>
            <a:pPr>
              <a:lnSpc>
                <a:spcPct val="100000"/>
              </a:lnSpc>
              <a:spcBef>
                <a:spcPts val="550"/>
              </a:spcBef>
            </a:pPr>
            <a:endParaRPr sz="2400">
              <a:latin typeface="微软雅黑"/>
              <a:cs typeface="微软雅黑"/>
            </a:endParaRPr>
          </a:p>
          <a:p>
            <a:pPr marL="658495">
              <a:lnSpc>
                <a:spcPct val="100000"/>
              </a:lnSpc>
              <a:tabLst>
                <a:tab pos="1191895" algn="l"/>
              </a:tabLst>
            </a:pPr>
            <a:r>
              <a:rPr dirty="0" sz="2800" spc="-25" b="1">
                <a:solidFill>
                  <a:srgbClr val="D50092"/>
                </a:solidFill>
                <a:latin typeface="微软雅黑"/>
                <a:cs typeface="微软雅黑"/>
              </a:rPr>
              <a:t>rt</a:t>
            </a:r>
            <a:r>
              <a:rPr dirty="0" sz="2800" b="1">
                <a:solidFill>
                  <a:srgbClr val="D50092"/>
                </a:solidFill>
                <a:latin typeface="微软雅黑"/>
                <a:cs typeface="微软雅黑"/>
              </a:rPr>
              <a:t>	</a:t>
            </a:r>
            <a:r>
              <a:rPr dirty="0" baseline="-2314" sz="3600" spc="-30" b="1">
                <a:solidFill>
                  <a:srgbClr val="D50092"/>
                </a:solidFill>
                <a:latin typeface="微软雅黑"/>
                <a:cs typeface="微软雅黑"/>
              </a:rPr>
              <a:t>imm</a:t>
            </a:r>
            <a:r>
              <a:rPr dirty="0" baseline="-2314" sz="3600" spc="-209" b="1">
                <a:solidFill>
                  <a:srgbClr val="D50092"/>
                </a:solidFill>
                <a:latin typeface="微软雅黑"/>
                <a:cs typeface="微软雅黑"/>
              </a:rPr>
              <a:t> </a:t>
            </a:r>
            <a:r>
              <a:rPr dirty="0" sz="2800" spc="-25" b="1">
                <a:solidFill>
                  <a:srgbClr val="D50092"/>
                </a:solidFill>
                <a:latin typeface="微软雅黑"/>
                <a:cs typeface="微软雅黑"/>
              </a:rPr>
              <a:t>rs</a:t>
            </a:r>
            <a:endParaRPr sz="2800">
              <a:latin typeface="微软雅黑"/>
              <a:cs typeface="微软雅黑"/>
            </a:endParaRPr>
          </a:p>
        </p:txBody>
      </p:sp>
      <p:sp>
        <p:nvSpPr>
          <p:cNvPr id="24" name="object 24" descr=""/>
          <p:cNvSpPr/>
          <p:nvPr/>
        </p:nvSpPr>
        <p:spPr>
          <a:xfrm>
            <a:off x="6337300" y="4800600"/>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799" y="0"/>
                </a:moveTo>
                <a:lnTo>
                  <a:pt x="0" y="85725"/>
                </a:lnTo>
                <a:lnTo>
                  <a:pt x="28575" y="85725"/>
                </a:lnTo>
                <a:lnTo>
                  <a:pt x="28575" y="71374"/>
                </a:lnTo>
                <a:lnTo>
                  <a:pt x="78538" y="71374"/>
                </a:lnTo>
                <a:lnTo>
                  <a:pt x="42799" y="0"/>
                </a:lnTo>
                <a:close/>
              </a:path>
              <a:path w="85725" h="457200">
                <a:moveTo>
                  <a:pt x="78538" y="71374"/>
                </a:moveTo>
                <a:lnTo>
                  <a:pt x="57150" y="71374"/>
                </a:lnTo>
                <a:lnTo>
                  <a:pt x="57150" y="85725"/>
                </a:lnTo>
                <a:lnTo>
                  <a:pt x="85725" y="85725"/>
                </a:lnTo>
                <a:lnTo>
                  <a:pt x="78538" y="71374"/>
                </a:lnTo>
                <a:close/>
              </a:path>
            </a:pathLst>
          </a:custGeom>
          <a:solidFill>
            <a:srgbClr val="5782F8"/>
          </a:solidFill>
        </p:spPr>
        <p:txBody>
          <a:bodyPr wrap="square" lIns="0" tIns="0" rIns="0" bIns="0" rtlCol="0"/>
          <a:lstStyle/>
          <a:p/>
        </p:txBody>
      </p:sp>
      <p:sp>
        <p:nvSpPr>
          <p:cNvPr id="25" name="object 25" descr=""/>
          <p:cNvSpPr txBox="1"/>
          <p:nvPr/>
        </p:nvSpPr>
        <p:spPr>
          <a:xfrm>
            <a:off x="6916928" y="5812027"/>
            <a:ext cx="132715" cy="452120"/>
          </a:xfrm>
          <a:prstGeom prst="rect">
            <a:avLst/>
          </a:prstGeom>
        </p:spPr>
        <p:txBody>
          <a:bodyPr wrap="square" lIns="0" tIns="12065" rIns="0" bIns="0" rtlCol="0" vert="horz">
            <a:spAutoFit/>
          </a:bodyPr>
          <a:lstStyle/>
          <a:p>
            <a:pPr marL="12700">
              <a:lnSpc>
                <a:spcPct val="100000"/>
              </a:lnSpc>
              <a:spcBef>
                <a:spcPts val="95"/>
              </a:spcBef>
            </a:pPr>
            <a:r>
              <a:rPr dirty="0" sz="2800" spc="-50" b="1">
                <a:solidFill>
                  <a:srgbClr val="40458B"/>
                </a:solidFill>
                <a:latin typeface="微软雅黑"/>
                <a:cs typeface="微软雅黑"/>
              </a:rPr>
              <a:t>j</a:t>
            </a:r>
            <a:endParaRPr sz="2800">
              <a:latin typeface="微软雅黑"/>
              <a:cs typeface="微软雅黑"/>
            </a:endParaRPr>
          </a:p>
        </p:txBody>
      </p:sp>
      <p:sp>
        <p:nvSpPr>
          <p:cNvPr id="26" name="object 26" descr=""/>
          <p:cNvSpPr txBox="1"/>
          <p:nvPr/>
        </p:nvSpPr>
        <p:spPr>
          <a:xfrm>
            <a:off x="5697728" y="5826353"/>
            <a:ext cx="237490" cy="452120"/>
          </a:xfrm>
          <a:prstGeom prst="rect">
            <a:avLst/>
          </a:prstGeom>
        </p:spPr>
        <p:txBody>
          <a:bodyPr wrap="square" lIns="0" tIns="12065" rIns="0" bIns="0" rtlCol="0" vert="horz">
            <a:spAutoFit/>
          </a:bodyPr>
          <a:lstStyle/>
          <a:p>
            <a:pPr marL="12700">
              <a:lnSpc>
                <a:spcPct val="100000"/>
              </a:lnSpc>
              <a:spcBef>
                <a:spcPts val="95"/>
              </a:spcBef>
            </a:pPr>
            <a:r>
              <a:rPr dirty="0" sz="2800" spc="-50" b="1">
                <a:solidFill>
                  <a:srgbClr val="40458B"/>
                </a:solidFill>
                <a:latin typeface="微软雅黑"/>
                <a:cs typeface="微软雅黑"/>
              </a:rPr>
              <a:t>k</a:t>
            </a:r>
            <a:endParaRPr sz="2800">
              <a:latin typeface="微软雅黑"/>
              <a:cs typeface="微软雅黑"/>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0763" y="178054"/>
            <a:ext cx="2004060" cy="452120"/>
          </a:xfrm>
          <a:prstGeom prst="rect"/>
        </p:spPr>
        <p:txBody>
          <a:bodyPr wrap="square" lIns="0" tIns="12065" rIns="0" bIns="0" rtlCol="0" vert="horz">
            <a:spAutoFit/>
          </a:bodyPr>
          <a:lstStyle/>
          <a:p>
            <a:pPr marL="12700">
              <a:lnSpc>
                <a:spcPct val="100000"/>
              </a:lnSpc>
              <a:spcBef>
                <a:spcPts val="95"/>
              </a:spcBef>
            </a:pPr>
            <a:r>
              <a:rPr dirty="0" sz="2800" spc="-10">
                <a:solidFill>
                  <a:srgbClr val="001F5F"/>
                </a:solidFill>
                <a:latin typeface="Tahoma"/>
                <a:cs typeface="Tahoma"/>
              </a:rPr>
              <a:t>1</a:t>
            </a:r>
            <a:r>
              <a:rPr dirty="0" sz="2800" spc="-30">
                <a:solidFill>
                  <a:srgbClr val="001F5F"/>
                </a:solidFill>
              </a:rPr>
              <a:t>、指令流出</a:t>
            </a:r>
            <a:endParaRPr sz="2800">
              <a:latin typeface="Tahoma"/>
              <a:cs typeface="Tahoma"/>
            </a:endParaRPr>
          </a:p>
        </p:txBody>
      </p:sp>
      <p:sp>
        <p:nvSpPr>
          <p:cNvPr id="3" name="object 3" descr=""/>
          <p:cNvSpPr txBox="1"/>
          <p:nvPr/>
        </p:nvSpPr>
        <p:spPr>
          <a:xfrm>
            <a:off x="900480" y="612844"/>
            <a:ext cx="6335395" cy="2073910"/>
          </a:xfrm>
          <a:prstGeom prst="rect">
            <a:avLst/>
          </a:prstGeom>
        </p:spPr>
        <p:txBody>
          <a:bodyPr wrap="square" lIns="0" tIns="158115" rIns="0" bIns="0" rtlCol="0" vert="horz">
            <a:spAutoFit/>
          </a:bodyPr>
          <a:lstStyle/>
          <a:p>
            <a:pPr marL="469265" indent="-456565">
              <a:lnSpc>
                <a:spcPct val="100000"/>
              </a:lnSpc>
              <a:spcBef>
                <a:spcPts val="1245"/>
              </a:spcBef>
              <a:buClr>
                <a:srgbClr val="40458B"/>
              </a:buClr>
              <a:buSzPct val="89583"/>
              <a:buFont typeface="Wingdings"/>
              <a:buChar char=""/>
              <a:tabLst>
                <a:tab pos="469265" algn="l"/>
              </a:tabLst>
            </a:pPr>
            <a:r>
              <a:rPr dirty="0" sz="2400" spc="-65">
                <a:solidFill>
                  <a:srgbClr val="E14B04"/>
                </a:solidFill>
                <a:latin typeface="黑体"/>
                <a:cs typeface="黑体"/>
              </a:rPr>
              <a:t>浮点运算指令 </a:t>
            </a:r>
            <a:r>
              <a:rPr dirty="0" sz="2400" spc="-10">
                <a:solidFill>
                  <a:srgbClr val="40458B"/>
                </a:solidFill>
                <a:latin typeface="黑体"/>
                <a:cs typeface="黑体"/>
              </a:rPr>
              <a:t>，如右所示</a:t>
            </a:r>
            <a:endParaRPr sz="2400">
              <a:latin typeface="黑体"/>
              <a:cs typeface="黑体"/>
            </a:endParaRPr>
          </a:p>
          <a:p>
            <a:pPr marL="12700">
              <a:lnSpc>
                <a:spcPct val="100000"/>
              </a:lnSpc>
              <a:spcBef>
                <a:spcPts val="1155"/>
              </a:spcBef>
            </a:pPr>
            <a:r>
              <a:rPr dirty="0" sz="2400" spc="-10">
                <a:solidFill>
                  <a:srgbClr val="D50092"/>
                </a:solidFill>
                <a:latin typeface="黑体"/>
                <a:cs typeface="黑体"/>
              </a:rPr>
              <a:t>进入条件：</a:t>
            </a:r>
            <a:r>
              <a:rPr dirty="0" sz="2400" spc="-10">
                <a:solidFill>
                  <a:srgbClr val="40458B"/>
                </a:solidFill>
                <a:latin typeface="黑体"/>
                <a:cs typeface="黑体"/>
              </a:rPr>
              <a:t>有空闲保留站（</a:t>
            </a:r>
            <a:r>
              <a:rPr dirty="0" sz="2400" spc="-5">
                <a:solidFill>
                  <a:srgbClr val="40458B"/>
                </a:solidFill>
                <a:latin typeface="黑体"/>
                <a:cs typeface="黑体"/>
              </a:rPr>
              <a:t>设为</a:t>
            </a:r>
            <a:r>
              <a:rPr dirty="0" sz="2400" spc="-25" b="1">
                <a:solidFill>
                  <a:srgbClr val="E14B04"/>
                </a:solidFill>
                <a:latin typeface="宋体"/>
                <a:cs typeface="宋体"/>
              </a:rPr>
              <a:t>r</a:t>
            </a:r>
            <a:r>
              <a:rPr dirty="0" sz="2400" spc="-25">
                <a:solidFill>
                  <a:srgbClr val="40458B"/>
                </a:solidFill>
                <a:latin typeface="黑体"/>
                <a:cs typeface="黑体"/>
              </a:rPr>
              <a:t>）</a:t>
            </a:r>
            <a:endParaRPr sz="2400">
              <a:latin typeface="黑体"/>
              <a:cs typeface="黑体"/>
            </a:endParaRPr>
          </a:p>
          <a:p>
            <a:pPr marL="12700" marR="5080">
              <a:lnSpc>
                <a:spcPct val="140000"/>
              </a:lnSpc>
            </a:pPr>
            <a:r>
              <a:rPr dirty="0" sz="2400" spc="-10">
                <a:solidFill>
                  <a:srgbClr val="40458B"/>
                </a:solidFill>
                <a:latin typeface="Tahoma"/>
                <a:cs typeface="Tahoma"/>
              </a:rPr>
              <a:t>j---</a:t>
            </a:r>
            <a:r>
              <a:rPr dirty="0" sz="2400" spc="-5">
                <a:solidFill>
                  <a:srgbClr val="40458B"/>
                </a:solidFill>
                <a:latin typeface="黑体"/>
                <a:cs typeface="黑体"/>
              </a:rPr>
              <a:t>对应第一个操作数，</a:t>
            </a:r>
            <a:r>
              <a:rPr dirty="0" sz="2400" spc="-10">
                <a:solidFill>
                  <a:srgbClr val="40458B"/>
                </a:solidFill>
                <a:latin typeface="Tahoma"/>
                <a:cs typeface="Tahoma"/>
              </a:rPr>
              <a:t>k-----</a:t>
            </a:r>
            <a:r>
              <a:rPr dirty="0" sz="2400" spc="-10">
                <a:solidFill>
                  <a:srgbClr val="40458B"/>
                </a:solidFill>
                <a:latin typeface="黑体"/>
                <a:cs typeface="黑体"/>
              </a:rPr>
              <a:t>对应第二个操作数</a:t>
            </a:r>
            <a:r>
              <a:rPr dirty="0" sz="2400" spc="-5">
                <a:solidFill>
                  <a:srgbClr val="40458B"/>
                </a:solidFill>
                <a:latin typeface="黑体"/>
                <a:cs typeface="黑体"/>
              </a:rPr>
              <a:t>操作和状态表内容修改：</a:t>
            </a:r>
            <a:endParaRPr sz="2400">
              <a:latin typeface="黑体"/>
              <a:cs typeface="黑体"/>
            </a:endParaRPr>
          </a:p>
        </p:txBody>
      </p:sp>
      <p:sp>
        <p:nvSpPr>
          <p:cNvPr id="4" name="object 4" descr=""/>
          <p:cNvSpPr txBox="1"/>
          <p:nvPr/>
        </p:nvSpPr>
        <p:spPr>
          <a:xfrm>
            <a:off x="900480" y="2807589"/>
            <a:ext cx="224282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Tahoma"/>
                <a:cs typeface="Tahoma"/>
              </a:rPr>
              <a:t>if</a:t>
            </a:r>
            <a:r>
              <a:rPr dirty="0" sz="2400" spc="-30">
                <a:solidFill>
                  <a:srgbClr val="40458B"/>
                </a:solidFill>
                <a:latin typeface="Tahoma"/>
                <a:cs typeface="Tahoma"/>
              </a:rPr>
              <a:t> </a:t>
            </a:r>
            <a:r>
              <a:rPr dirty="0" sz="2400">
                <a:solidFill>
                  <a:srgbClr val="40458B"/>
                </a:solidFill>
                <a:latin typeface="黑体"/>
                <a:cs typeface="黑体"/>
              </a:rPr>
              <a:t>（</a:t>
            </a:r>
            <a:r>
              <a:rPr dirty="0" sz="2400">
                <a:solidFill>
                  <a:srgbClr val="40458B"/>
                </a:solidFill>
                <a:latin typeface="Tahoma"/>
                <a:cs typeface="Tahoma"/>
              </a:rPr>
              <a:t>Qi[</a:t>
            </a:r>
            <a:r>
              <a:rPr dirty="0" sz="2400">
                <a:solidFill>
                  <a:srgbClr val="D50092"/>
                </a:solidFill>
                <a:latin typeface="Tahoma"/>
                <a:cs typeface="Tahoma"/>
              </a:rPr>
              <a:t>rs</a:t>
            </a:r>
            <a:r>
              <a:rPr dirty="0" sz="2400">
                <a:solidFill>
                  <a:srgbClr val="40458B"/>
                </a:solidFill>
                <a:latin typeface="Tahoma"/>
                <a:cs typeface="Tahoma"/>
              </a:rPr>
              <a:t>]</a:t>
            </a:r>
            <a:r>
              <a:rPr dirty="0" sz="2400" spc="-30">
                <a:solidFill>
                  <a:srgbClr val="40458B"/>
                </a:solidFill>
                <a:latin typeface="Tahoma"/>
                <a:cs typeface="Tahoma"/>
              </a:rPr>
              <a:t> </a:t>
            </a:r>
            <a:r>
              <a:rPr dirty="0" sz="2400">
                <a:solidFill>
                  <a:srgbClr val="40458B"/>
                </a:solidFill>
                <a:latin typeface="Tahoma"/>
                <a:cs typeface="Tahoma"/>
              </a:rPr>
              <a:t>≠</a:t>
            </a:r>
            <a:r>
              <a:rPr dirty="0" sz="2400" spc="-25">
                <a:solidFill>
                  <a:srgbClr val="40458B"/>
                </a:solidFill>
                <a:latin typeface="Tahoma"/>
                <a:cs typeface="Tahoma"/>
              </a:rPr>
              <a:t> 0</a:t>
            </a:r>
            <a:r>
              <a:rPr dirty="0" sz="2400" spc="-25">
                <a:solidFill>
                  <a:srgbClr val="40458B"/>
                </a:solidFill>
                <a:latin typeface="黑体"/>
                <a:cs typeface="黑体"/>
              </a:rPr>
              <a:t>）</a:t>
            </a:r>
            <a:endParaRPr sz="2400">
              <a:latin typeface="黑体"/>
              <a:cs typeface="黑体"/>
            </a:endParaRPr>
          </a:p>
        </p:txBody>
      </p:sp>
      <p:sp>
        <p:nvSpPr>
          <p:cNvPr id="5" name="object 5" descr=""/>
          <p:cNvSpPr txBox="1"/>
          <p:nvPr/>
        </p:nvSpPr>
        <p:spPr>
          <a:xfrm>
            <a:off x="4404486" y="2857881"/>
            <a:ext cx="3228975" cy="330835"/>
          </a:xfrm>
          <a:prstGeom prst="rect">
            <a:avLst/>
          </a:prstGeom>
        </p:spPr>
        <p:txBody>
          <a:bodyPr wrap="square" lIns="0" tIns="13335" rIns="0" bIns="0" rtlCol="0" vert="horz">
            <a:spAutoFit/>
          </a:bodyPr>
          <a:lstStyle/>
          <a:p>
            <a:pPr marL="12700">
              <a:lnSpc>
                <a:spcPct val="100000"/>
              </a:lnSpc>
              <a:spcBef>
                <a:spcPts val="105"/>
              </a:spcBef>
            </a:pPr>
            <a:r>
              <a:rPr dirty="0" sz="2000" spc="-15" b="1">
                <a:latin typeface="宋体"/>
                <a:cs typeface="宋体"/>
              </a:rPr>
              <a:t>// 检测第一操作数是否就绪</a:t>
            </a:r>
            <a:endParaRPr sz="2000">
              <a:latin typeface="宋体"/>
              <a:cs typeface="宋体"/>
            </a:endParaRPr>
          </a:p>
        </p:txBody>
      </p:sp>
      <p:sp>
        <p:nvSpPr>
          <p:cNvPr id="6" name="object 6" descr=""/>
          <p:cNvSpPr txBox="1"/>
          <p:nvPr/>
        </p:nvSpPr>
        <p:spPr>
          <a:xfrm>
            <a:off x="1185468" y="3164515"/>
            <a:ext cx="10935335" cy="981710"/>
          </a:xfrm>
          <a:prstGeom prst="rect">
            <a:avLst/>
          </a:prstGeom>
        </p:spPr>
        <p:txBody>
          <a:bodyPr wrap="square" lIns="0" tIns="167640" rIns="0" bIns="0" rtlCol="0" vert="horz">
            <a:spAutoFit/>
          </a:bodyPr>
          <a:lstStyle/>
          <a:p>
            <a:pPr marL="12700">
              <a:lnSpc>
                <a:spcPct val="100000"/>
              </a:lnSpc>
              <a:spcBef>
                <a:spcPts val="1320"/>
              </a:spcBef>
            </a:pPr>
            <a:r>
              <a:rPr dirty="0" sz="2400">
                <a:solidFill>
                  <a:srgbClr val="40458B"/>
                </a:solidFill>
                <a:latin typeface="Symbol"/>
                <a:cs typeface="Symbol"/>
              </a:rPr>
              <a:t></a:t>
            </a:r>
            <a:r>
              <a:rPr dirty="0" sz="2400" spc="110">
                <a:solidFill>
                  <a:srgbClr val="40458B"/>
                </a:solidFill>
                <a:latin typeface="Times New Roman"/>
                <a:cs typeface="Times New Roman"/>
              </a:rPr>
              <a:t> </a:t>
            </a:r>
            <a:r>
              <a:rPr dirty="0" sz="2400">
                <a:solidFill>
                  <a:srgbClr val="40458B"/>
                </a:solidFill>
                <a:latin typeface="Tahoma"/>
                <a:cs typeface="Tahoma"/>
              </a:rPr>
              <a:t>RS[</a:t>
            </a:r>
            <a:r>
              <a:rPr dirty="0" sz="2400">
                <a:solidFill>
                  <a:srgbClr val="E14B04"/>
                </a:solidFill>
                <a:latin typeface="Tahoma"/>
                <a:cs typeface="Tahoma"/>
              </a:rPr>
              <a:t>r</a:t>
            </a:r>
            <a:r>
              <a:rPr dirty="0" sz="2400">
                <a:solidFill>
                  <a:srgbClr val="40458B"/>
                </a:solidFill>
                <a:latin typeface="Tahoma"/>
                <a:cs typeface="Tahoma"/>
              </a:rPr>
              <a:t>].Qj</a:t>
            </a:r>
            <a:r>
              <a:rPr dirty="0" sz="2400" spc="-25">
                <a:solidFill>
                  <a:srgbClr val="40458B"/>
                </a:solidFill>
                <a:latin typeface="Tahoma"/>
                <a:cs typeface="Tahoma"/>
              </a:rPr>
              <a:t> </a:t>
            </a:r>
            <a:r>
              <a:rPr dirty="0" sz="2400">
                <a:solidFill>
                  <a:srgbClr val="40458B"/>
                </a:solidFill>
                <a:latin typeface="Symbol"/>
                <a:cs typeface="Symbol"/>
              </a:rPr>
              <a:t></a:t>
            </a:r>
            <a:r>
              <a:rPr dirty="0" sz="2400" spc="130">
                <a:solidFill>
                  <a:srgbClr val="40458B"/>
                </a:solidFill>
                <a:latin typeface="Times New Roman"/>
                <a:cs typeface="Times New Roman"/>
              </a:rPr>
              <a:t> </a:t>
            </a:r>
            <a:r>
              <a:rPr dirty="0" sz="2400">
                <a:solidFill>
                  <a:srgbClr val="40458B"/>
                </a:solidFill>
                <a:latin typeface="Tahoma"/>
                <a:cs typeface="Tahoma"/>
              </a:rPr>
              <a:t>Qi[</a:t>
            </a:r>
            <a:r>
              <a:rPr dirty="0" sz="2400">
                <a:solidFill>
                  <a:srgbClr val="D50092"/>
                </a:solidFill>
                <a:latin typeface="Tahoma"/>
                <a:cs typeface="Tahoma"/>
              </a:rPr>
              <a:t>rs</a:t>
            </a:r>
            <a:r>
              <a:rPr dirty="0" sz="2400" spc="-15">
                <a:solidFill>
                  <a:srgbClr val="40458B"/>
                </a:solidFill>
                <a:latin typeface="Tahoma"/>
                <a:cs typeface="Tahoma"/>
              </a:rPr>
              <a:t>] </a:t>
            </a:r>
            <a:r>
              <a:rPr dirty="0" sz="2400">
                <a:solidFill>
                  <a:srgbClr val="40458B"/>
                </a:solidFill>
                <a:latin typeface="Symbol"/>
                <a:cs typeface="Symbol"/>
              </a:rPr>
              <a:t></a:t>
            </a:r>
            <a:r>
              <a:rPr dirty="0" sz="2400" spc="-229">
                <a:solidFill>
                  <a:srgbClr val="40458B"/>
                </a:solidFill>
                <a:latin typeface="黑体"/>
                <a:cs typeface="黑体"/>
              </a:rPr>
              <a:t>； </a:t>
            </a:r>
            <a:r>
              <a:rPr dirty="0" sz="2000" spc="-10" b="1">
                <a:latin typeface="宋体"/>
                <a:cs typeface="宋体"/>
              </a:rPr>
              <a:t>//第一操作数</a:t>
            </a:r>
            <a:r>
              <a:rPr dirty="0" sz="2000" spc="-10" b="1">
                <a:solidFill>
                  <a:srgbClr val="FF0000"/>
                </a:solidFill>
                <a:latin typeface="宋体"/>
                <a:cs typeface="宋体"/>
              </a:rPr>
              <a:t>没有就绪</a:t>
            </a:r>
            <a:r>
              <a:rPr dirty="0" sz="2000" spc="-20" b="1">
                <a:latin typeface="宋体"/>
                <a:cs typeface="宋体"/>
              </a:rPr>
              <a:t>，进行寄存器换名，</a:t>
            </a:r>
            <a:r>
              <a:rPr dirty="0" sz="2000" spc="-25" b="1">
                <a:solidFill>
                  <a:srgbClr val="FF0000"/>
                </a:solidFill>
                <a:latin typeface="宋体"/>
                <a:cs typeface="宋体"/>
              </a:rPr>
              <a:t>即把将产生该操作数的保</a:t>
            </a:r>
            <a:endParaRPr sz="2000">
              <a:latin typeface="宋体"/>
              <a:cs typeface="宋体"/>
            </a:endParaRPr>
          </a:p>
          <a:p>
            <a:pPr marL="3714750">
              <a:lnSpc>
                <a:spcPct val="100000"/>
              </a:lnSpc>
              <a:spcBef>
                <a:spcPts val="1025"/>
              </a:spcBef>
            </a:pPr>
            <a:r>
              <a:rPr dirty="0" sz="2000" spc="-15" b="1">
                <a:solidFill>
                  <a:srgbClr val="FF0000"/>
                </a:solidFill>
                <a:latin typeface="宋体"/>
                <a:cs typeface="宋体"/>
              </a:rPr>
              <a:t>留站的编号放入当前保留站的</a:t>
            </a:r>
            <a:r>
              <a:rPr dirty="0" sz="2000" spc="-10" b="1">
                <a:solidFill>
                  <a:srgbClr val="FF0000"/>
                </a:solidFill>
                <a:latin typeface="宋体"/>
                <a:cs typeface="宋体"/>
              </a:rPr>
              <a:t>Qj</a:t>
            </a:r>
            <a:r>
              <a:rPr dirty="0" sz="2000" spc="-20" b="1">
                <a:solidFill>
                  <a:srgbClr val="FF0000"/>
                </a:solidFill>
                <a:latin typeface="宋体"/>
                <a:cs typeface="宋体"/>
              </a:rPr>
              <a:t>。</a:t>
            </a:r>
            <a:r>
              <a:rPr dirty="0" sz="2000" spc="-20" b="1">
                <a:latin typeface="宋体"/>
                <a:cs typeface="宋体"/>
              </a:rPr>
              <a:t>该编号是一个大于</a:t>
            </a:r>
            <a:r>
              <a:rPr dirty="0" sz="2000" spc="-15" b="1">
                <a:latin typeface="宋体"/>
                <a:cs typeface="宋体"/>
              </a:rPr>
              <a:t>0</a:t>
            </a:r>
            <a:r>
              <a:rPr dirty="0" sz="2000" spc="-25" b="1">
                <a:latin typeface="宋体"/>
                <a:cs typeface="宋体"/>
              </a:rPr>
              <a:t>的整数。</a:t>
            </a:r>
            <a:endParaRPr sz="2000">
              <a:latin typeface="宋体"/>
              <a:cs typeface="宋体"/>
            </a:endParaRPr>
          </a:p>
        </p:txBody>
      </p:sp>
      <p:sp>
        <p:nvSpPr>
          <p:cNvPr id="7" name="object 7" descr=""/>
          <p:cNvSpPr txBox="1"/>
          <p:nvPr/>
        </p:nvSpPr>
        <p:spPr>
          <a:xfrm>
            <a:off x="900480" y="4112513"/>
            <a:ext cx="551815" cy="1049655"/>
          </a:xfrm>
          <a:prstGeom prst="rect">
            <a:avLst/>
          </a:prstGeom>
        </p:spPr>
        <p:txBody>
          <a:bodyPr wrap="square" lIns="0" tIns="158750" rIns="0" bIns="0" rtlCol="0" vert="horz">
            <a:spAutoFit/>
          </a:bodyPr>
          <a:lstStyle/>
          <a:p>
            <a:pPr algn="ctr">
              <a:lnSpc>
                <a:spcPct val="100000"/>
              </a:lnSpc>
              <a:spcBef>
                <a:spcPts val="1250"/>
              </a:spcBef>
            </a:pPr>
            <a:r>
              <a:rPr dirty="0" sz="2400" spc="-20">
                <a:solidFill>
                  <a:srgbClr val="40458B"/>
                </a:solidFill>
                <a:latin typeface="Tahoma"/>
                <a:cs typeface="Tahoma"/>
              </a:rPr>
              <a:t>else</a:t>
            </a:r>
            <a:endParaRPr sz="2400">
              <a:latin typeface="Tahoma"/>
              <a:cs typeface="Tahoma"/>
            </a:endParaRPr>
          </a:p>
          <a:p>
            <a:pPr algn="ctr" marL="635">
              <a:lnSpc>
                <a:spcPct val="100000"/>
              </a:lnSpc>
              <a:spcBef>
                <a:spcPts val="1155"/>
              </a:spcBef>
            </a:pPr>
            <a:r>
              <a:rPr dirty="0" sz="2400" spc="-50">
                <a:solidFill>
                  <a:srgbClr val="40458B"/>
                </a:solidFill>
                <a:latin typeface="Symbol"/>
                <a:cs typeface="Symbol"/>
              </a:rPr>
              <a:t></a:t>
            </a:r>
            <a:endParaRPr sz="2400">
              <a:latin typeface="Symbol"/>
              <a:cs typeface="Symbol"/>
            </a:endParaRPr>
          </a:p>
        </p:txBody>
      </p:sp>
      <p:sp>
        <p:nvSpPr>
          <p:cNvPr id="8" name="object 8" descr=""/>
          <p:cNvSpPr txBox="1"/>
          <p:nvPr/>
        </p:nvSpPr>
        <p:spPr>
          <a:xfrm>
            <a:off x="1090980" y="6307328"/>
            <a:ext cx="172085" cy="391160"/>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40458B"/>
                </a:solidFill>
                <a:latin typeface="Symbol"/>
                <a:cs typeface="Symbol"/>
              </a:rPr>
              <a:t></a:t>
            </a:r>
            <a:endParaRPr sz="2400">
              <a:latin typeface="Symbol"/>
              <a:cs typeface="Symbol"/>
            </a:endParaRPr>
          </a:p>
        </p:txBody>
      </p:sp>
      <p:sp>
        <p:nvSpPr>
          <p:cNvPr id="9" name="object 9" descr=""/>
          <p:cNvSpPr txBox="1"/>
          <p:nvPr/>
        </p:nvSpPr>
        <p:spPr>
          <a:xfrm>
            <a:off x="7615555" y="281432"/>
            <a:ext cx="2936875" cy="391160"/>
          </a:xfrm>
          <a:prstGeom prst="rect">
            <a:avLst/>
          </a:prstGeom>
        </p:spPr>
        <p:txBody>
          <a:bodyPr wrap="square" lIns="0" tIns="12700" rIns="0" bIns="0" rtlCol="0" vert="horz">
            <a:spAutoFit/>
          </a:bodyPr>
          <a:lstStyle/>
          <a:p>
            <a:pPr marL="12700">
              <a:lnSpc>
                <a:spcPct val="100000"/>
              </a:lnSpc>
              <a:spcBef>
                <a:spcPts val="100"/>
              </a:spcBef>
              <a:tabLst>
                <a:tab pos="1238885" algn="l"/>
              </a:tabLst>
            </a:pPr>
            <a:r>
              <a:rPr dirty="0" sz="2400" spc="-10" b="1">
                <a:solidFill>
                  <a:srgbClr val="40458B"/>
                </a:solidFill>
                <a:latin typeface="微软雅黑"/>
                <a:cs typeface="微软雅黑"/>
              </a:rPr>
              <a:t>MUL.D</a:t>
            </a:r>
            <a:r>
              <a:rPr dirty="0" sz="2400" b="1">
                <a:solidFill>
                  <a:srgbClr val="40458B"/>
                </a:solidFill>
                <a:latin typeface="微软雅黑"/>
                <a:cs typeface="微软雅黑"/>
              </a:rPr>
              <a:t>	</a:t>
            </a:r>
            <a:r>
              <a:rPr dirty="0" sz="2400" spc="-10" b="1">
                <a:solidFill>
                  <a:srgbClr val="40458B"/>
                </a:solidFill>
                <a:latin typeface="微软雅黑"/>
                <a:cs typeface="微软雅黑"/>
              </a:rPr>
              <a:t>F4，F0，F2</a:t>
            </a:r>
            <a:endParaRPr sz="2400">
              <a:latin typeface="微软雅黑"/>
              <a:cs typeface="微软雅黑"/>
            </a:endParaRPr>
          </a:p>
        </p:txBody>
      </p:sp>
      <p:sp>
        <p:nvSpPr>
          <p:cNvPr id="10" name="object 10" descr=""/>
          <p:cNvSpPr txBox="1"/>
          <p:nvPr/>
        </p:nvSpPr>
        <p:spPr>
          <a:xfrm>
            <a:off x="8652129" y="1284554"/>
            <a:ext cx="410209" cy="452120"/>
          </a:xfrm>
          <a:prstGeom prst="rect">
            <a:avLst/>
          </a:prstGeom>
        </p:spPr>
        <p:txBody>
          <a:bodyPr wrap="square" lIns="0" tIns="12065" rIns="0" bIns="0" rtlCol="0" vert="horz">
            <a:spAutoFit/>
          </a:bodyPr>
          <a:lstStyle/>
          <a:p>
            <a:pPr marL="12700">
              <a:lnSpc>
                <a:spcPct val="100000"/>
              </a:lnSpc>
              <a:spcBef>
                <a:spcPts val="95"/>
              </a:spcBef>
            </a:pPr>
            <a:r>
              <a:rPr dirty="0" sz="2800" spc="-25" b="1">
                <a:solidFill>
                  <a:srgbClr val="D50092"/>
                </a:solidFill>
                <a:latin typeface="微软雅黑"/>
                <a:cs typeface="微软雅黑"/>
              </a:rPr>
              <a:t>rd</a:t>
            </a:r>
            <a:endParaRPr sz="2800">
              <a:latin typeface="微软雅黑"/>
              <a:cs typeface="微软雅黑"/>
            </a:endParaRPr>
          </a:p>
        </p:txBody>
      </p:sp>
      <p:sp>
        <p:nvSpPr>
          <p:cNvPr id="11" name="object 11" descr=""/>
          <p:cNvSpPr/>
          <p:nvPr/>
        </p:nvSpPr>
        <p:spPr>
          <a:xfrm>
            <a:off x="8848343" y="793750"/>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925" y="0"/>
                </a:moveTo>
                <a:lnTo>
                  <a:pt x="0" y="85725"/>
                </a:lnTo>
                <a:lnTo>
                  <a:pt x="28575" y="85725"/>
                </a:lnTo>
                <a:lnTo>
                  <a:pt x="28575" y="71374"/>
                </a:lnTo>
                <a:lnTo>
                  <a:pt x="78560" y="71374"/>
                </a:lnTo>
                <a:lnTo>
                  <a:pt x="42925" y="0"/>
                </a:lnTo>
                <a:close/>
              </a:path>
              <a:path w="85725" h="457200">
                <a:moveTo>
                  <a:pt x="78560" y="71374"/>
                </a:moveTo>
                <a:lnTo>
                  <a:pt x="57150" y="71374"/>
                </a:lnTo>
                <a:lnTo>
                  <a:pt x="57150" y="85725"/>
                </a:lnTo>
                <a:lnTo>
                  <a:pt x="85725" y="85725"/>
                </a:lnTo>
                <a:lnTo>
                  <a:pt x="78560" y="71374"/>
                </a:lnTo>
                <a:close/>
              </a:path>
            </a:pathLst>
          </a:custGeom>
          <a:solidFill>
            <a:srgbClr val="5782F8"/>
          </a:solidFill>
        </p:spPr>
        <p:txBody>
          <a:bodyPr wrap="square" lIns="0" tIns="0" rIns="0" bIns="0" rtlCol="0"/>
          <a:lstStyle/>
          <a:p/>
        </p:txBody>
      </p:sp>
      <p:sp>
        <p:nvSpPr>
          <p:cNvPr id="12" name="object 12" descr=""/>
          <p:cNvSpPr/>
          <p:nvPr/>
        </p:nvSpPr>
        <p:spPr>
          <a:xfrm>
            <a:off x="9486265" y="793750"/>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799" y="0"/>
                </a:moveTo>
                <a:lnTo>
                  <a:pt x="0" y="85725"/>
                </a:lnTo>
                <a:lnTo>
                  <a:pt x="28575" y="85725"/>
                </a:lnTo>
                <a:lnTo>
                  <a:pt x="28575" y="71374"/>
                </a:lnTo>
                <a:lnTo>
                  <a:pt x="78538" y="71374"/>
                </a:lnTo>
                <a:lnTo>
                  <a:pt x="42799" y="0"/>
                </a:lnTo>
                <a:close/>
              </a:path>
              <a:path w="85725" h="457200">
                <a:moveTo>
                  <a:pt x="78538" y="71374"/>
                </a:moveTo>
                <a:lnTo>
                  <a:pt x="57150" y="71374"/>
                </a:lnTo>
                <a:lnTo>
                  <a:pt x="57150" y="85725"/>
                </a:lnTo>
                <a:lnTo>
                  <a:pt x="85725" y="85725"/>
                </a:lnTo>
                <a:lnTo>
                  <a:pt x="78538" y="71374"/>
                </a:lnTo>
                <a:close/>
              </a:path>
            </a:pathLst>
          </a:custGeom>
          <a:solidFill>
            <a:srgbClr val="5782F8"/>
          </a:solidFill>
        </p:spPr>
        <p:txBody>
          <a:bodyPr wrap="square" lIns="0" tIns="0" rIns="0" bIns="0" rtlCol="0"/>
          <a:lstStyle/>
          <a:p/>
        </p:txBody>
      </p:sp>
      <p:sp>
        <p:nvSpPr>
          <p:cNvPr id="13" name="object 13" descr=""/>
          <p:cNvSpPr/>
          <p:nvPr/>
        </p:nvSpPr>
        <p:spPr>
          <a:xfrm>
            <a:off x="10124058" y="793750"/>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799" y="0"/>
                </a:moveTo>
                <a:lnTo>
                  <a:pt x="0" y="85725"/>
                </a:lnTo>
                <a:lnTo>
                  <a:pt x="28575" y="85725"/>
                </a:lnTo>
                <a:lnTo>
                  <a:pt x="28575" y="71374"/>
                </a:lnTo>
                <a:lnTo>
                  <a:pt x="78538" y="71374"/>
                </a:lnTo>
                <a:lnTo>
                  <a:pt x="42799" y="0"/>
                </a:lnTo>
                <a:close/>
              </a:path>
              <a:path w="85725" h="457200">
                <a:moveTo>
                  <a:pt x="78538" y="71374"/>
                </a:moveTo>
                <a:lnTo>
                  <a:pt x="57150" y="71374"/>
                </a:lnTo>
                <a:lnTo>
                  <a:pt x="57150" y="85725"/>
                </a:lnTo>
                <a:lnTo>
                  <a:pt x="85725" y="85725"/>
                </a:lnTo>
                <a:lnTo>
                  <a:pt x="78538" y="71374"/>
                </a:lnTo>
                <a:close/>
              </a:path>
            </a:pathLst>
          </a:custGeom>
          <a:solidFill>
            <a:srgbClr val="5782F8"/>
          </a:solidFill>
        </p:spPr>
        <p:txBody>
          <a:bodyPr wrap="square" lIns="0" tIns="0" rIns="0" bIns="0" rtlCol="0"/>
          <a:lstStyle/>
          <a:p/>
        </p:txBody>
      </p:sp>
      <p:sp>
        <p:nvSpPr>
          <p:cNvPr id="14" name="object 14" descr=""/>
          <p:cNvSpPr txBox="1"/>
          <p:nvPr/>
        </p:nvSpPr>
        <p:spPr>
          <a:xfrm>
            <a:off x="9369679" y="1162628"/>
            <a:ext cx="982980" cy="1093470"/>
          </a:xfrm>
          <a:prstGeom prst="rect">
            <a:avLst/>
          </a:prstGeom>
        </p:spPr>
        <p:txBody>
          <a:bodyPr wrap="square" lIns="0" tIns="120014" rIns="0" bIns="0" rtlCol="0" vert="horz">
            <a:spAutoFit/>
          </a:bodyPr>
          <a:lstStyle/>
          <a:p>
            <a:pPr marL="12700">
              <a:lnSpc>
                <a:spcPct val="100000"/>
              </a:lnSpc>
              <a:spcBef>
                <a:spcPts val="944"/>
              </a:spcBef>
              <a:tabLst>
                <a:tab pos="650240" algn="l"/>
              </a:tabLst>
            </a:pPr>
            <a:r>
              <a:rPr dirty="0" baseline="-1984" sz="4200" spc="-37" b="1">
                <a:solidFill>
                  <a:srgbClr val="D50092"/>
                </a:solidFill>
                <a:latin typeface="微软雅黑"/>
                <a:cs typeface="微软雅黑"/>
              </a:rPr>
              <a:t>rs</a:t>
            </a:r>
            <a:r>
              <a:rPr dirty="0" baseline="-1984" sz="4200" b="1">
                <a:solidFill>
                  <a:srgbClr val="D50092"/>
                </a:solidFill>
                <a:latin typeface="微软雅黑"/>
                <a:cs typeface="微软雅黑"/>
              </a:rPr>
              <a:t>	</a:t>
            </a:r>
            <a:r>
              <a:rPr dirty="0" sz="2800" spc="45" b="1">
                <a:solidFill>
                  <a:srgbClr val="D50092"/>
                </a:solidFill>
                <a:latin typeface="微软雅黑"/>
                <a:cs typeface="微软雅黑"/>
              </a:rPr>
              <a:t>rt</a:t>
            </a:r>
            <a:endParaRPr sz="2800">
              <a:latin typeface="微软雅黑"/>
              <a:cs typeface="微软雅黑"/>
            </a:endParaRPr>
          </a:p>
          <a:p>
            <a:pPr marL="12700">
              <a:lnSpc>
                <a:spcPct val="100000"/>
              </a:lnSpc>
              <a:spcBef>
                <a:spcPts val="840"/>
              </a:spcBef>
              <a:tabLst>
                <a:tab pos="653415" algn="l"/>
              </a:tabLst>
            </a:pPr>
            <a:r>
              <a:rPr dirty="0" sz="2800" spc="-50" b="1">
                <a:solidFill>
                  <a:srgbClr val="40458B"/>
                </a:solidFill>
                <a:latin typeface="微软雅黑"/>
                <a:cs typeface="微软雅黑"/>
              </a:rPr>
              <a:t>j</a:t>
            </a:r>
            <a:r>
              <a:rPr dirty="0" sz="2800" b="1">
                <a:solidFill>
                  <a:srgbClr val="40458B"/>
                </a:solidFill>
                <a:latin typeface="微软雅黑"/>
                <a:cs typeface="微软雅黑"/>
              </a:rPr>
              <a:t>	</a:t>
            </a:r>
            <a:r>
              <a:rPr dirty="0" sz="2800" spc="-50" b="1">
                <a:solidFill>
                  <a:srgbClr val="40458B"/>
                </a:solidFill>
                <a:latin typeface="微软雅黑"/>
                <a:cs typeface="微软雅黑"/>
              </a:rPr>
              <a:t>k</a:t>
            </a:r>
            <a:endParaRPr sz="2800">
              <a:latin typeface="微软雅黑"/>
              <a:cs typeface="微软雅黑"/>
            </a:endParaRPr>
          </a:p>
        </p:txBody>
      </p:sp>
      <p:sp>
        <p:nvSpPr>
          <p:cNvPr id="15" name="object 15" descr=""/>
          <p:cNvSpPr/>
          <p:nvPr/>
        </p:nvSpPr>
        <p:spPr>
          <a:xfrm>
            <a:off x="7677784" y="4145660"/>
            <a:ext cx="894715" cy="579120"/>
          </a:xfrm>
          <a:custGeom>
            <a:avLst/>
            <a:gdLst/>
            <a:ahLst/>
            <a:cxnLst/>
            <a:rect l="l" t="t" r="r" b="b"/>
            <a:pathLst>
              <a:path w="894715" h="579120">
                <a:moveTo>
                  <a:pt x="828034" y="541510"/>
                </a:moveTo>
                <a:lnTo>
                  <a:pt x="810006" y="569468"/>
                </a:lnTo>
                <a:lnTo>
                  <a:pt x="894715" y="578738"/>
                </a:lnTo>
                <a:lnTo>
                  <a:pt x="876724" y="548386"/>
                </a:lnTo>
                <a:lnTo>
                  <a:pt x="838708" y="548386"/>
                </a:lnTo>
                <a:lnTo>
                  <a:pt x="828034" y="541510"/>
                </a:lnTo>
                <a:close/>
              </a:path>
              <a:path w="894715" h="579120">
                <a:moveTo>
                  <a:pt x="833207" y="533487"/>
                </a:moveTo>
                <a:lnTo>
                  <a:pt x="828034" y="541510"/>
                </a:lnTo>
                <a:lnTo>
                  <a:pt x="838708" y="548386"/>
                </a:lnTo>
                <a:lnTo>
                  <a:pt x="843915" y="540384"/>
                </a:lnTo>
                <a:lnTo>
                  <a:pt x="833207" y="533487"/>
                </a:lnTo>
                <a:close/>
              </a:path>
              <a:path w="894715" h="579120">
                <a:moveTo>
                  <a:pt x="851281" y="505459"/>
                </a:moveTo>
                <a:lnTo>
                  <a:pt x="833207" y="533487"/>
                </a:lnTo>
                <a:lnTo>
                  <a:pt x="843915" y="540384"/>
                </a:lnTo>
                <a:lnTo>
                  <a:pt x="838708" y="548386"/>
                </a:lnTo>
                <a:lnTo>
                  <a:pt x="876724" y="548386"/>
                </a:lnTo>
                <a:lnTo>
                  <a:pt x="851281" y="505459"/>
                </a:lnTo>
                <a:close/>
              </a:path>
              <a:path w="894715" h="579120">
                <a:moveTo>
                  <a:pt x="5080" y="0"/>
                </a:moveTo>
                <a:lnTo>
                  <a:pt x="0" y="8127"/>
                </a:lnTo>
                <a:lnTo>
                  <a:pt x="828034" y="541510"/>
                </a:lnTo>
                <a:lnTo>
                  <a:pt x="833207" y="533487"/>
                </a:lnTo>
                <a:lnTo>
                  <a:pt x="5080" y="0"/>
                </a:lnTo>
                <a:close/>
              </a:path>
            </a:pathLst>
          </a:custGeom>
          <a:solidFill>
            <a:srgbClr val="FF0000"/>
          </a:solidFill>
        </p:spPr>
        <p:txBody>
          <a:bodyPr wrap="square" lIns="0" tIns="0" rIns="0" bIns="0" rtlCol="0"/>
          <a:lstStyle/>
          <a:p/>
        </p:txBody>
      </p:sp>
      <p:sp>
        <p:nvSpPr>
          <p:cNvPr id="16" name="object 16" descr=""/>
          <p:cNvSpPr/>
          <p:nvPr/>
        </p:nvSpPr>
        <p:spPr>
          <a:xfrm>
            <a:off x="7607045" y="4935601"/>
            <a:ext cx="965835" cy="406400"/>
          </a:xfrm>
          <a:custGeom>
            <a:avLst/>
            <a:gdLst/>
            <a:ahLst/>
            <a:cxnLst/>
            <a:rect l="l" t="t" r="r" b="b"/>
            <a:pathLst>
              <a:path w="965834" h="406400">
                <a:moveTo>
                  <a:pt x="893160" y="30839"/>
                </a:moveTo>
                <a:lnTo>
                  <a:pt x="0" y="397129"/>
                </a:lnTo>
                <a:lnTo>
                  <a:pt x="3682" y="406019"/>
                </a:lnTo>
                <a:lnTo>
                  <a:pt x="896772" y="39632"/>
                </a:lnTo>
                <a:lnTo>
                  <a:pt x="893160" y="30839"/>
                </a:lnTo>
                <a:close/>
              </a:path>
              <a:path w="965834" h="406400">
                <a:moveTo>
                  <a:pt x="948187" y="26035"/>
                </a:moveTo>
                <a:lnTo>
                  <a:pt x="904875" y="26035"/>
                </a:lnTo>
                <a:lnTo>
                  <a:pt x="908557" y="34798"/>
                </a:lnTo>
                <a:lnTo>
                  <a:pt x="896772" y="39632"/>
                </a:lnTo>
                <a:lnTo>
                  <a:pt x="909447" y="70485"/>
                </a:lnTo>
                <a:lnTo>
                  <a:pt x="948187" y="26035"/>
                </a:lnTo>
                <a:close/>
              </a:path>
              <a:path w="965834" h="406400">
                <a:moveTo>
                  <a:pt x="904875" y="26035"/>
                </a:moveTo>
                <a:lnTo>
                  <a:pt x="893160" y="30839"/>
                </a:lnTo>
                <a:lnTo>
                  <a:pt x="896772" y="39632"/>
                </a:lnTo>
                <a:lnTo>
                  <a:pt x="908557" y="34798"/>
                </a:lnTo>
                <a:lnTo>
                  <a:pt x="904875" y="26035"/>
                </a:lnTo>
                <a:close/>
              </a:path>
              <a:path w="965834" h="406400">
                <a:moveTo>
                  <a:pt x="880490" y="0"/>
                </a:moveTo>
                <a:lnTo>
                  <a:pt x="893160" y="30839"/>
                </a:lnTo>
                <a:lnTo>
                  <a:pt x="904875" y="26035"/>
                </a:lnTo>
                <a:lnTo>
                  <a:pt x="948187" y="26035"/>
                </a:lnTo>
                <a:lnTo>
                  <a:pt x="965453" y="6223"/>
                </a:lnTo>
                <a:lnTo>
                  <a:pt x="880490" y="0"/>
                </a:lnTo>
                <a:close/>
              </a:path>
            </a:pathLst>
          </a:custGeom>
          <a:solidFill>
            <a:srgbClr val="FF0000"/>
          </a:solidFill>
        </p:spPr>
        <p:txBody>
          <a:bodyPr wrap="square" lIns="0" tIns="0" rIns="0" bIns="0" rtlCol="0"/>
          <a:lstStyle/>
          <a:p/>
        </p:txBody>
      </p:sp>
      <p:sp>
        <p:nvSpPr>
          <p:cNvPr id="17" name="object 17" descr=""/>
          <p:cNvSpPr txBox="1"/>
          <p:nvPr/>
        </p:nvSpPr>
        <p:spPr>
          <a:xfrm>
            <a:off x="1566417" y="4353305"/>
            <a:ext cx="10633075" cy="1833245"/>
          </a:xfrm>
          <a:prstGeom prst="rect">
            <a:avLst/>
          </a:prstGeom>
        </p:spPr>
        <p:txBody>
          <a:bodyPr wrap="square" lIns="0" tIns="31750" rIns="0" bIns="0" rtlCol="0" vert="horz">
            <a:spAutoFit/>
          </a:bodyPr>
          <a:lstStyle/>
          <a:p>
            <a:pPr algn="r" marL="7220584" marR="2184400">
              <a:lnSpc>
                <a:spcPts val="2810"/>
              </a:lnSpc>
              <a:spcBef>
                <a:spcPts val="250"/>
              </a:spcBef>
            </a:pPr>
            <a:r>
              <a:rPr dirty="0" sz="2400" spc="-15">
                <a:solidFill>
                  <a:srgbClr val="40458B"/>
                </a:solidFill>
                <a:latin typeface="黑体"/>
                <a:cs typeface="黑体"/>
              </a:rPr>
              <a:t>都属于寄</a:t>
            </a:r>
            <a:r>
              <a:rPr dirty="0" sz="2400" spc="-20">
                <a:solidFill>
                  <a:srgbClr val="40458B"/>
                </a:solidFill>
                <a:latin typeface="黑体"/>
                <a:cs typeface="黑体"/>
              </a:rPr>
              <a:t>存器换名</a:t>
            </a:r>
            <a:endParaRPr sz="2400">
              <a:latin typeface="黑体"/>
              <a:cs typeface="黑体"/>
            </a:endParaRPr>
          </a:p>
          <a:p>
            <a:pPr marL="12700">
              <a:lnSpc>
                <a:spcPct val="100000"/>
              </a:lnSpc>
              <a:spcBef>
                <a:spcPts val="1550"/>
              </a:spcBef>
            </a:pPr>
            <a:r>
              <a:rPr dirty="0" sz="2400">
                <a:solidFill>
                  <a:srgbClr val="40458B"/>
                </a:solidFill>
                <a:latin typeface="Tahoma"/>
                <a:cs typeface="Tahoma"/>
              </a:rPr>
              <a:t>RS[</a:t>
            </a:r>
            <a:r>
              <a:rPr dirty="0" sz="2400">
                <a:solidFill>
                  <a:srgbClr val="E14B04"/>
                </a:solidFill>
                <a:latin typeface="Tahoma"/>
                <a:cs typeface="Tahoma"/>
              </a:rPr>
              <a:t>r</a:t>
            </a:r>
            <a:r>
              <a:rPr dirty="0" sz="2400">
                <a:solidFill>
                  <a:srgbClr val="40458B"/>
                </a:solidFill>
                <a:latin typeface="Tahoma"/>
                <a:cs typeface="Tahoma"/>
              </a:rPr>
              <a:t>].Vj</a:t>
            </a:r>
            <a:r>
              <a:rPr dirty="0" sz="2400" spc="-20">
                <a:solidFill>
                  <a:srgbClr val="40458B"/>
                </a:solidFill>
                <a:latin typeface="Tahoma"/>
                <a:cs typeface="Tahoma"/>
              </a:rPr>
              <a:t> </a:t>
            </a:r>
            <a:r>
              <a:rPr dirty="0" sz="2400">
                <a:solidFill>
                  <a:srgbClr val="40458B"/>
                </a:solidFill>
                <a:latin typeface="Symbol"/>
                <a:cs typeface="Symbol"/>
              </a:rPr>
              <a:t></a:t>
            </a:r>
            <a:r>
              <a:rPr dirty="0" sz="2400" spc="120">
                <a:solidFill>
                  <a:srgbClr val="40458B"/>
                </a:solidFill>
                <a:latin typeface="Times New Roman"/>
                <a:cs typeface="Times New Roman"/>
              </a:rPr>
              <a:t> </a:t>
            </a:r>
            <a:r>
              <a:rPr dirty="0" sz="2400">
                <a:solidFill>
                  <a:srgbClr val="40458B"/>
                </a:solidFill>
                <a:latin typeface="Tahoma"/>
                <a:cs typeface="Tahoma"/>
              </a:rPr>
              <a:t>Regs[</a:t>
            </a:r>
            <a:r>
              <a:rPr dirty="0" sz="2400">
                <a:solidFill>
                  <a:srgbClr val="D50092"/>
                </a:solidFill>
                <a:latin typeface="Tahoma"/>
                <a:cs typeface="Tahoma"/>
              </a:rPr>
              <a:t>rs</a:t>
            </a:r>
            <a:r>
              <a:rPr dirty="0" sz="2400">
                <a:solidFill>
                  <a:srgbClr val="40458B"/>
                </a:solidFill>
                <a:latin typeface="Tahoma"/>
                <a:cs typeface="Tahoma"/>
              </a:rPr>
              <a:t>] </a:t>
            </a:r>
            <a:r>
              <a:rPr dirty="0" sz="2400" spc="-229">
                <a:solidFill>
                  <a:srgbClr val="40458B"/>
                </a:solidFill>
                <a:latin typeface="黑体"/>
                <a:cs typeface="黑体"/>
              </a:rPr>
              <a:t>； </a:t>
            </a:r>
            <a:r>
              <a:rPr dirty="0" sz="2000" spc="-15" b="1">
                <a:latin typeface="宋体"/>
                <a:cs typeface="宋体"/>
              </a:rPr>
              <a:t>//第一操作数</a:t>
            </a:r>
            <a:r>
              <a:rPr dirty="0" sz="2000" spc="-15" b="1">
                <a:solidFill>
                  <a:srgbClr val="353977"/>
                </a:solidFill>
                <a:latin typeface="宋体"/>
                <a:cs typeface="宋体"/>
              </a:rPr>
              <a:t>就绪</a:t>
            </a:r>
            <a:r>
              <a:rPr dirty="0" sz="2000" spc="-15" b="1">
                <a:latin typeface="宋体"/>
                <a:cs typeface="宋体"/>
              </a:rPr>
              <a:t>。</a:t>
            </a:r>
            <a:r>
              <a:rPr dirty="0" sz="2000" spc="-20" b="1">
                <a:solidFill>
                  <a:srgbClr val="FF0000"/>
                </a:solidFill>
                <a:latin typeface="宋体"/>
                <a:cs typeface="宋体"/>
              </a:rPr>
              <a:t>把寄存器</a:t>
            </a:r>
            <a:r>
              <a:rPr dirty="0" sz="2000" b="1">
                <a:solidFill>
                  <a:srgbClr val="FF0000"/>
                </a:solidFill>
                <a:latin typeface="宋体"/>
                <a:cs typeface="宋体"/>
              </a:rPr>
              <a:t>rs</a:t>
            </a:r>
            <a:r>
              <a:rPr dirty="0" sz="2000" spc="-20" b="1">
                <a:solidFill>
                  <a:srgbClr val="FF0000"/>
                </a:solidFill>
                <a:latin typeface="宋体"/>
                <a:cs typeface="宋体"/>
              </a:rPr>
              <a:t>中的操作数取到当前保留站的</a:t>
            </a:r>
            <a:r>
              <a:rPr dirty="0" sz="2000" spc="-10" b="1">
                <a:solidFill>
                  <a:srgbClr val="FF0000"/>
                </a:solidFill>
                <a:latin typeface="宋体"/>
                <a:cs typeface="宋体"/>
              </a:rPr>
              <a:t>Vj</a:t>
            </a:r>
            <a:r>
              <a:rPr dirty="0" sz="2000" spc="-50" b="1">
                <a:latin typeface="宋体"/>
                <a:cs typeface="宋体"/>
              </a:rPr>
              <a:t>。</a:t>
            </a:r>
            <a:endParaRPr sz="2000">
              <a:latin typeface="宋体"/>
              <a:cs typeface="宋体"/>
            </a:endParaRPr>
          </a:p>
          <a:p>
            <a:pPr marL="399415">
              <a:lnSpc>
                <a:spcPct val="100000"/>
              </a:lnSpc>
              <a:spcBef>
                <a:spcPts val="1155"/>
              </a:spcBef>
              <a:tabLst>
                <a:tab pos="2439035" algn="l"/>
              </a:tabLst>
            </a:pPr>
            <a:r>
              <a:rPr dirty="0" sz="2400">
                <a:solidFill>
                  <a:srgbClr val="40458B"/>
                </a:solidFill>
                <a:latin typeface="Tahoma"/>
                <a:cs typeface="Tahoma"/>
              </a:rPr>
              <a:t>RS[</a:t>
            </a:r>
            <a:r>
              <a:rPr dirty="0" sz="2400">
                <a:solidFill>
                  <a:srgbClr val="E14B04"/>
                </a:solidFill>
                <a:latin typeface="Tahoma"/>
                <a:cs typeface="Tahoma"/>
              </a:rPr>
              <a:t>r</a:t>
            </a:r>
            <a:r>
              <a:rPr dirty="0" sz="2400">
                <a:solidFill>
                  <a:srgbClr val="40458B"/>
                </a:solidFill>
                <a:latin typeface="Tahoma"/>
                <a:cs typeface="Tahoma"/>
              </a:rPr>
              <a:t>].Qj</a:t>
            </a:r>
            <a:r>
              <a:rPr dirty="0" sz="2400" spc="-35">
                <a:solidFill>
                  <a:srgbClr val="40458B"/>
                </a:solidFill>
                <a:latin typeface="Tahoma"/>
                <a:cs typeface="Tahoma"/>
              </a:rPr>
              <a:t> </a:t>
            </a:r>
            <a:r>
              <a:rPr dirty="0" sz="2400">
                <a:solidFill>
                  <a:srgbClr val="40458B"/>
                </a:solidFill>
                <a:latin typeface="Symbol"/>
                <a:cs typeface="Symbol"/>
              </a:rPr>
              <a:t></a:t>
            </a:r>
            <a:r>
              <a:rPr dirty="0" sz="2400" spc="110">
                <a:solidFill>
                  <a:srgbClr val="40458B"/>
                </a:solidFill>
                <a:latin typeface="Times New Roman"/>
                <a:cs typeface="Times New Roman"/>
              </a:rPr>
              <a:t> </a:t>
            </a:r>
            <a:r>
              <a:rPr dirty="0" sz="2400" spc="-50">
                <a:solidFill>
                  <a:srgbClr val="40458B"/>
                </a:solidFill>
                <a:latin typeface="Tahoma"/>
                <a:cs typeface="Tahoma"/>
              </a:rPr>
              <a:t>0</a:t>
            </a:r>
            <a:r>
              <a:rPr dirty="0" sz="2400">
                <a:solidFill>
                  <a:srgbClr val="40458B"/>
                </a:solidFill>
                <a:latin typeface="Tahoma"/>
                <a:cs typeface="Tahoma"/>
              </a:rPr>
              <a:t>	</a:t>
            </a:r>
            <a:r>
              <a:rPr dirty="0" sz="2400" spc="-20" b="1">
                <a:latin typeface="宋体"/>
                <a:cs typeface="宋体"/>
              </a:rPr>
              <a:t>//置Qj为0</a:t>
            </a:r>
            <a:r>
              <a:rPr dirty="0" sz="2400" spc="-25" b="1">
                <a:latin typeface="宋体"/>
                <a:cs typeface="宋体"/>
              </a:rPr>
              <a:t>，表示当前保留站的</a:t>
            </a:r>
            <a:r>
              <a:rPr dirty="0" sz="2400" spc="-20" b="1">
                <a:latin typeface="宋体"/>
                <a:cs typeface="宋体"/>
              </a:rPr>
              <a:t>Vj</a:t>
            </a:r>
            <a:r>
              <a:rPr dirty="0" sz="2400" spc="-10" b="1">
                <a:latin typeface="宋体"/>
                <a:cs typeface="宋体"/>
              </a:rPr>
              <a:t>中的操作数就绪 。</a:t>
            </a:r>
            <a:endParaRPr sz="2400">
              <a:latin typeface="宋体"/>
              <a:cs typeface="宋体"/>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246379"/>
            <a:ext cx="2208530" cy="391160"/>
          </a:xfrm>
          <a:prstGeom prst="rect"/>
        </p:spPr>
        <p:txBody>
          <a:bodyPr wrap="square" lIns="0" tIns="12700" rIns="0" bIns="0" rtlCol="0" vert="horz">
            <a:spAutoFit/>
          </a:bodyPr>
          <a:lstStyle/>
          <a:p>
            <a:pPr marL="12700">
              <a:lnSpc>
                <a:spcPct val="100000"/>
              </a:lnSpc>
              <a:spcBef>
                <a:spcPts val="100"/>
              </a:spcBef>
            </a:pPr>
            <a:r>
              <a:rPr dirty="0" sz="2400">
                <a:solidFill>
                  <a:srgbClr val="40458B"/>
                </a:solidFill>
                <a:latin typeface="Tahoma"/>
                <a:cs typeface="Tahoma"/>
              </a:rPr>
              <a:t>if</a:t>
            </a:r>
            <a:r>
              <a:rPr dirty="0" sz="2400" spc="-20">
                <a:solidFill>
                  <a:srgbClr val="40458B"/>
                </a:solidFill>
                <a:latin typeface="Tahoma"/>
                <a:cs typeface="Tahoma"/>
              </a:rPr>
              <a:t> </a:t>
            </a:r>
            <a:r>
              <a:rPr dirty="0" sz="2400">
                <a:solidFill>
                  <a:srgbClr val="40458B"/>
                </a:solidFill>
              </a:rPr>
              <a:t>（</a:t>
            </a:r>
            <a:r>
              <a:rPr dirty="0" sz="2400">
                <a:solidFill>
                  <a:srgbClr val="40458B"/>
                </a:solidFill>
                <a:latin typeface="Tahoma"/>
                <a:cs typeface="Tahoma"/>
              </a:rPr>
              <a:t>Qi[</a:t>
            </a:r>
            <a:r>
              <a:rPr dirty="0" sz="2400">
                <a:solidFill>
                  <a:srgbClr val="D50092"/>
                </a:solidFill>
                <a:latin typeface="Tahoma"/>
                <a:cs typeface="Tahoma"/>
              </a:rPr>
              <a:t>rt</a:t>
            </a:r>
            <a:r>
              <a:rPr dirty="0" sz="2400">
                <a:solidFill>
                  <a:srgbClr val="40458B"/>
                </a:solidFill>
                <a:latin typeface="Tahoma"/>
                <a:cs typeface="Tahoma"/>
              </a:rPr>
              <a:t>]</a:t>
            </a:r>
            <a:r>
              <a:rPr dirty="0" sz="2400" spc="-20">
                <a:solidFill>
                  <a:srgbClr val="40458B"/>
                </a:solidFill>
                <a:latin typeface="Tahoma"/>
                <a:cs typeface="Tahoma"/>
              </a:rPr>
              <a:t> </a:t>
            </a:r>
            <a:r>
              <a:rPr dirty="0" sz="2400">
                <a:solidFill>
                  <a:srgbClr val="40458B"/>
                </a:solidFill>
                <a:latin typeface="Tahoma"/>
                <a:cs typeface="Tahoma"/>
              </a:rPr>
              <a:t>≠</a:t>
            </a:r>
            <a:r>
              <a:rPr dirty="0" sz="2400" spc="-15">
                <a:solidFill>
                  <a:srgbClr val="40458B"/>
                </a:solidFill>
                <a:latin typeface="Tahoma"/>
                <a:cs typeface="Tahoma"/>
              </a:rPr>
              <a:t> </a:t>
            </a:r>
            <a:r>
              <a:rPr dirty="0" sz="2400" spc="-25">
                <a:solidFill>
                  <a:srgbClr val="40458B"/>
                </a:solidFill>
                <a:latin typeface="Tahoma"/>
                <a:cs typeface="Tahoma"/>
              </a:rPr>
              <a:t>0</a:t>
            </a:r>
            <a:r>
              <a:rPr dirty="0" sz="2400" spc="-25">
                <a:solidFill>
                  <a:srgbClr val="40458B"/>
                </a:solidFill>
              </a:rPr>
              <a:t>）</a:t>
            </a:r>
            <a:endParaRPr sz="2400">
              <a:latin typeface="Tahoma"/>
              <a:cs typeface="Tahoma"/>
            </a:endParaRPr>
          </a:p>
        </p:txBody>
      </p:sp>
      <p:sp>
        <p:nvSpPr>
          <p:cNvPr id="3" name="object 3" descr=""/>
          <p:cNvSpPr txBox="1"/>
          <p:nvPr/>
        </p:nvSpPr>
        <p:spPr>
          <a:xfrm>
            <a:off x="4057015" y="296671"/>
            <a:ext cx="3227705" cy="330835"/>
          </a:xfrm>
          <a:prstGeom prst="rect">
            <a:avLst/>
          </a:prstGeom>
        </p:spPr>
        <p:txBody>
          <a:bodyPr wrap="square" lIns="0" tIns="12700" rIns="0" bIns="0" rtlCol="0" vert="horz">
            <a:spAutoFit/>
          </a:bodyPr>
          <a:lstStyle/>
          <a:p>
            <a:pPr marL="12700">
              <a:lnSpc>
                <a:spcPct val="100000"/>
              </a:lnSpc>
              <a:spcBef>
                <a:spcPts val="100"/>
              </a:spcBef>
            </a:pPr>
            <a:r>
              <a:rPr dirty="0" sz="2000" spc="-15" b="1">
                <a:latin typeface="宋体"/>
                <a:cs typeface="宋体"/>
              </a:rPr>
              <a:t>// 检测第二操作数是否就绪</a:t>
            </a:r>
            <a:endParaRPr sz="2000">
              <a:latin typeface="宋体"/>
              <a:cs typeface="宋体"/>
            </a:endParaRPr>
          </a:p>
        </p:txBody>
      </p:sp>
      <p:sp>
        <p:nvSpPr>
          <p:cNvPr id="4" name="object 4" descr=""/>
          <p:cNvSpPr txBox="1"/>
          <p:nvPr/>
        </p:nvSpPr>
        <p:spPr>
          <a:xfrm>
            <a:off x="726440" y="758697"/>
            <a:ext cx="319913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Symbol"/>
                <a:cs typeface="Symbol"/>
              </a:rPr>
              <a:t></a:t>
            </a:r>
            <a:r>
              <a:rPr dirty="0" sz="2400" spc="110">
                <a:solidFill>
                  <a:srgbClr val="40458B"/>
                </a:solidFill>
                <a:latin typeface="Times New Roman"/>
                <a:cs typeface="Times New Roman"/>
              </a:rPr>
              <a:t> </a:t>
            </a:r>
            <a:r>
              <a:rPr dirty="0" sz="2400">
                <a:solidFill>
                  <a:srgbClr val="40458B"/>
                </a:solidFill>
                <a:latin typeface="Tahoma"/>
                <a:cs typeface="Tahoma"/>
              </a:rPr>
              <a:t>RS[</a:t>
            </a:r>
            <a:r>
              <a:rPr dirty="0" sz="2400">
                <a:solidFill>
                  <a:srgbClr val="001F5F"/>
                </a:solidFill>
                <a:latin typeface="Tahoma"/>
                <a:cs typeface="Tahoma"/>
              </a:rPr>
              <a:t>r</a:t>
            </a:r>
            <a:r>
              <a:rPr dirty="0" sz="2400">
                <a:solidFill>
                  <a:srgbClr val="40458B"/>
                </a:solidFill>
                <a:latin typeface="Tahoma"/>
                <a:cs typeface="Tahoma"/>
              </a:rPr>
              <a:t>].Qk</a:t>
            </a:r>
            <a:r>
              <a:rPr dirty="0" sz="2400" spc="-25">
                <a:solidFill>
                  <a:srgbClr val="40458B"/>
                </a:solidFill>
                <a:latin typeface="Tahoma"/>
                <a:cs typeface="Tahoma"/>
              </a:rPr>
              <a:t> </a:t>
            </a:r>
            <a:r>
              <a:rPr dirty="0" sz="2400">
                <a:solidFill>
                  <a:srgbClr val="40458B"/>
                </a:solidFill>
                <a:latin typeface="Symbol"/>
                <a:cs typeface="Symbol"/>
              </a:rPr>
              <a:t></a:t>
            </a:r>
            <a:r>
              <a:rPr dirty="0" sz="2400" spc="125">
                <a:solidFill>
                  <a:srgbClr val="40458B"/>
                </a:solidFill>
                <a:latin typeface="Times New Roman"/>
                <a:cs typeface="Times New Roman"/>
              </a:rPr>
              <a:t> </a:t>
            </a:r>
            <a:r>
              <a:rPr dirty="0" sz="2400">
                <a:solidFill>
                  <a:srgbClr val="40458B"/>
                </a:solidFill>
                <a:latin typeface="Tahoma"/>
                <a:cs typeface="Tahoma"/>
              </a:rPr>
              <a:t>Qi[</a:t>
            </a:r>
            <a:r>
              <a:rPr dirty="0" sz="2400">
                <a:solidFill>
                  <a:srgbClr val="D50092"/>
                </a:solidFill>
                <a:latin typeface="Tahoma"/>
                <a:cs typeface="Tahoma"/>
              </a:rPr>
              <a:t>rt</a:t>
            </a:r>
            <a:r>
              <a:rPr dirty="0" sz="2400">
                <a:solidFill>
                  <a:srgbClr val="40458B"/>
                </a:solidFill>
                <a:latin typeface="Tahoma"/>
                <a:cs typeface="Tahoma"/>
              </a:rPr>
              <a:t>]</a:t>
            </a:r>
            <a:r>
              <a:rPr dirty="0" sz="2400" spc="-45">
                <a:solidFill>
                  <a:srgbClr val="40458B"/>
                </a:solidFill>
                <a:latin typeface="Tahoma"/>
                <a:cs typeface="Tahoma"/>
              </a:rPr>
              <a:t> </a:t>
            </a:r>
            <a:r>
              <a:rPr dirty="0" sz="2400" spc="-25">
                <a:solidFill>
                  <a:srgbClr val="40458B"/>
                </a:solidFill>
                <a:latin typeface="Tahoma"/>
                <a:cs typeface="Tahoma"/>
              </a:rPr>
              <a:t>}</a:t>
            </a:r>
            <a:r>
              <a:rPr dirty="0" sz="2400" spc="-25">
                <a:solidFill>
                  <a:srgbClr val="40458B"/>
                </a:solidFill>
                <a:latin typeface="黑体"/>
                <a:cs typeface="黑体"/>
              </a:rPr>
              <a:t>；</a:t>
            </a:r>
            <a:endParaRPr sz="2400">
              <a:latin typeface="黑体"/>
              <a:cs typeface="黑体"/>
            </a:endParaRPr>
          </a:p>
        </p:txBody>
      </p:sp>
      <p:sp>
        <p:nvSpPr>
          <p:cNvPr id="5" name="object 5" descr=""/>
          <p:cNvSpPr txBox="1"/>
          <p:nvPr/>
        </p:nvSpPr>
        <p:spPr>
          <a:xfrm>
            <a:off x="4183507" y="669391"/>
            <a:ext cx="7526655" cy="915669"/>
          </a:xfrm>
          <a:prstGeom prst="rect">
            <a:avLst/>
          </a:prstGeom>
        </p:spPr>
        <p:txBody>
          <a:bodyPr wrap="square" lIns="0" tIns="12700" rIns="0" bIns="0" rtlCol="0" vert="horz">
            <a:spAutoFit/>
          </a:bodyPr>
          <a:lstStyle/>
          <a:p>
            <a:pPr marL="224154" marR="5080" indent="-212090">
              <a:lnSpc>
                <a:spcPct val="146000"/>
              </a:lnSpc>
              <a:spcBef>
                <a:spcPts val="100"/>
              </a:spcBef>
            </a:pPr>
            <a:r>
              <a:rPr dirty="0" sz="2000" spc="-25" b="1">
                <a:latin typeface="宋体"/>
                <a:cs typeface="宋体"/>
              </a:rPr>
              <a:t>//第二操作数没有就绪，进行寄存器换名，即把将产生该操作数的</a:t>
            </a:r>
            <a:r>
              <a:rPr dirty="0" sz="2000" spc="-20" b="1">
                <a:latin typeface="宋体"/>
                <a:cs typeface="宋体"/>
              </a:rPr>
              <a:t>保留站的编号放入当前保留站的</a:t>
            </a:r>
            <a:r>
              <a:rPr dirty="0" sz="2000" spc="-10" b="1">
                <a:latin typeface="宋体"/>
                <a:cs typeface="宋体"/>
              </a:rPr>
              <a:t>Qk</a:t>
            </a:r>
            <a:r>
              <a:rPr dirty="0" sz="2000" spc="-20" b="1">
                <a:latin typeface="宋体"/>
                <a:cs typeface="宋体"/>
              </a:rPr>
              <a:t>。该编号是一个大于</a:t>
            </a:r>
            <a:r>
              <a:rPr dirty="0" sz="2000" spc="-10" b="1">
                <a:latin typeface="宋体"/>
                <a:cs typeface="宋体"/>
              </a:rPr>
              <a:t>0</a:t>
            </a:r>
            <a:r>
              <a:rPr dirty="0" sz="2000" spc="-25" b="1">
                <a:latin typeface="宋体"/>
                <a:cs typeface="宋体"/>
              </a:rPr>
              <a:t>的整数。</a:t>
            </a:r>
            <a:endParaRPr sz="2000">
              <a:latin typeface="宋体"/>
              <a:cs typeface="宋体"/>
            </a:endParaRPr>
          </a:p>
        </p:txBody>
      </p:sp>
      <p:sp>
        <p:nvSpPr>
          <p:cNvPr id="6" name="object 6" descr=""/>
          <p:cNvSpPr txBox="1"/>
          <p:nvPr/>
        </p:nvSpPr>
        <p:spPr>
          <a:xfrm>
            <a:off x="535940" y="1550406"/>
            <a:ext cx="11043920" cy="1563370"/>
          </a:xfrm>
          <a:prstGeom prst="rect">
            <a:avLst/>
          </a:prstGeom>
        </p:spPr>
        <p:txBody>
          <a:bodyPr wrap="square" lIns="0" tIns="159385" rIns="0" bIns="0" rtlCol="0" vert="horz">
            <a:spAutoFit/>
          </a:bodyPr>
          <a:lstStyle/>
          <a:p>
            <a:pPr marL="12700">
              <a:lnSpc>
                <a:spcPct val="100000"/>
              </a:lnSpc>
              <a:spcBef>
                <a:spcPts val="1255"/>
              </a:spcBef>
            </a:pPr>
            <a:r>
              <a:rPr dirty="0" sz="2400" spc="-20">
                <a:solidFill>
                  <a:srgbClr val="40458B"/>
                </a:solidFill>
                <a:latin typeface="Tahoma"/>
                <a:cs typeface="Tahoma"/>
              </a:rPr>
              <a:t>else</a:t>
            </a:r>
            <a:endParaRPr sz="2400">
              <a:latin typeface="Tahoma"/>
              <a:cs typeface="Tahoma"/>
            </a:endParaRPr>
          </a:p>
          <a:p>
            <a:pPr marL="106680">
              <a:lnSpc>
                <a:spcPct val="100000"/>
              </a:lnSpc>
              <a:spcBef>
                <a:spcPts val="1155"/>
              </a:spcBef>
            </a:pPr>
            <a:r>
              <a:rPr dirty="0" sz="2400" spc="-50">
                <a:solidFill>
                  <a:srgbClr val="40458B"/>
                </a:solidFill>
                <a:latin typeface="Symbol"/>
                <a:cs typeface="Symbol"/>
              </a:rPr>
              <a:t></a:t>
            </a:r>
            <a:endParaRPr sz="2400">
              <a:latin typeface="Symbol"/>
              <a:cs typeface="Symbol"/>
            </a:endParaRPr>
          </a:p>
          <a:p>
            <a:pPr marL="393700">
              <a:lnSpc>
                <a:spcPct val="100000"/>
              </a:lnSpc>
              <a:spcBef>
                <a:spcPts val="1155"/>
              </a:spcBef>
            </a:pPr>
            <a:r>
              <a:rPr dirty="0" sz="2400">
                <a:solidFill>
                  <a:srgbClr val="40458B"/>
                </a:solidFill>
                <a:latin typeface="Tahoma"/>
                <a:cs typeface="Tahoma"/>
              </a:rPr>
              <a:t>RS[</a:t>
            </a:r>
            <a:r>
              <a:rPr dirty="0" sz="2400">
                <a:solidFill>
                  <a:srgbClr val="001F5F"/>
                </a:solidFill>
                <a:latin typeface="Tahoma"/>
                <a:cs typeface="Tahoma"/>
              </a:rPr>
              <a:t>r</a:t>
            </a:r>
            <a:r>
              <a:rPr dirty="0" sz="2400">
                <a:solidFill>
                  <a:srgbClr val="40458B"/>
                </a:solidFill>
                <a:latin typeface="Tahoma"/>
                <a:cs typeface="Tahoma"/>
              </a:rPr>
              <a:t>].</a:t>
            </a:r>
            <a:r>
              <a:rPr dirty="0" sz="2400">
                <a:solidFill>
                  <a:srgbClr val="9933FF"/>
                </a:solidFill>
                <a:latin typeface="Tahoma"/>
                <a:cs typeface="Tahoma"/>
              </a:rPr>
              <a:t>Vk</a:t>
            </a:r>
            <a:r>
              <a:rPr dirty="0" sz="2400" spc="-50">
                <a:solidFill>
                  <a:srgbClr val="9933FF"/>
                </a:solidFill>
                <a:latin typeface="Tahoma"/>
                <a:cs typeface="Tahoma"/>
              </a:rPr>
              <a:t> </a:t>
            </a:r>
            <a:r>
              <a:rPr dirty="0" sz="2400">
                <a:solidFill>
                  <a:srgbClr val="40458B"/>
                </a:solidFill>
                <a:latin typeface="Symbol"/>
                <a:cs typeface="Symbol"/>
              </a:rPr>
              <a:t></a:t>
            </a:r>
            <a:r>
              <a:rPr dirty="0" sz="2400" spc="120">
                <a:solidFill>
                  <a:srgbClr val="40458B"/>
                </a:solidFill>
                <a:latin typeface="Times New Roman"/>
                <a:cs typeface="Times New Roman"/>
              </a:rPr>
              <a:t> </a:t>
            </a:r>
            <a:r>
              <a:rPr dirty="0" sz="2400">
                <a:solidFill>
                  <a:srgbClr val="40458B"/>
                </a:solidFill>
                <a:latin typeface="Tahoma"/>
                <a:cs typeface="Tahoma"/>
              </a:rPr>
              <a:t>Regs[</a:t>
            </a:r>
            <a:r>
              <a:rPr dirty="0" sz="2400">
                <a:solidFill>
                  <a:srgbClr val="D50092"/>
                </a:solidFill>
                <a:latin typeface="Tahoma"/>
                <a:cs typeface="Tahoma"/>
              </a:rPr>
              <a:t>rt</a:t>
            </a:r>
            <a:r>
              <a:rPr dirty="0" sz="2400" spc="-15">
                <a:solidFill>
                  <a:srgbClr val="40458B"/>
                </a:solidFill>
                <a:latin typeface="Tahoma"/>
                <a:cs typeface="Tahoma"/>
              </a:rPr>
              <a:t>] </a:t>
            </a:r>
            <a:r>
              <a:rPr dirty="0" sz="2400" spc="-229">
                <a:solidFill>
                  <a:srgbClr val="40458B"/>
                </a:solidFill>
                <a:latin typeface="黑体"/>
                <a:cs typeface="黑体"/>
              </a:rPr>
              <a:t>； </a:t>
            </a:r>
            <a:r>
              <a:rPr dirty="0" sz="2000" spc="-15" b="1">
                <a:latin typeface="宋体"/>
                <a:cs typeface="宋体"/>
              </a:rPr>
              <a:t>//第二操作数就绪。把寄存器rt</a:t>
            </a:r>
            <a:r>
              <a:rPr dirty="0" sz="2000" spc="-20" b="1">
                <a:latin typeface="宋体"/>
                <a:cs typeface="宋体"/>
              </a:rPr>
              <a:t>中的操作数取到当前保留站的</a:t>
            </a:r>
            <a:r>
              <a:rPr dirty="0" sz="2000" spc="-15" b="1">
                <a:latin typeface="宋体"/>
                <a:cs typeface="宋体"/>
              </a:rPr>
              <a:t>Vk</a:t>
            </a:r>
            <a:r>
              <a:rPr dirty="0" sz="2000" spc="-50" b="1">
                <a:latin typeface="宋体"/>
                <a:cs typeface="宋体"/>
              </a:rPr>
              <a:t>。</a:t>
            </a:r>
            <a:endParaRPr sz="2000">
              <a:latin typeface="宋体"/>
              <a:cs typeface="宋体"/>
            </a:endParaRPr>
          </a:p>
        </p:txBody>
      </p:sp>
      <p:sp>
        <p:nvSpPr>
          <p:cNvPr id="7" name="object 7" descr=""/>
          <p:cNvSpPr txBox="1"/>
          <p:nvPr/>
        </p:nvSpPr>
        <p:spPr>
          <a:xfrm>
            <a:off x="820927" y="3078225"/>
            <a:ext cx="2703830" cy="2510790"/>
          </a:xfrm>
          <a:prstGeom prst="rect">
            <a:avLst/>
          </a:prstGeom>
        </p:spPr>
        <p:txBody>
          <a:bodyPr wrap="square" lIns="0" tIns="168275" rIns="0" bIns="0" rtlCol="0" vert="horz">
            <a:spAutoFit/>
          </a:bodyPr>
          <a:lstStyle/>
          <a:p>
            <a:pPr marL="203200">
              <a:lnSpc>
                <a:spcPct val="100000"/>
              </a:lnSpc>
              <a:spcBef>
                <a:spcPts val="1325"/>
              </a:spcBef>
            </a:pPr>
            <a:r>
              <a:rPr dirty="0" sz="2400">
                <a:solidFill>
                  <a:srgbClr val="40458B"/>
                </a:solidFill>
                <a:latin typeface="Tahoma"/>
                <a:cs typeface="Tahoma"/>
              </a:rPr>
              <a:t>RS[</a:t>
            </a:r>
            <a:r>
              <a:rPr dirty="0" sz="2400">
                <a:solidFill>
                  <a:srgbClr val="001F5F"/>
                </a:solidFill>
                <a:latin typeface="Tahoma"/>
                <a:cs typeface="Tahoma"/>
              </a:rPr>
              <a:t>r</a:t>
            </a:r>
            <a:r>
              <a:rPr dirty="0" sz="2400">
                <a:solidFill>
                  <a:srgbClr val="40458B"/>
                </a:solidFill>
                <a:latin typeface="Tahoma"/>
                <a:cs typeface="Tahoma"/>
              </a:rPr>
              <a:t>].Qk</a:t>
            </a:r>
            <a:r>
              <a:rPr dirty="0" sz="2400" spc="-40">
                <a:solidFill>
                  <a:srgbClr val="40458B"/>
                </a:solidFill>
                <a:latin typeface="Tahoma"/>
                <a:cs typeface="Tahoma"/>
              </a:rPr>
              <a:t> </a:t>
            </a:r>
            <a:r>
              <a:rPr dirty="0" sz="2400">
                <a:solidFill>
                  <a:srgbClr val="40458B"/>
                </a:solidFill>
                <a:latin typeface="Symbol"/>
                <a:cs typeface="Symbol"/>
              </a:rPr>
              <a:t></a:t>
            </a:r>
            <a:r>
              <a:rPr dirty="0" sz="2400" spc="90">
                <a:solidFill>
                  <a:srgbClr val="40458B"/>
                </a:solidFill>
                <a:latin typeface="Times New Roman"/>
                <a:cs typeface="Times New Roman"/>
              </a:rPr>
              <a:t> </a:t>
            </a:r>
            <a:r>
              <a:rPr dirty="0" sz="2400" spc="-50">
                <a:solidFill>
                  <a:srgbClr val="40458B"/>
                </a:solidFill>
                <a:latin typeface="Tahoma"/>
                <a:cs typeface="Tahoma"/>
              </a:rPr>
              <a:t>0</a:t>
            </a:r>
            <a:endParaRPr sz="2400">
              <a:latin typeface="Tahoma"/>
              <a:cs typeface="Tahoma"/>
            </a:endParaRPr>
          </a:p>
          <a:p>
            <a:pPr marL="113030">
              <a:lnSpc>
                <a:spcPct val="100000"/>
              </a:lnSpc>
              <a:spcBef>
                <a:spcPts val="1025"/>
              </a:spcBef>
            </a:pPr>
            <a:r>
              <a:rPr dirty="0" sz="2000" spc="-50">
                <a:solidFill>
                  <a:srgbClr val="40458B"/>
                </a:solidFill>
                <a:latin typeface="Symbol"/>
                <a:cs typeface="Symbol"/>
              </a:rPr>
              <a:t></a:t>
            </a:r>
            <a:endParaRPr sz="2000">
              <a:latin typeface="Symbol"/>
              <a:cs typeface="Symbol"/>
            </a:endParaRPr>
          </a:p>
          <a:p>
            <a:pPr marL="12700">
              <a:lnSpc>
                <a:spcPct val="100000"/>
              </a:lnSpc>
              <a:spcBef>
                <a:spcPts val="1090"/>
              </a:spcBef>
            </a:pPr>
            <a:r>
              <a:rPr dirty="0" sz="2400">
                <a:solidFill>
                  <a:srgbClr val="40458B"/>
                </a:solidFill>
                <a:latin typeface="Tahoma"/>
                <a:cs typeface="Tahoma"/>
              </a:rPr>
              <a:t>RS[</a:t>
            </a:r>
            <a:r>
              <a:rPr dirty="0" sz="2400">
                <a:solidFill>
                  <a:srgbClr val="001F5F"/>
                </a:solidFill>
                <a:latin typeface="Tahoma"/>
                <a:cs typeface="Tahoma"/>
              </a:rPr>
              <a:t>r</a:t>
            </a:r>
            <a:r>
              <a:rPr dirty="0" sz="2400">
                <a:solidFill>
                  <a:srgbClr val="40458B"/>
                </a:solidFill>
                <a:latin typeface="Tahoma"/>
                <a:cs typeface="Tahoma"/>
              </a:rPr>
              <a:t>].Busy</a:t>
            </a:r>
            <a:r>
              <a:rPr dirty="0" sz="2400" spc="-20">
                <a:solidFill>
                  <a:srgbClr val="40458B"/>
                </a:solidFill>
                <a:latin typeface="Tahoma"/>
                <a:cs typeface="Tahoma"/>
              </a:rPr>
              <a:t> </a:t>
            </a:r>
            <a:r>
              <a:rPr dirty="0" sz="2400">
                <a:solidFill>
                  <a:srgbClr val="40458B"/>
                </a:solidFill>
                <a:latin typeface="Symbol"/>
                <a:cs typeface="Symbol"/>
              </a:rPr>
              <a:t></a:t>
            </a:r>
            <a:r>
              <a:rPr dirty="0" sz="2400" spc="105">
                <a:solidFill>
                  <a:srgbClr val="40458B"/>
                </a:solidFill>
                <a:latin typeface="Times New Roman"/>
                <a:cs typeface="Times New Roman"/>
              </a:rPr>
              <a:t> </a:t>
            </a:r>
            <a:r>
              <a:rPr dirty="0" sz="2400" spc="-20">
                <a:solidFill>
                  <a:srgbClr val="40458B"/>
                </a:solidFill>
                <a:latin typeface="Tahoma"/>
                <a:cs typeface="Tahoma"/>
              </a:rPr>
              <a:t>yes</a:t>
            </a:r>
            <a:r>
              <a:rPr dirty="0" sz="2400" spc="-20">
                <a:solidFill>
                  <a:srgbClr val="40458B"/>
                </a:solidFill>
                <a:latin typeface="黑体"/>
                <a:cs typeface="黑体"/>
              </a:rPr>
              <a:t>；</a:t>
            </a:r>
            <a:endParaRPr sz="2400">
              <a:latin typeface="黑体"/>
              <a:cs typeface="黑体"/>
            </a:endParaRPr>
          </a:p>
          <a:p>
            <a:pPr marL="12700" marR="321945">
              <a:lnSpc>
                <a:spcPct val="140000"/>
              </a:lnSpc>
              <a:spcBef>
                <a:spcPts val="5"/>
              </a:spcBef>
            </a:pPr>
            <a:r>
              <a:rPr dirty="0" sz="2400">
                <a:solidFill>
                  <a:srgbClr val="40458B"/>
                </a:solidFill>
                <a:latin typeface="Tahoma"/>
                <a:cs typeface="Tahoma"/>
              </a:rPr>
              <a:t>RS[</a:t>
            </a:r>
            <a:r>
              <a:rPr dirty="0" sz="2400">
                <a:solidFill>
                  <a:srgbClr val="001F5F"/>
                </a:solidFill>
                <a:latin typeface="Tahoma"/>
                <a:cs typeface="Tahoma"/>
              </a:rPr>
              <a:t>r</a:t>
            </a:r>
            <a:r>
              <a:rPr dirty="0" sz="2400">
                <a:solidFill>
                  <a:srgbClr val="40458B"/>
                </a:solidFill>
                <a:latin typeface="Tahoma"/>
                <a:cs typeface="Tahoma"/>
              </a:rPr>
              <a:t>].Op</a:t>
            </a:r>
            <a:r>
              <a:rPr dirty="0" sz="2400" spc="-35">
                <a:solidFill>
                  <a:srgbClr val="40458B"/>
                </a:solidFill>
                <a:latin typeface="Tahoma"/>
                <a:cs typeface="Tahoma"/>
              </a:rPr>
              <a:t> </a:t>
            </a:r>
            <a:r>
              <a:rPr dirty="0" sz="2400">
                <a:solidFill>
                  <a:srgbClr val="40458B"/>
                </a:solidFill>
                <a:latin typeface="Symbol"/>
                <a:cs typeface="Symbol"/>
              </a:rPr>
              <a:t></a:t>
            </a:r>
            <a:r>
              <a:rPr dirty="0" sz="2400" spc="105">
                <a:solidFill>
                  <a:srgbClr val="40458B"/>
                </a:solidFill>
                <a:latin typeface="Times New Roman"/>
                <a:cs typeface="Times New Roman"/>
              </a:rPr>
              <a:t> </a:t>
            </a:r>
            <a:r>
              <a:rPr dirty="0" sz="2400" spc="-25">
                <a:solidFill>
                  <a:srgbClr val="40458B"/>
                </a:solidFill>
                <a:latin typeface="Tahoma"/>
                <a:cs typeface="Tahoma"/>
              </a:rPr>
              <a:t>Op</a:t>
            </a:r>
            <a:r>
              <a:rPr dirty="0" sz="2400" spc="-25">
                <a:solidFill>
                  <a:srgbClr val="40458B"/>
                </a:solidFill>
                <a:latin typeface="黑体"/>
                <a:cs typeface="黑体"/>
              </a:rPr>
              <a:t>； </a:t>
            </a:r>
            <a:r>
              <a:rPr dirty="0" sz="2400">
                <a:solidFill>
                  <a:srgbClr val="40458B"/>
                </a:solidFill>
                <a:latin typeface="Tahoma"/>
                <a:cs typeface="Tahoma"/>
              </a:rPr>
              <a:t>Qi[</a:t>
            </a:r>
            <a:r>
              <a:rPr dirty="0" sz="2400">
                <a:solidFill>
                  <a:srgbClr val="D50092"/>
                </a:solidFill>
                <a:latin typeface="Tahoma"/>
                <a:cs typeface="Tahoma"/>
              </a:rPr>
              <a:t>rd</a:t>
            </a:r>
            <a:r>
              <a:rPr dirty="0" sz="2400">
                <a:solidFill>
                  <a:srgbClr val="40458B"/>
                </a:solidFill>
                <a:latin typeface="Tahoma"/>
                <a:cs typeface="Tahoma"/>
              </a:rPr>
              <a:t>]</a:t>
            </a:r>
            <a:r>
              <a:rPr dirty="0" sz="2400" spc="-20">
                <a:solidFill>
                  <a:srgbClr val="40458B"/>
                </a:solidFill>
                <a:latin typeface="Tahoma"/>
                <a:cs typeface="Tahoma"/>
              </a:rPr>
              <a:t> </a:t>
            </a:r>
            <a:r>
              <a:rPr dirty="0" sz="2400">
                <a:solidFill>
                  <a:srgbClr val="40458B"/>
                </a:solidFill>
                <a:latin typeface="Symbol"/>
                <a:cs typeface="Symbol"/>
              </a:rPr>
              <a:t></a:t>
            </a:r>
            <a:r>
              <a:rPr dirty="0" sz="2400" spc="120">
                <a:solidFill>
                  <a:srgbClr val="40458B"/>
                </a:solidFill>
                <a:latin typeface="Times New Roman"/>
                <a:cs typeface="Times New Roman"/>
              </a:rPr>
              <a:t> </a:t>
            </a:r>
            <a:r>
              <a:rPr dirty="0" sz="2400" spc="-35">
                <a:solidFill>
                  <a:srgbClr val="001F5F"/>
                </a:solidFill>
                <a:latin typeface="Tahoma"/>
                <a:cs typeface="Tahoma"/>
              </a:rPr>
              <a:t>r</a:t>
            </a:r>
            <a:r>
              <a:rPr dirty="0" sz="2400" spc="-35">
                <a:solidFill>
                  <a:srgbClr val="40458B"/>
                </a:solidFill>
                <a:latin typeface="黑体"/>
                <a:cs typeface="黑体"/>
              </a:rPr>
              <a:t>；</a:t>
            </a:r>
            <a:endParaRPr sz="2400">
              <a:latin typeface="黑体"/>
              <a:cs typeface="黑体"/>
            </a:endParaRPr>
          </a:p>
        </p:txBody>
      </p:sp>
      <p:sp>
        <p:nvSpPr>
          <p:cNvPr id="8" name="object 8" descr=""/>
          <p:cNvSpPr txBox="1"/>
          <p:nvPr/>
        </p:nvSpPr>
        <p:spPr>
          <a:xfrm>
            <a:off x="3976242" y="3284042"/>
            <a:ext cx="5914390" cy="331470"/>
          </a:xfrm>
          <a:prstGeom prst="rect">
            <a:avLst/>
          </a:prstGeom>
        </p:spPr>
        <p:txBody>
          <a:bodyPr wrap="square" lIns="0" tIns="13335" rIns="0" bIns="0" rtlCol="0" vert="horz">
            <a:spAutoFit/>
          </a:bodyPr>
          <a:lstStyle/>
          <a:p>
            <a:pPr marL="12700">
              <a:lnSpc>
                <a:spcPct val="100000"/>
              </a:lnSpc>
              <a:spcBef>
                <a:spcPts val="105"/>
              </a:spcBef>
            </a:pPr>
            <a:r>
              <a:rPr dirty="0" sz="2000" b="1">
                <a:latin typeface="宋体"/>
                <a:cs typeface="宋体"/>
              </a:rPr>
              <a:t>// 置Qk</a:t>
            </a:r>
            <a:r>
              <a:rPr dirty="0" sz="2000" spc="-15" b="1">
                <a:latin typeface="宋体"/>
                <a:cs typeface="宋体"/>
              </a:rPr>
              <a:t>为</a:t>
            </a:r>
            <a:r>
              <a:rPr dirty="0" sz="2000" spc="-10" b="1">
                <a:latin typeface="宋体"/>
                <a:cs typeface="宋体"/>
              </a:rPr>
              <a:t>0</a:t>
            </a:r>
            <a:r>
              <a:rPr dirty="0" sz="2000" spc="-20" b="1">
                <a:latin typeface="宋体"/>
                <a:cs typeface="宋体"/>
              </a:rPr>
              <a:t>，表示当前保留站的</a:t>
            </a:r>
            <a:r>
              <a:rPr dirty="0" sz="2000" spc="-10" b="1">
                <a:solidFill>
                  <a:srgbClr val="9933FF"/>
                </a:solidFill>
                <a:latin typeface="宋体"/>
                <a:cs typeface="宋体"/>
              </a:rPr>
              <a:t>Vk</a:t>
            </a:r>
            <a:r>
              <a:rPr dirty="0" sz="2000" spc="-25" b="1">
                <a:latin typeface="宋体"/>
                <a:cs typeface="宋体"/>
              </a:rPr>
              <a:t>中的操作数就绪。</a:t>
            </a:r>
            <a:endParaRPr sz="2000">
              <a:latin typeface="宋体"/>
              <a:cs typeface="宋体"/>
            </a:endParaRPr>
          </a:p>
        </p:txBody>
      </p:sp>
      <p:sp>
        <p:nvSpPr>
          <p:cNvPr id="9" name="object 9" descr=""/>
          <p:cNvSpPr txBox="1"/>
          <p:nvPr/>
        </p:nvSpPr>
        <p:spPr>
          <a:xfrm>
            <a:off x="4057015" y="4223384"/>
            <a:ext cx="2843530" cy="330835"/>
          </a:xfrm>
          <a:prstGeom prst="rect">
            <a:avLst/>
          </a:prstGeom>
        </p:spPr>
        <p:txBody>
          <a:bodyPr wrap="square" lIns="0" tIns="12700" rIns="0" bIns="0" rtlCol="0" vert="horz">
            <a:spAutoFit/>
          </a:bodyPr>
          <a:lstStyle/>
          <a:p>
            <a:pPr marL="12700">
              <a:lnSpc>
                <a:spcPct val="100000"/>
              </a:lnSpc>
              <a:spcBef>
                <a:spcPts val="100"/>
              </a:spcBef>
            </a:pPr>
            <a:r>
              <a:rPr dirty="0" sz="2000" spc="-20" b="1">
                <a:latin typeface="宋体"/>
                <a:cs typeface="宋体"/>
              </a:rPr>
              <a:t>//置当前保留站为“忙”</a:t>
            </a:r>
            <a:endParaRPr sz="2000">
              <a:latin typeface="宋体"/>
              <a:cs typeface="宋体"/>
            </a:endParaRPr>
          </a:p>
        </p:txBody>
      </p:sp>
      <p:sp>
        <p:nvSpPr>
          <p:cNvPr id="10" name="object 10" descr=""/>
          <p:cNvSpPr txBox="1"/>
          <p:nvPr/>
        </p:nvSpPr>
        <p:spPr>
          <a:xfrm>
            <a:off x="4057015" y="4735829"/>
            <a:ext cx="1564640" cy="330835"/>
          </a:xfrm>
          <a:prstGeom prst="rect">
            <a:avLst/>
          </a:prstGeom>
        </p:spPr>
        <p:txBody>
          <a:bodyPr wrap="square" lIns="0" tIns="12700" rIns="0" bIns="0" rtlCol="0" vert="horz">
            <a:spAutoFit/>
          </a:bodyPr>
          <a:lstStyle/>
          <a:p>
            <a:pPr marL="12700">
              <a:lnSpc>
                <a:spcPct val="100000"/>
              </a:lnSpc>
              <a:spcBef>
                <a:spcPts val="100"/>
              </a:spcBef>
            </a:pPr>
            <a:r>
              <a:rPr dirty="0" sz="2000" spc="-20" b="1">
                <a:latin typeface="宋体"/>
                <a:cs typeface="宋体"/>
              </a:rPr>
              <a:t>//设置操作码</a:t>
            </a:r>
            <a:endParaRPr sz="2000">
              <a:latin typeface="宋体"/>
              <a:cs typeface="宋体"/>
            </a:endParaRPr>
          </a:p>
        </p:txBody>
      </p:sp>
      <p:sp>
        <p:nvSpPr>
          <p:cNvPr id="11" name="object 11" descr=""/>
          <p:cNvSpPr txBox="1"/>
          <p:nvPr/>
        </p:nvSpPr>
        <p:spPr>
          <a:xfrm>
            <a:off x="4057015" y="5108346"/>
            <a:ext cx="7959090" cy="915669"/>
          </a:xfrm>
          <a:prstGeom prst="rect">
            <a:avLst/>
          </a:prstGeom>
        </p:spPr>
        <p:txBody>
          <a:bodyPr wrap="square" lIns="0" tIns="12065" rIns="0" bIns="0" rtlCol="0" vert="horz">
            <a:spAutoFit/>
          </a:bodyPr>
          <a:lstStyle/>
          <a:p>
            <a:pPr marL="350520" marR="5080" indent="-338455">
              <a:lnSpc>
                <a:spcPct val="146000"/>
              </a:lnSpc>
              <a:spcBef>
                <a:spcPts val="95"/>
              </a:spcBef>
            </a:pPr>
            <a:r>
              <a:rPr dirty="0" sz="2000" spc="-10" b="1">
                <a:latin typeface="宋体"/>
                <a:cs typeface="宋体"/>
              </a:rPr>
              <a:t>// 把当前保留站的编号</a:t>
            </a:r>
            <a:r>
              <a:rPr dirty="0" sz="2000" spc="-10" b="1">
                <a:solidFill>
                  <a:srgbClr val="001F5F"/>
                </a:solidFill>
                <a:latin typeface="宋体"/>
                <a:cs typeface="宋体"/>
              </a:rPr>
              <a:t>r</a:t>
            </a:r>
            <a:r>
              <a:rPr dirty="0" sz="2000" spc="-15" b="1">
                <a:latin typeface="宋体"/>
                <a:cs typeface="宋体"/>
              </a:rPr>
              <a:t>放入</a:t>
            </a:r>
            <a:r>
              <a:rPr dirty="0" sz="2000" spc="-10" b="1">
                <a:solidFill>
                  <a:srgbClr val="D50092"/>
                </a:solidFill>
                <a:latin typeface="宋体"/>
                <a:cs typeface="宋体"/>
              </a:rPr>
              <a:t>rd</a:t>
            </a:r>
            <a:r>
              <a:rPr dirty="0" sz="2000" spc="-20" b="1">
                <a:latin typeface="宋体"/>
                <a:cs typeface="宋体"/>
              </a:rPr>
              <a:t>所对应的寄存器状态表项，以便</a:t>
            </a:r>
            <a:r>
              <a:rPr dirty="0" sz="2000" spc="-10" b="1">
                <a:solidFill>
                  <a:srgbClr val="D50092"/>
                </a:solidFill>
                <a:latin typeface="宋体"/>
                <a:cs typeface="宋体"/>
              </a:rPr>
              <a:t>rd</a:t>
            </a:r>
            <a:r>
              <a:rPr dirty="0" sz="2000" spc="-35" b="1">
                <a:latin typeface="宋体"/>
                <a:cs typeface="宋体"/>
              </a:rPr>
              <a:t>将来</a:t>
            </a:r>
            <a:r>
              <a:rPr dirty="0" sz="2000" spc="-15" b="1">
                <a:latin typeface="宋体"/>
                <a:cs typeface="宋体"/>
              </a:rPr>
              <a:t>接收结果。 </a:t>
            </a:r>
            <a:r>
              <a:rPr dirty="0" sz="2000" spc="-10" b="1">
                <a:latin typeface="宋体"/>
                <a:cs typeface="宋体"/>
              </a:rPr>
              <a:t>（</a:t>
            </a:r>
            <a:r>
              <a:rPr dirty="0" sz="2000" spc="-15" b="1">
                <a:solidFill>
                  <a:srgbClr val="FF0000"/>
                </a:solidFill>
                <a:latin typeface="宋体"/>
                <a:cs typeface="宋体"/>
              </a:rPr>
              <a:t>预约结果寄存器</a:t>
            </a:r>
            <a:r>
              <a:rPr dirty="0" sz="2000" spc="-50" b="1">
                <a:latin typeface="宋体"/>
                <a:cs typeface="宋体"/>
              </a:rPr>
              <a:t>）</a:t>
            </a:r>
            <a:endParaRPr sz="2000">
              <a:latin typeface="宋体"/>
              <a:cs typeface="宋体"/>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724001" y="516695"/>
            <a:ext cx="5817870" cy="1432560"/>
          </a:xfrm>
          <a:prstGeom prst="rect">
            <a:avLst/>
          </a:prstGeom>
        </p:spPr>
        <p:txBody>
          <a:bodyPr wrap="square" lIns="0" tIns="106680" rIns="0" bIns="0" rtlCol="0" vert="horz">
            <a:spAutoFit/>
          </a:bodyPr>
          <a:lstStyle/>
          <a:p>
            <a:pPr marL="469900" indent="-457200">
              <a:lnSpc>
                <a:spcPct val="100000"/>
              </a:lnSpc>
              <a:spcBef>
                <a:spcPts val="840"/>
              </a:spcBef>
              <a:buClr>
                <a:srgbClr val="40458B"/>
              </a:buClr>
              <a:buSzPct val="89285"/>
              <a:buFont typeface="Wingdings"/>
              <a:buChar char=""/>
              <a:tabLst>
                <a:tab pos="469900" algn="l"/>
              </a:tabLst>
            </a:pPr>
            <a:r>
              <a:rPr dirty="0" sz="2800" spc="-25" b="1">
                <a:solidFill>
                  <a:srgbClr val="E14B04"/>
                </a:solidFill>
                <a:latin typeface="Times New Roman"/>
                <a:cs typeface="Times New Roman"/>
              </a:rPr>
              <a:t>Load</a:t>
            </a:r>
            <a:r>
              <a:rPr dirty="0" sz="2800" spc="-20" b="1">
                <a:solidFill>
                  <a:srgbClr val="E14B04"/>
                </a:solidFill>
                <a:latin typeface="黑体"/>
                <a:cs typeface="黑体"/>
              </a:rPr>
              <a:t>指令，如右所示</a:t>
            </a:r>
            <a:endParaRPr sz="2800">
              <a:latin typeface="黑体"/>
              <a:cs typeface="黑体"/>
            </a:endParaRPr>
          </a:p>
          <a:p>
            <a:pPr marL="12700" marR="5080">
              <a:lnSpc>
                <a:spcPct val="120000"/>
              </a:lnSpc>
              <a:spcBef>
                <a:spcPts val="65"/>
              </a:spcBef>
            </a:pPr>
            <a:r>
              <a:rPr dirty="0" sz="2400" spc="-5">
                <a:solidFill>
                  <a:srgbClr val="D50092"/>
                </a:solidFill>
                <a:latin typeface="黑体"/>
                <a:cs typeface="黑体"/>
              </a:rPr>
              <a:t>进入条件：</a:t>
            </a:r>
            <a:r>
              <a:rPr dirty="0" sz="2400">
                <a:solidFill>
                  <a:srgbClr val="40458B"/>
                </a:solidFill>
                <a:latin typeface="黑体"/>
                <a:cs typeface="黑体"/>
              </a:rPr>
              <a:t>缓冲器有空闲单元（设为</a:t>
            </a:r>
            <a:r>
              <a:rPr dirty="0" sz="2400" spc="-25" b="1">
                <a:solidFill>
                  <a:srgbClr val="E14B04"/>
                </a:solidFill>
                <a:latin typeface="宋体"/>
                <a:cs typeface="宋体"/>
              </a:rPr>
              <a:t>r</a:t>
            </a:r>
            <a:r>
              <a:rPr dirty="0" sz="2400" spc="-25">
                <a:solidFill>
                  <a:srgbClr val="40458B"/>
                </a:solidFill>
                <a:latin typeface="黑体"/>
                <a:cs typeface="黑体"/>
              </a:rPr>
              <a:t>）</a:t>
            </a:r>
            <a:r>
              <a:rPr dirty="0" sz="2400" spc="600">
                <a:solidFill>
                  <a:srgbClr val="40458B"/>
                </a:solidFill>
                <a:latin typeface="黑体"/>
                <a:cs typeface="黑体"/>
              </a:rPr>
              <a:t> </a:t>
            </a:r>
            <a:r>
              <a:rPr dirty="0" sz="2400" spc="-5">
                <a:solidFill>
                  <a:srgbClr val="40458B"/>
                </a:solidFill>
                <a:latin typeface="黑体"/>
                <a:cs typeface="黑体"/>
              </a:rPr>
              <a:t>操作和状态表内容修改：</a:t>
            </a:r>
            <a:r>
              <a:rPr dirty="0" sz="2400" spc="-15">
                <a:solidFill>
                  <a:srgbClr val="FF0000"/>
                </a:solidFill>
                <a:latin typeface="黑体"/>
                <a:cs typeface="黑体"/>
              </a:rPr>
              <a:t>只判断一个操作数</a:t>
            </a:r>
            <a:endParaRPr sz="2400">
              <a:latin typeface="黑体"/>
              <a:cs typeface="黑体"/>
            </a:endParaRPr>
          </a:p>
        </p:txBody>
      </p:sp>
      <p:sp>
        <p:nvSpPr>
          <p:cNvPr id="3" name="object 3" descr=""/>
          <p:cNvSpPr txBox="1"/>
          <p:nvPr/>
        </p:nvSpPr>
        <p:spPr>
          <a:xfrm>
            <a:off x="724001" y="1928622"/>
            <a:ext cx="3054350" cy="894080"/>
          </a:xfrm>
          <a:prstGeom prst="rect">
            <a:avLst/>
          </a:prstGeom>
        </p:spPr>
        <p:txBody>
          <a:bodyPr wrap="square" lIns="0" tIns="81280" rIns="0" bIns="0" rtlCol="0" vert="horz">
            <a:spAutoFit/>
          </a:bodyPr>
          <a:lstStyle/>
          <a:p>
            <a:pPr marL="12700">
              <a:lnSpc>
                <a:spcPct val="100000"/>
              </a:lnSpc>
              <a:spcBef>
                <a:spcPts val="640"/>
              </a:spcBef>
            </a:pPr>
            <a:r>
              <a:rPr dirty="0" sz="2400">
                <a:solidFill>
                  <a:srgbClr val="40458B"/>
                </a:solidFill>
                <a:latin typeface="Tahoma"/>
                <a:cs typeface="Tahoma"/>
              </a:rPr>
              <a:t>if</a:t>
            </a:r>
            <a:r>
              <a:rPr dirty="0" sz="2400" spc="-30">
                <a:solidFill>
                  <a:srgbClr val="40458B"/>
                </a:solidFill>
                <a:latin typeface="Tahoma"/>
                <a:cs typeface="Tahoma"/>
              </a:rPr>
              <a:t> </a:t>
            </a:r>
            <a:r>
              <a:rPr dirty="0" sz="2400">
                <a:solidFill>
                  <a:srgbClr val="40458B"/>
                </a:solidFill>
                <a:latin typeface="黑体"/>
                <a:cs typeface="黑体"/>
              </a:rPr>
              <a:t>（</a:t>
            </a:r>
            <a:r>
              <a:rPr dirty="0" sz="2400">
                <a:solidFill>
                  <a:srgbClr val="40458B"/>
                </a:solidFill>
                <a:latin typeface="Tahoma"/>
                <a:cs typeface="Tahoma"/>
              </a:rPr>
              <a:t>Qi[</a:t>
            </a:r>
            <a:r>
              <a:rPr dirty="0" sz="2400">
                <a:solidFill>
                  <a:srgbClr val="D50092"/>
                </a:solidFill>
                <a:latin typeface="Tahoma"/>
                <a:cs typeface="Tahoma"/>
              </a:rPr>
              <a:t>rs</a:t>
            </a:r>
            <a:r>
              <a:rPr dirty="0" sz="2400">
                <a:solidFill>
                  <a:srgbClr val="40458B"/>
                </a:solidFill>
                <a:latin typeface="Tahoma"/>
                <a:cs typeface="Tahoma"/>
              </a:rPr>
              <a:t>]</a:t>
            </a:r>
            <a:r>
              <a:rPr dirty="0" sz="2400" spc="-30">
                <a:solidFill>
                  <a:srgbClr val="40458B"/>
                </a:solidFill>
                <a:latin typeface="Tahoma"/>
                <a:cs typeface="Tahoma"/>
              </a:rPr>
              <a:t> </a:t>
            </a:r>
            <a:r>
              <a:rPr dirty="0" sz="2400">
                <a:solidFill>
                  <a:srgbClr val="40458B"/>
                </a:solidFill>
                <a:latin typeface="Tahoma"/>
                <a:cs typeface="Tahoma"/>
              </a:rPr>
              <a:t>≠</a:t>
            </a:r>
            <a:r>
              <a:rPr dirty="0" sz="2400" spc="-25">
                <a:solidFill>
                  <a:srgbClr val="40458B"/>
                </a:solidFill>
                <a:latin typeface="Tahoma"/>
                <a:cs typeface="Tahoma"/>
              </a:rPr>
              <a:t> 0</a:t>
            </a:r>
            <a:r>
              <a:rPr dirty="0" sz="2400" spc="-25">
                <a:solidFill>
                  <a:srgbClr val="40458B"/>
                </a:solidFill>
                <a:latin typeface="黑体"/>
                <a:cs typeface="黑体"/>
              </a:rPr>
              <a:t>）</a:t>
            </a:r>
            <a:endParaRPr sz="2400">
              <a:latin typeface="黑体"/>
              <a:cs typeface="黑体"/>
            </a:endParaRPr>
          </a:p>
          <a:p>
            <a:pPr marL="297815">
              <a:lnSpc>
                <a:spcPct val="100000"/>
              </a:lnSpc>
              <a:spcBef>
                <a:spcPts val="540"/>
              </a:spcBef>
            </a:pPr>
            <a:r>
              <a:rPr dirty="0" sz="2400">
                <a:solidFill>
                  <a:srgbClr val="40458B"/>
                </a:solidFill>
                <a:latin typeface="Symbol"/>
                <a:cs typeface="Symbol"/>
              </a:rPr>
              <a:t></a:t>
            </a:r>
            <a:r>
              <a:rPr dirty="0" sz="2400">
                <a:solidFill>
                  <a:srgbClr val="40458B"/>
                </a:solidFill>
                <a:latin typeface="Tahoma"/>
                <a:cs typeface="Tahoma"/>
              </a:rPr>
              <a:t>RS[</a:t>
            </a:r>
            <a:r>
              <a:rPr dirty="0" sz="2400">
                <a:solidFill>
                  <a:srgbClr val="E14B04"/>
                </a:solidFill>
                <a:latin typeface="Tahoma"/>
                <a:cs typeface="Tahoma"/>
              </a:rPr>
              <a:t>r</a:t>
            </a:r>
            <a:r>
              <a:rPr dirty="0" sz="2400">
                <a:solidFill>
                  <a:srgbClr val="40458B"/>
                </a:solidFill>
                <a:latin typeface="Tahoma"/>
                <a:cs typeface="Tahoma"/>
              </a:rPr>
              <a:t>].Qj</a:t>
            </a:r>
            <a:r>
              <a:rPr dirty="0" sz="2400" spc="-40">
                <a:solidFill>
                  <a:srgbClr val="40458B"/>
                </a:solidFill>
                <a:latin typeface="Tahoma"/>
                <a:cs typeface="Tahoma"/>
              </a:rPr>
              <a:t> </a:t>
            </a:r>
            <a:r>
              <a:rPr dirty="0" sz="2400">
                <a:solidFill>
                  <a:srgbClr val="40458B"/>
                </a:solidFill>
                <a:latin typeface="Symbol"/>
                <a:cs typeface="Symbol"/>
              </a:rPr>
              <a:t></a:t>
            </a:r>
            <a:r>
              <a:rPr dirty="0" sz="2400" spc="100">
                <a:solidFill>
                  <a:srgbClr val="40458B"/>
                </a:solidFill>
                <a:latin typeface="Times New Roman"/>
                <a:cs typeface="Times New Roman"/>
              </a:rPr>
              <a:t> </a:t>
            </a:r>
            <a:r>
              <a:rPr dirty="0" sz="2400">
                <a:solidFill>
                  <a:srgbClr val="40458B"/>
                </a:solidFill>
                <a:latin typeface="Tahoma"/>
                <a:cs typeface="Tahoma"/>
              </a:rPr>
              <a:t>Qi[</a:t>
            </a:r>
            <a:r>
              <a:rPr dirty="0" sz="2400">
                <a:solidFill>
                  <a:srgbClr val="D50092"/>
                </a:solidFill>
                <a:latin typeface="Tahoma"/>
                <a:cs typeface="Tahoma"/>
              </a:rPr>
              <a:t>rs</a:t>
            </a:r>
            <a:r>
              <a:rPr dirty="0" sz="2400">
                <a:solidFill>
                  <a:srgbClr val="40458B"/>
                </a:solidFill>
                <a:latin typeface="Tahoma"/>
                <a:cs typeface="Tahoma"/>
              </a:rPr>
              <a:t>]</a:t>
            </a:r>
            <a:r>
              <a:rPr dirty="0" sz="2400" spc="-30">
                <a:solidFill>
                  <a:srgbClr val="40458B"/>
                </a:solidFill>
                <a:latin typeface="Tahoma"/>
                <a:cs typeface="Tahoma"/>
              </a:rPr>
              <a:t> </a:t>
            </a:r>
            <a:r>
              <a:rPr dirty="0" sz="2400" spc="-50">
                <a:solidFill>
                  <a:srgbClr val="40458B"/>
                </a:solidFill>
                <a:latin typeface="Symbol"/>
                <a:cs typeface="Symbol"/>
              </a:rPr>
              <a:t></a:t>
            </a:r>
            <a:endParaRPr sz="2400">
              <a:latin typeface="Symbol"/>
              <a:cs typeface="Symbol"/>
            </a:endParaRPr>
          </a:p>
        </p:txBody>
      </p:sp>
      <p:sp>
        <p:nvSpPr>
          <p:cNvPr id="4" name="object 4" descr=""/>
          <p:cNvSpPr txBox="1"/>
          <p:nvPr/>
        </p:nvSpPr>
        <p:spPr>
          <a:xfrm>
            <a:off x="4194809" y="1918563"/>
            <a:ext cx="7280275" cy="1282700"/>
          </a:xfrm>
          <a:prstGeom prst="rect">
            <a:avLst/>
          </a:prstGeom>
        </p:spPr>
        <p:txBody>
          <a:bodyPr wrap="square" lIns="0" tIns="142240" rIns="0" bIns="0" rtlCol="0" vert="horz">
            <a:spAutoFit/>
          </a:bodyPr>
          <a:lstStyle/>
          <a:p>
            <a:pPr marL="12700">
              <a:lnSpc>
                <a:spcPct val="100000"/>
              </a:lnSpc>
              <a:spcBef>
                <a:spcPts val="1120"/>
              </a:spcBef>
            </a:pPr>
            <a:r>
              <a:rPr dirty="0" sz="2000" spc="-15" b="1">
                <a:latin typeface="宋体"/>
                <a:cs typeface="宋体"/>
              </a:rPr>
              <a:t>// 检测第一操作数是否就绪</a:t>
            </a:r>
            <a:endParaRPr sz="2000">
              <a:latin typeface="宋体"/>
              <a:cs typeface="宋体"/>
            </a:endParaRPr>
          </a:p>
          <a:p>
            <a:pPr marL="400685" marR="5080" indent="-294640">
              <a:lnSpc>
                <a:spcPct val="127499"/>
              </a:lnSpc>
              <a:spcBef>
                <a:spcPts val="359"/>
              </a:spcBef>
            </a:pPr>
            <a:r>
              <a:rPr dirty="0" sz="2000" spc="-10" b="1">
                <a:latin typeface="宋体"/>
                <a:cs typeface="宋体"/>
              </a:rPr>
              <a:t>//第一操作数</a:t>
            </a:r>
            <a:r>
              <a:rPr dirty="0" sz="2000" spc="-15" b="1">
                <a:solidFill>
                  <a:srgbClr val="FF0000"/>
                </a:solidFill>
                <a:latin typeface="宋体"/>
                <a:cs typeface="宋体"/>
              </a:rPr>
              <a:t>没有就绪</a:t>
            </a:r>
            <a:r>
              <a:rPr dirty="0" sz="2000" spc="-25" b="1">
                <a:latin typeface="宋体"/>
                <a:cs typeface="宋体"/>
              </a:rPr>
              <a:t>，进行寄存器换名，即把将产生该操作数</a:t>
            </a:r>
            <a:r>
              <a:rPr dirty="0" sz="2000" spc="-20" b="1">
                <a:latin typeface="宋体"/>
                <a:cs typeface="宋体"/>
              </a:rPr>
              <a:t>的保留站的编号存入当前缓冲器单元的</a:t>
            </a:r>
            <a:r>
              <a:rPr dirty="0" sz="2000" spc="-10" b="1">
                <a:latin typeface="宋体"/>
                <a:cs typeface="宋体"/>
              </a:rPr>
              <a:t>Qj</a:t>
            </a:r>
            <a:r>
              <a:rPr dirty="0" sz="2000" spc="-50" b="1">
                <a:latin typeface="宋体"/>
                <a:cs typeface="宋体"/>
              </a:rPr>
              <a:t>。</a:t>
            </a:r>
            <a:endParaRPr sz="2000">
              <a:latin typeface="宋体"/>
              <a:cs typeface="宋体"/>
            </a:endParaRPr>
          </a:p>
        </p:txBody>
      </p:sp>
      <p:sp>
        <p:nvSpPr>
          <p:cNvPr id="5" name="object 5" descr=""/>
          <p:cNvSpPr txBox="1"/>
          <p:nvPr/>
        </p:nvSpPr>
        <p:spPr>
          <a:xfrm>
            <a:off x="724001" y="3172460"/>
            <a:ext cx="3019425" cy="1336040"/>
          </a:xfrm>
          <a:prstGeom prst="rect">
            <a:avLst/>
          </a:prstGeom>
        </p:spPr>
        <p:txBody>
          <a:bodyPr wrap="square" lIns="0" tIns="81280" rIns="0" bIns="0" rtlCol="0" vert="horz">
            <a:spAutoFit/>
          </a:bodyPr>
          <a:lstStyle/>
          <a:p>
            <a:pPr marL="12700">
              <a:lnSpc>
                <a:spcPct val="100000"/>
              </a:lnSpc>
              <a:spcBef>
                <a:spcPts val="640"/>
              </a:spcBef>
            </a:pPr>
            <a:r>
              <a:rPr dirty="0" sz="2400" spc="-20">
                <a:solidFill>
                  <a:srgbClr val="40458B"/>
                </a:solidFill>
                <a:latin typeface="Tahoma"/>
                <a:cs typeface="Tahoma"/>
              </a:rPr>
              <a:t>else</a:t>
            </a:r>
            <a:endParaRPr sz="2400">
              <a:latin typeface="Tahoma"/>
              <a:cs typeface="Tahoma"/>
            </a:endParaRPr>
          </a:p>
          <a:p>
            <a:pPr marL="12700">
              <a:lnSpc>
                <a:spcPct val="100000"/>
              </a:lnSpc>
              <a:spcBef>
                <a:spcPts val="540"/>
              </a:spcBef>
            </a:pPr>
            <a:r>
              <a:rPr dirty="0" sz="2400" spc="-50">
                <a:solidFill>
                  <a:srgbClr val="40458B"/>
                </a:solidFill>
                <a:latin typeface="Symbol"/>
                <a:cs typeface="Symbol"/>
              </a:rPr>
              <a:t></a:t>
            </a:r>
            <a:endParaRPr sz="2400">
              <a:latin typeface="Symbol"/>
              <a:cs typeface="Symbol"/>
            </a:endParaRPr>
          </a:p>
          <a:p>
            <a:pPr marL="12700">
              <a:lnSpc>
                <a:spcPct val="100000"/>
              </a:lnSpc>
              <a:spcBef>
                <a:spcPts val="600"/>
              </a:spcBef>
            </a:pPr>
            <a:r>
              <a:rPr dirty="0" sz="2400">
                <a:solidFill>
                  <a:srgbClr val="40458B"/>
                </a:solidFill>
                <a:latin typeface="Tahoma"/>
                <a:cs typeface="Tahoma"/>
              </a:rPr>
              <a:t>RS[</a:t>
            </a:r>
            <a:r>
              <a:rPr dirty="0" sz="2400">
                <a:solidFill>
                  <a:srgbClr val="E14B04"/>
                </a:solidFill>
                <a:latin typeface="Tahoma"/>
                <a:cs typeface="Tahoma"/>
              </a:rPr>
              <a:t>r</a:t>
            </a:r>
            <a:r>
              <a:rPr dirty="0" sz="2400">
                <a:solidFill>
                  <a:srgbClr val="40458B"/>
                </a:solidFill>
                <a:latin typeface="Tahoma"/>
                <a:cs typeface="Tahoma"/>
              </a:rPr>
              <a:t>].</a:t>
            </a:r>
            <a:r>
              <a:rPr dirty="0" sz="2400">
                <a:solidFill>
                  <a:srgbClr val="9933FF"/>
                </a:solidFill>
                <a:latin typeface="Tahoma"/>
                <a:cs typeface="Tahoma"/>
              </a:rPr>
              <a:t>Vj</a:t>
            </a:r>
            <a:r>
              <a:rPr dirty="0" sz="2400" spc="-30">
                <a:solidFill>
                  <a:srgbClr val="9933FF"/>
                </a:solidFill>
                <a:latin typeface="Tahoma"/>
                <a:cs typeface="Tahoma"/>
              </a:rPr>
              <a:t> </a:t>
            </a:r>
            <a:r>
              <a:rPr dirty="0" sz="2400">
                <a:solidFill>
                  <a:srgbClr val="40458B"/>
                </a:solidFill>
                <a:latin typeface="Symbol"/>
                <a:cs typeface="Symbol"/>
              </a:rPr>
              <a:t></a:t>
            </a:r>
            <a:r>
              <a:rPr dirty="0" sz="2400" spc="120">
                <a:solidFill>
                  <a:srgbClr val="40458B"/>
                </a:solidFill>
                <a:latin typeface="Times New Roman"/>
                <a:cs typeface="Times New Roman"/>
              </a:rPr>
              <a:t> </a:t>
            </a:r>
            <a:r>
              <a:rPr dirty="0" sz="2400" spc="-10">
                <a:solidFill>
                  <a:srgbClr val="40458B"/>
                </a:solidFill>
                <a:latin typeface="Tahoma"/>
                <a:cs typeface="Tahoma"/>
              </a:rPr>
              <a:t>Regs[</a:t>
            </a:r>
            <a:r>
              <a:rPr dirty="0" sz="2400" spc="-10">
                <a:solidFill>
                  <a:srgbClr val="D50092"/>
                </a:solidFill>
                <a:latin typeface="Tahoma"/>
                <a:cs typeface="Tahoma"/>
              </a:rPr>
              <a:t>rs</a:t>
            </a:r>
            <a:r>
              <a:rPr dirty="0" sz="2400" spc="-10">
                <a:solidFill>
                  <a:srgbClr val="40458B"/>
                </a:solidFill>
                <a:latin typeface="Tahoma"/>
                <a:cs typeface="Tahoma"/>
              </a:rPr>
              <a:t>]</a:t>
            </a:r>
            <a:r>
              <a:rPr dirty="0" sz="2400" spc="-10">
                <a:solidFill>
                  <a:srgbClr val="40458B"/>
                </a:solidFill>
                <a:latin typeface="黑体"/>
                <a:cs typeface="黑体"/>
              </a:rPr>
              <a:t>；</a:t>
            </a:r>
            <a:endParaRPr sz="2400">
              <a:latin typeface="黑体"/>
              <a:cs typeface="黑体"/>
            </a:endParaRPr>
          </a:p>
        </p:txBody>
      </p:sp>
      <p:sp>
        <p:nvSpPr>
          <p:cNvPr id="6" name="object 6" descr=""/>
          <p:cNvSpPr txBox="1"/>
          <p:nvPr/>
        </p:nvSpPr>
        <p:spPr>
          <a:xfrm>
            <a:off x="4194809" y="4167632"/>
            <a:ext cx="7830820" cy="330835"/>
          </a:xfrm>
          <a:prstGeom prst="rect">
            <a:avLst/>
          </a:prstGeom>
        </p:spPr>
        <p:txBody>
          <a:bodyPr wrap="square" lIns="0" tIns="12700" rIns="0" bIns="0" rtlCol="0" vert="horz">
            <a:spAutoFit/>
          </a:bodyPr>
          <a:lstStyle/>
          <a:p>
            <a:pPr marL="12700">
              <a:lnSpc>
                <a:spcPct val="100000"/>
              </a:lnSpc>
              <a:spcBef>
                <a:spcPts val="100"/>
              </a:spcBef>
            </a:pPr>
            <a:r>
              <a:rPr dirty="0" sz="2000" spc="-10" b="1">
                <a:latin typeface="宋体"/>
                <a:cs typeface="宋体"/>
              </a:rPr>
              <a:t>// 第一操作数</a:t>
            </a:r>
            <a:r>
              <a:rPr dirty="0" sz="2000" spc="-10" b="1">
                <a:solidFill>
                  <a:srgbClr val="FF0000"/>
                </a:solidFill>
                <a:latin typeface="宋体"/>
                <a:cs typeface="宋体"/>
              </a:rPr>
              <a:t>就绪</a:t>
            </a:r>
            <a:r>
              <a:rPr dirty="0" sz="2000" spc="-10" b="1">
                <a:latin typeface="宋体"/>
                <a:cs typeface="宋体"/>
              </a:rPr>
              <a:t>，把寄存器</a:t>
            </a:r>
            <a:r>
              <a:rPr dirty="0" sz="2000" spc="-15" b="1">
                <a:solidFill>
                  <a:srgbClr val="D50092"/>
                </a:solidFill>
                <a:latin typeface="宋体"/>
                <a:cs typeface="宋体"/>
              </a:rPr>
              <a:t>rs</a:t>
            </a:r>
            <a:r>
              <a:rPr dirty="0" sz="2000" spc="-20" b="1">
                <a:latin typeface="宋体"/>
                <a:cs typeface="宋体"/>
              </a:rPr>
              <a:t>中的操作数取到当前缓冲器单元的</a:t>
            </a:r>
            <a:r>
              <a:rPr dirty="0" sz="2000" spc="-25" b="1">
                <a:solidFill>
                  <a:srgbClr val="9933FF"/>
                </a:solidFill>
                <a:latin typeface="宋体"/>
                <a:cs typeface="宋体"/>
              </a:rPr>
              <a:t>Vj</a:t>
            </a:r>
            <a:endParaRPr sz="2000">
              <a:latin typeface="宋体"/>
              <a:cs typeface="宋体"/>
            </a:endParaRPr>
          </a:p>
        </p:txBody>
      </p:sp>
      <p:sp>
        <p:nvSpPr>
          <p:cNvPr id="7" name="object 7" descr=""/>
          <p:cNvSpPr txBox="1"/>
          <p:nvPr/>
        </p:nvSpPr>
        <p:spPr>
          <a:xfrm>
            <a:off x="724001" y="4855159"/>
            <a:ext cx="2693035" cy="1874520"/>
          </a:xfrm>
          <a:prstGeom prst="rect">
            <a:avLst/>
          </a:prstGeom>
        </p:spPr>
        <p:txBody>
          <a:bodyPr wrap="square" lIns="0" tIns="81280" rIns="0" bIns="0" rtlCol="0" vert="horz">
            <a:spAutoFit/>
          </a:bodyPr>
          <a:lstStyle/>
          <a:p>
            <a:pPr marL="140335">
              <a:lnSpc>
                <a:spcPct val="100000"/>
              </a:lnSpc>
              <a:spcBef>
                <a:spcPts val="640"/>
              </a:spcBef>
            </a:pPr>
            <a:r>
              <a:rPr dirty="0" sz="2400">
                <a:solidFill>
                  <a:srgbClr val="40458B"/>
                </a:solidFill>
                <a:latin typeface="Tahoma"/>
                <a:cs typeface="Tahoma"/>
              </a:rPr>
              <a:t>RS</a:t>
            </a:r>
            <a:r>
              <a:rPr dirty="0" sz="2000">
                <a:solidFill>
                  <a:srgbClr val="40458B"/>
                </a:solidFill>
                <a:latin typeface="Tahoma"/>
                <a:cs typeface="Tahoma"/>
              </a:rPr>
              <a:t>[</a:t>
            </a:r>
            <a:r>
              <a:rPr dirty="0" sz="2000">
                <a:solidFill>
                  <a:srgbClr val="E14B04"/>
                </a:solidFill>
                <a:latin typeface="Tahoma"/>
                <a:cs typeface="Tahoma"/>
              </a:rPr>
              <a:t>r</a:t>
            </a:r>
            <a:r>
              <a:rPr dirty="0" sz="2000">
                <a:solidFill>
                  <a:srgbClr val="40458B"/>
                </a:solidFill>
                <a:latin typeface="Tahoma"/>
                <a:cs typeface="Tahoma"/>
              </a:rPr>
              <a:t>].</a:t>
            </a:r>
            <a:r>
              <a:rPr dirty="0" sz="2400">
                <a:solidFill>
                  <a:srgbClr val="40458B"/>
                </a:solidFill>
                <a:latin typeface="Tahoma"/>
                <a:cs typeface="Tahoma"/>
              </a:rPr>
              <a:t>Qj</a:t>
            </a:r>
            <a:r>
              <a:rPr dirty="0" sz="2400" spc="-30">
                <a:solidFill>
                  <a:srgbClr val="40458B"/>
                </a:solidFill>
                <a:latin typeface="Tahoma"/>
                <a:cs typeface="Tahoma"/>
              </a:rPr>
              <a:t> </a:t>
            </a:r>
            <a:r>
              <a:rPr dirty="0" sz="2000">
                <a:solidFill>
                  <a:srgbClr val="40458B"/>
                </a:solidFill>
                <a:latin typeface="Symbol"/>
                <a:cs typeface="Symbol"/>
              </a:rPr>
              <a:t></a:t>
            </a:r>
            <a:r>
              <a:rPr dirty="0" sz="2000" spc="90">
                <a:solidFill>
                  <a:srgbClr val="40458B"/>
                </a:solidFill>
                <a:latin typeface="Times New Roman"/>
                <a:cs typeface="Times New Roman"/>
              </a:rPr>
              <a:t> </a:t>
            </a:r>
            <a:r>
              <a:rPr dirty="0" sz="2400" spc="-25">
                <a:solidFill>
                  <a:srgbClr val="40458B"/>
                </a:solidFill>
                <a:latin typeface="Tahoma"/>
                <a:cs typeface="Tahoma"/>
              </a:rPr>
              <a:t>0</a:t>
            </a:r>
            <a:r>
              <a:rPr dirty="0" sz="2000" spc="-25">
                <a:solidFill>
                  <a:srgbClr val="40458B"/>
                </a:solidFill>
                <a:latin typeface="黑体"/>
                <a:cs typeface="黑体"/>
              </a:rPr>
              <a:t>；</a:t>
            </a:r>
            <a:endParaRPr sz="2000">
              <a:latin typeface="黑体"/>
              <a:cs typeface="黑体"/>
            </a:endParaRPr>
          </a:p>
          <a:p>
            <a:pPr marL="12700">
              <a:lnSpc>
                <a:spcPct val="100000"/>
              </a:lnSpc>
              <a:spcBef>
                <a:spcPts val="540"/>
              </a:spcBef>
            </a:pPr>
            <a:r>
              <a:rPr dirty="0" sz="2400" spc="-50">
                <a:solidFill>
                  <a:srgbClr val="40458B"/>
                </a:solidFill>
                <a:latin typeface="Symbol"/>
                <a:cs typeface="Symbol"/>
              </a:rPr>
              <a:t></a:t>
            </a:r>
            <a:endParaRPr sz="2400">
              <a:latin typeface="Symbol"/>
              <a:cs typeface="Symbol"/>
            </a:endParaRPr>
          </a:p>
          <a:p>
            <a:pPr marL="192405">
              <a:lnSpc>
                <a:spcPct val="100000"/>
              </a:lnSpc>
              <a:spcBef>
                <a:spcPts val="805"/>
              </a:spcBef>
            </a:pPr>
            <a:r>
              <a:rPr dirty="0" sz="2400">
                <a:solidFill>
                  <a:srgbClr val="40458B"/>
                </a:solidFill>
                <a:latin typeface="Tahoma"/>
                <a:cs typeface="Tahoma"/>
              </a:rPr>
              <a:t>RS</a:t>
            </a:r>
            <a:r>
              <a:rPr dirty="0" sz="2000">
                <a:solidFill>
                  <a:srgbClr val="40458B"/>
                </a:solidFill>
                <a:latin typeface="Tahoma"/>
                <a:cs typeface="Tahoma"/>
              </a:rPr>
              <a:t>[</a:t>
            </a:r>
            <a:r>
              <a:rPr dirty="0" sz="2000">
                <a:solidFill>
                  <a:srgbClr val="001F5F"/>
                </a:solidFill>
                <a:latin typeface="Tahoma"/>
                <a:cs typeface="Tahoma"/>
              </a:rPr>
              <a:t>r</a:t>
            </a:r>
            <a:r>
              <a:rPr dirty="0" sz="2000">
                <a:solidFill>
                  <a:srgbClr val="40458B"/>
                </a:solidFill>
                <a:latin typeface="Tahoma"/>
                <a:cs typeface="Tahoma"/>
              </a:rPr>
              <a:t>].</a:t>
            </a:r>
            <a:r>
              <a:rPr dirty="0" sz="2400">
                <a:solidFill>
                  <a:srgbClr val="40458B"/>
                </a:solidFill>
                <a:latin typeface="Tahoma"/>
                <a:cs typeface="Tahoma"/>
              </a:rPr>
              <a:t>Busy</a:t>
            </a:r>
            <a:r>
              <a:rPr dirty="0" sz="2400" spc="-70">
                <a:solidFill>
                  <a:srgbClr val="40458B"/>
                </a:solidFill>
                <a:latin typeface="Tahoma"/>
                <a:cs typeface="Tahoma"/>
              </a:rPr>
              <a:t> </a:t>
            </a:r>
            <a:r>
              <a:rPr dirty="0" sz="2000">
                <a:solidFill>
                  <a:srgbClr val="40458B"/>
                </a:solidFill>
                <a:latin typeface="Symbol"/>
                <a:cs typeface="Symbol"/>
              </a:rPr>
              <a:t></a:t>
            </a:r>
            <a:r>
              <a:rPr dirty="0" sz="2000" spc="75">
                <a:solidFill>
                  <a:srgbClr val="40458B"/>
                </a:solidFill>
                <a:latin typeface="Times New Roman"/>
                <a:cs typeface="Times New Roman"/>
              </a:rPr>
              <a:t> </a:t>
            </a:r>
            <a:r>
              <a:rPr dirty="0" sz="2400" spc="-20">
                <a:solidFill>
                  <a:srgbClr val="40458B"/>
                </a:solidFill>
                <a:latin typeface="Tahoma"/>
                <a:cs typeface="Tahoma"/>
              </a:rPr>
              <a:t>yes</a:t>
            </a:r>
            <a:r>
              <a:rPr dirty="0" sz="2000" spc="-20">
                <a:solidFill>
                  <a:srgbClr val="40458B"/>
                </a:solidFill>
                <a:latin typeface="黑体"/>
                <a:cs typeface="黑体"/>
              </a:rPr>
              <a:t>；</a:t>
            </a:r>
            <a:endParaRPr sz="2000">
              <a:latin typeface="黑体"/>
              <a:cs typeface="黑体"/>
            </a:endParaRPr>
          </a:p>
          <a:p>
            <a:pPr marL="97790">
              <a:lnSpc>
                <a:spcPct val="100000"/>
              </a:lnSpc>
              <a:spcBef>
                <a:spcPts val="1155"/>
              </a:spcBef>
            </a:pPr>
            <a:r>
              <a:rPr dirty="0" sz="2400">
                <a:solidFill>
                  <a:srgbClr val="40458B"/>
                </a:solidFill>
                <a:latin typeface="Tahoma"/>
                <a:cs typeface="Tahoma"/>
              </a:rPr>
              <a:t>RS</a:t>
            </a:r>
            <a:r>
              <a:rPr dirty="0" sz="2000">
                <a:solidFill>
                  <a:srgbClr val="40458B"/>
                </a:solidFill>
                <a:latin typeface="Tahoma"/>
                <a:cs typeface="Tahoma"/>
              </a:rPr>
              <a:t>[</a:t>
            </a:r>
            <a:r>
              <a:rPr dirty="0" sz="2000">
                <a:solidFill>
                  <a:srgbClr val="001F5F"/>
                </a:solidFill>
                <a:latin typeface="Tahoma"/>
                <a:cs typeface="Tahoma"/>
              </a:rPr>
              <a:t>r</a:t>
            </a:r>
            <a:r>
              <a:rPr dirty="0" sz="2000">
                <a:solidFill>
                  <a:srgbClr val="40458B"/>
                </a:solidFill>
                <a:latin typeface="Tahoma"/>
                <a:cs typeface="Tahoma"/>
              </a:rPr>
              <a:t>].</a:t>
            </a:r>
            <a:r>
              <a:rPr dirty="0" sz="2400">
                <a:solidFill>
                  <a:srgbClr val="40458B"/>
                </a:solidFill>
                <a:latin typeface="Tahoma"/>
                <a:cs typeface="Tahoma"/>
              </a:rPr>
              <a:t>A</a:t>
            </a:r>
            <a:r>
              <a:rPr dirty="0" sz="2400" spc="-30">
                <a:solidFill>
                  <a:srgbClr val="40458B"/>
                </a:solidFill>
                <a:latin typeface="Tahoma"/>
                <a:cs typeface="Tahoma"/>
              </a:rPr>
              <a:t> </a:t>
            </a:r>
            <a:r>
              <a:rPr dirty="0" sz="2000">
                <a:solidFill>
                  <a:srgbClr val="40458B"/>
                </a:solidFill>
                <a:latin typeface="Symbol"/>
                <a:cs typeface="Symbol"/>
              </a:rPr>
              <a:t></a:t>
            </a:r>
            <a:r>
              <a:rPr dirty="0" sz="2000" spc="114">
                <a:solidFill>
                  <a:srgbClr val="40458B"/>
                </a:solidFill>
                <a:latin typeface="Times New Roman"/>
                <a:cs typeface="Times New Roman"/>
              </a:rPr>
              <a:t> </a:t>
            </a:r>
            <a:r>
              <a:rPr dirty="0" sz="2000" spc="-20">
                <a:solidFill>
                  <a:srgbClr val="D50092"/>
                </a:solidFill>
                <a:latin typeface="Tahoma"/>
                <a:cs typeface="Tahoma"/>
              </a:rPr>
              <a:t>Imm</a:t>
            </a:r>
            <a:r>
              <a:rPr dirty="0" sz="2000" spc="-20">
                <a:solidFill>
                  <a:srgbClr val="40458B"/>
                </a:solidFill>
                <a:latin typeface="黑体"/>
                <a:cs typeface="黑体"/>
              </a:rPr>
              <a:t>；</a:t>
            </a:r>
            <a:endParaRPr sz="2000">
              <a:latin typeface="黑体"/>
              <a:cs typeface="黑体"/>
            </a:endParaRPr>
          </a:p>
        </p:txBody>
      </p:sp>
      <p:sp>
        <p:nvSpPr>
          <p:cNvPr id="8" name="object 8" descr=""/>
          <p:cNvSpPr txBox="1"/>
          <p:nvPr/>
        </p:nvSpPr>
        <p:spPr>
          <a:xfrm>
            <a:off x="4345685" y="4923790"/>
            <a:ext cx="6550659" cy="391160"/>
          </a:xfrm>
          <a:prstGeom prst="rect">
            <a:avLst/>
          </a:prstGeom>
        </p:spPr>
        <p:txBody>
          <a:bodyPr wrap="square" lIns="0" tIns="12700" rIns="0" bIns="0" rtlCol="0" vert="horz">
            <a:spAutoFit/>
          </a:bodyPr>
          <a:lstStyle/>
          <a:p>
            <a:pPr marL="12700">
              <a:lnSpc>
                <a:spcPct val="100000"/>
              </a:lnSpc>
              <a:spcBef>
                <a:spcPts val="100"/>
              </a:spcBef>
            </a:pPr>
            <a:r>
              <a:rPr dirty="0" sz="2400" spc="-10" b="1">
                <a:latin typeface="宋体"/>
                <a:cs typeface="宋体"/>
              </a:rPr>
              <a:t>// </a:t>
            </a:r>
            <a:r>
              <a:rPr dirty="0" sz="2000" spc="-10" b="1">
                <a:solidFill>
                  <a:srgbClr val="40458B"/>
                </a:solidFill>
                <a:latin typeface="宋体"/>
                <a:cs typeface="宋体"/>
              </a:rPr>
              <a:t>置Qj为0</a:t>
            </a:r>
            <a:r>
              <a:rPr dirty="0" sz="2000" spc="-25" b="1">
                <a:solidFill>
                  <a:srgbClr val="40458B"/>
                </a:solidFill>
                <a:latin typeface="宋体"/>
                <a:cs typeface="宋体"/>
              </a:rPr>
              <a:t>，表示当前缓冲器单元的</a:t>
            </a:r>
            <a:r>
              <a:rPr dirty="0" sz="2000" spc="-10" b="1">
                <a:solidFill>
                  <a:srgbClr val="40458B"/>
                </a:solidFill>
                <a:latin typeface="宋体"/>
                <a:cs typeface="宋体"/>
              </a:rPr>
              <a:t>Vj</a:t>
            </a:r>
            <a:r>
              <a:rPr dirty="0" sz="2000" spc="-20" b="1">
                <a:solidFill>
                  <a:srgbClr val="40458B"/>
                </a:solidFill>
                <a:latin typeface="宋体"/>
                <a:cs typeface="宋体"/>
              </a:rPr>
              <a:t>中的操作数就绪</a:t>
            </a:r>
            <a:r>
              <a:rPr dirty="0" sz="2400" spc="-50" b="1">
                <a:latin typeface="宋体"/>
                <a:cs typeface="宋体"/>
              </a:rPr>
              <a:t>。</a:t>
            </a:r>
            <a:endParaRPr sz="2400">
              <a:latin typeface="宋体"/>
              <a:cs typeface="宋体"/>
            </a:endParaRPr>
          </a:p>
        </p:txBody>
      </p:sp>
      <p:sp>
        <p:nvSpPr>
          <p:cNvPr id="9" name="object 9" descr=""/>
          <p:cNvSpPr txBox="1"/>
          <p:nvPr/>
        </p:nvSpPr>
        <p:spPr>
          <a:xfrm>
            <a:off x="4194809" y="5876035"/>
            <a:ext cx="3483610" cy="331470"/>
          </a:xfrm>
          <a:prstGeom prst="rect">
            <a:avLst/>
          </a:prstGeom>
        </p:spPr>
        <p:txBody>
          <a:bodyPr wrap="square" lIns="0" tIns="13335" rIns="0" bIns="0" rtlCol="0" vert="horz">
            <a:spAutoFit/>
          </a:bodyPr>
          <a:lstStyle/>
          <a:p>
            <a:pPr marL="12700">
              <a:lnSpc>
                <a:spcPct val="100000"/>
              </a:lnSpc>
              <a:spcBef>
                <a:spcPts val="105"/>
              </a:spcBef>
            </a:pPr>
            <a:r>
              <a:rPr dirty="0" sz="2000" spc="-20" b="1">
                <a:latin typeface="宋体"/>
                <a:cs typeface="宋体"/>
              </a:rPr>
              <a:t>// 置当前缓冲器单元为“忙”</a:t>
            </a:r>
            <a:endParaRPr sz="2000">
              <a:latin typeface="宋体"/>
              <a:cs typeface="宋体"/>
            </a:endParaRPr>
          </a:p>
        </p:txBody>
      </p:sp>
      <p:sp>
        <p:nvSpPr>
          <p:cNvPr id="10" name="object 10" descr=""/>
          <p:cNvSpPr txBox="1"/>
          <p:nvPr/>
        </p:nvSpPr>
        <p:spPr>
          <a:xfrm>
            <a:off x="4194809" y="6388709"/>
            <a:ext cx="5911215" cy="330835"/>
          </a:xfrm>
          <a:prstGeom prst="rect">
            <a:avLst/>
          </a:prstGeom>
        </p:spPr>
        <p:txBody>
          <a:bodyPr wrap="square" lIns="0" tIns="12700" rIns="0" bIns="0" rtlCol="0" vert="horz">
            <a:spAutoFit/>
          </a:bodyPr>
          <a:lstStyle/>
          <a:p>
            <a:pPr marL="12700">
              <a:lnSpc>
                <a:spcPct val="100000"/>
              </a:lnSpc>
              <a:spcBef>
                <a:spcPts val="100"/>
              </a:spcBef>
            </a:pPr>
            <a:r>
              <a:rPr dirty="0" sz="2000" spc="-20" b="1">
                <a:latin typeface="宋体"/>
                <a:cs typeface="宋体"/>
              </a:rPr>
              <a:t>// 把符号位扩展后的偏移量放入当前缓冲器单元的</a:t>
            </a:r>
            <a:r>
              <a:rPr dirty="0" sz="2000" spc="-50" b="1">
                <a:latin typeface="宋体"/>
                <a:cs typeface="宋体"/>
              </a:rPr>
              <a:t>A</a:t>
            </a:r>
            <a:endParaRPr sz="2000">
              <a:latin typeface="宋体"/>
              <a:cs typeface="宋体"/>
            </a:endParaRPr>
          </a:p>
        </p:txBody>
      </p:sp>
      <p:sp>
        <p:nvSpPr>
          <p:cNvPr id="11" name="object 11" descr=""/>
          <p:cNvSpPr txBox="1"/>
          <p:nvPr/>
        </p:nvSpPr>
        <p:spPr>
          <a:xfrm>
            <a:off x="10719561" y="6388709"/>
            <a:ext cx="1307465" cy="330835"/>
          </a:xfrm>
          <a:prstGeom prst="rect">
            <a:avLst/>
          </a:prstGeom>
        </p:spPr>
        <p:txBody>
          <a:bodyPr wrap="square" lIns="0" tIns="12700" rIns="0" bIns="0" rtlCol="0" vert="horz">
            <a:spAutoFit/>
          </a:bodyPr>
          <a:lstStyle/>
          <a:p>
            <a:pPr marL="12700">
              <a:lnSpc>
                <a:spcPct val="100000"/>
              </a:lnSpc>
              <a:spcBef>
                <a:spcPts val="100"/>
              </a:spcBef>
            </a:pPr>
            <a:r>
              <a:rPr dirty="0" sz="2000" spc="-20" b="1">
                <a:solidFill>
                  <a:srgbClr val="FF0000"/>
                </a:solidFill>
                <a:latin typeface="宋体"/>
                <a:cs typeface="宋体"/>
              </a:rPr>
              <a:t>见下页后续</a:t>
            </a:r>
            <a:endParaRPr sz="2000">
              <a:latin typeface="宋体"/>
              <a:cs typeface="宋体"/>
            </a:endParaRPr>
          </a:p>
        </p:txBody>
      </p:sp>
      <p:sp>
        <p:nvSpPr>
          <p:cNvPr id="12" name="object 12" descr=""/>
          <p:cNvSpPr txBox="1"/>
          <p:nvPr/>
        </p:nvSpPr>
        <p:spPr>
          <a:xfrm>
            <a:off x="8733281" y="65278"/>
            <a:ext cx="2659380" cy="391160"/>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40458B"/>
                </a:solidFill>
                <a:latin typeface="微软雅黑"/>
                <a:cs typeface="微软雅黑"/>
              </a:rPr>
              <a:t>L.D</a:t>
            </a:r>
            <a:r>
              <a:rPr dirty="0" sz="2400" spc="-55" b="1">
                <a:solidFill>
                  <a:srgbClr val="40458B"/>
                </a:solidFill>
                <a:latin typeface="微软雅黑"/>
                <a:cs typeface="微软雅黑"/>
              </a:rPr>
              <a:t> </a:t>
            </a:r>
            <a:r>
              <a:rPr dirty="0" sz="2400" spc="-10" b="1">
                <a:solidFill>
                  <a:srgbClr val="40458B"/>
                </a:solidFill>
                <a:latin typeface="微软雅黑"/>
                <a:cs typeface="微软雅黑"/>
              </a:rPr>
              <a:t>F2，45（R3）</a:t>
            </a:r>
            <a:endParaRPr sz="2400">
              <a:latin typeface="微软雅黑"/>
              <a:cs typeface="微软雅黑"/>
            </a:endParaRPr>
          </a:p>
        </p:txBody>
      </p:sp>
      <p:sp>
        <p:nvSpPr>
          <p:cNvPr id="13" name="object 13" descr=""/>
          <p:cNvSpPr txBox="1"/>
          <p:nvPr/>
        </p:nvSpPr>
        <p:spPr>
          <a:xfrm>
            <a:off x="9443084" y="912952"/>
            <a:ext cx="1681480" cy="452120"/>
          </a:xfrm>
          <a:prstGeom prst="rect">
            <a:avLst/>
          </a:prstGeom>
        </p:spPr>
        <p:txBody>
          <a:bodyPr wrap="square" lIns="0" tIns="12065" rIns="0" bIns="0" rtlCol="0" vert="horz">
            <a:spAutoFit/>
          </a:bodyPr>
          <a:lstStyle/>
          <a:p>
            <a:pPr marL="12700">
              <a:lnSpc>
                <a:spcPct val="100000"/>
              </a:lnSpc>
              <a:spcBef>
                <a:spcPts val="95"/>
              </a:spcBef>
              <a:tabLst>
                <a:tab pos="545465" algn="l"/>
              </a:tabLst>
            </a:pPr>
            <a:r>
              <a:rPr dirty="0" sz="2800" spc="-25" b="1">
                <a:solidFill>
                  <a:srgbClr val="D50092"/>
                </a:solidFill>
                <a:latin typeface="微软雅黑"/>
                <a:cs typeface="微软雅黑"/>
              </a:rPr>
              <a:t>rt</a:t>
            </a:r>
            <a:r>
              <a:rPr dirty="0" sz="2800" b="1">
                <a:solidFill>
                  <a:srgbClr val="D50092"/>
                </a:solidFill>
                <a:latin typeface="微软雅黑"/>
                <a:cs typeface="微软雅黑"/>
              </a:rPr>
              <a:t>	</a:t>
            </a:r>
            <a:r>
              <a:rPr dirty="0" baseline="-2314" sz="3600" b="1">
                <a:solidFill>
                  <a:srgbClr val="D50092"/>
                </a:solidFill>
                <a:latin typeface="微软雅黑"/>
                <a:cs typeface="微软雅黑"/>
              </a:rPr>
              <a:t>imm</a:t>
            </a:r>
            <a:r>
              <a:rPr dirty="0" baseline="-2314" sz="3600" spc="60" b="1">
                <a:solidFill>
                  <a:srgbClr val="D50092"/>
                </a:solidFill>
                <a:latin typeface="微软雅黑"/>
                <a:cs typeface="微软雅黑"/>
              </a:rPr>
              <a:t> </a:t>
            </a:r>
            <a:r>
              <a:rPr dirty="0" sz="2800" spc="-25" b="1">
                <a:solidFill>
                  <a:srgbClr val="D50092"/>
                </a:solidFill>
                <a:latin typeface="微软雅黑"/>
                <a:cs typeface="微软雅黑"/>
              </a:rPr>
              <a:t>rs</a:t>
            </a:r>
            <a:endParaRPr sz="2800">
              <a:latin typeface="微软雅黑"/>
              <a:cs typeface="微软雅黑"/>
            </a:endParaRPr>
          </a:p>
        </p:txBody>
      </p:sp>
      <p:sp>
        <p:nvSpPr>
          <p:cNvPr id="14" name="object 14" descr=""/>
          <p:cNvSpPr/>
          <p:nvPr/>
        </p:nvSpPr>
        <p:spPr>
          <a:xfrm>
            <a:off x="10767948" y="436626"/>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925" y="0"/>
                </a:moveTo>
                <a:lnTo>
                  <a:pt x="0" y="85725"/>
                </a:lnTo>
                <a:lnTo>
                  <a:pt x="28575" y="85725"/>
                </a:lnTo>
                <a:lnTo>
                  <a:pt x="28575" y="71374"/>
                </a:lnTo>
                <a:lnTo>
                  <a:pt x="78560" y="71374"/>
                </a:lnTo>
                <a:lnTo>
                  <a:pt x="42925" y="0"/>
                </a:lnTo>
                <a:close/>
              </a:path>
              <a:path w="85725" h="457200">
                <a:moveTo>
                  <a:pt x="78560" y="71374"/>
                </a:moveTo>
                <a:lnTo>
                  <a:pt x="57150" y="71374"/>
                </a:lnTo>
                <a:lnTo>
                  <a:pt x="57150" y="85725"/>
                </a:lnTo>
                <a:lnTo>
                  <a:pt x="85725" y="85725"/>
                </a:lnTo>
                <a:lnTo>
                  <a:pt x="78560" y="71374"/>
                </a:lnTo>
                <a:close/>
              </a:path>
            </a:pathLst>
          </a:custGeom>
          <a:solidFill>
            <a:srgbClr val="5782F8"/>
          </a:solidFill>
        </p:spPr>
        <p:txBody>
          <a:bodyPr wrap="square" lIns="0" tIns="0" rIns="0" bIns="0" rtlCol="0"/>
          <a:lstStyle/>
          <a:p/>
        </p:txBody>
      </p:sp>
      <p:sp>
        <p:nvSpPr>
          <p:cNvPr id="15" name="object 15" descr=""/>
          <p:cNvSpPr/>
          <p:nvPr/>
        </p:nvSpPr>
        <p:spPr>
          <a:xfrm>
            <a:off x="9548748" y="436626"/>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925" y="0"/>
                </a:moveTo>
                <a:lnTo>
                  <a:pt x="0" y="85725"/>
                </a:lnTo>
                <a:lnTo>
                  <a:pt x="28575" y="85725"/>
                </a:lnTo>
                <a:lnTo>
                  <a:pt x="28575" y="71374"/>
                </a:lnTo>
                <a:lnTo>
                  <a:pt x="78560" y="71374"/>
                </a:lnTo>
                <a:lnTo>
                  <a:pt x="42925" y="0"/>
                </a:lnTo>
                <a:close/>
              </a:path>
              <a:path w="85725" h="457200">
                <a:moveTo>
                  <a:pt x="78560" y="71374"/>
                </a:moveTo>
                <a:lnTo>
                  <a:pt x="57150" y="71374"/>
                </a:lnTo>
                <a:lnTo>
                  <a:pt x="57150" y="85725"/>
                </a:lnTo>
                <a:lnTo>
                  <a:pt x="85725" y="85725"/>
                </a:lnTo>
                <a:lnTo>
                  <a:pt x="78560" y="71374"/>
                </a:lnTo>
                <a:close/>
              </a:path>
            </a:pathLst>
          </a:custGeom>
          <a:solidFill>
            <a:srgbClr val="5782F8"/>
          </a:solidFill>
        </p:spPr>
        <p:txBody>
          <a:bodyPr wrap="square" lIns="0" tIns="0" rIns="0" bIns="0" rtlCol="0"/>
          <a:lstStyle/>
          <a:p/>
        </p:txBody>
      </p:sp>
      <p:sp>
        <p:nvSpPr>
          <p:cNvPr id="16" name="object 16" descr=""/>
          <p:cNvSpPr/>
          <p:nvPr/>
        </p:nvSpPr>
        <p:spPr>
          <a:xfrm>
            <a:off x="10158348" y="436626"/>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925" y="0"/>
                </a:moveTo>
                <a:lnTo>
                  <a:pt x="0" y="85725"/>
                </a:lnTo>
                <a:lnTo>
                  <a:pt x="28575" y="85725"/>
                </a:lnTo>
                <a:lnTo>
                  <a:pt x="28575" y="71374"/>
                </a:lnTo>
                <a:lnTo>
                  <a:pt x="78560" y="71374"/>
                </a:lnTo>
                <a:lnTo>
                  <a:pt x="42925" y="0"/>
                </a:lnTo>
                <a:close/>
              </a:path>
              <a:path w="85725" h="457200">
                <a:moveTo>
                  <a:pt x="78560" y="71374"/>
                </a:moveTo>
                <a:lnTo>
                  <a:pt x="57150" y="71374"/>
                </a:lnTo>
                <a:lnTo>
                  <a:pt x="57150" y="85725"/>
                </a:lnTo>
                <a:lnTo>
                  <a:pt x="85725" y="85725"/>
                </a:lnTo>
                <a:lnTo>
                  <a:pt x="78560" y="71374"/>
                </a:lnTo>
                <a:close/>
              </a:path>
            </a:pathLst>
          </a:custGeom>
          <a:solidFill>
            <a:srgbClr val="5782F8"/>
          </a:solidFill>
        </p:spPr>
        <p:txBody>
          <a:bodyPr wrap="square" lIns="0" tIns="0" rIns="0" bIns="0" rtlCol="0"/>
          <a:lstStyle/>
          <a:p/>
        </p:txBody>
      </p:sp>
      <p:sp>
        <p:nvSpPr>
          <p:cNvPr id="17" name="object 17" descr=""/>
          <p:cNvSpPr txBox="1"/>
          <p:nvPr/>
        </p:nvSpPr>
        <p:spPr>
          <a:xfrm>
            <a:off x="10738484" y="1447037"/>
            <a:ext cx="132715" cy="452120"/>
          </a:xfrm>
          <a:prstGeom prst="rect">
            <a:avLst/>
          </a:prstGeom>
        </p:spPr>
        <p:txBody>
          <a:bodyPr wrap="square" lIns="0" tIns="12065" rIns="0" bIns="0" rtlCol="0" vert="horz">
            <a:spAutoFit/>
          </a:bodyPr>
          <a:lstStyle/>
          <a:p>
            <a:pPr marL="12700">
              <a:lnSpc>
                <a:spcPct val="100000"/>
              </a:lnSpc>
              <a:spcBef>
                <a:spcPts val="95"/>
              </a:spcBef>
            </a:pPr>
            <a:r>
              <a:rPr dirty="0" sz="2800" spc="-50" b="1">
                <a:solidFill>
                  <a:srgbClr val="40458B"/>
                </a:solidFill>
                <a:latin typeface="微软雅黑"/>
                <a:cs typeface="微软雅黑"/>
              </a:rPr>
              <a:t>j</a:t>
            </a:r>
            <a:endParaRPr sz="2800">
              <a:latin typeface="微软雅黑"/>
              <a:cs typeface="微软雅黑"/>
            </a:endParaRPr>
          </a:p>
        </p:txBody>
      </p:sp>
      <p:sp>
        <p:nvSpPr>
          <p:cNvPr id="18" name="object 18" descr=""/>
          <p:cNvSpPr txBox="1"/>
          <p:nvPr/>
        </p:nvSpPr>
        <p:spPr>
          <a:xfrm>
            <a:off x="9519284" y="1461261"/>
            <a:ext cx="237490" cy="452120"/>
          </a:xfrm>
          <a:prstGeom prst="rect">
            <a:avLst/>
          </a:prstGeom>
        </p:spPr>
        <p:txBody>
          <a:bodyPr wrap="square" lIns="0" tIns="12065" rIns="0" bIns="0" rtlCol="0" vert="horz">
            <a:spAutoFit/>
          </a:bodyPr>
          <a:lstStyle/>
          <a:p>
            <a:pPr marL="12700">
              <a:lnSpc>
                <a:spcPct val="100000"/>
              </a:lnSpc>
              <a:spcBef>
                <a:spcPts val="95"/>
              </a:spcBef>
            </a:pPr>
            <a:r>
              <a:rPr dirty="0" sz="2800" spc="-50" b="1">
                <a:solidFill>
                  <a:srgbClr val="40458B"/>
                </a:solidFill>
                <a:latin typeface="微软雅黑"/>
                <a:cs typeface="微软雅黑"/>
              </a:rPr>
              <a:t>k</a:t>
            </a:r>
            <a:endParaRPr sz="2800">
              <a:latin typeface="微软雅黑"/>
              <a:cs typeface="微软雅黑"/>
            </a:endParaRPr>
          </a:p>
        </p:txBody>
      </p:sp>
      <p:sp>
        <p:nvSpPr>
          <p:cNvPr id="19" name="object 19"/>
          <p:cNvSpPr txBox="1">
            <a:spLocks noGrp="1"/>
          </p:cNvSpPr>
          <p:nvPr>
            <p:ph type="title"/>
          </p:nvPr>
        </p:nvSpPr>
        <p:spPr>
          <a:xfrm>
            <a:off x="413715" y="32715"/>
            <a:ext cx="2286000" cy="514350"/>
          </a:xfrm>
          <a:prstGeom prst="rect"/>
        </p:spPr>
        <p:txBody>
          <a:bodyPr wrap="square" lIns="0" tIns="13335" rIns="0" bIns="0" rtlCol="0" vert="horz">
            <a:spAutoFit/>
          </a:bodyPr>
          <a:lstStyle/>
          <a:p>
            <a:pPr marL="12700">
              <a:lnSpc>
                <a:spcPct val="100000"/>
              </a:lnSpc>
              <a:spcBef>
                <a:spcPts val="105"/>
              </a:spcBef>
            </a:pPr>
            <a:r>
              <a:rPr dirty="0">
                <a:solidFill>
                  <a:srgbClr val="40458B"/>
                </a:solidFill>
                <a:latin typeface="Tahoma"/>
                <a:cs typeface="Tahoma"/>
              </a:rPr>
              <a:t>1</a:t>
            </a:r>
            <a:r>
              <a:rPr dirty="0" spc="-10">
                <a:solidFill>
                  <a:srgbClr val="40458B"/>
                </a:solidFill>
              </a:rPr>
              <a:t>、指令流出</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709066" y="2171827"/>
            <a:ext cx="6769734" cy="391160"/>
          </a:xfrm>
          <a:prstGeom prst="rect">
            <a:avLst/>
          </a:prstGeom>
        </p:spPr>
        <p:txBody>
          <a:bodyPr wrap="square" lIns="0" tIns="12700" rIns="0" bIns="0" rtlCol="0" vert="horz">
            <a:spAutoFit/>
          </a:bodyPr>
          <a:lstStyle/>
          <a:p>
            <a:pPr marL="12700">
              <a:lnSpc>
                <a:spcPct val="100000"/>
              </a:lnSpc>
              <a:spcBef>
                <a:spcPts val="100"/>
              </a:spcBef>
            </a:pPr>
            <a:r>
              <a:rPr dirty="0" sz="2400" spc="-20" b="1">
                <a:solidFill>
                  <a:srgbClr val="FF0000"/>
                </a:solidFill>
                <a:latin typeface="宋体"/>
                <a:cs typeface="宋体"/>
              </a:rPr>
              <a:t>承上页，</a:t>
            </a:r>
            <a:r>
              <a:rPr dirty="0" sz="2400" spc="-20" b="1">
                <a:solidFill>
                  <a:srgbClr val="4668F5"/>
                </a:solidFill>
                <a:latin typeface="宋体"/>
                <a:cs typeface="宋体"/>
              </a:rPr>
              <a:t>对于load指令：</a:t>
            </a:r>
            <a:r>
              <a:rPr dirty="0" sz="2400" spc="-25" b="1">
                <a:solidFill>
                  <a:srgbClr val="FF0000"/>
                </a:solidFill>
                <a:latin typeface="宋体"/>
                <a:cs typeface="宋体"/>
              </a:rPr>
              <a:t>对结果</a:t>
            </a:r>
            <a:r>
              <a:rPr dirty="0" sz="2400" spc="-20" b="1">
                <a:solidFill>
                  <a:srgbClr val="FF0000"/>
                </a:solidFill>
                <a:latin typeface="宋体"/>
                <a:cs typeface="宋体"/>
              </a:rPr>
              <a:t>rt</a:t>
            </a:r>
            <a:r>
              <a:rPr dirty="0" sz="2400" spc="-25" b="1">
                <a:solidFill>
                  <a:srgbClr val="FF0000"/>
                </a:solidFill>
                <a:latin typeface="宋体"/>
                <a:cs typeface="宋体"/>
              </a:rPr>
              <a:t>寄存器进行预约</a:t>
            </a:r>
            <a:endParaRPr sz="2400">
              <a:latin typeface="宋体"/>
              <a:cs typeface="宋体"/>
            </a:endParaRPr>
          </a:p>
        </p:txBody>
      </p:sp>
      <p:sp>
        <p:nvSpPr>
          <p:cNvPr id="3" name="object 3" descr=""/>
          <p:cNvSpPr txBox="1"/>
          <p:nvPr/>
        </p:nvSpPr>
        <p:spPr>
          <a:xfrm>
            <a:off x="709066" y="2683890"/>
            <a:ext cx="1663064"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Tahoma"/>
                <a:cs typeface="Tahoma"/>
              </a:rPr>
              <a:t>Qi[</a:t>
            </a:r>
            <a:r>
              <a:rPr dirty="0" sz="2400">
                <a:solidFill>
                  <a:srgbClr val="D50092"/>
                </a:solidFill>
                <a:latin typeface="Tahoma"/>
                <a:cs typeface="Tahoma"/>
              </a:rPr>
              <a:t>rt</a:t>
            </a:r>
            <a:r>
              <a:rPr dirty="0" sz="2400">
                <a:solidFill>
                  <a:srgbClr val="40458B"/>
                </a:solidFill>
                <a:latin typeface="Tahoma"/>
                <a:cs typeface="Tahoma"/>
              </a:rPr>
              <a:t>]</a:t>
            </a:r>
            <a:r>
              <a:rPr dirty="0" sz="2400" spc="-25">
                <a:solidFill>
                  <a:srgbClr val="40458B"/>
                </a:solidFill>
                <a:latin typeface="Tahoma"/>
                <a:cs typeface="Tahoma"/>
              </a:rPr>
              <a:t> </a:t>
            </a:r>
            <a:r>
              <a:rPr dirty="0" sz="2400">
                <a:solidFill>
                  <a:srgbClr val="40458B"/>
                </a:solidFill>
                <a:latin typeface="Symbol"/>
                <a:cs typeface="Symbol"/>
              </a:rPr>
              <a:t></a:t>
            </a:r>
            <a:r>
              <a:rPr dirty="0" sz="2400" spc="120">
                <a:solidFill>
                  <a:srgbClr val="40458B"/>
                </a:solidFill>
                <a:latin typeface="Times New Roman"/>
                <a:cs typeface="Times New Roman"/>
              </a:rPr>
              <a:t> </a:t>
            </a:r>
            <a:r>
              <a:rPr dirty="0" sz="2400" spc="-25">
                <a:solidFill>
                  <a:srgbClr val="001F5F"/>
                </a:solidFill>
                <a:latin typeface="Tahoma"/>
                <a:cs typeface="Tahoma"/>
              </a:rPr>
              <a:t>r</a:t>
            </a:r>
            <a:r>
              <a:rPr dirty="0" sz="2400" spc="-25">
                <a:solidFill>
                  <a:srgbClr val="40458B"/>
                </a:solidFill>
                <a:latin typeface="黑体"/>
                <a:cs typeface="黑体"/>
              </a:rPr>
              <a:t>；</a:t>
            </a:r>
            <a:endParaRPr sz="2400">
              <a:latin typeface="黑体"/>
              <a:cs typeface="黑体"/>
            </a:endParaRPr>
          </a:p>
        </p:txBody>
      </p:sp>
      <p:sp>
        <p:nvSpPr>
          <p:cNvPr id="4" name="object 4" descr=""/>
          <p:cNvSpPr txBox="1"/>
          <p:nvPr/>
        </p:nvSpPr>
        <p:spPr>
          <a:xfrm>
            <a:off x="4229861" y="2595055"/>
            <a:ext cx="6939280" cy="915035"/>
          </a:xfrm>
          <a:prstGeom prst="rect">
            <a:avLst/>
          </a:prstGeom>
        </p:spPr>
        <p:txBody>
          <a:bodyPr wrap="square" lIns="0" tIns="152400" rIns="0" bIns="0" rtlCol="0" vert="horz">
            <a:spAutoFit/>
          </a:bodyPr>
          <a:lstStyle/>
          <a:p>
            <a:pPr marL="12700">
              <a:lnSpc>
                <a:spcPct val="100000"/>
              </a:lnSpc>
              <a:spcBef>
                <a:spcPts val="1200"/>
              </a:spcBef>
            </a:pPr>
            <a:r>
              <a:rPr dirty="0" sz="2000" spc="-10" b="1">
                <a:latin typeface="宋体"/>
                <a:cs typeface="宋体"/>
              </a:rPr>
              <a:t>// 把当前缓冲器单元的编号</a:t>
            </a:r>
            <a:r>
              <a:rPr dirty="0" sz="2000" spc="-15" b="1">
                <a:solidFill>
                  <a:srgbClr val="001F5F"/>
                </a:solidFill>
                <a:latin typeface="宋体"/>
                <a:cs typeface="宋体"/>
              </a:rPr>
              <a:t>r</a:t>
            </a:r>
            <a:r>
              <a:rPr dirty="0" sz="2000" spc="-10" b="1">
                <a:latin typeface="宋体"/>
                <a:cs typeface="宋体"/>
              </a:rPr>
              <a:t>放入</a:t>
            </a:r>
            <a:r>
              <a:rPr dirty="0" sz="2000" spc="-20" b="1">
                <a:latin typeface="宋体"/>
                <a:cs typeface="宋体"/>
              </a:rPr>
              <a:t>load指令的目标寄存器</a:t>
            </a:r>
            <a:r>
              <a:rPr dirty="0" sz="2000" spc="-10" b="1">
                <a:solidFill>
                  <a:srgbClr val="D50092"/>
                </a:solidFill>
                <a:latin typeface="宋体"/>
                <a:cs typeface="宋体"/>
              </a:rPr>
              <a:t>rt</a:t>
            </a:r>
            <a:r>
              <a:rPr dirty="0" sz="2000" spc="-50" b="1">
                <a:latin typeface="宋体"/>
                <a:cs typeface="宋体"/>
              </a:rPr>
              <a:t>所</a:t>
            </a:r>
            <a:endParaRPr sz="2000">
              <a:latin typeface="宋体"/>
              <a:cs typeface="宋体"/>
            </a:endParaRPr>
          </a:p>
          <a:p>
            <a:pPr marL="351155">
              <a:lnSpc>
                <a:spcPct val="100000"/>
              </a:lnSpc>
              <a:spcBef>
                <a:spcPts val="1100"/>
              </a:spcBef>
            </a:pPr>
            <a:r>
              <a:rPr dirty="0" sz="2000" spc="-25" b="1">
                <a:latin typeface="宋体"/>
                <a:cs typeface="宋体"/>
              </a:rPr>
              <a:t>对应的寄存器状态表项，以便</a:t>
            </a:r>
            <a:r>
              <a:rPr dirty="0" sz="2000" spc="-10" b="1">
                <a:solidFill>
                  <a:srgbClr val="D50092"/>
                </a:solidFill>
                <a:latin typeface="宋体"/>
                <a:cs typeface="宋体"/>
              </a:rPr>
              <a:t>rt</a:t>
            </a:r>
            <a:r>
              <a:rPr dirty="0" sz="2000" spc="-25" b="1">
                <a:latin typeface="宋体"/>
                <a:cs typeface="宋体"/>
              </a:rPr>
              <a:t>将来接收所取的数据。</a:t>
            </a:r>
            <a:endParaRPr sz="2000">
              <a:latin typeface="宋体"/>
              <a:cs typeface="宋体"/>
            </a:endParaRPr>
          </a:p>
        </p:txBody>
      </p:sp>
      <p:sp>
        <p:nvSpPr>
          <p:cNvPr id="5" name="object 5" descr=""/>
          <p:cNvSpPr txBox="1"/>
          <p:nvPr/>
        </p:nvSpPr>
        <p:spPr>
          <a:xfrm>
            <a:off x="7775829" y="249123"/>
            <a:ext cx="2660015" cy="391795"/>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40458B"/>
                </a:solidFill>
                <a:latin typeface="微软雅黑"/>
                <a:cs typeface="微软雅黑"/>
              </a:rPr>
              <a:t>L.D</a:t>
            </a:r>
            <a:r>
              <a:rPr dirty="0" sz="2400" spc="-20" b="1">
                <a:solidFill>
                  <a:srgbClr val="40458B"/>
                </a:solidFill>
                <a:latin typeface="微软雅黑"/>
                <a:cs typeface="微软雅黑"/>
              </a:rPr>
              <a:t> </a:t>
            </a:r>
            <a:r>
              <a:rPr dirty="0" sz="2400" spc="-10" b="1">
                <a:solidFill>
                  <a:srgbClr val="40458B"/>
                </a:solidFill>
                <a:latin typeface="微软雅黑"/>
                <a:cs typeface="微软雅黑"/>
              </a:rPr>
              <a:t>F2，45（R3）</a:t>
            </a:r>
            <a:endParaRPr sz="2400">
              <a:latin typeface="微软雅黑"/>
              <a:cs typeface="微软雅黑"/>
            </a:endParaRPr>
          </a:p>
        </p:txBody>
      </p:sp>
      <p:sp>
        <p:nvSpPr>
          <p:cNvPr id="6" name="object 6" descr=""/>
          <p:cNvSpPr/>
          <p:nvPr/>
        </p:nvSpPr>
        <p:spPr>
          <a:xfrm>
            <a:off x="9786873" y="762000"/>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925" y="0"/>
                </a:moveTo>
                <a:lnTo>
                  <a:pt x="0" y="85725"/>
                </a:lnTo>
                <a:lnTo>
                  <a:pt x="28575" y="85725"/>
                </a:lnTo>
                <a:lnTo>
                  <a:pt x="28575" y="71374"/>
                </a:lnTo>
                <a:lnTo>
                  <a:pt x="78560" y="71374"/>
                </a:lnTo>
                <a:lnTo>
                  <a:pt x="42925" y="0"/>
                </a:lnTo>
                <a:close/>
              </a:path>
              <a:path w="85725" h="457200">
                <a:moveTo>
                  <a:pt x="78560" y="71374"/>
                </a:moveTo>
                <a:lnTo>
                  <a:pt x="57150" y="71374"/>
                </a:lnTo>
                <a:lnTo>
                  <a:pt x="57150" y="85725"/>
                </a:lnTo>
                <a:lnTo>
                  <a:pt x="85725" y="85725"/>
                </a:lnTo>
                <a:lnTo>
                  <a:pt x="78560" y="71374"/>
                </a:lnTo>
                <a:close/>
              </a:path>
            </a:pathLst>
          </a:custGeom>
          <a:solidFill>
            <a:srgbClr val="5782F8"/>
          </a:solidFill>
        </p:spPr>
        <p:txBody>
          <a:bodyPr wrap="square" lIns="0" tIns="0" rIns="0" bIns="0" rtlCol="0"/>
          <a:lstStyle/>
          <a:p/>
        </p:txBody>
      </p:sp>
      <p:sp>
        <p:nvSpPr>
          <p:cNvPr id="7" name="object 7" descr=""/>
          <p:cNvSpPr/>
          <p:nvPr/>
        </p:nvSpPr>
        <p:spPr>
          <a:xfrm>
            <a:off x="8567673" y="762000"/>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925" y="0"/>
                </a:moveTo>
                <a:lnTo>
                  <a:pt x="0" y="85725"/>
                </a:lnTo>
                <a:lnTo>
                  <a:pt x="28575" y="85725"/>
                </a:lnTo>
                <a:lnTo>
                  <a:pt x="28575" y="71374"/>
                </a:lnTo>
                <a:lnTo>
                  <a:pt x="78560" y="71374"/>
                </a:lnTo>
                <a:lnTo>
                  <a:pt x="42925" y="0"/>
                </a:lnTo>
                <a:close/>
              </a:path>
              <a:path w="85725" h="457200">
                <a:moveTo>
                  <a:pt x="78560" y="71374"/>
                </a:moveTo>
                <a:lnTo>
                  <a:pt x="57150" y="71374"/>
                </a:lnTo>
                <a:lnTo>
                  <a:pt x="57150" y="85725"/>
                </a:lnTo>
                <a:lnTo>
                  <a:pt x="85725" y="85725"/>
                </a:lnTo>
                <a:lnTo>
                  <a:pt x="78560" y="71374"/>
                </a:lnTo>
                <a:close/>
              </a:path>
            </a:pathLst>
          </a:custGeom>
          <a:solidFill>
            <a:srgbClr val="5782F8"/>
          </a:solidFill>
        </p:spPr>
        <p:txBody>
          <a:bodyPr wrap="square" lIns="0" tIns="0" rIns="0" bIns="0" rtlCol="0"/>
          <a:lstStyle/>
          <a:p/>
        </p:txBody>
      </p:sp>
      <p:sp>
        <p:nvSpPr>
          <p:cNvPr id="8" name="object 8" descr=""/>
          <p:cNvSpPr txBox="1"/>
          <p:nvPr/>
        </p:nvSpPr>
        <p:spPr>
          <a:xfrm>
            <a:off x="8995409" y="1668271"/>
            <a:ext cx="325120" cy="391160"/>
          </a:xfrm>
          <a:prstGeom prst="rect">
            <a:avLst/>
          </a:prstGeom>
        </p:spPr>
        <p:txBody>
          <a:bodyPr wrap="square" lIns="0" tIns="12700" rIns="0" bIns="0" rtlCol="0" vert="horz">
            <a:spAutoFit/>
          </a:bodyPr>
          <a:lstStyle/>
          <a:p>
            <a:pPr marL="12700">
              <a:lnSpc>
                <a:spcPct val="100000"/>
              </a:lnSpc>
              <a:spcBef>
                <a:spcPts val="100"/>
              </a:spcBef>
            </a:pPr>
            <a:r>
              <a:rPr dirty="0" sz="2400" spc="-50" b="1">
                <a:solidFill>
                  <a:srgbClr val="D50092"/>
                </a:solidFill>
                <a:latin typeface="微软雅黑"/>
                <a:cs typeface="微软雅黑"/>
              </a:rPr>
              <a:t>m</a:t>
            </a:r>
            <a:endParaRPr sz="2400">
              <a:latin typeface="微软雅黑"/>
              <a:cs typeface="微软雅黑"/>
            </a:endParaRPr>
          </a:p>
        </p:txBody>
      </p:sp>
      <p:sp>
        <p:nvSpPr>
          <p:cNvPr id="9" name="object 9" descr=""/>
          <p:cNvSpPr/>
          <p:nvPr/>
        </p:nvSpPr>
        <p:spPr>
          <a:xfrm>
            <a:off x="9177273" y="762000"/>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925" y="0"/>
                </a:moveTo>
                <a:lnTo>
                  <a:pt x="0" y="85725"/>
                </a:lnTo>
                <a:lnTo>
                  <a:pt x="28575" y="85725"/>
                </a:lnTo>
                <a:lnTo>
                  <a:pt x="28575" y="71374"/>
                </a:lnTo>
                <a:lnTo>
                  <a:pt x="78560" y="71374"/>
                </a:lnTo>
                <a:lnTo>
                  <a:pt x="42925" y="0"/>
                </a:lnTo>
                <a:close/>
              </a:path>
              <a:path w="85725" h="457200">
                <a:moveTo>
                  <a:pt x="78560" y="71374"/>
                </a:moveTo>
                <a:lnTo>
                  <a:pt x="57150" y="71374"/>
                </a:lnTo>
                <a:lnTo>
                  <a:pt x="57150" y="85725"/>
                </a:lnTo>
                <a:lnTo>
                  <a:pt x="85725" y="85725"/>
                </a:lnTo>
                <a:lnTo>
                  <a:pt x="78560" y="71374"/>
                </a:lnTo>
                <a:close/>
              </a:path>
            </a:pathLst>
          </a:custGeom>
          <a:solidFill>
            <a:srgbClr val="5782F8"/>
          </a:solidFill>
        </p:spPr>
        <p:txBody>
          <a:bodyPr wrap="square" lIns="0" tIns="0" rIns="0" bIns="0" rtlCol="0"/>
          <a:lstStyle/>
          <a:p/>
        </p:txBody>
      </p:sp>
      <p:sp>
        <p:nvSpPr>
          <p:cNvPr id="10" name="object 10" descr=""/>
          <p:cNvSpPr txBox="1"/>
          <p:nvPr/>
        </p:nvSpPr>
        <p:spPr>
          <a:xfrm>
            <a:off x="8461629" y="1131087"/>
            <a:ext cx="1574800" cy="1093470"/>
          </a:xfrm>
          <a:prstGeom prst="rect">
            <a:avLst/>
          </a:prstGeom>
        </p:spPr>
        <p:txBody>
          <a:bodyPr wrap="square" lIns="0" tIns="119380" rIns="0" bIns="0" rtlCol="0" vert="horz">
            <a:spAutoFit/>
          </a:bodyPr>
          <a:lstStyle/>
          <a:p>
            <a:pPr marL="12700">
              <a:lnSpc>
                <a:spcPct val="100000"/>
              </a:lnSpc>
              <a:spcBef>
                <a:spcPts val="940"/>
              </a:spcBef>
              <a:tabLst>
                <a:tab pos="546100" algn="l"/>
                <a:tab pos="1231900" algn="l"/>
              </a:tabLst>
            </a:pPr>
            <a:r>
              <a:rPr dirty="0" sz="2800" spc="-25" b="1">
                <a:solidFill>
                  <a:srgbClr val="D50092"/>
                </a:solidFill>
                <a:latin typeface="微软雅黑"/>
                <a:cs typeface="微软雅黑"/>
              </a:rPr>
              <a:t>rt</a:t>
            </a:r>
            <a:r>
              <a:rPr dirty="0" sz="2800" b="1">
                <a:solidFill>
                  <a:srgbClr val="D50092"/>
                </a:solidFill>
                <a:latin typeface="微软雅黑"/>
                <a:cs typeface="微软雅黑"/>
              </a:rPr>
              <a:t>	</a:t>
            </a:r>
            <a:r>
              <a:rPr dirty="0" baseline="-2314" sz="3600" spc="-37" b="1">
                <a:solidFill>
                  <a:srgbClr val="D50092"/>
                </a:solidFill>
                <a:latin typeface="微软雅黑"/>
                <a:cs typeface="微软雅黑"/>
              </a:rPr>
              <a:t>im</a:t>
            </a:r>
            <a:r>
              <a:rPr dirty="0" baseline="-2314" sz="3600" b="1">
                <a:solidFill>
                  <a:srgbClr val="D50092"/>
                </a:solidFill>
                <a:latin typeface="微软雅黑"/>
                <a:cs typeface="微软雅黑"/>
              </a:rPr>
              <a:t>	</a:t>
            </a:r>
            <a:r>
              <a:rPr dirty="0" sz="2800" spc="-25" b="1">
                <a:solidFill>
                  <a:srgbClr val="D50092"/>
                </a:solidFill>
                <a:latin typeface="微软雅黑"/>
                <a:cs typeface="微软雅黑"/>
              </a:rPr>
              <a:t>rs</a:t>
            </a:r>
            <a:endParaRPr sz="2800">
              <a:latin typeface="微软雅黑"/>
              <a:cs typeface="微软雅黑"/>
            </a:endParaRPr>
          </a:p>
          <a:p>
            <a:pPr marL="1308100">
              <a:lnSpc>
                <a:spcPct val="100000"/>
              </a:lnSpc>
              <a:spcBef>
                <a:spcPts val="844"/>
              </a:spcBef>
            </a:pPr>
            <a:r>
              <a:rPr dirty="0" sz="2800" spc="-50" b="1">
                <a:solidFill>
                  <a:srgbClr val="40458B"/>
                </a:solidFill>
                <a:latin typeface="微软雅黑"/>
                <a:cs typeface="微软雅黑"/>
              </a:rPr>
              <a:t>j</a:t>
            </a:r>
            <a:endParaRPr sz="2800">
              <a:latin typeface="微软雅黑"/>
              <a:cs typeface="微软雅黑"/>
            </a:endParaRPr>
          </a:p>
        </p:txBody>
      </p:sp>
      <p:sp>
        <p:nvSpPr>
          <p:cNvPr id="11" name="object 11" descr=""/>
          <p:cNvSpPr txBox="1"/>
          <p:nvPr/>
        </p:nvSpPr>
        <p:spPr>
          <a:xfrm>
            <a:off x="8537829" y="1786889"/>
            <a:ext cx="237490" cy="452120"/>
          </a:xfrm>
          <a:prstGeom prst="rect">
            <a:avLst/>
          </a:prstGeom>
        </p:spPr>
        <p:txBody>
          <a:bodyPr wrap="square" lIns="0" tIns="12065" rIns="0" bIns="0" rtlCol="0" vert="horz">
            <a:spAutoFit/>
          </a:bodyPr>
          <a:lstStyle/>
          <a:p>
            <a:pPr marL="12700">
              <a:lnSpc>
                <a:spcPct val="100000"/>
              </a:lnSpc>
              <a:spcBef>
                <a:spcPts val="95"/>
              </a:spcBef>
            </a:pPr>
            <a:r>
              <a:rPr dirty="0" sz="2800" spc="-50" b="1">
                <a:solidFill>
                  <a:srgbClr val="40458B"/>
                </a:solidFill>
                <a:latin typeface="微软雅黑"/>
                <a:cs typeface="微软雅黑"/>
              </a:rPr>
              <a:t>k</a:t>
            </a:r>
            <a:endParaRPr sz="2800">
              <a:latin typeface="微软雅黑"/>
              <a:cs typeface="微软雅黑"/>
            </a:endParaRPr>
          </a:p>
        </p:txBody>
      </p:sp>
      <p:sp>
        <p:nvSpPr>
          <p:cNvPr id="12" name="object 12"/>
          <p:cNvSpPr txBox="1">
            <a:spLocks noGrp="1"/>
          </p:cNvSpPr>
          <p:nvPr>
            <p:ph type="title"/>
          </p:nvPr>
        </p:nvSpPr>
        <p:spPr>
          <a:xfrm>
            <a:off x="182067" y="649605"/>
            <a:ext cx="2285365" cy="513715"/>
          </a:xfrm>
          <a:prstGeom prst="rect"/>
        </p:spPr>
        <p:txBody>
          <a:bodyPr wrap="square" lIns="0" tIns="13335" rIns="0" bIns="0" rtlCol="0" vert="horz">
            <a:spAutoFit/>
          </a:bodyPr>
          <a:lstStyle/>
          <a:p>
            <a:pPr marL="12700">
              <a:lnSpc>
                <a:spcPct val="100000"/>
              </a:lnSpc>
              <a:spcBef>
                <a:spcPts val="105"/>
              </a:spcBef>
            </a:pPr>
            <a:r>
              <a:rPr dirty="0" spc="-25">
                <a:solidFill>
                  <a:srgbClr val="40458B"/>
                </a:solidFill>
                <a:latin typeface="Tahoma"/>
                <a:cs typeface="Tahoma"/>
              </a:rPr>
              <a:t>1</a:t>
            </a:r>
            <a:r>
              <a:rPr dirty="0" spc="-10">
                <a:solidFill>
                  <a:srgbClr val="40458B"/>
                </a:solidFill>
              </a:rPr>
              <a:t>、指令流出</a:t>
            </a:r>
          </a:p>
        </p:txBody>
      </p:sp>
      <p:sp>
        <p:nvSpPr>
          <p:cNvPr id="13" name="object 13" descr=""/>
          <p:cNvSpPr txBox="1"/>
          <p:nvPr/>
        </p:nvSpPr>
        <p:spPr>
          <a:xfrm>
            <a:off x="951687" y="1280540"/>
            <a:ext cx="4080510" cy="513715"/>
          </a:xfrm>
          <a:prstGeom prst="rect">
            <a:avLst/>
          </a:prstGeom>
        </p:spPr>
        <p:txBody>
          <a:bodyPr wrap="square" lIns="0" tIns="13335" rIns="0" bIns="0" rtlCol="0" vert="horz">
            <a:spAutoFit/>
          </a:bodyPr>
          <a:lstStyle/>
          <a:p>
            <a:pPr marL="516890" indent="-504190">
              <a:lnSpc>
                <a:spcPct val="100000"/>
              </a:lnSpc>
              <a:spcBef>
                <a:spcPts val="105"/>
              </a:spcBef>
              <a:buFont typeface="Wingdings"/>
              <a:buChar char=""/>
              <a:tabLst>
                <a:tab pos="516890" algn="l"/>
              </a:tabLst>
            </a:pPr>
            <a:r>
              <a:rPr dirty="0" sz="3200">
                <a:solidFill>
                  <a:srgbClr val="E14B04"/>
                </a:solidFill>
                <a:latin typeface="Times New Roman"/>
                <a:cs typeface="Times New Roman"/>
              </a:rPr>
              <a:t>load</a:t>
            </a:r>
            <a:r>
              <a:rPr dirty="0" sz="3200" spc="-15">
                <a:solidFill>
                  <a:srgbClr val="E14B04"/>
                </a:solidFill>
                <a:latin typeface="黑体"/>
                <a:cs typeface="黑体"/>
              </a:rPr>
              <a:t>指令，如右所示</a:t>
            </a:r>
            <a:endParaRPr sz="3200">
              <a:latin typeface="黑体"/>
              <a:cs typeface="黑体"/>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774293" y="2196845"/>
            <a:ext cx="2799715" cy="1050290"/>
          </a:xfrm>
          <a:prstGeom prst="rect">
            <a:avLst/>
          </a:prstGeom>
        </p:spPr>
        <p:txBody>
          <a:bodyPr wrap="square" lIns="0" tIns="158750" rIns="0" bIns="0" rtlCol="0" vert="horz">
            <a:spAutoFit/>
          </a:bodyPr>
          <a:lstStyle/>
          <a:p>
            <a:pPr marL="12700">
              <a:lnSpc>
                <a:spcPct val="100000"/>
              </a:lnSpc>
              <a:spcBef>
                <a:spcPts val="1250"/>
              </a:spcBef>
            </a:pPr>
            <a:r>
              <a:rPr dirty="0" sz="2400">
                <a:solidFill>
                  <a:srgbClr val="40458B"/>
                </a:solidFill>
                <a:latin typeface="Tahoma"/>
                <a:cs typeface="Tahoma"/>
              </a:rPr>
              <a:t>if</a:t>
            </a:r>
            <a:r>
              <a:rPr dirty="0" sz="2400" spc="-20">
                <a:solidFill>
                  <a:srgbClr val="40458B"/>
                </a:solidFill>
                <a:latin typeface="Tahoma"/>
                <a:cs typeface="Tahoma"/>
              </a:rPr>
              <a:t> </a:t>
            </a:r>
            <a:r>
              <a:rPr dirty="0" sz="2400">
                <a:solidFill>
                  <a:srgbClr val="40458B"/>
                </a:solidFill>
                <a:latin typeface="黑体"/>
                <a:cs typeface="黑体"/>
              </a:rPr>
              <a:t>（</a:t>
            </a:r>
            <a:r>
              <a:rPr dirty="0" sz="2400">
                <a:solidFill>
                  <a:srgbClr val="40458B"/>
                </a:solidFill>
                <a:latin typeface="Tahoma"/>
                <a:cs typeface="Tahoma"/>
              </a:rPr>
              <a:t>Qi[</a:t>
            </a:r>
            <a:r>
              <a:rPr dirty="0" sz="2400">
                <a:solidFill>
                  <a:srgbClr val="D50092"/>
                </a:solidFill>
                <a:latin typeface="Tahoma"/>
                <a:cs typeface="Tahoma"/>
              </a:rPr>
              <a:t>rt</a:t>
            </a:r>
            <a:r>
              <a:rPr dirty="0" sz="2400">
                <a:solidFill>
                  <a:srgbClr val="40458B"/>
                </a:solidFill>
                <a:latin typeface="Tahoma"/>
                <a:cs typeface="Tahoma"/>
              </a:rPr>
              <a:t>]</a:t>
            </a:r>
            <a:r>
              <a:rPr dirty="0" sz="2400" spc="-20">
                <a:solidFill>
                  <a:srgbClr val="40458B"/>
                </a:solidFill>
                <a:latin typeface="Tahoma"/>
                <a:cs typeface="Tahoma"/>
              </a:rPr>
              <a:t> </a:t>
            </a:r>
            <a:r>
              <a:rPr dirty="0" sz="2400">
                <a:solidFill>
                  <a:srgbClr val="40458B"/>
                </a:solidFill>
                <a:latin typeface="Tahoma"/>
                <a:cs typeface="Tahoma"/>
              </a:rPr>
              <a:t>≠</a:t>
            </a:r>
            <a:r>
              <a:rPr dirty="0" sz="2400" spc="-20">
                <a:solidFill>
                  <a:srgbClr val="40458B"/>
                </a:solidFill>
                <a:latin typeface="Tahoma"/>
                <a:cs typeface="Tahoma"/>
              </a:rPr>
              <a:t> </a:t>
            </a:r>
            <a:r>
              <a:rPr dirty="0" sz="2400" spc="-25">
                <a:solidFill>
                  <a:srgbClr val="40458B"/>
                </a:solidFill>
                <a:latin typeface="Tahoma"/>
                <a:cs typeface="Tahoma"/>
              </a:rPr>
              <a:t>0</a:t>
            </a:r>
            <a:r>
              <a:rPr dirty="0" sz="2400" spc="-25">
                <a:solidFill>
                  <a:srgbClr val="40458B"/>
                </a:solidFill>
                <a:latin typeface="黑体"/>
                <a:cs typeface="黑体"/>
              </a:rPr>
              <a:t>）</a:t>
            </a:r>
            <a:endParaRPr sz="2400">
              <a:latin typeface="黑体"/>
              <a:cs typeface="黑体"/>
            </a:endParaRPr>
          </a:p>
          <a:p>
            <a:pPr marL="12700">
              <a:lnSpc>
                <a:spcPct val="100000"/>
              </a:lnSpc>
              <a:spcBef>
                <a:spcPts val="1155"/>
              </a:spcBef>
            </a:pPr>
            <a:r>
              <a:rPr dirty="0" sz="2400">
                <a:solidFill>
                  <a:srgbClr val="40458B"/>
                </a:solidFill>
                <a:latin typeface="Symbol"/>
                <a:cs typeface="Symbol"/>
              </a:rPr>
              <a:t></a:t>
            </a:r>
            <a:r>
              <a:rPr dirty="0" sz="2400">
                <a:solidFill>
                  <a:srgbClr val="40458B"/>
                </a:solidFill>
                <a:latin typeface="Tahoma"/>
                <a:cs typeface="Tahoma"/>
              </a:rPr>
              <a:t>RS[</a:t>
            </a:r>
            <a:r>
              <a:rPr dirty="0" sz="2400">
                <a:solidFill>
                  <a:srgbClr val="001F5F"/>
                </a:solidFill>
                <a:latin typeface="Tahoma"/>
                <a:cs typeface="Tahoma"/>
              </a:rPr>
              <a:t>r</a:t>
            </a:r>
            <a:r>
              <a:rPr dirty="0" sz="2400">
                <a:solidFill>
                  <a:srgbClr val="40458B"/>
                </a:solidFill>
                <a:latin typeface="Tahoma"/>
                <a:cs typeface="Tahoma"/>
              </a:rPr>
              <a:t>].Qk</a:t>
            </a:r>
            <a:r>
              <a:rPr dirty="0" sz="2400" spc="-35">
                <a:solidFill>
                  <a:srgbClr val="40458B"/>
                </a:solidFill>
                <a:latin typeface="Tahoma"/>
                <a:cs typeface="Tahoma"/>
              </a:rPr>
              <a:t> </a:t>
            </a:r>
            <a:r>
              <a:rPr dirty="0" sz="2400">
                <a:solidFill>
                  <a:srgbClr val="40458B"/>
                </a:solidFill>
                <a:latin typeface="Symbol"/>
                <a:cs typeface="Symbol"/>
              </a:rPr>
              <a:t></a:t>
            </a:r>
            <a:r>
              <a:rPr dirty="0" sz="2400" spc="100">
                <a:solidFill>
                  <a:srgbClr val="40458B"/>
                </a:solidFill>
                <a:latin typeface="Times New Roman"/>
                <a:cs typeface="Times New Roman"/>
              </a:rPr>
              <a:t> </a:t>
            </a:r>
            <a:r>
              <a:rPr dirty="0" sz="2400">
                <a:solidFill>
                  <a:srgbClr val="40458B"/>
                </a:solidFill>
                <a:latin typeface="Tahoma"/>
                <a:cs typeface="Tahoma"/>
              </a:rPr>
              <a:t>Qi[</a:t>
            </a:r>
            <a:r>
              <a:rPr dirty="0" sz="2400">
                <a:solidFill>
                  <a:srgbClr val="D50092"/>
                </a:solidFill>
                <a:latin typeface="Tahoma"/>
                <a:cs typeface="Tahoma"/>
              </a:rPr>
              <a:t>rt</a:t>
            </a:r>
            <a:r>
              <a:rPr dirty="0" sz="2400">
                <a:solidFill>
                  <a:srgbClr val="40458B"/>
                </a:solidFill>
                <a:latin typeface="Tahoma"/>
                <a:cs typeface="Tahoma"/>
              </a:rPr>
              <a:t>]</a:t>
            </a:r>
            <a:r>
              <a:rPr dirty="0" sz="2400" spc="-40">
                <a:solidFill>
                  <a:srgbClr val="40458B"/>
                </a:solidFill>
                <a:latin typeface="Tahoma"/>
                <a:cs typeface="Tahoma"/>
              </a:rPr>
              <a:t> </a:t>
            </a:r>
            <a:r>
              <a:rPr dirty="0" sz="2400" spc="-50">
                <a:solidFill>
                  <a:srgbClr val="40458B"/>
                </a:solidFill>
                <a:latin typeface="Symbol"/>
                <a:cs typeface="Symbol"/>
              </a:rPr>
              <a:t></a:t>
            </a:r>
            <a:endParaRPr sz="2400">
              <a:latin typeface="Symbol"/>
              <a:cs typeface="Symbol"/>
            </a:endParaRPr>
          </a:p>
        </p:txBody>
      </p:sp>
      <p:sp>
        <p:nvSpPr>
          <p:cNvPr id="3" name="object 3" descr=""/>
          <p:cNvSpPr txBox="1"/>
          <p:nvPr/>
        </p:nvSpPr>
        <p:spPr>
          <a:xfrm>
            <a:off x="205841" y="354558"/>
            <a:ext cx="6571615" cy="1849755"/>
          </a:xfrm>
          <a:prstGeom prst="rect">
            <a:avLst/>
          </a:prstGeom>
        </p:spPr>
        <p:txBody>
          <a:bodyPr wrap="square" lIns="0" tIns="155575" rIns="0" bIns="0" rtlCol="0" vert="horz">
            <a:spAutoFit/>
          </a:bodyPr>
          <a:lstStyle/>
          <a:p>
            <a:pPr marL="469265" indent="-456565">
              <a:lnSpc>
                <a:spcPct val="100000"/>
              </a:lnSpc>
              <a:spcBef>
                <a:spcPts val="1225"/>
              </a:spcBef>
              <a:buFont typeface="Wingdings"/>
              <a:buChar char=""/>
              <a:tabLst>
                <a:tab pos="469265" algn="l"/>
              </a:tabLst>
            </a:pPr>
            <a:r>
              <a:rPr dirty="0" sz="3200" spc="-25">
                <a:solidFill>
                  <a:srgbClr val="40458B"/>
                </a:solidFill>
                <a:latin typeface="Tahoma"/>
                <a:cs typeface="Tahoma"/>
              </a:rPr>
              <a:t>1</a:t>
            </a:r>
            <a:r>
              <a:rPr dirty="0" sz="3200" spc="-10">
                <a:solidFill>
                  <a:srgbClr val="40458B"/>
                </a:solidFill>
                <a:latin typeface="黑体"/>
                <a:cs typeface="黑体"/>
              </a:rPr>
              <a:t>、指令流出</a:t>
            </a:r>
            <a:endParaRPr sz="3200">
              <a:latin typeface="黑体"/>
              <a:cs typeface="黑体"/>
            </a:endParaRPr>
          </a:p>
          <a:p>
            <a:pPr lvl="1" marL="1284605" indent="-501015">
              <a:lnSpc>
                <a:spcPct val="100000"/>
              </a:lnSpc>
              <a:spcBef>
                <a:spcPts val="1130"/>
              </a:spcBef>
              <a:buFont typeface="Wingdings"/>
              <a:buChar char=""/>
              <a:tabLst>
                <a:tab pos="1284605" algn="l"/>
              </a:tabLst>
            </a:pPr>
            <a:r>
              <a:rPr dirty="0" sz="3200" spc="-20" b="1">
                <a:solidFill>
                  <a:srgbClr val="E14B04"/>
                </a:solidFill>
                <a:latin typeface="Times New Roman"/>
                <a:cs typeface="Times New Roman"/>
              </a:rPr>
              <a:t>store</a:t>
            </a:r>
            <a:r>
              <a:rPr dirty="0" sz="3200" spc="-15">
                <a:solidFill>
                  <a:srgbClr val="E14B04"/>
                </a:solidFill>
                <a:latin typeface="黑体"/>
                <a:cs typeface="黑体"/>
              </a:rPr>
              <a:t>指令，如右所示</a:t>
            </a:r>
            <a:endParaRPr sz="3200">
              <a:latin typeface="黑体"/>
              <a:cs typeface="黑体"/>
            </a:endParaRPr>
          </a:p>
          <a:p>
            <a:pPr marL="581025">
              <a:lnSpc>
                <a:spcPct val="100000"/>
              </a:lnSpc>
              <a:spcBef>
                <a:spcPts val="1550"/>
              </a:spcBef>
            </a:pPr>
            <a:r>
              <a:rPr dirty="0" sz="2400" spc="-20" b="1">
                <a:solidFill>
                  <a:srgbClr val="4668F5"/>
                </a:solidFill>
                <a:latin typeface="宋体"/>
                <a:cs typeface="宋体"/>
              </a:rPr>
              <a:t>对于store指令：</a:t>
            </a:r>
            <a:r>
              <a:rPr dirty="0" sz="2400" spc="-25" b="1">
                <a:solidFill>
                  <a:srgbClr val="FF0000"/>
                </a:solidFill>
                <a:latin typeface="宋体"/>
                <a:cs typeface="宋体"/>
              </a:rPr>
              <a:t>判断要存储的数据是否就绪</a:t>
            </a:r>
            <a:endParaRPr sz="2400">
              <a:latin typeface="宋体"/>
              <a:cs typeface="宋体"/>
            </a:endParaRPr>
          </a:p>
        </p:txBody>
      </p:sp>
      <p:sp>
        <p:nvSpPr>
          <p:cNvPr id="4" name="object 4" descr=""/>
          <p:cNvSpPr txBox="1"/>
          <p:nvPr/>
        </p:nvSpPr>
        <p:spPr>
          <a:xfrm>
            <a:off x="4209669" y="2393695"/>
            <a:ext cx="3483610" cy="330835"/>
          </a:xfrm>
          <a:prstGeom prst="rect">
            <a:avLst/>
          </a:prstGeom>
        </p:spPr>
        <p:txBody>
          <a:bodyPr wrap="square" lIns="0" tIns="13335" rIns="0" bIns="0" rtlCol="0" vert="horz">
            <a:spAutoFit/>
          </a:bodyPr>
          <a:lstStyle/>
          <a:p>
            <a:pPr marL="12700">
              <a:lnSpc>
                <a:spcPct val="100000"/>
              </a:lnSpc>
              <a:spcBef>
                <a:spcPts val="105"/>
              </a:spcBef>
            </a:pPr>
            <a:r>
              <a:rPr dirty="0" sz="2000" spc="-15" b="1">
                <a:latin typeface="宋体"/>
                <a:cs typeface="宋体"/>
              </a:rPr>
              <a:t>// 检测要存储的数据是否就绪</a:t>
            </a:r>
            <a:endParaRPr sz="2000">
              <a:latin typeface="宋体"/>
              <a:cs typeface="宋体"/>
            </a:endParaRPr>
          </a:p>
        </p:txBody>
      </p:sp>
      <p:sp>
        <p:nvSpPr>
          <p:cNvPr id="5" name="object 5" descr=""/>
          <p:cNvSpPr txBox="1"/>
          <p:nvPr/>
        </p:nvSpPr>
        <p:spPr>
          <a:xfrm>
            <a:off x="4209669" y="2906013"/>
            <a:ext cx="7953375" cy="330835"/>
          </a:xfrm>
          <a:prstGeom prst="rect">
            <a:avLst/>
          </a:prstGeom>
        </p:spPr>
        <p:txBody>
          <a:bodyPr wrap="square" lIns="0" tIns="13335" rIns="0" bIns="0" rtlCol="0" vert="horz">
            <a:spAutoFit/>
          </a:bodyPr>
          <a:lstStyle/>
          <a:p>
            <a:pPr marL="12700">
              <a:lnSpc>
                <a:spcPct val="100000"/>
              </a:lnSpc>
              <a:spcBef>
                <a:spcPts val="105"/>
              </a:spcBef>
            </a:pPr>
            <a:r>
              <a:rPr dirty="0" sz="2000" spc="-25" b="1">
                <a:latin typeface="宋体"/>
                <a:cs typeface="宋体"/>
              </a:rPr>
              <a:t>//该数据尚未就绪，进行寄存器换名，即把将产生该数据的保留站的编</a:t>
            </a:r>
            <a:endParaRPr sz="2000">
              <a:latin typeface="宋体"/>
              <a:cs typeface="宋体"/>
            </a:endParaRPr>
          </a:p>
        </p:txBody>
      </p:sp>
      <p:sp>
        <p:nvSpPr>
          <p:cNvPr id="6" name="object 6" descr=""/>
          <p:cNvSpPr txBox="1"/>
          <p:nvPr/>
        </p:nvSpPr>
        <p:spPr>
          <a:xfrm>
            <a:off x="4503801" y="3351021"/>
            <a:ext cx="7745730" cy="330835"/>
          </a:xfrm>
          <a:prstGeom prst="rect">
            <a:avLst/>
          </a:prstGeom>
        </p:spPr>
        <p:txBody>
          <a:bodyPr wrap="square" lIns="0" tIns="13335" rIns="0" bIns="0" rtlCol="0" vert="horz">
            <a:spAutoFit/>
          </a:bodyPr>
          <a:lstStyle/>
          <a:p>
            <a:pPr marL="12700">
              <a:lnSpc>
                <a:spcPct val="100000"/>
              </a:lnSpc>
              <a:spcBef>
                <a:spcPts val="105"/>
              </a:spcBef>
            </a:pPr>
            <a:r>
              <a:rPr dirty="0" sz="2000" spc="-20" b="1">
                <a:latin typeface="宋体"/>
                <a:cs typeface="宋体"/>
              </a:rPr>
              <a:t>号放入当前缓冲器单元的</a:t>
            </a:r>
            <a:r>
              <a:rPr dirty="0" sz="2000" spc="-10" b="1">
                <a:latin typeface="宋体"/>
                <a:cs typeface="宋体"/>
              </a:rPr>
              <a:t>Qk。</a:t>
            </a:r>
            <a:r>
              <a:rPr dirty="0" sz="2000" spc="-20" b="1">
                <a:latin typeface="宋体"/>
                <a:cs typeface="宋体"/>
              </a:rPr>
              <a:t>（</a:t>
            </a:r>
            <a:r>
              <a:rPr dirty="0" sz="2000" spc="-20" b="1">
                <a:solidFill>
                  <a:srgbClr val="FF0000"/>
                </a:solidFill>
                <a:latin typeface="宋体"/>
                <a:cs typeface="宋体"/>
              </a:rPr>
              <a:t>该保留站的编号从</a:t>
            </a:r>
            <a:r>
              <a:rPr dirty="0" sz="2000">
                <a:solidFill>
                  <a:srgbClr val="FF0000"/>
                </a:solidFill>
                <a:latin typeface="Tahoma"/>
                <a:cs typeface="Tahoma"/>
              </a:rPr>
              <a:t>Qi </a:t>
            </a:r>
            <a:r>
              <a:rPr dirty="0" sz="2000" spc="-5">
                <a:solidFill>
                  <a:srgbClr val="FF0000"/>
                </a:solidFill>
                <a:latin typeface="黑体"/>
                <a:cs typeface="黑体"/>
              </a:rPr>
              <a:t>对应项中拷贝</a:t>
            </a:r>
            <a:r>
              <a:rPr dirty="0" sz="2000" spc="-50" b="1">
                <a:latin typeface="宋体"/>
                <a:cs typeface="宋体"/>
              </a:rPr>
              <a:t>）</a:t>
            </a:r>
            <a:endParaRPr sz="2000">
              <a:latin typeface="宋体"/>
              <a:cs typeface="宋体"/>
            </a:endParaRPr>
          </a:p>
        </p:txBody>
      </p:sp>
      <p:sp>
        <p:nvSpPr>
          <p:cNvPr id="7" name="object 7" descr=""/>
          <p:cNvSpPr txBox="1"/>
          <p:nvPr/>
        </p:nvSpPr>
        <p:spPr>
          <a:xfrm>
            <a:off x="774293" y="3696180"/>
            <a:ext cx="3293745" cy="2034539"/>
          </a:xfrm>
          <a:prstGeom prst="rect">
            <a:avLst/>
          </a:prstGeom>
        </p:spPr>
        <p:txBody>
          <a:bodyPr wrap="square" lIns="0" tIns="177800" rIns="0" bIns="0" rtlCol="0" vert="horz">
            <a:spAutoFit/>
          </a:bodyPr>
          <a:lstStyle/>
          <a:p>
            <a:pPr marL="123825">
              <a:lnSpc>
                <a:spcPct val="100000"/>
              </a:lnSpc>
              <a:spcBef>
                <a:spcPts val="1400"/>
              </a:spcBef>
            </a:pPr>
            <a:r>
              <a:rPr dirty="0" sz="2400" spc="-20">
                <a:solidFill>
                  <a:srgbClr val="40458B"/>
                </a:solidFill>
                <a:latin typeface="Tahoma"/>
                <a:cs typeface="Tahoma"/>
              </a:rPr>
              <a:t>else</a:t>
            </a:r>
            <a:endParaRPr sz="2400">
              <a:latin typeface="Tahoma"/>
              <a:cs typeface="Tahoma"/>
            </a:endParaRPr>
          </a:p>
          <a:p>
            <a:pPr marL="355600" marR="5080" indent="-342900">
              <a:lnSpc>
                <a:spcPct val="135000"/>
              </a:lnSpc>
              <a:spcBef>
                <a:spcPts val="290"/>
              </a:spcBef>
            </a:pPr>
            <a:r>
              <a:rPr dirty="0" sz="2400">
                <a:solidFill>
                  <a:srgbClr val="40458B"/>
                </a:solidFill>
                <a:latin typeface="Symbol"/>
                <a:cs typeface="Symbol"/>
              </a:rPr>
              <a:t></a:t>
            </a:r>
            <a:r>
              <a:rPr dirty="0" sz="2400" spc="114">
                <a:solidFill>
                  <a:srgbClr val="40458B"/>
                </a:solidFill>
                <a:latin typeface="Times New Roman"/>
                <a:cs typeface="Times New Roman"/>
              </a:rPr>
              <a:t> </a:t>
            </a:r>
            <a:r>
              <a:rPr dirty="0" sz="2400">
                <a:solidFill>
                  <a:srgbClr val="40458B"/>
                </a:solidFill>
                <a:latin typeface="Tahoma"/>
                <a:cs typeface="Tahoma"/>
              </a:rPr>
              <a:t>RS[</a:t>
            </a:r>
            <a:r>
              <a:rPr dirty="0" sz="2400">
                <a:solidFill>
                  <a:srgbClr val="001F5F"/>
                </a:solidFill>
                <a:latin typeface="Tahoma"/>
                <a:cs typeface="Tahoma"/>
              </a:rPr>
              <a:t>r</a:t>
            </a:r>
            <a:r>
              <a:rPr dirty="0" sz="2400">
                <a:solidFill>
                  <a:srgbClr val="40458B"/>
                </a:solidFill>
                <a:latin typeface="Tahoma"/>
                <a:cs typeface="Tahoma"/>
              </a:rPr>
              <a:t>].</a:t>
            </a:r>
            <a:r>
              <a:rPr dirty="0" sz="2400">
                <a:solidFill>
                  <a:srgbClr val="9933FF"/>
                </a:solidFill>
                <a:latin typeface="Tahoma"/>
                <a:cs typeface="Tahoma"/>
              </a:rPr>
              <a:t>Vk</a:t>
            </a:r>
            <a:r>
              <a:rPr dirty="0" sz="2400" spc="-10">
                <a:solidFill>
                  <a:srgbClr val="9933FF"/>
                </a:solidFill>
                <a:latin typeface="Tahoma"/>
                <a:cs typeface="Tahoma"/>
              </a:rPr>
              <a:t> </a:t>
            </a:r>
            <a:r>
              <a:rPr dirty="0" sz="2400">
                <a:solidFill>
                  <a:srgbClr val="40458B"/>
                </a:solidFill>
                <a:latin typeface="Symbol"/>
                <a:cs typeface="Symbol"/>
              </a:rPr>
              <a:t></a:t>
            </a:r>
            <a:r>
              <a:rPr dirty="0" sz="2400" spc="130">
                <a:solidFill>
                  <a:srgbClr val="40458B"/>
                </a:solidFill>
                <a:latin typeface="Times New Roman"/>
                <a:cs typeface="Times New Roman"/>
              </a:rPr>
              <a:t> </a:t>
            </a:r>
            <a:r>
              <a:rPr dirty="0" sz="2400" spc="-10">
                <a:solidFill>
                  <a:srgbClr val="40458B"/>
                </a:solidFill>
                <a:latin typeface="Tahoma"/>
                <a:cs typeface="Tahoma"/>
              </a:rPr>
              <a:t>Regs[</a:t>
            </a:r>
            <a:r>
              <a:rPr dirty="0" sz="2400" spc="-10">
                <a:solidFill>
                  <a:srgbClr val="D50092"/>
                </a:solidFill>
                <a:latin typeface="Tahoma"/>
                <a:cs typeface="Tahoma"/>
              </a:rPr>
              <a:t>rt</a:t>
            </a:r>
            <a:r>
              <a:rPr dirty="0" sz="2400" spc="-10">
                <a:solidFill>
                  <a:srgbClr val="40458B"/>
                </a:solidFill>
                <a:latin typeface="Tahoma"/>
                <a:cs typeface="Tahoma"/>
              </a:rPr>
              <a:t>]</a:t>
            </a:r>
            <a:r>
              <a:rPr dirty="0" sz="2400" spc="-10">
                <a:solidFill>
                  <a:srgbClr val="40458B"/>
                </a:solidFill>
                <a:latin typeface="黑体"/>
                <a:cs typeface="黑体"/>
              </a:rPr>
              <a:t>； </a:t>
            </a:r>
            <a:r>
              <a:rPr dirty="0" sz="2400">
                <a:solidFill>
                  <a:srgbClr val="40458B"/>
                </a:solidFill>
                <a:latin typeface="Tahoma"/>
                <a:cs typeface="Tahoma"/>
              </a:rPr>
              <a:t>RS[</a:t>
            </a:r>
            <a:r>
              <a:rPr dirty="0" sz="2400">
                <a:solidFill>
                  <a:srgbClr val="001F5F"/>
                </a:solidFill>
                <a:latin typeface="Tahoma"/>
                <a:cs typeface="Tahoma"/>
              </a:rPr>
              <a:t>r</a:t>
            </a:r>
            <a:r>
              <a:rPr dirty="0" sz="2400">
                <a:solidFill>
                  <a:srgbClr val="40458B"/>
                </a:solidFill>
                <a:latin typeface="Tahoma"/>
                <a:cs typeface="Tahoma"/>
              </a:rPr>
              <a:t>].Qk</a:t>
            </a:r>
            <a:r>
              <a:rPr dirty="0" sz="2400" spc="-30">
                <a:solidFill>
                  <a:srgbClr val="40458B"/>
                </a:solidFill>
                <a:latin typeface="Tahoma"/>
                <a:cs typeface="Tahoma"/>
              </a:rPr>
              <a:t> </a:t>
            </a:r>
            <a:r>
              <a:rPr dirty="0" sz="2400">
                <a:solidFill>
                  <a:srgbClr val="40458B"/>
                </a:solidFill>
                <a:latin typeface="Symbol"/>
                <a:cs typeface="Symbol"/>
              </a:rPr>
              <a:t></a:t>
            </a:r>
            <a:r>
              <a:rPr dirty="0" sz="2400" spc="110">
                <a:solidFill>
                  <a:srgbClr val="40458B"/>
                </a:solidFill>
                <a:latin typeface="Times New Roman"/>
                <a:cs typeface="Times New Roman"/>
              </a:rPr>
              <a:t> </a:t>
            </a:r>
            <a:r>
              <a:rPr dirty="0" sz="2400">
                <a:solidFill>
                  <a:srgbClr val="40458B"/>
                </a:solidFill>
                <a:latin typeface="Tahoma"/>
                <a:cs typeface="Tahoma"/>
              </a:rPr>
              <a:t>0</a:t>
            </a:r>
            <a:r>
              <a:rPr dirty="0" sz="2400" spc="-25">
                <a:solidFill>
                  <a:srgbClr val="40458B"/>
                </a:solidFill>
                <a:latin typeface="Tahoma"/>
                <a:cs typeface="Tahoma"/>
              </a:rPr>
              <a:t> </a:t>
            </a:r>
            <a:r>
              <a:rPr dirty="0" sz="2400" spc="-50">
                <a:solidFill>
                  <a:srgbClr val="40458B"/>
                </a:solidFill>
                <a:latin typeface="黑体"/>
                <a:cs typeface="黑体"/>
              </a:rPr>
              <a:t>；</a:t>
            </a:r>
            <a:endParaRPr sz="2400">
              <a:latin typeface="黑体"/>
              <a:cs typeface="黑体"/>
            </a:endParaRPr>
          </a:p>
          <a:p>
            <a:pPr marL="269875">
              <a:lnSpc>
                <a:spcPct val="100000"/>
              </a:lnSpc>
              <a:spcBef>
                <a:spcPts val="1170"/>
              </a:spcBef>
            </a:pPr>
            <a:r>
              <a:rPr dirty="0" sz="2000" spc="-50">
                <a:solidFill>
                  <a:srgbClr val="40458B"/>
                </a:solidFill>
                <a:latin typeface="Symbol"/>
                <a:cs typeface="Symbol"/>
              </a:rPr>
              <a:t></a:t>
            </a:r>
            <a:endParaRPr sz="2000">
              <a:latin typeface="Symbol"/>
              <a:cs typeface="Symbol"/>
            </a:endParaRPr>
          </a:p>
        </p:txBody>
      </p:sp>
      <p:sp>
        <p:nvSpPr>
          <p:cNvPr id="8" name="object 8" descr=""/>
          <p:cNvSpPr txBox="1"/>
          <p:nvPr/>
        </p:nvSpPr>
        <p:spPr>
          <a:xfrm>
            <a:off x="4209669" y="4442586"/>
            <a:ext cx="6684645" cy="330835"/>
          </a:xfrm>
          <a:prstGeom prst="rect">
            <a:avLst/>
          </a:prstGeom>
        </p:spPr>
        <p:txBody>
          <a:bodyPr wrap="square" lIns="0" tIns="12700" rIns="0" bIns="0" rtlCol="0" vert="horz">
            <a:spAutoFit/>
          </a:bodyPr>
          <a:lstStyle/>
          <a:p>
            <a:pPr marL="12700">
              <a:lnSpc>
                <a:spcPct val="100000"/>
              </a:lnSpc>
              <a:spcBef>
                <a:spcPts val="100"/>
              </a:spcBef>
            </a:pPr>
            <a:r>
              <a:rPr dirty="0" sz="2000" spc="-10" b="1">
                <a:latin typeface="宋体"/>
                <a:cs typeface="宋体"/>
              </a:rPr>
              <a:t>// 该数据就绪，把它从寄存器</a:t>
            </a:r>
            <a:r>
              <a:rPr dirty="0" sz="2000" spc="-15" b="1">
                <a:solidFill>
                  <a:srgbClr val="D50092"/>
                </a:solidFill>
                <a:latin typeface="宋体"/>
                <a:cs typeface="宋体"/>
              </a:rPr>
              <a:t>rt</a:t>
            </a:r>
            <a:r>
              <a:rPr dirty="0" sz="2000" spc="-10" b="1">
                <a:latin typeface="宋体"/>
                <a:cs typeface="宋体"/>
              </a:rPr>
              <a:t>取到store</a:t>
            </a:r>
            <a:r>
              <a:rPr dirty="0" sz="2000" spc="-20" b="1">
                <a:latin typeface="宋体"/>
                <a:cs typeface="宋体"/>
              </a:rPr>
              <a:t>缓冲器单元的</a:t>
            </a:r>
            <a:r>
              <a:rPr dirty="0" sz="2000" spc="-25" b="1">
                <a:solidFill>
                  <a:srgbClr val="9933FF"/>
                </a:solidFill>
                <a:latin typeface="宋体"/>
                <a:cs typeface="宋体"/>
              </a:rPr>
              <a:t>Vk</a:t>
            </a:r>
            <a:endParaRPr sz="2000">
              <a:latin typeface="宋体"/>
              <a:cs typeface="宋体"/>
            </a:endParaRPr>
          </a:p>
        </p:txBody>
      </p:sp>
      <p:sp>
        <p:nvSpPr>
          <p:cNvPr id="9" name="object 9" descr=""/>
          <p:cNvSpPr txBox="1"/>
          <p:nvPr/>
        </p:nvSpPr>
        <p:spPr>
          <a:xfrm>
            <a:off x="4209669" y="4936363"/>
            <a:ext cx="6168390" cy="330835"/>
          </a:xfrm>
          <a:prstGeom prst="rect">
            <a:avLst/>
          </a:prstGeom>
        </p:spPr>
        <p:txBody>
          <a:bodyPr wrap="square" lIns="0" tIns="12700" rIns="0" bIns="0" rtlCol="0" vert="horz">
            <a:spAutoFit/>
          </a:bodyPr>
          <a:lstStyle/>
          <a:p>
            <a:pPr marL="12700">
              <a:lnSpc>
                <a:spcPct val="100000"/>
              </a:lnSpc>
              <a:spcBef>
                <a:spcPts val="100"/>
              </a:spcBef>
            </a:pPr>
            <a:r>
              <a:rPr dirty="0" sz="2000" spc="-10" b="1">
                <a:latin typeface="宋体"/>
                <a:cs typeface="宋体"/>
              </a:rPr>
              <a:t>// 置Qk为0</a:t>
            </a:r>
            <a:r>
              <a:rPr dirty="0" sz="2000" spc="-20" b="1">
                <a:latin typeface="宋体"/>
                <a:cs typeface="宋体"/>
              </a:rPr>
              <a:t>，表示当前缓冲器单元的</a:t>
            </a:r>
            <a:r>
              <a:rPr dirty="0" sz="2000" spc="-10" b="1">
                <a:solidFill>
                  <a:srgbClr val="9933FF"/>
                </a:solidFill>
                <a:latin typeface="宋体"/>
                <a:cs typeface="宋体"/>
              </a:rPr>
              <a:t>Vk</a:t>
            </a:r>
            <a:r>
              <a:rPr dirty="0" sz="2000" spc="-25" b="1">
                <a:latin typeface="宋体"/>
                <a:cs typeface="宋体"/>
              </a:rPr>
              <a:t>中的数据就绪。</a:t>
            </a:r>
            <a:endParaRPr sz="2000">
              <a:latin typeface="宋体"/>
              <a:cs typeface="宋体"/>
            </a:endParaRPr>
          </a:p>
        </p:txBody>
      </p:sp>
      <p:sp>
        <p:nvSpPr>
          <p:cNvPr id="10" name="object 10" descr=""/>
          <p:cNvSpPr txBox="1"/>
          <p:nvPr/>
        </p:nvSpPr>
        <p:spPr>
          <a:xfrm>
            <a:off x="7891653" y="172923"/>
            <a:ext cx="2550160" cy="391795"/>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40458B"/>
                </a:solidFill>
                <a:latin typeface="微软雅黑"/>
                <a:cs typeface="微软雅黑"/>
              </a:rPr>
              <a:t>S.D</a:t>
            </a:r>
            <a:r>
              <a:rPr dirty="0" sz="2400" spc="-10" b="1">
                <a:solidFill>
                  <a:srgbClr val="40458B"/>
                </a:solidFill>
                <a:latin typeface="微软雅黑"/>
                <a:cs typeface="微软雅黑"/>
              </a:rPr>
              <a:t> </a:t>
            </a:r>
            <a:r>
              <a:rPr dirty="0" sz="2400" b="1">
                <a:solidFill>
                  <a:srgbClr val="40458B"/>
                </a:solidFill>
                <a:latin typeface="微软雅黑"/>
                <a:cs typeface="微软雅黑"/>
              </a:rPr>
              <a:t>F3,</a:t>
            </a:r>
            <a:r>
              <a:rPr dirty="0" sz="2400" spc="-30" b="1">
                <a:solidFill>
                  <a:srgbClr val="40458B"/>
                </a:solidFill>
                <a:latin typeface="微软雅黑"/>
                <a:cs typeface="微软雅黑"/>
              </a:rPr>
              <a:t> </a:t>
            </a:r>
            <a:r>
              <a:rPr dirty="0" sz="2400" spc="-10" b="1">
                <a:solidFill>
                  <a:srgbClr val="40458B"/>
                </a:solidFill>
                <a:latin typeface="微软雅黑"/>
                <a:cs typeface="微软雅黑"/>
              </a:rPr>
              <a:t>40（R4）</a:t>
            </a:r>
            <a:endParaRPr sz="2400">
              <a:latin typeface="微软雅黑"/>
              <a:cs typeface="微软雅黑"/>
            </a:endParaRPr>
          </a:p>
        </p:txBody>
      </p:sp>
      <p:sp>
        <p:nvSpPr>
          <p:cNvPr id="11" name="object 11" descr=""/>
          <p:cNvSpPr txBox="1"/>
          <p:nvPr/>
        </p:nvSpPr>
        <p:spPr>
          <a:xfrm>
            <a:off x="8537829" y="1132459"/>
            <a:ext cx="1681480" cy="452120"/>
          </a:xfrm>
          <a:prstGeom prst="rect">
            <a:avLst/>
          </a:prstGeom>
        </p:spPr>
        <p:txBody>
          <a:bodyPr wrap="square" lIns="0" tIns="12065" rIns="0" bIns="0" rtlCol="0" vert="horz">
            <a:spAutoFit/>
          </a:bodyPr>
          <a:lstStyle/>
          <a:p>
            <a:pPr marL="12700">
              <a:lnSpc>
                <a:spcPct val="100000"/>
              </a:lnSpc>
              <a:spcBef>
                <a:spcPts val="95"/>
              </a:spcBef>
              <a:tabLst>
                <a:tab pos="546100" algn="l"/>
              </a:tabLst>
            </a:pPr>
            <a:r>
              <a:rPr dirty="0" sz="2800" spc="-25" b="1">
                <a:solidFill>
                  <a:srgbClr val="D50092"/>
                </a:solidFill>
                <a:latin typeface="微软雅黑"/>
                <a:cs typeface="微软雅黑"/>
              </a:rPr>
              <a:t>rt</a:t>
            </a:r>
            <a:r>
              <a:rPr dirty="0" sz="2800" b="1">
                <a:solidFill>
                  <a:srgbClr val="D50092"/>
                </a:solidFill>
                <a:latin typeface="微软雅黑"/>
                <a:cs typeface="微软雅黑"/>
              </a:rPr>
              <a:t>	</a:t>
            </a:r>
            <a:r>
              <a:rPr dirty="0" baseline="-2314" sz="3600" b="1">
                <a:solidFill>
                  <a:srgbClr val="D50092"/>
                </a:solidFill>
                <a:latin typeface="微软雅黑"/>
                <a:cs typeface="微软雅黑"/>
              </a:rPr>
              <a:t>Imm</a:t>
            </a:r>
            <a:r>
              <a:rPr dirty="0" baseline="-2314" sz="3600" spc="-44" b="1">
                <a:solidFill>
                  <a:srgbClr val="D50092"/>
                </a:solidFill>
                <a:latin typeface="微软雅黑"/>
                <a:cs typeface="微软雅黑"/>
              </a:rPr>
              <a:t> </a:t>
            </a:r>
            <a:r>
              <a:rPr dirty="0" sz="2800" spc="-25" b="1">
                <a:solidFill>
                  <a:srgbClr val="D50092"/>
                </a:solidFill>
                <a:latin typeface="微软雅黑"/>
                <a:cs typeface="微软雅黑"/>
              </a:rPr>
              <a:t>rs</a:t>
            </a:r>
            <a:endParaRPr sz="2800">
              <a:latin typeface="微软雅黑"/>
              <a:cs typeface="微软雅黑"/>
            </a:endParaRPr>
          </a:p>
        </p:txBody>
      </p:sp>
      <p:sp>
        <p:nvSpPr>
          <p:cNvPr id="12" name="object 12" descr=""/>
          <p:cNvSpPr/>
          <p:nvPr/>
        </p:nvSpPr>
        <p:spPr>
          <a:xfrm>
            <a:off x="9863073" y="655701"/>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925" y="0"/>
                </a:moveTo>
                <a:lnTo>
                  <a:pt x="0" y="85725"/>
                </a:lnTo>
                <a:lnTo>
                  <a:pt x="28575" y="85725"/>
                </a:lnTo>
                <a:lnTo>
                  <a:pt x="28575" y="71374"/>
                </a:lnTo>
                <a:lnTo>
                  <a:pt x="78560" y="71374"/>
                </a:lnTo>
                <a:lnTo>
                  <a:pt x="42925" y="0"/>
                </a:lnTo>
                <a:close/>
              </a:path>
              <a:path w="85725" h="457200">
                <a:moveTo>
                  <a:pt x="78560" y="71374"/>
                </a:moveTo>
                <a:lnTo>
                  <a:pt x="57150" y="71374"/>
                </a:lnTo>
                <a:lnTo>
                  <a:pt x="57150" y="85725"/>
                </a:lnTo>
                <a:lnTo>
                  <a:pt x="85725" y="85725"/>
                </a:lnTo>
                <a:lnTo>
                  <a:pt x="78560" y="71374"/>
                </a:lnTo>
                <a:close/>
              </a:path>
            </a:pathLst>
          </a:custGeom>
          <a:solidFill>
            <a:srgbClr val="5782F8"/>
          </a:solidFill>
        </p:spPr>
        <p:txBody>
          <a:bodyPr wrap="square" lIns="0" tIns="0" rIns="0" bIns="0" rtlCol="0"/>
          <a:lstStyle/>
          <a:p/>
        </p:txBody>
      </p:sp>
      <p:sp>
        <p:nvSpPr>
          <p:cNvPr id="13" name="object 13" descr=""/>
          <p:cNvSpPr/>
          <p:nvPr/>
        </p:nvSpPr>
        <p:spPr>
          <a:xfrm>
            <a:off x="8643873" y="655701"/>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925" y="0"/>
                </a:moveTo>
                <a:lnTo>
                  <a:pt x="0" y="85725"/>
                </a:lnTo>
                <a:lnTo>
                  <a:pt x="28575" y="85725"/>
                </a:lnTo>
                <a:lnTo>
                  <a:pt x="28575" y="71374"/>
                </a:lnTo>
                <a:lnTo>
                  <a:pt x="78560" y="71374"/>
                </a:lnTo>
                <a:lnTo>
                  <a:pt x="42925" y="0"/>
                </a:lnTo>
                <a:close/>
              </a:path>
              <a:path w="85725" h="457200">
                <a:moveTo>
                  <a:pt x="78560" y="71374"/>
                </a:moveTo>
                <a:lnTo>
                  <a:pt x="57150" y="71374"/>
                </a:lnTo>
                <a:lnTo>
                  <a:pt x="57150" y="85725"/>
                </a:lnTo>
                <a:lnTo>
                  <a:pt x="85725" y="85725"/>
                </a:lnTo>
                <a:lnTo>
                  <a:pt x="78560" y="71374"/>
                </a:lnTo>
                <a:close/>
              </a:path>
            </a:pathLst>
          </a:custGeom>
          <a:solidFill>
            <a:srgbClr val="5782F8"/>
          </a:solidFill>
        </p:spPr>
        <p:txBody>
          <a:bodyPr wrap="square" lIns="0" tIns="0" rIns="0" bIns="0" rtlCol="0"/>
          <a:lstStyle/>
          <a:p/>
        </p:txBody>
      </p:sp>
      <p:sp>
        <p:nvSpPr>
          <p:cNvPr id="14" name="object 14" descr=""/>
          <p:cNvSpPr/>
          <p:nvPr/>
        </p:nvSpPr>
        <p:spPr>
          <a:xfrm>
            <a:off x="9253473" y="655701"/>
            <a:ext cx="85725" cy="457200"/>
          </a:xfrm>
          <a:custGeom>
            <a:avLst/>
            <a:gdLst/>
            <a:ahLst/>
            <a:cxnLst/>
            <a:rect l="l" t="t" r="r" b="b"/>
            <a:pathLst>
              <a:path w="85725" h="457200">
                <a:moveTo>
                  <a:pt x="57150" y="71374"/>
                </a:moveTo>
                <a:lnTo>
                  <a:pt x="28575" y="71374"/>
                </a:lnTo>
                <a:lnTo>
                  <a:pt x="28575" y="457200"/>
                </a:lnTo>
                <a:lnTo>
                  <a:pt x="57150" y="457200"/>
                </a:lnTo>
                <a:lnTo>
                  <a:pt x="57150" y="71374"/>
                </a:lnTo>
                <a:close/>
              </a:path>
              <a:path w="85725" h="457200">
                <a:moveTo>
                  <a:pt x="42925" y="0"/>
                </a:moveTo>
                <a:lnTo>
                  <a:pt x="0" y="85725"/>
                </a:lnTo>
                <a:lnTo>
                  <a:pt x="28575" y="85725"/>
                </a:lnTo>
                <a:lnTo>
                  <a:pt x="28575" y="71374"/>
                </a:lnTo>
                <a:lnTo>
                  <a:pt x="78560" y="71374"/>
                </a:lnTo>
                <a:lnTo>
                  <a:pt x="42925" y="0"/>
                </a:lnTo>
                <a:close/>
              </a:path>
              <a:path w="85725" h="457200">
                <a:moveTo>
                  <a:pt x="78560" y="71374"/>
                </a:moveTo>
                <a:lnTo>
                  <a:pt x="57150" y="71374"/>
                </a:lnTo>
                <a:lnTo>
                  <a:pt x="57150" y="85725"/>
                </a:lnTo>
                <a:lnTo>
                  <a:pt x="85725" y="85725"/>
                </a:lnTo>
                <a:lnTo>
                  <a:pt x="78560" y="71374"/>
                </a:lnTo>
                <a:close/>
              </a:path>
            </a:pathLst>
          </a:custGeom>
          <a:solidFill>
            <a:srgbClr val="5782F8"/>
          </a:solidFill>
        </p:spPr>
        <p:txBody>
          <a:bodyPr wrap="square" lIns="0" tIns="0" rIns="0" bIns="0" rtlCol="0"/>
          <a:lstStyle/>
          <a:p/>
        </p:txBody>
      </p:sp>
      <p:sp>
        <p:nvSpPr>
          <p:cNvPr id="15" name="object 15" descr=""/>
          <p:cNvSpPr txBox="1"/>
          <p:nvPr/>
        </p:nvSpPr>
        <p:spPr>
          <a:xfrm>
            <a:off x="9833609" y="1666112"/>
            <a:ext cx="132715" cy="452120"/>
          </a:xfrm>
          <a:prstGeom prst="rect">
            <a:avLst/>
          </a:prstGeom>
        </p:spPr>
        <p:txBody>
          <a:bodyPr wrap="square" lIns="0" tIns="12065" rIns="0" bIns="0" rtlCol="0" vert="horz">
            <a:spAutoFit/>
          </a:bodyPr>
          <a:lstStyle/>
          <a:p>
            <a:pPr marL="12700">
              <a:lnSpc>
                <a:spcPct val="100000"/>
              </a:lnSpc>
              <a:spcBef>
                <a:spcPts val="95"/>
              </a:spcBef>
            </a:pPr>
            <a:r>
              <a:rPr dirty="0" sz="2800" spc="-50" b="1">
                <a:solidFill>
                  <a:srgbClr val="40458B"/>
                </a:solidFill>
                <a:latin typeface="微软雅黑"/>
                <a:cs typeface="微软雅黑"/>
              </a:rPr>
              <a:t>j</a:t>
            </a:r>
            <a:endParaRPr sz="2800">
              <a:latin typeface="微软雅黑"/>
              <a:cs typeface="微软雅黑"/>
            </a:endParaRPr>
          </a:p>
        </p:txBody>
      </p:sp>
      <p:sp>
        <p:nvSpPr>
          <p:cNvPr id="16" name="object 16" descr=""/>
          <p:cNvSpPr txBox="1"/>
          <p:nvPr/>
        </p:nvSpPr>
        <p:spPr>
          <a:xfrm>
            <a:off x="8614029" y="1679905"/>
            <a:ext cx="237490" cy="452120"/>
          </a:xfrm>
          <a:prstGeom prst="rect">
            <a:avLst/>
          </a:prstGeom>
        </p:spPr>
        <p:txBody>
          <a:bodyPr wrap="square" lIns="0" tIns="12065" rIns="0" bIns="0" rtlCol="0" vert="horz">
            <a:spAutoFit/>
          </a:bodyPr>
          <a:lstStyle/>
          <a:p>
            <a:pPr marL="12700">
              <a:lnSpc>
                <a:spcPct val="100000"/>
              </a:lnSpc>
              <a:spcBef>
                <a:spcPts val="95"/>
              </a:spcBef>
            </a:pPr>
            <a:r>
              <a:rPr dirty="0" sz="2800" spc="-50" b="1">
                <a:solidFill>
                  <a:srgbClr val="40458B"/>
                </a:solidFill>
                <a:latin typeface="微软雅黑"/>
                <a:cs typeface="微软雅黑"/>
              </a:rPr>
              <a:t>k</a:t>
            </a:r>
            <a:endParaRPr sz="2800">
              <a:latin typeface="微软雅黑"/>
              <a:cs typeface="微软雅黑"/>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8190" y="447801"/>
            <a:ext cx="3310254" cy="513715"/>
          </a:xfrm>
          <a:prstGeom prst="rect"/>
        </p:spPr>
        <p:txBody>
          <a:bodyPr wrap="square" lIns="0" tIns="13335" rIns="0" bIns="0" rtlCol="0" vert="horz">
            <a:spAutoFit/>
          </a:bodyPr>
          <a:lstStyle/>
          <a:p>
            <a:pPr marL="12700">
              <a:lnSpc>
                <a:spcPct val="100000"/>
              </a:lnSpc>
              <a:spcBef>
                <a:spcPts val="105"/>
              </a:spcBef>
            </a:pPr>
            <a:r>
              <a:rPr dirty="0" spc="-25">
                <a:solidFill>
                  <a:srgbClr val="001F5F"/>
                </a:solidFill>
                <a:latin typeface="Tahoma"/>
                <a:cs typeface="Tahoma"/>
              </a:rPr>
              <a:t>2</a:t>
            </a:r>
            <a:r>
              <a:rPr dirty="0">
                <a:solidFill>
                  <a:srgbClr val="001F5F"/>
                </a:solidFill>
              </a:rPr>
              <a:t>、执行</a:t>
            </a:r>
            <a:r>
              <a:rPr dirty="0" sz="2400" spc="-20" b="1">
                <a:solidFill>
                  <a:srgbClr val="D50092"/>
                </a:solidFill>
                <a:latin typeface="宋体"/>
                <a:cs typeface="宋体"/>
              </a:rPr>
              <a:t>（两种情况</a:t>
            </a:r>
            <a:r>
              <a:rPr dirty="0" sz="2400" spc="-60" b="1">
                <a:solidFill>
                  <a:srgbClr val="D50092"/>
                </a:solidFill>
                <a:latin typeface="宋体"/>
                <a:cs typeface="宋体"/>
              </a:rPr>
              <a:t>）</a:t>
            </a:r>
            <a:endParaRPr sz="2400">
              <a:latin typeface="宋体"/>
              <a:cs typeface="宋体"/>
            </a:endParaRPr>
          </a:p>
        </p:txBody>
      </p:sp>
      <p:sp>
        <p:nvSpPr>
          <p:cNvPr id="3" name="object 3" descr=""/>
          <p:cNvSpPr txBox="1"/>
          <p:nvPr/>
        </p:nvSpPr>
        <p:spPr>
          <a:xfrm>
            <a:off x="815746" y="951474"/>
            <a:ext cx="10392410" cy="1563370"/>
          </a:xfrm>
          <a:prstGeom prst="rect">
            <a:avLst/>
          </a:prstGeom>
        </p:spPr>
        <p:txBody>
          <a:bodyPr wrap="square" lIns="0" tIns="159385" rIns="0" bIns="0" rtlCol="0" vert="horz">
            <a:spAutoFit/>
          </a:bodyPr>
          <a:lstStyle/>
          <a:p>
            <a:pPr marL="842010" indent="-829310">
              <a:lnSpc>
                <a:spcPct val="100000"/>
              </a:lnSpc>
              <a:spcBef>
                <a:spcPts val="1255"/>
              </a:spcBef>
              <a:buClr>
                <a:srgbClr val="40458B"/>
              </a:buClr>
              <a:buSzPct val="89583"/>
              <a:buFont typeface="Wingdings"/>
              <a:buChar char=""/>
              <a:tabLst>
                <a:tab pos="842010" algn="l"/>
              </a:tabLst>
            </a:pPr>
            <a:r>
              <a:rPr dirty="0" sz="2400" spc="-20">
                <a:solidFill>
                  <a:srgbClr val="E14B04"/>
                </a:solidFill>
                <a:latin typeface="黑体"/>
                <a:cs typeface="黑体"/>
              </a:rPr>
              <a:t>浮点操作指令</a:t>
            </a:r>
            <a:endParaRPr sz="2400">
              <a:latin typeface="黑体"/>
              <a:cs typeface="黑体"/>
            </a:endParaRPr>
          </a:p>
          <a:p>
            <a:pPr lvl="1" marL="798830" indent="-457200">
              <a:lnSpc>
                <a:spcPct val="100000"/>
              </a:lnSpc>
              <a:spcBef>
                <a:spcPts val="1155"/>
              </a:spcBef>
              <a:buClr>
                <a:srgbClr val="4668F5"/>
              </a:buClr>
              <a:buSzPct val="68750"/>
              <a:buFont typeface="Wingdings"/>
              <a:buChar char=""/>
              <a:tabLst>
                <a:tab pos="798830" algn="l"/>
              </a:tabLst>
            </a:pPr>
            <a:r>
              <a:rPr dirty="0" sz="2400" spc="-20" b="1">
                <a:solidFill>
                  <a:srgbClr val="D50092"/>
                </a:solidFill>
                <a:latin typeface="宋体"/>
                <a:cs typeface="宋体"/>
              </a:rPr>
              <a:t>进入条件：</a:t>
            </a:r>
            <a:r>
              <a:rPr dirty="0" sz="2400">
                <a:solidFill>
                  <a:srgbClr val="9966FF"/>
                </a:solidFill>
                <a:latin typeface="宋体"/>
                <a:cs typeface="宋体"/>
              </a:rPr>
              <a:t>（</a:t>
            </a:r>
            <a:r>
              <a:rPr dirty="0" sz="2400">
                <a:solidFill>
                  <a:srgbClr val="9966FF"/>
                </a:solidFill>
                <a:latin typeface="Tahoma"/>
                <a:cs typeface="Tahoma"/>
              </a:rPr>
              <a:t>RS[</a:t>
            </a:r>
            <a:r>
              <a:rPr dirty="0" sz="2400">
                <a:solidFill>
                  <a:srgbClr val="E14B04"/>
                </a:solidFill>
                <a:latin typeface="Tahoma"/>
                <a:cs typeface="Tahoma"/>
              </a:rPr>
              <a:t>r</a:t>
            </a:r>
            <a:r>
              <a:rPr dirty="0" sz="2400">
                <a:solidFill>
                  <a:srgbClr val="9966FF"/>
                </a:solidFill>
                <a:latin typeface="Tahoma"/>
                <a:cs typeface="Tahoma"/>
              </a:rPr>
              <a:t>].Qj</a:t>
            </a:r>
            <a:r>
              <a:rPr dirty="0" sz="2400" spc="-25">
                <a:solidFill>
                  <a:srgbClr val="9966FF"/>
                </a:solidFill>
                <a:latin typeface="Tahoma"/>
                <a:cs typeface="Tahoma"/>
              </a:rPr>
              <a:t> = </a:t>
            </a:r>
            <a:r>
              <a:rPr dirty="0" sz="2400" spc="-10">
                <a:solidFill>
                  <a:srgbClr val="9966FF"/>
                </a:solidFill>
                <a:latin typeface="Tahoma"/>
                <a:cs typeface="Tahoma"/>
              </a:rPr>
              <a:t>0</a:t>
            </a:r>
            <a:r>
              <a:rPr dirty="0" sz="2400" spc="-10">
                <a:solidFill>
                  <a:srgbClr val="9966FF"/>
                </a:solidFill>
                <a:latin typeface="宋体"/>
                <a:cs typeface="宋体"/>
              </a:rPr>
              <a:t>）</a:t>
            </a:r>
            <a:r>
              <a:rPr dirty="0" sz="2400">
                <a:solidFill>
                  <a:srgbClr val="9966FF"/>
                </a:solidFill>
                <a:latin typeface="宋体"/>
                <a:cs typeface="宋体"/>
              </a:rPr>
              <a:t>且（</a:t>
            </a:r>
            <a:r>
              <a:rPr dirty="0" sz="2400">
                <a:solidFill>
                  <a:srgbClr val="9966FF"/>
                </a:solidFill>
                <a:latin typeface="Tahoma"/>
                <a:cs typeface="Tahoma"/>
              </a:rPr>
              <a:t>RS[</a:t>
            </a:r>
            <a:r>
              <a:rPr dirty="0" sz="2400">
                <a:solidFill>
                  <a:srgbClr val="E14B04"/>
                </a:solidFill>
                <a:latin typeface="Tahoma"/>
                <a:cs typeface="Tahoma"/>
              </a:rPr>
              <a:t>r</a:t>
            </a:r>
            <a:r>
              <a:rPr dirty="0" sz="2400">
                <a:solidFill>
                  <a:srgbClr val="9966FF"/>
                </a:solidFill>
                <a:latin typeface="Tahoma"/>
                <a:cs typeface="Tahoma"/>
              </a:rPr>
              <a:t>].Qk</a:t>
            </a:r>
            <a:r>
              <a:rPr dirty="0" sz="2400" spc="-20">
                <a:solidFill>
                  <a:srgbClr val="9966FF"/>
                </a:solidFill>
                <a:latin typeface="Tahoma"/>
                <a:cs typeface="Tahoma"/>
              </a:rPr>
              <a:t>= </a:t>
            </a:r>
            <a:r>
              <a:rPr dirty="0" sz="2400">
                <a:solidFill>
                  <a:srgbClr val="9966FF"/>
                </a:solidFill>
                <a:latin typeface="Tahoma"/>
                <a:cs typeface="Tahoma"/>
              </a:rPr>
              <a:t>0</a:t>
            </a:r>
            <a:r>
              <a:rPr dirty="0" sz="2400">
                <a:solidFill>
                  <a:srgbClr val="9966FF"/>
                </a:solidFill>
                <a:latin typeface="宋体"/>
                <a:cs typeface="宋体"/>
              </a:rPr>
              <a:t>）；</a:t>
            </a:r>
            <a:r>
              <a:rPr dirty="0" sz="2400" spc="-10" b="1">
                <a:solidFill>
                  <a:srgbClr val="9966FF"/>
                </a:solidFill>
                <a:latin typeface="Tahoma"/>
                <a:cs typeface="Tahoma"/>
              </a:rPr>
              <a:t>// </a:t>
            </a:r>
            <a:r>
              <a:rPr dirty="0" sz="2400" spc="-25" b="1">
                <a:solidFill>
                  <a:srgbClr val="9966FF"/>
                </a:solidFill>
                <a:latin typeface="宋体"/>
                <a:cs typeface="宋体"/>
              </a:rPr>
              <a:t>两个源操作数就绪</a:t>
            </a:r>
            <a:endParaRPr sz="2400">
              <a:latin typeface="宋体"/>
              <a:cs typeface="宋体"/>
            </a:endParaRPr>
          </a:p>
          <a:p>
            <a:pPr lvl="1" marL="798830" indent="-457200">
              <a:lnSpc>
                <a:spcPct val="100000"/>
              </a:lnSpc>
              <a:spcBef>
                <a:spcPts val="1155"/>
              </a:spcBef>
              <a:buClr>
                <a:srgbClr val="4668F5"/>
              </a:buClr>
              <a:buSzPct val="68750"/>
              <a:buFont typeface="Wingdings"/>
              <a:buChar char=""/>
              <a:tabLst>
                <a:tab pos="798830" algn="l"/>
              </a:tabLst>
            </a:pPr>
            <a:r>
              <a:rPr dirty="0" sz="2400" spc="-20" b="1">
                <a:solidFill>
                  <a:srgbClr val="D50092"/>
                </a:solidFill>
                <a:latin typeface="宋体"/>
                <a:cs typeface="宋体"/>
              </a:rPr>
              <a:t>操作和状态表内容修改：</a:t>
            </a:r>
            <a:r>
              <a:rPr dirty="0" sz="2400" spc="-60" b="1">
                <a:solidFill>
                  <a:srgbClr val="9966FF"/>
                </a:solidFill>
                <a:latin typeface="宋体"/>
                <a:cs typeface="宋体"/>
              </a:rPr>
              <a:t>进行计算，产生结果 。</a:t>
            </a:r>
            <a:endParaRPr sz="2400">
              <a:latin typeface="宋体"/>
              <a:cs typeface="宋体"/>
            </a:endParaRPr>
          </a:p>
        </p:txBody>
      </p:sp>
      <p:sp>
        <p:nvSpPr>
          <p:cNvPr id="4" name="object 4" descr=""/>
          <p:cNvSpPr txBox="1"/>
          <p:nvPr/>
        </p:nvSpPr>
        <p:spPr>
          <a:xfrm>
            <a:off x="815746" y="3147440"/>
            <a:ext cx="2988945" cy="391160"/>
          </a:xfrm>
          <a:prstGeom prst="rect">
            <a:avLst/>
          </a:prstGeom>
        </p:spPr>
        <p:txBody>
          <a:bodyPr wrap="square" lIns="0" tIns="12700" rIns="0" bIns="0" rtlCol="0" vert="horz">
            <a:spAutoFit/>
          </a:bodyPr>
          <a:lstStyle/>
          <a:p>
            <a:pPr marL="842010" indent="-829310">
              <a:lnSpc>
                <a:spcPct val="100000"/>
              </a:lnSpc>
              <a:spcBef>
                <a:spcPts val="100"/>
              </a:spcBef>
              <a:buClr>
                <a:srgbClr val="40458B"/>
              </a:buClr>
              <a:buSzPct val="89583"/>
              <a:buFont typeface="Wingdings"/>
              <a:buChar char=""/>
              <a:tabLst>
                <a:tab pos="842010" algn="l"/>
              </a:tabLst>
            </a:pPr>
            <a:r>
              <a:rPr dirty="0" sz="2400">
                <a:solidFill>
                  <a:srgbClr val="E14B04"/>
                </a:solidFill>
                <a:latin typeface="黑体"/>
                <a:cs typeface="黑体"/>
              </a:rPr>
              <a:t>load/store</a:t>
            </a:r>
            <a:r>
              <a:rPr dirty="0" sz="2400" spc="-25">
                <a:solidFill>
                  <a:srgbClr val="E14B04"/>
                </a:solidFill>
                <a:latin typeface="黑体"/>
                <a:cs typeface="黑体"/>
              </a:rPr>
              <a:t>指令</a:t>
            </a:r>
            <a:endParaRPr sz="2400">
              <a:latin typeface="黑体"/>
              <a:cs typeface="黑体"/>
            </a:endParaRPr>
          </a:p>
        </p:txBody>
      </p:sp>
      <p:sp>
        <p:nvSpPr>
          <p:cNvPr id="5" name="object 5" descr=""/>
          <p:cNvSpPr txBox="1"/>
          <p:nvPr/>
        </p:nvSpPr>
        <p:spPr>
          <a:xfrm>
            <a:off x="1144930" y="3512819"/>
            <a:ext cx="9232900" cy="1050290"/>
          </a:xfrm>
          <a:prstGeom prst="rect">
            <a:avLst/>
          </a:prstGeom>
        </p:spPr>
        <p:txBody>
          <a:bodyPr wrap="square" lIns="0" tIns="159385" rIns="0" bIns="0" rtlCol="0" vert="horz">
            <a:spAutoFit/>
          </a:bodyPr>
          <a:lstStyle/>
          <a:p>
            <a:pPr marL="469900" indent="-457200">
              <a:lnSpc>
                <a:spcPct val="100000"/>
              </a:lnSpc>
              <a:spcBef>
                <a:spcPts val="1255"/>
              </a:spcBef>
              <a:buClr>
                <a:srgbClr val="4668F5"/>
              </a:buClr>
              <a:buSzPct val="68750"/>
              <a:buFont typeface="Wingdings"/>
              <a:buChar char=""/>
              <a:tabLst>
                <a:tab pos="469900" algn="l"/>
              </a:tabLst>
            </a:pPr>
            <a:r>
              <a:rPr dirty="0" sz="2400" spc="-20" b="1">
                <a:solidFill>
                  <a:srgbClr val="D50092"/>
                </a:solidFill>
                <a:latin typeface="宋体"/>
                <a:cs typeface="宋体"/>
              </a:rPr>
              <a:t>进入条件：</a:t>
            </a:r>
            <a:r>
              <a:rPr dirty="0" sz="2400" b="1">
                <a:solidFill>
                  <a:srgbClr val="9966FF"/>
                </a:solidFill>
                <a:latin typeface="宋体"/>
                <a:cs typeface="宋体"/>
              </a:rPr>
              <a:t>（RS[</a:t>
            </a:r>
            <a:r>
              <a:rPr dirty="0" sz="2400" b="1">
                <a:solidFill>
                  <a:srgbClr val="E14B04"/>
                </a:solidFill>
                <a:latin typeface="宋体"/>
                <a:cs typeface="宋体"/>
              </a:rPr>
              <a:t>r</a:t>
            </a:r>
            <a:r>
              <a:rPr dirty="0" sz="2400" b="1">
                <a:solidFill>
                  <a:srgbClr val="9966FF"/>
                </a:solidFill>
                <a:latin typeface="宋体"/>
                <a:cs typeface="宋体"/>
              </a:rPr>
              <a:t>].Qj</a:t>
            </a:r>
            <a:r>
              <a:rPr dirty="0" sz="2400" spc="-5" b="1">
                <a:solidFill>
                  <a:srgbClr val="9966FF"/>
                </a:solidFill>
                <a:latin typeface="宋体"/>
                <a:cs typeface="宋体"/>
              </a:rPr>
              <a:t> = </a:t>
            </a:r>
            <a:r>
              <a:rPr dirty="0" sz="2400" spc="-10" b="1">
                <a:solidFill>
                  <a:srgbClr val="9966FF"/>
                </a:solidFill>
                <a:latin typeface="宋体"/>
                <a:cs typeface="宋体"/>
              </a:rPr>
              <a:t>0）</a:t>
            </a:r>
            <a:r>
              <a:rPr dirty="0" sz="2400" spc="-20" b="1">
                <a:solidFill>
                  <a:srgbClr val="9966FF"/>
                </a:solidFill>
                <a:latin typeface="宋体"/>
                <a:cs typeface="宋体"/>
              </a:rPr>
              <a:t>且</a:t>
            </a:r>
            <a:r>
              <a:rPr dirty="0" sz="2400" spc="-20" b="1">
                <a:solidFill>
                  <a:srgbClr val="E14B04"/>
                </a:solidFill>
                <a:latin typeface="宋体"/>
                <a:cs typeface="宋体"/>
              </a:rPr>
              <a:t>r</a:t>
            </a:r>
            <a:r>
              <a:rPr dirty="0" sz="2400" spc="-20" b="1">
                <a:solidFill>
                  <a:srgbClr val="9966FF"/>
                </a:solidFill>
                <a:latin typeface="宋体"/>
                <a:cs typeface="宋体"/>
              </a:rPr>
              <a:t>成为load/store</a:t>
            </a:r>
            <a:r>
              <a:rPr dirty="0" sz="2400" spc="-25" b="1">
                <a:solidFill>
                  <a:srgbClr val="9966FF"/>
                </a:solidFill>
                <a:latin typeface="宋体"/>
                <a:cs typeface="宋体"/>
              </a:rPr>
              <a:t>缓冲队列的头部</a:t>
            </a:r>
            <a:endParaRPr sz="2400">
              <a:latin typeface="宋体"/>
              <a:cs typeface="宋体"/>
            </a:endParaRPr>
          </a:p>
          <a:p>
            <a:pPr marL="469900" indent="-457200">
              <a:lnSpc>
                <a:spcPct val="100000"/>
              </a:lnSpc>
              <a:spcBef>
                <a:spcPts val="1155"/>
              </a:spcBef>
              <a:buClr>
                <a:srgbClr val="4668F5"/>
              </a:buClr>
              <a:buSzPct val="68750"/>
              <a:buFont typeface="Wingdings"/>
              <a:buChar char=""/>
              <a:tabLst>
                <a:tab pos="469900" algn="l"/>
              </a:tabLst>
            </a:pPr>
            <a:r>
              <a:rPr dirty="0" sz="2400" spc="-25" b="1">
                <a:solidFill>
                  <a:srgbClr val="D50092"/>
                </a:solidFill>
                <a:latin typeface="宋体"/>
                <a:cs typeface="宋体"/>
              </a:rPr>
              <a:t>操作和状态表内容修改：</a:t>
            </a:r>
            <a:endParaRPr sz="2400">
              <a:latin typeface="宋体"/>
              <a:cs typeface="宋体"/>
            </a:endParaRPr>
          </a:p>
        </p:txBody>
      </p:sp>
      <p:sp>
        <p:nvSpPr>
          <p:cNvPr id="6" name="object 6" descr=""/>
          <p:cNvSpPr txBox="1"/>
          <p:nvPr/>
        </p:nvSpPr>
        <p:spPr>
          <a:xfrm>
            <a:off x="1759457" y="4684014"/>
            <a:ext cx="425323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Tahoma"/>
                <a:cs typeface="Tahoma"/>
              </a:rPr>
              <a:t>RS[</a:t>
            </a:r>
            <a:r>
              <a:rPr dirty="0" sz="2400">
                <a:solidFill>
                  <a:srgbClr val="E14B04"/>
                </a:solidFill>
                <a:latin typeface="Tahoma"/>
                <a:cs typeface="Tahoma"/>
              </a:rPr>
              <a:t>r</a:t>
            </a:r>
            <a:r>
              <a:rPr dirty="0" sz="2400">
                <a:solidFill>
                  <a:srgbClr val="40458B"/>
                </a:solidFill>
                <a:latin typeface="Tahoma"/>
                <a:cs typeface="Tahoma"/>
              </a:rPr>
              <a:t>].A</a:t>
            </a:r>
            <a:r>
              <a:rPr dirty="0" sz="2400" spc="-35">
                <a:solidFill>
                  <a:srgbClr val="40458B"/>
                </a:solidFill>
                <a:latin typeface="Tahoma"/>
                <a:cs typeface="Tahoma"/>
              </a:rPr>
              <a:t> </a:t>
            </a:r>
            <a:r>
              <a:rPr dirty="0" sz="2400">
                <a:solidFill>
                  <a:srgbClr val="40458B"/>
                </a:solidFill>
                <a:latin typeface="Symbol"/>
                <a:cs typeface="Symbol"/>
              </a:rPr>
              <a:t></a:t>
            </a:r>
            <a:r>
              <a:rPr dirty="0" sz="2400" spc="120">
                <a:solidFill>
                  <a:srgbClr val="40458B"/>
                </a:solidFill>
                <a:latin typeface="Times New Roman"/>
                <a:cs typeface="Times New Roman"/>
              </a:rPr>
              <a:t> </a:t>
            </a:r>
            <a:r>
              <a:rPr dirty="0" sz="2400">
                <a:solidFill>
                  <a:srgbClr val="40458B"/>
                </a:solidFill>
                <a:latin typeface="Tahoma"/>
                <a:cs typeface="Tahoma"/>
              </a:rPr>
              <a:t>RS[</a:t>
            </a:r>
            <a:r>
              <a:rPr dirty="0" sz="2400">
                <a:solidFill>
                  <a:srgbClr val="E14B04"/>
                </a:solidFill>
                <a:latin typeface="Tahoma"/>
                <a:cs typeface="Tahoma"/>
              </a:rPr>
              <a:t>r</a:t>
            </a:r>
            <a:r>
              <a:rPr dirty="0" sz="2400">
                <a:solidFill>
                  <a:srgbClr val="40458B"/>
                </a:solidFill>
                <a:latin typeface="Tahoma"/>
                <a:cs typeface="Tahoma"/>
              </a:rPr>
              <a:t>].</a:t>
            </a:r>
            <a:r>
              <a:rPr dirty="0" sz="2400">
                <a:solidFill>
                  <a:srgbClr val="9933FF"/>
                </a:solidFill>
                <a:latin typeface="Tahoma"/>
                <a:cs typeface="Tahoma"/>
              </a:rPr>
              <a:t>Vj</a:t>
            </a:r>
            <a:r>
              <a:rPr dirty="0" sz="2400" spc="-30">
                <a:solidFill>
                  <a:srgbClr val="9933FF"/>
                </a:solidFill>
                <a:latin typeface="Tahoma"/>
                <a:cs typeface="Tahoma"/>
              </a:rPr>
              <a:t> </a:t>
            </a:r>
            <a:r>
              <a:rPr dirty="0" sz="2400">
                <a:solidFill>
                  <a:srgbClr val="40458B"/>
                </a:solidFill>
                <a:latin typeface="Tahoma"/>
                <a:cs typeface="Tahoma"/>
              </a:rPr>
              <a:t>+</a:t>
            </a:r>
            <a:r>
              <a:rPr dirty="0" sz="2400" spc="-30">
                <a:solidFill>
                  <a:srgbClr val="40458B"/>
                </a:solidFill>
                <a:latin typeface="Tahoma"/>
                <a:cs typeface="Tahoma"/>
              </a:rPr>
              <a:t> </a:t>
            </a:r>
            <a:r>
              <a:rPr dirty="0" sz="2400" spc="-10">
                <a:solidFill>
                  <a:srgbClr val="40458B"/>
                </a:solidFill>
                <a:latin typeface="Tahoma"/>
                <a:cs typeface="Tahoma"/>
              </a:rPr>
              <a:t>RS[</a:t>
            </a:r>
            <a:r>
              <a:rPr dirty="0" sz="2400" spc="-10">
                <a:solidFill>
                  <a:srgbClr val="E14B04"/>
                </a:solidFill>
                <a:latin typeface="Tahoma"/>
                <a:cs typeface="Tahoma"/>
              </a:rPr>
              <a:t>r</a:t>
            </a:r>
            <a:r>
              <a:rPr dirty="0" sz="2400" spc="-10">
                <a:solidFill>
                  <a:srgbClr val="40458B"/>
                </a:solidFill>
                <a:latin typeface="Tahoma"/>
                <a:cs typeface="Tahoma"/>
              </a:rPr>
              <a:t>].A</a:t>
            </a:r>
            <a:r>
              <a:rPr dirty="0" sz="2400" spc="-10">
                <a:solidFill>
                  <a:srgbClr val="40458B"/>
                </a:solidFill>
                <a:latin typeface="黑体"/>
                <a:cs typeface="黑体"/>
              </a:rPr>
              <a:t>；</a:t>
            </a:r>
            <a:endParaRPr sz="2400">
              <a:latin typeface="黑体"/>
              <a:cs typeface="黑体"/>
            </a:endParaRPr>
          </a:p>
        </p:txBody>
      </p:sp>
      <p:sp>
        <p:nvSpPr>
          <p:cNvPr id="7" name="object 7" descr=""/>
          <p:cNvSpPr txBox="1"/>
          <p:nvPr/>
        </p:nvSpPr>
        <p:spPr>
          <a:xfrm>
            <a:off x="6272276" y="4734305"/>
            <a:ext cx="1821180" cy="330835"/>
          </a:xfrm>
          <a:prstGeom prst="rect">
            <a:avLst/>
          </a:prstGeom>
        </p:spPr>
        <p:txBody>
          <a:bodyPr wrap="square" lIns="0" tIns="12700" rIns="0" bIns="0" rtlCol="0" vert="horz">
            <a:spAutoFit/>
          </a:bodyPr>
          <a:lstStyle/>
          <a:p>
            <a:pPr marL="12700">
              <a:lnSpc>
                <a:spcPct val="100000"/>
              </a:lnSpc>
              <a:spcBef>
                <a:spcPts val="100"/>
              </a:spcBef>
            </a:pPr>
            <a:r>
              <a:rPr dirty="0" sz="2000" spc="-20" b="1">
                <a:latin typeface="宋体"/>
                <a:cs typeface="宋体"/>
              </a:rPr>
              <a:t>//计算有效地址</a:t>
            </a:r>
            <a:endParaRPr sz="2000">
              <a:latin typeface="宋体"/>
              <a:cs typeface="宋体"/>
            </a:endParaRPr>
          </a:p>
        </p:txBody>
      </p:sp>
      <p:sp>
        <p:nvSpPr>
          <p:cNvPr id="8" name="object 8" descr=""/>
          <p:cNvSpPr txBox="1"/>
          <p:nvPr/>
        </p:nvSpPr>
        <p:spPr>
          <a:xfrm>
            <a:off x="1797557" y="5195773"/>
            <a:ext cx="7035800" cy="39179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668F5"/>
                </a:solidFill>
                <a:latin typeface="黑体"/>
                <a:cs typeface="黑体"/>
              </a:rPr>
              <a:t>对于load</a:t>
            </a:r>
            <a:r>
              <a:rPr dirty="0" sz="2400" spc="-15">
                <a:solidFill>
                  <a:srgbClr val="4668F5"/>
                </a:solidFill>
                <a:latin typeface="黑体"/>
                <a:cs typeface="黑体"/>
              </a:rPr>
              <a:t>指令，在完成有效地址计算后，还要进行：</a:t>
            </a:r>
            <a:endParaRPr sz="2400">
              <a:latin typeface="黑体"/>
              <a:cs typeface="黑体"/>
            </a:endParaRPr>
          </a:p>
        </p:txBody>
      </p:sp>
      <p:sp>
        <p:nvSpPr>
          <p:cNvPr id="9" name="object 9" descr=""/>
          <p:cNvSpPr txBox="1"/>
          <p:nvPr/>
        </p:nvSpPr>
        <p:spPr>
          <a:xfrm>
            <a:off x="1759457" y="5708396"/>
            <a:ext cx="371856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从</a:t>
            </a:r>
            <a:r>
              <a:rPr dirty="0" sz="2400" spc="-20">
                <a:solidFill>
                  <a:srgbClr val="40458B"/>
                </a:solidFill>
                <a:latin typeface="Tahoma"/>
                <a:cs typeface="Tahoma"/>
              </a:rPr>
              <a:t>Mem[RS[</a:t>
            </a:r>
            <a:r>
              <a:rPr dirty="0" sz="2400" spc="-20">
                <a:solidFill>
                  <a:srgbClr val="E14B04"/>
                </a:solidFill>
                <a:latin typeface="Tahoma"/>
                <a:cs typeface="Tahoma"/>
              </a:rPr>
              <a:t>r</a:t>
            </a:r>
            <a:r>
              <a:rPr dirty="0" sz="2400" spc="-20">
                <a:solidFill>
                  <a:srgbClr val="40458B"/>
                </a:solidFill>
                <a:latin typeface="Tahoma"/>
                <a:cs typeface="Tahoma"/>
              </a:rPr>
              <a:t>].A]</a:t>
            </a:r>
            <a:r>
              <a:rPr dirty="0" sz="2400" spc="-10">
                <a:solidFill>
                  <a:srgbClr val="40458B"/>
                </a:solidFill>
                <a:latin typeface="黑体"/>
                <a:cs typeface="黑体"/>
              </a:rPr>
              <a:t>读取数据；</a:t>
            </a:r>
            <a:endParaRPr sz="2400">
              <a:latin typeface="黑体"/>
              <a:cs typeface="黑体"/>
            </a:endParaRPr>
          </a:p>
        </p:txBody>
      </p:sp>
      <p:sp>
        <p:nvSpPr>
          <p:cNvPr id="10" name="object 10" descr=""/>
          <p:cNvSpPr txBox="1"/>
          <p:nvPr/>
        </p:nvSpPr>
        <p:spPr>
          <a:xfrm>
            <a:off x="5833364" y="5758688"/>
            <a:ext cx="2588260" cy="330835"/>
          </a:xfrm>
          <a:prstGeom prst="rect">
            <a:avLst/>
          </a:prstGeom>
        </p:spPr>
        <p:txBody>
          <a:bodyPr wrap="square" lIns="0" tIns="12700" rIns="0" bIns="0" rtlCol="0" vert="horz">
            <a:spAutoFit/>
          </a:bodyPr>
          <a:lstStyle/>
          <a:p>
            <a:pPr marL="12700">
              <a:lnSpc>
                <a:spcPct val="100000"/>
              </a:lnSpc>
              <a:spcBef>
                <a:spcPts val="100"/>
              </a:spcBef>
            </a:pPr>
            <a:r>
              <a:rPr dirty="0" sz="2000" spc="-20" b="1">
                <a:latin typeface="宋体"/>
                <a:cs typeface="宋体"/>
              </a:rPr>
              <a:t>//从存储器中读取数据</a:t>
            </a:r>
            <a:endParaRPr sz="2000">
              <a:latin typeface="宋体"/>
              <a:cs typeface="宋体"/>
            </a:endParaRPr>
          </a:p>
        </p:txBody>
      </p:sp>
      <p:sp>
        <p:nvSpPr>
          <p:cNvPr id="11" name="object 11" descr=""/>
          <p:cNvSpPr txBox="1"/>
          <p:nvPr/>
        </p:nvSpPr>
        <p:spPr>
          <a:xfrm>
            <a:off x="4014596" y="3161157"/>
            <a:ext cx="27686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当前寄存器数据就绪</a:t>
            </a:r>
            <a:endParaRPr sz="2400">
              <a:latin typeface="黑体"/>
              <a:cs typeface="黑体"/>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0063" y="28143"/>
            <a:ext cx="1708785" cy="514350"/>
          </a:xfrm>
          <a:prstGeom prst="rect"/>
        </p:spPr>
        <p:txBody>
          <a:bodyPr wrap="square" lIns="0" tIns="13335" rIns="0" bIns="0" rtlCol="0" vert="horz">
            <a:spAutoFit/>
          </a:bodyPr>
          <a:lstStyle/>
          <a:p>
            <a:pPr marL="12700">
              <a:lnSpc>
                <a:spcPct val="100000"/>
              </a:lnSpc>
              <a:spcBef>
                <a:spcPts val="105"/>
              </a:spcBef>
            </a:pPr>
            <a:r>
              <a:rPr dirty="0">
                <a:solidFill>
                  <a:srgbClr val="40458B"/>
                </a:solidFill>
                <a:latin typeface="Tahoma"/>
                <a:cs typeface="Tahoma"/>
              </a:rPr>
              <a:t>3.</a:t>
            </a:r>
            <a:r>
              <a:rPr dirty="0" spc="-145">
                <a:solidFill>
                  <a:srgbClr val="40458B"/>
                </a:solidFill>
                <a:latin typeface="Tahoma"/>
                <a:cs typeface="Tahoma"/>
              </a:rPr>
              <a:t> </a:t>
            </a:r>
            <a:r>
              <a:rPr dirty="0" spc="-20">
                <a:solidFill>
                  <a:srgbClr val="001F5F"/>
                </a:solidFill>
              </a:rPr>
              <a:t>写结果</a:t>
            </a:r>
          </a:p>
        </p:txBody>
      </p:sp>
      <p:sp>
        <p:nvSpPr>
          <p:cNvPr id="3" name="object 3" descr=""/>
          <p:cNvSpPr txBox="1"/>
          <p:nvPr/>
        </p:nvSpPr>
        <p:spPr>
          <a:xfrm>
            <a:off x="150063" y="530098"/>
            <a:ext cx="6453505" cy="1452245"/>
          </a:xfrm>
          <a:prstGeom prst="rect">
            <a:avLst/>
          </a:prstGeom>
        </p:spPr>
        <p:txBody>
          <a:bodyPr wrap="square" lIns="0" tIns="122555" rIns="0" bIns="0" rtlCol="0" vert="horz">
            <a:spAutoFit/>
          </a:bodyPr>
          <a:lstStyle/>
          <a:p>
            <a:pPr marL="12700">
              <a:lnSpc>
                <a:spcPct val="100000"/>
              </a:lnSpc>
              <a:spcBef>
                <a:spcPts val="965"/>
              </a:spcBef>
            </a:pPr>
            <a:r>
              <a:rPr dirty="0" sz="2400" spc="-5">
                <a:solidFill>
                  <a:srgbClr val="E14B04"/>
                </a:solidFill>
                <a:latin typeface="黑体"/>
                <a:cs typeface="黑体"/>
              </a:rPr>
              <a:t>浮点运算指令和</a:t>
            </a:r>
            <a:r>
              <a:rPr dirty="0" sz="2400">
                <a:solidFill>
                  <a:srgbClr val="E14B04"/>
                </a:solidFill>
                <a:latin typeface="黑体"/>
                <a:cs typeface="黑体"/>
              </a:rPr>
              <a:t>load指令（二者情况一样</a:t>
            </a:r>
            <a:r>
              <a:rPr dirty="0" sz="2400" spc="-50">
                <a:solidFill>
                  <a:srgbClr val="E14B04"/>
                </a:solidFill>
                <a:latin typeface="黑体"/>
                <a:cs typeface="黑体"/>
              </a:rPr>
              <a:t>）</a:t>
            </a:r>
            <a:endParaRPr sz="2400">
              <a:latin typeface="黑体"/>
              <a:cs typeface="黑体"/>
            </a:endParaRPr>
          </a:p>
          <a:p>
            <a:pPr marL="641985" marR="5080">
              <a:lnSpc>
                <a:spcPct val="130000"/>
              </a:lnSpc>
            </a:pPr>
            <a:r>
              <a:rPr dirty="0" sz="2400">
                <a:solidFill>
                  <a:srgbClr val="D50092"/>
                </a:solidFill>
                <a:latin typeface="黑体"/>
                <a:cs typeface="黑体"/>
              </a:rPr>
              <a:t>进入条件：</a:t>
            </a:r>
            <a:r>
              <a:rPr dirty="0" sz="2400">
                <a:solidFill>
                  <a:srgbClr val="40458B"/>
                </a:solidFill>
                <a:latin typeface="黑体"/>
                <a:cs typeface="黑体"/>
              </a:rPr>
              <a:t>保留站</a:t>
            </a:r>
            <a:r>
              <a:rPr dirty="0" sz="2400" spc="-20" b="1">
                <a:solidFill>
                  <a:srgbClr val="E14B04"/>
                </a:solidFill>
                <a:latin typeface="宋体"/>
                <a:cs typeface="宋体"/>
              </a:rPr>
              <a:t>r</a:t>
            </a:r>
            <a:r>
              <a:rPr dirty="0" sz="2400">
                <a:solidFill>
                  <a:srgbClr val="40458B"/>
                </a:solidFill>
                <a:latin typeface="黑体"/>
                <a:cs typeface="黑体"/>
              </a:rPr>
              <a:t>执行结束，且</a:t>
            </a:r>
            <a:r>
              <a:rPr dirty="0" sz="2400" spc="-20" b="1">
                <a:solidFill>
                  <a:srgbClr val="9933FF"/>
                </a:solidFill>
                <a:latin typeface="宋体"/>
                <a:cs typeface="宋体"/>
              </a:rPr>
              <a:t>CDB</a:t>
            </a:r>
            <a:r>
              <a:rPr dirty="0" sz="2400" spc="-20">
                <a:solidFill>
                  <a:srgbClr val="40458B"/>
                </a:solidFill>
                <a:latin typeface="黑体"/>
                <a:cs typeface="黑体"/>
              </a:rPr>
              <a:t>就绪。</a:t>
            </a:r>
            <a:r>
              <a:rPr dirty="0" sz="2400" spc="-15">
                <a:solidFill>
                  <a:srgbClr val="D50092"/>
                </a:solidFill>
                <a:latin typeface="黑体"/>
                <a:cs typeface="黑体"/>
              </a:rPr>
              <a:t>操作和状态表内容修改：两个操作数</a:t>
            </a:r>
            <a:endParaRPr sz="2400">
              <a:latin typeface="黑体"/>
              <a:cs typeface="黑体"/>
            </a:endParaRPr>
          </a:p>
        </p:txBody>
      </p:sp>
      <p:sp>
        <p:nvSpPr>
          <p:cNvPr id="4" name="object 4" descr=""/>
          <p:cNvSpPr txBox="1"/>
          <p:nvPr/>
        </p:nvSpPr>
        <p:spPr>
          <a:xfrm>
            <a:off x="779780" y="2066671"/>
            <a:ext cx="2988310" cy="391160"/>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40458B"/>
                </a:solidFill>
                <a:latin typeface="Symbol"/>
                <a:cs typeface="Symbol"/>
              </a:rPr>
              <a:t></a:t>
            </a:r>
            <a:r>
              <a:rPr dirty="0" sz="2400" b="1">
                <a:solidFill>
                  <a:srgbClr val="40458B"/>
                </a:solidFill>
                <a:latin typeface="Tahoma"/>
                <a:cs typeface="Tahoma"/>
              </a:rPr>
              <a:t>x</a:t>
            </a:r>
            <a:r>
              <a:rPr dirty="0" sz="2400" spc="-55" b="1">
                <a:solidFill>
                  <a:srgbClr val="40458B"/>
                </a:solidFill>
                <a:latin typeface="Tahoma"/>
                <a:cs typeface="Tahoma"/>
              </a:rPr>
              <a:t> </a:t>
            </a:r>
            <a:r>
              <a:rPr dirty="0" sz="2400" b="1">
                <a:solidFill>
                  <a:srgbClr val="40458B"/>
                </a:solidFill>
                <a:latin typeface="黑体"/>
                <a:cs typeface="黑体"/>
              </a:rPr>
              <a:t>（</a:t>
            </a:r>
            <a:r>
              <a:rPr dirty="0" sz="2400" b="1">
                <a:solidFill>
                  <a:srgbClr val="40458B"/>
                </a:solidFill>
                <a:latin typeface="Tahoma"/>
                <a:cs typeface="Tahoma"/>
              </a:rPr>
              <a:t>if</a:t>
            </a:r>
            <a:r>
              <a:rPr dirty="0" sz="2400" b="1">
                <a:solidFill>
                  <a:srgbClr val="40458B"/>
                </a:solidFill>
                <a:latin typeface="黑体"/>
                <a:cs typeface="黑体"/>
              </a:rPr>
              <a:t>（</a:t>
            </a:r>
            <a:r>
              <a:rPr dirty="0" sz="2400" b="1">
                <a:solidFill>
                  <a:srgbClr val="40458B"/>
                </a:solidFill>
                <a:latin typeface="Tahoma"/>
                <a:cs typeface="Tahoma"/>
              </a:rPr>
              <a:t>Qi[</a:t>
            </a:r>
            <a:r>
              <a:rPr dirty="0" sz="2400" b="1">
                <a:solidFill>
                  <a:srgbClr val="9933FF"/>
                </a:solidFill>
                <a:latin typeface="Tahoma"/>
                <a:cs typeface="Tahoma"/>
              </a:rPr>
              <a:t>x</a:t>
            </a:r>
            <a:r>
              <a:rPr dirty="0" sz="2400" b="1">
                <a:solidFill>
                  <a:srgbClr val="40458B"/>
                </a:solidFill>
                <a:latin typeface="Tahoma"/>
                <a:cs typeface="Tahoma"/>
              </a:rPr>
              <a:t>]</a:t>
            </a:r>
            <a:r>
              <a:rPr dirty="0" sz="2400" spc="-35" b="1">
                <a:solidFill>
                  <a:srgbClr val="40458B"/>
                </a:solidFill>
                <a:latin typeface="Tahoma"/>
                <a:cs typeface="Tahoma"/>
              </a:rPr>
              <a:t> </a:t>
            </a:r>
            <a:r>
              <a:rPr dirty="0" sz="2400" b="1">
                <a:solidFill>
                  <a:srgbClr val="40458B"/>
                </a:solidFill>
                <a:latin typeface="Tahoma"/>
                <a:cs typeface="Tahoma"/>
              </a:rPr>
              <a:t>=</a:t>
            </a:r>
            <a:r>
              <a:rPr dirty="0" sz="2400" spc="-45" b="1">
                <a:solidFill>
                  <a:srgbClr val="40458B"/>
                </a:solidFill>
                <a:latin typeface="Tahoma"/>
                <a:cs typeface="Tahoma"/>
              </a:rPr>
              <a:t> </a:t>
            </a:r>
            <a:r>
              <a:rPr dirty="0" sz="2400" spc="-25" b="1">
                <a:solidFill>
                  <a:srgbClr val="E14B04"/>
                </a:solidFill>
                <a:latin typeface="Tahoma"/>
                <a:cs typeface="Tahoma"/>
              </a:rPr>
              <a:t>r</a:t>
            </a:r>
            <a:r>
              <a:rPr dirty="0" sz="2400" spc="-25" b="1">
                <a:solidFill>
                  <a:srgbClr val="40458B"/>
                </a:solidFill>
                <a:latin typeface="黑体"/>
                <a:cs typeface="黑体"/>
              </a:rPr>
              <a:t>）</a:t>
            </a:r>
            <a:endParaRPr sz="2400">
              <a:latin typeface="黑体"/>
              <a:cs typeface="黑体"/>
            </a:endParaRPr>
          </a:p>
        </p:txBody>
      </p:sp>
      <p:sp>
        <p:nvSpPr>
          <p:cNvPr id="5" name="object 5" descr=""/>
          <p:cNvSpPr txBox="1"/>
          <p:nvPr/>
        </p:nvSpPr>
        <p:spPr>
          <a:xfrm>
            <a:off x="4437634" y="2009368"/>
            <a:ext cx="7282180" cy="851535"/>
          </a:xfrm>
          <a:prstGeom prst="rect">
            <a:avLst/>
          </a:prstGeom>
        </p:spPr>
        <p:txBody>
          <a:bodyPr wrap="square" lIns="0" tIns="12700" rIns="0" bIns="0" rtlCol="0" vert="horz">
            <a:spAutoFit/>
          </a:bodyPr>
          <a:lstStyle/>
          <a:p>
            <a:pPr marL="85725" marR="5080" indent="-73660">
              <a:lnSpc>
                <a:spcPct val="135500"/>
              </a:lnSpc>
              <a:spcBef>
                <a:spcPts val="100"/>
              </a:spcBef>
            </a:pPr>
            <a:r>
              <a:rPr dirty="0" sz="2000" spc="-20" b="1">
                <a:latin typeface="宋体"/>
                <a:cs typeface="宋体"/>
              </a:rPr>
              <a:t>// 对于任何一个正在等该结果的浮点寄存器</a:t>
            </a:r>
            <a:r>
              <a:rPr dirty="0" sz="2000" spc="-25" b="1">
                <a:solidFill>
                  <a:srgbClr val="9933FF"/>
                </a:solidFill>
                <a:latin typeface="宋体"/>
                <a:cs typeface="宋体"/>
              </a:rPr>
              <a:t>x</a:t>
            </a:r>
            <a:r>
              <a:rPr dirty="0" sz="2000" spc="-235" b="1">
                <a:solidFill>
                  <a:srgbClr val="9933FF"/>
                </a:solidFill>
                <a:latin typeface="宋体"/>
                <a:cs typeface="宋体"/>
              </a:rPr>
              <a:t>， </a:t>
            </a:r>
            <a:r>
              <a:rPr dirty="0" sz="2000" b="1">
                <a:solidFill>
                  <a:srgbClr val="40458B"/>
                </a:solidFill>
                <a:latin typeface="黑体"/>
                <a:cs typeface="黑体"/>
              </a:rPr>
              <a:t>对应</a:t>
            </a:r>
            <a:r>
              <a:rPr dirty="0" sz="2000" spc="-10" b="1">
                <a:solidFill>
                  <a:srgbClr val="40458B"/>
                </a:solidFill>
                <a:latin typeface="Tahoma"/>
                <a:cs typeface="Tahoma"/>
              </a:rPr>
              <a:t>Qi</a:t>
            </a:r>
            <a:r>
              <a:rPr dirty="0" sz="2000" spc="-20" b="1">
                <a:solidFill>
                  <a:srgbClr val="40458B"/>
                </a:solidFill>
                <a:latin typeface="黑体"/>
                <a:cs typeface="黑体"/>
              </a:rPr>
              <a:t>中存放的就是这个保留站</a:t>
            </a:r>
            <a:endParaRPr sz="2000">
              <a:latin typeface="黑体"/>
              <a:cs typeface="黑体"/>
            </a:endParaRPr>
          </a:p>
        </p:txBody>
      </p:sp>
      <p:sp>
        <p:nvSpPr>
          <p:cNvPr id="6" name="object 6" descr=""/>
          <p:cNvSpPr txBox="1"/>
          <p:nvPr/>
        </p:nvSpPr>
        <p:spPr>
          <a:xfrm>
            <a:off x="1125727" y="2938094"/>
            <a:ext cx="3141345" cy="391795"/>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40458B"/>
                </a:solidFill>
                <a:latin typeface="Symbol"/>
                <a:cs typeface="Symbol"/>
              </a:rPr>
              <a:t></a:t>
            </a:r>
            <a:r>
              <a:rPr dirty="0" sz="2400" spc="70">
                <a:solidFill>
                  <a:srgbClr val="40458B"/>
                </a:solidFill>
                <a:latin typeface="Times New Roman"/>
                <a:cs typeface="Times New Roman"/>
              </a:rPr>
              <a:t> </a:t>
            </a:r>
            <a:r>
              <a:rPr dirty="0" sz="2400" b="1">
                <a:solidFill>
                  <a:srgbClr val="40458B"/>
                </a:solidFill>
                <a:latin typeface="Tahoma"/>
                <a:cs typeface="Tahoma"/>
              </a:rPr>
              <a:t>Regs[</a:t>
            </a:r>
            <a:r>
              <a:rPr dirty="0" sz="2400" b="1">
                <a:solidFill>
                  <a:srgbClr val="9933FF"/>
                </a:solidFill>
                <a:latin typeface="Tahoma"/>
                <a:cs typeface="Tahoma"/>
              </a:rPr>
              <a:t>x</a:t>
            </a:r>
            <a:r>
              <a:rPr dirty="0" sz="2400" b="1">
                <a:solidFill>
                  <a:srgbClr val="40458B"/>
                </a:solidFill>
                <a:latin typeface="Tahoma"/>
                <a:cs typeface="Tahoma"/>
              </a:rPr>
              <a:t>]</a:t>
            </a:r>
            <a:r>
              <a:rPr dirty="0" sz="2400" spc="-40" b="1">
                <a:solidFill>
                  <a:srgbClr val="40458B"/>
                </a:solidFill>
                <a:latin typeface="Tahoma"/>
                <a:cs typeface="Tahoma"/>
              </a:rPr>
              <a:t> </a:t>
            </a:r>
            <a:r>
              <a:rPr dirty="0" sz="2400" b="1">
                <a:solidFill>
                  <a:srgbClr val="40458B"/>
                </a:solidFill>
                <a:latin typeface="Symbol"/>
                <a:cs typeface="Symbol"/>
              </a:rPr>
              <a:t></a:t>
            </a:r>
            <a:r>
              <a:rPr dirty="0" sz="2400" spc="100">
                <a:solidFill>
                  <a:srgbClr val="40458B"/>
                </a:solidFill>
                <a:latin typeface="Times New Roman"/>
                <a:cs typeface="Times New Roman"/>
              </a:rPr>
              <a:t> </a:t>
            </a:r>
            <a:r>
              <a:rPr dirty="0" sz="2400" spc="-10" b="1">
                <a:solidFill>
                  <a:srgbClr val="40458B"/>
                </a:solidFill>
                <a:latin typeface="Tahoma"/>
                <a:cs typeface="Tahoma"/>
              </a:rPr>
              <a:t>result</a:t>
            </a:r>
            <a:r>
              <a:rPr dirty="0" sz="2400" spc="-10" b="1">
                <a:solidFill>
                  <a:srgbClr val="40458B"/>
                </a:solidFill>
                <a:latin typeface="黑体"/>
                <a:cs typeface="黑体"/>
              </a:rPr>
              <a:t>；</a:t>
            </a:r>
            <a:endParaRPr sz="2400">
              <a:latin typeface="黑体"/>
              <a:cs typeface="黑体"/>
            </a:endParaRPr>
          </a:p>
        </p:txBody>
      </p:sp>
      <p:sp>
        <p:nvSpPr>
          <p:cNvPr id="7" name="object 7" descr=""/>
          <p:cNvSpPr txBox="1"/>
          <p:nvPr/>
        </p:nvSpPr>
        <p:spPr>
          <a:xfrm>
            <a:off x="4437634" y="2988386"/>
            <a:ext cx="2715260" cy="331470"/>
          </a:xfrm>
          <a:prstGeom prst="rect">
            <a:avLst/>
          </a:prstGeom>
        </p:spPr>
        <p:txBody>
          <a:bodyPr wrap="square" lIns="0" tIns="13335" rIns="0" bIns="0" rtlCol="0" vert="horz">
            <a:spAutoFit/>
          </a:bodyPr>
          <a:lstStyle/>
          <a:p>
            <a:pPr marL="12700">
              <a:lnSpc>
                <a:spcPct val="100000"/>
              </a:lnSpc>
              <a:spcBef>
                <a:spcPts val="105"/>
              </a:spcBef>
            </a:pPr>
            <a:r>
              <a:rPr dirty="0" sz="2000" spc="-20" b="1">
                <a:latin typeface="宋体"/>
                <a:cs typeface="宋体"/>
              </a:rPr>
              <a:t>// 向该寄存器写入结果</a:t>
            </a:r>
            <a:endParaRPr sz="2000">
              <a:latin typeface="宋体"/>
              <a:cs typeface="宋体"/>
            </a:endParaRPr>
          </a:p>
        </p:txBody>
      </p:sp>
      <p:sp>
        <p:nvSpPr>
          <p:cNvPr id="8" name="object 8" descr=""/>
          <p:cNvSpPr txBox="1"/>
          <p:nvPr/>
        </p:nvSpPr>
        <p:spPr>
          <a:xfrm>
            <a:off x="1491488" y="3414141"/>
            <a:ext cx="7254240" cy="391160"/>
          </a:xfrm>
          <a:prstGeom prst="rect">
            <a:avLst/>
          </a:prstGeom>
        </p:spPr>
        <p:txBody>
          <a:bodyPr wrap="square" lIns="0" tIns="12700" rIns="0" bIns="0" rtlCol="0" vert="horz">
            <a:spAutoFit/>
          </a:bodyPr>
          <a:lstStyle/>
          <a:p>
            <a:pPr marL="12700">
              <a:lnSpc>
                <a:spcPct val="100000"/>
              </a:lnSpc>
              <a:spcBef>
                <a:spcPts val="100"/>
              </a:spcBef>
              <a:tabLst>
                <a:tab pos="2490470" algn="l"/>
              </a:tabLst>
            </a:pPr>
            <a:r>
              <a:rPr dirty="0" sz="2400" b="1">
                <a:solidFill>
                  <a:srgbClr val="40458B"/>
                </a:solidFill>
                <a:latin typeface="Tahoma"/>
                <a:cs typeface="Tahoma"/>
              </a:rPr>
              <a:t>Qi[</a:t>
            </a:r>
            <a:r>
              <a:rPr dirty="0" sz="2400" b="1">
                <a:solidFill>
                  <a:srgbClr val="9933FF"/>
                </a:solidFill>
                <a:latin typeface="Tahoma"/>
                <a:cs typeface="Tahoma"/>
              </a:rPr>
              <a:t>x</a:t>
            </a:r>
            <a:r>
              <a:rPr dirty="0" sz="2400" spc="-25" b="1">
                <a:solidFill>
                  <a:srgbClr val="40458B"/>
                </a:solidFill>
                <a:latin typeface="Tahoma"/>
                <a:cs typeface="Tahoma"/>
              </a:rPr>
              <a:t>] </a:t>
            </a:r>
            <a:r>
              <a:rPr dirty="0" sz="2400" b="1">
                <a:solidFill>
                  <a:srgbClr val="40458B"/>
                </a:solidFill>
                <a:latin typeface="Symbol"/>
                <a:cs typeface="Symbol"/>
              </a:rPr>
              <a:t></a:t>
            </a:r>
            <a:r>
              <a:rPr dirty="0" sz="2400" spc="65">
                <a:solidFill>
                  <a:srgbClr val="40458B"/>
                </a:solidFill>
                <a:latin typeface="Times New Roman"/>
                <a:cs typeface="Times New Roman"/>
              </a:rPr>
              <a:t> </a:t>
            </a:r>
            <a:r>
              <a:rPr dirty="0" sz="2400" spc="-25" b="1">
                <a:solidFill>
                  <a:srgbClr val="40458B"/>
                </a:solidFill>
                <a:latin typeface="Tahoma"/>
                <a:cs typeface="Tahoma"/>
              </a:rPr>
              <a:t>0</a:t>
            </a:r>
            <a:r>
              <a:rPr dirty="0" sz="2400" spc="-25" b="1">
                <a:solidFill>
                  <a:srgbClr val="40458B"/>
                </a:solidFill>
                <a:latin typeface="黑体"/>
                <a:cs typeface="黑体"/>
              </a:rPr>
              <a:t>；</a:t>
            </a:r>
            <a:r>
              <a:rPr dirty="0" sz="2400" b="1">
                <a:solidFill>
                  <a:srgbClr val="40458B"/>
                </a:solidFill>
                <a:latin typeface="黑体"/>
                <a:cs typeface="黑体"/>
              </a:rPr>
              <a:t>	</a:t>
            </a:r>
            <a:r>
              <a:rPr dirty="0" sz="2400" spc="-25" b="1">
                <a:latin typeface="宋体"/>
                <a:cs typeface="宋体"/>
              </a:rPr>
              <a:t>// 把该寄存器的状态置为数据就绪</a:t>
            </a:r>
            <a:endParaRPr sz="2400">
              <a:latin typeface="宋体"/>
              <a:cs typeface="宋体"/>
            </a:endParaRPr>
          </a:p>
        </p:txBody>
      </p:sp>
      <p:sp>
        <p:nvSpPr>
          <p:cNvPr id="9" name="object 9" descr=""/>
          <p:cNvSpPr txBox="1"/>
          <p:nvPr/>
        </p:nvSpPr>
        <p:spPr>
          <a:xfrm>
            <a:off x="792276" y="3889629"/>
            <a:ext cx="3234055" cy="1057910"/>
          </a:xfrm>
          <a:prstGeom prst="rect">
            <a:avLst/>
          </a:prstGeom>
        </p:spPr>
        <p:txBody>
          <a:bodyPr wrap="square" lIns="0" tIns="12700" rIns="0" bIns="0" rtlCol="0" vert="horz">
            <a:spAutoFit/>
          </a:bodyPr>
          <a:lstStyle/>
          <a:p>
            <a:pPr marL="356235">
              <a:lnSpc>
                <a:spcPct val="100000"/>
              </a:lnSpc>
              <a:spcBef>
                <a:spcPts val="100"/>
              </a:spcBef>
            </a:pPr>
            <a:r>
              <a:rPr dirty="0" sz="2400" spc="-50" b="1">
                <a:solidFill>
                  <a:srgbClr val="40458B"/>
                </a:solidFill>
                <a:latin typeface="Symbol"/>
                <a:cs typeface="Symbol"/>
              </a:rPr>
              <a:t></a:t>
            </a:r>
            <a:endParaRPr sz="2400">
              <a:latin typeface="Symbol"/>
              <a:cs typeface="Symbol"/>
            </a:endParaRPr>
          </a:p>
          <a:p>
            <a:pPr marL="12700">
              <a:lnSpc>
                <a:spcPct val="100000"/>
              </a:lnSpc>
              <a:spcBef>
                <a:spcPts val="2365"/>
              </a:spcBef>
            </a:pPr>
            <a:r>
              <a:rPr dirty="0" sz="2400" b="1">
                <a:solidFill>
                  <a:srgbClr val="40458B"/>
                </a:solidFill>
                <a:latin typeface="Symbol"/>
                <a:cs typeface="Symbol"/>
              </a:rPr>
              <a:t></a:t>
            </a:r>
            <a:r>
              <a:rPr dirty="0" sz="2400">
                <a:solidFill>
                  <a:srgbClr val="FF0000"/>
                </a:solidFill>
                <a:latin typeface="Tahoma"/>
                <a:cs typeface="Tahoma"/>
              </a:rPr>
              <a:t>x</a:t>
            </a:r>
            <a:r>
              <a:rPr dirty="0" sz="2400" spc="-55">
                <a:solidFill>
                  <a:srgbClr val="FF0000"/>
                </a:solidFill>
                <a:latin typeface="Tahoma"/>
                <a:cs typeface="Tahoma"/>
              </a:rPr>
              <a:t> </a:t>
            </a:r>
            <a:r>
              <a:rPr dirty="0" sz="2400" b="1">
                <a:solidFill>
                  <a:srgbClr val="40458B"/>
                </a:solidFill>
                <a:latin typeface="黑体"/>
                <a:cs typeface="黑体"/>
              </a:rPr>
              <a:t>（</a:t>
            </a:r>
            <a:r>
              <a:rPr dirty="0" sz="2400">
                <a:solidFill>
                  <a:srgbClr val="40458B"/>
                </a:solidFill>
                <a:latin typeface="Tahoma"/>
                <a:cs typeface="Tahoma"/>
              </a:rPr>
              <a:t>if</a:t>
            </a:r>
            <a:r>
              <a:rPr dirty="0" sz="2400" b="1">
                <a:solidFill>
                  <a:srgbClr val="40458B"/>
                </a:solidFill>
                <a:latin typeface="黑体"/>
                <a:cs typeface="黑体"/>
              </a:rPr>
              <a:t>（</a:t>
            </a:r>
            <a:r>
              <a:rPr dirty="0" sz="2400">
                <a:solidFill>
                  <a:srgbClr val="40458B"/>
                </a:solidFill>
                <a:latin typeface="Tahoma"/>
                <a:cs typeface="Tahoma"/>
              </a:rPr>
              <a:t>RS[</a:t>
            </a:r>
            <a:r>
              <a:rPr dirty="0" sz="2400">
                <a:solidFill>
                  <a:srgbClr val="9933FF"/>
                </a:solidFill>
                <a:latin typeface="Tahoma"/>
                <a:cs typeface="Tahoma"/>
              </a:rPr>
              <a:t>x</a:t>
            </a:r>
            <a:r>
              <a:rPr dirty="0" sz="2400">
                <a:solidFill>
                  <a:srgbClr val="40458B"/>
                </a:solidFill>
                <a:latin typeface="Tahoma"/>
                <a:cs typeface="Tahoma"/>
              </a:rPr>
              <a:t>].Qj</a:t>
            </a:r>
            <a:r>
              <a:rPr dirty="0" sz="2400" spc="-45">
                <a:solidFill>
                  <a:srgbClr val="40458B"/>
                </a:solidFill>
                <a:latin typeface="Tahoma"/>
                <a:cs typeface="Tahoma"/>
              </a:rPr>
              <a:t> </a:t>
            </a:r>
            <a:r>
              <a:rPr dirty="0" sz="2400">
                <a:solidFill>
                  <a:srgbClr val="40458B"/>
                </a:solidFill>
                <a:latin typeface="Tahoma"/>
                <a:cs typeface="Tahoma"/>
              </a:rPr>
              <a:t>=</a:t>
            </a:r>
            <a:r>
              <a:rPr dirty="0" sz="2400" spc="-35">
                <a:solidFill>
                  <a:srgbClr val="40458B"/>
                </a:solidFill>
                <a:latin typeface="Tahoma"/>
                <a:cs typeface="Tahoma"/>
              </a:rPr>
              <a:t> </a:t>
            </a:r>
            <a:r>
              <a:rPr dirty="0" sz="2400" spc="-35">
                <a:solidFill>
                  <a:srgbClr val="E14B04"/>
                </a:solidFill>
                <a:latin typeface="Tahoma"/>
                <a:cs typeface="Tahoma"/>
              </a:rPr>
              <a:t>r</a:t>
            </a:r>
            <a:r>
              <a:rPr dirty="0" sz="2400" spc="-35" b="1">
                <a:solidFill>
                  <a:srgbClr val="40458B"/>
                </a:solidFill>
                <a:latin typeface="黑体"/>
                <a:cs typeface="黑体"/>
              </a:rPr>
              <a:t>）</a:t>
            </a:r>
            <a:endParaRPr sz="2400">
              <a:latin typeface="黑体"/>
              <a:cs typeface="黑体"/>
            </a:endParaRPr>
          </a:p>
        </p:txBody>
      </p:sp>
      <p:grpSp>
        <p:nvGrpSpPr>
          <p:cNvPr id="10" name="object 10" descr=""/>
          <p:cNvGrpSpPr/>
          <p:nvPr/>
        </p:nvGrpSpPr>
        <p:grpSpPr>
          <a:xfrm>
            <a:off x="7321613" y="1289113"/>
            <a:ext cx="4516755" cy="657225"/>
            <a:chOff x="7321613" y="1289113"/>
            <a:chExt cx="4516755" cy="657225"/>
          </a:xfrm>
        </p:grpSpPr>
        <p:sp>
          <p:nvSpPr>
            <p:cNvPr id="11" name="object 11" descr=""/>
            <p:cNvSpPr/>
            <p:nvPr/>
          </p:nvSpPr>
          <p:spPr>
            <a:xfrm>
              <a:off x="7326376" y="1293875"/>
              <a:ext cx="4507230" cy="647700"/>
            </a:xfrm>
            <a:custGeom>
              <a:avLst/>
              <a:gdLst/>
              <a:ahLst/>
              <a:cxnLst/>
              <a:rect l="l" t="t" r="r" b="b"/>
              <a:pathLst>
                <a:path w="4507230" h="647700">
                  <a:moveTo>
                    <a:pt x="4506849" y="0"/>
                  </a:moveTo>
                  <a:lnTo>
                    <a:pt x="0" y="0"/>
                  </a:lnTo>
                  <a:lnTo>
                    <a:pt x="0" y="647700"/>
                  </a:lnTo>
                  <a:lnTo>
                    <a:pt x="4506849" y="647700"/>
                  </a:lnTo>
                  <a:lnTo>
                    <a:pt x="4506849" y="0"/>
                  </a:lnTo>
                  <a:close/>
                </a:path>
              </a:pathLst>
            </a:custGeom>
            <a:solidFill>
              <a:srgbClr val="EBD782"/>
            </a:solidFill>
          </p:spPr>
          <p:txBody>
            <a:bodyPr wrap="square" lIns="0" tIns="0" rIns="0" bIns="0" rtlCol="0"/>
            <a:lstStyle/>
            <a:p/>
          </p:txBody>
        </p:sp>
        <p:sp>
          <p:nvSpPr>
            <p:cNvPr id="12" name="object 12" descr=""/>
            <p:cNvSpPr/>
            <p:nvPr/>
          </p:nvSpPr>
          <p:spPr>
            <a:xfrm>
              <a:off x="7326376" y="1293875"/>
              <a:ext cx="4507230" cy="647700"/>
            </a:xfrm>
            <a:custGeom>
              <a:avLst/>
              <a:gdLst/>
              <a:ahLst/>
              <a:cxnLst/>
              <a:rect l="l" t="t" r="r" b="b"/>
              <a:pathLst>
                <a:path w="4507230" h="647700">
                  <a:moveTo>
                    <a:pt x="0" y="647700"/>
                  </a:moveTo>
                  <a:lnTo>
                    <a:pt x="4506849" y="647700"/>
                  </a:lnTo>
                  <a:lnTo>
                    <a:pt x="4506849" y="0"/>
                  </a:lnTo>
                  <a:lnTo>
                    <a:pt x="0" y="0"/>
                  </a:lnTo>
                  <a:lnTo>
                    <a:pt x="0" y="647700"/>
                  </a:lnTo>
                  <a:close/>
                </a:path>
              </a:pathLst>
            </a:custGeom>
            <a:ln w="9525">
              <a:solidFill>
                <a:srgbClr val="40458B"/>
              </a:solidFill>
            </a:ln>
          </p:spPr>
          <p:txBody>
            <a:bodyPr wrap="square" lIns="0" tIns="0" rIns="0" bIns="0" rtlCol="0"/>
            <a:lstStyle/>
            <a:p/>
          </p:txBody>
        </p:sp>
      </p:grpSp>
      <p:sp>
        <p:nvSpPr>
          <p:cNvPr id="13" name="object 13" descr=""/>
          <p:cNvSpPr txBox="1"/>
          <p:nvPr/>
        </p:nvSpPr>
        <p:spPr>
          <a:xfrm>
            <a:off x="7500619" y="1327150"/>
            <a:ext cx="42926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如果操作数一：寄存器，等结果</a:t>
            </a:r>
            <a:endParaRPr sz="2400">
              <a:latin typeface="黑体"/>
              <a:cs typeface="黑体"/>
            </a:endParaRPr>
          </a:p>
        </p:txBody>
      </p:sp>
      <p:grpSp>
        <p:nvGrpSpPr>
          <p:cNvPr id="14" name="object 14" descr=""/>
          <p:cNvGrpSpPr/>
          <p:nvPr/>
        </p:nvGrpSpPr>
        <p:grpSpPr>
          <a:xfrm>
            <a:off x="7604188" y="3960748"/>
            <a:ext cx="4516755" cy="659130"/>
            <a:chOff x="7604188" y="3960748"/>
            <a:chExt cx="4516755" cy="659130"/>
          </a:xfrm>
        </p:grpSpPr>
        <p:sp>
          <p:nvSpPr>
            <p:cNvPr id="15" name="object 15" descr=""/>
            <p:cNvSpPr/>
            <p:nvPr/>
          </p:nvSpPr>
          <p:spPr>
            <a:xfrm>
              <a:off x="7608951" y="3965511"/>
              <a:ext cx="4507230" cy="649605"/>
            </a:xfrm>
            <a:custGeom>
              <a:avLst/>
              <a:gdLst/>
              <a:ahLst/>
              <a:cxnLst/>
              <a:rect l="l" t="t" r="r" b="b"/>
              <a:pathLst>
                <a:path w="4507230" h="649604">
                  <a:moveTo>
                    <a:pt x="4506849" y="0"/>
                  </a:moveTo>
                  <a:lnTo>
                    <a:pt x="0" y="0"/>
                  </a:lnTo>
                  <a:lnTo>
                    <a:pt x="0" y="649287"/>
                  </a:lnTo>
                  <a:lnTo>
                    <a:pt x="4506849" y="649287"/>
                  </a:lnTo>
                  <a:lnTo>
                    <a:pt x="4506849" y="0"/>
                  </a:lnTo>
                  <a:close/>
                </a:path>
              </a:pathLst>
            </a:custGeom>
            <a:solidFill>
              <a:srgbClr val="EBD782"/>
            </a:solidFill>
          </p:spPr>
          <p:txBody>
            <a:bodyPr wrap="square" lIns="0" tIns="0" rIns="0" bIns="0" rtlCol="0"/>
            <a:lstStyle/>
            <a:p/>
          </p:txBody>
        </p:sp>
        <p:sp>
          <p:nvSpPr>
            <p:cNvPr id="16" name="object 16" descr=""/>
            <p:cNvSpPr/>
            <p:nvPr/>
          </p:nvSpPr>
          <p:spPr>
            <a:xfrm>
              <a:off x="7608951" y="3965511"/>
              <a:ext cx="4507230" cy="649605"/>
            </a:xfrm>
            <a:custGeom>
              <a:avLst/>
              <a:gdLst/>
              <a:ahLst/>
              <a:cxnLst/>
              <a:rect l="l" t="t" r="r" b="b"/>
              <a:pathLst>
                <a:path w="4507230" h="649604">
                  <a:moveTo>
                    <a:pt x="0" y="649287"/>
                  </a:moveTo>
                  <a:lnTo>
                    <a:pt x="4506849" y="649287"/>
                  </a:lnTo>
                  <a:lnTo>
                    <a:pt x="4506849" y="0"/>
                  </a:lnTo>
                  <a:lnTo>
                    <a:pt x="0" y="0"/>
                  </a:lnTo>
                  <a:lnTo>
                    <a:pt x="0" y="649287"/>
                  </a:lnTo>
                  <a:close/>
                </a:path>
              </a:pathLst>
            </a:custGeom>
            <a:ln w="9525">
              <a:solidFill>
                <a:srgbClr val="40458B"/>
              </a:solidFill>
            </a:ln>
          </p:spPr>
          <p:txBody>
            <a:bodyPr wrap="square" lIns="0" tIns="0" rIns="0" bIns="0" rtlCol="0"/>
            <a:lstStyle/>
            <a:p/>
          </p:txBody>
        </p:sp>
      </p:grpSp>
      <p:sp>
        <p:nvSpPr>
          <p:cNvPr id="17" name="object 17" descr=""/>
          <p:cNvSpPr txBox="1"/>
          <p:nvPr/>
        </p:nvSpPr>
        <p:spPr>
          <a:xfrm>
            <a:off x="7783194" y="3999738"/>
            <a:ext cx="42926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如果操作数一：保留站，等结果</a:t>
            </a:r>
            <a:endParaRPr sz="2400">
              <a:latin typeface="黑体"/>
              <a:cs typeface="黑体"/>
            </a:endParaRPr>
          </a:p>
        </p:txBody>
      </p:sp>
      <p:sp>
        <p:nvSpPr>
          <p:cNvPr id="18" name="object 18" descr=""/>
          <p:cNvSpPr txBox="1"/>
          <p:nvPr/>
        </p:nvSpPr>
        <p:spPr>
          <a:xfrm>
            <a:off x="4450460" y="4499382"/>
            <a:ext cx="6936740" cy="851535"/>
          </a:xfrm>
          <a:prstGeom prst="rect">
            <a:avLst/>
          </a:prstGeom>
        </p:spPr>
        <p:txBody>
          <a:bodyPr wrap="square" lIns="0" tIns="120014" rIns="0" bIns="0" rtlCol="0" vert="horz">
            <a:spAutoFit/>
          </a:bodyPr>
          <a:lstStyle/>
          <a:p>
            <a:pPr marL="12700">
              <a:lnSpc>
                <a:spcPct val="100000"/>
              </a:lnSpc>
              <a:spcBef>
                <a:spcPts val="944"/>
              </a:spcBef>
            </a:pPr>
            <a:r>
              <a:rPr dirty="0" sz="2000" spc="-20" b="1">
                <a:latin typeface="宋体"/>
                <a:cs typeface="宋体"/>
              </a:rPr>
              <a:t>// 对于任何一个正在等该结果作为第一操作数的</a:t>
            </a:r>
            <a:r>
              <a:rPr dirty="0" sz="2000" spc="-15" b="1">
                <a:solidFill>
                  <a:srgbClr val="FF0000"/>
                </a:solidFill>
                <a:latin typeface="宋体"/>
                <a:cs typeface="宋体"/>
              </a:rPr>
              <a:t>保留站</a:t>
            </a:r>
            <a:r>
              <a:rPr dirty="0" sz="2000" spc="-10" b="1">
                <a:solidFill>
                  <a:srgbClr val="FF0000"/>
                </a:solidFill>
                <a:latin typeface="宋体"/>
                <a:cs typeface="宋体"/>
              </a:rPr>
              <a:t>x</a:t>
            </a:r>
            <a:r>
              <a:rPr dirty="0" sz="2000" spc="-30" b="1">
                <a:solidFill>
                  <a:srgbClr val="FF0000"/>
                </a:solidFill>
                <a:latin typeface="宋体"/>
                <a:cs typeface="宋体"/>
              </a:rPr>
              <a:t>，对</a:t>
            </a:r>
            <a:endParaRPr sz="2000">
              <a:latin typeface="宋体"/>
              <a:cs typeface="宋体"/>
            </a:endParaRPr>
          </a:p>
          <a:p>
            <a:pPr marL="341630">
              <a:lnSpc>
                <a:spcPct val="100000"/>
              </a:lnSpc>
              <a:spcBef>
                <a:spcPts val="855"/>
              </a:spcBef>
            </a:pPr>
            <a:r>
              <a:rPr dirty="0" sz="2000" spc="-15" b="1">
                <a:solidFill>
                  <a:srgbClr val="FF0000"/>
                </a:solidFill>
                <a:latin typeface="宋体"/>
                <a:cs typeface="宋体"/>
              </a:rPr>
              <a:t>应保留站</a:t>
            </a:r>
            <a:r>
              <a:rPr dirty="0" sz="2000" spc="-50" b="1">
                <a:solidFill>
                  <a:srgbClr val="FF0000"/>
                </a:solidFill>
                <a:latin typeface="宋体"/>
                <a:cs typeface="宋体"/>
              </a:rPr>
              <a:t>r</a:t>
            </a:r>
            <a:endParaRPr sz="2000">
              <a:latin typeface="宋体"/>
              <a:cs typeface="宋体"/>
            </a:endParaRPr>
          </a:p>
        </p:txBody>
      </p:sp>
      <p:graphicFrame>
        <p:nvGraphicFramePr>
          <p:cNvPr id="19" name="object 19" descr=""/>
          <p:cNvGraphicFramePr>
            <a:graphicFrameLocks noGrp="1"/>
          </p:cNvGraphicFramePr>
          <p:nvPr/>
        </p:nvGraphicFramePr>
        <p:xfrm>
          <a:off x="1345057" y="5835587"/>
          <a:ext cx="8734425" cy="848360"/>
        </p:xfrm>
        <a:graphic>
          <a:graphicData uri="http://schemas.openxmlformats.org/drawingml/2006/table">
            <a:tbl>
              <a:tblPr firstRow="1" bandRow="1">
                <a:tableStyleId>{2D5ABB26-0587-4C30-8999-92F81FD0307C}</a:tableStyleId>
              </a:tblPr>
              <a:tblGrid>
                <a:gridCol w="2746375"/>
                <a:gridCol w="694054"/>
                <a:gridCol w="5217160"/>
              </a:tblGrid>
              <a:tr h="424180">
                <a:tc gridSpan="3">
                  <a:txBody>
                    <a:bodyPr/>
                    <a:lstStyle/>
                    <a:p>
                      <a:pPr>
                        <a:lnSpc>
                          <a:spcPct val="100000"/>
                        </a:lnSpc>
                        <a:spcBef>
                          <a:spcPts val="10"/>
                        </a:spcBef>
                        <a:tabLst>
                          <a:tab pos="3117850" algn="l"/>
                        </a:tabLst>
                      </a:pPr>
                      <a:r>
                        <a:rPr dirty="0" sz="2400">
                          <a:solidFill>
                            <a:srgbClr val="40458B"/>
                          </a:solidFill>
                          <a:latin typeface="Symbol"/>
                          <a:cs typeface="Symbol"/>
                        </a:rPr>
                        <a:t></a:t>
                      </a:r>
                      <a:r>
                        <a:rPr dirty="0" sz="2400">
                          <a:solidFill>
                            <a:srgbClr val="40458B"/>
                          </a:solidFill>
                          <a:latin typeface="Tahoma"/>
                          <a:cs typeface="Tahoma"/>
                        </a:rPr>
                        <a:t>RS[</a:t>
                      </a:r>
                      <a:r>
                        <a:rPr dirty="0" sz="2400">
                          <a:solidFill>
                            <a:srgbClr val="9933FF"/>
                          </a:solidFill>
                          <a:latin typeface="Tahoma"/>
                          <a:cs typeface="Tahoma"/>
                        </a:rPr>
                        <a:t>x</a:t>
                      </a:r>
                      <a:r>
                        <a:rPr dirty="0" sz="2400">
                          <a:solidFill>
                            <a:srgbClr val="40458B"/>
                          </a:solidFill>
                          <a:latin typeface="Tahoma"/>
                          <a:cs typeface="Tahoma"/>
                        </a:rPr>
                        <a:t>].</a:t>
                      </a:r>
                      <a:r>
                        <a:rPr dirty="0" sz="2400">
                          <a:solidFill>
                            <a:srgbClr val="9933FF"/>
                          </a:solidFill>
                          <a:latin typeface="Tahoma"/>
                          <a:cs typeface="Tahoma"/>
                        </a:rPr>
                        <a:t>Vj</a:t>
                      </a:r>
                      <a:r>
                        <a:rPr dirty="0" sz="2400" spc="-30">
                          <a:solidFill>
                            <a:srgbClr val="9933FF"/>
                          </a:solidFill>
                          <a:latin typeface="Tahoma"/>
                          <a:cs typeface="Tahoma"/>
                        </a:rPr>
                        <a:t> </a:t>
                      </a:r>
                      <a:r>
                        <a:rPr dirty="0" sz="2400">
                          <a:solidFill>
                            <a:srgbClr val="40458B"/>
                          </a:solidFill>
                          <a:latin typeface="Symbol"/>
                          <a:cs typeface="Symbol"/>
                        </a:rPr>
                        <a:t></a:t>
                      </a:r>
                      <a:r>
                        <a:rPr dirty="0" sz="2400" spc="105">
                          <a:solidFill>
                            <a:srgbClr val="40458B"/>
                          </a:solidFill>
                          <a:latin typeface="Times New Roman"/>
                          <a:cs typeface="Times New Roman"/>
                        </a:rPr>
                        <a:t> </a:t>
                      </a:r>
                      <a:r>
                        <a:rPr dirty="0" sz="2400" spc="-10">
                          <a:solidFill>
                            <a:srgbClr val="40458B"/>
                          </a:solidFill>
                          <a:latin typeface="Tahoma"/>
                          <a:cs typeface="Tahoma"/>
                        </a:rPr>
                        <a:t>result</a:t>
                      </a:r>
                      <a:r>
                        <a:rPr dirty="0" sz="2400" spc="-10">
                          <a:solidFill>
                            <a:srgbClr val="40458B"/>
                          </a:solidFill>
                          <a:latin typeface="黑体"/>
                          <a:cs typeface="黑体"/>
                        </a:rPr>
                        <a:t>；</a:t>
                      </a:r>
                      <a:r>
                        <a:rPr dirty="0" sz="2400">
                          <a:solidFill>
                            <a:srgbClr val="40458B"/>
                          </a:solidFill>
                          <a:latin typeface="黑体"/>
                          <a:cs typeface="黑体"/>
                        </a:rPr>
                        <a:t>	</a:t>
                      </a:r>
                      <a:r>
                        <a:rPr dirty="0" sz="2000" spc="-10" b="1">
                          <a:latin typeface="宋体"/>
                          <a:cs typeface="宋体"/>
                        </a:rPr>
                        <a:t>// 向该保留站的</a:t>
                      </a:r>
                      <a:r>
                        <a:rPr dirty="0" sz="2000" spc="-10" b="1">
                          <a:solidFill>
                            <a:srgbClr val="9933FF"/>
                          </a:solidFill>
                          <a:latin typeface="宋体"/>
                          <a:cs typeface="宋体"/>
                        </a:rPr>
                        <a:t>Vj</a:t>
                      </a:r>
                      <a:r>
                        <a:rPr dirty="0" sz="2000" spc="-25" b="1">
                          <a:latin typeface="宋体"/>
                          <a:cs typeface="宋体"/>
                        </a:rPr>
                        <a:t>写入结果</a:t>
                      </a:r>
                      <a:endParaRPr sz="2000">
                        <a:latin typeface="宋体"/>
                        <a:cs typeface="宋体"/>
                      </a:endParaRPr>
                    </a:p>
                  </a:txBody>
                  <a:tcPr marL="0" marR="0" marB="0" marT="1270"/>
                </a:tc>
                <a:tc hMerge="1">
                  <a:txBody>
                    <a:bodyPr/>
                    <a:lstStyle/>
                    <a:p>
                      <a:pPr/>
                    </a:p>
                  </a:txBody>
                  <a:tcPr marL="0" marR="0" marB="0" marT="0"/>
                </a:tc>
                <a:tc hMerge="1">
                  <a:txBody>
                    <a:bodyPr/>
                    <a:lstStyle/>
                    <a:p>
                      <a:pPr/>
                    </a:p>
                  </a:txBody>
                  <a:tcPr marL="0" marR="0" marB="0" marT="0"/>
                </a:tc>
              </a:tr>
              <a:tr h="424180">
                <a:tc>
                  <a:txBody>
                    <a:bodyPr/>
                    <a:lstStyle/>
                    <a:p>
                      <a:pPr marL="31750">
                        <a:lnSpc>
                          <a:spcPts val="2830"/>
                        </a:lnSpc>
                        <a:spcBef>
                          <a:spcPts val="415"/>
                        </a:spcBef>
                      </a:pPr>
                      <a:r>
                        <a:rPr dirty="0" sz="2400">
                          <a:solidFill>
                            <a:srgbClr val="40458B"/>
                          </a:solidFill>
                          <a:latin typeface="Tahoma"/>
                          <a:cs typeface="Tahoma"/>
                        </a:rPr>
                        <a:t>RS[</a:t>
                      </a:r>
                      <a:r>
                        <a:rPr dirty="0" sz="2400">
                          <a:solidFill>
                            <a:srgbClr val="9933FF"/>
                          </a:solidFill>
                          <a:latin typeface="Tahoma"/>
                          <a:cs typeface="Tahoma"/>
                        </a:rPr>
                        <a:t>x</a:t>
                      </a:r>
                      <a:r>
                        <a:rPr dirty="0" sz="2400">
                          <a:solidFill>
                            <a:srgbClr val="40458B"/>
                          </a:solidFill>
                          <a:latin typeface="Tahoma"/>
                          <a:cs typeface="Tahoma"/>
                        </a:rPr>
                        <a:t>].Qj</a:t>
                      </a:r>
                      <a:r>
                        <a:rPr dirty="0" sz="2400" spc="-25">
                          <a:solidFill>
                            <a:srgbClr val="40458B"/>
                          </a:solidFill>
                          <a:latin typeface="Tahoma"/>
                          <a:cs typeface="Tahoma"/>
                        </a:rPr>
                        <a:t> </a:t>
                      </a:r>
                      <a:r>
                        <a:rPr dirty="0" sz="2400">
                          <a:solidFill>
                            <a:srgbClr val="40458B"/>
                          </a:solidFill>
                          <a:latin typeface="Symbol"/>
                          <a:cs typeface="Symbol"/>
                        </a:rPr>
                        <a:t></a:t>
                      </a:r>
                      <a:r>
                        <a:rPr dirty="0" sz="2400" spc="130">
                          <a:solidFill>
                            <a:srgbClr val="40458B"/>
                          </a:solidFill>
                          <a:latin typeface="Times New Roman"/>
                          <a:cs typeface="Times New Roman"/>
                        </a:rPr>
                        <a:t> </a:t>
                      </a:r>
                      <a:r>
                        <a:rPr dirty="0" sz="2400">
                          <a:solidFill>
                            <a:srgbClr val="40458B"/>
                          </a:solidFill>
                          <a:latin typeface="Tahoma"/>
                          <a:cs typeface="Tahoma"/>
                        </a:rPr>
                        <a:t>0</a:t>
                      </a:r>
                      <a:r>
                        <a:rPr dirty="0" sz="2400" spc="-15">
                          <a:solidFill>
                            <a:srgbClr val="40458B"/>
                          </a:solidFill>
                          <a:latin typeface="Tahoma"/>
                          <a:cs typeface="Tahoma"/>
                        </a:rPr>
                        <a:t> </a:t>
                      </a:r>
                      <a:r>
                        <a:rPr dirty="0" sz="2400" spc="-25">
                          <a:solidFill>
                            <a:srgbClr val="40458B"/>
                          </a:solidFill>
                          <a:latin typeface="Symbol"/>
                          <a:cs typeface="Symbol"/>
                        </a:rPr>
                        <a:t></a:t>
                      </a:r>
                      <a:r>
                        <a:rPr dirty="0" sz="2400" spc="-25">
                          <a:solidFill>
                            <a:srgbClr val="40458B"/>
                          </a:solidFill>
                          <a:latin typeface="黑体"/>
                          <a:cs typeface="黑体"/>
                        </a:rPr>
                        <a:t>；</a:t>
                      </a:r>
                      <a:endParaRPr sz="2400">
                        <a:latin typeface="黑体"/>
                        <a:cs typeface="黑体"/>
                      </a:endParaRPr>
                    </a:p>
                  </a:txBody>
                  <a:tcPr marL="0" marR="0" marB="0" marT="52705"/>
                </a:tc>
                <a:tc>
                  <a:txBody>
                    <a:bodyPr/>
                    <a:lstStyle/>
                    <a:p>
                      <a:pPr marL="371475">
                        <a:lnSpc>
                          <a:spcPct val="100000"/>
                        </a:lnSpc>
                        <a:spcBef>
                          <a:spcPts val="815"/>
                        </a:spcBef>
                      </a:pPr>
                      <a:r>
                        <a:rPr dirty="0" sz="2000" spc="-25" b="1">
                          <a:latin typeface="宋体"/>
                          <a:cs typeface="宋体"/>
                        </a:rPr>
                        <a:t>//</a:t>
                      </a:r>
                      <a:endParaRPr sz="2000">
                        <a:latin typeface="宋体"/>
                        <a:cs typeface="宋体"/>
                      </a:endParaRPr>
                    </a:p>
                  </a:txBody>
                  <a:tcPr marL="0" marR="0" marB="0" marT="103505"/>
                </a:tc>
                <a:tc>
                  <a:txBody>
                    <a:bodyPr/>
                    <a:lstStyle/>
                    <a:p>
                      <a:pPr marL="62865">
                        <a:lnSpc>
                          <a:spcPct val="100000"/>
                        </a:lnSpc>
                        <a:spcBef>
                          <a:spcPts val="815"/>
                        </a:spcBef>
                      </a:pPr>
                      <a:r>
                        <a:rPr dirty="0" sz="2000" spc="-15" b="1">
                          <a:latin typeface="宋体"/>
                          <a:cs typeface="宋体"/>
                        </a:rPr>
                        <a:t>置</a:t>
                      </a:r>
                      <a:r>
                        <a:rPr dirty="0" sz="2000" b="1">
                          <a:latin typeface="宋体"/>
                          <a:cs typeface="宋体"/>
                        </a:rPr>
                        <a:t>Qj</a:t>
                      </a:r>
                      <a:r>
                        <a:rPr dirty="0" sz="2000" spc="-15" b="1">
                          <a:latin typeface="宋体"/>
                          <a:cs typeface="宋体"/>
                        </a:rPr>
                        <a:t>为</a:t>
                      </a:r>
                      <a:r>
                        <a:rPr dirty="0" sz="2000" spc="-10" b="1">
                          <a:latin typeface="宋体"/>
                          <a:cs typeface="宋体"/>
                        </a:rPr>
                        <a:t>0</a:t>
                      </a:r>
                      <a:r>
                        <a:rPr dirty="0" sz="2000" spc="-15" b="1">
                          <a:latin typeface="宋体"/>
                          <a:cs typeface="宋体"/>
                        </a:rPr>
                        <a:t>，表示该保留站的 </a:t>
                      </a:r>
                      <a:r>
                        <a:rPr dirty="0" sz="2000" b="1">
                          <a:solidFill>
                            <a:srgbClr val="9933FF"/>
                          </a:solidFill>
                          <a:latin typeface="宋体"/>
                          <a:cs typeface="宋体"/>
                        </a:rPr>
                        <a:t>Vj</a:t>
                      </a:r>
                      <a:r>
                        <a:rPr dirty="0" sz="2000" spc="-20" b="1">
                          <a:latin typeface="宋体"/>
                          <a:cs typeface="宋体"/>
                        </a:rPr>
                        <a:t>中的操作数就绪</a:t>
                      </a:r>
                      <a:endParaRPr sz="2000">
                        <a:latin typeface="宋体"/>
                        <a:cs typeface="宋体"/>
                      </a:endParaRPr>
                    </a:p>
                  </a:txBody>
                  <a:tcPr marL="0" marR="0" marB="0" marT="103505"/>
                </a:tc>
              </a:tr>
            </a:tbl>
          </a:graphicData>
        </a:graphic>
      </p:graphicFrame>
      <p:sp>
        <p:nvSpPr>
          <p:cNvPr id="20" name="object 20" descr=""/>
          <p:cNvSpPr txBox="1"/>
          <p:nvPr/>
        </p:nvSpPr>
        <p:spPr>
          <a:xfrm>
            <a:off x="7405878" y="533526"/>
            <a:ext cx="2228215" cy="330835"/>
          </a:xfrm>
          <a:prstGeom prst="rect">
            <a:avLst/>
          </a:prstGeom>
        </p:spPr>
        <p:txBody>
          <a:bodyPr wrap="square" lIns="0" tIns="13335" rIns="0" bIns="0" rtlCol="0" vert="horz">
            <a:spAutoFit/>
          </a:bodyPr>
          <a:lstStyle/>
          <a:p>
            <a:pPr marL="12700">
              <a:lnSpc>
                <a:spcPct val="100000"/>
              </a:lnSpc>
              <a:spcBef>
                <a:spcPts val="105"/>
              </a:spcBef>
            </a:pPr>
            <a:r>
              <a:rPr dirty="0" sz="2000" b="1">
                <a:solidFill>
                  <a:srgbClr val="40458B"/>
                </a:solidFill>
                <a:latin typeface="微软雅黑"/>
                <a:cs typeface="微软雅黑"/>
              </a:rPr>
              <a:t>L.D</a:t>
            </a:r>
            <a:r>
              <a:rPr dirty="0" sz="2000" spc="-25" b="1">
                <a:solidFill>
                  <a:srgbClr val="40458B"/>
                </a:solidFill>
                <a:latin typeface="微软雅黑"/>
                <a:cs typeface="微软雅黑"/>
              </a:rPr>
              <a:t> </a:t>
            </a:r>
            <a:r>
              <a:rPr dirty="0" sz="2000" spc="-10" b="1">
                <a:solidFill>
                  <a:srgbClr val="FF0000"/>
                </a:solidFill>
                <a:latin typeface="微软雅黑"/>
                <a:cs typeface="微软雅黑"/>
              </a:rPr>
              <a:t>F2</a:t>
            </a:r>
            <a:r>
              <a:rPr dirty="0" sz="2000" spc="-10" b="1">
                <a:solidFill>
                  <a:srgbClr val="40458B"/>
                </a:solidFill>
                <a:latin typeface="微软雅黑"/>
                <a:cs typeface="微软雅黑"/>
              </a:rPr>
              <a:t>，45（R3）</a:t>
            </a:r>
            <a:endParaRPr sz="2000">
              <a:latin typeface="微软雅黑"/>
              <a:cs typeface="微软雅黑"/>
            </a:endParaRPr>
          </a:p>
        </p:txBody>
      </p:sp>
      <p:sp>
        <p:nvSpPr>
          <p:cNvPr id="21" name="object 21" descr=""/>
          <p:cNvSpPr txBox="1"/>
          <p:nvPr/>
        </p:nvSpPr>
        <p:spPr>
          <a:xfrm>
            <a:off x="9173971" y="2829814"/>
            <a:ext cx="3028950" cy="391160"/>
          </a:xfrm>
          <a:prstGeom prst="rect">
            <a:avLst/>
          </a:prstGeom>
        </p:spPr>
        <p:txBody>
          <a:bodyPr wrap="square" lIns="0" tIns="12700" rIns="0" bIns="0" rtlCol="0" vert="horz">
            <a:spAutoFit/>
          </a:bodyPr>
          <a:lstStyle/>
          <a:p>
            <a:pPr marL="12700">
              <a:lnSpc>
                <a:spcPct val="100000"/>
              </a:lnSpc>
              <a:spcBef>
                <a:spcPts val="100"/>
              </a:spcBef>
              <a:tabLst>
                <a:tab pos="1330960" algn="l"/>
              </a:tabLst>
            </a:pPr>
            <a:r>
              <a:rPr dirty="0" sz="2400" spc="-10" b="1">
                <a:solidFill>
                  <a:srgbClr val="40458B"/>
                </a:solidFill>
                <a:latin typeface="微软雅黑"/>
                <a:cs typeface="微软雅黑"/>
              </a:rPr>
              <a:t>MUL.D</a:t>
            </a:r>
            <a:r>
              <a:rPr dirty="0" sz="2400" b="1">
                <a:solidFill>
                  <a:srgbClr val="40458B"/>
                </a:solidFill>
                <a:latin typeface="微软雅黑"/>
                <a:cs typeface="微软雅黑"/>
              </a:rPr>
              <a:t>	</a:t>
            </a:r>
            <a:r>
              <a:rPr dirty="0" sz="2400" spc="-10" b="1">
                <a:solidFill>
                  <a:srgbClr val="40458B"/>
                </a:solidFill>
                <a:latin typeface="微软雅黑"/>
                <a:cs typeface="微软雅黑"/>
              </a:rPr>
              <a:t>F2，F0，F4</a:t>
            </a:r>
            <a:endParaRPr sz="2400">
              <a:latin typeface="微软雅黑"/>
              <a:cs typeface="微软雅黑"/>
            </a:endParaRPr>
          </a:p>
        </p:txBody>
      </p:sp>
      <p:sp>
        <p:nvSpPr>
          <p:cNvPr id="22" name="object 22" descr=""/>
          <p:cNvSpPr txBox="1"/>
          <p:nvPr/>
        </p:nvSpPr>
        <p:spPr>
          <a:xfrm>
            <a:off x="9084056" y="3206241"/>
            <a:ext cx="2769235" cy="391160"/>
          </a:xfrm>
          <a:prstGeom prst="rect">
            <a:avLst/>
          </a:prstGeom>
        </p:spPr>
        <p:txBody>
          <a:bodyPr wrap="square" lIns="0" tIns="12700" rIns="0" bIns="0" rtlCol="0" vert="horz">
            <a:spAutoFit/>
          </a:bodyPr>
          <a:lstStyle/>
          <a:p>
            <a:pPr marL="12700">
              <a:lnSpc>
                <a:spcPct val="100000"/>
              </a:lnSpc>
              <a:spcBef>
                <a:spcPts val="100"/>
              </a:spcBef>
              <a:tabLst>
                <a:tab pos="1272540" algn="l"/>
              </a:tabLst>
            </a:pPr>
            <a:r>
              <a:rPr dirty="0" sz="2400" spc="-10" b="1">
                <a:solidFill>
                  <a:srgbClr val="40458B"/>
                </a:solidFill>
                <a:latin typeface="Tahoma"/>
                <a:cs typeface="Tahoma"/>
              </a:rPr>
              <a:t>ADD.D</a:t>
            </a:r>
            <a:r>
              <a:rPr dirty="0" sz="2400" b="1">
                <a:solidFill>
                  <a:srgbClr val="40458B"/>
                </a:solidFill>
                <a:latin typeface="Tahoma"/>
                <a:cs typeface="Tahoma"/>
              </a:rPr>
              <a:t>	F6</a:t>
            </a:r>
            <a:r>
              <a:rPr dirty="0" sz="2400" spc="-40" b="1">
                <a:solidFill>
                  <a:srgbClr val="40458B"/>
                </a:solidFill>
                <a:latin typeface="Tahoma"/>
                <a:cs typeface="Tahoma"/>
              </a:rPr>
              <a:t> </a:t>
            </a:r>
            <a:r>
              <a:rPr dirty="0" sz="2400" b="1">
                <a:solidFill>
                  <a:srgbClr val="40458B"/>
                </a:solidFill>
                <a:latin typeface="Tahoma"/>
                <a:cs typeface="Tahoma"/>
              </a:rPr>
              <a:t>,</a:t>
            </a:r>
            <a:r>
              <a:rPr dirty="0" sz="2400" b="1">
                <a:solidFill>
                  <a:srgbClr val="FF0000"/>
                </a:solidFill>
                <a:latin typeface="Tahoma"/>
                <a:cs typeface="Tahoma"/>
              </a:rPr>
              <a:t>F2</a:t>
            </a:r>
            <a:r>
              <a:rPr dirty="0" sz="2400" b="1">
                <a:solidFill>
                  <a:srgbClr val="40458B"/>
                </a:solidFill>
                <a:latin typeface="Tahoma"/>
                <a:cs typeface="Tahoma"/>
              </a:rPr>
              <a:t>,</a:t>
            </a:r>
            <a:r>
              <a:rPr dirty="0" sz="2400" spc="-25" b="1">
                <a:solidFill>
                  <a:srgbClr val="40458B"/>
                </a:solidFill>
                <a:latin typeface="Tahoma"/>
                <a:cs typeface="Tahoma"/>
              </a:rPr>
              <a:t> F8</a:t>
            </a:r>
            <a:endParaRPr sz="2400">
              <a:latin typeface="Tahoma"/>
              <a:cs typeface="Tahoma"/>
            </a:endParaRPr>
          </a:p>
        </p:txBody>
      </p:sp>
      <p:sp>
        <p:nvSpPr>
          <p:cNvPr id="23" name="object 23" descr=""/>
          <p:cNvSpPr/>
          <p:nvPr/>
        </p:nvSpPr>
        <p:spPr>
          <a:xfrm>
            <a:off x="8112125" y="908050"/>
            <a:ext cx="1082040" cy="581025"/>
          </a:xfrm>
          <a:custGeom>
            <a:avLst/>
            <a:gdLst/>
            <a:ahLst/>
            <a:cxnLst/>
            <a:rect l="l" t="t" r="r" b="b"/>
            <a:pathLst>
              <a:path w="1082040" h="581025">
                <a:moveTo>
                  <a:pt x="69511" y="31642"/>
                </a:moveTo>
                <a:lnTo>
                  <a:pt x="64955" y="40160"/>
                </a:lnTo>
                <a:lnTo>
                  <a:pt x="1077214" y="580516"/>
                </a:lnTo>
                <a:lnTo>
                  <a:pt x="1081785" y="572008"/>
                </a:lnTo>
                <a:lnTo>
                  <a:pt x="69511" y="31642"/>
                </a:lnTo>
                <a:close/>
              </a:path>
              <a:path w="1082040" h="581025">
                <a:moveTo>
                  <a:pt x="0" y="0"/>
                </a:moveTo>
                <a:lnTo>
                  <a:pt x="49275" y="69469"/>
                </a:lnTo>
                <a:lnTo>
                  <a:pt x="64955" y="40160"/>
                </a:lnTo>
                <a:lnTo>
                  <a:pt x="53721" y="34162"/>
                </a:lnTo>
                <a:lnTo>
                  <a:pt x="58293" y="25653"/>
                </a:lnTo>
                <a:lnTo>
                  <a:pt x="72715" y="25653"/>
                </a:lnTo>
                <a:lnTo>
                  <a:pt x="85217" y="2286"/>
                </a:lnTo>
                <a:lnTo>
                  <a:pt x="0" y="0"/>
                </a:lnTo>
                <a:close/>
              </a:path>
              <a:path w="1082040" h="581025">
                <a:moveTo>
                  <a:pt x="58293" y="25653"/>
                </a:moveTo>
                <a:lnTo>
                  <a:pt x="53721" y="34162"/>
                </a:lnTo>
                <a:lnTo>
                  <a:pt x="64955" y="40160"/>
                </a:lnTo>
                <a:lnTo>
                  <a:pt x="69511" y="31642"/>
                </a:lnTo>
                <a:lnTo>
                  <a:pt x="58293" y="25653"/>
                </a:lnTo>
                <a:close/>
              </a:path>
              <a:path w="1082040" h="581025">
                <a:moveTo>
                  <a:pt x="72715" y="25653"/>
                </a:moveTo>
                <a:lnTo>
                  <a:pt x="58293" y="25653"/>
                </a:lnTo>
                <a:lnTo>
                  <a:pt x="69511" y="31642"/>
                </a:lnTo>
                <a:lnTo>
                  <a:pt x="72715" y="25653"/>
                </a:lnTo>
                <a:close/>
              </a:path>
            </a:pathLst>
          </a:custGeom>
          <a:solidFill>
            <a:srgbClr val="FF0000"/>
          </a:solidFill>
        </p:spPr>
        <p:txBody>
          <a:bodyPr wrap="square" lIns="0" tIns="0" rIns="0" bIns="0" rtlCol="0"/>
          <a:lstStyle/>
          <a:p/>
        </p:txBody>
      </p:sp>
      <p:sp>
        <p:nvSpPr>
          <p:cNvPr id="24" name="object 24" descr=""/>
          <p:cNvSpPr/>
          <p:nvPr/>
        </p:nvSpPr>
        <p:spPr>
          <a:xfrm>
            <a:off x="10987785" y="3573398"/>
            <a:ext cx="364490" cy="594995"/>
          </a:xfrm>
          <a:custGeom>
            <a:avLst/>
            <a:gdLst/>
            <a:ahLst/>
            <a:cxnLst/>
            <a:rect l="l" t="t" r="r" b="b"/>
            <a:pathLst>
              <a:path w="364490" h="594995">
                <a:moveTo>
                  <a:pt x="320778" y="62703"/>
                </a:moveTo>
                <a:lnTo>
                  <a:pt x="0" y="589661"/>
                </a:lnTo>
                <a:lnTo>
                  <a:pt x="8128" y="594613"/>
                </a:lnTo>
                <a:lnTo>
                  <a:pt x="328910" y="67649"/>
                </a:lnTo>
                <a:lnTo>
                  <a:pt x="320778" y="62703"/>
                </a:lnTo>
                <a:close/>
              </a:path>
              <a:path w="364490" h="594995">
                <a:moveTo>
                  <a:pt x="360103" y="51815"/>
                </a:moveTo>
                <a:lnTo>
                  <a:pt x="327406" y="51815"/>
                </a:lnTo>
                <a:lnTo>
                  <a:pt x="335534" y="56768"/>
                </a:lnTo>
                <a:lnTo>
                  <a:pt x="328910" y="67649"/>
                </a:lnTo>
                <a:lnTo>
                  <a:pt x="357378" y="84962"/>
                </a:lnTo>
                <a:lnTo>
                  <a:pt x="360103" y="51815"/>
                </a:lnTo>
                <a:close/>
              </a:path>
              <a:path w="364490" h="594995">
                <a:moveTo>
                  <a:pt x="327406" y="51815"/>
                </a:moveTo>
                <a:lnTo>
                  <a:pt x="320778" y="62703"/>
                </a:lnTo>
                <a:lnTo>
                  <a:pt x="328910" y="67649"/>
                </a:lnTo>
                <a:lnTo>
                  <a:pt x="335534" y="56768"/>
                </a:lnTo>
                <a:lnTo>
                  <a:pt x="327406" y="51815"/>
                </a:lnTo>
                <a:close/>
              </a:path>
              <a:path w="364490" h="594995">
                <a:moveTo>
                  <a:pt x="364363" y="0"/>
                </a:moveTo>
                <a:lnTo>
                  <a:pt x="292227" y="45338"/>
                </a:lnTo>
                <a:lnTo>
                  <a:pt x="320778" y="62703"/>
                </a:lnTo>
                <a:lnTo>
                  <a:pt x="327406" y="51815"/>
                </a:lnTo>
                <a:lnTo>
                  <a:pt x="360103" y="51815"/>
                </a:lnTo>
                <a:lnTo>
                  <a:pt x="364363" y="0"/>
                </a:lnTo>
                <a:close/>
              </a:path>
            </a:pathLst>
          </a:custGeom>
          <a:solidFill>
            <a:srgbClr val="FF0000"/>
          </a:solidFill>
        </p:spPr>
        <p:txBody>
          <a:bodyPr wrap="square" lIns="0" tIns="0" rIns="0" bIns="0" rtlCol="0"/>
          <a:lstStyle/>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132281" y="833462"/>
          <a:ext cx="10380345" cy="1824355"/>
        </p:xfrm>
        <a:graphic>
          <a:graphicData uri="http://schemas.openxmlformats.org/drawingml/2006/table">
            <a:tbl>
              <a:tblPr firstRow="1" bandRow="1">
                <a:tableStyleId>{2D5ABB26-0587-4C30-8999-92F81FD0307C}</a:tableStyleId>
              </a:tblPr>
              <a:tblGrid>
                <a:gridCol w="3396615"/>
                <a:gridCol w="801370"/>
                <a:gridCol w="6105524"/>
              </a:tblGrid>
              <a:tr h="656590">
                <a:tc>
                  <a:txBody>
                    <a:bodyPr/>
                    <a:lstStyle/>
                    <a:p>
                      <a:pPr marL="31750">
                        <a:lnSpc>
                          <a:spcPct val="100000"/>
                        </a:lnSpc>
                        <a:spcBef>
                          <a:spcPts val="15"/>
                        </a:spcBef>
                      </a:pPr>
                      <a:r>
                        <a:rPr dirty="0" sz="2400" b="1">
                          <a:solidFill>
                            <a:srgbClr val="40458B"/>
                          </a:solidFill>
                          <a:latin typeface="Symbol"/>
                          <a:cs typeface="Symbol"/>
                        </a:rPr>
                        <a:t></a:t>
                      </a:r>
                      <a:r>
                        <a:rPr dirty="0" sz="2400">
                          <a:solidFill>
                            <a:srgbClr val="40458B"/>
                          </a:solidFill>
                          <a:latin typeface="Tahoma"/>
                          <a:cs typeface="Tahoma"/>
                        </a:rPr>
                        <a:t>x</a:t>
                      </a:r>
                      <a:r>
                        <a:rPr dirty="0" sz="2400" spc="-55">
                          <a:solidFill>
                            <a:srgbClr val="40458B"/>
                          </a:solidFill>
                          <a:latin typeface="Tahoma"/>
                          <a:cs typeface="Tahoma"/>
                        </a:rPr>
                        <a:t> </a:t>
                      </a:r>
                      <a:r>
                        <a:rPr dirty="0" sz="2400" b="1">
                          <a:solidFill>
                            <a:srgbClr val="40458B"/>
                          </a:solidFill>
                          <a:latin typeface="黑体"/>
                          <a:cs typeface="黑体"/>
                        </a:rPr>
                        <a:t>（</a:t>
                      </a:r>
                      <a:r>
                        <a:rPr dirty="0" sz="2400">
                          <a:solidFill>
                            <a:srgbClr val="40458B"/>
                          </a:solidFill>
                          <a:latin typeface="Tahoma"/>
                          <a:cs typeface="Tahoma"/>
                        </a:rPr>
                        <a:t>if</a:t>
                      </a:r>
                      <a:r>
                        <a:rPr dirty="0" sz="2400" b="1">
                          <a:solidFill>
                            <a:srgbClr val="40458B"/>
                          </a:solidFill>
                          <a:latin typeface="黑体"/>
                          <a:cs typeface="黑体"/>
                        </a:rPr>
                        <a:t>（</a:t>
                      </a:r>
                      <a:r>
                        <a:rPr dirty="0" sz="2400">
                          <a:solidFill>
                            <a:srgbClr val="40458B"/>
                          </a:solidFill>
                          <a:latin typeface="Tahoma"/>
                          <a:cs typeface="Tahoma"/>
                        </a:rPr>
                        <a:t>RS[</a:t>
                      </a:r>
                      <a:r>
                        <a:rPr dirty="0" sz="2400">
                          <a:solidFill>
                            <a:srgbClr val="9933FF"/>
                          </a:solidFill>
                          <a:latin typeface="Tahoma"/>
                          <a:cs typeface="Tahoma"/>
                        </a:rPr>
                        <a:t>x</a:t>
                      </a:r>
                      <a:r>
                        <a:rPr dirty="0" sz="2400">
                          <a:solidFill>
                            <a:srgbClr val="40458B"/>
                          </a:solidFill>
                          <a:latin typeface="Tahoma"/>
                          <a:cs typeface="Tahoma"/>
                        </a:rPr>
                        <a:t>].Qk</a:t>
                      </a:r>
                      <a:r>
                        <a:rPr dirty="0" sz="2400" spc="-35">
                          <a:solidFill>
                            <a:srgbClr val="40458B"/>
                          </a:solidFill>
                          <a:latin typeface="Tahoma"/>
                          <a:cs typeface="Tahoma"/>
                        </a:rPr>
                        <a:t> </a:t>
                      </a:r>
                      <a:r>
                        <a:rPr dirty="0" sz="2400">
                          <a:solidFill>
                            <a:srgbClr val="40458B"/>
                          </a:solidFill>
                          <a:latin typeface="Tahoma"/>
                          <a:cs typeface="Tahoma"/>
                        </a:rPr>
                        <a:t>=</a:t>
                      </a:r>
                      <a:r>
                        <a:rPr dirty="0" sz="2400" spc="-40">
                          <a:solidFill>
                            <a:srgbClr val="40458B"/>
                          </a:solidFill>
                          <a:latin typeface="Tahoma"/>
                          <a:cs typeface="Tahoma"/>
                        </a:rPr>
                        <a:t> </a:t>
                      </a:r>
                      <a:r>
                        <a:rPr dirty="0" sz="2400" spc="-25">
                          <a:solidFill>
                            <a:srgbClr val="E14B04"/>
                          </a:solidFill>
                          <a:latin typeface="Tahoma"/>
                          <a:cs typeface="Tahoma"/>
                        </a:rPr>
                        <a:t>r</a:t>
                      </a:r>
                      <a:r>
                        <a:rPr dirty="0" sz="2400" spc="-25" b="1">
                          <a:solidFill>
                            <a:srgbClr val="40458B"/>
                          </a:solidFill>
                          <a:latin typeface="黑体"/>
                          <a:cs typeface="黑体"/>
                        </a:rPr>
                        <a:t>）</a:t>
                      </a:r>
                      <a:endParaRPr sz="2400">
                        <a:latin typeface="黑体"/>
                        <a:cs typeface="黑体"/>
                      </a:endParaRPr>
                    </a:p>
                  </a:txBody>
                  <a:tcPr marL="0" marR="0" marB="0" marT="1905"/>
                </a:tc>
                <a:tc>
                  <a:txBody>
                    <a:bodyPr/>
                    <a:lstStyle/>
                    <a:p>
                      <a:pPr algn="r" marR="55244">
                        <a:lnSpc>
                          <a:spcPct val="100000"/>
                        </a:lnSpc>
                        <a:spcBef>
                          <a:spcPts val="415"/>
                        </a:spcBef>
                      </a:pPr>
                      <a:r>
                        <a:rPr dirty="0" sz="2000" spc="-25" b="1">
                          <a:latin typeface="宋体"/>
                          <a:cs typeface="宋体"/>
                        </a:rPr>
                        <a:t>//</a:t>
                      </a:r>
                      <a:endParaRPr sz="2000">
                        <a:latin typeface="宋体"/>
                        <a:cs typeface="宋体"/>
                      </a:endParaRPr>
                    </a:p>
                  </a:txBody>
                  <a:tcPr marL="0" marR="0" marB="0" marT="52705"/>
                </a:tc>
                <a:tc>
                  <a:txBody>
                    <a:bodyPr/>
                    <a:lstStyle/>
                    <a:p>
                      <a:pPr marL="62865">
                        <a:lnSpc>
                          <a:spcPct val="100000"/>
                        </a:lnSpc>
                        <a:spcBef>
                          <a:spcPts val="415"/>
                        </a:spcBef>
                      </a:pPr>
                      <a:r>
                        <a:rPr dirty="0" sz="2000" spc="-20" b="1">
                          <a:latin typeface="宋体"/>
                          <a:cs typeface="宋体"/>
                        </a:rPr>
                        <a:t>对于任何一个正在等该结果作为第二操作数的保留站</a:t>
                      </a:r>
                      <a:r>
                        <a:rPr dirty="0" sz="2000" spc="-50" b="1">
                          <a:solidFill>
                            <a:srgbClr val="9933FF"/>
                          </a:solidFill>
                          <a:latin typeface="宋体"/>
                          <a:cs typeface="宋体"/>
                        </a:rPr>
                        <a:t>x</a:t>
                      </a:r>
                      <a:endParaRPr sz="2000">
                        <a:latin typeface="宋体"/>
                        <a:cs typeface="宋体"/>
                      </a:endParaRPr>
                    </a:p>
                  </a:txBody>
                  <a:tcPr marL="0" marR="0" marB="0" marT="52705"/>
                </a:tc>
              </a:tr>
              <a:tr h="725170">
                <a:tc>
                  <a:txBody>
                    <a:bodyPr/>
                    <a:lstStyle/>
                    <a:p>
                      <a:pPr marL="31750">
                        <a:lnSpc>
                          <a:spcPct val="100000"/>
                        </a:lnSpc>
                        <a:spcBef>
                          <a:spcPts val="2240"/>
                        </a:spcBef>
                      </a:pPr>
                      <a:r>
                        <a:rPr dirty="0" sz="2400">
                          <a:solidFill>
                            <a:srgbClr val="40458B"/>
                          </a:solidFill>
                          <a:latin typeface="Symbol"/>
                          <a:cs typeface="Symbol"/>
                        </a:rPr>
                        <a:t></a:t>
                      </a:r>
                      <a:r>
                        <a:rPr dirty="0" sz="2400">
                          <a:solidFill>
                            <a:srgbClr val="40458B"/>
                          </a:solidFill>
                          <a:latin typeface="Tahoma"/>
                          <a:cs typeface="Tahoma"/>
                        </a:rPr>
                        <a:t>RS[</a:t>
                      </a:r>
                      <a:r>
                        <a:rPr dirty="0" sz="2400">
                          <a:solidFill>
                            <a:srgbClr val="9933FF"/>
                          </a:solidFill>
                          <a:latin typeface="Tahoma"/>
                          <a:cs typeface="Tahoma"/>
                        </a:rPr>
                        <a:t>x</a:t>
                      </a:r>
                      <a:r>
                        <a:rPr dirty="0" sz="2400">
                          <a:solidFill>
                            <a:srgbClr val="40458B"/>
                          </a:solidFill>
                          <a:latin typeface="Tahoma"/>
                          <a:cs typeface="Tahoma"/>
                        </a:rPr>
                        <a:t>].</a:t>
                      </a:r>
                      <a:r>
                        <a:rPr dirty="0" sz="2400">
                          <a:solidFill>
                            <a:srgbClr val="9933FF"/>
                          </a:solidFill>
                          <a:latin typeface="Tahoma"/>
                          <a:cs typeface="Tahoma"/>
                        </a:rPr>
                        <a:t>Vk</a:t>
                      </a:r>
                      <a:r>
                        <a:rPr dirty="0" sz="2400" spc="-25">
                          <a:solidFill>
                            <a:srgbClr val="9933FF"/>
                          </a:solidFill>
                          <a:latin typeface="Tahoma"/>
                          <a:cs typeface="Tahoma"/>
                        </a:rPr>
                        <a:t> </a:t>
                      </a:r>
                      <a:r>
                        <a:rPr dirty="0" sz="2400">
                          <a:solidFill>
                            <a:srgbClr val="40458B"/>
                          </a:solidFill>
                          <a:latin typeface="Symbol"/>
                          <a:cs typeface="Symbol"/>
                        </a:rPr>
                        <a:t></a:t>
                      </a:r>
                      <a:r>
                        <a:rPr dirty="0" sz="2400" spc="105">
                          <a:solidFill>
                            <a:srgbClr val="40458B"/>
                          </a:solidFill>
                          <a:latin typeface="Times New Roman"/>
                          <a:cs typeface="Times New Roman"/>
                        </a:rPr>
                        <a:t> </a:t>
                      </a:r>
                      <a:r>
                        <a:rPr dirty="0" sz="2400" spc="-10">
                          <a:solidFill>
                            <a:srgbClr val="40458B"/>
                          </a:solidFill>
                          <a:latin typeface="Tahoma"/>
                          <a:cs typeface="Tahoma"/>
                        </a:rPr>
                        <a:t>result</a:t>
                      </a:r>
                      <a:r>
                        <a:rPr dirty="0" sz="2400" spc="-10">
                          <a:solidFill>
                            <a:srgbClr val="40458B"/>
                          </a:solidFill>
                          <a:latin typeface="黑体"/>
                          <a:cs typeface="黑体"/>
                        </a:rPr>
                        <a:t>；</a:t>
                      </a:r>
                      <a:endParaRPr sz="2400">
                        <a:latin typeface="黑体"/>
                        <a:cs typeface="黑体"/>
                      </a:endParaRPr>
                    </a:p>
                  </a:txBody>
                  <a:tcPr marL="0" marR="0" marB="0" marT="284480"/>
                </a:tc>
                <a:tc>
                  <a:txBody>
                    <a:bodyPr/>
                    <a:lstStyle/>
                    <a:p>
                      <a:pPr>
                        <a:lnSpc>
                          <a:spcPct val="100000"/>
                        </a:lnSpc>
                        <a:spcBef>
                          <a:spcPts val="340"/>
                        </a:spcBef>
                      </a:pPr>
                      <a:endParaRPr sz="2000">
                        <a:latin typeface="Times New Roman"/>
                        <a:cs typeface="Times New Roman"/>
                      </a:endParaRPr>
                    </a:p>
                    <a:p>
                      <a:pPr algn="r" marR="55244">
                        <a:lnSpc>
                          <a:spcPct val="100000"/>
                        </a:lnSpc>
                      </a:pPr>
                      <a:r>
                        <a:rPr dirty="0" sz="2000" spc="-25" b="1">
                          <a:latin typeface="宋体"/>
                          <a:cs typeface="宋体"/>
                        </a:rPr>
                        <a:t>//</a:t>
                      </a:r>
                      <a:endParaRPr sz="2000">
                        <a:latin typeface="宋体"/>
                        <a:cs typeface="宋体"/>
                      </a:endParaRPr>
                    </a:p>
                  </a:txBody>
                  <a:tcPr marL="0" marR="0" marB="0" marT="43180"/>
                </a:tc>
                <a:tc>
                  <a:txBody>
                    <a:bodyPr/>
                    <a:lstStyle/>
                    <a:p>
                      <a:pPr>
                        <a:lnSpc>
                          <a:spcPct val="100000"/>
                        </a:lnSpc>
                        <a:spcBef>
                          <a:spcPts val="340"/>
                        </a:spcBef>
                      </a:pPr>
                      <a:endParaRPr sz="2000">
                        <a:latin typeface="Times New Roman"/>
                        <a:cs typeface="Times New Roman"/>
                      </a:endParaRPr>
                    </a:p>
                    <a:p>
                      <a:pPr marL="62865">
                        <a:lnSpc>
                          <a:spcPct val="100000"/>
                        </a:lnSpc>
                      </a:pPr>
                      <a:r>
                        <a:rPr dirty="0" sz="2000" spc="-10" b="1">
                          <a:latin typeface="宋体"/>
                          <a:cs typeface="宋体"/>
                        </a:rPr>
                        <a:t>向该保留站的</a:t>
                      </a:r>
                      <a:r>
                        <a:rPr dirty="0" sz="2000" spc="-10" b="1">
                          <a:solidFill>
                            <a:srgbClr val="9933FF"/>
                          </a:solidFill>
                          <a:latin typeface="宋体"/>
                          <a:cs typeface="宋体"/>
                        </a:rPr>
                        <a:t>Vk</a:t>
                      </a:r>
                      <a:r>
                        <a:rPr dirty="0" sz="2000" spc="-25" b="1">
                          <a:latin typeface="宋体"/>
                          <a:cs typeface="宋体"/>
                        </a:rPr>
                        <a:t>写入结果</a:t>
                      </a:r>
                      <a:endParaRPr sz="2000">
                        <a:latin typeface="宋体"/>
                        <a:cs typeface="宋体"/>
                      </a:endParaRPr>
                    </a:p>
                  </a:txBody>
                  <a:tcPr marL="0" marR="0" marB="0" marT="43180"/>
                </a:tc>
              </a:tr>
              <a:tr h="442595">
                <a:tc>
                  <a:txBody>
                    <a:bodyPr/>
                    <a:lstStyle/>
                    <a:p>
                      <a:pPr marL="506730">
                        <a:lnSpc>
                          <a:spcPts val="2830"/>
                        </a:lnSpc>
                        <a:spcBef>
                          <a:spcPts val="560"/>
                        </a:spcBef>
                      </a:pPr>
                      <a:r>
                        <a:rPr dirty="0" sz="2400">
                          <a:solidFill>
                            <a:srgbClr val="40458B"/>
                          </a:solidFill>
                          <a:latin typeface="Tahoma"/>
                          <a:cs typeface="Tahoma"/>
                        </a:rPr>
                        <a:t>RS[</a:t>
                      </a:r>
                      <a:r>
                        <a:rPr dirty="0" sz="2400">
                          <a:solidFill>
                            <a:srgbClr val="9933FF"/>
                          </a:solidFill>
                          <a:latin typeface="Tahoma"/>
                          <a:cs typeface="Tahoma"/>
                        </a:rPr>
                        <a:t>x</a:t>
                      </a:r>
                      <a:r>
                        <a:rPr dirty="0" sz="2400">
                          <a:solidFill>
                            <a:srgbClr val="40458B"/>
                          </a:solidFill>
                          <a:latin typeface="Tahoma"/>
                          <a:cs typeface="Tahoma"/>
                        </a:rPr>
                        <a:t>].Qk</a:t>
                      </a:r>
                      <a:r>
                        <a:rPr dirty="0" sz="2400" spc="-20">
                          <a:solidFill>
                            <a:srgbClr val="40458B"/>
                          </a:solidFill>
                          <a:latin typeface="Tahoma"/>
                          <a:cs typeface="Tahoma"/>
                        </a:rPr>
                        <a:t> </a:t>
                      </a:r>
                      <a:r>
                        <a:rPr dirty="0" sz="2400">
                          <a:solidFill>
                            <a:srgbClr val="40458B"/>
                          </a:solidFill>
                          <a:latin typeface="Symbol"/>
                          <a:cs typeface="Symbol"/>
                        </a:rPr>
                        <a:t></a:t>
                      </a:r>
                      <a:r>
                        <a:rPr dirty="0" sz="2400" spc="105">
                          <a:solidFill>
                            <a:srgbClr val="40458B"/>
                          </a:solidFill>
                          <a:latin typeface="Times New Roman"/>
                          <a:cs typeface="Times New Roman"/>
                        </a:rPr>
                        <a:t> </a:t>
                      </a:r>
                      <a:r>
                        <a:rPr dirty="0" sz="2400">
                          <a:solidFill>
                            <a:srgbClr val="40458B"/>
                          </a:solidFill>
                          <a:latin typeface="Tahoma"/>
                          <a:cs typeface="Tahoma"/>
                        </a:rPr>
                        <a:t>0</a:t>
                      </a:r>
                      <a:r>
                        <a:rPr dirty="0" sz="2400" spc="-25">
                          <a:solidFill>
                            <a:srgbClr val="40458B"/>
                          </a:solidFill>
                          <a:latin typeface="Tahoma"/>
                          <a:cs typeface="Tahoma"/>
                        </a:rPr>
                        <a:t> </a:t>
                      </a:r>
                      <a:r>
                        <a:rPr dirty="0" sz="2400" spc="-25">
                          <a:solidFill>
                            <a:srgbClr val="40458B"/>
                          </a:solidFill>
                          <a:latin typeface="Symbol"/>
                          <a:cs typeface="Symbol"/>
                        </a:rPr>
                        <a:t></a:t>
                      </a:r>
                      <a:r>
                        <a:rPr dirty="0" sz="2400" spc="-25">
                          <a:solidFill>
                            <a:srgbClr val="40458B"/>
                          </a:solidFill>
                          <a:latin typeface="黑体"/>
                          <a:cs typeface="黑体"/>
                        </a:rPr>
                        <a:t>；</a:t>
                      </a:r>
                      <a:endParaRPr sz="2400">
                        <a:latin typeface="黑体"/>
                        <a:cs typeface="黑体"/>
                      </a:endParaRPr>
                    </a:p>
                  </a:txBody>
                  <a:tcPr marL="0" marR="0" marB="0" marT="71120"/>
                </a:tc>
                <a:tc>
                  <a:txBody>
                    <a:bodyPr/>
                    <a:lstStyle/>
                    <a:p>
                      <a:pPr algn="r" marR="55244">
                        <a:lnSpc>
                          <a:spcPct val="100000"/>
                        </a:lnSpc>
                        <a:spcBef>
                          <a:spcPts val="960"/>
                        </a:spcBef>
                      </a:pPr>
                      <a:r>
                        <a:rPr dirty="0" sz="2000" spc="-25" b="1">
                          <a:latin typeface="宋体"/>
                          <a:cs typeface="宋体"/>
                        </a:rPr>
                        <a:t>//</a:t>
                      </a:r>
                      <a:endParaRPr sz="2000">
                        <a:latin typeface="宋体"/>
                        <a:cs typeface="宋体"/>
                      </a:endParaRPr>
                    </a:p>
                  </a:txBody>
                  <a:tcPr marL="0" marR="0" marB="0" marT="121920"/>
                </a:tc>
                <a:tc>
                  <a:txBody>
                    <a:bodyPr/>
                    <a:lstStyle/>
                    <a:p>
                      <a:pPr marL="62865">
                        <a:lnSpc>
                          <a:spcPct val="100000"/>
                        </a:lnSpc>
                        <a:spcBef>
                          <a:spcPts val="960"/>
                        </a:spcBef>
                      </a:pPr>
                      <a:r>
                        <a:rPr dirty="0" sz="2000" spc="-15" b="1">
                          <a:latin typeface="宋体"/>
                          <a:cs typeface="宋体"/>
                        </a:rPr>
                        <a:t>置</a:t>
                      </a:r>
                      <a:r>
                        <a:rPr dirty="0" sz="2000" b="1">
                          <a:latin typeface="宋体"/>
                          <a:cs typeface="宋体"/>
                        </a:rPr>
                        <a:t>Qk</a:t>
                      </a:r>
                      <a:r>
                        <a:rPr dirty="0" sz="2000" spc="-15" b="1">
                          <a:latin typeface="宋体"/>
                          <a:cs typeface="宋体"/>
                        </a:rPr>
                        <a:t>为</a:t>
                      </a:r>
                      <a:r>
                        <a:rPr dirty="0" sz="2000" spc="-10" b="1">
                          <a:latin typeface="宋体"/>
                          <a:cs typeface="宋体"/>
                        </a:rPr>
                        <a:t>0</a:t>
                      </a:r>
                      <a:r>
                        <a:rPr dirty="0" sz="2000" spc="-20" b="1">
                          <a:latin typeface="宋体"/>
                          <a:cs typeface="宋体"/>
                        </a:rPr>
                        <a:t>，表示该保留站的</a:t>
                      </a:r>
                      <a:r>
                        <a:rPr dirty="0" sz="2000" spc="-10" b="1">
                          <a:solidFill>
                            <a:srgbClr val="9933FF"/>
                          </a:solidFill>
                          <a:latin typeface="宋体"/>
                          <a:cs typeface="宋体"/>
                        </a:rPr>
                        <a:t>Vk</a:t>
                      </a:r>
                      <a:r>
                        <a:rPr dirty="0" sz="2000" spc="-25" b="1">
                          <a:latin typeface="宋体"/>
                          <a:cs typeface="宋体"/>
                        </a:rPr>
                        <a:t>中的操作数就绪。</a:t>
                      </a:r>
                      <a:endParaRPr sz="2000">
                        <a:latin typeface="宋体"/>
                        <a:cs typeface="宋体"/>
                      </a:endParaRPr>
                    </a:p>
                  </a:txBody>
                  <a:tcPr marL="0" marR="0" marB="0" marT="121920"/>
                </a:tc>
              </a:tr>
            </a:tbl>
          </a:graphicData>
        </a:graphic>
      </p:graphicFrame>
      <p:sp>
        <p:nvSpPr>
          <p:cNvPr id="3" name="object 3" descr=""/>
          <p:cNvSpPr txBox="1"/>
          <p:nvPr/>
        </p:nvSpPr>
        <p:spPr>
          <a:xfrm>
            <a:off x="4606544" y="3263264"/>
            <a:ext cx="4760595" cy="330835"/>
          </a:xfrm>
          <a:prstGeom prst="rect">
            <a:avLst/>
          </a:prstGeom>
        </p:spPr>
        <p:txBody>
          <a:bodyPr wrap="square" lIns="0" tIns="13335" rIns="0" bIns="0" rtlCol="0" vert="horz">
            <a:spAutoFit/>
          </a:bodyPr>
          <a:lstStyle/>
          <a:p>
            <a:pPr marL="12700">
              <a:lnSpc>
                <a:spcPct val="100000"/>
              </a:lnSpc>
              <a:spcBef>
                <a:spcPts val="105"/>
              </a:spcBef>
            </a:pPr>
            <a:r>
              <a:rPr dirty="0" sz="2000" spc="-25" b="1">
                <a:latin typeface="宋体"/>
                <a:cs typeface="宋体"/>
              </a:rPr>
              <a:t>// 释放当前保留站，将之置为空闲状态。</a:t>
            </a:r>
            <a:endParaRPr sz="2000">
              <a:latin typeface="宋体"/>
              <a:cs typeface="宋体"/>
            </a:endParaRPr>
          </a:p>
        </p:txBody>
      </p:sp>
      <p:sp>
        <p:nvSpPr>
          <p:cNvPr id="4" name="object 4" descr=""/>
          <p:cNvSpPr txBox="1"/>
          <p:nvPr/>
        </p:nvSpPr>
        <p:spPr>
          <a:xfrm>
            <a:off x="1151331" y="3067119"/>
            <a:ext cx="7097395" cy="2543810"/>
          </a:xfrm>
          <a:prstGeom prst="rect">
            <a:avLst/>
          </a:prstGeom>
        </p:spPr>
        <p:txBody>
          <a:bodyPr wrap="square" lIns="0" tIns="158115" rIns="0" bIns="0" rtlCol="0" vert="horz">
            <a:spAutoFit/>
          </a:bodyPr>
          <a:lstStyle/>
          <a:p>
            <a:pPr marL="140335">
              <a:lnSpc>
                <a:spcPct val="100000"/>
              </a:lnSpc>
              <a:spcBef>
                <a:spcPts val="1245"/>
              </a:spcBef>
            </a:pPr>
            <a:r>
              <a:rPr dirty="0" sz="2400">
                <a:solidFill>
                  <a:srgbClr val="40458B"/>
                </a:solidFill>
                <a:latin typeface="Tahoma"/>
                <a:cs typeface="Tahoma"/>
              </a:rPr>
              <a:t>RS[</a:t>
            </a:r>
            <a:r>
              <a:rPr dirty="0" sz="2400">
                <a:solidFill>
                  <a:srgbClr val="E14B04"/>
                </a:solidFill>
                <a:latin typeface="Tahoma"/>
                <a:cs typeface="Tahoma"/>
              </a:rPr>
              <a:t>r</a:t>
            </a:r>
            <a:r>
              <a:rPr dirty="0" sz="2400">
                <a:solidFill>
                  <a:srgbClr val="40458B"/>
                </a:solidFill>
                <a:latin typeface="Tahoma"/>
                <a:cs typeface="Tahoma"/>
              </a:rPr>
              <a:t>].Busy</a:t>
            </a:r>
            <a:r>
              <a:rPr dirty="0" sz="2400" spc="-20">
                <a:solidFill>
                  <a:srgbClr val="40458B"/>
                </a:solidFill>
                <a:latin typeface="Tahoma"/>
                <a:cs typeface="Tahoma"/>
              </a:rPr>
              <a:t> </a:t>
            </a:r>
            <a:r>
              <a:rPr dirty="0" sz="2400">
                <a:solidFill>
                  <a:srgbClr val="40458B"/>
                </a:solidFill>
                <a:latin typeface="Symbol"/>
                <a:cs typeface="Symbol"/>
              </a:rPr>
              <a:t></a:t>
            </a:r>
            <a:r>
              <a:rPr dirty="0" sz="2400" spc="105">
                <a:solidFill>
                  <a:srgbClr val="40458B"/>
                </a:solidFill>
                <a:latin typeface="Times New Roman"/>
                <a:cs typeface="Times New Roman"/>
              </a:rPr>
              <a:t> </a:t>
            </a:r>
            <a:r>
              <a:rPr dirty="0" sz="2400" spc="-25">
                <a:solidFill>
                  <a:srgbClr val="40458B"/>
                </a:solidFill>
                <a:latin typeface="Tahoma"/>
                <a:cs typeface="Tahoma"/>
              </a:rPr>
              <a:t>no</a:t>
            </a:r>
            <a:r>
              <a:rPr dirty="0" sz="2400" spc="-25">
                <a:solidFill>
                  <a:srgbClr val="40458B"/>
                </a:solidFill>
                <a:latin typeface="黑体"/>
                <a:cs typeface="黑体"/>
              </a:rPr>
              <a:t>；</a:t>
            </a:r>
            <a:endParaRPr sz="2400">
              <a:latin typeface="黑体"/>
              <a:cs typeface="黑体"/>
            </a:endParaRPr>
          </a:p>
          <a:p>
            <a:pPr marL="469265" indent="-456565">
              <a:lnSpc>
                <a:spcPct val="100000"/>
              </a:lnSpc>
              <a:spcBef>
                <a:spcPts val="1155"/>
              </a:spcBef>
              <a:buClr>
                <a:srgbClr val="40458B"/>
              </a:buClr>
              <a:buSzPct val="89583"/>
              <a:buFont typeface="Wingdings"/>
              <a:buChar char=""/>
              <a:tabLst>
                <a:tab pos="469265" algn="l"/>
              </a:tabLst>
            </a:pPr>
            <a:r>
              <a:rPr dirty="0" sz="2400" spc="-10">
                <a:solidFill>
                  <a:srgbClr val="E14B04"/>
                </a:solidFill>
                <a:latin typeface="黑体"/>
                <a:cs typeface="黑体"/>
              </a:rPr>
              <a:t>store</a:t>
            </a:r>
            <a:r>
              <a:rPr dirty="0" sz="2400" spc="-30">
                <a:solidFill>
                  <a:srgbClr val="E14B04"/>
                </a:solidFill>
                <a:latin typeface="黑体"/>
                <a:cs typeface="黑体"/>
              </a:rPr>
              <a:t>指令</a:t>
            </a:r>
            <a:endParaRPr sz="2400">
              <a:latin typeface="黑体"/>
              <a:cs typeface="黑体"/>
            </a:endParaRPr>
          </a:p>
          <a:p>
            <a:pPr marL="12700">
              <a:lnSpc>
                <a:spcPct val="100000"/>
              </a:lnSpc>
              <a:spcBef>
                <a:spcPts val="1155"/>
              </a:spcBef>
            </a:pPr>
            <a:r>
              <a:rPr dirty="0" sz="2400">
                <a:solidFill>
                  <a:srgbClr val="D50092"/>
                </a:solidFill>
                <a:latin typeface="黑体"/>
                <a:cs typeface="黑体"/>
              </a:rPr>
              <a:t>进入条件：</a:t>
            </a:r>
            <a:r>
              <a:rPr dirty="0" sz="2400">
                <a:solidFill>
                  <a:srgbClr val="40458B"/>
                </a:solidFill>
                <a:latin typeface="黑体"/>
                <a:cs typeface="黑体"/>
              </a:rPr>
              <a:t>保留站</a:t>
            </a:r>
            <a:r>
              <a:rPr dirty="0" sz="2400" spc="-20" b="1">
                <a:solidFill>
                  <a:srgbClr val="E14B04"/>
                </a:solidFill>
                <a:latin typeface="宋体"/>
                <a:cs typeface="宋体"/>
              </a:rPr>
              <a:t>r</a:t>
            </a:r>
            <a:r>
              <a:rPr dirty="0" sz="2400">
                <a:solidFill>
                  <a:srgbClr val="40458B"/>
                </a:solidFill>
                <a:latin typeface="黑体"/>
                <a:cs typeface="黑体"/>
              </a:rPr>
              <a:t>执行结束，且</a:t>
            </a:r>
            <a:r>
              <a:rPr dirty="0" sz="2400" b="1">
                <a:solidFill>
                  <a:srgbClr val="40458B"/>
                </a:solidFill>
                <a:latin typeface="宋体"/>
                <a:cs typeface="宋体"/>
              </a:rPr>
              <a:t>RS[</a:t>
            </a:r>
            <a:r>
              <a:rPr dirty="0" sz="2400" b="1">
                <a:solidFill>
                  <a:srgbClr val="E14B04"/>
                </a:solidFill>
                <a:latin typeface="宋体"/>
                <a:cs typeface="宋体"/>
              </a:rPr>
              <a:t>r</a:t>
            </a:r>
            <a:r>
              <a:rPr dirty="0" sz="2400" b="1">
                <a:solidFill>
                  <a:srgbClr val="40458B"/>
                </a:solidFill>
                <a:latin typeface="宋体"/>
                <a:cs typeface="宋体"/>
              </a:rPr>
              <a:t>].Qk</a:t>
            </a:r>
            <a:r>
              <a:rPr dirty="0" sz="2400" spc="-45" b="1">
                <a:solidFill>
                  <a:srgbClr val="40458B"/>
                </a:solidFill>
                <a:latin typeface="宋体"/>
                <a:cs typeface="宋体"/>
              </a:rPr>
              <a:t> = </a:t>
            </a:r>
            <a:r>
              <a:rPr dirty="0" sz="2400" spc="-50" b="1">
                <a:solidFill>
                  <a:srgbClr val="40458B"/>
                </a:solidFill>
                <a:latin typeface="宋体"/>
                <a:cs typeface="宋体"/>
              </a:rPr>
              <a:t>0</a:t>
            </a:r>
            <a:endParaRPr sz="2400">
              <a:latin typeface="宋体"/>
              <a:cs typeface="宋体"/>
            </a:endParaRPr>
          </a:p>
          <a:p>
            <a:pPr marL="3856354">
              <a:lnSpc>
                <a:spcPct val="100000"/>
              </a:lnSpc>
              <a:spcBef>
                <a:spcPts val="1085"/>
              </a:spcBef>
            </a:pPr>
            <a:r>
              <a:rPr dirty="0" sz="2200" spc="-25" b="1">
                <a:solidFill>
                  <a:srgbClr val="9966FF"/>
                </a:solidFill>
                <a:latin typeface="宋体"/>
                <a:cs typeface="宋体"/>
              </a:rPr>
              <a:t>// 要存储的数据已经就绪</a:t>
            </a:r>
            <a:endParaRPr sz="2200">
              <a:latin typeface="宋体"/>
              <a:cs typeface="宋体"/>
            </a:endParaRPr>
          </a:p>
          <a:p>
            <a:pPr marL="12700">
              <a:lnSpc>
                <a:spcPct val="100000"/>
              </a:lnSpc>
              <a:spcBef>
                <a:spcPts val="1125"/>
              </a:spcBef>
            </a:pPr>
            <a:r>
              <a:rPr dirty="0" sz="2400" spc="-5">
                <a:solidFill>
                  <a:srgbClr val="D50092"/>
                </a:solidFill>
                <a:latin typeface="黑体"/>
                <a:cs typeface="黑体"/>
              </a:rPr>
              <a:t>操作和状态表内容修改：</a:t>
            </a:r>
            <a:endParaRPr sz="2400">
              <a:latin typeface="黑体"/>
              <a:cs typeface="黑体"/>
            </a:endParaRPr>
          </a:p>
        </p:txBody>
      </p:sp>
      <p:sp>
        <p:nvSpPr>
          <p:cNvPr id="5" name="object 5" descr=""/>
          <p:cNvSpPr txBox="1"/>
          <p:nvPr/>
        </p:nvSpPr>
        <p:spPr>
          <a:xfrm>
            <a:off x="1151331" y="5731255"/>
            <a:ext cx="350837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Tahoma"/>
                <a:cs typeface="Tahoma"/>
              </a:rPr>
              <a:t>Mem[RS[</a:t>
            </a:r>
            <a:r>
              <a:rPr dirty="0" sz="2400">
                <a:solidFill>
                  <a:srgbClr val="E14B04"/>
                </a:solidFill>
                <a:latin typeface="Tahoma"/>
                <a:cs typeface="Tahoma"/>
              </a:rPr>
              <a:t>r</a:t>
            </a:r>
            <a:r>
              <a:rPr dirty="0" sz="2400">
                <a:solidFill>
                  <a:srgbClr val="40458B"/>
                </a:solidFill>
                <a:latin typeface="Tahoma"/>
                <a:cs typeface="Tahoma"/>
              </a:rPr>
              <a:t>].A]</a:t>
            </a:r>
            <a:r>
              <a:rPr dirty="0" sz="2400" spc="-85">
                <a:solidFill>
                  <a:srgbClr val="40458B"/>
                </a:solidFill>
                <a:latin typeface="Tahoma"/>
                <a:cs typeface="Tahoma"/>
              </a:rPr>
              <a:t> </a:t>
            </a:r>
            <a:r>
              <a:rPr dirty="0" sz="2400">
                <a:solidFill>
                  <a:srgbClr val="40458B"/>
                </a:solidFill>
                <a:latin typeface="Symbol"/>
                <a:cs typeface="Symbol"/>
              </a:rPr>
              <a:t></a:t>
            </a:r>
            <a:r>
              <a:rPr dirty="0" sz="2400" spc="65">
                <a:solidFill>
                  <a:srgbClr val="40458B"/>
                </a:solidFill>
                <a:latin typeface="Times New Roman"/>
                <a:cs typeface="Times New Roman"/>
              </a:rPr>
              <a:t> </a:t>
            </a:r>
            <a:r>
              <a:rPr dirty="0" sz="2400" spc="-10">
                <a:solidFill>
                  <a:srgbClr val="40458B"/>
                </a:solidFill>
                <a:latin typeface="Tahoma"/>
                <a:cs typeface="Tahoma"/>
              </a:rPr>
              <a:t>RS[</a:t>
            </a:r>
            <a:r>
              <a:rPr dirty="0" sz="2400" spc="-10">
                <a:solidFill>
                  <a:srgbClr val="E14B04"/>
                </a:solidFill>
                <a:latin typeface="Tahoma"/>
                <a:cs typeface="Tahoma"/>
              </a:rPr>
              <a:t>r</a:t>
            </a:r>
            <a:r>
              <a:rPr dirty="0" sz="2400" spc="-10">
                <a:solidFill>
                  <a:srgbClr val="40458B"/>
                </a:solidFill>
                <a:latin typeface="Tahoma"/>
                <a:cs typeface="Tahoma"/>
              </a:rPr>
              <a:t>].</a:t>
            </a:r>
            <a:r>
              <a:rPr dirty="0" sz="2400" spc="-10">
                <a:solidFill>
                  <a:srgbClr val="9933FF"/>
                </a:solidFill>
                <a:latin typeface="Tahoma"/>
                <a:cs typeface="Tahoma"/>
              </a:rPr>
              <a:t>Vk</a:t>
            </a:r>
            <a:endParaRPr sz="2400">
              <a:latin typeface="Tahoma"/>
              <a:cs typeface="Tahoma"/>
            </a:endParaRPr>
          </a:p>
        </p:txBody>
      </p:sp>
      <p:sp>
        <p:nvSpPr>
          <p:cNvPr id="6" name="object 6" descr=""/>
          <p:cNvSpPr txBox="1"/>
          <p:nvPr/>
        </p:nvSpPr>
        <p:spPr>
          <a:xfrm>
            <a:off x="4995164" y="5781547"/>
            <a:ext cx="6809105" cy="330835"/>
          </a:xfrm>
          <a:prstGeom prst="rect">
            <a:avLst/>
          </a:prstGeom>
        </p:spPr>
        <p:txBody>
          <a:bodyPr wrap="square" lIns="0" tIns="12700" rIns="0" bIns="0" rtlCol="0" vert="horz">
            <a:spAutoFit/>
          </a:bodyPr>
          <a:lstStyle/>
          <a:p>
            <a:pPr marL="12700">
              <a:lnSpc>
                <a:spcPct val="100000"/>
              </a:lnSpc>
              <a:spcBef>
                <a:spcPts val="100"/>
              </a:spcBef>
            </a:pPr>
            <a:r>
              <a:rPr dirty="0" sz="2000" spc="-10" b="1">
                <a:latin typeface="宋体"/>
                <a:cs typeface="宋体"/>
              </a:rPr>
              <a:t>// 数据写入存储器，地址由store</a:t>
            </a:r>
            <a:r>
              <a:rPr dirty="0" sz="2000" spc="-20" b="1">
                <a:latin typeface="宋体"/>
                <a:cs typeface="宋体"/>
              </a:rPr>
              <a:t>缓冲器单元的</a:t>
            </a:r>
            <a:r>
              <a:rPr dirty="0" sz="2000" spc="-15" b="1">
                <a:solidFill>
                  <a:srgbClr val="9933FF"/>
                </a:solidFill>
                <a:latin typeface="宋体"/>
                <a:cs typeface="宋体"/>
              </a:rPr>
              <a:t>A</a:t>
            </a:r>
            <a:r>
              <a:rPr dirty="0" sz="2000" spc="-25" b="1">
                <a:latin typeface="宋体"/>
                <a:cs typeface="宋体"/>
              </a:rPr>
              <a:t>字段给出。</a:t>
            </a:r>
            <a:endParaRPr sz="2000">
              <a:latin typeface="宋体"/>
              <a:cs typeface="宋体"/>
            </a:endParaRPr>
          </a:p>
        </p:txBody>
      </p:sp>
      <p:sp>
        <p:nvSpPr>
          <p:cNvPr id="7" name="object 7" descr=""/>
          <p:cNvSpPr txBox="1"/>
          <p:nvPr/>
        </p:nvSpPr>
        <p:spPr>
          <a:xfrm>
            <a:off x="1151331" y="6243015"/>
            <a:ext cx="2592705"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Tahoma"/>
                <a:cs typeface="Tahoma"/>
              </a:rPr>
              <a:t>RS[</a:t>
            </a:r>
            <a:r>
              <a:rPr dirty="0" sz="2400">
                <a:solidFill>
                  <a:srgbClr val="E14B04"/>
                </a:solidFill>
                <a:latin typeface="Tahoma"/>
                <a:cs typeface="Tahoma"/>
              </a:rPr>
              <a:t>r</a:t>
            </a:r>
            <a:r>
              <a:rPr dirty="0" sz="2400">
                <a:solidFill>
                  <a:srgbClr val="40458B"/>
                </a:solidFill>
                <a:latin typeface="Tahoma"/>
                <a:cs typeface="Tahoma"/>
              </a:rPr>
              <a:t>].Busy</a:t>
            </a:r>
            <a:r>
              <a:rPr dirty="0" sz="2400" spc="-55">
                <a:solidFill>
                  <a:srgbClr val="40458B"/>
                </a:solidFill>
                <a:latin typeface="Tahoma"/>
                <a:cs typeface="Tahoma"/>
              </a:rPr>
              <a:t> </a:t>
            </a:r>
            <a:r>
              <a:rPr dirty="0" sz="2400">
                <a:solidFill>
                  <a:srgbClr val="40458B"/>
                </a:solidFill>
                <a:latin typeface="Symbol"/>
                <a:cs typeface="Symbol"/>
              </a:rPr>
              <a:t></a:t>
            </a:r>
            <a:r>
              <a:rPr dirty="0" sz="2400" spc="95">
                <a:solidFill>
                  <a:srgbClr val="40458B"/>
                </a:solidFill>
                <a:latin typeface="Times New Roman"/>
                <a:cs typeface="Times New Roman"/>
              </a:rPr>
              <a:t> </a:t>
            </a:r>
            <a:r>
              <a:rPr dirty="0" sz="2400" spc="-25">
                <a:solidFill>
                  <a:srgbClr val="40458B"/>
                </a:solidFill>
                <a:latin typeface="Tahoma"/>
                <a:cs typeface="Tahoma"/>
              </a:rPr>
              <a:t>no</a:t>
            </a:r>
            <a:r>
              <a:rPr dirty="0" sz="2400" spc="-25">
                <a:solidFill>
                  <a:srgbClr val="40458B"/>
                </a:solidFill>
                <a:latin typeface="黑体"/>
                <a:cs typeface="黑体"/>
              </a:rPr>
              <a:t>；</a:t>
            </a:r>
            <a:endParaRPr sz="2400">
              <a:latin typeface="黑体"/>
              <a:cs typeface="黑体"/>
            </a:endParaRPr>
          </a:p>
        </p:txBody>
      </p:sp>
      <p:sp>
        <p:nvSpPr>
          <p:cNvPr id="8" name="object 8" descr=""/>
          <p:cNvSpPr txBox="1"/>
          <p:nvPr/>
        </p:nvSpPr>
        <p:spPr>
          <a:xfrm>
            <a:off x="4097528" y="6293307"/>
            <a:ext cx="5139690" cy="331470"/>
          </a:xfrm>
          <a:prstGeom prst="rect">
            <a:avLst/>
          </a:prstGeom>
        </p:spPr>
        <p:txBody>
          <a:bodyPr wrap="square" lIns="0" tIns="13335" rIns="0" bIns="0" rtlCol="0" vert="horz">
            <a:spAutoFit/>
          </a:bodyPr>
          <a:lstStyle/>
          <a:p>
            <a:pPr marL="12700">
              <a:lnSpc>
                <a:spcPct val="100000"/>
              </a:lnSpc>
              <a:spcBef>
                <a:spcPts val="105"/>
              </a:spcBef>
            </a:pPr>
            <a:r>
              <a:rPr dirty="0" sz="2000" spc="-25" b="1">
                <a:latin typeface="宋体"/>
                <a:cs typeface="宋体"/>
              </a:rPr>
              <a:t>//释放当前缓冲器单元，将之置为空闲状态。</a:t>
            </a:r>
            <a:endParaRPr sz="2000">
              <a:latin typeface="宋体"/>
              <a:cs typeface="宋体"/>
            </a:endParaRPr>
          </a:p>
        </p:txBody>
      </p:sp>
      <p:grpSp>
        <p:nvGrpSpPr>
          <p:cNvPr id="9" name="object 9" descr=""/>
          <p:cNvGrpSpPr/>
          <p:nvPr/>
        </p:nvGrpSpPr>
        <p:grpSpPr>
          <a:xfrm>
            <a:off x="6811962" y="111125"/>
            <a:ext cx="4516755" cy="659130"/>
            <a:chOff x="6811962" y="111125"/>
            <a:chExt cx="4516755" cy="659130"/>
          </a:xfrm>
        </p:grpSpPr>
        <p:sp>
          <p:nvSpPr>
            <p:cNvPr id="10" name="object 10" descr=""/>
            <p:cNvSpPr/>
            <p:nvPr/>
          </p:nvSpPr>
          <p:spPr>
            <a:xfrm>
              <a:off x="6816725" y="115887"/>
              <a:ext cx="4507230" cy="649605"/>
            </a:xfrm>
            <a:custGeom>
              <a:avLst/>
              <a:gdLst/>
              <a:ahLst/>
              <a:cxnLst/>
              <a:rect l="l" t="t" r="r" b="b"/>
              <a:pathLst>
                <a:path w="4507230" h="649605">
                  <a:moveTo>
                    <a:pt x="4506976" y="0"/>
                  </a:moveTo>
                  <a:lnTo>
                    <a:pt x="0" y="0"/>
                  </a:lnTo>
                  <a:lnTo>
                    <a:pt x="0" y="649287"/>
                  </a:lnTo>
                  <a:lnTo>
                    <a:pt x="4506976" y="649287"/>
                  </a:lnTo>
                  <a:lnTo>
                    <a:pt x="4506976" y="0"/>
                  </a:lnTo>
                  <a:close/>
                </a:path>
              </a:pathLst>
            </a:custGeom>
            <a:solidFill>
              <a:srgbClr val="EBD782"/>
            </a:solidFill>
          </p:spPr>
          <p:txBody>
            <a:bodyPr wrap="square" lIns="0" tIns="0" rIns="0" bIns="0" rtlCol="0"/>
            <a:lstStyle/>
            <a:p/>
          </p:txBody>
        </p:sp>
        <p:sp>
          <p:nvSpPr>
            <p:cNvPr id="11" name="object 11" descr=""/>
            <p:cNvSpPr/>
            <p:nvPr/>
          </p:nvSpPr>
          <p:spPr>
            <a:xfrm>
              <a:off x="6816725" y="115887"/>
              <a:ext cx="4507230" cy="649605"/>
            </a:xfrm>
            <a:custGeom>
              <a:avLst/>
              <a:gdLst/>
              <a:ahLst/>
              <a:cxnLst/>
              <a:rect l="l" t="t" r="r" b="b"/>
              <a:pathLst>
                <a:path w="4507230" h="649605">
                  <a:moveTo>
                    <a:pt x="0" y="649287"/>
                  </a:moveTo>
                  <a:lnTo>
                    <a:pt x="4506976" y="649287"/>
                  </a:lnTo>
                  <a:lnTo>
                    <a:pt x="4506976" y="0"/>
                  </a:lnTo>
                  <a:lnTo>
                    <a:pt x="0" y="0"/>
                  </a:lnTo>
                  <a:lnTo>
                    <a:pt x="0" y="649287"/>
                  </a:lnTo>
                  <a:close/>
                </a:path>
              </a:pathLst>
            </a:custGeom>
            <a:ln w="9525">
              <a:solidFill>
                <a:srgbClr val="40458B"/>
              </a:solidFill>
            </a:ln>
          </p:spPr>
          <p:txBody>
            <a:bodyPr wrap="square" lIns="0" tIns="0" rIns="0" bIns="0" rtlCol="0"/>
            <a:lstStyle/>
            <a:p/>
          </p:txBody>
        </p:sp>
      </p:grpSp>
      <p:sp>
        <p:nvSpPr>
          <p:cNvPr id="12" name="object 12" descr=""/>
          <p:cNvSpPr txBox="1"/>
          <p:nvPr/>
        </p:nvSpPr>
        <p:spPr>
          <a:xfrm>
            <a:off x="6990715" y="149097"/>
            <a:ext cx="4297045"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如果操作数二：保留站，等结果</a:t>
            </a:r>
            <a:endParaRPr sz="2400">
              <a:latin typeface="黑体"/>
              <a:cs typeface="黑体"/>
            </a:endParaRPr>
          </a:p>
        </p:txBody>
      </p:sp>
      <p:sp>
        <p:nvSpPr>
          <p:cNvPr id="13" name="object 13"/>
          <p:cNvSpPr txBox="1">
            <a:spLocks noGrp="1"/>
          </p:cNvSpPr>
          <p:nvPr>
            <p:ph type="title"/>
          </p:nvPr>
        </p:nvSpPr>
        <p:spPr>
          <a:xfrm>
            <a:off x="3094735" y="-44068"/>
            <a:ext cx="1073150" cy="767715"/>
          </a:xfrm>
          <a:prstGeom prst="rect"/>
        </p:spPr>
        <p:txBody>
          <a:bodyPr wrap="square" lIns="0" tIns="12700" rIns="0" bIns="0" rtlCol="0" vert="horz">
            <a:spAutoFit/>
          </a:bodyPr>
          <a:lstStyle/>
          <a:p>
            <a:pPr marL="13970">
              <a:lnSpc>
                <a:spcPct val="100000"/>
              </a:lnSpc>
              <a:spcBef>
                <a:spcPts val="100"/>
              </a:spcBef>
            </a:pPr>
            <a:r>
              <a:rPr dirty="0" sz="2400" spc="-10" b="1">
                <a:solidFill>
                  <a:srgbClr val="40458B"/>
                </a:solidFill>
                <a:latin typeface="微软雅黑"/>
                <a:cs typeface="微软雅黑"/>
              </a:rPr>
              <a:t>MUL.D</a:t>
            </a:r>
            <a:endParaRPr sz="2400">
              <a:latin typeface="微软雅黑"/>
              <a:cs typeface="微软雅黑"/>
            </a:endParaRPr>
          </a:p>
          <a:p>
            <a:pPr marL="12700">
              <a:lnSpc>
                <a:spcPct val="100000"/>
              </a:lnSpc>
              <a:spcBef>
                <a:spcPts val="80"/>
              </a:spcBef>
            </a:pPr>
            <a:r>
              <a:rPr dirty="0" sz="2400" spc="-10" b="1">
                <a:solidFill>
                  <a:srgbClr val="40458B"/>
                </a:solidFill>
                <a:latin typeface="Tahoma"/>
                <a:cs typeface="Tahoma"/>
              </a:rPr>
              <a:t>ADD.D</a:t>
            </a:r>
            <a:endParaRPr sz="2400">
              <a:latin typeface="Tahoma"/>
              <a:cs typeface="Tahoma"/>
            </a:endParaRPr>
          </a:p>
        </p:txBody>
      </p:sp>
      <p:sp>
        <p:nvSpPr>
          <p:cNvPr id="14" name="object 14" descr=""/>
          <p:cNvSpPr txBox="1"/>
          <p:nvPr/>
        </p:nvSpPr>
        <p:spPr>
          <a:xfrm>
            <a:off x="4415853" y="-44068"/>
            <a:ext cx="1708785" cy="767715"/>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40458B"/>
                </a:solidFill>
                <a:latin typeface="微软雅黑"/>
                <a:cs typeface="微软雅黑"/>
              </a:rPr>
              <a:t>F2，F0，F4</a:t>
            </a:r>
            <a:endParaRPr sz="2400">
              <a:latin typeface="微软雅黑"/>
              <a:cs typeface="微软雅黑"/>
            </a:endParaRPr>
          </a:p>
          <a:p>
            <a:pPr marL="43180">
              <a:lnSpc>
                <a:spcPct val="100000"/>
              </a:lnSpc>
              <a:spcBef>
                <a:spcPts val="80"/>
              </a:spcBef>
            </a:pPr>
            <a:r>
              <a:rPr dirty="0" sz="2400" b="1">
                <a:solidFill>
                  <a:srgbClr val="40458B"/>
                </a:solidFill>
                <a:latin typeface="Tahoma"/>
                <a:cs typeface="Tahoma"/>
              </a:rPr>
              <a:t>F6</a:t>
            </a:r>
            <a:r>
              <a:rPr dirty="0" sz="2400" spc="-25" b="1">
                <a:solidFill>
                  <a:srgbClr val="40458B"/>
                </a:solidFill>
                <a:latin typeface="Tahoma"/>
                <a:cs typeface="Tahoma"/>
              </a:rPr>
              <a:t> </a:t>
            </a:r>
            <a:r>
              <a:rPr dirty="0" sz="2400" b="1">
                <a:solidFill>
                  <a:srgbClr val="40458B"/>
                </a:solidFill>
                <a:latin typeface="Tahoma"/>
                <a:cs typeface="Tahoma"/>
              </a:rPr>
              <a:t>,F8,</a:t>
            </a:r>
            <a:r>
              <a:rPr dirty="0" sz="2400" spc="-55" b="1">
                <a:solidFill>
                  <a:srgbClr val="40458B"/>
                </a:solidFill>
                <a:latin typeface="Tahoma"/>
                <a:cs typeface="Tahoma"/>
              </a:rPr>
              <a:t> </a:t>
            </a:r>
            <a:r>
              <a:rPr dirty="0" sz="2400" spc="-25" b="1">
                <a:solidFill>
                  <a:srgbClr val="FF0000"/>
                </a:solidFill>
                <a:latin typeface="Tahoma"/>
                <a:cs typeface="Tahoma"/>
              </a:rPr>
              <a:t>F2</a:t>
            </a:r>
            <a:endParaRPr sz="2400">
              <a:latin typeface="Tahoma"/>
              <a:cs typeface="Tahoma"/>
            </a:endParaRPr>
          </a:p>
        </p:txBody>
      </p:sp>
      <p:sp>
        <p:nvSpPr>
          <p:cNvPr id="15" name="object 15" descr=""/>
          <p:cNvSpPr/>
          <p:nvPr/>
        </p:nvSpPr>
        <p:spPr>
          <a:xfrm>
            <a:off x="5958713" y="413258"/>
            <a:ext cx="1217295" cy="212725"/>
          </a:xfrm>
          <a:custGeom>
            <a:avLst/>
            <a:gdLst/>
            <a:ahLst/>
            <a:cxnLst/>
            <a:rect l="l" t="t" r="r" b="b"/>
            <a:pathLst>
              <a:path w="1217295" h="212725">
                <a:moveTo>
                  <a:pt x="1140703" y="32987"/>
                </a:moveTo>
                <a:lnTo>
                  <a:pt x="0" y="202691"/>
                </a:lnTo>
                <a:lnTo>
                  <a:pt x="1524" y="212216"/>
                </a:lnTo>
                <a:lnTo>
                  <a:pt x="1142111" y="42385"/>
                </a:lnTo>
                <a:lnTo>
                  <a:pt x="1140703" y="32987"/>
                </a:lnTo>
                <a:close/>
              </a:path>
              <a:path w="1217295" h="212725">
                <a:moveTo>
                  <a:pt x="1210267" y="31114"/>
                </a:moveTo>
                <a:lnTo>
                  <a:pt x="1153287" y="31114"/>
                </a:lnTo>
                <a:lnTo>
                  <a:pt x="1154684" y="40512"/>
                </a:lnTo>
                <a:lnTo>
                  <a:pt x="1142111" y="42385"/>
                </a:lnTo>
                <a:lnTo>
                  <a:pt x="1147064" y="75437"/>
                </a:lnTo>
                <a:lnTo>
                  <a:pt x="1210267" y="31114"/>
                </a:lnTo>
                <a:close/>
              </a:path>
              <a:path w="1217295" h="212725">
                <a:moveTo>
                  <a:pt x="1153287" y="31114"/>
                </a:moveTo>
                <a:lnTo>
                  <a:pt x="1140703" y="32987"/>
                </a:lnTo>
                <a:lnTo>
                  <a:pt x="1142111" y="42385"/>
                </a:lnTo>
                <a:lnTo>
                  <a:pt x="1154684" y="40512"/>
                </a:lnTo>
                <a:lnTo>
                  <a:pt x="1153287" y="31114"/>
                </a:lnTo>
                <a:close/>
              </a:path>
              <a:path w="1217295" h="212725">
                <a:moveTo>
                  <a:pt x="1135761" y="0"/>
                </a:moveTo>
                <a:lnTo>
                  <a:pt x="1140703" y="32987"/>
                </a:lnTo>
                <a:lnTo>
                  <a:pt x="1153287" y="31114"/>
                </a:lnTo>
                <a:lnTo>
                  <a:pt x="1210267" y="31114"/>
                </a:lnTo>
                <a:lnTo>
                  <a:pt x="1216787" y="26542"/>
                </a:lnTo>
                <a:lnTo>
                  <a:pt x="1135761" y="0"/>
                </a:lnTo>
                <a:close/>
              </a:path>
            </a:pathLst>
          </a:custGeom>
          <a:solidFill>
            <a:srgbClr val="FF0000"/>
          </a:solidFill>
        </p:spPr>
        <p:txBody>
          <a:bodyPr wrap="square" lIns="0" tIns="0" rIns="0" bIns="0" rtlCol="0"/>
          <a:lstStyle/>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116/175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sp>
        <p:nvSpPr>
          <p:cNvPr id="4" name="object 4"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5" name="object 5" descr=""/>
          <p:cNvSpPr txBox="1"/>
          <p:nvPr/>
        </p:nvSpPr>
        <p:spPr>
          <a:xfrm>
            <a:off x="2142870" y="2118715"/>
            <a:ext cx="7352665" cy="1214120"/>
          </a:xfrm>
          <a:prstGeom prst="rect">
            <a:avLst/>
          </a:prstGeom>
        </p:spPr>
        <p:txBody>
          <a:bodyPr wrap="square" lIns="0" tIns="12700" rIns="0" bIns="0" rtlCol="0" vert="horz">
            <a:spAutoFit/>
          </a:bodyPr>
          <a:lstStyle/>
          <a:p>
            <a:pPr marL="12700" marR="5080">
              <a:lnSpc>
                <a:spcPct val="150000"/>
              </a:lnSpc>
              <a:spcBef>
                <a:spcPts val="100"/>
              </a:spcBef>
            </a:pPr>
            <a:r>
              <a:rPr dirty="0" sz="2600" spc="-10">
                <a:latin typeface="微软雅黑"/>
                <a:cs typeface="微软雅黑"/>
              </a:rPr>
              <a:t>解决流水线的冲突有以下方法： </a:t>
            </a:r>
            <a:r>
              <a:rPr dirty="0" sz="2600" spc="-5">
                <a:solidFill>
                  <a:srgbClr val="629EF4"/>
                </a:solidFill>
                <a:latin typeface="微软雅黑"/>
                <a:cs typeface="微软雅黑"/>
              </a:rPr>
              <a:t>[填空</a:t>
            </a:r>
            <a:r>
              <a:rPr dirty="0" sz="2600">
                <a:solidFill>
                  <a:srgbClr val="629EF4"/>
                </a:solidFill>
                <a:latin typeface="微软雅黑"/>
                <a:cs typeface="微软雅黑"/>
              </a:rPr>
              <a:t>1</a:t>
            </a:r>
            <a:r>
              <a:rPr dirty="0" sz="2600" spc="-25">
                <a:solidFill>
                  <a:srgbClr val="629EF4"/>
                </a:solidFill>
                <a:latin typeface="微软雅黑"/>
                <a:cs typeface="微软雅黑"/>
              </a:rPr>
              <a:t>] </a:t>
            </a:r>
            <a:r>
              <a:rPr dirty="0" sz="2600" spc="-5">
                <a:latin typeface="微软雅黑"/>
                <a:cs typeface="微软雅黑"/>
              </a:rPr>
              <a:t>技术，</a:t>
            </a:r>
            <a:r>
              <a:rPr dirty="0" sz="2600" spc="-30">
                <a:solidFill>
                  <a:srgbClr val="629EF4"/>
                </a:solidFill>
                <a:latin typeface="微软雅黑"/>
                <a:cs typeface="微软雅黑"/>
              </a:rPr>
              <a:t>[填</a:t>
            </a:r>
            <a:r>
              <a:rPr dirty="0" sz="2600">
                <a:solidFill>
                  <a:srgbClr val="629EF4"/>
                </a:solidFill>
                <a:latin typeface="微软雅黑"/>
                <a:cs typeface="微软雅黑"/>
              </a:rPr>
              <a:t>空2</a:t>
            </a:r>
            <a:r>
              <a:rPr dirty="0" sz="2600" spc="-10">
                <a:solidFill>
                  <a:srgbClr val="629EF4"/>
                </a:solidFill>
                <a:latin typeface="微软雅黑"/>
                <a:cs typeface="微软雅黑"/>
              </a:rPr>
              <a:t>] </a:t>
            </a:r>
            <a:r>
              <a:rPr dirty="0" sz="2600" spc="-5">
                <a:latin typeface="微软雅黑"/>
                <a:cs typeface="微软雅黑"/>
              </a:rPr>
              <a:t>技术， </a:t>
            </a:r>
            <a:r>
              <a:rPr dirty="0" sz="2600" spc="-5">
                <a:solidFill>
                  <a:srgbClr val="629EF4"/>
                </a:solidFill>
                <a:latin typeface="微软雅黑"/>
                <a:cs typeface="微软雅黑"/>
              </a:rPr>
              <a:t>[填空</a:t>
            </a:r>
            <a:r>
              <a:rPr dirty="0" sz="2600">
                <a:solidFill>
                  <a:srgbClr val="629EF4"/>
                </a:solidFill>
                <a:latin typeface="微软雅黑"/>
                <a:cs typeface="微软雅黑"/>
              </a:rPr>
              <a:t>3</a:t>
            </a:r>
            <a:r>
              <a:rPr dirty="0" sz="2600" spc="-10">
                <a:solidFill>
                  <a:srgbClr val="629EF4"/>
                </a:solidFill>
                <a:latin typeface="微软雅黑"/>
                <a:cs typeface="微软雅黑"/>
              </a:rPr>
              <a:t>] </a:t>
            </a:r>
            <a:r>
              <a:rPr dirty="0" sz="2600" spc="-5">
                <a:latin typeface="微软雅黑"/>
                <a:cs typeface="微软雅黑"/>
              </a:rPr>
              <a:t>调度， </a:t>
            </a:r>
            <a:r>
              <a:rPr dirty="0" sz="2600" spc="-5">
                <a:solidFill>
                  <a:srgbClr val="629EF4"/>
                </a:solidFill>
                <a:latin typeface="微软雅黑"/>
                <a:cs typeface="微软雅黑"/>
              </a:rPr>
              <a:t>[填空</a:t>
            </a:r>
            <a:r>
              <a:rPr dirty="0" sz="2600">
                <a:solidFill>
                  <a:srgbClr val="629EF4"/>
                </a:solidFill>
                <a:latin typeface="微软雅黑"/>
                <a:cs typeface="微软雅黑"/>
              </a:rPr>
              <a:t>4</a:t>
            </a:r>
            <a:r>
              <a:rPr dirty="0" sz="2600" spc="-5">
                <a:solidFill>
                  <a:srgbClr val="629EF4"/>
                </a:solidFill>
                <a:latin typeface="微软雅黑"/>
                <a:cs typeface="微软雅黑"/>
              </a:rPr>
              <a:t>] </a:t>
            </a:r>
            <a:r>
              <a:rPr dirty="0" sz="2600" spc="-20">
                <a:latin typeface="微软雅黑"/>
                <a:cs typeface="微软雅黑"/>
              </a:rPr>
              <a:t>调度。</a:t>
            </a:r>
            <a:endParaRPr sz="2600">
              <a:latin typeface="微软雅黑"/>
              <a:cs typeface="微软雅黑"/>
            </a:endParaRPr>
          </a:p>
        </p:txBody>
      </p:sp>
      <p:grpSp>
        <p:nvGrpSpPr>
          <p:cNvPr id="6" name="object 6" descr=""/>
          <p:cNvGrpSpPr/>
          <p:nvPr/>
        </p:nvGrpSpPr>
        <p:grpSpPr>
          <a:xfrm>
            <a:off x="7605776" y="5497576"/>
            <a:ext cx="1581150" cy="449580"/>
            <a:chOff x="7605776" y="5497576"/>
            <a:chExt cx="1581150" cy="449580"/>
          </a:xfrm>
        </p:grpSpPr>
        <p:sp>
          <p:nvSpPr>
            <p:cNvPr id="7" name="object 7" descr=""/>
            <p:cNvSpPr/>
            <p:nvPr/>
          </p:nvSpPr>
          <p:spPr>
            <a:xfrm>
              <a:off x="7624826" y="5516626"/>
              <a:ext cx="1543050" cy="411480"/>
            </a:xfrm>
            <a:custGeom>
              <a:avLst/>
              <a:gdLst/>
              <a:ahLst/>
              <a:cxnLst/>
              <a:rect l="l" t="t" r="r" b="b"/>
              <a:pathLst>
                <a:path w="1543050" h="411479">
                  <a:moveTo>
                    <a:pt x="1474470" y="0"/>
                  </a:moveTo>
                  <a:lnTo>
                    <a:pt x="68452" y="0"/>
                  </a:lnTo>
                  <a:lnTo>
                    <a:pt x="41790" y="5373"/>
                  </a:lnTo>
                  <a:lnTo>
                    <a:pt x="20034" y="20034"/>
                  </a:lnTo>
                  <a:lnTo>
                    <a:pt x="5373" y="41790"/>
                  </a:lnTo>
                  <a:lnTo>
                    <a:pt x="0" y="68453"/>
                  </a:lnTo>
                  <a:lnTo>
                    <a:pt x="0" y="342569"/>
                  </a:lnTo>
                  <a:lnTo>
                    <a:pt x="5373" y="369243"/>
                  </a:lnTo>
                  <a:lnTo>
                    <a:pt x="20034" y="391026"/>
                  </a:lnTo>
                  <a:lnTo>
                    <a:pt x="41790" y="405713"/>
                  </a:lnTo>
                  <a:lnTo>
                    <a:pt x="68452" y="411099"/>
                  </a:lnTo>
                  <a:lnTo>
                    <a:pt x="1474470" y="411099"/>
                  </a:lnTo>
                  <a:lnTo>
                    <a:pt x="1501151" y="405713"/>
                  </a:lnTo>
                  <a:lnTo>
                    <a:pt x="1522952" y="391026"/>
                  </a:lnTo>
                  <a:lnTo>
                    <a:pt x="1537656" y="369243"/>
                  </a:lnTo>
                  <a:lnTo>
                    <a:pt x="1543050" y="342569"/>
                  </a:lnTo>
                  <a:lnTo>
                    <a:pt x="1543050" y="68453"/>
                  </a:lnTo>
                  <a:lnTo>
                    <a:pt x="1537656" y="41790"/>
                  </a:lnTo>
                  <a:lnTo>
                    <a:pt x="1522952" y="20034"/>
                  </a:lnTo>
                  <a:lnTo>
                    <a:pt x="1501151" y="5373"/>
                  </a:lnTo>
                  <a:lnTo>
                    <a:pt x="1474470" y="0"/>
                  </a:lnTo>
                  <a:close/>
                </a:path>
              </a:pathLst>
            </a:custGeom>
            <a:solidFill>
              <a:srgbClr val="808080"/>
            </a:solidFill>
          </p:spPr>
          <p:txBody>
            <a:bodyPr wrap="square" lIns="0" tIns="0" rIns="0" bIns="0" rtlCol="0"/>
            <a:lstStyle/>
            <a:p/>
          </p:txBody>
        </p:sp>
        <p:sp>
          <p:nvSpPr>
            <p:cNvPr id="8" name="object 8" descr=""/>
            <p:cNvSpPr/>
            <p:nvPr/>
          </p:nvSpPr>
          <p:spPr>
            <a:xfrm>
              <a:off x="7624826" y="5516626"/>
              <a:ext cx="1543050" cy="411480"/>
            </a:xfrm>
            <a:custGeom>
              <a:avLst/>
              <a:gdLst/>
              <a:ahLst/>
              <a:cxnLst/>
              <a:rect l="l" t="t" r="r" b="b"/>
              <a:pathLst>
                <a:path w="1543050" h="411479">
                  <a:moveTo>
                    <a:pt x="0" y="68453"/>
                  </a:moveTo>
                  <a:lnTo>
                    <a:pt x="5373" y="41790"/>
                  </a:lnTo>
                  <a:lnTo>
                    <a:pt x="20034" y="20034"/>
                  </a:lnTo>
                  <a:lnTo>
                    <a:pt x="41790" y="5373"/>
                  </a:lnTo>
                  <a:lnTo>
                    <a:pt x="68452" y="0"/>
                  </a:lnTo>
                  <a:lnTo>
                    <a:pt x="1474470" y="0"/>
                  </a:lnTo>
                  <a:lnTo>
                    <a:pt x="1501151" y="5373"/>
                  </a:lnTo>
                  <a:lnTo>
                    <a:pt x="1522952" y="20034"/>
                  </a:lnTo>
                  <a:lnTo>
                    <a:pt x="1537656" y="41790"/>
                  </a:lnTo>
                  <a:lnTo>
                    <a:pt x="1543050" y="68453"/>
                  </a:lnTo>
                  <a:lnTo>
                    <a:pt x="1543050" y="342569"/>
                  </a:lnTo>
                  <a:lnTo>
                    <a:pt x="1537656" y="369243"/>
                  </a:lnTo>
                  <a:lnTo>
                    <a:pt x="1522952" y="391026"/>
                  </a:lnTo>
                  <a:lnTo>
                    <a:pt x="1501151" y="405713"/>
                  </a:lnTo>
                  <a:lnTo>
                    <a:pt x="1474470" y="411099"/>
                  </a:lnTo>
                  <a:lnTo>
                    <a:pt x="68452" y="411099"/>
                  </a:lnTo>
                  <a:lnTo>
                    <a:pt x="41790" y="405713"/>
                  </a:lnTo>
                  <a:lnTo>
                    <a:pt x="20034" y="391026"/>
                  </a:lnTo>
                  <a:lnTo>
                    <a:pt x="5373" y="369243"/>
                  </a:lnTo>
                  <a:lnTo>
                    <a:pt x="0" y="342569"/>
                  </a:lnTo>
                  <a:lnTo>
                    <a:pt x="0" y="68453"/>
                  </a:lnTo>
                  <a:close/>
                </a:path>
              </a:pathLst>
            </a:custGeom>
            <a:ln w="38100">
              <a:solidFill>
                <a:srgbClr val="000000"/>
              </a:solidFill>
            </a:ln>
          </p:spPr>
          <p:txBody>
            <a:bodyPr wrap="square" lIns="0" tIns="0" rIns="0" bIns="0" rtlCol="0"/>
            <a:lstStyle/>
            <a:p/>
          </p:txBody>
        </p:sp>
      </p:grpSp>
      <p:sp>
        <p:nvSpPr>
          <p:cNvPr id="9" name="object 9" descr=""/>
          <p:cNvSpPr txBox="1"/>
          <p:nvPr/>
        </p:nvSpPr>
        <p:spPr>
          <a:xfrm>
            <a:off x="8181593" y="5581294"/>
            <a:ext cx="431165" cy="269240"/>
          </a:xfrm>
          <a:prstGeom prst="rect">
            <a:avLst/>
          </a:prstGeom>
        </p:spPr>
        <p:txBody>
          <a:bodyPr wrap="square" lIns="0" tIns="12065" rIns="0" bIns="0" rtlCol="0" vert="horz">
            <a:spAutoFit/>
          </a:bodyPr>
          <a:lstStyle/>
          <a:p>
            <a:pPr marL="12700">
              <a:lnSpc>
                <a:spcPct val="100000"/>
              </a:lnSpc>
              <a:spcBef>
                <a:spcPts val="95"/>
              </a:spcBef>
            </a:pPr>
            <a:r>
              <a:rPr dirty="0" sz="1600" spc="-40">
                <a:solidFill>
                  <a:srgbClr val="FFFFFF"/>
                </a:solidFill>
                <a:latin typeface="微软雅黑"/>
                <a:cs typeface="微软雅黑"/>
              </a:rPr>
              <a:t>作答</a:t>
            </a:r>
            <a:endParaRPr sz="1600">
              <a:latin typeface="微软雅黑"/>
              <a:cs typeface="微软雅黑"/>
            </a:endParaRPr>
          </a:p>
        </p:txBody>
      </p:sp>
      <p:sp>
        <p:nvSpPr>
          <p:cNvPr id="10" name="object 10" descr=""/>
          <p:cNvSpPr/>
          <p:nvPr/>
        </p:nvSpPr>
        <p:spPr>
          <a:xfrm>
            <a:off x="0" y="0"/>
            <a:ext cx="190500" cy="635000"/>
          </a:xfrm>
          <a:custGeom>
            <a:avLst/>
            <a:gdLst/>
            <a:ahLst/>
            <a:cxnLst/>
            <a:rect l="l" t="t" r="r" b="b"/>
            <a:pathLst>
              <a:path w="190500" h="635000">
                <a:moveTo>
                  <a:pt x="190500" y="0"/>
                </a:moveTo>
                <a:lnTo>
                  <a:pt x="0" y="0"/>
                </a:lnTo>
                <a:lnTo>
                  <a:pt x="0" y="635000"/>
                </a:lnTo>
                <a:lnTo>
                  <a:pt x="190500" y="635000"/>
                </a:lnTo>
                <a:lnTo>
                  <a:pt x="190500" y="0"/>
                </a:lnTo>
                <a:close/>
              </a:path>
            </a:pathLst>
          </a:custGeom>
          <a:solidFill>
            <a:srgbClr val="629EF4"/>
          </a:solidFill>
        </p:spPr>
        <p:txBody>
          <a:bodyPr wrap="square" lIns="0" tIns="0" rIns="0" bIns="0" rtlCol="0"/>
          <a:lstStyle/>
          <a:p/>
        </p:txBody>
      </p:sp>
      <p:sp>
        <p:nvSpPr>
          <p:cNvPr id="11" name="object 11"/>
          <p:cNvSpPr txBox="1">
            <a:spLocks noGrp="1"/>
          </p:cNvSpPr>
          <p:nvPr>
            <p:ph type="title"/>
          </p:nvPr>
        </p:nvSpPr>
        <p:spPr>
          <a:xfrm>
            <a:off x="190500" y="0"/>
            <a:ext cx="8953500" cy="635000"/>
          </a:xfrm>
          <a:prstGeom prst="rect"/>
          <a:solidFill>
            <a:srgbClr val="F6F7F8"/>
          </a:solidFill>
        </p:spPr>
        <p:txBody>
          <a:bodyPr wrap="square" lIns="0" tIns="106045" rIns="0" bIns="0" rtlCol="0" vert="horz">
            <a:spAutoFit/>
          </a:bodyPr>
          <a:lstStyle/>
          <a:p>
            <a:pPr marL="154940">
              <a:lnSpc>
                <a:spcPct val="100000"/>
              </a:lnSpc>
              <a:spcBef>
                <a:spcPts val="835"/>
              </a:spcBef>
              <a:tabLst>
                <a:tab pos="1426845" algn="l"/>
              </a:tabLst>
            </a:pPr>
            <a:r>
              <a:rPr dirty="0" sz="2600">
                <a:solidFill>
                  <a:srgbClr val="000000"/>
                </a:solidFill>
                <a:latin typeface="微软雅黑"/>
                <a:cs typeface="微软雅黑"/>
              </a:rPr>
              <a:t>填空</a:t>
            </a:r>
            <a:r>
              <a:rPr dirty="0" sz="2600" spc="-50">
                <a:solidFill>
                  <a:srgbClr val="000000"/>
                </a:solidFill>
                <a:latin typeface="微软雅黑"/>
                <a:cs typeface="微软雅黑"/>
              </a:rPr>
              <a:t>题</a:t>
            </a:r>
            <a:r>
              <a:rPr dirty="0" sz="2600">
                <a:solidFill>
                  <a:srgbClr val="000000"/>
                </a:solidFill>
                <a:latin typeface="微软雅黑"/>
                <a:cs typeface="微软雅黑"/>
              </a:rPr>
              <a:t>	</a:t>
            </a:r>
            <a:r>
              <a:rPr dirty="0" baseline="-4166" sz="3000">
                <a:solidFill>
                  <a:srgbClr val="808080"/>
                </a:solidFill>
                <a:latin typeface="微软雅黑"/>
                <a:cs typeface="微软雅黑"/>
              </a:rPr>
              <a:t>4</a:t>
            </a:r>
            <a:r>
              <a:rPr dirty="0" baseline="-4166" sz="3000" spc="-75">
                <a:solidFill>
                  <a:srgbClr val="808080"/>
                </a:solidFill>
                <a:latin typeface="微软雅黑"/>
                <a:cs typeface="微软雅黑"/>
              </a:rPr>
              <a:t>分</a:t>
            </a:r>
            <a:endParaRPr baseline="-4166" sz="3000">
              <a:latin typeface="微软雅黑"/>
              <a:cs typeface="微软雅黑"/>
            </a:endParaRPr>
          </a:p>
        </p:txBody>
      </p:sp>
      <p:pic>
        <p:nvPicPr>
          <p:cNvPr id="12" name="object 12" descr=""/>
          <p:cNvPicPr/>
          <p:nvPr/>
        </p:nvPicPr>
        <p:blipFill>
          <a:blip r:embed="rId2" cstate="print"/>
          <a:stretch>
            <a:fillRect/>
          </a:stretch>
        </p:blipFill>
        <p:spPr>
          <a:xfrm>
            <a:off x="10642600" y="63500"/>
            <a:ext cx="1422400" cy="50800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117/175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558190" y="1117549"/>
            <a:ext cx="10645140" cy="514350"/>
          </a:xfrm>
          <a:prstGeom prst="rect">
            <a:avLst/>
          </a:prstGeom>
        </p:spPr>
        <p:txBody>
          <a:bodyPr wrap="square" lIns="0" tIns="13335" rIns="0" bIns="0" rtlCol="0" vert="horz">
            <a:spAutoFit/>
          </a:bodyPr>
          <a:lstStyle/>
          <a:p>
            <a:pPr marL="469265" indent="-456565">
              <a:lnSpc>
                <a:spcPct val="100000"/>
              </a:lnSpc>
              <a:spcBef>
                <a:spcPts val="105"/>
              </a:spcBef>
              <a:buClr>
                <a:srgbClr val="40458B"/>
              </a:buClr>
              <a:buFont typeface="Wingdings"/>
              <a:buChar char=""/>
              <a:tabLst>
                <a:tab pos="469265" algn="l"/>
              </a:tabLst>
            </a:pPr>
            <a:r>
              <a:rPr dirty="0" sz="3200" spc="-10">
                <a:solidFill>
                  <a:srgbClr val="001F5F"/>
                </a:solidFill>
                <a:latin typeface="黑体"/>
                <a:cs typeface="黑体"/>
              </a:rPr>
              <a:t>记分牌算法与Tomasulo</a:t>
            </a:r>
            <a:r>
              <a:rPr dirty="0" sz="3200" spc="-25">
                <a:solidFill>
                  <a:srgbClr val="001F5F"/>
                </a:solidFill>
                <a:latin typeface="黑体"/>
                <a:cs typeface="黑体"/>
              </a:rPr>
              <a:t>算法都不涉及控制相关的解决方法</a:t>
            </a:r>
            <a:endParaRPr sz="3200">
              <a:latin typeface="黑体"/>
              <a:cs typeface="黑体"/>
            </a:endParaRPr>
          </a:p>
        </p:txBody>
      </p:sp>
      <p:sp>
        <p:nvSpPr>
          <p:cNvPr id="10" name="object 10" descr=""/>
          <p:cNvSpPr txBox="1"/>
          <p:nvPr/>
        </p:nvSpPr>
        <p:spPr>
          <a:xfrm>
            <a:off x="558190" y="1800860"/>
            <a:ext cx="4145279" cy="513715"/>
          </a:xfrm>
          <a:prstGeom prst="rect">
            <a:avLst/>
          </a:prstGeom>
        </p:spPr>
        <p:txBody>
          <a:bodyPr wrap="square" lIns="0" tIns="13335" rIns="0" bIns="0" rtlCol="0" vert="horz">
            <a:spAutoFit/>
          </a:bodyPr>
          <a:lstStyle/>
          <a:p>
            <a:pPr marL="469265" indent="-456565">
              <a:lnSpc>
                <a:spcPct val="100000"/>
              </a:lnSpc>
              <a:spcBef>
                <a:spcPts val="105"/>
              </a:spcBef>
              <a:buClr>
                <a:srgbClr val="40458B"/>
              </a:buClr>
              <a:buFont typeface="Wingdings"/>
              <a:buChar char=""/>
              <a:tabLst>
                <a:tab pos="469265" algn="l"/>
              </a:tabLst>
            </a:pPr>
            <a:r>
              <a:rPr dirty="0" sz="3200" spc="-10">
                <a:solidFill>
                  <a:srgbClr val="001F5F"/>
                </a:solidFill>
                <a:latin typeface="黑体"/>
                <a:cs typeface="黑体"/>
              </a:rPr>
              <a:t>分支：带条件的判断</a:t>
            </a:r>
            <a:endParaRPr sz="3200">
              <a:latin typeface="黑体"/>
              <a:cs typeface="黑体"/>
            </a:endParaRPr>
          </a:p>
        </p:txBody>
      </p:sp>
      <p:sp>
        <p:nvSpPr>
          <p:cNvPr id="11" name="object 11" descr=""/>
          <p:cNvSpPr txBox="1"/>
          <p:nvPr/>
        </p:nvSpPr>
        <p:spPr>
          <a:xfrm>
            <a:off x="2974085" y="161290"/>
            <a:ext cx="3580129" cy="452120"/>
          </a:xfrm>
          <a:prstGeom prst="rect">
            <a:avLst/>
          </a:prstGeom>
        </p:spPr>
        <p:txBody>
          <a:bodyPr wrap="square" lIns="0" tIns="12065" rIns="0" bIns="0" rtlCol="0" vert="horz">
            <a:spAutoFit/>
          </a:bodyPr>
          <a:lstStyle/>
          <a:p>
            <a:pPr marL="12700">
              <a:lnSpc>
                <a:spcPct val="100000"/>
              </a:lnSpc>
              <a:spcBef>
                <a:spcPts val="95"/>
              </a:spcBef>
            </a:pPr>
            <a:r>
              <a:rPr dirty="0" sz="2800">
                <a:latin typeface="黑体"/>
                <a:cs typeface="黑体"/>
              </a:rPr>
              <a:t>5.4</a:t>
            </a:r>
            <a:r>
              <a:rPr dirty="0" sz="2800" spc="-40">
                <a:latin typeface="黑体"/>
                <a:cs typeface="黑体"/>
              </a:rPr>
              <a:t> 动态分支预测技术</a:t>
            </a:r>
            <a:endParaRPr sz="2800">
              <a:latin typeface="黑体"/>
              <a:cs typeface="黑体"/>
            </a:endParaRPr>
          </a:p>
        </p:txBody>
      </p:sp>
      <p:sp>
        <p:nvSpPr>
          <p:cNvPr id="12" name="object 12" descr=""/>
          <p:cNvSpPr/>
          <p:nvPr/>
        </p:nvSpPr>
        <p:spPr>
          <a:xfrm>
            <a:off x="169862" y="3213100"/>
            <a:ext cx="5616575" cy="3222625"/>
          </a:xfrm>
          <a:custGeom>
            <a:avLst/>
            <a:gdLst/>
            <a:ahLst/>
            <a:cxnLst/>
            <a:rect l="l" t="t" r="r" b="b"/>
            <a:pathLst>
              <a:path w="5616575" h="3222625">
                <a:moveTo>
                  <a:pt x="0" y="3222625"/>
                </a:moveTo>
                <a:lnTo>
                  <a:pt x="5616575" y="3222625"/>
                </a:lnTo>
                <a:lnTo>
                  <a:pt x="5616575" y="0"/>
                </a:lnTo>
                <a:lnTo>
                  <a:pt x="0" y="0"/>
                </a:lnTo>
                <a:lnTo>
                  <a:pt x="0" y="3222625"/>
                </a:lnTo>
                <a:close/>
              </a:path>
            </a:pathLst>
          </a:custGeom>
          <a:ln w="19050">
            <a:solidFill>
              <a:srgbClr val="2C44A3"/>
            </a:solidFill>
          </a:ln>
        </p:spPr>
        <p:txBody>
          <a:bodyPr wrap="square" lIns="0" tIns="0" rIns="0" bIns="0" rtlCol="0"/>
          <a:lstStyle/>
          <a:p/>
        </p:txBody>
      </p:sp>
      <p:sp>
        <p:nvSpPr>
          <p:cNvPr id="13" name="object 13" descr=""/>
          <p:cNvSpPr txBox="1"/>
          <p:nvPr/>
        </p:nvSpPr>
        <p:spPr>
          <a:xfrm>
            <a:off x="427126" y="3157198"/>
            <a:ext cx="5181600" cy="1306830"/>
          </a:xfrm>
          <a:prstGeom prst="rect">
            <a:avLst/>
          </a:prstGeom>
        </p:spPr>
        <p:txBody>
          <a:bodyPr wrap="square" lIns="0" tIns="12700" rIns="0" bIns="0" rtlCol="0" vert="horz">
            <a:spAutoFit/>
          </a:bodyPr>
          <a:lstStyle/>
          <a:p>
            <a:pPr marL="291465" marR="5080" indent="-279400">
              <a:lnSpc>
                <a:spcPct val="150100"/>
              </a:lnSpc>
              <a:spcBef>
                <a:spcPts val="100"/>
              </a:spcBef>
            </a:pPr>
            <a:r>
              <a:rPr dirty="0" sz="2800" spc="-35">
                <a:solidFill>
                  <a:srgbClr val="FF0000"/>
                </a:solidFill>
                <a:latin typeface="黑体"/>
                <a:cs typeface="黑体"/>
              </a:rPr>
              <a:t>静态预测</a:t>
            </a:r>
            <a:r>
              <a:rPr dirty="0" sz="2800">
                <a:solidFill>
                  <a:srgbClr val="40458B"/>
                </a:solidFill>
                <a:latin typeface="黑体"/>
                <a:cs typeface="黑体"/>
              </a:rPr>
              <a:t>： </a:t>
            </a:r>
            <a:r>
              <a:rPr dirty="0" sz="2800" spc="-35">
                <a:solidFill>
                  <a:srgbClr val="FF0000"/>
                </a:solidFill>
                <a:latin typeface="黑体"/>
                <a:cs typeface="黑体"/>
              </a:rPr>
              <a:t>执行之前</a:t>
            </a:r>
            <a:r>
              <a:rPr dirty="0" sz="2800" spc="-40">
                <a:solidFill>
                  <a:srgbClr val="40458B"/>
                </a:solidFill>
                <a:latin typeface="黑体"/>
                <a:cs typeface="黑体"/>
              </a:rPr>
              <a:t>预测分支，</a:t>
            </a:r>
            <a:r>
              <a:rPr dirty="0" sz="2800" spc="-35">
                <a:solidFill>
                  <a:srgbClr val="40458B"/>
                </a:solidFill>
                <a:latin typeface="黑体"/>
                <a:cs typeface="黑体"/>
              </a:rPr>
              <a:t>要么成功要么失败</a:t>
            </a:r>
            <a:r>
              <a:rPr dirty="0" sz="2800" spc="-30">
                <a:solidFill>
                  <a:srgbClr val="40458B"/>
                </a:solidFill>
                <a:latin typeface="黑体"/>
                <a:cs typeface="黑体"/>
              </a:rPr>
              <a:t>（</a:t>
            </a:r>
            <a:r>
              <a:rPr dirty="0" sz="2800" spc="-40">
                <a:solidFill>
                  <a:srgbClr val="40458B"/>
                </a:solidFill>
                <a:latin typeface="黑体"/>
                <a:cs typeface="黑体"/>
              </a:rPr>
              <a:t>反正要选</a:t>
            </a:r>
            <a:endParaRPr sz="2800">
              <a:latin typeface="黑体"/>
              <a:cs typeface="黑体"/>
            </a:endParaRPr>
          </a:p>
        </p:txBody>
      </p:sp>
      <p:sp>
        <p:nvSpPr>
          <p:cNvPr id="14" name="object 14" descr=""/>
          <p:cNvSpPr txBox="1"/>
          <p:nvPr/>
        </p:nvSpPr>
        <p:spPr>
          <a:xfrm>
            <a:off x="706018" y="4651959"/>
            <a:ext cx="5180965" cy="452120"/>
          </a:xfrm>
          <a:prstGeom prst="rect">
            <a:avLst/>
          </a:prstGeom>
        </p:spPr>
        <p:txBody>
          <a:bodyPr wrap="square" lIns="0" tIns="12065" rIns="0" bIns="0" rtlCol="0" vert="horz">
            <a:spAutoFit/>
          </a:bodyPr>
          <a:lstStyle/>
          <a:p>
            <a:pPr marL="12700">
              <a:lnSpc>
                <a:spcPct val="100000"/>
              </a:lnSpc>
              <a:spcBef>
                <a:spcPts val="95"/>
              </a:spcBef>
            </a:pPr>
            <a:r>
              <a:rPr dirty="0" sz="2800" spc="-35">
                <a:solidFill>
                  <a:srgbClr val="40458B"/>
                </a:solidFill>
                <a:latin typeface="黑体"/>
                <a:cs typeface="黑体"/>
              </a:rPr>
              <a:t>择一个结果），预测成功率</a:t>
            </a:r>
            <a:r>
              <a:rPr dirty="0" sz="2800" spc="-20">
                <a:solidFill>
                  <a:srgbClr val="40458B"/>
                </a:solidFill>
                <a:latin typeface="黑体"/>
                <a:cs typeface="黑体"/>
              </a:rPr>
              <a:t>50%，</a:t>
            </a:r>
            <a:endParaRPr sz="2800">
              <a:latin typeface="黑体"/>
              <a:cs typeface="黑体"/>
            </a:endParaRPr>
          </a:p>
        </p:txBody>
      </p:sp>
      <p:sp>
        <p:nvSpPr>
          <p:cNvPr id="15" name="object 15" descr=""/>
          <p:cNvSpPr txBox="1"/>
          <p:nvPr/>
        </p:nvSpPr>
        <p:spPr>
          <a:xfrm>
            <a:off x="706018" y="5079167"/>
            <a:ext cx="4646295" cy="1305560"/>
          </a:xfrm>
          <a:prstGeom prst="rect">
            <a:avLst/>
          </a:prstGeom>
        </p:spPr>
        <p:txBody>
          <a:bodyPr wrap="square" lIns="0" tIns="12065" rIns="0" bIns="0" rtlCol="0" vert="horz">
            <a:spAutoFit/>
          </a:bodyPr>
          <a:lstStyle/>
          <a:p>
            <a:pPr marL="12700" marR="5080">
              <a:lnSpc>
                <a:spcPct val="150000"/>
              </a:lnSpc>
              <a:spcBef>
                <a:spcPts val="95"/>
              </a:spcBef>
            </a:pPr>
            <a:r>
              <a:rPr dirty="0" sz="2800" spc="-35">
                <a:solidFill>
                  <a:srgbClr val="FF0000"/>
                </a:solidFill>
                <a:latin typeface="黑体"/>
                <a:cs typeface="黑体"/>
              </a:rPr>
              <a:t>且在程序执行时</a:t>
            </a:r>
            <a:r>
              <a:rPr dirty="0" sz="2800" spc="-40">
                <a:solidFill>
                  <a:srgbClr val="40458B"/>
                </a:solidFill>
                <a:latin typeface="黑体"/>
                <a:cs typeface="黑体"/>
              </a:rPr>
              <a:t>已无法更改即分支预测的操作与实际无关</a:t>
            </a:r>
            <a:endParaRPr sz="2800">
              <a:latin typeface="黑体"/>
              <a:cs typeface="黑体"/>
            </a:endParaRPr>
          </a:p>
        </p:txBody>
      </p:sp>
      <p:sp>
        <p:nvSpPr>
          <p:cNvPr id="16" name="object 16" descr=""/>
          <p:cNvSpPr txBox="1"/>
          <p:nvPr/>
        </p:nvSpPr>
        <p:spPr>
          <a:xfrm>
            <a:off x="6288151" y="1817623"/>
            <a:ext cx="5616575" cy="3222625"/>
          </a:xfrm>
          <a:prstGeom prst="rect">
            <a:avLst/>
          </a:prstGeom>
          <a:ln w="15875">
            <a:solidFill>
              <a:srgbClr val="FFC000"/>
            </a:solidFill>
          </a:ln>
        </p:spPr>
        <p:txBody>
          <a:bodyPr wrap="square" lIns="0" tIns="170180" rIns="0" bIns="0" rtlCol="0" vert="horz">
            <a:spAutoFit/>
          </a:bodyPr>
          <a:lstStyle/>
          <a:p>
            <a:pPr marL="549275" indent="-279400">
              <a:lnSpc>
                <a:spcPct val="100000"/>
              </a:lnSpc>
              <a:spcBef>
                <a:spcPts val="1340"/>
              </a:spcBef>
            </a:pPr>
            <a:r>
              <a:rPr dirty="0" sz="2800" spc="-35">
                <a:solidFill>
                  <a:srgbClr val="FF0000"/>
                </a:solidFill>
                <a:latin typeface="黑体"/>
                <a:cs typeface="黑体"/>
              </a:rPr>
              <a:t>动态预测</a:t>
            </a:r>
            <a:r>
              <a:rPr dirty="0" sz="2800" spc="-35">
                <a:solidFill>
                  <a:srgbClr val="40458B"/>
                </a:solidFill>
                <a:latin typeface="黑体"/>
                <a:cs typeface="黑体"/>
              </a:rPr>
              <a:t>：</a:t>
            </a:r>
            <a:r>
              <a:rPr dirty="0" sz="2800" spc="-40">
                <a:solidFill>
                  <a:srgbClr val="FF0000"/>
                </a:solidFill>
                <a:latin typeface="黑体"/>
                <a:cs typeface="黑体"/>
              </a:rPr>
              <a:t>在程序运行时</a:t>
            </a:r>
            <a:r>
              <a:rPr dirty="0" sz="2800" spc="-40">
                <a:solidFill>
                  <a:srgbClr val="40458B"/>
                </a:solidFill>
                <a:latin typeface="黑体"/>
                <a:cs typeface="黑体"/>
              </a:rPr>
              <a:t>，根据</a:t>
            </a:r>
            <a:endParaRPr sz="2800">
              <a:latin typeface="黑体"/>
              <a:cs typeface="黑体"/>
            </a:endParaRPr>
          </a:p>
          <a:p>
            <a:pPr marL="549275" marR="83185">
              <a:lnSpc>
                <a:spcPct val="150000"/>
              </a:lnSpc>
              <a:spcBef>
                <a:spcPts val="5"/>
              </a:spcBef>
            </a:pPr>
            <a:r>
              <a:rPr dirty="0" sz="2800" spc="-40">
                <a:solidFill>
                  <a:srgbClr val="40458B"/>
                </a:solidFill>
                <a:latin typeface="黑体"/>
                <a:cs typeface="黑体"/>
              </a:rPr>
              <a:t>分支指令过去的表现来预测其</a:t>
            </a:r>
            <a:r>
              <a:rPr dirty="0" sz="2800" spc="-50">
                <a:solidFill>
                  <a:srgbClr val="40458B"/>
                </a:solidFill>
                <a:latin typeface="黑体"/>
                <a:cs typeface="黑体"/>
              </a:rPr>
              <a:t> </a:t>
            </a:r>
            <a:r>
              <a:rPr dirty="0" sz="2800" spc="-35">
                <a:solidFill>
                  <a:srgbClr val="40458B"/>
                </a:solidFill>
                <a:latin typeface="黑体"/>
                <a:cs typeface="黑体"/>
              </a:rPr>
              <a:t>将来的行为。（</a:t>
            </a:r>
            <a:r>
              <a:rPr dirty="0" sz="2800" spc="-40">
                <a:solidFill>
                  <a:srgbClr val="40458B"/>
                </a:solidFill>
                <a:latin typeface="黑体"/>
                <a:cs typeface="黑体"/>
              </a:rPr>
              <a:t>预判结果处理、预测有效性、分支开销的影响因</a:t>
            </a:r>
            <a:r>
              <a:rPr dirty="0" sz="2800" spc="-35">
                <a:solidFill>
                  <a:srgbClr val="40458B"/>
                </a:solidFill>
                <a:latin typeface="黑体"/>
                <a:cs typeface="黑体"/>
              </a:rPr>
              <a:t>素等</a:t>
            </a:r>
            <a:r>
              <a:rPr dirty="0" sz="2800" spc="-50">
                <a:solidFill>
                  <a:srgbClr val="40458B"/>
                </a:solidFill>
                <a:latin typeface="黑体"/>
                <a:cs typeface="黑体"/>
              </a:rPr>
              <a:t>）</a:t>
            </a:r>
            <a:endParaRPr sz="2800">
              <a:latin typeface="黑体"/>
              <a:cs typeface="黑体"/>
            </a:endParaRPr>
          </a:p>
        </p:txBody>
      </p:sp>
      <p:sp>
        <p:nvSpPr>
          <p:cNvPr id="17" name="object 17" descr=""/>
          <p:cNvSpPr txBox="1"/>
          <p:nvPr/>
        </p:nvSpPr>
        <p:spPr>
          <a:xfrm>
            <a:off x="399389" y="2670124"/>
            <a:ext cx="4902200" cy="391795"/>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40458B"/>
                </a:solidFill>
                <a:latin typeface="黑体"/>
                <a:cs typeface="黑体"/>
              </a:rPr>
              <a:t>之前解决控制相关的策略：静态调度</a:t>
            </a:r>
            <a:endParaRPr sz="2400">
              <a:latin typeface="黑体"/>
              <a:cs typeface="黑体"/>
            </a:endParaRPr>
          </a:p>
        </p:txBody>
      </p:sp>
      <p:sp>
        <p:nvSpPr>
          <p:cNvPr id="18" name="object 18" descr=""/>
          <p:cNvSpPr txBox="1"/>
          <p:nvPr/>
        </p:nvSpPr>
        <p:spPr>
          <a:xfrm>
            <a:off x="5883402" y="5672734"/>
            <a:ext cx="5816600" cy="748665"/>
          </a:xfrm>
          <a:prstGeom prst="rect">
            <a:avLst/>
          </a:prstGeom>
        </p:spPr>
        <p:txBody>
          <a:bodyPr wrap="square" lIns="0" tIns="31750" rIns="0" bIns="0" rtlCol="0" vert="horz">
            <a:spAutoFit/>
          </a:bodyPr>
          <a:lstStyle/>
          <a:p>
            <a:pPr marL="12700" marR="5080">
              <a:lnSpc>
                <a:spcPts val="2810"/>
              </a:lnSpc>
              <a:spcBef>
                <a:spcPts val="250"/>
              </a:spcBef>
            </a:pPr>
            <a:r>
              <a:rPr dirty="0" sz="2400" spc="-5">
                <a:solidFill>
                  <a:srgbClr val="40458B"/>
                </a:solidFill>
                <a:latin typeface="黑体"/>
                <a:cs typeface="黑体"/>
              </a:rPr>
              <a:t>静态调度：编译器将一条或多条指令移动到流水线产生的分支延迟槽</a:t>
            </a:r>
            <a:endParaRPr sz="2400">
              <a:latin typeface="黑体"/>
              <a:cs typeface="黑体"/>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118/175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974085" y="161290"/>
            <a:ext cx="3580129" cy="452120"/>
          </a:xfrm>
          <a:prstGeom prst="rect"/>
        </p:spPr>
        <p:txBody>
          <a:bodyPr wrap="square" lIns="0" tIns="12065" rIns="0" bIns="0" rtlCol="0" vert="horz">
            <a:spAutoFit/>
          </a:bodyPr>
          <a:lstStyle/>
          <a:p>
            <a:pPr marL="12700">
              <a:lnSpc>
                <a:spcPct val="100000"/>
              </a:lnSpc>
              <a:spcBef>
                <a:spcPts val="95"/>
              </a:spcBef>
            </a:pPr>
            <a:r>
              <a:rPr dirty="0" sz="2800">
                <a:solidFill>
                  <a:srgbClr val="000000"/>
                </a:solidFill>
              </a:rPr>
              <a:t>5.4</a:t>
            </a:r>
            <a:r>
              <a:rPr dirty="0" sz="2800" spc="-40">
                <a:solidFill>
                  <a:srgbClr val="000000"/>
                </a:solidFill>
              </a:rPr>
              <a:t> 动态分支预测技术</a:t>
            </a:r>
            <a:endParaRPr sz="2800"/>
          </a:p>
        </p:txBody>
      </p:sp>
      <p:pic>
        <p:nvPicPr>
          <p:cNvPr id="10" name="object 10" descr=""/>
          <p:cNvPicPr/>
          <p:nvPr/>
        </p:nvPicPr>
        <p:blipFill>
          <a:blip r:embed="rId2" cstate="print"/>
          <a:stretch>
            <a:fillRect/>
          </a:stretch>
        </p:blipFill>
        <p:spPr>
          <a:xfrm>
            <a:off x="419100" y="1917308"/>
            <a:ext cx="11353800" cy="3096016"/>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119/175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990091" y="1180782"/>
            <a:ext cx="10998835" cy="3310890"/>
          </a:xfrm>
          <a:prstGeom prst="rect">
            <a:avLst/>
          </a:prstGeom>
        </p:spPr>
        <p:txBody>
          <a:bodyPr wrap="square" lIns="0" tIns="86360" rIns="0" bIns="0" rtlCol="0" vert="horz">
            <a:spAutoFit/>
          </a:bodyPr>
          <a:lstStyle/>
          <a:p>
            <a:pPr marL="469265" indent="-456565">
              <a:lnSpc>
                <a:spcPct val="100000"/>
              </a:lnSpc>
              <a:spcBef>
                <a:spcPts val="680"/>
              </a:spcBef>
              <a:buClr>
                <a:srgbClr val="40458B"/>
              </a:buClr>
              <a:buFont typeface="Wingdings"/>
              <a:buChar char=""/>
              <a:tabLst>
                <a:tab pos="469265" algn="l"/>
              </a:tabLst>
            </a:pPr>
            <a:r>
              <a:rPr dirty="0" sz="2400" spc="-10">
                <a:solidFill>
                  <a:srgbClr val="001F5F"/>
                </a:solidFill>
                <a:latin typeface="黑体"/>
                <a:cs typeface="黑体"/>
              </a:rPr>
              <a:t>所开发的</a:t>
            </a:r>
            <a:r>
              <a:rPr dirty="0" sz="2400" spc="-10">
                <a:solidFill>
                  <a:srgbClr val="9933FF"/>
                </a:solidFill>
                <a:latin typeface="黑体"/>
                <a:cs typeface="黑体"/>
              </a:rPr>
              <a:t>ILP</a:t>
            </a:r>
            <a:r>
              <a:rPr dirty="0" sz="2400" spc="-15">
                <a:solidFill>
                  <a:srgbClr val="001F5F"/>
                </a:solidFill>
                <a:latin typeface="黑体"/>
                <a:cs typeface="黑体"/>
              </a:rPr>
              <a:t>越多，控制相关的制约就越大，控制停顿的相对影响增大，这就要</a:t>
            </a:r>
            <a:endParaRPr sz="2400">
              <a:latin typeface="黑体"/>
              <a:cs typeface="黑体"/>
            </a:endParaRPr>
          </a:p>
          <a:p>
            <a:pPr marL="469900">
              <a:lnSpc>
                <a:spcPct val="100000"/>
              </a:lnSpc>
              <a:spcBef>
                <a:spcPts val="580"/>
              </a:spcBef>
            </a:pPr>
            <a:r>
              <a:rPr dirty="0" sz="2400" spc="-5">
                <a:solidFill>
                  <a:srgbClr val="001F5F"/>
                </a:solidFill>
                <a:latin typeface="黑体"/>
                <a:cs typeface="黑体"/>
              </a:rPr>
              <a:t>求分支预测就要有更高的准确度。</a:t>
            </a:r>
            <a:endParaRPr sz="2400">
              <a:latin typeface="黑体"/>
              <a:cs typeface="黑体"/>
            </a:endParaRPr>
          </a:p>
          <a:p>
            <a:pPr marL="469900" marR="156210" indent="-457200">
              <a:lnSpc>
                <a:spcPct val="120000"/>
              </a:lnSpc>
              <a:spcBef>
                <a:spcPts val="575"/>
              </a:spcBef>
              <a:buClr>
                <a:srgbClr val="40458B"/>
              </a:buClr>
              <a:buFont typeface="Wingdings"/>
              <a:buChar char=""/>
              <a:tabLst>
                <a:tab pos="469900" algn="l"/>
              </a:tabLst>
            </a:pPr>
            <a:r>
              <a:rPr dirty="0" sz="2400">
                <a:solidFill>
                  <a:srgbClr val="001F5F"/>
                </a:solidFill>
                <a:latin typeface="黑体"/>
                <a:cs typeface="黑体"/>
              </a:rPr>
              <a:t>本节中介绍的方法对于</a:t>
            </a:r>
            <a:r>
              <a:rPr dirty="0" sz="2400" spc="-5">
                <a:solidFill>
                  <a:srgbClr val="FF0000"/>
                </a:solidFill>
                <a:latin typeface="黑体"/>
                <a:cs typeface="黑体"/>
              </a:rPr>
              <a:t>每个时钟周期流出多条指令</a:t>
            </a:r>
            <a:r>
              <a:rPr dirty="0" sz="2400">
                <a:solidFill>
                  <a:srgbClr val="001F5F"/>
                </a:solidFill>
                <a:latin typeface="黑体"/>
                <a:cs typeface="黑体"/>
              </a:rPr>
              <a:t>（若为</a:t>
            </a:r>
            <a:r>
              <a:rPr dirty="0" sz="2400">
                <a:solidFill>
                  <a:srgbClr val="9933FF"/>
                </a:solidFill>
                <a:latin typeface="黑体"/>
                <a:cs typeface="黑体"/>
              </a:rPr>
              <a:t>n</a:t>
            </a:r>
            <a:r>
              <a:rPr dirty="0" sz="2400">
                <a:solidFill>
                  <a:srgbClr val="001F5F"/>
                </a:solidFill>
                <a:latin typeface="黑体"/>
                <a:cs typeface="黑体"/>
              </a:rPr>
              <a:t>条，就称为</a:t>
            </a:r>
            <a:r>
              <a:rPr dirty="0" sz="2400">
                <a:solidFill>
                  <a:srgbClr val="D50092"/>
                </a:solidFill>
                <a:latin typeface="黑体"/>
                <a:cs typeface="黑体"/>
              </a:rPr>
              <a:t>n流出</a:t>
            </a:r>
            <a:r>
              <a:rPr dirty="0" sz="2400" spc="-50">
                <a:solidFill>
                  <a:srgbClr val="001F5F"/>
                </a:solidFill>
                <a:latin typeface="黑体"/>
                <a:cs typeface="黑体"/>
              </a:rPr>
              <a:t>）</a:t>
            </a:r>
            <a:r>
              <a:rPr dirty="0" sz="2400" spc="-15">
                <a:solidFill>
                  <a:srgbClr val="001F5F"/>
                </a:solidFill>
                <a:latin typeface="黑体"/>
                <a:cs typeface="黑体"/>
              </a:rPr>
              <a:t>的处理机来说非常重要。</a:t>
            </a:r>
            <a:endParaRPr sz="2400">
              <a:latin typeface="黑体"/>
              <a:cs typeface="黑体"/>
            </a:endParaRPr>
          </a:p>
          <a:p>
            <a:pPr marL="641985">
              <a:lnSpc>
                <a:spcPct val="100000"/>
              </a:lnSpc>
              <a:spcBef>
                <a:spcPts val="1155"/>
              </a:spcBef>
            </a:pPr>
            <a:r>
              <a:rPr dirty="0" sz="2400" spc="-20">
                <a:solidFill>
                  <a:srgbClr val="40458B"/>
                </a:solidFill>
                <a:latin typeface="黑体"/>
                <a:cs typeface="黑体"/>
              </a:rPr>
              <a:t>因为：</a:t>
            </a:r>
            <a:endParaRPr sz="2400">
              <a:latin typeface="黑体"/>
              <a:cs typeface="黑体"/>
            </a:endParaRPr>
          </a:p>
          <a:p>
            <a:pPr lvl="1" marL="1056005" indent="-456565">
              <a:lnSpc>
                <a:spcPct val="100000"/>
              </a:lnSpc>
              <a:spcBef>
                <a:spcPts val="1085"/>
              </a:spcBef>
              <a:buClr>
                <a:srgbClr val="4668F5"/>
              </a:buClr>
              <a:buSzPct val="68181"/>
              <a:buFont typeface="Wingdings"/>
              <a:buChar char=""/>
              <a:tabLst>
                <a:tab pos="1056005" algn="l"/>
              </a:tabLst>
            </a:pPr>
            <a:r>
              <a:rPr dirty="0" sz="2200" spc="-20" b="1">
                <a:solidFill>
                  <a:srgbClr val="9966FF"/>
                </a:solidFill>
                <a:latin typeface="宋体"/>
                <a:cs typeface="宋体"/>
              </a:rPr>
              <a:t>在</a:t>
            </a:r>
            <a:r>
              <a:rPr dirty="0" sz="2200" spc="-10" b="1">
                <a:solidFill>
                  <a:srgbClr val="9933FF"/>
                </a:solidFill>
                <a:latin typeface="宋体"/>
                <a:cs typeface="宋体"/>
              </a:rPr>
              <a:t>n</a:t>
            </a:r>
            <a:r>
              <a:rPr dirty="0" sz="2200" spc="-20" b="1">
                <a:solidFill>
                  <a:srgbClr val="9966FF"/>
                </a:solidFill>
                <a:latin typeface="宋体"/>
                <a:cs typeface="宋体"/>
              </a:rPr>
              <a:t>-流出的处理机中，遇到分支指令的可能性增加了</a:t>
            </a:r>
            <a:r>
              <a:rPr dirty="0" sz="2200" spc="-10" b="1">
                <a:solidFill>
                  <a:srgbClr val="9933FF"/>
                </a:solidFill>
                <a:latin typeface="宋体"/>
                <a:cs typeface="宋体"/>
              </a:rPr>
              <a:t>n</a:t>
            </a:r>
            <a:r>
              <a:rPr dirty="0" sz="2200" spc="-35" b="1">
                <a:solidFill>
                  <a:srgbClr val="9966FF"/>
                </a:solidFill>
                <a:latin typeface="宋体"/>
                <a:cs typeface="宋体"/>
              </a:rPr>
              <a:t>倍。</a:t>
            </a:r>
            <a:endParaRPr sz="2200">
              <a:latin typeface="宋体"/>
              <a:cs typeface="宋体"/>
            </a:endParaRPr>
          </a:p>
          <a:p>
            <a:pPr lvl="1" marL="1056005" indent="-456565">
              <a:lnSpc>
                <a:spcPct val="100000"/>
              </a:lnSpc>
              <a:spcBef>
                <a:spcPts val="1060"/>
              </a:spcBef>
              <a:buClr>
                <a:srgbClr val="4668F5"/>
              </a:buClr>
              <a:buSzPct val="68181"/>
              <a:buFont typeface="Wingdings"/>
              <a:buChar char=""/>
              <a:tabLst>
                <a:tab pos="1056005" algn="l"/>
              </a:tabLst>
            </a:pPr>
            <a:r>
              <a:rPr dirty="0" sz="2200" spc="-25" b="1">
                <a:solidFill>
                  <a:srgbClr val="9966FF"/>
                </a:solidFill>
                <a:latin typeface="宋体"/>
                <a:cs typeface="宋体"/>
              </a:rPr>
              <a:t>要给处理器连续提供指令流，就需要准确地预测分支。</a:t>
            </a:r>
            <a:endParaRPr sz="2200">
              <a:latin typeface="宋体"/>
              <a:cs typeface="宋体"/>
            </a:endParaRPr>
          </a:p>
        </p:txBody>
      </p:sp>
      <p:sp>
        <p:nvSpPr>
          <p:cNvPr id="10" name="object 10"/>
          <p:cNvSpPr txBox="1">
            <a:spLocks noGrp="1"/>
          </p:cNvSpPr>
          <p:nvPr>
            <p:ph type="title"/>
          </p:nvPr>
        </p:nvSpPr>
        <p:spPr>
          <a:xfrm>
            <a:off x="1350644" y="161289"/>
            <a:ext cx="4090670" cy="513715"/>
          </a:xfrm>
          <a:prstGeom prst="rect"/>
        </p:spPr>
        <p:txBody>
          <a:bodyPr wrap="square" lIns="0" tIns="12700" rIns="0" bIns="0" rtlCol="0" vert="horz">
            <a:spAutoFit/>
          </a:bodyPr>
          <a:lstStyle/>
          <a:p>
            <a:pPr marL="12700">
              <a:lnSpc>
                <a:spcPct val="100000"/>
              </a:lnSpc>
              <a:spcBef>
                <a:spcPts val="100"/>
              </a:spcBef>
            </a:pPr>
            <a:r>
              <a:rPr dirty="0">
                <a:solidFill>
                  <a:srgbClr val="006FC0"/>
                </a:solidFill>
              </a:rPr>
              <a:t>5.4</a:t>
            </a:r>
            <a:r>
              <a:rPr dirty="0" spc="-20">
                <a:solidFill>
                  <a:srgbClr val="006FC0"/>
                </a:solidFill>
              </a:rPr>
              <a:t> 动态分支预测技术</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120/175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197916" y="1298828"/>
            <a:ext cx="1069467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FF0000"/>
                </a:solidFill>
                <a:latin typeface="黑体"/>
                <a:cs typeface="黑体"/>
              </a:rPr>
              <a:t>动态分支预测：</a:t>
            </a:r>
            <a:r>
              <a:rPr dirty="0" sz="2400">
                <a:solidFill>
                  <a:srgbClr val="001F5F"/>
                </a:solidFill>
                <a:latin typeface="黑体"/>
                <a:cs typeface="黑体"/>
              </a:rPr>
              <a:t>在程序运行时，根据分支指令</a:t>
            </a:r>
            <a:r>
              <a:rPr dirty="0" sz="2400">
                <a:solidFill>
                  <a:srgbClr val="FF0000"/>
                </a:solidFill>
                <a:latin typeface="黑体"/>
                <a:cs typeface="黑体"/>
              </a:rPr>
              <a:t>过去的表现</a:t>
            </a:r>
            <a:r>
              <a:rPr dirty="0" sz="2400" spc="-5">
                <a:solidFill>
                  <a:srgbClr val="001F5F"/>
                </a:solidFill>
                <a:latin typeface="黑体"/>
                <a:cs typeface="黑体"/>
              </a:rPr>
              <a:t>来预测其将来的行为。</a:t>
            </a:r>
            <a:endParaRPr sz="2400">
              <a:latin typeface="黑体"/>
              <a:cs typeface="黑体"/>
            </a:endParaRPr>
          </a:p>
        </p:txBody>
      </p:sp>
      <p:sp>
        <p:nvSpPr>
          <p:cNvPr id="11" name="object 11" descr=""/>
          <p:cNvSpPr txBox="1"/>
          <p:nvPr/>
        </p:nvSpPr>
        <p:spPr>
          <a:xfrm>
            <a:off x="784656" y="1671294"/>
            <a:ext cx="6111240" cy="817880"/>
          </a:xfrm>
          <a:prstGeom prst="rect">
            <a:avLst/>
          </a:prstGeom>
        </p:spPr>
        <p:txBody>
          <a:bodyPr wrap="square" lIns="0" tIns="104140" rIns="0" bIns="0" rtlCol="0" vert="horz">
            <a:spAutoFit/>
          </a:bodyPr>
          <a:lstStyle/>
          <a:p>
            <a:pPr marL="469265" indent="-456565">
              <a:lnSpc>
                <a:spcPct val="100000"/>
              </a:lnSpc>
              <a:spcBef>
                <a:spcPts val="820"/>
              </a:spcBef>
              <a:buClr>
                <a:srgbClr val="4668F5"/>
              </a:buClr>
              <a:buSzPct val="85000"/>
              <a:buFont typeface="Wingdings"/>
              <a:buChar char=""/>
              <a:tabLst>
                <a:tab pos="469265" algn="l"/>
              </a:tabLst>
            </a:pPr>
            <a:r>
              <a:rPr dirty="0" sz="2000" spc="-25" b="1">
                <a:solidFill>
                  <a:srgbClr val="9966FF"/>
                </a:solidFill>
                <a:latin typeface="宋体"/>
                <a:cs typeface="宋体"/>
              </a:rPr>
              <a:t>如果分支行为发生了变化，预测结果也跟着改变；</a:t>
            </a:r>
            <a:endParaRPr sz="2000">
              <a:latin typeface="宋体"/>
              <a:cs typeface="宋体"/>
            </a:endParaRPr>
          </a:p>
          <a:p>
            <a:pPr marL="469265" indent="-456565">
              <a:lnSpc>
                <a:spcPct val="100000"/>
              </a:lnSpc>
              <a:spcBef>
                <a:spcPts val="720"/>
              </a:spcBef>
              <a:buClr>
                <a:srgbClr val="4668F5"/>
              </a:buClr>
              <a:buSzPct val="85000"/>
              <a:buFont typeface="Wingdings"/>
              <a:buChar char=""/>
              <a:tabLst>
                <a:tab pos="469265" algn="l"/>
              </a:tabLst>
            </a:pPr>
            <a:r>
              <a:rPr dirty="0" sz="2000" spc="-20" b="1">
                <a:solidFill>
                  <a:srgbClr val="9966FF"/>
                </a:solidFill>
                <a:latin typeface="宋体"/>
                <a:cs typeface="宋体"/>
              </a:rPr>
              <a:t>有更好的预测准确度和适应性。</a:t>
            </a:r>
            <a:endParaRPr sz="2000">
              <a:latin typeface="宋体"/>
              <a:cs typeface="宋体"/>
            </a:endParaRPr>
          </a:p>
        </p:txBody>
      </p:sp>
      <p:sp>
        <p:nvSpPr>
          <p:cNvPr id="12" name="object 12" descr=""/>
          <p:cNvSpPr txBox="1"/>
          <p:nvPr/>
        </p:nvSpPr>
        <p:spPr>
          <a:xfrm>
            <a:off x="197916" y="2854104"/>
            <a:ext cx="6598920" cy="3345815"/>
          </a:xfrm>
          <a:prstGeom prst="rect">
            <a:avLst/>
          </a:prstGeom>
        </p:spPr>
        <p:txBody>
          <a:bodyPr wrap="square" lIns="0" tIns="121920" rIns="0" bIns="0" rtlCol="0" vert="horz">
            <a:spAutoFit/>
          </a:bodyPr>
          <a:lstStyle/>
          <a:p>
            <a:pPr marL="12700">
              <a:lnSpc>
                <a:spcPct val="100000"/>
              </a:lnSpc>
              <a:spcBef>
                <a:spcPts val="960"/>
              </a:spcBef>
            </a:pPr>
            <a:r>
              <a:rPr dirty="0" sz="2400" spc="-5">
                <a:solidFill>
                  <a:srgbClr val="FF0000"/>
                </a:solidFill>
                <a:latin typeface="黑体"/>
                <a:cs typeface="黑体"/>
              </a:rPr>
              <a:t>分支预测的有效性取决于：</a:t>
            </a:r>
            <a:endParaRPr sz="2400">
              <a:latin typeface="黑体"/>
              <a:cs typeface="黑体"/>
            </a:endParaRPr>
          </a:p>
          <a:p>
            <a:pPr marL="1099185" indent="-457200">
              <a:lnSpc>
                <a:spcPct val="100000"/>
              </a:lnSpc>
              <a:spcBef>
                <a:spcPts val="865"/>
              </a:spcBef>
              <a:buSzPct val="89583"/>
              <a:buFont typeface="Wingdings"/>
              <a:buChar char=""/>
              <a:tabLst>
                <a:tab pos="1099185" algn="l"/>
              </a:tabLst>
            </a:pPr>
            <a:r>
              <a:rPr dirty="0" sz="2400" spc="-20">
                <a:solidFill>
                  <a:srgbClr val="40458B"/>
                </a:solidFill>
                <a:latin typeface="黑体"/>
                <a:cs typeface="黑体"/>
              </a:rPr>
              <a:t>预测的准确性</a:t>
            </a:r>
            <a:endParaRPr sz="2400">
              <a:latin typeface="黑体"/>
              <a:cs typeface="黑体"/>
            </a:endParaRPr>
          </a:p>
          <a:p>
            <a:pPr marL="179705" marR="5080" indent="919480">
              <a:lnSpc>
                <a:spcPct val="127699"/>
              </a:lnSpc>
              <a:spcBef>
                <a:spcPts val="65"/>
              </a:spcBef>
              <a:buSzPct val="89583"/>
              <a:buFont typeface="Wingdings"/>
              <a:buChar char=""/>
              <a:tabLst>
                <a:tab pos="1099185" algn="l"/>
              </a:tabLst>
            </a:pPr>
            <a:r>
              <a:rPr dirty="0" sz="2400" spc="-5">
                <a:solidFill>
                  <a:srgbClr val="40458B"/>
                </a:solidFill>
                <a:latin typeface="黑体"/>
                <a:cs typeface="黑体"/>
              </a:rPr>
              <a:t>预测正确和不正确两种情况下的分支开销</a:t>
            </a:r>
            <a:r>
              <a:rPr dirty="0" sz="2400" spc="-15">
                <a:solidFill>
                  <a:srgbClr val="FF0000"/>
                </a:solidFill>
                <a:latin typeface="黑体"/>
                <a:cs typeface="黑体"/>
              </a:rPr>
              <a:t>决定分支开销的因素：</a:t>
            </a:r>
            <a:endParaRPr sz="2400">
              <a:latin typeface="黑体"/>
              <a:cs typeface="黑体"/>
            </a:endParaRPr>
          </a:p>
          <a:p>
            <a:pPr marL="807085" indent="-359410">
              <a:lnSpc>
                <a:spcPct val="100000"/>
              </a:lnSpc>
              <a:spcBef>
                <a:spcPts val="865"/>
              </a:spcBef>
              <a:buFont typeface="Wingdings"/>
              <a:buChar char=""/>
              <a:tabLst>
                <a:tab pos="807085" algn="l"/>
              </a:tabLst>
            </a:pPr>
            <a:r>
              <a:rPr dirty="0" sz="2400" spc="-10">
                <a:solidFill>
                  <a:srgbClr val="40458B"/>
                </a:solidFill>
                <a:latin typeface="黑体"/>
                <a:cs typeface="黑体"/>
              </a:rPr>
              <a:t>流水线的结构</a:t>
            </a:r>
            <a:endParaRPr sz="2400">
              <a:latin typeface="黑体"/>
              <a:cs typeface="黑体"/>
            </a:endParaRPr>
          </a:p>
          <a:p>
            <a:pPr marL="807085" indent="-342265">
              <a:lnSpc>
                <a:spcPct val="100000"/>
              </a:lnSpc>
              <a:spcBef>
                <a:spcPts val="865"/>
              </a:spcBef>
              <a:buFont typeface="Wingdings"/>
              <a:buChar char=""/>
              <a:tabLst>
                <a:tab pos="807085" algn="l"/>
              </a:tabLst>
            </a:pPr>
            <a:r>
              <a:rPr dirty="0" sz="2400" spc="-10">
                <a:solidFill>
                  <a:srgbClr val="40458B"/>
                </a:solidFill>
                <a:latin typeface="黑体"/>
                <a:cs typeface="黑体"/>
              </a:rPr>
              <a:t>预测的方法</a:t>
            </a:r>
            <a:endParaRPr sz="2400">
              <a:latin typeface="黑体"/>
              <a:cs typeface="黑体"/>
            </a:endParaRPr>
          </a:p>
          <a:p>
            <a:pPr marL="807085" indent="-342265">
              <a:lnSpc>
                <a:spcPct val="100000"/>
              </a:lnSpc>
              <a:spcBef>
                <a:spcPts val="865"/>
              </a:spcBef>
              <a:buFont typeface="Wingdings"/>
              <a:buChar char=""/>
              <a:tabLst>
                <a:tab pos="807085" algn="l"/>
              </a:tabLst>
            </a:pPr>
            <a:r>
              <a:rPr dirty="0" sz="2400" spc="-5">
                <a:solidFill>
                  <a:srgbClr val="40458B"/>
                </a:solidFill>
                <a:latin typeface="黑体"/>
                <a:cs typeface="黑体"/>
              </a:rPr>
              <a:t>预测错误时的恢复策略等</a:t>
            </a:r>
            <a:endParaRPr sz="2400">
              <a:latin typeface="黑体"/>
              <a:cs typeface="黑体"/>
            </a:endParaRPr>
          </a:p>
        </p:txBody>
      </p:sp>
      <p:sp>
        <p:nvSpPr>
          <p:cNvPr id="13" name="object 13" descr=""/>
          <p:cNvSpPr/>
          <p:nvPr/>
        </p:nvSpPr>
        <p:spPr>
          <a:xfrm>
            <a:off x="6959600" y="1838325"/>
            <a:ext cx="504190" cy="724535"/>
          </a:xfrm>
          <a:custGeom>
            <a:avLst/>
            <a:gdLst/>
            <a:ahLst/>
            <a:cxnLst/>
            <a:rect l="l" t="t" r="r" b="b"/>
            <a:pathLst>
              <a:path w="504190" h="724535">
                <a:moveTo>
                  <a:pt x="0" y="0"/>
                </a:moveTo>
                <a:lnTo>
                  <a:pt x="79654" y="2140"/>
                </a:lnTo>
                <a:lnTo>
                  <a:pt x="148823" y="8103"/>
                </a:lnTo>
                <a:lnTo>
                  <a:pt x="203362" y="17199"/>
                </a:lnTo>
                <a:lnTo>
                  <a:pt x="251968" y="42037"/>
                </a:lnTo>
                <a:lnTo>
                  <a:pt x="251968" y="320166"/>
                </a:lnTo>
                <a:lnTo>
                  <a:pt x="264810" y="333401"/>
                </a:lnTo>
                <a:lnTo>
                  <a:pt x="300573" y="344904"/>
                </a:lnTo>
                <a:lnTo>
                  <a:pt x="355112" y="353981"/>
                </a:lnTo>
                <a:lnTo>
                  <a:pt x="424281" y="359937"/>
                </a:lnTo>
                <a:lnTo>
                  <a:pt x="503935" y="362076"/>
                </a:lnTo>
                <a:lnTo>
                  <a:pt x="424281" y="364217"/>
                </a:lnTo>
                <a:lnTo>
                  <a:pt x="355112" y="370180"/>
                </a:lnTo>
                <a:lnTo>
                  <a:pt x="300573" y="379276"/>
                </a:lnTo>
                <a:lnTo>
                  <a:pt x="264810" y="390817"/>
                </a:lnTo>
                <a:lnTo>
                  <a:pt x="251968" y="404113"/>
                </a:lnTo>
                <a:lnTo>
                  <a:pt x="251968" y="682244"/>
                </a:lnTo>
                <a:lnTo>
                  <a:pt x="239125" y="695540"/>
                </a:lnTo>
                <a:lnTo>
                  <a:pt x="203362" y="707081"/>
                </a:lnTo>
                <a:lnTo>
                  <a:pt x="148823" y="716177"/>
                </a:lnTo>
                <a:lnTo>
                  <a:pt x="79654" y="722140"/>
                </a:lnTo>
                <a:lnTo>
                  <a:pt x="0" y="724280"/>
                </a:lnTo>
              </a:path>
            </a:pathLst>
          </a:custGeom>
          <a:ln w="25400">
            <a:solidFill>
              <a:srgbClr val="FF0000"/>
            </a:solidFill>
          </a:ln>
        </p:spPr>
        <p:txBody>
          <a:bodyPr wrap="square" lIns="0" tIns="0" rIns="0" bIns="0" rtlCol="0"/>
          <a:lstStyle/>
          <a:p/>
        </p:txBody>
      </p:sp>
      <p:sp>
        <p:nvSpPr>
          <p:cNvPr id="14" name="object 14" descr=""/>
          <p:cNvSpPr txBox="1"/>
          <p:nvPr/>
        </p:nvSpPr>
        <p:spPr>
          <a:xfrm>
            <a:off x="7760334" y="1880996"/>
            <a:ext cx="2464435" cy="1113790"/>
          </a:xfrm>
          <a:prstGeom prst="rect">
            <a:avLst/>
          </a:prstGeom>
        </p:spPr>
        <p:txBody>
          <a:bodyPr wrap="square" lIns="0" tIns="17145" rIns="0" bIns="0" rtlCol="0" vert="horz">
            <a:spAutoFit/>
          </a:bodyPr>
          <a:lstStyle/>
          <a:p>
            <a:pPr algn="just" marL="12700" marR="5080">
              <a:lnSpc>
                <a:spcPct val="98800"/>
              </a:lnSpc>
              <a:spcBef>
                <a:spcPts val="135"/>
              </a:spcBef>
            </a:pPr>
            <a:r>
              <a:rPr dirty="0" sz="2400">
                <a:solidFill>
                  <a:srgbClr val="FF0000"/>
                </a:solidFill>
                <a:latin typeface="黑体"/>
                <a:cs typeface="黑体"/>
              </a:rPr>
              <a:t>与静态预测相比</a:t>
            </a:r>
            <a:r>
              <a:rPr dirty="0" sz="2400" spc="-50">
                <a:solidFill>
                  <a:srgbClr val="40458B"/>
                </a:solidFill>
                <a:latin typeface="黑体"/>
                <a:cs typeface="黑体"/>
              </a:rPr>
              <a:t>：</a:t>
            </a:r>
            <a:r>
              <a:rPr dirty="0" sz="2400" spc="-10">
                <a:solidFill>
                  <a:srgbClr val="40458B"/>
                </a:solidFill>
                <a:latin typeface="黑体"/>
                <a:cs typeface="黑体"/>
              </a:rPr>
              <a:t>动态分支预测动态</a:t>
            </a:r>
            <a:r>
              <a:rPr dirty="0" sz="2400" spc="-20">
                <a:solidFill>
                  <a:srgbClr val="40458B"/>
                </a:solidFill>
                <a:latin typeface="黑体"/>
                <a:cs typeface="黑体"/>
              </a:rPr>
              <a:t>适应性和准确性</a:t>
            </a:r>
            <a:endParaRPr sz="2400">
              <a:latin typeface="黑体"/>
              <a:cs typeface="黑体"/>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121/175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774293" y="934089"/>
            <a:ext cx="10960735" cy="3928745"/>
          </a:xfrm>
          <a:prstGeom prst="rect">
            <a:avLst/>
          </a:prstGeom>
        </p:spPr>
        <p:txBody>
          <a:bodyPr wrap="square" lIns="0" tIns="192405" rIns="0" bIns="0" rtlCol="0" vert="horz">
            <a:spAutoFit/>
          </a:bodyPr>
          <a:lstStyle/>
          <a:p>
            <a:pPr marL="12700">
              <a:lnSpc>
                <a:spcPct val="100000"/>
              </a:lnSpc>
              <a:spcBef>
                <a:spcPts val="1515"/>
              </a:spcBef>
            </a:pPr>
            <a:r>
              <a:rPr dirty="0" sz="2800" spc="-40">
                <a:solidFill>
                  <a:srgbClr val="FF0000"/>
                </a:solidFill>
                <a:latin typeface="黑体"/>
                <a:cs typeface="黑体"/>
              </a:rPr>
              <a:t>采用动态分支预测技术的目的</a:t>
            </a:r>
            <a:endParaRPr sz="2800">
              <a:latin typeface="黑体"/>
              <a:cs typeface="黑体"/>
            </a:endParaRPr>
          </a:p>
          <a:p>
            <a:pPr marL="1099185" indent="-457200">
              <a:lnSpc>
                <a:spcPct val="100000"/>
              </a:lnSpc>
              <a:spcBef>
                <a:spcPts val="1220"/>
              </a:spcBef>
              <a:buSzPct val="89583"/>
              <a:buFont typeface="Wingdings"/>
              <a:buChar char=""/>
              <a:tabLst>
                <a:tab pos="1099185" algn="l"/>
              </a:tabLst>
            </a:pPr>
            <a:r>
              <a:rPr dirty="0" sz="2400" spc="-10">
                <a:solidFill>
                  <a:srgbClr val="40458B"/>
                </a:solidFill>
                <a:latin typeface="黑体"/>
                <a:cs typeface="黑体"/>
              </a:rPr>
              <a:t>预测分支是否成功</a:t>
            </a:r>
            <a:endParaRPr sz="2400">
              <a:latin typeface="黑体"/>
              <a:cs typeface="黑体"/>
            </a:endParaRPr>
          </a:p>
          <a:p>
            <a:pPr marL="1099185" indent="-457200">
              <a:lnSpc>
                <a:spcPct val="100000"/>
              </a:lnSpc>
              <a:spcBef>
                <a:spcPts val="1150"/>
              </a:spcBef>
              <a:buSzPct val="89583"/>
              <a:buFont typeface="Wingdings"/>
              <a:buChar char=""/>
              <a:tabLst>
                <a:tab pos="1099185" algn="l"/>
              </a:tabLst>
            </a:pPr>
            <a:r>
              <a:rPr dirty="0" sz="2400">
                <a:solidFill>
                  <a:srgbClr val="40458B"/>
                </a:solidFill>
                <a:latin typeface="黑体"/>
                <a:cs typeface="黑体"/>
              </a:rPr>
              <a:t>尽快找到分支目标地址（或指令）（</a:t>
            </a:r>
            <a:r>
              <a:rPr dirty="0" sz="2400">
                <a:solidFill>
                  <a:srgbClr val="FF0000"/>
                </a:solidFill>
                <a:latin typeface="黑体"/>
                <a:cs typeface="黑体"/>
              </a:rPr>
              <a:t>避免控制相关造成流水线停顿</a:t>
            </a:r>
            <a:r>
              <a:rPr dirty="0" sz="2400" spc="-50">
                <a:solidFill>
                  <a:srgbClr val="40458B"/>
                </a:solidFill>
                <a:latin typeface="黑体"/>
                <a:cs typeface="黑体"/>
              </a:rPr>
              <a:t>）</a:t>
            </a:r>
            <a:endParaRPr sz="2400">
              <a:latin typeface="黑体"/>
              <a:cs typeface="黑体"/>
            </a:endParaRPr>
          </a:p>
          <a:p>
            <a:pPr marL="12700">
              <a:lnSpc>
                <a:spcPct val="100000"/>
              </a:lnSpc>
              <a:spcBef>
                <a:spcPts val="1280"/>
              </a:spcBef>
            </a:pPr>
            <a:r>
              <a:rPr dirty="0" sz="2800" spc="-40">
                <a:solidFill>
                  <a:srgbClr val="FF0000"/>
                </a:solidFill>
                <a:latin typeface="黑体"/>
                <a:cs typeface="黑体"/>
              </a:rPr>
              <a:t>需要解决的关键问题</a:t>
            </a:r>
            <a:endParaRPr sz="2800">
              <a:latin typeface="黑体"/>
              <a:cs typeface="黑体"/>
            </a:endParaRPr>
          </a:p>
          <a:p>
            <a:pPr marL="1193165" indent="-551180">
              <a:lnSpc>
                <a:spcPct val="100000"/>
              </a:lnSpc>
              <a:spcBef>
                <a:spcPts val="1220"/>
              </a:spcBef>
              <a:buSzPct val="89583"/>
              <a:buFont typeface="Wingdings"/>
              <a:buChar char=""/>
              <a:tabLst>
                <a:tab pos="1193165" algn="l"/>
              </a:tabLst>
            </a:pPr>
            <a:r>
              <a:rPr dirty="0" sz="2400" spc="-5">
                <a:solidFill>
                  <a:srgbClr val="40458B"/>
                </a:solidFill>
                <a:latin typeface="黑体"/>
                <a:cs typeface="黑体"/>
              </a:rPr>
              <a:t>如何记录分支的历史信息，要记录哪些信息？</a:t>
            </a:r>
            <a:endParaRPr sz="2400">
              <a:latin typeface="黑体"/>
              <a:cs typeface="黑体"/>
            </a:endParaRPr>
          </a:p>
          <a:p>
            <a:pPr marL="1193165" indent="-551180">
              <a:lnSpc>
                <a:spcPct val="100000"/>
              </a:lnSpc>
              <a:spcBef>
                <a:spcPts val="1150"/>
              </a:spcBef>
              <a:buSzPct val="89583"/>
              <a:buFont typeface="Wingdings"/>
              <a:buChar char=""/>
              <a:tabLst>
                <a:tab pos="1193165" algn="l"/>
              </a:tabLst>
            </a:pPr>
            <a:r>
              <a:rPr dirty="0" sz="2400" spc="-5">
                <a:solidFill>
                  <a:srgbClr val="40458B"/>
                </a:solidFill>
                <a:latin typeface="黑体"/>
                <a:cs typeface="黑体"/>
              </a:rPr>
              <a:t>如何根据这些信息来预测分支的去向，甚至提前取出分支目标处的指令？</a:t>
            </a:r>
            <a:endParaRPr sz="2400">
              <a:latin typeface="黑体"/>
              <a:cs typeface="黑体"/>
            </a:endParaRPr>
          </a:p>
          <a:p>
            <a:pPr algn="r" marR="774065">
              <a:lnSpc>
                <a:spcPct val="100000"/>
              </a:lnSpc>
              <a:spcBef>
                <a:spcPts val="2175"/>
              </a:spcBef>
            </a:pPr>
            <a:r>
              <a:rPr dirty="0" sz="2400" spc="-10">
                <a:solidFill>
                  <a:srgbClr val="FF0000"/>
                </a:solidFill>
                <a:latin typeface="黑体"/>
                <a:cs typeface="黑体"/>
              </a:rPr>
              <a:t>要有理有据</a:t>
            </a:r>
            <a:endParaRPr sz="2400">
              <a:latin typeface="黑体"/>
              <a:cs typeface="黑体"/>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122/175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18186" y="1326260"/>
            <a:ext cx="122174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001F5F"/>
                </a:solidFill>
                <a:latin typeface="黑体"/>
                <a:cs typeface="黑体"/>
              </a:rPr>
              <a:t>在预测错误时，要作废已经预取和分析的指令，恢复现场，并从另一条分支路径重新取指令</a:t>
            </a:r>
            <a:endParaRPr sz="2400">
              <a:latin typeface="黑体"/>
              <a:cs typeface="黑体"/>
            </a:endParaRPr>
          </a:p>
        </p:txBody>
      </p:sp>
      <p:sp>
        <p:nvSpPr>
          <p:cNvPr id="11" name="object 11" descr=""/>
          <p:cNvSpPr txBox="1"/>
          <p:nvPr/>
        </p:nvSpPr>
        <p:spPr>
          <a:xfrm>
            <a:off x="2447000" y="4021285"/>
            <a:ext cx="1022350" cy="786765"/>
          </a:xfrm>
          <a:prstGeom prst="rect">
            <a:avLst/>
          </a:prstGeom>
          <a:ln w="25095">
            <a:solidFill>
              <a:srgbClr val="000000"/>
            </a:solidFill>
          </a:ln>
        </p:spPr>
        <p:txBody>
          <a:bodyPr wrap="square" lIns="0" tIns="191135" rIns="0" bIns="0" rtlCol="0" vert="horz">
            <a:spAutoFit/>
          </a:bodyPr>
          <a:lstStyle/>
          <a:p>
            <a:pPr marL="322580">
              <a:lnSpc>
                <a:spcPct val="100000"/>
              </a:lnSpc>
              <a:spcBef>
                <a:spcPts val="1505"/>
              </a:spcBef>
            </a:pPr>
            <a:r>
              <a:rPr dirty="0" sz="2300" spc="110" i="1">
                <a:latin typeface="Times New Roman"/>
                <a:cs typeface="Times New Roman"/>
              </a:rPr>
              <a:t>i</a:t>
            </a:r>
            <a:r>
              <a:rPr dirty="0" sz="2300" spc="110">
                <a:latin typeface="Times New Roman"/>
                <a:cs typeface="Times New Roman"/>
              </a:rPr>
              <a:t>-</a:t>
            </a:r>
            <a:r>
              <a:rPr dirty="0" sz="2300" spc="145">
                <a:latin typeface="Times New Roman"/>
                <a:cs typeface="Times New Roman"/>
              </a:rPr>
              <a:t>1</a:t>
            </a:r>
            <a:endParaRPr sz="2300">
              <a:latin typeface="Times New Roman"/>
              <a:cs typeface="Times New Roman"/>
            </a:endParaRPr>
          </a:p>
        </p:txBody>
      </p:sp>
      <p:grpSp>
        <p:nvGrpSpPr>
          <p:cNvPr id="12" name="object 12" descr=""/>
          <p:cNvGrpSpPr/>
          <p:nvPr/>
        </p:nvGrpSpPr>
        <p:grpSpPr>
          <a:xfrm>
            <a:off x="1865219" y="4350168"/>
            <a:ext cx="589915" cy="134620"/>
            <a:chOff x="1865219" y="4350168"/>
            <a:chExt cx="589915" cy="134620"/>
          </a:xfrm>
        </p:grpSpPr>
        <p:sp>
          <p:nvSpPr>
            <p:cNvPr id="13" name="object 13" descr=""/>
            <p:cNvSpPr/>
            <p:nvPr/>
          </p:nvSpPr>
          <p:spPr>
            <a:xfrm>
              <a:off x="1867509" y="4352564"/>
              <a:ext cx="585470" cy="130175"/>
            </a:xfrm>
            <a:custGeom>
              <a:avLst/>
              <a:gdLst/>
              <a:ahLst/>
              <a:cxnLst/>
              <a:rect l="l" t="t" r="r" b="b"/>
              <a:pathLst>
                <a:path w="585469" h="130175">
                  <a:moveTo>
                    <a:pt x="358546" y="0"/>
                  </a:moveTo>
                  <a:lnTo>
                    <a:pt x="435306" y="66909"/>
                  </a:lnTo>
                  <a:lnTo>
                    <a:pt x="358546" y="129799"/>
                  </a:lnTo>
                  <a:lnTo>
                    <a:pt x="526977" y="83048"/>
                  </a:lnTo>
                  <a:lnTo>
                    <a:pt x="435306" y="83048"/>
                  </a:lnTo>
                  <a:lnTo>
                    <a:pt x="444679" y="78997"/>
                  </a:lnTo>
                  <a:lnTo>
                    <a:pt x="449365" y="78997"/>
                  </a:lnTo>
                  <a:lnTo>
                    <a:pt x="454052" y="70927"/>
                  </a:lnTo>
                  <a:lnTo>
                    <a:pt x="454052" y="58839"/>
                  </a:lnTo>
                  <a:lnTo>
                    <a:pt x="449365" y="54821"/>
                  </a:lnTo>
                  <a:lnTo>
                    <a:pt x="444679" y="51586"/>
                  </a:lnTo>
                  <a:lnTo>
                    <a:pt x="435306" y="47568"/>
                  </a:lnTo>
                  <a:lnTo>
                    <a:pt x="519627" y="47568"/>
                  </a:lnTo>
                  <a:lnTo>
                    <a:pt x="358546" y="0"/>
                  </a:lnTo>
                  <a:close/>
                </a:path>
                <a:path w="585469" h="130175">
                  <a:moveTo>
                    <a:pt x="413117" y="47568"/>
                  </a:moveTo>
                  <a:lnTo>
                    <a:pt x="17787" y="47568"/>
                  </a:lnTo>
                  <a:lnTo>
                    <a:pt x="13106" y="51586"/>
                  </a:lnTo>
                  <a:lnTo>
                    <a:pt x="8425" y="54821"/>
                  </a:lnTo>
                  <a:lnTo>
                    <a:pt x="3744" y="58839"/>
                  </a:lnTo>
                  <a:lnTo>
                    <a:pt x="0" y="66909"/>
                  </a:lnTo>
                  <a:lnTo>
                    <a:pt x="3744" y="70927"/>
                  </a:lnTo>
                  <a:lnTo>
                    <a:pt x="8425" y="78997"/>
                  </a:lnTo>
                  <a:lnTo>
                    <a:pt x="13106" y="78997"/>
                  </a:lnTo>
                  <a:lnTo>
                    <a:pt x="17787" y="83048"/>
                  </a:lnTo>
                  <a:lnTo>
                    <a:pt x="415607" y="83048"/>
                  </a:lnTo>
                  <a:lnTo>
                    <a:pt x="435306" y="66909"/>
                  </a:lnTo>
                  <a:lnTo>
                    <a:pt x="413117" y="47568"/>
                  </a:lnTo>
                  <a:close/>
                </a:path>
                <a:path w="585469" h="130175">
                  <a:moveTo>
                    <a:pt x="519627" y="47568"/>
                  </a:moveTo>
                  <a:lnTo>
                    <a:pt x="435306" y="47568"/>
                  </a:lnTo>
                  <a:lnTo>
                    <a:pt x="444679" y="51586"/>
                  </a:lnTo>
                  <a:lnTo>
                    <a:pt x="449365" y="54821"/>
                  </a:lnTo>
                  <a:lnTo>
                    <a:pt x="454052" y="58839"/>
                  </a:lnTo>
                  <a:lnTo>
                    <a:pt x="454052" y="70927"/>
                  </a:lnTo>
                  <a:lnTo>
                    <a:pt x="449365" y="78997"/>
                  </a:lnTo>
                  <a:lnTo>
                    <a:pt x="444679" y="78997"/>
                  </a:lnTo>
                  <a:lnTo>
                    <a:pt x="435306" y="83048"/>
                  </a:lnTo>
                  <a:lnTo>
                    <a:pt x="526977" y="83048"/>
                  </a:lnTo>
                  <a:lnTo>
                    <a:pt x="585122" y="66909"/>
                  </a:lnTo>
                  <a:lnTo>
                    <a:pt x="519627" y="47568"/>
                  </a:lnTo>
                  <a:close/>
                </a:path>
              </a:pathLst>
            </a:custGeom>
            <a:solidFill>
              <a:srgbClr val="000000"/>
            </a:solidFill>
          </p:spPr>
          <p:txBody>
            <a:bodyPr wrap="square" lIns="0" tIns="0" rIns="0" bIns="0" rtlCol="0"/>
            <a:lstStyle/>
            <a:p/>
          </p:txBody>
        </p:sp>
        <p:sp>
          <p:nvSpPr>
            <p:cNvPr id="14" name="object 14" descr=""/>
            <p:cNvSpPr/>
            <p:nvPr/>
          </p:nvSpPr>
          <p:spPr>
            <a:xfrm>
              <a:off x="1867509" y="4352564"/>
              <a:ext cx="585470" cy="130175"/>
            </a:xfrm>
            <a:custGeom>
              <a:avLst/>
              <a:gdLst/>
              <a:ahLst/>
              <a:cxnLst/>
              <a:rect l="l" t="t" r="r" b="b"/>
              <a:pathLst>
                <a:path w="585469" h="130175">
                  <a:moveTo>
                    <a:pt x="17787" y="47568"/>
                  </a:moveTo>
                  <a:lnTo>
                    <a:pt x="435306" y="47568"/>
                  </a:lnTo>
                  <a:lnTo>
                    <a:pt x="454052" y="66909"/>
                  </a:lnTo>
                  <a:lnTo>
                    <a:pt x="454052" y="70927"/>
                  </a:lnTo>
                  <a:lnTo>
                    <a:pt x="449365" y="78997"/>
                  </a:lnTo>
                  <a:lnTo>
                    <a:pt x="444679" y="78997"/>
                  </a:lnTo>
                  <a:lnTo>
                    <a:pt x="435306" y="83048"/>
                  </a:lnTo>
                  <a:lnTo>
                    <a:pt x="17787" y="83048"/>
                  </a:lnTo>
                  <a:lnTo>
                    <a:pt x="13106" y="78997"/>
                  </a:lnTo>
                  <a:lnTo>
                    <a:pt x="8425" y="78997"/>
                  </a:lnTo>
                  <a:lnTo>
                    <a:pt x="3744" y="70927"/>
                  </a:lnTo>
                  <a:lnTo>
                    <a:pt x="0" y="66909"/>
                  </a:lnTo>
                  <a:lnTo>
                    <a:pt x="3744" y="58839"/>
                  </a:lnTo>
                  <a:lnTo>
                    <a:pt x="8425" y="54821"/>
                  </a:lnTo>
                  <a:lnTo>
                    <a:pt x="13106" y="51586"/>
                  </a:lnTo>
                  <a:lnTo>
                    <a:pt x="17787" y="47568"/>
                  </a:lnTo>
                  <a:close/>
                </a:path>
                <a:path w="585469" h="130175">
                  <a:moveTo>
                    <a:pt x="435306" y="66909"/>
                  </a:moveTo>
                  <a:lnTo>
                    <a:pt x="358546" y="0"/>
                  </a:lnTo>
                  <a:lnTo>
                    <a:pt x="585122" y="66909"/>
                  </a:lnTo>
                  <a:lnTo>
                    <a:pt x="358546" y="129799"/>
                  </a:lnTo>
                  <a:lnTo>
                    <a:pt x="435306" y="66909"/>
                  </a:lnTo>
                  <a:close/>
                </a:path>
              </a:pathLst>
            </a:custGeom>
            <a:ln w="4932">
              <a:solidFill>
                <a:srgbClr val="000000"/>
              </a:solidFill>
            </a:ln>
          </p:spPr>
          <p:txBody>
            <a:bodyPr wrap="square" lIns="0" tIns="0" rIns="0" bIns="0" rtlCol="0"/>
            <a:lstStyle/>
            <a:p/>
          </p:txBody>
        </p:sp>
      </p:grpSp>
      <p:sp>
        <p:nvSpPr>
          <p:cNvPr id="15" name="object 15" descr=""/>
          <p:cNvSpPr txBox="1"/>
          <p:nvPr/>
        </p:nvSpPr>
        <p:spPr>
          <a:xfrm>
            <a:off x="4150837" y="4021285"/>
            <a:ext cx="1021715" cy="786765"/>
          </a:xfrm>
          <a:prstGeom prst="rect">
            <a:avLst/>
          </a:prstGeom>
          <a:ln w="25097">
            <a:solidFill>
              <a:srgbClr val="000000"/>
            </a:solidFill>
          </a:ln>
        </p:spPr>
        <p:txBody>
          <a:bodyPr wrap="square" lIns="0" tIns="191135" rIns="0" bIns="0" rtlCol="0" vert="horz">
            <a:spAutoFit/>
          </a:bodyPr>
          <a:lstStyle/>
          <a:p>
            <a:pPr algn="ctr" marL="7620">
              <a:lnSpc>
                <a:spcPct val="100000"/>
              </a:lnSpc>
              <a:spcBef>
                <a:spcPts val="1505"/>
              </a:spcBef>
            </a:pPr>
            <a:r>
              <a:rPr dirty="0" sz="2300" spc="55" i="1">
                <a:latin typeface="Times New Roman"/>
                <a:cs typeface="Times New Roman"/>
              </a:rPr>
              <a:t>i</a:t>
            </a:r>
            <a:endParaRPr sz="2300">
              <a:latin typeface="Times New Roman"/>
              <a:cs typeface="Times New Roman"/>
            </a:endParaRPr>
          </a:p>
        </p:txBody>
      </p:sp>
      <p:sp>
        <p:nvSpPr>
          <p:cNvPr id="16" name="object 16" descr=""/>
          <p:cNvSpPr txBox="1"/>
          <p:nvPr/>
        </p:nvSpPr>
        <p:spPr>
          <a:xfrm>
            <a:off x="6307939" y="2939565"/>
            <a:ext cx="1021715" cy="786765"/>
          </a:xfrm>
          <a:prstGeom prst="rect">
            <a:avLst/>
          </a:prstGeom>
          <a:ln w="25097">
            <a:solidFill>
              <a:srgbClr val="000000"/>
            </a:solidFill>
          </a:ln>
        </p:spPr>
        <p:txBody>
          <a:bodyPr wrap="square" lIns="0" tIns="191135" rIns="0" bIns="0" rtlCol="0" vert="horz">
            <a:spAutoFit/>
          </a:bodyPr>
          <a:lstStyle/>
          <a:p>
            <a:pPr marL="285115">
              <a:lnSpc>
                <a:spcPct val="100000"/>
              </a:lnSpc>
              <a:spcBef>
                <a:spcPts val="1505"/>
              </a:spcBef>
            </a:pPr>
            <a:r>
              <a:rPr dirty="0" sz="2300" spc="135" i="1">
                <a:latin typeface="Times New Roman"/>
                <a:cs typeface="Times New Roman"/>
              </a:rPr>
              <a:t>i</a:t>
            </a:r>
            <a:r>
              <a:rPr dirty="0" sz="2300" spc="135">
                <a:latin typeface="Times New Roman"/>
                <a:cs typeface="Times New Roman"/>
              </a:rPr>
              <a:t>+1</a:t>
            </a:r>
            <a:endParaRPr sz="2300">
              <a:latin typeface="Times New Roman"/>
              <a:cs typeface="Times New Roman"/>
            </a:endParaRPr>
          </a:p>
        </p:txBody>
      </p:sp>
      <p:sp>
        <p:nvSpPr>
          <p:cNvPr id="17" name="object 17" descr=""/>
          <p:cNvSpPr txBox="1"/>
          <p:nvPr/>
        </p:nvSpPr>
        <p:spPr>
          <a:xfrm>
            <a:off x="8010566" y="2939565"/>
            <a:ext cx="1021715" cy="786765"/>
          </a:xfrm>
          <a:prstGeom prst="rect">
            <a:avLst/>
          </a:prstGeom>
          <a:ln w="25097">
            <a:solidFill>
              <a:srgbClr val="000000"/>
            </a:solidFill>
          </a:ln>
        </p:spPr>
        <p:txBody>
          <a:bodyPr wrap="square" lIns="0" tIns="191135" rIns="0" bIns="0" rtlCol="0" vert="horz">
            <a:spAutoFit/>
          </a:bodyPr>
          <a:lstStyle/>
          <a:p>
            <a:pPr marL="286385">
              <a:lnSpc>
                <a:spcPct val="100000"/>
              </a:lnSpc>
              <a:spcBef>
                <a:spcPts val="1505"/>
              </a:spcBef>
            </a:pPr>
            <a:r>
              <a:rPr dirty="0" sz="2300" spc="130" i="1">
                <a:latin typeface="Times New Roman"/>
                <a:cs typeface="Times New Roman"/>
              </a:rPr>
              <a:t>i</a:t>
            </a:r>
            <a:r>
              <a:rPr dirty="0" sz="2300" spc="130">
                <a:latin typeface="Times New Roman"/>
                <a:cs typeface="Times New Roman"/>
              </a:rPr>
              <a:t>+2</a:t>
            </a:r>
            <a:endParaRPr sz="2300">
              <a:latin typeface="Times New Roman"/>
              <a:cs typeface="Times New Roman"/>
            </a:endParaRPr>
          </a:p>
        </p:txBody>
      </p:sp>
      <p:grpSp>
        <p:nvGrpSpPr>
          <p:cNvPr id="18" name="object 18" descr=""/>
          <p:cNvGrpSpPr/>
          <p:nvPr/>
        </p:nvGrpSpPr>
        <p:grpSpPr>
          <a:xfrm>
            <a:off x="3453891" y="4350169"/>
            <a:ext cx="705485" cy="134620"/>
            <a:chOff x="3453891" y="4350169"/>
            <a:chExt cx="705485" cy="134620"/>
          </a:xfrm>
        </p:grpSpPr>
        <p:sp>
          <p:nvSpPr>
            <p:cNvPr id="19" name="object 19" descr=""/>
            <p:cNvSpPr/>
            <p:nvPr/>
          </p:nvSpPr>
          <p:spPr>
            <a:xfrm>
              <a:off x="3456180" y="4352565"/>
              <a:ext cx="700405" cy="130175"/>
            </a:xfrm>
            <a:custGeom>
              <a:avLst/>
              <a:gdLst/>
              <a:ahLst/>
              <a:cxnLst/>
              <a:rect l="l" t="t" r="r" b="b"/>
              <a:pathLst>
                <a:path w="700404" h="130175">
                  <a:moveTo>
                    <a:pt x="472767" y="0"/>
                  </a:moveTo>
                  <a:lnTo>
                    <a:pt x="549564" y="66909"/>
                  </a:lnTo>
                  <a:lnTo>
                    <a:pt x="472767" y="129799"/>
                  </a:lnTo>
                  <a:lnTo>
                    <a:pt x="641900" y="83048"/>
                  </a:lnTo>
                  <a:lnTo>
                    <a:pt x="549564" y="83048"/>
                  </a:lnTo>
                  <a:lnTo>
                    <a:pt x="558900" y="78997"/>
                  </a:lnTo>
                  <a:lnTo>
                    <a:pt x="563586" y="78997"/>
                  </a:lnTo>
                  <a:lnTo>
                    <a:pt x="568273" y="70927"/>
                  </a:lnTo>
                  <a:lnTo>
                    <a:pt x="568273" y="58839"/>
                  </a:lnTo>
                  <a:lnTo>
                    <a:pt x="563586" y="54821"/>
                  </a:lnTo>
                  <a:lnTo>
                    <a:pt x="558900" y="51586"/>
                  </a:lnTo>
                  <a:lnTo>
                    <a:pt x="549564" y="47568"/>
                  </a:lnTo>
                  <a:lnTo>
                    <a:pt x="634520" y="47568"/>
                  </a:lnTo>
                  <a:lnTo>
                    <a:pt x="472767" y="0"/>
                  </a:lnTo>
                  <a:close/>
                </a:path>
                <a:path w="700404" h="130175">
                  <a:moveTo>
                    <a:pt x="527365" y="47568"/>
                  </a:moveTo>
                  <a:lnTo>
                    <a:pt x="18745" y="47568"/>
                  </a:lnTo>
                  <a:lnTo>
                    <a:pt x="14059" y="51586"/>
                  </a:lnTo>
                  <a:lnTo>
                    <a:pt x="9372" y="54821"/>
                  </a:lnTo>
                  <a:lnTo>
                    <a:pt x="4686" y="58839"/>
                  </a:lnTo>
                  <a:lnTo>
                    <a:pt x="0" y="66909"/>
                  </a:lnTo>
                  <a:lnTo>
                    <a:pt x="4686" y="70927"/>
                  </a:lnTo>
                  <a:lnTo>
                    <a:pt x="9372" y="78997"/>
                  </a:lnTo>
                  <a:lnTo>
                    <a:pt x="14059" y="78997"/>
                  </a:lnTo>
                  <a:lnTo>
                    <a:pt x="18745" y="83048"/>
                  </a:lnTo>
                  <a:lnTo>
                    <a:pt x="529856" y="83048"/>
                  </a:lnTo>
                  <a:lnTo>
                    <a:pt x="549564" y="66909"/>
                  </a:lnTo>
                  <a:lnTo>
                    <a:pt x="527365" y="47568"/>
                  </a:lnTo>
                  <a:close/>
                </a:path>
                <a:path w="700404" h="130175">
                  <a:moveTo>
                    <a:pt x="634520" y="47568"/>
                  </a:moveTo>
                  <a:lnTo>
                    <a:pt x="549564" y="47568"/>
                  </a:lnTo>
                  <a:lnTo>
                    <a:pt x="558900" y="51586"/>
                  </a:lnTo>
                  <a:lnTo>
                    <a:pt x="563586" y="54821"/>
                  </a:lnTo>
                  <a:lnTo>
                    <a:pt x="568273" y="58839"/>
                  </a:lnTo>
                  <a:lnTo>
                    <a:pt x="568273" y="70927"/>
                  </a:lnTo>
                  <a:lnTo>
                    <a:pt x="563586" y="78997"/>
                  </a:lnTo>
                  <a:lnTo>
                    <a:pt x="558900" y="78997"/>
                  </a:lnTo>
                  <a:lnTo>
                    <a:pt x="549564" y="83048"/>
                  </a:lnTo>
                  <a:lnTo>
                    <a:pt x="641900" y="83048"/>
                  </a:lnTo>
                  <a:lnTo>
                    <a:pt x="700288" y="66909"/>
                  </a:lnTo>
                  <a:lnTo>
                    <a:pt x="634520" y="47568"/>
                  </a:lnTo>
                  <a:close/>
                </a:path>
              </a:pathLst>
            </a:custGeom>
            <a:solidFill>
              <a:srgbClr val="000000"/>
            </a:solidFill>
          </p:spPr>
          <p:txBody>
            <a:bodyPr wrap="square" lIns="0" tIns="0" rIns="0" bIns="0" rtlCol="0"/>
            <a:lstStyle/>
            <a:p/>
          </p:txBody>
        </p:sp>
        <p:sp>
          <p:nvSpPr>
            <p:cNvPr id="20" name="object 20" descr=""/>
            <p:cNvSpPr/>
            <p:nvPr/>
          </p:nvSpPr>
          <p:spPr>
            <a:xfrm>
              <a:off x="3456180" y="4352565"/>
              <a:ext cx="700405" cy="130175"/>
            </a:xfrm>
            <a:custGeom>
              <a:avLst/>
              <a:gdLst/>
              <a:ahLst/>
              <a:cxnLst/>
              <a:rect l="l" t="t" r="r" b="b"/>
              <a:pathLst>
                <a:path w="700404" h="130175">
                  <a:moveTo>
                    <a:pt x="18745" y="47568"/>
                  </a:moveTo>
                  <a:lnTo>
                    <a:pt x="549564" y="47568"/>
                  </a:lnTo>
                  <a:lnTo>
                    <a:pt x="568273" y="70927"/>
                  </a:lnTo>
                  <a:lnTo>
                    <a:pt x="563586" y="78997"/>
                  </a:lnTo>
                  <a:lnTo>
                    <a:pt x="558900" y="78997"/>
                  </a:lnTo>
                  <a:lnTo>
                    <a:pt x="549564" y="83048"/>
                  </a:lnTo>
                  <a:lnTo>
                    <a:pt x="18745" y="83048"/>
                  </a:lnTo>
                  <a:lnTo>
                    <a:pt x="14059" y="78997"/>
                  </a:lnTo>
                  <a:lnTo>
                    <a:pt x="9372" y="78997"/>
                  </a:lnTo>
                  <a:lnTo>
                    <a:pt x="4686" y="70927"/>
                  </a:lnTo>
                  <a:lnTo>
                    <a:pt x="0" y="66909"/>
                  </a:lnTo>
                  <a:lnTo>
                    <a:pt x="4686" y="58839"/>
                  </a:lnTo>
                  <a:lnTo>
                    <a:pt x="9372" y="54821"/>
                  </a:lnTo>
                  <a:lnTo>
                    <a:pt x="14059" y="51586"/>
                  </a:lnTo>
                  <a:lnTo>
                    <a:pt x="18745" y="47568"/>
                  </a:lnTo>
                  <a:close/>
                </a:path>
                <a:path w="700404" h="130175">
                  <a:moveTo>
                    <a:pt x="549564" y="66909"/>
                  </a:moveTo>
                  <a:lnTo>
                    <a:pt x="472767" y="0"/>
                  </a:lnTo>
                  <a:lnTo>
                    <a:pt x="700288" y="66909"/>
                  </a:lnTo>
                  <a:lnTo>
                    <a:pt x="472767" y="129799"/>
                  </a:lnTo>
                  <a:lnTo>
                    <a:pt x="549564" y="66909"/>
                  </a:lnTo>
                  <a:close/>
                </a:path>
              </a:pathLst>
            </a:custGeom>
            <a:ln w="4932">
              <a:solidFill>
                <a:srgbClr val="000000"/>
              </a:solidFill>
            </a:ln>
          </p:spPr>
          <p:txBody>
            <a:bodyPr wrap="square" lIns="0" tIns="0" rIns="0" bIns="0" rtlCol="0"/>
            <a:lstStyle/>
            <a:p/>
          </p:txBody>
        </p:sp>
      </p:grpSp>
      <p:grpSp>
        <p:nvGrpSpPr>
          <p:cNvPr id="21" name="object 21" descr=""/>
          <p:cNvGrpSpPr/>
          <p:nvPr/>
        </p:nvGrpSpPr>
        <p:grpSpPr>
          <a:xfrm>
            <a:off x="7314754" y="3268481"/>
            <a:ext cx="704215" cy="134620"/>
            <a:chOff x="7314754" y="3268481"/>
            <a:chExt cx="704215" cy="134620"/>
          </a:xfrm>
        </p:grpSpPr>
        <p:sp>
          <p:nvSpPr>
            <p:cNvPr id="22" name="object 22" descr=""/>
            <p:cNvSpPr/>
            <p:nvPr/>
          </p:nvSpPr>
          <p:spPr>
            <a:xfrm>
              <a:off x="7317042" y="3270877"/>
              <a:ext cx="699770" cy="130175"/>
            </a:xfrm>
            <a:custGeom>
              <a:avLst/>
              <a:gdLst/>
              <a:ahLst/>
              <a:cxnLst/>
              <a:rect l="l" t="t" r="r" b="b"/>
              <a:pathLst>
                <a:path w="699770" h="130175">
                  <a:moveTo>
                    <a:pt x="471671" y="0"/>
                  </a:moveTo>
                  <a:lnTo>
                    <a:pt x="549527" y="66876"/>
                  </a:lnTo>
                  <a:lnTo>
                    <a:pt x="471671" y="129767"/>
                  </a:lnTo>
                  <a:lnTo>
                    <a:pt x="640804" y="83015"/>
                  </a:lnTo>
                  <a:lnTo>
                    <a:pt x="549527" y="83015"/>
                  </a:lnTo>
                  <a:lnTo>
                    <a:pt x="558975" y="78964"/>
                  </a:lnTo>
                  <a:lnTo>
                    <a:pt x="562755" y="78964"/>
                  </a:lnTo>
                  <a:lnTo>
                    <a:pt x="567290" y="70927"/>
                  </a:lnTo>
                  <a:lnTo>
                    <a:pt x="567290" y="58839"/>
                  </a:lnTo>
                  <a:lnTo>
                    <a:pt x="562755" y="54788"/>
                  </a:lnTo>
                  <a:lnTo>
                    <a:pt x="558975" y="51586"/>
                  </a:lnTo>
                  <a:lnTo>
                    <a:pt x="549527" y="47535"/>
                  </a:lnTo>
                  <a:lnTo>
                    <a:pt x="633392" y="47535"/>
                  </a:lnTo>
                  <a:lnTo>
                    <a:pt x="471671" y="0"/>
                  </a:lnTo>
                  <a:close/>
                </a:path>
                <a:path w="699770" h="130175">
                  <a:moveTo>
                    <a:pt x="527010" y="47535"/>
                  </a:moveTo>
                  <a:lnTo>
                    <a:pt x="17763" y="47535"/>
                  </a:lnTo>
                  <a:lnTo>
                    <a:pt x="13227" y="51586"/>
                  </a:lnTo>
                  <a:lnTo>
                    <a:pt x="9448" y="54788"/>
                  </a:lnTo>
                  <a:lnTo>
                    <a:pt x="4535" y="58839"/>
                  </a:lnTo>
                  <a:lnTo>
                    <a:pt x="0" y="66876"/>
                  </a:lnTo>
                  <a:lnTo>
                    <a:pt x="4535" y="70927"/>
                  </a:lnTo>
                  <a:lnTo>
                    <a:pt x="9448" y="78964"/>
                  </a:lnTo>
                  <a:lnTo>
                    <a:pt x="13227" y="78964"/>
                  </a:lnTo>
                  <a:lnTo>
                    <a:pt x="17763" y="83015"/>
                  </a:lnTo>
                  <a:lnTo>
                    <a:pt x="529547" y="83015"/>
                  </a:lnTo>
                  <a:lnTo>
                    <a:pt x="549527" y="66876"/>
                  </a:lnTo>
                  <a:lnTo>
                    <a:pt x="527010" y="47535"/>
                  </a:lnTo>
                  <a:close/>
                </a:path>
                <a:path w="699770" h="130175">
                  <a:moveTo>
                    <a:pt x="633392" y="47535"/>
                  </a:moveTo>
                  <a:lnTo>
                    <a:pt x="549527" y="47535"/>
                  </a:lnTo>
                  <a:lnTo>
                    <a:pt x="558975" y="51586"/>
                  </a:lnTo>
                  <a:lnTo>
                    <a:pt x="562755" y="54788"/>
                  </a:lnTo>
                  <a:lnTo>
                    <a:pt x="567290" y="58839"/>
                  </a:lnTo>
                  <a:lnTo>
                    <a:pt x="567290" y="70927"/>
                  </a:lnTo>
                  <a:lnTo>
                    <a:pt x="562755" y="78964"/>
                  </a:lnTo>
                  <a:lnTo>
                    <a:pt x="558975" y="78964"/>
                  </a:lnTo>
                  <a:lnTo>
                    <a:pt x="549527" y="83015"/>
                  </a:lnTo>
                  <a:lnTo>
                    <a:pt x="640804" y="83015"/>
                  </a:lnTo>
                  <a:lnTo>
                    <a:pt x="699191" y="66876"/>
                  </a:lnTo>
                  <a:lnTo>
                    <a:pt x="633392" y="47535"/>
                  </a:lnTo>
                  <a:close/>
                </a:path>
              </a:pathLst>
            </a:custGeom>
            <a:solidFill>
              <a:srgbClr val="000000"/>
            </a:solidFill>
          </p:spPr>
          <p:txBody>
            <a:bodyPr wrap="square" lIns="0" tIns="0" rIns="0" bIns="0" rtlCol="0"/>
            <a:lstStyle/>
            <a:p/>
          </p:txBody>
        </p:sp>
        <p:sp>
          <p:nvSpPr>
            <p:cNvPr id="23" name="object 23" descr=""/>
            <p:cNvSpPr/>
            <p:nvPr/>
          </p:nvSpPr>
          <p:spPr>
            <a:xfrm>
              <a:off x="7317043" y="3270877"/>
              <a:ext cx="699770" cy="130175"/>
            </a:xfrm>
            <a:custGeom>
              <a:avLst/>
              <a:gdLst/>
              <a:ahLst/>
              <a:cxnLst/>
              <a:rect l="l" t="t" r="r" b="b"/>
              <a:pathLst>
                <a:path w="699770" h="130175">
                  <a:moveTo>
                    <a:pt x="17763" y="47535"/>
                  </a:moveTo>
                  <a:lnTo>
                    <a:pt x="549527" y="47535"/>
                  </a:lnTo>
                  <a:lnTo>
                    <a:pt x="567290" y="70927"/>
                  </a:lnTo>
                  <a:lnTo>
                    <a:pt x="562755" y="78964"/>
                  </a:lnTo>
                  <a:lnTo>
                    <a:pt x="558975" y="78964"/>
                  </a:lnTo>
                  <a:lnTo>
                    <a:pt x="549527" y="83015"/>
                  </a:lnTo>
                  <a:lnTo>
                    <a:pt x="17763" y="83015"/>
                  </a:lnTo>
                  <a:lnTo>
                    <a:pt x="13227" y="78964"/>
                  </a:lnTo>
                  <a:lnTo>
                    <a:pt x="9448" y="78964"/>
                  </a:lnTo>
                  <a:lnTo>
                    <a:pt x="4535" y="70927"/>
                  </a:lnTo>
                  <a:lnTo>
                    <a:pt x="0" y="66876"/>
                  </a:lnTo>
                  <a:lnTo>
                    <a:pt x="4535" y="58839"/>
                  </a:lnTo>
                  <a:lnTo>
                    <a:pt x="9448" y="54788"/>
                  </a:lnTo>
                  <a:lnTo>
                    <a:pt x="13227" y="51586"/>
                  </a:lnTo>
                  <a:lnTo>
                    <a:pt x="17763" y="47535"/>
                  </a:lnTo>
                  <a:close/>
                </a:path>
                <a:path w="699770" h="130175">
                  <a:moveTo>
                    <a:pt x="549527" y="66876"/>
                  </a:moveTo>
                  <a:lnTo>
                    <a:pt x="471671" y="0"/>
                  </a:lnTo>
                  <a:lnTo>
                    <a:pt x="699192" y="66876"/>
                  </a:lnTo>
                  <a:lnTo>
                    <a:pt x="471671" y="129767"/>
                  </a:lnTo>
                  <a:lnTo>
                    <a:pt x="549527" y="66876"/>
                  </a:lnTo>
                  <a:close/>
                </a:path>
              </a:pathLst>
            </a:custGeom>
            <a:ln w="4932">
              <a:solidFill>
                <a:srgbClr val="000000"/>
              </a:solidFill>
            </a:ln>
          </p:spPr>
          <p:txBody>
            <a:bodyPr wrap="square" lIns="0" tIns="0" rIns="0" bIns="0" rtlCol="0"/>
            <a:lstStyle/>
            <a:p/>
          </p:txBody>
        </p:sp>
      </p:grpSp>
      <p:sp>
        <p:nvSpPr>
          <p:cNvPr id="24" name="object 24" descr=""/>
          <p:cNvSpPr txBox="1"/>
          <p:nvPr/>
        </p:nvSpPr>
        <p:spPr>
          <a:xfrm>
            <a:off x="6307939" y="5102997"/>
            <a:ext cx="1021715" cy="786765"/>
          </a:xfrm>
          <a:prstGeom prst="rect">
            <a:avLst/>
          </a:prstGeom>
          <a:ln w="25097">
            <a:solidFill>
              <a:srgbClr val="000000"/>
            </a:solidFill>
          </a:ln>
        </p:spPr>
        <p:txBody>
          <a:bodyPr wrap="square" lIns="0" tIns="191135" rIns="0" bIns="0" rtlCol="0" vert="horz">
            <a:spAutoFit/>
          </a:bodyPr>
          <a:lstStyle/>
          <a:p>
            <a:pPr marL="249554">
              <a:lnSpc>
                <a:spcPct val="100000"/>
              </a:lnSpc>
              <a:spcBef>
                <a:spcPts val="1505"/>
              </a:spcBef>
            </a:pPr>
            <a:r>
              <a:rPr dirty="0" sz="2300" spc="165" i="1">
                <a:latin typeface="Times New Roman"/>
                <a:cs typeface="Times New Roman"/>
              </a:rPr>
              <a:t>p</a:t>
            </a:r>
            <a:r>
              <a:rPr dirty="0" sz="2300" spc="165">
                <a:latin typeface="Times New Roman"/>
                <a:cs typeface="Times New Roman"/>
              </a:rPr>
              <a:t>+1</a:t>
            </a:r>
            <a:endParaRPr sz="2300">
              <a:latin typeface="Times New Roman"/>
              <a:cs typeface="Times New Roman"/>
            </a:endParaRPr>
          </a:p>
        </p:txBody>
      </p:sp>
      <p:sp>
        <p:nvSpPr>
          <p:cNvPr id="25" name="object 25" descr=""/>
          <p:cNvSpPr txBox="1"/>
          <p:nvPr/>
        </p:nvSpPr>
        <p:spPr>
          <a:xfrm>
            <a:off x="8010566" y="5102997"/>
            <a:ext cx="1021715" cy="786765"/>
          </a:xfrm>
          <a:prstGeom prst="rect">
            <a:avLst/>
          </a:prstGeom>
          <a:ln w="25097">
            <a:solidFill>
              <a:srgbClr val="000000"/>
            </a:solidFill>
          </a:ln>
        </p:spPr>
        <p:txBody>
          <a:bodyPr wrap="square" lIns="0" tIns="191135" rIns="0" bIns="0" rtlCol="0" vert="horz">
            <a:spAutoFit/>
          </a:bodyPr>
          <a:lstStyle/>
          <a:p>
            <a:pPr marL="250190">
              <a:lnSpc>
                <a:spcPct val="100000"/>
              </a:lnSpc>
              <a:spcBef>
                <a:spcPts val="1505"/>
              </a:spcBef>
            </a:pPr>
            <a:r>
              <a:rPr dirty="0" sz="2300" spc="165" i="1">
                <a:latin typeface="Times New Roman"/>
                <a:cs typeface="Times New Roman"/>
              </a:rPr>
              <a:t>p</a:t>
            </a:r>
            <a:r>
              <a:rPr dirty="0" sz="2300" spc="165">
                <a:latin typeface="Times New Roman"/>
                <a:cs typeface="Times New Roman"/>
              </a:rPr>
              <a:t>+2</a:t>
            </a:r>
            <a:endParaRPr sz="2300">
              <a:latin typeface="Times New Roman"/>
              <a:cs typeface="Times New Roman"/>
            </a:endParaRPr>
          </a:p>
        </p:txBody>
      </p:sp>
      <p:grpSp>
        <p:nvGrpSpPr>
          <p:cNvPr id="26" name="object 26" descr=""/>
          <p:cNvGrpSpPr/>
          <p:nvPr/>
        </p:nvGrpSpPr>
        <p:grpSpPr>
          <a:xfrm>
            <a:off x="7314754" y="5431890"/>
            <a:ext cx="704215" cy="134620"/>
            <a:chOff x="7314754" y="5431890"/>
            <a:chExt cx="704215" cy="134620"/>
          </a:xfrm>
        </p:grpSpPr>
        <p:sp>
          <p:nvSpPr>
            <p:cNvPr id="27" name="object 27" descr=""/>
            <p:cNvSpPr/>
            <p:nvPr/>
          </p:nvSpPr>
          <p:spPr>
            <a:xfrm>
              <a:off x="7317042" y="5434285"/>
              <a:ext cx="699770" cy="130175"/>
            </a:xfrm>
            <a:custGeom>
              <a:avLst/>
              <a:gdLst/>
              <a:ahLst/>
              <a:cxnLst/>
              <a:rect l="l" t="t" r="r" b="b"/>
              <a:pathLst>
                <a:path w="699770" h="130175">
                  <a:moveTo>
                    <a:pt x="471671" y="0"/>
                  </a:moveTo>
                  <a:lnTo>
                    <a:pt x="549527" y="66909"/>
                  </a:lnTo>
                  <a:lnTo>
                    <a:pt x="471671" y="129767"/>
                  </a:lnTo>
                  <a:lnTo>
                    <a:pt x="640892" y="83015"/>
                  </a:lnTo>
                  <a:lnTo>
                    <a:pt x="549527" y="83015"/>
                  </a:lnTo>
                  <a:lnTo>
                    <a:pt x="558975" y="78997"/>
                  </a:lnTo>
                  <a:lnTo>
                    <a:pt x="562755" y="78997"/>
                  </a:lnTo>
                  <a:lnTo>
                    <a:pt x="567290" y="70927"/>
                  </a:lnTo>
                  <a:lnTo>
                    <a:pt x="567290" y="58839"/>
                  </a:lnTo>
                  <a:lnTo>
                    <a:pt x="562755" y="54821"/>
                  </a:lnTo>
                  <a:lnTo>
                    <a:pt x="558975" y="51586"/>
                  </a:lnTo>
                  <a:lnTo>
                    <a:pt x="549527" y="47568"/>
                  </a:lnTo>
                  <a:lnTo>
                    <a:pt x="633424" y="47568"/>
                  </a:lnTo>
                  <a:lnTo>
                    <a:pt x="471671" y="0"/>
                  </a:lnTo>
                  <a:close/>
                </a:path>
                <a:path w="699770" h="130175">
                  <a:moveTo>
                    <a:pt x="527021" y="47568"/>
                  </a:moveTo>
                  <a:lnTo>
                    <a:pt x="17763" y="47568"/>
                  </a:lnTo>
                  <a:lnTo>
                    <a:pt x="13227" y="51586"/>
                  </a:lnTo>
                  <a:lnTo>
                    <a:pt x="9448" y="54821"/>
                  </a:lnTo>
                  <a:lnTo>
                    <a:pt x="4535" y="58839"/>
                  </a:lnTo>
                  <a:lnTo>
                    <a:pt x="0" y="66909"/>
                  </a:lnTo>
                  <a:lnTo>
                    <a:pt x="4535" y="70927"/>
                  </a:lnTo>
                  <a:lnTo>
                    <a:pt x="9448" y="78997"/>
                  </a:lnTo>
                  <a:lnTo>
                    <a:pt x="13227" y="78997"/>
                  </a:lnTo>
                  <a:lnTo>
                    <a:pt x="17763" y="83015"/>
                  </a:lnTo>
                  <a:lnTo>
                    <a:pt x="529577" y="83015"/>
                  </a:lnTo>
                  <a:lnTo>
                    <a:pt x="549527" y="66909"/>
                  </a:lnTo>
                  <a:lnTo>
                    <a:pt x="527021" y="47568"/>
                  </a:lnTo>
                  <a:close/>
                </a:path>
                <a:path w="699770" h="130175">
                  <a:moveTo>
                    <a:pt x="633424" y="47568"/>
                  </a:moveTo>
                  <a:lnTo>
                    <a:pt x="549527" y="47568"/>
                  </a:lnTo>
                  <a:lnTo>
                    <a:pt x="558975" y="51586"/>
                  </a:lnTo>
                  <a:lnTo>
                    <a:pt x="562755" y="54821"/>
                  </a:lnTo>
                  <a:lnTo>
                    <a:pt x="567290" y="58839"/>
                  </a:lnTo>
                  <a:lnTo>
                    <a:pt x="567290" y="70927"/>
                  </a:lnTo>
                  <a:lnTo>
                    <a:pt x="562755" y="78997"/>
                  </a:lnTo>
                  <a:lnTo>
                    <a:pt x="558975" y="78997"/>
                  </a:lnTo>
                  <a:lnTo>
                    <a:pt x="549527" y="83015"/>
                  </a:lnTo>
                  <a:lnTo>
                    <a:pt x="640892" y="83015"/>
                  </a:lnTo>
                  <a:lnTo>
                    <a:pt x="699191" y="66909"/>
                  </a:lnTo>
                  <a:lnTo>
                    <a:pt x="633424" y="47568"/>
                  </a:lnTo>
                  <a:close/>
                </a:path>
              </a:pathLst>
            </a:custGeom>
            <a:solidFill>
              <a:srgbClr val="000000"/>
            </a:solidFill>
          </p:spPr>
          <p:txBody>
            <a:bodyPr wrap="square" lIns="0" tIns="0" rIns="0" bIns="0" rtlCol="0"/>
            <a:lstStyle/>
            <a:p/>
          </p:txBody>
        </p:sp>
        <p:sp>
          <p:nvSpPr>
            <p:cNvPr id="28" name="object 28" descr=""/>
            <p:cNvSpPr/>
            <p:nvPr/>
          </p:nvSpPr>
          <p:spPr>
            <a:xfrm>
              <a:off x="7317043" y="5434285"/>
              <a:ext cx="699770" cy="130175"/>
            </a:xfrm>
            <a:custGeom>
              <a:avLst/>
              <a:gdLst/>
              <a:ahLst/>
              <a:cxnLst/>
              <a:rect l="l" t="t" r="r" b="b"/>
              <a:pathLst>
                <a:path w="699770" h="130175">
                  <a:moveTo>
                    <a:pt x="17763" y="47568"/>
                  </a:moveTo>
                  <a:lnTo>
                    <a:pt x="549527" y="47568"/>
                  </a:lnTo>
                  <a:lnTo>
                    <a:pt x="567290" y="70927"/>
                  </a:lnTo>
                  <a:lnTo>
                    <a:pt x="562755" y="78997"/>
                  </a:lnTo>
                  <a:lnTo>
                    <a:pt x="558975" y="78997"/>
                  </a:lnTo>
                  <a:lnTo>
                    <a:pt x="549527" y="83015"/>
                  </a:lnTo>
                  <a:lnTo>
                    <a:pt x="17763" y="83015"/>
                  </a:lnTo>
                  <a:lnTo>
                    <a:pt x="13227" y="78997"/>
                  </a:lnTo>
                  <a:lnTo>
                    <a:pt x="9448" y="78997"/>
                  </a:lnTo>
                  <a:lnTo>
                    <a:pt x="4535" y="70927"/>
                  </a:lnTo>
                  <a:lnTo>
                    <a:pt x="0" y="66909"/>
                  </a:lnTo>
                  <a:lnTo>
                    <a:pt x="4535" y="58839"/>
                  </a:lnTo>
                  <a:lnTo>
                    <a:pt x="9448" y="54821"/>
                  </a:lnTo>
                  <a:lnTo>
                    <a:pt x="13227" y="51586"/>
                  </a:lnTo>
                  <a:lnTo>
                    <a:pt x="17763" y="47568"/>
                  </a:lnTo>
                  <a:close/>
                </a:path>
                <a:path w="699770" h="130175">
                  <a:moveTo>
                    <a:pt x="549527" y="66909"/>
                  </a:moveTo>
                  <a:lnTo>
                    <a:pt x="471671" y="0"/>
                  </a:lnTo>
                  <a:lnTo>
                    <a:pt x="699192" y="66909"/>
                  </a:lnTo>
                  <a:lnTo>
                    <a:pt x="471671" y="129767"/>
                  </a:lnTo>
                  <a:lnTo>
                    <a:pt x="549527" y="66909"/>
                  </a:lnTo>
                  <a:close/>
                </a:path>
              </a:pathLst>
            </a:custGeom>
            <a:ln w="4932">
              <a:solidFill>
                <a:srgbClr val="000000"/>
              </a:solidFill>
            </a:ln>
          </p:spPr>
          <p:txBody>
            <a:bodyPr wrap="square" lIns="0" tIns="0" rIns="0" bIns="0" rtlCol="0"/>
            <a:lstStyle/>
            <a:p/>
          </p:txBody>
        </p:sp>
      </p:grpSp>
      <p:grpSp>
        <p:nvGrpSpPr>
          <p:cNvPr id="29" name="object 29" descr=""/>
          <p:cNvGrpSpPr/>
          <p:nvPr/>
        </p:nvGrpSpPr>
        <p:grpSpPr>
          <a:xfrm>
            <a:off x="9017759" y="5431889"/>
            <a:ext cx="704215" cy="134620"/>
            <a:chOff x="9017759" y="5431889"/>
            <a:chExt cx="704215" cy="134620"/>
          </a:xfrm>
        </p:grpSpPr>
        <p:sp>
          <p:nvSpPr>
            <p:cNvPr id="30" name="object 30" descr=""/>
            <p:cNvSpPr/>
            <p:nvPr/>
          </p:nvSpPr>
          <p:spPr>
            <a:xfrm>
              <a:off x="9020048" y="5434285"/>
              <a:ext cx="699770" cy="130175"/>
            </a:xfrm>
            <a:custGeom>
              <a:avLst/>
              <a:gdLst/>
              <a:ahLst/>
              <a:cxnLst/>
              <a:rect l="l" t="t" r="r" b="b"/>
              <a:pathLst>
                <a:path w="699770" h="130175">
                  <a:moveTo>
                    <a:pt x="472427" y="0"/>
                  </a:moveTo>
                  <a:lnTo>
                    <a:pt x="549527" y="66909"/>
                  </a:lnTo>
                  <a:lnTo>
                    <a:pt x="472427" y="129767"/>
                  </a:lnTo>
                  <a:lnTo>
                    <a:pt x="641086" y="83015"/>
                  </a:lnTo>
                  <a:lnTo>
                    <a:pt x="549527" y="83015"/>
                  </a:lnTo>
                  <a:lnTo>
                    <a:pt x="558597" y="78997"/>
                  </a:lnTo>
                  <a:lnTo>
                    <a:pt x="563510" y="78997"/>
                  </a:lnTo>
                  <a:lnTo>
                    <a:pt x="567290" y="70927"/>
                  </a:lnTo>
                  <a:lnTo>
                    <a:pt x="567290" y="58839"/>
                  </a:lnTo>
                  <a:lnTo>
                    <a:pt x="563510" y="54821"/>
                  </a:lnTo>
                  <a:lnTo>
                    <a:pt x="558597" y="51586"/>
                  </a:lnTo>
                  <a:lnTo>
                    <a:pt x="549527" y="47568"/>
                  </a:lnTo>
                  <a:lnTo>
                    <a:pt x="633642" y="47568"/>
                  </a:lnTo>
                  <a:lnTo>
                    <a:pt x="472427" y="0"/>
                  </a:lnTo>
                  <a:close/>
                </a:path>
                <a:path w="699770" h="130175">
                  <a:moveTo>
                    <a:pt x="527240" y="47568"/>
                  </a:moveTo>
                  <a:lnTo>
                    <a:pt x="17763" y="47568"/>
                  </a:lnTo>
                  <a:lnTo>
                    <a:pt x="13983" y="51586"/>
                  </a:lnTo>
                  <a:lnTo>
                    <a:pt x="9070" y="54821"/>
                  </a:lnTo>
                  <a:lnTo>
                    <a:pt x="4535" y="58839"/>
                  </a:lnTo>
                  <a:lnTo>
                    <a:pt x="0" y="66909"/>
                  </a:lnTo>
                  <a:lnTo>
                    <a:pt x="4535" y="70927"/>
                  </a:lnTo>
                  <a:lnTo>
                    <a:pt x="9070" y="78997"/>
                  </a:lnTo>
                  <a:lnTo>
                    <a:pt x="13983" y="78997"/>
                  </a:lnTo>
                  <a:lnTo>
                    <a:pt x="17763" y="83015"/>
                  </a:lnTo>
                  <a:lnTo>
                    <a:pt x="529771" y="83015"/>
                  </a:lnTo>
                  <a:lnTo>
                    <a:pt x="549527" y="66909"/>
                  </a:lnTo>
                  <a:lnTo>
                    <a:pt x="527240" y="47568"/>
                  </a:lnTo>
                  <a:close/>
                </a:path>
                <a:path w="699770" h="130175">
                  <a:moveTo>
                    <a:pt x="633642" y="47568"/>
                  </a:moveTo>
                  <a:lnTo>
                    <a:pt x="549527" y="47568"/>
                  </a:lnTo>
                  <a:lnTo>
                    <a:pt x="558597" y="51586"/>
                  </a:lnTo>
                  <a:lnTo>
                    <a:pt x="563510" y="54821"/>
                  </a:lnTo>
                  <a:lnTo>
                    <a:pt x="567290" y="58839"/>
                  </a:lnTo>
                  <a:lnTo>
                    <a:pt x="567290" y="70927"/>
                  </a:lnTo>
                  <a:lnTo>
                    <a:pt x="563510" y="78997"/>
                  </a:lnTo>
                  <a:lnTo>
                    <a:pt x="558597" y="78997"/>
                  </a:lnTo>
                  <a:lnTo>
                    <a:pt x="549527" y="83015"/>
                  </a:lnTo>
                  <a:lnTo>
                    <a:pt x="641086" y="83015"/>
                  </a:lnTo>
                  <a:lnTo>
                    <a:pt x="699191" y="66909"/>
                  </a:lnTo>
                  <a:lnTo>
                    <a:pt x="633642" y="47568"/>
                  </a:lnTo>
                  <a:close/>
                </a:path>
              </a:pathLst>
            </a:custGeom>
            <a:solidFill>
              <a:srgbClr val="000000"/>
            </a:solidFill>
          </p:spPr>
          <p:txBody>
            <a:bodyPr wrap="square" lIns="0" tIns="0" rIns="0" bIns="0" rtlCol="0"/>
            <a:lstStyle/>
            <a:p/>
          </p:txBody>
        </p:sp>
        <p:sp>
          <p:nvSpPr>
            <p:cNvPr id="31" name="object 31" descr=""/>
            <p:cNvSpPr/>
            <p:nvPr/>
          </p:nvSpPr>
          <p:spPr>
            <a:xfrm>
              <a:off x="9020048" y="5434285"/>
              <a:ext cx="699770" cy="130175"/>
            </a:xfrm>
            <a:custGeom>
              <a:avLst/>
              <a:gdLst/>
              <a:ahLst/>
              <a:cxnLst/>
              <a:rect l="l" t="t" r="r" b="b"/>
              <a:pathLst>
                <a:path w="699770" h="130175">
                  <a:moveTo>
                    <a:pt x="17763" y="47568"/>
                  </a:moveTo>
                  <a:lnTo>
                    <a:pt x="549527" y="47568"/>
                  </a:lnTo>
                  <a:lnTo>
                    <a:pt x="567290" y="66909"/>
                  </a:lnTo>
                  <a:lnTo>
                    <a:pt x="567290" y="70927"/>
                  </a:lnTo>
                  <a:lnTo>
                    <a:pt x="563510" y="78997"/>
                  </a:lnTo>
                  <a:lnTo>
                    <a:pt x="558597" y="78997"/>
                  </a:lnTo>
                  <a:lnTo>
                    <a:pt x="549527" y="83015"/>
                  </a:lnTo>
                  <a:lnTo>
                    <a:pt x="17763" y="83015"/>
                  </a:lnTo>
                  <a:lnTo>
                    <a:pt x="13983" y="78997"/>
                  </a:lnTo>
                  <a:lnTo>
                    <a:pt x="9070" y="78997"/>
                  </a:lnTo>
                  <a:lnTo>
                    <a:pt x="4535" y="70927"/>
                  </a:lnTo>
                  <a:lnTo>
                    <a:pt x="0" y="66909"/>
                  </a:lnTo>
                  <a:lnTo>
                    <a:pt x="4535" y="58839"/>
                  </a:lnTo>
                  <a:lnTo>
                    <a:pt x="9070" y="54821"/>
                  </a:lnTo>
                  <a:lnTo>
                    <a:pt x="13983" y="51586"/>
                  </a:lnTo>
                  <a:lnTo>
                    <a:pt x="17763" y="47568"/>
                  </a:lnTo>
                  <a:close/>
                </a:path>
                <a:path w="699770" h="130175">
                  <a:moveTo>
                    <a:pt x="549527" y="66909"/>
                  </a:moveTo>
                  <a:lnTo>
                    <a:pt x="472427" y="0"/>
                  </a:lnTo>
                  <a:lnTo>
                    <a:pt x="699192" y="66909"/>
                  </a:lnTo>
                  <a:lnTo>
                    <a:pt x="472427" y="129767"/>
                  </a:lnTo>
                  <a:lnTo>
                    <a:pt x="549527" y="66909"/>
                  </a:lnTo>
                  <a:close/>
                </a:path>
              </a:pathLst>
            </a:custGeom>
            <a:ln w="4932">
              <a:solidFill>
                <a:srgbClr val="000000"/>
              </a:solidFill>
            </a:ln>
          </p:spPr>
          <p:txBody>
            <a:bodyPr wrap="square" lIns="0" tIns="0" rIns="0" bIns="0" rtlCol="0"/>
            <a:lstStyle/>
            <a:p/>
          </p:txBody>
        </p:sp>
      </p:grpSp>
      <p:grpSp>
        <p:nvGrpSpPr>
          <p:cNvPr id="32" name="object 32" descr=""/>
          <p:cNvGrpSpPr/>
          <p:nvPr/>
        </p:nvGrpSpPr>
        <p:grpSpPr>
          <a:xfrm>
            <a:off x="9017758" y="3268481"/>
            <a:ext cx="704215" cy="134620"/>
            <a:chOff x="9017758" y="3268481"/>
            <a:chExt cx="704215" cy="134620"/>
          </a:xfrm>
        </p:grpSpPr>
        <p:sp>
          <p:nvSpPr>
            <p:cNvPr id="33" name="object 33" descr=""/>
            <p:cNvSpPr/>
            <p:nvPr/>
          </p:nvSpPr>
          <p:spPr>
            <a:xfrm>
              <a:off x="9020047" y="3270877"/>
              <a:ext cx="699770" cy="130175"/>
            </a:xfrm>
            <a:custGeom>
              <a:avLst/>
              <a:gdLst/>
              <a:ahLst/>
              <a:cxnLst/>
              <a:rect l="l" t="t" r="r" b="b"/>
              <a:pathLst>
                <a:path w="699770" h="130175">
                  <a:moveTo>
                    <a:pt x="472427" y="0"/>
                  </a:moveTo>
                  <a:lnTo>
                    <a:pt x="549527" y="66876"/>
                  </a:lnTo>
                  <a:lnTo>
                    <a:pt x="472427" y="129767"/>
                  </a:lnTo>
                  <a:lnTo>
                    <a:pt x="640998" y="83015"/>
                  </a:lnTo>
                  <a:lnTo>
                    <a:pt x="549527" y="83015"/>
                  </a:lnTo>
                  <a:lnTo>
                    <a:pt x="558597" y="78964"/>
                  </a:lnTo>
                  <a:lnTo>
                    <a:pt x="563510" y="78964"/>
                  </a:lnTo>
                  <a:lnTo>
                    <a:pt x="567290" y="70927"/>
                  </a:lnTo>
                  <a:lnTo>
                    <a:pt x="567290" y="58839"/>
                  </a:lnTo>
                  <a:lnTo>
                    <a:pt x="563510" y="54788"/>
                  </a:lnTo>
                  <a:lnTo>
                    <a:pt x="558597" y="51586"/>
                  </a:lnTo>
                  <a:lnTo>
                    <a:pt x="549527" y="47535"/>
                  </a:lnTo>
                  <a:lnTo>
                    <a:pt x="633610" y="47535"/>
                  </a:lnTo>
                  <a:lnTo>
                    <a:pt x="472427" y="0"/>
                  </a:lnTo>
                  <a:close/>
                </a:path>
                <a:path w="699770" h="130175">
                  <a:moveTo>
                    <a:pt x="527229" y="47535"/>
                  </a:moveTo>
                  <a:lnTo>
                    <a:pt x="17763" y="47535"/>
                  </a:lnTo>
                  <a:lnTo>
                    <a:pt x="13983" y="51586"/>
                  </a:lnTo>
                  <a:lnTo>
                    <a:pt x="9070" y="54788"/>
                  </a:lnTo>
                  <a:lnTo>
                    <a:pt x="4535" y="58839"/>
                  </a:lnTo>
                  <a:lnTo>
                    <a:pt x="0" y="66876"/>
                  </a:lnTo>
                  <a:lnTo>
                    <a:pt x="4535" y="70927"/>
                  </a:lnTo>
                  <a:lnTo>
                    <a:pt x="9070" y="78964"/>
                  </a:lnTo>
                  <a:lnTo>
                    <a:pt x="13983" y="78964"/>
                  </a:lnTo>
                  <a:lnTo>
                    <a:pt x="17763" y="83015"/>
                  </a:lnTo>
                  <a:lnTo>
                    <a:pt x="529741" y="83015"/>
                  </a:lnTo>
                  <a:lnTo>
                    <a:pt x="549527" y="66876"/>
                  </a:lnTo>
                  <a:lnTo>
                    <a:pt x="527229" y="47535"/>
                  </a:lnTo>
                  <a:close/>
                </a:path>
                <a:path w="699770" h="130175">
                  <a:moveTo>
                    <a:pt x="633610" y="47535"/>
                  </a:moveTo>
                  <a:lnTo>
                    <a:pt x="549527" y="47535"/>
                  </a:lnTo>
                  <a:lnTo>
                    <a:pt x="558597" y="51586"/>
                  </a:lnTo>
                  <a:lnTo>
                    <a:pt x="563510" y="54788"/>
                  </a:lnTo>
                  <a:lnTo>
                    <a:pt x="567290" y="58839"/>
                  </a:lnTo>
                  <a:lnTo>
                    <a:pt x="567290" y="70927"/>
                  </a:lnTo>
                  <a:lnTo>
                    <a:pt x="563510" y="78964"/>
                  </a:lnTo>
                  <a:lnTo>
                    <a:pt x="558597" y="78964"/>
                  </a:lnTo>
                  <a:lnTo>
                    <a:pt x="549527" y="83015"/>
                  </a:lnTo>
                  <a:lnTo>
                    <a:pt x="640998" y="83015"/>
                  </a:lnTo>
                  <a:lnTo>
                    <a:pt x="699191" y="66876"/>
                  </a:lnTo>
                  <a:lnTo>
                    <a:pt x="633610" y="47535"/>
                  </a:lnTo>
                  <a:close/>
                </a:path>
              </a:pathLst>
            </a:custGeom>
            <a:solidFill>
              <a:srgbClr val="000000"/>
            </a:solidFill>
          </p:spPr>
          <p:txBody>
            <a:bodyPr wrap="square" lIns="0" tIns="0" rIns="0" bIns="0" rtlCol="0"/>
            <a:lstStyle/>
            <a:p/>
          </p:txBody>
        </p:sp>
        <p:sp>
          <p:nvSpPr>
            <p:cNvPr id="34" name="object 34" descr=""/>
            <p:cNvSpPr/>
            <p:nvPr/>
          </p:nvSpPr>
          <p:spPr>
            <a:xfrm>
              <a:off x="9020047" y="3270877"/>
              <a:ext cx="699770" cy="130175"/>
            </a:xfrm>
            <a:custGeom>
              <a:avLst/>
              <a:gdLst/>
              <a:ahLst/>
              <a:cxnLst/>
              <a:rect l="l" t="t" r="r" b="b"/>
              <a:pathLst>
                <a:path w="699770" h="130175">
                  <a:moveTo>
                    <a:pt x="17763" y="47535"/>
                  </a:moveTo>
                  <a:lnTo>
                    <a:pt x="549527" y="47535"/>
                  </a:lnTo>
                  <a:lnTo>
                    <a:pt x="567290" y="66876"/>
                  </a:lnTo>
                  <a:lnTo>
                    <a:pt x="567290" y="70927"/>
                  </a:lnTo>
                  <a:lnTo>
                    <a:pt x="563510" y="78964"/>
                  </a:lnTo>
                  <a:lnTo>
                    <a:pt x="558597" y="78964"/>
                  </a:lnTo>
                  <a:lnTo>
                    <a:pt x="549527" y="83015"/>
                  </a:lnTo>
                  <a:lnTo>
                    <a:pt x="17763" y="83015"/>
                  </a:lnTo>
                  <a:lnTo>
                    <a:pt x="13983" y="78964"/>
                  </a:lnTo>
                  <a:lnTo>
                    <a:pt x="9070" y="78964"/>
                  </a:lnTo>
                  <a:lnTo>
                    <a:pt x="4535" y="70927"/>
                  </a:lnTo>
                  <a:lnTo>
                    <a:pt x="0" y="66876"/>
                  </a:lnTo>
                  <a:lnTo>
                    <a:pt x="4535" y="58839"/>
                  </a:lnTo>
                  <a:lnTo>
                    <a:pt x="9070" y="54788"/>
                  </a:lnTo>
                  <a:lnTo>
                    <a:pt x="13983" y="51586"/>
                  </a:lnTo>
                  <a:lnTo>
                    <a:pt x="17763" y="47535"/>
                  </a:lnTo>
                  <a:close/>
                </a:path>
                <a:path w="699770" h="130175">
                  <a:moveTo>
                    <a:pt x="549527" y="66876"/>
                  </a:moveTo>
                  <a:lnTo>
                    <a:pt x="472427" y="0"/>
                  </a:lnTo>
                  <a:lnTo>
                    <a:pt x="699192" y="66876"/>
                  </a:lnTo>
                  <a:lnTo>
                    <a:pt x="472427" y="129767"/>
                  </a:lnTo>
                  <a:lnTo>
                    <a:pt x="549527" y="66876"/>
                  </a:lnTo>
                  <a:close/>
                </a:path>
              </a:pathLst>
            </a:custGeom>
            <a:ln w="4932">
              <a:solidFill>
                <a:srgbClr val="000000"/>
              </a:solidFill>
            </a:ln>
          </p:spPr>
          <p:txBody>
            <a:bodyPr wrap="square" lIns="0" tIns="0" rIns="0" bIns="0" rtlCol="0"/>
            <a:lstStyle/>
            <a:p/>
          </p:txBody>
        </p:sp>
      </p:grpSp>
      <p:grpSp>
        <p:nvGrpSpPr>
          <p:cNvPr id="35" name="object 35" descr=""/>
          <p:cNvGrpSpPr/>
          <p:nvPr/>
        </p:nvGrpSpPr>
        <p:grpSpPr>
          <a:xfrm>
            <a:off x="5152974" y="3433625"/>
            <a:ext cx="4451350" cy="1972310"/>
            <a:chOff x="5152974" y="3433625"/>
            <a:chExt cx="4451350" cy="1972310"/>
          </a:xfrm>
        </p:grpSpPr>
        <p:sp>
          <p:nvSpPr>
            <p:cNvPr id="36" name="object 36" descr=""/>
            <p:cNvSpPr/>
            <p:nvPr/>
          </p:nvSpPr>
          <p:spPr>
            <a:xfrm>
              <a:off x="5160016" y="3436091"/>
              <a:ext cx="1153795" cy="1000125"/>
            </a:xfrm>
            <a:custGeom>
              <a:avLst/>
              <a:gdLst/>
              <a:ahLst/>
              <a:cxnLst/>
              <a:rect l="l" t="t" r="r" b="b"/>
              <a:pathLst>
                <a:path w="1153795" h="1000125">
                  <a:moveTo>
                    <a:pt x="27174" y="995470"/>
                  </a:moveTo>
                  <a:lnTo>
                    <a:pt x="13114" y="995470"/>
                  </a:lnTo>
                  <a:lnTo>
                    <a:pt x="17801" y="999521"/>
                  </a:lnTo>
                  <a:lnTo>
                    <a:pt x="27174" y="995470"/>
                  </a:lnTo>
                  <a:close/>
                </a:path>
                <a:path w="1153795" h="1000125">
                  <a:moveTo>
                    <a:pt x="1053058" y="74978"/>
                  </a:moveTo>
                  <a:lnTo>
                    <a:pt x="1039074" y="74978"/>
                  </a:lnTo>
                  <a:lnTo>
                    <a:pt x="1035295" y="78997"/>
                  </a:lnTo>
                  <a:lnTo>
                    <a:pt x="3779" y="975312"/>
                  </a:lnTo>
                  <a:lnTo>
                    <a:pt x="0" y="983382"/>
                  </a:lnTo>
                  <a:lnTo>
                    <a:pt x="3779" y="987400"/>
                  </a:lnTo>
                  <a:lnTo>
                    <a:pt x="8428" y="995470"/>
                  </a:lnTo>
                  <a:lnTo>
                    <a:pt x="31860" y="995470"/>
                  </a:lnTo>
                  <a:lnTo>
                    <a:pt x="1048523" y="114506"/>
                  </a:lnTo>
                  <a:lnTo>
                    <a:pt x="1048523" y="90301"/>
                  </a:lnTo>
                  <a:lnTo>
                    <a:pt x="1067420" y="90301"/>
                  </a:lnTo>
                  <a:lnTo>
                    <a:pt x="1067420" y="86250"/>
                  </a:lnTo>
                  <a:lnTo>
                    <a:pt x="1062507" y="78997"/>
                  </a:lnTo>
                  <a:lnTo>
                    <a:pt x="1053058" y="74978"/>
                  </a:lnTo>
                  <a:close/>
                </a:path>
                <a:path w="1153795" h="1000125">
                  <a:moveTo>
                    <a:pt x="1110688" y="74978"/>
                  </a:moveTo>
                  <a:lnTo>
                    <a:pt x="1053058" y="74978"/>
                  </a:lnTo>
                  <a:lnTo>
                    <a:pt x="1062507" y="78997"/>
                  </a:lnTo>
                  <a:lnTo>
                    <a:pt x="1067420" y="86250"/>
                  </a:lnTo>
                  <a:lnTo>
                    <a:pt x="1067420" y="98338"/>
                  </a:lnTo>
                  <a:lnTo>
                    <a:pt x="1062507" y="102389"/>
                  </a:lnTo>
                  <a:lnTo>
                    <a:pt x="1048523" y="114506"/>
                  </a:lnTo>
                  <a:lnTo>
                    <a:pt x="1048523" y="184588"/>
                  </a:lnTo>
                  <a:lnTo>
                    <a:pt x="1110688" y="74978"/>
                  </a:lnTo>
                  <a:close/>
                </a:path>
                <a:path w="1153795" h="1000125">
                  <a:moveTo>
                    <a:pt x="1067420" y="90301"/>
                  </a:moveTo>
                  <a:lnTo>
                    <a:pt x="1048523" y="90301"/>
                  </a:lnTo>
                  <a:lnTo>
                    <a:pt x="1048523" y="114506"/>
                  </a:lnTo>
                  <a:lnTo>
                    <a:pt x="1062507" y="102389"/>
                  </a:lnTo>
                  <a:lnTo>
                    <a:pt x="1067420" y="98338"/>
                  </a:lnTo>
                  <a:lnTo>
                    <a:pt x="1067420" y="90301"/>
                  </a:lnTo>
                  <a:close/>
                </a:path>
                <a:path w="1153795" h="1000125">
                  <a:moveTo>
                    <a:pt x="1153213" y="0"/>
                  </a:moveTo>
                  <a:lnTo>
                    <a:pt x="940054" y="90301"/>
                  </a:lnTo>
                  <a:lnTo>
                    <a:pt x="1022286" y="90301"/>
                  </a:lnTo>
                  <a:lnTo>
                    <a:pt x="1035295" y="78997"/>
                  </a:lnTo>
                  <a:lnTo>
                    <a:pt x="1039074" y="74978"/>
                  </a:lnTo>
                  <a:lnTo>
                    <a:pt x="1110688" y="74978"/>
                  </a:lnTo>
                  <a:lnTo>
                    <a:pt x="1153213" y="0"/>
                  </a:lnTo>
                  <a:close/>
                </a:path>
              </a:pathLst>
            </a:custGeom>
            <a:solidFill>
              <a:srgbClr val="000000"/>
            </a:solidFill>
          </p:spPr>
          <p:txBody>
            <a:bodyPr wrap="square" lIns="0" tIns="0" rIns="0" bIns="0" rtlCol="0"/>
            <a:lstStyle/>
            <a:p/>
          </p:txBody>
        </p:sp>
        <p:sp>
          <p:nvSpPr>
            <p:cNvPr id="37" name="object 37" descr=""/>
            <p:cNvSpPr/>
            <p:nvPr/>
          </p:nvSpPr>
          <p:spPr>
            <a:xfrm>
              <a:off x="5160016" y="3436091"/>
              <a:ext cx="1153795" cy="1000125"/>
            </a:xfrm>
            <a:custGeom>
              <a:avLst/>
              <a:gdLst/>
              <a:ahLst/>
              <a:cxnLst/>
              <a:rect l="l" t="t" r="r" b="b"/>
              <a:pathLst>
                <a:path w="1153795" h="1000125">
                  <a:moveTo>
                    <a:pt x="8428" y="971294"/>
                  </a:moveTo>
                  <a:lnTo>
                    <a:pt x="1035295" y="78997"/>
                  </a:lnTo>
                  <a:lnTo>
                    <a:pt x="1039074" y="74978"/>
                  </a:lnTo>
                  <a:lnTo>
                    <a:pt x="1048523" y="74978"/>
                  </a:lnTo>
                  <a:lnTo>
                    <a:pt x="1053058" y="74978"/>
                  </a:lnTo>
                  <a:lnTo>
                    <a:pt x="1062507" y="78997"/>
                  </a:lnTo>
                  <a:lnTo>
                    <a:pt x="1067420" y="86250"/>
                  </a:lnTo>
                  <a:lnTo>
                    <a:pt x="1067420" y="90301"/>
                  </a:lnTo>
                  <a:lnTo>
                    <a:pt x="1067420" y="98338"/>
                  </a:lnTo>
                  <a:lnTo>
                    <a:pt x="1062507" y="102389"/>
                  </a:lnTo>
                  <a:lnTo>
                    <a:pt x="31860" y="995470"/>
                  </a:lnTo>
                  <a:lnTo>
                    <a:pt x="27174" y="995470"/>
                  </a:lnTo>
                  <a:lnTo>
                    <a:pt x="17801" y="999521"/>
                  </a:lnTo>
                  <a:lnTo>
                    <a:pt x="13114" y="995470"/>
                  </a:lnTo>
                  <a:lnTo>
                    <a:pt x="8428" y="995470"/>
                  </a:lnTo>
                  <a:lnTo>
                    <a:pt x="3779" y="987400"/>
                  </a:lnTo>
                  <a:lnTo>
                    <a:pt x="0" y="983382"/>
                  </a:lnTo>
                  <a:lnTo>
                    <a:pt x="3779" y="975312"/>
                  </a:lnTo>
                  <a:lnTo>
                    <a:pt x="8428" y="971294"/>
                  </a:lnTo>
                  <a:close/>
                </a:path>
                <a:path w="1153795" h="1000125">
                  <a:moveTo>
                    <a:pt x="1048523" y="90301"/>
                  </a:moveTo>
                  <a:lnTo>
                    <a:pt x="940054" y="90301"/>
                  </a:lnTo>
                  <a:lnTo>
                    <a:pt x="1153213" y="0"/>
                  </a:lnTo>
                  <a:lnTo>
                    <a:pt x="1048523" y="184588"/>
                  </a:lnTo>
                  <a:lnTo>
                    <a:pt x="1048523" y="90301"/>
                  </a:lnTo>
                  <a:close/>
                </a:path>
              </a:pathLst>
            </a:custGeom>
            <a:ln w="4932">
              <a:solidFill>
                <a:srgbClr val="000000"/>
              </a:solidFill>
            </a:ln>
          </p:spPr>
          <p:txBody>
            <a:bodyPr wrap="square" lIns="0" tIns="0" rIns="0" bIns="0" rtlCol="0"/>
            <a:lstStyle/>
            <a:p/>
          </p:txBody>
        </p:sp>
        <p:sp>
          <p:nvSpPr>
            <p:cNvPr id="38" name="object 38" descr=""/>
            <p:cNvSpPr/>
            <p:nvPr/>
          </p:nvSpPr>
          <p:spPr>
            <a:xfrm>
              <a:off x="5160016" y="4400133"/>
              <a:ext cx="1153795" cy="1003300"/>
            </a:xfrm>
            <a:custGeom>
              <a:avLst/>
              <a:gdLst/>
              <a:ahLst/>
              <a:cxnLst/>
              <a:rect l="l" t="t" r="r" b="b"/>
              <a:pathLst>
                <a:path w="1153795" h="1003300">
                  <a:moveTo>
                    <a:pt x="1021333" y="908403"/>
                  </a:moveTo>
                  <a:lnTo>
                    <a:pt x="940054" y="908403"/>
                  </a:lnTo>
                  <a:lnTo>
                    <a:pt x="1153213" y="1002723"/>
                  </a:lnTo>
                  <a:lnTo>
                    <a:pt x="1109364" y="923726"/>
                  </a:lnTo>
                  <a:lnTo>
                    <a:pt x="1039074" y="923726"/>
                  </a:lnTo>
                  <a:lnTo>
                    <a:pt x="1035295" y="920491"/>
                  </a:lnTo>
                  <a:lnTo>
                    <a:pt x="1021333" y="908403"/>
                  </a:lnTo>
                  <a:close/>
                </a:path>
                <a:path w="1153795" h="1003300">
                  <a:moveTo>
                    <a:pt x="17801" y="0"/>
                  </a:moveTo>
                  <a:lnTo>
                    <a:pt x="13114" y="4018"/>
                  </a:lnTo>
                  <a:lnTo>
                    <a:pt x="8428" y="7252"/>
                  </a:lnTo>
                  <a:lnTo>
                    <a:pt x="3779" y="11271"/>
                  </a:lnTo>
                  <a:lnTo>
                    <a:pt x="0" y="19340"/>
                  </a:lnTo>
                  <a:lnTo>
                    <a:pt x="3779" y="23359"/>
                  </a:lnTo>
                  <a:lnTo>
                    <a:pt x="8428" y="31429"/>
                  </a:lnTo>
                  <a:lnTo>
                    <a:pt x="1035295" y="920491"/>
                  </a:lnTo>
                  <a:lnTo>
                    <a:pt x="1039074" y="923726"/>
                  </a:lnTo>
                  <a:lnTo>
                    <a:pt x="1053058" y="923726"/>
                  </a:lnTo>
                  <a:lnTo>
                    <a:pt x="1062507" y="920491"/>
                  </a:lnTo>
                  <a:lnTo>
                    <a:pt x="1067420" y="916473"/>
                  </a:lnTo>
                  <a:lnTo>
                    <a:pt x="1067420" y="908403"/>
                  </a:lnTo>
                  <a:lnTo>
                    <a:pt x="1048523" y="908403"/>
                  </a:lnTo>
                  <a:lnTo>
                    <a:pt x="1048523" y="884252"/>
                  </a:lnTo>
                  <a:lnTo>
                    <a:pt x="31860" y="7252"/>
                  </a:lnTo>
                  <a:lnTo>
                    <a:pt x="27174" y="4018"/>
                  </a:lnTo>
                  <a:lnTo>
                    <a:pt x="17801" y="0"/>
                  </a:lnTo>
                  <a:close/>
                </a:path>
                <a:path w="1153795" h="1003300">
                  <a:moveTo>
                    <a:pt x="1048523" y="814116"/>
                  </a:moveTo>
                  <a:lnTo>
                    <a:pt x="1048523" y="884252"/>
                  </a:lnTo>
                  <a:lnTo>
                    <a:pt x="1062507" y="896315"/>
                  </a:lnTo>
                  <a:lnTo>
                    <a:pt x="1067420" y="900366"/>
                  </a:lnTo>
                  <a:lnTo>
                    <a:pt x="1067420" y="916473"/>
                  </a:lnTo>
                  <a:lnTo>
                    <a:pt x="1062507" y="920491"/>
                  </a:lnTo>
                  <a:lnTo>
                    <a:pt x="1053058" y="923726"/>
                  </a:lnTo>
                  <a:lnTo>
                    <a:pt x="1109364" y="923726"/>
                  </a:lnTo>
                  <a:lnTo>
                    <a:pt x="1048523" y="814116"/>
                  </a:lnTo>
                  <a:close/>
                </a:path>
                <a:path w="1153795" h="1003300">
                  <a:moveTo>
                    <a:pt x="1048523" y="884252"/>
                  </a:moveTo>
                  <a:lnTo>
                    <a:pt x="1048523" y="908403"/>
                  </a:lnTo>
                  <a:lnTo>
                    <a:pt x="1067420" y="908403"/>
                  </a:lnTo>
                  <a:lnTo>
                    <a:pt x="1067420" y="900366"/>
                  </a:lnTo>
                  <a:lnTo>
                    <a:pt x="1062507" y="896315"/>
                  </a:lnTo>
                  <a:lnTo>
                    <a:pt x="1048523" y="884252"/>
                  </a:lnTo>
                  <a:close/>
                </a:path>
              </a:pathLst>
            </a:custGeom>
            <a:solidFill>
              <a:srgbClr val="000000"/>
            </a:solidFill>
          </p:spPr>
          <p:txBody>
            <a:bodyPr wrap="square" lIns="0" tIns="0" rIns="0" bIns="0" rtlCol="0"/>
            <a:lstStyle/>
            <a:p/>
          </p:txBody>
        </p:sp>
        <p:sp>
          <p:nvSpPr>
            <p:cNvPr id="39" name="object 39" descr=""/>
            <p:cNvSpPr/>
            <p:nvPr/>
          </p:nvSpPr>
          <p:spPr>
            <a:xfrm>
              <a:off x="5160016" y="4400133"/>
              <a:ext cx="1153795" cy="1003300"/>
            </a:xfrm>
            <a:custGeom>
              <a:avLst/>
              <a:gdLst/>
              <a:ahLst/>
              <a:cxnLst/>
              <a:rect l="l" t="t" r="r" b="b"/>
              <a:pathLst>
                <a:path w="1153795" h="1003300">
                  <a:moveTo>
                    <a:pt x="31860" y="7252"/>
                  </a:moveTo>
                  <a:lnTo>
                    <a:pt x="1062507" y="896315"/>
                  </a:lnTo>
                  <a:lnTo>
                    <a:pt x="1067420" y="900366"/>
                  </a:lnTo>
                  <a:lnTo>
                    <a:pt x="1067420" y="908403"/>
                  </a:lnTo>
                  <a:lnTo>
                    <a:pt x="1067420" y="916473"/>
                  </a:lnTo>
                  <a:lnTo>
                    <a:pt x="1062507" y="920491"/>
                  </a:lnTo>
                  <a:lnTo>
                    <a:pt x="1053058" y="923726"/>
                  </a:lnTo>
                  <a:lnTo>
                    <a:pt x="1048523" y="923726"/>
                  </a:lnTo>
                  <a:lnTo>
                    <a:pt x="1039074" y="923726"/>
                  </a:lnTo>
                  <a:lnTo>
                    <a:pt x="1035295" y="920491"/>
                  </a:lnTo>
                  <a:lnTo>
                    <a:pt x="8428" y="31429"/>
                  </a:lnTo>
                  <a:lnTo>
                    <a:pt x="3779" y="23359"/>
                  </a:lnTo>
                  <a:lnTo>
                    <a:pt x="0" y="19340"/>
                  </a:lnTo>
                  <a:lnTo>
                    <a:pt x="3779" y="11271"/>
                  </a:lnTo>
                  <a:lnTo>
                    <a:pt x="8428" y="7252"/>
                  </a:lnTo>
                  <a:lnTo>
                    <a:pt x="13114" y="4018"/>
                  </a:lnTo>
                  <a:lnTo>
                    <a:pt x="17801" y="0"/>
                  </a:lnTo>
                  <a:lnTo>
                    <a:pt x="27174" y="4018"/>
                  </a:lnTo>
                  <a:lnTo>
                    <a:pt x="31860" y="7252"/>
                  </a:lnTo>
                  <a:close/>
                </a:path>
                <a:path w="1153795" h="1003300">
                  <a:moveTo>
                    <a:pt x="1048523" y="908403"/>
                  </a:moveTo>
                  <a:lnTo>
                    <a:pt x="1048523" y="814116"/>
                  </a:lnTo>
                  <a:lnTo>
                    <a:pt x="1153213" y="1002723"/>
                  </a:lnTo>
                  <a:lnTo>
                    <a:pt x="940054" y="908403"/>
                  </a:lnTo>
                  <a:lnTo>
                    <a:pt x="1048523" y="908403"/>
                  </a:lnTo>
                  <a:close/>
                </a:path>
              </a:pathLst>
            </a:custGeom>
            <a:ln w="4932">
              <a:solidFill>
                <a:srgbClr val="000000"/>
              </a:solidFill>
            </a:ln>
          </p:spPr>
          <p:txBody>
            <a:bodyPr wrap="square" lIns="0" tIns="0" rIns="0" bIns="0" rtlCol="0"/>
            <a:lstStyle/>
            <a:p/>
          </p:txBody>
        </p:sp>
        <p:sp>
          <p:nvSpPr>
            <p:cNvPr id="40" name="object 40" descr=""/>
            <p:cNvSpPr/>
            <p:nvPr/>
          </p:nvSpPr>
          <p:spPr>
            <a:xfrm>
              <a:off x="5155368" y="3860873"/>
              <a:ext cx="4446270" cy="575310"/>
            </a:xfrm>
            <a:custGeom>
              <a:avLst/>
              <a:gdLst/>
              <a:ahLst/>
              <a:cxnLst/>
              <a:rect l="l" t="t" r="r" b="b"/>
              <a:pathLst>
                <a:path w="4446270" h="575310">
                  <a:moveTo>
                    <a:pt x="127290" y="495742"/>
                  </a:moveTo>
                  <a:lnTo>
                    <a:pt x="117955" y="495742"/>
                  </a:lnTo>
                  <a:lnTo>
                    <a:pt x="113269" y="499760"/>
                  </a:lnTo>
                  <a:lnTo>
                    <a:pt x="8428" y="543277"/>
                  </a:lnTo>
                  <a:lnTo>
                    <a:pt x="0" y="550530"/>
                  </a:lnTo>
                  <a:lnTo>
                    <a:pt x="0" y="558600"/>
                  </a:lnTo>
                  <a:lnTo>
                    <a:pt x="4648" y="562618"/>
                  </a:lnTo>
                  <a:lnTo>
                    <a:pt x="8428" y="570688"/>
                  </a:lnTo>
                  <a:lnTo>
                    <a:pt x="13076" y="574739"/>
                  </a:lnTo>
                  <a:lnTo>
                    <a:pt x="17763" y="574739"/>
                  </a:lnTo>
                  <a:lnTo>
                    <a:pt x="127290" y="527171"/>
                  </a:lnTo>
                  <a:lnTo>
                    <a:pt x="135718" y="523152"/>
                  </a:lnTo>
                  <a:lnTo>
                    <a:pt x="140405" y="519101"/>
                  </a:lnTo>
                  <a:lnTo>
                    <a:pt x="140405" y="511031"/>
                  </a:lnTo>
                  <a:lnTo>
                    <a:pt x="135718" y="507830"/>
                  </a:lnTo>
                  <a:lnTo>
                    <a:pt x="131032" y="499760"/>
                  </a:lnTo>
                  <a:lnTo>
                    <a:pt x="127290" y="495742"/>
                  </a:lnTo>
                  <a:close/>
                </a:path>
                <a:path w="4446270" h="575310">
                  <a:moveTo>
                    <a:pt x="363239" y="393352"/>
                  </a:moveTo>
                  <a:lnTo>
                    <a:pt x="358553" y="393352"/>
                  </a:lnTo>
                  <a:lnTo>
                    <a:pt x="240597" y="444939"/>
                  </a:lnTo>
                  <a:lnTo>
                    <a:pt x="235911" y="448173"/>
                  </a:lnTo>
                  <a:lnTo>
                    <a:pt x="235911" y="456243"/>
                  </a:lnTo>
                  <a:lnTo>
                    <a:pt x="240597" y="460261"/>
                  </a:lnTo>
                  <a:lnTo>
                    <a:pt x="245246" y="468331"/>
                  </a:lnTo>
                  <a:lnTo>
                    <a:pt x="249932" y="468331"/>
                  </a:lnTo>
                  <a:lnTo>
                    <a:pt x="258360" y="472350"/>
                  </a:lnTo>
                  <a:lnTo>
                    <a:pt x="263047" y="468331"/>
                  </a:lnTo>
                  <a:lnTo>
                    <a:pt x="367888" y="424814"/>
                  </a:lnTo>
                  <a:lnTo>
                    <a:pt x="372574" y="420763"/>
                  </a:lnTo>
                  <a:lnTo>
                    <a:pt x="376316" y="416744"/>
                  </a:lnTo>
                  <a:lnTo>
                    <a:pt x="376316" y="409491"/>
                  </a:lnTo>
                  <a:lnTo>
                    <a:pt x="372574" y="401422"/>
                  </a:lnTo>
                  <a:lnTo>
                    <a:pt x="367888" y="397403"/>
                  </a:lnTo>
                  <a:lnTo>
                    <a:pt x="363239" y="393352"/>
                  </a:lnTo>
                  <a:close/>
                </a:path>
                <a:path w="4446270" h="575310">
                  <a:moveTo>
                    <a:pt x="599264" y="290996"/>
                  </a:moveTo>
                  <a:lnTo>
                    <a:pt x="586036" y="290996"/>
                  </a:lnTo>
                  <a:lnTo>
                    <a:pt x="485881" y="338564"/>
                  </a:lnTo>
                  <a:lnTo>
                    <a:pt x="476433" y="342582"/>
                  </a:lnTo>
                  <a:lnTo>
                    <a:pt x="476433" y="346601"/>
                  </a:lnTo>
                  <a:lnTo>
                    <a:pt x="471822" y="353854"/>
                  </a:lnTo>
                  <a:lnTo>
                    <a:pt x="476433" y="357905"/>
                  </a:lnTo>
                  <a:lnTo>
                    <a:pt x="481346" y="365974"/>
                  </a:lnTo>
                  <a:lnTo>
                    <a:pt x="485881" y="365974"/>
                  </a:lnTo>
                  <a:lnTo>
                    <a:pt x="495330" y="369993"/>
                  </a:lnTo>
                  <a:lnTo>
                    <a:pt x="499109" y="365974"/>
                  </a:lnTo>
                  <a:lnTo>
                    <a:pt x="603799" y="322425"/>
                  </a:lnTo>
                  <a:lnTo>
                    <a:pt x="608334" y="318406"/>
                  </a:lnTo>
                  <a:lnTo>
                    <a:pt x="613248" y="314388"/>
                  </a:lnTo>
                  <a:lnTo>
                    <a:pt x="613248" y="299065"/>
                  </a:lnTo>
                  <a:lnTo>
                    <a:pt x="608334" y="295014"/>
                  </a:lnTo>
                  <a:lnTo>
                    <a:pt x="599264" y="290996"/>
                  </a:lnTo>
                  <a:close/>
                </a:path>
                <a:path w="4446270" h="575310">
                  <a:moveTo>
                    <a:pt x="835099" y="188639"/>
                  </a:moveTo>
                  <a:lnTo>
                    <a:pt x="821871" y="188639"/>
                  </a:lnTo>
                  <a:lnTo>
                    <a:pt x="721717" y="236174"/>
                  </a:lnTo>
                  <a:lnTo>
                    <a:pt x="717181" y="240226"/>
                  </a:lnTo>
                  <a:lnTo>
                    <a:pt x="712268" y="244244"/>
                  </a:lnTo>
                  <a:lnTo>
                    <a:pt x="712268" y="255515"/>
                  </a:lnTo>
                  <a:lnTo>
                    <a:pt x="717181" y="259567"/>
                  </a:lnTo>
                  <a:lnTo>
                    <a:pt x="721717" y="263585"/>
                  </a:lnTo>
                  <a:lnTo>
                    <a:pt x="739480" y="263585"/>
                  </a:lnTo>
                  <a:lnTo>
                    <a:pt x="839635" y="220068"/>
                  </a:lnTo>
                  <a:lnTo>
                    <a:pt x="844548" y="216049"/>
                  </a:lnTo>
                  <a:lnTo>
                    <a:pt x="849083" y="208764"/>
                  </a:lnTo>
                  <a:lnTo>
                    <a:pt x="849083" y="196676"/>
                  </a:lnTo>
                  <a:lnTo>
                    <a:pt x="844548" y="192657"/>
                  </a:lnTo>
                  <a:lnTo>
                    <a:pt x="835099" y="188639"/>
                  </a:lnTo>
                  <a:close/>
                </a:path>
                <a:path w="4446270" h="575310">
                  <a:moveTo>
                    <a:pt x="1075470" y="86249"/>
                  </a:moveTo>
                  <a:lnTo>
                    <a:pt x="1057707" y="86249"/>
                  </a:lnTo>
                  <a:lnTo>
                    <a:pt x="957552" y="129799"/>
                  </a:lnTo>
                  <a:lnTo>
                    <a:pt x="953017" y="137836"/>
                  </a:lnTo>
                  <a:lnTo>
                    <a:pt x="949238" y="141887"/>
                  </a:lnTo>
                  <a:lnTo>
                    <a:pt x="949238" y="153159"/>
                  </a:lnTo>
                  <a:lnTo>
                    <a:pt x="953017" y="157177"/>
                  </a:lnTo>
                  <a:lnTo>
                    <a:pt x="962466" y="161228"/>
                  </a:lnTo>
                  <a:lnTo>
                    <a:pt x="976449" y="161228"/>
                  </a:lnTo>
                  <a:lnTo>
                    <a:pt x="1075470" y="117711"/>
                  </a:lnTo>
                  <a:lnTo>
                    <a:pt x="1080383" y="114477"/>
                  </a:lnTo>
                  <a:lnTo>
                    <a:pt x="1084919" y="106407"/>
                  </a:lnTo>
                  <a:lnTo>
                    <a:pt x="1084919" y="94319"/>
                  </a:lnTo>
                  <a:lnTo>
                    <a:pt x="1080383" y="90301"/>
                  </a:lnTo>
                  <a:lnTo>
                    <a:pt x="1075470" y="86249"/>
                  </a:lnTo>
                  <a:close/>
                </a:path>
                <a:path w="4446270" h="575310">
                  <a:moveTo>
                    <a:pt x="1330203" y="78997"/>
                  </a:moveTo>
                  <a:lnTo>
                    <a:pt x="1202836" y="78997"/>
                  </a:lnTo>
                  <a:lnTo>
                    <a:pt x="1207750" y="83048"/>
                  </a:lnTo>
                  <a:lnTo>
                    <a:pt x="1320754" y="83048"/>
                  </a:lnTo>
                  <a:lnTo>
                    <a:pt x="1330203" y="78997"/>
                  </a:lnTo>
                  <a:close/>
                </a:path>
                <a:path w="4446270" h="575310">
                  <a:moveTo>
                    <a:pt x="1320754" y="47568"/>
                  </a:moveTo>
                  <a:lnTo>
                    <a:pt x="1207750" y="47568"/>
                  </a:lnTo>
                  <a:lnTo>
                    <a:pt x="1202836" y="51586"/>
                  </a:lnTo>
                  <a:lnTo>
                    <a:pt x="1194522" y="54820"/>
                  </a:lnTo>
                  <a:lnTo>
                    <a:pt x="1194522" y="58872"/>
                  </a:lnTo>
                  <a:lnTo>
                    <a:pt x="1189986" y="66909"/>
                  </a:lnTo>
                  <a:lnTo>
                    <a:pt x="1194522" y="70960"/>
                  </a:lnTo>
                  <a:lnTo>
                    <a:pt x="1194522" y="78997"/>
                  </a:lnTo>
                  <a:lnTo>
                    <a:pt x="1335116" y="78997"/>
                  </a:lnTo>
                  <a:lnTo>
                    <a:pt x="1339651" y="70960"/>
                  </a:lnTo>
                  <a:lnTo>
                    <a:pt x="1344187" y="66909"/>
                  </a:lnTo>
                  <a:lnTo>
                    <a:pt x="1339651" y="58872"/>
                  </a:lnTo>
                  <a:lnTo>
                    <a:pt x="1335116" y="54820"/>
                  </a:lnTo>
                  <a:lnTo>
                    <a:pt x="1330203" y="51586"/>
                  </a:lnTo>
                  <a:lnTo>
                    <a:pt x="1320754" y="47568"/>
                  </a:lnTo>
                  <a:close/>
                </a:path>
                <a:path w="4446270" h="575310">
                  <a:moveTo>
                    <a:pt x="1593250" y="78997"/>
                  </a:moveTo>
                  <a:lnTo>
                    <a:pt x="1467018" y="78997"/>
                  </a:lnTo>
                  <a:lnTo>
                    <a:pt x="1475332" y="83048"/>
                  </a:lnTo>
                  <a:lnTo>
                    <a:pt x="1589471" y="83048"/>
                  </a:lnTo>
                  <a:lnTo>
                    <a:pt x="1593250" y="78997"/>
                  </a:lnTo>
                  <a:close/>
                </a:path>
                <a:path w="4446270" h="575310">
                  <a:moveTo>
                    <a:pt x="1589471" y="47568"/>
                  </a:moveTo>
                  <a:lnTo>
                    <a:pt x="1475332" y="47568"/>
                  </a:lnTo>
                  <a:lnTo>
                    <a:pt x="1467018" y="51586"/>
                  </a:lnTo>
                  <a:lnTo>
                    <a:pt x="1462104" y="54820"/>
                  </a:lnTo>
                  <a:lnTo>
                    <a:pt x="1457569" y="58872"/>
                  </a:lnTo>
                  <a:lnTo>
                    <a:pt x="1457569" y="70960"/>
                  </a:lnTo>
                  <a:lnTo>
                    <a:pt x="1462104" y="78997"/>
                  </a:lnTo>
                  <a:lnTo>
                    <a:pt x="1602699" y="78997"/>
                  </a:lnTo>
                  <a:lnTo>
                    <a:pt x="1607234" y="70960"/>
                  </a:lnTo>
                  <a:lnTo>
                    <a:pt x="1607234" y="58872"/>
                  </a:lnTo>
                  <a:lnTo>
                    <a:pt x="1602699" y="54820"/>
                  </a:lnTo>
                  <a:lnTo>
                    <a:pt x="1593250" y="51586"/>
                  </a:lnTo>
                  <a:lnTo>
                    <a:pt x="1589471" y="47568"/>
                  </a:lnTo>
                  <a:close/>
                </a:path>
                <a:path w="4446270" h="575310">
                  <a:moveTo>
                    <a:pt x="1861967" y="78997"/>
                  </a:moveTo>
                  <a:lnTo>
                    <a:pt x="1730065" y="78997"/>
                  </a:lnTo>
                  <a:lnTo>
                    <a:pt x="1739514" y="83048"/>
                  </a:lnTo>
                  <a:lnTo>
                    <a:pt x="1852518" y="83048"/>
                  </a:lnTo>
                  <a:lnTo>
                    <a:pt x="1861967" y="78997"/>
                  </a:lnTo>
                  <a:close/>
                </a:path>
                <a:path w="4446270" h="575310">
                  <a:moveTo>
                    <a:pt x="1852518" y="47568"/>
                  </a:moveTo>
                  <a:lnTo>
                    <a:pt x="1739514" y="47568"/>
                  </a:lnTo>
                  <a:lnTo>
                    <a:pt x="1730065" y="51586"/>
                  </a:lnTo>
                  <a:lnTo>
                    <a:pt x="1725530" y="54820"/>
                  </a:lnTo>
                  <a:lnTo>
                    <a:pt x="1720616" y="58872"/>
                  </a:lnTo>
                  <a:lnTo>
                    <a:pt x="1720616" y="70960"/>
                  </a:lnTo>
                  <a:lnTo>
                    <a:pt x="1725530" y="78997"/>
                  </a:lnTo>
                  <a:lnTo>
                    <a:pt x="1866880" y="78997"/>
                  </a:lnTo>
                  <a:lnTo>
                    <a:pt x="1870281" y="70960"/>
                  </a:lnTo>
                  <a:lnTo>
                    <a:pt x="1870281" y="58872"/>
                  </a:lnTo>
                  <a:lnTo>
                    <a:pt x="1866880" y="54820"/>
                  </a:lnTo>
                  <a:lnTo>
                    <a:pt x="1861967" y="51586"/>
                  </a:lnTo>
                  <a:lnTo>
                    <a:pt x="1852518" y="47568"/>
                  </a:lnTo>
                  <a:close/>
                </a:path>
                <a:path w="4446270" h="575310">
                  <a:moveTo>
                    <a:pt x="2125014" y="78997"/>
                  </a:moveTo>
                  <a:lnTo>
                    <a:pt x="1997648" y="78997"/>
                  </a:lnTo>
                  <a:lnTo>
                    <a:pt x="2002561" y="83048"/>
                  </a:lnTo>
                  <a:lnTo>
                    <a:pt x="2115565" y="83048"/>
                  </a:lnTo>
                  <a:lnTo>
                    <a:pt x="2125014" y="78997"/>
                  </a:lnTo>
                  <a:close/>
                </a:path>
                <a:path w="4446270" h="575310">
                  <a:moveTo>
                    <a:pt x="2115565" y="47568"/>
                  </a:moveTo>
                  <a:lnTo>
                    <a:pt x="2002561" y="47568"/>
                  </a:lnTo>
                  <a:lnTo>
                    <a:pt x="1997648" y="51586"/>
                  </a:lnTo>
                  <a:lnTo>
                    <a:pt x="1989333" y="54820"/>
                  </a:lnTo>
                  <a:lnTo>
                    <a:pt x="1989333" y="58872"/>
                  </a:lnTo>
                  <a:lnTo>
                    <a:pt x="1984798" y="66909"/>
                  </a:lnTo>
                  <a:lnTo>
                    <a:pt x="1989333" y="70960"/>
                  </a:lnTo>
                  <a:lnTo>
                    <a:pt x="1989333" y="78997"/>
                  </a:lnTo>
                  <a:lnTo>
                    <a:pt x="2129927" y="78997"/>
                  </a:lnTo>
                  <a:lnTo>
                    <a:pt x="2134463" y="70960"/>
                  </a:lnTo>
                  <a:lnTo>
                    <a:pt x="2138998" y="66909"/>
                  </a:lnTo>
                  <a:lnTo>
                    <a:pt x="2134463" y="58872"/>
                  </a:lnTo>
                  <a:lnTo>
                    <a:pt x="2129927" y="54821"/>
                  </a:lnTo>
                  <a:lnTo>
                    <a:pt x="2125014" y="51586"/>
                  </a:lnTo>
                  <a:lnTo>
                    <a:pt x="2115565" y="47568"/>
                  </a:lnTo>
                  <a:close/>
                </a:path>
                <a:path w="4446270" h="575310">
                  <a:moveTo>
                    <a:pt x="2388061" y="78997"/>
                  </a:moveTo>
                  <a:lnTo>
                    <a:pt x="2261829" y="78997"/>
                  </a:lnTo>
                  <a:lnTo>
                    <a:pt x="2270144" y="83048"/>
                  </a:lnTo>
                  <a:lnTo>
                    <a:pt x="2384282" y="83048"/>
                  </a:lnTo>
                  <a:lnTo>
                    <a:pt x="2388061" y="78997"/>
                  </a:lnTo>
                  <a:close/>
                </a:path>
                <a:path w="4446270" h="575310">
                  <a:moveTo>
                    <a:pt x="2384282" y="47568"/>
                  </a:moveTo>
                  <a:lnTo>
                    <a:pt x="2270144" y="47568"/>
                  </a:lnTo>
                  <a:lnTo>
                    <a:pt x="2261829" y="51586"/>
                  </a:lnTo>
                  <a:lnTo>
                    <a:pt x="2256916" y="54821"/>
                  </a:lnTo>
                  <a:lnTo>
                    <a:pt x="2252380" y="58872"/>
                  </a:lnTo>
                  <a:lnTo>
                    <a:pt x="2252380" y="70960"/>
                  </a:lnTo>
                  <a:lnTo>
                    <a:pt x="2256916" y="78997"/>
                  </a:lnTo>
                  <a:lnTo>
                    <a:pt x="2397510" y="78997"/>
                  </a:lnTo>
                  <a:lnTo>
                    <a:pt x="2402045" y="70960"/>
                  </a:lnTo>
                  <a:lnTo>
                    <a:pt x="2402045" y="58872"/>
                  </a:lnTo>
                  <a:lnTo>
                    <a:pt x="2397510" y="54821"/>
                  </a:lnTo>
                  <a:lnTo>
                    <a:pt x="2388061" y="51586"/>
                  </a:lnTo>
                  <a:lnTo>
                    <a:pt x="2384282" y="47568"/>
                  </a:lnTo>
                  <a:close/>
                </a:path>
                <a:path w="4446270" h="575310">
                  <a:moveTo>
                    <a:pt x="2656778" y="78997"/>
                  </a:moveTo>
                  <a:lnTo>
                    <a:pt x="2524876" y="78997"/>
                  </a:lnTo>
                  <a:lnTo>
                    <a:pt x="2534325" y="83048"/>
                  </a:lnTo>
                  <a:lnTo>
                    <a:pt x="2647329" y="83048"/>
                  </a:lnTo>
                  <a:lnTo>
                    <a:pt x="2656778" y="78997"/>
                  </a:lnTo>
                  <a:close/>
                </a:path>
                <a:path w="4446270" h="575310">
                  <a:moveTo>
                    <a:pt x="2647329" y="47568"/>
                  </a:moveTo>
                  <a:lnTo>
                    <a:pt x="2534325" y="47568"/>
                  </a:lnTo>
                  <a:lnTo>
                    <a:pt x="2524876" y="51586"/>
                  </a:lnTo>
                  <a:lnTo>
                    <a:pt x="2520341" y="54821"/>
                  </a:lnTo>
                  <a:lnTo>
                    <a:pt x="2515428" y="58872"/>
                  </a:lnTo>
                  <a:lnTo>
                    <a:pt x="2515428" y="70960"/>
                  </a:lnTo>
                  <a:lnTo>
                    <a:pt x="2520341" y="78997"/>
                  </a:lnTo>
                  <a:lnTo>
                    <a:pt x="2660557" y="78997"/>
                  </a:lnTo>
                  <a:lnTo>
                    <a:pt x="2665093" y="70960"/>
                  </a:lnTo>
                  <a:lnTo>
                    <a:pt x="2665093" y="58872"/>
                  </a:lnTo>
                  <a:lnTo>
                    <a:pt x="2660557" y="54821"/>
                  </a:lnTo>
                  <a:lnTo>
                    <a:pt x="2656778" y="51586"/>
                  </a:lnTo>
                  <a:lnTo>
                    <a:pt x="2647329" y="47568"/>
                  </a:lnTo>
                  <a:close/>
                </a:path>
                <a:path w="4446270" h="575310">
                  <a:moveTo>
                    <a:pt x="2919825" y="78997"/>
                  </a:moveTo>
                  <a:lnTo>
                    <a:pt x="2792459" y="78997"/>
                  </a:lnTo>
                  <a:lnTo>
                    <a:pt x="2797372" y="83048"/>
                  </a:lnTo>
                  <a:lnTo>
                    <a:pt x="2910377" y="83048"/>
                  </a:lnTo>
                  <a:lnTo>
                    <a:pt x="2919825" y="78997"/>
                  </a:lnTo>
                  <a:close/>
                </a:path>
                <a:path w="4446270" h="575310">
                  <a:moveTo>
                    <a:pt x="2910377" y="47568"/>
                  </a:moveTo>
                  <a:lnTo>
                    <a:pt x="2797372" y="47568"/>
                  </a:lnTo>
                  <a:lnTo>
                    <a:pt x="2792459" y="51586"/>
                  </a:lnTo>
                  <a:lnTo>
                    <a:pt x="2783388" y="54821"/>
                  </a:lnTo>
                  <a:lnTo>
                    <a:pt x="2783388" y="58872"/>
                  </a:lnTo>
                  <a:lnTo>
                    <a:pt x="2779609" y="66909"/>
                  </a:lnTo>
                  <a:lnTo>
                    <a:pt x="2783388" y="70960"/>
                  </a:lnTo>
                  <a:lnTo>
                    <a:pt x="2783388" y="78997"/>
                  </a:lnTo>
                  <a:lnTo>
                    <a:pt x="2924738" y="78997"/>
                  </a:lnTo>
                  <a:lnTo>
                    <a:pt x="2929274" y="70960"/>
                  </a:lnTo>
                  <a:lnTo>
                    <a:pt x="2933809" y="66909"/>
                  </a:lnTo>
                  <a:lnTo>
                    <a:pt x="2929274" y="58872"/>
                  </a:lnTo>
                  <a:lnTo>
                    <a:pt x="2924738" y="54821"/>
                  </a:lnTo>
                  <a:lnTo>
                    <a:pt x="2919825" y="51586"/>
                  </a:lnTo>
                  <a:lnTo>
                    <a:pt x="2910377" y="47568"/>
                  </a:lnTo>
                  <a:close/>
                </a:path>
                <a:path w="4446270" h="575310">
                  <a:moveTo>
                    <a:pt x="3182873" y="78997"/>
                  </a:moveTo>
                  <a:lnTo>
                    <a:pt x="3056640" y="78997"/>
                  </a:lnTo>
                  <a:lnTo>
                    <a:pt x="3064955" y="83048"/>
                  </a:lnTo>
                  <a:lnTo>
                    <a:pt x="3178337" y="83048"/>
                  </a:lnTo>
                  <a:lnTo>
                    <a:pt x="3182873" y="78997"/>
                  </a:lnTo>
                  <a:close/>
                </a:path>
                <a:path w="4446270" h="575310">
                  <a:moveTo>
                    <a:pt x="3178337" y="47568"/>
                  </a:moveTo>
                  <a:lnTo>
                    <a:pt x="3064955" y="47568"/>
                  </a:lnTo>
                  <a:lnTo>
                    <a:pt x="3056640" y="51586"/>
                  </a:lnTo>
                  <a:lnTo>
                    <a:pt x="3051727" y="54821"/>
                  </a:lnTo>
                  <a:lnTo>
                    <a:pt x="3047192" y="58872"/>
                  </a:lnTo>
                  <a:lnTo>
                    <a:pt x="3047192" y="70960"/>
                  </a:lnTo>
                  <a:lnTo>
                    <a:pt x="3051727" y="78997"/>
                  </a:lnTo>
                  <a:lnTo>
                    <a:pt x="3192321" y="78997"/>
                  </a:lnTo>
                  <a:lnTo>
                    <a:pt x="3196856" y="70960"/>
                  </a:lnTo>
                  <a:lnTo>
                    <a:pt x="3196856" y="58872"/>
                  </a:lnTo>
                  <a:lnTo>
                    <a:pt x="3192321" y="54821"/>
                  </a:lnTo>
                  <a:lnTo>
                    <a:pt x="3182873" y="51586"/>
                  </a:lnTo>
                  <a:lnTo>
                    <a:pt x="3178337" y="47568"/>
                  </a:lnTo>
                  <a:close/>
                </a:path>
                <a:path w="4446270" h="575310">
                  <a:moveTo>
                    <a:pt x="3451589" y="78997"/>
                  </a:moveTo>
                  <a:lnTo>
                    <a:pt x="3319687" y="78997"/>
                  </a:lnTo>
                  <a:lnTo>
                    <a:pt x="3329136" y="83048"/>
                  </a:lnTo>
                  <a:lnTo>
                    <a:pt x="3442141" y="83048"/>
                  </a:lnTo>
                  <a:lnTo>
                    <a:pt x="3451589" y="78997"/>
                  </a:lnTo>
                  <a:close/>
                </a:path>
                <a:path w="4446270" h="575310">
                  <a:moveTo>
                    <a:pt x="3442141" y="47568"/>
                  </a:moveTo>
                  <a:lnTo>
                    <a:pt x="3329136" y="47568"/>
                  </a:lnTo>
                  <a:lnTo>
                    <a:pt x="3319687" y="51586"/>
                  </a:lnTo>
                  <a:lnTo>
                    <a:pt x="3315152" y="54821"/>
                  </a:lnTo>
                  <a:lnTo>
                    <a:pt x="3310239" y="58872"/>
                  </a:lnTo>
                  <a:lnTo>
                    <a:pt x="3310239" y="70960"/>
                  </a:lnTo>
                  <a:lnTo>
                    <a:pt x="3315152" y="78997"/>
                  </a:lnTo>
                  <a:lnTo>
                    <a:pt x="3455368" y="78997"/>
                  </a:lnTo>
                  <a:lnTo>
                    <a:pt x="3459904" y="70960"/>
                  </a:lnTo>
                  <a:lnTo>
                    <a:pt x="3459904" y="58872"/>
                  </a:lnTo>
                  <a:lnTo>
                    <a:pt x="3455368" y="54821"/>
                  </a:lnTo>
                  <a:lnTo>
                    <a:pt x="3451589" y="51586"/>
                  </a:lnTo>
                  <a:lnTo>
                    <a:pt x="3442141" y="47568"/>
                  </a:lnTo>
                  <a:close/>
                </a:path>
                <a:path w="4446270" h="575310">
                  <a:moveTo>
                    <a:pt x="3714636" y="78997"/>
                  </a:moveTo>
                  <a:lnTo>
                    <a:pt x="3587270" y="78997"/>
                  </a:lnTo>
                  <a:lnTo>
                    <a:pt x="3592183" y="83048"/>
                  </a:lnTo>
                  <a:lnTo>
                    <a:pt x="3705188" y="83048"/>
                  </a:lnTo>
                  <a:lnTo>
                    <a:pt x="3714636" y="78997"/>
                  </a:lnTo>
                  <a:close/>
                </a:path>
                <a:path w="4446270" h="575310">
                  <a:moveTo>
                    <a:pt x="3705188" y="47568"/>
                  </a:moveTo>
                  <a:lnTo>
                    <a:pt x="3592183" y="47568"/>
                  </a:lnTo>
                  <a:lnTo>
                    <a:pt x="3587270" y="51586"/>
                  </a:lnTo>
                  <a:lnTo>
                    <a:pt x="3578199" y="54821"/>
                  </a:lnTo>
                  <a:lnTo>
                    <a:pt x="3578199" y="58872"/>
                  </a:lnTo>
                  <a:lnTo>
                    <a:pt x="3574420" y="66909"/>
                  </a:lnTo>
                  <a:lnTo>
                    <a:pt x="3578199" y="70960"/>
                  </a:lnTo>
                  <a:lnTo>
                    <a:pt x="3578199" y="78997"/>
                  </a:lnTo>
                  <a:lnTo>
                    <a:pt x="3719550" y="78997"/>
                  </a:lnTo>
                  <a:lnTo>
                    <a:pt x="3724085" y="70960"/>
                  </a:lnTo>
                  <a:lnTo>
                    <a:pt x="3727864" y="66909"/>
                  </a:lnTo>
                  <a:lnTo>
                    <a:pt x="3724085" y="58872"/>
                  </a:lnTo>
                  <a:lnTo>
                    <a:pt x="3719550" y="54821"/>
                  </a:lnTo>
                  <a:lnTo>
                    <a:pt x="3714636" y="51586"/>
                  </a:lnTo>
                  <a:lnTo>
                    <a:pt x="3705188" y="47568"/>
                  </a:lnTo>
                  <a:close/>
                </a:path>
                <a:path w="4446270" h="575310">
                  <a:moveTo>
                    <a:pt x="3977684" y="78997"/>
                  </a:moveTo>
                  <a:lnTo>
                    <a:pt x="3850317" y="78997"/>
                  </a:lnTo>
                  <a:lnTo>
                    <a:pt x="3859766" y="83048"/>
                  </a:lnTo>
                  <a:lnTo>
                    <a:pt x="3973148" y="83048"/>
                  </a:lnTo>
                  <a:lnTo>
                    <a:pt x="3977684" y="78997"/>
                  </a:lnTo>
                  <a:close/>
                </a:path>
                <a:path w="4446270" h="575310">
                  <a:moveTo>
                    <a:pt x="3973148" y="47568"/>
                  </a:moveTo>
                  <a:lnTo>
                    <a:pt x="3859766" y="47568"/>
                  </a:lnTo>
                  <a:lnTo>
                    <a:pt x="3850317" y="51586"/>
                  </a:lnTo>
                  <a:lnTo>
                    <a:pt x="3846538" y="54821"/>
                  </a:lnTo>
                  <a:lnTo>
                    <a:pt x="3842003" y="58872"/>
                  </a:lnTo>
                  <a:lnTo>
                    <a:pt x="3842003" y="70960"/>
                  </a:lnTo>
                  <a:lnTo>
                    <a:pt x="3846538" y="78997"/>
                  </a:lnTo>
                  <a:lnTo>
                    <a:pt x="3987132" y="78997"/>
                  </a:lnTo>
                  <a:lnTo>
                    <a:pt x="3991668" y="70960"/>
                  </a:lnTo>
                  <a:lnTo>
                    <a:pt x="3991668" y="58872"/>
                  </a:lnTo>
                  <a:lnTo>
                    <a:pt x="3987132" y="54821"/>
                  </a:lnTo>
                  <a:lnTo>
                    <a:pt x="3977684" y="51586"/>
                  </a:lnTo>
                  <a:lnTo>
                    <a:pt x="3973148" y="47568"/>
                  </a:lnTo>
                  <a:close/>
                </a:path>
                <a:path w="4446270" h="575310">
                  <a:moveTo>
                    <a:pt x="4218433" y="0"/>
                  </a:moveTo>
                  <a:lnTo>
                    <a:pt x="4295911" y="66909"/>
                  </a:lnTo>
                  <a:lnTo>
                    <a:pt x="4218433" y="129799"/>
                  </a:lnTo>
                  <a:lnTo>
                    <a:pt x="4445953" y="66909"/>
                  </a:lnTo>
                  <a:lnTo>
                    <a:pt x="4218433" y="0"/>
                  </a:lnTo>
                  <a:close/>
                </a:path>
                <a:path w="4446270" h="575310">
                  <a:moveTo>
                    <a:pt x="4245644" y="78997"/>
                  </a:moveTo>
                  <a:lnTo>
                    <a:pt x="4114499" y="78997"/>
                  </a:lnTo>
                  <a:lnTo>
                    <a:pt x="4123947" y="83048"/>
                  </a:lnTo>
                  <a:lnTo>
                    <a:pt x="4236952" y="83048"/>
                  </a:lnTo>
                  <a:lnTo>
                    <a:pt x="4245644" y="78997"/>
                  </a:lnTo>
                  <a:close/>
                </a:path>
                <a:path w="4446270" h="575310">
                  <a:moveTo>
                    <a:pt x="4236952" y="47568"/>
                  </a:moveTo>
                  <a:lnTo>
                    <a:pt x="4123947" y="47568"/>
                  </a:lnTo>
                  <a:lnTo>
                    <a:pt x="4114499" y="51586"/>
                  </a:lnTo>
                  <a:lnTo>
                    <a:pt x="4109963" y="54821"/>
                  </a:lnTo>
                  <a:lnTo>
                    <a:pt x="4105050" y="58872"/>
                  </a:lnTo>
                  <a:lnTo>
                    <a:pt x="4105050" y="70960"/>
                  </a:lnTo>
                  <a:lnTo>
                    <a:pt x="4109963" y="78997"/>
                  </a:lnTo>
                  <a:lnTo>
                    <a:pt x="4250180" y="78997"/>
                  </a:lnTo>
                  <a:lnTo>
                    <a:pt x="4254715" y="70960"/>
                  </a:lnTo>
                  <a:lnTo>
                    <a:pt x="4254715" y="58872"/>
                  </a:lnTo>
                  <a:lnTo>
                    <a:pt x="4250180" y="54821"/>
                  </a:lnTo>
                  <a:lnTo>
                    <a:pt x="4245644" y="51586"/>
                  </a:lnTo>
                  <a:lnTo>
                    <a:pt x="4236952" y="47568"/>
                  </a:lnTo>
                  <a:close/>
                </a:path>
              </a:pathLst>
            </a:custGeom>
            <a:solidFill>
              <a:srgbClr val="000000"/>
            </a:solidFill>
          </p:spPr>
          <p:txBody>
            <a:bodyPr wrap="square" lIns="0" tIns="0" rIns="0" bIns="0" rtlCol="0"/>
            <a:lstStyle/>
            <a:p/>
          </p:txBody>
        </p:sp>
        <p:pic>
          <p:nvPicPr>
            <p:cNvPr id="41" name="object 41" descr=""/>
            <p:cNvPicPr/>
            <p:nvPr/>
          </p:nvPicPr>
          <p:blipFill>
            <a:blip r:embed="rId2" cstate="print"/>
            <a:stretch>
              <a:fillRect/>
            </a:stretch>
          </p:blipFill>
          <p:spPr>
            <a:xfrm>
              <a:off x="5152974" y="4354222"/>
              <a:ext cx="145192" cy="83784"/>
            </a:xfrm>
            <a:prstGeom prst="rect">
              <a:avLst/>
            </a:prstGeom>
          </p:spPr>
        </p:pic>
        <p:pic>
          <p:nvPicPr>
            <p:cNvPr id="42" name="object 42" descr=""/>
            <p:cNvPicPr/>
            <p:nvPr/>
          </p:nvPicPr>
          <p:blipFill>
            <a:blip r:embed="rId3" cstate="print"/>
            <a:stretch>
              <a:fillRect/>
            </a:stretch>
          </p:blipFill>
          <p:spPr>
            <a:xfrm>
              <a:off x="5388885" y="4251833"/>
              <a:ext cx="145192" cy="83784"/>
            </a:xfrm>
            <a:prstGeom prst="rect">
              <a:avLst/>
            </a:prstGeom>
          </p:spPr>
        </p:pic>
        <p:pic>
          <p:nvPicPr>
            <p:cNvPr id="43" name="object 43" descr=""/>
            <p:cNvPicPr/>
            <p:nvPr/>
          </p:nvPicPr>
          <p:blipFill>
            <a:blip r:embed="rId4" cstate="print"/>
            <a:stretch>
              <a:fillRect/>
            </a:stretch>
          </p:blipFill>
          <p:spPr>
            <a:xfrm>
              <a:off x="5624797" y="4149477"/>
              <a:ext cx="146210" cy="83782"/>
            </a:xfrm>
            <a:prstGeom prst="rect">
              <a:avLst/>
            </a:prstGeom>
          </p:spPr>
        </p:pic>
        <p:pic>
          <p:nvPicPr>
            <p:cNvPr id="44" name="object 44" descr=""/>
            <p:cNvPicPr/>
            <p:nvPr/>
          </p:nvPicPr>
          <p:blipFill>
            <a:blip r:embed="rId5" cstate="print"/>
            <a:stretch>
              <a:fillRect/>
            </a:stretch>
          </p:blipFill>
          <p:spPr>
            <a:xfrm>
              <a:off x="5865247" y="3858478"/>
              <a:ext cx="3738470" cy="1165509"/>
            </a:xfrm>
            <a:prstGeom prst="rect">
              <a:avLst/>
            </a:prstGeom>
          </p:spPr>
        </p:pic>
      </p:grpSp>
      <p:grpSp>
        <p:nvGrpSpPr>
          <p:cNvPr id="45" name="object 45" descr=""/>
          <p:cNvGrpSpPr/>
          <p:nvPr/>
        </p:nvGrpSpPr>
        <p:grpSpPr>
          <a:xfrm>
            <a:off x="1865199" y="5235212"/>
            <a:ext cx="930910" cy="134620"/>
            <a:chOff x="1865199" y="5235212"/>
            <a:chExt cx="930910" cy="134620"/>
          </a:xfrm>
        </p:grpSpPr>
        <p:sp>
          <p:nvSpPr>
            <p:cNvPr id="46" name="object 46" descr=""/>
            <p:cNvSpPr/>
            <p:nvPr/>
          </p:nvSpPr>
          <p:spPr>
            <a:xfrm>
              <a:off x="1867509" y="5237608"/>
              <a:ext cx="926465" cy="130175"/>
            </a:xfrm>
            <a:custGeom>
              <a:avLst/>
              <a:gdLst/>
              <a:ahLst/>
              <a:cxnLst/>
              <a:rect l="l" t="t" r="r" b="b"/>
              <a:pathLst>
                <a:path w="926464" h="130175">
                  <a:moveTo>
                    <a:pt x="140424" y="78997"/>
                  </a:moveTo>
                  <a:lnTo>
                    <a:pt x="13106" y="78997"/>
                  </a:lnTo>
                  <a:lnTo>
                    <a:pt x="17787" y="83015"/>
                  </a:lnTo>
                  <a:lnTo>
                    <a:pt x="131063" y="83015"/>
                  </a:lnTo>
                  <a:lnTo>
                    <a:pt x="140424" y="78997"/>
                  </a:lnTo>
                  <a:close/>
                </a:path>
                <a:path w="926464" h="130175">
                  <a:moveTo>
                    <a:pt x="131063" y="47568"/>
                  </a:moveTo>
                  <a:lnTo>
                    <a:pt x="17787" y="47568"/>
                  </a:lnTo>
                  <a:lnTo>
                    <a:pt x="13106" y="51586"/>
                  </a:lnTo>
                  <a:lnTo>
                    <a:pt x="8425" y="54821"/>
                  </a:lnTo>
                  <a:lnTo>
                    <a:pt x="3744" y="58839"/>
                  </a:lnTo>
                  <a:lnTo>
                    <a:pt x="0" y="66909"/>
                  </a:lnTo>
                  <a:lnTo>
                    <a:pt x="3744" y="70927"/>
                  </a:lnTo>
                  <a:lnTo>
                    <a:pt x="8425" y="78997"/>
                  </a:lnTo>
                  <a:lnTo>
                    <a:pt x="145107" y="78997"/>
                  </a:lnTo>
                  <a:lnTo>
                    <a:pt x="149786" y="70927"/>
                  </a:lnTo>
                  <a:lnTo>
                    <a:pt x="154469" y="66909"/>
                  </a:lnTo>
                  <a:lnTo>
                    <a:pt x="149786" y="58839"/>
                  </a:lnTo>
                  <a:lnTo>
                    <a:pt x="145107" y="54821"/>
                  </a:lnTo>
                  <a:lnTo>
                    <a:pt x="140424" y="51586"/>
                  </a:lnTo>
                  <a:lnTo>
                    <a:pt x="131063" y="47568"/>
                  </a:lnTo>
                  <a:close/>
                </a:path>
                <a:path w="926464" h="130175">
                  <a:moveTo>
                    <a:pt x="403483" y="78997"/>
                  </a:moveTo>
                  <a:lnTo>
                    <a:pt x="276170" y="78997"/>
                  </a:lnTo>
                  <a:lnTo>
                    <a:pt x="285531" y="83015"/>
                  </a:lnTo>
                  <a:lnTo>
                    <a:pt x="398797" y="83015"/>
                  </a:lnTo>
                  <a:lnTo>
                    <a:pt x="403483" y="78997"/>
                  </a:lnTo>
                  <a:close/>
                </a:path>
                <a:path w="926464" h="130175">
                  <a:moveTo>
                    <a:pt x="398797" y="47568"/>
                  </a:moveTo>
                  <a:lnTo>
                    <a:pt x="285531" y="47568"/>
                  </a:lnTo>
                  <a:lnTo>
                    <a:pt x="276170" y="51586"/>
                  </a:lnTo>
                  <a:lnTo>
                    <a:pt x="267745" y="58839"/>
                  </a:lnTo>
                  <a:lnTo>
                    <a:pt x="267745" y="70927"/>
                  </a:lnTo>
                  <a:lnTo>
                    <a:pt x="272424" y="78997"/>
                  </a:lnTo>
                  <a:lnTo>
                    <a:pt x="412856" y="78997"/>
                  </a:lnTo>
                  <a:lnTo>
                    <a:pt x="417543" y="70927"/>
                  </a:lnTo>
                  <a:lnTo>
                    <a:pt x="417543" y="58839"/>
                  </a:lnTo>
                  <a:lnTo>
                    <a:pt x="412856" y="54821"/>
                  </a:lnTo>
                  <a:lnTo>
                    <a:pt x="403483" y="51586"/>
                  </a:lnTo>
                  <a:lnTo>
                    <a:pt x="398797" y="47568"/>
                  </a:lnTo>
                  <a:close/>
                </a:path>
                <a:path w="926464" h="130175">
                  <a:moveTo>
                    <a:pt x="672162" y="78997"/>
                  </a:moveTo>
                  <a:lnTo>
                    <a:pt x="544871" y="78997"/>
                  </a:lnTo>
                  <a:lnTo>
                    <a:pt x="549520" y="83015"/>
                  </a:lnTo>
                  <a:lnTo>
                    <a:pt x="662827" y="83015"/>
                  </a:lnTo>
                  <a:lnTo>
                    <a:pt x="672162" y="78997"/>
                  </a:lnTo>
                  <a:close/>
                </a:path>
                <a:path w="926464" h="130175">
                  <a:moveTo>
                    <a:pt x="662827" y="47568"/>
                  </a:moveTo>
                  <a:lnTo>
                    <a:pt x="549520" y="47568"/>
                  </a:lnTo>
                  <a:lnTo>
                    <a:pt x="544871" y="51586"/>
                  </a:lnTo>
                  <a:lnTo>
                    <a:pt x="535498" y="54821"/>
                  </a:lnTo>
                  <a:lnTo>
                    <a:pt x="530812" y="58839"/>
                  </a:lnTo>
                  <a:lnTo>
                    <a:pt x="530812" y="70927"/>
                  </a:lnTo>
                  <a:lnTo>
                    <a:pt x="535498" y="78997"/>
                  </a:lnTo>
                  <a:lnTo>
                    <a:pt x="675903" y="78997"/>
                  </a:lnTo>
                  <a:lnTo>
                    <a:pt x="680590" y="70927"/>
                  </a:lnTo>
                  <a:lnTo>
                    <a:pt x="680590" y="58839"/>
                  </a:lnTo>
                  <a:lnTo>
                    <a:pt x="672162" y="51586"/>
                  </a:lnTo>
                  <a:lnTo>
                    <a:pt x="662827" y="47568"/>
                  </a:lnTo>
                  <a:close/>
                </a:path>
                <a:path w="926464" h="130175">
                  <a:moveTo>
                    <a:pt x="699336" y="0"/>
                  </a:moveTo>
                  <a:lnTo>
                    <a:pt x="776096" y="66909"/>
                  </a:lnTo>
                  <a:lnTo>
                    <a:pt x="699336" y="129767"/>
                  </a:lnTo>
                  <a:lnTo>
                    <a:pt x="925874" y="66909"/>
                  </a:lnTo>
                  <a:lnTo>
                    <a:pt x="699336" y="0"/>
                  </a:lnTo>
                  <a:close/>
                </a:path>
              </a:pathLst>
            </a:custGeom>
            <a:solidFill>
              <a:srgbClr val="000000"/>
            </a:solidFill>
          </p:spPr>
          <p:txBody>
            <a:bodyPr wrap="square" lIns="0" tIns="0" rIns="0" bIns="0" rtlCol="0"/>
            <a:lstStyle/>
            <a:p/>
          </p:txBody>
        </p:sp>
        <p:sp>
          <p:nvSpPr>
            <p:cNvPr id="47" name="object 47" descr=""/>
            <p:cNvSpPr/>
            <p:nvPr/>
          </p:nvSpPr>
          <p:spPr>
            <a:xfrm>
              <a:off x="1867509" y="5285177"/>
              <a:ext cx="417830" cy="35560"/>
            </a:xfrm>
            <a:custGeom>
              <a:avLst/>
              <a:gdLst/>
              <a:ahLst/>
              <a:cxnLst/>
              <a:rect l="l" t="t" r="r" b="b"/>
              <a:pathLst>
                <a:path w="417830" h="35560">
                  <a:moveTo>
                    <a:pt x="17787" y="0"/>
                  </a:moveTo>
                  <a:lnTo>
                    <a:pt x="131063" y="0"/>
                  </a:lnTo>
                  <a:lnTo>
                    <a:pt x="154469" y="19340"/>
                  </a:lnTo>
                  <a:lnTo>
                    <a:pt x="149786" y="23359"/>
                  </a:lnTo>
                  <a:lnTo>
                    <a:pt x="145107" y="31429"/>
                  </a:lnTo>
                  <a:lnTo>
                    <a:pt x="140424" y="31429"/>
                  </a:lnTo>
                  <a:lnTo>
                    <a:pt x="131063" y="35447"/>
                  </a:lnTo>
                  <a:lnTo>
                    <a:pt x="17787" y="35447"/>
                  </a:lnTo>
                  <a:lnTo>
                    <a:pt x="13106" y="31429"/>
                  </a:lnTo>
                  <a:lnTo>
                    <a:pt x="8425" y="31429"/>
                  </a:lnTo>
                  <a:lnTo>
                    <a:pt x="3744" y="23359"/>
                  </a:lnTo>
                  <a:lnTo>
                    <a:pt x="0" y="19340"/>
                  </a:lnTo>
                  <a:lnTo>
                    <a:pt x="3744" y="11271"/>
                  </a:lnTo>
                  <a:lnTo>
                    <a:pt x="8425" y="7252"/>
                  </a:lnTo>
                  <a:lnTo>
                    <a:pt x="13106" y="4018"/>
                  </a:lnTo>
                  <a:lnTo>
                    <a:pt x="17787" y="0"/>
                  </a:lnTo>
                  <a:close/>
                </a:path>
                <a:path w="417830" h="35560">
                  <a:moveTo>
                    <a:pt x="285531" y="0"/>
                  </a:moveTo>
                  <a:lnTo>
                    <a:pt x="398797" y="0"/>
                  </a:lnTo>
                  <a:lnTo>
                    <a:pt x="403483" y="4018"/>
                  </a:lnTo>
                  <a:lnTo>
                    <a:pt x="412856" y="7252"/>
                  </a:lnTo>
                  <a:lnTo>
                    <a:pt x="417543" y="11271"/>
                  </a:lnTo>
                  <a:lnTo>
                    <a:pt x="417543" y="19340"/>
                  </a:lnTo>
                  <a:lnTo>
                    <a:pt x="417543" y="23359"/>
                  </a:lnTo>
                  <a:lnTo>
                    <a:pt x="412856" y="31429"/>
                  </a:lnTo>
                  <a:lnTo>
                    <a:pt x="403483" y="31429"/>
                  </a:lnTo>
                  <a:lnTo>
                    <a:pt x="398797" y="35447"/>
                  </a:lnTo>
                  <a:lnTo>
                    <a:pt x="285531" y="35447"/>
                  </a:lnTo>
                  <a:lnTo>
                    <a:pt x="276170" y="31429"/>
                  </a:lnTo>
                  <a:lnTo>
                    <a:pt x="272424" y="31429"/>
                  </a:lnTo>
                  <a:lnTo>
                    <a:pt x="267745" y="23359"/>
                  </a:lnTo>
                  <a:lnTo>
                    <a:pt x="267745" y="19340"/>
                  </a:lnTo>
                  <a:lnTo>
                    <a:pt x="267745" y="11271"/>
                  </a:lnTo>
                  <a:lnTo>
                    <a:pt x="272424" y="7252"/>
                  </a:lnTo>
                  <a:lnTo>
                    <a:pt x="276170" y="4018"/>
                  </a:lnTo>
                  <a:lnTo>
                    <a:pt x="285531" y="0"/>
                  </a:lnTo>
                  <a:close/>
                </a:path>
              </a:pathLst>
            </a:custGeom>
            <a:ln w="4932">
              <a:solidFill>
                <a:srgbClr val="000000"/>
              </a:solidFill>
            </a:ln>
          </p:spPr>
          <p:txBody>
            <a:bodyPr wrap="square" lIns="0" tIns="0" rIns="0" bIns="0" rtlCol="0"/>
            <a:lstStyle/>
            <a:p/>
          </p:txBody>
        </p:sp>
        <p:pic>
          <p:nvPicPr>
            <p:cNvPr id="48" name="object 48" descr=""/>
            <p:cNvPicPr/>
            <p:nvPr/>
          </p:nvPicPr>
          <p:blipFill>
            <a:blip r:embed="rId6" cstate="print"/>
            <a:stretch>
              <a:fillRect/>
            </a:stretch>
          </p:blipFill>
          <p:spPr>
            <a:xfrm>
              <a:off x="2396009" y="5235212"/>
              <a:ext cx="399770" cy="134560"/>
            </a:xfrm>
            <a:prstGeom prst="rect">
              <a:avLst/>
            </a:prstGeom>
          </p:spPr>
        </p:pic>
      </p:grpSp>
      <p:grpSp>
        <p:nvGrpSpPr>
          <p:cNvPr id="49" name="object 49" descr=""/>
          <p:cNvGrpSpPr/>
          <p:nvPr/>
        </p:nvGrpSpPr>
        <p:grpSpPr>
          <a:xfrm>
            <a:off x="1865221" y="5726903"/>
            <a:ext cx="930910" cy="134620"/>
            <a:chOff x="1865221" y="5726903"/>
            <a:chExt cx="930910" cy="134620"/>
          </a:xfrm>
        </p:grpSpPr>
        <p:sp>
          <p:nvSpPr>
            <p:cNvPr id="50" name="object 50" descr=""/>
            <p:cNvSpPr/>
            <p:nvPr/>
          </p:nvSpPr>
          <p:spPr>
            <a:xfrm>
              <a:off x="1867509" y="5729300"/>
              <a:ext cx="926465" cy="130175"/>
            </a:xfrm>
            <a:custGeom>
              <a:avLst/>
              <a:gdLst/>
              <a:ahLst/>
              <a:cxnLst/>
              <a:rect l="l" t="t" r="r" b="b"/>
              <a:pathLst>
                <a:path w="926464" h="130175">
                  <a:moveTo>
                    <a:pt x="699336" y="0"/>
                  </a:moveTo>
                  <a:lnTo>
                    <a:pt x="776096" y="66899"/>
                  </a:lnTo>
                  <a:lnTo>
                    <a:pt x="699336" y="129770"/>
                  </a:lnTo>
                  <a:lnTo>
                    <a:pt x="867780" y="83022"/>
                  </a:lnTo>
                  <a:lnTo>
                    <a:pt x="776096" y="83022"/>
                  </a:lnTo>
                  <a:lnTo>
                    <a:pt x="785431" y="78990"/>
                  </a:lnTo>
                  <a:lnTo>
                    <a:pt x="790117" y="78990"/>
                  </a:lnTo>
                  <a:lnTo>
                    <a:pt x="794804" y="70930"/>
                  </a:lnTo>
                  <a:lnTo>
                    <a:pt x="794804" y="58839"/>
                  </a:lnTo>
                  <a:lnTo>
                    <a:pt x="790117" y="54811"/>
                  </a:lnTo>
                  <a:lnTo>
                    <a:pt x="785431" y="51586"/>
                  </a:lnTo>
                  <a:lnTo>
                    <a:pt x="776096" y="47555"/>
                  </a:lnTo>
                  <a:lnTo>
                    <a:pt x="860370" y="47555"/>
                  </a:lnTo>
                  <a:lnTo>
                    <a:pt x="699336" y="0"/>
                  </a:lnTo>
                  <a:close/>
                </a:path>
                <a:path w="926464" h="130175">
                  <a:moveTo>
                    <a:pt x="753900" y="47555"/>
                  </a:moveTo>
                  <a:lnTo>
                    <a:pt x="17787" y="47555"/>
                  </a:lnTo>
                  <a:lnTo>
                    <a:pt x="13106" y="51586"/>
                  </a:lnTo>
                  <a:lnTo>
                    <a:pt x="8425" y="54811"/>
                  </a:lnTo>
                  <a:lnTo>
                    <a:pt x="3744" y="58839"/>
                  </a:lnTo>
                  <a:lnTo>
                    <a:pt x="0" y="66899"/>
                  </a:lnTo>
                  <a:lnTo>
                    <a:pt x="3744" y="70930"/>
                  </a:lnTo>
                  <a:lnTo>
                    <a:pt x="8425" y="78990"/>
                  </a:lnTo>
                  <a:lnTo>
                    <a:pt x="13106" y="78990"/>
                  </a:lnTo>
                  <a:lnTo>
                    <a:pt x="17787" y="83022"/>
                  </a:lnTo>
                  <a:lnTo>
                    <a:pt x="756411" y="83022"/>
                  </a:lnTo>
                  <a:lnTo>
                    <a:pt x="776096" y="66899"/>
                  </a:lnTo>
                  <a:lnTo>
                    <a:pt x="753900" y="47555"/>
                  </a:lnTo>
                  <a:close/>
                </a:path>
                <a:path w="926464" h="130175">
                  <a:moveTo>
                    <a:pt x="860370" y="47555"/>
                  </a:moveTo>
                  <a:lnTo>
                    <a:pt x="776096" y="47555"/>
                  </a:lnTo>
                  <a:lnTo>
                    <a:pt x="785431" y="51586"/>
                  </a:lnTo>
                  <a:lnTo>
                    <a:pt x="790117" y="54811"/>
                  </a:lnTo>
                  <a:lnTo>
                    <a:pt x="794804" y="58839"/>
                  </a:lnTo>
                  <a:lnTo>
                    <a:pt x="794804" y="70930"/>
                  </a:lnTo>
                  <a:lnTo>
                    <a:pt x="790117" y="78990"/>
                  </a:lnTo>
                  <a:lnTo>
                    <a:pt x="785431" y="78990"/>
                  </a:lnTo>
                  <a:lnTo>
                    <a:pt x="776096" y="83022"/>
                  </a:lnTo>
                  <a:lnTo>
                    <a:pt x="867780" y="83022"/>
                  </a:lnTo>
                  <a:lnTo>
                    <a:pt x="925874" y="66899"/>
                  </a:lnTo>
                  <a:lnTo>
                    <a:pt x="860370" y="47555"/>
                  </a:lnTo>
                  <a:close/>
                </a:path>
              </a:pathLst>
            </a:custGeom>
            <a:solidFill>
              <a:srgbClr val="000000"/>
            </a:solidFill>
          </p:spPr>
          <p:txBody>
            <a:bodyPr wrap="square" lIns="0" tIns="0" rIns="0" bIns="0" rtlCol="0"/>
            <a:lstStyle/>
            <a:p/>
          </p:txBody>
        </p:sp>
        <p:sp>
          <p:nvSpPr>
            <p:cNvPr id="51" name="object 51" descr=""/>
            <p:cNvSpPr/>
            <p:nvPr/>
          </p:nvSpPr>
          <p:spPr>
            <a:xfrm>
              <a:off x="1867509" y="5729300"/>
              <a:ext cx="926465" cy="130175"/>
            </a:xfrm>
            <a:custGeom>
              <a:avLst/>
              <a:gdLst/>
              <a:ahLst/>
              <a:cxnLst/>
              <a:rect l="l" t="t" r="r" b="b"/>
              <a:pathLst>
                <a:path w="926464" h="130175">
                  <a:moveTo>
                    <a:pt x="17787" y="47555"/>
                  </a:moveTo>
                  <a:lnTo>
                    <a:pt x="776096" y="47555"/>
                  </a:lnTo>
                  <a:lnTo>
                    <a:pt x="794804" y="70930"/>
                  </a:lnTo>
                  <a:lnTo>
                    <a:pt x="790117" y="78990"/>
                  </a:lnTo>
                  <a:lnTo>
                    <a:pt x="785431" y="78990"/>
                  </a:lnTo>
                  <a:lnTo>
                    <a:pt x="776096" y="83022"/>
                  </a:lnTo>
                  <a:lnTo>
                    <a:pt x="17787" y="83022"/>
                  </a:lnTo>
                  <a:lnTo>
                    <a:pt x="13106" y="78990"/>
                  </a:lnTo>
                  <a:lnTo>
                    <a:pt x="8425" y="78990"/>
                  </a:lnTo>
                  <a:lnTo>
                    <a:pt x="3744" y="70930"/>
                  </a:lnTo>
                  <a:lnTo>
                    <a:pt x="0" y="66899"/>
                  </a:lnTo>
                  <a:lnTo>
                    <a:pt x="3744" y="58839"/>
                  </a:lnTo>
                  <a:lnTo>
                    <a:pt x="8425" y="54811"/>
                  </a:lnTo>
                  <a:lnTo>
                    <a:pt x="13106" y="51586"/>
                  </a:lnTo>
                  <a:lnTo>
                    <a:pt x="17787" y="47555"/>
                  </a:lnTo>
                  <a:close/>
                </a:path>
                <a:path w="926464" h="130175">
                  <a:moveTo>
                    <a:pt x="776096" y="66899"/>
                  </a:moveTo>
                  <a:lnTo>
                    <a:pt x="699336" y="0"/>
                  </a:lnTo>
                  <a:lnTo>
                    <a:pt x="925874" y="66899"/>
                  </a:lnTo>
                  <a:lnTo>
                    <a:pt x="699336" y="129770"/>
                  </a:lnTo>
                  <a:lnTo>
                    <a:pt x="776096" y="66899"/>
                  </a:lnTo>
                  <a:close/>
                </a:path>
              </a:pathLst>
            </a:custGeom>
            <a:ln w="4932">
              <a:solidFill>
                <a:srgbClr val="000000"/>
              </a:solidFill>
            </a:ln>
          </p:spPr>
          <p:txBody>
            <a:bodyPr wrap="square" lIns="0" tIns="0" rIns="0" bIns="0" rtlCol="0"/>
            <a:lstStyle/>
            <a:p/>
          </p:txBody>
        </p:sp>
      </p:grpSp>
      <p:sp>
        <p:nvSpPr>
          <p:cNvPr id="52" name="object 52" descr=""/>
          <p:cNvSpPr txBox="1"/>
          <p:nvPr/>
        </p:nvSpPr>
        <p:spPr>
          <a:xfrm>
            <a:off x="2938890" y="4913375"/>
            <a:ext cx="2070100" cy="1009015"/>
          </a:xfrm>
          <a:prstGeom prst="rect">
            <a:avLst/>
          </a:prstGeom>
        </p:spPr>
        <p:txBody>
          <a:bodyPr wrap="square" lIns="0" tIns="11430" rIns="0" bIns="0" rtlCol="0" vert="horz">
            <a:spAutoFit/>
          </a:bodyPr>
          <a:lstStyle/>
          <a:p>
            <a:pPr marL="12700" marR="5080">
              <a:lnSpc>
                <a:spcPct val="140300"/>
              </a:lnSpc>
              <a:spcBef>
                <a:spcPts val="90"/>
              </a:spcBef>
            </a:pPr>
            <a:r>
              <a:rPr dirty="0" sz="2300" spc="365">
                <a:latin typeface="宋体"/>
                <a:cs typeface="宋体"/>
              </a:rPr>
              <a:t>猜测执行路径实际执行路径</a:t>
            </a:r>
            <a:endParaRPr sz="2300">
              <a:latin typeface="宋体"/>
              <a:cs typeface="宋体"/>
            </a:endParaRPr>
          </a:p>
        </p:txBody>
      </p:sp>
      <p:sp>
        <p:nvSpPr>
          <p:cNvPr id="53" name="object 53" descr=""/>
          <p:cNvSpPr txBox="1"/>
          <p:nvPr/>
        </p:nvSpPr>
        <p:spPr>
          <a:xfrm>
            <a:off x="3910653" y="3476223"/>
            <a:ext cx="1388745" cy="381000"/>
          </a:xfrm>
          <a:prstGeom prst="rect">
            <a:avLst/>
          </a:prstGeom>
        </p:spPr>
        <p:txBody>
          <a:bodyPr wrap="square" lIns="0" tIns="16510" rIns="0" bIns="0" rtlCol="0" vert="horz">
            <a:spAutoFit/>
          </a:bodyPr>
          <a:lstStyle/>
          <a:p>
            <a:pPr marL="12700">
              <a:lnSpc>
                <a:spcPct val="100000"/>
              </a:lnSpc>
              <a:spcBef>
                <a:spcPts val="130"/>
              </a:spcBef>
            </a:pPr>
            <a:r>
              <a:rPr dirty="0" sz="2300" spc="360">
                <a:latin typeface="宋体"/>
                <a:cs typeface="宋体"/>
              </a:rPr>
              <a:t>分支指令</a:t>
            </a:r>
            <a:endParaRPr sz="2300">
              <a:latin typeface="宋体"/>
              <a:cs typeface="宋体"/>
            </a:endParaRPr>
          </a:p>
        </p:txBody>
      </p:sp>
      <p:sp>
        <p:nvSpPr>
          <p:cNvPr id="54" name="object 54" descr=""/>
          <p:cNvSpPr txBox="1"/>
          <p:nvPr/>
        </p:nvSpPr>
        <p:spPr>
          <a:xfrm>
            <a:off x="7498226" y="2394372"/>
            <a:ext cx="2070100" cy="381000"/>
          </a:xfrm>
          <a:prstGeom prst="rect">
            <a:avLst/>
          </a:prstGeom>
        </p:spPr>
        <p:txBody>
          <a:bodyPr wrap="square" lIns="0" tIns="16510" rIns="0" bIns="0" rtlCol="0" vert="horz">
            <a:spAutoFit/>
          </a:bodyPr>
          <a:lstStyle/>
          <a:p>
            <a:pPr marL="12700">
              <a:lnSpc>
                <a:spcPct val="100000"/>
              </a:lnSpc>
              <a:spcBef>
                <a:spcPts val="130"/>
              </a:spcBef>
            </a:pPr>
            <a:r>
              <a:rPr dirty="0" sz="2300" spc="365">
                <a:latin typeface="宋体"/>
                <a:cs typeface="宋体"/>
              </a:rPr>
              <a:t>得到分支结果</a:t>
            </a:r>
            <a:endParaRPr sz="2300">
              <a:latin typeface="宋体"/>
              <a:cs typeface="宋体"/>
            </a:endParaRPr>
          </a:p>
        </p:txBody>
      </p:sp>
      <p:sp>
        <p:nvSpPr>
          <p:cNvPr id="55" name="object 55" descr=""/>
          <p:cNvSpPr txBox="1"/>
          <p:nvPr/>
        </p:nvSpPr>
        <p:spPr>
          <a:xfrm>
            <a:off x="9812781" y="2432430"/>
            <a:ext cx="18542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000"/>
                </a:solidFill>
                <a:latin typeface="黑体"/>
                <a:cs typeface="黑体"/>
              </a:rPr>
              <a:t>发现预测错误</a:t>
            </a:r>
            <a:endParaRPr sz="2400">
              <a:latin typeface="黑体"/>
              <a:cs typeface="黑体"/>
            </a:endParaRPr>
          </a:p>
        </p:txBody>
      </p:sp>
      <p:sp>
        <p:nvSpPr>
          <p:cNvPr id="56" name="object 56" descr=""/>
          <p:cNvSpPr txBox="1"/>
          <p:nvPr/>
        </p:nvSpPr>
        <p:spPr>
          <a:xfrm>
            <a:off x="6391402" y="4290186"/>
            <a:ext cx="39878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FF0000"/>
                </a:solidFill>
                <a:latin typeface="黑体"/>
                <a:cs typeface="黑体"/>
              </a:rPr>
              <a:t>恢复现场，提前保存现场信息</a:t>
            </a:r>
            <a:endParaRPr sz="2400">
              <a:latin typeface="黑体"/>
              <a:cs typeface="黑体"/>
            </a:endParaRPr>
          </a:p>
        </p:txBody>
      </p:sp>
      <p:sp>
        <p:nvSpPr>
          <p:cNvPr id="57" name="object 57" descr=""/>
          <p:cNvSpPr txBox="1"/>
          <p:nvPr/>
        </p:nvSpPr>
        <p:spPr>
          <a:xfrm>
            <a:off x="6193028" y="5868111"/>
            <a:ext cx="3378200" cy="391795"/>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FF0000"/>
                </a:solidFill>
                <a:latin typeface="黑体"/>
                <a:cs typeface="黑体"/>
              </a:rPr>
              <a:t>从另一条路径重新取指令</a:t>
            </a:r>
            <a:endParaRPr sz="2400">
              <a:latin typeface="黑体"/>
              <a:cs typeface="黑体"/>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123/175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78739" y="831037"/>
            <a:ext cx="12030075" cy="4541520"/>
          </a:xfrm>
          <a:prstGeom prst="rect">
            <a:avLst/>
          </a:prstGeom>
        </p:spPr>
        <p:txBody>
          <a:bodyPr wrap="square" lIns="0" tIns="13335" rIns="0" bIns="0" rtlCol="0" vert="horz">
            <a:spAutoFit/>
          </a:bodyPr>
          <a:lstStyle/>
          <a:p>
            <a:pPr marL="1108075">
              <a:lnSpc>
                <a:spcPct val="100000"/>
              </a:lnSpc>
              <a:spcBef>
                <a:spcPts val="105"/>
              </a:spcBef>
            </a:pPr>
            <a:r>
              <a:rPr dirty="0" sz="2600">
                <a:solidFill>
                  <a:srgbClr val="0000CC"/>
                </a:solidFill>
                <a:latin typeface="黑体"/>
                <a:cs typeface="黑体"/>
              </a:rPr>
              <a:t>5.4.1</a:t>
            </a:r>
            <a:r>
              <a:rPr dirty="0" sz="2600" spc="-20">
                <a:solidFill>
                  <a:srgbClr val="0000CC"/>
                </a:solidFill>
                <a:latin typeface="黑体"/>
                <a:cs typeface="黑体"/>
              </a:rPr>
              <a:t> 采用分支历史表 </a:t>
            </a:r>
            <a:r>
              <a:rPr dirty="0" sz="2600" spc="-25">
                <a:solidFill>
                  <a:srgbClr val="0000CC"/>
                </a:solidFill>
                <a:latin typeface="黑体"/>
                <a:cs typeface="黑体"/>
              </a:rPr>
              <a:t>BHT</a:t>
            </a:r>
            <a:endParaRPr sz="2600">
              <a:latin typeface="黑体"/>
              <a:cs typeface="黑体"/>
            </a:endParaRPr>
          </a:p>
          <a:p>
            <a:pPr marL="469900" marR="577850" indent="-457200">
              <a:lnSpc>
                <a:spcPct val="120100"/>
              </a:lnSpc>
              <a:spcBef>
                <a:spcPts val="1895"/>
              </a:spcBef>
              <a:buClr>
                <a:srgbClr val="40458B"/>
              </a:buClr>
              <a:buFont typeface="Wingdings"/>
              <a:buChar char=""/>
              <a:tabLst>
                <a:tab pos="469900" algn="l"/>
                <a:tab pos="3822700" algn="l"/>
                <a:tab pos="5041900" algn="l"/>
                <a:tab pos="9919335" algn="l"/>
              </a:tabLst>
            </a:pPr>
            <a:r>
              <a:rPr dirty="0" sz="2400">
                <a:solidFill>
                  <a:srgbClr val="001F5F"/>
                </a:solidFill>
                <a:latin typeface="黑体"/>
                <a:cs typeface="黑体"/>
              </a:rPr>
              <a:t>分支历史表</a:t>
            </a:r>
            <a:r>
              <a:rPr dirty="0" sz="2400" spc="-10">
                <a:solidFill>
                  <a:srgbClr val="001F5F"/>
                </a:solidFill>
                <a:latin typeface="黑体"/>
                <a:cs typeface="黑体"/>
              </a:rPr>
              <a:t>BHT</a:t>
            </a:r>
            <a:r>
              <a:rPr dirty="0" sz="2400" spc="-10">
                <a:solidFill>
                  <a:srgbClr val="9933FF"/>
                </a:solidFill>
                <a:latin typeface="黑体"/>
                <a:cs typeface="黑体"/>
              </a:rPr>
              <a:t>（Branch</a:t>
            </a:r>
            <a:r>
              <a:rPr dirty="0" sz="2400">
                <a:solidFill>
                  <a:srgbClr val="9933FF"/>
                </a:solidFill>
                <a:latin typeface="黑体"/>
                <a:cs typeface="黑体"/>
              </a:rPr>
              <a:t>	</a:t>
            </a:r>
            <a:r>
              <a:rPr dirty="0" sz="2400" spc="-10">
                <a:solidFill>
                  <a:srgbClr val="9933FF"/>
                </a:solidFill>
                <a:latin typeface="黑体"/>
                <a:cs typeface="黑体"/>
              </a:rPr>
              <a:t>History</a:t>
            </a:r>
            <a:r>
              <a:rPr dirty="0" sz="2400">
                <a:solidFill>
                  <a:srgbClr val="9933FF"/>
                </a:solidFill>
                <a:latin typeface="黑体"/>
                <a:cs typeface="黑体"/>
              </a:rPr>
              <a:t>	Table）或分支预测缓冲器</a:t>
            </a:r>
            <a:r>
              <a:rPr dirty="0" sz="2400" spc="-10">
                <a:solidFill>
                  <a:srgbClr val="9933FF"/>
                </a:solidFill>
                <a:latin typeface="黑体"/>
                <a:cs typeface="黑体"/>
              </a:rPr>
              <a:t>（Branch</a:t>
            </a:r>
            <a:r>
              <a:rPr dirty="0" sz="2400">
                <a:solidFill>
                  <a:srgbClr val="9933FF"/>
                </a:solidFill>
                <a:latin typeface="黑体"/>
                <a:cs typeface="黑体"/>
              </a:rPr>
              <a:t>	</a:t>
            </a:r>
            <a:r>
              <a:rPr dirty="0" sz="2400" spc="-10">
                <a:solidFill>
                  <a:srgbClr val="9933FF"/>
                </a:solidFill>
                <a:latin typeface="黑体"/>
                <a:cs typeface="黑体"/>
              </a:rPr>
              <a:t>Prediction Buffer）</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5">
                <a:solidFill>
                  <a:srgbClr val="40458B"/>
                </a:solidFill>
                <a:latin typeface="黑体"/>
                <a:cs typeface="黑体"/>
              </a:rPr>
              <a:t>最简单的动态分支预测方法。</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10">
                <a:solidFill>
                  <a:srgbClr val="40458B"/>
                </a:solidFill>
                <a:latin typeface="黑体"/>
                <a:cs typeface="黑体"/>
              </a:rPr>
              <a:t>用</a:t>
            </a:r>
            <a:r>
              <a:rPr dirty="0" sz="2400" spc="-10">
                <a:solidFill>
                  <a:srgbClr val="9933FF"/>
                </a:solidFill>
                <a:latin typeface="黑体"/>
                <a:cs typeface="黑体"/>
              </a:rPr>
              <a:t>BHT</a:t>
            </a:r>
            <a:r>
              <a:rPr dirty="0" sz="2400" spc="-10">
                <a:solidFill>
                  <a:srgbClr val="40458B"/>
                </a:solidFill>
                <a:latin typeface="黑体"/>
                <a:cs typeface="黑体"/>
              </a:rPr>
              <a:t>来记录分支指令</a:t>
            </a:r>
            <a:r>
              <a:rPr dirty="0" sz="2400" spc="-10">
                <a:solidFill>
                  <a:srgbClr val="FF0000"/>
                </a:solidFill>
                <a:latin typeface="黑体"/>
                <a:cs typeface="黑体"/>
              </a:rPr>
              <a:t>最近一次或几次</a:t>
            </a:r>
            <a:r>
              <a:rPr dirty="0" sz="2400" spc="-10">
                <a:solidFill>
                  <a:srgbClr val="40458B"/>
                </a:solidFill>
                <a:latin typeface="黑体"/>
                <a:cs typeface="黑体"/>
              </a:rPr>
              <a:t>的执行情况（</a:t>
            </a:r>
            <a:r>
              <a:rPr dirty="0" sz="2400" spc="-55">
                <a:solidFill>
                  <a:srgbClr val="40458B"/>
                </a:solidFill>
                <a:latin typeface="黑体"/>
                <a:cs typeface="黑体"/>
              </a:rPr>
              <a:t>成功还是失败 </a:t>
            </a:r>
            <a:r>
              <a:rPr dirty="0" sz="2400" spc="-10">
                <a:solidFill>
                  <a:srgbClr val="40458B"/>
                </a:solidFill>
                <a:latin typeface="黑体"/>
                <a:cs typeface="黑体"/>
              </a:rPr>
              <a:t>），</a:t>
            </a:r>
            <a:r>
              <a:rPr dirty="0" sz="2400" spc="-20">
                <a:solidFill>
                  <a:srgbClr val="40458B"/>
                </a:solidFill>
                <a:latin typeface="黑体"/>
                <a:cs typeface="黑体"/>
              </a:rPr>
              <a:t>并据此进行</a:t>
            </a:r>
            <a:endParaRPr sz="2400">
              <a:latin typeface="黑体"/>
              <a:cs typeface="黑体"/>
            </a:endParaRPr>
          </a:p>
          <a:p>
            <a:pPr marL="1099185">
              <a:lnSpc>
                <a:spcPct val="100000"/>
              </a:lnSpc>
              <a:spcBef>
                <a:spcPts val="580"/>
              </a:spcBef>
            </a:pPr>
            <a:r>
              <a:rPr dirty="0" sz="2400" spc="-20">
                <a:solidFill>
                  <a:srgbClr val="40458B"/>
                </a:solidFill>
                <a:latin typeface="黑体"/>
                <a:cs typeface="黑体"/>
              </a:rPr>
              <a:t>预测。</a:t>
            </a:r>
            <a:endParaRPr sz="2400">
              <a:latin typeface="黑体"/>
              <a:cs typeface="黑体"/>
            </a:endParaRPr>
          </a:p>
          <a:p>
            <a:pPr marL="469265" indent="-456565">
              <a:lnSpc>
                <a:spcPct val="100000"/>
              </a:lnSpc>
              <a:spcBef>
                <a:spcPts val="1150"/>
              </a:spcBef>
              <a:buClr>
                <a:srgbClr val="40458B"/>
              </a:buClr>
              <a:buFont typeface="Wingdings"/>
              <a:buChar char=""/>
              <a:tabLst>
                <a:tab pos="469265" algn="l"/>
              </a:tabLst>
            </a:pPr>
            <a:r>
              <a:rPr dirty="0" sz="2400">
                <a:solidFill>
                  <a:srgbClr val="001F5F"/>
                </a:solidFill>
                <a:latin typeface="黑体"/>
                <a:cs typeface="黑体"/>
              </a:rPr>
              <a:t>只有</a:t>
            </a:r>
            <a:r>
              <a:rPr dirty="0" sz="2400" spc="-25">
                <a:solidFill>
                  <a:srgbClr val="001F5F"/>
                </a:solidFill>
                <a:latin typeface="Tahoma"/>
                <a:cs typeface="Tahoma"/>
              </a:rPr>
              <a:t>1</a:t>
            </a:r>
            <a:r>
              <a:rPr dirty="0" sz="2400" spc="-45">
                <a:solidFill>
                  <a:srgbClr val="001F5F"/>
                </a:solidFill>
                <a:latin typeface="黑体"/>
                <a:cs typeface="黑体"/>
              </a:rPr>
              <a:t>个预测位的分支预测 </a:t>
            </a:r>
            <a:r>
              <a:rPr dirty="0" sz="2400">
                <a:solidFill>
                  <a:srgbClr val="001F5F"/>
                </a:solidFill>
                <a:latin typeface="黑体"/>
                <a:cs typeface="黑体"/>
              </a:rPr>
              <a:t>（只记录分支指令最近一次的历史</a:t>
            </a:r>
            <a:r>
              <a:rPr dirty="0" sz="2400" spc="-50">
                <a:solidFill>
                  <a:srgbClr val="001F5F"/>
                </a:solidFill>
                <a:latin typeface="黑体"/>
                <a:cs typeface="黑体"/>
              </a:rPr>
              <a:t>）</a:t>
            </a:r>
            <a:endParaRPr sz="2400">
              <a:latin typeface="黑体"/>
              <a:cs typeface="黑体"/>
            </a:endParaRPr>
          </a:p>
          <a:p>
            <a:pPr marL="1251585">
              <a:lnSpc>
                <a:spcPct val="100000"/>
              </a:lnSpc>
              <a:spcBef>
                <a:spcPts val="1155"/>
              </a:spcBef>
            </a:pPr>
            <a:r>
              <a:rPr dirty="0" sz="2400" spc="-10">
                <a:solidFill>
                  <a:srgbClr val="40458B"/>
                </a:solidFill>
                <a:latin typeface="黑体"/>
                <a:cs typeface="黑体"/>
              </a:rPr>
              <a:t>记录分支指令最近一次的历史，</a:t>
            </a:r>
            <a:r>
              <a:rPr dirty="0" sz="2400" spc="-10">
                <a:solidFill>
                  <a:srgbClr val="9933FF"/>
                </a:solidFill>
                <a:latin typeface="黑体"/>
                <a:cs typeface="黑体"/>
              </a:rPr>
              <a:t>BHT</a:t>
            </a:r>
            <a:r>
              <a:rPr dirty="0" sz="2400" spc="-5">
                <a:solidFill>
                  <a:srgbClr val="40458B"/>
                </a:solidFill>
                <a:latin typeface="黑体"/>
                <a:cs typeface="黑体"/>
              </a:rPr>
              <a:t>中只需要</a:t>
            </a:r>
            <a:r>
              <a:rPr dirty="0" sz="2400" spc="-10">
                <a:solidFill>
                  <a:srgbClr val="9933FF"/>
                </a:solidFill>
                <a:latin typeface="黑体"/>
                <a:cs typeface="黑体"/>
              </a:rPr>
              <a:t>1</a:t>
            </a:r>
            <a:r>
              <a:rPr dirty="0" sz="2400" spc="-10">
                <a:solidFill>
                  <a:srgbClr val="40458B"/>
                </a:solidFill>
                <a:latin typeface="黑体"/>
                <a:cs typeface="黑体"/>
              </a:rPr>
              <a:t>位二进制位。</a:t>
            </a:r>
            <a:r>
              <a:rPr dirty="0" sz="2400" spc="-10">
                <a:solidFill>
                  <a:srgbClr val="9966FF"/>
                </a:solidFill>
                <a:latin typeface="宋体"/>
                <a:cs typeface="宋体"/>
              </a:rPr>
              <a:t>（最简单</a:t>
            </a:r>
            <a:r>
              <a:rPr dirty="0" sz="2400" spc="-50">
                <a:solidFill>
                  <a:srgbClr val="9966FF"/>
                </a:solidFill>
                <a:latin typeface="宋体"/>
                <a:cs typeface="宋体"/>
              </a:rPr>
              <a:t>）</a:t>
            </a:r>
            <a:endParaRPr sz="2400">
              <a:latin typeface="宋体"/>
              <a:cs typeface="宋体"/>
            </a:endParaRPr>
          </a:p>
          <a:p>
            <a:pPr marL="1099185">
              <a:lnSpc>
                <a:spcPct val="100000"/>
              </a:lnSpc>
              <a:spcBef>
                <a:spcPts val="1155"/>
              </a:spcBef>
            </a:pPr>
            <a:r>
              <a:rPr dirty="0" sz="2400" spc="-20" b="1">
                <a:solidFill>
                  <a:srgbClr val="9966FF"/>
                </a:solidFill>
                <a:latin typeface="宋体"/>
                <a:cs typeface="宋体"/>
              </a:rPr>
              <a:t>上次分支成功</a:t>
            </a:r>
            <a:r>
              <a:rPr dirty="0" sz="2400" spc="-20" b="1">
                <a:solidFill>
                  <a:srgbClr val="9966FF"/>
                </a:solidFill>
                <a:latin typeface="黑体"/>
                <a:cs typeface="黑体"/>
              </a:rPr>
              <a:t>-----</a:t>
            </a:r>
            <a:r>
              <a:rPr dirty="0" sz="2400" spc="-25" b="1">
                <a:solidFill>
                  <a:srgbClr val="9966FF"/>
                </a:solidFill>
                <a:latin typeface="宋体"/>
                <a:cs typeface="宋体"/>
              </a:rPr>
              <a:t>则分支预测下次成功</a:t>
            </a:r>
            <a:endParaRPr sz="2400">
              <a:latin typeface="宋体"/>
              <a:cs typeface="宋体"/>
            </a:endParaRPr>
          </a:p>
        </p:txBody>
      </p:sp>
      <p:sp>
        <p:nvSpPr>
          <p:cNvPr id="11" name="object 11" descr=""/>
          <p:cNvSpPr txBox="1"/>
          <p:nvPr/>
        </p:nvSpPr>
        <p:spPr>
          <a:xfrm>
            <a:off x="1170228" y="5493207"/>
            <a:ext cx="5390515" cy="391160"/>
          </a:xfrm>
          <a:prstGeom prst="rect">
            <a:avLst/>
          </a:prstGeom>
        </p:spPr>
        <p:txBody>
          <a:bodyPr wrap="square" lIns="0" tIns="12700" rIns="0" bIns="0" rtlCol="0" vert="horz">
            <a:spAutoFit/>
          </a:bodyPr>
          <a:lstStyle/>
          <a:p>
            <a:pPr marL="12700">
              <a:lnSpc>
                <a:spcPct val="100000"/>
              </a:lnSpc>
              <a:spcBef>
                <a:spcPts val="100"/>
              </a:spcBef>
            </a:pPr>
            <a:r>
              <a:rPr dirty="0" sz="2400" spc="-20" b="1">
                <a:solidFill>
                  <a:srgbClr val="9966FF"/>
                </a:solidFill>
                <a:latin typeface="宋体"/>
                <a:cs typeface="宋体"/>
              </a:rPr>
              <a:t>上次分支失败</a:t>
            </a:r>
            <a:r>
              <a:rPr dirty="0" sz="2400" spc="-20" b="1">
                <a:solidFill>
                  <a:srgbClr val="9966FF"/>
                </a:solidFill>
                <a:latin typeface="黑体"/>
                <a:cs typeface="黑体"/>
              </a:rPr>
              <a:t>-----</a:t>
            </a:r>
            <a:r>
              <a:rPr dirty="0" sz="2400" spc="-25" b="1">
                <a:solidFill>
                  <a:srgbClr val="9966FF"/>
                </a:solidFill>
                <a:latin typeface="宋体"/>
                <a:cs typeface="宋体"/>
              </a:rPr>
              <a:t>则分支预测下次失败</a:t>
            </a:r>
            <a:endParaRPr sz="2400">
              <a:latin typeface="宋体"/>
              <a:cs typeface="宋体"/>
            </a:endParaRPr>
          </a:p>
        </p:txBody>
      </p:sp>
      <p:grpSp>
        <p:nvGrpSpPr>
          <p:cNvPr id="12" name="object 12" descr=""/>
          <p:cNvGrpSpPr/>
          <p:nvPr/>
        </p:nvGrpSpPr>
        <p:grpSpPr>
          <a:xfrm>
            <a:off x="7789862" y="5595937"/>
            <a:ext cx="873125" cy="802005"/>
            <a:chOff x="7789862" y="5595937"/>
            <a:chExt cx="873125" cy="802005"/>
          </a:xfrm>
        </p:grpSpPr>
        <p:sp>
          <p:nvSpPr>
            <p:cNvPr id="13" name="object 13" descr=""/>
            <p:cNvSpPr/>
            <p:nvPr/>
          </p:nvSpPr>
          <p:spPr>
            <a:xfrm>
              <a:off x="7794625" y="5600700"/>
              <a:ext cx="863600" cy="792480"/>
            </a:xfrm>
            <a:custGeom>
              <a:avLst/>
              <a:gdLst/>
              <a:ahLst/>
              <a:cxnLst/>
              <a:rect l="l" t="t" r="r" b="b"/>
              <a:pathLst>
                <a:path w="863600" h="792479">
                  <a:moveTo>
                    <a:pt x="431800" y="0"/>
                  </a:moveTo>
                  <a:lnTo>
                    <a:pt x="381437" y="2664"/>
                  </a:lnTo>
                  <a:lnTo>
                    <a:pt x="332782" y="10460"/>
                  </a:lnTo>
                  <a:lnTo>
                    <a:pt x="286159" y="23090"/>
                  </a:lnTo>
                  <a:lnTo>
                    <a:pt x="241892" y="40257"/>
                  </a:lnTo>
                  <a:lnTo>
                    <a:pt x="200304" y="61664"/>
                  </a:lnTo>
                  <a:lnTo>
                    <a:pt x="161718" y="87013"/>
                  </a:lnTo>
                  <a:lnTo>
                    <a:pt x="126460" y="116008"/>
                  </a:lnTo>
                  <a:lnTo>
                    <a:pt x="94852" y="148350"/>
                  </a:lnTo>
                  <a:lnTo>
                    <a:pt x="67218" y="183744"/>
                  </a:lnTo>
                  <a:lnTo>
                    <a:pt x="43883" y="221891"/>
                  </a:lnTo>
                  <a:lnTo>
                    <a:pt x="25170" y="262495"/>
                  </a:lnTo>
                  <a:lnTo>
                    <a:pt x="11402" y="305258"/>
                  </a:lnTo>
                  <a:lnTo>
                    <a:pt x="2904" y="349884"/>
                  </a:lnTo>
                  <a:lnTo>
                    <a:pt x="0" y="396074"/>
                  </a:lnTo>
                  <a:lnTo>
                    <a:pt x="2904" y="442267"/>
                  </a:lnTo>
                  <a:lnTo>
                    <a:pt x="11402" y="486895"/>
                  </a:lnTo>
                  <a:lnTo>
                    <a:pt x="25170" y="529660"/>
                  </a:lnTo>
                  <a:lnTo>
                    <a:pt x="43883" y="570266"/>
                  </a:lnTo>
                  <a:lnTo>
                    <a:pt x="67218" y="608414"/>
                  </a:lnTo>
                  <a:lnTo>
                    <a:pt x="94852" y="643809"/>
                  </a:lnTo>
                  <a:lnTo>
                    <a:pt x="126460" y="676152"/>
                  </a:lnTo>
                  <a:lnTo>
                    <a:pt x="161718" y="705147"/>
                  </a:lnTo>
                  <a:lnTo>
                    <a:pt x="200304" y="730497"/>
                  </a:lnTo>
                  <a:lnTo>
                    <a:pt x="241892" y="751904"/>
                  </a:lnTo>
                  <a:lnTo>
                    <a:pt x="286159" y="769071"/>
                  </a:lnTo>
                  <a:lnTo>
                    <a:pt x="332782" y="781701"/>
                  </a:lnTo>
                  <a:lnTo>
                    <a:pt x="381437" y="789497"/>
                  </a:lnTo>
                  <a:lnTo>
                    <a:pt x="431800" y="792162"/>
                  </a:lnTo>
                  <a:lnTo>
                    <a:pt x="482162" y="789497"/>
                  </a:lnTo>
                  <a:lnTo>
                    <a:pt x="530817" y="781701"/>
                  </a:lnTo>
                  <a:lnTo>
                    <a:pt x="577440" y="769071"/>
                  </a:lnTo>
                  <a:lnTo>
                    <a:pt x="621707" y="751904"/>
                  </a:lnTo>
                  <a:lnTo>
                    <a:pt x="663295" y="730497"/>
                  </a:lnTo>
                  <a:lnTo>
                    <a:pt x="701881" y="705147"/>
                  </a:lnTo>
                  <a:lnTo>
                    <a:pt x="737139" y="676152"/>
                  </a:lnTo>
                  <a:lnTo>
                    <a:pt x="768747" y="643809"/>
                  </a:lnTo>
                  <a:lnTo>
                    <a:pt x="796381" y="608414"/>
                  </a:lnTo>
                  <a:lnTo>
                    <a:pt x="819716" y="570266"/>
                  </a:lnTo>
                  <a:lnTo>
                    <a:pt x="838429" y="529660"/>
                  </a:lnTo>
                  <a:lnTo>
                    <a:pt x="852197" y="486895"/>
                  </a:lnTo>
                  <a:lnTo>
                    <a:pt x="860695" y="442267"/>
                  </a:lnTo>
                  <a:lnTo>
                    <a:pt x="863600" y="396074"/>
                  </a:lnTo>
                  <a:lnTo>
                    <a:pt x="860695" y="349884"/>
                  </a:lnTo>
                  <a:lnTo>
                    <a:pt x="852197" y="305258"/>
                  </a:lnTo>
                  <a:lnTo>
                    <a:pt x="838429" y="262495"/>
                  </a:lnTo>
                  <a:lnTo>
                    <a:pt x="819716" y="221891"/>
                  </a:lnTo>
                  <a:lnTo>
                    <a:pt x="796381" y="183744"/>
                  </a:lnTo>
                  <a:lnTo>
                    <a:pt x="768747" y="148350"/>
                  </a:lnTo>
                  <a:lnTo>
                    <a:pt x="737139" y="116008"/>
                  </a:lnTo>
                  <a:lnTo>
                    <a:pt x="701881" y="87013"/>
                  </a:lnTo>
                  <a:lnTo>
                    <a:pt x="663295" y="61664"/>
                  </a:lnTo>
                  <a:lnTo>
                    <a:pt x="621707" y="40257"/>
                  </a:lnTo>
                  <a:lnTo>
                    <a:pt x="577440" y="23090"/>
                  </a:lnTo>
                  <a:lnTo>
                    <a:pt x="530817" y="10460"/>
                  </a:lnTo>
                  <a:lnTo>
                    <a:pt x="482162" y="2664"/>
                  </a:lnTo>
                  <a:lnTo>
                    <a:pt x="431800" y="0"/>
                  </a:lnTo>
                  <a:close/>
                </a:path>
              </a:pathLst>
            </a:custGeom>
            <a:solidFill>
              <a:srgbClr val="EBD782"/>
            </a:solidFill>
          </p:spPr>
          <p:txBody>
            <a:bodyPr wrap="square" lIns="0" tIns="0" rIns="0" bIns="0" rtlCol="0"/>
            <a:lstStyle/>
            <a:p/>
          </p:txBody>
        </p:sp>
        <p:sp>
          <p:nvSpPr>
            <p:cNvPr id="14" name="object 14" descr=""/>
            <p:cNvSpPr/>
            <p:nvPr/>
          </p:nvSpPr>
          <p:spPr>
            <a:xfrm>
              <a:off x="7794625" y="5600700"/>
              <a:ext cx="863600" cy="792480"/>
            </a:xfrm>
            <a:custGeom>
              <a:avLst/>
              <a:gdLst/>
              <a:ahLst/>
              <a:cxnLst/>
              <a:rect l="l" t="t" r="r" b="b"/>
              <a:pathLst>
                <a:path w="863600" h="792479">
                  <a:moveTo>
                    <a:pt x="0" y="396074"/>
                  </a:moveTo>
                  <a:lnTo>
                    <a:pt x="2904" y="349884"/>
                  </a:lnTo>
                  <a:lnTo>
                    <a:pt x="11402" y="305258"/>
                  </a:lnTo>
                  <a:lnTo>
                    <a:pt x="25170" y="262495"/>
                  </a:lnTo>
                  <a:lnTo>
                    <a:pt x="43883" y="221891"/>
                  </a:lnTo>
                  <a:lnTo>
                    <a:pt x="67218" y="183744"/>
                  </a:lnTo>
                  <a:lnTo>
                    <a:pt x="94852" y="148350"/>
                  </a:lnTo>
                  <a:lnTo>
                    <a:pt x="126460" y="116008"/>
                  </a:lnTo>
                  <a:lnTo>
                    <a:pt x="161718" y="87013"/>
                  </a:lnTo>
                  <a:lnTo>
                    <a:pt x="200304" y="61664"/>
                  </a:lnTo>
                  <a:lnTo>
                    <a:pt x="241892" y="40257"/>
                  </a:lnTo>
                  <a:lnTo>
                    <a:pt x="286159" y="23090"/>
                  </a:lnTo>
                  <a:lnTo>
                    <a:pt x="332782" y="10460"/>
                  </a:lnTo>
                  <a:lnTo>
                    <a:pt x="381437" y="2664"/>
                  </a:lnTo>
                  <a:lnTo>
                    <a:pt x="431800" y="0"/>
                  </a:lnTo>
                  <a:lnTo>
                    <a:pt x="482162" y="2664"/>
                  </a:lnTo>
                  <a:lnTo>
                    <a:pt x="530817" y="10460"/>
                  </a:lnTo>
                  <a:lnTo>
                    <a:pt x="577440" y="23090"/>
                  </a:lnTo>
                  <a:lnTo>
                    <a:pt x="621707" y="40257"/>
                  </a:lnTo>
                  <a:lnTo>
                    <a:pt x="663295" y="61664"/>
                  </a:lnTo>
                  <a:lnTo>
                    <a:pt x="701881" y="87013"/>
                  </a:lnTo>
                  <a:lnTo>
                    <a:pt x="737139" y="116008"/>
                  </a:lnTo>
                  <a:lnTo>
                    <a:pt x="768747" y="148350"/>
                  </a:lnTo>
                  <a:lnTo>
                    <a:pt x="796381" y="183744"/>
                  </a:lnTo>
                  <a:lnTo>
                    <a:pt x="819716" y="221891"/>
                  </a:lnTo>
                  <a:lnTo>
                    <a:pt x="838429" y="262495"/>
                  </a:lnTo>
                  <a:lnTo>
                    <a:pt x="852197" y="305258"/>
                  </a:lnTo>
                  <a:lnTo>
                    <a:pt x="860695" y="349884"/>
                  </a:lnTo>
                  <a:lnTo>
                    <a:pt x="863600" y="396074"/>
                  </a:lnTo>
                  <a:lnTo>
                    <a:pt x="860695" y="442267"/>
                  </a:lnTo>
                  <a:lnTo>
                    <a:pt x="852197" y="486895"/>
                  </a:lnTo>
                  <a:lnTo>
                    <a:pt x="838429" y="529660"/>
                  </a:lnTo>
                  <a:lnTo>
                    <a:pt x="819716" y="570266"/>
                  </a:lnTo>
                  <a:lnTo>
                    <a:pt x="796381" y="608414"/>
                  </a:lnTo>
                  <a:lnTo>
                    <a:pt x="768747" y="643809"/>
                  </a:lnTo>
                  <a:lnTo>
                    <a:pt x="737139" y="676152"/>
                  </a:lnTo>
                  <a:lnTo>
                    <a:pt x="701881" y="705147"/>
                  </a:lnTo>
                  <a:lnTo>
                    <a:pt x="663295" y="730497"/>
                  </a:lnTo>
                  <a:lnTo>
                    <a:pt x="621707" y="751904"/>
                  </a:lnTo>
                  <a:lnTo>
                    <a:pt x="577440" y="769071"/>
                  </a:lnTo>
                  <a:lnTo>
                    <a:pt x="530817" y="781701"/>
                  </a:lnTo>
                  <a:lnTo>
                    <a:pt x="482162" y="789497"/>
                  </a:lnTo>
                  <a:lnTo>
                    <a:pt x="431800" y="792162"/>
                  </a:lnTo>
                  <a:lnTo>
                    <a:pt x="381437" y="789497"/>
                  </a:lnTo>
                  <a:lnTo>
                    <a:pt x="332782" y="781701"/>
                  </a:lnTo>
                  <a:lnTo>
                    <a:pt x="286159" y="769071"/>
                  </a:lnTo>
                  <a:lnTo>
                    <a:pt x="241892" y="751904"/>
                  </a:lnTo>
                  <a:lnTo>
                    <a:pt x="200304" y="730497"/>
                  </a:lnTo>
                  <a:lnTo>
                    <a:pt x="161718" y="705147"/>
                  </a:lnTo>
                  <a:lnTo>
                    <a:pt x="126460" y="676152"/>
                  </a:lnTo>
                  <a:lnTo>
                    <a:pt x="94852" y="643809"/>
                  </a:lnTo>
                  <a:lnTo>
                    <a:pt x="67218" y="608414"/>
                  </a:lnTo>
                  <a:lnTo>
                    <a:pt x="43883" y="570266"/>
                  </a:lnTo>
                  <a:lnTo>
                    <a:pt x="25170" y="529660"/>
                  </a:lnTo>
                  <a:lnTo>
                    <a:pt x="11402" y="486895"/>
                  </a:lnTo>
                  <a:lnTo>
                    <a:pt x="2904" y="442267"/>
                  </a:lnTo>
                  <a:lnTo>
                    <a:pt x="0" y="396074"/>
                  </a:lnTo>
                  <a:close/>
                </a:path>
              </a:pathLst>
            </a:custGeom>
            <a:ln w="9525">
              <a:solidFill>
                <a:srgbClr val="40458B"/>
              </a:solidFill>
            </a:ln>
          </p:spPr>
          <p:txBody>
            <a:bodyPr wrap="square" lIns="0" tIns="0" rIns="0" bIns="0" rtlCol="0"/>
            <a:lstStyle/>
            <a:p/>
          </p:txBody>
        </p:sp>
      </p:grpSp>
      <p:sp>
        <p:nvSpPr>
          <p:cNvPr id="15" name="object 15" descr=""/>
          <p:cNvSpPr/>
          <p:nvPr/>
        </p:nvSpPr>
        <p:spPr>
          <a:xfrm>
            <a:off x="8904223" y="5767387"/>
            <a:ext cx="1513205" cy="76200"/>
          </a:xfrm>
          <a:custGeom>
            <a:avLst/>
            <a:gdLst/>
            <a:ahLst/>
            <a:cxnLst/>
            <a:rect l="l" t="t" r="r" b="b"/>
            <a:pathLst>
              <a:path w="1513204" h="76200">
                <a:moveTo>
                  <a:pt x="1436751" y="0"/>
                </a:moveTo>
                <a:lnTo>
                  <a:pt x="1436751" y="76200"/>
                </a:lnTo>
                <a:lnTo>
                  <a:pt x="1490726" y="49212"/>
                </a:lnTo>
                <a:lnTo>
                  <a:pt x="1449451" y="49212"/>
                </a:lnTo>
                <a:lnTo>
                  <a:pt x="1449451" y="26987"/>
                </a:lnTo>
                <a:lnTo>
                  <a:pt x="1490726" y="26987"/>
                </a:lnTo>
                <a:lnTo>
                  <a:pt x="1436751" y="0"/>
                </a:lnTo>
                <a:close/>
              </a:path>
              <a:path w="1513204" h="76200">
                <a:moveTo>
                  <a:pt x="1436751" y="26987"/>
                </a:moveTo>
                <a:lnTo>
                  <a:pt x="0" y="26987"/>
                </a:lnTo>
                <a:lnTo>
                  <a:pt x="0" y="49212"/>
                </a:lnTo>
                <a:lnTo>
                  <a:pt x="1436751" y="49212"/>
                </a:lnTo>
                <a:lnTo>
                  <a:pt x="1436751" y="26987"/>
                </a:lnTo>
                <a:close/>
              </a:path>
              <a:path w="1513204" h="76200">
                <a:moveTo>
                  <a:pt x="1490726" y="26987"/>
                </a:moveTo>
                <a:lnTo>
                  <a:pt x="1449451" y="26987"/>
                </a:lnTo>
                <a:lnTo>
                  <a:pt x="1449451" y="49212"/>
                </a:lnTo>
                <a:lnTo>
                  <a:pt x="1490726" y="49212"/>
                </a:lnTo>
                <a:lnTo>
                  <a:pt x="1512951" y="38100"/>
                </a:lnTo>
                <a:lnTo>
                  <a:pt x="1490726" y="26987"/>
                </a:lnTo>
                <a:close/>
              </a:path>
            </a:pathLst>
          </a:custGeom>
          <a:solidFill>
            <a:srgbClr val="FF09FF"/>
          </a:solidFill>
        </p:spPr>
        <p:txBody>
          <a:bodyPr wrap="square" lIns="0" tIns="0" rIns="0" bIns="0" rtlCol="0"/>
          <a:lstStyle/>
          <a:p/>
        </p:txBody>
      </p:sp>
      <p:sp>
        <p:nvSpPr>
          <p:cNvPr id="16" name="object 16" descr=""/>
          <p:cNvSpPr/>
          <p:nvPr/>
        </p:nvSpPr>
        <p:spPr>
          <a:xfrm>
            <a:off x="8832850" y="6127750"/>
            <a:ext cx="1584325" cy="76200"/>
          </a:xfrm>
          <a:custGeom>
            <a:avLst/>
            <a:gdLst/>
            <a:ahLst/>
            <a:cxnLst/>
            <a:rect l="l" t="t" r="r" b="b"/>
            <a:pathLst>
              <a:path w="1584325" h="76200">
                <a:moveTo>
                  <a:pt x="76200" y="0"/>
                </a:moveTo>
                <a:lnTo>
                  <a:pt x="0" y="38100"/>
                </a:lnTo>
                <a:lnTo>
                  <a:pt x="76200" y="76200"/>
                </a:lnTo>
                <a:lnTo>
                  <a:pt x="76200" y="49212"/>
                </a:lnTo>
                <a:lnTo>
                  <a:pt x="63500" y="49212"/>
                </a:lnTo>
                <a:lnTo>
                  <a:pt x="63500" y="26987"/>
                </a:lnTo>
                <a:lnTo>
                  <a:pt x="76200" y="26987"/>
                </a:lnTo>
                <a:lnTo>
                  <a:pt x="76200" y="0"/>
                </a:lnTo>
                <a:close/>
              </a:path>
              <a:path w="1584325" h="76200">
                <a:moveTo>
                  <a:pt x="76200" y="26987"/>
                </a:moveTo>
                <a:lnTo>
                  <a:pt x="63500" y="26987"/>
                </a:lnTo>
                <a:lnTo>
                  <a:pt x="63500" y="49212"/>
                </a:lnTo>
                <a:lnTo>
                  <a:pt x="76200" y="49212"/>
                </a:lnTo>
                <a:lnTo>
                  <a:pt x="76200" y="26987"/>
                </a:lnTo>
                <a:close/>
              </a:path>
              <a:path w="1584325" h="76200">
                <a:moveTo>
                  <a:pt x="1584325" y="26987"/>
                </a:moveTo>
                <a:lnTo>
                  <a:pt x="76200" y="26987"/>
                </a:lnTo>
                <a:lnTo>
                  <a:pt x="76200" y="49212"/>
                </a:lnTo>
                <a:lnTo>
                  <a:pt x="1584325" y="49212"/>
                </a:lnTo>
                <a:lnTo>
                  <a:pt x="1584325" y="26987"/>
                </a:lnTo>
                <a:close/>
              </a:path>
            </a:pathLst>
          </a:custGeom>
          <a:solidFill>
            <a:srgbClr val="FF5CFF"/>
          </a:solidFill>
        </p:spPr>
        <p:txBody>
          <a:bodyPr wrap="square" lIns="0" tIns="0" rIns="0" bIns="0" rtlCol="0"/>
          <a:lstStyle/>
          <a:p/>
        </p:txBody>
      </p:sp>
      <p:grpSp>
        <p:nvGrpSpPr>
          <p:cNvPr id="17" name="object 17" descr=""/>
          <p:cNvGrpSpPr/>
          <p:nvPr/>
        </p:nvGrpSpPr>
        <p:grpSpPr>
          <a:xfrm>
            <a:off x="10615612" y="5584825"/>
            <a:ext cx="875030" cy="802005"/>
            <a:chOff x="10615612" y="5584825"/>
            <a:chExt cx="875030" cy="802005"/>
          </a:xfrm>
        </p:grpSpPr>
        <p:sp>
          <p:nvSpPr>
            <p:cNvPr id="18" name="object 18" descr=""/>
            <p:cNvSpPr/>
            <p:nvPr/>
          </p:nvSpPr>
          <p:spPr>
            <a:xfrm>
              <a:off x="10620375" y="5589587"/>
              <a:ext cx="865505" cy="792480"/>
            </a:xfrm>
            <a:custGeom>
              <a:avLst/>
              <a:gdLst/>
              <a:ahLst/>
              <a:cxnLst/>
              <a:rect l="l" t="t" r="r" b="b"/>
              <a:pathLst>
                <a:path w="865504" h="792479">
                  <a:moveTo>
                    <a:pt x="432561" y="0"/>
                  </a:moveTo>
                  <a:lnTo>
                    <a:pt x="382118" y="2664"/>
                  </a:lnTo>
                  <a:lnTo>
                    <a:pt x="333382" y="10460"/>
                  </a:lnTo>
                  <a:lnTo>
                    <a:pt x="286680" y="23090"/>
                  </a:lnTo>
                  <a:lnTo>
                    <a:pt x="242336" y="40257"/>
                  </a:lnTo>
                  <a:lnTo>
                    <a:pt x="200675" y="61664"/>
                  </a:lnTo>
                  <a:lnTo>
                    <a:pt x="162020" y="87013"/>
                  </a:lnTo>
                  <a:lnTo>
                    <a:pt x="126698" y="116008"/>
                  </a:lnTo>
                  <a:lnTo>
                    <a:pt x="95032" y="148350"/>
                  </a:lnTo>
                  <a:lnTo>
                    <a:pt x="67347" y="183744"/>
                  </a:lnTo>
                  <a:lnTo>
                    <a:pt x="43967" y="221891"/>
                  </a:lnTo>
                  <a:lnTo>
                    <a:pt x="25218" y="262495"/>
                  </a:lnTo>
                  <a:lnTo>
                    <a:pt x="11424" y="305258"/>
                  </a:lnTo>
                  <a:lnTo>
                    <a:pt x="2910" y="349884"/>
                  </a:lnTo>
                  <a:lnTo>
                    <a:pt x="0" y="396074"/>
                  </a:lnTo>
                  <a:lnTo>
                    <a:pt x="2910" y="442267"/>
                  </a:lnTo>
                  <a:lnTo>
                    <a:pt x="11424" y="486895"/>
                  </a:lnTo>
                  <a:lnTo>
                    <a:pt x="25218" y="529660"/>
                  </a:lnTo>
                  <a:lnTo>
                    <a:pt x="43967" y="570266"/>
                  </a:lnTo>
                  <a:lnTo>
                    <a:pt x="67347" y="608414"/>
                  </a:lnTo>
                  <a:lnTo>
                    <a:pt x="95032" y="643809"/>
                  </a:lnTo>
                  <a:lnTo>
                    <a:pt x="126698" y="676152"/>
                  </a:lnTo>
                  <a:lnTo>
                    <a:pt x="162020" y="705147"/>
                  </a:lnTo>
                  <a:lnTo>
                    <a:pt x="200675" y="730497"/>
                  </a:lnTo>
                  <a:lnTo>
                    <a:pt x="242336" y="751904"/>
                  </a:lnTo>
                  <a:lnTo>
                    <a:pt x="286680" y="769071"/>
                  </a:lnTo>
                  <a:lnTo>
                    <a:pt x="333382" y="781701"/>
                  </a:lnTo>
                  <a:lnTo>
                    <a:pt x="382118" y="789497"/>
                  </a:lnTo>
                  <a:lnTo>
                    <a:pt x="432561" y="792162"/>
                  </a:lnTo>
                  <a:lnTo>
                    <a:pt x="483007" y="789497"/>
                  </a:lnTo>
                  <a:lnTo>
                    <a:pt x="531748" y="781701"/>
                  </a:lnTo>
                  <a:lnTo>
                    <a:pt x="578458" y="769071"/>
                  </a:lnTo>
                  <a:lnTo>
                    <a:pt x="622812" y="751904"/>
                  </a:lnTo>
                  <a:lnTo>
                    <a:pt x="664485" y="730497"/>
                  </a:lnTo>
                  <a:lnTo>
                    <a:pt x="703153" y="705147"/>
                  </a:lnTo>
                  <a:lnTo>
                    <a:pt x="738489" y="676152"/>
                  </a:lnTo>
                  <a:lnTo>
                    <a:pt x="770168" y="643809"/>
                  </a:lnTo>
                  <a:lnTo>
                    <a:pt x="797866" y="608414"/>
                  </a:lnTo>
                  <a:lnTo>
                    <a:pt x="821257" y="570266"/>
                  </a:lnTo>
                  <a:lnTo>
                    <a:pt x="840017" y="529660"/>
                  </a:lnTo>
                  <a:lnTo>
                    <a:pt x="853819" y="486895"/>
                  </a:lnTo>
                  <a:lnTo>
                    <a:pt x="862338" y="442267"/>
                  </a:lnTo>
                  <a:lnTo>
                    <a:pt x="865251" y="396074"/>
                  </a:lnTo>
                  <a:lnTo>
                    <a:pt x="862338" y="349884"/>
                  </a:lnTo>
                  <a:lnTo>
                    <a:pt x="853819" y="305258"/>
                  </a:lnTo>
                  <a:lnTo>
                    <a:pt x="840017" y="262495"/>
                  </a:lnTo>
                  <a:lnTo>
                    <a:pt x="821257" y="221891"/>
                  </a:lnTo>
                  <a:lnTo>
                    <a:pt x="797866" y="183744"/>
                  </a:lnTo>
                  <a:lnTo>
                    <a:pt x="770168" y="148350"/>
                  </a:lnTo>
                  <a:lnTo>
                    <a:pt x="738489" y="116008"/>
                  </a:lnTo>
                  <a:lnTo>
                    <a:pt x="703153" y="87013"/>
                  </a:lnTo>
                  <a:lnTo>
                    <a:pt x="664485" y="61664"/>
                  </a:lnTo>
                  <a:lnTo>
                    <a:pt x="622812" y="40257"/>
                  </a:lnTo>
                  <a:lnTo>
                    <a:pt x="578458" y="23090"/>
                  </a:lnTo>
                  <a:lnTo>
                    <a:pt x="531748" y="10460"/>
                  </a:lnTo>
                  <a:lnTo>
                    <a:pt x="483007" y="2664"/>
                  </a:lnTo>
                  <a:lnTo>
                    <a:pt x="432561" y="0"/>
                  </a:lnTo>
                  <a:close/>
                </a:path>
              </a:pathLst>
            </a:custGeom>
            <a:solidFill>
              <a:srgbClr val="EBD782"/>
            </a:solidFill>
          </p:spPr>
          <p:txBody>
            <a:bodyPr wrap="square" lIns="0" tIns="0" rIns="0" bIns="0" rtlCol="0"/>
            <a:lstStyle/>
            <a:p/>
          </p:txBody>
        </p:sp>
        <p:sp>
          <p:nvSpPr>
            <p:cNvPr id="19" name="object 19" descr=""/>
            <p:cNvSpPr/>
            <p:nvPr/>
          </p:nvSpPr>
          <p:spPr>
            <a:xfrm>
              <a:off x="10620375" y="5589587"/>
              <a:ext cx="865505" cy="792480"/>
            </a:xfrm>
            <a:custGeom>
              <a:avLst/>
              <a:gdLst/>
              <a:ahLst/>
              <a:cxnLst/>
              <a:rect l="l" t="t" r="r" b="b"/>
              <a:pathLst>
                <a:path w="865504" h="792479">
                  <a:moveTo>
                    <a:pt x="0" y="396074"/>
                  </a:moveTo>
                  <a:lnTo>
                    <a:pt x="2910" y="349884"/>
                  </a:lnTo>
                  <a:lnTo>
                    <a:pt x="11424" y="305258"/>
                  </a:lnTo>
                  <a:lnTo>
                    <a:pt x="25218" y="262495"/>
                  </a:lnTo>
                  <a:lnTo>
                    <a:pt x="43967" y="221891"/>
                  </a:lnTo>
                  <a:lnTo>
                    <a:pt x="67347" y="183744"/>
                  </a:lnTo>
                  <a:lnTo>
                    <a:pt x="95032" y="148350"/>
                  </a:lnTo>
                  <a:lnTo>
                    <a:pt x="126698" y="116008"/>
                  </a:lnTo>
                  <a:lnTo>
                    <a:pt x="162020" y="87013"/>
                  </a:lnTo>
                  <a:lnTo>
                    <a:pt x="200675" y="61664"/>
                  </a:lnTo>
                  <a:lnTo>
                    <a:pt x="242336" y="40257"/>
                  </a:lnTo>
                  <a:lnTo>
                    <a:pt x="286680" y="23090"/>
                  </a:lnTo>
                  <a:lnTo>
                    <a:pt x="333382" y="10460"/>
                  </a:lnTo>
                  <a:lnTo>
                    <a:pt x="382118" y="2664"/>
                  </a:lnTo>
                  <a:lnTo>
                    <a:pt x="432561" y="0"/>
                  </a:lnTo>
                  <a:lnTo>
                    <a:pt x="483007" y="2664"/>
                  </a:lnTo>
                  <a:lnTo>
                    <a:pt x="531748" y="10460"/>
                  </a:lnTo>
                  <a:lnTo>
                    <a:pt x="578458" y="23090"/>
                  </a:lnTo>
                  <a:lnTo>
                    <a:pt x="622812" y="40257"/>
                  </a:lnTo>
                  <a:lnTo>
                    <a:pt x="664485" y="61664"/>
                  </a:lnTo>
                  <a:lnTo>
                    <a:pt x="703153" y="87013"/>
                  </a:lnTo>
                  <a:lnTo>
                    <a:pt x="738489" y="116008"/>
                  </a:lnTo>
                  <a:lnTo>
                    <a:pt x="770168" y="148350"/>
                  </a:lnTo>
                  <a:lnTo>
                    <a:pt x="797866" y="183744"/>
                  </a:lnTo>
                  <a:lnTo>
                    <a:pt x="821257" y="221891"/>
                  </a:lnTo>
                  <a:lnTo>
                    <a:pt x="840017" y="262495"/>
                  </a:lnTo>
                  <a:lnTo>
                    <a:pt x="853819" y="305258"/>
                  </a:lnTo>
                  <a:lnTo>
                    <a:pt x="862338" y="349884"/>
                  </a:lnTo>
                  <a:lnTo>
                    <a:pt x="865251" y="396074"/>
                  </a:lnTo>
                  <a:lnTo>
                    <a:pt x="862338" y="442267"/>
                  </a:lnTo>
                  <a:lnTo>
                    <a:pt x="853819" y="486895"/>
                  </a:lnTo>
                  <a:lnTo>
                    <a:pt x="840017" y="529660"/>
                  </a:lnTo>
                  <a:lnTo>
                    <a:pt x="821257" y="570266"/>
                  </a:lnTo>
                  <a:lnTo>
                    <a:pt x="797866" y="608414"/>
                  </a:lnTo>
                  <a:lnTo>
                    <a:pt x="770168" y="643809"/>
                  </a:lnTo>
                  <a:lnTo>
                    <a:pt x="738489" y="676152"/>
                  </a:lnTo>
                  <a:lnTo>
                    <a:pt x="703153" y="705147"/>
                  </a:lnTo>
                  <a:lnTo>
                    <a:pt x="664485" y="730497"/>
                  </a:lnTo>
                  <a:lnTo>
                    <a:pt x="622812" y="751904"/>
                  </a:lnTo>
                  <a:lnTo>
                    <a:pt x="578458" y="769071"/>
                  </a:lnTo>
                  <a:lnTo>
                    <a:pt x="531748" y="781701"/>
                  </a:lnTo>
                  <a:lnTo>
                    <a:pt x="483007" y="789497"/>
                  </a:lnTo>
                  <a:lnTo>
                    <a:pt x="432561" y="792162"/>
                  </a:lnTo>
                  <a:lnTo>
                    <a:pt x="382118" y="789497"/>
                  </a:lnTo>
                  <a:lnTo>
                    <a:pt x="333382" y="781701"/>
                  </a:lnTo>
                  <a:lnTo>
                    <a:pt x="286680" y="769071"/>
                  </a:lnTo>
                  <a:lnTo>
                    <a:pt x="242336" y="751904"/>
                  </a:lnTo>
                  <a:lnTo>
                    <a:pt x="200675" y="730497"/>
                  </a:lnTo>
                  <a:lnTo>
                    <a:pt x="162020" y="705147"/>
                  </a:lnTo>
                  <a:lnTo>
                    <a:pt x="126698" y="676152"/>
                  </a:lnTo>
                  <a:lnTo>
                    <a:pt x="95032" y="643809"/>
                  </a:lnTo>
                  <a:lnTo>
                    <a:pt x="67347" y="608414"/>
                  </a:lnTo>
                  <a:lnTo>
                    <a:pt x="43967" y="570266"/>
                  </a:lnTo>
                  <a:lnTo>
                    <a:pt x="25218" y="529660"/>
                  </a:lnTo>
                  <a:lnTo>
                    <a:pt x="11424" y="486895"/>
                  </a:lnTo>
                  <a:lnTo>
                    <a:pt x="2910" y="442267"/>
                  </a:lnTo>
                  <a:lnTo>
                    <a:pt x="0" y="396074"/>
                  </a:lnTo>
                  <a:close/>
                </a:path>
              </a:pathLst>
            </a:custGeom>
            <a:ln w="9525">
              <a:solidFill>
                <a:srgbClr val="40458B"/>
              </a:solidFill>
            </a:ln>
          </p:spPr>
          <p:txBody>
            <a:bodyPr wrap="square" lIns="0" tIns="0" rIns="0" bIns="0" rtlCol="0"/>
            <a:lstStyle/>
            <a:p/>
          </p:txBody>
        </p:sp>
      </p:grpSp>
      <p:sp>
        <p:nvSpPr>
          <p:cNvPr id="20" name="object 20" descr=""/>
          <p:cNvSpPr txBox="1"/>
          <p:nvPr/>
        </p:nvSpPr>
        <p:spPr>
          <a:xfrm>
            <a:off x="8000745" y="5747715"/>
            <a:ext cx="3074670" cy="514350"/>
          </a:xfrm>
          <a:prstGeom prst="rect">
            <a:avLst/>
          </a:prstGeom>
        </p:spPr>
        <p:txBody>
          <a:bodyPr wrap="square" lIns="0" tIns="13335" rIns="0" bIns="0" rtlCol="0" vert="horz">
            <a:spAutoFit/>
          </a:bodyPr>
          <a:lstStyle/>
          <a:p>
            <a:pPr marL="12700">
              <a:lnSpc>
                <a:spcPct val="100000"/>
              </a:lnSpc>
              <a:spcBef>
                <a:spcPts val="105"/>
              </a:spcBef>
              <a:tabLst>
                <a:tab pos="2839085" algn="l"/>
              </a:tabLst>
            </a:pPr>
            <a:r>
              <a:rPr dirty="0" sz="3200" spc="-50">
                <a:solidFill>
                  <a:srgbClr val="40458B"/>
                </a:solidFill>
                <a:latin typeface="Tahoma"/>
                <a:cs typeface="Tahoma"/>
              </a:rPr>
              <a:t>1</a:t>
            </a:r>
            <a:r>
              <a:rPr dirty="0" sz="3200">
                <a:solidFill>
                  <a:srgbClr val="40458B"/>
                </a:solidFill>
                <a:latin typeface="Tahoma"/>
                <a:cs typeface="Tahoma"/>
              </a:rPr>
              <a:t>	</a:t>
            </a:r>
            <a:r>
              <a:rPr dirty="0" baseline="1736" sz="4800" spc="-75">
                <a:solidFill>
                  <a:srgbClr val="40458B"/>
                </a:solidFill>
                <a:latin typeface="Tahoma"/>
                <a:cs typeface="Tahoma"/>
              </a:rPr>
              <a:t>0</a:t>
            </a:r>
            <a:endParaRPr baseline="1736" sz="4800">
              <a:latin typeface="Tahoma"/>
              <a:cs typeface="Tahoma"/>
            </a:endParaRPr>
          </a:p>
        </p:txBody>
      </p:sp>
      <p:grpSp>
        <p:nvGrpSpPr>
          <p:cNvPr id="21" name="object 21" descr=""/>
          <p:cNvGrpSpPr/>
          <p:nvPr/>
        </p:nvGrpSpPr>
        <p:grpSpPr>
          <a:xfrm>
            <a:off x="7509458" y="5805830"/>
            <a:ext cx="374015" cy="488315"/>
            <a:chOff x="7509458" y="5805830"/>
            <a:chExt cx="374015" cy="488315"/>
          </a:xfrm>
        </p:grpSpPr>
        <p:sp>
          <p:nvSpPr>
            <p:cNvPr id="22" name="object 22" descr=""/>
            <p:cNvSpPr/>
            <p:nvPr/>
          </p:nvSpPr>
          <p:spPr>
            <a:xfrm>
              <a:off x="7514221" y="5810593"/>
              <a:ext cx="364490" cy="478790"/>
            </a:xfrm>
            <a:custGeom>
              <a:avLst/>
              <a:gdLst/>
              <a:ahLst/>
              <a:cxnLst/>
              <a:rect l="l" t="t" r="r" b="b"/>
              <a:pathLst>
                <a:path w="364490" h="478789">
                  <a:moveTo>
                    <a:pt x="278372" y="0"/>
                  </a:moveTo>
                  <a:lnTo>
                    <a:pt x="269609" y="29692"/>
                  </a:lnTo>
                  <a:lnTo>
                    <a:pt x="245298" y="28238"/>
                  </a:lnTo>
                  <a:lnTo>
                    <a:pt x="221237" y="28614"/>
                  </a:lnTo>
                  <a:lnTo>
                    <a:pt x="174486" y="34823"/>
                  </a:lnTo>
                  <a:lnTo>
                    <a:pt x="125573" y="50238"/>
                  </a:lnTo>
                  <a:lnTo>
                    <a:pt x="83748" y="73206"/>
                  </a:lnTo>
                  <a:lnTo>
                    <a:pt x="49644" y="102627"/>
                  </a:lnTo>
                  <a:lnTo>
                    <a:pt x="23895" y="137402"/>
                  </a:lnTo>
                  <a:lnTo>
                    <a:pt x="7136" y="176434"/>
                  </a:lnTo>
                  <a:lnTo>
                    <a:pt x="0" y="218623"/>
                  </a:lnTo>
                  <a:lnTo>
                    <a:pt x="3120" y="262870"/>
                  </a:lnTo>
                  <a:lnTo>
                    <a:pt x="17133" y="308076"/>
                  </a:lnTo>
                  <a:lnTo>
                    <a:pt x="38225" y="346537"/>
                  </a:lnTo>
                  <a:lnTo>
                    <a:pt x="65968" y="381033"/>
                  </a:lnTo>
                  <a:lnTo>
                    <a:pt x="99382" y="411100"/>
                  </a:lnTo>
                  <a:lnTo>
                    <a:pt x="137486" y="436274"/>
                  </a:lnTo>
                  <a:lnTo>
                    <a:pt x="179302" y="456090"/>
                  </a:lnTo>
                  <a:lnTo>
                    <a:pt x="223851" y="470084"/>
                  </a:lnTo>
                  <a:lnTo>
                    <a:pt x="270152" y="477791"/>
                  </a:lnTo>
                  <a:lnTo>
                    <a:pt x="317227" y="478748"/>
                  </a:lnTo>
                  <a:lnTo>
                    <a:pt x="364097" y="472490"/>
                  </a:lnTo>
                  <a:lnTo>
                    <a:pt x="338570" y="413435"/>
                  </a:lnTo>
                  <a:lnTo>
                    <a:pt x="325999" y="415023"/>
                  </a:lnTo>
                  <a:lnTo>
                    <a:pt x="313249" y="415955"/>
                  </a:lnTo>
                  <a:lnTo>
                    <a:pt x="239603" y="408968"/>
                  </a:lnTo>
                  <a:lnTo>
                    <a:pt x="194949" y="394395"/>
                  </a:lnTo>
                  <a:lnTo>
                    <a:pt x="154637" y="373157"/>
                  </a:lnTo>
                  <a:lnTo>
                    <a:pt x="120008" y="346295"/>
                  </a:lnTo>
                  <a:lnTo>
                    <a:pt x="92402" y="314850"/>
                  </a:lnTo>
                  <a:lnTo>
                    <a:pt x="73157" y="279865"/>
                  </a:lnTo>
                  <a:lnTo>
                    <a:pt x="63615" y="242379"/>
                  </a:lnTo>
                  <a:lnTo>
                    <a:pt x="66195" y="199672"/>
                  </a:lnTo>
                  <a:lnTo>
                    <a:pt x="82646" y="162069"/>
                  </a:lnTo>
                  <a:lnTo>
                    <a:pt x="111176" y="131010"/>
                  </a:lnTo>
                  <a:lnTo>
                    <a:pt x="149993" y="107932"/>
                  </a:lnTo>
                  <a:lnTo>
                    <a:pt x="197306" y="94275"/>
                  </a:lnTo>
                  <a:lnTo>
                    <a:pt x="251321" y="91478"/>
                  </a:lnTo>
                  <a:lnTo>
                    <a:pt x="242685" y="121056"/>
                  </a:lnTo>
                  <a:lnTo>
                    <a:pt x="322822" y="72072"/>
                  </a:lnTo>
                  <a:lnTo>
                    <a:pt x="278372" y="0"/>
                  </a:lnTo>
                  <a:close/>
                </a:path>
              </a:pathLst>
            </a:custGeom>
            <a:solidFill>
              <a:srgbClr val="EBD782"/>
            </a:solidFill>
          </p:spPr>
          <p:txBody>
            <a:bodyPr wrap="square" lIns="0" tIns="0" rIns="0" bIns="0" rtlCol="0"/>
            <a:lstStyle/>
            <a:p/>
          </p:txBody>
        </p:sp>
        <p:sp>
          <p:nvSpPr>
            <p:cNvPr id="23" name="object 23" descr=""/>
            <p:cNvSpPr/>
            <p:nvPr/>
          </p:nvSpPr>
          <p:spPr>
            <a:xfrm>
              <a:off x="7514221" y="5810593"/>
              <a:ext cx="364490" cy="478790"/>
            </a:xfrm>
            <a:custGeom>
              <a:avLst/>
              <a:gdLst/>
              <a:ahLst/>
              <a:cxnLst/>
              <a:rect l="l" t="t" r="r" b="b"/>
              <a:pathLst>
                <a:path w="364490" h="478789">
                  <a:moveTo>
                    <a:pt x="364097" y="472490"/>
                  </a:moveTo>
                  <a:lnTo>
                    <a:pt x="317227" y="478748"/>
                  </a:lnTo>
                  <a:lnTo>
                    <a:pt x="270152" y="477791"/>
                  </a:lnTo>
                  <a:lnTo>
                    <a:pt x="223851" y="470084"/>
                  </a:lnTo>
                  <a:lnTo>
                    <a:pt x="179302" y="456090"/>
                  </a:lnTo>
                  <a:lnTo>
                    <a:pt x="137486" y="436274"/>
                  </a:lnTo>
                  <a:lnTo>
                    <a:pt x="99382" y="411100"/>
                  </a:lnTo>
                  <a:lnTo>
                    <a:pt x="65968" y="381033"/>
                  </a:lnTo>
                  <a:lnTo>
                    <a:pt x="38225" y="346537"/>
                  </a:lnTo>
                  <a:lnTo>
                    <a:pt x="17133" y="308076"/>
                  </a:lnTo>
                  <a:lnTo>
                    <a:pt x="3120" y="262870"/>
                  </a:lnTo>
                  <a:lnTo>
                    <a:pt x="0" y="218623"/>
                  </a:lnTo>
                  <a:lnTo>
                    <a:pt x="7136" y="176434"/>
                  </a:lnTo>
                  <a:lnTo>
                    <a:pt x="23895" y="137402"/>
                  </a:lnTo>
                  <a:lnTo>
                    <a:pt x="49644" y="102627"/>
                  </a:lnTo>
                  <a:lnTo>
                    <a:pt x="83748" y="73206"/>
                  </a:lnTo>
                  <a:lnTo>
                    <a:pt x="125573" y="50238"/>
                  </a:lnTo>
                  <a:lnTo>
                    <a:pt x="174486" y="34823"/>
                  </a:lnTo>
                  <a:lnTo>
                    <a:pt x="221237" y="28614"/>
                  </a:lnTo>
                  <a:lnTo>
                    <a:pt x="245298" y="28238"/>
                  </a:lnTo>
                  <a:lnTo>
                    <a:pt x="269609" y="29692"/>
                  </a:lnTo>
                  <a:lnTo>
                    <a:pt x="278372" y="0"/>
                  </a:lnTo>
                  <a:lnTo>
                    <a:pt x="322822" y="72072"/>
                  </a:lnTo>
                  <a:lnTo>
                    <a:pt x="242685" y="121056"/>
                  </a:lnTo>
                  <a:lnTo>
                    <a:pt x="251321" y="91478"/>
                  </a:lnTo>
                  <a:lnTo>
                    <a:pt x="197306" y="94275"/>
                  </a:lnTo>
                  <a:lnTo>
                    <a:pt x="149993" y="107932"/>
                  </a:lnTo>
                  <a:lnTo>
                    <a:pt x="111176" y="131010"/>
                  </a:lnTo>
                  <a:lnTo>
                    <a:pt x="82646" y="162069"/>
                  </a:lnTo>
                  <a:lnTo>
                    <a:pt x="66195" y="199672"/>
                  </a:lnTo>
                  <a:lnTo>
                    <a:pt x="63615" y="242379"/>
                  </a:lnTo>
                  <a:lnTo>
                    <a:pt x="73157" y="279865"/>
                  </a:lnTo>
                  <a:lnTo>
                    <a:pt x="92402" y="314850"/>
                  </a:lnTo>
                  <a:lnTo>
                    <a:pt x="120008" y="346295"/>
                  </a:lnTo>
                  <a:lnTo>
                    <a:pt x="154637" y="373157"/>
                  </a:lnTo>
                  <a:lnTo>
                    <a:pt x="194949" y="394395"/>
                  </a:lnTo>
                  <a:lnTo>
                    <a:pt x="239603" y="408968"/>
                  </a:lnTo>
                  <a:lnTo>
                    <a:pt x="287262" y="415836"/>
                  </a:lnTo>
                  <a:lnTo>
                    <a:pt x="300333" y="416227"/>
                  </a:lnTo>
                  <a:lnTo>
                    <a:pt x="313249" y="415955"/>
                  </a:lnTo>
                  <a:lnTo>
                    <a:pt x="325999" y="415023"/>
                  </a:lnTo>
                  <a:lnTo>
                    <a:pt x="338570" y="413435"/>
                  </a:lnTo>
                  <a:lnTo>
                    <a:pt x="364097" y="472490"/>
                  </a:lnTo>
                  <a:close/>
                </a:path>
              </a:pathLst>
            </a:custGeom>
            <a:ln w="9525">
              <a:solidFill>
                <a:srgbClr val="40458B"/>
              </a:solidFill>
            </a:ln>
          </p:spPr>
          <p:txBody>
            <a:bodyPr wrap="square" lIns="0" tIns="0" rIns="0" bIns="0" rtlCol="0"/>
            <a:lstStyle/>
            <a:p/>
          </p:txBody>
        </p:sp>
      </p:grpSp>
      <p:grpSp>
        <p:nvGrpSpPr>
          <p:cNvPr id="24" name="object 24" descr=""/>
          <p:cNvGrpSpPr/>
          <p:nvPr/>
        </p:nvGrpSpPr>
        <p:grpSpPr>
          <a:xfrm>
            <a:off x="11398440" y="5828195"/>
            <a:ext cx="356235" cy="490220"/>
            <a:chOff x="11398440" y="5828195"/>
            <a:chExt cx="356235" cy="490220"/>
          </a:xfrm>
        </p:grpSpPr>
        <p:sp>
          <p:nvSpPr>
            <p:cNvPr id="25" name="object 25" descr=""/>
            <p:cNvSpPr/>
            <p:nvPr/>
          </p:nvSpPr>
          <p:spPr>
            <a:xfrm>
              <a:off x="11403203" y="5832957"/>
              <a:ext cx="346710" cy="480695"/>
            </a:xfrm>
            <a:custGeom>
              <a:avLst/>
              <a:gdLst/>
              <a:ahLst/>
              <a:cxnLst/>
              <a:rect l="l" t="t" r="r" b="b"/>
              <a:pathLst>
                <a:path w="346709" h="480695">
                  <a:moveTo>
                    <a:pt x="22605" y="0"/>
                  </a:moveTo>
                  <a:lnTo>
                    <a:pt x="38480" y="62382"/>
                  </a:lnTo>
                  <a:lnTo>
                    <a:pt x="51119" y="62838"/>
                  </a:lnTo>
                  <a:lnTo>
                    <a:pt x="63865" y="63974"/>
                  </a:lnTo>
                  <a:lnTo>
                    <a:pt x="135620" y="82712"/>
                  </a:lnTo>
                  <a:lnTo>
                    <a:pt x="177522" y="104287"/>
                  </a:lnTo>
                  <a:lnTo>
                    <a:pt x="214075" y="131744"/>
                  </a:lnTo>
                  <a:lnTo>
                    <a:pt x="244112" y="163839"/>
                  </a:lnTo>
                  <a:lnTo>
                    <a:pt x="266466" y="199328"/>
                  </a:lnTo>
                  <a:lnTo>
                    <a:pt x="279972" y="236967"/>
                  </a:lnTo>
                  <a:lnTo>
                    <a:pt x="283464" y="275513"/>
                  </a:lnTo>
                  <a:lnTo>
                    <a:pt x="274166" y="317275"/>
                  </a:lnTo>
                  <a:lnTo>
                    <a:pt x="251925" y="351762"/>
                  </a:lnTo>
                  <a:lnTo>
                    <a:pt x="218741" y="377842"/>
                  </a:lnTo>
                  <a:lnTo>
                    <a:pt x="176614" y="394383"/>
                  </a:lnTo>
                  <a:lnTo>
                    <a:pt x="127545" y="400254"/>
                  </a:lnTo>
                  <a:lnTo>
                    <a:pt x="73532" y="394322"/>
                  </a:lnTo>
                  <a:lnTo>
                    <a:pt x="86868" y="366483"/>
                  </a:lnTo>
                  <a:lnTo>
                    <a:pt x="0" y="402107"/>
                  </a:lnTo>
                  <a:lnTo>
                    <a:pt x="32512" y="480352"/>
                  </a:lnTo>
                  <a:lnTo>
                    <a:pt x="45847" y="452412"/>
                  </a:lnTo>
                  <a:lnTo>
                    <a:pt x="69562" y="457734"/>
                  </a:lnTo>
                  <a:lnTo>
                    <a:pt x="93360" y="461213"/>
                  </a:lnTo>
                  <a:lnTo>
                    <a:pt x="117088" y="462834"/>
                  </a:lnTo>
                  <a:lnTo>
                    <a:pt x="140589" y="462584"/>
                  </a:lnTo>
                  <a:lnTo>
                    <a:pt x="191437" y="455229"/>
                  </a:lnTo>
                  <a:lnTo>
                    <a:pt x="236481" y="439278"/>
                  </a:lnTo>
                  <a:lnTo>
                    <a:pt x="274918" y="415713"/>
                  </a:lnTo>
                  <a:lnTo>
                    <a:pt x="305942" y="385519"/>
                  </a:lnTo>
                  <a:lnTo>
                    <a:pt x="328752" y="349678"/>
                  </a:lnTo>
                  <a:lnTo>
                    <a:pt x="342542" y="309174"/>
                  </a:lnTo>
                  <a:lnTo>
                    <a:pt x="346510" y="264990"/>
                  </a:lnTo>
                  <a:lnTo>
                    <a:pt x="339851" y="218109"/>
                  </a:lnTo>
                  <a:lnTo>
                    <a:pt x="325105" y="176744"/>
                  </a:lnTo>
                  <a:lnTo>
                    <a:pt x="303137" y="138224"/>
                  </a:lnTo>
                  <a:lnTo>
                    <a:pt x="274846" y="103165"/>
                  </a:lnTo>
                  <a:lnTo>
                    <a:pt x="241131" y="72184"/>
                  </a:lnTo>
                  <a:lnTo>
                    <a:pt x="202888" y="45896"/>
                  </a:lnTo>
                  <a:lnTo>
                    <a:pt x="161017" y="24918"/>
                  </a:lnTo>
                  <a:lnTo>
                    <a:pt x="116414" y="9865"/>
                  </a:lnTo>
                  <a:lnTo>
                    <a:pt x="69977" y="1354"/>
                  </a:lnTo>
                  <a:lnTo>
                    <a:pt x="22605" y="0"/>
                  </a:lnTo>
                  <a:close/>
                </a:path>
              </a:pathLst>
            </a:custGeom>
            <a:solidFill>
              <a:srgbClr val="EBD782"/>
            </a:solidFill>
          </p:spPr>
          <p:txBody>
            <a:bodyPr wrap="square" lIns="0" tIns="0" rIns="0" bIns="0" rtlCol="0"/>
            <a:lstStyle/>
            <a:p/>
          </p:txBody>
        </p:sp>
        <p:sp>
          <p:nvSpPr>
            <p:cNvPr id="26" name="object 26" descr=""/>
            <p:cNvSpPr/>
            <p:nvPr/>
          </p:nvSpPr>
          <p:spPr>
            <a:xfrm>
              <a:off x="11403203" y="5832957"/>
              <a:ext cx="346710" cy="480695"/>
            </a:xfrm>
            <a:custGeom>
              <a:avLst/>
              <a:gdLst/>
              <a:ahLst/>
              <a:cxnLst/>
              <a:rect l="l" t="t" r="r" b="b"/>
              <a:pathLst>
                <a:path w="346709" h="480695">
                  <a:moveTo>
                    <a:pt x="22605" y="0"/>
                  </a:moveTo>
                  <a:lnTo>
                    <a:pt x="69977" y="1354"/>
                  </a:lnTo>
                  <a:lnTo>
                    <a:pt x="116414" y="9865"/>
                  </a:lnTo>
                  <a:lnTo>
                    <a:pt x="161017" y="24918"/>
                  </a:lnTo>
                  <a:lnTo>
                    <a:pt x="202888" y="45896"/>
                  </a:lnTo>
                  <a:lnTo>
                    <a:pt x="241131" y="72184"/>
                  </a:lnTo>
                  <a:lnTo>
                    <a:pt x="274846" y="103165"/>
                  </a:lnTo>
                  <a:lnTo>
                    <a:pt x="303137" y="138224"/>
                  </a:lnTo>
                  <a:lnTo>
                    <a:pt x="325105" y="176744"/>
                  </a:lnTo>
                  <a:lnTo>
                    <a:pt x="339851" y="218109"/>
                  </a:lnTo>
                  <a:lnTo>
                    <a:pt x="346510" y="264990"/>
                  </a:lnTo>
                  <a:lnTo>
                    <a:pt x="342542" y="309174"/>
                  </a:lnTo>
                  <a:lnTo>
                    <a:pt x="328752" y="349678"/>
                  </a:lnTo>
                  <a:lnTo>
                    <a:pt x="305942" y="385519"/>
                  </a:lnTo>
                  <a:lnTo>
                    <a:pt x="274918" y="415713"/>
                  </a:lnTo>
                  <a:lnTo>
                    <a:pt x="236481" y="439278"/>
                  </a:lnTo>
                  <a:lnTo>
                    <a:pt x="191437" y="455229"/>
                  </a:lnTo>
                  <a:lnTo>
                    <a:pt x="140589" y="462584"/>
                  </a:lnTo>
                  <a:lnTo>
                    <a:pt x="117088" y="462834"/>
                  </a:lnTo>
                  <a:lnTo>
                    <a:pt x="93360" y="461213"/>
                  </a:lnTo>
                  <a:lnTo>
                    <a:pt x="69562" y="457734"/>
                  </a:lnTo>
                  <a:lnTo>
                    <a:pt x="45847" y="452412"/>
                  </a:lnTo>
                  <a:lnTo>
                    <a:pt x="32512" y="480352"/>
                  </a:lnTo>
                  <a:lnTo>
                    <a:pt x="0" y="402107"/>
                  </a:lnTo>
                  <a:lnTo>
                    <a:pt x="86868" y="366483"/>
                  </a:lnTo>
                  <a:lnTo>
                    <a:pt x="73532" y="394322"/>
                  </a:lnTo>
                  <a:lnTo>
                    <a:pt x="127545" y="400254"/>
                  </a:lnTo>
                  <a:lnTo>
                    <a:pt x="176614" y="394383"/>
                  </a:lnTo>
                  <a:lnTo>
                    <a:pt x="218741" y="377842"/>
                  </a:lnTo>
                  <a:lnTo>
                    <a:pt x="251925" y="351762"/>
                  </a:lnTo>
                  <a:lnTo>
                    <a:pt x="274166" y="317275"/>
                  </a:lnTo>
                  <a:lnTo>
                    <a:pt x="283464" y="275513"/>
                  </a:lnTo>
                  <a:lnTo>
                    <a:pt x="279972" y="236967"/>
                  </a:lnTo>
                  <a:lnTo>
                    <a:pt x="266466" y="199328"/>
                  </a:lnTo>
                  <a:lnTo>
                    <a:pt x="244112" y="163839"/>
                  </a:lnTo>
                  <a:lnTo>
                    <a:pt x="214075" y="131744"/>
                  </a:lnTo>
                  <a:lnTo>
                    <a:pt x="177522" y="104287"/>
                  </a:lnTo>
                  <a:lnTo>
                    <a:pt x="135620" y="82712"/>
                  </a:lnTo>
                  <a:lnTo>
                    <a:pt x="89535" y="68262"/>
                  </a:lnTo>
                  <a:lnTo>
                    <a:pt x="51119" y="62838"/>
                  </a:lnTo>
                  <a:lnTo>
                    <a:pt x="38480" y="62382"/>
                  </a:lnTo>
                  <a:lnTo>
                    <a:pt x="22605" y="0"/>
                  </a:lnTo>
                  <a:close/>
                </a:path>
              </a:pathLst>
            </a:custGeom>
            <a:ln w="9525">
              <a:solidFill>
                <a:srgbClr val="40458B"/>
              </a:solidFill>
            </a:ln>
          </p:spPr>
          <p:txBody>
            <a:bodyPr wrap="square" lIns="0" tIns="0" rIns="0" bIns="0" rtlCol="0"/>
            <a:lstStyle/>
            <a:p/>
          </p:txBody>
        </p:sp>
      </p:grpSp>
      <p:sp>
        <p:nvSpPr>
          <p:cNvPr id="27" name="object 27" descr=""/>
          <p:cNvSpPr txBox="1"/>
          <p:nvPr/>
        </p:nvSpPr>
        <p:spPr>
          <a:xfrm>
            <a:off x="6793738" y="5926937"/>
            <a:ext cx="638175" cy="391160"/>
          </a:xfrm>
          <a:prstGeom prst="rect">
            <a:avLst/>
          </a:prstGeom>
        </p:spPr>
        <p:txBody>
          <a:bodyPr wrap="square" lIns="0" tIns="12700" rIns="0" bIns="0" rtlCol="0" vert="horz">
            <a:spAutoFit/>
          </a:bodyPr>
          <a:lstStyle/>
          <a:p>
            <a:pPr marL="12700">
              <a:lnSpc>
                <a:spcPct val="100000"/>
              </a:lnSpc>
              <a:spcBef>
                <a:spcPts val="100"/>
              </a:spcBef>
            </a:pPr>
            <a:r>
              <a:rPr dirty="0" sz="2400" spc="-35" b="1">
                <a:solidFill>
                  <a:srgbClr val="9966FF"/>
                </a:solidFill>
                <a:latin typeface="宋体"/>
                <a:cs typeface="宋体"/>
              </a:rPr>
              <a:t>成功</a:t>
            </a:r>
            <a:endParaRPr sz="2400">
              <a:latin typeface="宋体"/>
              <a:cs typeface="宋体"/>
            </a:endParaRPr>
          </a:p>
        </p:txBody>
      </p:sp>
      <p:sp>
        <p:nvSpPr>
          <p:cNvPr id="28" name="object 28" descr=""/>
          <p:cNvSpPr txBox="1"/>
          <p:nvPr/>
        </p:nvSpPr>
        <p:spPr>
          <a:xfrm>
            <a:off x="9434321" y="6225336"/>
            <a:ext cx="638175" cy="391160"/>
          </a:xfrm>
          <a:prstGeom prst="rect">
            <a:avLst/>
          </a:prstGeom>
        </p:spPr>
        <p:txBody>
          <a:bodyPr wrap="square" lIns="0" tIns="12700" rIns="0" bIns="0" rtlCol="0" vert="horz">
            <a:spAutoFit/>
          </a:bodyPr>
          <a:lstStyle/>
          <a:p>
            <a:pPr marL="12700">
              <a:lnSpc>
                <a:spcPct val="100000"/>
              </a:lnSpc>
              <a:spcBef>
                <a:spcPts val="100"/>
              </a:spcBef>
            </a:pPr>
            <a:r>
              <a:rPr dirty="0" sz="2400" spc="-35" b="1">
                <a:solidFill>
                  <a:srgbClr val="9966FF"/>
                </a:solidFill>
                <a:latin typeface="宋体"/>
                <a:cs typeface="宋体"/>
              </a:rPr>
              <a:t>成功</a:t>
            </a:r>
            <a:endParaRPr sz="2400">
              <a:latin typeface="宋体"/>
              <a:cs typeface="宋体"/>
            </a:endParaRPr>
          </a:p>
        </p:txBody>
      </p:sp>
      <p:sp>
        <p:nvSpPr>
          <p:cNvPr id="29" name="object 29" descr=""/>
          <p:cNvSpPr txBox="1"/>
          <p:nvPr/>
        </p:nvSpPr>
        <p:spPr>
          <a:xfrm>
            <a:off x="9229470" y="5417311"/>
            <a:ext cx="944880" cy="391160"/>
          </a:xfrm>
          <a:prstGeom prst="rect">
            <a:avLst/>
          </a:prstGeom>
        </p:spPr>
        <p:txBody>
          <a:bodyPr wrap="square" lIns="0" tIns="12700" rIns="0" bIns="0" rtlCol="0" vert="horz">
            <a:spAutoFit/>
          </a:bodyPr>
          <a:lstStyle/>
          <a:p>
            <a:pPr marL="12700">
              <a:lnSpc>
                <a:spcPct val="100000"/>
              </a:lnSpc>
              <a:spcBef>
                <a:spcPts val="100"/>
              </a:spcBef>
            </a:pPr>
            <a:r>
              <a:rPr dirty="0" sz="2400" spc="-35" b="1">
                <a:solidFill>
                  <a:srgbClr val="9966FF"/>
                </a:solidFill>
                <a:latin typeface="宋体"/>
                <a:cs typeface="宋体"/>
              </a:rPr>
              <a:t>不成功</a:t>
            </a:r>
            <a:endParaRPr sz="2400">
              <a:latin typeface="宋体"/>
              <a:cs typeface="宋体"/>
            </a:endParaRPr>
          </a:p>
        </p:txBody>
      </p:sp>
      <p:sp>
        <p:nvSpPr>
          <p:cNvPr id="30" name="object 30" descr=""/>
          <p:cNvSpPr txBox="1"/>
          <p:nvPr/>
        </p:nvSpPr>
        <p:spPr>
          <a:xfrm>
            <a:off x="11293602" y="5360009"/>
            <a:ext cx="944880" cy="391160"/>
          </a:xfrm>
          <a:prstGeom prst="rect">
            <a:avLst/>
          </a:prstGeom>
        </p:spPr>
        <p:txBody>
          <a:bodyPr wrap="square" lIns="0" tIns="12700" rIns="0" bIns="0" rtlCol="0" vert="horz">
            <a:spAutoFit/>
          </a:bodyPr>
          <a:lstStyle/>
          <a:p>
            <a:pPr marL="12700">
              <a:lnSpc>
                <a:spcPct val="100000"/>
              </a:lnSpc>
              <a:spcBef>
                <a:spcPts val="100"/>
              </a:spcBef>
            </a:pPr>
            <a:r>
              <a:rPr dirty="0" sz="2400" spc="-35" b="1">
                <a:solidFill>
                  <a:srgbClr val="9966FF"/>
                </a:solidFill>
                <a:latin typeface="宋体"/>
                <a:cs typeface="宋体"/>
              </a:rPr>
              <a:t>不成功</a:t>
            </a:r>
            <a:endParaRPr sz="2400">
              <a:latin typeface="宋体"/>
              <a:cs typeface="宋体"/>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124/175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descr=""/>
          <p:cNvSpPr/>
          <p:nvPr/>
        </p:nvSpPr>
        <p:spPr>
          <a:xfrm>
            <a:off x="2667000" y="3435350"/>
            <a:ext cx="7518400" cy="2736850"/>
          </a:xfrm>
          <a:custGeom>
            <a:avLst/>
            <a:gdLst/>
            <a:ahLst/>
            <a:cxnLst/>
            <a:rect l="l" t="t" r="r" b="b"/>
            <a:pathLst>
              <a:path w="7518400" h="2736850">
                <a:moveTo>
                  <a:pt x="7518400" y="0"/>
                </a:moveTo>
                <a:lnTo>
                  <a:pt x="0" y="0"/>
                </a:lnTo>
                <a:lnTo>
                  <a:pt x="0" y="2736850"/>
                </a:lnTo>
                <a:lnTo>
                  <a:pt x="7518400" y="2736850"/>
                </a:lnTo>
                <a:lnTo>
                  <a:pt x="7518400" y="0"/>
                </a:lnTo>
                <a:close/>
              </a:path>
            </a:pathLst>
          </a:custGeom>
          <a:solidFill>
            <a:srgbClr val="EAEAEA"/>
          </a:solidFill>
        </p:spPr>
        <p:txBody>
          <a:bodyPr wrap="square" lIns="0" tIns="0" rIns="0" bIns="0" rtlCol="0"/>
          <a:lstStyle/>
          <a:p/>
        </p:txBody>
      </p:sp>
      <p:sp>
        <p:nvSpPr>
          <p:cNvPr id="10" name="object 10"/>
          <p:cNvSpPr txBox="1">
            <a:spLocks noGrp="1"/>
          </p:cNvSpPr>
          <p:nvPr>
            <p:ph type="title"/>
          </p:nvPr>
        </p:nvSpPr>
        <p:spPr>
          <a:xfrm>
            <a:off x="1358264" y="151587"/>
            <a:ext cx="4090670" cy="514350"/>
          </a:xfrm>
          <a:prstGeom prst="rect"/>
        </p:spPr>
        <p:txBody>
          <a:bodyPr wrap="square" lIns="0" tIns="13335" rIns="0" bIns="0" rtlCol="0" vert="horz">
            <a:spAutoFit/>
          </a:bodyPr>
          <a:lstStyle/>
          <a:p>
            <a:pPr marL="12700">
              <a:lnSpc>
                <a:spcPct val="100000"/>
              </a:lnSpc>
              <a:spcBef>
                <a:spcPts val="105"/>
              </a:spcBef>
            </a:pPr>
            <a:r>
              <a:rPr dirty="0"/>
              <a:t>5.4</a:t>
            </a:r>
            <a:r>
              <a:rPr dirty="0" spc="-25"/>
              <a:t> 动态分支预测技术</a:t>
            </a:r>
          </a:p>
        </p:txBody>
      </p:sp>
      <p:sp>
        <p:nvSpPr>
          <p:cNvPr id="11" name="object 11" descr=""/>
          <p:cNvSpPr txBox="1"/>
          <p:nvPr/>
        </p:nvSpPr>
        <p:spPr>
          <a:xfrm>
            <a:off x="450291" y="732846"/>
            <a:ext cx="9458325" cy="1408430"/>
          </a:xfrm>
          <a:prstGeom prst="rect">
            <a:avLst/>
          </a:prstGeom>
        </p:spPr>
        <p:txBody>
          <a:bodyPr wrap="square" lIns="0" tIns="167640" rIns="0" bIns="0" rtlCol="0" vert="horz">
            <a:spAutoFit/>
          </a:bodyPr>
          <a:lstStyle/>
          <a:p>
            <a:pPr marL="12700">
              <a:lnSpc>
                <a:spcPct val="100000"/>
              </a:lnSpc>
              <a:spcBef>
                <a:spcPts val="1320"/>
              </a:spcBef>
            </a:pPr>
            <a:r>
              <a:rPr dirty="0" sz="2400" spc="-5">
                <a:solidFill>
                  <a:srgbClr val="001F5F"/>
                </a:solidFill>
                <a:latin typeface="黑体"/>
                <a:cs typeface="黑体"/>
              </a:rPr>
              <a:t>采用两位二进制位来记录历史</a:t>
            </a:r>
            <a:endParaRPr sz="2400">
              <a:latin typeface="黑体"/>
              <a:cs typeface="黑体"/>
            </a:endParaRPr>
          </a:p>
          <a:p>
            <a:pPr marL="1004569" indent="-457200">
              <a:lnSpc>
                <a:spcPct val="100000"/>
              </a:lnSpc>
              <a:spcBef>
                <a:spcPts val="1025"/>
              </a:spcBef>
              <a:buClr>
                <a:srgbClr val="4668F5"/>
              </a:buClr>
              <a:buSzPct val="70000"/>
              <a:buFont typeface="Wingdings"/>
              <a:buChar char=""/>
              <a:tabLst>
                <a:tab pos="1004569" algn="l"/>
              </a:tabLst>
            </a:pPr>
            <a:r>
              <a:rPr dirty="0" sz="2000" spc="-15" b="1">
                <a:solidFill>
                  <a:srgbClr val="FF5CFF"/>
                </a:solidFill>
                <a:latin typeface="宋体"/>
                <a:cs typeface="宋体"/>
              </a:rPr>
              <a:t>可提高预测的准确度</a:t>
            </a:r>
            <a:endParaRPr sz="2000">
              <a:latin typeface="宋体"/>
              <a:cs typeface="宋体"/>
            </a:endParaRPr>
          </a:p>
          <a:p>
            <a:pPr marL="1004569" indent="-457200">
              <a:lnSpc>
                <a:spcPct val="100000"/>
              </a:lnSpc>
              <a:spcBef>
                <a:spcPts val="960"/>
              </a:spcBef>
              <a:buClr>
                <a:srgbClr val="4668F5"/>
              </a:buClr>
              <a:buSzPct val="70000"/>
              <a:buFont typeface="Wingdings"/>
              <a:buChar char=""/>
              <a:tabLst>
                <a:tab pos="1004569" algn="l"/>
              </a:tabLst>
            </a:pPr>
            <a:r>
              <a:rPr dirty="0" sz="2000" spc="-10" b="1">
                <a:solidFill>
                  <a:srgbClr val="D50092"/>
                </a:solidFill>
                <a:latin typeface="宋体"/>
                <a:cs typeface="宋体"/>
              </a:rPr>
              <a:t>研究结果表明：</a:t>
            </a:r>
            <a:r>
              <a:rPr dirty="0" sz="2000" spc="-20" b="1">
                <a:solidFill>
                  <a:srgbClr val="FF5CFF"/>
                </a:solidFill>
                <a:latin typeface="宋体"/>
                <a:cs typeface="宋体"/>
              </a:rPr>
              <a:t>两位分支预测的性能与</a:t>
            </a:r>
            <a:r>
              <a:rPr dirty="0" sz="2000" spc="-15" b="1">
                <a:solidFill>
                  <a:srgbClr val="9933FF"/>
                </a:solidFill>
                <a:latin typeface="宋体"/>
                <a:cs typeface="宋体"/>
              </a:rPr>
              <a:t>n</a:t>
            </a:r>
            <a:r>
              <a:rPr dirty="0" sz="2000" spc="-10" b="1">
                <a:solidFill>
                  <a:srgbClr val="FF5CFF"/>
                </a:solidFill>
                <a:latin typeface="宋体"/>
                <a:cs typeface="宋体"/>
              </a:rPr>
              <a:t>位（n&gt;2）</a:t>
            </a:r>
            <a:r>
              <a:rPr dirty="0" sz="2000" spc="-25" b="1">
                <a:solidFill>
                  <a:srgbClr val="FF5CFF"/>
                </a:solidFill>
                <a:latin typeface="宋体"/>
                <a:cs typeface="宋体"/>
              </a:rPr>
              <a:t>分支预测的性能差不多。</a:t>
            </a:r>
            <a:endParaRPr sz="2000">
              <a:latin typeface="宋体"/>
              <a:cs typeface="宋体"/>
            </a:endParaRPr>
          </a:p>
        </p:txBody>
      </p:sp>
      <p:sp>
        <p:nvSpPr>
          <p:cNvPr id="12" name="object 12" descr=""/>
          <p:cNvSpPr txBox="1"/>
          <p:nvPr/>
        </p:nvSpPr>
        <p:spPr>
          <a:xfrm>
            <a:off x="942148" y="4901088"/>
            <a:ext cx="1763395" cy="364490"/>
          </a:xfrm>
          <a:prstGeom prst="rect">
            <a:avLst/>
          </a:prstGeom>
        </p:spPr>
        <p:txBody>
          <a:bodyPr wrap="square" lIns="0" tIns="15240" rIns="0" bIns="0" rtlCol="0" vert="horz">
            <a:spAutoFit/>
          </a:bodyPr>
          <a:lstStyle/>
          <a:p>
            <a:pPr marL="12700">
              <a:lnSpc>
                <a:spcPct val="100000"/>
              </a:lnSpc>
              <a:spcBef>
                <a:spcPts val="120"/>
              </a:spcBef>
            </a:pPr>
            <a:r>
              <a:rPr dirty="0" sz="2200" spc="505">
                <a:latin typeface="宋体"/>
                <a:cs typeface="宋体"/>
              </a:rPr>
              <a:t>预测分支：</a:t>
            </a:r>
            <a:endParaRPr sz="2200">
              <a:latin typeface="宋体"/>
              <a:cs typeface="宋体"/>
            </a:endParaRPr>
          </a:p>
        </p:txBody>
      </p:sp>
      <p:sp>
        <p:nvSpPr>
          <p:cNvPr id="13" name="object 13" descr=""/>
          <p:cNvSpPr txBox="1"/>
          <p:nvPr/>
        </p:nvSpPr>
        <p:spPr>
          <a:xfrm>
            <a:off x="1374204" y="5263420"/>
            <a:ext cx="724535" cy="364490"/>
          </a:xfrm>
          <a:prstGeom prst="rect">
            <a:avLst/>
          </a:prstGeom>
        </p:spPr>
        <p:txBody>
          <a:bodyPr wrap="square" lIns="0" tIns="15240" rIns="0" bIns="0" rtlCol="0" vert="horz">
            <a:spAutoFit/>
          </a:bodyPr>
          <a:lstStyle/>
          <a:p>
            <a:pPr marL="12700">
              <a:lnSpc>
                <a:spcPct val="100000"/>
              </a:lnSpc>
              <a:spcBef>
                <a:spcPts val="120"/>
              </a:spcBef>
            </a:pPr>
            <a:r>
              <a:rPr dirty="0" sz="2200" spc="509">
                <a:solidFill>
                  <a:srgbClr val="FF00FF"/>
                </a:solidFill>
                <a:latin typeface="宋体"/>
                <a:cs typeface="宋体"/>
              </a:rPr>
              <a:t>成功</a:t>
            </a:r>
            <a:endParaRPr sz="2200">
              <a:latin typeface="宋体"/>
              <a:cs typeface="宋体"/>
            </a:endParaRPr>
          </a:p>
        </p:txBody>
      </p:sp>
      <p:sp>
        <p:nvSpPr>
          <p:cNvPr id="14" name="object 14" descr=""/>
          <p:cNvSpPr txBox="1"/>
          <p:nvPr/>
        </p:nvSpPr>
        <p:spPr>
          <a:xfrm>
            <a:off x="942147" y="3371722"/>
            <a:ext cx="1763395" cy="364490"/>
          </a:xfrm>
          <a:prstGeom prst="rect">
            <a:avLst/>
          </a:prstGeom>
        </p:spPr>
        <p:txBody>
          <a:bodyPr wrap="square" lIns="0" tIns="15240" rIns="0" bIns="0" rtlCol="0" vert="horz">
            <a:spAutoFit/>
          </a:bodyPr>
          <a:lstStyle/>
          <a:p>
            <a:pPr marL="12700">
              <a:lnSpc>
                <a:spcPct val="100000"/>
              </a:lnSpc>
              <a:spcBef>
                <a:spcPts val="120"/>
              </a:spcBef>
            </a:pPr>
            <a:r>
              <a:rPr dirty="0" sz="2200" spc="505">
                <a:latin typeface="宋体"/>
                <a:cs typeface="宋体"/>
              </a:rPr>
              <a:t>预测分支：</a:t>
            </a:r>
            <a:endParaRPr sz="2200">
              <a:latin typeface="宋体"/>
              <a:cs typeface="宋体"/>
            </a:endParaRPr>
          </a:p>
        </p:txBody>
      </p:sp>
      <p:sp>
        <p:nvSpPr>
          <p:cNvPr id="15" name="object 15" descr=""/>
          <p:cNvSpPr txBox="1"/>
          <p:nvPr/>
        </p:nvSpPr>
        <p:spPr>
          <a:xfrm>
            <a:off x="1222343" y="3731743"/>
            <a:ext cx="1068705" cy="364490"/>
          </a:xfrm>
          <a:prstGeom prst="rect">
            <a:avLst/>
          </a:prstGeom>
        </p:spPr>
        <p:txBody>
          <a:bodyPr wrap="square" lIns="0" tIns="15240" rIns="0" bIns="0" rtlCol="0" vert="horz">
            <a:spAutoFit/>
          </a:bodyPr>
          <a:lstStyle/>
          <a:p>
            <a:pPr marL="12700">
              <a:lnSpc>
                <a:spcPct val="100000"/>
              </a:lnSpc>
              <a:spcBef>
                <a:spcPts val="120"/>
              </a:spcBef>
            </a:pPr>
            <a:r>
              <a:rPr dirty="0" sz="2200" spc="500">
                <a:solidFill>
                  <a:srgbClr val="FF00FF"/>
                </a:solidFill>
                <a:latin typeface="宋体"/>
                <a:cs typeface="宋体"/>
              </a:rPr>
              <a:t>不成功</a:t>
            </a:r>
            <a:endParaRPr sz="2200">
              <a:latin typeface="宋体"/>
              <a:cs typeface="宋体"/>
            </a:endParaRPr>
          </a:p>
        </p:txBody>
      </p:sp>
      <p:pic>
        <p:nvPicPr>
          <p:cNvPr id="16" name="object 16" descr=""/>
          <p:cNvPicPr/>
          <p:nvPr/>
        </p:nvPicPr>
        <p:blipFill>
          <a:blip r:embed="rId2" cstate="print"/>
          <a:stretch>
            <a:fillRect/>
          </a:stretch>
        </p:blipFill>
        <p:spPr>
          <a:xfrm>
            <a:off x="4019236" y="3227043"/>
            <a:ext cx="4460425" cy="2427633"/>
          </a:xfrm>
          <a:prstGeom prst="rect">
            <a:avLst/>
          </a:prstGeom>
        </p:spPr>
      </p:pic>
      <p:sp>
        <p:nvSpPr>
          <p:cNvPr id="17" name="object 17" descr=""/>
          <p:cNvSpPr txBox="1"/>
          <p:nvPr/>
        </p:nvSpPr>
        <p:spPr>
          <a:xfrm>
            <a:off x="4943437" y="3467354"/>
            <a:ext cx="372110" cy="364490"/>
          </a:xfrm>
          <a:prstGeom prst="rect">
            <a:avLst/>
          </a:prstGeom>
        </p:spPr>
        <p:txBody>
          <a:bodyPr wrap="square" lIns="0" tIns="15240" rIns="0" bIns="0" rtlCol="0" vert="horz">
            <a:spAutoFit/>
          </a:bodyPr>
          <a:lstStyle/>
          <a:p>
            <a:pPr marL="12700">
              <a:lnSpc>
                <a:spcPct val="100000"/>
              </a:lnSpc>
              <a:spcBef>
                <a:spcPts val="120"/>
              </a:spcBef>
            </a:pPr>
            <a:r>
              <a:rPr dirty="0" sz="2200" spc="225" b="1">
                <a:latin typeface="Times New Roman"/>
                <a:cs typeface="Times New Roman"/>
              </a:rPr>
              <a:t>00</a:t>
            </a:r>
            <a:endParaRPr sz="2200">
              <a:latin typeface="Times New Roman"/>
              <a:cs typeface="Times New Roman"/>
            </a:endParaRPr>
          </a:p>
        </p:txBody>
      </p:sp>
      <p:sp>
        <p:nvSpPr>
          <p:cNvPr id="18" name="object 18" descr=""/>
          <p:cNvSpPr txBox="1"/>
          <p:nvPr/>
        </p:nvSpPr>
        <p:spPr>
          <a:xfrm>
            <a:off x="7786665" y="3475993"/>
            <a:ext cx="372110" cy="364490"/>
          </a:xfrm>
          <a:prstGeom prst="rect">
            <a:avLst/>
          </a:prstGeom>
        </p:spPr>
        <p:txBody>
          <a:bodyPr wrap="square" lIns="0" tIns="15240" rIns="0" bIns="0" rtlCol="0" vert="horz">
            <a:spAutoFit/>
          </a:bodyPr>
          <a:lstStyle/>
          <a:p>
            <a:pPr marL="12700">
              <a:lnSpc>
                <a:spcPct val="100000"/>
              </a:lnSpc>
              <a:spcBef>
                <a:spcPts val="120"/>
              </a:spcBef>
            </a:pPr>
            <a:r>
              <a:rPr dirty="0" sz="2200" spc="225" b="1">
                <a:latin typeface="Times New Roman"/>
                <a:cs typeface="Times New Roman"/>
              </a:rPr>
              <a:t>01</a:t>
            </a:r>
            <a:endParaRPr sz="2200">
              <a:latin typeface="Times New Roman"/>
              <a:cs typeface="Times New Roman"/>
            </a:endParaRPr>
          </a:p>
        </p:txBody>
      </p:sp>
      <p:sp>
        <p:nvSpPr>
          <p:cNvPr id="19" name="object 19" descr=""/>
          <p:cNvSpPr txBox="1"/>
          <p:nvPr/>
        </p:nvSpPr>
        <p:spPr>
          <a:xfrm>
            <a:off x="5912287" y="3157904"/>
            <a:ext cx="1417320" cy="364490"/>
          </a:xfrm>
          <a:prstGeom prst="rect">
            <a:avLst/>
          </a:prstGeom>
        </p:spPr>
        <p:txBody>
          <a:bodyPr wrap="square" lIns="0" tIns="15240" rIns="0" bIns="0" rtlCol="0" vert="horz">
            <a:spAutoFit/>
          </a:bodyPr>
          <a:lstStyle/>
          <a:p>
            <a:pPr marL="12700">
              <a:lnSpc>
                <a:spcPct val="100000"/>
              </a:lnSpc>
              <a:spcBef>
                <a:spcPts val="120"/>
              </a:spcBef>
            </a:pPr>
            <a:r>
              <a:rPr dirty="0" sz="2200" spc="505">
                <a:solidFill>
                  <a:srgbClr val="800080"/>
                </a:solidFill>
                <a:latin typeface="宋体"/>
                <a:cs typeface="宋体"/>
              </a:rPr>
              <a:t>分支成功</a:t>
            </a:r>
            <a:endParaRPr sz="2200">
              <a:latin typeface="宋体"/>
              <a:cs typeface="宋体"/>
            </a:endParaRPr>
          </a:p>
        </p:txBody>
      </p:sp>
      <p:sp>
        <p:nvSpPr>
          <p:cNvPr id="20" name="object 20" descr=""/>
          <p:cNvSpPr txBox="1"/>
          <p:nvPr/>
        </p:nvSpPr>
        <p:spPr>
          <a:xfrm>
            <a:off x="5677127" y="3793381"/>
            <a:ext cx="1763395" cy="364490"/>
          </a:xfrm>
          <a:prstGeom prst="rect">
            <a:avLst/>
          </a:prstGeom>
        </p:spPr>
        <p:txBody>
          <a:bodyPr wrap="square" lIns="0" tIns="15240" rIns="0" bIns="0" rtlCol="0" vert="horz">
            <a:spAutoFit/>
          </a:bodyPr>
          <a:lstStyle/>
          <a:p>
            <a:pPr marL="12700">
              <a:lnSpc>
                <a:spcPct val="100000"/>
              </a:lnSpc>
              <a:spcBef>
                <a:spcPts val="120"/>
              </a:spcBef>
            </a:pPr>
            <a:r>
              <a:rPr dirty="0" sz="2200" spc="505">
                <a:solidFill>
                  <a:srgbClr val="FF6600"/>
                </a:solidFill>
                <a:latin typeface="宋体"/>
                <a:cs typeface="宋体"/>
              </a:rPr>
              <a:t>分支不成功</a:t>
            </a:r>
            <a:endParaRPr sz="2200">
              <a:latin typeface="宋体"/>
              <a:cs typeface="宋体"/>
            </a:endParaRPr>
          </a:p>
        </p:txBody>
      </p:sp>
      <p:sp>
        <p:nvSpPr>
          <p:cNvPr id="21" name="object 21" descr=""/>
          <p:cNvSpPr txBox="1"/>
          <p:nvPr/>
        </p:nvSpPr>
        <p:spPr>
          <a:xfrm>
            <a:off x="8205176" y="4144764"/>
            <a:ext cx="1417320" cy="364490"/>
          </a:xfrm>
          <a:prstGeom prst="rect">
            <a:avLst/>
          </a:prstGeom>
        </p:spPr>
        <p:txBody>
          <a:bodyPr wrap="square" lIns="0" tIns="15240" rIns="0" bIns="0" rtlCol="0" vert="horz">
            <a:spAutoFit/>
          </a:bodyPr>
          <a:lstStyle/>
          <a:p>
            <a:pPr marL="12700">
              <a:lnSpc>
                <a:spcPct val="100000"/>
              </a:lnSpc>
              <a:spcBef>
                <a:spcPts val="120"/>
              </a:spcBef>
            </a:pPr>
            <a:r>
              <a:rPr dirty="0" sz="2200" spc="505">
                <a:solidFill>
                  <a:srgbClr val="800080"/>
                </a:solidFill>
                <a:latin typeface="宋体"/>
                <a:cs typeface="宋体"/>
              </a:rPr>
              <a:t>分支成功</a:t>
            </a:r>
            <a:endParaRPr sz="2200">
              <a:latin typeface="宋体"/>
              <a:cs typeface="宋体"/>
            </a:endParaRPr>
          </a:p>
        </p:txBody>
      </p:sp>
      <p:sp>
        <p:nvSpPr>
          <p:cNvPr id="22" name="object 22" descr=""/>
          <p:cNvSpPr txBox="1"/>
          <p:nvPr/>
        </p:nvSpPr>
        <p:spPr>
          <a:xfrm>
            <a:off x="4919834" y="5058335"/>
            <a:ext cx="372110" cy="364490"/>
          </a:xfrm>
          <a:prstGeom prst="rect">
            <a:avLst/>
          </a:prstGeom>
        </p:spPr>
        <p:txBody>
          <a:bodyPr wrap="square" lIns="0" tIns="15240" rIns="0" bIns="0" rtlCol="0" vert="horz">
            <a:spAutoFit/>
          </a:bodyPr>
          <a:lstStyle/>
          <a:p>
            <a:pPr marL="12700">
              <a:lnSpc>
                <a:spcPct val="100000"/>
              </a:lnSpc>
              <a:spcBef>
                <a:spcPts val="120"/>
              </a:spcBef>
            </a:pPr>
            <a:r>
              <a:rPr dirty="0" sz="2200" spc="225" b="1">
                <a:latin typeface="Times New Roman"/>
                <a:cs typeface="Times New Roman"/>
              </a:rPr>
              <a:t>10</a:t>
            </a:r>
            <a:endParaRPr sz="2200">
              <a:latin typeface="Times New Roman"/>
              <a:cs typeface="Times New Roman"/>
            </a:endParaRPr>
          </a:p>
        </p:txBody>
      </p:sp>
      <p:sp>
        <p:nvSpPr>
          <p:cNvPr id="23" name="object 23" descr=""/>
          <p:cNvSpPr txBox="1"/>
          <p:nvPr/>
        </p:nvSpPr>
        <p:spPr>
          <a:xfrm>
            <a:off x="7779469" y="5055463"/>
            <a:ext cx="339090" cy="364490"/>
          </a:xfrm>
          <a:prstGeom prst="rect">
            <a:avLst/>
          </a:prstGeom>
        </p:spPr>
        <p:txBody>
          <a:bodyPr wrap="square" lIns="0" tIns="15240" rIns="0" bIns="0" rtlCol="0" vert="horz">
            <a:spAutoFit/>
          </a:bodyPr>
          <a:lstStyle/>
          <a:p>
            <a:pPr marL="12700">
              <a:lnSpc>
                <a:spcPct val="100000"/>
              </a:lnSpc>
              <a:spcBef>
                <a:spcPts val="120"/>
              </a:spcBef>
            </a:pPr>
            <a:r>
              <a:rPr dirty="0" sz="2200" spc="60" b="1">
                <a:latin typeface="Times New Roman"/>
                <a:cs typeface="Times New Roman"/>
              </a:rPr>
              <a:t>11</a:t>
            </a:r>
            <a:endParaRPr sz="2200">
              <a:latin typeface="Times New Roman"/>
              <a:cs typeface="Times New Roman"/>
            </a:endParaRPr>
          </a:p>
        </p:txBody>
      </p:sp>
      <p:sp>
        <p:nvSpPr>
          <p:cNvPr id="24" name="object 24" descr=""/>
          <p:cNvSpPr txBox="1"/>
          <p:nvPr/>
        </p:nvSpPr>
        <p:spPr>
          <a:xfrm>
            <a:off x="5783913" y="4746130"/>
            <a:ext cx="1417320" cy="364490"/>
          </a:xfrm>
          <a:prstGeom prst="rect">
            <a:avLst/>
          </a:prstGeom>
        </p:spPr>
        <p:txBody>
          <a:bodyPr wrap="square" lIns="0" tIns="15240" rIns="0" bIns="0" rtlCol="0" vert="horz">
            <a:spAutoFit/>
          </a:bodyPr>
          <a:lstStyle/>
          <a:p>
            <a:pPr marL="12700">
              <a:lnSpc>
                <a:spcPct val="100000"/>
              </a:lnSpc>
              <a:spcBef>
                <a:spcPts val="120"/>
              </a:spcBef>
            </a:pPr>
            <a:r>
              <a:rPr dirty="0" sz="2200" spc="505">
                <a:solidFill>
                  <a:srgbClr val="800080"/>
                </a:solidFill>
                <a:latin typeface="宋体"/>
                <a:cs typeface="宋体"/>
              </a:rPr>
              <a:t>分支成功</a:t>
            </a:r>
            <a:endParaRPr sz="2200">
              <a:latin typeface="宋体"/>
              <a:cs typeface="宋体"/>
            </a:endParaRPr>
          </a:p>
        </p:txBody>
      </p:sp>
      <p:sp>
        <p:nvSpPr>
          <p:cNvPr id="25" name="object 25" descr=""/>
          <p:cNvSpPr txBox="1"/>
          <p:nvPr/>
        </p:nvSpPr>
        <p:spPr>
          <a:xfrm>
            <a:off x="5656403" y="5435068"/>
            <a:ext cx="1763395" cy="364490"/>
          </a:xfrm>
          <a:prstGeom prst="rect">
            <a:avLst/>
          </a:prstGeom>
        </p:spPr>
        <p:txBody>
          <a:bodyPr wrap="square" lIns="0" tIns="15240" rIns="0" bIns="0" rtlCol="0" vert="horz">
            <a:spAutoFit/>
          </a:bodyPr>
          <a:lstStyle/>
          <a:p>
            <a:pPr marL="12700">
              <a:lnSpc>
                <a:spcPct val="100000"/>
              </a:lnSpc>
              <a:spcBef>
                <a:spcPts val="120"/>
              </a:spcBef>
            </a:pPr>
            <a:r>
              <a:rPr dirty="0" sz="2200" spc="505">
                <a:solidFill>
                  <a:srgbClr val="FF6600"/>
                </a:solidFill>
                <a:latin typeface="宋体"/>
                <a:cs typeface="宋体"/>
              </a:rPr>
              <a:t>分支不成功</a:t>
            </a:r>
            <a:endParaRPr sz="2200">
              <a:latin typeface="宋体"/>
              <a:cs typeface="宋体"/>
            </a:endParaRPr>
          </a:p>
        </p:txBody>
      </p:sp>
      <p:sp>
        <p:nvSpPr>
          <p:cNvPr id="26" name="object 26" descr=""/>
          <p:cNvSpPr txBox="1"/>
          <p:nvPr/>
        </p:nvSpPr>
        <p:spPr>
          <a:xfrm>
            <a:off x="9201371" y="5038769"/>
            <a:ext cx="1417320" cy="364490"/>
          </a:xfrm>
          <a:prstGeom prst="rect">
            <a:avLst/>
          </a:prstGeom>
        </p:spPr>
        <p:txBody>
          <a:bodyPr wrap="square" lIns="0" tIns="15240" rIns="0" bIns="0" rtlCol="0" vert="horz">
            <a:spAutoFit/>
          </a:bodyPr>
          <a:lstStyle/>
          <a:p>
            <a:pPr marL="12700">
              <a:lnSpc>
                <a:spcPct val="100000"/>
              </a:lnSpc>
              <a:spcBef>
                <a:spcPts val="120"/>
              </a:spcBef>
            </a:pPr>
            <a:r>
              <a:rPr dirty="0" sz="2200" spc="505">
                <a:solidFill>
                  <a:srgbClr val="800080"/>
                </a:solidFill>
                <a:latin typeface="宋体"/>
                <a:cs typeface="宋体"/>
              </a:rPr>
              <a:t>分支成功</a:t>
            </a:r>
            <a:endParaRPr sz="2200">
              <a:latin typeface="宋体"/>
              <a:cs typeface="宋体"/>
            </a:endParaRPr>
          </a:p>
        </p:txBody>
      </p:sp>
      <p:sp>
        <p:nvSpPr>
          <p:cNvPr id="27" name="object 27" descr=""/>
          <p:cNvSpPr txBox="1"/>
          <p:nvPr/>
        </p:nvSpPr>
        <p:spPr>
          <a:xfrm>
            <a:off x="3190151" y="4128047"/>
            <a:ext cx="1763395" cy="364490"/>
          </a:xfrm>
          <a:prstGeom prst="rect">
            <a:avLst/>
          </a:prstGeom>
        </p:spPr>
        <p:txBody>
          <a:bodyPr wrap="square" lIns="0" tIns="15240" rIns="0" bIns="0" rtlCol="0" vert="horz">
            <a:spAutoFit/>
          </a:bodyPr>
          <a:lstStyle/>
          <a:p>
            <a:pPr marL="12700">
              <a:lnSpc>
                <a:spcPct val="100000"/>
              </a:lnSpc>
              <a:spcBef>
                <a:spcPts val="120"/>
              </a:spcBef>
            </a:pPr>
            <a:r>
              <a:rPr dirty="0" sz="2200" spc="505">
                <a:solidFill>
                  <a:srgbClr val="FF6600"/>
                </a:solidFill>
                <a:latin typeface="宋体"/>
                <a:cs typeface="宋体"/>
              </a:rPr>
              <a:t>分支不成功</a:t>
            </a:r>
            <a:endParaRPr sz="2200">
              <a:latin typeface="宋体"/>
              <a:cs typeface="宋体"/>
            </a:endParaRPr>
          </a:p>
        </p:txBody>
      </p:sp>
      <p:grpSp>
        <p:nvGrpSpPr>
          <p:cNvPr id="28" name="object 28" descr=""/>
          <p:cNvGrpSpPr/>
          <p:nvPr/>
        </p:nvGrpSpPr>
        <p:grpSpPr>
          <a:xfrm>
            <a:off x="943211" y="3657404"/>
            <a:ext cx="9605010" cy="1864360"/>
            <a:chOff x="943211" y="3657404"/>
            <a:chExt cx="9605010" cy="1864360"/>
          </a:xfrm>
        </p:grpSpPr>
        <p:pic>
          <p:nvPicPr>
            <p:cNvPr id="29" name="object 29" descr=""/>
            <p:cNvPicPr/>
            <p:nvPr/>
          </p:nvPicPr>
          <p:blipFill>
            <a:blip r:embed="rId3" cstate="print"/>
            <a:stretch>
              <a:fillRect/>
            </a:stretch>
          </p:blipFill>
          <p:spPr>
            <a:xfrm>
              <a:off x="943211" y="4086878"/>
              <a:ext cx="9604900" cy="734881"/>
            </a:xfrm>
            <a:prstGeom prst="rect">
              <a:avLst/>
            </a:prstGeom>
          </p:spPr>
        </p:pic>
        <p:sp>
          <p:nvSpPr>
            <p:cNvPr id="30" name="object 30" descr=""/>
            <p:cNvSpPr/>
            <p:nvPr/>
          </p:nvSpPr>
          <p:spPr>
            <a:xfrm>
              <a:off x="8432601" y="4928731"/>
              <a:ext cx="598170" cy="588010"/>
            </a:xfrm>
            <a:custGeom>
              <a:avLst/>
              <a:gdLst/>
              <a:ahLst/>
              <a:cxnLst/>
              <a:rect l="l" t="t" r="r" b="b"/>
              <a:pathLst>
                <a:path w="598170" h="588010">
                  <a:moveTo>
                    <a:pt x="0" y="463708"/>
                  </a:moveTo>
                  <a:lnTo>
                    <a:pt x="103332" y="587567"/>
                  </a:lnTo>
                  <a:lnTo>
                    <a:pt x="95416" y="536856"/>
                  </a:lnTo>
                  <a:lnTo>
                    <a:pt x="95322" y="536255"/>
                  </a:lnTo>
                  <a:lnTo>
                    <a:pt x="86062" y="531112"/>
                  </a:lnTo>
                  <a:lnTo>
                    <a:pt x="79154" y="528801"/>
                  </a:lnTo>
                  <a:lnTo>
                    <a:pt x="79154" y="525929"/>
                  </a:lnTo>
                  <a:lnTo>
                    <a:pt x="75412" y="520162"/>
                  </a:lnTo>
                  <a:lnTo>
                    <a:pt x="79154" y="517290"/>
                  </a:lnTo>
                  <a:lnTo>
                    <a:pt x="82608" y="511524"/>
                  </a:lnTo>
                  <a:lnTo>
                    <a:pt x="86062" y="511524"/>
                  </a:lnTo>
                  <a:lnTo>
                    <a:pt x="93258" y="508652"/>
                  </a:lnTo>
                  <a:lnTo>
                    <a:pt x="152876" y="508652"/>
                  </a:lnTo>
                  <a:lnTo>
                    <a:pt x="0" y="463708"/>
                  </a:lnTo>
                  <a:close/>
                </a:path>
                <a:path w="598170" h="588010">
                  <a:moveTo>
                    <a:pt x="120802" y="520028"/>
                  </a:moveTo>
                  <a:lnTo>
                    <a:pt x="93258" y="523034"/>
                  </a:lnTo>
                  <a:lnTo>
                    <a:pt x="95322" y="536255"/>
                  </a:lnTo>
                  <a:lnTo>
                    <a:pt x="106786" y="542623"/>
                  </a:lnTo>
                  <a:lnTo>
                    <a:pt x="141902" y="551261"/>
                  </a:lnTo>
                  <a:lnTo>
                    <a:pt x="176154" y="559340"/>
                  </a:lnTo>
                  <a:lnTo>
                    <a:pt x="214436" y="565083"/>
                  </a:lnTo>
                  <a:lnTo>
                    <a:pt x="286683" y="565083"/>
                  </a:lnTo>
                  <a:lnTo>
                    <a:pt x="355763" y="553573"/>
                  </a:lnTo>
                  <a:lnTo>
                    <a:pt x="387137" y="542623"/>
                  </a:lnTo>
                  <a:lnTo>
                    <a:pt x="217314" y="542623"/>
                  </a:lnTo>
                  <a:lnTo>
                    <a:pt x="183062" y="536856"/>
                  </a:lnTo>
                  <a:lnTo>
                    <a:pt x="151688" y="531112"/>
                  </a:lnTo>
                  <a:lnTo>
                    <a:pt x="120802" y="520028"/>
                  </a:lnTo>
                  <a:close/>
                </a:path>
                <a:path w="598170" h="588010">
                  <a:moveTo>
                    <a:pt x="387137" y="22460"/>
                  </a:moveTo>
                  <a:lnTo>
                    <a:pt x="283804" y="22460"/>
                  </a:lnTo>
                  <a:lnTo>
                    <a:pt x="314315" y="25355"/>
                  </a:lnTo>
                  <a:lnTo>
                    <a:pt x="345689" y="31099"/>
                  </a:lnTo>
                  <a:lnTo>
                    <a:pt x="377063" y="42049"/>
                  </a:lnTo>
                  <a:lnTo>
                    <a:pt x="404119" y="50687"/>
                  </a:lnTo>
                  <a:lnTo>
                    <a:pt x="432039" y="64509"/>
                  </a:lnTo>
                  <a:lnTo>
                    <a:pt x="456217" y="81810"/>
                  </a:lnTo>
                  <a:lnTo>
                    <a:pt x="476941" y="98503"/>
                  </a:lnTo>
                  <a:lnTo>
                    <a:pt x="501119" y="115220"/>
                  </a:lnTo>
                  <a:lnTo>
                    <a:pt x="536235" y="157269"/>
                  </a:lnTo>
                  <a:lnTo>
                    <a:pt x="556671" y="205062"/>
                  </a:lnTo>
                  <a:lnTo>
                    <a:pt x="563291" y="230418"/>
                  </a:lnTo>
                  <a:lnTo>
                    <a:pt x="573941" y="255773"/>
                  </a:lnTo>
                  <a:lnTo>
                    <a:pt x="573941" y="309333"/>
                  </a:lnTo>
                  <a:lnTo>
                    <a:pt x="563291" y="331793"/>
                  </a:lnTo>
                  <a:lnTo>
                    <a:pt x="556671" y="360021"/>
                  </a:lnTo>
                  <a:lnTo>
                    <a:pt x="546021" y="382481"/>
                  </a:lnTo>
                  <a:lnTo>
                    <a:pt x="536235" y="404965"/>
                  </a:lnTo>
                  <a:lnTo>
                    <a:pt x="518389" y="427425"/>
                  </a:lnTo>
                  <a:lnTo>
                    <a:pt x="456217" y="483296"/>
                  </a:lnTo>
                  <a:lnTo>
                    <a:pt x="404119" y="511524"/>
                  </a:lnTo>
                  <a:lnTo>
                    <a:pt x="349430" y="531112"/>
                  </a:lnTo>
                  <a:lnTo>
                    <a:pt x="283804" y="542623"/>
                  </a:lnTo>
                  <a:lnTo>
                    <a:pt x="387137" y="542623"/>
                  </a:lnTo>
                  <a:lnTo>
                    <a:pt x="418511" y="531112"/>
                  </a:lnTo>
                  <a:lnTo>
                    <a:pt x="442689" y="517290"/>
                  </a:lnTo>
                  <a:lnTo>
                    <a:pt x="473487" y="500574"/>
                  </a:lnTo>
                  <a:lnTo>
                    <a:pt x="493923" y="483296"/>
                  </a:lnTo>
                  <a:lnTo>
                    <a:pt x="521843" y="460836"/>
                  </a:lnTo>
                  <a:lnTo>
                    <a:pt x="542567" y="441247"/>
                  </a:lnTo>
                  <a:lnTo>
                    <a:pt x="556671" y="415892"/>
                  </a:lnTo>
                  <a:lnTo>
                    <a:pt x="573941" y="390559"/>
                  </a:lnTo>
                  <a:lnTo>
                    <a:pt x="587469" y="365204"/>
                  </a:lnTo>
                  <a:lnTo>
                    <a:pt x="590923" y="337560"/>
                  </a:lnTo>
                  <a:lnTo>
                    <a:pt x="598119" y="309333"/>
                  </a:lnTo>
                  <a:lnTo>
                    <a:pt x="598119" y="252878"/>
                  </a:lnTo>
                  <a:lnTo>
                    <a:pt x="590923" y="224651"/>
                  </a:lnTo>
                  <a:lnTo>
                    <a:pt x="587469" y="199879"/>
                  </a:lnTo>
                  <a:lnTo>
                    <a:pt x="573941" y="171652"/>
                  </a:lnTo>
                  <a:lnTo>
                    <a:pt x="556671" y="146319"/>
                  </a:lnTo>
                  <a:lnTo>
                    <a:pt x="542567" y="123859"/>
                  </a:lnTo>
                  <a:lnTo>
                    <a:pt x="521843" y="101375"/>
                  </a:lnTo>
                  <a:lnTo>
                    <a:pt x="501119" y="81810"/>
                  </a:lnTo>
                  <a:lnTo>
                    <a:pt x="476941" y="61637"/>
                  </a:lnTo>
                  <a:lnTo>
                    <a:pt x="449021" y="44944"/>
                  </a:lnTo>
                  <a:lnTo>
                    <a:pt x="418511" y="31099"/>
                  </a:lnTo>
                  <a:lnTo>
                    <a:pt x="387137" y="22460"/>
                  </a:lnTo>
                  <a:close/>
                </a:path>
                <a:path w="598170" h="588010">
                  <a:moveTo>
                    <a:pt x="152876" y="508652"/>
                  </a:moveTo>
                  <a:lnTo>
                    <a:pt x="93258" y="508652"/>
                  </a:lnTo>
                  <a:lnTo>
                    <a:pt x="97000" y="511524"/>
                  </a:lnTo>
                  <a:lnTo>
                    <a:pt x="120802" y="520028"/>
                  </a:lnTo>
                  <a:lnTo>
                    <a:pt x="172412" y="514395"/>
                  </a:lnTo>
                  <a:lnTo>
                    <a:pt x="152876" y="508652"/>
                  </a:lnTo>
                  <a:close/>
                </a:path>
                <a:path w="598170" h="588010">
                  <a:moveTo>
                    <a:pt x="286683" y="0"/>
                  </a:moveTo>
                  <a:lnTo>
                    <a:pt x="221056" y="0"/>
                  </a:lnTo>
                  <a:lnTo>
                    <a:pt x="190258" y="2895"/>
                  </a:lnTo>
                  <a:lnTo>
                    <a:pt x="127510" y="14405"/>
                  </a:lnTo>
                  <a:lnTo>
                    <a:pt x="72534" y="36865"/>
                  </a:lnTo>
                  <a:lnTo>
                    <a:pt x="20724" y="67404"/>
                  </a:lnTo>
                  <a:lnTo>
                    <a:pt x="16982" y="70276"/>
                  </a:lnTo>
                  <a:lnTo>
                    <a:pt x="16982" y="78915"/>
                  </a:lnTo>
                  <a:lnTo>
                    <a:pt x="20724" y="84681"/>
                  </a:lnTo>
                  <a:lnTo>
                    <a:pt x="24178" y="86993"/>
                  </a:lnTo>
                  <a:lnTo>
                    <a:pt x="34252" y="86993"/>
                  </a:lnTo>
                  <a:lnTo>
                    <a:pt x="37706" y="84681"/>
                  </a:lnTo>
                  <a:lnTo>
                    <a:pt x="61884" y="70276"/>
                  </a:lnTo>
                  <a:lnTo>
                    <a:pt x="86062" y="56454"/>
                  </a:lnTo>
                  <a:lnTo>
                    <a:pt x="110528" y="47816"/>
                  </a:lnTo>
                  <a:lnTo>
                    <a:pt x="138160" y="36865"/>
                  </a:lnTo>
                  <a:lnTo>
                    <a:pt x="193136" y="25355"/>
                  </a:lnTo>
                  <a:lnTo>
                    <a:pt x="221056" y="22460"/>
                  </a:lnTo>
                  <a:lnTo>
                    <a:pt x="387137" y="22460"/>
                  </a:lnTo>
                  <a:lnTo>
                    <a:pt x="355763" y="11533"/>
                  </a:lnTo>
                  <a:lnTo>
                    <a:pt x="321511" y="2895"/>
                  </a:lnTo>
                  <a:lnTo>
                    <a:pt x="286683" y="0"/>
                  </a:lnTo>
                  <a:close/>
                </a:path>
              </a:pathLst>
            </a:custGeom>
            <a:solidFill>
              <a:srgbClr val="000000"/>
            </a:solidFill>
          </p:spPr>
          <p:txBody>
            <a:bodyPr wrap="square" lIns="0" tIns="0" rIns="0" bIns="0" rtlCol="0"/>
            <a:lstStyle/>
            <a:p/>
          </p:txBody>
        </p:sp>
        <p:sp>
          <p:nvSpPr>
            <p:cNvPr id="31" name="object 31" descr=""/>
            <p:cNvSpPr/>
            <p:nvPr/>
          </p:nvSpPr>
          <p:spPr>
            <a:xfrm>
              <a:off x="8436919" y="4932186"/>
              <a:ext cx="598170" cy="588010"/>
            </a:xfrm>
            <a:custGeom>
              <a:avLst/>
              <a:gdLst/>
              <a:ahLst/>
              <a:cxnLst/>
              <a:rect l="l" t="t" r="r" b="b"/>
              <a:pathLst>
                <a:path w="598170" h="588010">
                  <a:moveTo>
                    <a:pt x="86062" y="531112"/>
                  </a:moveTo>
                  <a:lnTo>
                    <a:pt x="106786" y="542623"/>
                  </a:lnTo>
                  <a:lnTo>
                    <a:pt x="141902" y="551261"/>
                  </a:lnTo>
                  <a:lnTo>
                    <a:pt x="175866" y="559340"/>
                  </a:lnTo>
                  <a:lnTo>
                    <a:pt x="214436" y="565083"/>
                  </a:lnTo>
                  <a:lnTo>
                    <a:pt x="248688" y="565083"/>
                  </a:lnTo>
                  <a:lnTo>
                    <a:pt x="286395" y="565083"/>
                  </a:lnTo>
                  <a:lnTo>
                    <a:pt x="355763" y="553573"/>
                  </a:lnTo>
                  <a:lnTo>
                    <a:pt x="418511" y="531112"/>
                  </a:lnTo>
                  <a:lnTo>
                    <a:pt x="442689" y="517290"/>
                  </a:lnTo>
                  <a:lnTo>
                    <a:pt x="473199" y="500574"/>
                  </a:lnTo>
                  <a:lnTo>
                    <a:pt x="493923" y="483296"/>
                  </a:lnTo>
                  <a:lnTo>
                    <a:pt x="521843" y="460836"/>
                  </a:lnTo>
                  <a:lnTo>
                    <a:pt x="542567" y="441247"/>
                  </a:lnTo>
                  <a:lnTo>
                    <a:pt x="556671" y="415892"/>
                  </a:lnTo>
                  <a:lnTo>
                    <a:pt x="573941" y="390559"/>
                  </a:lnTo>
                  <a:lnTo>
                    <a:pt x="587469" y="365204"/>
                  </a:lnTo>
                  <a:lnTo>
                    <a:pt x="590923" y="337560"/>
                  </a:lnTo>
                  <a:lnTo>
                    <a:pt x="598119" y="309333"/>
                  </a:lnTo>
                  <a:lnTo>
                    <a:pt x="598119" y="281105"/>
                  </a:lnTo>
                  <a:lnTo>
                    <a:pt x="598119" y="252878"/>
                  </a:lnTo>
                  <a:lnTo>
                    <a:pt x="590923" y="224651"/>
                  </a:lnTo>
                  <a:lnTo>
                    <a:pt x="587469" y="199879"/>
                  </a:lnTo>
                  <a:lnTo>
                    <a:pt x="573941" y="171652"/>
                  </a:lnTo>
                  <a:lnTo>
                    <a:pt x="556671" y="146319"/>
                  </a:lnTo>
                  <a:lnTo>
                    <a:pt x="542567" y="123859"/>
                  </a:lnTo>
                  <a:lnTo>
                    <a:pt x="501119" y="81810"/>
                  </a:lnTo>
                  <a:lnTo>
                    <a:pt x="449021" y="44944"/>
                  </a:lnTo>
                  <a:lnTo>
                    <a:pt x="387137" y="22460"/>
                  </a:lnTo>
                  <a:lnTo>
                    <a:pt x="355763" y="11533"/>
                  </a:lnTo>
                  <a:lnTo>
                    <a:pt x="321511" y="2895"/>
                  </a:lnTo>
                  <a:lnTo>
                    <a:pt x="286395" y="0"/>
                  </a:lnTo>
                  <a:lnTo>
                    <a:pt x="252430" y="0"/>
                  </a:lnTo>
                  <a:lnTo>
                    <a:pt x="221056" y="0"/>
                  </a:lnTo>
                  <a:lnTo>
                    <a:pt x="158884" y="8638"/>
                  </a:lnTo>
                  <a:lnTo>
                    <a:pt x="99590" y="25355"/>
                  </a:lnTo>
                  <a:lnTo>
                    <a:pt x="44902" y="50687"/>
                  </a:lnTo>
                  <a:lnTo>
                    <a:pt x="16982" y="70276"/>
                  </a:lnTo>
                  <a:lnTo>
                    <a:pt x="16982" y="73171"/>
                  </a:lnTo>
                  <a:lnTo>
                    <a:pt x="16982" y="78915"/>
                  </a:lnTo>
                  <a:lnTo>
                    <a:pt x="20436" y="84682"/>
                  </a:lnTo>
                  <a:lnTo>
                    <a:pt x="24178" y="86993"/>
                  </a:lnTo>
                  <a:lnTo>
                    <a:pt x="27632" y="86993"/>
                  </a:lnTo>
                  <a:lnTo>
                    <a:pt x="34252" y="86993"/>
                  </a:lnTo>
                  <a:lnTo>
                    <a:pt x="37706" y="84682"/>
                  </a:lnTo>
                  <a:lnTo>
                    <a:pt x="61884" y="70276"/>
                  </a:lnTo>
                  <a:lnTo>
                    <a:pt x="86062" y="56454"/>
                  </a:lnTo>
                  <a:lnTo>
                    <a:pt x="110528" y="47816"/>
                  </a:lnTo>
                  <a:lnTo>
                    <a:pt x="138160" y="36865"/>
                  </a:lnTo>
                  <a:lnTo>
                    <a:pt x="166080" y="31122"/>
                  </a:lnTo>
                  <a:lnTo>
                    <a:pt x="193136" y="25355"/>
                  </a:lnTo>
                  <a:lnTo>
                    <a:pt x="221056" y="22460"/>
                  </a:lnTo>
                  <a:lnTo>
                    <a:pt x="248688" y="22460"/>
                  </a:lnTo>
                  <a:lnTo>
                    <a:pt x="283804" y="22460"/>
                  </a:lnTo>
                  <a:lnTo>
                    <a:pt x="314315" y="25355"/>
                  </a:lnTo>
                  <a:lnTo>
                    <a:pt x="345689" y="31122"/>
                  </a:lnTo>
                  <a:lnTo>
                    <a:pt x="377063" y="42049"/>
                  </a:lnTo>
                  <a:lnTo>
                    <a:pt x="404119" y="50687"/>
                  </a:lnTo>
                  <a:lnTo>
                    <a:pt x="432039" y="64509"/>
                  </a:lnTo>
                  <a:lnTo>
                    <a:pt x="456217" y="81810"/>
                  </a:lnTo>
                  <a:lnTo>
                    <a:pt x="476941" y="98503"/>
                  </a:lnTo>
                  <a:lnTo>
                    <a:pt x="501119" y="115220"/>
                  </a:lnTo>
                  <a:lnTo>
                    <a:pt x="535947" y="157269"/>
                  </a:lnTo>
                  <a:lnTo>
                    <a:pt x="556671" y="205062"/>
                  </a:lnTo>
                  <a:lnTo>
                    <a:pt x="563004" y="230418"/>
                  </a:lnTo>
                  <a:lnTo>
                    <a:pt x="573941" y="255773"/>
                  </a:lnTo>
                  <a:lnTo>
                    <a:pt x="573941" y="281105"/>
                  </a:lnTo>
                  <a:lnTo>
                    <a:pt x="573941" y="309333"/>
                  </a:lnTo>
                  <a:lnTo>
                    <a:pt x="563004" y="331793"/>
                  </a:lnTo>
                  <a:lnTo>
                    <a:pt x="556671" y="360021"/>
                  </a:lnTo>
                  <a:lnTo>
                    <a:pt x="546021" y="382481"/>
                  </a:lnTo>
                  <a:lnTo>
                    <a:pt x="535947" y="404965"/>
                  </a:lnTo>
                  <a:lnTo>
                    <a:pt x="518101" y="427425"/>
                  </a:lnTo>
                  <a:lnTo>
                    <a:pt x="476941" y="466579"/>
                  </a:lnTo>
                  <a:lnTo>
                    <a:pt x="432039" y="497702"/>
                  </a:lnTo>
                  <a:lnTo>
                    <a:pt x="377063" y="523034"/>
                  </a:lnTo>
                  <a:lnTo>
                    <a:pt x="317769" y="536856"/>
                  </a:lnTo>
                  <a:lnTo>
                    <a:pt x="283804" y="542623"/>
                  </a:lnTo>
                  <a:lnTo>
                    <a:pt x="252430" y="542623"/>
                  </a:lnTo>
                  <a:lnTo>
                    <a:pt x="217314" y="542623"/>
                  </a:lnTo>
                  <a:lnTo>
                    <a:pt x="183062" y="536856"/>
                  </a:lnTo>
                  <a:lnTo>
                    <a:pt x="151688" y="531112"/>
                  </a:lnTo>
                  <a:lnTo>
                    <a:pt x="121178" y="520162"/>
                  </a:lnTo>
                  <a:lnTo>
                    <a:pt x="97000" y="511524"/>
                  </a:lnTo>
                  <a:lnTo>
                    <a:pt x="93258" y="508652"/>
                  </a:lnTo>
                  <a:lnTo>
                    <a:pt x="86062" y="511524"/>
                  </a:lnTo>
                  <a:lnTo>
                    <a:pt x="82608" y="511524"/>
                  </a:lnTo>
                  <a:lnTo>
                    <a:pt x="79154" y="517290"/>
                  </a:lnTo>
                  <a:lnTo>
                    <a:pt x="75412" y="520162"/>
                  </a:lnTo>
                  <a:lnTo>
                    <a:pt x="79154" y="525929"/>
                  </a:lnTo>
                  <a:lnTo>
                    <a:pt x="79154" y="528801"/>
                  </a:lnTo>
                  <a:lnTo>
                    <a:pt x="86062" y="531112"/>
                  </a:lnTo>
                  <a:close/>
                </a:path>
                <a:path w="598170" h="588010">
                  <a:moveTo>
                    <a:pt x="93258" y="523034"/>
                  </a:moveTo>
                  <a:lnTo>
                    <a:pt x="172412" y="514395"/>
                  </a:lnTo>
                  <a:lnTo>
                    <a:pt x="0" y="463708"/>
                  </a:lnTo>
                  <a:lnTo>
                    <a:pt x="103332" y="587567"/>
                  </a:lnTo>
                  <a:lnTo>
                    <a:pt x="93258" y="523034"/>
                  </a:lnTo>
                </a:path>
              </a:pathLst>
            </a:custGeom>
            <a:ln w="3649">
              <a:solidFill>
                <a:srgbClr val="800080"/>
              </a:solidFill>
            </a:ln>
          </p:spPr>
          <p:txBody>
            <a:bodyPr wrap="square" lIns="0" tIns="0" rIns="0" bIns="0" rtlCol="0"/>
            <a:lstStyle/>
            <a:p/>
          </p:txBody>
        </p:sp>
        <p:sp>
          <p:nvSpPr>
            <p:cNvPr id="32" name="object 32" descr=""/>
            <p:cNvSpPr/>
            <p:nvPr/>
          </p:nvSpPr>
          <p:spPr>
            <a:xfrm>
              <a:off x="5604052" y="5320434"/>
              <a:ext cx="1816100" cy="93345"/>
            </a:xfrm>
            <a:custGeom>
              <a:avLst/>
              <a:gdLst/>
              <a:ahLst/>
              <a:cxnLst/>
              <a:rect l="l" t="t" r="r" b="b"/>
              <a:pathLst>
                <a:path w="1816100" h="93345">
                  <a:moveTo>
                    <a:pt x="172700" y="0"/>
                  </a:moveTo>
                  <a:lnTo>
                    <a:pt x="0" y="47232"/>
                  </a:lnTo>
                  <a:lnTo>
                    <a:pt x="172700" y="92736"/>
                  </a:lnTo>
                  <a:lnTo>
                    <a:pt x="138597" y="64509"/>
                  </a:lnTo>
                  <a:lnTo>
                    <a:pt x="117724" y="64509"/>
                  </a:lnTo>
                  <a:lnTo>
                    <a:pt x="117724" y="27643"/>
                  </a:lnTo>
                  <a:lnTo>
                    <a:pt x="140524" y="27643"/>
                  </a:lnTo>
                  <a:lnTo>
                    <a:pt x="172700" y="0"/>
                  </a:lnTo>
                  <a:close/>
                </a:path>
                <a:path w="1816100" h="93345">
                  <a:moveTo>
                    <a:pt x="117724" y="47232"/>
                  </a:moveTo>
                  <a:lnTo>
                    <a:pt x="117724" y="64509"/>
                  </a:lnTo>
                  <a:lnTo>
                    <a:pt x="138597" y="64509"/>
                  </a:lnTo>
                  <a:lnTo>
                    <a:pt x="117724" y="47232"/>
                  </a:lnTo>
                  <a:close/>
                </a:path>
                <a:path w="1816100" h="93345">
                  <a:moveTo>
                    <a:pt x="1815947" y="27643"/>
                  </a:moveTo>
                  <a:lnTo>
                    <a:pt x="140524" y="27643"/>
                  </a:lnTo>
                  <a:lnTo>
                    <a:pt x="117724" y="47232"/>
                  </a:lnTo>
                  <a:lnTo>
                    <a:pt x="138597" y="64509"/>
                  </a:lnTo>
                  <a:lnTo>
                    <a:pt x="1815947" y="64509"/>
                  </a:lnTo>
                  <a:lnTo>
                    <a:pt x="1815947" y="27643"/>
                  </a:lnTo>
                  <a:close/>
                </a:path>
                <a:path w="1816100" h="93345">
                  <a:moveTo>
                    <a:pt x="140524" y="27643"/>
                  </a:moveTo>
                  <a:lnTo>
                    <a:pt x="117724" y="27643"/>
                  </a:lnTo>
                  <a:lnTo>
                    <a:pt x="117724" y="47232"/>
                  </a:lnTo>
                  <a:lnTo>
                    <a:pt x="140524" y="27643"/>
                  </a:lnTo>
                  <a:close/>
                </a:path>
              </a:pathLst>
            </a:custGeom>
            <a:solidFill>
              <a:srgbClr val="FF6600"/>
            </a:solidFill>
          </p:spPr>
          <p:txBody>
            <a:bodyPr wrap="square" lIns="0" tIns="0" rIns="0" bIns="0" rtlCol="0"/>
            <a:lstStyle/>
            <a:p/>
          </p:txBody>
        </p:sp>
        <p:sp>
          <p:nvSpPr>
            <p:cNvPr id="33" name="object 33" descr=""/>
            <p:cNvSpPr/>
            <p:nvPr/>
          </p:nvSpPr>
          <p:spPr>
            <a:xfrm>
              <a:off x="5604052" y="5320434"/>
              <a:ext cx="1816100" cy="93345"/>
            </a:xfrm>
            <a:custGeom>
              <a:avLst/>
              <a:gdLst/>
              <a:ahLst/>
              <a:cxnLst/>
              <a:rect l="l" t="t" r="r" b="b"/>
              <a:pathLst>
                <a:path w="1816100" h="93345">
                  <a:moveTo>
                    <a:pt x="1815947" y="64509"/>
                  </a:moveTo>
                  <a:lnTo>
                    <a:pt x="117724" y="64509"/>
                  </a:lnTo>
                  <a:lnTo>
                    <a:pt x="117724" y="27643"/>
                  </a:lnTo>
                  <a:lnTo>
                    <a:pt x="1815947" y="27643"/>
                  </a:lnTo>
                  <a:lnTo>
                    <a:pt x="1815947" y="64509"/>
                  </a:lnTo>
                  <a:close/>
                </a:path>
                <a:path w="1816100" h="93345">
                  <a:moveTo>
                    <a:pt x="117724" y="47232"/>
                  </a:moveTo>
                  <a:lnTo>
                    <a:pt x="172700" y="92736"/>
                  </a:lnTo>
                  <a:lnTo>
                    <a:pt x="0" y="47232"/>
                  </a:lnTo>
                  <a:lnTo>
                    <a:pt x="172700" y="0"/>
                  </a:lnTo>
                  <a:lnTo>
                    <a:pt x="117724" y="47232"/>
                  </a:lnTo>
                  <a:close/>
                </a:path>
              </a:pathLst>
            </a:custGeom>
            <a:ln w="3649">
              <a:solidFill>
                <a:srgbClr val="FF6600"/>
              </a:solidFill>
            </a:ln>
          </p:spPr>
          <p:txBody>
            <a:bodyPr wrap="square" lIns="0" tIns="0" rIns="0" bIns="0" rtlCol="0"/>
            <a:lstStyle/>
            <a:p/>
          </p:txBody>
        </p:sp>
        <p:sp>
          <p:nvSpPr>
            <p:cNvPr id="34" name="object 34" descr=""/>
            <p:cNvSpPr/>
            <p:nvPr/>
          </p:nvSpPr>
          <p:spPr>
            <a:xfrm>
              <a:off x="5628518" y="3659154"/>
              <a:ext cx="1816100" cy="93345"/>
            </a:xfrm>
            <a:custGeom>
              <a:avLst/>
              <a:gdLst/>
              <a:ahLst/>
              <a:cxnLst/>
              <a:rect l="l" t="t" r="r" b="b"/>
              <a:pathLst>
                <a:path w="1816100" h="93345">
                  <a:moveTo>
                    <a:pt x="172412" y="0"/>
                  </a:moveTo>
                  <a:lnTo>
                    <a:pt x="0" y="44944"/>
                  </a:lnTo>
                  <a:lnTo>
                    <a:pt x="172412" y="92736"/>
                  </a:lnTo>
                  <a:lnTo>
                    <a:pt x="137931" y="64532"/>
                  </a:lnTo>
                  <a:lnTo>
                    <a:pt x="113982" y="64532"/>
                  </a:lnTo>
                  <a:lnTo>
                    <a:pt x="113982" y="27666"/>
                  </a:lnTo>
                  <a:lnTo>
                    <a:pt x="136443" y="27666"/>
                  </a:lnTo>
                  <a:lnTo>
                    <a:pt x="172412" y="0"/>
                  </a:lnTo>
                  <a:close/>
                </a:path>
                <a:path w="1816100" h="93345">
                  <a:moveTo>
                    <a:pt x="113982" y="44944"/>
                  </a:moveTo>
                  <a:lnTo>
                    <a:pt x="113982" y="64532"/>
                  </a:lnTo>
                  <a:lnTo>
                    <a:pt x="137931" y="64532"/>
                  </a:lnTo>
                  <a:lnTo>
                    <a:pt x="113982" y="44944"/>
                  </a:lnTo>
                  <a:close/>
                </a:path>
                <a:path w="1816100" h="93345">
                  <a:moveTo>
                    <a:pt x="1815947" y="27666"/>
                  </a:moveTo>
                  <a:lnTo>
                    <a:pt x="136443" y="27666"/>
                  </a:lnTo>
                  <a:lnTo>
                    <a:pt x="113982" y="44944"/>
                  </a:lnTo>
                  <a:lnTo>
                    <a:pt x="137931" y="64532"/>
                  </a:lnTo>
                  <a:lnTo>
                    <a:pt x="1815947" y="64532"/>
                  </a:lnTo>
                  <a:lnTo>
                    <a:pt x="1815947" y="27666"/>
                  </a:lnTo>
                  <a:close/>
                </a:path>
                <a:path w="1816100" h="93345">
                  <a:moveTo>
                    <a:pt x="136443" y="27666"/>
                  </a:moveTo>
                  <a:lnTo>
                    <a:pt x="113982" y="27666"/>
                  </a:lnTo>
                  <a:lnTo>
                    <a:pt x="113982" y="44944"/>
                  </a:lnTo>
                  <a:lnTo>
                    <a:pt x="136443" y="27666"/>
                  </a:lnTo>
                  <a:close/>
                </a:path>
              </a:pathLst>
            </a:custGeom>
            <a:solidFill>
              <a:srgbClr val="FF6600"/>
            </a:solidFill>
          </p:spPr>
          <p:txBody>
            <a:bodyPr wrap="square" lIns="0" tIns="0" rIns="0" bIns="0" rtlCol="0"/>
            <a:lstStyle/>
            <a:p/>
          </p:txBody>
        </p:sp>
        <p:sp>
          <p:nvSpPr>
            <p:cNvPr id="35" name="object 35" descr=""/>
            <p:cNvSpPr/>
            <p:nvPr/>
          </p:nvSpPr>
          <p:spPr>
            <a:xfrm>
              <a:off x="5628518" y="3659154"/>
              <a:ext cx="1816100" cy="93345"/>
            </a:xfrm>
            <a:custGeom>
              <a:avLst/>
              <a:gdLst/>
              <a:ahLst/>
              <a:cxnLst/>
              <a:rect l="l" t="t" r="r" b="b"/>
              <a:pathLst>
                <a:path w="1816100" h="93345">
                  <a:moveTo>
                    <a:pt x="1815947" y="64532"/>
                  </a:moveTo>
                  <a:lnTo>
                    <a:pt x="113982" y="64532"/>
                  </a:lnTo>
                  <a:lnTo>
                    <a:pt x="113982" y="27666"/>
                  </a:lnTo>
                  <a:lnTo>
                    <a:pt x="1815947" y="27666"/>
                  </a:lnTo>
                  <a:lnTo>
                    <a:pt x="1815947" y="64532"/>
                  </a:lnTo>
                  <a:close/>
                </a:path>
                <a:path w="1816100" h="93345">
                  <a:moveTo>
                    <a:pt x="113982" y="44944"/>
                  </a:moveTo>
                  <a:lnTo>
                    <a:pt x="172412" y="92736"/>
                  </a:lnTo>
                  <a:lnTo>
                    <a:pt x="0" y="44944"/>
                  </a:lnTo>
                  <a:lnTo>
                    <a:pt x="172412" y="0"/>
                  </a:lnTo>
                  <a:lnTo>
                    <a:pt x="113982" y="44944"/>
                  </a:lnTo>
                  <a:close/>
                </a:path>
              </a:pathLst>
            </a:custGeom>
            <a:ln w="3649">
              <a:solidFill>
                <a:srgbClr val="FF6600"/>
              </a:solidFill>
            </a:ln>
          </p:spPr>
          <p:txBody>
            <a:bodyPr wrap="square" lIns="0" tIns="0" rIns="0" bIns="0" rtlCol="0"/>
            <a:lstStyle/>
            <a:p/>
          </p:txBody>
        </p:sp>
      </p:grpSp>
      <p:sp>
        <p:nvSpPr>
          <p:cNvPr id="36" name="object 36" descr=""/>
          <p:cNvSpPr txBox="1"/>
          <p:nvPr/>
        </p:nvSpPr>
        <p:spPr>
          <a:xfrm>
            <a:off x="450291" y="2224486"/>
            <a:ext cx="4902200" cy="1115060"/>
          </a:xfrm>
          <a:prstGeom prst="rect">
            <a:avLst/>
          </a:prstGeom>
        </p:spPr>
        <p:txBody>
          <a:bodyPr wrap="square" lIns="0" tIns="212725" rIns="0" bIns="0" rtlCol="0" vert="horz">
            <a:spAutoFit/>
          </a:bodyPr>
          <a:lstStyle/>
          <a:p>
            <a:pPr marL="12700">
              <a:lnSpc>
                <a:spcPct val="100000"/>
              </a:lnSpc>
              <a:spcBef>
                <a:spcPts val="1675"/>
              </a:spcBef>
            </a:pPr>
            <a:r>
              <a:rPr dirty="0" sz="2400" spc="-5">
                <a:solidFill>
                  <a:srgbClr val="40458B"/>
                </a:solidFill>
                <a:latin typeface="黑体"/>
                <a:cs typeface="黑体"/>
              </a:rPr>
              <a:t>两位分支预测的状态转换如下所示：</a:t>
            </a:r>
            <a:endParaRPr sz="2400">
              <a:latin typeface="黑体"/>
              <a:cs typeface="黑体"/>
            </a:endParaRPr>
          </a:p>
          <a:p>
            <a:pPr marL="2320290">
              <a:lnSpc>
                <a:spcPct val="100000"/>
              </a:lnSpc>
              <a:spcBef>
                <a:spcPts val="1480"/>
              </a:spcBef>
            </a:pPr>
            <a:r>
              <a:rPr dirty="0" sz="2200" spc="505">
                <a:solidFill>
                  <a:srgbClr val="FF6600"/>
                </a:solidFill>
                <a:latin typeface="宋体"/>
                <a:cs typeface="宋体"/>
              </a:rPr>
              <a:t>分支不成功</a:t>
            </a:r>
            <a:endParaRPr sz="2200">
              <a:latin typeface="宋体"/>
              <a:cs typeface="宋体"/>
            </a:endParaRPr>
          </a:p>
        </p:txBody>
      </p:sp>
      <p:sp>
        <p:nvSpPr>
          <p:cNvPr id="37" name="object 37" descr=""/>
          <p:cNvSpPr txBox="1"/>
          <p:nvPr/>
        </p:nvSpPr>
        <p:spPr>
          <a:xfrm>
            <a:off x="5677027" y="2435097"/>
            <a:ext cx="5969000" cy="567055"/>
          </a:xfrm>
          <a:prstGeom prst="rect">
            <a:avLst/>
          </a:prstGeom>
        </p:spPr>
        <p:txBody>
          <a:bodyPr wrap="square" lIns="0" tIns="12700" rIns="0" bIns="0" rtlCol="0" vert="horz">
            <a:spAutoFit/>
          </a:bodyPr>
          <a:lstStyle/>
          <a:p>
            <a:pPr marL="12700">
              <a:lnSpc>
                <a:spcPts val="2130"/>
              </a:lnSpc>
              <a:spcBef>
                <a:spcPts val="100"/>
              </a:spcBef>
            </a:pPr>
            <a:r>
              <a:rPr dirty="0" sz="1800" spc="-5">
                <a:latin typeface="黑体"/>
                <a:cs typeface="黑体"/>
              </a:rPr>
              <a:t>连线边上注明了分支指令的实际执行情况。只有连续两次预</a:t>
            </a:r>
            <a:endParaRPr sz="1800">
              <a:latin typeface="黑体"/>
              <a:cs typeface="黑体"/>
            </a:endParaRPr>
          </a:p>
          <a:p>
            <a:pPr marL="12700">
              <a:lnSpc>
                <a:spcPts val="2130"/>
              </a:lnSpc>
            </a:pPr>
            <a:r>
              <a:rPr dirty="0" sz="1800" spc="-15">
                <a:latin typeface="黑体"/>
                <a:cs typeface="黑体"/>
              </a:rPr>
              <a:t>测错误，才会改变对分支去向的预测。</a:t>
            </a:r>
            <a:endParaRPr sz="1800">
              <a:latin typeface="黑体"/>
              <a:cs typeface="黑体"/>
            </a:endParaRPr>
          </a:p>
        </p:txBody>
      </p:sp>
      <p:sp>
        <p:nvSpPr>
          <p:cNvPr id="38" name="object 38" descr=""/>
          <p:cNvSpPr txBox="1"/>
          <p:nvPr/>
        </p:nvSpPr>
        <p:spPr>
          <a:xfrm>
            <a:off x="118363" y="5938520"/>
            <a:ext cx="2521585" cy="57404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Segoe UI"/>
                <a:cs typeface="Segoe UI"/>
              </a:rPr>
              <a:t>1</a:t>
            </a:r>
            <a:r>
              <a:rPr dirty="0" sz="1800">
                <a:latin typeface="黑体"/>
                <a:cs typeface="黑体"/>
              </a:rPr>
              <a:t>开头认为成功：如</a:t>
            </a:r>
            <a:r>
              <a:rPr dirty="0" sz="1800" spc="-20">
                <a:latin typeface="Segoe UI"/>
                <a:cs typeface="Segoe UI"/>
              </a:rPr>
              <a:t>10,11</a:t>
            </a:r>
            <a:endParaRPr sz="1800">
              <a:latin typeface="Segoe UI"/>
              <a:cs typeface="Segoe UI"/>
            </a:endParaRPr>
          </a:p>
          <a:p>
            <a:pPr marL="12700">
              <a:lnSpc>
                <a:spcPct val="100000"/>
              </a:lnSpc>
            </a:pPr>
            <a:r>
              <a:rPr dirty="0" sz="1800" spc="-10">
                <a:latin typeface="Segoe UI"/>
                <a:cs typeface="Segoe UI"/>
              </a:rPr>
              <a:t>0</a:t>
            </a:r>
            <a:r>
              <a:rPr dirty="0" sz="1800">
                <a:latin typeface="黑体"/>
                <a:cs typeface="黑体"/>
              </a:rPr>
              <a:t>开头认为失败：如</a:t>
            </a:r>
            <a:r>
              <a:rPr dirty="0" sz="1800" spc="-20">
                <a:latin typeface="Segoe UI"/>
                <a:cs typeface="Segoe UI"/>
              </a:rPr>
              <a:t>1011</a:t>
            </a:r>
            <a:endParaRPr sz="1800">
              <a:latin typeface="Segoe UI"/>
              <a:cs typeface="Segoe UI"/>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125/175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grpSp>
        <p:nvGrpSpPr>
          <p:cNvPr id="9" name="object 9" descr=""/>
          <p:cNvGrpSpPr/>
          <p:nvPr/>
        </p:nvGrpSpPr>
        <p:grpSpPr>
          <a:xfrm>
            <a:off x="914400" y="3167062"/>
            <a:ext cx="10222230" cy="3133725"/>
            <a:chOff x="914400" y="3167062"/>
            <a:chExt cx="10222230" cy="3133725"/>
          </a:xfrm>
        </p:grpSpPr>
        <p:sp>
          <p:nvSpPr>
            <p:cNvPr id="10" name="object 10" descr=""/>
            <p:cNvSpPr/>
            <p:nvPr/>
          </p:nvSpPr>
          <p:spPr>
            <a:xfrm>
              <a:off x="2667000" y="3435350"/>
              <a:ext cx="8469630" cy="2736850"/>
            </a:xfrm>
            <a:custGeom>
              <a:avLst/>
              <a:gdLst/>
              <a:ahLst/>
              <a:cxnLst/>
              <a:rect l="l" t="t" r="r" b="b"/>
              <a:pathLst>
                <a:path w="8469630" h="2736850">
                  <a:moveTo>
                    <a:pt x="8469376" y="0"/>
                  </a:moveTo>
                  <a:lnTo>
                    <a:pt x="0" y="0"/>
                  </a:lnTo>
                  <a:lnTo>
                    <a:pt x="0" y="2736850"/>
                  </a:lnTo>
                  <a:lnTo>
                    <a:pt x="8469376" y="2736850"/>
                  </a:lnTo>
                  <a:lnTo>
                    <a:pt x="8469376" y="0"/>
                  </a:lnTo>
                  <a:close/>
                </a:path>
              </a:pathLst>
            </a:custGeom>
            <a:solidFill>
              <a:srgbClr val="EAEAEA"/>
            </a:solidFill>
          </p:spPr>
          <p:txBody>
            <a:bodyPr wrap="square" lIns="0" tIns="0" rIns="0" bIns="0" rtlCol="0"/>
            <a:lstStyle/>
            <a:p/>
          </p:txBody>
        </p:sp>
        <p:pic>
          <p:nvPicPr>
            <p:cNvPr id="11" name="object 11" descr=""/>
            <p:cNvPicPr/>
            <p:nvPr/>
          </p:nvPicPr>
          <p:blipFill>
            <a:blip r:embed="rId2" cstate="print"/>
            <a:stretch>
              <a:fillRect/>
            </a:stretch>
          </p:blipFill>
          <p:spPr>
            <a:xfrm>
              <a:off x="914400" y="3167062"/>
              <a:ext cx="9763125" cy="3133725"/>
            </a:xfrm>
            <a:prstGeom prst="rect">
              <a:avLst/>
            </a:prstGeom>
          </p:spPr>
        </p:pic>
      </p:grpSp>
      <p:sp>
        <p:nvSpPr>
          <p:cNvPr id="12" name="object 12"/>
          <p:cNvSpPr txBox="1">
            <a:spLocks noGrp="1"/>
          </p:cNvSpPr>
          <p:nvPr>
            <p:ph type="title"/>
          </p:nvPr>
        </p:nvSpPr>
        <p:spPr>
          <a:xfrm>
            <a:off x="1358264" y="151587"/>
            <a:ext cx="4090670" cy="514350"/>
          </a:xfrm>
          <a:prstGeom prst="rect"/>
        </p:spPr>
        <p:txBody>
          <a:bodyPr wrap="square" lIns="0" tIns="13335" rIns="0" bIns="0" rtlCol="0" vert="horz">
            <a:spAutoFit/>
          </a:bodyPr>
          <a:lstStyle/>
          <a:p>
            <a:pPr marL="12700">
              <a:lnSpc>
                <a:spcPct val="100000"/>
              </a:lnSpc>
              <a:spcBef>
                <a:spcPts val="105"/>
              </a:spcBef>
            </a:pPr>
            <a:r>
              <a:rPr dirty="0"/>
              <a:t>5.4</a:t>
            </a:r>
            <a:r>
              <a:rPr dirty="0" spc="-25"/>
              <a:t> 动态分支预测技术</a:t>
            </a:r>
          </a:p>
        </p:txBody>
      </p:sp>
      <p:sp>
        <p:nvSpPr>
          <p:cNvPr id="13" name="object 13" descr=""/>
          <p:cNvSpPr txBox="1"/>
          <p:nvPr/>
        </p:nvSpPr>
        <p:spPr>
          <a:xfrm>
            <a:off x="486867" y="893670"/>
            <a:ext cx="9457690" cy="2160270"/>
          </a:xfrm>
          <a:prstGeom prst="rect">
            <a:avLst/>
          </a:prstGeom>
        </p:spPr>
        <p:txBody>
          <a:bodyPr wrap="square" lIns="0" tIns="167005" rIns="0" bIns="0" rtlCol="0" vert="horz">
            <a:spAutoFit/>
          </a:bodyPr>
          <a:lstStyle/>
          <a:p>
            <a:pPr marL="12700">
              <a:lnSpc>
                <a:spcPct val="100000"/>
              </a:lnSpc>
              <a:spcBef>
                <a:spcPts val="1315"/>
              </a:spcBef>
            </a:pPr>
            <a:r>
              <a:rPr dirty="0" sz="2400" spc="-5">
                <a:solidFill>
                  <a:srgbClr val="001F5F"/>
                </a:solidFill>
                <a:latin typeface="黑体"/>
                <a:cs typeface="黑体"/>
              </a:rPr>
              <a:t>采用两位二进制位来记录历史</a:t>
            </a:r>
            <a:endParaRPr sz="2400">
              <a:latin typeface="黑体"/>
              <a:cs typeface="黑体"/>
            </a:endParaRPr>
          </a:p>
          <a:p>
            <a:pPr marL="1004569" indent="-457200">
              <a:lnSpc>
                <a:spcPct val="100000"/>
              </a:lnSpc>
              <a:spcBef>
                <a:spcPts val="1025"/>
              </a:spcBef>
              <a:buClr>
                <a:srgbClr val="4668F5"/>
              </a:buClr>
              <a:buSzPct val="70000"/>
              <a:buFont typeface="Wingdings"/>
              <a:buChar char=""/>
              <a:tabLst>
                <a:tab pos="1004569" algn="l"/>
              </a:tabLst>
            </a:pPr>
            <a:r>
              <a:rPr dirty="0" sz="2000" spc="-20" b="1">
                <a:solidFill>
                  <a:srgbClr val="FF5CFF"/>
                </a:solidFill>
                <a:latin typeface="宋体"/>
                <a:cs typeface="宋体"/>
              </a:rPr>
              <a:t>可提高预测的准确度</a:t>
            </a:r>
            <a:endParaRPr sz="2000">
              <a:latin typeface="宋体"/>
              <a:cs typeface="宋体"/>
            </a:endParaRPr>
          </a:p>
          <a:p>
            <a:pPr marL="1004569" indent="-457200">
              <a:lnSpc>
                <a:spcPct val="100000"/>
              </a:lnSpc>
              <a:spcBef>
                <a:spcPts val="965"/>
              </a:spcBef>
              <a:buClr>
                <a:srgbClr val="4668F5"/>
              </a:buClr>
              <a:buSzPct val="70000"/>
              <a:buFont typeface="Wingdings"/>
              <a:buChar char=""/>
              <a:tabLst>
                <a:tab pos="1004569" algn="l"/>
              </a:tabLst>
            </a:pPr>
            <a:r>
              <a:rPr dirty="0" sz="2000" spc="-10" b="1">
                <a:solidFill>
                  <a:srgbClr val="D50092"/>
                </a:solidFill>
                <a:latin typeface="宋体"/>
                <a:cs typeface="宋体"/>
              </a:rPr>
              <a:t>研究结果表明：</a:t>
            </a:r>
            <a:r>
              <a:rPr dirty="0" sz="2000" spc="-20" b="1">
                <a:solidFill>
                  <a:srgbClr val="FF5CFF"/>
                </a:solidFill>
                <a:latin typeface="宋体"/>
                <a:cs typeface="宋体"/>
              </a:rPr>
              <a:t>两位分支预测的性能与</a:t>
            </a:r>
            <a:r>
              <a:rPr dirty="0" sz="2000" spc="-15" b="1">
                <a:solidFill>
                  <a:srgbClr val="9933FF"/>
                </a:solidFill>
                <a:latin typeface="宋体"/>
                <a:cs typeface="宋体"/>
              </a:rPr>
              <a:t>n</a:t>
            </a:r>
            <a:r>
              <a:rPr dirty="0" sz="2000" spc="-10" b="1">
                <a:solidFill>
                  <a:srgbClr val="FF5CFF"/>
                </a:solidFill>
                <a:latin typeface="宋体"/>
                <a:cs typeface="宋体"/>
              </a:rPr>
              <a:t>位</a:t>
            </a:r>
            <a:r>
              <a:rPr dirty="0" sz="2000" spc="-20" b="1">
                <a:solidFill>
                  <a:srgbClr val="FF5CFF"/>
                </a:solidFill>
                <a:latin typeface="宋体"/>
                <a:cs typeface="宋体"/>
              </a:rPr>
              <a:t>（n&gt;2）</a:t>
            </a:r>
            <a:r>
              <a:rPr dirty="0" sz="2000" spc="-25" b="1">
                <a:solidFill>
                  <a:srgbClr val="FF5CFF"/>
                </a:solidFill>
                <a:latin typeface="宋体"/>
                <a:cs typeface="宋体"/>
              </a:rPr>
              <a:t>分支预测的性能差不多。</a:t>
            </a:r>
            <a:endParaRPr sz="2000">
              <a:latin typeface="宋体"/>
              <a:cs typeface="宋体"/>
            </a:endParaRPr>
          </a:p>
          <a:p>
            <a:pPr>
              <a:lnSpc>
                <a:spcPct val="100000"/>
              </a:lnSpc>
              <a:spcBef>
                <a:spcPts val="440"/>
              </a:spcBef>
            </a:pPr>
            <a:endParaRPr sz="2000">
              <a:latin typeface="宋体"/>
              <a:cs typeface="宋体"/>
            </a:endParaRPr>
          </a:p>
          <a:p>
            <a:pPr marL="163830">
              <a:lnSpc>
                <a:spcPct val="100000"/>
              </a:lnSpc>
            </a:pPr>
            <a:r>
              <a:rPr dirty="0" sz="2400" spc="-5">
                <a:solidFill>
                  <a:srgbClr val="40458B"/>
                </a:solidFill>
                <a:latin typeface="黑体"/>
                <a:cs typeface="黑体"/>
              </a:rPr>
              <a:t>两位分支预测的状态转换如下所示：</a:t>
            </a:r>
            <a:endParaRPr sz="2400">
              <a:latin typeface="黑体"/>
              <a:cs typeface="黑体"/>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126/175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435355" y="863400"/>
            <a:ext cx="11602085" cy="5621020"/>
          </a:xfrm>
          <a:prstGeom prst="rect">
            <a:avLst/>
          </a:prstGeom>
        </p:spPr>
        <p:txBody>
          <a:bodyPr wrap="square" lIns="0" tIns="191770" rIns="0" bIns="0" rtlCol="0" vert="horz">
            <a:spAutoFit/>
          </a:bodyPr>
          <a:lstStyle/>
          <a:p>
            <a:pPr marL="134620">
              <a:lnSpc>
                <a:spcPct val="100000"/>
              </a:lnSpc>
              <a:spcBef>
                <a:spcPts val="1510"/>
              </a:spcBef>
            </a:pPr>
            <a:r>
              <a:rPr dirty="0" sz="2800" spc="-35">
                <a:solidFill>
                  <a:srgbClr val="40458B"/>
                </a:solidFill>
                <a:latin typeface="黑体"/>
                <a:cs typeface="黑体"/>
              </a:rPr>
              <a:t>两位分支预测中的操作有</a:t>
            </a:r>
            <a:r>
              <a:rPr dirty="0" sz="2800" spc="-40">
                <a:solidFill>
                  <a:srgbClr val="D50092"/>
                </a:solidFill>
                <a:latin typeface="黑体"/>
                <a:cs typeface="黑体"/>
              </a:rPr>
              <a:t>两个步骤：</a:t>
            </a:r>
            <a:endParaRPr sz="2800">
              <a:latin typeface="黑体"/>
              <a:cs typeface="黑体"/>
            </a:endParaRPr>
          </a:p>
          <a:p>
            <a:pPr marL="818515" indent="-456565">
              <a:lnSpc>
                <a:spcPct val="100000"/>
              </a:lnSpc>
              <a:spcBef>
                <a:spcPts val="1220"/>
              </a:spcBef>
              <a:buClr>
                <a:srgbClr val="4668F5"/>
              </a:buClr>
              <a:buSzPct val="68750"/>
              <a:buFont typeface="Wingdings"/>
              <a:buChar char=""/>
              <a:tabLst>
                <a:tab pos="818515" algn="l"/>
              </a:tabLst>
            </a:pPr>
            <a:r>
              <a:rPr dirty="0" sz="2400" spc="-30" b="1">
                <a:solidFill>
                  <a:srgbClr val="9966FF"/>
                </a:solidFill>
                <a:latin typeface="宋体"/>
                <a:cs typeface="宋体"/>
              </a:rPr>
              <a:t>分支预测</a:t>
            </a:r>
            <a:endParaRPr sz="2400">
              <a:latin typeface="宋体"/>
              <a:cs typeface="宋体"/>
            </a:endParaRPr>
          </a:p>
          <a:p>
            <a:pPr lvl="1" marL="1106805" indent="-381000">
              <a:lnSpc>
                <a:spcPct val="100000"/>
              </a:lnSpc>
              <a:spcBef>
                <a:spcPts val="1025"/>
              </a:spcBef>
              <a:buClr>
                <a:srgbClr val="9966FF"/>
              </a:buClr>
              <a:buSzPct val="65000"/>
              <a:buFont typeface="Wingdings"/>
              <a:buChar char=""/>
              <a:tabLst>
                <a:tab pos="1106805" algn="l"/>
              </a:tabLst>
            </a:pPr>
            <a:r>
              <a:rPr dirty="0" sz="2000" spc="-10" b="1">
                <a:solidFill>
                  <a:srgbClr val="FF09FF"/>
                </a:solidFill>
                <a:latin typeface="宋体"/>
                <a:cs typeface="宋体"/>
              </a:rPr>
              <a:t>当分支指令到达译码段</a:t>
            </a:r>
            <a:r>
              <a:rPr dirty="0" sz="2000" spc="-20" b="1">
                <a:solidFill>
                  <a:srgbClr val="9933FF"/>
                </a:solidFill>
                <a:latin typeface="宋体"/>
                <a:cs typeface="宋体"/>
              </a:rPr>
              <a:t>（ID）</a:t>
            </a:r>
            <a:r>
              <a:rPr dirty="0" sz="2000" spc="-15" b="1">
                <a:solidFill>
                  <a:srgbClr val="FF09FF"/>
                </a:solidFill>
                <a:latin typeface="宋体"/>
                <a:cs typeface="宋体"/>
              </a:rPr>
              <a:t>时，根据从</a:t>
            </a:r>
            <a:r>
              <a:rPr dirty="0" sz="2000" spc="-20" b="1">
                <a:solidFill>
                  <a:srgbClr val="9933FF"/>
                </a:solidFill>
                <a:latin typeface="宋体"/>
                <a:cs typeface="宋体"/>
              </a:rPr>
              <a:t>BHT</a:t>
            </a:r>
            <a:r>
              <a:rPr dirty="0" sz="2000" spc="-20" b="1">
                <a:solidFill>
                  <a:srgbClr val="FF09FF"/>
                </a:solidFill>
                <a:latin typeface="宋体"/>
                <a:cs typeface="宋体"/>
              </a:rPr>
              <a:t>读出的信息进行分支预测 。</a:t>
            </a:r>
            <a:endParaRPr sz="2000">
              <a:latin typeface="宋体"/>
              <a:cs typeface="宋体"/>
            </a:endParaRPr>
          </a:p>
          <a:p>
            <a:pPr lvl="1" marL="1106805" marR="5080" indent="-381000">
              <a:lnSpc>
                <a:spcPct val="120000"/>
              </a:lnSpc>
              <a:spcBef>
                <a:spcPts val="480"/>
              </a:spcBef>
              <a:buClr>
                <a:srgbClr val="9966FF"/>
              </a:buClr>
              <a:buSzPct val="65000"/>
              <a:buFont typeface="Wingdings"/>
              <a:buChar char=""/>
              <a:tabLst>
                <a:tab pos="1106805" algn="l"/>
              </a:tabLst>
            </a:pPr>
            <a:r>
              <a:rPr dirty="0" sz="2000" spc="-25" b="1">
                <a:solidFill>
                  <a:srgbClr val="FF09FF"/>
                </a:solidFill>
                <a:latin typeface="宋体"/>
                <a:cs typeface="宋体"/>
              </a:rPr>
              <a:t>若预测正确，就继续处理后续的指令，流水线没有断流。否则，就要作废已经预取和分析的指令，恢复现场，并从另一条分支路径重新取指令。</a:t>
            </a:r>
            <a:endParaRPr sz="2000">
              <a:latin typeface="宋体"/>
              <a:cs typeface="宋体"/>
            </a:endParaRPr>
          </a:p>
          <a:p>
            <a:pPr marL="818515" indent="-456565">
              <a:lnSpc>
                <a:spcPct val="100000"/>
              </a:lnSpc>
              <a:spcBef>
                <a:spcPts val="1090"/>
              </a:spcBef>
              <a:buClr>
                <a:srgbClr val="4668F5"/>
              </a:buClr>
              <a:buSzPct val="68750"/>
              <a:buFont typeface="Wingdings"/>
              <a:buChar char=""/>
              <a:tabLst>
                <a:tab pos="818515" algn="l"/>
              </a:tabLst>
            </a:pPr>
            <a:r>
              <a:rPr dirty="0" sz="2400" spc="-20" b="1">
                <a:solidFill>
                  <a:srgbClr val="9966FF"/>
                </a:solidFill>
                <a:latin typeface="宋体"/>
                <a:cs typeface="宋体"/>
              </a:rPr>
              <a:t>状态修改（当分支成功时</a:t>
            </a:r>
            <a:r>
              <a:rPr dirty="0" sz="2400" spc="-50" b="1">
                <a:solidFill>
                  <a:srgbClr val="9966FF"/>
                </a:solidFill>
                <a:latin typeface="宋体"/>
                <a:cs typeface="宋体"/>
              </a:rPr>
              <a:t>）</a:t>
            </a:r>
            <a:endParaRPr sz="2400">
              <a:latin typeface="宋体"/>
              <a:cs typeface="宋体"/>
            </a:endParaRPr>
          </a:p>
          <a:p>
            <a:pPr lvl="1" marL="1106805" indent="-457200">
              <a:lnSpc>
                <a:spcPct val="100000"/>
              </a:lnSpc>
              <a:spcBef>
                <a:spcPts val="1025"/>
              </a:spcBef>
              <a:buClr>
                <a:srgbClr val="4668F5"/>
              </a:buClr>
              <a:buSzPct val="70000"/>
              <a:buFont typeface="Wingdings"/>
              <a:buChar char=""/>
              <a:tabLst>
                <a:tab pos="1106805" algn="l"/>
              </a:tabLst>
            </a:pPr>
            <a:r>
              <a:rPr dirty="0" sz="2000" spc="-15" b="1">
                <a:solidFill>
                  <a:srgbClr val="FF09FF"/>
                </a:solidFill>
                <a:latin typeface="宋体"/>
                <a:cs typeface="宋体"/>
              </a:rPr>
              <a:t>根据状态变迁图修改状态</a:t>
            </a:r>
            <a:endParaRPr sz="2000">
              <a:latin typeface="宋体"/>
              <a:cs typeface="宋体"/>
            </a:endParaRPr>
          </a:p>
          <a:p>
            <a:pPr marL="12700">
              <a:lnSpc>
                <a:spcPct val="100000"/>
              </a:lnSpc>
              <a:spcBef>
                <a:spcPts val="1000"/>
              </a:spcBef>
            </a:pPr>
            <a:r>
              <a:rPr dirty="0" sz="2800" spc="-30">
                <a:solidFill>
                  <a:srgbClr val="40458B"/>
                </a:solidFill>
                <a:latin typeface="Tahoma"/>
                <a:cs typeface="Tahoma"/>
              </a:rPr>
              <a:t>BHT</a:t>
            </a:r>
            <a:r>
              <a:rPr dirty="0" sz="2800" spc="-45">
                <a:solidFill>
                  <a:srgbClr val="40458B"/>
                </a:solidFill>
                <a:latin typeface="黑体"/>
                <a:cs typeface="黑体"/>
              </a:rPr>
              <a:t>方法只在以下情况下发挥作用：</a:t>
            </a:r>
            <a:endParaRPr sz="2800">
              <a:latin typeface="黑体"/>
              <a:cs typeface="黑体"/>
            </a:endParaRPr>
          </a:p>
          <a:p>
            <a:pPr marL="696595" indent="-457200">
              <a:lnSpc>
                <a:spcPct val="100000"/>
              </a:lnSpc>
              <a:spcBef>
                <a:spcPts val="1215"/>
              </a:spcBef>
              <a:buClr>
                <a:srgbClr val="4668F5"/>
              </a:buClr>
              <a:buSzPct val="68750"/>
              <a:buFont typeface="Wingdings"/>
              <a:buChar char=""/>
              <a:tabLst>
                <a:tab pos="696595" algn="l"/>
              </a:tabLst>
            </a:pPr>
            <a:r>
              <a:rPr dirty="0" sz="2400" spc="-25" b="1">
                <a:solidFill>
                  <a:srgbClr val="9933FF"/>
                </a:solidFill>
                <a:latin typeface="宋体"/>
                <a:cs typeface="宋体"/>
              </a:rPr>
              <a:t>减少流水线停顿方面</a:t>
            </a:r>
            <a:endParaRPr sz="2400">
              <a:latin typeface="宋体"/>
              <a:cs typeface="宋体"/>
            </a:endParaRPr>
          </a:p>
          <a:p>
            <a:pPr lvl="1" marL="984885" indent="-381000">
              <a:lnSpc>
                <a:spcPct val="100000"/>
              </a:lnSpc>
              <a:spcBef>
                <a:spcPts val="1025"/>
              </a:spcBef>
              <a:buClr>
                <a:srgbClr val="9966FF"/>
              </a:buClr>
              <a:buSzPct val="65000"/>
              <a:buFont typeface="Wingdings"/>
              <a:buChar char=""/>
              <a:tabLst>
                <a:tab pos="984885" algn="l"/>
              </a:tabLst>
            </a:pPr>
            <a:r>
              <a:rPr dirty="0" sz="2000" spc="-25" b="1">
                <a:solidFill>
                  <a:srgbClr val="D50092"/>
                </a:solidFill>
                <a:latin typeface="宋体"/>
                <a:cs typeface="宋体"/>
              </a:rPr>
              <a:t>需要判定分支是否成功所需的时间大于确定分支目标地址所需的时间。</a:t>
            </a:r>
            <a:endParaRPr sz="2000">
              <a:latin typeface="宋体"/>
              <a:cs typeface="宋体"/>
            </a:endParaRPr>
          </a:p>
          <a:p>
            <a:pPr marL="527685">
              <a:lnSpc>
                <a:spcPct val="100000"/>
              </a:lnSpc>
              <a:spcBef>
                <a:spcPts val="960"/>
              </a:spcBef>
            </a:pPr>
            <a:r>
              <a:rPr dirty="0" sz="2000" spc="-15" b="1">
                <a:solidFill>
                  <a:srgbClr val="D50092"/>
                </a:solidFill>
                <a:latin typeface="宋体"/>
                <a:cs typeface="宋体"/>
              </a:rPr>
              <a:t>前述</a:t>
            </a:r>
            <a:r>
              <a:rPr dirty="0" sz="2000" spc="-10" b="1">
                <a:solidFill>
                  <a:srgbClr val="D50092"/>
                </a:solidFill>
                <a:latin typeface="Tahoma"/>
                <a:cs typeface="Tahoma"/>
              </a:rPr>
              <a:t>5</a:t>
            </a:r>
            <a:r>
              <a:rPr dirty="0" sz="2000" spc="-25" b="1">
                <a:solidFill>
                  <a:srgbClr val="D50092"/>
                </a:solidFill>
                <a:latin typeface="宋体"/>
                <a:cs typeface="宋体"/>
              </a:rPr>
              <a:t>段经典流水线：由于判定分支是否成功和计算分支目标地址都是在</a:t>
            </a:r>
            <a:r>
              <a:rPr dirty="0" sz="2000" spc="-10" b="1">
                <a:solidFill>
                  <a:srgbClr val="D50092"/>
                </a:solidFill>
                <a:latin typeface="Tahoma"/>
                <a:cs typeface="Tahoma"/>
              </a:rPr>
              <a:t>ID</a:t>
            </a:r>
            <a:r>
              <a:rPr dirty="0" sz="2000" spc="-20" b="1">
                <a:solidFill>
                  <a:srgbClr val="D50092"/>
                </a:solidFill>
                <a:latin typeface="宋体"/>
                <a:cs typeface="宋体"/>
              </a:rPr>
              <a:t>段完成，所以</a:t>
            </a:r>
            <a:r>
              <a:rPr dirty="0" sz="2000" spc="-10" b="1">
                <a:solidFill>
                  <a:srgbClr val="D50092"/>
                </a:solidFill>
                <a:latin typeface="Tahoma"/>
                <a:cs typeface="Tahoma"/>
              </a:rPr>
              <a:t>BHT</a:t>
            </a:r>
            <a:r>
              <a:rPr dirty="0" sz="2000" spc="-35" b="1">
                <a:solidFill>
                  <a:srgbClr val="D50092"/>
                </a:solidFill>
                <a:latin typeface="宋体"/>
                <a:cs typeface="宋体"/>
              </a:rPr>
              <a:t>方法</a:t>
            </a:r>
            <a:endParaRPr sz="2000">
              <a:latin typeface="宋体"/>
              <a:cs typeface="宋体"/>
            </a:endParaRPr>
          </a:p>
          <a:p>
            <a:pPr marL="527685">
              <a:lnSpc>
                <a:spcPct val="100000"/>
              </a:lnSpc>
              <a:spcBef>
                <a:spcPts val="484"/>
              </a:spcBef>
            </a:pPr>
            <a:r>
              <a:rPr dirty="0" sz="2000" spc="-15" b="1">
                <a:solidFill>
                  <a:srgbClr val="D50092"/>
                </a:solidFill>
                <a:latin typeface="宋体"/>
                <a:cs typeface="宋体"/>
              </a:rPr>
              <a:t>不会给该流水线带来好处。</a:t>
            </a:r>
            <a:endParaRPr sz="2000">
              <a:latin typeface="宋体"/>
              <a:cs typeface="宋体"/>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127/175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438404" y="1223014"/>
            <a:ext cx="11704320" cy="4336415"/>
          </a:xfrm>
          <a:prstGeom prst="rect">
            <a:avLst/>
          </a:prstGeom>
        </p:spPr>
        <p:txBody>
          <a:bodyPr wrap="square" lIns="0" tIns="192405" rIns="0" bIns="0" rtlCol="0" vert="horz">
            <a:spAutoFit/>
          </a:bodyPr>
          <a:lstStyle/>
          <a:p>
            <a:pPr marL="12700">
              <a:lnSpc>
                <a:spcPct val="100000"/>
              </a:lnSpc>
              <a:spcBef>
                <a:spcPts val="1515"/>
              </a:spcBef>
            </a:pPr>
            <a:r>
              <a:rPr dirty="0" sz="2800" spc="-30">
                <a:solidFill>
                  <a:srgbClr val="40458B"/>
                </a:solidFill>
                <a:latin typeface="Tahoma"/>
                <a:cs typeface="Tahoma"/>
              </a:rPr>
              <a:t>BHT</a:t>
            </a:r>
            <a:r>
              <a:rPr dirty="0" sz="2800" spc="-35">
                <a:solidFill>
                  <a:srgbClr val="40458B"/>
                </a:solidFill>
                <a:latin typeface="黑体"/>
                <a:cs typeface="黑体"/>
              </a:rPr>
              <a:t>方法只考虑了预测部分，</a:t>
            </a:r>
            <a:r>
              <a:rPr dirty="0" sz="2800" spc="-35">
                <a:solidFill>
                  <a:srgbClr val="FF0000"/>
                </a:solidFill>
                <a:latin typeface="黑体"/>
                <a:cs typeface="黑体"/>
              </a:rPr>
              <a:t>没有考虑预测后的处理情况（即目标地址</a:t>
            </a:r>
            <a:r>
              <a:rPr dirty="0" sz="2800" spc="-25">
                <a:solidFill>
                  <a:srgbClr val="FF0000"/>
                </a:solidFill>
                <a:latin typeface="黑体"/>
                <a:cs typeface="黑体"/>
              </a:rPr>
              <a:t>）</a:t>
            </a:r>
            <a:r>
              <a:rPr dirty="0" sz="2800" spc="-25">
                <a:solidFill>
                  <a:srgbClr val="40458B"/>
                </a:solidFill>
                <a:latin typeface="黑体"/>
                <a:cs typeface="黑体"/>
              </a:rPr>
              <a:t>：</a:t>
            </a:r>
            <a:endParaRPr sz="2800">
              <a:latin typeface="黑体"/>
              <a:cs typeface="黑体"/>
            </a:endParaRPr>
          </a:p>
          <a:p>
            <a:pPr marL="696595" marR="314960" indent="-457200">
              <a:lnSpc>
                <a:spcPct val="120000"/>
              </a:lnSpc>
              <a:spcBef>
                <a:spcPts val="645"/>
              </a:spcBef>
              <a:buClr>
                <a:srgbClr val="4668F5"/>
              </a:buClr>
              <a:buSzPct val="68750"/>
              <a:buFont typeface="Wingdings"/>
              <a:buChar char=""/>
              <a:tabLst>
                <a:tab pos="696595" algn="l"/>
              </a:tabLst>
            </a:pPr>
            <a:r>
              <a:rPr dirty="0" sz="2400" spc="-25" b="1">
                <a:solidFill>
                  <a:srgbClr val="9933FF"/>
                </a:solidFill>
                <a:latin typeface="宋体"/>
                <a:cs typeface="宋体"/>
              </a:rPr>
              <a:t>研究结果表明：对于</a:t>
            </a:r>
            <a:r>
              <a:rPr dirty="0" sz="2400" spc="-10" b="1">
                <a:solidFill>
                  <a:srgbClr val="9933FF"/>
                </a:solidFill>
                <a:latin typeface="Tahoma"/>
                <a:cs typeface="Tahoma"/>
              </a:rPr>
              <a:t>SPEC89</a:t>
            </a:r>
            <a:r>
              <a:rPr dirty="0" sz="2400" spc="-20" b="1">
                <a:solidFill>
                  <a:srgbClr val="9933FF"/>
                </a:solidFill>
                <a:latin typeface="宋体"/>
                <a:cs typeface="宋体"/>
              </a:rPr>
              <a:t>测试程序来说，具有大小为</a:t>
            </a:r>
            <a:r>
              <a:rPr dirty="0" sz="2400" spc="-30" b="1">
                <a:solidFill>
                  <a:srgbClr val="9933FF"/>
                </a:solidFill>
                <a:latin typeface="Tahoma"/>
                <a:cs typeface="Tahoma"/>
              </a:rPr>
              <a:t>4KB</a:t>
            </a:r>
            <a:r>
              <a:rPr dirty="0" sz="2400" spc="-20" b="1">
                <a:solidFill>
                  <a:srgbClr val="9933FF"/>
                </a:solidFill>
                <a:latin typeface="宋体"/>
                <a:cs typeface="宋体"/>
              </a:rPr>
              <a:t>的</a:t>
            </a:r>
            <a:r>
              <a:rPr dirty="0" sz="2400" spc="-30" b="1">
                <a:solidFill>
                  <a:srgbClr val="9933FF"/>
                </a:solidFill>
                <a:latin typeface="Tahoma"/>
                <a:cs typeface="Tahoma"/>
              </a:rPr>
              <a:t>BHT</a:t>
            </a:r>
            <a:r>
              <a:rPr dirty="0" sz="2400" spc="-30" b="1">
                <a:solidFill>
                  <a:srgbClr val="9933FF"/>
                </a:solidFill>
                <a:latin typeface="宋体"/>
                <a:cs typeface="宋体"/>
              </a:rPr>
              <a:t>的预测准确</a:t>
            </a:r>
            <a:r>
              <a:rPr dirty="0" sz="2400" spc="-20" b="1">
                <a:solidFill>
                  <a:srgbClr val="9933FF"/>
                </a:solidFill>
                <a:latin typeface="宋体"/>
                <a:cs typeface="宋体"/>
              </a:rPr>
              <a:t>率为</a:t>
            </a:r>
            <a:r>
              <a:rPr dirty="0" sz="2400" spc="-10" b="1">
                <a:solidFill>
                  <a:srgbClr val="9933FF"/>
                </a:solidFill>
                <a:latin typeface="Tahoma"/>
                <a:cs typeface="Tahoma"/>
              </a:rPr>
              <a:t>82%</a:t>
            </a:r>
            <a:r>
              <a:rPr dirty="0" sz="2400" spc="-10" b="1">
                <a:solidFill>
                  <a:srgbClr val="9933FF"/>
                </a:solidFill>
                <a:latin typeface="宋体"/>
                <a:cs typeface="宋体"/>
              </a:rPr>
              <a:t>～</a:t>
            </a:r>
            <a:r>
              <a:rPr dirty="0" sz="2400" spc="-10" b="1">
                <a:solidFill>
                  <a:srgbClr val="9933FF"/>
                </a:solidFill>
                <a:latin typeface="Tahoma"/>
                <a:cs typeface="Tahoma"/>
              </a:rPr>
              <a:t>99%</a:t>
            </a:r>
            <a:endParaRPr sz="2400">
              <a:latin typeface="Tahoma"/>
              <a:cs typeface="Tahoma"/>
            </a:endParaRPr>
          </a:p>
          <a:p>
            <a:pPr marL="696595" indent="-457200">
              <a:lnSpc>
                <a:spcPct val="100000"/>
              </a:lnSpc>
              <a:spcBef>
                <a:spcPts val="1150"/>
              </a:spcBef>
              <a:buClr>
                <a:srgbClr val="4668F5"/>
              </a:buClr>
              <a:buSzPct val="68750"/>
              <a:buFont typeface="Wingdings"/>
              <a:buChar char=""/>
              <a:tabLst>
                <a:tab pos="696595" algn="l"/>
              </a:tabLst>
            </a:pPr>
            <a:r>
              <a:rPr dirty="0" sz="2400" spc="-25" b="1">
                <a:solidFill>
                  <a:srgbClr val="9933FF"/>
                </a:solidFill>
                <a:latin typeface="宋体"/>
                <a:cs typeface="宋体"/>
              </a:rPr>
              <a:t>一般来说，采用</a:t>
            </a:r>
            <a:r>
              <a:rPr dirty="0" sz="2400" spc="-20" b="1">
                <a:solidFill>
                  <a:srgbClr val="9933FF"/>
                </a:solidFill>
                <a:latin typeface="Tahoma"/>
                <a:cs typeface="Tahoma"/>
              </a:rPr>
              <a:t>4KB</a:t>
            </a:r>
            <a:r>
              <a:rPr dirty="0" sz="2400" spc="-25" b="1">
                <a:solidFill>
                  <a:srgbClr val="9933FF"/>
                </a:solidFill>
                <a:latin typeface="宋体"/>
                <a:cs typeface="宋体"/>
              </a:rPr>
              <a:t>的</a:t>
            </a:r>
            <a:r>
              <a:rPr dirty="0" sz="2400" spc="-30" b="1">
                <a:solidFill>
                  <a:srgbClr val="9933FF"/>
                </a:solidFill>
                <a:latin typeface="Tahoma"/>
                <a:cs typeface="Tahoma"/>
              </a:rPr>
              <a:t>BHT</a:t>
            </a:r>
            <a:r>
              <a:rPr dirty="0" sz="2400" spc="-35" b="1">
                <a:solidFill>
                  <a:srgbClr val="9933FF"/>
                </a:solidFill>
                <a:latin typeface="宋体"/>
                <a:cs typeface="宋体"/>
              </a:rPr>
              <a:t>就可以了</a:t>
            </a:r>
            <a:endParaRPr sz="2400">
              <a:latin typeface="宋体"/>
              <a:cs typeface="宋体"/>
            </a:endParaRPr>
          </a:p>
          <a:p>
            <a:pPr marL="12700">
              <a:lnSpc>
                <a:spcPct val="100000"/>
              </a:lnSpc>
              <a:spcBef>
                <a:spcPts val="2635"/>
              </a:spcBef>
            </a:pPr>
            <a:r>
              <a:rPr dirty="0" sz="2800" spc="-30">
                <a:solidFill>
                  <a:srgbClr val="40458B"/>
                </a:solidFill>
                <a:latin typeface="Tahoma"/>
                <a:cs typeface="Tahoma"/>
              </a:rPr>
              <a:t>BHT</a:t>
            </a:r>
            <a:r>
              <a:rPr dirty="0" sz="2800" spc="-35">
                <a:solidFill>
                  <a:srgbClr val="40458B"/>
                </a:solidFill>
                <a:latin typeface="黑体"/>
                <a:cs typeface="黑体"/>
              </a:rPr>
              <a:t>实现：</a:t>
            </a:r>
            <a:endParaRPr sz="2800">
              <a:latin typeface="黑体"/>
              <a:cs typeface="黑体"/>
            </a:endParaRPr>
          </a:p>
          <a:p>
            <a:pPr lvl="1" marL="768350" indent="-457200">
              <a:lnSpc>
                <a:spcPct val="100000"/>
              </a:lnSpc>
              <a:spcBef>
                <a:spcPts val="1215"/>
              </a:spcBef>
              <a:buClr>
                <a:srgbClr val="4668F5"/>
              </a:buClr>
              <a:buSzPct val="68750"/>
              <a:buFont typeface="Wingdings"/>
              <a:buChar char=""/>
              <a:tabLst>
                <a:tab pos="768350" algn="l"/>
              </a:tabLst>
            </a:pPr>
            <a:r>
              <a:rPr dirty="0" sz="2400" spc="-30" b="1">
                <a:solidFill>
                  <a:srgbClr val="9933FF"/>
                </a:solidFill>
                <a:latin typeface="Tahoma"/>
                <a:cs typeface="Tahoma"/>
              </a:rPr>
              <a:t>BHT</a:t>
            </a:r>
            <a:r>
              <a:rPr dirty="0" sz="2400" spc="-25" b="1">
                <a:solidFill>
                  <a:srgbClr val="9933FF"/>
                </a:solidFill>
                <a:latin typeface="宋体"/>
                <a:cs typeface="宋体"/>
              </a:rPr>
              <a:t>可以跟分支指令一起存放在指令</a:t>
            </a:r>
            <a:r>
              <a:rPr dirty="0" sz="2400" spc="-10" b="1">
                <a:solidFill>
                  <a:srgbClr val="9933FF"/>
                </a:solidFill>
                <a:latin typeface="Tahoma"/>
                <a:cs typeface="Tahoma"/>
              </a:rPr>
              <a:t>Cache</a:t>
            </a:r>
            <a:r>
              <a:rPr dirty="0" sz="2400" spc="-30" b="1">
                <a:solidFill>
                  <a:srgbClr val="9933FF"/>
                </a:solidFill>
                <a:latin typeface="宋体"/>
                <a:cs typeface="宋体"/>
              </a:rPr>
              <a:t>中，在取指阶段，把历史位读出来</a:t>
            </a:r>
            <a:endParaRPr sz="2400">
              <a:latin typeface="宋体"/>
              <a:cs typeface="宋体"/>
            </a:endParaRPr>
          </a:p>
          <a:p>
            <a:pPr lvl="1" marL="768350" indent="-457200">
              <a:lnSpc>
                <a:spcPct val="100000"/>
              </a:lnSpc>
              <a:spcBef>
                <a:spcPts val="1155"/>
              </a:spcBef>
              <a:buClr>
                <a:srgbClr val="4668F5"/>
              </a:buClr>
              <a:buSzPct val="68750"/>
              <a:buFont typeface="Wingdings"/>
              <a:buChar char=""/>
              <a:tabLst>
                <a:tab pos="768350" algn="l"/>
              </a:tabLst>
            </a:pPr>
            <a:r>
              <a:rPr dirty="0" sz="2400" spc="-25" b="1">
                <a:solidFill>
                  <a:srgbClr val="9933FF"/>
                </a:solidFill>
                <a:latin typeface="宋体"/>
                <a:cs typeface="宋体"/>
              </a:rPr>
              <a:t>也可以用一块专门的硬件来实现。在取指令的同时，用指令地址的低位去访问</a:t>
            </a:r>
            <a:endParaRPr sz="2400">
              <a:latin typeface="宋体"/>
              <a:cs typeface="宋体"/>
            </a:endParaRPr>
          </a:p>
          <a:p>
            <a:pPr marL="768350">
              <a:lnSpc>
                <a:spcPct val="100000"/>
              </a:lnSpc>
              <a:spcBef>
                <a:spcPts val="575"/>
              </a:spcBef>
            </a:pPr>
            <a:r>
              <a:rPr dirty="0" sz="2400" spc="-25" b="1">
                <a:solidFill>
                  <a:srgbClr val="9933FF"/>
                </a:solidFill>
                <a:latin typeface="Tahoma"/>
                <a:cs typeface="Tahoma"/>
              </a:rPr>
              <a:t>BHT</a:t>
            </a:r>
            <a:r>
              <a:rPr dirty="0" sz="2400" spc="-30" b="1">
                <a:solidFill>
                  <a:srgbClr val="9933FF"/>
                </a:solidFill>
                <a:latin typeface="宋体"/>
                <a:cs typeface="宋体"/>
              </a:rPr>
              <a:t>，读出历史位</a:t>
            </a:r>
            <a:endParaRPr sz="2400">
              <a:latin typeface="宋体"/>
              <a:cs typeface="宋体"/>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128/175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342391" y="833120"/>
            <a:ext cx="11780520" cy="5469890"/>
          </a:xfrm>
          <a:prstGeom prst="rect">
            <a:avLst/>
          </a:prstGeom>
        </p:spPr>
        <p:txBody>
          <a:bodyPr wrap="square" lIns="0" tIns="13335" rIns="0" bIns="0" rtlCol="0" vert="horz">
            <a:spAutoFit/>
          </a:bodyPr>
          <a:lstStyle/>
          <a:p>
            <a:pPr marL="804545">
              <a:lnSpc>
                <a:spcPct val="100000"/>
              </a:lnSpc>
              <a:spcBef>
                <a:spcPts val="105"/>
              </a:spcBef>
            </a:pPr>
            <a:r>
              <a:rPr dirty="0" sz="2600">
                <a:solidFill>
                  <a:srgbClr val="0000CC"/>
                </a:solidFill>
                <a:latin typeface="黑体"/>
                <a:cs typeface="黑体"/>
              </a:rPr>
              <a:t>5.4.2</a:t>
            </a:r>
            <a:r>
              <a:rPr dirty="0" sz="2600" spc="-10">
                <a:solidFill>
                  <a:srgbClr val="0000CC"/>
                </a:solidFill>
                <a:latin typeface="黑体"/>
                <a:cs typeface="黑体"/>
              </a:rPr>
              <a:t> 采用分支目标缓冲器</a:t>
            </a:r>
            <a:r>
              <a:rPr dirty="0" sz="2600" spc="-25">
                <a:solidFill>
                  <a:srgbClr val="0000CC"/>
                </a:solidFill>
                <a:latin typeface="黑体"/>
                <a:cs typeface="黑体"/>
              </a:rPr>
              <a:t>BTB</a:t>
            </a:r>
            <a:endParaRPr sz="2600">
              <a:latin typeface="黑体"/>
              <a:cs typeface="黑体"/>
            </a:endParaRPr>
          </a:p>
          <a:p>
            <a:pPr marL="469900" marR="80645" indent="-457200">
              <a:lnSpc>
                <a:spcPct val="120000"/>
              </a:lnSpc>
              <a:spcBef>
                <a:spcPts val="1445"/>
              </a:spcBef>
            </a:pPr>
            <a:r>
              <a:rPr dirty="0" sz="2400">
                <a:solidFill>
                  <a:srgbClr val="D50092"/>
                </a:solidFill>
                <a:latin typeface="黑体"/>
                <a:cs typeface="黑体"/>
              </a:rPr>
              <a:t>目标：</a:t>
            </a:r>
            <a:r>
              <a:rPr dirty="0" sz="2400" spc="-50">
                <a:solidFill>
                  <a:srgbClr val="001F5F"/>
                </a:solidFill>
                <a:latin typeface="黑体"/>
                <a:cs typeface="黑体"/>
              </a:rPr>
              <a:t>将分支的开销降为 </a:t>
            </a:r>
            <a:r>
              <a:rPr dirty="0" sz="2400">
                <a:solidFill>
                  <a:srgbClr val="001F5F"/>
                </a:solidFill>
                <a:latin typeface="黑体"/>
                <a:cs typeface="黑体"/>
              </a:rPr>
              <a:t>0(（在IF</a:t>
            </a:r>
            <a:r>
              <a:rPr dirty="0" sz="2400" spc="-5">
                <a:solidFill>
                  <a:srgbClr val="001F5F"/>
                </a:solidFill>
                <a:latin typeface="黑体"/>
                <a:cs typeface="黑体"/>
              </a:rPr>
              <a:t>段获取分支目标地址，顺序下一条指令地址，以及预</a:t>
            </a:r>
            <a:r>
              <a:rPr dirty="0" sz="2400">
                <a:solidFill>
                  <a:srgbClr val="001F5F"/>
                </a:solidFill>
                <a:latin typeface="黑体"/>
                <a:cs typeface="黑体"/>
              </a:rPr>
              <a:t>测的结果</a:t>
            </a:r>
            <a:r>
              <a:rPr dirty="0" sz="2400" spc="-25">
                <a:solidFill>
                  <a:srgbClr val="001F5F"/>
                </a:solidFill>
                <a:latin typeface="黑体"/>
                <a:cs typeface="黑体"/>
              </a:rPr>
              <a:t>）)</a:t>
            </a:r>
            <a:endParaRPr sz="2400">
              <a:latin typeface="黑体"/>
              <a:cs typeface="黑体"/>
            </a:endParaRPr>
          </a:p>
          <a:p>
            <a:pPr marL="12700">
              <a:lnSpc>
                <a:spcPct val="100000"/>
              </a:lnSpc>
              <a:spcBef>
                <a:spcPts val="1150"/>
              </a:spcBef>
            </a:pPr>
            <a:r>
              <a:rPr dirty="0" sz="2400">
                <a:solidFill>
                  <a:srgbClr val="D50092"/>
                </a:solidFill>
                <a:latin typeface="黑体"/>
                <a:cs typeface="黑体"/>
              </a:rPr>
              <a:t>方法：</a:t>
            </a:r>
            <a:r>
              <a:rPr dirty="0" sz="2400" spc="-10">
                <a:solidFill>
                  <a:srgbClr val="001F5F"/>
                </a:solidFill>
                <a:latin typeface="黑体"/>
                <a:cs typeface="黑体"/>
              </a:rPr>
              <a:t>分支目标缓冲</a:t>
            </a:r>
            <a:endParaRPr sz="2400">
              <a:latin typeface="黑体"/>
              <a:cs typeface="黑体"/>
            </a:endParaRPr>
          </a:p>
          <a:p>
            <a:pPr marL="1099185" marR="5080" indent="-457200">
              <a:lnSpc>
                <a:spcPct val="120000"/>
              </a:lnSpc>
              <a:spcBef>
                <a:spcPts val="580"/>
              </a:spcBef>
              <a:buSzPct val="89583"/>
              <a:buFont typeface="Wingdings"/>
              <a:buChar char=""/>
              <a:tabLst>
                <a:tab pos="1099185" algn="l"/>
              </a:tabLst>
            </a:pPr>
            <a:r>
              <a:rPr dirty="0" sz="2400" spc="-5">
                <a:solidFill>
                  <a:srgbClr val="40458B"/>
                </a:solidFill>
                <a:latin typeface="黑体"/>
                <a:cs typeface="黑体"/>
              </a:rPr>
              <a:t>将分支成功的分支指令的地址和它的分支目标地址都放到一个缓冲区中保存起来</a:t>
            </a:r>
            <a:r>
              <a:rPr dirty="0" sz="2400" spc="-15">
                <a:solidFill>
                  <a:srgbClr val="40458B"/>
                </a:solidFill>
                <a:latin typeface="黑体"/>
                <a:cs typeface="黑体"/>
              </a:rPr>
              <a:t>缓冲区以分支指令的地址作为标识。</a:t>
            </a:r>
            <a:endParaRPr sz="2400">
              <a:latin typeface="黑体"/>
              <a:cs typeface="黑体"/>
            </a:endParaRPr>
          </a:p>
          <a:p>
            <a:pPr marL="1099185" marR="156210" indent="-457200">
              <a:lnSpc>
                <a:spcPct val="120000"/>
              </a:lnSpc>
              <a:spcBef>
                <a:spcPts val="575"/>
              </a:spcBef>
              <a:buSzPct val="89583"/>
              <a:buFont typeface="Wingdings"/>
              <a:buChar char=""/>
              <a:tabLst>
                <a:tab pos="1099185" algn="l"/>
                <a:tab pos="5209540" algn="l"/>
              </a:tabLst>
            </a:pPr>
            <a:r>
              <a:rPr dirty="0" sz="2400">
                <a:solidFill>
                  <a:srgbClr val="40458B"/>
                </a:solidFill>
                <a:latin typeface="黑体"/>
                <a:cs typeface="黑体"/>
              </a:rPr>
              <a:t>这个缓冲区就是</a:t>
            </a:r>
            <a:r>
              <a:rPr dirty="0" sz="2400">
                <a:solidFill>
                  <a:srgbClr val="FF0000"/>
                </a:solidFill>
                <a:latin typeface="黑体"/>
                <a:cs typeface="黑体"/>
              </a:rPr>
              <a:t>分支目标缓冲器</a:t>
            </a:r>
            <a:r>
              <a:rPr dirty="0" sz="2400">
                <a:solidFill>
                  <a:srgbClr val="9933FF"/>
                </a:solidFill>
                <a:latin typeface="黑体"/>
                <a:cs typeface="黑体"/>
              </a:rPr>
              <a:t>（Branch-Target</a:t>
            </a:r>
            <a:r>
              <a:rPr dirty="0" sz="2400" spc="-60">
                <a:solidFill>
                  <a:srgbClr val="9933FF"/>
                </a:solidFill>
                <a:latin typeface="黑体"/>
                <a:cs typeface="黑体"/>
              </a:rPr>
              <a:t> </a:t>
            </a:r>
            <a:r>
              <a:rPr dirty="0" sz="2400" spc="-10">
                <a:solidFill>
                  <a:srgbClr val="9933FF"/>
                </a:solidFill>
                <a:latin typeface="黑体"/>
                <a:cs typeface="黑体"/>
              </a:rPr>
              <a:t>Buffer</a:t>
            </a:r>
            <a:r>
              <a:rPr dirty="0" sz="2400" spc="-10">
                <a:solidFill>
                  <a:srgbClr val="40458B"/>
                </a:solidFill>
                <a:latin typeface="黑体"/>
                <a:cs typeface="黑体"/>
              </a:rPr>
              <a:t>，</a:t>
            </a:r>
            <a:r>
              <a:rPr dirty="0" sz="2400">
                <a:solidFill>
                  <a:srgbClr val="40458B"/>
                </a:solidFill>
                <a:latin typeface="黑体"/>
                <a:cs typeface="黑体"/>
              </a:rPr>
              <a:t>简记为</a:t>
            </a:r>
            <a:r>
              <a:rPr dirty="0" sz="2400">
                <a:solidFill>
                  <a:srgbClr val="FF0000"/>
                </a:solidFill>
                <a:latin typeface="黑体"/>
                <a:cs typeface="黑体"/>
              </a:rPr>
              <a:t>BTB</a:t>
            </a:r>
            <a:r>
              <a:rPr dirty="0" sz="2400">
                <a:solidFill>
                  <a:srgbClr val="40458B"/>
                </a:solidFill>
                <a:latin typeface="黑体"/>
                <a:cs typeface="黑体"/>
              </a:rPr>
              <a:t>，或者</a:t>
            </a:r>
            <a:r>
              <a:rPr dirty="0" sz="2400" spc="-50">
                <a:solidFill>
                  <a:srgbClr val="FF0000"/>
                </a:solidFill>
                <a:latin typeface="黑体"/>
                <a:cs typeface="黑体"/>
              </a:rPr>
              <a:t>分</a:t>
            </a:r>
            <a:r>
              <a:rPr dirty="0" sz="2400">
                <a:solidFill>
                  <a:srgbClr val="FF0000"/>
                </a:solidFill>
                <a:latin typeface="黑体"/>
                <a:cs typeface="黑体"/>
              </a:rPr>
              <a:t>支目标</a:t>
            </a:r>
            <a:r>
              <a:rPr dirty="0" sz="2400">
                <a:solidFill>
                  <a:srgbClr val="FF0000"/>
                </a:solidFill>
                <a:latin typeface="Tahoma"/>
                <a:cs typeface="Tahoma"/>
              </a:rPr>
              <a:t>Cache</a:t>
            </a:r>
            <a:r>
              <a:rPr dirty="0" sz="2400" spc="-80">
                <a:solidFill>
                  <a:srgbClr val="FF0000"/>
                </a:solidFill>
                <a:latin typeface="Tahoma"/>
                <a:cs typeface="Tahoma"/>
              </a:rPr>
              <a:t> </a:t>
            </a:r>
            <a:r>
              <a:rPr dirty="0" sz="2400">
                <a:solidFill>
                  <a:srgbClr val="9933FF"/>
                </a:solidFill>
                <a:latin typeface="黑体"/>
                <a:cs typeface="黑体"/>
              </a:rPr>
              <a:t>（ranch-</a:t>
            </a:r>
            <a:r>
              <a:rPr dirty="0" sz="2400" spc="-10">
                <a:solidFill>
                  <a:srgbClr val="9933FF"/>
                </a:solidFill>
                <a:latin typeface="黑体"/>
                <a:cs typeface="黑体"/>
              </a:rPr>
              <a:t>Target</a:t>
            </a:r>
            <a:r>
              <a:rPr dirty="0" sz="2400">
                <a:solidFill>
                  <a:srgbClr val="9933FF"/>
                </a:solidFill>
                <a:latin typeface="黑体"/>
                <a:cs typeface="黑体"/>
              </a:rPr>
              <a:t>	Cache</a:t>
            </a:r>
            <a:r>
              <a:rPr dirty="0" sz="2400">
                <a:solidFill>
                  <a:srgbClr val="40458B"/>
                </a:solidFill>
                <a:latin typeface="黑体"/>
                <a:cs typeface="黑体"/>
              </a:rPr>
              <a:t>）</a:t>
            </a:r>
            <a:r>
              <a:rPr dirty="0" sz="2400" spc="-50">
                <a:solidFill>
                  <a:srgbClr val="40458B"/>
                </a:solidFill>
                <a:latin typeface="黑体"/>
                <a:cs typeface="黑体"/>
              </a:rPr>
              <a:t>。</a:t>
            </a:r>
            <a:endParaRPr sz="2400">
              <a:latin typeface="黑体"/>
              <a:cs typeface="黑体"/>
            </a:endParaRPr>
          </a:p>
          <a:p>
            <a:pPr marL="203200">
              <a:lnSpc>
                <a:spcPct val="100000"/>
              </a:lnSpc>
              <a:spcBef>
                <a:spcPts val="990"/>
              </a:spcBef>
            </a:pPr>
            <a:r>
              <a:rPr dirty="0" sz="2400" spc="-5">
                <a:solidFill>
                  <a:srgbClr val="D50092"/>
                </a:solidFill>
                <a:latin typeface="黑体"/>
                <a:cs typeface="黑体"/>
              </a:rPr>
              <a:t>好处</a:t>
            </a:r>
            <a:r>
              <a:rPr dirty="0" sz="2400" spc="-50">
                <a:solidFill>
                  <a:srgbClr val="D50092"/>
                </a:solidFill>
                <a:latin typeface="Tahoma"/>
                <a:cs typeface="Tahoma"/>
              </a:rPr>
              <a:t>:</a:t>
            </a:r>
            <a:endParaRPr sz="2400">
              <a:latin typeface="Tahoma"/>
              <a:cs typeface="Tahoma"/>
            </a:endParaRPr>
          </a:p>
          <a:p>
            <a:pPr marL="1099185" indent="-457200">
              <a:lnSpc>
                <a:spcPct val="100000"/>
              </a:lnSpc>
              <a:spcBef>
                <a:spcPts val="1320"/>
              </a:spcBef>
              <a:buSzPct val="89583"/>
              <a:buFont typeface="Wingdings"/>
              <a:buChar char=""/>
              <a:tabLst>
                <a:tab pos="1099185" algn="l"/>
                <a:tab pos="1861185" algn="l"/>
              </a:tabLst>
            </a:pPr>
            <a:r>
              <a:rPr dirty="0" sz="2400">
                <a:solidFill>
                  <a:srgbClr val="40458B"/>
                </a:solidFill>
                <a:latin typeface="黑体"/>
                <a:cs typeface="黑体"/>
              </a:rPr>
              <a:t>避</a:t>
            </a:r>
            <a:r>
              <a:rPr dirty="0" sz="2400" spc="-50">
                <a:solidFill>
                  <a:srgbClr val="40458B"/>
                </a:solidFill>
                <a:latin typeface="黑体"/>
                <a:cs typeface="黑体"/>
              </a:rPr>
              <a:t>免</a:t>
            </a:r>
            <a:r>
              <a:rPr dirty="0" sz="2400">
                <a:solidFill>
                  <a:srgbClr val="40458B"/>
                </a:solidFill>
                <a:latin typeface="黑体"/>
                <a:cs typeface="黑体"/>
              </a:rPr>
              <a:t>	CPU</a:t>
            </a:r>
            <a:r>
              <a:rPr dirty="0" sz="2400" spc="-5">
                <a:solidFill>
                  <a:srgbClr val="40458B"/>
                </a:solidFill>
                <a:latin typeface="黑体"/>
                <a:cs typeface="黑体"/>
              </a:rPr>
              <a:t> </a:t>
            </a:r>
            <a:r>
              <a:rPr dirty="0" sz="2400">
                <a:solidFill>
                  <a:srgbClr val="40458B"/>
                </a:solidFill>
                <a:latin typeface="黑体"/>
                <a:cs typeface="黑体"/>
              </a:rPr>
              <a:t>每次执行分支跳转时重新计算目标地</a:t>
            </a:r>
            <a:r>
              <a:rPr dirty="0" sz="2400" spc="-50">
                <a:solidFill>
                  <a:srgbClr val="40458B"/>
                </a:solidFill>
                <a:latin typeface="黑体"/>
                <a:cs typeface="黑体"/>
              </a:rPr>
              <a:t>址</a:t>
            </a:r>
            <a:endParaRPr sz="2400">
              <a:latin typeface="黑体"/>
              <a:cs typeface="黑体"/>
            </a:endParaRPr>
          </a:p>
          <a:p>
            <a:pPr marL="349885">
              <a:lnSpc>
                <a:spcPct val="100000"/>
              </a:lnSpc>
              <a:spcBef>
                <a:spcPts val="1425"/>
              </a:spcBef>
            </a:pPr>
            <a:r>
              <a:rPr dirty="0" sz="2400">
                <a:solidFill>
                  <a:srgbClr val="D50092"/>
                </a:solidFill>
                <a:latin typeface="黑体"/>
                <a:cs typeface="黑体"/>
              </a:rPr>
              <a:t>缓冲区</a:t>
            </a:r>
            <a:r>
              <a:rPr dirty="0" sz="2400" spc="-10">
                <a:solidFill>
                  <a:srgbClr val="D50092"/>
                </a:solidFill>
                <a:latin typeface="Tahoma"/>
                <a:cs typeface="Tahoma"/>
              </a:rPr>
              <a:t>:</a:t>
            </a:r>
            <a:r>
              <a:rPr dirty="0" sz="2400">
                <a:solidFill>
                  <a:srgbClr val="D50092"/>
                </a:solidFill>
                <a:latin typeface="黑体"/>
                <a:cs typeface="黑体"/>
              </a:rPr>
              <a:t>联想</a:t>
            </a:r>
            <a:r>
              <a:rPr dirty="0" sz="2400" spc="-25">
                <a:solidFill>
                  <a:srgbClr val="D50092"/>
                </a:solidFill>
                <a:latin typeface="Tahoma"/>
                <a:cs typeface="Tahoma"/>
              </a:rPr>
              <a:t>cache</a:t>
            </a:r>
            <a:r>
              <a:rPr dirty="0" sz="2400">
                <a:solidFill>
                  <a:srgbClr val="D50092"/>
                </a:solidFill>
                <a:latin typeface="黑体"/>
                <a:cs typeface="黑体"/>
              </a:rPr>
              <a:t>的组织映射方式（直接映射、组相连映射、全相连映射</a:t>
            </a:r>
            <a:r>
              <a:rPr dirty="0" sz="2400" spc="-50">
                <a:solidFill>
                  <a:srgbClr val="D50092"/>
                </a:solidFill>
                <a:latin typeface="黑体"/>
                <a:cs typeface="黑体"/>
              </a:rPr>
              <a:t>）</a:t>
            </a:r>
            <a:endParaRPr sz="2400">
              <a:latin typeface="黑体"/>
              <a:cs typeface="黑体"/>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sp>
        <p:nvSpPr>
          <p:cNvPr id="3" name="object 3" descr=""/>
          <p:cNvSpPr txBox="1"/>
          <p:nvPr/>
        </p:nvSpPr>
        <p:spPr>
          <a:xfrm>
            <a:off x="8359267" y="158242"/>
            <a:ext cx="3625850" cy="557530"/>
          </a:xfrm>
          <a:prstGeom prst="rect">
            <a:avLst/>
          </a:prstGeom>
        </p:spPr>
        <p:txBody>
          <a:bodyPr wrap="square" lIns="0" tIns="12065" rIns="0" bIns="0" rtlCol="0" vert="horz">
            <a:spAutoFit/>
          </a:bodyPr>
          <a:lstStyle/>
          <a:p>
            <a:pPr algn="r" marR="44450">
              <a:lnSpc>
                <a:spcPts val="1614"/>
              </a:lnSpc>
              <a:spcBef>
                <a:spcPts val="95"/>
              </a:spcBef>
            </a:pPr>
            <a:r>
              <a:rPr dirty="0" sz="1600" spc="-10" b="1">
                <a:solidFill>
                  <a:srgbClr val="40458B"/>
                </a:solidFill>
                <a:latin typeface="宋体"/>
                <a:cs typeface="宋体"/>
              </a:rPr>
              <a:t>129/175</a:t>
            </a:r>
            <a:endParaRPr sz="1600">
              <a:latin typeface="宋体"/>
              <a:cs typeface="宋体"/>
            </a:endParaRPr>
          </a:p>
          <a:p>
            <a:pPr marL="564515" indent="-551815">
              <a:lnSpc>
                <a:spcPts val="2575"/>
              </a:lnSpc>
              <a:buSzPct val="89583"/>
              <a:buFont typeface="Wingdings"/>
              <a:buChar char=""/>
              <a:tabLst>
                <a:tab pos="564515" algn="l"/>
              </a:tabLst>
            </a:pPr>
            <a:r>
              <a:rPr dirty="0" sz="2400" spc="-5">
                <a:solidFill>
                  <a:srgbClr val="40458B"/>
                </a:solidFill>
                <a:latin typeface="黑体"/>
                <a:cs typeface="黑体"/>
              </a:rPr>
              <a:t>例如当一条分支指令流</a:t>
            </a:r>
            <a:endParaRPr sz="2400">
              <a:latin typeface="黑体"/>
              <a:cs typeface="黑体"/>
            </a:endParaRPr>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37284" y="94869"/>
            <a:ext cx="4090035"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36474" y="1167510"/>
            <a:ext cx="2882265" cy="1271270"/>
          </a:xfrm>
          <a:prstGeom prst="rect">
            <a:avLst/>
          </a:prstGeom>
        </p:spPr>
        <p:txBody>
          <a:bodyPr wrap="square" lIns="0" tIns="12700" rIns="0" bIns="0" rtlCol="0" vert="horz">
            <a:spAutoFit/>
          </a:bodyPr>
          <a:lstStyle/>
          <a:p>
            <a:pPr marL="1496060" indent="-457200">
              <a:lnSpc>
                <a:spcPct val="100000"/>
              </a:lnSpc>
              <a:spcBef>
                <a:spcPts val="100"/>
              </a:spcBef>
              <a:buClr>
                <a:srgbClr val="40458B"/>
              </a:buClr>
              <a:buFont typeface="Wingdings"/>
              <a:buChar char=""/>
              <a:tabLst>
                <a:tab pos="1496060" algn="l"/>
              </a:tabLst>
            </a:pPr>
            <a:r>
              <a:rPr dirty="0" sz="2400">
                <a:solidFill>
                  <a:srgbClr val="001F5F"/>
                </a:solidFill>
                <a:latin typeface="黑体"/>
                <a:cs typeface="黑体"/>
              </a:rPr>
              <a:t>BTB</a:t>
            </a:r>
            <a:r>
              <a:rPr dirty="0" sz="2400" spc="-20">
                <a:solidFill>
                  <a:srgbClr val="001F5F"/>
                </a:solidFill>
                <a:latin typeface="黑体"/>
                <a:cs typeface="黑体"/>
              </a:rPr>
              <a:t>的结构</a:t>
            </a:r>
            <a:endParaRPr sz="2400">
              <a:latin typeface="黑体"/>
              <a:cs typeface="黑体"/>
            </a:endParaRPr>
          </a:p>
          <a:p>
            <a:pPr>
              <a:lnSpc>
                <a:spcPct val="100000"/>
              </a:lnSpc>
              <a:spcBef>
                <a:spcPts val="925"/>
              </a:spcBef>
            </a:pPr>
            <a:endParaRPr sz="2400">
              <a:latin typeface="黑体"/>
              <a:cs typeface="黑体"/>
            </a:endParaRPr>
          </a:p>
          <a:p>
            <a:pPr marL="469265" indent="-456565">
              <a:lnSpc>
                <a:spcPct val="100000"/>
              </a:lnSpc>
              <a:buClr>
                <a:srgbClr val="40458B"/>
              </a:buClr>
              <a:buSzPct val="89583"/>
              <a:buFont typeface="Wingdings"/>
              <a:buChar char=""/>
              <a:tabLst>
                <a:tab pos="469265" algn="l"/>
              </a:tabLst>
            </a:pPr>
            <a:r>
              <a:rPr dirty="0" sz="2400">
                <a:solidFill>
                  <a:srgbClr val="FF0000"/>
                </a:solidFill>
                <a:latin typeface="Tahoma"/>
                <a:cs typeface="Tahoma"/>
              </a:rPr>
              <a:t>BTB</a:t>
            </a:r>
            <a:r>
              <a:rPr dirty="0" sz="2400" spc="-15">
                <a:solidFill>
                  <a:srgbClr val="FF0000"/>
                </a:solidFill>
                <a:latin typeface="黑体"/>
                <a:cs typeface="黑体"/>
              </a:rPr>
              <a:t>工作原理</a:t>
            </a:r>
            <a:endParaRPr sz="2400">
              <a:latin typeface="黑体"/>
              <a:cs typeface="黑体"/>
            </a:endParaRPr>
          </a:p>
        </p:txBody>
      </p:sp>
      <p:sp>
        <p:nvSpPr>
          <p:cNvPr id="11" name="object 11" descr=""/>
          <p:cNvSpPr txBox="1"/>
          <p:nvPr/>
        </p:nvSpPr>
        <p:spPr>
          <a:xfrm>
            <a:off x="8134351" y="4100672"/>
            <a:ext cx="259079" cy="277495"/>
          </a:xfrm>
          <a:prstGeom prst="rect">
            <a:avLst/>
          </a:prstGeom>
        </p:spPr>
        <p:txBody>
          <a:bodyPr wrap="square" lIns="0" tIns="12700" rIns="0" bIns="0" rtlCol="0" vert="horz">
            <a:spAutoFit/>
          </a:bodyPr>
          <a:lstStyle/>
          <a:p>
            <a:pPr marL="12700">
              <a:lnSpc>
                <a:spcPct val="100000"/>
              </a:lnSpc>
              <a:spcBef>
                <a:spcPts val="100"/>
              </a:spcBef>
            </a:pPr>
            <a:r>
              <a:rPr dirty="0" sz="1650" spc="130">
                <a:solidFill>
                  <a:srgbClr val="FF6600"/>
                </a:solidFill>
                <a:latin typeface="宋体"/>
                <a:cs typeface="宋体"/>
              </a:rPr>
              <a:t>无</a:t>
            </a:r>
            <a:endParaRPr sz="1650">
              <a:latin typeface="宋体"/>
              <a:cs typeface="宋体"/>
            </a:endParaRPr>
          </a:p>
        </p:txBody>
      </p:sp>
      <p:grpSp>
        <p:nvGrpSpPr>
          <p:cNvPr id="12" name="object 12" descr=""/>
          <p:cNvGrpSpPr/>
          <p:nvPr/>
        </p:nvGrpSpPr>
        <p:grpSpPr>
          <a:xfrm>
            <a:off x="6026383" y="4075281"/>
            <a:ext cx="2033905" cy="711200"/>
            <a:chOff x="6026383" y="4075281"/>
            <a:chExt cx="2033905" cy="711200"/>
          </a:xfrm>
        </p:grpSpPr>
        <p:sp>
          <p:nvSpPr>
            <p:cNvPr id="13" name="object 13" descr=""/>
            <p:cNvSpPr/>
            <p:nvPr/>
          </p:nvSpPr>
          <p:spPr>
            <a:xfrm>
              <a:off x="6034955" y="4083853"/>
              <a:ext cx="2016760" cy="694055"/>
            </a:xfrm>
            <a:custGeom>
              <a:avLst/>
              <a:gdLst/>
              <a:ahLst/>
              <a:cxnLst/>
              <a:rect l="l" t="t" r="r" b="b"/>
              <a:pathLst>
                <a:path w="2016759" h="694054">
                  <a:moveTo>
                    <a:pt x="1006858" y="0"/>
                  </a:moveTo>
                  <a:lnTo>
                    <a:pt x="0" y="348174"/>
                  </a:lnTo>
                  <a:lnTo>
                    <a:pt x="1006858" y="694027"/>
                  </a:lnTo>
                  <a:lnTo>
                    <a:pt x="2016349" y="348174"/>
                  </a:lnTo>
                  <a:lnTo>
                    <a:pt x="1006858" y="0"/>
                  </a:lnTo>
                  <a:close/>
                </a:path>
              </a:pathLst>
            </a:custGeom>
            <a:solidFill>
              <a:srgbClr val="CCFFCC"/>
            </a:solidFill>
          </p:spPr>
          <p:txBody>
            <a:bodyPr wrap="square" lIns="0" tIns="0" rIns="0" bIns="0" rtlCol="0"/>
            <a:lstStyle/>
            <a:p/>
          </p:txBody>
        </p:sp>
        <p:sp>
          <p:nvSpPr>
            <p:cNvPr id="14" name="object 14" descr=""/>
            <p:cNvSpPr/>
            <p:nvPr/>
          </p:nvSpPr>
          <p:spPr>
            <a:xfrm>
              <a:off x="6034955" y="4083853"/>
              <a:ext cx="2016760" cy="694055"/>
            </a:xfrm>
            <a:custGeom>
              <a:avLst/>
              <a:gdLst/>
              <a:ahLst/>
              <a:cxnLst/>
              <a:rect l="l" t="t" r="r" b="b"/>
              <a:pathLst>
                <a:path w="2016759" h="694054">
                  <a:moveTo>
                    <a:pt x="1006858" y="0"/>
                  </a:moveTo>
                  <a:lnTo>
                    <a:pt x="0" y="348174"/>
                  </a:lnTo>
                  <a:lnTo>
                    <a:pt x="1006858" y="694027"/>
                  </a:lnTo>
                  <a:lnTo>
                    <a:pt x="2016349" y="348174"/>
                  </a:lnTo>
                  <a:lnTo>
                    <a:pt x="1006858" y="0"/>
                  </a:lnTo>
                  <a:close/>
                </a:path>
              </a:pathLst>
            </a:custGeom>
            <a:ln w="16870">
              <a:solidFill>
                <a:srgbClr val="000000"/>
              </a:solidFill>
            </a:ln>
          </p:spPr>
          <p:txBody>
            <a:bodyPr wrap="square" lIns="0" tIns="0" rIns="0" bIns="0" rtlCol="0"/>
            <a:lstStyle/>
            <a:p/>
          </p:txBody>
        </p:sp>
      </p:grpSp>
      <p:sp>
        <p:nvSpPr>
          <p:cNvPr id="15" name="object 15" descr=""/>
          <p:cNvSpPr txBox="1"/>
          <p:nvPr/>
        </p:nvSpPr>
        <p:spPr>
          <a:xfrm>
            <a:off x="6502355" y="4293084"/>
            <a:ext cx="1190625" cy="277495"/>
          </a:xfrm>
          <a:prstGeom prst="rect">
            <a:avLst/>
          </a:prstGeom>
        </p:spPr>
        <p:txBody>
          <a:bodyPr wrap="square" lIns="0" tIns="12700" rIns="0" bIns="0" rtlCol="0" vert="horz">
            <a:spAutoFit/>
          </a:bodyPr>
          <a:lstStyle/>
          <a:p>
            <a:pPr marL="12700">
              <a:lnSpc>
                <a:spcPct val="100000"/>
              </a:lnSpc>
              <a:spcBef>
                <a:spcPts val="100"/>
              </a:spcBef>
            </a:pPr>
            <a:r>
              <a:rPr dirty="0" sz="1650" spc="160">
                <a:latin typeface="宋体"/>
                <a:cs typeface="宋体"/>
              </a:rPr>
              <a:t>有匹配的？</a:t>
            </a:r>
            <a:endParaRPr sz="1650">
              <a:latin typeface="宋体"/>
              <a:cs typeface="宋体"/>
            </a:endParaRPr>
          </a:p>
        </p:txBody>
      </p:sp>
      <p:sp>
        <p:nvSpPr>
          <p:cNvPr id="16" name="object 16" descr=""/>
          <p:cNvSpPr txBox="1"/>
          <p:nvPr/>
        </p:nvSpPr>
        <p:spPr>
          <a:xfrm>
            <a:off x="5858534" y="764257"/>
            <a:ext cx="2449830" cy="351155"/>
          </a:xfrm>
          <a:prstGeom prst="rect">
            <a:avLst/>
          </a:prstGeom>
          <a:solidFill>
            <a:srgbClr val="FFCC99"/>
          </a:solidFill>
          <a:ln w="16718">
            <a:solidFill>
              <a:srgbClr val="000000"/>
            </a:solidFill>
          </a:ln>
        </p:spPr>
        <p:txBody>
          <a:bodyPr wrap="square" lIns="0" tIns="46355" rIns="0" bIns="0" rtlCol="0" vert="horz">
            <a:spAutoFit/>
          </a:bodyPr>
          <a:lstStyle/>
          <a:p>
            <a:pPr marL="188595">
              <a:lnSpc>
                <a:spcPct val="100000"/>
              </a:lnSpc>
              <a:spcBef>
                <a:spcPts val="365"/>
              </a:spcBef>
            </a:pPr>
            <a:r>
              <a:rPr dirty="0" sz="1650" spc="440">
                <a:latin typeface="宋体"/>
                <a:cs typeface="宋体"/>
              </a:rPr>
              <a:t>当前取指令的地址</a:t>
            </a:r>
            <a:endParaRPr sz="1650">
              <a:latin typeface="宋体"/>
              <a:cs typeface="宋体"/>
            </a:endParaRPr>
          </a:p>
        </p:txBody>
      </p:sp>
      <p:sp>
        <p:nvSpPr>
          <p:cNvPr id="17" name="object 17" descr=""/>
          <p:cNvSpPr txBox="1"/>
          <p:nvPr/>
        </p:nvSpPr>
        <p:spPr>
          <a:xfrm>
            <a:off x="7134048" y="1377829"/>
            <a:ext cx="958215" cy="277495"/>
          </a:xfrm>
          <a:prstGeom prst="rect">
            <a:avLst/>
          </a:prstGeom>
        </p:spPr>
        <p:txBody>
          <a:bodyPr wrap="square" lIns="0" tIns="12700" rIns="0" bIns="0" rtlCol="0" vert="horz">
            <a:spAutoFit/>
          </a:bodyPr>
          <a:lstStyle/>
          <a:p>
            <a:pPr marL="12700">
              <a:lnSpc>
                <a:spcPct val="100000"/>
              </a:lnSpc>
              <a:spcBef>
                <a:spcPts val="100"/>
              </a:spcBef>
            </a:pPr>
            <a:r>
              <a:rPr dirty="0" sz="1650" spc="160">
                <a:solidFill>
                  <a:srgbClr val="008000"/>
                </a:solidFill>
                <a:latin typeface="宋体"/>
                <a:cs typeface="宋体"/>
              </a:rPr>
              <a:t>相联查找</a:t>
            </a:r>
            <a:endParaRPr sz="1650">
              <a:latin typeface="宋体"/>
              <a:cs typeface="宋体"/>
            </a:endParaRPr>
          </a:p>
        </p:txBody>
      </p:sp>
      <p:sp>
        <p:nvSpPr>
          <p:cNvPr id="18" name="object 18" descr=""/>
          <p:cNvSpPr txBox="1"/>
          <p:nvPr/>
        </p:nvSpPr>
        <p:spPr>
          <a:xfrm>
            <a:off x="8571587" y="4072388"/>
            <a:ext cx="3028950" cy="758190"/>
          </a:xfrm>
          <a:prstGeom prst="rect">
            <a:avLst/>
          </a:prstGeom>
          <a:ln w="16806">
            <a:solidFill>
              <a:srgbClr val="000000"/>
            </a:solidFill>
          </a:ln>
        </p:spPr>
        <p:txBody>
          <a:bodyPr wrap="square" lIns="0" tIns="64135" rIns="0" bIns="0" rtlCol="0" vert="horz">
            <a:spAutoFit/>
          </a:bodyPr>
          <a:lstStyle/>
          <a:p>
            <a:pPr marL="151130" marR="80010" indent="-9525">
              <a:lnSpc>
                <a:spcPct val="118600"/>
              </a:lnSpc>
              <a:spcBef>
                <a:spcPts val="505"/>
              </a:spcBef>
            </a:pPr>
            <a:r>
              <a:rPr dirty="0" sz="1650" spc="165">
                <a:latin typeface="宋体"/>
                <a:cs typeface="宋体"/>
              </a:rPr>
              <a:t>认为本指令不是分支指令，按普通指令正常执行。</a:t>
            </a:r>
            <a:endParaRPr sz="1650">
              <a:latin typeface="宋体"/>
              <a:cs typeface="宋体"/>
            </a:endParaRPr>
          </a:p>
        </p:txBody>
      </p:sp>
      <p:sp>
        <p:nvSpPr>
          <p:cNvPr id="19" name="object 19" descr=""/>
          <p:cNvSpPr txBox="1"/>
          <p:nvPr/>
        </p:nvSpPr>
        <p:spPr>
          <a:xfrm>
            <a:off x="7183856" y="4819906"/>
            <a:ext cx="259079" cy="277495"/>
          </a:xfrm>
          <a:prstGeom prst="rect">
            <a:avLst/>
          </a:prstGeom>
        </p:spPr>
        <p:txBody>
          <a:bodyPr wrap="square" lIns="0" tIns="12700" rIns="0" bIns="0" rtlCol="0" vert="horz">
            <a:spAutoFit/>
          </a:bodyPr>
          <a:lstStyle/>
          <a:p>
            <a:pPr marL="12700">
              <a:lnSpc>
                <a:spcPct val="100000"/>
              </a:lnSpc>
              <a:spcBef>
                <a:spcPts val="100"/>
              </a:spcBef>
            </a:pPr>
            <a:r>
              <a:rPr dirty="0" sz="1650" spc="130">
                <a:solidFill>
                  <a:srgbClr val="FF6600"/>
                </a:solidFill>
                <a:latin typeface="宋体"/>
                <a:cs typeface="宋体"/>
              </a:rPr>
              <a:t>有</a:t>
            </a:r>
            <a:endParaRPr sz="1650">
              <a:latin typeface="宋体"/>
              <a:cs typeface="宋体"/>
            </a:endParaRPr>
          </a:p>
        </p:txBody>
      </p:sp>
      <p:sp>
        <p:nvSpPr>
          <p:cNvPr id="20" name="object 20" descr=""/>
          <p:cNvSpPr txBox="1"/>
          <p:nvPr/>
        </p:nvSpPr>
        <p:spPr>
          <a:xfrm>
            <a:off x="4876631" y="5156982"/>
            <a:ext cx="4450715" cy="755650"/>
          </a:xfrm>
          <a:prstGeom prst="rect">
            <a:avLst/>
          </a:prstGeom>
          <a:ln w="16736">
            <a:solidFill>
              <a:srgbClr val="000000"/>
            </a:solidFill>
          </a:ln>
        </p:spPr>
        <p:txBody>
          <a:bodyPr wrap="square" lIns="0" tIns="13335" rIns="0" bIns="0" rtlCol="0" vert="horz">
            <a:spAutoFit/>
          </a:bodyPr>
          <a:lstStyle/>
          <a:p>
            <a:pPr marL="117475" marR="130810">
              <a:lnSpc>
                <a:spcPct val="123200"/>
              </a:lnSpc>
              <a:spcBef>
                <a:spcPts val="105"/>
              </a:spcBef>
            </a:pPr>
            <a:r>
              <a:rPr dirty="0" sz="1650" spc="165">
                <a:latin typeface="宋体"/>
                <a:cs typeface="宋体"/>
              </a:rPr>
              <a:t>认为该指令是成功的分支指令，用预测的</a:t>
            </a:r>
            <a:r>
              <a:rPr dirty="0" sz="1650" spc="135">
                <a:latin typeface="宋体"/>
                <a:cs typeface="宋体"/>
              </a:rPr>
              <a:t>分支目标地址作为下一条指令的 </a:t>
            </a:r>
            <a:r>
              <a:rPr dirty="0" sz="1650" spc="90">
                <a:latin typeface="宋体"/>
                <a:cs typeface="宋体"/>
              </a:rPr>
              <a:t>PC</a:t>
            </a:r>
            <a:r>
              <a:rPr dirty="0" sz="1650" spc="-25">
                <a:latin typeface="宋体"/>
                <a:cs typeface="宋体"/>
              </a:rPr>
              <a:t> 值。</a:t>
            </a:r>
            <a:endParaRPr sz="1650">
              <a:latin typeface="宋体"/>
              <a:cs typeface="宋体"/>
            </a:endParaRPr>
          </a:p>
        </p:txBody>
      </p:sp>
      <p:grpSp>
        <p:nvGrpSpPr>
          <p:cNvPr id="21" name="object 21" descr=""/>
          <p:cNvGrpSpPr/>
          <p:nvPr/>
        </p:nvGrpSpPr>
        <p:grpSpPr>
          <a:xfrm>
            <a:off x="7000424" y="3638452"/>
            <a:ext cx="1561465" cy="1515110"/>
            <a:chOff x="7000424" y="3638452"/>
            <a:chExt cx="1561465" cy="1515110"/>
          </a:xfrm>
        </p:grpSpPr>
        <p:sp>
          <p:nvSpPr>
            <p:cNvPr id="22" name="object 22" descr=""/>
            <p:cNvSpPr/>
            <p:nvPr/>
          </p:nvSpPr>
          <p:spPr>
            <a:xfrm>
              <a:off x="7002173" y="3638452"/>
              <a:ext cx="106045" cy="432434"/>
            </a:xfrm>
            <a:custGeom>
              <a:avLst/>
              <a:gdLst/>
              <a:ahLst/>
              <a:cxnLst/>
              <a:rect l="l" t="t" r="r" b="b"/>
              <a:pathLst>
                <a:path w="106045" h="432435">
                  <a:moveTo>
                    <a:pt x="0" y="292516"/>
                  </a:moveTo>
                  <a:lnTo>
                    <a:pt x="52415" y="432241"/>
                  </a:lnTo>
                  <a:lnTo>
                    <a:pt x="87433" y="340027"/>
                  </a:lnTo>
                  <a:lnTo>
                    <a:pt x="40259" y="340027"/>
                  </a:lnTo>
                  <a:lnTo>
                    <a:pt x="40259" y="329009"/>
                  </a:lnTo>
                  <a:lnTo>
                    <a:pt x="0" y="292516"/>
                  </a:lnTo>
                  <a:close/>
                </a:path>
                <a:path w="106045" h="432435">
                  <a:moveTo>
                    <a:pt x="40259" y="329009"/>
                  </a:moveTo>
                  <a:lnTo>
                    <a:pt x="40259" y="340027"/>
                  </a:lnTo>
                  <a:lnTo>
                    <a:pt x="52415" y="340027"/>
                  </a:lnTo>
                  <a:lnTo>
                    <a:pt x="40259" y="329009"/>
                  </a:lnTo>
                  <a:close/>
                </a:path>
                <a:path w="106045" h="432435">
                  <a:moveTo>
                    <a:pt x="65215" y="0"/>
                  </a:moveTo>
                  <a:lnTo>
                    <a:pt x="40259" y="0"/>
                  </a:lnTo>
                  <a:lnTo>
                    <a:pt x="40259" y="329009"/>
                  </a:lnTo>
                  <a:lnTo>
                    <a:pt x="52415" y="340027"/>
                  </a:lnTo>
                  <a:lnTo>
                    <a:pt x="65215" y="328565"/>
                  </a:lnTo>
                  <a:lnTo>
                    <a:pt x="65215" y="0"/>
                  </a:lnTo>
                  <a:close/>
                </a:path>
                <a:path w="106045" h="432435">
                  <a:moveTo>
                    <a:pt x="65215" y="328565"/>
                  </a:moveTo>
                  <a:lnTo>
                    <a:pt x="52415" y="340027"/>
                  </a:lnTo>
                  <a:lnTo>
                    <a:pt x="65215" y="340027"/>
                  </a:lnTo>
                  <a:lnTo>
                    <a:pt x="65215" y="328565"/>
                  </a:lnTo>
                  <a:close/>
                </a:path>
                <a:path w="106045" h="432435">
                  <a:moveTo>
                    <a:pt x="105475" y="292516"/>
                  </a:moveTo>
                  <a:lnTo>
                    <a:pt x="65215" y="328565"/>
                  </a:lnTo>
                  <a:lnTo>
                    <a:pt x="65215" y="340027"/>
                  </a:lnTo>
                  <a:lnTo>
                    <a:pt x="87433" y="340027"/>
                  </a:lnTo>
                  <a:lnTo>
                    <a:pt x="105475" y="292516"/>
                  </a:lnTo>
                  <a:close/>
                </a:path>
              </a:pathLst>
            </a:custGeom>
            <a:solidFill>
              <a:srgbClr val="000000"/>
            </a:solidFill>
          </p:spPr>
          <p:txBody>
            <a:bodyPr wrap="square" lIns="0" tIns="0" rIns="0" bIns="0" rtlCol="0"/>
            <a:lstStyle/>
            <a:p/>
          </p:txBody>
        </p:sp>
        <p:sp>
          <p:nvSpPr>
            <p:cNvPr id="23" name="object 23" descr=""/>
            <p:cNvSpPr/>
            <p:nvPr/>
          </p:nvSpPr>
          <p:spPr>
            <a:xfrm>
              <a:off x="7002173" y="3930969"/>
              <a:ext cx="106045" cy="140335"/>
            </a:xfrm>
            <a:custGeom>
              <a:avLst/>
              <a:gdLst/>
              <a:ahLst/>
              <a:cxnLst/>
              <a:rect l="l" t="t" r="r" b="b"/>
              <a:pathLst>
                <a:path w="106045" h="140335">
                  <a:moveTo>
                    <a:pt x="52415" y="47511"/>
                  </a:moveTo>
                  <a:lnTo>
                    <a:pt x="105475" y="0"/>
                  </a:lnTo>
                  <a:lnTo>
                    <a:pt x="52415" y="139724"/>
                  </a:lnTo>
                  <a:lnTo>
                    <a:pt x="0" y="0"/>
                  </a:lnTo>
                  <a:lnTo>
                    <a:pt x="52415" y="47511"/>
                  </a:lnTo>
                  <a:close/>
                </a:path>
              </a:pathLst>
            </a:custGeom>
            <a:ln w="3481">
              <a:solidFill>
                <a:srgbClr val="000000"/>
              </a:solidFill>
            </a:ln>
          </p:spPr>
          <p:txBody>
            <a:bodyPr wrap="square" lIns="0" tIns="0" rIns="0" bIns="0" rtlCol="0"/>
            <a:lstStyle/>
            <a:p/>
          </p:txBody>
        </p:sp>
        <p:sp>
          <p:nvSpPr>
            <p:cNvPr id="24" name="object 24" descr=""/>
            <p:cNvSpPr/>
            <p:nvPr/>
          </p:nvSpPr>
          <p:spPr>
            <a:xfrm>
              <a:off x="7002173" y="4792201"/>
              <a:ext cx="106045" cy="360045"/>
            </a:xfrm>
            <a:custGeom>
              <a:avLst/>
              <a:gdLst/>
              <a:ahLst/>
              <a:cxnLst/>
              <a:rect l="l" t="t" r="r" b="b"/>
              <a:pathLst>
                <a:path w="106045" h="360045">
                  <a:moveTo>
                    <a:pt x="0" y="220472"/>
                  </a:moveTo>
                  <a:lnTo>
                    <a:pt x="52415" y="359616"/>
                  </a:lnTo>
                  <a:lnTo>
                    <a:pt x="88446" y="265128"/>
                  </a:lnTo>
                  <a:lnTo>
                    <a:pt x="40259" y="265128"/>
                  </a:lnTo>
                  <a:lnTo>
                    <a:pt x="40259" y="254772"/>
                  </a:lnTo>
                  <a:lnTo>
                    <a:pt x="0" y="220472"/>
                  </a:lnTo>
                  <a:close/>
                </a:path>
                <a:path w="106045" h="360045">
                  <a:moveTo>
                    <a:pt x="40259" y="254772"/>
                  </a:moveTo>
                  <a:lnTo>
                    <a:pt x="40259" y="265128"/>
                  </a:lnTo>
                  <a:lnTo>
                    <a:pt x="52415" y="265128"/>
                  </a:lnTo>
                  <a:lnTo>
                    <a:pt x="40259" y="254772"/>
                  </a:lnTo>
                  <a:close/>
                </a:path>
                <a:path w="106045" h="360045">
                  <a:moveTo>
                    <a:pt x="65215" y="0"/>
                  </a:moveTo>
                  <a:lnTo>
                    <a:pt x="40259" y="0"/>
                  </a:lnTo>
                  <a:lnTo>
                    <a:pt x="40259" y="254772"/>
                  </a:lnTo>
                  <a:lnTo>
                    <a:pt x="52415" y="265128"/>
                  </a:lnTo>
                  <a:lnTo>
                    <a:pt x="65215" y="254355"/>
                  </a:lnTo>
                  <a:lnTo>
                    <a:pt x="65215" y="0"/>
                  </a:lnTo>
                  <a:close/>
                </a:path>
                <a:path w="106045" h="360045">
                  <a:moveTo>
                    <a:pt x="65215" y="254355"/>
                  </a:moveTo>
                  <a:lnTo>
                    <a:pt x="52415" y="265128"/>
                  </a:lnTo>
                  <a:lnTo>
                    <a:pt x="65215" y="265128"/>
                  </a:lnTo>
                  <a:lnTo>
                    <a:pt x="65215" y="254355"/>
                  </a:lnTo>
                  <a:close/>
                </a:path>
                <a:path w="106045" h="360045">
                  <a:moveTo>
                    <a:pt x="105475" y="220472"/>
                  </a:moveTo>
                  <a:lnTo>
                    <a:pt x="65215" y="254355"/>
                  </a:lnTo>
                  <a:lnTo>
                    <a:pt x="65215" y="265128"/>
                  </a:lnTo>
                  <a:lnTo>
                    <a:pt x="88446" y="265128"/>
                  </a:lnTo>
                  <a:lnTo>
                    <a:pt x="105475" y="220472"/>
                  </a:lnTo>
                  <a:close/>
                </a:path>
              </a:pathLst>
            </a:custGeom>
            <a:solidFill>
              <a:srgbClr val="000000"/>
            </a:solidFill>
          </p:spPr>
          <p:txBody>
            <a:bodyPr wrap="square" lIns="0" tIns="0" rIns="0" bIns="0" rtlCol="0"/>
            <a:lstStyle/>
            <a:p/>
          </p:txBody>
        </p:sp>
        <p:sp>
          <p:nvSpPr>
            <p:cNvPr id="25" name="object 25" descr=""/>
            <p:cNvSpPr/>
            <p:nvPr/>
          </p:nvSpPr>
          <p:spPr>
            <a:xfrm>
              <a:off x="7002173" y="4792201"/>
              <a:ext cx="106045" cy="360045"/>
            </a:xfrm>
            <a:custGeom>
              <a:avLst/>
              <a:gdLst/>
              <a:ahLst/>
              <a:cxnLst/>
              <a:rect l="l" t="t" r="r" b="b"/>
              <a:pathLst>
                <a:path w="106045" h="360045">
                  <a:moveTo>
                    <a:pt x="65215" y="0"/>
                  </a:moveTo>
                  <a:lnTo>
                    <a:pt x="65215" y="265128"/>
                  </a:lnTo>
                  <a:lnTo>
                    <a:pt x="40259" y="265128"/>
                  </a:lnTo>
                  <a:lnTo>
                    <a:pt x="40259" y="0"/>
                  </a:lnTo>
                  <a:lnTo>
                    <a:pt x="65215" y="0"/>
                  </a:lnTo>
                  <a:close/>
                </a:path>
                <a:path w="106045" h="360045">
                  <a:moveTo>
                    <a:pt x="52415" y="265128"/>
                  </a:moveTo>
                  <a:lnTo>
                    <a:pt x="105475" y="220472"/>
                  </a:lnTo>
                  <a:lnTo>
                    <a:pt x="52415" y="359616"/>
                  </a:lnTo>
                  <a:lnTo>
                    <a:pt x="0" y="220472"/>
                  </a:lnTo>
                  <a:lnTo>
                    <a:pt x="52415" y="265128"/>
                  </a:lnTo>
                  <a:close/>
                </a:path>
              </a:pathLst>
            </a:custGeom>
            <a:ln w="3431">
              <a:solidFill>
                <a:srgbClr val="000000"/>
              </a:solidFill>
            </a:ln>
          </p:spPr>
          <p:txBody>
            <a:bodyPr wrap="square" lIns="0" tIns="0" rIns="0" bIns="0" rtlCol="0"/>
            <a:lstStyle/>
            <a:p/>
          </p:txBody>
        </p:sp>
        <p:sp>
          <p:nvSpPr>
            <p:cNvPr id="26" name="object 26" descr=""/>
            <p:cNvSpPr/>
            <p:nvPr/>
          </p:nvSpPr>
          <p:spPr>
            <a:xfrm>
              <a:off x="8070403" y="4385631"/>
              <a:ext cx="489584" cy="92075"/>
            </a:xfrm>
            <a:custGeom>
              <a:avLst/>
              <a:gdLst/>
              <a:ahLst/>
              <a:cxnLst/>
              <a:rect l="l" t="t" r="r" b="b"/>
              <a:pathLst>
                <a:path w="489584" h="92075">
                  <a:moveTo>
                    <a:pt x="387372" y="44099"/>
                  </a:moveTo>
                  <a:lnTo>
                    <a:pt x="334983" y="91633"/>
                  </a:lnTo>
                  <a:lnTo>
                    <a:pt x="442998" y="58419"/>
                  </a:lnTo>
                  <a:lnTo>
                    <a:pt x="387372" y="58419"/>
                  </a:lnTo>
                  <a:lnTo>
                    <a:pt x="387372" y="44099"/>
                  </a:lnTo>
                  <a:close/>
                </a:path>
                <a:path w="489584" h="92075">
                  <a:moveTo>
                    <a:pt x="374440" y="33213"/>
                  </a:moveTo>
                  <a:lnTo>
                    <a:pt x="0" y="33213"/>
                  </a:lnTo>
                  <a:lnTo>
                    <a:pt x="0" y="58419"/>
                  </a:lnTo>
                  <a:lnTo>
                    <a:pt x="371589" y="58419"/>
                  </a:lnTo>
                  <a:lnTo>
                    <a:pt x="387372" y="44099"/>
                  </a:lnTo>
                  <a:lnTo>
                    <a:pt x="374440" y="33213"/>
                  </a:lnTo>
                  <a:close/>
                </a:path>
                <a:path w="489584" h="92075">
                  <a:moveTo>
                    <a:pt x="451411" y="33213"/>
                  </a:moveTo>
                  <a:lnTo>
                    <a:pt x="387372" y="33213"/>
                  </a:lnTo>
                  <a:lnTo>
                    <a:pt x="387372" y="58419"/>
                  </a:lnTo>
                  <a:lnTo>
                    <a:pt x="442998" y="58419"/>
                  </a:lnTo>
                  <a:lnTo>
                    <a:pt x="489570" y="44099"/>
                  </a:lnTo>
                  <a:lnTo>
                    <a:pt x="451411" y="33213"/>
                  </a:lnTo>
                  <a:close/>
                </a:path>
                <a:path w="489584" h="92075">
                  <a:moveTo>
                    <a:pt x="334983" y="0"/>
                  </a:moveTo>
                  <a:lnTo>
                    <a:pt x="387372" y="44099"/>
                  </a:lnTo>
                  <a:lnTo>
                    <a:pt x="387372" y="33213"/>
                  </a:lnTo>
                  <a:lnTo>
                    <a:pt x="451411" y="33213"/>
                  </a:lnTo>
                  <a:lnTo>
                    <a:pt x="334983" y="0"/>
                  </a:lnTo>
                  <a:close/>
                </a:path>
              </a:pathLst>
            </a:custGeom>
            <a:solidFill>
              <a:srgbClr val="000000"/>
            </a:solidFill>
          </p:spPr>
          <p:txBody>
            <a:bodyPr wrap="square" lIns="0" tIns="0" rIns="0" bIns="0" rtlCol="0"/>
            <a:lstStyle/>
            <a:p/>
          </p:txBody>
        </p:sp>
        <p:sp>
          <p:nvSpPr>
            <p:cNvPr id="27" name="object 27" descr=""/>
            <p:cNvSpPr/>
            <p:nvPr/>
          </p:nvSpPr>
          <p:spPr>
            <a:xfrm>
              <a:off x="8070403" y="4385631"/>
              <a:ext cx="489584" cy="92075"/>
            </a:xfrm>
            <a:custGeom>
              <a:avLst/>
              <a:gdLst/>
              <a:ahLst/>
              <a:cxnLst/>
              <a:rect l="l" t="t" r="r" b="b"/>
              <a:pathLst>
                <a:path w="489584" h="92075">
                  <a:moveTo>
                    <a:pt x="0" y="33213"/>
                  </a:moveTo>
                  <a:lnTo>
                    <a:pt x="387372" y="33213"/>
                  </a:lnTo>
                  <a:lnTo>
                    <a:pt x="387372" y="58419"/>
                  </a:lnTo>
                  <a:lnTo>
                    <a:pt x="0" y="58419"/>
                  </a:lnTo>
                  <a:lnTo>
                    <a:pt x="0" y="33213"/>
                  </a:lnTo>
                  <a:close/>
                </a:path>
                <a:path w="489584" h="92075">
                  <a:moveTo>
                    <a:pt x="387372" y="44099"/>
                  </a:moveTo>
                  <a:lnTo>
                    <a:pt x="334983" y="0"/>
                  </a:lnTo>
                  <a:lnTo>
                    <a:pt x="489570" y="44099"/>
                  </a:lnTo>
                  <a:lnTo>
                    <a:pt x="334983" y="91633"/>
                  </a:lnTo>
                  <a:lnTo>
                    <a:pt x="387372" y="44099"/>
                  </a:lnTo>
                  <a:close/>
                </a:path>
              </a:pathLst>
            </a:custGeom>
            <a:ln w="3431">
              <a:solidFill>
                <a:srgbClr val="000000"/>
              </a:solidFill>
            </a:ln>
          </p:spPr>
          <p:txBody>
            <a:bodyPr wrap="square" lIns="0" tIns="0" rIns="0" bIns="0" rtlCol="0"/>
            <a:lstStyle/>
            <a:p/>
          </p:txBody>
        </p:sp>
      </p:grpSp>
      <p:graphicFrame>
        <p:nvGraphicFramePr>
          <p:cNvPr id="28" name="object 28" descr=""/>
          <p:cNvGraphicFramePr>
            <a:graphicFrameLocks noGrp="1"/>
          </p:cNvGraphicFramePr>
          <p:nvPr/>
        </p:nvGraphicFramePr>
        <p:xfrm>
          <a:off x="5741175" y="1827469"/>
          <a:ext cx="5405755" cy="2138679"/>
        </p:xfrm>
        <a:graphic>
          <a:graphicData uri="http://schemas.openxmlformats.org/drawingml/2006/table">
            <a:tbl>
              <a:tblPr firstRow="1" bandRow="1">
                <a:tableStyleId>{2D5ABB26-0587-4C30-8999-92F81FD0307C}</a:tableStyleId>
              </a:tblPr>
              <a:tblGrid>
                <a:gridCol w="1304925"/>
                <a:gridCol w="1405255"/>
                <a:gridCol w="2600960"/>
              </a:tblGrid>
              <a:tr h="269875">
                <a:tc gridSpan="2">
                  <a:txBody>
                    <a:bodyPr/>
                    <a:lstStyle/>
                    <a:p>
                      <a:pPr marL="321945">
                        <a:lnSpc>
                          <a:spcPct val="100000"/>
                        </a:lnSpc>
                        <a:spcBef>
                          <a:spcPts val="15"/>
                        </a:spcBef>
                      </a:pPr>
                      <a:r>
                        <a:rPr dirty="0" sz="1650" spc="165">
                          <a:solidFill>
                            <a:srgbClr val="0000FF"/>
                          </a:solidFill>
                          <a:latin typeface="宋体"/>
                          <a:cs typeface="宋体"/>
                        </a:rPr>
                        <a:t>成功的分支指令地址</a:t>
                      </a:r>
                      <a:endParaRPr sz="1650">
                        <a:latin typeface="宋体"/>
                        <a:cs typeface="宋体"/>
                      </a:endParaRPr>
                    </a:p>
                  </a:txBody>
                  <a:tcPr marL="0" marR="0" marB="0" marT="1905">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FFFF99"/>
                    </a:solidFill>
                  </a:tcPr>
                </a:tc>
                <a:tc hMerge="1">
                  <a:txBody>
                    <a:bodyPr/>
                    <a:lstStyle/>
                    <a:p>
                      <a:pPr/>
                    </a:p>
                  </a:txBody>
                  <a:tcPr marL="0" marR="0" marB="0" marT="0"/>
                </a:tc>
                <a:tc>
                  <a:txBody>
                    <a:bodyPr/>
                    <a:lstStyle/>
                    <a:p>
                      <a:pPr algn="ctr" marR="140970">
                        <a:lnSpc>
                          <a:spcPts val="1975"/>
                        </a:lnSpc>
                      </a:pPr>
                      <a:r>
                        <a:rPr dirty="0" sz="1650" spc="160">
                          <a:solidFill>
                            <a:srgbClr val="0000FF"/>
                          </a:solidFill>
                          <a:latin typeface="宋体"/>
                          <a:cs typeface="宋体"/>
                        </a:rPr>
                        <a:t>分支目标地址</a:t>
                      </a:r>
                      <a:endParaRPr sz="165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73050">
                <a:tc gridSpan="2">
                  <a:txBody>
                    <a:bodyPr/>
                    <a:lstStyle/>
                    <a:p>
                      <a:pPr algn="ctr" marR="69850">
                        <a:lnSpc>
                          <a:spcPts val="1905"/>
                        </a:lnSpc>
                      </a:pPr>
                      <a:r>
                        <a:rPr dirty="0" sz="1650" spc="70">
                          <a:latin typeface="宋体"/>
                          <a:cs typeface="宋体"/>
                        </a:rPr>
                        <a:t>A0</a:t>
                      </a:r>
                      <a:endParaRPr sz="165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hMerge="1">
                  <a:txBody>
                    <a:bodyPr/>
                    <a:lstStyle/>
                    <a:p>
                      <a:pPr/>
                    </a:p>
                  </a:txBody>
                  <a:tcPr marL="0" marR="0" marB="0" marT="0"/>
                </a:tc>
                <a:tc>
                  <a:txBody>
                    <a:bodyPr/>
                    <a:lstStyle/>
                    <a:p>
                      <a:pPr algn="ctr" marR="134620">
                        <a:lnSpc>
                          <a:spcPts val="1864"/>
                        </a:lnSpc>
                      </a:pPr>
                      <a:r>
                        <a:rPr dirty="0" sz="1650" spc="70">
                          <a:latin typeface="宋体"/>
                          <a:cs typeface="宋体"/>
                        </a:rPr>
                        <a:t>P0</a:t>
                      </a:r>
                      <a:endParaRPr sz="165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47650">
                <a:tc gridSpan="2">
                  <a:txBody>
                    <a:bodyPr/>
                    <a:lstStyle/>
                    <a:p>
                      <a:pPr algn="ctr" marR="88265">
                        <a:lnSpc>
                          <a:spcPts val="1850"/>
                        </a:lnSpc>
                      </a:pPr>
                      <a:r>
                        <a:rPr dirty="0" sz="1650" spc="70">
                          <a:latin typeface="宋体"/>
                          <a:cs typeface="宋体"/>
                        </a:rPr>
                        <a:t>A1</a:t>
                      </a:r>
                      <a:endParaRPr sz="165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hMerge="1">
                  <a:txBody>
                    <a:bodyPr/>
                    <a:lstStyle/>
                    <a:p>
                      <a:pPr/>
                    </a:p>
                  </a:txBody>
                  <a:tcPr marL="0" marR="0" marB="0" marT="0"/>
                </a:tc>
                <a:tc>
                  <a:txBody>
                    <a:bodyPr/>
                    <a:lstStyle/>
                    <a:p>
                      <a:pPr algn="ctr" marR="160020">
                        <a:lnSpc>
                          <a:spcPts val="1850"/>
                        </a:lnSpc>
                      </a:pPr>
                      <a:r>
                        <a:rPr dirty="0" sz="1650" spc="70">
                          <a:latin typeface="宋体"/>
                          <a:cs typeface="宋体"/>
                        </a:rPr>
                        <a:t>P1</a:t>
                      </a:r>
                      <a:endParaRPr sz="165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735330">
                <a:tc gridSpan="2">
                  <a:txBody>
                    <a:bodyPr/>
                    <a:lstStyle/>
                    <a:p>
                      <a:pPr algn="ctr" marR="2540">
                        <a:lnSpc>
                          <a:spcPct val="100000"/>
                        </a:lnSpc>
                        <a:spcBef>
                          <a:spcPts val="2135"/>
                        </a:spcBef>
                      </a:pPr>
                      <a:r>
                        <a:rPr dirty="0" sz="1900" spc="195">
                          <a:latin typeface="宋体"/>
                          <a:cs typeface="宋体"/>
                        </a:rPr>
                        <a:t>…</a:t>
                      </a:r>
                      <a:endParaRPr sz="1900">
                        <a:latin typeface="宋体"/>
                        <a:cs typeface="宋体"/>
                      </a:endParaRPr>
                    </a:p>
                  </a:txBody>
                  <a:tcPr marL="0" marR="0" marB="0" marT="2711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hMerge="1">
                  <a:txBody>
                    <a:bodyPr/>
                    <a:lstStyle/>
                    <a:p>
                      <a:pPr/>
                    </a:p>
                  </a:txBody>
                  <a:tcPr marL="0" marR="0" marB="0" marT="0"/>
                </a:tc>
                <a:tc>
                  <a:txBody>
                    <a:bodyPr/>
                    <a:lstStyle/>
                    <a:p>
                      <a:pPr algn="ctr" marR="111760">
                        <a:lnSpc>
                          <a:spcPct val="100000"/>
                        </a:lnSpc>
                        <a:spcBef>
                          <a:spcPts val="2135"/>
                        </a:spcBef>
                      </a:pPr>
                      <a:r>
                        <a:rPr dirty="0" sz="1900" spc="195">
                          <a:latin typeface="宋体"/>
                          <a:cs typeface="宋体"/>
                        </a:rPr>
                        <a:t>…</a:t>
                      </a:r>
                      <a:endParaRPr sz="1900">
                        <a:latin typeface="宋体"/>
                        <a:cs typeface="宋体"/>
                      </a:endParaRPr>
                    </a:p>
                  </a:txBody>
                  <a:tcPr marL="0" marR="0" marB="0" marT="2711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69875">
                <a:tc gridSpan="2">
                  <a:txBody>
                    <a:bodyPr/>
                    <a:lstStyle/>
                    <a:p>
                      <a:pPr algn="ctr" marR="67310">
                        <a:lnSpc>
                          <a:spcPts val="1825"/>
                        </a:lnSpc>
                      </a:pPr>
                      <a:r>
                        <a:rPr dirty="0" sz="1650" spc="85">
                          <a:latin typeface="宋体"/>
                          <a:cs typeface="宋体"/>
                        </a:rPr>
                        <a:t>Ak-</a:t>
                      </a:r>
                      <a:r>
                        <a:rPr dirty="0" sz="1650" spc="40">
                          <a:latin typeface="宋体"/>
                          <a:cs typeface="宋体"/>
                        </a:rPr>
                        <a:t>1</a:t>
                      </a:r>
                      <a:endParaRPr sz="165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hMerge="1">
                  <a:txBody>
                    <a:bodyPr/>
                    <a:lstStyle/>
                    <a:p>
                      <a:pPr/>
                    </a:p>
                  </a:txBody>
                  <a:tcPr marL="0" marR="0" marB="0" marT="0"/>
                </a:tc>
                <a:tc>
                  <a:txBody>
                    <a:bodyPr/>
                    <a:lstStyle/>
                    <a:p>
                      <a:pPr algn="ctr" marR="138430">
                        <a:lnSpc>
                          <a:spcPts val="1775"/>
                        </a:lnSpc>
                      </a:pPr>
                      <a:r>
                        <a:rPr dirty="0" sz="1650" spc="85">
                          <a:latin typeface="宋体"/>
                          <a:cs typeface="宋体"/>
                        </a:rPr>
                        <a:t>Pk-</a:t>
                      </a:r>
                      <a:r>
                        <a:rPr dirty="0" sz="1650" spc="40">
                          <a:latin typeface="宋体"/>
                          <a:cs typeface="宋体"/>
                        </a:rPr>
                        <a:t>1</a:t>
                      </a:r>
                      <a:endParaRPr sz="165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342900">
                <a:tc>
                  <a:txBody>
                    <a:bodyPr/>
                    <a:lstStyle/>
                    <a:p>
                      <a:pPr>
                        <a:lnSpc>
                          <a:spcPct val="100000"/>
                        </a:lnSpc>
                      </a:pPr>
                      <a:endParaRPr sz="2100">
                        <a:latin typeface="Times New Roman"/>
                        <a:cs typeface="Times New Roman"/>
                      </a:endParaRPr>
                    </a:p>
                  </a:txBody>
                  <a:tcPr marL="0" marR="0" marB="0" marT="0">
                    <a:lnR w="28575">
                      <a:solidFill>
                        <a:srgbClr val="000000"/>
                      </a:solidFill>
                      <a:prstDash val="solid"/>
                    </a:lnR>
                    <a:lnT w="19050">
                      <a:solidFill>
                        <a:srgbClr val="000000"/>
                      </a:solidFill>
                      <a:prstDash val="solid"/>
                    </a:lnT>
                  </a:tcPr>
                </a:tc>
                <a:tc gridSpan="2">
                  <a:txBody>
                    <a:bodyPr/>
                    <a:lstStyle/>
                    <a:p>
                      <a:pPr>
                        <a:lnSpc>
                          <a:spcPct val="100000"/>
                        </a:lnSpc>
                      </a:pPr>
                      <a:endParaRPr sz="2100">
                        <a:latin typeface="Times New Roman"/>
                        <a:cs typeface="Times New Roman"/>
                      </a:endParaRPr>
                    </a:p>
                  </a:txBody>
                  <a:tcPr marL="0" marR="0" marB="0" marT="0">
                    <a:lnL w="28575">
                      <a:solidFill>
                        <a:srgbClr val="000000"/>
                      </a:solidFill>
                      <a:prstDash val="solid"/>
                    </a:lnL>
                    <a:lnT w="19050">
                      <a:solidFill>
                        <a:srgbClr val="000000"/>
                      </a:solidFill>
                      <a:prstDash val="solid"/>
                    </a:lnT>
                  </a:tcPr>
                </a:tc>
                <a:tc hMerge="1">
                  <a:txBody>
                    <a:bodyPr/>
                    <a:lstStyle/>
                    <a:p>
                      <a:pPr/>
                    </a:p>
                  </a:txBody>
                  <a:tcPr marL="0" marR="0" marB="0" marT="0"/>
                </a:tc>
              </a:tr>
            </a:tbl>
          </a:graphicData>
        </a:graphic>
      </p:graphicFrame>
      <p:grpSp>
        <p:nvGrpSpPr>
          <p:cNvPr id="29" name="object 29" descr=""/>
          <p:cNvGrpSpPr/>
          <p:nvPr/>
        </p:nvGrpSpPr>
        <p:grpSpPr>
          <a:xfrm>
            <a:off x="7009377" y="1116961"/>
            <a:ext cx="106045" cy="723265"/>
            <a:chOff x="7009377" y="1116961"/>
            <a:chExt cx="106045" cy="723265"/>
          </a:xfrm>
        </p:grpSpPr>
        <p:sp>
          <p:nvSpPr>
            <p:cNvPr id="30" name="object 30" descr=""/>
            <p:cNvSpPr/>
            <p:nvPr/>
          </p:nvSpPr>
          <p:spPr>
            <a:xfrm>
              <a:off x="7011129" y="1118768"/>
              <a:ext cx="102870" cy="719455"/>
            </a:xfrm>
            <a:custGeom>
              <a:avLst/>
              <a:gdLst/>
              <a:ahLst/>
              <a:cxnLst/>
              <a:rect l="l" t="t" r="r" b="b"/>
              <a:pathLst>
                <a:path w="102870" h="719455">
                  <a:moveTo>
                    <a:pt x="0" y="579555"/>
                  </a:moveTo>
                  <a:lnTo>
                    <a:pt x="53060" y="719279"/>
                  </a:lnTo>
                  <a:lnTo>
                    <a:pt x="85598" y="626903"/>
                  </a:lnTo>
                  <a:lnTo>
                    <a:pt x="37704" y="626903"/>
                  </a:lnTo>
                  <a:lnTo>
                    <a:pt x="37704" y="613201"/>
                  </a:lnTo>
                  <a:lnTo>
                    <a:pt x="0" y="579555"/>
                  </a:lnTo>
                  <a:close/>
                </a:path>
                <a:path w="102870" h="719455">
                  <a:moveTo>
                    <a:pt x="37704" y="613201"/>
                  </a:moveTo>
                  <a:lnTo>
                    <a:pt x="37704" y="626903"/>
                  </a:lnTo>
                  <a:lnTo>
                    <a:pt x="53060" y="626903"/>
                  </a:lnTo>
                  <a:lnTo>
                    <a:pt x="37704" y="613201"/>
                  </a:lnTo>
                  <a:close/>
                </a:path>
                <a:path w="102870" h="719455">
                  <a:moveTo>
                    <a:pt x="65190" y="0"/>
                  </a:moveTo>
                  <a:lnTo>
                    <a:pt x="37704" y="0"/>
                  </a:lnTo>
                  <a:lnTo>
                    <a:pt x="37704" y="613201"/>
                  </a:lnTo>
                  <a:lnTo>
                    <a:pt x="53060" y="626903"/>
                  </a:lnTo>
                  <a:lnTo>
                    <a:pt x="65190" y="615234"/>
                  </a:lnTo>
                  <a:lnTo>
                    <a:pt x="65190" y="0"/>
                  </a:lnTo>
                  <a:close/>
                </a:path>
                <a:path w="102870" h="719455">
                  <a:moveTo>
                    <a:pt x="65190" y="615234"/>
                  </a:moveTo>
                  <a:lnTo>
                    <a:pt x="53060" y="626903"/>
                  </a:lnTo>
                  <a:lnTo>
                    <a:pt x="65190" y="626903"/>
                  </a:lnTo>
                  <a:lnTo>
                    <a:pt x="65190" y="615234"/>
                  </a:lnTo>
                  <a:close/>
                </a:path>
                <a:path w="102870" h="719455">
                  <a:moveTo>
                    <a:pt x="102275" y="579555"/>
                  </a:moveTo>
                  <a:lnTo>
                    <a:pt x="65190" y="615234"/>
                  </a:lnTo>
                  <a:lnTo>
                    <a:pt x="65190" y="626903"/>
                  </a:lnTo>
                  <a:lnTo>
                    <a:pt x="85598" y="626903"/>
                  </a:lnTo>
                  <a:lnTo>
                    <a:pt x="102275" y="579555"/>
                  </a:lnTo>
                  <a:close/>
                </a:path>
              </a:pathLst>
            </a:custGeom>
            <a:solidFill>
              <a:srgbClr val="000000"/>
            </a:solidFill>
          </p:spPr>
          <p:txBody>
            <a:bodyPr wrap="square" lIns="0" tIns="0" rIns="0" bIns="0" rtlCol="0"/>
            <a:lstStyle/>
            <a:p/>
          </p:txBody>
        </p:sp>
        <p:sp>
          <p:nvSpPr>
            <p:cNvPr id="31" name="object 31" descr=""/>
            <p:cNvSpPr/>
            <p:nvPr/>
          </p:nvSpPr>
          <p:spPr>
            <a:xfrm>
              <a:off x="7011129" y="1118768"/>
              <a:ext cx="102870" cy="719455"/>
            </a:xfrm>
            <a:custGeom>
              <a:avLst/>
              <a:gdLst/>
              <a:ahLst/>
              <a:cxnLst/>
              <a:rect l="l" t="t" r="r" b="b"/>
              <a:pathLst>
                <a:path w="102870" h="719455">
                  <a:moveTo>
                    <a:pt x="65190" y="0"/>
                  </a:moveTo>
                  <a:lnTo>
                    <a:pt x="65190" y="626903"/>
                  </a:lnTo>
                  <a:lnTo>
                    <a:pt x="37704" y="626903"/>
                  </a:lnTo>
                  <a:lnTo>
                    <a:pt x="37704" y="0"/>
                  </a:lnTo>
                  <a:lnTo>
                    <a:pt x="65190" y="0"/>
                  </a:lnTo>
                  <a:close/>
                </a:path>
                <a:path w="102870" h="719455">
                  <a:moveTo>
                    <a:pt x="53060" y="626903"/>
                  </a:moveTo>
                  <a:lnTo>
                    <a:pt x="102275" y="579555"/>
                  </a:lnTo>
                  <a:lnTo>
                    <a:pt x="53060" y="719279"/>
                  </a:lnTo>
                  <a:lnTo>
                    <a:pt x="0" y="579555"/>
                  </a:lnTo>
                  <a:lnTo>
                    <a:pt x="53060" y="626903"/>
                  </a:lnTo>
                  <a:close/>
                </a:path>
              </a:pathLst>
            </a:custGeom>
            <a:ln w="3431">
              <a:solidFill>
                <a:srgbClr val="000000"/>
              </a:solidFill>
            </a:ln>
          </p:spPr>
          <p:txBody>
            <a:bodyPr wrap="square" lIns="0" tIns="0" rIns="0" bIns="0" rtlCol="0"/>
            <a:lstStyle/>
            <a:p/>
          </p:txBody>
        </p:sp>
      </p:grpSp>
      <p:sp>
        <p:nvSpPr>
          <p:cNvPr id="32" name="object 32" descr=""/>
          <p:cNvSpPr txBox="1"/>
          <p:nvPr/>
        </p:nvSpPr>
        <p:spPr>
          <a:xfrm>
            <a:off x="-36474" y="2485644"/>
            <a:ext cx="5511800" cy="1343025"/>
          </a:xfrm>
          <a:prstGeom prst="rect">
            <a:avLst/>
          </a:prstGeom>
        </p:spPr>
        <p:txBody>
          <a:bodyPr wrap="square" lIns="0" tIns="12700" rIns="0" bIns="0" rtlCol="0" vert="horz">
            <a:spAutoFit/>
          </a:bodyPr>
          <a:lstStyle/>
          <a:p>
            <a:pPr algn="just" marL="12700" marR="5080" indent="284480">
              <a:lnSpc>
                <a:spcPct val="120100"/>
              </a:lnSpc>
              <a:spcBef>
                <a:spcPts val="100"/>
              </a:spcBef>
            </a:pPr>
            <a:r>
              <a:rPr dirty="0" sz="2400" spc="-5">
                <a:solidFill>
                  <a:srgbClr val="40458B"/>
                </a:solidFill>
                <a:latin typeface="黑体"/>
                <a:cs typeface="黑体"/>
              </a:rPr>
              <a:t>当取指令地址与</a:t>
            </a:r>
            <a:r>
              <a:rPr dirty="0" sz="2400">
                <a:solidFill>
                  <a:srgbClr val="40458B"/>
                </a:solidFill>
                <a:latin typeface="Tahoma"/>
                <a:cs typeface="Tahoma"/>
              </a:rPr>
              <a:t>BTB</a:t>
            </a:r>
            <a:r>
              <a:rPr dirty="0" sz="2400" spc="-10">
                <a:solidFill>
                  <a:srgbClr val="40458B"/>
                </a:solidFill>
                <a:latin typeface="黑体"/>
                <a:cs typeface="黑体"/>
              </a:rPr>
              <a:t>中某条目匹配时，</a:t>
            </a:r>
            <a:r>
              <a:rPr dirty="0" sz="2400" spc="-5">
                <a:solidFill>
                  <a:srgbClr val="40458B"/>
                </a:solidFill>
                <a:latin typeface="黑体"/>
                <a:cs typeface="黑体"/>
              </a:rPr>
              <a:t>意味着该指令在上一次执行中是成功的分支指令。处理器据此预测这次执行也会成</a:t>
            </a:r>
            <a:endParaRPr sz="2400">
              <a:latin typeface="黑体"/>
              <a:cs typeface="黑体"/>
            </a:endParaRPr>
          </a:p>
        </p:txBody>
      </p:sp>
      <p:sp>
        <p:nvSpPr>
          <p:cNvPr id="33" name="object 33" descr=""/>
          <p:cNvSpPr txBox="1"/>
          <p:nvPr/>
        </p:nvSpPr>
        <p:spPr>
          <a:xfrm>
            <a:off x="-36474" y="3876294"/>
            <a:ext cx="55118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功，并使用匹配条目的分支目标地址作为</a:t>
            </a:r>
            <a:endParaRPr sz="2400">
              <a:latin typeface="黑体"/>
              <a:cs typeface="黑体"/>
            </a:endParaRPr>
          </a:p>
        </p:txBody>
      </p:sp>
      <p:sp>
        <p:nvSpPr>
          <p:cNvPr id="34" name="object 34" descr=""/>
          <p:cNvSpPr txBox="1"/>
          <p:nvPr/>
        </p:nvSpPr>
        <p:spPr>
          <a:xfrm>
            <a:off x="-36474" y="4315459"/>
            <a:ext cx="586295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下一条指令的</a:t>
            </a:r>
            <a:r>
              <a:rPr dirty="0" sz="2400" spc="-10">
                <a:solidFill>
                  <a:srgbClr val="40458B"/>
                </a:solidFill>
                <a:latin typeface="Tahoma"/>
                <a:cs typeface="Tahoma"/>
              </a:rPr>
              <a:t>PC</a:t>
            </a:r>
            <a:r>
              <a:rPr dirty="0" sz="2400" spc="-5">
                <a:solidFill>
                  <a:srgbClr val="40458B"/>
                </a:solidFill>
                <a:latin typeface="黑体"/>
                <a:cs typeface="黑体"/>
              </a:rPr>
              <a:t>值。如果没有匹配的条目，</a:t>
            </a:r>
            <a:endParaRPr sz="2400">
              <a:latin typeface="黑体"/>
              <a:cs typeface="黑体"/>
            </a:endParaRPr>
          </a:p>
        </p:txBody>
      </p:sp>
      <p:sp>
        <p:nvSpPr>
          <p:cNvPr id="35" name="object 35" descr=""/>
          <p:cNvSpPr txBox="1"/>
          <p:nvPr/>
        </p:nvSpPr>
        <p:spPr>
          <a:xfrm>
            <a:off x="-36474" y="4754371"/>
            <a:ext cx="39878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处理器则按照常规指令执行。</a:t>
            </a:r>
            <a:endParaRPr sz="2400">
              <a:latin typeface="黑体"/>
              <a:cs typeface="黑体"/>
            </a:endParaRPr>
          </a:p>
        </p:txBody>
      </p:sp>
      <p:sp>
        <p:nvSpPr>
          <p:cNvPr id="36" name="object 36" descr=""/>
          <p:cNvSpPr txBox="1"/>
          <p:nvPr/>
        </p:nvSpPr>
        <p:spPr>
          <a:xfrm>
            <a:off x="8816720" y="763270"/>
            <a:ext cx="3424554"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出，首先将这条指令的</a:t>
            </a:r>
            <a:r>
              <a:rPr dirty="0" sz="2400" spc="-25">
                <a:solidFill>
                  <a:srgbClr val="40458B"/>
                </a:solidFill>
                <a:latin typeface="Tahoma"/>
                <a:cs typeface="Tahoma"/>
              </a:rPr>
              <a:t>PC</a:t>
            </a:r>
            <a:endParaRPr sz="2400">
              <a:latin typeface="Tahoma"/>
              <a:cs typeface="Tahoma"/>
            </a:endParaRPr>
          </a:p>
        </p:txBody>
      </p:sp>
      <p:sp>
        <p:nvSpPr>
          <p:cNvPr id="37" name="object 37" descr=""/>
          <p:cNvSpPr txBox="1"/>
          <p:nvPr/>
        </p:nvSpPr>
        <p:spPr>
          <a:xfrm>
            <a:off x="8816720" y="1202182"/>
            <a:ext cx="33782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查找左边的分支指令地址</a:t>
            </a:r>
            <a:endParaRPr sz="2400">
              <a:latin typeface="黑体"/>
              <a:cs typeface="黑体"/>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sp>
        <p:nvSpPr>
          <p:cNvPr id="3" name="object 3" descr=""/>
          <p:cNvSpPr txBox="1"/>
          <p:nvPr/>
        </p:nvSpPr>
        <p:spPr>
          <a:xfrm>
            <a:off x="8359267" y="158242"/>
            <a:ext cx="3625850" cy="557530"/>
          </a:xfrm>
          <a:prstGeom prst="rect">
            <a:avLst/>
          </a:prstGeom>
        </p:spPr>
        <p:txBody>
          <a:bodyPr wrap="square" lIns="0" tIns="12065" rIns="0" bIns="0" rtlCol="0" vert="horz">
            <a:spAutoFit/>
          </a:bodyPr>
          <a:lstStyle/>
          <a:p>
            <a:pPr algn="r" marR="44450">
              <a:lnSpc>
                <a:spcPts val="1614"/>
              </a:lnSpc>
              <a:spcBef>
                <a:spcPts val="95"/>
              </a:spcBef>
            </a:pPr>
            <a:r>
              <a:rPr dirty="0" sz="1600" spc="-10" b="1">
                <a:solidFill>
                  <a:srgbClr val="40458B"/>
                </a:solidFill>
                <a:latin typeface="宋体"/>
                <a:cs typeface="宋体"/>
              </a:rPr>
              <a:t>130/175</a:t>
            </a:r>
            <a:endParaRPr sz="1600">
              <a:latin typeface="宋体"/>
              <a:cs typeface="宋体"/>
            </a:endParaRPr>
          </a:p>
          <a:p>
            <a:pPr marL="564515" indent="-551815">
              <a:lnSpc>
                <a:spcPts val="2575"/>
              </a:lnSpc>
              <a:buSzPct val="89583"/>
              <a:buFont typeface="Wingdings"/>
              <a:buChar char=""/>
              <a:tabLst>
                <a:tab pos="564515" algn="l"/>
              </a:tabLst>
            </a:pPr>
            <a:r>
              <a:rPr dirty="0" sz="2400" spc="-5">
                <a:solidFill>
                  <a:srgbClr val="40458B"/>
                </a:solidFill>
                <a:latin typeface="黑体"/>
                <a:cs typeface="黑体"/>
              </a:rPr>
              <a:t>例如当一条分支指令流</a:t>
            </a:r>
            <a:endParaRPr sz="2400">
              <a:latin typeface="黑体"/>
              <a:cs typeface="黑体"/>
            </a:endParaRPr>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37284" y="94869"/>
            <a:ext cx="4090035"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179628" y="1167510"/>
            <a:ext cx="5359400" cy="3028950"/>
          </a:xfrm>
          <a:prstGeom prst="rect">
            <a:avLst/>
          </a:prstGeom>
        </p:spPr>
        <p:txBody>
          <a:bodyPr wrap="square" lIns="0" tIns="12700" rIns="0" bIns="0" rtlCol="0" vert="horz">
            <a:spAutoFit/>
          </a:bodyPr>
          <a:lstStyle/>
          <a:p>
            <a:pPr marL="1280160" indent="-457200">
              <a:lnSpc>
                <a:spcPct val="100000"/>
              </a:lnSpc>
              <a:spcBef>
                <a:spcPts val="100"/>
              </a:spcBef>
              <a:buClr>
                <a:srgbClr val="40458B"/>
              </a:buClr>
              <a:buFont typeface="Wingdings"/>
              <a:buChar char=""/>
              <a:tabLst>
                <a:tab pos="1280160" algn="l"/>
              </a:tabLst>
            </a:pPr>
            <a:r>
              <a:rPr dirty="0" sz="2400">
                <a:solidFill>
                  <a:srgbClr val="001F5F"/>
                </a:solidFill>
                <a:latin typeface="黑体"/>
                <a:cs typeface="黑体"/>
              </a:rPr>
              <a:t>BTB</a:t>
            </a:r>
            <a:r>
              <a:rPr dirty="0" sz="2400" spc="-20">
                <a:solidFill>
                  <a:srgbClr val="001F5F"/>
                </a:solidFill>
                <a:latin typeface="黑体"/>
                <a:cs typeface="黑体"/>
              </a:rPr>
              <a:t>的结构</a:t>
            </a:r>
            <a:endParaRPr sz="2400">
              <a:latin typeface="黑体"/>
              <a:cs typeface="黑体"/>
            </a:endParaRPr>
          </a:p>
          <a:p>
            <a:pPr>
              <a:lnSpc>
                <a:spcPct val="100000"/>
              </a:lnSpc>
              <a:spcBef>
                <a:spcPts val="925"/>
              </a:spcBef>
            </a:pPr>
            <a:endParaRPr sz="2400">
              <a:latin typeface="黑体"/>
              <a:cs typeface="黑体"/>
            </a:endParaRPr>
          </a:p>
          <a:p>
            <a:pPr marL="469265" indent="-456565">
              <a:lnSpc>
                <a:spcPct val="100000"/>
              </a:lnSpc>
              <a:buSzPct val="89583"/>
              <a:buFont typeface="Wingdings"/>
              <a:buChar char=""/>
              <a:tabLst>
                <a:tab pos="469265" algn="l"/>
              </a:tabLst>
            </a:pPr>
            <a:r>
              <a:rPr dirty="0" sz="2400" spc="-5">
                <a:solidFill>
                  <a:srgbClr val="40458B"/>
                </a:solidFill>
                <a:latin typeface="黑体"/>
                <a:cs typeface="黑体"/>
              </a:rPr>
              <a:t>看成是用专门的硬件实现的一张表格</a:t>
            </a:r>
            <a:endParaRPr sz="2400">
              <a:latin typeface="黑体"/>
              <a:cs typeface="黑体"/>
            </a:endParaRPr>
          </a:p>
          <a:p>
            <a:pPr marL="469265" indent="-456565">
              <a:lnSpc>
                <a:spcPct val="100000"/>
              </a:lnSpc>
              <a:spcBef>
                <a:spcPts val="1150"/>
              </a:spcBef>
              <a:buSzPct val="89583"/>
              <a:buFont typeface="Wingdings"/>
              <a:buChar char=""/>
              <a:tabLst>
                <a:tab pos="469265" algn="l"/>
              </a:tabLst>
            </a:pPr>
            <a:r>
              <a:rPr dirty="0" sz="2400">
                <a:solidFill>
                  <a:srgbClr val="40458B"/>
                </a:solidFill>
                <a:latin typeface="黑体"/>
                <a:cs typeface="黑体"/>
              </a:rPr>
              <a:t>表格中的每一项</a:t>
            </a:r>
            <a:r>
              <a:rPr dirty="0" sz="2400">
                <a:solidFill>
                  <a:srgbClr val="D50092"/>
                </a:solidFill>
                <a:latin typeface="黑体"/>
                <a:cs typeface="黑体"/>
              </a:rPr>
              <a:t>至少</a:t>
            </a:r>
            <a:r>
              <a:rPr dirty="0" sz="2400" spc="-10">
                <a:solidFill>
                  <a:srgbClr val="40458B"/>
                </a:solidFill>
                <a:latin typeface="黑体"/>
                <a:cs typeface="黑体"/>
              </a:rPr>
              <a:t>有两个字段：</a:t>
            </a:r>
            <a:endParaRPr sz="2400">
              <a:latin typeface="黑体"/>
              <a:cs typeface="黑体"/>
            </a:endParaRPr>
          </a:p>
          <a:p>
            <a:pPr lvl="1" marL="715010" indent="-457200">
              <a:lnSpc>
                <a:spcPct val="100000"/>
              </a:lnSpc>
              <a:spcBef>
                <a:spcPts val="1030"/>
              </a:spcBef>
              <a:buClr>
                <a:srgbClr val="4668F5"/>
              </a:buClr>
              <a:buSzPct val="70000"/>
              <a:buFont typeface="Wingdings"/>
              <a:buChar char=""/>
              <a:tabLst>
                <a:tab pos="715010" algn="l"/>
              </a:tabLst>
            </a:pPr>
            <a:r>
              <a:rPr dirty="0" sz="2000" spc="-20" b="1">
                <a:solidFill>
                  <a:srgbClr val="9966FF"/>
                </a:solidFill>
                <a:latin typeface="宋体"/>
                <a:cs typeface="宋体"/>
              </a:rPr>
              <a:t>执行过的成功分支指令的地址；</a:t>
            </a:r>
            <a:endParaRPr sz="2000">
              <a:latin typeface="宋体"/>
              <a:cs typeface="宋体"/>
            </a:endParaRPr>
          </a:p>
          <a:p>
            <a:pPr marL="334010">
              <a:lnSpc>
                <a:spcPct val="100000"/>
              </a:lnSpc>
              <a:spcBef>
                <a:spcPts val="894"/>
              </a:spcBef>
            </a:pPr>
            <a:r>
              <a:rPr dirty="0" sz="1800" spc="-10" b="1">
                <a:solidFill>
                  <a:srgbClr val="FF09FF"/>
                </a:solidFill>
                <a:latin typeface="宋体"/>
                <a:cs typeface="宋体"/>
              </a:rPr>
              <a:t>（</a:t>
            </a:r>
            <a:r>
              <a:rPr dirty="0" sz="1800" spc="-50" b="1">
                <a:solidFill>
                  <a:srgbClr val="FF09FF"/>
                </a:solidFill>
                <a:latin typeface="宋体"/>
                <a:cs typeface="宋体"/>
              </a:rPr>
              <a:t>作为该表的匹配标识 ）</a:t>
            </a:r>
            <a:endParaRPr sz="1800">
              <a:latin typeface="宋体"/>
              <a:cs typeface="宋体"/>
            </a:endParaRPr>
          </a:p>
          <a:p>
            <a:pPr lvl="1" marL="715010" indent="-457200">
              <a:lnSpc>
                <a:spcPct val="100000"/>
              </a:lnSpc>
              <a:spcBef>
                <a:spcPts val="930"/>
              </a:spcBef>
              <a:buClr>
                <a:srgbClr val="4668F5"/>
              </a:buClr>
              <a:buSzPct val="70000"/>
              <a:buFont typeface="Wingdings"/>
              <a:buChar char=""/>
              <a:tabLst>
                <a:tab pos="715010" algn="l"/>
              </a:tabLst>
            </a:pPr>
            <a:r>
              <a:rPr dirty="0" sz="2000" spc="-15" b="1">
                <a:solidFill>
                  <a:srgbClr val="9966FF"/>
                </a:solidFill>
                <a:latin typeface="宋体"/>
                <a:cs typeface="宋体"/>
              </a:rPr>
              <a:t>预测的分支目标地址。</a:t>
            </a:r>
            <a:endParaRPr sz="2000">
              <a:latin typeface="宋体"/>
              <a:cs typeface="宋体"/>
            </a:endParaRPr>
          </a:p>
        </p:txBody>
      </p:sp>
      <p:sp>
        <p:nvSpPr>
          <p:cNvPr id="11" name="object 11" descr=""/>
          <p:cNvSpPr txBox="1"/>
          <p:nvPr/>
        </p:nvSpPr>
        <p:spPr>
          <a:xfrm>
            <a:off x="8134351" y="4100672"/>
            <a:ext cx="259079" cy="277495"/>
          </a:xfrm>
          <a:prstGeom prst="rect">
            <a:avLst/>
          </a:prstGeom>
        </p:spPr>
        <p:txBody>
          <a:bodyPr wrap="square" lIns="0" tIns="12700" rIns="0" bIns="0" rtlCol="0" vert="horz">
            <a:spAutoFit/>
          </a:bodyPr>
          <a:lstStyle/>
          <a:p>
            <a:pPr marL="12700">
              <a:lnSpc>
                <a:spcPct val="100000"/>
              </a:lnSpc>
              <a:spcBef>
                <a:spcPts val="100"/>
              </a:spcBef>
            </a:pPr>
            <a:r>
              <a:rPr dirty="0" sz="1650" spc="130">
                <a:solidFill>
                  <a:srgbClr val="FF6600"/>
                </a:solidFill>
                <a:latin typeface="宋体"/>
                <a:cs typeface="宋体"/>
              </a:rPr>
              <a:t>无</a:t>
            </a:r>
            <a:endParaRPr sz="1650">
              <a:latin typeface="宋体"/>
              <a:cs typeface="宋体"/>
            </a:endParaRPr>
          </a:p>
        </p:txBody>
      </p:sp>
      <p:grpSp>
        <p:nvGrpSpPr>
          <p:cNvPr id="12" name="object 12" descr=""/>
          <p:cNvGrpSpPr/>
          <p:nvPr/>
        </p:nvGrpSpPr>
        <p:grpSpPr>
          <a:xfrm>
            <a:off x="6026383" y="4075281"/>
            <a:ext cx="2033905" cy="711200"/>
            <a:chOff x="6026383" y="4075281"/>
            <a:chExt cx="2033905" cy="711200"/>
          </a:xfrm>
        </p:grpSpPr>
        <p:sp>
          <p:nvSpPr>
            <p:cNvPr id="13" name="object 13" descr=""/>
            <p:cNvSpPr/>
            <p:nvPr/>
          </p:nvSpPr>
          <p:spPr>
            <a:xfrm>
              <a:off x="6034955" y="4083853"/>
              <a:ext cx="2016760" cy="694055"/>
            </a:xfrm>
            <a:custGeom>
              <a:avLst/>
              <a:gdLst/>
              <a:ahLst/>
              <a:cxnLst/>
              <a:rect l="l" t="t" r="r" b="b"/>
              <a:pathLst>
                <a:path w="2016759" h="694054">
                  <a:moveTo>
                    <a:pt x="1006858" y="0"/>
                  </a:moveTo>
                  <a:lnTo>
                    <a:pt x="0" y="348174"/>
                  </a:lnTo>
                  <a:lnTo>
                    <a:pt x="1006858" y="694027"/>
                  </a:lnTo>
                  <a:lnTo>
                    <a:pt x="2016349" y="348174"/>
                  </a:lnTo>
                  <a:lnTo>
                    <a:pt x="1006858" y="0"/>
                  </a:lnTo>
                  <a:close/>
                </a:path>
              </a:pathLst>
            </a:custGeom>
            <a:solidFill>
              <a:srgbClr val="CCFFCC"/>
            </a:solidFill>
          </p:spPr>
          <p:txBody>
            <a:bodyPr wrap="square" lIns="0" tIns="0" rIns="0" bIns="0" rtlCol="0"/>
            <a:lstStyle/>
            <a:p/>
          </p:txBody>
        </p:sp>
        <p:sp>
          <p:nvSpPr>
            <p:cNvPr id="14" name="object 14" descr=""/>
            <p:cNvSpPr/>
            <p:nvPr/>
          </p:nvSpPr>
          <p:spPr>
            <a:xfrm>
              <a:off x="6034955" y="4083853"/>
              <a:ext cx="2016760" cy="694055"/>
            </a:xfrm>
            <a:custGeom>
              <a:avLst/>
              <a:gdLst/>
              <a:ahLst/>
              <a:cxnLst/>
              <a:rect l="l" t="t" r="r" b="b"/>
              <a:pathLst>
                <a:path w="2016759" h="694054">
                  <a:moveTo>
                    <a:pt x="1006858" y="0"/>
                  </a:moveTo>
                  <a:lnTo>
                    <a:pt x="0" y="348174"/>
                  </a:lnTo>
                  <a:lnTo>
                    <a:pt x="1006858" y="694027"/>
                  </a:lnTo>
                  <a:lnTo>
                    <a:pt x="2016349" y="348174"/>
                  </a:lnTo>
                  <a:lnTo>
                    <a:pt x="1006858" y="0"/>
                  </a:lnTo>
                  <a:close/>
                </a:path>
              </a:pathLst>
            </a:custGeom>
            <a:ln w="16870">
              <a:solidFill>
                <a:srgbClr val="000000"/>
              </a:solidFill>
            </a:ln>
          </p:spPr>
          <p:txBody>
            <a:bodyPr wrap="square" lIns="0" tIns="0" rIns="0" bIns="0" rtlCol="0"/>
            <a:lstStyle/>
            <a:p/>
          </p:txBody>
        </p:sp>
      </p:grpSp>
      <p:sp>
        <p:nvSpPr>
          <p:cNvPr id="15" name="object 15" descr=""/>
          <p:cNvSpPr txBox="1"/>
          <p:nvPr/>
        </p:nvSpPr>
        <p:spPr>
          <a:xfrm>
            <a:off x="6502355" y="4293084"/>
            <a:ext cx="1190625" cy="277495"/>
          </a:xfrm>
          <a:prstGeom prst="rect">
            <a:avLst/>
          </a:prstGeom>
        </p:spPr>
        <p:txBody>
          <a:bodyPr wrap="square" lIns="0" tIns="12700" rIns="0" bIns="0" rtlCol="0" vert="horz">
            <a:spAutoFit/>
          </a:bodyPr>
          <a:lstStyle/>
          <a:p>
            <a:pPr marL="12700">
              <a:lnSpc>
                <a:spcPct val="100000"/>
              </a:lnSpc>
              <a:spcBef>
                <a:spcPts val="100"/>
              </a:spcBef>
            </a:pPr>
            <a:r>
              <a:rPr dirty="0" sz="1650" spc="160">
                <a:latin typeface="宋体"/>
                <a:cs typeface="宋体"/>
              </a:rPr>
              <a:t>有匹配的？</a:t>
            </a:r>
            <a:endParaRPr sz="1650">
              <a:latin typeface="宋体"/>
              <a:cs typeface="宋体"/>
            </a:endParaRPr>
          </a:p>
        </p:txBody>
      </p:sp>
      <p:sp>
        <p:nvSpPr>
          <p:cNvPr id="16" name="object 16" descr=""/>
          <p:cNvSpPr txBox="1"/>
          <p:nvPr/>
        </p:nvSpPr>
        <p:spPr>
          <a:xfrm>
            <a:off x="5858534" y="764257"/>
            <a:ext cx="2449830" cy="351155"/>
          </a:xfrm>
          <a:prstGeom prst="rect">
            <a:avLst/>
          </a:prstGeom>
          <a:solidFill>
            <a:srgbClr val="FFCC99"/>
          </a:solidFill>
          <a:ln w="16718">
            <a:solidFill>
              <a:srgbClr val="000000"/>
            </a:solidFill>
          </a:ln>
        </p:spPr>
        <p:txBody>
          <a:bodyPr wrap="square" lIns="0" tIns="46355" rIns="0" bIns="0" rtlCol="0" vert="horz">
            <a:spAutoFit/>
          </a:bodyPr>
          <a:lstStyle/>
          <a:p>
            <a:pPr marL="188595">
              <a:lnSpc>
                <a:spcPct val="100000"/>
              </a:lnSpc>
              <a:spcBef>
                <a:spcPts val="365"/>
              </a:spcBef>
            </a:pPr>
            <a:r>
              <a:rPr dirty="0" sz="1650" spc="440">
                <a:latin typeface="宋体"/>
                <a:cs typeface="宋体"/>
              </a:rPr>
              <a:t>当前取指令的地址</a:t>
            </a:r>
            <a:endParaRPr sz="1650">
              <a:latin typeface="宋体"/>
              <a:cs typeface="宋体"/>
            </a:endParaRPr>
          </a:p>
        </p:txBody>
      </p:sp>
      <p:sp>
        <p:nvSpPr>
          <p:cNvPr id="17" name="object 17" descr=""/>
          <p:cNvSpPr txBox="1"/>
          <p:nvPr/>
        </p:nvSpPr>
        <p:spPr>
          <a:xfrm>
            <a:off x="7134048" y="1377829"/>
            <a:ext cx="958215" cy="277495"/>
          </a:xfrm>
          <a:prstGeom prst="rect">
            <a:avLst/>
          </a:prstGeom>
        </p:spPr>
        <p:txBody>
          <a:bodyPr wrap="square" lIns="0" tIns="12700" rIns="0" bIns="0" rtlCol="0" vert="horz">
            <a:spAutoFit/>
          </a:bodyPr>
          <a:lstStyle/>
          <a:p>
            <a:pPr marL="12700">
              <a:lnSpc>
                <a:spcPct val="100000"/>
              </a:lnSpc>
              <a:spcBef>
                <a:spcPts val="100"/>
              </a:spcBef>
            </a:pPr>
            <a:r>
              <a:rPr dirty="0" sz="1650" spc="160">
                <a:solidFill>
                  <a:srgbClr val="008000"/>
                </a:solidFill>
                <a:latin typeface="宋体"/>
                <a:cs typeface="宋体"/>
              </a:rPr>
              <a:t>相联查找</a:t>
            </a:r>
            <a:endParaRPr sz="1650">
              <a:latin typeface="宋体"/>
              <a:cs typeface="宋体"/>
            </a:endParaRPr>
          </a:p>
        </p:txBody>
      </p:sp>
      <p:sp>
        <p:nvSpPr>
          <p:cNvPr id="18" name="object 18" descr=""/>
          <p:cNvSpPr txBox="1"/>
          <p:nvPr/>
        </p:nvSpPr>
        <p:spPr>
          <a:xfrm>
            <a:off x="8571587" y="4072388"/>
            <a:ext cx="3028950" cy="758190"/>
          </a:xfrm>
          <a:prstGeom prst="rect">
            <a:avLst/>
          </a:prstGeom>
          <a:ln w="16806">
            <a:solidFill>
              <a:srgbClr val="000000"/>
            </a:solidFill>
          </a:ln>
        </p:spPr>
        <p:txBody>
          <a:bodyPr wrap="square" lIns="0" tIns="64135" rIns="0" bIns="0" rtlCol="0" vert="horz">
            <a:spAutoFit/>
          </a:bodyPr>
          <a:lstStyle/>
          <a:p>
            <a:pPr marL="151130" marR="80010" indent="-9525">
              <a:lnSpc>
                <a:spcPct val="118600"/>
              </a:lnSpc>
              <a:spcBef>
                <a:spcPts val="505"/>
              </a:spcBef>
            </a:pPr>
            <a:r>
              <a:rPr dirty="0" sz="1650" spc="165">
                <a:latin typeface="宋体"/>
                <a:cs typeface="宋体"/>
              </a:rPr>
              <a:t>认为本指令不是分支指令，按普通指令正常执行。</a:t>
            </a:r>
            <a:endParaRPr sz="1650">
              <a:latin typeface="宋体"/>
              <a:cs typeface="宋体"/>
            </a:endParaRPr>
          </a:p>
        </p:txBody>
      </p:sp>
      <p:sp>
        <p:nvSpPr>
          <p:cNvPr id="19" name="object 19" descr=""/>
          <p:cNvSpPr txBox="1"/>
          <p:nvPr/>
        </p:nvSpPr>
        <p:spPr>
          <a:xfrm>
            <a:off x="7183856" y="4819906"/>
            <a:ext cx="259079" cy="277495"/>
          </a:xfrm>
          <a:prstGeom prst="rect">
            <a:avLst/>
          </a:prstGeom>
        </p:spPr>
        <p:txBody>
          <a:bodyPr wrap="square" lIns="0" tIns="12700" rIns="0" bIns="0" rtlCol="0" vert="horz">
            <a:spAutoFit/>
          </a:bodyPr>
          <a:lstStyle/>
          <a:p>
            <a:pPr marL="12700">
              <a:lnSpc>
                <a:spcPct val="100000"/>
              </a:lnSpc>
              <a:spcBef>
                <a:spcPts val="100"/>
              </a:spcBef>
            </a:pPr>
            <a:r>
              <a:rPr dirty="0" sz="1650" spc="130">
                <a:solidFill>
                  <a:srgbClr val="FF6600"/>
                </a:solidFill>
                <a:latin typeface="宋体"/>
                <a:cs typeface="宋体"/>
              </a:rPr>
              <a:t>有</a:t>
            </a:r>
            <a:endParaRPr sz="1650">
              <a:latin typeface="宋体"/>
              <a:cs typeface="宋体"/>
            </a:endParaRPr>
          </a:p>
        </p:txBody>
      </p:sp>
      <p:sp>
        <p:nvSpPr>
          <p:cNvPr id="20" name="object 20" descr=""/>
          <p:cNvSpPr txBox="1"/>
          <p:nvPr/>
        </p:nvSpPr>
        <p:spPr>
          <a:xfrm>
            <a:off x="4876631" y="5156982"/>
            <a:ext cx="4450715" cy="755650"/>
          </a:xfrm>
          <a:prstGeom prst="rect">
            <a:avLst/>
          </a:prstGeom>
          <a:ln w="16736">
            <a:solidFill>
              <a:srgbClr val="000000"/>
            </a:solidFill>
          </a:ln>
        </p:spPr>
        <p:txBody>
          <a:bodyPr wrap="square" lIns="0" tIns="13335" rIns="0" bIns="0" rtlCol="0" vert="horz">
            <a:spAutoFit/>
          </a:bodyPr>
          <a:lstStyle/>
          <a:p>
            <a:pPr marL="117475" marR="130810">
              <a:lnSpc>
                <a:spcPct val="123200"/>
              </a:lnSpc>
              <a:spcBef>
                <a:spcPts val="105"/>
              </a:spcBef>
            </a:pPr>
            <a:r>
              <a:rPr dirty="0" sz="1650" spc="165">
                <a:latin typeface="宋体"/>
                <a:cs typeface="宋体"/>
              </a:rPr>
              <a:t>认为该指令是成功的分支指令，用预测的</a:t>
            </a:r>
            <a:r>
              <a:rPr dirty="0" sz="1650" spc="135">
                <a:latin typeface="宋体"/>
                <a:cs typeface="宋体"/>
              </a:rPr>
              <a:t>分支目标地址作为下一条指令的 </a:t>
            </a:r>
            <a:r>
              <a:rPr dirty="0" sz="1650" spc="90">
                <a:latin typeface="宋体"/>
                <a:cs typeface="宋体"/>
              </a:rPr>
              <a:t>PC</a:t>
            </a:r>
            <a:r>
              <a:rPr dirty="0" sz="1650" spc="-25">
                <a:latin typeface="宋体"/>
                <a:cs typeface="宋体"/>
              </a:rPr>
              <a:t> 值。</a:t>
            </a:r>
            <a:endParaRPr sz="1650">
              <a:latin typeface="宋体"/>
              <a:cs typeface="宋体"/>
            </a:endParaRPr>
          </a:p>
        </p:txBody>
      </p:sp>
      <p:grpSp>
        <p:nvGrpSpPr>
          <p:cNvPr id="21" name="object 21" descr=""/>
          <p:cNvGrpSpPr/>
          <p:nvPr/>
        </p:nvGrpSpPr>
        <p:grpSpPr>
          <a:xfrm>
            <a:off x="7000424" y="3638452"/>
            <a:ext cx="1561465" cy="1515110"/>
            <a:chOff x="7000424" y="3638452"/>
            <a:chExt cx="1561465" cy="1515110"/>
          </a:xfrm>
        </p:grpSpPr>
        <p:sp>
          <p:nvSpPr>
            <p:cNvPr id="22" name="object 22" descr=""/>
            <p:cNvSpPr/>
            <p:nvPr/>
          </p:nvSpPr>
          <p:spPr>
            <a:xfrm>
              <a:off x="7002173" y="3638452"/>
              <a:ext cx="106045" cy="432434"/>
            </a:xfrm>
            <a:custGeom>
              <a:avLst/>
              <a:gdLst/>
              <a:ahLst/>
              <a:cxnLst/>
              <a:rect l="l" t="t" r="r" b="b"/>
              <a:pathLst>
                <a:path w="106045" h="432435">
                  <a:moveTo>
                    <a:pt x="0" y="292516"/>
                  </a:moveTo>
                  <a:lnTo>
                    <a:pt x="52415" y="432241"/>
                  </a:lnTo>
                  <a:lnTo>
                    <a:pt x="87433" y="340027"/>
                  </a:lnTo>
                  <a:lnTo>
                    <a:pt x="40259" y="340027"/>
                  </a:lnTo>
                  <a:lnTo>
                    <a:pt x="40259" y="329009"/>
                  </a:lnTo>
                  <a:lnTo>
                    <a:pt x="0" y="292516"/>
                  </a:lnTo>
                  <a:close/>
                </a:path>
                <a:path w="106045" h="432435">
                  <a:moveTo>
                    <a:pt x="40259" y="329009"/>
                  </a:moveTo>
                  <a:lnTo>
                    <a:pt x="40259" y="340027"/>
                  </a:lnTo>
                  <a:lnTo>
                    <a:pt x="52415" y="340027"/>
                  </a:lnTo>
                  <a:lnTo>
                    <a:pt x="40259" y="329009"/>
                  </a:lnTo>
                  <a:close/>
                </a:path>
                <a:path w="106045" h="432435">
                  <a:moveTo>
                    <a:pt x="65215" y="0"/>
                  </a:moveTo>
                  <a:lnTo>
                    <a:pt x="40259" y="0"/>
                  </a:lnTo>
                  <a:lnTo>
                    <a:pt x="40259" y="329009"/>
                  </a:lnTo>
                  <a:lnTo>
                    <a:pt x="52415" y="340027"/>
                  </a:lnTo>
                  <a:lnTo>
                    <a:pt x="65215" y="328565"/>
                  </a:lnTo>
                  <a:lnTo>
                    <a:pt x="65215" y="0"/>
                  </a:lnTo>
                  <a:close/>
                </a:path>
                <a:path w="106045" h="432435">
                  <a:moveTo>
                    <a:pt x="65215" y="328565"/>
                  </a:moveTo>
                  <a:lnTo>
                    <a:pt x="52415" y="340027"/>
                  </a:lnTo>
                  <a:lnTo>
                    <a:pt x="65215" y="340027"/>
                  </a:lnTo>
                  <a:lnTo>
                    <a:pt x="65215" y="328565"/>
                  </a:lnTo>
                  <a:close/>
                </a:path>
                <a:path w="106045" h="432435">
                  <a:moveTo>
                    <a:pt x="105475" y="292516"/>
                  </a:moveTo>
                  <a:lnTo>
                    <a:pt x="65215" y="328565"/>
                  </a:lnTo>
                  <a:lnTo>
                    <a:pt x="65215" y="340027"/>
                  </a:lnTo>
                  <a:lnTo>
                    <a:pt x="87433" y="340027"/>
                  </a:lnTo>
                  <a:lnTo>
                    <a:pt x="105475" y="292516"/>
                  </a:lnTo>
                  <a:close/>
                </a:path>
              </a:pathLst>
            </a:custGeom>
            <a:solidFill>
              <a:srgbClr val="000000"/>
            </a:solidFill>
          </p:spPr>
          <p:txBody>
            <a:bodyPr wrap="square" lIns="0" tIns="0" rIns="0" bIns="0" rtlCol="0"/>
            <a:lstStyle/>
            <a:p/>
          </p:txBody>
        </p:sp>
        <p:sp>
          <p:nvSpPr>
            <p:cNvPr id="23" name="object 23" descr=""/>
            <p:cNvSpPr/>
            <p:nvPr/>
          </p:nvSpPr>
          <p:spPr>
            <a:xfrm>
              <a:off x="7002173" y="3930969"/>
              <a:ext cx="106045" cy="140335"/>
            </a:xfrm>
            <a:custGeom>
              <a:avLst/>
              <a:gdLst/>
              <a:ahLst/>
              <a:cxnLst/>
              <a:rect l="l" t="t" r="r" b="b"/>
              <a:pathLst>
                <a:path w="106045" h="140335">
                  <a:moveTo>
                    <a:pt x="52415" y="47511"/>
                  </a:moveTo>
                  <a:lnTo>
                    <a:pt x="105475" y="0"/>
                  </a:lnTo>
                  <a:lnTo>
                    <a:pt x="52415" y="139724"/>
                  </a:lnTo>
                  <a:lnTo>
                    <a:pt x="0" y="0"/>
                  </a:lnTo>
                  <a:lnTo>
                    <a:pt x="52415" y="47511"/>
                  </a:lnTo>
                  <a:close/>
                </a:path>
              </a:pathLst>
            </a:custGeom>
            <a:ln w="3481">
              <a:solidFill>
                <a:srgbClr val="000000"/>
              </a:solidFill>
            </a:ln>
          </p:spPr>
          <p:txBody>
            <a:bodyPr wrap="square" lIns="0" tIns="0" rIns="0" bIns="0" rtlCol="0"/>
            <a:lstStyle/>
            <a:p/>
          </p:txBody>
        </p:sp>
        <p:sp>
          <p:nvSpPr>
            <p:cNvPr id="24" name="object 24" descr=""/>
            <p:cNvSpPr/>
            <p:nvPr/>
          </p:nvSpPr>
          <p:spPr>
            <a:xfrm>
              <a:off x="7002173" y="4792201"/>
              <a:ext cx="106045" cy="360045"/>
            </a:xfrm>
            <a:custGeom>
              <a:avLst/>
              <a:gdLst/>
              <a:ahLst/>
              <a:cxnLst/>
              <a:rect l="l" t="t" r="r" b="b"/>
              <a:pathLst>
                <a:path w="106045" h="360045">
                  <a:moveTo>
                    <a:pt x="0" y="220472"/>
                  </a:moveTo>
                  <a:lnTo>
                    <a:pt x="52415" y="359616"/>
                  </a:lnTo>
                  <a:lnTo>
                    <a:pt x="88446" y="265128"/>
                  </a:lnTo>
                  <a:lnTo>
                    <a:pt x="40259" y="265128"/>
                  </a:lnTo>
                  <a:lnTo>
                    <a:pt x="40259" y="254772"/>
                  </a:lnTo>
                  <a:lnTo>
                    <a:pt x="0" y="220472"/>
                  </a:lnTo>
                  <a:close/>
                </a:path>
                <a:path w="106045" h="360045">
                  <a:moveTo>
                    <a:pt x="40259" y="254772"/>
                  </a:moveTo>
                  <a:lnTo>
                    <a:pt x="40259" y="265128"/>
                  </a:lnTo>
                  <a:lnTo>
                    <a:pt x="52415" y="265128"/>
                  </a:lnTo>
                  <a:lnTo>
                    <a:pt x="40259" y="254772"/>
                  </a:lnTo>
                  <a:close/>
                </a:path>
                <a:path w="106045" h="360045">
                  <a:moveTo>
                    <a:pt x="65215" y="0"/>
                  </a:moveTo>
                  <a:lnTo>
                    <a:pt x="40259" y="0"/>
                  </a:lnTo>
                  <a:lnTo>
                    <a:pt x="40259" y="254772"/>
                  </a:lnTo>
                  <a:lnTo>
                    <a:pt x="52415" y="265128"/>
                  </a:lnTo>
                  <a:lnTo>
                    <a:pt x="65215" y="254355"/>
                  </a:lnTo>
                  <a:lnTo>
                    <a:pt x="65215" y="0"/>
                  </a:lnTo>
                  <a:close/>
                </a:path>
                <a:path w="106045" h="360045">
                  <a:moveTo>
                    <a:pt x="65215" y="254355"/>
                  </a:moveTo>
                  <a:lnTo>
                    <a:pt x="52415" y="265128"/>
                  </a:lnTo>
                  <a:lnTo>
                    <a:pt x="65215" y="265128"/>
                  </a:lnTo>
                  <a:lnTo>
                    <a:pt x="65215" y="254355"/>
                  </a:lnTo>
                  <a:close/>
                </a:path>
                <a:path w="106045" h="360045">
                  <a:moveTo>
                    <a:pt x="105475" y="220472"/>
                  </a:moveTo>
                  <a:lnTo>
                    <a:pt x="65215" y="254355"/>
                  </a:lnTo>
                  <a:lnTo>
                    <a:pt x="65215" y="265128"/>
                  </a:lnTo>
                  <a:lnTo>
                    <a:pt x="88446" y="265128"/>
                  </a:lnTo>
                  <a:lnTo>
                    <a:pt x="105475" y="220472"/>
                  </a:lnTo>
                  <a:close/>
                </a:path>
              </a:pathLst>
            </a:custGeom>
            <a:solidFill>
              <a:srgbClr val="000000"/>
            </a:solidFill>
          </p:spPr>
          <p:txBody>
            <a:bodyPr wrap="square" lIns="0" tIns="0" rIns="0" bIns="0" rtlCol="0"/>
            <a:lstStyle/>
            <a:p/>
          </p:txBody>
        </p:sp>
        <p:sp>
          <p:nvSpPr>
            <p:cNvPr id="25" name="object 25" descr=""/>
            <p:cNvSpPr/>
            <p:nvPr/>
          </p:nvSpPr>
          <p:spPr>
            <a:xfrm>
              <a:off x="7002173" y="4792201"/>
              <a:ext cx="106045" cy="360045"/>
            </a:xfrm>
            <a:custGeom>
              <a:avLst/>
              <a:gdLst/>
              <a:ahLst/>
              <a:cxnLst/>
              <a:rect l="l" t="t" r="r" b="b"/>
              <a:pathLst>
                <a:path w="106045" h="360045">
                  <a:moveTo>
                    <a:pt x="65215" y="0"/>
                  </a:moveTo>
                  <a:lnTo>
                    <a:pt x="65215" y="265128"/>
                  </a:lnTo>
                  <a:lnTo>
                    <a:pt x="40259" y="265128"/>
                  </a:lnTo>
                  <a:lnTo>
                    <a:pt x="40259" y="0"/>
                  </a:lnTo>
                  <a:lnTo>
                    <a:pt x="65215" y="0"/>
                  </a:lnTo>
                  <a:close/>
                </a:path>
                <a:path w="106045" h="360045">
                  <a:moveTo>
                    <a:pt x="52415" y="265128"/>
                  </a:moveTo>
                  <a:lnTo>
                    <a:pt x="105475" y="220472"/>
                  </a:lnTo>
                  <a:lnTo>
                    <a:pt x="52415" y="359616"/>
                  </a:lnTo>
                  <a:lnTo>
                    <a:pt x="0" y="220472"/>
                  </a:lnTo>
                  <a:lnTo>
                    <a:pt x="52415" y="265128"/>
                  </a:lnTo>
                  <a:close/>
                </a:path>
              </a:pathLst>
            </a:custGeom>
            <a:ln w="3431">
              <a:solidFill>
                <a:srgbClr val="000000"/>
              </a:solidFill>
            </a:ln>
          </p:spPr>
          <p:txBody>
            <a:bodyPr wrap="square" lIns="0" tIns="0" rIns="0" bIns="0" rtlCol="0"/>
            <a:lstStyle/>
            <a:p/>
          </p:txBody>
        </p:sp>
        <p:sp>
          <p:nvSpPr>
            <p:cNvPr id="26" name="object 26" descr=""/>
            <p:cNvSpPr/>
            <p:nvPr/>
          </p:nvSpPr>
          <p:spPr>
            <a:xfrm>
              <a:off x="8070403" y="4385631"/>
              <a:ext cx="489584" cy="92075"/>
            </a:xfrm>
            <a:custGeom>
              <a:avLst/>
              <a:gdLst/>
              <a:ahLst/>
              <a:cxnLst/>
              <a:rect l="l" t="t" r="r" b="b"/>
              <a:pathLst>
                <a:path w="489584" h="92075">
                  <a:moveTo>
                    <a:pt x="387372" y="44099"/>
                  </a:moveTo>
                  <a:lnTo>
                    <a:pt x="334983" y="91633"/>
                  </a:lnTo>
                  <a:lnTo>
                    <a:pt x="442998" y="58419"/>
                  </a:lnTo>
                  <a:lnTo>
                    <a:pt x="387372" y="58419"/>
                  </a:lnTo>
                  <a:lnTo>
                    <a:pt x="387372" y="44099"/>
                  </a:lnTo>
                  <a:close/>
                </a:path>
                <a:path w="489584" h="92075">
                  <a:moveTo>
                    <a:pt x="374440" y="33213"/>
                  </a:moveTo>
                  <a:lnTo>
                    <a:pt x="0" y="33213"/>
                  </a:lnTo>
                  <a:lnTo>
                    <a:pt x="0" y="58419"/>
                  </a:lnTo>
                  <a:lnTo>
                    <a:pt x="371589" y="58419"/>
                  </a:lnTo>
                  <a:lnTo>
                    <a:pt x="387372" y="44099"/>
                  </a:lnTo>
                  <a:lnTo>
                    <a:pt x="374440" y="33213"/>
                  </a:lnTo>
                  <a:close/>
                </a:path>
                <a:path w="489584" h="92075">
                  <a:moveTo>
                    <a:pt x="451411" y="33213"/>
                  </a:moveTo>
                  <a:lnTo>
                    <a:pt x="387372" y="33213"/>
                  </a:lnTo>
                  <a:lnTo>
                    <a:pt x="387372" y="58419"/>
                  </a:lnTo>
                  <a:lnTo>
                    <a:pt x="442998" y="58419"/>
                  </a:lnTo>
                  <a:lnTo>
                    <a:pt x="489570" y="44099"/>
                  </a:lnTo>
                  <a:lnTo>
                    <a:pt x="451411" y="33213"/>
                  </a:lnTo>
                  <a:close/>
                </a:path>
                <a:path w="489584" h="92075">
                  <a:moveTo>
                    <a:pt x="334983" y="0"/>
                  </a:moveTo>
                  <a:lnTo>
                    <a:pt x="387372" y="44099"/>
                  </a:lnTo>
                  <a:lnTo>
                    <a:pt x="387372" y="33213"/>
                  </a:lnTo>
                  <a:lnTo>
                    <a:pt x="451411" y="33213"/>
                  </a:lnTo>
                  <a:lnTo>
                    <a:pt x="334983" y="0"/>
                  </a:lnTo>
                  <a:close/>
                </a:path>
              </a:pathLst>
            </a:custGeom>
            <a:solidFill>
              <a:srgbClr val="000000"/>
            </a:solidFill>
          </p:spPr>
          <p:txBody>
            <a:bodyPr wrap="square" lIns="0" tIns="0" rIns="0" bIns="0" rtlCol="0"/>
            <a:lstStyle/>
            <a:p/>
          </p:txBody>
        </p:sp>
        <p:sp>
          <p:nvSpPr>
            <p:cNvPr id="27" name="object 27" descr=""/>
            <p:cNvSpPr/>
            <p:nvPr/>
          </p:nvSpPr>
          <p:spPr>
            <a:xfrm>
              <a:off x="8070403" y="4385631"/>
              <a:ext cx="489584" cy="92075"/>
            </a:xfrm>
            <a:custGeom>
              <a:avLst/>
              <a:gdLst/>
              <a:ahLst/>
              <a:cxnLst/>
              <a:rect l="l" t="t" r="r" b="b"/>
              <a:pathLst>
                <a:path w="489584" h="92075">
                  <a:moveTo>
                    <a:pt x="0" y="33213"/>
                  </a:moveTo>
                  <a:lnTo>
                    <a:pt x="387372" y="33213"/>
                  </a:lnTo>
                  <a:lnTo>
                    <a:pt x="387372" y="58419"/>
                  </a:lnTo>
                  <a:lnTo>
                    <a:pt x="0" y="58419"/>
                  </a:lnTo>
                  <a:lnTo>
                    <a:pt x="0" y="33213"/>
                  </a:lnTo>
                  <a:close/>
                </a:path>
                <a:path w="489584" h="92075">
                  <a:moveTo>
                    <a:pt x="387372" y="44099"/>
                  </a:moveTo>
                  <a:lnTo>
                    <a:pt x="334983" y="0"/>
                  </a:lnTo>
                  <a:lnTo>
                    <a:pt x="489570" y="44099"/>
                  </a:lnTo>
                  <a:lnTo>
                    <a:pt x="334983" y="91633"/>
                  </a:lnTo>
                  <a:lnTo>
                    <a:pt x="387372" y="44099"/>
                  </a:lnTo>
                  <a:close/>
                </a:path>
              </a:pathLst>
            </a:custGeom>
            <a:ln w="3431">
              <a:solidFill>
                <a:srgbClr val="000000"/>
              </a:solidFill>
            </a:ln>
          </p:spPr>
          <p:txBody>
            <a:bodyPr wrap="square" lIns="0" tIns="0" rIns="0" bIns="0" rtlCol="0"/>
            <a:lstStyle/>
            <a:p/>
          </p:txBody>
        </p:sp>
      </p:grpSp>
      <p:graphicFrame>
        <p:nvGraphicFramePr>
          <p:cNvPr id="28" name="object 28" descr=""/>
          <p:cNvGraphicFramePr>
            <a:graphicFrameLocks noGrp="1"/>
          </p:cNvGraphicFramePr>
          <p:nvPr/>
        </p:nvGraphicFramePr>
        <p:xfrm>
          <a:off x="5741175" y="1827469"/>
          <a:ext cx="5405755" cy="2138679"/>
        </p:xfrm>
        <a:graphic>
          <a:graphicData uri="http://schemas.openxmlformats.org/drawingml/2006/table">
            <a:tbl>
              <a:tblPr firstRow="1" bandRow="1">
                <a:tableStyleId>{2D5ABB26-0587-4C30-8999-92F81FD0307C}</a:tableStyleId>
              </a:tblPr>
              <a:tblGrid>
                <a:gridCol w="1304925"/>
                <a:gridCol w="1405255"/>
                <a:gridCol w="2600960"/>
              </a:tblGrid>
              <a:tr h="269875">
                <a:tc gridSpan="2">
                  <a:txBody>
                    <a:bodyPr/>
                    <a:lstStyle/>
                    <a:p>
                      <a:pPr marL="321945">
                        <a:lnSpc>
                          <a:spcPct val="100000"/>
                        </a:lnSpc>
                        <a:spcBef>
                          <a:spcPts val="15"/>
                        </a:spcBef>
                      </a:pPr>
                      <a:r>
                        <a:rPr dirty="0" sz="1650" spc="165">
                          <a:solidFill>
                            <a:srgbClr val="0000FF"/>
                          </a:solidFill>
                          <a:latin typeface="宋体"/>
                          <a:cs typeface="宋体"/>
                        </a:rPr>
                        <a:t>成功的分支指令地址</a:t>
                      </a:r>
                      <a:endParaRPr sz="1650">
                        <a:latin typeface="宋体"/>
                        <a:cs typeface="宋体"/>
                      </a:endParaRPr>
                    </a:p>
                  </a:txBody>
                  <a:tcPr marL="0" marR="0" marB="0" marT="1905">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FFFF99"/>
                    </a:solidFill>
                  </a:tcPr>
                </a:tc>
                <a:tc hMerge="1">
                  <a:txBody>
                    <a:bodyPr/>
                    <a:lstStyle/>
                    <a:p>
                      <a:pPr/>
                    </a:p>
                  </a:txBody>
                  <a:tcPr marL="0" marR="0" marB="0" marT="0"/>
                </a:tc>
                <a:tc>
                  <a:txBody>
                    <a:bodyPr/>
                    <a:lstStyle/>
                    <a:p>
                      <a:pPr algn="ctr" marR="140970">
                        <a:lnSpc>
                          <a:spcPts val="1975"/>
                        </a:lnSpc>
                      </a:pPr>
                      <a:r>
                        <a:rPr dirty="0" sz="1650" spc="160">
                          <a:solidFill>
                            <a:srgbClr val="0000FF"/>
                          </a:solidFill>
                          <a:latin typeface="宋体"/>
                          <a:cs typeface="宋体"/>
                        </a:rPr>
                        <a:t>分支目标地址</a:t>
                      </a:r>
                      <a:endParaRPr sz="165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73050">
                <a:tc gridSpan="2">
                  <a:txBody>
                    <a:bodyPr/>
                    <a:lstStyle/>
                    <a:p>
                      <a:pPr>
                        <a:lnSpc>
                          <a:spcPts val="2050"/>
                        </a:lnSpc>
                        <a:tabLst>
                          <a:tab pos="1198245" algn="l"/>
                        </a:tabLst>
                      </a:pPr>
                      <a:r>
                        <a:rPr dirty="0" baseline="-10416" sz="3600" spc="-75">
                          <a:solidFill>
                            <a:srgbClr val="40458B"/>
                          </a:solidFill>
                          <a:latin typeface="黑体"/>
                          <a:cs typeface="黑体"/>
                        </a:rPr>
                        <a:t>。</a:t>
                      </a:r>
                      <a:r>
                        <a:rPr dirty="0" baseline="-10416" sz="3600">
                          <a:solidFill>
                            <a:srgbClr val="40458B"/>
                          </a:solidFill>
                          <a:latin typeface="黑体"/>
                          <a:cs typeface="黑体"/>
                        </a:rPr>
                        <a:t>	</a:t>
                      </a:r>
                      <a:r>
                        <a:rPr dirty="0" sz="1650" spc="70">
                          <a:latin typeface="宋体"/>
                          <a:cs typeface="宋体"/>
                        </a:rPr>
                        <a:t>A0</a:t>
                      </a:r>
                      <a:endParaRPr sz="165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hMerge="1">
                  <a:txBody>
                    <a:bodyPr/>
                    <a:lstStyle/>
                    <a:p>
                      <a:pPr/>
                    </a:p>
                  </a:txBody>
                  <a:tcPr marL="0" marR="0" marB="0" marT="0"/>
                </a:tc>
                <a:tc>
                  <a:txBody>
                    <a:bodyPr/>
                    <a:lstStyle/>
                    <a:p>
                      <a:pPr algn="ctr" marR="134620">
                        <a:lnSpc>
                          <a:spcPts val="1864"/>
                        </a:lnSpc>
                      </a:pPr>
                      <a:r>
                        <a:rPr dirty="0" sz="1650" spc="70">
                          <a:latin typeface="宋体"/>
                          <a:cs typeface="宋体"/>
                        </a:rPr>
                        <a:t>P0</a:t>
                      </a:r>
                      <a:endParaRPr sz="165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47650">
                <a:tc gridSpan="2">
                  <a:txBody>
                    <a:bodyPr/>
                    <a:lstStyle/>
                    <a:p>
                      <a:pPr algn="ctr" marR="88265">
                        <a:lnSpc>
                          <a:spcPts val="1850"/>
                        </a:lnSpc>
                      </a:pPr>
                      <a:r>
                        <a:rPr dirty="0" sz="1650" spc="70">
                          <a:latin typeface="宋体"/>
                          <a:cs typeface="宋体"/>
                        </a:rPr>
                        <a:t>A1</a:t>
                      </a:r>
                      <a:endParaRPr sz="165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hMerge="1">
                  <a:txBody>
                    <a:bodyPr/>
                    <a:lstStyle/>
                    <a:p>
                      <a:pPr/>
                    </a:p>
                  </a:txBody>
                  <a:tcPr marL="0" marR="0" marB="0" marT="0"/>
                </a:tc>
                <a:tc>
                  <a:txBody>
                    <a:bodyPr/>
                    <a:lstStyle/>
                    <a:p>
                      <a:pPr algn="ctr" marR="160020">
                        <a:lnSpc>
                          <a:spcPts val="1850"/>
                        </a:lnSpc>
                      </a:pPr>
                      <a:r>
                        <a:rPr dirty="0" sz="1650" spc="70">
                          <a:latin typeface="宋体"/>
                          <a:cs typeface="宋体"/>
                        </a:rPr>
                        <a:t>P1</a:t>
                      </a:r>
                      <a:endParaRPr sz="165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735330">
                <a:tc gridSpan="2">
                  <a:txBody>
                    <a:bodyPr/>
                    <a:lstStyle/>
                    <a:p>
                      <a:pPr algn="ctr" marR="2540">
                        <a:lnSpc>
                          <a:spcPct val="100000"/>
                        </a:lnSpc>
                        <a:spcBef>
                          <a:spcPts val="2135"/>
                        </a:spcBef>
                      </a:pPr>
                      <a:r>
                        <a:rPr dirty="0" sz="1900" spc="195">
                          <a:latin typeface="宋体"/>
                          <a:cs typeface="宋体"/>
                        </a:rPr>
                        <a:t>…</a:t>
                      </a:r>
                      <a:endParaRPr sz="1900">
                        <a:latin typeface="宋体"/>
                        <a:cs typeface="宋体"/>
                      </a:endParaRPr>
                    </a:p>
                  </a:txBody>
                  <a:tcPr marL="0" marR="0" marB="0" marT="2711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hMerge="1">
                  <a:txBody>
                    <a:bodyPr/>
                    <a:lstStyle/>
                    <a:p>
                      <a:pPr/>
                    </a:p>
                  </a:txBody>
                  <a:tcPr marL="0" marR="0" marB="0" marT="0"/>
                </a:tc>
                <a:tc>
                  <a:txBody>
                    <a:bodyPr/>
                    <a:lstStyle/>
                    <a:p>
                      <a:pPr algn="ctr" marR="111760">
                        <a:lnSpc>
                          <a:spcPct val="100000"/>
                        </a:lnSpc>
                        <a:spcBef>
                          <a:spcPts val="2135"/>
                        </a:spcBef>
                      </a:pPr>
                      <a:r>
                        <a:rPr dirty="0" sz="1900" spc="195">
                          <a:latin typeface="宋体"/>
                          <a:cs typeface="宋体"/>
                        </a:rPr>
                        <a:t>…</a:t>
                      </a:r>
                      <a:endParaRPr sz="1900">
                        <a:latin typeface="宋体"/>
                        <a:cs typeface="宋体"/>
                      </a:endParaRPr>
                    </a:p>
                  </a:txBody>
                  <a:tcPr marL="0" marR="0" marB="0" marT="2711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69875">
                <a:tc gridSpan="2">
                  <a:txBody>
                    <a:bodyPr/>
                    <a:lstStyle/>
                    <a:p>
                      <a:pPr algn="ctr" marR="67310">
                        <a:lnSpc>
                          <a:spcPts val="1825"/>
                        </a:lnSpc>
                      </a:pPr>
                      <a:r>
                        <a:rPr dirty="0" sz="1650" spc="85">
                          <a:latin typeface="宋体"/>
                          <a:cs typeface="宋体"/>
                        </a:rPr>
                        <a:t>Ak-</a:t>
                      </a:r>
                      <a:r>
                        <a:rPr dirty="0" sz="1650" spc="40">
                          <a:latin typeface="宋体"/>
                          <a:cs typeface="宋体"/>
                        </a:rPr>
                        <a:t>1</a:t>
                      </a:r>
                      <a:endParaRPr sz="165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hMerge="1">
                  <a:txBody>
                    <a:bodyPr/>
                    <a:lstStyle/>
                    <a:p>
                      <a:pPr/>
                    </a:p>
                  </a:txBody>
                  <a:tcPr marL="0" marR="0" marB="0" marT="0"/>
                </a:tc>
                <a:tc>
                  <a:txBody>
                    <a:bodyPr/>
                    <a:lstStyle/>
                    <a:p>
                      <a:pPr algn="ctr" marR="138430">
                        <a:lnSpc>
                          <a:spcPts val="1775"/>
                        </a:lnSpc>
                      </a:pPr>
                      <a:r>
                        <a:rPr dirty="0" sz="1650" spc="85">
                          <a:latin typeface="宋体"/>
                          <a:cs typeface="宋体"/>
                        </a:rPr>
                        <a:t>Pk-</a:t>
                      </a:r>
                      <a:r>
                        <a:rPr dirty="0" sz="1650" spc="40">
                          <a:latin typeface="宋体"/>
                          <a:cs typeface="宋体"/>
                        </a:rPr>
                        <a:t>1</a:t>
                      </a:r>
                      <a:endParaRPr sz="165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342900">
                <a:tc>
                  <a:txBody>
                    <a:bodyPr/>
                    <a:lstStyle/>
                    <a:p>
                      <a:pPr>
                        <a:lnSpc>
                          <a:spcPct val="100000"/>
                        </a:lnSpc>
                      </a:pPr>
                      <a:endParaRPr sz="2100">
                        <a:latin typeface="Times New Roman"/>
                        <a:cs typeface="Times New Roman"/>
                      </a:endParaRPr>
                    </a:p>
                  </a:txBody>
                  <a:tcPr marL="0" marR="0" marB="0" marT="0">
                    <a:lnR w="28575">
                      <a:solidFill>
                        <a:srgbClr val="000000"/>
                      </a:solidFill>
                      <a:prstDash val="solid"/>
                    </a:lnR>
                    <a:lnT w="19050">
                      <a:solidFill>
                        <a:srgbClr val="000000"/>
                      </a:solidFill>
                      <a:prstDash val="solid"/>
                    </a:lnT>
                  </a:tcPr>
                </a:tc>
                <a:tc gridSpan="2">
                  <a:txBody>
                    <a:bodyPr/>
                    <a:lstStyle/>
                    <a:p>
                      <a:pPr>
                        <a:lnSpc>
                          <a:spcPct val="100000"/>
                        </a:lnSpc>
                      </a:pPr>
                      <a:endParaRPr sz="2100">
                        <a:latin typeface="Times New Roman"/>
                        <a:cs typeface="Times New Roman"/>
                      </a:endParaRPr>
                    </a:p>
                  </a:txBody>
                  <a:tcPr marL="0" marR="0" marB="0" marT="0">
                    <a:lnL w="28575">
                      <a:solidFill>
                        <a:srgbClr val="000000"/>
                      </a:solidFill>
                      <a:prstDash val="solid"/>
                    </a:lnL>
                    <a:lnT w="19050">
                      <a:solidFill>
                        <a:srgbClr val="000000"/>
                      </a:solidFill>
                      <a:prstDash val="solid"/>
                    </a:lnT>
                  </a:tcPr>
                </a:tc>
                <a:tc hMerge="1">
                  <a:txBody>
                    <a:bodyPr/>
                    <a:lstStyle/>
                    <a:p>
                      <a:pPr/>
                    </a:p>
                  </a:txBody>
                  <a:tcPr marL="0" marR="0" marB="0" marT="0"/>
                </a:tc>
              </a:tr>
            </a:tbl>
          </a:graphicData>
        </a:graphic>
      </p:graphicFrame>
      <p:grpSp>
        <p:nvGrpSpPr>
          <p:cNvPr id="29" name="object 29" descr=""/>
          <p:cNvGrpSpPr/>
          <p:nvPr/>
        </p:nvGrpSpPr>
        <p:grpSpPr>
          <a:xfrm>
            <a:off x="7009377" y="1116961"/>
            <a:ext cx="106045" cy="723265"/>
            <a:chOff x="7009377" y="1116961"/>
            <a:chExt cx="106045" cy="723265"/>
          </a:xfrm>
        </p:grpSpPr>
        <p:sp>
          <p:nvSpPr>
            <p:cNvPr id="30" name="object 30" descr=""/>
            <p:cNvSpPr/>
            <p:nvPr/>
          </p:nvSpPr>
          <p:spPr>
            <a:xfrm>
              <a:off x="7011129" y="1118768"/>
              <a:ext cx="102870" cy="719455"/>
            </a:xfrm>
            <a:custGeom>
              <a:avLst/>
              <a:gdLst/>
              <a:ahLst/>
              <a:cxnLst/>
              <a:rect l="l" t="t" r="r" b="b"/>
              <a:pathLst>
                <a:path w="102870" h="719455">
                  <a:moveTo>
                    <a:pt x="0" y="579555"/>
                  </a:moveTo>
                  <a:lnTo>
                    <a:pt x="53060" y="719279"/>
                  </a:lnTo>
                  <a:lnTo>
                    <a:pt x="85598" y="626903"/>
                  </a:lnTo>
                  <a:lnTo>
                    <a:pt x="37704" y="626903"/>
                  </a:lnTo>
                  <a:lnTo>
                    <a:pt x="37704" y="613201"/>
                  </a:lnTo>
                  <a:lnTo>
                    <a:pt x="0" y="579555"/>
                  </a:lnTo>
                  <a:close/>
                </a:path>
                <a:path w="102870" h="719455">
                  <a:moveTo>
                    <a:pt x="37704" y="613201"/>
                  </a:moveTo>
                  <a:lnTo>
                    <a:pt x="37704" y="626903"/>
                  </a:lnTo>
                  <a:lnTo>
                    <a:pt x="53060" y="626903"/>
                  </a:lnTo>
                  <a:lnTo>
                    <a:pt x="37704" y="613201"/>
                  </a:lnTo>
                  <a:close/>
                </a:path>
                <a:path w="102870" h="719455">
                  <a:moveTo>
                    <a:pt x="65190" y="0"/>
                  </a:moveTo>
                  <a:lnTo>
                    <a:pt x="37704" y="0"/>
                  </a:lnTo>
                  <a:lnTo>
                    <a:pt x="37704" y="613201"/>
                  </a:lnTo>
                  <a:lnTo>
                    <a:pt x="53060" y="626903"/>
                  </a:lnTo>
                  <a:lnTo>
                    <a:pt x="65190" y="615234"/>
                  </a:lnTo>
                  <a:lnTo>
                    <a:pt x="65190" y="0"/>
                  </a:lnTo>
                  <a:close/>
                </a:path>
                <a:path w="102870" h="719455">
                  <a:moveTo>
                    <a:pt x="65190" y="615234"/>
                  </a:moveTo>
                  <a:lnTo>
                    <a:pt x="53060" y="626903"/>
                  </a:lnTo>
                  <a:lnTo>
                    <a:pt x="65190" y="626903"/>
                  </a:lnTo>
                  <a:lnTo>
                    <a:pt x="65190" y="615234"/>
                  </a:lnTo>
                  <a:close/>
                </a:path>
                <a:path w="102870" h="719455">
                  <a:moveTo>
                    <a:pt x="102275" y="579555"/>
                  </a:moveTo>
                  <a:lnTo>
                    <a:pt x="65190" y="615234"/>
                  </a:lnTo>
                  <a:lnTo>
                    <a:pt x="65190" y="626903"/>
                  </a:lnTo>
                  <a:lnTo>
                    <a:pt x="85598" y="626903"/>
                  </a:lnTo>
                  <a:lnTo>
                    <a:pt x="102275" y="579555"/>
                  </a:lnTo>
                  <a:close/>
                </a:path>
              </a:pathLst>
            </a:custGeom>
            <a:solidFill>
              <a:srgbClr val="000000"/>
            </a:solidFill>
          </p:spPr>
          <p:txBody>
            <a:bodyPr wrap="square" lIns="0" tIns="0" rIns="0" bIns="0" rtlCol="0"/>
            <a:lstStyle/>
            <a:p/>
          </p:txBody>
        </p:sp>
        <p:sp>
          <p:nvSpPr>
            <p:cNvPr id="31" name="object 31" descr=""/>
            <p:cNvSpPr/>
            <p:nvPr/>
          </p:nvSpPr>
          <p:spPr>
            <a:xfrm>
              <a:off x="7011129" y="1118768"/>
              <a:ext cx="102870" cy="719455"/>
            </a:xfrm>
            <a:custGeom>
              <a:avLst/>
              <a:gdLst/>
              <a:ahLst/>
              <a:cxnLst/>
              <a:rect l="l" t="t" r="r" b="b"/>
              <a:pathLst>
                <a:path w="102870" h="719455">
                  <a:moveTo>
                    <a:pt x="65190" y="0"/>
                  </a:moveTo>
                  <a:lnTo>
                    <a:pt x="65190" y="626903"/>
                  </a:lnTo>
                  <a:lnTo>
                    <a:pt x="37704" y="626903"/>
                  </a:lnTo>
                  <a:lnTo>
                    <a:pt x="37704" y="0"/>
                  </a:lnTo>
                  <a:lnTo>
                    <a:pt x="65190" y="0"/>
                  </a:lnTo>
                  <a:close/>
                </a:path>
                <a:path w="102870" h="719455">
                  <a:moveTo>
                    <a:pt x="53060" y="626903"/>
                  </a:moveTo>
                  <a:lnTo>
                    <a:pt x="102275" y="579555"/>
                  </a:lnTo>
                  <a:lnTo>
                    <a:pt x="53060" y="719279"/>
                  </a:lnTo>
                  <a:lnTo>
                    <a:pt x="0" y="579555"/>
                  </a:lnTo>
                  <a:lnTo>
                    <a:pt x="53060" y="626903"/>
                  </a:lnTo>
                  <a:close/>
                </a:path>
              </a:pathLst>
            </a:custGeom>
            <a:ln w="3431">
              <a:solidFill>
                <a:srgbClr val="000000"/>
              </a:solidFill>
            </a:ln>
          </p:spPr>
          <p:txBody>
            <a:bodyPr wrap="square" lIns="0" tIns="0" rIns="0" bIns="0" rtlCol="0"/>
            <a:lstStyle/>
            <a:p/>
          </p:txBody>
        </p:sp>
      </p:grpSp>
      <p:sp>
        <p:nvSpPr>
          <p:cNvPr id="32" name="object 32" descr=""/>
          <p:cNvSpPr txBox="1"/>
          <p:nvPr/>
        </p:nvSpPr>
        <p:spPr>
          <a:xfrm>
            <a:off x="424992" y="4231425"/>
            <a:ext cx="5593715" cy="758190"/>
          </a:xfrm>
          <a:prstGeom prst="rect">
            <a:avLst/>
          </a:prstGeom>
        </p:spPr>
        <p:txBody>
          <a:bodyPr wrap="square" lIns="0" tIns="73660" rIns="0" bIns="0" rtlCol="0" vert="horz">
            <a:spAutoFit/>
          </a:bodyPr>
          <a:lstStyle/>
          <a:p>
            <a:pPr marL="469265" indent="-456565">
              <a:lnSpc>
                <a:spcPct val="100000"/>
              </a:lnSpc>
              <a:spcBef>
                <a:spcPts val="580"/>
              </a:spcBef>
              <a:buClr>
                <a:srgbClr val="4668F5"/>
              </a:buClr>
              <a:buSzPct val="70000"/>
              <a:buFont typeface="Wingdings"/>
              <a:buChar char=""/>
              <a:tabLst>
                <a:tab pos="469265" algn="l"/>
              </a:tabLst>
            </a:pPr>
            <a:r>
              <a:rPr dirty="0" sz="2000" spc="-20" b="1">
                <a:solidFill>
                  <a:srgbClr val="9966FF"/>
                </a:solidFill>
                <a:latin typeface="宋体"/>
                <a:cs typeface="宋体"/>
              </a:rPr>
              <a:t>例如表格中还存放有其他字段，例如</a:t>
            </a:r>
            <a:r>
              <a:rPr dirty="0" sz="2000" spc="-25" b="1">
                <a:solidFill>
                  <a:srgbClr val="D50092"/>
                </a:solidFill>
                <a:latin typeface="宋体"/>
                <a:cs typeface="宋体"/>
              </a:rPr>
              <a:t>有效位</a:t>
            </a:r>
            <a:r>
              <a:rPr dirty="0" sz="2000" spc="-50" b="1">
                <a:solidFill>
                  <a:srgbClr val="9966FF"/>
                </a:solidFill>
                <a:latin typeface="宋体"/>
                <a:cs typeface="宋体"/>
              </a:rPr>
              <a:t>、</a:t>
            </a:r>
            <a:endParaRPr sz="2000">
              <a:latin typeface="宋体"/>
              <a:cs typeface="宋体"/>
            </a:endParaRPr>
          </a:p>
          <a:p>
            <a:pPr marL="469900">
              <a:lnSpc>
                <a:spcPct val="100000"/>
              </a:lnSpc>
              <a:spcBef>
                <a:spcPts val="484"/>
              </a:spcBef>
            </a:pPr>
            <a:r>
              <a:rPr dirty="0" sz="2000" spc="-10" b="1">
                <a:solidFill>
                  <a:srgbClr val="D50092"/>
                </a:solidFill>
                <a:latin typeface="宋体"/>
                <a:cs typeface="宋体"/>
              </a:rPr>
              <a:t>分支类型</a:t>
            </a:r>
            <a:r>
              <a:rPr dirty="0" sz="2000" spc="-10" b="1">
                <a:solidFill>
                  <a:srgbClr val="9966FF"/>
                </a:solidFill>
                <a:latin typeface="宋体"/>
                <a:cs typeface="宋体"/>
              </a:rPr>
              <a:t>（</a:t>
            </a:r>
            <a:r>
              <a:rPr dirty="0" sz="2000" spc="-25" b="1">
                <a:solidFill>
                  <a:srgbClr val="9966FF"/>
                </a:solidFill>
                <a:latin typeface="宋体"/>
                <a:cs typeface="宋体"/>
              </a:rPr>
              <a:t>条件分支、无条件跳转、函数调</a:t>
            </a:r>
            <a:endParaRPr sz="2000">
              <a:latin typeface="宋体"/>
              <a:cs typeface="宋体"/>
            </a:endParaRPr>
          </a:p>
        </p:txBody>
      </p:sp>
      <p:sp>
        <p:nvSpPr>
          <p:cNvPr id="33" name="object 33" descr=""/>
          <p:cNvSpPr txBox="1"/>
          <p:nvPr/>
        </p:nvSpPr>
        <p:spPr>
          <a:xfrm>
            <a:off x="882192" y="5024120"/>
            <a:ext cx="793750"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9966FF"/>
                </a:solidFill>
                <a:latin typeface="宋体"/>
                <a:cs typeface="宋体"/>
              </a:rPr>
              <a:t>用等</a:t>
            </a:r>
            <a:r>
              <a:rPr dirty="0" sz="2000" spc="-50" b="1">
                <a:solidFill>
                  <a:srgbClr val="9966FF"/>
                </a:solidFill>
                <a:latin typeface="宋体"/>
                <a:cs typeface="宋体"/>
              </a:rPr>
              <a:t>）</a:t>
            </a:r>
            <a:endParaRPr sz="2000">
              <a:latin typeface="宋体"/>
              <a:cs typeface="宋体"/>
            </a:endParaRPr>
          </a:p>
        </p:txBody>
      </p:sp>
      <p:sp>
        <p:nvSpPr>
          <p:cNvPr id="34" name="object 34" descr=""/>
          <p:cNvSpPr txBox="1"/>
          <p:nvPr/>
        </p:nvSpPr>
        <p:spPr>
          <a:xfrm>
            <a:off x="8816720" y="763270"/>
            <a:ext cx="3424554"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出，首先将这条指令的</a:t>
            </a:r>
            <a:r>
              <a:rPr dirty="0" sz="2400" spc="-25">
                <a:solidFill>
                  <a:srgbClr val="40458B"/>
                </a:solidFill>
                <a:latin typeface="Tahoma"/>
                <a:cs typeface="Tahoma"/>
              </a:rPr>
              <a:t>PC</a:t>
            </a:r>
            <a:endParaRPr sz="2400">
              <a:latin typeface="Tahoma"/>
              <a:cs typeface="Tahoma"/>
            </a:endParaRPr>
          </a:p>
        </p:txBody>
      </p:sp>
      <p:sp>
        <p:nvSpPr>
          <p:cNvPr id="35" name="object 35" descr=""/>
          <p:cNvSpPr txBox="1"/>
          <p:nvPr/>
        </p:nvSpPr>
        <p:spPr>
          <a:xfrm>
            <a:off x="8816720" y="1202182"/>
            <a:ext cx="33782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40458B"/>
                </a:solidFill>
                <a:latin typeface="黑体"/>
                <a:cs typeface="黑体"/>
              </a:rPr>
              <a:t>查找左边的分支指令地址</a:t>
            </a:r>
            <a:endParaRPr sz="2400">
              <a:latin typeface="黑体"/>
              <a:cs typeface="黑体"/>
            </a:endParaRPr>
          </a:p>
        </p:txBody>
      </p:sp>
      <p:sp>
        <p:nvSpPr>
          <p:cNvPr id="36" name="object 36" descr=""/>
          <p:cNvSpPr txBox="1"/>
          <p:nvPr/>
        </p:nvSpPr>
        <p:spPr>
          <a:xfrm>
            <a:off x="679805" y="5911392"/>
            <a:ext cx="1004951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D50092"/>
                </a:solidFill>
                <a:latin typeface="黑体"/>
                <a:cs typeface="黑体"/>
              </a:rPr>
              <a:t>缓冲区</a:t>
            </a:r>
            <a:r>
              <a:rPr dirty="0" sz="2400" spc="-10">
                <a:solidFill>
                  <a:srgbClr val="D50092"/>
                </a:solidFill>
                <a:latin typeface="Tahoma"/>
                <a:cs typeface="Tahoma"/>
              </a:rPr>
              <a:t>:</a:t>
            </a:r>
            <a:r>
              <a:rPr dirty="0" sz="2400">
                <a:solidFill>
                  <a:srgbClr val="D50092"/>
                </a:solidFill>
                <a:latin typeface="黑体"/>
                <a:cs typeface="黑体"/>
              </a:rPr>
              <a:t>联想</a:t>
            </a:r>
            <a:r>
              <a:rPr dirty="0" sz="2400" spc="-25">
                <a:solidFill>
                  <a:srgbClr val="D50092"/>
                </a:solidFill>
                <a:latin typeface="Tahoma"/>
                <a:cs typeface="Tahoma"/>
              </a:rPr>
              <a:t>cache</a:t>
            </a:r>
            <a:r>
              <a:rPr dirty="0" sz="2400">
                <a:solidFill>
                  <a:srgbClr val="D50092"/>
                </a:solidFill>
                <a:latin typeface="黑体"/>
                <a:cs typeface="黑体"/>
              </a:rPr>
              <a:t>的组织映射方式（直接映射、组相连映射、全相连映射</a:t>
            </a:r>
            <a:r>
              <a:rPr dirty="0" sz="2400" spc="-50">
                <a:solidFill>
                  <a:srgbClr val="D50092"/>
                </a:solidFill>
                <a:latin typeface="黑体"/>
                <a:cs typeface="黑体"/>
              </a:rPr>
              <a:t>）</a:t>
            </a:r>
            <a:endParaRPr sz="2400">
              <a:latin typeface="黑体"/>
              <a:cs typeface="黑体"/>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6330" y="5159038"/>
            <a:ext cx="1914525" cy="1204595"/>
            <a:chOff x="8996330" y="5159038"/>
            <a:chExt cx="1914525" cy="1204595"/>
          </a:xfrm>
        </p:grpSpPr>
        <p:sp>
          <p:nvSpPr>
            <p:cNvPr id="3" name="object 3" descr=""/>
            <p:cNvSpPr/>
            <p:nvPr/>
          </p:nvSpPr>
          <p:spPr>
            <a:xfrm>
              <a:off x="9004538" y="5167246"/>
              <a:ext cx="1898014" cy="1188085"/>
            </a:xfrm>
            <a:custGeom>
              <a:avLst/>
              <a:gdLst/>
              <a:ahLst/>
              <a:cxnLst/>
              <a:rect l="l" t="t" r="r" b="b"/>
              <a:pathLst>
                <a:path w="1898015" h="1188085">
                  <a:moveTo>
                    <a:pt x="1897891" y="0"/>
                  </a:moveTo>
                  <a:lnTo>
                    <a:pt x="0" y="0"/>
                  </a:lnTo>
                  <a:lnTo>
                    <a:pt x="0" y="1187726"/>
                  </a:lnTo>
                  <a:lnTo>
                    <a:pt x="1897891" y="1187726"/>
                  </a:lnTo>
                  <a:lnTo>
                    <a:pt x="1897891" y="0"/>
                  </a:lnTo>
                  <a:close/>
                </a:path>
              </a:pathLst>
            </a:custGeom>
            <a:solidFill>
              <a:srgbClr val="CCFFFF"/>
            </a:solidFill>
          </p:spPr>
          <p:txBody>
            <a:bodyPr wrap="square" lIns="0" tIns="0" rIns="0" bIns="0" rtlCol="0"/>
            <a:lstStyle/>
            <a:p/>
          </p:txBody>
        </p:sp>
        <p:sp>
          <p:nvSpPr>
            <p:cNvPr id="4" name="object 4" descr=""/>
            <p:cNvSpPr/>
            <p:nvPr/>
          </p:nvSpPr>
          <p:spPr>
            <a:xfrm>
              <a:off x="9004538" y="5167246"/>
              <a:ext cx="1898014" cy="1188085"/>
            </a:xfrm>
            <a:custGeom>
              <a:avLst/>
              <a:gdLst/>
              <a:ahLst/>
              <a:cxnLst/>
              <a:rect l="l" t="t" r="r" b="b"/>
              <a:pathLst>
                <a:path w="1898015" h="1188085">
                  <a:moveTo>
                    <a:pt x="0" y="1187726"/>
                  </a:moveTo>
                  <a:lnTo>
                    <a:pt x="1897891" y="1187726"/>
                  </a:lnTo>
                  <a:lnTo>
                    <a:pt x="1897891" y="0"/>
                  </a:lnTo>
                  <a:lnTo>
                    <a:pt x="0" y="0"/>
                  </a:lnTo>
                  <a:lnTo>
                    <a:pt x="0" y="1187726"/>
                  </a:lnTo>
                  <a:close/>
                </a:path>
              </a:pathLst>
            </a:custGeom>
            <a:ln w="16395">
              <a:solidFill>
                <a:srgbClr val="000000"/>
              </a:solidFill>
            </a:ln>
          </p:spPr>
          <p:txBody>
            <a:bodyPr wrap="square" lIns="0" tIns="0" rIns="0" bIns="0" rtlCol="0"/>
            <a:lstStyle/>
            <a:p/>
          </p:txBody>
        </p:sp>
      </p:grpSp>
      <p:grpSp>
        <p:nvGrpSpPr>
          <p:cNvPr id="5" name="object 5" descr=""/>
          <p:cNvGrpSpPr/>
          <p:nvPr/>
        </p:nvGrpSpPr>
        <p:grpSpPr>
          <a:xfrm>
            <a:off x="4291214" y="756917"/>
            <a:ext cx="2887345" cy="2005964"/>
            <a:chOff x="4291214" y="756917"/>
            <a:chExt cx="2887345" cy="2005964"/>
          </a:xfrm>
        </p:grpSpPr>
        <p:sp>
          <p:nvSpPr>
            <p:cNvPr id="6" name="object 6" descr=""/>
            <p:cNvSpPr/>
            <p:nvPr/>
          </p:nvSpPr>
          <p:spPr>
            <a:xfrm>
              <a:off x="4433926" y="765172"/>
              <a:ext cx="2567940" cy="698500"/>
            </a:xfrm>
            <a:custGeom>
              <a:avLst/>
              <a:gdLst/>
              <a:ahLst/>
              <a:cxnLst/>
              <a:rect l="l" t="t" r="r" b="b"/>
              <a:pathLst>
                <a:path w="2567940" h="698500">
                  <a:moveTo>
                    <a:pt x="2567500" y="0"/>
                  </a:moveTo>
                  <a:lnTo>
                    <a:pt x="0" y="0"/>
                  </a:lnTo>
                  <a:lnTo>
                    <a:pt x="0" y="698022"/>
                  </a:lnTo>
                  <a:lnTo>
                    <a:pt x="2567500" y="698022"/>
                  </a:lnTo>
                  <a:lnTo>
                    <a:pt x="2567500" y="0"/>
                  </a:lnTo>
                  <a:close/>
                </a:path>
              </a:pathLst>
            </a:custGeom>
            <a:solidFill>
              <a:srgbClr val="FFFF99"/>
            </a:solidFill>
          </p:spPr>
          <p:txBody>
            <a:bodyPr wrap="square" lIns="0" tIns="0" rIns="0" bIns="0" rtlCol="0"/>
            <a:lstStyle/>
            <a:p/>
          </p:txBody>
        </p:sp>
        <p:sp>
          <p:nvSpPr>
            <p:cNvPr id="7" name="object 7" descr=""/>
            <p:cNvSpPr/>
            <p:nvPr/>
          </p:nvSpPr>
          <p:spPr>
            <a:xfrm>
              <a:off x="4433926" y="765172"/>
              <a:ext cx="2567940" cy="698500"/>
            </a:xfrm>
            <a:custGeom>
              <a:avLst/>
              <a:gdLst/>
              <a:ahLst/>
              <a:cxnLst/>
              <a:rect l="l" t="t" r="r" b="b"/>
              <a:pathLst>
                <a:path w="2567940" h="698500">
                  <a:moveTo>
                    <a:pt x="0" y="0"/>
                  </a:moveTo>
                  <a:lnTo>
                    <a:pt x="0" y="698022"/>
                  </a:lnTo>
                  <a:lnTo>
                    <a:pt x="2567500" y="698022"/>
                  </a:lnTo>
                  <a:lnTo>
                    <a:pt x="2567500" y="0"/>
                  </a:lnTo>
                </a:path>
              </a:pathLst>
            </a:custGeom>
            <a:ln w="16205">
              <a:solidFill>
                <a:srgbClr val="000000"/>
              </a:solidFill>
            </a:ln>
          </p:spPr>
          <p:txBody>
            <a:bodyPr wrap="square" lIns="0" tIns="0" rIns="0" bIns="0" rtlCol="0"/>
            <a:lstStyle/>
            <a:p/>
          </p:txBody>
        </p:sp>
        <p:sp>
          <p:nvSpPr>
            <p:cNvPr id="8" name="object 8" descr=""/>
            <p:cNvSpPr/>
            <p:nvPr/>
          </p:nvSpPr>
          <p:spPr>
            <a:xfrm>
              <a:off x="4299469" y="1823016"/>
              <a:ext cx="2870835" cy="931544"/>
            </a:xfrm>
            <a:custGeom>
              <a:avLst/>
              <a:gdLst/>
              <a:ahLst/>
              <a:cxnLst/>
              <a:rect l="l" t="t" r="r" b="b"/>
              <a:pathLst>
                <a:path w="2870834" h="931544">
                  <a:moveTo>
                    <a:pt x="1435400" y="0"/>
                  </a:moveTo>
                  <a:lnTo>
                    <a:pt x="0" y="465228"/>
                  </a:lnTo>
                  <a:lnTo>
                    <a:pt x="1435400" y="931131"/>
                  </a:lnTo>
                  <a:lnTo>
                    <a:pt x="2870563" y="465228"/>
                  </a:lnTo>
                  <a:lnTo>
                    <a:pt x="1435400" y="0"/>
                  </a:lnTo>
                  <a:close/>
                </a:path>
              </a:pathLst>
            </a:custGeom>
            <a:solidFill>
              <a:srgbClr val="FFFF99"/>
            </a:solidFill>
          </p:spPr>
          <p:txBody>
            <a:bodyPr wrap="square" lIns="0" tIns="0" rIns="0" bIns="0" rtlCol="0"/>
            <a:lstStyle/>
            <a:p/>
          </p:txBody>
        </p:sp>
        <p:sp>
          <p:nvSpPr>
            <p:cNvPr id="9" name="object 9" descr=""/>
            <p:cNvSpPr/>
            <p:nvPr/>
          </p:nvSpPr>
          <p:spPr>
            <a:xfrm>
              <a:off x="4299469" y="1823016"/>
              <a:ext cx="2870835" cy="931544"/>
            </a:xfrm>
            <a:custGeom>
              <a:avLst/>
              <a:gdLst/>
              <a:ahLst/>
              <a:cxnLst/>
              <a:rect l="l" t="t" r="r" b="b"/>
              <a:pathLst>
                <a:path w="2870834" h="931544">
                  <a:moveTo>
                    <a:pt x="1435400" y="0"/>
                  </a:moveTo>
                  <a:lnTo>
                    <a:pt x="0" y="465228"/>
                  </a:lnTo>
                  <a:lnTo>
                    <a:pt x="1435400" y="931131"/>
                  </a:lnTo>
                  <a:lnTo>
                    <a:pt x="2870563" y="465228"/>
                  </a:lnTo>
                  <a:lnTo>
                    <a:pt x="1435400" y="0"/>
                  </a:lnTo>
                  <a:close/>
                </a:path>
              </a:pathLst>
            </a:custGeom>
            <a:ln w="16229">
              <a:solidFill>
                <a:srgbClr val="000000"/>
              </a:solidFill>
            </a:ln>
          </p:spPr>
          <p:txBody>
            <a:bodyPr wrap="square" lIns="0" tIns="0" rIns="0" bIns="0" rtlCol="0"/>
            <a:lstStyle/>
            <a:p/>
          </p:txBody>
        </p:sp>
      </p:grpSp>
      <p:sp>
        <p:nvSpPr>
          <p:cNvPr id="10" name="object 10" descr=""/>
          <p:cNvSpPr txBox="1"/>
          <p:nvPr/>
        </p:nvSpPr>
        <p:spPr>
          <a:xfrm>
            <a:off x="4720733" y="2123483"/>
            <a:ext cx="2122805" cy="270510"/>
          </a:xfrm>
          <a:prstGeom prst="rect">
            <a:avLst/>
          </a:prstGeom>
        </p:spPr>
        <p:txBody>
          <a:bodyPr wrap="square" lIns="0" tIns="13335" rIns="0" bIns="0" rtlCol="0" vert="horz">
            <a:spAutoFit/>
          </a:bodyPr>
          <a:lstStyle/>
          <a:p>
            <a:pPr marL="12700">
              <a:lnSpc>
                <a:spcPct val="100000"/>
              </a:lnSpc>
              <a:spcBef>
                <a:spcPts val="105"/>
              </a:spcBef>
            </a:pPr>
            <a:r>
              <a:rPr dirty="0" sz="1600">
                <a:latin typeface="宋体"/>
                <a:cs typeface="宋体"/>
              </a:rPr>
              <a:t>BTB</a:t>
            </a:r>
            <a:r>
              <a:rPr dirty="0" sz="1600" spc="25">
                <a:latin typeface="宋体"/>
                <a:cs typeface="宋体"/>
              </a:rPr>
              <a:t> 中存在匹配的项？</a:t>
            </a:r>
            <a:endParaRPr sz="1600">
              <a:latin typeface="宋体"/>
              <a:cs typeface="宋体"/>
            </a:endParaRPr>
          </a:p>
        </p:txBody>
      </p:sp>
      <p:grpSp>
        <p:nvGrpSpPr>
          <p:cNvPr id="11" name="object 11" descr=""/>
          <p:cNvGrpSpPr/>
          <p:nvPr/>
        </p:nvGrpSpPr>
        <p:grpSpPr>
          <a:xfrm>
            <a:off x="2510777" y="3029750"/>
            <a:ext cx="2233930" cy="679450"/>
            <a:chOff x="2510777" y="3029750"/>
            <a:chExt cx="2233930" cy="679450"/>
          </a:xfrm>
        </p:grpSpPr>
        <p:sp>
          <p:nvSpPr>
            <p:cNvPr id="12" name="object 12" descr=""/>
            <p:cNvSpPr/>
            <p:nvPr/>
          </p:nvSpPr>
          <p:spPr>
            <a:xfrm>
              <a:off x="2519032" y="3038005"/>
              <a:ext cx="2217420" cy="662940"/>
            </a:xfrm>
            <a:custGeom>
              <a:avLst/>
              <a:gdLst/>
              <a:ahLst/>
              <a:cxnLst/>
              <a:rect l="l" t="t" r="r" b="b"/>
              <a:pathLst>
                <a:path w="2217420" h="662939">
                  <a:moveTo>
                    <a:pt x="1110046" y="0"/>
                  </a:moveTo>
                  <a:lnTo>
                    <a:pt x="0" y="329930"/>
                  </a:lnTo>
                  <a:lnTo>
                    <a:pt x="1110046" y="662557"/>
                  </a:lnTo>
                  <a:lnTo>
                    <a:pt x="2217246" y="329930"/>
                  </a:lnTo>
                  <a:lnTo>
                    <a:pt x="1110046" y="0"/>
                  </a:lnTo>
                  <a:close/>
                </a:path>
              </a:pathLst>
            </a:custGeom>
            <a:solidFill>
              <a:srgbClr val="CCFFCC"/>
            </a:solidFill>
          </p:spPr>
          <p:txBody>
            <a:bodyPr wrap="square" lIns="0" tIns="0" rIns="0" bIns="0" rtlCol="0"/>
            <a:lstStyle/>
            <a:p/>
          </p:txBody>
        </p:sp>
        <p:sp>
          <p:nvSpPr>
            <p:cNvPr id="13" name="object 13" descr=""/>
            <p:cNvSpPr/>
            <p:nvPr/>
          </p:nvSpPr>
          <p:spPr>
            <a:xfrm>
              <a:off x="2519032" y="3038005"/>
              <a:ext cx="2217420" cy="662940"/>
            </a:xfrm>
            <a:custGeom>
              <a:avLst/>
              <a:gdLst/>
              <a:ahLst/>
              <a:cxnLst/>
              <a:rect l="l" t="t" r="r" b="b"/>
              <a:pathLst>
                <a:path w="2217420" h="662939">
                  <a:moveTo>
                    <a:pt x="1110046" y="0"/>
                  </a:moveTo>
                  <a:lnTo>
                    <a:pt x="0" y="329930"/>
                  </a:lnTo>
                  <a:lnTo>
                    <a:pt x="1110046" y="662557"/>
                  </a:lnTo>
                  <a:lnTo>
                    <a:pt x="2217246" y="329930"/>
                  </a:lnTo>
                  <a:lnTo>
                    <a:pt x="1110046" y="0"/>
                  </a:lnTo>
                  <a:close/>
                </a:path>
              </a:pathLst>
            </a:custGeom>
            <a:ln w="16217">
              <a:solidFill>
                <a:srgbClr val="000000"/>
              </a:solidFill>
            </a:ln>
          </p:spPr>
          <p:txBody>
            <a:bodyPr wrap="square" lIns="0" tIns="0" rIns="0" bIns="0" rtlCol="0"/>
            <a:lstStyle/>
            <a:p/>
          </p:txBody>
        </p:sp>
      </p:grpSp>
      <p:sp>
        <p:nvSpPr>
          <p:cNvPr id="14" name="object 14" descr=""/>
          <p:cNvSpPr txBox="1"/>
          <p:nvPr/>
        </p:nvSpPr>
        <p:spPr>
          <a:xfrm>
            <a:off x="2965669" y="3221827"/>
            <a:ext cx="1529080" cy="270510"/>
          </a:xfrm>
          <a:prstGeom prst="rect">
            <a:avLst/>
          </a:prstGeom>
        </p:spPr>
        <p:txBody>
          <a:bodyPr wrap="square" lIns="0" tIns="13335" rIns="0" bIns="0" rtlCol="0" vert="horz">
            <a:spAutoFit/>
          </a:bodyPr>
          <a:lstStyle/>
          <a:p>
            <a:pPr marL="12700">
              <a:lnSpc>
                <a:spcPct val="100000"/>
              </a:lnSpc>
              <a:spcBef>
                <a:spcPts val="105"/>
              </a:spcBef>
            </a:pPr>
            <a:r>
              <a:rPr dirty="0" sz="1600" spc="60">
                <a:latin typeface="宋体"/>
                <a:cs typeface="宋体"/>
              </a:rPr>
              <a:t>成功分支指令？</a:t>
            </a:r>
            <a:endParaRPr sz="1600">
              <a:latin typeface="宋体"/>
              <a:cs typeface="宋体"/>
            </a:endParaRPr>
          </a:p>
        </p:txBody>
      </p:sp>
      <p:grpSp>
        <p:nvGrpSpPr>
          <p:cNvPr id="15" name="object 15" descr=""/>
          <p:cNvGrpSpPr/>
          <p:nvPr/>
        </p:nvGrpSpPr>
        <p:grpSpPr>
          <a:xfrm>
            <a:off x="7418361" y="3847158"/>
            <a:ext cx="2102485" cy="741680"/>
            <a:chOff x="7418361" y="3847158"/>
            <a:chExt cx="2102485" cy="741680"/>
          </a:xfrm>
        </p:grpSpPr>
        <p:sp>
          <p:nvSpPr>
            <p:cNvPr id="16" name="object 16" descr=""/>
            <p:cNvSpPr/>
            <p:nvPr/>
          </p:nvSpPr>
          <p:spPr>
            <a:xfrm>
              <a:off x="7426616" y="3855413"/>
              <a:ext cx="2085975" cy="725170"/>
            </a:xfrm>
            <a:custGeom>
              <a:avLst/>
              <a:gdLst/>
              <a:ahLst/>
              <a:cxnLst/>
              <a:rect l="l" t="t" r="r" b="b"/>
              <a:pathLst>
                <a:path w="2085975" h="725170">
                  <a:moveTo>
                    <a:pt x="1044358" y="0"/>
                  </a:moveTo>
                  <a:lnTo>
                    <a:pt x="0" y="362069"/>
                  </a:lnTo>
                  <a:lnTo>
                    <a:pt x="1044358" y="724632"/>
                  </a:lnTo>
                  <a:lnTo>
                    <a:pt x="2085871" y="362069"/>
                  </a:lnTo>
                  <a:lnTo>
                    <a:pt x="1044358" y="0"/>
                  </a:lnTo>
                  <a:close/>
                </a:path>
              </a:pathLst>
            </a:custGeom>
            <a:solidFill>
              <a:srgbClr val="CCFFCC"/>
            </a:solidFill>
          </p:spPr>
          <p:txBody>
            <a:bodyPr wrap="square" lIns="0" tIns="0" rIns="0" bIns="0" rtlCol="0"/>
            <a:lstStyle/>
            <a:p/>
          </p:txBody>
        </p:sp>
        <p:sp>
          <p:nvSpPr>
            <p:cNvPr id="17" name="object 17" descr=""/>
            <p:cNvSpPr/>
            <p:nvPr/>
          </p:nvSpPr>
          <p:spPr>
            <a:xfrm>
              <a:off x="7426616" y="3855413"/>
              <a:ext cx="2085975" cy="725170"/>
            </a:xfrm>
            <a:custGeom>
              <a:avLst/>
              <a:gdLst/>
              <a:ahLst/>
              <a:cxnLst/>
              <a:rect l="l" t="t" r="r" b="b"/>
              <a:pathLst>
                <a:path w="2085975" h="725170">
                  <a:moveTo>
                    <a:pt x="1044358" y="0"/>
                  </a:moveTo>
                  <a:lnTo>
                    <a:pt x="0" y="362069"/>
                  </a:lnTo>
                  <a:lnTo>
                    <a:pt x="1044358" y="724632"/>
                  </a:lnTo>
                  <a:lnTo>
                    <a:pt x="2085871" y="362069"/>
                  </a:lnTo>
                  <a:lnTo>
                    <a:pt x="1044358" y="0"/>
                  </a:lnTo>
                  <a:close/>
                </a:path>
              </a:pathLst>
            </a:custGeom>
            <a:ln w="16240">
              <a:solidFill>
                <a:srgbClr val="000000"/>
              </a:solidFill>
            </a:ln>
          </p:spPr>
          <p:txBody>
            <a:bodyPr wrap="square" lIns="0" tIns="0" rIns="0" bIns="0" rtlCol="0"/>
            <a:lstStyle/>
            <a:p/>
          </p:txBody>
        </p:sp>
      </p:grpSp>
      <p:sp>
        <p:nvSpPr>
          <p:cNvPr id="18" name="object 18" descr=""/>
          <p:cNvSpPr txBox="1"/>
          <p:nvPr/>
        </p:nvSpPr>
        <p:spPr>
          <a:xfrm>
            <a:off x="3790200" y="1963687"/>
            <a:ext cx="240665" cy="270510"/>
          </a:xfrm>
          <a:prstGeom prst="rect">
            <a:avLst/>
          </a:prstGeom>
        </p:spPr>
        <p:txBody>
          <a:bodyPr wrap="square" lIns="0" tIns="13335" rIns="0" bIns="0" rtlCol="0" vert="horz">
            <a:spAutoFit/>
          </a:bodyPr>
          <a:lstStyle/>
          <a:p>
            <a:pPr marL="12700">
              <a:lnSpc>
                <a:spcPct val="100000"/>
              </a:lnSpc>
              <a:spcBef>
                <a:spcPts val="105"/>
              </a:spcBef>
            </a:pPr>
            <a:r>
              <a:rPr dirty="0" sz="1600" spc="30">
                <a:latin typeface="宋体"/>
                <a:cs typeface="宋体"/>
              </a:rPr>
              <a:t>否</a:t>
            </a:r>
            <a:endParaRPr sz="1600">
              <a:latin typeface="宋体"/>
              <a:cs typeface="宋体"/>
            </a:endParaRPr>
          </a:p>
        </p:txBody>
      </p:sp>
      <p:sp>
        <p:nvSpPr>
          <p:cNvPr id="19" name="object 19" descr=""/>
          <p:cNvSpPr txBox="1"/>
          <p:nvPr/>
        </p:nvSpPr>
        <p:spPr>
          <a:xfrm>
            <a:off x="2152639" y="3040455"/>
            <a:ext cx="240665" cy="270510"/>
          </a:xfrm>
          <a:prstGeom prst="rect">
            <a:avLst/>
          </a:prstGeom>
        </p:spPr>
        <p:txBody>
          <a:bodyPr wrap="square" lIns="0" tIns="13335" rIns="0" bIns="0" rtlCol="0" vert="horz">
            <a:spAutoFit/>
          </a:bodyPr>
          <a:lstStyle/>
          <a:p>
            <a:pPr marL="12700">
              <a:lnSpc>
                <a:spcPct val="100000"/>
              </a:lnSpc>
              <a:spcBef>
                <a:spcPts val="105"/>
              </a:spcBef>
            </a:pPr>
            <a:r>
              <a:rPr dirty="0" sz="1600" spc="30">
                <a:latin typeface="宋体"/>
                <a:cs typeface="宋体"/>
              </a:rPr>
              <a:t>否</a:t>
            </a:r>
            <a:endParaRPr sz="1600">
              <a:latin typeface="宋体"/>
              <a:cs typeface="宋体"/>
            </a:endParaRPr>
          </a:p>
        </p:txBody>
      </p:sp>
      <p:sp>
        <p:nvSpPr>
          <p:cNvPr id="20" name="object 20" descr=""/>
          <p:cNvSpPr txBox="1"/>
          <p:nvPr/>
        </p:nvSpPr>
        <p:spPr>
          <a:xfrm>
            <a:off x="1414630" y="3678964"/>
            <a:ext cx="1353185" cy="336550"/>
          </a:xfrm>
          <a:prstGeom prst="rect">
            <a:avLst/>
          </a:prstGeom>
          <a:solidFill>
            <a:srgbClr val="CCFFCC"/>
          </a:solidFill>
          <a:ln w="16201">
            <a:solidFill>
              <a:srgbClr val="000000"/>
            </a:solidFill>
          </a:ln>
        </p:spPr>
        <p:txBody>
          <a:bodyPr wrap="square" lIns="0" tIns="40640" rIns="0" bIns="0" rtlCol="0" vert="horz">
            <a:spAutoFit/>
          </a:bodyPr>
          <a:lstStyle/>
          <a:p>
            <a:pPr marL="22860">
              <a:lnSpc>
                <a:spcPct val="100000"/>
              </a:lnSpc>
              <a:spcBef>
                <a:spcPts val="320"/>
              </a:spcBef>
            </a:pPr>
            <a:r>
              <a:rPr dirty="0" sz="1600" spc="60">
                <a:latin typeface="宋体"/>
                <a:cs typeface="宋体"/>
              </a:rPr>
              <a:t>正常执行指令</a:t>
            </a:r>
            <a:endParaRPr sz="1600">
              <a:latin typeface="宋体"/>
              <a:cs typeface="宋体"/>
            </a:endParaRPr>
          </a:p>
        </p:txBody>
      </p:sp>
      <p:sp>
        <p:nvSpPr>
          <p:cNvPr id="21" name="object 21" descr=""/>
          <p:cNvSpPr txBox="1"/>
          <p:nvPr/>
        </p:nvSpPr>
        <p:spPr>
          <a:xfrm>
            <a:off x="4768872" y="3040455"/>
            <a:ext cx="240665" cy="270510"/>
          </a:xfrm>
          <a:prstGeom prst="rect">
            <a:avLst/>
          </a:prstGeom>
        </p:spPr>
        <p:txBody>
          <a:bodyPr wrap="square" lIns="0" tIns="13335" rIns="0" bIns="0" rtlCol="0" vert="horz">
            <a:spAutoFit/>
          </a:bodyPr>
          <a:lstStyle/>
          <a:p>
            <a:pPr marL="12700">
              <a:lnSpc>
                <a:spcPct val="100000"/>
              </a:lnSpc>
              <a:spcBef>
                <a:spcPts val="105"/>
              </a:spcBef>
            </a:pPr>
            <a:r>
              <a:rPr dirty="0" sz="1600" spc="30">
                <a:latin typeface="宋体"/>
                <a:cs typeface="宋体"/>
              </a:rPr>
              <a:t>是</a:t>
            </a:r>
            <a:endParaRPr sz="1600">
              <a:latin typeface="宋体"/>
              <a:cs typeface="宋体"/>
            </a:endParaRPr>
          </a:p>
        </p:txBody>
      </p:sp>
      <p:sp>
        <p:nvSpPr>
          <p:cNvPr id="22" name="object 22" descr=""/>
          <p:cNvSpPr txBox="1"/>
          <p:nvPr/>
        </p:nvSpPr>
        <p:spPr>
          <a:xfrm>
            <a:off x="9565713" y="3903937"/>
            <a:ext cx="240665" cy="270510"/>
          </a:xfrm>
          <a:prstGeom prst="rect">
            <a:avLst/>
          </a:prstGeom>
        </p:spPr>
        <p:txBody>
          <a:bodyPr wrap="square" lIns="0" tIns="13335" rIns="0" bIns="0" rtlCol="0" vert="horz">
            <a:spAutoFit/>
          </a:bodyPr>
          <a:lstStyle/>
          <a:p>
            <a:pPr marL="12700">
              <a:lnSpc>
                <a:spcPct val="100000"/>
              </a:lnSpc>
              <a:spcBef>
                <a:spcPts val="105"/>
              </a:spcBef>
            </a:pPr>
            <a:r>
              <a:rPr dirty="0" sz="1600" spc="30">
                <a:latin typeface="宋体"/>
                <a:cs typeface="宋体"/>
              </a:rPr>
              <a:t>是</a:t>
            </a:r>
            <a:endParaRPr sz="1600">
              <a:latin typeface="宋体"/>
              <a:cs typeface="宋体"/>
            </a:endParaRPr>
          </a:p>
        </p:txBody>
      </p:sp>
      <p:sp>
        <p:nvSpPr>
          <p:cNvPr id="23" name="object 23" descr=""/>
          <p:cNvSpPr txBox="1"/>
          <p:nvPr/>
        </p:nvSpPr>
        <p:spPr>
          <a:xfrm>
            <a:off x="7126268" y="3895622"/>
            <a:ext cx="240665" cy="270510"/>
          </a:xfrm>
          <a:prstGeom prst="rect">
            <a:avLst/>
          </a:prstGeom>
        </p:spPr>
        <p:txBody>
          <a:bodyPr wrap="square" lIns="0" tIns="13335" rIns="0" bIns="0" rtlCol="0" vert="horz">
            <a:spAutoFit/>
          </a:bodyPr>
          <a:lstStyle/>
          <a:p>
            <a:pPr marL="12700">
              <a:lnSpc>
                <a:spcPct val="100000"/>
              </a:lnSpc>
              <a:spcBef>
                <a:spcPts val="105"/>
              </a:spcBef>
            </a:pPr>
            <a:r>
              <a:rPr dirty="0" sz="1600" spc="30">
                <a:latin typeface="宋体"/>
                <a:cs typeface="宋体"/>
              </a:rPr>
              <a:t>否</a:t>
            </a:r>
            <a:endParaRPr sz="1600">
              <a:latin typeface="宋体"/>
              <a:cs typeface="宋体"/>
            </a:endParaRPr>
          </a:p>
        </p:txBody>
      </p:sp>
      <p:sp>
        <p:nvSpPr>
          <p:cNvPr id="24" name="object 24" descr=""/>
          <p:cNvSpPr txBox="1"/>
          <p:nvPr/>
        </p:nvSpPr>
        <p:spPr>
          <a:xfrm>
            <a:off x="9060370" y="5243009"/>
            <a:ext cx="1529080" cy="270510"/>
          </a:xfrm>
          <a:prstGeom prst="rect">
            <a:avLst/>
          </a:prstGeom>
        </p:spPr>
        <p:txBody>
          <a:bodyPr wrap="square" lIns="0" tIns="13335" rIns="0" bIns="0" rtlCol="0" vert="horz">
            <a:spAutoFit/>
          </a:bodyPr>
          <a:lstStyle/>
          <a:p>
            <a:pPr marL="12700">
              <a:lnSpc>
                <a:spcPct val="100000"/>
              </a:lnSpc>
              <a:spcBef>
                <a:spcPts val="105"/>
              </a:spcBef>
            </a:pPr>
            <a:r>
              <a:rPr dirty="0" sz="1600" spc="60">
                <a:latin typeface="宋体"/>
                <a:cs typeface="宋体"/>
              </a:rPr>
              <a:t>分支预测正确，</a:t>
            </a:r>
            <a:endParaRPr sz="1600">
              <a:latin typeface="宋体"/>
              <a:cs typeface="宋体"/>
            </a:endParaRPr>
          </a:p>
        </p:txBody>
      </p:sp>
      <p:sp>
        <p:nvSpPr>
          <p:cNvPr id="25" name="object 25" descr=""/>
          <p:cNvSpPr txBox="1"/>
          <p:nvPr/>
        </p:nvSpPr>
        <p:spPr>
          <a:xfrm>
            <a:off x="9060370" y="5592335"/>
            <a:ext cx="1959610" cy="270510"/>
          </a:xfrm>
          <a:prstGeom prst="rect">
            <a:avLst/>
          </a:prstGeom>
        </p:spPr>
        <p:txBody>
          <a:bodyPr wrap="square" lIns="0" tIns="13335" rIns="0" bIns="0" rtlCol="0" vert="horz">
            <a:spAutoFit/>
          </a:bodyPr>
          <a:lstStyle/>
          <a:p>
            <a:pPr marL="12700">
              <a:lnSpc>
                <a:spcPct val="100000"/>
              </a:lnSpc>
              <a:spcBef>
                <a:spcPts val="105"/>
              </a:spcBef>
            </a:pPr>
            <a:r>
              <a:rPr dirty="0" sz="1600" spc="65">
                <a:latin typeface="宋体"/>
                <a:cs typeface="宋体"/>
              </a:rPr>
              <a:t>继续执行后继指令，</a:t>
            </a:r>
            <a:endParaRPr sz="1600">
              <a:latin typeface="宋体"/>
              <a:cs typeface="宋体"/>
            </a:endParaRPr>
          </a:p>
        </p:txBody>
      </p:sp>
      <p:sp>
        <p:nvSpPr>
          <p:cNvPr id="26" name="object 26" descr=""/>
          <p:cNvSpPr txBox="1"/>
          <p:nvPr/>
        </p:nvSpPr>
        <p:spPr>
          <a:xfrm>
            <a:off x="9060370" y="5938357"/>
            <a:ext cx="1529080" cy="270510"/>
          </a:xfrm>
          <a:prstGeom prst="rect">
            <a:avLst/>
          </a:prstGeom>
        </p:spPr>
        <p:txBody>
          <a:bodyPr wrap="square" lIns="0" tIns="13335" rIns="0" bIns="0" rtlCol="0" vert="horz">
            <a:spAutoFit/>
          </a:bodyPr>
          <a:lstStyle/>
          <a:p>
            <a:pPr marL="12700">
              <a:lnSpc>
                <a:spcPct val="100000"/>
              </a:lnSpc>
              <a:spcBef>
                <a:spcPts val="105"/>
              </a:spcBef>
            </a:pPr>
            <a:r>
              <a:rPr dirty="0" sz="1600" spc="60">
                <a:latin typeface="宋体"/>
                <a:cs typeface="宋体"/>
              </a:rPr>
              <a:t>不会出现停顿。</a:t>
            </a:r>
            <a:endParaRPr sz="1600">
              <a:latin typeface="宋体"/>
              <a:cs typeface="宋体"/>
            </a:endParaRPr>
          </a:p>
        </p:txBody>
      </p:sp>
      <p:grpSp>
        <p:nvGrpSpPr>
          <p:cNvPr id="27" name="object 27" descr=""/>
          <p:cNvGrpSpPr/>
          <p:nvPr/>
        </p:nvGrpSpPr>
        <p:grpSpPr>
          <a:xfrm>
            <a:off x="6063034" y="4828754"/>
            <a:ext cx="2174240" cy="1903095"/>
            <a:chOff x="6063034" y="4828754"/>
            <a:chExt cx="2174240" cy="1903095"/>
          </a:xfrm>
        </p:grpSpPr>
        <p:sp>
          <p:nvSpPr>
            <p:cNvPr id="28" name="object 28" descr=""/>
            <p:cNvSpPr/>
            <p:nvPr/>
          </p:nvSpPr>
          <p:spPr>
            <a:xfrm>
              <a:off x="6071606" y="4837327"/>
              <a:ext cx="2157095" cy="1885950"/>
            </a:xfrm>
            <a:custGeom>
              <a:avLst/>
              <a:gdLst/>
              <a:ahLst/>
              <a:cxnLst/>
              <a:rect l="l" t="t" r="r" b="b"/>
              <a:pathLst>
                <a:path w="2157095" h="1885950">
                  <a:moveTo>
                    <a:pt x="2156942" y="0"/>
                  </a:moveTo>
                  <a:lnTo>
                    <a:pt x="0" y="0"/>
                  </a:lnTo>
                  <a:lnTo>
                    <a:pt x="0" y="1885838"/>
                  </a:lnTo>
                  <a:lnTo>
                    <a:pt x="2156942" y="1885838"/>
                  </a:lnTo>
                  <a:lnTo>
                    <a:pt x="2156942" y="0"/>
                  </a:lnTo>
                  <a:close/>
                </a:path>
              </a:pathLst>
            </a:custGeom>
            <a:solidFill>
              <a:srgbClr val="CCFFFF"/>
            </a:solidFill>
          </p:spPr>
          <p:txBody>
            <a:bodyPr wrap="square" lIns="0" tIns="0" rIns="0" bIns="0" rtlCol="0"/>
            <a:lstStyle/>
            <a:p/>
          </p:txBody>
        </p:sp>
        <p:sp>
          <p:nvSpPr>
            <p:cNvPr id="29" name="object 29" descr=""/>
            <p:cNvSpPr/>
            <p:nvPr/>
          </p:nvSpPr>
          <p:spPr>
            <a:xfrm>
              <a:off x="6071606" y="4837327"/>
              <a:ext cx="2157095" cy="1885950"/>
            </a:xfrm>
            <a:custGeom>
              <a:avLst/>
              <a:gdLst/>
              <a:ahLst/>
              <a:cxnLst/>
              <a:rect l="l" t="t" r="r" b="b"/>
              <a:pathLst>
                <a:path w="2157095" h="1885950">
                  <a:moveTo>
                    <a:pt x="0" y="1885838"/>
                  </a:moveTo>
                  <a:lnTo>
                    <a:pt x="2156942" y="1885838"/>
                  </a:lnTo>
                  <a:lnTo>
                    <a:pt x="2156942" y="0"/>
                  </a:lnTo>
                  <a:lnTo>
                    <a:pt x="0" y="0"/>
                  </a:lnTo>
                  <a:lnTo>
                    <a:pt x="0" y="1885838"/>
                  </a:lnTo>
                  <a:close/>
                </a:path>
              </a:pathLst>
            </a:custGeom>
            <a:ln w="16530">
              <a:solidFill>
                <a:srgbClr val="000000"/>
              </a:solidFill>
            </a:ln>
          </p:spPr>
          <p:txBody>
            <a:bodyPr wrap="square" lIns="0" tIns="0" rIns="0" bIns="0" rtlCol="0"/>
            <a:lstStyle/>
            <a:p/>
          </p:txBody>
        </p:sp>
      </p:grpSp>
      <p:sp>
        <p:nvSpPr>
          <p:cNvPr id="30" name="object 30" descr=""/>
          <p:cNvSpPr txBox="1"/>
          <p:nvPr/>
        </p:nvSpPr>
        <p:spPr>
          <a:xfrm>
            <a:off x="6135739" y="4813809"/>
            <a:ext cx="1979930" cy="708025"/>
          </a:xfrm>
          <a:prstGeom prst="rect">
            <a:avLst/>
          </a:prstGeom>
        </p:spPr>
        <p:txBody>
          <a:bodyPr wrap="square" lIns="0" tIns="12065" rIns="0" bIns="0" rtlCol="0" vert="horz">
            <a:spAutoFit/>
          </a:bodyPr>
          <a:lstStyle/>
          <a:p>
            <a:pPr marL="32384" marR="5080" indent="-20320">
              <a:lnSpc>
                <a:spcPct val="139900"/>
              </a:lnSpc>
              <a:spcBef>
                <a:spcPts val="95"/>
              </a:spcBef>
            </a:pPr>
            <a:r>
              <a:rPr dirty="0" sz="1600" spc="65">
                <a:latin typeface="宋体"/>
                <a:cs typeface="宋体"/>
              </a:rPr>
              <a:t>分支预测错误，清除已取的指令，并从另</a:t>
            </a:r>
            <a:endParaRPr sz="1600">
              <a:latin typeface="宋体"/>
              <a:cs typeface="宋体"/>
            </a:endParaRPr>
          </a:p>
        </p:txBody>
      </p:sp>
      <p:sp>
        <p:nvSpPr>
          <p:cNvPr id="31" name="object 31" descr=""/>
          <p:cNvSpPr txBox="1"/>
          <p:nvPr/>
        </p:nvSpPr>
        <p:spPr>
          <a:xfrm>
            <a:off x="6155659" y="5602876"/>
            <a:ext cx="2178050" cy="270510"/>
          </a:xfrm>
          <a:prstGeom prst="rect">
            <a:avLst/>
          </a:prstGeom>
        </p:spPr>
        <p:txBody>
          <a:bodyPr wrap="square" lIns="0" tIns="13335" rIns="0" bIns="0" rtlCol="0" vert="horz">
            <a:spAutoFit/>
          </a:bodyPr>
          <a:lstStyle/>
          <a:p>
            <a:pPr marL="12700">
              <a:lnSpc>
                <a:spcPct val="100000"/>
              </a:lnSpc>
              <a:spcBef>
                <a:spcPts val="105"/>
              </a:spcBef>
            </a:pPr>
            <a:r>
              <a:rPr dirty="0" sz="1600" spc="70">
                <a:latin typeface="宋体"/>
                <a:cs typeface="宋体"/>
              </a:rPr>
              <a:t>一个分支</a:t>
            </a:r>
            <a:r>
              <a:rPr dirty="0" sz="1600" spc="90">
                <a:latin typeface="宋体"/>
                <a:cs typeface="宋体"/>
              </a:rPr>
              <a:t>（</a:t>
            </a:r>
            <a:r>
              <a:rPr dirty="0" sz="1600" spc="80">
                <a:latin typeface="宋体"/>
                <a:cs typeface="宋体"/>
              </a:rPr>
              <a:t>即失败处</a:t>
            </a:r>
            <a:r>
              <a:rPr dirty="0" sz="1600" spc="30">
                <a:latin typeface="宋体"/>
                <a:cs typeface="宋体"/>
              </a:rPr>
              <a:t>）</a:t>
            </a:r>
            <a:endParaRPr sz="1600">
              <a:latin typeface="宋体"/>
              <a:cs typeface="宋体"/>
            </a:endParaRPr>
          </a:p>
        </p:txBody>
      </p:sp>
      <p:sp>
        <p:nvSpPr>
          <p:cNvPr id="32" name="object 32" descr=""/>
          <p:cNvSpPr txBox="1"/>
          <p:nvPr/>
        </p:nvSpPr>
        <p:spPr>
          <a:xfrm>
            <a:off x="6155659" y="5847943"/>
            <a:ext cx="1960245" cy="728980"/>
          </a:xfrm>
          <a:prstGeom prst="rect">
            <a:avLst/>
          </a:prstGeom>
        </p:spPr>
        <p:txBody>
          <a:bodyPr wrap="square" lIns="0" tIns="12065" rIns="0" bIns="0" rtlCol="0" vert="horz">
            <a:spAutoFit/>
          </a:bodyPr>
          <a:lstStyle/>
          <a:p>
            <a:pPr marL="12700" marR="5080">
              <a:lnSpc>
                <a:spcPct val="144200"/>
              </a:lnSpc>
              <a:spcBef>
                <a:spcPts val="95"/>
              </a:spcBef>
            </a:pPr>
            <a:r>
              <a:rPr dirty="0" sz="1600" spc="5">
                <a:latin typeface="宋体"/>
                <a:cs typeface="宋体"/>
              </a:rPr>
              <a:t>取指令。从 </a:t>
            </a:r>
            <a:r>
              <a:rPr dirty="0" sz="1600">
                <a:latin typeface="宋体"/>
                <a:cs typeface="宋体"/>
              </a:rPr>
              <a:t>BTB</a:t>
            </a:r>
            <a:r>
              <a:rPr dirty="0" sz="1600" spc="-80">
                <a:latin typeface="宋体"/>
                <a:cs typeface="宋体"/>
              </a:rPr>
              <a:t> 中删</a:t>
            </a:r>
            <a:r>
              <a:rPr dirty="0" sz="1600" spc="60">
                <a:latin typeface="宋体"/>
                <a:cs typeface="宋体"/>
              </a:rPr>
              <a:t>除相应的项。</a:t>
            </a:r>
            <a:endParaRPr sz="1600">
              <a:latin typeface="宋体"/>
              <a:cs typeface="宋体"/>
            </a:endParaRPr>
          </a:p>
        </p:txBody>
      </p:sp>
      <p:grpSp>
        <p:nvGrpSpPr>
          <p:cNvPr id="33" name="object 33" descr=""/>
          <p:cNvGrpSpPr/>
          <p:nvPr/>
        </p:nvGrpSpPr>
        <p:grpSpPr>
          <a:xfrm>
            <a:off x="3926258" y="4910037"/>
            <a:ext cx="2014220" cy="1559560"/>
            <a:chOff x="3926258" y="4910037"/>
            <a:chExt cx="2014220" cy="1559560"/>
          </a:xfrm>
        </p:grpSpPr>
        <p:sp>
          <p:nvSpPr>
            <p:cNvPr id="34" name="object 34" descr=""/>
            <p:cNvSpPr/>
            <p:nvPr/>
          </p:nvSpPr>
          <p:spPr>
            <a:xfrm>
              <a:off x="3934513" y="4918292"/>
              <a:ext cx="1997710" cy="1543050"/>
            </a:xfrm>
            <a:custGeom>
              <a:avLst/>
              <a:gdLst/>
              <a:ahLst/>
              <a:cxnLst/>
              <a:rect l="l" t="t" r="r" b="b"/>
              <a:pathLst>
                <a:path w="1997710" h="1543050">
                  <a:moveTo>
                    <a:pt x="1997158" y="0"/>
                  </a:moveTo>
                  <a:lnTo>
                    <a:pt x="0" y="0"/>
                  </a:lnTo>
                  <a:lnTo>
                    <a:pt x="0" y="1542603"/>
                  </a:lnTo>
                  <a:lnTo>
                    <a:pt x="1997158" y="1542603"/>
                  </a:lnTo>
                  <a:lnTo>
                    <a:pt x="1997158" y="0"/>
                  </a:lnTo>
                  <a:close/>
                </a:path>
              </a:pathLst>
            </a:custGeom>
            <a:solidFill>
              <a:srgbClr val="CCFFFF"/>
            </a:solidFill>
          </p:spPr>
          <p:txBody>
            <a:bodyPr wrap="square" lIns="0" tIns="0" rIns="0" bIns="0" rtlCol="0"/>
            <a:lstStyle/>
            <a:p/>
          </p:txBody>
        </p:sp>
        <p:sp>
          <p:nvSpPr>
            <p:cNvPr id="35" name="object 35" descr=""/>
            <p:cNvSpPr/>
            <p:nvPr/>
          </p:nvSpPr>
          <p:spPr>
            <a:xfrm>
              <a:off x="3934513" y="4918292"/>
              <a:ext cx="1997710" cy="1543050"/>
            </a:xfrm>
            <a:custGeom>
              <a:avLst/>
              <a:gdLst/>
              <a:ahLst/>
              <a:cxnLst/>
              <a:rect l="l" t="t" r="r" b="b"/>
              <a:pathLst>
                <a:path w="1997710" h="1543050">
                  <a:moveTo>
                    <a:pt x="0" y="1542603"/>
                  </a:moveTo>
                  <a:lnTo>
                    <a:pt x="1997158" y="1542603"/>
                  </a:lnTo>
                  <a:lnTo>
                    <a:pt x="1997158" y="0"/>
                  </a:lnTo>
                  <a:lnTo>
                    <a:pt x="0" y="0"/>
                  </a:lnTo>
                  <a:lnTo>
                    <a:pt x="0" y="1542603"/>
                  </a:lnTo>
                  <a:close/>
                </a:path>
              </a:pathLst>
            </a:custGeom>
            <a:ln w="16477">
              <a:solidFill>
                <a:srgbClr val="000000"/>
              </a:solidFill>
            </a:ln>
          </p:spPr>
          <p:txBody>
            <a:bodyPr wrap="square" lIns="0" tIns="0" rIns="0" bIns="0" rtlCol="0"/>
            <a:lstStyle/>
            <a:p/>
          </p:txBody>
        </p:sp>
      </p:grpSp>
      <p:sp>
        <p:nvSpPr>
          <p:cNvPr id="36" name="object 36" descr=""/>
          <p:cNvSpPr txBox="1"/>
          <p:nvPr/>
        </p:nvSpPr>
        <p:spPr>
          <a:xfrm>
            <a:off x="4029948" y="5068292"/>
            <a:ext cx="1696085" cy="690880"/>
          </a:xfrm>
          <a:prstGeom prst="rect">
            <a:avLst/>
          </a:prstGeom>
        </p:spPr>
        <p:txBody>
          <a:bodyPr wrap="square" lIns="0" tIns="12700" rIns="0" bIns="0" rtlCol="0" vert="horz">
            <a:spAutoFit/>
          </a:bodyPr>
          <a:lstStyle/>
          <a:p>
            <a:pPr marL="12700" marR="5080" indent="5715">
              <a:lnSpc>
                <a:spcPct val="136400"/>
              </a:lnSpc>
              <a:spcBef>
                <a:spcPts val="100"/>
              </a:spcBef>
            </a:pPr>
            <a:r>
              <a:rPr dirty="0" sz="1600" spc="-65">
                <a:latin typeface="宋体"/>
                <a:cs typeface="宋体"/>
              </a:rPr>
              <a:t>将其 </a:t>
            </a:r>
            <a:r>
              <a:rPr dirty="0" sz="1600">
                <a:latin typeface="宋体"/>
                <a:cs typeface="宋体"/>
              </a:rPr>
              <a:t>PC</a:t>
            </a:r>
            <a:r>
              <a:rPr dirty="0" sz="1600" spc="-20">
                <a:latin typeface="宋体"/>
                <a:cs typeface="宋体"/>
              </a:rPr>
              <a:t> 值和分支</a:t>
            </a:r>
            <a:r>
              <a:rPr dirty="0" sz="1600" spc="5">
                <a:latin typeface="宋体"/>
                <a:cs typeface="宋体"/>
              </a:rPr>
              <a:t>目标地址写入 </a:t>
            </a:r>
            <a:r>
              <a:rPr dirty="0" sz="1600" spc="-25">
                <a:latin typeface="宋体"/>
                <a:cs typeface="宋体"/>
              </a:rPr>
              <a:t>BTB</a:t>
            </a:r>
            <a:endParaRPr sz="1600">
              <a:latin typeface="宋体"/>
              <a:cs typeface="宋体"/>
            </a:endParaRPr>
          </a:p>
        </p:txBody>
      </p:sp>
      <p:sp>
        <p:nvSpPr>
          <p:cNvPr id="37" name="object 37" descr=""/>
          <p:cNvSpPr txBox="1"/>
          <p:nvPr/>
        </p:nvSpPr>
        <p:spPr>
          <a:xfrm>
            <a:off x="4021648" y="5835760"/>
            <a:ext cx="1931670" cy="270510"/>
          </a:xfrm>
          <a:prstGeom prst="rect">
            <a:avLst/>
          </a:prstGeom>
        </p:spPr>
        <p:txBody>
          <a:bodyPr wrap="square" lIns="0" tIns="13335" rIns="0" bIns="0" rtlCol="0" vert="horz">
            <a:spAutoFit/>
          </a:bodyPr>
          <a:lstStyle/>
          <a:p>
            <a:pPr marL="12700">
              <a:lnSpc>
                <a:spcPct val="100000"/>
              </a:lnSpc>
              <a:spcBef>
                <a:spcPts val="105"/>
              </a:spcBef>
            </a:pPr>
            <a:r>
              <a:rPr dirty="0" sz="1600" spc="40">
                <a:latin typeface="宋体"/>
                <a:cs typeface="宋体"/>
              </a:rPr>
              <a:t>中，作为一个新项。</a:t>
            </a:r>
            <a:endParaRPr sz="1600">
              <a:latin typeface="宋体"/>
              <a:cs typeface="宋体"/>
            </a:endParaRPr>
          </a:p>
        </p:txBody>
      </p:sp>
      <p:sp>
        <p:nvSpPr>
          <p:cNvPr id="38" name="object 38" descr=""/>
          <p:cNvSpPr txBox="1"/>
          <p:nvPr/>
        </p:nvSpPr>
        <p:spPr>
          <a:xfrm>
            <a:off x="4442033" y="716989"/>
            <a:ext cx="2551430" cy="670560"/>
          </a:xfrm>
          <a:prstGeom prst="rect">
            <a:avLst/>
          </a:prstGeom>
        </p:spPr>
        <p:txBody>
          <a:bodyPr wrap="square" lIns="0" tIns="12065" rIns="0" bIns="0" rtlCol="0" vert="horz">
            <a:spAutoFit/>
          </a:bodyPr>
          <a:lstStyle/>
          <a:p>
            <a:pPr marL="516255" marR="574040" indent="179705">
              <a:lnSpc>
                <a:spcPct val="132200"/>
              </a:lnSpc>
              <a:spcBef>
                <a:spcPts val="95"/>
              </a:spcBef>
            </a:pPr>
            <a:r>
              <a:rPr dirty="0" sz="1600" spc="-65">
                <a:latin typeface="宋体"/>
                <a:cs typeface="宋体"/>
              </a:rPr>
              <a:t>当前 </a:t>
            </a:r>
            <a:r>
              <a:rPr dirty="0" sz="1600">
                <a:latin typeface="宋体"/>
                <a:cs typeface="宋体"/>
              </a:rPr>
              <a:t>PC</a:t>
            </a:r>
            <a:r>
              <a:rPr dirty="0" sz="1600" spc="-150">
                <a:latin typeface="宋体"/>
                <a:cs typeface="宋体"/>
              </a:rPr>
              <a:t> 值</a:t>
            </a:r>
            <a:r>
              <a:rPr dirty="0" sz="1600" spc="500">
                <a:latin typeface="宋体"/>
                <a:cs typeface="宋体"/>
              </a:rPr>
              <a:t> </a:t>
            </a:r>
            <a:r>
              <a:rPr dirty="0" sz="1600" spc="-5">
                <a:latin typeface="宋体"/>
                <a:cs typeface="宋体"/>
              </a:rPr>
              <a:t>送存储器和 </a:t>
            </a:r>
            <a:r>
              <a:rPr dirty="0" sz="1600" spc="-25">
                <a:latin typeface="宋体"/>
                <a:cs typeface="宋体"/>
              </a:rPr>
              <a:t>BTB</a:t>
            </a:r>
            <a:endParaRPr sz="1600">
              <a:latin typeface="宋体"/>
              <a:cs typeface="宋体"/>
            </a:endParaRPr>
          </a:p>
        </p:txBody>
      </p:sp>
      <p:sp>
        <p:nvSpPr>
          <p:cNvPr id="39" name="object 39" descr=""/>
          <p:cNvSpPr txBox="1"/>
          <p:nvPr/>
        </p:nvSpPr>
        <p:spPr>
          <a:xfrm>
            <a:off x="275307" y="1847267"/>
            <a:ext cx="511175" cy="270510"/>
          </a:xfrm>
          <a:prstGeom prst="rect">
            <a:avLst/>
          </a:prstGeom>
        </p:spPr>
        <p:txBody>
          <a:bodyPr wrap="square" lIns="0" tIns="13335" rIns="0" bIns="0" rtlCol="0" vert="horz">
            <a:spAutoFit/>
          </a:bodyPr>
          <a:lstStyle/>
          <a:p>
            <a:pPr marL="12700">
              <a:lnSpc>
                <a:spcPct val="100000"/>
              </a:lnSpc>
              <a:spcBef>
                <a:spcPts val="105"/>
              </a:spcBef>
            </a:pPr>
            <a:r>
              <a:rPr dirty="0" sz="1600">
                <a:solidFill>
                  <a:srgbClr val="FF6600"/>
                </a:solidFill>
                <a:latin typeface="宋体"/>
                <a:cs typeface="宋体"/>
              </a:rPr>
              <a:t>IF</a:t>
            </a:r>
            <a:r>
              <a:rPr dirty="0" sz="1600" spc="-130">
                <a:solidFill>
                  <a:srgbClr val="FF6600"/>
                </a:solidFill>
                <a:latin typeface="宋体"/>
                <a:cs typeface="宋体"/>
              </a:rPr>
              <a:t> 段</a:t>
            </a:r>
            <a:endParaRPr sz="1600">
              <a:latin typeface="宋体"/>
              <a:cs typeface="宋体"/>
            </a:endParaRPr>
          </a:p>
        </p:txBody>
      </p:sp>
      <p:sp>
        <p:nvSpPr>
          <p:cNvPr id="40" name="object 40" descr=""/>
          <p:cNvSpPr txBox="1"/>
          <p:nvPr/>
        </p:nvSpPr>
        <p:spPr>
          <a:xfrm>
            <a:off x="275307" y="3622328"/>
            <a:ext cx="511175" cy="270510"/>
          </a:xfrm>
          <a:prstGeom prst="rect">
            <a:avLst/>
          </a:prstGeom>
        </p:spPr>
        <p:txBody>
          <a:bodyPr wrap="square" lIns="0" tIns="13335" rIns="0" bIns="0" rtlCol="0" vert="horz">
            <a:spAutoFit/>
          </a:bodyPr>
          <a:lstStyle/>
          <a:p>
            <a:pPr marL="12700">
              <a:lnSpc>
                <a:spcPct val="100000"/>
              </a:lnSpc>
              <a:spcBef>
                <a:spcPts val="105"/>
              </a:spcBef>
            </a:pPr>
            <a:r>
              <a:rPr dirty="0" sz="1600">
                <a:solidFill>
                  <a:srgbClr val="008000"/>
                </a:solidFill>
                <a:latin typeface="宋体"/>
                <a:cs typeface="宋体"/>
              </a:rPr>
              <a:t>ID</a:t>
            </a:r>
            <a:r>
              <a:rPr dirty="0" sz="1600" spc="-130">
                <a:solidFill>
                  <a:srgbClr val="008000"/>
                </a:solidFill>
                <a:latin typeface="宋体"/>
                <a:cs typeface="宋体"/>
              </a:rPr>
              <a:t> 段</a:t>
            </a:r>
            <a:endParaRPr sz="1600">
              <a:latin typeface="宋体"/>
              <a:cs typeface="宋体"/>
            </a:endParaRPr>
          </a:p>
        </p:txBody>
      </p:sp>
      <p:sp>
        <p:nvSpPr>
          <p:cNvPr id="41" name="object 41" descr=""/>
          <p:cNvSpPr txBox="1"/>
          <p:nvPr/>
        </p:nvSpPr>
        <p:spPr>
          <a:xfrm>
            <a:off x="326411" y="5394939"/>
            <a:ext cx="511809" cy="270510"/>
          </a:xfrm>
          <a:prstGeom prst="rect">
            <a:avLst/>
          </a:prstGeom>
        </p:spPr>
        <p:txBody>
          <a:bodyPr wrap="square" lIns="0" tIns="13335" rIns="0" bIns="0" rtlCol="0" vert="horz">
            <a:spAutoFit/>
          </a:bodyPr>
          <a:lstStyle/>
          <a:p>
            <a:pPr marL="12700">
              <a:lnSpc>
                <a:spcPct val="100000"/>
              </a:lnSpc>
              <a:spcBef>
                <a:spcPts val="105"/>
              </a:spcBef>
            </a:pPr>
            <a:r>
              <a:rPr dirty="0" sz="1600">
                <a:solidFill>
                  <a:srgbClr val="0000FF"/>
                </a:solidFill>
                <a:latin typeface="宋体"/>
                <a:cs typeface="宋体"/>
              </a:rPr>
              <a:t>EX</a:t>
            </a:r>
            <a:r>
              <a:rPr dirty="0" sz="1600" spc="-130">
                <a:solidFill>
                  <a:srgbClr val="0000FF"/>
                </a:solidFill>
                <a:latin typeface="宋体"/>
                <a:cs typeface="宋体"/>
              </a:rPr>
              <a:t> 段</a:t>
            </a:r>
            <a:endParaRPr sz="1600">
              <a:latin typeface="宋体"/>
              <a:cs typeface="宋体"/>
            </a:endParaRPr>
          </a:p>
        </p:txBody>
      </p:sp>
      <p:sp>
        <p:nvSpPr>
          <p:cNvPr id="42" name="object 42" descr=""/>
          <p:cNvSpPr/>
          <p:nvPr/>
        </p:nvSpPr>
        <p:spPr>
          <a:xfrm>
            <a:off x="987021" y="2929901"/>
            <a:ext cx="213995" cy="1583055"/>
          </a:xfrm>
          <a:custGeom>
            <a:avLst/>
            <a:gdLst/>
            <a:ahLst/>
            <a:cxnLst/>
            <a:rect l="l" t="t" r="r" b="b"/>
            <a:pathLst>
              <a:path w="213994" h="1583054">
                <a:moveTo>
                  <a:pt x="213804" y="0"/>
                </a:moveTo>
                <a:lnTo>
                  <a:pt x="202634" y="0"/>
                </a:lnTo>
                <a:lnTo>
                  <a:pt x="190896" y="2696"/>
                </a:lnTo>
                <a:lnTo>
                  <a:pt x="182667" y="5393"/>
                </a:lnTo>
                <a:lnTo>
                  <a:pt x="170929" y="7641"/>
                </a:lnTo>
                <a:lnTo>
                  <a:pt x="162700" y="13260"/>
                </a:lnTo>
                <a:lnTo>
                  <a:pt x="153879" y="21575"/>
                </a:lnTo>
                <a:lnTo>
                  <a:pt x="145081" y="29442"/>
                </a:lnTo>
                <a:lnTo>
                  <a:pt x="139793" y="37757"/>
                </a:lnTo>
                <a:lnTo>
                  <a:pt x="130971" y="46073"/>
                </a:lnTo>
                <a:lnTo>
                  <a:pt x="125114" y="56411"/>
                </a:lnTo>
                <a:lnTo>
                  <a:pt x="119826" y="67649"/>
                </a:lnTo>
                <a:lnTo>
                  <a:pt x="113945" y="78212"/>
                </a:lnTo>
                <a:lnTo>
                  <a:pt x="111004" y="91921"/>
                </a:lnTo>
                <a:lnTo>
                  <a:pt x="108064" y="102485"/>
                </a:lnTo>
                <a:lnTo>
                  <a:pt x="108064" y="116419"/>
                </a:lnTo>
                <a:lnTo>
                  <a:pt x="108064" y="129679"/>
                </a:lnTo>
                <a:lnTo>
                  <a:pt x="108064" y="657612"/>
                </a:lnTo>
                <a:lnTo>
                  <a:pt x="105123" y="670873"/>
                </a:lnTo>
                <a:lnTo>
                  <a:pt x="105123" y="684133"/>
                </a:lnTo>
                <a:lnTo>
                  <a:pt x="102775" y="698067"/>
                </a:lnTo>
                <a:lnTo>
                  <a:pt x="99835" y="708630"/>
                </a:lnTo>
                <a:lnTo>
                  <a:pt x="93978" y="722565"/>
                </a:lnTo>
                <a:lnTo>
                  <a:pt x="88097" y="732903"/>
                </a:lnTo>
                <a:lnTo>
                  <a:pt x="82808" y="741219"/>
                </a:lnTo>
                <a:lnTo>
                  <a:pt x="76927" y="751782"/>
                </a:lnTo>
                <a:lnTo>
                  <a:pt x="68129" y="760098"/>
                </a:lnTo>
                <a:lnTo>
                  <a:pt x="59901" y="768413"/>
                </a:lnTo>
                <a:lnTo>
                  <a:pt x="51103" y="773582"/>
                </a:lnTo>
                <a:lnTo>
                  <a:pt x="42874" y="778976"/>
                </a:lnTo>
                <a:lnTo>
                  <a:pt x="31112" y="784595"/>
                </a:lnTo>
                <a:lnTo>
                  <a:pt x="22907" y="787292"/>
                </a:lnTo>
                <a:lnTo>
                  <a:pt x="11145" y="790214"/>
                </a:lnTo>
                <a:lnTo>
                  <a:pt x="0" y="790214"/>
                </a:lnTo>
                <a:lnTo>
                  <a:pt x="11145" y="790214"/>
                </a:lnTo>
                <a:lnTo>
                  <a:pt x="22907" y="792911"/>
                </a:lnTo>
                <a:lnTo>
                  <a:pt x="31112" y="795158"/>
                </a:lnTo>
                <a:lnTo>
                  <a:pt x="42874" y="800552"/>
                </a:lnTo>
                <a:lnTo>
                  <a:pt x="51103" y="806171"/>
                </a:lnTo>
                <a:lnTo>
                  <a:pt x="59901" y="811790"/>
                </a:lnTo>
                <a:lnTo>
                  <a:pt x="68129" y="819431"/>
                </a:lnTo>
                <a:lnTo>
                  <a:pt x="76927" y="827747"/>
                </a:lnTo>
                <a:lnTo>
                  <a:pt x="82808" y="838310"/>
                </a:lnTo>
                <a:lnTo>
                  <a:pt x="88097" y="849547"/>
                </a:lnTo>
                <a:lnTo>
                  <a:pt x="93978" y="860560"/>
                </a:lnTo>
                <a:lnTo>
                  <a:pt x="99835" y="871123"/>
                </a:lnTo>
                <a:lnTo>
                  <a:pt x="102775" y="882136"/>
                </a:lnTo>
                <a:lnTo>
                  <a:pt x="105123" y="895396"/>
                </a:lnTo>
                <a:lnTo>
                  <a:pt x="105123" y="908881"/>
                </a:lnTo>
                <a:lnTo>
                  <a:pt x="108064" y="922590"/>
                </a:lnTo>
                <a:lnTo>
                  <a:pt x="108064" y="1449850"/>
                </a:lnTo>
                <a:lnTo>
                  <a:pt x="108064" y="1463784"/>
                </a:lnTo>
                <a:lnTo>
                  <a:pt x="108064" y="1477044"/>
                </a:lnTo>
                <a:lnTo>
                  <a:pt x="111004" y="1488281"/>
                </a:lnTo>
                <a:lnTo>
                  <a:pt x="113945" y="1501542"/>
                </a:lnTo>
                <a:lnTo>
                  <a:pt x="119826" y="1512554"/>
                </a:lnTo>
                <a:lnTo>
                  <a:pt x="125114" y="1523117"/>
                </a:lnTo>
                <a:lnTo>
                  <a:pt x="130971" y="1534355"/>
                </a:lnTo>
                <a:lnTo>
                  <a:pt x="139793" y="1541996"/>
                </a:lnTo>
                <a:lnTo>
                  <a:pt x="145081" y="1550312"/>
                </a:lnTo>
                <a:lnTo>
                  <a:pt x="153879" y="1558178"/>
                </a:lnTo>
                <a:lnTo>
                  <a:pt x="162700" y="1566494"/>
                </a:lnTo>
                <a:lnTo>
                  <a:pt x="170929" y="1571888"/>
                </a:lnTo>
                <a:lnTo>
                  <a:pt x="182667" y="1574809"/>
                </a:lnTo>
                <a:lnTo>
                  <a:pt x="190896" y="1579754"/>
                </a:lnTo>
                <a:lnTo>
                  <a:pt x="202634" y="1579754"/>
                </a:lnTo>
                <a:lnTo>
                  <a:pt x="213804" y="1582451"/>
                </a:lnTo>
              </a:path>
            </a:pathLst>
          </a:custGeom>
          <a:ln w="17018">
            <a:solidFill>
              <a:srgbClr val="000000"/>
            </a:solidFill>
          </a:ln>
        </p:spPr>
        <p:txBody>
          <a:bodyPr wrap="square" lIns="0" tIns="0" rIns="0" bIns="0" rtlCol="0"/>
          <a:lstStyle/>
          <a:p/>
        </p:txBody>
      </p:sp>
      <p:sp>
        <p:nvSpPr>
          <p:cNvPr id="43" name="object 43" descr=""/>
          <p:cNvSpPr/>
          <p:nvPr/>
        </p:nvSpPr>
        <p:spPr>
          <a:xfrm>
            <a:off x="987021" y="4750810"/>
            <a:ext cx="213995" cy="1583055"/>
          </a:xfrm>
          <a:custGeom>
            <a:avLst/>
            <a:gdLst/>
            <a:ahLst/>
            <a:cxnLst/>
            <a:rect l="l" t="t" r="r" b="b"/>
            <a:pathLst>
              <a:path w="213994" h="1583054">
                <a:moveTo>
                  <a:pt x="213804" y="0"/>
                </a:moveTo>
                <a:lnTo>
                  <a:pt x="202634" y="0"/>
                </a:lnTo>
                <a:lnTo>
                  <a:pt x="190896" y="2786"/>
                </a:lnTo>
                <a:lnTo>
                  <a:pt x="182667" y="5551"/>
                </a:lnTo>
                <a:lnTo>
                  <a:pt x="170929" y="10540"/>
                </a:lnTo>
                <a:lnTo>
                  <a:pt x="162700" y="16091"/>
                </a:lnTo>
                <a:lnTo>
                  <a:pt x="153879" y="21643"/>
                </a:lnTo>
                <a:lnTo>
                  <a:pt x="145081" y="29397"/>
                </a:lnTo>
                <a:lnTo>
                  <a:pt x="139793" y="37712"/>
                </a:lnTo>
                <a:lnTo>
                  <a:pt x="130971" y="48815"/>
                </a:lnTo>
                <a:lnTo>
                  <a:pt x="111004" y="92056"/>
                </a:lnTo>
                <a:lnTo>
                  <a:pt x="108064" y="105361"/>
                </a:lnTo>
                <a:lnTo>
                  <a:pt x="108064" y="118667"/>
                </a:lnTo>
                <a:lnTo>
                  <a:pt x="108064" y="132533"/>
                </a:lnTo>
                <a:lnTo>
                  <a:pt x="108064" y="659860"/>
                </a:lnTo>
                <a:lnTo>
                  <a:pt x="105123" y="673727"/>
                </a:lnTo>
                <a:lnTo>
                  <a:pt x="105123" y="684268"/>
                </a:lnTo>
                <a:lnTo>
                  <a:pt x="102775" y="698112"/>
                </a:lnTo>
                <a:lnTo>
                  <a:pt x="99835" y="711440"/>
                </a:lnTo>
                <a:lnTo>
                  <a:pt x="93978" y="722520"/>
                </a:lnTo>
                <a:lnTo>
                  <a:pt x="88097" y="733060"/>
                </a:lnTo>
                <a:lnTo>
                  <a:pt x="82808" y="744140"/>
                </a:lnTo>
                <a:lnTo>
                  <a:pt x="76927" y="751917"/>
                </a:lnTo>
                <a:lnTo>
                  <a:pt x="68129" y="760232"/>
                </a:lnTo>
                <a:lnTo>
                  <a:pt x="59901" y="768548"/>
                </a:lnTo>
                <a:lnTo>
                  <a:pt x="51103" y="776302"/>
                </a:lnTo>
                <a:lnTo>
                  <a:pt x="42874" y="781853"/>
                </a:lnTo>
                <a:lnTo>
                  <a:pt x="31112" y="784618"/>
                </a:lnTo>
                <a:lnTo>
                  <a:pt x="22907" y="787404"/>
                </a:lnTo>
                <a:lnTo>
                  <a:pt x="11145" y="790169"/>
                </a:lnTo>
                <a:lnTo>
                  <a:pt x="0" y="790169"/>
                </a:lnTo>
                <a:lnTo>
                  <a:pt x="11145" y="792933"/>
                </a:lnTo>
                <a:lnTo>
                  <a:pt x="22907" y="792933"/>
                </a:lnTo>
                <a:lnTo>
                  <a:pt x="31112" y="797923"/>
                </a:lnTo>
                <a:lnTo>
                  <a:pt x="42874" y="800710"/>
                </a:lnTo>
                <a:lnTo>
                  <a:pt x="51103" y="806238"/>
                </a:lnTo>
                <a:lnTo>
                  <a:pt x="59901" y="814577"/>
                </a:lnTo>
                <a:lnTo>
                  <a:pt x="68129" y="822330"/>
                </a:lnTo>
                <a:lnTo>
                  <a:pt x="76927" y="830646"/>
                </a:lnTo>
                <a:lnTo>
                  <a:pt x="82808" y="838400"/>
                </a:lnTo>
                <a:lnTo>
                  <a:pt x="88097" y="849502"/>
                </a:lnTo>
                <a:lnTo>
                  <a:pt x="93978" y="860582"/>
                </a:lnTo>
                <a:lnTo>
                  <a:pt x="99835" y="871123"/>
                </a:lnTo>
                <a:lnTo>
                  <a:pt x="102775" y="884428"/>
                </a:lnTo>
                <a:lnTo>
                  <a:pt x="105123" y="895531"/>
                </a:lnTo>
                <a:lnTo>
                  <a:pt x="105123" y="908836"/>
                </a:lnTo>
                <a:lnTo>
                  <a:pt x="108064" y="922703"/>
                </a:lnTo>
                <a:lnTo>
                  <a:pt x="108064" y="1450029"/>
                </a:lnTo>
                <a:lnTo>
                  <a:pt x="108064" y="1463874"/>
                </a:lnTo>
                <a:lnTo>
                  <a:pt x="108064" y="1477179"/>
                </a:lnTo>
                <a:lnTo>
                  <a:pt x="111004" y="1490506"/>
                </a:lnTo>
                <a:lnTo>
                  <a:pt x="113945" y="1501587"/>
                </a:lnTo>
                <a:lnTo>
                  <a:pt x="119826" y="1512667"/>
                </a:lnTo>
                <a:lnTo>
                  <a:pt x="125114" y="1523207"/>
                </a:lnTo>
                <a:lnTo>
                  <a:pt x="130971" y="1534310"/>
                </a:lnTo>
                <a:lnTo>
                  <a:pt x="139793" y="1544828"/>
                </a:lnTo>
                <a:lnTo>
                  <a:pt x="145081" y="1553166"/>
                </a:lnTo>
                <a:lnTo>
                  <a:pt x="153879" y="1560920"/>
                </a:lnTo>
                <a:lnTo>
                  <a:pt x="162700" y="1566471"/>
                </a:lnTo>
                <a:lnTo>
                  <a:pt x="170929" y="1572000"/>
                </a:lnTo>
                <a:lnTo>
                  <a:pt x="182667" y="1577551"/>
                </a:lnTo>
                <a:lnTo>
                  <a:pt x="190896" y="1580316"/>
                </a:lnTo>
                <a:lnTo>
                  <a:pt x="202634" y="1582541"/>
                </a:lnTo>
                <a:lnTo>
                  <a:pt x="213804" y="1582541"/>
                </a:lnTo>
              </a:path>
            </a:pathLst>
          </a:custGeom>
          <a:ln w="17018">
            <a:solidFill>
              <a:srgbClr val="000000"/>
            </a:solidFill>
          </a:ln>
        </p:spPr>
        <p:txBody>
          <a:bodyPr wrap="square" lIns="0" tIns="0" rIns="0" bIns="0" rtlCol="0"/>
          <a:lstStyle/>
          <a:p/>
        </p:txBody>
      </p:sp>
      <p:sp>
        <p:nvSpPr>
          <p:cNvPr id="44" name="object 44" descr=""/>
          <p:cNvSpPr/>
          <p:nvPr/>
        </p:nvSpPr>
        <p:spPr>
          <a:xfrm>
            <a:off x="987021" y="1116633"/>
            <a:ext cx="213995" cy="1583690"/>
          </a:xfrm>
          <a:custGeom>
            <a:avLst/>
            <a:gdLst/>
            <a:ahLst/>
            <a:cxnLst/>
            <a:rect l="l" t="t" r="r" b="b"/>
            <a:pathLst>
              <a:path w="213994" h="1583689">
                <a:moveTo>
                  <a:pt x="213804" y="0"/>
                </a:moveTo>
                <a:lnTo>
                  <a:pt x="202634" y="0"/>
                </a:lnTo>
                <a:lnTo>
                  <a:pt x="190896" y="2696"/>
                </a:lnTo>
                <a:lnTo>
                  <a:pt x="182667" y="5618"/>
                </a:lnTo>
                <a:lnTo>
                  <a:pt x="170929" y="8315"/>
                </a:lnTo>
                <a:lnTo>
                  <a:pt x="162700" y="13934"/>
                </a:lnTo>
                <a:lnTo>
                  <a:pt x="153879" y="21575"/>
                </a:lnTo>
                <a:lnTo>
                  <a:pt x="145081" y="29891"/>
                </a:lnTo>
                <a:lnTo>
                  <a:pt x="139793" y="38207"/>
                </a:lnTo>
                <a:lnTo>
                  <a:pt x="130971" y="46073"/>
                </a:lnTo>
                <a:lnTo>
                  <a:pt x="125114" y="57086"/>
                </a:lnTo>
                <a:lnTo>
                  <a:pt x="119826" y="67649"/>
                </a:lnTo>
                <a:lnTo>
                  <a:pt x="113945" y="78661"/>
                </a:lnTo>
                <a:lnTo>
                  <a:pt x="111004" y="92146"/>
                </a:lnTo>
                <a:lnTo>
                  <a:pt x="108064" y="103159"/>
                </a:lnTo>
                <a:lnTo>
                  <a:pt x="108064" y="116419"/>
                </a:lnTo>
                <a:lnTo>
                  <a:pt x="108064" y="130353"/>
                </a:lnTo>
                <a:lnTo>
                  <a:pt x="108064" y="657612"/>
                </a:lnTo>
                <a:lnTo>
                  <a:pt x="105123" y="671547"/>
                </a:lnTo>
                <a:lnTo>
                  <a:pt x="105123" y="684807"/>
                </a:lnTo>
                <a:lnTo>
                  <a:pt x="93978" y="722565"/>
                </a:lnTo>
                <a:lnTo>
                  <a:pt x="82808" y="741444"/>
                </a:lnTo>
                <a:lnTo>
                  <a:pt x="76927" y="752456"/>
                </a:lnTo>
                <a:lnTo>
                  <a:pt x="68129" y="760772"/>
                </a:lnTo>
                <a:lnTo>
                  <a:pt x="59901" y="768638"/>
                </a:lnTo>
                <a:lnTo>
                  <a:pt x="51103" y="774032"/>
                </a:lnTo>
                <a:lnTo>
                  <a:pt x="42874" y="779651"/>
                </a:lnTo>
                <a:lnTo>
                  <a:pt x="31112" y="784595"/>
                </a:lnTo>
                <a:lnTo>
                  <a:pt x="22907" y="787292"/>
                </a:lnTo>
                <a:lnTo>
                  <a:pt x="11145" y="790214"/>
                </a:lnTo>
                <a:lnTo>
                  <a:pt x="0" y="790214"/>
                </a:lnTo>
                <a:lnTo>
                  <a:pt x="11145" y="790214"/>
                </a:lnTo>
                <a:lnTo>
                  <a:pt x="22907" y="792911"/>
                </a:lnTo>
                <a:lnTo>
                  <a:pt x="31112" y="795608"/>
                </a:lnTo>
                <a:lnTo>
                  <a:pt x="42874" y="801226"/>
                </a:lnTo>
                <a:lnTo>
                  <a:pt x="51103" y="806845"/>
                </a:lnTo>
                <a:lnTo>
                  <a:pt x="59901" y="811790"/>
                </a:lnTo>
                <a:lnTo>
                  <a:pt x="68129" y="820105"/>
                </a:lnTo>
                <a:lnTo>
                  <a:pt x="76927" y="828421"/>
                </a:lnTo>
                <a:lnTo>
                  <a:pt x="82808" y="838984"/>
                </a:lnTo>
                <a:lnTo>
                  <a:pt x="88097" y="849997"/>
                </a:lnTo>
                <a:lnTo>
                  <a:pt x="93978" y="860560"/>
                </a:lnTo>
                <a:lnTo>
                  <a:pt x="99835" y="871573"/>
                </a:lnTo>
                <a:lnTo>
                  <a:pt x="102775" y="882136"/>
                </a:lnTo>
                <a:lnTo>
                  <a:pt x="105123" y="896070"/>
                </a:lnTo>
                <a:lnTo>
                  <a:pt x="105123" y="909330"/>
                </a:lnTo>
                <a:lnTo>
                  <a:pt x="108064" y="922590"/>
                </a:lnTo>
                <a:lnTo>
                  <a:pt x="108064" y="1450524"/>
                </a:lnTo>
                <a:lnTo>
                  <a:pt x="108064" y="1463784"/>
                </a:lnTo>
                <a:lnTo>
                  <a:pt x="108064" y="1477718"/>
                </a:lnTo>
                <a:lnTo>
                  <a:pt x="111004" y="1488281"/>
                </a:lnTo>
                <a:lnTo>
                  <a:pt x="113945" y="1502216"/>
                </a:lnTo>
                <a:lnTo>
                  <a:pt x="119826" y="1512779"/>
                </a:lnTo>
                <a:lnTo>
                  <a:pt x="125114" y="1523792"/>
                </a:lnTo>
                <a:lnTo>
                  <a:pt x="130971" y="1534355"/>
                </a:lnTo>
                <a:lnTo>
                  <a:pt x="139793" y="1542671"/>
                </a:lnTo>
                <a:lnTo>
                  <a:pt x="145081" y="1550312"/>
                </a:lnTo>
                <a:lnTo>
                  <a:pt x="153879" y="1558628"/>
                </a:lnTo>
                <a:lnTo>
                  <a:pt x="162700" y="1566943"/>
                </a:lnTo>
                <a:lnTo>
                  <a:pt x="170929" y="1572113"/>
                </a:lnTo>
                <a:lnTo>
                  <a:pt x="182667" y="1574809"/>
                </a:lnTo>
                <a:lnTo>
                  <a:pt x="190896" y="1580428"/>
                </a:lnTo>
                <a:lnTo>
                  <a:pt x="202634" y="1580428"/>
                </a:lnTo>
                <a:lnTo>
                  <a:pt x="213804" y="1583125"/>
                </a:lnTo>
              </a:path>
            </a:pathLst>
          </a:custGeom>
          <a:ln w="17018">
            <a:solidFill>
              <a:srgbClr val="000000"/>
            </a:solidFill>
          </a:ln>
        </p:spPr>
        <p:txBody>
          <a:bodyPr wrap="square" lIns="0" tIns="0" rIns="0" bIns="0" rtlCol="0"/>
          <a:lstStyle/>
          <a:p/>
        </p:txBody>
      </p:sp>
      <p:grpSp>
        <p:nvGrpSpPr>
          <p:cNvPr id="45" name="object 45" descr=""/>
          <p:cNvGrpSpPr/>
          <p:nvPr/>
        </p:nvGrpSpPr>
        <p:grpSpPr>
          <a:xfrm>
            <a:off x="3587808" y="1453648"/>
            <a:ext cx="4892040" cy="1600200"/>
            <a:chOff x="3587808" y="1453648"/>
            <a:chExt cx="4892040" cy="1600200"/>
          </a:xfrm>
        </p:grpSpPr>
        <p:sp>
          <p:nvSpPr>
            <p:cNvPr id="46" name="object 46" descr=""/>
            <p:cNvSpPr/>
            <p:nvPr/>
          </p:nvSpPr>
          <p:spPr>
            <a:xfrm>
              <a:off x="5678667" y="1455553"/>
              <a:ext cx="93980" cy="360045"/>
            </a:xfrm>
            <a:custGeom>
              <a:avLst/>
              <a:gdLst/>
              <a:ahLst/>
              <a:cxnLst/>
              <a:rect l="l" t="t" r="r" b="b"/>
              <a:pathLst>
                <a:path w="93979" h="360044">
                  <a:moveTo>
                    <a:pt x="0" y="224523"/>
                  </a:moveTo>
                  <a:lnTo>
                    <a:pt x="45056" y="359821"/>
                  </a:lnTo>
                  <a:lnTo>
                    <a:pt x="73295" y="281609"/>
                  </a:lnTo>
                  <a:lnTo>
                    <a:pt x="42684" y="281609"/>
                  </a:lnTo>
                  <a:lnTo>
                    <a:pt x="36993" y="278912"/>
                  </a:lnTo>
                  <a:lnTo>
                    <a:pt x="33910" y="273293"/>
                  </a:lnTo>
                  <a:lnTo>
                    <a:pt x="33910" y="259199"/>
                  </a:lnTo>
                  <a:lnTo>
                    <a:pt x="0" y="224523"/>
                  </a:lnTo>
                  <a:close/>
                </a:path>
                <a:path w="93979" h="360044">
                  <a:moveTo>
                    <a:pt x="33910" y="259199"/>
                  </a:moveTo>
                  <a:lnTo>
                    <a:pt x="33910" y="273293"/>
                  </a:lnTo>
                  <a:lnTo>
                    <a:pt x="36993" y="278912"/>
                  </a:lnTo>
                  <a:lnTo>
                    <a:pt x="42684" y="281609"/>
                  </a:lnTo>
                  <a:lnTo>
                    <a:pt x="50984" y="281609"/>
                  </a:lnTo>
                  <a:lnTo>
                    <a:pt x="54067" y="278912"/>
                  </a:lnTo>
                  <a:lnTo>
                    <a:pt x="56913" y="273293"/>
                  </a:lnTo>
                  <a:lnTo>
                    <a:pt x="56913" y="270596"/>
                  </a:lnTo>
                  <a:lnTo>
                    <a:pt x="45056" y="270596"/>
                  </a:lnTo>
                  <a:lnTo>
                    <a:pt x="33910" y="259199"/>
                  </a:lnTo>
                  <a:close/>
                </a:path>
                <a:path w="93979" h="360044">
                  <a:moveTo>
                    <a:pt x="93906" y="224523"/>
                  </a:moveTo>
                  <a:lnTo>
                    <a:pt x="56913" y="259413"/>
                  </a:lnTo>
                  <a:lnTo>
                    <a:pt x="56913" y="273293"/>
                  </a:lnTo>
                  <a:lnTo>
                    <a:pt x="54067" y="278912"/>
                  </a:lnTo>
                  <a:lnTo>
                    <a:pt x="50984" y="281609"/>
                  </a:lnTo>
                  <a:lnTo>
                    <a:pt x="73295" y="281609"/>
                  </a:lnTo>
                  <a:lnTo>
                    <a:pt x="93906" y="224523"/>
                  </a:lnTo>
                  <a:close/>
                </a:path>
                <a:path w="93979" h="360044">
                  <a:moveTo>
                    <a:pt x="50984" y="0"/>
                  </a:moveTo>
                  <a:lnTo>
                    <a:pt x="42684" y="0"/>
                  </a:lnTo>
                  <a:lnTo>
                    <a:pt x="36993" y="2696"/>
                  </a:lnTo>
                  <a:lnTo>
                    <a:pt x="33910" y="5393"/>
                  </a:lnTo>
                  <a:lnTo>
                    <a:pt x="33910" y="259199"/>
                  </a:lnTo>
                  <a:lnTo>
                    <a:pt x="45056" y="270596"/>
                  </a:lnTo>
                  <a:lnTo>
                    <a:pt x="56913" y="259413"/>
                  </a:lnTo>
                  <a:lnTo>
                    <a:pt x="56913" y="5393"/>
                  </a:lnTo>
                  <a:lnTo>
                    <a:pt x="54067" y="2696"/>
                  </a:lnTo>
                  <a:lnTo>
                    <a:pt x="50984" y="0"/>
                  </a:lnTo>
                  <a:close/>
                </a:path>
                <a:path w="93979" h="360044">
                  <a:moveTo>
                    <a:pt x="56913" y="259413"/>
                  </a:moveTo>
                  <a:lnTo>
                    <a:pt x="45056" y="270596"/>
                  </a:lnTo>
                  <a:lnTo>
                    <a:pt x="56913" y="270596"/>
                  </a:lnTo>
                  <a:lnTo>
                    <a:pt x="56913" y="259413"/>
                  </a:lnTo>
                  <a:close/>
                </a:path>
              </a:pathLst>
            </a:custGeom>
            <a:solidFill>
              <a:srgbClr val="000000"/>
            </a:solidFill>
          </p:spPr>
          <p:txBody>
            <a:bodyPr wrap="square" lIns="0" tIns="0" rIns="0" bIns="0" rtlCol="0"/>
            <a:lstStyle/>
            <a:p/>
          </p:txBody>
        </p:sp>
        <p:sp>
          <p:nvSpPr>
            <p:cNvPr id="47" name="object 47" descr=""/>
            <p:cNvSpPr/>
            <p:nvPr/>
          </p:nvSpPr>
          <p:spPr>
            <a:xfrm>
              <a:off x="5678668" y="1455553"/>
              <a:ext cx="93980" cy="360045"/>
            </a:xfrm>
            <a:custGeom>
              <a:avLst/>
              <a:gdLst/>
              <a:ahLst/>
              <a:cxnLst/>
              <a:rect l="l" t="t" r="r" b="b"/>
              <a:pathLst>
                <a:path w="93979" h="360044">
                  <a:moveTo>
                    <a:pt x="56913" y="11012"/>
                  </a:moveTo>
                  <a:lnTo>
                    <a:pt x="56913" y="270596"/>
                  </a:lnTo>
                  <a:lnTo>
                    <a:pt x="56913" y="273293"/>
                  </a:lnTo>
                  <a:lnTo>
                    <a:pt x="54067" y="278912"/>
                  </a:lnTo>
                  <a:lnTo>
                    <a:pt x="50984" y="281609"/>
                  </a:lnTo>
                  <a:lnTo>
                    <a:pt x="45056" y="281609"/>
                  </a:lnTo>
                  <a:lnTo>
                    <a:pt x="42684" y="281609"/>
                  </a:lnTo>
                  <a:lnTo>
                    <a:pt x="36993" y="278912"/>
                  </a:lnTo>
                  <a:lnTo>
                    <a:pt x="33910" y="273293"/>
                  </a:lnTo>
                  <a:lnTo>
                    <a:pt x="33910" y="270596"/>
                  </a:lnTo>
                  <a:lnTo>
                    <a:pt x="33910" y="11012"/>
                  </a:lnTo>
                  <a:lnTo>
                    <a:pt x="33910" y="5393"/>
                  </a:lnTo>
                  <a:lnTo>
                    <a:pt x="36993" y="2696"/>
                  </a:lnTo>
                  <a:lnTo>
                    <a:pt x="42684" y="0"/>
                  </a:lnTo>
                  <a:lnTo>
                    <a:pt x="45056" y="0"/>
                  </a:lnTo>
                  <a:lnTo>
                    <a:pt x="50984" y="0"/>
                  </a:lnTo>
                  <a:lnTo>
                    <a:pt x="54067" y="2696"/>
                  </a:lnTo>
                  <a:lnTo>
                    <a:pt x="56913" y="5393"/>
                  </a:lnTo>
                  <a:lnTo>
                    <a:pt x="56913" y="11012"/>
                  </a:lnTo>
                  <a:close/>
                </a:path>
                <a:path w="93979" h="360044">
                  <a:moveTo>
                    <a:pt x="45056" y="270596"/>
                  </a:moveTo>
                  <a:lnTo>
                    <a:pt x="93906" y="224523"/>
                  </a:lnTo>
                  <a:lnTo>
                    <a:pt x="45056" y="359821"/>
                  </a:lnTo>
                  <a:lnTo>
                    <a:pt x="0" y="224523"/>
                  </a:lnTo>
                  <a:lnTo>
                    <a:pt x="45056" y="270596"/>
                  </a:lnTo>
                  <a:close/>
                </a:path>
              </a:pathLst>
            </a:custGeom>
            <a:ln w="3233">
              <a:solidFill>
                <a:srgbClr val="000000"/>
              </a:solidFill>
            </a:ln>
          </p:spPr>
          <p:txBody>
            <a:bodyPr wrap="square" lIns="0" tIns="0" rIns="0" bIns="0" rtlCol="0"/>
            <a:lstStyle/>
            <a:p/>
          </p:txBody>
        </p:sp>
        <p:sp>
          <p:nvSpPr>
            <p:cNvPr id="48" name="object 48" descr=""/>
            <p:cNvSpPr/>
            <p:nvPr/>
          </p:nvSpPr>
          <p:spPr>
            <a:xfrm>
              <a:off x="3635007" y="2283301"/>
              <a:ext cx="647700" cy="0"/>
            </a:xfrm>
            <a:custGeom>
              <a:avLst/>
              <a:gdLst/>
              <a:ahLst/>
              <a:cxnLst/>
              <a:rect l="l" t="t" r="r" b="b"/>
              <a:pathLst>
                <a:path w="647700" h="0">
                  <a:moveTo>
                    <a:pt x="0" y="0"/>
                  </a:moveTo>
                  <a:lnTo>
                    <a:pt x="647388" y="0"/>
                  </a:lnTo>
                </a:path>
              </a:pathLst>
            </a:custGeom>
            <a:ln w="16144">
              <a:solidFill>
                <a:srgbClr val="000000"/>
              </a:solidFill>
            </a:ln>
          </p:spPr>
          <p:txBody>
            <a:bodyPr wrap="square" lIns="0" tIns="0" rIns="0" bIns="0" rtlCol="0"/>
            <a:lstStyle/>
            <a:p/>
          </p:txBody>
        </p:sp>
        <p:sp>
          <p:nvSpPr>
            <p:cNvPr id="49" name="object 49" descr=""/>
            <p:cNvSpPr/>
            <p:nvPr/>
          </p:nvSpPr>
          <p:spPr>
            <a:xfrm>
              <a:off x="3589713" y="2270040"/>
              <a:ext cx="94615" cy="782320"/>
            </a:xfrm>
            <a:custGeom>
              <a:avLst/>
              <a:gdLst/>
              <a:ahLst/>
              <a:cxnLst/>
              <a:rect l="l" t="t" r="r" b="b"/>
              <a:pathLst>
                <a:path w="94614" h="782319">
                  <a:moveTo>
                    <a:pt x="0" y="646600"/>
                  </a:moveTo>
                  <a:lnTo>
                    <a:pt x="48850" y="781898"/>
                  </a:lnTo>
                  <a:lnTo>
                    <a:pt x="75033" y="703686"/>
                  </a:lnTo>
                  <a:lnTo>
                    <a:pt x="42922" y="703686"/>
                  </a:lnTo>
                  <a:lnTo>
                    <a:pt x="40076" y="700764"/>
                  </a:lnTo>
                  <a:lnTo>
                    <a:pt x="36993" y="695370"/>
                  </a:lnTo>
                  <a:lnTo>
                    <a:pt x="34147" y="692448"/>
                  </a:lnTo>
                  <a:lnTo>
                    <a:pt x="34147" y="678649"/>
                  </a:lnTo>
                  <a:lnTo>
                    <a:pt x="0" y="646600"/>
                  </a:lnTo>
                  <a:close/>
                </a:path>
                <a:path w="94614" h="782319">
                  <a:moveTo>
                    <a:pt x="34147" y="678649"/>
                  </a:moveTo>
                  <a:lnTo>
                    <a:pt x="34147" y="692448"/>
                  </a:lnTo>
                  <a:lnTo>
                    <a:pt x="36993" y="695370"/>
                  </a:lnTo>
                  <a:lnTo>
                    <a:pt x="40076" y="700764"/>
                  </a:lnTo>
                  <a:lnTo>
                    <a:pt x="42922" y="703686"/>
                  </a:lnTo>
                  <a:lnTo>
                    <a:pt x="51221" y="703686"/>
                  </a:lnTo>
                  <a:lnTo>
                    <a:pt x="57150" y="700764"/>
                  </a:lnTo>
                  <a:lnTo>
                    <a:pt x="57150" y="695370"/>
                  </a:lnTo>
                  <a:lnTo>
                    <a:pt x="59996" y="692448"/>
                  </a:lnTo>
                  <a:lnTo>
                    <a:pt x="48850" y="692448"/>
                  </a:lnTo>
                  <a:lnTo>
                    <a:pt x="34147" y="678649"/>
                  </a:lnTo>
                  <a:close/>
                </a:path>
                <a:path w="94614" h="782319">
                  <a:moveTo>
                    <a:pt x="94144" y="646600"/>
                  </a:moveTo>
                  <a:lnTo>
                    <a:pt x="59996" y="681166"/>
                  </a:lnTo>
                  <a:lnTo>
                    <a:pt x="59996" y="692448"/>
                  </a:lnTo>
                  <a:lnTo>
                    <a:pt x="57150" y="695370"/>
                  </a:lnTo>
                  <a:lnTo>
                    <a:pt x="57150" y="700764"/>
                  </a:lnTo>
                  <a:lnTo>
                    <a:pt x="51221" y="703686"/>
                  </a:lnTo>
                  <a:lnTo>
                    <a:pt x="75033" y="703686"/>
                  </a:lnTo>
                  <a:lnTo>
                    <a:pt x="94144" y="646600"/>
                  </a:lnTo>
                  <a:close/>
                </a:path>
                <a:path w="94614" h="782319">
                  <a:moveTo>
                    <a:pt x="51221" y="0"/>
                  </a:moveTo>
                  <a:lnTo>
                    <a:pt x="42922" y="0"/>
                  </a:lnTo>
                  <a:lnTo>
                    <a:pt x="36993" y="5618"/>
                  </a:lnTo>
                  <a:lnTo>
                    <a:pt x="34147" y="11012"/>
                  </a:lnTo>
                  <a:lnTo>
                    <a:pt x="34147" y="678649"/>
                  </a:lnTo>
                  <a:lnTo>
                    <a:pt x="48850" y="692448"/>
                  </a:lnTo>
                  <a:lnTo>
                    <a:pt x="59996" y="681166"/>
                  </a:lnTo>
                  <a:lnTo>
                    <a:pt x="59996" y="11012"/>
                  </a:lnTo>
                  <a:lnTo>
                    <a:pt x="57150" y="5618"/>
                  </a:lnTo>
                  <a:lnTo>
                    <a:pt x="57150" y="2696"/>
                  </a:lnTo>
                  <a:lnTo>
                    <a:pt x="51221" y="0"/>
                  </a:lnTo>
                  <a:close/>
                </a:path>
                <a:path w="94614" h="782319">
                  <a:moveTo>
                    <a:pt x="59996" y="681166"/>
                  </a:moveTo>
                  <a:lnTo>
                    <a:pt x="48850" y="692448"/>
                  </a:lnTo>
                  <a:lnTo>
                    <a:pt x="59996" y="692448"/>
                  </a:lnTo>
                  <a:lnTo>
                    <a:pt x="59996" y="681166"/>
                  </a:lnTo>
                  <a:close/>
                </a:path>
              </a:pathLst>
            </a:custGeom>
            <a:solidFill>
              <a:srgbClr val="000000"/>
            </a:solidFill>
          </p:spPr>
          <p:txBody>
            <a:bodyPr wrap="square" lIns="0" tIns="0" rIns="0" bIns="0" rtlCol="0"/>
            <a:lstStyle/>
            <a:p/>
          </p:txBody>
        </p:sp>
        <p:sp>
          <p:nvSpPr>
            <p:cNvPr id="50" name="object 50" descr=""/>
            <p:cNvSpPr/>
            <p:nvPr/>
          </p:nvSpPr>
          <p:spPr>
            <a:xfrm>
              <a:off x="3589713" y="2270040"/>
              <a:ext cx="94615" cy="782320"/>
            </a:xfrm>
            <a:custGeom>
              <a:avLst/>
              <a:gdLst/>
              <a:ahLst/>
              <a:cxnLst/>
              <a:rect l="l" t="t" r="r" b="b"/>
              <a:pathLst>
                <a:path w="94614" h="782319">
                  <a:moveTo>
                    <a:pt x="59996" y="11012"/>
                  </a:moveTo>
                  <a:lnTo>
                    <a:pt x="59996" y="692448"/>
                  </a:lnTo>
                  <a:lnTo>
                    <a:pt x="57150" y="695370"/>
                  </a:lnTo>
                  <a:lnTo>
                    <a:pt x="57150" y="700764"/>
                  </a:lnTo>
                  <a:lnTo>
                    <a:pt x="51221" y="703686"/>
                  </a:lnTo>
                  <a:lnTo>
                    <a:pt x="48850" y="703686"/>
                  </a:lnTo>
                  <a:lnTo>
                    <a:pt x="42922" y="703686"/>
                  </a:lnTo>
                  <a:lnTo>
                    <a:pt x="40076" y="700764"/>
                  </a:lnTo>
                  <a:lnTo>
                    <a:pt x="36993" y="695370"/>
                  </a:lnTo>
                  <a:lnTo>
                    <a:pt x="34147" y="692448"/>
                  </a:lnTo>
                  <a:lnTo>
                    <a:pt x="34147" y="11012"/>
                  </a:lnTo>
                  <a:lnTo>
                    <a:pt x="36993" y="5618"/>
                  </a:lnTo>
                  <a:lnTo>
                    <a:pt x="40076" y="2696"/>
                  </a:lnTo>
                  <a:lnTo>
                    <a:pt x="42922" y="0"/>
                  </a:lnTo>
                  <a:lnTo>
                    <a:pt x="48850" y="0"/>
                  </a:lnTo>
                  <a:lnTo>
                    <a:pt x="51221" y="0"/>
                  </a:lnTo>
                  <a:lnTo>
                    <a:pt x="57150" y="2696"/>
                  </a:lnTo>
                  <a:lnTo>
                    <a:pt x="57150" y="5618"/>
                  </a:lnTo>
                  <a:lnTo>
                    <a:pt x="59996" y="11012"/>
                  </a:lnTo>
                  <a:close/>
                </a:path>
                <a:path w="94614" h="782319">
                  <a:moveTo>
                    <a:pt x="48850" y="692448"/>
                  </a:moveTo>
                  <a:lnTo>
                    <a:pt x="94144" y="646600"/>
                  </a:lnTo>
                  <a:lnTo>
                    <a:pt x="48850" y="781898"/>
                  </a:lnTo>
                  <a:lnTo>
                    <a:pt x="0" y="646600"/>
                  </a:lnTo>
                  <a:lnTo>
                    <a:pt x="48850" y="692448"/>
                  </a:lnTo>
                  <a:close/>
                </a:path>
              </a:pathLst>
            </a:custGeom>
            <a:ln w="3233">
              <a:solidFill>
                <a:srgbClr val="000000"/>
              </a:solidFill>
            </a:ln>
          </p:spPr>
          <p:txBody>
            <a:bodyPr wrap="square" lIns="0" tIns="0" rIns="0" bIns="0" rtlCol="0"/>
            <a:lstStyle/>
            <a:p/>
          </p:txBody>
        </p:sp>
        <p:sp>
          <p:nvSpPr>
            <p:cNvPr id="51" name="object 51" descr=""/>
            <p:cNvSpPr/>
            <p:nvPr/>
          </p:nvSpPr>
          <p:spPr>
            <a:xfrm>
              <a:off x="7172878" y="2277682"/>
              <a:ext cx="1247140" cy="5715"/>
            </a:xfrm>
            <a:custGeom>
              <a:avLst/>
              <a:gdLst/>
              <a:ahLst/>
              <a:cxnLst/>
              <a:rect l="l" t="t" r="r" b="b"/>
              <a:pathLst>
                <a:path w="1247140" h="5714">
                  <a:moveTo>
                    <a:pt x="0" y="5618"/>
                  </a:moveTo>
                  <a:lnTo>
                    <a:pt x="1247112" y="0"/>
                  </a:lnTo>
                </a:path>
              </a:pathLst>
            </a:custGeom>
            <a:ln w="16144">
              <a:solidFill>
                <a:srgbClr val="000000"/>
              </a:solidFill>
            </a:ln>
          </p:spPr>
          <p:txBody>
            <a:bodyPr wrap="square" lIns="0" tIns="0" rIns="0" bIns="0" rtlCol="0"/>
            <a:lstStyle/>
            <a:p/>
          </p:txBody>
        </p:sp>
        <p:sp>
          <p:nvSpPr>
            <p:cNvPr id="52" name="object 52" descr=""/>
            <p:cNvSpPr/>
            <p:nvPr/>
          </p:nvSpPr>
          <p:spPr>
            <a:xfrm>
              <a:off x="8383471" y="2272737"/>
              <a:ext cx="94615" cy="695960"/>
            </a:xfrm>
            <a:custGeom>
              <a:avLst/>
              <a:gdLst/>
              <a:ahLst/>
              <a:cxnLst/>
              <a:rect l="l" t="t" r="r" b="b"/>
              <a:pathLst>
                <a:path w="94615" h="695960">
                  <a:moveTo>
                    <a:pt x="0" y="560072"/>
                  </a:moveTo>
                  <a:lnTo>
                    <a:pt x="48139" y="695370"/>
                  </a:lnTo>
                  <a:lnTo>
                    <a:pt x="74733" y="617158"/>
                  </a:lnTo>
                  <a:lnTo>
                    <a:pt x="42447" y="617158"/>
                  </a:lnTo>
                  <a:lnTo>
                    <a:pt x="40076" y="614461"/>
                  </a:lnTo>
                  <a:lnTo>
                    <a:pt x="36993" y="611539"/>
                  </a:lnTo>
                  <a:lnTo>
                    <a:pt x="34147" y="606145"/>
                  </a:lnTo>
                  <a:lnTo>
                    <a:pt x="34147" y="592754"/>
                  </a:lnTo>
                  <a:lnTo>
                    <a:pt x="0" y="560072"/>
                  </a:lnTo>
                  <a:close/>
                </a:path>
                <a:path w="94615" h="695960">
                  <a:moveTo>
                    <a:pt x="34147" y="592754"/>
                  </a:moveTo>
                  <a:lnTo>
                    <a:pt x="34147" y="606145"/>
                  </a:lnTo>
                  <a:lnTo>
                    <a:pt x="36993" y="611539"/>
                  </a:lnTo>
                  <a:lnTo>
                    <a:pt x="40076" y="614461"/>
                  </a:lnTo>
                  <a:lnTo>
                    <a:pt x="42447" y="617158"/>
                  </a:lnTo>
                  <a:lnTo>
                    <a:pt x="51221" y="617158"/>
                  </a:lnTo>
                  <a:lnTo>
                    <a:pt x="57150" y="614461"/>
                  </a:lnTo>
                  <a:lnTo>
                    <a:pt x="57150" y="611539"/>
                  </a:lnTo>
                  <a:lnTo>
                    <a:pt x="59996" y="606145"/>
                  </a:lnTo>
                  <a:lnTo>
                    <a:pt x="48139" y="606145"/>
                  </a:lnTo>
                  <a:lnTo>
                    <a:pt x="34147" y="592754"/>
                  </a:lnTo>
                  <a:close/>
                </a:path>
                <a:path w="94615" h="695960">
                  <a:moveTo>
                    <a:pt x="94144" y="560072"/>
                  </a:moveTo>
                  <a:lnTo>
                    <a:pt x="59996" y="594271"/>
                  </a:lnTo>
                  <a:lnTo>
                    <a:pt x="59996" y="606145"/>
                  </a:lnTo>
                  <a:lnTo>
                    <a:pt x="57150" y="611539"/>
                  </a:lnTo>
                  <a:lnTo>
                    <a:pt x="57150" y="614461"/>
                  </a:lnTo>
                  <a:lnTo>
                    <a:pt x="51221" y="617158"/>
                  </a:lnTo>
                  <a:lnTo>
                    <a:pt x="74733" y="617158"/>
                  </a:lnTo>
                  <a:lnTo>
                    <a:pt x="94144" y="560072"/>
                  </a:lnTo>
                  <a:close/>
                </a:path>
                <a:path w="94615" h="695960">
                  <a:moveTo>
                    <a:pt x="57150" y="2921"/>
                  </a:moveTo>
                  <a:lnTo>
                    <a:pt x="40076" y="2921"/>
                  </a:lnTo>
                  <a:lnTo>
                    <a:pt x="36993" y="8315"/>
                  </a:lnTo>
                  <a:lnTo>
                    <a:pt x="34147" y="11237"/>
                  </a:lnTo>
                  <a:lnTo>
                    <a:pt x="34147" y="592754"/>
                  </a:lnTo>
                  <a:lnTo>
                    <a:pt x="48139" y="606145"/>
                  </a:lnTo>
                  <a:lnTo>
                    <a:pt x="59996" y="594271"/>
                  </a:lnTo>
                  <a:lnTo>
                    <a:pt x="59996" y="11237"/>
                  </a:lnTo>
                  <a:lnTo>
                    <a:pt x="57150" y="8315"/>
                  </a:lnTo>
                  <a:lnTo>
                    <a:pt x="57150" y="2921"/>
                  </a:lnTo>
                  <a:close/>
                </a:path>
                <a:path w="94615" h="695960">
                  <a:moveTo>
                    <a:pt x="59996" y="594271"/>
                  </a:moveTo>
                  <a:lnTo>
                    <a:pt x="48139" y="606145"/>
                  </a:lnTo>
                  <a:lnTo>
                    <a:pt x="59996" y="606145"/>
                  </a:lnTo>
                  <a:lnTo>
                    <a:pt x="59996" y="594271"/>
                  </a:lnTo>
                  <a:close/>
                </a:path>
                <a:path w="94615" h="695960">
                  <a:moveTo>
                    <a:pt x="48139" y="0"/>
                  </a:moveTo>
                  <a:lnTo>
                    <a:pt x="42447" y="2921"/>
                  </a:lnTo>
                  <a:lnTo>
                    <a:pt x="51221" y="2921"/>
                  </a:lnTo>
                  <a:lnTo>
                    <a:pt x="48139" y="0"/>
                  </a:lnTo>
                  <a:close/>
                </a:path>
              </a:pathLst>
            </a:custGeom>
            <a:solidFill>
              <a:srgbClr val="000000"/>
            </a:solidFill>
          </p:spPr>
          <p:txBody>
            <a:bodyPr wrap="square" lIns="0" tIns="0" rIns="0" bIns="0" rtlCol="0"/>
            <a:lstStyle/>
            <a:p/>
          </p:txBody>
        </p:sp>
        <p:sp>
          <p:nvSpPr>
            <p:cNvPr id="53" name="object 53" descr=""/>
            <p:cNvSpPr/>
            <p:nvPr/>
          </p:nvSpPr>
          <p:spPr>
            <a:xfrm>
              <a:off x="8383471" y="2272738"/>
              <a:ext cx="94615" cy="695960"/>
            </a:xfrm>
            <a:custGeom>
              <a:avLst/>
              <a:gdLst/>
              <a:ahLst/>
              <a:cxnLst/>
              <a:rect l="l" t="t" r="r" b="b"/>
              <a:pathLst>
                <a:path w="94615" h="695960">
                  <a:moveTo>
                    <a:pt x="59996" y="11237"/>
                  </a:moveTo>
                  <a:lnTo>
                    <a:pt x="59996" y="606145"/>
                  </a:lnTo>
                  <a:lnTo>
                    <a:pt x="57150" y="611539"/>
                  </a:lnTo>
                  <a:lnTo>
                    <a:pt x="57150" y="614461"/>
                  </a:lnTo>
                  <a:lnTo>
                    <a:pt x="51221" y="617158"/>
                  </a:lnTo>
                  <a:lnTo>
                    <a:pt x="48139" y="617158"/>
                  </a:lnTo>
                  <a:lnTo>
                    <a:pt x="42447" y="617158"/>
                  </a:lnTo>
                  <a:lnTo>
                    <a:pt x="40076" y="614461"/>
                  </a:lnTo>
                  <a:lnTo>
                    <a:pt x="36993" y="611539"/>
                  </a:lnTo>
                  <a:lnTo>
                    <a:pt x="34147" y="606145"/>
                  </a:lnTo>
                  <a:lnTo>
                    <a:pt x="34147" y="11237"/>
                  </a:lnTo>
                  <a:lnTo>
                    <a:pt x="36993" y="8315"/>
                  </a:lnTo>
                  <a:lnTo>
                    <a:pt x="40076" y="2921"/>
                  </a:lnTo>
                  <a:lnTo>
                    <a:pt x="42447" y="2921"/>
                  </a:lnTo>
                  <a:lnTo>
                    <a:pt x="48139" y="0"/>
                  </a:lnTo>
                  <a:lnTo>
                    <a:pt x="51221" y="2921"/>
                  </a:lnTo>
                  <a:lnTo>
                    <a:pt x="57150" y="2921"/>
                  </a:lnTo>
                  <a:lnTo>
                    <a:pt x="57150" y="8315"/>
                  </a:lnTo>
                  <a:lnTo>
                    <a:pt x="59996" y="11237"/>
                  </a:lnTo>
                  <a:close/>
                </a:path>
                <a:path w="94615" h="695960">
                  <a:moveTo>
                    <a:pt x="48139" y="606145"/>
                  </a:moveTo>
                  <a:lnTo>
                    <a:pt x="94144" y="560072"/>
                  </a:lnTo>
                  <a:lnTo>
                    <a:pt x="48139" y="695370"/>
                  </a:lnTo>
                  <a:lnTo>
                    <a:pt x="0" y="560072"/>
                  </a:lnTo>
                  <a:lnTo>
                    <a:pt x="48139" y="606145"/>
                  </a:lnTo>
                  <a:close/>
                </a:path>
              </a:pathLst>
            </a:custGeom>
            <a:ln w="3233">
              <a:solidFill>
                <a:srgbClr val="000000"/>
              </a:solidFill>
            </a:ln>
          </p:spPr>
          <p:txBody>
            <a:bodyPr wrap="square" lIns="0" tIns="0" rIns="0" bIns="0" rtlCol="0"/>
            <a:lstStyle/>
            <a:p/>
          </p:txBody>
        </p:sp>
      </p:grpSp>
      <p:sp>
        <p:nvSpPr>
          <p:cNvPr id="54" name="object 54" descr=""/>
          <p:cNvSpPr txBox="1"/>
          <p:nvPr/>
        </p:nvSpPr>
        <p:spPr>
          <a:xfrm>
            <a:off x="7178807" y="2962130"/>
            <a:ext cx="2596515" cy="614680"/>
          </a:xfrm>
          <a:prstGeom prst="rect">
            <a:avLst/>
          </a:prstGeom>
          <a:solidFill>
            <a:srgbClr val="CCFFCC"/>
          </a:solidFill>
          <a:ln w="16196">
            <a:solidFill>
              <a:srgbClr val="000000"/>
            </a:solidFill>
          </a:ln>
        </p:spPr>
        <p:txBody>
          <a:bodyPr wrap="square" lIns="0" tIns="15875" rIns="0" bIns="0" rtlCol="0" vert="horz">
            <a:spAutoFit/>
          </a:bodyPr>
          <a:lstStyle/>
          <a:p>
            <a:pPr marL="270510" marR="217170" indent="-48895">
              <a:lnSpc>
                <a:spcPts val="2320"/>
              </a:lnSpc>
              <a:spcBef>
                <a:spcPts val="125"/>
              </a:spcBef>
            </a:pPr>
            <a:r>
              <a:rPr dirty="0" sz="1600" spc="500">
                <a:latin typeface="宋体"/>
                <a:cs typeface="宋体"/>
              </a:rPr>
              <a:t>以</a:t>
            </a:r>
            <a:r>
              <a:rPr dirty="0" sz="1600">
                <a:latin typeface="宋体"/>
                <a:cs typeface="宋体"/>
              </a:rPr>
              <a:t>BTB</a:t>
            </a:r>
            <a:r>
              <a:rPr dirty="0" sz="1600" spc="20">
                <a:latin typeface="宋体"/>
                <a:cs typeface="宋体"/>
              </a:rPr>
              <a:t> 的第二字段作为分支目标地址送给 </a:t>
            </a:r>
            <a:r>
              <a:rPr dirty="0" sz="1600" spc="-25">
                <a:latin typeface="宋体"/>
                <a:cs typeface="宋体"/>
              </a:rPr>
              <a:t>PC</a:t>
            </a:r>
            <a:endParaRPr sz="1600">
              <a:latin typeface="宋体"/>
              <a:cs typeface="宋体"/>
            </a:endParaRPr>
          </a:p>
        </p:txBody>
      </p:sp>
      <p:grpSp>
        <p:nvGrpSpPr>
          <p:cNvPr id="55" name="object 55" descr=""/>
          <p:cNvGrpSpPr/>
          <p:nvPr/>
        </p:nvGrpSpPr>
        <p:grpSpPr>
          <a:xfrm>
            <a:off x="1428322" y="2801744"/>
            <a:ext cx="8905875" cy="2397760"/>
            <a:chOff x="1428322" y="2801744"/>
            <a:chExt cx="8905875" cy="2397760"/>
          </a:xfrm>
        </p:grpSpPr>
        <p:sp>
          <p:nvSpPr>
            <p:cNvPr id="56" name="object 56" descr=""/>
            <p:cNvSpPr/>
            <p:nvPr/>
          </p:nvSpPr>
          <p:spPr>
            <a:xfrm>
              <a:off x="2122465" y="3367935"/>
              <a:ext cx="399415" cy="0"/>
            </a:xfrm>
            <a:custGeom>
              <a:avLst/>
              <a:gdLst/>
              <a:ahLst/>
              <a:cxnLst/>
              <a:rect l="l" t="t" r="r" b="b"/>
              <a:pathLst>
                <a:path w="399414" h="0">
                  <a:moveTo>
                    <a:pt x="0" y="0"/>
                  </a:moveTo>
                  <a:lnTo>
                    <a:pt x="399412" y="0"/>
                  </a:lnTo>
                </a:path>
              </a:pathLst>
            </a:custGeom>
            <a:ln w="16144">
              <a:solidFill>
                <a:srgbClr val="000000"/>
              </a:solidFill>
            </a:ln>
          </p:spPr>
          <p:txBody>
            <a:bodyPr wrap="square" lIns="0" tIns="0" rIns="0" bIns="0" rtlCol="0"/>
            <a:lstStyle/>
            <a:p/>
          </p:txBody>
        </p:sp>
        <p:sp>
          <p:nvSpPr>
            <p:cNvPr id="57" name="object 57" descr=""/>
            <p:cNvSpPr/>
            <p:nvPr/>
          </p:nvSpPr>
          <p:spPr>
            <a:xfrm>
              <a:off x="2077219" y="3355124"/>
              <a:ext cx="94615" cy="349250"/>
            </a:xfrm>
            <a:custGeom>
              <a:avLst/>
              <a:gdLst/>
              <a:ahLst/>
              <a:cxnLst/>
              <a:rect l="l" t="t" r="r" b="b"/>
              <a:pathLst>
                <a:path w="94614" h="349250">
                  <a:moveTo>
                    <a:pt x="0" y="213510"/>
                  </a:moveTo>
                  <a:lnTo>
                    <a:pt x="51696" y="348809"/>
                  </a:lnTo>
                  <a:lnTo>
                    <a:pt x="76916" y="267899"/>
                  </a:lnTo>
                  <a:lnTo>
                    <a:pt x="42898" y="267899"/>
                  </a:lnTo>
                  <a:lnTo>
                    <a:pt x="39957" y="264978"/>
                  </a:lnTo>
                  <a:lnTo>
                    <a:pt x="37610" y="262281"/>
                  </a:lnTo>
                  <a:lnTo>
                    <a:pt x="37610" y="257336"/>
                  </a:lnTo>
                  <a:lnTo>
                    <a:pt x="37110" y="246868"/>
                  </a:lnTo>
                  <a:lnTo>
                    <a:pt x="0" y="213510"/>
                  </a:lnTo>
                  <a:close/>
                </a:path>
                <a:path w="94614" h="349250">
                  <a:moveTo>
                    <a:pt x="59437" y="246594"/>
                  </a:moveTo>
                  <a:lnTo>
                    <a:pt x="48755" y="257336"/>
                  </a:lnTo>
                  <a:lnTo>
                    <a:pt x="37610" y="257336"/>
                  </a:lnTo>
                  <a:lnTo>
                    <a:pt x="37610" y="262281"/>
                  </a:lnTo>
                  <a:lnTo>
                    <a:pt x="39957" y="264978"/>
                  </a:lnTo>
                  <a:lnTo>
                    <a:pt x="42898" y="267899"/>
                  </a:lnTo>
                  <a:lnTo>
                    <a:pt x="54636" y="267899"/>
                  </a:lnTo>
                  <a:lnTo>
                    <a:pt x="57577" y="264978"/>
                  </a:lnTo>
                  <a:lnTo>
                    <a:pt x="59924" y="262281"/>
                  </a:lnTo>
                  <a:lnTo>
                    <a:pt x="59924" y="257336"/>
                  </a:lnTo>
                  <a:lnTo>
                    <a:pt x="48755" y="257336"/>
                  </a:lnTo>
                  <a:lnTo>
                    <a:pt x="37110" y="246868"/>
                  </a:lnTo>
                  <a:lnTo>
                    <a:pt x="59450" y="246868"/>
                  </a:lnTo>
                  <a:lnTo>
                    <a:pt x="59437" y="246594"/>
                  </a:lnTo>
                  <a:close/>
                </a:path>
                <a:path w="94614" h="349250">
                  <a:moveTo>
                    <a:pt x="94570" y="211263"/>
                  </a:moveTo>
                  <a:lnTo>
                    <a:pt x="59437" y="246594"/>
                  </a:lnTo>
                  <a:lnTo>
                    <a:pt x="59924" y="257336"/>
                  </a:lnTo>
                  <a:lnTo>
                    <a:pt x="59924" y="262281"/>
                  </a:lnTo>
                  <a:lnTo>
                    <a:pt x="57577" y="264978"/>
                  </a:lnTo>
                  <a:lnTo>
                    <a:pt x="54636" y="267899"/>
                  </a:lnTo>
                  <a:lnTo>
                    <a:pt x="76916" y="267899"/>
                  </a:lnTo>
                  <a:lnTo>
                    <a:pt x="94570" y="211263"/>
                  </a:lnTo>
                  <a:close/>
                </a:path>
                <a:path w="94614" h="349250">
                  <a:moveTo>
                    <a:pt x="42898" y="0"/>
                  </a:moveTo>
                  <a:lnTo>
                    <a:pt x="31729" y="0"/>
                  </a:lnTo>
                  <a:lnTo>
                    <a:pt x="28788" y="2696"/>
                  </a:lnTo>
                  <a:lnTo>
                    <a:pt x="25848" y="8315"/>
                  </a:lnTo>
                  <a:lnTo>
                    <a:pt x="25848" y="11012"/>
                  </a:lnTo>
                  <a:lnTo>
                    <a:pt x="37097" y="246594"/>
                  </a:lnTo>
                  <a:lnTo>
                    <a:pt x="37110" y="246868"/>
                  </a:lnTo>
                  <a:lnTo>
                    <a:pt x="48755" y="257336"/>
                  </a:lnTo>
                  <a:lnTo>
                    <a:pt x="59437" y="246594"/>
                  </a:lnTo>
                  <a:lnTo>
                    <a:pt x="48755" y="11012"/>
                  </a:lnTo>
                  <a:lnTo>
                    <a:pt x="48755" y="5618"/>
                  </a:lnTo>
                  <a:lnTo>
                    <a:pt x="45815" y="2696"/>
                  </a:lnTo>
                  <a:lnTo>
                    <a:pt x="42898" y="0"/>
                  </a:lnTo>
                  <a:close/>
                </a:path>
              </a:pathLst>
            </a:custGeom>
            <a:solidFill>
              <a:srgbClr val="000000"/>
            </a:solidFill>
          </p:spPr>
          <p:txBody>
            <a:bodyPr wrap="square" lIns="0" tIns="0" rIns="0" bIns="0" rtlCol="0"/>
            <a:lstStyle/>
            <a:p/>
          </p:txBody>
        </p:sp>
        <p:sp>
          <p:nvSpPr>
            <p:cNvPr id="58" name="object 58" descr=""/>
            <p:cNvSpPr/>
            <p:nvPr/>
          </p:nvSpPr>
          <p:spPr>
            <a:xfrm>
              <a:off x="2077219" y="3355124"/>
              <a:ext cx="94615" cy="349250"/>
            </a:xfrm>
            <a:custGeom>
              <a:avLst/>
              <a:gdLst/>
              <a:ahLst/>
              <a:cxnLst/>
              <a:rect l="l" t="t" r="r" b="b"/>
              <a:pathLst>
                <a:path w="94614" h="349250">
                  <a:moveTo>
                    <a:pt x="48755" y="11012"/>
                  </a:moveTo>
                  <a:lnTo>
                    <a:pt x="59924" y="257336"/>
                  </a:lnTo>
                  <a:lnTo>
                    <a:pt x="59924" y="262281"/>
                  </a:lnTo>
                  <a:lnTo>
                    <a:pt x="57577" y="264978"/>
                  </a:lnTo>
                  <a:lnTo>
                    <a:pt x="54636" y="267899"/>
                  </a:lnTo>
                  <a:lnTo>
                    <a:pt x="48755" y="267899"/>
                  </a:lnTo>
                  <a:lnTo>
                    <a:pt x="42898" y="267899"/>
                  </a:lnTo>
                  <a:lnTo>
                    <a:pt x="39957" y="264978"/>
                  </a:lnTo>
                  <a:lnTo>
                    <a:pt x="37610" y="262281"/>
                  </a:lnTo>
                  <a:lnTo>
                    <a:pt x="37610" y="257336"/>
                  </a:lnTo>
                  <a:lnTo>
                    <a:pt x="25848" y="11012"/>
                  </a:lnTo>
                  <a:lnTo>
                    <a:pt x="25848" y="8315"/>
                  </a:lnTo>
                  <a:lnTo>
                    <a:pt x="28788" y="2696"/>
                  </a:lnTo>
                  <a:lnTo>
                    <a:pt x="31729" y="0"/>
                  </a:lnTo>
                  <a:lnTo>
                    <a:pt x="37610" y="0"/>
                  </a:lnTo>
                  <a:lnTo>
                    <a:pt x="42898" y="0"/>
                  </a:lnTo>
                  <a:lnTo>
                    <a:pt x="45815" y="2696"/>
                  </a:lnTo>
                  <a:lnTo>
                    <a:pt x="48755" y="5618"/>
                  </a:lnTo>
                  <a:lnTo>
                    <a:pt x="48755" y="11012"/>
                  </a:lnTo>
                  <a:close/>
                </a:path>
                <a:path w="94614" h="349250">
                  <a:moveTo>
                    <a:pt x="48755" y="257336"/>
                  </a:moveTo>
                  <a:lnTo>
                    <a:pt x="94570" y="211263"/>
                  </a:lnTo>
                  <a:lnTo>
                    <a:pt x="51696" y="348809"/>
                  </a:lnTo>
                  <a:lnTo>
                    <a:pt x="0" y="213510"/>
                  </a:lnTo>
                  <a:lnTo>
                    <a:pt x="48755" y="257336"/>
                  </a:lnTo>
                  <a:close/>
                </a:path>
              </a:pathLst>
            </a:custGeom>
            <a:ln w="3233">
              <a:solidFill>
                <a:srgbClr val="000000"/>
              </a:solidFill>
            </a:ln>
          </p:spPr>
          <p:txBody>
            <a:bodyPr wrap="square" lIns="0" tIns="0" rIns="0" bIns="0" rtlCol="0"/>
            <a:lstStyle/>
            <a:p/>
          </p:txBody>
        </p:sp>
        <p:sp>
          <p:nvSpPr>
            <p:cNvPr id="59" name="object 59" descr=""/>
            <p:cNvSpPr/>
            <p:nvPr/>
          </p:nvSpPr>
          <p:spPr>
            <a:xfrm>
              <a:off x="4919587" y="3360743"/>
              <a:ext cx="94615" cy="1548130"/>
            </a:xfrm>
            <a:custGeom>
              <a:avLst/>
              <a:gdLst/>
              <a:ahLst/>
              <a:cxnLst/>
              <a:rect l="l" t="t" r="r" b="b"/>
              <a:pathLst>
                <a:path w="94614" h="1548129">
                  <a:moveTo>
                    <a:pt x="0" y="1412249"/>
                  </a:moveTo>
                  <a:lnTo>
                    <a:pt x="45293" y="1547548"/>
                  </a:lnTo>
                  <a:lnTo>
                    <a:pt x="73719" y="1468818"/>
                  </a:lnTo>
                  <a:lnTo>
                    <a:pt x="42447" y="1468818"/>
                  </a:lnTo>
                  <a:lnTo>
                    <a:pt x="36993" y="1466593"/>
                  </a:lnTo>
                  <a:lnTo>
                    <a:pt x="36993" y="1463829"/>
                  </a:lnTo>
                  <a:lnTo>
                    <a:pt x="34147" y="1458278"/>
                  </a:lnTo>
                  <a:lnTo>
                    <a:pt x="34147" y="1446951"/>
                  </a:lnTo>
                  <a:lnTo>
                    <a:pt x="0" y="1412249"/>
                  </a:lnTo>
                  <a:close/>
                </a:path>
                <a:path w="94614" h="1548129">
                  <a:moveTo>
                    <a:pt x="59996" y="1444424"/>
                  </a:moveTo>
                  <a:lnTo>
                    <a:pt x="45293" y="1458278"/>
                  </a:lnTo>
                  <a:lnTo>
                    <a:pt x="34147" y="1458278"/>
                  </a:lnTo>
                  <a:lnTo>
                    <a:pt x="36993" y="1463829"/>
                  </a:lnTo>
                  <a:lnTo>
                    <a:pt x="36993" y="1466593"/>
                  </a:lnTo>
                  <a:lnTo>
                    <a:pt x="42447" y="1468818"/>
                  </a:lnTo>
                  <a:lnTo>
                    <a:pt x="51221" y="1468818"/>
                  </a:lnTo>
                  <a:lnTo>
                    <a:pt x="54067" y="1466593"/>
                  </a:lnTo>
                  <a:lnTo>
                    <a:pt x="57150" y="1463829"/>
                  </a:lnTo>
                  <a:lnTo>
                    <a:pt x="59996" y="1458278"/>
                  </a:lnTo>
                  <a:lnTo>
                    <a:pt x="45293" y="1458278"/>
                  </a:lnTo>
                  <a:lnTo>
                    <a:pt x="34147" y="1446951"/>
                  </a:lnTo>
                  <a:lnTo>
                    <a:pt x="59996" y="1446951"/>
                  </a:lnTo>
                  <a:lnTo>
                    <a:pt x="59996" y="1444424"/>
                  </a:lnTo>
                  <a:close/>
                </a:path>
                <a:path w="94614" h="1548129">
                  <a:moveTo>
                    <a:pt x="94144" y="1412249"/>
                  </a:moveTo>
                  <a:lnTo>
                    <a:pt x="59996" y="1444424"/>
                  </a:lnTo>
                  <a:lnTo>
                    <a:pt x="59996" y="1458278"/>
                  </a:lnTo>
                  <a:lnTo>
                    <a:pt x="57150" y="1463829"/>
                  </a:lnTo>
                  <a:lnTo>
                    <a:pt x="54067" y="1466593"/>
                  </a:lnTo>
                  <a:lnTo>
                    <a:pt x="51221" y="1468818"/>
                  </a:lnTo>
                  <a:lnTo>
                    <a:pt x="73719" y="1468818"/>
                  </a:lnTo>
                  <a:lnTo>
                    <a:pt x="94144" y="1412249"/>
                  </a:lnTo>
                  <a:close/>
                </a:path>
                <a:path w="94614" h="1548129">
                  <a:moveTo>
                    <a:pt x="51221" y="0"/>
                  </a:moveTo>
                  <a:lnTo>
                    <a:pt x="42447" y="0"/>
                  </a:lnTo>
                  <a:lnTo>
                    <a:pt x="36993" y="2696"/>
                  </a:lnTo>
                  <a:lnTo>
                    <a:pt x="36993" y="5393"/>
                  </a:lnTo>
                  <a:lnTo>
                    <a:pt x="34147" y="10563"/>
                  </a:lnTo>
                  <a:lnTo>
                    <a:pt x="34147" y="1446951"/>
                  </a:lnTo>
                  <a:lnTo>
                    <a:pt x="45293" y="1458278"/>
                  </a:lnTo>
                  <a:lnTo>
                    <a:pt x="59996" y="1444424"/>
                  </a:lnTo>
                  <a:lnTo>
                    <a:pt x="59996" y="10563"/>
                  </a:lnTo>
                  <a:lnTo>
                    <a:pt x="57150" y="5393"/>
                  </a:lnTo>
                  <a:lnTo>
                    <a:pt x="54067" y="2696"/>
                  </a:lnTo>
                  <a:lnTo>
                    <a:pt x="51221" y="0"/>
                  </a:lnTo>
                  <a:close/>
                </a:path>
              </a:pathLst>
            </a:custGeom>
            <a:solidFill>
              <a:srgbClr val="000000"/>
            </a:solidFill>
          </p:spPr>
          <p:txBody>
            <a:bodyPr wrap="square" lIns="0" tIns="0" rIns="0" bIns="0" rtlCol="0"/>
            <a:lstStyle/>
            <a:p/>
          </p:txBody>
        </p:sp>
        <p:sp>
          <p:nvSpPr>
            <p:cNvPr id="60" name="object 60" descr=""/>
            <p:cNvSpPr/>
            <p:nvPr/>
          </p:nvSpPr>
          <p:spPr>
            <a:xfrm>
              <a:off x="4919587" y="3360743"/>
              <a:ext cx="94615" cy="1548130"/>
            </a:xfrm>
            <a:custGeom>
              <a:avLst/>
              <a:gdLst/>
              <a:ahLst/>
              <a:cxnLst/>
              <a:rect l="l" t="t" r="r" b="b"/>
              <a:pathLst>
                <a:path w="94614" h="1548129">
                  <a:moveTo>
                    <a:pt x="59996" y="10563"/>
                  </a:moveTo>
                  <a:lnTo>
                    <a:pt x="59996" y="1458278"/>
                  </a:lnTo>
                  <a:lnTo>
                    <a:pt x="57150" y="1463829"/>
                  </a:lnTo>
                  <a:lnTo>
                    <a:pt x="54067" y="1466593"/>
                  </a:lnTo>
                  <a:lnTo>
                    <a:pt x="51221" y="1468818"/>
                  </a:lnTo>
                  <a:lnTo>
                    <a:pt x="45293" y="1468818"/>
                  </a:lnTo>
                  <a:lnTo>
                    <a:pt x="42447" y="1468818"/>
                  </a:lnTo>
                  <a:lnTo>
                    <a:pt x="36993" y="1466593"/>
                  </a:lnTo>
                  <a:lnTo>
                    <a:pt x="36993" y="1463829"/>
                  </a:lnTo>
                  <a:lnTo>
                    <a:pt x="34147" y="1458278"/>
                  </a:lnTo>
                  <a:lnTo>
                    <a:pt x="34147" y="10563"/>
                  </a:lnTo>
                  <a:lnTo>
                    <a:pt x="36993" y="5393"/>
                  </a:lnTo>
                  <a:lnTo>
                    <a:pt x="36993" y="2696"/>
                  </a:lnTo>
                  <a:lnTo>
                    <a:pt x="42447" y="0"/>
                  </a:lnTo>
                  <a:lnTo>
                    <a:pt x="45293" y="0"/>
                  </a:lnTo>
                  <a:lnTo>
                    <a:pt x="51221" y="0"/>
                  </a:lnTo>
                  <a:lnTo>
                    <a:pt x="54067" y="2696"/>
                  </a:lnTo>
                  <a:lnTo>
                    <a:pt x="57150" y="5393"/>
                  </a:lnTo>
                  <a:lnTo>
                    <a:pt x="59996" y="10563"/>
                  </a:lnTo>
                  <a:close/>
                </a:path>
                <a:path w="94614" h="1548129">
                  <a:moveTo>
                    <a:pt x="45293" y="1458278"/>
                  </a:moveTo>
                  <a:lnTo>
                    <a:pt x="94144" y="1412249"/>
                  </a:lnTo>
                  <a:lnTo>
                    <a:pt x="45293" y="1547548"/>
                  </a:lnTo>
                  <a:lnTo>
                    <a:pt x="0" y="1412249"/>
                  </a:lnTo>
                  <a:lnTo>
                    <a:pt x="45293" y="1458278"/>
                  </a:lnTo>
                  <a:close/>
                </a:path>
              </a:pathLst>
            </a:custGeom>
            <a:ln w="3233">
              <a:solidFill>
                <a:srgbClr val="000000"/>
              </a:solidFill>
            </a:ln>
          </p:spPr>
          <p:txBody>
            <a:bodyPr wrap="square" lIns="0" tIns="0" rIns="0" bIns="0" rtlCol="0"/>
            <a:lstStyle/>
            <a:p/>
          </p:txBody>
        </p:sp>
        <p:sp>
          <p:nvSpPr>
            <p:cNvPr id="61" name="object 61" descr=""/>
            <p:cNvSpPr/>
            <p:nvPr/>
          </p:nvSpPr>
          <p:spPr>
            <a:xfrm>
              <a:off x="4736278" y="3376251"/>
              <a:ext cx="200025" cy="0"/>
            </a:xfrm>
            <a:custGeom>
              <a:avLst/>
              <a:gdLst/>
              <a:ahLst/>
              <a:cxnLst/>
              <a:rect l="l" t="t" r="r" b="b"/>
              <a:pathLst>
                <a:path w="200025" h="0">
                  <a:moveTo>
                    <a:pt x="0" y="0"/>
                  </a:moveTo>
                  <a:lnTo>
                    <a:pt x="199907" y="0"/>
                  </a:lnTo>
                </a:path>
              </a:pathLst>
            </a:custGeom>
            <a:ln w="16144">
              <a:solidFill>
                <a:srgbClr val="000000"/>
              </a:solidFill>
            </a:ln>
          </p:spPr>
          <p:txBody>
            <a:bodyPr wrap="square" lIns="0" tIns="0" rIns="0" bIns="0" rtlCol="0"/>
            <a:lstStyle/>
            <a:p/>
          </p:txBody>
        </p:sp>
        <p:sp>
          <p:nvSpPr>
            <p:cNvPr id="62" name="object 62" descr=""/>
            <p:cNvSpPr/>
            <p:nvPr/>
          </p:nvSpPr>
          <p:spPr>
            <a:xfrm>
              <a:off x="8414774" y="3560769"/>
              <a:ext cx="93980" cy="292735"/>
            </a:xfrm>
            <a:custGeom>
              <a:avLst/>
              <a:gdLst/>
              <a:ahLst/>
              <a:cxnLst/>
              <a:rect l="l" t="t" r="r" b="b"/>
              <a:pathLst>
                <a:path w="93979" h="292735">
                  <a:moveTo>
                    <a:pt x="0" y="157098"/>
                  </a:moveTo>
                  <a:lnTo>
                    <a:pt x="45767" y="292397"/>
                  </a:lnTo>
                  <a:lnTo>
                    <a:pt x="74795" y="210813"/>
                  </a:lnTo>
                  <a:lnTo>
                    <a:pt x="42684" y="210813"/>
                  </a:lnTo>
                  <a:lnTo>
                    <a:pt x="36993" y="208566"/>
                  </a:lnTo>
                  <a:lnTo>
                    <a:pt x="36993" y="205869"/>
                  </a:lnTo>
                  <a:lnTo>
                    <a:pt x="33910" y="200250"/>
                  </a:lnTo>
                  <a:lnTo>
                    <a:pt x="33910" y="189071"/>
                  </a:lnTo>
                  <a:lnTo>
                    <a:pt x="0" y="157098"/>
                  </a:lnTo>
                  <a:close/>
                </a:path>
                <a:path w="93979" h="292735">
                  <a:moveTo>
                    <a:pt x="59758" y="187708"/>
                  </a:moveTo>
                  <a:lnTo>
                    <a:pt x="45767" y="200250"/>
                  </a:lnTo>
                  <a:lnTo>
                    <a:pt x="33910" y="200250"/>
                  </a:lnTo>
                  <a:lnTo>
                    <a:pt x="36993" y="205869"/>
                  </a:lnTo>
                  <a:lnTo>
                    <a:pt x="36993" y="208566"/>
                  </a:lnTo>
                  <a:lnTo>
                    <a:pt x="42684" y="210813"/>
                  </a:lnTo>
                  <a:lnTo>
                    <a:pt x="50984" y="210813"/>
                  </a:lnTo>
                  <a:lnTo>
                    <a:pt x="54067" y="208566"/>
                  </a:lnTo>
                  <a:lnTo>
                    <a:pt x="56913" y="205869"/>
                  </a:lnTo>
                  <a:lnTo>
                    <a:pt x="59758" y="200250"/>
                  </a:lnTo>
                  <a:lnTo>
                    <a:pt x="45767" y="200250"/>
                  </a:lnTo>
                  <a:lnTo>
                    <a:pt x="33910" y="189071"/>
                  </a:lnTo>
                  <a:lnTo>
                    <a:pt x="59758" y="189071"/>
                  </a:lnTo>
                  <a:lnTo>
                    <a:pt x="59758" y="187708"/>
                  </a:lnTo>
                  <a:close/>
                </a:path>
                <a:path w="93979" h="292735">
                  <a:moveTo>
                    <a:pt x="93906" y="157098"/>
                  </a:moveTo>
                  <a:lnTo>
                    <a:pt x="59758" y="187708"/>
                  </a:lnTo>
                  <a:lnTo>
                    <a:pt x="59758" y="200250"/>
                  </a:lnTo>
                  <a:lnTo>
                    <a:pt x="56913" y="205869"/>
                  </a:lnTo>
                  <a:lnTo>
                    <a:pt x="54067" y="208566"/>
                  </a:lnTo>
                  <a:lnTo>
                    <a:pt x="50984" y="210813"/>
                  </a:lnTo>
                  <a:lnTo>
                    <a:pt x="74795" y="210813"/>
                  </a:lnTo>
                  <a:lnTo>
                    <a:pt x="93906" y="157098"/>
                  </a:lnTo>
                  <a:close/>
                </a:path>
                <a:path w="93979" h="292735">
                  <a:moveTo>
                    <a:pt x="50984" y="0"/>
                  </a:moveTo>
                  <a:lnTo>
                    <a:pt x="42684" y="0"/>
                  </a:lnTo>
                  <a:lnTo>
                    <a:pt x="36993" y="2921"/>
                  </a:lnTo>
                  <a:lnTo>
                    <a:pt x="36993" y="7866"/>
                  </a:lnTo>
                  <a:lnTo>
                    <a:pt x="33910" y="10563"/>
                  </a:lnTo>
                  <a:lnTo>
                    <a:pt x="33910" y="189071"/>
                  </a:lnTo>
                  <a:lnTo>
                    <a:pt x="45767" y="200250"/>
                  </a:lnTo>
                  <a:lnTo>
                    <a:pt x="59758" y="187708"/>
                  </a:lnTo>
                  <a:lnTo>
                    <a:pt x="59758" y="10563"/>
                  </a:lnTo>
                  <a:lnTo>
                    <a:pt x="56913" y="7866"/>
                  </a:lnTo>
                  <a:lnTo>
                    <a:pt x="54067" y="2921"/>
                  </a:lnTo>
                  <a:lnTo>
                    <a:pt x="50984" y="0"/>
                  </a:lnTo>
                  <a:close/>
                </a:path>
              </a:pathLst>
            </a:custGeom>
            <a:solidFill>
              <a:srgbClr val="000000"/>
            </a:solidFill>
          </p:spPr>
          <p:txBody>
            <a:bodyPr wrap="square" lIns="0" tIns="0" rIns="0" bIns="0" rtlCol="0"/>
            <a:lstStyle/>
            <a:p/>
          </p:txBody>
        </p:sp>
        <p:pic>
          <p:nvPicPr>
            <p:cNvPr id="63" name="object 63" descr=""/>
            <p:cNvPicPr/>
            <p:nvPr/>
          </p:nvPicPr>
          <p:blipFill>
            <a:blip r:embed="rId2" cstate="print"/>
            <a:stretch>
              <a:fillRect/>
            </a:stretch>
          </p:blipFill>
          <p:spPr>
            <a:xfrm>
              <a:off x="8413140" y="3559110"/>
              <a:ext cx="97174" cy="295689"/>
            </a:xfrm>
            <a:prstGeom prst="rect">
              <a:avLst/>
            </a:prstGeom>
          </p:spPr>
        </p:pic>
        <p:sp>
          <p:nvSpPr>
            <p:cNvPr id="64" name="object 64" descr=""/>
            <p:cNvSpPr/>
            <p:nvPr/>
          </p:nvSpPr>
          <p:spPr>
            <a:xfrm>
              <a:off x="7093674" y="4199054"/>
              <a:ext cx="93980" cy="641985"/>
            </a:xfrm>
            <a:custGeom>
              <a:avLst/>
              <a:gdLst/>
              <a:ahLst/>
              <a:cxnLst/>
              <a:rect l="l" t="t" r="r" b="b"/>
              <a:pathLst>
                <a:path w="93979" h="641985">
                  <a:moveTo>
                    <a:pt x="0" y="506290"/>
                  </a:moveTo>
                  <a:lnTo>
                    <a:pt x="48613" y="641588"/>
                  </a:lnTo>
                  <a:lnTo>
                    <a:pt x="75171" y="560634"/>
                  </a:lnTo>
                  <a:lnTo>
                    <a:pt x="42922" y="560634"/>
                  </a:lnTo>
                  <a:lnTo>
                    <a:pt x="39839" y="557869"/>
                  </a:lnTo>
                  <a:lnTo>
                    <a:pt x="36993" y="555082"/>
                  </a:lnTo>
                  <a:lnTo>
                    <a:pt x="33910" y="549554"/>
                  </a:lnTo>
                  <a:lnTo>
                    <a:pt x="33740" y="538184"/>
                  </a:lnTo>
                  <a:lnTo>
                    <a:pt x="0" y="506290"/>
                  </a:lnTo>
                  <a:close/>
                </a:path>
                <a:path w="93979" h="641985">
                  <a:moveTo>
                    <a:pt x="59544" y="536381"/>
                  </a:moveTo>
                  <a:lnTo>
                    <a:pt x="45767" y="549554"/>
                  </a:lnTo>
                  <a:lnTo>
                    <a:pt x="33910" y="549554"/>
                  </a:lnTo>
                  <a:lnTo>
                    <a:pt x="36993" y="555082"/>
                  </a:lnTo>
                  <a:lnTo>
                    <a:pt x="39839" y="557869"/>
                  </a:lnTo>
                  <a:lnTo>
                    <a:pt x="42922" y="560634"/>
                  </a:lnTo>
                  <a:lnTo>
                    <a:pt x="50984" y="560634"/>
                  </a:lnTo>
                  <a:lnTo>
                    <a:pt x="54067" y="557869"/>
                  </a:lnTo>
                  <a:lnTo>
                    <a:pt x="56913" y="555082"/>
                  </a:lnTo>
                  <a:lnTo>
                    <a:pt x="59758" y="549554"/>
                  </a:lnTo>
                  <a:lnTo>
                    <a:pt x="45767" y="549554"/>
                  </a:lnTo>
                  <a:lnTo>
                    <a:pt x="33740" y="538184"/>
                  </a:lnTo>
                  <a:lnTo>
                    <a:pt x="59573" y="538184"/>
                  </a:lnTo>
                  <a:lnTo>
                    <a:pt x="59544" y="536381"/>
                  </a:lnTo>
                  <a:close/>
                </a:path>
                <a:path w="93979" h="641985">
                  <a:moveTo>
                    <a:pt x="93906" y="503525"/>
                  </a:moveTo>
                  <a:lnTo>
                    <a:pt x="59544" y="536381"/>
                  </a:lnTo>
                  <a:lnTo>
                    <a:pt x="59758" y="549554"/>
                  </a:lnTo>
                  <a:lnTo>
                    <a:pt x="56913" y="555082"/>
                  </a:lnTo>
                  <a:lnTo>
                    <a:pt x="54067" y="557869"/>
                  </a:lnTo>
                  <a:lnTo>
                    <a:pt x="50984" y="560634"/>
                  </a:lnTo>
                  <a:lnTo>
                    <a:pt x="75171" y="560634"/>
                  </a:lnTo>
                  <a:lnTo>
                    <a:pt x="93906" y="503525"/>
                  </a:lnTo>
                  <a:close/>
                </a:path>
                <a:path w="93979" h="641985">
                  <a:moveTo>
                    <a:pt x="42922" y="0"/>
                  </a:moveTo>
                  <a:lnTo>
                    <a:pt x="33910" y="0"/>
                  </a:lnTo>
                  <a:lnTo>
                    <a:pt x="31065" y="2921"/>
                  </a:lnTo>
                  <a:lnTo>
                    <a:pt x="28693" y="8315"/>
                  </a:lnTo>
                  <a:lnTo>
                    <a:pt x="25848" y="11237"/>
                  </a:lnTo>
                  <a:lnTo>
                    <a:pt x="33713" y="536381"/>
                  </a:lnTo>
                  <a:lnTo>
                    <a:pt x="33740" y="538184"/>
                  </a:lnTo>
                  <a:lnTo>
                    <a:pt x="45767" y="549554"/>
                  </a:lnTo>
                  <a:lnTo>
                    <a:pt x="59544" y="536381"/>
                  </a:lnTo>
                  <a:lnTo>
                    <a:pt x="50984" y="11237"/>
                  </a:lnTo>
                  <a:lnTo>
                    <a:pt x="48613" y="5618"/>
                  </a:lnTo>
                  <a:lnTo>
                    <a:pt x="45767" y="2921"/>
                  </a:lnTo>
                  <a:lnTo>
                    <a:pt x="42922" y="0"/>
                  </a:lnTo>
                  <a:close/>
                </a:path>
              </a:pathLst>
            </a:custGeom>
            <a:solidFill>
              <a:srgbClr val="000000"/>
            </a:solidFill>
          </p:spPr>
          <p:txBody>
            <a:bodyPr wrap="square" lIns="0" tIns="0" rIns="0" bIns="0" rtlCol="0"/>
            <a:lstStyle/>
            <a:p/>
          </p:txBody>
        </p:sp>
        <p:sp>
          <p:nvSpPr>
            <p:cNvPr id="65" name="object 65" descr=""/>
            <p:cNvSpPr/>
            <p:nvPr/>
          </p:nvSpPr>
          <p:spPr>
            <a:xfrm>
              <a:off x="7093674" y="4199054"/>
              <a:ext cx="93980" cy="641985"/>
            </a:xfrm>
            <a:custGeom>
              <a:avLst/>
              <a:gdLst/>
              <a:ahLst/>
              <a:cxnLst/>
              <a:rect l="l" t="t" r="r" b="b"/>
              <a:pathLst>
                <a:path w="93979" h="641985">
                  <a:moveTo>
                    <a:pt x="50984" y="11237"/>
                  </a:moveTo>
                  <a:lnTo>
                    <a:pt x="59758" y="549554"/>
                  </a:lnTo>
                  <a:lnTo>
                    <a:pt x="56913" y="555082"/>
                  </a:lnTo>
                  <a:lnTo>
                    <a:pt x="54067" y="557869"/>
                  </a:lnTo>
                  <a:lnTo>
                    <a:pt x="50984" y="560634"/>
                  </a:lnTo>
                  <a:lnTo>
                    <a:pt x="48613" y="560634"/>
                  </a:lnTo>
                  <a:lnTo>
                    <a:pt x="42922" y="560634"/>
                  </a:lnTo>
                  <a:lnTo>
                    <a:pt x="39839" y="557869"/>
                  </a:lnTo>
                  <a:lnTo>
                    <a:pt x="36993" y="555082"/>
                  </a:lnTo>
                  <a:lnTo>
                    <a:pt x="33910" y="549554"/>
                  </a:lnTo>
                  <a:lnTo>
                    <a:pt x="25848" y="11237"/>
                  </a:lnTo>
                  <a:lnTo>
                    <a:pt x="28693" y="8315"/>
                  </a:lnTo>
                  <a:lnTo>
                    <a:pt x="31065" y="2921"/>
                  </a:lnTo>
                  <a:lnTo>
                    <a:pt x="33910" y="0"/>
                  </a:lnTo>
                  <a:lnTo>
                    <a:pt x="39839" y="0"/>
                  </a:lnTo>
                  <a:lnTo>
                    <a:pt x="42922" y="0"/>
                  </a:lnTo>
                  <a:lnTo>
                    <a:pt x="45767" y="2921"/>
                  </a:lnTo>
                  <a:lnTo>
                    <a:pt x="48613" y="5618"/>
                  </a:lnTo>
                  <a:lnTo>
                    <a:pt x="50984" y="11237"/>
                  </a:lnTo>
                  <a:close/>
                </a:path>
                <a:path w="93979" h="641985">
                  <a:moveTo>
                    <a:pt x="45767" y="549554"/>
                  </a:moveTo>
                  <a:lnTo>
                    <a:pt x="93906" y="503525"/>
                  </a:lnTo>
                  <a:lnTo>
                    <a:pt x="48613" y="641588"/>
                  </a:lnTo>
                  <a:lnTo>
                    <a:pt x="0" y="506290"/>
                  </a:lnTo>
                  <a:lnTo>
                    <a:pt x="45767" y="549554"/>
                  </a:lnTo>
                  <a:close/>
                </a:path>
              </a:pathLst>
            </a:custGeom>
            <a:ln w="3233">
              <a:solidFill>
                <a:srgbClr val="000000"/>
              </a:solidFill>
            </a:ln>
          </p:spPr>
          <p:txBody>
            <a:bodyPr wrap="square" lIns="0" tIns="0" rIns="0" bIns="0" rtlCol="0"/>
            <a:lstStyle/>
            <a:p/>
          </p:txBody>
        </p:sp>
        <p:sp>
          <p:nvSpPr>
            <p:cNvPr id="66" name="object 66" descr=""/>
            <p:cNvSpPr/>
            <p:nvPr/>
          </p:nvSpPr>
          <p:spPr>
            <a:xfrm>
              <a:off x="7129956" y="4215235"/>
              <a:ext cx="300355" cy="0"/>
            </a:xfrm>
            <a:custGeom>
              <a:avLst/>
              <a:gdLst/>
              <a:ahLst/>
              <a:cxnLst/>
              <a:rect l="l" t="t" r="r" b="b"/>
              <a:pathLst>
                <a:path w="300354" h="0">
                  <a:moveTo>
                    <a:pt x="0" y="0"/>
                  </a:moveTo>
                  <a:lnTo>
                    <a:pt x="299743" y="0"/>
                  </a:lnTo>
                </a:path>
              </a:pathLst>
            </a:custGeom>
            <a:ln w="16144">
              <a:solidFill>
                <a:srgbClr val="000000"/>
              </a:solidFill>
            </a:ln>
          </p:spPr>
          <p:txBody>
            <a:bodyPr wrap="square" lIns="0" tIns="0" rIns="0" bIns="0" rtlCol="0"/>
            <a:lstStyle/>
            <a:p/>
          </p:txBody>
        </p:sp>
        <p:pic>
          <p:nvPicPr>
            <p:cNvPr id="67" name="object 67" descr=""/>
            <p:cNvPicPr/>
            <p:nvPr/>
          </p:nvPicPr>
          <p:blipFill>
            <a:blip r:embed="rId3" cstate="print"/>
            <a:stretch>
              <a:fillRect/>
            </a:stretch>
          </p:blipFill>
          <p:spPr>
            <a:xfrm>
              <a:off x="1428322" y="2801744"/>
              <a:ext cx="8905297" cy="22126"/>
            </a:xfrm>
            <a:prstGeom prst="rect">
              <a:avLst/>
            </a:prstGeom>
          </p:spPr>
        </p:pic>
        <p:pic>
          <p:nvPicPr>
            <p:cNvPr id="68" name="object 68" descr=""/>
            <p:cNvPicPr/>
            <p:nvPr/>
          </p:nvPicPr>
          <p:blipFill>
            <a:blip r:embed="rId4" cstate="print"/>
            <a:stretch>
              <a:fillRect/>
            </a:stretch>
          </p:blipFill>
          <p:spPr>
            <a:xfrm>
              <a:off x="1428323" y="4205709"/>
              <a:ext cx="8905294" cy="993668"/>
            </a:xfrm>
            <a:prstGeom prst="rect">
              <a:avLst/>
            </a:prstGeom>
          </p:spPr>
        </p:pic>
      </p:grpSp>
      <p:sp>
        <p:nvSpPr>
          <p:cNvPr id="69" name="object 69" descr=""/>
          <p:cNvSpPr txBox="1"/>
          <p:nvPr/>
        </p:nvSpPr>
        <p:spPr>
          <a:xfrm>
            <a:off x="7317164" y="1982566"/>
            <a:ext cx="240665" cy="270510"/>
          </a:xfrm>
          <a:prstGeom prst="rect">
            <a:avLst/>
          </a:prstGeom>
        </p:spPr>
        <p:txBody>
          <a:bodyPr wrap="square" lIns="0" tIns="13335" rIns="0" bIns="0" rtlCol="0" vert="horz">
            <a:spAutoFit/>
          </a:bodyPr>
          <a:lstStyle/>
          <a:p>
            <a:pPr marL="12700">
              <a:lnSpc>
                <a:spcPct val="100000"/>
              </a:lnSpc>
              <a:spcBef>
                <a:spcPts val="105"/>
              </a:spcBef>
            </a:pPr>
            <a:r>
              <a:rPr dirty="0" sz="1600" spc="30">
                <a:latin typeface="宋体"/>
                <a:cs typeface="宋体"/>
              </a:rPr>
              <a:t>是</a:t>
            </a:r>
            <a:endParaRPr sz="1600">
              <a:latin typeface="宋体"/>
              <a:cs typeface="宋体"/>
            </a:endParaRPr>
          </a:p>
        </p:txBody>
      </p:sp>
      <p:sp>
        <p:nvSpPr>
          <p:cNvPr id="70" name="object 70"/>
          <p:cNvSpPr txBox="1">
            <a:spLocks noGrp="1"/>
          </p:cNvSpPr>
          <p:nvPr>
            <p:ph type="title"/>
          </p:nvPr>
        </p:nvSpPr>
        <p:spPr>
          <a:xfrm>
            <a:off x="126288" y="295783"/>
            <a:ext cx="7341234" cy="391160"/>
          </a:xfrm>
          <a:prstGeom prst="rect"/>
        </p:spPr>
        <p:txBody>
          <a:bodyPr wrap="square" lIns="0" tIns="12700" rIns="0" bIns="0" rtlCol="0" vert="horz">
            <a:spAutoFit/>
          </a:bodyPr>
          <a:lstStyle/>
          <a:p>
            <a:pPr marL="12700">
              <a:lnSpc>
                <a:spcPct val="100000"/>
              </a:lnSpc>
              <a:spcBef>
                <a:spcPts val="100"/>
              </a:spcBef>
            </a:pPr>
            <a:r>
              <a:rPr dirty="0" sz="2400">
                <a:solidFill>
                  <a:srgbClr val="40458B"/>
                </a:solidFill>
              </a:rPr>
              <a:t>2. </a:t>
            </a:r>
            <a:r>
              <a:rPr dirty="0" sz="2400">
                <a:solidFill>
                  <a:srgbClr val="001F5F"/>
                </a:solidFill>
              </a:rPr>
              <a:t>采用BTB</a:t>
            </a:r>
            <a:r>
              <a:rPr dirty="0" sz="2400" spc="-5">
                <a:solidFill>
                  <a:srgbClr val="001F5F"/>
                </a:solidFill>
              </a:rPr>
              <a:t>后，在流水线各个阶段所进行的相关操作：</a:t>
            </a:r>
            <a:endParaRPr sz="2400"/>
          </a:p>
        </p:txBody>
      </p:sp>
      <p:sp>
        <p:nvSpPr>
          <p:cNvPr id="71" name="object 71" descr=""/>
          <p:cNvSpPr txBox="1"/>
          <p:nvPr/>
        </p:nvSpPr>
        <p:spPr>
          <a:xfrm>
            <a:off x="4159122" y="3893735"/>
            <a:ext cx="2567940" cy="878840"/>
          </a:xfrm>
          <a:prstGeom prst="rect">
            <a:avLst/>
          </a:prstGeom>
        </p:spPr>
        <p:txBody>
          <a:bodyPr wrap="square" lIns="0" tIns="133985" rIns="0" bIns="0" rtlCol="0" vert="horz">
            <a:spAutoFit/>
          </a:bodyPr>
          <a:lstStyle/>
          <a:p>
            <a:pPr marL="12700">
              <a:lnSpc>
                <a:spcPct val="100000"/>
              </a:lnSpc>
              <a:spcBef>
                <a:spcPts val="1055"/>
              </a:spcBef>
            </a:pPr>
            <a:r>
              <a:rPr dirty="0" sz="2000" spc="-15">
                <a:solidFill>
                  <a:srgbClr val="FF0000"/>
                </a:solidFill>
                <a:latin typeface="黑体"/>
                <a:cs typeface="黑体"/>
              </a:rPr>
              <a:t>新的分支指令判断成功</a:t>
            </a:r>
            <a:endParaRPr sz="2000">
              <a:latin typeface="黑体"/>
              <a:cs typeface="黑体"/>
            </a:endParaRPr>
          </a:p>
          <a:p>
            <a:pPr marL="12700">
              <a:lnSpc>
                <a:spcPct val="100000"/>
              </a:lnSpc>
              <a:spcBef>
                <a:spcPts val="960"/>
              </a:spcBef>
            </a:pPr>
            <a:r>
              <a:rPr dirty="0" sz="2000" spc="-10">
                <a:solidFill>
                  <a:srgbClr val="FF0000"/>
                </a:solidFill>
                <a:latin typeface="黑体"/>
                <a:cs typeface="黑体"/>
              </a:rPr>
              <a:t>即首次执行</a:t>
            </a:r>
            <a:endParaRPr sz="2000">
              <a:latin typeface="黑体"/>
              <a:cs typeface="黑体"/>
            </a:endParaRPr>
          </a:p>
        </p:txBody>
      </p:sp>
      <p:sp>
        <p:nvSpPr>
          <p:cNvPr id="72" name="object 72" descr=""/>
          <p:cNvSpPr txBox="1"/>
          <p:nvPr/>
        </p:nvSpPr>
        <p:spPr>
          <a:xfrm>
            <a:off x="10279760" y="4490973"/>
            <a:ext cx="1046480" cy="330835"/>
          </a:xfrm>
          <a:prstGeom prst="rect">
            <a:avLst/>
          </a:prstGeom>
        </p:spPr>
        <p:txBody>
          <a:bodyPr wrap="square" lIns="0" tIns="12700" rIns="0" bIns="0" rtlCol="0" vert="horz">
            <a:spAutoFit/>
          </a:bodyPr>
          <a:lstStyle/>
          <a:p>
            <a:pPr marL="12700">
              <a:lnSpc>
                <a:spcPct val="100000"/>
              </a:lnSpc>
              <a:spcBef>
                <a:spcPts val="100"/>
              </a:spcBef>
            </a:pPr>
            <a:r>
              <a:rPr dirty="0" sz="2000" spc="-15">
                <a:solidFill>
                  <a:srgbClr val="FF0000"/>
                </a:solidFill>
                <a:latin typeface="黑体"/>
                <a:cs typeface="黑体"/>
              </a:rPr>
              <a:t>预测成功</a:t>
            </a:r>
            <a:endParaRPr sz="2000">
              <a:latin typeface="黑体"/>
              <a:cs typeface="黑体"/>
            </a:endParaRPr>
          </a:p>
        </p:txBody>
      </p:sp>
      <p:sp>
        <p:nvSpPr>
          <p:cNvPr id="73" name="object 73" descr=""/>
          <p:cNvSpPr txBox="1"/>
          <p:nvPr/>
        </p:nvSpPr>
        <p:spPr>
          <a:xfrm>
            <a:off x="7975854" y="1537377"/>
            <a:ext cx="2315845" cy="878840"/>
          </a:xfrm>
          <a:prstGeom prst="rect">
            <a:avLst/>
          </a:prstGeom>
        </p:spPr>
        <p:txBody>
          <a:bodyPr wrap="square" lIns="0" tIns="133985" rIns="0" bIns="0" rtlCol="0" vert="horz">
            <a:spAutoFit/>
          </a:bodyPr>
          <a:lstStyle/>
          <a:p>
            <a:pPr marL="12700">
              <a:lnSpc>
                <a:spcPct val="100000"/>
              </a:lnSpc>
              <a:spcBef>
                <a:spcPts val="1055"/>
              </a:spcBef>
            </a:pPr>
            <a:r>
              <a:rPr dirty="0" sz="2000" spc="-10">
                <a:solidFill>
                  <a:srgbClr val="FF0000"/>
                </a:solidFill>
                <a:latin typeface="黑体"/>
                <a:cs typeface="黑体"/>
              </a:rPr>
              <a:t>在表中找到当前PC</a:t>
            </a:r>
            <a:r>
              <a:rPr dirty="0" sz="2000" spc="-50">
                <a:solidFill>
                  <a:srgbClr val="FF0000"/>
                </a:solidFill>
                <a:latin typeface="黑体"/>
                <a:cs typeface="黑体"/>
              </a:rPr>
              <a:t>值</a:t>
            </a:r>
            <a:endParaRPr sz="2000">
              <a:latin typeface="黑体"/>
              <a:cs typeface="黑体"/>
            </a:endParaRPr>
          </a:p>
          <a:p>
            <a:pPr marL="12700">
              <a:lnSpc>
                <a:spcPct val="100000"/>
              </a:lnSpc>
              <a:spcBef>
                <a:spcPts val="960"/>
              </a:spcBef>
            </a:pPr>
            <a:r>
              <a:rPr dirty="0" sz="2000" spc="-15">
                <a:solidFill>
                  <a:srgbClr val="FF0000"/>
                </a:solidFill>
                <a:latin typeface="黑体"/>
                <a:cs typeface="黑体"/>
              </a:rPr>
              <a:t>对应的分支目标地址</a:t>
            </a:r>
            <a:endParaRPr sz="2000">
              <a:latin typeface="黑体"/>
              <a:cs typeface="黑体"/>
            </a:endParaRPr>
          </a:p>
        </p:txBody>
      </p:sp>
      <p:sp>
        <p:nvSpPr>
          <p:cNvPr id="74" name="object 74" descr=""/>
          <p:cNvSpPr txBox="1"/>
          <p:nvPr/>
        </p:nvSpPr>
        <p:spPr>
          <a:xfrm>
            <a:off x="7822269" y="3685565"/>
            <a:ext cx="1649095" cy="653415"/>
          </a:xfrm>
          <a:prstGeom prst="rect">
            <a:avLst/>
          </a:prstGeom>
        </p:spPr>
        <p:txBody>
          <a:bodyPr wrap="square" lIns="0" tIns="55880" rIns="0" bIns="0" rtlCol="0" vert="horz">
            <a:spAutoFit/>
          </a:bodyPr>
          <a:lstStyle/>
          <a:p>
            <a:pPr marL="110489">
              <a:lnSpc>
                <a:spcPct val="100000"/>
              </a:lnSpc>
              <a:spcBef>
                <a:spcPts val="440"/>
              </a:spcBef>
            </a:pPr>
            <a:r>
              <a:rPr dirty="0" sz="2000" spc="-15">
                <a:solidFill>
                  <a:srgbClr val="FF0000"/>
                </a:solidFill>
                <a:latin typeface="黑体"/>
                <a:cs typeface="黑体"/>
              </a:rPr>
              <a:t>执行结果如何</a:t>
            </a:r>
            <a:endParaRPr sz="2000">
              <a:latin typeface="黑体"/>
              <a:cs typeface="黑体"/>
            </a:endParaRPr>
          </a:p>
          <a:p>
            <a:pPr marL="12700">
              <a:lnSpc>
                <a:spcPct val="100000"/>
              </a:lnSpc>
              <a:spcBef>
                <a:spcPts val="280"/>
              </a:spcBef>
            </a:pPr>
            <a:r>
              <a:rPr dirty="0" sz="1600" spc="60">
                <a:latin typeface="宋体"/>
                <a:cs typeface="宋体"/>
              </a:rPr>
              <a:t>当前分支成功？</a:t>
            </a:r>
            <a:endParaRPr sz="1600">
              <a:latin typeface="宋体"/>
              <a:cs typeface="宋体"/>
            </a:endParaRPr>
          </a:p>
        </p:txBody>
      </p:sp>
      <p:sp>
        <p:nvSpPr>
          <p:cNvPr id="75" name="object 75" descr=""/>
          <p:cNvSpPr txBox="1"/>
          <p:nvPr/>
        </p:nvSpPr>
        <p:spPr>
          <a:xfrm>
            <a:off x="3006344" y="5667552"/>
            <a:ext cx="914400" cy="330835"/>
          </a:xfrm>
          <a:prstGeom prst="rect">
            <a:avLst/>
          </a:prstGeom>
        </p:spPr>
        <p:txBody>
          <a:bodyPr wrap="square" lIns="0" tIns="12700" rIns="0" bIns="0" rtlCol="0" vert="horz">
            <a:spAutoFit/>
          </a:bodyPr>
          <a:lstStyle/>
          <a:p>
            <a:pPr marL="12700">
              <a:lnSpc>
                <a:spcPct val="100000"/>
              </a:lnSpc>
              <a:spcBef>
                <a:spcPts val="100"/>
              </a:spcBef>
            </a:pPr>
            <a:r>
              <a:rPr dirty="0" sz="2000" spc="-5">
                <a:solidFill>
                  <a:srgbClr val="FF0000"/>
                </a:solidFill>
                <a:latin typeface="黑体"/>
                <a:cs typeface="黑体"/>
              </a:rPr>
              <a:t>更新</a:t>
            </a:r>
            <a:r>
              <a:rPr dirty="0" sz="2000" spc="-25">
                <a:solidFill>
                  <a:srgbClr val="FF0000"/>
                </a:solidFill>
                <a:latin typeface="黑体"/>
                <a:cs typeface="黑体"/>
              </a:rPr>
              <a:t>BTB</a:t>
            </a:r>
            <a:endParaRPr sz="2000">
              <a:latin typeface="黑体"/>
              <a:cs typeface="黑体"/>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132/175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358264" y="107695"/>
            <a:ext cx="4090035"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78739" y="629355"/>
            <a:ext cx="12218670" cy="1049655"/>
          </a:xfrm>
          <a:prstGeom prst="rect">
            <a:avLst/>
          </a:prstGeom>
        </p:spPr>
        <p:txBody>
          <a:bodyPr wrap="square" lIns="0" tIns="12065" rIns="0" bIns="0" rtlCol="0" vert="horz">
            <a:spAutoFit/>
          </a:bodyPr>
          <a:lstStyle/>
          <a:p>
            <a:pPr marL="12700" marR="5080">
              <a:lnSpc>
                <a:spcPct val="140000"/>
              </a:lnSpc>
              <a:spcBef>
                <a:spcPts val="95"/>
              </a:spcBef>
              <a:tabLst>
                <a:tab pos="469265" algn="l"/>
              </a:tabLst>
            </a:pPr>
            <a:r>
              <a:rPr dirty="0" sz="2400" spc="-25">
                <a:solidFill>
                  <a:srgbClr val="40458B"/>
                </a:solidFill>
                <a:latin typeface="黑体"/>
                <a:cs typeface="黑体"/>
              </a:rPr>
              <a:t>3.</a:t>
            </a:r>
            <a:r>
              <a:rPr dirty="0" sz="2400">
                <a:solidFill>
                  <a:srgbClr val="40458B"/>
                </a:solidFill>
                <a:latin typeface="黑体"/>
                <a:cs typeface="黑体"/>
              </a:rPr>
              <a:t>	</a:t>
            </a:r>
            <a:r>
              <a:rPr dirty="0" sz="2400">
                <a:solidFill>
                  <a:srgbClr val="001F5F"/>
                </a:solidFill>
                <a:latin typeface="黑体"/>
                <a:cs typeface="黑体"/>
              </a:rPr>
              <a:t>采用</a:t>
            </a:r>
            <a:r>
              <a:rPr dirty="0" sz="2400" spc="-10">
                <a:solidFill>
                  <a:srgbClr val="001F5F"/>
                </a:solidFill>
                <a:latin typeface="黑体"/>
                <a:cs typeface="黑体"/>
              </a:rPr>
              <a:t>BTB</a:t>
            </a:r>
            <a:r>
              <a:rPr dirty="0" sz="2400">
                <a:solidFill>
                  <a:srgbClr val="001F5F"/>
                </a:solidFill>
                <a:latin typeface="黑体"/>
                <a:cs typeface="黑体"/>
              </a:rPr>
              <a:t>后的各种可能情况下的延迟(根据采用BTB</a:t>
            </a:r>
            <a:r>
              <a:rPr dirty="0" sz="2400" spc="-5">
                <a:solidFill>
                  <a:srgbClr val="001F5F"/>
                </a:solidFill>
                <a:latin typeface="黑体"/>
                <a:cs typeface="黑体"/>
              </a:rPr>
              <a:t>后，在流水线各个阶段所进行的相关操</a:t>
            </a:r>
            <a:r>
              <a:rPr dirty="0" sz="2400" spc="-15">
                <a:solidFill>
                  <a:srgbClr val="001F5F"/>
                </a:solidFill>
                <a:latin typeface="黑体"/>
                <a:cs typeface="黑体"/>
              </a:rPr>
              <a:t>作得出延迟的时间) ：</a:t>
            </a:r>
            <a:endParaRPr sz="2400">
              <a:latin typeface="黑体"/>
              <a:cs typeface="黑体"/>
            </a:endParaRPr>
          </a:p>
        </p:txBody>
      </p:sp>
      <p:graphicFrame>
        <p:nvGraphicFramePr>
          <p:cNvPr id="11" name="object 11" descr=""/>
          <p:cNvGraphicFramePr>
            <a:graphicFrameLocks noGrp="1"/>
          </p:cNvGraphicFramePr>
          <p:nvPr/>
        </p:nvGraphicFramePr>
        <p:xfrm>
          <a:off x="536575" y="2193861"/>
          <a:ext cx="7161530" cy="3510279"/>
        </p:xfrm>
        <a:graphic>
          <a:graphicData uri="http://schemas.openxmlformats.org/drawingml/2006/table">
            <a:tbl>
              <a:tblPr firstRow="1" bandRow="1">
                <a:tableStyleId>{2D5ABB26-0587-4C30-8999-92F81FD0307C}</a:tableStyleId>
              </a:tblPr>
              <a:tblGrid>
                <a:gridCol w="2520950"/>
                <a:gridCol w="1295400"/>
                <a:gridCol w="1728470"/>
                <a:gridCol w="1511300"/>
              </a:tblGrid>
              <a:tr h="704850">
                <a:tc>
                  <a:txBody>
                    <a:bodyPr/>
                    <a:lstStyle/>
                    <a:p>
                      <a:pPr algn="ctr">
                        <a:lnSpc>
                          <a:spcPct val="100000"/>
                        </a:lnSpc>
                        <a:spcBef>
                          <a:spcPts val="990"/>
                        </a:spcBef>
                      </a:pPr>
                      <a:r>
                        <a:rPr dirty="0" sz="2400" spc="-20" b="1">
                          <a:solidFill>
                            <a:srgbClr val="E14B04"/>
                          </a:solidFill>
                          <a:latin typeface="宋体"/>
                          <a:cs typeface="宋体"/>
                        </a:rPr>
                        <a:t>指令在BTB</a:t>
                      </a:r>
                      <a:r>
                        <a:rPr dirty="0" sz="2400" spc="-35" b="1">
                          <a:solidFill>
                            <a:srgbClr val="E14B04"/>
                          </a:solidFill>
                          <a:latin typeface="宋体"/>
                          <a:cs typeface="宋体"/>
                        </a:rPr>
                        <a:t>中？</a:t>
                      </a:r>
                      <a:endParaRPr sz="2400">
                        <a:latin typeface="宋体"/>
                        <a:cs typeface="宋体"/>
                      </a:endParaRPr>
                    </a:p>
                  </a:txBody>
                  <a:tcPr marL="0" marR="0" marB="0" marT="12573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990"/>
                        </a:spcBef>
                      </a:pPr>
                      <a:r>
                        <a:rPr dirty="0" sz="2400" spc="-35" b="1">
                          <a:solidFill>
                            <a:srgbClr val="E14B04"/>
                          </a:solidFill>
                          <a:latin typeface="宋体"/>
                          <a:cs typeface="宋体"/>
                        </a:rPr>
                        <a:t>预测</a:t>
                      </a:r>
                      <a:endParaRPr sz="2400">
                        <a:latin typeface="宋体"/>
                        <a:cs typeface="宋体"/>
                      </a:endParaRPr>
                    </a:p>
                  </a:txBody>
                  <a:tcPr marL="0" marR="0" marB="0" marT="12573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1270">
                        <a:lnSpc>
                          <a:spcPct val="100000"/>
                        </a:lnSpc>
                        <a:spcBef>
                          <a:spcPts val="990"/>
                        </a:spcBef>
                      </a:pPr>
                      <a:r>
                        <a:rPr dirty="0" sz="2400" spc="-30" b="1">
                          <a:solidFill>
                            <a:srgbClr val="E14B04"/>
                          </a:solidFill>
                          <a:latin typeface="宋体"/>
                          <a:cs typeface="宋体"/>
                        </a:rPr>
                        <a:t>实际情况</a:t>
                      </a:r>
                      <a:endParaRPr sz="2400">
                        <a:latin typeface="宋体"/>
                        <a:cs typeface="宋体"/>
                      </a:endParaRPr>
                    </a:p>
                  </a:txBody>
                  <a:tcPr marL="0" marR="0" marB="0" marT="12573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990"/>
                        </a:spcBef>
                      </a:pPr>
                      <a:r>
                        <a:rPr dirty="0" sz="2400" spc="-30" b="1">
                          <a:solidFill>
                            <a:srgbClr val="E14B04"/>
                          </a:solidFill>
                          <a:latin typeface="宋体"/>
                          <a:cs typeface="宋体"/>
                        </a:rPr>
                        <a:t>延迟周期</a:t>
                      </a:r>
                      <a:endParaRPr sz="2400">
                        <a:latin typeface="宋体"/>
                        <a:cs typeface="宋体"/>
                      </a:endParaRPr>
                    </a:p>
                  </a:txBody>
                  <a:tcPr marL="0" marR="0" marB="0" marT="12573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690245">
                <a:tc>
                  <a:txBody>
                    <a:bodyPr/>
                    <a:lstStyle/>
                    <a:p>
                      <a:pPr algn="ctr">
                        <a:lnSpc>
                          <a:spcPct val="100000"/>
                        </a:lnSpc>
                        <a:spcBef>
                          <a:spcPts val="990"/>
                        </a:spcBef>
                      </a:pPr>
                      <a:r>
                        <a:rPr dirty="0" sz="2400" spc="-50" b="1">
                          <a:solidFill>
                            <a:srgbClr val="40458B"/>
                          </a:solidFill>
                          <a:latin typeface="宋体"/>
                          <a:cs typeface="宋体"/>
                        </a:rPr>
                        <a:t>是</a:t>
                      </a:r>
                      <a:endParaRPr sz="2400">
                        <a:latin typeface="宋体"/>
                        <a:cs typeface="宋体"/>
                      </a:endParaRPr>
                    </a:p>
                  </a:txBody>
                  <a:tcPr marL="0" marR="0" marB="0" marT="12573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990"/>
                        </a:spcBef>
                      </a:pPr>
                      <a:r>
                        <a:rPr dirty="0" sz="2400" spc="-35" b="1">
                          <a:solidFill>
                            <a:srgbClr val="40458B"/>
                          </a:solidFill>
                          <a:latin typeface="宋体"/>
                          <a:cs typeface="宋体"/>
                        </a:rPr>
                        <a:t>成功</a:t>
                      </a:r>
                      <a:endParaRPr sz="2400">
                        <a:latin typeface="宋体"/>
                        <a:cs typeface="宋体"/>
                      </a:endParaRPr>
                    </a:p>
                  </a:txBody>
                  <a:tcPr marL="0" marR="0" marB="0" marT="12573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990"/>
                        </a:spcBef>
                      </a:pPr>
                      <a:r>
                        <a:rPr dirty="0" sz="2400" spc="-35" b="1">
                          <a:solidFill>
                            <a:srgbClr val="40458B"/>
                          </a:solidFill>
                          <a:latin typeface="宋体"/>
                          <a:cs typeface="宋体"/>
                        </a:rPr>
                        <a:t>成功</a:t>
                      </a:r>
                      <a:endParaRPr sz="2400">
                        <a:latin typeface="宋体"/>
                        <a:cs typeface="宋体"/>
                      </a:endParaRPr>
                    </a:p>
                  </a:txBody>
                  <a:tcPr marL="0" marR="0" marB="0" marT="12573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990"/>
                        </a:spcBef>
                      </a:pPr>
                      <a:r>
                        <a:rPr dirty="0" sz="2400" spc="-50" b="1">
                          <a:solidFill>
                            <a:srgbClr val="40458B"/>
                          </a:solidFill>
                          <a:latin typeface="宋体"/>
                          <a:cs typeface="宋体"/>
                        </a:rPr>
                        <a:t>0</a:t>
                      </a:r>
                      <a:endParaRPr sz="2400">
                        <a:latin typeface="宋体"/>
                        <a:cs typeface="宋体"/>
                      </a:endParaRPr>
                    </a:p>
                  </a:txBody>
                  <a:tcPr marL="0" marR="0" marB="0" marT="12573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704850">
                <a:tc>
                  <a:txBody>
                    <a:bodyPr/>
                    <a:lstStyle/>
                    <a:p>
                      <a:pPr algn="ctr">
                        <a:lnSpc>
                          <a:spcPct val="100000"/>
                        </a:lnSpc>
                        <a:spcBef>
                          <a:spcPts val="990"/>
                        </a:spcBef>
                      </a:pPr>
                      <a:r>
                        <a:rPr dirty="0" sz="2400" spc="-50" b="1">
                          <a:solidFill>
                            <a:srgbClr val="40458B"/>
                          </a:solidFill>
                          <a:latin typeface="宋体"/>
                          <a:cs typeface="宋体"/>
                        </a:rPr>
                        <a:t>是</a:t>
                      </a:r>
                      <a:endParaRPr sz="2400">
                        <a:latin typeface="宋体"/>
                        <a:cs typeface="宋体"/>
                      </a:endParaRPr>
                    </a:p>
                  </a:txBody>
                  <a:tcPr marL="0" marR="0" marB="0" marT="12573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990"/>
                        </a:spcBef>
                      </a:pPr>
                      <a:r>
                        <a:rPr dirty="0" sz="2400" spc="-35" b="1">
                          <a:solidFill>
                            <a:srgbClr val="40458B"/>
                          </a:solidFill>
                          <a:latin typeface="宋体"/>
                          <a:cs typeface="宋体"/>
                        </a:rPr>
                        <a:t>成功</a:t>
                      </a:r>
                      <a:endParaRPr sz="2400">
                        <a:latin typeface="宋体"/>
                        <a:cs typeface="宋体"/>
                      </a:endParaRPr>
                    </a:p>
                  </a:txBody>
                  <a:tcPr marL="0" marR="0" marB="0" marT="12573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990"/>
                        </a:spcBef>
                      </a:pPr>
                      <a:r>
                        <a:rPr dirty="0" sz="2400" spc="-35" b="1">
                          <a:solidFill>
                            <a:srgbClr val="40458B"/>
                          </a:solidFill>
                          <a:latin typeface="宋体"/>
                          <a:cs typeface="宋体"/>
                        </a:rPr>
                        <a:t>不成功</a:t>
                      </a:r>
                      <a:endParaRPr sz="2400">
                        <a:latin typeface="宋体"/>
                        <a:cs typeface="宋体"/>
                      </a:endParaRPr>
                    </a:p>
                  </a:txBody>
                  <a:tcPr marL="0" marR="0" marB="0" marT="12573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990"/>
                        </a:spcBef>
                      </a:pPr>
                      <a:r>
                        <a:rPr dirty="0" sz="2400" spc="-50" b="1">
                          <a:solidFill>
                            <a:srgbClr val="40458B"/>
                          </a:solidFill>
                          <a:latin typeface="宋体"/>
                          <a:cs typeface="宋体"/>
                        </a:rPr>
                        <a:t>2</a:t>
                      </a:r>
                      <a:endParaRPr sz="2400">
                        <a:latin typeface="宋体"/>
                        <a:cs typeface="宋体"/>
                      </a:endParaRPr>
                    </a:p>
                  </a:txBody>
                  <a:tcPr marL="0" marR="0" marB="0" marT="12573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706120">
                <a:tc>
                  <a:txBody>
                    <a:bodyPr/>
                    <a:lstStyle/>
                    <a:p>
                      <a:pPr algn="ctr">
                        <a:lnSpc>
                          <a:spcPct val="100000"/>
                        </a:lnSpc>
                        <a:spcBef>
                          <a:spcPts val="990"/>
                        </a:spcBef>
                      </a:pPr>
                      <a:r>
                        <a:rPr dirty="0" sz="2400" spc="-35" b="1">
                          <a:solidFill>
                            <a:srgbClr val="40458B"/>
                          </a:solidFill>
                          <a:latin typeface="宋体"/>
                          <a:cs typeface="宋体"/>
                        </a:rPr>
                        <a:t>不是</a:t>
                      </a:r>
                      <a:endParaRPr sz="2400">
                        <a:latin typeface="宋体"/>
                        <a:cs typeface="宋体"/>
                      </a:endParaRPr>
                    </a:p>
                  </a:txBody>
                  <a:tcPr marL="0" marR="0" marB="0" marT="12573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990"/>
                        </a:spcBef>
                      </a:pPr>
                      <a:r>
                        <a:rPr dirty="0" sz="2400" spc="-35" b="1">
                          <a:solidFill>
                            <a:srgbClr val="40458B"/>
                          </a:solidFill>
                          <a:latin typeface="宋体"/>
                          <a:cs typeface="宋体"/>
                        </a:rPr>
                        <a:t>成功</a:t>
                      </a:r>
                      <a:endParaRPr sz="2400">
                        <a:latin typeface="宋体"/>
                        <a:cs typeface="宋体"/>
                      </a:endParaRPr>
                    </a:p>
                  </a:txBody>
                  <a:tcPr marL="0" marR="0" marB="0" marT="12573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990"/>
                        </a:spcBef>
                      </a:pPr>
                      <a:r>
                        <a:rPr dirty="0" sz="2400" spc="-50" b="1">
                          <a:solidFill>
                            <a:srgbClr val="40458B"/>
                          </a:solidFill>
                          <a:latin typeface="宋体"/>
                          <a:cs typeface="宋体"/>
                        </a:rPr>
                        <a:t>2</a:t>
                      </a:r>
                      <a:endParaRPr sz="2400">
                        <a:latin typeface="宋体"/>
                        <a:cs typeface="宋体"/>
                      </a:endParaRPr>
                    </a:p>
                  </a:txBody>
                  <a:tcPr marL="0" marR="0" marB="0" marT="12573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704215">
                <a:tc>
                  <a:txBody>
                    <a:bodyPr/>
                    <a:lstStyle/>
                    <a:p>
                      <a:pPr algn="ctr">
                        <a:lnSpc>
                          <a:spcPct val="100000"/>
                        </a:lnSpc>
                        <a:spcBef>
                          <a:spcPts val="990"/>
                        </a:spcBef>
                      </a:pPr>
                      <a:r>
                        <a:rPr dirty="0" sz="2400" spc="-35" b="1">
                          <a:solidFill>
                            <a:srgbClr val="40458B"/>
                          </a:solidFill>
                          <a:latin typeface="宋体"/>
                          <a:cs typeface="宋体"/>
                        </a:rPr>
                        <a:t>不是</a:t>
                      </a:r>
                      <a:endParaRPr sz="2400">
                        <a:latin typeface="宋体"/>
                        <a:cs typeface="宋体"/>
                      </a:endParaRPr>
                    </a:p>
                  </a:txBody>
                  <a:tcPr marL="0" marR="0" marB="0" marT="12573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2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990"/>
                        </a:spcBef>
                      </a:pPr>
                      <a:r>
                        <a:rPr dirty="0" sz="2400" spc="-35" b="1">
                          <a:solidFill>
                            <a:srgbClr val="40458B"/>
                          </a:solidFill>
                          <a:latin typeface="宋体"/>
                          <a:cs typeface="宋体"/>
                        </a:rPr>
                        <a:t>不成功</a:t>
                      </a:r>
                      <a:endParaRPr sz="2400">
                        <a:latin typeface="宋体"/>
                        <a:cs typeface="宋体"/>
                      </a:endParaRPr>
                    </a:p>
                  </a:txBody>
                  <a:tcPr marL="0" marR="0" marB="0" marT="12573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990"/>
                        </a:spcBef>
                      </a:pPr>
                      <a:r>
                        <a:rPr dirty="0" sz="2400" spc="-50" b="1">
                          <a:solidFill>
                            <a:srgbClr val="40458B"/>
                          </a:solidFill>
                          <a:latin typeface="宋体"/>
                          <a:cs typeface="宋体"/>
                        </a:rPr>
                        <a:t>0</a:t>
                      </a:r>
                      <a:endParaRPr sz="2400">
                        <a:latin typeface="宋体"/>
                        <a:cs typeface="宋体"/>
                      </a:endParaRPr>
                    </a:p>
                  </a:txBody>
                  <a:tcPr marL="0" marR="0" marB="0" marT="12573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12" name="object 12" descr=""/>
          <p:cNvSpPr txBox="1"/>
          <p:nvPr/>
        </p:nvSpPr>
        <p:spPr>
          <a:xfrm>
            <a:off x="7848981" y="4326763"/>
            <a:ext cx="4180204" cy="2160270"/>
          </a:xfrm>
          <a:prstGeom prst="rect">
            <a:avLst/>
          </a:prstGeom>
        </p:spPr>
        <p:txBody>
          <a:bodyPr wrap="square" lIns="0" tIns="12700" rIns="0" bIns="0" rtlCol="0" vert="horz">
            <a:spAutoFit/>
          </a:bodyPr>
          <a:lstStyle/>
          <a:p>
            <a:pPr marL="12700" marR="158115">
              <a:lnSpc>
                <a:spcPct val="100000"/>
              </a:lnSpc>
              <a:spcBef>
                <a:spcPts val="100"/>
              </a:spcBef>
            </a:pPr>
            <a:r>
              <a:rPr dirty="0" sz="2000" spc="-10">
                <a:solidFill>
                  <a:srgbClr val="FF0000"/>
                </a:solidFill>
                <a:latin typeface="黑体"/>
                <a:cs typeface="黑体"/>
              </a:rPr>
              <a:t>如果预测错误或者在</a:t>
            </a:r>
            <a:r>
              <a:rPr dirty="0" sz="2000" spc="-35">
                <a:solidFill>
                  <a:srgbClr val="FF0000"/>
                </a:solidFill>
                <a:latin typeface="Tahoma"/>
                <a:cs typeface="Tahoma"/>
              </a:rPr>
              <a:t>BTB</a:t>
            </a:r>
            <a:r>
              <a:rPr dirty="0" sz="2000" spc="-15">
                <a:solidFill>
                  <a:srgbClr val="FF0000"/>
                </a:solidFill>
                <a:latin typeface="黑体"/>
                <a:cs typeface="黑体"/>
              </a:rPr>
              <a:t>中没有匹配</a:t>
            </a:r>
            <a:r>
              <a:rPr dirty="0" sz="2000" spc="-5">
                <a:solidFill>
                  <a:srgbClr val="FF0000"/>
                </a:solidFill>
                <a:latin typeface="黑体"/>
                <a:cs typeface="黑体"/>
              </a:rPr>
              <a:t>的项，会有至少</a:t>
            </a:r>
            <a:r>
              <a:rPr dirty="0" sz="2000" spc="-15">
                <a:solidFill>
                  <a:srgbClr val="FF0000"/>
                </a:solidFill>
                <a:latin typeface="Tahoma"/>
                <a:cs typeface="Tahoma"/>
              </a:rPr>
              <a:t>2</a:t>
            </a:r>
            <a:r>
              <a:rPr dirty="0" sz="2000" spc="-15">
                <a:solidFill>
                  <a:srgbClr val="FF0000"/>
                </a:solidFill>
                <a:latin typeface="黑体"/>
                <a:cs typeface="黑体"/>
              </a:rPr>
              <a:t>个时钟周期的延迟</a:t>
            </a:r>
            <a:endParaRPr sz="2000">
              <a:latin typeface="黑体"/>
              <a:cs typeface="黑体"/>
            </a:endParaRPr>
          </a:p>
          <a:p>
            <a:pPr marL="354965" indent="-342265">
              <a:lnSpc>
                <a:spcPct val="100000"/>
              </a:lnSpc>
              <a:buFont typeface="Wingdings"/>
              <a:buChar char=""/>
              <a:tabLst>
                <a:tab pos="354965" algn="l"/>
              </a:tabLst>
            </a:pPr>
            <a:r>
              <a:rPr dirty="0" sz="2000" spc="-5">
                <a:solidFill>
                  <a:srgbClr val="40458B"/>
                </a:solidFill>
                <a:latin typeface="黑体"/>
                <a:cs typeface="黑体"/>
              </a:rPr>
              <a:t>此时需要更新</a:t>
            </a:r>
            <a:r>
              <a:rPr dirty="0" sz="2000" spc="-35">
                <a:solidFill>
                  <a:srgbClr val="40458B"/>
                </a:solidFill>
                <a:latin typeface="Tahoma"/>
                <a:cs typeface="Tahoma"/>
              </a:rPr>
              <a:t>BTB</a:t>
            </a:r>
            <a:r>
              <a:rPr dirty="0" sz="2000" spc="-20">
                <a:solidFill>
                  <a:srgbClr val="40458B"/>
                </a:solidFill>
                <a:latin typeface="黑体"/>
                <a:cs typeface="黑体"/>
              </a:rPr>
              <a:t>中的项，需要花</a:t>
            </a:r>
            <a:endParaRPr sz="2000">
              <a:latin typeface="黑体"/>
              <a:cs typeface="黑体"/>
            </a:endParaRPr>
          </a:p>
          <a:p>
            <a:pPr marL="355600">
              <a:lnSpc>
                <a:spcPct val="100000"/>
              </a:lnSpc>
              <a:spcBef>
                <a:spcPts val="5"/>
              </a:spcBef>
            </a:pPr>
            <a:r>
              <a:rPr dirty="0" sz="2000" spc="-20">
                <a:solidFill>
                  <a:srgbClr val="40458B"/>
                </a:solidFill>
                <a:latin typeface="黑体"/>
                <a:cs typeface="黑体"/>
              </a:rPr>
              <a:t>费一个时钟周期</a:t>
            </a:r>
            <a:endParaRPr sz="2000">
              <a:latin typeface="黑体"/>
              <a:cs typeface="黑体"/>
            </a:endParaRPr>
          </a:p>
          <a:p>
            <a:pPr algn="just" marL="355600" marR="5080" indent="-342900">
              <a:lnSpc>
                <a:spcPct val="100000"/>
              </a:lnSpc>
              <a:buFont typeface="Wingdings"/>
              <a:buChar char=""/>
              <a:tabLst>
                <a:tab pos="355600" algn="l"/>
              </a:tabLst>
            </a:pPr>
            <a:r>
              <a:rPr dirty="0" sz="2000">
                <a:solidFill>
                  <a:srgbClr val="40458B"/>
                </a:solidFill>
                <a:latin typeface="黑体"/>
                <a:cs typeface="黑体"/>
              </a:rPr>
              <a:t>对</a:t>
            </a:r>
            <a:r>
              <a:rPr dirty="0" sz="2000" spc="-20">
                <a:solidFill>
                  <a:srgbClr val="40458B"/>
                </a:solidFill>
                <a:latin typeface="Tahoma"/>
                <a:cs typeface="Tahoma"/>
              </a:rPr>
              <a:t>BTB</a:t>
            </a:r>
            <a:r>
              <a:rPr dirty="0" sz="2000" spc="-20">
                <a:solidFill>
                  <a:srgbClr val="40458B"/>
                </a:solidFill>
                <a:latin typeface="黑体"/>
                <a:cs typeface="黑体"/>
              </a:rPr>
              <a:t>的项进行修改时，需要停止取指令，所以取新的指令又要花费</a:t>
            </a:r>
            <a:r>
              <a:rPr dirty="0" sz="2000" spc="-15">
                <a:solidFill>
                  <a:srgbClr val="40458B"/>
                </a:solidFill>
                <a:latin typeface="黑体"/>
                <a:cs typeface="黑体"/>
              </a:rPr>
              <a:t>一个时钟周期</a:t>
            </a:r>
            <a:endParaRPr sz="2000">
              <a:latin typeface="黑体"/>
              <a:cs typeface="黑体"/>
            </a:endParaRPr>
          </a:p>
        </p:txBody>
      </p:sp>
      <p:sp>
        <p:nvSpPr>
          <p:cNvPr id="13" name="object 13" descr=""/>
          <p:cNvSpPr/>
          <p:nvPr/>
        </p:nvSpPr>
        <p:spPr>
          <a:xfrm>
            <a:off x="7174356" y="4704969"/>
            <a:ext cx="650875" cy="178435"/>
          </a:xfrm>
          <a:custGeom>
            <a:avLst/>
            <a:gdLst/>
            <a:ahLst/>
            <a:cxnLst/>
            <a:rect l="l" t="t" r="r" b="b"/>
            <a:pathLst>
              <a:path w="650875" h="178435">
                <a:moveTo>
                  <a:pt x="575158" y="32391"/>
                </a:moveTo>
                <a:lnTo>
                  <a:pt x="0" y="168782"/>
                </a:lnTo>
                <a:lnTo>
                  <a:pt x="2286" y="178053"/>
                </a:lnTo>
                <a:lnTo>
                  <a:pt x="577373" y="41679"/>
                </a:lnTo>
                <a:lnTo>
                  <a:pt x="575158" y="32391"/>
                </a:lnTo>
                <a:close/>
              </a:path>
              <a:path w="650875" h="178435">
                <a:moveTo>
                  <a:pt x="638374" y="29463"/>
                </a:moveTo>
                <a:lnTo>
                  <a:pt x="587501" y="29463"/>
                </a:lnTo>
                <a:lnTo>
                  <a:pt x="589788" y="38734"/>
                </a:lnTo>
                <a:lnTo>
                  <a:pt x="577373" y="41679"/>
                </a:lnTo>
                <a:lnTo>
                  <a:pt x="585089" y="74040"/>
                </a:lnTo>
                <a:lnTo>
                  <a:pt x="638374" y="29463"/>
                </a:lnTo>
                <a:close/>
              </a:path>
              <a:path w="650875" h="178435">
                <a:moveTo>
                  <a:pt x="587501" y="29463"/>
                </a:moveTo>
                <a:lnTo>
                  <a:pt x="575158" y="32391"/>
                </a:lnTo>
                <a:lnTo>
                  <a:pt x="577373" y="41679"/>
                </a:lnTo>
                <a:lnTo>
                  <a:pt x="589788" y="38734"/>
                </a:lnTo>
                <a:lnTo>
                  <a:pt x="587501" y="29463"/>
                </a:lnTo>
                <a:close/>
              </a:path>
              <a:path w="650875" h="178435">
                <a:moveTo>
                  <a:pt x="567436" y="0"/>
                </a:moveTo>
                <a:lnTo>
                  <a:pt x="575158" y="32391"/>
                </a:lnTo>
                <a:lnTo>
                  <a:pt x="587501" y="29463"/>
                </a:lnTo>
                <a:lnTo>
                  <a:pt x="638374" y="29463"/>
                </a:lnTo>
                <a:lnTo>
                  <a:pt x="650367" y="19430"/>
                </a:lnTo>
                <a:lnTo>
                  <a:pt x="567436" y="0"/>
                </a:lnTo>
                <a:close/>
              </a:path>
            </a:pathLst>
          </a:custGeom>
          <a:solidFill>
            <a:srgbClr val="40458B"/>
          </a:solidFill>
        </p:spPr>
        <p:txBody>
          <a:bodyPr wrap="square" lIns="0" tIns="0" rIns="0" bIns="0" rtlCol="0"/>
          <a:lstStyle/>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133/175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197916" y="965708"/>
            <a:ext cx="11913870" cy="391160"/>
          </a:xfrm>
          <a:prstGeom prst="rect">
            <a:avLst/>
          </a:prstGeom>
        </p:spPr>
        <p:txBody>
          <a:bodyPr wrap="square" lIns="0" tIns="12700" rIns="0" bIns="0" rtlCol="0" vert="horz">
            <a:spAutoFit/>
          </a:bodyPr>
          <a:lstStyle/>
          <a:p>
            <a:pPr marL="12700">
              <a:lnSpc>
                <a:spcPct val="100000"/>
              </a:lnSpc>
              <a:spcBef>
                <a:spcPts val="100"/>
              </a:spcBef>
              <a:tabLst>
                <a:tab pos="469265" algn="l"/>
              </a:tabLst>
            </a:pPr>
            <a:r>
              <a:rPr dirty="0" sz="2400" spc="-25">
                <a:solidFill>
                  <a:srgbClr val="40458B"/>
                </a:solidFill>
                <a:latin typeface="黑体"/>
                <a:cs typeface="黑体"/>
              </a:rPr>
              <a:t>4.</a:t>
            </a:r>
            <a:r>
              <a:rPr dirty="0" sz="2400">
                <a:solidFill>
                  <a:srgbClr val="40458B"/>
                </a:solidFill>
                <a:latin typeface="黑体"/>
                <a:cs typeface="黑体"/>
              </a:rPr>
              <a:t>	</a:t>
            </a:r>
            <a:r>
              <a:rPr dirty="0" sz="2400">
                <a:solidFill>
                  <a:srgbClr val="001F5F"/>
                </a:solidFill>
                <a:latin typeface="黑体"/>
                <a:cs typeface="黑体"/>
              </a:rPr>
              <a:t>BTB的另一种形式—</a:t>
            </a:r>
            <a:r>
              <a:rPr dirty="0" sz="2400">
                <a:solidFill>
                  <a:srgbClr val="D50092"/>
                </a:solidFill>
                <a:latin typeface="黑体"/>
                <a:cs typeface="黑体"/>
              </a:rPr>
              <a:t>BTB与BHT</a:t>
            </a:r>
            <a:r>
              <a:rPr dirty="0" sz="2400" spc="-5">
                <a:solidFill>
                  <a:srgbClr val="D50092"/>
                </a:solidFill>
                <a:latin typeface="黑体"/>
                <a:cs typeface="黑体"/>
              </a:rPr>
              <a:t>联合协作</a:t>
            </a:r>
            <a:r>
              <a:rPr dirty="0" sz="2400">
                <a:solidFill>
                  <a:srgbClr val="001F5F"/>
                </a:solidFill>
                <a:latin typeface="黑体"/>
                <a:cs typeface="黑体"/>
              </a:rPr>
              <a:t>在分支目标缓冲器中增设一个至少是两位的</a:t>
            </a:r>
            <a:r>
              <a:rPr dirty="0" sz="2400" spc="-25">
                <a:solidFill>
                  <a:srgbClr val="D50092"/>
                </a:solidFill>
                <a:latin typeface="黑体"/>
                <a:cs typeface="黑体"/>
              </a:rPr>
              <a:t>“分</a:t>
            </a:r>
            <a:endParaRPr sz="2400">
              <a:latin typeface="黑体"/>
              <a:cs typeface="黑体"/>
            </a:endParaRPr>
          </a:p>
        </p:txBody>
      </p:sp>
      <p:sp>
        <p:nvSpPr>
          <p:cNvPr id="11" name="object 11" descr=""/>
          <p:cNvSpPr txBox="1"/>
          <p:nvPr/>
        </p:nvSpPr>
        <p:spPr>
          <a:xfrm>
            <a:off x="655116" y="1404315"/>
            <a:ext cx="2159635" cy="39179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D50092"/>
                </a:solidFill>
                <a:latin typeface="黑体"/>
                <a:cs typeface="黑体"/>
              </a:rPr>
              <a:t>支历史表”</a:t>
            </a:r>
            <a:r>
              <a:rPr dirty="0" sz="2400" spc="-30">
                <a:solidFill>
                  <a:srgbClr val="001F5F"/>
                </a:solidFill>
                <a:latin typeface="黑体"/>
                <a:cs typeface="黑体"/>
              </a:rPr>
              <a:t>字段</a:t>
            </a:r>
            <a:endParaRPr sz="2400">
              <a:latin typeface="黑体"/>
              <a:cs typeface="黑体"/>
            </a:endParaRPr>
          </a:p>
        </p:txBody>
      </p:sp>
      <p:sp>
        <p:nvSpPr>
          <p:cNvPr id="12" name="object 12" descr=""/>
          <p:cNvSpPr txBox="1"/>
          <p:nvPr/>
        </p:nvSpPr>
        <p:spPr>
          <a:xfrm>
            <a:off x="3627684" y="2304009"/>
            <a:ext cx="2160905" cy="365125"/>
          </a:xfrm>
          <a:prstGeom prst="rect">
            <a:avLst/>
          </a:prstGeom>
          <a:solidFill>
            <a:srgbClr val="FFCC99"/>
          </a:solidFill>
          <a:ln w="16866">
            <a:solidFill>
              <a:srgbClr val="000000"/>
            </a:solidFill>
          </a:ln>
        </p:spPr>
        <p:txBody>
          <a:bodyPr wrap="square" lIns="0" tIns="46990" rIns="0" bIns="0" rtlCol="0" vert="horz">
            <a:spAutoFit/>
          </a:bodyPr>
          <a:lstStyle/>
          <a:p>
            <a:pPr marL="251460">
              <a:lnSpc>
                <a:spcPct val="100000"/>
              </a:lnSpc>
              <a:spcBef>
                <a:spcPts val="370"/>
              </a:spcBef>
            </a:pPr>
            <a:r>
              <a:rPr dirty="0" sz="1700" spc="-105">
                <a:latin typeface="宋体"/>
                <a:cs typeface="宋体"/>
              </a:rPr>
              <a:t>当前取指令的地址</a:t>
            </a:r>
            <a:endParaRPr sz="1700">
              <a:latin typeface="宋体"/>
              <a:cs typeface="宋体"/>
            </a:endParaRPr>
          </a:p>
        </p:txBody>
      </p:sp>
      <p:sp>
        <p:nvSpPr>
          <p:cNvPr id="13" name="object 13" descr=""/>
          <p:cNvSpPr txBox="1"/>
          <p:nvPr/>
        </p:nvSpPr>
        <p:spPr>
          <a:xfrm>
            <a:off x="4748393" y="2944410"/>
            <a:ext cx="847090" cy="287655"/>
          </a:xfrm>
          <a:prstGeom prst="rect">
            <a:avLst/>
          </a:prstGeom>
        </p:spPr>
        <p:txBody>
          <a:bodyPr wrap="square" lIns="0" tIns="15240" rIns="0" bIns="0" rtlCol="0" vert="horz">
            <a:spAutoFit/>
          </a:bodyPr>
          <a:lstStyle/>
          <a:p>
            <a:pPr marL="12700">
              <a:lnSpc>
                <a:spcPct val="100000"/>
              </a:lnSpc>
              <a:spcBef>
                <a:spcPts val="120"/>
              </a:spcBef>
            </a:pPr>
            <a:r>
              <a:rPr dirty="0" sz="1700" spc="-95">
                <a:solidFill>
                  <a:srgbClr val="008000"/>
                </a:solidFill>
                <a:latin typeface="宋体"/>
                <a:cs typeface="宋体"/>
              </a:rPr>
              <a:t>相联查找</a:t>
            </a:r>
            <a:endParaRPr sz="1700">
              <a:latin typeface="宋体"/>
              <a:cs typeface="宋体"/>
            </a:endParaRPr>
          </a:p>
        </p:txBody>
      </p:sp>
      <p:grpSp>
        <p:nvGrpSpPr>
          <p:cNvPr id="14" name="object 14" descr=""/>
          <p:cNvGrpSpPr/>
          <p:nvPr/>
        </p:nvGrpSpPr>
        <p:grpSpPr>
          <a:xfrm>
            <a:off x="4638276" y="2668634"/>
            <a:ext cx="94615" cy="755015"/>
            <a:chOff x="4638276" y="2668634"/>
            <a:chExt cx="94615" cy="755015"/>
          </a:xfrm>
        </p:grpSpPr>
        <p:sp>
          <p:nvSpPr>
            <p:cNvPr id="15" name="object 15" descr=""/>
            <p:cNvSpPr/>
            <p:nvPr/>
          </p:nvSpPr>
          <p:spPr>
            <a:xfrm>
              <a:off x="4639900" y="2670226"/>
              <a:ext cx="91440" cy="751840"/>
            </a:xfrm>
            <a:custGeom>
              <a:avLst/>
              <a:gdLst/>
              <a:ahLst/>
              <a:cxnLst/>
              <a:rect l="l" t="t" r="r" b="b"/>
              <a:pathLst>
                <a:path w="91439" h="751839">
                  <a:moveTo>
                    <a:pt x="0" y="605994"/>
                  </a:moveTo>
                  <a:lnTo>
                    <a:pt x="45862" y="751233"/>
                  </a:lnTo>
                  <a:lnTo>
                    <a:pt x="75979" y="654706"/>
                  </a:lnTo>
                  <a:lnTo>
                    <a:pt x="34402" y="654706"/>
                  </a:lnTo>
                  <a:lnTo>
                    <a:pt x="34402" y="642534"/>
                  </a:lnTo>
                  <a:lnTo>
                    <a:pt x="0" y="605994"/>
                  </a:lnTo>
                  <a:close/>
                </a:path>
                <a:path w="91439" h="751839">
                  <a:moveTo>
                    <a:pt x="34402" y="642534"/>
                  </a:moveTo>
                  <a:lnTo>
                    <a:pt x="34402" y="654706"/>
                  </a:lnTo>
                  <a:lnTo>
                    <a:pt x="45862" y="654706"/>
                  </a:lnTo>
                  <a:lnTo>
                    <a:pt x="34402" y="642534"/>
                  </a:lnTo>
                  <a:close/>
                </a:path>
                <a:path w="91439" h="751839">
                  <a:moveTo>
                    <a:pt x="57321" y="0"/>
                  </a:moveTo>
                  <a:lnTo>
                    <a:pt x="34402" y="0"/>
                  </a:lnTo>
                  <a:lnTo>
                    <a:pt x="34402" y="642534"/>
                  </a:lnTo>
                  <a:lnTo>
                    <a:pt x="45862" y="654706"/>
                  </a:lnTo>
                  <a:lnTo>
                    <a:pt x="57321" y="642388"/>
                  </a:lnTo>
                  <a:lnTo>
                    <a:pt x="57321" y="0"/>
                  </a:lnTo>
                  <a:close/>
                </a:path>
                <a:path w="91439" h="751839">
                  <a:moveTo>
                    <a:pt x="57321" y="642388"/>
                  </a:moveTo>
                  <a:lnTo>
                    <a:pt x="45862" y="654706"/>
                  </a:lnTo>
                  <a:lnTo>
                    <a:pt x="57321" y="654706"/>
                  </a:lnTo>
                  <a:lnTo>
                    <a:pt x="57321" y="642388"/>
                  </a:lnTo>
                  <a:close/>
                </a:path>
                <a:path w="91439" h="751839">
                  <a:moveTo>
                    <a:pt x="91178" y="605994"/>
                  </a:moveTo>
                  <a:lnTo>
                    <a:pt x="57321" y="642388"/>
                  </a:lnTo>
                  <a:lnTo>
                    <a:pt x="57321" y="654706"/>
                  </a:lnTo>
                  <a:lnTo>
                    <a:pt x="75979" y="654706"/>
                  </a:lnTo>
                  <a:lnTo>
                    <a:pt x="91178" y="605994"/>
                  </a:lnTo>
                  <a:close/>
                </a:path>
              </a:pathLst>
            </a:custGeom>
            <a:solidFill>
              <a:srgbClr val="000000"/>
            </a:solidFill>
          </p:spPr>
          <p:txBody>
            <a:bodyPr wrap="square" lIns="0" tIns="0" rIns="0" bIns="0" rtlCol="0"/>
            <a:lstStyle/>
            <a:p/>
          </p:txBody>
        </p:sp>
        <p:sp>
          <p:nvSpPr>
            <p:cNvPr id="16" name="object 16" descr=""/>
            <p:cNvSpPr/>
            <p:nvPr/>
          </p:nvSpPr>
          <p:spPr>
            <a:xfrm>
              <a:off x="4639900" y="2670226"/>
              <a:ext cx="91440" cy="751840"/>
            </a:xfrm>
            <a:custGeom>
              <a:avLst/>
              <a:gdLst/>
              <a:ahLst/>
              <a:cxnLst/>
              <a:rect l="l" t="t" r="r" b="b"/>
              <a:pathLst>
                <a:path w="91439" h="751839">
                  <a:moveTo>
                    <a:pt x="57321" y="0"/>
                  </a:moveTo>
                  <a:lnTo>
                    <a:pt x="57321" y="654706"/>
                  </a:lnTo>
                  <a:lnTo>
                    <a:pt x="34402" y="654706"/>
                  </a:lnTo>
                  <a:lnTo>
                    <a:pt x="34402" y="0"/>
                  </a:lnTo>
                  <a:lnTo>
                    <a:pt x="57321" y="0"/>
                  </a:lnTo>
                  <a:close/>
                </a:path>
                <a:path w="91439" h="751839">
                  <a:moveTo>
                    <a:pt x="45862" y="654706"/>
                  </a:moveTo>
                  <a:lnTo>
                    <a:pt x="91178" y="605994"/>
                  </a:lnTo>
                  <a:lnTo>
                    <a:pt x="45862" y="751233"/>
                  </a:lnTo>
                  <a:lnTo>
                    <a:pt x="0" y="605994"/>
                  </a:lnTo>
                  <a:lnTo>
                    <a:pt x="45862" y="654706"/>
                  </a:lnTo>
                  <a:close/>
                </a:path>
              </a:pathLst>
            </a:custGeom>
            <a:ln w="3289">
              <a:solidFill>
                <a:srgbClr val="000000"/>
              </a:solidFill>
            </a:ln>
          </p:spPr>
          <p:txBody>
            <a:bodyPr wrap="square" lIns="0" tIns="0" rIns="0" bIns="0" rtlCol="0"/>
            <a:lstStyle/>
            <a:p/>
          </p:txBody>
        </p:sp>
      </p:grpSp>
      <p:graphicFrame>
        <p:nvGraphicFramePr>
          <p:cNvPr id="17" name="object 17" descr=""/>
          <p:cNvGraphicFramePr>
            <a:graphicFrameLocks noGrp="1"/>
          </p:cNvGraphicFramePr>
          <p:nvPr/>
        </p:nvGraphicFramePr>
        <p:xfrm>
          <a:off x="3523246" y="3405342"/>
          <a:ext cx="7098665" cy="1876425"/>
        </p:xfrm>
        <a:graphic>
          <a:graphicData uri="http://schemas.openxmlformats.org/drawingml/2006/table">
            <a:tbl>
              <a:tblPr firstRow="1" bandRow="1">
                <a:tableStyleId>{2D5ABB26-0587-4C30-8999-92F81FD0307C}</a:tableStyleId>
              </a:tblPr>
              <a:tblGrid>
                <a:gridCol w="2358390"/>
                <a:gridCol w="2315210"/>
                <a:gridCol w="2320925"/>
              </a:tblGrid>
              <a:tr h="283210">
                <a:tc>
                  <a:txBody>
                    <a:bodyPr/>
                    <a:lstStyle/>
                    <a:p>
                      <a:pPr algn="ctr" marR="23495">
                        <a:lnSpc>
                          <a:spcPct val="100000"/>
                        </a:lnSpc>
                        <a:spcBef>
                          <a:spcPts val="45"/>
                        </a:spcBef>
                      </a:pPr>
                      <a:r>
                        <a:rPr dirty="0" sz="1700" spc="-100">
                          <a:solidFill>
                            <a:srgbClr val="0000FF"/>
                          </a:solidFill>
                          <a:latin typeface="宋体"/>
                          <a:cs typeface="宋体"/>
                        </a:rPr>
                        <a:t>分支指令地址</a:t>
                      </a:r>
                      <a:endParaRPr sz="1700">
                        <a:latin typeface="宋体"/>
                        <a:cs typeface="宋体"/>
                      </a:endParaRPr>
                    </a:p>
                  </a:txBody>
                  <a:tcPr marL="0" marR="0" marB="0" marT="5715">
                    <a:lnL w="28575">
                      <a:solidFill>
                        <a:srgbClr val="000000"/>
                      </a:solidFill>
                      <a:prstDash val="solid"/>
                    </a:lnL>
                    <a:lnR w="76200">
                      <a:solidFill>
                        <a:srgbClr val="000000"/>
                      </a:solidFill>
                      <a:prstDash val="solid"/>
                    </a:lnR>
                    <a:lnT w="38100">
                      <a:solidFill>
                        <a:srgbClr val="000000"/>
                      </a:solidFill>
                      <a:prstDash val="solid"/>
                    </a:lnT>
                    <a:lnB w="19050">
                      <a:solidFill>
                        <a:srgbClr val="000000"/>
                      </a:solidFill>
                      <a:prstDash val="solid"/>
                    </a:lnB>
                    <a:solidFill>
                      <a:srgbClr val="FFFF99"/>
                    </a:solidFill>
                  </a:tcPr>
                </a:tc>
                <a:tc>
                  <a:txBody>
                    <a:bodyPr/>
                    <a:lstStyle/>
                    <a:p>
                      <a:pPr marL="476250">
                        <a:lnSpc>
                          <a:spcPts val="2020"/>
                        </a:lnSpc>
                        <a:spcBef>
                          <a:spcPts val="110"/>
                        </a:spcBef>
                      </a:pPr>
                      <a:r>
                        <a:rPr dirty="0" sz="1700" spc="-30">
                          <a:solidFill>
                            <a:srgbClr val="FF00FF"/>
                          </a:solidFill>
                          <a:latin typeface="宋体"/>
                          <a:cs typeface="宋体"/>
                        </a:rPr>
                        <a:t>分支历史表</a:t>
                      </a:r>
                      <a:r>
                        <a:rPr dirty="0" sz="1700" spc="-25">
                          <a:solidFill>
                            <a:srgbClr val="FF00FF"/>
                          </a:solidFill>
                          <a:latin typeface="宋体"/>
                          <a:cs typeface="宋体"/>
                        </a:rPr>
                        <a:t>BHT</a:t>
                      </a:r>
                      <a:endParaRPr sz="1700">
                        <a:latin typeface="宋体"/>
                        <a:cs typeface="宋体"/>
                      </a:endParaRPr>
                    </a:p>
                  </a:txBody>
                  <a:tcPr marL="0" marR="0" marB="0" marT="13970">
                    <a:lnL w="7620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CCFFCC"/>
                    </a:solidFill>
                  </a:tcPr>
                </a:tc>
                <a:tc>
                  <a:txBody>
                    <a:bodyPr/>
                    <a:lstStyle/>
                    <a:p>
                      <a:pPr algn="ctr" marR="53975">
                        <a:lnSpc>
                          <a:spcPct val="100000"/>
                        </a:lnSpc>
                        <a:spcBef>
                          <a:spcPts val="20"/>
                        </a:spcBef>
                      </a:pPr>
                      <a:r>
                        <a:rPr dirty="0" sz="1700" spc="-100">
                          <a:solidFill>
                            <a:srgbClr val="0000FF"/>
                          </a:solidFill>
                          <a:latin typeface="宋体"/>
                          <a:cs typeface="宋体"/>
                        </a:rPr>
                        <a:t>分支目标地址</a:t>
                      </a:r>
                      <a:endParaRPr sz="1700">
                        <a:latin typeface="宋体"/>
                        <a:cs typeface="宋体"/>
                      </a:endParaRPr>
                    </a:p>
                  </a:txBody>
                  <a:tcPr marL="0" marR="0" marB="0" marT="254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83210">
                <a:tc>
                  <a:txBody>
                    <a:bodyPr/>
                    <a:lstStyle/>
                    <a:p>
                      <a:pPr algn="ctr" marR="39370">
                        <a:lnSpc>
                          <a:spcPts val="1985"/>
                        </a:lnSpc>
                      </a:pPr>
                      <a:r>
                        <a:rPr dirty="0" sz="1700" spc="-25">
                          <a:latin typeface="宋体"/>
                          <a:cs typeface="宋体"/>
                        </a:rPr>
                        <a:t>A0</a:t>
                      </a:r>
                      <a:endParaRPr sz="1700">
                        <a:latin typeface="宋体"/>
                        <a:cs typeface="宋体"/>
                      </a:endParaRPr>
                    </a:p>
                  </a:txBody>
                  <a:tcPr marL="0" marR="0" marB="0" marT="0">
                    <a:lnL w="28575">
                      <a:solidFill>
                        <a:srgbClr val="000000"/>
                      </a:solidFill>
                      <a:prstDash val="solid"/>
                    </a:lnL>
                    <a:lnR w="7620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R="70485">
                        <a:lnSpc>
                          <a:spcPct val="100000"/>
                        </a:lnSpc>
                        <a:spcBef>
                          <a:spcPts val="35"/>
                        </a:spcBef>
                      </a:pPr>
                      <a:r>
                        <a:rPr dirty="0" sz="1700" spc="-25">
                          <a:latin typeface="宋体"/>
                          <a:cs typeface="宋体"/>
                        </a:rPr>
                        <a:t>T0</a:t>
                      </a:r>
                      <a:endParaRPr sz="1700">
                        <a:latin typeface="宋体"/>
                        <a:cs typeface="宋体"/>
                      </a:endParaRPr>
                    </a:p>
                  </a:txBody>
                  <a:tcPr marL="0" marR="0" marB="0" marT="4445">
                    <a:lnL w="7620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gn="ctr" marR="48260">
                        <a:lnSpc>
                          <a:spcPts val="1939"/>
                        </a:lnSpc>
                      </a:pPr>
                      <a:r>
                        <a:rPr dirty="0" sz="1700" spc="-25">
                          <a:latin typeface="宋体"/>
                          <a:cs typeface="宋体"/>
                        </a:rPr>
                        <a:t>P0</a:t>
                      </a:r>
                      <a:endParaRPr sz="170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83210">
                <a:tc>
                  <a:txBody>
                    <a:bodyPr/>
                    <a:lstStyle/>
                    <a:p>
                      <a:pPr algn="ctr" marR="55244">
                        <a:lnSpc>
                          <a:spcPts val="2039"/>
                        </a:lnSpc>
                      </a:pPr>
                      <a:r>
                        <a:rPr dirty="0" sz="1700" spc="-25">
                          <a:latin typeface="宋体"/>
                          <a:cs typeface="宋体"/>
                        </a:rPr>
                        <a:t>A1</a:t>
                      </a:r>
                      <a:endParaRPr sz="1700">
                        <a:latin typeface="宋体"/>
                        <a:cs typeface="宋体"/>
                      </a:endParaRPr>
                    </a:p>
                  </a:txBody>
                  <a:tcPr marL="0" marR="0" marB="0" marT="0">
                    <a:lnL w="28575">
                      <a:solidFill>
                        <a:srgbClr val="000000"/>
                      </a:solidFill>
                      <a:prstDash val="solid"/>
                    </a:lnL>
                    <a:lnR w="7620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R="86995">
                        <a:lnSpc>
                          <a:spcPct val="100000"/>
                        </a:lnSpc>
                        <a:spcBef>
                          <a:spcPts val="90"/>
                        </a:spcBef>
                      </a:pPr>
                      <a:r>
                        <a:rPr dirty="0" sz="1700" spc="-25">
                          <a:latin typeface="宋体"/>
                          <a:cs typeface="宋体"/>
                        </a:rPr>
                        <a:t>T1</a:t>
                      </a:r>
                      <a:endParaRPr sz="1700">
                        <a:latin typeface="宋体"/>
                        <a:cs typeface="宋体"/>
                      </a:endParaRPr>
                    </a:p>
                  </a:txBody>
                  <a:tcPr marL="0" marR="0" marB="0" marT="11430">
                    <a:lnL w="7620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gn="ctr" marR="64769">
                        <a:lnSpc>
                          <a:spcPts val="1995"/>
                        </a:lnSpc>
                      </a:pPr>
                      <a:r>
                        <a:rPr dirty="0" sz="1700" spc="-25">
                          <a:latin typeface="宋体"/>
                          <a:cs typeface="宋体"/>
                        </a:rPr>
                        <a:t>P1</a:t>
                      </a:r>
                      <a:endParaRPr sz="170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743585">
                <a:tc>
                  <a:txBody>
                    <a:bodyPr/>
                    <a:lstStyle/>
                    <a:p>
                      <a:pPr algn="ctr" marL="10795">
                        <a:lnSpc>
                          <a:spcPct val="100000"/>
                        </a:lnSpc>
                        <a:spcBef>
                          <a:spcPts val="1625"/>
                        </a:spcBef>
                      </a:pPr>
                      <a:r>
                        <a:rPr dirty="0" sz="2000" spc="-50">
                          <a:latin typeface="宋体"/>
                          <a:cs typeface="宋体"/>
                        </a:rPr>
                        <a:t>…</a:t>
                      </a:r>
                      <a:endParaRPr sz="2000">
                        <a:latin typeface="宋体"/>
                        <a:cs typeface="宋体"/>
                      </a:endParaRPr>
                    </a:p>
                  </a:txBody>
                  <a:tcPr marL="0" marR="0" marB="0" marT="206375">
                    <a:lnL w="28575">
                      <a:solidFill>
                        <a:srgbClr val="000000"/>
                      </a:solidFill>
                      <a:prstDash val="solid"/>
                    </a:lnL>
                    <a:lnR w="7620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R="99695">
                        <a:lnSpc>
                          <a:spcPct val="100000"/>
                        </a:lnSpc>
                        <a:spcBef>
                          <a:spcPts val="1720"/>
                        </a:spcBef>
                      </a:pPr>
                      <a:r>
                        <a:rPr dirty="0" sz="2000" spc="-50">
                          <a:latin typeface="宋体"/>
                          <a:cs typeface="宋体"/>
                        </a:rPr>
                        <a:t>…</a:t>
                      </a:r>
                      <a:endParaRPr sz="2000">
                        <a:latin typeface="宋体"/>
                        <a:cs typeface="宋体"/>
                      </a:endParaRPr>
                    </a:p>
                  </a:txBody>
                  <a:tcPr marL="0" marR="0" marB="0" marT="218440">
                    <a:lnL w="7620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gn="ctr" marR="45085">
                        <a:lnSpc>
                          <a:spcPct val="100000"/>
                        </a:lnSpc>
                        <a:spcBef>
                          <a:spcPts val="1695"/>
                        </a:spcBef>
                      </a:pPr>
                      <a:r>
                        <a:rPr dirty="0" sz="2000" spc="-50">
                          <a:latin typeface="宋体"/>
                          <a:cs typeface="宋体"/>
                        </a:rPr>
                        <a:t>…</a:t>
                      </a:r>
                      <a:endParaRPr sz="2000">
                        <a:latin typeface="宋体"/>
                        <a:cs typeface="宋体"/>
                      </a:endParaRPr>
                    </a:p>
                  </a:txBody>
                  <a:tcPr marL="0" marR="0" marB="0" marT="21526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83210">
                <a:tc>
                  <a:txBody>
                    <a:bodyPr/>
                    <a:lstStyle/>
                    <a:p>
                      <a:pPr algn="ctr" marR="43180">
                        <a:lnSpc>
                          <a:spcPts val="1920"/>
                        </a:lnSpc>
                      </a:pPr>
                      <a:r>
                        <a:rPr dirty="0" sz="1700" spc="-55">
                          <a:latin typeface="宋体"/>
                          <a:cs typeface="宋体"/>
                        </a:rPr>
                        <a:t>Ak-</a:t>
                      </a:r>
                      <a:r>
                        <a:rPr dirty="0" sz="1700" spc="-50">
                          <a:latin typeface="宋体"/>
                          <a:cs typeface="宋体"/>
                        </a:rPr>
                        <a:t>1</a:t>
                      </a:r>
                      <a:endParaRPr sz="1700">
                        <a:latin typeface="宋体"/>
                        <a:cs typeface="宋体"/>
                      </a:endParaRPr>
                    </a:p>
                  </a:txBody>
                  <a:tcPr marL="0" marR="0" marB="0" marT="0">
                    <a:lnL w="28575">
                      <a:solidFill>
                        <a:srgbClr val="000000"/>
                      </a:solidFill>
                      <a:prstDash val="solid"/>
                    </a:lnL>
                    <a:lnR w="76200">
                      <a:solidFill>
                        <a:srgbClr val="000000"/>
                      </a:solidFill>
                      <a:prstDash val="solid"/>
                    </a:lnR>
                    <a:lnT w="19050">
                      <a:solidFill>
                        <a:srgbClr val="000000"/>
                      </a:solidFill>
                      <a:prstDash val="solid"/>
                    </a:lnT>
                    <a:lnB w="28575">
                      <a:solidFill>
                        <a:srgbClr val="000000"/>
                      </a:solidFill>
                      <a:prstDash val="solid"/>
                    </a:lnB>
                    <a:solidFill>
                      <a:srgbClr val="FFFF99"/>
                    </a:solidFill>
                  </a:tcPr>
                </a:tc>
                <a:tc>
                  <a:txBody>
                    <a:bodyPr/>
                    <a:lstStyle/>
                    <a:p>
                      <a:pPr algn="ctr" marR="74930">
                        <a:lnSpc>
                          <a:spcPts val="1989"/>
                        </a:lnSpc>
                      </a:pPr>
                      <a:r>
                        <a:rPr dirty="0" sz="1700" spc="-55">
                          <a:latin typeface="宋体"/>
                          <a:cs typeface="宋体"/>
                        </a:rPr>
                        <a:t>Tk-</a:t>
                      </a:r>
                      <a:r>
                        <a:rPr dirty="0" sz="1700" spc="-50">
                          <a:latin typeface="宋体"/>
                          <a:cs typeface="宋体"/>
                        </a:rPr>
                        <a:t>1</a:t>
                      </a:r>
                      <a:endParaRPr sz="1700">
                        <a:latin typeface="宋体"/>
                        <a:cs typeface="宋体"/>
                      </a:endParaRPr>
                    </a:p>
                  </a:txBody>
                  <a:tcPr marL="0" marR="0" marB="0" marT="0">
                    <a:lnL w="76200">
                      <a:solidFill>
                        <a:srgbClr val="000000"/>
                      </a:solidFill>
                      <a:prstDash val="solid"/>
                    </a:lnL>
                    <a:lnR w="19050">
                      <a:solidFill>
                        <a:srgbClr val="000000"/>
                      </a:solidFill>
                      <a:prstDash val="solid"/>
                    </a:lnR>
                    <a:lnT w="19050">
                      <a:solidFill>
                        <a:srgbClr val="000000"/>
                      </a:solidFill>
                      <a:prstDash val="solid"/>
                    </a:lnT>
                    <a:lnB w="28575">
                      <a:solidFill>
                        <a:srgbClr val="000000"/>
                      </a:solidFill>
                      <a:prstDash val="solid"/>
                    </a:lnB>
                    <a:solidFill>
                      <a:srgbClr val="CCFFCC"/>
                    </a:solidFill>
                  </a:tcPr>
                </a:tc>
                <a:tc>
                  <a:txBody>
                    <a:bodyPr/>
                    <a:lstStyle/>
                    <a:p>
                      <a:pPr algn="ctr" marR="46990">
                        <a:lnSpc>
                          <a:spcPts val="1850"/>
                        </a:lnSpc>
                      </a:pPr>
                      <a:r>
                        <a:rPr dirty="0" sz="1700" spc="-55">
                          <a:latin typeface="宋体"/>
                          <a:cs typeface="宋体"/>
                        </a:rPr>
                        <a:t>Pk-</a:t>
                      </a:r>
                      <a:r>
                        <a:rPr dirty="0" sz="1700" spc="-50">
                          <a:latin typeface="宋体"/>
                          <a:cs typeface="宋体"/>
                        </a:rPr>
                        <a:t>1</a:t>
                      </a:r>
                      <a:endParaRPr sz="170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bl>
          </a:graphicData>
        </a:graphic>
      </p:graphicFrame>
      <p:sp>
        <p:nvSpPr>
          <p:cNvPr id="18" name="object 18" descr=""/>
          <p:cNvSpPr txBox="1"/>
          <p:nvPr/>
        </p:nvSpPr>
        <p:spPr>
          <a:xfrm>
            <a:off x="197916" y="2994405"/>
            <a:ext cx="3073400" cy="1877695"/>
          </a:xfrm>
          <a:prstGeom prst="rect">
            <a:avLst/>
          </a:prstGeom>
        </p:spPr>
        <p:txBody>
          <a:bodyPr wrap="square" lIns="0" tIns="35560" rIns="0" bIns="0" rtlCol="0" vert="horz">
            <a:spAutoFit/>
          </a:bodyPr>
          <a:lstStyle/>
          <a:p>
            <a:pPr marL="12700">
              <a:lnSpc>
                <a:spcPct val="100000"/>
              </a:lnSpc>
              <a:spcBef>
                <a:spcPts val="280"/>
              </a:spcBef>
            </a:pPr>
            <a:r>
              <a:rPr dirty="0" sz="2400" spc="-10">
                <a:solidFill>
                  <a:srgbClr val="FF0000"/>
                </a:solidFill>
                <a:latin typeface="黑体"/>
                <a:cs typeface="黑体"/>
              </a:rPr>
              <a:t>分支指令地址：</a:t>
            </a:r>
            <a:endParaRPr sz="2400">
              <a:latin typeface="黑体"/>
              <a:cs typeface="黑体"/>
            </a:endParaRPr>
          </a:p>
          <a:p>
            <a:pPr algn="just" marL="12700" marR="5080">
              <a:lnSpc>
                <a:spcPct val="98000"/>
              </a:lnSpc>
              <a:spcBef>
                <a:spcPts val="235"/>
              </a:spcBef>
            </a:pPr>
            <a:r>
              <a:rPr dirty="0" sz="2400" spc="-5">
                <a:solidFill>
                  <a:srgbClr val="40458B"/>
                </a:solidFill>
                <a:latin typeface="黑体"/>
                <a:cs typeface="黑体"/>
              </a:rPr>
              <a:t>存放的不止成功指令的</a:t>
            </a:r>
            <a:r>
              <a:rPr dirty="0" sz="2400" spc="-15">
                <a:solidFill>
                  <a:srgbClr val="40458B"/>
                </a:solidFill>
                <a:latin typeface="黑体"/>
                <a:cs typeface="黑体"/>
              </a:rPr>
              <a:t>地址，所有执行过的分</a:t>
            </a:r>
            <a:r>
              <a:rPr dirty="0" sz="2400" spc="-5">
                <a:solidFill>
                  <a:srgbClr val="40458B"/>
                </a:solidFill>
                <a:latin typeface="黑体"/>
                <a:cs typeface="黑体"/>
              </a:rPr>
              <a:t>支指令的地都可以放这</a:t>
            </a:r>
            <a:r>
              <a:rPr dirty="0" sz="2400" spc="-25">
                <a:solidFill>
                  <a:srgbClr val="40458B"/>
                </a:solidFill>
                <a:latin typeface="黑体"/>
                <a:cs typeface="黑体"/>
              </a:rPr>
              <a:t>里址</a:t>
            </a:r>
            <a:endParaRPr sz="2400">
              <a:latin typeface="黑体"/>
              <a:cs typeface="黑体"/>
            </a:endParaRPr>
          </a:p>
        </p:txBody>
      </p:sp>
      <p:sp>
        <p:nvSpPr>
          <p:cNvPr id="19" name="object 19" descr=""/>
          <p:cNvSpPr txBox="1"/>
          <p:nvPr/>
        </p:nvSpPr>
        <p:spPr>
          <a:xfrm>
            <a:off x="6197600" y="2656408"/>
            <a:ext cx="4187825" cy="391795"/>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FF0000"/>
                </a:solidFill>
                <a:latin typeface="黑体"/>
                <a:cs typeface="黑体"/>
              </a:rPr>
              <a:t>分支历史表</a:t>
            </a:r>
            <a:r>
              <a:rPr dirty="0" sz="2400" spc="-20">
                <a:solidFill>
                  <a:srgbClr val="FF0000"/>
                </a:solidFill>
                <a:latin typeface="Calibri"/>
                <a:cs typeface="Calibri"/>
              </a:rPr>
              <a:t>BHT</a:t>
            </a:r>
            <a:r>
              <a:rPr dirty="0" sz="2400" spc="-20">
                <a:solidFill>
                  <a:srgbClr val="FF0000"/>
                </a:solidFill>
                <a:latin typeface="黑体"/>
                <a:cs typeface="黑体"/>
              </a:rPr>
              <a:t>：</a:t>
            </a:r>
            <a:r>
              <a:rPr dirty="0" sz="2400" spc="-20">
                <a:solidFill>
                  <a:srgbClr val="40458B"/>
                </a:solidFill>
                <a:latin typeface="黑体"/>
                <a:cs typeface="黑体"/>
              </a:rPr>
              <a:t>预测转移方向</a:t>
            </a:r>
            <a:endParaRPr sz="2400">
              <a:latin typeface="黑体"/>
              <a:cs typeface="黑体"/>
            </a:endParaRPr>
          </a:p>
        </p:txBody>
      </p:sp>
      <p:sp>
        <p:nvSpPr>
          <p:cNvPr id="20" name="object 20" descr=""/>
          <p:cNvSpPr txBox="1"/>
          <p:nvPr/>
        </p:nvSpPr>
        <p:spPr>
          <a:xfrm>
            <a:off x="7060183" y="805434"/>
            <a:ext cx="2936240" cy="391160"/>
          </a:xfrm>
          <a:prstGeom prst="rect">
            <a:avLst/>
          </a:prstGeom>
        </p:spPr>
        <p:txBody>
          <a:bodyPr wrap="square" lIns="0" tIns="12700" rIns="0" bIns="0" rtlCol="0" vert="horz">
            <a:spAutoFit/>
          </a:bodyPr>
          <a:lstStyle/>
          <a:p>
            <a:pPr marL="12700">
              <a:lnSpc>
                <a:spcPct val="100000"/>
              </a:lnSpc>
              <a:spcBef>
                <a:spcPts val="100"/>
              </a:spcBef>
            </a:pPr>
            <a:r>
              <a:rPr dirty="0" sz="2400" spc="-30">
                <a:solidFill>
                  <a:srgbClr val="FF0000"/>
                </a:solidFill>
                <a:latin typeface="Calibri"/>
                <a:cs typeface="Calibri"/>
              </a:rPr>
              <a:t>BTB</a:t>
            </a:r>
            <a:r>
              <a:rPr dirty="0" sz="2400" spc="-10">
                <a:solidFill>
                  <a:srgbClr val="FF0000"/>
                </a:solidFill>
                <a:latin typeface="黑体"/>
                <a:cs typeface="黑体"/>
              </a:rPr>
              <a:t>提供分支目标地址</a:t>
            </a:r>
            <a:endParaRPr sz="2400">
              <a:latin typeface="黑体"/>
              <a:cs typeface="黑体"/>
            </a:endParaRPr>
          </a:p>
        </p:txBody>
      </p:sp>
      <p:sp>
        <p:nvSpPr>
          <p:cNvPr id="21" name="object 21" descr=""/>
          <p:cNvSpPr txBox="1"/>
          <p:nvPr/>
        </p:nvSpPr>
        <p:spPr>
          <a:xfrm>
            <a:off x="7128764" y="1170889"/>
            <a:ext cx="2968625" cy="391795"/>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Calibri"/>
                <a:cs typeface="Calibri"/>
              </a:rPr>
              <a:t>BHT</a:t>
            </a:r>
            <a:r>
              <a:rPr dirty="0" sz="2400" spc="-10">
                <a:solidFill>
                  <a:srgbClr val="FF0000"/>
                </a:solidFill>
                <a:latin typeface="黑体"/>
                <a:cs typeface="黑体"/>
              </a:rPr>
              <a:t>提供分支</a:t>
            </a:r>
            <a:r>
              <a:rPr dirty="0" sz="2400" spc="-20">
                <a:solidFill>
                  <a:srgbClr val="40458B"/>
                </a:solidFill>
                <a:latin typeface="黑体"/>
                <a:cs typeface="黑体"/>
              </a:rPr>
              <a:t>方向预测</a:t>
            </a:r>
            <a:endParaRPr sz="2400">
              <a:latin typeface="黑体"/>
              <a:cs typeface="黑体"/>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134/175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grpSp>
        <p:nvGrpSpPr>
          <p:cNvPr id="10" name="object 10" descr=""/>
          <p:cNvGrpSpPr/>
          <p:nvPr/>
        </p:nvGrpSpPr>
        <p:grpSpPr>
          <a:xfrm>
            <a:off x="3046462" y="2436827"/>
            <a:ext cx="2185035" cy="460375"/>
            <a:chOff x="3046462" y="2436827"/>
            <a:chExt cx="2185035" cy="460375"/>
          </a:xfrm>
        </p:grpSpPr>
        <p:sp>
          <p:nvSpPr>
            <p:cNvPr id="11" name="object 11" descr=""/>
            <p:cNvSpPr/>
            <p:nvPr/>
          </p:nvSpPr>
          <p:spPr>
            <a:xfrm>
              <a:off x="3056622" y="2446987"/>
              <a:ext cx="2164715" cy="440055"/>
            </a:xfrm>
            <a:custGeom>
              <a:avLst/>
              <a:gdLst/>
              <a:ahLst/>
              <a:cxnLst/>
              <a:rect l="l" t="t" r="r" b="b"/>
              <a:pathLst>
                <a:path w="2164715" h="440055">
                  <a:moveTo>
                    <a:pt x="2164636" y="0"/>
                  </a:moveTo>
                  <a:lnTo>
                    <a:pt x="0" y="0"/>
                  </a:lnTo>
                  <a:lnTo>
                    <a:pt x="0" y="439768"/>
                  </a:lnTo>
                  <a:lnTo>
                    <a:pt x="2164636" y="439768"/>
                  </a:lnTo>
                  <a:lnTo>
                    <a:pt x="2164636" y="0"/>
                  </a:lnTo>
                  <a:close/>
                </a:path>
              </a:pathLst>
            </a:custGeom>
            <a:solidFill>
              <a:srgbClr val="FFCC99"/>
            </a:solidFill>
          </p:spPr>
          <p:txBody>
            <a:bodyPr wrap="square" lIns="0" tIns="0" rIns="0" bIns="0" rtlCol="0"/>
            <a:lstStyle/>
            <a:p/>
          </p:txBody>
        </p:sp>
        <p:sp>
          <p:nvSpPr>
            <p:cNvPr id="12" name="object 12" descr=""/>
            <p:cNvSpPr/>
            <p:nvPr/>
          </p:nvSpPr>
          <p:spPr>
            <a:xfrm>
              <a:off x="3056622" y="2446987"/>
              <a:ext cx="2164715" cy="440055"/>
            </a:xfrm>
            <a:custGeom>
              <a:avLst/>
              <a:gdLst/>
              <a:ahLst/>
              <a:cxnLst/>
              <a:rect l="l" t="t" r="r" b="b"/>
              <a:pathLst>
                <a:path w="2164715" h="440055">
                  <a:moveTo>
                    <a:pt x="0" y="439768"/>
                  </a:moveTo>
                  <a:lnTo>
                    <a:pt x="2164636" y="439768"/>
                  </a:lnTo>
                  <a:lnTo>
                    <a:pt x="2164636" y="0"/>
                  </a:lnTo>
                  <a:lnTo>
                    <a:pt x="0" y="0"/>
                  </a:lnTo>
                  <a:lnTo>
                    <a:pt x="0" y="439768"/>
                  </a:lnTo>
                  <a:close/>
                </a:path>
              </a:pathLst>
            </a:custGeom>
            <a:ln w="20200">
              <a:solidFill>
                <a:srgbClr val="000000"/>
              </a:solidFill>
            </a:ln>
          </p:spPr>
          <p:txBody>
            <a:bodyPr wrap="square" lIns="0" tIns="0" rIns="0" bIns="0" rtlCol="0"/>
            <a:lstStyle/>
            <a:p/>
          </p:txBody>
        </p:sp>
      </p:grpSp>
      <p:sp>
        <p:nvSpPr>
          <p:cNvPr id="13" name="object 13" descr=""/>
          <p:cNvSpPr txBox="1"/>
          <p:nvPr/>
        </p:nvSpPr>
        <p:spPr>
          <a:xfrm>
            <a:off x="450291" y="675630"/>
            <a:ext cx="11304270" cy="2887980"/>
          </a:xfrm>
          <a:prstGeom prst="rect">
            <a:avLst/>
          </a:prstGeom>
        </p:spPr>
        <p:txBody>
          <a:bodyPr wrap="square" lIns="0" tIns="159385" rIns="0" bIns="0" rtlCol="0" vert="horz">
            <a:spAutoFit/>
          </a:bodyPr>
          <a:lstStyle/>
          <a:p>
            <a:pPr marL="12700">
              <a:lnSpc>
                <a:spcPct val="100000"/>
              </a:lnSpc>
              <a:spcBef>
                <a:spcPts val="1255"/>
              </a:spcBef>
              <a:tabLst>
                <a:tab pos="469265" algn="l"/>
              </a:tabLst>
            </a:pPr>
            <a:r>
              <a:rPr dirty="0" sz="2400" spc="-25">
                <a:solidFill>
                  <a:srgbClr val="40458B"/>
                </a:solidFill>
                <a:latin typeface="Tahoma"/>
                <a:cs typeface="Tahoma"/>
              </a:rPr>
              <a:t>5.</a:t>
            </a:r>
            <a:r>
              <a:rPr dirty="0" sz="2400">
                <a:solidFill>
                  <a:srgbClr val="40458B"/>
                </a:solidFill>
                <a:latin typeface="Tahoma"/>
                <a:cs typeface="Tahoma"/>
              </a:rPr>
              <a:t>	</a:t>
            </a:r>
            <a:r>
              <a:rPr dirty="0" sz="2400" spc="-10">
                <a:solidFill>
                  <a:srgbClr val="001F5F"/>
                </a:solidFill>
                <a:latin typeface="黑体"/>
                <a:cs typeface="黑体"/>
              </a:rPr>
              <a:t>更进一步（优化</a:t>
            </a:r>
            <a:r>
              <a:rPr dirty="0" sz="2400" spc="-50">
                <a:solidFill>
                  <a:srgbClr val="001F5F"/>
                </a:solidFill>
                <a:latin typeface="黑体"/>
                <a:cs typeface="黑体"/>
              </a:rPr>
              <a:t>）</a:t>
            </a:r>
            <a:endParaRPr sz="2400">
              <a:latin typeface="黑体"/>
              <a:cs typeface="黑体"/>
            </a:endParaRPr>
          </a:p>
          <a:p>
            <a:pPr algn="just" marL="12700" marR="5080">
              <a:lnSpc>
                <a:spcPct val="120000"/>
              </a:lnSpc>
              <a:spcBef>
                <a:spcPts val="580"/>
              </a:spcBef>
            </a:pPr>
            <a:r>
              <a:rPr dirty="0" sz="2400">
                <a:solidFill>
                  <a:srgbClr val="001F5F"/>
                </a:solidFill>
                <a:latin typeface="黑体"/>
                <a:cs typeface="黑体"/>
              </a:rPr>
              <a:t>在表中对于每条分支指令都存放若干条分支目标处的指令，就形成了</a:t>
            </a:r>
            <a:r>
              <a:rPr dirty="0" sz="2400" spc="-10">
                <a:solidFill>
                  <a:srgbClr val="D50092"/>
                </a:solidFill>
                <a:latin typeface="黑体"/>
                <a:cs typeface="黑体"/>
              </a:rPr>
              <a:t>分支目标指令缓</a:t>
            </a:r>
            <a:r>
              <a:rPr dirty="0" sz="2400">
                <a:solidFill>
                  <a:srgbClr val="D50092"/>
                </a:solidFill>
                <a:latin typeface="黑体"/>
                <a:cs typeface="黑体"/>
              </a:rPr>
              <a:t>冲器（</a:t>
            </a:r>
            <a:r>
              <a:rPr dirty="0" sz="2400" spc="-5">
                <a:solidFill>
                  <a:srgbClr val="D50092"/>
                </a:solidFill>
                <a:latin typeface="黑体"/>
                <a:cs typeface="黑体"/>
              </a:rPr>
              <a:t>若遇到分支指令，则可能一次提供分支目标处的多条指令，适合多流出处理器</a:t>
            </a:r>
            <a:r>
              <a:rPr dirty="0" sz="2400" spc="-10">
                <a:solidFill>
                  <a:srgbClr val="D50092"/>
                </a:solidFill>
                <a:latin typeface="黑体"/>
                <a:cs typeface="黑体"/>
              </a:rPr>
              <a:t>一次提供多条指令</a:t>
            </a:r>
            <a:r>
              <a:rPr dirty="0" sz="2400">
                <a:solidFill>
                  <a:srgbClr val="D50092"/>
                </a:solidFill>
                <a:latin typeface="黑体"/>
                <a:cs typeface="黑体"/>
              </a:rPr>
              <a:t>）</a:t>
            </a:r>
            <a:r>
              <a:rPr dirty="0" sz="2400" spc="-50">
                <a:solidFill>
                  <a:srgbClr val="001F5F"/>
                </a:solidFill>
                <a:latin typeface="黑体"/>
                <a:cs typeface="黑体"/>
              </a:rPr>
              <a:t>。</a:t>
            </a:r>
            <a:endParaRPr sz="2400">
              <a:latin typeface="黑体"/>
              <a:cs typeface="黑体"/>
            </a:endParaRPr>
          </a:p>
          <a:p>
            <a:pPr marL="2868295">
              <a:lnSpc>
                <a:spcPts val="1770"/>
              </a:lnSpc>
            </a:pPr>
            <a:r>
              <a:rPr dirty="0" sz="2050" spc="-465">
                <a:latin typeface="宋体"/>
                <a:cs typeface="宋体"/>
              </a:rPr>
              <a:t>当前取指令的地址</a:t>
            </a:r>
            <a:endParaRPr sz="2050">
              <a:latin typeface="宋体"/>
              <a:cs typeface="宋体"/>
            </a:endParaRPr>
          </a:p>
          <a:p>
            <a:pPr>
              <a:lnSpc>
                <a:spcPct val="100000"/>
              </a:lnSpc>
              <a:spcBef>
                <a:spcPts val="650"/>
              </a:spcBef>
            </a:pPr>
            <a:endParaRPr sz="2050">
              <a:latin typeface="宋体"/>
              <a:cs typeface="宋体"/>
            </a:endParaRPr>
          </a:p>
          <a:p>
            <a:pPr marL="3741420">
              <a:lnSpc>
                <a:spcPct val="100000"/>
              </a:lnSpc>
            </a:pPr>
            <a:r>
              <a:rPr dirty="0" sz="2050" spc="-470">
                <a:solidFill>
                  <a:srgbClr val="008000"/>
                </a:solidFill>
                <a:latin typeface="宋体"/>
                <a:cs typeface="宋体"/>
              </a:rPr>
              <a:t>相联查找</a:t>
            </a:r>
            <a:endParaRPr sz="2050">
              <a:latin typeface="宋体"/>
              <a:cs typeface="宋体"/>
            </a:endParaRPr>
          </a:p>
        </p:txBody>
      </p:sp>
      <p:grpSp>
        <p:nvGrpSpPr>
          <p:cNvPr id="14" name="object 14" descr=""/>
          <p:cNvGrpSpPr/>
          <p:nvPr/>
        </p:nvGrpSpPr>
        <p:grpSpPr>
          <a:xfrm>
            <a:off x="4069107" y="2886624"/>
            <a:ext cx="95250" cy="910590"/>
            <a:chOff x="4069107" y="2886624"/>
            <a:chExt cx="95250" cy="910590"/>
          </a:xfrm>
        </p:grpSpPr>
        <p:sp>
          <p:nvSpPr>
            <p:cNvPr id="15" name="object 15" descr=""/>
            <p:cNvSpPr/>
            <p:nvPr/>
          </p:nvSpPr>
          <p:spPr>
            <a:xfrm>
              <a:off x="4070842" y="2888219"/>
              <a:ext cx="91440" cy="907415"/>
            </a:xfrm>
            <a:custGeom>
              <a:avLst/>
              <a:gdLst/>
              <a:ahLst/>
              <a:cxnLst/>
              <a:rect l="l" t="t" r="r" b="b"/>
              <a:pathLst>
                <a:path w="91439" h="907414">
                  <a:moveTo>
                    <a:pt x="0" y="731532"/>
                  </a:moveTo>
                  <a:lnTo>
                    <a:pt x="45952" y="906872"/>
                  </a:lnTo>
                  <a:lnTo>
                    <a:pt x="76284" y="789745"/>
                  </a:lnTo>
                  <a:lnTo>
                    <a:pt x="34470" y="789745"/>
                  </a:lnTo>
                  <a:lnTo>
                    <a:pt x="34470" y="775199"/>
                  </a:lnTo>
                  <a:lnTo>
                    <a:pt x="0" y="731532"/>
                  </a:lnTo>
                  <a:close/>
                </a:path>
                <a:path w="91439" h="907414">
                  <a:moveTo>
                    <a:pt x="34470" y="775199"/>
                  </a:moveTo>
                  <a:lnTo>
                    <a:pt x="34470" y="789745"/>
                  </a:lnTo>
                  <a:lnTo>
                    <a:pt x="45952" y="789745"/>
                  </a:lnTo>
                  <a:lnTo>
                    <a:pt x="34470" y="775199"/>
                  </a:lnTo>
                  <a:close/>
                </a:path>
                <a:path w="91439" h="907414">
                  <a:moveTo>
                    <a:pt x="56888" y="0"/>
                  </a:moveTo>
                  <a:lnTo>
                    <a:pt x="34470" y="0"/>
                  </a:lnTo>
                  <a:lnTo>
                    <a:pt x="34470" y="775199"/>
                  </a:lnTo>
                  <a:lnTo>
                    <a:pt x="45952" y="789745"/>
                  </a:lnTo>
                  <a:lnTo>
                    <a:pt x="56888" y="775725"/>
                  </a:lnTo>
                  <a:lnTo>
                    <a:pt x="56888" y="0"/>
                  </a:lnTo>
                  <a:close/>
                </a:path>
                <a:path w="91439" h="907414">
                  <a:moveTo>
                    <a:pt x="56888" y="775725"/>
                  </a:moveTo>
                  <a:lnTo>
                    <a:pt x="45952" y="789745"/>
                  </a:lnTo>
                  <a:lnTo>
                    <a:pt x="56888" y="789745"/>
                  </a:lnTo>
                  <a:lnTo>
                    <a:pt x="56888" y="775725"/>
                  </a:lnTo>
                  <a:close/>
                </a:path>
                <a:path w="91439" h="907414">
                  <a:moveTo>
                    <a:pt x="91358" y="731532"/>
                  </a:moveTo>
                  <a:lnTo>
                    <a:pt x="56888" y="775725"/>
                  </a:lnTo>
                  <a:lnTo>
                    <a:pt x="56888" y="789745"/>
                  </a:lnTo>
                  <a:lnTo>
                    <a:pt x="76284" y="789745"/>
                  </a:lnTo>
                  <a:lnTo>
                    <a:pt x="91358" y="731532"/>
                  </a:lnTo>
                  <a:close/>
                </a:path>
              </a:pathLst>
            </a:custGeom>
            <a:solidFill>
              <a:srgbClr val="000000"/>
            </a:solidFill>
          </p:spPr>
          <p:txBody>
            <a:bodyPr wrap="square" lIns="0" tIns="0" rIns="0" bIns="0" rtlCol="0"/>
            <a:lstStyle/>
            <a:p/>
          </p:txBody>
        </p:sp>
        <p:sp>
          <p:nvSpPr>
            <p:cNvPr id="16" name="object 16" descr=""/>
            <p:cNvSpPr/>
            <p:nvPr/>
          </p:nvSpPr>
          <p:spPr>
            <a:xfrm>
              <a:off x="4070843" y="2888219"/>
              <a:ext cx="91440" cy="907415"/>
            </a:xfrm>
            <a:custGeom>
              <a:avLst/>
              <a:gdLst/>
              <a:ahLst/>
              <a:cxnLst/>
              <a:rect l="l" t="t" r="r" b="b"/>
              <a:pathLst>
                <a:path w="91439" h="907414">
                  <a:moveTo>
                    <a:pt x="56888" y="0"/>
                  </a:moveTo>
                  <a:lnTo>
                    <a:pt x="56888" y="789745"/>
                  </a:lnTo>
                  <a:lnTo>
                    <a:pt x="34470" y="789745"/>
                  </a:lnTo>
                  <a:lnTo>
                    <a:pt x="34470" y="0"/>
                  </a:lnTo>
                  <a:lnTo>
                    <a:pt x="56888" y="0"/>
                  </a:lnTo>
                  <a:close/>
                </a:path>
                <a:path w="91439" h="907414">
                  <a:moveTo>
                    <a:pt x="45952" y="789745"/>
                  </a:moveTo>
                  <a:lnTo>
                    <a:pt x="91358" y="731532"/>
                  </a:lnTo>
                  <a:lnTo>
                    <a:pt x="45952" y="906872"/>
                  </a:lnTo>
                  <a:lnTo>
                    <a:pt x="0" y="731532"/>
                  </a:lnTo>
                  <a:lnTo>
                    <a:pt x="45952" y="789745"/>
                  </a:lnTo>
                  <a:close/>
                </a:path>
              </a:pathLst>
            </a:custGeom>
            <a:ln w="3643">
              <a:solidFill>
                <a:srgbClr val="000000"/>
              </a:solidFill>
            </a:ln>
          </p:spPr>
          <p:txBody>
            <a:bodyPr wrap="square" lIns="0" tIns="0" rIns="0" bIns="0" rtlCol="0"/>
            <a:lstStyle/>
            <a:p/>
          </p:txBody>
        </p:sp>
      </p:grpSp>
      <p:graphicFrame>
        <p:nvGraphicFramePr>
          <p:cNvPr id="17" name="object 17" descr=""/>
          <p:cNvGraphicFramePr>
            <a:graphicFrameLocks noGrp="1"/>
          </p:cNvGraphicFramePr>
          <p:nvPr/>
        </p:nvGraphicFramePr>
        <p:xfrm>
          <a:off x="2950571" y="3784501"/>
          <a:ext cx="7377430" cy="2264410"/>
        </p:xfrm>
        <a:graphic>
          <a:graphicData uri="http://schemas.openxmlformats.org/drawingml/2006/table">
            <a:tbl>
              <a:tblPr firstRow="1" bandRow="1">
                <a:tableStyleId>{2D5ABB26-0587-4C30-8999-92F81FD0307C}</a:tableStyleId>
              </a:tblPr>
              <a:tblGrid>
                <a:gridCol w="2394585"/>
                <a:gridCol w="2295525"/>
                <a:gridCol w="2581274"/>
              </a:tblGrid>
              <a:tr h="347345">
                <a:tc>
                  <a:txBody>
                    <a:bodyPr/>
                    <a:lstStyle/>
                    <a:p>
                      <a:pPr algn="ctr" marR="54610">
                        <a:lnSpc>
                          <a:spcPct val="100000"/>
                        </a:lnSpc>
                        <a:spcBef>
                          <a:spcPts val="60"/>
                        </a:spcBef>
                      </a:pPr>
                      <a:r>
                        <a:rPr dirty="0" sz="2050" spc="-465">
                          <a:solidFill>
                            <a:srgbClr val="0000FF"/>
                          </a:solidFill>
                          <a:latin typeface="宋体"/>
                          <a:cs typeface="宋体"/>
                        </a:rPr>
                        <a:t>分支指令地址</a:t>
                      </a:r>
                      <a:endParaRPr sz="2050">
                        <a:latin typeface="宋体"/>
                        <a:cs typeface="宋体"/>
                      </a:endParaRPr>
                    </a:p>
                  </a:txBody>
                  <a:tcPr marL="0" marR="0" marB="0" marT="7620">
                    <a:lnL w="381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99"/>
                    </a:solidFill>
                  </a:tcPr>
                </a:tc>
                <a:tc>
                  <a:txBody>
                    <a:bodyPr/>
                    <a:lstStyle/>
                    <a:p>
                      <a:pPr marL="445770">
                        <a:lnSpc>
                          <a:spcPct val="100000"/>
                        </a:lnSpc>
                        <a:spcBef>
                          <a:spcPts val="140"/>
                        </a:spcBef>
                      </a:pPr>
                      <a:r>
                        <a:rPr dirty="0" sz="2050" spc="-480">
                          <a:solidFill>
                            <a:srgbClr val="0000FF"/>
                          </a:solidFill>
                          <a:latin typeface="宋体"/>
                          <a:cs typeface="宋体"/>
                        </a:rPr>
                        <a:t>分支历史表 </a:t>
                      </a:r>
                      <a:r>
                        <a:rPr dirty="0" sz="2050" spc="-25">
                          <a:solidFill>
                            <a:srgbClr val="0000FF"/>
                          </a:solidFill>
                          <a:latin typeface="宋体"/>
                          <a:cs typeface="宋体"/>
                        </a:rPr>
                        <a:t>BHT</a:t>
                      </a:r>
                      <a:endParaRPr sz="2050">
                        <a:latin typeface="宋体"/>
                        <a:cs typeface="宋体"/>
                      </a:endParaRPr>
                    </a:p>
                  </a:txBody>
                  <a:tcPr marL="0" marR="0" marB="0" marT="17780">
                    <a:lnL w="28575">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solidFill>
                      <a:srgbClr val="CCFFCC"/>
                    </a:solidFill>
                  </a:tcPr>
                </a:tc>
                <a:tc>
                  <a:txBody>
                    <a:bodyPr/>
                    <a:lstStyle/>
                    <a:p>
                      <a:pPr algn="r" marR="155575">
                        <a:lnSpc>
                          <a:spcPct val="100000"/>
                        </a:lnSpc>
                        <a:spcBef>
                          <a:spcPts val="140"/>
                        </a:spcBef>
                      </a:pPr>
                      <a:r>
                        <a:rPr dirty="0" sz="2050" spc="-459">
                          <a:solidFill>
                            <a:srgbClr val="FF00FF"/>
                          </a:solidFill>
                          <a:latin typeface="宋体"/>
                          <a:cs typeface="宋体"/>
                        </a:rPr>
                        <a:t>分支目标处的若干条指令</a:t>
                      </a:r>
                      <a:endParaRPr sz="2050">
                        <a:latin typeface="宋体"/>
                        <a:cs typeface="宋体"/>
                      </a:endParaRPr>
                    </a:p>
                  </a:txBody>
                  <a:tcPr marL="0" marR="0" marB="0" marT="17780">
                    <a:lnL w="381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CFFFF"/>
                    </a:solidFill>
                  </a:tcPr>
                </a:tc>
              </a:tr>
              <a:tr h="336550">
                <a:tc>
                  <a:txBody>
                    <a:bodyPr/>
                    <a:lstStyle/>
                    <a:p>
                      <a:pPr algn="ctr" marR="70485">
                        <a:lnSpc>
                          <a:spcPts val="2350"/>
                        </a:lnSpc>
                      </a:pPr>
                      <a:r>
                        <a:rPr dirty="0" sz="2050" spc="-25">
                          <a:latin typeface="宋体"/>
                          <a:cs typeface="宋体"/>
                        </a:rPr>
                        <a:t>A0</a:t>
                      </a:r>
                      <a:endParaRPr sz="2050">
                        <a:latin typeface="宋体"/>
                        <a:cs typeface="宋体"/>
                      </a:endParaRPr>
                    </a:p>
                  </a:txBody>
                  <a:tcPr marL="0" marR="0" marB="0" marT="0">
                    <a:lnL w="381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99"/>
                    </a:solidFill>
                  </a:tcPr>
                </a:tc>
                <a:tc>
                  <a:txBody>
                    <a:bodyPr/>
                    <a:lstStyle/>
                    <a:p>
                      <a:pPr algn="ctr" marR="108585">
                        <a:lnSpc>
                          <a:spcPts val="2460"/>
                        </a:lnSpc>
                      </a:pPr>
                      <a:r>
                        <a:rPr dirty="0" sz="2050" spc="-25">
                          <a:latin typeface="宋体"/>
                          <a:cs typeface="宋体"/>
                        </a:rPr>
                        <a:t>T0</a:t>
                      </a:r>
                      <a:endParaRPr sz="2050">
                        <a:latin typeface="宋体"/>
                        <a:cs typeface="宋体"/>
                      </a:endParaRPr>
                    </a:p>
                  </a:txBody>
                  <a:tcPr marL="0" marR="0" marB="0" marT="0">
                    <a:lnL w="28575">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solidFill>
                      <a:srgbClr val="CCFFCC"/>
                    </a:solidFill>
                  </a:tcPr>
                </a:tc>
                <a:tc>
                  <a:txBody>
                    <a:bodyPr/>
                    <a:lstStyle/>
                    <a:p>
                      <a:pPr marL="349885">
                        <a:lnSpc>
                          <a:spcPts val="2550"/>
                        </a:lnSpc>
                      </a:pPr>
                      <a:r>
                        <a:rPr dirty="0" baseline="2710" sz="3075" spc="-352">
                          <a:latin typeface="宋体"/>
                          <a:cs typeface="宋体"/>
                        </a:rPr>
                        <a:t>I</a:t>
                      </a:r>
                      <a:r>
                        <a:rPr dirty="0" sz="1050" spc="-235">
                          <a:latin typeface="宋体"/>
                          <a:cs typeface="宋体"/>
                        </a:rPr>
                        <a:t>0,0</a:t>
                      </a:r>
                      <a:r>
                        <a:rPr dirty="0" baseline="2710" sz="3075" spc="-352">
                          <a:latin typeface="宋体"/>
                          <a:cs typeface="宋体"/>
                        </a:rPr>
                        <a:t>，I</a:t>
                      </a:r>
                      <a:r>
                        <a:rPr dirty="0" sz="1050" spc="-235">
                          <a:latin typeface="宋体"/>
                          <a:cs typeface="宋体"/>
                        </a:rPr>
                        <a:t>0,1</a:t>
                      </a:r>
                      <a:r>
                        <a:rPr dirty="0" baseline="2710" sz="3075" spc="-352">
                          <a:latin typeface="宋体"/>
                          <a:cs typeface="宋体"/>
                        </a:rPr>
                        <a:t>，</a:t>
                      </a:r>
                      <a:r>
                        <a:rPr dirty="0" baseline="2314" sz="3600" spc="-352">
                          <a:latin typeface="宋体"/>
                          <a:cs typeface="宋体"/>
                        </a:rPr>
                        <a:t>…</a:t>
                      </a:r>
                      <a:r>
                        <a:rPr dirty="0" baseline="2710" sz="3075" spc="-352">
                          <a:latin typeface="宋体"/>
                          <a:cs typeface="宋体"/>
                        </a:rPr>
                        <a:t>，I</a:t>
                      </a:r>
                      <a:r>
                        <a:rPr dirty="0" sz="1050" spc="-235">
                          <a:latin typeface="宋体"/>
                          <a:cs typeface="宋体"/>
                        </a:rPr>
                        <a:t>0,n-</a:t>
                      </a:r>
                      <a:r>
                        <a:rPr dirty="0" sz="1050" spc="-50">
                          <a:latin typeface="宋体"/>
                          <a:cs typeface="宋体"/>
                        </a:rPr>
                        <a:t>1</a:t>
                      </a:r>
                      <a:endParaRPr sz="1050">
                        <a:latin typeface="宋体"/>
                        <a:cs typeface="宋体"/>
                      </a:endParaRPr>
                    </a:p>
                  </a:txBody>
                  <a:tcPr marL="0" marR="0" marB="0" marT="0">
                    <a:lnL w="381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CFFFF"/>
                    </a:solidFill>
                  </a:tcPr>
                </a:tc>
              </a:tr>
              <a:tr h="340995">
                <a:tc>
                  <a:txBody>
                    <a:bodyPr/>
                    <a:lstStyle/>
                    <a:p>
                      <a:pPr algn="ctr" marR="86995">
                        <a:lnSpc>
                          <a:spcPts val="2460"/>
                        </a:lnSpc>
                      </a:pPr>
                      <a:r>
                        <a:rPr dirty="0" sz="2050" spc="-25">
                          <a:latin typeface="宋体"/>
                          <a:cs typeface="宋体"/>
                        </a:rPr>
                        <a:t>A1</a:t>
                      </a:r>
                      <a:endParaRPr sz="2050">
                        <a:latin typeface="宋体"/>
                        <a:cs typeface="宋体"/>
                      </a:endParaRPr>
                    </a:p>
                  </a:txBody>
                  <a:tcPr marL="0" marR="0" marB="0" marT="0">
                    <a:lnL w="381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99"/>
                    </a:solidFill>
                  </a:tcPr>
                </a:tc>
                <a:tc>
                  <a:txBody>
                    <a:bodyPr/>
                    <a:lstStyle/>
                    <a:p>
                      <a:pPr algn="ctr" marR="125730">
                        <a:lnSpc>
                          <a:spcPct val="100000"/>
                        </a:lnSpc>
                        <a:spcBef>
                          <a:spcPts val="110"/>
                        </a:spcBef>
                      </a:pPr>
                      <a:r>
                        <a:rPr dirty="0" sz="2050" spc="-25">
                          <a:latin typeface="宋体"/>
                          <a:cs typeface="宋体"/>
                        </a:rPr>
                        <a:t>T1</a:t>
                      </a:r>
                      <a:endParaRPr sz="2050">
                        <a:latin typeface="宋体"/>
                        <a:cs typeface="宋体"/>
                      </a:endParaRPr>
                    </a:p>
                  </a:txBody>
                  <a:tcPr marL="0" marR="0" marB="0" marT="13970">
                    <a:lnL w="28575">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solidFill>
                      <a:srgbClr val="CCFFCC"/>
                    </a:solidFill>
                  </a:tcPr>
                </a:tc>
                <a:tc>
                  <a:txBody>
                    <a:bodyPr/>
                    <a:lstStyle/>
                    <a:p>
                      <a:pPr marL="349885">
                        <a:lnSpc>
                          <a:spcPts val="2590"/>
                        </a:lnSpc>
                      </a:pPr>
                      <a:r>
                        <a:rPr dirty="0" baseline="2710" sz="3075" spc="-352">
                          <a:latin typeface="宋体"/>
                          <a:cs typeface="宋体"/>
                        </a:rPr>
                        <a:t>I</a:t>
                      </a:r>
                      <a:r>
                        <a:rPr dirty="0" sz="1050" spc="-235">
                          <a:latin typeface="宋体"/>
                          <a:cs typeface="宋体"/>
                        </a:rPr>
                        <a:t>1,0</a:t>
                      </a:r>
                      <a:r>
                        <a:rPr dirty="0" baseline="2710" sz="3075" spc="-352">
                          <a:latin typeface="宋体"/>
                          <a:cs typeface="宋体"/>
                        </a:rPr>
                        <a:t>，I</a:t>
                      </a:r>
                      <a:r>
                        <a:rPr dirty="0" sz="1050" spc="-235">
                          <a:latin typeface="宋体"/>
                          <a:cs typeface="宋体"/>
                        </a:rPr>
                        <a:t>1,1</a:t>
                      </a:r>
                      <a:r>
                        <a:rPr dirty="0" baseline="2710" sz="3075" spc="-352">
                          <a:latin typeface="宋体"/>
                          <a:cs typeface="宋体"/>
                        </a:rPr>
                        <a:t>，</a:t>
                      </a:r>
                      <a:r>
                        <a:rPr dirty="0" baseline="2314" sz="3600" spc="-352">
                          <a:latin typeface="宋体"/>
                          <a:cs typeface="宋体"/>
                        </a:rPr>
                        <a:t>…</a:t>
                      </a:r>
                      <a:r>
                        <a:rPr dirty="0" baseline="2710" sz="3075" spc="-352">
                          <a:latin typeface="宋体"/>
                          <a:cs typeface="宋体"/>
                        </a:rPr>
                        <a:t>，I</a:t>
                      </a:r>
                      <a:r>
                        <a:rPr dirty="0" sz="1050" spc="-235">
                          <a:latin typeface="宋体"/>
                          <a:cs typeface="宋体"/>
                        </a:rPr>
                        <a:t>1,n-</a:t>
                      </a:r>
                      <a:r>
                        <a:rPr dirty="0" sz="1050" spc="-50">
                          <a:latin typeface="宋体"/>
                          <a:cs typeface="宋体"/>
                        </a:rPr>
                        <a:t>1</a:t>
                      </a:r>
                      <a:endParaRPr sz="1050">
                        <a:latin typeface="宋体"/>
                        <a:cs typeface="宋体"/>
                      </a:endParaRPr>
                    </a:p>
                  </a:txBody>
                  <a:tcPr marL="0" marR="0" marB="0" marT="0">
                    <a:lnL w="381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CFFFF"/>
                    </a:solidFill>
                  </a:tcPr>
                </a:tc>
              </a:tr>
              <a:tr h="897255">
                <a:tc>
                  <a:txBody>
                    <a:bodyPr/>
                    <a:lstStyle/>
                    <a:p>
                      <a:pPr algn="ctr" marR="12065">
                        <a:lnSpc>
                          <a:spcPct val="100000"/>
                        </a:lnSpc>
                        <a:spcBef>
                          <a:spcPts val="1975"/>
                        </a:spcBef>
                      </a:pPr>
                      <a:r>
                        <a:rPr dirty="0" sz="2400" spc="-580">
                          <a:latin typeface="宋体"/>
                          <a:cs typeface="宋体"/>
                        </a:rPr>
                        <a:t>…</a:t>
                      </a:r>
                      <a:endParaRPr sz="2400">
                        <a:latin typeface="宋体"/>
                        <a:cs typeface="宋体"/>
                      </a:endParaRPr>
                    </a:p>
                  </a:txBody>
                  <a:tcPr marL="0" marR="0" marB="0" marT="250825">
                    <a:lnL w="381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99"/>
                    </a:solidFill>
                  </a:tcPr>
                </a:tc>
                <a:tc>
                  <a:txBody>
                    <a:bodyPr/>
                    <a:lstStyle/>
                    <a:p>
                      <a:pPr algn="ctr" marR="138430">
                        <a:lnSpc>
                          <a:spcPct val="100000"/>
                        </a:lnSpc>
                        <a:spcBef>
                          <a:spcPts val="2090"/>
                        </a:spcBef>
                      </a:pPr>
                      <a:r>
                        <a:rPr dirty="0" sz="2400" spc="-580">
                          <a:latin typeface="宋体"/>
                          <a:cs typeface="宋体"/>
                        </a:rPr>
                        <a:t>…</a:t>
                      </a:r>
                      <a:endParaRPr sz="2400">
                        <a:latin typeface="宋体"/>
                        <a:cs typeface="宋体"/>
                      </a:endParaRPr>
                    </a:p>
                  </a:txBody>
                  <a:tcPr marL="0" marR="0" marB="0" marT="265430">
                    <a:lnL w="28575">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solidFill>
                      <a:srgbClr val="CCFFCC"/>
                    </a:solidFill>
                  </a:tcPr>
                </a:tc>
                <a:tc>
                  <a:txBody>
                    <a:bodyPr/>
                    <a:lstStyle/>
                    <a:p>
                      <a:pPr algn="ctr" marR="315595">
                        <a:lnSpc>
                          <a:spcPct val="100000"/>
                        </a:lnSpc>
                        <a:spcBef>
                          <a:spcPts val="2060"/>
                        </a:spcBef>
                      </a:pPr>
                      <a:r>
                        <a:rPr dirty="0" sz="2400" spc="-580">
                          <a:latin typeface="宋体"/>
                          <a:cs typeface="宋体"/>
                        </a:rPr>
                        <a:t>…</a:t>
                      </a:r>
                      <a:endParaRPr sz="2400">
                        <a:latin typeface="宋体"/>
                        <a:cs typeface="宋体"/>
                      </a:endParaRPr>
                    </a:p>
                  </a:txBody>
                  <a:tcPr marL="0" marR="0" marB="0" marT="261620">
                    <a:lnL w="381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CFFFF"/>
                    </a:solidFill>
                  </a:tcPr>
                </a:tc>
              </a:tr>
              <a:tr h="342265">
                <a:tc>
                  <a:txBody>
                    <a:bodyPr/>
                    <a:lstStyle/>
                    <a:p>
                      <a:pPr algn="ctr" marR="74295">
                        <a:lnSpc>
                          <a:spcPts val="2315"/>
                        </a:lnSpc>
                      </a:pPr>
                      <a:r>
                        <a:rPr dirty="0" sz="2050" spc="-229">
                          <a:latin typeface="宋体"/>
                          <a:cs typeface="宋体"/>
                        </a:rPr>
                        <a:t>Ak-</a:t>
                      </a:r>
                      <a:r>
                        <a:rPr dirty="0" sz="2050" spc="-50">
                          <a:latin typeface="宋体"/>
                          <a:cs typeface="宋体"/>
                        </a:rPr>
                        <a:t>1</a:t>
                      </a:r>
                      <a:endParaRPr sz="2050">
                        <a:latin typeface="宋体"/>
                        <a:cs typeface="宋体"/>
                      </a:endParaRPr>
                    </a:p>
                  </a:txBody>
                  <a:tcPr marL="0" marR="0" marB="0" marT="0">
                    <a:lnL w="381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99"/>
                    </a:solidFill>
                  </a:tcPr>
                </a:tc>
                <a:tc>
                  <a:txBody>
                    <a:bodyPr/>
                    <a:lstStyle/>
                    <a:p>
                      <a:pPr algn="ctr" marR="113030">
                        <a:lnSpc>
                          <a:spcPts val="2400"/>
                        </a:lnSpc>
                      </a:pPr>
                      <a:r>
                        <a:rPr dirty="0" sz="2050" spc="-229">
                          <a:latin typeface="宋体"/>
                          <a:cs typeface="宋体"/>
                        </a:rPr>
                        <a:t>Tk-</a:t>
                      </a:r>
                      <a:r>
                        <a:rPr dirty="0" sz="2050" spc="-50">
                          <a:latin typeface="宋体"/>
                          <a:cs typeface="宋体"/>
                        </a:rPr>
                        <a:t>1</a:t>
                      </a:r>
                      <a:endParaRPr sz="2050">
                        <a:latin typeface="宋体"/>
                        <a:cs typeface="宋体"/>
                      </a:endParaRPr>
                    </a:p>
                  </a:txBody>
                  <a:tcPr marL="0" marR="0" marB="0" marT="0">
                    <a:lnL w="28575">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solidFill>
                      <a:srgbClr val="CCFFCC"/>
                    </a:solidFill>
                  </a:tcPr>
                </a:tc>
                <a:tc>
                  <a:txBody>
                    <a:bodyPr/>
                    <a:lstStyle/>
                    <a:p>
                      <a:pPr algn="r" marR="184150">
                        <a:lnSpc>
                          <a:spcPts val="2595"/>
                        </a:lnSpc>
                      </a:pPr>
                      <a:r>
                        <a:rPr dirty="0" baseline="2710" sz="3075" spc="-247">
                          <a:latin typeface="宋体"/>
                          <a:cs typeface="宋体"/>
                        </a:rPr>
                        <a:t>I</a:t>
                      </a:r>
                      <a:r>
                        <a:rPr dirty="0" sz="1050" spc="-165">
                          <a:latin typeface="宋体"/>
                          <a:cs typeface="宋体"/>
                        </a:rPr>
                        <a:t>k-</a:t>
                      </a:r>
                      <a:r>
                        <a:rPr dirty="0" sz="1050" spc="-200">
                          <a:latin typeface="宋体"/>
                          <a:cs typeface="宋体"/>
                        </a:rPr>
                        <a:t>1,0</a:t>
                      </a:r>
                      <a:r>
                        <a:rPr dirty="0" baseline="2710" sz="3075" spc="-300">
                          <a:latin typeface="宋体"/>
                          <a:cs typeface="宋体"/>
                        </a:rPr>
                        <a:t>，I</a:t>
                      </a:r>
                      <a:r>
                        <a:rPr dirty="0" sz="1050" spc="-200">
                          <a:latin typeface="宋体"/>
                          <a:cs typeface="宋体"/>
                        </a:rPr>
                        <a:t>k-</a:t>
                      </a:r>
                      <a:r>
                        <a:rPr dirty="0" sz="1050" spc="-260">
                          <a:latin typeface="宋体"/>
                          <a:cs typeface="宋体"/>
                        </a:rPr>
                        <a:t>1,1</a:t>
                      </a:r>
                      <a:r>
                        <a:rPr dirty="0" baseline="2710" sz="3075" spc="-390">
                          <a:latin typeface="宋体"/>
                          <a:cs typeface="宋体"/>
                        </a:rPr>
                        <a:t>，</a:t>
                      </a:r>
                      <a:r>
                        <a:rPr dirty="0" baseline="2314" sz="3600" spc="-390">
                          <a:latin typeface="宋体"/>
                          <a:cs typeface="宋体"/>
                        </a:rPr>
                        <a:t>…</a:t>
                      </a:r>
                      <a:r>
                        <a:rPr dirty="0" baseline="2710" sz="3075" spc="-390">
                          <a:latin typeface="宋体"/>
                          <a:cs typeface="宋体"/>
                        </a:rPr>
                        <a:t>，I</a:t>
                      </a:r>
                      <a:r>
                        <a:rPr dirty="0" sz="1050" spc="-260">
                          <a:latin typeface="宋体"/>
                          <a:cs typeface="宋体"/>
                        </a:rPr>
                        <a:t>k-</a:t>
                      </a:r>
                      <a:r>
                        <a:rPr dirty="0" sz="1050" spc="-135">
                          <a:latin typeface="宋体"/>
                          <a:cs typeface="宋体"/>
                        </a:rPr>
                        <a:t>1,n-</a:t>
                      </a:r>
                      <a:r>
                        <a:rPr dirty="0" sz="1050" spc="-50">
                          <a:latin typeface="宋体"/>
                          <a:cs typeface="宋体"/>
                        </a:rPr>
                        <a:t>1</a:t>
                      </a:r>
                      <a:endParaRPr sz="1050">
                        <a:latin typeface="宋体"/>
                        <a:cs typeface="宋体"/>
                      </a:endParaRPr>
                    </a:p>
                  </a:txBody>
                  <a:tcPr marL="0" marR="0" marB="0" marT="0">
                    <a:lnL w="381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CFFFF"/>
                    </a:solidFill>
                  </a:tcPr>
                </a:tc>
              </a:tr>
            </a:tbl>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135/175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270763" y="2865882"/>
            <a:ext cx="6165850" cy="1050290"/>
          </a:xfrm>
          <a:prstGeom prst="rect">
            <a:avLst/>
          </a:prstGeom>
        </p:spPr>
        <p:txBody>
          <a:bodyPr wrap="square" lIns="0" tIns="158750" rIns="0" bIns="0" rtlCol="0" vert="horz">
            <a:spAutoFit/>
          </a:bodyPr>
          <a:lstStyle/>
          <a:p>
            <a:pPr marL="355600">
              <a:lnSpc>
                <a:spcPct val="100000"/>
              </a:lnSpc>
              <a:spcBef>
                <a:spcPts val="1250"/>
              </a:spcBef>
            </a:pPr>
            <a:r>
              <a:rPr dirty="0" sz="2400">
                <a:solidFill>
                  <a:srgbClr val="40458B"/>
                </a:solidFill>
                <a:latin typeface="黑体"/>
                <a:cs typeface="黑体"/>
              </a:rPr>
              <a:t>令。</a:t>
            </a:r>
            <a:r>
              <a:rPr dirty="0" sz="2400" spc="-50">
                <a:solidFill>
                  <a:srgbClr val="40458B"/>
                </a:solidFill>
                <a:latin typeface="黑体"/>
                <a:cs typeface="黑体"/>
              </a:rPr>
              <a:t>）</a:t>
            </a:r>
            <a:endParaRPr sz="2400">
              <a:latin typeface="黑体"/>
              <a:cs typeface="黑体"/>
            </a:endParaRPr>
          </a:p>
          <a:p>
            <a:pPr marL="354965" indent="-342265">
              <a:lnSpc>
                <a:spcPct val="100000"/>
              </a:lnSpc>
              <a:spcBef>
                <a:spcPts val="1155"/>
              </a:spcBef>
              <a:buFont typeface="Wingdings"/>
              <a:buChar char=""/>
              <a:tabLst>
                <a:tab pos="354965" algn="l"/>
              </a:tabLst>
            </a:pPr>
            <a:r>
              <a:rPr dirty="0" sz="2400" spc="-5">
                <a:solidFill>
                  <a:srgbClr val="40458B"/>
                </a:solidFill>
                <a:latin typeface="黑体"/>
                <a:cs typeface="黑体"/>
              </a:rPr>
              <a:t>乱序提交指的是一旦指令执行完毕且可以写</a:t>
            </a:r>
            <a:endParaRPr sz="2400">
              <a:latin typeface="黑体"/>
              <a:cs typeface="黑体"/>
            </a:endParaRPr>
          </a:p>
        </p:txBody>
      </p:sp>
      <p:pic>
        <p:nvPicPr>
          <p:cNvPr id="11" name="object 11" descr=""/>
          <p:cNvPicPr/>
          <p:nvPr/>
        </p:nvPicPr>
        <p:blipFill>
          <a:blip r:embed="rId2" cstate="print"/>
          <a:stretch>
            <a:fillRect/>
          </a:stretch>
        </p:blipFill>
        <p:spPr>
          <a:xfrm>
            <a:off x="6455105" y="3610483"/>
            <a:ext cx="238125" cy="250825"/>
          </a:xfrm>
          <a:prstGeom prst="rect">
            <a:avLst/>
          </a:prstGeom>
        </p:spPr>
      </p:pic>
      <p:sp>
        <p:nvSpPr>
          <p:cNvPr id="12" name="object 12" descr=""/>
          <p:cNvSpPr txBox="1"/>
          <p:nvPr/>
        </p:nvSpPr>
        <p:spPr>
          <a:xfrm>
            <a:off x="6715760" y="3524757"/>
            <a:ext cx="551751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a:t>
            </a:r>
            <a:r>
              <a:rPr dirty="0" sz="2400" spc="-5">
                <a:solidFill>
                  <a:srgbClr val="40458B"/>
                </a:solidFill>
                <a:latin typeface="黑体"/>
                <a:cs typeface="黑体"/>
              </a:rPr>
              <a:t>记分牌可能因为读后写冲突而不允许写</a:t>
            </a:r>
            <a:endParaRPr sz="2400">
              <a:latin typeface="黑体"/>
              <a:cs typeface="黑体"/>
            </a:endParaRPr>
          </a:p>
        </p:txBody>
      </p:sp>
      <p:pic>
        <p:nvPicPr>
          <p:cNvPr id="13" name="object 13" descr=""/>
          <p:cNvPicPr/>
          <p:nvPr/>
        </p:nvPicPr>
        <p:blipFill>
          <a:blip r:embed="rId2" cstate="print"/>
          <a:stretch>
            <a:fillRect/>
          </a:stretch>
        </p:blipFill>
        <p:spPr>
          <a:xfrm>
            <a:off x="3098952" y="4049395"/>
            <a:ext cx="238125" cy="250825"/>
          </a:xfrm>
          <a:prstGeom prst="rect">
            <a:avLst/>
          </a:prstGeom>
        </p:spPr>
      </p:pic>
      <p:pic>
        <p:nvPicPr>
          <p:cNvPr id="14" name="object 14" descr=""/>
          <p:cNvPicPr/>
          <p:nvPr/>
        </p:nvPicPr>
        <p:blipFill>
          <a:blip r:embed="rId2" cstate="print"/>
          <a:stretch>
            <a:fillRect/>
          </a:stretch>
        </p:blipFill>
        <p:spPr>
          <a:xfrm>
            <a:off x="658113" y="4049395"/>
            <a:ext cx="238124" cy="250825"/>
          </a:xfrm>
          <a:prstGeom prst="rect">
            <a:avLst/>
          </a:prstGeom>
        </p:spPr>
      </p:pic>
      <p:sp>
        <p:nvSpPr>
          <p:cNvPr id="15" name="object 15" descr=""/>
          <p:cNvSpPr txBox="1"/>
          <p:nvPr/>
        </p:nvSpPr>
        <p:spPr>
          <a:xfrm>
            <a:off x="270763" y="3817816"/>
            <a:ext cx="9665970" cy="1049655"/>
          </a:xfrm>
          <a:prstGeom prst="rect">
            <a:avLst/>
          </a:prstGeom>
        </p:spPr>
        <p:txBody>
          <a:bodyPr wrap="square" lIns="0" tIns="158115" rIns="0" bIns="0" rtlCol="0" vert="horz">
            <a:spAutoFit/>
          </a:bodyPr>
          <a:lstStyle/>
          <a:p>
            <a:pPr marL="660400">
              <a:lnSpc>
                <a:spcPct val="100000"/>
              </a:lnSpc>
              <a:spcBef>
                <a:spcPts val="1245"/>
              </a:spcBef>
              <a:tabLst>
                <a:tab pos="3101340" algn="l"/>
              </a:tabLst>
            </a:pPr>
            <a:r>
              <a:rPr dirty="0" sz="2400">
                <a:solidFill>
                  <a:srgbClr val="40458B"/>
                </a:solidFill>
                <a:latin typeface="黑体"/>
                <a:cs typeface="黑体"/>
              </a:rPr>
              <a:t>），那就立刻</a:t>
            </a:r>
            <a:r>
              <a:rPr dirty="0" sz="2400" spc="-50">
                <a:solidFill>
                  <a:srgbClr val="40458B"/>
                </a:solidFill>
                <a:latin typeface="黑体"/>
                <a:cs typeface="黑体"/>
              </a:rPr>
              <a:t>写</a:t>
            </a:r>
            <a:r>
              <a:rPr dirty="0" sz="2400">
                <a:solidFill>
                  <a:srgbClr val="40458B"/>
                </a:solidFill>
                <a:latin typeface="黑体"/>
                <a:cs typeface="黑体"/>
              </a:rPr>
              <a:t>	</a:t>
            </a:r>
            <a:r>
              <a:rPr dirty="0" sz="2400" spc="-50">
                <a:solidFill>
                  <a:srgbClr val="40458B"/>
                </a:solidFill>
                <a:latin typeface="黑体"/>
                <a:cs typeface="黑体"/>
              </a:rPr>
              <a:t>。</a:t>
            </a:r>
            <a:endParaRPr sz="2400">
              <a:latin typeface="黑体"/>
              <a:cs typeface="黑体"/>
            </a:endParaRPr>
          </a:p>
          <a:p>
            <a:pPr marL="354965" indent="-342265">
              <a:lnSpc>
                <a:spcPct val="100000"/>
              </a:lnSpc>
              <a:spcBef>
                <a:spcPts val="1155"/>
              </a:spcBef>
              <a:buFont typeface="Wingdings"/>
              <a:buChar char=""/>
              <a:tabLst>
                <a:tab pos="354965" algn="l"/>
              </a:tabLst>
            </a:pPr>
            <a:r>
              <a:rPr dirty="0" sz="2400" spc="-15">
                <a:solidFill>
                  <a:srgbClr val="40458B"/>
                </a:solidFill>
                <a:latin typeface="黑体"/>
                <a:cs typeface="黑体"/>
              </a:rPr>
              <a:t>一旦发生意外，硬件很难恢复现场，因为是乱序执行-----怎么处理？</a:t>
            </a:r>
            <a:endParaRPr sz="2400">
              <a:latin typeface="黑体"/>
              <a:cs typeface="黑体"/>
            </a:endParaRPr>
          </a:p>
        </p:txBody>
      </p:sp>
      <p:sp>
        <p:nvSpPr>
          <p:cNvPr id="16" name="object 16" descr=""/>
          <p:cNvSpPr txBox="1"/>
          <p:nvPr/>
        </p:nvSpPr>
        <p:spPr>
          <a:xfrm>
            <a:off x="270763" y="807161"/>
            <a:ext cx="12061190" cy="2157730"/>
          </a:xfrm>
          <a:prstGeom prst="rect">
            <a:avLst/>
          </a:prstGeom>
        </p:spPr>
        <p:txBody>
          <a:bodyPr wrap="square" lIns="0" tIns="13335" rIns="0" bIns="0" rtlCol="0" vert="horz">
            <a:spAutoFit/>
          </a:bodyPr>
          <a:lstStyle/>
          <a:p>
            <a:pPr marL="1025525">
              <a:lnSpc>
                <a:spcPts val="3040"/>
              </a:lnSpc>
              <a:spcBef>
                <a:spcPts val="105"/>
              </a:spcBef>
            </a:pPr>
            <a:r>
              <a:rPr dirty="0" sz="2600">
                <a:solidFill>
                  <a:srgbClr val="0000CC"/>
                </a:solidFill>
                <a:latin typeface="黑体"/>
                <a:cs typeface="黑体"/>
              </a:rPr>
              <a:t>5.4.3</a:t>
            </a:r>
            <a:r>
              <a:rPr dirty="0" sz="2600" spc="-15">
                <a:solidFill>
                  <a:srgbClr val="0000CC"/>
                </a:solidFill>
                <a:latin typeface="黑体"/>
                <a:cs typeface="黑体"/>
              </a:rPr>
              <a:t> 基于硬件的前</a:t>
            </a:r>
            <a:r>
              <a:rPr dirty="0" sz="2400" spc="-15">
                <a:solidFill>
                  <a:srgbClr val="0000CC"/>
                </a:solidFill>
                <a:latin typeface="黑体"/>
                <a:cs typeface="黑体"/>
              </a:rPr>
              <a:t>瞻</a:t>
            </a:r>
            <a:r>
              <a:rPr dirty="0" sz="2600" spc="-30">
                <a:solidFill>
                  <a:srgbClr val="0000CC"/>
                </a:solidFill>
                <a:latin typeface="黑体"/>
                <a:cs typeface="黑体"/>
              </a:rPr>
              <a:t>执行</a:t>
            </a:r>
            <a:endParaRPr sz="2600">
              <a:latin typeface="黑体"/>
              <a:cs typeface="黑体"/>
            </a:endParaRPr>
          </a:p>
          <a:p>
            <a:pPr marL="12700">
              <a:lnSpc>
                <a:spcPts val="2800"/>
              </a:lnSpc>
            </a:pPr>
            <a:r>
              <a:rPr dirty="0" sz="2400">
                <a:solidFill>
                  <a:srgbClr val="D50092"/>
                </a:solidFill>
                <a:latin typeface="黑体"/>
                <a:cs typeface="黑体"/>
              </a:rPr>
              <a:t>Tomasulo</a:t>
            </a:r>
            <a:r>
              <a:rPr dirty="0" sz="2400" spc="-20">
                <a:solidFill>
                  <a:srgbClr val="D50092"/>
                </a:solidFill>
                <a:latin typeface="黑体"/>
                <a:cs typeface="黑体"/>
              </a:rPr>
              <a:t>算法：</a:t>
            </a:r>
            <a:endParaRPr sz="2400">
              <a:latin typeface="黑体"/>
              <a:cs typeface="黑体"/>
            </a:endParaRPr>
          </a:p>
          <a:p>
            <a:pPr marL="47625" marR="5080" indent="-35560">
              <a:lnSpc>
                <a:spcPts val="3460"/>
              </a:lnSpc>
              <a:spcBef>
                <a:spcPts val="209"/>
              </a:spcBef>
              <a:buFont typeface="Wingdings"/>
              <a:buChar char=""/>
              <a:tabLst>
                <a:tab pos="47625" algn="l"/>
                <a:tab pos="770255" algn="l"/>
              </a:tabLst>
            </a:pPr>
            <a:r>
              <a:rPr dirty="0" sz="2400" spc="-5">
                <a:solidFill>
                  <a:srgbClr val="40458B"/>
                </a:solidFill>
                <a:latin typeface="黑体"/>
                <a:cs typeface="黑体"/>
              </a:rPr>
              <a:t>	</a:t>
            </a:r>
            <a:r>
              <a:rPr dirty="0" sz="2400" spc="-5">
                <a:solidFill>
                  <a:srgbClr val="40458B"/>
                </a:solidFill>
                <a:latin typeface="黑体"/>
                <a:cs typeface="黑体"/>
              </a:rPr>
              <a:t>通过寄存器换名、优化指令并行，并能处理数据依赖，但缺乏控制相关的处理；如果分支指令流出，该算法须等待分支指令执行结果或不等待但导致不精确处理；</a:t>
            </a:r>
            <a:endParaRPr sz="2400">
              <a:latin typeface="黑体"/>
              <a:cs typeface="黑体"/>
            </a:endParaRPr>
          </a:p>
          <a:p>
            <a:pPr marL="812800" indent="-800100">
              <a:lnSpc>
                <a:spcPct val="100000"/>
              </a:lnSpc>
              <a:spcBef>
                <a:spcPts val="935"/>
              </a:spcBef>
              <a:buFont typeface="Wingdings"/>
              <a:buChar char=""/>
              <a:tabLst>
                <a:tab pos="812800" algn="l"/>
              </a:tabLst>
            </a:pPr>
            <a:r>
              <a:rPr dirty="0" sz="2400" spc="-5">
                <a:solidFill>
                  <a:srgbClr val="40458B"/>
                </a:solidFill>
                <a:latin typeface="黑体"/>
                <a:cs typeface="黑体"/>
              </a:rPr>
              <a:t>此外，</a:t>
            </a:r>
            <a:r>
              <a:rPr dirty="0" sz="2400" spc="-10">
                <a:solidFill>
                  <a:srgbClr val="40458B"/>
                </a:solidFill>
                <a:latin typeface="黑体"/>
                <a:cs typeface="黑体"/>
              </a:rPr>
              <a:t>BTB</a:t>
            </a:r>
            <a:r>
              <a:rPr dirty="0" sz="2400">
                <a:solidFill>
                  <a:srgbClr val="40458B"/>
                </a:solidFill>
                <a:latin typeface="黑体"/>
                <a:cs typeface="黑体"/>
              </a:rPr>
              <a:t>只能准确预知分支但不能满足并行流水的速度（</a:t>
            </a:r>
            <a:r>
              <a:rPr dirty="0" sz="2400" spc="-5">
                <a:solidFill>
                  <a:srgbClr val="40458B"/>
                </a:solidFill>
                <a:latin typeface="黑体"/>
                <a:cs typeface="黑体"/>
              </a:rPr>
              <a:t>可能一个周期执行一个指</a:t>
            </a:r>
            <a:endParaRPr sz="2400">
              <a:latin typeface="黑体"/>
              <a:cs typeface="黑体"/>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136/175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pic>
        <p:nvPicPr>
          <p:cNvPr id="10" name="object 10" descr=""/>
          <p:cNvPicPr/>
          <p:nvPr/>
        </p:nvPicPr>
        <p:blipFill>
          <a:blip r:embed="rId2" cstate="print"/>
          <a:stretch>
            <a:fillRect/>
          </a:stretch>
        </p:blipFill>
        <p:spPr>
          <a:xfrm>
            <a:off x="8285734" y="2794889"/>
            <a:ext cx="238125" cy="250825"/>
          </a:xfrm>
          <a:prstGeom prst="rect">
            <a:avLst/>
          </a:prstGeom>
        </p:spPr>
      </p:pic>
      <p:sp>
        <p:nvSpPr>
          <p:cNvPr id="11" name="object 11" descr=""/>
          <p:cNvSpPr txBox="1"/>
          <p:nvPr/>
        </p:nvSpPr>
        <p:spPr>
          <a:xfrm>
            <a:off x="270763" y="807161"/>
            <a:ext cx="11952605" cy="3683635"/>
          </a:xfrm>
          <a:prstGeom prst="rect">
            <a:avLst/>
          </a:prstGeom>
        </p:spPr>
        <p:txBody>
          <a:bodyPr wrap="square" lIns="0" tIns="13335" rIns="0" bIns="0" rtlCol="0" vert="horz">
            <a:spAutoFit/>
          </a:bodyPr>
          <a:lstStyle/>
          <a:p>
            <a:pPr marL="1025525">
              <a:lnSpc>
                <a:spcPct val="100000"/>
              </a:lnSpc>
              <a:spcBef>
                <a:spcPts val="105"/>
              </a:spcBef>
            </a:pPr>
            <a:r>
              <a:rPr dirty="0" sz="2600">
                <a:solidFill>
                  <a:srgbClr val="0000CC"/>
                </a:solidFill>
                <a:latin typeface="黑体"/>
                <a:cs typeface="黑体"/>
              </a:rPr>
              <a:t>5.4.3</a:t>
            </a:r>
            <a:r>
              <a:rPr dirty="0" sz="2600" spc="-15">
                <a:solidFill>
                  <a:srgbClr val="0000CC"/>
                </a:solidFill>
                <a:latin typeface="黑体"/>
                <a:cs typeface="黑体"/>
              </a:rPr>
              <a:t> 基于硬件的前</a:t>
            </a:r>
            <a:r>
              <a:rPr dirty="0" sz="2400" spc="-15">
                <a:solidFill>
                  <a:srgbClr val="0000CC"/>
                </a:solidFill>
                <a:latin typeface="黑体"/>
                <a:cs typeface="黑体"/>
              </a:rPr>
              <a:t>瞻</a:t>
            </a:r>
            <a:r>
              <a:rPr dirty="0" sz="2600" spc="-30">
                <a:solidFill>
                  <a:srgbClr val="0000CC"/>
                </a:solidFill>
                <a:latin typeface="黑体"/>
                <a:cs typeface="黑体"/>
              </a:rPr>
              <a:t>执行</a:t>
            </a:r>
            <a:endParaRPr sz="2600">
              <a:latin typeface="黑体"/>
              <a:cs typeface="黑体"/>
            </a:endParaRPr>
          </a:p>
          <a:p>
            <a:pPr>
              <a:lnSpc>
                <a:spcPct val="100000"/>
              </a:lnSpc>
              <a:spcBef>
                <a:spcPts val="980"/>
              </a:spcBef>
            </a:pPr>
            <a:endParaRPr sz="2600">
              <a:latin typeface="黑体"/>
              <a:cs typeface="黑体"/>
            </a:endParaRPr>
          </a:p>
          <a:p>
            <a:pPr marL="12700">
              <a:lnSpc>
                <a:spcPct val="100000"/>
              </a:lnSpc>
            </a:pPr>
            <a:r>
              <a:rPr dirty="0" sz="2400">
                <a:solidFill>
                  <a:srgbClr val="D50092"/>
                </a:solidFill>
                <a:latin typeface="黑体"/>
                <a:cs typeface="黑体"/>
              </a:rPr>
              <a:t>前瞻执行</a:t>
            </a:r>
            <a:r>
              <a:rPr dirty="0" sz="2400">
                <a:solidFill>
                  <a:srgbClr val="9933FF"/>
                </a:solidFill>
                <a:latin typeface="黑体"/>
                <a:cs typeface="黑体"/>
              </a:rPr>
              <a:t>（speculation）</a:t>
            </a:r>
            <a:r>
              <a:rPr dirty="0" sz="2400" spc="-10">
                <a:solidFill>
                  <a:srgbClr val="001F5F"/>
                </a:solidFill>
                <a:latin typeface="黑体"/>
                <a:cs typeface="黑体"/>
              </a:rPr>
              <a:t>的基本思想：</a:t>
            </a:r>
            <a:endParaRPr sz="2400">
              <a:latin typeface="黑体"/>
              <a:cs typeface="黑体"/>
            </a:endParaRPr>
          </a:p>
          <a:p>
            <a:pPr marL="355600" marR="5080" indent="-342900">
              <a:lnSpc>
                <a:spcPct val="120000"/>
              </a:lnSpc>
              <a:spcBef>
                <a:spcPts val="580"/>
              </a:spcBef>
              <a:buFont typeface="Wingdings"/>
              <a:buChar char=""/>
              <a:tabLst>
                <a:tab pos="355600" algn="l"/>
                <a:tab pos="508000" algn="l"/>
                <a:tab pos="8288020" algn="l"/>
              </a:tabLst>
            </a:pPr>
            <a:r>
              <a:rPr dirty="0" sz="2400">
                <a:solidFill>
                  <a:srgbClr val="40458B"/>
                </a:solidFill>
                <a:latin typeface="Times New Roman"/>
                <a:cs typeface="Times New Roman"/>
              </a:rPr>
              <a:t>	</a:t>
            </a:r>
            <a:r>
              <a:rPr dirty="0" sz="2400">
                <a:solidFill>
                  <a:srgbClr val="001F5F"/>
                </a:solidFill>
                <a:latin typeface="黑体"/>
                <a:cs typeface="黑体"/>
              </a:rPr>
              <a:t>对分支指令的结果进行猜测，并假设这个猜测总是对的，然后按这个猜测结果继继</a:t>
            </a:r>
            <a:r>
              <a:rPr dirty="0" sz="2400" spc="-50">
                <a:solidFill>
                  <a:srgbClr val="001F5F"/>
                </a:solidFill>
                <a:latin typeface="黑体"/>
                <a:cs typeface="黑体"/>
              </a:rPr>
              <a:t>取</a:t>
            </a:r>
            <a:r>
              <a:rPr dirty="0" sz="2400">
                <a:solidFill>
                  <a:srgbClr val="001F5F"/>
                </a:solidFill>
                <a:latin typeface="黑体"/>
                <a:cs typeface="黑体"/>
              </a:rPr>
              <a:t>指、流出和执行后续的指令。只是执行指令的结果不是</a:t>
            </a:r>
            <a:r>
              <a:rPr dirty="0" sz="2400" spc="-50">
                <a:solidFill>
                  <a:srgbClr val="001F5F"/>
                </a:solidFill>
                <a:latin typeface="黑体"/>
                <a:cs typeface="黑体"/>
              </a:rPr>
              <a:t>写</a:t>
            </a:r>
            <a:r>
              <a:rPr dirty="0" sz="2400">
                <a:solidFill>
                  <a:srgbClr val="001F5F"/>
                </a:solidFill>
                <a:latin typeface="黑体"/>
                <a:cs typeface="黑体"/>
              </a:rPr>
              <a:t>	到寄存器或存储器，而</a:t>
            </a:r>
            <a:r>
              <a:rPr dirty="0" sz="2400" spc="-80">
                <a:solidFill>
                  <a:srgbClr val="001F5F"/>
                </a:solidFill>
                <a:latin typeface="黑体"/>
                <a:cs typeface="黑体"/>
              </a:rPr>
              <a:t>是</a:t>
            </a:r>
            <a:r>
              <a:rPr dirty="0" sz="2400" spc="-50">
                <a:solidFill>
                  <a:srgbClr val="001F5F"/>
                </a:solidFill>
                <a:latin typeface="黑体"/>
                <a:cs typeface="黑体"/>
              </a:rPr>
              <a:t>写</a:t>
            </a:r>
            <a:r>
              <a:rPr dirty="0" sz="2400">
                <a:solidFill>
                  <a:srgbClr val="001F5F"/>
                </a:solidFill>
                <a:latin typeface="黑体"/>
                <a:cs typeface="黑体"/>
              </a:rPr>
              <a:t>入一个称</a:t>
            </a:r>
            <a:r>
              <a:rPr dirty="0" sz="2400" spc="-10">
                <a:solidFill>
                  <a:srgbClr val="001F5F"/>
                </a:solidFill>
                <a:latin typeface="黑体"/>
                <a:cs typeface="黑体"/>
              </a:rPr>
              <a:t>为</a:t>
            </a:r>
            <a:r>
              <a:rPr dirty="0" sz="2400">
                <a:solidFill>
                  <a:srgbClr val="FF0000"/>
                </a:solidFill>
                <a:latin typeface="黑体"/>
                <a:cs typeface="黑体"/>
              </a:rPr>
              <a:t>再定序缓冲器</a:t>
            </a:r>
            <a:r>
              <a:rPr dirty="0" sz="2400">
                <a:solidFill>
                  <a:srgbClr val="FF0000"/>
                </a:solidFill>
                <a:latin typeface="Tahoma"/>
                <a:cs typeface="Tahoma"/>
              </a:rPr>
              <a:t>ROB</a:t>
            </a:r>
            <a:r>
              <a:rPr dirty="0" sz="2400">
                <a:solidFill>
                  <a:srgbClr val="9933FF"/>
                </a:solidFill>
                <a:latin typeface="黑体"/>
                <a:cs typeface="黑体"/>
              </a:rPr>
              <a:t>（</a:t>
            </a:r>
            <a:r>
              <a:rPr dirty="0" sz="2400">
                <a:solidFill>
                  <a:srgbClr val="9933FF"/>
                </a:solidFill>
                <a:latin typeface="Tahoma"/>
                <a:cs typeface="Tahoma"/>
              </a:rPr>
              <a:t>ReOrder</a:t>
            </a:r>
            <a:r>
              <a:rPr dirty="0" sz="2400" spc="-55">
                <a:solidFill>
                  <a:srgbClr val="9933FF"/>
                </a:solidFill>
                <a:latin typeface="Tahoma"/>
                <a:cs typeface="Tahoma"/>
              </a:rPr>
              <a:t> </a:t>
            </a:r>
            <a:r>
              <a:rPr dirty="0" sz="2400">
                <a:solidFill>
                  <a:srgbClr val="9933FF"/>
                </a:solidFill>
                <a:latin typeface="Tahoma"/>
                <a:cs typeface="Tahoma"/>
              </a:rPr>
              <a:t>Buffer</a:t>
            </a:r>
            <a:r>
              <a:rPr dirty="0" sz="2400">
                <a:solidFill>
                  <a:srgbClr val="9933FF"/>
                </a:solidFill>
                <a:latin typeface="黑体"/>
                <a:cs typeface="黑体"/>
              </a:rPr>
              <a:t>）</a:t>
            </a:r>
            <a:r>
              <a:rPr dirty="0" sz="2400">
                <a:solidFill>
                  <a:srgbClr val="001F5F"/>
                </a:solidFill>
                <a:latin typeface="黑体"/>
                <a:cs typeface="黑体"/>
              </a:rPr>
              <a:t>中</a:t>
            </a:r>
            <a:r>
              <a:rPr dirty="0" sz="2400" spc="-470">
                <a:solidFill>
                  <a:srgbClr val="001F5F"/>
                </a:solidFill>
                <a:latin typeface="黑体"/>
                <a:cs typeface="黑体"/>
              </a:rPr>
              <a:t> </a:t>
            </a:r>
            <a:r>
              <a:rPr dirty="0" sz="2400">
                <a:solidFill>
                  <a:srgbClr val="001F5F"/>
                </a:solidFill>
                <a:latin typeface="黑体"/>
                <a:cs typeface="黑体"/>
              </a:rPr>
              <a:t>。等到相应的指令得到</a:t>
            </a:r>
            <a:r>
              <a:rPr dirty="0" sz="2400">
                <a:solidFill>
                  <a:srgbClr val="D50092"/>
                </a:solidFill>
                <a:latin typeface="黑体"/>
                <a:cs typeface="黑体"/>
              </a:rPr>
              <a:t>“确认</a:t>
            </a:r>
            <a:r>
              <a:rPr dirty="0" sz="2400" spc="-50">
                <a:solidFill>
                  <a:srgbClr val="D50092"/>
                </a:solidFill>
                <a:latin typeface="黑体"/>
                <a:cs typeface="黑体"/>
              </a:rPr>
              <a:t>”</a:t>
            </a:r>
            <a:endParaRPr sz="2400">
              <a:latin typeface="黑体"/>
              <a:cs typeface="黑体"/>
            </a:endParaRPr>
          </a:p>
          <a:p>
            <a:pPr marL="355600">
              <a:lnSpc>
                <a:spcPct val="100000"/>
              </a:lnSpc>
              <a:spcBef>
                <a:spcPts val="575"/>
              </a:spcBef>
            </a:pPr>
            <a:r>
              <a:rPr dirty="0" sz="2400" spc="-10">
                <a:solidFill>
                  <a:srgbClr val="9933FF"/>
                </a:solidFill>
                <a:latin typeface="黑体"/>
                <a:cs typeface="黑体"/>
              </a:rPr>
              <a:t>（commit）</a:t>
            </a:r>
            <a:r>
              <a:rPr dirty="0" sz="2400" spc="-10">
                <a:solidFill>
                  <a:srgbClr val="001F5F"/>
                </a:solidFill>
                <a:latin typeface="黑体"/>
                <a:cs typeface="黑体"/>
              </a:rPr>
              <a:t>（</a:t>
            </a:r>
            <a:r>
              <a:rPr dirty="0" sz="2400">
                <a:solidFill>
                  <a:srgbClr val="001F5F"/>
                </a:solidFill>
                <a:latin typeface="黑体"/>
                <a:cs typeface="黑体"/>
              </a:rPr>
              <a:t>即确实是应该执行的）</a:t>
            </a:r>
            <a:r>
              <a:rPr dirty="0" sz="2400" spc="-5">
                <a:solidFill>
                  <a:srgbClr val="001F5F"/>
                </a:solidFill>
                <a:latin typeface="黑体"/>
                <a:cs typeface="黑体"/>
              </a:rPr>
              <a:t>之后，才将结果写入寄存器或存储器。</a:t>
            </a:r>
            <a:endParaRPr sz="2400">
              <a:latin typeface="黑体"/>
              <a:cs typeface="黑体"/>
            </a:endParaRPr>
          </a:p>
          <a:p>
            <a:pPr marL="354965" indent="-342265">
              <a:lnSpc>
                <a:spcPct val="100000"/>
              </a:lnSpc>
              <a:spcBef>
                <a:spcPts val="1150"/>
              </a:spcBef>
              <a:buClr>
                <a:srgbClr val="40458B"/>
              </a:buClr>
              <a:buFont typeface="Wingdings"/>
              <a:buChar char=""/>
              <a:tabLst>
                <a:tab pos="354965" algn="l"/>
              </a:tabLst>
            </a:pPr>
            <a:r>
              <a:rPr dirty="0" sz="2400" spc="-5">
                <a:solidFill>
                  <a:srgbClr val="001F5F"/>
                </a:solidFill>
                <a:latin typeface="黑体"/>
                <a:cs typeface="黑体"/>
              </a:rPr>
              <a:t>重排序缓存的目的是让乱序执行的指令被顺序地提交</a:t>
            </a:r>
            <a:endParaRPr sz="2400">
              <a:latin typeface="黑体"/>
              <a:cs typeface="黑体"/>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137/175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270763" y="1142234"/>
            <a:ext cx="11760835" cy="3903345"/>
          </a:xfrm>
          <a:prstGeom prst="rect">
            <a:avLst/>
          </a:prstGeom>
        </p:spPr>
        <p:txBody>
          <a:bodyPr wrap="square" lIns="0" tIns="12065" rIns="0" bIns="0" rtlCol="0" vert="horz">
            <a:spAutoFit/>
          </a:bodyPr>
          <a:lstStyle/>
          <a:p>
            <a:pPr marL="469900" marR="5080" indent="-457834">
              <a:lnSpc>
                <a:spcPct val="120000"/>
              </a:lnSpc>
              <a:spcBef>
                <a:spcPts val="95"/>
              </a:spcBef>
              <a:buClr>
                <a:srgbClr val="40458B"/>
              </a:buClr>
              <a:buFont typeface="Wingdings"/>
              <a:buChar char=""/>
              <a:tabLst>
                <a:tab pos="469900" algn="l"/>
              </a:tabLst>
            </a:pPr>
            <a:r>
              <a:rPr dirty="0" sz="2400">
                <a:solidFill>
                  <a:srgbClr val="FF0000"/>
                </a:solidFill>
                <a:latin typeface="黑体"/>
                <a:cs typeface="黑体"/>
              </a:rPr>
              <a:t>前瞻技术总结一句话</a:t>
            </a:r>
            <a:r>
              <a:rPr dirty="0" sz="2400" spc="-5">
                <a:solidFill>
                  <a:srgbClr val="001F5F"/>
                </a:solidFill>
                <a:latin typeface="黑体"/>
                <a:cs typeface="黑体"/>
              </a:rPr>
              <a:t>：在处理机还没判断分支指令能否执行之前就提前执行，以克服</a:t>
            </a:r>
            <a:r>
              <a:rPr dirty="0" sz="2400" spc="-20">
                <a:solidFill>
                  <a:srgbClr val="001F5F"/>
                </a:solidFill>
                <a:latin typeface="黑体"/>
                <a:cs typeface="黑体"/>
              </a:rPr>
              <a:t>控制相关。</a:t>
            </a:r>
            <a:endParaRPr sz="2400">
              <a:latin typeface="黑体"/>
              <a:cs typeface="黑体"/>
            </a:endParaRPr>
          </a:p>
          <a:p>
            <a:pPr marL="469900" indent="-457200">
              <a:lnSpc>
                <a:spcPct val="100000"/>
              </a:lnSpc>
              <a:spcBef>
                <a:spcPts val="1155"/>
              </a:spcBef>
              <a:buClr>
                <a:srgbClr val="40458B"/>
              </a:buClr>
              <a:buFont typeface="Wingdings"/>
              <a:buChar char=""/>
              <a:tabLst>
                <a:tab pos="469900" algn="l"/>
              </a:tabLst>
            </a:pPr>
            <a:r>
              <a:rPr dirty="0" sz="2400">
                <a:solidFill>
                  <a:srgbClr val="001F5F"/>
                </a:solidFill>
                <a:latin typeface="黑体"/>
                <a:cs typeface="黑体"/>
              </a:rPr>
              <a:t>基于硬件的前瞻执行结合了</a:t>
            </a:r>
            <a:r>
              <a:rPr dirty="0" sz="2400" spc="-25">
                <a:solidFill>
                  <a:srgbClr val="D50092"/>
                </a:solidFill>
                <a:latin typeface="Tahoma"/>
                <a:cs typeface="Tahoma"/>
              </a:rPr>
              <a:t>3</a:t>
            </a:r>
            <a:r>
              <a:rPr dirty="0" sz="2400" spc="-20">
                <a:solidFill>
                  <a:srgbClr val="D50092"/>
                </a:solidFill>
                <a:latin typeface="黑体"/>
                <a:cs typeface="黑体"/>
              </a:rPr>
              <a:t>种思想</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5">
                <a:solidFill>
                  <a:srgbClr val="40458B"/>
                </a:solidFill>
                <a:latin typeface="黑体"/>
                <a:cs typeface="黑体"/>
              </a:rPr>
              <a:t>动态分支预测。用来选择后续执行的指令。</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5">
                <a:solidFill>
                  <a:srgbClr val="40458B"/>
                </a:solidFill>
                <a:latin typeface="黑体"/>
                <a:cs typeface="黑体"/>
              </a:rPr>
              <a:t>在控制相关的结果尚未出来之前，前瞻地执行后续指令。</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5">
                <a:solidFill>
                  <a:srgbClr val="40458B"/>
                </a:solidFill>
                <a:latin typeface="黑体"/>
                <a:cs typeface="黑体"/>
              </a:rPr>
              <a:t>用动态调度对基本块的各种组合进行跨基本块的调度。</a:t>
            </a:r>
            <a:endParaRPr sz="2400">
              <a:latin typeface="黑体"/>
              <a:cs typeface="黑体"/>
            </a:endParaRPr>
          </a:p>
          <a:p>
            <a:pPr marL="469900" indent="-457200">
              <a:lnSpc>
                <a:spcPct val="100000"/>
              </a:lnSpc>
              <a:spcBef>
                <a:spcPts val="1150"/>
              </a:spcBef>
              <a:buClr>
                <a:srgbClr val="40458B"/>
              </a:buClr>
              <a:buFont typeface="Wingdings"/>
              <a:buChar char=""/>
              <a:tabLst>
                <a:tab pos="469900" algn="l"/>
              </a:tabLst>
            </a:pPr>
            <a:r>
              <a:rPr dirty="0" sz="2400" spc="-10">
                <a:solidFill>
                  <a:srgbClr val="FF0000"/>
                </a:solidFill>
                <a:latin typeface="黑体"/>
                <a:cs typeface="黑体"/>
              </a:rPr>
              <a:t>前瞻技术的实质</a:t>
            </a:r>
            <a:r>
              <a:rPr dirty="0" sz="2400">
                <a:solidFill>
                  <a:srgbClr val="001F5F"/>
                </a:solidFill>
                <a:latin typeface="黑体"/>
                <a:cs typeface="黑体"/>
              </a:rPr>
              <a:t>是数据流驱动运行（</a:t>
            </a:r>
            <a:r>
              <a:rPr dirty="0" sz="2400">
                <a:solidFill>
                  <a:srgbClr val="001F5F"/>
                </a:solidFill>
                <a:latin typeface="Tahoma"/>
                <a:cs typeface="Tahoma"/>
              </a:rPr>
              <a:t>Data</a:t>
            </a:r>
            <a:r>
              <a:rPr dirty="0" sz="2400" spc="55">
                <a:solidFill>
                  <a:srgbClr val="001F5F"/>
                </a:solidFill>
                <a:latin typeface="Tahoma"/>
                <a:cs typeface="Tahoma"/>
              </a:rPr>
              <a:t> </a:t>
            </a:r>
            <a:r>
              <a:rPr dirty="0" sz="2400">
                <a:solidFill>
                  <a:srgbClr val="001F5F"/>
                </a:solidFill>
                <a:latin typeface="Tahoma"/>
                <a:cs typeface="Tahoma"/>
              </a:rPr>
              <a:t>Flow</a:t>
            </a:r>
            <a:r>
              <a:rPr dirty="0" sz="2400" spc="55">
                <a:solidFill>
                  <a:srgbClr val="001F5F"/>
                </a:solidFill>
                <a:latin typeface="Tahoma"/>
                <a:cs typeface="Tahoma"/>
              </a:rPr>
              <a:t> </a:t>
            </a:r>
            <a:r>
              <a:rPr dirty="0" sz="2400" spc="-10">
                <a:solidFill>
                  <a:srgbClr val="001F5F"/>
                </a:solidFill>
                <a:latin typeface="Tahoma"/>
                <a:cs typeface="Tahoma"/>
              </a:rPr>
              <a:t>Execution</a:t>
            </a:r>
            <a:r>
              <a:rPr dirty="0" sz="2400" spc="-10">
                <a:solidFill>
                  <a:srgbClr val="001F5F"/>
                </a:solidFill>
                <a:latin typeface="黑体"/>
                <a:cs typeface="黑体"/>
              </a:rPr>
              <a:t>）：</a:t>
            </a:r>
            <a:r>
              <a:rPr dirty="0" sz="2400" spc="-15">
                <a:solidFill>
                  <a:srgbClr val="001F5F"/>
                </a:solidFill>
                <a:latin typeface="黑体"/>
                <a:cs typeface="黑体"/>
              </a:rPr>
              <a:t>只要操作数有效，指令</a:t>
            </a:r>
            <a:endParaRPr sz="2400">
              <a:latin typeface="黑体"/>
              <a:cs typeface="黑体"/>
            </a:endParaRPr>
          </a:p>
          <a:p>
            <a:pPr marL="361315">
              <a:lnSpc>
                <a:spcPct val="100000"/>
              </a:lnSpc>
              <a:spcBef>
                <a:spcPts val="580"/>
              </a:spcBef>
            </a:pPr>
            <a:r>
              <a:rPr dirty="0" sz="2400" spc="-5">
                <a:solidFill>
                  <a:srgbClr val="001F5F"/>
                </a:solidFill>
                <a:latin typeface="黑体"/>
                <a:cs typeface="黑体"/>
              </a:rPr>
              <a:t>就可以执行</a:t>
            </a:r>
            <a:r>
              <a:rPr dirty="0" sz="2400" spc="-50">
                <a:solidFill>
                  <a:srgbClr val="001F5F"/>
                </a:solidFill>
                <a:latin typeface="Tahoma"/>
                <a:cs typeface="Tahoma"/>
              </a:rPr>
              <a:t>.</a:t>
            </a:r>
            <a:endParaRPr sz="2400">
              <a:latin typeface="Tahoma"/>
              <a:cs typeface="Tahoma"/>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138/175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935227" y="684811"/>
            <a:ext cx="11019155" cy="5761990"/>
          </a:xfrm>
          <a:prstGeom prst="rect">
            <a:avLst/>
          </a:prstGeom>
        </p:spPr>
        <p:txBody>
          <a:bodyPr wrap="square" lIns="0" tIns="123190" rIns="0" bIns="0" rtlCol="0" vert="horz">
            <a:spAutoFit/>
          </a:bodyPr>
          <a:lstStyle/>
          <a:p>
            <a:pPr marL="469265" indent="-456565">
              <a:lnSpc>
                <a:spcPct val="100000"/>
              </a:lnSpc>
              <a:spcBef>
                <a:spcPts val="970"/>
              </a:spcBef>
              <a:buSzPct val="89583"/>
              <a:buFont typeface="Wingdings"/>
              <a:buChar char=""/>
              <a:tabLst>
                <a:tab pos="469265" algn="l"/>
              </a:tabLst>
            </a:pPr>
            <a:r>
              <a:rPr dirty="0" sz="2400" spc="-10">
                <a:solidFill>
                  <a:srgbClr val="40458B"/>
                </a:solidFill>
                <a:latin typeface="黑体"/>
                <a:cs typeface="黑体"/>
              </a:rPr>
              <a:t>对</a:t>
            </a:r>
            <a:r>
              <a:rPr dirty="0" sz="2400">
                <a:solidFill>
                  <a:srgbClr val="40458B"/>
                </a:solidFill>
                <a:latin typeface="Tahoma"/>
                <a:cs typeface="Tahoma"/>
              </a:rPr>
              <a:t>Tomasulo</a:t>
            </a:r>
            <a:r>
              <a:rPr dirty="0" sz="2400" spc="-15">
                <a:solidFill>
                  <a:srgbClr val="40458B"/>
                </a:solidFill>
                <a:latin typeface="黑体"/>
                <a:cs typeface="黑体"/>
              </a:rPr>
              <a:t>算法加以扩充，就可以支持前瞻执行。</a:t>
            </a:r>
            <a:endParaRPr sz="2400">
              <a:latin typeface="黑体"/>
              <a:cs typeface="黑体"/>
            </a:endParaRPr>
          </a:p>
          <a:p>
            <a:pPr marL="678180" marR="1484630" indent="-381000">
              <a:lnSpc>
                <a:spcPct val="130000"/>
              </a:lnSpc>
            </a:pPr>
            <a:r>
              <a:rPr dirty="0" sz="2400">
                <a:solidFill>
                  <a:srgbClr val="40458B"/>
                </a:solidFill>
                <a:latin typeface="黑体"/>
                <a:cs typeface="黑体"/>
              </a:rPr>
              <a:t>把</a:t>
            </a:r>
            <a:r>
              <a:rPr dirty="0" sz="2400" spc="-10">
                <a:solidFill>
                  <a:srgbClr val="40458B"/>
                </a:solidFill>
                <a:latin typeface="Tahoma"/>
                <a:cs typeface="Tahoma"/>
              </a:rPr>
              <a:t>Tomasulo</a:t>
            </a:r>
            <a:r>
              <a:rPr dirty="0" sz="2400" spc="-5">
                <a:solidFill>
                  <a:srgbClr val="40458B"/>
                </a:solidFill>
                <a:latin typeface="黑体"/>
                <a:cs typeface="黑体"/>
              </a:rPr>
              <a:t>算法的写结果和指令完成加以区分，分成两个不同的段：</a:t>
            </a:r>
            <a:r>
              <a:rPr dirty="0" sz="2400" spc="-10">
                <a:solidFill>
                  <a:srgbClr val="FF0000"/>
                </a:solidFill>
                <a:latin typeface="黑体"/>
                <a:cs typeface="黑体"/>
              </a:rPr>
              <a:t>写结果，指令确认</a:t>
            </a:r>
            <a:endParaRPr sz="2400">
              <a:latin typeface="黑体"/>
              <a:cs typeface="黑体"/>
            </a:endParaRPr>
          </a:p>
          <a:p>
            <a:pPr marL="469265" indent="-456565">
              <a:lnSpc>
                <a:spcPct val="100000"/>
              </a:lnSpc>
              <a:spcBef>
                <a:spcPts val="865"/>
              </a:spcBef>
              <a:buSzPct val="89583"/>
              <a:buFont typeface="Wingdings"/>
              <a:buChar char=""/>
              <a:tabLst>
                <a:tab pos="469265" algn="l"/>
              </a:tabLst>
            </a:pPr>
            <a:r>
              <a:rPr dirty="0" sz="2400" spc="-15">
                <a:solidFill>
                  <a:srgbClr val="40458B"/>
                </a:solidFill>
                <a:latin typeface="黑体"/>
                <a:cs typeface="黑体"/>
              </a:rPr>
              <a:t>写结果段</a:t>
            </a:r>
            <a:endParaRPr sz="2400">
              <a:latin typeface="黑体"/>
              <a:cs typeface="黑体"/>
            </a:endParaRPr>
          </a:p>
          <a:p>
            <a:pPr lvl="1" marL="606425" indent="-457200">
              <a:lnSpc>
                <a:spcPct val="100000"/>
              </a:lnSpc>
              <a:spcBef>
                <a:spcPts val="825"/>
              </a:spcBef>
              <a:buClr>
                <a:srgbClr val="4668F5"/>
              </a:buClr>
              <a:buSzPct val="68181"/>
              <a:buFont typeface="Wingdings"/>
              <a:buChar char=""/>
              <a:tabLst>
                <a:tab pos="606425" algn="l"/>
              </a:tabLst>
            </a:pPr>
            <a:r>
              <a:rPr dirty="0" sz="2200" spc="-25" b="1">
                <a:solidFill>
                  <a:srgbClr val="9966FF"/>
                </a:solidFill>
                <a:latin typeface="宋体"/>
                <a:cs typeface="宋体"/>
              </a:rPr>
              <a:t>把前瞻执行的结果写到</a:t>
            </a:r>
            <a:r>
              <a:rPr dirty="0" sz="2200" spc="-10" b="1">
                <a:solidFill>
                  <a:srgbClr val="9933FF"/>
                </a:solidFill>
                <a:latin typeface="宋体"/>
                <a:cs typeface="宋体"/>
              </a:rPr>
              <a:t>ROB</a:t>
            </a:r>
            <a:r>
              <a:rPr dirty="0" sz="2200" spc="-35" b="1">
                <a:solidFill>
                  <a:srgbClr val="9966FF"/>
                </a:solidFill>
                <a:latin typeface="宋体"/>
                <a:cs typeface="宋体"/>
              </a:rPr>
              <a:t>中；</a:t>
            </a:r>
            <a:endParaRPr sz="2200">
              <a:latin typeface="宋体"/>
              <a:cs typeface="宋体"/>
            </a:endParaRPr>
          </a:p>
          <a:p>
            <a:pPr lvl="1" marL="606425" indent="-457200">
              <a:lnSpc>
                <a:spcPct val="100000"/>
              </a:lnSpc>
              <a:spcBef>
                <a:spcPts val="795"/>
              </a:spcBef>
              <a:buClr>
                <a:srgbClr val="4668F5"/>
              </a:buClr>
              <a:buSzPct val="68181"/>
              <a:buFont typeface="Wingdings"/>
              <a:buChar char=""/>
              <a:tabLst>
                <a:tab pos="606425" algn="l"/>
              </a:tabLst>
            </a:pPr>
            <a:r>
              <a:rPr dirty="0" sz="2200" spc="-20" b="1">
                <a:solidFill>
                  <a:srgbClr val="9966FF"/>
                </a:solidFill>
                <a:latin typeface="宋体"/>
                <a:cs typeface="宋体"/>
              </a:rPr>
              <a:t>通过</a:t>
            </a:r>
            <a:r>
              <a:rPr dirty="0" sz="2200" spc="-10" b="1">
                <a:solidFill>
                  <a:srgbClr val="9933FF"/>
                </a:solidFill>
                <a:latin typeface="宋体"/>
                <a:cs typeface="宋体"/>
              </a:rPr>
              <a:t>CDB</a:t>
            </a:r>
            <a:r>
              <a:rPr dirty="0" sz="2200" spc="-25" b="1">
                <a:solidFill>
                  <a:srgbClr val="9966FF"/>
                </a:solidFill>
                <a:latin typeface="宋体"/>
                <a:cs typeface="宋体"/>
              </a:rPr>
              <a:t>在指令之间传送结果，供需要用到这些结果的指令使用。</a:t>
            </a:r>
            <a:endParaRPr sz="2200">
              <a:latin typeface="宋体"/>
              <a:cs typeface="宋体"/>
            </a:endParaRPr>
          </a:p>
          <a:p>
            <a:pPr marL="469265" indent="-456565">
              <a:lnSpc>
                <a:spcPct val="100000"/>
              </a:lnSpc>
              <a:spcBef>
                <a:spcPts val="830"/>
              </a:spcBef>
              <a:buSzPct val="89583"/>
              <a:buFont typeface="Wingdings"/>
              <a:buChar char=""/>
              <a:tabLst>
                <a:tab pos="469265" algn="l"/>
              </a:tabLst>
            </a:pPr>
            <a:r>
              <a:rPr dirty="0" sz="2400" spc="-10">
                <a:solidFill>
                  <a:srgbClr val="40458B"/>
                </a:solidFill>
                <a:latin typeface="黑体"/>
                <a:cs typeface="黑体"/>
              </a:rPr>
              <a:t>指令确认段</a:t>
            </a:r>
            <a:endParaRPr sz="2400">
              <a:latin typeface="黑体"/>
              <a:cs typeface="黑体"/>
            </a:endParaRPr>
          </a:p>
          <a:p>
            <a:pPr marL="535305">
              <a:lnSpc>
                <a:spcPct val="100000"/>
              </a:lnSpc>
              <a:spcBef>
                <a:spcPts val="825"/>
              </a:spcBef>
            </a:pPr>
            <a:r>
              <a:rPr dirty="0" sz="2200" spc="-25" b="1">
                <a:solidFill>
                  <a:srgbClr val="9966FF"/>
                </a:solidFill>
                <a:latin typeface="宋体"/>
                <a:cs typeface="宋体"/>
              </a:rPr>
              <a:t>在分支指令的结果出来后，对相应指令的前瞻执行给予确认。</a:t>
            </a:r>
            <a:endParaRPr sz="2200">
              <a:latin typeface="宋体"/>
              <a:cs typeface="宋体"/>
            </a:endParaRPr>
          </a:p>
          <a:p>
            <a:pPr lvl="1" marL="606425" indent="-457200">
              <a:lnSpc>
                <a:spcPct val="100000"/>
              </a:lnSpc>
              <a:spcBef>
                <a:spcPts val="795"/>
              </a:spcBef>
              <a:buClr>
                <a:srgbClr val="4668F5"/>
              </a:buClr>
              <a:buSzPct val="68181"/>
              <a:buFont typeface="Wingdings"/>
              <a:buChar char=""/>
              <a:tabLst>
                <a:tab pos="606425" algn="l"/>
              </a:tabLst>
            </a:pPr>
            <a:r>
              <a:rPr dirty="0" sz="2200" spc="-25" b="1">
                <a:solidFill>
                  <a:srgbClr val="9966FF"/>
                </a:solidFill>
                <a:latin typeface="宋体"/>
                <a:cs typeface="宋体"/>
              </a:rPr>
              <a:t>如果前面所做的猜测是对的，把在</a:t>
            </a:r>
            <a:r>
              <a:rPr dirty="0" sz="2200" spc="-10" b="1">
                <a:solidFill>
                  <a:srgbClr val="9933FF"/>
                </a:solidFill>
                <a:latin typeface="宋体"/>
                <a:cs typeface="宋体"/>
              </a:rPr>
              <a:t>ROB</a:t>
            </a:r>
            <a:r>
              <a:rPr dirty="0" sz="2200" spc="-30" b="1">
                <a:solidFill>
                  <a:srgbClr val="9966FF"/>
                </a:solidFill>
                <a:latin typeface="宋体"/>
                <a:cs typeface="宋体"/>
              </a:rPr>
              <a:t>中的结果写到寄存器或存储器。</a:t>
            </a:r>
            <a:endParaRPr sz="2200">
              <a:latin typeface="宋体"/>
              <a:cs typeface="宋体"/>
            </a:endParaRPr>
          </a:p>
          <a:p>
            <a:pPr lvl="1" marL="606425" indent="-457200">
              <a:lnSpc>
                <a:spcPct val="100000"/>
              </a:lnSpc>
              <a:spcBef>
                <a:spcPts val="790"/>
              </a:spcBef>
              <a:buClr>
                <a:srgbClr val="4668F5"/>
              </a:buClr>
              <a:buSzPct val="68181"/>
              <a:buFont typeface="Wingdings"/>
              <a:buChar char=""/>
              <a:tabLst>
                <a:tab pos="606425" algn="l"/>
              </a:tabLst>
            </a:pPr>
            <a:r>
              <a:rPr dirty="0" sz="2200" spc="-25" b="1">
                <a:solidFill>
                  <a:srgbClr val="9966FF"/>
                </a:solidFill>
                <a:latin typeface="宋体"/>
                <a:cs typeface="宋体"/>
              </a:rPr>
              <a:t>如果发现前面对分支结果的猜测是错误的，那就不予以确认，并从那条分支指令的</a:t>
            </a:r>
            <a:endParaRPr sz="2200">
              <a:latin typeface="宋体"/>
              <a:cs typeface="宋体"/>
            </a:endParaRPr>
          </a:p>
          <a:p>
            <a:pPr marL="607060">
              <a:lnSpc>
                <a:spcPct val="100000"/>
              </a:lnSpc>
              <a:spcBef>
                <a:spcPts val="265"/>
              </a:spcBef>
            </a:pPr>
            <a:r>
              <a:rPr dirty="0" sz="2200" spc="-25" b="1">
                <a:solidFill>
                  <a:srgbClr val="9966FF"/>
                </a:solidFill>
                <a:latin typeface="宋体"/>
                <a:cs typeface="宋体"/>
              </a:rPr>
              <a:t>另一条路径开始重新执行。</a:t>
            </a:r>
            <a:endParaRPr sz="2200">
              <a:latin typeface="宋体"/>
              <a:cs typeface="宋体"/>
            </a:endParaRPr>
          </a:p>
          <a:p>
            <a:pPr lvl="1" marL="607060" marR="5080" indent="-457200">
              <a:lnSpc>
                <a:spcPct val="110000"/>
              </a:lnSpc>
              <a:spcBef>
                <a:spcPts val="530"/>
              </a:spcBef>
              <a:buClr>
                <a:srgbClr val="4668F5"/>
              </a:buClr>
              <a:buSzPct val="68181"/>
              <a:buFont typeface="Wingdings"/>
              <a:buChar char=""/>
              <a:tabLst>
                <a:tab pos="607060" algn="l"/>
              </a:tabLst>
            </a:pPr>
            <a:r>
              <a:rPr dirty="0" sz="2200" spc="-25" b="1">
                <a:solidFill>
                  <a:srgbClr val="9966FF"/>
                </a:solidFill>
                <a:latin typeface="宋体"/>
                <a:cs typeface="宋体"/>
              </a:rPr>
              <a:t>就是在流水线中增加了一个确认阶段，只有在这个阶段才能真正修改计算机的状态。其他时候都是修改</a:t>
            </a:r>
            <a:r>
              <a:rPr dirty="0" sz="2200" spc="-10" b="1">
                <a:solidFill>
                  <a:srgbClr val="9966FF"/>
                </a:solidFill>
                <a:latin typeface="宋体"/>
                <a:cs typeface="宋体"/>
              </a:rPr>
              <a:t>ROB</a:t>
            </a:r>
            <a:r>
              <a:rPr dirty="0" sz="2200" spc="-30" b="1">
                <a:solidFill>
                  <a:srgbClr val="9966FF"/>
                </a:solidFill>
                <a:latin typeface="宋体"/>
                <a:cs typeface="宋体"/>
              </a:rPr>
              <a:t>中的值。</a:t>
            </a:r>
            <a:endParaRPr sz="2200">
              <a:latin typeface="宋体"/>
              <a:cs typeface="宋体"/>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139/175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774293" y="892555"/>
            <a:ext cx="11323320" cy="4342765"/>
          </a:xfrm>
          <a:prstGeom prst="rect">
            <a:avLst/>
          </a:prstGeom>
        </p:spPr>
        <p:txBody>
          <a:bodyPr wrap="square" lIns="0" tIns="158750" rIns="0" bIns="0" rtlCol="0" vert="horz">
            <a:spAutoFit/>
          </a:bodyPr>
          <a:lstStyle/>
          <a:p>
            <a:pPr algn="just" marL="469265" indent="-456565">
              <a:lnSpc>
                <a:spcPct val="100000"/>
              </a:lnSpc>
              <a:spcBef>
                <a:spcPts val="1250"/>
              </a:spcBef>
              <a:buClr>
                <a:srgbClr val="40458B"/>
              </a:buClr>
              <a:buFont typeface="Tahoma"/>
              <a:buAutoNum type="arabicPeriod" startAt="3"/>
              <a:tabLst>
                <a:tab pos="469265" algn="l"/>
              </a:tabLst>
            </a:pPr>
            <a:r>
              <a:rPr dirty="0" sz="2400">
                <a:solidFill>
                  <a:srgbClr val="001F5F"/>
                </a:solidFill>
                <a:latin typeface="黑体"/>
                <a:cs typeface="黑体"/>
              </a:rPr>
              <a:t>实现前瞻的</a:t>
            </a:r>
            <a:r>
              <a:rPr dirty="0" sz="2400" spc="-10">
                <a:solidFill>
                  <a:srgbClr val="D50092"/>
                </a:solidFill>
                <a:latin typeface="黑体"/>
                <a:cs typeface="黑体"/>
              </a:rPr>
              <a:t>关键思想：</a:t>
            </a:r>
            <a:endParaRPr sz="2400">
              <a:latin typeface="黑体"/>
              <a:cs typeface="黑体"/>
            </a:endParaRPr>
          </a:p>
          <a:p>
            <a:pPr marL="1099185" marR="215265" indent="-363220">
              <a:lnSpc>
                <a:spcPct val="120000"/>
              </a:lnSpc>
              <a:spcBef>
                <a:spcPts val="575"/>
              </a:spcBef>
            </a:pPr>
            <a:r>
              <a:rPr dirty="0" sz="2400" spc="-5">
                <a:solidFill>
                  <a:srgbClr val="40458B"/>
                </a:solidFill>
                <a:latin typeface="黑体"/>
                <a:cs typeface="黑体"/>
              </a:rPr>
              <a:t>允许指令乱序执行，但必须顺序确认。在指令被确认之前，不允许它进行不可</a:t>
            </a:r>
            <a:r>
              <a:rPr dirty="0" sz="2400" spc="-20">
                <a:solidFill>
                  <a:srgbClr val="40458B"/>
                </a:solidFill>
                <a:latin typeface="黑体"/>
                <a:cs typeface="黑体"/>
              </a:rPr>
              <a:t>恢复的操作。</a:t>
            </a:r>
            <a:endParaRPr sz="2400">
              <a:latin typeface="黑体"/>
              <a:cs typeface="黑体"/>
            </a:endParaRPr>
          </a:p>
          <a:p>
            <a:pPr marL="1099185" marR="5080" indent="-457200">
              <a:lnSpc>
                <a:spcPct val="120000"/>
              </a:lnSpc>
              <a:spcBef>
                <a:spcPts val="580"/>
              </a:spcBef>
            </a:pPr>
            <a:r>
              <a:rPr dirty="0" sz="2400" spc="-5">
                <a:solidFill>
                  <a:srgbClr val="40458B"/>
                </a:solidFill>
                <a:latin typeface="黑体"/>
                <a:cs typeface="黑体"/>
              </a:rPr>
              <a:t>只有确认以后的结果才是最终结果。加入指令确认阶段需要一套额外的硬件缓冲来保存那些执行完毕但未经确认的指令及其结果</a:t>
            </a:r>
            <a:endParaRPr sz="2400">
              <a:latin typeface="黑体"/>
              <a:cs typeface="黑体"/>
            </a:endParaRPr>
          </a:p>
          <a:p>
            <a:pPr algn="just" marL="1099185" marR="156845" indent="-457200">
              <a:lnSpc>
                <a:spcPct val="120000"/>
              </a:lnSpc>
              <a:spcBef>
                <a:spcPts val="580"/>
              </a:spcBef>
            </a:pPr>
            <a:r>
              <a:rPr dirty="0" sz="2400">
                <a:solidFill>
                  <a:srgbClr val="FF0000"/>
                </a:solidFill>
                <a:latin typeface="黑体"/>
                <a:cs typeface="黑体"/>
              </a:rPr>
              <a:t>不同点在于</a:t>
            </a:r>
            <a:r>
              <a:rPr dirty="0" sz="2400" spc="-10">
                <a:solidFill>
                  <a:srgbClr val="FF0000"/>
                </a:solidFill>
                <a:latin typeface="Tahoma"/>
                <a:cs typeface="Tahoma"/>
              </a:rPr>
              <a:t>Tomasulo</a:t>
            </a:r>
            <a:r>
              <a:rPr dirty="0" sz="2400">
                <a:solidFill>
                  <a:srgbClr val="FF0000"/>
                </a:solidFill>
                <a:latin typeface="黑体"/>
                <a:cs typeface="黑体"/>
              </a:rPr>
              <a:t>算法中</a:t>
            </a:r>
            <a:r>
              <a:rPr dirty="0" sz="2400" spc="-5">
                <a:solidFill>
                  <a:srgbClr val="40458B"/>
                </a:solidFill>
                <a:latin typeface="黑体"/>
                <a:cs typeface="黑体"/>
              </a:rPr>
              <a:t>，一旦指令结果写到目的寄存器，下面的指令就会</a:t>
            </a:r>
            <a:r>
              <a:rPr dirty="0" sz="2400">
                <a:solidFill>
                  <a:srgbClr val="40458B"/>
                </a:solidFill>
                <a:latin typeface="黑体"/>
                <a:cs typeface="黑体"/>
              </a:rPr>
              <a:t>从寄存器文件中得到数据。而对于</a:t>
            </a:r>
            <a:r>
              <a:rPr dirty="0" sz="2400">
                <a:solidFill>
                  <a:srgbClr val="FF0000"/>
                </a:solidFill>
                <a:latin typeface="黑体"/>
                <a:cs typeface="黑体"/>
              </a:rPr>
              <a:t>前瞻执行</a:t>
            </a:r>
            <a:r>
              <a:rPr dirty="0" sz="2400" spc="-5">
                <a:solidFill>
                  <a:srgbClr val="40458B"/>
                </a:solidFill>
                <a:latin typeface="黑体"/>
                <a:cs typeface="黑体"/>
              </a:rPr>
              <a:t>，直到指令确认后，才最终更新</a:t>
            </a:r>
            <a:r>
              <a:rPr dirty="0" sz="2400" spc="-10">
                <a:solidFill>
                  <a:srgbClr val="40458B"/>
                </a:solidFill>
                <a:latin typeface="黑体"/>
                <a:cs typeface="黑体"/>
              </a:rPr>
              <a:t>寄存器文件。</a:t>
            </a:r>
            <a:endParaRPr sz="2400">
              <a:latin typeface="黑体"/>
              <a:cs typeface="黑体"/>
            </a:endParaRPr>
          </a:p>
          <a:p>
            <a:pPr algn="just" marL="469265" indent="-456565">
              <a:lnSpc>
                <a:spcPct val="100000"/>
              </a:lnSpc>
              <a:spcBef>
                <a:spcPts val="1155"/>
              </a:spcBef>
              <a:buClr>
                <a:srgbClr val="40458B"/>
              </a:buClr>
              <a:buFont typeface="Tahoma"/>
              <a:buAutoNum type="arabicPeriod" startAt="4"/>
              <a:tabLst>
                <a:tab pos="469265" algn="l"/>
              </a:tabLst>
            </a:pPr>
            <a:r>
              <a:rPr dirty="0" sz="2400" spc="-5">
                <a:solidFill>
                  <a:srgbClr val="001F5F"/>
                </a:solidFill>
                <a:latin typeface="黑体"/>
                <a:cs typeface="黑体"/>
              </a:rPr>
              <a:t>支持前瞻执行的浮点部件的结构</a:t>
            </a:r>
            <a:endParaRPr sz="2400">
              <a:latin typeface="黑体"/>
              <a:cs typeface="黑体"/>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3109960" y="816929"/>
            <a:ext cx="1052195" cy="229870"/>
          </a:xfrm>
          <a:prstGeom prst="rect">
            <a:avLst/>
          </a:prstGeom>
        </p:spPr>
        <p:txBody>
          <a:bodyPr wrap="square" lIns="0" tIns="17780" rIns="0" bIns="0" rtlCol="0" vert="horz">
            <a:spAutoFit/>
          </a:bodyPr>
          <a:lstStyle/>
          <a:p>
            <a:pPr marL="12700">
              <a:lnSpc>
                <a:spcPct val="100000"/>
              </a:lnSpc>
              <a:spcBef>
                <a:spcPts val="140"/>
              </a:spcBef>
            </a:pPr>
            <a:r>
              <a:rPr dirty="0" sz="1300" b="1">
                <a:latin typeface="宋体"/>
                <a:cs typeface="宋体"/>
              </a:rPr>
              <a:t>从指令部件来</a:t>
            </a:r>
            <a:endParaRPr sz="1300">
              <a:latin typeface="宋体"/>
              <a:cs typeface="宋体"/>
            </a:endParaRPr>
          </a:p>
        </p:txBody>
      </p:sp>
      <p:sp>
        <p:nvSpPr>
          <p:cNvPr id="3" name="object 3" descr=""/>
          <p:cNvSpPr txBox="1"/>
          <p:nvPr/>
        </p:nvSpPr>
        <p:spPr>
          <a:xfrm>
            <a:off x="6400636" y="2391176"/>
            <a:ext cx="1127125" cy="229870"/>
          </a:xfrm>
          <a:prstGeom prst="rect">
            <a:avLst/>
          </a:prstGeom>
        </p:spPr>
        <p:txBody>
          <a:bodyPr wrap="square" lIns="0" tIns="17780" rIns="0" bIns="0" rtlCol="0" vert="horz">
            <a:spAutoFit/>
          </a:bodyPr>
          <a:lstStyle/>
          <a:p>
            <a:pPr marL="12700">
              <a:lnSpc>
                <a:spcPct val="100000"/>
              </a:lnSpc>
              <a:spcBef>
                <a:spcPts val="140"/>
              </a:spcBef>
            </a:pPr>
            <a:r>
              <a:rPr dirty="0" sz="1300" spc="-20" b="1">
                <a:latin typeface="宋体"/>
                <a:cs typeface="宋体"/>
              </a:rPr>
              <a:t>浮点寄存器 </a:t>
            </a:r>
            <a:r>
              <a:rPr dirty="0" sz="1300" spc="-25" b="1">
                <a:latin typeface="Times New Roman"/>
                <a:cs typeface="Times New Roman"/>
              </a:rPr>
              <a:t>FP</a:t>
            </a:r>
            <a:endParaRPr sz="1300">
              <a:latin typeface="Times New Roman"/>
              <a:cs typeface="Times New Roman"/>
            </a:endParaRPr>
          </a:p>
        </p:txBody>
      </p:sp>
      <p:sp>
        <p:nvSpPr>
          <p:cNvPr id="4" name="object 4" descr=""/>
          <p:cNvSpPr txBox="1"/>
          <p:nvPr/>
        </p:nvSpPr>
        <p:spPr>
          <a:xfrm>
            <a:off x="1676306" y="3294898"/>
            <a:ext cx="952500" cy="292735"/>
          </a:xfrm>
          <a:prstGeom prst="rect">
            <a:avLst/>
          </a:prstGeom>
          <a:solidFill>
            <a:srgbClr val="D9FFD9"/>
          </a:solidFill>
          <a:ln w="14031">
            <a:solidFill>
              <a:srgbClr val="000000"/>
            </a:solidFill>
          </a:ln>
        </p:spPr>
        <p:txBody>
          <a:bodyPr wrap="square" lIns="0" tIns="50165" rIns="0" bIns="0" rtlCol="0" vert="horz">
            <a:spAutoFit/>
          </a:bodyPr>
          <a:lstStyle/>
          <a:p>
            <a:pPr marL="140335">
              <a:lnSpc>
                <a:spcPct val="100000"/>
              </a:lnSpc>
              <a:spcBef>
                <a:spcPts val="395"/>
              </a:spcBef>
            </a:pPr>
            <a:r>
              <a:rPr dirty="0" sz="1300" spc="-15" b="1">
                <a:latin typeface="宋体"/>
                <a:cs typeface="宋体"/>
              </a:rPr>
              <a:t>地址部件</a:t>
            </a:r>
            <a:endParaRPr sz="1300">
              <a:latin typeface="宋体"/>
              <a:cs typeface="宋体"/>
            </a:endParaRPr>
          </a:p>
        </p:txBody>
      </p:sp>
      <p:sp>
        <p:nvSpPr>
          <p:cNvPr id="5" name="object 5" descr=""/>
          <p:cNvSpPr txBox="1"/>
          <p:nvPr/>
        </p:nvSpPr>
        <p:spPr>
          <a:xfrm>
            <a:off x="1525900" y="2798121"/>
            <a:ext cx="1133475" cy="229870"/>
          </a:xfrm>
          <a:prstGeom prst="rect">
            <a:avLst/>
          </a:prstGeom>
        </p:spPr>
        <p:txBody>
          <a:bodyPr wrap="square" lIns="0" tIns="17780" rIns="0" bIns="0" rtlCol="0" vert="horz">
            <a:spAutoFit/>
          </a:bodyPr>
          <a:lstStyle/>
          <a:p>
            <a:pPr marL="12700">
              <a:lnSpc>
                <a:spcPct val="100000"/>
              </a:lnSpc>
              <a:spcBef>
                <a:spcPts val="140"/>
              </a:spcBef>
            </a:pPr>
            <a:r>
              <a:rPr dirty="0" sz="1300">
                <a:latin typeface="Times New Roman"/>
                <a:cs typeface="Times New Roman"/>
              </a:rPr>
              <a:t>l</a:t>
            </a:r>
            <a:r>
              <a:rPr dirty="0" sz="1300" b="1">
                <a:latin typeface="Times New Roman"/>
                <a:cs typeface="Times New Roman"/>
              </a:rPr>
              <a:t>oad/store</a:t>
            </a:r>
            <a:r>
              <a:rPr dirty="0" sz="1300" spc="80" b="1">
                <a:latin typeface="Times New Roman"/>
                <a:cs typeface="Times New Roman"/>
              </a:rPr>
              <a:t> </a:t>
            </a:r>
            <a:r>
              <a:rPr dirty="0" sz="1300" spc="55" b="1">
                <a:latin typeface="宋体"/>
                <a:cs typeface="宋体"/>
              </a:rPr>
              <a:t>操作</a:t>
            </a:r>
            <a:endParaRPr sz="1300">
              <a:latin typeface="宋体"/>
              <a:cs typeface="宋体"/>
            </a:endParaRPr>
          </a:p>
        </p:txBody>
      </p:sp>
      <p:sp>
        <p:nvSpPr>
          <p:cNvPr id="6" name="object 6" descr=""/>
          <p:cNvSpPr txBox="1"/>
          <p:nvPr/>
        </p:nvSpPr>
        <p:spPr>
          <a:xfrm>
            <a:off x="3898764" y="3035238"/>
            <a:ext cx="705485" cy="229870"/>
          </a:xfrm>
          <a:prstGeom prst="rect">
            <a:avLst/>
          </a:prstGeom>
        </p:spPr>
        <p:txBody>
          <a:bodyPr wrap="square" lIns="0" tIns="17780" rIns="0" bIns="0" rtlCol="0" vert="horz">
            <a:spAutoFit/>
          </a:bodyPr>
          <a:lstStyle/>
          <a:p>
            <a:pPr marL="12700">
              <a:lnSpc>
                <a:spcPct val="100000"/>
              </a:lnSpc>
              <a:spcBef>
                <a:spcPts val="140"/>
              </a:spcBef>
            </a:pPr>
            <a:r>
              <a:rPr dirty="0" sz="1300" spc="-15" b="1">
                <a:latin typeface="宋体"/>
                <a:cs typeface="宋体"/>
              </a:rPr>
              <a:t>浮点操作</a:t>
            </a:r>
            <a:endParaRPr sz="1300">
              <a:latin typeface="宋体"/>
              <a:cs typeface="宋体"/>
            </a:endParaRPr>
          </a:p>
        </p:txBody>
      </p:sp>
      <p:sp>
        <p:nvSpPr>
          <p:cNvPr id="7" name="object 7" descr=""/>
          <p:cNvSpPr txBox="1"/>
          <p:nvPr/>
        </p:nvSpPr>
        <p:spPr>
          <a:xfrm>
            <a:off x="6115187" y="3463105"/>
            <a:ext cx="875030" cy="229870"/>
          </a:xfrm>
          <a:prstGeom prst="rect">
            <a:avLst/>
          </a:prstGeom>
        </p:spPr>
        <p:txBody>
          <a:bodyPr wrap="square" lIns="0" tIns="17780" rIns="0" bIns="0" rtlCol="0" vert="horz">
            <a:spAutoFit/>
          </a:bodyPr>
          <a:lstStyle/>
          <a:p>
            <a:pPr marL="12700">
              <a:lnSpc>
                <a:spcPct val="100000"/>
              </a:lnSpc>
              <a:spcBef>
                <a:spcPts val="140"/>
              </a:spcBef>
            </a:pPr>
            <a:r>
              <a:rPr dirty="0" sz="1300" spc="-10" b="1">
                <a:latin typeface="宋体"/>
                <a:cs typeface="宋体"/>
              </a:rPr>
              <a:t>操作数总线</a:t>
            </a:r>
            <a:endParaRPr sz="1300">
              <a:latin typeface="宋体"/>
              <a:cs typeface="宋体"/>
            </a:endParaRPr>
          </a:p>
        </p:txBody>
      </p:sp>
      <p:sp>
        <p:nvSpPr>
          <p:cNvPr id="8" name="object 8" descr=""/>
          <p:cNvSpPr txBox="1"/>
          <p:nvPr/>
        </p:nvSpPr>
        <p:spPr>
          <a:xfrm>
            <a:off x="4425763" y="4086998"/>
            <a:ext cx="1282065" cy="229870"/>
          </a:xfrm>
          <a:prstGeom prst="rect">
            <a:avLst/>
          </a:prstGeom>
        </p:spPr>
        <p:txBody>
          <a:bodyPr wrap="square" lIns="0" tIns="17780" rIns="0" bIns="0" rtlCol="0" vert="horz">
            <a:spAutoFit/>
          </a:bodyPr>
          <a:lstStyle/>
          <a:p>
            <a:pPr marL="300990">
              <a:lnSpc>
                <a:spcPct val="100000"/>
              </a:lnSpc>
              <a:spcBef>
                <a:spcPts val="140"/>
              </a:spcBef>
            </a:pPr>
            <a:r>
              <a:rPr dirty="0" sz="1300" spc="-15" b="1">
                <a:latin typeface="宋体"/>
                <a:cs typeface="宋体"/>
              </a:rPr>
              <a:t>操作总线</a:t>
            </a:r>
            <a:endParaRPr sz="1300">
              <a:latin typeface="宋体"/>
              <a:cs typeface="宋体"/>
            </a:endParaRPr>
          </a:p>
        </p:txBody>
      </p:sp>
      <p:grpSp>
        <p:nvGrpSpPr>
          <p:cNvPr id="9" name="object 9" descr=""/>
          <p:cNvGrpSpPr/>
          <p:nvPr/>
        </p:nvGrpSpPr>
        <p:grpSpPr>
          <a:xfrm>
            <a:off x="1869232" y="2061240"/>
            <a:ext cx="5369560" cy="3169920"/>
            <a:chOff x="1869232" y="2061240"/>
            <a:chExt cx="5369560" cy="3169920"/>
          </a:xfrm>
        </p:grpSpPr>
        <p:sp>
          <p:nvSpPr>
            <p:cNvPr id="10" name="object 10" descr=""/>
            <p:cNvSpPr/>
            <p:nvPr/>
          </p:nvSpPr>
          <p:spPr>
            <a:xfrm>
              <a:off x="3264913" y="2068542"/>
              <a:ext cx="872490" cy="876300"/>
            </a:xfrm>
            <a:custGeom>
              <a:avLst/>
              <a:gdLst/>
              <a:ahLst/>
              <a:cxnLst/>
              <a:rect l="l" t="t" r="r" b="b"/>
              <a:pathLst>
                <a:path w="872489" h="876300">
                  <a:moveTo>
                    <a:pt x="872476" y="0"/>
                  </a:moveTo>
                  <a:lnTo>
                    <a:pt x="0" y="0"/>
                  </a:lnTo>
                  <a:lnTo>
                    <a:pt x="0" y="875882"/>
                  </a:lnTo>
                  <a:lnTo>
                    <a:pt x="872476" y="875882"/>
                  </a:lnTo>
                  <a:lnTo>
                    <a:pt x="872476" y="0"/>
                  </a:lnTo>
                  <a:close/>
                </a:path>
              </a:pathLst>
            </a:custGeom>
            <a:solidFill>
              <a:srgbClr val="FFCC99"/>
            </a:solidFill>
          </p:spPr>
          <p:txBody>
            <a:bodyPr wrap="square" lIns="0" tIns="0" rIns="0" bIns="0" rtlCol="0"/>
            <a:lstStyle/>
            <a:p/>
          </p:txBody>
        </p:sp>
        <p:sp>
          <p:nvSpPr>
            <p:cNvPr id="11" name="object 11" descr=""/>
            <p:cNvSpPr/>
            <p:nvPr/>
          </p:nvSpPr>
          <p:spPr>
            <a:xfrm>
              <a:off x="3264913" y="2068542"/>
              <a:ext cx="872490" cy="876300"/>
            </a:xfrm>
            <a:custGeom>
              <a:avLst/>
              <a:gdLst/>
              <a:ahLst/>
              <a:cxnLst/>
              <a:rect l="l" t="t" r="r" b="b"/>
              <a:pathLst>
                <a:path w="872489" h="876300">
                  <a:moveTo>
                    <a:pt x="0" y="875882"/>
                  </a:moveTo>
                  <a:lnTo>
                    <a:pt x="872476" y="875882"/>
                  </a:lnTo>
                  <a:lnTo>
                    <a:pt x="872476" y="0"/>
                  </a:lnTo>
                  <a:lnTo>
                    <a:pt x="0" y="0"/>
                  </a:lnTo>
                  <a:lnTo>
                    <a:pt x="0" y="875882"/>
                  </a:lnTo>
                  <a:close/>
                </a:path>
              </a:pathLst>
            </a:custGeom>
            <a:ln w="14036">
              <a:solidFill>
                <a:srgbClr val="000000"/>
              </a:solidFill>
            </a:ln>
          </p:spPr>
          <p:txBody>
            <a:bodyPr wrap="square" lIns="0" tIns="0" rIns="0" bIns="0" rtlCol="0"/>
            <a:lstStyle/>
            <a:p/>
          </p:txBody>
        </p:sp>
        <p:sp>
          <p:nvSpPr>
            <p:cNvPr id="12" name="object 12" descr=""/>
            <p:cNvSpPr/>
            <p:nvPr/>
          </p:nvSpPr>
          <p:spPr>
            <a:xfrm>
              <a:off x="3264903" y="2236431"/>
              <a:ext cx="873125" cy="539750"/>
            </a:xfrm>
            <a:custGeom>
              <a:avLst/>
              <a:gdLst/>
              <a:ahLst/>
              <a:cxnLst/>
              <a:rect l="l" t="t" r="r" b="b"/>
              <a:pathLst>
                <a:path w="873125" h="539750">
                  <a:moveTo>
                    <a:pt x="872578" y="525691"/>
                  </a:moveTo>
                  <a:lnTo>
                    <a:pt x="0" y="525691"/>
                  </a:lnTo>
                  <a:lnTo>
                    <a:pt x="0" y="539724"/>
                  </a:lnTo>
                  <a:lnTo>
                    <a:pt x="872578" y="539724"/>
                  </a:lnTo>
                  <a:lnTo>
                    <a:pt x="872578" y="525691"/>
                  </a:lnTo>
                  <a:close/>
                </a:path>
                <a:path w="873125" h="539750">
                  <a:moveTo>
                    <a:pt x="872578" y="350964"/>
                  </a:moveTo>
                  <a:lnTo>
                    <a:pt x="0" y="350964"/>
                  </a:lnTo>
                  <a:lnTo>
                    <a:pt x="0" y="364998"/>
                  </a:lnTo>
                  <a:lnTo>
                    <a:pt x="872578" y="364998"/>
                  </a:lnTo>
                  <a:lnTo>
                    <a:pt x="872578" y="350964"/>
                  </a:lnTo>
                  <a:close/>
                </a:path>
                <a:path w="873125" h="539750">
                  <a:moveTo>
                    <a:pt x="872578" y="175107"/>
                  </a:moveTo>
                  <a:lnTo>
                    <a:pt x="0" y="175107"/>
                  </a:lnTo>
                  <a:lnTo>
                    <a:pt x="0" y="189128"/>
                  </a:lnTo>
                  <a:lnTo>
                    <a:pt x="872578" y="189128"/>
                  </a:lnTo>
                  <a:lnTo>
                    <a:pt x="872578" y="175107"/>
                  </a:lnTo>
                  <a:close/>
                </a:path>
                <a:path w="873125" h="539750">
                  <a:moveTo>
                    <a:pt x="872578" y="0"/>
                  </a:moveTo>
                  <a:lnTo>
                    <a:pt x="0" y="0"/>
                  </a:lnTo>
                  <a:lnTo>
                    <a:pt x="0" y="14033"/>
                  </a:lnTo>
                  <a:lnTo>
                    <a:pt x="872578" y="14033"/>
                  </a:lnTo>
                  <a:lnTo>
                    <a:pt x="872578" y="0"/>
                  </a:lnTo>
                  <a:close/>
                </a:path>
              </a:pathLst>
            </a:custGeom>
            <a:solidFill>
              <a:srgbClr val="000000"/>
            </a:solidFill>
          </p:spPr>
          <p:txBody>
            <a:bodyPr wrap="square" lIns="0" tIns="0" rIns="0" bIns="0" rtlCol="0"/>
            <a:lstStyle/>
            <a:p/>
          </p:txBody>
        </p:sp>
        <p:sp>
          <p:nvSpPr>
            <p:cNvPr id="13" name="object 13" descr=""/>
            <p:cNvSpPr/>
            <p:nvPr/>
          </p:nvSpPr>
          <p:spPr>
            <a:xfrm>
              <a:off x="1876535" y="3879511"/>
              <a:ext cx="595630" cy="1285240"/>
            </a:xfrm>
            <a:custGeom>
              <a:avLst/>
              <a:gdLst/>
              <a:ahLst/>
              <a:cxnLst/>
              <a:rect l="l" t="t" r="r" b="b"/>
              <a:pathLst>
                <a:path w="595630" h="1285239">
                  <a:moveTo>
                    <a:pt x="595253" y="0"/>
                  </a:moveTo>
                  <a:lnTo>
                    <a:pt x="0" y="0"/>
                  </a:lnTo>
                  <a:lnTo>
                    <a:pt x="0" y="1285145"/>
                  </a:lnTo>
                  <a:lnTo>
                    <a:pt x="595253" y="1285145"/>
                  </a:lnTo>
                  <a:lnTo>
                    <a:pt x="595253" y="0"/>
                  </a:lnTo>
                  <a:close/>
                </a:path>
              </a:pathLst>
            </a:custGeom>
            <a:solidFill>
              <a:srgbClr val="CCFFCC"/>
            </a:solidFill>
          </p:spPr>
          <p:txBody>
            <a:bodyPr wrap="square" lIns="0" tIns="0" rIns="0" bIns="0" rtlCol="0"/>
            <a:lstStyle/>
            <a:p/>
          </p:txBody>
        </p:sp>
        <p:sp>
          <p:nvSpPr>
            <p:cNvPr id="14" name="object 14" descr=""/>
            <p:cNvSpPr/>
            <p:nvPr/>
          </p:nvSpPr>
          <p:spPr>
            <a:xfrm>
              <a:off x="1876535" y="3879511"/>
              <a:ext cx="595630" cy="1285240"/>
            </a:xfrm>
            <a:custGeom>
              <a:avLst/>
              <a:gdLst/>
              <a:ahLst/>
              <a:cxnLst/>
              <a:rect l="l" t="t" r="r" b="b"/>
              <a:pathLst>
                <a:path w="595630" h="1285239">
                  <a:moveTo>
                    <a:pt x="0" y="1285145"/>
                  </a:moveTo>
                  <a:lnTo>
                    <a:pt x="595253" y="1285145"/>
                  </a:lnTo>
                  <a:lnTo>
                    <a:pt x="595253" y="0"/>
                  </a:lnTo>
                  <a:lnTo>
                    <a:pt x="0" y="0"/>
                  </a:lnTo>
                  <a:lnTo>
                    <a:pt x="0" y="1285145"/>
                  </a:lnTo>
                  <a:close/>
                </a:path>
              </a:pathLst>
            </a:custGeom>
            <a:ln w="14040">
              <a:solidFill>
                <a:srgbClr val="000000"/>
              </a:solidFill>
            </a:ln>
          </p:spPr>
          <p:txBody>
            <a:bodyPr wrap="square" lIns="0" tIns="0" rIns="0" bIns="0" rtlCol="0"/>
            <a:lstStyle/>
            <a:p/>
          </p:txBody>
        </p:sp>
        <p:sp>
          <p:nvSpPr>
            <p:cNvPr id="15" name="object 15" descr=""/>
            <p:cNvSpPr/>
            <p:nvPr/>
          </p:nvSpPr>
          <p:spPr>
            <a:xfrm>
              <a:off x="1876526" y="4086250"/>
              <a:ext cx="595630" cy="871855"/>
            </a:xfrm>
            <a:custGeom>
              <a:avLst/>
              <a:gdLst/>
              <a:ahLst/>
              <a:cxnLst/>
              <a:rect l="l" t="t" r="r" b="b"/>
              <a:pathLst>
                <a:path w="595630" h="871854">
                  <a:moveTo>
                    <a:pt x="595236" y="857275"/>
                  </a:moveTo>
                  <a:lnTo>
                    <a:pt x="0" y="857275"/>
                  </a:lnTo>
                  <a:lnTo>
                    <a:pt x="0" y="871308"/>
                  </a:lnTo>
                  <a:lnTo>
                    <a:pt x="595236" y="871308"/>
                  </a:lnTo>
                  <a:lnTo>
                    <a:pt x="595236" y="857275"/>
                  </a:lnTo>
                  <a:close/>
                </a:path>
                <a:path w="595630" h="871854">
                  <a:moveTo>
                    <a:pt x="595236" y="642696"/>
                  </a:moveTo>
                  <a:lnTo>
                    <a:pt x="0" y="642696"/>
                  </a:lnTo>
                  <a:lnTo>
                    <a:pt x="0" y="656729"/>
                  </a:lnTo>
                  <a:lnTo>
                    <a:pt x="595236" y="656729"/>
                  </a:lnTo>
                  <a:lnTo>
                    <a:pt x="595236" y="642696"/>
                  </a:lnTo>
                  <a:close/>
                </a:path>
                <a:path w="595630" h="871854">
                  <a:moveTo>
                    <a:pt x="595236" y="428599"/>
                  </a:moveTo>
                  <a:lnTo>
                    <a:pt x="0" y="428599"/>
                  </a:lnTo>
                  <a:lnTo>
                    <a:pt x="0" y="442633"/>
                  </a:lnTo>
                  <a:lnTo>
                    <a:pt x="595236" y="442633"/>
                  </a:lnTo>
                  <a:lnTo>
                    <a:pt x="595236" y="428599"/>
                  </a:lnTo>
                  <a:close/>
                </a:path>
                <a:path w="595630" h="871854">
                  <a:moveTo>
                    <a:pt x="595236" y="214871"/>
                  </a:moveTo>
                  <a:lnTo>
                    <a:pt x="0" y="214871"/>
                  </a:lnTo>
                  <a:lnTo>
                    <a:pt x="0" y="228904"/>
                  </a:lnTo>
                  <a:lnTo>
                    <a:pt x="595236" y="228904"/>
                  </a:lnTo>
                  <a:lnTo>
                    <a:pt x="595236" y="214871"/>
                  </a:lnTo>
                  <a:close/>
                </a:path>
                <a:path w="595630" h="871854">
                  <a:moveTo>
                    <a:pt x="595236" y="0"/>
                  </a:moveTo>
                  <a:lnTo>
                    <a:pt x="0" y="0"/>
                  </a:lnTo>
                  <a:lnTo>
                    <a:pt x="0" y="14033"/>
                  </a:lnTo>
                  <a:lnTo>
                    <a:pt x="595236" y="14033"/>
                  </a:lnTo>
                  <a:lnTo>
                    <a:pt x="595236" y="0"/>
                  </a:lnTo>
                  <a:close/>
                </a:path>
              </a:pathLst>
            </a:custGeom>
            <a:solidFill>
              <a:srgbClr val="000000"/>
            </a:solidFill>
          </p:spPr>
          <p:txBody>
            <a:bodyPr wrap="square" lIns="0" tIns="0" rIns="0" bIns="0" rtlCol="0"/>
            <a:lstStyle/>
            <a:p/>
          </p:txBody>
        </p:sp>
        <p:sp>
          <p:nvSpPr>
            <p:cNvPr id="16" name="object 16" descr=""/>
            <p:cNvSpPr/>
            <p:nvPr/>
          </p:nvSpPr>
          <p:spPr>
            <a:xfrm>
              <a:off x="3106058" y="4638833"/>
              <a:ext cx="1626870" cy="584835"/>
            </a:xfrm>
            <a:custGeom>
              <a:avLst/>
              <a:gdLst/>
              <a:ahLst/>
              <a:cxnLst/>
              <a:rect l="l" t="t" r="r" b="b"/>
              <a:pathLst>
                <a:path w="1626870" h="584835">
                  <a:moveTo>
                    <a:pt x="1626282" y="0"/>
                  </a:moveTo>
                  <a:lnTo>
                    <a:pt x="0" y="0"/>
                  </a:lnTo>
                  <a:lnTo>
                    <a:pt x="0" y="584537"/>
                  </a:lnTo>
                  <a:lnTo>
                    <a:pt x="1626282" y="584537"/>
                  </a:lnTo>
                  <a:lnTo>
                    <a:pt x="1626282" y="0"/>
                  </a:lnTo>
                  <a:close/>
                </a:path>
              </a:pathLst>
            </a:custGeom>
            <a:solidFill>
              <a:srgbClr val="CCFFCC"/>
            </a:solidFill>
          </p:spPr>
          <p:txBody>
            <a:bodyPr wrap="square" lIns="0" tIns="0" rIns="0" bIns="0" rtlCol="0"/>
            <a:lstStyle/>
            <a:p/>
          </p:txBody>
        </p:sp>
        <p:sp>
          <p:nvSpPr>
            <p:cNvPr id="17" name="object 17" descr=""/>
            <p:cNvSpPr/>
            <p:nvPr/>
          </p:nvSpPr>
          <p:spPr>
            <a:xfrm>
              <a:off x="3106058" y="4638833"/>
              <a:ext cx="1626870" cy="584835"/>
            </a:xfrm>
            <a:custGeom>
              <a:avLst/>
              <a:gdLst/>
              <a:ahLst/>
              <a:cxnLst/>
              <a:rect l="l" t="t" r="r" b="b"/>
              <a:pathLst>
                <a:path w="1626870" h="584835">
                  <a:moveTo>
                    <a:pt x="0" y="584537"/>
                  </a:moveTo>
                  <a:lnTo>
                    <a:pt x="1626282" y="584537"/>
                  </a:lnTo>
                  <a:lnTo>
                    <a:pt x="1626282" y="0"/>
                  </a:lnTo>
                  <a:lnTo>
                    <a:pt x="0" y="0"/>
                  </a:lnTo>
                  <a:lnTo>
                    <a:pt x="0" y="584537"/>
                  </a:lnTo>
                  <a:close/>
                </a:path>
              </a:pathLst>
            </a:custGeom>
            <a:ln w="14031">
              <a:solidFill>
                <a:srgbClr val="000000"/>
              </a:solidFill>
            </a:ln>
          </p:spPr>
          <p:txBody>
            <a:bodyPr wrap="square" lIns="0" tIns="0" rIns="0" bIns="0" rtlCol="0"/>
            <a:lstStyle/>
            <a:p/>
          </p:txBody>
        </p:sp>
        <p:sp>
          <p:nvSpPr>
            <p:cNvPr id="18" name="object 18" descr=""/>
            <p:cNvSpPr/>
            <p:nvPr/>
          </p:nvSpPr>
          <p:spPr>
            <a:xfrm>
              <a:off x="3106051" y="4826990"/>
              <a:ext cx="1626870" cy="208279"/>
            </a:xfrm>
            <a:custGeom>
              <a:avLst/>
              <a:gdLst/>
              <a:ahLst/>
              <a:cxnLst/>
              <a:rect l="l" t="t" r="r" b="b"/>
              <a:pathLst>
                <a:path w="1626870" h="208279">
                  <a:moveTo>
                    <a:pt x="1626285" y="194233"/>
                  </a:moveTo>
                  <a:lnTo>
                    <a:pt x="0" y="194233"/>
                  </a:lnTo>
                  <a:lnTo>
                    <a:pt x="0" y="208254"/>
                  </a:lnTo>
                  <a:lnTo>
                    <a:pt x="1626285" y="208254"/>
                  </a:lnTo>
                  <a:lnTo>
                    <a:pt x="1626285" y="194233"/>
                  </a:lnTo>
                  <a:close/>
                </a:path>
                <a:path w="1626870" h="208279">
                  <a:moveTo>
                    <a:pt x="1626285" y="0"/>
                  </a:moveTo>
                  <a:lnTo>
                    <a:pt x="0" y="0"/>
                  </a:lnTo>
                  <a:lnTo>
                    <a:pt x="0" y="14020"/>
                  </a:lnTo>
                  <a:lnTo>
                    <a:pt x="1626285" y="14020"/>
                  </a:lnTo>
                  <a:lnTo>
                    <a:pt x="1626285" y="0"/>
                  </a:lnTo>
                  <a:close/>
                </a:path>
              </a:pathLst>
            </a:custGeom>
            <a:solidFill>
              <a:srgbClr val="000000"/>
            </a:solidFill>
          </p:spPr>
          <p:txBody>
            <a:bodyPr wrap="square" lIns="0" tIns="0" rIns="0" bIns="0" rtlCol="0"/>
            <a:lstStyle/>
            <a:p/>
          </p:txBody>
        </p:sp>
        <p:sp>
          <p:nvSpPr>
            <p:cNvPr id="19" name="object 19" descr=""/>
            <p:cNvSpPr/>
            <p:nvPr/>
          </p:nvSpPr>
          <p:spPr>
            <a:xfrm>
              <a:off x="3382828" y="4638852"/>
              <a:ext cx="692785" cy="584835"/>
            </a:xfrm>
            <a:custGeom>
              <a:avLst/>
              <a:gdLst/>
              <a:ahLst/>
              <a:cxnLst/>
              <a:rect l="l" t="t" r="r" b="b"/>
              <a:pathLst>
                <a:path w="692785" h="584835">
                  <a:moveTo>
                    <a:pt x="0" y="0"/>
                  </a:moveTo>
                  <a:lnTo>
                    <a:pt x="0" y="584518"/>
                  </a:lnTo>
                </a:path>
                <a:path w="692785" h="584835">
                  <a:moveTo>
                    <a:pt x="692207" y="0"/>
                  </a:moveTo>
                  <a:lnTo>
                    <a:pt x="692207" y="584518"/>
                  </a:lnTo>
                </a:path>
              </a:pathLst>
            </a:custGeom>
            <a:ln w="14036">
              <a:solidFill>
                <a:srgbClr val="000000"/>
              </a:solidFill>
            </a:ln>
          </p:spPr>
          <p:txBody>
            <a:bodyPr wrap="square" lIns="0" tIns="0" rIns="0" bIns="0" rtlCol="0"/>
            <a:lstStyle/>
            <a:p/>
          </p:txBody>
        </p:sp>
        <p:sp>
          <p:nvSpPr>
            <p:cNvPr id="20" name="object 20" descr=""/>
            <p:cNvSpPr/>
            <p:nvPr/>
          </p:nvSpPr>
          <p:spPr>
            <a:xfrm>
              <a:off x="5604723" y="4755394"/>
              <a:ext cx="1626870" cy="409575"/>
            </a:xfrm>
            <a:custGeom>
              <a:avLst/>
              <a:gdLst/>
              <a:ahLst/>
              <a:cxnLst/>
              <a:rect l="l" t="t" r="r" b="b"/>
              <a:pathLst>
                <a:path w="1626870" h="409575">
                  <a:moveTo>
                    <a:pt x="1626282" y="0"/>
                  </a:moveTo>
                  <a:lnTo>
                    <a:pt x="0" y="0"/>
                  </a:lnTo>
                  <a:lnTo>
                    <a:pt x="0" y="409262"/>
                  </a:lnTo>
                  <a:lnTo>
                    <a:pt x="1626282" y="409262"/>
                  </a:lnTo>
                  <a:lnTo>
                    <a:pt x="1626282" y="0"/>
                  </a:lnTo>
                  <a:close/>
                </a:path>
              </a:pathLst>
            </a:custGeom>
            <a:solidFill>
              <a:srgbClr val="CCFFCC"/>
            </a:solidFill>
          </p:spPr>
          <p:txBody>
            <a:bodyPr wrap="square" lIns="0" tIns="0" rIns="0" bIns="0" rtlCol="0"/>
            <a:lstStyle/>
            <a:p/>
          </p:txBody>
        </p:sp>
        <p:sp>
          <p:nvSpPr>
            <p:cNvPr id="21" name="object 21" descr=""/>
            <p:cNvSpPr/>
            <p:nvPr/>
          </p:nvSpPr>
          <p:spPr>
            <a:xfrm>
              <a:off x="5604723" y="4755394"/>
              <a:ext cx="1626870" cy="409575"/>
            </a:xfrm>
            <a:custGeom>
              <a:avLst/>
              <a:gdLst/>
              <a:ahLst/>
              <a:cxnLst/>
              <a:rect l="l" t="t" r="r" b="b"/>
              <a:pathLst>
                <a:path w="1626870" h="409575">
                  <a:moveTo>
                    <a:pt x="0" y="409262"/>
                  </a:moveTo>
                  <a:lnTo>
                    <a:pt x="1626282" y="409262"/>
                  </a:lnTo>
                  <a:lnTo>
                    <a:pt x="1626282" y="0"/>
                  </a:lnTo>
                  <a:lnTo>
                    <a:pt x="0" y="0"/>
                  </a:lnTo>
                  <a:lnTo>
                    <a:pt x="0" y="409262"/>
                  </a:lnTo>
                  <a:close/>
                </a:path>
              </a:pathLst>
            </a:custGeom>
            <a:ln w="14030">
              <a:solidFill>
                <a:srgbClr val="000000"/>
              </a:solidFill>
            </a:ln>
          </p:spPr>
          <p:txBody>
            <a:bodyPr wrap="square" lIns="0" tIns="0" rIns="0" bIns="0" rtlCol="0"/>
            <a:lstStyle/>
            <a:p/>
          </p:txBody>
        </p:sp>
        <p:sp>
          <p:nvSpPr>
            <p:cNvPr id="22" name="object 22" descr=""/>
            <p:cNvSpPr/>
            <p:nvPr/>
          </p:nvSpPr>
          <p:spPr>
            <a:xfrm>
              <a:off x="5604723" y="4953453"/>
              <a:ext cx="1626870" cy="14604"/>
            </a:xfrm>
            <a:custGeom>
              <a:avLst/>
              <a:gdLst/>
              <a:ahLst/>
              <a:cxnLst/>
              <a:rect l="l" t="t" r="r" b="b"/>
              <a:pathLst>
                <a:path w="1626870" h="14604">
                  <a:moveTo>
                    <a:pt x="0" y="14029"/>
                  </a:moveTo>
                  <a:lnTo>
                    <a:pt x="1626282" y="14029"/>
                  </a:lnTo>
                  <a:lnTo>
                    <a:pt x="1626282" y="0"/>
                  </a:lnTo>
                  <a:lnTo>
                    <a:pt x="0" y="0"/>
                  </a:lnTo>
                  <a:lnTo>
                    <a:pt x="0" y="14029"/>
                  </a:lnTo>
                  <a:close/>
                </a:path>
              </a:pathLst>
            </a:custGeom>
            <a:solidFill>
              <a:srgbClr val="000000"/>
            </a:solidFill>
          </p:spPr>
          <p:txBody>
            <a:bodyPr wrap="square" lIns="0" tIns="0" rIns="0" bIns="0" rtlCol="0"/>
            <a:lstStyle/>
            <a:p/>
          </p:txBody>
        </p:sp>
        <p:sp>
          <p:nvSpPr>
            <p:cNvPr id="23" name="object 23" descr=""/>
            <p:cNvSpPr/>
            <p:nvPr/>
          </p:nvSpPr>
          <p:spPr>
            <a:xfrm>
              <a:off x="5881115" y="4755394"/>
              <a:ext cx="692785" cy="409575"/>
            </a:xfrm>
            <a:custGeom>
              <a:avLst/>
              <a:gdLst/>
              <a:ahLst/>
              <a:cxnLst/>
              <a:rect l="l" t="t" r="r" b="b"/>
              <a:pathLst>
                <a:path w="692784" h="409575">
                  <a:moveTo>
                    <a:pt x="0" y="0"/>
                  </a:moveTo>
                  <a:lnTo>
                    <a:pt x="0" y="409262"/>
                  </a:lnTo>
                </a:path>
                <a:path w="692784" h="409575">
                  <a:moveTo>
                    <a:pt x="692585" y="0"/>
                  </a:moveTo>
                  <a:lnTo>
                    <a:pt x="692585" y="409262"/>
                  </a:lnTo>
                </a:path>
              </a:pathLst>
            </a:custGeom>
            <a:ln w="14036">
              <a:solidFill>
                <a:srgbClr val="000000"/>
              </a:solidFill>
            </a:ln>
          </p:spPr>
          <p:txBody>
            <a:bodyPr wrap="square" lIns="0" tIns="0" rIns="0" bIns="0" rtlCol="0"/>
            <a:lstStyle/>
            <a:p/>
          </p:txBody>
        </p:sp>
      </p:grpSp>
      <p:sp>
        <p:nvSpPr>
          <p:cNvPr id="24" name="object 24" descr=""/>
          <p:cNvSpPr txBox="1"/>
          <p:nvPr/>
        </p:nvSpPr>
        <p:spPr>
          <a:xfrm>
            <a:off x="747193" y="5632181"/>
            <a:ext cx="1666239" cy="292100"/>
          </a:xfrm>
          <a:prstGeom prst="rect">
            <a:avLst/>
          </a:prstGeom>
          <a:solidFill>
            <a:srgbClr val="CCFFFF"/>
          </a:solidFill>
          <a:ln w="14030">
            <a:solidFill>
              <a:srgbClr val="000000"/>
            </a:solidFill>
          </a:ln>
        </p:spPr>
        <p:txBody>
          <a:bodyPr wrap="square" lIns="0" tIns="33020" rIns="0" bIns="0" rtlCol="0" vert="horz">
            <a:spAutoFit/>
          </a:bodyPr>
          <a:lstStyle/>
          <a:p>
            <a:pPr marL="450850">
              <a:lnSpc>
                <a:spcPct val="100000"/>
              </a:lnSpc>
              <a:spcBef>
                <a:spcPts val="260"/>
              </a:spcBef>
            </a:pPr>
            <a:r>
              <a:rPr dirty="0" sz="1300" spc="-15" b="1">
                <a:latin typeface="宋体"/>
                <a:cs typeface="宋体"/>
              </a:rPr>
              <a:t>存储部件</a:t>
            </a:r>
            <a:endParaRPr sz="1300">
              <a:latin typeface="宋体"/>
              <a:cs typeface="宋体"/>
            </a:endParaRPr>
          </a:p>
        </p:txBody>
      </p:sp>
      <p:sp>
        <p:nvSpPr>
          <p:cNvPr id="25" name="object 25" descr=""/>
          <p:cNvSpPr txBox="1"/>
          <p:nvPr/>
        </p:nvSpPr>
        <p:spPr>
          <a:xfrm>
            <a:off x="3381884" y="5632181"/>
            <a:ext cx="1269365" cy="292100"/>
          </a:xfrm>
          <a:prstGeom prst="rect">
            <a:avLst/>
          </a:prstGeom>
          <a:solidFill>
            <a:srgbClr val="FFC8E3"/>
          </a:solidFill>
          <a:ln w="14030">
            <a:solidFill>
              <a:srgbClr val="000000"/>
            </a:solidFill>
          </a:ln>
        </p:spPr>
        <p:txBody>
          <a:bodyPr wrap="square" lIns="0" tIns="26034" rIns="0" bIns="0" rtlCol="0" vert="horz">
            <a:spAutoFit/>
          </a:bodyPr>
          <a:lstStyle/>
          <a:p>
            <a:pPr marL="216535">
              <a:lnSpc>
                <a:spcPct val="100000"/>
              </a:lnSpc>
              <a:spcBef>
                <a:spcPts val="204"/>
              </a:spcBef>
            </a:pPr>
            <a:r>
              <a:rPr dirty="0" sz="1300" spc="-10" b="1">
                <a:latin typeface="宋体"/>
                <a:cs typeface="宋体"/>
              </a:rPr>
              <a:t>浮点加法器</a:t>
            </a:r>
            <a:endParaRPr sz="1300">
              <a:latin typeface="宋体"/>
              <a:cs typeface="宋体"/>
            </a:endParaRPr>
          </a:p>
        </p:txBody>
      </p:sp>
      <p:sp>
        <p:nvSpPr>
          <p:cNvPr id="26" name="object 26" descr=""/>
          <p:cNvSpPr txBox="1"/>
          <p:nvPr/>
        </p:nvSpPr>
        <p:spPr>
          <a:xfrm>
            <a:off x="5920546" y="5632181"/>
            <a:ext cx="1269365" cy="292100"/>
          </a:xfrm>
          <a:prstGeom prst="rect">
            <a:avLst/>
          </a:prstGeom>
          <a:solidFill>
            <a:srgbClr val="F3E7FF"/>
          </a:solidFill>
          <a:ln w="14030">
            <a:solidFill>
              <a:srgbClr val="000000"/>
            </a:solidFill>
          </a:ln>
        </p:spPr>
        <p:txBody>
          <a:bodyPr wrap="square" lIns="0" tIns="26034" rIns="0" bIns="0" rtlCol="0" vert="horz">
            <a:spAutoFit/>
          </a:bodyPr>
          <a:lstStyle/>
          <a:p>
            <a:pPr marL="227329">
              <a:lnSpc>
                <a:spcPct val="100000"/>
              </a:lnSpc>
              <a:spcBef>
                <a:spcPts val="204"/>
              </a:spcBef>
            </a:pPr>
            <a:r>
              <a:rPr dirty="0" sz="1300" spc="-10" b="1">
                <a:latin typeface="宋体"/>
                <a:cs typeface="宋体"/>
              </a:rPr>
              <a:t>浮点乘法器</a:t>
            </a:r>
            <a:endParaRPr sz="1300">
              <a:latin typeface="宋体"/>
              <a:cs typeface="宋体"/>
            </a:endParaRPr>
          </a:p>
        </p:txBody>
      </p:sp>
      <p:grpSp>
        <p:nvGrpSpPr>
          <p:cNvPr id="27" name="object 27" descr=""/>
          <p:cNvGrpSpPr/>
          <p:nvPr/>
        </p:nvGrpSpPr>
        <p:grpSpPr>
          <a:xfrm>
            <a:off x="1510638" y="306214"/>
            <a:ext cx="6083300" cy="6038215"/>
            <a:chOff x="1510638" y="306214"/>
            <a:chExt cx="6083300" cy="6038215"/>
          </a:xfrm>
        </p:grpSpPr>
        <p:sp>
          <p:nvSpPr>
            <p:cNvPr id="28" name="object 28" descr=""/>
            <p:cNvSpPr/>
            <p:nvPr/>
          </p:nvSpPr>
          <p:spPr>
            <a:xfrm>
              <a:off x="5168532" y="2302022"/>
              <a:ext cx="1190625" cy="818515"/>
            </a:xfrm>
            <a:custGeom>
              <a:avLst/>
              <a:gdLst/>
              <a:ahLst/>
              <a:cxnLst/>
              <a:rect l="l" t="t" r="r" b="b"/>
              <a:pathLst>
                <a:path w="1190625" h="818514">
                  <a:moveTo>
                    <a:pt x="1190035" y="0"/>
                  </a:moveTo>
                  <a:lnTo>
                    <a:pt x="0" y="0"/>
                  </a:lnTo>
                  <a:lnTo>
                    <a:pt x="0" y="818073"/>
                  </a:lnTo>
                  <a:lnTo>
                    <a:pt x="1190035" y="818073"/>
                  </a:lnTo>
                  <a:lnTo>
                    <a:pt x="1190035" y="0"/>
                  </a:lnTo>
                  <a:close/>
                </a:path>
              </a:pathLst>
            </a:custGeom>
            <a:solidFill>
              <a:srgbClr val="FFFF99"/>
            </a:solidFill>
          </p:spPr>
          <p:txBody>
            <a:bodyPr wrap="square" lIns="0" tIns="0" rIns="0" bIns="0" rtlCol="0"/>
            <a:lstStyle/>
            <a:p/>
          </p:txBody>
        </p:sp>
        <p:sp>
          <p:nvSpPr>
            <p:cNvPr id="29" name="object 29" descr=""/>
            <p:cNvSpPr/>
            <p:nvPr/>
          </p:nvSpPr>
          <p:spPr>
            <a:xfrm>
              <a:off x="5168532" y="2302022"/>
              <a:ext cx="1190625" cy="818515"/>
            </a:xfrm>
            <a:custGeom>
              <a:avLst/>
              <a:gdLst/>
              <a:ahLst/>
              <a:cxnLst/>
              <a:rect l="l" t="t" r="r" b="b"/>
              <a:pathLst>
                <a:path w="1190625" h="818514">
                  <a:moveTo>
                    <a:pt x="0" y="818073"/>
                  </a:moveTo>
                  <a:lnTo>
                    <a:pt x="1190035" y="818073"/>
                  </a:lnTo>
                  <a:lnTo>
                    <a:pt x="1190035" y="0"/>
                  </a:lnTo>
                  <a:lnTo>
                    <a:pt x="0" y="0"/>
                  </a:lnTo>
                  <a:lnTo>
                    <a:pt x="0" y="818073"/>
                  </a:lnTo>
                  <a:close/>
                </a:path>
              </a:pathLst>
            </a:custGeom>
            <a:ln w="14034">
              <a:solidFill>
                <a:srgbClr val="000000"/>
              </a:solidFill>
            </a:ln>
          </p:spPr>
          <p:txBody>
            <a:bodyPr wrap="square" lIns="0" tIns="0" rIns="0" bIns="0" rtlCol="0"/>
            <a:lstStyle/>
            <a:p/>
          </p:txBody>
        </p:sp>
        <p:sp>
          <p:nvSpPr>
            <p:cNvPr id="30" name="object 30" descr=""/>
            <p:cNvSpPr/>
            <p:nvPr/>
          </p:nvSpPr>
          <p:spPr>
            <a:xfrm>
              <a:off x="5168532" y="2499181"/>
              <a:ext cx="1190625" cy="422909"/>
            </a:xfrm>
            <a:custGeom>
              <a:avLst/>
              <a:gdLst/>
              <a:ahLst/>
              <a:cxnLst/>
              <a:rect l="l" t="t" r="r" b="b"/>
              <a:pathLst>
                <a:path w="1190625" h="422910">
                  <a:moveTo>
                    <a:pt x="1190091" y="408825"/>
                  </a:moveTo>
                  <a:lnTo>
                    <a:pt x="0" y="408825"/>
                  </a:lnTo>
                  <a:lnTo>
                    <a:pt x="0" y="422859"/>
                  </a:lnTo>
                  <a:lnTo>
                    <a:pt x="1190091" y="422859"/>
                  </a:lnTo>
                  <a:lnTo>
                    <a:pt x="1190091" y="408825"/>
                  </a:lnTo>
                  <a:close/>
                </a:path>
                <a:path w="1190625" h="422910">
                  <a:moveTo>
                    <a:pt x="1190091" y="204698"/>
                  </a:moveTo>
                  <a:lnTo>
                    <a:pt x="0" y="204698"/>
                  </a:lnTo>
                  <a:lnTo>
                    <a:pt x="0" y="218732"/>
                  </a:lnTo>
                  <a:lnTo>
                    <a:pt x="1190091" y="218732"/>
                  </a:lnTo>
                  <a:lnTo>
                    <a:pt x="1190091" y="204698"/>
                  </a:lnTo>
                  <a:close/>
                </a:path>
                <a:path w="1190625" h="422910">
                  <a:moveTo>
                    <a:pt x="1190091" y="0"/>
                  </a:moveTo>
                  <a:lnTo>
                    <a:pt x="0" y="0"/>
                  </a:lnTo>
                  <a:lnTo>
                    <a:pt x="0" y="14033"/>
                  </a:lnTo>
                  <a:lnTo>
                    <a:pt x="1190091" y="14033"/>
                  </a:lnTo>
                  <a:lnTo>
                    <a:pt x="1190091" y="0"/>
                  </a:lnTo>
                  <a:close/>
                </a:path>
              </a:pathLst>
            </a:custGeom>
            <a:solidFill>
              <a:srgbClr val="000000"/>
            </a:solidFill>
          </p:spPr>
          <p:txBody>
            <a:bodyPr wrap="square" lIns="0" tIns="0" rIns="0" bIns="0" rtlCol="0"/>
            <a:lstStyle/>
            <a:p/>
          </p:txBody>
        </p:sp>
        <p:sp>
          <p:nvSpPr>
            <p:cNvPr id="31" name="object 31" descr=""/>
            <p:cNvSpPr/>
            <p:nvPr/>
          </p:nvSpPr>
          <p:spPr>
            <a:xfrm>
              <a:off x="3622431" y="1074817"/>
              <a:ext cx="76200" cy="993775"/>
            </a:xfrm>
            <a:custGeom>
              <a:avLst/>
              <a:gdLst/>
              <a:ahLst/>
              <a:cxnLst/>
              <a:rect l="l" t="t" r="r" b="b"/>
              <a:pathLst>
                <a:path w="76200" h="993775">
                  <a:moveTo>
                    <a:pt x="0" y="879859"/>
                  </a:moveTo>
                  <a:lnTo>
                    <a:pt x="37166" y="993706"/>
                  </a:lnTo>
                  <a:lnTo>
                    <a:pt x="59708" y="927358"/>
                  </a:lnTo>
                  <a:lnTo>
                    <a:pt x="32072" y="927358"/>
                  </a:lnTo>
                  <a:lnTo>
                    <a:pt x="28110" y="923211"/>
                  </a:lnTo>
                  <a:lnTo>
                    <a:pt x="28168" y="908709"/>
                  </a:lnTo>
                  <a:lnTo>
                    <a:pt x="0" y="879859"/>
                  </a:lnTo>
                  <a:close/>
                </a:path>
                <a:path w="76200" h="993775">
                  <a:moveTo>
                    <a:pt x="28168" y="908709"/>
                  </a:moveTo>
                  <a:lnTo>
                    <a:pt x="28110" y="923211"/>
                  </a:lnTo>
                  <a:lnTo>
                    <a:pt x="32072" y="927358"/>
                  </a:lnTo>
                  <a:lnTo>
                    <a:pt x="43015" y="927358"/>
                  </a:lnTo>
                  <a:lnTo>
                    <a:pt x="47165" y="923211"/>
                  </a:lnTo>
                  <a:lnTo>
                    <a:pt x="47165" y="918311"/>
                  </a:lnTo>
                  <a:lnTo>
                    <a:pt x="37544" y="918311"/>
                  </a:lnTo>
                  <a:lnTo>
                    <a:pt x="28168" y="908709"/>
                  </a:lnTo>
                  <a:close/>
                </a:path>
                <a:path w="76200" h="993775">
                  <a:moveTo>
                    <a:pt x="75654" y="880425"/>
                  </a:moveTo>
                  <a:lnTo>
                    <a:pt x="47217" y="908709"/>
                  </a:lnTo>
                  <a:lnTo>
                    <a:pt x="47165" y="923211"/>
                  </a:lnTo>
                  <a:lnTo>
                    <a:pt x="43015" y="927358"/>
                  </a:lnTo>
                  <a:lnTo>
                    <a:pt x="59708" y="927358"/>
                  </a:lnTo>
                  <a:lnTo>
                    <a:pt x="75654" y="880425"/>
                  </a:lnTo>
                  <a:close/>
                </a:path>
                <a:path w="76200" h="993775">
                  <a:moveTo>
                    <a:pt x="47920" y="0"/>
                  </a:moveTo>
                  <a:lnTo>
                    <a:pt x="37544" y="0"/>
                  </a:lnTo>
                  <a:lnTo>
                    <a:pt x="33582" y="4523"/>
                  </a:lnTo>
                  <a:lnTo>
                    <a:pt x="33579" y="9801"/>
                  </a:lnTo>
                  <a:lnTo>
                    <a:pt x="28168" y="908709"/>
                  </a:lnTo>
                  <a:lnTo>
                    <a:pt x="37544" y="918311"/>
                  </a:lnTo>
                  <a:lnTo>
                    <a:pt x="47202" y="908709"/>
                  </a:lnTo>
                  <a:lnTo>
                    <a:pt x="47370" y="880425"/>
                  </a:lnTo>
                  <a:lnTo>
                    <a:pt x="52071" y="9801"/>
                  </a:lnTo>
                  <a:lnTo>
                    <a:pt x="52071" y="4523"/>
                  </a:lnTo>
                  <a:lnTo>
                    <a:pt x="47920" y="0"/>
                  </a:lnTo>
                  <a:close/>
                </a:path>
                <a:path w="76200" h="993775">
                  <a:moveTo>
                    <a:pt x="47217" y="908709"/>
                  </a:moveTo>
                  <a:lnTo>
                    <a:pt x="37544" y="918311"/>
                  </a:lnTo>
                  <a:lnTo>
                    <a:pt x="47165" y="918311"/>
                  </a:lnTo>
                  <a:lnTo>
                    <a:pt x="47217" y="908709"/>
                  </a:lnTo>
                  <a:close/>
                </a:path>
              </a:pathLst>
            </a:custGeom>
            <a:solidFill>
              <a:srgbClr val="000000"/>
            </a:solidFill>
          </p:spPr>
          <p:txBody>
            <a:bodyPr wrap="square" lIns="0" tIns="0" rIns="0" bIns="0" rtlCol="0"/>
            <a:lstStyle/>
            <a:p/>
          </p:txBody>
        </p:sp>
        <p:sp>
          <p:nvSpPr>
            <p:cNvPr id="32" name="object 32" descr=""/>
            <p:cNvSpPr/>
            <p:nvPr/>
          </p:nvSpPr>
          <p:spPr>
            <a:xfrm>
              <a:off x="3622431" y="1074817"/>
              <a:ext cx="76200" cy="993775"/>
            </a:xfrm>
            <a:custGeom>
              <a:avLst/>
              <a:gdLst/>
              <a:ahLst/>
              <a:cxnLst/>
              <a:rect l="l" t="t" r="r" b="b"/>
              <a:pathLst>
                <a:path w="76200" h="993775">
                  <a:moveTo>
                    <a:pt x="52071" y="9801"/>
                  </a:moveTo>
                  <a:lnTo>
                    <a:pt x="47165" y="918311"/>
                  </a:lnTo>
                  <a:lnTo>
                    <a:pt x="47165" y="923211"/>
                  </a:lnTo>
                  <a:lnTo>
                    <a:pt x="43015" y="927358"/>
                  </a:lnTo>
                  <a:lnTo>
                    <a:pt x="37166" y="927358"/>
                  </a:lnTo>
                  <a:lnTo>
                    <a:pt x="32072" y="927358"/>
                  </a:lnTo>
                  <a:lnTo>
                    <a:pt x="28110" y="923211"/>
                  </a:lnTo>
                  <a:lnTo>
                    <a:pt x="28110" y="918311"/>
                  </a:lnTo>
                  <a:lnTo>
                    <a:pt x="33582" y="9424"/>
                  </a:lnTo>
                  <a:lnTo>
                    <a:pt x="33582" y="4523"/>
                  </a:lnTo>
                  <a:lnTo>
                    <a:pt x="37544" y="0"/>
                  </a:lnTo>
                  <a:lnTo>
                    <a:pt x="43015" y="0"/>
                  </a:lnTo>
                  <a:lnTo>
                    <a:pt x="47920" y="0"/>
                  </a:lnTo>
                  <a:lnTo>
                    <a:pt x="52071" y="4523"/>
                  </a:lnTo>
                  <a:lnTo>
                    <a:pt x="52071" y="9801"/>
                  </a:lnTo>
                  <a:close/>
                </a:path>
                <a:path w="76200" h="993775">
                  <a:moveTo>
                    <a:pt x="37544" y="918311"/>
                  </a:moveTo>
                  <a:lnTo>
                    <a:pt x="75654" y="880425"/>
                  </a:lnTo>
                  <a:lnTo>
                    <a:pt x="37166" y="993706"/>
                  </a:lnTo>
                  <a:lnTo>
                    <a:pt x="0" y="879859"/>
                  </a:lnTo>
                  <a:lnTo>
                    <a:pt x="37544" y="918311"/>
                  </a:lnTo>
                  <a:close/>
                </a:path>
              </a:pathLst>
            </a:custGeom>
            <a:ln w="6791">
              <a:solidFill>
                <a:srgbClr val="000000"/>
              </a:solidFill>
            </a:ln>
          </p:spPr>
          <p:txBody>
            <a:bodyPr wrap="square" lIns="0" tIns="0" rIns="0" bIns="0" rtlCol="0"/>
            <a:lstStyle/>
            <a:p/>
          </p:txBody>
        </p:sp>
        <p:sp>
          <p:nvSpPr>
            <p:cNvPr id="33" name="object 33" descr=""/>
            <p:cNvSpPr/>
            <p:nvPr/>
          </p:nvSpPr>
          <p:spPr>
            <a:xfrm>
              <a:off x="2152418" y="2944425"/>
              <a:ext cx="1348740" cy="117475"/>
            </a:xfrm>
            <a:custGeom>
              <a:avLst/>
              <a:gdLst/>
              <a:ahLst/>
              <a:cxnLst/>
              <a:rect l="l" t="t" r="r" b="b"/>
              <a:pathLst>
                <a:path w="1348739" h="117475">
                  <a:moveTo>
                    <a:pt x="1348513" y="0"/>
                  </a:moveTo>
                  <a:lnTo>
                    <a:pt x="1348513" y="117050"/>
                  </a:lnTo>
                </a:path>
                <a:path w="1348739" h="117475">
                  <a:moveTo>
                    <a:pt x="0" y="117050"/>
                  </a:moveTo>
                  <a:lnTo>
                    <a:pt x="1348513" y="117050"/>
                  </a:lnTo>
                </a:path>
              </a:pathLst>
            </a:custGeom>
            <a:ln w="14036">
              <a:solidFill>
                <a:srgbClr val="000000"/>
              </a:solidFill>
            </a:ln>
          </p:spPr>
          <p:txBody>
            <a:bodyPr wrap="square" lIns="0" tIns="0" rIns="0" bIns="0" rtlCol="0"/>
            <a:lstStyle/>
            <a:p/>
          </p:txBody>
        </p:sp>
        <p:pic>
          <p:nvPicPr>
            <p:cNvPr id="34" name="object 34" descr=""/>
            <p:cNvPicPr/>
            <p:nvPr/>
          </p:nvPicPr>
          <p:blipFill>
            <a:blip r:embed="rId2" cstate="print"/>
            <a:stretch>
              <a:fillRect/>
            </a:stretch>
          </p:blipFill>
          <p:spPr>
            <a:xfrm>
              <a:off x="2111421" y="3048465"/>
              <a:ext cx="82447" cy="249942"/>
            </a:xfrm>
            <a:prstGeom prst="rect">
              <a:avLst/>
            </a:prstGeom>
          </p:spPr>
        </p:pic>
        <p:sp>
          <p:nvSpPr>
            <p:cNvPr id="35" name="object 35" descr=""/>
            <p:cNvSpPr/>
            <p:nvPr/>
          </p:nvSpPr>
          <p:spPr>
            <a:xfrm>
              <a:off x="2114817" y="3577743"/>
              <a:ext cx="76200" cy="302260"/>
            </a:xfrm>
            <a:custGeom>
              <a:avLst/>
              <a:gdLst/>
              <a:ahLst/>
              <a:cxnLst/>
              <a:rect l="l" t="t" r="r" b="b"/>
              <a:pathLst>
                <a:path w="76200" h="302260">
                  <a:moveTo>
                    <a:pt x="0" y="188299"/>
                  </a:moveTo>
                  <a:lnTo>
                    <a:pt x="37600" y="301768"/>
                  </a:lnTo>
                  <a:lnTo>
                    <a:pt x="59851" y="235420"/>
                  </a:lnTo>
                  <a:lnTo>
                    <a:pt x="32601" y="235420"/>
                  </a:lnTo>
                  <a:lnTo>
                    <a:pt x="28073" y="231274"/>
                  </a:lnTo>
                  <a:lnTo>
                    <a:pt x="28073" y="216725"/>
                  </a:lnTo>
                  <a:lnTo>
                    <a:pt x="0" y="188299"/>
                  </a:lnTo>
                  <a:close/>
                </a:path>
                <a:path w="76200" h="302260">
                  <a:moveTo>
                    <a:pt x="28073" y="216725"/>
                  </a:moveTo>
                  <a:lnTo>
                    <a:pt x="28073" y="231274"/>
                  </a:lnTo>
                  <a:lnTo>
                    <a:pt x="32601" y="235420"/>
                  </a:lnTo>
                  <a:lnTo>
                    <a:pt x="42581" y="235420"/>
                  </a:lnTo>
                  <a:lnTo>
                    <a:pt x="47109" y="231274"/>
                  </a:lnTo>
                  <a:lnTo>
                    <a:pt x="47109" y="226373"/>
                  </a:lnTo>
                  <a:lnTo>
                    <a:pt x="37600" y="226373"/>
                  </a:lnTo>
                  <a:lnTo>
                    <a:pt x="28073" y="216725"/>
                  </a:lnTo>
                  <a:close/>
                </a:path>
                <a:path w="76200" h="302260">
                  <a:moveTo>
                    <a:pt x="75654" y="188299"/>
                  </a:moveTo>
                  <a:lnTo>
                    <a:pt x="47109" y="216859"/>
                  </a:lnTo>
                  <a:lnTo>
                    <a:pt x="47109" y="231274"/>
                  </a:lnTo>
                  <a:lnTo>
                    <a:pt x="42581" y="235420"/>
                  </a:lnTo>
                  <a:lnTo>
                    <a:pt x="59851" y="235420"/>
                  </a:lnTo>
                  <a:lnTo>
                    <a:pt x="75654" y="188299"/>
                  </a:lnTo>
                  <a:close/>
                </a:path>
                <a:path w="76200" h="302260">
                  <a:moveTo>
                    <a:pt x="42581" y="0"/>
                  </a:moveTo>
                  <a:lnTo>
                    <a:pt x="32601" y="0"/>
                  </a:lnTo>
                  <a:lnTo>
                    <a:pt x="28073" y="4523"/>
                  </a:lnTo>
                  <a:lnTo>
                    <a:pt x="28073" y="216725"/>
                  </a:lnTo>
                  <a:lnTo>
                    <a:pt x="37600" y="226373"/>
                  </a:lnTo>
                  <a:lnTo>
                    <a:pt x="47109" y="216859"/>
                  </a:lnTo>
                  <a:lnTo>
                    <a:pt x="47109" y="4523"/>
                  </a:lnTo>
                  <a:lnTo>
                    <a:pt x="42581" y="0"/>
                  </a:lnTo>
                  <a:close/>
                </a:path>
                <a:path w="76200" h="302260">
                  <a:moveTo>
                    <a:pt x="47109" y="216859"/>
                  </a:moveTo>
                  <a:lnTo>
                    <a:pt x="37600" y="226373"/>
                  </a:lnTo>
                  <a:lnTo>
                    <a:pt x="47109" y="226373"/>
                  </a:lnTo>
                  <a:lnTo>
                    <a:pt x="47109" y="216859"/>
                  </a:lnTo>
                  <a:close/>
                </a:path>
              </a:pathLst>
            </a:custGeom>
            <a:solidFill>
              <a:srgbClr val="000000"/>
            </a:solidFill>
          </p:spPr>
          <p:txBody>
            <a:bodyPr wrap="square" lIns="0" tIns="0" rIns="0" bIns="0" rtlCol="0"/>
            <a:lstStyle/>
            <a:p/>
          </p:txBody>
        </p:sp>
        <p:pic>
          <p:nvPicPr>
            <p:cNvPr id="36" name="object 36" descr=""/>
            <p:cNvPicPr/>
            <p:nvPr/>
          </p:nvPicPr>
          <p:blipFill>
            <a:blip r:embed="rId3" cstate="print"/>
            <a:stretch>
              <a:fillRect/>
            </a:stretch>
          </p:blipFill>
          <p:spPr>
            <a:xfrm>
              <a:off x="2111421" y="3574345"/>
              <a:ext cx="82447" cy="308562"/>
            </a:xfrm>
            <a:prstGeom prst="rect">
              <a:avLst/>
            </a:prstGeom>
          </p:spPr>
        </p:pic>
        <p:sp>
          <p:nvSpPr>
            <p:cNvPr id="37" name="object 37" descr=""/>
            <p:cNvSpPr/>
            <p:nvPr/>
          </p:nvSpPr>
          <p:spPr>
            <a:xfrm>
              <a:off x="2195905" y="5155176"/>
              <a:ext cx="76200" cy="477520"/>
            </a:xfrm>
            <a:custGeom>
              <a:avLst/>
              <a:gdLst/>
              <a:ahLst/>
              <a:cxnLst/>
              <a:rect l="l" t="t" r="r" b="b"/>
              <a:pathLst>
                <a:path w="76200" h="477520">
                  <a:moveTo>
                    <a:pt x="0" y="363630"/>
                  </a:moveTo>
                  <a:lnTo>
                    <a:pt x="37581" y="477005"/>
                  </a:lnTo>
                  <a:lnTo>
                    <a:pt x="59903" y="410601"/>
                  </a:lnTo>
                  <a:lnTo>
                    <a:pt x="32676" y="410601"/>
                  </a:lnTo>
                  <a:lnTo>
                    <a:pt x="28525" y="407001"/>
                  </a:lnTo>
                  <a:lnTo>
                    <a:pt x="28525" y="392086"/>
                  </a:lnTo>
                  <a:lnTo>
                    <a:pt x="0" y="363630"/>
                  </a:lnTo>
                  <a:close/>
                </a:path>
                <a:path w="76200" h="477520">
                  <a:moveTo>
                    <a:pt x="28525" y="392086"/>
                  </a:moveTo>
                  <a:lnTo>
                    <a:pt x="28525" y="407001"/>
                  </a:lnTo>
                  <a:lnTo>
                    <a:pt x="32676" y="410601"/>
                  </a:lnTo>
                  <a:lnTo>
                    <a:pt x="42487" y="410601"/>
                  </a:lnTo>
                  <a:lnTo>
                    <a:pt x="47015" y="407001"/>
                  </a:lnTo>
                  <a:lnTo>
                    <a:pt x="47015" y="401120"/>
                  </a:lnTo>
                  <a:lnTo>
                    <a:pt x="37581" y="401120"/>
                  </a:lnTo>
                  <a:lnTo>
                    <a:pt x="28525" y="392086"/>
                  </a:lnTo>
                  <a:close/>
                </a:path>
                <a:path w="76200" h="477520">
                  <a:moveTo>
                    <a:pt x="75691" y="363630"/>
                  </a:moveTo>
                  <a:lnTo>
                    <a:pt x="47015" y="391840"/>
                  </a:lnTo>
                  <a:lnTo>
                    <a:pt x="47015" y="407001"/>
                  </a:lnTo>
                  <a:lnTo>
                    <a:pt x="42487" y="410601"/>
                  </a:lnTo>
                  <a:lnTo>
                    <a:pt x="59903" y="410601"/>
                  </a:lnTo>
                  <a:lnTo>
                    <a:pt x="75691" y="363630"/>
                  </a:lnTo>
                  <a:close/>
                </a:path>
                <a:path w="76200" h="477520">
                  <a:moveTo>
                    <a:pt x="42487" y="0"/>
                  </a:moveTo>
                  <a:lnTo>
                    <a:pt x="32676" y="0"/>
                  </a:lnTo>
                  <a:lnTo>
                    <a:pt x="28525" y="4504"/>
                  </a:lnTo>
                  <a:lnTo>
                    <a:pt x="28525" y="392086"/>
                  </a:lnTo>
                  <a:lnTo>
                    <a:pt x="37581" y="401120"/>
                  </a:lnTo>
                  <a:lnTo>
                    <a:pt x="47015" y="391840"/>
                  </a:lnTo>
                  <a:lnTo>
                    <a:pt x="47015" y="4504"/>
                  </a:lnTo>
                  <a:lnTo>
                    <a:pt x="42487" y="0"/>
                  </a:lnTo>
                  <a:close/>
                </a:path>
                <a:path w="76200" h="477520">
                  <a:moveTo>
                    <a:pt x="47015" y="391840"/>
                  </a:moveTo>
                  <a:lnTo>
                    <a:pt x="37581" y="401120"/>
                  </a:lnTo>
                  <a:lnTo>
                    <a:pt x="47015" y="401120"/>
                  </a:lnTo>
                  <a:lnTo>
                    <a:pt x="47015" y="391840"/>
                  </a:lnTo>
                  <a:close/>
                </a:path>
              </a:pathLst>
            </a:custGeom>
            <a:solidFill>
              <a:srgbClr val="000000"/>
            </a:solidFill>
          </p:spPr>
          <p:txBody>
            <a:bodyPr wrap="square" lIns="0" tIns="0" rIns="0" bIns="0" rtlCol="0"/>
            <a:lstStyle/>
            <a:p/>
          </p:txBody>
        </p:sp>
        <p:sp>
          <p:nvSpPr>
            <p:cNvPr id="38" name="object 38" descr=""/>
            <p:cNvSpPr/>
            <p:nvPr/>
          </p:nvSpPr>
          <p:spPr>
            <a:xfrm>
              <a:off x="2195905" y="5155176"/>
              <a:ext cx="76200" cy="477520"/>
            </a:xfrm>
            <a:custGeom>
              <a:avLst/>
              <a:gdLst/>
              <a:ahLst/>
              <a:cxnLst/>
              <a:rect l="l" t="t" r="r" b="b"/>
              <a:pathLst>
                <a:path w="76200" h="477520">
                  <a:moveTo>
                    <a:pt x="47015" y="9480"/>
                  </a:moveTo>
                  <a:lnTo>
                    <a:pt x="47015" y="401120"/>
                  </a:lnTo>
                  <a:lnTo>
                    <a:pt x="47015" y="407001"/>
                  </a:lnTo>
                  <a:lnTo>
                    <a:pt x="42487" y="410601"/>
                  </a:lnTo>
                  <a:lnTo>
                    <a:pt x="37581" y="410601"/>
                  </a:lnTo>
                  <a:lnTo>
                    <a:pt x="32676" y="410601"/>
                  </a:lnTo>
                  <a:lnTo>
                    <a:pt x="28525" y="407001"/>
                  </a:lnTo>
                  <a:lnTo>
                    <a:pt x="28525" y="401120"/>
                  </a:lnTo>
                  <a:lnTo>
                    <a:pt x="28525" y="9480"/>
                  </a:lnTo>
                  <a:lnTo>
                    <a:pt x="28525" y="4504"/>
                  </a:lnTo>
                  <a:lnTo>
                    <a:pt x="32676" y="0"/>
                  </a:lnTo>
                  <a:lnTo>
                    <a:pt x="37581" y="0"/>
                  </a:lnTo>
                  <a:lnTo>
                    <a:pt x="42487" y="0"/>
                  </a:lnTo>
                  <a:lnTo>
                    <a:pt x="47015" y="4504"/>
                  </a:lnTo>
                  <a:lnTo>
                    <a:pt x="47015" y="9480"/>
                  </a:lnTo>
                  <a:close/>
                </a:path>
                <a:path w="76200" h="477520">
                  <a:moveTo>
                    <a:pt x="37581" y="401120"/>
                  </a:moveTo>
                  <a:lnTo>
                    <a:pt x="75691" y="363630"/>
                  </a:lnTo>
                  <a:lnTo>
                    <a:pt x="37581" y="477005"/>
                  </a:lnTo>
                  <a:lnTo>
                    <a:pt x="0" y="363630"/>
                  </a:lnTo>
                  <a:lnTo>
                    <a:pt x="37581" y="401120"/>
                  </a:lnTo>
                  <a:close/>
                </a:path>
              </a:pathLst>
            </a:custGeom>
            <a:ln w="6791">
              <a:solidFill>
                <a:srgbClr val="000000"/>
              </a:solidFill>
            </a:ln>
          </p:spPr>
          <p:txBody>
            <a:bodyPr wrap="square" lIns="0" tIns="0" rIns="0" bIns="0" rtlCol="0"/>
            <a:lstStyle/>
            <a:p/>
          </p:txBody>
        </p:sp>
        <p:sp>
          <p:nvSpPr>
            <p:cNvPr id="39" name="object 39" descr=""/>
            <p:cNvSpPr/>
            <p:nvPr/>
          </p:nvSpPr>
          <p:spPr>
            <a:xfrm>
              <a:off x="1545845" y="313516"/>
              <a:ext cx="6040755" cy="6023610"/>
            </a:xfrm>
            <a:custGeom>
              <a:avLst/>
              <a:gdLst/>
              <a:ahLst/>
              <a:cxnLst/>
              <a:rect l="l" t="t" r="r" b="b"/>
              <a:pathLst>
                <a:path w="6040755" h="6023610">
                  <a:moveTo>
                    <a:pt x="0" y="6023357"/>
                  </a:moveTo>
                  <a:lnTo>
                    <a:pt x="6040414" y="6019291"/>
                  </a:lnTo>
                </a:path>
                <a:path w="6040755" h="6023610">
                  <a:moveTo>
                    <a:pt x="6040414" y="6019291"/>
                  </a:moveTo>
                  <a:lnTo>
                    <a:pt x="6035320" y="0"/>
                  </a:lnTo>
                </a:path>
              </a:pathLst>
            </a:custGeom>
            <a:ln w="14036">
              <a:solidFill>
                <a:srgbClr val="0000FF"/>
              </a:solidFill>
            </a:ln>
          </p:spPr>
          <p:txBody>
            <a:bodyPr wrap="square" lIns="0" tIns="0" rIns="0" bIns="0" rtlCol="0"/>
            <a:lstStyle/>
            <a:p/>
          </p:txBody>
        </p:sp>
        <p:sp>
          <p:nvSpPr>
            <p:cNvPr id="40" name="object 40" descr=""/>
            <p:cNvSpPr/>
            <p:nvPr/>
          </p:nvSpPr>
          <p:spPr>
            <a:xfrm>
              <a:off x="5966769" y="1406744"/>
              <a:ext cx="76200" cy="895350"/>
            </a:xfrm>
            <a:custGeom>
              <a:avLst/>
              <a:gdLst/>
              <a:ahLst/>
              <a:cxnLst/>
              <a:rect l="l" t="t" r="r" b="b"/>
              <a:pathLst>
                <a:path w="76200" h="895350">
                  <a:moveTo>
                    <a:pt x="0" y="782411"/>
                  </a:moveTo>
                  <a:lnTo>
                    <a:pt x="38487" y="895315"/>
                  </a:lnTo>
                  <a:lnTo>
                    <a:pt x="60147" y="828967"/>
                  </a:lnTo>
                  <a:lnTo>
                    <a:pt x="32638" y="828967"/>
                  </a:lnTo>
                  <a:lnTo>
                    <a:pt x="28488" y="824821"/>
                  </a:lnTo>
                  <a:lnTo>
                    <a:pt x="28429" y="810531"/>
                  </a:lnTo>
                  <a:lnTo>
                    <a:pt x="0" y="782411"/>
                  </a:lnTo>
                  <a:close/>
                </a:path>
                <a:path w="76200" h="895350">
                  <a:moveTo>
                    <a:pt x="28429" y="810531"/>
                  </a:moveTo>
                  <a:lnTo>
                    <a:pt x="28488" y="824821"/>
                  </a:lnTo>
                  <a:lnTo>
                    <a:pt x="32638" y="828967"/>
                  </a:lnTo>
                  <a:lnTo>
                    <a:pt x="43392" y="828967"/>
                  </a:lnTo>
                  <a:lnTo>
                    <a:pt x="47543" y="824821"/>
                  </a:lnTo>
                  <a:lnTo>
                    <a:pt x="47543" y="819920"/>
                  </a:lnTo>
                  <a:lnTo>
                    <a:pt x="37921" y="819920"/>
                  </a:lnTo>
                  <a:lnTo>
                    <a:pt x="28429" y="810531"/>
                  </a:lnTo>
                  <a:close/>
                </a:path>
                <a:path w="76200" h="895350">
                  <a:moveTo>
                    <a:pt x="75654" y="781469"/>
                  </a:moveTo>
                  <a:lnTo>
                    <a:pt x="47477" y="810182"/>
                  </a:lnTo>
                  <a:lnTo>
                    <a:pt x="47543" y="824821"/>
                  </a:lnTo>
                  <a:lnTo>
                    <a:pt x="43392" y="828967"/>
                  </a:lnTo>
                  <a:lnTo>
                    <a:pt x="60147" y="828967"/>
                  </a:lnTo>
                  <a:lnTo>
                    <a:pt x="75654" y="781469"/>
                  </a:lnTo>
                  <a:close/>
                </a:path>
                <a:path w="76200" h="895350">
                  <a:moveTo>
                    <a:pt x="37921" y="0"/>
                  </a:moveTo>
                  <a:lnTo>
                    <a:pt x="27544" y="0"/>
                  </a:lnTo>
                  <a:lnTo>
                    <a:pt x="23394" y="4523"/>
                  </a:lnTo>
                  <a:lnTo>
                    <a:pt x="23394" y="9424"/>
                  </a:lnTo>
                  <a:lnTo>
                    <a:pt x="28427" y="810182"/>
                  </a:lnTo>
                  <a:lnTo>
                    <a:pt x="28429" y="810531"/>
                  </a:lnTo>
                  <a:lnTo>
                    <a:pt x="37921" y="819920"/>
                  </a:lnTo>
                  <a:lnTo>
                    <a:pt x="47477" y="810182"/>
                  </a:lnTo>
                  <a:lnTo>
                    <a:pt x="42072" y="9424"/>
                  </a:lnTo>
                  <a:lnTo>
                    <a:pt x="42072" y="4146"/>
                  </a:lnTo>
                  <a:lnTo>
                    <a:pt x="37921" y="0"/>
                  </a:lnTo>
                  <a:close/>
                </a:path>
                <a:path w="76200" h="895350">
                  <a:moveTo>
                    <a:pt x="47477" y="810182"/>
                  </a:moveTo>
                  <a:lnTo>
                    <a:pt x="37921" y="819920"/>
                  </a:lnTo>
                  <a:lnTo>
                    <a:pt x="47543" y="819920"/>
                  </a:lnTo>
                  <a:lnTo>
                    <a:pt x="47477" y="810182"/>
                  </a:lnTo>
                  <a:close/>
                </a:path>
              </a:pathLst>
            </a:custGeom>
            <a:solidFill>
              <a:srgbClr val="000000"/>
            </a:solidFill>
          </p:spPr>
          <p:txBody>
            <a:bodyPr wrap="square" lIns="0" tIns="0" rIns="0" bIns="0" rtlCol="0"/>
            <a:lstStyle/>
            <a:p/>
          </p:txBody>
        </p:sp>
        <p:sp>
          <p:nvSpPr>
            <p:cNvPr id="41" name="object 41" descr=""/>
            <p:cNvSpPr/>
            <p:nvPr/>
          </p:nvSpPr>
          <p:spPr>
            <a:xfrm>
              <a:off x="5966769" y="1406744"/>
              <a:ext cx="76200" cy="895350"/>
            </a:xfrm>
            <a:custGeom>
              <a:avLst/>
              <a:gdLst/>
              <a:ahLst/>
              <a:cxnLst/>
              <a:rect l="l" t="t" r="r" b="b"/>
              <a:pathLst>
                <a:path w="76200" h="895350">
                  <a:moveTo>
                    <a:pt x="42072" y="9424"/>
                  </a:moveTo>
                  <a:lnTo>
                    <a:pt x="47543" y="819920"/>
                  </a:lnTo>
                  <a:lnTo>
                    <a:pt x="47543" y="824821"/>
                  </a:lnTo>
                  <a:lnTo>
                    <a:pt x="43392" y="828968"/>
                  </a:lnTo>
                  <a:lnTo>
                    <a:pt x="37921" y="828968"/>
                  </a:lnTo>
                  <a:lnTo>
                    <a:pt x="32638" y="828968"/>
                  </a:lnTo>
                  <a:lnTo>
                    <a:pt x="28488" y="824821"/>
                  </a:lnTo>
                  <a:lnTo>
                    <a:pt x="28488" y="819920"/>
                  </a:lnTo>
                  <a:lnTo>
                    <a:pt x="23394" y="9424"/>
                  </a:lnTo>
                  <a:lnTo>
                    <a:pt x="23394" y="4523"/>
                  </a:lnTo>
                  <a:lnTo>
                    <a:pt x="27544" y="0"/>
                  </a:lnTo>
                  <a:lnTo>
                    <a:pt x="32638" y="0"/>
                  </a:lnTo>
                  <a:lnTo>
                    <a:pt x="37921" y="0"/>
                  </a:lnTo>
                  <a:lnTo>
                    <a:pt x="42072" y="4146"/>
                  </a:lnTo>
                  <a:lnTo>
                    <a:pt x="42072" y="9424"/>
                  </a:lnTo>
                  <a:close/>
                </a:path>
                <a:path w="76200" h="895350">
                  <a:moveTo>
                    <a:pt x="37921" y="819920"/>
                  </a:moveTo>
                  <a:lnTo>
                    <a:pt x="75654" y="781469"/>
                  </a:lnTo>
                  <a:lnTo>
                    <a:pt x="38487" y="895315"/>
                  </a:lnTo>
                  <a:lnTo>
                    <a:pt x="0" y="782411"/>
                  </a:lnTo>
                  <a:lnTo>
                    <a:pt x="37921" y="819920"/>
                  </a:lnTo>
                  <a:close/>
                </a:path>
              </a:pathLst>
            </a:custGeom>
            <a:ln w="6791">
              <a:solidFill>
                <a:srgbClr val="000000"/>
              </a:solidFill>
            </a:ln>
          </p:spPr>
          <p:txBody>
            <a:bodyPr wrap="square" lIns="0" tIns="0" rIns="0" bIns="0" rtlCol="0"/>
            <a:lstStyle/>
            <a:p/>
          </p:txBody>
        </p:sp>
        <p:sp>
          <p:nvSpPr>
            <p:cNvPr id="42" name="object 42" descr=""/>
            <p:cNvSpPr/>
            <p:nvPr/>
          </p:nvSpPr>
          <p:spPr>
            <a:xfrm>
              <a:off x="1514130" y="5914969"/>
              <a:ext cx="75565" cy="418465"/>
            </a:xfrm>
            <a:custGeom>
              <a:avLst/>
              <a:gdLst/>
              <a:ahLst/>
              <a:cxnLst/>
              <a:rect l="l" t="t" r="r" b="b"/>
              <a:pathLst>
                <a:path w="75565" h="418464">
                  <a:moveTo>
                    <a:pt x="0" y="305361"/>
                  </a:moveTo>
                  <a:lnTo>
                    <a:pt x="38053" y="417839"/>
                  </a:lnTo>
                  <a:lnTo>
                    <a:pt x="59685" y="352339"/>
                  </a:lnTo>
                  <a:lnTo>
                    <a:pt x="32167" y="352339"/>
                  </a:lnTo>
                  <a:lnTo>
                    <a:pt x="28092" y="347821"/>
                  </a:lnTo>
                  <a:lnTo>
                    <a:pt x="28092" y="333038"/>
                  </a:lnTo>
                  <a:lnTo>
                    <a:pt x="0" y="305361"/>
                  </a:lnTo>
                  <a:close/>
                </a:path>
                <a:path w="75565" h="418464">
                  <a:moveTo>
                    <a:pt x="28092" y="333038"/>
                  </a:moveTo>
                  <a:lnTo>
                    <a:pt x="28092" y="347821"/>
                  </a:lnTo>
                  <a:lnTo>
                    <a:pt x="32167" y="352339"/>
                  </a:lnTo>
                  <a:lnTo>
                    <a:pt x="43034" y="352339"/>
                  </a:lnTo>
                  <a:lnTo>
                    <a:pt x="47109" y="347821"/>
                  </a:lnTo>
                  <a:lnTo>
                    <a:pt x="47109" y="342853"/>
                  </a:lnTo>
                  <a:lnTo>
                    <a:pt x="38053" y="342853"/>
                  </a:lnTo>
                  <a:lnTo>
                    <a:pt x="28092" y="333038"/>
                  </a:lnTo>
                  <a:close/>
                </a:path>
                <a:path w="75565" h="418464">
                  <a:moveTo>
                    <a:pt x="75201" y="305361"/>
                  </a:moveTo>
                  <a:lnTo>
                    <a:pt x="47109" y="333713"/>
                  </a:lnTo>
                  <a:lnTo>
                    <a:pt x="47109" y="347821"/>
                  </a:lnTo>
                  <a:lnTo>
                    <a:pt x="43034" y="352339"/>
                  </a:lnTo>
                  <a:lnTo>
                    <a:pt x="59685" y="352339"/>
                  </a:lnTo>
                  <a:lnTo>
                    <a:pt x="75201" y="305361"/>
                  </a:lnTo>
                  <a:close/>
                </a:path>
                <a:path w="75565" h="418464">
                  <a:moveTo>
                    <a:pt x="43034" y="0"/>
                  </a:moveTo>
                  <a:lnTo>
                    <a:pt x="32167" y="0"/>
                  </a:lnTo>
                  <a:lnTo>
                    <a:pt x="28092" y="4052"/>
                  </a:lnTo>
                  <a:lnTo>
                    <a:pt x="28092" y="333038"/>
                  </a:lnTo>
                  <a:lnTo>
                    <a:pt x="38053" y="342853"/>
                  </a:lnTo>
                  <a:lnTo>
                    <a:pt x="47109" y="333713"/>
                  </a:lnTo>
                  <a:lnTo>
                    <a:pt x="47109" y="4052"/>
                  </a:lnTo>
                  <a:lnTo>
                    <a:pt x="43034" y="0"/>
                  </a:lnTo>
                  <a:close/>
                </a:path>
                <a:path w="75565" h="418464">
                  <a:moveTo>
                    <a:pt x="47109" y="333713"/>
                  </a:moveTo>
                  <a:lnTo>
                    <a:pt x="38053" y="342853"/>
                  </a:lnTo>
                  <a:lnTo>
                    <a:pt x="47109" y="342853"/>
                  </a:lnTo>
                  <a:lnTo>
                    <a:pt x="47109" y="333713"/>
                  </a:lnTo>
                  <a:close/>
                </a:path>
              </a:pathLst>
            </a:custGeom>
            <a:solidFill>
              <a:srgbClr val="000000"/>
            </a:solidFill>
          </p:spPr>
          <p:txBody>
            <a:bodyPr wrap="square" lIns="0" tIns="0" rIns="0" bIns="0" rtlCol="0"/>
            <a:lstStyle/>
            <a:p/>
          </p:txBody>
        </p:sp>
        <p:sp>
          <p:nvSpPr>
            <p:cNvPr id="43" name="object 43" descr=""/>
            <p:cNvSpPr/>
            <p:nvPr/>
          </p:nvSpPr>
          <p:spPr>
            <a:xfrm>
              <a:off x="1514130" y="5914969"/>
              <a:ext cx="75565" cy="418465"/>
            </a:xfrm>
            <a:custGeom>
              <a:avLst/>
              <a:gdLst/>
              <a:ahLst/>
              <a:cxnLst/>
              <a:rect l="l" t="t" r="r" b="b"/>
              <a:pathLst>
                <a:path w="75565" h="418464">
                  <a:moveTo>
                    <a:pt x="47109" y="9028"/>
                  </a:moveTo>
                  <a:lnTo>
                    <a:pt x="47109" y="342853"/>
                  </a:lnTo>
                  <a:lnTo>
                    <a:pt x="47109" y="347821"/>
                  </a:lnTo>
                  <a:lnTo>
                    <a:pt x="43034" y="352339"/>
                  </a:lnTo>
                  <a:lnTo>
                    <a:pt x="38053" y="352339"/>
                  </a:lnTo>
                  <a:lnTo>
                    <a:pt x="32167" y="352339"/>
                  </a:lnTo>
                  <a:lnTo>
                    <a:pt x="28092" y="347821"/>
                  </a:lnTo>
                  <a:lnTo>
                    <a:pt x="28092" y="342853"/>
                  </a:lnTo>
                  <a:lnTo>
                    <a:pt x="28092" y="9028"/>
                  </a:lnTo>
                  <a:lnTo>
                    <a:pt x="28092" y="4052"/>
                  </a:lnTo>
                  <a:lnTo>
                    <a:pt x="32167" y="0"/>
                  </a:lnTo>
                  <a:lnTo>
                    <a:pt x="38053" y="0"/>
                  </a:lnTo>
                  <a:lnTo>
                    <a:pt x="43034" y="0"/>
                  </a:lnTo>
                  <a:lnTo>
                    <a:pt x="47109" y="4052"/>
                  </a:lnTo>
                  <a:lnTo>
                    <a:pt x="47109" y="9028"/>
                  </a:lnTo>
                  <a:close/>
                </a:path>
                <a:path w="75565" h="418464">
                  <a:moveTo>
                    <a:pt x="38053" y="342853"/>
                  </a:moveTo>
                  <a:lnTo>
                    <a:pt x="75201" y="305361"/>
                  </a:lnTo>
                  <a:lnTo>
                    <a:pt x="38053" y="417839"/>
                  </a:lnTo>
                  <a:lnTo>
                    <a:pt x="0" y="305361"/>
                  </a:lnTo>
                  <a:lnTo>
                    <a:pt x="38053" y="342853"/>
                  </a:lnTo>
                  <a:close/>
                </a:path>
              </a:pathLst>
            </a:custGeom>
            <a:ln w="6791">
              <a:solidFill>
                <a:srgbClr val="000000"/>
              </a:solidFill>
            </a:ln>
          </p:spPr>
          <p:txBody>
            <a:bodyPr wrap="square" lIns="0" tIns="0" rIns="0" bIns="0" rtlCol="0"/>
            <a:lstStyle/>
            <a:p/>
          </p:txBody>
        </p:sp>
        <p:sp>
          <p:nvSpPr>
            <p:cNvPr id="44" name="object 44" descr=""/>
            <p:cNvSpPr/>
            <p:nvPr/>
          </p:nvSpPr>
          <p:spPr>
            <a:xfrm>
              <a:off x="3979006" y="5914969"/>
              <a:ext cx="75565" cy="418465"/>
            </a:xfrm>
            <a:custGeom>
              <a:avLst/>
              <a:gdLst/>
              <a:ahLst/>
              <a:cxnLst/>
              <a:rect l="l" t="t" r="r" b="b"/>
              <a:pathLst>
                <a:path w="75564" h="418464">
                  <a:moveTo>
                    <a:pt x="0" y="305361"/>
                  </a:moveTo>
                  <a:lnTo>
                    <a:pt x="37544" y="417839"/>
                  </a:lnTo>
                  <a:lnTo>
                    <a:pt x="59407" y="352339"/>
                  </a:lnTo>
                  <a:lnTo>
                    <a:pt x="32072" y="352339"/>
                  </a:lnTo>
                  <a:lnTo>
                    <a:pt x="27922" y="347821"/>
                  </a:lnTo>
                  <a:lnTo>
                    <a:pt x="27922" y="333244"/>
                  </a:lnTo>
                  <a:lnTo>
                    <a:pt x="0" y="305361"/>
                  </a:lnTo>
                  <a:close/>
                </a:path>
                <a:path w="75564" h="418464">
                  <a:moveTo>
                    <a:pt x="27922" y="333244"/>
                  </a:moveTo>
                  <a:lnTo>
                    <a:pt x="27922" y="347821"/>
                  </a:lnTo>
                  <a:lnTo>
                    <a:pt x="32072" y="352339"/>
                  </a:lnTo>
                  <a:lnTo>
                    <a:pt x="43015" y="352339"/>
                  </a:lnTo>
                  <a:lnTo>
                    <a:pt x="46977" y="347821"/>
                  </a:lnTo>
                  <a:lnTo>
                    <a:pt x="46977" y="342853"/>
                  </a:lnTo>
                  <a:lnTo>
                    <a:pt x="37544" y="342853"/>
                  </a:lnTo>
                  <a:lnTo>
                    <a:pt x="27922" y="333244"/>
                  </a:lnTo>
                  <a:close/>
                </a:path>
                <a:path w="75564" h="418464">
                  <a:moveTo>
                    <a:pt x="75088" y="305361"/>
                  </a:moveTo>
                  <a:lnTo>
                    <a:pt x="46977" y="333432"/>
                  </a:lnTo>
                  <a:lnTo>
                    <a:pt x="46977" y="347821"/>
                  </a:lnTo>
                  <a:lnTo>
                    <a:pt x="43015" y="352339"/>
                  </a:lnTo>
                  <a:lnTo>
                    <a:pt x="59407" y="352339"/>
                  </a:lnTo>
                  <a:lnTo>
                    <a:pt x="75088" y="305361"/>
                  </a:lnTo>
                  <a:close/>
                </a:path>
                <a:path w="75564" h="418464">
                  <a:moveTo>
                    <a:pt x="43015" y="0"/>
                  </a:moveTo>
                  <a:lnTo>
                    <a:pt x="32072" y="0"/>
                  </a:lnTo>
                  <a:lnTo>
                    <a:pt x="27922" y="4052"/>
                  </a:lnTo>
                  <a:lnTo>
                    <a:pt x="27922" y="333244"/>
                  </a:lnTo>
                  <a:lnTo>
                    <a:pt x="37544" y="342853"/>
                  </a:lnTo>
                  <a:lnTo>
                    <a:pt x="46977" y="333432"/>
                  </a:lnTo>
                  <a:lnTo>
                    <a:pt x="46977" y="4052"/>
                  </a:lnTo>
                  <a:lnTo>
                    <a:pt x="43015" y="0"/>
                  </a:lnTo>
                  <a:close/>
                </a:path>
                <a:path w="75564" h="418464">
                  <a:moveTo>
                    <a:pt x="46977" y="333432"/>
                  </a:moveTo>
                  <a:lnTo>
                    <a:pt x="37544" y="342853"/>
                  </a:lnTo>
                  <a:lnTo>
                    <a:pt x="46977" y="342853"/>
                  </a:lnTo>
                  <a:lnTo>
                    <a:pt x="46977" y="333432"/>
                  </a:lnTo>
                  <a:close/>
                </a:path>
              </a:pathLst>
            </a:custGeom>
            <a:solidFill>
              <a:srgbClr val="000000"/>
            </a:solidFill>
          </p:spPr>
          <p:txBody>
            <a:bodyPr wrap="square" lIns="0" tIns="0" rIns="0" bIns="0" rtlCol="0"/>
            <a:lstStyle/>
            <a:p/>
          </p:txBody>
        </p:sp>
        <p:sp>
          <p:nvSpPr>
            <p:cNvPr id="45" name="object 45" descr=""/>
            <p:cNvSpPr/>
            <p:nvPr/>
          </p:nvSpPr>
          <p:spPr>
            <a:xfrm>
              <a:off x="3979006" y="5914969"/>
              <a:ext cx="75565" cy="418465"/>
            </a:xfrm>
            <a:custGeom>
              <a:avLst/>
              <a:gdLst/>
              <a:ahLst/>
              <a:cxnLst/>
              <a:rect l="l" t="t" r="r" b="b"/>
              <a:pathLst>
                <a:path w="75564" h="418464">
                  <a:moveTo>
                    <a:pt x="46977" y="9028"/>
                  </a:moveTo>
                  <a:lnTo>
                    <a:pt x="46977" y="342853"/>
                  </a:lnTo>
                  <a:lnTo>
                    <a:pt x="46977" y="347821"/>
                  </a:lnTo>
                  <a:lnTo>
                    <a:pt x="43015" y="352339"/>
                  </a:lnTo>
                  <a:lnTo>
                    <a:pt x="37544" y="352339"/>
                  </a:lnTo>
                  <a:lnTo>
                    <a:pt x="32072" y="352339"/>
                  </a:lnTo>
                  <a:lnTo>
                    <a:pt x="27922" y="347821"/>
                  </a:lnTo>
                  <a:lnTo>
                    <a:pt x="27922" y="342853"/>
                  </a:lnTo>
                  <a:lnTo>
                    <a:pt x="27922" y="9028"/>
                  </a:lnTo>
                  <a:lnTo>
                    <a:pt x="27922" y="4052"/>
                  </a:lnTo>
                  <a:lnTo>
                    <a:pt x="32072" y="0"/>
                  </a:lnTo>
                  <a:lnTo>
                    <a:pt x="37544" y="0"/>
                  </a:lnTo>
                  <a:lnTo>
                    <a:pt x="43015" y="0"/>
                  </a:lnTo>
                  <a:lnTo>
                    <a:pt x="46977" y="4052"/>
                  </a:lnTo>
                  <a:lnTo>
                    <a:pt x="46977" y="9028"/>
                  </a:lnTo>
                  <a:close/>
                </a:path>
                <a:path w="75564" h="418464">
                  <a:moveTo>
                    <a:pt x="37544" y="342853"/>
                  </a:moveTo>
                  <a:lnTo>
                    <a:pt x="75088" y="305361"/>
                  </a:lnTo>
                  <a:lnTo>
                    <a:pt x="37544" y="417839"/>
                  </a:lnTo>
                  <a:lnTo>
                    <a:pt x="0" y="305361"/>
                  </a:lnTo>
                  <a:lnTo>
                    <a:pt x="37544" y="342853"/>
                  </a:lnTo>
                  <a:close/>
                </a:path>
              </a:pathLst>
            </a:custGeom>
            <a:ln w="6791">
              <a:solidFill>
                <a:srgbClr val="000000"/>
              </a:solidFill>
            </a:ln>
          </p:spPr>
          <p:txBody>
            <a:bodyPr wrap="square" lIns="0" tIns="0" rIns="0" bIns="0" rtlCol="0"/>
            <a:lstStyle/>
            <a:p/>
          </p:txBody>
        </p:sp>
        <p:sp>
          <p:nvSpPr>
            <p:cNvPr id="46" name="object 46" descr=""/>
            <p:cNvSpPr/>
            <p:nvPr/>
          </p:nvSpPr>
          <p:spPr>
            <a:xfrm>
              <a:off x="6517102" y="5914969"/>
              <a:ext cx="76200" cy="418465"/>
            </a:xfrm>
            <a:custGeom>
              <a:avLst/>
              <a:gdLst/>
              <a:ahLst/>
              <a:cxnLst/>
              <a:rect l="l" t="t" r="r" b="b"/>
              <a:pathLst>
                <a:path w="76200" h="418464">
                  <a:moveTo>
                    <a:pt x="0" y="305361"/>
                  </a:moveTo>
                  <a:lnTo>
                    <a:pt x="37544" y="417839"/>
                  </a:lnTo>
                  <a:lnTo>
                    <a:pt x="59736" y="352339"/>
                  </a:lnTo>
                  <a:lnTo>
                    <a:pt x="32638" y="352339"/>
                  </a:lnTo>
                  <a:lnTo>
                    <a:pt x="28488" y="347821"/>
                  </a:lnTo>
                  <a:lnTo>
                    <a:pt x="28488" y="333809"/>
                  </a:lnTo>
                  <a:lnTo>
                    <a:pt x="0" y="305361"/>
                  </a:lnTo>
                  <a:close/>
                </a:path>
                <a:path w="76200" h="418464">
                  <a:moveTo>
                    <a:pt x="28488" y="333809"/>
                  </a:moveTo>
                  <a:lnTo>
                    <a:pt x="28488" y="347821"/>
                  </a:lnTo>
                  <a:lnTo>
                    <a:pt x="32638" y="352339"/>
                  </a:lnTo>
                  <a:lnTo>
                    <a:pt x="43015" y="352339"/>
                  </a:lnTo>
                  <a:lnTo>
                    <a:pt x="47165" y="347821"/>
                  </a:lnTo>
                  <a:lnTo>
                    <a:pt x="47165" y="342853"/>
                  </a:lnTo>
                  <a:lnTo>
                    <a:pt x="37544" y="342853"/>
                  </a:lnTo>
                  <a:lnTo>
                    <a:pt x="28488" y="333809"/>
                  </a:lnTo>
                  <a:close/>
                </a:path>
                <a:path w="76200" h="418464">
                  <a:moveTo>
                    <a:pt x="75654" y="305361"/>
                  </a:moveTo>
                  <a:lnTo>
                    <a:pt x="47165" y="333387"/>
                  </a:lnTo>
                  <a:lnTo>
                    <a:pt x="47165" y="347821"/>
                  </a:lnTo>
                  <a:lnTo>
                    <a:pt x="43015" y="352339"/>
                  </a:lnTo>
                  <a:lnTo>
                    <a:pt x="59736" y="352339"/>
                  </a:lnTo>
                  <a:lnTo>
                    <a:pt x="75654" y="305361"/>
                  </a:lnTo>
                  <a:close/>
                </a:path>
                <a:path w="76200" h="418464">
                  <a:moveTo>
                    <a:pt x="43015" y="0"/>
                  </a:moveTo>
                  <a:lnTo>
                    <a:pt x="32638" y="0"/>
                  </a:lnTo>
                  <a:lnTo>
                    <a:pt x="28488" y="4052"/>
                  </a:lnTo>
                  <a:lnTo>
                    <a:pt x="28488" y="333809"/>
                  </a:lnTo>
                  <a:lnTo>
                    <a:pt x="37544" y="342853"/>
                  </a:lnTo>
                  <a:lnTo>
                    <a:pt x="47165" y="333387"/>
                  </a:lnTo>
                  <a:lnTo>
                    <a:pt x="47165" y="4052"/>
                  </a:lnTo>
                  <a:lnTo>
                    <a:pt x="43015" y="0"/>
                  </a:lnTo>
                  <a:close/>
                </a:path>
                <a:path w="76200" h="418464">
                  <a:moveTo>
                    <a:pt x="47165" y="333387"/>
                  </a:moveTo>
                  <a:lnTo>
                    <a:pt x="37544" y="342853"/>
                  </a:lnTo>
                  <a:lnTo>
                    <a:pt x="47165" y="342853"/>
                  </a:lnTo>
                  <a:lnTo>
                    <a:pt x="47165" y="333387"/>
                  </a:lnTo>
                  <a:close/>
                </a:path>
              </a:pathLst>
            </a:custGeom>
            <a:solidFill>
              <a:srgbClr val="000000"/>
            </a:solidFill>
          </p:spPr>
          <p:txBody>
            <a:bodyPr wrap="square" lIns="0" tIns="0" rIns="0" bIns="0" rtlCol="0"/>
            <a:lstStyle/>
            <a:p/>
          </p:txBody>
        </p:sp>
        <p:sp>
          <p:nvSpPr>
            <p:cNvPr id="47" name="object 47" descr=""/>
            <p:cNvSpPr/>
            <p:nvPr/>
          </p:nvSpPr>
          <p:spPr>
            <a:xfrm>
              <a:off x="6517101" y="5914969"/>
              <a:ext cx="76200" cy="418465"/>
            </a:xfrm>
            <a:custGeom>
              <a:avLst/>
              <a:gdLst/>
              <a:ahLst/>
              <a:cxnLst/>
              <a:rect l="l" t="t" r="r" b="b"/>
              <a:pathLst>
                <a:path w="76200" h="418464">
                  <a:moveTo>
                    <a:pt x="47165" y="9028"/>
                  </a:moveTo>
                  <a:lnTo>
                    <a:pt x="47165" y="342853"/>
                  </a:lnTo>
                  <a:lnTo>
                    <a:pt x="47165" y="347821"/>
                  </a:lnTo>
                  <a:lnTo>
                    <a:pt x="43015" y="352339"/>
                  </a:lnTo>
                  <a:lnTo>
                    <a:pt x="37544" y="352339"/>
                  </a:lnTo>
                  <a:lnTo>
                    <a:pt x="32638" y="352339"/>
                  </a:lnTo>
                  <a:lnTo>
                    <a:pt x="28488" y="347821"/>
                  </a:lnTo>
                  <a:lnTo>
                    <a:pt x="28488" y="342853"/>
                  </a:lnTo>
                  <a:lnTo>
                    <a:pt x="28488" y="9028"/>
                  </a:lnTo>
                  <a:lnTo>
                    <a:pt x="28488" y="4052"/>
                  </a:lnTo>
                  <a:lnTo>
                    <a:pt x="32638" y="0"/>
                  </a:lnTo>
                  <a:lnTo>
                    <a:pt x="37544" y="0"/>
                  </a:lnTo>
                  <a:lnTo>
                    <a:pt x="43015" y="0"/>
                  </a:lnTo>
                  <a:lnTo>
                    <a:pt x="47165" y="4052"/>
                  </a:lnTo>
                  <a:lnTo>
                    <a:pt x="47165" y="9028"/>
                  </a:lnTo>
                  <a:close/>
                </a:path>
                <a:path w="76200" h="418464">
                  <a:moveTo>
                    <a:pt x="37544" y="342853"/>
                  </a:moveTo>
                  <a:lnTo>
                    <a:pt x="75654" y="305361"/>
                  </a:lnTo>
                  <a:lnTo>
                    <a:pt x="37544" y="417839"/>
                  </a:lnTo>
                  <a:lnTo>
                    <a:pt x="0" y="305361"/>
                  </a:lnTo>
                  <a:lnTo>
                    <a:pt x="37544" y="342853"/>
                  </a:lnTo>
                  <a:close/>
                </a:path>
              </a:pathLst>
            </a:custGeom>
            <a:ln w="6791">
              <a:solidFill>
                <a:srgbClr val="000000"/>
              </a:solidFill>
            </a:ln>
          </p:spPr>
          <p:txBody>
            <a:bodyPr wrap="square" lIns="0" tIns="0" rIns="0" bIns="0" rtlCol="0"/>
            <a:lstStyle/>
            <a:p/>
          </p:txBody>
        </p:sp>
        <p:sp>
          <p:nvSpPr>
            <p:cNvPr id="48" name="object 48" descr=""/>
            <p:cNvSpPr/>
            <p:nvPr/>
          </p:nvSpPr>
          <p:spPr>
            <a:xfrm>
              <a:off x="3700726" y="5213437"/>
              <a:ext cx="76200" cy="419100"/>
            </a:xfrm>
            <a:custGeom>
              <a:avLst/>
              <a:gdLst/>
              <a:ahLst/>
              <a:cxnLst/>
              <a:rect l="l" t="t" r="r" b="b"/>
              <a:pathLst>
                <a:path w="76200" h="419100">
                  <a:moveTo>
                    <a:pt x="0" y="305368"/>
                  </a:moveTo>
                  <a:lnTo>
                    <a:pt x="38110" y="418743"/>
                  </a:lnTo>
                  <a:lnTo>
                    <a:pt x="60099" y="352339"/>
                  </a:lnTo>
                  <a:lnTo>
                    <a:pt x="33204" y="352339"/>
                  </a:lnTo>
                  <a:lnTo>
                    <a:pt x="28676" y="348739"/>
                  </a:lnTo>
                  <a:lnTo>
                    <a:pt x="28676" y="333579"/>
                  </a:lnTo>
                  <a:lnTo>
                    <a:pt x="0" y="305368"/>
                  </a:lnTo>
                  <a:close/>
                </a:path>
                <a:path w="76200" h="419100">
                  <a:moveTo>
                    <a:pt x="28676" y="333579"/>
                  </a:moveTo>
                  <a:lnTo>
                    <a:pt x="28676" y="348739"/>
                  </a:lnTo>
                  <a:lnTo>
                    <a:pt x="33204" y="352339"/>
                  </a:lnTo>
                  <a:lnTo>
                    <a:pt x="43581" y="352339"/>
                  </a:lnTo>
                  <a:lnTo>
                    <a:pt x="47165" y="348739"/>
                  </a:lnTo>
                  <a:lnTo>
                    <a:pt x="47165" y="342858"/>
                  </a:lnTo>
                  <a:lnTo>
                    <a:pt x="38110" y="342858"/>
                  </a:lnTo>
                  <a:lnTo>
                    <a:pt x="28676" y="333579"/>
                  </a:lnTo>
                  <a:close/>
                </a:path>
                <a:path w="76200" h="419100">
                  <a:moveTo>
                    <a:pt x="75654" y="305368"/>
                  </a:moveTo>
                  <a:lnTo>
                    <a:pt x="47165" y="333815"/>
                  </a:lnTo>
                  <a:lnTo>
                    <a:pt x="47165" y="348739"/>
                  </a:lnTo>
                  <a:lnTo>
                    <a:pt x="43581" y="352339"/>
                  </a:lnTo>
                  <a:lnTo>
                    <a:pt x="60099" y="352339"/>
                  </a:lnTo>
                  <a:lnTo>
                    <a:pt x="75654" y="305368"/>
                  </a:lnTo>
                  <a:close/>
                </a:path>
                <a:path w="76200" h="419100">
                  <a:moveTo>
                    <a:pt x="43581" y="0"/>
                  </a:moveTo>
                  <a:lnTo>
                    <a:pt x="33204" y="0"/>
                  </a:lnTo>
                  <a:lnTo>
                    <a:pt x="28676" y="4071"/>
                  </a:lnTo>
                  <a:lnTo>
                    <a:pt x="28676" y="333579"/>
                  </a:lnTo>
                  <a:lnTo>
                    <a:pt x="38110" y="342858"/>
                  </a:lnTo>
                  <a:lnTo>
                    <a:pt x="47165" y="333815"/>
                  </a:lnTo>
                  <a:lnTo>
                    <a:pt x="47165" y="4071"/>
                  </a:lnTo>
                  <a:lnTo>
                    <a:pt x="43581" y="0"/>
                  </a:lnTo>
                  <a:close/>
                </a:path>
                <a:path w="76200" h="419100">
                  <a:moveTo>
                    <a:pt x="47165" y="333815"/>
                  </a:moveTo>
                  <a:lnTo>
                    <a:pt x="38110" y="342858"/>
                  </a:lnTo>
                  <a:lnTo>
                    <a:pt x="47165" y="342858"/>
                  </a:lnTo>
                  <a:lnTo>
                    <a:pt x="47165" y="333815"/>
                  </a:lnTo>
                  <a:close/>
                </a:path>
              </a:pathLst>
            </a:custGeom>
            <a:solidFill>
              <a:srgbClr val="000000"/>
            </a:solidFill>
          </p:spPr>
          <p:txBody>
            <a:bodyPr wrap="square" lIns="0" tIns="0" rIns="0" bIns="0" rtlCol="0"/>
            <a:lstStyle/>
            <a:p/>
          </p:txBody>
        </p:sp>
        <p:sp>
          <p:nvSpPr>
            <p:cNvPr id="49" name="object 49" descr=""/>
            <p:cNvSpPr/>
            <p:nvPr/>
          </p:nvSpPr>
          <p:spPr>
            <a:xfrm>
              <a:off x="3700726" y="5213437"/>
              <a:ext cx="76200" cy="419100"/>
            </a:xfrm>
            <a:custGeom>
              <a:avLst/>
              <a:gdLst/>
              <a:ahLst/>
              <a:cxnLst/>
              <a:rect l="l" t="t" r="r" b="b"/>
              <a:pathLst>
                <a:path w="76200" h="419100">
                  <a:moveTo>
                    <a:pt x="47165" y="9933"/>
                  </a:moveTo>
                  <a:lnTo>
                    <a:pt x="47165" y="342858"/>
                  </a:lnTo>
                  <a:lnTo>
                    <a:pt x="47165" y="348739"/>
                  </a:lnTo>
                  <a:lnTo>
                    <a:pt x="43581" y="352339"/>
                  </a:lnTo>
                  <a:lnTo>
                    <a:pt x="38110" y="352339"/>
                  </a:lnTo>
                  <a:lnTo>
                    <a:pt x="33204" y="352339"/>
                  </a:lnTo>
                  <a:lnTo>
                    <a:pt x="28676" y="348739"/>
                  </a:lnTo>
                  <a:lnTo>
                    <a:pt x="28676" y="342858"/>
                  </a:lnTo>
                  <a:lnTo>
                    <a:pt x="28676" y="9933"/>
                  </a:lnTo>
                  <a:lnTo>
                    <a:pt x="28676" y="4071"/>
                  </a:lnTo>
                  <a:lnTo>
                    <a:pt x="33204" y="0"/>
                  </a:lnTo>
                  <a:lnTo>
                    <a:pt x="38110" y="0"/>
                  </a:lnTo>
                  <a:lnTo>
                    <a:pt x="43581" y="0"/>
                  </a:lnTo>
                  <a:lnTo>
                    <a:pt x="47165" y="4071"/>
                  </a:lnTo>
                  <a:lnTo>
                    <a:pt x="47165" y="9933"/>
                  </a:lnTo>
                  <a:close/>
                </a:path>
                <a:path w="76200" h="419100">
                  <a:moveTo>
                    <a:pt x="38110" y="342858"/>
                  </a:moveTo>
                  <a:lnTo>
                    <a:pt x="75654" y="305368"/>
                  </a:lnTo>
                  <a:lnTo>
                    <a:pt x="38110" y="418743"/>
                  </a:lnTo>
                  <a:lnTo>
                    <a:pt x="0" y="305368"/>
                  </a:lnTo>
                  <a:lnTo>
                    <a:pt x="38110" y="342858"/>
                  </a:lnTo>
                  <a:close/>
                </a:path>
              </a:pathLst>
            </a:custGeom>
            <a:ln w="6791">
              <a:solidFill>
                <a:srgbClr val="000000"/>
              </a:solidFill>
            </a:ln>
          </p:spPr>
          <p:txBody>
            <a:bodyPr wrap="square" lIns="0" tIns="0" rIns="0" bIns="0" rtlCol="0"/>
            <a:lstStyle/>
            <a:p/>
          </p:txBody>
        </p:sp>
        <p:sp>
          <p:nvSpPr>
            <p:cNvPr id="50" name="object 50" descr=""/>
            <p:cNvSpPr/>
            <p:nvPr/>
          </p:nvSpPr>
          <p:spPr>
            <a:xfrm>
              <a:off x="4414631" y="5213437"/>
              <a:ext cx="76200" cy="419100"/>
            </a:xfrm>
            <a:custGeom>
              <a:avLst/>
              <a:gdLst/>
              <a:ahLst/>
              <a:cxnLst/>
              <a:rect l="l" t="t" r="r" b="b"/>
              <a:pathLst>
                <a:path w="76200" h="419100">
                  <a:moveTo>
                    <a:pt x="0" y="305368"/>
                  </a:moveTo>
                  <a:lnTo>
                    <a:pt x="38110" y="418743"/>
                  </a:lnTo>
                  <a:lnTo>
                    <a:pt x="60099" y="352339"/>
                  </a:lnTo>
                  <a:lnTo>
                    <a:pt x="32638" y="352339"/>
                  </a:lnTo>
                  <a:lnTo>
                    <a:pt x="28676" y="348739"/>
                  </a:lnTo>
                  <a:lnTo>
                    <a:pt x="28676" y="333579"/>
                  </a:lnTo>
                  <a:lnTo>
                    <a:pt x="0" y="305368"/>
                  </a:lnTo>
                  <a:close/>
                </a:path>
                <a:path w="76200" h="419100">
                  <a:moveTo>
                    <a:pt x="28676" y="333579"/>
                  </a:moveTo>
                  <a:lnTo>
                    <a:pt x="28676" y="348739"/>
                  </a:lnTo>
                  <a:lnTo>
                    <a:pt x="32638" y="352339"/>
                  </a:lnTo>
                  <a:lnTo>
                    <a:pt x="43581" y="352339"/>
                  </a:lnTo>
                  <a:lnTo>
                    <a:pt x="47165" y="348739"/>
                  </a:lnTo>
                  <a:lnTo>
                    <a:pt x="47165" y="342858"/>
                  </a:lnTo>
                  <a:lnTo>
                    <a:pt x="38110" y="342858"/>
                  </a:lnTo>
                  <a:lnTo>
                    <a:pt x="28676" y="333579"/>
                  </a:lnTo>
                  <a:close/>
                </a:path>
                <a:path w="76200" h="419100">
                  <a:moveTo>
                    <a:pt x="75654" y="305368"/>
                  </a:moveTo>
                  <a:lnTo>
                    <a:pt x="47165" y="333815"/>
                  </a:lnTo>
                  <a:lnTo>
                    <a:pt x="47165" y="348739"/>
                  </a:lnTo>
                  <a:lnTo>
                    <a:pt x="43581" y="352339"/>
                  </a:lnTo>
                  <a:lnTo>
                    <a:pt x="60099" y="352339"/>
                  </a:lnTo>
                  <a:lnTo>
                    <a:pt x="75654" y="305368"/>
                  </a:lnTo>
                  <a:close/>
                </a:path>
                <a:path w="76200" h="419100">
                  <a:moveTo>
                    <a:pt x="43581" y="0"/>
                  </a:moveTo>
                  <a:lnTo>
                    <a:pt x="32638" y="0"/>
                  </a:lnTo>
                  <a:lnTo>
                    <a:pt x="28676" y="4071"/>
                  </a:lnTo>
                  <a:lnTo>
                    <a:pt x="28676" y="333579"/>
                  </a:lnTo>
                  <a:lnTo>
                    <a:pt x="38110" y="342858"/>
                  </a:lnTo>
                  <a:lnTo>
                    <a:pt x="47165" y="333815"/>
                  </a:lnTo>
                  <a:lnTo>
                    <a:pt x="47165" y="4071"/>
                  </a:lnTo>
                  <a:lnTo>
                    <a:pt x="43581" y="0"/>
                  </a:lnTo>
                  <a:close/>
                </a:path>
                <a:path w="76200" h="419100">
                  <a:moveTo>
                    <a:pt x="47165" y="333815"/>
                  </a:moveTo>
                  <a:lnTo>
                    <a:pt x="38110" y="342858"/>
                  </a:lnTo>
                  <a:lnTo>
                    <a:pt x="47165" y="342858"/>
                  </a:lnTo>
                  <a:lnTo>
                    <a:pt x="47165" y="333815"/>
                  </a:lnTo>
                  <a:close/>
                </a:path>
              </a:pathLst>
            </a:custGeom>
            <a:solidFill>
              <a:srgbClr val="000000"/>
            </a:solidFill>
          </p:spPr>
          <p:txBody>
            <a:bodyPr wrap="square" lIns="0" tIns="0" rIns="0" bIns="0" rtlCol="0"/>
            <a:lstStyle/>
            <a:p/>
          </p:txBody>
        </p:sp>
        <p:sp>
          <p:nvSpPr>
            <p:cNvPr id="51" name="object 51" descr=""/>
            <p:cNvSpPr/>
            <p:nvPr/>
          </p:nvSpPr>
          <p:spPr>
            <a:xfrm>
              <a:off x="4414631" y="5213437"/>
              <a:ext cx="76200" cy="419100"/>
            </a:xfrm>
            <a:custGeom>
              <a:avLst/>
              <a:gdLst/>
              <a:ahLst/>
              <a:cxnLst/>
              <a:rect l="l" t="t" r="r" b="b"/>
              <a:pathLst>
                <a:path w="76200" h="419100">
                  <a:moveTo>
                    <a:pt x="47165" y="9933"/>
                  </a:moveTo>
                  <a:lnTo>
                    <a:pt x="47165" y="342858"/>
                  </a:lnTo>
                  <a:lnTo>
                    <a:pt x="47165" y="348739"/>
                  </a:lnTo>
                  <a:lnTo>
                    <a:pt x="43581" y="352339"/>
                  </a:lnTo>
                  <a:lnTo>
                    <a:pt x="38110" y="352339"/>
                  </a:lnTo>
                  <a:lnTo>
                    <a:pt x="32638" y="352339"/>
                  </a:lnTo>
                  <a:lnTo>
                    <a:pt x="28676" y="348739"/>
                  </a:lnTo>
                  <a:lnTo>
                    <a:pt x="28676" y="342858"/>
                  </a:lnTo>
                  <a:lnTo>
                    <a:pt x="28676" y="9933"/>
                  </a:lnTo>
                  <a:lnTo>
                    <a:pt x="28676" y="4071"/>
                  </a:lnTo>
                  <a:lnTo>
                    <a:pt x="32638" y="0"/>
                  </a:lnTo>
                  <a:lnTo>
                    <a:pt x="38110" y="0"/>
                  </a:lnTo>
                  <a:lnTo>
                    <a:pt x="43581" y="0"/>
                  </a:lnTo>
                  <a:lnTo>
                    <a:pt x="47165" y="4071"/>
                  </a:lnTo>
                  <a:lnTo>
                    <a:pt x="47165" y="9933"/>
                  </a:lnTo>
                  <a:close/>
                </a:path>
                <a:path w="76200" h="419100">
                  <a:moveTo>
                    <a:pt x="38110" y="342858"/>
                  </a:moveTo>
                  <a:lnTo>
                    <a:pt x="75654" y="305368"/>
                  </a:lnTo>
                  <a:lnTo>
                    <a:pt x="38110" y="418743"/>
                  </a:lnTo>
                  <a:lnTo>
                    <a:pt x="0" y="305368"/>
                  </a:lnTo>
                  <a:lnTo>
                    <a:pt x="38110" y="342858"/>
                  </a:lnTo>
                  <a:close/>
                </a:path>
              </a:pathLst>
            </a:custGeom>
            <a:ln w="6791">
              <a:solidFill>
                <a:srgbClr val="000000"/>
              </a:solidFill>
            </a:ln>
          </p:spPr>
          <p:txBody>
            <a:bodyPr wrap="square" lIns="0" tIns="0" rIns="0" bIns="0" rtlCol="0"/>
            <a:lstStyle/>
            <a:p/>
          </p:txBody>
        </p:sp>
        <p:sp>
          <p:nvSpPr>
            <p:cNvPr id="52" name="object 52" descr=""/>
            <p:cNvSpPr/>
            <p:nvPr/>
          </p:nvSpPr>
          <p:spPr>
            <a:xfrm>
              <a:off x="6913484" y="5155176"/>
              <a:ext cx="76200" cy="477520"/>
            </a:xfrm>
            <a:custGeom>
              <a:avLst/>
              <a:gdLst/>
              <a:ahLst/>
              <a:cxnLst/>
              <a:rect l="l" t="t" r="r" b="b"/>
              <a:pathLst>
                <a:path w="76200" h="477520">
                  <a:moveTo>
                    <a:pt x="0" y="363630"/>
                  </a:moveTo>
                  <a:lnTo>
                    <a:pt x="37544" y="477005"/>
                  </a:lnTo>
                  <a:lnTo>
                    <a:pt x="59865" y="410601"/>
                  </a:lnTo>
                  <a:lnTo>
                    <a:pt x="32638" y="410601"/>
                  </a:lnTo>
                  <a:lnTo>
                    <a:pt x="28488" y="407001"/>
                  </a:lnTo>
                  <a:lnTo>
                    <a:pt x="28488" y="392077"/>
                  </a:lnTo>
                  <a:lnTo>
                    <a:pt x="0" y="363630"/>
                  </a:lnTo>
                  <a:close/>
                </a:path>
                <a:path w="76200" h="477520">
                  <a:moveTo>
                    <a:pt x="28488" y="392077"/>
                  </a:moveTo>
                  <a:lnTo>
                    <a:pt x="28488" y="407001"/>
                  </a:lnTo>
                  <a:lnTo>
                    <a:pt x="32638" y="410601"/>
                  </a:lnTo>
                  <a:lnTo>
                    <a:pt x="43392" y="410601"/>
                  </a:lnTo>
                  <a:lnTo>
                    <a:pt x="47165" y="407001"/>
                  </a:lnTo>
                  <a:lnTo>
                    <a:pt x="47165" y="401120"/>
                  </a:lnTo>
                  <a:lnTo>
                    <a:pt x="37544" y="401120"/>
                  </a:lnTo>
                  <a:lnTo>
                    <a:pt x="28488" y="392077"/>
                  </a:lnTo>
                  <a:close/>
                </a:path>
                <a:path w="76200" h="477520">
                  <a:moveTo>
                    <a:pt x="75654" y="363630"/>
                  </a:moveTo>
                  <a:lnTo>
                    <a:pt x="47165" y="391654"/>
                  </a:lnTo>
                  <a:lnTo>
                    <a:pt x="47165" y="407001"/>
                  </a:lnTo>
                  <a:lnTo>
                    <a:pt x="43392" y="410601"/>
                  </a:lnTo>
                  <a:lnTo>
                    <a:pt x="59865" y="410601"/>
                  </a:lnTo>
                  <a:lnTo>
                    <a:pt x="75654" y="363630"/>
                  </a:lnTo>
                  <a:close/>
                </a:path>
                <a:path w="76200" h="477520">
                  <a:moveTo>
                    <a:pt x="43392" y="0"/>
                  </a:moveTo>
                  <a:lnTo>
                    <a:pt x="32638" y="0"/>
                  </a:lnTo>
                  <a:lnTo>
                    <a:pt x="28488" y="4504"/>
                  </a:lnTo>
                  <a:lnTo>
                    <a:pt x="28488" y="392077"/>
                  </a:lnTo>
                  <a:lnTo>
                    <a:pt x="37544" y="401120"/>
                  </a:lnTo>
                  <a:lnTo>
                    <a:pt x="47165" y="391654"/>
                  </a:lnTo>
                  <a:lnTo>
                    <a:pt x="47165" y="4504"/>
                  </a:lnTo>
                  <a:lnTo>
                    <a:pt x="43392" y="0"/>
                  </a:lnTo>
                  <a:close/>
                </a:path>
                <a:path w="76200" h="477520">
                  <a:moveTo>
                    <a:pt x="47165" y="391654"/>
                  </a:moveTo>
                  <a:lnTo>
                    <a:pt x="37544" y="401120"/>
                  </a:lnTo>
                  <a:lnTo>
                    <a:pt x="47165" y="401120"/>
                  </a:lnTo>
                  <a:lnTo>
                    <a:pt x="47165" y="391654"/>
                  </a:lnTo>
                  <a:close/>
                </a:path>
              </a:pathLst>
            </a:custGeom>
            <a:solidFill>
              <a:srgbClr val="000000"/>
            </a:solidFill>
          </p:spPr>
          <p:txBody>
            <a:bodyPr wrap="square" lIns="0" tIns="0" rIns="0" bIns="0" rtlCol="0"/>
            <a:lstStyle/>
            <a:p/>
          </p:txBody>
        </p:sp>
        <p:sp>
          <p:nvSpPr>
            <p:cNvPr id="53" name="object 53" descr=""/>
            <p:cNvSpPr/>
            <p:nvPr/>
          </p:nvSpPr>
          <p:spPr>
            <a:xfrm>
              <a:off x="6913484" y="5155176"/>
              <a:ext cx="76200" cy="477520"/>
            </a:xfrm>
            <a:custGeom>
              <a:avLst/>
              <a:gdLst/>
              <a:ahLst/>
              <a:cxnLst/>
              <a:rect l="l" t="t" r="r" b="b"/>
              <a:pathLst>
                <a:path w="76200" h="477520">
                  <a:moveTo>
                    <a:pt x="47165" y="9480"/>
                  </a:moveTo>
                  <a:lnTo>
                    <a:pt x="47165" y="401120"/>
                  </a:lnTo>
                  <a:lnTo>
                    <a:pt x="47165" y="407001"/>
                  </a:lnTo>
                  <a:lnTo>
                    <a:pt x="43392" y="410601"/>
                  </a:lnTo>
                  <a:lnTo>
                    <a:pt x="37544" y="410601"/>
                  </a:lnTo>
                  <a:lnTo>
                    <a:pt x="32638" y="410601"/>
                  </a:lnTo>
                  <a:lnTo>
                    <a:pt x="28488" y="407001"/>
                  </a:lnTo>
                  <a:lnTo>
                    <a:pt x="28488" y="401120"/>
                  </a:lnTo>
                  <a:lnTo>
                    <a:pt x="28488" y="9480"/>
                  </a:lnTo>
                  <a:lnTo>
                    <a:pt x="28488" y="4504"/>
                  </a:lnTo>
                  <a:lnTo>
                    <a:pt x="32638" y="0"/>
                  </a:lnTo>
                  <a:lnTo>
                    <a:pt x="37544" y="0"/>
                  </a:lnTo>
                  <a:lnTo>
                    <a:pt x="43392" y="0"/>
                  </a:lnTo>
                  <a:lnTo>
                    <a:pt x="47165" y="4504"/>
                  </a:lnTo>
                  <a:lnTo>
                    <a:pt x="47165" y="9480"/>
                  </a:lnTo>
                  <a:close/>
                </a:path>
                <a:path w="76200" h="477520">
                  <a:moveTo>
                    <a:pt x="37544" y="401120"/>
                  </a:moveTo>
                  <a:lnTo>
                    <a:pt x="75654" y="363630"/>
                  </a:lnTo>
                  <a:lnTo>
                    <a:pt x="37544" y="477005"/>
                  </a:lnTo>
                  <a:lnTo>
                    <a:pt x="0" y="363630"/>
                  </a:lnTo>
                  <a:lnTo>
                    <a:pt x="37544" y="401120"/>
                  </a:lnTo>
                  <a:close/>
                </a:path>
              </a:pathLst>
            </a:custGeom>
            <a:ln w="6791">
              <a:solidFill>
                <a:srgbClr val="000000"/>
              </a:solidFill>
            </a:ln>
          </p:spPr>
          <p:txBody>
            <a:bodyPr wrap="square" lIns="0" tIns="0" rIns="0" bIns="0" rtlCol="0"/>
            <a:lstStyle/>
            <a:p/>
          </p:txBody>
        </p:sp>
        <p:sp>
          <p:nvSpPr>
            <p:cNvPr id="54" name="object 54" descr=""/>
            <p:cNvSpPr/>
            <p:nvPr/>
          </p:nvSpPr>
          <p:spPr>
            <a:xfrm>
              <a:off x="3738836" y="4405391"/>
              <a:ext cx="3847465" cy="0"/>
            </a:xfrm>
            <a:custGeom>
              <a:avLst/>
              <a:gdLst/>
              <a:ahLst/>
              <a:cxnLst/>
              <a:rect l="l" t="t" r="r" b="b"/>
              <a:pathLst>
                <a:path w="3847465" h="0">
                  <a:moveTo>
                    <a:pt x="0" y="0"/>
                  </a:moveTo>
                  <a:lnTo>
                    <a:pt x="3847423" y="0"/>
                  </a:lnTo>
                </a:path>
              </a:pathLst>
            </a:custGeom>
            <a:ln w="14029">
              <a:solidFill>
                <a:srgbClr val="0000FF"/>
              </a:solidFill>
            </a:ln>
          </p:spPr>
          <p:txBody>
            <a:bodyPr wrap="square" lIns="0" tIns="0" rIns="0" bIns="0" rtlCol="0"/>
            <a:lstStyle/>
            <a:p/>
          </p:txBody>
        </p:sp>
        <p:sp>
          <p:nvSpPr>
            <p:cNvPr id="55" name="object 55" descr=""/>
            <p:cNvSpPr/>
            <p:nvPr/>
          </p:nvSpPr>
          <p:spPr>
            <a:xfrm>
              <a:off x="3700726" y="3869521"/>
              <a:ext cx="76200" cy="769620"/>
            </a:xfrm>
            <a:custGeom>
              <a:avLst/>
              <a:gdLst/>
              <a:ahLst/>
              <a:cxnLst/>
              <a:rect l="l" t="t" r="r" b="b"/>
              <a:pathLst>
                <a:path w="76200" h="769620">
                  <a:moveTo>
                    <a:pt x="0" y="655936"/>
                  </a:moveTo>
                  <a:lnTo>
                    <a:pt x="38110" y="769330"/>
                  </a:lnTo>
                  <a:lnTo>
                    <a:pt x="59946" y="703378"/>
                  </a:lnTo>
                  <a:lnTo>
                    <a:pt x="33204" y="703378"/>
                  </a:lnTo>
                  <a:lnTo>
                    <a:pt x="28676" y="698855"/>
                  </a:lnTo>
                  <a:lnTo>
                    <a:pt x="28676" y="684501"/>
                  </a:lnTo>
                  <a:lnTo>
                    <a:pt x="0" y="655936"/>
                  </a:lnTo>
                  <a:close/>
                </a:path>
                <a:path w="76200" h="769620">
                  <a:moveTo>
                    <a:pt x="28676" y="684501"/>
                  </a:moveTo>
                  <a:lnTo>
                    <a:pt x="28676" y="698855"/>
                  </a:lnTo>
                  <a:lnTo>
                    <a:pt x="33204" y="703378"/>
                  </a:lnTo>
                  <a:lnTo>
                    <a:pt x="43581" y="703378"/>
                  </a:lnTo>
                  <a:lnTo>
                    <a:pt x="47165" y="698855"/>
                  </a:lnTo>
                  <a:lnTo>
                    <a:pt x="47165" y="693897"/>
                  </a:lnTo>
                  <a:lnTo>
                    <a:pt x="38110" y="693897"/>
                  </a:lnTo>
                  <a:lnTo>
                    <a:pt x="28676" y="684501"/>
                  </a:lnTo>
                  <a:close/>
                </a:path>
                <a:path w="76200" h="769620">
                  <a:moveTo>
                    <a:pt x="75654" y="655936"/>
                  </a:moveTo>
                  <a:lnTo>
                    <a:pt x="47165" y="684741"/>
                  </a:lnTo>
                  <a:lnTo>
                    <a:pt x="47165" y="698855"/>
                  </a:lnTo>
                  <a:lnTo>
                    <a:pt x="43581" y="703378"/>
                  </a:lnTo>
                  <a:lnTo>
                    <a:pt x="59946" y="703378"/>
                  </a:lnTo>
                  <a:lnTo>
                    <a:pt x="75654" y="655936"/>
                  </a:lnTo>
                  <a:close/>
                </a:path>
                <a:path w="76200" h="769620">
                  <a:moveTo>
                    <a:pt x="43581" y="0"/>
                  </a:moveTo>
                  <a:lnTo>
                    <a:pt x="33204" y="0"/>
                  </a:lnTo>
                  <a:lnTo>
                    <a:pt x="28676" y="4523"/>
                  </a:lnTo>
                  <a:lnTo>
                    <a:pt x="28676" y="684501"/>
                  </a:lnTo>
                  <a:lnTo>
                    <a:pt x="38110" y="693897"/>
                  </a:lnTo>
                  <a:lnTo>
                    <a:pt x="47165" y="684741"/>
                  </a:lnTo>
                  <a:lnTo>
                    <a:pt x="47165" y="4523"/>
                  </a:lnTo>
                  <a:lnTo>
                    <a:pt x="43581" y="0"/>
                  </a:lnTo>
                  <a:close/>
                </a:path>
                <a:path w="76200" h="769620">
                  <a:moveTo>
                    <a:pt x="47165" y="684741"/>
                  </a:moveTo>
                  <a:lnTo>
                    <a:pt x="38110" y="693897"/>
                  </a:lnTo>
                  <a:lnTo>
                    <a:pt x="47165" y="693897"/>
                  </a:lnTo>
                  <a:lnTo>
                    <a:pt x="47165" y="684741"/>
                  </a:lnTo>
                  <a:close/>
                </a:path>
              </a:pathLst>
            </a:custGeom>
            <a:solidFill>
              <a:srgbClr val="000000"/>
            </a:solidFill>
          </p:spPr>
          <p:txBody>
            <a:bodyPr wrap="square" lIns="0" tIns="0" rIns="0" bIns="0" rtlCol="0"/>
            <a:lstStyle/>
            <a:p/>
          </p:txBody>
        </p:sp>
        <p:sp>
          <p:nvSpPr>
            <p:cNvPr id="56" name="object 56" descr=""/>
            <p:cNvSpPr/>
            <p:nvPr/>
          </p:nvSpPr>
          <p:spPr>
            <a:xfrm>
              <a:off x="3700726" y="3869521"/>
              <a:ext cx="76200" cy="769620"/>
            </a:xfrm>
            <a:custGeom>
              <a:avLst/>
              <a:gdLst/>
              <a:ahLst/>
              <a:cxnLst/>
              <a:rect l="l" t="t" r="r" b="b"/>
              <a:pathLst>
                <a:path w="76200" h="769620">
                  <a:moveTo>
                    <a:pt x="47165" y="9989"/>
                  </a:moveTo>
                  <a:lnTo>
                    <a:pt x="47165" y="693897"/>
                  </a:lnTo>
                  <a:lnTo>
                    <a:pt x="47165" y="698855"/>
                  </a:lnTo>
                  <a:lnTo>
                    <a:pt x="43581" y="703378"/>
                  </a:lnTo>
                  <a:lnTo>
                    <a:pt x="38110" y="703378"/>
                  </a:lnTo>
                  <a:lnTo>
                    <a:pt x="33204" y="703378"/>
                  </a:lnTo>
                  <a:lnTo>
                    <a:pt x="28676" y="698855"/>
                  </a:lnTo>
                  <a:lnTo>
                    <a:pt x="28676" y="693897"/>
                  </a:lnTo>
                  <a:lnTo>
                    <a:pt x="28676" y="9989"/>
                  </a:lnTo>
                  <a:lnTo>
                    <a:pt x="28676" y="4523"/>
                  </a:lnTo>
                  <a:lnTo>
                    <a:pt x="33204" y="0"/>
                  </a:lnTo>
                  <a:lnTo>
                    <a:pt x="38110" y="0"/>
                  </a:lnTo>
                  <a:lnTo>
                    <a:pt x="43581" y="0"/>
                  </a:lnTo>
                  <a:lnTo>
                    <a:pt x="47165" y="4523"/>
                  </a:lnTo>
                  <a:lnTo>
                    <a:pt x="47165" y="9989"/>
                  </a:lnTo>
                  <a:close/>
                </a:path>
                <a:path w="76200" h="769620">
                  <a:moveTo>
                    <a:pt x="38110" y="693897"/>
                  </a:moveTo>
                  <a:lnTo>
                    <a:pt x="75654" y="655936"/>
                  </a:lnTo>
                  <a:lnTo>
                    <a:pt x="38110" y="769330"/>
                  </a:lnTo>
                  <a:lnTo>
                    <a:pt x="0" y="655936"/>
                  </a:lnTo>
                  <a:lnTo>
                    <a:pt x="38110" y="693897"/>
                  </a:lnTo>
                  <a:close/>
                </a:path>
              </a:pathLst>
            </a:custGeom>
            <a:ln w="6791">
              <a:solidFill>
                <a:srgbClr val="000000"/>
              </a:solidFill>
            </a:ln>
          </p:spPr>
          <p:txBody>
            <a:bodyPr wrap="square" lIns="0" tIns="0" rIns="0" bIns="0" rtlCol="0"/>
            <a:lstStyle/>
            <a:p/>
          </p:txBody>
        </p:sp>
        <p:sp>
          <p:nvSpPr>
            <p:cNvPr id="57" name="object 57" descr=""/>
            <p:cNvSpPr/>
            <p:nvPr/>
          </p:nvSpPr>
          <p:spPr>
            <a:xfrm>
              <a:off x="4375389" y="3694793"/>
              <a:ext cx="76200" cy="944244"/>
            </a:xfrm>
            <a:custGeom>
              <a:avLst/>
              <a:gdLst/>
              <a:ahLst/>
              <a:cxnLst/>
              <a:rect l="l" t="t" r="r" b="b"/>
              <a:pathLst>
                <a:path w="76200" h="944245">
                  <a:moveTo>
                    <a:pt x="0" y="830664"/>
                  </a:moveTo>
                  <a:lnTo>
                    <a:pt x="37921" y="944058"/>
                  </a:lnTo>
                  <a:lnTo>
                    <a:pt x="59867" y="878106"/>
                  </a:lnTo>
                  <a:lnTo>
                    <a:pt x="32450" y="878106"/>
                  </a:lnTo>
                  <a:lnTo>
                    <a:pt x="28488" y="873582"/>
                  </a:lnTo>
                  <a:lnTo>
                    <a:pt x="28488" y="859182"/>
                  </a:lnTo>
                  <a:lnTo>
                    <a:pt x="0" y="830664"/>
                  </a:lnTo>
                  <a:close/>
                </a:path>
                <a:path w="76200" h="944245">
                  <a:moveTo>
                    <a:pt x="28488" y="859182"/>
                  </a:moveTo>
                  <a:lnTo>
                    <a:pt x="28488" y="873582"/>
                  </a:lnTo>
                  <a:lnTo>
                    <a:pt x="32450" y="878106"/>
                  </a:lnTo>
                  <a:lnTo>
                    <a:pt x="43015" y="878106"/>
                  </a:lnTo>
                  <a:lnTo>
                    <a:pt x="46977" y="873582"/>
                  </a:lnTo>
                  <a:lnTo>
                    <a:pt x="46977" y="868625"/>
                  </a:lnTo>
                  <a:lnTo>
                    <a:pt x="37921" y="868625"/>
                  </a:lnTo>
                  <a:lnTo>
                    <a:pt x="28488" y="859182"/>
                  </a:lnTo>
                  <a:close/>
                </a:path>
                <a:path w="76200" h="944245">
                  <a:moveTo>
                    <a:pt x="75654" y="830664"/>
                  </a:moveTo>
                  <a:lnTo>
                    <a:pt x="46977" y="859515"/>
                  </a:lnTo>
                  <a:lnTo>
                    <a:pt x="46977" y="873582"/>
                  </a:lnTo>
                  <a:lnTo>
                    <a:pt x="43015" y="878106"/>
                  </a:lnTo>
                  <a:lnTo>
                    <a:pt x="59867" y="878106"/>
                  </a:lnTo>
                  <a:lnTo>
                    <a:pt x="75654" y="830664"/>
                  </a:lnTo>
                  <a:close/>
                </a:path>
                <a:path w="76200" h="944245">
                  <a:moveTo>
                    <a:pt x="43015" y="0"/>
                  </a:moveTo>
                  <a:lnTo>
                    <a:pt x="32450" y="0"/>
                  </a:lnTo>
                  <a:lnTo>
                    <a:pt x="28488" y="3958"/>
                  </a:lnTo>
                  <a:lnTo>
                    <a:pt x="28488" y="859182"/>
                  </a:lnTo>
                  <a:lnTo>
                    <a:pt x="37921" y="868625"/>
                  </a:lnTo>
                  <a:lnTo>
                    <a:pt x="46977" y="859515"/>
                  </a:lnTo>
                  <a:lnTo>
                    <a:pt x="46977" y="3958"/>
                  </a:lnTo>
                  <a:lnTo>
                    <a:pt x="43015" y="0"/>
                  </a:lnTo>
                  <a:close/>
                </a:path>
                <a:path w="76200" h="944245">
                  <a:moveTo>
                    <a:pt x="46977" y="859515"/>
                  </a:moveTo>
                  <a:lnTo>
                    <a:pt x="37921" y="868625"/>
                  </a:lnTo>
                  <a:lnTo>
                    <a:pt x="46977" y="868625"/>
                  </a:lnTo>
                  <a:lnTo>
                    <a:pt x="46977" y="859515"/>
                  </a:lnTo>
                  <a:close/>
                </a:path>
              </a:pathLst>
            </a:custGeom>
            <a:solidFill>
              <a:srgbClr val="000000"/>
            </a:solidFill>
          </p:spPr>
          <p:txBody>
            <a:bodyPr wrap="square" lIns="0" tIns="0" rIns="0" bIns="0" rtlCol="0"/>
            <a:lstStyle/>
            <a:p/>
          </p:txBody>
        </p:sp>
        <p:sp>
          <p:nvSpPr>
            <p:cNvPr id="58" name="object 58" descr=""/>
            <p:cNvSpPr/>
            <p:nvPr/>
          </p:nvSpPr>
          <p:spPr>
            <a:xfrm>
              <a:off x="4375388" y="3694793"/>
              <a:ext cx="76200" cy="944244"/>
            </a:xfrm>
            <a:custGeom>
              <a:avLst/>
              <a:gdLst/>
              <a:ahLst/>
              <a:cxnLst/>
              <a:rect l="l" t="t" r="r" b="b"/>
              <a:pathLst>
                <a:path w="76200" h="944245">
                  <a:moveTo>
                    <a:pt x="46977" y="9047"/>
                  </a:moveTo>
                  <a:lnTo>
                    <a:pt x="46977" y="868625"/>
                  </a:lnTo>
                  <a:lnTo>
                    <a:pt x="46977" y="873582"/>
                  </a:lnTo>
                  <a:lnTo>
                    <a:pt x="43015" y="878106"/>
                  </a:lnTo>
                  <a:lnTo>
                    <a:pt x="37921" y="878106"/>
                  </a:lnTo>
                  <a:lnTo>
                    <a:pt x="32450" y="878106"/>
                  </a:lnTo>
                  <a:lnTo>
                    <a:pt x="28488" y="873582"/>
                  </a:lnTo>
                  <a:lnTo>
                    <a:pt x="28488" y="868625"/>
                  </a:lnTo>
                  <a:lnTo>
                    <a:pt x="28488" y="9047"/>
                  </a:lnTo>
                  <a:lnTo>
                    <a:pt x="28488" y="3958"/>
                  </a:lnTo>
                  <a:lnTo>
                    <a:pt x="32450" y="0"/>
                  </a:lnTo>
                  <a:lnTo>
                    <a:pt x="37921" y="0"/>
                  </a:lnTo>
                  <a:lnTo>
                    <a:pt x="43015" y="0"/>
                  </a:lnTo>
                  <a:lnTo>
                    <a:pt x="46977" y="3958"/>
                  </a:lnTo>
                  <a:lnTo>
                    <a:pt x="46977" y="9047"/>
                  </a:lnTo>
                  <a:close/>
                </a:path>
                <a:path w="76200" h="944245">
                  <a:moveTo>
                    <a:pt x="37921" y="868625"/>
                  </a:moveTo>
                  <a:lnTo>
                    <a:pt x="75654" y="830664"/>
                  </a:lnTo>
                  <a:lnTo>
                    <a:pt x="37921" y="944058"/>
                  </a:lnTo>
                  <a:lnTo>
                    <a:pt x="0" y="830664"/>
                  </a:lnTo>
                  <a:lnTo>
                    <a:pt x="37921" y="868625"/>
                  </a:lnTo>
                  <a:close/>
                </a:path>
              </a:pathLst>
            </a:custGeom>
            <a:ln w="6791">
              <a:solidFill>
                <a:srgbClr val="000000"/>
              </a:solidFill>
            </a:ln>
          </p:spPr>
          <p:txBody>
            <a:bodyPr wrap="square" lIns="0" tIns="0" rIns="0" bIns="0" rtlCol="0"/>
            <a:lstStyle/>
            <a:p/>
          </p:txBody>
        </p:sp>
        <p:sp>
          <p:nvSpPr>
            <p:cNvPr id="59" name="object 59" descr=""/>
            <p:cNvSpPr/>
            <p:nvPr/>
          </p:nvSpPr>
          <p:spPr>
            <a:xfrm>
              <a:off x="6160149" y="3869521"/>
              <a:ext cx="76200" cy="886460"/>
            </a:xfrm>
            <a:custGeom>
              <a:avLst/>
              <a:gdLst/>
              <a:ahLst/>
              <a:cxnLst/>
              <a:rect l="l" t="t" r="r" b="b"/>
              <a:pathLst>
                <a:path w="76200" h="886460">
                  <a:moveTo>
                    <a:pt x="0" y="773401"/>
                  </a:moveTo>
                  <a:lnTo>
                    <a:pt x="37544" y="885872"/>
                  </a:lnTo>
                  <a:lnTo>
                    <a:pt x="59738" y="820372"/>
                  </a:lnTo>
                  <a:lnTo>
                    <a:pt x="32638" y="820372"/>
                  </a:lnTo>
                  <a:lnTo>
                    <a:pt x="28488" y="815849"/>
                  </a:lnTo>
                  <a:lnTo>
                    <a:pt x="28488" y="801849"/>
                  </a:lnTo>
                  <a:lnTo>
                    <a:pt x="0" y="773401"/>
                  </a:lnTo>
                  <a:close/>
                </a:path>
                <a:path w="76200" h="886460">
                  <a:moveTo>
                    <a:pt x="28488" y="801849"/>
                  </a:moveTo>
                  <a:lnTo>
                    <a:pt x="28488" y="815849"/>
                  </a:lnTo>
                  <a:lnTo>
                    <a:pt x="32638" y="820372"/>
                  </a:lnTo>
                  <a:lnTo>
                    <a:pt x="43015" y="820372"/>
                  </a:lnTo>
                  <a:lnTo>
                    <a:pt x="47165" y="815849"/>
                  </a:lnTo>
                  <a:lnTo>
                    <a:pt x="47165" y="810892"/>
                  </a:lnTo>
                  <a:lnTo>
                    <a:pt x="37544" y="810892"/>
                  </a:lnTo>
                  <a:lnTo>
                    <a:pt x="28488" y="801849"/>
                  </a:lnTo>
                  <a:close/>
                </a:path>
                <a:path w="76200" h="886460">
                  <a:moveTo>
                    <a:pt x="75654" y="773401"/>
                  </a:moveTo>
                  <a:lnTo>
                    <a:pt x="47165" y="801426"/>
                  </a:lnTo>
                  <a:lnTo>
                    <a:pt x="47165" y="815849"/>
                  </a:lnTo>
                  <a:lnTo>
                    <a:pt x="43015" y="820372"/>
                  </a:lnTo>
                  <a:lnTo>
                    <a:pt x="59738" y="820372"/>
                  </a:lnTo>
                  <a:lnTo>
                    <a:pt x="75654" y="773401"/>
                  </a:lnTo>
                  <a:close/>
                </a:path>
                <a:path w="76200" h="886460">
                  <a:moveTo>
                    <a:pt x="43015" y="0"/>
                  </a:moveTo>
                  <a:lnTo>
                    <a:pt x="32638" y="0"/>
                  </a:lnTo>
                  <a:lnTo>
                    <a:pt x="28488" y="4523"/>
                  </a:lnTo>
                  <a:lnTo>
                    <a:pt x="28488" y="801849"/>
                  </a:lnTo>
                  <a:lnTo>
                    <a:pt x="37544" y="810892"/>
                  </a:lnTo>
                  <a:lnTo>
                    <a:pt x="47165" y="801426"/>
                  </a:lnTo>
                  <a:lnTo>
                    <a:pt x="47165" y="4523"/>
                  </a:lnTo>
                  <a:lnTo>
                    <a:pt x="43015" y="0"/>
                  </a:lnTo>
                  <a:close/>
                </a:path>
                <a:path w="76200" h="886460">
                  <a:moveTo>
                    <a:pt x="47165" y="801426"/>
                  </a:moveTo>
                  <a:lnTo>
                    <a:pt x="37544" y="810892"/>
                  </a:lnTo>
                  <a:lnTo>
                    <a:pt x="47165" y="810892"/>
                  </a:lnTo>
                  <a:lnTo>
                    <a:pt x="47165" y="801426"/>
                  </a:lnTo>
                  <a:close/>
                </a:path>
              </a:pathLst>
            </a:custGeom>
            <a:solidFill>
              <a:srgbClr val="000000"/>
            </a:solidFill>
          </p:spPr>
          <p:txBody>
            <a:bodyPr wrap="square" lIns="0" tIns="0" rIns="0" bIns="0" rtlCol="0"/>
            <a:lstStyle/>
            <a:p/>
          </p:txBody>
        </p:sp>
        <p:sp>
          <p:nvSpPr>
            <p:cNvPr id="60" name="object 60" descr=""/>
            <p:cNvSpPr/>
            <p:nvPr/>
          </p:nvSpPr>
          <p:spPr>
            <a:xfrm>
              <a:off x="6160149" y="3869521"/>
              <a:ext cx="76200" cy="886460"/>
            </a:xfrm>
            <a:custGeom>
              <a:avLst/>
              <a:gdLst/>
              <a:ahLst/>
              <a:cxnLst/>
              <a:rect l="l" t="t" r="r" b="b"/>
              <a:pathLst>
                <a:path w="76200" h="886460">
                  <a:moveTo>
                    <a:pt x="47165" y="9989"/>
                  </a:moveTo>
                  <a:lnTo>
                    <a:pt x="47165" y="810892"/>
                  </a:lnTo>
                  <a:lnTo>
                    <a:pt x="47165" y="815849"/>
                  </a:lnTo>
                  <a:lnTo>
                    <a:pt x="43015" y="820372"/>
                  </a:lnTo>
                  <a:lnTo>
                    <a:pt x="37544" y="820372"/>
                  </a:lnTo>
                  <a:lnTo>
                    <a:pt x="32638" y="820372"/>
                  </a:lnTo>
                  <a:lnTo>
                    <a:pt x="28488" y="815849"/>
                  </a:lnTo>
                  <a:lnTo>
                    <a:pt x="28488" y="810892"/>
                  </a:lnTo>
                  <a:lnTo>
                    <a:pt x="28488" y="9989"/>
                  </a:lnTo>
                  <a:lnTo>
                    <a:pt x="28488" y="4523"/>
                  </a:lnTo>
                  <a:lnTo>
                    <a:pt x="32638" y="0"/>
                  </a:lnTo>
                  <a:lnTo>
                    <a:pt x="37544" y="0"/>
                  </a:lnTo>
                  <a:lnTo>
                    <a:pt x="43015" y="0"/>
                  </a:lnTo>
                  <a:lnTo>
                    <a:pt x="47165" y="4523"/>
                  </a:lnTo>
                  <a:lnTo>
                    <a:pt x="47165" y="9989"/>
                  </a:lnTo>
                  <a:close/>
                </a:path>
                <a:path w="76200" h="886460">
                  <a:moveTo>
                    <a:pt x="37544" y="810892"/>
                  </a:moveTo>
                  <a:lnTo>
                    <a:pt x="75654" y="773401"/>
                  </a:lnTo>
                  <a:lnTo>
                    <a:pt x="37544" y="885872"/>
                  </a:lnTo>
                  <a:lnTo>
                    <a:pt x="0" y="773401"/>
                  </a:lnTo>
                  <a:lnTo>
                    <a:pt x="37544" y="810892"/>
                  </a:lnTo>
                  <a:close/>
                </a:path>
              </a:pathLst>
            </a:custGeom>
            <a:ln w="6791">
              <a:solidFill>
                <a:srgbClr val="000000"/>
              </a:solidFill>
            </a:ln>
          </p:spPr>
          <p:txBody>
            <a:bodyPr wrap="square" lIns="0" tIns="0" rIns="0" bIns="0" rtlCol="0"/>
            <a:lstStyle/>
            <a:p/>
          </p:txBody>
        </p:sp>
        <p:sp>
          <p:nvSpPr>
            <p:cNvPr id="61" name="object 61" descr=""/>
            <p:cNvSpPr/>
            <p:nvPr/>
          </p:nvSpPr>
          <p:spPr>
            <a:xfrm>
              <a:off x="6874053" y="3694793"/>
              <a:ext cx="76200" cy="1061085"/>
            </a:xfrm>
            <a:custGeom>
              <a:avLst/>
              <a:gdLst/>
              <a:ahLst/>
              <a:cxnLst/>
              <a:rect l="l" t="t" r="r" b="b"/>
              <a:pathLst>
                <a:path w="76200" h="1061085">
                  <a:moveTo>
                    <a:pt x="0" y="948129"/>
                  </a:moveTo>
                  <a:lnTo>
                    <a:pt x="37544" y="1060600"/>
                  </a:lnTo>
                  <a:lnTo>
                    <a:pt x="59738" y="995100"/>
                  </a:lnTo>
                  <a:lnTo>
                    <a:pt x="32638" y="995100"/>
                  </a:lnTo>
                  <a:lnTo>
                    <a:pt x="28488" y="990577"/>
                  </a:lnTo>
                  <a:lnTo>
                    <a:pt x="28488" y="976577"/>
                  </a:lnTo>
                  <a:lnTo>
                    <a:pt x="0" y="948129"/>
                  </a:lnTo>
                  <a:close/>
                </a:path>
                <a:path w="76200" h="1061085">
                  <a:moveTo>
                    <a:pt x="28488" y="976577"/>
                  </a:moveTo>
                  <a:lnTo>
                    <a:pt x="28488" y="990577"/>
                  </a:lnTo>
                  <a:lnTo>
                    <a:pt x="32638" y="995100"/>
                  </a:lnTo>
                  <a:lnTo>
                    <a:pt x="42638" y="995100"/>
                  </a:lnTo>
                  <a:lnTo>
                    <a:pt x="47165" y="990577"/>
                  </a:lnTo>
                  <a:lnTo>
                    <a:pt x="47165" y="985619"/>
                  </a:lnTo>
                  <a:lnTo>
                    <a:pt x="37544" y="985619"/>
                  </a:lnTo>
                  <a:lnTo>
                    <a:pt x="28488" y="976577"/>
                  </a:lnTo>
                  <a:close/>
                </a:path>
                <a:path w="76200" h="1061085">
                  <a:moveTo>
                    <a:pt x="75654" y="948129"/>
                  </a:moveTo>
                  <a:lnTo>
                    <a:pt x="47165" y="976154"/>
                  </a:lnTo>
                  <a:lnTo>
                    <a:pt x="47165" y="990577"/>
                  </a:lnTo>
                  <a:lnTo>
                    <a:pt x="42638" y="995100"/>
                  </a:lnTo>
                  <a:lnTo>
                    <a:pt x="59738" y="995100"/>
                  </a:lnTo>
                  <a:lnTo>
                    <a:pt x="75654" y="948129"/>
                  </a:lnTo>
                  <a:close/>
                </a:path>
                <a:path w="76200" h="1061085">
                  <a:moveTo>
                    <a:pt x="42638" y="0"/>
                  </a:moveTo>
                  <a:lnTo>
                    <a:pt x="32638" y="0"/>
                  </a:lnTo>
                  <a:lnTo>
                    <a:pt x="28488" y="3958"/>
                  </a:lnTo>
                  <a:lnTo>
                    <a:pt x="28488" y="976577"/>
                  </a:lnTo>
                  <a:lnTo>
                    <a:pt x="37544" y="985619"/>
                  </a:lnTo>
                  <a:lnTo>
                    <a:pt x="47165" y="976154"/>
                  </a:lnTo>
                  <a:lnTo>
                    <a:pt x="47165" y="3958"/>
                  </a:lnTo>
                  <a:lnTo>
                    <a:pt x="42638" y="0"/>
                  </a:lnTo>
                  <a:close/>
                </a:path>
                <a:path w="76200" h="1061085">
                  <a:moveTo>
                    <a:pt x="47165" y="976154"/>
                  </a:moveTo>
                  <a:lnTo>
                    <a:pt x="37544" y="985619"/>
                  </a:lnTo>
                  <a:lnTo>
                    <a:pt x="47165" y="985619"/>
                  </a:lnTo>
                  <a:lnTo>
                    <a:pt x="47165" y="976154"/>
                  </a:lnTo>
                  <a:close/>
                </a:path>
              </a:pathLst>
            </a:custGeom>
            <a:solidFill>
              <a:srgbClr val="000000"/>
            </a:solidFill>
          </p:spPr>
          <p:txBody>
            <a:bodyPr wrap="square" lIns="0" tIns="0" rIns="0" bIns="0" rtlCol="0"/>
            <a:lstStyle/>
            <a:p/>
          </p:txBody>
        </p:sp>
        <p:sp>
          <p:nvSpPr>
            <p:cNvPr id="62" name="object 62" descr=""/>
            <p:cNvSpPr/>
            <p:nvPr/>
          </p:nvSpPr>
          <p:spPr>
            <a:xfrm>
              <a:off x="6874053" y="3694793"/>
              <a:ext cx="76200" cy="1061085"/>
            </a:xfrm>
            <a:custGeom>
              <a:avLst/>
              <a:gdLst/>
              <a:ahLst/>
              <a:cxnLst/>
              <a:rect l="l" t="t" r="r" b="b"/>
              <a:pathLst>
                <a:path w="76200" h="1061085">
                  <a:moveTo>
                    <a:pt x="47165" y="9047"/>
                  </a:moveTo>
                  <a:lnTo>
                    <a:pt x="47165" y="985619"/>
                  </a:lnTo>
                  <a:lnTo>
                    <a:pt x="47165" y="990577"/>
                  </a:lnTo>
                  <a:lnTo>
                    <a:pt x="42638" y="995100"/>
                  </a:lnTo>
                  <a:lnTo>
                    <a:pt x="37544" y="995100"/>
                  </a:lnTo>
                  <a:lnTo>
                    <a:pt x="32638" y="995100"/>
                  </a:lnTo>
                  <a:lnTo>
                    <a:pt x="28488" y="990577"/>
                  </a:lnTo>
                  <a:lnTo>
                    <a:pt x="28488" y="985619"/>
                  </a:lnTo>
                  <a:lnTo>
                    <a:pt x="28488" y="9047"/>
                  </a:lnTo>
                  <a:lnTo>
                    <a:pt x="28488" y="3958"/>
                  </a:lnTo>
                  <a:lnTo>
                    <a:pt x="32638" y="0"/>
                  </a:lnTo>
                  <a:lnTo>
                    <a:pt x="37544" y="0"/>
                  </a:lnTo>
                  <a:lnTo>
                    <a:pt x="42638" y="0"/>
                  </a:lnTo>
                  <a:lnTo>
                    <a:pt x="47165" y="3958"/>
                  </a:lnTo>
                  <a:lnTo>
                    <a:pt x="47165" y="9047"/>
                  </a:lnTo>
                  <a:close/>
                </a:path>
                <a:path w="76200" h="1061085">
                  <a:moveTo>
                    <a:pt x="37544" y="985619"/>
                  </a:moveTo>
                  <a:lnTo>
                    <a:pt x="75654" y="948129"/>
                  </a:lnTo>
                  <a:lnTo>
                    <a:pt x="37544" y="1060600"/>
                  </a:lnTo>
                  <a:lnTo>
                    <a:pt x="0" y="948129"/>
                  </a:lnTo>
                  <a:lnTo>
                    <a:pt x="37544" y="985619"/>
                  </a:lnTo>
                  <a:close/>
                </a:path>
              </a:pathLst>
            </a:custGeom>
            <a:ln w="6791">
              <a:solidFill>
                <a:srgbClr val="000000"/>
              </a:solidFill>
            </a:ln>
          </p:spPr>
          <p:txBody>
            <a:bodyPr wrap="square" lIns="0" tIns="0" rIns="0" bIns="0" rtlCol="0"/>
            <a:lstStyle/>
            <a:p/>
          </p:txBody>
        </p:sp>
        <p:sp>
          <p:nvSpPr>
            <p:cNvPr id="63" name="object 63" descr=""/>
            <p:cNvSpPr/>
            <p:nvPr/>
          </p:nvSpPr>
          <p:spPr>
            <a:xfrm>
              <a:off x="3225105" y="4045380"/>
              <a:ext cx="76200" cy="593725"/>
            </a:xfrm>
            <a:custGeom>
              <a:avLst/>
              <a:gdLst/>
              <a:ahLst/>
              <a:cxnLst/>
              <a:rect l="l" t="t" r="r" b="b"/>
              <a:pathLst>
                <a:path w="76200" h="593725">
                  <a:moveTo>
                    <a:pt x="0" y="480077"/>
                  </a:moveTo>
                  <a:lnTo>
                    <a:pt x="37544" y="593471"/>
                  </a:lnTo>
                  <a:lnTo>
                    <a:pt x="59709" y="527519"/>
                  </a:lnTo>
                  <a:lnTo>
                    <a:pt x="32638" y="527519"/>
                  </a:lnTo>
                  <a:lnTo>
                    <a:pt x="28488" y="522996"/>
                  </a:lnTo>
                  <a:lnTo>
                    <a:pt x="28488" y="508882"/>
                  </a:lnTo>
                  <a:lnTo>
                    <a:pt x="0" y="480077"/>
                  </a:lnTo>
                  <a:close/>
                </a:path>
                <a:path w="76200" h="593725">
                  <a:moveTo>
                    <a:pt x="28488" y="508882"/>
                  </a:moveTo>
                  <a:lnTo>
                    <a:pt x="28488" y="522996"/>
                  </a:lnTo>
                  <a:lnTo>
                    <a:pt x="32638" y="527519"/>
                  </a:lnTo>
                  <a:lnTo>
                    <a:pt x="43015" y="527519"/>
                  </a:lnTo>
                  <a:lnTo>
                    <a:pt x="47165" y="522996"/>
                  </a:lnTo>
                  <a:lnTo>
                    <a:pt x="47165" y="518039"/>
                  </a:lnTo>
                  <a:lnTo>
                    <a:pt x="37544" y="518039"/>
                  </a:lnTo>
                  <a:lnTo>
                    <a:pt x="28488" y="508882"/>
                  </a:lnTo>
                  <a:close/>
                </a:path>
                <a:path w="76200" h="593725">
                  <a:moveTo>
                    <a:pt x="75654" y="480077"/>
                  </a:moveTo>
                  <a:lnTo>
                    <a:pt x="47165" y="508454"/>
                  </a:lnTo>
                  <a:lnTo>
                    <a:pt x="47165" y="522996"/>
                  </a:lnTo>
                  <a:lnTo>
                    <a:pt x="43015" y="527519"/>
                  </a:lnTo>
                  <a:lnTo>
                    <a:pt x="59709" y="527519"/>
                  </a:lnTo>
                  <a:lnTo>
                    <a:pt x="75654" y="480077"/>
                  </a:lnTo>
                  <a:close/>
                </a:path>
                <a:path w="76200" h="593725">
                  <a:moveTo>
                    <a:pt x="43015" y="0"/>
                  </a:moveTo>
                  <a:lnTo>
                    <a:pt x="32638" y="0"/>
                  </a:lnTo>
                  <a:lnTo>
                    <a:pt x="28488" y="3958"/>
                  </a:lnTo>
                  <a:lnTo>
                    <a:pt x="28488" y="508882"/>
                  </a:lnTo>
                  <a:lnTo>
                    <a:pt x="37544" y="518039"/>
                  </a:lnTo>
                  <a:lnTo>
                    <a:pt x="47165" y="508454"/>
                  </a:lnTo>
                  <a:lnTo>
                    <a:pt x="47165" y="3958"/>
                  </a:lnTo>
                  <a:lnTo>
                    <a:pt x="43015" y="0"/>
                  </a:lnTo>
                  <a:close/>
                </a:path>
                <a:path w="76200" h="593725">
                  <a:moveTo>
                    <a:pt x="47165" y="508454"/>
                  </a:moveTo>
                  <a:lnTo>
                    <a:pt x="37544" y="518039"/>
                  </a:lnTo>
                  <a:lnTo>
                    <a:pt x="47165" y="518039"/>
                  </a:lnTo>
                  <a:lnTo>
                    <a:pt x="47165" y="508454"/>
                  </a:lnTo>
                  <a:close/>
                </a:path>
              </a:pathLst>
            </a:custGeom>
            <a:solidFill>
              <a:srgbClr val="000000"/>
            </a:solidFill>
          </p:spPr>
          <p:txBody>
            <a:bodyPr wrap="square" lIns="0" tIns="0" rIns="0" bIns="0" rtlCol="0"/>
            <a:lstStyle/>
            <a:p/>
          </p:txBody>
        </p:sp>
        <p:sp>
          <p:nvSpPr>
            <p:cNvPr id="64" name="object 64" descr=""/>
            <p:cNvSpPr/>
            <p:nvPr/>
          </p:nvSpPr>
          <p:spPr>
            <a:xfrm>
              <a:off x="3225104" y="4045380"/>
              <a:ext cx="76200" cy="593725"/>
            </a:xfrm>
            <a:custGeom>
              <a:avLst/>
              <a:gdLst/>
              <a:ahLst/>
              <a:cxnLst/>
              <a:rect l="l" t="t" r="r" b="b"/>
              <a:pathLst>
                <a:path w="76200" h="593725">
                  <a:moveTo>
                    <a:pt x="47165" y="9424"/>
                  </a:moveTo>
                  <a:lnTo>
                    <a:pt x="47165" y="518039"/>
                  </a:lnTo>
                  <a:lnTo>
                    <a:pt x="47165" y="522996"/>
                  </a:lnTo>
                  <a:lnTo>
                    <a:pt x="43015" y="527519"/>
                  </a:lnTo>
                  <a:lnTo>
                    <a:pt x="37544" y="527519"/>
                  </a:lnTo>
                  <a:lnTo>
                    <a:pt x="32638" y="527519"/>
                  </a:lnTo>
                  <a:lnTo>
                    <a:pt x="28488" y="522996"/>
                  </a:lnTo>
                  <a:lnTo>
                    <a:pt x="28488" y="518039"/>
                  </a:lnTo>
                  <a:lnTo>
                    <a:pt x="28488" y="9424"/>
                  </a:lnTo>
                  <a:lnTo>
                    <a:pt x="28488" y="3958"/>
                  </a:lnTo>
                  <a:lnTo>
                    <a:pt x="32638" y="0"/>
                  </a:lnTo>
                  <a:lnTo>
                    <a:pt x="37544" y="0"/>
                  </a:lnTo>
                  <a:lnTo>
                    <a:pt x="43015" y="0"/>
                  </a:lnTo>
                  <a:lnTo>
                    <a:pt x="47165" y="3958"/>
                  </a:lnTo>
                  <a:lnTo>
                    <a:pt x="47165" y="9424"/>
                  </a:lnTo>
                  <a:close/>
                </a:path>
                <a:path w="76200" h="593725">
                  <a:moveTo>
                    <a:pt x="37544" y="518039"/>
                  </a:moveTo>
                  <a:lnTo>
                    <a:pt x="75654" y="480077"/>
                  </a:lnTo>
                  <a:lnTo>
                    <a:pt x="37544" y="593471"/>
                  </a:lnTo>
                  <a:lnTo>
                    <a:pt x="0" y="480077"/>
                  </a:lnTo>
                  <a:lnTo>
                    <a:pt x="37544" y="518039"/>
                  </a:lnTo>
                  <a:close/>
                </a:path>
              </a:pathLst>
            </a:custGeom>
            <a:ln w="6791">
              <a:solidFill>
                <a:srgbClr val="000000"/>
              </a:solidFill>
            </a:ln>
          </p:spPr>
          <p:txBody>
            <a:bodyPr wrap="square" lIns="0" tIns="0" rIns="0" bIns="0" rtlCol="0"/>
            <a:lstStyle/>
            <a:p/>
          </p:txBody>
        </p:sp>
        <p:sp>
          <p:nvSpPr>
            <p:cNvPr id="65" name="object 65" descr=""/>
            <p:cNvSpPr/>
            <p:nvPr/>
          </p:nvSpPr>
          <p:spPr>
            <a:xfrm>
              <a:off x="5683961" y="4045380"/>
              <a:ext cx="76200" cy="710565"/>
            </a:xfrm>
            <a:custGeom>
              <a:avLst/>
              <a:gdLst/>
              <a:ahLst/>
              <a:cxnLst/>
              <a:rect l="l" t="t" r="r" b="b"/>
              <a:pathLst>
                <a:path w="76200" h="710564">
                  <a:moveTo>
                    <a:pt x="0" y="597543"/>
                  </a:moveTo>
                  <a:lnTo>
                    <a:pt x="38110" y="710013"/>
                  </a:lnTo>
                  <a:lnTo>
                    <a:pt x="59974" y="644514"/>
                  </a:lnTo>
                  <a:lnTo>
                    <a:pt x="32638" y="644514"/>
                  </a:lnTo>
                  <a:lnTo>
                    <a:pt x="28676" y="639990"/>
                  </a:lnTo>
                  <a:lnTo>
                    <a:pt x="28676" y="625753"/>
                  </a:lnTo>
                  <a:lnTo>
                    <a:pt x="0" y="597543"/>
                  </a:lnTo>
                  <a:close/>
                </a:path>
                <a:path w="76200" h="710564">
                  <a:moveTo>
                    <a:pt x="28676" y="625753"/>
                  </a:moveTo>
                  <a:lnTo>
                    <a:pt x="28676" y="639990"/>
                  </a:lnTo>
                  <a:lnTo>
                    <a:pt x="32638" y="644514"/>
                  </a:lnTo>
                  <a:lnTo>
                    <a:pt x="43015" y="644514"/>
                  </a:lnTo>
                  <a:lnTo>
                    <a:pt x="47165" y="639990"/>
                  </a:lnTo>
                  <a:lnTo>
                    <a:pt x="47165" y="635033"/>
                  </a:lnTo>
                  <a:lnTo>
                    <a:pt x="38110" y="635033"/>
                  </a:lnTo>
                  <a:lnTo>
                    <a:pt x="28676" y="625753"/>
                  </a:lnTo>
                  <a:close/>
                </a:path>
                <a:path w="76200" h="710564">
                  <a:moveTo>
                    <a:pt x="75654" y="597543"/>
                  </a:moveTo>
                  <a:lnTo>
                    <a:pt x="47165" y="625990"/>
                  </a:lnTo>
                  <a:lnTo>
                    <a:pt x="47165" y="639990"/>
                  </a:lnTo>
                  <a:lnTo>
                    <a:pt x="43015" y="644514"/>
                  </a:lnTo>
                  <a:lnTo>
                    <a:pt x="59974" y="644514"/>
                  </a:lnTo>
                  <a:lnTo>
                    <a:pt x="75654" y="597543"/>
                  </a:lnTo>
                  <a:close/>
                </a:path>
                <a:path w="76200" h="710564">
                  <a:moveTo>
                    <a:pt x="43015" y="0"/>
                  </a:moveTo>
                  <a:lnTo>
                    <a:pt x="32638" y="0"/>
                  </a:lnTo>
                  <a:lnTo>
                    <a:pt x="28676" y="3958"/>
                  </a:lnTo>
                  <a:lnTo>
                    <a:pt x="28676" y="625753"/>
                  </a:lnTo>
                  <a:lnTo>
                    <a:pt x="38110" y="635033"/>
                  </a:lnTo>
                  <a:lnTo>
                    <a:pt x="47165" y="625990"/>
                  </a:lnTo>
                  <a:lnTo>
                    <a:pt x="47165" y="3958"/>
                  </a:lnTo>
                  <a:lnTo>
                    <a:pt x="43015" y="0"/>
                  </a:lnTo>
                  <a:close/>
                </a:path>
                <a:path w="76200" h="710564">
                  <a:moveTo>
                    <a:pt x="47165" y="625990"/>
                  </a:moveTo>
                  <a:lnTo>
                    <a:pt x="38110" y="635033"/>
                  </a:lnTo>
                  <a:lnTo>
                    <a:pt x="47165" y="635033"/>
                  </a:lnTo>
                  <a:lnTo>
                    <a:pt x="47165" y="625990"/>
                  </a:lnTo>
                  <a:close/>
                </a:path>
              </a:pathLst>
            </a:custGeom>
            <a:solidFill>
              <a:srgbClr val="000000"/>
            </a:solidFill>
          </p:spPr>
          <p:txBody>
            <a:bodyPr wrap="square" lIns="0" tIns="0" rIns="0" bIns="0" rtlCol="0"/>
            <a:lstStyle/>
            <a:p/>
          </p:txBody>
        </p:sp>
        <p:sp>
          <p:nvSpPr>
            <p:cNvPr id="66" name="object 66" descr=""/>
            <p:cNvSpPr/>
            <p:nvPr/>
          </p:nvSpPr>
          <p:spPr>
            <a:xfrm>
              <a:off x="5683961" y="4045380"/>
              <a:ext cx="76200" cy="710565"/>
            </a:xfrm>
            <a:custGeom>
              <a:avLst/>
              <a:gdLst/>
              <a:ahLst/>
              <a:cxnLst/>
              <a:rect l="l" t="t" r="r" b="b"/>
              <a:pathLst>
                <a:path w="76200" h="710564">
                  <a:moveTo>
                    <a:pt x="47165" y="9424"/>
                  </a:moveTo>
                  <a:lnTo>
                    <a:pt x="47165" y="635033"/>
                  </a:lnTo>
                  <a:lnTo>
                    <a:pt x="47165" y="639990"/>
                  </a:lnTo>
                  <a:lnTo>
                    <a:pt x="43015" y="644514"/>
                  </a:lnTo>
                  <a:lnTo>
                    <a:pt x="38110" y="644514"/>
                  </a:lnTo>
                  <a:lnTo>
                    <a:pt x="32638" y="644514"/>
                  </a:lnTo>
                  <a:lnTo>
                    <a:pt x="28676" y="639990"/>
                  </a:lnTo>
                  <a:lnTo>
                    <a:pt x="28676" y="635033"/>
                  </a:lnTo>
                  <a:lnTo>
                    <a:pt x="28676" y="9424"/>
                  </a:lnTo>
                  <a:lnTo>
                    <a:pt x="28676" y="3958"/>
                  </a:lnTo>
                  <a:lnTo>
                    <a:pt x="32638" y="0"/>
                  </a:lnTo>
                  <a:lnTo>
                    <a:pt x="38110" y="0"/>
                  </a:lnTo>
                  <a:lnTo>
                    <a:pt x="43015" y="0"/>
                  </a:lnTo>
                  <a:lnTo>
                    <a:pt x="47165" y="3958"/>
                  </a:lnTo>
                  <a:lnTo>
                    <a:pt x="47165" y="9424"/>
                  </a:lnTo>
                  <a:close/>
                </a:path>
                <a:path w="76200" h="710564">
                  <a:moveTo>
                    <a:pt x="38110" y="635033"/>
                  </a:moveTo>
                  <a:lnTo>
                    <a:pt x="75654" y="597543"/>
                  </a:lnTo>
                  <a:lnTo>
                    <a:pt x="38110" y="710013"/>
                  </a:lnTo>
                  <a:lnTo>
                    <a:pt x="0" y="597543"/>
                  </a:lnTo>
                  <a:lnTo>
                    <a:pt x="38110" y="635033"/>
                  </a:lnTo>
                  <a:close/>
                </a:path>
              </a:pathLst>
            </a:custGeom>
            <a:ln w="6791">
              <a:solidFill>
                <a:srgbClr val="000000"/>
              </a:solidFill>
            </a:ln>
          </p:spPr>
          <p:txBody>
            <a:bodyPr wrap="square" lIns="0" tIns="0" rIns="0" bIns="0" rtlCol="0"/>
            <a:lstStyle/>
            <a:p/>
          </p:txBody>
        </p:sp>
        <p:sp>
          <p:nvSpPr>
            <p:cNvPr id="67" name="object 67" descr=""/>
            <p:cNvSpPr/>
            <p:nvPr/>
          </p:nvSpPr>
          <p:spPr>
            <a:xfrm>
              <a:off x="3262649" y="4054805"/>
              <a:ext cx="2459990" cy="0"/>
            </a:xfrm>
            <a:custGeom>
              <a:avLst/>
              <a:gdLst/>
              <a:ahLst/>
              <a:cxnLst/>
              <a:rect l="l" t="t" r="r" b="b"/>
              <a:pathLst>
                <a:path w="2459990" h="0">
                  <a:moveTo>
                    <a:pt x="0" y="0"/>
                  </a:moveTo>
                  <a:lnTo>
                    <a:pt x="2459422" y="0"/>
                  </a:lnTo>
                </a:path>
              </a:pathLst>
            </a:custGeom>
            <a:ln w="14029">
              <a:solidFill>
                <a:srgbClr val="000000"/>
              </a:solidFill>
            </a:ln>
          </p:spPr>
          <p:txBody>
            <a:bodyPr wrap="square" lIns="0" tIns="0" rIns="0" bIns="0" rtlCol="0"/>
            <a:lstStyle/>
            <a:p/>
          </p:txBody>
        </p:sp>
        <p:sp>
          <p:nvSpPr>
            <p:cNvPr id="68" name="object 68" descr=""/>
            <p:cNvSpPr/>
            <p:nvPr/>
          </p:nvSpPr>
          <p:spPr>
            <a:xfrm>
              <a:off x="3819962" y="2935000"/>
              <a:ext cx="76200" cy="1120140"/>
            </a:xfrm>
            <a:custGeom>
              <a:avLst/>
              <a:gdLst/>
              <a:ahLst/>
              <a:cxnLst/>
              <a:rect l="l" t="t" r="r" b="b"/>
              <a:pathLst>
                <a:path w="76200" h="1120139">
                  <a:moveTo>
                    <a:pt x="0" y="1006334"/>
                  </a:moveTo>
                  <a:lnTo>
                    <a:pt x="37544" y="1119804"/>
                  </a:lnTo>
                  <a:lnTo>
                    <a:pt x="59827" y="1053456"/>
                  </a:lnTo>
                  <a:lnTo>
                    <a:pt x="32638" y="1053456"/>
                  </a:lnTo>
                  <a:lnTo>
                    <a:pt x="28488" y="1049686"/>
                  </a:lnTo>
                  <a:lnTo>
                    <a:pt x="28488" y="1034796"/>
                  </a:lnTo>
                  <a:lnTo>
                    <a:pt x="0" y="1006334"/>
                  </a:lnTo>
                  <a:close/>
                </a:path>
                <a:path w="76200" h="1120139">
                  <a:moveTo>
                    <a:pt x="28488" y="1034796"/>
                  </a:moveTo>
                  <a:lnTo>
                    <a:pt x="28488" y="1049686"/>
                  </a:lnTo>
                  <a:lnTo>
                    <a:pt x="32638" y="1053456"/>
                  </a:lnTo>
                  <a:lnTo>
                    <a:pt x="43392" y="1053456"/>
                  </a:lnTo>
                  <a:lnTo>
                    <a:pt x="46977" y="1049686"/>
                  </a:lnTo>
                  <a:lnTo>
                    <a:pt x="46977" y="1043843"/>
                  </a:lnTo>
                  <a:lnTo>
                    <a:pt x="37544" y="1043843"/>
                  </a:lnTo>
                  <a:lnTo>
                    <a:pt x="28488" y="1034796"/>
                  </a:lnTo>
                  <a:close/>
                </a:path>
                <a:path w="76200" h="1120139">
                  <a:moveTo>
                    <a:pt x="75654" y="1006334"/>
                  </a:moveTo>
                  <a:lnTo>
                    <a:pt x="46977" y="1034559"/>
                  </a:lnTo>
                  <a:lnTo>
                    <a:pt x="46977" y="1049686"/>
                  </a:lnTo>
                  <a:lnTo>
                    <a:pt x="43392" y="1053456"/>
                  </a:lnTo>
                  <a:lnTo>
                    <a:pt x="59827" y="1053456"/>
                  </a:lnTo>
                  <a:lnTo>
                    <a:pt x="75654" y="1006334"/>
                  </a:lnTo>
                  <a:close/>
                </a:path>
                <a:path w="76200" h="1120139">
                  <a:moveTo>
                    <a:pt x="43392" y="0"/>
                  </a:moveTo>
                  <a:lnTo>
                    <a:pt x="32638" y="0"/>
                  </a:lnTo>
                  <a:lnTo>
                    <a:pt x="28488" y="4523"/>
                  </a:lnTo>
                  <a:lnTo>
                    <a:pt x="28488" y="1034796"/>
                  </a:lnTo>
                  <a:lnTo>
                    <a:pt x="37544" y="1043843"/>
                  </a:lnTo>
                  <a:lnTo>
                    <a:pt x="46977" y="1034559"/>
                  </a:lnTo>
                  <a:lnTo>
                    <a:pt x="46977" y="4523"/>
                  </a:lnTo>
                  <a:lnTo>
                    <a:pt x="43392" y="0"/>
                  </a:lnTo>
                  <a:close/>
                </a:path>
                <a:path w="76200" h="1120139">
                  <a:moveTo>
                    <a:pt x="46977" y="1034559"/>
                  </a:moveTo>
                  <a:lnTo>
                    <a:pt x="37544" y="1043843"/>
                  </a:lnTo>
                  <a:lnTo>
                    <a:pt x="46977" y="1043843"/>
                  </a:lnTo>
                  <a:lnTo>
                    <a:pt x="46977" y="1034559"/>
                  </a:lnTo>
                  <a:close/>
                </a:path>
              </a:pathLst>
            </a:custGeom>
            <a:solidFill>
              <a:srgbClr val="000000"/>
            </a:solidFill>
          </p:spPr>
          <p:txBody>
            <a:bodyPr wrap="square" lIns="0" tIns="0" rIns="0" bIns="0" rtlCol="0"/>
            <a:lstStyle/>
            <a:p/>
          </p:txBody>
        </p:sp>
        <p:sp>
          <p:nvSpPr>
            <p:cNvPr id="69" name="object 69" descr=""/>
            <p:cNvSpPr/>
            <p:nvPr/>
          </p:nvSpPr>
          <p:spPr>
            <a:xfrm>
              <a:off x="3819962" y="2935000"/>
              <a:ext cx="76200" cy="1120140"/>
            </a:xfrm>
            <a:custGeom>
              <a:avLst/>
              <a:gdLst/>
              <a:ahLst/>
              <a:cxnLst/>
              <a:rect l="l" t="t" r="r" b="b"/>
              <a:pathLst>
                <a:path w="76200" h="1120139">
                  <a:moveTo>
                    <a:pt x="46977" y="9424"/>
                  </a:moveTo>
                  <a:lnTo>
                    <a:pt x="46977" y="1043843"/>
                  </a:lnTo>
                  <a:lnTo>
                    <a:pt x="46977" y="1049686"/>
                  </a:lnTo>
                  <a:lnTo>
                    <a:pt x="43392" y="1053456"/>
                  </a:lnTo>
                  <a:lnTo>
                    <a:pt x="37544" y="1053456"/>
                  </a:lnTo>
                  <a:lnTo>
                    <a:pt x="32638" y="1053456"/>
                  </a:lnTo>
                  <a:lnTo>
                    <a:pt x="28488" y="1049686"/>
                  </a:lnTo>
                  <a:lnTo>
                    <a:pt x="28488" y="1043843"/>
                  </a:lnTo>
                  <a:lnTo>
                    <a:pt x="28488" y="9424"/>
                  </a:lnTo>
                  <a:lnTo>
                    <a:pt x="28488" y="4523"/>
                  </a:lnTo>
                  <a:lnTo>
                    <a:pt x="32638" y="0"/>
                  </a:lnTo>
                  <a:lnTo>
                    <a:pt x="37544" y="0"/>
                  </a:lnTo>
                  <a:lnTo>
                    <a:pt x="43392" y="0"/>
                  </a:lnTo>
                  <a:lnTo>
                    <a:pt x="46977" y="4523"/>
                  </a:lnTo>
                  <a:lnTo>
                    <a:pt x="46977" y="9424"/>
                  </a:lnTo>
                  <a:close/>
                </a:path>
                <a:path w="76200" h="1120139">
                  <a:moveTo>
                    <a:pt x="37544" y="1043843"/>
                  </a:moveTo>
                  <a:lnTo>
                    <a:pt x="75654" y="1006334"/>
                  </a:lnTo>
                  <a:lnTo>
                    <a:pt x="37544" y="1119804"/>
                  </a:lnTo>
                  <a:lnTo>
                    <a:pt x="0" y="1006334"/>
                  </a:lnTo>
                  <a:lnTo>
                    <a:pt x="37544" y="1043843"/>
                  </a:lnTo>
                  <a:close/>
                </a:path>
              </a:pathLst>
            </a:custGeom>
            <a:ln w="6791">
              <a:solidFill>
                <a:srgbClr val="000000"/>
              </a:solidFill>
            </a:ln>
          </p:spPr>
          <p:txBody>
            <a:bodyPr wrap="square" lIns="0" tIns="0" rIns="0" bIns="0" rtlCol="0"/>
            <a:lstStyle/>
            <a:p/>
          </p:txBody>
        </p:sp>
        <p:sp>
          <p:nvSpPr>
            <p:cNvPr id="70" name="object 70" descr=""/>
            <p:cNvSpPr/>
            <p:nvPr/>
          </p:nvSpPr>
          <p:spPr>
            <a:xfrm>
              <a:off x="3738836" y="3120095"/>
              <a:ext cx="3173095" cy="759460"/>
            </a:xfrm>
            <a:custGeom>
              <a:avLst/>
              <a:gdLst/>
              <a:ahLst/>
              <a:cxnLst/>
              <a:rect l="l" t="t" r="r" b="b"/>
              <a:pathLst>
                <a:path w="3173095" h="759460">
                  <a:moveTo>
                    <a:pt x="0" y="759416"/>
                  </a:moveTo>
                  <a:lnTo>
                    <a:pt x="2458856" y="759416"/>
                  </a:lnTo>
                </a:path>
                <a:path w="3173095" h="759460">
                  <a:moveTo>
                    <a:pt x="1744952" y="0"/>
                  </a:moveTo>
                  <a:lnTo>
                    <a:pt x="1744952" y="759416"/>
                  </a:lnTo>
                </a:path>
                <a:path w="3173095" h="759460">
                  <a:moveTo>
                    <a:pt x="674473" y="583745"/>
                  </a:moveTo>
                  <a:lnTo>
                    <a:pt x="3172761" y="583745"/>
                  </a:lnTo>
                </a:path>
                <a:path w="3173095" h="759460">
                  <a:moveTo>
                    <a:pt x="2260571" y="0"/>
                  </a:moveTo>
                  <a:lnTo>
                    <a:pt x="2260571" y="583745"/>
                  </a:lnTo>
                </a:path>
              </a:pathLst>
            </a:custGeom>
            <a:ln w="14036">
              <a:solidFill>
                <a:srgbClr val="000000"/>
              </a:solidFill>
            </a:ln>
          </p:spPr>
          <p:txBody>
            <a:bodyPr wrap="square" lIns="0" tIns="0" rIns="0" bIns="0" rtlCol="0"/>
            <a:lstStyle/>
            <a:p/>
          </p:txBody>
        </p:sp>
        <p:sp>
          <p:nvSpPr>
            <p:cNvPr id="71" name="object 71" descr=""/>
            <p:cNvSpPr/>
            <p:nvPr/>
          </p:nvSpPr>
          <p:spPr>
            <a:xfrm>
              <a:off x="3706575" y="4369202"/>
              <a:ext cx="43815" cy="58419"/>
            </a:xfrm>
            <a:custGeom>
              <a:avLst/>
              <a:gdLst/>
              <a:ahLst/>
              <a:cxnLst/>
              <a:rect l="l" t="t" r="r" b="b"/>
              <a:pathLst>
                <a:path w="43814" h="58420">
                  <a:moveTo>
                    <a:pt x="21885" y="0"/>
                  </a:moveTo>
                  <a:lnTo>
                    <a:pt x="13451" y="2279"/>
                  </a:lnTo>
                  <a:lnTo>
                    <a:pt x="6485" y="8481"/>
                  </a:lnTo>
                  <a:lnTo>
                    <a:pt x="1748" y="17653"/>
                  </a:lnTo>
                  <a:lnTo>
                    <a:pt x="0" y="28838"/>
                  </a:lnTo>
                  <a:lnTo>
                    <a:pt x="1748" y="40053"/>
                  </a:lnTo>
                  <a:lnTo>
                    <a:pt x="6485" y="49289"/>
                  </a:lnTo>
                  <a:lnTo>
                    <a:pt x="13451" y="55556"/>
                  </a:lnTo>
                  <a:lnTo>
                    <a:pt x="21885" y="57865"/>
                  </a:lnTo>
                  <a:lnTo>
                    <a:pt x="30448" y="55556"/>
                  </a:lnTo>
                  <a:lnTo>
                    <a:pt x="37331" y="49289"/>
                  </a:lnTo>
                  <a:lnTo>
                    <a:pt x="41915" y="40053"/>
                  </a:lnTo>
                  <a:lnTo>
                    <a:pt x="43581" y="28838"/>
                  </a:lnTo>
                  <a:lnTo>
                    <a:pt x="41915" y="17653"/>
                  </a:lnTo>
                  <a:lnTo>
                    <a:pt x="37331" y="8481"/>
                  </a:lnTo>
                  <a:lnTo>
                    <a:pt x="30448" y="2279"/>
                  </a:lnTo>
                  <a:lnTo>
                    <a:pt x="21885" y="0"/>
                  </a:lnTo>
                  <a:close/>
                </a:path>
              </a:pathLst>
            </a:custGeom>
            <a:solidFill>
              <a:srgbClr val="000000"/>
            </a:solidFill>
          </p:spPr>
          <p:txBody>
            <a:bodyPr wrap="square" lIns="0" tIns="0" rIns="0" bIns="0" rtlCol="0"/>
            <a:lstStyle/>
            <a:p/>
          </p:txBody>
        </p:sp>
        <p:sp>
          <p:nvSpPr>
            <p:cNvPr id="72" name="object 72" descr=""/>
            <p:cNvSpPr/>
            <p:nvPr/>
          </p:nvSpPr>
          <p:spPr>
            <a:xfrm>
              <a:off x="3706575" y="4369202"/>
              <a:ext cx="43815" cy="58419"/>
            </a:xfrm>
            <a:custGeom>
              <a:avLst/>
              <a:gdLst/>
              <a:ahLst/>
              <a:cxnLst/>
              <a:rect l="l" t="t" r="r" b="b"/>
              <a:pathLst>
                <a:path w="43814" h="58420">
                  <a:moveTo>
                    <a:pt x="21885" y="0"/>
                  </a:moveTo>
                  <a:lnTo>
                    <a:pt x="13451" y="2279"/>
                  </a:lnTo>
                  <a:lnTo>
                    <a:pt x="6485" y="8481"/>
                  </a:lnTo>
                  <a:lnTo>
                    <a:pt x="1748" y="17653"/>
                  </a:lnTo>
                  <a:lnTo>
                    <a:pt x="0" y="28838"/>
                  </a:lnTo>
                  <a:lnTo>
                    <a:pt x="1748" y="40053"/>
                  </a:lnTo>
                  <a:lnTo>
                    <a:pt x="6485" y="49289"/>
                  </a:lnTo>
                  <a:lnTo>
                    <a:pt x="13451" y="55556"/>
                  </a:lnTo>
                  <a:lnTo>
                    <a:pt x="21885" y="57865"/>
                  </a:lnTo>
                  <a:lnTo>
                    <a:pt x="30448" y="55556"/>
                  </a:lnTo>
                  <a:lnTo>
                    <a:pt x="37331" y="49289"/>
                  </a:lnTo>
                  <a:lnTo>
                    <a:pt x="41915" y="40053"/>
                  </a:lnTo>
                  <a:lnTo>
                    <a:pt x="43581" y="28838"/>
                  </a:lnTo>
                  <a:lnTo>
                    <a:pt x="41915" y="17653"/>
                  </a:lnTo>
                  <a:lnTo>
                    <a:pt x="37331" y="8481"/>
                  </a:lnTo>
                  <a:lnTo>
                    <a:pt x="30448" y="2279"/>
                  </a:lnTo>
                  <a:lnTo>
                    <a:pt x="21885" y="0"/>
                  </a:lnTo>
                </a:path>
              </a:pathLst>
            </a:custGeom>
            <a:ln w="14038">
              <a:solidFill>
                <a:srgbClr val="000000"/>
              </a:solidFill>
            </a:ln>
          </p:spPr>
          <p:txBody>
            <a:bodyPr wrap="square" lIns="0" tIns="0" rIns="0" bIns="0" rtlCol="0"/>
            <a:lstStyle/>
            <a:p/>
          </p:txBody>
        </p:sp>
        <p:sp>
          <p:nvSpPr>
            <p:cNvPr id="73" name="object 73" descr=""/>
            <p:cNvSpPr/>
            <p:nvPr/>
          </p:nvSpPr>
          <p:spPr>
            <a:xfrm>
              <a:off x="3225105" y="4045380"/>
              <a:ext cx="76200" cy="593725"/>
            </a:xfrm>
            <a:custGeom>
              <a:avLst/>
              <a:gdLst/>
              <a:ahLst/>
              <a:cxnLst/>
              <a:rect l="l" t="t" r="r" b="b"/>
              <a:pathLst>
                <a:path w="76200" h="593725">
                  <a:moveTo>
                    <a:pt x="0" y="480077"/>
                  </a:moveTo>
                  <a:lnTo>
                    <a:pt x="37544" y="593471"/>
                  </a:lnTo>
                  <a:lnTo>
                    <a:pt x="59709" y="527519"/>
                  </a:lnTo>
                  <a:lnTo>
                    <a:pt x="32638" y="527519"/>
                  </a:lnTo>
                  <a:lnTo>
                    <a:pt x="28488" y="522996"/>
                  </a:lnTo>
                  <a:lnTo>
                    <a:pt x="28488" y="508882"/>
                  </a:lnTo>
                  <a:lnTo>
                    <a:pt x="0" y="480077"/>
                  </a:lnTo>
                  <a:close/>
                </a:path>
                <a:path w="76200" h="593725">
                  <a:moveTo>
                    <a:pt x="28488" y="508882"/>
                  </a:moveTo>
                  <a:lnTo>
                    <a:pt x="28488" y="522996"/>
                  </a:lnTo>
                  <a:lnTo>
                    <a:pt x="32638" y="527519"/>
                  </a:lnTo>
                  <a:lnTo>
                    <a:pt x="43015" y="527519"/>
                  </a:lnTo>
                  <a:lnTo>
                    <a:pt x="47165" y="522996"/>
                  </a:lnTo>
                  <a:lnTo>
                    <a:pt x="47165" y="518039"/>
                  </a:lnTo>
                  <a:lnTo>
                    <a:pt x="37544" y="518039"/>
                  </a:lnTo>
                  <a:lnTo>
                    <a:pt x="28488" y="508882"/>
                  </a:lnTo>
                  <a:close/>
                </a:path>
                <a:path w="76200" h="593725">
                  <a:moveTo>
                    <a:pt x="75654" y="480077"/>
                  </a:moveTo>
                  <a:lnTo>
                    <a:pt x="47165" y="508454"/>
                  </a:lnTo>
                  <a:lnTo>
                    <a:pt x="47165" y="522996"/>
                  </a:lnTo>
                  <a:lnTo>
                    <a:pt x="43015" y="527519"/>
                  </a:lnTo>
                  <a:lnTo>
                    <a:pt x="59709" y="527519"/>
                  </a:lnTo>
                  <a:lnTo>
                    <a:pt x="75654" y="480077"/>
                  </a:lnTo>
                  <a:close/>
                </a:path>
                <a:path w="76200" h="593725">
                  <a:moveTo>
                    <a:pt x="43015" y="0"/>
                  </a:moveTo>
                  <a:lnTo>
                    <a:pt x="32638" y="0"/>
                  </a:lnTo>
                  <a:lnTo>
                    <a:pt x="28488" y="3958"/>
                  </a:lnTo>
                  <a:lnTo>
                    <a:pt x="28488" y="508882"/>
                  </a:lnTo>
                  <a:lnTo>
                    <a:pt x="37544" y="518039"/>
                  </a:lnTo>
                  <a:lnTo>
                    <a:pt x="47165" y="508454"/>
                  </a:lnTo>
                  <a:lnTo>
                    <a:pt x="47165" y="3958"/>
                  </a:lnTo>
                  <a:lnTo>
                    <a:pt x="43015" y="0"/>
                  </a:lnTo>
                  <a:close/>
                </a:path>
                <a:path w="76200" h="593725">
                  <a:moveTo>
                    <a:pt x="47165" y="508454"/>
                  </a:moveTo>
                  <a:lnTo>
                    <a:pt x="37544" y="518039"/>
                  </a:lnTo>
                  <a:lnTo>
                    <a:pt x="47165" y="518039"/>
                  </a:lnTo>
                  <a:lnTo>
                    <a:pt x="47165" y="508454"/>
                  </a:lnTo>
                  <a:close/>
                </a:path>
              </a:pathLst>
            </a:custGeom>
            <a:solidFill>
              <a:srgbClr val="000000"/>
            </a:solidFill>
          </p:spPr>
          <p:txBody>
            <a:bodyPr wrap="square" lIns="0" tIns="0" rIns="0" bIns="0" rtlCol="0"/>
            <a:lstStyle/>
            <a:p/>
          </p:txBody>
        </p:sp>
        <p:sp>
          <p:nvSpPr>
            <p:cNvPr id="74" name="object 74" descr=""/>
            <p:cNvSpPr/>
            <p:nvPr/>
          </p:nvSpPr>
          <p:spPr>
            <a:xfrm>
              <a:off x="3225104" y="4045380"/>
              <a:ext cx="76200" cy="593725"/>
            </a:xfrm>
            <a:custGeom>
              <a:avLst/>
              <a:gdLst/>
              <a:ahLst/>
              <a:cxnLst/>
              <a:rect l="l" t="t" r="r" b="b"/>
              <a:pathLst>
                <a:path w="76200" h="593725">
                  <a:moveTo>
                    <a:pt x="47165" y="9424"/>
                  </a:moveTo>
                  <a:lnTo>
                    <a:pt x="47165" y="518039"/>
                  </a:lnTo>
                  <a:lnTo>
                    <a:pt x="47165" y="522996"/>
                  </a:lnTo>
                  <a:lnTo>
                    <a:pt x="43015" y="527519"/>
                  </a:lnTo>
                  <a:lnTo>
                    <a:pt x="37544" y="527519"/>
                  </a:lnTo>
                  <a:lnTo>
                    <a:pt x="32638" y="527519"/>
                  </a:lnTo>
                  <a:lnTo>
                    <a:pt x="28488" y="522996"/>
                  </a:lnTo>
                  <a:lnTo>
                    <a:pt x="28488" y="518039"/>
                  </a:lnTo>
                  <a:lnTo>
                    <a:pt x="28488" y="9424"/>
                  </a:lnTo>
                  <a:lnTo>
                    <a:pt x="28488" y="3958"/>
                  </a:lnTo>
                  <a:lnTo>
                    <a:pt x="32638" y="0"/>
                  </a:lnTo>
                  <a:lnTo>
                    <a:pt x="37544" y="0"/>
                  </a:lnTo>
                  <a:lnTo>
                    <a:pt x="43015" y="0"/>
                  </a:lnTo>
                  <a:lnTo>
                    <a:pt x="47165" y="3958"/>
                  </a:lnTo>
                  <a:lnTo>
                    <a:pt x="47165" y="9424"/>
                  </a:lnTo>
                  <a:close/>
                </a:path>
                <a:path w="76200" h="593725">
                  <a:moveTo>
                    <a:pt x="37544" y="518039"/>
                  </a:moveTo>
                  <a:lnTo>
                    <a:pt x="75654" y="480077"/>
                  </a:lnTo>
                  <a:lnTo>
                    <a:pt x="37544" y="593471"/>
                  </a:lnTo>
                  <a:lnTo>
                    <a:pt x="0" y="480077"/>
                  </a:lnTo>
                  <a:lnTo>
                    <a:pt x="37544" y="518039"/>
                  </a:lnTo>
                  <a:close/>
                </a:path>
              </a:pathLst>
            </a:custGeom>
            <a:ln w="6791">
              <a:solidFill>
                <a:srgbClr val="000000"/>
              </a:solidFill>
            </a:ln>
          </p:spPr>
          <p:txBody>
            <a:bodyPr wrap="square" lIns="0" tIns="0" rIns="0" bIns="0" rtlCol="0"/>
            <a:lstStyle/>
            <a:p/>
          </p:txBody>
        </p:sp>
        <p:sp>
          <p:nvSpPr>
            <p:cNvPr id="75" name="object 75" descr=""/>
            <p:cNvSpPr/>
            <p:nvPr/>
          </p:nvSpPr>
          <p:spPr>
            <a:xfrm>
              <a:off x="4390670" y="4361474"/>
              <a:ext cx="43180" cy="58419"/>
            </a:xfrm>
            <a:custGeom>
              <a:avLst/>
              <a:gdLst/>
              <a:ahLst/>
              <a:cxnLst/>
              <a:rect l="l" t="t" r="r" b="b"/>
              <a:pathLst>
                <a:path w="43179" h="58420">
                  <a:moveTo>
                    <a:pt x="21696" y="0"/>
                  </a:moveTo>
                  <a:lnTo>
                    <a:pt x="12973" y="2306"/>
                  </a:lnTo>
                  <a:lnTo>
                    <a:pt x="6107" y="8552"/>
                  </a:lnTo>
                  <a:lnTo>
                    <a:pt x="1612" y="17732"/>
                  </a:lnTo>
                  <a:lnTo>
                    <a:pt x="0" y="28838"/>
                  </a:lnTo>
                  <a:lnTo>
                    <a:pt x="1612" y="40292"/>
                  </a:lnTo>
                  <a:lnTo>
                    <a:pt x="6107" y="49501"/>
                  </a:lnTo>
                  <a:lnTo>
                    <a:pt x="12973" y="55636"/>
                  </a:lnTo>
                  <a:lnTo>
                    <a:pt x="21696" y="57865"/>
                  </a:lnTo>
                  <a:lnTo>
                    <a:pt x="30041" y="55636"/>
                  </a:lnTo>
                  <a:lnTo>
                    <a:pt x="36813" y="49501"/>
                  </a:lnTo>
                  <a:lnTo>
                    <a:pt x="41355" y="40292"/>
                  </a:lnTo>
                  <a:lnTo>
                    <a:pt x="43015" y="28838"/>
                  </a:lnTo>
                  <a:lnTo>
                    <a:pt x="41355" y="17732"/>
                  </a:lnTo>
                  <a:lnTo>
                    <a:pt x="36813" y="8552"/>
                  </a:lnTo>
                  <a:lnTo>
                    <a:pt x="30041" y="2306"/>
                  </a:lnTo>
                  <a:lnTo>
                    <a:pt x="21696" y="0"/>
                  </a:lnTo>
                  <a:close/>
                </a:path>
              </a:pathLst>
            </a:custGeom>
            <a:solidFill>
              <a:srgbClr val="000000"/>
            </a:solidFill>
          </p:spPr>
          <p:txBody>
            <a:bodyPr wrap="square" lIns="0" tIns="0" rIns="0" bIns="0" rtlCol="0"/>
            <a:lstStyle/>
            <a:p/>
          </p:txBody>
        </p:sp>
        <p:sp>
          <p:nvSpPr>
            <p:cNvPr id="76" name="object 76" descr=""/>
            <p:cNvSpPr/>
            <p:nvPr/>
          </p:nvSpPr>
          <p:spPr>
            <a:xfrm>
              <a:off x="4390670" y="4361474"/>
              <a:ext cx="43180" cy="58419"/>
            </a:xfrm>
            <a:custGeom>
              <a:avLst/>
              <a:gdLst/>
              <a:ahLst/>
              <a:cxnLst/>
              <a:rect l="l" t="t" r="r" b="b"/>
              <a:pathLst>
                <a:path w="43179" h="58420">
                  <a:moveTo>
                    <a:pt x="21696" y="0"/>
                  </a:moveTo>
                  <a:lnTo>
                    <a:pt x="12973" y="2306"/>
                  </a:lnTo>
                  <a:lnTo>
                    <a:pt x="6107" y="8552"/>
                  </a:lnTo>
                  <a:lnTo>
                    <a:pt x="1612" y="17732"/>
                  </a:lnTo>
                  <a:lnTo>
                    <a:pt x="0" y="28838"/>
                  </a:lnTo>
                  <a:lnTo>
                    <a:pt x="1612" y="40292"/>
                  </a:lnTo>
                  <a:lnTo>
                    <a:pt x="6107" y="49501"/>
                  </a:lnTo>
                  <a:lnTo>
                    <a:pt x="12973" y="55636"/>
                  </a:lnTo>
                  <a:lnTo>
                    <a:pt x="21696" y="57865"/>
                  </a:lnTo>
                  <a:lnTo>
                    <a:pt x="30041" y="55636"/>
                  </a:lnTo>
                  <a:lnTo>
                    <a:pt x="36813" y="49501"/>
                  </a:lnTo>
                  <a:lnTo>
                    <a:pt x="41355" y="40292"/>
                  </a:lnTo>
                  <a:lnTo>
                    <a:pt x="43015" y="28838"/>
                  </a:lnTo>
                  <a:lnTo>
                    <a:pt x="41355" y="17732"/>
                  </a:lnTo>
                  <a:lnTo>
                    <a:pt x="36813" y="8552"/>
                  </a:lnTo>
                  <a:lnTo>
                    <a:pt x="30041" y="2306"/>
                  </a:lnTo>
                  <a:lnTo>
                    <a:pt x="21696" y="0"/>
                  </a:lnTo>
                </a:path>
              </a:pathLst>
            </a:custGeom>
            <a:ln w="14038">
              <a:solidFill>
                <a:srgbClr val="000000"/>
              </a:solidFill>
            </a:ln>
          </p:spPr>
          <p:txBody>
            <a:bodyPr wrap="square" lIns="0" tIns="0" rIns="0" bIns="0" rtlCol="0"/>
            <a:lstStyle/>
            <a:p/>
          </p:txBody>
        </p:sp>
        <p:sp>
          <p:nvSpPr>
            <p:cNvPr id="77" name="object 77" descr=""/>
            <p:cNvSpPr/>
            <p:nvPr/>
          </p:nvSpPr>
          <p:spPr>
            <a:xfrm>
              <a:off x="6175619" y="4369202"/>
              <a:ext cx="43180" cy="58419"/>
            </a:xfrm>
            <a:custGeom>
              <a:avLst/>
              <a:gdLst/>
              <a:ahLst/>
              <a:cxnLst/>
              <a:rect l="l" t="t" r="r" b="b"/>
              <a:pathLst>
                <a:path w="43179" h="58420">
                  <a:moveTo>
                    <a:pt x="21130" y="0"/>
                  </a:moveTo>
                  <a:lnTo>
                    <a:pt x="12734" y="2279"/>
                  </a:lnTo>
                  <a:lnTo>
                    <a:pt x="6037" y="8481"/>
                  </a:lnTo>
                  <a:lnTo>
                    <a:pt x="1603" y="17653"/>
                  </a:lnTo>
                  <a:lnTo>
                    <a:pt x="0" y="28838"/>
                  </a:lnTo>
                  <a:lnTo>
                    <a:pt x="1603" y="40053"/>
                  </a:lnTo>
                  <a:lnTo>
                    <a:pt x="6037" y="49289"/>
                  </a:lnTo>
                  <a:lnTo>
                    <a:pt x="12734" y="55556"/>
                  </a:lnTo>
                  <a:lnTo>
                    <a:pt x="21130" y="57865"/>
                  </a:lnTo>
                  <a:lnTo>
                    <a:pt x="29723" y="55556"/>
                  </a:lnTo>
                  <a:lnTo>
                    <a:pt x="36671" y="49289"/>
                  </a:lnTo>
                  <a:lnTo>
                    <a:pt x="41320" y="40053"/>
                  </a:lnTo>
                  <a:lnTo>
                    <a:pt x="43015" y="28838"/>
                  </a:lnTo>
                  <a:lnTo>
                    <a:pt x="41320" y="17653"/>
                  </a:lnTo>
                  <a:lnTo>
                    <a:pt x="36671" y="8481"/>
                  </a:lnTo>
                  <a:lnTo>
                    <a:pt x="29723" y="2279"/>
                  </a:lnTo>
                  <a:lnTo>
                    <a:pt x="21130" y="0"/>
                  </a:lnTo>
                  <a:close/>
                </a:path>
              </a:pathLst>
            </a:custGeom>
            <a:solidFill>
              <a:srgbClr val="000000"/>
            </a:solidFill>
          </p:spPr>
          <p:txBody>
            <a:bodyPr wrap="square" lIns="0" tIns="0" rIns="0" bIns="0" rtlCol="0"/>
            <a:lstStyle/>
            <a:p/>
          </p:txBody>
        </p:sp>
        <p:sp>
          <p:nvSpPr>
            <p:cNvPr id="78" name="object 78" descr=""/>
            <p:cNvSpPr/>
            <p:nvPr/>
          </p:nvSpPr>
          <p:spPr>
            <a:xfrm>
              <a:off x="6175619" y="4369202"/>
              <a:ext cx="43180" cy="58419"/>
            </a:xfrm>
            <a:custGeom>
              <a:avLst/>
              <a:gdLst/>
              <a:ahLst/>
              <a:cxnLst/>
              <a:rect l="l" t="t" r="r" b="b"/>
              <a:pathLst>
                <a:path w="43179" h="58420">
                  <a:moveTo>
                    <a:pt x="21130" y="0"/>
                  </a:moveTo>
                  <a:lnTo>
                    <a:pt x="12734" y="2279"/>
                  </a:lnTo>
                  <a:lnTo>
                    <a:pt x="6037" y="8481"/>
                  </a:lnTo>
                  <a:lnTo>
                    <a:pt x="1603" y="17653"/>
                  </a:lnTo>
                  <a:lnTo>
                    <a:pt x="0" y="28838"/>
                  </a:lnTo>
                  <a:lnTo>
                    <a:pt x="1603" y="40053"/>
                  </a:lnTo>
                  <a:lnTo>
                    <a:pt x="6037" y="49289"/>
                  </a:lnTo>
                  <a:lnTo>
                    <a:pt x="12734" y="55556"/>
                  </a:lnTo>
                  <a:lnTo>
                    <a:pt x="21130" y="57865"/>
                  </a:lnTo>
                  <a:lnTo>
                    <a:pt x="29723" y="55556"/>
                  </a:lnTo>
                  <a:lnTo>
                    <a:pt x="36671" y="49289"/>
                  </a:lnTo>
                  <a:lnTo>
                    <a:pt x="41320" y="40053"/>
                  </a:lnTo>
                  <a:lnTo>
                    <a:pt x="43015" y="28838"/>
                  </a:lnTo>
                  <a:lnTo>
                    <a:pt x="41320" y="17653"/>
                  </a:lnTo>
                  <a:lnTo>
                    <a:pt x="36671" y="8481"/>
                  </a:lnTo>
                  <a:lnTo>
                    <a:pt x="29723" y="2279"/>
                  </a:lnTo>
                  <a:lnTo>
                    <a:pt x="21130" y="0"/>
                  </a:lnTo>
                </a:path>
              </a:pathLst>
            </a:custGeom>
            <a:ln w="14038">
              <a:solidFill>
                <a:srgbClr val="000000"/>
              </a:solidFill>
            </a:ln>
          </p:spPr>
          <p:txBody>
            <a:bodyPr wrap="square" lIns="0" tIns="0" rIns="0" bIns="0" rtlCol="0"/>
            <a:lstStyle/>
            <a:p/>
          </p:txBody>
        </p:sp>
        <p:sp>
          <p:nvSpPr>
            <p:cNvPr id="79" name="object 79" descr=""/>
            <p:cNvSpPr/>
            <p:nvPr/>
          </p:nvSpPr>
          <p:spPr>
            <a:xfrm>
              <a:off x="6889524" y="4376930"/>
              <a:ext cx="43180" cy="57785"/>
            </a:xfrm>
            <a:custGeom>
              <a:avLst/>
              <a:gdLst/>
              <a:ahLst/>
              <a:cxnLst/>
              <a:rect l="l" t="t" r="r" b="b"/>
              <a:pathLst>
                <a:path w="43179" h="57785">
                  <a:moveTo>
                    <a:pt x="21319" y="0"/>
                  </a:moveTo>
                  <a:lnTo>
                    <a:pt x="12814" y="2226"/>
                  </a:lnTo>
                  <a:lnTo>
                    <a:pt x="6060" y="8340"/>
                  </a:lnTo>
                  <a:lnTo>
                    <a:pt x="1606" y="17493"/>
                  </a:lnTo>
                  <a:lnTo>
                    <a:pt x="0" y="28838"/>
                  </a:lnTo>
                  <a:lnTo>
                    <a:pt x="1606" y="40024"/>
                  </a:lnTo>
                  <a:lnTo>
                    <a:pt x="6060" y="49195"/>
                  </a:lnTo>
                  <a:lnTo>
                    <a:pt x="12814" y="55397"/>
                  </a:lnTo>
                  <a:lnTo>
                    <a:pt x="21319" y="57677"/>
                  </a:lnTo>
                  <a:lnTo>
                    <a:pt x="29803" y="55397"/>
                  </a:lnTo>
                  <a:lnTo>
                    <a:pt x="36695" y="49195"/>
                  </a:lnTo>
                  <a:lnTo>
                    <a:pt x="41323" y="40024"/>
                  </a:lnTo>
                  <a:lnTo>
                    <a:pt x="43015" y="28838"/>
                  </a:lnTo>
                  <a:lnTo>
                    <a:pt x="41323" y="17493"/>
                  </a:lnTo>
                  <a:lnTo>
                    <a:pt x="36695" y="8340"/>
                  </a:lnTo>
                  <a:lnTo>
                    <a:pt x="29803" y="2226"/>
                  </a:lnTo>
                  <a:lnTo>
                    <a:pt x="21319" y="0"/>
                  </a:lnTo>
                  <a:close/>
                </a:path>
              </a:pathLst>
            </a:custGeom>
            <a:solidFill>
              <a:srgbClr val="000000"/>
            </a:solidFill>
          </p:spPr>
          <p:txBody>
            <a:bodyPr wrap="square" lIns="0" tIns="0" rIns="0" bIns="0" rtlCol="0"/>
            <a:lstStyle/>
            <a:p/>
          </p:txBody>
        </p:sp>
        <p:sp>
          <p:nvSpPr>
            <p:cNvPr id="80" name="object 80" descr=""/>
            <p:cNvSpPr/>
            <p:nvPr/>
          </p:nvSpPr>
          <p:spPr>
            <a:xfrm>
              <a:off x="6889524" y="4376930"/>
              <a:ext cx="43180" cy="57785"/>
            </a:xfrm>
            <a:custGeom>
              <a:avLst/>
              <a:gdLst/>
              <a:ahLst/>
              <a:cxnLst/>
              <a:rect l="l" t="t" r="r" b="b"/>
              <a:pathLst>
                <a:path w="43179" h="57785">
                  <a:moveTo>
                    <a:pt x="21319" y="0"/>
                  </a:moveTo>
                  <a:lnTo>
                    <a:pt x="12814" y="2226"/>
                  </a:lnTo>
                  <a:lnTo>
                    <a:pt x="6060" y="8340"/>
                  </a:lnTo>
                  <a:lnTo>
                    <a:pt x="1606" y="17493"/>
                  </a:lnTo>
                  <a:lnTo>
                    <a:pt x="0" y="28838"/>
                  </a:lnTo>
                  <a:lnTo>
                    <a:pt x="1606" y="40024"/>
                  </a:lnTo>
                  <a:lnTo>
                    <a:pt x="6060" y="49195"/>
                  </a:lnTo>
                  <a:lnTo>
                    <a:pt x="12814" y="55397"/>
                  </a:lnTo>
                  <a:lnTo>
                    <a:pt x="21319" y="57677"/>
                  </a:lnTo>
                  <a:lnTo>
                    <a:pt x="29803" y="55397"/>
                  </a:lnTo>
                  <a:lnTo>
                    <a:pt x="36695" y="49195"/>
                  </a:lnTo>
                  <a:lnTo>
                    <a:pt x="41323" y="40024"/>
                  </a:lnTo>
                  <a:lnTo>
                    <a:pt x="43015" y="28838"/>
                  </a:lnTo>
                  <a:lnTo>
                    <a:pt x="41323" y="17493"/>
                  </a:lnTo>
                  <a:lnTo>
                    <a:pt x="36695" y="8340"/>
                  </a:lnTo>
                  <a:lnTo>
                    <a:pt x="29803" y="2226"/>
                  </a:lnTo>
                  <a:lnTo>
                    <a:pt x="21319" y="0"/>
                  </a:lnTo>
                </a:path>
              </a:pathLst>
            </a:custGeom>
            <a:ln w="14038">
              <a:solidFill>
                <a:srgbClr val="000000"/>
              </a:solidFill>
            </a:ln>
          </p:spPr>
          <p:txBody>
            <a:bodyPr wrap="square" lIns="0" tIns="0" rIns="0" bIns="0" rtlCol="0"/>
            <a:lstStyle/>
            <a:p/>
          </p:txBody>
        </p:sp>
        <p:sp>
          <p:nvSpPr>
            <p:cNvPr id="81" name="object 81" descr=""/>
            <p:cNvSpPr/>
            <p:nvPr/>
          </p:nvSpPr>
          <p:spPr>
            <a:xfrm>
              <a:off x="5453980" y="3844264"/>
              <a:ext cx="43180" cy="58419"/>
            </a:xfrm>
            <a:custGeom>
              <a:avLst/>
              <a:gdLst/>
              <a:ahLst/>
              <a:cxnLst/>
              <a:rect l="l" t="t" r="r" b="b"/>
              <a:pathLst>
                <a:path w="43179" h="58420">
                  <a:moveTo>
                    <a:pt x="21696" y="0"/>
                  </a:moveTo>
                  <a:lnTo>
                    <a:pt x="13132" y="2306"/>
                  </a:lnTo>
                  <a:lnTo>
                    <a:pt x="6249" y="8552"/>
                  </a:lnTo>
                  <a:lnTo>
                    <a:pt x="1665" y="17732"/>
                  </a:lnTo>
                  <a:lnTo>
                    <a:pt x="0" y="28838"/>
                  </a:lnTo>
                  <a:lnTo>
                    <a:pt x="1665" y="40053"/>
                  </a:lnTo>
                  <a:lnTo>
                    <a:pt x="6249" y="49289"/>
                  </a:lnTo>
                  <a:lnTo>
                    <a:pt x="13132" y="55556"/>
                  </a:lnTo>
                  <a:lnTo>
                    <a:pt x="21696" y="57865"/>
                  </a:lnTo>
                  <a:lnTo>
                    <a:pt x="29962" y="55556"/>
                  </a:lnTo>
                  <a:lnTo>
                    <a:pt x="36742" y="49289"/>
                  </a:lnTo>
                  <a:lnTo>
                    <a:pt x="41329" y="40053"/>
                  </a:lnTo>
                  <a:lnTo>
                    <a:pt x="43015" y="28838"/>
                  </a:lnTo>
                  <a:lnTo>
                    <a:pt x="41329" y="17732"/>
                  </a:lnTo>
                  <a:lnTo>
                    <a:pt x="36742" y="8552"/>
                  </a:lnTo>
                  <a:lnTo>
                    <a:pt x="29962" y="2306"/>
                  </a:lnTo>
                  <a:lnTo>
                    <a:pt x="21696" y="0"/>
                  </a:lnTo>
                  <a:close/>
                </a:path>
              </a:pathLst>
            </a:custGeom>
            <a:solidFill>
              <a:srgbClr val="000000"/>
            </a:solidFill>
          </p:spPr>
          <p:txBody>
            <a:bodyPr wrap="square" lIns="0" tIns="0" rIns="0" bIns="0" rtlCol="0"/>
            <a:lstStyle/>
            <a:p/>
          </p:txBody>
        </p:sp>
        <p:sp>
          <p:nvSpPr>
            <p:cNvPr id="82" name="object 82" descr=""/>
            <p:cNvSpPr/>
            <p:nvPr/>
          </p:nvSpPr>
          <p:spPr>
            <a:xfrm>
              <a:off x="5453980" y="3844264"/>
              <a:ext cx="43180" cy="58419"/>
            </a:xfrm>
            <a:custGeom>
              <a:avLst/>
              <a:gdLst/>
              <a:ahLst/>
              <a:cxnLst/>
              <a:rect l="l" t="t" r="r" b="b"/>
              <a:pathLst>
                <a:path w="43179" h="58420">
                  <a:moveTo>
                    <a:pt x="21696" y="0"/>
                  </a:moveTo>
                  <a:lnTo>
                    <a:pt x="13132" y="2306"/>
                  </a:lnTo>
                  <a:lnTo>
                    <a:pt x="6249" y="8552"/>
                  </a:lnTo>
                  <a:lnTo>
                    <a:pt x="1665" y="17732"/>
                  </a:lnTo>
                  <a:lnTo>
                    <a:pt x="0" y="28838"/>
                  </a:lnTo>
                  <a:lnTo>
                    <a:pt x="1665" y="40053"/>
                  </a:lnTo>
                  <a:lnTo>
                    <a:pt x="6249" y="49289"/>
                  </a:lnTo>
                  <a:lnTo>
                    <a:pt x="13132" y="55556"/>
                  </a:lnTo>
                  <a:lnTo>
                    <a:pt x="21696" y="57865"/>
                  </a:lnTo>
                  <a:lnTo>
                    <a:pt x="29962" y="55556"/>
                  </a:lnTo>
                  <a:lnTo>
                    <a:pt x="36742" y="49289"/>
                  </a:lnTo>
                  <a:lnTo>
                    <a:pt x="41329" y="40053"/>
                  </a:lnTo>
                  <a:lnTo>
                    <a:pt x="43015" y="28838"/>
                  </a:lnTo>
                  <a:lnTo>
                    <a:pt x="41329" y="17732"/>
                  </a:lnTo>
                  <a:lnTo>
                    <a:pt x="36742" y="8552"/>
                  </a:lnTo>
                  <a:lnTo>
                    <a:pt x="29962" y="2306"/>
                  </a:lnTo>
                  <a:lnTo>
                    <a:pt x="21696" y="0"/>
                  </a:lnTo>
                </a:path>
              </a:pathLst>
            </a:custGeom>
            <a:ln w="14038">
              <a:solidFill>
                <a:srgbClr val="000000"/>
              </a:solidFill>
            </a:ln>
          </p:spPr>
          <p:txBody>
            <a:bodyPr wrap="square" lIns="0" tIns="0" rIns="0" bIns="0" rtlCol="0"/>
            <a:lstStyle/>
            <a:p/>
          </p:txBody>
        </p:sp>
        <p:sp>
          <p:nvSpPr>
            <p:cNvPr id="83" name="object 83" descr=""/>
            <p:cNvSpPr/>
            <p:nvPr/>
          </p:nvSpPr>
          <p:spPr>
            <a:xfrm>
              <a:off x="5978466" y="3674060"/>
              <a:ext cx="44450" cy="57785"/>
            </a:xfrm>
            <a:custGeom>
              <a:avLst/>
              <a:gdLst/>
              <a:ahLst/>
              <a:cxnLst/>
              <a:rect l="l" t="t" r="r" b="b"/>
              <a:pathLst>
                <a:path w="44450" h="57785">
                  <a:moveTo>
                    <a:pt x="21696" y="0"/>
                  </a:moveTo>
                  <a:lnTo>
                    <a:pt x="13371" y="2273"/>
                  </a:lnTo>
                  <a:lnTo>
                    <a:pt x="6461" y="8434"/>
                  </a:lnTo>
                  <a:lnTo>
                    <a:pt x="1745" y="17493"/>
                  </a:lnTo>
                  <a:lnTo>
                    <a:pt x="0" y="28461"/>
                  </a:lnTo>
                  <a:lnTo>
                    <a:pt x="1745" y="39567"/>
                  </a:lnTo>
                  <a:lnTo>
                    <a:pt x="6461" y="48747"/>
                  </a:lnTo>
                  <a:lnTo>
                    <a:pt x="13371" y="54994"/>
                  </a:lnTo>
                  <a:lnTo>
                    <a:pt x="21696" y="57300"/>
                  </a:lnTo>
                  <a:lnTo>
                    <a:pt x="30348" y="54994"/>
                  </a:lnTo>
                  <a:lnTo>
                    <a:pt x="37426" y="48747"/>
                  </a:lnTo>
                  <a:lnTo>
                    <a:pt x="42204" y="39567"/>
                  </a:lnTo>
                  <a:lnTo>
                    <a:pt x="43958" y="28461"/>
                  </a:lnTo>
                  <a:lnTo>
                    <a:pt x="42204" y="17493"/>
                  </a:lnTo>
                  <a:lnTo>
                    <a:pt x="37426" y="8434"/>
                  </a:lnTo>
                  <a:lnTo>
                    <a:pt x="30348" y="2273"/>
                  </a:lnTo>
                  <a:lnTo>
                    <a:pt x="21696" y="0"/>
                  </a:lnTo>
                  <a:close/>
                </a:path>
              </a:pathLst>
            </a:custGeom>
            <a:solidFill>
              <a:srgbClr val="000000"/>
            </a:solidFill>
          </p:spPr>
          <p:txBody>
            <a:bodyPr wrap="square" lIns="0" tIns="0" rIns="0" bIns="0" rtlCol="0"/>
            <a:lstStyle/>
            <a:p/>
          </p:txBody>
        </p:sp>
        <p:sp>
          <p:nvSpPr>
            <p:cNvPr id="84" name="object 84" descr=""/>
            <p:cNvSpPr/>
            <p:nvPr/>
          </p:nvSpPr>
          <p:spPr>
            <a:xfrm>
              <a:off x="5978466" y="3674060"/>
              <a:ext cx="44450" cy="57785"/>
            </a:xfrm>
            <a:custGeom>
              <a:avLst/>
              <a:gdLst/>
              <a:ahLst/>
              <a:cxnLst/>
              <a:rect l="l" t="t" r="r" b="b"/>
              <a:pathLst>
                <a:path w="44450" h="57785">
                  <a:moveTo>
                    <a:pt x="21696" y="0"/>
                  </a:moveTo>
                  <a:lnTo>
                    <a:pt x="13371" y="2273"/>
                  </a:lnTo>
                  <a:lnTo>
                    <a:pt x="6461" y="8434"/>
                  </a:lnTo>
                  <a:lnTo>
                    <a:pt x="1745" y="17493"/>
                  </a:lnTo>
                  <a:lnTo>
                    <a:pt x="0" y="28461"/>
                  </a:lnTo>
                  <a:lnTo>
                    <a:pt x="1745" y="39567"/>
                  </a:lnTo>
                  <a:lnTo>
                    <a:pt x="6461" y="48747"/>
                  </a:lnTo>
                  <a:lnTo>
                    <a:pt x="13371" y="54994"/>
                  </a:lnTo>
                  <a:lnTo>
                    <a:pt x="21696" y="57300"/>
                  </a:lnTo>
                  <a:lnTo>
                    <a:pt x="30348" y="54994"/>
                  </a:lnTo>
                  <a:lnTo>
                    <a:pt x="37426" y="48747"/>
                  </a:lnTo>
                  <a:lnTo>
                    <a:pt x="42204" y="39567"/>
                  </a:lnTo>
                  <a:lnTo>
                    <a:pt x="43958" y="28461"/>
                  </a:lnTo>
                  <a:lnTo>
                    <a:pt x="42204" y="17493"/>
                  </a:lnTo>
                  <a:lnTo>
                    <a:pt x="37426" y="8434"/>
                  </a:lnTo>
                  <a:lnTo>
                    <a:pt x="30348" y="2273"/>
                  </a:lnTo>
                  <a:lnTo>
                    <a:pt x="21696" y="0"/>
                  </a:lnTo>
                </a:path>
              </a:pathLst>
            </a:custGeom>
            <a:ln w="14038">
              <a:solidFill>
                <a:srgbClr val="000000"/>
              </a:solidFill>
            </a:ln>
          </p:spPr>
          <p:txBody>
            <a:bodyPr wrap="square" lIns="0" tIns="0" rIns="0" bIns="0" rtlCol="0"/>
            <a:lstStyle/>
            <a:p/>
          </p:txBody>
        </p:sp>
        <p:sp>
          <p:nvSpPr>
            <p:cNvPr id="85" name="object 85" descr=""/>
            <p:cNvSpPr/>
            <p:nvPr/>
          </p:nvSpPr>
          <p:spPr>
            <a:xfrm>
              <a:off x="5992993" y="3205103"/>
              <a:ext cx="1593850" cy="75565"/>
            </a:xfrm>
            <a:custGeom>
              <a:avLst/>
              <a:gdLst/>
              <a:ahLst/>
              <a:cxnLst/>
              <a:rect l="l" t="t" r="r" b="b"/>
              <a:pathLst>
                <a:path w="1593850" h="75564">
                  <a:moveTo>
                    <a:pt x="1479502" y="0"/>
                  </a:moveTo>
                  <a:lnTo>
                    <a:pt x="1517612" y="37885"/>
                  </a:lnTo>
                  <a:lnTo>
                    <a:pt x="1479502" y="75018"/>
                  </a:lnTo>
                  <a:lnTo>
                    <a:pt x="1565118" y="47498"/>
                  </a:lnTo>
                  <a:lnTo>
                    <a:pt x="1522517" y="47498"/>
                  </a:lnTo>
                  <a:lnTo>
                    <a:pt x="1527045" y="42975"/>
                  </a:lnTo>
                  <a:lnTo>
                    <a:pt x="1527045" y="32985"/>
                  </a:lnTo>
                  <a:lnTo>
                    <a:pt x="1522517" y="28461"/>
                  </a:lnTo>
                  <a:lnTo>
                    <a:pt x="1563710" y="28461"/>
                  </a:lnTo>
                  <a:lnTo>
                    <a:pt x="1479502" y="0"/>
                  </a:lnTo>
                  <a:close/>
                </a:path>
                <a:path w="1593850" h="75564">
                  <a:moveTo>
                    <a:pt x="9433" y="22053"/>
                  </a:moveTo>
                  <a:lnTo>
                    <a:pt x="4527" y="22053"/>
                  </a:lnTo>
                  <a:lnTo>
                    <a:pt x="0" y="26576"/>
                  </a:lnTo>
                  <a:lnTo>
                    <a:pt x="0" y="36566"/>
                  </a:lnTo>
                  <a:lnTo>
                    <a:pt x="4527" y="40713"/>
                  </a:lnTo>
                  <a:lnTo>
                    <a:pt x="1517612" y="47498"/>
                  </a:lnTo>
                  <a:lnTo>
                    <a:pt x="1507746" y="47498"/>
                  </a:lnTo>
                  <a:lnTo>
                    <a:pt x="1517612" y="37885"/>
                  </a:lnTo>
                  <a:lnTo>
                    <a:pt x="1508132" y="28461"/>
                  </a:lnTo>
                  <a:lnTo>
                    <a:pt x="1517612" y="28461"/>
                  </a:lnTo>
                  <a:lnTo>
                    <a:pt x="9433" y="22053"/>
                  </a:lnTo>
                  <a:close/>
                </a:path>
                <a:path w="1593850" h="75564">
                  <a:moveTo>
                    <a:pt x="1563710" y="28461"/>
                  </a:moveTo>
                  <a:lnTo>
                    <a:pt x="1522517" y="28461"/>
                  </a:lnTo>
                  <a:lnTo>
                    <a:pt x="1527045" y="32985"/>
                  </a:lnTo>
                  <a:lnTo>
                    <a:pt x="1527045" y="42975"/>
                  </a:lnTo>
                  <a:lnTo>
                    <a:pt x="1522517" y="47498"/>
                  </a:lnTo>
                  <a:lnTo>
                    <a:pt x="1565118" y="47498"/>
                  </a:lnTo>
                  <a:lnTo>
                    <a:pt x="1593266" y="38451"/>
                  </a:lnTo>
                  <a:lnTo>
                    <a:pt x="1563710" y="28461"/>
                  </a:lnTo>
                  <a:close/>
                </a:path>
              </a:pathLst>
            </a:custGeom>
            <a:solidFill>
              <a:srgbClr val="0000FF"/>
            </a:solidFill>
          </p:spPr>
          <p:txBody>
            <a:bodyPr wrap="square" lIns="0" tIns="0" rIns="0" bIns="0" rtlCol="0"/>
            <a:lstStyle/>
            <a:p/>
          </p:txBody>
        </p:sp>
        <p:sp>
          <p:nvSpPr>
            <p:cNvPr id="86" name="object 86" descr=""/>
            <p:cNvSpPr/>
            <p:nvPr/>
          </p:nvSpPr>
          <p:spPr>
            <a:xfrm>
              <a:off x="5992993" y="3205103"/>
              <a:ext cx="1593850" cy="75565"/>
            </a:xfrm>
            <a:custGeom>
              <a:avLst/>
              <a:gdLst/>
              <a:ahLst/>
              <a:cxnLst/>
              <a:rect l="l" t="t" r="r" b="b"/>
              <a:pathLst>
                <a:path w="1593850" h="75564">
                  <a:moveTo>
                    <a:pt x="9433" y="22053"/>
                  </a:moveTo>
                  <a:lnTo>
                    <a:pt x="1517612" y="28461"/>
                  </a:lnTo>
                  <a:lnTo>
                    <a:pt x="1522517" y="28461"/>
                  </a:lnTo>
                  <a:lnTo>
                    <a:pt x="1527045" y="32985"/>
                  </a:lnTo>
                  <a:lnTo>
                    <a:pt x="1527045" y="37885"/>
                  </a:lnTo>
                  <a:lnTo>
                    <a:pt x="1527045" y="42975"/>
                  </a:lnTo>
                  <a:lnTo>
                    <a:pt x="1522517" y="47498"/>
                  </a:lnTo>
                  <a:lnTo>
                    <a:pt x="1517612" y="47498"/>
                  </a:lnTo>
                  <a:lnTo>
                    <a:pt x="9433" y="40713"/>
                  </a:lnTo>
                  <a:lnTo>
                    <a:pt x="4527" y="40713"/>
                  </a:lnTo>
                  <a:lnTo>
                    <a:pt x="0" y="36566"/>
                  </a:lnTo>
                  <a:lnTo>
                    <a:pt x="0" y="31665"/>
                  </a:lnTo>
                  <a:lnTo>
                    <a:pt x="0" y="26576"/>
                  </a:lnTo>
                  <a:lnTo>
                    <a:pt x="4527" y="22053"/>
                  </a:lnTo>
                  <a:lnTo>
                    <a:pt x="9433" y="22053"/>
                  </a:lnTo>
                  <a:close/>
                </a:path>
                <a:path w="1593850" h="75564">
                  <a:moveTo>
                    <a:pt x="1517612" y="37885"/>
                  </a:moveTo>
                  <a:lnTo>
                    <a:pt x="1479502" y="0"/>
                  </a:lnTo>
                  <a:lnTo>
                    <a:pt x="1593266" y="38451"/>
                  </a:lnTo>
                  <a:lnTo>
                    <a:pt x="1479502" y="75018"/>
                  </a:lnTo>
                  <a:lnTo>
                    <a:pt x="1517612" y="37885"/>
                  </a:lnTo>
                  <a:close/>
                </a:path>
              </a:pathLst>
            </a:custGeom>
            <a:ln w="6791">
              <a:solidFill>
                <a:srgbClr val="0000FF"/>
              </a:solidFill>
            </a:ln>
          </p:spPr>
          <p:txBody>
            <a:bodyPr wrap="square" lIns="0" tIns="0" rIns="0" bIns="0" rtlCol="0"/>
            <a:lstStyle/>
            <a:p/>
          </p:txBody>
        </p:sp>
        <p:sp>
          <p:nvSpPr>
            <p:cNvPr id="87" name="object 87" descr=""/>
            <p:cNvSpPr/>
            <p:nvPr/>
          </p:nvSpPr>
          <p:spPr>
            <a:xfrm>
              <a:off x="5980730" y="3229041"/>
              <a:ext cx="43815" cy="58419"/>
            </a:xfrm>
            <a:custGeom>
              <a:avLst/>
              <a:gdLst/>
              <a:ahLst/>
              <a:cxnLst/>
              <a:rect l="l" t="t" r="r" b="b"/>
              <a:pathLst>
                <a:path w="43814" h="58420">
                  <a:moveTo>
                    <a:pt x="21696" y="0"/>
                  </a:moveTo>
                  <a:lnTo>
                    <a:pt x="13371" y="2279"/>
                  </a:lnTo>
                  <a:lnTo>
                    <a:pt x="6461" y="8481"/>
                  </a:lnTo>
                  <a:lnTo>
                    <a:pt x="1745" y="17653"/>
                  </a:lnTo>
                  <a:lnTo>
                    <a:pt x="0" y="28838"/>
                  </a:lnTo>
                  <a:lnTo>
                    <a:pt x="1745" y="40053"/>
                  </a:lnTo>
                  <a:lnTo>
                    <a:pt x="6461" y="49289"/>
                  </a:lnTo>
                  <a:lnTo>
                    <a:pt x="13371" y="55556"/>
                  </a:lnTo>
                  <a:lnTo>
                    <a:pt x="21696" y="57865"/>
                  </a:lnTo>
                  <a:lnTo>
                    <a:pt x="30130" y="55556"/>
                  </a:lnTo>
                  <a:lnTo>
                    <a:pt x="37096" y="49289"/>
                  </a:lnTo>
                  <a:lnTo>
                    <a:pt x="41833" y="40053"/>
                  </a:lnTo>
                  <a:lnTo>
                    <a:pt x="43581" y="28838"/>
                  </a:lnTo>
                  <a:lnTo>
                    <a:pt x="41833" y="17653"/>
                  </a:lnTo>
                  <a:lnTo>
                    <a:pt x="37096" y="8481"/>
                  </a:lnTo>
                  <a:lnTo>
                    <a:pt x="30130" y="2279"/>
                  </a:lnTo>
                  <a:lnTo>
                    <a:pt x="21696" y="0"/>
                  </a:lnTo>
                  <a:close/>
                </a:path>
              </a:pathLst>
            </a:custGeom>
            <a:solidFill>
              <a:srgbClr val="000000"/>
            </a:solidFill>
          </p:spPr>
          <p:txBody>
            <a:bodyPr wrap="square" lIns="0" tIns="0" rIns="0" bIns="0" rtlCol="0"/>
            <a:lstStyle/>
            <a:p/>
          </p:txBody>
        </p:sp>
        <p:sp>
          <p:nvSpPr>
            <p:cNvPr id="88" name="object 88" descr=""/>
            <p:cNvSpPr/>
            <p:nvPr/>
          </p:nvSpPr>
          <p:spPr>
            <a:xfrm>
              <a:off x="5980730" y="3229041"/>
              <a:ext cx="43815" cy="58419"/>
            </a:xfrm>
            <a:custGeom>
              <a:avLst/>
              <a:gdLst/>
              <a:ahLst/>
              <a:cxnLst/>
              <a:rect l="l" t="t" r="r" b="b"/>
              <a:pathLst>
                <a:path w="43814" h="58420">
                  <a:moveTo>
                    <a:pt x="21696" y="0"/>
                  </a:moveTo>
                  <a:lnTo>
                    <a:pt x="13371" y="2279"/>
                  </a:lnTo>
                  <a:lnTo>
                    <a:pt x="6461" y="8481"/>
                  </a:lnTo>
                  <a:lnTo>
                    <a:pt x="1745" y="17653"/>
                  </a:lnTo>
                  <a:lnTo>
                    <a:pt x="0" y="28838"/>
                  </a:lnTo>
                  <a:lnTo>
                    <a:pt x="1745" y="40053"/>
                  </a:lnTo>
                  <a:lnTo>
                    <a:pt x="6461" y="49289"/>
                  </a:lnTo>
                  <a:lnTo>
                    <a:pt x="13371" y="55556"/>
                  </a:lnTo>
                  <a:lnTo>
                    <a:pt x="21696" y="57865"/>
                  </a:lnTo>
                  <a:lnTo>
                    <a:pt x="30130" y="55556"/>
                  </a:lnTo>
                  <a:lnTo>
                    <a:pt x="37096" y="49289"/>
                  </a:lnTo>
                  <a:lnTo>
                    <a:pt x="41833" y="40053"/>
                  </a:lnTo>
                  <a:lnTo>
                    <a:pt x="43581" y="28838"/>
                  </a:lnTo>
                  <a:lnTo>
                    <a:pt x="41833" y="17653"/>
                  </a:lnTo>
                  <a:lnTo>
                    <a:pt x="37096" y="8481"/>
                  </a:lnTo>
                  <a:lnTo>
                    <a:pt x="30130" y="2279"/>
                  </a:lnTo>
                  <a:lnTo>
                    <a:pt x="21696" y="0"/>
                  </a:lnTo>
                </a:path>
              </a:pathLst>
            </a:custGeom>
            <a:ln w="14038">
              <a:solidFill>
                <a:srgbClr val="000000"/>
              </a:solidFill>
            </a:ln>
          </p:spPr>
          <p:txBody>
            <a:bodyPr wrap="square" lIns="0" tIns="0" rIns="0" bIns="0" rtlCol="0"/>
            <a:lstStyle/>
            <a:p/>
          </p:txBody>
        </p:sp>
        <p:sp>
          <p:nvSpPr>
            <p:cNvPr id="89" name="object 89" descr=""/>
            <p:cNvSpPr/>
            <p:nvPr/>
          </p:nvSpPr>
          <p:spPr>
            <a:xfrm>
              <a:off x="6199580" y="5155176"/>
              <a:ext cx="76200" cy="477520"/>
            </a:xfrm>
            <a:custGeom>
              <a:avLst/>
              <a:gdLst/>
              <a:ahLst/>
              <a:cxnLst/>
              <a:rect l="l" t="t" r="r" b="b"/>
              <a:pathLst>
                <a:path w="76200" h="477520">
                  <a:moveTo>
                    <a:pt x="0" y="363630"/>
                  </a:moveTo>
                  <a:lnTo>
                    <a:pt x="37921" y="477005"/>
                  </a:lnTo>
                  <a:lnTo>
                    <a:pt x="60021" y="410601"/>
                  </a:lnTo>
                  <a:lnTo>
                    <a:pt x="32638" y="410601"/>
                  </a:lnTo>
                  <a:lnTo>
                    <a:pt x="28488" y="407001"/>
                  </a:lnTo>
                  <a:lnTo>
                    <a:pt x="28488" y="391794"/>
                  </a:lnTo>
                  <a:lnTo>
                    <a:pt x="0" y="363630"/>
                  </a:lnTo>
                  <a:close/>
                </a:path>
                <a:path w="76200" h="477520">
                  <a:moveTo>
                    <a:pt x="28488" y="391794"/>
                  </a:moveTo>
                  <a:lnTo>
                    <a:pt x="28488" y="407001"/>
                  </a:lnTo>
                  <a:lnTo>
                    <a:pt x="32638" y="410601"/>
                  </a:lnTo>
                  <a:lnTo>
                    <a:pt x="43392" y="410601"/>
                  </a:lnTo>
                  <a:lnTo>
                    <a:pt x="47165" y="407001"/>
                  </a:lnTo>
                  <a:lnTo>
                    <a:pt x="47165" y="401120"/>
                  </a:lnTo>
                  <a:lnTo>
                    <a:pt x="37921" y="401120"/>
                  </a:lnTo>
                  <a:lnTo>
                    <a:pt x="28488" y="391794"/>
                  </a:lnTo>
                  <a:close/>
                </a:path>
                <a:path w="76200" h="477520">
                  <a:moveTo>
                    <a:pt x="75654" y="363630"/>
                  </a:moveTo>
                  <a:lnTo>
                    <a:pt x="47165" y="391935"/>
                  </a:lnTo>
                  <a:lnTo>
                    <a:pt x="47165" y="407001"/>
                  </a:lnTo>
                  <a:lnTo>
                    <a:pt x="43392" y="410601"/>
                  </a:lnTo>
                  <a:lnTo>
                    <a:pt x="60021" y="410601"/>
                  </a:lnTo>
                  <a:lnTo>
                    <a:pt x="75654" y="363630"/>
                  </a:lnTo>
                  <a:close/>
                </a:path>
                <a:path w="76200" h="477520">
                  <a:moveTo>
                    <a:pt x="43392" y="0"/>
                  </a:moveTo>
                  <a:lnTo>
                    <a:pt x="32638" y="0"/>
                  </a:lnTo>
                  <a:lnTo>
                    <a:pt x="28488" y="4504"/>
                  </a:lnTo>
                  <a:lnTo>
                    <a:pt x="28488" y="391794"/>
                  </a:lnTo>
                  <a:lnTo>
                    <a:pt x="37921" y="401120"/>
                  </a:lnTo>
                  <a:lnTo>
                    <a:pt x="47165" y="391935"/>
                  </a:lnTo>
                  <a:lnTo>
                    <a:pt x="47165" y="4504"/>
                  </a:lnTo>
                  <a:lnTo>
                    <a:pt x="43392" y="0"/>
                  </a:lnTo>
                  <a:close/>
                </a:path>
                <a:path w="76200" h="477520">
                  <a:moveTo>
                    <a:pt x="47165" y="391935"/>
                  </a:moveTo>
                  <a:lnTo>
                    <a:pt x="37921" y="401120"/>
                  </a:lnTo>
                  <a:lnTo>
                    <a:pt x="47165" y="401120"/>
                  </a:lnTo>
                  <a:lnTo>
                    <a:pt x="47165" y="391935"/>
                  </a:lnTo>
                  <a:close/>
                </a:path>
              </a:pathLst>
            </a:custGeom>
            <a:solidFill>
              <a:srgbClr val="000000"/>
            </a:solidFill>
          </p:spPr>
          <p:txBody>
            <a:bodyPr wrap="square" lIns="0" tIns="0" rIns="0" bIns="0" rtlCol="0"/>
            <a:lstStyle/>
            <a:p/>
          </p:txBody>
        </p:sp>
        <p:sp>
          <p:nvSpPr>
            <p:cNvPr id="90" name="object 90" descr=""/>
            <p:cNvSpPr/>
            <p:nvPr/>
          </p:nvSpPr>
          <p:spPr>
            <a:xfrm>
              <a:off x="6199580" y="5155176"/>
              <a:ext cx="76200" cy="477520"/>
            </a:xfrm>
            <a:custGeom>
              <a:avLst/>
              <a:gdLst/>
              <a:ahLst/>
              <a:cxnLst/>
              <a:rect l="l" t="t" r="r" b="b"/>
              <a:pathLst>
                <a:path w="76200" h="477520">
                  <a:moveTo>
                    <a:pt x="47165" y="9480"/>
                  </a:moveTo>
                  <a:lnTo>
                    <a:pt x="47165" y="401120"/>
                  </a:lnTo>
                  <a:lnTo>
                    <a:pt x="47165" y="407001"/>
                  </a:lnTo>
                  <a:lnTo>
                    <a:pt x="43392" y="410601"/>
                  </a:lnTo>
                  <a:lnTo>
                    <a:pt x="37921" y="410601"/>
                  </a:lnTo>
                  <a:lnTo>
                    <a:pt x="32638" y="410601"/>
                  </a:lnTo>
                  <a:lnTo>
                    <a:pt x="28488" y="407001"/>
                  </a:lnTo>
                  <a:lnTo>
                    <a:pt x="28488" y="401120"/>
                  </a:lnTo>
                  <a:lnTo>
                    <a:pt x="28488" y="9480"/>
                  </a:lnTo>
                  <a:lnTo>
                    <a:pt x="28488" y="4504"/>
                  </a:lnTo>
                  <a:lnTo>
                    <a:pt x="32638" y="0"/>
                  </a:lnTo>
                  <a:lnTo>
                    <a:pt x="37921" y="0"/>
                  </a:lnTo>
                  <a:lnTo>
                    <a:pt x="43392" y="0"/>
                  </a:lnTo>
                  <a:lnTo>
                    <a:pt x="47165" y="4504"/>
                  </a:lnTo>
                  <a:lnTo>
                    <a:pt x="47165" y="9480"/>
                  </a:lnTo>
                  <a:close/>
                </a:path>
                <a:path w="76200" h="477520">
                  <a:moveTo>
                    <a:pt x="37921" y="401120"/>
                  </a:moveTo>
                  <a:lnTo>
                    <a:pt x="75654" y="363630"/>
                  </a:lnTo>
                  <a:lnTo>
                    <a:pt x="37921" y="477005"/>
                  </a:lnTo>
                  <a:lnTo>
                    <a:pt x="0" y="363630"/>
                  </a:lnTo>
                  <a:lnTo>
                    <a:pt x="37921" y="401120"/>
                  </a:lnTo>
                  <a:close/>
                </a:path>
              </a:pathLst>
            </a:custGeom>
            <a:ln w="6791">
              <a:solidFill>
                <a:srgbClr val="000000"/>
              </a:solidFill>
            </a:ln>
          </p:spPr>
          <p:txBody>
            <a:bodyPr wrap="square" lIns="0" tIns="0" rIns="0" bIns="0" rtlCol="0"/>
            <a:lstStyle/>
            <a:p/>
          </p:txBody>
        </p:sp>
        <p:sp>
          <p:nvSpPr>
            <p:cNvPr id="91" name="object 91" descr=""/>
            <p:cNvSpPr/>
            <p:nvPr/>
          </p:nvSpPr>
          <p:spPr>
            <a:xfrm>
              <a:off x="5446245" y="491166"/>
              <a:ext cx="872490" cy="934719"/>
            </a:xfrm>
            <a:custGeom>
              <a:avLst/>
              <a:gdLst/>
              <a:ahLst/>
              <a:cxnLst/>
              <a:rect l="l" t="t" r="r" b="b"/>
              <a:pathLst>
                <a:path w="872489" h="934719">
                  <a:moveTo>
                    <a:pt x="872476" y="0"/>
                  </a:moveTo>
                  <a:lnTo>
                    <a:pt x="0" y="0"/>
                  </a:lnTo>
                  <a:lnTo>
                    <a:pt x="0" y="934615"/>
                  </a:lnTo>
                  <a:lnTo>
                    <a:pt x="872476" y="934615"/>
                  </a:lnTo>
                  <a:lnTo>
                    <a:pt x="872476" y="0"/>
                  </a:lnTo>
                  <a:close/>
                </a:path>
              </a:pathLst>
            </a:custGeom>
            <a:solidFill>
              <a:srgbClr val="FFCCFF"/>
            </a:solidFill>
          </p:spPr>
          <p:txBody>
            <a:bodyPr wrap="square" lIns="0" tIns="0" rIns="0" bIns="0" rtlCol="0"/>
            <a:lstStyle/>
            <a:p/>
          </p:txBody>
        </p:sp>
        <p:sp>
          <p:nvSpPr>
            <p:cNvPr id="92" name="object 92" descr=""/>
            <p:cNvSpPr/>
            <p:nvPr/>
          </p:nvSpPr>
          <p:spPr>
            <a:xfrm>
              <a:off x="5446245" y="491166"/>
              <a:ext cx="872490" cy="934719"/>
            </a:xfrm>
            <a:custGeom>
              <a:avLst/>
              <a:gdLst/>
              <a:ahLst/>
              <a:cxnLst/>
              <a:rect l="l" t="t" r="r" b="b"/>
              <a:pathLst>
                <a:path w="872489" h="934719">
                  <a:moveTo>
                    <a:pt x="0" y="934615"/>
                  </a:moveTo>
                  <a:lnTo>
                    <a:pt x="872476" y="934615"/>
                  </a:lnTo>
                  <a:lnTo>
                    <a:pt x="872476" y="0"/>
                  </a:lnTo>
                  <a:lnTo>
                    <a:pt x="0" y="0"/>
                  </a:lnTo>
                  <a:lnTo>
                    <a:pt x="0" y="934615"/>
                  </a:lnTo>
                  <a:close/>
                </a:path>
              </a:pathLst>
            </a:custGeom>
            <a:ln w="14036">
              <a:solidFill>
                <a:srgbClr val="000000"/>
              </a:solidFill>
            </a:ln>
          </p:spPr>
          <p:txBody>
            <a:bodyPr wrap="square" lIns="0" tIns="0" rIns="0" bIns="0" rtlCol="0"/>
            <a:lstStyle/>
            <a:p/>
          </p:txBody>
        </p:sp>
        <p:sp>
          <p:nvSpPr>
            <p:cNvPr id="93" name="object 93" descr=""/>
            <p:cNvSpPr/>
            <p:nvPr/>
          </p:nvSpPr>
          <p:spPr>
            <a:xfrm>
              <a:off x="5446242" y="670661"/>
              <a:ext cx="872490" cy="575945"/>
            </a:xfrm>
            <a:custGeom>
              <a:avLst/>
              <a:gdLst/>
              <a:ahLst/>
              <a:cxnLst/>
              <a:rect l="l" t="t" r="r" b="b"/>
              <a:pathLst>
                <a:path w="872489" h="575944">
                  <a:moveTo>
                    <a:pt x="872375" y="561505"/>
                  </a:moveTo>
                  <a:lnTo>
                    <a:pt x="0" y="561505"/>
                  </a:lnTo>
                  <a:lnTo>
                    <a:pt x="0" y="575538"/>
                  </a:lnTo>
                  <a:lnTo>
                    <a:pt x="872375" y="575538"/>
                  </a:lnTo>
                  <a:lnTo>
                    <a:pt x="872375" y="561505"/>
                  </a:lnTo>
                  <a:close/>
                </a:path>
                <a:path w="872489" h="575944">
                  <a:moveTo>
                    <a:pt x="872375" y="373964"/>
                  </a:moveTo>
                  <a:lnTo>
                    <a:pt x="0" y="373964"/>
                  </a:lnTo>
                  <a:lnTo>
                    <a:pt x="0" y="387997"/>
                  </a:lnTo>
                  <a:lnTo>
                    <a:pt x="872375" y="387997"/>
                  </a:lnTo>
                  <a:lnTo>
                    <a:pt x="872375" y="373964"/>
                  </a:lnTo>
                  <a:close/>
                </a:path>
                <a:path w="872489" h="575944">
                  <a:moveTo>
                    <a:pt x="872375" y="187553"/>
                  </a:moveTo>
                  <a:lnTo>
                    <a:pt x="0" y="187553"/>
                  </a:lnTo>
                  <a:lnTo>
                    <a:pt x="0" y="201574"/>
                  </a:lnTo>
                  <a:lnTo>
                    <a:pt x="872375" y="201574"/>
                  </a:lnTo>
                  <a:lnTo>
                    <a:pt x="872375" y="187553"/>
                  </a:lnTo>
                  <a:close/>
                </a:path>
                <a:path w="872489" h="575944">
                  <a:moveTo>
                    <a:pt x="872375" y="0"/>
                  </a:moveTo>
                  <a:lnTo>
                    <a:pt x="0" y="0"/>
                  </a:lnTo>
                  <a:lnTo>
                    <a:pt x="0" y="14033"/>
                  </a:lnTo>
                  <a:lnTo>
                    <a:pt x="872375" y="14033"/>
                  </a:lnTo>
                  <a:lnTo>
                    <a:pt x="872375" y="0"/>
                  </a:lnTo>
                  <a:close/>
                </a:path>
              </a:pathLst>
            </a:custGeom>
            <a:solidFill>
              <a:srgbClr val="000000"/>
            </a:solidFill>
          </p:spPr>
          <p:txBody>
            <a:bodyPr wrap="square" lIns="0" tIns="0" rIns="0" bIns="0" rtlCol="0"/>
            <a:lstStyle/>
            <a:p/>
          </p:txBody>
        </p:sp>
        <p:sp>
          <p:nvSpPr>
            <p:cNvPr id="94" name="object 94" descr=""/>
            <p:cNvSpPr/>
            <p:nvPr/>
          </p:nvSpPr>
          <p:spPr>
            <a:xfrm>
              <a:off x="5683207" y="1408629"/>
              <a:ext cx="76200" cy="895350"/>
            </a:xfrm>
            <a:custGeom>
              <a:avLst/>
              <a:gdLst/>
              <a:ahLst/>
              <a:cxnLst/>
              <a:rect l="l" t="t" r="r" b="b"/>
              <a:pathLst>
                <a:path w="76200" h="895350">
                  <a:moveTo>
                    <a:pt x="0" y="782411"/>
                  </a:moveTo>
                  <a:lnTo>
                    <a:pt x="38864" y="895315"/>
                  </a:lnTo>
                  <a:lnTo>
                    <a:pt x="60253" y="829344"/>
                  </a:lnTo>
                  <a:lnTo>
                    <a:pt x="33393" y="829344"/>
                  </a:lnTo>
                  <a:lnTo>
                    <a:pt x="28865" y="825198"/>
                  </a:lnTo>
                  <a:lnTo>
                    <a:pt x="28801" y="810481"/>
                  </a:lnTo>
                  <a:lnTo>
                    <a:pt x="0" y="782411"/>
                  </a:lnTo>
                  <a:close/>
                </a:path>
                <a:path w="76200" h="895350">
                  <a:moveTo>
                    <a:pt x="28801" y="810481"/>
                  </a:moveTo>
                  <a:lnTo>
                    <a:pt x="28865" y="825198"/>
                  </a:lnTo>
                  <a:lnTo>
                    <a:pt x="33393" y="829344"/>
                  </a:lnTo>
                  <a:lnTo>
                    <a:pt x="43392" y="829344"/>
                  </a:lnTo>
                  <a:lnTo>
                    <a:pt x="47543" y="824821"/>
                  </a:lnTo>
                  <a:lnTo>
                    <a:pt x="47543" y="819920"/>
                  </a:lnTo>
                  <a:lnTo>
                    <a:pt x="38487" y="819920"/>
                  </a:lnTo>
                  <a:lnTo>
                    <a:pt x="28801" y="810481"/>
                  </a:lnTo>
                  <a:close/>
                </a:path>
                <a:path w="76200" h="895350">
                  <a:moveTo>
                    <a:pt x="75654" y="781846"/>
                  </a:moveTo>
                  <a:lnTo>
                    <a:pt x="47485" y="810702"/>
                  </a:lnTo>
                  <a:lnTo>
                    <a:pt x="47543" y="824821"/>
                  </a:lnTo>
                  <a:lnTo>
                    <a:pt x="43392" y="829344"/>
                  </a:lnTo>
                  <a:lnTo>
                    <a:pt x="60253" y="829344"/>
                  </a:lnTo>
                  <a:lnTo>
                    <a:pt x="75654" y="781846"/>
                  </a:lnTo>
                  <a:close/>
                </a:path>
                <a:path w="76200" h="895350">
                  <a:moveTo>
                    <a:pt x="38487" y="0"/>
                  </a:moveTo>
                  <a:lnTo>
                    <a:pt x="27544" y="0"/>
                  </a:lnTo>
                  <a:lnTo>
                    <a:pt x="23394" y="3958"/>
                  </a:lnTo>
                  <a:lnTo>
                    <a:pt x="23394" y="9424"/>
                  </a:lnTo>
                  <a:lnTo>
                    <a:pt x="28801" y="810481"/>
                  </a:lnTo>
                  <a:lnTo>
                    <a:pt x="38487" y="819920"/>
                  </a:lnTo>
                  <a:lnTo>
                    <a:pt x="47485" y="810702"/>
                  </a:lnTo>
                  <a:lnTo>
                    <a:pt x="42449" y="9424"/>
                  </a:lnTo>
                  <a:lnTo>
                    <a:pt x="42449" y="3958"/>
                  </a:lnTo>
                  <a:lnTo>
                    <a:pt x="38487" y="0"/>
                  </a:lnTo>
                  <a:close/>
                </a:path>
                <a:path w="76200" h="895350">
                  <a:moveTo>
                    <a:pt x="47485" y="810702"/>
                  </a:moveTo>
                  <a:lnTo>
                    <a:pt x="38487" y="819920"/>
                  </a:lnTo>
                  <a:lnTo>
                    <a:pt x="47543" y="819920"/>
                  </a:lnTo>
                  <a:lnTo>
                    <a:pt x="47485" y="810702"/>
                  </a:lnTo>
                  <a:close/>
                </a:path>
              </a:pathLst>
            </a:custGeom>
            <a:solidFill>
              <a:srgbClr val="000000"/>
            </a:solidFill>
          </p:spPr>
          <p:txBody>
            <a:bodyPr wrap="square" lIns="0" tIns="0" rIns="0" bIns="0" rtlCol="0"/>
            <a:lstStyle/>
            <a:p/>
          </p:txBody>
        </p:sp>
        <p:sp>
          <p:nvSpPr>
            <p:cNvPr id="95" name="object 95" descr=""/>
            <p:cNvSpPr/>
            <p:nvPr/>
          </p:nvSpPr>
          <p:spPr>
            <a:xfrm>
              <a:off x="5683207" y="1408629"/>
              <a:ext cx="76200" cy="895350"/>
            </a:xfrm>
            <a:custGeom>
              <a:avLst/>
              <a:gdLst/>
              <a:ahLst/>
              <a:cxnLst/>
              <a:rect l="l" t="t" r="r" b="b"/>
              <a:pathLst>
                <a:path w="76200" h="895350">
                  <a:moveTo>
                    <a:pt x="42449" y="9424"/>
                  </a:moveTo>
                  <a:lnTo>
                    <a:pt x="47543" y="819920"/>
                  </a:lnTo>
                  <a:lnTo>
                    <a:pt x="47543" y="824821"/>
                  </a:lnTo>
                  <a:lnTo>
                    <a:pt x="43392" y="829344"/>
                  </a:lnTo>
                  <a:lnTo>
                    <a:pt x="38487" y="829344"/>
                  </a:lnTo>
                  <a:lnTo>
                    <a:pt x="33393" y="829344"/>
                  </a:lnTo>
                  <a:lnTo>
                    <a:pt x="28865" y="825198"/>
                  </a:lnTo>
                  <a:lnTo>
                    <a:pt x="28865" y="819920"/>
                  </a:lnTo>
                  <a:lnTo>
                    <a:pt x="23394" y="9424"/>
                  </a:lnTo>
                  <a:lnTo>
                    <a:pt x="23394" y="3958"/>
                  </a:lnTo>
                  <a:lnTo>
                    <a:pt x="27544" y="0"/>
                  </a:lnTo>
                  <a:lnTo>
                    <a:pt x="33016" y="0"/>
                  </a:lnTo>
                  <a:lnTo>
                    <a:pt x="38487" y="0"/>
                  </a:lnTo>
                  <a:lnTo>
                    <a:pt x="42449" y="3958"/>
                  </a:lnTo>
                  <a:lnTo>
                    <a:pt x="42449" y="9424"/>
                  </a:lnTo>
                  <a:close/>
                </a:path>
                <a:path w="76200" h="895350">
                  <a:moveTo>
                    <a:pt x="38487" y="819920"/>
                  </a:moveTo>
                  <a:lnTo>
                    <a:pt x="75654" y="781846"/>
                  </a:lnTo>
                  <a:lnTo>
                    <a:pt x="38864" y="895315"/>
                  </a:lnTo>
                  <a:lnTo>
                    <a:pt x="0" y="782411"/>
                  </a:lnTo>
                  <a:lnTo>
                    <a:pt x="38487" y="819920"/>
                  </a:lnTo>
                  <a:close/>
                </a:path>
              </a:pathLst>
            </a:custGeom>
            <a:ln w="6791">
              <a:solidFill>
                <a:srgbClr val="000000"/>
              </a:solidFill>
            </a:ln>
          </p:spPr>
          <p:txBody>
            <a:bodyPr wrap="square" lIns="0" tIns="0" rIns="0" bIns="0" rtlCol="0"/>
            <a:lstStyle/>
            <a:p/>
          </p:txBody>
        </p:sp>
      </p:grpSp>
      <p:sp>
        <p:nvSpPr>
          <p:cNvPr id="96" name="object 96" descr=""/>
          <p:cNvSpPr txBox="1"/>
          <p:nvPr/>
        </p:nvSpPr>
        <p:spPr>
          <a:xfrm>
            <a:off x="2997705" y="2102791"/>
            <a:ext cx="196215" cy="733425"/>
          </a:xfrm>
          <a:prstGeom prst="rect">
            <a:avLst/>
          </a:prstGeom>
        </p:spPr>
        <p:txBody>
          <a:bodyPr wrap="square" lIns="0" tIns="47625" rIns="0" bIns="0" rtlCol="0" vert="horz">
            <a:spAutoFit/>
          </a:bodyPr>
          <a:lstStyle/>
          <a:p>
            <a:pPr algn="just" marL="12700" marR="5080">
              <a:lnSpc>
                <a:spcPct val="84700"/>
              </a:lnSpc>
              <a:spcBef>
                <a:spcPts val="375"/>
              </a:spcBef>
            </a:pPr>
            <a:r>
              <a:rPr dirty="0" sz="1300" spc="-50" b="1">
                <a:latin typeface="宋体"/>
                <a:cs typeface="宋体"/>
              </a:rPr>
              <a:t>指令队列</a:t>
            </a:r>
            <a:endParaRPr sz="1300">
              <a:latin typeface="宋体"/>
              <a:cs typeface="宋体"/>
            </a:endParaRPr>
          </a:p>
        </p:txBody>
      </p:sp>
      <p:sp>
        <p:nvSpPr>
          <p:cNvPr id="97" name="object 97" descr=""/>
          <p:cNvSpPr txBox="1"/>
          <p:nvPr/>
        </p:nvSpPr>
        <p:spPr>
          <a:xfrm>
            <a:off x="2362096" y="5315164"/>
            <a:ext cx="365760" cy="229870"/>
          </a:xfrm>
          <a:prstGeom prst="rect">
            <a:avLst/>
          </a:prstGeom>
        </p:spPr>
        <p:txBody>
          <a:bodyPr wrap="square" lIns="0" tIns="17780" rIns="0" bIns="0" rtlCol="0" vert="horz">
            <a:spAutoFit/>
          </a:bodyPr>
          <a:lstStyle/>
          <a:p>
            <a:pPr marL="12700">
              <a:lnSpc>
                <a:spcPct val="100000"/>
              </a:lnSpc>
              <a:spcBef>
                <a:spcPts val="140"/>
              </a:spcBef>
            </a:pPr>
            <a:r>
              <a:rPr dirty="0" sz="1300" spc="-25" b="1">
                <a:latin typeface="宋体"/>
                <a:cs typeface="宋体"/>
              </a:rPr>
              <a:t>地址</a:t>
            </a:r>
            <a:endParaRPr sz="1300">
              <a:latin typeface="宋体"/>
              <a:cs typeface="宋体"/>
            </a:endParaRPr>
          </a:p>
        </p:txBody>
      </p:sp>
      <p:sp>
        <p:nvSpPr>
          <p:cNvPr id="98" name="object 98" descr=""/>
          <p:cNvSpPr txBox="1"/>
          <p:nvPr/>
        </p:nvSpPr>
        <p:spPr>
          <a:xfrm>
            <a:off x="2953369" y="4819612"/>
            <a:ext cx="111125" cy="420370"/>
          </a:xfrm>
          <a:prstGeom prst="rect">
            <a:avLst/>
          </a:prstGeom>
        </p:spPr>
        <p:txBody>
          <a:bodyPr wrap="square" lIns="0" tIns="17780" rIns="0" bIns="0" rtlCol="0" vert="horz">
            <a:spAutoFit/>
          </a:bodyPr>
          <a:lstStyle/>
          <a:p>
            <a:pPr marL="12700">
              <a:lnSpc>
                <a:spcPts val="1530"/>
              </a:lnSpc>
              <a:spcBef>
                <a:spcPts val="140"/>
              </a:spcBef>
            </a:pPr>
            <a:r>
              <a:rPr dirty="0" sz="1300" spc="-50">
                <a:latin typeface="Times New Roman"/>
                <a:cs typeface="Times New Roman"/>
              </a:rPr>
              <a:t>2</a:t>
            </a:r>
            <a:endParaRPr sz="1300">
              <a:latin typeface="Times New Roman"/>
              <a:cs typeface="Times New Roman"/>
            </a:endParaRPr>
          </a:p>
          <a:p>
            <a:pPr marL="12700">
              <a:lnSpc>
                <a:spcPts val="1530"/>
              </a:lnSpc>
            </a:pPr>
            <a:r>
              <a:rPr dirty="0" sz="1300" spc="-50">
                <a:latin typeface="Times New Roman"/>
                <a:cs typeface="Times New Roman"/>
              </a:rPr>
              <a:t>1</a:t>
            </a:r>
            <a:endParaRPr sz="1300">
              <a:latin typeface="Times New Roman"/>
              <a:cs typeface="Times New Roman"/>
            </a:endParaRPr>
          </a:p>
        </p:txBody>
      </p:sp>
      <p:sp>
        <p:nvSpPr>
          <p:cNvPr id="99" name="object 99" descr=""/>
          <p:cNvSpPr txBox="1"/>
          <p:nvPr/>
        </p:nvSpPr>
        <p:spPr>
          <a:xfrm>
            <a:off x="2953369" y="4623113"/>
            <a:ext cx="111125" cy="229870"/>
          </a:xfrm>
          <a:prstGeom prst="rect">
            <a:avLst/>
          </a:prstGeom>
        </p:spPr>
        <p:txBody>
          <a:bodyPr wrap="square" lIns="0" tIns="17780" rIns="0" bIns="0" rtlCol="0" vert="horz">
            <a:spAutoFit/>
          </a:bodyPr>
          <a:lstStyle/>
          <a:p>
            <a:pPr marL="12700">
              <a:lnSpc>
                <a:spcPct val="100000"/>
              </a:lnSpc>
              <a:spcBef>
                <a:spcPts val="140"/>
              </a:spcBef>
            </a:pPr>
            <a:r>
              <a:rPr dirty="0" sz="1300" spc="-50">
                <a:latin typeface="Times New Roman"/>
                <a:cs typeface="Times New Roman"/>
              </a:rPr>
              <a:t>3</a:t>
            </a:r>
            <a:endParaRPr sz="1300">
              <a:latin typeface="Times New Roman"/>
              <a:cs typeface="Times New Roman"/>
            </a:endParaRPr>
          </a:p>
        </p:txBody>
      </p:sp>
      <p:sp>
        <p:nvSpPr>
          <p:cNvPr id="100" name="object 100" descr=""/>
          <p:cNvSpPr txBox="1"/>
          <p:nvPr/>
        </p:nvSpPr>
        <p:spPr>
          <a:xfrm>
            <a:off x="2518499" y="4711681"/>
            <a:ext cx="111125" cy="473709"/>
          </a:xfrm>
          <a:prstGeom prst="rect">
            <a:avLst/>
          </a:prstGeom>
        </p:spPr>
        <p:txBody>
          <a:bodyPr wrap="square" lIns="0" tIns="37465" rIns="0" bIns="0" rtlCol="0" vert="horz">
            <a:spAutoFit/>
          </a:bodyPr>
          <a:lstStyle/>
          <a:p>
            <a:pPr marL="12700">
              <a:lnSpc>
                <a:spcPct val="100000"/>
              </a:lnSpc>
              <a:spcBef>
                <a:spcPts val="295"/>
              </a:spcBef>
            </a:pPr>
            <a:r>
              <a:rPr dirty="0" sz="1300" spc="-50">
                <a:latin typeface="Times New Roman"/>
                <a:cs typeface="Times New Roman"/>
              </a:rPr>
              <a:t>2</a:t>
            </a:r>
            <a:endParaRPr sz="1300">
              <a:latin typeface="Times New Roman"/>
              <a:cs typeface="Times New Roman"/>
            </a:endParaRPr>
          </a:p>
          <a:p>
            <a:pPr marL="12700">
              <a:lnSpc>
                <a:spcPct val="100000"/>
              </a:lnSpc>
              <a:spcBef>
                <a:spcPts val="204"/>
              </a:spcBef>
            </a:pPr>
            <a:r>
              <a:rPr dirty="0" sz="1300" spc="-50">
                <a:latin typeface="Times New Roman"/>
                <a:cs typeface="Times New Roman"/>
              </a:rPr>
              <a:t>1</a:t>
            </a:r>
            <a:endParaRPr sz="1300">
              <a:latin typeface="Times New Roman"/>
              <a:cs typeface="Times New Roman"/>
            </a:endParaRPr>
          </a:p>
        </p:txBody>
      </p:sp>
      <p:sp>
        <p:nvSpPr>
          <p:cNvPr id="101" name="object 101" descr=""/>
          <p:cNvSpPr txBox="1"/>
          <p:nvPr/>
        </p:nvSpPr>
        <p:spPr>
          <a:xfrm>
            <a:off x="2518499" y="4535033"/>
            <a:ext cx="111125" cy="229870"/>
          </a:xfrm>
          <a:prstGeom prst="rect">
            <a:avLst/>
          </a:prstGeom>
        </p:spPr>
        <p:txBody>
          <a:bodyPr wrap="square" lIns="0" tIns="17780" rIns="0" bIns="0" rtlCol="0" vert="horz">
            <a:spAutoFit/>
          </a:bodyPr>
          <a:lstStyle/>
          <a:p>
            <a:pPr marL="12700">
              <a:lnSpc>
                <a:spcPct val="100000"/>
              </a:lnSpc>
              <a:spcBef>
                <a:spcPts val="140"/>
              </a:spcBef>
            </a:pPr>
            <a:r>
              <a:rPr dirty="0" sz="1300" spc="-50">
                <a:latin typeface="Times New Roman"/>
                <a:cs typeface="Times New Roman"/>
              </a:rPr>
              <a:t>3</a:t>
            </a:r>
            <a:endParaRPr sz="1300">
              <a:latin typeface="Times New Roman"/>
              <a:cs typeface="Times New Roman"/>
            </a:endParaRPr>
          </a:p>
        </p:txBody>
      </p:sp>
      <p:sp>
        <p:nvSpPr>
          <p:cNvPr id="102" name="object 102" descr=""/>
          <p:cNvSpPr txBox="1"/>
          <p:nvPr/>
        </p:nvSpPr>
        <p:spPr>
          <a:xfrm>
            <a:off x="2518499" y="4080851"/>
            <a:ext cx="111125" cy="459740"/>
          </a:xfrm>
          <a:prstGeom prst="rect">
            <a:avLst/>
          </a:prstGeom>
        </p:spPr>
        <p:txBody>
          <a:bodyPr wrap="square" lIns="0" tIns="30480" rIns="0" bIns="0" rtlCol="0" vert="horz">
            <a:spAutoFit/>
          </a:bodyPr>
          <a:lstStyle/>
          <a:p>
            <a:pPr marL="12700">
              <a:lnSpc>
                <a:spcPct val="100000"/>
              </a:lnSpc>
              <a:spcBef>
                <a:spcPts val="240"/>
              </a:spcBef>
            </a:pPr>
            <a:r>
              <a:rPr dirty="0" sz="1300" spc="-50">
                <a:latin typeface="Times New Roman"/>
                <a:cs typeface="Times New Roman"/>
              </a:rPr>
              <a:t>5</a:t>
            </a:r>
            <a:endParaRPr sz="1300">
              <a:latin typeface="Times New Roman"/>
              <a:cs typeface="Times New Roman"/>
            </a:endParaRPr>
          </a:p>
          <a:p>
            <a:pPr marL="12700">
              <a:lnSpc>
                <a:spcPct val="100000"/>
              </a:lnSpc>
              <a:spcBef>
                <a:spcPts val="150"/>
              </a:spcBef>
            </a:pPr>
            <a:r>
              <a:rPr dirty="0" sz="1300" spc="-50">
                <a:latin typeface="Times New Roman"/>
                <a:cs typeface="Times New Roman"/>
              </a:rPr>
              <a:t>4</a:t>
            </a:r>
            <a:endParaRPr sz="1300">
              <a:latin typeface="Times New Roman"/>
              <a:cs typeface="Times New Roman"/>
            </a:endParaRPr>
          </a:p>
        </p:txBody>
      </p:sp>
      <p:sp>
        <p:nvSpPr>
          <p:cNvPr id="103" name="object 103" descr=""/>
          <p:cNvSpPr txBox="1"/>
          <p:nvPr/>
        </p:nvSpPr>
        <p:spPr>
          <a:xfrm>
            <a:off x="2518499" y="3876835"/>
            <a:ext cx="111125" cy="229870"/>
          </a:xfrm>
          <a:prstGeom prst="rect">
            <a:avLst/>
          </a:prstGeom>
        </p:spPr>
        <p:txBody>
          <a:bodyPr wrap="square" lIns="0" tIns="17780" rIns="0" bIns="0" rtlCol="0" vert="horz">
            <a:spAutoFit/>
          </a:bodyPr>
          <a:lstStyle/>
          <a:p>
            <a:pPr marL="12700">
              <a:lnSpc>
                <a:spcPct val="100000"/>
              </a:lnSpc>
              <a:spcBef>
                <a:spcPts val="140"/>
              </a:spcBef>
            </a:pPr>
            <a:r>
              <a:rPr dirty="0" sz="1300" spc="-50">
                <a:latin typeface="Times New Roman"/>
                <a:cs typeface="Times New Roman"/>
              </a:rPr>
              <a:t>6</a:t>
            </a:r>
            <a:endParaRPr sz="1300">
              <a:latin typeface="Times New Roman"/>
              <a:cs typeface="Times New Roman"/>
            </a:endParaRPr>
          </a:p>
        </p:txBody>
      </p:sp>
      <p:sp>
        <p:nvSpPr>
          <p:cNvPr id="104" name="object 104" descr=""/>
          <p:cNvSpPr txBox="1"/>
          <p:nvPr/>
        </p:nvSpPr>
        <p:spPr>
          <a:xfrm>
            <a:off x="5448827" y="4792507"/>
            <a:ext cx="111125" cy="406400"/>
          </a:xfrm>
          <a:prstGeom prst="rect">
            <a:avLst/>
          </a:prstGeom>
        </p:spPr>
        <p:txBody>
          <a:bodyPr wrap="square" lIns="0" tIns="17780" rIns="0" bIns="0" rtlCol="0" vert="horz">
            <a:spAutoFit/>
          </a:bodyPr>
          <a:lstStyle/>
          <a:p>
            <a:pPr marL="12700">
              <a:lnSpc>
                <a:spcPts val="1475"/>
              </a:lnSpc>
              <a:spcBef>
                <a:spcPts val="140"/>
              </a:spcBef>
            </a:pPr>
            <a:r>
              <a:rPr dirty="0" sz="1300" spc="-50">
                <a:latin typeface="Times New Roman"/>
                <a:cs typeface="Times New Roman"/>
              </a:rPr>
              <a:t>2</a:t>
            </a:r>
            <a:endParaRPr sz="1300">
              <a:latin typeface="Times New Roman"/>
              <a:cs typeface="Times New Roman"/>
            </a:endParaRPr>
          </a:p>
          <a:p>
            <a:pPr marL="12700">
              <a:lnSpc>
                <a:spcPts val="1475"/>
              </a:lnSpc>
            </a:pPr>
            <a:r>
              <a:rPr dirty="0" sz="1300" spc="-50">
                <a:latin typeface="Times New Roman"/>
                <a:cs typeface="Times New Roman"/>
              </a:rPr>
              <a:t>1</a:t>
            </a:r>
            <a:endParaRPr sz="1300">
              <a:latin typeface="Times New Roman"/>
              <a:cs typeface="Times New Roman"/>
            </a:endParaRPr>
          </a:p>
        </p:txBody>
      </p:sp>
      <p:sp>
        <p:nvSpPr>
          <p:cNvPr id="105" name="object 105" descr=""/>
          <p:cNvSpPr txBox="1"/>
          <p:nvPr/>
        </p:nvSpPr>
        <p:spPr>
          <a:xfrm>
            <a:off x="4785673" y="4612992"/>
            <a:ext cx="196215" cy="229870"/>
          </a:xfrm>
          <a:prstGeom prst="rect">
            <a:avLst/>
          </a:prstGeom>
        </p:spPr>
        <p:txBody>
          <a:bodyPr wrap="square" lIns="0" tIns="17780" rIns="0" bIns="0" rtlCol="0" vert="horz">
            <a:spAutoFit/>
          </a:bodyPr>
          <a:lstStyle/>
          <a:p>
            <a:pPr marL="12700">
              <a:lnSpc>
                <a:spcPct val="100000"/>
              </a:lnSpc>
              <a:spcBef>
                <a:spcPts val="140"/>
              </a:spcBef>
            </a:pPr>
            <a:r>
              <a:rPr dirty="0" sz="1300" spc="-50" b="1">
                <a:latin typeface="宋体"/>
                <a:cs typeface="宋体"/>
              </a:rPr>
              <a:t>保</a:t>
            </a:r>
            <a:endParaRPr sz="1300">
              <a:latin typeface="宋体"/>
              <a:cs typeface="宋体"/>
            </a:endParaRPr>
          </a:p>
        </p:txBody>
      </p:sp>
      <p:sp>
        <p:nvSpPr>
          <p:cNvPr id="106" name="object 106" descr=""/>
          <p:cNvSpPr txBox="1"/>
          <p:nvPr/>
        </p:nvSpPr>
        <p:spPr>
          <a:xfrm>
            <a:off x="4785673" y="4783162"/>
            <a:ext cx="196215" cy="400050"/>
          </a:xfrm>
          <a:prstGeom prst="rect">
            <a:avLst/>
          </a:prstGeom>
        </p:spPr>
        <p:txBody>
          <a:bodyPr wrap="square" lIns="0" tIns="46355" rIns="0" bIns="0" rtlCol="0" vert="horz">
            <a:spAutoFit/>
          </a:bodyPr>
          <a:lstStyle/>
          <a:p>
            <a:pPr marL="12700" marR="5080">
              <a:lnSpc>
                <a:spcPts val="1340"/>
              </a:lnSpc>
              <a:spcBef>
                <a:spcPts val="365"/>
              </a:spcBef>
            </a:pPr>
            <a:r>
              <a:rPr dirty="0" sz="1300" spc="-50" b="1">
                <a:latin typeface="宋体"/>
                <a:cs typeface="宋体"/>
              </a:rPr>
              <a:t>留站</a:t>
            </a:r>
            <a:endParaRPr sz="1300">
              <a:latin typeface="宋体"/>
              <a:cs typeface="宋体"/>
            </a:endParaRPr>
          </a:p>
        </p:txBody>
      </p:sp>
      <p:sp>
        <p:nvSpPr>
          <p:cNvPr id="107" name="object 107" descr=""/>
          <p:cNvSpPr txBox="1"/>
          <p:nvPr/>
        </p:nvSpPr>
        <p:spPr>
          <a:xfrm>
            <a:off x="6366677" y="468796"/>
            <a:ext cx="706120" cy="908050"/>
          </a:xfrm>
          <a:prstGeom prst="rect">
            <a:avLst/>
          </a:prstGeom>
        </p:spPr>
        <p:txBody>
          <a:bodyPr wrap="square" lIns="0" tIns="8890" rIns="0" bIns="0" rtlCol="0" vert="horz">
            <a:spAutoFit/>
          </a:bodyPr>
          <a:lstStyle/>
          <a:p>
            <a:pPr algn="just" marL="12700" marR="5080">
              <a:lnSpc>
                <a:spcPct val="110700"/>
              </a:lnSpc>
              <a:spcBef>
                <a:spcPts val="70"/>
              </a:spcBef>
            </a:pPr>
            <a:r>
              <a:rPr dirty="0" sz="1750" spc="-20" b="1">
                <a:solidFill>
                  <a:srgbClr val="FF0000"/>
                </a:solidFill>
                <a:latin typeface="宋体"/>
                <a:cs typeface="宋体"/>
              </a:rPr>
              <a:t>再定序缓冲器</a:t>
            </a:r>
            <a:r>
              <a:rPr dirty="0" sz="1750" spc="-50" b="1">
                <a:solidFill>
                  <a:srgbClr val="FF0000"/>
                </a:solidFill>
                <a:latin typeface="宋体"/>
                <a:cs typeface="宋体"/>
              </a:rPr>
              <a:t> </a:t>
            </a:r>
            <a:r>
              <a:rPr dirty="0" sz="1750" spc="-25" b="1">
                <a:solidFill>
                  <a:srgbClr val="FF0000"/>
                </a:solidFill>
                <a:latin typeface="Times New Roman"/>
                <a:cs typeface="Times New Roman"/>
              </a:rPr>
              <a:t>ROB</a:t>
            </a:r>
            <a:endParaRPr sz="1750">
              <a:latin typeface="Times New Roman"/>
              <a:cs typeface="Times New Roman"/>
            </a:endParaRPr>
          </a:p>
        </p:txBody>
      </p:sp>
      <p:sp>
        <p:nvSpPr>
          <p:cNvPr id="108" name="object 108" descr=""/>
          <p:cNvSpPr txBox="1"/>
          <p:nvPr/>
        </p:nvSpPr>
        <p:spPr>
          <a:xfrm>
            <a:off x="6016247" y="1916000"/>
            <a:ext cx="1558290" cy="229870"/>
          </a:xfrm>
          <a:prstGeom prst="rect">
            <a:avLst/>
          </a:prstGeom>
        </p:spPr>
        <p:txBody>
          <a:bodyPr wrap="square" lIns="0" tIns="17780" rIns="0" bIns="0" rtlCol="0" vert="horz">
            <a:spAutoFit/>
          </a:bodyPr>
          <a:lstStyle/>
          <a:p>
            <a:pPr marL="36195">
              <a:lnSpc>
                <a:spcPct val="100000"/>
              </a:lnSpc>
              <a:spcBef>
                <a:spcPts val="140"/>
              </a:spcBef>
            </a:pPr>
            <a:r>
              <a:rPr dirty="0" sz="1300" spc="-25" b="1">
                <a:latin typeface="宋体"/>
                <a:cs typeface="宋体"/>
              </a:rPr>
              <a:t>数据</a:t>
            </a:r>
            <a:endParaRPr sz="1300">
              <a:latin typeface="宋体"/>
              <a:cs typeface="宋体"/>
            </a:endParaRPr>
          </a:p>
        </p:txBody>
      </p:sp>
      <p:sp>
        <p:nvSpPr>
          <p:cNvPr id="109" name="object 109" descr=""/>
          <p:cNvSpPr txBox="1"/>
          <p:nvPr/>
        </p:nvSpPr>
        <p:spPr>
          <a:xfrm>
            <a:off x="4983831" y="1909214"/>
            <a:ext cx="721360" cy="229870"/>
          </a:xfrm>
          <a:prstGeom prst="rect">
            <a:avLst/>
          </a:prstGeom>
        </p:spPr>
        <p:txBody>
          <a:bodyPr wrap="square" lIns="0" tIns="17780" rIns="0" bIns="0" rtlCol="0" vert="horz">
            <a:spAutoFit/>
          </a:bodyPr>
          <a:lstStyle/>
          <a:p>
            <a:pPr marL="28575">
              <a:lnSpc>
                <a:spcPct val="100000"/>
              </a:lnSpc>
              <a:spcBef>
                <a:spcPts val="140"/>
              </a:spcBef>
            </a:pPr>
            <a:r>
              <a:rPr dirty="0" sz="1300" spc="-15" b="1">
                <a:latin typeface="宋体"/>
                <a:cs typeface="宋体"/>
              </a:rPr>
              <a:t>寄存器号</a:t>
            </a:r>
            <a:endParaRPr sz="1300">
              <a:latin typeface="宋体"/>
              <a:cs typeface="宋体"/>
            </a:endParaRPr>
          </a:p>
        </p:txBody>
      </p:sp>
      <p:grpSp>
        <p:nvGrpSpPr>
          <p:cNvPr id="110" name="object 110" descr=""/>
          <p:cNvGrpSpPr/>
          <p:nvPr/>
        </p:nvGrpSpPr>
        <p:grpSpPr>
          <a:xfrm>
            <a:off x="797261" y="302579"/>
            <a:ext cx="6789420" cy="5333365"/>
            <a:chOff x="797261" y="302579"/>
            <a:chExt cx="6789420" cy="5333365"/>
          </a:xfrm>
        </p:grpSpPr>
        <p:sp>
          <p:nvSpPr>
            <p:cNvPr id="111" name="object 111" descr=""/>
            <p:cNvSpPr/>
            <p:nvPr/>
          </p:nvSpPr>
          <p:spPr>
            <a:xfrm>
              <a:off x="1093749" y="1543586"/>
              <a:ext cx="4901565" cy="7620"/>
            </a:xfrm>
            <a:custGeom>
              <a:avLst/>
              <a:gdLst/>
              <a:ahLst/>
              <a:cxnLst/>
              <a:rect l="l" t="t" r="r" b="b"/>
              <a:pathLst>
                <a:path w="4901565" h="7619">
                  <a:moveTo>
                    <a:pt x="0" y="0"/>
                  </a:moveTo>
                  <a:lnTo>
                    <a:pt x="4900941" y="7351"/>
                  </a:lnTo>
                </a:path>
              </a:pathLst>
            </a:custGeom>
            <a:ln w="14029">
              <a:solidFill>
                <a:srgbClr val="000000"/>
              </a:solidFill>
            </a:ln>
          </p:spPr>
          <p:txBody>
            <a:bodyPr wrap="square" lIns="0" tIns="0" rIns="0" bIns="0" rtlCol="0"/>
            <a:lstStyle/>
            <a:p/>
          </p:txBody>
        </p:sp>
        <p:sp>
          <p:nvSpPr>
            <p:cNvPr id="112" name="object 112" descr=""/>
            <p:cNvSpPr/>
            <p:nvPr/>
          </p:nvSpPr>
          <p:spPr>
            <a:xfrm>
              <a:off x="5978466" y="1514370"/>
              <a:ext cx="44450" cy="57785"/>
            </a:xfrm>
            <a:custGeom>
              <a:avLst/>
              <a:gdLst/>
              <a:ahLst/>
              <a:cxnLst/>
              <a:rect l="l" t="t" r="r" b="b"/>
              <a:pathLst>
                <a:path w="44450" h="57784">
                  <a:moveTo>
                    <a:pt x="21696" y="0"/>
                  </a:moveTo>
                  <a:lnTo>
                    <a:pt x="13371" y="2226"/>
                  </a:lnTo>
                  <a:lnTo>
                    <a:pt x="6461" y="8340"/>
                  </a:lnTo>
                  <a:lnTo>
                    <a:pt x="1745" y="17493"/>
                  </a:lnTo>
                  <a:lnTo>
                    <a:pt x="0" y="28838"/>
                  </a:lnTo>
                  <a:lnTo>
                    <a:pt x="1745" y="39726"/>
                  </a:lnTo>
                  <a:lnTo>
                    <a:pt x="6461" y="48794"/>
                  </a:lnTo>
                  <a:lnTo>
                    <a:pt x="13371" y="55000"/>
                  </a:lnTo>
                  <a:lnTo>
                    <a:pt x="21696" y="57300"/>
                  </a:lnTo>
                  <a:lnTo>
                    <a:pt x="30348" y="55000"/>
                  </a:lnTo>
                  <a:lnTo>
                    <a:pt x="37426" y="48794"/>
                  </a:lnTo>
                  <a:lnTo>
                    <a:pt x="42204" y="39726"/>
                  </a:lnTo>
                  <a:lnTo>
                    <a:pt x="43958" y="28838"/>
                  </a:lnTo>
                  <a:lnTo>
                    <a:pt x="42204" y="17493"/>
                  </a:lnTo>
                  <a:lnTo>
                    <a:pt x="37426" y="8340"/>
                  </a:lnTo>
                  <a:lnTo>
                    <a:pt x="30348" y="2226"/>
                  </a:lnTo>
                  <a:lnTo>
                    <a:pt x="21696" y="0"/>
                  </a:lnTo>
                  <a:close/>
                </a:path>
              </a:pathLst>
            </a:custGeom>
            <a:solidFill>
              <a:srgbClr val="000000"/>
            </a:solidFill>
          </p:spPr>
          <p:txBody>
            <a:bodyPr wrap="square" lIns="0" tIns="0" rIns="0" bIns="0" rtlCol="0"/>
            <a:lstStyle/>
            <a:p/>
          </p:txBody>
        </p:sp>
        <p:sp>
          <p:nvSpPr>
            <p:cNvPr id="113" name="object 113" descr=""/>
            <p:cNvSpPr/>
            <p:nvPr/>
          </p:nvSpPr>
          <p:spPr>
            <a:xfrm>
              <a:off x="5978466" y="1514370"/>
              <a:ext cx="44450" cy="57785"/>
            </a:xfrm>
            <a:custGeom>
              <a:avLst/>
              <a:gdLst/>
              <a:ahLst/>
              <a:cxnLst/>
              <a:rect l="l" t="t" r="r" b="b"/>
              <a:pathLst>
                <a:path w="44450" h="57784">
                  <a:moveTo>
                    <a:pt x="21696" y="0"/>
                  </a:moveTo>
                  <a:lnTo>
                    <a:pt x="13371" y="2226"/>
                  </a:lnTo>
                  <a:lnTo>
                    <a:pt x="6461" y="8340"/>
                  </a:lnTo>
                  <a:lnTo>
                    <a:pt x="1745" y="17493"/>
                  </a:lnTo>
                  <a:lnTo>
                    <a:pt x="0" y="28838"/>
                  </a:lnTo>
                  <a:lnTo>
                    <a:pt x="1745" y="39726"/>
                  </a:lnTo>
                  <a:lnTo>
                    <a:pt x="6461" y="48794"/>
                  </a:lnTo>
                  <a:lnTo>
                    <a:pt x="13371" y="55000"/>
                  </a:lnTo>
                  <a:lnTo>
                    <a:pt x="21696" y="57300"/>
                  </a:lnTo>
                  <a:lnTo>
                    <a:pt x="30348" y="55000"/>
                  </a:lnTo>
                  <a:lnTo>
                    <a:pt x="37426" y="48794"/>
                  </a:lnTo>
                  <a:lnTo>
                    <a:pt x="42204" y="39726"/>
                  </a:lnTo>
                  <a:lnTo>
                    <a:pt x="43958" y="28838"/>
                  </a:lnTo>
                  <a:lnTo>
                    <a:pt x="42204" y="17493"/>
                  </a:lnTo>
                  <a:lnTo>
                    <a:pt x="37426" y="8340"/>
                  </a:lnTo>
                  <a:lnTo>
                    <a:pt x="30348" y="2226"/>
                  </a:lnTo>
                  <a:lnTo>
                    <a:pt x="21696" y="0"/>
                  </a:lnTo>
                </a:path>
              </a:pathLst>
            </a:custGeom>
            <a:ln w="14038">
              <a:solidFill>
                <a:srgbClr val="000000"/>
              </a:solidFill>
            </a:ln>
          </p:spPr>
          <p:txBody>
            <a:bodyPr wrap="square" lIns="0" tIns="0" rIns="0" bIns="0" rtlCol="0"/>
            <a:lstStyle/>
            <a:p/>
          </p:txBody>
        </p:sp>
        <p:sp>
          <p:nvSpPr>
            <p:cNvPr id="114" name="object 114" descr=""/>
            <p:cNvSpPr/>
            <p:nvPr/>
          </p:nvSpPr>
          <p:spPr>
            <a:xfrm>
              <a:off x="4933456" y="1532842"/>
              <a:ext cx="76200" cy="2171065"/>
            </a:xfrm>
            <a:custGeom>
              <a:avLst/>
              <a:gdLst/>
              <a:ahLst/>
              <a:cxnLst/>
              <a:rect l="l" t="t" r="r" b="b"/>
              <a:pathLst>
                <a:path w="76200" h="2171065">
                  <a:moveTo>
                    <a:pt x="0" y="2058471"/>
                  </a:moveTo>
                  <a:lnTo>
                    <a:pt x="37544" y="2170998"/>
                  </a:lnTo>
                  <a:lnTo>
                    <a:pt x="59759" y="2105405"/>
                  </a:lnTo>
                  <a:lnTo>
                    <a:pt x="32638" y="2105405"/>
                  </a:lnTo>
                  <a:lnTo>
                    <a:pt x="28488" y="2100881"/>
                  </a:lnTo>
                  <a:lnTo>
                    <a:pt x="28488" y="2086933"/>
                  </a:lnTo>
                  <a:lnTo>
                    <a:pt x="0" y="2058471"/>
                  </a:lnTo>
                  <a:close/>
                </a:path>
                <a:path w="76200" h="2171065">
                  <a:moveTo>
                    <a:pt x="28488" y="2086933"/>
                  </a:moveTo>
                  <a:lnTo>
                    <a:pt x="28488" y="2100881"/>
                  </a:lnTo>
                  <a:lnTo>
                    <a:pt x="32638" y="2105405"/>
                  </a:lnTo>
                  <a:lnTo>
                    <a:pt x="43015" y="2105405"/>
                  </a:lnTo>
                  <a:lnTo>
                    <a:pt x="46977" y="2100881"/>
                  </a:lnTo>
                  <a:lnTo>
                    <a:pt x="46977" y="2095980"/>
                  </a:lnTo>
                  <a:lnTo>
                    <a:pt x="37544" y="2095980"/>
                  </a:lnTo>
                  <a:lnTo>
                    <a:pt x="28488" y="2086933"/>
                  </a:lnTo>
                  <a:close/>
                </a:path>
                <a:path w="76200" h="2171065">
                  <a:moveTo>
                    <a:pt x="75654" y="2058471"/>
                  </a:moveTo>
                  <a:lnTo>
                    <a:pt x="46977" y="2086696"/>
                  </a:lnTo>
                  <a:lnTo>
                    <a:pt x="46977" y="2100881"/>
                  </a:lnTo>
                  <a:lnTo>
                    <a:pt x="43015" y="2105405"/>
                  </a:lnTo>
                  <a:lnTo>
                    <a:pt x="59759" y="2105405"/>
                  </a:lnTo>
                  <a:lnTo>
                    <a:pt x="75654" y="2058471"/>
                  </a:lnTo>
                  <a:close/>
                </a:path>
                <a:path w="76200" h="2171065">
                  <a:moveTo>
                    <a:pt x="43015" y="0"/>
                  </a:moveTo>
                  <a:lnTo>
                    <a:pt x="32638" y="0"/>
                  </a:lnTo>
                  <a:lnTo>
                    <a:pt x="28488" y="3958"/>
                  </a:lnTo>
                  <a:lnTo>
                    <a:pt x="28488" y="2086933"/>
                  </a:lnTo>
                  <a:lnTo>
                    <a:pt x="37544" y="2095980"/>
                  </a:lnTo>
                  <a:lnTo>
                    <a:pt x="46977" y="2086696"/>
                  </a:lnTo>
                  <a:lnTo>
                    <a:pt x="46977" y="3958"/>
                  </a:lnTo>
                  <a:lnTo>
                    <a:pt x="43015" y="0"/>
                  </a:lnTo>
                  <a:close/>
                </a:path>
                <a:path w="76200" h="2171065">
                  <a:moveTo>
                    <a:pt x="46977" y="2086696"/>
                  </a:moveTo>
                  <a:lnTo>
                    <a:pt x="37544" y="2095980"/>
                  </a:lnTo>
                  <a:lnTo>
                    <a:pt x="46977" y="2095980"/>
                  </a:lnTo>
                  <a:lnTo>
                    <a:pt x="46977" y="2086696"/>
                  </a:lnTo>
                  <a:close/>
                </a:path>
              </a:pathLst>
            </a:custGeom>
            <a:solidFill>
              <a:srgbClr val="000000"/>
            </a:solidFill>
          </p:spPr>
          <p:txBody>
            <a:bodyPr wrap="square" lIns="0" tIns="0" rIns="0" bIns="0" rtlCol="0"/>
            <a:lstStyle/>
            <a:p/>
          </p:txBody>
        </p:sp>
        <p:sp>
          <p:nvSpPr>
            <p:cNvPr id="115" name="object 115" descr=""/>
            <p:cNvSpPr/>
            <p:nvPr/>
          </p:nvSpPr>
          <p:spPr>
            <a:xfrm>
              <a:off x="4933456" y="1532842"/>
              <a:ext cx="76200" cy="2171065"/>
            </a:xfrm>
            <a:custGeom>
              <a:avLst/>
              <a:gdLst/>
              <a:ahLst/>
              <a:cxnLst/>
              <a:rect l="l" t="t" r="r" b="b"/>
              <a:pathLst>
                <a:path w="76200" h="2171065">
                  <a:moveTo>
                    <a:pt x="46977" y="9989"/>
                  </a:moveTo>
                  <a:lnTo>
                    <a:pt x="46977" y="2095980"/>
                  </a:lnTo>
                  <a:lnTo>
                    <a:pt x="46977" y="2100881"/>
                  </a:lnTo>
                  <a:lnTo>
                    <a:pt x="43015" y="2105405"/>
                  </a:lnTo>
                  <a:lnTo>
                    <a:pt x="37544" y="2105405"/>
                  </a:lnTo>
                  <a:lnTo>
                    <a:pt x="32638" y="2105405"/>
                  </a:lnTo>
                  <a:lnTo>
                    <a:pt x="28488" y="2100881"/>
                  </a:lnTo>
                  <a:lnTo>
                    <a:pt x="28488" y="2095980"/>
                  </a:lnTo>
                  <a:lnTo>
                    <a:pt x="28488" y="9989"/>
                  </a:lnTo>
                  <a:lnTo>
                    <a:pt x="28488" y="3958"/>
                  </a:lnTo>
                  <a:lnTo>
                    <a:pt x="32638" y="0"/>
                  </a:lnTo>
                  <a:lnTo>
                    <a:pt x="37544" y="0"/>
                  </a:lnTo>
                  <a:lnTo>
                    <a:pt x="43015" y="0"/>
                  </a:lnTo>
                  <a:lnTo>
                    <a:pt x="46977" y="3958"/>
                  </a:lnTo>
                  <a:lnTo>
                    <a:pt x="46977" y="9989"/>
                  </a:lnTo>
                  <a:close/>
                </a:path>
                <a:path w="76200" h="2171065">
                  <a:moveTo>
                    <a:pt x="37544" y="2095980"/>
                  </a:moveTo>
                  <a:lnTo>
                    <a:pt x="75654" y="2058471"/>
                  </a:lnTo>
                  <a:lnTo>
                    <a:pt x="37544" y="2170998"/>
                  </a:lnTo>
                  <a:lnTo>
                    <a:pt x="0" y="2058471"/>
                  </a:lnTo>
                  <a:lnTo>
                    <a:pt x="37544" y="2095980"/>
                  </a:lnTo>
                  <a:close/>
                </a:path>
              </a:pathLst>
            </a:custGeom>
            <a:ln w="6791">
              <a:solidFill>
                <a:srgbClr val="000000"/>
              </a:solidFill>
            </a:ln>
          </p:spPr>
          <p:txBody>
            <a:bodyPr wrap="square" lIns="0" tIns="0" rIns="0" bIns="0" rtlCol="0"/>
            <a:lstStyle/>
            <a:p/>
          </p:txBody>
        </p:sp>
        <p:sp>
          <p:nvSpPr>
            <p:cNvPr id="116" name="object 116" descr=""/>
            <p:cNvSpPr/>
            <p:nvPr/>
          </p:nvSpPr>
          <p:spPr>
            <a:xfrm>
              <a:off x="4684609" y="1532842"/>
              <a:ext cx="75565" cy="2343150"/>
            </a:xfrm>
            <a:custGeom>
              <a:avLst/>
              <a:gdLst/>
              <a:ahLst/>
              <a:cxnLst/>
              <a:rect l="l" t="t" r="r" b="b"/>
              <a:pathLst>
                <a:path w="75564" h="2343150">
                  <a:moveTo>
                    <a:pt x="0" y="2229618"/>
                  </a:moveTo>
                  <a:lnTo>
                    <a:pt x="37166" y="2342522"/>
                  </a:lnTo>
                  <a:lnTo>
                    <a:pt x="59434" y="2276551"/>
                  </a:lnTo>
                  <a:lnTo>
                    <a:pt x="32261" y="2276551"/>
                  </a:lnTo>
                  <a:lnTo>
                    <a:pt x="28110" y="2272593"/>
                  </a:lnTo>
                  <a:lnTo>
                    <a:pt x="28144" y="2258022"/>
                  </a:lnTo>
                  <a:lnTo>
                    <a:pt x="0" y="2229618"/>
                  </a:lnTo>
                  <a:close/>
                </a:path>
                <a:path w="75564" h="2343150">
                  <a:moveTo>
                    <a:pt x="28144" y="2258022"/>
                  </a:moveTo>
                  <a:lnTo>
                    <a:pt x="28110" y="2272593"/>
                  </a:lnTo>
                  <a:lnTo>
                    <a:pt x="32261" y="2276551"/>
                  </a:lnTo>
                  <a:lnTo>
                    <a:pt x="42638" y="2276551"/>
                  </a:lnTo>
                  <a:lnTo>
                    <a:pt x="46788" y="2272593"/>
                  </a:lnTo>
                  <a:lnTo>
                    <a:pt x="46788" y="2267127"/>
                  </a:lnTo>
                  <a:lnTo>
                    <a:pt x="37166" y="2267127"/>
                  </a:lnTo>
                  <a:lnTo>
                    <a:pt x="28144" y="2258022"/>
                  </a:lnTo>
                  <a:close/>
                </a:path>
                <a:path w="75564" h="2343150">
                  <a:moveTo>
                    <a:pt x="75276" y="2229618"/>
                  </a:moveTo>
                  <a:lnTo>
                    <a:pt x="46824" y="2257622"/>
                  </a:lnTo>
                  <a:lnTo>
                    <a:pt x="46788" y="2272593"/>
                  </a:lnTo>
                  <a:lnTo>
                    <a:pt x="42638" y="2276551"/>
                  </a:lnTo>
                  <a:lnTo>
                    <a:pt x="59434" y="2276551"/>
                  </a:lnTo>
                  <a:lnTo>
                    <a:pt x="75276" y="2229618"/>
                  </a:lnTo>
                  <a:close/>
                </a:path>
                <a:path w="75564" h="2343150">
                  <a:moveTo>
                    <a:pt x="50750" y="0"/>
                  </a:moveTo>
                  <a:lnTo>
                    <a:pt x="40374" y="0"/>
                  </a:lnTo>
                  <a:lnTo>
                    <a:pt x="36412" y="3958"/>
                  </a:lnTo>
                  <a:lnTo>
                    <a:pt x="36410" y="9989"/>
                  </a:lnTo>
                  <a:lnTo>
                    <a:pt x="28248" y="2229618"/>
                  </a:lnTo>
                  <a:lnTo>
                    <a:pt x="28144" y="2258022"/>
                  </a:lnTo>
                  <a:lnTo>
                    <a:pt x="37166" y="2267127"/>
                  </a:lnTo>
                  <a:lnTo>
                    <a:pt x="46824" y="2257622"/>
                  </a:lnTo>
                  <a:lnTo>
                    <a:pt x="55278" y="9989"/>
                  </a:lnTo>
                  <a:lnTo>
                    <a:pt x="55278" y="3958"/>
                  </a:lnTo>
                  <a:lnTo>
                    <a:pt x="50750" y="0"/>
                  </a:lnTo>
                  <a:close/>
                </a:path>
                <a:path w="75564" h="2343150">
                  <a:moveTo>
                    <a:pt x="46824" y="2257622"/>
                  </a:moveTo>
                  <a:lnTo>
                    <a:pt x="37166" y="2267127"/>
                  </a:lnTo>
                  <a:lnTo>
                    <a:pt x="46788" y="2267127"/>
                  </a:lnTo>
                  <a:lnTo>
                    <a:pt x="46824" y="2257622"/>
                  </a:lnTo>
                  <a:close/>
                </a:path>
              </a:pathLst>
            </a:custGeom>
            <a:solidFill>
              <a:srgbClr val="000000"/>
            </a:solidFill>
          </p:spPr>
          <p:txBody>
            <a:bodyPr wrap="square" lIns="0" tIns="0" rIns="0" bIns="0" rtlCol="0"/>
            <a:lstStyle/>
            <a:p/>
          </p:txBody>
        </p:sp>
        <p:sp>
          <p:nvSpPr>
            <p:cNvPr id="117" name="object 117" descr=""/>
            <p:cNvSpPr/>
            <p:nvPr/>
          </p:nvSpPr>
          <p:spPr>
            <a:xfrm>
              <a:off x="4684608" y="1532842"/>
              <a:ext cx="75565" cy="2343150"/>
            </a:xfrm>
            <a:custGeom>
              <a:avLst/>
              <a:gdLst/>
              <a:ahLst/>
              <a:cxnLst/>
              <a:rect l="l" t="t" r="r" b="b"/>
              <a:pathLst>
                <a:path w="75564" h="2343150">
                  <a:moveTo>
                    <a:pt x="55278" y="9989"/>
                  </a:moveTo>
                  <a:lnTo>
                    <a:pt x="46788" y="2267127"/>
                  </a:lnTo>
                  <a:lnTo>
                    <a:pt x="46788" y="2272593"/>
                  </a:lnTo>
                  <a:lnTo>
                    <a:pt x="42638" y="2276551"/>
                  </a:lnTo>
                  <a:lnTo>
                    <a:pt x="37166" y="2276551"/>
                  </a:lnTo>
                  <a:lnTo>
                    <a:pt x="32261" y="2276551"/>
                  </a:lnTo>
                  <a:lnTo>
                    <a:pt x="28110" y="2272593"/>
                  </a:lnTo>
                  <a:lnTo>
                    <a:pt x="28110" y="2267127"/>
                  </a:lnTo>
                  <a:lnTo>
                    <a:pt x="36412" y="9424"/>
                  </a:lnTo>
                  <a:lnTo>
                    <a:pt x="36412" y="3958"/>
                  </a:lnTo>
                  <a:lnTo>
                    <a:pt x="40374" y="0"/>
                  </a:lnTo>
                  <a:lnTo>
                    <a:pt x="45845" y="0"/>
                  </a:lnTo>
                  <a:lnTo>
                    <a:pt x="50750" y="0"/>
                  </a:lnTo>
                  <a:lnTo>
                    <a:pt x="55278" y="3958"/>
                  </a:lnTo>
                  <a:lnTo>
                    <a:pt x="55278" y="9989"/>
                  </a:lnTo>
                  <a:close/>
                </a:path>
                <a:path w="75564" h="2343150">
                  <a:moveTo>
                    <a:pt x="37166" y="2267127"/>
                  </a:moveTo>
                  <a:lnTo>
                    <a:pt x="75276" y="2229618"/>
                  </a:lnTo>
                  <a:lnTo>
                    <a:pt x="37166" y="2342522"/>
                  </a:lnTo>
                  <a:lnTo>
                    <a:pt x="0" y="2229618"/>
                  </a:lnTo>
                  <a:lnTo>
                    <a:pt x="37166" y="2267127"/>
                  </a:lnTo>
                  <a:close/>
                </a:path>
              </a:pathLst>
            </a:custGeom>
            <a:ln w="6791">
              <a:solidFill>
                <a:srgbClr val="000000"/>
              </a:solidFill>
            </a:ln>
          </p:spPr>
          <p:txBody>
            <a:bodyPr wrap="square" lIns="0" tIns="0" rIns="0" bIns="0" rtlCol="0"/>
            <a:lstStyle/>
            <a:p/>
          </p:txBody>
        </p:sp>
        <p:sp>
          <p:nvSpPr>
            <p:cNvPr id="118" name="object 118" descr=""/>
            <p:cNvSpPr/>
            <p:nvPr/>
          </p:nvSpPr>
          <p:spPr>
            <a:xfrm>
              <a:off x="4943833" y="1519648"/>
              <a:ext cx="43815" cy="58419"/>
            </a:xfrm>
            <a:custGeom>
              <a:avLst/>
              <a:gdLst/>
              <a:ahLst/>
              <a:cxnLst/>
              <a:rect l="l" t="t" r="r" b="b"/>
              <a:pathLst>
                <a:path w="43814" h="58419">
                  <a:moveTo>
                    <a:pt x="21696" y="0"/>
                  </a:moveTo>
                  <a:lnTo>
                    <a:pt x="13371" y="2308"/>
                  </a:lnTo>
                  <a:lnTo>
                    <a:pt x="6461" y="8576"/>
                  </a:lnTo>
                  <a:lnTo>
                    <a:pt x="1745" y="17812"/>
                  </a:lnTo>
                  <a:lnTo>
                    <a:pt x="0" y="29027"/>
                  </a:lnTo>
                  <a:lnTo>
                    <a:pt x="1745" y="40212"/>
                  </a:lnTo>
                  <a:lnTo>
                    <a:pt x="6461" y="49383"/>
                  </a:lnTo>
                  <a:lnTo>
                    <a:pt x="13371" y="55586"/>
                  </a:lnTo>
                  <a:lnTo>
                    <a:pt x="21696" y="57865"/>
                  </a:lnTo>
                  <a:lnTo>
                    <a:pt x="30100" y="55586"/>
                  </a:lnTo>
                  <a:lnTo>
                    <a:pt x="37001" y="49383"/>
                  </a:lnTo>
                  <a:lnTo>
                    <a:pt x="41674" y="40212"/>
                  </a:lnTo>
                  <a:lnTo>
                    <a:pt x="43392" y="29027"/>
                  </a:lnTo>
                  <a:lnTo>
                    <a:pt x="41674" y="17812"/>
                  </a:lnTo>
                  <a:lnTo>
                    <a:pt x="37001" y="8576"/>
                  </a:lnTo>
                  <a:lnTo>
                    <a:pt x="30100" y="2308"/>
                  </a:lnTo>
                  <a:lnTo>
                    <a:pt x="21696" y="0"/>
                  </a:lnTo>
                  <a:close/>
                </a:path>
              </a:pathLst>
            </a:custGeom>
            <a:solidFill>
              <a:srgbClr val="000000"/>
            </a:solidFill>
          </p:spPr>
          <p:txBody>
            <a:bodyPr wrap="square" lIns="0" tIns="0" rIns="0" bIns="0" rtlCol="0"/>
            <a:lstStyle/>
            <a:p/>
          </p:txBody>
        </p:sp>
        <p:sp>
          <p:nvSpPr>
            <p:cNvPr id="119" name="object 119" descr=""/>
            <p:cNvSpPr/>
            <p:nvPr/>
          </p:nvSpPr>
          <p:spPr>
            <a:xfrm>
              <a:off x="4943833" y="1519648"/>
              <a:ext cx="43815" cy="58419"/>
            </a:xfrm>
            <a:custGeom>
              <a:avLst/>
              <a:gdLst/>
              <a:ahLst/>
              <a:cxnLst/>
              <a:rect l="l" t="t" r="r" b="b"/>
              <a:pathLst>
                <a:path w="43814" h="58419">
                  <a:moveTo>
                    <a:pt x="21696" y="0"/>
                  </a:moveTo>
                  <a:lnTo>
                    <a:pt x="13371" y="2308"/>
                  </a:lnTo>
                  <a:lnTo>
                    <a:pt x="6461" y="8576"/>
                  </a:lnTo>
                  <a:lnTo>
                    <a:pt x="1745" y="17812"/>
                  </a:lnTo>
                  <a:lnTo>
                    <a:pt x="0" y="29027"/>
                  </a:lnTo>
                  <a:lnTo>
                    <a:pt x="1745" y="40212"/>
                  </a:lnTo>
                  <a:lnTo>
                    <a:pt x="6461" y="49383"/>
                  </a:lnTo>
                  <a:lnTo>
                    <a:pt x="13371" y="55586"/>
                  </a:lnTo>
                  <a:lnTo>
                    <a:pt x="21696" y="57865"/>
                  </a:lnTo>
                  <a:lnTo>
                    <a:pt x="30100" y="55586"/>
                  </a:lnTo>
                  <a:lnTo>
                    <a:pt x="37001" y="49383"/>
                  </a:lnTo>
                  <a:lnTo>
                    <a:pt x="41674" y="40212"/>
                  </a:lnTo>
                  <a:lnTo>
                    <a:pt x="43392" y="29027"/>
                  </a:lnTo>
                  <a:lnTo>
                    <a:pt x="41674" y="17812"/>
                  </a:lnTo>
                  <a:lnTo>
                    <a:pt x="37001" y="8576"/>
                  </a:lnTo>
                  <a:lnTo>
                    <a:pt x="30100" y="2308"/>
                  </a:lnTo>
                  <a:lnTo>
                    <a:pt x="21696" y="0"/>
                  </a:lnTo>
                </a:path>
              </a:pathLst>
            </a:custGeom>
            <a:ln w="14038">
              <a:solidFill>
                <a:srgbClr val="000000"/>
              </a:solidFill>
            </a:ln>
          </p:spPr>
          <p:txBody>
            <a:bodyPr wrap="square" lIns="0" tIns="0" rIns="0" bIns="0" rtlCol="0"/>
            <a:lstStyle/>
            <a:p/>
          </p:txBody>
        </p:sp>
        <p:sp>
          <p:nvSpPr>
            <p:cNvPr id="120" name="object 120" descr=""/>
            <p:cNvSpPr/>
            <p:nvPr/>
          </p:nvSpPr>
          <p:spPr>
            <a:xfrm>
              <a:off x="4705928" y="1519648"/>
              <a:ext cx="43180" cy="58419"/>
            </a:xfrm>
            <a:custGeom>
              <a:avLst/>
              <a:gdLst/>
              <a:ahLst/>
              <a:cxnLst/>
              <a:rect l="l" t="t" r="r" b="b"/>
              <a:pathLst>
                <a:path w="43179" h="58419">
                  <a:moveTo>
                    <a:pt x="21885" y="0"/>
                  </a:moveTo>
                  <a:lnTo>
                    <a:pt x="13291" y="2308"/>
                  </a:lnTo>
                  <a:lnTo>
                    <a:pt x="6343" y="8576"/>
                  </a:lnTo>
                  <a:lnTo>
                    <a:pt x="1695" y="17812"/>
                  </a:lnTo>
                  <a:lnTo>
                    <a:pt x="0" y="29027"/>
                  </a:lnTo>
                  <a:lnTo>
                    <a:pt x="1695" y="40212"/>
                  </a:lnTo>
                  <a:lnTo>
                    <a:pt x="6343" y="49383"/>
                  </a:lnTo>
                  <a:lnTo>
                    <a:pt x="13291" y="55586"/>
                  </a:lnTo>
                  <a:lnTo>
                    <a:pt x="21885" y="57865"/>
                  </a:lnTo>
                  <a:lnTo>
                    <a:pt x="30121" y="55586"/>
                  </a:lnTo>
                  <a:lnTo>
                    <a:pt x="36836" y="49383"/>
                  </a:lnTo>
                  <a:lnTo>
                    <a:pt x="41358" y="40212"/>
                  </a:lnTo>
                  <a:lnTo>
                    <a:pt x="43015" y="29027"/>
                  </a:lnTo>
                  <a:lnTo>
                    <a:pt x="41358" y="17812"/>
                  </a:lnTo>
                  <a:lnTo>
                    <a:pt x="36836" y="8576"/>
                  </a:lnTo>
                  <a:lnTo>
                    <a:pt x="30121" y="2308"/>
                  </a:lnTo>
                  <a:lnTo>
                    <a:pt x="21885" y="0"/>
                  </a:lnTo>
                  <a:close/>
                </a:path>
              </a:pathLst>
            </a:custGeom>
            <a:solidFill>
              <a:srgbClr val="000000"/>
            </a:solidFill>
          </p:spPr>
          <p:txBody>
            <a:bodyPr wrap="square" lIns="0" tIns="0" rIns="0" bIns="0" rtlCol="0"/>
            <a:lstStyle/>
            <a:p/>
          </p:txBody>
        </p:sp>
        <p:sp>
          <p:nvSpPr>
            <p:cNvPr id="121" name="object 121" descr=""/>
            <p:cNvSpPr/>
            <p:nvPr/>
          </p:nvSpPr>
          <p:spPr>
            <a:xfrm>
              <a:off x="1319335" y="1519648"/>
              <a:ext cx="4403090" cy="185420"/>
            </a:xfrm>
            <a:custGeom>
              <a:avLst/>
              <a:gdLst/>
              <a:ahLst/>
              <a:cxnLst/>
              <a:rect l="l" t="t" r="r" b="b"/>
              <a:pathLst>
                <a:path w="4403090" h="185419">
                  <a:moveTo>
                    <a:pt x="3408477" y="0"/>
                  </a:moveTo>
                  <a:lnTo>
                    <a:pt x="3399884" y="2308"/>
                  </a:lnTo>
                  <a:lnTo>
                    <a:pt x="3392936" y="8576"/>
                  </a:lnTo>
                  <a:lnTo>
                    <a:pt x="3388287" y="17812"/>
                  </a:lnTo>
                  <a:lnTo>
                    <a:pt x="3386592" y="29027"/>
                  </a:lnTo>
                  <a:lnTo>
                    <a:pt x="3388287" y="40212"/>
                  </a:lnTo>
                  <a:lnTo>
                    <a:pt x="3392936" y="49383"/>
                  </a:lnTo>
                  <a:lnTo>
                    <a:pt x="3399884" y="55586"/>
                  </a:lnTo>
                  <a:lnTo>
                    <a:pt x="3408477" y="57865"/>
                  </a:lnTo>
                  <a:lnTo>
                    <a:pt x="3416714" y="55586"/>
                  </a:lnTo>
                  <a:lnTo>
                    <a:pt x="3423429" y="49383"/>
                  </a:lnTo>
                  <a:lnTo>
                    <a:pt x="3427951" y="40212"/>
                  </a:lnTo>
                  <a:lnTo>
                    <a:pt x="3429608" y="29027"/>
                  </a:lnTo>
                  <a:lnTo>
                    <a:pt x="3427951" y="17812"/>
                  </a:lnTo>
                  <a:lnTo>
                    <a:pt x="3423429" y="8576"/>
                  </a:lnTo>
                  <a:lnTo>
                    <a:pt x="3416714" y="2308"/>
                  </a:lnTo>
                  <a:lnTo>
                    <a:pt x="3408477" y="0"/>
                  </a:lnTo>
                </a:path>
                <a:path w="4403090" h="185419">
                  <a:moveTo>
                    <a:pt x="0" y="184906"/>
                  </a:moveTo>
                  <a:lnTo>
                    <a:pt x="4402736" y="184906"/>
                  </a:lnTo>
                </a:path>
              </a:pathLst>
            </a:custGeom>
            <a:ln w="14036">
              <a:solidFill>
                <a:srgbClr val="000000"/>
              </a:solidFill>
            </a:ln>
          </p:spPr>
          <p:txBody>
            <a:bodyPr wrap="square" lIns="0" tIns="0" rIns="0" bIns="0" rtlCol="0"/>
            <a:lstStyle/>
            <a:p/>
          </p:txBody>
        </p:sp>
        <p:sp>
          <p:nvSpPr>
            <p:cNvPr id="122" name="object 122" descr=""/>
            <p:cNvSpPr/>
            <p:nvPr/>
          </p:nvSpPr>
          <p:spPr>
            <a:xfrm>
              <a:off x="5689433" y="1672323"/>
              <a:ext cx="44450" cy="58419"/>
            </a:xfrm>
            <a:custGeom>
              <a:avLst/>
              <a:gdLst/>
              <a:ahLst/>
              <a:cxnLst/>
              <a:rect l="l" t="t" r="r" b="b"/>
              <a:pathLst>
                <a:path w="44450" h="58419">
                  <a:moveTo>
                    <a:pt x="21696" y="0"/>
                  </a:moveTo>
                  <a:lnTo>
                    <a:pt x="13371" y="2308"/>
                  </a:lnTo>
                  <a:lnTo>
                    <a:pt x="6461" y="8576"/>
                  </a:lnTo>
                  <a:lnTo>
                    <a:pt x="1745" y="17812"/>
                  </a:lnTo>
                  <a:lnTo>
                    <a:pt x="0" y="29027"/>
                  </a:lnTo>
                  <a:lnTo>
                    <a:pt x="1745" y="39974"/>
                  </a:lnTo>
                  <a:lnTo>
                    <a:pt x="6461" y="49171"/>
                  </a:lnTo>
                  <a:lnTo>
                    <a:pt x="13371" y="55506"/>
                  </a:lnTo>
                  <a:lnTo>
                    <a:pt x="21696" y="57865"/>
                  </a:lnTo>
                  <a:lnTo>
                    <a:pt x="30348" y="55506"/>
                  </a:lnTo>
                  <a:lnTo>
                    <a:pt x="37426" y="49171"/>
                  </a:lnTo>
                  <a:lnTo>
                    <a:pt x="42204" y="39974"/>
                  </a:lnTo>
                  <a:lnTo>
                    <a:pt x="43958" y="29027"/>
                  </a:lnTo>
                  <a:lnTo>
                    <a:pt x="42204" y="17812"/>
                  </a:lnTo>
                  <a:lnTo>
                    <a:pt x="37426" y="8576"/>
                  </a:lnTo>
                  <a:lnTo>
                    <a:pt x="30348" y="2308"/>
                  </a:lnTo>
                  <a:lnTo>
                    <a:pt x="21696" y="0"/>
                  </a:lnTo>
                  <a:close/>
                </a:path>
              </a:pathLst>
            </a:custGeom>
            <a:solidFill>
              <a:srgbClr val="000000"/>
            </a:solidFill>
          </p:spPr>
          <p:txBody>
            <a:bodyPr wrap="square" lIns="0" tIns="0" rIns="0" bIns="0" rtlCol="0"/>
            <a:lstStyle/>
            <a:p/>
          </p:txBody>
        </p:sp>
        <p:sp>
          <p:nvSpPr>
            <p:cNvPr id="123" name="object 123" descr=""/>
            <p:cNvSpPr/>
            <p:nvPr/>
          </p:nvSpPr>
          <p:spPr>
            <a:xfrm>
              <a:off x="1321146" y="1672323"/>
              <a:ext cx="4412615" cy="3784600"/>
            </a:xfrm>
            <a:custGeom>
              <a:avLst/>
              <a:gdLst/>
              <a:ahLst/>
              <a:cxnLst/>
              <a:rect l="l" t="t" r="r" b="b"/>
              <a:pathLst>
                <a:path w="4412615" h="3784600">
                  <a:moveTo>
                    <a:pt x="4389982" y="0"/>
                  </a:moveTo>
                  <a:lnTo>
                    <a:pt x="4381658" y="2308"/>
                  </a:lnTo>
                  <a:lnTo>
                    <a:pt x="4374748" y="8576"/>
                  </a:lnTo>
                  <a:lnTo>
                    <a:pt x="4370031" y="17812"/>
                  </a:lnTo>
                  <a:lnTo>
                    <a:pt x="4368286" y="29027"/>
                  </a:lnTo>
                  <a:lnTo>
                    <a:pt x="4370031" y="39974"/>
                  </a:lnTo>
                  <a:lnTo>
                    <a:pt x="4374748" y="49171"/>
                  </a:lnTo>
                  <a:lnTo>
                    <a:pt x="4381658" y="55506"/>
                  </a:lnTo>
                  <a:lnTo>
                    <a:pt x="4389982" y="57865"/>
                  </a:lnTo>
                  <a:lnTo>
                    <a:pt x="4398634" y="55506"/>
                  </a:lnTo>
                  <a:lnTo>
                    <a:pt x="4405712" y="49171"/>
                  </a:lnTo>
                  <a:lnTo>
                    <a:pt x="4410491" y="39974"/>
                  </a:lnTo>
                  <a:lnTo>
                    <a:pt x="4412245" y="29027"/>
                  </a:lnTo>
                  <a:lnTo>
                    <a:pt x="4410491" y="17812"/>
                  </a:lnTo>
                  <a:lnTo>
                    <a:pt x="4405712" y="8576"/>
                  </a:lnTo>
                  <a:lnTo>
                    <a:pt x="4398634" y="2308"/>
                  </a:lnTo>
                  <a:lnTo>
                    <a:pt x="4389982" y="0"/>
                  </a:lnTo>
                </a:path>
                <a:path w="4412615" h="3784600">
                  <a:moveTo>
                    <a:pt x="5886" y="30346"/>
                  </a:moveTo>
                  <a:lnTo>
                    <a:pt x="0" y="3784602"/>
                  </a:lnTo>
                </a:path>
              </a:pathLst>
            </a:custGeom>
            <a:ln w="14036">
              <a:solidFill>
                <a:srgbClr val="000000"/>
              </a:solidFill>
            </a:ln>
          </p:spPr>
          <p:txBody>
            <a:bodyPr wrap="square" lIns="0" tIns="0" rIns="0" bIns="0" rtlCol="0"/>
            <a:lstStyle/>
            <a:p/>
          </p:txBody>
        </p:sp>
        <p:sp>
          <p:nvSpPr>
            <p:cNvPr id="124" name="object 124" descr=""/>
            <p:cNvSpPr/>
            <p:nvPr/>
          </p:nvSpPr>
          <p:spPr>
            <a:xfrm>
              <a:off x="1060677" y="1532842"/>
              <a:ext cx="76200" cy="4099560"/>
            </a:xfrm>
            <a:custGeom>
              <a:avLst/>
              <a:gdLst/>
              <a:ahLst/>
              <a:cxnLst/>
              <a:rect l="l" t="t" r="r" b="b"/>
              <a:pathLst>
                <a:path w="76200" h="4099560">
                  <a:moveTo>
                    <a:pt x="0" y="3985963"/>
                  </a:moveTo>
                  <a:lnTo>
                    <a:pt x="38053" y="4099339"/>
                  </a:lnTo>
                  <a:lnTo>
                    <a:pt x="59926" y="4033387"/>
                  </a:lnTo>
                  <a:lnTo>
                    <a:pt x="32619" y="4033387"/>
                  </a:lnTo>
                  <a:lnTo>
                    <a:pt x="28544" y="4029334"/>
                  </a:lnTo>
                  <a:lnTo>
                    <a:pt x="28544" y="4014086"/>
                  </a:lnTo>
                  <a:lnTo>
                    <a:pt x="0" y="3985963"/>
                  </a:lnTo>
                  <a:close/>
                </a:path>
                <a:path w="76200" h="4099560">
                  <a:moveTo>
                    <a:pt x="28544" y="4014086"/>
                  </a:moveTo>
                  <a:lnTo>
                    <a:pt x="28544" y="4029334"/>
                  </a:lnTo>
                  <a:lnTo>
                    <a:pt x="32619" y="4033387"/>
                  </a:lnTo>
                  <a:lnTo>
                    <a:pt x="43034" y="4033387"/>
                  </a:lnTo>
                  <a:lnTo>
                    <a:pt x="47109" y="4029334"/>
                  </a:lnTo>
                  <a:lnTo>
                    <a:pt x="47109" y="4023453"/>
                  </a:lnTo>
                  <a:lnTo>
                    <a:pt x="38053" y="4023453"/>
                  </a:lnTo>
                  <a:lnTo>
                    <a:pt x="28544" y="4014086"/>
                  </a:lnTo>
                  <a:close/>
                </a:path>
                <a:path w="76200" h="4099560">
                  <a:moveTo>
                    <a:pt x="75654" y="3985963"/>
                  </a:moveTo>
                  <a:lnTo>
                    <a:pt x="47109" y="4014424"/>
                  </a:lnTo>
                  <a:lnTo>
                    <a:pt x="47109" y="4029334"/>
                  </a:lnTo>
                  <a:lnTo>
                    <a:pt x="43034" y="4033387"/>
                  </a:lnTo>
                  <a:lnTo>
                    <a:pt x="59926" y="4033387"/>
                  </a:lnTo>
                  <a:lnTo>
                    <a:pt x="75654" y="3985963"/>
                  </a:lnTo>
                  <a:close/>
                </a:path>
                <a:path w="76200" h="4099560">
                  <a:moveTo>
                    <a:pt x="43034" y="0"/>
                  </a:moveTo>
                  <a:lnTo>
                    <a:pt x="32619" y="0"/>
                  </a:lnTo>
                  <a:lnTo>
                    <a:pt x="28544" y="3958"/>
                  </a:lnTo>
                  <a:lnTo>
                    <a:pt x="28544" y="4014086"/>
                  </a:lnTo>
                  <a:lnTo>
                    <a:pt x="38053" y="4023453"/>
                  </a:lnTo>
                  <a:lnTo>
                    <a:pt x="47109" y="4014424"/>
                  </a:lnTo>
                  <a:lnTo>
                    <a:pt x="47109" y="3958"/>
                  </a:lnTo>
                  <a:lnTo>
                    <a:pt x="43034" y="0"/>
                  </a:lnTo>
                  <a:close/>
                </a:path>
                <a:path w="76200" h="4099560">
                  <a:moveTo>
                    <a:pt x="47109" y="4014424"/>
                  </a:moveTo>
                  <a:lnTo>
                    <a:pt x="38053" y="4023453"/>
                  </a:lnTo>
                  <a:lnTo>
                    <a:pt x="47109" y="4023453"/>
                  </a:lnTo>
                  <a:lnTo>
                    <a:pt x="47109" y="4014424"/>
                  </a:lnTo>
                  <a:close/>
                </a:path>
              </a:pathLst>
            </a:custGeom>
            <a:solidFill>
              <a:srgbClr val="000000"/>
            </a:solidFill>
          </p:spPr>
          <p:txBody>
            <a:bodyPr wrap="square" lIns="0" tIns="0" rIns="0" bIns="0" rtlCol="0"/>
            <a:lstStyle/>
            <a:p/>
          </p:txBody>
        </p:sp>
        <p:sp>
          <p:nvSpPr>
            <p:cNvPr id="125" name="object 125" descr=""/>
            <p:cNvSpPr/>
            <p:nvPr/>
          </p:nvSpPr>
          <p:spPr>
            <a:xfrm>
              <a:off x="1060677" y="1532842"/>
              <a:ext cx="76200" cy="4099560"/>
            </a:xfrm>
            <a:custGeom>
              <a:avLst/>
              <a:gdLst/>
              <a:ahLst/>
              <a:cxnLst/>
              <a:rect l="l" t="t" r="r" b="b"/>
              <a:pathLst>
                <a:path w="76200" h="4099560">
                  <a:moveTo>
                    <a:pt x="47109" y="9989"/>
                  </a:moveTo>
                  <a:lnTo>
                    <a:pt x="47109" y="4023454"/>
                  </a:lnTo>
                  <a:lnTo>
                    <a:pt x="47109" y="4029334"/>
                  </a:lnTo>
                  <a:lnTo>
                    <a:pt x="43034" y="4033387"/>
                  </a:lnTo>
                  <a:lnTo>
                    <a:pt x="38053" y="4033387"/>
                  </a:lnTo>
                  <a:lnTo>
                    <a:pt x="32619" y="4033387"/>
                  </a:lnTo>
                  <a:lnTo>
                    <a:pt x="28544" y="4029334"/>
                  </a:lnTo>
                  <a:lnTo>
                    <a:pt x="28544" y="4023454"/>
                  </a:lnTo>
                  <a:lnTo>
                    <a:pt x="28544" y="9989"/>
                  </a:lnTo>
                  <a:lnTo>
                    <a:pt x="28544" y="3958"/>
                  </a:lnTo>
                  <a:lnTo>
                    <a:pt x="32619" y="0"/>
                  </a:lnTo>
                  <a:lnTo>
                    <a:pt x="38053" y="0"/>
                  </a:lnTo>
                  <a:lnTo>
                    <a:pt x="43034" y="0"/>
                  </a:lnTo>
                  <a:lnTo>
                    <a:pt x="47109" y="3958"/>
                  </a:lnTo>
                  <a:lnTo>
                    <a:pt x="47109" y="9989"/>
                  </a:lnTo>
                  <a:close/>
                </a:path>
                <a:path w="76200" h="4099560">
                  <a:moveTo>
                    <a:pt x="38053" y="4023454"/>
                  </a:moveTo>
                  <a:lnTo>
                    <a:pt x="75654" y="3985963"/>
                  </a:lnTo>
                  <a:lnTo>
                    <a:pt x="38053" y="4099339"/>
                  </a:lnTo>
                  <a:lnTo>
                    <a:pt x="0" y="3985963"/>
                  </a:lnTo>
                  <a:lnTo>
                    <a:pt x="38053" y="4023454"/>
                  </a:lnTo>
                  <a:close/>
                </a:path>
              </a:pathLst>
            </a:custGeom>
            <a:ln w="6791">
              <a:solidFill>
                <a:srgbClr val="000000"/>
              </a:solidFill>
            </a:ln>
          </p:spPr>
          <p:txBody>
            <a:bodyPr wrap="square" lIns="0" tIns="0" rIns="0" bIns="0" rtlCol="0"/>
            <a:lstStyle/>
            <a:p/>
          </p:txBody>
        </p:sp>
        <p:sp>
          <p:nvSpPr>
            <p:cNvPr id="126" name="object 126" descr=""/>
            <p:cNvSpPr/>
            <p:nvPr/>
          </p:nvSpPr>
          <p:spPr>
            <a:xfrm>
              <a:off x="804282" y="3703841"/>
              <a:ext cx="1348740" cy="0"/>
            </a:xfrm>
            <a:custGeom>
              <a:avLst/>
              <a:gdLst/>
              <a:ahLst/>
              <a:cxnLst/>
              <a:rect l="l" t="t" r="r" b="b"/>
              <a:pathLst>
                <a:path w="1348739" h="0">
                  <a:moveTo>
                    <a:pt x="0" y="0"/>
                  </a:moveTo>
                  <a:lnTo>
                    <a:pt x="1348135" y="0"/>
                  </a:lnTo>
                </a:path>
              </a:pathLst>
            </a:custGeom>
            <a:ln w="14029">
              <a:solidFill>
                <a:srgbClr val="000000"/>
              </a:solidFill>
            </a:ln>
          </p:spPr>
          <p:txBody>
            <a:bodyPr wrap="square" lIns="0" tIns="0" rIns="0" bIns="0" rtlCol="0"/>
            <a:lstStyle/>
            <a:p/>
          </p:txBody>
        </p:sp>
        <p:sp>
          <p:nvSpPr>
            <p:cNvPr id="127" name="object 127" descr=""/>
            <p:cNvSpPr/>
            <p:nvPr/>
          </p:nvSpPr>
          <p:spPr>
            <a:xfrm>
              <a:off x="2126137" y="3668028"/>
              <a:ext cx="43815" cy="57785"/>
            </a:xfrm>
            <a:custGeom>
              <a:avLst/>
              <a:gdLst/>
              <a:ahLst/>
              <a:cxnLst/>
              <a:rect l="l" t="t" r="r" b="b"/>
              <a:pathLst>
                <a:path w="43814" h="57785">
                  <a:moveTo>
                    <a:pt x="21752" y="0"/>
                  </a:moveTo>
                  <a:lnTo>
                    <a:pt x="13188" y="2308"/>
                  </a:lnTo>
                  <a:lnTo>
                    <a:pt x="6284" y="8576"/>
                  </a:lnTo>
                  <a:lnTo>
                    <a:pt x="1677" y="17812"/>
                  </a:lnTo>
                  <a:lnTo>
                    <a:pt x="0" y="29027"/>
                  </a:lnTo>
                  <a:lnTo>
                    <a:pt x="1677" y="40153"/>
                  </a:lnTo>
                  <a:lnTo>
                    <a:pt x="6284" y="49195"/>
                  </a:lnTo>
                  <a:lnTo>
                    <a:pt x="13188" y="55268"/>
                  </a:lnTo>
                  <a:lnTo>
                    <a:pt x="21752" y="57488"/>
                  </a:lnTo>
                  <a:lnTo>
                    <a:pt x="30115" y="55268"/>
                  </a:lnTo>
                  <a:lnTo>
                    <a:pt x="37034" y="49195"/>
                  </a:lnTo>
                  <a:lnTo>
                    <a:pt x="41746" y="40153"/>
                  </a:lnTo>
                  <a:lnTo>
                    <a:pt x="43487" y="29027"/>
                  </a:lnTo>
                  <a:lnTo>
                    <a:pt x="41746" y="17812"/>
                  </a:lnTo>
                  <a:lnTo>
                    <a:pt x="37034" y="8576"/>
                  </a:lnTo>
                  <a:lnTo>
                    <a:pt x="30115" y="2308"/>
                  </a:lnTo>
                  <a:lnTo>
                    <a:pt x="21752" y="0"/>
                  </a:lnTo>
                  <a:close/>
                </a:path>
              </a:pathLst>
            </a:custGeom>
            <a:solidFill>
              <a:srgbClr val="000000"/>
            </a:solidFill>
          </p:spPr>
          <p:txBody>
            <a:bodyPr wrap="square" lIns="0" tIns="0" rIns="0" bIns="0" rtlCol="0"/>
            <a:lstStyle/>
            <a:p/>
          </p:txBody>
        </p:sp>
        <p:sp>
          <p:nvSpPr>
            <p:cNvPr id="128" name="object 128" descr=""/>
            <p:cNvSpPr/>
            <p:nvPr/>
          </p:nvSpPr>
          <p:spPr>
            <a:xfrm>
              <a:off x="804282" y="315401"/>
              <a:ext cx="4838065" cy="3410585"/>
            </a:xfrm>
            <a:custGeom>
              <a:avLst/>
              <a:gdLst/>
              <a:ahLst/>
              <a:cxnLst/>
              <a:rect l="l" t="t" r="r" b="b"/>
              <a:pathLst>
                <a:path w="4838065" h="3410585">
                  <a:moveTo>
                    <a:pt x="1343607" y="3352627"/>
                  </a:moveTo>
                  <a:lnTo>
                    <a:pt x="1335043" y="3354936"/>
                  </a:lnTo>
                  <a:lnTo>
                    <a:pt x="1328139" y="3361203"/>
                  </a:lnTo>
                  <a:lnTo>
                    <a:pt x="1323531" y="3370439"/>
                  </a:lnTo>
                  <a:lnTo>
                    <a:pt x="1321854" y="3381654"/>
                  </a:lnTo>
                  <a:lnTo>
                    <a:pt x="1323531" y="3392780"/>
                  </a:lnTo>
                  <a:lnTo>
                    <a:pt x="1328139" y="3401822"/>
                  </a:lnTo>
                  <a:lnTo>
                    <a:pt x="1335043" y="3407895"/>
                  </a:lnTo>
                  <a:lnTo>
                    <a:pt x="1343607" y="3410115"/>
                  </a:lnTo>
                  <a:lnTo>
                    <a:pt x="1351970" y="3407895"/>
                  </a:lnTo>
                  <a:lnTo>
                    <a:pt x="1358889" y="3401822"/>
                  </a:lnTo>
                  <a:lnTo>
                    <a:pt x="1363601" y="3392780"/>
                  </a:lnTo>
                  <a:lnTo>
                    <a:pt x="1365341" y="3381654"/>
                  </a:lnTo>
                  <a:lnTo>
                    <a:pt x="1363601" y="3370439"/>
                  </a:lnTo>
                  <a:lnTo>
                    <a:pt x="1358889" y="3361203"/>
                  </a:lnTo>
                  <a:lnTo>
                    <a:pt x="1351970" y="3354936"/>
                  </a:lnTo>
                  <a:lnTo>
                    <a:pt x="1343607" y="3352627"/>
                  </a:lnTo>
                </a:path>
                <a:path w="4838065" h="3410585">
                  <a:moveTo>
                    <a:pt x="0" y="3388439"/>
                  </a:moveTo>
                  <a:lnTo>
                    <a:pt x="0" y="0"/>
                  </a:lnTo>
                </a:path>
                <a:path w="4838065" h="3410585">
                  <a:moveTo>
                    <a:pt x="0" y="0"/>
                  </a:moveTo>
                  <a:lnTo>
                    <a:pt x="4837984" y="0"/>
                  </a:lnTo>
                </a:path>
              </a:pathLst>
            </a:custGeom>
            <a:ln w="14036">
              <a:solidFill>
                <a:srgbClr val="000000"/>
              </a:solidFill>
            </a:ln>
          </p:spPr>
          <p:txBody>
            <a:bodyPr wrap="square" lIns="0" tIns="0" rIns="0" bIns="0" rtlCol="0"/>
            <a:lstStyle/>
            <a:p/>
          </p:txBody>
        </p:sp>
        <p:pic>
          <p:nvPicPr>
            <p:cNvPr id="129" name="object 129" descr=""/>
            <p:cNvPicPr/>
            <p:nvPr/>
          </p:nvPicPr>
          <p:blipFill>
            <a:blip r:embed="rId4" cstate="print"/>
            <a:stretch>
              <a:fillRect/>
            </a:stretch>
          </p:blipFill>
          <p:spPr>
            <a:xfrm>
              <a:off x="5598685" y="302579"/>
              <a:ext cx="81881" cy="191888"/>
            </a:xfrm>
            <a:prstGeom prst="rect">
              <a:avLst/>
            </a:prstGeom>
          </p:spPr>
        </p:pic>
        <p:sp>
          <p:nvSpPr>
            <p:cNvPr id="130" name="object 130" descr=""/>
            <p:cNvSpPr/>
            <p:nvPr/>
          </p:nvSpPr>
          <p:spPr>
            <a:xfrm>
              <a:off x="6039216" y="315401"/>
              <a:ext cx="1547495" cy="0"/>
            </a:xfrm>
            <a:custGeom>
              <a:avLst/>
              <a:gdLst/>
              <a:ahLst/>
              <a:cxnLst/>
              <a:rect l="l" t="t" r="r" b="b"/>
              <a:pathLst>
                <a:path w="1547495" h="0">
                  <a:moveTo>
                    <a:pt x="0" y="0"/>
                  </a:moveTo>
                  <a:lnTo>
                    <a:pt x="1547044" y="0"/>
                  </a:lnTo>
                </a:path>
              </a:pathLst>
            </a:custGeom>
            <a:ln w="14029">
              <a:solidFill>
                <a:srgbClr val="0000FF"/>
              </a:solidFill>
            </a:ln>
          </p:spPr>
          <p:txBody>
            <a:bodyPr wrap="square" lIns="0" tIns="0" rIns="0" bIns="0" rtlCol="0"/>
            <a:lstStyle/>
            <a:p/>
          </p:txBody>
        </p:sp>
        <p:pic>
          <p:nvPicPr>
            <p:cNvPr id="131" name="object 131" descr=""/>
            <p:cNvPicPr/>
            <p:nvPr/>
          </p:nvPicPr>
          <p:blipFill>
            <a:blip r:embed="rId5" cstate="print"/>
            <a:stretch>
              <a:fillRect/>
            </a:stretch>
          </p:blipFill>
          <p:spPr>
            <a:xfrm>
              <a:off x="6005444" y="302579"/>
              <a:ext cx="82447" cy="191888"/>
            </a:xfrm>
            <a:prstGeom prst="rect">
              <a:avLst/>
            </a:prstGeom>
          </p:spPr>
        </p:pic>
        <p:sp>
          <p:nvSpPr>
            <p:cNvPr id="132" name="object 132" descr=""/>
            <p:cNvSpPr/>
            <p:nvPr/>
          </p:nvSpPr>
          <p:spPr>
            <a:xfrm>
              <a:off x="1312090" y="5418983"/>
              <a:ext cx="922019" cy="75565"/>
            </a:xfrm>
            <a:custGeom>
              <a:avLst/>
              <a:gdLst/>
              <a:ahLst/>
              <a:cxnLst/>
              <a:rect l="l" t="t" r="r" b="b"/>
              <a:pathLst>
                <a:path w="922019" h="75564">
                  <a:moveTo>
                    <a:pt x="808160" y="0"/>
                  </a:moveTo>
                  <a:lnTo>
                    <a:pt x="845761" y="37942"/>
                  </a:lnTo>
                  <a:lnTo>
                    <a:pt x="808160" y="75432"/>
                  </a:lnTo>
                  <a:lnTo>
                    <a:pt x="894126" y="46971"/>
                  </a:lnTo>
                  <a:lnTo>
                    <a:pt x="851195" y="46971"/>
                  </a:lnTo>
                  <a:lnTo>
                    <a:pt x="855270" y="42899"/>
                  </a:lnTo>
                  <a:lnTo>
                    <a:pt x="855270" y="32514"/>
                  </a:lnTo>
                  <a:lnTo>
                    <a:pt x="851195" y="27990"/>
                  </a:lnTo>
                  <a:lnTo>
                    <a:pt x="891695" y="27990"/>
                  </a:lnTo>
                  <a:lnTo>
                    <a:pt x="808160" y="0"/>
                  </a:lnTo>
                  <a:close/>
                </a:path>
                <a:path w="922019" h="75564">
                  <a:moveTo>
                    <a:pt x="835899" y="27990"/>
                  </a:moveTo>
                  <a:lnTo>
                    <a:pt x="4075" y="27990"/>
                  </a:lnTo>
                  <a:lnTo>
                    <a:pt x="0" y="32514"/>
                  </a:lnTo>
                  <a:lnTo>
                    <a:pt x="0" y="42899"/>
                  </a:lnTo>
                  <a:lnTo>
                    <a:pt x="4075" y="46971"/>
                  </a:lnTo>
                  <a:lnTo>
                    <a:pt x="836706" y="46971"/>
                  </a:lnTo>
                  <a:lnTo>
                    <a:pt x="845761" y="37942"/>
                  </a:lnTo>
                  <a:lnTo>
                    <a:pt x="835899" y="27990"/>
                  </a:lnTo>
                  <a:close/>
                </a:path>
                <a:path w="922019" h="75564">
                  <a:moveTo>
                    <a:pt x="891695" y="27990"/>
                  </a:moveTo>
                  <a:lnTo>
                    <a:pt x="851195" y="27990"/>
                  </a:lnTo>
                  <a:lnTo>
                    <a:pt x="855270" y="32514"/>
                  </a:lnTo>
                  <a:lnTo>
                    <a:pt x="855270" y="42899"/>
                  </a:lnTo>
                  <a:lnTo>
                    <a:pt x="851195" y="46971"/>
                  </a:lnTo>
                  <a:lnTo>
                    <a:pt x="894126" y="46971"/>
                  </a:lnTo>
                  <a:lnTo>
                    <a:pt x="921396" y="37942"/>
                  </a:lnTo>
                  <a:lnTo>
                    <a:pt x="891695" y="27990"/>
                  </a:lnTo>
                  <a:close/>
                </a:path>
              </a:pathLst>
            </a:custGeom>
            <a:solidFill>
              <a:srgbClr val="000000"/>
            </a:solidFill>
          </p:spPr>
          <p:txBody>
            <a:bodyPr wrap="square" lIns="0" tIns="0" rIns="0" bIns="0" rtlCol="0"/>
            <a:lstStyle/>
            <a:p/>
          </p:txBody>
        </p:sp>
        <p:sp>
          <p:nvSpPr>
            <p:cNvPr id="133" name="object 133" descr=""/>
            <p:cNvSpPr/>
            <p:nvPr/>
          </p:nvSpPr>
          <p:spPr>
            <a:xfrm>
              <a:off x="1312090" y="5418983"/>
              <a:ext cx="922019" cy="75565"/>
            </a:xfrm>
            <a:custGeom>
              <a:avLst/>
              <a:gdLst/>
              <a:ahLst/>
              <a:cxnLst/>
              <a:rect l="l" t="t" r="r" b="b"/>
              <a:pathLst>
                <a:path w="922019" h="75564">
                  <a:moveTo>
                    <a:pt x="9055" y="27990"/>
                  </a:moveTo>
                  <a:lnTo>
                    <a:pt x="845761" y="27990"/>
                  </a:lnTo>
                  <a:lnTo>
                    <a:pt x="851194" y="27990"/>
                  </a:lnTo>
                  <a:lnTo>
                    <a:pt x="855270" y="32514"/>
                  </a:lnTo>
                  <a:lnTo>
                    <a:pt x="855270" y="37942"/>
                  </a:lnTo>
                  <a:lnTo>
                    <a:pt x="855270" y="42899"/>
                  </a:lnTo>
                  <a:lnTo>
                    <a:pt x="851194" y="46971"/>
                  </a:lnTo>
                  <a:lnTo>
                    <a:pt x="845761" y="46971"/>
                  </a:lnTo>
                  <a:lnTo>
                    <a:pt x="9055" y="46971"/>
                  </a:lnTo>
                  <a:lnTo>
                    <a:pt x="4075" y="46971"/>
                  </a:lnTo>
                  <a:lnTo>
                    <a:pt x="0" y="42899"/>
                  </a:lnTo>
                  <a:lnTo>
                    <a:pt x="0" y="37942"/>
                  </a:lnTo>
                  <a:lnTo>
                    <a:pt x="0" y="32514"/>
                  </a:lnTo>
                  <a:lnTo>
                    <a:pt x="4075" y="27990"/>
                  </a:lnTo>
                  <a:lnTo>
                    <a:pt x="9055" y="27990"/>
                  </a:lnTo>
                  <a:close/>
                </a:path>
                <a:path w="922019" h="75564">
                  <a:moveTo>
                    <a:pt x="845761" y="37942"/>
                  </a:moveTo>
                  <a:lnTo>
                    <a:pt x="808160" y="0"/>
                  </a:lnTo>
                  <a:lnTo>
                    <a:pt x="921396" y="37942"/>
                  </a:lnTo>
                  <a:lnTo>
                    <a:pt x="808160" y="75432"/>
                  </a:lnTo>
                  <a:lnTo>
                    <a:pt x="845761" y="37942"/>
                  </a:lnTo>
                  <a:close/>
                </a:path>
              </a:pathLst>
            </a:custGeom>
            <a:ln w="6791">
              <a:solidFill>
                <a:srgbClr val="000000"/>
              </a:solidFill>
            </a:ln>
          </p:spPr>
          <p:txBody>
            <a:bodyPr wrap="square" lIns="0" tIns="0" rIns="0" bIns="0" rtlCol="0"/>
            <a:lstStyle/>
            <a:p/>
          </p:txBody>
        </p:sp>
      </p:grpSp>
      <p:sp>
        <p:nvSpPr>
          <p:cNvPr id="134" name="object 134" descr=""/>
          <p:cNvSpPr txBox="1"/>
          <p:nvPr/>
        </p:nvSpPr>
        <p:spPr>
          <a:xfrm>
            <a:off x="1485130" y="4113952"/>
            <a:ext cx="330835" cy="764540"/>
          </a:xfrm>
          <a:prstGeom prst="rect">
            <a:avLst/>
          </a:prstGeom>
        </p:spPr>
        <p:txBody>
          <a:bodyPr wrap="square" lIns="0" tIns="37465" rIns="0" bIns="0" rtlCol="0" vert="horz">
            <a:spAutoFit/>
          </a:bodyPr>
          <a:lstStyle/>
          <a:p>
            <a:pPr marL="76835" marR="5080" indent="-64769">
              <a:lnSpc>
                <a:spcPct val="89900"/>
              </a:lnSpc>
              <a:spcBef>
                <a:spcPts val="295"/>
              </a:spcBef>
            </a:pPr>
            <a:r>
              <a:rPr dirty="0" sz="1300" spc="-20">
                <a:latin typeface="Times New Roman"/>
                <a:cs typeface="Times New Roman"/>
              </a:rPr>
              <a:t>l</a:t>
            </a:r>
            <a:r>
              <a:rPr dirty="0" sz="1300" spc="-20" b="1">
                <a:latin typeface="Times New Roman"/>
                <a:cs typeface="Times New Roman"/>
              </a:rPr>
              <a:t>oad</a:t>
            </a:r>
            <a:r>
              <a:rPr dirty="0" sz="1300" spc="-50" b="1">
                <a:latin typeface="宋体"/>
                <a:cs typeface="宋体"/>
              </a:rPr>
              <a:t>缓冲器</a:t>
            </a:r>
            <a:endParaRPr sz="1300">
              <a:latin typeface="宋体"/>
              <a:cs typeface="宋体"/>
            </a:endParaRPr>
          </a:p>
        </p:txBody>
      </p:sp>
      <p:sp>
        <p:nvSpPr>
          <p:cNvPr id="135" name="object 135" descr=""/>
          <p:cNvSpPr txBox="1"/>
          <p:nvPr/>
        </p:nvSpPr>
        <p:spPr>
          <a:xfrm>
            <a:off x="322262" y="5193194"/>
            <a:ext cx="1786255" cy="229870"/>
          </a:xfrm>
          <a:prstGeom prst="rect">
            <a:avLst/>
          </a:prstGeom>
        </p:spPr>
        <p:txBody>
          <a:bodyPr wrap="square" lIns="0" tIns="17780" rIns="0" bIns="0" rtlCol="0" vert="horz">
            <a:spAutoFit/>
          </a:bodyPr>
          <a:lstStyle/>
          <a:p>
            <a:pPr marL="12700">
              <a:lnSpc>
                <a:spcPct val="100000"/>
              </a:lnSpc>
              <a:spcBef>
                <a:spcPts val="140"/>
              </a:spcBef>
              <a:tabLst>
                <a:tab pos="1052195" algn="l"/>
              </a:tabLst>
            </a:pPr>
            <a:r>
              <a:rPr dirty="0" sz="1300" b="1">
                <a:latin typeface="Times New Roman"/>
                <a:cs typeface="Times New Roman"/>
              </a:rPr>
              <a:t>store</a:t>
            </a:r>
            <a:r>
              <a:rPr dirty="0" sz="1300" spc="-50" b="1">
                <a:latin typeface="Times New Roman"/>
                <a:cs typeface="Times New Roman"/>
              </a:rPr>
              <a:t> </a:t>
            </a:r>
            <a:r>
              <a:rPr dirty="0" sz="1300" b="1">
                <a:latin typeface="宋体"/>
                <a:cs typeface="宋体"/>
              </a:rPr>
              <a:t>数</a:t>
            </a:r>
            <a:r>
              <a:rPr dirty="0" sz="1300" spc="-50" b="1">
                <a:latin typeface="宋体"/>
                <a:cs typeface="宋体"/>
              </a:rPr>
              <a:t>据</a:t>
            </a:r>
            <a:r>
              <a:rPr dirty="0" sz="1300" b="1">
                <a:latin typeface="宋体"/>
                <a:cs typeface="宋体"/>
              </a:rPr>
              <a:t>	</a:t>
            </a:r>
            <a:r>
              <a:rPr dirty="0" sz="1300" b="1">
                <a:latin typeface="Times New Roman"/>
                <a:cs typeface="Times New Roman"/>
              </a:rPr>
              <a:t>store</a:t>
            </a:r>
            <a:r>
              <a:rPr dirty="0" sz="1300" spc="-50" b="1">
                <a:latin typeface="Times New Roman"/>
                <a:cs typeface="Times New Roman"/>
              </a:rPr>
              <a:t> </a:t>
            </a:r>
            <a:r>
              <a:rPr dirty="0" sz="1300" b="1">
                <a:latin typeface="宋体"/>
                <a:cs typeface="宋体"/>
              </a:rPr>
              <a:t>地</a:t>
            </a:r>
            <a:r>
              <a:rPr dirty="0" sz="1300" spc="-50" b="1">
                <a:latin typeface="宋体"/>
                <a:cs typeface="宋体"/>
              </a:rPr>
              <a:t>址</a:t>
            </a:r>
            <a:endParaRPr sz="1300">
              <a:latin typeface="宋体"/>
              <a:cs typeface="宋体"/>
            </a:endParaRPr>
          </a:p>
        </p:txBody>
      </p:sp>
      <p:sp>
        <p:nvSpPr>
          <p:cNvPr id="136" name="object 136" descr=""/>
          <p:cNvSpPr txBox="1"/>
          <p:nvPr/>
        </p:nvSpPr>
        <p:spPr>
          <a:xfrm>
            <a:off x="7246794" y="4612992"/>
            <a:ext cx="196215" cy="229870"/>
          </a:xfrm>
          <a:prstGeom prst="rect">
            <a:avLst/>
          </a:prstGeom>
        </p:spPr>
        <p:txBody>
          <a:bodyPr wrap="square" lIns="0" tIns="17780" rIns="0" bIns="0" rtlCol="0" vert="horz">
            <a:spAutoFit/>
          </a:bodyPr>
          <a:lstStyle/>
          <a:p>
            <a:pPr marL="12700">
              <a:lnSpc>
                <a:spcPct val="100000"/>
              </a:lnSpc>
              <a:spcBef>
                <a:spcPts val="140"/>
              </a:spcBef>
            </a:pPr>
            <a:r>
              <a:rPr dirty="0" sz="1300" spc="-50" b="1">
                <a:latin typeface="宋体"/>
                <a:cs typeface="宋体"/>
              </a:rPr>
              <a:t>保</a:t>
            </a:r>
            <a:endParaRPr sz="1300">
              <a:latin typeface="宋体"/>
              <a:cs typeface="宋体"/>
            </a:endParaRPr>
          </a:p>
        </p:txBody>
      </p:sp>
      <p:sp>
        <p:nvSpPr>
          <p:cNvPr id="137" name="object 137" descr=""/>
          <p:cNvSpPr txBox="1"/>
          <p:nvPr/>
        </p:nvSpPr>
        <p:spPr>
          <a:xfrm>
            <a:off x="7246794" y="4783162"/>
            <a:ext cx="196215" cy="400050"/>
          </a:xfrm>
          <a:prstGeom prst="rect">
            <a:avLst/>
          </a:prstGeom>
        </p:spPr>
        <p:txBody>
          <a:bodyPr wrap="square" lIns="0" tIns="46355" rIns="0" bIns="0" rtlCol="0" vert="horz">
            <a:spAutoFit/>
          </a:bodyPr>
          <a:lstStyle/>
          <a:p>
            <a:pPr marL="12700" marR="5080">
              <a:lnSpc>
                <a:spcPts val="1340"/>
              </a:lnSpc>
              <a:spcBef>
                <a:spcPts val="365"/>
              </a:spcBef>
            </a:pPr>
            <a:r>
              <a:rPr dirty="0" sz="1300" spc="-50" b="1">
                <a:latin typeface="宋体"/>
                <a:cs typeface="宋体"/>
              </a:rPr>
              <a:t>留站</a:t>
            </a:r>
            <a:endParaRPr sz="1300">
              <a:latin typeface="宋体"/>
              <a:cs typeface="宋体"/>
            </a:endParaRPr>
          </a:p>
        </p:txBody>
      </p:sp>
      <p:sp>
        <p:nvSpPr>
          <p:cNvPr id="138" name="object 138" descr=""/>
          <p:cNvSpPr txBox="1"/>
          <p:nvPr/>
        </p:nvSpPr>
        <p:spPr>
          <a:xfrm>
            <a:off x="1668587" y="6074952"/>
            <a:ext cx="4580890" cy="229870"/>
          </a:xfrm>
          <a:prstGeom prst="rect">
            <a:avLst/>
          </a:prstGeom>
        </p:spPr>
        <p:txBody>
          <a:bodyPr wrap="square" lIns="0" tIns="17780" rIns="0" bIns="0" rtlCol="0" vert="horz">
            <a:spAutoFit/>
          </a:bodyPr>
          <a:lstStyle/>
          <a:p>
            <a:pPr marL="12700">
              <a:lnSpc>
                <a:spcPct val="100000"/>
              </a:lnSpc>
              <a:spcBef>
                <a:spcPts val="140"/>
              </a:spcBef>
              <a:tabLst>
                <a:tab pos="2840355" algn="l"/>
              </a:tabLst>
            </a:pPr>
            <a:r>
              <a:rPr dirty="0" baseline="2136" sz="1950" b="1">
                <a:latin typeface="Times New Roman"/>
                <a:cs typeface="Times New Roman"/>
              </a:rPr>
              <a:t>load </a:t>
            </a:r>
            <a:r>
              <a:rPr dirty="0" baseline="2136" sz="1950" spc="120" b="1">
                <a:latin typeface="宋体"/>
                <a:cs typeface="宋体"/>
              </a:rPr>
              <a:t>数</a:t>
            </a:r>
            <a:r>
              <a:rPr dirty="0" baseline="2136" sz="1950" spc="-75" b="1">
                <a:latin typeface="宋体"/>
                <a:cs typeface="宋体"/>
              </a:rPr>
              <a:t>据</a:t>
            </a:r>
            <a:r>
              <a:rPr dirty="0" baseline="2136" sz="1950" b="1">
                <a:latin typeface="宋体"/>
                <a:cs typeface="宋体"/>
              </a:rPr>
              <a:t>	</a:t>
            </a:r>
            <a:r>
              <a:rPr dirty="0" sz="1300" b="1">
                <a:solidFill>
                  <a:srgbClr val="0000FF"/>
                </a:solidFill>
                <a:latin typeface="宋体"/>
                <a:cs typeface="宋体"/>
              </a:rPr>
              <a:t>公共数据</a:t>
            </a:r>
            <a:r>
              <a:rPr dirty="0" sz="1300" spc="80" b="1">
                <a:solidFill>
                  <a:srgbClr val="0000FF"/>
                </a:solidFill>
                <a:latin typeface="宋体"/>
                <a:cs typeface="宋体"/>
              </a:rPr>
              <a:t>总</a:t>
            </a:r>
            <a:r>
              <a:rPr dirty="0" sz="1300" b="1">
                <a:solidFill>
                  <a:srgbClr val="0000FF"/>
                </a:solidFill>
                <a:latin typeface="宋体"/>
                <a:cs typeface="宋体"/>
              </a:rPr>
              <a:t>线</a:t>
            </a:r>
            <a:r>
              <a:rPr dirty="0" sz="1300" spc="-10" b="1">
                <a:solidFill>
                  <a:srgbClr val="0000FF"/>
                </a:solidFill>
                <a:latin typeface="宋体"/>
                <a:cs typeface="宋体"/>
              </a:rPr>
              <a:t>（</a:t>
            </a:r>
            <a:r>
              <a:rPr dirty="0" sz="1300" spc="-10" b="1">
                <a:solidFill>
                  <a:srgbClr val="0000FF"/>
                </a:solidFill>
                <a:latin typeface="Times New Roman"/>
                <a:cs typeface="Times New Roman"/>
              </a:rPr>
              <a:t>CDB</a:t>
            </a:r>
            <a:r>
              <a:rPr dirty="0" sz="1300" spc="-10" b="1">
                <a:solidFill>
                  <a:srgbClr val="0000FF"/>
                </a:solidFill>
                <a:latin typeface="宋体"/>
                <a:cs typeface="宋体"/>
              </a:rPr>
              <a:t>）</a:t>
            </a:r>
            <a:endParaRPr sz="1300">
              <a:latin typeface="宋体"/>
              <a:cs typeface="宋体"/>
            </a:endParaRPr>
          </a:p>
        </p:txBody>
      </p:sp>
      <p:sp>
        <p:nvSpPr>
          <p:cNvPr id="139" name="object 139" descr=""/>
          <p:cNvSpPr txBox="1"/>
          <p:nvPr/>
        </p:nvSpPr>
        <p:spPr>
          <a:xfrm>
            <a:off x="413715" y="6402120"/>
            <a:ext cx="7873365" cy="391160"/>
          </a:xfrm>
          <a:prstGeom prst="rect">
            <a:avLst/>
          </a:prstGeom>
        </p:spPr>
        <p:txBody>
          <a:bodyPr wrap="square" lIns="0" tIns="12700" rIns="0" bIns="0" rtlCol="0" vert="horz">
            <a:spAutoFit/>
          </a:bodyPr>
          <a:lstStyle/>
          <a:p>
            <a:pPr marL="12700">
              <a:lnSpc>
                <a:spcPct val="100000"/>
              </a:lnSpc>
              <a:spcBef>
                <a:spcPts val="100"/>
              </a:spcBef>
            </a:pPr>
            <a:r>
              <a:rPr dirty="0" sz="2400" spc="-225">
                <a:solidFill>
                  <a:srgbClr val="40458B"/>
                </a:solidFill>
                <a:latin typeface="黑体"/>
                <a:cs typeface="黑体"/>
              </a:rPr>
              <a:t>图 </a:t>
            </a:r>
            <a:r>
              <a:rPr dirty="0" sz="2400">
                <a:solidFill>
                  <a:srgbClr val="40458B"/>
                </a:solidFill>
                <a:latin typeface="Tahoma"/>
                <a:cs typeface="Tahoma"/>
              </a:rPr>
              <a:t>5.17</a:t>
            </a:r>
            <a:r>
              <a:rPr dirty="0" sz="2400" spc="30">
                <a:solidFill>
                  <a:srgbClr val="40458B"/>
                </a:solidFill>
                <a:latin typeface="Tahoma"/>
                <a:cs typeface="Tahoma"/>
              </a:rPr>
              <a:t> </a:t>
            </a:r>
            <a:r>
              <a:rPr dirty="0" sz="2400">
                <a:solidFill>
                  <a:srgbClr val="40458B"/>
                </a:solidFill>
                <a:latin typeface="黑体"/>
                <a:cs typeface="黑体"/>
              </a:rPr>
              <a:t>基于</a:t>
            </a:r>
            <a:r>
              <a:rPr dirty="0" sz="2400" spc="-45">
                <a:solidFill>
                  <a:srgbClr val="40458B"/>
                </a:solidFill>
                <a:latin typeface="Tahoma"/>
                <a:cs typeface="Tahoma"/>
              </a:rPr>
              <a:t>Tomasulo</a:t>
            </a:r>
            <a:r>
              <a:rPr dirty="0" sz="2400" spc="-5">
                <a:solidFill>
                  <a:srgbClr val="40458B"/>
                </a:solidFill>
                <a:latin typeface="黑体"/>
                <a:cs typeface="黑体"/>
              </a:rPr>
              <a:t>算法的支持前瞻执行的浮点部件结构</a:t>
            </a:r>
            <a:endParaRPr sz="2400">
              <a:latin typeface="黑体"/>
              <a:cs typeface="黑体"/>
            </a:endParaRPr>
          </a:p>
        </p:txBody>
      </p:sp>
      <p:sp>
        <p:nvSpPr>
          <p:cNvPr id="140" name="object 140"/>
          <p:cNvSpPr txBox="1">
            <a:spLocks noGrp="1"/>
          </p:cNvSpPr>
          <p:nvPr>
            <p:ph type="title"/>
          </p:nvPr>
        </p:nvSpPr>
        <p:spPr>
          <a:xfrm>
            <a:off x="7860030" y="352501"/>
            <a:ext cx="3928745" cy="757555"/>
          </a:xfrm>
          <a:prstGeom prst="rect"/>
        </p:spPr>
        <p:txBody>
          <a:bodyPr wrap="square" lIns="0" tIns="12700" rIns="0" bIns="0" rtlCol="0" vert="horz">
            <a:spAutoFit/>
          </a:bodyPr>
          <a:lstStyle/>
          <a:p>
            <a:pPr marL="12700">
              <a:lnSpc>
                <a:spcPct val="100000"/>
              </a:lnSpc>
              <a:spcBef>
                <a:spcPts val="100"/>
              </a:spcBef>
            </a:pPr>
            <a:r>
              <a:rPr dirty="0" sz="2400" spc="-25" b="1">
                <a:solidFill>
                  <a:srgbClr val="40458B"/>
                </a:solidFill>
                <a:latin typeface="黑体"/>
                <a:cs typeface="黑体"/>
              </a:rPr>
              <a:t>结合</a:t>
            </a:r>
            <a:r>
              <a:rPr dirty="0" sz="2400" spc="-25" b="1">
                <a:solidFill>
                  <a:srgbClr val="40458B"/>
                </a:solidFill>
                <a:latin typeface="Calibri"/>
                <a:cs typeface="Calibri"/>
              </a:rPr>
              <a:t>ROB</a:t>
            </a:r>
            <a:r>
              <a:rPr dirty="0" sz="2400" spc="-25" b="1">
                <a:solidFill>
                  <a:srgbClr val="40458B"/>
                </a:solidFill>
                <a:latin typeface="黑体"/>
                <a:cs typeface="黑体"/>
              </a:rPr>
              <a:t>的</a:t>
            </a:r>
            <a:r>
              <a:rPr dirty="0" sz="2400" spc="-35" b="1">
                <a:solidFill>
                  <a:srgbClr val="40458B"/>
                </a:solidFill>
                <a:latin typeface="Calibri"/>
                <a:cs typeface="Calibri"/>
              </a:rPr>
              <a:t>Tomasulo</a:t>
            </a:r>
            <a:r>
              <a:rPr dirty="0" sz="2400" spc="-35" b="1">
                <a:solidFill>
                  <a:srgbClr val="40458B"/>
                </a:solidFill>
                <a:latin typeface="黑体"/>
                <a:cs typeface="黑体"/>
              </a:rPr>
              <a:t>主要有三</a:t>
            </a:r>
            <a:endParaRPr sz="2400">
              <a:latin typeface="黑体"/>
              <a:cs typeface="黑体"/>
            </a:endParaRPr>
          </a:p>
          <a:p>
            <a:pPr marL="12700">
              <a:lnSpc>
                <a:spcPct val="100000"/>
              </a:lnSpc>
              <a:spcBef>
                <a:spcPts val="5"/>
              </a:spcBef>
            </a:pPr>
            <a:r>
              <a:rPr dirty="0" sz="2400" spc="-30" b="1">
                <a:solidFill>
                  <a:srgbClr val="40458B"/>
                </a:solidFill>
                <a:latin typeface="黑体"/>
                <a:cs typeface="黑体"/>
              </a:rPr>
              <a:t>点改动：</a:t>
            </a:r>
            <a:endParaRPr sz="2400">
              <a:latin typeface="黑体"/>
              <a:cs typeface="黑体"/>
            </a:endParaRPr>
          </a:p>
        </p:txBody>
      </p:sp>
      <p:sp>
        <p:nvSpPr>
          <p:cNvPr id="141" name="object 141" descr=""/>
          <p:cNvSpPr txBox="1"/>
          <p:nvPr/>
        </p:nvSpPr>
        <p:spPr>
          <a:xfrm>
            <a:off x="7860030" y="1084579"/>
            <a:ext cx="4020820" cy="2966085"/>
          </a:xfrm>
          <a:prstGeom prst="rect">
            <a:avLst/>
          </a:prstGeom>
        </p:spPr>
        <p:txBody>
          <a:bodyPr wrap="square" lIns="0" tIns="12700" rIns="0" bIns="0" rtlCol="0" vert="horz">
            <a:spAutoFit/>
          </a:bodyPr>
          <a:lstStyle/>
          <a:p>
            <a:pPr algn="just" marL="355600" marR="5080" indent="-342900">
              <a:lnSpc>
                <a:spcPct val="100000"/>
              </a:lnSpc>
              <a:spcBef>
                <a:spcPts val="100"/>
              </a:spcBef>
              <a:buFont typeface="Wingdings"/>
              <a:buChar char=""/>
              <a:tabLst>
                <a:tab pos="355600" algn="l"/>
              </a:tabLst>
            </a:pPr>
            <a:r>
              <a:rPr dirty="0" sz="2400">
                <a:solidFill>
                  <a:srgbClr val="40458B"/>
                </a:solidFill>
                <a:latin typeface="黑体"/>
                <a:cs typeface="黑体"/>
              </a:rPr>
              <a:t>一是增加了</a:t>
            </a:r>
            <a:r>
              <a:rPr dirty="0" sz="2400" spc="-10">
                <a:solidFill>
                  <a:srgbClr val="40458B"/>
                </a:solidFill>
                <a:latin typeface="Calibri"/>
                <a:cs typeface="Calibri"/>
              </a:rPr>
              <a:t>Reorder</a:t>
            </a:r>
            <a:r>
              <a:rPr dirty="0" sz="2400" spc="-125">
                <a:solidFill>
                  <a:srgbClr val="40458B"/>
                </a:solidFill>
                <a:latin typeface="Calibri"/>
                <a:cs typeface="Calibri"/>
              </a:rPr>
              <a:t> </a:t>
            </a:r>
            <a:r>
              <a:rPr dirty="0" sz="2400" spc="-10">
                <a:solidFill>
                  <a:srgbClr val="40458B"/>
                </a:solidFill>
                <a:latin typeface="Calibri"/>
                <a:cs typeface="Calibri"/>
              </a:rPr>
              <a:t>Buffer</a:t>
            </a:r>
            <a:r>
              <a:rPr dirty="0" sz="2400" spc="-10">
                <a:solidFill>
                  <a:srgbClr val="40458B"/>
                </a:solidFill>
                <a:latin typeface="黑体"/>
                <a:cs typeface="黑体"/>
              </a:rPr>
              <a:t>（</a:t>
            </a:r>
            <a:r>
              <a:rPr dirty="0" sz="2400">
                <a:solidFill>
                  <a:srgbClr val="40458B"/>
                </a:solidFill>
                <a:latin typeface="黑体"/>
                <a:cs typeface="黑体"/>
              </a:rPr>
              <a:t>即</a:t>
            </a:r>
            <a:r>
              <a:rPr dirty="0" sz="2400" spc="-10">
                <a:solidFill>
                  <a:srgbClr val="40458B"/>
                </a:solidFill>
                <a:latin typeface="Calibri"/>
                <a:cs typeface="Calibri"/>
              </a:rPr>
              <a:t>ROB</a:t>
            </a:r>
            <a:r>
              <a:rPr dirty="0" sz="2400" spc="-10">
                <a:solidFill>
                  <a:srgbClr val="40458B"/>
                </a:solidFill>
                <a:latin typeface="黑体"/>
                <a:cs typeface="黑体"/>
              </a:rPr>
              <a:t>）；</a:t>
            </a:r>
            <a:endParaRPr sz="2400">
              <a:latin typeface="黑体"/>
              <a:cs typeface="黑体"/>
            </a:endParaRPr>
          </a:p>
          <a:p>
            <a:pPr algn="r" marL="342265" marR="92075" indent="-342265">
              <a:lnSpc>
                <a:spcPct val="100000"/>
              </a:lnSpc>
              <a:buFont typeface="Wingdings"/>
              <a:buChar char=""/>
              <a:tabLst>
                <a:tab pos="342265" algn="l"/>
              </a:tabLst>
            </a:pPr>
            <a:r>
              <a:rPr dirty="0" sz="2400" spc="-10">
                <a:solidFill>
                  <a:srgbClr val="40458B"/>
                </a:solidFill>
                <a:latin typeface="黑体"/>
                <a:cs typeface="黑体"/>
              </a:rPr>
              <a:t>二是</a:t>
            </a:r>
            <a:r>
              <a:rPr dirty="0" sz="2400">
                <a:solidFill>
                  <a:srgbClr val="40458B"/>
                </a:solidFill>
                <a:latin typeface="Calibri"/>
                <a:cs typeface="Calibri"/>
              </a:rPr>
              <a:t>CDB</a:t>
            </a:r>
            <a:r>
              <a:rPr dirty="0" sz="2400" spc="-20">
                <a:solidFill>
                  <a:srgbClr val="40458B"/>
                </a:solidFill>
                <a:latin typeface="黑体"/>
                <a:cs typeface="黑体"/>
              </a:rPr>
              <a:t>总线不再直通逻辑</a:t>
            </a:r>
            <a:endParaRPr sz="2400">
              <a:latin typeface="黑体"/>
              <a:cs typeface="黑体"/>
            </a:endParaRPr>
          </a:p>
          <a:p>
            <a:pPr algn="r" marR="78105">
              <a:lnSpc>
                <a:spcPct val="100000"/>
              </a:lnSpc>
            </a:pPr>
            <a:r>
              <a:rPr dirty="0" sz="2400">
                <a:solidFill>
                  <a:srgbClr val="40458B"/>
                </a:solidFill>
                <a:latin typeface="黑体"/>
                <a:cs typeface="黑体"/>
              </a:rPr>
              <a:t>寄存器堆，而是直通</a:t>
            </a:r>
            <a:r>
              <a:rPr dirty="0" sz="2400" spc="-20">
                <a:solidFill>
                  <a:srgbClr val="40458B"/>
                </a:solidFill>
                <a:latin typeface="Calibri"/>
                <a:cs typeface="Calibri"/>
              </a:rPr>
              <a:t>ROB</a:t>
            </a:r>
            <a:r>
              <a:rPr dirty="0" sz="2400" spc="-20">
                <a:solidFill>
                  <a:srgbClr val="40458B"/>
                </a:solidFill>
                <a:latin typeface="黑体"/>
                <a:cs typeface="黑体"/>
              </a:rPr>
              <a:t>；</a:t>
            </a:r>
            <a:endParaRPr sz="2400">
              <a:latin typeface="黑体"/>
              <a:cs typeface="黑体"/>
            </a:endParaRPr>
          </a:p>
          <a:p>
            <a:pPr algn="just" marL="355600" marR="27940" indent="-342900">
              <a:lnSpc>
                <a:spcPct val="100000"/>
              </a:lnSpc>
              <a:buFont typeface="Wingdings"/>
              <a:buChar char=""/>
              <a:tabLst>
                <a:tab pos="355600" algn="l"/>
              </a:tabLst>
            </a:pPr>
            <a:r>
              <a:rPr dirty="0" sz="2400">
                <a:solidFill>
                  <a:srgbClr val="40458B"/>
                </a:solidFill>
                <a:latin typeface="黑体"/>
                <a:cs typeface="黑体"/>
              </a:rPr>
              <a:t>三是指令需要从</a:t>
            </a:r>
            <a:r>
              <a:rPr dirty="0" sz="2400" spc="-10">
                <a:solidFill>
                  <a:srgbClr val="40458B"/>
                </a:solidFill>
                <a:latin typeface="Calibri"/>
                <a:cs typeface="Calibri"/>
              </a:rPr>
              <a:t>ROB</a:t>
            </a:r>
            <a:r>
              <a:rPr dirty="0" sz="2400" spc="-20">
                <a:solidFill>
                  <a:srgbClr val="40458B"/>
                </a:solidFill>
                <a:latin typeface="黑体"/>
                <a:cs typeface="黑体"/>
              </a:rPr>
              <a:t>读取数</a:t>
            </a:r>
            <a:r>
              <a:rPr dirty="0" sz="2400">
                <a:solidFill>
                  <a:srgbClr val="40458B"/>
                </a:solidFill>
                <a:latin typeface="黑体"/>
                <a:cs typeface="黑体"/>
              </a:rPr>
              <a:t>据。</a:t>
            </a:r>
            <a:r>
              <a:rPr dirty="0" sz="2400" spc="-25" b="1">
                <a:solidFill>
                  <a:srgbClr val="40458B"/>
                </a:solidFill>
                <a:latin typeface="Calibri"/>
                <a:cs typeface="Calibri"/>
              </a:rPr>
              <a:t>ROB</a:t>
            </a:r>
            <a:r>
              <a:rPr dirty="0" sz="2400" spc="-25" b="1">
                <a:solidFill>
                  <a:srgbClr val="40458B"/>
                </a:solidFill>
                <a:latin typeface="黑体"/>
                <a:cs typeface="黑体"/>
              </a:rPr>
              <a:t>在这里就像是一个</a:t>
            </a:r>
            <a:r>
              <a:rPr dirty="0" sz="2400" spc="-50" b="1">
                <a:solidFill>
                  <a:srgbClr val="40458B"/>
                </a:solidFill>
                <a:latin typeface="黑体"/>
                <a:cs typeface="黑体"/>
              </a:rPr>
              <a:t> </a:t>
            </a:r>
            <a:r>
              <a:rPr dirty="0" sz="2400" spc="-10" b="1">
                <a:solidFill>
                  <a:srgbClr val="40458B"/>
                </a:solidFill>
                <a:latin typeface="Calibri"/>
                <a:cs typeface="Calibri"/>
              </a:rPr>
              <a:t>FIFO</a:t>
            </a:r>
            <a:r>
              <a:rPr dirty="0" sz="2400" spc="-30" b="1">
                <a:solidFill>
                  <a:srgbClr val="40458B"/>
                </a:solidFill>
                <a:latin typeface="黑体"/>
                <a:cs typeface="黑体"/>
              </a:rPr>
              <a:t>队列，指令在发射时入</a:t>
            </a:r>
            <a:endParaRPr sz="2400">
              <a:latin typeface="黑体"/>
              <a:cs typeface="黑体"/>
            </a:endParaRPr>
          </a:p>
          <a:p>
            <a:pPr marL="355600">
              <a:lnSpc>
                <a:spcPct val="100000"/>
              </a:lnSpc>
              <a:spcBef>
                <a:spcPts val="110"/>
              </a:spcBef>
            </a:pPr>
            <a:r>
              <a:rPr dirty="0" sz="2400" spc="-25" b="1">
                <a:solidFill>
                  <a:srgbClr val="40458B"/>
                </a:solidFill>
                <a:latin typeface="黑体"/>
                <a:cs typeface="黑体"/>
              </a:rPr>
              <a:t>队，在提交时出队。</a:t>
            </a:r>
            <a:endParaRPr sz="2400">
              <a:latin typeface="黑体"/>
              <a:cs typeface="黑体"/>
            </a:endParaRPr>
          </a:p>
        </p:txBody>
      </p:sp>
      <p:sp>
        <p:nvSpPr>
          <p:cNvPr id="142" name="object 142" descr=""/>
          <p:cNvSpPr txBox="1"/>
          <p:nvPr/>
        </p:nvSpPr>
        <p:spPr>
          <a:xfrm>
            <a:off x="8191881" y="4831156"/>
            <a:ext cx="3378200" cy="148971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Tahoma"/>
                <a:cs typeface="Tahoma"/>
              </a:rPr>
              <a:t>ROB</a:t>
            </a:r>
            <a:r>
              <a:rPr dirty="0" sz="2400" spc="-15">
                <a:solidFill>
                  <a:srgbClr val="40458B"/>
                </a:solidFill>
                <a:latin typeface="黑体"/>
                <a:cs typeface="黑体"/>
              </a:rPr>
              <a:t>在每条指令发射的时</a:t>
            </a:r>
            <a:endParaRPr sz="2400">
              <a:latin typeface="黑体"/>
              <a:cs typeface="黑体"/>
            </a:endParaRPr>
          </a:p>
          <a:p>
            <a:pPr marL="12700">
              <a:lnSpc>
                <a:spcPct val="100000"/>
              </a:lnSpc>
              <a:spcBef>
                <a:spcPts val="75"/>
              </a:spcBef>
            </a:pPr>
            <a:r>
              <a:rPr dirty="0" sz="2400" spc="-5">
                <a:solidFill>
                  <a:srgbClr val="40458B"/>
                </a:solidFill>
                <a:latin typeface="黑体"/>
                <a:cs typeface="黑体"/>
              </a:rPr>
              <a:t>候也会为其分配一个编号</a:t>
            </a:r>
            <a:endParaRPr sz="2400">
              <a:latin typeface="黑体"/>
              <a:cs typeface="黑体"/>
            </a:endParaRPr>
          </a:p>
          <a:p>
            <a:pPr marL="12700" marR="5080">
              <a:lnSpc>
                <a:spcPts val="2810"/>
              </a:lnSpc>
              <a:spcBef>
                <a:spcPts val="155"/>
              </a:spcBef>
            </a:pPr>
            <a:r>
              <a:rPr dirty="0" sz="2400" spc="-5">
                <a:solidFill>
                  <a:srgbClr val="40458B"/>
                </a:solidFill>
                <a:latin typeface="黑体"/>
                <a:cs typeface="黑体"/>
              </a:rPr>
              <a:t>，这个编号正好可以取代</a:t>
            </a:r>
            <a:r>
              <a:rPr dirty="0" sz="2400" spc="-20">
                <a:solidFill>
                  <a:srgbClr val="40458B"/>
                </a:solidFill>
                <a:latin typeface="黑体"/>
                <a:cs typeface="黑体"/>
              </a:rPr>
              <a:t>保留站编号</a:t>
            </a:r>
            <a:endParaRPr sz="2400">
              <a:latin typeface="黑体"/>
              <a:cs typeface="黑体"/>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141/175</a:t>
            </a:r>
            <a:endParaRPr sz="1600">
              <a:latin typeface="宋体"/>
              <a:cs typeface="宋体"/>
            </a:endParaRPr>
          </a:p>
        </p:txBody>
      </p:sp>
      <p:grpSp>
        <p:nvGrpSpPr>
          <p:cNvPr id="3" name="object 3" descr=""/>
          <p:cNvGrpSpPr/>
          <p:nvPr/>
        </p:nvGrpSpPr>
        <p:grpSpPr>
          <a:xfrm>
            <a:off x="68262" y="311150"/>
            <a:ext cx="12143105" cy="400050"/>
            <a:chOff x="68262" y="311150"/>
            <a:chExt cx="12143105" cy="400050"/>
          </a:xfrm>
        </p:grpSpPr>
        <p:sp>
          <p:nvSpPr>
            <p:cNvPr id="4" name="object 4" descr=""/>
            <p:cNvSpPr/>
            <p:nvPr/>
          </p:nvSpPr>
          <p:spPr>
            <a:xfrm>
              <a:off x="990600" y="692150"/>
              <a:ext cx="11201400" cy="0"/>
            </a:xfrm>
            <a:custGeom>
              <a:avLst/>
              <a:gdLst/>
              <a:ahLst/>
              <a:cxnLst/>
              <a:rect l="l" t="t" r="r" b="b"/>
              <a:pathLst>
                <a:path w="11201400" h="0">
                  <a:moveTo>
                    <a:pt x="0" y="0"/>
                  </a:moveTo>
                  <a:lnTo>
                    <a:pt x="4455645" y="0"/>
                  </a:lnTo>
                </a:path>
                <a:path w="11201400" h="0">
                  <a:moveTo>
                    <a:pt x="5328121" y="0"/>
                  </a:moveTo>
                  <a:lnTo>
                    <a:pt x="11201400" y="0"/>
                  </a:lnTo>
                </a:path>
              </a:pathLst>
            </a:custGeom>
            <a:ln w="38100">
              <a:solidFill>
                <a:srgbClr val="2C44A3"/>
              </a:solidFill>
            </a:ln>
          </p:spPr>
          <p:txBody>
            <a:bodyPr wrap="square" lIns="0" tIns="0" rIns="0" bIns="0" rtlCol="0"/>
            <a:lstStyle/>
            <a:p/>
          </p:txBody>
        </p:sp>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3109960" y="816929"/>
            <a:ext cx="1052195" cy="229870"/>
          </a:xfrm>
          <a:prstGeom prst="rect">
            <a:avLst/>
          </a:prstGeom>
        </p:spPr>
        <p:txBody>
          <a:bodyPr wrap="square" lIns="0" tIns="17780" rIns="0" bIns="0" rtlCol="0" vert="horz">
            <a:spAutoFit/>
          </a:bodyPr>
          <a:lstStyle/>
          <a:p>
            <a:pPr marL="12700">
              <a:lnSpc>
                <a:spcPct val="100000"/>
              </a:lnSpc>
              <a:spcBef>
                <a:spcPts val="140"/>
              </a:spcBef>
            </a:pPr>
            <a:r>
              <a:rPr dirty="0" sz="1300" b="1">
                <a:latin typeface="宋体"/>
                <a:cs typeface="宋体"/>
              </a:rPr>
              <a:t>从指令部件来</a:t>
            </a:r>
            <a:endParaRPr sz="1300">
              <a:latin typeface="宋体"/>
              <a:cs typeface="宋体"/>
            </a:endParaRPr>
          </a:p>
        </p:txBody>
      </p:sp>
      <p:sp>
        <p:nvSpPr>
          <p:cNvPr id="10" name="object 10" descr=""/>
          <p:cNvSpPr txBox="1"/>
          <p:nvPr/>
        </p:nvSpPr>
        <p:spPr>
          <a:xfrm>
            <a:off x="6400636" y="2391176"/>
            <a:ext cx="1127125" cy="229870"/>
          </a:xfrm>
          <a:prstGeom prst="rect">
            <a:avLst/>
          </a:prstGeom>
        </p:spPr>
        <p:txBody>
          <a:bodyPr wrap="square" lIns="0" tIns="17780" rIns="0" bIns="0" rtlCol="0" vert="horz">
            <a:spAutoFit/>
          </a:bodyPr>
          <a:lstStyle/>
          <a:p>
            <a:pPr marL="12700">
              <a:lnSpc>
                <a:spcPct val="100000"/>
              </a:lnSpc>
              <a:spcBef>
                <a:spcPts val="140"/>
              </a:spcBef>
            </a:pPr>
            <a:r>
              <a:rPr dirty="0" sz="1300" spc="-20" b="1">
                <a:latin typeface="宋体"/>
                <a:cs typeface="宋体"/>
              </a:rPr>
              <a:t>浮点寄存器 </a:t>
            </a:r>
            <a:r>
              <a:rPr dirty="0" sz="1300" spc="-25" b="1">
                <a:latin typeface="Times New Roman"/>
                <a:cs typeface="Times New Roman"/>
              </a:rPr>
              <a:t>FP</a:t>
            </a:r>
            <a:endParaRPr sz="1300">
              <a:latin typeface="Times New Roman"/>
              <a:cs typeface="Times New Roman"/>
            </a:endParaRPr>
          </a:p>
        </p:txBody>
      </p:sp>
      <p:sp>
        <p:nvSpPr>
          <p:cNvPr id="11" name="object 11" descr=""/>
          <p:cNvSpPr txBox="1"/>
          <p:nvPr/>
        </p:nvSpPr>
        <p:spPr>
          <a:xfrm>
            <a:off x="1676306" y="3294898"/>
            <a:ext cx="952500" cy="292735"/>
          </a:xfrm>
          <a:prstGeom prst="rect">
            <a:avLst/>
          </a:prstGeom>
          <a:solidFill>
            <a:srgbClr val="D9FFD9"/>
          </a:solidFill>
          <a:ln w="14031">
            <a:solidFill>
              <a:srgbClr val="000000"/>
            </a:solidFill>
          </a:ln>
        </p:spPr>
        <p:txBody>
          <a:bodyPr wrap="square" lIns="0" tIns="50165" rIns="0" bIns="0" rtlCol="0" vert="horz">
            <a:spAutoFit/>
          </a:bodyPr>
          <a:lstStyle/>
          <a:p>
            <a:pPr marL="140335">
              <a:lnSpc>
                <a:spcPct val="100000"/>
              </a:lnSpc>
              <a:spcBef>
                <a:spcPts val="395"/>
              </a:spcBef>
            </a:pPr>
            <a:r>
              <a:rPr dirty="0" sz="1300" spc="-15" b="1">
                <a:latin typeface="宋体"/>
                <a:cs typeface="宋体"/>
              </a:rPr>
              <a:t>地址部件</a:t>
            </a:r>
            <a:endParaRPr sz="1300">
              <a:latin typeface="宋体"/>
              <a:cs typeface="宋体"/>
            </a:endParaRPr>
          </a:p>
        </p:txBody>
      </p:sp>
      <p:sp>
        <p:nvSpPr>
          <p:cNvPr id="12" name="object 12" descr=""/>
          <p:cNvSpPr txBox="1"/>
          <p:nvPr/>
        </p:nvSpPr>
        <p:spPr>
          <a:xfrm>
            <a:off x="1525900" y="2798121"/>
            <a:ext cx="1133475" cy="229870"/>
          </a:xfrm>
          <a:prstGeom prst="rect">
            <a:avLst/>
          </a:prstGeom>
        </p:spPr>
        <p:txBody>
          <a:bodyPr wrap="square" lIns="0" tIns="17780" rIns="0" bIns="0" rtlCol="0" vert="horz">
            <a:spAutoFit/>
          </a:bodyPr>
          <a:lstStyle/>
          <a:p>
            <a:pPr marL="12700">
              <a:lnSpc>
                <a:spcPct val="100000"/>
              </a:lnSpc>
              <a:spcBef>
                <a:spcPts val="140"/>
              </a:spcBef>
            </a:pPr>
            <a:r>
              <a:rPr dirty="0" sz="1300">
                <a:latin typeface="Times New Roman"/>
                <a:cs typeface="Times New Roman"/>
              </a:rPr>
              <a:t>l</a:t>
            </a:r>
            <a:r>
              <a:rPr dirty="0" sz="1300" b="1">
                <a:latin typeface="Times New Roman"/>
                <a:cs typeface="Times New Roman"/>
              </a:rPr>
              <a:t>oad/store</a:t>
            </a:r>
            <a:r>
              <a:rPr dirty="0" sz="1300" spc="80" b="1">
                <a:latin typeface="Times New Roman"/>
                <a:cs typeface="Times New Roman"/>
              </a:rPr>
              <a:t> </a:t>
            </a:r>
            <a:r>
              <a:rPr dirty="0" sz="1300" spc="55" b="1">
                <a:latin typeface="宋体"/>
                <a:cs typeface="宋体"/>
              </a:rPr>
              <a:t>操作</a:t>
            </a:r>
            <a:endParaRPr sz="1300">
              <a:latin typeface="宋体"/>
              <a:cs typeface="宋体"/>
            </a:endParaRPr>
          </a:p>
        </p:txBody>
      </p:sp>
      <p:sp>
        <p:nvSpPr>
          <p:cNvPr id="13" name="object 13" descr=""/>
          <p:cNvSpPr txBox="1"/>
          <p:nvPr/>
        </p:nvSpPr>
        <p:spPr>
          <a:xfrm>
            <a:off x="3898764" y="3035238"/>
            <a:ext cx="705485" cy="229870"/>
          </a:xfrm>
          <a:prstGeom prst="rect">
            <a:avLst/>
          </a:prstGeom>
        </p:spPr>
        <p:txBody>
          <a:bodyPr wrap="square" lIns="0" tIns="17780" rIns="0" bIns="0" rtlCol="0" vert="horz">
            <a:spAutoFit/>
          </a:bodyPr>
          <a:lstStyle/>
          <a:p>
            <a:pPr marL="12700">
              <a:lnSpc>
                <a:spcPct val="100000"/>
              </a:lnSpc>
              <a:spcBef>
                <a:spcPts val="140"/>
              </a:spcBef>
            </a:pPr>
            <a:r>
              <a:rPr dirty="0" sz="1300" spc="-15" b="1">
                <a:latin typeface="宋体"/>
                <a:cs typeface="宋体"/>
              </a:rPr>
              <a:t>浮点操作</a:t>
            </a:r>
            <a:endParaRPr sz="1300">
              <a:latin typeface="宋体"/>
              <a:cs typeface="宋体"/>
            </a:endParaRPr>
          </a:p>
        </p:txBody>
      </p:sp>
      <p:sp>
        <p:nvSpPr>
          <p:cNvPr id="14" name="object 14" descr=""/>
          <p:cNvSpPr txBox="1"/>
          <p:nvPr/>
        </p:nvSpPr>
        <p:spPr>
          <a:xfrm>
            <a:off x="6115187" y="3463105"/>
            <a:ext cx="875030" cy="229870"/>
          </a:xfrm>
          <a:prstGeom prst="rect">
            <a:avLst/>
          </a:prstGeom>
        </p:spPr>
        <p:txBody>
          <a:bodyPr wrap="square" lIns="0" tIns="17780" rIns="0" bIns="0" rtlCol="0" vert="horz">
            <a:spAutoFit/>
          </a:bodyPr>
          <a:lstStyle/>
          <a:p>
            <a:pPr marL="12700">
              <a:lnSpc>
                <a:spcPct val="100000"/>
              </a:lnSpc>
              <a:spcBef>
                <a:spcPts val="140"/>
              </a:spcBef>
            </a:pPr>
            <a:r>
              <a:rPr dirty="0" sz="1300" spc="-10" b="1">
                <a:latin typeface="宋体"/>
                <a:cs typeface="宋体"/>
              </a:rPr>
              <a:t>操作数总线</a:t>
            </a:r>
            <a:endParaRPr sz="1300">
              <a:latin typeface="宋体"/>
              <a:cs typeface="宋体"/>
            </a:endParaRPr>
          </a:p>
        </p:txBody>
      </p:sp>
      <p:sp>
        <p:nvSpPr>
          <p:cNvPr id="15" name="object 15" descr=""/>
          <p:cNvSpPr txBox="1"/>
          <p:nvPr/>
        </p:nvSpPr>
        <p:spPr>
          <a:xfrm>
            <a:off x="4714547" y="4086998"/>
            <a:ext cx="705485" cy="229870"/>
          </a:xfrm>
          <a:prstGeom prst="rect">
            <a:avLst/>
          </a:prstGeom>
        </p:spPr>
        <p:txBody>
          <a:bodyPr wrap="square" lIns="0" tIns="17780" rIns="0" bIns="0" rtlCol="0" vert="horz">
            <a:spAutoFit/>
          </a:bodyPr>
          <a:lstStyle/>
          <a:p>
            <a:pPr marL="12700">
              <a:lnSpc>
                <a:spcPct val="100000"/>
              </a:lnSpc>
              <a:spcBef>
                <a:spcPts val="140"/>
              </a:spcBef>
            </a:pPr>
            <a:r>
              <a:rPr dirty="0" sz="1300" spc="-15" b="1">
                <a:latin typeface="宋体"/>
                <a:cs typeface="宋体"/>
              </a:rPr>
              <a:t>操作总线</a:t>
            </a:r>
            <a:endParaRPr sz="1300">
              <a:latin typeface="宋体"/>
              <a:cs typeface="宋体"/>
            </a:endParaRPr>
          </a:p>
        </p:txBody>
      </p:sp>
      <p:grpSp>
        <p:nvGrpSpPr>
          <p:cNvPr id="16" name="object 16" descr=""/>
          <p:cNvGrpSpPr/>
          <p:nvPr/>
        </p:nvGrpSpPr>
        <p:grpSpPr>
          <a:xfrm>
            <a:off x="1869232" y="2061240"/>
            <a:ext cx="5369560" cy="3169920"/>
            <a:chOff x="1869232" y="2061240"/>
            <a:chExt cx="5369560" cy="3169920"/>
          </a:xfrm>
        </p:grpSpPr>
        <p:sp>
          <p:nvSpPr>
            <p:cNvPr id="17" name="object 17" descr=""/>
            <p:cNvSpPr/>
            <p:nvPr/>
          </p:nvSpPr>
          <p:spPr>
            <a:xfrm>
              <a:off x="3264913" y="2068542"/>
              <a:ext cx="872490" cy="876300"/>
            </a:xfrm>
            <a:custGeom>
              <a:avLst/>
              <a:gdLst/>
              <a:ahLst/>
              <a:cxnLst/>
              <a:rect l="l" t="t" r="r" b="b"/>
              <a:pathLst>
                <a:path w="872489" h="876300">
                  <a:moveTo>
                    <a:pt x="872476" y="0"/>
                  </a:moveTo>
                  <a:lnTo>
                    <a:pt x="0" y="0"/>
                  </a:lnTo>
                  <a:lnTo>
                    <a:pt x="0" y="875882"/>
                  </a:lnTo>
                  <a:lnTo>
                    <a:pt x="872476" y="875882"/>
                  </a:lnTo>
                  <a:lnTo>
                    <a:pt x="872476" y="0"/>
                  </a:lnTo>
                  <a:close/>
                </a:path>
              </a:pathLst>
            </a:custGeom>
            <a:solidFill>
              <a:srgbClr val="FFCC99"/>
            </a:solidFill>
          </p:spPr>
          <p:txBody>
            <a:bodyPr wrap="square" lIns="0" tIns="0" rIns="0" bIns="0" rtlCol="0"/>
            <a:lstStyle/>
            <a:p/>
          </p:txBody>
        </p:sp>
        <p:sp>
          <p:nvSpPr>
            <p:cNvPr id="18" name="object 18" descr=""/>
            <p:cNvSpPr/>
            <p:nvPr/>
          </p:nvSpPr>
          <p:spPr>
            <a:xfrm>
              <a:off x="3264913" y="2068542"/>
              <a:ext cx="872490" cy="876300"/>
            </a:xfrm>
            <a:custGeom>
              <a:avLst/>
              <a:gdLst/>
              <a:ahLst/>
              <a:cxnLst/>
              <a:rect l="l" t="t" r="r" b="b"/>
              <a:pathLst>
                <a:path w="872489" h="876300">
                  <a:moveTo>
                    <a:pt x="0" y="875882"/>
                  </a:moveTo>
                  <a:lnTo>
                    <a:pt x="872476" y="875882"/>
                  </a:lnTo>
                  <a:lnTo>
                    <a:pt x="872476" y="0"/>
                  </a:lnTo>
                  <a:lnTo>
                    <a:pt x="0" y="0"/>
                  </a:lnTo>
                  <a:lnTo>
                    <a:pt x="0" y="875882"/>
                  </a:lnTo>
                  <a:close/>
                </a:path>
              </a:pathLst>
            </a:custGeom>
            <a:ln w="14036">
              <a:solidFill>
                <a:srgbClr val="000000"/>
              </a:solidFill>
            </a:ln>
          </p:spPr>
          <p:txBody>
            <a:bodyPr wrap="square" lIns="0" tIns="0" rIns="0" bIns="0" rtlCol="0"/>
            <a:lstStyle/>
            <a:p/>
          </p:txBody>
        </p:sp>
        <p:sp>
          <p:nvSpPr>
            <p:cNvPr id="19" name="object 19" descr=""/>
            <p:cNvSpPr/>
            <p:nvPr/>
          </p:nvSpPr>
          <p:spPr>
            <a:xfrm>
              <a:off x="3264903" y="2236431"/>
              <a:ext cx="873125" cy="539750"/>
            </a:xfrm>
            <a:custGeom>
              <a:avLst/>
              <a:gdLst/>
              <a:ahLst/>
              <a:cxnLst/>
              <a:rect l="l" t="t" r="r" b="b"/>
              <a:pathLst>
                <a:path w="873125" h="539750">
                  <a:moveTo>
                    <a:pt x="872578" y="525691"/>
                  </a:moveTo>
                  <a:lnTo>
                    <a:pt x="0" y="525691"/>
                  </a:lnTo>
                  <a:lnTo>
                    <a:pt x="0" y="539724"/>
                  </a:lnTo>
                  <a:lnTo>
                    <a:pt x="872578" y="539724"/>
                  </a:lnTo>
                  <a:lnTo>
                    <a:pt x="872578" y="525691"/>
                  </a:lnTo>
                  <a:close/>
                </a:path>
                <a:path w="873125" h="539750">
                  <a:moveTo>
                    <a:pt x="872578" y="350964"/>
                  </a:moveTo>
                  <a:lnTo>
                    <a:pt x="0" y="350964"/>
                  </a:lnTo>
                  <a:lnTo>
                    <a:pt x="0" y="364998"/>
                  </a:lnTo>
                  <a:lnTo>
                    <a:pt x="872578" y="364998"/>
                  </a:lnTo>
                  <a:lnTo>
                    <a:pt x="872578" y="350964"/>
                  </a:lnTo>
                  <a:close/>
                </a:path>
                <a:path w="873125" h="539750">
                  <a:moveTo>
                    <a:pt x="872578" y="175107"/>
                  </a:moveTo>
                  <a:lnTo>
                    <a:pt x="0" y="175107"/>
                  </a:lnTo>
                  <a:lnTo>
                    <a:pt x="0" y="189128"/>
                  </a:lnTo>
                  <a:lnTo>
                    <a:pt x="872578" y="189128"/>
                  </a:lnTo>
                  <a:lnTo>
                    <a:pt x="872578" y="175107"/>
                  </a:lnTo>
                  <a:close/>
                </a:path>
                <a:path w="873125" h="539750">
                  <a:moveTo>
                    <a:pt x="872578" y="0"/>
                  </a:moveTo>
                  <a:lnTo>
                    <a:pt x="0" y="0"/>
                  </a:lnTo>
                  <a:lnTo>
                    <a:pt x="0" y="14033"/>
                  </a:lnTo>
                  <a:lnTo>
                    <a:pt x="872578" y="14033"/>
                  </a:lnTo>
                  <a:lnTo>
                    <a:pt x="872578" y="0"/>
                  </a:lnTo>
                  <a:close/>
                </a:path>
              </a:pathLst>
            </a:custGeom>
            <a:solidFill>
              <a:srgbClr val="000000"/>
            </a:solidFill>
          </p:spPr>
          <p:txBody>
            <a:bodyPr wrap="square" lIns="0" tIns="0" rIns="0" bIns="0" rtlCol="0"/>
            <a:lstStyle/>
            <a:p/>
          </p:txBody>
        </p:sp>
        <p:sp>
          <p:nvSpPr>
            <p:cNvPr id="20" name="object 20" descr=""/>
            <p:cNvSpPr/>
            <p:nvPr/>
          </p:nvSpPr>
          <p:spPr>
            <a:xfrm>
              <a:off x="1876535" y="3879511"/>
              <a:ext cx="595630" cy="1285240"/>
            </a:xfrm>
            <a:custGeom>
              <a:avLst/>
              <a:gdLst/>
              <a:ahLst/>
              <a:cxnLst/>
              <a:rect l="l" t="t" r="r" b="b"/>
              <a:pathLst>
                <a:path w="595630" h="1285239">
                  <a:moveTo>
                    <a:pt x="595253" y="0"/>
                  </a:moveTo>
                  <a:lnTo>
                    <a:pt x="0" y="0"/>
                  </a:lnTo>
                  <a:lnTo>
                    <a:pt x="0" y="1285145"/>
                  </a:lnTo>
                  <a:lnTo>
                    <a:pt x="595253" y="1285145"/>
                  </a:lnTo>
                  <a:lnTo>
                    <a:pt x="595253" y="0"/>
                  </a:lnTo>
                  <a:close/>
                </a:path>
              </a:pathLst>
            </a:custGeom>
            <a:solidFill>
              <a:srgbClr val="CCFFCC"/>
            </a:solidFill>
          </p:spPr>
          <p:txBody>
            <a:bodyPr wrap="square" lIns="0" tIns="0" rIns="0" bIns="0" rtlCol="0"/>
            <a:lstStyle/>
            <a:p/>
          </p:txBody>
        </p:sp>
        <p:sp>
          <p:nvSpPr>
            <p:cNvPr id="21" name="object 21" descr=""/>
            <p:cNvSpPr/>
            <p:nvPr/>
          </p:nvSpPr>
          <p:spPr>
            <a:xfrm>
              <a:off x="1876535" y="3879511"/>
              <a:ext cx="595630" cy="1285240"/>
            </a:xfrm>
            <a:custGeom>
              <a:avLst/>
              <a:gdLst/>
              <a:ahLst/>
              <a:cxnLst/>
              <a:rect l="l" t="t" r="r" b="b"/>
              <a:pathLst>
                <a:path w="595630" h="1285239">
                  <a:moveTo>
                    <a:pt x="0" y="1285145"/>
                  </a:moveTo>
                  <a:lnTo>
                    <a:pt x="595253" y="1285145"/>
                  </a:lnTo>
                  <a:lnTo>
                    <a:pt x="595253" y="0"/>
                  </a:lnTo>
                  <a:lnTo>
                    <a:pt x="0" y="0"/>
                  </a:lnTo>
                  <a:lnTo>
                    <a:pt x="0" y="1285145"/>
                  </a:lnTo>
                  <a:close/>
                </a:path>
              </a:pathLst>
            </a:custGeom>
            <a:ln w="14040">
              <a:solidFill>
                <a:srgbClr val="000000"/>
              </a:solidFill>
            </a:ln>
          </p:spPr>
          <p:txBody>
            <a:bodyPr wrap="square" lIns="0" tIns="0" rIns="0" bIns="0" rtlCol="0"/>
            <a:lstStyle/>
            <a:p/>
          </p:txBody>
        </p:sp>
        <p:sp>
          <p:nvSpPr>
            <p:cNvPr id="22" name="object 22" descr=""/>
            <p:cNvSpPr/>
            <p:nvPr/>
          </p:nvSpPr>
          <p:spPr>
            <a:xfrm>
              <a:off x="1876526" y="4086250"/>
              <a:ext cx="595630" cy="871855"/>
            </a:xfrm>
            <a:custGeom>
              <a:avLst/>
              <a:gdLst/>
              <a:ahLst/>
              <a:cxnLst/>
              <a:rect l="l" t="t" r="r" b="b"/>
              <a:pathLst>
                <a:path w="595630" h="871854">
                  <a:moveTo>
                    <a:pt x="595236" y="857275"/>
                  </a:moveTo>
                  <a:lnTo>
                    <a:pt x="0" y="857275"/>
                  </a:lnTo>
                  <a:lnTo>
                    <a:pt x="0" y="871308"/>
                  </a:lnTo>
                  <a:lnTo>
                    <a:pt x="595236" y="871308"/>
                  </a:lnTo>
                  <a:lnTo>
                    <a:pt x="595236" y="857275"/>
                  </a:lnTo>
                  <a:close/>
                </a:path>
                <a:path w="595630" h="871854">
                  <a:moveTo>
                    <a:pt x="595236" y="642696"/>
                  </a:moveTo>
                  <a:lnTo>
                    <a:pt x="0" y="642696"/>
                  </a:lnTo>
                  <a:lnTo>
                    <a:pt x="0" y="656729"/>
                  </a:lnTo>
                  <a:lnTo>
                    <a:pt x="595236" y="656729"/>
                  </a:lnTo>
                  <a:lnTo>
                    <a:pt x="595236" y="642696"/>
                  </a:lnTo>
                  <a:close/>
                </a:path>
                <a:path w="595630" h="871854">
                  <a:moveTo>
                    <a:pt x="595236" y="428599"/>
                  </a:moveTo>
                  <a:lnTo>
                    <a:pt x="0" y="428599"/>
                  </a:lnTo>
                  <a:lnTo>
                    <a:pt x="0" y="442633"/>
                  </a:lnTo>
                  <a:lnTo>
                    <a:pt x="595236" y="442633"/>
                  </a:lnTo>
                  <a:lnTo>
                    <a:pt x="595236" y="428599"/>
                  </a:lnTo>
                  <a:close/>
                </a:path>
                <a:path w="595630" h="871854">
                  <a:moveTo>
                    <a:pt x="595236" y="214871"/>
                  </a:moveTo>
                  <a:lnTo>
                    <a:pt x="0" y="214871"/>
                  </a:lnTo>
                  <a:lnTo>
                    <a:pt x="0" y="228904"/>
                  </a:lnTo>
                  <a:lnTo>
                    <a:pt x="595236" y="228904"/>
                  </a:lnTo>
                  <a:lnTo>
                    <a:pt x="595236" y="214871"/>
                  </a:lnTo>
                  <a:close/>
                </a:path>
                <a:path w="595630" h="871854">
                  <a:moveTo>
                    <a:pt x="595236" y="0"/>
                  </a:moveTo>
                  <a:lnTo>
                    <a:pt x="0" y="0"/>
                  </a:lnTo>
                  <a:lnTo>
                    <a:pt x="0" y="14033"/>
                  </a:lnTo>
                  <a:lnTo>
                    <a:pt x="595236" y="14033"/>
                  </a:lnTo>
                  <a:lnTo>
                    <a:pt x="595236" y="0"/>
                  </a:lnTo>
                  <a:close/>
                </a:path>
              </a:pathLst>
            </a:custGeom>
            <a:solidFill>
              <a:srgbClr val="000000"/>
            </a:solidFill>
          </p:spPr>
          <p:txBody>
            <a:bodyPr wrap="square" lIns="0" tIns="0" rIns="0" bIns="0" rtlCol="0"/>
            <a:lstStyle/>
            <a:p/>
          </p:txBody>
        </p:sp>
        <p:sp>
          <p:nvSpPr>
            <p:cNvPr id="23" name="object 23" descr=""/>
            <p:cNvSpPr/>
            <p:nvPr/>
          </p:nvSpPr>
          <p:spPr>
            <a:xfrm>
              <a:off x="3106058" y="4638833"/>
              <a:ext cx="1626870" cy="584835"/>
            </a:xfrm>
            <a:custGeom>
              <a:avLst/>
              <a:gdLst/>
              <a:ahLst/>
              <a:cxnLst/>
              <a:rect l="l" t="t" r="r" b="b"/>
              <a:pathLst>
                <a:path w="1626870" h="584835">
                  <a:moveTo>
                    <a:pt x="1626282" y="0"/>
                  </a:moveTo>
                  <a:lnTo>
                    <a:pt x="0" y="0"/>
                  </a:lnTo>
                  <a:lnTo>
                    <a:pt x="0" y="584537"/>
                  </a:lnTo>
                  <a:lnTo>
                    <a:pt x="1626282" y="584537"/>
                  </a:lnTo>
                  <a:lnTo>
                    <a:pt x="1626282" y="0"/>
                  </a:lnTo>
                  <a:close/>
                </a:path>
              </a:pathLst>
            </a:custGeom>
            <a:solidFill>
              <a:srgbClr val="CCFFCC"/>
            </a:solidFill>
          </p:spPr>
          <p:txBody>
            <a:bodyPr wrap="square" lIns="0" tIns="0" rIns="0" bIns="0" rtlCol="0"/>
            <a:lstStyle/>
            <a:p/>
          </p:txBody>
        </p:sp>
        <p:sp>
          <p:nvSpPr>
            <p:cNvPr id="24" name="object 24" descr=""/>
            <p:cNvSpPr/>
            <p:nvPr/>
          </p:nvSpPr>
          <p:spPr>
            <a:xfrm>
              <a:off x="3106058" y="4638833"/>
              <a:ext cx="1626870" cy="584835"/>
            </a:xfrm>
            <a:custGeom>
              <a:avLst/>
              <a:gdLst/>
              <a:ahLst/>
              <a:cxnLst/>
              <a:rect l="l" t="t" r="r" b="b"/>
              <a:pathLst>
                <a:path w="1626870" h="584835">
                  <a:moveTo>
                    <a:pt x="0" y="584537"/>
                  </a:moveTo>
                  <a:lnTo>
                    <a:pt x="1626282" y="584537"/>
                  </a:lnTo>
                  <a:lnTo>
                    <a:pt x="1626282" y="0"/>
                  </a:lnTo>
                  <a:lnTo>
                    <a:pt x="0" y="0"/>
                  </a:lnTo>
                  <a:lnTo>
                    <a:pt x="0" y="584537"/>
                  </a:lnTo>
                  <a:close/>
                </a:path>
              </a:pathLst>
            </a:custGeom>
            <a:ln w="14031">
              <a:solidFill>
                <a:srgbClr val="000000"/>
              </a:solidFill>
            </a:ln>
          </p:spPr>
          <p:txBody>
            <a:bodyPr wrap="square" lIns="0" tIns="0" rIns="0" bIns="0" rtlCol="0"/>
            <a:lstStyle/>
            <a:p/>
          </p:txBody>
        </p:sp>
        <p:sp>
          <p:nvSpPr>
            <p:cNvPr id="25" name="object 25" descr=""/>
            <p:cNvSpPr/>
            <p:nvPr/>
          </p:nvSpPr>
          <p:spPr>
            <a:xfrm>
              <a:off x="3106051" y="4826990"/>
              <a:ext cx="1626870" cy="208279"/>
            </a:xfrm>
            <a:custGeom>
              <a:avLst/>
              <a:gdLst/>
              <a:ahLst/>
              <a:cxnLst/>
              <a:rect l="l" t="t" r="r" b="b"/>
              <a:pathLst>
                <a:path w="1626870" h="208279">
                  <a:moveTo>
                    <a:pt x="1626285" y="194233"/>
                  </a:moveTo>
                  <a:lnTo>
                    <a:pt x="0" y="194233"/>
                  </a:lnTo>
                  <a:lnTo>
                    <a:pt x="0" y="208254"/>
                  </a:lnTo>
                  <a:lnTo>
                    <a:pt x="1626285" y="208254"/>
                  </a:lnTo>
                  <a:lnTo>
                    <a:pt x="1626285" y="194233"/>
                  </a:lnTo>
                  <a:close/>
                </a:path>
                <a:path w="1626870" h="208279">
                  <a:moveTo>
                    <a:pt x="1626285" y="0"/>
                  </a:moveTo>
                  <a:lnTo>
                    <a:pt x="0" y="0"/>
                  </a:lnTo>
                  <a:lnTo>
                    <a:pt x="0" y="14020"/>
                  </a:lnTo>
                  <a:lnTo>
                    <a:pt x="1626285" y="14020"/>
                  </a:lnTo>
                  <a:lnTo>
                    <a:pt x="1626285" y="0"/>
                  </a:lnTo>
                  <a:close/>
                </a:path>
              </a:pathLst>
            </a:custGeom>
            <a:solidFill>
              <a:srgbClr val="000000"/>
            </a:solidFill>
          </p:spPr>
          <p:txBody>
            <a:bodyPr wrap="square" lIns="0" tIns="0" rIns="0" bIns="0" rtlCol="0"/>
            <a:lstStyle/>
            <a:p/>
          </p:txBody>
        </p:sp>
        <p:sp>
          <p:nvSpPr>
            <p:cNvPr id="26" name="object 26" descr=""/>
            <p:cNvSpPr/>
            <p:nvPr/>
          </p:nvSpPr>
          <p:spPr>
            <a:xfrm>
              <a:off x="3382828" y="4638852"/>
              <a:ext cx="692785" cy="584835"/>
            </a:xfrm>
            <a:custGeom>
              <a:avLst/>
              <a:gdLst/>
              <a:ahLst/>
              <a:cxnLst/>
              <a:rect l="l" t="t" r="r" b="b"/>
              <a:pathLst>
                <a:path w="692785" h="584835">
                  <a:moveTo>
                    <a:pt x="0" y="0"/>
                  </a:moveTo>
                  <a:lnTo>
                    <a:pt x="0" y="584518"/>
                  </a:lnTo>
                </a:path>
                <a:path w="692785" h="584835">
                  <a:moveTo>
                    <a:pt x="692207" y="0"/>
                  </a:moveTo>
                  <a:lnTo>
                    <a:pt x="692207" y="584518"/>
                  </a:lnTo>
                </a:path>
              </a:pathLst>
            </a:custGeom>
            <a:ln w="14036">
              <a:solidFill>
                <a:srgbClr val="000000"/>
              </a:solidFill>
            </a:ln>
          </p:spPr>
          <p:txBody>
            <a:bodyPr wrap="square" lIns="0" tIns="0" rIns="0" bIns="0" rtlCol="0"/>
            <a:lstStyle/>
            <a:p/>
          </p:txBody>
        </p:sp>
        <p:sp>
          <p:nvSpPr>
            <p:cNvPr id="27" name="object 27" descr=""/>
            <p:cNvSpPr/>
            <p:nvPr/>
          </p:nvSpPr>
          <p:spPr>
            <a:xfrm>
              <a:off x="5604723" y="4755394"/>
              <a:ext cx="1626870" cy="409575"/>
            </a:xfrm>
            <a:custGeom>
              <a:avLst/>
              <a:gdLst/>
              <a:ahLst/>
              <a:cxnLst/>
              <a:rect l="l" t="t" r="r" b="b"/>
              <a:pathLst>
                <a:path w="1626870" h="409575">
                  <a:moveTo>
                    <a:pt x="1626282" y="0"/>
                  </a:moveTo>
                  <a:lnTo>
                    <a:pt x="0" y="0"/>
                  </a:lnTo>
                  <a:lnTo>
                    <a:pt x="0" y="409262"/>
                  </a:lnTo>
                  <a:lnTo>
                    <a:pt x="1626282" y="409262"/>
                  </a:lnTo>
                  <a:lnTo>
                    <a:pt x="1626282" y="0"/>
                  </a:lnTo>
                  <a:close/>
                </a:path>
              </a:pathLst>
            </a:custGeom>
            <a:solidFill>
              <a:srgbClr val="CCFFCC"/>
            </a:solidFill>
          </p:spPr>
          <p:txBody>
            <a:bodyPr wrap="square" lIns="0" tIns="0" rIns="0" bIns="0" rtlCol="0"/>
            <a:lstStyle/>
            <a:p/>
          </p:txBody>
        </p:sp>
        <p:sp>
          <p:nvSpPr>
            <p:cNvPr id="28" name="object 28" descr=""/>
            <p:cNvSpPr/>
            <p:nvPr/>
          </p:nvSpPr>
          <p:spPr>
            <a:xfrm>
              <a:off x="5604723" y="4755394"/>
              <a:ext cx="1626870" cy="409575"/>
            </a:xfrm>
            <a:custGeom>
              <a:avLst/>
              <a:gdLst/>
              <a:ahLst/>
              <a:cxnLst/>
              <a:rect l="l" t="t" r="r" b="b"/>
              <a:pathLst>
                <a:path w="1626870" h="409575">
                  <a:moveTo>
                    <a:pt x="0" y="409262"/>
                  </a:moveTo>
                  <a:lnTo>
                    <a:pt x="1626282" y="409262"/>
                  </a:lnTo>
                  <a:lnTo>
                    <a:pt x="1626282" y="0"/>
                  </a:lnTo>
                  <a:lnTo>
                    <a:pt x="0" y="0"/>
                  </a:lnTo>
                  <a:lnTo>
                    <a:pt x="0" y="409262"/>
                  </a:lnTo>
                  <a:close/>
                </a:path>
              </a:pathLst>
            </a:custGeom>
            <a:ln w="14030">
              <a:solidFill>
                <a:srgbClr val="000000"/>
              </a:solidFill>
            </a:ln>
          </p:spPr>
          <p:txBody>
            <a:bodyPr wrap="square" lIns="0" tIns="0" rIns="0" bIns="0" rtlCol="0"/>
            <a:lstStyle/>
            <a:p/>
          </p:txBody>
        </p:sp>
        <p:sp>
          <p:nvSpPr>
            <p:cNvPr id="29" name="object 29" descr=""/>
            <p:cNvSpPr/>
            <p:nvPr/>
          </p:nvSpPr>
          <p:spPr>
            <a:xfrm>
              <a:off x="5604723" y="4953453"/>
              <a:ext cx="1626870" cy="14604"/>
            </a:xfrm>
            <a:custGeom>
              <a:avLst/>
              <a:gdLst/>
              <a:ahLst/>
              <a:cxnLst/>
              <a:rect l="l" t="t" r="r" b="b"/>
              <a:pathLst>
                <a:path w="1626870" h="14604">
                  <a:moveTo>
                    <a:pt x="0" y="14029"/>
                  </a:moveTo>
                  <a:lnTo>
                    <a:pt x="1626282" y="14029"/>
                  </a:lnTo>
                  <a:lnTo>
                    <a:pt x="1626282" y="0"/>
                  </a:lnTo>
                  <a:lnTo>
                    <a:pt x="0" y="0"/>
                  </a:lnTo>
                  <a:lnTo>
                    <a:pt x="0" y="14029"/>
                  </a:lnTo>
                  <a:close/>
                </a:path>
              </a:pathLst>
            </a:custGeom>
            <a:solidFill>
              <a:srgbClr val="000000"/>
            </a:solidFill>
          </p:spPr>
          <p:txBody>
            <a:bodyPr wrap="square" lIns="0" tIns="0" rIns="0" bIns="0" rtlCol="0"/>
            <a:lstStyle/>
            <a:p/>
          </p:txBody>
        </p:sp>
        <p:sp>
          <p:nvSpPr>
            <p:cNvPr id="30" name="object 30" descr=""/>
            <p:cNvSpPr/>
            <p:nvPr/>
          </p:nvSpPr>
          <p:spPr>
            <a:xfrm>
              <a:off x="5881115" y="4755394"/>
              <a:ext cx="692785" cy="409575"/>
            </a:xfrm>
            <a:custGeom>
              <a:avLst/>
              <a:gdLst/>
              <a:ahLst/>
              <a:cxnLst/>
              <a:rect l="l" t="t" r="r" b="b"/>
              <a:pathLst>
                <a:path w="692784" h="409575">
                  <a:moveTo>
                    <a:pt x="0" y="0"/>
                  </a:moveTo>
                  <a:lnTo>
                    <a:pt x="0" y="409262"/>
                  </a:lnTo>
                </a:path>
                <a:path w="692784" h="409575">
                  <a:moveTo>
                    <a:pt x="692585" y="0"/>
                  </a:moveTo>
                  <a:lnTo>
                    <a:pt x="692585" y="409262"/>
                  </a:lnTo>
                </a:path>
              </a:pathLst>
            </a:custGeom>
            <a:ln w="14036">
              <a:solidFill>
                <a:srgbClr val="000000"/>
              </a:solidFill>
            </a:ln>
          </p:spPr>
          <p:txBody>
            <a:bodyPr wrap="square" lIns="0" tIns="0" rIns="0" bIns="0" rtlCol="0"/>
            <a:lstStyle/>
            <a:p/>
          </p:txBody>
        </p:sp>
      </p:grpSp>
      <p:sp>
        <p:nvSpPr>
          <p:cNvPr id="31" name="object 31" descr=""/>
          <p:cNvSpPr txBox="1"/>
          <p:nvPr/>
        </p:nvSpPr>
        <p:spPr>
          <a:xfrm>
            <a:off x="747193" y="5632181"/>
            <a:ext cx="1666239" cy="292100"/>
          </a:xfrm>
          <a:prstGeom prst="rect">
            <a:avLst/>
          </a:prstGeom>
          <a:solidFill>
            <a:srgbClr val="CCFFFF"/>
          </a:solidFill>
          <a:ln w="14030">
            <a:solidFill>
              <a:srgbClr val="000000"/>
            </a:solidFill>
          </a:ln>
        </p:spPr>
        <p:txBody>
          <a:bodyPr wrap="square" lIns="0" tIns="33020" rIns="0" bIns="0" rtlCol="0" vert="horz">
            <a:spAutoFit/>
          </a:bodyPr>
          <a:lstStyle/>
          <a:p>
            <a:pPr marL="450850">
              <a:lnSpc>
                <a:spcPct val="100000"/>
              </a:lnSpc>
              <a:spcBef>
                <a:spcPts val="260"/>
              </a:spcBef>
            </a:pPr>
            <a:r>
              <a:rPr dirty="0" sz="1300" spc="-15" b="1">
                <a:latin typeface="宋体"/>
                <a:cs typeface="宋体"/>
              </a:rPr>
              <a:t>存储部件</a:t>
            </a:r>
            <a:endParaRPr sz="1300">
              <a:latin typeface="宋体"/>
              <a:cs typeface="宋体"/>
            </a:endParaRPr>
          </a:p>
        </p:txBody>
      </p:sp>
      <p:sp>
        <p:nvSpPr>
          <p:cNvPr id="32" name="object 32" descr=""/>
          <p:cNvSpPr txBox="1"/>
          <p:nvPr/>
        </p:nvSpPr>
        <p:spPr>
          <a:xfrm>
            <a:off x="3381884" y="5632181"/>
            <a:ext cx="1269365" cy="292100"/>
          </a:xfrm>
          <a:prstGeom prst="rect">
            <a:avLst/>
          </a:prstGeom>
          <a:solidFill>
            <a:srgbClr val="FFC8E3"/>
          </a:solidFill>
          <a:ln w="14030">
            <a:solidFill>
              <a:srgbClr val="000000"/>
            </a:solidFill>
          </a:ln>
        </p:spPr>
        <p:txBody>
          <a:bodyPr wrap="square" lIns="0" tIns="26034" rIns="0" bIns="0" rtlCol="0" vert="horz">
            <a:spAutoFit/>
          </a:bodyPr>
          <a:lstStyle/>
          <a:p>
            <a:pPr marL="216535">
              <a:lnSpc>
                <a:spcPct val="100000"/>
              </a:lnSpc>
              <a:spcBef>
                <a:spcPts val="204"/>
              </a:spcBef>
            </a:pPr>
            <a:r>
              <a:rPr dirty="0" sz="1300" spc="-10" b="1">
                <a:latin typeface="宋体"/>
                <a:cs typeface="宋体"/>
              </a:rPr>
              <a:t>浮点加法器</a:t>
            </a:r>
            <a:endParaRPr sz="1300">
              <a:latin typeface="宋体"/>
              <a:cs typeface="宋体"/>
            </a:endParaRPr>
          </a:p>
        </p:txBody>
      </p:sp>
      <p:sp>
        <p:nvSpPr>
          <p:cNvPr id="33" name="object 33" descr=""/>
          <p:cNvSpPr txBox="1"/>
          <p:nvPr/>
        </p:nvSpPr>
        <p:spPr>
          <a:xfrm>
            <a:off x="5920546" y="5632181"/>
            <a:ext cx="1269365" cy="292100"/>
          </a:xfrm>
          <a:prstGeom prst="rect">
            <a:avLst/>
          </a:prstGeom>
          <a:solidFill>
            <a:srgbClr val="F3E7FF"/>
          </a:solidFill>
          <a:ln w="14030">
            <a:solidFill>
              <a:srgbClr val="000000"/>
            </a:solidFill>
          </a:ln>
        </p:spPr>
        <p:txBody>
          <a:bodyPr wrap="square" lIns="0" tIns="26034" rIns="0" bIns="0" rtlCol="0" vert="horz">
            <a:spAutoFit/>
          </a:bodyPr>
          <a:lstStyle/>
          <a:p>
            <a:pPr marL="227329">
              <a:lnSpc>
                <a:spcPct val="100000"/>
              </a:lnSpc>
              <a:spcBef>
                <a:spcPts val="204"/>
              </a:spcBef>
            </a:pPr>
            <a:r>
              <a:rPr dirty="0" sz="1300" spc="-10" b="1">
                <a:latin typeface="宋体"/>
                <a:cs typeface="宋体"/>
              </a:rPr>
              <a:t>浮点乘法器</a:t>
            </a:r>
            <a:endParaRPr sz="1300">
              <a:latin typeface="宋体"/>
              <a:cs typeface="宋体"/>
            </a:endParaRPr>
          </a:p>
        </p:txBody>
      </p:sp>
      <p:grpSp>
        <p:nvGrpSpPr>
          <p:cNvPr id="34" name="object 34" descr=""/>
          <p:cNvGrpSpPr/>
          <p:nvPr/>
        </p:nvGrpSpPr>
        <p:grpSpPr>
          <a:xfrm>
            <a:off x="1510638" y="306214"/>
            <a:ext cx="6083300" cy="6038215"/>
            <a:chOff x="1510638" y="306214"/>
            <a:chExt cx="6083300" cy="6038215"/>
          </a:xfrm>
        </p:grpSpPr>
        <p:sp>
          <p:nvSpPr>
            <p:cNvPr id="35" name="object 35" descr=""/>
            <p:cNvSpPr/>
            <p:nvPr/>
          </p:nvSpPr>
          <p:spPr>
            <a:xfrm>
              <a:off x="5168532" y="2302022"/>
              <a:ext cx="1190625" cy="818515"/>
            </a:xfrm>
            <a:custGeom>
              <a:avLst/>
              <a:gdLst/>
              <a:ahLst/>
              <a:cxnLst/>
              <a:rect l="l" t="t" r="r" b="b"/>
              <a:pathLst>
                <a:path w="1190625" h="818514">
                  <a:moveTo>
                    <a:pt x="1190035" y="0"/>
                  </a:moveTo>
                  <a:lnTo>
                    <a:pt x="0" y="0"/>
                  </a:lnTo>
                  <a:lnTo>
                    <a:pt x="0" y="818073"/>
                  </a:lnTo>
                  <a:lnTo>
                    <a:pt x="1190035" y="818073"/>
                  </a:lnTo>
                  <a:lnTo>
                    <a:pt x="1190035" y="0"/>
                  </a:lnTo>
                  <a:close/>
                </a:path>
              </a:pathLst>
            </a:custGeom>
            <a:solidFill>
              <a:srgbClr val="FFFF99"/>
            </a:solidFill>
          </p:spPr>
          <p:txBody>
            <a:bodyPr wrap="square" lIns="0" tIns="0" rIns="0" bIns="0" rtlCol="0"/>
            <a:lstStyle/>
            <a:p/>
          </p:txBody>
        </p:sp>
        <p:sp>
          <p:nvSpPr>
            <p:cNvPr id="36" name="object 36" descr=""/>
            <p:cNvSpPr/>
            <p:nvPr/>
          </p:nvSpPr>
          <p:spPr>
            <a:xfrm>
              <a:off x="5168532" y="2302022"/>
              <a:ext cx="1190625" cy="818515"/>
            </a:xfrm>
            <a:custGeom>
              <a:avLst/>
              <a:gdLst/>
              <a:ahLst/>
              <a:cxnLst/>
              <a:rect l="l" t="t" r="r" b="b"/>
              <a:pathLst>
                <a:path w="1190625" h="818514">
                  <a:moveTo>
                    <a:pt x="0" y="818073"/>
                  </a:moveTo>
                  <a:lnTo>
                    <a:pt x="1190035" y="818073"/>
                  </a:lnTo>
                  <a:lnTo>
                    <a:pt x="1190035" y="0"/>
                  </a:lnTo>
                  <a:lnTo>
                    <a:pt x="0" y="0"/>
                  </a:lnTo>
                  <a:lnTo>
                    <a:pt x="0" y="818073"/>
                  </a:lnTo>
                  <a:close/>
                </a:path>
              </a:pathLst>
            </a:custGeom>
            <a:ln w="14034">
              <a:solidFill>
                <a:srgbClr val="000000"/>
              </a:solidFill>
            </a:ln>
          </p:spPr>
          <p:txBody>
            <a:bodyPr wrap="square" lIns="0" tIns="0" rIns="0" bIns="0" rtlCol="0"/>
            <a:lstStyle/>
            <a:p/>
          </p:txBody>
        </p:sp>
        <p:sp>
          <p:nvSpPr>
            <p:cNvPr id="37" name="object 37" descr=""/>
            <p:cNvSpPr/>
            <p:nvPr/>
          </p:nvSpPr>
          <p:spPr>
            <a:xfrm>
              <a:off x="5168532" y="2499181"/>
              <a:ext cx="1190625" cy="422909"/>
            </a:xfrm>
            <a:custGeom>
              <a:avLst/>
              <a:gdLst/>
              <a:ahLst/>
              <a:cxnLst/>
              <a:rect l="l" t="t" r="r" b="b"/>
              <a:pathLst>
                <a:path w="1190625" h="422910">
                  <a:moveTo>
                    <a:pt x="1190091" y="408825"/>
                  </a:moveTo>
                  <a:lnTo>
                    <a:pt x="0" y="408825"/>
                  </a:lnTo>
                  <a:lnTo>
                    <a:pt x="0" y="422859"/>
                  </a:lnTo>
                  <a:lnTo>
                    <a:pt x="1190091" y="422859"/>
                  </a:lnTo>
                  <a:lnTo>
                    <a:pt x="1190091" y="408825"/>
                  </a:lnTo>
                  <a:close/>
                </a:path>
                <a:path w="1190625" h="422910">
                  <a:moveTo>
                    <a:pt x="1190091" y="204698"/>
                  </a:moveTo>
                  <a:lnTo>
                    <a:pt x="0" y="204698"/>
                  </a:lnTo>
                  <a:lnTo>
                    <a:pt x="0" y="218732"/>
                  </a:lnTo>
                  <a:lnTo>
                    <a:pt x="1190091" y="218732"/>
                  </a:lnTo>
                  <a:lnTo>
                    <a:pt x="1190091" y="204698"/>
                  </a:lnTo>
                  <a:close/>
                </a:path>
                <a:path w="1190625" h="422910">
                  <a:moveTo>
                    <a:pt x="1190091" y="0"/>
                  </a:moveTo>
                  <a:lnTo>
                    <a:pt x="0" y="0"/>
                  </a:lnTo>
                  <a:lnTo>
                    <a:pt x="0" y="14033"/>
                  </a:lnTo>
                  <a:lnTo>
                    <a:pt x="1190091" y="14033"/>
                  </a:lnTo>
                  <a:lnTo>
                    <a:pt x="1190091" y="0"/>
                  </a:lnTo>
                  <a:close/>
                </a:path>
              </a:pathLst>
            </a:custGeom>
            <a:solidFill>
              <a:srgbClr val="000000"/>
            </a:solidFill>
          </p:spPr>
          <p:txBody>
            <a:bodyPr wrap="square" lIns="0" tIns="0" rIns="0" bIns="0" rtlCol="0"/>
            <a:lstStyle/>
            <a:p/>
          </p:txBody>
        </p:sp>
        <p:sp>
          <p:nvSpPr>
            <p:cNvPr id="38" name="object 38" descr=""/>
            <p:cNvSpPr/>
            <p:nvPr/>
          </p:nvSpPr>
          <p:spPr>
            <a:xfrm>
              <a:off x="3622431" y="1074817"/>
              <a:ext cx="76200" cy="993775"/>
            </a:xfrm>
            <a:custGeom>
              <a:avLst/>
              <a:gdLst/>
              <a:ahLst/>
              <a:cxnLst/>
              <a:rect l="l" t="t" r="r" b="b"/>
              <a:pathLst>
                <a:path w="76200" h="993775">
                  <a:moveTo>
                    <a:pt x="0" y="879859"/>
                  </a:moveTo>
                  <a:lnTo>
                    <a:pt x="37166" y="993706"/>
                  </a:lnTo>
                  <a:lnTo>
                    <a:pt x="59708" y="927358"/>
                  </a:lnTo>
                  <a:lnTo>
                    <a:pt x="32072" y="927358"/>
                  </a:lnTo>
                  <a:lnTo>
                    <a:pt x="28110" y="923211"/>
                  </a:lnTo>
                  <a:lnTo>
                    <a:pt x="28168" y="908709"/>
                  </a:lnTo>
                  <a:lnTo>
                    <a:pt x="0" y="879859"/>
                  </a:lnTo>
                  <a:close/>
                </a:path>
                <a:path w="76200" h="993775">
                  <a:moveTo>
                    <a:pt x="28168" y="908709"/>
                  </a:moveTo>
                  <a:lnTo>
                    <a:pt x="28110" y="923211"/>
                  </a:lnTo>
                  <a:lnTo>
                    <a:pt x="32072" y="927358"/>
                  </a:lnTo>
                  <a:lnTo>
                    <a:pt x="43015" y="927358"/>
                  </a:lnTo>
                  <a:lnTo>
                    <a:pt x="47165" y="923211"/>
                  </a:lnTo>
                  <a:lnTo>
                    <a:pt x="47165" y="918311"/>
                  </a:lnTo>
                  <a:lnTo>
                    <a:pt x="37544" y="918311"/>
                  </a:lnTo>
                  <a:lnTo>
                    <a:pt x="28168" y="908709"/>
                  </a:lnTo>
                  <a:close/>
                </a:path>
                <a:path w="76200" h="993775">
                  <a:moveTo>
                    <a:pt x="75654" y="880425"/>
                  </a:moveTo>
                  <a:lnTo>
                    <a:pt x="47217" y="908709"/>
                  </a:lnTo>
                  <a:lnTo>
                    <a:pt x="47165" y="923211"/>
                  </a:lnTo>
                  <a:lnTo>
                    <a:pt x="43015" y="927358"/>
                  </a:lnTo>
                  <a:lnTo>
                    <a:pt x="59708" y="927358"/>
                  </a:lnTo>
                  <a:lnTo>
                    <a:pt x="75654" y="880425"/>
                  </a:lnTo>
                  <a:close/>
                </a:path>
                <a:path w="76200" h="993775">
                  <a:moveTo>
                    <a:pt x="47920" y="0"/>
                  </a:moveTo>
                  <a:lnTo>
                    <a:pt x="37544" y="0"/>
                  </a:lnTo>
                  <a:lnTo>
                    <a:pt x="33582" y="4523"/>
                  </a:lnTo>
                  <a:lnTo>
                    <a:pt x="33579" y="9801"/>
                  </a:lnTo>
                  <a:lnTo>
                    <a:pt x="28168" y="908709"/>
                  </a:lnTo>
                  <a:lnTo>
                    <a:pt x="37544" y="918311"/>
                  </a:lnTo>
                  <a:lnTo>
                    <a:pt x="47202" y="908709"/>
                  </a:lnTo>
                  <a:lnTo>
                    <a:pt x="47370" y="880425"/>
                  </a:lnTo>
                  <a:lnTo>
                    <a:pt x="52071" y="9801"/>
                  </a:lnTo>
                  <a:lnTo>
                    <a:pt x="52071" y="4523"/>
                  </a:lnTo>
                  <a:lnTo>
                    <a:pt x="47920" y="0"/>
                  </a:lnTo>
                  <a:close/>
                </a:path>
                <a:path w="76200" h="993775">
                  <a:moveTo>
                    <a:pt x="47217" y="908709"/>
                  </a:moveTo>
                  <a:lnTo>
                    <a:pt x="37544" y="918311"/>
                  </a:lnTo>
                  <a:lnTo>
                    <a:pt x="47165" y="918311"/>
                  </a:lnTo>
                  <a:lnTo>
                    <a:pt x="47217" y="908709"/>
                  </a:lnTo>
                  <a:close/>
                </a:path>
              </a:pathLst>
            </a:custGeom>
            <a:solidFill>
              <a:srgbClr val="000000"/>
            </a:solidFill>
          </p:spPr>
          <p:txBody>
            <a:bodyPr wrap="square" lIns="0" tIns="0" rIns="0" bIns="0" rtlCol="0"/>
            <a:lstStyle/>
            <a:p/>
          </p:txBody>
        </p:sp>
        <p:sp>
          <p:nvSpPr>
            <p:cNvPr id="39" name="object 39" descr=""/>
            <p:cNvSpPr/>
            <p:nvPr/>
          </p:nvSpPr>
          <p:spPr>
            <a:xfrm>
              <a:off x="3622431" y="1074817"/>
              <a:ext cx="76200" cy="993775"/>
            </a:xfrm>
            <a:custGeom>
              <a:avLst/>
              <a:gdLst/>
              <a:ahLst/>
              <a:cxnLst/>
              <a:rect l="l" t="t" r="r" b="b"/>
              <a:pathLst>
                <a:path w="76200" h="993775">
                  <a:moveTo>
                    <a:pt x="52071" y="9801"/>
                  </a:moveTo>
                  <a:lnTo>
                    <a:pt x="47165" y="918311"/>
                  </a:lnTo>
                  <a:lnTo>
                    <a:pt x="47165" y="923211"/>
                  </a:lnTo>
                  <a:lnTo>
                    <a:pt x="43015" y="927358"/>
                  </a:lnTo>
                  <a:lnTo>
                    <a:pt x="37166" y="927358"/>
                  </a:lnTo>
                  <a:lnTo>
                    <a:pt x="32072" y="927358"/>
                  </a:lnTo>
                  <a:lnTo>
                    <a:pt x="28110" y="923211"/>
                  </a:lnTo>
                  <a:lnTo>
                    <a:pt x="28110" y="918311"/>
                  </a:lnTo>
                  <a:lnTo>
                    <a:pt x="33582" y="9424"/>
                  </a:lnTo>
                  <a:lnTo>
                    <a:pt x="33582" y="4523"/>
                  </a:lnTo>
                  <a:lnTo>
                    <a:pt x="37544" y="0"/>
                  </a:lnTo>
                  <a:lnTo>
                    <a:pt x="43015" y="0"/>
                  </a:lnTo>
                  <a:lnTo>
                    <a:pt x="47920" y="0"/>
                  </a:lnTo>
                  <a:lnTo>
                    <a:pt x="52071" y="4523"/>
                  </a:lnTo>
                  <a:lnTo>
                    <a:pt x="52071" y="9801"/>
                  </a:lnTo>
                  <a:close/>
                </a:path>
                <a:path w="76200" h="993775">
                  <a:moveTo>
                    <a:pt x="37544" y="918311"/>
                  </a:moveTo>
                  <a:lnTo>
                    <a:pt x="75654" y="880425"/>
                  </a:lnTo>
                  <a:lnTo>
                    <a:pt x="37166" y="993706"/>
                  </a:lnTo>
                  <a:lnTo>
                    <a:pt x="0" y="879859"/>
                  </a:lnTo>
                  <a:lnTo>
                    <a:pt x="37544" y="918311"/>
                  </a:lnTo>
                  <a:close/>
                </a:path>
              </a:pathLst>
            </a:custGeom>
            <a:ln w="6791">
              <a:solidFill>
                <a:srgbClr val="000000"/>
              </a:solidFill>
            </a:ln>
          </p:spPr>
          <p:txBody>
            <a:bodyPr wrap="square" lIns="0" tIns="0" rIns="0" bIns="0" rtlCol="0"/>
            <a:lstStyle/>
            <a:p/>
          </p:txBody>
        </p:sp>
        <p:sp>
          <p:nvSpPr>
            <p:cNvPr id="40" name="object 40" descr=""/>
            <p:cNvSpPr/>
            <p:nvPr/>
          </p:nvSpPr>
          <p:spPr>
            <a:xfrm>
              <a:off x="2152418" y="2944425"/>
              <a:ext cx="1348740" cy="117475"/>
            </a:xfrm>
            <a:custGeom>
              <a:avLst/>
              <a:gdLst/>
              <a:ahLst/>
              <a:cxnLst/>
              <a:rect l="l" t="t" r="r" b="b"/>
              <a:pathLst>
                <a:path w="1348739" h="117475">
                  <a:moveTo>
                    <a:pt x="1348513" y="0"/>
                  </a:moveTo>
                  <a:lnTo>
                    <a:pt x="1348513" y="117050"/>
                  </a:lnTo>
                </a:path>
                <a:path w="1348739" h="117475">
                  <a:moveTo>
                    <a:pt x="0" y="117050"/>
                  </a:moveTo>
                  <a:lnTo>
                    <a:pt x="1348513" y="117050"/>
                  </a:lnTo>
                </a:path>
              </a:pathLst>
            </a:custGeom>
            <a:ln w="14036">
              <a:solidFill>
                <a:srgbClr val="000000"/>
              </a:solidFill>
            </a:ln>
          </p:spPr>
          <p:txBody>
            <a:bodyPr wrap="square" lIns="0" tIns="0" rIns="0" bIns="0" rtlCol="0"/>
            <a:lstStyle/>
            <a:p/>
          </p:txBody>
        </p:sp>
        <p:pic>
          <p:nvPicPr>
            <p:cNvPr id="41" name="object 41" descr=""/>
            <p:cNvPicPr/>
            <p:nvPr/>
          </p:nvPicPr>
          <p:blipFill>
            <a:blip r:embed="rId2" cstate="print"/>
            <a:stretch>
              <a:fillRect/>
            </a:stretch>
          </p:blipFill>
          <p:spPr>
            <a:xfrm>
              <a:off x="2111421" y="3048465"/>
              <a:ext cx="82447" cy="249942"/>
            </a:xfrm>
            <a:prstGeom prst="rect">
              <a:avLst/>
            </a:prstGeom>
          </p:spPr>
        </p:pic>
        <p:sp>
          <p:nvSpPr>
            <p:cNvPr id="42" name="object 42" descr=""/>
            <p:cNvSpPr/>
            <p:nvPr/>
          </p:nvSpPr>
          <p:spPr>
            <a:xfrm>
              <a:off x="2114817" y="3577743"/>
              <a:ext cx="76200" cy="302260"/>
            </a:xfrm>
            <a:custGeom>
              <a:avLst/>
              <a:gdLst/>
              <a:ahLst/>
              <a:cxnLst/>
              <a:rect l="l" t="t" r="r" b="b"/>
              <a:pathLst>
                <a:path w="76200" h="302260">
                  <a:moveTo>
                    <a:pt x="0" y="188299"/>
                  </a:moveTo>
                  <a:lnTo>
                    <a:pt x="37600" y="301768"/>
                  </a:lnTo>
                  <a:lnTo>
                    <a:pt x="59851" y="235420"/>
                  </a:lnTo>
                  <a:lnTo>
                    <a:pt x="32601" y="235420"/>
                  </a:lnTo>
                  <a:lnTo>
                    <a:pt x="28073" y="231274"/>
                  </a:lnTo>
                  <a:lnTo>
                    <a:pt x="28073" y="216725"/>
                  </a:lnTo>
                  <a:lnTo>
                    <a:pt x="0" y="188299"/>
                  </a:lnTo>
                  <a:close/>
                </a:path>
                <a:path w="76200" h="302260">
                  <a:moveTo>
                    <a:pt x="28073" y="216725"/>
                  </a:moveTo>
                  <a:lnTo>
                    <a:pt x="28073" y="231274"/>
                  </a:lnTo>
                  <a:lnTo>
                    <a:pt x="32601" y="235420"/>
                  </a:lnTo>
                  <a:lnTo>
                    <a:pt x="42581" y="235420"/>
                  </a:lnTo>
                  <a:lnTo>
                    <a:pt x="47109" y="231274"/>
                  </a:lnTo>
                  <a:lnTo>
                    <a:pt x="47109" y="226373"/>
                  </a:lnTo>
                  <a:lnTo>
                    <a:pt x="37600" y="226373"/>
                  </a:lnTo>
                  <a:lnTo>
                    <a:pt x="28073" y="216725"/>
                  </a:lnTo>
                  <a:close/>
                </a:path>
                <a:path w="76200" h="302260">
                  <a:moveTo>
                    <a:pt x="75654" y="188299"/>
                  </a:moveTo>
                  <a:lnTo>
                    <a:pt x="47109" y="216859"/>
                  </a:lnTo>
                  <a:lnTo>
                    <a:pt x="47109" y="231274"/>
                  </a:lnTo>
                  <a:lnTo>
                    <a:pt x="42581" y="235420"/>
                  </a:lnTo>
                  <a:lnTo>
                    <a:pt x="59851" y="235420"/>
                  </a:lnTo>
                  <a:lnTo>
                    <a:pt x="75654" y="188299"/>
                  </a:lnTo>
                  <a:close/>
                </a:path>
                <a:path w="76200" h="302260">
                  <a:moveTo>
                    <a:pt x="42581" y="0"/>
                  </a:moveTo>
                  <a:lnTo>
                    <a:pt x="32601" y="0"/>
                  </a:lnTo>
                  <a:lnTo>
                    <a:pt x="28073" y="4523"/>
                  </a:lnTo>
                  <a:lnTo>
                    <a:pt x="28073" y="216725"/>
                  </a:lnTo>
                  <a:lnTo>
                    <a:pt x="37600" y="226373"/>
                  </a:lnTo>
                  <a:lnTo>
                    <a:pt x="47109" y="216859"/>
                  </a:lnTo>
                  <a:lnTo>
                    <a:pt x="47109" y="4523"/>
                  </a:lnTo>
                  <a:lnTo>
                    <a:pt x="42581" y="0"/>
                  </a:lnTo>
                  <a:close/>
                </a:path>
                <a:path w="76200" h="302260">
                  <a:moveTo>
                    <a:pt x="47109" y="216859"/>
                  </a:moveTo>
                  <a:lnTo>
                    <a:pt x="37600" y="226373"/>
                  </a:lnTo>
                  <a:lnTo>
                    <a:pt x="47109" y="226373"/>
                  </a:lnTo>
                  <a:lnTo>
                    <a:pt x="47109" y="216859"/>
                  </a:lnTo>
                  <a:close/>
                </a:path>
              </a:pathLst>
            </a:custGeom>
            <a:solidFill>
              <a:srgbClr val="000000"/>
            </a:solidFill>
          </p:spPr>
          <p:txBody>
            <a:bodyPr wrap="square" lIns="0" tIns="0" rIns="0" bIns="0" rtlCol="0"/>
            <a:lstStyle/>
            <a:p/>
          </p:txBody>
        </p:sp>
        <p:pic>
          <p:nvPicPr>
            <p:cNvPr id="43" name="object 43" descr=""/>
            <p:cNvPicPr/>
            <p:nvPr/>
          </p:nvPicPr>
          <p:blipFill>
            <a:blip r:embed="rId3" cstate="print"/>
            <a:stretch>
              <a:fillRect/>
            </a:stretch>
          </p:blipFill>
          <p:spPr>
            <a:xfrm>
              <a:off x="2111421" y="3574345"/>
              <a:ext cx="82447" cy="308562"/>
            </a:xfrm>
            <a:prstGeom prst="rect">
              <a:avLst/>
            </a:prstGeom>
          </p:spPr>
        </p:pic>
        <p:sp>
          <p:nvSpPr>
            <p:cNvPr id="44" name="object 44" descr=""/>
            <p:cNvSpPr/>
            <p:nvPr/>
          </p:nvSpPr>
          <p:spPr>
            <a:xfrm>
              <a:off x="2195905" y="5155176"/>
              <a:ext cx="76200" cy="477520"/>
            </a:xfrm>
            <a:custGeom>
              <a:avLst/>
              <a:gdLst/>
              <a:ahLst/>
              <a:cxnLst/>
              <a:rect l="l" t="t" r="r" b="b"/>
              <a:pathLst>
                <a:path w="76200" h="477520">
                  <a:moveTo>
                    <a:pt x="0" y="363630"/>
                  </a:moveTo>
                  <a:lnTo>
                    <a:pt x="37581" y="477005"/>
                  </a:lnTo>
                  <a:lnTo>
                    <a:pt x="59903" y="410601"/>
                  </a:lnTo>
                  <a:lnTo>
                    <a:pt x="32676" y="410601"/>
                  </a:lnTo>
                  <a:lnTo>
                    <a:pt x="28525" y="407001"/>
                  </a:lnTo>
                  <a:lnTo>
                    <a:pt x="28525" y="392086"/>
                  </a:lnTo>
                  <a:lnTo>
                    <a:pt x="0" y="363630"/>
                  </a:lnTo>
                  <a:close/>
                </a:path>
                <a:path w="76200" h="477520">
                  <a:moveTo>
                    <a:pt x="28525" y="392086"/>
                  </a:moveTo>
                  <a:lnTo>
                    <a:pt x="28525" y="407001"/>
                  </a:lnTo>
                  <a:lnTo>
                    <a:pt x="32676" y="410601"/>
                  </a:lnTo>
                  <a:lnTo>
                    <a:pt x="42487" y="410601"/>
                  </a:lnTo>
                  <a:lnTo>
                    <a:pt x="47015" y="407001"/>
                  </a:lnTo>
                  <a:lnTo>
                    <a:pt x="47015" y="401120"/>
                  </a:lnTo>
                  <a:lnTo>
                    <a:pt x="37581" y="401120"/>
                  </a:lnTo>
                  <a:lnTo>
                    <a:pt x="28525" y="392086"/>
                  </a:lnTo>
                  <a:close/>
                </a:path>
                <a:path w="76200" h="477520">
                  <a:moveTo>
                    <a:pt x="75691" y="363630"/>
                  </a:moveTo>
                  <a:lnTo>
                    <a:pt x="47015" y="391840"/>
                  </a:lnTo>
                  <a:lnTo>
                    <a:pt x="47015" y="407001"/>
                  </a:lnTo>
                  <a:lnTo>
                    <a:pt x="42487" y="410601"/>
                  </a:lnTo>
                  <a:lnTo>
                    <a:pt x="59903" y="410601"/>
                  </a:lnTo>
                  <a:lnTo>
                    <a:pt x="75691" y="363630"/>
                  </a:lnTo>
                  <a:close/>
                </a:path>
                <a:path w="76200" h="477520">
                  <a:moveTo>
                    <a:pt x="42487" y="0"/>
                  </a:moveTo>
                  <a:lnTo>
                    <a:pt x="32676" y="0"/>
                  </a:lnTo>
                  <a:lnTo>
                    <a:pt x="28525" y="4504"/>
                  </a:lnTo>
                  <a:lnTo>
                    <a:pt x="28525" y="392086"/>
                  </a:lnTo>
                  <a:lnTo>
                    <a:pt x="37581" y="401120"/>
                  </a:lnTo>
                  <a:lnTo>
                    <a:pt x="47015" y="391840"/>
                  </a:lnTo>
                  <a:lnTo>
                    <a:pt x="47015" y="4504"/>
                  </a:lnTo>
                  <a:lnTo>
                    <a:pt x="42487" y="0"/>
                  </a:lnTo>
                  <a:close/>
                </a:path>
                <a:path w="76200" h="477520">
                  <a:moveTo>
                    <a:pt x="47015" y="391840"/>
                  </a:moveTo>
                  <a:lnTo>
                    <a:pt x="37581" y="401120"/>
                  </a:lnTo>
                  <a:lnTo>
                    <a:pt x="47015" y="401120"/>
                  </a:lnTo>
                  <a:lnTo>
                    <a:pt x="47015" y="391840"/>
                  </a:lnTo>
                  <a:close/>
                </a:path>
              </a:pathLst>
            </a:custGeom>
            <a:solidFill>
              <a:srgbClr val="000000"/>
            </a:solidFill>
          </p:spPr>
          <p:txBody>
            <a:bodyPr wrap="square" lIns="0" tIns="0" rIns="0" bIns="0" rtlCol="0"/>
            <a:lstStyle/>
            <a:p/>
          </p:txBody>
        </p:sp>
        <p:sp>
          <p:nvSpPr>
            <p:cNvPr id="45" name="object 45" descr=""/>
            <p:cNvSpPr/>
            <p:nvPr/>
          </p:nvSpPr>
          <p:spPr>
            <a:xfrm>
              <a:off x="2195905" y="5155176"/>
              <a:ext cx="76200" cy="477520"/>
            </a:xfrm>
            <a:custGeom>
              <a:avLst/>
              <a:gdLst/>
              <a:ahLst/>
              <a:cxnLst/>
              <a:rect l="l" t="t" r="r" b="b"/>
              <a:pathLst>
                <a:path w="76200" h="477520">
                  <a:moveTo>
                    <a:pt x="47015" y="9480"/>
                  </a:moveTo>
                  <a:lnTo>
                    <a:pt x="47015" y="401120"/>
                  </a:lnTo>
                  <a:lnTo>
                    <a:pt x="47015" y="407001"/>
                  </a:lnTo>
                  <a:lnTo>
                    <a:pt x="42487" y="410601"/>
                  </a:lnTo>
                  <a:lnTo>
                    <a:pt x="37581" y="410601"/>
                  </a:lnTo>
                  <a:lnTo>
                    <a:pt x="32676" y="410601"/>
                  </a:lnTo>
                  <a:lnTo>
                    <a:pt x="28525" y="407001"/>
                  </a:lnTo>
                  <a:lnTo>
                    <a:pt x="28525" y="401120"/>
                  </a:lnTo>
                  <a:lnTo>
                    <a:pt x="28525" y="9480"/>
                  </a:lnTo>
                  <a:lnTo>
                    <a:pt x="28525" y="4504"/>
                  </a:lnTo>
                  <a:lnTo>
                    <a:pt x="32676" y="0"/>
                  </a:lnTo>
                  <a:lnTo>
                    <a:pt x="37581" y="0"/>
                  </a:lnTo>
                  <a:lnTo>
                    <a:pt x="42487" y="0"/>
                  </a:lnTo>
                  <a:lnTo>
                    <a:pt x="47015" y="4504"/>
                  </a:lnTo>
                  <a:lnTo>
                    <a:pt x="47015" y="9480"/>
                  </a:lnTo>
                  <a:close/>
                </a:path>
                <a:path w="76200" h="477520">
                  <a:moveTo>
                    <a:pt x="37581" y="401120"/>
                  </a:moveTo>
                  <a:lnTo>
                    <a:pt x="75691" y="363630"/>
                  </a:lnTo>
                  <a:lnTo>
                    <a:pt x="37581" y="477005"/>
                  </a:lnTo>
                  <a:lnTo>
                    <a:pt x="0" y="363630"/>
                  </a:lnTo>
                  <a:lnTo>
                    <a:pt x="37581" y="401120"/>
                  </a:lnTo>
                  <a:close/>
                </a:path>
              </a:pathLst>
            </a:custGeom>
            <a:ln w="6791">
              <a:solidFill>
                <a:srgbClr val="000000"/>
              </a:solidFill>
            </a:ln>
          </p:spPr>
          <p:txBody>
            <a:bodyPr wrap="square" lIns="0" tIns="0" rIns="0" bIns="0" rtlCol="0"/>
            <a:lstStyle/>
            <a:p/>
          </p:txBody>
        </p:sp>
        <p:sp>
          <p:nvSpPr>
            <p:cNvPr id="46" name="object 46" descr=""/>
            <p:cNvSpPr/>
            <p:nvPr/>
          </p:nvSpPr>
          <p:spPr>
            <a:xfrm>
              <a:off x="1545845" y="313516"/>
              <a:ext cx="6040755" cy="6023610"/>
            </a:xfrm>
            <a:custGeom>
              <a:avLst/>
              <a:gdLst/>
              <a:ahLst/>
              <a:cxnLst/>
              <a:rect l="l" t="t" r="r" b="b"/>
              <a:pathLst>
                <a:path w="6040755" h="6023610">
                  <a:moveTo>
                    <a:pt x="0" y="6023357"/>
                  </a:moveTo>
                  <a:lnTo>
                    <a:pt x="6040414" y="6019291"/>
                  </a:lnTo>
                </a:path>
                <a:path w="6040755" h="6023610">
                  <a:moveTo>
                    <a:pt x="6040414" y="6019291"/>
                  </a:moveTo>
                  <a:lnTo>
                    <a:pt x="6035320" y="0"/>
                  </a:lnTo>
                </a:path>
              </a:pathLst>
            </a:custGeom>
            <a:ln w="14036">
              <a:solidFill>
                <a:srgbClr val="0000FF"/>
              </a:solidFill>
            </a:ln>
          </p:spPr>
          <p:txBody>
            <a:bodyPr wrap="square" lIns="0" tIns="0" rIns="0" bIns="0" rtlCol="0"/>
            <a:lstStyle/>
            <a:p/>
          </p:txBody>
        </p:sp>
        <p:sp>
          <p:nvSpPr>
            <p:cNvPr id="47" name="object 47" descr=""/>
            <p:cNvSpPr/>
            <p:nvPr/>
          </p:nvSpPr>
          <p:spPr>
            <a:xfrm>
              <a:off x="5966769" y="1406744"/>
              <a:ext cx="76200" cy="895350"/>
            </a:xfrm>
            <a:custGeom>
              <a:avLst/>
              <a:gdLst/>
              <a:ahLst/>
              <a:cxnLst/>
              <a:rect l="l" t="t" r="r" b="b"/>
              <a:pathLst>
                <a:path w="76200" h="895350">
                  <a:moveTo>
                    <a:pt x="0" y="782411"/>
                  </a:moveTo>
                  <a:lnTo>
                    <a:pt x="38487" y="895315"/>
                  </a:lnTo>
                  <a:lnTo>
                    <a:pt x="60147" y="828967"/>
                  </a:lnTo>
                  <a:lnTo>
                    <a:pt x="32638" y="828967"/>
                  </a:lnTo>
                  <a:lnTo>
                    <a:pt x="28488" y="824821"/>
                  </a:lnTo>
                  <a:lnTo>
                    <a:pt x="28429" y="810531"/>
                  </a:lnTo>
                  <a:lnTo>
                    <a:pt x="0" y="782411"/>
                  </a:lnTo>
                  <a:close/>
                </a:path>
                <a:path w="76200" h="895350">
                  <a:moveTo>
                    <a:pt x="28429" y="810531"/>
                  </a:moveTo>
                  <a:lnTo>
                    <a:pt x="28488" y="824821"/>
                  </a:lnTo>
                  <a:lnTo>
                    <a:pt x="32638" y="828967"/>
                  </a:lnTo>
                  <a:lnTo>
                    <a:pt x="43392" y="828967"/>
                  </a:lnTo>
                  <a:lnTo>
                    <a:pt x="47543" y="824821"/>
                  </a:lnTo>
                  <a:lnTo>
                    <a:pt x="47543" y="819920"/>
                  </a:lnTo>
                  <a:lnTo>
                    <a:pt x="37921" y="819920"/>
                  </a:lnTo>
                  <a:lnTo>
                    <a:pt x="28429" y="810531"/>
                  </a:lnTo>
                  <a:close/>
                </a:path>
                <a:path w="76200" h="895350">
                  <a:moveTo>
                    <a:pt x="75654" y="781469"/>
                  </a:moveTo>
                  <a:lnTo>
                    <a:pt x="47477" y="810182"/>
                  </a:lnTo>
                  <a:lnTo>
                    <a:pt x="47543" y="824821"/>
                  </a:lnTo>
                  <a:lnTo>
                    <a:pt x="43392" y="828967"/>
                  </a:lnTo>
                  <a:lnTo>
                    <a:pt x="60147" y="828967"/>
                  </a:lnTo>
                  <a:lnTo>
                    <a:pt x="75654" y="781469"/>
                  </a:lnTo>
                  <a:close/>
                </a:path>
                <a:path w="76200" h="895350">
                  <a:moveTo>
                    <a:pt x="37921" y="0"/>
                  </a:moveTo>
                  <a:lnTo>
                    <a:pt x="27544" y="0"/>
                  </a:lnTo>
                  <a:lnTo>
                    <a:pt x="23394" y="4523"/>
                  </a:lnTo>
                  <a:lnTo>
                    <a:pt x="23394" y="9424"/>
                  </a:lnTo>
                  <a:lnTo>
                    <a:pt x="28427" y="810182"/>
                  </a:lnTo>
                  <a:lnTo>
                    <a:pt x="28429" y="810531"/>
                  </a:lnTo>
                  <a:lnTo>
                    <a:pt x="37921" y="819920"/>
                  </a:lnTo>
                  <a:lnTo>
                    <a:pt x="47477" y="810182"/>
                  </a:lnTo>
                  <a:lnTo>
                    <a:pt x="42072" y="9424"/>
                  </a:lnTo>
                  <a:lnTo>
                    <a:pt x="42072" y="4146"/>
                  </a:lnTo>
                  <a:lnTo>
                    <a:pt x="37921" y="0"/>
                  </a:lnTo>
                  <a:close/>
                </a:path>
                <a:path w="76200" h="895350">
                  <a:moveTo>
                    <a:pt x="47477" y="810182"/>
                  </a:moveTo>
                  <a:lnTo>
                    <a:pt x="37921" y="819920"/>
                  </a:lnTo>
                  <a:lnTo>
                    <a:pt x="47543" y="819920"/>
                  </a:lnTo>
                  <a:lnTo>
                    <a:pt x="47477" y="810182"/>
                  </a:lnTo>
                  <a:close/>
                </a:path>
              </a:pathLst>
            </a:custGeom>
            <a:solidFill>
              <a:srgbClr val="000000"/>
            </a:solidFill>
          </p:spPr>
          <p:txBody>
            <a:bodyPr wrap="square" lIns="0" tIns="0" rIns="0" bIns="0" rtlCol="0"/>
            <a:lstStyle/>
            <a:p/>
          </p:txBody>
        </p:sp>
        <p:sp>
          <p:nvSpPr>
            <p:cNvPr id="48" name="object 48" descr=""/>
            <p:cNvSpPr/>
            <p:nvPr/>
          </p:nvSpPr>
          <p:spPr>
            <a:xfrm>
              <a:off x="5966769" y="1406744"/>
              <a:ext cx="76200" cy="895350"/>
            </a:xfrm>
            <a:custGeom>
              <a:avLst/>
              <a:gdLst/>
              <a:ahLst/>
              <a:cxnLst/>
              <a:rect l="l" t="t" r="r" b="b"/>
              <a:pathLst>
                <a:path w="76200" h="895350">
                  <a:moveTo>
                    <a:pt x="42072" y="9424"/>
                  </a:moveTo>
                  <a:lnTo>
                    <a:pt x="47543" y="819920"/>
                  </a:lnTo>
                  <a:lnTo>
                    <a:pt x="47543" y="824821"/>
                  </a:lnTo>
                  <a:lnTo>
                    <a:pt x="43392" y="828968"/>
                  </a:lnTo>
                  <a:lnTo>
                    <a:pt x="37921" y="828968"/>
                  </a:lnTo>
                  <a:lnTo>
                    <a:pt x="32638" y="828968"/>
                  </a:lnTo>
                  <a:lnTo>
                    <a:pt x="28488" y="824821"/>
                  </a:lnTo>
                  <a:lnTo>
                    <a:pt x="28488" y="819920"/>
                  </a:lnTo>
                  <a:lnTo>
                    <a:pt x="23394" y="9424"/>
                  </a:lnTo>
                  <a:lnTo>
                    <a:pt x="23394" y="4523"/>
                  </a:lnTo>
                  <a:lnTo>
                    <a:pt x="27544" y="0"/>
                  </a:lnTo>
                  <a:lnTo>
                    <a:pt x="32638" y="0"/>
                  </a:lnTo>
                  <a:lnTo>
                    <a:pt x="37921" y="0"/>
                  </a:lnTo>
                  <a:lnTo>
                    <a:pt x="42072" y="4146"/>
                  </a:lnTo>
                  <a:lnTo>
                    <a:pt x="42072" y="9424"/>
                  </a:lnTo>
                  <a:close/>
                </a:path>
                <a:path w="76200" h="895350">
                  <a:moveTo>
                    <a:pt x="37921" y="819920"/>
                  </a:moveTo>
                  <a:lnTo>
                    <a:pt x="75654" y="781469"/>
                  </a:lnTo>
                  <a:lnTo>
                    <a:pt x="38487" y="895315"/>
                  </a:lnTo>
                  <a:lnTo>
                    <a:pt x="0" y="782411"/>
                  </a:lnTo>
                  <a:lnTo>
                    <a:pt x="37921" y="819920"/>
                  </a:lnTo>
                  <a:close/>
                </a:path>
              </a:pathLst>
            </a:custGeom>
            <a:ln w="6791">
              <a:solidFill>
                <a:srgbClr val="000000"/>
              </a:solidFill>
            </a:ln>
          </p:spPr>
          <p:txBody>
            <a:bodyPr wrap="square" lIns="0" tIns="0" rIns="0" bIns="0" rtlCol="0"/>
            <a:lstStyle/>
            <a:p/>
          </p:txBody>
        </p:sp>
        <p:sp>
          <p:nvSpPr>
            <p:cNvPr id="49" name="object 49" descr=""/>
            <p:cNvSpPr/>
            <p:nvPr/>
          </p:nvSpPr>
          <p:spPr>
            <a:xfrm>
              <a:off x="1514130" y="5914969"/>
              <a:ext cx="75565" cy="418465"/>
            </a:xfrm>
            <a:custGeom>
              <a:avLst/>
              <a:gdLst/>
              <a:ahLst/>
              <a:cxnLst/>
              <a:rect l="l" t="t" r="r" b="b"/>
              <a:pathLst>
                <a:path w="75565" h="418464">
                  <a:moveTo>
                    <a:pt x="0" y="305361"/>
                  </a:moveTo>
                  <a:lnTo>
                    <a:pt x="38053" y="417839"/>
                  </a:lnTo>
                  <a:lnTo>
                    <a:pt x="59685" y="352339"/>
                  </a:lnTo>
                  <a:lnTo>
                    <a:pt x="32167" y="352339"/>
                  </a:lnTo>
                  <a:lnTo>
                    <a:pt x="28092" y="347821"/>
                  </a:lnTo>
                  <a:lnTo>
                    <a:pt x="28092" y="333038"/>
                  </a:lnTo>
                  <a:lnTo>
                    <a:pt x="0" y="305361"/>
                  </a:lnTo>
                  <a:close/>
                </a:path>
                <a:path w="75565" h="418464">
                  <a:moveTo>
                    <a:pt x="28092" y="333038"/>
                  </a:moveTo>
                  <a:lnTo>
                    <a:pt x="28092" y="347821"/>
                  </a:lnTo>
                  <a:lnTo>
                    <a:pt x="32167" y="352339"/>
                  </a:lnTo>
                  <a:lnTo>
                    <a:pt x="43034" y="352339"/>
                  </a:lnTo>
                  <a:lnTo>
                    <a:pt x="47109" y="347821"/>
                  </a:lnTo>
                  <a:lnTo>
                    <a:pt x="47109" y="342853"/>
                  </a:lnTo>
                  <a:lnTo>
                    <a:pt x="38053" y="342853"/>
                  </a:lnTo>
                  <a:lnTo>
                    <a:pt x="28092" y="333038"/>
                  </a:lnTo>
                  <a:close/>
                </a:path>
                <a:path w="75565" h="418464">
                  <a:moveTo>
                    <a:pt x="75201" y="305361"/>
                  </a:moveTo>
                  <a:lnTo>
                    <a:pt x="47109" y="333713"/>
                  </a:lnTo>
                  <a:lnTo>
                    <a:pt x="47109" y="347821"/>
                  </a:lnTo>
                  <a:lnTo>
                    <a:pt x="43034" y="352339"/>
                  </a:lnTo>
                  <a:lnTo>
                    <a:pt x="59685" y="352339"/>
                  </a:lnTo>
                  <a:lnTo>
                    <a:pt x="75201" y="305361"/>
                  </a:lnTo>
                  <a:close/>
                </a:path>
                <a:path w="75565" h="418464">
                  <a:moveTo>
                    <a:pt x="43034" y="0"/>
                  </a:moveTo>
                  <a:lnTo>
                    <a:pt x="32167" y="0"/>
                  </a:lnTo>
                  <a:lnTo>
                    <a:pt x="28092" y="4052"/>
                  </a:lnTo>
                  <a:lnTo>
                    <a:pt x="28092" y="333038"/>
                  </a:lnTo>
                  <a:lnTo>
                    <a:pt x="38053" y="342853"/>
                  </a:lnTo>
                  <a:lnTo>
                    <a:pt x="47109" y="333713"/>
                  </a:lnTo>
                  <a:lnTo>
                    <a:pt x="47109" y="4052"/>
                  </a:lnTo>
                  <a:lnTo>
                    <a:pt x="43034" y="0"/>
                  </a:lnTo>
                  <a:close/>
                </a:path>
                <a:path w="75565" h="418464">
                  <a:moveTo>
                    <a:pt x="47109" y="333713"/>
                  </a:moveTo>
                  <a:lnTo>
                    <a:pt x="38053" y="342853"/>
                  </a:lnTo>
                  <a:lnTo>
                    <a:pt x="47109" y="342853"/>
                  </a:lnTo>
                  <a:lnTo>
                    <a:pt x="47109" y="333713"/>
                  </a:lnTo>
                  <a:close/>
                </a:path>
              </a:pathLst>
            </a:custGeom>
            <a:solidFill>
              <a:srgbClr val="000000"/>
            </a:solidFill>
          </p:spPr>
          <p:txBody>
            <a:bodyPr wrap="square" lIns="0" tIns="0" rIns="0" bIns="0" rtlCol="0"/>
            <a:lstStyle/>
            <a:p/>
          </p:txBody>
        </p:sp>
        <p:sp>
          <p:nvSpPr>
            <p:cNvPr id="50" name="object 50" descr=""/>
            <p:cNvSpPr/>
            <p:nvPr/>
          </p:nvSpPr>
          <p:spPr>
            <a:xfrm>
              <a:off x="1514130" y="5914969"/>
              <a:ext cx="75565" cy="418465"/>
            </a:xfrm>
            <a:custGeom>
              <a:avLst/>
              <a:gdLst/>
              <a:ahLst/>
              <a:cxnLst/>
              <a:rect l="l" t="t" r="r" b="b"/>
              <a:pathLst>
                <a:path w="75565" h="418464">
                  <a:moveTo>
                    <a:pt x="47109" y="9028"/>
                  </a:moveTo>
                  <a:lnTo>
                    <a:pt x="47109" y="342853"/>
                  </a:lnTo>
                  <a:lnTo>
                    <a:pt x="47109" y="347821"/>
                  </a:lnTo>
                  <a:lnTo>
                    <a:pt x="43034" y="352339"/>
                  </a:lnTo>
                  <a:lnTo>
                    <a:pt x="38053" y="352339"/>
                  </a:lnTo>
                  <a:lnTo>
                    <a:pt x="32167" y="352339"/>
                  </a:lnTo>
                  <a:lnTo>
                    <a:pt x="28092" y="347821"/>
                  </a:lnTo>
                  <a:lnTo>
                    <a:pt x="28092" y="342853"/>
                  </a:lnTo>
                  <a:lnTo>
                    <a:pt x="28092" y="9028"/>
                  </a:lnTo>
                  <a:lnTo>
                    <a:pt x="28092" y="4052"/>
                  </a:lnTo>
                  <a:lnTo>
                    <a:pt x="32167" y="0"/>
                  </a:lnTo>
                  <a:lnTo>
                    <a:pt x="38053" y="0"/>
                  </a:lnTo>
                  <a:lnTo>
                    <a:pt x="43034" y="0"/>
                  </a:lnTo>
                  <a:lnTo>
                    <a:pt x="47109" y="4052"/>
                  </a:lnTo>
                  <a:lnTo>
                    <a:pt x="47109" y="9028"/>
                  </a:lnTo>
                  <a:close/>
                </a:path>
                <a:path w="75565" h="418464">
                  <a:moveTo>
                    <a:pt x="38053" y="342853"/>
                  </a:moveTo>
                  <a:lnTo>
                    <a:pt x="75201" y="305361"/>
                  </a:lnTo>
                  <a:lnTo>
                    <a:pt x="38053" y="417839"/>
                  </a:lnTo>
                  <a:lnTo>
                    <a:pt x="0" y="305361"/>
                  </a:lnTo>
                  <a:lnTo>
                    <a:pt x="38053" y="342853"/>
                  </a:lnTo>
                  <a:close/>
                </a:path>
              </a:pathLst>
            </a:custGeom>
            <a:ln w="6791">
              <a:solidFill>
                <a:srgbClr val="000000"/>
              </a:solidFill>
            </a:ln>
          </p:spPr>
          <p:txBody>
            <a:bodyPr wrap="square" lIns="0" tIns="0" rIns="0" bIns="0" rtlCol="0"/>
            <a:lstStyle/>
            <a:p/>
          </p:txBody>
        </p:sp>
        <p:sp>
          <p:nvSpPr>
            <p:cNvPr id="51" name="object 51" descr=""/>
            <p:cNvSpPr/>
            <p:nvPr/>
          </p:nvSpPr>
          <p:spPr>
            <a:xfrm>
              <a:off x="3979006" y="5914969"/>
              <a:ext cx="75565" cy="418465"/>
            </a:xfrm>
            <a:custGeom>
              <a:avLst/>
              <a:gdLst/>
              <a:ahLst/>
              <a:cxnLst/>
              <a:rect l="l" t="t" r="r" b="b"/>
              <a:pathLst>
                <a:path w="75564" h="418464">
                  <a:moveTo>
                    <a:pt x="0" y="305361"/>
                  </a:moveTo>
                  <a:lnTo>
                    <a:pt x="37544" y="417839"/>
                  </a:lnTo>
                  <a:lnTo>
                    <a:pt x="59407" y="352339"/>
                  </a:lnTo>
                  <a:lnTo>
                    <a:pt x="32072" y="352339"/>
                  </a:lnTo>
                  <a:lnTo>
                    <a:pt x="27922" y="347821"/>
                  </a:lnTo>
                  <a:lnTo>
                    <a:pt x="27922" y="333244"/>
                  </a:lnTo>
                  <a:lnTo>
                    <a:pt x="0" y="305361"/>
                  </a:lnTo>
                  <a:close/>
                </a:path>
                <a:path w="75564" h="418464">
                  <a:moveTo>
                    <a:pt x="27922" y="333244"/>
                  </a:moveTo>
                  <a:lnTo>
                    <a:pt x="27922" y="347821"/>
                  </a:lnTo>
                  <a:lnTo>
                    <a:pt x="32072" y="352339"/>
                  </a:lnTo>
                  <a:lnTo>
                    <a:pt x="43015" y="352339"/>
                  </a:lnTo>
                  <a:lnTo>
                    <a:pt x="46977" y="347821"/>
                  </a:lnTo>
                  <a:lnTo>
                    <a:pt x="46977" y="342853"/>
                  </a:lnTo>
                  <a:lnTo>
                    <a:pt x="37544" y="342853"/>
                  </a:lnTo>
                  <a:lnTo>
                    <a:pt x="27922" y="333244"/>
                  </a:lnTo>
                  <a:close/>
                </a:path>
                <a:path w="75564" h="418464">
                  <a:moveTo>
                    <a:pt x="75088" y="305361"/>
                  </a:moveTo>
                  <a:lnTo>
                    <a:pt x="46977" y="333432"/>
                  </a:lnTo>
                  <a:lnTo>
                    <a:pt x="46977" y="347821"/>
                  </a:lnTo>
                  <a:lnTo>
                    <a:pt x="43015" y="352339"/>
                  </a:lnTo>
                  <a:lnTo>
                    <a:pt x="59407" y="352339"/>
                  </a:lnTo>
                  <a:lnTo>
                    <a:pt x="75088" y="305361"/>
                  </a:lnTo>
                  <a:close/>
                </a:path>
                <a:path w="75564" h="418464">
                  <a:moveTo>
                    <a:pt x="43015" y="0"/>
                  </a:moveTo>
                  <a:lnTo>
                    <a:pt x="32072" y="0"/>
                  </a:lnTo>
                  <a:lnTo>
                    <a:pt x="27922" y="4052"/>
                  </a:lnTo>
                  <a:lnTo>
                    <a:pt x="27922" y="333244"/>
                  </a:lnTo>
                  <a:lnTo>
                    <a:pt x="37544" y="342853"/>
                  </a:lnTo>
                  <a:lnTo>
                    <a:pt x="46977" y="333432"/>
                  </a:lnTo>
                  <a:lnTo>
                    <a:pt x="46977" y="4052"/>
                  </a:lnTo>
                  <a:lnTo>
                    <a:pt x="43015" y="0"/>
                  </a:lnTo>
                  <a:close/>
                </a:path>
                <a:path w="75564" h="418464">
                  <a:moveTo>
                    <a:pt x="46977" y="333432"/>
                  </a:moveTo>
                  <a:lnTo>
                    <a:pt x="37544" y="342853"/>
                  </a:lnTo>
                  <a:lnTo>
                    <a:pt x="46977" y="342853"/>
                  </a:lnTo>
                  <a:lnTo>
                    <a:pt x="46977" y="333432"/>
                  </a:lnTo>
                  <a:close/>
                </a:path>
              </a:pathLst>
            </a:custGeom>
            <a:solidFill>
              <a:srgbClr val="000000"/>
            </a:solidFill>
          </p:spPr>
          <p:txBody>
            <a:bodyPr wrap="square" lIns="0" tIns="0" rIns="0" bIns="0" rtlCol="0"/>
            <a:lstStyle/>
            <a:p/>
          </p:txBody>
        </p:sp>
        <p:sp>
          <p:nvSpPr>
            <p:cNvPr id="52" name="object 52" descr=""/>
            <p:cNvSpPr/>
            <p:nvPr/>
          </p:nvSpPr>
          <p:spPr>
            <a:xfrm>
              <a:off x="3979006" y="5914969"/>
              <a:ext cx="75565" cy="418465"/>
            </a:xfrm>
            <a:custGeom>
              <a:avLst/>
              <a:gdLst/>
              <a:ahLst/>
              <a:cxnLst/>
              <a:rect l="l" t="t" r="r" b="b"/>
              <a:pathLst>
                <a:path w="75564" h="418464">
                  <a:moveTo>
                    <a:pt x="46977" y="9028"/>
                  </a:moveTo>
                  <a:lnTo>
                    <a:pt x="46977" y="342853"/>
                  </a:lnTo>
                  <a:lnTo>
                    <a:pt x="46977" y="347821"/>
                  </a:lnTo>
                  <a:lnTo>
                    <a:pt x="43015" y="352339"/>
                  </a:lnTo>
                  <a:lnTo>
                    <a:pt x="37544" y="352339"/>
                  </a:lnTo>
                  <a:lnTo>
                    <a:pt x="32072" y="352339"/>
                  </a:lnTo>
                  <a:lnTo>
                    <a:pt x="27922" y="347821"/>
                  </a:lnTo>
                  <a:lnTo>
                    <a:pt x="27922" y="342853"/>
                  </a:lnTo>
                  <a:lnTo>
                    <a:pt x="27922" y="9028"/>
                  </a:lnTo>
                  <a:lnTo>
                    <a:pt x="27922" y="4052"/>
                  </a:lnTo>
                  <a:lnTo>
                    <a:pt x="32072" y="0"/>
                  </a:lnTo>
                  <a:lnTo>
                    <a:pt x="37544" y="0"/>
                  </a:lnTo>
                  <a:lnTo>
                    <a:pt x="43015" y="0"/>
                  </a:lnTo>
                  <a:lnTo>
                    <a:pt x="46977" y="4052"/>
                  </a:lnTo>
                  <a:lnTo>
                    <a:pt x="46977" y="9028"/>
                  </a:lnTo>
                  <a:close/>
                </a:path>
                <a:path w="75564" h="418464">
                  <a:moveTo>
                    <a:pt x="37544" y="342853"/>
                  </a:moveTo>
                  <a:lnTo>
                    <a:pt x="75088" y="305361"/>
                  </a:lnTo>
                  <a:lnTo>
                    <a:pt x="37544" y="417839"/>
                  </a:lnTo>
                  <a:lnTo>
                    <a:pt x="0" y="305361"/>
                  </a:lnTo>
                  <a:lnTo>
                    <a:pt x="37544" y="342853"/>
                  </a:lnTo>
                  <a:close/>
                </a:path>
              </a:pathLst>
            </a:custGeom>
            <a:ln w="6791">
              <a:solidFill>
                <a:srgbClr val="000000"/>
              </a:solidFill>
            </a:ln>
          </p:spPr>
          <p:txBody>
            <a:bodyPr wrap="square" lIns="0" tIns="0" rIns="0" bIns="0" rtlCol="0"/>
            <a:lstStyle/>
            <a:p/>
          </p:txBody>
        </p:sp>
        <p:sp>
          <p:nvSpPr>
            <p:cNvPr id="53" name="object 53" descr=""/>
            <p:cNvSpPr/>
            <p:nvPr/>
          </p:nvSpPr>
          <p:spPr>
            <a:xfrm>
              <a:off x="6517102" y="5914969"/>
              <a:ext cx="76200" cy="418465"/>
            </a:xfrm>
            <a:custGeom>
              <a:avLst/>
              <a:gdLst/>
              <a:ahLst/>
              <a:cxnLst/>
              <a:rect l="l" t="t" r="r" b="b"/>
              <a:pathLst>
                <a:path w="76200" h="418464">
                  <a:moveTo>
                    <a:pt x="0" y="305361"/>
                  </a:moveTo>
                  <a:lnTo>
                    <a:pt x="37544" y="417839"/>
                  </a:lnTo>
                  <a:lnTo>
                    <a:pt x="59736" y="352339"/>
                  </a:lnTo>
                  <a:lnTo>
                    <a:pt x="32638" y="352339"/>
                  </a:lnTo>
                  <a:lnTo>
                    <a:pt x="28488" y="347821"/>
                  </a:lnTo>
                  <a:lnTo>
                    <a:pt x="28488" y="333809"/>
                  </a:lnTo>
                  <a:lnTo>
                    <a:pt x="0" y="305361"/>
                  </a:lnTo>
                  <a:close/>
                </a:path>
                <a:path w="76200" h="418464">
                  <a:moveTo>
                    <a:pt x="28488" y="333809"/>
                  </a:moveTo>
                  <a:lnTo>
                    <a:pt x="28488" y="347821"/>
                  </a:lnTo>
                  <a:lnTo>
                    <a:pt x="32638" y="352339"/>
                  </a:lnTo>
                  <a:lnTo>
                    <a:pt x="43015" y="352339"/>
                  </a:lnTo>
                  <a:lnTo>
                    <a:pt x="47165" y="347821"/>
                  </a:lnTo>
                  <a:lnTo>
                    <a:pt x="47165" y="342853"/>
                  </a:lnTo>
                  <a:lnTo>
                    <a:pt x="37544" y="342853"/>
                  </a:lnTo>
                  <a:lnTo>
                    <a:pt x="28488" y="333809"/>
                  </a:lnTo>
                  <a:close/>
                </a:path>
                <a:path w="76200" h="418464">
                  <a:moveTo>
                    <a:pt x="75654" y="305361"/>
                  </a:moveTo>
                  <a:lnTo>
                    <a:pt x="47165" y="333387"/>
                  </a:lnTo>
                  <a:lnTo>
                    <a:pt x="47165" y="347821"/>
                  </a:lnTo>
                  <a:lnTo>
                    <a:pt x="43015" y="352339"/>
                  </a:lnTo>
                  <a:lnTo>
                    <a:pt x="59736" y="352339"/>
                  </a:lnTo>
                  <a:lnTo>
                    <a:pt x="75654" y="305361"/>
                  </a:lnTo>
                  <a:close/>
                </a:path>
                <a:path w="76200" h="418464">
                  <a:moveTo>
                    <a:pt x="43015" y="0"/>
                  </a:moveTo>
                  <a:lnTo>
                    <a:pt x="32638" y="0"/>
                  </a:lnTo>
                  <a:lnTo>
                    <a:pt x="28488" y="4052"/>
                  </a:lnTo>
                  <a:lnTo>
                    <a:pt x="28488" y="333809"/>
                  </a:lnTo>
                  <a:lnTo>
                    <a:pt x="37544" y="342853"/>
                  </a:lnTo>
                  <a:lnTo>
                    <a:pt x="47165" y="333387"/>
                  </a:lnTo>
                  <a:lnTo>
                    <a:pt x="47165" y="4052"/>
                  </a:lnTo>
                  <a:lnTo>
                    <a:pt x="43015" y="0"/>
                  </a:lnTo>
                  <a:close/>
                </a:path>
                <a:path w="76200" h="418464">
                  <a:moveTo>
                    <a:pt x="47165" y="333387"/>
                  </a:moveTo>
                  <a:lnTo>
                    <a:pt x="37544" y="342853"/>
                  </a:lnTo>
                  <a:lnTo>
                    <a:pt x="47165" y="342853"/>
                  </a:lnTo>
                  <a:lnTo>
                    <a:pt x="47165" y="333387"/>
                  </a:lnTo>
                  <a:close/>
                </a:path>
              </a:pathLst>
            </a:custGeom>
            <a:solidFill>
              <a:srgbClr val="000000"/>
            </a:solidFill>
          </p:spPr>
          <p:txBody>
            <a:bodyPr wrap="square" lIns="0" tIns="0" rIns="0" bIns="0" rtlCol="0"/>
            <a:lstStyle/>
            <a:p/>
          </p:txBody>
        </p:sp>
        <p:sp>
          <p:nvSpPr>
            <p:cNvPr id="54" name="object 54" descr=""/>
            <p:cNvSpPr/>
            <p:nvPr/>
          </p:nvSpPr>
          <p:spPr>
            <a:xfrm>
              <a:off x="6517101" y="5914969"/>
              <a:ext cx="76200" cy="418465"/>
            </a:xfrm>
            <a:custGeom>
              <a:avLst/>
              <a:gdLst/>
              <a:ahLst/>
              <a:cxnLst/>
              <a:rect l="l" t="t" r="r" b="b"/>
              <a:pathLst>
                <a:path w="76200" h="418464">
                  <a:moveTo>
                    <a:pt x="47165" y="9028"/>
                  </a:moveTo>
                  <a:lnTo>
                    <a:pt x="47165" y="342853"/>
                  </a:lnTo>
                  <a:lnTo>
                    <a:pt x="47165" y="347821"/>
                  </a:lnTo>
                  <a:lnTo>
                    <a:pt x="43015" y="352339"/>
                  </a:lnTo>
                  <a:lnTo>
                    <a:pt x="37544" y="352339"/>
                  </a:lnTo>
                  <a:lnTo>
                    <a:pt x="32638" y="352339"/>
                  </a:lnTo>
                  <a:lnTo>
                    <a:pt x="28488" y="347821"/>
                  </a:lnTo>
                  <a:lnTo>
                    <a:pt x="28488" y="342853"/>
                  </a:lnTo>
                  <a:lnTo>
                    <a:pt x="28488" y="9028"/>
                  </a:lnTo>
                  <a:lnTo>
                    <a:pt x="28488" y="4052"/>
                  </a:lnTo>
                  <a:lnTo>
                    <a:pt x="32638" y="0"/>
                  </a:lnTo>
                  <a:lnTo>
                    <a:pt x="37544" y="0"/>
                  </a:lnTo>
                  <a:lnTo>
                    <a:pt x="43015" y="0"/>
                  </a:lnTo>
                  <a:lnTo>
                    <a:pt x="47165" y="4052"/>
                  </a:lnTo>
                  <a:lnTo>
                    <a:pt x="47165" y="9028"/>
                  </a:lnTo>
                  <a:close/>
                </a:path>
                <a:path w="76200" h="418464">
                  <a:moveTo>
                    <a:pt x="37544" y="342853"/>
                  </a:moveTo>
                  <a:lnTo>
                    <a:pt x="75654" y="305361"/>
                  </a:lnTo>
                  <a:lnTo>
                    <a:pt x="37544" y="417839"/>
                  </a:lnTo>
                  <a:lnTo>
                    <a:pt x="0" y="305361"/>
                  </a:lnTo>
                  <a:lnTo>
                    <a:pt x="37544" y="342853"/>
                  </a:lnTo>
                  <a:close/>
                </a:path>
              </a:pathLst>
            </a:custGeom>
            <a:ln w="6791">
              <a:solidFill>
                <a:srgbClr val="000000"/>
              </a:solidFill>
            </a:ln>
          </p:spPr>
          <p:txBody>
            <a:bodyPr wrap="square" lIns="0" tIns="0" rIns="0" bIns="0" rtlCol="0"/>
            <a:lstStyle/>
            <a:p/>
          </p:txBody>
        </p:sp>
        <p:sp>
          <p:nvSpPr>
            <p:cNvPr id="55" name="object 55" descr=""/>
            <p:cNvSpPr/>
            <p:nvPr/>
          </p:nvSpPr>
          <p:spPr>
            <a:xfrm>
              <a:off x="3700726" y="5213437"/>
              <a:ext cx="76200" cy="419100"/>
            </a:xfrm>
            <a:custGeom>
              <a:avLst/>
              <a:gdLst/>
              <a:ahLst/>
              <a:cxnLst/>
              <a:rect l="l" t="t" r="r" b="b"/>
              <a:pathLst>
                <a:path w="76200" h="419100">
                  <a:moveTo>
                    <a:pt x="0" y="305368"/>
                  </a:moveTo>
                  <a:lnTo>
                    <a:pt x="38110" y="418743"/>
                  </a:lnTo>
                  <a:lnTo>
                    <a:pt x="60099" y="352339"/>
                  </a:lnTo>
                  <a:lnTo>
                    <a:pt x="33204" y="352339"/>
                  </a:lnTo>
                  <a:lnTo>
                    <a:pt x="28676" y="348739"/>
                  </a:lnTo>
                  <a:lnTo>
                    <a:pt x="28676" y="333579"/>
                  </a:lnTo>
                  <a:lnTo>
                    <a:pt x="0" y="305368"/>
                  </a:lnTo>
                  <a:close/>
                </a:path>
                <a:path w="76200" h="419100">
                  <a:moveTo>
                    <a:pt x="28676" y="333579"/>
                  </a:moveTo>
                  <a:lnTo>
                    <a:pt x="28676" y="348739"/>
                  </a:lnTo>
                  <a:lnTo>
                    <a:pt x="33204" y="352339"/>
                  </a:lnTo>
                  <a:lnTo>
                    <a:pt x="43581" y="352339"/>
                  </a:lnTo>
                  <a:lnTo>
                    <a:pt x="47165" y="348739"/>
                  </a:lnTo>
                  <a:lnTo>
                    <a:pt x="47165" y="342858"/>
                  </a:lnTo>
                  <a:lnTo>
                    <a:pt x="38110" y="342858"/>
                  </a:lnTo>
                  <a:lnTo>
                    <a:pt x="28676" y="333579"/>
                  </a:lnTo>
                  <a:close/>
                </a:path>
                <a:path w="76200" h="419100">
                  <a:moveTo>
                    <a:pt x="75654" y="305368"/>
                  </a:moveTo>
                  <a:lnTo>
                    <a:pt x="47165" y="333815"/>
                  </a:lnTo>
                  <a:lnTo>
                    <a:pt x="47165" y="348739"/>
                  </a:lnTo>
                  <a:lnTo>
                    <a:pt x="43581" y="352339"/>
                  </a:lnTo>
                  <a:lnTo>
                    <a:pt x="60099" y="352339"/>
                  </a:lnTo>
                  <a:lnTo>
                    <a:pt x="75654" y="305368"/>
                  </a:lnTo>
                  <a:close/>
                </a:path>
                <a:path w="76200" h="419100">
                  <a:moveTo>
                    <a:pt x="43581" y="0"/>
                  </a:moveTo>
                  <a:lnTo>
                    <a:pt x="33204" y="0"/>
                  </a:lnTo>
                  <a:lnTo>
                    <a:pt x="28676" y="4071"/>
                  </a:lnTo>
                  <a:lnTo>
                    <a:pt x="28676" y="333579"/>
                  </a:lnTo>
                  <a:lnTo>
                    <a:pt x="38110" y="342858"/>
                  </a:lnTo>
                  <a:lnTo>
                    <a:pt x="47165" y="333815"/>
                  </a:lnTo>
                  <a:lnTo>
                    <a:pt x="47165" y="4071"/>
                  </a:lnTo>
                  <a:lnTo>
                    <a:pt x="43581" y="0"/>
                  </a:lnTo>
                  <a:close/>
                </a:path>
                <a:path w="76200" h="419100">
                  <a:moveTo>
                    <a:pt x="47165" y="333815"/>
                  </a:moveTo>
                  <a:lnTo>
                    <a:pt x="38110" y="342858"/>
                  </a:lnTo>
                  <a:lnTo>
                    <a:pt x="47165" y="342858"/>
                  </a:lnTo>
                  <a:lnTo>
                    <a:pt x="47165" y="333815"/>
                  </a:lnTo>
                  <a:close/>
                </a:path>
              </a:pathLst>
            </a:custGeom>
            <a:solidFill>
              <a:srgbClr val="000000"/>
            </a:solidFill>
          </p:spPr>
          <p:txBody>
            <a:bodyPr wrap="square" lIns="0" tIns="0" rIns="0" bIns="0" rtlCol="0"/>
            <a:lstStyle/>
            <a:p/>
          </p:txBody>
        </p:sp>
        <p:sp>
          <p:nvSpPr>
            <p:cNvPr id="56" name="object 56" descr=""/>
            <p:cNvSpPr/>
            <p:nvPr/>
          </p:nvSpPr>
          <p:spPr>
            <a:xfrm>
              <a:off x="3700726" y="5213437"/>
              <a:ext cx="76200" cy="419100"/>
            </a:xfrm>
            <a:custGeom>
              <a:avLst/>
              <a:gdLst/>
              <a:ahLst/>
              <a:cxnLst/>
              <a:rect l="l" t="t" r="r" b="b"/>
              <a:pathLst>
                <a:path w="76200" h="419100">
                  <a:moveTo>
                    <a:pt x="47165" y="9933"/>
                  </a:moveTo>
                  <a:lnTo>
                    <a:pt x="47165" y="342858"/>
                  </a:lnTo>
                  <a:lnTo>
                    <a:pt x="47165" y="348739"/>
                  </a:lnTo>
                  <a:lnTo>
                    <a:pt x="43581" y="352339"/>
                  </a:lnTo>
                  <a:lnTo>
                    <a:pt x="38110" y="352339"/>
                  </a:lnTo>
                  <a:lnTo>
                    <a:pt x="33204" y="352339"/>
                  </a:lnTo>
                  <a:lnTo>
                    <a:pt x="28676" y="348739"/>
                  </a:lnTo>
                  <a:lnTo>
                    <a:pt x="28676" y="342858"/>
                  </a:lnTo>
                  <a:lnTo>
                    <a:pt x="28676" y="9933"/>
                  </a:lnTo>
                  <a:lnTo>
                    <a:pt x="28676" y="4071"/>
                  </a:lnTo>
                  <a:lnTo>
                    <a:pt x="33204" y="0"/>
                  </a:lnTo>
                  <a:lnTo>
                    <a:pt x="38110" y="0"/>
                  </a:lnTo>
                  <a:lnTo>
                    <a:pt x="43581" y="0"/>
                  </a:lnTo>
                  <a:lnTo>
                    <a:pt x="47165" y="4071"/>
                  </a:lnTo>
                  <a:lnTo>
                    <a:pt x="47165" y="9933"/>
                  </a:lnTo>
                  <a:close/>
                </a:path>
                <a:path w="76200" h="419100">
                  <a:moveTo>
                    <a:pt x="38110" y="342858"/>
                  </a:moveTo>
                  <a:lnTo>
                    <a:pt x="75654" y="305368"/>
                  </a:lnTo>
                  <a:lnTo>
                    <a:pt x="38110" y="418743"/>
                  </a:lnTo>
                  <a:lnTo>
                    <a:pt x="0" y="305368"/>
                  </a:lnTo>
                  <a:lnTo>
                    <a:pt x="38110" y="342858"/>
                  </a:lnTo>
                  <a:close/>
                </a:path>
              </a:pathLst>
            </a:custGeom>
            <a:ln w="6791">
              <a:solidFill>
                <a:srgbClr val="000000"/>
              </a:solidFill>
            </a:ln>
          </p:spPr>
          <p:txBody>
            <a:bodyPr wrap="square" lIns="0" tIns="0" rIns="0" bIns="0" rtlCol="0"/>
            <a:lstStyle/>
            <a:p/>
          </p:txBody>
        </p:sp>
        <p:sp>
          <p:nvSpPr>
            <p:cNvPr id="57" name="object 57" descr=""/>
            <p:cNvSpPr/>
            <p:nvPr/>
          </p:nvSpPr>
          <p:spPr>
            <a:xfrm>
              <a:off x="4414631" y="5213437"/>
              <a:ext cx="76200" cy="419100"/>
            </a:xfrm>
            <a:custGeom>
              <a:avLst/>
              <a:gdLst/>
              <a:ahLst/>
              <a:cxnLst/>
              <a:rect l="l" t="t" r="r" b="b"/>
              <a:pathLst>
                <a:path w="76200" h="419100">
                  <a:moveTo>
                    <a:pt x="0" y="305368"/>
                  </a:moveTo>
                  <a:lnTo>
                    <a:pt x="38110" y="418743"/>
                  </a:lnTo>
                  <a:lnTo>
                    <a:pt x="60099" y="352339"/>
                  </a:lnTo>
                  <a:lnTo>
                    <a:pt x="32638" y="352339"/>
                  </a:lnTo>
                  <a:lnTo>
                    <a:pt x="28676" y="348739"/>
                  </a:lnTo>
                  <a:lnTo>
                    <a:pt x="28676" y="333579"/>
                  </a:lnTo>
                  <a:lnTo>
                    <a:pt x="0" y="305368"/>
                  </a:lnTo>
                  <a:close/>
                </a:path>
                <a:path w="76200" h="419100">
                  <a:moveTo>
                    <a:pt x="28676" y="333579"/>
                  </a:moveTo>
                  <a:lnTo>
                    <a:pt x="28676" y="348739"/>
                  </a:lnTo>
                  <a:lnTo>
                    <a:pt x="32638" y="352339"/>
                  </a:lnTo>
                  <a:lnTo>
                    <a:pt x="43581" y="352339"/>
                  </a:lnTo>
                  <a:lnTo>
                    <a:pt x="47165" y="348739"/>
                  </a:lnTo>
                  <a:lnTo>
                    <a:pt x="47165" y="342858"/>
                  </a:lnTo>
                  <a:lnTo>
                    <a:pt x="38110" y="342858"/>
                  </a:lnTo>
                  <a:lnTo>
                    <a:pt x="28676" y="333579"/>
                  </a:lnTo>
                  <a:close/>
                </a:path>
                <a:path w="76200" h="419100">
                  <a:moveTo>
                    <a:pt x="75654" y="305368"/>
                  </a:moveTo>
                  <a:lnTo>
                    <a:pt x="47165" y="333815"/>
                  </a:lnTo>
                  <a:lnTo>
                    <a:pt x="47165" y="348739"/>
                  </a:lnTo>
                  <a:lnTo>
                    <a:pt x="43581" y="352339"/>
                  </a:lnTo>
                  <a:lnTo>
                    <a:pt x="60099" y="352339"/>
                  </a:lnTo>
                  <a:lnTo>
                    <a:pt x="75654" y="305368"/>
                  </a:lnTo>
                  <a:close/>
                </a:path>
                <a:path w="76200" h="419100">
                  <a:moveTo>
                    <a:pt x="43581" y="0"/>
                  </a:moveTo>
                  <a:lnTo>
                    <a:pt x="32638" y="0"/>
                  </a:lnTo>
                  <a:lnTo>
                    <a:pt x="28676" y="4071"/>
                  </a:lnTo>
                  <a:lnTo>
                    <a:pt x="28676" y="333579"/>
                  </a:lnTo>
                  <a:lnTo>
                    <a:pt x="38110" y="342858"/>
                  </a:lnTo>
                  <a:lnTo>
                    <a:pt x="47165" y="333815"/>
                  </a:lnTo>
                  <a:lnTo>
                    <a:pt x="47165" y="4071"/>
                  </a:lnTo>
                  <a:lnTo>
                    <a:pt x="43581" y="0"/>
                  </a:lnTo>
                  <a:close/>
                </a:path>
                <a:path w="76200" h="419100">
                  <a:moveTo>
                    <a:pt x="47165" y="333815"/>
                  </a:moveTo>
                  <a:lnTo>
                    <a:pt x="38110" y="342858"/>
                  </a:lnTo>
                  <a:lnTo>
                    <a:pt x="47165" y="342858"/>
                  </a:lnTo>
                  <a:lnTo>
                    <a:pt x="47165" y="333815"/>
                  </a:lnTo>
                  <a:close/>
                </a:path>
              </a:pathLst>
            </a:custGeom>
            <a:solidFill>
              <a:srgbClr val="000000"/>
            </a:solidFill>
          </p:spPr>
          <p:txBody>
            <a:bodyPr wrap="square" lIns="0" tIns="0" rIns="0" bIns="0" rtlCol="0"/>
            <a:lstStyle/>
            <a:p/>
          </p:txBody>
        </p:sp>
        <p:sp>
          <p:nvSpPr>
            <p:cNvPr id="58" name="object 58" descr=""/>
            <p:cNvSpPr/>
            <p:nvPr/>
          </p:nvSpPr>
          <p:spPr>
            <a:xfrm>
              <a:off x="4414631" y="5213437"/>
              <a:ext cx="76200" cy="419100"/>
            </a:xfrm>
            <a:custGeom>
              <a:avLst/>
              <a:gdLst/>
              <a:ahLst/>
              <a:cxnLst/>
              <a:rect l="l" t="t" r="r" b="b"/>
              <a:pathLst>
                <a:path w="76200" h="419100">
                  <a:moveTo>
                    <a:pt x="47165" y="9933"/>
                  </a:moveTo>
                  <a:lnTo>
                    <a:pt x="47165" y="342858"/>
                  </a:lnTo>
                  <a:lnTo>
                    <a:pt x="47165" y="348739"/>
                  </a:lnTo>
                  <a:lnTo>
                    <a:pt x="43581" y="352339"/>
                  </a:lnTo>
                  <a:lnTo>
                    <a:pt x="38110" y="352339"/>
                  </a:lnTo>
                  <a:lnTo>
                    <a:pt x="32638" y="352339"/>
                  </a:lnTo>
                  <a:lnTo>
                    <a:pt x="28676" y="348739"/>
                  </a:lnTo>
                  <a:lnTo>
                    <a:pt x="28676" y="342858"/>
                  </a:lnTo>
                  <a:lnTo>
                    <a:pt x="28676" y="9933"/>
                  </a:lnTo>
                  <a:lnTo>
                    <a:pt x="28676" y="4071"/>
                  </a:lnTo>
                  <a:lnTo>
                    <a:pt x="32638" y="0"/>
                  </a:lnTo>
                  <a:lnTo>
                    <a:pt x="38110" y="0"/>
                  </a:lnTo>
                  <a:lnTo>
                    <a:pt x="43581" y="0"/>
                  </a:lnTo>
                  <a:lnTo>
                    <a:pt x="47165" y="4071"/>
                  </a:lnTo>
                  <a:lnTo>
                    <a:pt x="47165" y="9933"/>
                  </a:lnTo>
                  <a:close/>
                </a:path>
                <a:path w="76200" h="419100">
                  <a:moveTo>
                    <a:pt x="38110" y="342858"/>
                  </a:moveTo>
                  <a:lnTo>
                    <a:pt x="75654" y="305368"/>
                  </a:lnTo>
                  <a:lnTo>
                    <a:pt x="38110" y="418743"/>
                  </a:lnTo>
                  <a:lnTo>
                    <a:pt x="0" y="305368"/>
                  </a:lnTo>
                  <a:lnTo>
                    <a:pt x="38110" y="342858"/>
                  </a:lnTo>
                  <a:close/>
                </a:path>
              </a:pathLst>
            </a:custGeom>
            <a:ln w="6791">
              <a:solidFill>
                <a:srgbClr val="000000"/>
              </a:solidFill>
            </a:ln>
          </p:spPr>
          <p:txBody>
            <a:bodyPr wrap="square" lIns="0" tIns="0" rIns="0" bIns="0" rtlCol="0"/>
            <a:lstStyle/>
            <a:p/>
          </p:txBody>
        </p:sp>
        <p:sp>
          <p:nvSpPr>
            <p:cNvPr id="59" name="object 59" descr=""/>
            <p:cNvSpPr/>
            <p:nvPr/>
          </p:nvSpPr>
          <p:spPr>
            <a:xfrm>
              <a:off x="6913484" y="5155176"/>
              <a:ext cx="76200" cy="477520"/>
            </a:xfrm>
            <a:custGeom>
              <a:avLst/>
              <a:gdLst/>
              <a:ahLst/>
              <a:cxnLst/>
              <a:rect l="l" t="t" r="r" b="b"/>
              <a:pathLst>
                <a:path w="76200" h="477520">
                  <a:moveTo>
                    <a:pt x="0" y="363630"/>
                  </a:moveTo>
                  <a:lnTo>
                    <a:pt x="37544" y="477005"/>
                  </a:lnTo>
                  <a:lnTo>
                    <a:pt x="59865" y="410601"/>
                  </a:lnTo>
                  <a:lnTo>
                    <a:pt x="32638" y="410601"/>
                  </a:lnTo>
                  <a:lnTo>
                    <a:pt x="28488" y="407001"/>
                  </a:lnTo>
                  <a:lnTo>
                    <a:pt x="28488" y="392077"/>
                  </a:lnTo>
                  <a:lnTo>
                    <a:pt x="0" y="363630"/>
                  </a:lnTo>
                  <a:close/>
                </a:path>
                <a:path w="76200" h="477520">
                  <a:moveTo>
                    <a:pt x="28488" y="392077"/>
                  </a:moveTo>
                  <a:lnTo>
                    <a:pt x="28488" y="407001"/>
                  </a:lnTo>
                  <a:lnTo>
                    <a:pt x="32638" y="410601"/>
                  </a:lnTo>
                  <a:lnTo>
                    <a:pt x="43392" y="410601"/>
                  </a:lnTo>
                  <a:lnTo>
                    <a:pt x="47165" y="407001"/>
                  </a:lnTo>
                  <a:lnTo>
                    <a:pt x="47165" y="401120"/>
                  </a:lnTo>
                  <a:lnTo>
                    <a:pt x="37544" y="401120"/>
                  </a:lnTo>
                  <a:lnTo>
                    <a:pt x="28488" y="392077"/>
                  </a:lnTo>
                  <a:close/>
                </a:path>
                <a:path w="76200" h="477520">
                  <a:moveTo>
                    <a:pt x="75654" y="363630"/>
                  </a:moveTo>
                  <a:lnTo>
                    <a:pt x="47165" y="391654"/>
                  </a:lnTo>
                  <a:lnTo>
                    <a:pt x="47165" y="407001"/>
                  </a:lnTo>
                  <a:lnTo>
                    <a:pt x="43392" y="410601"/>
                  </a:lnTo>
                  <a:lnTo>
                    <a:pt x="59865" y="410601"/>
                  </a:lnTo>
                  <a:lnTo>
                    <a:pt x="75654" y="363630"/>
                  </a:lnTo>
                  <a:close/>
                </a:path>
                <a:path w="76200" h="477520">
                  <a:moveTo>
                    <a:pt x="43392" y="0"/>
                  </a:moveTo>
                  <a:lnTo>
                    <a:pt x="32638" y="0"/>
                  </a:lnTo>
                  <a:lnTo>
                    <a:pt x="28488" y="4504"/>
                  </a:lnTo>
                  <a:lnTo>
                    <a:pt x="28488" y="392077"/>
                  </a:lnTo>
                  <a:lnTo>
                    <a:pt x="37544" y="401120"/>
                  </a:lnTo>
                  <a:lnTo>
                    <a:pt x="47165" y="391654"/>
                  </a:lnTo>
                  <a:lnTo>
                    <a:pt x="47165" y="4504"/>
                  </a:lnTo>
                  <a:lnTo>
                    <a:pt x="43392" y="0"/>
                  </a:lnTo>
                  <a:close/>
                </a:path>
                <a:path w="76200" h="477520">
                  <a:moveTo>
                    <a:pt x="47165" y="391654"/>
                  </a:moveTo>
                  <a:lnTo>
                    <a:pt x="37544" y="401120"/>
                  </a:lnTo>
                  <a:lnTo>
                    <a:pt x="47165" y="401120"/>
                  </a:lnTo>
                  <a:lnTo>
                    <a:pt x="47165" y="391654"/>
                  </a:lnTo>
                  <a:close/>
                </a:path>
              </a:pathLst>
            </a:custGeom>
            <a:solidFill>
              <a:srgbClr val="000000"/>
            </a:solidFill>
          </p:spPr>
          <p:txBody>
            <a:bodyPr wrap="square" lIns="0" tIns="0" rIns="0" bIns="0" rtlCol="0"/>
            <a:lstStyle/>
            <a:p/>
          </p:txBody>
        </p:sp>
        <p:sp>
          <p:nvSpPr>
            <p:cNvPr id="60" name="object 60" descr=""/>
            <p:cNvSpPr/>
            <p:nvPr/>
          </p:nvSpPr>
          <p:spPr>
            <a:xfrm>
              <a:off x="6913484" y="5155176"/>
              <a:ext cx="76200" cy="477520"/>
            </a:xfrm>
            <a:custGeom>
              <a:avLst/>
              <a:gdLst/>
              <a:ahLst/>
              <a:cxnLst/>
              <a:rect l="l" t="t" r="r" b="b"/>
              <a:pathLst>
                <a:path w="76200" h="477520">
                  <a:moveTo>
                    <a:pt x="47165" y="9480"/>
                  </a:moveTo>
                  <a:lnTo>
                    <a:pt x="47165" y="401120"/>
                  </a:lnTo>
                  <a:lnTo>
                    <a:pt x="47165" y="407001"/>
                  </a:lnTo>
                  <a:lnTo>
                    <a:pt x="43392" y="410601"/>
                  </a:lnTo>
                  <a:lnTo>
                    <a:pt x="37544" y="410601"/>
                  </a:lnTo>
                  <a:lnTo>
                    <a:pt x="32638" y="410601"/>
                  </a:lnTo>
                  <a:lnTo>
                    <a:pt x="28488" y="407001"/>
                  </a:lnTo>
                  <a:lnTo>
                    <a:pt x="28488" y="401120"/>
                  </a:lnTo>
                  <a:lnTo>
                    <a:pt x="28488" y="9480"/>
                  </a:lnTo>
                  <a:lnTo>
                    <a:pt x="28488" y="4504"/>
                  </a:lnTo>
                  <a:lnTo>
                    <a:pt x="32638" y="0"/>
                  </a:lnTo>
                  <a:lnTo>
                    <a:pt x="37544" y="0"/>
                  </a:lnTo>
                  <a:lnTo>
                    <a:pt x="43392" y="0"/>
                  </a:lnTo>
                  <a:lnTo>
                    <a:pt x="47165" y="4504"/>
                  </a:lnTo>
                  <a:lnTo>
                    <a:pt x="47165" y="9480"/>
                  </a:lnTo>
                  <a:close/>
                </a:path>
                <a:path w="76200" h="477520">
                  <a:moveTo>
                    <a:pt x="37544" y="401120"/>
                  </a:moveTo>
                  <a:lnTo>
                    <a:pt x="75654" y="363630"/>
                  </a:lnTo>
                  <a:lnTo>
                    <a:pt x="37544" y="477005"/>
                  </a:lnTo>
                  <a:lnTo>
                    <a:pt x="0" y="363630"/>
                  </a:lnTo>
                  <a:lnTo>
                    <a:pt x="37544" y="401120"/>
                  </a:lnTo>
                  <a:close/>
                </a:path>
              </a:pathLst>
            </a:custGeom>
            <a:ln w="6791">
              <a:solidFill>
                <a:srgbClr val="000000"/>
              </a:solidFill>
            </a:ln>
          </p:spPr>
          <p:txBody>
            <a:bodyPr wrap="square" lIns="0" tIns="0" rIns="0" bIns="0" rtlCol="0"/>
            <a:lstStyle/>
            <a:p/>
          </p:txBody>
        </p:sp>
        <p:sp>
          <p:nvSpPr>
            <p:cNvPr id="61" name="object 61" descr=""/>
            <p:cNvSpPr/>
            <p:nvPr/>
          </p:nvSpPr>
          <p:spPr>
            <a:xfrm>
              <a:off x="3738836" y="4405391"/>
              <a:ext cx="3847465" cy="0"/>
            </a:xfrm>
            <a:custGeom>
              <a:avLst/>
              <a:gdLst/>
              <a:ahLst/>
              <a:cxnLst/>
              <a:rect l="l" t="t" r="r" b="b"/>
              <a:pathLst>
                <a:path w="3847465" h="0">
                  <a:moveTo>
                    <a:pt x="0" y="0"/>
                  </a:moveTo>
                  <a:lnTo>
                    <a:pt x="3847423" y="0"/>
                  </a:lnTo>
                </a:path>
              </a:pathLst>
            </a:custGeom>
            <a:ln w="14029">
              <a:solidFill>
                <a:srgbClr val="0000FF"/>
              </a:solidFill>
            </a:ln>
          </p:spPr>
          <p:txBody>
            <a:bodyPr wrap="square" lIns="0" tIns="0" rIns="0" bIns="0" rtlCol="0"/>
            <a:lstStyle/>
            <a:p/>
          </p:txBody>
        </p:sp>
        <p:sp>
          <p:nvSpPr>
            <p:cNvPr id="62" name="object 62" descr=""/>
            <p:cNvSpPr/>
            <p:nvPr/>
          </p:nvSpPr>
          <p:spPr>
            <a:xfrm>
              <a:off x="3700726" y="3869521"/>
              <a:ext cx="76200" cy="769620"/>
            </a:xfrm>
            <a:custGeom>
              <a:avLst/>
              <a:gdLst/>
              <a:ahLst/>
              <a:cxnLst/>
              <a:rect l="l" t="t" r="r" b="b"/>
              <a:pathLst>
                <a:path w="76200" h="769620">
                  <a:moveTo>
                    <a:pt x="0" y="655936"/>
                  </a:moveTo>
                  <a:lnTo>
                    <a:pt x="38110" y="769330"/>
                  </a:lnTo>
                  <a:lnTo>
                    <a:pt x="59946" y="703378"/>
                  </a:lnTo>
                  <a:lnTo>
                    <a:pt x="33204" y="703378"/>
                  </a:lnTo>
                  <a:lnTo>
                    <a:pt x="28676" y="698855"/>
                  </a:lnTo>
                  <a:lnTo>
                    <a:pt x="28676" y="684501"/>
                  </a:lnTo>
                  <a:lnTo>
                    <a:pt x="0" y="655936"/>
                  </a:lnTo>
                  <a:close/>
                </a:path>
                <a:path w="76200" h="769620">
                  <a:moveTo>
                    <a:pt x="28676" y="684501"/>
                  </a:moveTo>
                  <a:lnTo>
                    <a:pt x="28676" y="698855"/>
                  </a:lnTo>
                  <a:lnTo>
                    <a:pt x="33204" y="703378"/>
                  </a:lnTo>
                  <a:lnTo>
                    <a:pt x="43581" y="703378"/>
                  </a:lnTo>
                  <a:lnTo>
                    <a:pt x="47165" y="698855"/>
                  </a:lnTo>
                  <a:lnTo>
                    <a:pt x="47165" y="693897"/>
                  </a:lnTo>
                  <a:lnTo>
                    <a:pt x="38110" y="693897"/>
                  </a:lnTo>
                  <a:lnTo>
                    <a:pt x="28676" y="684501"/>
                  </a:lnTo>
                  <a:close/>
                </a:path>
                <a:path w="76200" h="769620">
                  <a:moveTo>
                    <a:pt x="75654" y="655936"/>
                  </a:moveTo>
                  <a:lnTo>
                    <a:pt x="47165" y="684741"/>
                  </a:lnTo>
                  <a:lnTo>
                    <a:pt x="47165" y="698855"/>
                  </a:lnTo>
                  <a:lnTo>
                    <a:pt x="43581" y="703378"/>
                  </a:lnTo>
                  <a:lnTo>
                    <a:pt x="59946" y="703378"/>
                  </a:lnTo>
                  <a:lnTo>
                    <a:pt x="75654" y="655936"/>
                  </a:lnTo>
                  <a:close/>
                </a:path>
                <a:path w="76200" h="769620">
                  <a:moveTo>
                    <a:pt x="43581" y="0"/>
                  </a:moveTo>
                  <a:lnTo>
                    <a:pt x="33204" y="0"/>
                  </a:lnTo>
                  <a:lnTo>
                    <a:pt x="28676" y="4523"/>
                  </a:lnTo>
                  <a:lnTo>
                    <a:pt x="28676" y="684501"/>
                  </a:lnTo>
                  <a:lnTo>
                    <a:pt x="38110" y="693897"/>
                  </a:lnTo>
                  <a:lnTo>
                    <a:pt x="47165" y="684741"/>
                  </a:lnTo>
                  <a:lnTo>
                    <a:pt x="47165" y="4523"/>
                  </a:lnTo>
                  <a:lnTo>
                    <a:pt x="43581" y="0"/>
                  </a:lnTo>
                  <a:close/>
                </a:path>
                <a:path w="76200" h="769620">
                  <a:moveTo>
                    <a:pt x="47165" y="684741"/>
                  </a:moveTo>
                  <a:lnTo>
                    <a:pt x="38110" y="693897"/>
                  </a:lnTo>
                  <a:lnTo>
                    <a:pt x="47165" y="693897"/>
                  </a:lnTo>
                  <a:lnTo>
                    <a:pt x="47165" y="684741"/>
                  </a:lnTo>
                  <a:close/>
                </a:path>
              </a:pathLst>
            </a:custGeom>
            <a:solidFill>
              <a:srgbClr val="000000"/>
            </a:solidFill>
          </p:spPr>
          <p:txBody>
            <a:bodyPr wrap="square" lIns="0" tIns="0" rIns="0" bIns="0" rtlCol="0"/>
            <a:lstStyle/>
            <a:p/>
          </p:txBody>
        </p:sp>
        <p:sp>
          <p:nvSpPr>
            <p:cNvPr id="63" name="object 63" descr=""/>
            <p:cNvSpPr/>
            <p:nvPr/>
          </p:nvSpPr>
          <p:spPr>
            <a:xfrm>
              <a:off x="3700726" y="3869521"/>
              <a:ext cx="76200" cy="769620"/>
            </a:xfrm>
            <a:custGeom>
              <a:avLst/>
              <a:gdLst/>
              <a:ahLst/>
              <a:cxnLst/>
              <a:rect l="l" t="t" r="r" b="b"/>
              <a:pathLst>
                <a:path w="76200" h="769620">
                  <a:moveTo>
                    <a:pt x="47165" y="9989"/>
                  </a:moveTo>
                  <a:lnTo>
                    <a:pt x="47165" y="693897"/>
                  </a:lnTo>
                  <a:lnTo>
                    <a:pt x="47165" y="698855"/>
                  </a:lnTo>
                  <a:lnTo>
                    <a:pt x="43581" y="703378"/>
                  </a:lnTo>
                  <a:lnTo>
                    <a:pt x="38110" y="703378"/>
                  </a:lnTo>
                  <a:lnTo>
                    <a:pt x="33204" y="703378"/>
                  </a:lnTo>
                  <a:lnTo>
                    <a:pt x="28676" y="698855"/>
                  </a:lnTo>
                  <a:lnTo>
                    <a:pt x="28676" y="693897"/>
                  </a:lnTo>
                  <a:lnTo>
                    <a:pt x="28676" y="9989"/>
                  </a:lnTo>
                  <a:lnTo>
                    <a:pt x="28676" y="4523"/>
                  </a:lnTo>
                  <a:lnTo>
                    <a:pt x="33204" y="0"/>
                  </a:lnTo>
                  <a:lnTo>
                    <a:pt x="38110" y="0"/>
                  </a:lnTo>
                  <a:lnTo>
                    <a:pt x="43581" y="0"/>
                  </a:lnTo>
                  <a:lnTo>
                    <a:pt x="47165" y="4523"/>
                  </a:lnTo>
                  <a:lnTo>
                    <a:pt x="47165" y="9989"/>
                  </a:lnTo>
                  <a:close/>
                </a:path>
                <a:path w="76200" h="769620">
                  <a:moveTo>
                    <a:pt x="38110" y="693897"/>
                  </a:moveTo>
                  <a:lnTo>
                    <a:pt x="75654" y="655936"/>
                  </a:lnTo>
                  <a:lnTo>
                    <a:pt x="38110" y="769330"/>
                  </a:lnTo>
                  <a:lnTo>
                    <a:pt x="0" y="655936"/>
                  </a:lnTo>
                  <a:lnTo>
                    <a:pt x="38110" y="693897"/>
                  </a:lnTo>
                  <a:close/>
                </a:path>
              </a:pathLst>
            </a:custGeom>
            <a:ln w="6791">
              <a:solidFill>
                <a:srgbClr val="000000"/>
              </a:solidFill>
            </a:ln>
          </p:spPr>
          <p:txBody>
            <a:bodyPr wrap="square" lIns="0" tIns="0" rIns="0" bIns="0" rtlCol="0"/>
            <a:lstStyle/>
            <a:p/>
          </p:txBody>
        </p:sp>
        <p:sp>
          <p:nvSpPr>
            <p:cNvPr id="64" name="object 64" descr=""/>
            <p:cNvSpPr/>
            <p:nvPr/>
          </p:nvSpPr>
          <p:spPr>
            <a:xfrm>
              <a:off x="4375389" y="3694793"/>
              <a:ext cx="76200" cy="944244"/>
            </a:xfrm>
            <a:custGeom>
              <a:avLst/>
              <a:gdLst/>
              <a:ahLst/>
              <a:cxnLst/>
              <a:rect l="l" t="t" r="r" b="b"/>
              <a:pathLst>
                <a:path w="76200" h="944245">
                  <a:moveTo>
                    <a:pt x="0" y="830664"/>
                  </a:moveTo>
                  <a:lnTo>
                    <a:pt x="37921" y="944058"/>
                  </a:lnTo>
                  <a:lnTo>
                    <a:pt x="59867" y="878106"/>
                  </a:lnTo>
                  <a:lnTo>
                    <a:pt x="32450" y="878106"/>
                  </a:lnTo>
                  <a:lnTo>
                    <a:pt x="28488" y="873582"/>
                  </a:lnTo>
                  <a:lnTo>
                    <a:pt x="28488" y="859182"/>
                  </a:lnTo>
                  <a:lnTo>
                    <a:pt x="0" y="830664"/>
                  </a:lnTo>
                  <a:close/>
                </a:path>
                <a:path w="76200" h="944245">
                  <a:moveTo>
                    <a:pt x="28488" y="859182"/>
                  </a:moveTo>
                  <a:lnTo>
                    <a:pt x="28488" y="873582"/>
                  </a:lnTo>
                  <a:lnTo>
                    <a:pt x="32450" y="878106"/>
                  </a:lnTo>
                  <a:lnTo>
                    <a:pt x="43015" y="878106"/>
                  </a:lnTo>
                  <a:lnTo>
                    <a:pt x="46977" y="873582"/>
                  </a:lnTo>
                  <a:lnTo>
                    <a:pt x="46977" y="868625"/>
                  </a:lnTo>
                  <a:lnTo>
                    <a:pt x="37921" y="868625"/>
                  </a:lnTo>
                  <a:lnTo>
                    <a:pt x="28488" y="859182"/>
                  </a:lnTo>
                  <a:close/>
                </a:path>
                <a:path w="76200" h="944245">
                  <a:moveTo>
                    <a:pt x="75654" y="830664"/>
                  </a:moveTo>
                  <a:lnTo>
                    <a:pt x="46977" y="859515"/>
                  </a:lnTo>
                  <a:lnTo>
                    <a:pt x="46977" y="873582"/>
                  </a:lnTo>
                  <a:lnTo>
                    <a:pt x="43015" y="878106"/>
                  </a:lnTo>
                  <a:lnTo>
                    <a:pt x="59867" y="878106"/>
                  </a:lnTo>
                  <a:lnTo>
                    <a:pt x="75654" y="830664"/>
                  </a:lnTo>
                  <a:close/>
                </a:path>
                <a:path w="76200" h="944245">
                  <a:moveTo>
                    <a:pt x="43015" y="0"/>
                  </a:moveTo>
                  <a:lnTo>
                    <a:pt x="32450" y="0"/>
                  </a:lnTo>
                  <a:lnTo>
                    <a:pt x="28488" y="3958"/>
                  </a:lnTo>
                  <a:lnTo>
                    <a:pt x="28488" y="859182"/>
                  </a:lnTo>
                  <a:lnTo>
                    <a:pt x="37921" y="868625"/>
                  </a:lnTo>
                  <a:lnTo>
                    <a:pt x="46977" y="859515"/>
                  </a:lnTo>
                  <a:lnTo>
                    <a:pt x="46977" y="3958"/>
                  </a:lnTo>
                  <a:lnTo>
                    <a:pt x="43015" y="0"/>
                  </a:lnTo>
                  <a:close/>
                </a:path>
                <a:path w="76200" h="944245">
                  <a:moveTo>
                    <a:pt x="46977" y="859515"/>
                  </a:moveTo>
                  <a:lnTo>
                    <a:pt x="37921" y="868625"/>
                  </a:lnTo>
                  <a:lnTo>
                    <a:pt x="46977" y="868625"/>
                  </a:lnTo>
                  <a:lnTo>
                    <a:pt x="46977" y="859515"/>
                  </a:lnTo>
                  <a:close/>
                </a:path>
              </a:pathLst>
            </a:custGeom>
            <a:solidFill>
              <a:srgbClr val="000000"/>
            </a:solidFill>
          </p:spPr>
          <p:txBody>
            <a:bodyPr wrap="square" lIns="0" tIns="0" rIns="0" bIns="0" rtlCol="0"/>
            <a:lstStyle/>
            <a:p/>
          </p:txBody>
        </p:sp>
        <p:sp>
          <p:nvSpPr>
            <p:cNvPr id="65" name="object 65" descr=""/>
            <p:cNvSpPr/>
            <p:nvPr/>
          </p:nvSpPr>
          <p:spPr>
            <a:xfrm>
              <a:off x="4375388" y="3694793"/>
              <a:ext cx="76200" cy="944244"/>
            </a:xfrm>
            <a:custGeom>
              <a:avLst/>
              <a:gdLst/>
              <a:ahLst/>
              <a:cxnLst/>
              <a:rect l="l" t="t" r="r" b="b"/>
              <a:pathLst>
                <a:path w="76200" h="944245">
                  <a:moveTo>
                    <a:pt x="46977" y="9047"/>
                  </a:moveTo>
                  <a:lnTo>
                    <a:pt x="46977" y="868625"/>
                  </a:lnTo>
                  <a:lnTo>
                    <a:pt x="46977" y="873582"/>
                  </a:lnTo>
                  <a:lnTo>
                    <a:pt x="43015" y="878106"/>
                  </a:lnTo>
                  <a:lnTo>
                    <a:pt x="37921" y="878106"/>
                  </a:lnTo>
                  <a:lnTo>
                    <a:pt x="32450" y="878106"/>
                  </a:lnTo>
                  <a:lnTo>
                    <a:pt x="28488" y="873582"/>
                  </a:lnTo>
                  <a:lnTo>
                    <a:pt x="28488" y="868625"/>
                  </a:lnTo>
                  <a:lnTo>
                    <a:pt x="28488" y="9047"/>
                  </a:lnTo>
                  <a:lnTo>
                    <a:pt x="28488" y="3958"/>
                  </a:lnTo>
                  <a:lnTo>
                    <a:pt x="32450" y="0"/>
                  </a:lnTo>
                  <a:lnTo>
                    <a:pt x="37921" y="0"/>
                  </a:lnTo>
                  <a:lnTo>
                    <a:pt x="43015" y="0"/>
                  </a:lnTo>
                  <a:lnTo>
                    <a:pt x="46977" y="3958"/>
                  </a:lnTo>
                  <a:lnTo>
                    <a:pt x="46977" y="9047"/>
                  </a:lnTo>
                  <a:close/>
                </a:path>
                <a:path w="76200" h="944245">
                  <a:moveTo>
                    <a:pt x="37921" y="868625"/>
                  </a:moveTo>
                  <a:lnTo>
                    <a:pt x="75654" y="830664"/>
                  </a:lnTo>
                  <a:lnTo>
                    <a:pt x="37921" y="944058"/>
                  </a:lnTo>
                  <a:lnTo>
                    <a:pt x="0" y="830664"/>
                  </a:lnTo>
                  <a:lnTo>
                    <a:pt x="37921" y="868625"/>
                  </a:lnTo>
                  <a:close/>
                </a:path>
              </a:pathLst>
            </a:custGeom>
            <a:ln w="6791">
              <a:solidFill>
                <a:srgbClr val="000000"/>
              </a:solidFill>
            </a:ln>
          </p:spPr>
          <p:txBody>
            <a:bodyPr wrap="square" lIns="0" tIns="0" rIns="0" bIns="0" rtlCol="0"/>
            <a:lstStyle/>
            <a:p/>
          </p:txBody>
        </p:sp>
        <p:sp>
          <p:nvSpPr>
            <p:cNvPr id="66" name="object 66" descr=""/>
            <p:cNvSpPr/>
            <p:nvPr/>
          </p:nvSpPr>
          <p:spPr>
            <a:xfrm>
              <a:off x="6160149" y="3869521"/>
              <a:ext cx="76200" cy="886460"/>
            </a:xfrm>
            <a:custGeom>
              <a:avLst/>
              <a:gdLst/>
              <a:ahLst/>
              <a:cxnLst/>
              <a:rect l="l" t="t" r="r" b="b"/>
              <a:pathLst>
                <a:path w="76200" h="886460">
                  <a:moveTo>
                    <a:pt x="0" y="773401"/>
                  </a:moveTo>
                  <a:lnTo>
                    <a:pt x="37544" y="885872"/>
                  </a:lnTo>
                  <a:lnTo>
                    <a:pt x="59738" y="820372"/>
                  </a:lnTo>
                  <a:lnTo>
                    <a:pt x="32638" y="820372"/>
                  </a:lnTo>
                  <a:lnTo>
                    <a:pt x="28488" y="815849"/>
                  </a:lnTo>
                  <a:lnTo>
                    <a:pt x="28488" y="801849"/>
                  </a:lnTo>
                  <a:lnTo>
                    <a:pt x="0" y="773401"/>
                  </a:lnTo>
                  <a:close/>
                </a:path>
                <a:path w="76200" h="886460">
                  <a:moveTo>
                    <a:pt x="28488" y="801849"/>
                  </a:moveTo>
                  <a:lnTo>
                    <a:pt x="28488" y="815849"/>
                  </a:lnTo>
                  <a:lnTo>
                    <a:pt x="32638" y="820372"/>
                  </a:lnTo>
                  <a:lnTo>
                    <a:pt x="43015" y="820372"/>
                  </a:lnTo>
                  <a:lnTo>
                    <a:pt x="47165" y="815849"/>
                  </a:lnTo>
                  <a:lnTo>
                    <a:pt x="47165" y="810892"/>
                  </a:lnTo>
                  <a:lnTo>
                    <a:pt x="37544" y="810892"/>
                  </a:lnTo>
                  <a:lnTo>
                    <a:pt x="28488" y="801849"/>
                  </a:lnTo>
                  <a:close/>
                </a:path>
                <a:path w="76200" h="886460">
                  <a:moveTo>
                    <a:pt x="75654" y="773401"/>
                  </a:moveTo>
                  <a:lnTo>
                    <a:pt x="47165" y="801426"/>
                  </a:lnTo>
                  <a:lnTo>
                    <a:pt x="47165" y="815849"/>
                  </a:lnTo>
                  <a:lnTo>
                    <a:pt x="43015" y="820372"/>
                  </a:lnTo>
                  <a:lnTo>
                    <a:pt x="59738" y="820372"/>
                  </a:lnTo>
                  <a:lnTo>
                    <a:pt x="75654" y="773401"/>
                  </a:lnTo>
                  <a:close/>
                </a:path>
                <a:path w="76200" h="886460">
                  <a:moveTo>
                    <a:pt x="43015" y="0"/>
                  </a:moveTo>
                  <a:lnTo>
                    <a:pt x="32638" y="0"/>
                  </a:lnTo>
                  <a:lnTo>
                    <a:pt x="28488" y="4523"/>
                  </a:lnTo>
                  <a:lnTo>
                    <a:pt x="28488" y="801849"/>
                  </a:lnTo>
                  <a:lnTo>
                    <a:pt x="37544" y="810892"/>
                  </a:lnTo>
                  <a:lnTo>
                    <a:pt x="47165" y="801426"/>
                  </a:lnTo>
                  <a:lnTo>
                    <a:pt x="47165" y="4523"/>
                  </a:lnTo>
                  <a:lnTo>
                    <a:pt x="43015" y="0"/>
                  </a:lnTo>
                  <a:close/>
                </a:path>
                <a:path w="76200" h="886460">
                  <a:moveTo>
                    <a:pt x="47165" y="801426"/>
                  </a:moveTo>
                  <a:lnTo>
                    <a:pt x="37544" y="810892"/>
                  </a:lnTo>
                  <a:lnTo>
                    <a:pt x="47165" y="810892"/>
                  </a:lnTo>
                  <a:lnTo>
                    <a:pt x="47165" y="801426"/>
                  </a:lnTo>
                  <a:close/>
                </a:path>
              </a:pathLst>
            </a:custGeom>
            <a:solidFill>
              <a:srgbClr val="000000"/>
            </a:solidFill>
          </p:spPr>
          <p:txBody>
            <a:bodyPr wrap="square" lIns="0" tIns="0" rIns="0" bIns="0" rtlCol="0"/>
            <a:lstStyle/>
            <a:p/>
          </p:txBody>
        </p:sp>
        <p:sp>
          <p:nvSpPr>
            <p:cNvPr id="67" name="object 67" descr=""/>
            <p:cNvSpPr/>
            <p:nvPr/>
          </p:nvSpPr>
          <p:spPr>
            <a:xfrm>
              <a:off x="6160149" y="3869521"/>
              <a:ext cx="76200" cy="886460"/>
            </a:xfrm>
            <a:custGeom>
              <a:avLst/>
              <a:gdLst/>
              <a:ahLst/>
              <a:cxnLst/>
              <a:rect l="l" t="t" r="r" b="b"/>
              <a:pathLst>
                <a:path w="76200" h="886460">
                  <a:moveTo>
                    <a:pt x="47165" y="9989"/>
                  </a:moveTo>
                  <a:lnTo>
                    <a:pt x="47165" y="810892"/>
                  </a:lnTo>
                  <a:lnTo>
                    <a:pt x="47165" y="815849"/>
                  </a:lnTo>
                  <a:lnTo>
                    <a:pt x="43015" y="820372"/>
                  </a:lnTo>
                  <a:lnTo>
                    <a:pt x="37544" y="820372"/>
                  </a:lnTo>
                  <a:lnTo>
                    <a:pt x="32638" y="820372"/>
                  </a:lnTo>
                  <a:lnTo>
                    <a:pt x="28488" y="815849"/>
                  </a:lnTo>
                  <a:lnTo>
                    <a:pt x="28488" y="810892"/>
                  </a:lnTo>
                  <a:lnTo>
                    <a:pt x="28488" y="9989"/>
                  </a:lnTo>
                  <a:lnTo>
                    <a:pt x="28488" y="4523"/>
                  </a:lnTo>
                  <a:lnTo>
                    <a:pt x="32638" y="0"/>
                  </a:lnTo>
                  <a:lnTo>
                    <a:pt x="37544" y="0"/>
                  </a:lnTo>
                  <a:lnTo>
                    <a:pt x="43015" y="0"/>
                  </a:lnTo>
                  <a:lnTo>
                    <a:pt x="47165" y="4523"/>
                  </a:lnTo>
                  <a:lnTo>
                    <a:pt x="47165" y="9989"/>
                  </a:lnTo>
                  <a:close/>
                </a:path>
                <a:path w="76200" h="886460">
                  <a:moveTo>
                    <a:pt x="37544" y="810892"/>
                  </a:moveTo>
                  <a:lnTo>
                    <a:pt x="75654" y="773401"/>
                  </a:lnTo>
                  <a:lnTo>
                    <a:pt x="37544" y="885872"/>
                  </a:lnTo>
                  <a:lnTo>
                    <a:pt x="0" y="773401"/>
                  </a:lnTo>
                  <a:lnTo>
                    <a:pt x="37544" y="810892"/>
                  </a:lnTo>
                  <a:close/>
                </a:path>
              </a:pathLst>
            </a:custGeom>
            <a:ln w="6791">
              <a:solidFill>
                <a:srgbClr val="000000"/>
              </a:solidFill>
            </a:ln>
          </p:spPr>
          <p:txBody>
            <a:bodyPr wrap="square" lIns="0" tIns="0" rIns="0" bIns="0" rtlCol="0"/>
            <a:lstStyle/>
            <a:p/>
          </p:txBody>
        </p:sp>
        <p:sp>
          <p:nvSpPr>
            <p:cNvPr id="68" name="object 68" descr=""/>
            <p:cNvSpPr/>
            <p:nvPr/>
          </p:nvSpPr>
          <p:spPr>
            <a:xfrm>
              <a:off x="6874053" y="3694793"/>
              <a:ext cx="76200" cy="1061085"/>
            </a:xfrm>
            <a:custGeom>
              <a:avLst/>
              <a:gdLst/>
              <a:ahLst/>
              <a:cxnLst/>
              <a:rect l="l" t="t" r="r" b="b"/>
              <a:pathLst>
                <a:path w="76200" h="1061085">
                  <a:moveTo>
                    <a:pt x="0" y="948129"/>
                  </a:moveTo>
                  <a:lnTo>
                    <a:pt x="37544" y="1060600"/>
                  </a:lnTo>
                  <a:lnTo>
                    <a:pt x="59738" y="995100"/>
                  </a:lnTo>
                  <a:lnTo>
                    <a:pt x="32638" y="995100"/>
                  </a:lnTo>
                  <a:lnTo>
                    <a:pt x="28488" y="990577"/>
                  </a:lnTo>
                  <a:lnTo>
                    <a:pt x="28488" y="976577"/>
                  </a:lnTo>
                  <a:lnTo>
                    <a:pt x="0" y="948129"/>
                  </a:lnTo>
                  <a:close/>
                </a:path>
                <a:path w="76200" h="1061085">
                  <a:moveTo>
                    <a:pt x="28488" y="976577"/>
                  </a:moveTo>
                  <a:lnTo>
                    <a:pt x="28488" y="990577"/>
                  </a:lnTo>
                  <a:lnTo>
                    <a:pt x="32638" y="995100"/>
                  </a:lnTo>
                  <a:lnTo>
                    <a:pt x="42638" y="995100"/>
                  </a:lnTo>
                  <a:lnTo>
                    <a:pt x="47165" y="990577"/>
                  </a:lnTo>
                  <a:lnTo>
                    <a:pt x="47165" y="985619"/>
                  </a:lnTo>
                  <a:lnTo>
                    <a:pt x="37544" y="985619"/>
                  </a:lnTo>
                  <a:lnTo>
                    <a:pt x="28488" y="976577"/>
                  </a:lnTo>
                  <a:close/>
                </a:path>
                <a:path w="76200" h="1061085">
                  <a:moveTo>
                    <a:pt x="75654" y="948129"/>
                  </a:moveTo>
                  <a:lnTo>
                    <a:pt x="47165" y="976154"/>
                  </a:lnTo>
                  <a:lnTo>
                    <a:pt x="47165" y="990577"/>
                  </a:lnTo>
                  <a:lnTo>
                    <a:pt x="42638" y="995100"/>
                  </a:lnTo>
                  <a:lnTo>
                    <a:pt x="59738" y="995100"/>
                  </a:lnTo>
                  <a:lnTo>
                    <a:pt x="75654" y="948129"/>
                  </a:lnTo>
                  <a:close/>
                </a:path>
                <a:path w="76200" h="1061085">
                  <a:moveTo>
                    <a:pt x="42638" y="0"/>
                  </a:moveTo>
                  <a:lnTo>
                    <a:pt x="32638" y="0"/>
                  </a:lnTo>
                  <a:lnTo>
                    <a:pt x="28488" y="3958"/>
                  </a:lnTo>
                  <a:lnTo>
                    <a:pt x="28488" y="976577"/>
                  </a:lnTo>
                  <a:lnTo>
                    <a:pt x="37544" y="985619"/>
                  </a:lnTo>
                  <a:lnTo>
                    <a:pt x="47165" y="976154"/>
                  </a:lnTo>
                  <a:lnTo>
                    <a:pt x="47165" y="3958"/>
                  </a:lnTo>
                  <a:lnTo>
                    <a:pt x="42638" y="0"/>
                  </a:lnTo>
                  <a:close/>
                </a:path>
                <a:path w="76200" h="1061085">
                  <a:moveTo>
                    <a:pt x="47165" y="976154"/>
                  </a:moveTo>
                  <a:lnTo>
                    <a:pt x="37544" y="985619"/>
                  </a:lnTo>
                  <a:lnTo>
                    <a:pt x="47165" y="985619"/>
                  </a:lnTo>
                  <a:lnTo>
                    <a:pt x="47165" y="976154"/>
                  </a:lnTo>
                  <a:close/>
                </a:path>
              </a:pathLst>
            </a:custGeom>
            <a:solidFill>
              <a:srgbClr val="000000"/>
            </a:solidFill>
          </p:spPr>
          <p:txBody>
            <a:bodyPr wrap="square" lIns="0" tIns="0" rIns="0" bIns="0" rtlCol="0"/>
            <a:lstStyle/>
            <a:p/>
          </p:txBody>
        </p:sp>
        <p:sp>
          <p:nvSpPr>
            <p:cNvPr id="69" name="object 69" descr=""/>
            <p:cNvSpPr/>
            <p:nvPr/>
          </p:nvSpPr>
          <p:spPr>
            <a:xfrm>
              <a:off x="6874053" y="3694793"/>
              <a:ext cx="76200" cy="1061085"/>
            </a:xfrm>
            <a:custGeom>
              <a:avLst/>
              <a:gdLst/>
              <a:ahLst/>
              <a:cxnLst/>
              <a:rect l="l" t="t" r="r" b="b"/>
              <a:pathLst>
                <a:path w="76200" h="1061085">
                  <a:moveTo>
                    <a:pt x="47165" y="9047"/>
                  </a:moveTo>
                  <a:lnTo>
                    <a:pt x="47165" y="985619"/>
                  </a:lnTo>
                  <a:lnTo>
                    <a:pt x="47165" y="990577"/>
                  </a:lnTo>
                  <a:lnTo>
                    <a:pt x="42638" y="995100"/>
                  </a:lnTo>
                  <a:lnTo>
                    <a:pt x="37544" y="995100"/>
                  </a:lnTo>
                  <a:lnTo>
                    <a:pt x="32638" y="995100"/>
                  </a:lnTo>
                  <a:lnTo>
                    <a:pt x="28488" y="990577"/>
                  </a:lnTo>
                  <a:lnTo>
                    <a:pt x="28488" y="985619"/>
                  </a:lnTo>
                  <a:lnTo>
                    <a:pt x="28488" y="9047"/>
                  </a:lnTo>
                  <a:lnTo>
                    <a:pt x="28488" y="3958"/>
                  </a:lnTo>
                  <a:lnTo>
                    <a:pt x="32638" y="0"/>
                  </a:lnTo>
                  <a:lnTo>
                    <a:pt x="37544" y="0"/>
                  </a:lnTo>
                  <a:lnTo>
                    <a:pt x="42638" y="0"/>
                  </a:lnTo>
                  <a:lnTo>
                    <a:pt x="47165" y="3958"/>
                  </a:lnTo>
                  <a:lnTo>
                    <a:pt x="47165" y="9047"/>
                  </a:lnTo>
                  <a:close/>
                </a:path>
                <a:path w="76200" h="1061085">
                  <a:moveTo>
                    <a:pt x="37544" y="985619"/>
                  </a:moveTo>
                  <a:lnTo>
                    <a:pt x="75654" y="948129"/>
                  </a:lnTo>
                  <a:lnTo>
                    <a:pt x="37544" y="1060600"/>
                  </a:lnTo>
                  <a:lnTo>
                    <a:pt x="0" y="948129"/>
                  </a:lnTo>
                  <a:lnTo>
                    <a:pt x="37544" y="985619"/>
                  </a:lnTo>
                  <a:close/>
                </a:path>
              </a:pathLst>
            </a:custGeom>
            <a:ln w="6791">
              <a:solidFill>
                <a:srgbClr val="000000"/>
              </a:solidFill>
            </a:ln>
          </p:spPr>
          <p:txBody>
            <a:bodyPr wrap="square" lIns="0" tIns="0" rIns="0" bIns="0" rtlCol="0"/>
            <a:lstStyle/>
            <a:p/>
          </p:txBody>
        </p:sp>
        <p:sp>
          <p:nvSpPr>
            <p:cNvPr id="70" name="object 70" descr=""/>
            <p:cNvSpPr/>
            <p:nvPr/>
          </p:nvSpPr>
          <p:spPr>
            <a:xfrm>
              <a:off x="3225105" y="4045380"/>
              <a:ext cx="76200" cy="593725"/>
            </a:xfrm>
            <a:custGeom>
              <a:avLst/>
              <a:gdLst/>
              <a:ahLst/>
              <a:cxnLst/>
              <a:rect l="l" t="t" r="r" b="b"/>
              <a:pathLst>
                <a:path w="76200" h="593725">
                  <a:moveTo>
                    <a:pt x="0" y="480077"/>
                  </a:moveTo>
                  <a:lnTo>
                    <a:pt x="37544" y="593471"/>
                  </a:lnTo>
                  <a:lnTo>
                    <a:pt x="59709" y="527519"/>
                  </a:lnTo>
                  <a:lnTo>
                    <a:pt x="32638" y="527519"/>
                  </a:lnTo>
                  <a:lnTo>
                    <a:pt x="28488" y="522996"/>
                  </a:lnTo>
                  <a:lnTo>
                    <a:pt x="28488" y="508882"/>
                  </a:lnTo>
                  <a:lnTo>
                    <a:pt x="0" y="480077"/>
                  </a:lnTo>
                  <a:close/>
                </a:path>
                <a:path w="76200" h="593725">
                  <a:moveTo>
                    <a:pt x="28488" y="508882"/>
                  </a:moveTo>
                  <a:lnTo>
                    <a:pt x="28488" y="522996"/>
                  </a:lnTo>
                  <a:lnTo>
                    <a:pt x="32638" y="527519"/>
                  </a:lnTo>
                  <a:lnTo>
                    <a:pt x="43015" y="527519"/>
                  </a:lnTo>
                  <a:lnTo>
                    <a:pt x="47165" y="522996"/>
                  </a:lnTo>
                  <a:lnTo>
                    <a:pt x="47165" y="518039"/>
                  </a:lnTo>
                  <a:lnTo>
                    <a:pt x="37544" y="518039"/>
                  </a:lnTo>
                  <a:lnTo>
                    <a:pt x="28488" y="508882"/>
                  </a:lnTo>
                  <a:close/>
                </a:path>
                <a:path w="76200" h="593725">
                  <a:moveTo>
                    <a:pt x="75654" y="480077"/>
                  </a:moveTo>
                  <a:lnTo>
                    <a:pt x="47165" y="508454"/>
                  </a:lnTo>
                  <a:lnTo>
                    <a:pt x="47165" y="522996"/>
                  </a:lnTo>
                  <a:lnTo>
                    <a:pt x="43015" y="527519"/>
                  </a:lnTo>
                  <a:lnTo>
                    <a:pt x="59709" y="527519"/>
                  </a:lnTo>
                  <a:lnTo>
                    <a:pt x="75654" y="480077"/>
                  </a:lnTo>
                  <a:close/>
                </a:path>
                <a:path w="76200" h="593725">
                  <a:moveTo>
                    <a:pt x="43015" y="0"/>
                  </a:moveTo>
                  <a:lnTo>
                    <a:pt x="32638" y="0"/>
                  </a:lnTo>
                  <a:lnTo>
                    <a:pt x="28488" y="3958"/>
                  </a:lnTo>
                  <a:lnTo>
                    <a:pt x="28488" y="508882"/>
                  </a:lnTo>
                  <a:lnTo>
                    <a:pt x="37544" y="518039"/>
                  </a:lnTo>
                  <a:lnTo>
                    <a:pt x="47165" y="508454"/>
                  </a:lnTo>
                  <a:lnTo>
                    <a:pt x="47165" y="3958"/>
                  </a:lnTo>
                  <a:lnTo>
                    <a:pt x="43015" y="0"/>
                  </a:lnTo>
                  <a:close/>
                </a:path>
                <a:path w="76200" h="593725">
                  <a:moveTo>
                    <a:pt x="47165" y="508454"/>
                  </a:moveTo>
                  <a:lnTo>
                    <a:pt x="37544" y="518039"/>
                  </a:lnTo>
                  <a:lnTo>
                    <a:pt x="47165" y="518039"/>
                  </a:lnTo>
                  <a:lnTo>
                    <a:pt x="47165" y="508454"/>
                  </a:lnTo>
                  <a:close/>
                </a:path>
              </a:pathLst>
            </a:custGeom>
            <a:solidFill>
              <a:srgbClr val="000000"/>
            </a:solidFill>
          </p:spPr>
          <p:txBody>
            <a:bodyPr wrap="square" lIns="0" tIns="0" rIns="0" bIns="0" rtlCol="0"/>
            <a:lstStyle/>
            <a:p/>
          </p:txBody>
        </p:sp>
        <p:sp>
          <p:nvSpPr>
            <p:cNvPr id="71" name="object 71" descr=""/>
            <p:cNvSpPr/>
            <p:nvPr/>
          </p:nvSpPr>
          <p:spPr>
            <a:xfrm>
              <a:off x="3225104" y="4045380"/>
              <a:ext cx="76200" cy="593725"/>
            </a:xfrm>
            <a:custGeom>
              <a:avLst/>
              <a:gdLst/>
              <a:ahLst/>
              <a:cxnLst/>
              <a:rect l="l" t="t" r="r" b="b"/>
              <a:pathLst>
                <a:path w="76200" h="593725">
                  <a:moveTo>
                    <a:pt x="47165" y="9424"/>
                  </a:moveTo>
                  <a:lnTo>
                    <a:pt x="47165" y="518039"/>
                  </a:lnTo>
                  <a:lnTo>
                    <a:pt x="47165" y="522996"/>
                  </a:lnTo>
                  <a:lnTo>
                    <a:pt x="43015" y="527519"/>
                  </a:lnTo>
                  <a:lnTo>
                    <a:pt x="37544" y="527519"/>
                  </a:lnTo>
                  <a:lnTo>
                    <a:pt x="32638" y="527519"/>
                  </a:lnTo>
                  <a:lnTo>
                    <a:pt x="28488" y="522996"/>
                  </a:lnTo>
                  <a:lnTo>
                    <a:pt x="28488" y="518039"/>
                  </a:lnTo>
                  <a:lnTo>
                    <a:pt x="28488" y="9424"/>
                  </a:lnTo>
                  <a:lnTo>
                    <a:pt x="28488" y="3958"/>
                  </a:lnTo>
                  <a:lnTo>
                    <a:pt x="32638" y="0"/>
                  </a:lnTo>
                  <a:lnTo>
                    <a:pt x="37544" y="0"/>
                  </a:lnTo>
                  <a:lnTo>
                    <a:pt x="43015" y="0"/>
                  </a:lnTo>
                  <a:lnTo>
                    <a:pt x="47165" y="3958"/>
                  </a:lnTo>
                  <a:lnTo>
                    <a:pt x="47165" y="9424"/>
                  </a:lnTo>
                  <a:close/>
                </a:path>
                <a:path w="76200" h="593725">
                  <a:moveTo>
                    <a:pt x="37544" y="518039"/>
                  </a:moveTo>
                  <a:lnTo>
                    <a:pt x="75654" y="480077"/>
                  </a:lnTo>
                  <a:lnTo>
                    <a:pt x="37544" y="593471"/>
                  </a:lnTo>
                  <a:lnTo>
                    <a:pt x="0" y="480077"/>
                  </a:lnTo>
                  <a:lnTo>
                    <a:pt x="37544" y="518039"/>
                  </a:lnTo>
                  <a:close/>
                </a:path>
              </a:pathLst>
            </a:custGeom>
            <a:ln w="6791">
              <a:solidFill>
                <a:srgbClr val="000000"/>
              </a:solidFill>
            </a:ln>
          </p:spPr>
          <p:txBody>
            <a:bodyPr wrap="square" lIns="0" tIns="0" rIns="0" bIns="0" rtlCol="0"/>
            <a:lstStyle/>
            <a:p/>
          </p:txBody>
        </p:sp>
        <p:sp>
          <p:nvSpPr>
            <p:cNvPr id="72" name="object 72" descr=""/>
            <p:cNvSpPr/>
            <p:nvPr/>
          </p:nvSpPr>
          <p:spPr>
            <a:xfrm>
              <a:off x="5683961" y="4045380"/>
              <a:ext cx="76200" cy="710565"/>
            </a:xfrm>
            <a:custGeom>
              <a:avLst/>
              <a:gdLst/>
              <a:ahLst/>
              <a:cxnLst/>
              <a:rect l="l" t="t" r="r" b="b"/>
              <a:pathLst>
                <a:path w="76200" h="710564">
                  <a:moveTo>
                    <a:pt x="0" y="597543"/>
                  </a:moveTo>
                  <a:lnTo>
                    <a:pt x="38110" y="710013"/>
                  </a:lnTo>
                  <a:lnTo>
                    <a:pt x="59974" y="644514"/>
                  </a:lnTo>
                  <a:lnTo>
                    <a:pt x="32638" y="644514"/>
                  </a:lnTo>
                  <a:lnTo>
                    <a:pt x="28676" y="639990"/>
                  </a:lnTo>
                  <a:lnTo>
                    <a:pt x="28676" y="625753"/>
                  </a:lnTo>
                  <a:lnTo>
                    <a:pt x="0" y="597543"/>
                  </a:lnTo>
                  <a:close/>
                </a:path>
                <a:path w="76200" h="710564">
                  <a:moveTo>
                    <a:pt x="28676" y="625753"/>
                  </a:moveTo>
                  <a:lnTo>
                    <a:pt x="28676" y="639990"/>
                  </a:lnTo>
                  <a:lnTo>
                    <a:pt x="32638" y="644514"/>
                  </a:lnTo>
                  <a:lnTo>
                    <a:pt x="43015" y="644514"/>
                  </a:lnTo>
                  <a:lnTo>
                    <a:pt x="47165" y="639990"/>
                  </a:lnTo>
                  <a:lnTo>
                    <a:pt x="47165" y="635033"/>
                  </a:lnTo>
                  <a:lnTo>
                    <a:pt x="38110" y="635033"/>
                  </a:lnTo>
                  <a:lnTo>
                    <a:pt x="28676" y="625753"/>
                  </a:lnTo>
                  <a:close/>
                </a:path>
                <a:path w="76200" h="710564">
                  <a:moveTo>
                    <a:pt x="75654" y="597543"/>
                  </a:moveTo>
                  <a:lnTo>
                    <a:pt x="47165" y="625990"/>
                  </a:lnTo>
                  <a:lnTo>
                    <a:pt x="47165" y="639990"/>
                  </a:lnTo>
                  <a:lnTo>
                    <a:pt x="43015" y="644514"/>
                  </a:lnTo>
                  <a:lnTo>
                    <a:pt x="59974" y="644514"/>
                  </a:lnTo>
                  <a:lnTo>
                    <a:pt x="75654" y="597543"/>
                  </a:lnTo>
                  <a:close/>
                </a:path>
                <a:path w="76200" h="710564">
                  <a:moveTo>
                    <a:pt x="43015" y="0"/>
                  </a:moveTo>
                  <a:lnTo>
                    <a:pt x="32638" y="0"/>
                  </a:lnTo>
                  <a:lnTo>
                    <a:pt x="28676" y="3958"/>
                  </a:lnTo>
                  <a:lnTo>
                    <a:pt x="28676" y="625753"/>
                  </a:lnTo>
                  <a:lnTo>
                    <a:pt x="38110" y="635033"/>
                  </a:lnTo>
                  <a:lnTo>
                    <a:pt x="47165" y="625990"/>
                  </a:lnTo>
                  <a:lnTo>
                    <a:pt x="47165" y="3958"/>
                  </a:lnTo>
                  <a:lnTo>
                    <a:pt x="43015" y="0"/>
                  </a:lnTo>
                  <a:close/>
                </a:path>
                <a:path w="76200" h="710564">
                  <a:moveTo>
                    <a:pt x="47165" y="625990"/>
                  </a:moveTo>
                  <a:lnTo>
                    <a:pt x="38110" y="635033"/>
                  </a:lnTo>
                  <a:lnTo>
                    <a:pt x="47165" y="635033"/>
                  </a:lnTo>
                  <a:lnTo>
                    <a:pt x="47165" y="625990"/>
                  </a:lnTo>
                  <a:close/>
                </a:path>
              </a:pathLst>
            </a:custGeom>
            <a:solidFill>
              <a:srgbClr val="000000"/>
            </a:solidFill>
          </p:spPr>
          <p:txBody>
            <a:bodyPr wrap="square" lIns="0" tIns="0" rIns="0" bIns="0" rtlCol="0"/>
            <a:lstStyle/>
            <a:p/>
          </p:txBody>
        </p:sp>
        <p:sp>
          <p:nvSpPr>
            <p:cNvPr id="73" name="object 73" descr=""/>
            <p:cNvSpPr/>
            <p:nvPr/>
          </p:nvSpPr>
          <p:spPr>
            <a:xfrm>
              <a:off x="5683961" y="4045380"/>
              <a:ext cx="76200" cy="710565"/>
            </a:xfrm>
            <a:custGeom>
              <a:avLst/>
              <a:gdLst/>
              <a:ahLst/>
              <a:cxnLst/>
              <a:rect l="l" t="t" r="r" b="b"/>
              <a:pathLst>
                <a:path w="76200" h="710564">
                  <a:moveTo>
                    <a:pt x="47165" y="9424"/>
                  </a:moveTo>
                  <a:lnTo>
                    <a:pt x="47165" y="635033"/>
                  </a:lnTo>
                  <a:lnTo>
                    <a:pt x="47165" y="639990"/>
                  </a:lnTo>
                  <a:lnTo>
                    <a:pt x="43015" y="644514"/>
                  </a:lnTo>
                  <a:lnTo>
                    <a:pt x="38110" y="644514"/>
                  </a:lnTo>
                  <a:lnTo>
                    <a:pt x="32638" y="644514"/>
                  </a:lnTo>
                  <a:lnTo>
                    <a:pt x="28676" y="639990"/>
                  </a:lnTo>
                  <a:lnTo>
                    <a:pt x="28676" y="635033"/>
                  </a:lnTo>
                  <a:lnTo>
                    <a:pt x="28676" y="9424"/>
                  </a:lnTo>
                  <a:lnTo>
                    <a:pt x="28676" y="3958"/>
                  </a:lnTo>
                  <a:lnTo>
                    <a:pt x="32638" y="0"/>
                  </a:lnTo>
                  <a:lnTo>
                    <a:pt x="38110" y="0"/>
                  </a:lnTo>
                  <a:lnTo>
                    <a:pt x="43015" y="0"/>
                  </a:lnTo>
                  <a:lnTo>
                    <a:pt x="47165" y="3958"/>
                  </a:lnTo>
                  <a:lnTo>
                    <a:pt x="47165" y="9424"/>
                  </a:lnTo>
                  <a:close/>
                </a:path>
                <a:path w="76200" h="710564">
                  <a:moveTo>
                    <a:pt x="38110" y="635033"/>
                  </a:moveTo>
                  <a:lnTo>
                    <a:pt x="75654" y="597543"/>
                  </a:lnTo>
                  <a:lnTo>
                    <a:pt x="38110" y="710013"/>
                  </a:lnTo>
                  <a:lnTo>
                    <a:pt x="0" y="597543"/>
                  </a:lnTo>
                  <a:lnTo>
                    <a:pt x="38110" y="635033"/>
                  </a:lnTo>
                  <a:close/>
                </a:path>
              </a:pathLst>
            </a:custGeom>
            <a:ln w="6791">
              <a:solidFill>
                <a:srgbClr val="000000"/>
              </a:solidFill>
            </a:ln>
          </p:spPr>
          <p:txBody>
            <a:bodyPr wrap="square" lIns="0" tIns="0" rIns="0" bIns="0" rtlCol="0"/>
            <a:lstStyle/>
            <a:p/>
          </p:txBody>
        </p:sp>
        <p:sp>
          <p:nvSpPr>
            <p:cNvPr id="74" name="object 74" descr=""/>
            <p:cNvSpPr/>
            <p:nvPr/>
          </p:nvSpPr>
          <p:spPr>
            <a:xfrm>
              <a:off x="3262649" y="4054805"/>
              <a:ext cx="2459990" cy="0"/>
            </a:xfrm>
            <a:custGeom>
              <a:avLst/>
              <a:gdLst/>
              <a:ahLst/>
              <a:cxnLst/>
              <a:rect l="l" t="t" r="r" b="b"/>
              <a:pathLst>
                <a:path w="2459990" h="0">
                  <a:moveTo>
                    <a:pt x="0" y="0"/>
                  </a:moveTo>
                  <a:lnTo>
                    <a:pt x="2459422" y="0"/>
                  </a:lnTo>
                </a:path>
              </a:pathLst>
            </a:custGeom>
            <a:ln w="14029">
              <a:solidFill>
                <a:srgbClr val="000000"/>
              </a:solidFill>
            </a:ln>
          </p:spPr>
          <p:txBody>
            <a:bodyPr wrap="square" lIns="0" tIns="0" rIns="0" bIns="0" rtlCol="0"/>
            <a:lstStyle/>
            <a:p/>
          </p:txBody>
        </p:sp>
        <p:sp>
          <p:nvSpPr>
            <p:cNvPr id="75" name="object 75" descr=""/>
            <p:cNvSpPr/>
            <p:nvPr/>
          </p:nvSpPr>
          <p:spPr>
            <a:xfrm>
              <a:off x="3819962" y="2935000"/>
              <a:ext cx="76200" cy="1120140"/>
            </a:xfrm>
            <a:custGeom>
              <a:avLst/>
              <a:gdLst/>
              <a:ahLst/>
              <a:cxnLst/>
              <a:rect l="l" t="t" r="r" b="b"/>
              <a:pathLst>
                <a:path w="76200" h="1120139">
                  <a:moveTo>
                    <a:pt x="0" y="1006334"/>
                  </a:moveTo>
                  <a:lnTo>
                    <a:pt x="37544" y="1119804"/>
                  </a:lnTo>
                  <a:lnTo>
                    <a:pt x="59827" y="1053456"/>
                  </a:lnTo>
                  <a:lnTo>
                    <a:pt x="32638" y="1053456"/>
                  </a:lnTo>
                  <a:lnTo>
                    <a:pt x="28488" y="1049686"/>
                  </a:lnTo>
                  <a:lnTo>
                    <a:pt x="28488" y="1034796"/>
                  </a:lnTo>
                  <a:lnTo>
                    <a:pt x="0" y="1006334"/>
                  </a:lnTo>
                  <a:close/>
                </a:path>
                <a:path w="76200" h="1120139">
                  <a:moveTo>
                    <a:pt x="28488" y="1034796"/>
                  </a:moveTo>
                  <a:lnTo>
                    <a:pt x="28488" y="1049686"/>
                  </a:lnTo>
                  <a:lnTo>
                    <a:pt x="32638" y="1053456"/>
                  </a:lnTo>
                  <a:lnTo>
                    <a:pt x="43392" y="1053456"/>
                  </a:lnTo>
                  <a:lnTo>
                    <a:pt x="46977" y="1049686"/>
                  </a:lnTo>
                  <a:lnTo>
                    <a:pt x="46977" y="1043843"/>
                  </a:lnTo>
                  <a:lnTo>
                    <a:pt x="37544" y="1043843"/>
                  </a:lnTo>
                  <a:lnTo>
                    <a:pt x="28488" y="1034796"/>
                  </a:lnTo>
                  <a:close/>
                </a:path>
                <a:path w="76200" h="1120139">
                  <a:moveTo>
                    <a:pt x="75654" y="1006334"/>
                  </a:moveTo>
                  <a:lnTo>
                    <a:pt x="46977" y="1034559"/>
                  </a:lnTo>
                  <a:lnTo>
                    <a:pt x="46977" y="1049686"/>
                  </a:lnTo>
                  <a:lnTo>
                    <a:pt x="43392" y="1053456"/>
                  </a:lnTo>
                  <a:lnTo>
                    <a:pt x="59827" y="1053456"/>
                  </a:lnTo>
                  <a:lnTo>
                    <a:pt x="75654" y="1006334"/>
                  </a:lnTo>
                  <a:close/>
                </a:path>
                <a:path w="76200" h="1120139">
                  <a:moveTo>
                    <a:pt x="43392" y="0"/>
                  </a:moveTo>
                  <a:lnTo>
                    <a:pt x="32638" y="0"/>
                  </a:lnTo>
                  <a:lnTo>
                    <a:pt x="28488" y="4523"/>
                  </a:lnTo>
                  <a:lnTo>
                    <a:pt x="28488" y="1034796"/>
                  </a:lnTo>
                  <a:lnTo>
                    <a:pt x="37544" y="1043843"/>
                  </a:lnTo>
                  <a:lnTo>
                    <a:pt x="46977" y="1034559"/>
                  </a:lnTo>
                  <a:lnTo>
                    <a:pt x="46977" y="4523"/>
                  </a:lnTo>
                  <a:lnTo>
                    <a:pt x="43392" y="0"/>
                  </a:lnTo>
                  <a:close/>
                </a:path>
                <a:path w="76200" h="1120139">
                  <a:moveTo>
                    <a:pt x="46977" y="1034559"/>
                  </a:moveTo>
                  <a:lnTo>
                    <a:pt x="37544" y="1043843"/>
                  </a:lnTo>
                  <a:lnTo>
                    <a:pt x="46977" y="1043843"/>
                  </a:lnTo>
                  <a:lnTo>
                    <a:pt x="46977" y="1034559"/>
                  </a:lnTo>
                  <a:close/>
                </a:path>
              </a:pathLst>
            </a:custGeom>
            <a:solidFill>
              <a:srgbClr val="000000"/>
            </a:solidFill>
          </p:spPr>
          <p:txBody>
            <a:bodyPr wrap="square" lIns="0" tIns="0" rIns="0" bIns="0" rtlCol="0"/>
            <a:lstStyle/>
            <a:p/>
          </p:txBody>
        </p:sp>
        <p:sp>
          <p:nvSpPr>
            <p:cNvPr id="76" name="object 76" descr=""/>
            <p:cNvSpPr/>
            <p:nvPr/>
          </p:nvSpPr>
          <p:spPr>
            <a:xfrm>
              <a:off x="3819962" y="2935000"/>
              <a:ext cx="76200" cy="1120140"/>
            </a:xfrm>
            <a:custGeom>
              <a:avLst/>
              <a:gdLst/>
              <a:ahLst/>
              <a:cxnLst/>
              <a:rect l="l" t="t" r="r" b="b"/>
              <a:pathLst>
                <a:path w="76200" h="1120139">
                  <a:moveTo>
                    <a:pt x="46977" y="9424"/>
                  </a:moveTo>
                  <a:lnTo>
                    <a:pt x="46977" y="1043843"/>
                  </a:lnTo>
                  <a:lnTo>
                    <a:pt x="46977" y="1049686"/>
                  </a:lnTo>
                  <a:lnTo>
                    <a:pt x="43392" y="1053456"/>
                  </a:lnTo>
                  <a:lnTo>
                    <a:pt x="37544" y="1053456"/>
                  </a:lnTo>
                  <a:lnTo>
                    <a:pt x="32638" y="1053456"/>
                  </a:lnTo>
                  <a:lnTo>
                    <a:pt x="28488" y="1049686"/>
                  </a:lnTo>
                  <a:lnTo>
                    <a:pt x="28488" y="1043843"/>
                  </a:lnTo>
                  <a:lnTo>
                    <a:pt x="28488" y="9424"/>
                  </a:lnTo>
                  <a:lnTo>
                    <a:pt x="28488" y="4523"/>
                  </a:lnTo>
                  <a:lnTo>
                    <a:pt x="32638" y="0"/>
                  </a:lnTo>
                  <a:lnTo>
                    <a:pt x="37544" y="0"/>
                  </a:lnTo>
                  <a:lnTo>
                    <a:pt x="43392" y="0"/>
                  </a:lnTo>
                  <a:lnTo>
                    <a:pt x="46977" y="4523"/>
                  </a:lnTo>
                  <a:lnTo>
                    <a:pt x="46977" y="9424"/>
                  </a:lnTo>
                  <a:close/>
                </a:path>
                <a:path w="76200" h="1120139">
                  <a:moveTo>
                    <a:pt x="37544" y="1043843"/>
                  </a:moveTo>
                  <a:lnTo>
                    <a:pt x="75654" y="1006334"/>
                  </a:lnTo>
                  <a:lnTo>
                    <a:pt x="37544" y="1119804"/>
                  </a:lnTo>
                  <a:lnTo>
                    <a:pt x="0" y="1006334"/>
                  </a:lnTo>
                  <a:lnTo>
                    <a:pt x="37544" y="1043843"/>
                  </a:lnTo>
                  <a:close/>
                </a:path>
              </a:pathLst>
            </a:custGeom>
            <a:ln w="6791">
              <a:solidFill>
                <a:srgbClr val="000000"/>
              </a:solidFill>
            </a:ln>
          </p:spPr>
          <p:txBody>
            <a:bodyPr wrap="square" lIns="0" tIns="0" rIns="0" bIns="0" rtlCol="0"/>
            <a:lstStyle/>
            <a:p/>
          </p:txBody>
        </p:sp>
        <p:sp>
          <p:nvSpPr>
            <p:cNvPr id="77" name="object 77" descr=""/>
            <p:cNvSpPr/>
            <p:nvPr/>
          </p:nvSpPr>
          <p:spPr>
            <a:xfrm>
              <a:off x="3738836" y="3120095"/>
              <a:ext cx="3173095" cy="759460"/>
            </a:xfrm>
            <a:custGeom>
              <a:avLst/>
              <a:gdLst/>
              <a:ahLst/>
              <a:cxnLst/>
              <a:rect l="l" t="t" r="r" b="b"/>
              <a:pathLst>
                <a:path w="3173095" h="759460">
                  <a:moveTo>
                    <a:pt x="0" y="759416"/>
                  </a:moveTo>
                  <a:lnTo>
                    <a:pt x="2458856" y="759416"/>
                  </a:lnTo>
                </a:path>
                <a:path w="3173095" h="759460">
                  <a:moveTo>
                    <a:pt x="1744952" y="0"/>
                  </a:moveTo>
                  <a:lnTo>
                    <a:pt x="1744952" y="759416"/>
                  </a:lnTo>
                </a:path>
                <a:path w="3173095" h="759460">
                  <a:moveTo>
                    <a:pt x="674473" y="583745"/>
                  </a:moveTo>
                  <a:lnTo>
                    <a:pt x="3172761" y="583745"/>
                  </a:lnTo>
                </a:path>
                <a:path w="3173095" h="759460">
                  <a:moveTo>
                    <a:pt x="2260571" y="0"/>
                  </a:moveTo>
                  <a:lnTo>
                    <a:pt x="2260571" y="583745"/>
                  </a:lnTo>
                </a:path>
              </a:pathLst>
            </a:custGeom>
            <a:ln w="14036">
              <a:solidFill>
                <a:srgbClr val="000000"/>
              </a:solidFill>
            </a:ln>
          </p:spPr>
          <p:txBody>
            <a:bodyPr wrap="square" lIns="0" tIns="0" rIns="0" bIns="0" rtlCol="0"/>
            <a:lstStyle/>
            <a:p/>
          </p:txBody>
        </p:sp>
        <p:sp>
          <p:nvSpPr>
            <p:cNvPr id="78" name="object 78" descr=""/>
            <p:cNvSpPr/>
            <p:nvPr/>
          </p:nvSpPr>
          <p:spPr>
            <a:xfrm>
              <a:off x="3706575" y="4369202"/>
              <a:ext cx="43815" cy="58419"/>
            </a:xfrm>
            <a:custGeom>
              <a:avLst/>
              <a:gdLst/>
              <a:ahLst/>
              <a:cxnLst/>
              <a:rect l="l" t="t" r="r" b="b"/>
              <a:pathLst>
                <a:path w="43814" h="58420">
                  <a:moveTo>
                    <a:pt x="21885" y="0"/>
                  </a:moveTo>
                  <a:lnTo>
                    <a:pt x="13451" y="2279"/>
                  </a:lnTo>
                  <a:lnTo>
                    <a:pt x="6485" y="8481"/>
                  </a:lnTo>
                  <a:lnTo>
                    <a:pt x="1748" y="17653"/>
                  </a:lnTo>
                  <a:lnTo>
                    <a:pt x="0" y="28838"/>
                  </a:lnTo>
                  <a:lnTo>
                    <a:pt x="1748" y="40053"/>
                  </a:lnTo>
                  <a:lnTo>
                    <a:pt x="6485" y="49289"/>
                  </a:lnTo>
                  <a:lnTo>
                    <a:pt x="13451" y="55556"/>
                  </a:lnTo>
                  <a:lnTo>
                    <a:pt x="21885" y="57865"/>
                  </a:lnTo>
                  <a:lnTo>
                    <a:pt x="30448" y="55556"/>
                  </a:lnTo>
                  <a:lnTo>
                    <a:pt x="37331" y="49289"/>
                  </a:lnTo>
                  <a:lnTo>
                    <a:pt x="41915" y="40053"/>
                  </a:lnTo>
                  <a:lnTo>
                    <a:pt x="43581" y="28838"/>
                  </a:lnTo>
                  <a:lnTo>
                    <a:pt x="41915" y="17653"/>
                  </a:lnTo>
                  <a:lnTo>
                    <a:pt x="37331" y="8481"/>
                  </a:lnTo>
                  <a:lnTo>
                    <a:pt x="30448" y="2279"/>
                  </a:lnTo>
                  <a:lnTo>
                    <a:pt x="21885" y="0"/>
                  </a:lnTo>
                  <a:close/>
                </a:path>
              </a:pathLst>
            </a:custGeom>
            <a:solidFill>
              <a:srgbClr val="000000"/>
            </a:solidFill>
          </p:spPr>
          <p:txBody>
            <a:bodyPr wrap="square" lIns="0" tIns="0" rIns="0" bIns="0" rtlCol="0"/>
            <a:lstStyle/>
            <a:p/>
          </p:txBody>
        </p:sp>
        <p:sp>
          <p:nvSpPr>
            <p:cNvPr id="79" name="object 79" descr=""/>
            <p:cNvSpPr/>
            <p:nvPr/>
          </p:nvSpPr>
          <p:spPr>
            <a:xfrm>
              <a:off x="3706575" y="4369202"/>
              <a:ext cx="43815" cy="58419"/>
            </a:xfrm>
            <a:custGeom>
              <a:avLst/>
              <a:gdLst/>
              <a:ahLst/>
              <a:cxnLst/>
              <a:rect l="l" t="t" r="r" b="b"/>
              <a:pathLst>
                <a:path w="43814" h="58420">
                  <a:moveTo>
                    <a:pt x="21885" y="0"/>
                  </a:moveTo>
                  <a:lnTo>
                    <a:pt x="13451" y="2279"/>
                  </a:lnTo>
                  <a:lnTo>
                    <a:pt x="6485" y="8481"/>
                  </a:lnTo>
                  <a:lnTo>
                    <a:pt x="1748" y="17653"/>
                  </a:lnTo>
                  <a:lnTo>
                    <a:pt x="0" y="28838"/>
                  </a:lnTo>
                  <a:lnTo>
                    <a:pt x="1748" y="40053"/>
                  </a:lnTo>
                  <a:lnTo>
                    <a:pt x="6485" y="49289"/>
                  </a:lnTo>
                  <a:lnTo>
                    <a:pt x="13451" y="55556"/>
                  </a:lnTo>
                  <a:lnTo>
                    <a:pt x="21885" y="57865"/>
                  </a:lnTo>
                  <a:lnTo>
                    <a:pt x="30448" y="55556"/>
                  </a:lnTo>
                  <a:lnTo>
                    <a:pt x="37331" y="49289"/>
                  </a:lnTo>
                  <a:lnTo>
                    <a:pt x="41915" y="40053"/>
                  </a:lnTo>
                  <a:lnTo>
                    <a:pt x="43581" y="28838"/>
                  </a:lnTo>
                  <a:lnTo>
                    <a:pt x="41915" y="17653"/>
                  </a:lnTo>
                  <a:lnTo>
                    <a:pt x="37331" y="8481"/>
                  </a:lnTo>
                  <a:lnTo>
                    <a:pt x="30448" y="2279"/>
                  </a:lnTo>
                  <a:lnTo>
                    <a:pt x="21885" y="0"/>
                  </a:lnTo>
                </a:path>
              </a:pathLst>
            </a:custGeom>
            <a:ln w="14038">
              <a:solidFill>
                <a:srgbClr val="000000"/>
              </a:solidFill>
            </a:ln>
          </p:spPr>
          <p:txBody>
            <a:bodyPr wrap="square" lIns="0" tIns="0" rIns="0" bIns="0" rtlCol="0"/>
            <a:lstStyle/>
            <a:p/>
          </p:txBody>
        </p:sp>
        <p:sp>
          <p:nvSpPr>
            <p:cNvPr id="80" name="object 80" descr=""/>
            <p:cNvSpPr/>
            <p:nvPr/>
          </p:nvSpPr>
          <p:spPr>
            <a:xfrm>
              <a:off x="3225105" y="4045380"/>
              <a:ext cx="76200" cy="593725"/>
            </a:xfrm>
            <a:custGeom>
              <a:avLst/>
              <a:gdLst/>
              <a:ahLst/>
              <a:cxnLst/>
              <a:rect l="l" t="t" r="r" b="b"/>
              <a:pathLst>
                <a:path w="76200" h="593725">
                  <a:moveTo>
                    <a:pt x="0" y="480077"/>
                  </a:moveTo>
                  <a:lnTo>
                    <a:pt x="37544" y="593471"/>
                  </a:lnTo>
                  <a:lnTo>
                    <a:pt x="59709" y="527519"/>
                  </a:lnTo>
                  <a:lnTo>
                    <a:pt x="32638" y="527519"/>
                  </a:lnTo>
                  <a:lnTo>
                    <a:pt x="28488" y="522996"/>
                  </a:lnTo>
                  <a:lnTo>
                    <a:pt x="28488" y="508882"/>
                  </a:lnTo>
                  <a:lnTo>
                    <a:pt x="0" y="480077"/>
                  </a:lnTo>
                  <a:close/>
                </a:path>
                <a:path w="76200" h="593725">
                  <a:moveTo>
                    <a:pt x="28488" y="508882"/>
                  </a:moveTo>
                  <a:lnTo>
                    <a:pt x="28488" y="522996"/>
                  </a:lnTo>
                  <a:lnTo>
                    <a:pt x="32638" y="527519"/>
                  </a:lnTo>
                  <a:lnTo>
                    <a:pt x="43015" y="527519"/>
                  </a:lnTo>
                  <a:lnTo>
                    <a:pt x="47165" y="522996"/>
                  </a:lnTo>
                  <a:lnTo>
                    <a:pt x="47165" y="518039"/>
                  </a:lnTo>
                  <a:lnTo>
                    <a:pt x="37544" y="518039"/>
                  </a:lnTo>
                  <a:lnTo>
                    <a:pt x="28488" y="508882"/>
                  </a:lnTo>
                  <a:close/>
                </a:path>
                <a:path w="76200" h="593725">
                  <a:moveTo>
                    <a:pt x="75654" y="480077"/>
                  </a:moveTo>
                  <a:lnTo>
                    <a:pt x="47165" y="508454"/>
                  </a:lnTo>
                  <a:lnTo>
                    <a:pt x="47165" y="522996"/>
                  </a:lnTo>
                  <a:lnTo>
                    <a:pt x="43015" y="527519"/>
                  </a:lnTo>
                  <a:lnTo>
                    <a:pt x="59709" y="527519"/>
                  </a:lnTo>
                  <a:lnTo>
                    <a:pt x="75654" y="480077"/>
                  </a:lnTo>
                  <a:close/>
                </a:path>
                <a:path w="76200" h="593725">
                  <a:moveTo>
                    <a:pt x="43015" y="0"/>
                  </a:moveTo>
                  <a:lnTo>
                    <a:pt x="32638" y="0"/>
                  </a:lnTo>
                  <a:lnTo>
                    <a:pt x="28488" y="3958"/>
                  </a:lnTo>
                  <a:lnTo>
                    <a:pt x="28488" y="508882"/>
                  </a:lnTo>
                  <a:lnTo>
                    <a:pt x="37544" y="518039"/>
                  </a:lnTo>
                  <a:lnTo>
                    <a:pt x="47165" y="508454"/>
                  </a:lnTo>
                  <a:lnTo>
                    <a:pt x="47165" y="3958"/>
                  </a:lnTo>
                  <a:lnTo>
                    <a:pt x="43015" y="0"/>
                  </a:lnTo>
                  <a:close/>
                </a:path>
                <a:path w="76200" h="593725">
                  <a:moveTo>
                    <a:pt x="47165" y="508454"/>
                  </a:moveTo>
                  <a:lnTo>
                    <a:pt x="37544" y="518039"/>
                  </a:lnTo>
                  <a:lnTo>
                    <a:pt x="47165" y="518039"/>
                  </a:lnTo>
                  <a:lnTo>
                    <a:pt x="47165" y="508454"/>
                  </a:lnTo>
                  <a:close/>
                </a:path>
              </a:pathLst>
            </a:custGeom>
            <a:solidFill>
              <a:srgbClr val="000000"/>
            </a:solidFill>
          </p:spPr>
          <p:txBody>
            <a:bodyPr wrap="square" lIns="0" tIns="0" rIns="0" bIns="0" rtlCol="0"/>
            <a:lstStyle/>
            <a:p/>
          </p:txBody>
        </p:sp>
        <p:sp>
          <p:nvSpPr>
            <p:cNvPr id="81" name="object 81" descr=""/>
            <p:cNvSpPr/>
            <p:nvPr/>
          </p:nvSpPr>
          <p:spPr>
            <a:xfrm>
              <a:off x="3225104" y="4045380"/>
              <a:ext cx="76200" cy="593725"/>
            </a:xfrm>
            <a:custGeom>
              <a:avLst/>
              <a:gdLst/>
              <a:ahLst/>
              <a:cxnLst/>
              <a:rect l="l" t="t" r="r" b="b"/>
              <a:pathLst>
                <a:path w="76200" h="593725">
                  <a:moveTo>
                    <a:pt x="47165" y="9424"/>
                  </a:moveTo>
                  <a:lnTo>
                    <a:pt x="47165" y="518039"/>
                  </a:lnTo>
                  <a:lnTo>
                    <a:pt x="47165" y="522996"/>
                  </a:lnTo>
                  <a:lnTo>
                    <a:pt x="43015" y="527519"/>
                  </a:lnTo>
                  <a:lnTo>
                    <a:pt x="37544" y="527519"/>
                  </a:lnTo>
                  <a:lnTo>
                    <a:pt x="32638" y="527519"/>
                  </a:lnTo>
                  <a:lnTo>
                    <a:pt x="28488" y="522996"/>
                  </a:lnTo>
                  <a:lnTo>
                    <a:pt x="28488" y="518039"/>
                  </a:lnTo>
                  <a:lnTo>
                    <a:pt x="28488" y="9424"/>
                  </a:lnTo>
                  <a:lnTo>
                    <a:pt x="28488" y="3958"/>
                  </a:lnTo>
                  <a:lnTo>
                    <a:pt x="32638" y="0"/>
                  </a:lnTo>
                  <a:lnTo>
                    <a:pt x="37544" y="0"/>
                  </a:lnTo>
                  <a:lnTo>
                    <a:pt x="43015" y="0"/>
                  </a:lnTo>
                  <a:lnTo>
                    <a:pt x="47165" y="3958"/>
                  </a:lnTo>
                  <a:lnTo>
                    <a:pt x="47165" y="9424"/>
                  </a:lnTo>
                  <a:close/>
                </a:path>
                <a:path w="76200" h="593725">
                  <a:moveTo>
                    <a:pt x="37544" y="518039"/>
                  </a:moveTo>
                  <a:lnTo>
                    <a:pt x="75654" y="480077"/>
                  </a:lnTo>
                  <a:lnTo>
                    <a:pt x="37544" y="593471"/>
                  </a:lnTo>
                  <a:lnTo>
                    <a:pt x="0" y="480077"/>
                  </a:lnTo>
                  <a:lnTo>
                    <a:pt x="37544" y="518039"/>
                  </a:lnTo>
                  <a:close/>
                </a:path>
              </a:pathLst>
            </a:custGeom>
            <a:ln w="6791">
              <a:solidFill>
                <a:srgbClr val="000000"/>
              </a:solidFill>
            </a:ln>
          </p:spPr>
          <p:txBody>
            <a:bodyPr wrap="square" lIns="0" tIns="0" rIns="0" bIns="0" rtlCol="0"/>
            <a:lstStyle/>
            <a:p/>
          </p:txBody>
        </p:sp>
        <p:sp>
          <p:nvSpPr>
            <p:cNvPr id="82" name="object 82" descr=""/>
            <p:cNvSpPr/>
            <p:nvPr/>
          </p:nvSpPr>
          <p:spPr>
            <a:xfrm>
              <a:off x="4390670" y="4361474"/>
              <a:ext cx="43180" cy="58419"/>
            </a:xfrm>
            <a:custGeom>
              <a:avLst/>
              <a:gdLst/>
              <a:ahLst/>
              <a:cxnLst/>
              <a:rect l="l" t="t" r="r" b="b"/>
              <a:pathLst>
                <a:path w="43179" h="58420">
                  <a:moveTo>
                    <a:pt x="21696" y="0"/>
                  </a:moveTo>
                  <a:lnTo>
                    <a:pt x="12973" y="2306"/>
                  </a:lnTo>
                  <a:lnTo>
                    <a:pt x="6107" y="8552"/>
                  </a:lnTo>
                  <a:lnTo>
                    <a:pt x="1612" y="17732"/>
                  </a:lnTo>
                  <a:lnTo>
                    <a:pt x="0" y="28838"/>
                  </a:lnTo>
                  <a:lnTo>
                    <a:pt x="1612" y="40292"/>
                  </a:lnTo>
                  <a:lnTo>
                    <a:pt x="6107" y="49501"/>
                  </a:lnTo>
                  <a:lnTo>
                    <a:pt x="12973" y="55636"/>
                  </a:lnTo>
                  <a:lnTo>
                    <a:pt x="21696" y="57865"/>
                  </a:lnTo>
                  <a:lnTo>
                    <a:pt x="30041" y="55636"/>
                  </a:lnTo>
                  <a:lnTo>
                    <a:pt x="36813" y="49501"/>
                  </a:lnTo>
                  <a:lnTo>
                    <a:pt x="41355" y="40292"/>
                  </a:lnTo>
                  <a:lnTo>
                    <a:pt x="43015" y="28838"/>
                  </a:lnTo>
                  <a:lnTo>
                    <a:pt x="41355" y="17732"/>
                  </a:lnTo>
                  <a:lnTo>
                    <a:pt x="36813" y="8552"/>
                  </a:lnTo>
                  <a:lnTo>
                    <a:pt x="30041" y="2306"/>
                  </a:lnTo>
                  <a:lnTo>
                    <a:pt x="21696" y="0"/>
                  </a:lnTo>
                  <a:close/>
                </a:path>
              </a:pathLst>
            </a:custGeom>
            <a:solidFill>
              <a:srgbClr val="000000"/>
            </a:solidFill>
          </p:spPr>
          <p:txBody>
            <a:bodyPr wrap="square" lIns="0" tIns="0" rIns="0" bIns="0" rtlCol="0"/>
            <a:lstStyle/>
            <a:p/>
          </p:txBody>
        </p:sp>
        <p:sp>
          <p:nvSpPr>
            <p:cNvPr id="83" name="object 83" descr=""/>
            <p:cNvSpPr/>
            <p:nvPr/>
          </p:nvSpPr>
          <p:spPr>
            <a:xfrm>
              <a:off x="4390670" y="4361474"/>
              <a:ext cx="43180" cy="58419"/>
            </a:xfrm>
            <a:custGeom>
              <a:avLst/>
              <a:gdLst/>
              <a:ahLst/>
              <a:cxnLst/>
              <a:rect l="l" t="t" r="r" b="b"/>
              <a:pathLst>
                <a:path w="43179" h="58420">
                  <a:moveTo>
                    <a:pt x="21696" y="0"/>
                  </a:moveTo>
                  <a:lnTo>
                    <a:pt x="12973" y="2306"/>
                  </a:lnTo>
                  <a:lnTo>
                    <a:pt x="6107" y="8552"/>
                  </a:lnTo>
                  <a:lnTo>
                    <a:pt x="1612" y="17732"/>
                  </a:lnTo>
                  <a:lnTo>
                    <a:pt x="0" y="28838"/>
                  </a:lnTo>
                  <a:lnTo>
                    <a:pt x="1612" y="40292"/>
                  </a:lnTo>
                  <a:lnTo>
                    <a:pt x="6107" y="49501"/>
                  </a:lnTo>
                  <a:lnTo>
                    <a:pt x="12973" y="55636"/>
                  </a:lnTo>
                  <a:lnTo>
                    <a:pt x="21696" y="57865"/>
                  </a:lnTo>
                  <a:lnTo>
                    <a:pt x="30041" y="55636"/>
                  </a:lnTo>
                  <a:lnTo>
                    <a:pt x="36813" y="49501"/>
                  </a:lnTo>
                  <a:lnTo>
                    <a:pt x="41355" y="40292"/>
                  </a:lnTo>
                  <a:lnTo>
                    <a:pt x="43015" y="28838"/>
                  </a:lnTo>
                  <a:lnTo>
                    <a:pt x="41355" y="17732"/>
                  </a:lnTo>
                  <a:lnTo>
                    <a:pt x="36813" y="8552"/>
                  </a:lnTo>
                  <a:lnTo>
                    <a:pt x="30041" y="2306"/>
                  </a:lnTo>
                  <a:lnTo>
                    <a:pt x="21696" y="0"/>
                  </a:lnTo>
                </a:path>
              </a:pathLst>
            </a:custGeom>
            <a:ln w="14038">
              <a:solidFill>
                <a:srgbClr val="000000"/>
              </a:solidFill>
            </a:ln>
          </p:spPr>
          <p:txBody>
            <a:bodyPr wrap="square" lIns="0" tIns="0" rIns="0" bIns="0" rtlCol="0"/>
            <a:lstStyle/>
            <a:p/>
          </p:txBody>
        </p:sp>
        <p:sp>
          <p:nvSpPr>
            <p:cNvPr id="84" name="object 84" descr=""/>
            <p:cNvSpPr/>
            <p:nvPr/>
          </p:nvSpPr>
          <p:spPr>
            <a:xfrm>
              <a:off x="6175619" y="4369202"/>
              <a:ext cx="43180" cy="58419"/>
            </a:xfrm>
            <a:custGeom>
              <a:avLst/>
              <a:gdLst/>
              <a:ahLst/>
              <a:cxnLst/>
              <a:rect l="l" t="t" r="r" b="b"/>
              <a:pathLst>
                <a:path w="43179" h="58420">
                  <a:moveTo>
                    <a:pt x="21130" y="0"/>
                  </a:moveTo>
                  <a:lnTo>
                    <a:pt x="12734" y="2279"/>
                  </a:lnTo>
                  <a:lnTo>
                    <a:pt x="6037" y="8481"/>
                  </a:lnTo>
                  <a:lnTo>
                    <a:pt x="1603" y="17653"/>
                  </a:lnTo>
                  <a:lnTo>
                    <a:pt x="0" y="28838"/>
                  </a:lnTo>
                  <a:lnTo>
                    <a:pt x="1603" y="40053"/>
                  </a:lnTo>
                  <a:lnTo>
                    <a:pt x="6037" y="49289"/>
                  </a:lnTo>
                  <a:lnTo>
                    <a:pt x="12734" y="55556"/>
                  </a:lnTo>
                  <a:lnTo>
                    <a:pt x="21130" y="57865"/>
                  </a:lnTo>
                  <a:lnTo>
                    <a:pt x="29723" y="55556"/>
                  </a:lnTo>
                  <a:lnTo>
                    <a:pt x="36671" y="49289"/>
                  </a:lnTo>
                  <a:lnTo>
                    <a:pt x="41320" y="40053"/>
                  </a:lnTo>
                  <a:lnTo>
                    <a:pt x="43015" y="28838"/>
                  </a:lnTo>
                  <a:lnTo>
                    <a:pt x="41320" y="17653"/>
                  </a:lnTo>
                  <a:lnTo>
                    <a:pt x="36671" y="8481"/>
                  </a:lnTo>
                  <a:lnTo>
                    <a:pt x="29723" y="2279"/>
                  </a:lnTo>
                  <a:lnTo>
                    <a:pt x="21130" y="0"/>
                  </a:lnTo>
                  <a:close/>
                </a:path>
              </a:pathLst>
            </a:custGeom>
            <a:solidFill>
              <a:srgbClr val="000000"/>
            </a:solidFill>
          </p:spPr>
          <p:txBody>
            <a:bodyPr wrap="square" lIns="0" tIns="0" rIns="0" bIns="0" rtlCol="0"/>
            <a:lstStyle/>
            <a:p/>
          </p:txBody>
        </p:sp>
        <p:sp>
          <p:nvSpPr>
            <p:cNvPr id="85" name="object 85" descr=""/>
            <p:cNvSpPr/>
            <p:nvPr/>
          </p:nvSpPr>
          <p:spPr>
            <a:xfrm>
              <a:off x="6175619" y="4369202"/>
              <a:ext cx="43180" cy="58419"/>
            </a:xfrm>
            <a:custGeom>
              <a:avLst/>
              <a:gdLst/>
              <a:ahLst/>
              <a:cxnLst/>
              <a:rect l="l" t="t" r="r" b="b"/>
              <a:pathLst>
                <a:path w="43179" h="58420">
                  <a:moveTo>
                    <a:pt x="21130" y="0"/>
                  </a:moveTo>
                  <a:lnTo>
                    <a:pt x="12734" y="2279"/>
                  </a:lnTo>
                  <a:lnTo>
                    <a:pt x="6037" y="8481"/>
                  </a:lnTo>
                  <a:lnTo>
                    <a:pt x="1603" y="17653"/>
                  </a:lnTo>
                  <a:lnTo>
                    <a:pt x="0" y="28838"/>
                  </a:lnTo>
                  <a:lnTo>
                    <a:pt x="1603" y="40053"/>
                  </a:lnTo>
                  <a:lnTo>
                    <a:pt x="6037" y="49289"/>
                  </a:lnTo>
                  <a:lnTo>
                    <a:pt x="12734" y="55556"/>
                  </a:lnTo>
                  <a:lnTo>
                    <a:pt x="21130" y="57865"/>
                  </a:lnTo>
                  <a:lnTo>
                    <a:pt x="29723" y="55556"/>
                  </a:lnTo>
                  <a:lnTo>
                    <a:pt x="36671" y="49289"/>
                  </a:lnTo>
                  <a:lnTo>
                    <a:pt x="41320" y="40053"/>
                  </a:lnTo>
                  <a:lnTo>
                    <a:pt x="43015" y="28838"/>
                  </a:lnTo>
                  <a:lnTo>
                    <a:pt x="41320" y="17653"/>
                  </a:lnTo>
                  <a:lnTo>
                    <a:pt x="36671" y="8481"/>
                  </a:lnTo>
                  <a:lnTo>
                    <a:pt x="29723" y="2279"/>
                  </a:lnTo>
                  <a:lnTo>
                    <a:pt x="21130" y="0"/>
                  </a:lnTo>
                </a:path>
              </a:pathLst>
            </a:custGeom>
            <a:ln w="14038">
              <a:solidFill>
                <a:srgbClr val="000000"/>
              </a:solidFill>
            </a:ln>
          </p:spPr>
          <p:txBody>
            <a:bodyPr wrap="square" lIns="0" tIns="0" rIns="0" bIns="0" rtlCol="0"/>
            <a:lstStyle/>
            <a:p/>
          </p:txBody>
        </p:sp>
        <p:sp>
          <p:nvSpPr>
            <p:cNvPr id="86" name="object 86" descr=""/>
            <p:cNvSpPr/>
            <p:nvPr/>
          </p:nvSpPr>
          <p:spPr>
            <a:xfrm>
              <a:off x="6889524" y="4376930"/>
              <a:ext cx="43180" cy="57785"/>
            </a:xfrm>
            <a:custGeom>
              <a:avLst/>
              <a:gdLst/>
              <a:ahLst/>
              <a:cxnLst/>
              <a:rect l="l" t="t" r="r" b="b"/>
              <a:pathLst>
                <a:path w="43179" h="57785">
                  <a:moveTo>
                    <a:pt x="21319" y="0"/>
                  </a:moveTo>
                  <a:lnTo>
                    <a:pt x="12814" y="2226"/>
                  </a:lnTo>
                  <a:lnTo>
                    <a:pt x="6060" y="8340"/>
                  </a:lnTo>
                  <a:lnTo>
                    <a:pt x="1606" y="17493"/>
                  </a:lnTo>
                  <a:lnTo>
                    <a:pt x="0" y="28838"/>
                  </a:lnTo>
                  <a:lnTo>
                    <a:pt x="1606" y="40024"/>
                  </a:lnTo>
                  <a:lnTo>
                    <a:pt x="6060" y="49195"/>
                  </a:lnTo>
                  <a:lnTo>
                    <a:pt x="12814" y="55397"/>
                  </a:lnTo>
                  <a:lnTo>
                    <a:pt x="21319" y="57677"/>
                  </a:lnTo>
                  <a:lnTo>
                    <a:pt x="29803" y="55397"/>
                  </a:lnTo>
                  <a:lnTo>
                    <a:pt x="36695" y="49195"/>
                  </a:lnTo>
                  <a:lnTo>
                    <a:pt x="41323" y="40024"/>
                  </a:lnTo>
                  <a:lnTo>
                    <a:pt x="43015" y="28838"/>
                  </a:lnTo>
                  <a:lnTo>
                    <a:pt x="41323" y="17493"/>
                  </a:lnTo>
                  <a:lnTo>
                    <a:pt x="36695" y="8340"/>
                  </a:lnTo>
                  <a:lnTo>
                    <a:pt x="29803" y="2226"/>
                  </a:lnTo>
                  <a:lnTo>
                    <a:pt x="21319" y="0"/>
                  </a:lnTo>
                  <a:close/>
                </a:path>
              </a:pathLst>
            </a:custGeom>
            <a:solidFill>
              <a:srgbClr val="000000"/>
            </a:solidFill>
          </p:spPr>
          <p:txBody>
            <a:bodyPr wrap="square" lIns="0" tIns="0" rIns="0" bIns="0" rtlCol="0"/>
            <a:lstStyle/>
            <a:p/>
          </p:txBody>
        </p:sp>
        <p:sp>
          <p:nvSpPr>
            <p:cNvPr id="87" name="object 87" descr=""/>
            <p:cNvSpPr/>
            <p:nvPr/>
          </p:nvSpPr>
          <p:spPr>
            <a:xfrm>
              <a:off x="6889524" y="4376930"/>
              <a:ext cx="43180" cy="57785"/>
            </a:xfrm>
            <a:custGeom>
              <a:avLst/>
              <a:gdLst/>
              <a:ahLst/>
              <a:cxnLst/>
              <a:rect l="l" t="t" r="r" b="b"/>
              <a:pathLst>
                <a:path w="43179" h="57785">
                  <a:moveTo>
                    <a:pt x="21319" y="0"/>
                  </a:moveTo>
                  <a:lnTo>
                    <a:pt x="12814" y="2226"/>
                  </a:lnTo>
                  <a:lnTo>
                    <a:pt x="6060" y="8340"/>
                  </a:lnTo>
                  <a:lnTo>
                    <a:pt x="1606" y="17493"/>
                  </a:lnTo>
                  <a:lnTo>
                    <a:pt x="0" y="28838"/>
                  </a:lnTo>
                  <a:lnTo>
                    <a:pt x="1606" y="40024"/>
                  </a:lnTo>
                  <a:lnTo>
                    <a:pt x="6060" y="49195"/>
                  </a:lnTo>
                  <a:lnTo>
                    <a:pt x="12814" y="55397"/>
                  </a:lnTo>
                  <a:lnTo>
                    <a:pt x="21319" y="57677"/>
                  </a:lnTo>
                  <a:lnTo>
                    <a:pt x="29803" y="55397"/>
                  </a:lnTo>
                  <a:lnTo>
                    <a:pt x="36695" y="49195"/>
                  </a:lnTo>
                  <a:lnTo>
                    <a:pt x="41323" y="40024"/>
                  </a:lnTo>
                  <a:lnTo>
                    <a:pt x="43015" y="28838"/>
                  </a:lnTo>
                  <a:lnTo>
                    <a:pt x="41323" y="17493"/>
                  </a:lnTo>
                  <a:lnTo>
                    <a:pt x="36695" y="8340"/>
                  </a:lnTo>
                  <a:lnTo>
                    <a:pt x="29803" y="2226"/>
                  </a:lnTo>
                  <a:lnTo>
                    <a:pt x="21319" y="0"/>
                  </a:lnTo>
                </a:path>
              </a:pathLst>
            </a:custGeom>
            <a:ln w="14038">
              <a:solidFill>
                <a:srgbClr val="000000"/>
              </a:solidFill>
            </a:ln>
          </p:spPr>
          <p:txBody>
            <a:bodyPr wrap="square" lIns="0" tIns="0" rIns="0" bIns="0" rtlCol="0"/>
            <a:lstStyle/>
            <a:p/>
          </p:txBody>
        </p:sp>
        <p:sp>
          <p:nvSpPr>
            <p:cNvPr id="88" name="object 88" descr=""/>
            <p:cNvSpPr/>
            <p:nvPr/>
          </p:nvSpPr>
          <p:spPr>
            <a:xfrm>
              <a:off x="5453980" y="3844264"/>
              <a:ext cx="43180" cy="58419"/>
            </a:xfrm>
            <a:custGeom>
              <a:avLst/>
              <a:gdLst/>
              <a:ahLst/>
              <a:cxnLst/>
              <a:rect l="l" t="t" r="r" b="b"/>
              <a:pathLst>
                <a:path w="43179" h="58420">
                  <a:moveTo>
                    <a:pt x="21696" y="0"/>
                  </a:moveTo>
                  <a:lnTo>
                    <a:pt x="13132" y="2306"/>
                  </a:lnTo>
                  <a:lnTo>
                    <a:pt x="6249" y="8552"/>
                  </a:lnTo>
                  <a:lnTo>
                    <a:pt x="1665" y="17732"/>
                  </a:lnTo>
                  <a:lnTo>
                    <a:pt x="0" y="28838"/>
                  </a:lnTo>
                  <a:lnTo>
                    <a:pt x="1665" y="40053"/>
                  </a:lnTo>
                  <a:lnTo>
                    <a:pt x="6249" y="49289"/>
                  </a:lnTo>
                  <a:lnTo>
                    <a:pt x="13132" y="55556"/>
                  </a:lnTo>
                  <a:lnTo>
                    <a:pt x="21696" y="57865"/>
                  </a:lnTo>
                  <a:lnTo>
                    <a:pt x="29962" y="55556"/>
                  </a:lnTo>
                  <a:lnTo>
                    <a:pt x="36742" y="49289"/>
                  </a:lnTo>
                  <a:lnTo>
                    <a:pt x="41329" y="40053"/>
                  </a:lnTo>
                  <a:lnTo>
                    <a:pt x="43015" y="28838"/>
                  </a:lnTo>
                  <a:lnTo>
                    <a:pt x="41329" y="17732"/>
                  </a:lnTo>
                  <a:lnTo>
                    <a:pt x="36742" y="8552"/>
                  </a:lnTo>
                  <a:lnTo>
                    <a:pt x="29962" y="2306"/>
                  </a:lnTo>
                  <a:lnTo>
                    <a:pt x="21696" y="0"/>
                  </a:lnTo>
                  <a:close/>
                </a:path>
              </a:pathLst>
            </a:custGeom>
            <a:solidFill>
              <a:srgbClr val="000000"/>
            </a:solidFill>
          </p:spPr>
          <p:txBody>
            <a:bodyPr wrap="square" lIns="0" tIns="0" rIns="0" bIns="0" rtlCol="0"/>
            <a:lstStyle/>
            <a:p/>
          </p:txBody>
        </p:sp>
        <p:sp>
          <p:nvSpPr>
            <p:cNvPr id="89" name="object 89" descr=""/>
            <p:cNvSpPr/>
            <p:nvPr/>
          </p:nvSpPr>
          <p:spPr>
            <a:xfrm>
              <a:off x="5453980" y="3844264"/>
              <a:ext cx="43180" cy="58419"/>
            </a:xfrm>
            <a:custGeom>
              <a:avLst/>
              <a:gdLst/>
              <a:ahLst/>
              <a:cxnLst/>
              <a:rect l="l" t="t" r="r" b="b"/>
              <a:pathLst>
                <a:path w="43179" h="58420">
                  <a:moveTo>
                    <a:pt x="21696" y="0"/>
                  </a:moveTo>
                  <a:lnTo>
                    <a:pt x="13132" y="2306"/>
                  </a:lnTo>
                  <a:lnTo>
                    <a:pt x="6249" y="8552"/>
                  </a:lnTo>
                  <a:lnTo>
                    <a:pt x="1665" y="17732"/>
                  </a:lnTo>
                  <a:lnTo>
                    <a:pt x="0" y="28838"/>
                  </a:lnTo>
                  <a:lnTo>
                    <a:pt x="1665" y="40053"/>
                  </a:lnTo>
                  <a:lnTo>
                    <a:pt x="6249" y="49289"/>
                  </a:lnTo>
                  <a:lnTo>
                    <a:pt x="13132" y="55556"/>
                  </a:lnTo>
                  <a:lnTo>
                    <a:pt x="21696" y="57865"/>
                  </a:lnTo>
                  <a:lnTo>
                    <a:pt x="29962" y="55556"/>
                  </a:lnTo>
                  <a:lnTo>
                    <a:pt x="36742" y="49289"/>
                  </a:lnTo>
                  <a:lnTo>
                    <a:pt x="41329" y="40053"/>
                  </a:lnTo>
                  <a:lnTo>
                    <a:pt x="43015" y="28838"/>
                  </a:lnTo>
                  <a:lnTo>
                    <a:pt x="41329" y="17732"/>
                  </a:lnTo>
                  <a:lnTo>
                    <a:pt x="36742" y="8552"/>
                  </a:lnTo>
                  <a:lnTo>
                    <a:pt x="29962" y="2306"/>
                  </a:lnTo>
                  <a:lnTo>
                    <a:pt x="21696" y="0"/>
                  </a:lnTo>
                </a:path>
              </a:pathLst>
            </a:custGeom>
            <a:ln w="14038">
              <a:solidFill>
                <a:srgbClr val="000000"/>
              </a:solidFill>
            </a:ln>
          </p:spPr>
          <p:txBody>
            <a:bodyPr wrap="square" lIns="0" tIns="0" rIns="0" bIns="0" rtlCol="0"/>
            <a:lstStyle/>
            <a:p/>
          </p:txBody>
        </p:sp>
        <p:sp>
          <p:nvSpPr>
            <p:cNvPr id="90" name="object 90" descr=""/>
            <p:cNvSpPr/>
            <p:nvPr/>
          </p:nvSpPr>
          <p:spPr>
            <a:xfrm>
              <a:off x="5978466" y="3674060"/>
              <a:ext cx="44450" cy="57785"/>
            </a:xfrm>
            <a:custGeom>
              <a:avLst/>
              <a:gdLst/>
              <a:ahLst/>
              <a:cxnLst/>
              <a:rect l="l" t="t" r="r" b="b"/>
              <a:pathLst>
                <a:path w="44450" h="57785">
                  <a:moveTo>
                    <a:pt x="21696" y="0"/>
                  </a:moveTo>
                  <a:lnTo>
                    <a:pt x="13371" y="2273"/>
                  </a:lnTo>
                  <a:lnTo>
                    <a:pt x="6461" y="8434"/>
                  </a:lnTo>
                  <a:lnTo>
                    <a:pt x="1745" y="17493"/>
                  </a:lnTo>
                  <a:lnTo>
                    <a:pt x="0" y="28461"/>
                  </a:lnTo>
                  <a:lnTo>
                    <a:pt x="1745" y="39567"/>
                  </a:lnTo>
                  <a:lnTo>
                    <a:pt x="6461" y="48747"/>
                  </a:lnTo>
                  <a:lnTo>
                    <a:pt x="13371" y="54994"/>
                  </a:lnTo>
                  <a:lnTo>
                    <a:pt x="21696" y="57300"/>
                  </a:lnTo>
                  <a:lnTo>
                    <a:pt x="30348" y="54994"/>
                  </a:lnTo>
                  <a:lnTo>
                    <a:pt x="37426" y="48747"/>
                  </a:lnTo>
                  <a:lnTo>
                    <a:pt x="42204" y="39567"/>
                  </a:lnTo>
                  <a:lnTo>
                    <a:pt x="43958" y="28461"/>
                  </a:lnTo>
                  <a:lnTo>
                    <a:pt x="42204" y="17493"/>
                  </a:lnTo>
                  <a:lnTo>
                    <a:pt x="37426" y="8434"/>
                  </a:lnTo>
                  <a:lnTo>
                    <a:pt x="30348" y="2273"/>
                  </a:lnTo>
                  <a:lnTo>
                    <a:pt x="21696" y="0"/>
                  </a:lnTo>
                  <a:close/>
                </a:path>
              </a:pathLst>
            </a:custGeom>
            <a:solidFill>
              <a:srgbClr val="000000"/>
            </a:solidFill>
          </p:spPr>
          <p:txBody>
            <a:bodyPr wrap="square" lIns="0" tIns="0" rIns="0" bIns="0" rtlCol="0"/>
            <a:lstStyle/>
            <a:p/>
          </p:txBody>
        </p:sp>
        <p:sp>
          <p:nvSpPr>
            <p:cNvPr id="91" name="object 91" descr=""/>
            <p:cNvSpPr/>
            <p:nvPr/>
          </p:nvSpPr>
          <p:spPr>
            <a:xfrm>
              <a:off x="5978466" y="3674060"/>
              <a:ext cx="44450" cy="57785"/>
            </a:xfrm>
            <a:custGeom>
              <a:avLst/>
              <a:gdLst/>
              <a:ahLst/>
              <a:cxnLst/>
              <a:rect l="l" t="t" r="r" b="b"/>
              <a:pathLst>
                <a:path w="44450" h="57785">
                  <a:moveTo>
                    <a:pt x="21696" y="0"/>
                  </a:moveTo>
                  <a:lnTo>
                    <a:pt x="13371" y="2273"/>
                  </a:lnTo>
                  <a:lnTo>
                    <a:pt x="6461" y="8434"/>
                  </a:lnTo>
                  <a:lnTo>
                    <a:pt x="1745" y="17493"/>
                  </a:lnTo>
                  <a:lnTo>
                    <a:pt x="0" y="28461"/>
                  </a:lnTo>
                  <a:lnTo>
                    <a:pt x="1745" y="39567"/>
                  </a:lnTo>
                  <a:lnTo>
                    <a:pt x="6461" y="48747"/>
                  </a:lnTo>
                  <a:lnTo>
                    <a:pt x="13371" y="54994"/>
                  </a:lnTo>
                  <a:lnTo>
                    <a:pt x="21696" y="57300"/>
                  </a:lnTo>
                  <a:lnTo>
                    <a:pt x="30348" y="54994"/>
                  </a:lnTo>
                  <a:lnTo>
                    <a:pt x="37426" y="48747"/>
                  </a:lnTo>
                  <a:lnTo>
                    <a:pt x="42204" y="39567"/>
                  </a:lnTo>
                  <a:lnTo>
                    <a:pt x="43958" y="28461"/>
                  </a:lnTo>
                  <a:lnTo>
                    <a:pt x="42204" y="17493"/>
                  </a:lnTo>
                  <a:lnTo>
                    <a:pt x="37426" y="8434"/>
                  </a:lnTo>
                  <a:lnTo>
                    <a:pt x="30348" y="2273"/>
                  </a:lnTo>
                  <a:lnTo>
                    <a:pt x="21696" y="0"/>
                  </a:lnTo>
                </a:path>
              </a:pathLst>
            </a:custGeom>
            <a:ln w="14038">
              <a:solidFill>
                <a:srgbClr val="000000"/>
              </a:solidFill>
            </a:ln>
          </p:spPr>
          <p:txBody>
            <a:bodyPr wrap="square" lIns="0" tIns="0" rIns="0" bIns="0" rtlCol="0"/>
            <a:lstStyle/>
            <a:p/>
          </p:txBody>
        </p:sp>
        <p:sp>
          <p:nvSpPr>
            <p:cNvPr id="92" name="object 92" descr=""/>
            <p:cNvSpPr/>
            <p:nvPr/>
          </p:nvSpPr>
          <p:spPr>
            <a:xfrm>
              <a:off x="5992993" y="3205103"/>
              <a:ext cx="1593850" cy="75565"/>
            </a:xfrm>
            <a:custGeom>
              <a:avLst/>
              <a:gdLst/>
              <a:ahLst/>
              <a:cxnLst/>
              <a:rect l="l" t="t" r="r" b="b"/>
              <a:pathLst>
                <a:path w="1593850" h="75564">
                  <a:moveTo>
                    <a:pt x="1479502" y="0"/>
                  </a:moveTo>
                  <a:lnTo>
                    <a:pt x="1517612" y="37885"/>
                  </a:lnTo>
                  <a:lnTo>
                    <a:pt x="1479502" y="75018"/>
                  </a:lnTo>
                  <a:lnTo>
                    <a:pt x="1565118" y="47498"/>
                  </a:lnTo>
                  <a:lnTo>
                    <a:pt x="1522517" y="47498"/>
                  </a:lnTo>
                  <a:lnTo>
                    <a:pt x="1527045" y="42975"/>
                  </a:lnTo>
                  <a:lnTo>
                    <a:pt x="1527045" y="32985"/>
                  </a:lnTo>
                  <a:lnTo>
                    <a:pt x="1522517" y="28461"/>
                  </a:lnTo>
                  <a:lnTo>
                    <a:pt x="1563710" y="28461"/>
                  </a:lnTo>
                  <a:lnTo>
                    <a:pt x="1479502" y="0"/>
                  </a:lnTo>
                  <a:close/>
                </a:path>
                <a:path w="1593850" h="75564">
                  <a:moveTo>
                    <a:pt x="9433" y="22053"/>
                  </a:moveTo>
                  <a:lnTo>
                    <a:pt x="4527" y="22053"/>
                  </a:lnTo>
                  <a:lnTo>
                    <a:pt x="0" y="26576"/>
                  </a:lnTo>
                  <a:lnTo>
                    <a:pt x="0" y="36566"/>
                  </a:lnTo>
                  <a:lnTo>
                    <a:pt x="4527" y="40713"/>
                  </a:lnTo>
                  <a:lnTo>
                    <a:pt x="1517612" y="47498"/>
                  </a:lnTo>
                  <a:lnTo>
                    <a:pt x="1507746" y="47498"/>
                  </a:lnTo>
                  <a:lnTo>
                    <a:pt x="1517612" y="37885"/>
                  </a:lnTo>
                  <a:lnTo>
                    <a:pt x="1508132" y="28461"/>
                  </a:lnTo>
                  <a:lnTo>
                    <a:pt x="1517612" y="28461"/>
                  </a:lnTo>
                  <a:lnTo>
                    <a:pt x="9433" y="22053"/>
                  </a:lnTo>
                  <a:close/>
                </a:path>
                <a:path w="1593850" h="75564">
                  <a:moveTo>
                    <a:pt x="1563710" y="28461"/>
                  </a:moveTo>
                  <a:lnTo>
                    <a:pt x="1522517" y="28461"/>
                  </a:lnTo>
                  <a:lnTo>
                    <a:pt x="1527045" y="32985"/>
                  </a:lnTo>
                  <a:lnTo>
                    <a:pt x="1527045" y="42975"/>
                  </a:lnTo>
                  <a:lnTo>
                    <a:pt x="1522517" y="47498"/>
                  </a:lnTo>
                  <a:lnTo>
                    <a:pt x="1565118" y="47498"/>
                  </a:lnTo>
                  <a:lnTo>
                    <a:pt x="1593266" y="38451"/>
                  </a:lnTo>
                  <a:lnTo>
                    <a:pt x="1563710" y="28461"/>
                  </a:lnTo>
                  <a:close/>
                </a:path>
              </a:pathLst>
            </a:custGeom>
            <a:solidFill>
              <a:srgbClr val="0000FF"/>
            </a:solidFill>
          </p:spPr>
          <p:txBody>
            <a:bodyPr wrap="square" lIns="0" tIns="0" rIns="0" bIns="0" rtlCol="0"/>
            <a:lstStyle/>
            <a:p/>
          </p:txBody>
        </p:sp>
        <p:sp>
          <p:nvSpPr>
            <p:cNvPr id="93" name="object 93" descr=""/>
            <p:cNvSpPr/>
            <p:nvPr/>
          </p:nvSpPr>
          <p:spPr>
            <a:xfrm>
              <a:off x="5992993" y="3205103"/>
              <a:ext cx="1593850" cy="75565"/>
            </a:xfrm>
            <a:custGeom>
              <a:avLst/>
              <a:gdLst/>
              <a:ahLst/>
              <a:cxnLst/>
              <a:rect l="l" t="t" r="r" b="b"/>
              <a:pathLst>
                <a:path w="1593850" h="75564">
                  <a:moveTo>
                    <a:pt x="9433" y="22053"/>
                  </a:moveTo>
                  <a:lnTo>
                    <a:pt x="1517612" y="28461"/>
                  </a:lnTo>
                  <a:lnTo>
                    <a:pt x="1522517" y="28461"/>
                  </a:lnTo>
                  <a:lnTo>
                    <a:pt x="1527045" y="32985"/>
                  </a:lnTo>
                  <a:lnTo>
                    <a:pt x="1527045" y="37885"/>
                  </a:lnTo>
                  <a:lnTo>
                    <a:pt x="1527045" y="42975"/>
                  </a:lnTo>
                  <a:lnTo>
                    <a:pt x="1522517" y="47498"/>
                  </a:lnTo>
                  <a:lnTo>
                    <a:pt x="1517612" y="47498"/>
                  </a:lnTo>
                  <a:lnTo>
                    <a:pt x="9433" y="40713"/>
                  </a:lnTo>
                  <a:lnTo>
                    <a:pt x="4527" y="40713"/>
                  </a:lnTo>
                  <a:lnTo>
                    <a:pt x="0" y="36566"/>
                  </a:lnTo>
                  <a:lnTo>
                    <a:pt x="0" y="31665"/>
                  </a:lnTo>
                  <a:lnTo>
                    <a:pt x="0" y="26576"/>
                  </a:lnTo>
                  <a:lnTo>
                    <a:pt x="4527" y="22053"/>
                  </a:lnTo>
                  <a:lnTo>
                    <a:pt x="9433" y="22053"/>
                  </a:lnTo>
                  <a:close/>
                </a:path>
                <a:path w="1593850" h="75564">
                  <a:moveTo>
                    <a:pt x="1517612" y="37885"/>
                  </a:moveTo>
                  <a:lnTo>
                    <a:pt x="1479502" y="0"/>
                  </a:lnTo>
                  <a:lnTo>
                    <a:pt x="1593266" y="38451"/>
                  </a:lnTo>
                  <a:lnTo>
                    <a:pt x="1479502" y="75018"/>
                  </a:lnTo>
                  <a:lnTo>
                    <a:pt x="1517612" y="37885"/>
                  </a:lnTo>
                  <a:close/>
                </a:path>
              </a:pathLst>
            </a:custGeom>
            <a:ln w="6791">
              <a:solidFill>
                <a:srgbClr val="0000FF"/>
              </a:solidFill>
            </a:ln>
          </p:spPr>
          <p:txBody>
            <a:bodyPr wrap="square" lIns="0" tIns="0" rIns="0" bIns="0" rtlCol="0"/>
            <a:lstStyle/>
            <a:p/>
          </p:txBody>
        </p:sp>
        <p:sp>
          <p:nvSpPr>
            <p:cNvPr id="94" name="object 94" descr=""/>
            <p:cNvSpPr/>
            <p:nvPr/>
          </p:nvSpPr>
          <p:spPr>
            <a:xfrm>
              <a:off x="5980730" y="3229041"/>
              <a:ext cx="43815" cy="58419"/>
            </a:xfrm>
            <a:custGeom>
              <a:avLst/>
              <a:gdLst/>
              <a:ahLst/>
              <a:cxnLst/>
              <a:rect l="l" t="t" r="r" b="b"/>
              <a:pathLst>
                <a:path w="43814" h="58420">
                  <a:moveTo>
                    <a:pt x="21696" y="0"/>
                  </a:moveTo>
                  <a:lnTo>
                    <a:pt x="13371" y="2279"/>
                  </a:lnTo>
                  <a:lnTo>
                    <a:pt x="6461" y="8481"/>
                  </a:lnTo>
                  <a:lnTo>
                    <a:pt x="1745" y="17653"/>
                  </a:lnTo>
                  <a:lnTo>
                    <a:pt x="0" y="28838"/>
                  </a:lnTo>
                  <a:lnTo>
                    <a:pt x="1745" y="40053"/>
                  </a:lnTo>
                  <a:lnTo>
                    <a:pt x="6461" y="49289"/>
                  </a:lnTo>
                  <a:lnTo>
                    <a:pt x="13371" y="55556"/>
                  </a:lnTo>
                  <a:lnTo>
                    <a:pt x="21696" y="57865"/>
                  </a:lnTo>
                  <a:lnTo>
                    <a:pt x="30130" y="55556"/>
                  </a:lnTo>
                  <a:lnTo>
                    <a:pt x="37096" y="49289"/>
                  </a:lnTo>
                  <a:lnTo>
                    <a:pt x="41833" y="40053"/>
                  </a:lnTo>
                  <a:lnTo>
                    <a:pt x="43581" y="28838"/>
                  </a:lnTo>
                  <a:lnTo>
                    <a:pt x="41833" y="17653"/>
                  </a:lnTo>
                  <a:lnTo>
                    <a:pt x="37096" y="8481"/>
                  </a:lnTo>
                  <a:lnTo>
                    <a:pt x="30130" y="2279"/>
                  </a:lnTo>
                  <a:lnTo>
                    <a:pt x="21696" y="0"/>
                  </a:lnTo>
                  <a:close/>
                </a:path>
              </a:pathLst>
            </a:custGeom>
            <a:solidFill>
              <a:srgbClr val="000000"/>
            </a:solidFill>
          </p:spPr>
          <p:txBody>
            <a:bodyPr wrap="square" lIns="0" tIns="0" rIns="0" bIns="0" rtlCol="0"/>
            <a:lstStyle/>
            <a:p/>
          </p:txBody>
        </p:sp>
        <p:sp>
          <p:nvSpPr>
            <p:cNvPr id="95" name="object 95" descr=""/>
            <p:cNvSpPr/>
            <p:nvPr/>
          </p:nvSpPr>
          <p:spPr>
            <a:xfrm>
              <a:off x="5980730" y="3229041"/>
              <a:ext cx="43815" cy="58419"/>
            </a:xfrm>
            <a:custGeom>
              <a:avLst/>
              <a:gdLst/>
              <a:ahLst/>
              <a:cxnLst/>
              <a:rect l="l" t="t" r="r" b="b"/>
              <a:pathLst>
                <a:path w="43814" h="58420">
                  <a:moveTo>
                    <a:pt x="21696" y="0"/>
                  </a:moveTo>
                  <a:lnTo>
                    <a:pt x="13371" y="2279"/>
                  </a:lnTo>
                  <a:lnTo>
                    <a:pt x="6461" y="8481"/>
                  </a:lnTo>
                  <a:lnTo>
                    <a:pt x="1745" y="17653"/>
                  </a:lnTo>
                  <a:lnTo>
                    <a:pt x="0" y="28838"/>
                  </a:lnTo>
                  <a:lnTo>
                    <a:pt x="1745" y="40053"/>
                  </a:lnTo>
                  <a:lnTo>
                    <a:pt x="6461" y="49289"/>
                  </a:lnTo>
                  <a:lnTo>
                    <a:pt x="13371" y="55556"/>
                  </a:lnTo>
                  <a:lnTo>
                    <a:pt x="21696" y="57865"/>
                  </a:lnTo>
                  <a:lnTo>
                    <a:pt x="30130" y="55556"/>
                  </a:lnTo>
                  <a:lnTo>
                    <a:pt x="37096" y="49289"/>
                  </a:lnTo>
                  <a:lnTo>
                    <a:pt x="41833" y="40053"/>
                  </a:lnTo>
                  <a:lnTo>
                    <a:pt x="43581" y="28838"/>
                  </a:lnTo>
                  <a:lnTo>
                    <a:pt x="41833" y="17653"/>
                  </a:lnTo>
                  <a:lnTo>
                    <a:pt x="37096" y="8481"/>
                  </a:lnTo>
                  <a:lnTo>
                    <a:pt x="30130" y="2279"/>
                  </a:lnTo>
                  <a:lnTo>
                    <a:pt x="21696" y="0"/>
                  </a:lnTo>
                </a:path>
              </a:pathLst>
            </a:custGeom>
            <a:ln w="14038">
              <a:solidFill>
                <a:srgbClr val="000000"/>
              </a:solidFill>
            </a:ln>
          </p:spPr>
          <p:txBody>
            <a:bodyPr wrap="square" lIns="0" tIns="0" rIns="0" bIns="0" rtlCol="0"/>
            <a:lstStyle/>
            <a:p/>
          </p:txBody>
        </p:sp>
        <p:sp>
          <p:nvSpPr>
            <p:cNvPr id="96" name="object 96" descr=""/>
            <p:cNvSpPr/>
            <p:nvPr/>
          </p:nvSpPr>
          <p:spPr>
            <a:xfrm>
              <a:off x="6199580" y="5155176"/>
              <a:ext cx="76200" cy="477520"/>
            </a:xfrm>
            <a:custGeom>
              <a:avLst/>
              <a:gdLst/>
              <a:ahLst/>
              <a:cxnLst/>
              <a:rect l="l" t="t" r="r" b="b"/>
              <a:pathLst>
                <a:path w="76200" h="477520">
                  <a:moveTo>
                    <a:pt x="0" y="363630"/>
                  </a:moveTo>
                  <a:lnTo>
                    <a:pt x="37921" y="477005"/>
                  </a:lnTo>
                  <a:lnTo>
                    <a:pt x="60021" y="410601"/>
                  </a:lnTo>
                  <a:lnTo>
                    <a:pt x="32638" y="410601"/>
                  </a:lnTo>
                  <a:lnTo>
                    <a:pt x="28488" y="407001"/>
                  </a:lnTo>
                  <a:lnTo>
                    <a:pt x="28488" y="391794"/>
                  </a:lnTo>
                  <a:lnTo>
                    <a:pt x="0" y="363630"/>
                  </a:lnTo>
                  <a:close/>
                </a:path>
                <a:path w="76200" h="477520">
                  <a:moveTo>
                    <a:pt x="28488" y="391794"/>
                  </a:moveTo>
                  <a:lnTo>
                    <a:pt x="28488" y="407001"/>
                  </a:lnTo>
                  <a:lnTo>
                    <a:pt x="32638" y="410601"/>
                  </a:lnTo>
                  <a:lnTo>
                    <a:pt x="43392" y="410601"/>
                  </a:lnTo>
                  <a:lnTo>
                    <a:pt x="47165" y="407001"/>
                  </a:lnTo>
                  <a:lnTo>
                    <a:pt x="47165" y="401120"/>
                  </a:lnTo>
                  <a:lnTo>
                    <a:pt x="37921" y="401120"/>
                  </a:lnTo>
                  <a:lnTo>
                    <a:pt x="28488" y="391794"/>
                  </a:lnTo>
                  <a:close/>
                </a:path>
                <a:path w="76200" h="477520">
                  <a:moveTo>
                    <a:pt x="75654" y="363630"/>
                  </a:moveTo>
                  <a:lnTo>
                    <a:pt x="47165" y="391935"/>
                  </a:lnTo>
                  <a:lnTo>
                    <a:pt x="47165" y="407001"/>
                  </a:lnTo>
                  <a:lnTo>
                    <a:pt x="43392" y="410601"/>
                  </a:lnTo>
                  <a:lnTo>
                    <a:pt x="60021" y="410601"/>
                  </a:lnTo>
                  <a:lnTo>
                    <a:pt x="75654" y="363630"/>
                  </a:lnTo>
                  <a:close/>
                </a:path>
                <a:path w="76200" h="477520">
                  <a:moveTo>
                    <a:pt x="43392" y="0"/>
                  </a:moveTo>
                  <a:lnTo>
                    <a:pt x="32638" y="0"/>
                  </a:lnTo>
                  <a:lnTo>
                    <a:pt x="28488" y="4504"/>
                  </a:lnTo>
                  <a:lnTo>
                    <a:pt x="28488" y="391794"/>
                  </a:lnTo>
                  <a:lnTo>
                    <a:pt x="37921" y="401120"/>
                  </a:lnTo>
                  <a:lnTo>
                    <a:pt x="47165" y="391935"/>
                  </a:lnTo>
                  <a:lnTo>
                    <a:pt x="47165" y="4504"/>
                  </a:lnTo>
                  <a:lnTo>
                    <a:pt x="43392" y="0"/>
                  </a:lnTo>
                  <a:close/>
                </a:path>
                <a:path w="76200" h="477520">
                  <a:moveTo>
                    <a:pt x="47165" y="391935"/>
                  </a:moveTo>
                  <a:lnTo>
                    <a:pt x="37921" y="401120"/>
                  </a:lnTo>
                  <a:lnTo>
                    <a:pt x="47165" y="401120"/>
                  </a:lnTo>
                  <a:lnTo>
                    <a:pt x="47165" y="391935"/>
                  </a:lnTo>
                  <a:close/>
                </a:path>
              </a:pathLst>
            </a:custGeom>
            <a:solidFill>
              <a:srgbClr val="000000"/>
            </a:solidFill>
          </p:spPr>
          <p:txBody>
            <a:bodyPr wrap="square" lIns="0" tIns="0" rIns="0" bIns="0" rtlCol="0"/>
            <a:lstStyle/>
            <a:p/>
          </p:txBody>
        </p:sp>
        <p:sp>
          <p:nvSpPr>
            <p:cNvPr id="97" name="object 97" descr=""/>
            <p:cNvSpPr/>
            <p:nvPr/>
          </p:nvSpPr>
          <p:spPr>
            <a:xfrm>
              <a:off x="6199580" y="5155176"/>
              <a:ext cx="76200" cy="477520"/>
            </a:xfrm>
            <a:custGeom>
              <a:avLst/>
              <a:gdLst/>
              <a:ahLst/>
              <a:cxnLst/>
              <a:rect l="l" t="t" r="r" b="b"/>
              <a:pathLst>
                <a:path w="76200" h="477520">
                  <a:moveTo>
                    <a:pt x="47165" y="9480"/>
                  </a:moveTo>
                  <a:lnTo>
                    <a:pt x="47165" y="401120"/>
                  </a:lnTo>
                  <a:lnTo>
                    <a:pt x="47165" y="407001"/>
                  </a:lnTo>
                  <a:lnTo>
                    <a:pt x="43392" y="410601"/>
                  </a:lnTo>
                  <a:lnTo>
                    <a:pt x="37921" y="410601"/>
                  </a:lnTo>
                  <a:lnTo>
                    <a:pt x="32638" y="410601"/>
                  </a:lnTo>
                  <a:lnTo>
                    <a:pt x="28488" y="407001"/>
                  </a:lnTo>
                  <a:lnTo>
                    <a:pt x="28488" y="401120"/>
                  </a:lnTo>
                  <a:lnTo>
                    <a:pt x="28488" y="9480"/>
                  </a:lnTo>
                  <a:lnTo>
                    <a:pt x="28488" y="4504"/>
                  </a:lnTo>
                  <a:lnTo>
                    <a:pt x="32638" y="0"/>
                  </a:lnTo>
                  <a:lnTo>
                    <a:pt x="37921" y="0"/>
                  </a:lnTo>
                  <a:lnTo>
                    <a:pt x="43392" y="0"/>
                  </a:lnTo>
                  <a:lnTo>
                    <a:pt x="47165" y="4504"/>
                  </a:lnTo>
                  <a:lnTo>
                    <a:pt x="47165" y="9480"/>
                  </a:lnTo>
                  <a:close/>
                </a:path>
                <a:path w="76200" h="477520">
                  <a:moveTo>
                    <a:pt x="37921" y="401120"/>
                  </a:moveTo>
                  <a:lnTo>
                    <a:pt x="75654" y="363630"/>
                  </a:lnTo>
                  <a:lnTo>
                    <a:pt x="37921" y="477005"/>
                  </a:lnTo>
                  <a:lnTo>
                    <a:pt x="0" y="363630"/>
                  </a:lnTo>
                  <a:lnTo>
                    <a:pt x="37921" y="401120"/>
                  </a:lnTo>
                  <a:close/>
                </a:path>
              </a:pathLst>
            </a:custGeom>
            <a:ln w="6791">
              <a:solidFill>
                <a:srgbClr val="000000"/>
              </a:solidFill>
            </a:ln>
          </p:spPr>
          <p:txBody>
            <a:bodyPr wrap="square" lIns="0" tIns="0" rIns="0" bIns="0" rtlCol="0"/>
            <a:lstStyle/>
            <a:p/>
          </p:txBody>
        </p:sp>
        <p:sp>
          <p:nvSpPr>
            <p:cNvPr id="98" name="object 98" descr=""/>
            <p:cNvSpPr/>
            <p:nvPr/>
          </p:nvSpPr>
          <p:spPr>
            <a:xfrm>
              <a:off x="5446245" y="491166"/>
              <a:ext cx="872490" cy="934719"/>
            </a:xfrm>
            <a:custGeom>
              <a:avLst/>
              <a:gdLst/>
              <a:ahLst/>
              <a:cxnLst/>
              <a:rect l="l" t="t" r="r" b="b"/>
              <a:pathLst>
                <a:path w="872489" h="934719">
                  <a:moveTo>
                    <a:pt x="872476" y="0"/>
                  </a:moveTo>
                  <a:lnTo>
                    <a:pt x="0" y="0"/>
                  </a:lnTo>
                  <a:lnTo>
                    <a:pt x="0" y="934615"/>
                  </a:lnTo>
                  <a:lnTo>
                    <a:pt x="872476" y="934615"/>
                  </a:lnTo>
                  <a:lnTo>
                    <a:pt x="872476" y="0"/>
                  </a:lnTo>
                  <a:close/>
                </a:path>
              </a:pathLst>
            </a:custGeom>
            <a:solidFill>
              <a:srgbClr val="FFCCFF"/>
            </a:solidFill>
          </p:spPr>
          <p:txBody>
            <a:bodyPr wrap="square" lIns="0" tIns="0" rIns="0" bIns="0" rtlCol="0"/>
            <a:lstStyle/>
            <a:p/>
          </p:txBody>
        </p:sp>
        <p:sp>
          <p:nvSpPr>
            <p:cNvPr id="99" name="object 99" descr=""/>
            <p:cNvSpPr/>
            <p:nvPr/>
          </p:nvSpPr>
          <p:spPr>
            <a:xfrm>
              <a:off x="5446245" y="491166"/>
              <a:ext cx="872490" cy="934719"/>
            </a:xfrm>
            <a:custGeom>
              <a:avLst/>
              <a:gdLst/>
              <a:ahLst/>
              <a:cxnLst/>
              <a:rect l="l" t="t" r="r" b="b"/>
              <a:pathLst>
                <a:path w="872489" h="934719">
                  <a:moveTo>
                    <a:pt x="0" y="934615"/>
                  </a:moveTo>
                  <a:lnTo>
                    <a:pt x="872476" y="934615"/>
                  </a:lnTo>
                  <a:lnTo>
                    <a:pt x="872476" y="0"/>
                  </a:lnTo>
                  <a:lnTo>
                    <a:pt x="0" y="0"/>
                  </a:lnTo>
                  <a:lnTo>
                    <a:pt x="0" y="934615"/>
                  </a:lnTo>
                  <a:close/>
                </a:path>
              </a:pathLst>
            </a:custGeom>
            <a:ln w="14036">
              <a:solidFill>
                <a:srgbClr val="000000"/>
              </a:solidFill>
            </a:ln>
          </p:spPr>
          <p:txBody>
            <a:bodyPr wrap="square" lIns="0" tIns="0" rIns="0" bIns="0" rtlCol="0"/>
            <a:lstStyle/>
            <a:p/>
          </p:txBody>
        </p:sp>
        <p:sp>
          <p:nvSpPr>
            <p:cNvPr id="100" name="object 100" descr=""/>
            <p:cNvSpPr/>
            <p:nvPr/>
          </p:nvSpPr>
          <p:spPr>
            <a:xfrm>
              <a:off x="5446242" y="670661"/>
              <a:ext cx="872490" cy="575945"/>
            </a:xfrm>
            <a:custGeom>
              <a:avLst/>
              <a:gdLst/>
              <a:ahLst/>
              <a:cxnLst/>
              <a:rect l="l" t="t" r="r" b="b"/>
              <a:pathLst>
                <a:path w="872489" h="575944">
                  <a:moveTo>
                    <a:pt x="872375" y="561505"/>
                  </a:moveTo>
                  <a:lnTo>
                    <a:pt x="0" y="561505"/>
                  </a:lnTo>
                  <a:lnTo>
                    <a:pt x="0" y="575538"/>
                  </a:lnTo>
                  <a:lnTo>
                    <a:pt x="872375" y="575538"/>
                  </a:lnTo>
                  <a:lnTo>
                    <a:pt x="872375" y="561505"/>
                  </a:lnTo>
                  <a:close/>
                </a:path>
                <a:path w="872489" h="575944">
                  <a:moveTo>
                    <a:pt x="872375" y="373964"/>
                  </a:moveTo>
                  <a:lnTo>
                    <a:pt x="0" y="373964"/>
                  </a:lnTo>
                  <a:lnTo>
                    <a:pt x="0" y="387997"/>
                  </a:lnTo>
                  <a:lnTo>
                    <a:pt x="872375" y="387997"/>
                  </a:lnTo>
                  <a:lnTo>
                    <a:pt x="872375" y="373964"/>
                  </a:lnTo>
                  <a:close/>
                </a:path>
                <a:path w="872489" h="575944">
                  <a:moveTo>
                    <a:pt x="872375" y="187553"/>
                  </a:moveTo>
                  <a:lnTo>
                    <a:pt x="0" y="187553"/>
                  </a:lnTo>
                  <a:lnTo>
                    <a:pt x="0" y="201574"/>
                  </a:lnTo>
                  <a:lnTo>
                    <a:pt x="872375" y="201574"/>
                  </a:lnTo>
                  <a:lnTo>
                    <a:pt x="872375" y="187553"/>
                  </a:lnTo>
                  <a:close/>
                </a:path>
                <a:path w="872489" h="575944">
                  <a:moveTo>
                    <a:pt x="872375" y="0"/>
                  </a:moveTo>
                  <a:lnTo>
                    <a:pt x="0" y="0"/>
                  </a:lnTo>
                  <a:lnTo>
                    <a:pt x="0" y="14033"/>
                  </a:lnTo>
                  <a:lnTo>
                    <a:pt x="872375" y="14033"/>
                  </a:lnTo>
                  <a:lnTo>
                    <a:pt x="872375" y="0"/>
                  </a:lnTo>
                  <a:close/>
                </a:path>
              </a:pathLst>
            </a:custGeom>
            <a:solidFill>
              <a:srgbClr val="000000"/>
            </a:solidFill>
          </p:spPr>
          <p:txBody>
            <a:bodyPr wrap="square" lIns="0" tIns="0" rIns="0" bIns="0" rtlCol="0"/>
            <a:lstStyle/>
            <a:p/>
          </p:txBody>
        </p:sp>
        <p:sp>
          <p:nvSpPr>
            <p:cNvPr id="101" name="object 101" descr=""/>
            <p:cNvSpPr/>
            <p:nvPr/>
          </p:nvSpPr>
          <p:spPr>
            <a:xfrm>
              <a:off x="5683207" y="1408629"/>
              <a:ext cx="76200" cy="895350"/>
            </a:xfrm>
            <a:custGeom>
              <a:avLst/>
              <a:gdLst/>
              <a:ahLst/>
              <a:cxnLst/>
              <a:rect l="l" t="t" r="r" b="b"/>
              <a:pathLst>
                <a:path w="76200" h="895350">
                  <a:moveTo>
                    <a:pt x="0" y="782411"/>
                  </a:moveTo>
                  <a:lnTo>
                    <a:pt x="38864" y="895315"/>
                  </a:lnTo>
                  <a:lnTo>
                    <a:pt x="60253" y="829344"/>
                  </a:lnTo>
                  <a:lnTo>
                    <a:pt x="33393" y="829344"/>
                  </a:lnTo>
                  <a:lnTo>
                    <a:pt x="28865" y="825198"/>
                  </a:lnTo>
                  <a:lnTo>
                    <a:pt x="28801" y="810481"/>
                  </a:lnTo>
                  <a:lnTo>
                    <a:pt x="0" y="782411"/>
                  </a:lnTo>
                  <a:close/>
                </a:path>
                <a:path w="76200" h="895350">
                  <a:moveTo>
                    <a:pt x="28801" y="810481"/>
                  </a:moveTo>
                  <a:lnTo>
                    <a:pt x="28865" y="825198"/>
                  </a:lnTo>
                  <a:lnTo>
                    <a:pt x="33393" y="829344"/>
                  </a:lnTo>
                  <a:lnTo>
                    <a:pt x="43392" y="829344"/>
                  </a:lnTo>
                  <a:lnTo>
                    <a:pt x="47543" y="824821"/>
                  </a:lnTo>
                  <a:lnTo>
                    <a:pt x="47543" y="819920"/>
                  </a:lnTo>
                  <a:lnTo>
                    <a:pt x="38487" y="819920"/>
                  </a:lnTo>
                  <a:lnTo>
                    <a:pt x="28801" y="810481"/>
                  </a:lnTo>
                  <a:close/>
                </a:path>
                <a:path w="76200" h="895350">
                  <a:moveTo>
                    <a:pt x="75654" y="781846"/>
                  </a:moveTo>
                  <a:lnTo>
                    <a:pt x="47485" y="810702"/>
                  </a:lnTo>
                  <a:lnTo>
                    <a:pt x="47543" y="824821"/>
                  </a:lnTo>
                  <a:lnTo>
                    <a:pt x="43392" y="829344"/>
                  </a:lnTo>
                  <a:lnTo>
                    <a:pt x="60253" y="829344"/>
                  </a:lnTo>
                  <a:lnTo>
                    <a:pt x="75654" y="781846"/>
                  </a:lnTo>
                  <a:close/>
                </a:path>
                <a:path w="76200" h="895350">
                  <a:moveTo>
                    <a:pt x="38487" y="0"/>
                  </a:moveTo>
                  <a:lnTo>
                    <a:pt x="27544" y="0"/>
                  </a:lnTo>
                  <a:lnTo>
                    <a:pt x="23394" y="3958"/>
                  </a:lnTo>
                  <a:lnTo>
                    <a:pt x="23394" y="9424"/>
                  </a:lnTo>
                  <a:lnTo>
                    <a:pt x="28801" y="810481"/>
                  </a:lnTo>
                  <a:lnTo>
                    <a:pt x="38487" y="819920"/>
                  </a:lnTo>
                  <a:lnTo>
                    <a:pt x="47485" y="810702"/>
                  </a:lnTo>
                  <a:lnTo>
                    <a:pt x="42449" y="9424"/>
                  </a:lnTo>
                  <a:lnTo>
                    <a:pt x="42449" y="3958"/>
                  </a:lnTo>
                  <a:lnTo>
                    <a:pt x="38487" y="0"/>
                  </a:lnTo>
                  <a:close/>
                </a:path>
                <a:path w="76200" h="895350">
                  <a:moveTo>
                    <a:pt x="47485" y="810702"/>
                  </a:moveTo>
                  <a:lnTo>
                    <a:pt x="38487" y="819920"/>
                  </a:lnTo>
                  <a:lnTo>
                    <a:pt x="47543" y="819920"/>
                  </a:lnTo>
                  <a:lnTo>
                    <a:pt x="47485" y="810702"/>
                  </a:lnTo>
                  <a:close/>
                </a:path>
              </a:pathLst>
            </a:custGeom>
            <a:solidFill>
              <a:srgbClr val="000000"/>
            </a:solidFill>
          </p:spPr>
          <p:txBody>
            <a:bodyPr wrap="square" lIns="0" tIns="0" rIns="0" bIns="0" rtlCol="0"/>
            <a:lstStyle/>
            <a:p/>
          </p:txBody>
        </p:sp>
        <p:sp>
          <p:nvSpPr>
            <p:cNvPr id="102" name="object 102" descr=""/>
            <p:cNvSpPr/>
            <p:nvPr/>
          </p:nvSpPr>
          <p:spPr>
            <a:xfrm>
              <a:off x="5683207" y="1408629"/>
              <a:ext cx="76200" cy="895350"/>
            </a:xfrm>
            <a:custGeom>
              <a:avLst/>
              <a:gdLst/>
              <a:ahLst/>
              <a:cxnLst/>
              <a:rect l="l" t="t" r="r" b="b"/>
              <a:pathLst>
                <a:path w="76200" h="895350">
                  <a:moveTo>
                    <a:pt x="42449" y="9424"/>
                  </a:moveTo>
                  <a:lnTo>
                    <a:pt x="47543" y="819920"/>
                  </a:lnTo>
                  <a:lnTo>
                    <a:pt x="47543" y="824821"/>
                  </a:lnTo>
                  <a:lnTo>
                    <a:pt x="43392" y="829344"/>
                  </a:lnTo>
                  <a:lnTo>
                    <a:pt x="38487" y="829344"/>
                  </a:lnTo>
                  <a:lnTo>
                    <a:pt x="33393" y="829344"/>
                  </a:lnTo>
                  <a:lnTo>
                    <a:pt x="28865" y="825198"/>
                  </a:lnTo>
                  <a:lnTo>
                    <a:pt x="28865" y="819920"/>
                  </a:lnTo>
                  <a:lnTo>
                    <a:pt x="23394" y="9424"/>
                  </a:lnTo>
                  <a:lnTo>
                    <a:pt x="23394" y="3958"/>
                  </a:lnTo>
                  <a:lnTo>
                    <a:pt x="27544" y="0"/>
                  </a:lnTo>
                  <a:lnTo>
                    <a:pt x="33016" y="0"/>
                  </a:lnTo>
                  <a:lnTo>
                    <a:pt x="38487" y="0"/>
                  </a:lnTo>
                  <a:lnTo>
                    <a:pt x="42449" y="3958"/>
                  </a:lnTo>
                  <a:lnTo>
                    <a:pt x="42449" y="9424"/>
                  </a:lnTo>
                  <a:close/>
                </a:path>
                <a:path w="76200" h="895350">
                  <a:moveTo>
                    <a:pt x="38487" y="819920"/>
                  </a:moveTo>
                  <a:lnTo>
                    <a:pt x="75654" y="781846"/>
                  </a:lnTo>
                  <a:lnTo>
                    <a:pt x="38864" y="895315"/>
                  </a:lnTo>
                  <a:lnTo>
                    <a:pt x="0" y="782411"/>
                  </a:lnTo>
                  <a:lnTo>
                    <a:pt x="38487" y="819920"/>
                  </a:lnTo>
                  <a:close/>
                </a:path>
              </a:pathLst>
            </a:custGeom>
            <a:ln w="6791">
              <a:solidFill>
                <a:srgbClr val="000000"/>
              </a:solidFill>
            </a:ln>
          </p:spPr>
          <p:txBody>
            <a:bodyPr wrap="square" lIns="0" tIns="0" rIns="0" bIns="0" rtlCol="0"/>
            <a:lstStyle/>
            <a:p/>
          </p:txBody>
        </p:sp>
      </p:grpSp>
      <p:sp>
        <p:nvSpPr>
          <p:cNvPr id="103" name="object 103" descr=""/>
          <p:cNvSpPr txBox="1"/>
          <p:nvPr/>
        </p:nvSpPr>
        <p:spPr>
          <a:xfrm>
            <a:off x="2997705" y="2102791"/>
            <a:ext cx="196215" cy="733425"/>
          </a:xfrm>
          <a:prstGeom prst="rect">
            <a:avLst/>
          </a:prstGeom>
        </p:spPr>
        <p:txBody>
          <a:bodyPr wrap="square" lIns="0" tIns="47625" rIns="0" bIns="0" rtlCol="0" vert="horz">
            <a:spAutoFit/>
          </a:bodyPr>
          <a:lstStyle/>
          <a:p>
            <a:pPr algn="just" marL="12700" marR="5080">
              <a:lnSpc>
                <a:spcPct val="84700"/>
              </a:lnSpc>
              <a:spcBef>
                <a:spcPts val="375"/>
              </a:spcBef>
            </a:pPr>
            <a:r>
              <a:rPr dirty="0" sz="1300" spc="-50" b="1">
                <a:latin typeface="宋体"/>
                <a:cs typeface="宋体"/>
              </a:rPr>
              <a:t>指令队列</a:t>
            </a:r>
            <a:endParaRPr sz="1300">
              <a:latin typeface="宋体"/>
              <a:cs typeface="宋体"/>
            </a:endParaRPr>
          </a:p>
        </p:txBody>
      </p:sp>
      <p:sp>
        <p:nvSpPr>
          <p:cNvPr id="104" name="object 104" descr=""/>
          <p:cNvSpPr txBox="1"/>
          <p:nvPr/>
        </p:nvSpPr>
        <p:spPr>
          <a:xfrm>
            <a:off x="2362096" y="5315164"/>
            <a:ext cx="365760" cy="229870"/>
          </a:xfrm>
          <a:prstGeom prst="rect">
            <a:avLst/>
          </a:prstGeom>
        </p:spPr>
        <p:txBody>
          <a:bodyPr wrap="square" lIns="0" tIns="17780" rIns="0" bIns="0" rtlCol="0" vert="horz">
            <a:spAutoFit/>
          </a:bodyPr>
          <a:lstStyle/>
          <a:p>
            <a:pPr marL="12700">
              <a:lnSpc>
                <a:spcPct val="100000"/>
              </a:lnSpc>
              <a:spcBef>
                <a:spcPts val="140"/>
              </a:spcBef>
            </a:pPr>
            <a:r>
              <a:rPr dirty="0" sz="1300" spc="-25" b="1">
                <a:latin typeface="宋体"/>
                <a:cs typeface="宋体"/>
              </a:rPr>
              <a:t>地址</a:t>
            </a:r>
            <a:endParaRPr sz="1300">
              <a:latin typeface="宋体"/>
              <a:cs typeface="宋体"/>
            </a:endParaRPr>
          </a:p>
        </p:txBody>
      </p:sp>
      <p:sp>
        <p:nvSpPr>
          <p:cNvPr id="105" name="object 105" descr=""/>
          <p:cNvSpPr txBox="1"/>
          <p:nvPr/>
        </p:nvSpPr>
        <p:spPr>
          <a:xfrm>
            <a:off x="2953369" y="4819612"/>
            <a:ext cx="111125" cy="420370"/>
          </a:xfrm>
          <a:prstGeom prst="rect">
            <a:avLst/>
          </a:prstGeom>
        </p:spPr>
        <p:txBody>
          <a:bodyPr wrap="square" lIns="0" tIns="17780" rIns="0" bIns="0" rtlCol="0" vert="horz">
            <a:spAutoFit/>
          </a:bodyPr>
          <a:lstStyle/>
          <a:p>
            <a:pPr marL="12700">
              <a:lnSpc>
                <a:spcPts val="1530"/>
              </a:lnSpc>
              <a:spcBef>
                <a:spcPts val="140"/>
              </a:spcBef>
            </a:pPr>
            <a:r>
              <a:rPr dirty="0" sz="1300" spc="-50">
                <a:latin typeface="Times New Roman"/>
                <a:cs typeface="Times New Roman"/>
              </a:rPr>
              <a:t>2</a:t>
            </a:r>
            <a:endParaRPr sz="1300">
              <a:latin typeface="Times New Roman"/>
              <a:cs typeface="Times New Roman"/>
            </a:endParaRPr>
          </a:p>
          <a:p>
            <a:pPr marL="12700">
              <a:lnSpc>
                <a:spcPts val="1530"/>
              </a:lnSpc>
            </a:pPr>
            <a:r>
              <a:rPr dirty="0" sz="1300" spc="-50">
                <a:latin typeface="Times New Roman"/>
                <a:cs typeface="Times New Roman"/>
              </a:rPr>
              <a:t>1</a:t>
            </a:r>
            <a:endParaRPr sz="1300">
              <a:latin typeface="Times New Roman"/>
              <a:cs typeface="Times New Roman"/>
            </a:endParaRPr>
          </a:p>
        </p:txBody>
      </p:sp>
      <p:sp>
        <p:nvSpPr>
          <p:cNvPr id="106" name="object 106" descr=""/>
          <p:cNvSpPr txBox="1"/>
          <p:nvPr/>
        </p:nvSpPr>
        <p:spPr>
          <a:xfrm>
            <a:off x="2953369" y="4623113"/>
            <a:ext cx="111125" cy="229870"/>
          </a:xfrm>
          <a:prstGeom prst="rect">
            <a:avLst/>
          </a:prstGeom>
        </p:spPr>
        <p:txBody>
          <a:bodyPr wrap="square" lIns="0" tIns="17780" rIns="0" bIns="0" rtlCol="0" vert="horz">
            <a:spAutoFit/>
          </a:bodyPr>
          <a:lstStyle/>
          <a:p>
            <a:pPr marL="12700">
              <a:lnSpc>
                <a:spcPct val="100000"/>
              </a:lnSpc>
              <a:spcBef>
                <a:spcPts val="140"/>
              </a:spcBef>
            </a:pPr>
            <a:r>
              <a:rPr dirty="0" sz="1300" spc="-50">
                <a:latin typeface="Times New Roman"/>
                <a:cs typeface="Times New Roman"/>
              </a:rPr>
              <a:t>3</a:t>
            </a:r>
            <a:endParaRPr sz="1300">
              <a:latin typeface="Times New Roman"/>
              <a:cs typeface="Times New Roman"/>
            </a:endParaRPr>
          </a:p>
        </p:txBody>
      </p:sp>
      <p:sp>
        <p:nvSpPr>
          <p:cNvPr id="107" name="object 107" descr=""/>
          <p:cNvSpPr txBox="1"/>
          <p:nvPr/>
        </p:nvSpPr>
        <p:spPr>
          <a:xfrm>
            <a:off x="2518499" y="4711681"/>
            <a:ext cx="111125" cy="473709"/>
          </a:xfrm>
          <a:prstGeom prst="rect">
            <a:avLst/>
          </a:prstGeom>
        </p:spPr>
        <p:txBody>
          <a:bodyPr wrap="square" lIns="0" tIns="37465" rIns="0" bIns="0" rtlCol="0" vert="horz">
            <a:spAutoFit/>
          </a:bodyPr>
          <a:lstStyle/>
          <a:p>
            <a:pPr marL="12700">
              <a:lnSpc>
                <a:spcPct val="100000"/>
              </a:lnSpc>
              <a:spcBef>
                <a:spcPts val="295"/>
              </a:spcBef>
            </a:pPr>
            <a:r>
              <a:rPr dirty="0" sz="1300" spc="-50">
                <a:latin typeface="Times New Roman"/>
                <a:cs typeface="Times New Roman"/>
              </a:rPr>
              <a:t>2</a:t>
            </a:r>
            <a:endParaRPr sz="1300">
              <a:latin typeface="Times New Roman"/>
              <a:cs typeface="Times New Roman"/>
            </a:endParaRPr>
          </a:p>
          <a:p>
            <a:pPr marL="12700">
              <a:lnSpc>
                <a:spcPct val="100000"/>
              </a:lnSpc>
              <a:spcBef>
                <a:spcPts val="204"/>
              </a:spcBef>
            </a:pPr>
            <a:r>
              <a:rPr dirty="0" sz="1300" spc="-50">
                <a:latin typeface="Times New Roman"/>
                <a:cs typeface="Times New Roman"/>
              </a:rPr>
              <a:t>1</a:t>
            </a:r>
            <a:endParaRPr sz="1300">
              <a:latin typeface="Times New Roman"/>
              <a:cs typeface="Times New Roman"/>
            </a:endParaRPr>
          </a:p>
        </p:txBody>
      </p:sp>
      <p:sp>
        <p:nvSpPr>
          <p:cNvPr id="108" name="object 108" descr=""/>
          <p:cNvSpPr txBox="1"/>
          <p:nvPr/>
        </p:nvSpPr>
        <p:spPr>
          <a:xfrm>
            <a:off x="2518499" y="4535033"/>
            <a:ext cx="111125" cy="229870"/>
          </a:xfrm>
          <a:prstGeom prst="rect">
            <a:avLst/>
          </a:prstGeom>
        </p:spPr>
        <p:txBody>
          <a:bodyPr wrap="square" lIns="0" tIns="17780" rIns="0" bIns="0" rtlCol="0" vert="horz">
            <a:spAutoFit/>
          </a:bodyPr>
          <a:lstStyle/>
          <a:p>
            <a:pPr marL="12700">
              <a:lnSpc>
                <a:spcPct val="100000"/>
              </a:lnSpc>
              <a:spcBef>
                <a:spcPts val="140"/>
              </a:spcBef>
            </a:pPr>
            <a:r>
              <a:rPr dirty="0" sz="1300" spc="-50">
                <a:latin typeface="Times New Roman"/>
                <a:cs typeface="Times New Roman"/>
              </a:rPr>
              <a:t>3</a:t>
            </a:r>
            <a:endParaRPr sz="1300">
              <a:latin typeface="Times New Roman"/>
              <a:cs typeface="Times New Roman"/>
            </a:endParaRPr>
          </a:p>
        </p:txBody>
      </p:sp>
      <p:sp>
        <p:nvSpPr>
          <p:cNvPr id="109" name="object 109" descr=""/>
          <p:cNvSpPr txBox="1"/>
          <p:nvPr/>
        </p:nvSpPr>
        <p:spPr>
          <a:xfrm>
            <a:off x="2518499" y="4080851"/>
            <a:ext cx="111125" cy="459740"/>
          </a:xfrm>
          <a:prstGeom prst="rect">
            <a:avLst/>
          </a:prstGeom>
        </p:spPr>
        <p:txBody>
          <a:bodyPr wrap="square" lIns="0" tIns="30480" rIns="0" bIns="0" rtlCol="0" vert="horz">
            <a:spAutoFit/>
          </a:bodyPr>
          <a:lstStyle/>
          <a:p>
            <a:pPr marL="12700">
              <a:lnSpc>
                <a:spcPct val="100000"/>
              </a:lnSpc>
              <a:spcBef>
                <a:spcPts val="240"/>
              </a:spcBef>
            </a:pPr>
            <a:r>
              <a:rPr dirty="0" sz="1300" spc="-50">
                <a:latin typeface="Times New Roman"/>
                <a:cs typeface="Times New Roman"/>
              </a:rPr>
              <a:t>5</a:t>
            </a:r>
            <a:endParaRPr sz="1300">
              <a:latin typeface="Times New Roman"/>
              <a:cs typeface="Times New Roman"/>
            </a:endParaRPr>
          </a:p>
          <a:p>
            <a:pPr marL="12700">
              <a:lnSpc>
                <a:spcPct val="100000"/>
              </a:lnSpc>
              <a:spcBef>
                <a:spcPts val="150"/>
              </a:spcBef>
            </a:pPr>
            <a:r>
              <a:rPr dirty="0" sz="1300" spc="-50">
                <a:latin typeface="Times New Roman"/>
                <a:cs typeface="Times New Roman"/>
              </a:rPr>
              <a:t>4</a:t>
            </a:r>
            <a:endParaRPr sz="1300">
              <a:latin typeface="Times New Roman"/>
              <a:cs typeface="Times New Roman"/>
            </a:endParaRPr>
          </a:p>
        </p:txBody>
      </p:sp>
      <p:sp>
        <p:nvSpPr>
          <p:cNvPr id="110" name="object 110" descr=""/>
          <p:cNvSpPr txBox="1"/>
          <p:nvPr/>
        </p:nvSpPr>
        <p:spPr>
          <a:xfrm>
            <a:off x="2518499" y="3876835"/>
            <a:ext cx="111125" cy="229870"/>
          </a:xfrm>
          <a:prstGeom prst="rect">
            <a:avLst/>
          </a:prstGeom>
        </p:spPr>
        <p:txBody>
          <a:bodyPr wrap="square" lIns="0" tIns="17780" rIns="0" bIns="0" rtlCol="0" vert="horz">
            <a:spAutoFit/>
          </a:bodyPr>
          <a:lstStyle/>
          <a:p>
            <a:pPr marL="12700">
              <a:lnSpc>
                <a:spcPct val="100000"/>
              </a:lnSpc>
              <a:spcBef>
                <a:spcPts val="140"/>
              </a:spcBef>
            </a:pPr>
            <a:r>
              <a:rPr dirty="0" sz="1300" spc="-50">
                <a:latin typeface="Times New Roman"/>
                <a:cs typeface="Times New Roman"/>
              </a:rPr>
              <a:t>6</a:t>
            </a:r>
            <a:endParaRPr sz="1300">
              <a:latin typeface="Times New Roman"/>
              <a:cs typeface="Times New Roman"/>
            </a:endParaRPr>
          </a:p>
        </p:txBody>
      </p:sp>
      <p:sp>
        <p:nvSpPr>
          <p:cNvPr id="111" name="object 111" descr=""/>
          <p:cNvSpPr txBox="1"/>
          <p:nvPr/>
        </p:nvSpPr>
        <p:spPr>
          <a:xfrm>
            <a:off x="5448827" y="4792507"/>
            <a:ext cx="111125" cy="406400"/>
          </a:xfrm>
          <a:prstGeom prst="rect">
            <a:avLst/>
          </a:prstGeom>
        </p:spPr>
        <p:txBody>
          <a:bodyPr wrap="square" lIns="0" tIns="17780" rIns="0" bIns="0" rtlCol="0" vert="horz">
            <a:spAutoFit/>
          </a:bodyPr>
          <a:lstStyle/>
          <a:p>
            <a:pPr marL="12700">
              <a:lnSpc>
                <a:spcPts val="1475"/>
              </a:lnSpc>
              <a:spcBef>
                <a:spcPts val="140"/>
              </a:spcBef>
            </a:pPr>
            <a:r>
              <a:rPr dirty="0" sz="1300" spc="-50">
                <a:latin typeface="Times New Roman"/>
                <a:cs typeface="Times New Roman"/>
              </a:rPr>
              <a:t>2</a:t>
            </a:r>
            <a:endParaRPr sz="1300">
              <a:latin typeface="Times New Roman"/>
              <a:cs typeface="Times New Roman"/>
            </a:endParaRPr>
          </a:p>
          <a:p>
            <a:pPr marL="12700">
              <a:lnSpc>
                <a:spcPts val="1475"/>
              </a:lnSpc>
            </a:pPr>
            <a:r>
              <a:rPr dirty="0" sz="1300" spc="-50">
                <a:latin typeface="Times New Roman"/>
                <a:cs typeface="Times New Roman"/>
              </a:rPr>
              <a:t>1</a:t>
            </a:r>
            <a:endParaRPr sz="1300">
              <a:latin typeface="Times New Roman"/>
              <a:cs typeface="Times New Roman"/>
            </a:endParaRPr>
          </a:p>
        </p:txBody>
      </p:sp>
      <p:sp>
        <p:nvSpPr>
          <p:cNvPr id="112" name="object 112" descr=""/>
          <p:cNvSpPr txBox="1"/>
          <p:nvPr/>
        </p:nvSpPr>
        <p:spPr>
          <a:xfrm>
            <a:off x="4785673" y="4612992"/>
            <a:ext cx="196215" cy="229870"/>
          </a:xfrm>
          <a:prstGeom prst="rect">
            <a:avLst/>
          </a:prstGeom>
        </p:spPr>
        <p:txBody>
          <a:bodyPr wrap="square" lIns="0" tIns="17780" rIns="0" bIns="0" rtlCol="0" vert="horz">
            <a:spAutoFit/>
          </a:bodyPr>
          <a:lstStyle/>
          <a:p>
            <a:pPr marL="12700">
              <a:lnSpc>
                <a:spcPct val="100000"/>
              </a:lnSpc>
              <a:spcBef>
                <a:spcPts val="140"/>
              </a:spcBef>
            </a:pPr>
            <a:r>
              <a:rPr dirty="0" sz="1300" spc="-50" b="1">
                <a:latin typeface="宋体"/>
                <a:cs typeface="宋体"/>
              </a:rPr>
              <a:t>保</a:t>
            </a:r>
            <a:endParaRPr sz="1300">
              <a:latin typeface="宋体"/>
              <a:cs typeface="宋体"/>
            </a:endParaRPr>
          </a:p>
        </p:txBody>
      </p:sp>
      <p:sp>
        <p:nvSpPr>
          <p:cNvPr id="113" name="object 113" descr=""/>
          <p:cNvSpPr txBox="1"/>
          <p:nvPr/>
        </p:nvSpPr>
        <p:spPr>
          <a:xfrm>
            <a:off x="4785673" y="4783162"/>
            <a:ext cx="196215" cy="400050"/>
          </a:xfrm>
          <a:prstGeom prst="rect">
            <a:avLst/>
          </a:prstGeom>
        </p:spPr>
        <p:txBody>
          <a:bodyPr wrap="square" lIns="0" tIns="46355" rIns="0" bIns="0" rtlCol="0" vert="horz">
            <a:spAutoFit/>
          </a:bodyPr>
          <a:lstStyle/>
          <a:p>
            <a:pPr marL="12700" marR="5080">
              <a:lnSpc>
                <a:spcPts val="1340"/>
              </a:lnSpc>
              <a:spcBef>
                <a:spcPts val="365"/>
              </a:spcBef>
            </a:pPr>
            <a:r>
              <a:rPr dirty="0" sz="1300" spc="-50" b="1">
                <a:latin typeface="宋体"/>
                <a:cs typeface="宋体"/>
              </a:rPr>
              <a:t>留站</a:t>
            </a:r>
            <a:endParaRPr sz="1300">
              <a:latin typeface="宋体"/>
              <a:cs typeface="宋体"/>
            </a:endParaRPr>
          </a:p>
        </p:txBody>
      </p:sp>
      <p:sp>
        <p:nvSpPr>
          <p:cNvPr id="114" name="object 114" descr=""/>
          <p:cNvSpPr txBox="1"/>
          <p:nvPr/>
        </p:nvSpPr>
        <p:spPr>
          <a:xfrm>
            <a:off x="6366677" y="491189"/>
            <a:ext cx="706120" cy="295275"/>
          </a:xfrm>
          <a:prstGeom prst="rect">
            <a:avLst/>
          </a:prstGeom>
        </p:spPr>
        <p:txBody>
          <a:bodyPr wrap="square" lIns="0" tIns="14604" rIns="0" bIns="0" rtlCol="0" vert="horz">
            <a:spAutoFit/>
          </a:bodyPr>
          <a:lstStyle/>
          <a:p>
            <a:pPr marL="12700">
              <a:lnSpc>
                <a:spcPct val="100000"/>
              </a:lnSpc>
              <a:spcBef>
                <a:spcPts val="114"/>
              </a:spcBef>
            </a:pPr>
            <a:r>
              <a:rPr dirty="0" sz="1750" spc="-20" b="1">
                <a:solidFill>
                  <a:srgbClr val="FF0000"/>
                </a:solidFill>
                <a:latin typeface="宋体"/>
                <a:cs typeface="宋体"/>
              </a:rPr>
              <a:t>再定序</a:t>
            </a:r>
            <a:endParaRPr sz="1750">
              <a:latin typeface="宋体"/>
              <a:cs typeface="宋体"/>
            </a:endParaRPr>
          </a:p>
        </p:txBody>
      </p:sp>
      <p:sp>
        <p:nvSpPr>
          <p:cNvPr id="115" name="object 115" descr=""/>
          <p:cNvSpPr txBox="1"/>
          <p:nvPr/>
        </p:nvSpPr>
        <p:spPr>
          <a:xfrm>
            <a:off x="6366677" y="753789"/>
            <a:ext cx="706120" cy="622935"/>
          </a:xfrm>
          <a:prstGeom prst="rect">
            <a:avLst/>
          </a:prstGeom>
        </p:spPr>
        <p:txBody>
          <a:bodyPr wrap="square" lIns="0" tIns="43815" rIns="0" bIns="0" rtlCol="0" vert="horz">
            <a:spAutoFit/>
          </a:bodyPr>
          <a:lstStyle/>
          <a:p>
            <a:pPr marL="12700">
              <a:lnSpc>
                <a:spcPct val="100000"/>
              </a:lnSpc>
              <a:spcBef>
                <a:spcPts val="345"/>
              </a:spcBef>
            </a:pPr>
            <a:r>
              <a:rPr dirty="0" sz="1750" spc="-20" b="1">
                <a:solidFill>
                  <a:srgbClr val="FF0000"/>
                </a:solidFill>
                <a:latin typeface="宋体"/>
                <a:cs typeface="宋体"/>
              </a:rPr>
              <a:t>缓冲器</a:t>
            </a:r>
            <a:endParaRPr sz="1750">
              <a:latin typeface="宋体"/>
              <a:cs typeface="宋体"/>
            </a:endParaRPr>
          </a:p>
          <a:p>
            <a:pPr marL="12700">
              <a:lnSpc>
                <a:spcPct val="100000"/>
              </a:lnSpc>
              <a:spcBef>
                <a:spcPts val="250"/>
              </a:spcBef>
            </a:pPr>
            <a:r>
              <a:rPr dirty="0" sz="1750" spc="-25" b="1">
                <a:solidFill>
                  <a:srgbClr val="FF0000"/>
                </a:solidFill>
                <a:latin typeface="Times New Roman"/>
                <a:cs typeface="Times New Roman"/>
              </a:rPr>
              <a:t>ROB</a:t>
            </a:r>
            <a:endParaRPr sz="1750">
              <a:latin typeface="Times New Roman"/>
              <a:cs typeface="Times New Roman"/>
            </a:endParaRPr>
          </a:p>
        </p:txBody>
      </p:sp>
      <p:sp>
        <p:nvSpPr>
          <p:cNvPr id="116" name="object 116" descr=""/>
          <p:cNvSpPr txBox="1"/>
          <p:nvPr/>
        </p:nvSpPr>
        <p:spPr>
          <a:xfrm>
            <a:off x="6040099" y="1916000"/>
            <a:ext cx="365760" cy="229870"/>
          </a:xfrm>
          <a:prstGeom prst="rect">
            <a:avLst/>
          </a:prstGeom>
        </p:spPr>
        <p:txBody>
          <a:bodyPr wrap="square" lIns="0" tIns="17780" rIns="0" bIns="0" rtlCol="0" vert="horz">
            <a:spAutoFit/>
          </a:bodyPr>
          <a:lstStyle/>
          <a:p>
            <a:pPr marL="12700">
              <a:lnSpc>
                <a:spcPct val="100000"/>
              </a:lnSpc>
              <a:spcBef>
                <a:spcPts val="140"/>
              </a:spcBef>
            </a:pPr>
            <a:r>
              <a:rPr dirty="0" sz="1300" spc="-25" b="1">
                <a:latin typeface="宋体"/>
                <a:cs typeface="宋体"/>
              </a:rPr>
              <a:t>数据</a:t>
            </a:r>
            <a:endParaRPr sz="1300">
              <a:latin typeface="宋体"/>
              <a:cs typeface="宋体"/>
            </a:endParaRPr>
          </a:p>
        </p:txBody>
      </p:sp>
      <p:sp>
        <p:nvSpPr>
          <p:cNvPr id="117" name="object 117" descr=""/>
          <p:cNvSpPr txBox="1"/>
          <p:nvPr/>
        </p:nvSpPr>
        <p:spPr>
          <a:xfrm>
            <a:off x="4999995" y="1909214"/>
            <a:ext cx="705485" cy="229870"/>
          </a:xfrm>
          <a:prstGeom prst="rect">
            <a:avLst/>
          </a:prstGeom>
        </p:spPr>
        <p:txBody>
          <a:bodyPr wrap="square" lIns="0" tIns="17780" rIns="0" bIns="0" rtlCol="0" vert="horz">
            <a:spAutoFit/>
          </a:bodyPr>
          <a:lstStyle/>
          <a:p>
            <a:pPr marL="12700">
              <a:lnSpc>
                <a:spcPct val="100000"/>
              </a:lnSpc>
              <a:spcBef>
                <a:spcPts val="140"/>
              </a:spcBef>
            </a:pPr>
            <a:r>
              <a:rPr dirty="0" sz="1300" spc="-15" b="1">
                <a:latin typeface="宋体"/>
                <a:cs typeface="宋体"/>
              </a:rPr>
              <a:t>寄存器号</a:t>
            </a:r>
            <a:endParaRPr sz="1300">
              <a:latin typeface="宋体"/>
              <a:cs typeface="宋体"/>
            </a:endParaRPr>
          </a:p>
        </p:txBody>
      </p:sp>
      <p:grpSp>
        <p:nvGrpSpPr>
          <p:cNvPr id="118" name="object 118" descr=""/>
          <p:cNvGrpSpPr/>
          <p:nvPr/>
        </p:nvGrpSpPr>
        <p:grpSpPr>
          <a:xfrm>
            <a:off x="797261" y="302579"/>
            <a:ext cx="6789420" cy="5333365"/>
            <a:chOff x="797261" y="302579"/>
            <a:chExt cx="6789420" cy="5333365"/>
          </a:xfrm>
        </p:grpSpPr>
        <p:sp>
          <p:nvSpPr>
            <p:cNvPr id="119" name="object 119" descr=""/>
            <p:cNvSpPr/>
            <p:nvPr/>
          </p:nvSpPr>
          <p:spPr>
            <a:xfrm>
              <a:off x="1093749" y="1543586"/>
              <a:ext cx="4901565" cy="7620"/>
            </a:xfrm>
            <a:custGeom>
              <a:avLst/>
              <a:gdLst/>
              <a:ahLst/>
              <a:cxnLst/>
              <a:rect l="l" t="t" r="r" b="b"/>
              <a:pathLst>
                <a:path w="4901565" h="7619">
                  <a:moveTo>
                    <a:pt x="0" y="0"/>
                  </a:moveTo>
                  <a:lnTo>
                    <a:pt x="4900941" y="7351"/>
                  </a:lnTo>
                </a:path>
              </a:pathLst>
            </a:custGeom>
            <a:ln w="14029">
              <a:solidFill>
                <a:srgbClr val="000000"/>
              </a:solidFill>
            </a:ln>
          </p:spPr>
          <p:txBody>
            <a:bodyPr wrap="square" lIns="0" tIns="0" rIns="0" bIns="0" rtlCol="0"/>
            <a:lstStyle/>
            <a:p/>
          </p:txBody>
        </p:sp>
        <p:sp>
          <p:nvSpPr>
            <p:cNvPr id="120" name="object 120" descr=""/>
            <p:cNvSpPr/>
            <p:nvPr/>
          </p:nvSpPr>
          <p:spPr>
            <a:xfrm>
              <a:off x="5978466" y="1514370"/>
              <a:ext cx="44450" cy="57785"/>
            </a:xfrm>
            <a:custGeom>
              <a:avLst/>
              <a:gdLst/>
              <a:ahLst/>
              <a:cxnLst/>
              <a:rect l="l" t="t" r="r" b="b"/>
              <a:pathLst>
                <a:path w="44450" h="57784">
                  <a:moveTo>
                    <a:pt x="21696" y="0"/>
                  </a:moveTo>
                  <a:lnTo>
                    <a:pt x="13371" y="2226"/>
                  </a:lnTo>
                  <a:lnTo>
                    <a:pt x="6461" y="8340"/>
                  </a:lnTo>
                  <a:lnTo>
                    <a:pt x="1745" y="17493"/>
                  </a:lnTo>
                  <a:lnTo>
                    <a:pt x="0" y="28838"/>
                  </a:lnTo>
                  <a:lnTo>
                    <a:pt x="1745" y="39726"/>
                  </a:lnTo>
                  <a:lnTo>
                    <a:pt x="6461" y="48794"/>
                  </a:lnTo>
                  <a:lnTo>
                    <a:pt x="13371" y="55000"/>
                  </a:lnTo>
                  <a:lnTo>
                    <a:pt x="21696" y="57300"/>
                  </a:lnTo>
                  <a:lnTo>
                    <a:pt x="30348" y="55000"/>
                  </a:lnTo>
                  <a:lnTo>
                    <a:pt x="37426" y="48794"/>
                  </a:lnTo>
                  <a:lnTo>
                    <a:pt x="42204" y="39726"/>
                  </a:lnTo>
                  <a:lnTo>
                    <a:pt x="43958" y="28838"/>
                  </a:lnTo>
                  <a:lnTo>
                    <a:pt x="42204" y="17493"/>
                  </a:lnTo>
                  <a:lnTo>
                    <a:pt x="37426" y="8340"/>
                  </a:lnTo>
                  <a:lnTo>
                    <a:pt x="30348" y="2226"/>
                  </a:lnTo>
                  <a:lnTo>
                    <a:pt x="21696" y="0"/>
                  </a:lnTo>
                  <a:close/>
                </a:path>
              </a:pathLst>
            </a:custGeom>
            <a:solidFill>
              <a:srgbClr val="000000"/>
            </a:solidFill>
          </p:spPr>
          <p:txBody>
            <a:bodyPr wrap="square" lIns="0" tIns="0" rIns="0" bIns="0" rtlCol="0"/>
            <a:lstStyle/>
            <a:p/>
          </p:txBody>
        </p:sp>
        <p:sp>
          <p:nvSpPr>
            <p:cNvPr id="121" name="object 121" descr=""/>
            <p:cNvSpPr/>
            <p:nvPr/>
          </p:nvSpPr>
          <p:spPr>
            <a:xfrm>
              <a:off x="5978466" y="1514370"/>
              <a:ext cx="44450" cy="57785"/>
            </a:xfrm>
            <a:custGeom>
              <a:avLst/>
              <a:gdLst/>
              <a:ahLst/>
              <a:cxnLst/>
              <a:rect l="l" t="t" r="r" b="b"/>
              <a:pathLst>
                <a:path w="44450" h="57784">
                  <a:moveTo>
                    <a:pt x="21696" y="0"/>
                  </a:moveTo>
                  <a:lnTo>
                    <a:pt x="13371" y="2226"/>
                  </a:lnTo>
                  <a:lnTo>
                    <a:pt x="6461" y="8340"/>
                  </a:lnTo>
                  <a:lnTo>
                    <a:pt x="1745" y="17493"/>
                  </a:lnTo>
                  <a:lnTo>
                    <a:pt x="0" y="28838"/>
                  </a:lnTo>
                  <a:lnTo>
                    <a:pt x="1745" y="39726"/>
                  </a:lnTo>
                  <a:lnTo>
                    <a:pt x="6461" y="48794"/>
                  </a:lnTo>
                  <a:lnTo>
                    <a:pt x="13371" y="55000"/>
                  </a:lnTo>
                  <a:lnTo>
                    <a:pt x="21696" y="57300"/>
                  </a:lnTo>
                  <a:lnTo>
                    <a:pt x="30348" y="55000"/>
                  </a:lnTo>
                  <a:lnTo>
                    <a:pt x="37426" y="48794"/>
                  </a:lnTo>
                  <a:lnTo>
                    <a:pt x="42204" y="39726"/>
                  </a:lnTo>
                  <a:lnTo>
                    <a:pt x="43958" y="28838"/>
                  </a:lnTo>
                  <a:lnTo>
                    <a:pt x="42204" y="17493"/>
                  </a:lnTo>
                  <a:lnTo>
                    <a:pt x="37426" y="8340"/>
                  </a:lnTo>
                  <a:lnTo>
                    <a:pt x="30348" y="2226"/>
                  </a:lnTo>
                  <a:lnTo>
                    <a:pt x="21696" y="0"/>
                  </a:lnTo>
                </a:path>
              </a:pathLst>
            </a:custGeom>
            <a:ln w="14038">
              <a:solidFill>
                <a:srgbClr val="000000"/>
              </a:solidFill>
            </a:ln>
          </p:spPr>
          <p:txBody>
            <a:bodyPr wrap="square" lIns="0" tIns="0" rIns="0" bIns="0" rtlCol="0"/>
            <a:lstStyle/>
            <a:p/>
          </p:txBody>
        </p:sp>
        <p:sp>
          <p:nvSpPr>
            <p:cNvPr id="122" name="object 122" descr=""/>
            <p:cNvSpPr/>
            <p:nvPr/>
          </p:nvSpPr>
          <p:spPr>
            <a:xfrm>
              <a:off x="4933456" y="1532842"/>
              <a:ext cx="76200" cy="2171065"/>
            </a:xfrm>
            <a:custGeom>
              <a:avLst/>
              <a:gdLst/>
              <a:ahLst/>
              <a:cxnLst/>
              <a:rect l="l" t="t" r="r" b="b"/>
              <a:pathLst>
                <a:path w="76200" h="2171065">
                  <a:moveTo>
                    <a:pt x="0" y="2058471"/>
                  </a:moveTo>
                  <a:lnTo>
                    <a:pt x="37544" y="2170998"/>
                  </a:lnTo>
                  <a:lnTo>
                    <a:pt x="59759" y="2105405"/>
                  </a:lnTo>
                  <a:lnTo>
                    <a:pt x="32638" y="2105405"/>
                  </a:lnTo>
                  <a:lnTo>
                    <a:pt x="28488" y="2100881"/>
                  </a:lnTo>
                  <a:lnTo>
                    <a:pt x="28488" y="2086933"/>
                  </a:lnTo>
                  <a:lnTo>
                    <a:pt x="0" y="2058471"/>
                  </a:lnTo>
                  <a:close/>
                </a:path>
                <a:path w="76200" h="2171065">
                  <a:moveTo>
                    <a:pt x="28488" y="2086933"/>
                  </a:moveTo>
                  <a:lnTo>
                    <a:pt x="28488" y="2100881"/>
                  </a:lnTo>
                  <a:lnTo>
                    <a:pt x="32638" y="2105405"/>
                  </a:lnTo>
                  <a:lnTo>
                    <a:pt x="43015" y="2105405"/>
                  </a:lnTo>
                  <a:lnTo>
                    <a:pt x="46977" y="2100881"/>
                  </a:lnTo>
                  <a:lnTo>
                    <a:pt x="46977" y="2095980"/>
                  </a:lnTo>
                  <a:lnTo>
                    <a:pt x="37544" y="2095980"/>
                  </a:lnTo>
                  <a:lnTo>
                    <a:pt x="28488" y="2086933"/>
                  </a:lnTo>
                  <a:close/>
                </a:path>
                <a:path w="76200" h="2171065">
                  <a:moveTo>
                    <a:pt x="75654" y="2058471"/>
                  </a:moveTo>
                  <a:lnTo>
                    <a:pt x="46977" y="2086696"/>
                  </a:lnTo>
                  <a:lnTo>
                    <a:pt x="46977" y="2100881"/>
                  </a:lnTo>
                  <a:lnTo>
                    <a:pt x="43015" y="2105405"/>
                  </a:lnTo>
                  <a:lnTo>
                    <a:pt x="59759" y="2105405"/>
                  </a:lnTo>
                  <a:lnTo>
                    <a:pt x="75654" y="2058471"/>
                  </a:lnTo>
                  <a:close/>
                </a:path>
                <a:path w="76200" h="2171065">
                  <a:moveTo>
                    <a:pt x="43015" y="0"/>
                  </a:moveTo>
                  <a:lnTo>
                    <a:pt x="32638" y="0"/>
                  </a:lnTo>
                  <a:lnTo>
                    <a:pt x="28488" y="3958"/>
                  </a:lnTo>
                  <a:lnTo>
                    <a:pt x="28488" y="2086933"/>
                  </a:lnTo>
                  <a:lnTo>
                    <a:pt x="37544" y="2095980"/>
                  </a:lnTo>
                  <a:lnTo>
                    <a:pt x="46977" y="2086696"/>
                  </a:lnTo>
                  <a:lnTo>
                    <a:pt x="46977" y="3958"/>
                  </a:lnTo>
                  <a:lnTo>
                    <a:pt x="43015" y="0"/>
                  </a:lnTo>
                  <a:close/>
                </a:path>
                <a:path w="76200" h="2171065">
                  <a:moveTo>
                    <a:pt x="46977" y="2086696"/>
                  </a:moveTo>
                  <a:lnTo>
                    <a:pt x="37544" y="2095980"/>
                  </a:lnTo>
                  <a:lnTo>
                    <a:pt x="46977" y="2095980"/>
                  </a:lnTo>
                  <a:lnTo>
                    <a:pt x="46977" y="2086696"/>
                  </a:lnTo>
                  <a:close/>
                </a:path>
              </a:pathLst>
            </a:custGeom>
            <a:solidFill>
              <a:srgbClr val="000000"/>
            </a:solidFill>
          </p:spPr>
          <p:txBody>
            <a:bodyPr wrap="square" lIns="0" tIns="0" rIns="0" bIns="0" rtlCol="0"/>
            <a:lstStyle/>
            <a:p/>
          </p:txBody>
        </p:sp>
        <p:sp>
          <p:nvSpPr>
            <p:cNvPr id="123" name="object 123" descr=""/>
            <p:cNvSpPr/>
            <p:nvPr/>
          </p:nvSpPr>
          <p:spPr>
            <a:xfrm>
              <a:off x="4933456" y="1532842"/>
              <a:ext cx="76200" cy="2171065"/>
            </a:xfrm>
            <a:custGeom>
              <a:avLst/>
              <a:gdLst/>
              <a:ahLst/>
              <a:cxnLst/>
              <a:rect l="l" t="t" r="r" b="b"/>
              <a:pathLst>
                <a:path w="76200" h="2171065">
                  <a:moveTo>
                    <a:pt x="46977" y="9989"/>
                  </a:moveTo>
                  <a:lnTo>
                    <a:pt x="46977" y="2095980"/>
                  </a:lnTo>
                  <a:lnTo>
                    <a:pt x="46977" y="2100881"/>
                  </a:lnTo>
                  <a:lnTo>
                    <a:pt x="43015" y="2105405"/>
                  </a:lnTo>
                  <a:lnTo>
                    <a:pt x="37544" y="2105405"/>
                  </a:lnTo>
                  <a:lnTo>
                    <a:pt x="32638" y="2105405"/>
                  </a:lnTo>
                  <a:lnTo>
                    <a:pt x="28488" y="2100881"/>
                  </a:lnTo>
                  <a:lnTo>
                    <a:pt x="28488" y="2095980"/>
                  </a:lnTo>
                  <a:lnTo>
                    <a:pt x="28488" y="9989"/>
                  </a:lnTo>
                  <a:lnTo>
                    <a:pt x="28488" y="3958"/>
                  </a:lnTo>
                  <a:lnTo>
                    <a:pt x="32638" y="0"/>
                  </a:lnTo>
                  <a:lnTo>
                    <a:pt x="37544" y="0"/>
                  </a:lnTo>
                  <a:lnTo>
                    <a:pt x="43015" y="0"/>
                  </a:lnTo>
                  <a:lnTo>
                    <a:pt x="46977" y="3958"/>
                  </a:lnTo>
                  <a:lnTo>
                    <a:pt x="46977" y="9989"/>
                  </a:lnTo>
                  <a:close/>
                </a:path>
                <a:path w="76200" h="2171065">
                  <a:moveTo>
                    <a:pt x="37544" y="2095980"/>
                  </a:moveTo>
                  <a:lnTo>
                    <a:pt x="75654" y="2058471"/>
                  </a:lnTo>
                  <a:lnTo>
                    <a:pt x="37544" y="2170998"/>
                  </a:lnTo>
                  <a:lnTo>
                    <a:pt x="0" y="2058471"/>
                  </a:lnTo>
                  <a:lnTo>
                    <a:pt x="37544" y="2095980"/>
                  </a:lnTo>
                  <a:close/>
                </a:path>
              </a:pathLst>
            </a:custGeom>
            <a:ln w="6791">
              <a:solidFill>
                <a:srgbClr val="000000"/>
              </a:solidFill>
            </a:ln>
          </p:spPr>
          <p:txBody>
            <a:bodyPr wrap="square" lIns="0" tIns="0" rIns="0" bIns="0" rtlCol="0"/>
            <a:lstStyle/>
            <a:p/>
          </p:txBody>
        </p:sp>
        <p:sp>
          <p:nvSpPr>
            <p:cNvPr id="124" name="object 124" descr=""/>
            <p:cNvSpPr/>
            <p:nvPr/>
          </p:nvSpPr>
          <p:spPr>
            <a:xfrm>
              <a:off x="4684609" y="1532842"/>
              <a:ext cx="75565" cy="2343150"/>
            </a:xfrm>
            <a:custGeom>
              <a:avLst/>
              <a:gdLst/>
              <a:ahLst/>
              <a:cxnLst/>
              <a:rect l="l" t="t" r="r" b="b"/>
              <a:pathLst>
                <a:path w="75564" h="2343150">
                  <a:moveTo>
                    <a:pt x="0" y="2229618"/>
                  </a:moveTo>
                  <a:lnTo>
                    <a:pt x="37166" y="2342522"/>
                  </a:lnTo>
                  <a:lnTo>
                    <a:pt x="59434" y="2276551"/>
                  </a:lnTo>
                  <a:lnTo>
                    <a:pt x="32261" y="2276551"/>
                  </a:lnTo>
                  <a:lnTo>
                    <a:pt x="28110" y="2272593"/>
                  </a:lnTo>
                  <a:lnTo>
                    <a:pt x="28144" y="2258022"/>
                  </a:lnTo>
                  <a:lnTo>
                    <a:pt x="0" y="2229618"/>
                  </a:lnTo>
                  <a:close/>
                </a:path>
                <a:path w="75564" h="2343150">
                  <a:moveTo>
                    <a:pt x="28144" y="2258022"/>
                  </a:moveTo>
                  <a:lnTo>
                    <a:pt x="28110" y="2272593"/>
                  </a:lnTo>
                  <a:lnTo>
                    <a:pt x="32261" y="2276551"/>
                  </a:lnTo>
                  <a:lnTo>
                    <a:pt x="42638" y="2276551"/>
                  </a:lnTo>
                  <a:lnTo>
                    <a:pt x="46788" y="2272593"/>
                  </a:lnTo>
                  <a:lnTo>
                    <a:pt x="46788" y="2267127"/>
                  </a:lnTo>
                  <a:lnTo>
                    <a:pt x="37166" y="2267127"/>
                  </a:lnTo>
                  <a:lnTo>
                    <a:pt x="28144" y="2258022"/>
                  </a:lnTo>
                  <a:close/>
                </a:path>
                <a:path w="75564" h="2343150">
                  <a:moveTo>
                    <a:pt x="75276" y="2229618"/>
                  </a:moveTo>
                  <a:lnTo>
                    <a:pt x="46824" y="2257622"/>
                  </a:lnTo>
                  <a:lnTo>
                    <a:pt x="46788" y="2272593"/>
                  </a:lnTo>
                  <a:lnTo>
                    <a:pt x="42638" y="2276551"/>
                  </a:lnTo>
                  <a:lnTo>
                    <a:pt x="59434" y="2276551"/>
                  </a:lnTo>
                  <a:lnTo>
                    <a:pt x="75276" y="2229618"/>
                  </a:lnTo>
                  <a:close/>
                </a:path>
                <a:path w="75564" h="2343150">
                  <a:moveTo>
                    <a:pt x="50750" y="0"/>
                  </a:moveTo>
                  <a:lnTo>
                    <a:pt x="40374" y="0"/>
                  </a:lnTo>
                  <a:lnTo>
                    <a:pt x="36412" y="3958"/>
                  </a:lnTo>
                  <a:lnTo>
                    <a:pt x="36410" y="9989"/>
                  </a:lnTo>
                  <a:lnTo>
                    <a:pt x="28248" y="2229618"/>
                  </a:lnTo>
                  <a:lnTo>
                    <a:pt x="28144" y="2258022"/>
                  </a:lnTo>
                  <a:lnTo>
                    <a:pt x="37166" y="2267127"/>
                  </a:lnTo>
                  <a:lnTo>
                    <a:pt x="46824" y="2257622"/>
                  </a:lnTo>
                  <a:lnTo>
                    <a:pt x="55278" y="9989"/>
                  </a:lnTo>
                  <a:lnTo>
                    <a:pt x="55278" y="3958"/>
                  </a:lnTo>
                  <a:lnTo>
                    <a:pt x="50750" y="0"/>
                  </a:lnTo>
                  <a:close/>
                </a:path>
                <a:path w="75564" h="2343150">
                  <a:moveTo>
                    <a:pt x="46824" y="2257622"/>
                  </a:moveTo>
                  <a:lnTo>
                    <a:pt x="37166" y="2267127"/>
                  </a:lnTo>
                  <a:lnTo>
                    <a:pt x="46788" y="2267127"/>
                  </a:lnTo>
                  <a:lnTo>
                    <a:pt x="46824" y="2257622"/>
                  </a:lnTo>
                  <a:close/>
                </a:path>
              </a:pathLst>
            </a:custGeom>
            <a:solidFill>
              <a:srgbClr val="000000"/>
            </a:solidFill>
          </p:spPr>
          <p:txBody>
            <a:bodyPr wrap="square" lIns="0" tIns="0" rIns="0" bIns="0" rtlCol="0"/>
            <a:lstStyle/>
            <a:p/>
          </p:txBody>
        </p:sp>
        <p:sp>
          <p:nvSpPr>
            <p:cNvPr id="125" name="object 125" descr=""/>
            <p:cNvSpPr/>
            <p:nvPr/>
          </p:nvSpPr>
          <p:spPr>
            <a:xfrm>
              <a:off x="4684608" y="1532842"/>
              <a:ext cx="75565" cy="2343150"/>
            </a:xfrm>
            <a:custGeom>
              <a:avLst/>
              <a:gdLst/>
              <a:ahLst/>
              <a:cxnLst/>
              <a:rect l="l" t="t" r="r" b="b"/>
              <a:pathLst>
                <a:path w="75564" h="2343150">
                  <a:moveTo>
                    <a:pt x="55278" y="9989"/>
                  </a:moveTo>
                  <a:lnTo>
                    <a:pt x="46788" y="2267127"/>
                  </a:lnTo>
                  <a:lnTo>
                    <a:pt x="46788" y="2272593"/>
                  </a:lnTo>
                  <a:lnTo>
                    <a:pt x="42638" y="2276551"/>
                  </a:lnTo>
                  <a:lnTo>
                    <a:pt x="37166" y="2276551"/>
                  </a:lnTo>
                  <a:lnTo>
                    <a:pt x="32261" y="2276551"/>
                  </a:lnTo>
                  <a:lnTo>
                    <a:pt x="28110" y="2272593"/>
                  </a:lnTo>
                  <a:lnTo>
                    <a:pt x="28110" y="2267127"/>
                  </a:lnTo>
                  <a:lnTo>
                    <a:pt x="36412" y="9424"/>
                  </a:lnTo>
                  <a:lnTo>
                    <a:pt x="36412" y="3958"/>
                  </a:lnTo>
                  <a:lnTo>
                    <a:pt x="40374" y="0"/>
                  </a:lnTo>
                  <a:lnTo>
                    <a:pt x="45845" y="0"/>
                  </a:lnTo>
                  <a:lnTo>
                    <a:pt x="50750" y="0"/>
                  </a:lnTo>
                  <a:lnTo>
                    <a:pt x="55278" y="3958"/>
                  </a:lnTo>
                  <a:lnTo>
                    <a:pt x="55278" y="9989"/>
                  </a:lnTo>
                  <a:close/>
                </a:path>
                <a:path w="75564" h="2343150">
                  <a:moveTo>
                    <a:pt x="37166" y="2267127"/>
                  </a:moveTo>
                  <a:lnTo>
                    <a:pt x="75276" y="2229618"/>
                  </a:lnTo>
                  <a:lnTo>
                    <a:pt x="37166" y="2342522"/>
                  </a:lnTo>
                  <a:lnTo>
                    <a:pt x="0" y="2229618"/>
                  </a:lnTo>
                  <a:lnTo>
                    <a:pt x="37166" y="2267127"/>
                  </a:lnTo>
                  <a:close/>
                </a:path>
              </a:pathLst>
            </a:custGeom>
            <a:ln w="6791">
              <a:solidFill>
                <a:srgbClr val="000000"/>
              </a:solidFill>
            </a:ln>
          </p:spPr>
          <p:txBody>
            <a:bodyPr wrap="square" lIns="0" tIns="0" rIns="0" bIns="0" rtlCol="0"/>
            <a:lstStyle/>
            <a:p/>
          </p:txBody>
        </p:sp>
        <p:sp>
          <p:nvSpPr>
            <p:cNvPr id="126" name="object 126" descr=""/>
            <p:cNvSpPr/>
            <p:nvPr/>
          </p:nvSpPr>
          <p:spPr>
            <a:xfrm>
              <a:off x="4943833" y="1519648"/>
              <a:ext cx="43815" cy="58419"/>
            </a:xfrm>
            <a:custGeom>
              <a:avLst/>
              <a:gdLst/>
              <a:ahLst/>
              <a:cxnLst/>
              <a:rect l="l" t="t" r="r" b="b"/>
              <a:pathLst>
                <a:path w="43814" h="58419">
                  <a:moveTo>
                    <a:pt x="21696" y="0"/>
                  </a:moveTo>
                  <a:lnTo>
                    <a:pt x="13371" y="2308"/>
                  </a:lnTo>
                  <a:lnTo>
                    <a:pt x="6461" y="8576"/>
                  </a:lnTo>
                  <a:lnTo>
                    <a:pt x="1745" y="17812"/>
                  </a:lnTo>
                  <a:lnTo>
                    <a:pt x="0" y="29027"/>
                  </a:lnTo>
                  <a:lnTo>
                    <a:pt x="1745" y="40212"/>
                  </a:lnTo>
                  <a:lnTo>
                    <a:pt x="6461" y="49383"/>
                  </a:lnTo>
                  <a:lnTo>
                    <a:pt x="13371" y="55586"/>
                  </a:lnTo>
                  <a:lnTo>
                    <a:pt x="21696" y="57865"/>
                  </a:lnTo>
                  <a:lnTo>
                    <a:pt x="30100" y="55586"/>
                  </a:lnTo>
                  <a:lnTo>
                    <a:pt x="37001" y="49383"/>
                  </a:lnTo>
                  <a:lnTo>
                    <a:pt x="41674" y="40212"/>
                  </a:lnTo>
                  <a:lnTo>
                    <a:pt x="43392" y="29027"/>
                  </a:lnTo>
                  <a:lnTo>
                    <a:pt x="41674" y="17812"/>
                  </a:lnTo>
                  <a:lnTo>
                    <a:pt x="37001" y="8576"/>
                  </a:lnTo>
                  <a:lnTo>
                    <a:pt x="30100" y="2308"/>
                  </a:lnTo>
                  <a:lnTo>
                    <a:pt x="21696" y="0"/>
                  </a:lnTo>
                  <a:close/>
                </a:path>
              </a:pathLst>
            </a:custGeom>
            <a:solidFill>
              <a:srgbClr val="000000"/>
            </a:solidFill>
          </p:spPr>
          <p:txBody>
            <a:bodyPr wrap="square" lIns="0" tIns="0" rIns="0" bIns="0" rtlCol="0"/>
            <a:lstStyle/>
            <a:p/>
          </p:txBody>
        </p:sp>
        <p:sp>
          <p:nvSpPr>
            <p:cNvPr id="127" name="object 127" descr=""/>
            <p:cNvSpPr/>
            <p:nvPr/>
          </p:nvSpPr>
          <p:spPr>
            <a:xfrm>
              <a:off x="4943833" y="1519648"/>
              <a:ext cx="43815" cy="58419"/>
            </a:xfrm>
            <a:custGeom>
              <a:avLst/>
              <a:gdLst/>
              <a:ahLst/>
              <a:cxnLst/>
              <a:rect l="l" t="t" r="r" b="b"/>
              <a:pathLst>
                <a:path w="43814" h="58419">
                  <a:moveTo>
                    <a:pt x="21696" y="0"/>
                  </a:moveTo>
                  <a:lnTo>
                    <a:pt x="13371" y="2308"/>
                  </a:lnTo>
                  <a:lnTo>
                    <a:pt x="6461" y="8576"/>
                  </a:lnTo>
                  <a:lnTo>
                    <a:pt x="1745" y="17812"/>
                  </a:lnTo>
                  <a:lnTo>
                    <a:pt x="0" y="29027"/>
                  </a:lnTo>
                  <a:lnTo>
                    <a:pt x="1745" y="40212"/>
                  </a:lnTo>
                  <a:lnTo>
                    <a:pt x="6461" y="49383"/>
                  </a:lnTo>
                  <a:lnTo>
                    <a:pt x="13371" y="55586"/>
                  </a:lnTo>
                  <a:lnTo>
                    <a:pt x="21696" y="57865"/>
                  </a:lnTo>
                  <a:lnTo>
                    <a:pt x="30100" y="55586"/>
                  </a:lnTo>
                  <a:lnTo>
                    <a:pt x="37001" y="49383"/>
                  </a:lnTo>
                  <a:lnTo>
                    <a:pt x="41674" y="40212"/>
                  </a:lnTo>
                  <a:lnTo>
                    <a:pt x="43392" y="29027"/>
                  </a:lnTo>
                  <a:lnTo>
                    <a:pt x="41674" y="17812"/>
                  </a:lnTo>
                  <a:lnTo>
                    <a:pt x="37001" y="8576"/>
                  </a:lnTo>
                  <a:lnTo>
                    <a:pt x="30100" y="2308"/>
                  </a:lnTo>
                  <a:lnTo>
                    <a:pt x="21696" y="0"/>
                  </a:lnTo>
                </a:path>
              </a:pathLst>
            </a:custGeom>
            <a:ln w="14038">
              <a:solidFill>
                <a:srgbClr val="000000"/>
              </a:solidFill>
            </a:ln>
          </p:spPr>
          <p:txBody>
            <a:bodyPr wrap="square" lIns="0" tIns="0" rIns="0" bIns="0" rtlCol="0"/>
            <a:lstStyle/>
            <a:p/>
          </p:txBody>
        </p:sp>
        <p:sp>
          <p:nvSpPr>
            <p:cNvPr id="128" name="object 128" descr=""/>
            <p:cNvSpPr/>
            <p:nvPr/>
          </p:nvSpPr>
          <p:spPr>
            <a:xfrm>
              <a:off x="4705928" y="1519648"/>
              <a:ext cx="43180" cy="58419"/>
            </a:xfrm>
            <a:custGeom>
              <a:avLst/>
              <a:gdLst/>
              <a:ahLst/>
              <a:cxnLst/>
              <a:rect l="l" t="t" r="r" b="b"/>
              <a:pathLst>
                <a:path w="43179" h="58419">
                  <a:moveTo>
                    <a:pt x="21885" y="0"/>
                  </a:moveTo>
                  <a:lnTo>
                    <a:pt x="13291" y="2308"/>
                  </a:lnTo>
                  <a:lnTo>
                    <a:pt x="6343" y="8576"/>
                  </a:lnTo>
                  <a:lnTo>
                    <a:pt x="1695" y="17812"/>
                  </a:lnTo>
                  <a:lnTo>
                    <a:pt x="0" y="29027"/>
                  </a:lnTo>
                  <a:lnTo>
                    <a:pt x="1695" y="40212"/>
                  </a:lnTo>
                  <a:lnTo>
                    <a:pt x="6343" y="49383"/>
                  </a:lnTo>
                  <a:lnTo>
                    <a:pt x="13291" y="55586"/>
                  </a:lnTo>
                  <a:lnTo>
                    <a:pt x="21885" y="57865"/>
                  </a:lnTo>
                  <a:lnTo>
                    <a:pt x="30121" y="55586"/>
                  </a:lnTo>
                  <a:lnTo>
                    <a:pt x="36836" y="49383"/>
                  </a:lnTo>
                  <a:lnTo>
                    <a:pt x="41358" y="40212"/>
                  </a:lnTo>
                  <a:lnTo>
                    <a:pt x="43015" y="29027"/>
                  </a:lnTo>
                  <a:lnTo>
                    <a:pt x="41358" y="17812"/>
                  </a:lnTo>
                  <a:lnTo>
                    <a:pt x="36836" y="8576"/>
                  </a:lnTo>
                  <a:lnTo>
                    <a:pt x="30121" y="2308"/>
                  </a:lnTo>
                  <a:lnTo>
                    <a:pt x="21885" y="0"/>
                  </a:lnTo>
                  <a:close/>
                </a:path>
              </a:pathLst>
            </a:custGeom>
            <a:solidFill>
              <a:srgbClr val="000000"/>
            </a:solidFill>
          </p:spPr>
          <p:txBody>
            <a:bodyPr wrap="square" lIns="0" tIns="0" rIns="0" bIns="0" rtlCol="0"/>
            <a:lstStyle/>
            <a:p/>
          </p:txBody>
        </p:sp>
        <p:sp>
          <p:nvSpPr>
            <p:cNvPr id="129" name="object 129" descr=""/>
            <p:cNvSpPr/>
            <p:nvPr/>
          </p:nvSpPr>
          <p:spPr>
            <a:xfrm>
              <a:off x="1319335" y="1519648"/>
              <a:ext cx="4403090" cy="185420"/>
            </a:xfrm>
            <a:custGeom>
              <a:avLst/>
              <a:gdLst/>
              <a:ahLst/>
              <a:cxnLst/>
              <a:rect l="l" t="t" r="r" b="b"/>
              <a:pathLst>
                <a:path w="4403090" h="185419">
                  <a:moveTo>
                    <a:pt x="3408477" y="0"/>
                  </a:moveTo>
                  <a:lnTo>
                    <a:pt x="3399884" y="2308"/>
                  </a:lnTo>
                  <a:lnTo>
                    <a:pt x="3392936" y="8576"/>
                  </a:lnTo>
                  <a:lnTo>
                    <a:pt x="3388287" y="17812"/>
                  </a:lnTo>
                  <a:lnTo>
                    <a:pt x="3386592" y="29027"/>
                  </a:lnTo>
                  <a:lnTo>
                    <a:pt x="3388287" y="40212"/>
                  </a:lnTo>
                  <a:lnTo>
                    <a:pt x="3392936" y="49383"/>
                  </a:lnTo>
                  <a:lnTo>
                    <a:pt x="3399884" y="55586"/>
                  </a:lnTo>
                  <a:lnTo>
                    <a:pt x="3408477" y="57865"/>
                  </a:lnTo>
                  <a:lnTo>
                    <a:pt x="3416714" y="55586"/>
                  </a:lnTo>
                  <a:lnTo>
                    <a:pt x="3423429" y="49383"/>
                  </a:lnTo>
                  <a:lnTo>
                    <a:pt x="3427951" y="40212"/>
                  </a:lnTo>
                  <a:lnTo>
                    <a:pt x="3429608" y="29027"/>
                  </a:lnTo>
                  <a:lnTo>
                    <a:pt x="3427951" y="17812"/>
                  </a:lnTo>
                  <a:lnTo>
                    <a:pt x="3423429" y="8576"/>
                  </a:lnTo>
                  <a:lnTo>
                    <a:pt x="3416714" y="2308"/>
                  </a:lnTo>
                  <a:lnTo>
                    <a:pt x="3408477" y="0"/>
                  </a:lnTo>
                </a:path>
                <a:path w="4403090" h="185419">
                  <a:moveTo>
                    <a:pt x="0" y="184906"/>
                  </a:moveTo>
                  <a:lnTo>
                    <a:pt x="4402736" y="184906"/>
                  </a:lnTo>
                </a:path>
              </a:pathLst>
            </a:custGeom>
            <a:ln w="14036">
              <a:solidFill>
                <a:srgbClr val="000000"/>
              </a:solidFill>
            </a:ln>
          </p:spPr>
          <p:txBody>
            <a:bodyPr wrap="square" lIns="0" tIns="0" rIns="0" bIns="0" rtlCol="0"/>
            <a:lstStyle/>
            <a:p/>
          </p:txBody>
        </p:sp>
        <p:sp>
          <p:nvSpPr>
            <p:cNvPr id="130" name="object 130" descr=""/>
            <p:cNvSpPr/>
            <p:nvPr/>
          </p:nvSpPr>
          <p:spPr>
            <a:xfrm>
              <a:off x="5689433" y="1672323"/>
              <a:ext cx="44450" cy="58419"/>
            </a:xfrm>
            <a:custGeom>
              <a:avLst/>
              <a:gdLst/>
              <a:ahLst/>
              <a:cxnLst/>
              <a:rect l="l" t="t" r="r" b="b"/>
              <a:pathLst>
                <a:path w="44450" h="58419">
                  <a:moveTo>
                    <a:pt x="21696" y="0"/>
                  </a:moveTo>
                  <a:lnTo>
                    <a:pt x="13371" y="2308"/>
                  </a:lnTo>
                  <a:lnTo>
                    <a:pt x="6461" y="8576"/>
                  </a:lnTo>
                  <a:lnTo>
                    <a:pt x="1745" y="17812"/>
                  </a:lnTo>
                  <a:lnTo>
                    <a:pt x="0" y="29027"/>
                  </a:lnTo>
                  <a:lnTo>
                    <a:pt x="1745" y="39974"/>
                  </a:lnTo>
                  <a:lnTo>
                    <a:pt x="6461" y="49171"/>
                  </a:lnTo>
                  <a:lnTo>
                    <a:pt x="13371" y="55506"/>
                  </a:lnTo>
                  <a:lnTo>
                    <a:pt x="21696" y="57865"/>
                  </a:lnTo>
                  <a:lnTo>
                    <a:pt x="30348" y="55506"/>
                  </a:lnTo>
                  <a:lnTo>
                    <a:pt x="37426" y="49171"/>
                  </a:lnTo>
                  <a:lnTo>
                    <a:pt x="42204" y="39974"/>
                  </a:lnTo>
                  <a:lnTo>
                    <a:pt x="43958" y="29027"/>
                  </a:lnTo>
                  <a:lnTo>
                    <a:pt x="42204" y="17812"/>
                  </a:lnTo>
                  <a:lnTo>
                    <a:pt x="37426" y="8576"/>
                  </a:lnTo>
                  <a:lnTo>
                    <a:pt x="30348" y="2308"/>
                  </a:lnTo>
                  <a:lnTo>
                    <a:pt x="21696" y="0"/>
                  </a:lnTo>
                  <a:close/>
                </a:path>
              </a:pathLst>
            </a:custGeom>
            <a:solidFill>
              <a:srgbClr val="000000"/>
            </a:solidFill>
          </p:spPr>
          <p:txBody>
            <a:bodyPr wrap="square" lIns="0" tIns="0" rIns="0" bIns="0" rtlCol="0"/>
            <a:lstStyle/>
            <a:p/>
          </p:txBody>
        </p:sp>
        <p:sp>
          <p:nvSpPr>
            <p:cNvPr id="131" name="object 131" descr=""/>
            <p:cNvSpPr/>
            <p:nvPr/>
          </p:nvSpPr>
          <p:spPr>
            <a:xfrm>
              <a:off x="1321146" y="1672323"/>
              <a:ext cx="4412615" cy="3784600"/>
            </a:xfrm>
            <a:custGeom>
              <a:avLst/>
              <a:gdLst/>
              <a:ahLst/>
              <a:cxnLst/>
              <a:rect l="l" t="t" r="r" b="b"/>
              <a:pathLst>
                <a:path w="4412615" h="3784600">
                  <a:moveTo>
                    <a:pt x="4389982" y="0"/>
                  </a:moveTo>
                  <a:lnTo>
                    <a:pt x="4381658" y="2308"/>
                  </a:lnTo>
                  <a:lnTo>
                    <a:pt x="4374748" y="8576"/>
                  </a:lnTo>
                  <a:lnTo>
                    <a:pt x="4370031" y="17812"/>
                  </a:lnTo>
                  <a:lnTo>
                    <a:pt x="4368286" y="29027"/>
                  </a:lnTo>
                  <a:lnTo>
                    <a:pt x="4370031" y="39974"/>
                  </a:lnTo>
                  <a:lnTo>
                    <a:pt x="4374748" y="49171"/>
                  </a:lnTo>
                  <a:lnTo>
                    <a:pt x="4381658" y="55506"/>
                  </a:lnTo>
                  <a:lnTo>
                    <a:pt x="4389982" y="57865"/>
                  </a:lnTo>
                  <a:lnTo>
                    <a:pt x="4398634" y="55506"/>
                  </a:lnTo>
                  <a:lnTo>
                    <a:pt x="4405712" y="49171"/>
                  </a:lnTo>
                  <a:lnTo>
                    <a:pt x="4410491" y="39974"/>
                  </a:lnTo>
                  <a:lnTo>
                    <a:pt x="4412245" y="29027"/>
                  </a:lnTo>
                  <a:lnTo>
                    <a:pt x="4410491" y="17812"/>
                  </a:lnTo>
                  <a:lnTo>
                    <a:pt x="4405712" y="8576"/>
                  </a:lnTo>
                  <a:lnTo>
                    <a:pt x="4398634" y="2308"/>
                  </a:lnTo>
                  <a:lnTo>
                    <a:pt x="4389982" y="0"/>
                  </a:lnTo>
                </a:path>
                <a:path w="4412615" h="3784600">
                  <a:moveTo>
                    <a:pt x="5886" y="30346"/>
                  </a:moveTo>
                  <a:lnTo>
                    <a:pt x="0" y="3784602"/>
                  </a:lnTo>
                </a:path>
              </a:pathLst>
            </a:custGeom>
            <a:ln w="14036">
              <a:solidFill>
                <a:srgbClr val="000000"/>
              </a:solidFill>
            </a:ln>
          </p:spPr>
          <p:txBody>
            <a:bodyPr wrap="square" lIns="0" tIns="0" rIns="0" bIns="0" rtlCol="0"/>
            <a:lstStyle/>
            <a:p/>
          </p:txBody>
        </p:sp>
        <p:sp>
          <p:nvSpPr>
            <p:cNvPr id="132" name="object 132" descr=""/>
            <p:cNvSpPr/>
            <p:nvPr/>
          </p:nvSpPr>
          <p:spPr>
            <a:xfrm>
              <a:off x="1060677" y="1532842"/>
              <a:ext cx="76200" cy="4099560"/>
            </a:xfrm>
            <a:custGeom>
              <a:avLst/>
              <a:gdLst/>
              <a:ahLst/>
              <a:cxnLst/>
              <a:rect l="l" t="t" r="r" b="b"/>
              <a:pathLst>
                <a:path w="76200" h="4099560">
                  <a:moveTo>
                    <a:pt x="0" y="3985963"/>
                  </a:moveTo>
                  <a:lnTo>
                    <a:pt x="38053" y="4099339"/>
                  </a:lnTo>
                  <a:lnTo>
                    <a:pt x="59926" y="4033387"/>
                  </a:lnTo>
                  <a:lnTo>
                    <a:pt x="32619" y="4033387"/>
                  </a:lnTo>
                  <a:lnTo>
                    <a:pt x="28544" y="4029334"/>
                  </a:lnTo>
                  <a:lnTo>
                    <a:pt x="28544" y="4014086"/>
                  </a:lnTo>
                  <a:lnTo>
                    <a:pt x="0" y="3985963"/>
                  </a:lnTo>
                  <a:close/>
                </a:path>
                <a:path w="76200" h="4099560">
                  <a:moveTo>
                    <a:pt x="28544" y="4014086"/>
                  </a:moveTo>
                  <a:lnTo>
                    <a:pt x="28544" y="4029334"/>
                  </a:lnTo>
                  <a:lnTo>
                    <a:pt x="32619" y="4033387"/>
                  </a:lnTo>
                  <a:lnTo>
                    <a:pt x="43034" y="4033387"/>
                  </a:lnTo>
                  <a:lnTo>
                    <a:pt x="47109" y="4029334"/>
                  </a:lnTo>
                  <a:lnTo>
                    <a:pt x="47109" y="4023453"/>
                  </a:lnTo>
                  <a:lnTo>
                    <a:pt x="38053" y="4023453"/>
                  </a:lnTo>
                  <a:lnTo>
                    <a:pt x="28544" y="4014086"/>
                  </a:lnTo>
                  <a:close/>
                </a:path>
                <a:path w="76200" h="4099560">
                  <a:moveTo>
                    <a:pt x="75654" y="3985963"/>
                  </a:moveTo>
                  <a:lnTo>
                    <a:pt x="47109" y="4014424"/>
                  </a:lnTo>
                  <a:lnTo>
                    <a:pt x="47109" y="4029334"/>
                  </a:lnTo>
                  <a:lnTo>
                    <a:pt x="43034" y="4033387"/>
                  </a:lnTo>
                  <a:lnTo>
                    <a:pt x="59926" y="4033387"/>
                  </a:lnTo>
                  <a:lnTo>
                    <a:pt x="75654" y="3985963"/>
                  </a:lnTo>
                  <a:close/>
                </a:path>
                <a:path w="76200" h="4099560">
                  <a:moveTo>
                    <a:pt x="43034" y="0"/>
                  </a:moveTo>
                  <a:lnTo>
                    <a:pt x="32619" y="0"/>
                  </a:lnTo>
                  <a:lnTo>
                    <a:pt x="28544" y="3958"/>
                  </a:lnTo>
                  <a:lnTo>
                    <a:pt x="28544" y="4014086"/>
                  </a:lnTo>
                  <a:lnTo>
                    <a:pt x="38053" y="4023453"/>
                  </a:lnTo>
                  <a:lnTo>
                    <a:pt x="47109" y="4014424"/>
                  </a:lnTo>
                  <a:lnTo>
                    <a:pt x="47109" y="3958"/>
                  </a:lnTo>
                  <a:lnTo>
                    <a:pt x="43034" y="0"/>
                  </a:lnTo>
                  <a:close/>
                </a:path>
                <a:path w="76200" h="4099560">
                  <a:moveTo>
                    <a:pt x="47109" y="4014424"/>
                  </a:moveTo>
                  <a:lnTo>
                    <a:pt x="38053" y="4023453"/>
                  </a:lnTo>
                  <a:lnTo>
                    <a:pt x="47109" y="4023453"/>
                  </a:lnTo>
                  <a:lnTo>
                    <a:pt x="47109" y="4014424"/>
                  </a:lnTo>
                  <a:close/>
                </a:path>
              </a:pathLst>
            </a:custGeom>
            <a:solidFill>
              <a:srgbClr val="000000"/>
            </a:solidFill>
          </p:spPr>
          <p:txBody>
            <a:bodyPr wrap="square" lIns="0" tIns="0" rIns="0" bIns="0" rtlCol="0"/>
            <a:lstStyle/>
            <a:p/>
          </p:txBody>
        </p:sp>
        <p:sp>
          <p:nvSpPr>
            <p:cNvPr id="133" name="object 133" descr=""/>
            <p:cNvSpPr/>
            <p:nvPr/>
          </p:nvSpPr>
          <p:spPr>
            <a:xfrm>
              <a:off x="1060677" y="1532842"/>
              <a:ext cx="76200" cy="4099560"/>
            </a:xfrm>
            <a:custGeom>
              <a:avLst/>
              <a:gdLst/>
              <a:ahLst/>
              <a:cxnLst/>
              <a:rect l="l" t="t" r="r" b="b"/>
              <a:pathLst>
                <a:path w="76200" h="4099560">
                  <a:moveTo>
                    <a:pt x="47109" y="9989"/>
                  </a:moveTo>
                  <a:lnTo>
                    <a:pt x="47109" y="4023454"/>
                  </a:lnTo>
                  <a:lnTo>
                    <a:pt x="47109" y="4029334"/>
                  </a:lnTo>
                  <a:lnTo>
                    <a:pt x="43034" y="4033387"/>
                  </a:lnTo>
                  <a:lnTo>
                    <a:pt x="38053" y="4033387"/>
                  </a:lnTo>
                  <a:lnTo>
                    <a:pt x="32619" y="4033387"/>
                  </a:lnTo>
                  <a:lnTo>
                    <a:pt x="28544" y="4029334"/>
                  </a:lnTo>
                  <a:lnTo>
                    <a:pt x="28544" y="4023454"/>
                  </a:lnTo>
                  <a:lnTo>
                    <a:pt x="28544" y="9989"/>
                  </a:lnTo>
                  <a:lnTo>
                    <a:pt x="28544" y="3958"/>
                  </a:lnTo>
                  <a:lnTo>
                    <a:pt x="32619" y="0"/>
                  </a:lnTo>
                  <a:lnTo>
                    <a:pt x="38053" y="0"/>
                  </a:lnTo>
                  <a:lnTo>
                    <a:pt x="43034" y="0"/>
                  </a:lnTo>
                  <a:lnTo>
                    <a:pt x="47109" y="3958"/>
                  </a:lnTo>
                  <a:lnTo>
                    <a:pt x="47109" y="9989"/>
                  </a:lnTo>
                  <a:close/>
                </a:path>
                <a:path w="76200" h="4099560">
                  <a:moveTo>
                    <a:pt x="38053" y="4023454"/>
                  </a:moveTo>
                  <a:lnTo>
                    <a:pt x="75654" y="3985963"/>
                  </a:lnTo>
                  <a:lnTo>
                    <a:pt x="38053" y="4099339"/>
                  </a:lnTo>
                  <a:lnTo>
                    <a:pt x="0" y="3985963"/>
                  </a:lnTo>
                  <a:lnTo>
                    <a:pt x="38053" y="4023454"/>
                  </a:lnTo>
                  <a:close/>
                </a:path>
              </a:pathLst>
            </a:custGeom>
            <a:ln w="6791">
              <a:solidFill>
                <a:srgbClr val="000000"/>
              </a:solidFill>
            </a:ln>
          </p:spPr>
          <p:txBody>
            <a:bodyPr wrap="square" lIns="0" tIns="0" rIns="0" bIns="0" rtlCol="0"/>
            <a:lstStyle/>
            <a:p/>
          </p:txBody>
        </p:sp>
        <p:sp>
          <p:nvSpPr>
            <p:cNvPr id="134" name="object 134" descr=""/>
            <p:cNvSpPr/>
            <p:nvPr/>
          </p:nvSpPr>
          <p:spPr>
            <a:xfrm>
              <a:off x="804282" y="3703841"/>
              <a:ext cx="1348740" cy="0"/>
            </a:xfrm>
            <a:custGeom>
              <a:avLst/>
              <a:gdLst/>
              <a:ahLst/>
              <a:cxnLst/>
              <a:rect l="l" t="t" r="r" b="b"/>
              <a:pathLst>
                <a:path w="1348739" h="0">
                  <a:moveTo>
                    <a:pt x="0" y="0"/>
                  </a:moveTo>
                  <a:lnTo>
                    <a:pt x="1348135" y="0"/>
                  </a:lnTo>
                </a:path>
              </a:pathLst>
            </a:custGeom>
            <a:ln w="14029">
              <a:solidFill>
                <a:srgbClr val="000000"/>
              </a:solidFill>
            </a:ln>
          </p:spPr>
          <p:txBody>
            <a:bodyPr wrap="square" lIns="0" tIns="0" rIns="0" bIns="0" rtlCol="0"/>
            <a:lstStyle/>
            <a:p/>
          </p:txBody>
        </p:sp>
        <p:sp>
          <p:nvSpPr>
            <p:cNvPr id="135" name="object 135" descr=""/>
            <p:cNvSpPr/>
            <p:nvPr/>
          </p:nvSpPr>
          <p:spPr>
            <a:xfrm>
              <a:off x="2126137" y="3668028"/>
              <a:ext cx="43815" cy="57785"/>
            </a:xfrm>
            <a:custGeom>
              <a:avLst/>
              <a:gdLst/>
              <a:ahLst/>
              <a:cxnLst/>
              <a:rect l="l" t="t" r="r" b="b"/>
              <a:pathLst>
                <a:path w="43814" h="57785">
                  <a:moveTo>
                    <a:pt x="21752" y="0"/>
                  </a:moveTo>
                  <a:lnTo>
                    <a:pt x="13188" y="2308"/>
                  </a:lnTo>
                  <a:lnTo>
                    <a:pt x="6284" y="8576"/>
                  </a:lnTo>
                  <a:lnTo>
                    <a:pt x="1677" y="17812"/>
                  </a:lnTo>
                  <a:lnTo>
                    <a:pt x="0" y="29027"/>
                  </a:lnTo>
                  <a:lnTo>
                    <a:pt x="1677" y="40153"/>
                  </a:lnTo>
                  <a:lnTo>
                    <a:pt x="6284" y="49195"/>
                  </a:lnTo>
                  <a:lnTo>
                    <a:pt x="13188" y="55268"/>
                  </a:lnTo>
                  <a:lnTo>
                    <a:pt x="21752" y="57488"/>
                  </a:lnTo>
                  <a:lnTo>
                    <a:pt x="30115" y="55268"/>
                  </a:lnTo>
                  <a:lnTo>
                    <a:pt x="37034" y="49195"/>
                  </a:lnTo>
                  <a:lnTo>
                    <a:pt x="41746" y="40153"/>
                  </a:lnTo>
                  <a:lnTo>
                    <a:pt x="43487" y="29027"/>
                  </a:lnTo>
                  <a:lnTo>
                    <a:pt x="41746" y="17812"/>
                  </a:lnTo>
                  <a:lnTo>
                    <a:pt x="37034" y="8576"/>
                  </a:lnTo>
                  <a:lnTo>
                    <a:pt x="30115" y="2308"/>
                  </a:lnTo>
                  <a:lnTo>
                    <a:pt x="21752" y="0"/>
                  </a:lnTo>
                  <a:close/>
                </a:path>
              </a:pathLst>
            </a:custGeom>
            <a:solidFill>
              <a:srgbClr val="000000"/>
            </a:solidFill>
          </p:spPr>
          <p:txBody>
            <a:bodyPr wrap="square" lIns="0" tIns="0" rIns="0" bIns="0" rtlCol="0"/>
            <a:lstStyle/>
            <a:p/>
          </p:txBody>
        </p:sp>
        <p:sp>
          <p:nvSpPr>
            <p:cNvPr id="136" name="object 136" descr=""/>
            <p:cNvSpPr/>
            <p:nvPr/>
          </p:nvSpPr>
          <p:spPr>
            <a:xfrm>
              <a:off x="804282" y="315401"/>
              <a:ext cx="4838065" cy="3410585"/>
            </a:xfrm>
            <a:custGeom>
              <a:avLst/>
              <a:gdLst/>
              <a:ahLst/>
              <a:cxnLst/>
              <a:rect l="l" t="t" r="r" b="b"/>
              <a:pathLst>
                <a:path w="4838065" h="3410585">
                  <a:moveTo>
                    <a:pt x="1343607" y="3352627"/>
                  </a:moveTo>
                  <a:lnTo>
                    <a:pt x="1335043" y="3354936"/>
                  </a:lnTo>
                  <a:lnTo>
                    <a:pt x="1328139" y="3361203"/>
                  </a:lnTo>
                  <a:lnTo>
                    <a:pt x="1323531" y="3370439"/>
                  </a:lnTo>
                  <a:lnTo>
                    <a:pt x="1321854" y="3381654"/>
                  </a:lnTo>
                  <a:lnTo>
                    <a:pt x="1323531" y="3392780"/>
                  </a:lnTo>
                  <a:lnTo>
                    <a:pt x="1328139" y="3401822"/>
                  </a:lnTo>
                  <a:lnTo>
                    <a:pt x="1335043" y="3407895"/>
                  </a:lnTo>
                  <a:lnTo>
                    <a:pt x="1343607" y="3410115"/>
                  </a:lnTo>
                  <a:lnTo>
                    <a:pt x="1351970" y="3407895"/>
                  </a:lnTo>
                  <a:lnTo>
                    <a:pt x="1358889" y="3401822"/>
                  </a:lnTo>
                  <a:lnTo>
                    <a:pt x="1363601" y="3392780"/>
                  </a:lnTo>
                  <a:lnTo>
                    <a:pt x="1365341" y="3381654"/>
                  </a:lnTo>
                  <a:lnTo>
                    <a:pt x="1363601" y="3370439"/>
                  </a:lnTo>
                  <a:lnTo>
                    <a:pt x="1358889" y="3361203"/>
                  </a:lnTo>
                  <a:lnTo>
                    <a:pt x="1351970" y="3354936"/>
                  </a:lnTo>
                  <a:lnTo>
                    <a:pt x="1343607" y="3352627"/>
                  </a:lnTo>
                </a:path>
                <a:path w="4838065" h="3410585">
                  <a:moveTo>
                    <a:pt x="0" y="3388439"/>
                  </a:moveTo>
                  <a:lnTo>
                    <a:pt x="0" y="0"/>
                  </a:lnTo>
                </a:path>
                <a:path w="4838065" h="3410585">
                  <a:moveTo>
                    <a:pt x="0" y="0"/>
                  </a:moveTo>
                  <a:lnTo>
                    <a:pt x="4837984" y="0"/>
                  </a:lnTo>
                </a:path>
              </a:pathLst>
            </a:custGeom>
            <a:ln w="14036">
              <a:solidFill>
                <a:srgbClr val="000000"/>
              </a:solidFill>
            </a:ln>
          </p:spPr>
          <p:txBody>
            <a:bodyPr wrap="square" lIns="0" tIns="0" rIns="0" bIns="0" rtlCol="0"/>
            <a:lstStyle/>
            <a:p/>
          </p:txBody>
        </p:sp>
        <p:pic>
          <p:nvPicPr>
            <p:cNvPr id="137" name="object 137" descr=""/>
            <p:cNvPicPr/>
            <p:nvPr/>
          </p:nvPicPr>
          <p:blipFill>
            <a:blip r:embed="rId4" cstate="print"/>
            <a:stretch>
              <a:fillRect/>
            </a:stretch>
          </p:blipFill>
          <p:spPr>
            <a:xfrm>
              <a:off x="5598685" y="302579"/>
              <a:ext cx="81881" cy="191888"/>
            </a:xfrm>
            <a:prstGeom prst="rect">
              <a:avLst/>
            </a:prstGeom>
          </p:spPr>
        </p:pic>
        <p:sp>
          <p:nvSpPr>
            <p:cNvPr id="138" name="object 138" descr=""/>
            <p:cNvSpPr/>
            <p:nvPr/>
          </p:nvSpPr>
          <p:spPr>
            <a:xfrm>
              <a:off x="6039216" y="315401"/>
              <a:ext cx="1547495" cy="0"/>
            </a:xfrm>
            <a:custGeom>
              <a:avLst/>
              <a:gdLst/>
              <a:ahLst/>
              <a:cxnLst/>
              <a:rect l="l" t="t" r="r" b="b"/>
              <a:pathLst>
                <a:path w="1547495" h="0">
                  <a:moveTo>
                    <a:pt x="0" y="0"/>
                  </a:moveTo>
                  <a:lnTo>
                    <a:pt x="1547044" y="0"/>
                  </a:lnTo>
                </a:path>
              </a:pathLst>
            </a:custGeom>
            <a:ln w="14029">
              <a:solidFill>
                <a:srgbClr val="0000FF"/>
              </a:solidFill>
            </a:ln>
          </p:spPr>
          <p:txBody>
            <a:bodyPr wrap="square" lIns="0" tIns="0" rIns="0" bIns="0" rtlCol="0"/>
            <a:lstStyle/>
            <a:p/>
          </p:txBody>
        </p:sp>
        <p:pic>
          <p:nvPicPr>
            <p:cNvPr id="139" name="object 139" descr=""/>
            <p:cNvPicPr/>
            <p:nvPr/>
          </p:nvPicPr>
          <p:blipFill>
            <a:blip r:embed="rId5" cstate="print"/>
            <a:stretch>
              <a:fillRect/>
            </a:stretch>
          </p:blipFill>
          <p:spPr>
            <a:xfrm>
              <a:off x="6005444" y="302579"/>
              <a:ext cx="82447" cy="191888"/>
            </a:xfrm>
            <a:prstGeom prst="rect">
              <a:avLst/>
            </a:prstGeom>
          </p:spPr>
        </p:pic>
        <p:sp>
          <p:nvSpPr>
            <p:cNvPr id="140" name="object 140" descr=""/>
            <p:cNvSpPr/>
            <p:nvPr/>
          </p:nvSpPr>
          <p:spPr>
            <a:xfrm>
              <a:off x="1312090" y="5418983"/>
              <a:ext cx="922019" cy="75565"/>
            </a:xfrm>
            <a:custGeom>
              <a:avLst/>
              <a:gdLst/>
              <a:ahLst/>
              <a:cxnLst/>
              <a:rect l="l" t="t" r="r" b="b"/>
              <a:pathLst>
                <a:path w="922019" h="75564">
                  <a:moveTo>
                    <a:pt x="808160" y="0"/>
                  </a:moveTo>
                  <a:lnTo>
                    <a:pt x="845761" y="37942"/>
                  </a:lnTo>
                  <a:lnTo>
                    <a:pt x="808160" y="75432"/>
                  </a:lnTo>
                  <a:lnTo>
                    <a:pt x="894126" y="46971"/>
                  </a:lnTo>
                  <a:lnTo>
                    <a:pt x="851195" y="46971"/>
                  </a:lnTo>
                  <a:lnTo>
                    <a:pt x="855270" y="42899"/>
                  </a:lnTo>
                  <a:lnTo>
                    <a:pt x="855270" y="32514"/>
                  </a:lnTo>
                  <a:lnTo>
                    <a:pt x="851195" y="27990"/>
                  </a:lnTo>
                  <a:lnTo>
                    <a:pt x="891695" y="27990"/>
                  </a:lnTo>
                  <a:lnTo>
                    <a:pt x="808160" y="0"/>
                  </a:lnTo>
                  <a:close/>
                </a:path>
                <a:path w="922019" h="75564">
                  <a:moveTo>
                    <a:pt x="835899" y="27990"/>
                  </a:moveTo>
                  <a:lnTo>
                    <a:pt x="4075" y="27990"/>
                  </a:lnTo>
                  <a:lnTo>
                    <a:pt x="0" y="32514"/>
                  </a:lnTo>
                  <a:lnTo>
                    <a:pt x="0" y="42899"/>
                  </a:lnTo>
                  <a:lnTo>
                    <a:pt x="4075" y="46971"/>
                  </a:lnTo>
                  <a:lnTo>
                    <a:pt x="836706" y="46971"/>
                  </a:lnTo>
                  <a:lnTo>
                    <a:pt x="845761" y="37942"/>
                  </a:lnTo>
                  <a:lnTo>
                    <a:pt x="835899" y="27990"/>
                  </a:lnTo>
                  <a:close/>
                </a:path>
                <a:path w="922019" h="75564">
                  <a:moveTo>
                    <a:pt x="891695" y="27990"/>
                  </a:moveTo>
                  <a:lnTo>
                    <a:pt x="851195" y="27990"/>
                  </a:lnTo>
                  <a:lnTo>
                    <a:pt x="855270" y="32514"/>
                  </a:lnTo>
                  <a:lnTo>
                    <a:pt x="855270" y="42899"/>
                  </a:lnTo>
                  <a:lnTo>
                    <a:pt x="851195" y="46971"/>
                  </a:lnTo>
                  <a:lnTo>
                    <a:pt x="894126" y="46971"/>
                  </a:lnTo>
                  <a:lnTo>
                    <a:pt x="921396" y="37942"/>
                  </a:lnTo>
                  <a:lnTo>
                    <a:pt x="891695" y="27990"/>
                  </a:lnTo>
                  <a:close/>
                </a:path>
              </a:pathLst>
            </a:custGeom>
            <a:solidFill>
              <a:srgbClr val="000000"/>
            </a:solidFill>
          </p:spPr>
          <p:txBody>
            <a:bodyPr wrap="square" lIns="0" tIns="0" rIns="0" bIns="0" rtlCol="0"/>
            <a:lstStyle/>
            <a:p/>
          </p:txBody>
        </p:sp>
        <p:sp>
          <p:nvSpPr>
            <p:cNvPr id="141" name="object 141" descr=""/>
            <p:cNvSpPr/>
            <p:nvPr/>
          </p:nvSpPr>
          <p:spPr>
            <a:xfrm>
              <a:off x="1312090" y="5418983"/>
              <a:ext cx="922019" cy="75565"/>
            </a:xfrm>
            <a:custGeom>
              <a:avLst/>
              <a:gdLst/>
              <a:ahLst/>
              <a:cxnLst/>
              <a:rect l="l" t="t" r="r" b="b"/>
              <a:pathLst>
                <a:path w="922019" h="75564">
                  <a:moveTo>
                    <a:pt x="9055" y="27990"/>
                  </a:moveTo>
                  <a:lnTo>
                    <a:pt x="845761" y="27990"/>
                  </a:lnTo>
                  <a:lnTo>
                    <a:pt x="851194" y="27990"/>
                  </a:lnTo>
                  <a:lnTo>
                    <a:pt x="855270" y="32514"/>
                  </a:lnTo>
                  <a:lnTo>
                    <a:pt x="855270" y="37942"/>
                  </a:lnTo>
                  <a:lnTo>
                    <a:pt x="855270" y="42899"/>
                  </a:lnTo>
                  <a:lnTo>
                    <a:pt x="851194" y="46971"/>
                  </a:lnTo>
                  <a:lnTo>
                    <a:pt x="845761" y="46971"/>
                  </a:lnTo>
                  <a:lnTo>
                    <a:pt x="9055" y="46971"/>
                  </a:lnTo>
                  <a:lnTo>
                    <a:pt x="4075" y="46971"/>
                  </a:lnTo>
                  <a:lnTo>
                    <a:pt x="0" y="42899"/>
                  </a:lnTo>
                  <a:lnTo>
                    <a:pt x="0" y="37942"/>
                  </a:lnTo>
                  <a:lnTo>
                    <a:pt x="0" y="32514"/>
                  </a:lnTo>
                  <a:lnTo>
                    <a:pt x="4075" y="27990"/>
                  </a:lnTo>
                  <a:lnTo>
                    <a:pt x="9055" y="27990"/>
                  </a:lnTo>
                  <a:close/>
                </a:path>
                <a:path w="922019" h="75564">
                  <a:moveTo>
                    <a:pt x="845761" y="37942"/>
                  </a:moveTo>
                  <a:lnTo>
                    <a:pt x="808160" y="0"/>
                  </a:lnTo>
                  <a:lnTo>
                    <a:pt x="921396" y="37942"/>
                  </a:lnTo>
                  <a:lnTo>
                    <a:pt x="808160" y="75432"/>
                  </a:lnTo>
                  <a:lnTo>
                    <a:pt x="845761" y="37942"/>
                  </a:lnTo>
                  <a:close/>
                </a:path>
              </a:pathLst>
            </a:custGeom>
            <a:ln w="6791">
              <a:solidFill>
                <a:srgbClr val="000000"/>
              </a:solidFill>
            </a:ln>
          </p:spPr>
          <p:txBody>
            <a:bodyPr wrap="square" lIns="0" tIns="0" rIns="0" bIns="0" rtlCol="0"/>
            <a:lstStyle/>
            <a:p/>
          </p:txBody>
        </p:sp>
      </p:grpSp>
      <p:sp>
        <p:nvSpPr>
          <p:cNvPr id="142" name="object 142" descr=""/>
          <p:cNvSpPr txBox="1"/>
          <p:nvPr/>
        </p:nvSpPr>
        <p:spPr>
          <a:xfrm>
            <a:off x="1485130" y="4113952"/>
            <a:ext cx="330835" cy="764540"/>
          </a:xfrm>
          <a:prstGeom prst="rect">
            <a:avLst/>
          </a:prstGeom>
        </p:spPr>
        <p:txBody>
          <a:bodyPr wrap="square" lIns="0" tIns="37465" rIns="0" bIns="0" rtlCol="0" vert="horz">
            <a:spAutoFit/>
          </a:bodyPr>
          <a:lstStyle/>
          <a:p>
            <a:pPr marL="76835" marR="5080" indent="-64769">
              <a:lnSpc>
                <a:spcPct val="89900"/>
              </a:lnSpc>
              <a:spcBef>
                <a:spcPts val="295"/>
              </a:spcBef>
            </a:pPr>
            <a:r>
              <a:rPr dirty="0" sz="1300" spc="-20">
                <a:latin typeface="Times New Roman"/>
                <a:cs typeface="Times New Roman"/>
              </a:rPr>
              <a:t>l</a:t>
            </a:r>
            <a:r>
              <a:rPr dirty="0" sz="1300" spc="-20" b="1">
                <a:latin typeface="Times New Roman"/>
                <a:cs typeface="Times New Roman"/>
              </a:rPr>
              <a:t>oad</a:t>
            </a:r>
            <a:r>
              <a:rPr dirty="0" sz="1300" spc="-50" b="1">
                <a:latin typeface="宋体"/>
                <a:cs typeface="宋体"/>
              </a:rPr>
              <a:t>缓冲器</a:t>
            </a:r>
            <a:endParaRPr sz="1300">
              <a:latin typeface="宋体"/>
              <a:cs typeface="宋体"/>
            </a:endParaRPr>
          </a:p>
        </p:txBody>
      </p:sp>
      <p:sp>
        <p:nvSpPr>
          <p:cNvPr id="143" name="object 143" descr=""/>
          <p:cNvSpPr txBox="1"/>
          <p:nvPr/>
        </p:nvSpPr>
        <p:spPr>
          <a:xfrm>
            <a:off x="322262" y="5193194"/>
            <a:ext cx="1786255" cy="229870"/>
          </a:xfrm>
          <a:prstGeom prst="rect">
            <a:avLst/>
          </a:prstGeom>
        </p:spPr>
        <p:txBody>
          <a:bodyPr wrap="square" lIns="0" tIns="17780" rIns="0" bIns="0" rtlCol="0" vert="horz">
            <a:spAutoFit/>
          </a:bodyPr>
          <a:lstStyle/>
          <a:p>
            <a:pPr marL="12700">
              <a:lnSpc>
                <a:spcPct val="100000"/>
              </a:lnSpc>
              <a:spcBef>
                <a:spcPts val="140"/>
              </a:spcBef>
              <a:tabLst>
                <a:tab pos="1052195" algn="l"/>
              </a:tabLst>
            </a:pPr>
            <a:r>
              <a:rPr dirty="0" sz="1300" b="1">
                <a:latin typeface="Times New Roman"/>
                <a:cs typeface="Times New Roman"/>
              </a:rPr>
              <a:t>store</a:t>
            </a:r>
            <a:r>
              <a:rPr dirty="0" sz="1300" spc="-50" b="1">
                <a:latin typeface="Times New Roman"/>
                <a:cs typeface="Times New Roman"/>
              </a:rPr>
              <a:t> </a:t>
            </a:r>
            <a:r>
              <a:rPr dirty="0" sz="1300" b="1">
                <a:latin typeface="宋体"/>
                <a:cs typeface="宋体"/>
              </a:rPr>
              <a:t>数</a:t>
            </a:r>
            <a:r>
              <a:rPr dirty="0" sz="1300" spc="-50" b="1">
                <a:latin typeface="宋体"/>
                <a:cs typeface="宋体"/>
              </a:rPr>
              <a:t>据</a:t>
            </a:r>
            <a:r>
              <a:rPr dirty="0" sz="1300" b="1">
                <a:latin typeface="宋体"/>
                <a:cs typeface="宋体"/>
              </a:rPr>
              <a:t>	</a:t>
            </a:r>
            <a:r>
              <a:rPr dirty="0" sz="1300" b="1">
                <a:latin typeface="Times New Roman"/>
                <a:cs typeface="Times New Roman"/>
              </a:rPr>
              <a:t>store</a:t>
            </a:r>
            <a:r>
              <a:rPr dirty="0" sz="1300" spc="-50" b="1">
                <a:latin typeface="Times New Roman"/>
                <a:cs typeface="Times New Roman"/>
              </a:rPr>
              <a:t> </a:t>
            </a:r>
            <a:r>
              <a:rPr dirty="0" sz="1300" b="1">
                <a:latin typeface="宋体"/>
                <a:cs typeface="宋体"/>
              </a:rPr>
              <a:t>地</a:t>
            </a:r>
            <a:r>
              <a:rPr dirty="0" sz="1300" spc="-50" b="1">
                <a:latin typeface="宋体"/>
                <a:cs typeface="宋体"/>
              </a:rPr>
              <a:t>址</a:t>
            </a:r>
            <a:endParaRPr sz="1300">
              <a:latin typeface="宋体"/>
              <a:cs typeface="宋体"/>
            </a:endParaRPr>
          </a:p>
        </p:txBody>
      </p:sp>
      <p:sp>
        <p:nvSpPr>
          <p:cNvPr id="144" name="object 144" descr=""/>
          <p:cNvSpPr txBox="1"/>
          <p:nvPr/>
        </p:nvSpPr>
        <p:spPr>
          <a:xfrm>
            <a:off x="7246794" y="4612992"/>
            <a:ext cx="196215" cy="229870"/>
          </a:xfrm>
          <a:prstGeom prst="rect">
            <a:avLst/>
          </a:prstGeom>
        </p:spPr>
        <p:txBody>
          <a:bodyPr wrap="square" lIns="0" tIns="17780" rIns="0" bIns="0" rtlCol="0" vert="horz">
            <a:spAutoFit/>
          </a:bodyPr>
          <a:lstStyle/>
          <a:p>
            <a:pPr marL="12700">
              <a:lnSpc>
                <a:spcPct val="100000"/>
              </a:lnSpc>
              <a:spcBef>
                <a:spcPts val="140"/>
              </a:spcBef>
            </a:pPr>
            <a:r>
              <a:rPr dirty="0" sz="1300" spc="-50" b="1">
                <a:latin typeface="宋体"/>
                <a:cs typeface="宋体"/>
              </a:rPr>
              <a:t>保</a:t>
            </a:r>
            <a:endParaRPr sz="1300">
              <a:latin typeface="宋体"/>
              <a:cs typeface="宋体"/>
            </a:endParaRPr>
          </a:p>
        </p:txBody>
      </p:sp>
      <p:sp>
        <p:nvSpPr>
          <p:cNvPr id="145" name="object 145" descr=""/>
          <p:cNvSpPr txBox="1"/>
          <p:nvPr/>
        </p:nvSpPr>
        <p:spPr>
          <a:xfrm>
            <a:off x="7246794" y="4783162"/>
            <a:ext cx="196215" cy="400050"/>
          </a:xfrm>
          <a:prstGeom prst="rect">
            <a:avLst/>
          </a:prstGeom>
        </p:spPr>
        <p:txBody>
          <a:bodyPr wrap="square" lIns="0" tIns="46355" rIns="0" bIns="0" rtlCol="0" vert="horz">
            <a:spAutoFit/>
          </a:bodyPr>
          <a:lstStyle/>
          <a:p>
            <a:pPr marL="12700" marR="5080">
              <a:lnSpc>
                <a:spcPts val="1340"/>
              </a:lnSpc>
              <a:spcBef>
                <a:spcPts val="365"/>
              </a:spcBef>
            </a:pPr>
            <a:r>
              <a:rPr dirty="0" sz="1300" spc="-50" b="1">
                <a:latin typeface="宋体"/>
                <a:cs typeface="宋体"/>
              </a:rPr>
              <a:t>留站</a:t>
            </a:r>
            <a:endParaRPr sz="1300">
              <a:latin typeface="宋体"/>
              <a:cs typeface="宋体"/>
            </a:endParaRPr>
          </a:p>
        </p:txBody>
      </p:sp>
      <p:sp>
        <p:nvSpPr>
          <p:cNvPr id="146" name="object 146" descr=""/>
          <p:cNvSpPr txBox="1"/>
          <p:nvPr/>
        </p:nvSpPr>
        <p:spPr>
          <a:xfrm>
            <a:off x="1668587" y="6074952"/>
            <a:ext cx="4580890" cy="229870"/>
          </a:xfrm>
          <a:prstGeom prst="rect">
            <a:avLst/>
          </a:prstGeom>
        </p:spPr>
        <p:txBody>
          <a:bodyPr wrap="square" lIns="0" tIns="17780" rIns="0" bIns="0" rtlCol="0" vert="horz">
            <a:spAutoFit/>
          </a:bodyPr>
          <a:lstStyle/>
          <a:p>
            <a:pPr marL="12700">
              <a:lnSpc>
                <a:spcPct val="100000"/>
              </a:lnSpc>
              <a:spcBef>
                <a:spcPts val="140"/>
              </a:spcBef>
              <a:tabLst>
                <a:tab pos="2840355" algn="l"/>
              </a:tabLst>
            </a:pPr>
            <a:r>
              <a:rPr dirty="0" baseline="2136" sz="1950" b="1">
                <a:latin typeface="Times New Roman"/>
                <a:cs typeface="Times New Roman"/>
              </a:rPr>
              <a:t>load </a:t>
            </a:r>
            <a:r>
              <a:rPr dirty="0" baseline="2136" sz="1950" spc="120" b="1">
                <a:latin typeface="宋体"/>
                <a:cs typeface="宋体"/>
              </a:rPr>
              <a:t>数</a:t>
            </a:r>
            <a:r>
              <a:rPr dirty="0" baseline="2136" sz="1950" spc="-75" b="1">
                <a:latin typeface="宋体"/>
                <a:cs typeface="宋体"/>
              </a:rPr>
              <a:t>据</a:t>
            </a:r>
            <a:r>
              <a:rPr dirty="0" baseline="2136" sz="1950" b="1">
                <a:latin typeface="宋体"/>
                <a:cs typeface="宋体"/>
              </a:rPr>
              <a:t>	</a:t>
            </a:r>
            <a:r>
              <a:rPr dirty="0" sz="1300" b="1">
                <a:solidFill>
                  <a:srgbClr val="0000FF"/>
                </a:solidFill>
                <a:latin typeface="宋体"/>
                <a:cs typeface="宋体"/>
              </a:rPr>
              <a:t>公共数据</a:t>
            </a:r>
            <a:r>
              <a:rPr dirty="0" sz="1300" spc="80" b="1">
                <a:solidFill>
                  <a:srgbClr val="0000FF"/>
                </a:solidFill>
                <a:latin typeface="宋体"/>
                <a:cs typeface="宋体"/>
              </a:rPr>
              <a:t>总</a:t>
            </a:r>
            <a:r>
              <a:rPr dirty="0" sz="1300" b="1">
                <a:solidFill>
                  <a:srgbClr val="0000FF"/>
                </a:solidFill>
                <a:latin typeface="宋体"/>
                <a:cs typeface="宋体"/>
              </a:rPr>
              <a:t>线</a:t>
            </a:r>
            <a:r>
              <a:rPr dirty="0" sz="1300" spc="-10" b="1">
                <a:solidFill>
                  <a:srgbClr val="0000FF"/>
                </a:solidFill>
                <a:latin typeface="宋体"/>
                <a:cs typeface="宋体"/>
              </a:rPr>
              <a:t>（</a:t>
            </a:r>
            <a:r>
              <a:rPr dirty="0" sz="1300" spc="-10" b="1">
                <a:solidFill>
                  <a:srgbClr val="0000FF"/>
                </a:solidFill>
                <a:latin typeface="Times New Roman"/>
                <a:cs typeface="Times New Roman"/>
              </a:rPr>
              <a:t>CDB</a:t>
            </a:r>
            <a:r>
              <a:rPr dirty="0" sz="1300" spc="-10" b="1">
                <a:solidFill>
                  <a:srgbClr val="0000FF"/>
                </a:solidFill>
                <a:latin typeface="宋体"/>
                <a:cs typeface="宋体"/>
              </a:rPr>
              <a:t>）</a:t>
            </a:r>
            <a:endParaRPr sz="1300">
              <a:latin typeface="宋体"/>
              <a:cs typeface="宋体"/>
            </a:endParaRPr>
          </a:p>
        </p:txBody>
      </p:sp>
      <p:sp>
        <p:nvSpPr>
          <p:cNvPr id="147" name="object 147" descr=""/>
          <p:cNvSpPr txBox="1"/>
          <p:nvPr/>
        </p:nvSpPr>
        <p:spPr>
          <a:xfrm>
            <a:off x="413715" y="6402120"/>
            <a:ext cx="7873365" cy="391160"/>
          </a:xfrm>
          <a:prstGeom prst="rect">
            <a:avLst/>
          </a:prstGeom>
        </p:spPr>
        <p:txBody>
          <a:bodyPr wrap="square" lIns="0" tIns="12700" rIns="0" bIns="0" rtlCol="0" vert="horz">
            <a:spAutoFit/>
          </a:bodyPr>
          <a:lstStyle/>
          <a:p>
            <a:pPr marL="12700">
              <a:lnSpc>
                <a:spcPct val="100000"/>
              </a:lnSpc>
              <a:spcBef>
                <a:spcPts val="100"/>
              </a:spcBef>
            </a:pPr>
            <a:r>
              <a:rPr dirty="0" sz="2400" spc="-225">
                <a:solidFill>
                  <a:srgbClr val="40458B"/>
                </a:solidFill>
                <a:latin typeface="黑体"/>
                <a:cs typeface="黑体"/>
              </a:rPr>
              <a:t>图 </a:t>
            </a:r>
            <a:r>
              <a:rPr dirty="0" sz="2400">
                <a:solidFill>
                  <a:srgbClr val="40458B"/>
                </a:solidFill>
                <a:latin typeface="Tahoma"/>
                <a:cs typeface="Tahoma"/>
              </a:rPr>
              <a:t>5.17</a:t>
            </a:r>
            <a:r>
              <a:rPr dirty="0" sz="2400" spc="30">
                <a:solidFill>
                  <a:srgbClr val="40458B"/>
                </a:solidFill>
                <a:latin typeface="Tahoma"/>
                <a:cs typeface="Tahoma"/>
              </a:rPr>
              <a:t> </a:t>
            </a:r>
            <a:r>
              <a:rPr dirty="0" sz="2400">
                <a:solidFill>
                  <a:srgbClr val="40458B"/>
                </a:solidFill>
                <a:latin typeface="黑体"/>
                <a:cs typeface="黑体"/>
              </a:rPr>
              <a:t>基于</a:t>
            </a:r>
            <a:r>
              <a:rPr dirty="0" sz="2400" spc="-45">
                <a:solidFill>
                  <a:srgbClr val="40458B"/>
                </a:solidFill>
                <a:latin typeface="Tahoma"/>
                <a:cs typeface="Tahoma"/>
              </a:rPr>
              <a:t>Tomasulo</a:t>
            </a:r>
            <a:r>
              <a:rPr dirty="0" sz="2400" spc="-5">
                <a:solidFill>
                  <a:srgbClr val="40458B"/>
                </a:solidFill>
                <a:latin typeface="黑体"/>
                <a:cs typeface="黑体"/>
              </a:rPr>
              <a:t>算法的支持前瞻执行的浮点部件结构</a:t>
            </a:r>
            <a:endParaRPr sz="2400">
              <a:latin typeface="黑体"/>
              <a:cs typeface="黑体"/>
            </a:endParaRPr>
          </a:p>
        </p:txBody>
      </p:sp>
      <p:sp>
        <p:nvSpPr>
          <p:cNvPr id="148" name="object 148" descr=""/>
          <p:cNvSpPr txBox="1"/>
          <p:nvPr/>
        </p:nvSpPr>
        <p:spPr>
          <a:xfrm>
            <a:off x="7759954" y="684402"/>
            <a:ext cx="4231005" cy="5717540"/>
          </a:xfrm>
          <a:prstGeom prst="rect">
            <a:avLst/>
          </a:prstGeom>
        </p:spPr>
        <p:txBody>
          <a:bodyPr wrap="square" lIns="0" tIns="12065" rIns="0" bIns="0" rtlCol="0" vert="horz">
            <a:spAutoFit/>
          </a:bodyPr>
          <a:lstStyle/>
          <a:p>
            <a:pPr marL="355600" marR="15240" indent="-342900">
              <a:lnSpc>
                <a:spcPct val="111300"/>
              </a:lnSpc>
              <a:spcBef>
                <a:spcPts val="95"/>
              </a:spcBef>
              <a:buFont typeface="Wingdings"/>
              <a:buChar char=""/>
              <a:tabLst>
                <a:tab pos="355600" algn="l"/>
              </a:tabLst>
            </a:pPr>
            <a:r>
              <a:rPr dirty="0" sz="2400" spc="-10">
                <a:solidFill>
                  <a:srgbClr val="40458B"/>
                </a:solidFill>
                <a:latin typeface="Calibri"/>
                <a:cs typeface="Calibri"/>
              </a:rPr>
              <a:t>ROB</a:t>
            </a:r>
            <a:r>
              <a:rPr dirty="0" sz="2400" spc="-5">
                <a:solidFill>
                  <a:srgbClr val="40458B"/>
                </a:solidFill>
                <a:latin typeface="黑体"/>
                <a:cs typeface="黑体"/>
              </a:rPr>
              <a:t>中包含</a:t>
            </a:r>
            <a:r>
              <a:rPr dirty="0" sz="2400" spc="-25">
                <a:solidFill>
                  <a:srgbClr val="40458B"/>
                </a:solidFill>
                <a:latin typeface="Calibri"/>
                <a:cs typeface="Calibri"/>
              </a:rPr>
              <a:t>Busy</a:t>
            </a:r>
            <a:r>
              <a:rPr dirty="0" sz="2400" spc="-10">
                <a:solidFill>
                  <a:srgbClr val="40458B"/>
                </a:solidFill>
                <a:latin typeface="黑体"/>
                <a:cs typeface="黑体"/>
              </a:rPr>
              <a:t>位，指示某一</a:t>
            </a:r>
            <a:r>
              <a:rPr dirty="0" sz="2400" spc="-5">
                <a:solidFill>
                  <a:srgbClr val="40458B"/>
                </a:solidFill>
                <a:latin typeface="黑体"/>
                <a:cs typeface="黑体"/>
              </a:rPr>
              <a:t>行是否正保存有指令；</a:t>
            </a:r>
            <a:endParaRPr sz="2400">
              <a:latin typeface="黑体"/>
              <a:cs typeface="黑体"/>
            </a:endParaRPr>
          </a:p>
          <a:p>
            <a:pPr marL="355600" marR="182880" indent="-342900">
              <a:lnSpc>
                <a:spcPts val="3210"/>
              </a:lnSpc>
              <a:spcBef>
                <a:spcPts val="145"/>
              </a:spcBef>
              <a:buFont typeface="Wingdings"/>
              <a:buChar char=""/>
              <a:tabLst>
                <a:tab pos="355600" algn="l"/>
              </a:tabLst>
            </a:pPr>
            <a:r>
              <a:rPr dirty="0" sz="2400" spc="-25">
                <a:solidFill>
                  <a:srgbClr val="40458B"/>
                </a:solidFill>
                <a:latin typeface="Calibri"/>
                <a:cs typeface="Calibri"/>
              </a:rPr>
              <a:t>State</a:t>
            </a:r>
            <a:r>
              <a:rPr dirty="0" sz="2400" spc="-5">
                <a:solidFill>
                  <a:srgbClr val="40458B"/>
                </a:solidFill>
                <a:latin typeface="黑体"/>
                <a:cs typeface="黑体"/>
              </a:rPr>
              <a:t>位用来指示保存的指令当前的运行情况，</a:t>
            </a:r>
            <a:r>
              <a:rPr dirty="0" sz="2400" spc="-10">
                <a:solidFill>
                  <a:srgbClr val="40458B"/>
                </a:solidFill>
                <a:latin typeface="Calibri"/>
                <a:cs typeface="Calibri"/>
              </a:rPr>
              <a:t>ROB</a:t>
            </a:r>
            <a:r>
              <a:rPr dirty="0" sz="2400" spc="-25">
                <a:solidFill>
                  <a:srgbClr val="40458B"/>
                </a:solidFill>
                <a:latin typeface="黑体"/>
                <a:cs typeface="黑体"/>
              </a:rPr>
              <a:t>就是</a:t>
            </a:r>
            <a:endParaRPr sz="2400">
              <a:latin typeface="黑体"/>
              <a:cs typeface="黑体"/>
            </a:endParaRPr>
          </a:p>
          <a:p>
            <a:pPr marL="355600" marR="184785">
              <a:lnSpc>
                <a:spcPts val="3190"/>
              </a:lnSpc>
              <a:spcBef>
                <a:spcPts val="5"/>
              </a:spcBef>
            </a:pPr>
            <a:r>
              <a:rPr dirty="0" sz="2400">
                <a:solidFill>
                  <a:srgbClr val="40458B"/>
                </a:solidFill>
                <a:latin typeface="黑体"/>
                <a:cs typeface="黑体"/>
              </a:rPr>
              <a:t>通过</a:t>
            </a:r>
            <a:r>
              <a:rPr dirty="0" sz="2400" spc="-25">
                <a:solidFill>
                  <a:srgbClr val="40458B"/>
                </a:solidFill>
                <a:latin typeface="Calibri"/>
                <a:cs typeface="Calibri"/>
              </a:rPr>
              <a:t>State</a:t>
            </a:r>
            <a:r>
              <a:rPr dirty="0" sz="2400" spc="-10">
                <a:solidFill>
                  <a:srgbClr val="40458B"/>
                </a:solidFill>
                <a:latin typeface="黑体"/>
                <a:cs typeface="黑体"/>
              </a:rPr>
              <a:t>的信息来判断某条</a:t>
            </a:r>
            <a:r>
              <a:rPr dirty="0" sz="2400" spc="-5">
                <a:solidFill>
                  <a:srgbClr val="40458B"/>
                </a:solidFill>
                <a:latin typeface="黑体"/>
                <a:cs typeface="黑体"/>
              </a:rPr>
              <a:t>指令是否可以提交，当最老</a:t>
            </a:r>
            <a:endParaRPr sz="2400">
              <a:latin typeface="黑体"/>
              <a:cs typeface="黑体"/>
            </a:endParaRPr>
          </a:p>
          <a:p>
            <a:pPr marL="355600">
              <a:lnSpc>
                <a:spcPct val="100000"/>
              </a:lnSpc>
              <a:spcBef>
                <a:spcPts val="170"/>
              </a:spcBef>
            </a:pPr>
            <a:r>
              <a:rPr dirty="0" sz="2400" spc="-15">
                <a:solidFill>
                  <a:srgbClr val="40458B"/>
                </a:solidFill>
                <a:latin typeface="黑体"/>
                <a:cs typeface="黑体"/>
              </a:rPr>
              <a:t>的指令还没到提交阶段时，</a:t>
            </a:r>
            <a:endParaRPr sz="2400">
              <a:latin typeface="黑体"/>
              <a:cs typeface="黑体"/>
            </a:endParaRPr>
          </a:p>
          <a:p>
            <a:pPr marL="355600">
              <a:lnSpc>
                <a:spcPct val="100000"/>
              </a:lnSpc>
              <a:spcBef>
                <a:spcPts val="325"/>
              </a:spcBef>
            </a:pPr>
            <a:r>
              <a:rPr dirty="0" sz="2400" spc="-10">
                <a:solidFill>
                  <a:srgbClr val="40458B"/>
                </a:solidFill>
                <a:latin typeface="Calibri"/>
                <a:cs typeface="Calibri"/>
              </a:rPr>
              <a:t>ROB</a:t>
            </a:r>
            <a:r>
              <a:rPr dirty="0" sz="2400" spc="-5">
                <a:solidFill>
                  <a:srgbClr val="40458B"/>
                </a:solidFill>
                <a:latin typeface="黑体"/>
                <a:cs typeface="黑体"/>
              </a:rPr>
              <a:t>中的所有指令都要等待</a:t>
            </a:r>
            <a:endParaRPr sz="2400">
              <a:latin typeface="黑体"/>
              <a:cs typeface="黑体"/>
            </a:endParaRPr>
          </a:p>
          <a:p>
            <a:pPr marL="355600">
              <a:lnSpc>
                <a:spcPct val="100000"/>
              </a:lnSpc>
              <a:spcBef>
                <a:spcPts val="315"/>
              </a:spcBef>
            </a:pPr>
            <a:r>
              <a:rPr dirty="0" sz="2400" spc="-10">
                <a:solidFill>
                  <a:srgbClr val="40458B"/>
                </a:solidFill>
                <a:latin typeface="黑体"/>
                <a:cs typeface="黑体"/>
              </a:rPr>
              <a:t>，不能提交；</a:t>
            </a:r>
            <a:endParaRPr sz="2400">
              <a:latin typeface="黑体"/>
              <a:cs typeface="黑体"/>
            </a:endParaRPr>
          </a:p>
          <a:p>
            <a:pPr marL="354965" indent="-342265">
              <a:lnSpc>
                <a:spcPct val="100000"/>
              </a:lnSpc>
              <a:spcBef>
                <a:spcPts val="325"/>
              </a:spcBef>
              <a:buFont typeface="Wingdings"/>
              <a:buChar char=""/>
              <a:tabLst>
                <a:tab pos="354965" algn="l"/>
              </a:tabLst>
            </a:pPr>
            <a:r>
              <a:rPr dirty="0" sz="2400" spc="-10">
                <a:solidFill>
                  <a:srgbClr val="40458B"/>
                </a:solidFill>
                <a:latin typeface="Calibri"/>
                <a:cs typeface="Calibri"/>
              </a:rPr>
              <a:t>Destination</a:t>
            </a:r>
            <a:r>
              <a:rPr dirty="0" sz="2400" spc="-20">
                <a:solidFill>
                  <a:srgbClr val="40458B"/>
                </a:solidFill>
                <a:latin typeface="黑体"/>
                <a:cs typeface="黑体"/>
              </a:rPr>
              <a:t>指示指令的目的寄</a:t>
            </a:r>
            <a:endParaRPr sz="2400">
              <a:latin typeface="黑体"/>
              <a:cs typeface="黑体"/>
            </a:endParaRPr>
          </a:p>
          <a:p>
            <a:pPr marL="355600">
              <a:lnSpc>
                <a:spcPct val="100000"/>
              </a:lnSpc>
              <a:spcBef>
                <a:spcPts val="325"/>
              </a:spcBef>
            </a:pPr>
            <a:r>
              <a:rPr dirty="0" sz="2400" spc="-20">
                <a:solidFill>
                  <a:srgbClr val="40458B"/>
                </a:solidFill>
                <a:latin typeface="黑体"/>
                <a:cs typeface="黑体"/>
              </a:rPr>
              <a:t>存器；</a:t>
            </a:r>
            <a:endParaRPr sz="2400">
              <a:latin typeface="黑体"/>
              <a:cs typeface="黑体"/>
            </a:endParaRPr>
          </a:p>
          <a:p>
            <a:pPr marL="355600" marR="131445" indent="-342900">
              <a:lnSpc>
                <a:spcPts val="3200"/>
              </a:lnSpc>
              <a:spcBef>
                <a:spcPts val="150"/>
              </a:spcBef>
              <a:buFont typeface="Wingdings"/>
              <a:buChar char=""/>
              <a:tabLst>
                <a:tab pos="355600" algn="l"/>
              </a:tabLst>
            </a:pPr>
            <a:r>
              <a:rPr dirty="0" sz="2400" spc="-45">
                <a:solidFill>
                  <a:srgbClr val="40458B"/>
                </a:solidFill>
                <a:latin typeface="Calibri"/>
                <a:cs typeface="Calibri"/>
              </a:rPr>
              <a:t>Value</a:t>
            </a:r>
            <a:r>
              <a:rPr dirty="0" sz="2400" spc="-5">
                <a:solidFill>
                  <a:srgbClr val="40458B"/>
                </a:solidFill>
                <a:latin typeface="黑体"/>
                <a:cs typeface="黑体"/>
              </a:rPr>
              <a:t>保存指令的结果，当指</a:t>
            </a:r>
            <a:r>
              <a:rPr dirty="0" sz="2400" spc="-15">
                <a:solidFill>
                  <a:srgbClr val="40458B"/>
                </a:solidFill>
                <a:latin typeface="黑体"/>
                <a:cs typeface="黑体"/>
              </a:rPr>
              <a:t>令可以提交，就直接提交</a:t>
            </a:r>
            <a:endParaRPr sz="2400">
              <a:latin typeface="黑体"/>
              <a:cs typeface="黑体"/>
            </a:endParaRPr>
          </a:p>
          <a:p>
            <a:pPr marL="355600">
              <a:lnSpc>
                <a:spcPct val="100000"/>
              </a:lnSpc>
              <a:spcBef>
                <a:spcPts val="170"/>
              </a:spcBef>
            </a:pPr>
            <a:r>
              <a:rPr dirty="0" sz="2400" spc="-45">
                <a:solidFill>
                  <a:srgbClr val="40458B"/>
                </a:solidFill>
                <a:latin typeface="Calibri"/>
                <a:cs typeface="Calibri"/>
              </a:rPr>
              <a:t>Value</a:t>
            </a:r>
            <a:r>
              <a:rPr dirty="0" sz="2400" spc="-10">
                <a:solidFill>
                  <a:srgbClr val="40458B"/>
                </a:solidFill>
                <a:latin typeface="黑体"/>
                <a:cs typeface="黑体"/>
              </a:rPr>
              <a:t>到逻辑寄存器。</a:t>
            </a:r>
            <a:endParaRPr sz="2400">
              <a:latin typeface="黑体"/>
              <a:cs typeface="黑体"/>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142/175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497230" y="1124874"/>
            <a:ext cx="10984865" cy="4705985"/>
          </a:xfrm>
          <a:prstGeom prst="rect">
            <a:avLst/>
          </a:prstGeom>
        </p:spPr>
        <p:txBody>
          <a:bodyPr wrap="square" lIns="0" tIns="164465" rIns="0" bIns="0" rtlCol="0" vert="horz">
            <a:spAutoFit/>
          </a:bodyPr>
          <a:lstStyle/>
          <a:p>
            <a:pPr marL="512445" indent="-457200">
              <a:lnSpc>
                <a:spcPct val="100000"/>
              </a:lnSpc>
              <a:spcBef>
                <a:spcPts val="1295"/>
              </a:spcBef>
              <a:buClr>
                <a:srgbClr val="40458B"/>
              </a:buClr>
              <a:buSzPct val="89583"/>
              <a:buFont typeface="Wingdings"/>
              <a:buChar char=""/>
              <a:tabLst>
                <a:tab pos="512445" algn="l"/>
              </a:tabLst>
            </a:pPr>
            <a:r>
              <a:rPr dirty="0" sz="2400">
                <a:solidFill>
                  <a:srgbClr val="9933FF"/>
                </a:solidFill>
                <a:latin typeface="黑体"/>
                <a:cs typeface="黑体"/>
              </a:rPr>
              <a:t>ROB</a:t>
            </a:r>
            <a:r>
              <a:rPr dirty="0" sz="2400">
                <a:solidFill>
                  <a:srgbClr val="40458B"/>
                </a:solidFill>
                <a:latin typeface="黑体"/>
                <a:cs typeface="黑体"/>
              </a:rPr>
              <a:t>中的每一项由以下</a:t>
            </a:r>
            <a:r>
              <a:rPr dirty="0" sz="2400">
                <a:solidFill>
                  <a:srgbClr val="9933FF"/>
                </a:solidFill>
                <a:latin typeface="黑体"/>
                <a:cs typeface="黑体"/>
              </a:rPr>
              <a:t>4</a:t>
            </a:r>
            <a:r>
              <a:rPr dirty="0" sz="2400" spc="-10">
                <a:solidFill>
                  <a:srgbClr val="40458B"/>
                </a:solidFill>
                <a:latin typeface="黑体"/>
                <a:cs typeface="黑体"/>
              </a:rPr>
              <a:t>个字段组成：</a:t>
            </a:r>
            <a:endParaRPr sz="2400">
              <a:latin typeface="黑体"/>
              <a:cs typeface="黑体"/>
            </a:endParaRPr>
          </a:p>
          <a:p>
            <a:pPr marL="469265" indent="-456565">
              <a:lnSpc>
                <a:spcPct val="100000"/>
              </a:lnSpc>
              <a:spcBef>
                <a:spcPts val="1090"/>
              </a:spcBef>
              <a:buClr>
                <a:srgbClr val="4668F5"/>
              </a:buClr>
              <a:buSzPct val="68181"/>
              <a:buFont typeface="Wingdings"/>
              <a:buChar char=""/>
              <a:tabLst>
                <a:tab pos="469265" algn="l"/>
              </a:tabLst>
            </a:pPr>
            <a:r>
              <a:rPr dirty="0" sz="2200" spc="-30" b="1">
                <a:solidFill>
                  <a:srgbClr val="D50092"/>
                </a:solidFill>
                <a:latin typeface="宋体"/>
                <a:cs typeface="宋体"/>
              </a:rPr>
              <a:t>指令类型</a:t>
            </a:r>
            <a:endParaRPr sz="2200">
              <a:latin typeface="宋体"/>
              <a:cs typeface="宋体"/>
            </a:endParaRPr>
          </a:p>
          <a:p>
            <a:pPr marL="577850">
              <a:lnSpc>
                <a:spcPct val="100000"/>
              </a:lnSpc>
              <a:spcBef>
                <a:spcPts val="1055"/>
              </a:spcBef>
            </a:pPr>
            <a:r>
              <a:rPr dirty="0" sz="2200" spc="-20" b="1">
                <a:solidFill>
                  <a:srgbClr val="9966FF"/>
                </a:solidFill>
                <a:latin typeface="宋体"/>
                <a:cs typeface="宋体"/>
              </a:rPr>
              <a:t>指出该指令是分支指令（尚未结果）</a:t>
            </a:r>
            <a:r>
              <a:rPr dirty="0" sz="2200" spc="-50" b="1">
                <a:solidFill>
                  <a:srgbClr val="9966FF"/>
                </a:solidFill>
                <a:latin typeface="宋体"/>
                <a:cs typeface="宋体"/>
              </a:rPr>
              <a:t>、</a:t>
            </a:r>
            <a:r>
              <a:rPr dirty="0" sz="2200" spc="-10" b="1">
                <a:solidFill>
                  <a:srgbClr val="9933FF"/>
                </a:solidFill>
                <a:latin typeface="宋体"/>
                <a:cs typeface="宋体"/>
              </a:rPr>
              <a:t>store</a:t>
            </a:r>
            <a:r>
              <a:rPr dirty="0" sz="2200" spc="-30" b="1">
                <a:solidFill>
                  <a:srgbClr val="9966FF"/>
                </a:solidFill>
                <a:latin typeface="宋体"/>
                <a:cs typeface="宋体"/>
              </a:rPr>
              <a:t>指令或寄存器操作指令。</a:t>
            </a:r>
            <a:endParaRPr sz="2200">
              <a:latin typeface="宋体"/>
              <a:cs typeface="宋体"/>
            </a:endParaRPr>
          </a:p>
          <a:p>
            <a:pPr marL="469265" indent="-456565">
              <a:lnSpc>
                <a:spcPct val="100000"/>
              </a:lnSpc>
              <a:spcBef>
                <a:spcPts val="1060"/>
              </a:spcBef>
              <a:buClr>
                <a:srgbClr val="4668F5"/>
              </a:buClr>
              <a:buSzPct val="68181"/>
              <a:buFont typeface="Wingdings"/>
              <a:buChar char=""/>
              <a:tabLst>
                <a:tab pos="469265" algn="l"/>
              </a:tabLst>
            </a:pPr>
            <a:r>
              <a:rPr dirty="0" sz="2200" spc="-30" b="1">
                <a:solidFill>
                  <a:srgbClr val="D50092"/>
                </a:solidFill>
                <a:latin typeface="宋体"/>
                <a:cs typeface="宋体"/>
              </a:rPr>
              <a:t>目标地址</a:t>
            </a:r>
            <a:endParaRPr sz="2200">
              <a:latin typeface="宋体"/>
              <a:cs typeface="宋体"/>
            </a:endParaRPr>
          </a:p>
          <a:p>
            <a:pPr marL="469900" marR="5080" indent="532130">
              <a:lnSpc>
                <a:spcPct val="120000"/>
              </a:lnSpc>
              <a:spcBef>
                <a:spcPts val="530"/>
              </a:spcBef>
            </a:pPr>
            <a:r>
              <a:rPr dirty="0" sz="2200" spc="-20" b="1">
                <a:solidFill>
                  <a:srgbClr val="9966FF"/>
                </a:solidFill>
                <a:latin typeface="宋体"/>
                <a:cs typeface="宋体"/>
              </a:rPr>
              <a:t>给出指令执行结果应写入的目标寄存器号（</a:t>
            </a:r>
            <a:r>
              <a:rPr dirty="0" sz="2200" spc="-10" b="1">
                <a:solidFill>
                  <a:srgbClr val="9966FF"/>
                </a:solidFill>
                <a:latin typeface="宋体"/>
                <a:cs typeface="宋体"/>
              </a:rPr>
              <a:t>如果是</a:t>
            </a:r>
            <a:r>
              <a:rPr dirty="0" sz="2200" spc="-10" b="1">
                <a:solidFill>
                  <a:srgbClr val="9933FF"/>
                </a:solidFill>
                <a:latin typeface="宋体"/>
                <a:cs typeface="宋体"/>
              </a:rPr>
              <a:t>load</a:t>
            </a:r>
            <a:r>
              <a:rPr dirty="0" sz="2200" spc="-20" b="1">
                <a:solidFill>
                  <a:srgbClr val="9966FF"/>
                </a:solidFill>
                <a:latin typeface="宋体"/>
                <a:cs typeface="宋体"/>
              </a:rPr>
              <a:t>和</a:t>
            </a:r>
            <a:r>
              <a:rPr dirty="0" sz="2200" spc="-10" b="1">
                <a:solidFill>
                  <a:srgbClr val="9933FF"/>
                </a:solidFill>
                <a:latin typeface="宋体"/>
                <a:cs typeface="宋体"/>
              </a:rPr>
              <a:t>ALU</a:t>
            </a:r>
            <a:r>
              <a:rPr dirty="0" sz="2200" spc="-25" b="1">
                <a:solidFill>
                  <a:srgbClr val="9966FF"/>
                </a:solidFill>
                <a:latin typeface="宋体"/>
                <a:cs typeface="宋体"/>
              </a:rPr>
              <a:t>指令）</a:t>
            </a:r>
            <a:r>
              <a:rPr dirty="0" sz="2200" spc="-30" b="1">
                <a:solidFill>
                  <a:srgbClr val="9966FF"/>
                </a:solidFill>
                <a:latin typeface="宋体"/>
                <a:cs typeface="宋体"/>
              </a:rPr>
              <a:t>或存储器单元</a:t>
            </a:r>
            <a:r>
              <a:rPr dirty="0" sz="2200" spc="-20" b="1">
                <a:solidFill>
                  <a:srgbClr val="9966FF"/>
                </a:solidFill>
                <a:latin typeface="宋体"/>
                <a:cs typeface="宋体"/>
              </a:rPr>
              <a:t>的地址（如果是</a:t>
            </a:r>
            <a:r>
              <a:rPr dirty="0" sz="2200" spc="-10" b="1">
                <a:solidFill>
                  <a:srgbClr val="9933FF"/>
                </a:solidFill>
                <a:latin typeface="宋体"/>
                <a:cs typeface="宋体"/>
              </a:rPr>
              <a:t>store</a:t>
            </a:r>
            <a:r>
              <a:rPr dirty="0" sz="2200" spc="-20" b="1">
                <a:solidFill>
                  <a:srgbClr val="9966FF"/>
                </a:solidFill>
                <a:latin typeface="宋体"/>
                <a:cs typeface="宋体"/>
              </a:rPr>
              <a:t>指令）</a:t>
            </a:r>
            <a:r>
              <a:rPr dirty="0" sz="2200" spc="-50" b="1">
                <a:solidFill>
                  <a:srgbClr val="9966FF"/>
                </a:solidFill>
                <a:latin typeface="宋体"/>
                <a:cs typeface="宋体"/>
              </a:rPr>
              <a:t>。</a:t>
            </a:r>
            <a:endParaRPr sz="2200">
              <a:latin typeface="宋体"/>
              <a:cs typeface="宋体"/>
            </a:endParaRPr>
          </a:p>
          <a:p>
            <a:pPr marL="469265" indent="-456565">
              <a:lnSpc>
                <a:spcPct val="100000"/>
              </a:lnSpc>
              <a:spcBef>
                <a:spcPts val="1055"/>
              </a:spcBef>
              <a:buClr>
                <a:srgbClr val="4668F5"/>
              </a:buClr>
              <a:buSzPct val="68181"/>
              <a:buFont typeface="Wingdings"/>
              <a:buChar char=""/>
              <a:tabLst>
                <a:tab pos="469265" algn="l"/>
              </a:tabLst>
            </a:pPr>
            <a:r>
              <a:rPr dirty="0" sz="2200" spc="-30" b="1">
                <a:solidFill>
                  <a:srgbClr val="D50092"/>
                </a:solidFill>
                <a:latin typeface="宋体"/>
                <a:cs typeface="宋体"/>
              </a:rPr>
              <a:t>数据值字段</a:t>
            </a:r>
            <a:endParaRPr sz="2200">
              <a:latin typeface="宋体"/>
              <a:cs typeface="宋体"/>
            </a:endParaRPr>
          </a:p>
          <a:p>
            <a:pPr marL="436245">
              <a:lnSpc>
                <a:spcPct val="100000"/>
              </a:lnSpc>
              <a:spcBef>
                <a:spcPts val="1060"/>
              </a:spcBef>
            </a:pPr>
            <a:r>
              <a:rPr dirty="0" sz="2200" spc="-25" b="1">
                <a:solidFill>
                  <a:srgbClr val="9966FF"/>
                </a:solidFill>
                <a:latin typeface="宋体"/>
                <a:cs typeface="宋体"/>
              </a:rPr>
              <a:t>用来保存指令前瞻执行的结果，直到指令得到确认。</a:t>
            </a:r>
            <a:endParaRPr sz="2200">
              <a:latin typeface="宋体"/>
              <a:cs typeface="宋体"/>
            </a:endParaRPr>
          </a:p>
          <a:p>
            <a:pPr marL="469265" indent="-456565">
              <a:lnSpc>
                <a:spcPct val="100000"/>
              </a:lnSpc>
              <a:spcBef>
                <a:spcPts val="1055"/>
              </a:spcBef>
              <a:buClr>
                <a:srgbClr val="4668F5"/>
              </a:buClr>
              <a:buSzPct val="68181"/>
              <a:buFont typeface="Wingdings"/>
              <a:buChar char=""/>
              <a:tabLst>
                <a:tab pos="469265" algn="l"/>
              </a:tabLst>
            </a:pPr>
            <a:r>
              <a:rPr dirty="0" sz="2200" spc="-30" b="1">
                <a:solidFill>
                  <a:srgbClr val="D50092"/>
                </a:solidFill>
                <a:latin typeface="宋体"/>
                <a:cs typeface="宋体"/>
              </a:rPr>
              <a:t>就绪字段</a:t>
            </a:r>
            <a:endParaRPr sz="2200">
              <a:latin typeface="宋体"/>
              <a:cs typeface="宋体"/>
            </a:endParaRPr>
          </a:p>
          <a:p>
            <a:pPr marL="436245">
              <a:lnSpc>
                <a:spcPct val="100000"/>
              </a:lnSpc>
              <a:spcBef>
                <a:spcPts val="1055"/>
              </a:spcBef>
            </a:pPr>
            <a:r>
              <a:rPr dirty="0" sz="2200" spc="-30" b="1">
                <a:solidFill>
                  <a:srgbClr val="9966FF"/>
                </a:solidFill>
                <a:latin typeface="宋体"/>
                <a:cs typeface="宋体"/>
              </a:rPr>
              <a:t>指出指令是否已经完成执行并且数据已就绪。</a:t>
            </a:r>
            <a:endParaRPr sz="2200">
              <a:latin typeface="宋体"/>
              <a:cs typeface="宋体"/>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143/175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486867" y="1136558"/>
            <a:ext cx="11036935" cy="3926204"/>
          </a:xfrm>
          <a:prstGeom prst="rect">
            <a:avLst/>
          </a:prstGeom>
        </p:spPr>
        <p:txBody>
          <a:bodyPr wrap="square" lIns="0" tIns="153035" rIns="0" bIns="0" rtlCol="0" vert="horz">
            <a:spAutoFit/>
          </a:bodyPr>
          <a:lstStyle/>
          <a:p>
            <a:pPr marL="1099185" indent="-457200">
              <a:lnSpc>
                <a:spcPct val="100000"/>
              </a:lnSpc>
              <a:spcBef>
                <a:spcPts val="1205"/>
              </a:spcBef>
              <a:buSzPct val="89583"/>
              <a:buFont typeface="Wingdings"/>
              <a:buChar char=""/>
              <a:tabLst>
                <a:tab pos="1099185" algn="l"/>
              </a:tabLst>
            </a:pPr>
            <a:r>
              <a:rPr dirty="0" sz="2400">
                <a:solidFill>
                  <a:srgbClr val="40458B"/>
                </a:solidFill>
                <a:latin typeface="黑体"/>
                <a:cs typeface="黑体"/>
              </a:rPr>
              <a:t>Tomasulo算法中保留站的换名功能是由</a:t>
            </a:r>
            <a:r>
              <a:rPr dirty="0" sz="2400">
                <a:solidFill>
                  <a:srgbClr val="9933FF"/>
                </a:solidFill>
                <a:latin typeface="黑体"/>
                <a:cs typeface="黑体"/>
              </a:rPr>
              <a:t>ROB</a:t>
            </a:r>
            <a:r>
              <a:rPr dirty="0" sz="2400" spc="-10">
                <a:solidFill>
                  <a:srgbClr val="40458B"/>
                </a:solidFill>
                <a:latin typeface="黑体"/>
                <a:cs typeface="黑体"/>
              </a:rPr>
              <a:t>来完成的。</a:t>
            </a:r>
            <a:endParaRPr sz="2400">
              <a:latin typeface="黑体"/>
              <a:cs typeface="黑体"/>
            </a:endParaRPr>
          </a:p>
          <a:p>
            <a:pPr marL="468630" indent="-455930">
              <a:lnSpc>
                <a:spcPct val="100000"/>
              </a:lnSpc>
              <a:spcBef>
                <a:spcPts val="1280"/>
              </a:spcBef>
              <a:buClr>
                <a:srgbClr val="40458B"/>
              </a:buClr>
              <a:buFont typeface="Tahoma"/>
              <a:buAutoNum type="arabicPeriod" startAt="5"/>
              <a:tabLst>
                <a:tab pos="468630" algn="l"/>
              </a:tabLst>
            </a:pPr>
            <a:r>
              <a:rPr dirty="0" sz="2800" spc="-40">
                <a:solidFill>
                  <a:srgbClr val="001F5F"/>
                </a:solidFill>
                <a:latin typeface="黑体"/>
                <a:cs typeface="黑体"/>
              </a:rPr>
              <a:t>采用前瞻执行机制后，指令的执行步骤：</a:t>
            </a:r>
            <a:endParaRPr sz="2800">
              <a:latin typeface="黑体"/>
              <a:cs typeface="黑体"/>
            </a:endParaRPr>
          </a:p>
          <a:p>
            <a:pPr marL="599440">
              <a:lnSpc>
                <a:spcPct val="100000"/>
              </a:lnSpc>
              <a:spcBef>
                <a:spcPts val="1155"/>
              </a:spcBef>
            </a:pPr>
            <a:r>
              <a:rPr dirty="0" sz="2200" spc="-20" b="1">
                <a:solidFill>
                  <a:srgbClr val="9966FF"/>
                </a:solidFill>
                <a:latin typeface="宋体"/>
                <a:cs typeface="宋体"/>
              </a:rPr>
              <a:t>（在</a:t>
            </a:r>
            <a:r>
              <a:rPr dirty="0" sz="2200" spc="-10" b="1">
                <a:solidFill>
                  <a:srgbClr val="9966FF"/>
                </a:solidFill>
                <a:latin typeface="宋体"/>
                <a:cs typeface="宋体"/>
              </a:rPr>
              <a:t>Tomasulo</a:t>
            </a:r>
            <a:r>
              <a:rPr dirty="0" sz="2200" spc="-55" b="1">
                <a:solidFill>
                  <a:srgbClr val="9966FF"/>
                </a:solidFill>
                <a:latin typeface="宋体"/>
                <a:cs typeface="宋体"/>
              </a:rPr>
              <a:t>算法的基础上改造的 </a:t>
            </a:r>
            <a:r>
              <a:rPr dirty="0" sz="2200" spc="-50" b="1">
                <a:solidFill>
                  <a:srgbClr val="9966FF"/>
                </a:solidFill>
                <a:latin typeface="宋体"/>
                <a:cs typeface="宋体"/>
              </a:rPr>
              <a:t>）</a:t>
            </a:r>
            <a:endParaRPr sz="2200">
              <a:latin typeface="宋体"/>
              <a:cs typeface="宋体"/>
            </a:endParaRPr>
          </a:p>
          <a:p>
            <a:pPr lvl="1" marL="1099185" indent="-457200">
              <a:lnSpc>
                <a:spcPct val="100000"/>
              </a:lnSpc>
              <a:spcBef>
                <a:spcPts val="1120"/>
              </a:spcBef>
              <a:buSzPct val="89583"/>
              <a:buFont typeface="Wingdings"/>
              <a:buChar char=""/>
              <a:tabLst>
                <a:tab pos="1099185" algn="l"/>
              </a:tabLst>
            </a:pPr>
            <a:r>
              <a:rPr dirty="0" sz="2400" spc="-30">
                <a:solidFill>
                  <a:srgbClr val="40458B"/>
                </a:solidFill>
                <a:latin typeface="黑体"/>
                <a:cs typeface="黑体"/>
              </a:rPr>
              <a:t>流出</a:t>
            </a:r>
            <a:endParaRPr sz="2400">
              <a:latin typeface="黑体"/>
              <a:cs typeface="黑体"/>
            </a:endParaRPr>
          </a:p>
          <a:p>
            <a:pPr marL="1056005" indent="-456565">
              <a:lnSpc>
                <a:spcPct val="100000"/>
              </a:lnSpc>
              <a:spcBef>
                <a:spcPts val="1090"/>
              </a:spcBef>
              <a:buClr>
                <a:srgbClr val="4668F5"/>
              </a:buClr>
              <a:buSzPct val="68181"/>
              <a:buFont typeface="Wingdings"/>
              <a:buChar char=""/>
              <a:tabLst>
                <a:tab pos="1056005" algn="l"/>
              </a:tabLst>
            </a:pPr>
            <a:r>
              <a:rPr dirty="0" sz="2200" spc="-25" b="1">
                <a:solidFill>
                  <a:srgbClr val="9966FF"/>
                </a:solidFill>
                <a:latin typeface="宋体"/>
                <a:cs typeface="宋体"/>
              </a:rPr>
              <a:t>从浮点指令队列的头部取一条指令。</a:t>
            </a:r>
            <a:endParaRPr sz="2200">
              <a:latin typeface="宋体"/>
              <a:cs typeface="宋体"/>
            </a:endParaRPr>
          </a:p>
          <a:p>
            <a:pPr marL="1056005" indent="-456565">
              <a:lnSpc>
                <a:spcPct val="100000"/>
              </a:lnSpc>
              <a:spcBef>
                <a:spcPts val="1055"/>
              </a:spcBef>
              <a:buClr>
                <a:srgbClr val="4668F5"/>
              </a:buClr>
              <a:buSzPct val="68181"/>
              <a:buFont typeface="Wingdings"/>
              <a:buChar char=""/>
              <a:tabLst>
                <a:tab pos="1056005" algn="l"/>
              </a:tabLst>
            </a:pPr>
            <a:r>
              <a:rPr dirty="0" sz="2200" spc="-20" b="1">
                <a:solidFill>
                  <a:srgbClr val="9966FF"/>
                </a:solidFill>
                <a:latin typeface="宋体"/>
                <a:cs typeface="宋体"/>
              </a:rPr>
              <a:t>如果有空闲的保留站（设为</a:t>
            </a:r>
            <a:r>
              <a:rPr dirty="0" sz="2200" spc="-20" b="1">
                <a:solidFill>
                  <a:srgbClr val="CC3300"/>
                </a:solidFill>
                <a:latin typeface="宋体"/>
                <a:cs typeface="宋体"/>
              </a:rPr>
              <a:t>r</a:t>
            </a:r>
            <a:r>
              <a:rPr dirty="0" sz="2200" spc="-20" b="1">
                <a:solidFill>
                  <a:srgbClr val="9966FF"/>
                </a:solidFill>
                <a:latin typeface="宋体"/>
                <a:cs typeface="宋体"/>
              </a:rPr>
              <a:t>）且有空闲的</a:t>
            </a:r>
            <a:r>
              <a:rPr dirty="0" sz="2200" spc="-10" b="1">
                <a:solidFill>
                  <a:srgbClr val="9966FF"/>
                </a:solidFill>
                <a:latin typeface="宋体"/>
                <a:cs typeface="宋体"/>
              </a:rPr>
              <a:t>ROB</a:t>
            </a:r>
            <a:r>
              <a:rPr dirty="0" sz="2200" spc="-20" b="1">
                <a:solidFill>
                  <a:srgbClr val="9966FF"/>
                </a:solidFill>
                <a:latin typeface="宋体"/>
                <a:cs typeface="宋体"/>
              </a:rPr>
              <a:t>项</a:t>
            </a:r>
            <a:r>
              <a:rPr dirty="0" sz="2200" spc="-10" b="1">
                <a:solidFill>
                  <a:srgbClr val="9966FF"/>
                </a:solidFill>
                <a:latin typeface="宋体"/>
                <a:cs typeface="宋体"/>
              </a:rPr>
              <a:t>（</a:t>
            </a:r>
            <a:r>
              <a:rPr dirty="0" sz="2200" spc="-20" b="1">
                <a:solidFill>
                  <a:srgbClr val="9966FF"/>
                </a:solidFill>
                <a:latin typeface="宋体"/>
                <a:cs typeface="宋体"/>
              </a:rPr>
              <a:t>设为</a:t>
            </a:r>
            <a:r>
              <a:rPr dirty="0" sz="2200" spc="-10" b="1">
                <a:solidFill>
                  <a:srgbClr val="9933FF"/>
                </a:solidFill>
                <a:latin typeface="宋体"/>
                <a:cs typeface="宋体"/>
              </a:rPr>
              <a:t>b</a:t>
            </a:r>
            <a:r>
              <a:rPr dirty="0" sz="2200" spc="-10" b="1">
                <a:solidFill>
                  <a:srgbClr val="9966FF"/>
                </a:solidFill>
                <a:latin typeface="宋体"/>
                <a:cs typeface="宋体"/>
              </a:rPr>
              <a:t>）</a:t>
            </a:r>
            <a:r>
              <a:rPr dirty="0" sz="2200" spc="-30" b="1">
                <a:solidFill>
                  <a:srgbClr val="9966FF"/>
                </a:solidFill>
                <a:latin typeface="宋体"/>
                <a:cs typeface="宋体"/>
              </a:rPr>
              <a:t>，就流出该指令，并把</a:t>
            </a:r>
            <a:endParaRPr sz="2200">
              <a:latin typeface="宋体"/>
              <a:cs typeface="宋体"/>
            </a:endParaRPr>
          </a:p>
          <a:p>
            <a:pPr marL="1056640">
              <a:lnSpc>
                <a:spcPct val="100000"/>
              </a:lnSpc>
              <a:spcBef>
                <a:spcPts val="525"/>
              </a:spcBef>
            </a:pPr>
            <a:r>
              <a:rPr dirty="0" sz="2200" spc="-25" b="1">
                <a:solidFill>
                  <a:srgbClr val="9966FF"/>
                </a:solidFill>
                <a:latin typeface="宋体"/>
                <a:cs typeface="宋体"/>
              </a:rPr>
              <a:t>相应的信息放入保留站</a:t>
            </a:r>
            <a:r>
              <a:rPr dirty="0" sz="2200" spc="-10" b="1">
                <a:solidFill>
                  <a:srgbClr val="E14B04"/>
                </a:solidFill>
                <a:latin typeface="宋体"/>
                <a:cs typeface="宋体"/>
              </a:rPr>
              <a:t>r</a:t>
            </a:r>
            <a:r>
              <a:rPr dirty="0" sz="2200" spc="-25" b="1">
                <a:solidFill>
                  <a:srgbClr val="9966FF"/>
                </a:solidFill>
                <a:latin typeface="宋体"/>
                <a:cs typeface="宋体"/>
              </a:rPr>
              <a:t>和</a:t>
            </a:r>
            <a:r>
              <a:rPr dirty="0" sz="2200" spc="-10" b="1">
                <a:solidFill>
                  <a:srgbClr val="9966FF"/>
                </a:solidFill>
                <a:latin typeface="宋体"/>
                <a:cs typeface="宋体"/>
              </a:rPr>
              <a:t>ROB</a:t>
            </a:r>
            <a:r>
              <a:rPr dirty="0" sz="2200" spc="-25" b="1">
                <a:solidFill>
                  <a:srgbClr val="9966FF"/>
                </a:solidFill>
                <a:latin typeface="宋体"/>
                <a:cs typeface="宋体"/>
              </a:rPr>
              <a:t>项</a:t>
            </a:r>
            <a:r>
              <a:rPr dirty="0" sz="2200" spc="-10" b="1">
                <a:solidFill>
                  <a:srgbClr val="9933FF"/>
                </a:solidFill>
                <a:latin typeface="宋体"/>
                <a:cs typeface="宋体"/>
              </a:rPr>
              <a:t>b</a:t>
            </a:r>
            <a:r>
              <a:rPr dirty="0" sz="2200" spc="-50" b="1">
                <a:solidFill>
                  <a:srgbClr val="9966FF"/>
                </a:solidFill>
                <a:latin typeface="宋体"/>
                <a:cs typeface="宋体"/>
              </a:rPr>
              <a:t>。</a:t>
            </a:r>
            <a:endParaRPr sz="2200">
              <a:latin typeface="宋体"/>
              <a:cs typeface="宋体"/>
            </a:endParaRPr>
          </a:p>
          <a:p>
            <a:pPr marL="1056005" indent="-456565">
              <a:lnSpc>
                <a:spcPct val="100000"/>
              </a:lnSpc>
              <a:spcBef>
                <a:spcPts val="1060"/>
              </a:spcBef>
              <a:buClr>
                <a:srgbClr val="4668F5"/>
              </a:buClr>
              <a:buSzPct val="68181"/>
              <a:buFont typeface="Wingdings"/>
              <a:buChar char=""/>
              <a:tabLst>
                <a:tab pos="1056005" algn="l"/>
              </a:tabLst>
            </a:pPr>
            <a:r>
              <a:rPr dirty="0" sz="2200" spc="-20" b="1">
                <a:solidFill>
                  <a:srgbClr val="9966FF"/>
                </a:solidFill>
                <a:latin typeface="宋体"/>
                <a:cs typeface="宋体"/>
              </a:rPr>
              <a:t>如果保留站或</a:t>
            </a:r>
            <a:r>
              <a:rPr dirty="0" sz="2200" spc="-10" b="1">
                <a:solidFill>
                  <a:srgbClr val="9966FF"/>
                </a:solidFill>
                <a:latin typeface="宋体"/>
                <a:cs typeface="宋体"/>
              </a:rPr>
              <a:t>ROB</a:t>
            </a:r>
            <a:r>
              <a:rPr dirty="0" sz="2200" spc="-25" b="1">
                <a:solidFill>
                  <a:srgbClr val="9966FF"/>
                </a:solidFill>
                <a:latin typeface="宋体"/>
                <a:cs typeface="宋体"/>
              </a:rPr>
              <a:t>全满，便停止流出指令，直到它们都有空闲的项。</a:t>
            </a:r>
            <a:endParaRPr sz="2200">
              <a:latin typeface="宋体"/>
              <a:cs typeface="宋体"/>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144/175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708151" y="1071277"/>
            <a:ext cx="11225530" cy="4871085"/>
          </a:xfrm>
          <a:prstGeom prst="rect">
            <a:avLst/>
          </a:prstGeom>
        </p:spPr>
        <p:txBody>
          <a:bodyPr wrap="square" lIns="0" tIns="200025" rIns="0" bIns="0" rtlCol="0" vert="horz">
            <a:spAutoFit/>
          </a:bodyPr>
          <a:lstStyle/>
          <a:p>
            <a:pPr marL="469900" indent="-457200">
              <a:lnSpc>
                <a:spcPct val="100000"/>
              </a:lnSpc>
              <a:spcBef>
                <a:spcPts val="1575"/>
              </a:spcBef>
              <a:buSzPct val="89285"/>
              <a:buFont typeface="Wingdings"/>
              <a:buChar char=""/>
              <a:tabLst>
                <a:tab pos="469900" algn="l"/>
              </a:tabLst>
            </a:pPr>
            <a:r>
              <a:rPr dirty="0" sz="2800" spc="-45">
                <a:solidFill>
                  <a:srgbClr val="40458B"/>
                </a:solidFill>
                <a:latin typeface="黑体"/>
                <a:cs typeface="黑体"/>
              </a:rPr>
              <a:t>执行</a:t>
            </a:r>
            <a:endParaRPr sz="2800">
              <a:latin typeface="黑体"/>
              <a:cs typeface="黑体"/>
            </a:endParaRPr>
          </a:p>
          <a:p>
            <a:pPr lvl="1" marL="643255" indent="-457200">
              <a:lnSpc>
                <a:spcPct val="100000"/>
              </a:lnSpc>
              <a:spcBef>
                <a:spcPts val="1155"/>
              </a:spcBef>
              <a:buClr>
                <a:srgbClr val="4668F5"/>
              </a:buClr>
              <a:buSzPct val="68181"/>
              <a:buFont typeface="Wingdings"/>
              <a:buChar char=""/>
              <a:tabLst>
                <a:tab pos="643255" algn="l"/>
              </a:tabLst>
            </a:pPr>
            <a:r>
              <a:rPr dirty="0" sz="2200" spc="-20" b="1">
                <a:solidFill>
                  <a:srgbClr val="9966FF"/>
                </a:solidFill>
                <a:latin typeface="宋体"/>
                <a:cs typeface="宋体"/>
              </a:rPr>
              <a:t>如果有操作数尚未就绪，就等待，并不断地监测</a:t>
            </a:r>
            <a:r>
              <a:rPr dirty="0" sz="2200" spc="-10" b="1">
                <a:solidFill>
                  <a:srgbClr val="9933FF"/>
                </a:solidFill>
                <a:latin typeface="宋体"/>
                <a:cs typeface="宋体"/>
              </a:rPr>
              <a:t>CDB</a:t>
            </a:r>
            <a:r>
              <a:rPr dirty="0" sz="2200" spc="-60" b="1">
                <a:solidFill>
                  <a:srgbClr val="9966FF"/>
                </a:solidFill>
                <a:latin typeface="宋体"/>
                <a:cs typeface="宋体"/>
              </a:rPr>
              <a:t>。</a:t>
            </a:r>
            <a:endParaRPr sz="2200">
              <a:latin typeface="宋体"/>
              <a:cs typeface="宋体"/>
            </a:endParaRPr>
          </a:p>
          <a:p>
            <a:pPr marL="1383030">
              <a:lnSpc>
                <a:spcPct val="100000"/>
              </a:lnSpc>
              <a:spcBef>
                <a:spcPts val="1055"/>
              </a:spcBef>
            </a:pPr>
            <a:r>
              <a:rPr dirty="0" sz="2200" spc="-20" b="1">
                <a:solidFill>
                  <a:srgbClr val="0000CC"/>
                </a:solidFill>
                <a:latin typeface="宋体"/>
                <a:cs typeface="宋体"/>
              </a:rPr>
              <a:t>(检测</a:t>
            </a:r>
            <a:r>
              <a:rPr dirty="0" sz="2200" spc="-10" b="1">
                <a:solidFill>
                  <a:srgbClr val="9933FF"/>
                </a:solidFill>
                <a:latin typeface="宋体"/>
                <a:cs typeface="宋体"/>
              </a:rPr>
              <a:t>RAW</a:t>
            </a:r>
            <a:r>
              <a:rPr dirty="0" sz="2200" spc="-30" b="1">
                <a:solidFill>
                  <a:srgbClr val="0000CC"/>
                </a:solidFill>
                <a:latin typeface="宋体"/>
                <a:cs typeface="宋体"/>
              </a:rPr>
              <a:t>冲突)</a:t>
            </a:r>
            <a:endParaRPr sz="2200">
              <a:latin typeface="宋体"/>
              <a:cs typeface="宋体"/>
            </a:endParaRPr>
          </a:p>
          <a:p>
            <a:pPr lvl="1" marL="643255" indent="-457200">
              <a:lnSpc>
                <a:spcPct val="100000"/>
              </a:lnSpc>
              <a:spcBef>
                <a:spcPts val="1055"/>
              </a:spcBef>
              <a:buClr>
                <a:srgbClr val="4668F5"/>
              </a:buClr>
              <a:buSzPct val="68181"/>
              <a:buFont typeface="Wingdings"/>
              <a:buChar char=""/>
              <a:tabLst>
                <a:tab pos="643255" algn="l"/>
              </a:tabLst>
            </a:pPr>
            <a:r>
              <a:rPr dirty="0" sz="2200" spc="-30" b="1">
                <a:solidFill>
                  <a:srgbClr val="9966FF"/>
                </a:solidFill>
                <a:latin typeface="宋体"/>
                <a:cs typeface="宋体"/>
              </a:rPr>
              <a:t>当两个操作数都已在保留站中就绪后，就可以执行该指令的操作。</a:t>
            </a:r>
            <a:endParaRPr sz="2200">
              <a:latin typeface="宋体"/>
              <a:cs typeface="宋体"/>
            </a:endParaRPr>
          </a:p>
          <a:p>
            <a:pPr marL="469900" indent="-457200">
              <a:lnSpc>
                <a:spcPct val="100000"/>
              </a:lnSpc>
              <a:spcBef>
                <a:spcPts val="1250"/>
              </a:spcBef>
              <a:buSzPct val="89285"/>
              <a:buFont typeface="Wingdings"/>
              <a:buChar char=""/>
              <a:tabLst>
                <a:tab pos="469900" algn="l"/>
              </a:tabLst>
            </a:pPr>
            <a:r>
              <a:rPr dirty="0" sz="2800" spc="-35">
                <a:solidFill>
                  <a:srgbClr val="40458B"/>
                </a:solidFill>
                <a:latin typeface="黑体"/>
                <a:cs typeface="黑体"/>
              </a:rPr>
              <a:t>写结果</a:t>
            </a:r>
            <a:endParaRPr sz="2800">
              <a:latin typeface="黑体"/>
              <a:cs typeface="黑体"/>
            </a:endParaRPr>
          </a:p>
          <a:p>
            <a:pPr lvl="1" marL="678815" marR="5080" indent="-457834">
              <a:lnSpc>
                <a:spcPct val="120000"/>
              </a:lnSpc>
              <a:spcBef>
                <a:spcPts val="625"/>
              </a:spcBef>
              <a:buClr>
                <a:srgbClr val="4668F5"/>
              </a:buClr>
              <a:buSzPct val="68181"/>
              <a:buFont typeface="Wingdings"/>
              <a:buChar char=""/>
              <a:tabLst>
                <a:tab pos="678815" algn="l"/>
              </a:tabLst>
            </a:pPr>
            <a:r>
              <a:rPr dirty="0" sz="2200" spc="-20" b="1">
                <a:solidFill>
                  <a:srgbClr val="9966FF"/>
                </a:solidFill>
                <a:latin typeface="宋体"/>
                <a:cs typeface="宋体"/>
              </a:rPr>
              <a:t>当结果产生后，将该结果连同本指令在流出段所分配到的</a:t>
            </a:r>
            <a:r>
              <a:rPr dirty="0" sz="2200" spc="-10" b="1">
                <a:solidFill>
                  <a:srgbClr val="9933FF"/>
                </a:solidFill>
                <a:latin typeface="宋体"/>
                <a:cs typeface="宋体"/>
              </a:rPr>
              <a:t>ROB</a:t>
            </a:r>
            <a:r>
              <a:rPr dirty="0" sz="2200" spc="-25" b="1">
                <a:solidFill>
                  <a:srgbClr val="9966FF"/>
                </a:solidFill>
                <a:latin typeface="宋体"/>
                <a:cs typeface="宋体"/>
              </a:rPr>
              <a:t>项的编号放到</a:t>
            </a:r>
            <a:r>
              <a:rPr dirty="0" sz="2200" spc="-10" b="1">
                <a:solidFill>
                  <a:srgbClr val="9933FF"/>
                </a:solidFill>
                <a:latin typeface="宋体"/>
                <a:cs typeface="宋体"/>
              </a:rPr>
              <a:t>CDB</a:t>
            </a:r>
            <a:r>
              <a:rPr dirty="0" sz="2200" spc="-30" b="1">
                <a:solidFill>
                  <a:srgbClr val="9966FF"/>
                </a:solidFill>
                <a:latin typeface="宋体"/>
                <a:cs typeface="宋体"/>
              </a:rPr>
              <a:t>上，经</a:t>
            </a:r>
            <a:r>
              <a:rPr dirty="0" sz="2200" spc="-50" b="1">
                <a:solidFill>
                  <a:srgbClr val="9966FF"/>
                </a:solidFill>
                <a:latin typeface="宋体"/>
                <a:cs typeface="宋体"/>
              </a:rPr>
              <a:t> </a:t>
            </a:r>
            <a:r>
              <a:rPr dirty="0" sz="2200" spc="-10" b="1">
                <a:solidFill>
                  <a:srgbClr val="9933FF"/>
                </a:solidFill>
                <a:latin typeface="宋体"/>
                <a:cs typeface="宋体"/>
              </a:rPr>
              <a:t>CDB</a:t>
            </a:r>
            <a:r>
              <a:rPr dirty="0" sz="2200" spc="-25" b="1">
                <a:solidFill>
                  <a:srgbClr val="9966FF"/>
                </a:solidFill>
                <a:latin typeface="宋体"/>
                <a:cs typeface="宋体"/>
              </a:rPr>
              <a:t>写到</a:t>
            </a:r>
            <a:r>
              <a:rPr dirty="0" sz="2200" spc="-10" b="1">
                <a:solidFill>
                  <a:srgbClr val="9933FF"/>
                </a:solidFill>
                <a:latin typeface="宋体"/>
                <a:cs typeface="宋体"/>
              </a:rPr>
              <a:t>ROB</a:t>
            </a:r>
            <a:r>
              <a:rPr dirty="0" sz="2200" spc="-25" b="1">
                <a:solidFill>
                  <a:srgbClr val="9966FF"/>
                </a:solidFill>
                <a:latin typeface="宋体"/>
                <a:cs typeface="宋体"/>
              </a:rPr>
              <a:t>以及所有等待该结果的保留站。保留站也可以从</a:t>
            </a:r>
            <a:r>
              <a:rPr dirty="0" sz="2200" spc="-10" b="1">
                <a:solidFill>
                  <a:srgbClr val="9966FF"/>
                </a:solidFill>
                <a:latin typeface="宋体"/>
                <a:cs typeface="宋体"/>
              </a:rPr>
              <a:t>ROB</a:t>
            </a:r>
            <a:r>
              <a:rPr dirty="0" sz="2200" spc="-30" b="1">
                <a:solidFill>
                  <a:srgbClr val="9966FF"/>
                </a:solidFill>
                <a:latin typeface="宋体"/>
                <a:cs typeface="宋体"/>
              </a:rPr>
              <a:t>直接读到结果而不需要</a:t>
            </a:r>
            <a:r>
              <a:rPr dirty="0" sz="2200" spc="-50" b="1">
                <a:solidFill>
                  <a:srgbClr val="9966FF"/>
                </a:solidFill>
                <a:latin typeface="宋体"/>
                <a:cs typeface="宋体"/>
              </a:rPr>
              <a:t> </a:t>
            </a:r>
            <a:r>
              <a:rPr dirty="0" sz="2200" spc="-10" b="1">
                <a:solidFill>
                  <a:srgbClr val="9966FF"/>
                </a:solidFill>
                <a:latin typeface="宋体"/>
                <a:cs typeface="宋体"/>
              </a:rPr>
              <a:t>CDB</a:t>
            </a:r>
            <a:r>
              <a:rPr dirty="0" sz="2200" spc="-50" b="1">
                <a:solidFill>
                  <a:srgbClr val="9966FF"/>
                </a:solidFill>
                <a:latin typeface="宋体"/>
                <a:cs typeface="宋体"/>
              </a:rPr>
              <a:t>。</a:t>
            </a:r>
            <a:endParaRPr sz="2200">
              <a:latin typeface="宋体"/>
              <a:cs typeface="宋体"/>
            </a:endParaRPr>
          </a:p>
          <a:p>
            <a:pPr lvl="1" marL="678815" indent="-457834">
              <a:lnSpc>
                <a:spcPct val="100000"/>
              </a:lnSpc>
              <a:spcBef>
                <a:spcPts val="1055"/>
              </a:spcBef>
              <a:buClr>
                <a:srgbClr val="4668F5"/>
              </a:buClr>
              <a:buSzPct val="68181"/>
              <a:buFont typeface="Wingdings"/>
              <a:buChar char=""/>
              <a:tabLst>
                <a:tab pos="678815" algn="l"/>
              </a:tabLst>
            </a:pPr>
            <a:r>
              <a:rPr dirty="0" sz="2200" spc="-25" b="1">
                <a:solidFill>
                  <a:srgbClr val="9966FF"/>
                </a:solidFill>
                <a:latin typeface="宋体"/>
                <a:cs typeface="宋体"/>
              </a:rPr>
              <a:t>释放产生该结果的保留站。</a:t>
            </a:r>
            <a:endParaRPr sz="2200">
              <a:latin typeface="宋体"/>
              <a:cs typeface="宋体"/>
            </a:endParaRPr>
          </a:p>
          <a:p>
            <a:pPr lvl="1" marL="760730" indent="-539750">
              <a:lnSpc>
                <a:spcPct val="100000"/>
              </a:lnSpc>
              <a:spcBef>
                <a:spcPts val="1060"/>
              </a:spcBef>
              <a:buClr>
                <a:srgbClr val="4668F5"/>
              </a:buClr>
              <a:buSzPct val="68181"/>
              <a:buFont typeface="Wingdings"/>
              <a:buChar char=""/>
              <a:tabLst>
                <a:tab pos="760730" algn="l"/>
              </a:tabLst>
            </a:pPr>
            <a:r>
              <a:rPr dirty="0" sz="2200" spc="-10" b="1">
                <a:solidFill>
                  <a:srgbClr val="D50092"/>
                </a:solidFill>
                <a:latin typeface="宋体"/>
                <a:cs typeface="宋体"/>
              </a:rPr>
              <a:t>store</a:t>
            </a:r>
            <a:r>
              <a:rPr dirty="0" sz="2200" spc="-25" b="1">
                <a:solidFill>
                  <a:srgbClr val="D50092"/>
                </a:solidFill>
                <a:latin typeface="宋体"/>
                <a:cs typeface="宋体"/>
              </a:rPr>
              <a:t>指令</a:t>
            </a:r>
            <a:r>
              <a:rPr dirty="0" sz="2200" spc="-30" b="1">
                <a:solidFill>
                  <a:srgbClr val="9966FF"/>
                </a:solidFill>
                <a:latin typeface="宋体"/>
                <a:cs typeface="宋体"/>
              </a:rPr>
              <a:t>在本阶段完成，其操作为:</a:t>
            </a:r>
            <a:endParaRPr sz="2200">
              <a:latin typeface="宋体"/>
              <a:cs typeface="宋体"/>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145/175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357631" y="1057624"/>
            <a:ext cx="11530330" cy="4991100"/>
          </a:xfrm>
          <a:prstGeom prst="rect">
            <a:avLst/>
          </a:prstGeom>
        </p:spPr>
        <p:txBody>
          <a:bodyPr wrap="square" lIns="0" tIns="240029" rIns="0" bIns="0" rtlCol="0" vert="horz">
            <a:spAutoFit/>
          </a:bodyPr>
          <a:lstStyle/>
          <a:p>
            <a:pPr marL="283210" indent="-270510">
              <a:lnSpc>
                <a:spcPct val="100000"/>
              </a:lnSpc>
              <a:spcBef>
                <a:spcPts val="1889"/>
              </a:spcBef>
              <a:buSzPct val="64062"/>
              <a:buFont typeface="Wingdings"/>
              <a:buChar char=""/>
              <a:tabLst>
                <a:tab pos="283210" algn="l"/>
              </a:tabLst>
            </a:pPr>
            <a:r>
              <a:rPr dirty="0" sz="3200" spc="-20">
                <a:solidFill>
                  <a:srgbClr val="40458B"/>
                </a:solidFill>
                <a:latin typeface="黑体"/>
                <a:cs typeface="黑体"/>
              </a:rPr>
              <a:t>写结果</a:t>
            </a:r>
            <a:endParaRPr sz="3200">
              <a:latin typeface="黑体"/>
              <a:cs typeface="黑体"/>
            </a:endParaRPr>
          </a:p>
          <a:p>
            <a:pPr marL="876935">
              <a:lnSpc>
                <a:spcPct val="100000"/>
              </a:lnSpc>
              <a:spcBef>
                <a:spcPts val="1220"/>
              </a:spcBef>
            </a:pPr>
            <a:r>
              <a:rPr dirty="0" sz="2200" spc="-10" b="1">
                <a:solidFill>
                  <a:srgbClr val="D50092"/>
                </a:solidFill>
                <a:latin typeface="宋体"/>
                <a:cs typeface="宋体"/>
              </a:rPr>
              <a:t>store</a:t>
            </a:r>
            <a:r>
              <a:rPr dirty="0" sz="2200" spc="-20" b="1">
                <a:solidFill>
                  <a:srgbClr val="D50092"/>
                </a:solidFill>
                <a:latin typeface="宋体"/>
                <a:cs typeface="宋体"/>
              </a:rPr>
              <a:t>指令</a:t>
            </a:r>
            <a:r>
              <a:rPr dirty="0" sz="2200" spc="-25" b="1">
                <a:solidFill>
                  <a:srgbClr val="FF09FF"/>
                </a:solidFill>
                <a:latin typeface="宋体"/>
                <a:cs typeface="宋体"/>
              </a:rPr>
              <a:t>在本阶段完成，其操作为:</a:t>
            </a:r>
            <a:endParaRPr sz="2200">
              <a:latin typeface="宋体"/>
              <a:cs typeface="宋体"/>
            </a:endParaRPr>
          </a:p>
          <a:p>
            <a:pPr lvl="1" marL="1257935" indent="-381000">
              <a:lnSpc>
                <a:spcPct val="100000"/>
              </a:lnSpc>
              <a:spcBef>
                <a:spcPts val="1055"/>
              </a:spcBef>
              <a:buClr>
                <a:srgbClr val="9966FF"/>
              </a:buClr>
              <a:buSzPct val="63636"/>
              <a:buFont typeface="Wingdings"/>
              <a:buChar char=""/>
              <a:tabLst>
                <a:tab pos="1257935" algn="l"/>
              </a:tabLst>
            </a:pPr>
            <a:r>
              <a:rPr dirty="0" sz="2200" spc="-20" b="1">
                <a:solidFill>
                  <a:srgbClr val="FF09FF"/>
                </a:solidFill>
                <a:latin typeface="宋体"/>
                <a:cs typeface="宋体"/>
              </a:rPr>
              <a:t>如果要写入存储器的数据已经就绪，就把该数据写入分配给该</a:t>
            </a:r>
            <a:r>
              <a:rPr dirty="0" sz="2200" spc="-10" b="1">
                <a:solidFill>
                  <a:srgbClr val="9933FF"/>
                </a:solidFill>
                <a:latin typeface="宋体"/>
                <a:cs typeface="宋体"/>
              </a:rPr>
              <a:t>store</a:t>
            </a:r>
            <a:r>
              <a:rPr dirty="0" sz="2200" spc="-20" b="1">
                <a:solidFill>
                  <a:srgbClr val="FF09FF"/>
                </a:solidFill>
                <a:latin typeface="宋体"/>
                <a:cs typeface="宋体"/>
              </a:rPr>
              <a:t>指令的</a:t>
            </a:r>
            <a:r>
              <a:rPr dirty="0" sz="2200" spc="-10" b="1">
                <a:solidFill>
                  <a:srgbClr val="9933FF"/>
                </a:solidFill>
                <a:latin typeface="宋体"/>
                <a:cs typeface="宋体"/>
              </a:rPr>
              <a:t>ROB</a:t>
            </a:r>
            <a:r>
              <a:rPr dirty="0" sz="2200" spc="-35" b="1">
                <a:solidFill>
                  <a:srgbClr val="FF09FF"/>
                </a:solidFill>
                <a:latin typeface="宋体"/>
                <a:cs typeface="宋体"/>
              </a:rPr>
              <a:t>项。</a:t>
            </a:r>
            <a:endParaRPr sz="2200">
              <a:latin typeface="宋体"/>
              <a:cs typeface="宋体"/>
            </a:endParaRPr>
          </a:p>
          <a:p>
            <a:pPr lvl="1" marL="1257935" indent="-381000">
              <a:lnSpc>
                <a:spcPct val="100000"/>
              </a:lnSpc>
              <a:spcBef>
                <a:spcPts val="1055"/>
              </a:spcBef>
              <a:buClr>
                <a:srgbClr val="9966FF"/>
              </a:buClr>
              <a:buSzPct val="63636"/>
              <a:buFont typeface="Wingdings"/>
              <a:buChar char=""/>
              <a:tabLst>
                <a:tab pos="1257935" algn="l"/>
              </a:tabLst>
            </a:pPr>
            <a:r>
              <a:rPr dirty="0" sz="2200" spc="-25" b="1">
                <a:solidFill>
                  <a:srgbClr val="FF09FF"/>
                </a:solidFill>
                <a:latin typeface="宋体"/>
                <a:cs typeface="宋体"/>
              </a:rPr>
              <a:t>否则，就监测</a:t>
            </a:r>
            <a:r>
              <a:rPr dirty="0" sz="2200" spc="-10" b="1">
                <a:solidFill>
                  <a:srgbClr val="9933FF"/>
                </a:solidFill>
                <a:latin typeface="宋体"/>
                <a:cs typeface="宋体"/>
              </a:rPr>
              <a:t>CDB</a:t>
            </a:r>
            <a:r>
              <a:rPr dirty="0" sz="2200" spc="-25" b="1">
                <a:solidFill>
                  <a:srgbClr val="FF09FF"/>
                </a:solidFill>
                <a:latin typeface="宋体"/>
                <a:cs typeface="宋体"/>
              </a:rPr>
              <a:t>，直到那个数据在</a:t>
            </a:r>
            <a:r>
              <a:rPr dirty="0" sz="2200" spc="-10" b="1">
                <a:solidFill>
                  <a:srgbClr val="9933FF"/>
                </a:solidFill>
                <a:latin typeface="宋体"/>
                <a:cs typeface="宋体"/>
              </a:rPr>
              <a:t>CDB</a:t>
            </a:r>
            <a:r>
              <a:rPr dirty="0" sz="2200" spc="-25" b="1">
                <a:solidFill>
                  <a:srgbClr val="FF09FF"/>
                </a:solidFill>
                <a:latin typeface="宋体"/>
                <a:cs typeface="宋体"/>
              </a:rPr>
              <a:t>上播送出来，才将之写入分配给该</a:t>
            </a:r>
            <a:r>
              <a:rPr dirty="0" sz="2200" spc="-10" b="1">
                <a:solidFill>
                  <a:srgbClr val="9933FF"/>
                </a:solidFill>
                <a:latin typeface="宋体"/>
                <a:cs typeface="宋体"/>
              </a:rPr>
              <a:t>store</a:t>
            </a:r>
            <a:r>
              <a:rPr dirty="0" sz="2200" spc="-40" b="1">
                <a:solidFill>
                  <a:srgbClr val="FF09FF"/>
                </a:solidFill>
                <a:latin typeface="宋体"/>
                <a:cs typeface="宋体"/>
              </a:rPr>
              <a:t>指令</a:t>
            </a:r>
            <a:endParaRPr sz="2200">
              <a:latin typeface="宋体"/>
              <a:cs typeface="宋体"/>
            </a:endParaRPr>
          </a:p>
          <a:p>
            <a:pPr marL="1257935">
              <a:lnSpc>
                <a:spcPct val="100000"/>
              </a:lnSpc>
              <a:spcBef>
                <a:spcPts val="530"/>
              </a:spcBef>
            </a:pPr>
            <a:r>
              <a:rPr dirty="0" sz="2200" spc="-20" b="1">
                <a:solidFill>
                  <a:srgbClr val="FF09FF"/>
                </a:solidFill>
                <a:latin typeface="宋体"/>
                <a:cs typeface="宋体"/>
              </a:rPr>
              <a:t>的</a:t>
            </a:r>
            <a:r>
              <a:rPr dirty="0" sz="2200" spc="-10" b="1">
                <a:solidFill>
                  <a:srgbClr val="9933FF"/>
                </a:solidFill>
                <a:latin typeface="宋体"/>
                <a:cs typeface="宋体"/>
              </a:rPr>
              <a:t>ROB</a:t>
            </a:r>
            <a:r>
              <a:rPr dirty="0" sz="2200" spc="-35" b="1">
                <a:solidFill>
                  <a:srgbClr val="FF09FF"/>
                </a:solidFill>
                <a:latin typeface="宋体"/>
                <a:cs typeface="宋体"/>
              </a:rPr>
              <a:t>项。</a:t>
            </a:r>
            <a:endParaRPr sz="2200">
              <a:latin typeface="宋体"/>
              <a:cs typeface="宋体"/>
            </a:endParaRPr>
          </a:p>
          <a:p>
            <a:pPr marL="1012190" indent="-457200">
              <a:lnSpc>
                <a:spcPct val="100000"/>
              </a:lnSpc>
              <a:spcBef>
                <a:spcPts val="1250"/>
              </a:spcBef>
              <a:buSzPct val="89285"/>
              <a:buFont typeface="Wingdings"/>
              <a:buChar char=""/>
              <a:tabLst>
                <a:tab pos="1012190" algn="l"/>
              </a:tabLst>
            </a:pPr>
            <a:r>
              <a:rPr dirty="0" sz="2800" spc="-40">
                <a:solidFill>
                  <a:srgbClr val="40458B"/>
                </a:solidFill>
                <a:latin typeface="黑体"/>
                <a:cs typeface="黑体"/>
              </a:rPr>
              <a:t>确认</a:t>
            </a:r>
            <a:endParaRPr sz="2800">
              <a:latin typeface="黑体"/>
              <a:cs typeface="黑体"/>
            </a:endParaRPr>
          </a:p>
          <a:p>
            <a:pPr marL="554990">
              <a:lnSpc>
                <a:spcPct val="100000"/>
              </a:lnSpc>
              <a:spcBef>
                <a:spcPts val="1215"/>
              </a:spcBef>
            </a:pPr>
            <a:r>
              <a:rPr dirty="0" sz="2400" spc="-25" b="1">
                <a:solidFill>
                  <a:srgbClr val="D50092"/>
                </a:solidFill>
                <a:latin typeface="宋体"/>
                <a:cs typeface="宋体"/>
              </a:rPr>
              <a:t>对分支指令、</a:t>
            </a:r>
            <a:r>
              <a:rPr dirty="0" sz="2400" spc="-10" b="1">
                <a:solidFill>
                  <a:srgbClr val="D50092"/>
                </a:solidFill>
                <a:latin typeface="宋体"/>
                <a:cs typeface="宋体"/>
              </a:rPr>
              <a:t>store</a:t>
            </a:r>
            <a:r>
              <a:rPr dirty="0" sz="2400" spc="-25" b="1">
                <a:solidFill>
                  <a:srgbClr val="D50092"/>
                </a:solidFill>
                <a:latin typeface="宋体"/>
                <a:cs typeface="宋体"/>
              </a:rPr>
              <a:t>指令以及其它指令的处理不同</a:t>
            </a:r>
            <a:r>
              <a:rPr dirty="0" sz="2400" spc="-50">
                <a:solidFill>
                  <a:srgbClr val="40458B"/>
                </a:solidFill>
                <a:latin typeface="黑体"/>
                <a:cs typeface="黑体"/>
              </a:rPr>
              <a:t>：</a:t>
            </a:r>
            <a:endParaRPr sz="2400">
              <a:latin typeface="黑体"/>
              <a:cs typeface="黑体"/>
            </a:endParaRPr>
          </a:p>
          <a:p>
            <a:pPr marL="969644" indent="-457200">
              <a:lnSpc>
                <a:spcPct val="100000"/>
              </a:lnSpc>
              <a:spcBef>
                <a:spcPts val="1155"/>
              </a:spcBef>
              <a:buClr>
                <a:srgbClr val="4668F5"/>
              </a:buClr>
              <a:buSzPct val="68750"/>
              <a:buFont typeface="Wingdings"/>
              <a:buChar char=""/>
              <a:tabLst>
                <a:tab pos="969644" algn="l"/>
              </a:tabLst>
            </a:pPr>
            <a:r>
              <a:rPr dirty="0" sz="2400" spc="-20" b="1">
                <a:solidFill>
                  <a:srgbClr val="D50092"/>
                </a:solidFill>
                <a:latin typeface="宋体"/>
                <a:cs typeface="宋体"/>
              </a:rPr>
              <a:t>其它指令</a:t>
            </a:r>
            <a:r>
              <a:rPr dirty="0" sz="2400" spc="-20" b="1">
                <a:solidFill>
                  <a:srgbClr val="9966FF"/>
                </a:solidFill>
                <a:latin typeface="宋体"/>
                <a:cs typeface="宋体"/>
              </a:rPr>
              <a:t>（</a:t>
            </a:r>
            <a:r>
              <a:rPr dirty="0" sz="2400" spc="-25" b="1">
                <a:solidFill>
                  <a:srgbClr val="9966FF"/>
                </a:solidFill>
                <a:latin typeface="宋体"/>
                <a:cs typeface="宋体"/>
              </a:rPr>
              <a:t>除分支指令和</a:t>
            </a:r>
            <a:r>
              <a:rPr dirty="0" sz="2400" spc="-20" b="1">
                <a:solidFill>
                  <a:srgbClr val="9966FF"/>
                </a:solidFill>
                <a:latin typeface="宋体"/>
                <a:cs typeface="宋体"/>
              </a:rPr>
              <a:t>store指令</a:t>
            </a:r>
            <a:r>
              <a:rPr dirty="0" sz="2400" spc="-50" b="1">
                <a:solidFill>
                  <a:srgbClr val="9966FF"/>
                </a:solidFill>
                <a:latin typeface="宋体"/>
                <a:cs typeface="宋体"/>
              </a:rPr>
              <a:t>）</a:t>
            </a:r>
            <a:endParaRPr sz="2400">
              <a:latin typeface="宋体"/>
              <a:cs typeface="宋体"/>
            </a:endParaRPr>
          </a:p>
          <a:p>
            <a:pPr marL="1155700">
              <a:lnSpc>
                <a:spcPct val="100000"/>
              </a:lnSpc>
              <a:spcBef>
                <a:spcPts val="1019"/>
              </a:spcBef>
            </a:pPr>
            <a:r>
              <a:rPr dirty="0" sz="2000" spc="-10" b="1">
                <a:solidFill>
                  <a:srgbClr val="9966FF"/>
                </a:solidFill>
                <a:latin typeface="宋体"/>
                <a:cs typeface="宋体"/>
              </a:rPr>
              <a:t>当该指令到达</a:t>
            </a:r>
            <a:r>
              <a:rPr dirty="0" sz="2000" spc="-10" b="1">
                <a:solidFill>
                  <a:srgbClr val="9933FF"/>
                </a:solidFill>
                <a:latin typeface="宋体"/>
                <a:cs typeface="宋体"/>
              </a:rPr>
              <a:t>ROB</a:t>
            </a:r>
            <a:r>
              <a:rPr dirty="0" sz="2000" spc="-25" b="1">
                <a:solidFill>
                  <a:srgbClr val="9966FF"/>
                </a:solidFill>
                <a:latin typeface="宋体"/>
                <a:cs typeface="宋体"/>
              </a:rPr>
              <a:t>队列的头部而且其结果已经就绪时，就把该结果写入该指令的目的寄存器，</a:t>
            </a:r>
            <a:endParaRPr sz="2000">
              <a:latin typeface="宋体"/>
              <a:cs typeface="宋体"/>
            </a:endParaRPr>
          </a:p>
          <a:p>
            <a:pPr marL="969644">
              <a:lnSpc>
                <a:spcPct val="100000"/>
              </a:lnSpc>
              <a:spcBef>
                <a:spcPts val="480"/>
              </a:spcBef>
            </a:pPr>
            <a:r>
              <a:rPr dirty="0" sz="2000" spc="-15" b="1">
                <a:solidFill>
                  <a:srgbClr val="9966FF"/>
                </a:solidFill>
                <a:latin typeface="宋体"/>
                <a:cs typeface="宋体"/>
              </a:rPr>
              <a:t>并从</a:t>
            </a:r>
            <a:r>
              <a:rPr dirty="0" sz="2000" b="1">
                <a:solidFill>
                  <a:srgbClr val="9933FF"/>
                </a:solidFill>
                <a:latin typeface="宋体"/>
                <a:cs typeface="宋体"/>
              </a:rPr>
              <a:t>ROB</a:t>
            </a:r>
            <a:r>
              <a:rPr dirty="0" sz="2000" spc="-25" b="1">
                <a:solidFill>
                  <a:srgbClr val="9966FF"/>
                </a:solidFill>
                <a:latin typeface="宋体"/>
                <a:cs typeface="宋体"/>
              </a:rPr>
              <a:t>中删除该指令。</a:t>
            </a:r>
            <a:endParaRPr sz="2000">
              <a:latin typeface="宋体"/>
              <a:cs typeface="宋体"/>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146/175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88188" y="986156"/>
            <a:ext cx="11891645" cy="4214495"/>
          </a:xfrm>
          <a:prstGeom prst="rect">
            <a:avLst/>
          </a:prstGeom>
        </p:spPr>
        <p:txBody>
          <a:bodyPr wrap="square" lIns="0" tIns="217804" rIns="0" bIns="0" rtlCol="0" vert="horz">
            <a:spAutoFit/>
          </a:bodyPr>
          <a:lstStyle/>
          <a:p>
            <a:pPr marL="354965" indent="-342265">
              <a:lnSpc>
                <a:spcPct val="100000"/>
              </a:lnSpc>
              <a:spcBef>
                <a:spcPts val="1714"/>
              </a:spcBef>
              <a:buClr>
                <a:srgbClr val="40458B"/>
              </a:buClr>
              <a:buFont typeface="Wingdings"/>
              <a:buChar char=""/>
              <a:tabLst>
                <a:tab pos="354965" algn="l"/>
              </a:tabLst>
            </a:pPr>
            <a:r>
              <a:rPr dirty="0" sz="3200" spc="-30">
                <a:solidFill>
                  <a:srgbClr val="001F5F"/>
                </a:solidFill>
                <a:latin typeface="黑体"/>
                <a:cs typeface="黑体"/>
              </a:rPr>
              <a:t>确认</a:t>
            </a:r>
            <a:endParaRPr sz="3200">
              <a:latin typeface="黑体"/>
              <a:cs typeface="黑体"/>
            </a:endParaRPr>
          </a:p>
          <a:p>
            <a:pPr lvl="1" marL="1056640" indent="-457200">
              <a:lnSpc>
                <a:spcPct val="100000"/>
              </a:lnSpc>
              <a:spcBef>
                <a:spcPts val="1410"/>
              </a:spcBef>
              <a:buClr>
                <a:srgbClr val="4668F5"/>
              </a:buClr>
              <a:buSzPct val="69642"/>
              <a:buFont typeface="Wingdings"/>
              <a:buChar char=""/>
              <a:tabLst>
                <a:tab pos="1056640" algn="l"/>
              </a:tabLst>
            </a:pPr>
            <a:r>
              <a:rPr dirty="0" sz="2800" b="1">
                <a:solidFill>
                  <a:srgbClr val="D50092"/>
                </a:solidFill>
                <a:latin typeface="宋体"/>
                <a:cs typeface="宋体"/>
              </a:rPr>
              <a:t>store</a:t>
            </a:r>
            <a:r>
              <a:rPr dirty="0" sz="2800" spc="-40" b="1">
                <a:solidFill>
                  <a:srgbClr val="D50092"/>
                </a:solidFill>
                <a:latin typeface="宋体"/>
                <a:cs typeface="宋体"/>
              </a:rPr>
              <a:t>指令</a:t>
            </a:r>
            <a:endParaRPr sz="2800">
              <a:latin typeface="宋体"/>
              <a:cs typeface="宋体"/>
            </a:endParaRPr>
          </a:p>
          <a:p>
            <a:pPr marL="1114425">
              <a:lnSpc>
                <a:spcPct val="100000"/>
              </a:lnSpc>
              <a:spcBef>
                <a:spcPts val="1150"/>
              </a:spcBef>
            </a:pPr>
            <a:r>
              <a:rPr dirty="0" sz="2200" spc="-25" b="1">
                <a:solidFill>
                  <a:srgbClr val="9966FF"/>
                </a:solidFill>
                <a:latin typeface="宋体"/>
                <a:cs typeface="宋体"/>
              </a:rPr>
              <a:t>处理与上面的类似，只是它把结果写入存储器。</a:t>
            </a:r>
            <a:endParaRPr sz="2200">
              <a:latin typeface="宋体"/>
              <a:cs typeface="宋体"/>
            </a:endParaRPr>
          </a:p>
          <a:p>
            <a:pPr lvl="1" marL="1056640" indent="-457200">
              <a:lnSpc>
                <a:spcPct val="100000"/>
              </a:lnSpc>
              <a:spcBef>
                <a:spcPts val="1250"/>
              </a:spcBef>
              <a:buClr>
                <a:srgbClr val="4668F5"/>
              </a:buClr>
              <a:buSzPct val="69642"/>
              <a:buFont typeface="Wingdings"/>
              <a:buChar char=""/>
              <a:tabLst>
                <a:tab pos="1056640" algn="l"/>
              </a:tabLst>
            </a:pPr>
            <a:r>
              <a:rPr dirty="0" sz="2800" spc="-35" b="1">
                <a:solidFill>
                  <a:srgbClr val="D50092"/>
                </a:solidFill>
                <a:latin typeface="宋体"/>
                <a:cs typeface="宋体"/>
              </a:rPr>
              <a:t>分支指令</a:t>
            </a:r>
            <a:endParaRPr sz="2800">
              <a:latin typeface="宋体"/>
              <a:cs typeface="宋体"/>
            </a:endParaRPr>
          </a:p>
          <a:p>
            <a:pPr lvl="2" marL="1344930" marR="143510" indent="-381635">
              <a:lnSpc>
                <a:spcPct val="120000"/>
              </a:lnSpc>
              <a:spcBef>
                <a:spcPts val="625"/>
              </a:spcBef>
              <a:buClr>
                <a:srgbClr val="9966FF"/>
              </a:buClr>
              <a:buSzPct val="63636"/>
              <a:buFont typeface="Wingdings"/>
              <a:buChar char=""/>
              <a:tabLst>
                <a:tab pos="1344930" algn="l"/>
              </a:tabLst>
            </a:pPr>
            <a:r>
              <a:rPr dirty="0" sz="2200" spc="-20" b="1">
                <a:solidFill>
                  <a:srgbClr val="FF09FF"/>
                </a:solidFill>
                <a:latin typeface="宋体"/>
                <a:cs typeface="宋体"/>
              </a:rPr>
              <a:t>当预测错误的分支指令（</a:t>
            </a:r>
            <a:r>
              <a:rPr dirty="0" sz="2200" spc="-25" b="1">
                <a:solidFill>
                  <a:srgbClr val="2C44A3"/>
                </a:solidFill>
                <a:latin typeface="宋体"/>
                <a:cs typeface="宋体"/>
              </a:rPr>
              <a:t>执行结果发现预测错误</a:t>
            </a:r>
            <a:r>
              <a:rPr dirty="0" sz="2200" spc="-10" b="1">
                <a:solidFill>
                  <a:srgbClr val="FF09FF"/>
                </a:solidFill>
                <a:latin typeface="宋体"/>
                <a:cs typeface="宋体"/>
              </a:rPr>
              <a:t>）</a:t>
            </a:r>
            <a:r>
              <a:rPr dirty="0" sz="2200" spc="-20" b="1">
                <a:solidFill>
                  <a:srgbClr val="FF09FF"/>
                </a:solidFill>
                <a:latin typeface="宋体"/>
                <a:cs typeface="宋体"/>
              </a:rPr>
              <a:t>到达</a:t>
            </a:r>
            <a:r>
              <a:rPr dirty="0" sz="2200" spc="-10" b="1">
                <a:solidFill>
                  <a:srgbClr val="9933FF"/>
                </a:solidFill>
                <a:latin typeface="宋体"/>
                <a:cs typeface="宋体"/>
              </a:rPr>
              <a:t>ROB</a:t>
            </a:r>
            <a:r>
              <a:rPr dirty="0" sz="2200" spc="-25" b="1">
                <a:solidFill>
                  <a:srgbClr val="FF09FF"/>
                </a:solidFill>
                <a:latin typeface="宋体"/>
                <a:cs typeface="宋体"/>
              </a:rPr>
              <a:t>队列的头部时，清空</a:t>
            </a:r>
            <a:r>
              <a:rPr dirty="0" sz="2200" spc="-20" b="1">
                <a:solidFill>
                  <a:srgbClr val="9933FF"/>
                </a:solidFill>
                <a:latin typeface="宋体"/>
                <a:cs typeface="宋体"/>
              </a:rPr>
              <a:t>ROB</a:t>
            </a:r>
            <a:r>
              <a:rPr dirty="0" sz="2200" spc="-20" b="1">
                <a:solidFill>
                  <a:srgbClr val="FF09FF"/>
                </a:solidFill>
                <a:latin typeface="宋体"/>
                <a:cs typeface="宋体"/>
              </a:rPr>
              <a:t>，</a:t>
            </a:r>
            <a:r>
              <a:rPr dirty="0" sz="2200" spc="-25" b="1">
                <a:solidFill>
                  <a:srgbClr val="FF09FF"/>
                </a:solidFill>
                <a:latin typeface="宋体"/>
                <a:cs typeface="宋体"/>
              </a:rPr>
              <a:t>并从分支指令的另一个分支重新开始执行。</a:t>
            </a:r>
            <a:endParaRPr sz="2200">
              <a:latin typeface="宋体"/>
              <a:cs typeface="宋体"/>
            </a:endParaRPr>
          </a:p>
          <a:p>
            <a:pPr marL="2094230">
              <a:lnSpc>
                <a:spcPct val="100000"/>
              </a:lnSpc>
              <a:spcBef>
                <a:spcPts val="1055"/>
              </a:spcBef>
            </a:pPr>
            <a:r>
              <a:rPr dirty="0" sz="2200" spc="-20" b="1">
                <a:solidFill>
                  <a:srgbClr val="0000CC"/>
                </a:solidFill>
                <a:latin typeface="宋体"/>
                <a:cs typeface="宋体"/>
              </a:rPr>
              <a:t>（错误的前瞻执行</a:t>
            </a:r>
            <a:r>
              <a:rPr dirty="0" sz="2200" spc="-50" b="1">
                <a:solidFill>
                  <a:srgbClr val="0000CC"/>
                </a:solidFill>
                <a:latin typeface="宋体"/>
                <a:cs typeface="宋体"/>
              </a:rPr>
              <a:t>）</a:t>
            </a:r>
            <a:endParaRPr sz="2200">
              <a:latin typeface="宋体"/>
              <a:cs typeface="宋体"/>
            </a:endParaRPr>
          </a:p>
          <a:p>
            <a:pPr lvl="2" marL="1344930" indent="-381000">
              <a:lnSpc>
                <a:spcPct val="100000"/>
              </a:lnSpc>
              <a:spcBef>
                <a:spcPts val="1060"/>
              </a:spcBef>
              <a:buClr>
                <a:srgbClr val="9966FF"/>
              </a:buClr>
              <a:buSzPct val="63636"/>
              <a:buFont typeface="Wingdings"/>
              <a:buChar char=""/>
              <a:tabLst>
                <a:tab pos="1344930" algn="l"/>
              </a:tabLst>
            </a:pPr>
            <a:r>
              <a:rPr dirty="0" sz="2200" spc="-20" b="1">
                <a:solidFill>
                  <a:srgbClr val="FF09FF"/>
                </a:solidFill>
                <a:latin typeface="宋体"/>
                <a:cs typeface="宋体"/>
              </a:rPr>
              <a:t>当预测正确的分支指令到达</a:t>
            </a:r>
            <a:r>
              <a:rPr dirty="0" sz="2200" spc="-10" b="1">
                <a:solidFill>
                  <a:srgbClr val="9933FF"/>
                </a:solidFill>
                <a:latin typeface="宋体"/>
                <a:cs typeface="宋体"/>
              </a:rPr>
              <a:t>ROB</a:t>
            </a:r>
            <a:r>
              <a:rPr dirty="0" sz="2200" spc="-25" b="1">
                <a:solidFill>
                  <a:srgbClr val="FF09FF"/>
                </a:solidFill>
                <a:latin typeface="宋体"/>
                <a:cs typeface="宋体"/>
              </a:rPr>
              <a:t>队列的头部时，该指令执行完毕。继续后续指令执行。</a:t>
            </a:r>
            <a:endParaRPr sz="2200">
              <a:latin typeface="宋体"/>
              <a:cs typeface="宋体"/>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147/175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197916" y="685071"/>
            <a:ext cx="11951970" cy="5892165"/>
          </a:xfrm>
          <a:prstGeom prst="rect">
            <a:avLst/>
          </a:prstGeom>
        </p:spPr>
        <p:txBody>
          <a:bodyPr wrap="square" lIns="0" tIns="229870" rIns="0" bIns="0" rtlCol="0" vert="horz">
            <a:spAutoFit/>
          </a:bodyPr>
          <a:lstStyle/>
          <a:p>
            <a:pPr marL="354965" indent="-342265">
              <a:lnSpc>
                <a:spcPct val="100000"/>
              </a:lnSpc>
              <a:spcBef>
                <a:spcPts val="1810"/>
              </a:spcBef>
              <a:buClr>
                <a:srgbClr val="40458B"/>
              </a:buClr>
              <a:buFont typeface="Wingdings"/>
              <a:buChar char=""/>
              <a:tabLst>
                <a:tab pos="354965" algn="l"/>
              </a:tabLst>
            </a:pPr>
            <a:r>
              <a:rPr dirty="0" sz="3200" spc="-10">
                <a:solidFill>
                  <a:srgbClr val="001F5F"/>
                </a:solidFill>
                <a:latin typeface="Tahoma"/>
                <a:cs typeface="Tahoma"/>
              </a:rPr>
              <a:t>ROB</a:t>
            </a:r>
            <a:r>
              <a:rPr dirty="0" sz="3200" spc="-15">
                <a:solidFill>
                  <a:srgbClr val="001F5F"/>
                </a:solidFill>
                <a:latin typeface="黑体"/>
                <a:cs typeface="黑体"/>
              </a:rPr>
              <a:t>功能总结</a:t>
            </a:r>
            <a:endParaRPr sz="3200">
              <a:latin typeface="黑体"/>
              <a:cs typeface="黑体"/>
            </a:endParaRPr>
          </a:p>
          <a:p>
            <a:pPr lvl="1" marL="1056640" marR="5080" indent="-457200">
              <a:lnSpc>
                <a:spcPct val="120100"/>
              </a:lnSpc>
              <a:spcBef>
                <a:spcPts val="700"/>
              </a:spcBef>
              <a:buClr>
                <a:srgbClr val="4668F5"/>
              </a:buClr>
              <a:buSzPct val="68750"/>
              <a:buFont typeface="Wingdings"/>
              <a:buChar char=""/>
              <a:tabLst>
                <a:tab pos="1056640" algn="l"/>
              </a:tabLst>
            </a:pPr>
            <a:r>
              <a:rPr dirty="0" sz="2400" spc="-20" b="1">
                <a:solidFill>
                  <a:srgbClr val="D50092"/>
                </a:solidFill>
                <a:latin typeface="宋体"/>
                <a:cs typeface="宋体"/>
              </a:rPr>
              <a:t>维护程序顺序：</a:t>
            </a:r>
            <a:r>
              <a:rPr dirty="0" sz="2400" spc="-20" b="1">
                <a:solidFill>
                  <a:srgbClr val="40458B"/>
                </a:solidFill>
                <a:latin typeface="宋体"/>
                <a:cs typeface="宋体"/>
              </a:rPr>
              <a:t>ROB确保指令按程序顺序提交（commit），</a:t>
            </a:r>
            <a:r>
              <a:rPr dirty="0" sz="2400" spc="-25" b="1">
                <a:solidFill>
                  <a:srgbClr val="40458B"/>
                </a:solidFill>
                <a:latin typeface="宋体"/>
                <a:cs typeface="宋体"/>
              </a:rPr>
              <a:t>即使它们以乱序方式执</a:t>
            </a:r>
            <a:r>
              <a:rPr dirty="0" sz="2400" spc="-35" b="1">
                <a:solidFill>
                  <a:srgbClr val="40458B"/>
                </a:solidFill>
                <a:latin typeface="宋体"/>
                <a:cs typeface="宋体"/>
              </a:rPr>
              <a:t>行。</a:t>
            </a:r>
            <a:endParaRPr sz="2400">
              <a:latin typeface="宋体"/>
              <a:cs typeface="宋体"/>
            </a:endParaRPr>
          </a:p>
          <a:p>
            <a:pPr lvl="1" marL="1056005" indent="-456565">
              <a:lnSpc>
                <a:spcPct val="100000"/>
              </a:lnSpc>
              <a:spcBef>
                <a:spcPts val="1155"/>
              </a:spcBef>
              <a:buClr>
                <a:srgbClr val="4668F5"/>
              </a:buClr>
              <a:buSzPct val="68750"/>
              <a:buFont typeface="Wingdings"/>
              <a:buChar char=""/>
              <a:tabLst>
                <a:tab pos="1056005" algn="l"/>
              </a:tabLst>
            </a:pPr>
            <a:r>
              <a:rPr dirty="0" sz="2400" spc="-20" b="1">
                <a:solidFill>
                  <a:srgbClr val="D50092"/>
                </a:solidFill>
                <a:latin typeface="宋体"/>
                <a:cs typeface="宋体"/>
              </a:rPr>
              <a:t>错误恢复：</a:t>
            </a:r>
            <a:r>
              <a:rPr dirty="0" sz="2400" spc="-20" b="1">
                <a:solidFill>
                  <a:srgbClr val="40458B"/>
                </a:solidFill>
                <a:latin typeface="宋体"/>
                <a:cs typeface="宋体"/>
              </a:rPr>
              <a:t>在分支预测错误或异常发生时，ROB</a:t>
            </a:r>
            <a:r>
              <a:rPr dirty="0" sz="2400" spc="-25" b="1">
                <a:solidFill>
                  <a:srgbClr val="40458B"/>
                </a:solidFill>
                <a:latin typeface="宋体"/>
                <a:cs typeface="宋体"/>
              </a:rPr>
              <a:t>可以恢复处理器的状态到正确状态</a:t>
            </a:r>
            <a:endParaRPr sz="2400">
              <a:latin typeface="宋体"/>
              <a:cs typeface="宋体"/>
            </a:endParaRPr>
          </a:p>
          <a:p>
            <a:pPr lvl="1" marL="1056005" indent="-456565">
              <a:lnSpc>
                <a:spcPct val="100000"/>
              </a:lnSpc>
              <a:spcBef>
                <a:spcPts val="1150"/>
              </a:spcBef>
              <a:buClr>
                <a:srgbClr val="4668F5"/>
              </a:buClr>
              <a:buSzPct val="68750"/>
              <a:buFont typeface="Wingdings"/>
              <a:buChar char=""/>
              <a:tabLst>
                <a:tab pos="1056005" algn="l"/>
              </a:tabLst>
            </a:pPr>
            <a:r>
              <a:rPr dirty="0" sz="2400" spc="-25" b="1">
                <a:solidFill>
                  <a:srgbClr val="D50092"/>
                </a:solidFill>
                <a:latin typeface="宋体"/>
                <a:cs typeface="宋体"/>
              </a:rPr>
              <a:t>结果暂存：</a:t>
            </a:r>
            <a:r>
              <a:rPr dirty="0" sz="2400" spc="-25" b="1">
                <a:solidFill>
                  <a:srgbClr val="40458B"/>
                </a:solidFill>
                <a:latin typeface="宋体"/>
                <a:cs typeface="宋体"/>
              </a:rPr>
              <a:t>在指令完成执行但尚未提交之前，</a:t>
            </a:r>
            <a:r>
              <a:rPr dirty="0" sz="2400" spc="-10" b="1">
                <a:solidFill>
                  <a:srgbClr val="40458B"/>
                </a:solidFill>
                <a:latin typeface="宋体"/>
                <a:cs typeface="宋体"/>
              </a:rPr>
              <a:t>ROB</a:t>
            </a:r>
            <a:r>
              <a:rPr dirty="0" sz="2400" spc="-30" b="1">
                <a:solidFill>
                  <a:srgbClr val="40458B"/>
                </a:solidFill>
                <a:latin typeface="宋体"/>
                <a:cs typeface="宋体"/>
              </a:rPr>
              <a:t>暂时存储这些指令的结果。分支</a:t>
            </a:r>
            <a:endParaRPr sz="2400">
              <a:latin typeface="宋体"/>
              <a:cs typeface="宋体"/>
            </a:endParaRPr>
          </a:p>
          <a:p>
            <a:pPr marL="1056640">
              <a:lnSpc>
                <a:spcPct val="100000"/>
              </a:lnSpc>
              <a:spcBef>
                <a:spcPts val="580"/>
              </a:spcBef>
            </a:pPr>
            <a:r>
              <a:rPr dirty="0" sz="2400" spc="-35" b="1">
                <a:solidFill>
                  <a:srgbClr val="40458B"/>
                </a:solidFill>
                <a:latin typeface="宋体"/>
                <a:cs typeface="宋体"/>
              </a:rPr>
              <a:t>指令</a:t>
            </a:r>
            <a:endParaRPr sz="2400">
              <a:latin typeface="宋体"/>
              <a:cs typeface="宋体"/>
            </a:endParaRPr>
          </a:p>
          <a:p>
            <a:pPr marL="354965" indent="-342265">
              <a:lnSpc>
                <a:spcPct val="100000"/>
              </a:lnSpc>
              <a:spcBef>
                <a:spcPts val="1975"/>
              </a:spcBef>
              <a:buClr>
                <a:srgbClr val="40458B"/>
              </a:buClr>
              <a:buFont typeface="Wingdings"/>
              <a:buChar char=""/>
              <a:tabLst>
                <a:tab pos="354965" algn="l"/>
              </a:tabLst>
            </a:pPr>
            <a:r>
              <a:rPr dirty="0" sz="3200" spc="-10">
                <a:solidFill>
                  <a:srgbClr val="001F5F"/>
                </a:solidFill>
                <a:latin typeface="Tahoma"/>
                <a:cs typeface="Tahoma"/>
              </a:rPr>
              <a:t>ROB</a:t>
            </a:r>
            <a:r>
              <a:rPr dirty="0" sz="3200" spc="-10">
                <a:solidFill>
                  <a:srgbClr val="001F5F"/>
                </a:solidFill>
                <a:latin typeface="黑体"/>
                <a:cs typeface="黑体"/>
              </a:rPr>
              <a:t>工作原理总结</a:t>
            </a:r>
            <a:endParaRPr sz="3200">
              <a:latin typeface="黑体"/>
              <a:cs typeface="黑体"/>
            </a:endParaRPr>
          </a:p>
          <a:p>
            <a:pPr lvl="1" marL="1056005" indent="-456565">
              <a:lnSpc>
                <a:spcPct val="100000"/>
              </a:lnSpc>
              <a:spcBef>
                <a:spcPts val="1280"/>
              </a:spcBef>
              <a:buClr>
                <a:srgbClr val="4668F5"/>
              </a:buClr>
              <a:buSzPct val="68750"/>
              <a:buFont typeface="Wingdings"/>
              <a:buChar char=""/>
              <a:tabLst>
                <a:tab pos="1056005" algn="l"/>
              </a:tabLst>
            </a:pPr>
            <a:r>
              <a:rPr dirty="0" sz="2400" spc="-25" b="1">
                <a:solidFill>
                  <a:srgbClr val="D50092"/>
                </a:solidFill>
                <a:latin typeface="宋体"/>
                <a:cs typeface="宋体"/>
              </a:rPr>
              <a:t>指令分派到</a:t>
            </a:r>
            <a:r>
              <a:rPr dirty="0" sz="2400" spc="-10" b="1">
                <a:solidFill>
                  <a:srgbClr val="D50092"/>
                </a:solidFill>
                <a:latin typeface="宋体"/>
                <a:cs typeface="宋体"/>
              </a:rPr>
              <a:t>ROB</a:t>
            </a:r>
            <a:r>
              <a:rPr dirty="0" sz="2400" spc="-20" b="1">
                <a:solidFill>
                  <a:srgbClr val="D50092"/>
                </a:solidFill>
                <a:latin typeface="宋体"/>
                <a:cs typeface="宋体"/>
              </a:rPr>
              <a:t>：每</a:t>
            </a:r>
            <a:r>
              <a:rPr dirty="0" sz="2400" spc="-25" b="1">
                <a:solidFill>
                  <a:srgbClr val="40458B"/>
                </a:solidFill>
                <a:latin typeface="宋体"/>
                <a:cs typeface="宋体"/>
              </a:rPr>
              <a:t>条即将执行的指令都会分派到</a:t>
            </a:r>
            <a:r>
              <a:rPr dirty="0" sz="2400" spc="-10" b="1">
                <a:solidFill>
                  <a:srgbClr val="40458B"/>
                </a:solidFill>
                <a:latin typeface="宋体"/>
                <a:cs typeface="宋体"/>
              </a:rPr>
              <a:t>ROB</a:t>
            </a:r>
            <a:r>
              <a:rPr dirty="0" sz="2400" spc="-30" b="1">
                <a:solidFill>
                  <a:srgbClr val="40458B"/>
                </a:solidFill>
                <a:latin typeface="宋体"/>
                <a:cs typeface="宋体"/>
              </a:rPr>
              <a:t>中，并分配一个条目。</a:t>
            </a:r>
            <a:endParaRPr sz="2400">
              <a:latin typeface="宋体"/>
              <a:cs typeface="宋体"/>
            </a:endParaRPr>
          </a:p>
          <a:p>
            <a:pPr lvl="1" marL="1056005" indent="-456565">
              <a:lnSpc>
                <a:spcPct val="100000"/>
              </a:lnSpc>
              <a:spcBef>
                <a:spcPts val="1150"/>
              </a:spcBef>
              <a:buClr>
                <a:srgbClr val="4668F5"/>
              </a:buClr>
              <a:buSzPct val="68750"/>
              <a:buFont typeface="Wingdings"/>
              <a:buChar char=""/>
              <a:tabLst>
                <a:tab pos="1056005" algn="l"/>
              </a:tabLst>
            </a:pPr>
            <a:r>
              <a:rPr dirty="0" sz="2400" spc="-20" b="1">
                <a:solidFill>
                  <a:srgbClr val="D50092"/>
                </a:solidFill>
                <a:latin typeface="宋体"/>
                <a:cs typeface="宋体"/>
              </a:rPr>
              <a:t>执行和结果写回：</a:t>
            </a:r>
            <a:r>
              <a:rPr dirty="0" sz="2400" spc="-20" b="1">
                <a:solidFill>
                  <a:srgbClr val="40458B"/>
                </a:solidFill>
                <a:latin typeface="宋体"/>
                <a:cs typeface="宋体"/>
              </a:rPr>
              <a:t>指令执行完毕后，其结果会写回到ROB</a:t>
            </a:r>
            <a:r>
              <a:rPr dirty="0" sz="2400" spc="-25" b="1">
                <a:solidFill>
                  <a:srgbClr val="40458B"/>
                </a:solidFill>
                <a:latin typeface="宋体"/>
                <a:cs typeface="宋体"/>
              </a:rPr>
              <a:t>中对应的条目。</a:t>
            </a:r>
            <a:endParaRPr sz="2400">
              <a:latin typeface="宋体"/>
              <a:cs typeface="宋体"/>
            </a:endParaRPr>
          </a:p>
          <a:p>
            <a:pPr lvl="1" marL="1056640" marR="5080" indent="-457200">
              <a:lnSpc>
                <a:spcPct val="120000"/>
              </a:lnSpc>
              <a:spcBef>
                <a:spcPts val="580"/>
              </a:spcBef>
              <a:buClr>
                <a:srgbClr val="4668F5"/>
              </a:buClr>
              <a:buSzPct val="68750"/>
              <a:buFont typeface="Wingdings"/>
              <a:buChar char=""/>
              <a:tabLst>
                <a:tab pos="1056640" algn="l"/>
              </a:tabLst>
            </a:pPr>
            <a:r>
              <a:rPr dirty="0" sz="2400" spc="-20" b="1">
                <a:solidFill>
                  <a:srgbClr val="D50092"/>
                </a:solidFill>
                <a:latin typeface="宋体"/>
                <a:cs typeface="宋体"/>
              </a:rPr>
              <a:t>按顺序提交：</a:t>
            </a:r>
            <a:r>
              <a:rPr dirty="0" sz="2400" spc="-20" b="1">
                <a:solidFill>
                  <a:srgbClr val="40458B"/>
                </a:solidFill>
                <a:latin typeface="宋体"/>
                <a:cs typeface="宋体"/>
              </a:rPr>
              <a:t>当指令到达提交阶段时，ROB</a:t>
            </a:r>
            <a:r>
              <a:rPr dirty="0" sz="2400" spc="-25" b="1">
                <a:solidFill>
                  <a:srgbClr val="40458B"/>
                </a:solidFill>
                <a:latin typeface="宋体"/>
                <a:cs typeface="宋体"/>
              </a:rPr>
              <a:t>按程序顺序将结果提交到寄存器文件或</a:t>
            </a:r>
            <a:r>
              <a:rPr dirty="0" sz="2400" spc="-40" b="1">
                <a:solidFill>
                  <a:srgbClr val="40458B"/>
                </a:solidFill>
                <a:latin typeface="宋体"/>
                <a:cs typeface="宋体"/>
              </a:rPr>
              <a:t>内存</a:t>
            </a:r>
            <a:endParaRPr sz="2400">
              <a:latin typeface="宋体"/>
              <a:cs typeface="宋体"/>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148/175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191515" y="685071"/>
            <a:ext cx="12102465" cy="5315585"/>
          </a:xfrm>
          <a:prstGeom prst="rect">
            <a:avLst/>
          </a:prstGeom>
        </p:spPr>
        <p:txBody>
          <a:bodyPr wrap="square" lIns="0" tIns="229870" rIns="0" bIns="0" rtlCol="0" vert="horz">
            <a:spAutoFit/>
          </a:bodyPr>
          <a:lstStyle/>
          <a:p>
            <a:pPr marL="361315" indent="-342265">
              <a:lnSpc>
                <a:spcPct val="100000"/>
              </a:lnSpc>
              <a:spcBef>
                <a:spcPts val="1810"/>
              </a:spcBef>
              <a:buClr>
                <a:srgbClr val="40458B"/>
              </a:buClr>
              <a:buFont typeface="Wingdings"/>
              <a:buChar char=""/>
              <a:tabLst>
                <a:tab pos="361315" algn="l"/>
              </a:tabLst>
            </a:pPr>
            <a:r>
              <a:rPr dirty="0" sz="3200">
                <a:solidFill>
                  <a:srgbClr val="001F5F"/>
                </a:solidFill>
                <a:latin typeface="黑体"/>
                <a:cs typeface="黑体"/>
              </a:rPr>
              <a:t>对比</a:t>
            </a:r>
            <a:r>
              <a:rPr dirty="0" sz="3200" spc="-10">
                <a:solidFill>
                  <a:srgbClr val="001F5F"/>
                </a:solidFill>
                <a:latin typeface="Tahoma"/>
                <a:cs typeface="Tahoma"/>
              </a:rPr>
              <a:t>ROB</a:t>
            </a:r>
            <a:r>
              <a:rPr dirty="0" sz="3200" spc="-20">
                <a:solidFill>
                  <a:srgbClr val="001F5F"/>
                </a:solidFill>
                <a:latin typeface="黑体"/>
                <a:cs typeface="黑体"/>
              </a:rPr>
              <a:t>，寄存器重命名功能总结</a:t>
            </a:r>
            <a:endParaRPr sz="3200">
              <a:latin typeface="黑体"/>
              <a:cs typeface="黑体"/>
            </a:endParaRPr>
          </a:p>
          <a:p>
            <a:pPr lvl="1" marL="1062990" marR="153035" indent="-457200">
              <a:lnSpc>
                <a:spcPct val="120100"/>
              </a:lnSpc>
              <a:spcBef>
                <a:spcPts val="700"/>
              </a:spcBef>
              <a:buClr>
                <a:srgbClr val="4668F5"/>
              </a:buClr>
              <a:buSzPct val="68750"/>
              <a:buFont typeface="Wingdings"/>
              <a:buChar char=""/>
              <a:tabLst>
                <a:tab pos="1062990" algn="l"/>
              </a:tabLst>
            </a:pPr>
            <a:r>
              <a:rPr dirty="0" sz="2400" spc="-20" b="1">
                <a:solidFill>
                  <a:srgbClr val="D50092"/>
                </a:solidFill>
                <a:latin typeface="宋体"/>
                <a:cs typeface="宋体"/>
              </a:rPr>
              <a:t>消除假依赖：</a:t>
            </a:r>
            <a:r>
              <a:rPr dirty="0" sz="2400" spc="-20" b="1">
                <a:solidFill>
                  <a:srgbClr val="40458B"/>
                </a:solidFill>
                <a:latin typeface="宋体"/>
                <a:cs typeface="宋体"/>
              </a:rPr>
              <a:t>通过为每个指令分配不同的物理寄存器，消除写后读（WAR）</a:t>
            </a:r>
            <a:r>
              <a:rPr dirty="0" sz="2400" spc="-35" b="1">
                <a:solidFill>
                  <a:srgbClr val="40458B"/>
                </a:solidFill>
                <a:latin typeface="宋体"/>
                <a:cs typeface="宋体"/>
              </a:rPr>
              <a:t>和写后</a:t>
            </a:r>
            <a:r>
              <a:rPr dirty="0" sz="2400" spc="-20" b="1">
                <a:solidFill>
                  <a:srgbClr val="40458B"/>
                </a:solidFill>
                <a:latin typeface="宋体"/>
                <a:cs typeface="宋体"/>
              </a:rPr>
              <a:t>写（WAW）</a:t>
            </a:r>
            <a:r>
              <a:rPr dirty="0" sz="2400" spc="-35" b="1">
                <a:solidFill>
                  <a:srgbClr val="40458B"/>
                </a:solidFill>
                <a:latin typeface="宋体"/>
                <a:cs typeface="宋体"/>
              </a:rPr>
              <a:t>依赖。</a:t>
            </a:r>
            <a:endParaRPr sz="2400">
              <a:latin typeface="宋体"/>
              <a:cs typeface="宋体"/>
            </a:endParaRPr>
          </a:p>
          <a:p>
            <a:pPr lvl="1" marL="1062355" indent="-456565">
              <a:lnSpc>
                <a:spcPct val="100000"/>
              </a:lnSpc>
              <a:spcBef>
                <a:spcPts val="1155"/>
              </a:spcBef>
              <a:buClr>
                <a:srgbClr val="4668F5"/>
              </a:buClr>
              <a:buSzPct val="68750"/>
              <a:buFont typeface="Wingdings"/>
              <a:buChar char=""/>
              <a:tabLst>
                <a:tab pos="1062355" algn="l"/>
              </a:tabLst>
            </a:pPr>
            <a:r>
              <a:rPr dirty="0" sz="2400" spc="-20" b="1">
                <a:solidFill>
                  <a:srgbClr val="FF09FF"/>
                </a:solidFill>
                <a:latin typeface="宋体"/>
                <a:cs typeface="宋体"/>
              </a:rPr>
              <a:t>提高并行度</a:t>
            </a:r>
            <a:r>
              <a:rPr dirty="0" sz="2400" spc="-25" b="1">
                <a:solidFill>
                  <a:srgbClr val="40458B"/>
                </a:solidFill>
                <a:latin typeface="宋体"/>
                <a:cs typeface="宋体"/>
              </a:rPr>
              <a:t>：允许更多的指令同时在流水线中进行，而不必等待前面的指令完成。</a:t>
            </a:r>
            <a:endParaRPr sz="2400">
              <a:latin typeface="宋体"/>
              <a:cs typeface="宋体"/>
            </a:endParaRPr>
          </a:p>
          <a:p>
            <a:pPr lvl="1">
              <a:lnSpc>
                <a:spcPct val="100000"/>
              </a:lnSpc>
              <a:spcBef>
                <a:spcPts val="1805"/>
              </a:spcBef>
              <a:buClr>
                <a:srgbClr val="4668F5"/>
              </a:buClr>
              <a:buFont typeface="Wingdings"/>
              <a:buChar char=""/>
            </a:pPr>
            <a:endParaRPr sz="2400">
              <a:latin typeface="宋体"/>
              <a:cs typeface="宋体"/>
            </a:endParaRPr>
          </a:p>
          <a:p>
            <a:pPr marL="354965" indent="-342265">
              <a:lnSpc>
                <a:spcPct val="100000"/>
              </a:lnSpc>
              <a:buClr>
                <a:srgbClr val="40458B"/>
              </a:buClr>
              <a:buFont typeface="Wingdings"/>
              <a:buChar char=""/>
              <a:tabLst>
                <a:tab pos="354965" algn="l"/>
              </a:tabLst>
            </a:pPr>
            <a:r>
              <a:rPr dirty="0" sz="3200">
                <a:solidFill>
                  <a:srgbClr val="001F5F"/>
                </a:solidFill>
                <a:latin typeface="黑体"/>
                <a:cs typeface="黑体"/>
              </a:rPr>
              <a:t>对比</a:t>
            </a:r>
            <a:r>
              <a:rPr dirty="0" sz="3200" spc="-10">
                <a:solidFill>
                  <a:srgbClr val="001F5F"/>
                </a:solidFill>
                <a:latin typeface="Tahoma"/>
                <a:cs typeface="Tahoma"/>
              </a:rPr>
              <a:t>ROB</a:t>
            </a:r>
            <a:r>
              <a:rPr dirty="0" sz="3200" spc="-20">
                <a:solidFill>
                  <a:srgbClr val="001F5F"/>
                </a:solidFill>
                <a:latin typeface="黑体"/>
                <a:cs typeface="黑体"/>
              </a:rPr>
              <a:t>，寄存器重命名工作原理总结</a:t>
            </a:r>
            <a:endParaRPr sz="3200">
              <a:latin typeface="黑体"/>
              <a:cs typeface="黑体"/>
            </a:endParaRPr>
          </a:p>
          <a:p>
            <a:pPr lvl="1" marL="1056005" indent="-456565">
              <a:lnSpc>
                <a:spcPct val="100000"/>
              </a:lnSpc>
              <a:spcBef>
                <a:spcPts val="1280"/>
              </a:spcBef>
              <a:buClr>
                <a:srgbClr val="4668F5"/>
              </a:buClr>
              <a:buSzPct val="68750"/>
              <a:buFont typeface="Wingdings"/>
              <a:buChar char=""/>
              <a:tabLst>
                <a:tab pos="1056005" algn="l"/>
              </a:tabLst>
            </a:pPr>
            <a:r>
              <a:rPr dirty="0" sz="2400" spc="-25" b="1">
                <a:solidFill>
                  <a:srgbClr val="D50092"/>
                </a:solidFill>
                <a:latin typeface="宋体"/>
                <a:cs typeface="宋体"/>
              </a:rPr>
              <a:t>映射表：</a:t>
            </a:r>
            <a:r>
              <a:rPr dirty="0" sz="2400" spc="-30" b="1">
                <a:solidFill>
                  <a:srgbClr val="40458B"/>
                </a:solidFill>
                <a:latin typeface="宋体"/>
                <a:cs typeface="宋体"/>
              </a:rPr>
              <a:t>寄存器重命名机制使用一个映射表，将逻辑寄存器映射到物理寄存器。</a:t>
            </a:r>
            <a:endParaRPr sz="2400">
              <a:latin typeface="宋体"/>
              <a:cs typeface="宋体"/>
            </a:endParaRPr>
          </a:p>
          <a:p>
            <a:pPr lvl="1" marL="1056640" marR="316230" indent="-457200">
              <a:lnSpc>
                <a:spcPct val="120000"/>
              </a:lnSpc>
              <a:spcBef>
                <a:spcPts val="580"/>
              </a:spcBef>
              <a:buClr>
                <a:srgbClr val="4668F5"/>
              </a:buClr>
              <a:buSzPct val="68750"/>
              <a:buFont typeface="Wingdings"/>
              <a:buChar char=""/>
              <a:tabLst>
                <a:tab pos="1056640" algn="l"/>
              </a:tabLst>
            </a:pPr>
            <a:r>
              <a:rPr dirty="0" sz="2400" spc="-20" b="1">
                <a:solidFill>
                  <a:srgbClr val="FF5CFF"/>
                </a:solidFill>
                <a:latin typeface="宋体"/>
                <a:cs typeface="宋体"/>
              </a:rPr>
              <a:t>分配物理寄存器</a:t>
            </a:r>
            <a:r>
              <a:rPr dirty="0" sz="2400" spc="-25" b="1">
                <a:solidFill>
                  <a:srgbClr val="40458B"/>
                </a:solidFill>
                <a:latin typeface="宋体"/>
                <a:cs typeface="宋体"/>
              </a:rPr>
              <a:t>：每条新指令到来时，为其分配一个新的物理寄存器，用于存储</a:t>
            </a:r>
            <a:r>
              <a:rPr dirty="0" sz="2400" spc="-30" b="1">
                <a:solidFill>
                  <a:srgbClr val="40458B"/>
                </a:solidFill>
                <a:latin typeface="宋体"/>
                <a:cs typeface="宋体"/>
              </a:rPr>
              <a:t>计算结果。</a:t>
            </a:r>
            <a:endParaRPr sz="2400">
              <a:latin typeface="宋体"/>
              <a:cs typeface="宋体"/>
            </a:endParaRPr>
          </a:p>
          <a:p>
            <a:pPr lvl="1" marL="1056005" indent="-456565">
              <a:lnSpc>
                <a:spcPct val="100000"/>
              </a:lnSpc>
              <a:spcBef>
                <a:spcPts val="1150"/>
              </a:spcBef>
              <a:buClr>
                <a:srgbClr val="4668F5"/>
              </a:buClr>
              <a:buSzPct val="68750"/>
              <a:buFont typeface="Wingdings"/>
              <a:buChar char=""/>
              <a:tabLst>
                <a:tab pos="1056005" algn="l"/>
              </a:tabLst>
            </a:pPr>
            <a:r>
              <a:rPr dirty="0" sz="2400" spc="-25" b="1">
                <a:solidFill>
                  <a:srgbClr val="D50092"/>
                </a:solidFill>
                <a:latin typeface="宋体"/>
                <a:cs typeface="宋体"/>
              </a:rPr>
              <a:t>更新映射表：</a:t>
            </a:r>
            <a:r>
              <a:rPr dirty="0" sz="2400" spc="-25" b="1">
                <a:solidFill>
                  <a:srgbClr val="40458B"/>
                </a:solidFill>
                <a:latin typeface="宋体"/>
                <a:cs typeface="宋体"/>
              </a:rPr>
              <a:t>当指令完成并提交后，更新映射表以反映新的寄存器分配</a:t>
            </a:r>
            <a:r>
              <a:rPr dirty="0" sz="2400" spc="-50" b="1">
                <a:solidFill>
                  <a:srgbClr val="D50092"/>
                </a:solidFill>
                <a:latin typeface="宋体"/>
                <a:cs typeface="宋体"/>
              </a:rPr>
              <a:t>。</a:t>
            </a:r>
            <a:endParaRPr sz="2400">
              <a:latin typeface="宋体"/>
              <a:cs typeface="宋体"/>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149/175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191515" y="685071"/>
            <a:ext cx="12102465" cy="5315585"/>
          </a:xfrm>
          <a:prstGeom prst="rect">
            <a:avLst/>
          </a:prstGeom>
        </p:spPr>
        <p:txBody>
          <a:bodyPr wrap="square" lIns="0" tIns="229870" rIns="0" bIns="0" rtlCol="0" vert="horz">
            <a:spAutoFit/>
          </a:bodyPr>
          <a:lstStyle/>
          <a:p>
            <a:pPr marL="361315" indent="-342265">
              <a:lnSpc>
                <a:spcPct val="100000"/>
              </a:lnSpc>
              <a:spcBef>
                <a:spcPts val="1810"/>
              </a:spcBef>
              <a:buClr>
                <a:srgbClr val="40458B"/>
              </a:buClr>
              <a:buFont typeface="Wingdings"/>
              <a:buChar char=""/>
              <a:tabLst>
                <a:tab pos="361315" algn="l"/>
              </a:tabLst>
            </a:pPr>
            <a:r>
              <a:rPr dirty="0" sz="3200" spc="-10">
                <a:solidFill>
                  <a:srgbClr val="001F5F"/>
                </a:solidFill>
                <a:latin typeface="Tahoma"/>
                <a:cs typeface="Tahoma"/>
              </a:rPr>
              <a:t>ROB</a:t>
            </a:r>
            <a:r>
              <a:rPr dirty="0" sz="3200" spc="-15">
                <a:solidFill>
                  <a:srgbClr val="001F5F"/>
                </a:solidFill>
                <a:latin typeface="黑体"/>
                <a:cs typeface="黑体"/>
              </a:rPr>
              <a:t>和寄存器重命名相互联系</a:t>
            </a:r>
            <a:endParaRPr sz="3200">
              <a:latin typeface="黑体"/>
              <a:cs typeface="黑体"/>
            </a:endParaRPr>
          </a:p>
          <a:p>
            <a:pPr lvl="1" marL="1062990" marR="153035" indent="-457200">
              <a:lnSpc>
                <a:spcPct val="120100"/>
              </a:lnSpc>
              <a:spcBef>
                <a:spcPts val="700"/>
              </a:spcBef>
              <a:buClr>
                <a:srgbClr val="4668F5"/>
              </a:buClr>
              <a:buSzPct val="68750"/>
              <a:buFont typeface="Wingdings"/>
              <a:buChar char=""/>
              <a:tabLst>
                <a:tab pos="1062990" algn="l"/>
              </a:tabLst>
            </a:pPr>
            <a:r>
              <a:rPr dirty="0" sz="2400" spc="-20" b="1">
                <a:solidFill>
                  <a:srgbClr val="D50092"/>
                </a:solidFill>
                <a:latin typeface="宋体"/>
                <a:cs typeface="宋体"/>
              </a:rPr>
              <a:t>消除假依赖：</a:t>
            </a:r>
            <a:r>
              <a:rPr dirty="0" sz="2400" spc="-20" b="1">
                <a:solidFill>
                  <a:srgbClr val="40458B"/>
                </a:solidFill>
                <a:latin typeface="宋体"/>
                <a:cs typeface="宋体"/>
              </a:rPr>
              <a:t>通过为每个指令分配不同的物理寄存器，消除写后读（WAR）</a:t>
            </a:r>
            <a:r>
              <a:rPr dirty="0" sz="2400" spc="-35" b="1">
                <a:solidFill>
                  <a:srgbClr val="40458B"/>
                </a:solidFill>
                <a:latin typeface="宋体"/>
                <a:cs typeface="宋体"/>
              </a:rPr>
              <a:t>和写后</a:t>
            </a:r>
            <a:r>
              <a:rPr dirty="0" sz="2400" spc="-20" b="1">
                <a:solidFill>
                  <a:srgbClr val="40458B"/>
                </a:solidFill>
                <a:latin typeface="宋体"/>
                <a:cs typeface="宋体"/>
              </a:rPr>
              <a:t>写（WAW）</a:t>
            </a:r>
            <a:r>
              <a:rPr dirty="0" sz="2400" spc="-35" b="1">
                <a:solidFill>
                  <a:srgbClr val="40458B"/>
                </a:solidFill>
                <a:latin typeface="宋体"/>
                <a:cs typeface="宋体"/>
              </a:rPr>
              <a:t>依赖。</a:t>
            </a:r>
            <a:endParaRPr sz="2400">
              <a:latin typeface="宋体"/>
              <a:cs typeface="宋体"/>
            </a:endParaRPr>
          </a:p>
          <a:p>
            <a:pPr lvl="1" marL="1062355" indent="-456565">
              <a:lnSpc>
                <a:spcPct val="100000"/>
              </a:lnSpc>
              <a:spcBef>
                <a:spcPts val="1155"/>
              </a:spcBef>
              <a:buClr>
                <a:srgbClr val="4668F5"/>
              </a:buClr>
              <a:buSzPct val="68750"/>
              <a:buFont typeface="Wingdings"/>
              <a:buChar char=""/>
              <a:tabLst>
                <a:tab pos="1062355" algn="l"/>
              </a:tabLst>
            </a:pPr>
            <a:r>
              <a:rPr dirty="0" sz="2400" spc="-20" b="1">
                <a:solidFill>
                  <a:srgbClr val="FF09FF"/>
                </a:solidFill>
                <a:latin typeface="宋体"/>
                <a:cs typeface="宋体"/>
              </a:rPr>
              <a:t>提高并行度</a:t>
            </a:r>
            <a:r>
              <a:rPr dirty="0" sz="2400" spc="-25" b="1">
                <a:solidFill>
                  <a:srgbClr val="40458B"/>
                </a:solidFill>
                <a:latin typeface="宋体"/>
                <a:cs typeface="宋体"/>
              </a:rPr>
              <a:t>：允许更多的指令同时在流水线中进行，而不必等待前面的指令完成。</a:t>
            </a:r>
            <a:endParaRPr sz="2400">
              <a:latin typeface="宋体"/>
              <a:cs typeface="宋体"/>
            </a:endParaRPr>
          </a:p>
          <a:p>
            <a:pPr lvl="1">
              <a:lnSpc>
                <a:spcPct val="100000"/>
              </a:lnSpc>
              <a:spcBef>
                <a:spcPts val="1805"/>
              </a:spcBef>
              <a:buClr>
                <a:srgbClr val="4668F5"/>
              </a:buClr>
              <a:buFont typeface="Wingdings"/>
              <a:buChar char=""/>
            </a:pPr>
            <a:endParaRPr sz="2400">
              <a:latin typeface="宋体"/>
              <a:cs typeface="宋体"/>
            </a:endParaRPr>
          </a:p>
          <a:p>
            <a:pPr marL="354965" indent="-342265">
              <a:lnSpc>
                <a:spcPct val="100000"/>
              </a:lnSpc>
              <a:buClr>
                <a:srgbClr val="40458B"/>
              </a:buClr>
              <a:buFont typeface="Wingdings"/>
              <a:buChar char=""/>
              <a:tabLst>
                <a:tab pos="354965" algn="l"/>
              </a:tabLst>
            </a:pPr>
            <a:r>
              <a:rPr dirty="0" sz="3200">
                <a:solidFill>
                  <a:srgbClr val="001F5F"/>
                </a:solidFill>
                <a:latin typeface="黑体"/>
                <a:cs typeface="黑体"/>
              </a:rPr>
              <a:t>对比</a:t>
            </a:r>
            <a:r>
              <a:rPr dirty="0" sz="3200" spc="-10">
                <a:solidFill>
                  <a:srgbClr val="001F5F"/>
                </a:solidFill>
                <a:latin typeface="Tahoma"/>
                <a:cs typeface="Tahoma"/>
              </a:rPr>
              <a:t>ROB</a:t>
            </a:r>
            <a:r>
              <a:rPr dirty="0" sz="3200" spc="-20">
                <a:solidFill>
                  <a:srgbClr val="001F5F"/>
                </a:solidFill>
                <a:latin typeface="黑体"/>
                <a:cs typeface="黑体"/>
              </a:rPr>
              <a:t>，寄存器重命名工作原理总结</a:t>
            </a:r>
            <a:endParaRPr sz="3200">
              <a:latin typeface="黑体"/>
              <a:cs typeface="黑体"/>
            </a:endParaRPr>
          </a:p>
          <a:p>
            <a:pPr lvl="1" marL="1056005" indent="-456565">
              <a:lnSpc>
                <a:spcPct val="100000"/>
              </a:lnSpc>
              <a:spcBef>
                <a:spcPts val="1280"/>
              </a:spcBef>
              <a:buClr>
                <a:srgbClr val="4668F5"/>
              </a:buClr>
              <a:buSzPct val="68750"/>
              <a:buFont typeface="Wingdings"/>
              <a:buChar char=""/>
              <a:tabLst>
                <a:tab pos="1056005" algn="l"/>
              </a:tabLst>
            </a:pPr>
            <a:r>
              <a:rPr dirty="0" sz="2400" spc="-25" b="1">
                <a:solidFill>
                  <a:srgbClr val="D50092"/>
                </a:solidFill>
                <a:latin typeface="宋体"/>
                <a:cs typeface="宋体"/>
              </a:rPr>
              <a:t>映射表：</a:t>
            </a:r>
            <a:r>
              <a:rPr dirty="0" sz="2400" spc="-30" b="1">
                <a:solidFill>
                  <a:srgbClr val="40458B"/>
                </a:solidFill>
                <a:latin typeface="宋体"/>
                <a:cs typeface="宋体"/>
              </a:rPr>
              <a:t>寄存器重命名机制使用一个映射表，将逻辑寄存器映射到物理寄存器。</a:t>
            </a:r>
            <a:endParaRPr sz="2400">
              <a:latin typeface="宋体"/>
              <a:cs typeface="宋体"/>
            </a:endParaRPr>
          </a:p>
          <a:p>
            <a:pPr lvl="1" marL="1056640" marR="316230" indent="-457200">
              <a:lnSpc>
                <a:spcPct val="120000"/>
              </a:lnSpc>
              <a:spcBef>
                <a:spcPts val="580"/>
              </a:spcBef>
              <a:buClr>
                <a:srgbClr val="4668F5"/>
              </a:buClr>
              <a:buSzPct val="68750"/>
              <a:buFont typeface="Wingdings"/>
              <a:buChar char=""/>
              <a:tabLst>
                <a:tab pos="1056640" algn="l"/>
              </a:tabLst>
            </a:pPr>
            <a:r>
              <a:rPr dirty="0" sz="2400" spc="-20" b="1">
                <a:solidFill>
                  <a:srgbClr val="FF5CFF"/>
                </a:solidFill>
                <a:latin typeface="宋体"/>
                <a:cs typeface="宋体"/>
              </a:rPr>
              <a:t>分配物理寄存器</a:t>
            </a:r>
            <a:r>
              <a:rPr dirty="0" sz="2400" spc="-25" b="1">
                <a:solidFill>
                  <a:srgbClr val="40458B"/>
                </a:solidFill>
                <a:latin typeface="宋体"/>
                <a:cs typeface="宋体"/>
              </a:rPr>
              <a:t>：每条新指令到来时，为其分配一个新的物理寄存器，用于存储</a:t>
            </a:r>
            <a:r>
              <a:rPr dirty="0" sz="2400" spc="-30" b="1">
                <a:solidFill>
                  <a:srgbClr val="40458B"/>
                </a:solidFill>
                <a:latin typeface="宋体"/>
                <a:cs typeface="宋体"/>
              </a:rPr>
              <a:t>计算结果。</a:t>
            </a:r>
            <a:endParaRPr sz="2400">
              <a:latin typeface="宋体"/>
              <a:cs typeface="宋体"/>
            </a:endParaRPr>
          </a:p>
          <a:p>
            <a:pPr lvl="1" marL="1056005" indent="-456565">
              <a:lnSpc>
                <a:spcPct val="100000"/>
              </a:lnSpc>
              <a:spcBef>
                <a:spcPts val="1150"/>
              </a:spcBef>
              <a:buClr>
                <a:srgbClr val="4668F5"/>
              </a:buClr>
              <a:buSzPct val="68750"/>
              <a:buFont typeface="Wingdings"/>
              <a:buChar char=""/>
              <a:tabLst>
                <a:tab pos="1056005" algn="l"/>
              </a:tabLst>
            </a:pPr>
            <a:r>
              <a:rPr dirty="0" sz="2400" spc="-25" b="1">
                <a:solidFill>
                  <a:srgbClr val="D50092"/>
                </a:solidFill>
                <a:latin typeface="宋体"/>
                <a:cs typeface="宋体"/>
              </a:rPr>
              <a:t>更新映射表：</a:t>
            </a:r>
            <a:r>
              <a:rPr dirty="0" sz="2400" spc="-25" b="1">
                <a:solidFill>
                  <a:srgbClr val="40458B"/>
                </a:solidFill>
                <a:latin typeface="宋体"/>
                <a:cs typeface="宋体"/>
              </a:rPr>
              <a:t>当指令完成并提交后，更新映射表以反映新的寄存器分配</a:t>
            </a:r>
            <a:r>
              <a:rPr dirty="0" sz="2400" spc="-50" b="1">
                <a:solidFill>
                  <a:srgbClr val="D50092"/>
                </a:solidFill>
                <a:latin typeface="宋体"/>
                <a:cs typeface="宋体"/>
              </a:rPr>
              <a:t>。</a:t>
            </a:r>
            <a:endParaRPr sz="2400">
              <a:latin typeface="宋体"/>
              <a:cs typeface="宋体"/>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150/175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1159865" y="1307074"/>
            <a:ext cx="10454005" cy="1562735"/>
          </a:xfrm>
          <a:prstGeom prst="rect">
            <a:avLst/>
          </a:prstGeom>
        </p:spPr>
        <p:txBody>
          <a:bodyPr wrap="square" lIns="0" tIns="13335" rIns="0" bIns="0" rtlCol="0" vert="horz">
            <a:spAutoFit/>
          </a:bodyPr>
          <a:lstStyle/>
          <a:p>
            <a:pPr marL="12700" marR="5080" indent="466090">
              <a:lnSpc>
                <a:spcPct val="140000"/>
              </a:lnSpc>
              <a:spcBef>
                <a:spcPts val="105"/>
              </a:spcBef>
            </a:pPr>
            <a:r>
              <a:rPr dirty="0" sz="2400" spc="-20" b="1">
                <a:solidFill>
                  <a:srgbClr val="001F5F"/>
                </a:solidFill>
                <a:latin typeface="宋体"/>
                <a:cs typeface="宋体"/>
              </a:rPr>
              <a:t>例</a:t>
            </a:r>
            <a:r>
              <a:rPr dirty="0" sz="2400" spc="-10" b="1">
                <a:solidFill>
                  <a:srgbClr val="001F5F"/>
                </a:solidFill>
                <a:latin typeface="宋体"/>
                <a:cs typeface="宋体"/>
              </a:rPr>
              <a:t>5.4</a:t>
            </a:r>
            <a:r>
              <a:rPr dirty="0" sz="2400" spc="10" b="1">
                <a:solidFill>
                  <a:srgbClr val="001F5F"/>
                </a:solidFill>
                <a:latin typeface="宋体"/>
                <a:cs typeface="宋体"/>
              </a:rPr>
              <a:t> </a:t>
            </a:r>
            <a:r>
              <a:rPr dirty="0" sz="2400" spc="-20" b="1">
                <a:latin typeface="宋体"/>
                <a:cs typeface="宋体"/>
              </a:rPr>
              <a:t>假设浮点功能部件的延迟时间为：加法</a:t>
            </a:r>
            <a:r>
              <a:rPr dirty="0" sz="2400" spc="-5" b="1">
                <a:solidFill>
                  <a:srgbClr val="9933FF"/>
                </a:solidFill>
                <a:latin typeface="宋体"/>
                <a:cs typeface="宋体"/>
              </a:rPr>
              <a:t>2</a:t>
            </a:r>
            <a:r>
              <a:rPr dirty="0" sz="2400" spc="-20" b="1">
                <a:latin typeface="宋体"/>
                <a:cs typeface="宋体"/>
              </a:rPr>
              <a:t>个时钟周期，乘法</a:t>
            </a:r>
            <a:r>
              <a:rPr dirty="0" sz="2400" spc="-5" b="1">
                <a:solidFill>
                  <a:srgbClr val="9933FF"/>
                </a:solidFill>
                <a:latin typeface="宋体"/>
                <a:cs typeface="宋体"/>
              </a:rPr>
              <a:t>10</a:t>
            </a:r>
            <a:r>
              <a:rPr dirty="0" sz="2400" spc="-20" b="1">
                <a:latin typeface="宋体"/>
                <a:cs typeface="宋体"/>
              </a:rPr>
              <a:t>个时钟周期，除法</a:t>
            </a:r>
            <a:r>
              <a:rPr dirty="0" sz="2400" spc="-15" b="1">
                <a:solidFill>
                  <a:srgbClr val="9933FF"/>
                </a:solidFill>
                <a:latin typeface="宋体"/>
                <a:cs typeface="宋体"/>
              </a:rPr>
              <a:t>40</a:t>
            </a:r>
            <a:r>
              <a:rPr dirty="0" sz="2400" spc="-15" b="1">
                <a:latin typeface="宋体"/>
                <a:cs typeface="宋体"/>
              </a:rPr>
              <a:t>个时钟周期。对于下面的代码段，给出当指令</a:t>
            </a:r>
            <a:r>
              <a:rPr dirty="0" sz="2400" spc="-15" b="1">
                <a:solidFill>
                  <a:srgbClr val="D50092"/>
                </a:solidFill>
                <a:latin typeface="宋体"/>
                <a:cs typeface="宋体"/>
              </a:rPr>
              <a:t>MUL.D</a:t>
            </a:r>
            <a:r>
              <a:rPr dirty="0" sz="2400" spc="-15" b="1">
                <a:latin typeface="宋体"/>
                <a:cs typeface="宋体"/>
              </a:rPr>
              <a:t>即将确认时的状态表内容。</a:t>
            </a:r>
            <a:endParaRPr sz="2400">
              <a:latin typeface="宋体"/>
              <a:cs typeface="宋体"/>
            </a:endParaRPr>
          </a:p>
        </p:txBody>
      </p:sp>
      <p:graphicFrame>
        <p:nvGraphicFramePr>
          <p:cNvPr id="11" name="object 11" descr=""/>
          <p:cNvGraphicFramePr>
            <a:graphicFrameLocks noGrp="1"/>
          </p:cNvGraphicFramePr>
          <p:nvPr/>
        </p:nvGraphicFramePr>
        <p:xfrm>
          <a:off x="3302127" y="3064700"/>
          <a:ext cx="3945890" cy="2863849"/>
        </p:xfrm>
        <a:graphic>
          <a:graphicData uri="http://schemas.openxmlformats.org/drawingml/2006/table">
            <a:tbl>
              <a:tblPr firstRow="1" bandRow="1">
                <a:tableStyleId>{2D5ABB26-0587-4C30-8999-92F81FD0307C}</a:tableStyleId>
              </a:tblPr>
              <a:tblGrid>
                <a:gridCol w="936625"/>
                <a:gridCol w="2933065"/>
              </a:tblGrid>
              <a:tr h="408305">
                <a:tc>
                  <a:txBody>
                    <a:bodyPr/>
                    <a:lstStyle/>
                    <a:p>
                      <a:pPr marL="31750">
                        <a:lnSpc>
                          <a:spcPts val="2545"/>
                        </a:lnSpc>
                      </a:pPr>
                      <a:r>
                        <a:rPr dirty="0" sz="2400" spc="-25" b="1">
                          <a:solidFill>
                            <a:srgbClr val="40458B"/>
                          </a:solidFill>
                          <a:latin typeface="宋体"/>
                          <a:cs typeface="宋体"/>
                        </a:rPr>
                        <a:t>L.D</a:t>
                      </a:r>
                      <a:endParaRPr sz="2400">
                        <a:latin typeface="宋体"/>
                        <a:cs typeface="宋体"/>
                      </a:endParaRPr>
                    </a:p>
                  </a:txBody>
                  <a:tcPr marL="0" marR="0" marB="0" marT="0"/>
                </a:tc>
                <a:tc>
                  <a:txBody>
                    <a:bodyPr/>
                    <a:lstStyle/>
                    <a:p>
                      <a:pPr algn="r" marR="24130">
                        <a:lnSpc>
                          <a:spcPts val="2545"/>
                        </a:lnSpc>
                      </a:pPr>
                      <a:r>
                        <a:rPr dirty="0" sz="2400" spc="-10" b="1">
                          <a:solidFill>
                            <a:srgbClr val="40458B"/>
                          </a:solidFill>
                          <a:latin typeface="宋体"/>
                          <a:cs typeface="宋体"/>
                        </a:rPr>
                        <a:t>F6,34（R2）</a:t>
                      </a:r>
                      <a:endParaRPr sz="2400">
                        <a:latin typeface="宋体"/>
                        <a:cs typeface="宋体"/>
                      </a:endParaRPr>
                    </a:p>
                  </a:txBody>
                  <a:tcPr marL="0" marR="0" marB="0" marT="0"/>
                </a:tc>
              </a:tr>
              <a:tr h="511809">
                <a:tc>
                  <a:txBody>
                    <a:bodyPr/>
                    <a:lstStyle/>
                    <a:p>
                      <a:pPr marL="31750">
                        <a:lnSpc>
                          <a:spcPct val="100000"/>
                        </a:lnSpc>
                        <a:spcBef>
                          <a:spcPts val="475"/>
                        </a:spcBef>
                      </a:pPr>
                      <a:r>
                        <a:rPr dirty="0" sz="2400" spc="-25" b="1">
                          <a:solidFill>
                            <a:srgbClr val="40458B"/>
                          </a:solidFill>
                          <a:latin typeface="宋体"/>
                          <a:cs typeface="宋体"/>
                        </a:rPr>
                        <a:t>L.D</a:t>
                      </a:r>
                      <a:endParaRPr sz="2400">
                        <a:latin typeface="宋体"/>
                        <a:cs typeface="宋体"/>
                      </a:endParaRPr>
                    </a:p>
                  </a:txBody>
                  <a:tcPr marL="0" marR="0" marB="0" marT="60325"/>
                </a:tc>
                <a:tc>
                  <a:txBody>
                    <a:bodyPr/>
                    <a:lstStyle/>
                    <a:p>
                      <a:pPr algn="r" marR="24130">
                        <a:lnSpc>
                          <a:spcPct val="100000"/>
                        </a:lnSpc>
                        <a:spcBef>
                          <a:spcPts val="475"/>
                        </a:spcBef>
                      </a:pPr>
                      <a:r>
                        <a:rPr dirty="0" sz="2400" spc="-10" b="1">
                          <a:solidFill>
                            <a:srgbClr val="40458B"/>
                          </a:solidFill>
                          <a:latin typeface="宋体"/>
                          <a:cs typeface="宋体"/>
                        </a:rPr>
                        <a:t>F2,45（R3）</a:t>
                      </a:r>
                      <a:endParaRPr sz="2400">
                        <a:latin typeface="宋体"/>
                        <a:cs typeface="宋体"/>
                      </a:endParaRPr>
                    </a:p>
                  </a:txBody>
                  <a:tcPr marL="0" marR="0" marB="0" marT="60325"/>
                </a:tc>
              </a:tr>
              <a:tr h="511809">
                <a:tc>
                  <a:txBody>
                    <a:bodyPr/>
                    <a:lstStyle/>
                    <a:p>
                      <a:pPr marL="31750">
                        <a:lnSpc>
                          <a:spcPct val="100000"/>
                        </a:lnSpc>
                        <a:spcBef>
                          <a:spcPts val="480"/>
                        </a:spcBef>
                      </a:pPr>
                      <a:r>
                        <a:rPr dirty="0" sz="2400" spc="-10" b="1">
                          <a:solidFill>
                            <a:srgbClr val="40458B"/>
                          </a:solidFill>
                          <a:latin typeface="宋体"/>
                          <a:cs typeface="宋体"/>
                        </a:rPr>
                        <a:t>MUL.D</a:t>
                      </a:r>
                      <a:endParaRPr sz="2400">
                        <a:latin typeface="宋体"/>
                        <a:cs typeface="宋体"/>
                      </a:endParaRPr>
                    </a:p>
                  </a:txBody>
                  <a:tcPr marL="0" marR="0" marB="0" marT="60960"/>
                </a:tc>
                <a:tc>
                  <a:txBody>
                    <a:bodyPr/>
                    <a:lstStyle/>
                    <a:p>
                      <a:pPr marL="134620">
                        <a:lnSpc>
                          <a:spcPct val="100000"/>
                        </a:lnSpc>
                        <a:spcBef>
                          <a:spcPts val="480"/>
                        </a:spcBef>
                      </a:pPr>
                      <a:r>
                        <a:rPr dirty="0" sz="2400" spc="-10" b="1">
                          <a:solidFill>
                            <a:srgbClr val="40458B"/>
                          </a:solidFill>
                          <a:latin typeface="宋体"/>
                          <a:cs typeface="宋体"/>
                        </a:rPr>
                        <a:t>F0,F2,F4</a:t>
                      </a:r>
                      <a:endParaRPr sz="2400">
                        <a:latin typeface="宋体"/>
                        <a:cs typeface="宋体"/>
                      </a:endParaRPr>
                    </a:p>
                  </a:txBody>
                  <a:tcPr marL="0" marR="0" marB="0" marT="60960"/>
                </a:tc>
              </a:tr>
              <a:tr h="511809">
                <a:tc>
                  <a:txBody>
                    <a:bodyPr/>
                    <a:lstStyle/>
                    <a:p>
                      <a:pPr marL="31750">
                        <a:lnSpc>
                          <a:spcPct val="100000"/>
                        </a:lnSpc>
                        <a:spcBef>
                          <a:spcPts val="480"/>
                        </a:spcBef>
                      </a:pPr>
                      <a:r>
                        <a:rPr dirty="0" sz="2400" spc="-10" b="1">
                          <a:solidFill>
                            <a:srgbClr val="40458B"/>
                          </a:solidFill>
                          <a:latin typeface="宋体"/>
                          <a:cs typeface="宋体"/>
                        </a:rPr>
                        <a:t>SUB.D</a:t>
                      </a:r>
                      <a:endParaRPr sz="2400">
                        <a:latin typeface="宋体"/>
                        <a:cs typeface="宋体"/>
                      </a:endParaRPr>
                    </a:p>
                  </a:txBody>
                  <a:tcPr marL="0" marR="0" marB="0" marT="60960"/>
                </a:tc>
                <a:tc>
                  <a:txBody>
                    <a:bodyPr/>
                    <a:lstStyle/>
                    <a:p>
                      <a:pPr marL="134620">
                        <a:lnSpc>
                          <a:spcPct val="100000"/>
                        </a:lnSpc>
                        <a:spcBef>
                          <a:spcPts val="480"/>
                        </a:spcBef>
                      </a:pPr>
                      <a:r>
                        <a:rPr dirty="0" sz="2400" spc="-10" b="1">
                          <a:solidFill>
                            <a:srgbClr val="40458B"/>
                          </a:solidFill>
                          <a:latin typeface="宋体"/>
                          <a:cs typeface="宋体"/>
                        </a:rPr>
                        <a:t>F8,F6,F2</a:t>
                      </a:r>
                      <a:endParaRPr sz="2400">
                        <a:latin typeface="宋体"/>
                        <a:cs typeface="宋体"/>
                      </a:endParaRPr>
                    </a:p>
                  </a:txBody>
                  <a:tcPr marL="0" marR="0" marB="0" marT="60960"/>
                </a:tc>
              </a:tr>
              <a:tr h="511809">
                <a:tc>
                  <a:txBody>
                    <a:bodyPr/>
                    <a:lstStyle/>
                    <a:p>
                      <a:pPr marL="31750">
                        <a:lnSpc>
                          <a:spcPct val="100000"/>
                        </a:lnSpc>
                        <a:spcBef>
                          <a:spcPts val="475"/>
                        </a:spcBef>
                      </a:pPr>
                      <a:r>
                        <a:rPr dirty="0" sz="2400" spc="-10" b="1">
                          <a:solidFill>
                            <a:srgbClr val="40458B"/>
                          </a:solidFill>
                          <a:latin typeface="宋体"/>
                          <a:cs typeface="宋体"/>
                        </a:rPr>
                        <a:t>DIV.D</a:t>
                      </a:r>
                      <a:endParaRPr sz="2400">
                        <a:latin typeface="宋体"/>
                        <a:cs typeface="宋体"/>
                      </a:endParaRPr>
                    </a:p>
                  </a:txBody>
                  <a:tcPr marL="0" marR="0" marB="0" marT="60325"/>
                </a:tc>
                <a:tc>
                  <a:txBody>
                    <a:bodyPr/>
                    <a:lstStyle/>
                    <a:p>
                      <a:pPr marL="134620">
                        <a:lnSpc>
                          <a:spcPct val="100000"/>
                        </a:lnSpc>
                        <a:spcBef>
                          <a:spcPts val="475"/>
                        </a:spcBef>
                      </a:pPr>
                      <a:r>
                        <a:rPr dirty="0" sz="2400" spc="-10" b="1">
                          <a:solidFill>
                            <a:srgbClr val="40458B"/>
                          </a:solidFill>
                          <a:latin typeface="宋体"/>
                          <a:cs typeface="宋体"/>
                        </a:rPr>
                        <a:t>F10,F0,F6</a:t>
                      </a:r>
                      <a:endParaRPr sz="2400">
                        <a:latin typeface="宋体"/>
                        <a:cs typeface="宋体"/>
                      </a:endParaRPr>
                    </a:p>
                  </a:txBody>
                  <a:tcPr marL="0" marR="0" marB="0" marT="60325"/>
                </a:tc>
              </a:tr>
              <a:tr h="408305">
                <a:tc>
                  <a:txBody>
                    <a:bodyPr/>
                    <a:lstStyle/>
                    <a:p>
                      <a:pPr marL="31750">
                        <a:lnSpc>
                          <a:spcPts val="2640"/>
                        </a:lnSpc>
                        <a:spcBef>
                          <a:spcPts val="480"/>
                        </a:spcBef>
                      </a:pPr>
                      <a:r>
                        <a:rPr dirty="0" sz="2400" spc="-10" b="1">
                          <a:solidFill>
                            <a:srgbClr val="40458B"/>
                          </a:solidFill>
                          <a:latin typeface="宋体"/>
                          <a:cs typeface="宋体"/>
                        </a:rPr>
                        <a:t>ADD.D</a:t>
                      </a:r>
                      <a:endParaRPr sz="2400">
                        <a:latin typeface="宋体"/>
                        <a:cs typeface="宋体"/>
                      </a:endParaRPr>
                    </a:p>
                  </a:txBody>
                  <a:tcPr marL="0" marR="0" marB="0" marT="60960"/>
                </a:tc>
                <a:tc>
                  <a:txBody>
                    <a:bodyPr/>
                    <a:lstStyle/>
                    <a:p>
                      <a:pPr marL="134620">
                        <a:lnSpc>
                          <a:spcPts val="2640"/>
                        </a:lnSpc>
                        <a:spcBef>
                          <a:spcPts val="480"/>
                        </a:spcBef>
                      </a:pPr>
                      <a:r>
                        <a:rPr dirty="0" sz="2400" spc="-10" b="1">
                          <a:solidFill>
                            <a:srgbClr val="40458B"/>
                          </a:solidFill>
                          <a:latin typeface="宋体"/>
                          <a:cs typeface="宋体"/>
                        </a:rPr>
                        <a:t>F6,F8,F2</a:t>
                      </a:r>
                      <a:endParaRPr sz="2400">
                        <a:latin typeface="宋体"/>
                        <a:cs typeface="宋体"/>
                      </a:endParaRPr>
                    </a:p>
                  </a:txBody>
                  <a:tcPr marL="0" marR="0" marB="0" marT="60960"/>
                </a:tc>
              </a:tr>
            </a:tbl>
          </a:graphicData>
        </a:graphic>
      </p:graphicFrame>
      <p:sp>
        <p:nvSpPr>
          <p:cNvPr id="12" name="object 12" descr=""/>
          <p:cNvSpPr txBox="1"/>
          <p:nvPr/>
        </p:nvSpPr>
        <p:spPr>
          <a:xfrm>
            <a:off x="702665" y="6082080"/>
            <a:ext cx="8022590" cy="391160"/>
          </a:xfrm>
          <a:prstGeom prst="rect">
            <a:avLst/>
          </a:prstGeom>
        </p:spPr>
        <p:txBody>
          <a:bodyPr wrap="square" lIns="0" tIns="12700" rIns="0" bIns="0" rtlCol="0" vert="horz">
            <a:spAutoFit/>
          </a:bodyPr>
          <a:lstStyle/>
          <a:p>
            <a:pPr marL="12700">
              <a:lnSpc>
                <a:spcPct val="100000"/>
              </a:lnSpc>
              <a:spcBef>
                <a:spcPts val="100"/>
              </a:spcBef>
              <a:tabLst>
                <a:tab pos="628015" algn="l"/>
              </a:tabLst>
            </a:pPr>
            <a:r>
              <a:rPr dirty="0" sz="2400" spc="-50" b="1">
                <a:solidFill>
                  <a:srgbClr val="40458B"/>
                </a:solidFill>
                <a:latin typeface="宋体"/>
                <a:cs typeface="宋体"/>
              </a:rPr>
              <a:t>C</a:t>
            </a:r>
            <a:r>
              <a:rPr dirty="0" sz="2400" b="1">
                <a:solidFill>
                  <a:srgbClr val="40458B"/>
                </a:solidFill>
                <a:latin typeface="宋体"/>
                <a:cs typeface="宋体"/>
              </a:rPr>
              <a:t>	</a:t>
            </a:r>
            <a:r>
              <a:rPr dirty="0" sz="2400" spc="-20" b="1">
                <a:solidFill>
                  <a:srgbClr val="40458B"/>
                </a:solidFill>
                <a:latin typeface="宋体"/>
                <a:cs typeface="宋体"/>
              </a:rPr>
              <a:t>参考网址：</a:t>
            </a:r>
            <a:r>
              <a:rPr dirty="0" u="sng" sz="2400" spc="-10" b="1">
                <a:solidFill>
                  <a:srgbClr val="4668F5"/>
                </a:solidFill>
                <a:uFill>
                  <a:solidFill>
                    <a:srgbClr val="4668F5"/>
                  </a:solidFill>
                </a:uFill>
                <a:latin typeface="宋体"/>
                <a:cs typeface="宋体"/>
                <a:hlinkClick r:id="rId2"/>
              </a:rPr>
              <a:t>https://zhuanlan.zhihu.com/p/501631371</a:t>
            </a:r>
            <a:endParaRPr sz="2400">
              <a:latin typeface="宋体"/>
              <a:cs typeface="宋体"/>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689163" y="1235138"/>
          <a:ext cx="8890000" cy="5027930"/>
        </p:xfrm>
        <a:graphic>
          <a:graphicData uri="http://schemas.openxmlformats.org/drawingml/2006/table">
            <a:tbl>
              <a:tblPr firstRow="1" bandRow="1">
                <a:tableStyleId>{2D5ABB26-0587-4C30-8999-92F81FD0307C}</a:tableStyleId>
              </a:tblPr>
              <a:tblGrid>
                <a:gridCol w="810895"/>
                <a:gridCol w="810895"/>
                <a:gridCol w="969645"/>
                <a:gridCol w="1512569"/>
                <a:gridCol w="2231390"/>
                <a:gridCol w="647064"/>
                <a:gridCol w="575309"/>
                <a:gridCol w="718184"/>
                <a:gridCol w="503554"/>
              </a:tblGrid>
              <a:tr h="530225">
                <a:tc rowSpan="2">
                  <a:txBody>
                    <a:bodyPr/>
                    <a:lstStyle/>
                    <a:p>
                      <a:pPr marL="97790">
                        <a:lnSpc>
                          <a:spcPct val="100000"/>
                        </a:lnSpc>
                        <a:spcBef>
                          <a:spcPts val="2280"/>
                        </a:spcBef>
                      </a:pPr>
                      <a:r>
                        <a:rPr dirty="0" sz="2400" spc="-35" b="1">
                          <a:solidFill>
                            <a:srgbClr val="E14B04"/>
                          </a:solidFill>
                          <a:latin typeface="宋体"/>
                          <a:cs typeface="宋体"/>
                        </a:rPr>
                        <a:t>名称</a:t>
                      </a:r>
                      <a:endParaRPr sz="2400">
                        <a:latin typeface="宋体"/>
                        <a:cs typeface="宋体"/>
                      </a:endParaRPr>
                    </a:p>
                  </a:txBody>
                  <a:tcPr marL="0" marR="0" marB="0" marT="28956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solidFill>
                      <a:srgbClr val="F6EBC2"/>
                    </a:solidFill>
                  </a:tcPr>
                </a:tc>
                <a:tc gridSpan="8">
                  <a:txBody>
                    <a:bodyPr/>
                    <a:lstStyle/>
                    <a:p>
                      <a:pPr algn="ctr" marL="635">
                        <a:lnSpc>
                          <a:spcPct val="100000"/>
                        </a:lnSpc>
                        <a:spcBef>
                          <a:spcPts val="555"/>
                        </a:spcBef>
                      </a:pPr>
                      <a:r>
                        <a:rPr dirty="0" sz="2400" spc="-35" b="1">
                          <a:solidFill>
                            <a:srgbClr val="E14B04"/>
                          </a:solidFill>
                          <a:latin typeface="宋体"/>
                          <a:cs typeface="宋体"/>
                        </a:rPr>
                        <a:t>保留站</a:t>
                      </a:r>
                      <a:endParaRPr sz="2400">
                        <a:latin typeface="宋体"/>
                        <a:cs typeface="宋体"/>
                      </a:endParaRPr>
                    </a:p>
                  </a:txBody>
                  <a:tcPr marL="0" marR="0" marB="0" marT="7048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solidFill>
                      <a:srgbClr val="F6EBC2"/>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544195">
                <a:tc vMerge="1">
                  <a:txBody>
                    <a:bodyPr/>
                    <a:lstStyle/>
                    <a:p>
                      <a:pPr/>
                    </a:p>
                  </a:txBody>
                  <a:tcPr marL="0" marR="0" marB="0" marT="28956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885"/>
                        </a:spcBef>
                      </a:pPr>
                      <a:r>
                        <a:rPr dirty="0" sz="2000" spc="-20">
                          <a:solidFill>
                            <a:srgbClr val="660066"/>
                          </a:solidFill>
                          <a:latin typeface="Tahoma"/>
                          <a:cs typeface="Tahoma"/>
                        </a:rPr>
                        <a:t>Busy</a:t>
                      </a:r>
                      <a:endParaRPr sz="2000">
                        <a:latin typeface="Tahoma"/>
                        <a:cs typeface="Tahoma"/>
                      </a:endParaRPr>
                    </a:p>
                  </a:txBody>
                  <a:tcPr marL="0" marR="0" marB="0" marT="1123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1905">
                        <a:lnSpc>
                          <a:spcPct val="100000"/>
                        </a:lnSpc>
                        <a:spcBef>
                          <a:spcPts val="885"/>
                        </a:spcBef>
                      </a:pPr>
                      <a:r>
                        <a:rPr dirty="0" sz="2000" spc="-25">
                          <a:solidFill>
                            <a:srgbClr val="660066"/>
                          </a:solidFill>
                          <a:latin typeface="Tahoma"/>
                          <a:cs typeface="Tahoma"/>
                        </a:rPr>
                        <a:t>Op</a:t>
                      </a:r>
                      <a:endParaRPr sz="2000">
                        <a:latin typeface="Tahoma"/>
                        <a:cs typeface="Tahoma"/>
                      </a:endParaRPr>
                    </a:p>
                  </a:txBody>
                  <a:tcPr marL="0" marR="0" marB="0" marT="1123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885"/>
                        </a:spcBef>
                      </a:pPr>
                      <a:r>
                        <a:rPr dirty="0" sz="2000" spc="-25">
                          <a:solidFill>
                            <a:srgbClr val="660066"/>
                          </a:solidFill>
                          <a:latin typeface="Tahoma"/>
                          <a:cs typeface="Tahoma"/>
                        </a:rPr>
                        <a:t>Vj</a:t>
                      </a:r>
                      <a:endParaRPr sz="2000">
                        <a:latin typeface="Tahoma"/>
                        <a:cs typeface="Tahoma"/>
                      </a:endParaRPr>
                    </a:p>
                  </a:txBody>
                  <a:tcPr marL="0" marR="0" marB="0" marT="1123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885"/>
                        </a:spcBef>
                      </a:pPr>
                      <a:r>
                        <a:rPr dirty="0" sz="2000" spc="-25">
                          <a:solidFill>
                            <a:srgbClr val="660066"/>
                          </a:solidFill>
                          <a:latin typeface="Tahoma"/>
                          <a:cs typeface="Tahoma"/>
                        </a:rPr>
                        <a:t>Vk</a:t>
                      </a:r>
                      <a:endParaRPr sz="2000">
                        <a:latin typeface="Tahoma"/>
                        <a:cs typeface="Tahoma"/>
                      </a:endParaRPr>
                    </a:p>
                  </a:txBody>
                  <a:tcPr marL="0" marR="0" marB="0" marT="1123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marL="198120">
                        <a:lnSpc>
                          <a:spcPct val="100000"/>
                        </a:lnSpc>
                        <a:spcBef>
                          <a:spcPts val="885"/>
                        </a:spcBef>
                      </a:pPr>
                      <a:r>
                        <a:rPr dirty="0" sz="2000" spc="-25">
                          <a:solidFill>
                            <a:srgbClr val="660066"/>
                          </a:solidFill>
                          <a:latin typeface="Tahoma"/>
                          <a:cs typeface="Tahoma"/>
                        </a:rPr>
                        <a:t>Qj</a:t>
                      </a:r>
                      <a:endParaRPr sz="2000">
                        <a:latin typeface="Tahoma"/>
                        <a:cs typeface="Tahoma"/>
                      </a:endParaRPr>
                    </a:p>
                  </a:txBody>
                  <a:tcPr marL="0" marR="0" marB="0" marT="1123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marL="135255">
                        <a:lnSpc>
                          <a:spcPct val="100000"/>
                        </a:lnSpc>
                        <a:spcBef>
                          <a:spcPts val="885"/>
                        </a:spcBef>
                      </a:pPr>
                      <a:r>
                        <a:rPr dirty="0" sz="2000" spc="-25">
                          <a:solidFill>
                            <a:srgbClr val="660066"/>
                          </a:solidFill>
                          <a:latin typeface="Tahoma"/>
                          <a:cs typeface="Tahoma"/>
                        </a:rPr>
                        <a:t>Qk</a:t>
                      </a:r>
                      <a:endParaRPr sz="2000">
                        <a:latin typeface="Tahoma"/>
                        <a:cs typeface="Tahoma"/>
                      </a:endParaRPr>
                    </a:p>
                  </a:txBody>
                  <a:tcPr marL="0" marR="0" marB="0" marT="1123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885"/>
                        </a:spcBef>
                      </a:pPr>
                      <a:r>
                        <a:rPr dirty="0" sz="2000" spc="-20">
                          <a:solidFill>
                            <a:srgbClr val="660066"/>
                          </a:solidFill>
                          <a:latin typeface="Tahoma"/>
                          <a:cs typeface="Tahoma"/>
                        </a:rPr>
                        <a:t>Dest</a:t>
                      </a:r>
                      <a:endParaRPr sz="2000">
                        <a:latin typeface="Tahoma"/>
                        <a:cs typeface="Tahoma"/>
                      </a:endParaRPr>
                    </a:p>
                  </a:txBody>
                  <a:tcPr marL="0" marR="0" marB="0" marT="1123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1270">
                        <a:lnSpc>
                          <a:spcPct val="100000"/>
                        </a:lnSpc>
                        <a:spcBef>
                          <a:spcPts val="885"/>
                        </a:spcBef>
                      </a:pPr>
                      <a:r>
                        <a:rPr dirty="0" sz="2000" spc="-50">
                          <a:solidFill>
                            <a:srgbClr val="660066"/>
                          </a:solidFill>
                          <a:latin typeface="Tahoma"/>
                          <a:cs typeface="Tahoma"/>
                        </a:rPr>
                        <a:t>A</a:t>
                      </a:r>
                      <a:endParaRPr sz="2000">
                        <a:latin typeface="Tahoma"/>
                        <a:cs typeface="Tahoma"/>
                      </a:endParaRPr>
                    </a:p>
                  </a:txBody>
                  <a:tcPr marL="0" marR="0" marB="0" marT="11239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542925">
                <a:tc>
                  <a:txBody>
                    <a:bodyPr/>
                    <a:lstStyle/>
                    <a:p>
                      <a:pPr algn="r" marR="86360">
                        <a:lnSpc>
                          <a:spcPct val="100000"/>
                        </a:lnSpc>
                        <a:spcBef>
                          <a:spcPts val="830"/>
                        </a:spcBef>
                      </a:pPr>
                      <a:r>
                        <a:rPr dirty="0" sz="1800" spc="-10" b="1">
                          <a:solidFill>
                            <a:srgbClr val="008000"/>
                          </a:solidFill>
                          <a:latin typeface="Times New Roman"/>
                          <a:cs typeface="Times New Roman"/>
                        </a:rPr>
                        <a:t>Load1</a:t>
                      </a:r>
                      <a:endParaRPr sz="1800">
                        <a:latin typeface="Times New Roman"/>
                        <a:cs typeface="Times New Roman"/>
                      </a:endParaRPr>
                    </a:p>
                  </a:txBody>
                  <a:tcPr marL="0" marR="0" marB="0" marT="10541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830"/>
                        </a:spcBef>
                      </a:pPr>
                      <a:r>
                        <a:rPr dirty="0" sz="1800" spc="-25" b="1">
                          <a:solidFill>
                            <a:srgbClr val="40458B"/>
                          </a:solidFill>
                          <a:latin typeface="Times New Roman"/>
                          <a:cs typeface="Times New Roman"/>
                        </a:rPr>
                        <a:t>no</a:t>
                      </a:r>
                      <a:endParaRPr sz="1800">
                        <a:latin typeface="Times New Roman"/>
                        <a:cs typeface="Times New Roman"/>
                      </a:endParaRPr>
                    </a:p>
                  </a:txBody>
                  <a:tcPr marL="0" marR="0" marB="0" marT="10541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542925">
                <a:tc>
                  <a:txBody>
                    <a:bodyPr/>
                    <a:lstStyle/>
                    <a:p>
                      <a:pPr algn="r" marR="86360">
                        <a:lnSpc>
                          <a:spcPct val="100000"/>
                        </a:lnSpc>
                        <a:spcBef>
                          <a:spcPts val="835"/>
                        </a:spcBef>
                      </a:pPr>
                      <a:r>
                        <a:rPr dirty="0" sz="1800" spc="-10" b="1">
                          <a:solidFill>
                            <a:srgbClr val="008000"/>
                          </a:solidFill>
                          <a:latin typeface="Times New Roman"/>
                          <a:cs typeface="Times New Roman"/>
                        </a:rPr>
                        <a:t>Load2</a:t>
                      </a:r>
                      <a:endParaRPr sz="1800">
                        <a:latin typeface="Times New Roman"/>
                        <a:cs typeface="Times New Roman"/>
                      </a:endParaRPr>
                    </a:p>
                  </a:txBody>
                  <a:tcPr marL="0" marR="0" marB="0" marT="10604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835"/>
                        </a:spcBef>
                      </a:pPr>
                      <a:r>
                        <a:rPr dirty="0" sz="1800" spc="-25" b="1">
                          <a:solidFill>
                            <a:srgbClr val="40458B"/>
                          </a:solidFill>
                          <a:latin typeface="Times New Roman"/>
                          <a:cs typeface="Times New Roman"/>
                        </a:rPr>
                        <a:t>no</a:t>
                      </a:r>
                      <a:endParaRPr sz="1800">
                        <a:latin typeface="Times New Roman"/>
                        <a:cs typeface="Times New Roman"/>
                      </a:endParaRPr>
                    </a:p>
                  </a:txBody>
                  <a:tcPr marL="0" marR="0" marB="0" marT="10604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542925">
                <a:tc>
                  <a:txBody>
                    <a:bodyPr/>
                    <a:lstStyle/>
                    <a:p>
                      <a:pPr algn="r" marR="130810">
                        <a:lnSpc>
                          <a:spcPct val="100000"/>
                        </a:lnSpc>
                        <a:spcBef>
                          <a:spcPts val="835"/>
                        </a:spcBef>
                      </a:pPr>
                      <a:r>
                        <a:rPr dirty="0" sz="1800" spc="-20" b="1">
                          <a:solidFill>
                            <a:srgbClr val="008000"/>
                          </a:solidFill>
                          <a:latin typeface="Times New Roman"/>
                          <a:cs typeface="Times New Roman"/>
                        </a:rPr>
                        <a:t>Add1</a:t>
                      </a:r>
                      <a:endParaRPr sz="1800">
                        <a:latin typeface="Times New Roman"/>
                        <a:cs typeface="Times New Roman"/>
                      </a:endParaRPr>
                    </a:p>
                  </a:txBody>
                  <a:tcPr marL="0" marR="0" marB="0" marT="10604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835"/>
                        </a:spcBef>
                      </a:pPr>
                      <a:r>
                        <a:rPr dirty="0" sz="1800" spc="-25" b="1">
                          <a:solidFill>
                            <a:srgbClr val="40458B"/>
                          </a:solidFill>
                          <a:latin typeface="Times New Roman"/>
                          <a:cs typeface="Times New Roman"/>
                        </a:rPr>
                        <a:t>no</a:t>
                      </a:r>
                      <a:endParaRPr sz="1800">
                        <a:latin typeface="Times New Roman"/>
                        <a:cs typeface="Times New Roman"/>
                      </a:endParaRPr>
                    </a:p>
                  </a:txBody>
                  <a:tcPr marL="0" marR="0" marB="0" marT="10604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544195">
                <a:tc>
                  <a:txBody>
                    <a:bodyPr/>
                    <a:lstStyle/>
                    <a:p>
                      <a:pPr algn="r" marR="130810">
                        <a:lnSpc>
                          <a:spcPct val="100000"/>
                        </a:lnSpc>
                        <a:spcBef>
                          <a:spcPts val="835"/>
                        </a:spcBef>
                      </a:pPr>
                      <a:r>
                        <a:rPr dirty="0" sz="1800" spc="-20" b="1">
                          <a:solidFill>
                            <a:srgbClr val="008000"/>
                          </a:solidFill>
                          <a:latin typeface="Times New Roman"/>
                          <a:cs typeface="Times New Roman"/>
                        </a:rPr>
                        <a:t>Add2</a:t>
                      </a:r>
                      <a:endParaRPr sz="1800">
                        <a:latin typeface="Times New Roman"/>
                        <a:cs typeface="Times New Roman"/>
                      </a:endParaRPr>
                    </a:p>
                  </a:txBody>
                  <a:tcPr marL="0" marR="0" marB="0" marT="10604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835"/>
                        </a:spcBef>
                      </a:pPr>
                      <a:r>
                        <a:rPr dirty="0" sz="1800" spc="-25" b="1">
                          <a:solidFill>
                            <a:srgbClr val="40458B"/>
                          </a:solidFill>
                          <a:latin typeface="Times New Roman"/>
                          <a:cs typeface="Times New Roman"/>
                        </a:rPr>
                        <a:t>no</a:t>
                      </a:r>
                      <a:endParaRPr sz="1800">
                        <a:latin typeface="Times New Roman"/>
                        <a:cs typeface="Times New Roman"/>
                      </a:endParaRPr>
                    </a:p>
                  </a:txBody>
                  <a:tcPr marL="0" marR="0" marB="0" marT="10604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544195">
                <a:tc>
                  <a:txBody>
                    <a:bodyPr/>
                    <a:lstStyle/>
                    <a:p>
                      <a:pPr algn="r" marR="130810">
                        <a:lnSpc>
                          <a:spcPct val="100000"/>
                        </a:lnSpc>
                        <a:spcBef>
                          <a:spcPts val="835"/>
                        </a:spcBef>
                      </a:pPr>
                      <a:r>
                        <a:rPr dirty="0" sz="1800" spc="-20" b="1">
                          <a:solidFill>
                            <a:srgbClr val="008000"/>
                          </a:solidFill>
                          <a:latin typeface="Times New Roman"/>
                          <a:cs typeface="Times New Roman"/>
                        </a:rPr>
                        <a:t>Add3</a:t>
                      </a:r>
                      <a:endParaRPr sz="1800">
                        <a:latin typeface="Times New Roman"/>
                        <a:cs typeface="Times New Roman"/>
                      </a:endParaRPr>
                    </a:p>
                  </a:txBody>
                  <a:tcPr marL="0" marR="0" marB="0" marT="10604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835"/>
                        </a:spcBef>
                      </a:pPr>
                      <a:r>
                        <a:rPr dirty="0" sz="1800" spc="-25" b="1">
                          <a:solidFill>
                            <a:srgbClr val="40458B"/>
                          </a:solidFill>
                          <a:latin typeface="Times New Roman"/>
                          <a:cs typeface="Times New Roman"/>
                        </a:rPr>
                        <a:t>no</a:t>
                      </a:r>
                      <a:endParaRPr sz="1800">
                        <a:latin typeface="Times New Roman"/>
                        <a:cs typeface="Times New Roman"/>
                      </a:endParaRPr>
                    </a:p>
                  </a:txBody>
                  <a:tcPr marL="0" marR="0" marB="0" marT="10604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679450">
                <a:tc>
                  <a:txBody>
                    <a:bodyPr/>
                    <a:lstStyle/>
                    <a:p>
                      <a:pPr algn="r" marR="99695">
                        <a:lnSpc>
                          <a:spcPct val="100000"/>
                        </a:lnSpc>
                        <a:spcBef>
                          <a:spcPts val="1160"/>
                        </a:spcBef>
                      </a:pPr>
                      <a:r>
                        <a:rPr dirty="0" sz="1800" spc="-10" b="1">
                          <a:solidFill>
                            <a:srgbClr val="008000"/>
                          </a:solidFill>
                          <a:latin typeface="Times New Roman"/>
                          <a:cs typeface="Times New Roman"/>
                        </a:rPr>
                        <a:t>Mult1</a:t>
                      </a:r>
                      <a:endParaRPr sz="1800">
                        <a:latin typeface="Times New Roman"/>
                        <a:cs typeface="Times New Roman"/>
                      </a:endParaRPr>
                    </a:p>
                  </a:txBody>
                  <a:tcPr marL="0" marR="0" marB="0" marT="14732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835"/>
                        </a:spcBef>
                      </a:pPr>
                      <a:r>
                        <a:rPr dirty="0" sz="1800" spc="-25" b="1">
                          <a:solidFill>
                            <a:srgbClr val="40458B"/>
                          </a:solidFill>
                          <a:latin typeface="Times New Roman"/>
                          <a:cs typeface="Times New Roman"/>
                        </a:rPr>
                        <a:t>no</a:t>
                      </a:r>
                      <a:endParaRPr sz="1800">
                        <a:latin typeface="Times New Roman"/>
                        <a:cs typeface="Times New Roman"/>
                      </a:endParaRPr>
                    </a:p>
                  </a:txBody>
                  <a:tcPr marL="0" marR="0" marB="0" marT="10604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1270">
                        <a:lnSpc>
                          <a:spcPct val="100000"/>
                        </a:lnSpc>
                        <a:spcBef>
                          <a:spcPts val="835"/>
                        </a:spcBef>
                      </a:pPr>
                      <a:r>
                        <a:rPr dirty="0" sz="1800" spc="-10" b="1">
                          <a:solidFill>
                            <a:srgbClr val="40458B"/>
                          </a:solidFill>
                          <a:latin typeface="Times New Roman"/>
                          <a:cs typeface="Times New Roman"/>
                        </a:rPr>
                        <a:t>MUL.D</a:t>
                      </a:r>
                      <a:endParaRPr sz="1800">
                        <a:latin typeface="Times New Roman"/>
                        <a:cs typeface="Times New Roman"/>
                      </a:endParaRPr>
                    </a:p>
                  </a:txBody>
                  <a:tcPr marL="0" marR="0" marB="0" marT="10604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marL="92075">
                        <a:lnSpc>
                          <a:spcPct val="100000"/>
                        </a:lnSpc>
                        <a:spcBef>
                          <a:spcPts val="95"/>
                        </a:spcBef>
                      </a:pPr>
                      <a:r>
                        <a:rPr dirty="0" sz="1800" spc="-10" b="1">
                          <a:solidFill>
                            <a:srgbClr val="40458B"/>
                          </a:solidFill>
                          <a:latin typeface="Times New Roman"/>
                          <a:cs typeface="Times New Roman"/>
                        </a:rPr>
                        <a:t>Mem[45+</a:t>
                      </a:r>
                      <a:endParaRPr sz="1800">
                        <a:latin typeface="Times New Roman"/>
                        <a:cs typeface="Times New Roman"/>
                      </a:endParaRPr>
                    </a:p>
                    <a:p>
                      <a:pPr marL="206375">
                        <a:lnSpc>
                          <a:spcPct val="100000"/>
                        </a:lnSpc>
                        <a:spcBef>
                          <a:spcPts val="215"/>
                        </a:spcBef>
                      </a:pPr>
                      <a:r>
                        <a:rPr dirty="0" sz="1800" spc="-10" b="1">
                          <a:solidFill>
                            <a:srgbClr val="40458B"/>
                          </a:solidFill>
                          <a:latin typeface="Times New Roman"/>
                          <a:cs typeface="Times New Roman"/>
                        </a:rPr>
                        <a:t>Regs[R3]]</a:t>
                      </a:r>
                      <a:endParaRPr sz="1800">
                        <a:latin typeface="Times New Roman"/>
                        <a:cs typeface="Times New Roman"/>
                      </a:endParaRPr>
                    </a:p>
                  </a:txBody>
                  <a:tcPr marL="0" marR="0" marB="0" marT="1206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marL="92075">
                        <a:lnSpc>
                          <a:spcPct val="100000"/>
                        </a:lnSpc>
                        <a:spcBef>
                          <a:spcPts val="835"/>
                        </a:spcBef>
                      </a:pPr>
                      <a:r>
                        <a:rPr dirty="0" sz="1800" spc="-10" b="1">
                          <a:solidFill>
                            <a:srgbClr val="40458B"/>
                          </a:solidFill>
                          <a:latin typeface="Times New Roman"/>
                          <a:cs typeface="Times New Roman"/>
                        </a:rPr>
                        <a:t>Regs[F4]</a:t>
                      </a:r>
                      <a:endParaRPr sz="1800">
                        <a:latin typeface="Times New Roman"/>
                        <a:cs typeface="Times New Roman"/>
                      </a:endParaRPr>
                    </a:p>
                  </a:txBody>
                  <a:tcPr marL="0" marR="0" marB="0" marT="10604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635">
                        <a:lnSpc>
                          <a:spcPct val="100000"/>
                        </a:lnSpc>
                        <a:spcBef>
                          <a:spcPts val="835"/>
                        </a:spcBef>
                      </a:pPr>
                      <a:r>
                        <a:rPr dirty="0" sz="1800" spc="-25" b="1">
                          <a:solidFill>
                            <a:srgbClr val="40458B"/>
                          </a:solidFill>
                          <a:latin typeface="Times New Roman"/>
                          <a:cs typeface="Times New Roman"/>
                        </a:rPr>
                        <a:t>#3</a:t>
                      </a:r>
                      <a:endParaRPr sz="1800">
                        <a:latin typeface="Times New Roman"/>
                        <a:cs typeface="Times New Roman"/>
                      </a:endParaRPr>
                    </a:p>
                  </a:txBody>
                  <a:tcPr marL="0" marR="0" marB="0" marT="10604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556895">
                <a:tc>
                  <a:txBody>
                    <a:bodyPr/>
                    <a:lstStyle/>
                    <a:p>
                      <a:pPr algn="r" marR="99695">
                        <a:lnSpc>
                          <a:spcPct val="100000"/>
                        </a:lnSpc>
                        <a:spcBef>
                          <a:spcPts val="509"/>
                        </a:spcBef>
                      </a:pPr>
                      <a:r>
                        <a:rPr dirty="0" sz="1800" spc="-10" b="1">
                          <a:solidFill>
                            <a:srgbClr val="008000"/>
                          </a:solidFill>
                          <a:latin typeface="Times New Roman"/>
                          <a:cs typeface="Times New Roman"/>
                        </a:rPr>
                        <a:t>Mult2</a:t>
                      </a:r>
                      <a:endParaRPr sz="1800">
                        <a:latin typeface="Times New Roman"/>
                        <a:cs typeface="Times New Roman"/>
                      </a:endParaRPr>
                    </a:p>
                  </a:txBody>
                  <a:tcPr marL="0" marR="0" marB="0" marT="64769">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F6EBC2"/>
                    </a:solidFill>
                  </a:tcPr>
                </a:tc>
                <a:tc>
                  <a:txBody>
                    <a:bodyPr/>
                    <a:lstStyle/>
                    <a:p>
                      <a:pPr algn="ctr">
                        <a:lnSpc>
                          <a:spcPct val="100000"/>
                        </a:lnSpc>
                        <a:spcBef>
                          <a:spcPts val="835"/>
                        </a:spcBef>
                      </a:pPr>
                      <a:r>
                        <a:rPr dirty="0" sz="1800" spc="-25" b="1">
                          <a:solidFill>
                            <a:srgbClr val="40458B"/>
                          </a:solidFill>
                          <a:latin typeface="Times New Roman"/>
                          <a:cs typeface="Times New Roman"/>
                        </a:rPr>
                        <a:t>yes</a:t>
                      </a:r>
                      <a:endParaRPr sz="1800">
                        <a:latin typeface="Times New Roman"/>
                        <a:cs typeface="Times New Roman"/>
                      </a:endParaRPr>
                    </a:p>
                  </a:txBody>
                  <a:tcPr marL="0" marR="0" marB="0" marT="10604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F6EBC2"/>
                    </a:solidFill>
                  </a:tcPr>
                </a:tc>
                <a:tc>
                  <a:txBody>
                    <a:bodyPr/>
                    <a:lstStyle/>
                    <a:p>
                      <a:pPr algn="ctr">
                        <a:lnSpc>
                          <a:spcPct val="100000"/>
                        </a:lnSpc>
                        <a:spcBef>
                          <a:spcPts val="835"/>
                        </a:spcBef>
                      </a:pPr>
                      <a:r>
                        <a:rPr dirty="0" sz="1800" spc="-10" b="1">
                          <a:solidFill>
                            <a:srgbClr val="40458B"/>
                          </a:solidFill>
                          <a:latin typeface="Times New Roman"/>
                          <a:cs typeface="Times New Roman"/>
                        </a:rPr>
                        <a:t>DIV.D</a:t>
                      </a:r>
                      <a:endParaRPr sz="1800">
                        <a:latin typeface="Times New Roman"/>
                        <a:cs typeface="Times New Roman"/>
                      </a:endParaRPr>
                    </a:p>
                  </a:txBody>
                  <a:tcPr marL="0" marR="0" marB="0" marT="10604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F6EBC2"/>
                    </a:solidFill>
                  </a:tcPr>
                </a:tc>
                <a:tc>
                  <a:txBody>
                    <a:bodyPr/>
                    <a:lstStyle/>
                    <a:p>
                      <a:pPr marL="92075">
                        <a:lnSpc>
                          <a:spcPct val="100000"/>
                        </a:lnSpc>
                        <a:spcBef>
                          <a:spcPts val="509"/>
                        </a:spcBef>
                      </a:pPr>
                      <a:r>
                        <a:rPr dirty="0" sz="1800" spc="-10" b="1">
                          <a:solidFill>
                            <a:srgbClr val="40458B"/>
                          </a:solidFill>
                          <a:latin typeface="Times New Roman"/>
                          <a:cs typeface="Times New Roman"/>
                        </a:rPr>
                        <a:t>#2</a:t>
                      </a:r>
                      <a:r>
                        <a:rPr dirty="0" sz="1800" spc="-10" b="1">
                          <a:solidFill>
                            <a:srgbClr val="40458B"/>
                          </a:solidFill>
                          <a:latin typeface="Symbol"/>
                          <a:cs typeface="Symbol"/>
                        </a:rPr>
                        <a:t></a:t>
                      </a:r>
                      <a:r>
                        <a:rPr dirty="0" sz="1800" spc="-10" b="1">
                          <a:solidFill>
                            <a:srgbClr val="40458B"/>
                          </a:solidFill>
                          <a:latin typeface="Times New Roman"/>
                          <a:cs typeface="Times New Roman"/>
                        </a:rPr>
                        <a:t>Regs[F4]</a:t>
                      </a:r>
                      <a:endParaRPr sz="1800">
                        <a:latin typeface="Times New Roman"/>
                        <a:cs typeface="Times New Roman"/>
                      </a:endParaRPr>
                    </a:p>
                  </a:txBody>
                  <a:tcPr marL="0" marR="0" marB="0" marT="64769">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F6EBC2"/>
                    </a:solidFill>
                  </a:tcPr>
                </a:tc>
                <a:tc>
                  <a:txBody>
                    <a:bodyPr/>
                    <a:lstStyle/>
                    <a:p>
                      <a:pPr marL="92075">
                        <a:lnSpc>
                          <a:spcPct val="100000"/>
                        </a:lnSpc>
                        <a:spcBef>
                          <a:spcPts val="835"/>
                        </a:spcBef>
                      </a:pPr>
                      <a:r>
                        <a:rPr dirty="0" sz="1800" spc="-10" b="1">
                          <a:solidFill>
                            <a:srgbClr val="40458B"/>
                          </a:solidFill>
                          <a:latin typeface="Times New Roman"/>
                          <a:cs typeface="Times New Roman"/>
                        </a:rPr>
                        <a:t>Mem[34+Regs[R2]]</a:t>
                      </a:r>
                      <a:endParaRPr sz="1800">
                        <a:latin typeface="Times New Roman"/>
                        <a:cs typeface="Times New Roman"/>
                      </a:endParaRPr>
                    </a:p>
                  </a:txBody>
                  <a:tcPr marL="0" marR="0" marB="0" marT="10604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F6EBC2"/>
                    </a:solidFill>
                  </a:tcPr>
                </a:tc>
                <a:tc>
                  <a:txBody>
                    <a:bodyPr/>
                    <a:lstStyle/>
                    <a:p>
                      <a:pPr algn="ctr" marL="635">
                        <a:lnSpc>
                          <a:spcPct val="100000"/>
                        </a:lnSpc>
                        <a:spcBef>
                          <a:spcPts val="835"/>
                        </a:spcBef>
                      </a:pPr>
                      <a:r>
                        <a:rPr dirty="0" sz="1800" spc="-25" b="1">
                          <a:solidFill>
                            <a:srgbClr val="40458B"/>
                          </a:solidFill>
                          <a:latin typeface="Times New Roman"/>
                          <a:cs typeface="Times New Roman"/>
                        </a:rPr>
                        <a:t>#5</a:t>
                      </a:r>
                      <a:endParaRPr sz="1800">
                        <a:latin typeface="Times New Roman"/>
                        <a:cs typeface="Times New Roman"/>
                      </a:endParaRPr>
                    </a:p>
                  </a:txBody>
                  <a:tcPr marL="0" marR="0" marB="0" marT="10604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F6EBC2"/>
                    </a:solidFill>
                  </a:tcPr>
                </a:tc>
                <a:tc>
                  <a:txBody>
                    <a:bodyPr/>
                    <a:lstStyle/>
                    <a:p>
                      <a:pPr>
                        <a:lnSpc>
                          <a:spcPct val="100000"/>
                        </a:lnSpc>
                      </a:pPr>
                      <a:endParaRPr sz="19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solidFill>
                      <a:srgbClr val="F6EBC2"/>
                    </a:solidFill>
                  </a:tcPr>
                </a:tc>
              </a:tr>
            </a:tbl>
          </a:graphicData>
        </a:graphic>
      </p:graphicFrame>
      <p:sp>
        <p:nvSpPr>
          <p:cNvPr id="3" name="object 3"/>
          <p:cNvSpPr txBox="1">
            <a:spLocks noGrp="1"/>
          </p:cNvSpPr>
          <p:nvPr>
            <p:ph type="title"/>
          </p:nvPr>
        </p:nvSpPr>
        <p:spPr>
          <a:xfrm>
            <a:off x="2822194" y="719454"/>
            <a:ext cx="6569709" cy="391160"/>
          </a:xfrm>
          <a:prstGeom prst="rect"/>
        </p:spPr>
        <p:txBody>
          <a:bodyPr wrap="square" lIns="0" tIns="12700" rIns="0" bIns="0" rtlCol="0" vert="horz">
            <a:spAutoFit/>
          </a:bodyPr>
          <a:lstStyle/>
          <a:p>
            <a:pPr marL="12700">
              <a:lnSpc>
                <a:spcPct val="100000"/>
              </a:lnSpc>
              <a:spcBef>
                <a:spcPts val="100"/>
              </a:spcBef>
            </a:pPr>
            <a:r>
              <a:rPr dirty="0" sz="2400">
                <a:solidFill>
                  <a:srgbClr val="000000"/>
                </a:solidFill>
              </a:rPr>
              <a:t>前瞻执行中</a:t>
            </a:r>
            <a:r>
              <a:rPr dirty="0" sz="2400" spc="-25" b="1">
                <a:solidFill>
                  <a:srgbClr val="D50092"/>
                </a:solidFill>
                <a:latin typeface="Times New Roman"/>
                <a:cs typeface="Times New Roman"/>
              </a:rPr>
              <a:t>MUL.D</a:t>
            </a:r>
            <a:r>
              <a:rPr dirty="0" sz="2400">
                <a:solidFill>
                  <a:srgbClr val="000000"/>
                </a:solidFill>
              </a:rPr>
              <a:t>确认前，保留站和</a:t>
            </a:r>
            <a:r>
              <a:rPr dirty="0" sz="2400" spc="-10" b="1">
                <a:solidFill>
                  <a:srgbClr val="9933FF"/>
                </a:solidFill>
                <a:latin typeface="Times New Roman"/>
                <a:cs typeface="Times New Roman"/>
              </a:rPr>
              <a:t>ROB</a:t>
            </a:r>
            <a:r>
              <a:rPr dirty="0" sz="2400" spc="-20">
                <a:solidFill>
                  <a:srgbClr val="000000"/>
                </a:solidFill>
              </a:rPr>
              <a:t>的状态</a:t>
            </a:r>
            <a:endParaRPr sz="2400">
              <a:latin typeface="Times New Roman"/>
              <a:cs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905063" y="390588"/>
          <a:ext cx="8529955" cy="4164965"/>
        </p:xfrm>
        <a:graphic>
          <a:graphicData uri="http://schemas.openxmlformats.org/drawingml/2006/table">
            <a:tbl>
              <a:tblPr firstRow="1" bandRow="1">
                <a:tableStyleId>{2D5ABB26-0587-4C30-8999-92F81FD0307C}</a:tableStyleId>
              </a:tblPr>
              <a:tblGrid>
                <a:gridCol w="752475"/>
                <a:gridCol w="752475"/>
                <a:gridCol w="972185"/>
                <a:gridCol w="1736725"/>
                <a:gridCol w="1050289"/>
                <a:gridCol w="753745"/>
                <a:gridCol w="2404745"/>
              </a:tblGrid>
              <a:tr h="531495">
                <a:tc rowSpan="2">
                  <a:txBody>
                    <a:bodyPr/>
                    <a:lstStyle/>
                    <a:p>
                      <a:pPr>
                        <a:lnSpc>
                          <a:spcPct val="100000"/>
                        </a:lnSpc>
                        <a:spcBef>
                          <a:spcPts val="200"/>
                        </a:spcBef>
                      </a:pPr>
                      <a:endParaRPr sz="2000">
                        <a:latin typeface="Times New Roman"/>
                        <a:cs typeface="Times New Roman"/>
                      </a:endParaRPr>
                    </a:p>
                    <a:p>
                      <a:pPr marL="119380">
                        <a:lnSpc>
                          <a:spcPct val="100000"/>
                        </a:lnSpc>
                      </a:pPr>
                      <a:r>
                        <a:rPr dirty="0" sz="2000" spc="-30" b="1">
                          <a:solidFill>
                            <a:srgbClr val="E14B04"/>
                          </a:solidFill>
                          <a:latin typeface="宋体"/>
                          <a:cs typeface="宋体"/>
                        </a:rPr>
                        <a:t>项号</a:t>
                      </a:r>
                      <a:endParaRPr sz="2000">
                        <a:latin typeface="宋体"/>
                        <a:cs typeface="宋体"/>
                      </a:endParaRPr>
                    </a:p>
                  </a:txBody>
                  <a:tcPr marL="0" marR="0" marB="0" marT="2540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solidFill>
                      <a:srgbClr val="F6EBC2"/>
                    </a:solidFill>
                  </a:tcPr>
                </a:tc>
                <a:tc gridSpan="6">
                  <a:txBody>
                    <a:bodyPr/>
                    <a:lstStyle/>
                    <a:p>
                      <a:pPr algn="ctr" marL="1905">
                        <a:lnSpc>
                          <a:spcPct val="100000"/>
                        </a:lnSpc>
                        <a:spcBef>
                          <a:spcPts val="700"/>
                        </a:spcBef>
                      </a:pPr>
                      <a:r>
                        <a:rPr dirty="0" sz="2000" spc="-25">
                          <a:solidFill>
                            <a:srgbClr val="E14B04"/>
                          </a:solidFill>
                          <a:latin typeface="Tahoma"/>
                          <a:cs typeface="Tahoma"/>
                        </a:rPr>
                        <a:t>ROB</a:t>
                      </a:r>
                      <a:endParaRPr sz="2000">
                        <a:latin typeface="Tahoma"/>
                        <a:cs typeface="Tahoma"/>
                      </a:endParaRPr>
                    </a:p>
                  </a:txBody>
                  <a:tcPr marL="0" marR="0" marB="0" marT="8890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solidFill>
                      <a:srgbClr val="F6EBC2"/>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527050">
                <a:tc vMerge="1">
                  <a:txBody>
                    <a:bodyPr/>
                    <a:lstStyle/>
                    <a:p>
                      <a:pPr/>
                    </a:p>
                  </a:txBody>
                  <a:tcPr marL="0" marR="0" marB="0" marT="2540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700"/>
                        </a:spcBef>
                      </a:pPr>
                      <a:r>
                        <a:rPr dirty="0" sz="2000" spc="-20">
                          <a:solidFill>
                            <a:srgbClr val="660066"/>
                          </a:solidFill>
                          <a:latin typeface="Tahoma"/>
                          <a:cs typeface="Tahoma"/>
                        </a:rPr>
                        <a:t>Busy</a:t>
                      </a:r>
                      <a:endParaRPr sz="2000">
                        <a:latin typeface="Tahoma"/>
                        <a:cs typeface="Tahoma"/>
                      </a:endParaRPr>
                    </a:p>
                  </a:txBody>
                  <a:tcPr marL="0" marR="0" marB="0" marT="889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gridSpan="2">
                  <a:txBody>
                    <a:bodyPr/>
                    <a:lstStyle/>
                    <a:p>
                      <a:pPr algn="ctr">
                        <a:lnSpc>
                          <a:spcPct val="100000"/>
                        </a:lnSpc>
                        <a:spcBef>
                          <a:spcPts val="700"/>
                        </a:spcBef>
                      </a:pPr>
                      <a:r>
                        <a:rPr dirty="0" sz="2000" spc="-30" b="1">
                          <a:solidFill>
                            <a:srgbClr val="660066"/>
                          </a:solidFill>
                          <a:latin typeface="宋体"/>
                          <a:cs typeface="宋体"/>
                        </a:rPr>
                        <a:t>指令</a:t>
                      </a:r>
                      <a:endParaRPr sz="2000">
                        <a:latin typeface="宋体"/>
                        <a:cs typeface="宋体"/>
                      </a:endParaRPr>
                    </a:p>
                  </a:txBody>
                  <a:tcPr marL="0" marR="0" marB="0" marT="889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hMerge="1">
                  <a:txBody>
                    <a:bodyPr/>
                    <a:lstStyle/>
                    <a:p>
                      <a:pPr/>
                    </a:p>
                  </a:txBody>
                  <a:tcPr marL="0" marR="0" marB="0" marT="0"/>
                </a:tc>
                <a:tc>
                  <a:txBody>
                    <a:bodyPr/>
                    <a:lstStyle/>
                    <a:p>
                      <a:pPr algn="ctr" marL="635">
                        <a:lnSpc>
                          <a:spcPct val="100000"/>
                        </a:lnSpc>
                        <a:spcBef>
                          <a:spcPts val="700"/>
                        </a:spcBef>
                      </a:pPr>
                      <a:r>
                        <a:rPr dirty="0" sz="2000" spc="-30" b="1">
                          <a:solidFill>
                            <a:srgbClr val="660066"/>
                          </a:solidFill>
                          <a:latin typeface="宋体"/>
                          <a:cs typeface="宋体"/>
                        </a:rPr>
                        <a:t>状态</a:t>
                      </a:r>
                      <a:endParaRPr sz="2000">
                        <a:latin typeface="宋体"/>
                        <a:cs typeface="宋体"/>
                      </a:endParaRPr>
                    </a:p>
                  </a:txBody>
                  <a:tcPr marL="0" marR="0" marB="0" marT="889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1270">
                        <a:lnSpc>
                          <a:spcPct val="100000"/>
                        </a:lnSpc>
                        <a:spcBef>
                          <a:spcPts val="700"/>
                        </a:spcBef>
                      </a:pPr>
                      <a:r>
                        <a:rPr dirty="0" sz="2000" spc="-30" b="1">
                          <a:solidFill>
                            <a:srgbClr val="660066"/>
                          </a:solidFill>
                          <a:latin typeface="宋体"/>
                          <a:cs typeface="宋体"/>
                        </a:rPr>
                        <a:t>目的</a:t>
                      </a:r>
                      <a:endParaRPr sz="2000">
                        <a:latin typeface="宋体"/>
                        <a:cs typeface="宋体"/>
                      </a:endParaRPr>
                    </a:p>
                  </a:txBody>
                  <a:tcPr marL="0" marR="0" marB="0" marT="889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1270">
                        <a:lnSpc>
                          <a:spcPct val="100000"/>
                        </a:lnSpc>
                        <a:spcBef>
                          <a:spcPts val="700"/>
                        </a:spcBef>
                      </a:pPr>
                      <a:r>
                        <a:rPr dirty="0" sz="2000" spc="-10">
                          <a:solidFill>
                            <a:srgbClr val="660066"/>
                          </a:solidFill>
                          <a:latin typeface="Tahoma"/>
                          <a:cs typeface="Tahoma"/>
                        </a:rPr>
                        <a:t>Value</a:t>
                      </a:r>
                      <a:endParaRPr sz="2000">
                        <a:latin typeface="Tahoma"/>
                        <a:cs typeface="Tahoma"/>
                      </a:endParaRPr>
                    </a:p>
                  </a:txBody>
                  <a:tcPr marL="0" marR="0" marB="0" marT="889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530225">
                <a:tc>
                  <a:txBody>
                    <a:bodyPr/>
                    <a:lstStyle/>
                    <a:p>
                      <a:pPr algn="ctr" marL="635">
                        <a:lnSpc>
                          <a:spcPct val="100000"/>
                        </a:lnSpc>
                        <a:spcBef>
                          <a:spcPts val="520"/>
                        </a:spcBef>
                      </a:pPr>
                      <a:r>
                        <a:rPr dirty="0" sz="2000" spc="-50">
                          <a:solidFill>
                            <a:srgbClr val="008000"/>
                          </a:solidFill>
                          <a:latin typeface="Tahoma"/>
                          <a:cs typeface="Tahoma"/>
                        </a:rPr>
                        <a:t>1</a:t>
                      </a:r>
                      <a:endParaRPr sz="2000">
                        <a:latin typeface="Tahoma"/>
                        <a:cs typeface="Tahoma"/>
                      </a:endParaRPr>
                    </a:p>
                  </a:txBody>
                  <a:tcPr marL="0" marR="0" marB="0" marT="6604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520"/>
                        </a:spcBef>
                      </a:pPr>
                      <a:r>
                        <a:rPr dirty="0" sz="2000" spc="-25">
                          <a:solidFill>
                            <a:srgbClr val="40458B"/>
                          </a:solidFill>
                          <a:latin typeface="Tahoma"/>
                          <a:cs typeface="Tahoma"/>
                        </a:rPr>
                        <a:t>no</a:t>
                      </a:r>
                      <a:endParaRPr sz="2000">
                        <a:latin typeface="Tahoma"/>
                        <a:cs typeface="Tahoma"/>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gridSpan="2">
                  <a:txBody>
                    <a:bodyPr/>
                    <a:lstStyle/>
                    <a:p>
                      <a:pPr marL="91440">
                        <a:lnSpc>
                          <a:spcPct val="100000"/>
                        </a:lnSpc>
                        <a:spcBef>
                          <a:spcPts val="520"/>
                        </a:spcBef>
                        <a:tabLst>
                          <a:tab pos="1102995" algn="l"/>
                        </a:tabLst>
                      </a:pPr>
                      <a:r>
                        <a:rPr dirty="0" sz="2000" spc="-25">
                          <a:solidFill>
                            <a:srgbClr val="40458B"/>
                          </a:solidFill>
                          <a:latin typeface="Tahoma"/>
                          <a:cs typeface="Tahoma"/>
                        </a:rPr>
                        <a:t>L.D</a:t>
                      </a:r>
                      <a:r>
                        <a:rPr dirty="0" sz="2000">
                          <a:solidFill>
                            <a:srgbClr val="40458B"/>
                          </a:solidFill>
                          <a:latin typeface="Tahoma"/>
                          <a:cs typeface="Tahoma"/>
                        </a:rPr>
                        <a:t>	F6,</a:t>
                      </a:r>
                      <a:r>
                        <a:rPr dirty="0" sz="2000" spc="-25">
                          <a:solidFill>
                            <a:srgbClr val="40458B"/>
                          </a:solidFill>
                          <a:latin typeface="Tahoma"/>
                          <a:cs typeface="Tahoma"/>
                        </a:rPr>
                        <a:t> </a:t>
                      </a:r>
                      <a:r>
                        <a:rPr dirty="0" sz="2000" spc="-10">
                          <a:solidFill>
                            <a:srgbClr val="40458B"/>
                          </a:solidFill>
                          <a:latin typeface="Tahoma"/>
                          <a:cs typeface="Tahoma"/>
                        </a:rPr>
                        <a:t>34</a:t>
                      </a:r>
                      <a:r>
                        <a:rPr dirty="0" sz="2000" spc="-10">
                          <a:solidFill>
                            <a:srgbClr val="40458B"/>
                          </a:solidFill>
                          <a:latin typeface="黑体"/>
                          <a:cs typeface="黑体"/>
                        </a:rPr>
                        <a:t>（</a:t>
                      </a:r>
                      <a:r>
                        <a:rPr dirty="0" sz="2000" spc="-10">
                          <a:solidFill>
                            <a:srgbClr val="40458B"/>
                          </a:solidFill>
                          <a:latin typeface="Tahoma"/>
                          <a:cs typeface="Tahoma"/>
                        </a:rPr>
                        <a:t>R2</a:t>
                      </a:r>
                      <a:r>
                        <a:rPr dirty="0" sz="2000" spc="-10">
                          <a:solidFill>
                            <a:srgbClr val="40458B"/>
                          </a:solidFill>
                          <a:latin typeface="黑体"/>
                          <a:cs typeface="黑体"/>
                        </a:rPr>
                        <a:t>）</a:t>
                      </a:r>
                      <a:endParaRPr sz="2000">
                        <a:latin typeface="黑体"/>
                        <a:cs typeface="黑体"/>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hMerge="1">
                  <a:txBody>
                    <a:bodyPr/>
                    <a:lstStyle/>
                    <a:p>
                      <a:pPr/>
                    </a:p>
                  </a:txBody>
                  <a:tcPr marL="0" marR="0" marB="0" marT="0"/>
                </a:tc>
                <a:tc>
                  <a:txBody>
                    <a:bodyPr/>
                    <a:lstStyle/>
                    <a:p>
                      <a:pPr algn="ctr" marL="635">
                        <a:lnSpc>
                          <a:spcPct val="100000"/>
                        </a:lnSpc>
                        <a:spcBef>
                          <a:spcPts val="520"/>
                        </a:spcBef>
                      </a:pPr>
                      <a:r>
                        <a:rPr dirty="0" sz="2000" spc="-35" b="1">
                          <a:solidFill>
                            <a:srgbClr val="40458B"/>
                          </a:solidFill>
                          <a:latin typeface="宋体"/>
                          <a:cs typeface="宋体"/>
                        </a:rPr>
                        <a:t>确认</a:t>
                      </a:r>
                      <a:endParaRPr sz="2000">
                        <a:latin typeface="宋体"/>
                        <a:cs typeface="宋体"/>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2540">
                        <a:lnSpc>
                          <a:spcPct val="100000"/>
                        </a:lnSpc>
                        <a:spcBef>
                          <a:spcPts val="520"/>
                        </a:spcBef>
                      </a:pPr>
                      <a:r>
                        <a:rPr dirty="0" sz="2000" spc="-25">
                          <a:solidFill>
                            <a:srgbClr val="40458B"/>
                          </a:solidFill>
                          <a:latin typeface="Tahoma"/>
                          <a:cs typeface="Tahoma"/>
                        </a:rPr>
                        <a:t>F6</a:t>
                      </a:r>
                      <a:endParaRPr sz="2000">
                        <a:latin typeface="Tahoma"/>
                        <a:cs typeface="Tahoma"/>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marL="92075">
                        <a:lnSpc>
                          <a:spcPct val="100000"/>
                        </a:lnSpc>
                        <a:spcBef>
                          <a:spcPts val="520"/>
                        </a:spcBef>
                      </a:pPr>
                      <a:r>
                        <a:rPr dirty="0" sz="2000" spc="-10">
                          <a:solidFill>
                            <a:srgbClr val="40458B"/>
                          </a:solidFill>
                          <a:latin typeface="Tahoma"/>
                          <a:cs typeface="Tahoma"/>
                        </a:rPr>
                        <a:t>Mem[34+Regs[R2]]</a:t>
                      </a:r>
                      <a:endParaRPr sz="2000">
                        <a:latin typeface="Tahoma"/>
                        <a:cs typeface="Tahoma"/>
                      </a:endParaRPr>
                    </a:p>
                  </a:txBody>
                  <a:tcPr marL="0" marR="0" marB="0" marT="6604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530225">
                <a:tc>
                  <a:txBody>
                    <a:bodyPr/>
                    <a:lstStyle/>
                    <a:p>
                      <a:pPr algn="ctr" marL="635">
                        <a:lnSpc>
                          <a:spcPct val="100000"/>
                        </a:lnSpc>
                        <a:spcBef>
                          <a:spcPts val="520"/>
                        </a:spcBef>
                      </a:pPr>
                      <a:r>
                        <a:rPr dirty="0" sz="2000" spc="-50">
                          <a:solidFill>
                            <a:srgbClr val="008000"/>
                          </a:solidFill>
                          <a:latin typeface="Tahoma"/>
                          <a:cs typeface="Tahoma"/>
                        </a:rPr>
                        <a:t>2</a:t>
                      </a:r>
                      <a:endParaRPr sz="2000">
                        <a:latin typeface="Tahoma"/>
                        <a:cs typeface="Tahoma"/>
                      </a:endParaRPr>
                    </a:p>
                  </a:txBody>
                  <a:tcPr marL="0" marR="0" marB="0" marT="6604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520"/>
                        </a:spcBef>
                      </a:pPr>
                      <a:r>
                        <a:rPr dirty="0" sz="2000" spc="-25">
                          <a:solidFill>
                            <a:srgbClr val="40458B"/>
                          </a:solidFill>
                          <a:latin typeface="Tahoma"/>
                          <a:cs typeface="Tahoma"/>
                        </a:rPr>
                        <a:t>no</a:t>
                      </a:r>
                      <a:endParaRPr sz="2000">
                        <a:latin typeface="Tahoma"/>
                        <a:cs typeface="Tahoma"/>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gridSpan="2">
                  <a:txBody>
                    <a:bodyPr/>
                    <a:lstStyle/>
                    <a:p>
                      <a:pPr marL="91440">
                        <a:lnSpc>
                          <a:spcPct val="100000"/>
                        </a:lnSpc>
                        <a:spcBef>
                          <a:spcPts val="520"/>
                        </a:spcBef>
                        <a:tabLst>
                          <a:tab pos="1102995" algn="l"/>
                        </a:tabLst>
                      </a:pPr>
                      <a:r>
                        <a:rPr dirty="0" sz="2000" spc="-25">
                          <a:solidFill>
                            <a:srgbClr val="40458B"/>
                          </a:solidFill>
                          <a:latin typeface="Tahoma"/>
                          <a:cs typeface="Tahoma"/>
                        </a:rPr>
                        <a:t>L.D</a:t>
                      </a:r>
                      <a:r>
                        <a:rPr dirty="0" sz="2000">
                          <a:solidFill>
                            <a:srgbClr val="40458B"/>
                          </a:solidFill>
                          <a:latin typeface="Tahoma"/>
                          <a:cs typeface="Tahoma"/>
                        </a:rPr>
                        <a:t>	F2,</a:t>
                      </a:r>
                      <a:r>
                        <a:rPr dirty="0" sz="2000" spc="-25">
                          <a:solidFill>
                            <a:srgbClr val="40458B"/>
                          </a:solidFill>
                          <a:latin typeface="Tahoma"/>
                          <a:cs typeface="Tahoma"/>
                        </a:rPr>
                        <a:t> </a:t>
                      </a:r>
                      <a:r>
                        <a:rPr dirty="0" sz="2000" spc="-10">
                          <a:solidFill>
                            <a:srgbClr val="40458B"/>
                          </a:solidFill>
                          <a:latin typeface="Tahoma"/>
                          <a:cs typeface="Tahoma"/>
                        </a:rPr>
                        <a:t>45</a:t>
                      </a:r>
                      <a:r>
                        <a:rPr dirty="0" sz="2000" spc="-10">
                          <a:solidFill>
                            <a:srgbClr val="40458B"/>
                          </a:solidFill>
                          <a:latin typeface="黑体"/>
                          <a:cs typeface="黑体"/>
                        </a:rPr>
                        <a:t>（</a:t>
                      </a:r>
                      <a:r>
                        <a:rPr dirty="0" sz="2000" spc="-10">
                          <a:solidFill>
                            <a:srgbClr val="40458B"/>
                          </a:solidFill>
                          <a:latin typeface="Tahoma"/>
                          <a:cs typeface="Tahoma"/>
                        </a:rPr>
                        <a:t>R3</a:t>
                      </a:r>
                      <a:r>
                        <a:rPr dirty="0" sz="2000" spc="-10">
                          <a:solidFill>
                            <a:srgbClr val="40458B"/>
                          </a:solidFill>
                          <a:latin typeface="黑体"/>
                          <a:cs typeface="黑体"/>
                        </a:rPr>
                        <a:t>）</a:t>
                      </a:r>
                      <a:endParaRPr sz="2000">
                        <a:latin typeface="黑体"/>
                        <a:cs typeface="黑体"/>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hMerge="1">
                  <a:txBody>
                    <a:bodyPr/>
                    <a:lstStyle/>
                    <a:p>
                      <a:pPr/>
                    </a:p>
                  </a:txBody>
                  <a:tcPr marL="0" marR="0" marB="0" marT="0"/>
                </a:tc>
                <a:tc>
                  <a:txBody>
                    <a:bodyPr/>
                    <a:lstStyle/>
                    <a:p>
                      <a:pPr algn="ctr" marL="635">
                        <a:lnSpc>
                          <a:spcPct val="100000"/>
                        </a:lnSpc>
                        <a:spcBef>
                          <a:spcPts val="520"/>
                        </a:spcBef>
                      </a:pPr>
                      <a:r>
                        <a:rPr dirty="0" sz="2000" spc="-35" b="1">
                          <a:solidFill>
                            <a:srgbClr val="40458B"/>
                          </a:solidFill>
                          <a:latin typeface="宋体"/>
                          <a:cs typeface="宋体"/>
                        </a:rPr>
                        <a:t>确认</a:t>
                      </a:r>
                      <a:endParaRPr sz="2000">
                        <a:latin typeface="宋体"/>
                        <a:cs typeface="宋体"/>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2540">
                        <a:lnSpc>
                          <a:spcPct val="100000"/>
                        </a:lnSpc>
                        <a:spcBef>
                          <a:spcPts val="520"/>
                        </a:spcBef>
                      </a:pPr>
                      <a:r>
                        <a:rPr dirty="0" sz="2000" spc="-25">
                          <a:solidFill>
                            <a:srgbClr val="40458B"/>
                          </a:solidFill>
                          <a:latin typeface="Tahoma"/>
                          <a:cs typeface="Tahoma"/>
                        </a:rPr>
                        <a:t>F2</a:t>
                      </a:r>
                      <a:endParaRPr sz="2000">
                        <a:latin typeface="Tahoma"/>
                        <a:cs typeface="Tahoma"/>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marL="92075">
                        <a:lnSpc>
                          <a:spcPct val="100000"/>
                        </a:lnSpc>
                        <a:spcBef>
                          <a:spcPts val="520"/>
                        </a:spcBef>
                      </a:pPr>
                      <a:r>
                        <a:rPr dirty="0" sz="2000" spc="-10">
                          <a:solidFill>
                            <a:srgbClr val="40458B"/>
                          </a:solidFill>
                          <a:latin typeface="Tahoma"/>
                          <a:cs typeface="Tahoma"/>
                        </a:rPr>
                        <a:t>Mem[45+Regs[R3]]</a:t>
                      </a:r>
                      <a:endParaRPr sz="2000">
                        <a:latin typeface="Tahoma"/>
                        <a:cs typeface="Tahoma"/>
                      </a:endParaRPr>
                    </a:p>
                  </a:txBody>
                  <a:tcPr marL="0" marR="0" marB="0" marT="6604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530225">
                <a:tc>
                  <a:txBody>
                    <a:bodyPr/>
                    <a:lstStyle/>
                    <a:p>
                      <a:pPr algn="ctr" marL="635">
                        <a:lnSpc>
                          <a:spcPct val="100000"/>
                        </a:lnSpc>
                        <a:spcBef>
                          <a:spcPts val="520"/>
                        </a:spcBef>
                      </a:pPr>
                      <a:r>
                        <a:rPr dirty="0" sz="2000" spc="-50">
                          <a:solidFill>
                            <a:srgbClr val="008000"/>
                          </a:solidFill>
                          <a:latin typeface="Tahoma"/>
                          <a:cs typeface="Tahoma"/>
                        </a:rPr>
                        <a:t>3</a:t>
                      </a:r>
                      <a:endParaRPr sz="2000">
                        <a:latin typeface="Tahoma"/>
                        <a:cs typeface="Tahoma"/>
                      </a:endParaRPr>
                    </a:p>
                  </a:txBody>
                  <a:tcPr marL="0" marR="0" marB="0" marT="6604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520"/>
                        </a:spcBef>
                      </a:pPr>
                      <a:r>
                        <a:rPr dirty="0" sz="2000" spc="-25">
                          <a:solidFill>
                            <a:srgbClr val="40458B"/>
                          </a:solidFill>
                          <a:latin typeface="Tahoma"/>
                          <a:cs typeface="Tahoma"/>
                        </a:rPr>
                        <a:t>yes</a:t>
                      </a:r>
                      <a:endParaRPr sz="2000">
                        <a:latin typeface="Tahoma"/>
                        <a:cs typeface="Tahoma"/>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marL="91440">
                        <a:lnSpc>
                          <a:spcPct val="100000"/>
                        </a:lnSpc>
                        <a:spcBef>
                          <a:spcPts val="520"/>
                        </a:spcBef>
                      </a:pPr>
                      <a:r>
                        <a:rPr dirty="0" sz="2000" spc="-10">
                          <a:solidFill>
                            <a:srgbClr val="40458B"/>
                          </a:solidFill>
                          <a:latin typeface="Tahoma"/>
                          <a:cs typeface="Tahoma"/>
                        </a:rPr>
                        <a:t>MUL.D</a:t>
                      </a:r>
                      <a:endParaRPr sz="2000">
                        <a:latin typeface="Tahoma"/>
                        <a:cs typeface="Tahoma"/>
                      </a:endParaRPr>
                    </a:p>
                  </a:txBody>
                  <a:tcPr marL="0" marR="0" marB="0" marT="66040">
                    <a:lnL w="12700">
                      <a:solidFill>
                        <a:srgbClr val="40458B"/>
                      </a:solidFill>
                      <a:prstDash val="solid"/>
                    </a:lnL>
                    <a:lnT w="12700">
                      <a:solidFill>
                        <a:srgbClr val="40458B"/>
                      </a:solidFill>
                      <a:prstDash val="solid"/>
                    </a:lnT>
                    <a:lnB w="12700">
                      <a:solidFill>
                        <a:srgbClr val="40458B"/>
                      </a:solidFill>
                      <a:prstDash val="solid"/>
                    </a:lnB>
                    <a:solidFill>
                      <a:srgbClr val="F6EBC2"/>
                    </a:solidFill>
                  </a:tcPr>
                </a:tc>
                <a:tc>
                  <a:txBody>
                    <a:bodyPr/>
                    <a:lstStyle/>
                    <a:p>
                      <a:pPr marL="174625">
                        <a:lnSpc>
                          <a:spcPct val="100000"/>
                        </a:lnSpc>
                        <a:spcBef>
                          <a:spcPts val="520"/>
                        </a:spcBef>
                      </a:pPr>
                      <a:r>
                        <a:rPr dirty="0" sz="2000">
                          <a:solidFill>
                            <a:srgbClr val="40458B"/>
                          </a:solidFill>
                          <a:latin typeface="Tahoma"/>
                          <a:cs typeface="Tahoma"/>
                        </a:rPr>
                        <a:t>F0,</a:t>
                      </a:r>
                      <a:r>
                        <a:rPr dirty="0" sz="2000" spc="-25">
                          <a:solidFill>
                            <a:srgbClr val="40458B"/>
                          </a:solidFill>
                          <a:latin typeface="Tahoma"/>
                          <a:cs typeface="Tahoma"/>
                        </a:rPr>
                        <a:t> </a:t>
                      </a:r>
                      <a:r>
                        <a:rPr dirty="0" sz="2000">
                          <a:solidFill>
                            <a:srgbClr val="40458B"/>
                          </a:solidFill>
                          <a:latin typeface="Tahoma"/>
                          <a:cs typeface="Tahoma"/>
                        </a:rPr>
                        <a:t>F2,</a:t>
                      </a:r>
                      <a:r>
                        <a:rPr dirty="0" sz="2000" spc="-25">
                          <a:solidFill>
                            <a:srgbClr val="40458B"/>
                          </a:solidFill>
                          <a:latin typeface="Tahoma"/>
                          <a:cs typeface="Tahoma"/>
                        </a:rPr>
                        <a:t> F4</a:t>
                      </a:r>
                      <a:endParaRPr sz="2000">
                        <a:latin typeface="Tahoma"/>
                        <a:cs typeface="Tahoma"/>
                      </a:endParaRPr>
                    </a:p>
                  </a:txBody>
                  <a:tcPr marL="0" marR="0" marB="0" marT="66040">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635">
                        <a:lnSpc>
                          <a:spcPct val="100000"/>
                        </a:lnSpc>
                        <a:spcBef>
                          <a:spcPts val="520"/>
                        </a:spcBef>
                      </a:pPr>
                      <a:r>
                        <a:rPr dirty="0" sz="2000" spc="-30" b="1">
                          <a:solidFill>
                            <a:srgbClr val="40458B"/>
                          </a:solidFill>
                          <a:latin typeface="宋体"/>
                          <a:cs typeface="宋体"/>
                        </a:rPr>
                        <a:t>写结果</a:t>
                      </a:r>
                      <a:endParaRPr sz="2000">
                        <a:latin typeface="宋体"/>
                        <a:cs typeface="宋体"/>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2540">
                        <a:lnSpc>
                          <a:spcPct val="100000"/>
                        </a:lnSpc>
                        <a:spcBef>
                          <a:spcPts val="520"/>
                        </a:spcBef>
                      </a:pPr>
                      <a:r>
                        <a:rPr dirty="0" sz="2000" spc="-25">
                          <a:solidFill>
                            <a:srgbClr val="40458B"/>
                          </a:solidFill>
                          <a:latin typeface="Tahoma"/>
                          <a:cs typeface="Tahoma"/>
                        </a:rPr>
                        <a:t>F0</a:t>
                      </a:r>
                      <a:endParaRPr sz="2000">
                        <a:latin typeface="Tahoma"/>
                        <a:cs typeface="Tahoma"/>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marL="92075">
                        <a:lnSpc>
                          <a:spcPct val="100000"/>
                        </a:lnSpc>
                        <a:spcBef>
                          <a:spcPts val="520"/>
                        </a:spcBef>
                      </a:pPr>
                      <a:r>
                        <a:rPr dirty="0" sz="2000" spc="-10">
                          <a:solidFill>
                            <a:srgbClr val="40458B"/>
                          </a:solidFill>
                          <a:latin typeface="Tahoma"/>
                          <a:cs typeface="Tahoma"/>
                        </a:rPr>
                        <a:t>#2</a:t>
                      </a:r>
                      <a:r>
                        <a:rPr dirty="0" sz="2000" spc="-10">
                          <a:solidFill>
                            <a:srgbClr val="40458B"/>
                          </a:solidFill>
                          <a:latin typeface="Symbol"/>
                          <a:cs typeface="Symbol"/>
                        </a:rPr>
                        <a:t></a:t>
                      </a:r>
                      <a:r>
                        <a:rPr dirty="0" sz="2000" spc="-10">
                          <a:solidFill>
                            <a:srgbClr val="40458B"/>
                          </a:solidFill>
                          <a:latin typeface="Tahoma"/>
                          <a:cs typeface="Tahoma"/>
                        </a:rPr>
                        <a:t>Regs[F4]</a:t>
                      </a:r>
                      <a:endParaRPr sz="2000">
                        <a:latin typeface="Tahoma"/>
                        <a:cs typeface="Tahoma"/>
                      </a:endParaRPr>
                    </a:p>
                  </a:txBody>
                  <a:tcPr marL="0" marR="0" marB="0" marT="6604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528320">
                <a:tc>
                  <a:txBody>
                    <a:bodyPr/>
                    <a:lstStyle/>
                    <a:p>
                      <a:pPr algn="ctr" marL="635">
                        <a:lnSpc>
                          <a:spcPct val="100000"/>
                        </a:lnSpc>
                        <a:spcBef>
                          <a:spcPts val="525"/>
                        </a:spcBef>
                      </a:pPr>
                      <a:r>
                        <a:rPr dirty="0" sz="2000" spc="-50">
                          <a:solidFill>
                            <a:srgbClr val="008000"/>
                          </a:solidFill>
                          <a:latin typeface="Tahoma"/>
                          <a:cs typeface="Tahoma"/>
                        </a:rPr>
                        <a:t>4</a:t>
                      </a:r>
                      <a:endParaRPr sz="2000">
                        <a:latin typeface="Tahoma"/>
                        <a:cs typeface="Tahoma"/>
                      </a:endParaRPr>
                    </a:p>
                  </a:txBody>
                  <a:tcPr marL="0" marR="0" marB="0" marT="666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525"/>
                        </a:spcBef>
                      </a:pPr>
                      <a:r>
                        <a:rPr dirty="0" sz="2000" spc="-25">
                          <a:solidFill>
                            <a:srgbClr val="40458B"/>
                          </a:solidFill>
                          <a:latin typeface="Tahoma"/>
                          <a:cs typeface="Tahoma"/>
                        </a:rPr>
                        <a:t>yes</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marL="91440">
                        <a:lnSpc>
                          <a:spcPct val="100000"/>
                        </a:lnSpc>
                        <a:spcBef>
                          <a:spcPts val="525"/>
                        </a:spcBef>
                      </a:pPr>
                      <a:r>
                        <a:rPr dirty="0" sz="2000" spc="-10">
                          <a:solidFill>
                            <a:srgbClr val="40458B"/>
                          </a:solidFill>
                          <a:latin typeface="Tahoma"/>
                          <a:cs typeface="Tahoma"/>
                        </a:rPr>
                        <a:t>SUB.D</a:t>
                      </a:r>
                      <a:endParaRPr sz="2000">
                        <a:latin typeface="Tahoma"/>
                        <a:cs typeface="Tahoma"/>
                      </a:endParaRPr>
                    </a:p>
                  </a:txBody>
                  <a:tcPr marL="0" marR="0" marB="0" marT="66675">
                    <a:lnL w="12700">
                      <a:solidFill>
                        <a:srgbClr val="40458B"/>
                      </a:solidFill>
                      <a:prstDash val="solid"/>
                    </a:lnL>
                    <a:lnT w="12700">
                      <a:solidFill>
                        <a:srgbClr val="40458B"/>
                      </a:solidFill>
                      <a:prstDash val="solid"/>
                    </a:lnT>
                    <a:lnB w="12700">
                      <a:solidFill>
                        <a:srgbClr val="40458B"/>
                      </a:solidFill>
                      <a:prstDash val="solid"/>
                    </a:lnB>
                    <a:solidFill>
                      <a:srgbClr val="F6EBC2"/>
                    </a:solidFill>
                  </a:tcPr>
                </a:tc>
                <a:tc>
                  <a:txBody>
                    <a:bodyPr/>
                    <a:lstStyle/>
                    <a:p>
                      <a:pPr marL="140335">
                        <a:lnSpc>
                          <a:spcPct val="100000"/>
                        </a:lnSpc>
                        <a:spcBef>
                          <a:spcPts val="525"/>
                        </a:spcBef>
                      </a:pPr>
                      <a:r>
                        <a:rPr dirty="0" sz="2000">
                          <a:solidFill>
                            <a:srgbClr val="40458B"/>
                          </a:solidFill>
                          <a:latin typeface="Tahoma"/>
                          <a:cs typeface="Tahoma"/>
                        </a:rPr>
                        <a:t>F8,</a:t>
                      </a:r>
                      <a:r>
                        <a:rPr dirty="0" sz="2000" spc="-15">
                          <a:solidFill>
                            <a:srgbClr val="40458B"/>
                          </a:solidFill>
                          <a:latin typeface="Tahoma"/>
                          <a:cs typeface="Tahoma"/>
                        </a:rPr>
                        <a:t> </a:t>
                      </a:r>
                      <a:r>
                        <a:rPr dirty="0" sz="2000">
                          <a:solidFill>
                            <a:srgbClr val="40458B"/>
                          </a:solidFill>
                          <a:latin typeface="Tahoma"/>
                          <a:cs typeface="Tahoma"/>
                        </a:rPr>
                        <a:t>F6,</a:t>
                      </a:r>
                      <a:r>
                        <a:rPr dirty="0" sz="2000" spc="-25">
                          <a:solidFill>
                            <a:srgbClr val="40458B"/>
                          </a:solidFill>
                          <a:latin typeface="Tahoma"/>
                          <a:cs typeface="Tahoma"/>
                        </a:rPr>
                        <a:t> F2</a:t>
                      </a:r>
                      <a:endParaRPr sz="2000">
                        <a:latin typeface="Tahoma"/>
                        <a:cs typeface="Tahoma"/>
                      </a:endParaRPr>
                    </a:p>
                  </a:txBody>
                  <a:tcPr marL="0" marR="0" marB="0" marT="66675">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635">
                        <a:lnSpc>
                          <a:spcPct val="100000"/>
                        </a:lnSpc>
                        <a:spcBef>
                          <a:spcPts val="525"/>
                        </a:spcBef>
                      </a:pPr>
                      <a:r>
                        <a:rPr dirty="0" sz="2000" spc="-30" b="1">
                          <a:solidFill>
                            <a:srgbClr val="40458B"/>
                          </a:solidFill>
                          <a:latin typeface="宋体"/>
                          <a:cs typeface="宋体"/>
                        </a:rPr>
                        <a:t>写结果</a:t>
                      </a:r>
                      <a:endParaRPr sz="2000">
                        <a:latin typeface="宋体"/>
                        <a:cs typeface="宋体"/>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2540">
                        <a:lnSpc>
                          <a:spcPct val="100000"/>
                        </a:lnSpc>
                        <a:spcBef>
                          <a:spcPts val="525"/>
                        </a:spcBef>
                      </a:pPr>
                      <a:r>
                        <a:rPr dirty="0" sz="2000" spc="-25">
                          <a:solidFill>
                            <a:srgbClr val="40458B"/>
                          </a:solidFill>
                          <a:latin typeface="Tahoma"/>
                          <a:cs typeface="Tahoma"/>
                        </a:rPr>
                        <a:t>F8</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marL="92075">
                        <a:lnSpc>
                          <a:spcPct val="100000"/>
                        </a:lnSpc>
                        <a:spcBef>
                          <a:spcPts val="525"/>
                        </a:spcBef>
                      </a:pPr>
                      <a:r>
                        <a:rPr dirty="0" sz="2000" spc="-10">
                          <a:solidFill>
                            <a:srgbClr val="40458B"/>
                          </a:solidFill>
                          <a:latin typeface="Tahoma"/>
                          <a:cs typeface="Tahoma"/>
                        </a:rPr>
                        <a:t>#1</a:t>
                      </a:r>
                      <a:r>
                        <a:rPr dirty="0" sz="2000" spc="-10">
                          <a:solidFill>
                            <a:srgbClr val="40458B"/>
                          </a:solidFill>
                          <a:latin typeface="黑体"/>
                          <a:cs typeface="黑体"/>
                        </a:rPr>
                        <a:t>－</a:t>
                      </a:r>
                      <a:r>
                        <a:rPr dirty="0" sz="2000" spc="-10">
                          <a:solidFill>
                            <a:srgbClr val="40458B"/>
                          </a:solidFill>
                          <a:latin typeface="Tahoma"/>
                          <a:cs typeface="Tahoma"/>
                        </a:rPr>
                        <a:t>#2</a:t>
                      </a:r>
                      <a:endParaRPr sz="2000">
                        <a:latin typeface="Tahoma"/>
                        <a:cs typeface="Tahoma"/>
                      </a:endParaRPr>
                    </a:p>
                  </a:txBody>
                  <a:tcPr marL="0" marR="0" marB="0" marT="6667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530225">
                <a:tc>
                  <a:txBody>
                    <a:bodyPr/>
                    <a:lstStyle/>
                    <a:p>
                      <a:pPr algn="ctr" marL="635">
                        <a:lnSpc>
                          <a:spcPct val="100000"/>
                        </a:lnSpc>
                        <a:spcBef>
                          <a:spcPts val="525"/>
                        </a:spcBef>
                      </a:pPr>
                      <a:r>
                        <a:rPr dirty="0" sz="2000" spc="-50">
                          <a:solidFill>
                            <a:srgbClr val="008000"/>
                          </a:solidFill>
                          <a:latin typeface="Tahoma"/>
                          <a:cs typeface="Tahoma"/>
                        </a:rPr>
                        <a:t>5</a:t>
                      </a:r>
                      <a:endParaRPr sz="2000">
                        <a:latin typeface="Tahoma"/>
                        <a:cs typeface="Tahoma"/>
                      </a:endParaRPr>
                    </a:p>
                  </a:txBody>
                  <a:tcPr marL="0" marR="0" marB="0" marT="666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525"/>
                        </a:spcBef>
                      </a:pPr>
                      <a:r>
                        <a:rPr dirty="0" sz="2000" spc="-25">
                          <a:solidFill>
                            <a:srgbClr val="40458B"/>
                          </a:solidFill>
                          <a:latin typeface="Tahoma"/>
                          <a:cs typeface="Tahoma"/>
                        </a:rPr>
                        <a:t>yes</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marL="91440">
                        <a:lnSpc>
                          <a:spcPct val="100000"/>
                        </a:lnSpc>
                        <a:spcBef>
                          <a:spcPts val="525"/>
                        </a:spcBef>
                      </a:pPr>
                      <a:r>
                        <a:rPr dirty="0" sz="2000" spc="-10">
                          <a:solidFill>
                            <a:srgbClr val="40458B"/>
                          </a:solidFill>
                          <a:latin typeface="Tahoma"/>
                          <a:cs typeface="Tahoma"/>
                        </a:rPr>
                        <a:t>DIV.D</a:t>
                      </a:r>
                      <a:endParaRPr sz="2000">
                        <a:latin typeface="Tahoma"/>
                        <a:cs typeface="Tahoma"/>
                      </a:endParaRPr>
                    </a:p>
                  </a:txBody>
                  <a:tcPr marL="0" marR="0" marB="0" marT="66675">
                    <a:lnL w="12700">
                      <a:solidFill>
                        <a:srgbClr val="40458B"/>
                      </a:solidFill>
                      <a:prstDash val="solid"/>
                    </a:lnL>
                    <a:lnT w="12700">
                      <a:solidFill>
                        <a:srgbClr val="40458B"/>
                      </a:solidFill>
                      <a:prstDash val="solid"/>
                    </a:lnT>
                    <a:lnB w="12700">
                      <a:solidFill>
                        <a:srgbClr val="40458B"/>
                      </a:solidFill>
                      <a:prstDash val="solid"/>
                    </a:lnB>
                    <a:solidFill>
                      <a:srgbClr val="F6EBC2"/>
                    </a:solidFill>
                  </a:tcPr>
                </a:tc>
                <a:tc>
                  <a:txBody>
                    <a:bodyPr/>
                    <a:lstStyle/>
                    <a:p>
                      <a:pPr marL="149225">
                        <a:lnSpc>
                          <a:spcPct val="100000"/>
                        </a:lnSpc>
                        <a:spcBef>
                          <a:spcPts val="525"/>
                        </a:spcBef>
                      </a:pPr>
                      <a:r>
                        <a:rPr dirty="0" sz="2000">
                          <a:solidFill>
                            <a:srgbClr val="40458B"/>
                          </a:solidFill>
                          <a:latin typeface="Tahoma"/>
                          <a:cs typeface="Tahoma"/>
                        </a:rPr>
                        <a:t>F10,</a:t>
                      </a:r>
                      <a:r>
                        <a:rPr dirty="0" sz="2000" spc="-25">
                          <a:solidFill>
                            <a:srgbClr val="40458B"/>
                          </a:solidFill>
                          <a:latin typeface="Tahoma"/>
                          <a:cs typeface="Tahoma"/>
                        </a:rPr>
                        <a:t> </a:t>
                      </a:r>
                      <a:r>
                        <a:rPr dirty="0" sz="2000">
                          <a:solidFill>
                            <a:srgbClr val="40458B"/>
                          </a:solidFill>
                          <a:latin typeface="Tahoma"/>
                          <a:cs typeface="Tahoma"/>
                        </a:rPr>
                        <a:t>F0,</a:t>
                      </a:r>
                      <a:r>
                        <a:rPr dirty="0" sz="2000" spc="-25">
                          <a:solidFill>
                            <a:srgbClr val="40458B"/>
                          </a:solidFill>
                          <a:latin typeface="Tahoma"/>
                          <a:cs typeface="Tahoma"/>
                        </a:rPr>
                        <a:t> F6</a:t>
                      </a:r>
                      <a:endParaRPr sz="2000">
                        <a:latin typeface="Tahoma"/>
                        <a:cs typeface="Tahoma"/>
                      </a:endParaRPr>
                    </a:p>
                  </a:txBody>
                  <a:tcPr marL="0" marR="0" marB="0" marT="66675">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635">
                        <a:lnSpc>
                          <a:spcPct val="100000"/>
                        </a:lnSpc>
                        <a:spcBef>
                          <a:spcPts val="525"/>
                        </a:spcBef>
                      </a:pPr>
                      <a:r>
                        <a:rPr dirty="0" sz="2000" spc="-30" b="1">
                          <a:solidFill>
                            <a:srgbClr val="40458B"/>
                          </a:solidFill>
                          <a:latin typeface="宋体"/>
                          <a:cs typeface="宋体"/>
                        </a:rPr>
                        <a:t>执行</a:t>
                      </a:r>
                      <a:endParaRPr sz="2000">
                        <a:latin typeface="宋体"/>
                        <a:cs typeface="宋体"/>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635">
                        <a:lnSpc>
                          <a:spcPct val="100000"/>
                        </a:lnSpc>
                        <a:spcBef>
                          <a:spcPts val="525"/>
                        </a:spcBef>
                      </a:pPr>
                      <a:r>
                        <a:rPr dirty="0" sz="2000" spc="-25">
                          <a:solidFill>
                            <a:srgbClr val="40458B"/>
                          </a:solidFill>
                          <a:latin typeface="Tahoma"/>
                          <a:cs typeface="Tahoma"/>
                        </a:rPr>
                        <a:t>F10</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457200">
                <a:tc>
                  <a:txBody>
                    <a:bodyPr/>
                    <a:lstStyle/>
                    <a:p>
                      <a:pPr algn="ctr" marL="635">
                        <a:lnSpc>
                          <a:spcPct val="100000"/>
                        </a:lnSpc>
                        <a:spcBef>
                          <a:spcPts val="525"/>
                        </a:spcBef>
                      </a:pPr>
                      <a:r>
                        <a:rPr dirty="0" sz="2000" spc="-50">
                          <a:solidFill>
                            <a:srgbClr val="008000"/>
                          </a:solidFill>
                          <a:latin typeface="Tahoma"/>
                          <a:cs typeface="Tahoma"/>
                        </a:rPr>
                        <a:t>6</a:t>
                      </a:r>
                      <a:endParaRPr sz="2000">
                        <a:latin typeface="Tahoma"/>
                        <a:cs typeface="Tahoma"/>
                      </a:endParaRPr>
                    </a:p>
                  </a:txBody>
                  <a:tcPr marL="0" marR="0" marB="0" marT="66675">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F6EBC2"/>
                    </a:solidFill>
                  </a:tcPr>
                </a:tc>
                <a:tc>
                  <a:txBody>
                    <a:bodyPr/>
                    <a:lstStyle/>
                    <a:p>
                      <a:pPr algn="ctr">
                        <a:lnSpc>
                          <a:spcPct val="100000"/>
                        </a:lnSpc>
                        <a:spcBef>
                          <a:spcPts val="525"/>
                        </a:spcBef>
                      </a:pPr>
                      <a:r>
                        <a:rPr dirty="0" sz="2000" spc="-25">
                          <a:solidFill>
                            <a:srgbClr val="40458B"/>
                          </a:solidFill>
                          <a:latin typeface="Tahoma"/>
                          <a:cs typeface="Tahoma"/>
                        </a:rPr>
                        <a:t>yes</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F6EBC2"/>
                    </a:solidFill>
                  </a:tcPr>
                </a:tc>
                <a:tc>
                  <a:txBody>
                    <a:bodyPr/>
                    <a:lstStyle/>
                    <a:p>
                      <a:pPr marL="91440">
                        <a:lnSpc>
                          <a:spcPct val="100000"/>
                        </a:lnSpc>
                        <a:spcBef>
                          <a:spcPts val="525"/>
                        </a:spcBef>
                      </a:pPr>
                      <a:r>
                        <a:rPr dirty="0" sz="2000" spc="-10">
                          <a:solidFill>
                            <a:srgbClr val="40458B"/>
                          </a:solidFill>
                          <a:latin typeface="Tahoma"/>
                          <a:cs typeface="Tahoma"/>
                        </a:rPr>
                        <a:t>ADD.D</a:t>
                      </a:r>
                      <a:endParaRPr sz="2000">
                        <a:latin typeface="Tahoma"/>
                        <a:cs typeface="Tahoma"/>
                      </a:endParaRPr>
                    </a:p>
                  </a:txBody>
                  <a:tcPr marL="0" marR="0" marB="0" marT="66675">
                    <a:lnL w="12700">
                      <a:solidFill>
                        <a:srgbClr val="40458B"/>
                      </a:solidFill>
                      <a:prstDash val="solid"/>
                    </a:lnL>
                    <a:lnT w="12700">
                      <a:solidFill>
                        <a:srgbClr val="40458B"/>
                      </a:solidFill>
                      <a:prstDash val="solid"/>
                    </a:lnT>
                    <a:lnB w="28575">
                      <a:solidFill>
                        <a:srgbClr val="40458B"/>
                      </a:solidFill>
                      <a:prstDash val="solid"/>
                    </a:lnB>
                    <a:solidFill>
                      <a:srgbClr val="F6EBC2"/>
                    </a:solidFill>
                  </a:tcPr>
                </a:tc>
                <a:tc>
                  <a:txBody>
                    <a:bodyPr/>
                    <a:lstStyle/>
                    <a:p>
                      <a:pPr marL="177800">
                        <a:lnSpc>
                          <a:spcPct val="100000"/>
                        </a:lnSpc>
                        <a:spcBef>
                          <a:spcPts val="525"/>
                        </a:spcBef>
                      </a:pPr>
                      <a:r>
                        <a:rPr dirty="0" sz="2000" spc="-10">
                          <a:solidFill>
                            <a:srgbClr val="40458B"/>
                          </a:solidFill>
                          <a:latin typeface="Tahoma"/>
                          <a:cs typeface="Tahoma"/>
                        </a:rPr>
                        <a:t>F6,F8,F2</a:t>
                      </a:r>
                      <a:endParaRPr sz="2000">
                        <a:latin typeface="Tahoma"/>
                        <a:cs typeface="Tahoma"/>
                      </a:endParaRPr>
                    </a:p>
                  </a:txBody>
                  <a:tcPr marL="0" marR="0" marB="0" marT="66675">
                    <a:lnR w="12700">
                      <a:solidFill>
                        <a:srgbClr val="40458B"/>
                      </a:solidFill>
                      <a:prstDash val="solid"/>
                    </a:lnR>
                    <a:lnT w="12700">
                      <a:solidFill>
                        <a:srgbClr val="40458B"/>
                      </a:solidFill>
                      <a:prstDash val="solid"/>
                    </a:lnT>
                    <a:lnB w="28575">
                      <a:solidFill>
                        <a:srgbClr val="40458B"/>
                      </a:solidFill>
                      <a:prstDash val="solid"/>
                    </a:lnB>
                    <a:solidFill>
                      <a:srgbClr val="F6EBC2"/>
                    </a:solidFill>
                  </a:tcPr>
                </a:tc>
                <a:tc>
                  <a:txBody>
                    <a:bodyPr/>
                    <a:lstStyle/>
                    <a:p>
                      <a:pPr algn="ctr" marL="635">
                        <a:lnSpc>
                          <a:spcPct val="100000"/>
                        </a:lnSpc>
                        <a:spcBef>
                          <a:spcPts val="525"/>
                        </a:spcBef>
                      </a:pPr>
                      <a:r>
                        <a:rPr dirty="0" sz="2000" spc="-25" b="1">
                          <a:solidFill>
                            <a:srgbClr val="40458B"/>
                          </a:solidFill>
                          <a:latin typeface="宋体"/>
                          <a:cs typeface="宋体"/>
                        </a:rPr>
                        <a:t>写结果</a:t>
                      </a:r>
                      <a:endParaRPr sz="2000">
                        <a:latin typeface="宋体"/>
                        <a:cs typeface="宋体"/>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F6EBC2"/>
                    </a:solidFill>
                  </a:tcPr>
                </a:tc>
                <a:tc>
                  <a:txBody>
                    <a:bodyPr/>
                    <a:lstStyle/>
                    <a:p>
                      <a:pPr algn="ctr" marL="1905">
                        <a:lnSpc>
                          <a:spcPct val="100000"/>
                        </a:lnSpc>
                        <a:spcBef>
                          <a:spcPts val="525"/>
                        </a:spcBef>
                      </a:pPr>
                      <a:r>
                        <a:rPr dirty="0" sz="2000" spc="-25">
                          <a:solidFill>
                            <a:srgbClr val="40458B"/>
                          </a:solidFill>
                          <a:latin typeface="Tahoma"/>
                          <a:cs typeface="Tahoma"/>
                        </a:rPr>
                        <a:t>F6</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F6EBC2"/>
                    </a:solidFill>
                  </a:tcPr>
                </a:tc>
                <a:tc>
                  <a:txBody>
                    <a:bodyPr/>
                    <a:lstStyle/>
                    <a:p>
                      <a:pPr marL="92075">
                        <a:lnSpc>
                          <a:spcPct val="100000"/>
                        </a:lnSpc>
                        <a:spcBef>
                          <a:spcPts val="525"/>
                        </a:spcBef>
                      </a:pPr>
                      <a:r>
                        <a:rPr dirty="0" sz="2000" spc="-10">
                          <a:solidFill>
                            <a:srgbClr val="40458B"/>
                          </a:solidFill>
                          <a:latin typeface="Tahoma"/>
                          <a:cs typeface="Tahoma"/>
                        </a:rPr>
                        <a:t>#4</a:t>
                      </a:r>
                      <a:r>
                        <a:rPr dirty="0" sz="2000" spc="-10">
                          <a:solidFill>
                            <a:srgbClr val="40458B"/>
                          </a:solidFill>
                          <a:latin typeface="黑体"/>
                          <a:cs typeface="黑体"/>
                        </a:rPr>
                        <a:t>＋</a:t>
                      </a:r>
                      <a:r>
                        <a:rPr dirty="0" sz="2000" spc="-10">
                          <a:solidFill>
                            <a:srgbClr val="40458B"/>
                          </a:solidFill>
                          <a:latin typeface="Tahoma"/>
                          <a:cs typeface="Tahoma"/>
                        </a:rPr>
                        <a:t>#2</a:t>
                      </a:r>
                      <a:endParaRPr sz="2000">
                        <a:latin typeface="Tahoma"/>
                        <a:cs typeface="Tahoma"/>
                      </a:endParaRPr>
                    </a:p>
                  </a:txBody>
                  <a:tcPr marL="0" marR="0" marB="0" marT="66675">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solidFill>
                      <a:srgbClr val="F6EBC2"/>
                    </a:solidFill>
                  </a:tcPr>
                </a:tc>
              </a:tr>
            </a:tbl>
          </a:graphicData>
        </a:graphic>
      </p:graphicFrame>
      <p:graphicFrame>
        <p:nvGraphicFramePr>
          <p:cNvPr id="3" name="object 3" descr=""/>
          <p:cNvGraphicFramePr>
            <a:graphicFrameLocks noGrp="1"/>
          </p:cNvGraphicFramePr>
          <p:nvPr/>
        </p:nvGraphicFramePr>
        <p:xfrm>
          <a:off x="1906587" y="4710112"/>
          <a:ext cx="8601075" cy="2131695"/>
        </p:xfrm>
        <a:graphic>
          <a:graphicData uri="http://schemas.openxmlformats.org/drawingml/2006/table">
            <a:tbl>
              <a:tblPr firstRow="1" bandRow="1">
                <a:tableStyleId>{2D5ABB26-0587-4C30-8999-92F81FD0307C}</a:tableStyleId>
              </a:tblPr>
              <a:tblGrid>
                <a:gridCol w="1462405"/>
                <a:gridCol w="859155"/>
                <a:gridCol w="883285"/>
                <a:gridCol w="883285"/>
                <a:gridCol w="882014"/>
                <a:gridCol w="883285"/>
                <a:gridCol w="884555"/>
                <a:gridCol w="880109"/>
                <a:gridCol w="883284"/>
              </a:tblGrid>
              <a:tr h="448945">
                <a:tc rowSpan="2">
                  <a:txBody>
                    <a:bodyPr/>
                    <a:lstStyle/>
                    <a:p>
                      <a:pPr marL="450215">
                        <a:lnSpc>
                          <a:spcPct val="100000"/>
                        </a:lnSpc>
                        <a:spcBef>
                          <a:spcPts val="1970"/>
                        </a:spcBef>
                      </a:pPr>
                      <a:r>
                        <a:rPr dirty="0" sz="2200" spc="-35" b="1">
                          <a:solidFill>
                            <a:srgbClr val="E14B04"/>
                          </a:solidFill>
                          <a:latin typeface="宋体"/>
                          <a:cs typeface="宋体"/>
                        </a:rPr>
                        <a:t>字段</a:t>
                      </a:r>
                      <a:endParaRPr sz="2200">
                        <a:latin typeface="宋体"/>
                        <a:cs typeface="宋体"/>
                      </a:endParaRPr>
                    </a:p>
                  </a:txBody>
                  <a:tcPr marL="0" marR="0" marB="0" marT="25019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solidFill>
                      <a:srgbClr val="F6EBC2"/>
                    </a:solidFill>
                  </a:tcPr>
                </a:tc>
                <a:tc gridSpan="8">
                  <a:txBody>
                    <a:bodyPr/>
                    <a:lstStyle/>
                    <a:p>
                      <a:pPr algn="ctr" marL="1905">
                        <a:lnSpc>
                          <a:spcPct val="100000"/>
                        </a:lnSpc>
                        <a:spcBef>
                          <a:spcPts val="580"/>
                        </a:spcBef>
                      </a:pPr>
                      <a:r>
                        <a:rPr dirty="0" sz="2200" spc="-25" b="1">
                          <a:solidFill>
                            <a:srgbClr val="E14B04"/>
                          </a:solidFill>
                          <a:latin typeface="宋体"/>
                          <a:cs typeface="宋体"/>
                        </a:rPr>
                        <a:t>浮点寄存器状态</a:t>
                      </a:r>
                      <a:endParaRPr sz="2200">
                        <a:latin typeface="宋体"/>
                        <a:cs typeface="宋体"/>
                      </a:endParaRPr>
                    </a:p>
                  </a:txBody>
                  <a:tcPr marL="0" marR="0" marB="0" marT="7366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solidFill>
                      <a:srgbClr val="F6EBC2"/>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459105">
                <a:tc vMerge="1">
                  <a:txBody>
                    <a:bodyPr/>
                    <a:lstStyle/>
                    <a:p>
                      <a:pPr/>
                    </a:p>
                  </a:txBody>
                  <a:tcPr marL="0" marR="0" marB="0" marT="25019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solidFill>
                      <a:srgbClr val="F6EBC2"/>
                    </a:solidFill>
                  </a:tcPr>
                </a:tc>
                <a:tc>
                  <a:txBody>
                    <a:bodyPr/>
                    <a:lstStyle/>
                    <a:p>
                      <a:pPr algn="ctr" marL="1905">
                        <a:lnSpc>
                          <a:spcPct val="100000"/>
                        </a:lnSpc>
                        <a:spcBef>
                          <a:spcPts val="580"/>
                        </a:spcBef>
                      </a:pPr>
                      <a:r>
                        <a:rPr dirty="0" sz="2200" spc="-25">
                          <a:solidFill>
                            <a:srgbClr val="660066"/>
                          </a:solidFill>
                          <a:latin typeface="Tahoma"/>
                          <a:cs typeface="Tahoma"/>
                        </a:rPr>
                        <a:t>F0</a:t>
                      </a:r>
                      <a:endParaRPr sz="2200">
                        <a:latin typeface="Tahoma"/>
                        <a:cs typeface="Tahoma"/>
                      </a:endParaRPr>
                    </a:p>
                  </a:txBody>
                  <a:tcPr marL="0" marR="0" marB="0" marT="736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580"/>
                        </a:spcBef>
                      </a:pPr>
                      <a:r>
                        <a:rPr dirty="0" sz="2200" spc="-25">
                          <a:solidFill>
                            <a:srgbClr val="660066"/>
                          </a:solidFill>
                          <a:latin typeface="Tahoma"/>
                          <a:cs typeface="Tahoma"/>
                        </a:rPr>
                        <a:t>F2</a:t>
                      </a:r>
                      <a:endParaRPr sz="2200">
                        <a:latin typeface="Tahoma"/>
                        <a:cs typeface="Tahoma"/>
                      </a:endParaRPr>
                    </a:p>
                  </a:txBody>
                  <a:tcPr marL="0" marR="0" marB="0" marT="736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580"/>
                        </a:spcBef>
                      </a:pPr>
                      <a:r>
                        <a:rPr dirty="0" sz="2200" spc="-25">
                          <a:solidFill>
                            <a:srgbClr val="660066"/>
                          </a:solidFill>
                          <a:latin typeface="Tahoma"/>
                          <a:cs typeface="Tahoma"/>
                        </a:rPr>
                        <a:t>F4</a:t>
                      </a:r>
                      <a:endParaRPr sz="2200">
                        <a:latin typeface="Tahoma"/>
                        <a:cs typeface="Tahoma"/>
                      </a:endParaRPr>
                    </a:p>
                  </a:txBody>
                  <a:tcPr marL="0" marR="0" marB="0" marT="736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1270">
                        <a:lnSpc>
                          <a:spcPct val="100000"/>
                        </a:lnSpc>
                        <a:spcBef>
                          <a:spcPts val="580"/>
                        </a:spcBef>
                      </a:pPr>
                      <a:r>
                        <a:rPr dirty="0" sz="2200" spc="-25">
                          <a:solidFill>
                            <a:srgbClr val="660066"/>
                          </a:solidFill>
                          <a:latin typeface="Tahoma"/>
                          <a:cs typeface="Tahoma"/>
                        </a:rPr>
                        <a:t>F6</a:t>
                      </a:r>
                      <a:endParaRPr sz="2200">
                        <a:latin typeface="Tahoma"/>
                        <a:cs typeface="Tahoma"/>
                      </a:endParaRPr>
                    </a:p>
                  </a:txBody>
                  <a:tcPr marL="0" marR="0" marB="0" marT="736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580"/>
                        </a:spcBef>
                      </a:pPr>
                      <a:r>
                        <a:rPr dirty="0" sz="2200" spc="-25">
                          <a:solidFill>
                            <a:srgbClr val="660066"/>
                          </a:solidFill>
                          <a:latin typeface="Tahoma"/>
                          <a:cs typeface="Tahoma"/>
                        </a:rPr>
                        <a:t>F8</a:t>
                      </a:r>
                      <a:endParaRPr sz="2200">
                        <a:latin typeface="Tahoma"/>
                        <a:cs typeface="Tahoma"/>
                      </a:endParaRPr>
                    </a:p>
                  </a:txBody>
                  <a:tcPr marL="0" marR="0" marB="0" marT="736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1905">
                        <a:lnSpc>
                          <a:spcPct val="100000"/>
                        </a:lnSpc>
                        <a:spcBef>
                          <a:spcPts val="580"/>
                        </a:spcBef>
                      </a:pPr>
                      <a:r>
                        <a:rPr dirty="0" sz="2200" spc="-25">
                          <a:solidFill>
                            <a:srgbClr val="660066"/>
                          </a:solidFill>
                          <a:latin typeface="Tahoma"/>
                          <a:cs typeface="Tahoma"/>
                        </a:rPr>
                        <a:t>F10</a:t>
                      </a:r>
                      <a:endParaRPr sz="2200">
                        <a:latin typeface="Tahoma"/>
                        <a:cs typeface="Tahoma"/>
                      </a:endParaRPr>
                    </a:p>
                  </a:txBody>
                  <a:tcPr marL="0" marR="0" marB="0" marT="736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635">
                        <a:lnSpc>
                          <a:spcPct val="100000"/>
                        </a:lnSpc>
                        <a:spcBef>
                          <a:spcPts val="580"/>
                        </a:spcBef>
                      </a:pPr>
                      <a:r>
                        <a:rPr dirty="0" sz="2200" spc="-50" b="1">
                          <a:solidFill>
                            <a:srgbClr val="660066"/>
                          </a:solidFill>
                          <a:latin typeface="宋体"/>
                          <a:cs typeface="宋体"/>
                        </a:rPr>
                        <a:t>…</a:t>
                      </a:r>
                      <a:endParaRPr sz="2200">
                        <a:latin typeface="宋体"/>
                        <a:cs typeface="宋体"/>
                      </a:endParaRPr>
                    </a:p>
                  </a:txBody>
                  <a:tcPr marL="0" marR="0" marB="0" marT="736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635">
                        <a:lnSpc>
                          <a:spcPct val="100000"/>
                        </a:lnSpc>
                        <a:spcBef>
                          <a:spcPts val="580"/>
                        </a:spcBef>
                      </a:pPr>
                      <a:r>
                        <a:rPr dirty="0" sz="2200" spc="-25">
                          <a:solidFill>
                            <a:srgbClr val="660066"/>
                          </a:solidFill>
                          <a:latin typeface="Tahoma"/>
                          <a:cs typeface="Tahoma"/>
                        </a:rPr>
                        <a:t>F30</a:t>
                      </a:r>
                      <a:endParaRPr sz="2200">
                        <a:latin typeface="Tahoma"/>
                        <a:cs typeface="Tahoma"/>
                      </a:endParaRPr>
                    </a:p>
                  </a:txBody>
                  <a:tcPr marL="0" marR="0" marB="0" marT="7366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859790">
                <a:tc>
                  <a:txBody>
                    <a:bodyPr/>
                    <a:lstStyle/>
                    <a:p>
                      <a:pPr marL="590550" marR="174625" indent="-407034">
                        <a:lnSpc>
                          <a:spcPct val="120000"/>
                        </a:lnSpc>
                        <a:spcBef>
                          <a:spcPts val="55"/>
                        </a:spcBef>
                      </a:pPr>
                      <a:r>
                        <a:rPr dirty="0" sz="2200" spc="-25">
                          <a:solidFill>
                            <a:srgbClr val="008000"/>
                          </a:solidFill>
                          <a:latin typeface="Tahoma"/>
                          <a:cs typeface="Tahoma"/>
                        </a:rPr>
                        <a:t>ROB</a:t>
                      </a:r>
                      <a:r>
                        <a:rPr dirty="0" sz="2200" spc="-40">
                          <a:solidFill>
                            <a:srgbClr val="008000"/>
                          </a:solidFill>
                          <a:latin typeface="黑体"/>
                          <a:cs typeface="黑体"/>
                        </a:rPr>
                        <a:t>项编</a:t>
                      </a:r>
                      <a:r>
                        <a:rPr dirty="0" sz="2200" spc="-50">
                          <a:solidFill>
                            <a:srgbClr val="008000"/>
                          </a:solidFill>
                          <a:latin typeface="黑体"/>
                          <a:cs typeface="黑体"/>
                        </a:rPr>
                        <a:t>号</a:t>
                      </a:r>
                      <a:endParaRPr sz="2200">
                        <a:latin typeface="黑体"/>
                        <a:cs typeface="黑体"/>
                      </a:endParaRPr>
                    </a:p>
                  </a:txBody>
                  <a:tcPr marL="0" marR="0" marB="0" marT="698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580"/>
                        </a:spcBef>
                      </a:pPr>
                      <a:r>
                        <a:rPr dirty="0" sz="2200" spc="-50">
                          <a:solidFill>
                            <a:srgbClr val="E14B04"/>
                          </a:solidFill>
                          <a:latin typeface="Tahoma"/>
                          <a:cs typeface="Tahoma"/>
                        </a:rPr>
                        <a:t>3</a:t>
                      </a:r>
                      <a:endParaRPr sz="2200">
                        <a:latin typeface="Tahoma"/>
                        <a:cs typeface="Tahoma"/>
                      </a:endParaRPr>
                    </a:p>
                  </a:txBody>
                  <a:tcPr marL="0" marR="0" marB="0" marT="736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580"/>
                        </a:spcBef>
                      </a:pPr>
                      <a:r>
                        <a:rPr dirty="0" sz="2200" spc="-50">
                          <a:solidFill>
                            <a:srgbClr val="E14B04"/>
                          </a:solidFill>
                          <a:latin typeface="Tahoma"/>
                          <a:cs typeface="Tahoma"/>
                        </a:rPr>
                        <a:t>6</a:t>
                      </a:r>
                      <a:endParaRPr sz="2200">
                        <a:latin typeface="Tahoma"/>
                        <a:cs typeface="Tahoma"/>
                      </a:endParaRPr>
                    </a:p>
                  </a:txBody>
                  <a:tcPr marL="0" marR="0" marB="0" marT="736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marL="635">
                        <a:lnSpc>
                          <a:spcPct val="100000"/>
                        </a:lnSpc>
                        <a:spcBef>
                          <a:spcPts val="580"/>
                        </a:spcBef>
                      </a:pPr>
                      <a:r>
                        <a:rPr dirty="0" sz="2200" spc="-50">
                          <a:solidFill>
                            <a:srgbClr val="E14B04"/>
                          </a:solidFill>
                          <a:latin typeface="Tahoma"/>
                          <a:cs typeface="Tahoma"/>
                        </a:rPr>
                        <a:t>4</a:t>
                      </a:r>
                      <a:endParaRPr sz="2200">
                        <a:latin typeface="Tahoma"/>
                        <a:cs typeface="Tahoma"/>
                      </a:endParaRPr>
                    </a:p>
                  </a:txBody>
                  <a:tcPr marL="0" marR="0" marB="0" marT="736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gn="ctr">
                        <a:lnSpc>
                          <a:spcPct val="100000"/>
                        </a:lnSpc>
                        <a:spcBef>
                          <a:spcPts val="580"/>
                        </a:spcBef>
                      </a:pPr>
                      <a:r>
                        <a:rPr dirty="0" sz="2200" spc="-50">
                          <a:solidFill>
                            <a:srgbClr val="E14B04"/>
                          </a:solidFill>
                          <a:latin typeface="Tahoma"/>
                          <a:cs typeface="Tahoma"/>
                        </a:rPr>
                        <a:t>5</a:t>
                      </a:r>
                      <a:endParaRPr sz="2200">
                        <a:latin typeface="Tahoma"/>
                        <a:cs typeface="Tahoma"/>
                      </a:endParaRPr>
                    </a:p>
                  </a:txBody>
                  <a:tcPr marL="0" marR="0" marB="0" marT="736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6EBC2"/>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6EBC2"/>
                    </a:solidFill>
                  </a:tcPr>
                </a:tc>
              </a:tr>
              <a:tr h="363855">
                <a:tc>
                  <a:txBody>
                    <a:bodyPr/>
                    <a:lstStyle/>
                    <a:p>
                      <a:pPr marL="438150">
                        <a:lnSpc>
                          <a:spcPts val="2185"/>
                        </a:lnSpc>
                        <a:spcBef>
                          <a:spcPts val="585"/>
                        </a:spcBef>
                      </a:pPr>
                      <a:r>
                        <a:rPr dirty="0" sz="2200" spc="-20">
                          <a:solidFill>
                            <a:srgbClr val="008000"/>
                          </a:solidFill>
                          <a:latin typeface="Tahoma"/>
                          <a:cs typeface="Tahoma"/>
                        </a:rPr>
                        <a:t>Busy</a:t>
                      </a:r>
                      <a:endParaRPr sz="2200">
                        <a:latin typeface="Tahoma"/>
                        <a:cs typeface="Tahoma"/>
                      </a:endParaRPr>
                    </a:p>
                  </a:txBody>
                  <a:tcPr marL="0" marR="0" marB="0" marT="74295">
                    <a:lnL w="28575">
                      <a:solidFill>
                        <a:srgbClr val="40458B"/>
                      </a:solidFill>
                      <a:prstDash val="solid"/>
                    </a:lnL>
                    <a:lnR w="12700">
                      <a:solidFill>
                        <a:srgbClr val="40458B"/>
                      </a:solidFill>
                      <a:prstDash val="solid"/>
                    </a:lnR>
                    <a:lnT w="12700">
                      <a:solidFill>
                        <a:srgbClr val="40458B"/>
                      </a:solidFill>
                      <a:prstDash val="solid"/>
                    </a:lnT>
                    <a:solidFill>
                      <a:srgbClr val="F6EBC2"/>
                    </a:solidFill>
                  </a:tcPr>
                </a:tc>
                <a:tc>
                  <a:txBody>
                    <a:bodyPr/>
                    <a:lstStyle/>
                    <a:p>
                      <a:pPr algn="ctr">
                        <a:lnSpc>
                          <a:spcPts val="2185"/>
                        </a:lnSpc>
                        <a:spcBef>
                          <a:spcPts val="585"/>
                        </a:spcBef>
                      </a:pPr>
                      <a:r>
                        <a:rPr dirty="0" sz="2200" spc="-25">
                          <a:solidFill>
                            <a:srgbClr val="E14B04"/>
                          </a:solidFill>
                          <a:latin typeface="Tahoma"/>
                          <a:cs typeface="Tahoma"/>
                        </a:rPr>
                        <a:t>yes</a:t>
                      </a:r>
                      <a:endParaRPr sz="2200">
                        <a:latin typeface="Tahoma"/>
                        <a:cs typeface="Tahoma"/>
                      </a:endParaRPr>
                    </a:p>
                  </a:txBody>
                  <a:tcPr marL="0" marR="0" marB="0" marT="74295">
                    <a:lnL w="12700">
                      <a:solidFill>
                        <a:srgbClr val="40458B"/>
                      </a:solidFill>
                      <a:prstDash val="solid"/>
                    </a:lnL>
                    <a:lnR w="12700">
                      <a:solidFill>
                        <a:srgbClr val="40458B"/>
                      </a:solidFill>
                      <a:prstDash val="solid"/>
                    </a:lnR>
                    <a:lnT w="12700">
                      <a:solidFill>
                        <a:srgbClr val="40458B"/>
                      </a:solidFill>
                      <a:prstDash val="solid"/>
                    </a:lnT>
                    <a:solidFill>
                      <a:srgbClr val="F6EBC2"/>
                    </a:solidFill>
                  </a:tcPr>
                </a:tc>
                <a:tc>
                  <a:txBody>
                    <a:bodyPr/>
                    <a:lstStyle/>
                    <a:p>
                      <a:pPr algn="ctr">
                        <a:lnSpc>
                          <a:spcPts val="2185"/>
                        </a:lnSpc>
                        <a:spcBef>
                          <a:spcPts val="585"/>
                        </a:spcBef>
                      </a:pPr>
                      <a:r>
                        <a:rPr dirty="0" sz="2200" spc="-25">
                          <a:solidFill>
                            <a:srgbClr val="E14B04"/>
                          </a:solidFill>
                          <a:latin typeface="Tahoma"/>
                          <a:cs typeface="Tahoma"/>
                        </a:rPr>
                        <a:t>no</a:t>
                      </a:r>
                      <a:endParaRPr sz="2200">
                        <a:latin typeface="Tahoma"/>
                        <a:cs typeface="Tahoma"/>
                      </a:endParaRPr>
                    </a:p>
                  </a:txBody>
                  <a:tcPr marL="0" marR="0" marB="0" marT="74295">
                    <a:lnL w="12700">
                      <a:solidFill>
                        <a:srgbClr val="40458B"/>
                      </a:solidFill>
                      <a:prstDash val="solid"/>
                    </a:lnL>
                    <a:lnR w="12700">
                      <a:solidFill>
                        <a:srgbClr val="40458B"/>
                      </a:solidFill>
                      <a:prstDash val="solid"/>
                    </a:lnR>
                    <a:lnT w="12700">
                      <a:solidFill>
                        <a:srgbClr val="40458B"/>
                      </a:solidFill>
                      <a:prstDash val="solid"/>
                    </a:lnT>
                    <a:solidFill>
                      <a:srgbClr val="F6EBC2"/>
                    </a:solidFill>
                  </a:tcPr>
                </a:tc>
                <a:tc>
                  <a:txBody>
                    <a:bodyPr/>
                    <a:lstStyle/>
                    <a:p>
                      <a:pPr algn="ctr">
                        <a:lnSpc>
                          <a:spcPts val="2185"/>
                        </a:lnSpc>
                        <a:spcBef>
                          <a:spcPts val="585"/>
                        </a:spcBef>
                      </a:pPr>
                      <a:r>
                        <a:rPr dirty="0" sz="2200" spc="-25">
                          <a:solidFill>
                            <a:srgbClr val="E14B04"/>
                          </a:solidFill>
                          <a:latin typeface="Tahoma"/>
                          <a:cs typeface="Tahoma"/>
                        </a:rPr>
                        <a:t>no</a:t>
                      </a:r>
                      <a:endParaRPr sz="2200">
                        <a:latin typeface="Tahoma"/>
                        <a:cs typeface="Tahoma"/>
                      </a:endParaRPr>
                    </a:p>
                  </a:txBody>
                  <a:tcPr marL="0" marR="0" marB="0" marT="74295">
                    <a:lnL w="12700">
                      <a:solidFill>
                        <a:srgbClr val="40458B"/>
                      </a:solidFill>
                      <a:prstDash val="solid"/>
                    </a:lnL>
                    <a:lnR w="12700">
                      <a:solidFill>
                        <a:srgbClr val="40458B"/>
                      </a:solidFill>
                      <a:prstDash val="solid"/>
                    </a:lnR>
                    <a:lnT w="12700">
                      <a:solidFill>
                        <a:srgbClr val="40458B"/>
                      </a:solidFill>
                      <a:prstDash val="solid"/>
                    </a:lnT>
                    <a:solidFill>
                      <a:srgbClr val="F6EBC2"/>
                    </a:solidFill>
                  </a:tcPr>
                </a:tc>
                <a:tc>
                  <a:txBody>
                    <a:bodyPr/>
                    <a:lstStyle/>
                    <a:p>
                      <a:pPr algn="ctr">
                        <a:lnSpc>
                          <a:spcPts val="2185"/>
                        </a:lnSpc>
                        <a:spcBef>
                          <a:spcPts val="585"/>
                        </a:spcBef>
                      </a:pPr>
                      <a:r>
                        <a:rPr dirty="0" sz="2200" spc="-25">
                          <a:solidFill>
                            <a:srgbClr val="E14B04"/>
                          </a:solidFill>
                          <a:latin typeface="Tahoma"/>
                          <a:cs typeface="Tahoma"/>
                        </a:rPr>
                        <a:t>yes</a:t>
                      </a:r>
                      <a:endParaRPr sz="2200">
                        <a:latin typeface="Tahoma"/>
                        <a:cs typeface="Tahoma"/>
                      </a:endParaRPr>
                    </a:p>
                  </a:txBody>
                  <a:tcPr marL="0" marR="0" marB="0" marT="74295">
                    <a:lnL w="12700">
                      <a:solidFill>
                        <a:srgbClr val="40458B"/>
                      </a:solidFill>
                      <a:prstDash val="solid"/>
                    </a:lnL>
                    <a:lnR w="12700">
                      <a:solidFill>
                        <a:srgbClr val="40458B"/>
                      </a:solidFill>
                      <a:prstDash val="solid"/>
                    </a:lnR>
                    <a:lnT w="12700">
                      <a:solidFill>
                        <a:srgbClr val="40458B"/>
                      </a:solidFill>
                      <a:prstDash val="solid"/>
                    </a:lnT>
                    <a:solidFill>
                      <a:srgbClr val="F6EBC2"/>
                    </a:solidFill>
                  </a:tcPr>
                </a:tc>
                <a:tc>
                  <a:txBody>
                    <a:bodyPr/>
                    <a:lstStyle/>
                    <a:p>
                      <a:pPr algn="ctr" marL="635">
                        <a:lnSpc>
                          <a:spcPts val="2185"/>
                        </a:lnSpc>
                        <a:spcBef>
                          <a:spcPts val="585"/>
                        </a:spcBef>
                      </a:pPr>
                      <a:r>
                        <a:rPr dirty="0" sz="2200" spc="-25">
                          <a:solidFill>
                            <a:srgbClr val="E14B04"/>
                          </a:solidFill>
                          <a:latin typeface="Tahoma"/>
                          <a:cs typeface="Tahoma"/>
                        </a:rPr>
                        <a:t>yes</a:t>
                      </a:r>
                      <a:endParaRPr sz="2200">
                        <a:latin typeface="Tahoma"/>
                        <a:cs typeface="Tahoma"/>
                      </a:endParaRPr>
                    </a:p>
                  </a:txBody>
                  <a:tcPr marL="0" marR="0" marB="0" marT="74295">
                    <a:lnL w="12700">
                      <a:solidFill>
                        <a:srgbClr val="40458B"/>
                      </a:solidFill>
                      <a:prstDash val="solid"/>
                    </a:lnL>
                    <a:lnR w="12700">
                      <a:solidFill>
                        <a:srgbClr val="40458B"/>
                      </a:solidFill>
                      <a:prstDash val="solid"/>
                    </a:lnR>
                    <a:lnT w="12700">
                      <a:solidFill>
                        <a:srgbClr val="40458B"/>
                      </a:solidFill>
                      <a:prstDash val="solid"/>
                    </a:lnT>
                    <a:solidFill>
                      <a:srgbClr val="F6EBC2"/>
                    </a:solidFill>
                  </a:tcPr>
                </a:tc>
                <a:tc>
                  <a:txBody>
                    <a:bodyPr/>
                    <a:lstStyle/>
                    <a:p>
                      <a:pPr algn="ctr">
                        <a:lnSpc>
                          <a:spcPts val="2185"/>
                        </a:lnSpc>
                        <a:spcBef>
                          <a:spcPts val="585"/>
                        </a:spcBef>
                      </a:pPr>
                      <a:r>
                        <a:rPr dirty="0" sz="2200" spc="-25">
                          <a:solidFill>
                            <a:srgbClr val="E14B04"/>
                          </a:solidFill>
                          <a:latin typeface="Tahoma"/>
                          <a:cs typeface="Tahoma"/>
                        </a:rPr>
                        <a:t>yes</a:t>
                      </a:r>
                      <a:endParaRPr sz="2200">
                        <a:latin typeface="Tahoma"/>
                        <a:cs typeface="Tahoma"/>
                      </a:endParaRPr>
                    </a:p>
                  </a:txBody>
                  <a:tcPr marL="0" marR="0" marB="0" marT="74295">
                    <a:lnL w="12700">
                      <a:solidFill>
                        <a:srgbClr val="40458B"/>
                      </a:solidFill>
                      <a:prstDash val="solid"/>
                    </a:lnL>
                    <a:lnR w="12700">
                      <a:solidFill>
                        <a:srgbClr val="40458B"/>
                      </a:solidFill>
                      <a:prstDash val="solid"/>
                    </a:lnR>
                    <a:lnT w="12700">
                      <a:solidFill>
                        <a:srgbClr val="40458B"/>
                      </a:solidFill>
                      <a:prstDash val="solid"/>
                    </a:lnT>
                    <a:solidFill>
                      <a:srgbClr val="F6EBC2"/>
                    </a:solidFill>
                  </a:tcPr>
                </a:tc>
                <a:tc>
                  <a:txBody>
                    <a:bodyPr/>
                    <a:lstStyle/>
                    <a:p>
                      <a:pPr algn="ctr" marL="635">
                        <a:lnSpc>
                          <a:spcPts val="2185"/>
                        </a:lnSpc>
                        <a:spcBef>
                          <a:spcPts val="585"/>
                        </a:spcBef>
                      </a:pPr>
                      <a:r>
                        <a:rPr dirty="0" sz="2200" spc="-50" b="1">
                          <a:solidFill>
                            <a:srgbClr val="E14B04"/>
                          </a:solidFill>
                          <a:latin typeface="宋体"/>
                          <a:cs typeface="宋体"/>
                        </a:rPr>
                        <a:t>…</a:t>
                      </a:r>
                      <a:endParaRPr sz="2200">
                        <a:latin typeface="宋体"/>
                        <a:cs typeface="宋体"/>
                      </a:endParaRPr>
                    </a:p>
                  </a:txBody>
                  <a:tcPr marL="0" marR="0" marB="0" marT="74295">
                    <a:lnL w="12700">
                      <a:solidFill>
                        <a:srgbClr val="40458B"/>
                      </a:solidFill>
                      <a:prstDash val="solid"/>
                    </a:lnL>
                    <a:lnR w="12700">
                      <a:solidFill>
                        <a:srgbClr val="40458B"/>
                      </a:solidFill>
                      <a:prstDash val="solid"/>
                    </a:lnR>
                    <a:lnT w="12700">
                      <a:solidFill>
                        <a:srgbClr val="40458B"/>
                      </a:solidFill>
                      <a:prstDash val="solid"/>
                    </a:lnT>
                    <a:solidFill>
                      <a:srgbClr val="F6EBC2"/>
                    </a:solidFill>
                  </a:tcPr>
                </a:tc>
                <a:tc>
                  <a:txBody>
                    <a:bodyPr/>
                    <a:lstStyle/>
                    <a:p>
                      <a:pPr algn="ctr">
                        <a:lnSpc>
                          <a:spcPts val="2185"/>
                        </a:lnSpc>
                        <a:spcBef>
                          <a:spcPts val="585"/>
                        </a:spcBef>
                      </a:pPr>
                      <a:r>
                        <a:rPr dirty="0" sz="2200" spc="-25">
                          <a:solidFill>
                            <a:srgbClr val="E14B04"/>
                          </a:solidFill>
                          <a:latin typeface="Tahoma"/>
                          <a:cs typeface="Tahoma"/>
                        </a:rPr>
                        <a:t>no</a:t>
                      </a:r>
                      <a:endParaRPr sz="2200">
                        <a:latin typeface="Tahoma"/>
                        <a:cs typeface="Tahoma"/>
                      </a:endParaRPr>
                    </a:p>
                  </a:txBody>
                  <a:tcPr marL="0" marR="0" marB="0" marT="74295">
                    <a:lnL w="12700">
                      <a:solidFill>
                        <a:srgbClr val="40458B"/>
                      </a:solidFill>
                      <a:prstDash val="solid"/>
                    </a:lnL>
                    <a:lnR w="28575">
                      <a:solidFill>
                        <a:srgbClr val="40458B"/>
                      </a:solidFill>
                      <a:prstDash val="solid"/>
                    </a:lnR>
                    <a:lnT w="12700">
                      <a:solidFill>
                        <a:srgbClr val="40458B"/>
                      </a:solidFill>
                      <a:prstDash val="solid"/>
                    </a:lnT>
                    <a:solidFill>
                      <a:srgbClr val="F6EBC2"/>
                    </a:solidFill>
                  </a:tcPr>
                </a:tc>
              </a:tr>
            </a:tbl>
          </a:graphicData>
        </a:graphic>
      </p:graphicFrame>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153/175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205890" y="107695"/>
            <a:ext cx="4090670" cy="513715"/>
          </a:xfrm>
          <a:prstGeom prst="rect"/>
        </p:spPr>
        <p:txBody>
          <a:bodyPr wrap="square" lIns="0" tIns="12700" rIns="0" bIns="0" rtlCol="0" vert="horz">
            <a:spAutoFit/>
          </a:bodyPr>
          <a:lstStyle/>
          <a:p>
            <a:pPr marL="12700">
              <a:lnSpc>
                <a:spcPct val="100000"/>
              </a:lnSpc>
              <a:spcBef>
                <a:spcPts val="100"/>
              </a:spcBef>
            </a:pPr>
            <a:r>
              <a:rPr dirty="0"/>
              <a:t>5.4</a:t>
            </a:r>
            <a:r>
              <a:rPr dirty="0" spc="-20"/>
              <a:t> 动态分支预测技术</a:t>
            </a:r>
          </a:p>
        </p:txBody>
      </p:sp>
      <p:sp>
        <p:nvSpPr>
          <p:cNvPr id="10" name="object 10" descr=""/>
          <p:cNvSpPr txBox="1"/>
          <p:nvPr/>
        </p:nvSpPr>
        <p:spPr>
          <a:xfrm>
            <a:off x="702665" y="1037081"/>
            <a:ext cx="7513320" cy="2586355"/>
          </a:xfrm>
          <a:prstGeom prst="rect">
            <a:avLst/>
          </a:prstGeom>
        </p:spPr>
        <p:txBody>
          <a:bodyPr wrap="square" lIns="0" tIns="158750" rIns="0" bIns="0" rtlCol="0" vert="horz">
            <a:spAutoFit/>
          </a:bodyPr>
          <a:lstStyle/>
          <a:p>
            <a:pPr marL="469265" indent="-456565">
              <a:lnSpc>
                <a:spcPct val="100000"/>
              </a:lnSpc>
              <a:spcBef>
                <a:spcPts val="1250"/>
              </a:spcBef>
              <a:buClr>
                <a:srgbClr val="40458B"/>
              </a:buClr>
              <a:buAutoNum type="arabicPeriod" startAt="6"/>
              <a:tabLst>
                <a:tab pos="469265" algn="l"/>
              </a:tabLst>
            </a:pPr>
            <a:r>
              <a:rPr dirty="0" sz="2400" spc="-15">
                <a:solidFill>
                  <a:srgbClr val="001F5F"/>
                </a:solidFill>
                <a:latin typeface="黑体"/>
                <a:cs typeface="黑体"/>
              </a:rPr>
              <a:t>前瞻执行</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a:solidFill>
                  <a:srgbClr val="40458B"/>
                </a:solidFill>
                <a:latin typeface="黑体"/>
                <a:cs typeface="黑体"/>
              </a:rPr>
              <a:t>通过ROB实现了指令的</a:t>
            </a:r>
            <a:r>
              <a:rPr dirty="0" sz="2400" spc="-10">
                <a:solidFill>
                  <a:srgbClr val="D50092"/>
                </a:solidFill>
                <a:latin typeface="黑体"/>
                <a:cs typeface="黑体"/>
              </a:rPr>
              <a:t>顺序完成。</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a:solidFill>
                  <a:srgbClr val="40458B"/>
                </a:solidFill>
                <a:latin typeface="黑体"/>
                <a:cs typeface="黑体"/>
              </a:rPr>
              <a:t>能够</a:t>
            </a:r>
            <a:r>
              <a:rPr dirty="0" sz="2400" spc="-10">
                <a:solidFill>
                  <a:srgbClr val="D50092"/>
                </a:solidFill>
                <a:latin typeface="黑体"/>
                <a:cs typeface="黑体"/>
              </a:rPr>
              <a:t>实现精确异常。</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5">
                <a:solidFill>
                  <a:srgbClr val="40458B"/>
                </a:solidFill>
                <a:latin typeface="黑体"/>
                <a:cs typeface="黑体"/>
              </a:rPr>
              <a:t>很容易地推广到整数寄存器和整数功能单元上。</a:t>
            </a:r>
            <a:endParaRPr sz="2400">
              <a:latin typeface="黑体"/>
              <a:cs typeface="黑体"/>
            </a:endParaRPr>
          </a:p>
          <a:p>
            <a:pPr lvl="1" marL="1099185" indent="-457200">
              <a:lnSpc>
                <a:spcPct val="100000"/>
              </a:lnSpc>
              <a:spcBef>
                <a:spcPts val="1150"/>
              </a:spcBef>
              <a:buClr>
                <a:srgbClr val="40458B"/>
              </a:buClr>
              <a:buSzPct val="89583"/>
              <a:buFont typeface="Wingdings"/>
              <a:buChar char=""/>
              <a:tabLst>
                <a:tab pos="1099185" algn="l"/>
              </a:tabLst>
            </a:pPr>
            <a:r>
              <a:rPr dirty="0" sz="2400" spc="-10">
                <a:solidFill>
                  <a:srgbClr val="D50092"/>
                </a:solidFill>
                <a:latin typeface="黑体"/>
                <a:cs typeface="黑体"/>
              </a:rPr>
              <a:t>主要缺点：</a:t>
            </a:r>
            <a:r>
              <a:rPr dirty="0" sz="2400" spc="-15">
                <a:solidFill>
                  <a:srgbClr val="40458B"/>
                </a:solidFill>
                <a:latin typeface="黑体"/>
                <a:cs typeface="黑体"/>
              </a:rPr>
              <a:t>所需的硬件太复杂。</a:t>
            </a:r>
            <a:endParaRPr sz="2400">
              <a:latin typeface="黑体"/>
              <a:cs typeface="黑体"/>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154/175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2916682" y="2980689"/>
            <a:ext cx="8201659" cy="1415415"/>
          </a:xfrm>
          <a:prstGeom prst="rect">
            <a:avLst/>
          </a:prstGeom>
        </p:spPr>
        <p:txBody>
          <a:bodyPr wrap="square" lIns="0" tIns="12700" rIns="0" bIns="0" rtlCol="0" vert="horz">
            <a:spAutoFit/>
          </a:bodyPr>
          <a:lstStyle/>
          <a:p>
            <a:pPr marL="469900" marR="5080" indent="-457200">
              <a:lnSpc>
                <a:spcPct val="120000"/>
              </a:lnSpc>
              <a:spcBef>
                <a:spcPts val="100"/>
              </a:spcBef>
              <a:buSzPct val="89583"/>
              <a:buFont typeface="Wingdings"/>
              <a:buChar char=""/>
              <a:tabLst>
                <a:tab pos="469900" algn="l"/>
              </a:tabLst>
            </a:pPr>
            <a:r>
              <a:rPr dirty="0" sz="2400" spc="-30">
                <a:solidFill>
                  <a:srgbClr val="40458B"/>
                </a:solidFill>
                <a:latin typeface="黑体"/>
                <a:cs typeface="黑体"/>
              </a:rPr>
              <a:t>在每个时钟周期内流出多条指令， </a:t>
            </a:r>
            <a:r>
              <a:rPr dirty="0" sz="2400">
                <a:solidFill>
                  <a:srgbClr val="D50092"/>
                </a:solidFill>
                <a:latin typeface="黑体"/>
                <a:cs typeface="黑体"/>
              </a:rPr>
              <a:t>CPI＜1（</a:t>
            </a:r>
            <a:r>
              <a:rPr dirty="0" sz="2400" spc="-10">
                <a:solidFill>
                  <a:srgbClr val="D50092"/>
                </a:solidFill>
                <a:latin typeface="黑体"/>
                <a:cs typeface="黑体"/>
              </a:rPr>
              <a:t>每条指令所需</a:t>
            </a:r>
            <a:r>
              <a:rPr dirty="0" sz="2400">
                <a:solidFill>
                  <a:srgbClr val="D50092"/>
                </a:solidFill>
                <a:latin typeface="黑体"/>
                <a:cs typeface="黑体"/>
              </a:rPr>
              <a:t>的时钟周期个数小于1）</a:t>
            </a:r>
            <a:r>
              <a:rPr dirty="0" sz="2400" spc="-50">
                <a:solidFill>
                  <a:srgbClr val="D50092"/>
                </a:solidFill>
                <a:latin typeface="黑体"/>
                <a:cs typeface="黑体"/>
              </a:rPr>
              <a:t>。</a:t>
            </a:r>
            <a:endParaRPr sz="2400">
              <a:latin typeface="黑体"/>
              <a:cs typeface="黑体"/>
            </a:endParaRPr>
          </a:p>
          <a:p>
            <a:pPr marL="469265" indent="-456565">
              <a:lnSpc>
                <a:spcPct val="100000"/>
              </a:lnSpc>
              <a:spcBef>
                <a:spcPts val="1150"/>
              </a:spcBef>
              <a:buSzPct val="89583"/>
              <a:buFont typeface="Wingdings"/>
              <a:buChar char=""/>
              <a:tabLst>
                <a:tab pos="469265" algn="l"/>
              </a:tabLst>
            </a:pPr>
            <a:r>
              <a:rPr dirty="0" sz="2400" spc="-15">
                <a:solidFill>
                  <a:srgbClr val="40458B"/>
                </a:solidFill>
                <a:latin typeface="黑体"/>
                <a:cs typeface="黑体"/>
              </a:rPr>
              <a:t>单流出和多流出处理机执行指令的时空图对比</a:t>
            </a:r>
            <a:endParaRPr sz="2400">
              <a:latin typeface="黑体"/>
              <a:cs typeface="黑体"/>
            </a:endParaRPr>
          </a:p>
        </p:txBody>
      </p:sp>
      <p:sp>
        <p:nvSpPr>
          <p:cNvPr id="10" name="object 10"/>
          <p:cNvSpPr txBox="1">
            <a:spLocks noGrp="1"/>
          </p:cNvSpPr>
          <p:nvPr>
            <p:ph type="title"/>
          </p:nvPr>
        </p:nvSpPr>
        <p:spPr>
          <a:xfrm>
            <a:off x="1279016" y="80263"/>
            <a:ext cx="3686175" cy="513715"/>
          </a:xfrm>
          <a:prstGeom prst="rect"/>
        </p:spPr>
        <p:txBody>
          <a:bodyPr wrap="square" lIns="0" tIns="12700" rIns="0" bIns="0" rtlCol="0" vert="horz">
            <a:spAutoFit/>
          </a:bodyPr>
          <a:lstStyle/>
          <a:p>
            <a:pPr marL="12700">
              <a:lnSpc>
                <a:spcPct val="100000"/>
              </a:lnSpc>
              <a:spcBef>
                <a:spcPts val="100"/>
              </a:spcBef>
            </a:pPr>
            <a:r>
              <a:rPr dirty="0">
                <a:solidFill>
                  <a:srgbClr val="000000"/>
                </a:solidFill>
              </a:rPr>
              <a:t>5.5</a:t>
            </a:r>
            <a:r>
              <a:rPr dirty="0" spc="-15">
                <a:solidFill>
                  <a:srgbClr val="000000"/>
                </a:solidFill>
              </a:rPr>
              <a:t> 多指令流出技术</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155/175</a:t>
            </a:r>
            <a:endParaRPr sz="1600">
              <a:latin typeface="宋体"/>
              <a:cs typeface="宋体"/>
            </a:endParaRPr>
          </a:p>
        </p:txBody>
      </p:sp>
      <p:grpSp>
        <p:nvGrpSpPr>
          <p:cNvPr id="3" name="object 3" descr=""/>
          <p:cNvGrpSpPr/>
          <p:nvPr/>
        </p:nvGrpSpPr>
        <p:grpSpPr>
          <a:xfrm>
            <a:off x="68262" y="311150"/>
            <a:ext cx="1076325" cy="274955"/>
            <a:chOff x="68262" y="311150"/>
            <a:chExt cx="1076325" cy="274955"/>
          </a:xfrm>
        </p:grpSpPr>
        <p:sp>
          <p:nvSpPr>
            <p:cNvPr id="4" name="object 4"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5" name="object 5"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6" name="object 6"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7" name="object 7"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grpSp>
        <p:nvGrpSpPr>
          <p:cNvPr id="8" name="object 8" descr=""/>
          <p:cNvGrpSpPr/>
          <p:nvPr/>
        </p:nvGrpSpPr>
        <p:grpSpPr>
          <a:xfrm>
            <a:off x="5786139" y="1401936"/>
            <a:ext cx="4003675" cy="3057525"/>
            <a:chOff x="5786139" y="1401936"/>
            <a:chExt cx="4003675" cy="3057525"/>
          </a:xfrm>
        </p:grpSpPr>
        <p:sp>
          <p:nvSpPr>
            <p:cNvPr id="9" name="object 9" descr=""/>
            <p:cNvSpPr/>
            <p:nvPr/>
          </p:nvSpPr>
          <p:spPr>
            <a:xfrm>
              <a:off x="7962811" y="1443545"/>
              <a:ext cx="1598930" cy="2945130"/>
            </a:xfrm>
            <a:custGeom>
              <a:avLst/>
              <a:gdLst/>
              <a:ahLst/>
              <a:cxnLst/>
              <a:rect l="l" t="t" r="r" b="b"/>
              <a:pathLst>
                <a:path w="1598929" h="2945129">
                  <a:moveTo>
                    <a:pt x="531215" y="0"/>
                  </a:moveTo>
                  <a:lnTo>
                    <a:pt x="0" y="0"/>
                  </a:lnTo>
                  <a:lnTo>
                    <a:pt x="0" y="981202"/>
                  </a:lnTo>
                  <a:lnTo>
                    <a:pt x="531215" y="981202"/>
                  </a:lnTo>
                  <a:lnTo>
                    <a:pt x="531215" y="0"/>
                  </a:lnTo>
                  <a:close/>
                </a:path>
                <a:path w="1598929" h="2945129">
                  <a:moveTo>
                    <a:pt x="1064933" y="981163"/>
                  </a:moveTo>
                  <a:lnTo>
                    <a:pt x="533717" y="981163"/>
                  </a:lnTo>
                  <a:lnTo>
                    <a:pt x="533717" y="1964461"/>
                  </a:lnTo>
                  <a:lnTo>
                    <a:pt x="1064933" y="1964461"/>
                  </a:lnTo>
                  <a:lnTo>
                    <a:pt x="1064933" y="981163"/>
                  </a:lnTo>
                  <a:close/>
                </a:path>
                <a:path w="1598929" h="2945129">
                  <a:moveTo>
                    <a:pt x="1598853" y="1964461"/>
                  </a:moveTo>
                  <a:lnTo>
                    <a:pt x="1067638" y="1964461"/>
                  </a:lnTo>
                  <a:lnTo>
                    <a:pt x="1067638" y="2945130"/>
                  </a:lnTo>
                  <a:lnTo>
                    <a:pt x="1598853" y="2945130"/>
                  </a:lnTo>
                  <a:lnTo>
                    <a:pt x="1598853" y="1964461"/>
                  </a:lnTo>
                  <a:close/>
                </a:path>
              </a:pathLst>
            </a:custGeom>
            <a:solidFill>
              <a:srgbClr val="E8D1FF"/>
            </a:solidFill>
          </p:spPr>
          <p:txBody>
            <a:bodyPr wrap="square" lIns="0" tIns="0" rIns="0" bIns="0" rtlCol="0"/>
            <a:lstStyle/>
            <a:p/>
          </p:txBody>
        </p:sp>
        <p:sp>
          <p:nvSpPr>
            <p:cNvPr id="10" name="object 10" descr=""/>
            <p:cNvSpPr/>
            <p:nvPr/>
          </p:nvSpPr>
          <p:spPr>
            <a:xfrm>
              <a:off x="7428890" y="1443545"/>
              <a:ext cx="1598930" cy="2945130"/>
            </a:xfrm>
            <a:custGeom>
              <a:avLst/>
              <a:gdLst/>
              <a:ahLst/>
              <a:cxnLst/>
              <a:rect l="l" t="t" r="r" b="b"/>
              <a:pathLst>
                <a:path w="1598929" h="2945129">
                  <a:moveTo>
                    <a:pt x="531215" y="0"/>
                  </a:moveTo>
                  <a:lnTo>
                    <a:pt x="0" y="0"/>
                  </a:lnTo>
                  <a:lnTo>
                    <a:pt x="0" y="981202"/>
                  </a:lnTo>
                  <a:lnTo>
                    <a:pt x="531215" y="981202"/>
                  </a:lnTo>
                  <a:lnTo>
                    <a:pt x="531215" y="0"/>
                  </a:lnTo>
                  <a:close/>
                </a:path>
                <a:path w="1598929" h="2945129">
                  <a:moveTo>
                    <a:pt x="1065136" y="981163"/>
                  </a:moveTo>
                  <a:lnTo>
                    <a:pt x="533920" y="981163"/>
                  </a:lnTo>
                  <a:lnTo>
                    <a:pt x="533920" y="1964461"/>
                  </a:lnTo>
                  <a:lnTo>
                    <a:pt x="1065136" y="1964461"/>
                  </a:lnTo>
                  <a:lnTo>
                    <a:pt x="1065136" y="981163"/>
                  </a:lnTo>
                  <a:close/>
                </a:path>
                <a:path w="1598929" h="2945129">
                  <a:moveTo>
                    <a:pt x="1598853" y="1964461"/>
                  </a:moveTo>
                  <a:lnTo>
                    <a:pt x="1067638" y="1964461"/>
                  </a:lnTo>
                  <a:lnTo>
                    <a:pt x="1067638" y="2945130"/>
                  </a:lnTo>
                  <a:lnTo>
                    <a:pt x="1598853" y="2945130"/>
                  </a:lnTo>
                  <a:lnTo>
                    <a:pt x="1598853" y="1964461"/>
                  </a:lnTo>
                  <a:close/>
                </a:path>
              </a:pathLst>
            </a:custGeom>
            <a:solidFill>
              <a:srgbClr val="CCFFFF"/>
            </a:solidFill>
          </p:spPr>
          <p:txBody>
            <a:bodyPr wrap="square" lIns="0" tIns="0" rIns="0" bIns="0" rtlCol="0"/>
            <a:lstStyle/>
            <a:p/>
          </p:txBody>
        </p:sp>
        <p:sp>
          <p:nvSpPr>
            <p:cNvPr id="11" name="object 11" descr=""/>
            <p:cNvSpPr/>
            <p:nvPr/>
          </p:nvSpPr>
          <p:spPr>
            <a:xfrm>
              <a:off x="6895604" y="1443545"/>
              <a:ext cx="1598930" cy="2945130"/>
            </a:xfrm>
            <a:custGeom>
              <a:avLst/>
              <a:gdLst/>
              <a:ahLst/>
              <a:cxnLst/>
              <a:rect l="l" t="t" r="r" b="b"/>
              <a:pathLst>
                <a:path w="1598929" h="2945129">
                  <a:moveTo>
                    <a:pt x="531215" y="0"/>
                  </a:moveTo>
                  <a:lnTo>
                    <a:pt x="0" y="0"/>
                  </a:lnTo>
                  <a:lnTo>
                    <a:pt x="0" y="981202"/>
                  </a:lnTo>
                  <a:lnTo>
                    <a:pt x="531215" y="981202"/>
                  </a:lnTo>
                  <a:lnTo>
                    <a:pt x="531215" y="0"/>
                  </a:lnTo>
                  <a:close/>
                </a:path>
                <a:path w="1598929" h="2945129">
                  <a:moveTo>
                    <a:pt x="1064501" y="981163"/>
                  </a:moveTo>
                  <a:lnTo>
                    <a:pt x="533285" y="981163"/>
                  </a:lnTo>
                  <a:lnTo>
                    <a:pt x="533285" y="1964461"/>
                  </a:lnTo>
                  <a:lnTo>
                    <a:pt x="1064501" y="1964461"/>
                  </a:lnTo>
                  <a:lnTo>
                    <a:pt x="1064501" y="981163"/>
                  </a:lnTo>
                  <a:close/>
                </a:path>
                <a:path w="1598929" h="2945129">
                  <a:moveTo>
                    <a:pt x="1598422" y="1964461"/>
                  </a:moveTo>
                  <a:lnTo>
                    <a:pt x="1067206" y="1964461"/>
                  </a:lnTo>
                  <a:lnTo>
                    <a:pt x="1067206" y="2945130"/>
                  </a:lnTo>
                  <a:lnTo>
                    <a:pt x="1598422" y="2945130"/>
                  </a:lnTo>
                  <a:lnTo>
                    <a:pt x="1598422" y="1964461"/>
                  </a:lnTo>
                  <a:close/>
                </a:path>
              </a:pathLst>
            </a:custGeom>
            <a:solidFill>
              <a:srgbClr val="CCFFCC"/>
            </a:solidFill>
          </p:spPr>
          <p:txBody>
            <a:bodyPr wrap="square" lIns="0" tIns="0" rIns="0" bIns="0" rtlCol="0"/>
            <a:lstStyle/>
            <a:p/>
          </p:txBody>
        </p:sp>
        <p:sp>
          <p:nvSpPr>
            <p:cNvPr id="12" name="object 12" descr=""/>
            <p:cNvSpPr/>
            <p:nvPr/>
          </p:nvSpPr>
          <p:spPr>
            <a:xfrm>
              <a:off x="6361684" y="1443545"/>
              <a:ext cx="1598930" cy="2945130"/>
            </a:xfrm>
            <a:custGeom>
              <a:avLst/>
              <a:gdLst/>
              <a:ahLst/>
              <a:cxnLst/>
              <a:rect l="l" t="t" r="r" b="b"/>
              <a:pathLst>
                <a:path w="1598929" h="2945129">
                  <a:moveTo>
                    <a:pt x="531215" y="0"/>
                  </a:moveTo>
                  <a:lnTo>
                    <a:pt x="0" y="0"/>
                  </a:lnTo>
                  <a:lnTo>
                    <a:pt x="0" y="981202"/>
                  </a:lnTo>
                  <a:lnTo>
                    <a:pt x="531215" y="981202"/>
                  </a:lnTo>
                  <a:lnTo>
                    <a:pt x="531215" y="0"/>
                  </a:lnTo>
                  <a:close/>
                </a:path>
                <a:path w="1598929" h="2945129">
                  <a:moveTo>
                    <a:pt x="1065136" y="981163"/>
                  </a:moveTo>
                  <a:lnTo>
                    <a:pt x="533920" y="981163"/>
                  </a:lnTo>
                  <a:lnTo>
                    <a:pt x="533920" y="1964461"/>
                  </a:lnTo>
                  <a:lnTo>
                    <a:pt x="1065136" y="1964461"/>
                  </a:lnTo>
                  <a:lnTo>
                    <a:pt x="1065136" y="981163"/>
                  </a:lnTo>
                  <a:close/>
                </a:path>
                <a:path w="1598929" h="2945129">
                  <a:moveTo>
                    <a:pt x="1598422" y="1964461"/>
                  </a:moveTo>
                  <a:lnTo>
                    <a:pt x="1067206" y="1964461"/>
                  </a:lnTo>
                  <a:lnTo>
                    <a:pt x="1067206" y="2945130"/>
                  </a:lnTo>
                  <a:lnTo>
                    <a:pt x="1598422" y="2945130"/>
                  </a:lnTo>
                  <a:lnTo>
                    <a:pt x="1598422" y="1964461"/>
                  </a:lnTo>
                  <a:close/>
                </a:path>
              </a:pathLst>
            </a:custGeom>
            <a:solidFill>
              <a:srgbClr val="FFFF99"/>
            </a:solidFill>
          </p:spPr>
          <p:txBody>
            <a:bodyPr wrap="square" lIns="0" tIns="0" rIns="0" bIns="0" rtlCol="0"/>
            <a:lstStyle/>
            <a:p/>
          </p:txBody>
        </p:sp>
        <p:sp>
          <p:nvSpPr>
            <p:cNvPr id="13" name="object 13" descr=""/>
            <p:cNvSpPr/>
            <p:nvPr/>
          </p:nvSpPr>
          <p:spPr>
            <a:xfrm>
              <a:off x="5827966" y="1443545"/>
              <a:ext cx="1598930" cy="2945130"/>
            </a:xfrm>
            <a:custGeom>
              <a:avLst/>
              <a:gdLst/>
              <a:ahLst/>
              <a:cxnLst/>
              <a:rect l="l" t="t" r="r" b="b"/>
              <a:pathLst>
                <a:path w="1598929" h="2945129">
                  <a:moveTo>
                    <a:pt x="531215" y="0"/>
                  </a:moveTo>
                  <a:lnTo>
                    <a:pt x="0" y="0"/>
                  </a:lnTo>
                  <a:lnTo>
                    <a:pt x="0" y="981202"/>
                  </a:lnTo>
                  <a:lnTo>
                    <a:pt x="531215" y="981202"/>
                  </a:lnTo>
                  <a:lnTo>
                    <a:pt x="531215" y="0"/>
                  </a:lnTo>
                  <a:close/>
                </a:path>
                <a:path w="1598929" h="2945129">
                  <a:moveTo>
                    <a:pt x="1064933" y="981163"/>
                  </a:moveTo>
                  <a:lnTo>
                    <a:pt x="533717" y="981163"/>
                  </a:lnTo>
                  <a:lnTo>
                    <a:pt x="533717" y="1964461"/>
                  </a:lnTo>
                  <a:lnTo>
                    <a:pt x="1064933" y="1964461"/>
                  </a:lnTo>
                  <a:lnTo>
                    <a:pt x="1064933" y="981163"/>
                  </a:lnTo>
                  <a:close/>
                </a:path>
                <a:path w="1598929" h="2945129">
                  <a:moveTo>
                    <a:pt x="1598853" y="1964461"/>
                  </a:moveTo>
                  <a:lnTo>
                    <a:pt x="1067638" y="1964461"/>
                  </a:lnTo>
                  <a:lnTo>
                    <a:pt x="1067638" y="2945130"/>
                  </a:lnTo>
                  <a:lnTo>
                    <a:pt x="1598853" y="2945130"/>
                  </a:lnTo>
                  <a:lnTo>
                    <a:pt x="1598853" y="1964461"/>
                  </a:lnTo>
                  <a:close/>
                </a:path>
              </a:pathLst>
            </a:custGeom>
            <a:solidFill>
              <a:srgbClr val="FFCC99"/>
            </a:solidFill>
          </p:spPr>
          <p:txBody>
            <a:bodyPr wrap="square" lIns="0" tIns="0" rIns="0" bIns="0" rtlCol="0"/>
            <a:lstStyle/>
            <a:p/>
          </p:txBody>
        </p:sp>
        <p:sp>
          <p:nvSpPr>
            <p:cNvPr id="14" name="object 14" descr=""/>
            <p:cNvSpPr/>
            <p:nvPr/>
          </p:nvSpPr>
          <p:spPr>
            <a:xfrm>
              <a:off x="5818464" y="1403412"/>
              <a:ext cx="3970020" cy="83820"/>
            </a:xfrm>
            <a:custGeom>
              <a:avLst/>
              <a:gdLst/>
              <a:ahLst/>
              <a:cxnLst/>
              <a:rect l="l" t="t" r="r" b="b"/>
              <a:pathLst>
                <a:path w="3970020" h="83819">
                  <a:moveTo>
                    <a:pt x="3843101" y="0"/>
                  </a:moveTo>
                  <a:lnTo>
                    <a:pt x="3885992" y="43205"/>
                  </a:lnTo>
                  <a:lnTo>
                    <a:pt x="3843101" y="83670"/>
                  </a:lnTo>
                  <a:lnTo>
                    <a:pt x="3937363" y="53532"/>
                  </a:lnTo>
                  <a:lnTo>
                    <a:pt x="3888528" y="53532"/>
                  </a:lnTo>
                  <a:lnTo>
                    <a:pt x="3893810" y="51003"/>
                  </a:lnTo>
                  <a:lnTo>
                    <a:pt x="3896557" y="45734"/>
                  </a:lnTo>
                  <a:lnTo>
                    <a:pt x="3896557" y="38568"/>
                  </a:lnTo>
                  <a:lnTo>
                    <a:pt x="3893810" y="35828"/>
                  </a:lnTo>
                  <a:lnTo>
                    <a:pt x="3888528" y="33299"/>
                  </a:lnTo>
                  <a:lnTo>
                    <a:pt x="3940646" y="33299"/>
                  </a:lnTo>
                  <a:lnTo>
                    <a:pt x="3843101" y="0"/>
                  </a:lnTo>
                  <a:close/>
                </a:path>
                <a:path w="3970020" h="83819">
                  <a:moveTo>
                    <a:pt x="3876159" y="33299"/>
                  </a:moveTo>
                  <a:lnTo>
                    <a:pt x="7395" y="33299"/>
                  </a:lnTo>
                  <a:lnTo>
                    <a:pt x="4648" y="35828"/>
                  </a:lnTo>
                  <a:lnTo>
                    <a:pt x="2112" y="38568"/>
                  </a:lnTo>
                  <a:lnTo>
                    <a:pt x="0" y="43205"/>
                  </a:lnTo>
                  <a:lnTo>
                    <a:pt x="2112" y="45734"/>
                  </a:lnTo>
                  <a:lnTo>
                    <a:pt x="4648" y="51003"/>
                  </a:lnTo>
                  <a:lnTo>
                    <a:pt x="7395" y="53532"/>
                  </a:lnTo>
                  <a:lnTo>
                    <a:pt x="3875046" y="53532"/>
                  </a:lnTo>
                  <a:lnTo>
                    <a:pt x="3885992" y="43205"/>
                  </a:lnTo>
                  <a:lnTo>
                    <a:pt x="3876159" y="33299"/>
                  </a:lnTo>
                  <a:close/>
                </a:path>
                <a:path w="3970020" h="83819">
                  <a:moveTo>
                    <a:pt x="3940646" y="33299"/>
                  </a:moveTo>
                  <a:lnTo>
                    <a:pt x="3888528" y="33299"/>
                  </a:lnTo>
                  <a:lnTo>
                    <a:pt x="3893810" y="35828"/>
                  </a:lnTo>
                  <a:lnTo>
                    <a:pt x="3896557" y="38568"/>
                  </a:lnTo>
                  <a:lnTo>
                    <a:pt x="3896557" y="45734"/>
                  </a:lnTo>
                  <a:lnTo>
                    <a:pt x="3893810" y="51003"/>
                  </a:lnTo>
                  <a:lnTo>
                    <a:pt x="3888528" y="53532"/>
                  </a:lnTo>
                  <a:lnTo>
                    <a:pt x="3937363" y="53532"/>
                  </a:lnTo>
                  <a:lnTo>
                    <a:pt x="3969662" y="43205"/>
                  </a:lnTo>
                  <a:lnTo>
                    <a:pt x="3940646" y="33299"/>
                  </a:lnTo>
                  <a:close/>
                </a:path>
              </a:pathLst>
            </a:custGeom>
            <a:solidFill>
              <a:srgbClr val="000000"/>
            </a:solidFill>
          </p:spPr>
          <p:txBody>
            <a:bodyPr wrap="square" lIns="0" tIns="0" rIns="0" bIns="0" rtlCol="0"/>
            <a:lstStyle/>
            <a:p/>
          </p:txBody>
        </p:sp>
        <p:sp>
          <p:nvSpPr>
            <p:cNvPr id="15" name="object 15" descr=""/>
            <p:cNvSpPr/>
            <p:nvPr/>
          </p:nvSpPr>
          <p:spPr>
            <a:xfrm>
              <a:off x="5818464" y="1403412"/>
              <a:ext cx="3970020" cy="83820"/>
            </a:xfrm>
            <a:custGeom>
              <a:avLst/>
              <a:gdLst/>
              <a:ahLst/>
              <a:cxnLst/>
              <a:rect l="l" t="t" r="r" b="b"/>
              <a:pathLst>
                <a:path w="3970020" h="83819">
                  <a:moveTo>
                    <a:pt x="12677" y="33299"/>
                  </a:moveTo>
                  <a:lnTo>
                    <a:pt x="3885992" y="33299"/>
                  </a:lnTo>
                  <a:lnTo>
                    <a:pt x="3888528" y="33299"/>
                  </a:lnTo>
                  <a:lnTo>
                    <a:pt x="3893810" y="35828"/>
                  </a:lnTo>
                  <a:lnTo>
                    <a:pt x="3896557" y="38568"/>
                  </a:lnTo>
                  <a:lnTo>
                    <a:pt x="3896557" y="43205"/>
                  </a:lnTo>
                  <a:lnTo>
                    <a:pt x="3896557" y="45734"/>
                  </a:lnTo>
                  <a:lnTo>
                    <a:pt x="3893810" y="51003"/>
                  </a:lnTo>
                  <a:lnTo>
                    <a:pt x="3888528" y="53532"/>
                  </a:lnTo>
                  <a:lnTo>
                    <a:pt x="3885992" y="53532"/>
                  </a:lnTo>
                  <a:lnTo>
                    <a:pt x="12677" y="53532"/>
                  </a:lnTo>
                  <a:lnTo>
                    <a:pt x="7395" y="53532"/>
                  </a:lnTo>
                  <a:lnTo>
                    <a:pt x="4648" y="51003"/>
                  </a:lnTo>
                  <a:lnTo>
                    <a:pt x="2112" y="45734"/>
                  </a:lnTo>
                  <a:lnTo>
                    <a:pt x="0" y="43205"/>
                  </a:lnTo>
                  <a:lnTo>
                    <a:pt x="2112" y="38568"/>
                  </a:lnTo>
                  <a:lnTo>
                    <a:pt x="4648" y="35828"/>
                  </a:lnTo>
                  <a:lnTo>
                    <a:pt x="7395" y="33299"/>
                  </a:lnTo>
                  <a:lnTo>
                    <a:pt x="12677" y="33299"/>
                  </a:lnTo>
                  <a:close/>
                </a:path>
                <a:path w="3970020" h="83819">
                  <a:moveTo>
                    <a:pt x="3885992" y="43205"/>
                  </a:moveTo>
                  <a:lnTo>
                    <a:pt x="3843101" y="0"/>
                  </a:lnTo>
                  <a:lnTo>
                    <a:pt x="3969662" y="43205"/>
                  </a:lnTo>
                  <a:lnTo>
                    <a:pt x="3843101" y="83670"/>
                  </a:lnTo>
                  <a:lnTo>
                    <a:pt x="3885992" y="43205"/>
                  </a:lnTo>
                  <a:close/>
                </a:path>
              </a:pathLst>
            </a:custGeom>
            <a:ln w="3175">
              <a:solidFill>
                <a:srgbClr val="000000"/>
              </a:solidFill>
            </a:ln>
          </p:spPr>
          <p:txBody>
            <a:bodyPr wrap="square" lIns="0" tIns="0" rIns="0" bIns="0" rtlCol="0"/>
            <a:lstStyle/>
            <a:p/>
          </p:txBody>
        </p:sp>
        <p:sp>
          <p:nvSpPr>
            <p:cNvPr id="16" name="object 16" descr=""/>
            <p:cNvSpPr/>
            <p:nvPr/>
          </p:nvSpPr>
          <p:spPr>
            <a:xfrm>
              <a:off x="5787616" y="1436712"/>
              <a:ext cx="84455" cy="3021330"/>
            </a:xfrm>
            <a:custGeom>
              <a:avLst/>
              <a:gdLst/>
              <a:ahLst/>
              <a:cxnLst/>
              <a:rect l="l" t="t" r="r" b="b"/>
              <a:pathLst>
                <a:path w="84454" h="3021329">
                  <a:moveTo>
                    <a:pt x="0" y="2894234"/>
                  </a:moveTo>
                  <a:lnTo>
                    <a:pt x="43525" y="3021110"/>
                  </a:lnTo>
                  <a:lnTo>
                    <a:pt x="67084" y="2947809"/>
                  </a:lnTo>
                  <a:lnTo>
                    <a:pt x="38242" y="2947809"/>
                  </a:lnTo>
                  <a:lnTo>
                    <a:pt x="35496" y="2945195"/>
                  </a:lnTo>
                  <a:lnTo>
                    <a:pt x="32960" y="2940011"/>
                  </a:lnTo>
                  <a:lnTo>
                    <a:pt x="30847" y="2937397"/>
                  </a:lnTo>
                  <a:lnTo>
                    <a:pt x="30847" y="2924825"/>
                  </a:lnTo>
                  <a:lnTo>
                    <a:pt x="0" y="2894234"/>
                  </a:lnTo>
                  <a:close/>
                </a:path>
                <a:path w="84454" h="3021329">
                  <a:moveTo>
                    <a:pt x="30847" y="2924825"/>
                  </a:moveTo>
                  <a:lnTo>
                    <a:pt x="30847" y="2937397"/>
                  </a:lnTo>
                  <a:lnTo>
                    <a:pt x="32960" y="2940011"/>
                  </a:lnTo>
                  <a:lnTo>
                    <a:pt x="35496" y="2945195"/>
                  </a:lnTo>
                  <a:lnTo>
                    <a:pt x="38242" y="2947809"/>
                  </a:lnTo>
                  <a:lnTo>
                    <a:pt x="46060" y="2947809"/>
                  </a:lnTo>
                  <a:lnTo>
                    <a:pt x="50708" y="2945195"/>
                  </a:lnTo>
                  <a:lnTo>
                    <a:pt x="50708" y="2940011"/>
                  </a:lnTo>
                  <a:lnTo>
                    <a:pt x="53455" y="2937397"/>
                  </a:lnTo>
                  <a:lnTo>
                    <a:pt x="43525" y="2937397"/>
                  </a:lnTo>
                  <a:lnTo>
                    <a:pt x="30847" y="2924825"/>
                  </a:lnTo>
                  <a:close/>
                </a:path>
                <a:path w="84454" h="3021329">
                  <a:moveTo>
                    <a:pt x="84303" y="2894234"/>
                  </a:moveTo>
                  <a:lnTo>
                    <a:pt x="53455" y="2926886"/>
                  </a:lnTo>
                  <a:lnTo>
                    <a:pt x="53455" y="2937397"/>
                  </a:lnTo>
                  <a:lnTo>
                    <a:pt x="50708" y="2940011"/>
                  </a:lnTo>
                  <a:lnTo>
                    <a:pt x="50708" y="2945195"/>
                  </a:lnTo>
                  <a:lnTo>
                    <a:pt x="46060" y="2947809"/>
                  </a:lnTo>
                  <a:lnTo>
                    <a:pt x="67084" y="2947809"/>
                  </a:lnTo>
                  <a:lnTo>
                    <a:pt x="84303" y="2894234"/>
                  </a:lnTo>
                  <a:close/>
                </a:path>
                <a:path w="84454" h="3021329">
                  <a:moveTo>
                    <a:pt x="46060" y="0"/>
                  </a:moveTo>
                  <a:lnTo>
                    <a:pt x="38242" y="0"/>
                  </a:lnTo>
                  <a:lnTo>
                    <a:pt x="35496" y="2529"/>
                  </a:lnTo>
                  <a:lnTo>
                    <a:pt x="32960" y="5268"/>
                  </a:lnTo>
                  <a:lnTo>
                    <a:pt x="30847" y="9905"/>
                  </a:lnTo>
                  <a:lnTo>
                    <a:pt x="30847" y="2924825"/>
                  </a:lnTo>
                  <a:lnTo>
                    <a:pt x="43525" y="2937397"/>
                  </a:lnTo>
                  <a:lnTo>
                    <a:pt x="53455" y="2926886"/>
                  </a:lnTo>
                  <a:lnTo>
                    <a:pt x="53455" y="9905"/>
                  </a:lnTo>
                  <a:lnTo>
                    <a:pt x="50708" y="5268"/>
                  </a:lnTo>
                  <a:lnTo>
                    <a:pt x="50708" y="2529"/>
                  </a:lnTo>
                  <a:lnTo>
                    <a:pt x="46060" y="0"/>
                  </a:lnTo>
                  <a:close/>
                </a:path>
                <a:path w="84454" h="3021329">
                  <a:moveTo>
                    <a:pt x="53455" y="2926886"/>
                  </a:moveTo>
                  <a:lnTo>
                    <a:pt x="43525" y="2937397"/>
                  </a:lnTo>
                  <a:lnTo>
                    <a:pt x="53455" y="2937397"/>
                  </a:lnTo>
                  <a:lnTo>
                    <a:pt x="53455" y="2926886"/>
                  </a:lnTo>
                  <a:close/>
                </a:path>
              </a:pathLst>
            </a:custGeom>
            <a:solidFill>
              <a:srgbClr val="000000"/>
            </a:solidFill>
          </p:spPr>
          <p:txBody>
            <a:bodyPr wrap="square" lIns="0" tIns="0" rIns="0" bIns="0" rtlCol="0"/>
            <a:lstStyle/>
            <a:p/>
          </p:txBody>
        </p:sp>
        <p:sp>
          <p:nvSpPr>
            <p:cNvPr id="17" name="object 17" descr=""/>
            <p:cNvSpPr/>
            <p:nvPr/>
          </p:nvSpPr>
          <p:spPr>
            <a:xfrm>
              <a:off x="5787616" y="1436712"/>
              <a:ext cx="84455" cy="3021330"/>
            </a:xfrm>
            <a:custGeom>
              <a:avLst/>
              <a:gdLst/>
              <a:ahLst/>
              <a:cxnLst/>
              <a:rect l="l" t="t" r="r" b="b"/>
              <a:pathLst>
                <a:path w="84454" h="3021329">
                  <a:moveTo>
                    <a:pt x="53455" y="9905"/>
                  </a:moveTo>
                  <a:lnTo>
                    <a:pt x="53455" y="2937397"/>
                  </a:lnTo>
                  <a:lnTo>
                    <a:pt x="50708" y="2940011"/>
                  </a:lnTo>
                  <a:lnTo>
                    <a:pt x="50708" y="2945195"/>
                  </a:lnTo>
                  <a:lnTo>
                    <a:pt x="46060" y="2947809"/>
                  </a:lnTo>
                  <a:lnTo>
                    <a:pt x="43525" y="2947809"/>
                  </a:lnTo>
                  <a:lnTo>
                    <a:pt x="38242" y="2947809"/>
                  </a:lnTo>
                  <a:lnTo>
                    <a:pt x="35496" y="2945195"/>
                  </a:lnTo>
                  <a:lnTo>
                    <a:pt x="32960" y="2940011"/>
                  </a:lnTo>
                  <a:lnTo>
                    <a:pt x="30847" y="2937397"/>
                  </a:lnTo>
                  <a:lnTo>
                    <a:pt x="30847" y="9905"/>
                  </a:lnTo>
                  <a:lnTo>
                    <a:pt x="32960" y="5268"/>
                  </a:lnTo>
                  <a:lnTo>
                    <a:pt x="35496" y="2529"/>
                  </a:lnTo>
                  <a:lnTo>
                    <a:pt x="38242" y="0"/>
                  </a:lnTo>
                  <a:lnTo>
                    <a:pt x="43525" y="0"/>
                  </a:lnTo>
                  <a:lnTo>
                    <a:pt x="46060" y="0"/>
                  </a:lnTo>
                  <a:lnTo>
                    <a:pt x="50708" y="2529"/>
                  </a:lnTo>
                  <a:lnTo>
                    <a:pt x="50708" y="5268"/>
                  </a:lnTo>
                  <a:lnTo>
                    <a:pt x="53455" y="9905"/>
                  </a:lnTo>
                  <a:close/>
                </a:path>
                <a:path w="84454" h="3021329">
                  <a:moveTo>
                    <a:pt x="43525" y="2937397"/>
                  </a:moveTo>
                  <a:lnTo>
                    <a:pt x="84303" y="2894234"/>
                  </a:lnTo>
                  <a:lnTo>
                    <a:pt x="43525" y="3021110"/>
                  </a:lnTo>
                  <a:lnTo>
                    <a:pt x="0" y="2894234"/>
                  </a:lnTo>
                  <a:lnTo>
                    <a:pt x="43525" y="2937397"/>
                  </a:lnTo>
                  <a:close/>
                </a:path>
              </a:pathLst>
            </a:custGeom>
            <a:ln w="3175">
              <a:solidFill>
                <a:srgbClr val="000000"/>
              </a:solidFill>
            </a:ln>
          </p:spPr>
          <p:txBody>
            <a:bodyPr wrap="square" lIns="0" tIns="0" rIns="0" bIns="0" rtlCol="0"/>
            <a:lstStyle/>
            <a:p/>
          </p:txBody>
        </p:sp>
        <p:sp>
          <p:nvSpPr>
            <p:cNvPr id="18" name="object 18" descr=""/>
            <p:cNvSpPr/>
            <p:nvPr/>
          </p:nvSpPr>
          <p:spPr>
            <a:xfrm>
              <a:off x="5827972" y="1443456"/>
              <a:ext cx="3736340" cy="2945765"/>
            </a:xfrm>
            <a:custGeom>
              <a:avLst/>
              <a:gdLst/>
              <a:ahLst/>
              <a:cxnLst/>
              <a:rect l="l" t="t" r="r" b="b"/>
              <a:pathLst>
                <a:path w="3736340" h="2945765">
                  <a:moveTo>
                    <a:pt x="533711" y="0"/>
                  </a:moveTo>
                  <a:lnTo>
                    <a:pt x="533711" y="1964538"/>
                  </a:lnTo>
                </a:path>
                <a:path w="3736340" h="2945765">
                  <a:moveTo>
                    <a:pt x="1067633" y="0"/>
                  </a:moveTo>
                  <a:lnTo>
                    <a:pt x="1067633" y="2945217"/>
                  </a:lnTo>
                </a:path>
                <a:path w="3736340" h="2945765">
                  <a:moveTo>
                    <a:pt x="1600922" y="0"/>
                  </a:moveTo>
                  <a:lnTo>
                    <a:pt x="1600922" y="2945217"/>
                  </a:lnTo>
                </a:path>
                <a:path w="3736340" h="2945765">
                  <a:moveTo>
                    <a:pt x="2134845" y="0"/>
                  </a:moveTo>
                  <a:lnTo>
                    <a:pt x="2134845" y="2945217"/>
                  </a:lnTo>
                </a:path>
                <a:path w="3736340" h="2945765">
                  <a:moveTo>
                    <a:pt x="3202479" y="981289"/>
                  </a:moveTo>
                  <a:lnTo>
                    <a:pt x="3202479" y="2945217"/>
                  </a:lnTo>
                </a:path>
                <a:path w="3736340" h="2945765">
                  <a:moveTo>
                    <a:pt x="0" y="327096"/>
                  </a:moveTo>
                  <a:lnTo>
                    <a:pt x="2668556" y="327096"/>
                  </a:lnTo>
                </a:path>
                <a:path w="3736340" h="2945765">
                  <a:moveTo>
                    <a:pt x="2668556" y="0"/>
                  </a:moveTo>
                  <a:lnTo>
                    <a:pt x="2668556" y="2945217"/>
                  </a:lnTo>
                </a:path>
                <a:path w="3736340" h="2945765">
                  <a:moveTo>
                    <a:pt x="0" y="654192"/>
                  </a:moveTo>
                  <a:lnTo>
                    <a:pt x="2668556" y="654192"/>
                  </a:lnTo>
                </a:path>
                <a:path w="3736340" h="2945765">
                  <a:moveTo>
                    <a:pt x="0" y="981289"/>
                  </a:moveTo>
                  <a:lnTo>
                    <a:pt x="3202479" y="981289"/>
                  </a:lnTo>
                </a:path>
                <a:path w="3736340" h="2945765">
                  <a:moveTo>
                    <a:pt x="3736190" y="1964538"/>
                  </a:moveTo>
                  <a:lnTo>
                    <a:pt x="3736190" y="2945217"/>
                  </a:lnTo>
                </a:path>
                <a:path w="3736340" h="2945765">
                  <a:moveTo>
                    <a:pt x="533711" y="1308322"/>
                  </a:moveTo>
                  <a:lnTo>
                    <a:pt x="3202479" y="1308322"/>
                  </a:lnTo>
                </a:path>
                <a:path w="3736340" h="2945765">
                  <a:moveTo>
                    <a:pt x="533711" y="1637463"/>
                  </a:moveTo>
                  <a:lnTo>
                    <a:pt x="3202479" y="1637463"/>
                  </a:lnTo>
                </a:path>
                <a:path w="3736340" h="2945765">
                  <a:moveTo>
                    <a:pt x="533711" y="1964538"/>
                  </a:moveTo>
                  <a:lnTo>
                    <a:pt x="3736190" y="1964538"/>
                  </a:lnTo>
                </a:path>
                <a:path w="3736340" h="2945765">
                  <a:moveTo>
                    <a:pt x="1067633" y="2291593"/>
                  </a:moveTo>
                  <a:lnTo>
                    <a:pt x="3736190" y="2291593"/>
                  </a:lnTo>
                </a:path>
                <a:path w="3736340" h="2945765">
                  <a:moveTo>
                    <a:pt x="1067633" y="2618668"/>
                  </a:moveTo>
                  <a:lnTo>
                    <a:pt x="3736190" y="2618668"/>
                  </a:lnTo>
                </a:path>
                <a:path w="3736340" h="2945765">
                  <a:moveTo>
                    <a:pt x="1067633" y="2945217"/>
                  </a:moveTo>
                  <a:lnTo>
                    <a:pt x="3736190" y="2945217"/>
                  </a:lnTo>
                </a:path>
              </a:pathLst>
            </a:custGeom>
            <a:ln w="15158">
              <a:solidFill>
                <a:srgbClr val="000000"/>
              </a:solidFill>
            </a:ln>
          </p:spPr>
          <p:txBody>
            <a:bodyPr wrap="square" lIns="0" tIns="0" rIns="0" bIns="0" rtlCol="0"/>
            <a:lstStyle/>
            <a:p/>
          </p:txBody>
        </p:sp>
      </p:grpSp>
      <p:grpSp>
        <p:nvGrpSpPr>
          <p:cNvPr id="19" name="object 19" descr=""/>
          <p:cNvGrpSpPr/>
          <p:nvPr/>
        </p:nvGrpSpPr>
        <p:grpSpPr>
          <a:xfrm>
            <a:off x="1281433" y="2121985"/>
            <a:ext cx="3971925" cy="90170"/>
            <a:chOff x="1281433" y="2121985"/>
            <a:chExt cx="3971925" cy="90170"/>
          </a:xfrm>
        </p:grpSpPr>
        <p:sp>
          <p:nvSpPr>
            <p:cNvPr id="20" name="object 20" descr=""/>
            <p:cNvSpPr/>
            <p:nvPr/>
          </p:nvSpPr>
          <p:spPr>
            <a:xfrm>
              <a:off x="1281433" y="2123572"/>
              <a:ext cx="3970654" cy="86995"/>
            </a:xfrm>
            <a:custGeom>
              <a:avLst/>
              <a:gdLst/>
              <a:ahLst/>
              <a:cxnLst/>
              <a:rect l="l" t="t" r="r" b="b"/>
              <a:pathLst>
                <a:path w="3970654" h="86994">
                  <a:moveTo>
                    <a:pt x="3843164" y="0"/>
                  </a:moveTo>
                  <a:lnTo>
                    <a:pt x="3886056" y="43205"/>
                  </a:lnTo>
                  <a:lnTo>
                    <a:pt x="3843164" y="86410"/>
                  </a:lnTo>
                  <a:lnTo>
                    <a:pt x="3941035" y="53111"/>
                  </a:lnTo>
                  <a:lnTo>
                    <a:pt x="3888591" y="53111"/>
                  </a:lnTo>
                  <a:lnTo>
                    <a:pt x="3893873" y="50581"/>
                  </a:lnTo>
                  <a:lnTo>
                    <a:pt x="3896409" y="47842"/>
                  </a:lnTo>
                  <a:lnTo>
                    <a:pt x="3896409" y="37936"/>
                  </a:lnTo>
                  <a:lnTo>
                    <a:pt x="3893873" y="35407"/>
                  </a:lnTo>
                  <a:lnTo>
                    <a:pt x="3888591" y="32878"/>
                  </a:lnTo>
                  <a:lnTo>
                    <a:pt x="3939796" y="32878"/>
                  </a:lnTo>
                  <a:lnTo>
                    <a:pt x="3843164" y="0"/>
                  </a:lnTo>
                  <a:close/>
                </a:path>
                <a:path w="3970654" h="86994">
                  <a:moveTo>
                    <a:pt x="3875804" y="32878"/>
                  </a:moveTo>
                  <a:lnTo>
                    <a:pt x="7331" y="32878"/>
                  </a:lnTo>
                  <a:lnTo>
                    <a:pt x="4711" y="35407"/>
                  </a:lnTo>
                  <a:lnTo>
                    <a:pt x="2619" y="37936"/>
                  </a:lnTo>
                  <a:lnTo>
                    <a:pt x="0" y="43205"/>
                  </a:lnTo>
                  <a:lnTo>
                    <a:pt x="2619" y="47841"/>
                  </a:lnTo>
                  <a:lnTo>
                    <a:pt x="4711" y="50581"/>
                  </a:lnTo>
                  <a:lnTo>
                    <a:pt x="7331" y="53110"/>
                  </a:lnTo>
                  <a:lnTo>
                    <a:pt x="3876222" y="53111"/>
                  </a:lnTo>
                  <a:lnTo>
                    <a:pt x="3886056" y="43205"/>
                  </a:lnTo>
                  <a:lnTo>
                    <a:pt x="3875804" y="32878"/>
                  </a:lnTo>
                  <a:close/>
                </a:path>
                <a:path w="3970654" h="86994">
                  <a:moveTo>
                    <a:pt x="3939796" y="32878"/>
                  </a:moveTo>
                  <a:lnTo>
                    <a:pt x="3888591" y="32878"/>
                  </a:lnTo>
                  <a:lnTo>
                    <a:pt x="3893873" y="35407"/>
                  </a:lnTo>
                  <a:lnTo>
                    <a:pt x="3896409" y="37936"/>
                  </a:lnTo>
                  <a:lnTo>
                    <a:pt x="3896409" y="47842"/>
                  </a:lnTo>
                  <a:lnTo>
                    <a:pt x="3893873" y="50581"/>
                  </a:lnTo>
                  <a:lnTo>
                    <a:pt x="3888591" y="53111"/>
                  </a:lnTo>
                  <a:lnTo>
                    <a:pt x="3941035" y="53111"/>
                  </a:lnTo>
                  <a:lnTo>
                    <a:pt x="3970148" y="43205"/>
                  </a:lnTo>
                  <a:lnTo>
                    <a:pt x="3939796" y="32878"/>
                  </a:lnTo>
                  <a:close/>
                </a:path>
              </a:pathLst>
            </a:custGeom>
            <a:solidFill>
              <a:srgbClr val="000000"/>
            </a:solidFill>
          </p:spPr>
          <p:txBody>
            <a:bodyPr wrap="square" lIns="0" tIns="0" rIns="0" bIns="0" rtlCol="0"/>
            <a:lstStyle/>
            <a:p/>
          </p:txBody>
        </p:sp>
        <p:sp>
          <p:nvSpPr>
            <p:cNvPr id="21" name="object 21" descr=""/>
            <p:cNvSpPr/>
            <p:nvPr/>
          </p:nvSpPr>
          <p:spPr>
            <a:xfrm>
              <a:off x="5124598" y="2123572"/>
              <a:ext cx="127000" cy="86995"/>
            </a:xfrm>
            <a:custGeom>
              <a:avLst/>
              <a:gdLst/>
              <a:ahLst/>
              <a:cxnLst/>
              <a:rect l="l" t="t" r="r" b="b"/>
              <a:pathLst>
                <a:path w="127000" h="86994">
                  <a:moveTo>
                    <a:pt x="42891" y="43205"/>
                  </a:moveTo>
                  <a:lnTo>
                    <a:pt x="0" y="0"/>
                  </a:lnTo>
                  <a:lnTo>
                    <a:pt x="126983" y="43205"/>
                  </a:lnTo>
                  <a:lnTo>
                    <a:pt x="0" y="86410"/>
                  </a:lnTo>
                  <a:lnTo>
                    <a:pt x="42891" y="43205"/>
                  </a:lnTo>
                  <a:close/>
                </a:path>
              </a:pathLst>
            </a:custGeom>
            <a:ln w="3175">
              <a:solidFill>
                <a:srgbClr val="000000"/>
              </a:solidFill>
            </a:ln>
          </p:spPr>
          <p:txBody>
            <a:bodyPr wrap="square" lIns="0" tIns="0" rIns="0" bIns="0" rtlCol="0"/>
            <a:lstStyle/>
            <a:p/>
          </p:txBody>
        </p:sp>
      </p:grpSp>
      <p:sp>
        <p:nvSpPr>
          <p:cNvPr id="22" name="object 22" descr=""/>
          <p:cNvSpPr txBox="1"/>
          <p:nvPr/>
        </p:nvSpPr>
        <p:spPr>
          <a:xfrm>
            <a:off x="1476512" y="1873645"/>
            <a:ext cx="121285" cy="255270"/>
          </a:xfrm>
          <a:prstGeom prst="rect">
            <a:avLst/>
          </a:prstGeom>
        </p:spPr>
        <p:txBody>
          <a:bodyPr wrap="square" lIns="0" tIns="13335" rIns="0" bIns="0" rtlCol="0" vert="horz">
            <a:spAutoFit/>
          </a:bodyPr>
          <a:lstStyle/>
          <a:p>
            <a:pPr marL="12700">
              <a:lnSpc>
                <a:spcPct val="100000"/>
              </a:lnSpc>
              <a:spcBef>
                <a:spcPts val="105"/>
              </a:spcBef>
            </a:pPr>
            <a:r>
              <a:rPr dirty="0" sz="1500" spc="-50">
                <a:solidFill>
                  <a:srgbClr val="000080"/>
                </a:solidFill>
                <a:latin typeface="Times New Roman"/>
                <a:cs typeface="Times New Roman"/>
              </a:rPr>
              <a:t>1</a:t>
            </a:r>
            <a:endParaRPr sz="1500">
              <a:latin typeface="Times New Roman"/>
              <a:cs typeface="Times New Roman"/>
            </a:endParaRPr>
          </a:p>
        </p:txBody>
      </p:sp>
      <p:sp>
        <p:nvSpPr>
          <p:cNvPr id="23" name="object 23" descr=""/>
          <p:cNvSpPr txBox="1"/>
          <p:nvPr/>
        </p:nvSpPr>
        <p:spPr>
          <a:xfrm>
            <a:off x="2010350" y="1873645"/>
            <a:ext cx="121285" cy="255270"/>
          </a:xfrm>
          <a:prstGeom prst="rect">
            <a:avLst/>
          </a:prstGeom>
        </p:spPr>
        <p:txBody>
          <a:bodyPr wrap="square" lIns="0" tIns="13335" rIns="0" bIns="0" rtlCol="0" vert="horz">
            <a:spAutoFit/>
          </a:bodyPr>
          <a:lstStyle/>
          <a:p>
            <a:pPr marL="12700">
              <a:lnSpc>
                <a:spcPct val="100000"/>
              </a:lnSpc>
              <a:spcBef>
                <a:spcPts val="105"/>
              </a:spcBef>
            </a:pPr>
            <a:r>
              <a:rPr dirty="0" sz="1500" spc="-50">
                <a:solidFill>
                  <a:srgbClr val="000080"/>
                </a:solidFill>
                <a:latin typeface="Times New Roman"/>
                <a:cs typeface="Times New Roman"/>
              </a:rPr>
              <a:t>2</a:t>
            </a:r>
            <a:endParaRPr sz="1500">
              <a:latin typeface="Times New Roman"/>
              <a:cs typeface="Times New Roman"/>
            </a:endParaRPr>
          </a:p>
        </p:txBody>
      </p:sp>
      <p:sp>
        <p:nvSpPr>
          <p:cNvPr id="24" name="object 24" descr=""/>
          <p:cNvSpPr txBox="1"/>
          <p:nvPr/>
        </p:nvSpPr>
        <p:spPr>
          <a:xfrm>
            <a:off x="4145048" y="1870905"/>
            <a:ext cx="121285" cy="255270"/>
          </a:xfrm>
          <a:prstGeom prst="rect">
            <a:avLst/>
          </a:prstGeom>
        </p:spPr>
        <p:txBody>
          <a:bodyPr wrap="square" lIns="0" tIns="13335" rIns="0" bIns="0" rtlCol="0" vert="horz">
            <a:spAutoFit/>
          </a:bodyPr>
          <a:lstStyle/>
          <a:p>
            <a:pPr marL="12700">
              <a:lnSpc>
                <a:spcPct val="100000"/>
              </a:lnSpc>
              <a:spcBef>
                <a:spcPts val="105"/>
              </a:spcBef>
            </a:pPr>
            <a:r>
              <a:rPr dirty="0" sz="1500" spc="-50">
                <a:solidFill>
                  <a:srgbClr val="000080"/>
                </a:solidFill>
                <a:latin typeface="Times New Roman"/>
                <a:cs typeface="Times New Roman"/>
              </a:rPr>
              <a:t>6</a:t>
            </a:r>
            <a:endParaRPr sz="1500">
              <a:latin typeface="Times New Roman"/>
              <a:cs typeface="Times New Roman"/>
            </a:endParaRPr>
          </a:p>
        </p:txBody>
      </p:sp>
      <p:sp>
        <p:nvSpPr>
          <p:cNvPr id="25" name="object 25" descr=""/>
          <p:cNvSpPr txBox="1"/>
          <p:nvPr/>
        </p:nvSpPr>
        <p:spPr>
          <a:xfrm>
            <a:off x="4678970" y="1873645"/>
            <a:ext cx="121285" cy="255270"/>
          </a:xfrm>
          <a:prstGeom prst="rect">
            <a:avLst/>
          </a:prstGeom>
        </p:spPr>
        <p:txBody>
          <a:bodyPr wrap="square" lIns="0" tIns="13335" rIns="0" bIns="0" rtlCol="0" vert="horz">
            <a:spAutoFit/>
          </a:bodyPr>
          <a:lstStyle/>
          <a:p>
            <a:pPr marL="12700">
              <a:lnSpc>
                <a:spcPct val="100000"/>
              </a:lnSpc>
              <a:spcBef>
                <a:spcPts val="105"/>
              </a:spcBef>
            </a:pPr>
            <a:r>
              <a:rPr dirty="0" sz="1500" spc="-50">
                <a:solidFill>
                  <a:srgbClr val="000080"/>
                </a:solidFill>
                <a:latin typeface="Times New Roman"/>
                <a:cs typeface="Times New Roman"/>
              </a:rPr>
              <a:t>7</a:t>
            </a:r>
            <a:endParaRPr sz="1500">
              <a:latin typeface="Times New Roman"/>
              <a:cs typeface="Times New Roman"/>
            </a:endParaRPr>
          </a:p>
        </p:txBody>
      </p:sp>
      <p:sp>
        <p:nvSpPr>
          <p:cNvPr id="26" name="object 26" descr=""/>
          <p:cNvSpPr txBox="1"/>
          <p:nvPr/>
        </p:nvSpPr>
        <p:spPr>
          <a:xfrm>
            <a:off x="1074564" y="3642558"/>
            <a:ext cx="412115" cy="255270"/>
          </a:xfrm>
          <a:prstGeom prst="rect">
            <a:avLst/>
          </a:prstGeom>
        </p:spPr>
        <p:txBody>
          <a:bodyPr wrap="square" lIns="0" tIns="13335" rIns="0" bIns="0" rtlCol="0" vert="horz">
            <a:spAutoFit/>
          </a:bodyPr>
          <a:lstStyle/>
          <a:p>
            <a:pPr marL="12700">
              <a:lnSpc>
                <a:spcPct val="100000"/>
              </a:lnSpc>
              <a:spcBef>
                <a:spcPts val="105"/>
              </a:spcBef>
            </a:pPr>
            <a:r>
              <a:rPr dirty="0" sz="1500" spc="-25">
                <a:solidFill>
                  <a:srgbClr val="000080"/>
                </a:solidFill>
                <a:latin typeface="宋体"/>
                <a:cs typeface="宋体"/>
              </a:rPr>
              <a:t>指令</a:t>
            </a:r>
            <a:endParaRPr sz="1500">
              <a:latin typeface="宋体"/>
              <a:cs typeface="宋体"/>
            </a:endParaRPr>
          </a:p>
        </p:txBody>
      </p:sp>
      <p:sp>
        <p:nvSpPr>
          <p:cNvPr id="27" name="object 27" descr=""/>
          <p:cNvSpPr txBox="1"/>
          <p:nvPr/>
        </p:nvSpPr>
        <p:spPr>
          <a:xfrm>
            <a:off x="1049164" y="2101033"/>
            <a:ext cx="204470" cy="1010919"/>
          </a:xfrm>
          <a:prstGeom prst="rect">
            <a:avLst/>
          </a:prstGeom>
        </p:spPr>
        <p:txBody>
          <a:bodyPr wrap="square" lIns="0" tIns="13335" rIns="0" bIns="0" rtlCol="0" vert="horz">
            <a:spAutoFit/>
          </a:bodyPr>
          <a:lstStyle/>
          <a:p>
            <a:pPr algn="just" marL="38100" marR="30480">
              <a:lnSpc>
                <a:spcPct val="143500"/>
              </a:lnSpc>
              <a:spcBef>
                <a:spcPts val="105"/>
              </a:spcBef>
            </a:pPr>
            <a:r>
              <a:rPr dirty="0" sz="1500" spc="-25">
                <a:solidFill>
                  <a:srgbClr val="000080"/>
                </a:solidFill>
                <a:latin typeface="Times New Roman"/>
                <a:cs typeface="Times New Roman"/>
              </a:rPr>
              <a:t>I</a:t>
            </a:r>
            <a:r>
              <a:rPr dirty="0" baseline="-13888" sz="1500" spc="-37">
                <a:solidFill>
                  <a:srgbClr val="000080"/>
                </a:solidFill>
                <a:latin typeface="Times New Roman"/>
                <a:cs typeface="Times New Roman"/>
              </a:rPr>
              <a:t>1 </a:t>
            </a:r>
            <a:r>
              <a:rPr dirty="0" sz="1500" spc="-25">
                <a:solidFill>
                  <a:srgbClr val="000080"/>
                </a:solidFill>
                <a:latin typeface="Times New Roman"/>
                <a:cs typeface="Times New Roman"/>
              </a:rPr>
              <a:t>I</a:t>
            </a:r>
            <a:r>
              <a:rPr dirty="0" baseline="-13888" sz="1500" spc="-37">
                <a:solidFill>
                  <a:srgbClr val="000080"/>
                </a:solidFill>
                <a:latin typeface="Times New Roman"/>
                <a:cs typeface="Times New Roman"/>
              </a:rPr>
              <a:t>2 </a:t>
            </a:r>
            <a:r>
              <a:rPr dirty="0" sz="1500" spc="-25">
                <a:solidFill>
                  <a:srgbClr val="000080"/>
                </a:solidFill>
                <a:latin typeface="Times New Roman"/>
                <a:cs typeface="Times New Roman"/>
              </a:rPr>
              <a:t>I</a:t>
            </a:r>
            <a:r>
              <a:rPr dirty="0" baseline="-13888" sz="1500" spc="-37">
                <a:solidFill>
                  <a:srgbClr val="000080"/>
                </a:solidFill>
                <a:latin typeface="Times New Roman"/>
                <a:cs typeface="Times New Roman"/>
              </a:rPr>
              <a:t>3</a:t>
            </a:r>
            <a:endParaRPr baseline="-13888" sz="1500">
              <a:latin typeface="Times New Roman"/>
              <a:cs typeface="Times New Roman"/>
            </a:endParaRPr>
          </a:p>
        </p:txBody>
      </p:sp>
      <p:grpSp>
        <p:nvGrpSpPr>
          <p:cNvPr id="28" name="object 28" descr=""/>
          <p:cNvGrpSpPr/>
          <p:nvPr/>
        </p:nvGrpSpPr>
        <p:grpSpPr>
          <a:xfrm>
            <a:off x="1249086" y="2156450"/>
            <a:ext cx="87630" cy="1451610"/>
            <a:chOff x="1249086" y="2156450"/>
            <a:chExt cx="87630" cy="1451610"/>
          </a:xfrm>
        </p:grpSpPr>
        <p:sp>
          <p:nvSpPr>
            <p:cNvPr id="29" name="object 29" descr=""/>
            <p:cNvSpPr/>
            <p:nvPr/>
          </p:nvSpPr>
          <p:spPr>
            <a:xfrm>
              <a:off x="1250564" y="2156450"/>
              <a:ext cx="84455" cy="1449705"/>
            </a:xfrm>
            <a:custGeom>
              <a:avLst/>
              <a:gdLst/>
              <a:ahLst/>
              <a:cxnLst/>
              <a:rect l="l" t="t" r="r" b="b"/>
              <a:pathLst>
                <a:path w="84455" h="1449704">
                  <a:moveTo>
                    <a:pt x="0" y="1323286"/>
                  </a:moveTo>
                  <a:lnTo>
                    <a:pt x="43419" y="1449656"/>
                  </a:lnTo>
                  <a:lnTo>
                    <a:pt x="67116" y="1376334"/>
                  </a:lnTo>
                  <a:lnTo>
                    <a:pt x="38200" y="1376334"/>
                  </a:lnTo>
                  <a:lnTo>
                    <a:pt x="35580" y="1373741"/>
                  </a:lnTo>
                  <a:lnTo>
                    <a:pt x="33489" y="1371128"/>
                  </a:lnTo>
                  <a:lnTo>
                    <a:pt x="30869" y="1365943"/>
                  </a:lnTo>
                  <a:lnTo>
                    <a:pt x="30869" y="1353613"/>
                  </a:lnTo>
                  <a:lnTo>
                    <a:pt x="0" y="1323286"/>
                  </a:lnTo>
                  <a:close/>
                </a:path>
                <a:path w="84455" h="1449704">
                  <a:moveTo>
                    <a:pt x="30869" y="1353613"/>
                  </a:moveTo>
                  <a:lnTo>
                    <a:pt x="46039" y="1376334"/>
                  </a:lnTo>
                  <a:lnTo>
                    <a:pt x="51279" y="1373741"/>
                  </a:lnTo>
                  <a:lnTo>
                    <a:pt x="51279" y="1371128"/>
                  </a:lnTo>
                  <a:lnTo>
                    <a:pt x="53371" y="1365943"/>
                  </a:lnTo>
                  <a:lnTo>
                    <a:pt x="43419" y="1365943"/>
                  </a:lnTo>
                  <a:lnTo>
                    <a:pt x="30869" y="1353613"/>
                  </a:lnTo>
                  <a:close/>
                </a:path>
                <a:path w="84455" h="1449704">
                  <a:moveTo>
                    <a:pt x="84261" y="1323286"/>
                  </a:moveTo>
                  <a:lnTo>
                    <a:pt x="53371" y="1355549"/>
                  </a:lnTo>
                  <a:lnTo>
                    <a:pt x="53371" y="1365943"/>
                  </a:lnTo>
                  <a:lnTo>
                    <a:pt x="51279" y="1371128"/>
                  </a:lnTo>
                  <a:lnTo>
                    <a:pt x="51279" y="1373741"/>
                  </a:lnTo>
                  <a:lnTo>
                    <a:pt x="46039" y="1376334"/>
                  </a:lnTo>
                  <a:lnTo>
                    <a:pt x="67116" y="1376334"/>
                  </a:lnTo>
                  <a:lnTo>
                    <a:pt x="84261" y="1323286"/>
                  </a:lnTo>
                  <a:close/>
                </a:path>
                <a:path w="84455" h="1449704">
                  <a:moveTo>
                    <a:pt x="46039" y="0"/>
                  </a:moveTo>
                  <a:lnTo>
                    <a:pt x="38200" y="0"/>
                  </a:lnTo>
                  <a:lnTo>
                    <a:pt x="35580" y="2529"/>
                  </a:lnTo>
                  <a:lnTo>
                    <a:pt x="33488" y="5058"/>
                  </a:lnTo>
                  <a:lnTo>
                    <a:pt x="30869" y="10327"/>
                  </a:lnTo>
                  <a:lnTo>
                    <a:pt x="30869" y="1353613"/>
                  </a:lnTo>
                  <a:lnTo>
                    <a:pt x="43419" y="1365943"/>
                  </a:lnTo>
                  <a:lnTo>
                    <a:pt x="53371" y="1355549"/>
                  </a:lnTo>
                  <a:lnTo>
                    <a:pt x="53371" y="10327"/>
                  </a:lnTo>
                  <a:lnTo>
                    <a:pt x="51279" y="5058"/>
                  </a:lnTo>
                  <a:lnTo>
                    <a:pt x="51279" y="2529"/>
                  </a:lnTo>
                  <a:lnTo>
                    <a:pt x="46039" y="0"/>
                  </a:lnTo>
                  <a:close/>
                </a:path>
                <a:path w="84455" h="1449704">
                  <a:moveTo>
                    <a:pt x="53371" y="1355549"/>
                  </a:moveTo>
                  <a:lnTo>
                    <a:pt x="43419" y="1365943"/>
                  </a:lnTo>
                  <a:lnTo>
                    <a:pt x="53371" y="1365943"/>
                  </a:lnTo>
                  <a:lnTo>
                    <a:pt x="53371" y="1355549"/>
                  </a:lnTo>
                  <a:close/>
                </a:path>
              </a:pathLst>
            </a:custGeom>
            <a:solidFill>
              <a:srgbClr val="000000"/>
            </a:solidFill>
          </p:spPr>
          <p:txBody>
            <a:bodyPr wrap="square" lIns="0" tIns="0" rIns="0" bIns="0" rtlCol="0"/>
            <a:lstStyle/>
            <a:p/>
          </p:txBody>
        </p:sp>
        <p:sp>
          <p:nvSpPr>
            <p:cNvPr id="30" name="object 30" descr=""/>
            <p:cNvSpPr/>
            <p:nvPr/>
          </p:nvSpPr>
          <p:spPr>
            <a:xfrm>
              <a:off x="1250564" y="3479737"/>
              <a:ext cx="84455" cy="126364"/>
            </a:xfrm>
            <a:custGeom>
              <a:avLst/>
              <a:gdLst/>
              <a:ahLst/>
              <a:cxnLst/>
              <a:rect l="l" t="t" r="r" b="b"/>
              <a:pathLst>
                <a:path w="84455" h="126364">
                  <a:moveTo>
                    <a:pt x="43419" y="42657"/>
                  </a:moveTo>
                  <a:lnTo>
                    <a:pt x="84261" y="0"/>
                  </a:lnTo>
                  <a:lnTo>
                    <a:pt x="43419" y="126370"/>
                  </a:lnTo>
                  <a:lnTo>
                    <a:pt x="0" y="0"/>
                  </a:lnTo>
                  <a:lnTo>
                    <a:pt x="43419" y="42657"/>
                  </a:lnTo>
                  <a:close/>
                </a:path>
              </a:pathLst>
            </a:custGeom>
            <a:ln w="3175">
              <a:solidFill>
                <a:srgbClr val="000000"/>
              </a:solidFill>
            </a:ln>
          </p:spPr>
          <p:txBody>
            <a:bodyPr wrap="square" lIns="0" tIns="0" rIns="0" bIns="0" rtlCol="0"/>
            <a:lstStyle/>
            <a:p/>
          </p:txBody>
        </p:sp>
      </p:grpSp>
      <p:graphicFrame>
        <p:nvGraphicFramePr>
          <p:cNvPr id="31" name="object 31" descr=""/>
          <p:cNvGraphicFramePr>
            <a:graphicFrameLocks noGrp="1"/>
          </p:cNvGraphicFramePr>
          <p:nvPr/>
        </p:nvGraphicFramePr>
        <p:xfrm>
          <a:off x="1279954" y="2154975"/>
          <a:ext cx="4043679" cy="1366520"/>
        </p:xfrm>
        <a:graphic>
          <a:graphicData uri="http://schemas.openxmlformats.org/drawingml/2006/table">
            <a:tbl>
              <a:tblPr firstRow="1" bandRow="1">
                <a:tableStyleId>{2D5ABB26-0587-4C30-8999-92F81FD0307C}</a:tableStyleId>
              </a:tblPr>
              <a:tblGrid>
                <a:gridCol w="532130"/>
                <a:gridCol w="534034"/>
                <a:gridCol w="534035"/>
                <a:gridCol w="533400"/>
                <a:gridCol w="534035"/>
                <a:gridCol w="534035"/>
                <a:gridCol w="534035"/>
                <a:gridCol w="207645"/>
              </a:tblGrid>
              <a:tr h="323215">
                <a:tc>
                  <a:txBody>
                    <a:bodyPr/>
                    <a:lstStyle/>
                    <a:p>
                      <a:pPr algn="ctr" marL="3810">
                        <a:lnSpc>
                          <a:spcPct val="100000"/>
                        </a:lnSpc>
                        <a:spcBef>
                          <a:spcPts val="370"/>
                        </a:spcBef>
                      </a:pPr>
                      <a:r>
                        <a:rPr dirty="0" sz="1500" spc="-25">
                          <a:latin typeface="Times New Roman"/>
                          <a:cs typeface="Times New Roman"/>
                        </a:rPr>
                        <a:t>IF</a:t>
                      </a:r>
                      <a:endParaRPr sz="1500">
                        <a:latin typeface="Times New Roman"/>
                        <a:cs typeface="Times New Roman"/>
                      </a:endParaRPr>
                    </a:p>
                  </a:txBody>
                  <a:tcPr marL="0" marR="0" marB="0" marT="46990">
                    <a:lnL w="28575">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FFCC99"/>
                    </a:solidFill>
                  </a:tcPr>
                </a:tc>
                <a:tc>
                  <a:txBody>
                    <a:bodyPr/>
                    <a:lstStyle/>
                    <a:p>
                      <a:pPr algn="ctr" marR="25400">
                        <a:lnSpc>
                          <a:spcPct val="100000"/>
                        </a:lnSpc>
                        <a:spcBef>
                          <a:spcPts val="370"/>
                        </a:spcBef>
                      </a:pPr>
                      <a:r>
                        <a:rPr dirty="0" sz="1500" spc="-25">
                          <a:latin typeface="Times New Roman"/>
                          <a:cs typeface="Times New Roman"/>
                        </a:rPr>
                        <a:t>ID</a:t>
                      </a:r>
                      <a:endParaRPr sz="1500">
                        <a:latin typeface="Times New Roman"/>
                        <a:cs typeface="Times New Roman"/>
                      </a:endParaRPr>
                    </a:p>
                  </a:txBody>
                  <a:tcPr marL="0" marR="0" marB="0" marT="46990">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FFFF99"/>
                    </a:solidFill>
                  </a:tcPr>
                </a:tc>
                <a:tc>
                  <a:txBody>
                    <a:bodyPr/>
                    <a:lstStyle/>
                    <a:p>
                      <a:pPr algn="ctr" marR="2540">
                        <a:lnSpc>
                          <a:spcPct val="100000"/>
                        </a:lnSpc>
                        <a:spcBef>
                          <a:spcPts val="370"/>
                        </a:spcBef>
                      </a:pPr>
                      <a:r>
                        <a:rPr dirty="0" sz="1500" spc="-25">
                          <a:latin typeface="Times New Roman"/>
                          <a:cs typeface="Times New Roman"/>
                        </a:rPr>
                        <a:t>EX</a:t>
                      </a:r>
                      <a:endParaRPr sz="1500">
                        <a:latin typeface="Times New Roman"/>
                        <a:cs typeface="Times New Roman"/>
                      </a:endParaRPr>
                    </a:p>
                  </a:txBody>
                  <a:tcPr marL="0" marR="0" marB="0" marT="46990">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CCFFCC"/>
                    </a:solidFill>
                  </a:tcPr>
                </a:tc>
                <a:tc>
                  <a:txBody>
                    <a:bodyPr/>
                    <a:lstStyle/>
                    <a:p>
                      <a:pPr algn="ctr">
                        <a:lnSpc>
                          <a:spcPct val="100000"/>
                        </a:lnSpc>
                        <a:spcBef>
                          <a:spcPts val="370"/>
                        </a:spcBef>
                      </a:pPr>
                      <a:r>
                        <a:rPr dirty="0" sz="1500" spc="-25">
                          <a:latin typeface="Times New Roman"/>
                          <a:cs typeface="Times New Roman"/>
                        </a:rPr>
                        <a:t>MEM</a:t>
                      </a:r>
                      <a:endParaRPr sz="1500">
                        <a:latin typeface="Times New Roman"/>
                        <a:cs typeface="Times New Roman"/>
                      </a:endParaRPr>
                    </a:p>
                  </a:txBody>
                  <a:tcPr marL="0" marR="0" marB="0" marT="46990">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CCFFFF"/>
                    </a:solidFill>
                  </a:tcPr>
                </a:tc>
                <a:tc>
                  <a:txBody>
                    <a:bodyPr/>
                    <a:lstStyle/>
                    <a:p>
                      <a:pPr algn="ctr" marR="4445">
                        <a:lnSpc>
                          <a:spcPct val="100000"/>
                        </a:lnSpc>
                        <a:spcBef>
                          <a:spcPts val="370"/>
                        </a:spcBef>
                      </a:pPr>
                      <a:r>
                        <a:rPr dirty="0" sz="1500" spc="-25">
                          <a:latin typeface="Times New Roman"/>
                          <a:cs typeface="Times New Roman"/>
                        </a:rPr>
                        <a:t>WB</a:t>
                      </a:r>
                      <a:endParaRPr sz="1500">
                        <a:latin typeface="Times New Roman"/>
                        <a:cs typeface="Times New Roman"/>
                      </a:endParaRPr>
                    </a:p>
                  </a:txBody>
                  <a:tcPr marL="0" marR="0" marB="0" marT="46990">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E8D1FF"/>
                    </a:solidFill>
                  </a:tcPr>
                </a:tc>
                <a:tc gridSpan="3">
                  <a:txBody>
                    <a:bodyPr/>
                    <a:lstStyle/>
                    <a:p>
                      <a:pPr marL="508000">
                        <a:lnSpc>
                          <a:spcPct val="100000"/>
                        </a:lnSpc>
                        <a:spcBef>
                          <a:spcPts val="370"/>
                        </a:spcBef>
                      </a:pPr>
                      <a:r>
                        <a:rPr dirty="0" sz="1500" spc="-20">
                          <a:solidFill>
                            <a:srgbClr val="000080"/>
                          </a:solidFill>
                          <a:latin typeface="宋体"/>
                          <a:cs typeface="宋体"/>
                        </a:rPr>
                        <a:t>时钟周期</a:t>
                      </a:r>
                      <a:endParaRPr sz="1500">
                        <a:latin typeface="宋体"/>
                        <a:cs typeface="宋体"/>
                      </a:endParaRPr>
                    </a:p>
                  </a:txBody>
                  <a:tcPr marL="0" marR="0" marB="0" marT="46990">
                    <a:lnL w="19050">
                      <a:solidFill>
                        <a:srgbClr val="000000"/>
                      </a:solidFill>
                      <a:prstDash val="solid"/>
                    </a:lnL>
                    <a:lnT w="28575">
                      <a:solidFill>
                        <a:srgbClr val="000000"/>
                      </a:solidFill>
                      <a:prstDash val="solid"/>
                    </a:lnT>
                  </a:tcPr>
                </a:tc>
                <a:tc hMerge="1">
                  <a:txBody>
                    <a:bodyPr/>
                    <a:lstStyle/>
                    <a:p>
                      <a:pPr/>
                    </a:p>
                  </a:txBody>
                  <a:tcPr marL="0" marR="0" marB="0" marT="0"/>
                </a:tc>
                <a:tc hMerge="1">
                  <a:txBody>
                    <a:bodyPr/>
                    <a:lstStyle/>
                    <a:p>
                      <a:pPr/>
                    </a:p>
                  </a:txBody>
                  <a:tcPr marL="0" marR="0" marB="0" marT="0"/>
                </a:tc>
              </a:tr>
              <a:tr h="326390">
                <a:tc>
                  <a:txBody>
                    <a:bodyPr/>
                    <a:lstStyle/>
                    <a:p>
                      <a:pPr>
                        <a:lnSpc>
                          <a:spcPct val="100000"/>
                        </a:lnSpc>
                      </a:pPr>
                      <a:endParaRPr sz="1800">
                        <a:latin typeface="Times New Roman"/>
                        <a:cs typeface="Times New Roman"/>
                      </a:endParaRPr>
                    </a:p>
                  </a:txBody>
                  <a:tcPr marL="0" marR="0" marB="0" marT="0">
                    <a:lnL w="28575">
                      <a:solidFill>
                        <a:srgbClr val="000000"/>
                      </a:solidFill>
                      <a:prstDash val="solid"/>
                    </a:lnL>
                    <a:lnR w="19050">
                      <a:solidFill>
                        <a:srgbClr val="000000"/>
                      </a:solidFill>
                      <a:prstDash val="solid"/>
                    </a:lnR>
                    <a:lnT w="19050">
                      <a:solidFill>
                        <a:srgbClr val="000000"/>
                      </a:solidFill>
                      <a:prstDash val="solid"/>
                    </a:lnT>
                  </a:tcPr>
                </a:tc>
                <a:tc>
                  <a:txBody>
                    <a:bodyPr/>
                    <a:lstStyle/>
                    <a:p>
                      <a:pPr algn="ctr" marR="52069">
                        <a:lnSpc>
                          <a:spcPct val="100000"/>
                        </a:lnSpc>
                        <a:spcBef>
                          <a:spcPts val="415"/>
                        </a:spcBef>
                      </a:pPr>
                      <a:r>
                        <a:rPr dirty="0" sz="1500" spc="-25">
                          <a:latin typeface="Times New Roman"/>
                          <a:cs typeface="Times New Roman"/>
                        </a:rPr>
                        <a:t>IF</a:t>
                      </a:r>
                      <a:endParaRPr sz="1500">
                        <a:latin typeface="Times New Roman"/>
                        <a:cs typeface="Times New Roman"/>
                      </a:endParaRPr>
                    </a:p>
                  </a:txBody>
                  <a:tcPr marL="0" marR="0" marB="0" marT="527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99"/>
                    </a:solidFill>
                  </a:tcPr>
                </a:tc>
                <a:tc>
                  <a:txBody>
                    <a:bodyPr/>
                    <a:lstStyle/>
                    <a:p>
                      <a:pPr algn="ctr" marR="25400">
                        <a:lnSpc>
                          <a:spcPct val="100000"/>
                        </a:lnSpc>
                        <a:spcBef>
                          <a:spcPts val="415"/>
                        </a:spcBef>
                      </a:pPr>
                      <a:r>
                        <a:rPr dirty="0" sz="1500" spc="-25">
                          <a:latin typeface="Times New Roman"/>
                          <a:cs typeface="Times New Roman"/>
                        </a:rPr>
                        <a:t>ID</a:t>
                      </a:r>
                      <a:endParaRPr sz="1500">
                        <a:latin typeface="Times New Roman"/>
                        <a:cs typeface="Times New Roman"/>
                      </a:endParaRPr>
                    </a:p>
                  </a:txBody>
                  <a:tcPr marL="0" marR="0" marB="0" marT="527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R="1905">
                        <a:lnSpc>
                          <a:spcPct val="100000"/>
                        </a:lnSpc>
                        <a:spcBef>
                          <a:spcPts val="415"/>
                        </a:spcBef>
                      </a:pPr>
                      <a:r>
                        <a:rPr dirty="0" sz="1500" spc="-25">
                          <a:latin typeface="Times New Roman"/>
                          <a:cs typeface="Times New Roman"/>
                        </a:rPr>
                        <a:t>EX</a:t>
                      </a:r>
                      <a:endParaRPr sz="1500">
                        <a:latin typeface="Times New Roman"/>
                        <a:cs typeface="Times New Roman"/>
                      </a:endParaRPr>
                    </a:p>
                  </a:txBody>
                  <a:tcPr marL="0" marR="0" marB="0" marT="527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gn="ctr">
                        <a:lnSpc>
                          <a:spcPct val="100000"/>
                        </a:lnSpc>
                        <a:spcBef>
                          <a:spcPts val="415"/>
                        </a:spcBef>
                      </a:pPr>
                      <a:r>
                        <a:rPr dirty="0" sz="1500" spc="-25">
                          <a:latin typeface="Times New Roman"/>
                          <a:cs typeface="Times New Roman"/>
                        </a:rPr>
                        <a:t>MEM</a:t>
                      </a:r>
                      <a:endParaRPr sz="1500">
                        <a:latin typeface="Times New Roman"/>
                        <a:cs typeface="Times New Roman"/>
                      </a:endParaRPr>
                    </a:p>
                  </a:txBody>
                  <a:tcPr marL="0" marR="0" marB="0" marT="527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c>
                  <a:txBody>
                    <a:bodyPr/>
                    <a:lstStyle/>
                    <a:p>
                      <a:pPr algn="ctr" marR="4445">
                        <a:lnSpc>
                          <a:spcPct val="100000"/>
                        </a:lnSpc>
                        <a:spcBef>
                          <a:spcPts val="415"/>
                        </a:spcBef>
                      </a:pPr>
                      <a:r>
                        <a:rPr dirty="0" sz="1500" spc="-25">
                          <a:latin typeface="Times New Roman"/>
                          <a:cs typeface="Times New Roman"/>
                        </a:rPr>
                        <a:t>WB</a:t>
                      </a:r>
                      <a:endParaRPr sz="1500">
                        <a:latin typeface="Times New Roman"/>
                        <a:cs typeface="Times New Roman"/>
                      </a:endParaRPr>
                    </a:p>
                  </a:txBody>
                  <a:tcPr marL="0" marR="0" marB="0" marT="527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E8D1FF"/>
                    </a:solidFill>
                  </a:tcPr>
                </a:tc>
                <a:tc gridSpan="2">
                  <a:txBody>
                    <a:bodyPr/>
                    <a:lstStyle/>
                    <a:p>
                      <a:pPr marR="48895">
                        <a:lnSpc>
                          <a:spcPct val="100000"/>
                        </a:lnSpc>
                      </a:pPr>
                      <a:endParaRPr sz="1800">
                        <a:latin typeface="Times New Roman"/>
                        <a:cs typeface="Times New Roman"/>
                      </a:endParaRPr>
                    </a:p>
                  </a:txBody>
                  <a:tcPr marL="0" marR="0" marB="0" marT="0">
                    <a:lnL w="19050">
                      <a:solidFill>
                        <a:srgbClr val="000000"/>
                      </a:solidFill>
                      <a:prstDash val="solid"/>
                    </a:lnL>
                  </a:tcPr>
                </a:tc>
                <a:tc hMerge="1">
                  <a:txBody>
                    <a:bodyPr/>
                    <a:lstStyle/>
                    <a:p>
                      <a:pPr/>
                    </a:p>
                  </a:txBody>
                  <a:tcPr marL="0" marR="0" marB="0" marT="0"/>
                </a:tc>
              </a:tr>
              <a:tr h="327025">
                <a:tc gridSpan="2">
                  <a:txBody>
                    <a:bodyPr/>
                    <a:lstStyle/>
                    <a:p>
                      <a:pPr>
                        <a:lnSpc>
                          <a:spcPct val="100000"/>
                        </a:lnSpc>
                      </a:pPr>
                      <a:endParaRPr sz="1800">
                        <a:latin typeface="Times New Roman"/>
                        <a:cs typeface="Times New Roman"/>
                      </a:endParaRPr>
                    </a:p>
                  </a:txBody>
                  <a:tcPr marL="0" marR="0" marB="0" marT="0">
                    <a:lnL w="28575">
                      <a:solidFill>
                        <a:srgbClr val="000000"/>
                      </a:solidFill>
                      <a:prstDash val="solid"/>
                    </a:lnL>
                    <a:lnR w="19050">
                      <a:solidFill>
                        <a:srgbClr val="000000"/>
                      </a:solidFill>
                      <a:prstDash val="solid"/>
                    </a:lnR>
                  </a:tcPr>
                </a:tc>
                <a:tc hMerge="1">
                  <a:txBody>
                    <a:bodyPr/>
                    <a:lstStyle/>
                    <a:p>
                      <a:pPr/>
                    </a:p>
                  </a:txBody>
                  <a:tcPr marL="0" marR="0" marB="0" marT="0"/>
                </a:tc>
                <a:tc>
                  <a:txBody>
                    <a:bodyPr/>
                    <a:lstStyle/>
                    <a:p>
                      <a:pPr algn="ctr" marR="52069">
                        <a:lnSpc>
                          <a:spcPct val="100000"/>
                        </a:lnSpc>
                        <a:spcBef>
                          <a:spcPts val="415"/>
                        </a:spcBef>
                      </a:pPr>
                      <a:r>
                        <a:rPr dirty="0" sz="1500" spc="-25">
                          <a:latin typeface="Times New Roman"/>
                          <a:cs typeface="Times New Roman"/>
                        </a:rPr>
                        <a:t>IF</a:t>
                      </a:r>
                      <a:endParaRPr sz="1500">
                        <a:latin typeface="Times New Roman"/>
                        <a:cs typeface="Times New Roman"/>
                      </a:endParaRPr>
                    </a:p>
                  </a:txBody>
                  <a:tcPr marL="0" marR="0" marB="0" marT="527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99"/>
                    </a:solidFill>
                  </a:tcPr>
                </a:tc>
                <a:tc>
                  <a:txBody>
                    <a:bodyPr/>
                    <a:lstStyle/>
                    <a:p>
                      <a:pPr algn="ctr" marR="39370">
                        <a:lnSpc>
                          <a:spcPct val="100000"/>
                        </a:lnSpc>
                        <a:spcBef>
                          <a:spcPts val="415"/>
                        </a:spcBef>
                      </a:pPr>
                      <a:r>
                        <a:rPr dirty="0" sz="1500" spc="-25">
                          <a:latin typeface="Times New Roman"/>
                          <a:cs typeface="Times New Roman"/>
                        </a:rPr>
                        <a:t>ID</a:t>
                      </a:r>
                      <a:endParaRPr sz="1500">
                        <a:latin typeface="Times New Roman"/>
                        <a:cs typeface="Times New Roman"/>
                      </a:endParaRPr>
                    </a:p>
                  </a:txBody>
                  <a:tcPr marL="0" marR="0" marB="0" marT="527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R="1270">
                        <a:lnSpc>
                          <a:spcPct val="100000"/>
                        </a:lnSpc>
                        <a:spcBef>
                          <a:spcPts val="415"/>
                        </a:spcBef>
                      </a:pPr>
                      <a:r>
                        <a:rPr dirty="0" sz="1500" spc="-25">
                          <a:latin typeface="Times New Roman"/>
                          <a:cs typeface="Times New Roman"/>
                        </a:rPr>
                        <a:t>EX</a:t>
                      </a:r>
                      <a:endParaRPr sz="1500">
                        <a:latin typeface="Times New Roman"/>
                        <a:cs typeface="Times New Roman"/>
                      </a:endParaRPr>
                    </a:p>
                  </a:txBody>
                  <a:tcPr marL="0" marR="0" marB="0" marT="527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gn="ctr">
                        <a:lnSpc>
                          <a:spcPct val="100000"/>
                        </a:lnSpc>
                        <a:spcBef>
                          <a:spcPts val="395"/>
                        </a:spcBef>
                      </a:pPr>
                      <a:r>
                        <a:rPr dirty="0" sz="1500" spc="-25">
                          <a:latin typeface="Times New Roman"/>
                          <a:cs typeface="Times New Roman"/>
                        </a:rPr>
                        <a:t>MEM</a:t>
                      </a:r>
                      <a:endParaRPr sz="1500">
                        <a:latin typeface="Times New Roman"/>
                        <a:cs typeface="Times New Roman"/>
                      </a:endParaRPr>
                    </a:p>
                  </a:txBody>
                  <a:tcPr marL="0" marR="0" marB="0" marT="5016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c>
                  <a:txBody>
                    <a:bodyPr/>
                    <a:lstStyle/>
                    <a:p>
                      <a:pPr marL="109220">
                        <a:lnSpc>
                          <a:spcPct val="100000"/>
                        </a:lnSpc>
                        <a:spcBef>
                          <a:spcPts val="415"/>
                        </a:spcBef>
                      </a:pPr>
                      <a:r>
                        <a:rPr dirty="0" sz="1500" spc="-25">
                          <a:latin typeface="Times New Roman"/>
                          <a:cs typeface="Times New Roman"/>
                        </a:rPr>
                        <a:t>WB</a:t>
                      </a:r>
                      <a:endParaRPr sz="1500">
                        <a:latin typeface="Times New Roman"/>
                        <a:cs typeface="Times New Roman"/>
                      </a:endParaRPr>
                    </a:p>
                  </a:txBody>
                  <a:tcPr marL="0" marR="0" marB="0" marT="527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E8D1FF"/>
                    </a:solidFill>
                  </a:tcPr>
                </a:tc>
                <a:tc>
                  <a:txBody>
                    <a:bodyPr/>
                    <a:lstStyle/>
                    <a:p>
                      <a:pPr marR="48895">
                        <a:lnSpc>
                          <a:spcPct val="100000"/>
                        </a:lnSpc>
                      </a:pPr>
                      <a:endParaRPr sz="1800">
                        <a:latin typeface="Times New Roman"/>
                        <a:cs typeface="Times New Roman"/>
                      </a:endParaRPr>
                    </a:p>
                  </a:txBody>
                  <a:tcPr marL="0" marR="0" marB="0" marT="0">
                    <a:lnL w="19050">
                      <a:solidFill>
                        <a:srgbClr val="000000"/>
                      </a:solidFill>
                      <a:prstDash val="solid"/>
                    </a:lnL>
                  </a:tcPr>
                </a:tc>
              </a:tr>
              <a:tr h="389890">
                <a:tc gridSpan="8">
                  <a:txBody>
                    <a:bodyPr/>
                    <a:lstStyle/>
                    <a:p>
                      <a:pPr marR="48895">
                        <a:lnSpc>
                          <a:spcPct val="100000"/>
                        </a:lnSpc>
                      </a:pPr>
                      <a:endParaRPr sz="1800">
                        <a:latin typeface="Times New Roman"/>
                        <a:cs typeface="Times New Roman"/>
                      </a:endParaRPr>
                    </a:p>
                  </a:txBody>
                  <a:tcPr marL="0" marR="0" marB="0" marT="0">
                    <a:lnL w="28575">
                      <a:solidFill>
                        <a:srgbClr val="000000"/>
                      </a:solidFill>
                      <a:prstDash val="solid"/>
                    </a:ln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bl>
          </a:graphicData>
        </a:graphic>
      </p:graphicFrame>
      <p:sp>
        <p:nvSpPr>
          <p:cNvPr id="32" name="object 32" descr=""/>
          <p:cNvSpPr txBox="1"/>
          <p:nvPr/>
        </p:nvSpPr>
        <p:spPr>
          <a:xfrm>
            <a:off x="2544167" y="1448737"/>
            <a:ext cx="1217930" cy="680085"/>
          </a:xfrm>
          <a:prstGeom prst="rect">
            <a:avLst/>
          </a:prstGeom>
        </p:spPr>
        <p:txBody>
          <a:bodyPr wrap="square" lIns="0" tIns="111125" rIns="0" bIns="0" rtlCol="0" vert="horz">
            <a:spAutoFit/>
          </a:bodyPr>
          <a:lstStyle/>
          <a:p>
            <a:pPr marL="55244">
              <a:lnSpc>
                <a:spcPct val="100000"/>
              </a:lnSpc>
              <a:spcBef>
                <a:spcPts val="875"/>
              </a:spcBef>
            </a:pPr>
            <a:r>
              <a:rPr dirty="0" sz="1500" spc="-20">
                <a:solidFill>
                  <a:srgbClr val="993300"/>
                </a:solidFill>
                <a:latin typeface="宋体"/>
                <a:cs typeface="宋体"/>
              </a:rPr>
              <a:t>单流出时空图</a:t>
            </a:r>
            <a:endParaRPr sz="1500">
              <a:latin typeface="宋体"/>
              <a:cs typeface="宋体"/>
            </a:endParaRPr>
          </a:p>
          <a:p>
            <a:pPr marL="12700">
              <a:lnSpc>
                <a:spcPct val="100000"/>
              </a:lnSpc>
              <a:spcBef>
                <a:spcPts val="775"/>
              </a:spcBef>
              <a:tabLst>
                <a:tab pos="545465" algn="l"/>
                <a:tab pos="1079500" algn="l"/>
              </a:tabLst>
            </a:pPr>
            <a:r>
              <a:rPr dirty="0" sz="1500" spc="-50">
                <a:solidFill>
                  <a:srgbClr val="000080"/>
                </a:solidFill>
                <a:latin typeface="Times New Roman"/>
                <a:cs typeface="Times New Roman"/>
              </a:rPr>
              <a:t>3</a:t>
            </a:r>
            <a:r>
              <a:rPr dirty="0" sz="1500">
                <a:solidFill>
                  <a:srgbClr val="000080"/>
                </a:solidFill>
                <a:latin typeface="Times New Roman"/>
                <a:cs typeface="Times New Roman"/>
              </a:rPr>
              <a:t>	</a:t>
            </a:r>
            <a:r>
              <a:rPr dirty="0" sz="1500" spc="-50">
                <a:solidFill>
                  <a:srgbClr val="000080"/>
                </a:solidFill>
                <a:latin typeface="Times New Roman"/>
                <a:cs typeface="Times New Roman"/>
              </a:rPr>
              <a:t>4</a:t>
            </a:r>
            <a:r>
              <a:rPr dirty="0" sz="1500">
                <a:solidFill>
                  <a:srgbClr val="000080"/>
                </a:solidFill>
                <a:latin typeface="Times New Roman"/>
                <a:cs typeface="Times New Roman"/>
              </a:rPr>
              <a:t>	</a:t>
            </a:r>
            <a:r>
              <a:rPr dirty="0" sz="1500" spc="-50">
                <a:solidFill>
                  <a:srgbClr val="000080"/>
                </a:solidFill>
                <a:latin typeface="Times New Roman"/>
                <a:cs typeface="Times New Roman"/>
              </a:rPr>
              <a:t>5</a:t>
            </a:r>
            <a:endParaRPr sz="1500">
              <a:latin typeface="Times New Roman"/>
              <a:cs typeface="Times New Roman"/>
            </a:endParaRPr>
          </a:p>
        </p:txBody>
      </p:sp>
      <p:sp>
        <p:nvSpPr>
          <p:cNvPr id="33" name="object 33" descr=""/>
          <p:cNvSpPr txBox="1"/>
          <p:nvPr/>
        </p:nvSpPr>
        <p:spPr>
          <a:xfrm>
            <a:off x="5573491" y="1056517"/>
            <a:ext cx="4281170" cy="3299460"/>
          </a:xfrm>
          <a:prstGeom prst="rect">
            <a:avLst/>
          </a:prstGeom>
        </p:spPr>
        <p:txBody>
          <a:bodyPr wrap="square" lIns="0" tIns="110489" rIns="0" bIns="0" rtlCol="0" vert="horz">
            <a:spAutoFit/>
          </a:bodyPr>
          <a:lstStyle/>
          <a:p>
            <a:pPr marL="452120">
              <a:lnSpc>
                <a:spcPct val="100000"/>
              </a:lnSpc>
              <a:spcBef>
                <a:spcPts val="869"/>
              </a:spcBef>
              <a:tabLst>
                <a:tab pos="986155" algn="l"/>
                <a:tab pos="1519555" algn="l"/>
                <a:tab pos="2053589" algn="l"/>
                <a:tab pos="2586990" algn="l"/>
                <a:tab pos="3121025" algn="l"/>
                <a:tab pos="3655060" algn="l"/>
              </a:tabLst>
            </a:pPr>
            <a:r>
              <a:rPr dirty="0" sz="1500" spc="-50">
                <a:solidFill>
                  <a:srgbClr val="000080"/>
                </a:solidFill>
                <a:latin typeface="Times New Roman"/>
                <a:cs typeface="Times New Roman"/>
              </a:rPr>
              <a:t>1</a:t>
            </a:r>
            <a:r>
              <a:rPr dirty="0" sz="1500">
                <a:solidFill>
                  <a:srgbClr val="000080"/>
                </a:solidFill>
                <a:latin typeface="Times New Roman"/>
                <a:cs typeface="Times New Roman"/>
              </a:rPr>
              <a:t>	</a:t>
            </a:r>
            <a:r>
              <a:rPr dirty="0" sz="1500" spc="-50">
                <a:solidFill>
                  <a:srgbClr val="000080"/>
                </a:solidFill>
                <a:latin typeface="Times New Roman"/>
                <a:cs typeface="Times New Roman"/>
              </a:rPr>
              <a:t>2</a:t>
            </a:r>
            <a:r>
              <a:rPr dirty="0" sz="1500">
                <a:solidFill>
                  <a:srgbClr val="000080"/>
                </a:solidFill>
                <a:latin typeface="Times New Roman"/>
                <a:cs typeface="Times New Roman"/>
              </a:rPr>
              <a:t>	</a:t>
            </a:r>
            <a:r>
              <a:rPr dirty="0" sz="1500" spc="-50">
                <a:solidFill>
                  <a:srgbClr val="000080"/>
                </a:solidFill>
                <a:latin typeface="Times New Roman"/>
                <a:cs typeface="Times New Roman"/>
              </a:rPr>
              <a:t>3</a:t>
            </a:r>
            <a:r>
              <a:rPr dirty="0" sz="1500">
                <a:solidFill>
                  <a:srgbClr val="000080"/>
                </a:solidFill>
                <a:latin typeface="Times New Roman"/>
                <a:cs typeface="Times New Roman"/>
              </a:rPr>
              <a:t>	</a:t>
            </a:r>
            <a:r>
              <a:rPr dirty="0" sz="1500" spc="-50">
                <a:solidFill>
                  <a:srgbClr val="000080"/>
                </a:solidFill>
                <a:latin typeface="Times New Roman"/>
                <a:cs typeface="Times New Roman"/>
              </a:rPr>
              <a:t>4</a:t>
            </a:r>
            <a:r>
              <a:rPr dirty="0" sz="1500">
                <a:solidFill>
                  <a:srgbClr val="000080"/>
                </a:solidFill>
                <a:latin typeface="Times New Roman"/>
                <a:cs typeface="Times New Roman"/>
              </a:rPr>
              <a:t>	</a:t>
            </a:r>
            <a:r>
              <a:rPr dirty="0" sz="1500" spc="-50">
                <a:solidFill>
                  <a:srgbClr val="000080"/>
                </a:solidFill>
                <a:latin typeface="Times New Roman"/>
                <a:cs typeface="Times New Roman"/>
              </a:rPr>
              <a:t>5</a:t>
            </a:r>
            <a:r>
              <a:rPr dirty="0" sz="1500">
                <a:solidFill>
                  <a:srgbClr val="000080"/>
                </a:solidFill>
                <a:latin typeface="Times New Roman"/>
                <a:cs typeface="Times New Roman"/>
              </a:rPr>
              <a:t>	</a:t>
            </a:r>
            <a:r>
              <a:rPr dirty="0" sz="1500" spc="-50">
                <a:solidFill>
                  <a:srgbClr val="000080"/>
                </a:solidFill>
                <a:latin typeface="Times New Roman"/>
                <a:cs typeface="Times New Roman"/>
              </a:rPr>
              <a:t>6</a:t>
            </a:r>
            <a:r>
              <a:rPr dirty="0" sz="1500">
                <a:solidFill>
                  <a:srgbClr val="000080"/>
                </a:solidFill>
                <a:latin typeface="Times New Roman"/>
                <a:cs typeface="Times New Roman"/>
              </a:rPr>
              <a:t>	</a:t>
            </a:r>
            <a:r>
              <a:rPr dirty="0" sz="1500" spc="-50">
                <a:solidFill>
                  <a:srgbClr val="000080"/>
                </a:solidFill>
                <a:latin typeface="Times New Roman"/>
                <a:cs typeface="Times New Roman"/>
              </a:rPr>
              <a:t>7</a:t>
            </a:r>
            <a:endParaRPr sz="1500">
              <a:latin typeface="Times New Roman"/>
              <a:cs typeface="Times New Roman"/>
            </a:endParaRPr>
          </a:p>
          <a:p>
            <a:pPr marL="50800">
              <a:lnSpc>
                <a:spcPct val="100000"/>
              </a:lnSpc>
              <a:spcBef>
                <a:spcPts val="770"/>
              </a:spcBef>
              <a:tabLst>
                <a:tab pos="439420" algn="l"/>
                <a:tab pos="948055" algn="l"/>
                <a:tab pos="1456055" algn="l"/>
                <a:tab pos="1890395" algn="l"/>
                <a:tab pos="2498090" algn="l"/>
                <a:tab pos="3476625" algn="l"/>
              </a:tabLst>
            </a:pPr>
            <a:r>
              <a:rPr dirty="0" sz="1500" spc="-25">
                <a:solidFill>
                  <a:srgbClr val="000080"/>
                </a:solidFill>
                <a:latin typeface="Times New Roman"/>
                <a:cs typeface="Times New Roman"/>
              </a:rPr>
              <a:t>I</a:t>
            </a:r>
            <a:r>
              <a:rPr dirty="0" baseline="-13888" sz="1500" spc="-37">
                <a:solidFill>
                  <a:srgbClr val="000080"/>
                </a:solidFill>
                <a:latin typeface="Times New Roman"/>
                <a:cs typeface="Times New Roman"/>
              </a:rPr>
              <a:t>1</a:t>
            </a:r>
            <a:r>
              <a:rPr dirty="0" baseline="-13888" sz="1500">
                <a:solidFill>
                  <a:srgbClr val="000080"/>
                </a:solidFill>
                <a:latin typeface="Times New Roman"/>
                <a:cs typeface="Times New Roman"/>
              </a:rPr>
              <a:t>	</a:t>
            </a:r>
            <a:r>
              <a:rPr dirty="0" sz="1500" spc="-25">
                <a:latin typeface="Times New Roman"/>
                <a:cs typeface="Times New Roman"/>
              </a:rPr>
              <a:t>IF</a:t>
            </a:r>
            <a:r>
              <a:rPr dirty="0" sz="1500">
                <a:latin typeface="Times New Roman"/>
                <a:cs typeface="Times New Roman"/>
              </a:rPr>
              <a:t>	</a:t>
            </a:r>
            <a:r>
              <a:rPr dirty="0" sz="1500" spc="-25">
                <a:latin typeface="Times New Roman"/>
                <a:cs typeface="Times New Roman"/>
              </a:rPr>
              <a:t>ID</a:t>
            </a:r>
            <a:r>
              <a:rPr dirty="0" sz="1500">
                <a:latin typeface="Times New Roman"/>
                <a:cs typeface="Times New Roman"/>
              </a:rPr>
              <a:t>	</a:t>
            </a:r>
            <a:r>
              <a:rPr dirty="0" sz="1500" spc="-25">
                <a:latin typeface="Times New Roman"/>
                <a:cs typeface="Times New Roman"/>
              </a:rPr>
              <a:t>EX</a:t>
            </a:r>
            <a:r>
              <a:rPr dirty="0" sz="1500">
                <a:latin typeface="Times New Roman"/>
                <a:cs typeface="Times New Roman"/>
              </a:rPr>
              <a:t>	</a:t>
            </a:r>
            <a:r>
              <a:rPr dirty="0" sz="1500" spc="-25">
                <a:latin typeface="Times New Roman"/>
                <a:cs typeface="Times New Roman"/>
              </a:rPr>
              <a:t>MEM</a:t>
            </a:r>
            <a:r>
              <a:rPr dirty="0" sz="1500">
                <a:latin typeface="Times New Roman"/>
                <a:cs typeface="Times New Roman"/>
              </a:rPr>
              <a:t>	</a:t>
            </a:r>
            <a:r>
              <a:rPr dirty="0" sz="1500" spc="-25">
                <a:latin typeface="Times New Roman"/>
                <a:cs typeface="Times New Roman"/>
              </a:rPr>
              <a:t>WB</a:t>
            </a:r>
            <a:r>
              <a:rPr dirty="0" sz="1500">
                <a:latin typeface="Times New Roman"/>
                <a:cs typeface="Times New Roman"/>
              </a:rPr>
              <a:t>	</a:t>
            </a:r>
            <a:r>
              <a:rPr dirty="0" sz="1500" spc="-20">
                <a:solidFill>
                  <a:srgbClr val="000080"/>
                </a:solidFill>
                <a:latin typeface="宋体"/>
                <a:cs typeface="宋体"/>
              </a:rPr>
              <a:t>时钟周期</a:t>
            </a:r>
            <a:endParaRPr sz="1500">
              <a:latin typeface="宋体"/>
              <a:cs typeface="宋体"/>
            </a:endParaRPr>
          </a:p>
          <a:p>
            <a:pPr marL="50800" marR="1471930">
              <a:lnSpc>
                <a:spcPct val="143100"/>
              </a:lnSpc>
              <a:spcBef>
                <a:spcPts val="20"/>
              </a:spcBef>
              <a:tabLst>
                <a:tab pos="452120" algn="l"/>
                <a:tab pos="940435" algn="l"/>
                <a:tab pos="1456055" algn="l"/>
                <a:tab pos="1885950" algn="l"/>
                <a:tab pos="2498090" algn="l"/>
              </a:tabLst>
            </a:pPr>
            <a:r>
              <a:rPr dirty="0" sz="1500" spc="-25">
                <a:solidFill>
                  <a:srgbClr val="000080"/>
                </a:solidFill>
                <a:latin typeface="Times New Roman"/>
                <a:cs typeface="Times New Roman"/>
              </a:rPr>
              <a:t>I</a:t>
            </a:r>
            <a:r>
              <a:rPr dirty="0" baseline="-13888" sz="1500" spc="-37">
                <a:solidFill>
                  <a:srgbClr val="000080"/>
                </a:solidFill>
                <a:latin typeface="Times New Roman"/>
                <a:cs typeface="Times New Roman"/>
              </a:rPr>
              <a:t>2</a:t>
            </a:r>
            <a:r>
              <a:rPr dirty="0" baseline="-13888" sz="1500">
                <a:solidFill>
                  <a:srgbClr val="000080"/>
                </a:solidFill>
                <a:latin typeface="Times New Roman"/>
                <a:cs typeface="Times New Roman"/>
              </a:rPr>
              <a:t>	</a:t>
            </a:r>
            <a:r>
              <a:rPr dirty="0" sz="1500" spc="-25">
                <a:latin typeface="Times New Roman"/>
                <a:cs typeface="Times New Roman"/>
              </a:rPr>
              <a:t>IF</a:t>
            </a:r>
            <a:r>
              <a:rPr dirty="0" sz="1500">
                <a:latin typeface="Times New Roman"/>
                <a:cs typeface="Times New Roman"/>
              </a:rPr>
              <a:t>	</a:t>
            </a:r>
            <a:r>
              <a:rPr dirty="0" sz="1500" spc="-25">
                <a:latin typeface="Times New Roman"/>
                <a:cs typeface="Times New Roman"/>
              </a:rPr>
              <a:t>ID</a:t>
            </a:r>
            <a:r>
              <a:rPr dirty="0" sz="1500">
                <a:latin typeface="Times New Roman"/>
                <a:cs typeface="Times New Roman"/>
              </a:rPr>
              <a:t>	</a:t>
            </a:r>
            <a:r>
              <a:rPr dirty="0" sz="1500" spc="-325">
                <a:latin typeface="Times New Roman"/>
                <a:cs typeface="Times New Roman"/>
              </a:rPr>
              <a:t> </a:t>
            </a:r>
            <a:r>
              <a:rPr dirty="0" sz="1500">
                <a:latin typeface="Times New Roman"/>
                <a:cs typeface="Times New Roman"/>
              </a:rPr>
              <a:t>EX	</a:t>
            </a:r>
            <a:r>
              <a:rPr dirty="0" sz="1500" spc="-25">
                <a:latin typeface="Times New Roman"/>
                <a:cs typeface="Times New Roman"/>
              </a:rPr>
              <a:t>MEM</a:t>
            </a:r>
            <a:r>
              <a:rPr dirty="0" sz="1500">
                <a:latin typeface="Times New Roman"/>
                <a:cs typeface="Times New Roman"/>
              </a:rPr>
              <a:t>	</a:t>
            </a:r>
            <a:r>
              <a:rPr dirty="0" sz="1500" spc="-40">
                <a:latin typeface="Times New Roman"/>
                <a:cs typeface="Times New Roman"/>
              </a:rPr>
              <a:t>WB </a:t>
            </a:r>
            <a:r>
              <a:rPr dirty="0" sz="1500" spc="-25">
                <a:solidFill>
                  <a:srgbClr val="000080"/>
                </a:solidFill>
                <a:latin typeface="Times New Roman"/>
                <a:cs typeface="Times New Roman"/>
              </a:rPr>
              <a:t>I</a:t>
            </a:r>
            <a:r>
              <a:rPr dirty="0" baseline="-13888" sz="1500" spc="-37">
                <a:solidFill>
                  <a:srgbClr val="000080"/>
                </a:solidFill>
                <a:latin typeface="Times New Roman"/>
                <a:cs typeface="Times New Roman"/>
              </a:rPr>
              <a:t>3</a:t>
            </a:r>
            <a:r>
              <a:rPr dirty="0" baseline="-13888" sz="1500">
                <a:solidFill>
                  <a:srgbClr val="000080"/>
                </a:solidFill>
                <a:latin typeface="Times New Roman"/>
                <a:cs typeface="Times New Roman"/>
              </a:rPr>
              <a:t>	</a:t>
            </a:r>
            <a:r>
              <a:rPr dirty="0" sz="1500" spc="-25">
                <a:latin typeface="Times New Roman"/>
                <a:cs typeface="Times New Roman"/>
              </a:rPr>
              <a:t>IF</a:t>
            </a:r>
            <a:r>
              <a:rPr dirty="0" sz="1500">
                <a:latin typeface="Times New Roman"/>
                <a:cs typeface="Times New Roman"/>
              </a:rPr>
              <a:t>	</a:t>
            </a:r>
            <a:r>
              <a:rPr dirty="0" sz="1500" spc="-25">
                <a:latin typeface="Times New Roman"/>
                <a:cs typeface="Times New Roman"/>
              </a:rPr>
              <a:t>ID</a:t>
            </a:r>
            <a:r>
              <a:rPr dirty="0" sz="1500">
                <a:latin typeface="Times New Roman"/>
                <a:cs typeface="Times New Roman"/>
              </a:rPr>
              <a:t>	</a:t>
            </a:r>
            <a:r>
              <a:rPr dirty="0" sz="1500" spc="-25">
                <a:latin typeface="Times New Roman"/>
                <a:cs typeface="Times New Roman"/>
              </a:rPr>
              <a:t>EX</a:t>
            </a:r>
            <a:r>
              <a:rPr dirty="0" sz="1500">
                <a:latin typeface="Times New Roman"/>
                <a:cs typeface="Times New Roman"/>
              </a:rPr>
              <a:t>	</a:t>
            </a:r>
            <a:r>
              <a:rPr dirty="0" sz="1500" spc="-25">
                <a:latin typeface="Times New Roman"/>
                <a:cs typeface="Times New Roman"/>
              </a:rPr>
              <a:t>MEM</a:t>
            </a:r>
            <a:r>
              <a:rPr dirty="0" sz="1500">
                <a:latin typeface="Times New Roman"/>
                <a:cs typeface="Times New Roman"/>
              </a:rPr>
              <a:t>	</a:t>
            </a:r>
            <a:r>
              <a:rPr dirty="0" sz="1500" spc="-40">
                <a:latin typeface="Times New Roman"/>
                <a:cs typeface="Times New Roman"/>
              </a:rPr>
              <a:t>WB</a:t>
            </a:r>
            <a:endParaRPr sz="1500">
              <a:latin typeface="Times New Roman"/>
              <a:cs typeface="Times New Roman"/>
            </a:endParaRPr>
          </a:p>
          <a:p>
            <a:pPr algn="just" marL="940435" marR="950594">
              <a:lnSpc>
                <a:spcPct val="143000"/>
              </a:lnSpc>
            </a:pPr>
            <a:r>
              <a:rPr dirty="0" sz="1500">
                <a:latin typeface="Times New Roman"/>
                <a:cs typeface="Times New Roman"/>
              </a:rPr>
              <a:t>IF</a:t>
            </a:r>
            <a:r>
              <a:rPr dirty="0" sz="1500" spc="315">
                <a:latin typeface="Times New Roman"/>
                <a:cs typeface="Times New Roman"/>
              </a:rPr>
              <a:t>    </a:t>
            </a:r>
            <a:r>
              <a:rPr dirty="0" sz="1500">
                <a:latin typeface="Times New Roman"/>
                <a:cs typeface="Times New Roman"/>
              </a:rPr>
              <a:t>ID</a:t>
            </a:r>
            <a:r>
              <a:rPr dirty="0" sz="1500" spc="475">
                <a:latin typeface="Times New Roman"/>
                <a:cs typeface="Times New Roman"/>
              </a:rPr>
              <a:t>   </a:t>
            </a:r>
            <a:r>
              <a:rPr dirty="0" sz="1500">
                <a:latin typeface="Times New Roman"/>
                <a:cs typeface="Times New Roman"/>
              </a:rPr>
              <a:t>EX</a:t>
            </a:r>
            <a:r>
              <a:rPr dirty="0" sz="1500" spc="300">
                <a:latin typeface="Times New Roman"/>
                <a:cs typeface="Times New Roman"/>
              </a:rPr>
              <a:t>  </a:t>
            </a:r>
            <a:r>
              <a:rPr dirty="0" sz="1500">
                <a:latin typeface="Times New Roman"/>
                <a:cs typeface="Times New Roman"/>
              </a:rPr>
              <a:t>MEM</a:t>
            </a:r>
            <a:r>
              <a:rPr dirty="0" sz="1500" spc="195">
                <a:latin typeface="Times New Roman"/>
                <a:cs typeface="Times New Roman"/>
              </a:rPr>
              <a:t>  </a:t>
            </a:r>
            <a:r>
              <a:rPr dirty="0" sz="1500" spc="-25">
                <a:latin typeface="Times New Roman"/>
                <a:cs typeface="Times New Roman"/>
              </a:rPr>
              <a:t>WB </a:t>
            </a:r>
            <a:r>
              <a:rPr dirty="0" sz="1500">
                <a:latin typeface="Times New Roman"/>
                <a:cs typeface="Times New Roman"/>
              </a:rPr>
              <a:t>IF</a:t>
            </a:r>
            <a:r>
              <a:rPr dirty="0" sz="1500" spc="320">
                <a:latin typeface="Times New Roman"/>
                <a:cs typeface="Times New Roman"/>
              </a:rPr>
              <a:t>    </a:t>
            </a:r>
            <a:r>
              <a:rPr dirty="0" sz="1500">
                <a:latin typeface="Times New Roman"/>
                <a:cs typeface="Times New Roman"/>
              </a:rPr>
              <a:t>ID</a:t>
            </a:r>
            <a:r>
              <a:rPr dirty="0" sz="1500" spc="470">
                <a:latin typeface="Times New Roman"/>
                <a:cs typeface="Times New Roman"/>
              </a:rPr>
              <a:t>   </a:t>
            </a:r>
            <a:r>
              <a:rPr dirty="0" sz="1500">
                <a:latin typeface="Times New Roman"/>
                <a:cs typeface="Times New Roman"/>
              </a:rPr>
              <a:t>EX</a:t>
            </a:r>
            <a:r>
              <a:rPr dirty="0" sz="1500" spc="300">
                <a:latin typeface="Times New Roman"/>
                <a:cs typeface="Times New Roman"/>
              </a:rPr>
              <a:t>  </a:t>
            </a:r>
            <a:r>
              <a:rPr dirty="0" sz="1500">
                <a:latin typeface="Times New Roman"/>
                <a:cs typeface="Times New Roman"/>
              </a:rPr>
              <a:t>MEM</a:t>
            </a:r>
            <a:r>
              <a:rPr dirty="0" sz="1500" spc="195">
                <a:latin typeface="Times New Roman"/>
                <a:cs typeface="Times New Roman"/>
              </a:rPr>
              <a:t>  </a:t>
            </a:r>
            <a:r>
              <a:rPr dirty="0" sz="1500" spc="-25">
                <a:latin typeface="Times New Roman"/>
                <a:cs typeface="Times New Roman"/>
              </a:rPr>
              <a:t>WB </a:t>
            </a:r>
            <a:r>
              <a:rPr dirty="0" sz="1500">
                <a:latin typeface="Times New Roman"/>
                <a:cs typeface="Times New Roman"/>
              </a:rPr>
              <a:t>IF</a:t>
            </a:r>
            <a:r>
              <a:rPr dirty="0" sz="1500" spc="330">
                <a:latin typeface="Times New Roman"/>
                <a:cs typeface="Times New Roman"/>
              </a:rPr>
              <a:t>    </a:t>
            </a:r>
            <a:r>
              <a:rPr dirty="0" sz="1500">
                <a:latin typeface="Times New Roman"/>
                <a:cs typeface="Times New Roman"/>
              </a:rPr>
              <a:t>ID</a:t>
            </a:r>
            <a:r>
              <a:rPr dirty="0" sz="1500" spc="455">
                <a:latin typeface="Times New Roman"/>
                <a:cs typeface="Times New Roman"/>
              </a:rPr>
              <a:t>   </a:t>
            </a:r>
            <a:r>
              <a:rPr dirty="0" sz="1500">
                <a:latin typeface="Times New Roman"/>
                <a:cs typeface="Times New Roman"/>
              </a:rPr>
              <a:t>EX</a:t>
            </a:r>
            <a:r>
              <a:rPr dirty="0" sz="1500" spc="300">
                <a:latin typeface="Times New Roman"/>
                <a:cs typeface="Times New Roman"/>
              </a:rPr>
              <a:t>  </a:t>
            </a:r>
            <a:r>
              <a:rPr dirty="0" sz="1500">
                <a:latin typeface="Times New Roman"/>
                <a:cs typeface="Times New Roman"/>
              </a:rPr>
              <a:t>MEM</a:t>
            </a:r>
            <a:r>
              <a:rPr dirty="0" sz="1500" spc="195">
                <a:latin typeface="Times New Roman"/>
                <a:cs typeface="Times New Roman"/>
              </a:rPr>
              <a:t>  </a:t>
            </a:r>
            <a:r>
              <a:rPr dirty="0" sz="1500" spc="-25">
                <a:latin typeface="Times New Roman"/>
                <a:cs typeface="Times New Roman"/>
              </a:rPr>
              <a:t>WB</a:t>
            </a:r>
            <a:endParaRPr sz="1500">
              <a:latin typeface="Times New Roman"/>
              <a:cs typeface="Times New Roman"/>
            </a:endParaRPr>
          </a:p>
          <a:p>
            <a:pPr algn="just" marL="1471295">
              <a:lnSpc>
                <a:spcPct val="100000"/>
              </a:lnSpc>
              <a:spcBef>
                <a:spcPts val="775"/>
              </a:spcBef>
            </a:pPr>
            <a:r>
              <a:rPr dirty="0" sz="1500">
                <a:latin typeface="Times New Roman"/>
                <a:cs typeface="Times New Roman"/>
              </a:rPr>
              <a:t>IF</a:t>
            </a:r>
            <a:r>
              <a:rPr dirty="0" sz="1500" spc="315">
                <a:latin typeface="Times New Roman"/>
                <a:cs typeface="Times New Roman"/>
              </a:rPr>
              <a:t>    </a:t>
            </a:r>
            <a:r>
              <a:rPr dirty="0" sz="1500">
                <a:latin typeface="Times New Roman"/>
                <a:cs typeface="Times New Roman"/>
              </a:rPr>
              <a:t>ID</a:t>
            </a:r>
            <a:r>
              <a:rPr dirty="0" sz="1500" spc="450">
                <a:latin typeface="Times New Roman"/>
                <a:cs typeface="Times New Roman"/>
              </a:rPr>
              <a:t>   </a:t>
            </a:r>
            <a:r>
              <a:rPr dirty="0" sz="1500">
                <a:latin typeface="Times New Roman"/>
                <a:cs typeface="Times New Roman"/>
              </a:rPr>
              <a:t>EX</a:t>
            </a:r>
            <a:r>
              <a:rPr dirty="0" sz="1500" spc="365">
                <a:latin typeface="Times New Roman"/>
                <a:cs typeface="Times New Roman"/>
              </a:rPr>
              <a:t>  </a:t>
            </a:r>
            <a:r>
              <a:rPr dirty="0" sz="1500">
                <a:latin typeface="Times New Roman"/>
                <a:cs typeface="Times New Roman"/>
              </a:rPr>
              <a:t>MEM</a:t>
            </a:r>
            <a:r>
              <a:rPr dirty="0" sz="1500" spc="204">
                <a:latin typeface="Times New Roman"/>
                <a:cs typeface="Times New Roman"/>
              </a:rPr>
              <a:t>  </a:t>
            </a:r>
            <a:r>
              <a:rPr dirty="0" sz="1500" spc="-25">
                <a:latin typeface="Times New Roman"/>
                <a:cs typeface="Times New Roman"/>
              </a:rPr>
              <a:t>WB</a:t>
            </a:r>
            <a:endParaRPr sz="1500">
              <a:latin typeface="Times New Roman"/>
              <a:cs typeface="Times New Roman"/>
            </a:endParaRPr>
          </a:p>
          <a:p>
            <a:pPr algn="just" marL="1471295" marR="408940">
              <a:lnSpc>
                <a:spcPct val="142800"/>
              </a:lnSpc>
              <a:spcBef>
                <a:spcPts val="25"/>
              </a:spcBef>
            </a:pPr>
            <a:r>
              <a:rPr dirty="0" sz="1500">
                <a:latin typeface="Times New Roman"/>
                <a:cs typeface="Times New Roman"/>
              </a:rPr>
              <a:t>IF</a:t>
            </a:r>
            <a:r>
              <a:rPr dirty="0" sz="1500" spc="315">
                <a:latin typeface="Times New Roman"/>
                <a:cs typeface="Times New Roman"/>
              </a:rPr>
              <a:t>    </a:t>
            </a:r>
            <a:r>
              <a:rPr dirty="0" sz="1500">
                <a:latin typeface="Times New Roman"/>
                <a:cs typeface="Times New Roman"/>
              </a:rPr>
              <a:t>ID</a:t>
            </a:r>
            <a:r>
              <a:rPr dirty="0" sz="1500" spc="450">
                <a:latin typeface="Times New Roman"/>
                <a:cs typeface="Times New Roman"/>
              </a:rPr>
              <a:t>   </a:t>
            </a:r>
            <a:r>
              <a:rPr dirty="0" sz="1500">
                <a:latin typeface="Times New Roman"/>
                <a:cs typeface="Times New Roman"/>
              </a:rPr>
              <a:t>EX</a:t>
            </a:r>
            <a:r>
              <a:rPr dirty="0" sz="1500" spc="365">
                <a:latin typeface="Times New Roman"/>
                <a:cs typeface="Times New Roman"/>
              </a:rPr>
              <a:t>  </a:t>
            </a:r>
            <a:r>
              <a:rPr dirty="0" sz="1500">
                <a:latin typeface="Times New Roman"/>
                <a:cs typeface="Times New Roman"/>
              </a:rPr>
              <a:t>MEM</a:t>
            </a:r>
            <a:r>
              <a:rPr dirty="0" sz="1500" spc="204">
                <a:latin typeface="Times New Roman"/>
                <a:cs typeface="Times New Roman"/>
              </a:rPr>
              <a:t>  </a:t>
            </a:r>
            <a:r>
              <a:rPr dirty="0" sz="1500" spc="-25">
                <a:latin typeface="Times New Roman"/>
                <a:cs typeface="Times New Roman"/>
              </a:rPr>
              <a:t>WB </a:t>
            </a:r>
            <a:r>
              <a:rPr dirty="0" sz="1500">
                <a:latin typeface="Times New Roman"/>
                <a:cs typeface="Times New Roman"/>
              </a:rPr>
              <a:t>IF</a:t>
            </a:r>
            <a:r>
              <a:rPr dirty="0" sz="1500" spc="315">
                <a:latin typeface="Times New Roman"/>
                <a:cs typeface="Times New Roman"/>
              </a:rPr>
              <a:t>    </a:t>
            </a:r>
            <a:r>
              <a:rPr dirty="0" sz="1500">
                <a:latin typeface="Times New Roman"/>
                <a:cs typeface="Times New Roman"/>
              </a:rPr>
              <a:t>ID</a:t>
            </a:r>
            <a:r>
              <a:rPr dirty="0" sz="1500" spc="450">
                <a:latin typeface="Times New Roman"/>
                <a:cs typeface="Times New Roman"/>
              </a:rPr>
              <a:t>   </a:t>
            </a:r>
            <a:r>
              <a:rPr dirty="0" sz="1500">
                <a:latin typeface="Times New Roman"/>
                <a:cs typeface="Times New Roman"/>
              </a:rPr>
              <a:t>EX</a:t>
            </a:r>
            <a:r>
              <a:rPr dirty="0" sz="1500" spc="409">
                <a:latin typeface="Times New Roman"/>
                <a:cs typeface="Times New Roman"/>
              </a:rPr>
              <a:t>  </a:t>
            </a:r>
            <a:r>
              <a:rPr dirty="0" sz="1500">
                <a:latin typeface="Times New Roman"/>
                <a:cs typeface="Times New Roman"/>
              </a:rPr>
              <a:t>MEM</a:t>
            </a:r>
            <a:r>
              <a:rPr dirty="0" sz="1500" spc="165">
                <a:latin typeface="Times New Roman"/>
                <a:cs typeface="Times New Roman"/>
              </a:rPr>
              <a:t>  </a:t>
            </a:r>
            <a:r>
              <a:rPr dirty="0" sz="1500" spc="-25">
                <a:latin typeface="Times New Roman"/>
                <a:cs typeface="Times New Roman"/>
              </a:rPr>
              <a:t>WB</a:t>
            </a:r>
            <a:endParaRPr sz="1500">
              <a:latin typeface="Times New Roman"/>
              <a:cs typeface="Times New Roman"/>
            </a:endParaRPr>
          </a:p>
        </p:txBody>
      </p:sp>
      <p:sp>
        <p:nvSpPr>
          <p:cNvPr id="34" name="object 34" descr=""/>
          <p:cNvSpPr txBox="1"/>
          <p:nvPr/>
        </p:nvSpPr>
        <p:spPr>
          <a:xfrm>
            <a:off x="5611592" y="4494288"/>
            <a:ext cx="412115" cy="255270"/>
          </a:xfrm>
          <a:prstGeom prst="rect">
            <a:avLst/>
          </a:prstGeom>
        </p:spPr>
        <p:txBody>
          <a:bodyPr wrap="square" lIns="0" tIns="13335" rIns="0" bIns="0" rtlCol="0" vert="horz">
            <a:spAutoFit/>
          </a:bodyPr>
          <a:lstStyle/>
          <a:p>
            <a:pPr marL="12700">
              <a:lnSpc>
                <a:spcPct val="100000"/>
              </a:lnSpc>
              <a:spcBef>
                <a:spcPts val="105"/>
              </a:spcBef>
            </a:pPr>
            <a:r>
              <a:rPr dirty="0" sz="1500" spc="-25">
                <a:solidFill>
                  <a:srgbClr val="000080"/>
                </a:solidFill>
                <a:latin typeface="宋体"/>
                <a:cs typeface="宋体"/>
              </a:rPr>
              <a:t>指令</a:t>
            </a:r>
            <a:endParaRPr sz="1500">
              <a:latin typeface="宋体"/>
              <a:cs typeface="宋体"/>
            </a:endParaRPr>
          </a:p>
        </p:txBody>
      </p:sp>
      <p:sp>
        <p:nvSpPr>
          <p:cNvPr id="35" name="object 35" descr=""/>
          <p:cNvSpPr txBox="1"/>
          <p:nvPr/>
        </p:nvSpPr>
        <p:spPr>
          <a:xfrm>
            <a:off x="7035244" y="826810"/>
            <a:ext cx="1174750" cy="255270"/>
          </a:xfrm>
          <a:prstGeom prst="rect">
            <a:avLst/>
          </a:prstGeom>
        </p:spPr>
        <p:txBody>
          <a:bodyPr wrap="square" lIns="0" tIns="13335" rIns="0" bIns="0" rtlCol="0" vert="horz">
            <a:spAutoFit/>
          </a:bodyPr>
          <a:lstStyle/>
          <a:p>
            <a:pPr marL="12700">
              <a:lnSpc>
                <a:spcPct val="100000"/>
              </a:lnSpc>
              <a:spcBef>
                <a:spcPts val="105"/>
              </a:spcBef>
            </a:pPr>
            <a:r>
              <a:rPr dirty="0" sz="1500" spc="-20">
                <a:solidFill>
                  <a:srgbClr val="993300"/>
                </a:solidFill>
                <a:latin typeface="宋体"/>
                <a:cs typeface="宋体"/>
              </a:rPr>
              <a:t>多流出时空图</a:t>
            </a:r>
            <a:endParaRPr sz="1500">
              <a:latin typeface="宋体"/>
              <a:cs typeface="宋体"/>
            </a:endParaRPr>
          </a:p>
        </p:txBody>
      </p:sp>
      <p:sp>
        <p:nvSpPr>
          <p:cNvPr id="36" name="object 36" descr=""/>
          <p:cNvSpPr txBox="1"/>
          <p:nvPr/>
        </p:nvSpPr>
        <p:spPr>
          <a:xfrm>
            <a:off x="2861817" y="6033312"/>
            <a:ext cx="4636770" cy="330835"/>
          </a:xfrm>
          <a:prstGeom prst="rect">
            <a:avLst/>
          </a:prstGeom>
        </p:spPr>
        <p:txBody>
          <a:bodyPr wrap="square" lIns="0" tIns="12700" rIns="0" bIns="0" rtlCol="0" vert="horz">
            <a:spAutoFit/>
          </a:bodyPr>
          <a:lstStyle/>
          <a:p>
            <a:pPr marL="12700">
              <a:lnSpc>
                <a:spcPct val="100000"/>
              </a:lnSpc>
              <a:spcBef>
                <a:spcPts val="100"/>
              </a:spcBef>
            </a:pPr>
            <a:r>
              <a:rPr dirty="0" sz="2000" spc="-25" b="1">
                <a:solidFill>
                  <a:srgbClr val="40458B"/>
                </a:solidFill>
                <a:latin typeface="宋体"/>
                <a:cs typeface="宋体"/>
              </a:rPr>
              <a:t>单流出和多流出处理机执行指令的时空图</a:t>
            </a:r>
            <a:endParaRPr sz="2000">
              <a:latin typeface="宋体"/>
              <a:cs typeface="宋体"/>
            </a:endParaRPr>
          </a:p>
        </p:txBody>
      </p:sp>
      <p:sp>
        <p:nvSpPr>
          <p:cNvPr id="37" name="object 37"/>
          <p:cNvSpPr txBox="1">
            <a:spLocks noGrp="1"/>
          </p:cNvSpPr>
          <p:nvPr>
            <p:ph type="title"/>
          </p:nvPr>
        </p:nvSpPr>
        <p:spPr>
          <a:xfrm>
            <a:off x="977900" y="239395"/>
            <a:ext cx="11226800" cy="513715"/>
          </a:xfrm>
          <a:prstGeom prst="rect"/>
        </p:spPr>
        <p:txBody>
          <a:bodyPr wrap="square" lIns="0" tIns="12700" rIns="0" bIns="0" rtlCol="0" vert="horz">
            <a:spAutoFit/>
          </a:bodyPr>
          <a:lstStyle/>
          <a:p>
            <a:pPr marL="12700">
              <a:lnSpc>
                <a:spcPct val="100000"/>
              </a:lnSpc>
              <a:spcBef>
                <a:spcPts val="100"/>
              </a:spcBef>
              <a:tabLst>
                <a:tab pos="11213465" algn="l"/>
              </a:tabLst>
            </a:pPr>
            <a:r>
              <a:rPr dirty="0" u="heavy" spc="-305">
                <a:uFill>
                  <a:solidFill>
                    <a:srgbClr val="2C44A3"/>
                  </a:solidFill>
                </a:uFill>
              </a:rPr>
              <a:t>  </a:t>
            </a:r>
            <a:r>
              <a:rPr dirty="0" u="heavy">
                <a:uFill>
                  <a:solidFill>
                    <a:srgbClr val="2C44A3"/>
                  </a:solidFill>
                </a:uFill>
              </a:rPr>
              <a:t>5.5</a:t>
            </a:r>
            <a:r>
              <a:rPr dirty="0" u="heavy" spc="-10">
                <a:uFill>
                  <a:solidFill>
                    <a:srgbClr val="2C44A3"/>
                  </a:solidFill>
                </a:uFill>
              </a:rPr>
              <a:t> </a:t>
            </a:r>
            <a:r>
              <a:rPr dirty="0" u="heavy">
                <a:uFill>
                  <a:solidFill>
                    <a:srgbClr val="2C44A3"/>
                  </a:solidFill>
                </a:uFill>
              </a:rPr>
              <a:t>多指令</a:t>
            </a:r>
            <a:r>
              <a:rPr dirty="0" u="heavy" spc="-15">
                <a:uFill>
                  <a:solidFill>
                    <a:srgbClr val="2C44A3"/>
                  </a:solidFill>
                </a:uFill>
              </a:rPr>
              <a:t>流</a:t>
            </a:r>
            <a:r>
              <a:rPr dirty="0" u="heavy">
                <a:uFill>
                  <a:solidFill>
                    <a:srgbClr val="2C44A3"/>
                  </a:solidFill>
                </a:uFill>
              </a:rPr>
              <a:t>出技</a:t>
            </a:r>
            <a:r>
              <a:rPr dirty="0" u="heavy" spc="-50">
                <a:uFill>
                  <a:solidFill>
                    <a:srgbClr val="2C44A3"/>
                  </a:solidFill>
                </a:uFill>
              </a:rPr>
              <a:t>术</a:t>
            </a:r>
            <a:r>
              <a:rPr dirty="0" u="heavy">
                <a:uFill>
                  <a:solidFill>
                    <a:srgbClr val="2C44A3"/>
                  </a:solidFill>
                </a:uFill>
              </a:rPr>
              <a:t>	</a:t>
            </a:r>
          </a:p>
        </p:txBody>
      </p:sp>
      <p:sp>
        <p:nvSpPr>
          <p:cNvPr id="38" name="object 38" descr=""/>
          <p:cNvSpPr txBox="1"/>
          <p:nvPr/>
        </p:nvSpPr>
        <p:spPr>
          <a:xfrm>
            <a:off x="9978008" y="1085850"/>
            <a:ext cx="1562100" cy="330835"/>
          </a:xfrm>
          <a:prstGeom prst="rect">
            <a:avLst/>
          </a:prstGeom>
        </p:spPr>
        <p:txBody>
          <a:bodyPr wrap="square" lIns="0" tIns="13335" rIns="0" bIns="0" rtlCol="0" vert="horz">
            <a:spAutoFit/>
          </a:bodyPr>
          <a:lstStyle/>
          <a:p>
            <a:pPr marL="12700">
              <a:lnSpc>
                <a:spcPct val="100000"/>
              </a:lnSpc>
              <a:spcBef>
                <a:spcPts val="105"/>
              </a:spcBef>
            </a:pPr>
            <a:r>
              <a:rPr dirty="0" sz="2000" spc="-20" b="1">
                <a:solidFill>
                  <a:srgbClr val="40458B"/>
                </a:solidFill>
                <a:latin typeface="宋体"/>
                <a:cs typeface="宋体"/>
              </a:rPr>
              <a:t>例如多流水线</a:t>
            </a:r>
            <a:endParaRPr sz="2000">
              <a:latin typeface="宋体"/>
              <a:cs typeface="宋体"/>
            </a:endParaRPr>
          </a:p>
        </p:txBody>
      </p:sp>
      <p:sp>
        <p:nvSpPr>
          <p:cNvPr id="39" name="object 39" descr=""/>
          <p:cNvSpPr txBox="1"/>
          <p:nvPr/>
        </p:nvSpPr>
        <p:spPr>
          <a:xfrm>
            <a:off x="9978008" y="1543303"/>
            <a:ext cx="2328545" cy="330835"/>
          </a:xfrm>
          <a:prstGeom prst="rect">
            <a:avLst/>
          </a:prstGeom>
        </p:spPr>
        <p:txBody>
          <a:bodyPr wrap="square" lIns="0" tIns="13335" rIns="0" bIns="0" rtlCol="0" vert="horz">
            <a:spAutoFit/>
          </a:bodyPr>
          <a:lstStyle/>
          <a:p>
            <a:pPr marL="12700">
              <a:lnSpc>
                <a:spcPct val="100000"/>
              </a:lnSpc>
              <a:spcBef>
                <a:spcPts val="105"/>
              </a:spcBef>
            </a:pPr>
            <a:r>
              <a:rPr dirty="0" sz="2000" spc="-15" b="1">
                <a:solidFill>
                  <a:srgbClr val="40458B"/>
                </a:solidFill>
                <a:latin typeface="宋体"/>
                <a:cs typeface="宋体"/>
              </a:rPr>
              <a:t>并行，多译码电路等</a:t>
            </a:r>
            <a:endParaRPr sz="2000">
              <a:latin typeface="宋体"/>
              <a:cs typeface="宋体"/>
            </a:endParaRPr>
          </a:p>
        </p:txBody>
      </p:sp>
      <p:sp>
        <p:nvSpPr>
          <p:cNvPr id="40" name="object 40" descr=""/>
          <p:cNvSpPr txBox="1"/>
          <p:nvPr/>
        </p:nvSpPr>
        <p:spPr>
          <a:xfrm>
            <a:off x="558190" y="4161282"/>
            <a:ext cx="3378200" cy="1479550"/>
          </a:xfrm>
          <a:prstGeom prst="rect">
            <a:avLst/>
          </a:prstGeom>
        </p:spPr>
        <p:txBody>
          <a:bodyPr wrap="square" lIns="0" tIns="15240" rIns="0" bIns="0" rtlCol="0" vert="horz">
            <a:spAutoFit/>
          </a:bodyPr>
          <a:lstStyle/>
          <a:p>
            <a:pPr marL="12700" marR="5080">
              <a:lnSpc>
                <a:spcPct val="99200"/>
              </a:lnSpc>
              <a:spcBef>
                <a:spcPts val="120"/>
              </a:spcBef>
            </a:pPr>
            <a:r>
              <a:rPr dirty="0" sz="2400" spc="-5">
                <a:solidFill>
                  <a:srgbClr val="40458B"/>
                </a:solidFill>
                <a:latin typeface="黑体"/>
                <a:cs typeface="黑体"/>
              </a:rPr>
              <a:t>每个时钟周期平均执行一条指令，即它的指令级并</a:t>
            </a:r>
            <a:r>
              <a:rPr dirty="0" sz="2400" spc="-10">
                <a:solidFill>
                  <a:srgbClr val="40458B"/>
                </a:solidFill>
                <a:latin typeface="黑体"/>
                <a:cs typeface="黑体"/>
              </a:rPr>
              <a:t>行度</a:t>
            </a:r>
            <a:r>
              <a:rPr dirty="0" sz="2400" spc="-20">
                <a:solidFill>
                  <a:srgbClr val="40458B"/>
                </a:solidFill>
                <a:latin typeface="Tahoma"/>
                <a:cs typeface="Tahoma"/>
              </a:rPr>
              <a:t>ILP</a:t>
            </a:r>
            <a:r>
              <a:rPr dirty="0" sz="2400" spc="-10">
                <a:solidFill>
                  <a:srgbClr val="40458B"/>
                </a:solidFill>
                <a:latin typeface="黑体"/>
                <a:cs typeface="黑体"/>
              </a:rPr>
              <a:t>的期望值</a:t>
            </a:r>
            <a:r>
              <a:rPr dirty="0" sz="2400" spc="-25">
                <a:solidFill>
                  <a:srgbClr val="40458B"/>
                </a:solidFill>
                <a:latin typeface="Tahoma"/>
                <a:cs typeface="Tahoma"/>
              </a:rPr>
              <a:t>1</a:t>
            </a:r>
            <a:r>
              <a:rPr dirty="0" sz="2400" spc="-10">
                <a:solidFill>
                  <a:srgbClr val="40458B"/>
                </a:solidFill>
                <a:latin typeface="黑体"/>
                <a:cs typeface="黑体"/>
              </a:rPr>
              <a:t>。</a:t>
            </a:r>
            <a:r>
              <a:rPr dirty="0" sz="2400" spc="-20">
                <a:solidFill>
                  <a:srgbClr val="40458B"/>
                </a:solidFill>
                <a:latin typeface="Tahoma"/>
                <a:cs typeface="Tahoma"/>
              </a:rPr>
              <a:t>k</a:t>
            </a:r>
            <a:r>
              <a:rPr dirty="0" sz="2400" spc="-50">
                <a:solidFill>
                  <a:srgbClr val="40458B"/>
                </a:solidFill>
                <a:latin typeface="黑体"/>
                <a:cs typeface="黑体"/>
              </a:rPr>
              <a:t>段</a:t>
            </a:r>
            <a:r>
              <a:rPr dirty="0" sz="2400" spc="-5">
                <a:solidFill>
                  <a:srgbClr val="40458B"/>
                </a:solidFill>
                <a:latin typeface="黑体"/>
                <a:cs typeface="黑体"/>
              </a:rPr>
              <a:t>流水线的普通标量处理机</a:t>
            </a:r>
            <a:endParaRPr sz="2400">
              <a:latin typeface="黑体"/>
              <a:cs typeface="黑体"/>
            </a:endParaRPr>
          </a:p>
        </p:txBody>
      </p:sp>
      <p:sp>
        <p:nvSpPr>
          <p:cNvPr id="41" name="object 41" descr=""/>
          <p:cNvSpPr txBox="1"/>
          <p:nvPr/>
        </p:nvSpPr>
        <p:spPr>
          <a:xfrm>
            <a:off x="8096504" y="4535804"/>
            <a:ext cx="3683000" cy="1480185"/>
          </a:xfrm>
          <a:prstGeom prst="rect">
            <a:avLst/>
          </a:prstGeom>
        </p:spPr>
        <p:txBody>
          <a:bodyPr wrap="square" lIns="0" tIns="15240" rIns="0" bIns="0" rtlCol="0" vert="horz">
            <a:spAutoFit/>
          </a:bodyPr>
          <a:lstStyle/>
          <a:p>
            <a:pPr marL="12700" marR="5080">
              <a:lnSpc>
                <a:spcPct val="99200"/>
              </a:lnSpc>
              <a:spcBef>
                <a:spcPts val="120"/>
              </a:spcBef>
            </a:pPr>
            <a:r>
              <a:rPr dirty="0" sz="2400" spc="-5">
                <a:solidFill>
                  <a:srgbClr val="40458B"/>
                </a:solidFill>
                <a:latin typeface="黑体"/>
                <a:cs typeface="黑体"/>
              </a:rPr>
              <a:t>多发射处理机在一个基本时</a:t>
            </a:r>
            <a:r>
              <a:rPr dirty="0" sz="2400" spc="-10">
                <a:solidFill>
                  <a:srgbClr val="40458B"/>
                </a:solidFill>
                <a:latin typeface="黑体"/>
                <a:cs typeface="黑体"/>
              </a:rPr>
              <a:t>钟周期内同时从指令</a:t>
            </a:r>
            <a:r>
              <a:rPr dirty="0" sz="2400" spc="-10">
                <a:solidFill>
                  <a:srgbClr val="40458B"/>
                </a:solidFill>
                <a:latin typeface="Tahoma"/>
                <a:cs typeface="Tahoma"/>
              </a:rPr>
              <a:t>Cache</a:t>
            </a:r>
            <a:r>
              <a:rPr dirty="0" sz="2400" spc="-5">
                <a:solidFill>
                  <a:srgbClr val="40458B"/>
                </a:solidFill>
                <a:latin typeface="黑体"/>
                <a:cs typeface="黑体"/>
              </a:rPr>
              <a:t>中读出多条指令，同时对多</a:t>
            </a:r>
            <a:r>
              <a:rPr dirty="0" sz="2400" spc="-10">
                <a:solidFill>
                  <a:srgbClr val="40458B"/>
                </a:solidFill>
                <a:latin typeface="黑体"/>
                <a:cs typeface="黑体"/>
              </a:rPr>
              <a:t>条指令进行译码</a:t>
            </a:r>
            <a:endParaRPr sz="2400">
              <a:latin typeface="黑体"/>
              <a:cs typeface="黑体"/>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156/175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918768" y="1225677"/>
            <a:ext cx="10213340" cy="3391535"/>
          </a:xfrm>
          <a:prstGeom prst="rect">
            <a:avLst/>
          </a:prstGeom>
        </p:spPr>
        <p:txBody>
          <a:bodyPr wrap="square" lIns="0" tIns="12065" rIns="0" bIns="0" rtlCol="0" vert="horz">
            <a:spAutoFit/>
          </a:bodyPr>
          <a:lstStyle/>
          <a:p>
            <a:pPr marL="354965" marR="5080" indent="-342900">
              <a:lnSpc>
                <a:spcPct val="150100"/>
              </a:lnSpc>
              <a:spcBef>
                <a:spcPts val="95"/>
              </a:spcBef>
              <a:buClr>
                <a:srgbClr val="40458B"/>
              </a:buClr>
              <a:buFont typeface="Wingdings"/>
              <a:buChar char=""/>
              <a:tabLst>
                <a:tab pos="354965" algn="l"/>
              </a:tabLst>
            </a:pPr>
            <a:r>
              <a:rPr dirty="0" sz="2400">
                <a:solidFill>
                  <a:srgbClr val="E14B04"/>
                </a:solidFill>
                <a:latin typeface="黑体"/>
                <a:cs typeface="黑体"/>
              </a:rPr>
              <a:t>单流出技术</a:t>
            </a:r>
            <a:r>
              <a:rPr dirty="0" sz="2400">
                <a:solidFill>
                  <a:srgbClr val="001F5F"/>
                </a:solidFill>
                <a:latin typeface="黑体"/>
                <a:cs typeface="黑体"/>
              </a:rPr>
              <a:t>，在传统的单流出</a:t>
            </a:r>
            <a:r>
              <a:rPr dirty="0" sz="2400">
                <a:solidFill>
                  <a:srgbClr val="001F5F"/>
                </a:solidFill>
                <a:latin typeface="Tahoma"/>
                <a:cs typeface="Tahoma"/>
              </a:rPr>
              <a:t>(single</a:t>
            </a:r>
            <a:r>
              <a:rPr dirty="0" sz="2400" spc="-40">
                <a:solidFill>
                  <a:srgbClr val="001F5F"/>
                </a:solidFill>
                <a:latin typeface="Tahoma"/>
                <a:cs typeface="Tahoma"/>
              </a:rPr>
              <a:t> </a:t>
            </a:r>
            <a:r>
              <a:rPr dirty="0" sz="2400" spc="-10">
                <a:solidFill>
                  <a:srgbClr val="001F5F"/>
                </a:solidFill>
                <a:latin typeface="Tahoma"/>
                <a:cs typeface="Tahoma"/>
              </a:rPr>
              <a:t>issue)</a:t>
            </a:r>
            <a:r>
              <a:rPr dirty="0" sz="2400" spc="-5">
                <a:solidFill>
                  <a:srgbClr val="001F5F"/>
                </a:solidFill>
                <a:latin typeface="黑体"/>
                <a:cs typeface="黑体"/>
              </a:rPr>
              <a:t>处理器中，每个时钟周期只能</a:t>
            </a:r>
            <a:r>
              <a:rPr dirty="0" sz="2400">
                <a:solidFill>
                  <a:srgbClr val="001F5F"/>
                </a:solidFill>
                <a:latin typeface="黑体"/>
                <a:cs typeface="黑体"/>
              </a:rPr>
              <a:t>流出一条指令，这意味着无论如何优化，每个指令周期</a:t>
            </a:r>
            <a:r>
              <a:rPr dirty="0" sz="2400" spc="-20">
                <a:solidFill>
                  <a:srgbClr val="001F5F"/>
                </a:solidFill>
                <a:latin typeface="Tahoma"/>
                <a:cs typeface="Tahoma"/>
              </a:rPr>
              <a:t>(CPI)</a:t>
            </a:r>
            <a:r>
              <a:rPr dirty="0" sz="2400" spc="-10">
                <a:solidFill>
                  <a:srgbClr val="001F5F"/>
                </a:solidFill>
                <a:latin typeface="黑体"/>
                <a:cs typeface="黑体"/>
              </a:rPr>
              <a:t>的最佳成绩也</a:t>
            </a:r>
            <a:r>
              <a:rPr dirty="0" sz="2400">
                <a:solidFill>
                  <a:srgbClr val="001F5F"/>
                </a:solidFill>
                <a:latin typeface="黑体"/>
                <a:cs typeface="黑体"/>
              </a:rPr>
              <a:t>只能是</a:t>
            </a:r>
            <a:r>
              <a:rPr dirty="0" sz="2400" spc="-25">
                <a:solidFill>
                  <a:srgbClr val="001F5F"/>
                </a:solidFill>
                <a:latin typeface="Tahoma"/>
                <a:cs typeface="Tahoma"/>
              </a:rPr>
              <a:t>1</a:t>
            </a:r>
            <a:r>
              <a:rPr dirty="0" sz="2400" spc="-50">
                <a:solidFill>
                  <a:srgbClr val="001F5F"/>
                </a:solidFill>
                <a:latin typeface="黑体"/>
                <a:cs typeface="黑体"/>
              </a:rPr>
              <a:t>。</a:t>
            </a:r>
            <a:endParaRPr sz="2400">
              <a:latin typeface="黑体"/>
              <a:cs typeface="黑体"/>
            </a:endParaRPr>
          </a:p>
          <a:p>
            <a:pPr algn="just" marL="354965" marR="74930" indent="-342900">
              <a:lnSpc>
                <a:spcPct val="150000"/>
              </a:lnSpc>
              <a:spcBef>
                <a:spcPts val="575"/>
              </a:spcBef>
              <a:buClr>
                <a:srgbClr val="40458B"/>
              </a:buClr>
              <a:buFont typeface="Wingdings"/>
              <a:buChar char=""/>
              <a:tabLst>
                <a:tab pos="354965" algn="l"/>
              </a:tabLst>
            </a:pPr>
            <a:r>
              <a:rPr dirty="0" sz="2400">
                <a:solidFill>
                  <a:srgbClr val="E14B04"/>
                </a:solidFill>
                <a:latin typeface="黑体"/>
                <a:cs typeface="黑体"/>
              </a:rPr>
              <a:t>多流出技术</a:t>
            </a:r>
            <a:r>
              <a:rPr dirty="0" sz="2400" spc="-5">
                <a:solidFill>
                  <a:srgbClr val="001F5F"/>
                </a:solidFill>
                <a:latin typeface="黑体"/>
                <a:cs typeface="黑体"/>
              </a:rPr>
              <a:t>允许在每个时钟周期内流出多条指令，这提高了处理器的指令</a:t>
            </a:r>
            <a:r>
              <a:rPr dirty="0" sz="2400" spc="-10">
                <a:solidFill>
                  <a:srgbClr val="001F5F"/>
                </a:solidFill>
                <a:latin typeface="黑体"/>
                <a:cs typeface="黑体"/>
              </a:rPr>
              <a:t>吞吐率，使</a:t>
            </a:r>
            <a:r>
              <a:rPr dirty="0" sz="2400" spc="-10">
                <a:solidFill>
                  <a:srgbClr val="001F5F"/>
                </a:solidFill>
                <a:latin typeface="Tahoma"/>
                <a:cs typeface="Tahoma"/>
              </a:rPr>
              <a:t>CPI</a:t>
            </a:r>
            <a:r>
              <a:rPr dirty="0" sz="2400" spc="-10">
                <a:solidFill>
                  <a:srgbClr val="001F5F"/>
                </a:solidFill>
                <a:latin typeface="黑体"/>
                <a:cs typeface="黑体"/>
              </a:rPr>
              <a:t>可以小于</a:t>
            </a:r>
            <a:r>
              <a:rPr dirty="0" sz="2400" spc="-25">
                <a:solidFill>
                  <a:srgbClr val="001F5F"/>
                </a:solidFill>
                <a:latin typeface="Tahoma"/>
                <a:cs typeface="Tahoma"/>
              </a:rPr>
              <a:t>1</a:t>
            </a:r>
            <a:r>
              <a:rPr dirty="0" sz="2400" spc="-15">
                <a:solidFill>
                  <a:srgbClr val="001F5F"/>
                </a:solidFill>
                <a:latin typeface="黑体"/>
                <a:cs typeface="黑体"/>
              </a:rPr>
              <a:t>。这意味着在相同的时间内，处理器可以完成更</a:t>
            </a:r>
            <a:r>
              <a:rPr dirty="0" sz="2400" spc="-10">
                <a:solidFill>
                  <a:srgbClr val="001F5F"/>
                </a:solidFill>
                <a:latin typeface="黑体"/>
                <a:cs typeface="黑体"/>
              </a:rPr>
              <a:t>多的工作。</a:t>
            </a:r>
            <a:endParaRPr sz="2400">
              <a:latin typeface="黑体"/>
              <a:cs typeface="黑体"/>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157/175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845616" y="787654"/>
            <a:ext cx="10193655" cy="5613400"/>
          </a:xfrm>
          <a:prstGeom prst="rect">
            <a:avLst/>
          </a:prstGeom>
        </p:spPr>
        <p:txBody>
          <a:bodyPr wrap="square" lIns="0" tIns="94615" rIns="0" bIns="0" rtlCol="0" vert="horz">
            <a:spAutoFit/>
          </a:bodyPr>
          <a:lstStyle/>
          <a:p>
            <a:pPr marL="354965" indent="-342265">
              <a:lnSpc>
                <a:spcPct val="100000"/>
              </a:lnSpc>
              <a:spcBef>
                <a:spcPts val="745"/>
              </a:spcBef>
              <a:buClr>
                <a:srgbClr val="40458B"/>
              </a:buClr>
              <a:buFont typeface="Wingdings"/>
              <a:buChar char=""/>
              <a:tabLst>
                <a:tab pos="354965" algn="l"/>
              </a:tabLst>
            </a:pPr>
            <a:r>
              <a:rPr dirty="0" sz="2400" spc="-10">
                <a:solidFill>
                  <a:srgbClr val="001F5F"/>
                </a:solidFill>
                <a:latin typeface="黑体"/>
                <a:cs typeface="黑体"/>
              </a:rPr>
              <a:t>基本概念：</a:t>
            </a:r>
            <a:endParaRPr sz="2400">
              <a:latin typeface="黑体"/>
              <a:cs typeface="黑体"/>
            </a:endParaRPr>
          </a:p>
          <a:p>
            <a:pPr lvl="1" marL="768350" indent="-457200">
              <a:lnSpc>
                <a:spcPct val="100000"/>
              </a:lnSpc>
              <a:spcBef>
                <a:spcPts val="650"/>
              </a:spcBef>
              <a:buClr>
                <a:srgbClr val="40458B"/>
              </a:buClr>
              <a:buSzPct val="89583"/>
              <a:buFont typeface="Wingdings"/>
              <a:buChar char=""/>
              <a:tabLst>
                <a:tab pos="768350" algn="l"/>
              </a:tabLst>
            </a:pPr>
            <a:r>
              <a:rPr dirty="0" sz="2400">
                <a:solidFill>
                  <a:srgbClr val="FF0000"/>
                </a:solidFill>
                <a:latin typeface="黑体"/>
                <a:cs typeface="黑体"/>
              </a:rPr>
              <a:t>超标量</a:t>
            </a:r>
            <a:r>
              <a:rPr dirty="0" sz="2400">
                <a:solidFill>
                  <a:srgbClr val="9933FF"/>
                </a:solidFill>
                <a:latin typeface="黑体"/>
                <a:cs typeface="黑体"/>
              </a:rPr>
              <a:t>（Superscalar）--</a:t>
            </a:r>
            <a:r>
              <a:rPr dirty="0" sz="2400" spc="-5">
                <a:solidFill>
                  <a:srgbClr val="FF0000"/>
                </a:solidFill>
                <a:latin typeface="黑体"/>
                <a:cs typeface="黑体"/>
              </a:rPr>
              <a:t>可以乱序，如何加快多条指令的调度</a:t>
            </a:r>
            <a:endParaRPr sz="2400">
              <a:latin typeface="黑体"/>
              <a:cs typeface="黑体"/>
            </a:endParaRPr>
          </a:p>
          <a:p>
            <a:pPr lvl="2" marL="1056005" indent="-457200">
              <a:lnSpc>
                <a:spcPct val="100000"/>
              </a:lnSpc>
              <a:spcBef>
                <a:spcPts val="525"/>
              </a:spcBef>
              <a:buClr>
                <a:srgbClr val="4668F5"/>
              </a:buClr>
              <a:buSzPct val="68181"/>
              <a:buFont typeface="Wingdings"/>
              <a:buChar char=""/>
              <a:tabLst>
                <a:tab pos="1056005" algn="l"/>
              </a:tabLst>
            </a:pPr>
            <a:r>
              <a:rPr dirty="0" sz="2200" spc="-25" b="1">
                <a:solidFill>
                  <a:srgbClr val="9966FF"/>
                </a:solidFill>
                <a:latin typeface="宋体"/>
                <a:cs typeface="宋体"/>
              </a:rPr>
              <a:t>是指在</a:t>
            </a:r>
            <a:r>
              <a:rPr dirty="0" sz="2200" spc="-10" b="1">
                <a:solidFill>
                  <a:srgbClr val="9966FF"/>
                </a:solidFill>
                <a:latin typeface="宋体"/>
                <a:cs typeface="宋体"/>
              </a:rPr>
              <a:t>CPU</a:t>
            </a:r>
            <a:r>
              <a:rPr dirty="0" sz="2200" spc="-30" b="1">
                <a:solidFill>
                  <a:srgbClr val="9966FF"/>
                </a:solidFill>
                <a:latin typeface="宋体"/>
                <a:cs typeface="宋体"/>
              </a:rPr>
              <a:t>中有一条以上的流水线，并且每时钟周期内可以完成一条以上的</a:t>
            </a:r>
            <a:endParaRPr sz="2200">
              <a:latin typeface="宋体"/>
              <a:cs typeface="宋体"/>
            </a:endParaRPr>
          </a:p>
          <a:p>
            <a:pPr marL="1056005">
              <a:lnSpc>
                <a:spcPct val="100000"/>
              </a:lnSpc>
            </a:pPr>
            <a:r>
              <a:rPr dirty="0" sz="2200" spc="-25" b="1">
                <a:solidFill>
                  <a:srgbClr val="9966FF"/>
                </a:solidFill>
                <a:latin typeface="宋体"/>
                <a:cs typeface="宋体"/>
              </a:rPr>
              <a:t>指令，这种设计就叫超标量技术。 其实质是以空间换取时间。</a:t>
            </a:r>
            <a:endParaRPr sz="2200">
              <a:latin typeface="宋体"/>
              <a:cs typeface="宋体"/>
            </a:endParaRPr>
          </a:p>
          <a:p>
            <a:pPr lvl="2" marL="1056005" indent="-457200">
              <a:lnSpc>
                <a:spcPct val="100000"/>
              </a:lnSpc>
              <a:spcBef>
                <a:spcPts val="530"/>
              </a:spcBef>
              <a:buClr>
                <a:srgbClr val="4668F5"/>
              </a:buClr>
              <a:buSzPct val="68181"/>
              <a:buFont typeface="Wingdings"/>
              <a:buChar char=""/>
              <a:tabLst>
                <a:tab pos="1056005" algn="l"/>
              </a:tabLst>
            </a:pPr>
            <a:r>
              <a:rPr dirty="0" sz="2200" spc="-25" b="1">
                <a:solidFill>
                  <a:srgbClr val="9966FF"/>
                </a:solidFill>
                <a:latin typeface="宋体"/>
                <a:cs typeface="宋体"/>
              </a:rPr>
              <a:t>超级标量结构的</a:t>
            </a:r>
            <a:r>
              <a:rPr dirty="0" sz="2200" spc="-10" b="1">
                <a:solidFill>
                  <a:srgbClr val="9966FF"/>
                </a:solidFill>
                <a:latin typeface="宋体"/>
                <a:cs typeface="宋体"/>
              </a:rPr>
              <a:t>cpu</a:t>
            </a:r>
            <a:r>
              <a:rPr dirty="0" sz="2200" spc="-25" b="1">
                <a:solidFill>
                  <a:srgbClr val="9966FF"/>
                </a:solidFill>
                <a:latin typeface="宋体"/>
                <a:cs typeface="宋体"/>
              </a:rPr>
              <a:t>支持指令级并行，每个周期可以发射多条指令</a:t>
            </a:r>
            <a:endParaRPr sz="2200">
              <a:latin typeface="宋体"/>
              <a:cs typeface="宋体"/>
            </a:endParaRPr>
          </a:p>
          <a:p>
            <a:pPr marL="840105" indent="-457200">
              <a:lnSpc>
                <a:spcPct val="100000"/>
              </a:lnSpc>
              <a:spcBef>
                <a:spcPts val="580"/>
              </a:spcBef>
              <a:buClr>
                <a:srgbClr val="40458B"/>
              </a:buClr>
              <a:buSzPct val="89583"/>
              <a:buFont typeface="Wingdings"/>
              <a:buChar char=""/>
              <a:tabLst>
                <a:tab pos="840105" algn="l"/>
              </a:tabLst>
            </a:pPr>
            <a:r>
              <a:rPr dirty="0" sz="2400" spc="-15">
                <a:solidFill>
                  <a:srgbClr val="FF0000"/>
                </a:solidFill>
                <a:latin typeface="黑体"/>
                <a:cs typeface="黑体"/>
              </a:rPr>
              <a:t>超流水线</a:t>
            </a:r>
            <a:endParaRPr sz="2400">
              <a:latin typeface="黑体"/>
              <a:cs typeface="黑体"/>
            </a:endParaRPr>
          </a:p>
          <a:p>
            <a:pPr lvl="1" marL="1056005" indent="-457200">
              <a:lnSpc>
                <a:spcPct val="100000"/>
              </a:lnSpc>
              <a:spcBef>
                <a:spcPts val="455"/>
              </a:spcBef>
              <a:buClr>
                <a:srgbClr val="4668F5"/>
              </a:buClr>
              <a:buSzPct val="68181"/>
              <a:buFont typeface="Wingdings"/>
              <a:buChar char=""/>
              <a:tabLst>
                <a:tab pos="1056005" algn="l"/>
              </a:tabLst>
            </a:pPr>
            <a:r>
              <a:rPr dirty="0" sz="2200" spc="-20" b="1">
                <a:solidFill>
                  <a:srgbClr val="9966FF"/>
                </a:solidFill>
                <a:latin typeface="宋体"/>
                <a:cs typeface="宋体"/>
              </a:rPr>
              <a:t>是一条指令来实现多个操作的并行执行（通常只有一个控制器</a:t>
            </a:r>
            <a:r>
              <a:rPr dirty="0" sz="2200" spc="-50" b="1">
                <a:solidFill>
                  <a:srgbClr val="9966FF"/>
                </a:solidFill>
                <a:latin typeface="宋体"/>
                <a:cs typeface="宋体"/>
              </a:rPr>
              <a:t>）</a:t>
            </a:r>
            <a:endParaRPr sz="2200">
              <a:latin typeface="宋体"/>
              <a:cs typeface="宋体"/>
            </a:endParaRPr>
          </a:p>
          <a:p>
            <a:pPr lvl="1" marL="1056005" marR="137795" indent="-457200">
              <a:lnSpc>
                <a:spcPts val="2570"/>
              </a:lnSpc>
              <a:spcBef>
                <a:spcPts val="740"/>
              </a:spcBef>
              <a:buClr>
                <a:srgbClr val="4668F5"/>
              </a:buClr>
              <a:buSzPct val="68181"/>
              <a:buFont typeface="Wingdings"/>
              <a:buChar char=""/>
              <a:tabLst>
                <a:tab pos="1056005" algn="l"/>
              </a:tabLst>
            </a:pPr>
            <a:r>
              <a:rPr dirty="0" sz="2200" spc="-25" b="1">
                <a:solidFill>
                  <a:srgbClr val="9966FF"/>
                </a:solidFill>
                <a:latin typeface="宋体"/>
                <a:cs typeface="宋体"/>
              </a:rPr>
              <a:t>以增加流水线级数的方法来缩短机器周期，相同的时间内超级流水线执行了更多的机器指令</a:t>
            </a:r>
            <a:endParaRPr sz="2200">
              <a:latin typeface="宋体"/>
              <a:cs typeface="宋体"/>
            </a:endParaRPr>
          </a:p>
          <a:p>
            <a:pPr lvl="1" marL="1056005" indent="-457200">
              <a:lnSpc>
                <a:spcPct val="100000"/>
              </a:lnSpc>
              <a:spcBef>
                <a:spcPts val="455"/>
              </a:spcBef>
              <a:buClr>
                <a:srgbClr val="4668F5"/>
              </a:buClr>
              <a:buSzPct val="68181"/>
              <a:buFont typeface="Wingdings"/>
              <a:buChar char=""/>
              <a:tabLst>
                <a:tab pos="1056005" algn="l"/>
              </a:tabLst>
            </a:pPr>
            <a:r>
              <a:rPr dirty="0" sz="2200" spc="-25" b="1">
                <a:solidFill>
                  <a:srgbClr val="9966FF"/>
                </a:solidFill>
                <a:latin typeface="宋体"/>
                <a:cs typeface="宋体"/>
              </a:rPr>
              <a:t>多采用简单指令加快速度。</a:t>
            </a:r>
            <a:endParaRPr sz="2200">
              <a:latin typeface="宋体"/>
              <a:cs typeface="宋体"/>
            </a:endParaRPr>
          </a:p>
          <a:p>
            <a:pPr lvl="1" marL="1056005" indent="-457200">
              <a:lnSpc>
                <a:spcPct val="100000"/>
              </a:lnSpc>
              <a:spcBef>
                <a:spcPts val="530"/>
              </a:spcBef>
              <a:buClr>
                <a:srgbClr val="4668F5"/>
              </a:buClr>
              <a:buSzPct val="68181"/>
              <a:buFont typeface="Wingdings"/>
              <a:buChar char=""/>
              <a:tabLst>
                <a:tab pos="1056005" algn="l"/>
              </a:tabLst>
            </a:pPr>
            <a:r>
              <a:rPr dirty="0" sz="2200" spc="-25" b="1">
                <a:solidFill>
                  <a:srgbClr val="9966FF"/>
                </a:solidFill>
                <a:latin typeface="宋体"/>
                <a:cs typeface="宋体"/>
              </a:rPr>
              <a:t>但配置了多个功能部件和译码电路。</a:t>
            </a:r>
            <a:endParaRPr sz="2200">
              <a:latin typeface="宋体"/>
              <a:cs typeface="宋体"/>
            </a:endParaRPr>
          </a:p>
          <a:p>
            <a:pPr marL="438150" indent="-339090">
              <a:lnSpc>
                <a:spcPct val="100000"/>
              </a:lnSpc>
              <a:spcBef>
                <a:spcPts val="470"/>
              </a:spcBef>
              <a:buClr>
                <a:srgbClr val="40458B"/>
              </a:buClr>
              <a:buSzPct val="89583"/>
              <a:buFont typeface="Wingdings"/>
              <a:buChar char=""/>
              <a:tabLst>
                <a:tab pos="438150" algn="l"/>
              </a:tabLst>
            </a:pPr>
            <a:r>
              <a:rPr dirty="0" sz="2400">
                <a:solidFill>
                  <a:srgbClr val="FF0000"/>
                </a:solidFill>
                <a:latin typeface="黑体"/>
                <a:cs typeface="黑体"/>
              </a:rPr>
              <a:t>超长指令字VLIW（不可以乱序，如何加快一个指令字的执行</a:t>
            </a:r>
            <a:r>
              <a:rPr dirty="0" sz="2400" spc="-50">
                <a:solidFill>
                  <a:srgbClr val="FF0000"/>
                </a:solidFill>
                <a:latin typeface="黑体"/>
                <a:cs typeface="黑体"/>
              </a:rPr>
              <a:t>）</a:t>
            </a:r>
            <a:endParaRPr sz="2400">
              <a:latin typeface="黑体"/>
              <a:cs typeface="黑体"/>
            </a:endParaRPr>
          </a:p>
          <a:p>
            <a:pPr lvl="1" marL="1056005" marR="137795" indent="-457200">
              <a:lnSpc>
                <a:spcPts val="2570"/>
              </a:lnSpc>
              <a:spcBef>
                <a:spcPts val="850"/>
              </a:spcBef>
              <a:buClr>
                <a:srgbClr val="4668F5"/>
              </a:buClr>
              <a:buSzPct val="68181"/>
              <a:buFont typeface="Wingdings"/>
              <a:buChar char=""/>
              <a:tabLst>
                <a:tab pos="1056005" algn="l"/>
              </a:tabLst>
            </a:pPr>
            <a:r>
              <a:rPr dirty="0" sz="2200" spc="-25" b="1">
                <a:solidFill>
                  <a:srgbClr val="9966FF"/>
                </a:solidFill>
                <a:latin typeface="宋体"/>
                <a:cs typeface="宋体"/>
              </a:rPr>
              <a:t>类似于超级标量，是一条指令来实现多个操作的并行执行，之所以放到一条指令是为了减少内存访问。</a:t>
            </a:r>
            <a:endParaRPr sz="2200">
              <a:latin typeface="宋体"/>
              <a:cs typeface="宋体"/>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158/175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918768" y="643255"/>
            <a:ext cx="10055860" cy="5173980"/>
          </a:xfrm>
          <a:prstGeom prst="rect">
            <a:avLst/>
          </a:prstGeom>
        </p:spPr>
        <p:txBody>
          <a:bodyPr wrap="square" lIns="0" tIns="94615" rIns="0" bIns="0" rtlCol="0" vert="horz">
            <a:spAutoFit/>
          </a:bodyPr>
          <a:lstStyle/>
          <a:p>
            <a:pPr marL="354965" indent="-342265">
              <a:lnSpc>
                <a:spcPct val="100000"/>
              </a:lnSpc>
              <a:spcBef>
                <a:spcPts val="745"/>
              </a:spcBef>
              <a:buClr>
                <a:srgbClr val="40458B"/>
              </a:buClr>
              <a:buFont typeface="Wingdings"/>
              <a:buChar char=""/>
              <a:tabLst>
                <a:tab pos="354965" algn="l"/>
              </a:tabLst>
            </a:pPr>
            <a:r>
              <a:rPr dirty="0" sz="2400">
                <a:solidFill>
                  <a:srgbClr val="001F5F"/>
                </a:solidFill>
                <a:latin typeface="黑体"/>
                <a:cs typeface="黑体"/>
              </a:rPr>
              <a:t>多流出处理机有两种基本风格（基本结构</a:t>
            </a:r>
            <a:r>
              <a:rPr dirty="0" sz="2400" spc="-25">
                <a:solidFill>
                  <a:srgbClr val="001F5F"/>
                </a:solidFill>
                <a:latin typeface="黑体"/>
                <a:cs typeface="黑体"/>
              </a:rPr>
              <a:t>）：</a:t>
            </a:r>
            <a:endParaRPr sz="2400">
              <a:latin typeface="黑体"/>
              <a:cs typeface="黑体"/>
            </a:endParaRPr>
          </a:p>
          <a:p>
            <a:pPr lvl="1" marL="768350" indent="-457200">
              <a:lnSpc>
                <a:spcPct val="100000"/>
              </a:lnSpc>
              <a:spcBef>
                <a:spcPts val="650"/>
              </a:spcBef>
              <a:buClr>
                <a:srgbClr val="40458B"/>
              </a:buClr>
              <a:buSzPct val="89583"/>
              <a:buFont typeface="Wingdings"/>
              <a:buChar char=""/>
              <a:tabLst>
                <a:tab pos="768350" algn="l"/>
              </a:tabLst>
            </a:pPr>
            <a:r>
              <a:rPr dirty="0" sz="2400">
                <a:solidFill>
                  <a:srgbClr val="FF0000"/>
                </a:solidFill>
                <a:latin typeface="黑体"/>
                <a:cs typeface="黑体"/>
              </a:rPr>
              <a:t>超标量</a:t>
            </a:r>
            <a:r>
              <a:rPr dirty="0" sz="2400" spc="-10">
                <a:solidFill>
                  <a:srgbClr val="9933FF"/>
                </a:solidFill>
                <a:latin typeface="黑体"/>
                <a:cs typeface="黑体"/>
              </a:rPr>
              <a:t>（Superscalar）</a:t>
            </a:r>
            <a:endParaRPr sz="2400">
              <a:latin typeface="黑体"/>
              <a:cs typeface="黑体"/>
            </a:endParaRPr>
          </a:p>
          <a:p>
            <a:pPr lvl="2" marL="1056005" marR="13335" indent="-457200">
              <a:lnSpc>
                <a:spcPct val="100000"/>
              </a:lnSpc>
              <a:spcBef>
                <a:spcPts val="525"/>
              </a:spcBef>
              <a:buClr>
                <a:srgbClr val="4668F5"/>
              </a:buClr>
              <a:buSzPct val="68181"/>
              <a:buFont typeface="Wingdings"/>
              <a:buChar char=""/>
              <a:tabLst>
                <a:tab pos="1056005" algn="l"/>
              </a:tabLst>
            </a:pPr>
            <a:r>
              <a:rPr dirty="0" sz="2200" spc="-20" b="1">
                <a:solidFill>
                  <a:srgbClr val="9966FF"/>
                </a:solidFill>
                <a:latin typeface="宋体"/>
                <a:cs typeface="宋体"/>
              </a:rPr>
              <a:t>在每个时钟周期流出的指令条数</a:t>
            </a:r>
            <a:r>
              <a:rPr dirty="0" sz="2200" spc="-20" b="1">
                <a:solidFill>
                  <a:srgbClr val="D50092"/>
                </a:solidFill>
                <a:latin typeface="宋体"/>
                <a:cs typeface="宋体"/>
              </a:rPr>
              <a:t>不固定</a:t>
            </a:r>
            <a:r>
              <a:rPr dirty="0" sz="2200" spc="-25" b="1">
                <a:solidFill>
                  <a:srgbClr val="9966FF"/>
                </a:solidFill>
                <a:latin typeface="宋体"/>
                <a:cs typeface="宋体"/>
              </a:rPr>
              <a:t>，依代码的具体情况而定。</a:t>
            </a:r>
            <a:r>
              <a:rPr dirty="0" sz="2200" spc="-10" b="1">
                <a:solidFill>
                  <a:srgbClr val="9966FF"/>
                </a:solidFill>
                <a:latin typeface="宋体"/>
                <a:cs typeface="宋体"/>
              </a:rPr>
              <a:t>（</a:t>
            </a:r>
            <a:r>
              <a:rPr dirty="0" sz="2200" spc="-40" b="1">
                <a:solidFill>
                  <a:srgbClr val="9966FF"/>
                </a:solidFill>
                <a:latin typeface="宋体"/>
                <a:cs typeface="宋体"/>
              </a:rPr>
              <a:t>有个</a:t>
            </a:r>
            <a:r>
              <a:rPr dirty="0" sz="2200" spc="-20" b="1">
                <a:solidFill>
                  <a:srgbClr val="9966FF"/>
                </a:solidFill>
                <a:latin typeface="宋体"/>
                <a:cs typeface="宋体"/>
              </a:rPr>
              <a:t>上限</a:t>
            </a:r>
            <a:r>
              <a:rPr dirty="0" sz="2200" spc="-10" b="1">
                <a:solidFill>
                  <a:srgbClr val="9966FF"/>
                </a:solidFill>
                <a:latin typeface="宋体"/>
                <a:cs typeface="宋体"/>
              </a:rPr>
              <a:t>）--</a:t>
            </a:r>
            <a:r>
              <a:rPr dirty="0" sz="2200" spc="-20" b="1">
                <a:solidFill>
                  <a:srgbClr val="FF0000"/>
                </a:solidFill>
                <a:latin typeface="宋体"/>
                <a:cs typeface="宋体"/>
              </a:rPr>
              <a:t>有多个流水线（空间换取时间</a:t>
            </a:r>
            <a:r>
              <a:rPr dirty="0" sz="2200" spc="-50" b="1">
                <a:solidFill>
                  <a:srgbClr val="FF0000"/>
                </a:solidFill>
                <a:latin typeface="宋体"/>
                <a:cs typeface="宋体"/>
              </a:rPr>
              <a:t>）</a:t>
            </a:r>
            <a:endParaRPr sz="2200">
              <a:latin typeface="宋体"/>
              <a:cs typeface="宋体"/>
            </a:endParaRPr>
          </a:p>
          <a:p>
            <a:pPr lvl="2" marL="1056005" indent="-457200">
              <a:lnSpc>
                <a:spcPct val="100000"/>
              </a:lnSpc>
              <a:spcBef>
                <a:spcPts val="530"/>
              </a:spcBef>
              <a:buClr>
                <a:srgbClr val="4668F5"/>
              </a:buClr>
              <a:buSzPct val="68181"/>
              <a:buFont typeface="Wingdings"/>
              <a:buChar char=""/>
              <a:tabLst>
                <a:tab pos="1056005" algn="l"/>
              </a:tabLst>
            </a:pPr>
            <a:r>
              <a:rPr dirty="0" sz="2200" spc="-20" b="1">
                <a:solidFill>
                  <a:srgbClr val="9966FF"/>
                </a:solidFill>
                <a:latin typeface="宋体"/>
                <a:cs typeface="宋体"/>
              </a:rPr>
              <a:t>设这个上限为</a:t>
            </a:r>
            <a:r>
              <a:rPr dirty="0" sz="2200" spc="-10" b="1">
                <a:solidFill>
                  <a:srgbClr val="9933FF"/>
                </a:solidFill>
                <a:latin typeface="宋体"/>
                <a:cs typeface="宋体"/>
              </a:rPr>
              <a:t>n</a:t>
            </a:r>
            <a:r>
              <a:rPr dirty="0" sz="2200" spc="-20" b="1">
                <a:solidFill>
                  <a:srgbClr val="9966FF"/>
                </a:solidFill>
                <a:latin typeface="宋体"/>
                <a:cs typeface="宋体"/>
              </a:rPr>
              <a:t>，就称该处理机为</a:t>
            </a:r>
            <a:r>
              <a:rPr dirty="0" sz="2200" spc="-10" b="1">
                <a:solidFill>
                  <a:srgbClr val="FF0000"/>
                </a:solidFill>
                <a:latin typeface="宋体"/>
                <a:cs typeface="宋体"/>
              </a:rPr>
              <a:t>n</a:t>
            </a:r>
            <a:r>
              <a:rPr dirty="0" sz="2200" spc="-25" b="1">
                <a:solidFill>
                  <a:srgbClr val="FF0000"/>
                </a:solidFill>
                <a:latin typeface="宋体"/>
                <a:cs typeface="宋体"/>
              </a:rPr>
              <a:t>-流出。（缺点：结构决定了上限</a:t>
            </a:r>
            <a:r>
              <a:rPr dirty="0" sz="2200" spc="-50" b="1">
                <a:solidFill>
                  <a:srgbClr val="FF0000"/>
                </a:solidFill>
                <a:latin typeface="宋体"/>
                <a:cs typeface="宋体"/>
              </a:rPr>
              <a:t>）</a:t>
            </a:r>
            <a:endParaRPr sz="2200">
              <a:latin typeface="宋体"/>
              <a:cs typeface="宋体"/>
            </a:endParaRPr>
          </a:p>
          <a:p>
            <a:pPr lvl="2" marL="1056005" indent="-457200">
              <a:lnSpc>
                <a:spcPct val="100000"/>
              </a:lnSpc>
              <a:spcBef>
                <a:spcPts val="525"/>
              </a:spcBef>
              <a:buClr>
                <a:srgbClr val="4668F5"/>
              </a:buClr>
              <a:buSzPct val="68181"/>
              <a:buFont typeface="Wingdings"/>
              <a:buChar char=""/>
              <a:tabLst>
                <a:tab pos="1056005" algn="l"/>
              </a:tabLst>
            </a:pPr>
            <a:r>
              <a:rPr dirty="0" sz="2200" spc="-20" b="1">
                <a:solidFill>
                  <a:srgbClr val="9966FF"/>
                </a:solidFill>
                <a:latin typeface="宋体"/>
                <a:cs typeface="宋体"/>
              </a:rPr>
              <a:t>可以通过编译器进行静态调度，也可以基于</a:t>
            </a:r>
            <a:r>
              <a:rPr dirty="0" sz="2200" spc="-10" b="1">
                <a:solidFill>
                  <a:srgbClr val="9966FF"/>
                </a:solidFill>
                <a:latin typeface="宋体"/>
                <a:cs typeface="宋体"/>
              </a:rPr>
              <a:t>Tomasulo</a:t>
            </a:r>
            <a:r>
              <a:rPr dirty="0" sz="2200" spc="-30" b="1">
                <a:solidFill>
                  <a:srgbClr val="9966FF"/>
                </a:solidFill>
                <a:latin typeface="宋体"/>
                <a:cs typeface="宋体"/>
              </a:rPr>
              <a:t>算法进行动态调度。</a:t>
            </a:r>
            <a:endParaRPr sz="2200">
              <a:latin typeface="宋体"/>
              <a:cs typeface="宋体"/>
            </a:endParaRPr>
          </a:p>
          <a:p>
            <a:pPr marL="1056005">
              <a:lnSpc>
                <a:spcPct val="100000"/>
              </a:lnSpc>
            </a:pPr>
            <a:r>
              <a:rPr dirty="0" sz="2200" spc="-30" b="1">
                <a:solidFill>
                  <a:srgbClr val="FF0000"/>
                </a:solidFill>
                <a:latin typeface="宋体"/>
                <a:cs typeface="宋体"/>
              </a:rPr>
              <a:t>缺点：硬件结构很复杂</a:t>
            </a:r>
            <a:endParaRPr sz="2200">
              <a:latin typeface="宋体"/>
              <a:cs typeface="宋体"/>
            </a:endParaRPr>
          </a:p>
          <a:p>
            <a:pPr marL="840105" indent="-457200">
              <a:lnSpc>
                <a:spcPct val="100000"/>
              </a:lnSpc>
              <a:spcBef>
                <a:spcPts val="585"/>
              </a:spcBef>
              <a:buClr>
                <a:srgbClr val="40458B"/>
              </a:buClr>
              <a:buSzPct val="89583"/>
              <a:buFont typeface="Wingdings"/>
              <a:buChar char=""/>
              <a:tabLst>
                <a:tab pos="840105" algn="l"/>
                <a:tab pos="4040504" algn="l"/>
                <a:tab pos="4802505" algn="l"/>
                <a:tab pos="6631305" algn="l"/>
              </a:tabLst>
            </a:pPr>
            <a:r>
              <a:rPr dirty="0" sz="2400">
                <a:solidFill>
                  <a:srgbClr val="FF0000"/>
                </a:solidFill>
                <a:latin typeface="黑体"/>
                <a:cs typeface="黑体"/>
              </a:rPr>
              <a:t>超长指令字</a:t>
            </a:r>
            <a:r>
              <a:rPr dirty="0" sz="2400" spc="-10">
                <a:solidFill>
                  <a:srgbClr val="FF0000"/>
                </a:solidFill>
                <a:latin typeface="黑体"/>
                <a:cs typeface="黑体"/>
              </a:rPr>
              <a:t>VLIW</a:t>
            </a:r>
            <a:r>
              <a:rPr dirty="0" sz="2400" spc="-10">
                <a:solidFill>
                  <a:srgbClr val="9933FF"/>
                </a:solidFill>
                <a:latin typeface="黑体"/>
                <a:cs typeface="黑体"/>
              </a:rPr>
              <a:t>（Very</a:t>
            </a:r>
            <a:r>
              <a:rPr dirty="0" sz="2400">
                <a:solidFill>
                  <a:srgbClr val="9933FF"/>
                </a:solidFill>
                <a:latin typeface="黑体"/>
                <a:cs typeface="黑体"/>
              </a:rPr>
              <a:t>	</a:t>
            </a:r>
            <a:r>
              <a:rPr dirty="0" sz="2400" spc="-20">
                <a:solidFill>
                  <a:srgbClr val="9933FF"/>
                </a:solidFill>
                <a:latin typeface="黑体"/>
                <a:cs typeface="黑体"/>
              </a:rPr>
              <a:t>Long</a:t>
            </a:r>
            <a:r>
              <a:rPr dirty="0" sz="2400">
                <a:solidFill>
                  <a:srgbClr val="9933FF"/>
                </a:solidFill>
                <a:latin typeface="黑体"/>
                <a:cs typeface="黑体"/>
              </a:rPr>
              <a:t>	</a:t>
            </a:r>
            <a:r>
              <a:rPr dirty="0" sz="2400" spc="-10">
                <a:solidFill>
                  <a:srgbClr val="9933FF"/>
                </a:solidFill>
                <a:latin typeface="黑体"/>
                <a:cs typeface="黑体"/>
              </a:rPr>
              <a:t>Instruction</a:t>
            </a:r>
            <a:r>
              <a:rPr dirty="0" sz="2400">
                <a:solidFill>
                  <a:srgbClr val="9933FF"/>
                </a:solidFill>
                <a:latin typeface="黑体"/>
                <a:cs typeface="黑体"/>
              </a:rPr>
              <a:t>	</a:t>
            </a:r>
            <a:r>
              <a:rPr dirty="0" sz="2400" spc="-10">
                <a:solidFill>
                  <a:srgbClr val="9933FF"/>
                </a:solidFill>
                <a:latin typeface="黑体"/>
                <a:cs typeface="黑体"/>
              </a:rPr>
              <a:t>Word）</a:t>
            </a:r>
            <a:endParaRPr sz="2400">
              <a:latin typeface="黑体"/>
              <a:cs typeface="黑体"/>
            </a:endParaRPr>
          </a:p>
          <a:p>
            <a:pPr lvl="1" marL="1056005" indent="-457200">
              <a:lnSpc>
                <a:spcPct val="100000"/>
              </a:lnSpc>
              <a:spcBef>
                <a:spcPts val="450"/>
              </a:spcBef>
              <a:buClr>
                <a:srgbClr val="4668F5"/>
              </a:buClr>
              <a:buSzPct val="68181"/>
              <a:buFont typeface="Wingdings"/>
              <a:buChar char=""/>
              <a:tabLst>
                <a:tab pos="1056005" algn="l"/>
              </a:tabLst>
            </a:pPr>
            <a:r>
              <a:rPr dirty="0" sz="2200" spc="-20" b="1">
                <a:solidFill>
                  <a:srgbClr val="E14B04"/>
                </a:solidFill>
                <a:latin typeface="宋体"/>
                <a:cs typeface="宋体"/>
              </a:rPr>
              <a:t>是一条指令来实现多个操作的并行执行（通常只有一个控制器</a:t>
            </a:r>
            <a:r>
              <a:rPr dirty="0" sz="2200" spc="-50" b="1">
                <a:solidFill>
                  <a:srgbClr val="E14B04"/>
                </a:solidFill>
                <a:latin typeface="宋体"/>
                <a:cs typeface="宋体"/>
              </a:rPr>
              <a:t>）</a:t>
            </a:r>
            <a:endParaRPr sz="2200">
              <a:latin typeface="宋体"/>
              <a:cs typeface="宋体"/>
            </a:endParaRPr>
          </a:p>
          <a:p>
            <a:pPr lvl="1" marL="1056005" marR="12700" indent="-457200">
              <a:lnSpc>
                <a:spcPts val="2570"/>
              </a:lnSpc>
              <a:spcBef>
                <a:spcPts val="745"/>
              </a:spcBef>
              <a:buClr>
                <a:srgbClr val="4668F5"/>
              </a:buClr>
              <a:buSzPct val="68181"/>
              <a:buFont typeface="Wingdings"/>
              <a:buChar char=""/>
              <a:tabLst>
                <a:tab pos="1056005" algn="l"/>
              </a:tabLst>
            </a:pPr>
            <a:r>
              <a:rPr dirty="0" sz="2200" spc="-20" b="1">
                <a:solidFill>
                  <a:srgbClr val="9966FF"/>
                </a:solidFill>
                <a:latin typeface="宋体"/>
                <a:cs typeface="宋体"/>
              </a:rPr>
              <a:t>在每个时钟周期流出的指令条数是</a:t>
            </a:r>
            <a:r>
              <a:rPr dirty="0" sz="2200" spc="-20" b="1">
                <a:solidFill>
                  <a:srgbClr val="D50092"/>
                </a:solidFill>
                <a:latin typeface="宋体"/>
                <a:cs typeface="宋体"/>
              </a:rPr>
              <a:t>固定的</a:t>
            </a:r>
            <a:r>
              <a:rPr dirty="0" sz="2200" spc="-30" b="1">
                <a:solidFill>
                  <a:srgbClr val="9966FF"/>
                </a:solidFill>
                <a:latin typeface="宋体"/>
                <a:cs typeface="宋体"/>
              </a:rPr>
              <a:t>，这些指令构成一条长指令或者</a:t>
            </a:r>
            <a:r>
              <a:rPr dirty="0" sz="2200" spc="-25" b="1">
                <a:solidFill>
                  <a:srgbClr val="9966FF"/>
                </a:solidFill>
                <a:latin typeface="宋体"/>
                <a:cs typeface="宋体"/>
              </a:rPr>
              <a:t>一个指令包。</a:t>
            </a:r>
            <a:endParaRPr sz="2200">
              <a:latin typeface="宋体"/>
              <a:cs typeface="宋体"/>
            </a:endParaRPr>
          </a:p>
          <a:p>
            <a:pPr lvl="1" marL="1056005" indent="-457200">
              <a:lnSpc>
                <a:spcPct val="100000"/>
              </a:lnSpc>
              <a:spcBef>
                <a:spcPts val="455"/>
              </a:spcBef>
              <a:buClr>
                <a:srgbClr val="4668F5"/>
              </a:buClr>
              <a:buSzPct val="68181"/>
              <a:buFont typeface="Wingdings"/>
              <a:buChar char=""/>
              <a:tabLst>
                <a:tab pos="1056005" algn="l"/>
              </a:tabLst>
            </a:pPr>
            <a:r>
              <a:rPr dirty="0" sz="2200" spc="-25" b="1">
                <a:solidFill>
                  <a:srgbClr val="9966FF"/>
                </a:solidFill>
                <a:latin typeface="宋体"/>
                <a:cs typeface="宋体"/>
              </a:rPr>
              <a:t>指令包中，指令之间的并行性是通过指令显式地表示出来的。</a:t>
            </a:r>
            <a:endParaRPr sz="2200">
              <a:latin typeface="宋体"/>
              <a:cs typeface="宋体"/>
            </a:endParaRPr>
          </a:p>
          <a:p>
            <a:pPr lvl="1" marL="1056005" indent="-457200">
              <a:lnSpc>
                <a:spcPct val="100000"/>
              </a:lnSpc>
              <a:spcBef>
                <a:spcPts val="525"/>
              </a:spcBef>
              <a:buClr>
                <a:srgbClr val="4668F5"/>
              </a:buClr>
              <a:buSzPct val="68181"/>
              <a:buFont typeface="Wingdings"/>
              <a:buChar char=""/>
              <a:tabLst>
                <a:tab pos="1056005" algn="l"/>
              </a:tabLst>
            </a:pPr>
            <a:r>
              <a:rPr dirty="0" sz="2200" spc="-25" b="1">
                <a:solidFill>
                  <a:srgbClr val="9966FF"/>
                </a:solidFill>
                <a:latin typeface="宋体"/>
                <a:cs typeface="宋体"/>
              </a:rPr>
              <a:t>指令调度是由编译器静态完成的。</a:t>
            </a:r>
            <a:endParaRPr sz="2200">
              <a:latin typeface="宋体"/>
              <a:cs typeface="宋体"/>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159/175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78739" y="1063912"/>
            <a:ext cx="12065000" cy="5213985"/>
          </a:xfrm>
          <a:prstGeom prst="rect">
            <a:avLst/>
          </a:prstGeom>
        </p:spPr>
        <p:txBody>
          <a:bodyPr wrap="square" lIns="0" tIns="121920" rIns="0" bIns="0" rtlCol="0" vert="horz">
            <a:spAutoFit/>
          </a:bodyPr>
          <a:lstStyle/>
          <a:p>
            <a:pPr marL="469265" indent="-456565">
              <a:lnSpc>
                <a:spcPct val="100000"/>
              </a:lnSpc>
              <a:spcBef>
                <a:spcPts val="960"/>
              </a:spcBef>
              <a:buClr>
                <a:srgbClr val="40458B"/>
              </a:buClr>
              <a:buAutoNum type="arabicPeriod" startAt="2"/>
              <a:tabLst>
                <a:tab pos="469265" algn="l"/>
              </a:tabLst>
            </a:pPr>
            <a:r>
              <a:rPr dirty="0" sz="2400">
                <a:solidFill>
                  <a:srgbClr val="001F5F"/>
                </a:solidFill>
                <a:latin typeface="黑体"/>
                <a:cs typeface="黑体"/>
              </a:rPr>
              <a:t>超标量处理机与VLIW处理机相比有</a:t>
            </a:r>
            <a:r>
              <a:rPr dirty="0" sz="2400" spc="-10">
                <a:solidFill>
                  <a:srgbClr val="D50092"/>
                </a:solidFill>
                <a:latin typeface="黑体"/>
                <a:cs typeface="黑体"/>
              </a:rPr>
              <a:t>两个优点：</a:t>
            </a:r>
            <a:endParaRPr sz="2400">
              <a:latin typeface="黑体"/>
              <a:cs typeface="黑体"/>
            </a:endParaRPr>
          </a:p>
          <a:p>
            <a:pPr lvl="1" marL="1099185" indent="-457200">
              <a:lnSpc>
                <a:spcPct val="100000"/>
              </a:lnSpc>
              <a:spcBef>
                <a:spcPts val="865"/>
              </a:spcBef>
              <a:buSzPct val="89583"/>
              <a:buFont typeface="Wingdings"/>
              <a:buChar char=""/>
              <a:tabLst>
                <a:tab pos="1099185" algn="l"/>
              </a:tabLst>
            </a:pPr>
            <a:r>
              <a:rPr dirty="0" sz="2400" spc="-15">
                <a:solidFill>
                  <a:srgbClr val="40458B"/>
                </a:solidFill>
                <a:latin typeface="黑体"/>
                <a:cs typeface="黑体"/>
              </a:rPr>
              <a:t>超标量结构对程序员是透明的，处理机能自己检测下一条指令能否流出，不需</a:t>
            </a:r>
            <a:endParaRPr sz="2400">
              <a:latin typeface="黑体"/>
              <a:cs typeface="黑体"/>
            </a:endParaRPr>
          </a:p>
          <a:p>
            <a:pPr marL="1099185">
              <a:lnSpc>
                <a:spcPct val="100000"/>
              </a:lnSpc>
              <a:spcBef>
                <a:spcPts val="290"/>
              </a:spcBef>
            </a:pPr>
            <a:r>
              <a:rPr dirty="0" sz="2400" spc="-5">
                <a:solidFill>
                  <a:srgbClr val="40458B"/>
                </a:solidFill>
                <a:latin typeface="黑体"/>
                <a:cs typeface="黑体"/>
              </a:rPr>
              <a:t>要由编译器或专门的变换程序对程序中的指令进行重新排列；</a:t>
            </a:r>
            <a:endParaRPr sz="2400">
              <a:latin typeface="黑体"/>
              <a:cs typeface="黑体"/>
            </a:endParaRPr>
          </a:p>
          <a:p>
            <a:pPr lvl="1" marL="1099185" marR="594360" indent="-457834">
              <a:lnSpc>
                <a:spcPct val="110000"/>
              </a:lnSpc>
              <a:spcBef>
                <a:spcPts val="575"/>
              </a:spcBef>
              <a:buSzPct val="89583"/>
              <a:buFont typeface="Wingdings"/>
              <a:buChar char=""/>
              <a:tabLst>
                <a:tab pos="1099185" algn="l"/>
              </a:tabLst>
            </a:pPr>
            <a:r>
              <a:rPr dirty="0" sz="2400" spc="-5">
                <a:solidFill>
                  <a:srgbClr val="40458B"/>
                </a:solidFill>
                <a:latin typeface="黑体"/>
                <a:cs typeface="黑体"/>
              </a:rPr>
              <a:t>上述意味着即使是没有经过编译器针对超标量结构进行调度优化的代码或是旧</a:t>
            </a:r>
            <a:r>
              <a:rPr dirty="0" sz="2400" spc="-15">
                <a:solidFill>
                  <a:srgbClr val="40458B"/>
                </a:solidFill>
                <a:latin typeface="黑体"/>
                <a:cs typeface="黑体"/>
              </a:rPr>
              <a:t>的编译器生成的代码也可以在超标量处理器运行，当然运行的效果不会很好。</a:t>
            </a:r>
            <a:endParaRPr sz="2400">
              <a:latin typeface="黑体"/>
              <a:cs typeface="黑体"/>
            </a:endParaRPr>
          </a:p>
          <a:p>
            <a:pPr algn="just" marL="1056005" marR="6790055" indent="-457200">
              <a:lnSpc>
                <a:spcPct val="130000"/>
              </a:lnSpc>
              <a:spcBef>
                <a:spcPts val="35"/>
              </a:spcBef>
              <a:buClr>
                <a:srgbClr val="4668F5"/>
              </a:buClr>
              <a:buSzPct val="68181"/>
              <a:buFont typeface="Wingdings"/>
              <a:buChar char=""/>
              <a:tabLst>
                <a:tab pos="1590040" algn="l"/>
              </a:tabLst>
            </a:pPr>
            <a:r>
              <a:rPr dirty="0" sz="2200" spc="-25" b="1">
                <a:solidFill>
                  <a:srgbClr val="9966FF"/>
                </a:solidFill>
                <a:latin typeface="宋体"/>
                <a:cs typeface="宋体"/>
              </a:rPr>
              <a:t>要想达到很好的效果，方法之一：</a:t>
            </a:r>
            <a:r>
              <a:rPr dirty="0" sz="2200" spc="-25" b="1">
                <a:solidFill>
                  <a:srgbClr val="9966FF"/>
                </a:solidFill>
                <a:latin typeface="宋体"/>
                <a:cs typeface="宋体"/>
              </a:rPr>
              <a:t>	</a:t>
            </a:r>
            <a:r>
              <a:rPr dirty="0" sz="2200" spc="-25" b="1">
                <a:solidFill>
                  <a:srgbClr val="0000CC"/>
                </a:solidFill>
                <a:latin typeface="宋体"/>
                <a:cs typeface="宋体"/>
              </a:rPr>
              <a:t>使用动态超标量调度技术。</a:t>
            </a:r>
            <a:endParaRPr sz="2200">
              <a:latin typeface="宋体"/>
              <a:cs typeface="宋体"/>
            </a:endParaRPr>
          </a:p>
          <a:p>
            <a:pPr algn="just" marL="1056640" marR="412750" indent="-457200">
              <a:lnSpc>
                <a:spcPct val="110100"/>
              </a:lnSpc>
              <a:spcBef>
                <a:spcPts val="525"/>
              </a:spcBef>
              <a:buClr>
                <a:srgbClr val="4668F5"/>
              </a:buClr>
              <a:buSzPct val="68181"/>
              <a:buFont typeface="Wingdings"/>
              <a:buChar char=""/>
              <a:tabLst>
                <a:tab pos="1056640" algn="l"/>
              </a:tabLst>
            </a:pPr>
            <a:r>
              <a:rPr dirty="0" sz="2200" spc="-25" b="1">
                <a:solidFill>
                  <a:srgbClr val="0000CC"/>
                </a:solidFill>
                <a:latin typeface="宋体"/>
                <a:cs typeface="宋体"/>
              </a:rPr>
              <a:t>相比之下，</a:t>
            </a:r>
            <a:r>
              <a:rPr dirty="0" sz="2200" spc="-30" b="1">
                <a:solidFill>
                  <a:srgbClr val="0000CC"/>
                </a:solidFill>
                <a:latin typeface="Tahoma"/>
                <a:cs typeface="Tahoma"/>
              </a:rPr>
              <a:t>VLIW</a:t>
            </a:r>
            <a:r>
              <a:rPr dirty="0" sz="2200" spc="-30" b="1">
                <a:solidFill>
                  <a:srgbClr val="0000CC"/>
                </a:solidFill>
                <a:latin typeface="宋体"/>
                <a:cs typeface="宋体"/>
              </a:rPr>
              <a:t>处理器要求编译器在编译时就显式地处理指令间的并行性，这意味着</a:t>
            </a:r>
            <a:r>
              <a:rPr dirty="0" sz="2200" spc="-20" b="1">
                <a:solidFill>
                  <a:srgbClr val="0000CC"/>
                </a:solidFill>
                <a:latin typeface="宋体"/>
                <a:cs typeface="宋体"/>
              </a:rPr>
              <a:t>针对</a:t>
            </a:r>
            <a:r>
              <a:rPr dirty="0" sz="2200" spc="-30" b="1">
                <a:solidFill>
                  <a:srgbClr val="0000CC"/>
                </a:solidFill>
                <a:latin typeface="Tahoma"/>
                <a:cs typeface="Tahoma"/>
              </a:rPr>
              <a:t>VLIW</a:t>
            </a:r>
            <a:r>
              <a:rPr dirty="0" sz="2200" spc="-30" b="1">
                <a:solidFill>
                  <a:srgbClr val="0000CC"/>
                </a:solidFill>
                <a:latin typeface="宋体"/>
                <a:cs typeface="宋体"/>
              </a:rPr>
              <a:t>优化的代码可以充分利用处理器的并行能力，但同时也意味着需要专门的编译器支持</a:t>
            </a:r>
            <a:endParaRPr sz="2200">
              <a:latin typeface="宋体"/>
              <a:cs typeface="宋体"/>
            </a:endParaRPr>
          </a:p>
          <a:p>
            <a:pPr>
              <a:lnSpc>
                <a:spcPct val="100000"/>
              </a:lnSpc>
              <a:spcBef>
                <a:spcPts val="1405"/>
              </a:spcBef>
            </a:pPr>
            <a:endParaRPr sz="2200">
              <a:latin typeface="宋体"/>
              <a:cs typeface="宋体"/>
            </a:endParaRPr>
          </a:p>
          <a:p>
            <a:pPr marL="12700">
              <a:lnSpc>
                <a:spcPct val="100000"/>
              </a:lnSpc>
              <a:tabLst>
                <a:tab pos="469265" algn="l"/>
              </a:tabLst>
            </a:pPr>
            <a:r>
              <a:rPr dirty="0" sz="2400" spc="-25">
                <a:solidFill>
                  <a:srgbClr val="40458B"/>
                </a:solidFill>
                <a:latin typeface="Tahoma"/>
                <a:cs typeface="Tahoma"/>
              </a:rPr>
              <a:t>3.</a:t>
            </a:r>
            <a:r>
              <a:rPr dirty="0" sz="2400">
                <a:solidFill>
                  <a:srgbClr val="40458B"/>
                </a:solidFill>
                <a:latin typeface="Tahoma"/>
                <a:cs typeface="Tahoma"/>
              </a:rPr>
              <a:t>	</a:t>
            </a:r>
            <a:r>
              <a:rPr dirty="0" sz="2400" spc="-5">
                <a:solidFill>
                  <a:srgbClr val="001F5F"/>
                </a:solidFill>
                <a:latin typeface="黑体"/>
                <a:cs typeface="黑体"/>
              </a:rPr>
              <a:t>下表列出了一些基本的多流出技术、这些技术的特点以及采用这些技术的处理机实例。</a:t>
            </a:r>
            <a:endParaRPr sz="2400">
              <a:latin typeface="黑体"/>
              <a:cs typeface="黑体"/>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978088" y="411162"/>
          <a:ext cx="8385175" cy="5819140"/>
        </p:xfrm>
        <a:graphic>
          <a:graphicData uri="http://schemas.openxmlformats.org/drawingml/2006/table">
            <a:tbl>
              <a:tblPr firstRow="1" bandRow="1">
                <a:tableStyleId>{2D5ABB26-0587-4C30-8999-92F81FD0307C}</a:tableStyleId>
              </a:tblPr>
              <a:tblGrid>
                <a:gridCol w="1223645"/>
                <a:gridCol w="1007744"/>
                <a:gridCol w="1007744"/>
                <a:gridCol w="1007744"/>
                <a:gridCol w="1799589"/>
                <a:gridCol w="2231390"/>
              </a:tblGrid>
              <a:tr h="700405">
                <a:tc>
                  <a:txBody>
                    <a:bodyPr/>
                    <a:lstStyle/>
                    <a:p>
                      <a:pPr algn="ctr">
                        <a:lnSpc>
                          <a:spcPct val="100000"/>
                        </a:lnSpc>
                        <a:spcBef>
                          <a:spcPts val="880"/>
                        </a:spcBef>
                      </a:pPr>
                      <a:r>
                        <a:rPr dirty="0" sz="2000" spc="-20" b="1">
                          <a:solidFill>
                            <a:srgbClr val="E14B04"/>
                          </a:solidFill>
                          <a:latin typeface="宋体"/>
                          <a:cs typeface="宋体"/>
                        </a:rPr>
                        <a:t>技 术</a:t>
                      </a:r>
                      <a:endParaRPr sz="2000">
                        <a:latin typeface="宋体"/>
                        <a:cs typeface="宋体"/>
                      </a:endParaRPr>
                    </a:p>
                  </a:txBody>
                  <a:tcPr marL="0" marR="0" marB="0" marT="11176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247650">
                        <a:lnSpc>
                          <a:spcPct val="100000"/>
                        </a:lnSpc>
                        <a:spcBef>
                          <a:spcPts val="180"/>
                        </a:spcBef>
                      </a:pPr>
                      <a:r>
                        <a:rPr dirty="0" sz="2000" spc="-35" b="1">
                          <a:solidFill>
                            <a:srgbClr val="E14B04"/>
                          </a:solidFill>
                          <a:latin typeface="宋体"/>
                          <a:cs typeface="宋体"/>
                        </a:rPr>
                        <a:t>流出</a:t>
                      </a:r>
                      <a:endParaRPr sz="2000">
                        <a:latin typeface="宋体"/>
                        <a:cs typeface="宋体"/>
                      </a:endParaRPr>
                    </a:p>
                    <a:p>
                      <a:pPr marL="247650">
                        <a:lnSpc>
                          <a:spcPct val="100000"/>
                        </a:lnSpc>
                        <a:spcBef>
                          <a:spcPts val="245"/>
                        </a:spcBef>
                      </a:pPr>
                      <a:r>
                        <a:rPr dirty="0" sz="2000" spc="-30" b="1">
                          <a:solidFill>
                            <a:srgbClr val="E14B04"/>
                          </a:solidFill>
                          <a:latin typeface="宋体"/>
                          <a:cs typeface="宋体"/>
                        </a:rPr>
                        <a:t>结构</a:t>
                      </a:r>
                      <a:endParaRPr sz="2000">
                        <a:latin typeface="宋体"/>
                        <a:cs typeface="宋体"/>
                      </a:endParaRPr>
                    </a:p>
                  </a:txBody>
                  <a:tcPr marL="0" marR="0" marB="0" marT="2286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247650">
                        <a:lnSpc>
                          <a:spcPct val="100000"/>
                        </a:lnSpc>
                        <a:spcBef>
                          <a:spcPts val="180"/>
                        </a:spcBef>
                      </a:pPr>
                      <a:r>
                        <a:rPr dirty="0" sz="2000" spc="-30" b="1">
                          <a:solidFill>
                            <a:srgbClr val="E14B04"/>
                          </a:solidFill>
                          <a:latin typeface="宋体"/>
                          <a:cs typeface="宋体"/>
                        </a:rPr>
                        <a:t>冲突</a:t>
                      </a:r>
                      <a:endParaRPr sz="2000">
                        <a:latin typeface="宋体"/>
                        <a:cs typeface="宋体"/>
                      </a:endParaRPr>
                    </a:p>
                    <a:p>
                      <a:pPr marL="247650">
                        <a:lnSpc>
                          <a:spcPct val="100000"/>
                        </a:lnSpc>
                        <a:spcBef>
                          <a:spcPts val="245"/>
                        </a:spcBef>
                      </a:pPr>
                      <a:r>
                        <a:rPr dirty="0" sz="2000" spc="-30" b="1">
                          <a:solidFill>
                            <a:srgbClr val="E14B04"/>
                          </a:solidFill>
                          <a:latin typeface="宋体"/>
                          <a:cs typeface="宋体"/>
                        </a:rPr>
                        <a:t>检测</a:t>
                      </a:r>
                      <a:endParaRPr sz="2000">
                        <a:latin typeface="宋体"/>
                        <a:cs typeface="宋体"/>
                      </a:endParaRPr>
                    </a:p>
                  </a:txBody>
                  <a:tcPr marL="0" marR="0" marB="0" marT="2286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880"/>
                        </a:spcBef>
                      </a:pPr>
                      <a:r>
                        <a:rPr dirty="0" sz="2000" spc="-25" b="1">
                          <a:solidFill>
                            <a:srgbClr val="E14B04"/>
                          </a:solidFill>
                          <a:latin typeface="宋体"/>
                          <a:cs typeface="宋体"/>
                        </a:rPr>
                        <a:t>调 度</a:t>
                      </a:r>
                      <a:endParaRPr sz="2000">
                        <a:latin typeface="宋体"/>
                        <a:cs typeface="宋体"/>
                      </a:endParaRPr>
                    </a:p>
                  </a:txBody>
                  <a:tcPr marL="0" marR="0" marB="0" marT="11176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388620">
                        <a:lnSpc>
                          <a:spcPct val="100000"/>
                        </a:lnSpc>
                        <a:spcBef>
                          <a:spcPts val="880"/>
                        </a:spcBef>
                      </a:pPr>
                      <a:r>
                        <a:rPr dirty="0" sz="2000" spc="-25" b="1">
                          <a:solidFill>
                            <a:srgbClr val="E14B04"/>
                          </a:solidFill>
                          <a:latin typeface="宋体"/>
                          <a:cs typeface="宋体"/>
                        </a:rPr>
                        <a:t>主要特点</a:t>
                      </a:r>
                      <a:endParaRPr sz="2000">
                        <a:latin typeface="宋体"/>
                        <a:cs typeface="宋体"/>
                      </a:endParaRPr>
                    </a:p>
                  </a:txBody>
                  <a:tcPr marL="0" marR="0" marB="0" marT="11176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476884">
                        <a:lnSpc>
                          <a:spcPct val="100000"/>
                        </a:lnSpc>
                        <a:spcBef>
                          <a:spcPts val="1060"/>
                        </a:spcBef>
                      </a:pPr>
                      <a:r>
                        <a:rPr dirty="0" sz="2000" spc="-25" b="1">
                          <a:solidFill>
                            <a:srgbClr val="E14B04"/>
                          </a:solidFill>
                          <a:latin typeface="宋体"/>
                          <a:cs typeface="宋体"/>
                        </a:rPr>
                        <a:t>处理机实例</a:t>
                      </a:r>
                      <a:endParaRPr sz="2000">
                        <a:latin typeface="宋体"/>
                        <a:cs typeface="宋体"/>
                      </a:endParaRPr>
                    </a:p>
                  </a:txBody>
                  <a:tcPr marL="0" marR="0" marB="0" marT="13462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761365">
                <a:tc>
                  <a:txBody>
                    <a:bodyPr/>
                    <a:lstStyle/>
                    <a:p>
                      <a:pPr algn="ctr">
                        <a:lnSpc>
                          <a:spcPct val="100000"/>
                        </a:lnSpc>
                        <a:spcBef>
                          <a:spcPts val="425"/>
                        </a:spcBef>
                      </a:pPr>
                      <a:r>
                        <a:rPr dirty="0" sz="2000" spc="-25" b="1">
                          <a:solidFill>
                            <a:srgbClr val="008000"/>
                          </a:solidFill>
                          <a:latin typeface="宋体"/>
                          <a:cs typeface="宋体"/>
                        </a:rPr>
                        <a:t>超标量</a:t>
                      </a:r>
                      <a:endParaRPr sz="2000">
                        <a:latin typeface="宋体"/>
                        <a:cs typeface="宋体"/>
                      </a:endParaRPr>
                    </a:p>
                    <a:p>
                      <a:pPr algn="ctr">
                        <a:lnSpc>
                          <a:spcPct val="100000"/>
                        </a:lnSpc>
                        <a:spcBef>
                          <a:spcPts val="480"/>
                        </a:spcBef>
                      </a:pPr>
                      <a:r>
                        <a:rPr dirty="0" sz="2000" spc="-10" b="1">
                          <a:solidFill>
                            <a:srgbClr val="008000"/>
                          </a:solidFill>
                          <a:latin typeface="宋体"/>
                          <a:cs typeface="宋体"/>
                        </a:rPr>
                        <a:t>（静态</a:t>
                      </a:r>
                      <a:r>
                        <a:rPr dirty="0" sz="2000" spc="-50" b="1">
                          <a:solidFill>
                            <a:srgbClr val="008000"/>
                          </a:solidFill>
                          <a:latin typeface="宋体"/>
                          <a:cs typeface="宋体"/>
                        </a:rPr>
                        <a:t>）</a:t>
                      </a:r>
                      <a:endParaRPr sz="2000">
                        <a:latin typeface="宋体"/>
                        <a:cs typeface="宋体"/>
                      </a:endParaRPr>
                    </a:p>
                  </a:txBody>
                  <a:tcPr marL="0" marR="0" marB="0" marT="539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420"/>
                        </a:spcBef>
                      </a:pPr>
                      <a:r>
                        <a:rPr dirty="0" sz="2000" spc="-30" b="1">
                          <a:solidFill>
                            <a:srgbClr val="40458B"/>
                          </a:solidFill>
                          <a:latin typeface="宋体"/>
                          <a:cs typeface="宋体"/>
                        </a:rPr>
                        <a:t>动态</a:t>
                      </a:r>
                      <a:endParaRPr sz="2000">
                        <a:latin typeface="宋体"/>
                        <a:cs typeface="宋体"/>
                      </a:endParaRPr>
                    </a:p>
                  </a:txBody>
                  <a:tcPr marL="0" marR="0" marB="0" marT="1803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420"/>
                        </a:spcBef>
                      </a:pPr>
                      <a:r>
                        <a:rPr dirty="0" sz="2000" spc="-30" b="1">
                          <a:solidFill>
                            <a:srgbClr val="40458B"/>
                          </a:solidFill>
                          <a:latin typeface="宋体"/>
                          <a:cs typeface="宋体"/>
                        </a:rPr>
                        <a:t>硬件</a:t>
                      </a:r>
                      <a:endParaRPr sz="2000">
                        <a:latin typeface="宋体"/>
                        <a:cs typeface="宋体"/>
                      </a:endParaRPr>
                    </a:p>
                  </a:txBody>
                  <a:tcPr marL="0" marR="0" marB="0" marT="1803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420"/>
                        </a:spcBef>
                      </a:pPr>
                      <a:r>
                        <a:rPr dirty="0" sz="2000" spc="-30" b="1">
                          <a:solidFill>
                            <a:srgbClr val="40458B"/>
                          </a:solidFill>
                          <a:latin typeface="宋体"/>
                          <a:cs typeface="宋体"/>
                        </a:rPr>
                        <a:t>静态</a:t>
                      </a:r>
                      <a:endParaRPr sz="2000">
                        <a:latin typeface="宋体"/>
                        <a:cs typeface="宋体"/>
                      </a:endParaRPr>
                    </a:p>
                  </a:txBody>
                  <a:tcPr marL="0" marR="0" marB="0" marT="1803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1420"/>
                        </a:spcBef>
                      </a:pPr>
                      <a:r>
                        <a:rPr dirty="0" sz="2000" spc="-20" b="1">
                          <a:solidFill>
                            <a:srgbClr val="40458B"/>
                          </a:solidFill>
                          <a:latin typeface="宋体"/>
                          <a:cs typeface="宋体"/>
                        </a:rPr>
                        <a:t>按序执行</a:t>
                      </a:r>
                      <a:endParaRPr sz="2000">
                        <a:latin typeface="宋体"/>
                        <a:cs typeface="宋体"/>
                      </a:endParaRPr>
                    </a:p>
                  </a:txBody>
                  <a:tcPr marL="0" marR="0" marB="0" marT="1803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55"/>
                        </a:spcBef>
                      </a:pPr>
                      <a:r>
                        <a:rPr dirty="0" sz="2000" spc="-25">
                          <a:solidFill>
                            <a:srgbClr val="40458B"/>
                          </a:solidFill>
                          <a:latin typeface="Tahoma"/>
                          <a:cs typeface="Tahoma"/>
                        </a:rPr>
                        <a:t>Sun</a:t>
                      </a:r>
                      <a:endParaRPr sz="2000">
                        <a:latin typeface="Tahoma"/>
                        <a:cs typeface="Tahoma"/>
                      </a:endParaRPr>
                    </a:p>
                    <a:p>
                      <a:pPr marL="92075">
                        <a:lnSpc>
                          <a:spcPct val="100000"/>
                        </a:lnSpc>
                      </a:pPr>
                      <a:r>
                        <a:rPr dirty="0" sz="2000" spc="-10">
                          <a:solidFill>
                            <a:srgbClr val="40458B"/>
                          </a:solidFill>
                          <a:latin typeface="Tahoma"/>
                          <a:cs typeface="Tahoma"/>
                        </a:rPr>
                        <a:t>UltraSPARCⅡ/Ⅲ</a:t>
                      </a:r>
                      <a:endParaRPr sz="2000">
                        <a:latin typeface="Tahoma"/>
                        <a:cs typeface="Tahoma"/>
                      </a:endParaRPr>
                    </a:p>
                  </a:txBody>
                  <a:tcPr marL="0" marR="0" marB="0" marT="4508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762000">
                <a:tc>
                  <a:txBody>
                    <a:bodyPr/>
                    <a:lstStyle/>
                    <a:p>
                      <a:pPr algn="ctr">
                        <a:lnSpc>
                          <a:spcPct val="100000"/>
                        </a:lnSpc>
                        <a:spcBef>
                          <a:spcPts val="425"/>
                        </a:spcBef>
                      </a:pPr>
                      <a:r>
                        <a:rPr dirty="0" sz="2000" spc="-25" b="1">
                          <a:solidFill>
                            <a:srgbClr val="008000"/>
                          </a:solidFill>
                          <a:latin typeface="宋体"/>
                          <a:cs typeface="宋体"/>
                        </a:rPr>
                        <a:t>超标量</a:t>
                      </a:r>
                      <a:endParaRPr sz="2000">
                        <a:latin typeface="宋体"/>
                        <a:cs typeface="宋体"/>
                      </a:endParaRPr>
                    </a:p>
                    <a:p>
                      <a:pPr algn="ctr">
                        <a:lnSpc>
                          <a:spcPct val="100000"/>
                        </a:lnSpc>
                        <a:spcBef>
                          <a:spcPts val="480"/>
                        </a:spcBef>
                      </a:pPr>
                      <a:r>
                        <a:rPr dirty="0" sz="2000" spc="-15" b="1">
                          <a:solidFill>
                            <a:srgbClr val="008000"/>
                          </a:solidFill>
                          <a:latin typeface="宋体"/>
                          <a:cs typeface="宋体"/>
                        </a:rPr>
                        <a:t>（动态</a:t>
                      </a:r>
                      <a:r>
                        <a:rPr dirty="0" sz="2000" spc="-50" b="1">
                          <a:solidFill>
                            <a:srgbClr val="008000"/>
                          </a:solidFill>
                          <a:latin typeface="宋体"/>
                          <a:cs typeface="宋体"/>
                        </a:rPr>
                        <a:t>）</a:t>
                      </a:r>
                      <a:endParaRPr sz="2000">
                        <a:latin typeface="宋体"/>
                        <a:cs typeface="宋体"/>
                      </a:endParaRPr>
                    </a:p>
                  </a:txBody>
                  <a:tcPr marL="0" marR="0" marB="0" marT="539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420"/>
                        </a:spcBef>
                      </a:pPr>
                      <a:r>
                        <a:rPr dirty="0" sz="2000" spc="-30" b="1">
                          <a:solidFill>
                            <a:srgbClr val="40458B"/>
                          </a:solidFill>
                          <a:latin typeface="宋体"/>
                          <a:cs typeface="宋体"/>
                        </a:rPr>
                        <a:t>动态</a:t>
                      </a:r>
                      <a:endParaRPr sz="2000">
                        <a:latin typeface="宋体"/>
                        <a:cs typeface="宋体"/>
                      </a:endParaRPr>
                    </a:p>
                  </a:txBody>
                  <a:tcPr marL="0" marR="0" marB="0" marT="1803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420"/>
                        </a:spcBef>
                      </a:pPr>
                      <a:r>
                        <a:rPr dirty="0" sz="2000" spc="-30" b="1">
                          <a:solidFill>
                            <a:srgbClr val="40458B"/>
                          </a:solidFill>
                          <a:latin typeface="宋体"/>
                          <a:cs typeface="宋体"/>
                        </a:rPr>
                        <a:t>硬件</a:t>
                      </a:r>
                      <a:endParaRPr sz="2000">
                        <a:latin typeface="宋体"/>
                        <a:cs typeface="宋体"/>
                      </a:endParaRPr>
                    </a:p>
                  </a:txBody>
                  <a:tcPr marL="0" marR="0" marB="0" marT="1803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420"/>
                        </a:spcBef>
                      </a:pPr>
                      <a:r>
                        <a:rPr dirty="0" sz="2000" spc="-30" b="1">
                          <a:solidFill>
                            <a:srgbClr val="40458B"/>
                          </a:solidFill>
                          <a:latin typeface="宋体"/>
                          <a:cs typeface="宋体"/>
                        </a:rPr>
                        <a:t>动态</a:t>
                      </a:r>
                      <a:endParaRPr sz="2000">
                        <a:latin typeface="宋体"/>
                        <a:cs typeface="宋体"/>
                      </a:endParaRPr>
                    </a:p>
                  </a:txBody>
                  <a:tcPr marL="0" marR="0" marB="0" marT="1803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1420"/>
                        </a:spcBef>
                      </a:pPr>
                      <a:r>
                        <a:rPr dirty="0" sz="2000" spc="-20" b="1">
                          <a:solidFill>
                            <a:srgbClr val="40458B"/>
                          </a:solidFill>
                          <a:latin typeface="宋体"/>
                          <a:cs typeface="宋体"/>
                        </a:rPr>
                        <a:t>部分乱序执行</a:t>
                      </a:r>
                      <a:endParaRPr sz="2000">
                        <a:latin typeface="宋体"/>
                        <a:cs typeface="宋体"/>
                      </a:endParaRPr>
                    </a:p>
                  </a:txBody>
                  <a:tcPr marL="0" marR="0" marB="0" marT="1803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1420"/>
                        </a:spcBef>
                      </a:pPr>
                      <a:r>
                        <a:rPr dirty="0" sz="2000">
                          <a:solidFill>
                            <a:srgbClr val="40458B"/>
                          </a:solidFill>
                          <a:latin typeface="Tahoma"/>
                          <a:cs typeface="Tahoma"/>
                        </a:rPr>
                        <a:t>IBM</a:t>
                      </a:r>
                      <a:r>
                        <a:rPr dirty="0" sz="2000" spc="-15">
                          <a:solidFill>
                            <a:srgbClr val="40458B"/>
                          </a:solidFill>
                          <a:latin typeface="Tahoma"/>
                          <a:cs typeface="Tahoma"/>
                        </a:rPr>
                        <a:t> </a:t>
                      </a:r>
                      <a:r>
                        <a:rPr dirty="0" sz="2000" spc="-10">
                          <a:solidFill>
                            <a:srgbClr val="40458B"/>
                          </a:solidFill>
                          <a:latin typeface="Tahoma"/>
                          <a:cs typeface="Tahoma"/>
                        </a:rPr>
                        <a:t>Power2</a:t>
                      </a:r>
                      <a:endParaRPr sz="2000">
                        <a:latin typeface="Tahoma"/>
                        <a:cs typeface="Tahoma"/>
                      </a:endParaRPr>
                    </a:p>
                  </a:txBody>
                  <a:tcPr marL="0" marR="0" marB="0" marT="18034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1859280">
                <a:tc>
                  <a:txBody>
                    <a:bodyPr/>
                    <a:lstStyle/>
                    <a:p>
                      <a:pPr>
                        <a:lnSpc>
                          <a:spcPct val="100000"/>
                        </a:lnSpc>
                        <a:spcBef>
                          <a:spcPts val="2005"/>
                        </a:spcBef>
                      </a:pPr>
                      <a:endParaRPr sz="2000">
                        <a:latin typeface="Times New Roman"/>
                        <a:cs typeface="Times New Roman"/>
                      </a:endParaRPr>
                    </a:p>
                    <a:p>
                      <a:pPr algn="ctr">
                        <a:lnSpc>
                          <a:spcPct val="100000"/>
                        </a:lnSpc>
                      </a:pPr>
                      <a:r>
                        <a:rPr dirty="0" sz="2000" spc="-25" b="1">
                          <a:solidFill>
                            <a:srgbClr val="008000"/>
                          </a:solidFill>
                          <a:latin typeface="宋体"/>
                          <a:cs typeface="宋体"/>
                        </a:rPr>
                        <a:t>超标量</a:t>
                      </a:r>
                      <a:endParaRPr sz="2000">
                        <a:latin typeface="宋体"/>
                        <a:cs typeface="宋体"/>
                      </a:endParaRPr>
                    </a:p>
                    <a:p>
                      <a:pPr algn="ctr">
                        <a:lnSpc>
                          <a:spcPct val="100000"/>
                        </a:lnSpc>
                        <a:spcBef>
                          <a:spcPts val="1165"/>
                        </a:spcBef>
                      </a:pPr>
                      <a:r>
                        <a:rPr dirty="0" sz="2000" spc="-10" b="1">
                          <a:solidFill>
                            <a:srgbClr val="008000"/>
                          </a:solidFill>
                          <a:latin typeface="宋体"/>
                          <a:cs typeface="宋体"/>
                        </a:rPr>
                        <a:t>（猜测</a:t>
                      </a:r>
                      <a:r>
                        <a:rPr dirty="0" sz="2000" spc="-50" b="1">
                          <a:solidFill>
                            <a:srgbClr val="008000"/>
                          </a:solidFill>
                          <a:latin typeface="宋体"/>
                          <a:cs typeface="宋体"/>
                        </a:rPr>
                        <a:t>）</a:t>
                      </a:r>
                      <a:endParaRPr sz="2000">
                        <a:latin typeface="宋体"/>
                        <a:cs typeface="宋体"/>
                      </a:endParaRPr>
                    </a:p>
                  </a:txBody>
                  <a:tcPr marL="0" marR="0" marB="0" marT="25463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345"/>
                        </a:spcBef>
                      </a:pPr>
                      <a:endParaRPr sz="2000">
                        <a:latin typeface="Times New Roman"/>
                        <a:cs typeface="Times New Roman"/>
                      </a:endParaRPr>
                    </a:p>
                    <a:p>
                      <a:pPr algn="ctr">
                        <a:lnSpc>
                          <a:spcPct val="100000"/>
                        </a:lnSpc>
                      </a:pPr>
                      <a:r>
                        <a:rPr dirty="0" sz="2000" spc="-30" b="1">
                          <a:solidFill>
                            <a:srgbClr val="40458B"/>
                          </a:solidFill>
                          <a:latin typeface="宋体"/>
                          <a:cs typeface="宋体"/>
                        </a:rPr>
                        <a:t>动态</a:t>
                      </a:r>
                      <a:endParaRPr sz="2000">
                        <a:latin typeface="宋体"/>
                        <a:cs typeface="宋体"/>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345"/>
                        </a:spcBef>
                      </a:pPr>
                      <a:endParaRPr sz="2000">
                        <a:latin typeface="Times New Roman"/>
                        <a:cs typeface="Times New Roman"/>
                      </a:endParaRPr>
                    </a:p>
                    <a:p>
                      <a:pPr algn="ctr">
                        <a:lnSpc>
                          <a:spcPct val="100000"/>
                        </a:lnSpc>
                      </a:pPr>
                      <a:r>
                        <a:rPr dirty="0" sz="2000" spc="-30" b="1">
                          <a:solidFill>
                            <a:srgbClr val="40458B"/>
                          </a:solidFill>
                          <a:latin typeface="宋体"/>
                          <a:cs typeface="宋体"/>
                        </a:rPr>
                        <a:t>硬件</a:t>
                      </a:r>
                      <a:endParaRPr sz="2000">
                        <a:latin typeface="宋体"/>
                        <a:cs typeface="宋体"/>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spcBef>
                          <a:spcPts val="865"/>
                        </a:spcBef>
                      </a:pPr>
                      <a:endParaRPr sz="2000">
                        <a:latin typeface="Times New Roman"/>
                        <a:cs typeface="Times New Roman"/>
                      </a:endParaRPr>
                    </a:p>
                    <a:p>
                      <a:pPr algn="just" marL="120014" marR="111760">
                        <a:lnSpc>
                          <a:spcPct val="130000"/>
                        </a:lnSpc>
                      </a:pPr>
                      <a:r>
                        <a:rPr dirty="0" sz="2000" spc="-25" b="1">
                          <a:solidFill>
                            <a:srgbClr val="40458B"/>
                          </a:solidFill>
                          <a:latin typeface="宋体"/>
                          <a:cs typeface="宋体"/>
                        </a:rPr>
                        <a:t>带有前瞻的动</a:t>
                      </a:r>
                      <a:r>
                        <a:rPr dirty="0" sz="2000" spc="-30" b="1">
                          <a:solidFill>
                            <a:srgbClr val="40458B"/>
                          </a:solidFill>
                          <a:latin typeface="宋体"/>
                          <a:cs typeface="宋体"/>
                        </a:rPr>
                        <a:t>态调度</a:t>
                      </a:r>
                      <a:endParaRPr sz="2000">
                        <a:latin typeface="宋体"/>
                        <a:cs typeface="宋体"/>
                      </a:endParaRPr>
                    </a:p>
                  </a:txBody>
                  <a:tcPr marL="0" marR="0" marB="0" marT="1098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spcBef>
                          <a:spcPts val="625"/>
                        </a:spcBef>
                      </a:pPr>
                      <a:endParaRPr sz="2000">
                        <a:latin typeface="Times New Roman"/>
                        <a:cs typeface="Times New Roman"/>
                      </a:endParaRPr>
                    </a:p>
                    <a:p>
                      <a:pPr marL="92075" marR="419734">
                        <a:lnSpc>
                          <a:spcPct val="140000"/>
                        </a:lnSpc>
                      </a:pPr>
                      <a:r>
                        <a:rPr dirty="0" sz="2000" spc="-20" b="1">
                          <a:solidFill>
                            <a:srgbClr val="40458B"/>
                          </a:solidFill>
                          <a:latin typeface="宋体"/>
                          <a:cs typeface="宋体"/>
                        </a:rPr>
                        <a:t>带有前瞻的乱序执行</a:t>
                      </a:r>
                      <a:endParaRPr sz="2000">
                        <a:latin typeface="宋体"/>
                        <a:cs typeface="宋体"/>
                      </a:endParaRPr>
                    </a:p>
                  </a:txBody>
                  <a:tcPr marL="0" marR="0" marB="0" marT="793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370"/>
                        </a:spcBef>
                      </a:pPr>
                      <a:r>
                        <a:rPr dirty="0" sz="2000">
                          <a:solidFill>
                            <a:srgbClr val="40458B"/>
                          </a:solidFill>
                          <a:latin typeface="Tahoma"/>
                          <a:cs typeface="Tahoma"/>
                        </a:rPr>
                        <a:t>Pentium</a:t>
                      </a:r>
                      <a:r>
                        <a:rPr dirty="0" sz="2000" spc="-70">
                          <a:solidFill>
                            <a:srgbClr val="40458B"/>
                          </a:solidFill>
                          <a:latin typeface="Tahoma"/>
                          <a:cs typeface="Tahoma"/>
                        </a:rPr>
                        <a:t> </a:t>
                      </a:r>
                      <a:r>
                        <a:rPr dirty="0" sz="2000" spc="-20">
                          <a:solidFill>
                            <a:srgbClr val="40458B"/>
                          </a:solidFill>
                          <a:latin typeface="Tahoma"/>
                          <a:cs typeface="Tahoma"/>
                        </a:rPr>
                        <a:t>Ⅲ/4</a:t>
                      </a:r>
                      <a:r>
                        <a:rPr dirty="0" sz="2000" spc="-20">
                          <a:solidFill>
                            <a:srgbClr val="40458B"/>
                          </a:solidFill>
                          <a:latin typeface="黑体"/>
                          <a:cs typeface="黑体"/>
                        </a:rPr>
                        <a:t>，</a:t>
                      </a:r>
                      <a:endParaRPr sz="2000">
                        <a:latin typeface="黑体"/>
                        <a:cs typeface="黑体"/>
                      </a:endParaRPr>
                    </a:p>
                    <a:p>
                      <a:pPr marL="92075">
                        <a:lnSpc>
                          <a:spcPct val="100000"/>
                        </a:lnSpc>
                        <a:spcBef>
                          <a:spcPts val="480"/>
                        </a:spcBef>
                      </a:pPr>
                      <a:r>
                        <a:rPr dirty="0" sz="2000">
                          <a:solidFill>
                            <a:srgbClr val="40458B"/>
                          </a:solidFill>
                          <a:latin typeface="Tahoma"/>
                          <a:cs typeface="Tahoma"/>
                        </a:rPr>
                        <a:t>MIPS</a:t>
                      </a:r>
                      <a:r>
                        <a:rPr dirty="0" sz="2000" spc="-40">
                          <a:solidFill>
                            <a:srgbClr val="40458B"/>
                          </a:solidFill>
                          <a:latin typeface="Tahoma"/>
                          <a:cs typeface="Tahoma"/>
                        </a:rPr>
                        <a:t> </a:t>
                      </a:r>
                      <a:r>
                        <a:rPr dirty="0" sz="2000" spc="-10">
                          <a:solidFill>
                            <a:srgbClr val="40458B"/>
                          </a:solidFill>
                          <a:latin typeface="Tahoma"/>
                          <a:cs typeface="Tahoma"/>
                        </a:rPr>
                        <a:t>R10K</a:t>
                      </a:r>
                      <a:r>
                        <a:rPr dirty="0" sz="2000" spc="-10">
                          <a:solidFill>
                            <a:srgbClr val="40458B"/>
                          </a:solidFill>
                          <a:latin typeface="黑体"/>
                          <a:cs typeface="黑体"/>
                        </a:rPr>
                        <a:t>，</a:t>
                      </a:r>
                      <a:endParaRPr sz="2000">
                        <a:latin typeface="黑体"/>
                        <a:cs typeface="黑体"/>
                      </a:endParaRPr>
                    </a:p>
                    <a:p>
                      <a:pPr marL="92075" marR="479425">
                        <a:lnSpc>
                          <a:spcPct val="119800"/>
                        </a:lnSpc>
                        <a:spcBef>
                          <a:spcPts val="5"/>
                        </a:spcBef>
                      </a:pPr>
                      <a:r>
                        <a:rPr dirty="0" sz="2000">
                          <a:solidFill>
                            <a:srgbClr val="40458B"/>
                          </a:solidFill>
                          <a:latin typeface="Tahoma"/>
                          <a:cs typeface="Tahoma"/>
                        </a:rPr>
                        <a:t>Alpha</a:t>
                      </a:r>
                      <a:r>
                        <a:rPr dirty="0" sz="2000" spc="-25">
                          <a:solidFill>
                            <a:srgbClr val="40458B"/>
                          </a:solidFill>
                          <a:latin typeface="Tahoma"/>
                          <a:cs typeface="Tahoma"/>
                        </a:rPr>
                        <a:t> </a:t>
                      </a:r>
                      <a:r>
                        <a:rPr dirty="0" sz="2000" spc="-10">
                          <a:solidFill>
                            <a:srgbClr val="40458B"/>
                          </a:solidFill>
                          <a:latin typeface="Tahoma"/>
                          <a:cs typeface="Tahoma"/>
                        </a:rPr>
                        <a:t>21264</a:t>
                      </a:r>
                      <a:r>
                        <a:rPr dirty="0" sz="2000" spc="-10">
                          <a:solidFill>
                            <a:srgbClr val="40458B"/>
                          </a:solidFill>
                          <a:latin typeface="黑体"/>
                          <a:cs typeface="黑体"/>
                        </a:rPr>
                        <a:t>， </a:t>
                      </a:r>
                      <a:r>
                        <a:rPr dirty="0" sz="2000">
                          <a:solidFill>
                            <a:srgbClr val="40458B"/>
                          </a:solidFill>
                          <a:latin typeface="Tahoma"/>
                          <a:cs typeface="Tahoma"/>
                        </a:rPr>
                        <a:t>HP</a:t>
                      </a:r>
                      <a:r>
                        <a:rPr dirty="0" sz="2000" spc="-45">
                          <a:solidFill>
                            <a:srgbClr val="40458B"/>
                          </a:solidFill>
                          <a:latin typeface="Tahoma"/>
                          <a:cs typeface="Tahoma"/>
                        </a:rPr>
                        <a:t> </a:t>
                      </a:r>
                      <a:r>
                        <a:rPr dirty="0" sz="2000">
                          <a:solidFill>
                            <a:srgbClr val="40458B"/>
                          </a:solidFill>
                          <a:latin typeface="Tahoma"/>
                          <a:cs typeface="Tahoma"/>
                        </a:rPr>
                        <a:t>PA</a:t>
                      </a:r>
                      <a:r>
                        <a:rPr dirty="0" sz="2000" spc="-35">
                          <a:solidFill>
                            <a:srgbClr val="40458B"/>
                          </a:solidFill>
                          <a:latin typeface="Tahoma"/>
                          <a:cs typeface="Tahoma"/>
                        </a:rPr>
                        <a:t> </a:t>
                      </a:r>
                      <a:r>
                        <a:rPr dirty="0" sz="2000" spc="-20">
                          <a:solidFill>
                            <a:srgbClr val="40458B"/>
                          </a:solidFill>
                          <a:latin typeface="Tahoma"/>
                          <a:cs typeface="Tahoma"/>
                        </a:rPr>
                        <a:t>8500</a:t>
                      </a:r>
                      <a:r>
                        <a:rPr dirty="0" sz="2000" spc="-20">
                          <a:solidFill>
                            <a:srgbClr val="40458B"/>
                          </a:solidFill>
                          <a:latin typeface="黑体"/>
                          <a:cs typeface="黑体"/>
                        </a:rPr>
                        <a:t>， </a:t>
                      </a:r>
                      <a:r>
                        <a:rPr dirty="0" sz="2000">
                          <a:solidFill>
                            <a:srgbClr val="40458B"/>
                          </a:solidFill>
                          <a:latin typeface="Tahoma"/>
                          <a:cs typeface="Tahoma"/>
                        </a:rPr>
                        <a:t>IBM</a:t>
                      </a:r>
                      <a:r>
                        <a:rPr dirty="0" sz="2000" spc="-15">
                          <a:solidFill>
                            <a:srgbClr val="40458B"/>
                          </a:solidFill>
                          <a:latin typeface="Tahoma"/>
                          <a:cs typeface="Tahoma"/>
                        </a:rPr>
                        <a:t> </a:t>
                      </a:r>
                      <a:r>
                        <a:rPr dirty="0" sz="2000" spc="-10">
                          <a:solidFill>
                            <a:srgbClr val="40458B"/>
                          </a:solidFill>
                          <a:latin typeface="Tahoma"/>
                          <a:cs typeface="Tahoma"/>
                        </a:rPr>
                        <a:t>RS64Ⅲ</a:t>
                      </a:r>
                      <a:endParaRPr sz="2000">
                        <a:latin typeface="Tahoma"/>
                        <a:cs typeface="Tahoma"/>
                      </a:endParaRPr>
                    </a:p>
                  </a:txBody>
                  <a:tcPr marL="0" marR="0" marB="0" marT="4699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761365">
                <a:tc>
                  <a:txBody>
                    <a:bodyPr/>
                    <a:lstStyle/>
                    <a:p>
                      <a:pPr marL="309880">
                        <a:lnSpc>
                          <a:spcPct val="100000"/>
                        </a:lnSpc>
                        <a:spcBef>
                          <a:spcPts val="360"/>
                        </a:spcBef>
                      </a:pPr>
                      <a:r>
                        <a:rPr dirty="0" sz="2000" spc="-20">
                          <a:solidFill>
                            <a:srgbClr val="008000"/>
                          </a:solidFill>
                          <a:latin typeface="Tahoma"/>
                          <a:cs typeface="Tahoma"/>
                        </a:rPr>
                        <a:t>VLIW</a:t>
                      </a:r>
                      <a:endParaRPr sz="2000">
                        <a:latin typeface="Tahoma"/>
                        <a:cs typeface="Tahoma"/>
                      </a:endParaRPr>
                    </a:p>
                    <a:p>
                      <a:pPr marL="337185">
                        <a:lnSpc>
                          <a:spcPct val="100000"/>
                        </a:lnSpc>
                        <a:spcBef>
                          <a:spcPts val="480"/>
                        </a:spcBef>
                      </a:pPr>
                      <a:r>
                        <a:rPr dirty="0" sz="2000" spc="-20">
                          <a:solidFill>
                            <a:srgbClr val="008000"/>
                          </a:solidFill>
                          <a:latin typeface="Tahoma"/>
                          <a:cs typeface="Tahoma"/>
                        </a:rPr>
                        <a:t>/LIW</a:t>
                      </a:r>
                      <a:endParaRPr sz="2000">
                        <a:latin typeface="Tahoma"/>
                        <a:cs typeface="Tahoma"/>
                      </a:endParaRPr>
                    </a:p>
                  </a:txBody>
                  <a:tcPr marL="0" marR="0" marB="0" marT="4572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430"/>
                        </a:spcBef>
                      </a:pPr>
                      <a:r>
                        <a:rPr dirty="0" sz="2000" spc="-30" b="1">
                          <a:solidFill>
                            <a:srgbClr val="40458B"/>
                          </a:solidFill>
                          <a:latin typeface="宋体"/>
                          <a:cs typeface="宋体"/>
                        </a:rPr>
                        <a:t>静态</a:t>
                      </a:r>
                      <a:endParaRPr sz="2000">
                        <a:latin typeface="宋体"/>
                        <a:cs typeface="宋体"/>
                      </a:endParaRPr>
                    </a:p>
                  </a:txBody>
                  <a:tcPr marL="0" marR="0" marB="0" marT="18161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430"/>
                        </a:spcBef>
                      </a:pPr>
                      <a:r>
                        <a:rPr dirty="0" sz="2000" spc="-30" b="1">
                          <a:solidFill>
                            <a:srgbClr val="40458B"/>
                          </a:solidFill>
                          <a:latin typeface="宋体"/>
                          <a:cs typeface="宋体"/>
                        </a:rPr>
                        <a:t>软件</a:t>
                      </a:r>
                      <a:endParaRPr sz="2000">
                        <a:latin typeface="宋体"/>
                        <a:cs typeface="宋体"/>
                      </a:endParaRPr>
                    </a:p>
                  </a:txBody>
                  <a:tcPr marL="0" marR="0" marB="0" marT="18161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430"/>
                        </a:spcBef>
                      </a:pPr>
                      <a:r>
                        <a:rPr dirty="0" sz="2000" spc="-30" b="1">
                          <a:solidFill>
                            <a:srgbClr val="40458B"/>
                          </a:solidFill>
                          <a:latin typeface="宋体"/>
                          <a:cs typeface="宋体"/>
                        </a:rPr>
                        <a:t>静态</a:t>
                      </a:r>
                      <a:endParaRPr sz="2000">
                        <a:latin typeface="宋体"/>
                        <a:cs typeface="宋体"/>
                      </a:endParaRPr>
                    </a:p>
                  </a:txBody>
                  <a:tcPr marL="0" marR="0" marB="0" marT="18161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419734">
                        <a:lnSpc>
                          <a:spcPts val="2880"/>
                        </a:lnSpc>
                        <a:spcBef>
                          <a:spcPts val="125"/>
                        </a:spcBef>
                      </a:pPr>
                      <a:r>
                        <a:rPr dirty="0" sz="2000" spc="-20" b="1">
                          <a:solidFill>
                            <a:srgbClr val="40458B"/>
                          </a:solidFill>
                          <a:latin typeface="宋体"/>
                          <a:cs typeface="宋体"/>
                        </a:rPr>
                        <a:t>流出包之间没有冲突</a:t>
                      </a:r>
                      <a:endParaRPr sz="2000">
                        <a:latin typeface="宋体"/>
                        <a:cs typeface="宋体"/>
                      </a:endParaRPr>
                    </a:p>
                  </a:txBody>
                  <a:tcPr marL="0" marR="0" marB="0" marT="158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1430"/>
                        </a:spcBef>
                      </a:pPr>
                      <a:r>
                        <a:rPr dirty="0" sz="2000" spc="-10">
                          <a:solidFill>
                            <a:srgbClr val="40458B"/>
                          </a:solidFill>
                          <a:latin typeface="Tahoma"/>
                          <a:cs typeface="Tahoma"/>
                        </a:rPr>
                        <a:t>Trimedia</a:t>
                      </a:r>
                      <a:r>
                        <a:rPr dirty="0" sz="2000" spc="-10">
                          <a:solidFill>
                            <a:srgbClr val="40458B"/>
                          </a:solidFill>
                          <a:latin typeface="黑体"/>
                          <a:cs typeface="黑体"/>
                        </a:rPr>
                        <a:t>，</a:t>
                      </a:r>
                      <a:r>
                        <a:rPr dirty="0" sz="2000" spc="-10">
                          <a:solidFill>
                            <a:srgbClr val="40458B"/>
                          </a:solidFill>
                          <a:latin typeface="Tahoma"/>
                          <a:cs typeface="Tahoma"/>
                        </a:rPr>
                        <a:t>i860</a:t>
                      </a:r>
                      <a:endParaRPr sz="2000">
                        <a:latin typeface="Tahoma"/>
                        <a:cs typeface="Tahoma"/>
                      </a:endParaRPr>
                    </a:p>
                  </a:txBody>
                  <a:tcPr marL="0" marR="0" marB="0" marT="18161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974725">
                <a:tc>
                  <a:txBody>
                    <a:bodyPr/>
                    <a:lstStyle/>
                    <a:p>
                      <a:pPr>
                        <a:lnSpc>
                          <a:spcPct val="100000"/>
                        </a:lnSpc>
                        <a:spcBef>
                          <a:spcPts val="204"/>
                        </a:spcBef>
                      </a:pPr>
                      <a:endParaRPr sz="2000">
                        <a:latin typeface="Times New Roman"/>
                        <a:cs typeface="Times New Roman"/>
                      </a:endParaRPr>
                    </a:p>
                    <a:p>
                      <a:pPr algn="ctr" marL="1905">
                        <a:lnSpc>
                          <a:spcPct val="100000"/>
                        </a:lnSpc>
                        <a:spcBef>
                          <a:spcPts val="5"/>
                        </a:spcBef>
                      </a:pPr>
                      <a:r>
                        <a:rPr dirty="0" sz="2000" spc="-20">
                          <a:solidFill>
                            <a:srgbClr val="008000"/>
                          </a:solidFill>
                          <a:latin typeface="Tahoma"/>
                          <a:cs typeface="Tahoma"/>
                        </a:rPr>
                        <a:t>EPIC</a:t>
                      </a:r>
                      <a:endParaRPr sz="2000">
                        <a:latin typeface="Tahoma"/>
                        <a:cs typeface="Tahoma"/>
                      </a:endParaRPr>
                    </a:p>
                  </a:txBody>
                  <a:tcPr marL="0" marR="0" marB="0" marT="26034">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247650" marR="113030" indent="-128270">
                        <a:lnSpc>
                          <a:spcPct val="126099"/>
                        </a:lnSpc>
                        <a:spcBef>
                          <a:spcPts val="620"/>
                        </a:spcBef>
                      </a:pPr>
                      <a:r>
                        <a:rPr dirty="0" sz="2000" spc="-25" b="1">
                          <a:solidFill>
                            <a:srgbClr val="40458B"/>
                          </a:solidFill>
                          <a:latin typeface="宋体"/>
                          <a:cs typeface="宋体"/>
                        </a:rPr>
                        <a:t>主要是</a:t>
                      </a:r>
                      <a:r>
                        <a:rPr dirty="0" sz="2000" spc="-30" b="1">
                          <a:solidFill>
                            <a:srgbClr val="40458B"/>
                          </a:solidFill>
                          <a:latin typeface="宋体"/>
                          <a:cs typeface="宋体"/>
                        </a:rPr>
                        <a:t>静态</a:t>
                      </a:r>
                      <a:endParaRPr sz="2000">
                        <a:latin typeface="宋体"/>
                        <a:cs typeface="宋体"/>
                      </a:endParaRPr>
                    </a:p>
                  </a:txBody>
                  <a:tcPr marL="0" marR="0" marB="0" marT="7874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247650" marR="113030" indent="-128270">
                        <a:lnSpc>
                          <a:spcPct val="136100"/>
                        </a:lnSpc>
                        <a:spcBef>
                          <a:spcPts val="380"/>
                        </a:spcBef>
                      </a:pPr>
                      <a:r>
                        <a:rPr dirty="0" sz="2000" spc="-25" b="1">
                          <a:solidFill>
                            <a:srgbClr val="40458B"/>
                          </a:solidFill>
                          <a:latin typeface="宋体"/>
                          <a:cs typeface="宋体"/>
                        </a:rPr>
                        <a:t>主要是</a:t>
                      </a:r>
                      <a:r>
                        <a:rPr dirty="0" sz="2000" spc="-30" b="1">
                          <a:solidFill>
                            <a:srgbClr val="40458B"/>
                          </a:solidFill>
                          <a:latin typeface="宋体"/>
                          <a:cs typeface="宋体"/>
                        </a:rPr>
                        <a:t>软件</a:t>
                      </a:r>
                      <a:endParaRPr sz="20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247650" marR="111760" indent="-128270">
                        <a:lnSpc>
                          <a:spcPct val="136100"/>
                        </a:lnSpc>
                        <a:spcBef>
                          <a:spcPts val="380"/>
                        </a:spcBef>
                      </a:pPr>
                      <a:r>
                        <a:rPr dirty="0" sz="2000" spc="-25" b="1">
                          <a:solidFill>
                            <a:srgbClr val="40458B"/>
                          </a:solidFill>
                          <a:latin typeface="宋体"/>
                          <a:cs typeface="宋体"/>
                        </a:rPr>
                        <a:t>主要是</a:t>
                      </a:r>
                      <a:r>
                        <a:rPr dirty="0" sz="2000" spc="-30" b="1">
                          <a:solidFill>
                            <a:srgbClr val="40458B"/>
                          </a:solidFill>
                          <a:latin typeface="宋体"/>
                          <a:cs typeface="宋体"/>
                        </a:rPr>
                        <a:t>静态</a:t>
                      </a:r>
                      <a:endParaRPr sz="20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just" marL="92075" marR="163830">
                        <a:lnSpc>
                          <a:spcPct val="100000"/>
                        </a:lnSpc>
                        <a:spcBef>
                          <a:spcPts val="190"/>
                        </a:spcBef>
                      </a:pPr>
                      <a:r>
                        <a:rPr dirty="0" sz="2000" spc="-20" b="1">
                          <a:solidFill>
                            <a:srgbClr val="40458B"/>
                          </a:solidFill>
                          <a:latin typeface="宋体"/>
                          <a:cs typeface="宋体"/>
                        </a:rPr>
                        <a:t>相关性被编译</a:t>
                      </a:r>
                      <a:r>
                        <a:rPr dirty="0" sz="2000" spc="-25" b="1">
                          <a:solidFill>
                            <a:srgbClr val="40458B"/>
                          </a:solidFill>
                          <a:latin typeface="宋体"/>
                          <a:cs typeface="宋体"/>
                        </a:rPr>
                        <a:t>器显式地标记</a:t>
                      </a:r>
                      <a:r>
                        <a:rPr dirty="0" sz="2000" spc="-30" b="1">
                          <a:solidFill>
                            <a:srgbClr val="40458B"/>
                          </a:solidFill>
                          <a:latin typeface="宋体"/>
                          <a:cs typeface="宋体"/>
                        </a:rPr>
                        <a:t>出来</a:t>
                      </a:r>
                      <a:endParaRPr sz="2000">
                        <a:latin typeface="宋体"/>
                        <a:cs typeface="宋体"/>
                      </a:endParaRPr>
                    </a:p>
                  </a:txBody>
                  <a:tcPr marL="0" marR="0" marB="0" marT="2413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a:lnSpc>
                          <a:spcPct val="100000"/>
                        </a:lnSpc>
                        <a:spcBef>
                          <a:spcPts val="2150"/>
                        </a:spcBef>
                      </a:pPr>
                      <a:r>
                        <a:rPr dirty="0" sz="2000" spc="-10">
                          <a:solidFill>
                            <a:srgbClr val="40458B"/>
                          </a:solidFill>
                          <a:latin typeface="Tahoma"/>
                          <a:cs typeface="Tahoma"/>
                        </a:rPr>
                        <a:t>Itanium</a:t>
                      </a:r>
                      <a:endParaRPr sz="2000">
                        <a:latin typeface="Tahoma"/>
                        <a:cs typeface="Tahoma"/>
                      </a:endParaRPr>
                    </a:p>
                  </a:txBody>
                  <a:tcPr marL="0" marR="0" marB="0" marT="27305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3" name="object 3" descr=""/>
          <p:cNvSpPr txBox="1"/>
          <p:nvPr/>
        </p:nvSpPr>
        <p:spPr>
          <a:xfrm>
            <a:off x="702665" y="5474309"/>
            <a:ext cx="1244600" cy="757555"/>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40458B"/>
                </a:solidFill>
                <a:latin typeface="黑体"/>
                <a:cs typeface="黑体"/>
              </a:rPr>
              <a:t>显式并行</a:t>
            </a:r>
            <a:endParaRPr sz="2400">
              <a:latin typeface="黑体"/>
              <a:cs typeface="黑体"/>
            </a:endParaRPr>
          </a:p>
          <a:p>
            <a:pPr marL="12700">
              <a:lnSpc>
                <a:spcPct val="100000"/>
              </a:lnSpc>
              <a:spcBef>
                <a:spcPts val="5"/>
              </a:spcBef>
            </a:pPr>
            <a:r>
              <a:rPr dirty="0" sz="2400" spc="-15">
                <a:solidFill>
                  <a:srgbClr val="40458B"/>
                </a:solidFill>
                <a:latin typeface="黑体"/>
                <a:cs typeface="黑体"/>
              </a:rPr>
              <a:t>指令计算</a:t>
            </a:r>
            <a:endParaRPr sz="2400">
              <a:latin typeface="黑体"/>
              <a:cs typeface="黑体"/>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161/175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1205890" y="923670"/>
            <a:ext cx="10384155" cy="2843530"/>
          </a:xfrm>
          <a:prstGeom prst="rect">
            <a:avLst/>
          </a:prstGeom>
        </p:spPr>
        <p:txBody>
          <a:bodyPr wrap="square" lIns="0" tIns="13335" rIns="0" bIns="0" rtlCol="0" vert="horz">
            <a:spAutoFit/>
          </a:bodyPr>
          <a:lstStyle/>
          <a:p>
            <a:pPr lvl="2" marL="1003300" indent="-990600">
              <a:lnSpc>
                <a:spcPct val="100000"/>
              </a:lnSpc>
              <a:spcBef>
                <a:spcPts val="105"/>
              </a:spcBef>
              <a:buAutoNum type="arabicPeriod"/>
              <a:tabLst>
                <a:tab pos="1003300" algn="l"/>
              </a:tabLst>
            </a:pPr>
            <a:r>
              <a:rPr dirty="0" sz="2600" spc="-15">
                <a:solidFill>
                  <a:srgbClr val="0000CC"/>
                </a:solidFill>
                <a:latin typeface="黑体"/>
                <a:cs typeface="黑体"/>
              </a:rPr>
              <a:t>基于静态调度的多流出技术</a:t>
            </a:r>
            <a:endParaRPr sz="2600">
              <a:latin typeface="黑体"/>
              <a:cs typeface="黑体"/>
            </a:endParaRPr>
          </a:p>
          <a:p>
            <a:pPr lvl="2">
              <a:lnSpc>
                <a:spcPct val="100000"/>
              </a:lnSpc>
              <a:spcBef>
                <a:spcPts val="2685"/>
              </a:spcBef>
              <a:buClr>
                <a:srgbClr val="0000CC"/>
              </a:buClr>
              <a:buFont typeface=""/>
              <a:buAutoNum type="arabicPeriod"/>
            </a:pPr>
            <a:endParaRPr sz="2600">
              <a:latin typeface="黑体"/>
              <a:cs typeface="黑体"/>
            </a:endParaRPr>
          </a:p>
          <a:p>
            <a:pPr lvl="3" marL="667385" indent="-457200">
              <a:lnSpc>
                <a:spcPct val="100000"/>
              </a:lnSpc>
              <a:buSzPct val="89583"/>
              <a:buFont typeface="Wingdings"/>
              <a:buChar char=""/>
              <a:tabLst>
                <a:tab pos="667385" algn="l"/>
              </a:tabLst>
            </a:pPr>
            <a:r>
              <a:rPr dirty="0" sz="2400">
                <a:solidFill>
                  <a:srgbClr val="40458B"/>
                </a:solidFill>
                <a:latin typeface="黑体"/>
                <a:cs typeface="黑体"/>
              </a:rPr>
              <a:t>在典型的超标量处理器中，每个时钟周期可流出</a:t>
            </a:r>
            <a:r>
              <a:rPr dirty="0" sz="2400">
                <a:solidFill>
                  <a:srgbClr val="D50092"/>
                </a:solidFill>
                <a:latin typeface="黑体"/>
                <a:cs typeface="黑体"/>
              </a:rPr>
              <a:t>1</a:t>
            </a:r>
            <a:r>
              <a:rPr dirty="0" sz="2400">
                <a:solidFill>
                  <a:srgbClr val="40458B"/>
                </a:solidFill>
                <a:latin typeface="黑体"/>
                <a:cs typeface="黑体"/>
              </a:rPr>
              <a:t>到</a:t>
            </a:r>
            <a:r>
              <a:rPr dirty="0" sz="2400">
                <a:solidFill>
                  <a:srgbClr val="D50092"/>
                </a:solidFill>
                <a:latin typeface="黑体"/>
                <a:cs typeface="黑体"/>
              </a:rPr>
              <a:t>8条</a:t>
            </a:r>
            <a:r>
              <a:rPr dirty="0" sz="2400" spc="-20">
                <a:solidFill>
                  <a:srgbClr val="40458B"/>
                </a:solidFill>
                <a:latin typeface="黑体"/>
                <a:cs typeface="黑体"/>
              </a:rPr>
              <a:t>指令。</a:t>
            </a:r>
            <a:endParaRPr sz="2400">
              <a:latin typeface="黑体"/>
              <a:cs typeface="黑体"/>
            </a:endParaRPr>
          </a:p>
          <a:p>
            <a:pPr lvl="3" marL="667385" indent="-457200">
              <a:lnSpc>
                <a:spcPct val="100000"/>
              </a:lnSpc>
              <a:spcBef>
                <a:spcPts val="865"/>
              </a:spcBef>
              <a:buSzPct val="89583"/>
              <a:buFont typeface="Wingdings"/>
              <a:buChar char=""/>
              <a:tabLst>
                <a:tab pos="667385" algn="l"/>
              </a:tabLst>
            </a:pPr>
            <a:r>
              <a:rPr dirty="0" sz="2400" spc="-5">
                <a:solidFill>
                  <a:srgbClr val="40458B"/>
                </a:solidFill>
                <a:latin typeface="黑体"/>
                <a:cs typeface="黑体"/>
              </a:rPr>
              <a:t>指令按序流出，在流出时进行冲突检测。</a:t>
            </a:r>
            <a:endParaRPr sz="2400">
              <a:latin typeface="黑体"/>
              <a:cs typeface="黑体"/>
            </a:endParaRPr>
          </a:p>
          <a:p>
            <a:pPr marL="624840" marR="5080" indent="202565">
              <a:lnSpc>
                <a:spcPct val="110000"/>
              </a:lnSpc>
              <a:spcBef>
                <a:spcPts val="560"/>
              </a:spcBef>
            </a:pPr>
            <a:r>
              <a:rPr dirty="0" sz="2200" spc="-25" b="1">
                <a:solidFill>
                  <a:srgbClr val="9966FF"/>
                </a:solidFill>
                <a:latin typeface="宋体"/>
                <a:cs typeface="宋体"/>
              </a:rPr>
              <a:t>由硬件检测当前流出的指令之间是否存在冲突以及当前流出的指令与正在执行的指令是否有冲突。</a:t>
            </a:r>
            <a:endParaRPr sz="2200">
              <a:latin typeface="宋体"/>
              <a:cs typeface="宋体"/>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162/175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486867" y="729013"/>
            <a:ext cx="10826750" cy="5712460"/>
          </a:xfrm>
          <a:prstGeom prst="rect">
            <a:avLst/>
          </a:prstGeom>
        </p:spPr>
        <p:txBody>
          <a:bodyPr wrap="square" lIns="0" tIns="121920" rIns="0" bIns="0" rtlCol="0" vert="horz">
            <a:spAutoFit/>
          </a:bodyPr>
          <a:lstStyle/>
          <a:p>
            <a:pPr marL="839469" indent="-457200">
              <a:lnSpc>
                <a:spcPct val="100000"/>
              </a:lnSpc>
              <a:spcBef>
                <a:spcPts val="960"/>
              </a:spcBef>
              <a:buSzPct val="89583"/>
              <a:buFont typeface="Wingdings"/>
              <a:buChar char=""/>
              <a:tabLst>
                <a:tab pos="839469" algn="l"/>
              </a:tabLst>
            </a:pPr>
            <a:r>
              <a:rPr dirty="0" sz="2400">
                <a:solidFill>
                  <a:srgbClr val="40458B"/>
                </a:solidFill>
                <a:latin typeface="黑体"/>
                <a:cs typeface="黑体"/>
              </a:rPr>
              <a:t>举例：一个</a:t>
            </a:r>
            <a:r>
              <a:rPr dirty="0" sz="2400">
                <a:solidFill>
                  <a:srgbClr val="D50092"/>
                </a:solidFill>
                <a:latin typeface="黑体"/>
                <a:cs typeface="黑体"/>
              </a:rPr>
              <a:t>4-流出</a:t>
            </a:r>
            <a:r>
              <a:rPr dirty="0" sz="2400" spc="-5">
                <a:solidFill>
                  <a:srgbClr val="40458B"/>
                </a:solidFill>
                <a:latin typeface="黑体"/>
                <a:cs typeface="黑体"/>
              </a:rPr>
              <a:t>的静态调度超标量处理机</a:t>
            </a:r>
            <a:endParaRPr sz="2400">
              <a:latin typeface="黑体"/>
              <a:cs typeface="黑体"/>
            </a:endParaRPr>
          </a:p>
          <a:p>
            <a:pPr lvl="1" marL="1056005" indent="-457200">
              <a:lnSpc>
                <a:spcPct val="100000"/>
              </a:lnSpc>
              <a:spcBef>
                <a:spcPts val="865"/>
              </a:spcBef>
              <a:buSzPct val="89583"/>
              <a:buFont typeface="Wingdings"/>
              <a:buChar char=""/>
              <a:tabLst>
                <a:tab pos="1056005" algn="l"/>
              </a:tabLst>
            </a:pPr>
            <a:r>
              <a:rPr dirty="0" sz="2400" spc="-10">
                <a:solidFill>
                  <a:srgbClr val="40458B"/>
                </a:solidFill>
                <a:latin typeface="黑体"/>
                <a:cs typeface="黑体"/>
              </a:rPr>
              <a:t>在取指令阶段，流水线将从取指令部件收到</a:t>
            </a:r>
            <a:r>
              <a:rPr dirty="0" sz="2400" spc="-10">
                <a:solidFill>
                  <a:srgbClr val="D50092"/>
                </a:solidFill>
                <a:latin typeface="黑体"/>
                <a:cs typeface="黑体"/>
              </a:rPr>
              <a:t>1～4条</a:t>
            </a:r>
            <a:r>
              <a:rPr dirty="0" sz="2400">
                <a:solidFill>
                  <a:srgbClr val="40458B"/>
                </a:solidFill>
                <a:latin typeface="黑体"/>
                <a:cs typeface="黑体"/>
              </a:rPr>
              <a:t>指令（称为流出包）</a:t>
            </a:r>
            <a:r>
              <a:rPr dirty="0" sz="2400" spc="-50">
                <a:solidFill>
                  <a:srgbClr val="40458B"/>
                </a:solidFill>
                <a:latin typeface="黑体"/>
                <a:cs typeface="黑体"/>
              </a:rPr>
              <a:t>。</a:t>
            </a:r>
            <a:endParaRPr sz="2400">
              <a:latin typeface="黑体"/>
              <a:cs typeface="黑体"/>
            </a:endParaRPr>
          </a:p>
          <a:p>
            <a:pPr lvl="2" marL="1235710" marR="40640" indent="-457200">
              <a:lnSpc>
                <a:spcPct val="110000"/>
              </a:lnSpc>
              <a:spcBef>
                <a:spcPts val="560"/>
              </a:spcBef>
              <a:buClr>
                <a:srgbClr val="4668F5"/>
              </a:buClr>
              <a:buSzPct val="68181"/>
              <a:buFont typeface="Wingdings"/>
              <a:buChar char=""/>
              <a:tabLst>
                <a:tab pos="1235710" algn="l"/>
              </a:tabLst>
            </a:pPr>
            <a:r>
              <a:rPr dirty="0" sz="2200" spc="-25" b="1">
                <a:solidFill>
                  <a:srgbClr val="9966FF"/>
                </a:solidFill>
                <a:latin typeface="宋体"/>
                <a:cs typeface="宋体"/>
              </a:rPr>
              <a:t>在一个时钟周期内，这些指令有可能是全部都能流出，也可能是只有一部分能</a:t>
            </a:r>
            <a:r>
              <a:rPr dirty="0" sz="2200" spc="-35" b="1">
                <a:solidFill>
                  <a:srgbClr val="9966FF"/>
                </a:solidFill>
                <a:latin typeface="宋体"/>
                <a:cs typeface="宋体"/>
              </a:rPr>
              <a:t>流出。</a:t>
            </a:r>
            <a:endParaRPr sz="2200">
              <a:latin typeface="宋体"/>
              <a:cs typeface="宋体"/>
            </a:endParaRPr>
          </a:p>
          <a:p>
            <a:pPr lvl="1" marL="1099185" indent="-457200">
              <a:lnSpc>
                <a:spcPct val="100000"/>
              </a:lnSpc>
              <a:spcBef>
                <a:spcPts val="1465"/>
              </a:spcBef>
              <a:buSzPct val="89583"/>
              <a:buFont typeface="Wingdings"/>
              <a:buChar char=""/>
              <a:tabLst>
                <a:tab pos="1099185" algn="l"/>
              </a:tabLst>
            </a:pPr>
            <a:r>
              <a:rPr dirty="0" sz="2400" spc="-5">
                <a:solidFill>
                  <a:srgbClr val="40458B"/>
                </a:solidFill>
                <a:latin typeface="黑体"/>
                <a:cs typeface="黑体"/>
              </a:rPr>
              <a:t>流出部件检测结构冲突或者数据冲突。</a:t>
            </a:r>
            <a:endParaRPr sz="2400">
              <a:latin typeface="黑体"/>
              <a:cs typeface="黑体"/>
            </a:endParaRPr>
          </a:p>
          <a:p>
            <a:pPr marL="599440">
              <a:lnSpc>
                <a:spcPct val="100000"/>
              </a:lnSpc>
              <a:spcBef>
                <a:spcPts val="1085"/>
              </a:spcBef>
            </a:pPr>
            <a:r>
              <a:rPr dirty="0" sz="2200" spc="-25" b="1">
                <a:solidFill>
                  <a:srgbClr val="9966FF"/>
                </a:solidFill>
                <a:latin typeface="宋体"/>
                <a:cs typeface="宋体"/>
              </a:rPr>
              <a:t>一般分两阶段实现：</a:t>
            </a:r>
            <a:endParaRPr sz="2200">
              <a:latin typeface="宋体"/>
              <a:cs typeface="宋体"/>
            </a:endParaRPr>
          </a:p>
          <a:p>
            <a:pPr marL="1056005" indent="-456565">
              <a:lnSpc>
                <a:spcPct val="100000"/>
              </a:lnSpc>
              <a:spcBef>
                <a:spcPts val="1055"/>
              </a:spcBef>
              <a:buClr>
                <a:srgbClr val="4668F5"/>
              </a:buClr>
              <a:buSzPct val="68181"/>
              <a:buFont typeface="Wingdings"/>
              <a:buChar char=""/>
              <a:tabLst>
                <a:tab pos="1056005" algn="l"/>
              </a:tabLst>
            </a:pPr>
            <a:r>
              <a:rPr dirty="0" sz="2200" spc="-20" b="1">
                <a:solidFill>
                  <a:srgbClr val="CC3399"/>
                </a:solidFill>
                <a:latin typeface="宋体"/>
                <a:cs typeface="宋体"/>
              </a:rPr>
              <a:t>第一段：</a:t>
            </a:r>
            <a:r>
              <a:rPr dirty="0" sz="2200" spc="-25" b="1">
                <a:solidFill>
                  <a:srgbClr val="9966FF"/>
                </a:solidFill>
                <a:latin typeface="宋体"/>
                <a:cs typeface="宋体"/>
              </a:rPr>
              <a:t>进行流出包内的冲突检测，选出初步判定可以流出的指令；</a:t>
            </a:r>
            <a:endParaRPr sz="2200">
              <a:latin typeface="宋体"/>
              <a:cs typeface="宋体"/>
            </a:endParaRPr>
          </a:p>
          <a:p>
            <a:pPr marL="1056005" indent="-456565">
              <a:lnSpc>
                <a:spcPct val="100000"/>
              </a:lnSpc>
              <a:spcBef>
                <a:spcPts val="1060"/>
              </a:spcBef>
              <a:buClr>
                <a:srgbClr val="4668F5"/>
              </a:buClr>
              <a:buSzPct val="68181"/>
              <a:buFont typeface="Wingdings"/>
              <a:buChar char=""/>
              <a:tabLst>
                <a:tab pos="1056005" algn="l"/>
              </a:tabLst>
            </a:pPr>
            <a:r>
              <a:rPr dirty="0" sz="2200" spc="-20" b="1">
                <a:solidFill>
                  <a:srgbClr val="CC3399"/>
                </a:solidFill>
                <a:latin typeface="宋体"/>
                <a:cs typeface="宋体"/>
              </a:rPr>
              <a:t>第二段：</a:t>
            </a:r>
            <a:r>
              <a:rPr dirty="0" sz="2200" spc="-25" b="1">
                <a:solidFill>
                  <a:srgbClr val="9966FF"/>
                </a:solidFill>
                <a:latin typeface="宋体"/>
                <a:cs typeface="宋体"/>
              </a:rPr>
              <a:t>检测所选出的指令与正在执行的指令是否有冲突。</a:t>
            </a:r>
            <a:endParaRPr sz="2200">
              <a:latin typeface="宋体"/>
              <a:cs typeface="宋体"/>
            </a:endParaRPr>
          </a:p>
          <a:p>
            <a:pPr marL="12700">
              <a:lnSpc>
                <a:spcPct val="100000"/>
              </a:lnSpc>
              <a:spcBef>
                <a:spcPts val="1120"/>
              </a:spcBef>
            </a:pPr>
            <a:r>
              <a:rPr dirty="0" sz="2400">
                <a:solidFill>
                  <a:srgbClr val="001F5F"/>
                </a:solidFill>
                <a:latin typeface="黑体"/>
                <a:cs typeface="黑体"/>
              </a:rPr>
              <a:t>MIPS</a:t>
            </a:r>
            <a:r>
              <a:rPr dirty="0" sz="2400" spc="-5">
                <a:solidFill>
                  <a:srgbClr val="001F5F"/>
                </a:solidFill>
                <a:latin typeface="黑体"/>
                <a:cs typeface="黑体"/>
              </a:rPr>
              <a:t>处理机是怎样实现超标量的呢？</a:t>
            </a:r>
            <a:endParaRPr sz="2400">
              <a:latin typeface="黑体"/>
              <a:cs typeface="黑体"/>
            </a:endParaRPr>
          </a:p>
          <a:p>
            <a:pPr marL="641985">
              <a:lnSpc>
                <a:spcPct val="100000"/>
              </a:lnSpc>
              <a:spcBef>
                <a:spcPts val="1155"/>
              </a:spcBef>
            </a:pPr>
            <a:r>
              <a:rPr dirty="0" sz="2400" spc="-15">
                <a:solidFill>
                  <a:srgbClr val="40458B"/>
                </a:solidFill>
                <a:latin typeface="黑体"/>
                <a:cs typeface="黑体"/>
              </a:rPr>
              <a:t>假设：每个时钟周期流出两条指令：</a:t>
            </a:r>
            <a:endParaRPr sz="2400">
              <a:latin typeface="黑体"/>
              <a:cs typeface="黑体"/>
            </a:endParaRPr>
          </a:p>
          <a:p>
            <a:pPr marL="1588135">
              <a:lnSpc>
                <a:spcPct val="100000"/>
              </a:lnSpc>
              <a:spcBef>
                <a:spcPts val="1090"/>
              </a:spcBef>
            </a:pPr>
            <a:r>
              <a:rPr dirty="0" sz="2200" spc="-10" b="1">
                <a:solidFill>
                  <a:srgbClr val="D50092"/>
                </a:solidFill>
                <a:latin typeface="宋体"/>
                <a:cs typeface="宋体"/>
              </a:rPr>
              <a:t>1</a:t>
            </a:r>
            <a:r>
              <a:rPr dirty="0" sz="2200" spc="-25" b="1">
                <a:solidFill>
                  <a:srgbClr val="D50092"/>
                </a:solidFill>
                <a:latin typeface="宋体"/>
                <a:cs typeface="宋体"/>
              </a:rPr>
              <a:t>条整数型指令</a:t>
            </a:r>
            <a:r>
              <a:rPr dirty="0" sz="2200" spc="-10" b="1">
                <a:solidFill>
                  <a:srgbClr val="40458B"/>
                </a:solidFill>
                <a:latin typeface="宋体"/>
                <a:cs typeface="宋体"/>
              </a:rPr>
              <a:t>＋</a:t>
            </a:r>
            <a:r>
              <a:rPr dirty="0" sz="2200" spc="-10" b="1">
                <a:solidFill>
                  <a:srgbClr val="D50092"/>
                </a:solidFill>
                <a:latin typeface="宋体"/>
                <a:cs typeface="宋体"/>
              </a:rPr>
              <a:t>1</a:t>
            </a:r>
            <a:r>
              <a:rPr dirty="0" sz="2200" spc="-25" b="1">
                <a:solidFill>
                  <a:srgbClr val="D50092"/>
                </a:solidFill>
                <a:latin typeface="宋体"/>
                <a:cs typeface="宋体"/>
              </a:rPr>
              <a:t>条浮点操作指令</a:t>
            </a:r>
            <a:endParaRPr sz="2200">
              <a:latin typeface="宋体"/>
              <a:cs typeface="宋体"/>
            </a:endParaRPr>
          </a:p>
          <a:p>
            <a:pPr marL="1056005" indent="-456565">
              <a:lnSpc>
                <a:spcPct val="100000"/>
              </a:lnSpc>
              <a:spcBef>
                <a:spcPts val="1055"/>
              </a:spcBef>
              <a:buClr>
                <a:srgbClr val="4668F5"/>
              </a:buClr>
              <a:buSzPct val="68181"/>
              <a:buFont typeface="Wingdings"/>
              <a:buChar char=""/>
              <a:tabLst>
                <a:tab pos="1056005" algn="l"/>
              </a:tabLst>
            </a:pPr>
            <a:r>
              <a:rPr dirty="0" sz="2200" spc="-20" b="1">
                <a:solidFill>
                  <a:srgbClr val="9966FF"/>
                </a:solidFill>
                <a:latin typeface="宋体"/>
                <a:cs typeface="宋体"/>
              </a:rPr>
              <a:t>其中：把</a:t>
            </a:r>
            <a:r>
              <a:rPr dirty="0" sz="2200" spc="-10" b="1">
                <a:solidFill>
                  <a:srgbClr val="9933FF"/>
                </a:solidFill>
                <a:latin typeface="宋体"/>
                <a:cs typeface="宋体"/>
              </a:rPr>
              <a:t>load</a:t>
            </a:r>
            <a:r>
              <a:rPr dirty="0" sz="2200" spc="-20" b="1">
                <a:solidFill>
                  <a:srgbClr val="9966FF"/>
                </a:solidFill>
                <a:latin typeface="宋体"/>
                <a:cs typeface="宋体"/>
              </a:rPr>
              <a:t>指令、</a:t>
            </a:r>
            <a:r>
              <a:rPr dirty="0" sz="2200" spc="-10" b="1">
                <a:solidFill>
                  <a:srgbClr val="9933FF"/>
                </a:solidFill>
                <a:latin typeface="宋体"/>
                <a:cs typeface="宋体"/>
              </a:rPr>
              <a:t>store</a:t>
            </a:r>
            <a:r>
              <a:rPr dirty="0" sz="2200" spc="-25" b="1">
                <a:solidFill>
                  <a:srgbClr val="9966FF"/>
                </a:solidFill>
                <a:latin typeface="宋体"/>
                <a:cs typeface="宋体"/>
              </a:rPr>
              <a:t>指令、分支指令归类为整数型指令。</a:t>
            </a:r>
            <a:endParaRPr sz="2200">
              <a:latin typeface="宋体"/>
              <a:cs typeface="宋体"/>
            </a:endParaRPr>
          </a:p>
        </p:txBody>
      </p:sp>
      <p:sp>
        <p:nvSpPr>
          <p:cNvPr id="11" name="object 11" descr=""/>
          <p:cNvSpPr txBox="1"/>
          <p:nvPr/>
        </p:nvSpPr>
        <p:spPr>
          <a:xfrm>
            <a:off x="5431028" y="148285"/>
            <a:ext cx="4982210"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5.5.1</a:t>
            </a:r>
            <a:r>
              <a:rPr dirty="0" sz="2600" spc="-30">
                <a:solidFill>
                  <a:srgbClr val="0000CC"/>
                </a:solidFill>
                <a:latin typeface="黑体"/>
                <a:cs typeface="黑体"/>
              </a:rPr>
              <a:t> 基于静态调度的多流出技术</a:t>
            </a:r>
            <a:endParaRPr sz="2600">
              <a:latin typeface="黑体"/>
              <a:cs typeface="黑体"/>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163/175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413715" y="1030605"/>
            <a:ext cx="10256520" cy="3985895"/>
          </a:xfrm>
          <a:prstGeom prst="rect">
            <a:avLst/>
          </a:prstGeom>
        </p:spPr>
        <p:txBody>
          <a:bodyPr wrap="square" lIns="0" tIns="94615" rIns="0" bIns="0" rtlCol="0" vert="horz">
            <a:spAutoFit/>
          </a:bodyPr>
          <a:lstStyle/>
          <a:p>
            <a:pPr marL="469265" indent="-456565">
              <a:lnSpc>
                <a:spcPct val="100000"/>
              </a:lnSpc>
              <a:spcBef>
                <a:spcPts val="745"/>
              </a:spcBef>
              <a:buClr>
                <a:srgbClr val="40458B"/>
              </a:buClr>
              <a:buFont typeface="Wingdings"/>
              <a:buChar char=""/>
              <a:tabLst>
                <a:tab pos="469265" algn="l"/>
              </a:tabLst>
            </a:pPr>
            <a:r>
              <a:rPr dirty="0" sz="2400" spc="-20">
                <a:solidFill>
                  <a:srgbClr val="D50092"/>
                </a:solidFill>
                <a:latin typeface="黑体"/>
                <a:cs typeface="黑体"/>
              </a:rPr>
              <a:t>要求：</a:t>
            </a:r>
            <a:endParaRPr sz="2400">
              <a:latin typeface="黑体"/>
              <a:cs typeface="黑体"/>
            </a:endParaRPr>
          </a:p>
          <a:p>
            <a:pPr marL="641985">
              <a:lnSpc>
                <a:spcPct val="100000"/>
              </a:lnSpc>
              <a:spcBef>
                <a:spcPts val="650"/>
              </a:spcBef>
            </a:pPr>
            <a:r>
              <a:rPr dirty="0" sz="2400">
                <a:solidFill>
                  <a:srgbClr val="40458B"/>
                </a:solidFill>
                <a:latin typeface="黑体"/>
                <a:cs typeface="黑体"/>
              </a:rPr>
              <a:t>同时取两条指令</a:t>
            </a:r>
            <a:r>
              <a:rPr dirty="0" sz="2400" spc="-10">
                <a:solidFill>
                  <a:srgbClr val="40458B"/>
                </a:solidFill>
                <a:latin typeface="黑体"/>
                <a:cs typeface="黑体"/>
              </a:rPr>
              <a:t>（</a:t>
            </a:r>
            <a:r>
              <a:rPr dirty="0" sz="2400" spc="-10">
                <a:solidFill>
                  <a:srgbClr val="9933FF"/>
                </a:solidFill>
                <a:latin typeface="黑体"/>
                <a:cs typeface="黑体"/>
              </a:rPr>
              <a:t>64</a:t>
            </a:r>
            <a:r>
              <a:rPr dirty="0" sz="2400">
                <a:solidFill>
                  <a:srgbClr val="9933FF"/>
                </a:solidFill>
                <a:latin typeface="黑体"/>
                <a:cs typeface="黑体"/>
              </a:rPr>
              <a:t>位</a:t>
            </a:r>
            <a:r>
              <a:rPr dirty="0" sz="2400">
                <a:solidFill>
                  <a:srgbClr val="40458B"/>
                </a:solidFill>
                <a:latin typeface="黑体"/>
                <a:cs typeface="黑体"/>
              </a:rPr>
              <a:t>），译码两条指令（</a:t>
            </a:r>
            <a:r>
              <a:rPr dirty="0" sz="2400">
                <a:solidFill>
                  <a:srgbClr val="9933FF"/>
                </a:solidFill>
                <a:latin typeface="黑体"/>
                <a:cs typeface="黑体"/>
              </a:rPr>
              <a:t>64位</a:t>
            </a:r>
            <a:r>
              <a:rPr dirty="0" sz="2400">
                <a:solidFill>
                  <a:srgbClr val="40458B"/>
                </a:solidFill>
                <a:latin typeface="黑体"/>
                <a:cs typeface="黑体"/>
              </a:rPr>
              <a:t>）</a:t>
            </a:r>
            <a:r>
              <a:rPr dirty="0" sz="2400" spc="-50">
                <a:solidFill>
                  <a:srgbClr val="40458B"/>
                </a:solidFill>
                <a:latin typeface="黑体"/>
                <a:cs typeface="黑体"/>
              </a:rPr>
              <a:t>。</a:t>
            </a:r>
            <a:endParaRPr sz="2400">
              <a:latin typeface="黑体"/>
              <a:cs typeface="黑体"/>
            </a:endParaRPr>
          </a:p>
          <a:p>
            <a:pPr marL="469265" indent="-456565">
              <a:lnSpc>
                <a:spcPct val="100000"/>
              </a:lnSpc>
              <a:spcBef>
                <a:spcPts val="505"/>
              </a:spcBef>
              <a:buClr>
                <a:srgbClr val="40458B"/>
              </a:buClr>
              <a:buFont typeface="Wingdings"/>
              <a:buChar char=""/>
              <a:tabLst>
                <a:tab pos="469265" algn="l"/>
              </a:tabLst>
            </a:pPr>
            <a:r>
              <a:rPr dirty="0" sz="2400" spc="-15">
                <a:solidFill>
                  <a:srgbClr val="001F5F"/>
                </a:solidFill>
                <a:latin typeface="黑体"/>
                <a:cs typeface="黑体"/>
              </a:rPr>
              <a:t>对指令的处理包括以下步骤：</a:t>
            </a:r>
            <a:endParaRPr sz="2400">
              <a:latin typeface="黑体"/>
              <a:cs typeface="黑体"/>
            </a:endParaRPr>
          </a:p>
          <a:p>
            <a:pPr lvl="1" marL="1099185" indent="-457200">
              <a:lnSpc>
                <a:spcPct val="100000"/>
              </a:lnSpc>
              <a:spcBef>
                <a:spcPts val="575"/>
              </a:spcBef>
              <a:buSzPct val="89583"/>
              <a:buFont typeface="Wingdings"/>
              <a:buChar char=""/>
              <a:tabLst>
                <a:tab pos="1099185" algn="l"/>
              </a:tabLst>
            </a:pPr>
            <a:r>
              <a:rPr dirty="0" sz="2400">
                <a:solidFill>
                  <a:srgbClr val="40458B"/>
                </a:solidFill>
                <a:latin typeface="黑体"/>
                <a:cs typeface="黑体"/>
              </a:rPr>
              <a:t>从</a:t>
            </a:r>
            <a:r>
              <a:rPr dirty="0" sz="2400">
                <a:solidFill>
                  <a:srgbClr val="9933FF"/>
                </a:solidFill>
                <a:latin typeface="黑体"/>
                <a:cs typeface="黑体"/>
              </a:rPr>
              <a:t>Cache</a:t>
            </a:r>
            <a:r>
              <a:rPr dirty="0" sz="2400" spc="-10">
                <a:solidFill>
                  <a:srgbClr val="40458B"/>
                </a:solidFill>
                <a:latin typeface="黑体"/>
                <a:cs typeface="黑体"/>
              </a:rPr>
              <a:t>中取两条指令；</a:t>
            </a:r>
            <a:endParaRPr sz="2400">
              <a:latin typeface="黑体"/>
              <a:cs typeface="黑体"/>
            </a:endParaRPr>
          </a:p>
          <a:p>
            <a:pPr lvl="1" marL="1099185" indent="-457200">
              <a:lnSpc>
                <a:spcPct val="100000"/>
              </a:lnSpc>
              <a:spcBef>
                <a:spcPts val="580"/>
              </a:spcBef>
              <a:buSzPct val="89583"/>
              <a:buFont typeface="Wingdings"/>
              <a:buChar char=""/>
              <a:tabLst>
                <a:tab pos="1099185" algn="l"/>
              </a:tabLst>
            </a:pPr>
            <a:r>
              <a:rPr dirty="0" sz="2400">
                <a:solidFill>
                  <a:srgbClr val="40458B"/>
                </a:solidFill>
                <a:latin typeface="黑体"/>
                <a:cs typeface="黑体"/>
              </a:rPr>
              <a:t>确定那几条指令可以流出</a:t>
            </a:r>
            <a:r>
              <a:rPr dirty="0" sz="2400" spc="-10">
                <a:solidFill>
                  <a:srgbClr val="40458B"/>
                </a:solidFill>
                <a:latin typeface="黑体"/>
                <a:cs typeface="黑体"/>
              </a:rPr>
              <a:t>（</a:t>
            </a:r>
            <a:r>
              <a:rPr dirty="0" sz="2400" spc="-10">
                <a:solidFill>
                  <a:srgbClr val="9933FF"/>
                </a:solidFill>
                <a:latin typeface="Tahoma"/>
                <a:cs typeface="Tahoma"/>
              </a:rPr>
              <a:t>0</a:t>
            </a:r>
            <a:r>
              <a:rPr dirty="0" sz="2400" spc="-10">
                <a:solidFill>
                  <a:srgbClr val="9933FF"/>
                </a:solidFill>
                <a:latin typeface="黑体"/>
                <a:cs typeface="黑体"/>
              </a:rPr>
              <a:t>～</a:t>
            </a:r>
            <a:r>
              <a:rPr dirty="0" sz="2400" spc="-10">
                <a:solidFill>
                  <a:srgbClr val="9933FF"/>
                </a:solidFill>
                <a:latin typeface="Tahoma"/>
                <a:cs typeface="Tahoma"/>
              </a:rPr>
              <a:t>2</a:t>
            </a:r>
            <a:r>
              <a:rPr dirty="0" sz="2400">
                <a:solidFill>
                  <a:srgbClr val="9933FF"/>
                </a:solidFill>
                <a:latin typeface="黑体"/>
                <a:cs typeface="黑体"/>
              </a:rPr>
              <a:t>条指令</a:t>
            </a:r>
            <a:r>
              <a:rPr dirty="0" sz="2400" spc="-25">
                <a:solidFill>
                  <a:srgbClr val="40458B"/>
                </a:solidFill>
                <a:latin typeface="黑体"/>
                <a:cs typeface="黑体"/>
              </a:rPr>
              <a:t>）；</a:t>
            </a:r>
            <a:endParaRPr sz="2400">
              <a:latin typeface="黑体"/>
              <a:cs typeface="黑体"/>
            </a:endParaRPr>
          </a:p>
          <a:p>
            <a:pPr lvl="1" marL="1099185" indent="-457200">
              <a:lnSpc>
                <a:spcPct val="100000"/>
              </a:lnSpc>
              <a:spcBef>
                <a:spcPts val="575"/>
              </a:spcBef>
              <a:buSzPct val="89583"/>
              <a:buFont typeface="Wingdings"/>
              <a:buChar char=""/>
              <a:tabLst>
                <a:tab pos="1099185" algn="l"/>
              </a:tabLst>
            </a:pPr>
            <a:r>
              <a:rPr dirty="0" sz="2400" spc="-15">
                <a:solidFill>
                  <a:srgbClr val="40458B"/>
                </a:solidFill>
                <a:latin typeface="黑体"/>
                <a:cs typeface="黑体"/>
              </a:rPr>
              <a:t>把它们发送到相应的功能部件。</a:t>
            </a:r>
            <a:endParaRPr sz="2400">
              <a:latin typeface="黑体"/>
              <a:cs typeface="黑体"/>
            </a:endParaRPr>
          </a:p>
          <a:p>
            <a:pPr marL="563880" indent="-551180">
              <a:lnSpc>
                <a:spcPct val="100000"/>
              </a:lnSpc>
              <a:spcBef>
                <a:spcPts val="575"/>
              </a:spcBef>
              <a:buClr>
                <a:srgbClr val="40458B"/>
              </a:buClr>
              <a:buFont typeface="Wingdings"/>
              <a:buChar char=""/>
              <a:tabLst>
                <a:tab pos="563880" algn="l"/>
              </a:tabLst>
            </a:pPr>
            <a:r>
              <a:rPr dirty="0" sz="2400" spc="-5">
                <a:solidFill>
                  <a:srgbClr val="001F5F"/>
                </a:solidFill>
                <a:latin typeface="黑体"/>
                <a:cs typeface="黑体"/>
              </a:rPr>
              <a:t>双流出超标量流水线中指令执行的时空图</a:t>
            </a:r>
            <a:endParaRPr sz="2400">
              <a:latin typeface="黑体"/>
              <a:cs typeface="黑体"/>
            </a:endParaRPr>
          </a:p>
          <a:p>
            <a:pPr lvl="1" marL="1099185" indent="-457200">
              <a:lnSpc>
                <a:spcPct val="100000"/>
              </a:lnSpc>
              <a:spcBef>
                <a:spcPts val="580"/>
              </a:spcBef>
              <a:buSzPct val="89583"/>
              <a:buFont typeface="Wingdings"/>
              <a:buChar char=""/>
              <a:tabLst>
                <a:tab pos="1099185" algn="l"/>
              </a:tabLst>
            </a:pPr>
            <a:r>
              <a:rPr dirty="0" sz="2400" spc="-5">
                <a:solidFill>
                  <a:srgbClr val="40458B"/>
                </a:solidFill>
                <a:latin typeface="黑体"/>
                <a:cs typeface="黑体"/>
              </a:rPr>
              <a:t>假设：所有的浮点指令都是加法指令，其执行时间为两个时钟周期。</a:t>
            </a:r>
            <a:endParaRPr sz="2400">
              <a:latin typeface="黑体"/>
              <a:cs typeface="黑体"/>
            </a:endParaRPr>
          </a:p>
          <a:p>
            <a:pPr lvl="1" marL="1099185" indent="-457200">
              <a:lnSpc>
                <a:spcPct val="100000"/>
              </a:lnSpc>
              <a:spcBef>
                <a:spcPts val="575"/>
              </a:spcBef>
              <a:buSzPct val="89583"/>
              <a:buFont typeface="Wingdings"/>
              <a:buChar char=""/>
              <a:tabLst>
                <a:tab pos="1099185" algn="l"/>
              </a:tabLst>
            </a:pPr>
            <a:r>
              <a:rPr dirty="0" sz="2400" spc="-15">
                <a:solidFill>
                  <a:srgbClr val="40458B"/>
                </a:solidFill>
                <a:latin typeface="黑体"/>
                <a:cs typeface="黑体"/>
              </a:rPr>
              <a:t>为简单起见，图中总是把整数指令放在浮点指令的前面。</a:t>
            </a:r>
            <a:endParaRPr sz="2400">
              <a:latin typeface="黑体"/>
              <a:cs typeface="黑体"/>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164/175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graphicFrame>
        <p:nvGraphicFramePr>
          <p:cNvPr id="9" name="object 9" descr=""/>
          <p:cNvGraphicFramePr>
            <a:graphicFrameLocks noGrp="1"/>
          </p:cNvGraphicFramePr>
          <p:nvPr/>
        </p:nvGraphicFramePr>
        <p:xfrm>
          <a:off x="2049462" y="1493837"/>
          <a:ext cx="8025130" cy="4505324"/>
        </p:xfrm>
        <a:graphic>
          <a:graphicData uri="http://schemas.openxmlformats.org/drawingml/2006/table">
            <a:tbl>
              <a:tblPr firstRow="1" bandRow="1">
                <a:tableStyleId>{2D5ABB26-0587-4C30-8999-92F81FD0307C}</a:tableStyleId>
              </a:tblPr>
              <a:tblGrid>
                <a:gridCol w="1389380"/>
                <a:gridCol w="765175"/>
                <a:gridCol w="798194"/>
                <a:gridCol w="791845"/>
                <a:gridCol w="862964"/>
                <a:gridCol w="862964"/>
                <a:gridCol w="791210"/>
                <a:gridCol w="791210"/>
                <a:gridCol w="862329"/>
              </a:tblGrid>
              <a:tr h="492125">
                <a:tc>
                  <a:txBody>
                    <a:bodyPr/>
                    <a:lstStyle/>
                    <a:p>
                      <a:pPr algn="ctr">
                        <a:lnSpc>
                          <a:spcPct val="100000"/>
                        </a:lnSpc>
                        <a:spcBef>
                          <a:spcPts val="520"/>
                        </a:spcBef>
                      </a:pPr>
                      <a:r>
                        <a:rPr dirty="0" sz="2000" spc="-20" b="1">
                          <a:solidFill>
                            <a:srgbClr val="E14B04"/>
                          </a:solidFill>
                          <a:latin typeface="宋体"/>
                          <a:cs typeface="宋体"/>
                        </a:rPr>
                        <a:t>指令类型</a:t>
                      </a:r>
                      <a:endParaRPr sz="2000">
                        <a:latin typeface="宋体"/>
                        <a:cs typeface="宋体"/>
                      </a:endParaRPr>
                    </a:p>
                  </a:txBody>
                  <a:tcPr marL="0" marR="0" marB="0" marT="6604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gridSpan="8">
                  <a:txBody>
                    <a:bodyPr/>
                    <a:lstStyle/>
                    <a:p>
                      <a:pPr algn="ctr" marL="635">
                        <a:lnSpc>
                          <a:spcPct val="100000"/>
                        </a:lnSpc>
                        <a:spcBef>
                          <a:spcPts val="520"/>
                        </a:spcBef>
                      </a:pPr>
                      <a:r>
                        <a:rPr dirty="0" sz="2000" spc="-20" b="1">
                          <a:solidFill>
                            <a:srgbClr val="E14B04"/>
                          </a:solidFill>
                          <a:latin typeface="宋体"/>
                          <a:cs typeface="宋体"/>
                        </a:rPr>
                        <a:t>流水线工作情况</a:t>
                      </a:r>
                      <a:endParaRPr sz="2000">
                        <a:latin typeface="宋体"/>
                        <a:cs typeface="宋体"/>
                      </a:endParaRPr>
                    </a:p>
                  </a:txBody>
                  <a:tcPr marL="0" marR="0" marB="0" marT="6604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495300">
                <a:tc>
                  <a:txBody>
                    <a:bodyPr/>
                    <a:lstStyle/>
                    <a:p>
                      <a:pPr algn="ctr">
                        <a:lnSpc>
                          <a:spcPct val="100000"/>
                        </a:lnSpc>
                        <a:spcBef>
                          <a:spcPts val="520"/>
                        </a:spcBef>
                      </a:pPr>
                      <a:r>
                        <a:rPr dirty="0" sz="2000" spc="-20" b="1">
                          <a:latin typeface="宋体"/>
                          <a:cs typeface="宋体"/>
                        </a:rPr>
                        <a:t>整数指令</a:t>
                      </a:r>
                      <a:endParaRPr sz="2000">
                        <a:latin typeface="宋体"/>
                        <a:cs typeface="宋体"/>
                      </a:endParaRPr>
                    </a:p>
                  </a:txBody>
                  <a:tcPr marL="0" marR="0" marB="0" marT="6604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gn="ctr" marL="635">
                        <a:lnSpc>
                          <a:spcPct val="100000"/>
                        </a:lnSpc>
                        <a:spcBef>
                          <a:spcPts val="520"/>
                        </a:spcBef>
                      </a:pPr>
                      <a:r>
                        <a:rPr dirty="0" sz="2000" spc="-25">
                          <a:solidFill>
                            <a:srgbClr val="40458B"/>
                          </a:solidFill>
                          <a:latin typeface="Tahoma"/>
                          <a:cs typeface="Tahoma"/>
                        </a:rPr>
                        <a:t>IF</a:t>
                      </a:r>
                      <a:endParaRPr sz="2000">
                        <a:latin typeface="Tahoma"/>
                        <a:cs typeface="Tahoma"/>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gn="ctr" marL="635">
                        <a:lnSpc>
                          <a:spcPct val="100000"/>
                        </a:lnSpc>
                        <a:spcBef>
                          <a:spcPts val="520"/>
                        </a:spcBef>
                      </a:pPr>
                      <a:r>
                        <a:rPr dirty="0" sz="2000" spc="-25">
                          <a:solidFill>
                            <a:srgbClr val="40458B"/>
                          </a:solidFill>
                          <a:latin typeface="Tahoma"/>
                          <a:cs typeface="Tahoma"/>
                        </a:rPr>
                        <a:t>ID</a:t>
                      </a:r>
                      <a:endParaRPr sz="2000">
                        <a:latin typeface="Tahoma"/>
                        <a:cs typeface="Tahoma"/>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gn="ctr" marL="635">
                        <a:lnSpc>
                          <a:spcPct val="100000"/>
                        </a:lnSpc>
                        <a:spcBef>
                          <a:spcPts val="520"/>
                        </a:spcBef>
                      </a:pPr>
                      <a:r>
                        <a:rPr dirty="0" sz="2000" spc="-25">
                          <a:solidFill>
                            <a:srgbClr val="40458B"/>
                          </a:solidFill>
                          <a:latin typeface="Tahoma"/>
                          <a:cs typeface="Tahoma"/>
                        </a:rPr>
                        <a:t>EX</a:t>
                      </a:r>
                      <a:endParaRPr sz="2000">
                        <a:latin typeface="Tahoma"/>
                        <a:cs typeface="Tahoma"/>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gn="ctr" marL="1270">
                        <a:lnSpc>
                          <a:spcPct val="100000"/>
                        </a:lnSpc>
                        <a:spcBef>
                          <a:spcPts val="520"/>
                        </a:spcBef>
                      </a:pPr>
                      <a:r>
                        <a:rPr dirty="0" sz="2000" spc="-25">
                          <a:solidFill>
                            <a:srgbClr val="40458B"/>
                          </a:solidFill>
                          <a:latin typeface="Tahoma"/>
                          <a:cs typeface="Tahoma"/>
                        </a:rPr>
                        <a:t>MEM</a:t>
                      </a:r>
                      <a:endParaRPr sz="2000">
                        <a:latin typeface="Tahoma"/>
                        <a:cs typeface="Tahoma"/>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gn="ctr">
                        <a:lnSpc>
                          <a:spcPct val="100000"/>
                        </a:lnSpc>
                        <a:spcBef>
                          <a:spcPts val="520"/>
                        </a:spcBef>
                      </a:pPr>
                      <a:r>
                        <a:rPr dirty="0" sz="2000" spc="-25">
                          <a:solidFill>
                            <a:srgbClr val="40458B"/>
                          </a:solidFill>
                          <a:latin typeface="Tahoma"/>
                          <a:cs typeface="Tahoma"/>
                        </a:rPr>
                        <a:t>WB</a:t>
                      </a:r>
                      <a:endParaRPr sz="2000">
                        <a:latin typeface="Tahoma"/>
                        <a:cs typeface="Tahoma"/>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CD9BA"/>
                    </a:solidFill>
                  </a:tcPr>
                </a:tc>
              </a:tr>
              <a:tr h="493395">
                <a:tc>
                  <a:txBody>
                    <a:bodyPr/>
                    <a:lstStyle/>
                    <a:p>
                      <a:pPr algn="ctr">
                        <a:lnSpc>
                          <a:spcPct val="100000"/>
                        </a:lnSpc>
                        <a:spcBef>
                          <a:spcPts val="525"/>
                        </a:spcBef>
                      </a:pPr>
                      <a:r>
                        <a:rPr dirty="0" sz="2000" spc="-20" b="1">
                          <a:latin typeface="宋体"/>
                          <a:cs typeface="宋体"/>
                        </a:rPr>
                        <a:t>浮点指令</a:t>
                      </a:r>
                      <a:endParaRPr sz="2000">
                        <a:latin typeface="宋体"/>
                        <a:cs typeface="宋体"/>
                      </a:endParaRPr>
                    </a:p>
                  </a:txBody>
                  <a:tcPr marL="0" marR="0" marB="0" marT="666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gn="ctr" marL="635">
                        <a:lnSpc>
                          <a:spcPct val="100000"/>
                        </a:lnSpc>
                        <a:spcBef>
                          <a:spcPts val="525"/>
                        </a:spcBef>
                      </a:pPr>
                      <a:r>
                        <a:rPr dirty="0" sz="2000" spc="-25">
                          <a:solidFill>
                            <a:srgbClr val="40458B"/>
                          </a:solidFill>
                          <a:latin typeface="Tahoma"/>
                          <a:cs typeface="Tahoma"/>
                        </a:rPr>
                        <a:t>IF</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gn="ctr" marL="635">
                        <a:lnSpc>
                          <a:spcPct val="100000"/>
                        </a:lnSpc>
                        <a:spcBef>
                          <a:spcPts val="525"/>
                        </a:spcBef>
                      </a:pPr>
                      <a:r>
                        <a:rPr dirty="0" sz="2000" spc="-25">
                          <a:solidFill>
                            <a:srgbClr val="40458B"/>
                          </a:solidFill>
                          <a:latin typeface="Tahoma"/>
                          <a:cs typeface="Tahoma"/>
                        </a:rPr>
                        <a:t>ID</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gn="ctr" marL="635">
                        <a:lnSpc>
                          <a:spcPct val="100000"/>
                        </a:lnSpc>
                        <a:spcBef>
                          <a:spcPts val="525"/>
                        </a:spcBef>
                      </a:pPr>
                      <a:r>
                        <a:rPr dirty="0" sz="2000" spc="-25">
                          <a:solidFill>
                            <a:srgbClr val="40458B"/>
                          </a:solidFill>
                          <a:latin typeface="Tahoma"/>
                          <a:cs typeface="Tahoma"/>
                        </a:rPr>
                        <a:t>EX</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gn="ctr" marL="635">
                        <a:lnSpc>
                          <a:spcPct val="100000"/>
                        </a:lnSpc>
                        <a:spcBef>
                          <a:spcPts val="525"/>
                        </a:spcBef>
                      </a:pPr>
                      <a:r>
                        <a:rPr dirty="0" sz="2000" spc="-25">
                          <a:solidFill>
                            <a:srgbClr val="40458B"/>
                          </a:solidFill>
                          <a:latin typeface="Tahoma"/>
                          <a:cs typeface="Tahoma"/>
                        </a:rPr>
                        <a:t>EX</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gn="ctr" marL="1905">
                        <a:lnSpc>
                          <a:spcPct val="100000"/>
                        </a:lnSpc>
                        <a:spcBef>
                          <a:spcPts val="525"/>
                        </a:spcBef>
                      </a:pPr>
                      <a:r>
                        <a:rPr dirty="0" sz="2000" spc="-25">
                          <a:solidFill>
                            <a:srgbClr val="40458B"/>
                          </a:solidFill>
                          <a:latin typeface="Tahoma"/>
                          <a:cs typeface="Tahoma"/>
                        </a:rPr>
                        <a:t>MEM</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gn="ctr" marL="1270">
                        <a:lnSpc>
                          <a:spcPct val="100000"/>
                        </a:lnSpc>
                        <a:spcBef>
                          <a:spcPts val="525"/>
                        </a:spcBef>
                      </a:pPr>
                      <a:r>
                        <a:rPr dirty="0" sz="2000" spc="-25">
                          <a:solidFill>
                            <a:srgbClr val="40458B"/>
                          </a:solidFill>
                          <a:latin typeface="Tahoma"/>
                          <a:cs typeface="Tahoma"/>
                        </a:rPr>
                        <a:t>WB</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CD9BA"/>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CD9BA"/>
                    </a:solidFill>
                  </a:tcPr>
                </a:tc>
              </a:tr>
              <a:tr h="493395">
                <a:tc>
                  <a:txBody>
                    <a:bodyPr/>
                    <a:lstStyle/>
                    <a:p>
                      <a:pPr algn="ctr">
                        <a:lnSpc>
                          <a:spcPct val="100000"/>
                        </a:lnSpc>
                        <a:spcBef>
                          <a:spcPts val="525"/>
                        </a:spcBef>
                      </a:pPr>
                      <a:r>
                        <a:rPr dirty="0" sz="2000" spc="-20" b="1">
                          <a:latin typeface="宋体"/>
                          <a:cs typeface="宋体"/>
                        </a:rPr>
                        <a:t>整数指令</a:t>
                      </a:r>
                      <a:endParaRPr sz="2000">
                        <a:latin typeface="宋体"/>
                        <a:cs typeface="宋体"/>
                      </a:endParaRPr>
                    </a:p>
                  </a:txBody>
                  <a:tcPr marL="0" marR="0" marB="0" marT="666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marL="635">
                        <a:lnSpc>
                          <a:spcPct val="100000"/>
                        </a:lnSpc>
                        <a:spcBef>
                          <a:spcPts val="525"/>
                        </a:spcBef>
                      </a:pPr>
                      <a:r>
                        <a:rPr dirty="0" sz="2000" spc="-25">
                          <a:solidFill>
                            <a:srgbClr val="40458B"/>
                          </a:solidFill>
                          <a:latin typeface="Tahoma"/>
                          <a:cs typeface="Tahoma"/>
                        </a:rPr>
                        <a:t>IF</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marL="1270">
                        <a:lnSpc>
                          <a:spcPct val="100000"/>
                        </a:lnSpc>
                        <a:spcBef>
                          <a:spcPts val="525"/>
                        </a:spcBef>
                      </a:pPr>
                      <a:r>
                        <a:rPr dirty="0" sz="2000" spc="-25">
                          <a:solidFill>
                            <a:srgbClr val="40458B"/>
                          </a:solidFill>
                          <a:latin typeface="Tahoma"/>
                          <a:cs typeface="Tahoma"/>
                        </a:rPr>
                        <a:t>ID</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a:lnSpc>
                          <a:spcPct val="100000"/>
                        </a:lnSpc>
                        <a:spcBef>
                          <a:spcPts val="525"/>
                        </a:spcBef>
                      </a:pPr>
                      <a:r>
                        <a:rPr dirty="0" sz="2000" spc="-25">
                          <a:solidFill>
                            <a:srgbClr val="40458B"/>
                          </a:solidFill>
                          <a:latin typeface="Tahoma"/>
                          <a:cs typeface="Tahoma"/>
                        </a:rPr>
                        <a:t>EX</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marL="1905">
                        <a:lnSpc>
                          <a:spcPct val="100000"/>
                        </a:lnSpc>
                        <a:spcBef>
                          <a:spcPts val="525"/>
                        </a:spcBef>
                      </a:pPr>
                      <a:r>
                        <a:rPr dirty="0" sz="2000" spc="-25">
                          <a:solidFill>
                            <a:srgbClr val="40458B"/>
                          </a:solidFill>
                          <a:latin typeface="Tahoma"/>
                          <a:cs typeface="Tahoma"/>
                        </a:rPr>
                        <a:t>MEM</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marL="1270">
                        <a:lnSpc>
                          <a:spcPct val="100000"/>
                        </a:lnSpc>
                        <a:spcBef>
                          <a:spcPts val="525"/>
                        </a:spcBef>
                      </a:pPr>
                      <a:r>
                        <a:rPr dirty="0" sz="2000" spc="-25">
                          <a:solidFill>
                            <a:srgbClr val="40458B"/>
                          </a:solidFill>
                          <a:latin typeface="Tahoma"/>
                          <a:cs typeface="Tahoma"/>
                        </a:rPr>
                        <a:t>WB</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FFFCC"/>
                    </a:solidFill>
                  </a:tcPr>
                </a:tc>
              </a:tr>
              <a:tr h="514350">
                <a:tc>
                  <a:txBody>
                    <a:bodyPr/>
                    <a:lstStyle/>
                    <a:p>
                      <a:pPr algn="ctr">
                        <a:lnSpc>
                          <a:spcPct val="100000"/>
                        </a:lnSpc>
                        <a:spcBef>
                          <a:spcPts val="525"/>
                        </a:spcBef>
                      </a:pPr>
                      <a:r>
                        <a:rPr dirty="0" sz="2000" spc="-20" b="1">
                          <a:latin typeface="宋体"/>
                          <a:cs typeface="宋体"/>
                        </a:rPr>
                        <a:t>浮点指令</a:t>
                      </a:r>
                      <a:endParaRPr sz="2000">
                        <a:latin typeface="宋体"/>
                        <a:cs typeface="宋体"/>
                      </a:endParaRPr>
                    </a:p>
                  </a:txBody>
                  <a:tcPr marL="0" marR="0" marB="0" marT="666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marL="635">
                        <a:lnSpc>
                          <a:spcPct val="100000"/>
                        </a:lnSpc>
                        <a:spcBef>
                          <a:spcPts val="525"/>
                        </a:spcBef>
                      </a:pPr>
                      <a:r>
                        <a:rPr dirty="0" sz="2000" spc="-25">
                          <a:solidFill>
                            <a:srgbClr val="40458B"/>
                          </a:solidFill>
                          <a:latin typeface="Tahoma"/>
                          <a:cs typeface="Tahoma"/>
                        </a:rPr>
                        <a:t>IF</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marL="1270">
                        <a:lnSpc>
                          <a:spcPct val="100000"/>
                        </a:lnSpc>
                        <a:spcBef>
                          <a:spcPts val="525"/>
                        </a:spcBef>
                      </a:pPr>
                      <a:r>
                        <a:rPr dirty="0" sz="2000" spc="-25">
                          <a:solidFill>
                            <a:srgbClr val="40458B"/>
                          </a:solidFill>
                          <a:latin typeface="Tahoma"/>
                          <a:cs typeface="Tahoma"/>
                        </a:rPr>
                        <a:t>ID</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a:lnSpc>
                          <a:spcPct val="100000"/>
                        </a:lnSpc>
                        <a:spcBef>
                          <a:spcPts val="525"/>
                        </a:spcBef>
                      </a:pPr>
                      <a:r>
                        <a:rPr dirty="0" sz="2000" spc="-25">
                          <a:solidFill>
                            <a:srgbClr val="40458B"/>
                          </a:solidFill>
                          <a:latin typeface="Tahoma"/>
                          <a:cs typeface="Tahoma"/>
                        </a:rPr>
                        <a:t>EX</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marL="635">
                        <a:lnSpc>
                          <a:spcPct val="100000"/>
                        </a:lnSpc>
                        <a:spcBef>
                          <a:spcPts val="525"/>
                        </a:spcBef>
                      </a:pPr>
                      <a:r>
                        <a:rPr dirty="0" sz="2000" spc="-25">
                          <a:solidFill>
                            <a:srgbClr val="40458B"/>
                          </a:solidFill>
                          <a:latin typeface="Tahoma"/>
                          <a:cs typeface="Tahoma"/>
                        </a:rPr>
                        <a:t>EX</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a:lnSpc>
                          <a:spcPct val="100000"/>
                        </a:lnSpc>
                        <a:spcBef>
                          <a:spcPts val="525"/>
                        </a:spcBef>
                      </a:pPr>
                      <a:r>
                        <a:rPr dirty="0" sz="2000" spc="-25">
                          <a:solidFill>
                            <a:srgbClr val="40458B"/>
                          </a:solidFill>
                          <a:latin typeface="Tahoma"/>
                          <a:cs typeface="Tahoma"/>
                        </a:rPr>
                        <a:t>MEM</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marL="1905">
                        <a:lnSpc>
                          <a:spcPct val="100000"/>
                        </a:lnSpc>
                        <a:spcBef>
                          <a:spcPts val="525"/>
                        </a:spcBef>
                      </a:pPr>
                      <a:r>
                        <a:rPr dirty="0" sz="2000" spc="-25">
                          <a:solidFill>
                            <a:srgbClr val="40458B"/>
                          </a:solidFill>
                          <a:latin typeface="Tahoma"/>
                          <a:cs typeface="Tahoma"/>
                        </a:rPr>
                        <a:t>WB</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FFFCC"/>
                    </a:solidFill>
                  </a:tcPr>
                </a:tc>
              </a:tr>
              <a:tr h="509270">
                <a:tc>
                  <a:txBody>
                    <a:bodyPr/>
                    <a:lstStyle/>
                    <a:p>
                      <a:pPr algn="ctr">
                        <a:lnSpc>
                          <a:spcPct val="100000"/>
                        </a:lnSpc>
                        <a:spcBef>
                          <a:spcPts val="525"/>
                        </a:spcBef>
                      </a:pPr>
                      <a:r>
                        <a:rPr dirty="0" sz="2000" spc="-20" b="1">
                          <a:latin typeface="宋体"/>
                          <a:cs typeface="宋体"/>
                        </a:rPr>
                        <a:t>整数指令</a:t>
                      </a:r>
                      <a:endParaRPr sz="2000">
                        <a:latin typeface="宋体"/>
                        <a:cs typeface="宋体"/>
                      </a:endParaRPr>
                    </a:p>
                  </a:txBody>
                  <a:tcPr marL="0" marR="0" marB="0" marT="666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gn="ctr" marL="1270">
                        <a:lnSpc>
                          <a:spcPct val="100000"/>
                        </a:lnSpc>
                        <a:spcBef>
                          <a:spcPts val="525"/>
                        </a:spcBef>
                      </a:pPr>
                      <a:r>
                        <a:rPr dirty="0" sz="2000" spc="-25">
                          <a:solidFill>
                            <a:srgbClr val="40458B"/>
                          </a:solidFill>
                          <a:latin typeface="Tahoma"/>
                          <a:cs typeface="Tahoma"/>
                        </a:rPr>
                        <a:t>IF</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gn="ctr">
                        <a:lnSpc>
                          <a:spcPct val="100000"/>
                        </a:lnSpc>
                        <a:spcBef>
                          <a:spcPts val="525"/>
                        </a:spcBef>
                      </a:pPr>
                      <a:r>
                        <a:rPr dirty="0" sz="2000" spc="-25">
                          <a:solidFill>
                            <a:srgbClr val="40458B"/>
                          </a:solidFill>
                          <a:latin typeface="Tahoma"/>
                          <a:cs typeface="Tahoma"/>
                        </a:rPr>
                        <a:t>ID</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gn="ctr">
                        <a:lnSpc>
                          <a:spcPct val="100000"/>
                        </a:lnSpc>
                        <a:spcBef>
                          <a:spcPts val="525"/>
                        </a:spcBef>
                      </a:pPr>
                      <a:r>
                        <a:rPr dirty="0" sz="2000" spc="-25">
                          <a:solidFill>
                            <a:srgbClr val="40458B"/>
                          </a:solidFill>
                          <a:latin typeface="Tahoma"/>
                          <a:cs typeface="Tahoma"/>
                        </a:rPr>
                        <a:t>EX</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gn="ctr">
                        <a:lnSpc>
                          <a:spcPct val="100000"/>
                        </a:lnSpc>
                        <a:spcBef>
                          <a:spcPts val="525"/>
                        </a:spcBef>
                      </a:pPr>
                      <a:r>
                        <a:rPr dirty="0" sz="2000" spc="-25">
                          <a:solidFill>
                            <a:srgbClr val="40458B"/>
                          </a:solidFill>
                          <a:latin typeface="Tahoma"/>
                          <a:cs typeface="Tahoma"/>
                        </a:rPr>
                        <a:t>MEM</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gn="ctr" marL="1905">
                        <a:lnSpc>
                          <a:spcPct val="100000"/>
                        </a:lnSpc>
                        <a:spcBef>
                          <a:spcPts val="525"/>
                        </a:spcBef>
                      </a:pPr>
                      <a:r>
                        <a:rPr dirty="0" sz="2000" spc="-25">
                          <a:solidFill>
                            <a:srgbClr val="40458B"/>
                          </a:solidFill>
                          <a:latin typeface="Tahoma"/>
                          <a:cs typeface="Tahoma"/>
                        </a:rPr>
                        <a:t>WB</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CDF7FF"/>
                    </a:solidFill>
                  </a:tcPr>
                </a:tc>
              </a:tr>
              <a:tr h="492125">
                <a:tc>
                  <a:txBody>
                    <a:bodyPr/>
                    <a:lstStyle/>
                    <a:p>
                      <a:pPr algn="ctr">
                        <a:lnSpc>
                          <a:spcPct val="100000"/>
                        </a:lnSpc>
                        <a:spcBef>
                          <a:spcPts val="525"/>
                        </a:spcBef>
                      </a:pPr>
                      <a:r>
                        <a:rPr dirty="0" sz="2000" spc="-20" b="1">
                          <a:latin typeface="宋体"/>
                          <a:cs typeface="宋体"/>
                        </a:rPr>
                        <a:t>浮点指令</a:t>
                      </a:r>
                      <a:endParaRPr sz="2000">
                        <a:latin typeface="宋体"/>
                        <a:cs typeface="宋体"/>
                      </a:endParaRPr>
                    </a:p>
                  </a:txBody>
                  <a:tcPr marL="0" marR="0" marB="0" marT="666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gn="ctr" marL="1270">
                        <a:lnSpc>
                          <a:spcPct val="100000"/>
                        </a:lnSpc>
                        <a:spcBef>
                          <a:spcPts val="525"/>
                        </a:spcBef>
                      </a:pPr>
                      <a:r>
                        <a:rPr dirty="0" sz="2000" spc="-25">
                          <a:solidFill>
                            <a:srgbClr val="40458B"/>
                          </a:solidFill>
                          <a:latin typeface="Tahoma"/>
                          <a:cs typeface="Tahoma"/>
                        </a:rPr>
                        <a:t>IF</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gn="ctr">
                        <a:lnSpc>
                          <a:spcPct val="100000"/>
                        </a:lnSpc>
                        <a:spcBef>
                          <a:spcPts val="525"/>
                        </a:spcBef>
                      </a:pPr>
                      <a:r>
                        <a:rPr dirty="0" sz="2000" spc="-25">
                          <a:solidFill>
                            <a:srgbClr val="40458B"/>
                          </a:solidFill>
                          <a:latin typeface="Tahoma"/>
                          <a:cs typeface="Tahoma"/>
                        </a:rPr>
                        <a:t>ID</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gn="ctr">
                        <a:lnSpc>
                          <a:spcPct val="100000"/>
                        </a:lnSpc>
                        <a:spcBef>
                          <a:spcPts val="525"/>
                        </a:spcBef>
                      </a:pPr>
                      <a:r>
                        <a:rPr dirty="0" sz="2000" spc="-25">
                          <a:solidFill>
                            <a:srgbClr val="40458B"/>
                          </a:solidFill>
                          <a:latin typeface="Tahoma"/>
                          <a:cs typeface="Tahoma"/>
                        </a:rPr>
                        <a:t>EX</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gn="ctr" marL="2540">
                        <a:lnSpc>
                          <a:spcPct val="100000"/>
                        </a:lnSpc>
                        <a:spcBef>
                          <a:spcPts val="525"/>
                        </a:spcBef>
                      </a:pPr>
                      <a:r>
                        <a:rPr dirty="0" sz="2000" spc="-25">
                          <a:solidFill>
                            <a:srgbClr val="40458B"/>
                          </a:solidFill>
                          <a:latin typeface="Tahoma"/>
                          <a:cs typeface="Tahoma"/>
                        </a:rPr>
                        <a:t>EX</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gn="ctr" marL="635">
                        <a:lnSpc>
                          <a:spcPct val="100000"/>
                        </a:lnSpc>
                        <a:spcBef>
                          <a:spcPts val="525"/>
                        </a:spcBef>
                      </a:pPr>
                      <a:r>
                        <a:rPr dirty="0" sz="2000" spc="-25">
                          <a:solidFill>
                            <a:srgbClr val="40458B"/>
                          </a:solidFill>
                          <a:latin typeface="Tahoma"/>
                          <a:cs typeface="Tahoma"/>
                        </a:rPr>
                        <a:t>MEM</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CDF7FF"/>
                    </a:solidFill>
                  </a:tcPr>
                </a:tc>
                <a:tc>
                  <a:txBody>
                    <a:bodyPr/>
                    <a:lstStyle/>
                    <a:p>
                      <a:pPr algn="ctr" marL="635">
                        <a:lnSpc>
                          <a:spcPct val="100000"/>
                        </a:lnSpc>
                        <a:spcBef>
                          <a:spcPts val="525"/>
                        </a:spcBef>
                      </a:pPr>
                      <a:r>
                        <a:rPr dirty="0" sz="2000" spc="-25">
                          <a:solidFill>
                            <a:srgbClr val="40458B"/>
                          </a:solidFill>
                          <a:latin typeface="Tahoma"/>
                          <a:cs typeface="Tahoma"/>
                        </a:rPr>
                        <a:t>WB</a:t>
                      </a:r>
                      <a:endParaRPr sz="2000">
                        <a:latin typeface="Tahoma"/>
                        <a:cs typeface="Tahoma"/>
                      </a:endParaRPr>
                    </a:p>
                  </a:txBody>
                  <a:tcPr marL="0" marR="0" marB="0" marT="6667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CDF7FF"/>
                    </a:solidFill>
                  </a:tcPr>
                </a:tc>
              </a:tr>
              <a:tr h="495300">
                <a:tc>
                  <a:txBody>
                    <a:bodyPr/>
                    <a:lstStyle/>
                    <a:p>
                      <a:pPr algn="ctr">
                        <a:lnSpc>
                          <a:spcPct val="100000"/>
                        </a:lnSpc>
                        <a:spcBef>
                          <a:spcPts val="525"/>
                        </a:spcBef>
                      </a:pPr>
                      <a:r>
                        <a:rPr dirty="0" sz="2000" spc="-20" b="1">
                          <a:latin typeface="宋体"/>
                          <a:cs typeface="宋体"/>
                        </a:rPr>
                        <a:t>整数指令</a:t>
                      </a:r>
                      <a:endParaRPr sz="2000">
                        <a:latin typeface="宋体"/>
                        <a:cs typeface="宋体"/>
                      </a:endParaRPr>
                    </a:p>
                  </a:txBody>
                  <a:tcPr marL="0" marR="0" marB="0" marT="666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DBF9BD"/>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DBF9BD"/>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DBF9BD"/>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DBF9BD"/>
                    </a:solidFill>
                  </a:tcPr>
                </a:tc>
                <a:tc>
                  <a:txBody>
                    <a:bodyPr/>
                    <a:lstStyle/>
                    <a:p>
                      <a:pPr algn="ctr">
                        <a:lnSpc>
                          <a:spcPct val="100000"/>
                        </a:lnSpc>
                        <a:spcBef>
                          <a:spcPts val="525"/>
                        </a:spcBef>
                      </a:pPr>
                      <a:r>
                        <a:rPr dirty="0" sz="2000" spc="-25">
                          <a:solidFill>
                            <a:srgbClr val="40458B"/>
                          </a:solidFill>
                          <a:latin typeface="Tahoma"/>
                          <a:cs typeface="Tahoma"/>
                        </a:rPr>
                        <a:t>IF</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DBF9BD"/>
                    </a:solidFill>
                  </a:tcPr>
                </a:tc>
                <a:tc>
                  <a:txBody>
                    <a:bodyPr/>
                    <a:lstStyle/>
                    <a:p>
                      <a:pPr algn="ctr">
                        <a:lnSpc>
                          <a:spcPct val="100000"/>
                        </a:lnSpc>
                        <a:spcBef>
                          <a:spcPts val="525"/>
                        </a:spcBef>
                      </a:pPr>
                      <a:r>
                        <a:rPr dirty="0" sz="2000" spc="-25">
                          <a:solidFill>
                            <a:srgbClr val="40458B"/>
                          </a:solidFill>
                          <a:latin typeface="Tahoma"/>
                          <a:cs typeface="Tahoma"/>
                        </a:rPr>
                        <a:t>ID</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DBF9BD"/>
                    </a:solidFill>
                  </a:tcPr>
                </a:tc>
                <a:tc>
                  <a:txBody>
                    <a:bodyPr/>
                    <a:lstStyle/>
                    <a:p>
                      <a:pPr algn="ctr" marL="1270">
                        <a:lnSpc>
                          <a:spcPct val="100000"/>
                        </a:lnSpc>
                        <a:spcBef>
                          <a:spcPts val="525"/>
                        </a:spcBef>
                      </a:pPr>
                      <a:r>
                        <a:rPr dirty="0" sz="2000" spc="-25">
                          <a:solidFill>
                            <a:srgbClr val="40458B"/>
                          </a:solidFill>
                          <a:latin typeface="Tahoma"/>
                          <a:cs typeface="Tahoma"/>
                        </a:rPr>
                        <a:t>EX</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DBF9BD"/>
                    </a:solidFill>
                  </a:tcPr>
                </a:tc>
                <a:tc>
                  <a:txBody>
                    <a:bodyPr/>
                    <a:lstStyle/>
                    <a:p>
                      <a:pPr algn="ctr" marL="635">
                        <a:lnSpc>
                          <a:spcPct val="100000"/>
                        </a:lnSpc>
                        <a:spcBef>
                          <a:spcPts val="525"/>
                        </a:spcBef>
                      </a:pPr>
                      <a:r>
                        <a:rPr dirty="0" sz="2000" spc="-25">
                          <a:solidFill>
                            <a:srgbClr val="40458B"/>
                          </a:solidFill>
                          <a:latin typeface="Tahoma"/>
                          <a:cs typeface="Tahoma"/>
                        </a:rPr>
                        <a:t>MEM</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DBF9BD"/>
                    </a:solidFill>
                  </a:tcPr>
                </a:tc>
                <a:tc>
                  <a:txBody>
                    <a:bodyPr/>
                    <a:lstStyle/>
                    <a:p>
                      <a:pPr algn="ctr" marL="635">
                        <a:lnSpc>
                          <a:spcPct val="100000"/>
                        </a:lnSpc>
                        <a:spcBef>
                          <a:spcPts val="525"/>
                        </a:spcBef>
                      </a:pPr>
                      <a:r>
                        <a:rPr dirty="0" sz="2000" spc="-25">
                          <a:solidFill>
                            <a:srgbClr val="40458B"/>
                          </a:solidFill>
                          <a:latin typeface="Tahoma"/>
                          <a:cs typeface="Tahoma"/>
                        </a:rPr>
                        <a:t>WB</a:t>
                      </a:r>
                      <a:endParaRPr sz="2000">
                        <a:latin typeface="Tahoma"/>
                        <a:cs typeface="Tahoma"/>
                      </a:endParaRPr>
                    </a:p>
                  </a:txBody>
                  <a:tcPr marL="0" marR="0" marB="0" marT="6667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DBF9BD"/>
                    </a:solidFill>
                  </a:tcPr>
                </a:tc>
              </a:tr>
              <a:tr h="456565">
                <a:tc>
                  <a:txBody>
                    <a:bodyPr/>
                    <a:lstStyle/>
                    <a:p>
                      <a:pPr algn="ctr">
                        <a:lnSpc>
                          <a:spcPct val="100000"/>
                        </a:lnSpc>
                        <a:spcBef>
                          <a:spcPts val="525"/>
                        </a:spcBef>
                      </a:pPr>
                      <a:r>
                        <a:rPr dirty="0" sz="2000" spc="-25" b="1">
                          <a:latin typeface="宋体"/>
                          <a:cs typeface="宋体"/>
                        </a:rPr>
                        <a:t>浮点指令</a:t>
                      </a:r>
                      <a:endParaRPr sz="2000">
                        <a:latin typeface="宋体"/>
                        <a:cs typeface="宋体"/>
                      </a:endParaRPr>
                    </a:p>
                  </a:txBody>
                  <a:tcPr marL="0" marR="0" marB="0" marT="66675">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DBF9BD"/>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DBF9BD"/>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DBF9BD"/>
                    </a:solidFill>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DBF9BD"/>
                    </a:solidFill>
                  </a:tcPr>
                </a:tc>
                <a:tc>
                  <a:txBody>
                    <a:bodyPr/>
                    <a:lstStyle/>
                    <a:p>
                      <a:pPr algn="ctr" marL="635">
                        <a:lnSpc>
                          <a:spcPct val="100000"/>
                        </a:lnSpc>
                        <a:spcBef>
                          <a:spcPts val="525"/>
                        </a:spcBef>
                      </a:pPr>
                      <a:r>
                        <a:rPr dirty="0" sz="2000" spc="-25">
                          <a:solidFill>
                            <a:srgbClr val="40458B"/>
                          </a:solidFill>
                          <a:latin typeface="Tahoma"/>
                          <a:cs typeface="Tahoma"/>
                        </a:rPr>
                        <a:t>IF</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DBF9BD"/>
                    </a:solidFill>
                  </a:tcPr>
                </a:tc>
                <a:tc>
                  <a:txBody>
                    <a:bodyPr/>
                    <a:lstStyle/>
                    <a:p>
                      <a:pPr algn="ctr">
                        <a:lnSpc>
                          <a:spcPct val="100000"/>
                        </a:lnSpc>
                        <a:spcBef>
                          <a:spcPts val="525"/>
                        </a:spcBef>
                      </a:pPr>
                      <a:r>
                        <a:rPr dirty="0" sz="2000" spc="-25">
                          <a:solidFill>
                            <a:srgbClr val="40458B"/>
                          </a:solidFill>
                          <a:latin typeface="Tahoma"/>
                          <a:cs typeface="Tahoma"/>
                        </a:rPr>
                        <a:t>ID</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DBF9BD"/>
                    </a:solidFill>
                  </a:tcPr>
                </a:tc>
                <a:tc>
                  <a:txBody>
                    <a:bodyPr/>
                    <a:lstStyle/>
                    <a:p>
                      <a:pPr algn="ctr" marL="1905">
                        <a:lnSpc>
                          <a:spcPct val="100000"/>
                        </a:lnSpc>
                        <a:spcBef>
                          <a:spcPts val="525"/>
                        </a:spcBef>
                      </a:pPr>
                      <a:r>
                        <a:rPr dirty="0" sz="2000" spc="-25">
                          <a:solidFill>
                            <a:srgbClr val="40458B"/>
                          </a:solidFill>
                          <a:latin typeface="Tahoma"/>
                          <a:cs typeface="Tahoma"/>
                        </a:rPr>
                        <a:t>EX</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DBF9BD"/>
                    </a:solidFill>
                  </a:tcPr>
                </a:tc>
                <a:tc>
                  <a:txBody>
                    <a:bodyPr/>
                    <a:lstStyle/>
                    <a:p>
                      <a:pPr algn="ctr" marL="2540">
                        <a:lnSpc>
                          <a:spcPct val="100000"/>
                        </a:lnSpc>
                        <a:spcBef>
                          <a:spcPts val="525"/>
                        </a:spcBef>
                      </a:pPr>
                      <a:r>
                        <a:rPr dirty="0" sz="2000" spc="-25">
                          <a:solidFill>
                            <a:srgbClr val="40458B"/>
                          </a:solidFill>
                          <a:latin typeface="Tahoma"/>
                          <a:cs typeface="Tahoma"/>
                        </a:rPr>
                        <a:t>EX</a:t>
                      </a:r>
                      <a:endParaRPr sz="2000">
                        <a:latin typeface="Tahoma"/>
                        <a:cs typeface="Tahoma"/>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DBF9BD"/>
                    </a:solidFill>
                  </a:tcPr>
                </a:tc>
                <a:tc>
                  <a:txBody>
                    <a:bodyPr/>
                    <a:lstStyle/>
                    <a:p>
                      <a:pPr algn="ctr" marL="1905">
                        <a:lnSpc>
                          <a:spcPct val="100000"/>
                        </a:lnSpc>
                        <a:spcBef>
                          <a:spcPts val="525"/>
                        </a:spcBef>
                      </a:pPr>
                      <a:r>
                        <a:rPr dirty="0" sz="2000" spc="-25">
                          <a:solidFill>
                            <a:srgbClr val="40458B"/>
                          </a:solidFill>
                          <a:latin typeface="Tahoma"/>
                          <a:cs typeface="Tahoma"/>
                        </a:rPr>
                        <a:t>MEM</a:t>
                      </a:r>
                      <a:endParaRPr sz="2000">
                        <a:latin typeface="Tahoma"/>
                        <a:cs typeface="Tahoma"/>
                      </a:endParaRPr>
                    </a:p>
                  </a:txBody>
                  <a:tcPr marL="0" marR="0" marB="0" marT="66675">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solidFill>
                      <a:srgbClr val="DBF9BD"/>
                    </a:solidFill>
                  </a:tcPr>
                </a:tc>
              </a:tr>
              <a:tr h="63500">
                <a:tc>
                  <a:txBody>
                    <a:bodyPr/>
                    <a:lstStyle/>
                    <a:p>
                      <a:pPr>
                        <a:lnSpc>
                          <a:spcPct val="100000"/>
                        </a:lnSpc>
                      </a:pPr>
                      <a:endParaRPr sz="200">
                        <a:latin typeface="Times New Roman"/>
                        <a:cs typeface="Times New Roman"/>
                      </a:endParaRPr>
                    </a:p>
                  </a:txBody>
                  <a:tcPr marL="0" marR="0" marB="0" marT="0">
                    <a:lnT w="28575">
                      <a:solidFill>
                        <a:srgbClr val="40458B"/>
                      </a:solidFill>
                      <a:prstDash val="solid"/>
                    </a:lnT>
                    <a:solidFill>
                      <a:srgbClr val="DBF9BD"/>
                    </a:solidFill>
                  </a:tcPr>
                </a:tc>
                <a:tc>
                  <a:txBody>
                    <a:bodyPr/>
                    <a:lstStyle/>
                    <a:p>
                      <a:pPr>
                        <a:lnSpc>
                          <a:spcPct val="100000"/>
                        </a:lnSpc>
                      </a:pPr>
                      <a:endParaRPr sz="200">
                        <a:latin typeface="Times New Roman"/>
                        <a:cs typeface="Times New Roman"/>
                      </a:endParaRPr>
                    </a:p>
                  </a:txBody>
                  <a:tcPr marL="0" marR="0" marB="0" marT="0">
                    <a:lnT w="28575">
                      <a:solidFill>
                        <a:srgbClr val="40458B"/>
                      </a:solidFill>
                      <a:prstDash val="solid"/>
                    </a:lnT>
                    <a:solidFill>
                      <a:srgbClr val="DBF9BD"/>
                    </a:solidFill>
                  </a:tcPr>
                </a:tc>
                <a:tc>
                  <a:txBody>
                    <a:bodyPr/>
                    <a:lstStyle/>
                    <a:p>
                      <a:pPr>
                        <a:lnSpc>
                          <a:spcPct val="100000"/>
                        </a:lnSpc>
                      </a:pPr>
                      <a:endParaRPr sz="200">
                        <a:latin typeface="Times New Roman"/>
                        <a:cs typeface="Times New Roman"/>
                      </a:endParaRPr>
                    </a:p>
                  </a:txBody>
                  <a:tcPr marL="0" marR="0" marB="0" marT="0">
                    <a:lnT w="28575">
                      <a:solidFill>
                        <a:srgbClr val="40458B"/>
                      </a:solidFill>
                      <a:prstDash val="solid"/>
                    </a:lnT>
                    <a:solidFill>
                      <a:srgbClr val="DBF9BD"/>
                    </a:solidFill>
                  </a:tcPr>
                </a:tc>
                <a:tc>
                  <a:txBody>
                    <a:bodyPr/>
                    <a:lstStyle/>
                    <a:p>
                      <a:pPr>
                        <a:lnSpc>
                          <a:spcPct val="100000"/>
                        </a:lnSpc>
                      </a:pPr>
                      <a:endParaRPr sz="200">
                        <a:latin typeface="Times New Roman"/>
                        <a:cs typeface="Times New Roman"/>
                      </a:endParaRPr>
                    </a:p>
                  </a:txBody>
                  <a:tcPr marL="0" marR="0" marB="0" marT="0">
                    <a:lnT w="28575">
                      <a:solidFill>
                        <a:srgbClr val="40458B"/>
                      </a:solidFill>
                      <a:prstDash val="solid"/>
                    </a:lnT>
                    <a:solidFill>
                      <a:srgbClr val="DBF9BD"/>
                    </a:solidFill>
                  </a:tcPr>
                </a:tc>
                <a:tc>
                  <a:txBody>
                    <a:bodyPr/>
                    <a:lstStyle/>
                    <a:p>
                      <a:pPr>
                        <a:lnSpc>
                          <a:spcPct val="100000"/>
                        </a:lnSpc>
                      </a:pPr>
                      <a:endParaRPr sz="200">
                        <a:latin typeface="Times New Roman"/>
                        <a:cs typeface="Times New Roman"/>
                      </a:endParaRPr>
                    </a:p>
                  </a:txBody>
                  <a:tcPr marL="0" marR="0" marB="0" marT="0">
                    <a:lnT w="28575">
                      <a:solidFill>
                        <a:srgbClr val="40458B"/>
                      </a:solidFill>
                      <a:prstDash val="solid"/>
                    </a:lnT>
                    <a:solidFill>
                      <a:srgbClr val="DBF9BD"/>
                    </a:solidFill>
                  </a:tcPr>
                </a:tc>
                <a:tc>
                  <a:txBody>
                    <a:bodyPr/>
                    <a:lstStyle/>
                    <a:p>
                      <a:pPr>
                        <a:lnSpc>
                          <a:spcPct val="100000"/>
                        </a:lnSpc>
                      </a:pPr>
                      <a:endParaRPr sz="200">
                        <a:latin typeface="Times New Roman"/>
                        <a:cs typeface="Times New Roman"/>
                      </a:endParaRPr>
                    </a:p>
                  </a:txBody>
                  <a:tcPr marL="0" marR="0" marB="0" marT="0">
                    <a:lnT w="28575">
                      <a:solidFill>
                        <a:srgbClr val="40458B"/>
                      </a:solidFill>
                      <a:prstDash val="solid"/>
                    </a:lnT>
                    <a:solidFill>
                      <a:srgbClr val="DBF9BD"/>
                    </a:solidFill>
                  </a:tcPr>
                </a:tc>
                <a:tc>
                  <a:txBody>
                    <a:bodyPr/>
                    <a:lstStyle/>
                    <a:p>
                      <a:pPr>
                        <a:lnSpc>
                          <a:spcPct val="100000"/>
                        </a:lnSpc>
                      </a:pPr>
                      <a:endParaRPr sz="200">
                        <a:latin typeface="Times New Roman"/>
                        <a:cs typeface="Times New Roman"/>
                      </a:endParaRPr>
                    </a:p>
                  </a:txBody>
                  <a:tcPr marL="0" marR="0" marB="0" marT="0">
                    <a:lnT w="28575">
                      <a:solidFill>
                        <a:srgbClr val="40458B"/>
                      </a:solidFill>
                      <a:prstDash val="solid"/>
                    </a:lnT>
                    <a:solidFill>
                      <a:srgbClr val="DBF9BD"/>
                    </a:solidFill>
                  </a:tcPr>
                </a:tc>
                <a:tc>
                  <a:txBody>
                    <a:bodyPr/>
                    <a:lstStyle/>
                    <a:p>
                      <a:pPr>
                        <a:lnSpc>
                          <a:spcPct val="100000"/>
                        </a:lnSpc>
                      </a:pPr>
                      <a:endParaRPr sz="200">
                        <a:latin typeface="Times New Roman"/>
                        <a:cs typeface="Times New Roman"/>
                      </a:endParaRPr>
                    </a:p>
                  </a:txBody>
                  <a:tcPr marL="0" marR="0" marB="0" marT="0">
                    <a:lnT w="28575">
                      <a:solidFill>
                        <a:srgbClr val="40458B"/>
                      </a:solidFill>
                      <a:prstDash val="solid"/>
                    </a:lnT>
                    <a:solidFill>
                      <a:srgbClr val="DBF9BD"/>
                    </a:solidFill>
                  </a:tcPr>
                </a:tc>
                <a:tc>
                  <a:txBody>
                    <a:bodyPr/>
                    <a:lstStyle/>
                    <a:p>
                      <a:pPr>
                        <a:lnSpc>
                          <a:spcPct val="100000"/>
                        </a:lnSpc>
                      </a:pPr>
                      <a:endParaRPr sz="200">
                        <a:latin typeface="Times New Roman"/>
                        <a:cs typeface="Times New Roman"/>
                      </a:endParaRPr>
                    </a:p>
                  </a:txBody>
                  <a:tcPr marL="0" marR="0" marB="0" marT="0">
                    <a:lnT w="28575">
                      <a:solidFill>
                        <a:srgbClr val="40458B"/>
                      </a:solidFill>
                      <a:prstDash val="solid"/>
                    </a:lnT>
                    <a:solidFill>
                      <a:srgbClr val="DBF9BD"/>
                    </a:solidFill>
                  </a:tcPr>
                </a:tc>
              </a:tr>
            </a:tbl>
          </a:graphicData>
        </a:graphic>
      </p:graphicFrame>
      <p:sp>
        <p:nvSpPr>
          <p:cNvPr id="10" name="object 10"/>
          <p:cNvSpPr txBox="1">
            <a:spLocks noGrp="1"/>
          </p:cNvSpPr>
          <p:nvPr>
            <p:ph type="title"/>
          </p:nvPr>
        </p:nvSpPr>
        <p:spPr>
          <a:xfrm>
            <a:off x="6744716" y="94869"/>
            <a:ext cx="3684904" cy="513715"/>
          </a:xfrm>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165/175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197916" y="1252210"/>
            <a:ext cx="11934190" cy="2075180"/>
          </a:xfrm>
          <a:prstGeom prst="rect">
            <a:avLst/>
          </a:prstGeom>
        </p:spPr>
        <p:txBody>
          <a:bodyPr wrap="square" lIns="0" tIns="159385" rIns="0" bIns="0" rtlCol="0" vert="horz">
            <a:spAutoFit/>
          </a:bodyPr>
          <a:lstStyle/>
          <a:p>
            <a:pPr marL="468630" indent="-455930">
              <a:lnSpc>
                <a:spcPct val="100000"/>
              </a:lnSpc>
              <a:spcBef>
                <a:spcPts val="1255"/>
              </a:spcBef>
              <a:buClr>
                <a:srgbClr val="40458B"/>
              </a:buClr>
              <a:buAutoNum type="arabicPeriod" startAt="4"/>
              <a:tabLst>
                <a:tab pos="468630" algn="l"/>
              </a:tabLst>
            </a:pPr>
            <a:r>
              <a:rPr dirty="0" sz="2400" spc="-10">
                <a:solidFill>
                  <a:srgbClr val="001F5F"/>
                </a:solidFill>
                <a:latin typeface="黑体"/>
                <a:cs typeface="黑体"/>
              </a:rPr>
              <a:t>采用</a:t>
            </a:r>
            <a:r>
              <a:rPr dirty="0" sz="2400" spc="-10">
                <a:solidFill>
                  <a:srgbClr val="D50092"/>
                </a:solidFill>
                <a:latin typeface="黑体"/>
                <a:cs typeface="黑体"/>
              </a:rPr>
              <a:t>“1条整数型指令</a:t>
            </a:r>
            <a:r>
              <a:rPr dirty="0" sz="2400" spc="-20" b="1">
                <a:solidFill>
                  <a:srgbClr val="40458B"/>
                </a:solidFill>
                <a:latin typeface="黑体"/>
                <a:cs typeface="黑体"/>
              </a:rPr>
              <a:t>＋</a:t>
            </a:r>
            <a:r>
              <a:rPr dirty="0" sz="2400" spc="-20">
                <a:solidFill>
                  <a:srgbClr val="D50092"/>
                </a:solidFill>
                <a:latin typeface="黑体"/>
                <a:cs typeface="黑体"/>
              </a:rPr>
              <a:t>1</a:t>
            </a:r>
            <a:r>
              <a:rPr dirty="0" sz="2400" spc="-10">
                <a:solidFill>
                  <a:srgbClr val="D50092"/>
                </a:solidFill>
                <a:latin typeface="黑体"/>
                <a:cs typeface="黑体"/>
              </a:rPr>
              <a:t>条浮点指令”</a:t>
            </a:r>
            <a:r>
              <a:rPr dirty="0" sz="2400" spc="-15">
                <a:solidFill>
                  <a:srgbClr val="001F5F"/>
                </a:solidFill>
                <a:latin typeface="黑体"/>
                <a:cs typeface="黑体"/>
              </a:rPr>
              <a:t>并行流出的方式，需要增加的硬件很少。</a:t>
            </a:r>
            <a:endParaRPr sz="2400">
              <a:latin typeface="黑体"/>
              <a:cs typeface="黑体"/>
            </a:endParaRPr>
          </a:p>
          <a:p>
            <a:pPr marL="469265" indent="-456565">
              <a:lnSpc>
                <a:spcPct val="100000"/>
              </a:lnSpc>
              <a:spcBef>
                <a:spcPts val="1155"/>
              </a:spcBef>
              <a:buClr>
                <a:srgbClr val="40458B"/>
              </a:buClr>
              <a:buAutoNum type="arabicPeriod" startAt="4"/>
              <a:tabLst>
                <a:tab pos="469265" algn="l"/>
              </a:tabLst>
            </a:pPr>
            <a:r>
              <a:rPr dirty="0" sz="2400" spc="-5">
                <a:solidFill>
                  <a:srgbClr val="001F5F"/>
                </a:solidFill>
                <a:latin typeface="黑体"/>
                <a:cs typeface="黑体"/>
              </a:rPr>
              <a:t>浮点</a:t>
            </a:r>
            <a:r>
              <a:rPr dirty="0" sz="2400">
                <a:solidFill>
                  <a:srgbClr val="9933FF"/>
                </a:solidFill>
                <a:latin typeface="黑体"/>
                <a:cs typeface="黑体"/>
              </a:rPr>
              <a:t>load</a:t>
            </a:r>
            <a:r>
              <a:rPr dirty="0" sz="2400" spc="-5">
                <a:solidFill>
                  <a:srgbClr val="001F5F"/>
                </a:solidFill>
                <a:latin typeface="黑体"/>
                <a:cs typeface="黑体"/>
              </a:rPr>
              <a:t>或浮点</a:t>
            </a:r>
            <a:r>
              <a:rPr dirty="0" sz="2400">
                <a:solidFill>
                  <a:srgbClr val="9933FF"/>
                </a:solidFill>
                <a:latin typeface="黑体"/>
                <a:cs typeface="黑体"/>
              </a:rPr>
              <a:t>store</a:t>
            </a:r>
            <a:r>
              <a:rPr dirty="0" sz="2400" spc="-5">
                <a:solidFill>
                  <a:srgbClr val="001F5F"/>
                </a:solidFill>
                <a:latin typeface="黑体"/>
                <a:cs typeface="黑体"/>
              </a:rPr>
              <a:t>指令将使用整数部件，会增加对浮点寄存器的访问冲突。</a:t>
            </a:r>
            <a:endParaRPr sz="2400">
              <a:latin typeface="黑体"/>
              <a:cs typeface="黑体"/>
            </a:endParaRPr>
          </a:p>
          <a:p>
            <a:pPr marL="1099185">
              <a:lnSpc>
                <a:spcPct val="100000"/>
              </a:lnSpc>
              <a:spcBef>
                <a:spcPts val="1150"/>
              </a:spcBef>
            </a:pPr>
            <a:r>
              <a:rPr dirty="0" sz="2400">
                <a:solidFill>
                  <a:srgbClr val="FF5CFF"/>
                </a:solidFill>
                <a:latin typeface="黑体"/>
                <a:cs typeface="黑体"/>
              </a:rPr>
              <a:t>解决方法</a:t>
            </a:r>
            <a:r>
              <a:rPr dirty="0" sz="2400">
                <a:solidFill>
                  <a:srgbClr val="40458B"/>
                </a:solidFill>
                <a:latin typeface="黑体"/>
                <a:cs typeface="黑体"/>
              </a:rPr>
              <a:t>：增设一个浮点寄存器的读/写端口（因为</a:t>
            </a:r>
            <a:r>
              <a:rPr dirty="0" sz="2400">
                <a:solidFill>
                  <a:srgbClr val="FF5CFF"/>
                </a:solidFill>
                <a:latin typeface="黑体"/>
                <a:cs typeface="黑体"/>
              </a:rPr>
              <a:t>这些指令被当做整型指令</a:t>
            </a:r>
            <a:r>
              <a:rPr dirty="0" sz="2400">
                <a:solidFill>
                  <a:srgbClr val="40458B"/>
                </a:solidFill>
                <a:latin typeface="黑体"/>
                <a:cs typeface="黑体"/>
              </a:rPr>
              <a:t>）</a:t>
            </a:r>
            <a:r>
              <a:rPr dirty="0" sz="2400" spc="-50">
                <a:solidFill>
                  <a:srgbClr val="40458B"/>
                </a:solidFill>
                <a:latin typeface="黑体"/>
                <a:cs typeface="黑体"/>
              </a:rPr>
              <a:t>。</a:t>
            </a:r>
            <a:endParaRPr sz="2400">
              <a:latin typeface="黑体"/>
              <a:cs typeface="黑体"/>
            </a:endParaRPr>
          </a:p>
          <a:p>
            <a:pPr marL="469265" indent="-456565">
              <a:lnSpc>
                <a:spcPct val="100000"/>
              </a:lnSpc>
              <a:spcBef>
                <a:spcPts val="1155"/>
              </a:spcBef>
              <a:buClr>
                <a:srgbClr val="40458B"/>
              </a:buClr>
              <a:buFont typeface="Tahoma"/>
              <a:buAutoNum type="arabicPeriod" startAt="6"/>
              <a:tabLst>
                <a:tab pos="469265" algn="l"/>
              </a:tabLst>
            </a:pPr>
            <a:r>
              <a:rPr dirty="0" sz="2400" spc="-15">
                <a:solidFill>
                  <a:srgbClr val="001F5F"/>
                </a:solidFill>
                <a:latin typeface="黑体"/>
                <a:cs typeface="黑体"/>
              </a:rPr>
              <a:t>由于流水线中的指令多了一倍，定向路径也要增加。</a:t>
            </a:r>
            <a:endParaRPr sz="2400">
              <a:latin typeface="黑体"/>
              <a:cs typeface="黑体"/>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166/175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737717" y="819150"/>
            <a:ext cx="10617200" cy="3377565"/>
          </a:xfrm>
          <a:prstGeom prst="rect">
            <a:avLst/>
          </a:prstGeom>
        </p:spPr>
        <p:txBody>
          <a:bodyPr wrap="square" lIns="0" tIns="158750" rIns="0" bIns="0" rtlCol="0" vert="horz">
            <a:spAutoFit/>
          </a:bodyPr>
          <a:lstStyle/>
          <a:p>
            <a:pPr marL="469265" indent="-456565">
              <a:lnSpc>
                <a:spcPct val="100000"/>
              </a:lnSpc>
              <a:spcBef>
                <a:spcPts val="1250"/>
              </a:spcBef>
              <a:buClr>
                <a:srgbClr val="40458B"/>
              </a:buClr>
              <a:buFont typeface="Tahoma"/>
              <a:buAutoNum type="arabicPeriod" startAt="7"/>
              <a:tabLst>
                <a:tab pos="469265" algn="l"/>
              </a:tabLst>
            </a:pPr>
            <a:r>
              <a:rPr dirty="0" sz="2400" spc="-5">
                <a:solidFill>
                  <a:srgbClr val="001F5F"/>
                </a:solidFill>
                <a:latin typeface="黑体"/>
                <a:cs typeface="黑体"/>
              </a:rPr>
              <a:t>限制超标量流水线的性能发挥的障碍</a:t>
            </a:r>
            <a:endParaRPr sz="2400">
              <a:latin typeface="黑体"/>
              <a:cs typeface="黑体"/>
            </a:endParaRPr>
          </a:p>
          <a:p>
            <a:pPr lvl="1" marL="1099185" indent="-457200">
              <a:lnSpc>
                <a:spcPct val="100000"/>
              </a:lnSpc>
              <a:spcBef>
                <a:spcPts val="1155"/>
              </a:spcBef>
              <a:buClr>
                <a:srgbClr val="40458B"/>
              </a:buClr>
              <a:buSzPct val="89583"/>
              <a:buFont typeface="Wingdings"/>
              <a:buChar char=""/>
              <a:tabLst>
                <a:tab pos="1099185" algn="l"/>
              </a:tabLst>
            </a:pPr>
            <a:r>
              <a:rPr dirty="0" sz="2400">
                <a:solidFill>
                  <a:srgbClr val="9933FF"/>
                </a:solidFill>
                <a:latin typeface="黑体"/>
                <a:cs typeface="黑体"/>
              </a:rPr>
              <a:t>若是</a:t>
            </a:r>
            <a:r>
              <a:rPr dirty="0" sz="2400" spc="-10">
                <a:solidFill>
                  <a:srgbClr val="9933FF"/>
                </a:solidFill>
                <a:latin typeface="黑体"/>
                <a:cs typeface="黑体"/>
              </a:rPr>
              <a:t>load</a:t>
            </a:r>
            <a:r>
              <a:rPr dirty="0" sz="2400" spc="-25">
                <a:solidFill>
                  <a:srgbClr val="40458B"/>
                </a:solidFill>
                <a:latin typeface="黑体"/>
                <a:cs typeface="黑体"/>
              </a:rPr>
              <a:t>指令</a:t>
            </a:r>
            <a:endParaRPr sz="2400">
              <a:latin typeface="黑体"/>
              <a:cs typeface="黑体"/>
            </a:endParaRPr>
          </a:p>
          <a:p>
            <a:pPr marL="1056005" indent="-456565">
              <a:lnSpc>
                <a:spcPct val="100000"/>
              </a:lnSpc>
              <a:spcBef>
                <a:spcPts val="1090"/>
              </a:spcBef>
              <a:buClr>
                <a:srgbClr val="4668F5"/>
              </a:buClr>
              <a:buSzPct val="68181"/>
              <a:buFont typeface="Wingdings"/>
              <a:buChar char=""/>
              <a:tabLst>
                <a:tab pos="1056005" algn="l"/>
              </a:tabLst>
            </a:pPr>
            <a:r>
              <a:rPr dirty="0" sz="2200" spc="-10" b="1">
                <a:solidFill>
                  <a:srgbClr val="9933FF"/>
                </a:solidFill>
                <a:latin typeface="宋体"/>
                <a:cs typeface="宋体"/>
              </a:rPr>
              <a:t>load</a:t>
            </a:r>
            <a:r>
              <a:rPr dirty="0" sz="2200" spc="-20" b="1">
                <a:solidFill>
                  <a:srgbClr val="9966FF"/>
                </a:solidFill>
                <a:latin typeface="宋体"/>
                <a:cs typeface="宋体"/>
              </a:rPr>
              <a:t>后续</a:t>
            </a:r>
            <a:r>
              <a:rPr dirty="0" sz="2200" spc="-10" b="1">
                <a:solidFill>
                  <a:srgbClr val="D50092"/>
                </a:solidFill>
                <a:latin typeface="宋体"/>
                <a:cs typeface="宋体"/>
              </a:rPr>
              <a:t>3</a:t>
            </a:r>
            <a:r>
              <a:rPr dirty="0" sz="2200" spc="-20" b="1">
                <a:solidFill>
                  <a:srgbClr val="D50092"/>
                </a:solidFill>
                <a:latin typeface="宋体"/>
                <a:cs typeface="宋体"/>
              </a:rPr>
              <a:t>条</a:t>
            </a:r>
            <a:r>
              <a:rPr dirty="0" sz="2200" spc="-25" b="1">
                <a:solidFill>
                  <a:srgbClr val="9966FF"/>
                </a:solidFill>
                <a:latin typeface="宋体"/>
                <a:cs typeface="宋体"/>
              </a:rPr>
              <a:t>指令都不能使用其结果，否则就会引起停顿。</a:t>
            </a:r>
            <a:endParaRPr sz="2200">
              <a:latin typeface="宋体"/>
              <a:cs typeface="宋体"/>
            </a:endParaRPr>
          </a:p>
          <a:p>
            <a:pPr marL="1099185" indent="-457200">
              <a:lnSpc>
                <a:spcPct val="100000"/>
              </a:lnSpc>
              <a:spcBef>
                <a:spcPts val="1120"/>
              </a:spcBef>
              <a:buSzPct val="89583"/>
              <a:buFont typeface="Wingdings"/>
              <a:buChar char=""/>
              <a:tabLst>
                <a:tab pos="1099185" algn="l"/>
              </a:tabLst>
            </a:pPr>
            <a:r>
              <a:rPr dirty="0" sz="2400" spc="-20">
                <a:solidFill>
                  <a:srgbClr val="40458B"/>
                </a:solidFill>
                <a:latin typeface="黑体"/>
                <a:cs typeface="黑体"/>
              </a:rPr>
              <a:t>若是分支延迟</a:t>
            </a:r>
            <a:endParaRPr sz="2400">
              <a:latin typeface="黑体"/>
              <a:cs typeface="黑体"/>
            </a:endParaRPr>
          </a:p>
          <a:p>
            <a:pPr marL="1056640" marR="5080" indent="-457200">
              <a:lnSpc>
                <a:spcPct val="120000"/>
              </a:lnSpc>
              <a:spcBef>
                <a:spcPts val="560"/>
              </a:spcBef>
              <a:buClr>
                <a:srgbClr val="4668F5"/>
              </a:buClr>
              <a:buSzPct val="68181"/>
              <a:buFont typeface="Wingdings"/>
              <a:buChar char=""/>
              <a:tabLst>
                <a:tab pos="1056640" algn="l"/>
              </a:tabLst>
            </a:pPr>
            <a:r>
              <a:rPr dirty="0" sz="2200" spc="-20" b="1">
                <a:solidFill>
                  <a:srgbClr val="9966FF"/>
                </a:solidFill>
                <a:latin typeface="宋体"/>
                <a:cs typeface="宋体"/>
              </a:rPr>
              <a:t>如果分支指令是流出包中的第一条指令，则其延迟是</a:t>
            </a:r>
            <a:r>
              <a:rPr dirty="0" sz="2200" spc="-10" b="1">
                <a:solidFill>
                  <a:srgbClr val="D50092"/>
                </a:solidFill>
                <a:latin typeface="宋体"/>
                <a:cs typeface="宋体"/>
              </a:rPr>
              <a:t>3</a:t>
            </a:r>
            <a:r>
              <a:rPr dirty="0" sz="2200" spc="-20" b="1">
                <a:solidFill>
                  <a:srgbClr val="D50092"/>
                </a:solidFill>
                <a:latin typeface="宋体"/>
                <a:cs typeface="宋体"/>
              </a:rPr>
              <a:t>个</a:t>
            </a:r>
            <a:r>
              <a:rPr dirty="0" sz="2200" spc="-30" b="1">
                <a:solidFill>
                  <a:srgbClr val="9966FF"/>
                </a:solidFill>
                <a:latin typeface="宋体"/>
                <a:cs typeface="宋体"/>
              </a:rPr>
              <a:t>时钟周期(本指令包的</a:t>
            </a:r>
            <a:r>
              <a:rPr dirty="0" sz="2200" spc="-25" b="1">
                <a:solidFill>
                  <a:srgbClr val="9966FF"/>
                </a:solidFill>
                <a:latin typeface="宋体"/>
                <a:cs typeface="宋体"/>
              </a:rPr>
              <a:t>第二个指令和下一个指令包中的两个指令共三个指令)；</a:t>
            </a:r>
            <a:endParaRPr sz="2200">
              <a:latin typeface="宋体"/>
              <a:cs typeface="宋体"/>
            </a:endParaRPr>
          </a:p>
          <a:p>
            <a:pPr marL="1056005" indent="-456565">
              <a:lnSpc>
                <a:spcPct val="100000"/>
              </a:lnSpc>
              <a:spcBef>
                <a:spcPts val="1060"/>
              </a:spcBef>
              <a:buClr>
                <a:srgbClr val="4668F5"/>
              </a:buClr>
              <a:buSzPct val="68181"/>
              <a:buFont typeface="Wingdings"/>
              <a:buChar char=""/>
              <a:tabLst>
                <a:tab pos="1056005" algn="l"/>
              </a:tabLst>
            </a:pPr>
            <a:r>
              <a:rPr dirty="0" sz="2200" spc="-20" b="1">
                <a:solidFill>
                  <a:srgbClr val="9966FF"/>
                </a:solidFill>
                <a:latin typeface="宋体"/>
                <a:cs typeface="宋体"/>
              </a:rPr>
              <a:t>否则就是流出包中的第二条指令，其延迟就是</a:t>
            </a:r>
            <a:r>
              <a:rPr dirty="0" sz="2200" spc="-15" b="1">
                <a:solidFill>
                  <a:srgbClr val="D50092"/>
                </a:solidFill>
                <a:latin typeface="宋体"/>
                <a:cs typeface="宋体"/>
              </a:rPr>
              <a:t>两个</a:t>
            </a:r>
            <a:r>
              <a:rPr dirty="0" sz="2200" spc="-30" b="1">
                <a:solidFill>
                  <a:srgbClr val="9966FF"/>
                </a:solidFill>
                <a:latin typeface="宋体"/>
                <a:cs typeface="宋体"/>
              </a:rPr>
              <a:t>时钟周期。</a:t>
            </a:r>
            <a:endParaRPr sz="2200">
              <a:latin typeface="宋体"/>
              <a:cs typeface="宋体"/>
            </a:endParaRPr>
          </a:p>
        </p:txBody>
      </p:sp>
      <p:sp>
        <p:nvSpPr>
          <p:cNvPr id="11" name="object 11" descr=""/>
          <p:cNvSpPr txBox="1"/>
          <p:nvPr/>
        </p:nvSpPr>
        <p:spPr>
          <a:xfrm>
            <a:off x="354888" y="3888740"/>
            <a:ext cx="638810" cy="391160"/>
          </a:xfrm>
          <a:prstGeom prst="rect">
            <a:avLst/>
          </a:prstGeom>
        </p:spPr>
        <p:txBody>
          <a:bodyPr wrap="square" lIns="0" tIns="12700" rIns="0" bIns="0" rtlCol="0" vert="horz">
            <a:spAutoFit/>
          </a:bodyPr>
          <a:lstStyle/>
          <a:p>
            <a:pPr marL="12700">
              <a:lnSpc>
                <a:spcPct val="100000"/>
              </a:lnSpc>
              <a:spcBef>
                <a:spcPts val="100"/>
              </a:spcBef>
            </a:pPr>
            <a:r>
              <a:rPr dirty="0" sz="2400" spc="-35" b="1">
                <a:solidFill>
                  <a:srgbClr val="2C44A3"/>
                </a:solidFill>
                <a:latin typeface="黑体"/>
                <a:cs typeface="黑体"/>
              </a:rPr>
              <a:t>总结</a:t>
            </a:r>
            <a:endParaRPr sz="2400">
              <a:latin typeface="黑体"/>
              <a:cs typeface="黑体"/>
            </a:endParaRPr>
          </a:p>
        </p:txBody>
      </p:sp>
      <p:sp>
        <p:nvSpPr>
          <p:cNvPr id="12" name="object 12" descr=""/>
          <p:cNvSpPr txBox="1"/>
          <p:nvPr/>
        </p:nvSpPr>
        <p:spPr>
          <a:xfrm>
            <a:off x="354888" y="4330953"/>
            <a:ext cx="11314430" cy="2220595"/>
          </a:xfrm>
          <a:prstGeom prst="rect">
            <a:avLst/>
          </a:prstGeom>
        </p:spPr>
        <p:txBody>
          <a:bodyPr wrap="square" lIns="0" tIns="12700" rIns="0" bIns="0" rtlCol="0" vert="horz">
            <a:spAutoFit/>
          </a:bodyPr>
          <a:lstStyle/>
          <a:p>
            <a:pPr algn="just" marL="12700" marR="5080" indent="545465">
              <a:lnSpc>
                <a:spcPct val="150000"/>
              </a:lnSpc>
              <a:spcBef>
                <a:spcPts val="100"/>
              </a:spcBef>
            </a:pPr>
            <a:r>
              <a:rPr dirty="0" sz="2400" spc="-5">
                <a:solidFill>
                  <a:srgbClr val="2C44A3"/>
                </a:solidFill>
                <a:latin typeface="黑体"/>
                <a:cs typeface="黑体"/>
              </a:rPr>
              <a:t>基于静态调度的多流出技术通过在每个时钟周期内流出多条指令来提高处理器性能。虽然这种方法能够有效减少或消除数据和控制冲突，但它也要求处理器具备复杂的冲突检测和处理能力。通过优化指令流出过程和采用先进的编译技术，可以进一步提高超标量处理机的性能。</a:t>
            </a:r>
            <a:endParaRPr sz="2400">
              <a:latin typeface="黑体"/>
              <a:cs typeface="黑体"/>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167/175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785266" y="796544"/>
            <a:ext cx="10685145" cy="5441950"/>
          </a:xfrm>
          <a:prstGeom prst="rect">
            <a:avLst/>
          </a:prstGeom>
        </p:spPr>
        <p:txBody>
          <a:bodyPr wrap="square" lIns="0" tIns="13335" rIns="0" bIns="0" rtlCol="0" vert="horz">
            <a:spAutoFit/>
          </a:bodyPr>
          <a:lstStyle/>
          <a:p>
            <a:pPr marL="433070">
              <a:lnSpc>
                <a:spcPct val="100000"/>
              </a:lnSpc>
              <a:spcBef>
                <a:spcPts val="105"/>
              </a:spcBef>
            </a:pPr>
            <a:r>
              <a:rPr dirty="0" sz="2600">
                <a:solidFill>
                  <a:srgbClr val="0000CC"/>
                </a:solidFill>
                <a:latin typeface="黑体"/>
                <a:cs typeface="黑体"/>
              </a:rPr>
              <a:t>5.5.2</a:t>
            </a:r>
            <a:r>
              <a:rPr dirty="0" sz="2600" spc="-20">
                <a:solidFill>
                  <a:srgbClr val="0000CC"/>
                </a:solidFill>
                <a:latin typeface="黑体"/>
                <a:cs typeface="黑体"/>
              </a:rPr>
              <a:t> 基于动态调度的多流出技术</a:t>
            </a:r>
            <a:endParaRPr sz="2600">
              <a:latin typeface="黑体"/>
              <a:cs typeface="黑体"/>
            </a:endParaRPr>
          </a:p>
          <a:p>
            <a:pPr algn="just" marL="613410" marR="5080" indent="-457834">
              <a:lnSpc>
                <a:spcPct val="120100"/>
              </a:lnSpc>
              <a:spcBef>
                <a:spcPts val="2165"/>
              </a:spcBef>
              <a:buSzPct val="89583"/>
              <a:buFont typeface="Wingdings"/>
              <a:buChar char=""/>
              <a:tabLst>
                <a:tab pos="613410" algn="l"/>
              </a:tabLst>
            </a:pPr>
            <a:r>
              <a:rPr dirty="0" sz="2400">
                <a:solidFill>
                  <a:srgbClr val="40458B"/>
                </a:solidFill>
                <a:latin typeface="黑体"/>
                <a:cs typeface="黑体"/>
              </a:rPr>
              <a:t>提高流水线性能：解决数据冲突，克服指令流出的限制（</a:t>
            </a:r>
            <a:r>
              <a:rPr dirty="0" sz="2400" spc="-10">
                <a:solidFill>
                  <a:srgbClr val="40458B"/>
                </a:solidFill>
                <a:latin typeface="黑体"/>
                <a:cs typeface="黑体"/>
              </a:rPr>
              <a:t>一个时钟周期最多</a:t>
            </a:r>
            <a:r>
              <a:rPr dirty="0" sz="2400">
                <a:solidFill>
                  <a:srgbClr val="40458B"/>
                </a:solidFill>
                <a:latin typeface="黑体"/>
                <a:cs typeface="黑体"/>
              </a:rPr>
              <a:t>只能启动一个整数操作和浮点数操作的执行，可在指令流出时（</a:t>
            </a:r>
            <a:r>
              <a:rPr dirty="0" sz="2400" spc="-10">
                <a:solidFill>
                  <a:srgbClr val="40458B"/>
                </a:solidFill>
                <a:latin typeface="黑体"/>
                <a:cs typeface="黑体"/>
              </a:rPr>
              <a:t>保留站被占</a:t>
            </a:r>
            <a:r>
              <a:rPr dirty="0" sz="2400">
                <a:solidFill>
                  <a:srgbClr val="40458B"/>
                </a:solidFill>
                <a:latin typeface="黑体"/>
                <a:cs typeface="黑体"/>
              </a:rPr>
              <a:t>用之前）不受此项限制</a:t>
            </a:r>
            <a:r>
              <a:rPr dirty="0" sz="2400" spc="-50">
                <a:solidFill>
                  <a:srgbClr val="40458B"/>
                </a:solidFill>
                <a:latin typeface="黑体"/>
                <a:cs typeface="黑体"/>
              </a:rPr>
              <a:t>）</a:t>
            </a:r>
            <a:endParaRPr sz="2400">
              <a:latin typeface="黑体"/>
              <a:cs typeface="黑体"/>
            </a:endParaRPr>
          </a:p>
          <a:p>
            <a:pPr algn="just" marL="612775" indent="-457200">
              <a:lnSpc>
                <a:spcPct val="100000"/>
              </a:lnSpc>
              <a:spcBef>
                <a:spcPts val="1150"/>
              </a:spcBef>
              <a:buSzPct val="89583"/>
              <a:buFont typeface="Wingdings"/>
              <a:buChar char=""/>
              <a:tabLst>
                <a:tab pos="612775" algn="l"/>
              </a:tabLst>
            </a:pPr>
            <a:r>
              <a:rPr dirty="0" sz="2400">
                <a:solidFill>
                  <a:srgbClr val="40458B"/>
                </a:solidFill>
                <a:latin typeface="黑体"/>
                <a:cs typeface="黑体"/>
              </a:rPr>
              <a:t>扩展Tomasulo算法：</a:t>
            </a:r>
            <a:r>
              <a:rPr dirty="0" sz="2400" spc="-5">
                <a:solidFill>
                  <a:srgbClr val="D50092"/>
                </a:solidFill>
                <a:latin typeface="黑体"/>
                <a:cs typeface="黑体"/>
              </a:rPr>
              <a:t>支持双流出超标量流水线</a:t>
            </a:r>
            <a:endParaRPr sz="2400">
              <a:latin typeface="黑体"/>
              <a:cs typeface="黑体"/>
            </a:endParaRPr>
          </a:p>
          <a:p>
            <a:pPr lvl="1" marL="829310" indent="-457200">
              <a:lnSpc>
                <a:spcPct val="100000"/>
              </a:lnSpc>
              <a:spcBef>
                <a:spcPts val="1090"/>
              </a:spcBef>
              <a:buClr>
                <a:srgbClr val="4668F5"/>
              </a:buClr>
              <a:buSzPct val="68181"/>
              <a:buFont typeface="Wingdings"/>
              <a:buChar char=""/>
              <a:tabLst>
                <a:tab pos="829310" algn="l"/>
              </a:tabLst>
            </a:pPr>
            <a:r>
              <a:rPr dirty="0" sz="2200" spc="-25" b="1">
                <a:solidFill>
                  <a:srgbClr val="9966FF"/>
                </a:solidFill>
                <a:latin typeface="宋体"/>
                <a:cs typeface="宋体"/>
              </a:rPr>
              <a:t>每个时钟周期流出两条指令；</a:t>
            </a:r>
            <a:endParaRPr sz="2200">
              <a:latin typeface="宋体"/>
              <a:cs typeface="宋体"/>
            </a:endParaRPr>
          </a:p>
          <a:p>
            <a:pPr lvl="1" marL="829310" indent="-457200">
              <a:lnSpc>
                <a:spcPct val="100000"/>
              </a:lnSpc>
              <a:spcBef>
                <a:spcPts val="1060"/>
              </a:spcBef>
              <a:buClr>
                <a:srgbClr val="4668F5"/>
              </a:buClr>
              <a:buSzPct val="68181"/>
              <a:buFont typeface="Wingdings"/>
              <a:buChar char=""/>
              <a:tabLst>
                <a:tab pos="829310" algn="l"/>
              </a:tabLst>
            </a:pPr>
            <a:r>
              <a:rPr dirty="0" sz="2200" spc="-25" b="1">
                <a:solidFill>
                  <a:srgbClr val="9966FF"/>
                </a:solidFill>
                <a:latin typeface="宋体"/>
                <a:cs typeface="宋体"/>
              </a:rPr>
              <a:t>一条是整数指令，另一条是浮点指令。</a:t>
            </a:r>
            <a:endParaRPr sz="2200">
              <a:latin typeface="宋体"/>
              <a:cs typeface="宋体"/>
            </a:endParaRPr>
          </a:p>
          <a:p>
            <a:pPr marL="469265" indent="-456565">
              <a:lnSpc>
                <a:spcPct val="100000"/>
              </a:lnSpc>
              <a:spcBef>
                <a:spcPts val="1120"/>
              </a:spcBef>
              <a:buClr>
                <a:srgbClr val="40458B"/>
              </a:buClr>
              <a:buFont typeface="Wingdings"/>
              <a:buChar char=""/>
              <a:tabLst>
                <a:tab pos="469265" algn="l"/>
              </a:tabLst>
            </a:pPr>
            <a:r>
              <a:rPr dirty="0" sz="2400" spc="-5">
                <a:solidFill>
                  <a:srgbClr val="001F5F"/>
                </a:solidFill>
                <a:latin typeface="黑体"/>
                <a:cs typeface="黑体"/>
              </a:rPr>
              <a:t>采用一种比较简单的方法：</a:t>
            </a:r>
            <a:endParaRPr sz="2400">
              <a:latin typeface="黑体"/>
              <a:cs typeface="黑体"/>
            </a:endParaRPr>
          </a:p>
          <a:p>
            <a:pPr lvl="1" marL="872490" indent="-457834">
              <a:lnSpc>
                <a:spcPct val="100000"/>
              </a:lnSpc>
              <a:spcBef>
                <a:spcPts val="1155"/>
              </a:spcBef>
              <a:buClr>
                <a:srgbClr val="006FC0"/>
              </a:buClr>
              <a:buSzPct val="70833"/>
              <a:buFont typeface="Wingdings"/>
              <a:buChar char=""/>
              <a:tabLst>
                <a:tab pos="872490" algn="l"/>
              </a:tabLst>
            </a:pPr>
            <a:r>
              <a:rPr dirty="0" sz="2400" spc="-5">
                <a:solidFill>
                  <a:srgbClr val="40458B"/>
                </a:solidFill>
                <a:latin typeface="黑体"/>
                <a:cs typeface="黑体"/>
              </a:rPr>
              <a:t>指令按顺序流向保留站，否则会破坏程序语义。</a:t>
            </a:r>
            <a:endParaRPr sz="2400">
              <a:latin typeface="黑体"/>
              <a:cs typeface="黑体"/>
            </a:endParaRPr>
          </a:p>
          <a:p>
            <a:pPr lvl="1" marL="872490" marR="50800" indent="-457834">
              <a:lnSpc>
                <a:spcPct val="120000"/>
              </a:lnSpc>
              <a:spcBef>
                <a:spcPts val="575"/>
              </a:spcBef>
              <a:buClr>
                <a:srgbClr val="006FC0"/>
              </a:buClr>
              <a:buSzPct val="70833"/>
              <a:buFont typeface="Wingdings"/>
              <a:buChar char=""/>
              <a:tabLst>
                <a:tab pos="872490" algn="l"/>
              </a:tabLst>
            </a:pPr>
            <a:r>
              <a:rPr dirty="0" sz="2400" spc="-5">
                <a:solidFill>
                  <a:srgbClr val="40458B"/>
                </a:solidFill>
                <a:latin typeface="黑体"/>
                <a:cs typeface="黑体"/>
              </a:rPr>
              <a:t>将整数所用的表结构与浮点用的表结构分离开，分别进行处理，这样就可</a:t>
            </a:r>
            <a:r>
              <a:rPr dirty="0" sz="2400" spc="-15">
                <a:solidFill>
                  <a:srgbClr val="40458B"/>
                </a:solidFill>
                <a:latin typeface="黑体"/>
                <a:cs typeface="黑体"/>
              </a:rPr>
              <a:t>以同时地流出一条浮点指令和一条整数指令到各自的保留站。</a:t>
            </a:r>
            <a:endParaRPr sz="2400">
              <a:latin typeface="黑体"/>
              <a:cs typeface="黑体"/>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168/175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774293" y="954792"/>
            <a:ext cx="10866120" cy="2510155"/>
          </a:xfrm>
          <a:prstGeom prst="rect">
            <a:avLst/>
          </a:prstGeom>
        </p:spPr>
        <p:txBody>
          <a:bodyPr wrap="square" lIns="0" tIns="167640" rIns="0" bIns="0" rtlCol="0" vert="horz">
            <a:spAutoFit/>
          </a:bodyPr>
          <a:lstStyle/>
          <a:p>
            <a:pPr marL="469265" indent="-456565">
              <a:lnSpc>
                <a:spcPct val="100000"/>
              </a:lnSpc>
              <a:spcBef>
                <a:spcPts val="1320"/>
              </a:spcBef>
              <a:buClr>
                <a:srgbClr val="40458B"/>
              </a:buClr>
              <a:buFont typeface="Tahoma"/>
              <a:buAutoNum type="arabicPeriod" startAt="2"/>
              <a:tabLst>
                <a:tab pos="469265" algn="l"/>
              </a:tabLst>
            </a:pPr>
            <a:r>
              <a:rPr dirty="0" sz="2400" spc="-5">
                <a:solidFill>
                  <a:srgbClr val="001F5F"/>
                </a:solidFill>
                <a:latin typeface="黑体"/>
                <a:cs typeface="黑体"/>
              </a:rPr>
              <a:t>有两种不同的方法可以实现多流出</a:t>
            </a:r>
            <a:endParaRPr sz="2400">
              <a:latin typeface="黑体"/>
              <a:cs typeface="黑体"/>
            </a:endParaRPr>
          </a:p>
          <a:p>
            <a:pPr marL="716280">
              <a:lnSpc>
                <a:spcPct val="100000"/>
              </a:lnSpc>
              <a:spcBef>
                <a:spcPts val="1030"/>
              </a:spcBef>
            </a:pPr>
            <a:r>
              <a:rPr dirty="0" sz="2000" spc="-10" b="1">
                <a:solidFill>
                  <a:srgbClr val="D50092"/>
                </a:solidFill>
                <a:latin typeface="宋体"/>
                <a:cs typeface="宋体"/>
              </a:rPr>
              <a:t>关键在于：</a:t>
            </a:r>
            <a:r>
              <a:rPr dirty="0" sz="2000" spc="-25" b="1">
                <a:latin typeface="宋体"/>
                <a:cs typeface="宋体"/>
              </a:rPr>
              <a:t>对保留站的分配和对流水线控制表格的修改。</a:t>
            </a:r>
            <a:endParaRPr sz="2000">
              <a:latin typeface="宋体"/>
              <a:cs typeface="宋体"/>
            </a:endParaRPr>
          </a:p>
          <a:p>
            <a:pPr lvl="1" marL="1099185" indent="-457200">
              <a:lnSpc>
                <a:spcPct val="100000"/>
              </a:lnSpc>
              <a:spcBef>
                <a:spcPts val="1085"/>
              </a:spcBef>
              <a:buSzPct val="89583"/>
              <a:buFont typeface="Wingdings"/>
              <a:buChar char=""/>
              <a:tabLst>
                <a:tab pos="1099185" algn="l"/>
              </a:tabLst>
            </a:pPr>
            <a:r>
              <a:rPr dirty="0" sz="2400" spc="-5">
                <a:solidFill>
                  <a:srgbClr val="40458B"/>
                </a:solidFill>
                <a:latin typeface="黑体"/>
                <a:cs typeface="黑体"/>
              </a:rPr>
              <a:t>在半个时钟周期里完成流出步骤，这样一个时钟周期就能处理两条指令。</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15">
                <a:solidFill>
                  <a:srgbClr val="40458B"/>
                </a:solidFill>
                <a:latin typeface="黑体"/>
                <a:cs typeface="黑体"/>
              </a:rPr>
              <a:t>设置一次能同时处理两条指令的逻辑电路。</a:t>
            </a:r>
            <a:endParaRPr sz="2400">
              <a:latin typeface="黑体"/>
              <a:cs typeface="黑体"/>
            </a:endParaRPr>
          </a:p>
          <a:p>
            <a:pPr marL="1251585">
              <a:lnSpc>
                <a:spcPct val="100000"/>
              </a:lnSpc>
              <a:spcBef>
                <a:spcPts val="1150"/>
              </a:spcBef>
            </a:pPr>
            <a:r>
              <a:rPr dirty="0" sz="2400" spc="-20" b="1">
                <a:solidFill>
                  <a:srgbClr val="E14B04"/>
                </a:solidFill>
                <a:latin typeface="宋体"/>
                <a:cs typeface="宋体"/>
              </a:rPr>
              <a:t>现代的流出</a:t>
            </a:r>
            <a:r>
              <a:rPr dirty="0" sz="2400" spc="-20" b="1">
                <a:solidFill>
                  <a:srgbClr val="9933FF"/>
                </a:solidFill>
                <a:latin typeface="宋体"/>
                <a:cs typeface="宋体"/>
              </a:rPr>
              <a:t>4</a:t>
            </a:r>
            <a:r>
              <a:rPr dirty="0" sz="2400" spc="-20" b="1">
                <a:solidFill>
                  <a:srgbClr val="E14B04"/>
                </a:solidFill>
                <a:latin typeface="宋体"/>
                <a:cs typeface="宋体"/>
              </a:rPr>
              <a:t>条或</a:t>
            </a:r>
            <a:r>
              <a:rPr dirty="0" sz="2400" spc="-20" b="1">
                <a:solidFill>
                  <a:srgbClr val="9933FF"/>
                </a:solidFill>
                <a:latin typeface="宋体"/>
                <a:cs typeface="宋体"/>
              </a:rPr>
              <a:t>4</a:t>
            </a:r>
            <a:r>
              <a:rPr dirty="0" sz="2400" spc="-25" b="1">
                <a:solidFill>
                  <a:srgbClr val="E14B04"/>
                </a:solidFill>
                <a:latin typeface="宋体"/>
                <a:cs typeface="宋体"/>
              </a:rPr>
              <a:t>条以上指令的超标量处理机经常是两种方法都采用。</a:t>
            </a:r>
            <a:endParaRPr sz="2400">
              <a:latin typeface="宋体"/>
              <a:cs typeface="宋体"/>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169/175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1447291" y="1188694"/>
            <a:ext cx="10069195" cy="941069"/>
          </a:xfrm>
          <a:prstGeom prst="rect">
            <a:avLst/>
          </a:prstGeom>
        </p:spPr>
        <p:txBody>
          <a:bodyPr wrap="square" lIns="0" tIns="12700" rIns="0" bIns="0" rtlCol="0" vert="horz">
            <a:spAutoFit/>
          </a:bodyPr>
          <a:lstStyle/>
          <a:p>
            <a:pPr marL="12700" marR="5080" indent="572770">
              <a:lnSpc>
                <a:spcPct val="150100"/>
              </a:lnSpc>
              <a:spcBef>
                <a:spcPts val="100"/>
              </a:spcBef>
            </a:pPr>
            <a:r>
              <a:rPr dirty="0" sz="2000" spc="-10" b="1">
                <a:solidFill>
                  <a:srgbClr val="001F5F"/>
                </a:solidFill>
                <a:latin typeface="宋体"/>
                <a:cs typeface="宋体"/>
              </a:rPr>
              <a:t>例</a:t>
            </a:r>
            <a:r>
              <a:rPr dirty="0" sz="2000" b="1">
                <a:solidFill>
                  <a:srgbClr val="001F5F"/>
                </a:solidFill>
                <a:latin typeface="宋体"/>
                <a:cs typeface="宋体"/>
              </a:rPr>
              <a:t>5.5</a:t>
            </a:r>
            <a:r>
              <a:rPr dirty="0" sz="2000" spc="-25" b="1">
                <a:solidFill>
                  <a:srgbClr val="001F5F"/>
                </a:solidFill>
                <a:latin typeface="宋体"/>
                <a:cs typeface="宋体"/>
              </a:rPr>
              <a:t> </a:t>
            </a:r>
            <a:r>
              <a:rPr dirty="0" sz="2000" spc="-10" b="1">
                <a:latin typeface="宋体"/>
                <a:cs typeface="宋体"/>
              </a:rPr>
              <a:t>对于采用了Tomasulo</a:t>
            </a:r>
            <a:r>
              <a:rPr dirty="0" sz="2000" spc="-20" b="1">
                <a:latin typeface="宋体"/>
                <a:cs typeface="宋体"/>
              </a:rPr>
              <a:t>算法和多流出技术的</a:t>
            </a:r>
            <a:r>
              <a:rPr dirty="0" sz="2000" spc="-10" b="1">
                <a:solidFill>
                  <a:srgbClr val="9933FF"/>
                </a:solidFill>
                <a:latin typeface="宋体"/>
                <a:cs typeface="宋体"/>
              </a:rPr>
              <a:t>MIPS</a:t>
            </a:r>
            <a:r>
              <a:rPr dirty="0" sz="2000" spc="-25" b="1">
                <a:latin typeface="宋体"/>
                <a:cs typeface="宋体"/>
              </a:rPr>
              <a:t>流水线，考虑以下简单循环的执</a:t>
            </a:r>
            <a:r>
              <a:rPr dirty="0" sz="2000" spc="-10" b="1">
                <a:latin typeface="宋体"/>
                <a:cs typeface="宋体"/>
              </a:rPr>
              <a:t>行。该程序把</a:t>
            </a:r>
            <a:r>
              <a:rPr dirty="0" sz="2000" spc="-10" b="1">
                <a:solidFill>
                  <a:srgbClr val="9933FF"/>
                </a:solidFill>
                <a:latin typeface="宋体"/>
                <a:cs typeface="宋体"/>
              </a:rPr>
              <a:t>F2</a:t>
            </a:r>
            <a:r>
              <a:rPr dirty="0" sz="2000" spc="-25" b="1">
                <a:latin typeface="宋体"/>
                <a:cs typeface="宋体"/>
              </a:rPr>
              <a:t>中的标量加到一个向量的每个元素上。</a:t>
            </a:r>
            <a:endParaRPr sz="2000">
              <a:latin typeface="宋体"/>
              <a:cs typeface="宋体"/>
            </a:endParaRPr>
          </a:p>
        </p:txBody>
      </p:sp>
      <p:graphicFrame>
        <p:nvGraphicFramePr>
          <p:cNvPr id="11" name="object 11" descr=""/>
          <p:cNvGraphicFramePr>
            <a:graphicFrameLocks noGrp="1"/>
          </p:cNvGraphicFramePr>
          <p:nvPr/>
        </p:nvGraphicFramePr>
        <p:xfrm>
          <a:off x="1536446" y="2309090"/>
          <a:ext cx="7099300" cy="1217295"/>
        </p:xfrm>
        <a:graphic>
          <a:graphicData uri="http://schemas.openxmlformats.org/drawingml/2006/table">
            <a:tbl>
              <a:tblPr firstRow="1" bandRow="1">
                <a:tableStyleId>{2D5ABB26-0587-4C30-8999-92F81FD0307C}</a:tableStyleId>
              </a:tblPr>
              <a:tblGrid>
                <a:gridCol w="807720"/>
                <a:gridCol w="919480"/>
                <a:gridCol w="615314"/>
                <a:gridCol w="1379219"/>
                <a:gridCol w="644525"/>
                <a:gridCol w="2659379"/>
              </a:tblGrid>
              <a:tr h="374015">
                <a:tc>
                  <a:txBody>
                    <a:bodyPr/>
                    <a:lstStyle/>
                    <a:p>
                      <a:pPr marL="31750">
                        <a:lnSpc>
                          <a:spcPts val="2325"/>
                        </a:lnSpc>
                      </a:pPr>
                      <a:r>
                        <a:rPr dirty="0" sz="2200" spc="-10" b="1">
                          <a:solidFill>
                            <a:srgbClr val="40458B"/>
                          </a:solidFill>
                          <a:latin typeface="宋体"/>
                          <a:cs typeface="宋体"/>
                        </a:rPr>
                        <a:t>Loop:</a:t>
                      </a:r>
                      <a:endParaRPr sz="2200">
                        <a:latin typeface="宋体"/>
                        <a:cs typeface="宋体"/>
                      </a:endParaRPr>
                    </a:p>
                  </a:txBody>
                  <a:tcPr marL="0" marR="0" marB="0" marT="0"/>
                </a:tc>
                <a:tc>
                  <a:txBody>
                    <a:bodyPr/>
                    <a:lstStyle/>
                    <a:p>
                      <a:pPr marL="70485">
                        <a:lnSpc>
                          <a:spcPts val="2325"/>
                        </a:lnSpc>
                      </a:pPr>
                      <a:r>
                        <a:rPr dirty="0" sz="2200" spc="-25" b="1">
                          <a:solidFill>
                            <a:srgbClr val="40458B"/>
                          </a:solidFill>
                          <a:latin typeface="宋体"/>
                          <a:cs typeface="宋体"/>
                        </a:rPr>
                        <a:t>L.D</a:t>
                      </a:r>
                      <a:endParaRPr sz="2200">
                        <a:latin typeface="宋体"/>
                        <a:cs typeface="宋体"/>
                      </a:endParaRPr>
                    </a:p>
                  </a:txBody>
                  <a:tcPr marL="0" marR="0" marB="0" marT="0"/>
                </a:tc>
                <a:tc>
                  <a:txBody>
                    <a:bodyPr/>
                    <a:lstStyle/>
                    <a:p>
                      <a:pPr algn="r" marR="62865">
                        <a:lnSpc>
                          <a:spcPts val="2325"/>
                        </a:lnSpc>
                      </a:pPr>
                      <a:r>
                        <a:rPr dirty="0" sz="2200" spc="-25" b="1">
                          <a:solidFill>
                            <a:srgbClr val="40458B"/>
                          </a:solidFill>
                          <a:latin typeface="宋体"/>
                          <a:cs typeface="宋体"/>
                        </a:rPr>
                        <a:t>F0,</a:t>
                      </a:r>
                      <a:endParaRPr sz="2200">
                        <a:latin typeface="宋体"/>
                        <a:cs typeface="宋体"/>
                      </a:endParaRPr>
                    </a:p>
                  </a:txBody>
                  <a:tcPr marL="0" marR="0" marB="0" marT="0"/>
                </a:tc>
                <a:tc>
                  <a:txBody>
                    <a:bodyPr/>
                    <a:lstStyle/>
                    <a:p>
                      <a:pPr marL="70485">
                        <a:lnSpc>
                          <a:spcPts val="2325"/>
                        </a:lnSpc>
                      </a:pPr>
                      <a:r>
                        <a:rPr dirty="0" sz="2200" spc="-10" b="1">
                          <a:solidFill>
                            <a:srgbClr val="40458B"/>
                          </a:solidFill>
                          <a:latin typeface="宋体"/>
                          <a:cs typeface="宋体"/>
                        </a:rPr>
                        <a:t>0（R1）</a:t>
                      </a:r>
                      <a:endParaRPr sz="2200">
                        <a:latin typeface="宋体"/>
                        <a:cs typeface="宋体"/>
                      </a:endParaRPr>
                    </a:p>
                  </a:txBody>
                  <a:tcPr marL="0" marR="0" marB="0" marT="0"/>
                </a:tc>
                <a:tc>
                  <a:txBody>
                    <a:bodyPr/>
                    <a:lstStyle/>
                    <a:p>
                      <a:pPr algn="r" marR="55244">
                        <a:lnSpc>
                          <a:spcPts val="2285"/>
                        </a:lnSpc>
                      </a:pPr>
                      <a:r>
                        <a:rPr dirty="0" sz="2000" spc="-25" b="1">
                          <a:latin typeface="宋体"/>
                          <a:cs typeface="宋体"/>
                        </a:rPr>
                        <a:t>//</a:t>
                      </a:r>
                      <a:endParaRPr sz="2000">
                        <a:latin typeface="宋体"/>
                        <a:cs typeface="宋体"/>
                      </a:endParaRPr>
                    </a:p>
                  </a:txBody>
                  <a:tcPr marL="0" marR="0" marB="0" marT="0"/>
                </a:tc>
                <a:tc>
                  <a:txBody>
                    <a:bodyPr/>
                    <a:lstStyle/>
                    <a:p>
                      <a:pPr marL="62865">
                        <a:lnSpc>
                          <a:spcPts val="2285"/>
                        </a:lnSpc>
                      </a:pPr>
                      <a:r>
                        <a:rPr dirty="0" sz="2000" spc="-10" b="1">
                          <a:latin typeface="宋体"/>
                          <a:cs typeface="宋体"/>
                        </a:rPr>
                        <a:t>取一个数组元素放入</a:t>
                      </a:r>
                      <a:r>
                        <a:rPr dirty="0" sz="2000" spc="-25" b="1">
                          <a:latin typeface="宋体"/>
                          <a:cs typeface="宋体"/>
                        </a:rPr>
                        <a:t>F0</a:t>
                      </a:r>
                      <a:endParaRPr sz="2000">
                        <a:latin typeface="宋体"/>
                        <a:cs typeface="宋体"/>
                      </a:endParaRPr>
                    </a:p>
                  </a:txBody>
                  <a:tcPr marL="0" marR="0" marB="0" marT="0"/>
                </a:tc>
              </a:tr>
              <a:tr h="469265">
                <a:tc>
                  <a:txBody>
                    <a:bodyPr/>
                    <a:lstStyle/>
                    <a:p>
                      <a:pPr>
                        <a:lnSpc>
                          <a:spcPct val="100000"/>
                        </a:lnSpc>
                      </a:pPr>
                      <a:endParaRPr sz="2100">
                        <a:latin typeface="Times New Roman"/>
                        <a:cs typeface="Times New Roman"/>
                      </a:endParaRPr>
                    </a:p>
                  </a:txBody>
                  <a:tcPr marL="0" marR="0" marB="0" marT="0"/>
                </a:tc>
                <a:tc>
                  <a:txBody>
                    <a:bodyPr/>
                    <a:lstStyle/>
                    <a:p>
                      <a:pPr marL="88265">
                        <a:lnSpc>
                          <a:spcPct val="100000"/>
                        </a:lnSpc>
                        <a:spcBef>
                          <a:spcPts val="434"/>
                        </a:spcBef>
                      </a:pPr>
                      <a:r>
                        <a:rPr dirty="0" sz="2200" spc="-10" b="1">
                          <a:solidFill>
                            <a:srgbClr val="40458B"/>
                          </a:solidFill>
                          <a:latin typeface="宋体"/>
                          <a:cs typeface="宋体"/>
                        </a:rPr>
                        <a:t>ADD.D</a:t>
                      </a:r>
                      <a:endParaRPr sz="2200">
                        <a:latin typeface="宋体"/>
                        <a:cs typeface="宋体"/>
                      </a:endParaRPr>
                    </a:p>
                  </a:txBody>
                  <a:tcPr marL="0" marR="0" marB="0" marT="55244"/>
                </a:tc>
                <a:tc>
                  <a:txBody>
                    <a:bodyPr/>
                    <a:lstStyle/>
                    <a:p>
                      <a:pPr algn="r" marR="62865">
                        <a:lnSpc>
                          <a:spcPct val="100000"/>
                        </a:lnSpc>
                        <a:spcBef>
                          <a:spcPts val="434"/>
                        </a:spcBef>
                      </a:pPr>
                      <a:r>
                        <a:rPr dirty="0" sz="2200" spc="-25" b="1">
                          <a:solidFill>
                            <a:srgbClr val="40458B"/>
                          </a:solidFill>
                          <a:latin typeface="宋体"/>
                          <a:cs typeface="宋体"/>
                        </a:rPr>
                        <a:t>F4,</a:t>
                      </a:r>
                      <a:endParaRPr sz="2200">
                        <a:latin typeface="宋体"/>
                        <a:cs typeface="宋体"/>
                      </a:endParaRPr>
                    </a:p>
                  </a:txBody>
                  <a:tcPr marL="0" marR="0" marB="0" marT="55244"/>
                </a:tc>
                <a:tc>
                  <a:txBody>
                    <a:bodyPr/>
                    <a:lstStyle/>
                    <a:p>
                      <a:pPr marL="70485">
                        <a:lnSpc>
                          <a:spcPct val="100000"/>
                        </a:lnSpc>
                        <a:spcBef>
                          <a:spcPts val="434"/>
                        </a:spcBef>
                      </a:pPr>
                      <a:r>
                        <a:rPr dirty="0" sz="2200" b="1">
                          <a:solidFill>
                            <a:srgbClr val="40458B"/>
                          </a:solidFill>
                          <a:latin typeface="宋体"/>
                          <a:cs typeface="宋体"/>
                        </a:rPr>
                        <a:t>F0,</a:t>
                      </a:r>
                      <a:r>
                        <a:rPr dirty="0" sz="2200" spc="-35" b="1">
                          <a:solidFill>
                            <a:srgbClr val="40458B"/>
                          </a:solidFill>
                          <a:latin typeface="宋体"/>
                          <a:cs typeface="宋体"/>
                        </a:rPr>
                        <a:t> </a:t>
                      </a:r>
                      <a:r>
                        <a:rPr dirty="0" sz="2200" spc="-25" b="1">
                          <a:solidFill>
                            <a:srgbClr val="40458B"/>
                          </a:solidFill>
                          <a:latin typeface="宋体"/>
                          <a:cs typeface="宋体"/>
                        </a:rPr>
                        <a:t>F2</a:t>
                      </a:r>
                      <a:endParaRPr sz="2200">
                        <a:latin typeface="宋体"/>
                        <a:cs typeface="宋体"/>
                      </a:endParaRPr>
                    </a:p>
                  </a:txBody>
                  <a:tcPr marL="0" marR="0" marB="0" marT="55244"/>
                </a:tc>
                <a:tc>
                  <a:txBody>
                    <a:bodyPr/>
                    <a:lstStyle/>
                    <a:p>
                      <a:pPr algn="r" marR="55244">
                        <a:lnSpc>
                          <a:spcPct val="100000"/>
                        </a:lnSpc>
                        <a:spcBef>
                          <a:spcPts val="635"/>
                        </a:spcBef>
                      </a:pPr>
                      <a:r>
                        <a:rPr dirty="0" sz="2000" spc="-25" b="1">
                          <a:latin typeface="宋体"/>
                          <a:cs typeface="宋体"/>
                        </a:rPr>
                        <a:t>//</a:t>
                      </a:r>
                      <a:endParaRPr sz="2000">
                        <a:latin typeface="宋体"/>
                        <a:cs typeface="宋体"/>
                      </a:endParaRPr>
                    </a:p>
                  </a:txBody>
                  <a:tcPr marL="0" marR="0" marB="0" marT="80645"/>
                </a:tc>
                <a:tc>
                  <a:txBody>
                    <a:bodyPr/>
                    <a:lstStyle/>
                    <a:p>
                      <a:pPr marL="62865">
                        <a:lnSpc>
                          <a:spcPct val="100000"/>
                        </a:lnSpc>
                        <a:spcBef>
                          <a:spcPts val="635"/>
                        </a:spcBef>
                      </a:pPr>
                      <a:r>
                        <a:rPr dirty="0" sz="2000" spc="-10" b="1">
                          <a:latin typeface="宋体"/>
                          <a:cs typeface="宋体"/>
                        </a:rPr>
                        <a:t>加上在F2</a:t>
                      </a:r>
                      <a:r>
                        <a:rPr dirty="0" sz="2000" spc="-20" b="1">
                          <a:latin typeface="宋体"/>
                          <a:cs typeface="宋体"/>
                        </a:rPr>
                        <a:t>中的标量</a:t>
                      </a:r>
                      <a:endParaRPr sz="2000">
                        <a:latin typeface="宋体"/>
                        <a:cs typeface="宋体"/>
                      </a:endParaRPr>
                    </a:p>
                  </a:txBody>
                  <a:tcPr marL="0" marR="0" marB="0" marT="80645"/>
                </a:tc>
              </a:tr>
              <a:tr h="374015">
                <a:tc>
                  <a:txBody>
                    <a:bodyPr/>
                    <a:lstStyle/>
                    <a:p>
                      <a:pPr>
                        <a:lnSpc>
                          <a:spcPct val="100000"/>
                        </a:lnSpc>
                      </a:pPr>
                      <a:endParaRPr sz="2100">
                        <a:latin typeface="Times New Roman"/>
                        <a:cs typeface="Times New Roman"/>
                      </a:endParaRPr>
                    </a:p>
                  </a:txBody>
                  <a:tcPr marL="0" marR="0" marB="0" marT="0"/>
                </a:tc>
                <a:tc>
                  <a:txBody>
                    <a:bodyPr/>
                    <a:lstStyle/>
                    <a:p>
                      <a:pPr marL="88265">
                        <a:lnSpc>
                          <a:spcPts val="2410"/>
                        </a:lnSpc>
                        <a:spcBef>
                          <a:spcPts val="434"/>
                        </a:spcBef>
                      </a:pPr>
                      <a:r>
                        <a:rPr dirty="0" sz="2200" spc="-25" b="1">
                          <a:solidFill>
                            <a:srgbClr val="40458B"/>
                          </a:solidFill>
                          <a:latin typeface="宋体"/>
                          <a:cs typeface="宋体"/>
                        </a:rPr>
                        <a:t>S.D</a:t>
                      </a:r>
                      <a:endParaRPr sz="2200">
                        <a:latin typeface="宋体"/>
                        <a:cs typeface="宋体"/>
                      </a:endParaRPr>
                    </a:p>
                  </a:txBody>
                  <a:tcPr marL="0" marR="0" marB="0" marT="55244"/>
                </a:tc>
                <a:tc>
                  <a:txBody>
                    <a:bodyPr/>
                    <a:lstStyle/>
                    <a:p>
                      <a:pPr algn="r" marR="62865">
                        <a:lnSpc>
                          <a:spcPts val="2410"/>
                        </a:lnSpc>
                        <a:spcBef>
                          <a:spcPts val="434"/>
                        </a:spcBef>
                      </a:pPr>
                      <a:r>
                        <a:rPr dirty="0" sz="2200" spc="-25" b="1">
                          <a:solidFill>
                            <a:srgbClr val="40458B"/>
                          </a:solidFill>
                          <a:latin typeface="宋体"/>
                          <a:cs typeface="宋体"/>
                        </a:rPr>
                        <a:t>F4,</a:t>
                      </a:r>
                      <a:endParaRPr sz="2200">
                        <a:latin typeface="宋体"/>
                        <a:cs typeface="宋体"/>
                      </a:endParaRPr>
                    </a:p>
                  </a:txBody>
                  <a:tcPr marL="0" marR="0" marB="0" marT="55244"/>
                </a:tc>
                <a:tc>
                  <a:txBody>
                    <a:bodyPr/>
                    <a:lstStyle/>
                    <a:p>
                      <a:pPr marL="70485">
                        <a:lnSpc>
                          <a:spcPts val="2410"/>
                        </a:lnSpc>
                        <a:spcBef>
                          <a:spcPts val="434"/>
                        </a:spcBef>
                      </a:pPr>
                      <a:r>
                        <a:rPr dirty="0" sz="2200" spc="-10" b="1">
                          <a:solidFill>
                            <a:srgbClr val="40458B"/>
                          </a:solidFill>
                          <a:latin typeface="宋体"/>
                          <a:cs typeface="宋体"/>
                        </a:rPr>
                        <a:t>0（R1）</a:t>
                      </a:r>
                      <a:endParaRPr sz="2200">
                        <a:latin typeface="宋体"/>
                        <a:cs typeface="宋体"/>
                      </a:endParaRPr>
                    </a:p>
                  </a:txBody>
                  <a:tcPr marL="0" marR="0" marB="0" marT="55244"/>
                </a:tc>
                <a:tc>
                  <a:txBody>
                    <a:bodyPr/>
                    <a:lstStyle/>
                    <a:p>
                      <a:pPr algn="r" marR="55244">
                        <a:lnSpc>
                          <a:spcPts val="2210"/>
                        </a:lnSpc>
                        <a:spcBef>
                          <a:spcPts val="635"/>
                        </a:spcBef>
                      </a:pPr>
                      <a:r>
                        <a:rPr dirty="0" sz="2000" spc="-25" b="1">
                          <a:latin typeface="宋体"/>
                          <a:cs typeface="宋体"/>
                        </a:rPr>
                        <a:t>//</a:t>
                      </a:r>
                      <a:endParaRPr sz="2000">
                        <a:latin typeface="宋体"/>
                        <a:cs typeface="宋体"/>
                      </a:endParaRPr>
                    </a:p>
                  </a:txBody>
                  <a:tcPr marL="0" marR="0" marB="0" marT="80645"/>
                </a:tc>
                <a:tc>
                  <a:txBody>
                    <a:bodyPr/>
                    <a:lstStyle/>
                    <a:p>
                      <a:pPr marL="62865">
                        <a:lnSpc>
                          <a:spcPts val="2210"/>
                        </a:lnSpc>
                        <a:spcBef>
                          <a:spcPts val="635"/>
                        </a:spcBef>
                      </a:pPr>
                      <a:r>
                        <a:rPr dirty="0" sz="2000" spc="-25" b="1">
                          <a:latin typeface="宋体"/>
                          <a:cs typeface="宋体"/>
                        </a:rPr>
                        <a:t>存结果</a:t>
                      </a:r>
                      <a:endParaRPr sz="2000">
                        <a:latin typeface="宋体"/>
                        <a:cs typeface="宋体"/>
                      </a:endParaRPr>
                    </a:p>
                  </a:txBody>
                  <a:tcPr marL="0" marR="0" marB="0" marT="80645"/>
                </a:tc>
              </a:tr>
            </a:tbl>
          </a:graphicData>
        </a:graphic>
      </p:graphicFrame>
      <p:sp>
        <p:nvSpPr>
          <p:cNvPr id="12" name="object 12" descr=""/>
          <p:cNvSpPr txBox="1"/>
          <p:nvPr/>
        </p:nvSpPr>
        <p:spPr>
          <a:xfrm>
            <a:off x="2419857" y="3491793"/>
            <a:ext cx="6184900" cy="1938020"/>
          </a:xfrm>
          <a:prstGeom prst="rect">
            <a:avLst/>
          </a:prstGeom>
        </p:spPr>
        <p:txBody>
          <a:bodyPr wrap="square" lIns="0" tIns="186055" rIns="0" bIns="0" rtlCol="0" vert="horz">
            <a:spAutoFit/>
          </a:bodyPr>
          <a:lstStyle/>
          <a:p>
            <a:pPr marL="12700">
              <a:lnSpc>
                <a:spcPct val="100000"/>
              </a:lnSpc>
              <a:spcBef>
                <a:spcPts val="1465"/>
              </a:spcBef>
            </a:pPr>
            <a:r>
              <a:rPr dirty="0" sz="2200" b="1">
                <a:solidFill>
                  <a:srgbClr val="40458B"/>
                </a:solidFill>
                <a:latin typeface="宋体"/>
                <a:cs typeface="宋体"/>
              </a:rPr>
              <a:t>DADDIU</a:t>
            </a:r>
            <a:r>
              <a:rPr dirty="0" sz="2200" spc="-25" b="1">
                <a:solidFill>
                  <a:srgbClr val="40458B"/>
                </a:solidFill>
                <a:latin typeface="宋体"/>
                <a:cs typeface="宋体"/>
              </a:rPr>
              <a:t> </a:t>
            </a:r>
            <a:r>
              <a:rPr dirty="0" sz="2200" spc="-10" b="1">
                <a:solidFill>
                  <a:srgbClr val="40458B"/>
                </a:solidFill>
                <a:latin typeface="宋体"/>
                <a:cs typeface="宋体"/>
              </a:rPr>
              <a:t>R1,R1，#-</a:t>
            </a:r>
            <a:r>
              <a:rPr dirty="0" sz="2200" spc="-50" b="1">
                <a:solidFill>
                  <a:srgbClr val="40458B"/>
                </a:solidFill>
                <a:latin typeface="宋体"/>
                <a:cs typeface="宋体"/>
              </a:rPr>
              <a:t>8</a:t>
            </a:r>
            <a:endParaRPr sz="2200">
              <a:latin typeface="宋体"/>
              <a:cs typeface="宋体"/>
            </a:endParaRPr>
          </a:p>
          <a:p>
            <a:pPr marL="1691639">
              <a:lnSpc>
                <a:spcPct val="100000"/>
              </a:lnSpc>
              <a:spcBef>
                <a:spcPts val="1255"/>
              </a:spcBef>
            </a:pPr>
            <a:r>
              <a:rPr dirty="0" sz="2000" spc="-15" b="1">
                <a:latin typeface="宋体"/>
                <a:cs typeface="宋体"/>
              </a:rPr>
              <a:t>// 将指针减少</a:t>
            </a:r>
            <a:r>
              <a:rPr dirty="0" sz="2000" spc="-10" b="1">
                <a:latin typeface="宋体"/>
                <a:cs typeface="宋体"/>
              </a:rPr>
              <a:t>8（</a:t>
            </a:r>
            <a:r>
              <a:rPr dirty="0" sz="2000" spc="-20" b="1">
                <a:latin typeface="宋体"/>
                <a:cs typeface="宋体"/>
              </a:rPr>
              <a:t>每个数据占</a:t>
            </a:r>
            <a:r>
              <a:rPr dirty="0" sz="2000" spc="-10" b="1">
                <a:latin typeface="宋体"/>
                <a:cs typeface="宋体"/>
              </a:rPr>
              <a:t>8</a:t>
            </a:r>
            <a:r>
              <a:rPr dirty="0" sz="2000" spc="-20" b="1">
                <a:latin typeface="宋体"/>
                <a:cs typeface="宋体"/>
              </a:rPr>
              <a:t>个字节</a:t>
            </a:r>
            <a:r>
              <a:rPr dirty="0" sz="2000" spc="-50" b="1">
                <a:latin typeface="宋体"/>
                <a:cs typeface="宋体"/>
              </a:rPr>
              <a:t>）</a:t>
            </a:r>
            <a:endParaRPr sz="2000">
              <a:latin typeface="宋体"/>
              <a:cs typeface="宋体"/>
            </a:endParaRPr>
          </a:p>
          <a:p>
            <a:pPr marL="12700">
              <a:lnSpc>
                <a:spcPct val="100000"/>
              </a:lnSpc>
              <a:spcBef>
                <a:spcPts val="1100"/>
              </a:spcBef>
            </a:pPr>
            <a:r>
              <a:rPr dirty="0" sz="2200" b="1">
                <a:solidFill>
                  <a:srgbClr val="40458B"/>
                </a:solidFill>
                <a:latin typeface="宋体"/>
                <a:cs typeface="宋体"/>
              </a:rPr>
              <a:t>BNE</a:t>
            </a:r>
            <a:r>
              <a:rPr dirty="0" sz="2200" spc="-40" b="1">
                <a:solidFill>
                  <a:srgbClr val="40458B"/>
                </a:solidFill>
                <a:latin typeface="宋体"/>
                <a:cs typeface="宋体"/>
              </a:rPr>
              <a:t> </a:t>
            </a:r>
            <a:r>
              <a:rPr dirty="0" sz="2200" spc="-10" b="1">
                <a:solidFill>
                  <a:srgbClr val="40458B"/>
                </a:solidFill>
                <a:latin typeface="宋体"/>
                <a:cs typeface="宋体"/>
              </a:rPr>
              <a:t>R1,R2,Loop</a:t>
            </a:r>
            <a:endParaRPr sz="2200">
              <a:latin typeface="宋体"/>
              <a:cs typeface="宋体"/>
            </a:endParaRPr>
          </a:p>
          <a:p>
            <a:pPr marL="12700">
              <a:lnSpc>
                <a:spcPct val="100000"/>
              </a:lnSpc>
              <a:spcBef>
                <a:spcPts val="1255"/>
              </a:spcBef>
            </a:pPr>
            <a:r>
              <a:rPr dirty="0" sz="2000" spc="-10" b="1">
                <a:latin typeface="宋体"/>
                <a:cs typeface="宋体"/>
              </a:rPr>
              <a:t>// 若R1不等于R2</a:t>
            </a:r>
            <a:r>
              <a:rPr dirty="0" sz="2000" spc="-20" b="1">
                <a:latin typeface="宋体"/>
                <a:cs typeface="宋体"/>
              </a:rPr>
              <a:t>，表示尚未结束，转移到</a:t>
            </a:r>
            <a:r>
              <a:rPr dirty="0" sz="2000" spc="-10" b="1">
                <a:latin typeface="宋体"/>
                <a:cs typeface="宋体"/>
              </a:rPr>
              <a:t>Loop</a:t>
            </a:r>
            <a:r>
              <a:rPr dirty="0" sz="2000" spc="-15" b="1">
                <a:latin typeface="宋体"/>
                <a:cs typeface="宋体"/>
              </a:rPr>
              <a:t>继续</a:t>
            </a:r>
            <a:r>
              <a:rPr dirty="0" sz="2000" spc="-50" b="1">
                <a:solidFill>
                  <a:srgbClr val="40458B"/>
                </a:solidFill>
                <a:latin typeface="宋体"/>
                <a:cs typeface="宋体"/>
              </a:rPr>
              <a:t>。</a:t>
            </a:r>
            <a:endParaRPr sz="2000">
              <a:latin typeface="宋体"/>
              <a:cs typeface="宋体"/>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170/175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665480" y="993718"/>
            <a:ext cx="11440160" cy="4101465"/>
          </a:xfrm>
          <a:prstGeom prst="rect">
            <a:avLst/>
          </a:prstGeom>
        </p:spPr>
        <p:txBody>
          <a:bodyPr wrap="square" lIns="0" tIns="163830" rIns="0" bIns="0" rtlCol="0" vert="horz">
            <a:spAutoFit/>
          </a:bodyPr>
          <a:lstStyle/>
          <a:p>
            <a:pPr marL="55244">
              <a:lnSpc>
                <a:spcPct val="100000"/>
              </a:lnSpc>
              <a:spcBef>
                <a:spcPts val="1290"/>
              </a:spcBef>
            </a:pPr>
            <a:r>
              <a:rPr dirty="0" sz="2400" spc="-10">
                <a:solidFill>
                  <a:srgbClr val="40458B"/>
                </a:solidFill>
                <a:latin typeface="黑体"/>
                <a:cs typeface="黑体"/>
              </a:rPr>
              <a:t>现做以下假设：</a:t>
            </a:r>
            <a:endParaRPr sz="2400">
              <a:latin typeface="黑体"/>
              <a:cs typeface="黑体"/>
            </a:endParaRPr>
          </a:p>
          <a:p>
            <a:pPr marL="469265" indent="-456565">
              <a:lnSpc>
                <a:spcPct val="100000"/>
              </a:lnSpc>
              <a:spcBef>
                <a:spcPts val="1090"/>
              </a:spcBef>
              <a:buClr>
                <a:srgbClr val="4668F5"/>
              </a:buClr>
              <a:buSzPct val="68181"/>
              <a:buFont typeface="Wingdings"/>
              <a:buChar char=""/>
              <a:tabLst>
                <a:tab pos="469265" algn="l"/>
              </a:tabLst>
            </a:pPr>
            <a:r>
              <a:rPr dirty="0" sz="2200" spc="-25" b="1">
                <a:solidFill>
                  <a:srgbClr val="9966FF"/>
                </a:solidFill>
                <a:latin typeface="宋体"/>
                <a:cs typeface="宋体"/>
              </a:rPr>
              <a:t>每个时钟周期能流出一条整数指令和一条浮点指令，即使它们相关也是如此。</a:t>
            </a:r>
            <a:endParaRPr sz="2200">
              <a:latin typeface="宋体"/>
              <a:cs typeface="宋体"/>
            </a:endParaRPr>
          </a:p>
          <a:p>
            <a:pPr marL="469900" marR="158750" indent="-457200">
              <a:lnSpc>
                <a:spcPct val="120000"/>
              </a:lnSpc>
              <a:spcBef>
                <a:spcPts val="530"/>
              </a:spcBef>
              <a:buClr>
                <a:srgbClr val="4668F5"/>
              </a:buClr>
              <a:buSzPct val="68181"/>
              <a:buFont typeface="Wingdings"/>
              <a:buChar char=""/>
              <a:tabLst>
                <a:tab pos="469900" algn="l"/>
              </a:tabLst>
            </a:pPr>
            <a:r>
              <a:rPr dirty="0" sz="2200" spc="-25" b="1">
                <a:solidFill>
                  <a:srgbClr val="9966FF"/>
                </a:solidFill>
                <a:latin typeface="宋体"/>
                <a:cs typeface="宋体"/>
              </a:rPr>
              <a:t>有一个整数部件，用于整数</a:t>
            </a:r>
            <a:r>
              <a:rPr dirty="0" sz="2200" spc="-10" b="1">
                <a:solidFill>
                  <a:srgbClr val="9933FF"/>
                </a:solidFill>
                <a:latin typeface="宋体"/>
                <a:cs typeface="宋体"/>
              </a:rPr>
              <a:t>ALU</a:t>
            </a:r>
            <a:r>
              <a:rPr dirty="0" sz="2200" spc="-30" b="1">
                <a:solidFill>
                  <a:srgbClr val="9966FF"/>
                </a:solidFill>
                <a:latin typeface="宋体"/>
                <a:cs typeface="宋体"/>
              </a:rPr>
              <a:t>运算和地址计算；并且对于每一种浮点操作类型都有一个</a:t>
            </a:r>
            <a:r>
              <a:rPr dirty="0" sz="2200" spc="-25" b="1">
                <a:solidFill>
                  <a:srgbClr val="9966FF"/>
                </a:solidFill>
                <a:latin typeface="宋体"/>
                <a:cs typeface="宋体"/>
              </a:rPr>
              <a:t>独立的流水化了的浮点功能部件。</a:t>
            </a:r>
            <a:endParaRPr sz="2200">
              <a:latin typeface="宋体"/>
              <a:cs typeface="宋体"/>
            </a:endParaRPr>
          </a:p>
          <a:p>
            <a:pPr marL="469265" indent="-456565">
              <a:lnSpc>
                <a:spcPct val="100000"/>
              </a:lnSpc>
              <a:spcBef>
                <a:spcPts val="1055"/>
              </a:spcBef>
              <a:buClr>
                <a:srgbClr val="4668F5"/>
              </a:buClr>
              <a:buSzPct val="68181"/>
              <a:buFont typeface="Wingdings"/>
              <a:buChar char=""/>
              <a:tabLst>
                <a:tab pos="469265" algn="l"/>
              </a:tabLst>
            </a:pPr>
            <a:r>
              <a:rPr dirty="0" sz="2200" spc="-25" b="1">
                <a:solidFill>
                  <a:srgbClr val="9966FF"/>
                </a:solidFill>
                <a:latin typeface="宋体"/>
                <a:cs typeface="宋体"/>
              </a:rPr>
              <a:t>指令流出和写结果各占用一个时钟周期。</a:t>
            </a:r>
            <a:endParaRPr sz="2200">
              <a:latin typeface="宋体"/>
              <a:cs typeface="宋体"/>
            </a:endParaRPr>
          </a:p>
          <a:p>
            <a:pPr marL="469265" indent="-456565">
              <a:lnSpc>
                <a:spcPct val="100000"/>
              </a:lnSpc>
              <a:spcBef>
                <a:spcPts val="1060"/>
              </a:spcBef>
              <a:buClr>
                <a:srgbClr val="4668F5"/>
              </a:buClr>
              <a:buSzPct val="68181"/>
              <a:buFont typeface="Wingdings"/>
              <a:buChar char=""/>
              <a:tabLst>
                <a:tab pos="469265" algn="l"/>
              </a:tabLst>
            </a:pPr>
            <a:r>
              <a:rPr dirty="0" sz="2200" spc="-25" b="1">
                <a:solidFill>
                  <a:srgbClr val="9966FF"/>
                </a:solidFill>
                <a:latin typeface="宋体"/>
                <a:cs typeface="宋体"/>
              </a:rPr>
              <a:t>具有动态分支预测部件和一个独立的计算分支条件的功能部件。</a:t>
            </a:r>
            <a:endParaRPr sz="2200">
              <a:latin typeface="宋体"/>
              <a:cs typeface="宋体"/>
            </a:endParaRPr>
          </a:p>
          <a:p>
            <a:pPr algn="just" marL="469900" marR="5080" indent="-457200">
              <a:lnSpc>
                <a:spcPct val="120000"/>
              </a:lnSpc>
              <a:spcBef>
                <a:spcPts val="525"/>
              </a:spcBef>
              <a:buClr>
                <a:srgbClr val="4668F5"/>
              </a:buClr>
              <a:buSzPct val="68181"/>
              <a:buFont typeface="Wingdings"/>
              <a:buChar char=""/>
              <a:tabLst>
                <a:tab pos="469900" algn="l"/>
              </a:tabLst>
            </a:pPr>
            <a:r>
              <a:rPr dirty="0" sz="2200" spc="-25" b="1">
                <a:solidFill>
                  <a:srgbClr val="9966FF"/>
                </a:solidFill>
                <a:latin typeface="宋体"/>
                <a:cs typeface="宋体"/>
              </a:rPr>
              <a:t>跟大多数动态调度处理器一样，写回段的存在意味着实际的指令延迟会比按序流动的简单流水线多一个时钟周期。所以，从产生结果数据的源指令到使用该结果数据的指令之间的延迟为：整数运算一个周期，</a:t>
            </a:r>
            <a:r>
              <a:rPr dirty="0" sz="2200" spc="-25" b="1">
                <a:solidFill>
                  <a:srgbClr val="9966FF"/>
                </a:solidFill>
                <a:latin typeface="Tahoma"/>
                <a:cs typeface="Tahoma"/>
              </a:rPr>
              <a:t>load</a:t>
            </a:r>
            <a:r>
              <a:rPr dirty="0" sz="2200" spc="-25" b="1">
                <a:solidFill>
                  <a:srgbClr val="9966FF"/>
                </a:solidFill>
                <a:latin typeface="宋体"/>
                <a:cs typeface="宋体"/>
              </a:rPr>
              <a:t>两个周期，浮点加法运算</a:t>
            </a:r>
            <a:r>
              <a:rPr dirty="0" sz="2200" spc="-20" b="1">
                <a:solidFill>
                  <a:srgbClr val="9966FF"/>
                </a:solidFill>
                <a:latin typeface="Tahoma"/>
                <a:cs typeface="Tahoma"/>
              </a:rPr>
              <a:t>3</a:t>
            </a:r>
            <a:r>
              <a:rPr dirty="0" sz="2200" spc="-30" b="1">
                <a:solidFill>
                  <a:srgbClr val="9966FF"/>
                </a:solidFill>
                <a:latin typeface="宋体"/>
                <a:cs typeface="宋体"/>
              </a:rPr>
              <a:t>个周期</a:t>
            </a:r>
            <a:endParaRPr sz="2200">
              <a:latin typeface="宋体"/>
              <a:cs typeface="宋体"/>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171/175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558190" y="1954555"/>
            <a:ext cx="11450955" cy="3322954"/>
          </a:xfrm>
          <a:prstGeom prst="rect">
            <a:avLst/>
          </a:prstGeom>
        </p:spPr>
        <p:txBody>
          <a:bodyPr wrap="square" lIns="0" tIns="12700" rIns="0" bIns="0" rtlCol="0" vert="horz">
            <a:spAutoFit/>
          </a:bodyPr>
          <a:lstStyle/>
          <a:p>
            <a:pPr marL="469900" marR="164465" indent="631825">
              <a:lnSpc>
                <a:spcPct val="110100"/>
              </a:lnSpc>
              <a:spcBef>
                <a:spcPts val="100"/>
              </a:spcBef>
              <a:buAutoNum type="arabicPeriod"/>
              <a:tabLst>
                <a:tab pos="1101725" algn="l"/>
              </a:tabLst>
            </a:pPr>
            <a:r>
              <a:rPr dirty="0" sz="2800" spc="-25" b="1">
                <a:latin typeface="宋体"/>
                <a:cs typeface="宋体"/>
              </a:rPr>
              <a:t>请列出该程序前面</a:t>
            </a:r>
            <a:r>
              <a:rPr dirty="0" sz="2800" spc="-20" b="1">
                <a:solidFill>
                  <a:srgbClr val="9933FF"/>
                </a:solidFill>
                <a:latin typeface="宋体"/>
                <a:cs typeface="宋体"/>
              </a:rPr>
              <a:t>3</a:t>
            </a:r>
            <a:r>
              <a:rPr dirty="0" sz="2800" spc="-30" b="1">
                <a:latin typeface="宋体"/>
                <a:cs typeface="宋体"/>
              </a:rPr>
              <a:t>遍循环中各条指令的流出、开始执行和将结果</a:t>
            </a:r>
            <a:r>
              <a:rPr dirty="0" sz="2800" spc="-25" b="1">
                <a:latin typeface="宋体"/>
                <a:cs typeface="宋体"/>
              </a:rPr>
              <a:t>写到</a:t>
            </a:r>
            <a:r>
              <a:rPr dirty="0" sz="2800" spc="-20" b="1">
                <a:solidFill>
                  <a:srgbClr val="9933FF"/>
                </a:solidFill>
                <a:latin typeface="宋体"/>
                <a:cs typeface="宋体"/>
              </a:rPr>
              <a:t>CDB</a:t>
            </a:r>
            <a:r>
              <a:rPr dirty="0" sz="2800" spc="-30" b="1">
                <a:latin typeface="宋体"/>
                <a:cs typeface="宋体"/>
              </a:rPr>
              <a:t>上的时间。</a:t>
            </a:r>
            <a:endParaRPr sz="2800">
              <a:latin typeface="宋体"/>
              <a:cs typeface="宋体"/>
            </a:endParaRPr>
          </a:p>
          <a:p>
            <a:pPr marL="1083310" indent="-532765">
              <a:lnSpc>
                <a:spcPct val="100000"/>
              </a:lnSpc>
              <a:spcBef>
                <a:spcPts val="1005"/>
              </a:spcBef>
              <a:buAutoNum type="arabicPeriod"/>
              <a:tabLst>
                <a:tab pos="1083310" algn="l"/>
              </a:tabLst>
            </a:pPr>
            <a:r>
              <a:rPr dirty="0" sz="2800" spc="-30" b="1">
                <a:latin typeface="宋体"/>
                <a:cs typeface="宋体"/>
              </a:rPr>
              <a:t>如果分支指令单流出，没有采用延迟分支，但分支预测是完</a:t>
            </a:r>
            <a:endParaRPr sz="2800">
              <a:latin typeface="宋体"/>
              <a:cs typeface="宋体"/>
            </a:endParaRPr>
          </a:p>
          <a:p>
            <a:pPr marL="12700">
              <a:lnSpc>
                <a:spcPct val="100000"/>
              </a:lnSpc>
              <a:spcBef>
                <a:spcPts val="1010"/>
              </a:spcBef>
            </a:pPr>
            <a:r>
              <a:rPr dirty="0" sz="2800" spc="-30" b="1">
                <a:latin typeface="宋体"/>
                <a:cs typeface="宋体"/>
              </a:rPr>
              <a:t>美的。请列出整数部件、浮点部件、数据</a:t>
            </a:r>
            <a:r>
              <a:rPr dirty="0" sz="2800" b="1">
                <a:solidFill>
                  <a:srgbClr val="9933FF"/>
                </a:solidFill>
                <a:latin typeface="宋体"/>
                <a:cs typeface="宋体"/>
              </a:rPr>
              <a:t>Cache</a:t>
            </a:r>
            <a:r>
              <a:rPr dirty="0" sz="2800" spc="-30" b="1">
                <a:latin typeface="宋体"/>
                <a:cs typeface="宋体"/>
              </a:rPr>
              <a:t>以及</a:t>
            </a:r>
            <a:r>
              <a:rPr dirty="0" sz="2800" b="1">
                <a:solidFill>
                  <a:srgbClr val="9933FF"/>
                </a:solidFill>
                <a:latin typeface="宋体"/>
                <a:cs typeface="宋体"/>
              </a:rPr>
              <a:t>CDB</a:t>
            </a:r>
            <a:r>
              <a:rPr dirty="0" sz="2800" spc="-35" b="1">
                <a:latin typeface="宋体"/>
                <a:cs typeface="宋体"/>
              </a:rPr>
              <a:t>的资源使用情况。</a:t>
            </a:r>
            <a:endParaRPr sz="2800">
              <a:latin typeface="宋体"/>
              <a:cs typeface="宋体"/>
            </a:endParaRPr>
          </a:p>
          <a:p>
            <a:pPr marL="469900" marR="188595" indent="-277495">
              <a:lnSpc>
                <a:spcPct val="140000"/>
              </a:lnSpc>
              <a:spcBef>
                <a:spcPts val="420"/>
              </a:spcBef>
            </a:pPr>
            <a:r>
              <a:rPr dirty="0" sz="2800" spc="-25" b="1">
                <a:solidFill>
                  <a:srgbClr val="001F5F"/>
                </a:solidFill>
                <a:latin typeface="宋体"/>
                <a:cs typeface="宋体"/>
              </a:rPr>
              <a:t>解：</a:t>
            </a:r>
            <a:r>
              <a:rPr dirty="0" sz="2800" spc="-30" b="1">
                <a:latin typeface="宋体"/>
                <a:cs typeface="宋体"/>
              </a:rPr>
              <a:t>执行时，该循环将动态展开，并且只要可能就流出两条指令。表中</a:t>
            </a:r>
            <a:r>
              <a:rPr dirty="0" sz="2800" spc="-35" b="1">
                <a:latin typeface="宋体"/>
                <a:cs typeface="宋体"/>
              </a:rPr>
              <a:t>列出了各指令执行到几个操作点的时间及资源的使用情况。</a:t>
            </a:r>
            <a:endParaRPr sz="2800">
              <a:latin typeface="宋体"/>
              <a:cs typeface="宋体"/>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905063" y="442912"/>
          <a:ext cx="8458200" cy="6236969"/>
        </p:xfrm>
        <a:graphic>
          <a:graphicData uri="http://schemas.openxmlformats.org/drawingml/2006/table">
            <a:tbl>
              <a:tblPr firstRow="1" bandRow="1">
                <a:tableStyleId>{2D5ABB26-0587-4C30-8999-92F81FD0307C}</a:tableStyleId>
              </a:tblPr>
              <a:tblGrid>
                <a:gridCol w="647700"/>
                <a:gridCol w="1062355"/>
                <a:gridCol w="1387475"/>
                <a:gridCol w="774699"/>
                <a:gridCol w="812800"/>
                <a:gridCol w="787400"/>
                <a:gridCol w="762000"/>
                <a:gridCol w="2119629"/>
              </a:tblGrid>
              <a:tr h="386715">
                <a:tc>
                  <a:txBody>
                    <a:bodyPr/>
                    <a:lstStyle/>
                    <a:p>
                      <a:pPr algn="ctr">
                        <a:lnSpc>
                          <a:spcPct val="100000"/>
                        </a:lnSpc>
                        <a:spcBef>
                          <a:spcPts val="370"/>
                        </a:spcBef>
                      </a:pPr>
                      <a:r>
                        <a:rPr dirty="0" sz="1800" spc="-30" b="1">
                          <a:solidFill>
                            <a:srgbClr val="E14B04"/>
                          </a:solidFill>
                          <a:latin typeface="宋体"/>
                          <a:cs typeface="宋体"/>
                        </a:rPr>
                        <a:t>遍数</a:t>
                      </a:r>
                      <a:endParaRPr sz="1800">
                        <a:latin typeface="宋体"/>
                        <a:cs typeface="宋体"/>
                      </a:endParaRPr>
                    </a:p>
                  </a:txBody>
                  <a:tcPr marL="0" marR="0" marB="0" marT="4699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r" marR="62865">
                        <a:lnSpc>
                          <a:spcPct val="100000"/>
                        </a:lnSpc>
                        <a:spcBef>
                          <a:spcPts val="370"/>
                        </a:spcBef>
                      </a:pPr>
                      <a:r>
                        <a:rPr dirty="0" sz="1800" spc="-50" b="1">
                          <a:solidFill>
                            <a:srgbClr val="E14B04"/>
                          </a:solidFill>
                          <a:latin typeface="宋体"/>
                          <a:cs typeface="宋体"/>
                        </a:rPr>
                        <a:t>指</a:t>
                      </a:r>
                      <a:endParaRPr sz="1800">
                        <a:latin typeface="宋体"/>
                        <a:cs typeface="宋体"/>
                      </a:endParaRPr>
                    </a:p>
                  </a:txBody>
                  <a:tcPr marL="0" marR="0" marB="0" marT="46990">
                    <a:lnL w="12700">
                      <a:solidFill>
                        <a:srgbClr val="40458B"/>
                      </a:solidFill>
                      <a:prstDash val="solid"/>
                    </a:lnL>
                    <a:lnT w="28575">
                      <a:solidFill>
                        <a:srgbClr val="40458B"/>
                      </a:solidFill>
                      <a:prstDash val="solid"/>
                    </a:lnT>
                    <a:lnB w="12700">
                      <a:solidFill>
                        <a:srgbClr val="40458B"/>
                      </a:solidFill>
                      <a:prstDash val="solid"/>
                    </a:lnB>
                  </a:tcPr>
                </a:tc>
                <a:tc>
                  <a:txBody>
                    <a:bodyPr/>
                    <a:lstStyle/>
                    <a:p>
                      <a:pPr marL="393700">
                        <a:lnSpc>
                          <a:spcPct val="100000"/>
                        </a:lnSpc>
                        <a:spcBef>
                          <a:spcPts val="370"/>
                        </a:spcBef>
                      </a:pPr>
                      <a:r>
                        <a:rPr dirty="0" sz="1800" spc="-50" b="1">
                          <a:solidFill>
                            <a:srgbClr val="E14B04"/>
                          </a:solidFill>
                          <a:latin typeface="宋体"/>
                          <a:cs typeface="宋体"/>
                        </a:rPr>
                        <a:t>令</a:t>
                      </a:r>
                      <a:endParaRPr sz="1800">
                        <a:latin typeface="宋体"/>
                        <a:cs typeface="宋体"/>
                      </a:endParaRPr>
                    </a:p>
                  </a:txBody>
                  <a:tcPr marL="0" marR="0" marB="0" marT="46990">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1270">
                        <a:lnSpc>
                          <a:spcPct val="100000"/>
                        </a:lnSpc>
                        <a:spcBef>
                          <a:spcPts val="370"/>
                        </a:spcBef>
                      </a:pPr>
                      <a:r>
                        <a:rPr dirty="0" sz="1800" spc="-30" b="1">
                          <a:solidFill>
                            <a:srgbClr val="E14B04"/>
                          </a:solidFill>
                          <a:latin typeface="宋体"/>
                          <a:cs typeface="宋体"/>
                        </a:rPr>
                        <a:t>流出</a:t>
                      </a:r>
                      <a:endParaRPr sz="1800">
                        <a:latin typeface="宋体"/>
                        <a:cs typeface="宋体"/>
                      </a:endParaRPr>
                    </a:p>
                  </a:txBody>
                  <a:tcPr marL="0" marR="0" marB="0" marT="4699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370"/>
                        </a:spcBef>
                      </a:pPr>
                      <a:r>
                        <a:rPr dirty="0" sz="1800" spc="-30" b="1">
                          <a:solidFill>
                            <a:srgbClr val="E14B04"/>
                          </a:solidFill>
                          <a:latin typeface="宋体"/>
                          <a:cs typeface="宋体"/>
                        </a:rPr>
                        <a:t>执行</a:t>
                      </a:r>
                      <a:endParaRPr sz="1800">
                        <a:latin typeface="宋体"/>
                        <a:cs typeface="宋体"/>
                      </a:endParaRPr>
                    </a:p>
                  </a:txBody>
                  <a:tcPr marL="0" marR="0" marB="0" marT="4699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1270">
                        <a:lnSpc>
                          <a:spcPct val="100000"/>
                        </a:lnSpc>
                        <a:spcBef>
                          <a:spcPts val="370"/>
                        </a:spcBef>
                      </a:pPr>
                      <a:r>
                        <a:rPr dirty="0" sz="1800" spc="-30" b="1">
                          <a:solidFill>
                            <a:srgbClr val="E14B04"/>
                          </a:solidFill>
                          <a:latin typeface="宋体"/>
                          <a:cs typeface="宋体"/>
                        </a:rPr>
                        <a:t>访存</a:t>
                      </a:r>
                      <a:endParaRPr sz="1800">
                        <a:latin typeface="宋体"/>
                        <a:cs typeface="宋体"/>
                      </a:endParaRPr>
                    </a:p>
                  </a:txBody>
                  <a:tcPr marL="0" marR="0" marB="0" marT="4699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1270">
                        <a:lnSpc>
                          <a:spcPct val="100000"/>
                        </a:lnSpc>
                        <a:spcBef>
                          <a:spcPts val="370"/>
                        </a:spcBef>
                      </a:pPr>
                      <a:r>
                        <a:rPr dirty="0" sz="1800" spc="-10" b="1">
                          <a:solidFill>
                            <a:srgbClr val="E14B04"/>
                          </a:solidFill>
                          <a:latin typeface="宋体"/>
                          <a:cs typeface="宋体"/>
                        </a:rPr>
                        <a:t>写</a:t>
                      </a:r>
                      <a:r>
                        <a:rPr dirty="0" sz="1800" spc="-25" b="1">
                          <a:solidFill>
                            <a:srgbClr val="E14B04"/>
                          </a:solidFill>
                          <a:latin typeface="宋体"/>
                          <a:cs typeface="宋体"/>
                        </a:rPr>
                        <a:t>CDB</a:t>
                      </a:r>
                      <a:endParaRPr sz="1800">
                        <a:latin typeface="宋体"/>
                        <a:cs typeface="宋体"/>
                      </a:endParaRPr>
                    </a:p>
                  </a:txBody>
                  <a:tcPr marL="0" marR="0" marB="0" marT="4699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2540">
                        <a:lnSpc>
                          <a:spcPct val="100000"/>
                        </a:lnSpc>
                        <a:spcBef>
                          <a:spcPts val="370"/>
                        </a:spcBef>
                      </a:pPr>
                      <a:r>
                        <a:rPr dirty="0" sz="1800" spc="-30" b="1">
                          <a:solidFill>
                            <a:srgbClr val="E14B04"/>
                          </a:solidFill>
                          <a:latin typeface="宋体"/>
                          <a:cs typeface="宋体"/>
                        </a:rPr>
                        <a:t>说明</a:t>
                      </a:r>
                      <a:endParaRPr sz="1800">
                        <a:latin typeface="宋体"/>
                        <a:cs typeface="宋体"/>
                      </a:endParaRPr>
                    </a:p>
                  </a:txBody>
                  <a:tcPr marL="0" marR="0" marB="0" marT="4699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433070">
                <a:tc>
                  <a:txBody>
                    <a:bodyPr/>
                    <a:lstStyle/>
                    <a:p>
                      <a:pPr algn="ctr">
                        <a:lnSpc>
                          <a:spcPct val="100000"/>
                        </a:lnSpc>
                        <a:spcBef>
                          <a:spcPts val="370"/>
                        </a:spcBef>
                      </a:pPr>
                      <a:r>
                        <a:rPr dirty="0" sz="1800" spc="-50" b="1">
                          <a:solidFill>
                            <a:srgbClr val="008000"/>
                          </a:solidFill>
                          <a:latin typeface="宋体"/>
                          <a:cs typeface="宋体"/>
                        </a:rPr>
                        <a:t>1</a:t>
                      </a:r>
                      <a:endParaRPr sz="1800">
                        <a:latin typeface="宋体"/>
                        <a:cs typeface="宋体"/>
                      </a:endParaRPr>
                    </a:p>
                  </a:txBody>
                  <a:tcPr marL="0" marR="0" marB="0" marT="4699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gridSpan="2">
                  <a:txBody>
                    <a:bodyPr/>
                    <a:lstStyle/>
                    <a:p>
                      <a:pPr marL="89535">
                        <a:lnSpc>
                          <a:spcPct val="100000"/>
                        </a:lnSpc>
                        <a:spcBef>
                          <a:spcPts val="370"/>
                        </a:spcBef>
                        <a:tabLst>
                          <a:tab pos="1132205" algn="l"/>
                        </a:tabLst>
                      </a:pPr>
                      <a:r>
                        <a:rPr dirty="0" sz="1800" spc="-25" b="1">
                          <a:solidFill>
                            <a:srgbClr val="660066"/>
                          </a:solidFill>
                          <a:latin typeface="宋体"/>
                          <a:cs typeface="宋体"/>
                        </a:rPr>
                        <a:t>L.D</a:t>
                      </a:r>
                      <a:r>
                        <a:rPr dirty="0" sz="1800" b="1">
                          <a:solidFill>
                            <a:srgbClr val="660066"/>
                          </a:solidFill>
                          <a:latin typeface="宋体"/>
                          <a:cs typeface="宋体"/>
                        </a:rPr>
                        <a:t>	</a:t>
                      </a:r>
                      <a:r>
                        <a:rPr dirty="0" sz="1800" spc="-10" b="1">
                          <a:solidFill>
                            <a:srgbClr val="660066"/>
                          </a:solidFill>
                          <a:latin typeface="宋体"/>
                          <a:cs typeface="宋体"/>
                        </a:rPr>
                        <a:t>F0,0（R1）</a:t>
                      </a:r>
                      <a:endParaRPr sz="1800">
                        <a:latin typeface="宋体"/>
                        <a:cs typeface="宋体"/>
                      </a:endParaRPr>
                    </a:p>
                  </a:txBody>
                  <a:tcPr marL="0" marR="0" marB="0" marT="469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c>
                  <a:txBody>
                    <a:bodyPr/>
                    <a:lstStyle/>
                    <a:p>
                      <a:pPr algn="ctr">
                        <a:lnSpc>
                          <a:spcPct val="100000"/>
                        </a:lnSpc>
                        <a:spcBef>
                          <a:spcPts val="370"/>
                        </a:spcBef>
                      </a:pPr>
                      <a:r>
                        <a:rPr dirty="0" sz="1800" spc="-50" b="1">
                          <a:solidFill>
                            <a:srgbClr val="40458B"/>
                          </a:solidFill>
                          <a:latin typeface="宋体"/>
                          <a:cs typeface="宋体"/>
                        </a:rPr>
                        <a:t>1</a:t>
                      </a:r>
                      <a:endParaRPr sz="1800">
                        <a:latin typeface="宋体"/>
                        <a:cs typeface="宋体"/>
                      </a:endParaRPr>
                    </a:p>
                  </a:txBody>
                  <a:tcPr marL="0" marR="0" marB="0" marT="469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0"/>
                        </a:spcBef>
                      </a:pPr>
                      <a:r>
                        <a:rPr dirty="0" sz="1800" spc="-50" b="1">
                          <a:solidFill>
                            <a:srgbClr val="40458B"/>
                          </a:solidFill>
                          <a:latin typeface="宋体"/>
                          <a:cs typeface="宋体"/>
                        </a:rPr>
                        <a:t>2</a:t>
                      </a:r>
                      <a:endParaRPr sz="1800">
                        <a:latin typeface="宋体"/>
                        <a:cs typeface="宋体"/>
                      </a:endParaRPr>
                    </a:p>
                  </a:txBody>
                  <a:tcPr marL="0" marR="0" marB="0" marT="469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0"/>
                        </a:spcBef>
                      </a:pPr>
                      <a:r>
                        <a:rPr dirty="0" sz="1800" spc="-50" b="1">
                          <a:solidFill>
                            <a:srgbClr val="40458B"/>
                          </a:solidFill>
                          <a:latin typeface="宋体"/>
                          <a:cs typeface="宋体"/>
                        </a:rPr>
                        <a:t>3</a:t>
                      </a:r>
                      <a:endParaRPr sz="1800">
                        <a:latin typeface="宋体"/>
                        <a:cs typeface="宋体"/>
                      </a:endParaRPr>
                    </a:p>
                  </a:txBody>
                  <a:tcPr marL="0" marR="0" marB="0" marT="469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0"/>
                        </a:spcBef>
                      </a:pPr>
                      <a:r>
                        <a:rPr dirty="0" sz="1800" spc="-50" b="1">
                          <a:solidFill>
                            <a:srgbClr val="40458B"/>
                          </a:solidFill>
                          <a:latin typeface="宋体"/>
                          <a:cs typeface="宋体"/>
                        </a:rPr>
                        <a:t>4</a:t>
                      </a:r>
                      <a:endParaRPr sz="1800">
                        <a:latin typeface="宋体"/>
                        <a:cs typeface="宋体"/>
                      </a:endParaRPr>
                    </a:p>
                  </a:txBody>
                  <a:tcPr marL="0" marR="0" marB="0" marT="469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370"/>
                        </a:spcBef>
                      </a:pPr>
                      <a:r>
                        <a:rPr dirty="0" sz="1800" spc="-25" b="1">
                          <a:solidFill>
                            <a:srgbClr val="40458B"/>
                          </a:solidFill>
                          <a:latin typeface="宋体"/>
                          <a:cs typeface="宋体"/>
                        </a:rPr>
                        <a:t>流出第一条指令</a:t>
                      </a:r>
                      <a:endParaRPr sz="1800">
                        <a:latin typeface="宋体"/>
                        <a:cs typeface="宋体"/>
                      </a:endParaRPr>
                    </a:p>
                  </a:txBody>
                  <a:tcPr marL="0" marR="0" marB="0" marT="4699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6715">
                <a:tc>
                  <a:txBody>
                    <a:bodyPr/>
                    <a:lstStyle/>
                    <a:p>
                      <a:pPr algn="ctr">
                        <a:lnSpc>
                          <a:spcPct val="100000"/>
                        </a:lnSpc>
                        <a:spcBef>
                          <a:spcPts val="375"/>
                        </a:spcBef>
                      </a:pPr>
                      <a:r>
                        <a:rPr dirty="0" sz="1800" spc="-50" b="1">
                          <a:solidFill>
                            <a:srgbClr val="008000"/>
                          </a:solidFill>
                          <a:latin typeface="宋体"/>
                          <a:cs typeface="宋体"/>
                        </a:rPr>
                        <a:t>1</a:t>
                      </a:r>
                      <a:endParaRPr sz="1800">
                        <a:latin typeface="宋体"/>
                        <a:cs typeface="宋体"/>
                      </a:endParaRPr>
                    </a:p>
                  </a:txBody>
                  <a:tcPr marL="0" marR="0" marB="0" marT="4762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89535">
                        <a:lnSpc>
                          <a:spcPct val="100000"/>
                        </a:lnSpc>
                        <a:spcBef>
                          <a:spcPts val="375"/>
                        </a:spcBef>
                      </a:pPr>
                      <a:r>
                        <a:rPr dirty="0" sz="1800" spc="-10" b="1">
                          <a:solidFill>
                            <a:srgbClr val="660066"/>
                          </a:solidFill>
                          <a:latin typeface="宋体"/>
                          <a:cs typeface="宋体"/>
                        </a:rPr>
                        <a:t>ADD.D</a:t>
                      </a:r>
                      <a:endParaRPr sz="1800">
                        <a:latin typeface="宋体"/>
                        <a:cs typeface="宋体"/>
                      </a:endParaRPr>
                    </a:p>
                  </a:txBody>
                  <a:tcPr marL="0" marR="0" marB="0" marT="47625">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70485">
                        <a:lnSpc>
                          <a:spcPct val="100000"/>
                        </a:lnSpc>
                        <a:spcBef>
                          <a:spcPts val="375"/>
                        </a:spcBef>
                      </a:pPr>
                      <a:r>
                        <a:rPr dirty="0" sz="1800" spc="-10" b="1">
                          <a:solidFill>
                            <a:srgbClr val="660066"/>
                          </a:solidFill>
                          <a:latin typeface="宋体"/>
                          <a:cs typeface="宋体"/>
                        </a:rPr>
                        <a:t>F4,F0,F2</a:t>
                      </a:r>
                      <a:endParaRPr sz="1800">
                        <a:latin typeface="宋体"/>
                        <a:cs typeface="宋体"/>
                      </a:endParaRPr>
                    </a:p>
                  </a:txBody>
                  <a:tcPr marL="0" marR="0" marB="0" marT="47625">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1</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5</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8</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375"/>
                        </a:spcBef>
                      </a:pPr>
                      <a:r>
                        <a:rPr dirty="0" sz="1800" spc="-10" b="1">
                          <a:solidFill>
                            <a:srgbClr val="40458B"/>
                          </a:solidFill>
                          <a:latin typeface="宋体"/>
                          <a:cs typeface="宋体"/>
                        </a:rPr>
                        <a:t>等待L.D</a:t>
                      </a:r>
                      <a:r>
                        <a:rPr dirty="0" sz="1800" spc="-25" b="1">
                          <a:solidFill>
                            <a:srgbClr val="40458B"/>
                          </a:solidFill>
                          <a:latin typeface="宋体"/>
                          <a:cs typeface="宋体"/>
                        </a:rPr>
                        <a:t>的结果</a:t>
                      </a:r>
                      <a:endParaRPr sz="1800">
                        <a:latin typeface="宋体"/>
                        <a:cs typeface="宋体"/>
                      </a:endParaRPr>
                    </a:p>
                  </a:txBody>
                  <a:tcPr marL="0" marR="0" marB="0" marT="4762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6080">
                <a:tc>
                  <a:txBody>
                    <a:bodyPr/>
                    <a:lstStyle/>
                    <a:p>
                      <a:pPr algn="ctr">
                        <a:lnSpc>
                          <a:spcPct val="100000"/>
                        </a:lnSpc>
                        <a:spcBef>
                          <a:spcPts val="370"/>
                        </a:spcBef>
                      </a:pPr>
                      <a:r>
                        <a:rPr dirty="0" sz="1800" spc="-50" b="1">
                          <a:solidFill>
                            <a:srgbClr val="008000"/>
                          </a:solidFill>
                          <a:latin typeface="宋体"/>
                          <a:cs typeface="宋体"/>
                        </a:rPr>
                        <a:t>1</a:t>
                      </a:r>
                      <a:endParaRPr sz="1800">
                        <a:latin typeface="宋体"/>
                        <a:cs typeface="宋体"/>
                      </a:endParaRPr>
                    </a:p>
                  </a:txBody>
                  <a:tcPr marL="0" marR="0" marB="0" marT="4699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gridSpan="2">
                  <a:txBody>
                    <a:bodyPr/>
                    <a:lstStyle/>
                    <a:p>
                      <a:pPr marL="89535">
                        <a:lnSpc>
                          <a:spcPct val="100000"/>
                        </a:lnSpc>
                        <a:spcBef>
                          <a:spcPts val="370"/>
                        </a:spcBef>
                        <a:tabLst>
                          <a:tab pos="1132205" algn="l"/>
                        </a:tabLst>
                      </a:pPr>
                      <a:r>
                        <a:rPr dirty="0" sz="1800" spc="-25" b="1">
                          <a:solidFill>
                            <a:srgbClr val="660066"/>
                          </a:solidFill>
                          <a:latin typeface="宋体"/>
                          <a:cs typeface="宋体"/>
                        </a:rPr>
                        <a:t>S.D</a:t>
                      </a:r>
                      <a:r>
                        <a:rPr dirty="0" sz="1800" b="1">
                          <a:solidFill>
                            <a:srgbClr val="660066"/>
                          </a:solidFill>
                          <a:latin typeface="宋体"/>
                          <a:cs typeface="宋体"/>
                        </a:rPr>
                        <a:t>	</a:t>
                      </a:r>
                      <a:r>
                        <a:rPr dirty="0" sz="1800" spc="-10" b="1">
                          <a:solidFill>
                            <a:srgbClr val="660066"/>
                          </a:solidFill>
                          <a:latin typeface="宋体"/>
                          <a:cs typeface="宋体"/>
                        </a:rPr>
                        <a:t>F4,0（R1）</a:t>
                      </a:r>
                      <a:endParaRPr sz="1800">
                        <a:latin typeface="宋体"/>
                        <a:cs typeface="宋体"/>
                      </a:endParaRPr>
                    </a:p>
                  </a:txBody>
                  <a:tcPr marL="0" marR="0" marB="0" marT="469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c>
                  <a:txBody>
                    <a:bodyPr/>
                    <a:lstStyle/>
                    <a:p>
                      <a:pPr algn="ctr">
                        <a:lnSpc>
                          <a:spcPct val="100000"/>
                        </a:lnSpc>
                        <a:spcBef>
                          <a:spcPts val="370"/>
                        </a:spcBef>
                      </a:pPr>
                      <a:r>
                        <a:rPr dirty="0" sz="1800" spc="-50" b="1">
                          <a:solidFill>
                            <a:srgbClr val="40458B"/>
                          </a:solidFill>
                          <a:latin typeface="宋体"/>
                          <a:cs typeface="宋体"/>
                        </a:rPr>
                        <a:t>2</a:t>
                      </a:r>
                      <a:endParaRPr sz="1800">
                        <a:latin typeface="宋体"/>
                        <a:cs typeface="宋体"/>
                      </a:endParaRPr>
                    </a:p>
                  </a:txBody>
                  <a:tcPr marL="0" marR="0" marB="0" marT="469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0"/>
                        </a:spcBef>
                      </a:pPr>
                      <a:r>
                        <a:rPr dirty="0" sz="1800" spc="-50" b="1">
                          <a:solidFill>
                            <a:srgbClr val="40458B"/>
                          </a:solidFill>
                          <a:latin typeface="宋体"/>
                          <a:cs typeface="宋体"/>
                        </a:rPr>
                        <a:t>3</a:t>
                      </a:r>
                      <a:endParaRPr sz="1800">
                        <a:latin typeface="宋体"/>
                        <a:cs typeface="宋体"/>
                      </a:endParaRPr>
                    </a:p>
                  </a:txBody>
                  <a:tcPr marL="0" marR="0" marB="0" marT="469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0"/>
                        </a:spcBef>
                      </a:pPr>
                      <a:r>
                        <a:rPr dirty="0" sz="1800" spc="-50" b="1">
                          <a:solidFill>
                            <a:srgbClr val="40458B"/>
                          </a:solidFill>
                          <a:latin typeface="宋体"/>
                          <a:cs typeface="宋体"/>
                        </a:rPr>
                        <a:t>9</a:t>
                      </a:r>
                      <a:endParaRPr sz="1800">
                        <a:latin typeface="宋体"/>
                        <a:cs typeface="宋体"/>
                      </a:endParaRPr>
                    </a:p>
                  </a:txBody>
                  <a:tcPr marL="0" marR="0" marB="0" marT="469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370"/>
                        </a:spcBef>
                      </a:pPr>
                      <a:r>
                        <a:rPr dirty="0" sz="1800" spc="-10" b="1">
                          <a:solidFill>
                            <a:srgbClr val="40458B"/>
                          </a:solidFill>
                          <a:latin typeface="宋体"/>
                          <a:cs typeface="宋体"/>
                        </a:rPr>
                        <a:t>等待ADD.D</a:t>
                      </a:r>
                      <a:r>
                        <a:rPr dirty="0" sz="1800" spc="-25" b="1">
                          <a:solidFill>
                            <a:srgbClr val="40458B"/>
                          </a:solidFill>
                          <a:latin typeface="宋体"/>
                          <a:cs typeface="宋体"/>
                        </a:rPr>
                        <a:t>的结果</a:t>
                      </a:r>
                      <a:endParaRPr sz="1800">
                        <a:latin typeface="宋体"/>
                        <a:cs typeface="宋体"/>
                      </a:endParaRPr>
                    </a:p>
                  </a:txBody>
                  <a:tcPr marL="0" marR="0" marB="0" marT="4699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6715">
                <a:tc>
                  <a:txBody>
                    <a:bodyPr/>
                    <a:lstStyle/>
                    <a:p>
                      <a:pPr algn="ctr">
                        <a:lnSpc>
                          <a:spcPct val="100000"/>
                        </a:lnSpc>
                        <a:spcBef>
                          <a:spcPts val="375"/>
                        </a:spcBef>
                      </a:pPr>
                      <a:r>
                        <a:rPr dirty="0" sz="1800" spc="-50" b="1">
                          <a:solidFill>
                            <a:srgbClr val="008000"/>
                          </a:solidFill>
                          <a:latin typeface="宋体"/>
                          <a:cs typeface="宋体"/>
                        </a:rPr>
                        <a:t>1</a:t>
                      </a:r>
                      <a:endParaRPr sz="1800">
                        <a:latin typeface="宋体"/>
                        <a:cs typeface="宋体"/>
                      </a:endParaRPr>
                    </a:p>
                  </a:txBody>
                  <a:tcPr marL="0" marR="0" marB="0" marT="4762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89535">
                        <a:lnSpc>
                          <a:spcPct val="100000"/>
                        </a:lnSpc>
                        <a:spcBef>
                          <a:spcPts val="375"/>
                        </a:spcBef>
                      </a:pPr>
                      <a:r>
                        <a:rPr dirty="0" sz="1800" spc="-10" b="1">
                          <a:solidFill>
                            <a:srgbClr val="660066"/>
                          </a:solidFill>
                          <a:latin typeface="宋体"/>
                          <a:cs typeface="宋体"/>
                        </a:rPr>
                        <a:t>DADDIU</a:t>
                      </a:r>
                      <a:endParaRPr sz="1800">
                        <a:latin typeface="宋体"/>
                        <a:cs typeface="宋体"/>
                      </a:endParaRPr>
                    </a:p>
                  </a:txBody>
                  <a:tcPr marL="0" marR="0" marB="0" marT="47625">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70485">
                        <a:lnSpc>
                          <a:spcPct val="100000"/>
                        </a:lnSpc>
                        <a:spcBef>
                          <a:spcPts val="375"/>
                        </a:spcBef>
                      </a:pPr>
                      <a:r>
                        <a:rPr dirty="0" sz="1800" spc="-10" b="1">
                          <a:solidFill>
                            <a:srgbClr val="660066"/>
                          </a:solidFill>
                          <a:latin typeface="宋体"/>
                          <a:cs typeface="宋体"/>
                        </a:rPr>
                        <a:t>R1,R1,#-</a:t>
                      </a:r>
                      <a:r>
                        <a:rPr dirty="0" sz="1800" spc="-50" b="1">
                          <a:solidFill>
                            <a:srgbClr val="660066"/>
                          </a:solidFill>
                          <a:latin typeface="宋体"/>
                          <a:cs typeface="宋体"/>
                        </a:rPr>
                        <a:t>8</a:t>
                      </a:r>
                      <a:endParaRPr sz="1800">
                        <a:latin typeface="宋体"/>
                        <a:cs typeface="宋体"/>
                      </a:endParaRPr>
                    </a:p>
                  </a:txBody>
                  <a:tcPr marL="0" marR="0" marB="0" marT="47625">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2</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4</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5</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375"/>
                        </a:spcBef>
                      </a:pPr>
                      <a:r>
                        <a:rPr dirty="0" sz="1800" spc="-10" b="1">
                          <a:solidFill>
                            <a:srgbClr val="40458B"/>
                          </a:solidFill>
                          <a:latin typeface="宋体"/>
                          <a:cs typeface="宋体"/>
                        </a:rPr>
                        <a:t>等待</a:t>
                      </a:r>
                      <a:r>
                        <a:rPr dirty="0" sz="1800" spc="-25" b="1">
                          <a:solidFill>
                            <a:srgbClr val="40458B"/>
                          </a:solidFill>
                          <a:latin typeface="宋体"/>
                          <a:cs typeface="宋体"/>
                        </a:rPr>
                        <a:t>ALU</a:t>
                      </a:r>
                      <a:endParaRPr sz="1800">
                        <a:latin typeface="宋体"/>
                        <a:cs typeface="宋体"/>
                      </a:endParaRPr>
                    </a:p>
                  </a:txBody>
                  <a:tcPr marL="0" marR="0" marB="0" marT="4762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6080">
                <a:tc>
                  <a:txBody>
                    <a:bodyPr/>
                    <a:lstStyle/>
                    <a:p>
                      <a:pPr algn="ctr">
                        <a:lnSpc>
                          <a:spcPct val="100000"/>
                        </a:lnSpc>
                        <a:spcBef>
                          <a:spcPts val="375"/>
                        </a:spcBef>
                      </a:pPr>
                      <a:r>
                        <a:rPr dirty="0" sz="1800" spc="-50" b="1">
                          <a:solidFill>
                            <a:srgbClr val="008000"/>
                          </a:solidFill>
                          <a:latin typeface="宋体"/>
                          <a:cs typeface="宋体"/>
                        </a:rPr>
                        <a:t>1</a:t>
                      </a:r>
                      <a:endParaRPr sz="1800">
                        <a:latin typeface="宋体"/>
                        <a:cs typeface="宋体"/>
                      </a:endParaRPr>
                    </a:p>
                  </a:txBody>
                  <a:tcPr marL="0" marR="0" marB="0" marT="4762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89535">
                        <a:lnSpc>
                          <a:spcPct val="100000"/>
                        </a:lnSpc>
                        <a:spcBef>
                          <a:spcPts val="375"/>
                        </a:spcBef>
                      </a:pPr>
                      <a:r>
                        <a:rPr dirty="0" sz="1800" spc="-25" b="1">
                          <a:solidFill>
                            <a:srgbClr val="660066"/>
                          </a:solidFill>
                          <a:latin typeface="宋体"/>
                          <a:cs typeface="宋体"/>
                        </a:rPr>
                        <a:t>BNE</a:t>
                      </a:r>
                      <a:endParaRPr sz="1800">
                        <a:latin typeface="宋体"/>
                        <a:cs typeface="宋体"/>
                      </a:endParaRPr>
                    </a:p>
                  </a:txBody>
                  <a:tcPr marL="0" marR="0" marB="0" marT="47625">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70485">
                        <a:lnSpc>
                          <a:spcPct val="100000"/>
                        </a:lnSpc>
                        <a:spcBef>
                          <a:spcPts val="375"/>
                        </a:spcBef>
                      </a:pPr>
                      <a:r>
                        <a:rPr dirty="0" sz="1800" spc="-10" b="1">
                          <a:solidFill>
                            <a:srgbClr val="660066"/>
                          </a:solidFill>
                          <a:latin typeface="宋体"/>
                          <a:cs typeface="宋体"/>
                        </a:rPr>
                        <a:t>R1,R2,Loop</a:t>
                      </a:r>
                      <a:endParaRPr sz="1800">
                        <a:latin typeface="宋体"/>
                        <a:cs typeface="宋体"/>
                      </a:endParaRPr>
                    </a:p>
                  </a:txBody>
                  <a:tcPr marL="0" marR="0" marB="0" marT="47625">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3</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6</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375"/>
                        </a:spcBef>
                      </a:pPr>
                      <a:r>
                        <a:rPr dirty="0" sz="1800" spc="-10" b="1">
                          <a:solidFill>
                            <a:srgbClr val="40458B"/>
                          </a:solidFill>
                          <a:latin typeface="宋体"/>
                          <a:cs typeface="宋体"/>
                        </a:rPr>
                        <a:t>等待DADDIU</a:t>
                      </a:r>
                      <a:r>
                        <a:rPr dirty="0" sz="1800" spc="-25" b="1">
                          <a:solidFill>
                            <a:srgbClr val="40458B"/>
                          </a:solidFill>
                          <a:latin typeface="宋体"/>
                          <a:cs typeface="宋体"/>
                        </a:rPr>
                        <a:t>的结果</a:t>
                      </a:r>
                      <a:endParaRPr sz="1800">
                        <a:latin typeface="宋体"/>
                        <a:cs typeface="宋体"/>
                      </a:endParaRPr>
                    </a:p>
                  </a:txBody>
                  <a:tcPr marL="0" marR="0" marB="0" marT="4762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6715">
                <a:tc>
                  <a:txBody>
                    <a:bodyPr/>
                    <a:lstStyle/>
                    <a:p>
                      <a:pPr algn="ctr">
                        <a:lnSpc>
                          <a:spcPct val="100000"/>
                        </a:lnSpc>
                        <a:spcBef>
                          <a:spcPts val="375"/>
                        </a:spcBef>
                      </a:pPr>
                      <a:r>
                        <a:rPr dirty="0" sz="1800" spc="-50" b="1">
                          <a:solidFill>
                            <a:srgbClr val="008000"/>
                          </a:solidFill>
                          <a:latin typeface="宋体"/>
                          <a:cs typeface="宋体"/>
                        </a:rPr>
                        <a:t>2</a:t>
                      </a:r>
                      <a:endParaRPr sz="1800">
                        <a:latin typeface="宋体"/>
                        <a:cs typeface="宋体"/>
                      </a:endParaRPr>
                    </a:p>
                  </a:txBody>
                  <a:tcPr marL="0" marR="0" marB="0" marT="4762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gridSpan="2">
                  <a:txBody>
                    <a:bodyPr/>
                    <a:lstStyle/>
                    <a:p>
                      <a:pPr marL="89535">
                        <a:lnSpc>
                          <a:spcPct val="100000"/>
                        </a:lnSpc>
                        <a:spcBef>
                          <a:spcPts val="375"/>
                        </a:spcBef>
                        <a:tabLst>
                          <a:tab pos="1132205" algn="l"/>
                        </a:tabLst>
                      </a:pPr>
                      <a:r>
                        <a:rPr dirty="0" sz="1800" spc="-25" b="1">
                          <a:solidFill>
                            <a:srgbClr val="660066"/>
                          </a:solidFill>
                          <a:latin typeface="宋体"/>
                          <a:cs typeface="宋体"/>
                        </a:rPr>
                        <a:t>L.D</a:t>
                      </a:r>
                      <a:r>
                        <a:rPr dirty="0" sz="1800" b="1">
                          <a:solidFill>
                            <a:srgbClr val="660066"/>
                          </a:solidFill>
                          <a:latin typeface="宋体"/>
                          <a:cs typeface="宋体"/>
                        </a:rPr>
                        <a:t>	</a:t>
                      </a:r>
                      <a:r>
                        <a:rPr dirty="0" sz="1800" spc="-10" b="1">
                          <a:solidFill>
                            <a:srgbClr val="660066"/>
                          </a:solidFill>
                          <a:latin typeface="宋体"/>
                          <a:cs typeface="宋体"/>
                        </a:rPr>
                        <a:t>F0,0（R1）</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c>
                  <a:txBody>
                    <a:bodyPr/>
                    <a:lstStyle/>
                    <a:p>
                      <a:pPr algn="ctr">
                        <a:lnSpc>
                          <a:spcPct val="100000"/>
                        </a:lnSpc>
                        <a:spcBef>
                          <a:spcPts val="375"/>
                        </a:spcBef>
                      </a:pPr>
                      <a:r>
                        <a:rPr dirty="0" sz="1800" spc="-50" b="1">
                          <a:solidFill>
                            <a:srgbClr val="40458B"/>
                          </a:solidFill>
                          <a:latin typeface="宋体"/>
                          <a:cs typeface="宋体"/>
                        </a:rPr>
                        <a:t>4</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7</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8</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9</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375"/>
                        </a:spcBef>
                      </a:pPr>
                      <a:r>
                        <a:rPr dirty="0" sz="1800" spc="-10" b="1">
                          <a:solidFill>
                            <a:srgbClr val="40458B"/>
                          </a:solidFill>
                          <a:latin typeface="宋体"/>
                          <a:cs typeface="宋体"/>
                        </a:rPr>
                        <a:t>等待BNE</a:t>
                      </a:r>
                      <a:r>
                        <a:rPr dirty="0" sz="1800" spc="-30" b="1">
                          <a:solidFill>
                            <a:srgbClr val="40458B"/>
                          </a:solidFill>
                          <a:latin typeface="宋体"/>
                          <a:cs typeface="宋体"/>
                        </a:rPr>
                        <a:t>完成</a:t>
                      </a:r>
                      <a:endParaRPr sz="1800">
                        <a:latin typeface="宋体"/>
                        <a:cs typeface="宋体"/>
                      </a:endParaRPr>
                    </a:p>
                  </a:txBody>
                  <a:tcPr marL="0" marR="0" marB="0" marT="4762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91795">
                <a:tc>
                  <a:txBody>
                    <a:bodyPr/>
                    <a:lstStyle/>
                    <a:p>
                      <a:pPr algn="ctr">
                        <a:lnSpc>
                          <a:spcPct val="100000"/>
                        </a:lnSpc>
                        <a:spcBef>
                          <a:spcPts val="375"/>
                        </a:spcBef>
                      </a:pPr>
                      <a:r>
                        <a:rPr dirty="0" sz="1800" spc="-50" b="1">
                          <a:solidFill>
                            <a:srgbClr val="008000"/>
                          </a:solidFill>
                          <a:latin typeface="宋体"/>
                          <a:cs typeface="宋体"/>
                        </a:rPr>
                        <a:t>2</a:t>
                      </a:r>
                      <a:endParaRPr sz="1800">
                        <a:latin typeface="宋体"/>
                        <a:cs typeface="宋体"/>
                      </a:endParaRPr>
                    </a:p>
                  </a:txBody>
                  <a:tcPr marL="0" marR="0" marB="0" marT="4762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89535">
                        <a:lnSpc>
                          <a:spcPct val="100000"/>
                        </a:lnSpc>
                        <a:spcBef>
                          <a:spcPts val="375"/>
                        </a:spcBef>
                      </a:pPr>
                      <a:r>
                        <a:rPr dirty="0" sz="1800" spc="-10" b="1">
                          <a:solidFill>
                            <a:srgbClr val="660066"/>
                          </a:solidFill>
                          <a:latin typeface="宋体"/>
                          <a:cs typeface="宋体"/>
                        </a:rPr>
                        <a:t>ADD.D</a:t>
                      </a:r>
                      <a:endParaRPr sz="1800">
                        <a:latin typeface="宋体"/>
                        <a:cs typeface="宋体"/>
                      </a:endParaRPr>
                    </a:p>
                  </a:txBody>
                  <a:tcPr marL="0" marR="0" marB="0" marT="47625">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70485">
                        <a:lnSpc>
                          <a:spcPct val="100000"/>
                        </a:lnSpc>
                        <a:spcBef>
                          <a:spcPts val="375"/>
                        </a:spcBef>
                      </a:pPr>
                      <a:r>
                        <a:rPr dirty="0" sz="1800" spc="-10" b="1">
                          <a:solidFill>
                            <a:srgbClr val="660066"/>
                          </a:solidFill>
                          <a:latin typeface="宋体"/>
                          <a:cs typeface="宋体"/>
                        </a:rPr>
                        <a:t>F4,F0,F2</a:t>
                      </a:r>
                      <a:endParaRPr sz="1800">
                        <a:latin typeface="宋体"/>
                        <a:cs typeface="宋体"/>
                      </a:endParaRPr>
                    </a:p>
                  </a:txBody>
                  <a:tcPr marL="0" marR="0" marB="0" marT="47625">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4</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25" b="1">
                          <a:solidFill>
                            <a:srgbClr val="40458B"/>
                          </a:solidFill>
                          <a:latin typeface="宋体"/>
                          <a:cs typeface="宋体"/>
                        </a:rPr>
                        <a:t>10</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25" b="1">
                          <a:solidFill>
                            <a:srgbClr val="40458B"/>
                          </a:solidFill>
                          <a:latin typeface="宋体"/>
                          <a:cs typeface="宋体"/>
                        </a:rPr>
                        <a:t>13</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375"/>
                        </a:spcBef>
                      </a:pPr>
                      <a:r>
                        <a:rPr dirty="0" sz="1800" spc="-10" b="1">
                          <a:solidFill>
                            <a:srgbClr val="40458B"/>
                          </a:solidFill>
                          <a:latin typeface="宋体"/>
                          <a:cs typeface="宋体"/>
                        </a:rPr>
                        <a:t>等待L.D</a:t>
                      </a:r>
                      <a:r>
                        <a:rPr dirty="0" sz="1800" spc="-25" b="1">
                          <a:solidFill>
                            <a:srgbClr val="40458B"/>
                          </a:solidFill>
                          <a:latin typeface="宋体"/>
                          <a:cs typeface="宋体"/>
                        </a:rPr>
                        <a:t>的结果</a:t>
                      </a:r>
                      <a:endParaRPr sz="1800">
                        <a:latin typeface="宋体"/>
                        <a:cs typeface="宋体"/>
                      </a:endParaRPr>
                    </a:p>
                  </a:txBody>
                  <a:tcPr marL="0" marR="0" marB="0" marT="4762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6715">
                <a:tc>
                  <a:txBody>
                    <a:bodyPr/>
                    <a:lstStyle/>
                    <a:p>
                      <a:pPr algn="ctr">
                        <a:lnSpc>
                          <a:spcPct val="100000"/>
                        </a:lnSpc>
                        <a:spcBef>
                          <a:spcPts val="380"/>
                        </a:spcBef>
                      </a:pPr>
                      <a:r>
                        <a:rPr dirty="0" sz="1800" spc="-50" b="1">
                          <a:solidFill>
                            <a:srgbClr val="008000"/>
                          </a:solidFill>
                          <a:latin typeface="宋体"/>
                          <a:cs typeface="宋体"/>
                        </a:rPr>
                        <a:t>2</a:t>
                      </a:r>
                      <a:endParaRPr sz="1800">
                        <a:latin typeface="宋体"/>
                        <a:cs typeface="宋体"/>
                      </a:endParaRPr>
                    </a:p>
                  </a:txBody>
                  <a:tcPr marL="0" marR="0" marB="0" marT="4826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gridSpan="2">
                  <a:txBody>
                    <a:bodyPr/>
                    <a:lstStyle/>
                    <a:p>
                      <a:pPr marL="89535">
                        <a:lnSpc>
                          <a:spcPct val="100000"/>
                        </a:lnSpc>
                        <a:spcBef>
                          <a:spcPts val="380"/>
                        </a:spcBef>
                        <a:tabLst>
                          <a:tab pos="1132205" algn="l"/>
                        </a:tabLst>
                      </a:pPr>
                      <a:r>
                        <a:rPr dirty="0" sz="1800" spc="-25" b="1">
                          <a:solidFill>
                            <a:srgbClr val="660066"/>
                          </a:solidFill>
                          <a:latin typeface="宋体"/>
                          <a:cs typeface="宋体"/>
                        </a:rPr>
                        <a:t>S.D</a:t>
                      </a:r>
                      <a:r>
                        <a:rPr dirty="0" sz="1800" b="1">
                          <a:solidFill>
                            <a:srgbClr val="660066"/>
                          </a:solidFill>
                          <a:latin typeface="宋体"/>
                          <a:cs typeface="宋体"/>
                        </a:rPr>
                        <a:t>	</a:t>
                      </a:r>
                      <a:r>
                        <a:rPr dirty="0" sz="1800" spc="-10" b="1">
                          <a:solidFill>
                            <a:srgbClr val="660066"/>
                          </a:solidFill>
                          <a:latin typeface="宋体"/>
                          <a:cs typeface="宋体"/>
                        </a:rPr>
                        <a:t>F4,0（R1）</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c>
                  <a:txBody>
                    <a:bodyPr/>
                    <a:lstStyle/>
                    <a:p>
                      <a:pPr algn="ctr">
                        <a:lnSpc>
                          <a:spcPct val="100000"/>
                        </a:lnSpc>
                        <a:spcBef>
                          <a:spcPts val="380"/>
                        </a:spcBef>
                      </a:pPr>
                      <a:r>
                        <a:rPr dirty="0" sz="1800" spc="-50" b="1">
                          <a:solidFill>
                            <a:srgbClr val="40458B"/>
                          </a:solidFill>
                          <a:latin typeface="宋体"/>
                          <a:cs typeface="宋体"/>
                        </a:rPr>
                        <a:t>5</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80"/>
                        </a:spcBef>
                      </a:pPr>
                      <a:r>
                        <a:rPr dirty="0" sz="1800" spc="-50" b="1">
                          <a:solidFill>
                            <a:srgbClr val="40458B"/>
                          </a:solidFill>
                          <a:latin typeface="宋体"/>
                          <a:cs typeface="宋体"/>
                        </a:rPr>
                        <a:t>8</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80"/>
                        </a:spcBef>
                      </a:pPr>
                      <a:r>
                        <a:rPr dirty="0" sz="1800" spc="-25" b="1">
                          <a:solidFill>
                            <a:srgbClr val="40458B"/>
                          </a:solidFill>
                          <a:latin typeface="宋体"/>
                          <a:cs typeface="宋体"/>
                        </a:rPr>
                        <a:t>14</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380"/>
                        </a:spcBef>
                      </a:pPr>
                      <a:r>
                        <a:rPr dirty="0" sz="1800" spc="-10" b="1">
                          <a:solidFill>
                            <a:srgbClr val="40458B"/>
                          </a:solidFill>
                          <a:latin typeface="宋体"/>
                          <a:cs typeface="宋体"/>
                        </a:rPr>
                        <a:t>等待ADD.D</a:t>
                      </a:r>
                      <a:r>
                        <a:rPr dirty="0" sz="1800" spc="-25" b="1">
                          <a:solidFill>
                            <a:srgbClr val="40458B"/>
                          </a:solidFill>
                          <a:latin typeface="宋体"/>
                          <a:cs typeface="宋体"/>
                        </a:rPr>
                        <a:t>的结果</a:t>
                      </a:r>
                      <a:endParaRPr sz="1800">
                        <a:latin typeface="宋体"/>
                        <a:cs typeface="宋体"/>
                      </a:endParaRPr>
                    </a:p>
                  </a:txBody>
                  <a:tcPr marL="0" marR="0" marB="0" marT="4826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6080">
                <a:tc>
                  <a:txBody>
                    <a:bodyPr/>
                    <a:lstStyle/>
                    <a:p>
                      <a:pPr algn="ctr">
                        <a:lnSpc>
                          <a:spcPct val="100000"/>
                        </a:lnSpc>
                        <a:spcBef>
                          <a:spcPts val="375"/>
                        </a:spcBef>
                      </a:pPr>
                      <a:r>
                        <a:rPr dirty="0" sz="1800" spc="-50" b="1">
                          <a:solidFill>
                            <a:srgbClr val="008000"/>
                          </a:solidFill>
                          <a:latin typeface="宋体"/>
                          <a:cs typeface="宋体"/>
                        </a:rPr>
                        <a:t>2</a:t>
                      </a:r>
                      <a:endParaRPr sz="1800">
                        <a:latin typeface="宋体"/>
                        <a:cs typeface="宋体"/>
                      </a:endParaRPr>
                    </a:p>
                  </a:txBody>
                  <a:tcPr marL="0" marR="0" marB="0" marT="4762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89535">
                        <a:lnSpc>
                          <a:spcPct val="100000"/>
                        </a:lnSpc>
                        <a:spcBef>
                          <a:spcPts val="375"/>
                        </a:spcBef>
                      </a:pPr>
                      <a:r>
                        <a:rPr dirty="0" sz="1800" spc="-10" b="1">
                          <a:solidFill>
                            <a:srgbClr val="660066"/>
                          </a:solidFill>
                          <a:latin typeface="宋体"/>
                          <a:cs typeface="宋体"/>
                        </a:rPr>
                        <a:t>DADDIU</a:t>
                      </a:r>
                      <a:endParaRPr sz="1800">
                        <a:latin typeface="宋体"/>
                        <a:cs typeface="宋体"/>
                      </a:endParaRPr>
                    </a:p>
                  </a:txBody>
                  <a:tcPr marL="0" marR="0" marB="0" marT="47625">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70485">
                        <a:lnSpc>
                          <a:spcPct val="100000"/>
                        </a:lnSpc>
                        <a:spcBef>
                          <a:spcPts val="375"/>
                        </a:spcBef>
                      </a:pPr>
                      <a:r>
                        <a:rPr dirty="0" sz="1800" spc="-10" b="1">
                          <a:solidFill>
                            <a:srgbClr val="660066"/>
                          </a:solidFill>
                          <a:latin typeface="宋体"/>
                          <a:cs typeface="宋体"/>
                        </a:rPr>
                        <a:t>R1,R1,#-</a:t>
                      </a:r>
                      <a:r>
                        <a:rPr dirty="0" sz="1800" spc="-50" b="1">
                          <a:solidFill>
                            <a:srgbClr val="660066"/>
                          </a:solidFill>
                          <a:latin typeface="宋体"/>
                          <a:cs typeface="宋体"/>
                        </a:rPr>
                        <a:t>8</a:t>
                      </a:r>
                      <a:endParaRPr sz="1800">
                        <a:latin typeface="宋体"/>
                        <a:cs typeface="宋体"/>
                      </a:endParaRPr>
                    </a:p>
                  </a:txBody>
                  <a:tcPr marL="0" marR="0" marB="0" marT="47625">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5</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9</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25" b="1">
                          <a:solidFill>
                            <a:srgbClr val="40458B"/>
                          </a:solidFill>
                          <a:latin typeface="宋体"/>
                          <a:cs typeface="宋体"/>
                        </a:rPr>
                        <a:t>10</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375"/>
                        </a:spcBef>
                      </a:pPr>
                      <a:r>
                        <a:rPr dirty="0" sz="1800" spc="-10" b="1">
                          <a:solidFill>
                            <a:srgbClr val="40458B"/>
                          </a:solidFill>
                          <a:latin typeface="宋体"/>
                          <a:cs typeface="宋体"/>
                        </a:rPr>
                        <a:t>等待</a:t>
                      </a:r>
                      <a:r>
                        <a:rPr dirty="0" sz="1800" spc="-25" b="1">
                          <a:solidFill>
                            <a:srgbClr val="40458B"/>
                          </a:solidFill>
                          <a:latin typeface="宋体"/>
                          <a:cs typeface="宋体"/>
                        </a:rPr>
                        <a:t>ALU</a:t>
                      </a:r>
                      <a:endParaRPr sz="1800">
                        <a:latin typeface="宋体"/>
                        <a:cs typeface="宋体"/>
                      </a:endParaRPr>
                    </a:p>
                  </a:txBody>
                  <a:tcPr marL="0" marR="0" marB="0" marT="4762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6715">
                <a:tc>
                  <a:txBody>
                    <a:bodyPr/>
                    <a:lstStyle/>
                    <a:p>
                      <a:pPr algn="ctr">
                        <a:lnSpc>
                          <a:spcPct val="100000"/>
                        </a:lnSpc>
                        <a:spcBef>
                          <a:spcPts val="375"/>
                        </a:spcBef>
                      </a:pPr>
                      <a:r>
                        <a:rPr dirty="0" sz="1800" spc="-50" b="1">
                          <a:solidFill>
                            <a:srgbClr val="008000"/>
                          </a:solidFill>
                          <a:latin typeface="宋体"/>
                          <a:cs typeface="宋体"/>
                        </a:rPr>
                        <a:t>2</a:t>
                      </a:r>
                      <a:endParaRPr sz="1800">
                        <a:latin typeface="宋体"/>
                        <a:cs typeface="宋体"/>
                      </a:endParaRPr>
                    </a:p>
                  </a:txBody>
                  <a:tcPr marL="0" marR="0" marB="0" marT="4762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89535">
                        <a:lnSpc>
                          <a:spcPct val="100000"/>
                        </a:lnSpc>
                        <a:spcBef>
                          <a:spcPts val="375"/>
                        </a:spcBef>
                      </a:pPr>
                      <a:r>
                        <a:rPr dirty="0" sz="1800" spc="-25" b="1">
                          <a:solidFill>
                            <a:srgbClr val="660066"/>
                          </a:solidFill>
                          <a:latin typeface="宋体"/>
                          <a:cs typeface="宋体"/>
                        </a:rPr>
                        <a:t>BNE</a:t>
                      </a:r>
                      <a:endParaRPr sz="1800">
                        <a:latin typeface="宋体"/>
                        <a:cs typeface="宋体"/>
                      </a:endParaRPr>
                    </a:p>
                  </a:txBody>
                  <a:tcPr marL="0" marR="0" marB="0" marT="47625">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70485">
                        <a:lnSpc>
                          <a:spcPct val="100000"/>
                        </a:lnSpc>
                        <a:spcBef>
                          <a:spcPts val="375"/>
                        </a:spcBef>
                      </a:pPr>
                      <a:r>
                        <a:rPr dirty="0" sz="1800" spc="-10" b="1">
                          <a:solidFill>
                            <a:srgbClr val="660066"/>
                          </a:solidFill>
                          <a:latin typeface="宋体"/>
                          <a:cs typeface="宋体"/>
                        </a:rPr>
                        <a:t>R1,R2,Loop</a:t>
                      </a:r>
                      <a:endParaRPr sz="1800">
                        <a:latin typeface="宋体"/>
                        <a:cs typeface="宋体"/>
                      </a:endParaRPr>
                    </a:p>
                  </a:txBody>
                  <a:tcPr marL="0" marR="0" marB="0" marT="47625">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50" b="1">
                          <a:solidFill>
                            <a:srgbClr val="40458B"/>
                          </a:solidFill>
                          <a:latin typeface="宋体"/>
                          <a:cs typeface="宋体"/>
                        </a:rPr>
                        <a:t>6</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25" b="1">
                          <a:solidFill>
                            <a:srgbClr val="40458B"/>
                          </a:solidFill>
                          <a:latin typeface="宋体"/>
                          <a:cs typeface="宋体"/>
                        </a:rPr>
                        <a:t>11</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375"/>
                        </a:spcBef>
                      </a:pPr>
                      <a:r>
                        <a:rPr dirty="0" sz="1800" spc="-10" b="1">
                          <a:solidFill>
                            <a:srgbClr val="40458B"/>
                          </a:solidFill>
                          <a:latin typeface="宋体"/>
                          <a:cs typeface="宋体"/>
                        </a:rPr>
                        <a:t>等待DADDIU</a:t>
                      </a:r>
                      <a:r>
                        <a:rPr dirty="0" sz="1800" spc="-25" b="1">
                          <a:solidFill>
                            <a:srgbClr val="40458B"/>
                          </a:solidFill>
                          <a:latin typeface="宋体"/>
                          <a:cs typeface="宋体"/>
                        </a:rPr>
                        <a:t>的结果</a:t>
                      </a:r>
                      <a:endParaRPr sz="1800">
                        <a:latin typeface="宋体"/>
                        <a:cs typeface="宋体"/>
                      </a:endParaRPr>
                    </a:p>
                  </a:txBody>
                  <a:tcPr marL="0" marR="0" marB="0" marT="4762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6715">
                <a:tc>
                  <a:txBody>
                    <a:bodyPr/>
                    <a:lstStyle/>
                    <a:p>
                      <a:pPr algn="ctr">
                        <a:lnSpc>
                          <a:spcPct val="100000"/>
                        </a:lnSpc>
                        <a:spcBef>
                          <a:spcPts val="375"/>
                        </a:spcBef>
                      </a:pPr>
                      <a:r>
                        <a:rPr dirty="0" sz="1800" spc="-50" b="1">
                          <a:solidFill>
                            <a:srgbClr val="008000"/>
                          </a:solidFill>
                          <a:latin typeface="宋体"/>
                          <a:cs typeface="宋体"/>
                        </a:rPr>
                        <a:t>3</a:t>
                      </a:r>
                      <a:endParaRPr sz="1800">
                        <a:latin typeface="宋体"/>
                        <a:cs typeface="宋体"/>
                      </a:endParaRPr>
                    </a:p>
                  </a:txBody>
                  <a:tcPr marL="0" marR="0" marB="0" marT="4762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gridSpan="2">
                  <a:txBody>
                    <a:bodyPr/>
                    <a:lstStyle/>
                    <a:p>
                      <a:pPr marL="89535">
                        <a:lnSpc>
                          <a:spcPct val="100000"/>
                        </a:lnSpc>
                        <a:spcBef>
                          <a:spcPts val="375"/>
                        </a:spcBef>
                        <a:tabLst>
                          <a:tab pos="1132205" algn="l"/>
                        </a:tabLst>
                      </a:pPr>
                      <a:r>
                        <a:rPr dirty="0" sz="1800" spc="-25" b="1">
                          <a:solidFill>
                            <a:srgbClr val="660066"/>
                          </a:solidFill>
                          <a:latin typeface="宋体"/>
                          <a:cs typeface="宋体"/>
                        </a:rPr>
                        <a:t>L.D</a:t>
                      </a:r>
                      <a:r>
                        <a:rPr dirty="0" sz="1800" b="1">
                          <a:solidFill>
                            <a:srgbClr val="660066"/>
                          </a:solidFill>
                          <a:latin typeface="宋体"/>
                          <a:cs typeface="宋体"/>
                        </a:rPr>
                        <a:t>	</a:t>
                      </a:r>
                      <a:r>
                        <a:rPr dirty="0" sz="1800" spc="-10" b="1">
                          <a:solidFill>
                            <a:srgbClr val="660066"/>
                          </a:solidFill>
                          <a:latin typeface="宋体"/>
                          <a:cs typeface="宋体"/>
                        </a:rPr>
                        <a:t>F0,0（R1）</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c>
                  <a:txBody>
                    <a:bodyPr/>
                    <a:lstStyle/>
                    <a:p>
                      <a:pPr algn="ctr">
                        <a:lnSpc>
                          <a:spcPct val="100000"/>
                        </a:lnSpc>
                        <a:spcBef>
                          <a:spcPts val="375"/>
                        </a:spcBef>
                      </a:pPr>
                      <a:r>
                        <a:rPr dirty="0" sz="1800" spc="-50" b="1">
                          <a:solidFill>
                            <a:srgbClr val="40458B"/>
                          </a:solidFill>
                          <a:latin typeface="宋体"/>
                          <a:cs typeface="宋体"/>
                        </a:rPr>
                        <a:t>7</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25" b="1">
                          <a:solidFill>
                            <a:srgbClr val="40458B"/>
                          </a:solidFill>
                          <a:latin typeface="宋体"/>
                          <a:cs typeface="宋体"/>
                        </a:rPr>
                        <a:t>12</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75"/>
                        </a:spcBef>
                      </a:pPr>
                      <a:r>
                        <a:rPr dirty="0" sz="1800" spc="-25" b="1">
                          <a:solidFill>
                            <a:srgbClr val="40458B"/>
                          </a:solidFill>
                          <a:latin typeface="宋体"/>
                          <a:cs typeface="宋体"/>
                        </a:rPr>
                        <a:t>13</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75"/>
                        </a:spcBef>
                      </a:pPr>
                      <a:r>
                        <a:rPr dirty="0" sz="1800" spc="-25" b="1">
                          <a:solidFill>
                            <a:srgbClr val="40458B"/>
                          </a:solidFill>
                          <a:latin typeface="宋体"/>
                          <a:cs typeface="宋体"/>
                        </a:rPr>
                        <a:t>14</a:t>
                      </a:r>
                      <a:endParaRPr sz="1800">
                        <a:latin typeface="宋体"/>
                        <a:cs typeface="宋体"/>
                      </a:endParaRPr>
                    </a:p>
                  </a:txBody>
                  <a:tcPr marL="0" marR="0" marB="0" marT="4762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375"/>
                        </a:spcBef>
                      </a:pPr>
                      <a:r>
                        <a:rPr dirty="0" sz="1800" spc="-20" b="1">
                          <a:solidFill>
                            <a:srgbClr val="40458B"/>
                          </a:solidFill>
                          <a:latin typeface="宋体"/>
                          <a:cs typeface="宋体"/>
                        </a:rPr>
                        <a:t>等待</a:t>
                      </a:r>
                      <a:r>
                        <a:rPr dirty="0" sz="1800" spc="-10" b="1">
                          <a:solidFill>
                            <a:srgbClr val="40458B"/>
                          </a:solidFill>
                          <a:latin typeface="宋体"/>
                          <a:cs typeface="宋体"/>
                        </a:rPr>
                        <a:t>BNE</a:t>
                      </a:r>
                      <a:r>
                        <a:rPr dirty="0" sz="1800" spc="-35" b="1">
                          <a:solidFill>
                            <a:srgbClr val="40458B"/>
                          </a:solidFill>
                          <a:latin typeface="宋体"/>
                          <a:cs typeface="宋体"/>
                        </a:rPr>
                        <a:t>完成</a:t>
                      </a:r>
                      <a:endParaRPr sz="1800">
                        <a:latin typeface="宋体"/>
                        <a:cs typeface="宋体"/>
                      </a:endParaRPr>
                    </a:p>
                  </a:txBody>
                  <a:tcPr marL="0" marR="0" marB="0" marT="4762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6715">
                <a:tc>
                  <a:txBody>
                    <a:bodyPr/>
                    <a:lstStyle/>
                    <a:p>
                      <a:pPr algn="ctr">
                        <a:lnSpc>
                          <a:spcPct val="100000"/>
                        </a:lnSpc>
                        <a:spcBef>
                          <a:spcPts val="380"/>
                        </a:spcBef>
                      </a:pPr>
                      <a:r>
                        <a:rPr dirty="0" sz="1800" spc="-50" b="1">
                          <a:solidFill>
                            <a:srgbClr val="008000"/>
                          </a:solidFill>
                          <a:latin typeface="宋体"/>
                          <a:cs typeface="宋体"/>
                        </a:rPr>
                        <a:t>3</a:t>
                      </a:r>
                      <a:endParaRPr sz="1800">
                        <a:latin typeface="宋体"/>
                        <a:cs typeface="宋体"/>
                      </a:endParaRPr>
                    </a:p>
                  </a:txBody>
                  <a:tcPr marL="0" marR="0" marB="0" marT="4826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89535">
                        <a:lnSpc>
                          <a:spcPct val="100000"/>
                        </a:lnSpc>
                        <a:spcBef>
                          <a:spcPts val="380"/>
                        </a:spcBef>
                      </a:pPr>
                      <a:r>
                        <a:rPr dirty="0" sz="1800" spc="-10" b="1">
                          <a:solidFill>
                            <a:srgbClr val="660066"/>
                          </a:solidFill>
                          <a:latin typeface="宋体"/>
                          <a:cs typeface="宋体"/>
                        </a:rPr>
                        <a:t>ADD.D</a:t>
                      </a:r>
                      <a:endParaRPr sz="1800">
                        <a:latin typeface="宋体"/>
                        <a:cs typeface="宋体"/>
                      </a:endParaRPr>
                    </a:p>
                  </a:txBody>
                  <a:tcPr marL="0" marR="0" marB="0" marT="48260">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70485">
                        <a:lnSpc>
                          <a:spcPct val="100000"/>
                        </a:lnSpc>
                        <a:spcBef>
                          <a:spcPts val="380"/>
                        </a:spcBef>
                      </a:pPr>
                      <a:r>
                        <a:rPr dirty="0" sz="1800" spc="-10" b="1">
                          <a:solidFill>
                            <a:srgbClr val="660066"/>
                          </a:solidFill>
                          <a:latin typeface="宋体"/>
                          <a:cs typeface="宋体"/>
                        </a:rPr>
                        <a:t>F4,F0,F2</a:t>
                      </a:r>
                      <a:endParaRPr sz="1800">
                        <a:latin typeface="宋体"/>
                        <a:cs typeface="宋体"/>
                      </a:endParaRPr>
                    </a:p>
                  </a:txBody>
                  <a:tcPr marL="0" marR="0" marB="0" marT="48260">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80"/>
                        </a:spcBef>
                      </a:pPr>
                      <a:r>
                        <a:rPr dirty="0" sz="1800" spc="-50" b="1">
                          <a:solidFill>
                            <a:srgbClr val="40458B"/>
                          </a:solidFill>
                          <a:latin typeface="宋体"/>
                          <a:cs typeface="宋体"/>
                        </a:rPr>
                        <a:t>7</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80"/>
                        </a:spcBef>
                      </a:pPr>
                      <a:r>
                        <a:rPr dirty="0" sz="1800" spc="-25" b="1">
                          <a:solidFill>
                            <a:srgbClr val="40458B"/>
                          </a:solidFill>
                          <a:latin typeface="宋体"/>
                          <a:cs typeface="宋体"/>
                        </a:rPr>
                        <a:t>15</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80"/>
                        </a:spcBef>
                      </a:pPr>
                      <a:r>
                        <a:rPr dirty="0" sz="1800" spc="-25" b="1">
                          <a:solidFill>
                            <a:srgbClr val="40458B"/>
                          </a:solidFill>
                          <a:latin typeface="宋体"/>
                          <a:cs typeface="宋体"/>
                        </a:rPr>
                        <a:t>18</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380"/>
                        </a:spcBef>
                      </a:pPr>
                      <a:r>
                        <a:rPr dirty="0" sz="1800" spc="-10" b="1">
                          <a:solidFill>
                            <a:srgbClr val="40458B"/>
                          </a:solidFill>
                          <a:latin typeface="宋体"/>
                          <a:cs typeface="宋体"/>
                        </a:rPr>
                        <a:t>等待L.D</a:t>
                      </a:r>
                      <a:r>
                        <a:rPr dirty="0" sz="1800" spc="-25" b="1">
                          <a:solidFill>
                            <a:srgbClr val="40458B"/>
                          </a:solidFill>
                          <a:latin typeface="宋体"/>
                          <a:cs typeface="宋体"/>
                        </a:rPr>
                        <a:t>的结果</a:t>
                      </a:r>
                      <a:endParaRPr sz="1800">
                        <a:latin typeface="宋体"/>
                        <a:cs typeface="宋体"/>
                      </a:endParaRPr>
                    </a:p>
                  </a:txBody>
                  <a:tcPr marL="0" marR="0" marB="0" marT="4826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6715">
                <a:tc>
                  <a:txBody>
                    <a:bodyPr/>
                    <a:lstStyle/>
                    <a:p>
                      <a:pPr algn="ctr">
                        <a:lnSpc>
                          <a:spcPct val="100000"/>
                        </a:lnSpc>
                        <a:spcBef>
                          <a:spcPts val="380"/>
                        </a:spcBef>
                      </a:pPr>
                      <a:r>
                        <a:rPr dirty="0" sz="1800" spc="-50" b="1">
                          <a:solidFill>
                            <a:srgbClr val="008000"/>
                          </a:solidFill>
                          <a:latin typeface="宋体"/>
                          <a:cs typeface="宋体"/>
                        </a:rPr>
                        <a:t>3</a:t>
                      </a:r>
                      <a:endParaRPr sz="1800">
                        <a:latin typeface="宋体"/>
                        <a:cs typeface="宋体"/>
                      </a:endParaRPr>
                    </a:p>
                  </a:txBody>
                  <a:tcPr marL="0" marR="0" marB="0" marT="4826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gridSpan="2">
                  <a:txBody>
                    <a:bodyPr/>
                    <a:lstStyle/>
                    <a:p>
                      <a:pPr marL="89535">
                        <a:lnSpc>
                          <a:spcPct val="100000"/>
                        </a:lnSpc>
                        <a:spcBef>
                          <a:spcPts val="380"/>
                        </a:spcBef>
                        <a:tabLst>
                          <a:tab pos="1132205" algn="l"/>
                        </a:tabLst>
                      </a:pPr>
                      <a:r>
                        <a:rPr dirty="0" sz="1800" spc="-25" b="1">
                          <a:solidFill>
                            <a:srgbClr val="660066"/>
                          </a:solidFill>
                          <a:latin typeface="宋体"/>
                          <a:cs typeface="宋体"/>
                        </a:rPr>
                        <a:t>S.D</a:t>
                      </a:r>
                      <a:r>
                        <a:rPr dirty="0" sz="1800" b="1">
                          <a:solidFill>
                            <a:srgbClr val="660066"/>
                          </a:solidFill>
                          <a:latin typeface="宋体"/>
                          <a:cs typeface="宋体"/>
                        </a:rPr>
                        <a:t>	</a:t>
                      </a:r>
                      <a:r>
                        <a:rPr dirty="0" sz="1800" spc="-10" b="1">
                          <a:solidFill>
                            <a:srgbClr val="660066"/>
                          </a:solidFill>
                          <a:latin typeface="宋体"/>
                          <a:cs typeface="宋体"/>
                        </a:rPr>
                        <a:t>F4,0（R1）</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hMerge="1">
                  <a:txBody>
                    <a:bodyPr/>
                    <a:lstStyle/>
                    <a:p>
                      <a:pPr/>
                    </a:p>
                  </a:txBody>
                  <a:tcPr marL="0" marR="0" marB="0" marT="0"/>
                </a:tc>
                <a:tc>
                  <a:txBody>
                    <a:bodyPr/>
                    <a:lstStyle/>
                    <a:p>
                      <a:pPr algn="ctr">
                        <a:lnSpc>
                          <a:spcPct val="100000"/>
                        </a:lnSpc>
                        <a:spcBef>
                          <a:spcPts val="380"/>
                        </a:spcBef>
                      </a:pPr>
                      <a:r>
                        <a:rPr dirty="0" sz="1800" spc="-50" b="1">
                          <a:solidFill>
                            <a:srgbClr val="40458B"/>
                          </a:solidFill>
                          <a:latin typeface="宋体"/>
                          <a:cs typeface="宋体"/>
                        </a:rPr>
                        <a:t>8</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80"/>
                        </a:spcBef>
                      </a:pPr>
                      <a:r>
                        <a:rPr dirty="0" sz="1800" spc="-25" b="1">
                          <a:solidFill>
                            <a:srgbClr val="40458B"/>
                          </a:solidFill>
                          <a:latin typeface="宋体"/>
                          <a:cs typeface="宋体"/>
                        </a:rPr>
                        <a:t>13</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380"/>
                        </a:spcBef>
                      </a:pPr>
                      <a:r>
                        <a:rPr dirty="0" sz="1800" spc="-25" b="1">
                          <a:solidFill>
                            <a:srgbClr val="40458B"/>
                          </a:solidFill>
                          <a:latin typeface="宋体"/>
                          <a:cs typeface="宋体"/>
                        </a:rPr>
                        <a:t>19</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380"/>
                        </a:spcBef>
                      </a:pPr>
                      <a:r>
                        <a:rPr dirty="0" sz="1800" spc="-10" b="1">
                          <a:solidFill>
                            <a:srgbClr val="40458B"/>
                          </a:solidFill>
                          <a:latin typeface="宋体"/>
                          <a:cs typeface="宋体"/>
                        </a:rPr>
                        <a:t>等待ADD.D</a:t>
                      </a:r>
                      <a:r>
                        <a:rPr dirty="0" sz="1800" spc="-25" b="1">
                          <a:solidFill>
                            <a:srgbClr val="40458B"/>
                          </a:solidFill>
                          <a:latin typeface="宋体"/>
                          <a:cs typeface="宋体"/>
                        </a:rPr>
                        <a:t>的结果</a:t>
                      </a:r>
                      <a:endParaRPr sz="1800">
                        <a:latin typeface="宋体"/>
                        <a:cs typeface="宋体"/>
                      </a:endParaRPr>
                    </a:p>
                  </a:txBody>
                  <a:tcPr marL="0" marR="0" marB="0" marT="4826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6715">
                <a:tc>
                  <a:txBody>
                    <a:bodyPr/>
                    <a:lstStyle/>
                    <a:p>
                      <a:pPr algn="ctr">
                        <a:lnSpc>
                          <a:spcPct val="100000"/>
                        </a:lnSpc>
                        <a:spcBef>
                          <a:spcPts val="380"/>
                        </a:spcBef>
                      </a:pPr>
                      <a:r>
                        <a:rPr dirty="0" sz="1800" spc="-50" b="1">
                          <a:solidFill>
                            <a:srgbClr val="008000"/>
                          </a:solidFill>
                          <a:latin typeface="宋体"/>
                          <a:cs typeface="宋体"/>
                        </a:rPr>
                        <a:t>3</a:t>
                      </a:r>
                      <a:endParaRPr sz="1800">
                        <a:latin typeface="宋体"/>
                        <a:cs typeface="宋体"/>
                      </a:endParaRPr>
                    </a:p>
                  </a:txBody>
                  <a:tcPr marL="0" marR="0" marB="0" marT="4826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89535">
                        <a:lnSpc>
                          <a:spcPct val="100000"/>
                        </a:lnSpc>
                        <a:spcBef>
                          <a:spcPts val="380"/>
                        </a:spcBef>
                      </a:pPr>
                      <a:r>
                        <a:rPr dirty="0" sz="1800" spc="-10" b="1">
                          <a:solidFill>
                            <a:srgbClr val="660066"/>
                          </a:solidFill>
                          <a:latin typeface="宋体"/>
                          <a:cs typeface="宋体"/>
                        </a:rPr>
                        <a:t>DADDIU</a:t>
                      </a:r>
                      <a:endParaRPr sz="1800">
                        <a:latin typeface="宋体"/>
                        <a:cs typeface="宋体"/>
                      </a:endParaRPr>
                    </a:p>
                  </a:txBody>
                  <a:tcPr marL="0" marR="0" marB="0" marT="48260">
                    <a:lnL w="12700">
                      <a:solidFill>
                        <a:srgbClr val="40458B"/>
                      </a:solidFill>
                      <a:prstDash val="solid"/>
                    </a:lnL>
                    <a:lnT w="12700">
                      <a:solidFill>
                        <a:srgbClr val="40458B"/>
                      </a:solidFill>
                      <a:prstDash val="solid"/>
                    </a:lnT>
                    <a:lnB w="12700">
                      <a:solidFill>
                        <a:srgbClr val="40458B"/>
                      </a:solidFill>
                      <a:prstDash val="solid"/>
                    </a:lnB>
                  </a:tcPr>
                </a:tc>
                <a:tc>
                  <a:txBody>
                    <a:bodyPr/>
                    <a:lstStyle/>
                    <a:p>
                      <a:pPr marL="70485">
                        <a:lnSpc>
                          <a:spcPct val="100000"/>
                        </a:lnSpc>
                        <a:spcBef>
                          <a:spcPts val="380"/>
                        </a:spcBef>
                      </a:pPr>
                      <a:r>
                        <a:rPr dirty="0" sz="1800" spc="-10" b="1">
                          <a:solidFill>
                            <a:srgbClr val="660066"/>
                          </a:solidFill>
                          <a:latin typeface="宋体"/>
                          <a:cs typeface="宋体"/>
                        </a:rPr>
                        <a:t>R1,R1,#-</a:t>
                      </a:r>
                      <a:r>
                        <a:rPr dirty="0" sz="1800" spc="-50" b="1">
                          <a:solidFill>
                            <a:srgbClr val="660066"/>
                          </a:solidFill>
                          <a:latin typeface="宋体"/>
                          <a:cs typeface="宋体"/>
                        </a:rPr>
                        <a:t>8</a:t>
                      </a:r>
                      <a:endParaRPr sz="1800">
                        <a:latin typeface="宋体"/>
                        <a:cs typeface="宋体"/>
                      </a:endParaRPr>
                    </a:p>
                  </a:txBody>
                  <a:tcPr marL="0" marR="0" marB="0" marT="48260">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80"/>
                        </a:spcBef>
                      </a:pPr>
                      <a:r>
                        <a:rPr dirty="0" sz="1800" spc="-50" b="1">
                          <a:solidFill>
                            <a:srgbClr val="40458B"/>
                          </a:solidFill>
                          <a:latin typeface="宋体"/>
                          <a:cs typeface="宋体"/>
                        </a:rPr>
                        <a:t>8</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80"/>
                        </a:spcBef>
                      </a:pPr>
                      <a:r>
                        <a:rPr dirty="0" sz="1800" spc="-25" b="1">
                          <a:solidFill>
                            <a:srgbClr val="40458B"/>
                          </a:solidFill>
                          <a:latin typeface="宋体"/>
                          <a:cs typeface="宋体"/>
                        </a:rPr>
                        <a:t>14</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380"/>
                        </a:spcBef>
                      </a:pPr>
                      <a:r>
                        <a:rPr dirty="0" sz="1800" spc="-25" b="1">
                          <a:solidFill>
                            <a:srgbClr val="40458B"/>
                          </a:solidFill>
                          <a:latin typeface="宋体"/>
                          <a:cs typeface="宋体"/>
                        </a:rPr>
                        <a:t>15</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0805">
                        <a:lnSpc>
                          <a:spcPct val="100000"/>
                        </a:lnSpc>
                        <a:spcBef>
                          <a:spcPts val="380"/>
                        </a:spcBef>
                      </a:pPr>
                      <a:r>
                        <a:rPr dirty="0" sz="1800" spc="-10" b="1">
                          <a:solidFill>
                            <a:srgbClr val="40458B"/>
                          </a:solidFill>
                          <a:latin typeface="宋体"/>
                          <a:cs typeface="宋体"/>
                        </a:rPr>
                        <a:t>等待</a:t>
                      </a:r>
                      <a:r>
                        <a:rPr dirty="0" sz="1800" spc="-25" b="1">
                          <a:solidFill>
                            <a:srgbClr val="40458B"/>
                          </a:solidFill>
                          <a:latin typeface="宋体"/>
                          <a:cs typeface="宋体"/>
                        </a:rPr>
                        <a:t>ALU</a:t>
                      </a:r>
                      <a:endParaRPr sz="1800">
                        <a:latin typeface="宋体"/>
                        <a:cs typeface="宋体"/>
                      </a:endParaRPr>
                    </a:p>
                  </a:txBody>
                  <a:tcPr marL="0" marR="0" marB="0" marT="4826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386715">
                <a:tc>
                  <a:txBody>
                    <a:bodyPr/>
                    <a:lstStyle/>
                    <a:p>
                      <a:pPr algn="ctr">
                        <a:lnSpc>
                          <a:spcPct val="100000"/>
                        </a:lnSpc>
                        <a:spcBef>
                          <a:spcPts val="380"/>
                        </a:spcBef>
                      </a:pPr>
                      <a:r>
                        <a:rPr dirty="0" sz="1800" spc="-50" b="1">
                          <a:solidFill>
                            <a:srgbClr val="008000"/>
                          </a:solidFill>
                          <a:latin typeface="宋体"/>
                          <a:cs typeface="宋体"/>
                        </a:rPr>
                        <a:t>3</a:t>
                      </a:r>
                      <a:endParaRPr sz="1800">
                        <a:latin typeface="宋体"/>
                        <a:cs typeface="宋体"/>
                      </a:endParaRPr>
                    </a:p>
                  </a:txBody>
                  <a:tcPr marL="0" marR="0" marB="0" marT="4826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89535">
                        <a:lnSpc>
                          <a:spcPct val="100000"/>
                        </a:lnSpc>
                        <a:spcBef>
                          <a:spcPts val="380"/>
                        </a:spcBef>
                      </a:pPr>
                      <a:r>
                        <a:rPr dirty="0" sz="1800" spc="-25" b="1">
                          <a:solidFill>
                            <a:srgbClr val="660066"/>
                          </a:solidFill>
                          <a:latin typeface="宋体"/>
                          <a:cs typeface="宋体"/>
                        </a:rPr>
                        <a:t>BNE</a:t>
                      </a:r>
                      <a:endParaRPr sz="1800">
                        <a:latin typeface="宋体"/>
                        <a:cs typeface="宋体"/>
                      </a:endParaRPr>
                    </a:p>
                  </a:txBody>
                  <a:tcPr marL="0" marR="0" marB="0" marT="48260">
                    <a:lnL w="12700">
                      <a:solidFill>
                        <a:srgbClr val="40458B"/>
                      </a:solidFill>
                      <a:prstDash val="solid"/>
                    </a:lnL>
                    <a:lnT w="12700">
                      <a:solidFill>
                        <a:srgbClr val="40458B"/>
                      </a:solidFill>
                      <a:prstDash val="solid"/>
                    </a:lnT>
                    <a:lnB w="28575">
                      <a:solidFill>
                        <a:srgbClr val="40458B"/>
                      </a:solidFill>
                      <a:prstDash val="solid"/>
                    </a:lnB>
                  </a:tcPr>
                </a:tc>
                <a:tc>
                  <a:txBody>
                    <a:bodyPr/>
                    <a:lstStyle/>
                    <a:p>
                      <a:pPr marL="70485">
                        <a:lnSpc>
                          <a:spcPct val="100000"/>
                        </a:lnSpc>
                        <a:spcBef>
                          <a:spcPts val="380"/>
                        </a:spcBef>
                      </a:pPr>
                      <a:r>
                        <a:rPr dirty="0" sz="1800" spc="-10" b="1">
                          <a:solidFill>
                            <a:srgbClr val="660066"/>
                          </a:solidFill>
                          <a:latin typeface="宋体"/>
                          <a:cs typeface="宋体"/>
                        </a:rPr>
                        <a:t>R1,R2,Loop</a:t>
                      </a:r>
                      <a:endParaRPr sz="1800">
                        <a:latin typeface="宋体"/>
                        <a:cs typeface="宋体"/>
                      </a:endParaRPr>
                    </a:p>
                  </a:txBody>
                  <a:tcPr marL="0" marR="0" marB="0" marT="48260">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380"/>
                        </a:spcBef>
                      </a:pPr>
                      <a:r>
                        <a:rPr dirty="0" sz="1800" spc="-50" b="1">
                          <a:solidFill>
                            <a:srgbClr val="40458B"/>
                          </a:solidFill>
                          <a:latin typeface="宋体"/>
                          <a:cs typeface="宋体"/>
                        </a:rPr>
                        <a:t>9</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380"/>
                        </a:spcBef>
                      </a:pPr>
                      <a:r>
                        <a:rPr dirty="0" sz="1800" spc="-25" b="1">
                          <a:solidFill>
                            <a:srgbClr val="40458B"/>
                          </a:solidFill>
                          <a:latin typeface="宋体"/>
                          <a:cs typeface="宋体"/>
                        </a:rPr>
                        <a:t>16</a:t>
                      </a:r>
                      <a:endParaRPr sz="1800">
                        <a:latin typeface="宋体"/>
                        <a:cs typeface="宋体"/>
                      </a:endParaRPr>
                    </a:p>
                  </a:txBody>
                  <a:tcPr marL="0" marR="0" marB="0" marT="4826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18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0805">
                        <a:lnSpc>
                          <a:spcPct val="100000"/>
                        </a:lnSpc>
                        <a:spcBef>
                          <a:spcPts val="380"/>
                        </a:spcBef>
                      </a:pPr>
                      <a:r>
                        <a:rPr dirty="0" sz="1800" spc="-20" b="1">
                          <a:solidFill>
                            <a:srgbClr val="40458B"/>
                          </a:solidFill>
                          <a:latin typeface="宋体"/>
                          <a:cs typeface="宋体"/>
                        </a:rPr>
                        <a:t>等待</a:t>
                      </a:r>
                      <a:r>
                        <a:rPr dirty="0" sz="1800" spc="-10" b="1">
                          <a:solidFill>
                            <a:srgbClr val="40458B"/>
                          </a:solidFill>
                          <a:latin typeface="宋体"/>
                          <a:cs typeface="宋体"/>
                        </a:rPr>
                        <a:t>DADDIU</a:t>
                      </a:r>
                      <a:r>
                        <a:rPr dirty="0" sz="1800" spc="-35" b="1">
                          <a:solidFill>
                            <a:srgbClr val="40458B"/>
                          </a:solidFill>
                          <a:latin typeface="宋体"/>
                          <a:cs typeface="宋体"/>
                        </a:rPr>
                        <a:t>的结果</a:t>
                      </a:r>
                      <a:endParaRPr sz="1800">
                        <a:latin typeface="宋体"/>
                        <a:cs typeface="宋体"/>
                      </a:endParaRPr>
                    </a:p>
                  </a:txBody>
                  <a:tcPr marL="0" marR="0" marB="0" marT="4826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2193988" y="390588"/>
          <a:ext cx="7953375" cy="6275704"/>
        </p:xfrm>
        <a:graphic>
          <a:graphicData uri="http://schemas.openxmlformats.org/drawingml/2006/table">
            <a:tbl>
              <a:tblPr firstRow="1" bandRow="1">
                <a:tableStyleId>{2D5ABB26-0587-4C30-8999-92F81FD0307C}</a:tableStyleId>
              </a:tblPr>
              <a:tblGrid>
                <a:gridCol w="1399540"/>
                <a:gridCol w="1553845"/>
                <a:gridCol w="1754505"/>
                <a:gridCol w="1570989"/>
                <a:gridCol w="1569085"/>
              </a:tblGrid>
              <a:tr h="464820">
                <a:tc>
                  <a:txBody>
                    <a:bodyPr/>
                    <a:lstStyle/>
                    <a:p>
                      <a:pPr algn="ctr" marL="635">
                        <a:lnSpc>
                          <a:spcPct val="100000"/>
                        </a:lnSpc>
                        <a:spcBef>
                          <a:spcPts val="560"/>
                        </a:spcBef>
                      </a:pPr>
                      <a:r>
                        <a:rPr dirty="0" sz="2200" spc="-30" b="1">
                          <a:solidFill>
                            <a:srgbClr val="E14B04"/>
                          </a:solidFill>
                          <a:latin typeface="宋体"/>
                          <a:cs typeface="宋体"/>
                        </a:rPr>
                        <a:t>时钟周期</a:t>
                      </a:r>
                      <a:endParaRPr sz="2200">
                        <a:latin typeface="宋体"/>
                        <a:cs typeface="宋体"/>
                      </a:endParaRPr>
                    </a:p>
                  </a:txBody>
                  <a:tcPr marL="0" marR="0" marB="0" marT="7112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560"/>
                        </a:spcBef>
                      </a:pPr>
                      <a:r>
                        <a:rPr dirty="0" sz="2200" spc="-20" b="1">
                          <a:solidFill>
                            <a:srgbClr val="E14B04"/>
                          </a:solidFill>
                          <a:latin typeface="宋体"/>
                          <a:cs typeface="宋体"/>
                        </a:rPr>
                        <a:t>整型</a:t>
                      </a:r>
                      <a:r>
                        <a:rPr dirty="0" sz="2200" spc="-25" b="1">
                          <a:solidFill>
                            <a:srgbClr val="E14B04"/>
                          </a:solidFill>
                          <a:latin typeface="Times New Roman"/>
                          <a:cs typeface="Times New Roman"/>
                        </a:rPr>
                        <a:t>ALU</a:t>
                      </a:r>
                      <a:endParaRPr sz="2200">
                        <a:latin typeface="Times New Roman"/>
                        <a:cs typeface="Times New Roman"/>
                      </a:endParaRPr>
                    </a:p>
                  </a:txBody>
                  <a:tcPr marL="0" marR="0" marB="0" marT="7112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635">
                        <a:lnSpc>
                          <a:spcPct val="100000"/>
                        </a:lnSpc>
                        <a:spcBef>
                          <a:spcPts val="560"/>
                        </a:spcBef>
                      </a:pPr>
                      <a:r>
                        <a:rPr dirty="0" sz="2200" spc="-20" b="1">
                          <a:solidFill>
                            <a:srgbClr val="E14B04"/>
                          </a:solidFill>
                          <a:latin typeface="宋体"/>
                          <a:cs typeface="宋体"/>
                        </a:rPr>
                        <a:t>浮点</a:t>
                      </a:r>
                      <a:r>
                        <a:rPr dirty="0" sz="2200" spc="-25" b="1">
                          <a:solidFill>
                            <a:srgbClr val="E14B04"/>
                          </a:solidFill>
                          <a:latin typeface="Times New Roman"/>
                          <a:cs typeface="Times New Roman"/>
                        </a:rPr>
                        <a:t>ALU</a:t>
                      </a:r>
                      <a:endParaRPr sz="2200">
                        <a:latin typeface="Times New Roman"/>
                        <a:cs typeface="Times New Roman"/>
                      </a:endParaRPr>
                    </a:p>
                  </a:txBody>
                  <a:tcPr marL="0" marR="0" marB="0" marT="7112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1270">
                        <a:lnSpc>
                          <a:spcPct val="100000"/>
                        </a:lnSpc>
                        <a:spcBef>
                          <a:spcPts val="560"/>
                        </a:spcBef>
                      </a:pPr>
                      <a:r>
                        <a:rPr dirty="0" sz="2200" spc="-20" b="1">
                          <a:solidFill>
                            <a:srgbClr val="E14B04"/>
                          </a:solidFill>
                          <a:latin typeface="宋体"/>
                          <a:cs typeface="宋体"/>
                        </a:rPr>
                        <a:t>数据</a:t>
                      </a:r>
                      <a:r>
                        <a:rPr dirty="0" sz="2200" spc="-20" b="1">
                          <a:solidFill>
                            <a:srgbClr val="E14B04"/>
                          </a:solidFill>
                          <a:latin typeface="Times New Roman"/>
                          <a:cs typeface="Times New Roman"/>
                        </a:rPr>
                        <a:t>Cache</a:t>
                      </a:r>
                      <a:endParaRPr sz="2200">
                        <a:latin typeface="Times New Roman"/>
                        <a:cs typeface="Times New Roman"/>
                      </a:endParaRPr>
                    </a:p>
                  </a:txBody>
                  <a:tcPr marL="0" marR="0" marB="0" marT="7112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560"/>
                        </a:spcBef>
                      </a:pPr>
                      <a:r>
                        <a:rPr dirty="0" sz="2200" spc="-25" b="1">
                          <a:solidFill>
                            <a:srgbClr val="E14B04"/>
                          </a:solidFill>
                          <a:latin typeface="Times New Roman"/>
                          <a:cs typeface="Times New Roman"/>
                        </a:rPr>
                        <a:t>CDB</a:t>
                      </a:r>
                      <a:endParaRPr sz="2200">
                        <a:latin typeface="Times New Roman"/>
                        <a:cs typeface="Times New Roman"/>
                      </a:endParaRPr>
                    </a:p>
                  </a:txBody>
                  <a:tcPr marL="0" marR="0" marB="0" marT="7112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465455">
                <a:tc>
                  <a:txBody>
                    <a:bodyPr/>
                    <a:lstStyle/>
                    <a:p>
                      <a:pPr algn="ctr">
                        <a:lnSpc>
                          <a:spcPct val="100000"/>
                        </a:lnSpc>
                        <a:spcBef>
                          <a:spcPts val="565"/>
                        </a:spcBef>
                      </a:pPr>
                      <a:r>
                        <a:rPr dirty="0" sz="2200" spc="-50" b="1">
                          <a:solidFill>
                            <a:srgbClr val="E14B04"/>
                          </a:solidFill>
                          <a:latin typeface="Times New Roman"/>
                          <a:cs typeface="Times New Roman"/>
                        </a:rPr>
                        <a:t>2</a:t>
                      </a:r>
                      <a:endParaRPr sz="2200">
                        <a:latin typeface="Times New Roman"/>
                        <a:cs typeface="Times New Roman"/>
                      </a:endParaRPr>
                    </a:p>
                  </a:txBody>
                  <a:tcPr marL="0" marR="0" marB="0" marT="7175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565"/>
                        </a:spcBef>
                      </a:pPr>
                      <a:r>
                        <a:rPr dirty="0" sz="2200" spc="-10" b="1">
                          <a:solidFill>
                            <a:srgbClr val="40458B"/>
                          </a:solidFill>
                          <a:latin typeface="Times New Roman"/>
                          <a:cs typeface="Times New Roman"/>
                        </a:rPr>
                        <a:t>1/L.D</a:t>
                      </a:r>
                      <a:endParaRPr sz="2200">
                        <a:latin typeface="Times New Roman"/>
                        <a:cs typeface="Times New Roman"/>
                      </a:endParaRPr>
                    </a:p>
                  </a:txBody>
                  <a:tcPr marL="0" marR="0" marB="0" marT="717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65455">
                <a:tc>
                  <a:txBody>
                    <a:bodyPr/>
                    <a:lstStyle/>
                    <a:p>
                      <a:pPr algn="ctr">
                        <a:lnSpc>
                          <a:spcPct val="100000"/>
                        </a:lnSpc>
                        <a:spcBef>
                          <a:spcPts val="565"/>
                        </a:spcBef>
                      </a:pPr>
                      <a:r>
                        <a:rPr dirty="0" sz="2200" spc="-50" b="1">
                          <a:solidFill>
                            <a:srgbClr val="E14B04"/>
                          </a:solidFill>
                          <a:latin typeface="Times New Roman"/>
                          <a:cs typeface="Times New Roman"/>
                        </a:rPr>
                        <a:t>3</a:t>
                      </a:r>
                      <a:endParaRPr sz="2200">
                        <a:latin typeface="Times New Roman"/>
                        <a:cs typeface="Times New Roman"/>
                      </a:endParaRPr>
                    </a:p>
                  </a:txBody>
                  <a:tcPr marL="0" marR="0" marB="0" marT="7175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65"/>
                        </a:spcBef>
                      </a:pPr>
                      <a:r>
                        <a:rPr dirty="0" sz="2200" spc="-10" b="1">
                          <a:solidFill>
                            <a:srgbClr val="40458B"/>
                          </a:solidFill>
                          <a:latin typeface="Times New Roman"/>
                          <a:cs typeface="Times New Roman"/>
                        </a:rPr>
                        <a:t>1/S.D</a:t>
                      </a:r>
                      <a:endParaRPr sz="2200">
                        <a:latin typeface="Times New Roman"/>
                        <a:cs typeface="Times New Roman"/>
                      </a:endParaRPr>
                    </a:p>
                  </a:txBody>
                  <a:tcPr marL="0" marR="0" marB="0" marT="717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65"/>
                        </a:spcBef>
                      </a:pPr>
                      <a:r>
                        <a:rPr dirty="0" sz="2200" spc="-10" b="1">
                          <a:solidFill>
                            <a:srgbClr val="40458B"/>
                          </a:solidFill>
                          <a:latin typeface="Times New Roman"/>
                          <a:cs typeface="Times New Roman"/>
                        </a:rPr>
                        <a:t>1/L.D</a:t>
                      </a:r>
                      <a:endParaRPr sz="2200">
                        <a:latin typeface="Times New Roman"/>
                        <a:cs typeface="Times New Roman"/>
                      </a:endParaRPr>
                    </a:p>
                  </a:txBody>
                  <a:tcPr marL="0" marR="0" marB="0" marT="717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810895">
                <a:tc>
                  <a:txBody>
                    <a:bodyPr/>
                    <a:lstStyle/>
                    <a:p>
                      <a:pPr algn="ctr">
                        <a:lnSpc>
                          <a:spcPct val="100000"/>
                        </a:lnSpc>
                        <a:spcBef>
                          <a:spcPts val="565"/>
                        </a:spcBef>
                      </a:pPr>
                      <a:r>
                        <a:rPr dirty="0" sz="2200" spc="-50" b="1">
                          <a:solidFill>
                            <a:srgbClr val="E14B04"/>
                          </a:solidFill>
                          <a:latin typeface="Times New Roman"/>
                          <a:cs typeface="Times New Roman"/>
                        </a:rPr>
                        <a:t>4</a:t>
                      </a:r>
                      <a:endParaRPr sz="2200">
                        <a:latin typeface="Times New Roman"/>
                        <a:cs typeface="Times New Roman"/>
                      </a:endParaRPr>
                    </a:p>
                  </a:txBody>
                  <a:tcPr marL="0" marR="0" marB="0" marT="7175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65"/>
                        </a:spcBef>
                      </a:pPr>
                      <a:r>
                        <a:rPr dirty="0" sz="2200" spc="-10" b="1">
                          <a:solidFill>
                            <a:srgbClr val="40458B"/>
                          </a:solidFill>
                          <a:latin typeface="Times New Roman"/>
                          <a:cs typeface="Times New Roman"/>
                        </a:rPr>
                        <a:t>1/DADDIU</a:t>
                      </a:r>
                      <a:endParaRPr sz="2200">
                        <a:latin typeface="Times New Roman"/>
                        <a:cs typeface="Times New Roman"/>
                      </a:endParaRPr>
                    </a:p>
                  </a:txBody>
                  <a:tcPr marL="0" marR="0" marB="0" marT="717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565"/>
                        </a:spcBef>
                      </a:pPr>
                      <a:r>
                        <a:rPr dirty="0" sz="2200" spc="-10" b="1">
                          <a:solidFill>
                            <a:srgbClr val="40458B"/>
                          </a:solidFill>
                          <a:latin typeface="Times New Roman"/>
                          <a:cs typeface="Times New Roman"/>
                        </a:rPr>
                        <a:t>1/L.D</a:t>
                      </a:r>
                      <a:endParaRPr sz="2200">
                        <a:latin typeface="Times New Roman"/>
                        <a:cs typeface="Times New Roman"/>
                      </a:endParaRPr>
                    </a:p>
                  </a:txBody>
                  <a:tcPr marL="0" marR="0" marB="0" marT="7175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65455">
                <a:tc>
                  <a:txBody>
                    <a:bodyPr/>
                    <a:lstStyle/>
                    <a:p>
                      <a:pPr algn="ctr">
                        <a:lnSpc>
                          <a:spcPct val="100000"/>
                        </a:lnSpc>
                        <a:spcBef>
                          <a:spcPts val="565"/>
                        </a:spcBef>
                      </a:pPr>
                      <a:r>
                        <a:rPr dirty="0" sz="2200" spc="-50" b="1">
                          <a:solidFill>
                            <a:srgbClr val="E14B04"/>
                          </a:solidFill>
                          <a:latin typeface="Times New Roman"/>
                          <a:cs typeface="Times New Roman"/>
                        </a:rPr>
                        <a:t>5</a:t>
                      </a:r>
                      <a:endParaRPr sz="2200">
                        <a:latin typeface="Times New Roman"/>
                        <a:cs typeface="Times New Roman"/>
                      </a:endParaRPr>
                    </a:p>
                  </a:txBody>
                  <a:tcPr marL="0" marR="0" marB="0" marT="7175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65"/>
                        </a:spcBef>
                      </a:pPr>
                      <a:r>
                        <a:rPr dirty="0" sz="2200" spc="-10" b="1">
                          <a:solidFill>
                            <a:srgbClr val="40458B"/>
                          </a:solidFill>
                          <a:latin typeface="Times New Roman"/>
                          <a:cs typeface="Times New Roman"/>
                        </a:rPr>
                        <a:t>1/ADD.D</a:t>
                      </a:r>
                      <a:endParaRPr sz="2200">
                        <a:latin typeface="Times New Roman"/>
                        <a:cs typeface="Times New Roman"/>
                      </a:endParaRPr>
                    </a:p>
                  </a:txBody>
                  <a:tcPr marL="0" marR="0" marB="0" marT="717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65"/>
                        </a:spcBef>
                      </a:pPr>
                      <a:r>
                        <a:rPr dirty="0" sz="2200" spc="-10" b="1">
                          <a:solidFill>
                            <a:srgbClr val="40458B"/>
                          </a:solidFill>
                          <a:latin typeface="Times New Roman"/>
                          <a:cs typeface="Times New Roman"/>
                        </a:rPr>
                        <a:t>1/DADDIU</a:t>
                      </a:r>
                      <a:endParaRPr sz="2200">
                        <a:latin typeface="Times New Roman"/>
                        <a:cs typeface="Times New Roman"/>
                      </a:endParaRPr>
                    </a:p>
                  </a:txBody>
                  <a:tcPr marL="0" marR="0" marB="0" marT="7175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65455">
                <a:tc>
                  <a:txBody>
                    <a:bodyPr/>
                    <a:lstStyle/>
                    <a:p>
                      <a:pPr algn="ctr">
                        <a:lnSpc>
                          <a:spcPct val="100000"/>
                        </a:lnSpc>
                        <a:spcBef>
                          <a:spcPts val="570"/>
                        </a:spcBef>
                      </a:pPr>
                      <a:r>
                        <a:rPr dirty="0" sz="2200" spc="-50" b="1">
                          <a:solidFill>
                            <a:srgbClr val="E14B04"/>
                          </a:solidFill>
                          <a:latin typeface="Times New Roman"/>
                          <a:cs typeface="Times New Roman"/>
                        </a:rPr>
                        <a:t>6</a:t>
                      </a:r>
                      <a:endParaRPr sz="2200">
                        <a:latin typeface="Times New Roman"/>
                        <a:cs typeface="Times New Roman"/>
                      </a:endParaRPr>
                    </a:p>
                  </a:txBody>
                  <a:tcPr marL="0" marR="0" marB="0" marT="7239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65455">
                <a:tc>
                  <a:txBody>
                    <a:bodyPr/>
                    <a:lstStyle/>
                    <a:p>
                      <a:pPr algn="ctr">
                        <a:lnSpc>
                          <a:spcPct val="100000"/>
                        </a:lnSpc>
                        <a:spcBef>
                          <a:spcPts val="570"/>
                        </a:spcBef>
                      </a:pPr>
                      <a:r>
                        <a:rPr dirty="0" sz="2200" spc="-50" b="1">
                          <a:solidFill>
                            <a:srgbClr val="E14B04"/>
                          </a:solidFill>
                          <a:latin typeface="Times New Roman"/>
                          <a:cs typeface="Times New Roman"/>
                        </a:rPr>
                        <a:t>7</a:t>
                      </a:r>
                      <a:endParaRPr sz="2200">
                        <a:latin typeface="Times New Roman"/>
                        <a:cs typeface="Times New Roman"/>
                      </a:endParaRPr>
                    </a:p>
                  </a:txBody>
                  <a:tcPr marL="0" marR="0" marB="0" marT="7239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570"/>
                        </a:spcBef>
                      </a:pPr>
                      <a:r>
                        <a:rPr dirty="0" sz="2200" spc="-10" b="1">
                          <a:solidFill>
                            <a:srgbClr val="40458B"/>
                          </a:solidFill>
                          <a:latin typeface="Times New Roman"/>
                          <a:cs typeface="Times New Roman"/>
                        </a:rPr>
                        <a:t>2/L.D</a:t>
                      </a:r>
                      <a:endParaRPr sz="2200">
                        <a:latin typeface="Times New Roman"/>
                        <a:cs typeface="Times New Roman"/>
                      </a:endParaRPr>
                    </a:p>
                  </a:txBody>
                  <a:tcPr marL="0" marR="0" marB="0" marT="723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65455">
                <a:tc>
                  <a:txBody>
                    <a:bodyPr/>
                    <a:lstStyle/>
                    <a:p>
                      <a:pPr algn="ctr">
                        <a:lnSpc>
                          <a:spcPct val="100000"/>
                        </a:lnSpc>
                        <a:spcBef>
                          <a:spcPts val="570"/>
                        </a:spcBef>
                      </a:pPr>
                      <a:r>
                        <a:rPr dirty="0" sz="2200" spc="-50" b="1">
                          <a:solidFill>
                            <a:srgbClr val="E14B04"/>
                          </a:solidFill>
                          <a:latin typeface="Times New Roman"/>
                          <a:cs typeface="Times New Roman"/>
                        </a:rPr>
                        <a:t>8</a:t>
                      </a:r>
                      <a:endParaRPr sz="2200">
                        <a:latin typeface="Times New Roman"/>
                        <a:cs typeface="Times New Roman"/>
                      </a:endParaRPr>
                    </a:p>
                  </a:txBody>
                  <a:tcPr marL="0" marR="0" marB="0" marT="7239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70"/>
                        </a:spcBef>
                      </a:pPr>
                      <a:r>
                        <a:rPr dirty="0" sz="2200" spc="-10" b="1">
                          <a:solidFill>
                            <a:srgbClr val="40458B"/>
                          </a:solidFill>
                          <a:latin typeface="Times New Roman"/>
                          <a:cs typeface="Times New Roman"/>
                        </a:rPr>
                        <a:t>2/S.D</a:t>
                      </a:r>
                      <a:endParaRPr sz="2200">
                        <a:latin typeface="Times New Roman"/>
                        <a:cs typeface="Times New Roman"/>
                      </a:endParaRPr>
                    </a:p>
                  </a:txBody>
                  <a:tcPr marL="0" marR="0" marB="0" marT="723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70"/>
                        </a:spcBef>
                      </a:pPr>
                      <a:r>
                        <a:rPr dirty="0" sz="2200" spc="-10" b="1">
                          <a:solidFill>
                            <a:srgbClr val="40458B"/>
                          </a:solidFill>
                          <a:latin typeface="Times New Roman"/>
                          <a:cs typeface="Times New Roman"/>
                        </a:rPr>
                        <a:t>2/L.D</a:t>
                      </a:r>
                      <a:endParaRPr sz="2200">
                        <a:latin typeface="Times New Roman"/>
                        <a:cs typeface="Times New Roman"/>
                      </a:endParaRPr>
                    </a:p>
                  </a:txBody>
                  <a:tcPr marL="0" marR="0" marB="0" marT="723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570"/>
                        </a:spcBef>
                      </a:pPr>
                      <a:r>
                        <a:rPr dirty="0" sz="2200" spc="-10" b="1">
                          <a:solidFill>
                            <a:srgbClr val="40458B"/>
                          </a:solidFill>
                          <a:latin typeface="Times New Roman"/>
                          <a:cs typeface="Times New Roman"/>
                        </a:rPr>
                        <a:t>1/ADD.D</a:t>
                      </a:r>
                      <a:endParaRPr sz="2200">
                        <a:latin typeface="Times New Roman"/>
                        <a:cs typeface="Times New Roman"/>
                      </a:endParaRPr>
                    </a:p>
                  </a:txBody>
                  <a:tcPr marL="0" marR="0" marB="0" marT="7239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810895">
                <a:tc>
                  <a:txBody>
                    <a:bodyPr/>
                    <a:lstStyle/>
                    <a:p>
                      <a:pPr algn="ctr">
                        <a:lnSpc>
                          <a:spcPct val="100000"/>
                        </a:lnSpc>
                        <a:spcBef>
                          <a:spcPts val="570"/>
                        </a:spcBef>
                      </a:pPr>
                      <a:r>
                        <a:rPr dirty="0" sz="2200" spc="-50" b="1">
                          <a:solidFill>
                            <a:srgbClr val="E14B04"/>
                          </a:solidFill>
                          <a:latin typeface="Times New Roman"/>
                          <a:cs typeface="Times New Roman"/>
                        </a:rPr>
                        <a:t>9</a:t>
                      </a:r>
                      <a:endParaRPr sz="2200">
                        <a:latin typeface="Times New Roman"/>
                        <a:cs typeface="Times New Roman"/>
                      </a:endParaRPr>
                    </a:p>
                  </a:txBody>
                  <a:tcPr marL="0" marR="0" marB="0" marT="7239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70"/>
                        </a:spcBef>
                      </a:pPr>
                      <a:r>
                        <a:rPr dirty="0" sz="2200" spc="-10" b="1">
                          <a:solidFill>
                            <a:srgbClr val="40458B"/>
                          </a:solidFill>
                          <a:latin typeface="Times New Roman"/>
                          <a:cs typeface="Times New Roman"/>
                        </a:rPr>
                        <a:t>2/DADDIU</a:t>
                      </a:r>
                      <a:endParaRPr sz="2200">
                        <a:latin typeface="Times New Roman"/>
                        <a:cs typeface="Times New Roman"/>
                      </a:endParaRPr>
                    </a:p>
                  </a:txBody>
                  <a:tcPr marL="0" marR="0" marB="0" marT="723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70"/>
                        </a:spcBef>
                      </a:pPr>
                      <a:r>
                        <a:rPr dirty="0" sz="2200" spc="-10" b="1">
                          <a:solidFill>
                            <a:srgbClr val="40458B"/>
                          </a:solidFill>
                          <a:latin typeface="Times New Roman"/>
                          <a:cs typeface="Times New Roman"/>
                        </a:rPr>
                        <a:t>1/S.D</a:t>
                      </a:r>
                      <a:endParaRPr sz="2200">
                        <a:latin typeface="Times New Roman"/>
                        <a:cs typeface="Times New Roman"/>
                      </a:endParaRPr>
                    </a:p>
                  </a:txBody>
                  <a:tcPr marL="0" marR="0" marB="0" marT="723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570"/>
                        </a:spcBef>
                      </a:pPr>
                      <a:r>
                        <a:rPr dirty="0" sz="2200" spc="-10" b="1">
                          <a:solidFill>
                            <a:srgbClr val="40458B"/>
                          </a:solidFill>
                          <a:latin typeface="Times New Roman"/>
                          <a:cs typeface="Times New Roman"/>
                        </a:rPr>
                        <a:t>2/L.D</a:t>
                      </a:r>
                      <a:endParaRPr sz="2200">
                        <a:latin typeface="Times New Roman"/>
                        <a:cs typeface="Times New Roman"/>
                      </a:endParaRPr>
                    </a:p>
                  </a:txBody>
                  <a:tcPr marL="0" marR="0" marB="0" marT="7239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65455">
                <a:tc>
                  <a:txBody>
                    <a:bodyPr/>
                    <a:lstStyle/>
                    <a:p>
                      <a:pPr algn="ctr" marL="635">
                        <a:lnSpc>
                          <a:spcPct val="100000"/>
                        </a:lnSpc>
                        <a:spcBef>
                          <a:spcPts val="570"/>
                        </a:spcBef>
                      </a:pPr>
                      <a:r>
                        <a:rPr dirty="0" sz="2200" spc="-25" b="1">
                          <a:solidFill>
                            <a:srgbClr val="E14B04"/>
                          </a:solidFill>
                          <a:latin typeface="Times New Roman"/>
                          <a:cs typeface="Times New Roman"/>
                        </a:rPr>
                        <a:t>10</a:t>
                      </a:r>
                      <a:endParaRPr sz="2200">
                        <a:latin typeface="Times New Roman"/>
                        <a:cs typeface="Times New Roman"/>
                      </a:endParaRPr>
                    </a:p>
                  </a:txBody>
                  <a:tcPr marL="0" marR="0" marB="0" marT="7239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70"/>
                        </a:spcBef>
                      </a:pPr>
                      <a:r>
                        <a:rPr dirty="0" sz="2200" spc="-10" b="1">
                          <a:solidFill>
                            <a:srgbClr val="40458B"/>
                          </a:solidFill>
                          <a:latin typeface="Times New Roman"/>
                          <a:cs typeface="Times New Roman"/>
                        </a:rPr>
                        <a:t>2/ADD.D</a:t>
                      </a:r>
                      <a:endParaRPr sz="2200">
                        <a:latin typeface="Times New Roman"/>
                        <a:cs typeface="Times New Roman"/>
                      </a:endParaRPr>
                    </a:p>
                  </a:txBody>
                  <a:tcPr marL="0" marR="0" marB="0" marT="723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70"/>
                        </a:spcBef>
                      </a:pPr>
                      <a:r>
                        <a:rPr dirty="0" sz="2200" spc="-10" b="1">
                          <a:solidFill>
                            <a:srgbClr val="40458B"/>
                          </a:solidFill>
                          <a:latin typeface="Times New Roman"/>
                          <a:cs typeface="Times New Roman"/>
                        </a:rPr>
                        <a:t>2/DADDIU</a:t>
                      </a:r>
                      <a:endParaRPr sz="2200">
                        <a:latin typeface="Times New Roman"/>
                        <a:cs typeface="Times New Roman"/>
                      </a:endParaRPr>
                    </a:p>
                  </a:txBody>
                  <a:tcPr marL="0" marR="0" marB="0" marT="7239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65455">
                <a:tc>
                  <a:txBody>
                    <a:bodyPr/>
                    <a:lstStyle/>
                    <a:p>
                      <a:pPr algn="ctr" marR="6350">
                        <a:lnSpc>
                          <a:spcPct val="100000"/>
                        </a:lnSpc>
                        <a:spcBef>
                          <a:spcPts val="575"/>
                        </a:spcBef>
                      </a:pPr>
                      <a:r>
                        <a:rPr dirty="0" sz="2200" spc="-25" b="1">
                          <a:solidFill>
                            <a:srgbClr val="E14B04"/>
                          </a:solidFill>
                          <a:latin typeface="Times New Roman"/>
                          <a:cs typeface="Times New Roman"/>
                        </a:rPr>
                        <a:t>11</a:t>
                      </a:r>
                      <a:endParaRPr sz="2200">
                        <a:latin typeface="Times New Roman"/>
                        <a:cs typeface="Times New Roman"/>
                      </a:endParaRPr>
                    </a:p>
                  </a:txBody>
                  <a:tcPr marL="0" marR="0" marB="0" marT="7302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65455">
                <a:tc>
                  <a:txBody>
                    <a:bodyPr/>
                    <a:lstStyle/>
                    <a:p>
                      <a:pPr algn="ctr" marL="635">
                        <a:lnSpc>
                          <a:spcPct val="100000"/>
                        </a:lnSpc>
                        <a:spcBef>
                          <a:spcPts val="575"/>
                        </a:spcBef>
                      </a:pPr>
                      <a:r>
                        <a:rPr dirty="0" sz="2200" spc="-25" b="1">
                          <a:solidFill>
                            <a:srgbClr val="E14B04"/>
                          </a:solidFill>
                          <a:latin typeface="Times New Roman"/>
                          <a:cs typeface="Times New Roman"/>
                        </a:rPr>
                        <a:t>12</a:t>
                      </a:r>
                      <a:endParaRPr sz="2200">
                        <a:latin typeface="Times New Roman"/>
                        <a:cs typeface="Times New Roman"/>
                      </a:endParaRPr>
                    </a:p>
                  </a:txBody>
                  <a:tcPr marL="0" marR="0" marB="0" marT="73025">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635">
                        <a:lnSpc>
                          <a:spcPct val="100000"/>
                        </a:lnSpc>
                        <a:spcBef>
                          <a:spcPts val="575"/>
                        </a:spcBef>
                      </a:pPr>
                      <a:r>
                        <a:rPr dirty="0" sz="2200" spc="-10" b="1">
                          <a:solidFill>
                            <a:srgbClr val="40458B"/>
                          </a:solidFill>
                          <a:latin typeface="Times New Roman"/>
                          <a:cs typeface="Times New Roman"/>
                        </a:rPr>
                        <a:t>3/L.D</a:t>
                      </a:r>
                      <a:endParaRPr sz="2200">
                        <a:latin typeface="Times New Roman"/>
                        <a:cs typeface="Times New Roman"/>
                      </a:endParaRPr>
                    </a:p>
                  </a:txBody>
                  <a:tcPr marL="0" marR="0" marB="0" marT="73025">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1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174/175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graphicFrame>
        <p:nvGraphicFramePr>
          <p:cNvPr id="10" name="object 10" descr=""/>
          <p:cNvGraphicFramePr>
            <a:graphicFrameLocks noGrp="1"/>
          </p:cNvGraphicFramePr>
          <p:nvPr/>
        </p:nvGraphicFramePr>
        <p:xfrm>
          <a:off x="2481262" y="1543113"/>
          <a:ext cx="7377430" cy="4115435"/>
        </p:xfrm>
        <a:graphic>
          <a:graphicData uri="http://schemas.openxmlformats.org/drawingml/2006/table">
            <a:tbl>
              <a:tblPr firstRow="1" bandRow="1">
                <a:tableStyleId>{2D5ABB26-0587-4C30-8999-92F81FD0307C}</a:tableStyleId>
              </a:tblPr>
              <a:tblGrid>
                <a:gridCol w="1297305"/>
                <a:gridCol w="1440180"/>
                <a:gridCol w="1626235"/>
                <a:gridCol w="1456689"/>
                <a:gridCol w="1454785"/>
              </a:tblGrid>
              <a:tr h="457200">
                <a:tc>
                  <a:txBody>
                    <a:bodyPr/>
                    <a:lstStyle/>
                    <a:p>
                      <a:pPr algn="ctr">
                        <a:lnSpc>
                          <a:spcPct val="100000"/>
                        </a:lnSpc>
                        <a:spcBef>
                          <a:spcPts val="520"/>
                        </a:spcBef>
                      </a:pPr>
                      <a:r>
                        <a:rPr dirty="0" sz="2000" spc="-20" b="1">
                          <a:solidFill>
                            <a:srgbClr val="E14B04"/>
                          </a:solidFill>
                          <a:latin typeface="宋体"/>
                          <a:cs typeface="宋体"/>
                        </a:rPr>
                        <a:t>时钟周期</a:t>
                      </a:r>
                      <a:endParaRPr sz="2000">
                        <a:latin typeface="宋体"/>
                        <a:cs typeface="宋体"/>
                      </a:endParaRPr>
                    </a:p>
                  </a:txBody>
                  <a:tcPr marL="0" marR="0" marB="0" marT="6604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520"/>
                        </a:spcBef>
                      </a:pPr>
                      <a:r>
                        <a:rPr dirty="0" sz="2000" spc="-10" b="1">
                          <a:solidFill>
                            <a:srgbClr val="E14B04"/>
                          </a:solidFill>
                          <a:latin typeface="宋体"/>
                          <a:cs typeface="宋体"/>
                        </a:rPr>
                        <a:t>整型</a:t>
                      </a:r>
                      <a:r>
                        <a:rPr dirty="0" sz="2000" spc="-25" b="1">
                          <a:solidFill>
                            <a:srgbClr val="E14B04"/>
                          </a:solidFill>
                          <a:latin typeface="Times New Roman"/>
                          <a:cs typeface="Times New Roman"/>
                        </a:rPr>
                        <a:t>ALU</a:t>
                      </a:r>
                      <a:endParaRPr sz="2000">
                        <a:latin typeface="Times New Roman"/>
                        <a:cs typeface="Times New Roman"/>
                      </a:endParaRPr>
                    </a:p>
                  </a:txBody>
                  <a:tcPr marL="0" marR="0" marB="0" marT="6604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a:lnSpc>
                          <a:spcPct val="100000"/>
                        </a:lnSpc>
                        <a:spcBef>
                          <a:spcPts val="520"/>
                        </a:spcBef>
                      </a:pPr>
                      <a:r>
                        <a:rPr dirty="0" sz="2000" spc="-10" b="1">
                          <a:solidFill>
                            <a:srgbClr val="E14B04"/>
                          </a:solidFill>
                          <a:latin typeface="宋体"/>
                          <a:cs typeface="宋体"/>
                        </a:rPr>
                        <a:t>浮点</a:t>
                      </a:r>
                      <a:r>
                        <a:rPr dirty="0" sz="2000" spc="-25" b="1">
                          <a:solidFill>
                            <a:srgbClr val="E14B04"/>
                          </a:solidFill>
                          <a:latin typeface="Times New Roman"/>
                          <a:cs typeface="Times New Roman"/>
                        </a:rPr>
                        <a:t>ALU</a:t>
                      </a:r>
                      <a:endParaRPr sz="2000">
                        <a:latin typeface="Times New Roman"/>
                        <a:cs typeface="Times New Roman"/>
                      </a:endParaRPr>
                    </a:p>
                  </a:txBody>
                  <a:tcPr marL="0" marR="0" marB="0" marT="6604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1270">
                        <a:lnSpc>
                          <a:spcPct val="100000"/>
                        </a:lnSpc>
                        <a:spcBef>
                          <a:spcPts val="520"/>
                        </a:spcBef>
                      </a:pPr>
                      <a:r>
                        <a:rPr dirty="0" sz="2000" spc="-10" b="1">
                          <a:solidFill>
                            <a:srgbClr val="E14B04"/>
                          </a:solidFill>
                          <a:latin typeface="宋体"/>
                          <a:cs typeface="宋体"/>
                        </a:rPr>
                        <a:t>数据</a:t>
                      </a:r>
                      <a:r>
                        <a:rPr dirty="0" sz="2000" spc="-10" b="1">
                          <a:solidFill>
                            <a:srgbClr val="E14B04"/>
                          </a:solidFill>
                          <a:latin typeface="Times New Roman"/>
                          <a:cs typeface="Times New Roman"/>
                        </a:rPr>
                        <a:t>Cache</a:t>
                      </a:r>
                      <a:endParaRPr sz="2000">
                        <a:latin typeface="Times New Roman"/>
                        <a:cs typeface="Times New Roman"/>
                      </a:endParaRPr>
                    </a:p>
                  </a:txBody>
                  <a:tcPr marL="0" marR="0" marB="0" marT="6604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2540">
                        <a:lnSpc>
                          <a:spcPct val="100000"/>
                        </a:lnSpc>
                        <a:spcBef>
                          <a:spcPts val="520"/>
                        </a:spcBef>
                      </a:pPr>
                      <a:r>
                        <a:rPr dirty="0" sz="2000" spc="-25" b="1">
                          <a:solidFill>
                            <a:srgbClr val="E14B04"/>
                          </a:solidFill>
                          <a:latin typeface="Times New Roman"/>
                          <a:cs typeface="Times New Roman"/>
                        </a:rPr>
                        <a:t>CDB</a:t>
                      </a:r>
                      <a:endParaRPr sz="2000">
                        <a:latin typeface="Times New Roman"/>
                        <a:cs typeface="Times New Roman"/>
                      </a:endParaRPr>
                    </a:p>
                  </a:txBody>
                  <a:tcPr marL="0" marR="0" marB="0" marT="6604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457200">
                <a:tc>
                  <a:txBody>
                    <a:bodyPr/>
                    <a:lstStyle/>
                    <a:p>
                      <a:pPr algn="ctr">
                        <a:lnSpc>
                          <a:spcPct val="100000"/>
                        </a:lnSpc>
                        <a:spcBef>
                          <a:spcPts val="520"/>
                        </a:spcBef>
                      </a:pPr>
                      <a:r>
                        <a:rPr dirty="0" sz="2000" spc="-25" b="1">
                          <a:solidFill>
                            <a:srgbClr val="E14B04"/>
                          </a:solidFill>
                          <a:latin typeface="Times New Roman"/>
                          <a:cs typeface="Times New Roman"/>
                        </a:rPr>
                        <a:t>13</a:t>
                      </a:r>
                      <a:endParaRPr sz="2000">
                        <a:latin typeface="Times New Roman"/>
                        <a:cs typeface="Times New Roman"/>
                      </a:endParaRPr>
                    </a:p>
                  </a:txBody>
                  <a:tcPr marL="0" marR="0" marB="0" marT="6604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20"/>
                        </a:spcBef>
                      </a:pPr>
                      <a:r>
                        <a:rPr dirty="0" sz="2000" spc="-10" b="1">
                          <a:solidFill>
                            <a:srgbClr val="40458B"/>
                          </a:solidFill>
                          <a:latin typeface="Times New Roman"/>
                          <a:cs typeface="Times New Roman"/>
                        </a:rPr>
                        <a:t>3/S.D</a:t>
                      </a:r>
                      <a:endParaRPr sz="2000">
                        <a:latin typeface="Times New Roman"/>
                        <a:cs typeface="Times New Roman"/>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20"/>
                        </a:spcBef>
                      </a:pPr>
                      <a:r>
                        <a:rPr dirty="0" sz="2000" spc="-10" b="1">
                          <a:solidFill>
                            <a:srgbClr val="40458B"/>
                          </a:solidFill>
                          <a:latin typeface="Times New Roman"/>
                          <a:cs typeface="Times New Roman"/>
                        </a:rPr>
                        <a:t>3/L.D</a:t>
                      </a:r>
                      <a:endParaRPr sz="2000">
                        <a:latin typeface="Times New Roman"/>
                        <a:cs typeface="Times New Roman"/>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20"/>
                        </a:spcBef>
                      </a:pPr>
                      <a:r>
                        <a:rPr dirty="0" sz="2000" spc="-10" b="1">
                          <a:solidFill>
                            <a:srgbClr val="40458B"/>
                          </a:solidFill>
                          <a:latin typeface="Times New Roman"/>
                          <a:cs typeface="Times New Roman"/>
                        </a:rPr>
                        <a:t>2/ADD.D</a:t>
                      </a:r>
                      <a:endParaRPr sz="2000">
                        <a:latin typeface="Times New Roman"/>
                        <a:cs typeface="Times New Roman"/>
                      </a:endParaRPr>
                    </a:p>
                  </a:txBody>
                  <a:tcPr marL="0" marR="0" marB="0" marT="6604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57200">
                <a:tc>
                  <a:txBody>
                    <a:bodyPr/>
                    <a:lstStyle/>
                    <a:p>
                      <a:pPr algn="ctr">
                        <a:lnSpc>
                          <a:spcPct val="100000"/>
                        </a:lnSpc>
                        <a:spcBef>
                          <a:spcPts val="520"/>
                        </a:spcBef>
                      </a:pPr>
                      <a:r>
                        <a:rPr dirty="0" sz="2000" spc="-25" b="1">
                          <a:solidFill>
                            <a:srgbClr val="E14B04"/>
                          </a:solidFill>
                          <a:latin typeface="Times New Roman"/>
                          <a:cs typeface="Times New Roman"/>
                        </a:rPr>
                        <a:t>14</a:t>
                      </a:r>
                      <a:endParaRPr sz="2000">
                        <a:latin typeface="Times New Roman"/>
                        <a:cs typeface="Times New Roman"/>
                      </a:endParaRPr>
                    </a:p>
                  </a:txBody>
                  <a:tcPr marL="0" marR="0" marB="0" marT="6604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520"/>
                        </a:spcBef>
                      </a:pPr>
                      <a:r>
                        <a:rPr dirty="0" sz="2000" spc="-10" b="1">
                          <a:solidFill>
                            <a:srgbClr val="40458B"/>
                          </a:solidFill>
                          <a:latin typeface="Times New Roman"/>
                          <a:cs typeface="Times New Roman"/>
                        </a:rPr>
                        <a:t>3/DADDIU</a:t>
                      </a:r>
                      <a:endParaRPr sz="2000">
                        <a:latin typeface="Times New Roman"/>
                        <a:cs typeface="Times New Roman"/>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20"/>
                        </a:spcBef>
                      </a:pPr>
                      <a:r>
                        <a:rPr dirty="0" sz="2000" spc="-10" b="1">
                          <a:solidFill>
                            <a:srgbClr val="40458B"/>
                          </a:solidFill>
                          <a:latin typeface="Times New Roman"/>
                          <a:cs typeface="Times New Roman"/>
                        </a:rPr>
                        <a:t>2/S.D</a:t>
                      </a:r>
                      <a:endParaRPr sz="2000">
                        <a:latin typeface="Times New Roman"/>
                        <a:cs typeface="Times New Roman"/>
                      </a:endParaRPr>
                    </a:p>
                  </a:txBody>
                  <a:tcPr marL="0" marR="0" marB="0" marT="6604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20"/>
                        </a:spcBef>
                      </a:pPr>
                      <a:r>
                        <a:rPr dirty="0" sz="2000" spc="-10" b="1">
                          <a:solidFill>
                            <a:srgbClr val="40458B"/>
                          </a:solidFill>
                          <a:latin typeface="Times New Roman"/>
                          <a:cs typeface="Times New Roman"/>
                        </a:rPr>
                        <a:t>3/L.D</a:t>
                      </a:r>
                      <a:endParaRPr sz="2000">
                        <a:latin typeface="Times New Roman"/>
                        <a:cs typeface="Times New Roman"/>
                      </a:endParaRPr>
                    </a:p>
                  </a:txBody>
                  <a:tcPr marL="0" marR="0" marB="0" marT="6604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56565">
                <a:tc>
                  <a:txBody>
                    <a:bodyPr/>
                    <a:lstStyle/>
                    <a:p>
                      <a:pPr algn="ctr">
                        <a:lnSpc>
                          <a:spcPct val="100000"/>
                        </a:lnSpc>
                        <a:spcBef>
                          <a:spcPts val="525"/>
                        </a:spcBef>
                      </a:pPr>
                      <a:r>
                        <a:rPr dirty="0" sz="2000" spc="-25" b="1">
                          <a:solidFill>
                            <a:srgbClr val="E14B04"/>
                          </a:solidFill>
                          <a:latin typeface="Times New Roman"/>
                          <a:cs typeface="Times New Roman"/>
                        </a:rPr>
                        <a:t>15</a:t>
                      </a:r>
                      <a:endParaRPr sz="2000">
                        <a:latin typeface="Times New Roman"/>
                        <a:cs typeface="Times New Roman"/>
                      </a:endParaRPr>
                    </a:p>
                  </a:txBody>
                  <a:tcPr marL="0" marR="0" marB="0" marT="666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25"/>
                        </a:spcBef>
                      </a:pPr>
                      <a:r>
                        <a:rPr dirty="0" sz="2000" spc="-10" b="1">
                          <a:solidFill>
                            <a:srgbClr val="40458B"/>
                          </a:solidFill>
                          <a:latin typeface="Times New Roman"/>
                          <a:cs typeface="Times New Roman"/>
                        </a:rPr>
                        <a:t>3/ADD.D</a:t>
                      </a:r>
                      <a:endParaRPr sz="2000">
                        <a:latin typeface="Times New Roman"/>
                        <a:cs typeface="Times New Roman"/>
                      </a:endParaRPr>
                    </a:p>
                  </a:txBody>
                  <a:tcPr marL="0" marR="0" marB="0" marT="666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25"/>
                        </a:spcBef>
                      </a:pPr>
                      <a:r>
                        <a:rPr dirty="0" sz="2000" spc="-10" b="1">
                          <a:solidFill>
                            <a:srgbClr val="40458B"/>
                          </a:solidFill>
                          <a:latin typeface="Times New Roman"/>
                          <a:cs typeface="Times New Roman"/>
                        </a:rPr>
                        <a:t>3/DADDIU</a:t>
                      </a:r>
                      <a:endParaRPr sz="2000">
                        <a:latin typeface="Times New Roman"/>
                        <a:cs typeface="Times New Roman"/>
                      </a:endParaRPr>
                    </a:p>
                  </a:txBody>
                  <a:tcPr marL="0" marR="0" marB="0" marT="6667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57200">
                <a:tc>
                  <a:txBody>
                    <a:bodyPr/>
                    <a:lstStyle/>
                    <a:p>
                      <a:pPr algn="ctr">
                        <a:lnSpc>
                          <a:spcPct val="100000"/>
                        </a:lnSpc>
                        <a:spcBef>
                          <a:spcPts val="525"/>
                        </a:spcBef>
                      </a:pPr>
                      <a:r>
                        <a:rPr dirty="0" sz="2000" spc="-25" b="1">
                          <a:solidFill>
                            <a:srgbClr val="E14B04"/>
                          </a:solidFill>
                          <a:latin typeface="Times New Roman"/>
                          <a:cs typeface="Times New Roman"/>
                        </a:rPr>
                        <a:t>16</a:t>
                      </a:r>
                      <a:endParaRPr sz="2000">
                        <a:latin typeface="Times New Roman"/>
                        <a:cs typeface="Times New Roman"/>
                      </a:endParaRPr>
                    </a:p>
                  </a:txBody>
                  <a:tcPr marL="0" marR="0" marB="0" marT="666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57200">
                <a:tc>
                  <a:txBody>
                    <a:bodyPr/>
                    <a:lstStyle/>
                    <a:p>
                      <a:pPr algn="ctr">
                        <a:lnSpc>
                          <a:spcPct val="100000"/>
                        </a:lnSpc>
                        <a:spcBef>
                          <a:spcPts val="530"/>
                        </a:spcBef>
                      </a:pPr>
                      <a:r>
                        <a:rPr dirty="0" sz="2000" spc="-25" b="1">
                          <a:solidFill>
                            <a:srgbClr val="E14B04"/>
                          </a:solidFill>
                          <a:latin typeface="Times New Roman"/>
                          <a:cs typeface="Times New Roman"/>
                        </a:rPr>
                        <a:t>17</a:t>
                      </a:r>
                      <a:endParaRPr sz="2000">
                        <a:latin typeface="Times New Roman"/>
                        <a:cs typeface="Times New Roman"/>
                      </a:endParaRPr>
                    </a:p>
                  </a:txBody>
                  <a:tcPr marL="0" marR="0" marB="0" marT="6731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57200">
                <a:tc>
                  <a:txBody>
                    <a:bodyPr/>
                    <a:lstStyle/>
                    <a:p>
                      <a:pPr algn="ctr">
                        <a:lnSpc>
                          <a:spcPct val="100000"/>
                        </a:lnSpc>
                        <a:spcBef>
                          <a:spcPts val="530"/>
                        </a:spcBef>
                      </a:pPr>
                      <a:r>
                        <a:rPr dirty="0" sz="2000" spc="-25" b="1">
                          <a:solidFill>
                            <a:srgbClr val="E14B04"/>
                          </a:solidFill>
                          <a:latin typeface="Times New Roman"/>
                          <a:cs typeface="Times New Roman"/>
                        </a:rPr>
                        <a:t>18</a:t>
                      </a:r>
                      <a:endParaRPr sz="2000">
                        <a:latin typeface="Times New Roman"/>
                        <a:cs typeface="Times New Roman"/>
                      </a:endParaRPr>
                    </a:p>
                  </a:txBody>
                  <a:tcPr marL="0" marR="0" marB="0" marT="6731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30"/>
                        </a:spcBef>
                      </a:pPr>
                      <a:r>
                        <a:rPr dirty="0" sz="2000" spc="-10" b="1">
                          <a:solidFill>
                            <a:srgbClr val="40458B"/>
                          </a:solidFill>
                          <a:latin typeface="Times New Roman"/>
                          <a:cs typeface="Times New Roman"/>
                        </a:rPr>
                        <a:t>3/ADD.D</a:t>
                      </a:r>
                      <a:endParaRPr sz="2000">
                        <a:latin typeface="Times New Roman"/>
                        <a:cs typeface="Times New Roman"/>
                      </a:endParaRPr>
                    </a:p>
                  </a:txBody>
                  <a:tcPr marL="0" marR="0" marB="0" marT="6731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57200">
                <a:tc>
                  <a:txBody>
                    <a:bodyPr/>
                    <a:lstStyle/>
                    <a:p>
                      <a:pPr algn="ctr">
                        <a:lnSpc>
                          <a:spcPct val="100000"/>
                        </a:lnSpc>
                        <a:spcBef>
                          <a:spcPts val="530"/>
                        </a:spcBef>
                      </a:pPr>
                      <a:r>
                        <a:rPr dirty="0" sz="2000" spc="-25" b="1">
                          <a:solidFill>
                            <a:srgbClr val="E14B04"/>
                          </a:solidFill>
                          <a:latin typeface="Times New Roman"/>
                          <a:cs typeface="Times New Roman"/>
                        </a:rPr>
                        <a:t>19</a:t>
                      </a:r>
                      <a:endParaRPr sz="2000">
                        <a:latin typeface="Times New Roman"/>
                        <a:cs typeface="Times New Roman"/>
                      </a:endParaRPr>
                    </a:p>
                  </a:txBody>
                  <a:tcPr marL="0" marR="0" marB="0" marT="6731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530"/>
                        </a:spcBef>
                      </a:pPr>
                      <a:r>
                        <a:rPr dirty="0" sz="2000" spc="-10" b="1">
                          <a:solidFill>
                            <a:srgbClr val="40458B"/>
                          </a:solidFill>
                          <a:latin typeface="Times New Roman"/>
                          <a:cs typeface="Times New Roman"/>
                        </a:rPr>
                        <a:t>3/S.D</a:t>
                      </a:r>
                      <a:endParaRPr sz="2000">
                        <a:latin typeface="Times New Roman"/>
                        <a:cs typeface="Times New Roman"/>
                      </a:endParaRPr>
                    </a:p>
                  </a:txBody>
                  <a:tcPr marL="0" marR="0" marB="0" marT="6731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458470">
                <a:tc>
                  <a:txBody>
                    <a:bodyPr/>
                    <a:lstStyle/>
                    <a:p>
                      <a:pPr algn="ctr">
                        <a:lnSpc>
                          <a:spcPct val="100000"/>
                        </a:lnSpc>
                        <a:spcBef>
                          <a:spcPts val="530"/>
                        </a:spcBef>
                      </a:pPr>
                      <a:r>
                        <a:rPr dirty="0" sz="2000" spc="-25" b="1">
                          <a:solidFill>
                            <a:srgbClr val="E14B04"/>
                          </a:solidFill>
                          <a:latin typeface="Times New Roman"/>
                          <a:cs typeface="Times New Roman"/>
                        </a:rPr>
                        <a:t>20</a:t>
                      </a:r>
                      <a:endParaRPr sz="2000">
                        <a:latin typeface="Times New Roman"/>
                        <a:cs typeface="Times New Roman"/>
                      </a:endParaRPr>
                    </a:p>
                  </a:txBody>
                  <a:tcPr marL="0" marR="0" marB="0" marT="6731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175/175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413715" y="1026187"/>
            <a:ext cx="9516745" cy="3712210"/>
          </a:xfrm>
          <a:prstGeom prst="rect">
            <a:avLst/>
          </a:prstGeom>
        </p:spPr>
        <p:txBody>
          <a:bodyPr wrap="square" lIns="0" tIns="123190" rIns="0" bIns="0" rtlCol="0" vert="horz">
            <a:spAutoFit/>
          </a:bodyPr>
          <a:lstStyle/>
          <a:p>
            <a:pPr marL="12700">
              <a:lnSpc>
                <a:spcPct val="100000"/>
              </a:lnSpc>
              <a:spcBef>
                <a:spcPts val="970"/>
              </a:spcBef>
            </a:pPr>
            <a:r>
              <a:rPr dirty="0" sz="2400" spc="-20">
                <a:solidFill>
                  <a:srgbClr val="001F5F"/>
                </a:solidFill>
                <a:latin typeface="黑体"/>
                <a:cs typeface="黑体"/>
              </a:rPr>
              <a:t>可以看出：</a:t>
            </a:r>
            <a:endParaRPr sz="2400">
              <a:latin typeface="黑体"/>
              <a:cs typeface="黑体"/>
            </a:endParaRPr>
          </a:p>
          <a:p>
            <a:pPr marL="1099185" indent="-457200">
              <a:lnSpc>
                <a:spcPct val="100000"/>
              </a:lnSpc>
              <a:spcBef>
                <a:spcPts val="865"/>
              </a:spcBef>
              <a:buSzPct val="89583"/>
              <a:buFont typeface="Wingdings"/>
              <a:buChar char=""/>
              <a:tabLst>
                <a:tab pos="1099185" algn="l"/>
              </a:tabLst>
            </a:pPr>
            <a:r>
              <a:rPr dirty="0" sz="2400">
                <a:solidFill>
                  <a:srgbClr val="40458B"/>
                </a:solidFill>
                <a:latin typeface="黑体"/>
                <a:cs typeface="黑体"/>
              </a:rPr>
              <a:t>每</a:t>
            </a:r>
            <a:r>
              <a:rPr dirty="0" sz="2400">
                <a:solidFill>
                  <a:srgbClr val="9933FF"/>
                </a:solidFill>
                <a:latin typeface="Times New Roman"/>
                <a:cs typeface="Times New Roman"/>
              </a:rPr>
              <a:t>3</a:t>
            </a:r>
            <a:r>
              <a:rPr dirty="0" sz="2400">
                <a:solidFill>
                  <a:srgbClr val="40458B"/>
                </a:solidFill>
                <a:latin typeface="黑体"/>
                <a:cs typeface="黑体"/>
              </a:rPr>
              <a:t>个时钟周期就执行一个新循环，每个循环</a:t>
            </a:r>
            <a:r>
              <a:rPr dirty="0" sz="2400">
                <a:solidFill>
                  <a:srgbClr val="9933FF"/>
                </a:solidFill>
                <a:latin typeface="Times New Roman"/>
                <a:cs typeface="Times New Roman"/>
              </a:rPr>
              <a:t>5</a:t>
            </a:r>
            <a:r>
              <a:rPr dirty="0" sz="2400" spc="-15">
                <a:solidFill>
                  <a:srgbClr val="40458B"/>
                </a:solidFill>
                <a:latin typeface="黑体"/>
                <a:cs typeface="黑体"/>
              </a:rPr>
              <a:t>条指令。</a:t>
            </a:r>
            <a:endParaRPr sz="2400">
              <a:latin typeface="黑体"/>
              <a:cs typeface="黑体"/>
            </a:endParaRPr>
          </a:p>
          <a:p>
            <a:pPr marL="1588770">
              <a:lnSpc>
                <a:spcPct val="100000"/>
              </a:lnSpc>
              <a:spcBef>
                <a:spcPts val="825"/>
              </a:spcBef>
            </a:pPr>
            <a:r>
              <a:rPr dirty="0" sz="2200" spc="-10" b="1">
                <a:solidFill>
                  <a:srgbClr val="9933FF"/>
                </a:solidFill>
                <a:latin typeface="宋体"/>
                <a:cs typeface="宋体"/>
              </a:rPr>
              <a:t>IPC＝5/3＝1.67</a:t>
            </a:r>
            <a:r>
              <a:rPr dirty="0" sz="2200" spc="-30" b="1">
                <a:solidFill>
                  <a:srgbClr val="9966FF"/>
                </a:solidFill>
                <a:latin typeface="宋体"/>
                <a:cs typeface="宋体"/>
              </a:rPr>
              <a:t>条/拍</a:t>
            </a:r>
            <a:endParaRPr sz="2200">
              <a:latin typeface="宋体"/>
              <a:cs typeface="宋体"/>
            </a:endParaRPr>
          </a:p>
          <a:p>
            <a:pPr marL="1099185" indent="-457200">
              <a:lnSpc>
                <a:spcPct val="100000"/>
              </a:lnSpc>
              <a:spcBef>
                <a:spcPts val="830"/>
              </a:spcBef>
              <a:buSzPct val="89583"/>
              <a:buFont typeface="Wingdings"/>
              <a:buChar char=""/>
              <a:tabLst>
                <a:tab pos="1099185" algn="l"/>
              </a:tabLst>
            </a:pPr>
            <a:r>
              <a:rPr dirty="0" sz="2400" spc="-15">
                <a:solidFill>
                  <a:srgbClr val="40458B"/>
                </a:solidFill>
                <a:latin typeface="黑体"/>
                <a:cs typeface="黑体"/>
              </a:rPr>
              <a:t>虽然指令的流出率比较高，但是执行效率并不是很高。</a:t>
            </a:r>
            <a:endParaRPr sz="2400">
              <a:latin typeface="黑体"/>
              <a:cs typeface="黑体"/>
            </a:endParaRPr>
          </a:p>
          <a:p>
            <a:pPr marL="1056640" indent="-457834">
              <a:lnSpc>
                <a:spcPct val="100000"/>
              </a:lnSpc>
              <a:spcBef>
                <a:spcPts val="825"/>
              </a:spcBef>
              <a:buClr>
                <a:srgbClr val="4668F5"/>
              </a:buClr>
              <a:buSzPct val="68181"/>
              <a:buFont typeface="Wingdings"/>
              <a:buChar char=""/>
              <a:tabLst>
                <a:tab pos="1056640" algn="l"/>
              </a:tabLst>
            </a:pPr>
            <a:r>
              <a:rPr dirty="0" sz="2200" spc="-10" b="1">
                <a:solidFill>
                  <a:srgbClr val="9933FF"/>
                </a:solidFill>
                <a:latin typeface="黑体"/>
                <a:cs typeface="黑体"/>
              </a:rPr>
              <a:t>16</a:t>
            </a:r>
            <a:r>
              <a:rPr dirty="0" sz="2200" spc="-20" b="1">
                <a:solidFill>
                  <a:srgbClr val="9966FF"/>
                </a:solidFill>
                <a:latin typeface="宋体"/>
                <a:cs typeface="宋体"/>
              </a:rPr>
              <a:t>拍共执行</a:t>
            </a:r>
            <a:r>
              <a:rPr dirty="0" sz="2200" spc="-10" b="1">
                <a:solidFill>
                  <a:srgbClr val="9933FF"/>
                </a:solidFill>
                <a:latin typeface="黑体"/>
                <a:cs typeface="黑体"/>
              </a:rPr>
              <a:t>15</a:t>
            </a:r>
            <a:r>
              <a:rPr dirty="0" sz="2200" spc="-30" b="1">
                <a:solidFill>
                  <a:srgbClr val="9966FF"/>
                </a:solidFill>
                <a:latin typeface="宋体"/>
                <a:cs typeface="宋体"/>
              </a:rPr>
              <a:t>条指令，</a:t>
            </a:r>
            <a:endParaRPr sz="2200">
              <a:latin typeface="宋体"/>
              <a:cs typeface="宋体"/>
            </a:endParaRPr>
          </a:p>
          <a:p>
            <a:pPr marL="1056640" indent="-457834">
              <a:lnSpc>
                <a:spcPct val="100000"/>
              </a:lnSpc>
              <a:spcBef>
                <a:spcPts val="795"/>
              </a:spcBef>
              <a:buClr>
                <a:srgbClr val="4668F5"/>
              </a:buClr>
              <a:buSzPct val="68181"/>
              <a:buFont typeface="Wingdings"/>
              <a:buChar char=""/>
              <a:tabLst>
                <a:tab pos="1056640" algn="l"/>
              </a:tabLst>
            </a:pPr>
            <a:r>
              <a:rPr dirty="0" sz="2200" spc="-20" b="1">
                <a:solidFill>
                  <a:srgbClr val="9966FF"/>
                </a:solidFill>
                <a:latin typeface="宋体"/>
                <a:cs typeface="宋体"/>
              </a:rPr>
              <a:t>平均指令执行速度为</a:t>
            </a:r>
            <a:r>
              <a:rPr dirty="0" sz="2200" spc="-10" b="1">
                <a:solidFill>
                  <a:srgbClr val="9933FF"/>
                </a:solidFill>
                <a:latin typeface="黑体"/>
                <a:cs typeface="黑体"/>
              </a:rPr>
              <a:t>15/16</a:t>
            </a:r>
            <a:r>
              <a:rPr dirty="0" sz="2200" spc="-10" b="1">
                <a:solidFill>
                  <a:srgbClr val="9933FF"/>
                </a:solidFill>
                <a:latin typeface="宋体"/>
                <a:cs typeface="宋体"/>
              </a:rPr>
              <a:t>＝</a:t>
            </a:r>
            <a:r>
              <a:rPr dirty="0" sz="2200" spc="-10" b="1">
                <a:solidFill>
                  <a:srgbClr val="9933FF"/>
                </a:solidFill>
                <a:latin typeface="黑体"/>
                <a:cs typeface="黑体"/>
              </a:rPr>
              <a:t>0.94</a:t>
            </a:r>
            <a:r>
              <a:rPr dirty="0" sz="2200" spc="-20" b="1">
                <a:solidFill>
                  <a:srgbClr val="9966FF"/>
                </a:solidFill>
                <a:latin typeface="宋体"/>
                <a:cs typeface="宋体"/>
              </a:rPr>
              <a:t>条</a:t>
            </a:r>
            <a:r>
              <a:rPr dirty="0" sz="2200" spc="-10" b="1">
                <a:solidFill>
                  <a:srgbClr val="9966FF"/>
                </a:solidFill>
                <a:latin typeface="黑体"/>
                <a:cs typeface="黑体"/>
              </a:rPr>
              <a:t>/</a:t>
            </a:r>
            <a:r>
              <a:rPr dirty="0" sz="2200" spc="-35" b="1">
                <a:solidFill>
                  <a:srgbClr val="9966FF"/>
                </a:solidFill>
                <a:latin typeface="宋体"/>
                <a:cs typeface="宋体"/>
              </a:rPr>
              <a:t>拍。</a:t>
            </a:r>
            <a:endParaRPr sz="2200">
              <a:latin typeface="宋体"/>
              <a:cs typeface="宋体"/>
            </a:endParaRPr>
          </a:p>
          <a:p>
            <a:pPr marL="1099185" indent="-457200">
              <a:lnSpc>
                <a:spcPct val="100000"/>
              </a:lnSpc>
              <a:spcBef>
                <a:spcPts val="830"/>
              </a:spcBef>
              <a:buSzPct val="89583"/>
              <a:buFont typeface="Wingdings"/>
              <a:buChar char=""/>
              <a:tabLst>
                <a:tab pos="1099185" algn="l"/>
              </a:tabLst>
            </a:pPr>
            <a:r>
              <a:rPr dirty="0" sz="2400" spc="-10">
                <a:solidFill>
                  <a:srgbClr val="40458B"/>
                </a:solidFill>
                <a:latin typeface="黑体"/>
                <a:cs typeface="黑体"/>
              </a:rPr>
              <a:t>原因是浮点运算少，ALU</a:t>
            </a:r>
            <a:r>
              <a:rPr dirty="0" sz="2400" spc="-20">
                <a:solidFill>
                  <a:srgbClr val="40458B"/>
                </a:solidFill>
                <a:latin typeface="黑体"/>
                <a:cs typeface="黑体"/>
              </a:rPr>
              <a:t>部件成了瓶颈。</a:t>
            </a:r>
            <a:endParaRPr sz="2400">
              <a:latin typeface="黑体"/>
              <a:cs typeface="黑体"/>
            </a:endParaRPr>
          </a:p>
          <a:p>
            <a:pPr marL="1117600">
              <a:lnSpc>
                <a:spcPct val="100000"/>
              </a:lnSpc>
              <a:spcBef>
                <a:spcPts val="870"/>
              </a:spcBef>
            </a:pPr>
            <a:r>
              <a:rPr dirty="0" sz="2400">
                <a:solidFill>
                  <a:srgbClr val="D50092"/>
                </a:solidFill>
                <a:latin typeface="黑体"/>
                <a:cs typeface="黑体"/>
              </a:rPr>
              <a:t>解决方法：</a:t>
            </a:r>
            <a:r>
              <a:rPr dirty="0" sz="2400">
                <a:solidFill>
                  <a:srgbClr val="40458B"/>
                </a:solidFill>
                <a:latin typeface="黑体"/>
                <a:cs typeface="黑体"/>
              </a:rPr>
              <a:t>增加一个加法器，把ALU</a:t>
            </a:r>
            <a:r>
              <a:rPr dirty="0" sz="2400" spc="-5">
                <a:solidFill>
                  <a:srgbClr val="40458B"/>
                </a:solidFill>
                <a:latin typeface="黑体"/>
                <a:cs typeface="黑体"/>
              </a:rPr>
              <a:t>功能和地址运算功能分开。</a:t>
            </a:r>
            <a:endParaRPr sz="2400">
              <a:latin typeface="黑体"/>
              <a:cs typeface="黑体"/>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176/175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2212594" y="1346707"/>
            <a:ext cx="7951470" cy="4361180"/>
          </a:xfrm>
          <a:prstGeom prst="rect">
            <a:avLst/>
          </a:prstGeom>
        </p:spPr>
        <p:txBody>
          <a:bodyPr wrap="square" lIns="0" tIns="158750" rIns="0" bIns="0" rtlCol="0" vert="horz">
            <a:spAutoFit/>
          </a:bodyPr>
          <a:lstStyle/>
          <a:p>
            <a:pPr marL="469265" indent="-456565">
              <a:lnSpc>
                <a:spcPct val="100000"/>
              </a:lnSpc>
              <a:spcBef>
                <a:spcPts val="1250"/>
              </a:spcBef>
              <a:buClr>
                <a:srgbClr val="40458B"/>
              </a:buClr>
              <a:buAutoNum type="arabicPeriod" startAt="3"/>
              <a:tabLst>
                <a:tab pos="469265" algn="l"/>
              </a:tabLst>
            </a:pPr>
            <a:r>
              <a:rPr dirty="0" sz="2400">
                <a:solidFill>
                  <a:srgbClr val="001F5F"/>
                </a:solidFill>
                <a:latin typeface="黑体"/>
                <a:cs typeface="黑体"/>
              </a:rPr>
              <a:t>上述双流出动态调度流水线的性能受限于以下3</a:t>
            </a:r>
            <a:r>
              <a:rPr dirty="0" sz="2400" spc="-15">
                <a:solidFill>
                  <a:srgbClr val="001F5F"/>
                </a:solidFill>
                <a:latin typeface="黑体"/>
                <a:cs typeface="黑体"/>
              </a:rPr>
              <a:t>个因素：</a:t>
            </a:r>
            <a:endParaRPr sz="2400">
              <a:latin typeface="黑体"/>
              <a:cs typeface="黑体"/>
            </a:endParaRPr>
          </a:p>
          <a:p>
            <a:pPr lvl="1" marL="1099185" marR="443230" indent="-457200">
              <a:lnSpc>
                <a:spcPct val="120000"/>
              </a:lnSpc>
              <a:spcBef>
                <a:spcPts val="575"/>
              </a:spcBef>
              <a:buSzPct val="89583"/>
              <a:buFont typeface="Wingdings"/>
              <a:buChar char=""/>
              <a:tabLst>
                <a:tab pos="1099185" algn="l"/>
              </a:tabLst>
            </a:pPr>
            <a:r>
              <a:rPr dirty="0" sz="2400" spc="-5">
                <a:solidFill>
                  <a:srgbClr val="40458B"/>
                </a:solidFill>
                <a:latin typeface="黑体"/>
                <a:cs typeface="黑体"/>
              </a:rPr>
              <a:t>整数部件和浮点部件的工作负载不平衡，没有充</a:t>
            </a:r>
            <a:r>
              <a:rPr dirty="0" sz="2400" spc="-15">
                <a:solidFill>
                  <a:srgbClr val="40458B"/>
                </a:solidFill>
                <a:latin typeface="黑体"/>
                <a:cs typeface="黑体"/>
              </a:rPr>
              <a:t>分发挥出浮点部件的作用。</a:t>
            </a:r>
            <a:endParaRPr sz="2400">
              <a:latin typeface="黑体"/>
              <a:cs typeface="黑体"/>
            </a:endParaRPr>
          </a:p>
          <a:p>
            <a:pPr marL="845819">
              <a:lnSpc>
                <a:spcPct val="100000"/>
              </a:lnSpc>
              <a:spcBef>
                <a:spcPts val="1090"/>
              </a:spcBef>
            </a:pPr>
            <a:r>
              <a:rPr dirty="0" sz="2200" spc="-25" b="1">
                <a:solidFill>
                  <a:srgbClr val="9966FF"/>
                </a:solidFill>
                <a:latin typeface="宋体"/>
                <a:cs typeface="宋体"/>
              </a:rPr>
              <a:t>应该设法减少循环中整数型指令的数量。</a:t>
            </a:r>
            <a:endParaRPr sz="2200">
              <a:latin typeface="宋体"/>
              <a:cs typeface="宋体"/>
            </a:endParaRPr>
          </a:p>
          <a:p>
            <a:pPr lvl="1" marL="1099185" indent="-457200">
              <a:lnSpc>
                <a:spcPct val="100000"/>
              </a:lnSpc>
              <a:spcBef>
                <a:spcPts val="1120"/>
              </a:spcBef>
              <a:buSzPct val="89583"/>
              <a:buFont typeface="Wingdings"/>
              <a:buChar char=""/>
              <a:tabLst>
                <a:tab pos="1099185" algn="l"/>
              </a:tabLst>
            </a:pPr>
            <a:r>
              <a:rPr dirty="0" sz="2400" spc="-5">
                <a:solidFill>
                  <a:srgbClr val="40458B"/>
                </a:solidFill>
                <a:latin typeface="黑体"/>
                <a:cs typeface="黑体"/>
              </a:rPr>
              <a:t>每个循环叠代中的控制开销太大。</a:t>
            </a:r>
            <a:endParaRPr sz="2400">
              <a:latin typeface="黑体"/>
              <a:cs typeface="黑体"/>
            </a:endParaRPr>
          </a:p>
          <a:p>
            <a:pPr marL="1056005" indent="-457200">
              <a:lnSpc>
                <a:spcPct val="100000"/>
              </a:lnSpc>
              <a:spcBef>
                <a:spcPts val="1095"/>
              </a:spcBef>
              <a:buClr>
                <a:srgbClr val="4668F5"/>
              </a:buClr>
              <a:buSzPct val="68181"/>
              <a:buFont typeface="Wingdings"/>
              <a:buChar char=""/>
              <a:tabLst>
                <a:tab pos="1056005" algn="l"/>
              </a:tabLst>
            </a:pPr>
            <a:r>
              <a:rPr dirty="0" sz="2200" spc="-10" b="1">
                <a:solidFill>
                  <a:srgbClr val="9933FF"/>
                </a:solidFill>
                <a:latin typeface="宋体"/>
                <a:cs typeface="宋体"/>
              </a:rPr>
              <a:t>5</a:t>
            </a:r>
            <a:r>
              <a:rPr dirty="0" sz="2200" spc="-25" b="1">
                <a:solidFill>
                  <a:srgbClr val="9966FF"/>
                </a:solidFill>
                <a:latin typeface="宋体"/>
                <a:cs typeface="宋体"/>
              </a:rPr>
              <a:t>条指令中有两条指令是辅助指令；</a:t>
            </a:r>
            <a:endParaRPr sz="2200">
              <a:latin typeface="宋体"/>
              <a:cs typeface="宋体"/>
            </a:endParaRPr>
          </a:p>
          <a:p>
            <a:pPr marL="1056005" indent="-457200">
              <a:lnSpc>
                <a:spcPct val="100000"/>
              </a:lnSpc>
              <a:spcBef>
                <a:spcPts val="1055"/>
              </a:spcBef>
              <a:buClr>
                <a:srgbClr val="4668F5"/>
              </a:buClr>
              <a:buSzPct val="68181"/>
              <a:buFont typeface="Wingdings"/>
              <a:buChar char=""/>
              <a:tabLst>
                <a:tab pos="1056005" algn="l"/>
              </a:tabLst>
            </a:pPr>
            <a:r>
              <a:rPr dirty="0" sz="2200" spc="-25" b="1">
                <a:solidFill>
                  <a:srgbClr val="9966FF"/>
                </a:solidFill>
                <a:latin typeface="宋体"/>
                <a:cs typeface="宋体"/>
              </a:rPr>
              <a:t>应该设法减少或消除这些指令。</a:t>
            </a:r>
            <a:endParaRPr sz="2200">
              <a:latin typeface="宋体"/>
              <a:cs typeface="宋体"/>
            </a:endParaRPr>
          </a:p>
          <a:p>
            <a:pPr marL="1099185" marR="443230" indent="-457200">
              <a:lnSpc>
                <a:spcPct val="120100"/>
              </a:lnSpc>
              <a:spcBef>
                <a:spcPts val="540"/>
              </a:spcBef>
              <a:buSzPct val="89583"/>
              <a:buFont typeface="Wingdings"/>
              <a:buChar char=""/>
              <a:tabLst>
                <a:tab pos="1099185" algn="l"/>
              </a:tabLst>
            </a:pPr>
            <a:r>
              <a:rPr dirty="0" sz="2400" spc="-5">
                <a:solidFill>
                  <a:srgbClr val="40458B"/>
                </a:solidFill>
                <a:latin typeface="黑体"/>
                <a:cs typeface="黑体"/>
              </a:rPr>
              <a:t>控制相关使得处理机必须等到分支指令的结果出</a:t>
            </a:r>
            <a:r>
              <a:rPr dirty="0" sz="2400">
                <a:solidFill>
                  <a:srgbClr val="40458B"/>
                </a:solidFill>
                <a:latin typeface="黑体"/>
                <a:cs typeface="黑体"/>
              </a:rPr>
              <a:t>来后才能开始下一条</a:t>
            </a:r>
            <a:r>
              <a:rPr dirty="0" sz="2400" spc="-10">
                <a:solidFill>
                  <a:srgbClr val="9933FF"/>
                </a:solidFill>
                <a:latin typeface="黑体"/>
                <a:cs typeface="黑体"/>
              </a:rPr>
              <a:t>L.D</a:t>
            </a:r>
            <a:r>
              <a:rPr dirty="0" sz="2400" spc="-10">
                <a:solidFill>
                  <a:srgbClr val="40458B"/>
                </a:solidFill>
                <a:latin typeface="黑体"/>
                <a:cs typeface="黑体"/>
              </a:rPr>
              <a:t>指令的执行。</a:t>
            </a:r>
            <a:endParaRPr sz="2400">
              <a:latin typeface="黑体"/>
              <a:cs typeface="黑体"/>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177/175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413715" y="1023620"/>
            <a:ext cx="10847070" cy="4298950"/>
          </a:xfrm>
          <a:prstGeom prst="rect">
            <a:avLst/>
          </a:prstGeom>
        </p:spPr>
        <p:txBody>
          <a:bodyPr wrap="square" lIns="0" tIns="13335" rIns="0" bIns="0" rtlCol="0" vert="horz">
            <a:spAutoFit/>
          </a:bodyPr>
          <a:lstStyle/>
          <a:p>
            <a:pPr marL="979169">
              <a:lnSpc>
                <a:spcPct val="100000"/>
              </a:lnSpc>
              <a:spcBef>
                <a:spcPts val="105"/>
              </a:spcBef>
            </a:pPr>
            <a:r>
              <a:rPr dirty="0" sz="2600">
                <a:solidFill>
                  <a:srgbClr val="0000CC"/>
                </a:solidFill>
                <a:latin typeface="黑体"/>
                <a:cs typeface="黑体"/>
              </a:rPr>
              <a:t>5.5.3</a:t>
            </a:r>
            <a:r>
              <a:rPr dirty="0" sz="2600" spc="-15">
                <a:solidFill>
                  <a:srgbClr val="0000CC"/>
                </a:solidFill>
                <a:latin typeface="黑体"/>
                <a:cs typeface="黑体"/>
              </a:rPr>
              <a:t> 超长指令字技术</a:t>
            </a:r>
            <a:endParaRPr sz="2600">
              <a:latin typeface="黑体"/>
              <a:cs typeface="黑体"/>
            </a:endParaRPr>
          </a:p>
          <a:p>
            <a:pPr>
              <a:lnSpc>
                <a:spcPct val="100000"/>
              </a:lnSpc>
              <a:spcBef>
                <a:spcPts val="1550"/>
              </a:spcBef>
            </a:pPr>
            <a:endParaRPr sz="2600">
              <a:latin typeface="黑体"/>
              <a:cs typeface="黑体"/>
            </a:endParaRPr>
          </a:p>
          <a:p>
            <a:pPr marL="469265" indent="-456565">
              <a:lnSpc>
                <a:spcPct val="100000"/>
              </a:lnSpc>
              <a:buFont typeface="Wingdings"/>
              <a:buChar char=""/>
              <a:tabLst>
                <a:tab pos="469265" algn="l"/>
              </a:tabLst>
            </a:pPr>
            <a:r>
              <a:rPr dirty="0" sz="2400" spc="-5">
                <a:solidFill>
                  <a:srgbClr val="40458B"/>
                </a:solidFill>
                <a:latin typeface="黑体"/>
                <a:cs typeface="黑体"/>
              </a:rPr>
              <a:t>把能并行执行的多条指令组装成一条很长的指令；</a:t>
            </a:r>
            <a:endParaRPr sz="2400">
              <a:latin typeface="黑体"/>
              <a:cs typeface="黑体"/>
            </a:endParaRPr>
          </a:p>
          <a:p>
            <a:pPr marL="598805">
              <a:lnSpc>
                <a:spcPct val="100000"/>
              </a:lnSpc>
              <a:spcBef>
                <a:spcPts val="1090"/>
              </a:spcBef>
            </a:pPr>
            <a:r>
              <a:rPr dirty="0" sz="2200" spc="-10" b="1">
                <a:solidFill>
                  <a:srgbClr val="9966FF"/>
                </a:solidFill>
                <a:latin typeface="宋体"/>
                <a:cs typeface="宋体"/>
              </a:rPr>
              <a:t>（100</a:t>
            </a:r>
            <a:r>
              <a:rPr dirty="0" sz="2200" spc="-20" b="1">
                <a:solidFill>
                  <a:srgbClr val="9966FF"/>
                </a:solidFill>
                <a:latin typeface="宋体"/>
                <a:cs typeface="宋体"/>
              </a:rPr>
              <a:t>多位到几百位</a:t>
            </a:r>
            <a:r>
              <a:rPr dirty="0" sz="2200" spc="-50" b="1">
                <a:solidFill>
                  <a:srgbClr val="9966FF"/>
                </a:solidFill>
                <a:latin typeface="宋体"/>
                <a:cs typeface="宋体"/>
              </a:rPr>
              <a:t>）</a:t>
            </a:r>
            <a:endParaRPr sz="2200">
              <a:latin typeface="宋体"/>
              <a:cs typeface="宋体"/>
            </a:endParaRPr>
          </a:p>
          <a:p>
            <a:pPr marL="469265" indent="-456565">
              <a:lnSpc>
                <a:spcPct val="100000"/>
              </a:lnSpc>
              <a:spcBef>
                <a:spcPts val="1125"/>
              </a:spcBef>
              <a:buFont typeface="Wingdings"/>
              <a:buChar char=""/>
              <a:tabLst>
                <a:tab pos="469265" algn="l"/>
              </a:tabLst>
            </a:pPr>
            <a:r>
              <a:rPr dirty="0" sz="2400" spc="-10">
                <a:solidFill>
                  <a:srgbClr val="40458B"/>
                </a:solidFill>
                <a:latin typeface="黑体"/>
                <a:cs typeface="黑体"/>
              </a:rPr>
              <a:t>设置多个功能部件；</a:t>
            </a:r>
            <a:endParaRPr sz="2400">
              <a:latin typeface="黑体"/>
              <a:cs typeface="黑体"/>
            </a:endParaRPr>
          </a:p>
          <a:p>
            <a:pPr marL="469265" marR="5080" indent="-457200">
              <a:lnSpc>
                <a:spcPct val="120000"/>
              </a:lnSpc>
              <a:spcBef>
                <a:spcPts val="575"/>
              </a:spcBef>
              <a:buFont typeface="Wingdings"/>
              <a:buChar char=""/>
              <a:tabLst>
                <a:tab pos="469265" algn="l"/>
              </a:tabLst>
            </a:pPr>
            <a:r>
              <a:rPr dirty="0" sz="2400">
                <a:solidFill>
                  <a:srgbClr val="40458B"/>
                </a:solidFill>
                <a:latin typeface="黑体"/>
                <a:cs typeface="黑体"/>
              </a:rPr>
              <a:t>指令字被分割成一些字段，每个字段称为一个</a:t>
            </a:r>
            <a:r>
              <a:rPr dirty="0" sz="2400">
                <a:solidFill>
                  <a:srgbClr val="D50092"/>
                </a:solidFill>
                <a:latin typeface="黑体"/>
                <a:cs typeface="黑体"/>
              </a:rPr>
              <a:t>操作槽</a:t>
            </a:r>
            <a:r>
              <a:rPr dirty="0" sz="2400" spc="-5">
                <a:solidFill>
                  <a:srgbClr val="40458B"/>
                </a:solidFill>
                <a:latin typeface="黑体"/>
                <a:cs typeface="黑体"/>
              </a:rPr>
              <a:t>，直接独立地控制一个功</a:t>
            </a:r>
            <a:r>
              <a:rPr dirty="0" sz="2400" spc="-20">
                <a:solidFill>
                  <a:srgbClr val="40458B"/>
                </a:solidFill>
                <a:latin typeface="黑体"/>
                <a:cs typeface="黑体"/>
              </a:rPr>
              <a:t>能部件；</a:t>
            </a:r>
            <a:endParaRPr sz="2400">
              <a:latin typeface="黑体"/>
              <a:cs typeface="黑体"/>
            </a:endParaRPr>
          </a:p>
          <a:p>
            <a:pPr marL="469265" marR="197485" indent="-457200">
              <a:lnSpc>
                <a:spcPct val="120000"/>
              </a:lnSpc>
              <a:spcBef>
                <a:spcPts val="575"/>
              </a:spcBef>
              <a:buFont typeface="Wingdings"/>
              <a:buChar char=""/>
              <a:tabLst>
                <a:tab pos="469265" algn="l"/>
              </a:tabLst>
            </a:pPr>
            <a:r>
              <a:rPr dirty="0" sz="2400">
                <a:solidFill>
                  <a:srgbClr val="40458B"/>
                </a:solidFill>
                <a:latin typeface="黑体"/>
                <a:cs typeface="黑体"/>
              </a:rPr>
              <a:t>在</a:t>
            </a:r>
            <a:r>
              <a:rPr dirty="0" sz="2400" spc="-20">
                <a:solidFill>
                  <a:srgbClr val="40458B"/>
                </a:solidFill>
                <a:latin typeface="Tahoma"/>
                <a:cs typeface="Tahoma"/>
              </a:rPr>
              <a:t>VLIW</a:t>
            </a:r>
            <a:r>
              <a:rPr dirty="0" sz="2400" spc="-5">
                <a:solidFill>
                  <a:srgbClr val="40458B"/>
                </a:solidFill>
                <a:latin typeface="黑体"/>
                <a:cs typeface="黑体"/>
              </a:rPr>
              <a:t>处理机中，在指令流出时不需要进行复杂的冲突检测，而是依靠编译</a:t>
            </a:r>
            <a:r>
              <a:rPr dirty="0" sz="2400" spc="-10">
                <a:solidFill>
                  <a:srgbClr val="40458B"/>
                </a:solidFill>
                <a:latin typeface="黑体"/>
                <a:cs typeface="黑体"/>
              </a:rPr>
              <a:t>器全部安排好了。</a:t>
            </a:r>
            <a:endParaRPr sz="2400">
              <a:latin typeface="黑体"/>
              <a:cs typeface="黑体"/>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178/175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845616" y="1274435"/>
            <a:ext cx="10586720" cy="4355465"/>
          </a:xfrm>
          <a:prstGeom prst="rect">
            <a:avLst/>
          </a:prstGeom>
        </p:spPr>
        <p:txBody>
          <a:bodyPr wrap="square" lIns="0" tIns="159385" rIns="0" bIns="0" rtlCol="0" vert="horz">
            <a:spAutoFit/>
          </a:bodyPr>
          <a:lstStyle/>
          <a:p>
            <a:pPr marL="468630" indent="-455930">
              <a:lnSpc>
                <a:spcPct val="100000"/>
              </a:lnSpc>
              <a:spcBef>
                <a:spcPts val="1255"/>
              </a:spcBef>
              <a:buClr>
                <a:srgbClr val="40458B"/>
              </a:buClr>
              <a:buAutoNum type="arabicPeriod" startAt="5"/>
              <a:tabLst>
                <a:tab pos="468630" algn="l"/>
              </a:tabLst>
            </a:pPr>
            <a:r>
              <a:rPr dirty="0" sz="2400" spc="-10">
                <a:solidFill>
                  <a:srgbClr val="001F5F"/>
                </a:solidFill>
                <a:latin typeface="黑体"/>
                <a:cs typeface="黑体"/>
              </a:rPr>
              <a:t>VLIW存在的一些问题</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10">
                <a:solidFill>
                  <a:srgbClr val="40458B"/>
                </a:solidFill>
                <a:latin typeface="黑体"/>
                <a:cs typeface="黑体"/>
              </a:rPr>
              <a:t>程序代码长度增加了</a:t>
            </a:r>
            <a:endParaRPr sz="2400">
              <a:latin typeface="黑体"/>
              <a:cs typeface="黑体"/>
            </a:endParaRPr>
          </a:p>
          <a:p>
            <a:pPr marL="1056005" indent="-457200">
              <a:lnSpc>
                <a:spcPct val="100000"/>
              </a:lnSpc>
              <a:spcBef>
                <a:spcPts val="1090"/>
              </a:spcBef>
              <a:buClr>
                <a:srgbClr val="4668F5"/>
              </a:buClr>
              <a:buSzPct val="68181"/>
              <a:buFont typeface="Wingdings"/>
              <a:buChar char=""/>
              <a:tabLst>
                <a:tab pos="1056005" algn="l"/>
              </a:tabLst>
            </a:pPr>
            <a:r>
              <a:rPr dirty="0" sz="2200" spc="-25" b="1">
                <a:solidFill>
                  <a:srgbClr val="9966FF"/>
                </a:solidFill>
                <a:latin typeface="宋体"/>
                <a:cs typeface="宋体"/>
              </a:rPr>
              <a:t>提高并行性而进行的大量的循环展开；</a:t>
            </a:r>
            <a:endParaRPr sz="2200">
              <a:latin typeface="宋体"/>
              <a:cs typeface="宋体"/>
            </a:endParaRPr>
          </a:p>
          <a:p>
            <a:pPr marL="1056005" indent="-457200">
              <a:lnSpc>
                <a:spcPct val="100000"/>
              </a:lnSpc>
              <a:spcBef>
                <a:spcPts val="1055"/>
              </a:spcBef>
              <a:buClr>
                <a:srgbClr val="4668F5"/>
              </a:buClr>
              <a:buSzPct val="68181"/>
              <a:buFont typeface="Wingdings"/>
              <a:buChar char=""/>
              <a:tabLst>
                <a:tab pos="1056005" algn="l"/>
              </a:tabLst>
            </a:pPr>
            <a:r>
              <a:rPr dirty="0" sz="2200" spc="-25" b="1">
                <a:solidFill>
                  <a:srgbClr val="9966FF"/>
                </a:solidFill>
                <a:latin typeface="宋体"/>
                <a:cs typeface="宋体"/>
              </a:rPr>
              <a:t>指令字中的操作槽并非总能填满。</a:t>
            </a:r>
            <a:endParaRPr sz="2200">
              <a:latin typeface="宋体"/>
              <a:cs typeface="宋体"/>
            </a:endParaRPr>
          </a:p>
          <a:p>
            <a:pPr marL="1056005" marR="5080" indent="-457200">
              <a:lnSpc>
                <a:spcPct val="120000"/>
              </a:lnSpc>
              <a:spcBef>
                <a:spcPts val="530"/>
              </a:spcBef>
            </a:pPr>
            <a:r>
              <a:rPr dirty="0" sz="2200" spc="-20" b="1">
                <a:solidFill>
                  <a:srgbClr val="D50092"/>
                </a:solidFill>
                <a:latin typeface="宋体"/>
                <a:cs typeface="宋体"/>
              </a:rPr>
              <a:t>解决：</a:t>
            </a:r>
            <a:r>
              <a:rPr dirty="0" sz="2200" spc="-20" b="1">
                <a:solidFill>
                  <a:srgbClr val="9966FF"/>
                </a:solidFill>
                <a:latin typeface="宋体"/>
                <a:cs typeface="宋体"/>
              </a:rPr>
              <a:t>采用指令共享立即数字段的方法，或者采用指令压缩存储、调入</a:t>
            </a:r>
            <a:r>
              <a:rPr dirty="0" sz="2200" spc="-10" b="1">
                <a:solidFill>
                  <a:srgbClr val="9933FF"/>
                </a:solidFill>
                <a:latin typeface="宋体"/>
                <a:cs typeface="宋体"/>
              </a:rPr>
              <a:t>Cache</a:t>
            </a:r>
            <a:r>
              <a:rPr dirty="0" sz="2200" spc="-35" b="1">
                <a:solidFill>
                  <a:srgbClr val="9966FF"/>
                </a:solidFill>
                <a:latin typeface="宋体"/>
                <a:cs typeface="宋体"/>
              </a:rPr>
              <a:t>或译</a:t>
            </a:r>
            <a:r>
              <a:rPr dirty="0" sz="2200" spc="-25" b="1">
                <a:solidFill>
                  <a:srgbClr val="9966FF"/>
                </a:solidFill>
                <a:latin typeface="宋体"/>
                <a:cs typeface="宋体"/>
              </a:rPr>
              <a:t>码时展开的方法。</a:t>
            </a:r>
            <a:endParaRPr sz="2200">
              <a:latin typeface="宋体"/>
              <a:cs typeface="宋体"/>
            </a:endParaRPr>
          </a:p>
          <a:p>
            <a:pPr marL="1099185" indent="-457200">
              <a:lnSpc>
                <a:spcPct val="100000"/>
              </a:lnSpc>
              <a:spcBef>
                <a:spcPts val="1120"/>
              </a:spcBef>
              <a:buSzPct val="89583"/>
              <a:buFont typeface="Wingdings"/>
              <a:buChar char=""/>
              <a:tabLst>
                <a:tab pos="1099185" algn="l"/>
              </a:tabLst>
            </a:pPr>
            <a:r>
              <a:rPr dirty="0" sz="2400" spc="-10">
                <a:solidFill>
                  <a:srgbClr val="40458B"/>
                </a:solidFill>
                <a:latin typeface="黑体"/>
                <a:cs typeface="黑体"/>
              </a:rPr>
              <a:t>采用了锁步机制</a:t>
            </a:r>
            <a:endParaRPr sz="2400">
              <a:latin typeface="黑体"/>
              <a:cs typeface="黑体"/>
            </a:endParaRPr>
          </a:p>
          <a:p>
            <a:pPr marL="929640">
              <a:lnSpc>
                <a:spcPct val="100000"/>
              </a:lnSpc>
              <a:spcBef>
                <a:spcPts val="1090"/>
              </a:spcBef>
            </a:pPr>
            <a:r>
              <a:rPr dirty="0" sz="2200" spc="-25" b="1">
                <a:solidFill>
                  <a:srgbClr val="9966FF"/>
                </a:solidFill>
                <a:latin typeface="宋体"/>
                <a:cs typeface="宋体"/>
              </a:rPr>
              <a:t>任何一个操作部件出现停顿时，整个处理机都要停顿。</a:t>
            </a:r>
            <a:endParaRPr sz="2200">
              <a:latin typeface="宋体"/>
              <a:cs typeface="宋体"/>
            </a:endParaRPr>
          </a:p>
          <a:p>
            <a:pPr marL="1099185" indent="-457200">
              <a:lnSpc>
                <a:spcPct val="100000"/>
              </a:lnSpc>
              <a:spcBef>
                <a:spcPts val="1120"/>
              </a:spcBef>
              <a:buSzPct val="89583"/>
              <a:buFont typeface="Wingdings"/>
              <a:buChar char=""/>
              <a:tabLst>
                <a:tab pos="1099185" algn="l"/>
              </a:tabLst>
            </a:pPr>
            <a:r>
              <a:rPr dirty="0" sz="2400" spc="-10">
                <a:solidFill>
                  <a:srgbClr val="40458B"/>
                </a:solidFill>
                <a:latin typeface="黑体"/>
                <a:cs typeface="黑体"/>
              </a:rPr>
              <a:t>机器代码的不兼容性</a:t>
            </a:r>
            <a:endParaRPr sz="2400">
              <a:latin typeface="黑体"/>
              <a:cs typeface="黑体"/>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179/175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1205890" y="840994"/>
            <a:ext cx="7185025" cy="3563620"/>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5.5.4</a:t>
            </a:r>
            <a:r>
              <a:rPr dirty="0" sz="2600" spc="-20">
                <a:solidFill>
                  <a:srgbClr val="0000CC"/>
                </a:solidFill>
                <a:latin typeface="黑体"/>
                <a:cs typeface="黑体"/>
              </a:rPr>
              <a:t> 多流出处理器受到的限制</a:t>
            </a:r>
            <a:endParaRPr sz="2600">
              <a:latin typeface="黑体"/>
              <a:cs typeface="黑体"/>
            </a:endParaRPr>
          </a:p>
          <a:p>
            <a:pPr marL="1146810" marR="1172845" indent="-629920">
              <a:lnSpc>
                <a:spcPct val="160000"/>
              </a:lnSpc>
              <a:spcBef>
                <a:spcPts val="2800"/>
              </a:spcBef>
            </a:pPr>
            <a:r>
              <a:rPr dirty="0" sz="2400" spc="-5">
                <a:solidFill>
                  <a:srgbClr val="001F5F"/>
                </a:solidFill>
                <a:latin typeface="黑体"/>
                <a:cs typeface="黑体"/>
              </a:rPr>
              <a:t>指令多流出处理器受哪些因素的限制呢？</a:t>
            </a:r>
            <a:r>
              <a:rPr dirty="0" sz="2400">
                <a:solidFill>
                  <a:srgbClr val="40458B"/>
                </a:solidFill>
                <a:latin typeface="黑体"/>
                <a:cs typeface="黑体"/>
              </a:rPr>
              <a:t>主要受以下</a:t>
            </a:r>
            <a:r>
              <a:rPr dirty="0" sz="2400">
                <a:solidFill>
                  <a:srgbClr val="9933FF"/>
                </a:solidFill>
                <a:latin typeface="Times New Roman"/>
                <a:cs typeface="Times New Roman"/>
              </a:rPr>
              <a:t>3</a:t>
            </a:r>
            <a:r>
              <a:rPr dirty="0" sz="2400" spc="-10">
                <a:solidFill>
                  <a:srgbClr val="40458B"/>
                </a:solidFill>
                <a:latin typeface="黑体"/>
                <a:cs typeface="黑体"/>
              </a:rPr>
              <a:t>个方面的影响：</a:t>
            </a:r>
            <a:endParaRPr sz="2400">
              <a:latin typeface="黑体"/>
              <a:cs typeface="黑体"/>
            </a:endParaRPr>
          </a:p>
          <a:p>
            <a:pPr marL="1561465" indent="-457200">
              <a:lnSpc>
                <a:spcPct val="100000"/>
              </a:lnSpc>
              <a:spcBef>
                <a:spcPts val="1630"/>
              </a:spcBef>
              <a:buClr>
                <a:srgbClr val="4668F5"/>
              </a:buClr>
              <a:buSzPct val="68181"/>
              <a:buFont typeface="Wingdings"/>
              <a:buChar char=""/>
              <a:tabLst>
                <a:tab pos="1561465" algn="l"/>
              </a:tabLst>
            </a:pPr>
            <a:r>
              <a:rPr dirty="0" sz="2200" spc="-25" b="1">
                <a:solidFill>
                  <a:srgbClr val="9966FF"/>
                </a:solidFill>
                <a:latin typeface="宋体"/>
                <a:cs typeface="宋体"/>
              </a:rPr>
              <a:t>程序所固有的指令级并行性；</a:t>
            </a:r>
            <a:endParaRPr sz="2200">
              <a:latin typeface="宋体"/>
              <a:cs typeface="宋体"/>
            </a:endParaRPr>
          </a:p>
          <a:p>
            <a:pPr marL="1561465" indent="-457200">
              <a:lnSpc>
                <a:spcPct val="100000"/>
              </a:lnSpc>
              <a:spcBef>
                <a:spcPts val="1585"/>
              </a:spcBef>
              <a:buClr>
                <a:srgbClr val="4668F5"/>
              </a:buClr>
              <a:buSzPct val="68181"/>
              <a:buFont typeface="Wingdings"/>
              <a:buChar char=""/>
              <a:tabLst>
                <a:tab pos="1561465" algn="l"/>
              </a:tabLst>
            </a:pPr>
            <a:r>
              <a:rPr dirty="0" sz="2200" spc="-25" b="1">
                <a:solidFill>
                  <a:srgbClr val="9966FF"/>
                </a:solidFill>
                <a:latin typeface="宋体"/>
                <a:cs typeface="宋体"/>
              </a:rPr>
              <a:t>硬件实现上的困难；</a:t>
            </a:r>
            <a:endParaRPr sz="2200">
              <a:latin typeface="宋体"/>
              <a:cs typeface="宋体"/>
            </a:endParaRPr>
          </a:p>
          <a:p>
            <a:pPr marL="1561465" indent="-457200">
              <a:lnSpc>
                <a:spcPct val="100000"/>
              </a:lnSpc>
              <a:spcBef>
                <a:spcPts val="1585"/>
              </a:spcBef>
              <a:buClr>
                <a:srgbClr val="4668F5"/>
              </a:buClr>
              <a:buSzPct val="68181"/>
              <a:buFont typeface="Wingdings"/>
              <a:buChar char=""/>
              <a:tabLst>
                <a:tab pos="1561465" algn="l"/>
              </a:tabLst>
            </a:pPr>
            <a:r>
              <a:rPr dirty="0" sz="2200" spc="-30" b="1">
                <a:solidFill>
                  <a:srgbClr val="9966FF"/>
                </a:solidFill>
                <a:latin typeface="宋体"/>
                <a:cs typeface="宋体"/>
              </a:rPr>
              <a:t>超标量和超长指令字处理器固有的技术限制。</a:t>
            </a:r>
            <a:endParaRPr sz="2200">
              <a:latin typeface="宋体"/>
              <a:cs typeface="宋体"/>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180/175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821842" y="923670"/>
            <a:ext cx="11151870" cy="3574415"/>
          </a:xfrm>
          <a:prstGeom prst="rect">
            <a:avLst/>
          </a:prstGeom>
        </p:spPr>
        <p:txBody>
          <a:bodyPr wrap="square" lIns="0" tIns="13335" rIns="0" bIns="0" rtlCol="0" vert="horz">
            <a:spAutoFit/>
          </a:bodyPr>
          <a:lstStyle/>
          <a:p>
            <a:pPr marL="552450">
              <a:lnSpc>
                <a:spcPct val="100000"/>
              </a:lnSpc>
              <a:spcBef>
                <a:spcPts val="105"/>
              </a:spcBef>
            </a:pPr>
            <a:r>
              <a:rPr dirty="0" sz="2600">
                <a:solidFill>
                  <a:srgbClr val="0000CC"/>
                </a:solidFill>
                <a:latin typeface="黑体"/>
                <a:cs typeface="黑体"/>
              </a:rPr>
              <a:t>5.5.5</a:t>
            </a:r>
            <a:r>
              <a:rPr dirty="0" sz="2600" spc="-15">
                <a:solidFill>
                  <a:srgbClr val="0000CC"/>
                </a:solidFill>
                <a:latin typeface="黑体"/>
                <a:cs typeface="黑体"/>
              </a:rPr>
              <a:t> 超流水线处理机</a:t>
            </a:r>
            <a:endParaRPr sz="2600">
              <a:latin typeface="黑体"/>
              <a:cs typeface="黑体"/>
            </a:endParaRPr>
          </a:p>
          <a:p>
            <a:pPr>
              <a:lnSpc>
                <a:spcPct val="100000"/>
              </a:lnSpc>
              <a:spcBef>
                <a:spcPts val="700"/>
              </a:spcBef>
            </a:pPr>
            <a:endParaRPr sz="2600">
              <a:latin typeface="黑体"/>
              <a:cs typeface="黑体"/>
            </a:endParaRPr>
          </a:p>
          <a:p>
            <a:pPr marL="469265" marR="6985" indent="-457200">
              <a:lnSpc>
                <a:spcPct val="110000"/>
              </a:lnSpc>
              <a:buFont typeface="Wingdings"/>
              <a:buChar char=""/>
              <a:tabLst>
                <a:tab pos="469265" algn="l"/>
              </a:tabLst>
            </a:pPr>
            <a:r>
              <a:rPr dirty="0" sz="2400" spc="-5">
                <a:solidFill>
                  <a:srgbClr val="40458B"/>
                </a:solidFill>
                <a:latin typeface="黑体"/>
                <a:cs typeface="黑体"/>
              </a:rPr>
              <a:t>将每个流水段进一步细分，这样在一个时钟周期内能够分时流出多条指令。这种</a:t>
            </a:r>
            <a:r>
              <a:rPr dirty="0" sz="2400">
                <a:solidFill>
                  <a:srgbClr val="40458B"/>
                </a:solidFill>
                <a:latin typeface="黑体"/>
                <a:cs typeface="黑体"/>
              </a:rPr>
              <a:t>处理机称为</a:t>
            </a:r>
            <a:r>
              <a:rPr dirty="0" sz="2400" spc="-10">
                <a:solidFill>
                  <a:srgbClr val="FF0000"/>
                </a:solidFill>
                <a:latin typeface="黑体"/>
                <a:cs typeface="黑体"/>
              </a:rPr>
              <a:t>超流水线处理机。</a:t>
            </a:r>
            <a:endParaRPr sz="2400">
              <a:latin typeface="黑体"/>
              <a:cs typeface="黑体"/>
            </a:endParaRPr>
          </a:p>
          <a:p>
            <a:pPr marL="469265" indent="-456565">
              <a:lnSpc>
                <a:spcPct val="100000"/>
              </a:lnSpc>
              <a:spcBef>
                <a:spcPts val="865"/>
              </a:spcBef>
              <a:buFont typeface="Wingdings"/>
              <a:buChar char=""/>
              <a:tabLst>
                <a:tab pos="469265" algn="l"/>
              </a:tabLst>
            </a:pPr>
            <a:r>
              <a:rPr dirty="0" sz="2400" spc="-10">
                <a:solidFill>
                  <a:srgbClr val="40458B"/>
                </a:solidFill>
                <a:latin typeface="黑体"/>
                <a:cs typeface="黑体"/>
              </a:rPr>
              <a:t>对于一台每个时钟周期能流出</a:t>
            </a:r>
            <a:r>
              <a:rPr dirty="0" sz="2400" spc="-10">
                <a:solidFill>
                  <a:srgbClr val="9933FF"/>
                </a:solidFill>
                <a:latin typeface="黑体"/>
                <a:cs typeface="黑体"/>
              </a:rPr>
              <a:t>n条</a:t>
            </a:r>
            <a:r>
              <a:rPr dirty="0" sz="2400" spc="-10">
                <a:solidFill>
                  <a:srgbClr val="40458B"/>
                </a:solidFill>
                <a:latin typeface="黑体"/>
                <a:cs typeface="黑体"/>
              </a:rPr>
              <a:t>指令的超流水线计算机来说，这</a:t>
            </a:r>
            <a:r>
              <a:rPr dirty="0" sz="2400" spc="-10">
                <a:solidFill>
                  <a:srgbClr val="9933FF"/>
                </a:solidFill>
                <a:latin typeface="黑体"/>
                <a:cs typeface="黑体"/>
              </a:rPr>
              <a:t>n条</a:t>
            </a:r>
            <a:r>
              <a:rPr dirty="0" sz="2400" spc="-20">
                <a:solidFill>
                  <a:srgbClr val="40458B"/>
                </a:solidFill>
                <a:latin typeface="黑体"/>
                <a:cs typeface="黑体"/>
              </a:rPr>
              <a:t>指令不是同</a:t>
            </a:r>
            <a:endParaRPr sz="2400">
              <a:latin typeface="黑体"/>
              <a:cs typeface="黑体"/>
            </a:endParaRPr>
          </a:p>
          <a:p>
            <a:pPr marL="469265">
              <a:lnSpc>
                <a:spcPct val="100000"/>
              </a:lnSpc>
              <a:spcBef>
                <a:spcPts val="290"/>
              </a:spcBef>
            </a:pPr>
            <a:r>
              <a:rPr dirty="0" sz="2400">
                <a:solidFill>
                  <a:srgbClr val="40458B"/>
                </a:solidFill>
                <a:latin typeface="黑体"/>
                <a:cs typeface="黑体"/>
              </a:rPr>
              <a:t>时流出的，而是每隔</a:t>
            </a:r>
            <a:r>
              <a:rPr dirty="0" sz="2400">
                <a:solidFill>
                  <a:srgbClr val="9933FF"/>
                </a:solidFill>
                <a:latin typeface="黑体"/>
                <a:cs typeface="黑体"/>
              </a:rPr>
              <a:t>1/n</a:t>
            </a:r>
            <a:r>
              <a:rPr dirty="0" sz="2400" spc="-5">
                <a:solidFill>
                  <a:srgbClr val="40458B"/>
                </a:solidFill>
                <a:latin typeface="黑体"/>
                <a:cs typeface="黑体"/>
              </a:rPr>
              <a:t>个时钟周期流出一条指令。</a:t>
            </a:r>
            <a:endParaRPr sz="2400">
              <a:latin typeface="黑体"/>
              <a:cs typeface="黑体"/>
            </a:endParaRPr>
          </a:p>
          <a:p>
            <a:pPr lvl="1" marL="1099185" indent="-457200">
              <a:lnSpc>
                <a:spcPct val="100000"/>
              </a:lnSpc>
              <a:spcBef>
                <a:spcPts val="860"/>
              </a:spcBef>
              <a:buSzPct val="89583"/>
              <a:buFont typeface="Wingdings"/>
              <a:buChar char=""/>
              <a:tabLst>
                <a:tab pos="1099185" algn="l"/>
              </a:tabLst>
            </a:pPr>
            <a:r>
              <a:rPr dirty="0" sz="2400">
                <a:solidFill>
                  <a:srgbClr val="40458B"/>
                </a:solidFill>
                <a:latin typeface="黑体"/>
                <a:cs typeface="黑体"/>
              </a:rPr>
              <a:t>实际上该超流水线计算机的流水线周期为</a:t>
            </a:r>
            <a:r>
              <a:rPr dirty="0" sz="2400">
                <a:solidFill>
                  <a:srgbClr val="9933FF"/>
                </a:solidFill>
                <a:latin typeface="黑体"/>
                <a:cs typeface="黑体"/>
              </a:rPr>
              <a:t>1/n个</a:t>
            </a:r>
            <a:r>
              <a:rPr dirty="0" sz="2400" spc="-10">
                <a:solidFill>
                  <a:srgbClr val="40458B"/>
                </a:solidFill>
                <a:latin typeface="黑体"/>
                <a:cs typeface="黑体"/>
              </a:rPr>
              <a:t>时钟周期。</a:t>
            </a:r>
            <a:endParaRPr sz="2400">
              <a:latin typeface="黑体"/>
              <a:cs typeface="黑体"/>
            </a:endParaRPr>
          </a:p>
          <a:p>
            <a:pPr marL="469265" indent="-456565">
              <a:lnSpc>
                <a:spcPct val="100000"/>
              </a:lnSpc>
              <a:spcBef>
                <a:spcPts val="865"/>
              </a:spcBef>
              <a:buFont typeface="Wingdings"/>
              <a:buChar char=""/>
              <a:tabLst>
                <a:tab pos="469265" algn="l"/>
              </a:tabLst>
            </a:pPr>
            <a:r>
              <a:rPr dirty="0" sz="2400" spc="-15">
                <a:solidFill>
                  <a:srgbClr val="40458B"/>
                </a:solidFill>
                <a:latin typeface="黑体"/>
                <a:cs typeface="黑体"/>
              </a:rPr>
              <a:t>一台每个时钟周期分时流出两条指令的超流水线计算机的时空图。</a:t>
            </a:r>
            <a:endParaRPr sz="2400">
              <a:latin typeface="黑体"/>
              <a:cs typeface="黑体"/>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181/175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p:nvPr/>
        </p:nvSpPr>
        <p:spPr>
          <a:xfrm>
            <a:off x="2895496" y="2086011"/>
            <a:ext cx="842010" cy="388620"/>
          </a:xfrm>
          <a:custGeom>
            <a:avLst/>
            <a:gdLst/>
            <a:ahLst/>
            <a:cxnLst/>
            <a:rect l="l" t="t" r="r" b="b"/>
            <a:pathLst>
              <a:path w="842010" h="388619">
                <a:moveTo>
                  <a:pt x="841797" y="0"/>
                </a:moveTo>
                <a:lnTo>
                  <a:pt x="0" y="0"/>
                </a:lnTo>
                <a:lnTo>
                  <a:pt x="0" y="388028"/>
                </a:lnTo>
                <a:lnTo>
                  <a:pt x="841797" y="388028"/>
                </a:lnTo>
                <a:lnTo>
                  <a:pt x="841797" y="0"/>
                </a:lnTo>
                <a:close/>
              </a:path>
            </a:pathLst>
          </a:custGeom>
          <a:solidFill>
            <a:srgbClr val="FFCC99"/>
          </a:solidFill>
        </p:spPr>
        <p:txBody>
          <a:bodyPr wrap="square" lIns="0" tIns="0" rIns="0" bIns="0" rtlCol="0"/>
          <a:lstStyle/>
          <a:p/>
        </p:txBody>
      </p:sp>
      <p:sp>
        <p:nvSpPr>
          <p:cNvPr id="11" name="object 11" descr=""/>
          <p:cNvSpPr txBox="1"/>
          <p:nvPr/>
        </p:nvSpPr>
        <p:spPr>
          <a:xfrm>
            <a:off x="4589123" y="3654958"/>
            <a:ext cx="851535" cy="391160"/>
          </a:xfrm>
          <a:prstGeom prst="rect">
            <a:avLst/>
          </a:prstGeom>
          <a:solidFill>
            <a:srgbClr val="FFCC99"/>
          </a:solidFill>
          <a:ln w="18150">
            <a:solidFill>
              <a:srgbClr val="000000"/>
            </a:solidFill>
          </a:ln>
        </p:spPr>
        <p:txBody>
          <a:bodyPr wrap="square" lIns="0" tIns="59055" rIns="0" bIns="0" rtlCol="0" vert="horz">
            <a:spAutoFit/>
          </a:bodyPr>
          <a:lstStyle/>
          <a:p>
            <a:pPr algn="ctr">
              <a:lnSpc>
                <a:spcPct val="100000"/>
              </a:lnSpc>
              <a:spcBef>
                <a:spcPts val="465"/>
              </a:spcBef>
            </a:pPr>
            <a:r>
              <a:rPr dirty="0" sz="1800" spc="-25">
                <a:latin typeface="Times New Roman"/>
                <a:cs typeface="Times New Roman"/>
              </a:rPr>
              <a:t>IF</a:t>
            </a:r>
            <a:endParaRPr sz="1800">
              <a:latin typeface="Times New Roman"/>
              <a:cs typeface="Times New Roman"/>
            </a:endParaRPr>
          </a:p>
        </p:txBody>
      </p:sp>
      <p:sp>
        <p:nvSpPr>
          <p:cNvPr id="12" name="object 12" descr=""/>
          <p:cNvSpPr txBox="1"/>
          <p:nvPr/>
        </p:nvSpPr>
        <p:spPr>
          <a:xfrm>
            <a:off x="5440295" y="4437859"/>
            <a:ext cx="851535" cy="391160"/>
          </a:xfrm>
          <a:prstGeom prst="rect">
            <a:avLst/>
          </a:prstGeom>
          <a:solidFill>
            <a:srgbClr val="FFCC99"/>
          </a:solidFill>
          <a:ln w="18150">
            <a:solidFill>
              <a:srgbClr val="000000"/>
            </a:solidFill>
          </a:ln>
        </p:spPr>
        <p:txBody>
          <a:bodyPr wrap="square" lIns="0" tIns="59055" rIns="0" bIns="0" rtlCol="0" vert="horz">
            <a:spAutoFit/>
          </a:bodyPr>
          <a:lstStyle/>
          <a:p>
            <a:pPr algn="ctr">
              <a:lnSpc>
                <a:spcPct val="100000"/>
              </a:lnSpc>
              <a:spcBef>
                <a:spcPts val="465"/>
              </a:spcBef>
            </a:pPr>
            <a:r>
              <a:rPr dirty="0" sz="1800" spc="-25">
                <a:latin typeface="Times New Roman"/>
                <a:cs typeface="Times New Roman"/>
              </a:rPr>
              <a:t>IF</a:t>
            </a:r>
            <a:endParaRPr sz="1800">
              <a:latin typeface="Times New Roman"/>
              <a:cs typeface="Times New Roman"/>
            </a:endParaRPr>
          </a:p>
        </p:txBody>
      </p:sp>
      <p:sp>
        <p:nvSpPr>
          <p:cNvPr id="13" name="object 13" descr=""/>
          <p:cNvSpPr txBox="1"/>
          <p:nvPr/>
        </p:nvSpPr>
        <p:spPr>
          <a:xfrm>
            <a:off x="3311721" y="2477311"/>
            <a:ext cx="852169" cy="391795"/>
          </a:xfrm>
          <a:prstGeom prst="rect">
            <a:avLst/>
          </a:prstGeom>
          <a:solidFill>
            <a:srgbClr val="FFCC99"/>
          </a:solidFill>
          <a:ln w="18150">
            <a:solidFill>
              <a:srgbClr val="000000"/>
            </a:solidFill>
          </a:ln>
        </p:spPr>
        <p:txBody>
          <a:bodyPr wrap="square" lIns="0" tIns="62230" rIns="0" bIns="0" rtlCol="0" vert="horz">
            <a:spAutoFit/>
          </a:bodyPr>
          <a:lstStyle/>
          <a:p>
            <a:pPr algn="ctr">
              <a:lnSpc>
                <a:spcPct val="100000"/>
              </a:lnSpc>
              <a:spcBef>
                <a:spcPts val="490"/>
              </a:spcBef>
            </a:pPr>
            <a:r>
              <a:rPr dirty="0" sz="1800" spc="-25">
                <a:latin typeface="Times New Roman"/>
                <a:cs typeface="Times New Roman"/>
              </a:rPr>
              <a:t>IF</a:t>
            </a:r>
            <a:endParaRPr sz="1800">
              <a:latin typeface="Times New Roman"/>
              <a:cs typeface="Times New Roman"/>
            </a:endParaRPr>
          </a:p>
        </p:txBody>
      </p:sp>
      <p:sp>
        <p:nvSpPr>
          <p:cNvPr id="14" name="object 14" descr=""/>
          <p:cNvSpPr txBox="1"/>
          <p:nvPr/>
        </p:nvSpPr>
        <p:spPr>
          <a:xfrm>
            <a:off x="2904163" y="2132681"/>
            <a:ext cx="824230" cy="300355"/>
          </a:xfrm>
          <a:prstGeom prst="rect">
            <a:avLst/>
          </a:prstGeom>
        </p:spPr>
        <p:txBody>
          <a:bodyPr wrap="square" lIns="0" tIns="12700" rIns="0" bIns="0" rtlCol="0" vert="horz">
            <a:spAutoFit/>
          </a:bodyPr>
          <a:lstStyle/>
          <a:p>
            <a:pPr algn="ctr" marR="5080">
              <a:lnSpc>
                <a:spcPct val="100000"/>
              </a:lnSpc>
              <a:spcBef>
                <a:spcPts val="100"/>
              </a:spcBef>
            </a:pPr>
            <a:r>
              <a:rPr dirty="0" sz="1800" spc="-25">
                <a:latin typeface="Times New Roman"/>
                <a:cs typeface="Times New Roman"/>
              </a:rPr>
              <a:t>IF</a:t>
            </a:r>
            <a:endParaRPr sz="1800">
              <a:latin typeface="Times New Roman"/>
              <a:cs typeface="Times New Roman"/>
            </a:endParaRPr>
          </a:p>
        </p:txBody>
      </p:sp>
      <p:sp>
        <p:nvSpPr>
          <p:cNvPr id="15" name="object 15" descr=""/>
          <p:cNvSpPr txBox="1"/>
          <p:nvPr/>
        </p:nvSpPr>
        <p:spPr>
          <a:xfrm>
            <a:off x="7568793" y="3260111"/>
            <a:ext cx="851535" cy="394970"/>
          </a:xfrm>
          <a:prstGeom prst="rect">
            <a:avLst/>
          </a:prstGeom>
          <a:solidFill>
            <a:srgbClr val="FFCCFF"/>
          </a:solidFill>
          <a:ln w="18150">
            <a:solidFill>
              <a:srgbClr val="000000"/>
            </a:solidFill>
          </a:ln>
        </p:spPr>
        <p:txBody>
          <a:bodyPr wrap="square" lIns="0" tIns="62865" rIns="0" bIns="0" rtlCol="0" vert="horz">
            <a:spAutoFit/>
          </a:bodyPr>
          <a:lstStyle/>
          <a:p>
            <a:pPr marL="191135">
              <a:lnSpc>
                <a:spcPct val="100000"/>
              </a:lnSpc>
              <a:spcBef>
                <a:spcPts val="495"/>
              </a:spcBef>
            </a:pPr>
            <a:r>
              <a:rPr dirty="0" sz="1800" spc="-25">
                <a:latin typeface="Times New Roman"/>
                <a:cs typeface="Times New Roman"/>
              </a:rPr>
              <a:t>WB</a:t>
            </a:r>
            <a:endParaRPr sz="1800">
              <a:latin typeface="Times New Roman"/>
              <a:cs typeface="Times New Roman"/>
            </a:endParaRPr>
          </a:p>
        </p:txBody>
      </p:sp>
      <p:sp>
        <p:nvSpPr>
          <p:cNvPr id="16" name="object 16" descr=""/>
          <p:cNvSpPr txBox="1"/>
          <p:nvPr/>
        </p:nvSpPr>
        <p:spPr>
          <a:xfrm>
            <a:off x="6717040" y="3260111"/>
            <a:ext cx="852169" cy="394970"/>
          </a:xfrm>
          <a:prstGeom prst="rect">
            <a:avLst/>
          </a:prstGeom>
          <a:solidFill>
            <a:srgbClr val="CCFFFF"/>
          </a:solidFill>
          <a:ln w="18150">
            <a:solidFill>
              <a:srgbClr val="000000"/>
            </a:solidFill>
          </a:ln>
        </p:spPr>
        <p:txBody>
          <a:bodyPr wrap="square" lIns="0" tIns="62865" rIns="0" bIns="0" rtlCol="0" vert="horz">
            <a:spAutoFit/>
          </a:bodyPr>
          <a:lstStyle/>
          <a:p>
            <a:pPr marL="139700">
              <a:lnSpc>
                <a:spcPct val="100000"/>
              </a:lnSpc>
              <a:spcBef>
                <a:spcPts val="495"/>
              </a:spcBef>
            </a:pPr>
            <a:r>
              <a:rPr dirty="0" sz="1800" spc="-25">
                <a:latin typeface="Times New Roman"/>
                <a:cs typeface="Times New Roman"/>
              </a:rPr>
              <a:t>MEM</a:t>
            </a:r>
            <a:endParaRPr sz="1800">
              <a:latin typeface="Times New Roman"/>
              <a:cs typeface="Times New Roman"/>
            </a:endParaRPr>
          </a:p>
        </p:txBody>
      </p:sp>
      <p:sp>
        <p:nvSpPr>
          <p:cNvPr id="17" name="object 17" descr=""/>
          <p:cNvSpPr txBox="1"/>
          <p:nvPr/>
        </p:nvSpPr>
        <p:spPr>
          <a:xfrm>
            <a:off x="5014721" y="3260111"/>
            <a:ext cx="851535" cy="394970"/>
          </a:xfrm>
          <a:prstGeom prst="rect">
            <a:avLst/>
          </a:prstGeom>
          <a:solidFill>
            <a:srgbClr val="FFFF99"/>
          </a:solidFill>
          <a:ln w="18150">
            <a:solidFill>
              <a:srgbClr val="000000"/>
            </a:solidFill>
          </a:ln>
        </p:spPr>
        <p:txBody>
          <a:bodyPr wrap="square" lIns="0" tIns="62865" rIns="0" bIns="0" rtlCol="0" vert="horz">
            <a:spAutoFit/>
          </a:bodyPr>
          <a:lstStyle/>
          <a:p>
            <a:pPr algn="ctr" marR="25400">
              <a:lnSpc>
                <a:spcPct val="100000"/>
              </a:lnSpc>
              <a:spcBef>
                <a:spcPts val="495"/>
              </a:spcBef>
            </a:pPr>
            <a:r>
              <a:rPr dirty="0" sz="1800" spc="-25">
                <a:latin typeface="Times New Roman"/>
                <a:cs typeface="Times New Roman"/>
              </a:rPr>
              <a:t>ID</a:t>
            </a:r>
            <a:endParaRPr sz="1800">
              <a:latin typeface="Times New Roman"/>
              <a:cs typeface="Times New Roman"/>
            </a:endParaRPr>
          </a:p>
        </p:txBody>
      </p:sp>
      <p:sp>
        <p:nvSpPr>
          <p:cNvPr id="18" name="object 18" descr=""/>
          <p:cNvSpPr txBox="1"/>
          <p:nvPr/>
        </p:nvSpPr>
        <p:spPr>
          <a:xfrm>
            <a:off x="5865792" y="3260111"/>
            <a:ext cx="851535" cy="394970"/>
          </a:xfrm>
          <a:prstGeom prst="rect">
            <a:avLst/>
          </a:prstGeom>
          <a:solidFill>
            <a:srgbClr val="CCFFCC"/>
          </a:solidFill>
          <a:ln w="18150">
            <a:solidFill>
              <a:srgbClr val="000000"/>
            </a:solidFill>
          </a:ln>
        </p:spPr>
        <p:txBody>
          <a:bodyPr wrap="square" lIns="0" tIns="62865" rIns="0" bIns="0" rtlCol="0" vert="horz">
            <a:spAutoFit/>
          </a:bodyPr>
          <a:lstStyle/>
          <a:p>
            <a:pPr marL="267970">
              <a:lnSpc>
                <a:spcPct val="100000"/>
              </a:lnSpc>
              <a:spcBef>
                <a:spcPts val="495"/>
              </a:spcBef>
            </a:pPr>
            <a:r>
              <a:rPr dirty="0" sz="1800" spc="-25">
                <a:latin typeface="Times New Roman"/>
                <a:cs typeface="Times New Roman"/>
              </a:rPr>
              <a:t>EX</a:t>
            </a:r>
            <a:endParaRPr sz="1800">
              <a:latin typeface="Times New Roman"/>
              <a:cs typeface="Times New Roman"/>
            </a:endParaRPr>
          </a:p>
        </p:txBody>
      </p:sp>
      <p:sp>
        <p:nvSpPr>
          <p:cNvPr id="19" name="object 19" descr=""/>
          <p:cNvSpPr txBox="1"/>
          <p:nvPr/>
        </p:nvSpPr>
        <p:spPr>
          <a:xfrm>
            <a:off x="4163524" y="3260111"/>
            <a:ext cx="851535" cy="394970"/>
          </a:xfrm>
          <a:prstGeom prst="rect">
            <a:avLst/>
          </a:prstGeom>
          <a:solidFill>
            <a:srgbClr val="FFCC99"/>
          </a:solidFill>
          <a:ln w="18150">
            <a:solidFill>
              <a:srgbClr val="000000"/>
            </a:solidFill>
          </a:ln>
        </p:spPr>
        <p:txBody>
          <a:bodyPr wrap="square" lIns="0" tIns="62865" rIns="0" bIns="0" rtlCol="0" vert="horz">
            <a:spAutoFit/>
          </a:bodyPr>
          <a:lstStyle/>
          <a:p>
            <a:pPr algn="ctr">
              <a:lnSpc>
                <a:spcPct val="100000"/>
              </a:lnSpc>
              <a:spcBef>
                <a:spcPts val="495"/>
              </a:spcBef>
            </a:pPr>
            <a:r>
              <a:rPr dirty="0" sz="1800" spc="-25">
                <a:latin typeface="Times New Roman"/>
                <a:cs typeface="Times New Roman"/>
              </a:rPr>
              <a:t>IF</a:t>
            </a:r>
            <a:endParaRPr sz="1800">
              <a:latin typeface="Times New Roman"/>
              <a:cs typeface="Times New Roman"/>
            </a:endParaRPr>
          </a:p>
        </p:txBody>
      </p:sp>
      <p:grpSp>
        <p:nvGrpSpPr>
          <p:cNvPr id="20" name="object 20" descr=""/>
          <p:cNvGrpSpPr/>
          <p:nvPr/>
        </p:nvGrpSpPr>
        <p:grpSpPr>
          <a:xfrm>
            <a:off x="2872948" y="2035792"/>
            <a:ext cx="6882130" cy="438784"/>
            <a:chOff x="2872948" y="2035792"/>
            <a:chExt cx="6882130" cy="438784"/>
          </a:xfrm>
        </p:grpSpPr>
        <p:sp>
          <p:nvSpPr>
            <p:cNvPr id="21" name="object 21" descr=""/>
            <p:cNvSpPr/>
            <p:nvPr/>
          </p:nvSpPr>
          <p:spPr>
            <a:xfrm>
              <a:off x="6291542" y="2086011"/>
              <a:ext cx="842644" cy="388620"/>
            </a:xfrm>
            <a:custGeom>
              <a:avLst/>
              <a:gdLst/>
              <a:ahLst/>
              <a:cxnLst/>
              <a:rect l="l" t="t" r="r" b="b"/>
              <a:pathLst>
                <a:path w="842645" h="388619">
                  <a:moveTo>
                    <a:pt x="842429" y="0"/>
                  </a:moveTo>
                  <a:lnTo>
                    <a:pt x="0" y="0"/>
                  </a:lnTo>
                  <a:lnTo>
                    <a:pt x="0" y="388028"/>
                  </a:lnTo>
                  <a:lnTo>
                    <a:pt x="842429" y="388028"/>
                  </a:lnTo>
                  <a:lnTo>
                    <a:pt x="842429" y="0"/>
                  </a:lnTo>
                  <a:close/>
                </a:path>
              </a:pathLst>
            </a:custGeom>
            <a:solidFill>
              <a:srgbClr val="FFCCFF"/>
            </a:solidFill>
          </p:spPr>
          <p:txBody>
            <a:bodyPr wrap="square" lIns="0" tIns="0" rIns="0" bIns="0" rtlCol="0"/>
            <a:lstStyle/>
            <a:p/>
          </p:txBody>
        </p:sp>
        <p:sp>
          <p:nvSpPr>
            <p:cNvPr id="22" name="object 22" descr=""/>
            <p:cNvSpPr/>
            <p:nvPr/>
          </p:nvSpPr>
          <p:spPr>
            <a:xfrm>
              <a:off x="5440295" y="2086011"/>
              <a:ext cx="842644" cy="388620"/>
            </a:xfrm>
            <a:custGeom>
              <a:avLst/>
              <a:gdLst/>
              <a:ahLst/>
              <a:cxnLst/>
              <a:rect l="l" t="t" r="r" b="b"/>
              <a:pathLst>
                <a:path w="842645" h="388619">
                  <a:moveTo>
                    <a:pt x="842429" y="0"/>
                  </a:moveTo>
                  <a:lnTo>
                    <a:pt x="0" y="0"/>
                  </a:lnTo>
                  <a:lnTo>
                    <a:pt x="0" y="388028"/>
                  </a:lnTo>
                  <a:lnTo>
                    <a:pt x="842429" y="388028"/>
                  </a:lnTo>
                  <a:lnTo>
                    <a:pt x="842429" y="0"/>
                  </a:lnTo>
                  <a:close/>
                </a:path>
              </a:pathLst>
            </a:custGeom>
            <a:solidFill>
              <a:srgbClr val="CCFFFF"/>
            </a:solidFill>
          </p:spPr>
          <p:txBody>
            <a:bodyPr wrap="square" lIns="0" tIns="0" rIns="0" bIns="0" rtlCol="0"/>
            <a:lstStyle/>
            <a:p/>
          </p:txBody>
        </p:sp>
        <p:sp>
          <p:nvSpPr>
            <p:cNvPr id="23" name="object 23" descr=""/>
            <p:cNvSpPr/>
            <p:nvPr/>
          </p:nvSpPr>
          <p:spPr>
            <a:xfrm>
              <a:off x="4589123" y="2086011"/>
              <a:ext cx="842010" cy="388620"/>
            </a:xfrm>
            <a:custGeom>
              <a:avLst/>
              <a:gdLst/>
              <a:ahLst/>
              <a:cxnLst/>
              <a:rect l="l" t="t" r="r" b="b"/>
              <a:pathLst>
                <a:path w="842010" h="388619">
                  <a:moveTo>
                    <a:pt x="841797" y="0"/>
                  </a:moveTo>
                  <a:lnTo>
                    <a:pt x="0" y="0"/>
                  </a:lnTo>
                  <a:lnTo>
                    <a:pt x="0" y="388028"/>
                  </a:lnTo>
                  <a:lnTo>
                    <a:pt x="841797" y="388028"/>
                  </a:lnTo>
                  <a:lnTo>
                    <a:pt x="841797" y="0"/>
                  </a:lnTo>
                  <a:close/>
                </a:path>
              </a:pathLst>
            </a:custGeom>
            <a:solidFill>
              <a:srgbClr val="CCFFCC"/>
            </a:solidFill>
          </p:spPr>
          <p:txBody>
            <a:bodyPr wrap="square" lIns="0" tIns="0" rIns="0" bIns="0" rtlCol="0"/>
            <a:lstStyle/>
            <a:p/>
          </p:txBody>
        </p:sp>
        <p:sp>
          <p:nvSpPr>
            <p:cNvPr id="24" name="object 24" descr=""/>
            <p:cNvSpPr/>
            <p:nvPr/>
          </p:nvSpPr>
          <p:spPr>
            <a:xfrm>
              <a:off x="3737319" y="2086011"/>
              <a:ext cx="842644" cy="388620"/>
            </a:xfrm>
            <a:custGeom>
              <a:avLst/>
              <a:gdLst/>
              <a:ahLst/>
              <a:cxnLst/>
              <a:rect l="l" t="t" r="r" b="b"/>
              <a:pathLst>
                <a:path w="842645" h="388619">
                  <a:moveTo>
                    <a:pt x="842429" y="0"/>
                  </a:moveTo>
                  <a:lnTo>
                    <a:pt x="0" y="0"/>
                  </a:lnTo>
                  <a:lnTo>
                    <a:pt x="0" y="388028"/>
                  </a:lnTo>
                  <a:lnTo>
                    <a:pt x="842429" y="388028"/>
                  </a:lnTo>
                  <a:lnTo>
                    <a:pt x="842429" y="0"/>
                  </a:lnTo>
                  <a:close/>
                </a:path>
              </a:pathLst>
            </a:custGeom>
            <a:solidFill>
              <a:srgbClr val="FFFF99"/>
            </a:solidFill>
          </p:spPr>
          <p:txBody>
            <a:bodyPr wrap="square" lIns="0" tIns="0" rIns="0" bIns="0" rtlCol="0"/>
            <a:lstStyle/>
            <a:p/>
          </p:txBody>
        </p:sp>
        <p:sp>
          <p:nvSpPr>
            <p:cNvPr id="25" name="object 25" descr=""/>
            <p:cNvSpPr/>
            <p:nvPr/>
          </p:nvSpPr>
          <p:spPr>
            <a:xfrm>
              <a:off x="2874853" y="2037697"/>
              <a:ext cx="6878320" cy="104139"/>
            </a:xfrm>
            <a:custGeom>
              <a:avLst/>
              <a:gdLst/>
              <a:ahLst/>
              <a:cxnLst/>
              <a:rect l="l" t="t" r="r" b="b"/>
              <a:pathLst>
                <a:path w="6878320" h="104139">
                  <a:moveTo>
                    <a:pt x="6725664" y="0"/>
                  </a:moveTo>
                  <a:lnTo>
                    <a:pt x="6776956" y="52089"/>
                  </a:lnTo>
                  <a:lnTo>
                    <a:pt x="6725664" y="103675"/>
                  </a:lnTo>
                  <a:lnTo>
                    <a:pt x="6842898" y="63916"/>
                  </a:lnTo>
                  <a:lnTo>
                    <a:pt x="6779988" y="63916"/>
                  </a:lnTo>
                  <a:lnTo>
                    <a:pt x="6786305" y="60896"/>
                  </a:lnTo>
                  <a:lnTo>
                    <a:pt x="6789589" y="57625"/>
                  </a:lnTo>
                  <a:lnTo>
                    <a:pt x="6789589" y="45798"/>
                  </a:lnTo>
                  <a:lnTo>
                    <a:pt x="6786305" y="42778"/>
                  </a:lnTo>
                  <a:lnTo>
                    <a:pt x="6779988" y="39759"/>
                  </a:lnTo>
                  <a:lnTo>
                    <a:pt x="6841765" y="39759"/>
                  </a:lnTo>
                  <a:lnTo>
                    <a:pt x="6725664" y="0"/>
                  </a:lnTo>
                  <a:close/>
                </a:path>
                <a:path w="6878320" h="104139">
                  <a:moveTo>
                    <a:pt x="6764814" y="39759"/>
                  </a:moveTo>
                  <a:lnTo>
                    <a:pt x="8767" y="39759"/>
                  </a:lnTo>
                  <a:lnTo>
                    <a:pt x="6266" y="42778"/>
                  </a:lnTo>
                  <a:lnTo>
                    <a:pt x="3133" y="45798"/>
                  </a:lnTo>
                  <a:lnTo>
                    <a:pt x="0" y="52089"/>
                  </a:lnTo>
                  <a:lnTo>
                    <a:pt x="3133" y="57625"/>
                  </a:lnTo>
                  <a:lnTo>
                    <a:pt x="6266" y="60896"/>
                  </a:lnTo>
                  <a:lnTo>
                    <a:pt x="8767" y="63916"/>
                  </a:lnTo>
                  <a:lnTo>
                    <a:pt x="6765196" y="63916"/>
                  </a:lnTo>
                  <a:lnTo>
                    <a:pt x="6776956" y="52089"/>
                  </a:lnTo>
                  <a:lnTo>
                    <a:pt x="6764814" y="39759"/>
                  </a:lnTo>
                  <a:close/>
                </a:path>
                <a:path w="6878320" h="104139">
                  <a:moveTo>
                    <a:pt x="6841765" y="39759"/>
                  </a:moveTo>
                  <a:lnTo>
                    <a:pt x="6779988" y="39759"/>
                  </a:lnTo>
                  <a:lnTo>
                    <a:pt x="6786305" y="42778"/>
                  </a:lnTo>
                  <a:lnTo>
                    <a:pt x="6789589" y="45798"/>
                  </a:lnTo>
                  <a:lnTo>
                    <a:pt x="6789589" y="57625"/>
                  </a:lnTo>
                  <a:lnTo>
                    <a:pt x="6786305" y="60896"/>
                  </a:lnTo>
                  <a:lnTo>
                    <a:pt x="6779988" y="63916"/>
                  </a:lnTo>
                  <a:lnTo>
                    <a:pt x="6842898" y="63916"/>
                  </a:lnTo>
                  <a:lnTo>
                    <a:pt x="6877771" y="52089"/>
                  </a:lnTo>
                  <a:lnTo>
                    <a:pt x="6841765" y="39759"/>
                  </a:lnTo>
                  <a:close/>
                </a:path>
              </a:pathLst>
            </a:custGeom>
            <a:solidFill>
              <a:srgbClr val="000000"/>
            </a:solidFill>
          </p:spPr>
          <p:txBody>
            <a:bodyPr wrap="square" lIns="0" tIns="0" rIns="0" bIns="0" rtlCol="0"/>
            <a:lstStyle/>
            <a:p/>
          </p:txBody>
        </p:sp>
        <p:sp>
          <p:nvSpPr>
            <p:cNvPr id="26" name="object 26" descr=""/>
            <p:cNvSpPr/>
            <p:nvPr/>
          </p:nvSpPr>
          <p:spPr>
            <a:xfrm>
              <a:off x="2874853" y="2037697"/>
              <a:ext cx="6878320" cy="104139"/>
            </a:xfrm>
            <a:custGeom>
              <a:avLst/>
              <a:gdLst/>
              <a:ahLst/>
              <a:cxnLst/>
              <a:rect l="l" t="t" r="r" b="b"/>
              <a:pathLst>
                <a:path w="6878320" h="104139">
                  <a:moveTo>
                    <a:pt x="15008" y="39759"/>
                  </a:moveTo>
                  <a:lnTo>
                    <a:pt x="6776956" y="39759"/>
                  </a:lnTo>
                  <a:lnTo>
                    <a:pt x="6779988" y="39759"/>
                  </a:lnTo>
                  <a:lnTo>
                    <a:pt x="6786305" y="42778"/>
                  </a:lnTo>
                  <a:lnTo>
                    <a:pt x="6789590" y="45798"/>
                  </a:lnTo>
                  <a:lnTo>
                    <a:pt x="6789590" y="52089"/>
                  </a:lnTo>
                  <a:lnTo>
                    <a:pt x="6789590" y="57625"/>
                  </a:lnTo>
                  <a:lnTo>
                    <a:pt x="6786305" y="60896"/>
                  </a:lnTo>
                  <a:lnTo>
                    <a:pt x="6779988" y="63916"/>
                  </a:lnTo>
                  <a:lnTo>
                    <a:pt x="6776956" y="63916"/>
                  </a:lnTo>
                  <a:lnTo>
                    <a:pt x="15008" y="63916"/>
                  </a:lnTo>
                  <a:lnTo>
                    <a:pt x="8767" y="63916"/>
                  </a:lnTo>
                  <a:lnTo>
                    <a:pt x="6266" y="60896"/>
                  </a:lnTo>
                  <a:lnTo>
                    <a:pt x="3133" y="57625"/>
                  </a:lnTo>
                  <a:lnTo>
                    <a:pt x="0" y="52089"/>
                  </a:lnTo>
                  <a:lnTo>
                    <a:pt x="3133" y="45798"/>
                  </a:lnTo>
                  <a:lnTo>
                    <a:pt x="6266" y="42778"/>
                  </a:lnTo>
                  <a:lnTo>
                    <a:pt x="8767" y="39759"/>
                  </a:lnTo>
                  <a:lnTo>
                    <a:pt x="15008" y="39759"/>
                  </a:lnTo>
                  <a:close/>
                </a:path>
                <a:path w="6878320" h="104139">
                  <a:moveTo>
                    <a:pt x="6776956" y="52089"/>
                  </a:moveTo>
                  <a:lnTo>
                    <a:pt x="6725664" y="0"/>
                  </a:lnTo>
                  <a:lnTo>
                    <a:pt x="6877772" y="52089"/>
                  </a:lnTo>
                  <a:lnTo>
                    <a:pt x="6725664" y="103675"/>
                  </a:lnTo>
                  <a:lnTo>
                    <a:pt x="6776956" y="52089"/>
                  </a:lnTo>
                  <a:close/>
                </a:path>
              </a:pathLst>
            </a:custGeom>
            <a:ln w="3530">
              <a:solidFill>
                <a:srgbClr val="000000"/>
              </a:solidFill>
            </a:ln>
          </p:spPr>
          <p:txBody>
            <a:bodyPr wrap="square" lIns="0" tIns="0" rIns="0" bIns="0" rtlCol="0"/>
            <a:lstStyle/>
            <a:p/>
          </p:txBody>
        </p:sp>
      </p:grpSp>
      <p:sp>
        <p:nvSpPr>
          <p:cNvPr id="27" name="object 27" descr=""/>
          <p:cNvSpPr txBox="1"/>
          <p:nvPr/>
        </p:nvSpPr>
        <p:spPr>
          <a:xfrm>
            <a:off x="3238304" y="1747169"/>
            <a:ext cx="140335" cy="300355"/>
          </a:xfrm>
          <a:prstGeom prst="rect">
            <a:avLst/>
          </a:prstGeom>
        </p:spPr>
        <p:txBody>
          <a:bodyPr wrap="square" lIns="0" tIns="12700" rIns="0" bIns="0" rtlCol="0" vert="horz">
            <a:spAutoFit/>
          </a:bodyPr>
          <a:lstStyle/>
          <a:p>
            <a:pPr marL="12700">
              <a:lnSpc>
                <a:spcPct val="100000"/>
              </a:lnSpc>
              <a:spcBef>
                <a:spcPts val="100"/>
              </a:spcBef>
            </a:pPr>
            <a:r>
              <a:rPr dirty="0" sz="1800" spc="-50" b="1">
                <a:solidFill>
                  <a:srgbClr val="0000FF"/>
                </a:solidFill>
                <a:latin typeface="Times New Roman"/>
                <a:cs typeface="Times New Roman"/>
              </a:rPr>
              <a:t>1</a:t>
            </a:r>
            <a:endParaRPr sz="1800">
              <a:latin typeface="Times New Roman"/>
              <a:cs typeface="Times New Roman"/>
            </a:endParaRPr>
          </a:p>
        </p:txBody>
      </p:sp>
      <p:sp>
        <p:nvSpPr>
          <p:cNvPr id="28" name="object 28" descr=""/>
          <p:cNvSpPr txBox="1"/>
          <p:nvPr/>
        </p:nvSpPr>
        <p:spPr>
          <a:xfrm>
            <a:off x="4077600" y="1747169"/>
            <a:ext cx="140335" cy="300355"/>
          </a:xfrm>
          <a:prstGeom prst="rect">
            <a:avLst/>
          </a:prstGeom>
        </p:spPr>
        <p:txBody>
          <a:bodyPr wrap="square" lIns="0" tIns="12700" rIns="0" bIns="0" rtlCol="0" vert="horz">
            <a:spAutoFit/>
          </a:bodyPr>
          <a:lstStyle/>
          <a:p>
            <a:pPr marL="12700">
              <a:lnSpc>
                <a:spcPct val="100000"/>
              </a:lnSpc>
              <a:spcBef>
                <a:spcPts val="100"/>
              </a:spcBef>
            </a:pPr>
            <a:r>
              <a:rPr dirty="0" sz="1800" spc="-50" b="1">
                <a:solidFill>
                  <a:srgbClr val="0000FF"/>
                </a:solidFill>
                <a:latin typeface="Times New Roman"/>
                <a:cs typeface="Times New Roman"/>
              </a:rPr>
              <a:t>2</a:t>
            </a:r>
            <a:endParaRPr sz="1800">
              <a:latin typeface="Times New Roman"/>
              <a:cs typeface="Times New Roman"/>
            </a:endParaRPr>
          </a:p>
        </p:txBody>
      </p:sp>
      <p:sp>
        <p:nvSpPr>
          <p:cNvPr id="29" name="object 29" descr=""/>
          <p:cNvSpPr txBox="1"/>
          <p:nvPr/>
        </p:nvSpPr>
        <p:spPr>
          <a:xfrm>
            <a:off x="4925664" y="1747169"/>
            <a:ext cx="140335" cy="300355"/>
          </a:xfrm>
          <a:prstGeom prst="rect">
            <a:avLst/>
          </a:prstGeom>
        </p:spPr>
        <p:txBody>
          <a:bodyPr wrap="square" lIns="0" tIns="12700" rIns="0" bIns="0" rtlCol="0" vert="horz">
            <a:spAutoFit/>
          </a:bodyPr>
          <a:lstStyle/>
          <a:p>
            <a:pPr marL="12700">
              <a:lnSpc>
                <a:spcPct val="100000"/>
              </a:lnSpc>
              <a:spcBef>
                <a:spcPts val="100"/>
              </a:spcBef>
            </a:pPr>
            <a:r>
              <a:rPr dirty="0" sz="1800" spc="-50" b="1">
                <a:solidFill>
                  <a:srgbClr val="0000FF"/>
                </a:solidFill>
                <a:latin typeface="Times New Roman"/>
                <a:cs typeface="Times New Roman"/>
              </a:rPr>
              <a:t>3</a:t>
            </a:r>
            <a:endParaRPr sz="1800">
              <a:latin typeface="Times New Roman"/>
              <a:cs typeface="Times New Roman"/>
            </a:endParaRPr>
          </a:p>
        </p:txBody>
      </p:sp>
      <p:sp>
        <p:nvSpPr>
          <p:cNvPr id="30" name="object 30" descr=""/>
          <p:cNvSpPr txBox="1"/>
          <p:nvPr/>
        </p:nvSpPr>
        <p:spPr>
          <a:xfrm>
            <a:off x="5771227" y="1747169"/>
            <a:ext cx="140335" cy="300355"/>
          </a:xfrm>
          <a:prstGeom prst="rect">
            <a:avLst/>
          </a:prstGeom>
        </p:spPr>
        <p:txBody>
          <a:bodyPr wrap="square" lIns="0" tIns="12700" rIns="0" bIns="0" rtlCol="0" vert="horz">
            <a:spAutoFit/>
          </a:bodyPr>
          <a:lstStyle/>
          <a:p>
            <a:pPr marL="12700">
              <a:lnSpc>
                <a:spcPct val="100000"/>
              </a:lnSpc>
              <a:spcBef>
                <a:spcPts val="100"/>
              </a:spcBef>
            </a:pPr>
            <a:r>
              <a:rPr dirty="0" sz="1800" spc="-50" b="1">
                <a:solidFill>
                  <a:srgbClr val="0000FF"/>
                </a:solidFill>
                <a:latin typeface="Times New Roman"/>
                <a:cs typeface="Times New Roman"/>
              </a:rPr>
              <a:t>4</a:t>
            </a:r>
            <a:endParaRPr sz="1800">
              <a:latin typeface="Times New Roman"/>
              <a:cs typeface="Times New Roman"/>
            </a:endParaRPr>
          </a:p>
        </p:txBody>
      </p:sp>
      <p:sp>
        <p:nvSpPr>
          <p:cNvPr id="31" name="object 31" descr=""/>
          <p:cNvSpPr txBox="1"/>
          <p:nvPr/>
        </p:nvSpPr>
        <p:spPr>
          <a:xfrm>
            <a:off x="6622474" y="1744149"/>
            <a:ext cx="140335" cy="300355"/>
          </a:xfrm>
          <a:prstGeom prst="rect">
            <a:avLst/>
          </a:prstGeom>
        </p:spPr>
        <p:txBody>
          <a:bodyPr wrap="square" lIns="0" tIns="12700" rIns="0" bIns="0" rtlCol="0" vert="horz">
            <a:spAutoFit/>
          </a:bodyPr>
          <a:lstStyle/>
          <a:p>
            <a:pPr marL="12700">
              <a:lnSpc>
                <a:spcPct val="100000"/>
              </a:lnSpc>
              <a:spcBef>
                <a:spcPts val="100"/>
              </a:spcBef>
            </a:pPr>
            <a:r>
              <a:rPr dirty="0" sz="1800" spc="-50" b="1">
                <a:solidFill>
                  <a:srgbClr val="0000FF"/>
                </a:solidFill>
                <a:latin typeface="Times New Roman"/>
                <a:cs typeface="Times New Roman"/>
              </a:rPr>
              <a:t>5</a:t>
            </a:r>
            <a:endParaRPr sz="1800">
              <a:latin typeface="Times New Roman"/>
              <a:cs typeface="Times New Roman"/>
            </a:endParaRPr>
          </a:p>
        </p:txBody>
      </p:sp>
      <p:sp>
        <p:nvSpPr>
          <p:cNvPr id="32" name="object 32" descr=""/>
          <p:cNvSpPr txBox="1"/>
          <p:nvPr/>
        </p:nvSpPr>
        <p:spPr>
          <a:xfrm>
            <a:off x="7486103" y="1744149"/>
            <a:ext cx="140335" cy="300355"/>
          </a:xfrm>
          <a:prstGeom prst="rect">
            <a:avLst/>
          </a:prstGeom>
        </p:spPr>
        <p:txBody>
          <a:bodyPr wrap="square" lIns="0" tIns="12700" rIns="0" bIns="0" rtlCol="0" vert="horz">
            <a:spAutoFit/>
          </a:bodyPr>
          <a:lstStyle/>
          <a:p>
            <a:pPr marL="12700">
              <a:lnSpc>
                <a:spcPct val="100000"/>
              </a:lnSpc>
              <a:spcBef>
                <a:spcPts val="100"/>
              </a:spcBef>
            </a:pPr>
            <a:r>
              <a:rPr dirty="0" sz="1800" spc="-50" b="1">
                <a:solidFill>
                  <a:srgbClr val="0000FF"/>
                </a:solidFill>
                <a:latin typeface="Times New Roman"/>
                <a:cs typeface="Times New Roman"/>
              </a:rPr>
              <a:t>6</a:t>
            </a:r>
            <a:endParaRPr sz="1800">
              <a:latin typeface="Times New Roman"/>
              <a:cs typeface="Times New Roman"/>
            </a:endParaRPr>
          </a:p>
        </p:txBody>
      </p:sp>
      <p:sp>
        <p:nvSpPr>
          <p:cNvPr id="33" name="object 33" descr=""/>
          <p:cNvSpPr txBox="1"/>
          <p:nvPr/>
        </p:nvSpPr>
        <p:spPr>
          <a:xfrm>
            <a:off x="8376767" y="1747169"/>
            <a:ext cx="140335" cy="300355"/>
          </a:xfrm>
          <a:prstGeom prst="rect">
            <a:avLst/>
          </a:prstGeom>
        </p:spPr>
        <p:txBody>
          <a:bodyPr wrap="square" lIns="0" tIns="12700" rIns="0" bIns="0" rtlCol="0" vert="horz">
            <a:spAutoFit/>
          </a:bodyPr>
          <a:lstStyle/>
          <a:p>
            <a:pPr marL="12700">
              <a:lnSpc>
                <a:spcPct val="100000"/>
              </a:lnSpc>
              <a:spcBef>
                <a:spcPts val="100"/>
              </a:spcBef>
            </a:pPr>
            <a:r>
              <a:rPr dirty="0" sz="1800" spc="-50" b="1">
                <a:solidFill>
                  <a:srgbClr val="0000FF"/>
                </a:solidFill>
                <a:latin typeface="Times New Roman"/>
                <a:cs typeface="Times New Roman"/>
              </a:rPr>
              <a:t>7</a:t>
            </a:r>
            <a:endParaRPr sz="1800">
              <a:latin typeface="Times New Roman"/>
              <a:cs typeface="Times New Roman"/>
            </a:endParaRPr>
          </a:p>
        </p:txBody>
      </p:sp>
      <p:sp>
        <p:nvSpPr>
          <p:cNvPr id="34" name="object 34" descr=""/>
          <p:cNvSpPr txBox="1"/>
          <p:nvPr/>
        </p:nvSpPr>
        <p:spPr>
          <a:xfrm>
            <a:off x="8857346" y="2211444"/>
            <a:ext cx="941705" cy="300355"/>
          </a:xfrm>
          <a:prstGeom prst="rect">
            <a:avLst/>
          </a:prstGeom>
        </p:spPr>
        <p:txBody>
          <a:bodyPr wrap="square" lIns="0" tIns="12700" rIns="0" bIns="0" rtlCol="0" vert="horz">
            <a:spAutoFit/>
          </a:bodyPr>
          <a:lstStyle/>
          <a:p>
            <a:pPr marL="12700">
              <a:lnSpc>
                <a:spcPct val="100000"/>
              </a:lnSpc>
              <a:spcBef>
                <a:spcPts val="100"/>
              </a:spcBef>
            </a:pPr>
            <a:r>
              <a:rPr dirty="0" sz="1800" spc="-25">
                <a:solidFill>
                  <a:srgbClr val="0000FF"/>
                </a:solidFill>
                <a:latin typeface="宋体"/>
                <a:cs typeface="宋体"/>
              </a:rPr>
              <a:t>时钟周期</a:t>
            </a:r>
            <a:endParaRPr sz="1800">
              <a:latin typeface="宋体"/>
              <a:cs typeface="宋体"/>
            </a:endParaRPr>
          </a:p>
        </p:txBody>
      </p:sp>
      <p:sp>
        <p:nvSpPr>
          <p:cNvPr id="35" name="object 35" descr=""/>
          <p:cNvSpPr txBox="1"/>
          <p:nvPr/>
        </p:nvSpPr>
        <p:spPr>
          <a:xfrm>
            <a:off x="2629954" y="5033910"/>
            <a:ext cx="487680" cy="300355"/>
          </a:xfrm>
          <a:prstGeom prst="rect">
            <a:avLst/>
          </a:prstGeom>
        </p:spPr>
        <p:txBody>
          <a:bodyPr wrap="square" lIns="0" tIns="12700" rIns="0" bIns="0" rtlCol="0" vert="horz">
            <a:spAutoFit/>
          </a:bodyPr>
          <a:lstStyle/>
          <a:p>
            <a:pPr marL="12700">
              <a:lnSpc>
                <a:spcPct val="100000"/>
              </a:lnSpc>
              <a:spcBef>
                <a:spcPts val="100"/>
              </a:spcBef>
            </a:pPr>
            <a:r>
              <a:rPr dirty="0" sz="1800" spc="-25">
                <a:solidFill>
                  <a:srgbClr val="0000FF"/>
                </a:solidFill>
                <a:latin typeface="宋体"/>
                <a:cs typeface="宋体"/>
              </a:rPr>
              <a:t>指令</a:t>
            </a:r>
            <a:endParaRPr sz="1800">
              <a:latin typeface="宋体"/>
              <a:cs typeface="宋体"/>
            </a:endParaRPr>
          </a:p>
        </p:txBody>
      </p:sp>
      <p:sp>
        <p:nvSpPr>
          <p:cNvPr id="36" name="object 36" descr=""/>
          <p:cNvSpPr txBox="1"/>
          <p:nvPr/>
        </p:nvSpPr>
        <p:spPr>
          <a:xfrm>
            <a:off x="2604554" y="2138971"/>
            <a:ext cx="241300" cy="300355"/>
          </a:xfrm>
          <a:prstGeom prst="rect">
            <a:avLst/>
          </a:prstGeom>
        </p:spPr>
        <p:txBody>
          <a:bodyPr wrap="square" lIns="0" tIns="12700" rIns="0" bIns="0" rtlCol="0" vert="horz">
            <a:spAutoFit/>
          </a:bodyPr>
          <a:lstStyle/>
          <a:p>
            <a:pPr marL="38100">
              <a:lnSpc>
                <a:spcPct val="100000"/>
              </a:lnSpc>
              <a:spcBef>
                <a:spcPts val="100"/>
              </a:spcBef>
            </a:pPr>
            <a:r>
              <a:rPr dirty="0" sz="1800" spc="-25" b="1">
                <a:solidFill>
                  <a:srgbClr val="0000FF"/>
                </a:solidFill>
                <a:latin typeface="Times New Roman"/>
                <a:cs typeface="Times New Roman"/>
              </a:rPr>
              <a:t>I</a:t>
            </a:r>
            <a:r>
              <a:rPr dirty="0" baseline="-13888" sz="1800" spc="-37" b="1">
                <a:solidFill>
                  <a:srgbClr val="0000FF"/>
                </a:solidFill>
                <a:latin typeface="Times New Roman"/>
                <a:cs typeface="Times New Roman"/>
              </a:rPr>
              <a:t>1</a:t>
            </a:r>
            <a:endParaRPr baseline="-13888" sz="1800">
              <a:latin typeface="Times New Roman"/>
              <a:cs typeface="Times New Roman"/>
            </a:endParaRPr>
          </a:p>
        </p:txBody>
      </p:sp>
      <p:sp>
        <p:nvSpPr>
          <p:cNvPr id="37" name="object 37" descr=""/>
          <p:cNvSpPr txBox="1"/>
          <p:nvPr/>
        </p:nvSpPr>
        <p:spPr>
          <a:xfrm>
            <a:off x="2978830" y="2533039"/>
            <a:ext cx="241300" cy="300355"/>
          </a:xfrm>
          <a:prstGeom prst="rect">
            <a:avLst/>
          </a:prstGeom>
        </p:spPr>
        <p:txBody>
          <a:bodyPr wrap="square" lIns="0" tIns="12700" rIns="0" bIns="0" rtlCol="0" vert="horz">
            <a:spAutoFit/>
          </a:bodyPr>
          <a:lstStyle/>
          <a:p>
            <a:pPr marL="38100">
              <a:lnSpc>
                <a:spcPct val="100000"/>
              </a:lnSpc>
              <a:spcBef>
                <a:spcPts val="100"/>
              </a:spcBef>
            </a:pPr>
            <a:r>
              <a:rPr dirty="0" sz="1800" spc="-25" b="1">
                <a:solidFill>
                  <a:srgbClr val="0000FF"/>
                </a:solidFill>
                <a:latin typeface="Times New Roman"/>
                <a:cs typeface="Times New Roman"/>
              </a:rPr>
              <a:t>I</a:t>
            </a:r>
            <a:r>
              <a:rPr dirty="0" baseline="-13888" sz="1800" spc="-37" b="1">
                <a:solidFill>
                  <a:srgbClr val="0000FF"/>
                </a:solidFill>
                <a:latin typeface="Times New Roman"/>
                <a:cs typeface="Times New Roman"/>
              </a:rPr>
              <a:t>2</a:t>
            </a:r>
            <a:endParaRPr baseline="-13888" sz="1800">
              <a:latin typeface="Times New Roman"/>
              <a:cs typeface="Times New Roman"/>
            </a:endParaRPr>
          </a:p>
        </p:txBody>
      </p:sp>
      <p:sp>
        <p:nvSpPr>
          <p:cNvPr id="38" name="object 38" descr=""/>
          <p:cNvSpPr txBox="1"/>
          <p:nvPr/>
        </p:nvSpPr>
        <p:spPr>
          <a:xfrm>
            <a:off x="3404429" y="2924917"/>
            <a:ext cx="241300" cy="300355"/>
          </a:xfrm>
          <a:prstGeom prst="rect">
            <a:avLst/>
          </a:prstGeom>
        </p:spPr>
        <p:txBody>
          <a:bodyPr wrap="square" lIns="0" tIns="12700" rIns="0" bIns="0" rtlCol="0" vert="horz">
            <a:spAutoFit/>
          </a:bodyPr>
          <a:lstStyle/>
          <a:p>
            <a:pPr marL="38100">
              <a:lnSpc>
                <a:spcPct val="100000"/>
              </a:lnSpc>
              <a:spcBef>
                <a:spcPts val="100"/>
              </a:spcBef>
            </a:pPr>
            <a:r>
              <a:rPr dirty="0" sz="1800" spc="-25" b="1">
                <a:solidFill>
                  <a:srgbClr val="0000FF"/>
                </a:solidFill>
                <a:latin typeface="Times New Roman"/>
                <a:cs typeface="Times New Roman"/>
              </a:rPr>
              <a:t>I</a:t>
            </a:r>
            <a:r>
              <a:rPr dirty="0" baseline="-13888" sz="1800" spc="-37" b="1">
                <a:solidFill>
                  <a:srgbClr val="0000FF"/>
                </a:solidFill>
                <a:latin typeface="Times New Roman"/>
                <a:cs typeface="Times New Roman"/>
              </a:rPr>
              <a:t>3</a:t>
            </a:r>
            <a:endParaRPr baseline="-13888" sz="1800">
              <a:latin typeface="Times New Roman"/>
              <a:cs typeface="Times New Roman"/>
            </a:endParaRPr>
          </a:p>
        </p:txBody>
      </p:sp>
      <p:grpSp>
        <p:nvGrpSpPr>
          <p:cNvPr id="39" name="object 39" descr=""/>
          <p:cNvGrpSpPr/>
          <p:nvPr/>
        </p:nvGrpSpPr>
        <p:grpSpPr>
          <a:xfrm>
            <a:off x="2836640" y="2075551"/>
            <a:ext cx="909955" cy="2917825"/>
            <a:chOff x="2836640" y="2075551"/>
            <a:chExt cx="909955" cy="2917825"/>
          </a:xfrm>
        </p:grpSpPr>
        <p:sp>
          <p:nvSpPr>
            <p:cNvPr id="40" name="object 40" descr=""/>
            <p:cNvSpPr/>
            <p:nvPr/>
          </p:nvSpPr>
          <p:spPr>
            <a:xfrm>
              <a:off x="2838545" y="2077456"/>
              <a:ext cx="100330" cy="2914015"/>
            </a:xfrm>
            <a:custGeom>
              <a:avLst/>
              <a:gdLst/>
              <a:ahLst/>
              <a:cxnLst/>
              <a:rect l="l" t="t" r="r" b="b"/>
              <a:pathLst>
                <a:path w="100330" h="2914015">
                  <a:moveTo>
                    <a:pt x="0" y="2761465"/>
                  </a:moveTo>
                  <a:lnTo>
                    <a:pt x="51317" y="2913556"/>
                  </a:lnTo>
                  <a:lnTo>
                    <a:pt x="79624" y="2825407"/>
                  </a:lnTo>
                  <a:lnTo>
                    <a:pt x="51317" y="2825407"/>
                  </a:lnTo>
                  <a:lnTo>
                    <a:pt x="45076" y="2822312"/>
                  </a:lnTo>
                  <a:lnTo>
                    <a:pt x="42575" y="2819191"/>
                  </a:lnTo>
                  <a:lnTo>
                    <a:pt x="39441" y="2816096"/>
                  </a:lnTo>
                  <a:lnTo>
                    <a:pt x="36308" y="2809881"/>
                  </a:lnTo>
                  <a:lnTo>
                    <a:pt x="36308" y="2795721"/>
                  </a:lnTo>
                  <a:lnTo>
                    <a:pt x="0" y="2761465"/>
                  </a:lnTo>
                  <a:close/>
                </a:path>
                <a:path w="100330" h="2914015">
                  <a:moveTo>
                    <a:pt x="36308" y="2795721"/>
                  </a:moveTo>
                  <a:lnTo>
                    <a:pt x="36308" y="2809881"/>
                  </a:lnTo>
                  <a:lnTo>
                    <a:pt x="39441" y="2816096"/>
                  </a:lnTo>
                  <a:lnTo>
                    <a:pt x="42575" y="2819191"/>
                  </a:lnTo>
                  <a:lnTo>
                    <a:pt x="45076" y="2822312"/>
                  </a:lnTo>
                  <a:lnTo>
                    <a:pt x="51317" y="2825407"/>
                  </a:lnTo>
                  <a:lnTo>
                    <a:pt x="54450" y="2822312"/>
                  </a:lnTo>
                  <a:lnTo>
                    <a:pt x="60716" y="2819191"/>
                  </a:lnTo>
                  <a:lnTo>
                    <a:pt x="60716" y="2816096"/>
                  </a:lnTo>
                  <a:lnTo>
                    <a:pt x="63849" y="2809881"/>
                  </a:lnTo>
                  <a:lnTo>
                    <a:pt x="51317" y="2809881"/>
                  </a:lnTo>
                  <a:lnTo>
                    <a:pt x="36308" y="2795721"/>
                  </a:lnTo>
                  <a:close/>
                </a:path>
                <a:path w="100330" h="2914015">
                  <a:moveTo>
                    <a:pt x="100158" y="2761465"/>
                  </a:moveTo>
                  <a:lnTo>
                    <a:pt x="63849" y="2797458"/>
                  </a:lnTo>
                  <a:lnTo>
                    <a:pt x="63849" y="2809881"/>
                  </a:lnTo>
                  <a:lnTo>
                    <a:pt x="60716" y="2816096"/>
                  </a:lnTo>
                  <a:lnTo>
                    <a:pt x="60716" y="2819191"/>
                  </a:lnTo>
                  <a:lnTo>
                    <a:pt x="54450" y="2822312"/>
                  </a:lnTo>
                  <a:lnTo>
                    <a:pt x="51317" y="2825407"/>
                  </a:lnTo>
                  <a:lnTo>
                    <a:pt x="79624" y="2825407"/>
                  </a:lnTo>
                  <a:lnTo>
                    <a:pt x="100158" y="2761465"/>
                  </a:lnTo>
                  <a:close/>
                </a:path>
                <a:path w="100330" h="2914015">
                  <a:moveTo>
                    <a:pt x="54450" y="0"/>
                  </a:moveTo>
                  <a:lnTo>
                    <a:pt x="45076" y="0"/>
                  </a:lnTo>
                  <a:lnTo>
                    <a:pt x="42574" y="3019"/>
                  </a:lnTo>
                  <a:lnTo>
                    <a:pt x="39441" y="6039"/>
                  </a:lnTo>
                  <a:lnTo>
                    <a:pt x="36308" y="12330"/>
                  </a:lnTo>
                  <a:lnTo>
                    <a:pt x="36308" y="2795721"/>
                  </a:lnTo>
                  <a:lnTo>
                    <a:pt x="51317" y="2809881"/>
                  </a:lnTo>
                  <a:lnTo>
                    <a:pt x="63849" y="2797458"/>
                  </a:lnTo>
                  <a:lnTo>
                    <a:pt x="63849" y="12330"/>
                  </a:lnTo>
                  <a:lnTo>
                    <a:pt x="60716" y="6039"/>
                  </a:lnTo>
                  <a:lnTo>
                    <a:pt x="60716" y="3019"/>
                  </a:lnTo>
                  <a:lnTo>
                    <a:pt x="54450" y="0"/>
                  </a:lnTo>
                  <a:close/>
                </a:path>
                <a:path w="100330" h="2914015">
                  <a:moveTo>
                    <a:pt x="63849" y="2797458"/>
                  </a:moveTo>
                  <a:lnTo>
                    <a:pt x="51317" y="2809881"/>
                  </a:lnTo>
                  <a:lnTo>
                    <a:pt x="63849" y="2809881"/>
                  </a:lnTo>
                  <a:lnTo>
                    <a:pt x="63849" y="2797458"/>
                  </a:lnTo>
                  <a:close/>
                </a:path>
              </a:pathLst>
            </a:custGeom>
            <a:solidFill>
              <a:srgbClr val="000000"/>
            </a:solidFill>
          </p:spPr>
          <p:txBody>
            <a:bodyPr wrap="square" lIns="0" tIns="0" rIns="0" bIns="0" rtlCol="0"/>
            <a:lstStyle/>
            <a:p/>
          </p:txBody>
        </p:sp>
        <p:sp>
          <p:nvSpPr>
            <p:cNvPr id="41" name="object 41" descr=""/>
            <p:cNvSpPr/>
            <p:nvPr/>
          </p:nvSpPr>
          <p:spPr>
            <a:xfrm>
              <a:off x="2838545" y="2077456"/>
              <a:ext cx="100330" cy="2914015"/>
            </a:xfrm>
            <a:custGeom>
              <a:avLst/>
              <a:gdLst/>
              <a:ahLst/>
              <a:cxnLst/>
              <a:rect l="l" t="t" r="r" b="b"/>
              <a:pathLst>
                <a:path w="100330" h="2914015">
                  <a:moveTo>
                    <a:pt x="63849" y="12330"/>
                  </a:moveTo>
                  <a:lnTo>
                    <a:pt x="63849" y="2809881"/>
                  </a:lnTo>
                  <a:lnTo>
                    <a:pt x="60716" y="2816096"/>
                  </a:lnTo>
                  <a:lnTo>
                    <a:pt x="60716" y="2819192"/>
                  </a:lnTo>
                  <a:lnTo>
                    <a:pt x="54450" y="2822312"/>
                  </a:lnTo>
                  <a:lnTo>
                    <a:pt x="51317" y="2825407"/>
                  </a:lnTo>
                  <a:lnTo>
                    <a:pt x="45076" y="2822312"/>
                  </a:lnTo>
                  <a:lnTo>
                    <a:pt x="42575" y="2819192"/>
                  </a:lnTo>
                  <a:lnTo>
                    <a:pt x="39441" y="2816096"/>
                  </a:lnTo>
                  <a:lnTo>
                    <a:pt x="36308" y="2809881"/>
                  </a:lnTo>
                  <a:lnTo>
                    <a:pt x="36308" y="12330"/>
                  </a:lnTo>
                  <a:lnTo>
                    <a:pt x="39441" y="6039"/>
                  </a:lnTo>
                  <a:lnTo>
                    <a:pt x="42574" y="3019"/>
                  </a:lnTo>
                  <a:lnTo>
                    <a:pt x="45076" y="0"/>
                  </a:lnTo>
                  <a:lnTo>
                    <a:pt x="51317" y="0"/>
                  </a:lnTo>
                  <a:lnTo>
                    <a:pt x="54450" y="0"/>
                  </a:lnTo>
                  <a:lnTo>
                    <a:pt x="60716" y="3019"/>
                  </a:lnTo>
                  <a:lnTo>
                    <a:pt x="60716" y="6039"/>
                  </a:lnTo>
                  <a:lnTo>
                    <a:pt x="63849" y="12330"/>
                  </a:lnTo>
                  <a:close/>
                </a:path>
                <a:path w="100330" h="2914015">
                  <a:moveTo>
                    <a:pt x="51317" y="2809881"/>
                  </a:moveTo>
                  <a:lnTo>
                    <a:pt x="100158" y="2761466"/>
                  </a:lnTo>
                  <a:lnTo>
                    <a:pt x="51317" y="2913556"/>
                  </a:lnTo>
                  <a:lnTo>
                    <a:pt x="0" y="2761466"/>
                  </a:lnTo>
                  <a:lnTo>
                    <a:pt x="51317" y="2809881"/>
                  </a:lnTo>
                  <a:close/>
                </a:path>
              </a:pathLst>
            </a:custGeom>
            <a:ln w="3530">
              <a:solidFill>
                <a:srgbClr val="000000"/>
              </a:solidFill>
            </a:ln>
          </p:spPr>
          <p:txBody>
            <a:bodyPr wrap="square" lIns="0" tIns="0" rIns="0" bIns="0" rtlCol="0"/>
            <a:lstStyle/>
            <a:p/>
          </p:txBody>
        </p:sp>
        <p:sp>
          <p:nvSpPr>
            <p:cNvPr id="42" name="object 42" descr=""/>
            <p:cNvSpPr/>
            <p:nvPr/>
          </p:nvSpPr>
          <p:spPr>
            <a:xfrm>
              <a:off x="3737319" y="2086011"/>
              <a:ext cx="0" cy="391795"/>
            </a:xfrm>
            <a:custGeom>
              <a:avLst/>
              <a:gdLst/>
              <a:ahLst/>
              <a:cxnLst/>
              <a:rect l="l" t="t" r="r" b="b"/>
              <a:pathLst>
                <a:path w="0" h="391794">
                  <a:moveTo>
                    <a:pt x="0" y="0"/>
                  </a:moveTo>
                  <a:lnTo>
                    <a:pt x="0" y="391299"/>
                  </a:lnTo>
                </a:path>
              </a:pathLst>
            </a:custGeom>
            <a:ln w="18150">
              <a:solidFill>
                <a:srgbClr val="000000"/>
              </a:solidFill>
            </a:ln>
          </p:spPr>
          <p:txBody>
            <a:bodyPr wrap="square" lIns="0" tIns="0" rIns="0" bIns="0" rtlCol="0"/>
            <a:lstStyle/>
            <a:p/>
          </p:txBody>
        </p:sp>
      </p:grpSp>
      <p:sp>
        <p:nvSpPr>
          <p:cNvPr id="43" name="object 43" descr=""/>
          <p:cNvSpPr txBox="1"/>
          <p:nvPr/>
        </p:nvSpPr>
        <p:spPr>
          <a:xfrm>
            <a:off x="3746394" y="2132681"/>
            <a:ext cx="833755" cy="300355"/>
          </a:xfrm>
          <a:prstGeom prst="rect">
            <a:avLst/>
          </a:prstGeom>
        </p:spPr>
        <p:txBody>
          <a:bodyPr wrap="square" lIns="0" tIns="12700" rIns="0" bIns="0" rtlCol="0" vert="horz">
            <a:spAutoFit/>
          </a:bodyPr>
          <a:lstStyle/>
          <a:p>
            <a:pPr algn="ctr" marR="24765">
              <a:lnSpc>
                <a:spcPct val="100000"/>
              </a:lnSpc>
              <a:spcBef>
                <a:spcPts val="100"/>
              </a:spcBef>
            </a:pPr>
            <a:r>
              <a:rPr dirty="0" sz="1800" spc="-25">
                <a:latin typeface="Times New Roman"/>
                <a:cs typeface="Times New Roman"/>
              </a:rPr>
              <a:t>ID</a:t>
            </a:r>
            <a:endParaRPr sz="1800">
              <a:latin typeface="Times New Roman"/>
              <a:cs typeface="Times New Roman"/>
            </a:endParaRPr>
          </a:p>
        </p:txBody>
      </p:sp>
      <p:sp>
        <p:nvSpPr>
          <p:cNvPr id="44" name="object 44" descr=""/>
          <p:cNvSpPr txBox="1"/>
          <p:nvPr/>
        </p:nvSpPr>
        <p:spPr>
          <a:xfrm>
            <a:off x="4598198" y="2132681"/>
            <a:ext cx="2535555" cy="300355"/>
          </a:xfrm>
          <a:prstGeom prst="rect">
            <a:avLst/>
          </a:prstGeom>
        </p:spPr>
        <p:txBody>
          <a:bodyPr wrap="square" lIns="0" tIns="12700" rIns="0" bIns="0" rtlCol="0" vert="horz">
            <a:spAutoFit/>
          </a:bodyPr>
          <a:lstStyle/>
          <a:p>
            <a:pPr marL="257810">
              <a:lnSpc>
                <a:spcPct val="100000"/>
              </a:lnSpc>
              <a:spcBef>
                <a:spcPts val="100"/>
              </a:spcBef>
              <a:tabLst>
                <a:tab pos="981075" algn="l"/>
                <a:tab pos="1884680" algn="l"/>
              </a:tabLst>
            </a:pPr>
            <a:r>
              <a:rPr dirty="0" sz="1800" spc="-25">
                <a:latin typeface="Times New Roman"/>
                <a:cs typeface="Times New Roman"/>
              </a:rPr>
              <a:t>EX</a:t>
            </a:r>
            <a:r>
              <a:rPr dirty="0" sz="1800">
                <a:latin typeface="Times New Roman"/>
                <a:cs typeface="Times New Roman"/>
              </a:rPr>
              <a:t>	</a:t>
            </a:r>
            <a:r>
              <a:rPr dirty="0" sz="1800" spc="-25">
                <a:latin typeface="Times New Roman"/>
                <a:cs typeface="Times New Roman"/>
              </a:rPr>
              <a:t>MEM</a:t>
            </a:r>
            <a:r>
              <a:rPr dirty="0" sz="1800">
                <a:latin typeface="Times New Roman"/>
                <a:cs typeface="Times New Roman"/>
              </a:rPr>
              <a:t>	</a:t>
            </a:r>
            <a:r>
              <a:rPr dirty="0" sz="1800" spc="-35">
                <a:latin typeface="Times New Roman"/>
                <a:cs typeface="Times New Roman"/>
              </a:rPr>
              <a:t>WB</a:t>
            </a:r>
            <a:endParaRPr sz="1800">
              <a:latin typeface="Times New Roman"/>
              <a:cs typeface="Times New Roman"/>
            </a:endParaRPr>
          </a:p>
        </p:txBody>
      </p:sp>
      <p:sp>
        <p:nvSpPr>
          <p:cNvPr id="45" name="object 45" descr=""/>
          <p:cNvSpPr/>
          <p:nvPr/>
        </p:nvSpPr>
        <p:spPr>
          <a:xfrm>
            <a:off x="2886122" y="2086011"/>
            <a:ext cx="4683125" cy="391795"/>
          </a:xfrm>
          <a:custGeom>
            <a:avLst/>
            <a:gdLst/>
            <a:ahLst/>
            <a:cxnLst/>
            <a:rect l="l" t="t" r="r" b="b"/>
            <a:pathLst>
              <a:path w="4683125" h="391794">
                <a:moveTo>
                  <a:pt x="1703000" y="0"/>
                </a:moveTo>
                <a:lnTo>
                  <a:pt x="1703000" y="391299"/>
                </a:lnTo>
              </a:path>
              <a:path w="4683125" h="391794">
                <a:moveTo>
                  <a:pt x="2554172" y="0"/>
                </a:moveTo>
                <a:lnTo>
                  <a:pt x="2554172" y="391299"/>
                </a:lnTo>
              </a:path>
              <a:path w="4683125" h="391794">
                <a:moveTo>
                  <a:pt x="3405419" y="0"/>
                </a:moveTo>
                <a:lnTo>
                  <a:pt x="3405419" y="391299"/>
                </a:lnTo>
              </a:path>
              <a:path w="4683125" h="391794">
                <a:moveTo>
                  <a:pt x="0" y="391299"/>
                </a:moveTo>
                <a:lnTo>
                  <a:pt x="4682670" y="391299"/>
                </a:lnTo>
              </a:path>
              <a:path w="4683125" h="391794">
                <a:moveTo>
                  <a:pt x="4256667" y="0"/>
                </a:moveTo>
                <a:lnTo>
                  <a:pt x="4256667" y="391299"/>
                </a:lnTo>
              </a:path>
            </a:pathLst>
          </a:custGeom>
          <a:ln w="18113">
            <a:solidFill>
              <a:srgbClr val="000000"/>
            </a:solidFill>
          </a:ln>
        </p:spPr>
        <p:txBody>
          <a:bodyPr wrap="square" lIns="0" tIns="0" rIns="0" bIns="0" rtlCol="0"/>
          <a:lstStyle/>
          <a:p/>
        </p:txBody>
      </p:sp>
      <p:sp>
        <p:nvSpPr>
          <p:cNvPr id="46" name="object 46" descr=""/>
          <p:cNvSpPr txBox="1"/>
          <p:nvPr/>
        </p:nvSpPr>
        <p:spPr>
          <a:xfrm>
            <a:off x="4681830" y="4098916"/>
            <a:ext cx="240665" cy="300355"/>
          </a:xfrm>
          <a:prstGeom prst="rect">
            <a:avLst/>
          </a:prstGeom>
        </p:spPr>
        <p:txBody>
          <a:bodyPr wrap="square" lIns="0" tIns="12700" rIns="0" bIns="0" rtlCol="0" vert="horz">
            <a:spAutoFit/>
          </a:bodyPr>
          <a:lstStyle/>
          <a:p>
            <a:pPr marL="38100">
              <a:lnSpc>
                <a:spcPct val="100000"/>
              </a:lnSpc>
              <a:spcBef>
                <a:spcPts val="100"/>
              </a:spcBef>
            </a:pPr>
            <a:r>
              <a:rPr dirty="0" sz="1800" spc="-25" b="1">
                <a:solidFill>
                  <a:srgbClr val="0000FF"/>
                </a:solidFill>
                <a:latin typeface="Times New Roman"/>
                <a:cs typeface="Times New Roman"/>
              </a:rPr>
              <a:t>I</a:t>
            </a:r>
            <a:r>
              <a:rPr dirty="0" baseline="-13888" sz="1800" spc="-37" b="1">
                <a:solidFill>
                  <a:srgbClr val="0000FF"/>
                </a:solidFill>
                <a:latin typeface="Times New Roman"/>
                <a:cs typeface="Times New Roman"/>
              </a:rPr>
              <a:t>6</a:t>
            </a:r>
            <a:endParaRPr baseline="-13888" sz="1800">
              <a:latin typeface="Times New Roman"/>
              <a:cs typeface="Times New Roman"/>
            </a:endParaRPr>
          </a:p>
        </p:txBody>
      </p:sp>
      <p:sp>
        <p:nvSpPr>
          <p:cNvPr id="47" name="object 47" descr=""/>
          <p:cNvSpPr txBox="1"/>
          <p:nvPr/>
        </p:nvSpPr>
        <p:spPr>
          <a:xfrm>
            <a:off x="4255600" y="3707793"/>
            <a:ext cx="241300" cy="300355"/>
          </a:xfrm>
          <a:prstGeom prst="rect">
            <a:avLst/>
          </a:prstGeom>
        </p:spPr>
        <p:txBody>
          <a:bodyPr wrap="square" lIns="0" tIns="12700" rIns="0" bIns="0" rtlCol="0" vert="horz">
            <a:spAutoFit/>
          </a:bodyPr>
          <a:lstStyle/>
          <a:p>
            <a:pPr marL="38100">
              <a:lnSpc>
                <a:spcPct val="100000"/>
              </a:lnSpc>
              <a:spcBef>
                <a:spcPts val="100"/>
              </a:spcBef>
            </a:pPr>
            <a:r>
              <a:rPr dirty="0" sz="1800" spc="-25" b="1">
                <a:solidFill>
                  <a:srgbClr val="0000FF"/>
                </a:solidFill>
                <a:latin typeface="Times New Roman"/>
                <a:cs typeface="Times New Roman"/>
              </a:rPr>
              <a:t>I</a:t>
            </a:r>
            <a:r>
              <a:rPr dirty="0" baseline="-13888" sz="1800" spc="-37" b="1">
                <a:solidFill>
                  <a:srgbClr val="0000FF"/>
                </a:solidFill>
                <a:latin typeface="Times New Roman"/>
                <a:cs typeface="Times New Roman"/>
              </a:rPr>
              <a:t>5</a:t>
            </a:r>
            <a:endParaRPr baseline="-13888" sz="1800">
              <a:latin typeface="Times New Roman"/>
              <a:cs typeface="Times New Roman"/>
            </a:endParaRPr>
          </a:p>
        </p:txBody>
      </p:sp>
      <p:sp>
        <p:nvSpPr>
          <p:cNvPr id="48" name="object 48" descr=""/>
          <p:cNvSpPr txBox="1"/>
          <p:nvPr/>
        </p:nvSpPr>
        <p:spPr>
          <a:xfrm>
            <a:off x="3830027" y="3316041"/>
            <a:ext cx="241300" cy="300355"/>
          </a:xfrm>
          <a:prstGeom prst="rect">
            <a:avLst/>
          </a:prstGeom>
        </p:spPr>
        <p:txBody>
          <a:bodyPr wrap="square" lIns="0" tIns="12700" rIns="0" bIns="0" rtlCol="0" vert="horz">
            <a:spAutoFit/>
          </a:bodyPr>
          <a:lstStyle/>
          <a:p>
            <a:pPr marL="38100">
              <a:lnSpc>
                <a:spcPct val="100000"/>
              </a:lnSpc>
              <a:spcBef>
                <a:spcPts val="100"/>
              </a:spcBef>
            </a:pPr>
            <a:r>
              <a:rPr dirty="0" sz="1800" spc="-25" b="1">
                <a:solidFill>
                  <a:srgbClr val="0000FF"/>
                </a:solidFill>
                <a:latin typeface="Times New Roman"/>
                <a:cs typeface="Times New Roman"/>
              </a:rPr>
              <a:t>I</a:t>
            </a:r>
            <a:r>
              <a:rPr dirty="0" baseline="-13888" sz="1800" spc="-37" b="1">
                <a:solidFill>
                  <a:srgbClr val="0000FF"/>
                </a:solidFill>
                <a:latin typeface="Times New Roman"/>
                <a:cs typeface="Times New Roman"/>
              </a:rPr>
              <a:t>4</a:t>
            </a:r>
            <a:endParaRPr baseline="-13888" sz="1800">
              <a:latin typeface="Times New Roman"/>
              <a:cs typeface="Times New Roman"/>
            </a:endParaRPr>
          </a:p>
        </p:txBody>
      </p:sp>
      <p:sp>
        <p:nvSpPr>
          <p:cNvPr id="49" name="object 49" descr=""/>
          <p:cNvSpPr txBox="1"/>
          <p:nvPr/>
        </p:nvSpPr>
        <p:spPr>
          <a:xfrm>
            <a:off x="5107328" y="4490668"/>
            <a:ext cx="241300" cy="300355"/>
          </a:xfrm>
          <a:prstGeom prst="rect">
            <a:avLst/>
          </a:prstGeom>
        </p:spPr>
        <p:txBody>
          <a:bodyPr wrap="square" lIns="0" tIns="12700" rIns="0" bIns="0" rtlCol="0" vert="horz">
            <a:spAutoFit/>
          </a:bodyPr>
          <a:lstStyle/>
          <a:p>
            <a:pPr marL="38100">
              <a:lnSpc>
                <a:spcPct val="100000"/>
              </a:lnSpc>
              <a:spcBef>
                <a:spcPts val="100"/>
              </a:spcBef>
            </a:pPr>
            <a:r>
              <a:rPr dirty="0" sz="1800" spc="-25" b="1">
                <a:solidFill>
                  <a:srgbClr val="0000FF"/>
                </a:solidFill>
                <a:latin typeface="Times New Roman"/>
                <a:cs typeface="Times New Roman"/>
              </a:rPr>
              <a:t>I</a:t>
            </a:r>
            <a:r>
              <a:rPr dirty="0" baseline="-13888" sz="1800" spc="-37" b="1">
                <a:solidFill>
                  <a:srgbClr val="0000FF"/>
                </a:solidFill>
                <a:latin typeface="Times New Roman"/>
                <a:cs typeface="Times New Roman"/>
              </a:rPr>
              <a:t>7</a:t>
            </a:r>
            <a:endParaRPr baseline="-13888" sz="1800">
              <a:latin typeface="Times New Roman"/>
              <a:cs typeface="Times New Roman"/>
            </a:endParaRPr>
          </a:p>
        </p:txBody>
      </p:sp>
      <p:sp>
        <p:nvSpPr>
          <p:cNvPr id="50" name="object 50" descr=""/>
          <p:cNvSpPr txBox="1"/>
          <p:nvPr/>
        </p:nvSpPr>
        <p:spPr>
          <a:xfrm>
            <a:off x="4163524" y="2477311"/>
            <a:ext cx="851535" cy="391795"/>
          </a:xfrm>
          <a:prstGeom prst="rect">
            <a:avLst/>
          </a:prstGeom>
          <a:solidFill>
            <a:srgbClr val="FFFF99"/>
          </a:solidFill>
          <a:ln w="18150">
            <a:solidFill>
              <a:srgbClr val="000000"/>
            </a:solidFill>
          </a:ln>
        </p:spPr>
        <p:txBody>
          <a:bodyPr wrap="square" lIns="0" tIns="62230" rIns="0" bIns="0" rtlCol="0" vert="horz">
            <a:spAutoFit/>
          </a:bodyPr>
          <a:lstStyle/>
          <a:p>
            <a:pPr algn="ctr" marR="25400">
              <a:lnSpc>
                <a:spcPct val="100000"/>
              </a:lnSpc>
              <a:spcBef>
                <a:spcPts val="490"/>
              </a:spcBef>
            </a:pPr>
            <a:r>
              <a:rPr dirty="0" sz="1800" spc="-25">
                <a:latin typeface="Times New Roman"/>
                <a:cs typeface="Times New Roman"/>
              </a:rPr>
              <a:t>ID</a:t>
            </a:r>
            <a:endParaRPr sz="1800">
              <a:latin typeface="Times New Roman"/>
              <a:cs typeface="Times New Roman"/>
            </a:endParaRPr>
          </a:p>
        </p:txBody>
      </p:sp>
      <p:sp>
        <p:nvSpPr>
          <p:cNvPr id="51" name="object 51" descr=""/>
          <p:cNvSpPr txBox="1"/>
          <p:nvPr/>
        </p:nvSpPr>
        <p:spPr>
          <a:xfrm>
            <a:off x="5014721" y="2477311"/>
            <a:ext cx="851535" cy="391795"/>
          </a:xfrm>
          <a:prstGeom prst="rect">
            <a:avLst/>
          </a:prstGeom>
          <a:solidFill>
            <a:srgbClr val="CCFFCC"/>
          </a:solidFill>
          <a:ln w="18150">
            <a:solidFill>
              <a:srgbClr val="000000"/>
            </a:solidFill>
          </a:ln>
        </p:spPr>
        <p:txBody>
          <a:bodyPr wrap="square" lIns="0" tIns="62230" rIns="0" bIns="0" rtlCol="0" vert="horz">
            <a:spAutoFit/>
          </a:bodyPr>
          <a:lstStyle/>
          <a:p>
            <a:pPr marL="266700">
              <a:lnSpc>
                <a:spcPct val="100000"/>
              </a:lnSpc>
              <a:spcBef>
                <a:spcPts val="490"/>
              </a:spcBef>
            </a:pPr>
            <a:r>
              <a:rPr dirty="0" sz="1800" spc="-25">
                <a:latin typeface="Times New Roman"/>
                <a:cs typeface="Times New Roman"/>
              </a:rPr>
              <a:t>EX</a:t>
            </a:r>
            <a:endParaRPr sz="1800">
              <a:latin typeface="Times New Roman"/>
              <a:cs typeface="Times New Roman"/>
            </a:endParaRPr>
          </a:p>
        </p:txBody>
      </p:sp>
      <p:sp>
        <p:nvSpPr>
          <p:cNvPr id="52" name="object 52" descr=""/>
          <p:cNvSpPr txBox="1"/>
          <p:nvPr/>
        </p:nvSpPr>
        <p:spPr>
          <a:xfrm>
            <a:off x="5865792" y="2477311"/>
            <a:ext cx="851535" cy="391795"/>
          </a:xfrm>
          <a:prstGeom prst="rect">
            <a:avLst/>
          </a:prstGeom>
          <a:solidFill>
            <a:srgbClr val="CCFFFF"/>
          </a:solidFill>
          <a:ln w="18150">
            <a:solidFill>
              <a:srgbClr val="000000"/>
            </a:solidFill>
          </a:ln>
        </p:spPr>
        <p:txBody>
          <a:bodyPr wrap="square" lIns="0" tIns="62230" rIns="0" bIns="0" rtlCol="0" vert="horz">
            <a:spAutoFit/>
          </a:bodyPr>
          <a:lstStyle/>
          <a:p>
            <a:pPr marL="139700">
              <a:lnSpc>
                <a:spcPct val="100000"/>
              </a:lnSpc>
              <a:spcBef>
                <a:spcPts val="490"/>
              </a:spcBef>
            </a:pPr>
            <a:r>
              <a:rPr dirty="0" sz="1800" spc="-25">
                <a:latin typeface="Times New Roman"/>
                <a:cs typeface="Times New Roman"/>
              </a:rPr>
              <a:t>MEM</a:t>
            </a:r>
            <a:endParaRPr sz="1800">
              <a:latin typeface="Times New Roman"/>
              <a:cs typeface="Times New Roman"/>
            </a:endParaRPr>
          </a:p>
        </p:txBody>
      </p:sp>
      <p:sp>
        <p:nvSpPr>
          <p:cNvPr id="53" name="object 53" descr=""/>
          <p:cNvSpPr txBox="1"/>
          <p:nvPr/>
        </p:nvSpPr>
        <p:spPr>
          <a:xfrm>
            <a:off x="6717040" y="2477311"/>
            <a:ext cx="852169" cy="391795"/>
          </a:xfrm>
          <a:prstGeom prst="rect">
            <a:avLst/>
          </a:prstGeom>
          <a:solidFill>
            <a:srgbClr val="FFCCFF"/>
          </a:solidFill>
          <a:ln w="18150">
            <a:solidFill>
              <a:srgbClr val="000000"/>
            </a:solidFill>
          </a:ln>
        </p:spPr>
        <p:txBody>
          <a:bodyPr wrap="square" lIns="0" tIns="62230" rIns="0" bIns="0" rtlCol="0" vert="horz">
            <a:spAutoFit/>
          </a:bodyPr>
          <a:lstStyle/>
          <a:p>
            <a:pPr marL="191135">
              <a:lnSpc>
                <a:spcPct val="100000"/>
              </a:lnSpc>
              <a:spcBef>
                <a:spcPts val="490"/>
              </a:spcBef>
            </a:pPr>
            <a:r>
              <a:rPr dirty="0" sz="1800" spc="-25">
                <a:latin typeface="Times New Roman"/>
                <a:cs typeface="Times New Roman"/>
              </a:rPr>
              <a:t>WB</a:t>
            </a:r>
            <a:endParaRPr sz="1800">
              <a:latin typeface="Times New Roman"/>
              <a:cs typeface="Times New Roman"/>
            </a:endParaRPr>
          </a:p>
        </p:txBody>
      </p:sp>
      <p:sp>
        <p:nvSpPr>
          <p:cNvPr id="54" name="object 54" descr=""/>
          <p:cNvSpPr/>
          <p:nvPr/>
        </p:nvSpPr>
        <p:spPr>
          <a:xfrm>
            <a:off x="3311721" y="2868862"/>
            <a:ext cx="4683125" cy="0"/>
          </a:xfrm>
          <a:custGeom>
            <a:avLst/>
            <a:gdLst/>
            <a:ahLst/>
            <a:cxnLst/>
            <a:rect l="l" t="t" r="r" b="b"/>
            <a:pathLst>
              <a:path w="4683125" h="0">
                <a:moveTo>
                  <a:pt x="0" y="0"/>
                </a:moveTo>
                <a:lnTo>
                  <a:pt x="4682821" y="0"/>
                </a:lnTo>
              </a:path>
            </a:pathLst>
          </a:custGeom>
          <a:ln w="18076">
            <a:solidFill>
              <a:srgbClr val="000000"/>
            </a:solidFill>
          </a:ln>
        </p:spPr>
        <p:txBody>
          <a:bodyPr wrap="square" lIns="0" tIns="0" rIns="0" bIns="0" rtlCol="0"/>
          <a:lstStyle/>
          <a:p/>
        </p:txBody>
      </p:sp>
      <p:sp>
        <p:nvSpPr>
          <p:cNvPr id="55" name="object 55" descr=""/>
          <p:cNvSpPr txBox="1"/>
          <p:nvPr/>
        </p:nvSpPr>
        <p:spPr>
          <a:xfrm>
            <a:off x="3737319" y="2868862"/>
            <a:ext cx="852169" cy="391795"/>
          </a:xfrm>
          <a:prstGeom prst="rect">
            <a:avLst/>
          </a:prstGeom>
          <a:solidFill>
            <a:srgbClr val="FFCC99"/>
          </a:solidFill>
          <a:ln w="18150">
            <a:solidFill>
              <a:srgbClr val="000000"/>
            </a:solidFill>
          </a:ln>
        </p:spPr>
        <p:txBody>
          <a:bodyPr wrap="square" lIns="0" tIns="62230" rIns="0" bIns="0" rtlCol="0" vert="horz">
            <a:spAutoFit/>
          </a:bodyPr>
          <a:lstStyle/>
          <a:p>
            <a:pPr algn="ctr">
              <a:lnSpc>
                <a:spcPct val="100000"/>
              </a:lnSpc>
              <a:spcBef>
                <a:spcPts val="490"/>
              </a:spcBef>
            </a:pPr>
            <a:r>
              <a:rPr dirty="0" sz="1800" spc="-25">
                <a:latin typeface="Times New Roman"/>
                <a:cs typeface="Times New Roman"/>
              </a:rPr>
              <a:t>IF</a:t>
            </a:r>
            <a:endParaRPr sz="1800">
              <a:latin typeface="Times New Roman"/>
              <a:cs typeface="Times New Roman"/>
            </a:endParaRPr>
          </a:p>
        </p:txBody>
      </p:sp>
      <p:sp>
        <p:nvSpPr>
          <p:cNvPr id="56" name="object 56" descr=""/>
          <p:cNvSpPr txBox="1"/>
          <p:nvPr/>
        </p:nvSpPr>
        <p:spPr>
          <a:xfrm>
            <a:off x="4589123" y="2868862"/>
            <a:ext cx="851535" cy="391795"/>
          </a:xfrm>
          <a:prstGeom prst="rect">
            <a:avLst/>
          </a:prstGeom>
          <a:solidFill>
            <a:srgbClr val="FFFF99"/>
          </a:solidFill>
          <a:ln w="18150">
            <a:solidFill>
              <a:srgbClr val="000000"/>
            </a:solidFill>
          </a:ln>
        </p:spPr>
        <p:txBody>
          <a:bodyPr wrap="square" lIns="0" tIns="62230" rIns="0" bIns="0" rtlCol="0" vert="horz">
            <a:spAutoFit/>
          </a:bodyPr>
          <a:lstStyle/>
          <a:p>
            <a:pPr algn="ctr" marR="25400">
              <a:lnSpc>
                <a:spcPct val="100000"/>
              </a:lnSpc>
              <a:spcBef>
                <a:spcPts val="490"/>
              </a:spcBef>
            </a:pPr>
            <a:r>
              <a:rPr dirty="0" sz="1800" spc="-25">
                <a:latin typeface="Times New Roman"/>
                <a:cs typeface="Times New Roman"/>
              </a:rPr>
              <a:t>ID</a:t>
            </a:r>
            <a:endParaRPr sz="1800">
              <a:latin typeface="Times New Roman"/>
              <a:cs typeface="Times New Roman"/>
            </a:endParaRPr>
          </a:p>
        </p:txBody>
      </p:sp>
      <p:sp>
        <p:nvSpPr>
          <p:cNvPr id="57" name="object 57" descr=""/>
          <p:cNvSpPr txBox="1"/>
          <p:nvPr/>
        </p:nvSpPr>
        <p:spPr>
          <a:xfrm>
            <a:off x="5440295" y="2868862"/>
            <a:ext cx="851535" cy="391795"/>
          </a:xfrm>
          <a:prstGeom prst="rect">
            <a:avLst/>
          </a:prstGeom>
          <a:solidFill>
            <a:srgbClr val="CCFFCC"/>
          </a:solidFill>
          <a:ln w="18150">
            <a:solidFill>
              <a:srgbClr val="000000"/>
            </a:solidFill>
          </a:ln>
        </p:spPr>
        <p:txBody>
          <a:bodyPr wrap="square" lIns="0" tIns="62230" rIns="0" bIns="0" rtlCol="0" vert="horz">
            <a:spAutoFit/>
          </a:bodyPr>
          <a:lstStyle/>
          <a:p>
            <a:pPr marL="266700">
              <a:lnSpc>
                <a:spcPct val="100000"/>
              </a:lnSpc>
              <a:spcBef>
                <a:spcPts val="490"/>
              </a:spcBef>
            </a:pPr>
            <a:r>
              <a:rPr dirty="0" sz="1800" spc="-25">
                <a:latin typeface="Times New Roman"/>
                <a:cs typeface="Times New Roman"/>
              </a:rPr>
              <a:t>EX</a:t>
            </a:r>
            <a:endParaRPr sz="1800">
              <a:latin typeface="Times New Roman"/>
              <a:cs typeface="Times New Roman"/>
            </a:endParaRPr>
          </a:p>
        </p:txBody>
      </p:sp>
      <p:sp>
        <p:nvSpPr>
          <p:cNvPr id="58" name="object 58" descr=""/>
          <p:cNvSpPr txBox="1"/>
          <p:nvPr/>
        </p:nvSpPr>
        <p:spPr>
          <a:xfrm>
            <a:off x="6291542" y="2868862"/>
            <a:ext cx="851535" cy="391795"/>
          </a:xfrm>
          <a:prstGeom prst="rect">
            <a:avLst/>
          </a:prstGeom>
          <a:solidFill>
            <a:srgbClr val="CCFFFF"/>
          </a:solidFill>
          <a:ln w="18150">
            <a:solidFill>
              <a:srgbClr val="000000"/>
            </a:solidFill>
          </a:ln>
        </p:spPr>
        <p:txBody>
          <a:bodyPr wrap="square" lIns="0" tIns="62230" rIns="0" bIns="0" rtlCol="0" vert="horz">
            <a:spAutoFit/>
          </a:bodyPr>
          <a:lstStyle/>
          <a:p>
            <a:pPr marL="139700">
              <a:lnSpc>
                <a:spcPct val="100000"/>
              </a:lnSpc>
              <a:spcBef>
                <a:spcPts val="490"/>
              </a:spcBef>
            </a:pPr>
            <a:r>
              <a:rPr dirty="0" sz="1800" spc="-25">
                <a:latin typeface="Times New Roman"/>
                <a:cs typeface="Times New Roman"/>
              </a:rPr>
              <a:t>MEM</a:t>
            </a:r>
            <a:endParaRPr sz="1800">
              <a:latin typeface="Times New Roman"/>
              <a:cs typeface="Times New Roman"/>
            </a:endParaRPr>
          </a:p>
        </p:txBody>
      </p:sp>
      <p:sp>
        <p:nvSpPr>
          <p:cNvPr id="59" name="object 59" descr=""/>
          <p:cNvSpPr txBox="1"/>
          <p:nvPr/>
        </p:nvSpPr>
        <p:spPr>
          <a:xfrm>
            <a:off x="7142790" y="2868862"/>
            <a:ext cx="852169" cy="391795"/>
          </a:xfrm>
          <a:prstGeom prst="rect">
            <a:avLst/>
          </a:prstGeom>
          <a:solidFill>
            <a:srgbClr val="FFCCFF"/>
          </a:solidFill>
          <a:ln w="18150">
            <a:solidFill>
              <a:srgbClr val="000000"/>
            </a:solidFill>
          </a:ln>
        </p:spPr>
        <p:txBody>
          <a:bodyPr wrap="square" lIns="0" tIns="62230" rIns="0" bIns="0" rtlCol="0" vert="horz">
            <a:spAutoFit/>
          </a:bodyPr>
          <a:lstStyle/>
          <a:p>
            <a:pPr marL="191135">
              <a:lnSpc>
                <a:spcPct val="100000"/>
              </a:lnSpc>
              <a:spcBef>
                <a:spcPts val="490"/>
              </a:spcBef>
            </a:pPr>
            <a:r>
              <a:rPr dirty="0" sz="1800" spc="-25">
                <a:latin typeface="Times New Roman"/>
                <a:cs typeface="Times New Roman"/>
              </a:rPr>
              <a:t>WB</a:t>
            </a:r>
            <a:endParaRPr sz="1800">
              <a:latin typeface="Times New Roman"/>
              <a:cs typeface="Times New Roman"/>
            </a:endParaRPr>
          </a:p>
        </p:txBody>
      </p:sp>
      <p:sp>
        <p:nvSpPr>
          <p:cNvPr id="60" name="object 60" descr=""/>
          <p:cNvSpPr/>
          <p:nvPr/>
        </p:nvSpPr>
        <p:spPr>
          <a:xfrm>
            <a:off x="3737319" y="3260111"/>
            <a:ext cx="5108575" cy="394970"/>
          </a:xfrm>
          <a:custGeom>
            <a:avLst/>
            <a:gdLst/>
            <a:ahLst/>
            <a:cxnLst/>
            <a:rect l="l" t="t" r="r" b="b"/>
            <a:pathLst>
              <a:path w="5108575" h="394970">
                <a:moveTo>
                  <a:pt x="0" y="0"/>
                </a:moveTo>
                <a:lnTo>
                  <a:pt x="4682720" y="0"/>
                </a:lnTo>
              </a:path>
              <a:path w="5108575" h="394970">
                <a:moveTo>
                  <a:pt x="426204" y="394847"/>
                </a:moveTo>
                <a:lnTo>
                  <a:pt x="5108470" y="394847"/>
                </a:lnTo>
              </a:path>
            </a:pathLst>
          </a:custGeom>
          <a:ln w="18113">
            <a:solidFill>
              <a:srgbClr val="000000"/>
            </a:solidFill>
          </a:ln>
        </p:spPr>
        <p:txBody>
          <a:bodyPr wrap="square" lIns="0" tIns="0" rIns="0" bIns="0" rtlCol="0"/>
          <a:lstStyle/>
          <a:p/>
        </p:txBody>
      </p:sp>
      <p:sp>
        <p:nvSpPr>
          <p:cNvPr id="61" name="object 61" descr=""/>
          <p:cNvSpPr txBox="1"/>
          <p:nvPr/>
        </p:nvSpPr>
        <p:spPr>
          <a:xfrm>
            <a:off x="5440295" y="3654958"/>
            <a:ext cx="851535" cy="391160"/>
          </a:xfrm>
          <a:prstGeom prst="rect">
            <a:avLst/>
          </a:prstGeom>
          <a:solidFill>
            <a:srgbClr val="FFFF99"/>
          </a:solidFill>
          <a:ln w="18150">
            <a:solidFill>
              <a:srgbClr val="000000"/>
            </a:solidFill>
          </a:ln>
        </p:spPr>
        <p:txBody>
          <a:bodyPr wrap="square" lIns="0" tIns="59055" rIns="0" bIns="0" rtlCol="0" vert="horz">
            <a:spAutoFit/>
          </a:bodyPr>
          <a:lstStyle/>
          <a:p>
            <a:pPr algn="ctr" marR="25400">
              <a:lnSpc>
                <a:spcPct val="100000"/>
              </a:lnSpc>
              <a:spcBef>
                <a:spcPts val="465"/>
              </a:spcBef>
            </a:pPr>
            <a:r>
              <a:rPr dirty="0" sz="1800" spc="-25">
                <a:latin typeface="Times New Roman"/>
                <a:cs typeface="Times New Roman"/>
              </a:rPr>
              <a:t>ID</a:t>
            </a:r>
            <a:endParaRPr sz="1800">
              <a:latin typeface="Times New Roman"/>
              <a:cs typeface="Times New Roman"/>
            </a:endParaRPr>
          </a:p>
        </p:txBody>
      </p:sp>
      <p:sp>
        <p:nvSpPr>
          <p:cNvPr id="62" name="object 62" descr=""/>
          <p:cNvSpPr txBox="1"/>
          <p:nvPr/>
        </p:nvSpPr>
        <p:spPr>
          <a:xfrm>
            <a:off x="6291542" y="3654958"/>
            <a:ext cx="851535" cy="391160"/>
          </a:xfrm>
          <a:prstGeom prst="rect">
            <a:avLst/>
          </a:prstGeom>
          <a:solidFill>
            <a:srgbClr val="CCFFCC"/>
          </a:solidFill>
          <a:ln w="18150">
            <a:solidFill>
              <a:srgbClr val="000000"/>
            </a:solidFill>
          </a:ln>
        </p:spPr>
        <p:txBody>
          <a:bodyPr wrap="square" lIns="0" tIns="59055" rIns="0" bIns="0" rtlCol="0" vert="horz">
            <a:spAutoFit/>
          </a:bodyPr>
          <a:lstStyle/>
          <a:p>
            <a:pPr marL="267335">
              <a:lnSpc>
                <a:spcPct val="100000"/>
              </a:lnSpc>
              <a:spcBef>
                <a:spcPts val="465"/>
              </a:spcBef>
            </a:pPr>
            <a:r>
              <a:rPr dirty="0" sz="1800" spc="-25">
                <a:latin typeface="Times New Roman"/>
                <a:cs typeface="Times New Roman"/>
              </a:rPr>
              <a:t>EX</a:t>
            </a:r>
            <a:endParaRPr sz="1800">
              <a:latin typeface="Times New Roman"/>
              <a:cs typeface="Times New Roman"/>
            </a:endParaRPr>
          </a:p>
        </p:txBody>
      </p:sp>
      <p:sp>
        <p:nvSpPr>
          <p:cNvPr id="63" name="object 63" descr=""/>
          <p:cNvSpPr txBox="1"/>
          <p:nvPr/>
        </p:nvSpPr>
        <p:spPr>
          <a:xfrm>
            <a:off x="7142790" y="3654958"/>
            <a:ext cx="852169" cy="391160"/>
          </a:xfrm>
          <a:prstGeom prst="rect">
            <a:avLst/>
          </a:prstGeom>
          <a:solidFill>
            <a:srgbClr val="CCFFFF"/>
          </a:solidFill>
          <a:ln w="18150">
            <a:solidFill>
              <a:srgbClr val="000000"/>
            </a:solidFill>
          </a:ln>
        </p:spPr>
        <p:txBody>
          <a:bodyPr wrap="square" lIns="0" tIns="59055" rIns="0" bIns="0" rtlCol="0" vert="horz">
            <a:spAutoFit/>
          </a:bodyPr>
          <a:lstStyle/>
          <a:p>
            <a:pPr marL="139700">
              <a:lnSpc>
                <a:spcPct val="100000"/>
              </a:lnSpc>
              <a:spcBef>
                <a:spcPts val="465"/>
              </a:spcBef>
            </a:pPr>
            <a:r>
              <a:rPr dirty="0" sz="1800" spc="-25">
                <a:latin typeface="Times New Roman"/>
                <a:cs typeface="Times New Roman"/>
              </a:rPr>
              <a:t>MEM</a:t>
            </a:r>
            <a:endParaRPr sz="1800">
              <a:latin typeface="Times New Roman"/>
              <a:cs typeface="Times New Roman"/>
            </a:endParaRPr>
          </a:p>
        </p:txBody>
      </p:sp>
      <p:sp>
        <p:nvSpPr>
          <p:cNvPr id="64" name="object 64" descr=""/>
          <p:cNvSpPr txBox="1"/>
          <p:nvPr/>
        </p:nvSpPr>
        <p:spPr>
          <a:xfrm>
            <a:off x="7994543" y="3654958"/>
            <a:ext cx="851535" cy="391160"/>
          </a:xfrm>
          <a:prstGeom prst="rect">
            <a:avLst/>
          </a:prstGeom>
          <a:solidFill>
            <a:srgbClr val="FFCCFF"/>
          </a:solidFill>
          <a:ln w="18150">
            <a:solidFill>
              <a:srgbClr val="000000"/>
            </a:solidFill>
          </a:ln>
        </p:spPr>
        <p:txBody>
          <a:bodyPr wrap="square" lIns="0" tIns="59055" rIns="0" bIns="0" rtlCol="0" vert="horz">
            <a:spAutoFit/>
          </a:bodyPr>
          <a:lstStyle/>
          <a:p>
            <a:pPr marL="191135">
              <a:lnSpc>
                <a:spcPct val="100000"/>
              </a:lnSpc>
              <a:spcBef>
                <a:spcPts val="465"/>
              </a:spcBef>
            </a:pPr>
            <a:r>
              <a:rPr dirty="0" sz="1800" spc="-25">
                <a:latin typeface="Times New Roman"/>
                <a:cs typeface="Times New Roman"/>
              </a:rPr>
              <a:t>WB</a:t>
            </a:r>
            <a:endParaRPr sz="1800">
              <a:latin typeface="Times New Roman"/>
              <a:cs typeface="Times New Roman"/>
            </a:endParaRPr>
          </a:p>
        </p:txBody>
      </p:sp>
      <p:sp>
        <p:nvSpPr>
          <p:cNvPr id="65" name="object 65" descr=""/>
          <p:cNvSpPr/>
          <p:nvPr/>
        </p:nvSpPr>
        <p:spPr>
          <a:xfrm>
            <a:off x="4589123" y="4046106"/>
            <a:ext cx="4682490" cy="0"/>
          </a:xfrm>
          <a:custGeom>
            <a:avLst/>
            <a:gdLst/>
            <a:ahLst/>
            <a:cxnLst/>
            <a:rect l="l" t="t" r="r" b="b"/>
            <a:pathLst>
              <a:path w="4682490" h="0">
                <a:moveTo>
                  <a:pt x="0" y="0"/>
                </a:moveTo>
                <a:lnTo>
                  <a:pt x="4682164" y="0"/>
                </a:lnTo>
              </a:path>
            </a:pathLst>
          </a:custGeom>
          <a:ln w="18076">
            <a:solidFill>
              <a:srgbClr val="000000"/>
            </a:solidFill>
          </a:ln>
        </p:spPr>
        <p:txBody>
          <a:bodyPr wrap="square" lIns="0" tIns="0" rIns="0" bIns="0" rtlCol="0"/>
          <a:lstStyle/>
          <a:p/>
        </p:txBody>
      </p:sp>
      <p:sp>
        <p:nvSpPr>
          <p:cNvPr id="66" name="object 66" descr=""/>
          <p:cNvSpPr txBox="1"/>
          <p:nvPr/>
        </p:nvSpPr>
        <p:spPr>
          <a:xfrm>
            <a:off x="5014721" y="4046106"/>
            <a:ext cx="851535" cy="391795"/>
          </a:xfrm>
          <a:prstGeom prst="rect">
            <a:avLst/>
          </a:prstGeom>
          <a:solidFill>
            <a:srgbClr val="FFCC99"/>
          </a:solidFill>
          <a:ln w="18150">
            <a:solidFill>
              <a:srgbClr val="000000"/>
            </a:solidFill>
          </a:ln>
        </p:spPr>
        <p:txBody>
          <a:bodyPr wrap="square" lIns="0" tIns="59690" rIns="0" bIns="0" rtlCol="0" vert="horz">
            <a:spAutoFit/>
          </a:bodyPr>
          <a:lstStyle/>
          <a:p>
            <a:pPr algn="ctr">
              <a:lnSpc>
                <a:spcPct val="100000"/>
              </a:lnSpc>
              <a:spcBef>
                <a:spcPts val="470"/>
              </a:spcBef>
            </a:pPr>
            <a:r>
              <a:rPr dirty="0" sz="1800" spc="-25">
                <a:latin typeface="Times New Roman"/>
                <a:cs typeface="Times New Roman"/>
              </a:rPr>
              <a:t>IF</a:t>
            </a:r>
            <a:endParaRPr sz="1800">
              <a:latin typeface="Times New Roman"/>
              <a:cs typeface="Times New Roman"/>
            </a:endParaRPr>
          </a:p>
        </p:txBody>
      </p:sp>
      <p:sp>
        <p:nvSpPr>
          <p:cNvPr id="67" name="object 67" descr=""/>
          <p:cNvSpPr txBox="1"/>
          <p:nvPr/>
        </p:nvSpPr>
        <p:spPr>
          <a:xfrm>
            <a:off x="5865792" y="4046106"/>
            <a:ext cx="851535" cy="391795"/>
          </a:xfrm>
          <a:prstGeom prst="rect">
            <a:avLst/>
          </a:prstGeom>
          <a:solidFill>
            <a:srgbClr val="FFFF99"/>
          </a:solidFill>
          <a:ln w="18150">
            <a:solidFill>
              <a:srgbClr val="000000"/>
            </a:solidFill>
          </a:ln>
        </p:spPr>
        <p:txBody>
          <a:bodyPr wrap="square" lIns="0" tIns="59690" rIns="0" bIns="0" rtlCol="0" vert="horz">
            <a:spAutoFit/>
          </a:bodyPr>
          <a:lstStyle/>
          <a:p>
            <a:pPr algn="ctr" marR="24130">
              <a:lnSpc>
                <a:spcPct val="100000"/>
              </a:lnSpc>
              <a:spcBef>
                <a:spcPts val="470"/>
              </a:spcBef>
            </a:pPr>
            <a:r>
              <a:rPr dirty="0" sz="1800" spc="-25">
                <a:latin typeface="Times New Roman"/>
                <a:cs typeface="Times New Roman"/>
              </a:rPr>
              <a:t>ID</a:t>
            </a:r>
            <a:endParaRPr sz="1800">
              <a:latin typeface="Times New Roman"/>
              <a:cs typeface="Times New Roman"/>
            </a:endParaRPr>
          </a:p>
        </p:txBody>
      </p:sp>
      <p:sp>
        <p:nvSpPr>
          <p:cNvPr id="68" name="object 68" descr=""/>
          <p:cNvSpPr txBox="1"/>
          <p:nvPr/>
        </p:nvSpPr>
        <p:spPr>
          <a:xfrm>
            <a:off x="6717040" y="4046106"/>
            <a:ext cx="852169" cy="391795"/>
          </a:xfrm>
          <a:prstGeom prst="rect">
            <a:avLst/>
          </a:prstGeom>
          <a:solidFill>
            <a:srgbClr val="CCFFCC"/>
          </a:solidFill>
          <a:ln w="18150">
            <a:solidFill>
              <a:srgbClr val="000000"/>
            </a:solidFill>
          </a:ln>
        </p:spPr>
        <p:txBody>
          <a:bodyPr wrap="square" lIns="0" tIns="59690" rIns="0" bIns="0" rtlCol="0" vert="horz">
            <a:spAutoFit/>
          </a:bodyPr>
          <a:lstStyle/>
          <a:p>
            <a:pPr marL="267335">
              <a:lnSpc>
                <a:spcPct val="100000"/>
              </a:lnSpc>
              <a:spcBef>
                <a:spcPts val="470"/>
              </a:spcBef>
            </a:pPr>
            <a:r>
              <a:rPr dirty="0" sz="1800" spc="-25">
                <a:latin typeface="Times New Roman"/>
                <a:cs typeface="Times New Roman"/>
              </a:rPr>
              <a:t>EX</a:t>
            </a:r>
            <a:endParaRPr sz="1800">
              <a:latin typeface="Times New Roman"/>
              <a:cs typeface="Times New Roman"/>
            </a:endParaRPr>
          </a:p>
        </p:txBody>
      </p:sp>
      <p:sp>
        <p:nvSpPr>
          <p:cNvPr id="69" name="object 69" descr=""/>
          <p:cNvSpPr txBox="1"/>
          <p:nvPr/>
        </p:nvSpPr>
        <p:spPr>
          <a:xfrm>
            <a:off x="7568793" y="4046106"/>
            <a:ext cx="851535" cy="391795"/>
          </a:xfrm>
          <a:prstGeom prst="rect">
            <a:avLst/>
          </a:prstGeom>
          <a:solidFill>
            <a:srgbClr val="CCFFFF"/>
          </a:solidFill>
          <a:ln w="18150">
            <a:solidFill>
              <a:srgbClr val="000000"/>
            </a:solidFill>
          </a:ln>
        </p:spPr>
        <p:txBody>
          <a:bodyPr wrap="square" lIns="0" tIns="59690" rIns="0" bIns="0" rtlCol="0" vert="horz">
            <a:spAutoFit/>
          </a:bodyPr>
          <a:lstStyle/>
          <a:p>
            <a:pPr marL="139700">
              <a:lnSpc>
                <a:spcPct val="100000"/>
              </a:lnSpc>
              <a:spcBef>
                <a:spcPts val="470"/>
              </a:spcBef>
            </a:pPr>
            <a:r>
              <a:rPr dirty="0" sz="1800" spc="-25">
                <a:latin typeface="Times New Roman"/>
                <a:cs typeface="Times New Roman"/>
              </a:rPr>
              <a:t>MEM</a:t>
            </a:r>
            <a:endParaRPr sz="1800">
              <a:latin typeface="Times New Roman"/>
              <a:cs typeface="Times New Roman"/>
            </a:endParaRPr>
          </a:p>
        </p:txBody>
      </p:sp>
      <p:sp>
        <p:nvSpPr>
          <p:cNvPr id="70" name="object 70" descr=""/>
          <p:cNvSpPr txBox="1"/>
          <p:nvPr/>
        </p:nvSpPr>
        <p:spPr>
          <a:xfrm>
            <a:off x="8420040" y="4046106"/>
            <a:ext cx="851535" cy="391795"/>
          </a:xfrm>
          <a:prstGeom prst="rect">
            <a:avLst/>
          </a:prstGeom>
          <a:solidFill>
            <a:srgbClr val="FFCCFF"/>
          </a:solidFill>
          <a:ln w="18150">
            <a:solidFill>
              <a:srgbClr val="000000"/>
            </a:solidFill>
          </a:ln>
        </p:spPr>
        <p:txBody>
          <a:bodyPr wrap="square" lIns="0" tIns="59690" rIns="0" bIns="0" rtlCol="0" vert="horz">
            <a:spAutoFit/>
          </a:bodyPr>
          <a:lstStyle/>
          <a:p>
            <a:pPr marL="191135">
              <a:lnSpc>
                <a:spcPct val="100000"/>
              </a:lnSpc>
              <a:spcBef>
                <a:spcPts val="470"/>
              </a:spcBef>
            </a:pPr>
            <a:r>
              <a:rPr dirty="0" sz="1800" spc="-25">
                <a:latin typeface="Times New Roman"/>
                <a:cs typeface="Times New Roman"/>
              </a:rPr>
              <a:t>WB</a:t>
            </a:r>
            <a:endParaRPr sz="1800">
              <a:latin typeface="Times New Roman"/>
              <a:cs typeface="Times New Roman"/>
            </a:endParaRPr>
          </a:p>
        </p:txBody>
      </p:sp>
      <p:sp>
        <p:nvSpPr>
          <p:cNvPr id="71" name="object 71" descr=""/>
          <p:cNvSpPr/>
          <p:nvPr/>
        </p:nvSpPr>
        <p:spPr>
          <a:xfrm>
            <a:off x="5014721" y="4437859"/>
            <a:ext cx="4682490" cy="0"/>
          </a:xfrm>
          <a:custGeom>
            <a:avLst/>
            <a:gdLst/>
            <a:ahLst/>
            <a:cxnLst/>
            <a:rect l="l" t="t" r="r" b="b"/>
            <a:pathLst>
              <a:path w="4682490" h="0">
                <a:moveTo>
                  <a:pt x="0" y="0"/>
                </a:moveTo>
                <a:lnTo>
                  <a:pt x="4682063" y="0"/>
                </a:lnTo>
              </a:path>
            </a:pathLst>
          </a:custGeom>
          <a:ln w="18076">
            <a:solidFill>
              <a:srgbClr val="000000"/>
            </a:solidFill>
          </a:ln>
        </p:spPr>
        <p:txBody>
          <a:bodyPr wrap="square" lIns="0" tIns="0" rIns="0" bIns="0" rtlCol="0"/>
          <a:lstStyle/>
          <a:p/>
        </p:txBody>
      </p:sp>
      <p:sp>
        <p:nvSpPr>
          <p:cNvPr id="72" name="object 72" descr=""/>
          <p:cNvSpPr txBox="1"/>
          <p:nvPr/>
        </p:nvSpPr>
        <p:spPr>
          <a:xfrm>
            <a:off x="6291542" y="4437859"/>
            <a:ext cx="851535" cy="391160"/>
          </a:xfrm>
          <a:prstGeom prst="rect">
            <a:avLst/>
          </a:prstGeom>
          <a:solidFill>
            <a:srgbClr val="FFFF99"/>
          </a:solidFill>
          <a:ln w="18150">
            <a:solidFill>
              <a:srgbClr val="000000"/>
            </a:solidFill>
          </a:ln>
        </p:spPr>
        <p:txBody>
          <a:bodyPr wrap="square" lIns="0" tIns="59055" rIns="0" bIns="0" rtlCol="0" vert="horz">
            <a:spAutoFit/>
          </a:bodyPr>
          <a:lstStyle/>
          <a:p>
            <a:pPr algn="ctr" marR="24130">
              <a:lnSpc>
                <a:spcPct val="100000"/>
              </a:lnSpc>
              <a:spcBef>
                <a:spcPts val="465"/>
              </a:spcBef>
            </a:pPr>
            <a:r>
              <a:rPr dirty="0" sz="1800" spc="-25">
                <a:latin typeface="Times New Roman"/>
                <a:cs typeface="Times New Roman"/>
              </a:rPr>
              <a:t>ID</a:t>
            </a:r>
            <a:endParaRPr sz="1800">
              <a:latin typeface="Times New Roman"/>
              <a:cs typeface="Times New Roman"/>
            </a:endParaRPr>
          </a:p>
        </p:txBody>
      </p:sp>
      <p:sp>
        <p:nvSpPr>
          <p:cNvPr id="73" name="object 73" descr=""/>
          <p:cNvSpPr txBox="1"/>
          <p:nvPr/>
        </p:nvSpPr>
        <p:spPr>
          <a:xfrm>
            <a:off x="7142790" y="4437859"/>
            <a:ext cx="852169" cy="391160"/>
          </a:xfrm>
          <a:prstGeom prst="rect">
            <a:avLst/>
          </a:prstGeom>
          <a:solidFill>
            <a:srgbClr val="CCFFCC"/>
          </a:solidFill>
          <a:ln w="18150">
            <a:solidFill>
              <a:srgbClr val="000000"/>
            </a:solidFill>
          </a:ln>
        </p:spPr>
        <p:txBody>
          <a:bodyPr wrap="square" lIns="0" tIns="59055" rIns="0" bIns="0" rtlCol="0" vert="horz">
            <a:spAutoFit/>
          </a:bodyPr>
          <a:lstStyle/>
          <a:p>
            <a:pPr marL="267335">
              <a:lnSpc>
                <a:spcPct val="100000"/>
              </a:lnSpc>
              <a:spcBef>
                <a:spcPts val="465"/>
              </a:spcBef>
            </a:pPr>
            <a:r>
              <a:rPr dirty="0" sz="1800" spc="-25">
                <a:latin typeface="Times New Roman"/>
                <a:cs typeface="Times New Roman"/>
              </a:rPr>
              <a:t>EX</a:t>
            </a:r>
            <a:endParaRPr sz="1800">
              <a:latin typeface="Times New Roman"/>
              <a:cs typeface="Times New Roman"/>
            </a:endParaRPr>
          </a:p>
        </p:txBody>
      </p:sp>
      <p:sp>
        <p:nvSpPr>
          <p:cNvPr id="74" name="object 74" descr=""/>
          <p:cNvSpPr txBox="1"/>
          <p:nvPr/>
        </p:nvSpPr>
        <p:spPr>
          <a:xfrm>
            <a:off x="7994543" y="4437859"/>
            <a:ext cx="851535" cy="391160"/>
          </a:xfrm>
          <a:prstGeom prst="rect">
            <a:avLst/>
          </a:prstGeom>
          <a:solidFill>
            <a:srgbClr val="CCFFFF"/>
          </a:solidFill>
          <a:ln w="18150">
            <a:solidFill>
              <a:srgbClr val="000000"/>
            </a:solidFill>
          </a:ln>
        </p:spPr>
        <p:txBody>
          <a:bodyPr wrap="square" lIns="0" tIns="59055" rIns="0" bIns="0" rtlCol="0" vert="horz">
            <a:spAutoFit/>
          </a:bodyPr>
          <a:lstStyle/>
          <a:p>
            <a:pPr marL="139065">
              <a:lnSpc>
                <a:spcPct val="100000"/>
              </a:lnSpc>
              <a:spcBef>
                <a:spcPts val="465"/>
              </a:spcBef>
            </a:pPr>
            <a:r>
              <a:rPr dirty="0" sz="1800" spc="-25">
                <a:latin typeface="Times New Roman"/>
                <a:cs typeface="Times New Roman"/>
              </a:rPr>
              <a:t>MEM</a:t>
            </a:r>
            <a:endParaRPr sz="1800">
              <a:latin typeface="Times New Roman"/>
              <a:cs typeface="Times New Roman"/>
            </a:endParaRPr>
          </a:p>
        </p:txBody>
      </p:sp>
      <p:sp>
        <p:nvSpPr>
          <p:cNvPr id="75" name="object 75" descr=""/>
          <p:cNvSpPr txBox="1"/>
          <p:nvPr/>
        </p:nvSpPr>
        <p:spPr>
          <a:xfrm>
            <a:off x="8845791" y="4437859"/>
            <a:ext cx="851535" cy="391160"/>
          </a:xfrm>
          <a:prstGeom prst="rect">
            <a:avLst/>
          </a:prstGeom>
          <a:solidFill>
            <a:srgbClr val="FFCCFF"/>
          </a:solidFill>
          <a:ln w="18150">
            <a:solidFill>
              <a:srgbClr val="000000"/>
            </a:solidFill>
          </a:ln>
        </p:spPr>
        <p:txBody>
          <a:bodyPr wrap="square" lIns="0" tIns="59055" rIns="0" bIns="0" rtlCol="0" vert="horz">
            <a:spAutoFit/>
          </a:bodyPr>
          <a:lstStyle/>
          <a:p>
            <a:pPr marL="191135">
              <a:lnSpc>
                <a:spcPct val="100000"/>
              </a:lnSpc>
              <a:spcBef>
                <a:spcPts val="465"/>
              </a:spcBef>
            </a:pPr>
            <a:r>
              <a:rPr dirty="0" sz="1800" spc="-25">
                <a:latin typeface="Times New Roman"/>
                <a:cs typeface="Times New Roman"/>
              </a:rPr>
              <a:t>WB</a:t>
            </a:r>
            <a:endParaRPr sz="1800">
              <a:latin typeface="Times New Roman"/>
              <a:cs typeface="Times New Roman"/>
            </a:endParaRPr>
          </a:p>
        </p:txBody>
      </p:sp>
      <p:sp>
        <p:nvSpPr>
          <p:cNvPr id="76" name="object 76" descr=""/>
          <p:cNvSpPr/>
          <p:nvPr/>
        </p:nvSpPr>
        <p:spPr>
          <a:xfrm>
            <a:off x="5440295" y="4828982"/>
            <a:ext cx="4257040" cy="0"/>
          </a:xfrm>
          <a:custGeom>
            <a:avLst/>
            <a:gdLst/>
            <a:ahLst/>
            <a:cxnLst/>
            <a:rect l="l" t="t" r="r" b="b"/>
            <a:pathLst>
              <a:path w="4257040" h="0">
                <a:moveTo>
                  <a:pt x="0" y="0"/>
                </a:moveTo>
                <a:lnTo>
                  <a:pt x="4256490" y="0"/>
                </a:lnTo>
              </a:path>
            </a:pathLst>
          </a:custGeom>
          <a:ln w="18076">
            <a:solidFill>
              <a:srgbClr val="000000"/>
            </a:solidFill>
          </a:ln>
        </p:spPr>
        <p:txBody>
          <a:bodyPr wrap="square" lIns="0" tIns="0" rIns="0" bIns="0" rtlCol="0"/>
          <a:lstStyle/>
          <a:p/>
        </p:txBody>
      </p:sp>
      <p:sp>
        <p:nvSpPr>
          <p:cNvPr id="77" name="object 77" descr=""/>
          <p:cNvSpPr txBox="1"/>
          <p:nvPr/>
        </p:nvSpPr>
        <p:spPr>
          <a:xfrm>
            <a:off x="1205890" y="923670"/>
            <a:ext cx="3825240" cy="422275"/>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每隔</a:t>
            </a:r>
            <a:r>
              <a:rPr dirty="0" sz="2600" spc="-10">
                <a:solidFill>
                  <a:srgbClr val="0000CC"/>
                </a:solidFill>
                <a:latin typeface="黑体"/>
                <a:cs typeface="黑体"/>
              </a:rPr>
              <a:t>0.5</a:t>
            </a:r>
            <a:r>
              <a:rPr dirty="0" sz="2600" spc="-15">
                <a:solidFill>
                  <a:srgbClr val="0000CC"/>
                </a:solidFill>
                <a:latin typeface="黑体"/>
                <a:cs typeface="黑体"/>
              </a:rPr>
              <a:t>周期流出一条指令</a:t>
            </a:r>
            <a:endParaRPr sz="2600">
              <a:latin typeface="黑体"/>
              <a:cs typeface="黑体"/>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182/175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774293" y="965707"/>
            <a:ext cx="10237470" cy="5260975"/>
          </a:xfrm>
          <a:prstGeom prst="rect">
            <a:avLst/>
          </a:prstGeom>
        </p:spPr>
        <p:txBody>
          <a:bodyPr wrap="square" lIns="0" tIns="12700" rIns="0" bIns="0" rtlCol="0" vert="horz">
            <a:spAutoFit/>
          </a:bodyPr>
          <a:lstStyle/>
          <a:p>
            <a:pPr marL="469900" marR="5080" indent="-457200">
              <a:lnSpc>
                <a:spcPct val="120000"/>
              </a:lnSpc>
              <a:spcBef>
                <a:spcPts val="100"/>
              </a:spcBef>
              <a:buAutoNum type="arabicPeriod" startAt="4"/>
              <a:tabLst>
                <a:tab pos="469900" algn="l"/>
              </a:tabLst>
            </a:pPr>
            <a:r>
              <a:rPr dirty="0" sz="2400">
                <a:solidFill>
                  <a:srgbClr val="40458B"/>
                </a:solidFill>
                <a:latin typeface="黑体"/>
                <a:cs typeface="黑体"/>
              </a:rPr>
              <a:t>在有的资料上，把指令流水线级数为</a:t>
            </a:r>
            <a:r>
              <a:rPr dirty="0" sz="2400">
                <a:solidFill>
                  <a:srgbClr val="9933FF"/>
                </a:solidFill>
                <a:latin typeface="黑体"/>
                <a:cs typeface="黑体"/>
              </a:rPr>
              <a:t>8</a:t>
            </a:r>
            <a:r>
              <a:rPr dirty="0" sz="2400">
                <a:solidFill>
                  <a:srgbClr val="40458B"/>
                </a:solidFill>
                <a:latin typeface="黑体"/>
                <a:cs typeface="黑体"/>
              </a:rPr>
              <a:t>或</a:t>
            </a:r>
            <a:r>
              <a:rPr dirty="0" sz="2400">
                <a:solidFill>
                  <a:srgbClr val="9933FF"/>
                </a:solidFill>
                <a:latin typeface="黑体"/>
                <a:cs typeface="黑体"/>
              </a:rPr>
              <a:t>8</a:t>
            </a:r>
            <a:r>
              <a:rPr dirty="0" sz="2400">
                <a:solidFill>
                  <a:srgbClr val="40458B"/>
                </a:solidFill>
                <a:latin typeface="黑体"/>
                <a:cs typeface="黑体"/>
              </a:rPr>
              <a:t>以上的流水线处理机称为</a:t>
            </a:r>
            <a:r>
              <a:rPr dirty="0" sz="2400" spc="-20">
                <a:solidFill>
                  <a:srgbClr val="FF0000"/>
                </a:solidFill>
                <a:latin typeface="黑体"/>
                <a:cs typeface="黑体"/>
              </a:rPr>
              <a:t>超流水</a:t>
            </a:r>
            <a:r>
              <a:rPr dirty="0" sz="2400">
                <a:solidFill>
                  <a:srgbClr val="FF0000"/>
                </a:solidFill>
                <a:latin typeface="黑体"/>
                <a:cs typeface="黑体"/>
              </a:rPr>
              <a:t>线处理机</a:t>
            </a:r>
            <a:r>
              <a:rPr dirty="0" sz="2400" spc="-50">
                <a:solidFill>
                  <a:srgbClr val="40458B"/>
                </a:solidFill>
                <a:latin typeface="黑体"/>
                <a:cs typeface="黑体"/>
              </a:rPr>
              <a:t>。</a:t>
            </a:r>
            <a:endParaRPr sz="2400">
              <a:latin typeface="黑体"/>
              <a:cs typeface="黑体"/>
            </a:endParaRPr>
          </a:p>
          <a:p>
            <a:pPr marL="468630" indent="-455930">
              <a:lnSpc>
                <a:spcPct val="100000"/>
              </a:lnSpc>
              <a:spcBef>
                <a:spcPts val="1150"/>
              </a:spcBef>
              <a:buClr>
                <a:srgbClr val="40458B"/>
              </a:buClr>
              <a:buAutoNum type="arabicPeriod" startAt="4"/>
              <a:tabLst>
                <a:tab pos="468630" algn="l"/>
              </a:tabLst>
            </a:pPr>
            <a:r>
              <a:rPr dirty="0" sz="2400" spc="-10">
                <a:solidFill>
                  <a:srgbClr val="001F5F"/>
                </a:solidFill>
                <a:latin typeface="黑体"/>
                <a:cs typeface="黑体"/>
              </a:rPr>
              <a:t>典型的超流水线处理器：</a:t>
            </a:r>
            <a:r>
              <a:rPr dirty="0" sz="2400" spc="-10">
                <a:solidFill>
                  <a:srgbClr val="40458B"/>
                </a:solidFill>
                <a:latin typeface="黑体"/>
                <a:cs typeface="黑体"/>
              </a:rPr>
              <a:t>SGI公司的MIPS系列R4000</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a:solidFill>
                  <a:srgbClr val="40458B"/>
                </a:solidFill>
                <a:latin typeface="黑体"/>
                <a:cs typeface="黑体"/>
              </a:rPr>
              <a:t>R4000微处理器芯片内有2个</a:t>
            </a:r>
            <a:r>
              <a:rPr dirty="0" sz="2400" spc="-10">
                <a:solidFill>
                  <a:srgbClr val="40458B"/>
                </a:solidFill>
                <a:latin typeface="黑体"/>
                <a:cs typeface="黑体"/>
              </a:rPr>
              <a:t>Cache：</a:t>
            </a:r>
            <a:endParaRPr sz="2400">
              <a:latin typeface="黑体"/>
              <a:cs typeface="黑体"/>
            </a:endParaRPr>
          </a:p>
          <a:p>
            <a:pPr marL="1056005" indent="-456565">
              <a:lnSpc>
                <a:spcPct val="100000"/>
              </a:lnSpc>
              <a:spcBef>
                <a:spcPts val="1090"/>
              </a:spcBef>
              <a:buClr>
                <a:srgbClr val="4668F5"/>
              </a:buClr>
              <a:buSzPct val="68181"/>
              <a:buFont typeface="Wingdings"/>
              <a:buChar char=""/>
              <a:tabLst>
                <a:tab pos="1056005" algn="l"/>
              </a:tabLst>
            </a:pPr>
            <a:r>
              <a:rPr dirty="0" sz="2200" spc="-20" b="1">
                <a:solidFill>
                  <a:srgbClr val="9966FF"/>
                </a:solidFill>
                <a:latin typeface="宋体"/>
                <a:cs typeface="宋体"/>
              </a:rPr>
              <a:t>指令</a:t>
            </a:r>
            <a:r>
              <a:rPr dirty="0" sz="2200" spc="-10" b="1">
                <a:solidFill>
                  <a:srgbClr val="9933FF"/>
                </a:solidFill>
                <a:latin typeface="宋体"/>
                <a:cs typeface="宋体"/>
              </a:rPr>
              <a:t>Cache</a:t>
            </a:r>
            <a:r>
              <a:rPr dirty="0" sz="2200" spc="-20" b="1">
                <a:solidFill>
                  <a:srgbClr val="9966FF"/>
                </a:solidFill>
                <a:latin typeface="宋体"/>
                <a:cs typeface="宋体"/>
              </a:rPr>
              <a:t>和数据</a:t>
            </a:r>
            <a:r>
              <a:rPr dirty="0" sz="2200" spc="-10" b="1">
                <a:solidFill>
                  <a:srgbClr val="9933FF"/>
                </a:solidFill>
                <a:latin typeface="宋体"/>
                <a:cs typeface="宋体"/>
              </a:rPr>
              <a:t>Cache</a:t>
            </a:r>
            <a:endParaRPr sz="2200">
              <a:latin typeface="宋体"/>
              <a:cs typeface="宋体"/>
            </a:endParaRPr>
          </a:p>
          <a:p>
            <a:pPr marL="1056005" indent="-456565">
              <a:lnSpc>
                <a:spcPct val="100000"/>
              </a:lnSpc>
              <a:spcBef>
                <a:spcPts val="1055"/>
              </a:spcBef>
              <a:buClr>
                <a:srgbClr val="4668F5"/>
              </a:buClr>
              <a:buSzPct val="68181"/>
              <a:buFont typeface="Wingdings"/>
              <a:buChar char=""/>
              <a:tabLst>
                <a:tab pos="1056005" algn="l"/>
              </a:tabLst>
            </a:pPr>
            <a:r>
              <a:rPr dirty="0" sz="2200" spc="-20" b="1">
                <a:solidFill>
                  <a:srgbClr val="9966FF"/>
                </a:solidFill>
                <a:latin typeface="宋体"/>
                <a:cs typeface="宋体"/>
              </a:rPr>
              <a:t>容量都是</a:t>
            </a:r>
            <a:r>
              <a:rPr dirty="0" sz="2200" spc="-25" b="1">
                <a:solidFill>
                  <a:srgbClr val="9933FF"/>
                </a:solidFill>
                <a:latin typeface="宋体"/>
                <a:cs typeface="宋体"/>
              </a:rPr>
              <a:t>8KB</a:t>
            </a:r>
            <a:endParaRPr sz="2200">
              <a:latin typeface="宋体"/>
              <a:cs typeface="宋体"/>
            </a:endParaRPr>
          </a:p>
          <a:p>
            <a:pPr marL="1056005" indent="-456565">
              <a:lnSpc>
                <a:spcPct val="100000"/>
              </a:lnSpc>
              <a:spcBef>
                <a:spcPts val="1060"/>
              </a:spcBef>
              <a:buClr>
                <a:srgbClr val="4668F5"/>
              </a:buClr>
              <a:buSzPct val="68181"/>
              <a:buFont typeface="Wingdings"/>
              <a:buChar char=""/>
              <a:tabLst>
                <a:tab pos="1056005" algn="l"/>
              </a:tabLst>
            </a:pPr>
            <a:r>
              <a:rPr dirty="0" sz="2200" spc="-20" b="1">
                <a:solidFill>
                  <a:srgbClr val="9966FF"/>
                </a:solidFill>
                <a:latin typeface="宋体"/>
                <a:cs typeface="宋体"/>
              </a:rPr>
              <a:t>每个</a:t>
            </a:r>
            <a:r>
              <a:rPr dirty="0" sz="2200" spc="-10" b="1">
                <a:solidFill>
                  <a:srgbClr val="9933FF"/>
                </a:solidFill>
                <a:latin typeface="宋体"/>
                <a:cs typeface="宋体"/>
              </a:rPr>
              <a:t>Cache</a:t>
            </a:r>
            <a:r>
              <a:rPr dirty="0" sz="2200" spc="-20" b="1">
                <a:solidFill>
                  <a:srgbClr val="9966FF"/>
                </a:solidFill>
                <a:latin typeface="宋体"/>
                <a:cs typeface="宋体"/>
              </a:rPr>
              <a:t>的数据宽度为</a:t>
            </a:r>
            <a:r>
              <a:rPr dirty="0" sz="2200" spc="-10" b="1">
                <a:solidFill>
                  <a:srgbClr val="9933FF"/>
                </a:solidFill>
                <a:latin typeface="宋体"/>
                <a:cs typeface="宋体"/>
              </a:rPr>
              <a:t>64</a:t>
            </a:r>
            <a:r>
              <a:rPr dirty="0" sz="2200" spc="-50" b="1">
                <a:solidFill>
                  <a:srgbClr val="9966FF"/>
                </a:solidFill>
                <a:latin typeface="宋体"/>
                <a:cs typeface="宋体"/>
              </a:rPr>
              <a:t>位</a:t>
            </a:r>
            <a:endParaRPr sz="2200">
              <a:latin typeface="宋体"/>
              <a:cs typeface="宋体"/>
            </a:endParaRPr>
          </a:p>
          <a:p>
            <a:pPr marL="1099185" indent="-457200">
              <a:lnSpc>
                <a:spcPct val="100000"/>
              </a:lnSpc>
              <a:spcBef>
                <a:spcPts val="1120"/>
              </a:spcBef>
              <a:buSzPct val="89583"/>
              <a:buFont typeface="Wingdings"/>
              <a:buChar char=""/>
              <a:tabLst>
                <a:tab pos="1099185" algn="l"/>
              </a:tabLst>
            </a:pPr>
            <a:r>
              <a:rPr dirty="0" sz="2400" spc="-10">
                <a:solidFill>
                  <a:srgbClr val="40458B"/>
                </a:solidFill>
                <a:latin typeface="黑体"/>
                <a:cs typeface="黑体"/>
              </a:rPr>
              <a:t>R4000的核心处理部件：</a:t>
            </a:r>
            <a:r>
              <a:rPr dirty="0" sz="2400" spc="-20">
                <a:solidFill>
                  <a:srgbClr val="D50092"/>
                </a:solidFill>
                <a:latin typeface="黑体"/>
                <a:cs typeface="黑体"/>
              </a:rPr>
              <a:t>整数部件</a:t>
            </a:r>
            <a:endParaRPr sz="2400">
              <a:latin typeface="黑体"/>
              <a:cs typeface="黑体"/>
            </a:endParaRPr>
          </a:p>
          <a:p>
            <a:pPr marL="1056005" indent="-456565">
              <a:lnSpc>
                <a:spcPct val="100000"/>
              </a:lnSpc>
              <a:spcBef>
                <a:spcPts val="1090"/>
              </a:spcBef>
              <a:buClr>
                <a:srgbClr val="4668F5"/>
              </a:buClr>
              <a:buSzPct val="68181"/>
              <a:buFont typeface="Wingdings"/>
              <a:buChar char=""/>
              <a:tabLst>
                <a:tab pos="1056005" algn="l"/>
              </a:tabLst>
            </a:pPr>
            <a:r>
              <a:rPr dirty="0" sz="2200" spc="-20" b="1">
                <a:solidFill>
                  <a:srgbClr val="9966FF"/>
                </a:solidFill>
                <a:latin typeface="宋体"/>
                <a:cs typeface="宋体"/>
              </a:rPr>
              <a:t>一个</a:t>
            </a:r>
            <a:r>
              <a:rPr dirty="0" sz="2200" spc="-10" b="1">
                <a:solidFill>
                  <a:srgbClr val="9933FF"/>
                </a:solidFill>
                <a:latin typeface="宋体"/>
                <a:cs typeface="宋体"/>
              </a:rPr>
              <a:t>32×32</a:t>
            </a:r>
            <a:r>
              <a:rPr dirty="0" sz="2200" spc="-25" b="1">
                <a:solidFill>
                  <a:srgbClr val="9966FF"/>
                </a:solidFill>
                <a:latin typeface="宋体"/>
                <a:cs typeface="宋体"/>
              </a:rPr>
              <a:t>位的通用寄存器组</a:t>
            </a:r>
            <a:endParaRPr sz="2200">
              <a:latin typeface="宋体"/>
              <a:cs typeface="宋体"/>
            </a:endParaRPr>
          </a:p>
          <a:p>
            <a:pPr marL="1056005" indent="-456565">
              <a:lnSpc>
                <a:spcPct val="100000"/>
              </a:lnSpc>
              <a:spcBef>
                <a:spcPts val="1055"/>
              </a:spcBef>
              <a:buClr>
                <a:srgbClr val="4668F5"/>
              </a:buClr>
              <a:buSzPct val="68181"/>
              <a:buFont typeface="Wingdings"/>
              <a:buChar char=""/>
              <a:tabLst>
                <a:tab pos="1056005" algn="l"/>
              </a:tabLst>
            </a:pPr>
            <a:r>
              <a:rPr dirty="0" sz="2200" spc="-20" b="1">
                <a:solidFill>
                  <a:srgbClr val="9966FF"/>
                </a:solidFill>
                <a:latin typeface="宋体"/>
                <a:cs typeface="宋体"/>
              </a:rPr>
              <a:t>一个算术逻辑部件</a:t>
            </a:r>
            <a:r>
              <a:rPr dirty="0" sz="2200" spc="-10" b="1">
                <a:solidFill>
                  <a:srgbClr val="9933FF"/>
                </a:solidFill>
                <a:latin typeface="宋体"/>
                <a:cs typeface="宋体"/>
              </a:rPr>
              <a:t>（ALU）</a:t>
            </a:r>
            <a:endParaRPr sz="2200">
              <a:latin typeface="宋体"/>
              <a:cs typeface="宋体"/>
            </a:endParaRPr>
          </a:p>
          <a:p>
            <a:pPr marL="1056005" indent="-456565">
              <a:lnSpc>
                <a:spcPct val="100000"/>
              </a:lnSpc>
              <a:spcBef>
                <a:spcPts val="1055"/>
              </a:spcBef>
              <a:buClr>
                <a:srgbClr val="4668F5"/>
              </a:buClr>
              <a:buSzPct val="68181"/>
              <a:buFont typeface="Wingdings"/>
              <a:buChar char=""/>
              <a:tabLst>
                <a:tab pos="1056005" algn="l"/>
              </a:tabLst>
            </a:pPr>
            <a:r>
              <a:rPr dirty="0" sz="2200" spc="-30" b="1">
                <a:solidFill>
                  <a:srgbClr val="9966FF"/>
                </a:solidFill>
                <a:latin typeface="宋体"/>
                <a:cs typeface="宋体"/>
              </a:rPr>
              <a:t>一个专用的乘法/除法部件</a:t>
            </a:r>
            <a:endParaRPr sz="2200">
              <a:latin typeface="宋体"/>
              <a:cs typeface="宋体"/>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183/175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665480" y="990148"/>
            <a:ext cx="10972800" cy="3448685"/>
          </a:xfrm>
          <a:prstGeom prst="rect">
            <a:avLst/>
          </a:prstGeom>
        </p:spPr>
        <p:txBody>
          <a:bodyPr wrap="square" lIns="0" tIns="167640" rIns="0" bIns="0" rtlCol="0" vert="horz">
            <a:spAutoFit/>
          </a:bodyPr>
          <a:lstStyle/>
          <a:p>
            <a:pPr marL="512445" indent="-457200">
              <a:lnSpc>
                <a:spcPct val="100000"/>
              </a:lnSpc>
              <a:spcBef>
                <a:spcPts val="1320"/>
              </a:spcBef>
              <a:buSzPct val="89583"/>
              <a:buFont typeface="Wingdings"/>
              <a:buChar char=""/>
              <a:tabLst>
                <a:tab pos="512445" algn="l"/>
              </a:tabLst>
            </a:pPr>
            <a:r>
              <a:rPr dirty="0" sz="2400" spc="-15">
                <a:solidFill>
                  <a:srgbClr val="40458B"/>
                </a:solidFill>
                <a:latin typeface="黑体"/>
                <a:cs typeface="黑体"/>
              </a:rPr>
              <a:t>浮点部件</a:t>
            </a:r>
            <a:endParaRPr sz="2400">
              <a:latin typeface="黑体"/>
              <a:cs typeface="黑体"/>
            </a:endParaRPr>
          </a:p>
          <a:p>
            <a:pPr marL="469265" indent="-456565">
              <a:lnSpc>
                <a:spcPct val="100000"/>
              </a:lnSpc>
              <a:spcBef>
                <a:spcPts val="1025"/>
              </a:spcBef>
              <a:buClr>
                <a:srgbClr val="4668F5"/>
              </a:buClr>
              <a:buSzPct val="70000"/>
              <a:buFont typeface="Wingdings"/>
              <a:buChar char=""/>
              <a:tabLst>
                <a:tab pos="469265" algn="l"/>
              </a:tabLst>
            </a:pPr>
            <a:r>
              <a:rPr dirty="0" sz="2000" spc="-20" b="1">
                <a:solidFill>
                  <a:srgbClr val="9966FF"/>
                </a:solidFill>
                <a:latin typeface="宋体"/>
                <a:cs typeface="宋体"/>
              </a:rPr>
              <a:t>一个执行部件</a:t>
            </a:r>
            <a:endParaRPr sz="2000">
              <a:latin typeface="宋体"/>
              <a:cs typeface="宋体"/>
            </a:endParaRPr>
          </a:p>
          <a:p>
            <a:pPr lvl="1" marL="757555" indent="-381000">
              <a:lnSpc>
                <a:spcPct val="100000"/>
              </a:lnSpc>
              <a:spcBef>
                <a:spcPts val="894"/>
              </a:spcBef>
              <a:buClr>
                <a:srgbClr val="9966FF"/>
              </a:buClr>
              <a:buSzPct val="63888"/>
              <a:buFont typeface="Wingdings"/>
              <a:buChar char=""/>
              <a:tabLst>
                <a:tab pos="757555" algn="l"/>
              </a:tabLst>
            </a:pPr>
            <a:r>
              <a:rPr dirty="0" sz="1800" spc="-25" b="1">
                <a:solidFill>
                  <a:srgbClr val="FF09FF"/>
                </a:solidFill>
                <a:latin typeface="宋体"/>
                <a:cs typeface="宋体"/>
              </a:rPr>
              <a:t>浮点乘法部件</a:t>
            </a:r>
            <a:endParaRPr sz="1800">
              <a:latin typeface="宋体"/>
              <a:cs typeface="宋体"/>
            </a:endParaRPr>
          </a:p>
          <a:p>
            <a:pPr lvl="1" marL="757555" indent="-381000">
              <a:lnSpc>
                <a:spcPct val="100000"/>
              </a:lnSpc>
              <a:spcBef>
                <a:spcPts val="865"/>
              </a:spcBef>
              <a:buClr>
                <a:srgbClr val="9966FF"/>
              </a:buClr>
              <a:buSzPct val="63888"/>
              <a:buFont typeface="Wingdings"/>
              <a:buChar char=""/>
              <a:tabLst>
                <a:tab pos="757555" algn="l"/>
              </a:tabLst>
            </a:pPr>
            <a:r>
              <a:rPr dirty="0" sz="1800" spc="-20" b="1">
                <a:solidFill>
                  <a:srgbClr val="FF09FF"/>
                </a:solidFill>
                <a:latin typeface="宋体"/>
                <a:cs typeface="宋体"/>
              </a:rPr>
              <a:t>浮点除法部件</a:t>
            </a:r>
            <a:endParaRPr sz="1800">
              <a:latin typeface="宋体"/>
              <a:cs typeface="宋体"/>
            </a:endParaRPr>
          </a:p>
          <a:p>
            <a:pPr lvl="1" marL="757555" indent="-381000">
              <a:lnSpc>
                <a:spcPct val="100000"/>
              </a:lnSpc>
              <a:spcBef>
                <a:spcPts val="865"/>
              </a:spcBef>
              <a:buClr>
                <a:srgbClr val="9966FF"/>
              </a:buClr>
              <a:buSzPct val="63888"/>
              <a:buFont typeface="Wingdings"/>
              <a:buChar char=""/>
              <a:tabLst>
                <a:tab pos="757555" algn="l"/>
              </a:tabLst>
            </a:pPr>
            <a:r>
              <a:rPr dirty="0" sz="1800" spc="-10" b="1">
                <a:solidFill>
                  <a:srgbClr val="FF09FF"/>
                </a:solidFill>
                <a:latin typeface="宋体"/>
                <a:cs typeface="宋体"/>
              </a:rPr>
              <a:t>浮点加法</a:t>
            </a:r>
            <a:r>
              <a:rPr dirty="0" sz="1800" b="1">
                <a:solidFill>
                  <a:srgbClr val="FF09FF"/>
                </a:solidFill>
                <a:latin typeface="Tahoma"/>
                <a:cs typeface="Tahoma"/>
              </a:rPr>
              <a:t>/</a:t>
            </a:r>
            <a:r>
              <a:rPr dirty="0" sz="1800" spc="-10" b="1">
                <a:solidFill>
                  <a:srgbClr val="FF09FF"/>
                </a:solidFill>
                <a:latin typeface="宋体"/>
                <a:cs typeface="宋体"/>
              </a:rPr>
              <a:t>转换</a:t>
            </a:r>
            <a:r>
              <a:rPr dirty="0" sz="1800" b="1">
                <a:solidFill>
                  <a:srgbClr val="FF09FF"/>
                </a:solidFill>
                <a:latin typeface="Tahoma"/>
                <a:cs typeface="Tahoma"/>
              </a:rPr>
              <a:t>/</a:t>
            </a:r>
            <a:r>
              <a:rPr dirty="0" sz="1800" spc="-20" b="1">
                <a:solidFill>
                  <a:srgbClr val="FF09FF"/>
                </a:solidFill>
                <a:latin typeface="宋体"/>
                <a:cs typeface="宋体"/>
              </a:rPr>
              <a:t>求平方根部件</a:t>
            </a:r>
            <a:endParaRPr sz="1800">
              <a:latin typeface="宋体"/>
              <a:cs typeface="宋体"/>
            </a:endParaRPr>
          </a:p>
          <a:p>
            <a:pPr marL="576580">
              <a:lnSpc>
                <a:spcPct val="100000"/>
              </a:lnSpc>
              <a:spcBef>
                <a:spcPts val="865"/>
              </a:spcBef>
            </a:pPr>
            <a:r>
              <a:rPr dirty="0" sz="1800" spc="-10" b="1">
                <a:solidFill>
                  <a:srgbClr val="FF09FF"/>
                </a:solidFill>
                <a:latin typeface="宋体"/>
                <a:cs typeface="宋体"/>
              </a:rPr>
              <a:t>（它们可以并行工作</a:t>
            </a:r>
            <a:r>
              <a:rPr dirty="0" sz="1800" spc="-50" b="1">
                <a:solidFill>
                  <a:srgbClr val="FF09FF"/>
                </a:solidFill>
                <a:latin typeface="宋体"/>
                <a:cs typeface="宋体"/>
              </a:rPr>
              <a:t>）</a:t>
            </a:r>
            <a:endParaRPr sz="1800">
              <a:latin typeface="宋体"/>
              <a:cs typeface="宋体"/>
            </a:endParaRPr>
          </a:p>
          <a:p>
            <a:pPr marL="469265" indent="-456565">
              <a:lnSpc>
                <a:spcPct val="100000"/>
              </a:lnSpc>
              <a:spcBef>
                <a:spcPts val="930"/>
              </a:spcBef>
              <a:buClr>
                <a:srgbClr val="4668F5"/>
              </a:buClr>
              <a:buSzPct val="70000"/>
              <a:buFont typeface="Wingdings"/>
              <a:buChar char=""/>
              <a:tabLst>
                <a:tab pos="469265" algn="l"/>
              </a:tabLst>
            </a:pPr>
            <a:r>
              <a:rPr dirty="0" sz="2000" spc="-10" b="1">
                <a:solidFill>
                  <a:srgbClr val="9966FF"/>
                </a:solidFill>
                <a:latin typeface="宋体"/>
                <a:cs typeface="宋体"/>
              </a:rPr>
              <a:t>一个</a:t>
            </a:r>
            <a:r>
              <a:rPr dirty="0" sz="2000" spc="-10" b="1">
                <a:solidFill>
                  <a:srgbClr val="9933FF"/>
                </a:solidFill>
                <a:latin typeface="宋体"/>
                <a:cs typeface="宋体"/>
              </a:rPr>
              <a:t>16×64</a:t>
            </a:r>
            <a:r>
              <a:rPr dirty="0" sz="2000" spc="-20" b="1">
                <a:solidFill>
                  <a:srgbClr val="9966FF"/>
                </a:solidFill>
                <a:latin typeface="宋体"/>
                <a:cs typeface="宋体"/>
              </a:rPr>
              <a:t>位的浮点通用寄存器组。浮点通用寄存器组也可以设置成</a:t>
            </a:r>
            <a:r>
              <a:rPr dirty="0" sz="2000" spc="-10" b="1">
                <a:solidFill>
                  <a:srgbClr val="9933FF"/>
                </a:solidFill>
                <a:latin typeface="宋体"/>
                <a:cs typeface="宋体"/>
              </a:rPr>
              <a:t>32</a:t>
            </a:r>
            <a:r>
              <a:rPr dirty="0" sz="2000" spc="-10" b="1">
                <a:solidFill>
                  <a:srgbClr val="9966FF"/>
                </a:solidFill>
                <a:latin typeface="宋体"/>
                <a:cs typeface="宋体"/>
              </a:rPr>
              <a:t>个</a:t>
            </a:r>
            <a:r>
              <a:rPr dirty="0" sz="2000" spc="-10" b="1">
                <a:solidFill>
                  <a:srgbClr val="9933FF"/>
                </a:solidFill>
                <a:latin typeface="宋体"/>
                <a:cs typeface="宋体"/>
              </a:rPr>
              <a:t>32</a:t>
            </a:r>
            <a:r>
              <a:rPr dirty="0" sz="2000" spc="-25" b="1">
                <a:solidFill>
                  <a:srgbClr val="9966FF"/>
                </a:solidFill>
                <a:latin typeface="宋体"/>
                <a:cs typeface="宋体"/>
              </a:rPr>
              <a:t>位的浮点寄存器。</a:t>
            </a:r>
            <a:endParaRPr sz="2000">
              <a:latin typeface="宋体"/>
              <a:cs typeface="宋体"/>
            </a:endParaRPr>
          </a:p>
          <a:p>
            <a:pPr marL="512445" indent="-457200">
              <a:lnSpc>
                <a:spcPct val="100000"/>
              </a:lnSpc>
              <a:spcBef>
                <a:spcPts val="1085"/>
              </a:spcBef>
              <a:buClr>
                <a:srgbClr val="40458B"/>
              </a:buClr>
              <a:buSzPct val="89583"/>
              <a:buFont typeface="Wingdings"/>
              <a:buChar char=""/>
              <a:tabLst>
                <a:tab pos="512445" algn="l"/>
              </a:tabLst>
            </a:pPr>
            <a:r>
              <a:rPr dirty="0" sz="2400" spc="-10">
                <a:solidFill>
                  <a:srgbClr val="9933FF"/>
                </a:solidFill>
                <a:latin typeface="黑体"/>
                <a:cs typeface="黑体"/>
              </a:rPr>
              <a:t>R4000</a:t>
            </a:r>
            <a:r>
              <a:rPr dirty="0" sz="2400">
                <a:solidFill>
                  <a:srgbClr val="40458B"/>
                </a:solidFill>
                <a:latin typeface="黑体"/>
                <a:cs typeface="黑体"/>
              </a:rPr>
              <a:t>的指令流水线有</a:t>
            </a:r>
            <a:r>
              <a:rPr dirty="0" sz="2400">
                <a:solidFill>
                  <a:srgbClr val="9933FF"/>
                </a:solidFill>
                <a:latin typeface="黑体"/>
                <a:cs typeface="黑体"/>
              </a:rPr>
              <a:t>8</a:t>
            </a:r>
            <a:r>
              <a:rPr dirty="0" sz="2400" spc="-50">
                <a:solidFill>
                  <a:srgbClr val="40458B"/>
                </a:solidFill>
                <a:latin typeface="黑体"/>
                <a:cs typeface="黑体"/>
              </a:rPr>
              <a:t>级</a:t>
            </a:r>
            <a:endParaRPr sz="2400">
              <a:latin typeface="黑体"/>
              <a:cs typeface="黑体"/>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184/175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pic>
        <p:nvPicPr>
          <p:cNvPr id="10" name="object 10" descr=""/>
          <p:cNvPicPr/>
          <p:nvPr/>
        </p:nvPicPr>
        <p:blipFill>
          <a:blip r:embed="rId2" cstate="print"/>
          <a:stretch>
            <a:fillRect/>
          </a:stretch>
        </p:blipFill>
        <p:spPr>
          <a:xfrm>
            <a:off x="1271650" y="2565400"/>
            <a:ext cx="10080625" cy="1584325"/>
          </a:xfrm>
          <a:prstGeom prst="rect">
            <a:avLst/>
          </a:prstGeom>
        </p:spPr>
      </p:pic>
      <p:sp>
        <p:nvSpPr>
          <p:cNvPr id="11" name="object 11" descr=""/>
          <p:cNvSpPr txBox="1"/>
          <p:nvPr/>
        </p:nvSpPr>
        <p:spPr>
          <a:xfrm>
            <a:off x="2918205" y="1276858"/>
            <a:ext cx="3378835" cy="391160"/>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a:solidFill>
                  <a:srgbClr val="40458B"/>
                </a:solidFill>
                <a:latin typeface="黑体"/>
                <a:cs typeface="黑体"/>
              </a:rPr>
              <a:t>R4000</a:t>
            </a:r>
            <a:r>
              <a:rPr dirty="0" sz="2400" spc="-10">
                <a:solidFill>
                  <a:srgbClr val="40458B"/>
                </a:solidFill>
                <a:latin typeface="黑体"/>
                <a:cs typeface="黑体"/>
              </a:rPr>
              <a:t>指令流水线结构</a:t>
            </a:r>
            <a:endParaRPr sz="2400">
              <a:latin typeface="黑体"/>
              <a:cs typeface="黑体"/>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185/175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861161" y="1124874"/>
            <a:ext cx="11243310" cy="4303395"/>
          </a:xfrm>
          <a:prstGeom prst="rect">
            <a:avLst/>
          </a:prstGeom>
        </p:spPr>
        <p:txBody>
          <a:bodyPr wrap="square" lIns="0" tIns="164465" rIns="0" bIns="0" rtlCol="0" vert="horz">
            <a:spAutoFit/>
          </a:bodyPr>
          <a:lstStyle/>
          <a:p>
            <a:pPr marL="283210" indent="-270510">
              <a:lnSpc>
                <a:spcPct val="100000"/>
              </a:lnSpc>
              <a:spcBef>
                <a:spcPts val="1295"/>
              </a:spcBef>
              <a:buSzPct val="89583"/>
              <a:buFont typeface="Wingdings"/>
              <a:buChar char=""/>
              <a:tabLst>
                <a:tab pos="283210" algn="l"/>
              </a:tabLst>
            </a:pPr>
            <a:r>
              <a:rPr dirty="0" sz="2400" spc="-10">
                <a:solidFill>
                  <a:srgbClr val="40458B"/>
                </a:solidFill>
                <a:latin typeface="黑体"/>
                <a:cs typeface="黑体"/>
              </a:rPr>
              <a:t>各级的功能</a:t>
            </a:r>
            <a:endParaRPr sz="2400">
              <a:latin typeface="黑体"/>
              <a:cs typeface="黑体"/>
            </a:endParaRPr>
          </a:p>
          <a:p>
            <a:pPr lvl="1" marL="969644" indent="-457200">
              <a:lnSpc>
                <a:spcPct val="100000"/>
              </a:lnSpc>
              <a:spcBef>
                <a:spcPts val="1090"/>
              </a:spcBef>
              <a:buClr>
                <a:srgbClr val="4668F5"/>
              </a:buClr>
              <a:buSzPct val="68181"/>
              <a:buFont typeface="Wingdings"/>
              <a:buChar char=""/>
              <a:tabLst>
                <a:tab pos="969644" algn="l"/>
              </a:tabLst>
            </a:pPr>
            <a:r>
              <a:rPr dirty="0" sz="2200" spc="-10" b="1">
                <a:solidFill>
                  <a:srgbClr val="D50092"/>
                </a:solidFill>
                <a:latin typeface="宋体"/>
                <a:cs typeface="宋体"/>
              </a:rPr>
              <a:t>IF：</a:t>
            </a:r>
            <a:r>
              <a:rPr dirty="0" sz="2200" spc="-20" b="1">
                <a:solidFill>
                  <a:srgbClr val="9966FF"/>
                </a:solidFill>
                <a:latin typeface="宋体"/>
                <a:cs typeface="宋体"/>
              </a:rPr>
              <a:t>取指令的前半步，根据</a:t>
            </a:r>
            <a:r>
              <a:rPr dirty="0" sz="2200" spc="-10" b="1">
                <a:solidFill>
                  <a:srgbClr val="9966FF"/>
                </a:solidFill>
                <a:latin typeface="宋体"/>
                <a:cs typeface="宋体"/>
              </a:rPr>
              <a:t>PC</a:t>
            </a:r>
            <a:r>
              <a:rPr dirty="0" sz="2200" spc="-25" b="1">
                <a:solidFill>
                  <a:srgbClr val="9966FF"/>
                </a:solidFill>
                <a:latin typeface="宋体"/>
                <a:cs typeface="宋体"/>
              </a:rPr>
              <a:t>值去启动对指令</a:t>
            </a:r>
            <a:r>
              <a:rPr dirty="0" sz="2200" spc="-10" b="1">
                <a:solidFill>
                  <a:srgbClr val="9966FF"/>
                </a:solidFill>
                <a:latin typeface="宋体"/>
                <a:cs typeface="宋体"/>
              </a:rPr>
              <a:t>Cache</a:t>
            </a:r>
            <a:r>
              <a:rPr dirty="0" sz="2200" spc="-30" b="1">
                <a:solidFill>
                  <a:srgbClr val="9966FF"/>
                </a:solidFill>
                <a:latin typeface="宋体"/>
                <a:cs typeface="宋体"/>
              </a:rPr>
              <a:t>的访问。</a:t>
            </a:r>
            <a:endParaRPr sz="2200">
              <a:latin typeface="宋体"/>
              <a:cs typeface="宋体"/>
            </a:endParaRPr>
          </a:p>
          <a:p>
            <a:pPr lvl="1" marL="969644" indent="-457200">
              <a:lnSpc>
                <a:spcPct val="100000"/>
              </a:lnSpc>
              <a:spcBef>
                <a:spcPts val="1055"/>
              </a:spcBef>
              <a:buClr>
                <a:srgbClr val="4668F5"/>
              </a:buClr>
              <a:buSzPct val="68181"/>
              <a:buFont typeface="Wingdings"/>
              <a:buChar char=""/>
              <a:tabLst>
                <a:tab pos="969644" algn="l"/>
              </a:tabLst>
            </a:pPr>
            <a:r>
              <a:rPr dirty="0" sz="2200" spc="-10" b="1">
                <a:solidFill>
                  <a:srgbClr val="D50092"/>
                </a:solidFill>
                <a:latin typeface="宋体"/>
                <a:cs typeface="宋体"/>
              </a:rPr>
              <a:t>IS：</a:t>
            </a:r>
            <a:r>
              <a:rPr dirty="0" sz="2200" spc="-20" b="1">
                <a:solidFill>
                  <a:srgbClr val="9966FF"/>
                </a:solidFill>
                <a:latin typeface="宋体"/>
                <a:cs typeface="宋体"/>
              </a:rPr>
              <a:t>取指令的后半步，在这一级完成对指令</a:t>
            </a:r>
            <a:r>
              <a:rPr dirty="0" sz="2200" spc="-10" b="1">
                <a:solidFill>
                  <a:srgbClr val="9966FF"/>
                </a:solidFill>
                <a:latin typeface="宋体"/>
                <a:cs typeface="宋体"/>
              </a:rPr>
              <a:t>Cache</a:t>
            </a:r>
            <a:r>
              <a:rPr dirty="0" sz="2200" spc="-30" b="1">
                <a:solidFill>
                  <a:srgbClr val="9966FF"/>
                </a:solidFill>
                <a:latin typeface="宋体"/>
                <a:cs typeface="宋体"/>
              </a:rPr>
              <a:t>的访问。</a:t>
            </a:r>
            <a:endParaRPr sz="2200">
              <a:latin typeface="宋体"/>
              <a:cs typeface="宋体"/>
            </a:endParaRPr>
          </a:p>
          <a:p>
            <a:pPr lvl="1" marL="969644" indent="-457200">
              <a:lnSpc>
                <a:spcPct val="100000"/>
              </a:lnSpc>
              <a:spcBef>
                <a:spcPts val="1060"/>
              </a:spcBef>
              <a:buClr>
                <a:srgbClr val="4668F5"/>
              </a:buClr>
              <a:buSzPct val="68181"/>
              <a:buFont typeface="Wingdings"/>
              <a:buChar char=""/>
              <a:tabLst>
                <a:tab pos="969644" algn="l"/>
              </a:tabLst>
            </a:pPr>
            <a:r>
              <a:rPr dirty="0" sz="2200" spc="-10" b="1">
                <a:solidFill>
                  <a:srgbClr val="D50092"/>
                </a:solidFill>
                <a:latin typeface="宋体"/>
                <a:cs typeface="宋体"/>
              </a:rPr>
              <a:t>RF：</a:t>
            </a:r>
            <a:r>
              <a:rPr dirty="0" sz="2200" spc="-25" b="1">
                <a:solidFill>
                  <a:srgbClr val="9966FF"/>
                </a:solidFill>
                <a:latin typeface="宋体"/>
                <a:cs typeface="宋体"/>
              </a:rPr>
              <a:t>指令译码，访问寄存器组读取操作数，冲突检测，并判断指令</a:t>
            </a:r>
            <a:r>
              <a:rPr dirty="0" sz="2200" spc="-10" b="1">
                <a:solidFill>
                  <a:srgbClr val="9966FF"/>
                </a:solidFill>
                <a:latin typeface="宋体"/>
                <a:cs typeface="宋体"/>
              </a:rPr>
              <a:t>Cache</a:t>
            </a:r>
            <a:r>
              <a:rPr dirty="0" sz="2200" spc="-30" b="1">
                <a:solidFill>
                  <a:srgbClr val="9966FF"/>
                </a:solidFill>
                <a:latin typeface="宋体"/>
                <a:cs typeface="宋体"/>
              </a:rPr>
              <a:t>是否命中。</a:t>
            </a:r>
            <a:endParaRPr sz="2200">
              <a:latin typeface="宋体"/>
              <a:cs typeface="宋体"/>
            </a:endParaRPr>
          </a:p>
          <a:p>
            <a:pPr lvl="1" marL="969644" indent="-457200">
              <a:lnSpc>
                <a:spcPct val="100000"/>
              </a:lnSpc>
              <a:spcBef>
                <a:spcPts val="1055"/>
              </a:spcBef>
              <a:buClr>
                <a:srgbClr val="4668F5"/>
              </a:buClr>
              <a:buSzPct val="68181"/>
              <a:buFont typeface="Wingdings"/>
              <a:buChar char=""/>
              <a:tabLst>
                <a:tab pos="969644" algn="l"/>
              </a:tabLst>
            </a:pPr>
            <a:r>
              <a:rPr dirty="0" sz="2200" spc="-20" b="1">
                <a:solidFill>
                  <a:srgbClr val="D50092"/>
                </a:solidFill>
                <a:latin typeface="宋体"/>
                <a:cs typeface="宋体"/>
              </a:rPr>
              <a:t>EX</a:t>
            </a:r>
            <a:r>
              <a:rPr dirty="0" sz="2200" spc="-25" b="1">
                <a:solidFill>
                  <a:srgbClr val="9966FF"/>
                </a:solidFill>
                <a:latin typeface="宋体"/>
                <a:cs typeface="宋体"/>
              </a:rPr>
              <a:t>：指令执行。包括：有效地址计算，</a:t>
            </a:r>
            <a:r>
              <a:rPr dirty="0" sz="2200" b="1">
                <a:solidFill>
                  <a:srgbClr val="9966FF"/>
                </a:solidFill>
                <a:latin typeface="宋体"/>
                <a:cs typeface="宋体"/>
              </a:rPr>
              <a:t>ALU</a:t>
            </a:r>
            <a:r>
              <a:rPr dirty="0" sz="2200" spc="-30" b="1">
                <a:solidFill>
                  <a:srgbClr val="9966FF"/>
                </a:solidFill>
                <a:latin typeface="宋体"/>
                <a:cs typeface="宋体"/>
              </a:rPr>
              <a:t>操作，分支目标地址计算，条件码测试。</a:t>
            </a:r>
            <a:endParaRPr sz="2200">
              <a:latin typeface="宋体"/>
              <a:cs typeface="宋体"/>
            </a:endParaRPr>
          </a:p>
          <a:p>
            <a:pPr lvl="1" marL="969644" indent="-457200">
              <a:lnSpc>
                <a:spcPct val="100000"/>
              </a:lnSpc>
              <a:spcBef>
                <a:spcPts val="1055"/>
              </a:spcBef>
              <a:buClr>
                <a:srgbClr val="4668F5"/>
              </a:buClr>
              <a:buSzPct val="68181"/>
              <a:buFont typeface="Wingdings"/>
              <a:buChar char=""/>
              <a:tabLst>
                <a:tab pos="969644" algn="l"/>
              </a:tabLst>
            </a:pPr>
            <a:r>
              <a:rPr dirty="0" sz="2200" spc="-10" b="1">
                <a:solidFill>
                  <a:srgbClr val="D50092"/>
                </a:solidFill>
                <a:latin typeface="宋体"/>
                <a:cs typeface="宋体"/>
              </a:rPr>
              <a:t>DF：</a:t>
            </a:r>
            <a:r>
              <a:rPr dirty="0" sz="2200" spc="-20" b="1">
                <a:solidFill>
                  <a:srgbClr val="9966FF"/>
                </a:solidFill>
                <a:latin typeface="宋体"/>
                <a:cs typeface="宋体"/>
              </a:rPr>
              <a:t>取数据的前半步，启动对数据</a:t>
            </a:r>
            <a:r>
              <a:rPr dirty="0" sz="2200" spc="-10" b="1">
                <a:solidFill>
                  <a:srgbClr val="9966FF"/>
                </a:solidFill>
                <a:latin typeface="宋体"/>
                <a:cs typeface="宋体"/>
              </a:rPr>
              <a:t>Cache</a:t>
            </a:r>
            <a:r>
              <a:rPr dirty="0" sz="2200" spc="-30" b="1">
                <a:solidFill>
                  <a:srgbClr val="9966FF"/>
                </a:solidFill>
                <a:latin typeface="宋体"/>
                <a:cs typeface="宋体"/>
              </a:rPr>
              <a:t>的访问。</a:t>
            </a:r>
            <a:endParaRPr sz="2200">
              <a:latin typeface="宋体"/>
              <a:cs typeface="宋体"/>
            </a:endParaRPr>
          </a:p>
          <a:p>
            <a:pPr lvl="1" marL="969644" indent="-457200">
              <a:lnSpc>
                <a:spcPct val="100000"/>
              </a:lnSpc>
              <a:spcBef>
                <a:spcPts val="1060"/>
              </a:spcBef>
              <a:buClr>
                <a:srgbClr val="4668F5"/>
              </a:buClr>
              <a:buSzPct val="68181"/>
              <a:buFont typeface="Wingdings"/>
              <a:buChar char=""/>
              <a:tabLst>
                <a:tab pos="969644" algn="l"/>
              </a:tabLst>
            </a:pPr>
            <a:r>
              <a:rPr dirty="0" sz="2200" spc="-20" b="1">
                <a:solidFill>
                  <a:srgbClr val="D50092"/>
                </a:solidFill>
                <a:latin typeface="宋体"/>
                <a:cs typeface="宋体"/>
              </a:rPr>
              <a:t>DS：</a:t>
            </a:r>
            <a:r>
              <a:rPr dirty="0" sz="2200" spc="-25" b="1">
                <a:solidFill>
                  <a:srgbClr val="9966FF"/>
                </a:solidFill>
                <a:latin typeface="宋体"/>
                <a:cs typeface="宋体"/>
              </a:rPr>
              <a:t>取数据的后半步，在这一级完成对数据</a:t>
            </a:r>
            <a:r>
              <a:rPr dirty="0" sz="2200" spc="-10" b="1">
                <a:solidFill>
                  <a:srgbClr val="9966FF"/>
                </a:solidFill>
                <a:latin typeface="宋体"/>
                <a:cs typeface="宋体"/>
              </a:rPr>
              <a:t>Cache</a:t>
            </a:r>
            <a:r>
              <a:rPr dirty="0" sz="2200" spc="-30" b="1">
                <a:solidFill>
                  <a:srgbClr val="9966FF"/>
                </a:solidFill>
                <a:latin typeface="宋体"/>
                <a:cs typeface="宋体"/>
              </a:rPr>
              <a:t>的访问。</a:t>
            </a:r>
            <a:endParaRPr sz="2200">
              <a:latin typeface="宋体"/>
              <a:cs typeface="宋体"/>
            </a:endParaRPr>
          </a:p>
          <a:p>
            <a:pPr lvl="1" marL="969644" indent="-457200">
              <a:lnSpc>
                <a:spcPct val="100000"/>
              </a:lnSpc>
              <a:spcBef>
                <a:spcPts val="1055"/>
              </a:spcBef>
              <a:buClr>
                <a:srgbClr val="4668F5"/>
              </a:buClr>
              <a:buSzPct val="68181"/>
              <a:buFont typeface="Wingdings"/>
              <a:buChar char=""/>
              <a:tabLst>
                <a:tab pos="969644" algn="l"/>
              </a:tabLst>
            </a:pPr>
            <a:r>
              <a:rPr dirty="0" sz="2200" spc="-10" b="1">
                <a:solidFill>
                  <a:srgbClr val="D50092"/>
                </a:solidFill>
                <a:latin typeface="宋体"/>
                <a:cs typeface="宋体"/>
              </a:rPr>
              <a:t>TC：</a:t>
            </a:r>
            <a:r>
              <a:rPr dirty="0" sz="2200" spc="-20" b="1">
                <a:solidFill>
                  <a:srgbClr val="9966FF"/>
                </a:solidFill>
                <a:latin typeface="宋体"/>
                <a:cs typeface="宋体"/>
              </a:rPr>
              <a:t>标识比较，判断对数据</a:t>
            </a:r>
            <a:r>
              <a:rPr dirty="0" sz="2200" spc="-10" b="1">
                <a:solidFill>
                  <a:srgbClr val="9966FF"/>
                </a:solidFill>
                <a:latin typeface="宋体"/>
                <a:cs typeface="宋体"/>
              </a:rPr>
              <a:t>Cache</a:t>
            </a:r>
            <a:r>
              <a:rPr dirty="0" sz="2200" spc="-25" b="1">
                <a:solidFill>
                  <a:srgbClr val="9966FF"/>
                </a:solidFill>
                <a:latin typeface="宋体"/>
                <a:cs typeface="宋体"/>
              </a:rPr>
              <a:t>的访问是否命中。</a:t>
            </a:r>
            <a:endParaRPr sz="2200">
              <a:latin typeface="宋体"/>
              <a:cs typeface="宋体"/>
            </a:endParaRPr>
          </a:p>
          <a:p>
            <a:pPr lvl="1" marL="969644" indent="-457200">
              <a:lnSpc>
                <a:spcPct val="100000"/>
              </a:lnSpc>
              <a:spcBef>
                <a:spcPts val="1060"/>
              </a:spcBef>
              <a:buClr>
                <a:srgbClr val="4668F5"/>
              </a:buClr>
              <a:buSzPct val="68181"/>
              <a:buFont typeface="Wingdings"/>
              <a:buChar char=""/>
              <a:tabLst>
                <a:tab pos="969644" algn="l"/>
              </a:tabLst>
            </a:pPr>
            <a:r>
              <a:rPr dirty="0" sz="2200" spc="-10" b="1">
                <a:solidFill>
                  <a:srgbClr val="D50092"/>
                </a:solidFill>
                <a:latin typeface="宋体"/>
                <a:cs typeface="宋体"/>
              </a:rPr>
              <a:t>WB：</a:t>
            </a:r>
            <a:r>
              <a:rPr dirty="0" sz="2200" spc="-10" b="1">
                <a:solidFill>
                  <a:srgbClr val="9966FF"/>
                </a:solidFill>
                <a:latin typeface="宋体"/>
                <a:cs typeface="宋体"/>
              </a:rPr>
              <a:t>load</a:t>
            </a:r>
            <a:r>
              <a:rPr dirty="0" sz="2200" spc="-25" b="1">
                <a:solidFill>
                  <a:srgbClr val="9966FF"/>
                </a:solidFill>
                <a:latin typeface="宋体"/>
                <a:cs typeface="宋体"/>
              </a:rPr>
              <a:t>指令或运算型指令把结果写回寄存器组。</a:t>
            </a:r>
            <a:endParaRPr sz="2200">
              <a:latin typeface="宋体"/>
              <a:cs typeface="宋体"/>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186/175</a:t>
            </a:r>
            <a:endParaRPr sz="1600">
              <a:latin typeface="宋体"/>
              <a:cs typeface="宋体"/>
            </a:endParaRPr>
          </a:p>
        </p:txBody>
      </p:sp>
      <p:sp>
        <p:nvSpPr>
          <p:cNvPr id="3" name="object 3" descr=""/>
          <p:cNvSpPr/>
          <p:nvPr/>
        </p:nvSpPr>
        <p:spPr>
          <a:xfrm>
            <a:off x="990600" y="692150"/>
            <a:ext cx="11201400" cy="0"/>
          </a:xfrm>
          <a:custGeom>
            <a:avLst/>
            <a:gdLst/>
            <a:ahLst/>
            <a:cxnLst/>
            <a:rect l="l" t="t" r="r" b="b"/>
            <a:pathLst>
              <a:path w="11201400" h="0">
                <a:moveTo>
                  <a:pt x="0" y="0"/>
                </a:moveTo>
                <a:lnTo>
                  <a:pt x="1120140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68262" y="311150"/>
            <a:ext cx="1076325" cy="274955"/>
            <a:chOff x="68262" y="311150"/>
            <a:chExt cx="1076325" cy="274955"/>
          </a:xfrm>
        </p:grpSpPr>
        <p:sp>
          <p:nvSpPr>
            <p:cNvPr id="5" name="object 5"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6" name="object 6"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7" name="object 7"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8" name="object 8"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465580" y="126619"/>
            <a:ext cx="3686175" cy="513715"/>
          </a:xfrm>
          <a:prstGeom prst="rect"/>
        </p:spPr>
        <p:txBody>
          <a:bodyPr wrap="square" lIns="0" tIns="12700" rIns="0" bIns="0" rtlCol="0" vert="horz">
            <a:spAutoFit/>
          </a:bodyPr>
          <a:lstStyle/>
          <a:p>
            <a:pPr marL="12700">
              <a:lnSpc>
                <a:spcPct val="100000"/>
              </a:lnSpc>
              <a:spcBef>
                <a:spcPts val="100"/>
              </a:spcBef>
            </a:pPr>
            <a:r>
              <a:rPr dirty="0"/>
              <a:t>5.5</a:t>
            </a:r>
            <a:r>
              <a:rPr dirty="0" spc="-15"/>
              <a:t> 多指令流出技术</a:t>
            </a:r>
          </a:p>
        </p:txBody>
      </p:sp>
      <p:sp>
        <p:nvSpPr>
          <p:cNvPr id="10" name="object 10" descr=""/>
          <p:cNvSpPr txBox="1"/>
          <p:nvPr/>
        </p:nvSpPr>
        <p:spPr>
          <a:xfrm>
            <a:off x="1908429" y="1018159"/>
            <a:ext cx="4445635" cy="391160"/>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a:solidFill>
                  <a:srgbClr val="40458B"/>
                </a:solidFill>
                <a:latin typeface="黑体"/>
                <a:cs typeface="黑体"/>
              </a:rPr>
              <a:t>MIPS</a:t>
            </a:r>
            <a:r>
              <a:rPr dirty="0" sz="2400" spc="30">
                <a:solidFill>
                  <a:srgbClr val="40458B"/>
                </a:solidFill>
                <a:latin typeface="黑体"/>
                <a:cs typeface="黑体"/>
              </a:rPr>
              <a:t> </a:t>
            </a:r>
            <a:r>
              <a:rPr dirty="0" sz="2400" spc="-10">
                <a:solidFill>
                  <a:srgbClr val="40458B"/>
                </a:solidFill>
                <a:latin typeface="黑体"/>
                <a:cs typeface="黑体"/>
              </a:rPr>
              <a:t>R4000指令流水线时空图</a:t>
            </a:r>
            <a:endParaRPr sz="2400">
              <a:latin typeface="黑体"/>
              <a:cs typeface="黑体"/>
            </a:endParaRPr>
          </a:p>
        </p:txBody>
      </p:sp>
      <p:grpSp>
        <p:nvGrpSpPr>
          <p:cNvPr id="11" name="object 11" descr=""/>
          <p:cNvGrpSpPr/>
          <p:nvPr/>
        </p:nvGrpSpPr>
        <p:grpSpPr>
          <a:xfrm>
            <a:off x="5495562" y="2581076"/>
            <a:ext cx="4320540" cy="3251200"/>
            <a:chOff x="5495562" y="2581076"/>
            <a:chExt cx="4320540" cy="3251200"/>
          </a:xfrm>
        </p:grpSpPr>
        <p:sp>
          <p:nvSpPr>
            <p:cNvPr id="12" name="object 12" descr=""/>
            <p:cNvSpPr/>
            <p:nvPr/>
          </p:nvSpPr>
          <p:spPr>
            <a:xfrm>
              <a:off x="8736999" y="5089556"/>
              <a:ext cx="538480" cy="324485"/>
            </a:xfrm>
            <a:custGeom>
              <a:avLst/>
              <a:gdLst/>
              <a:ahLst/>
              <a:cxnLst/>
              <a:rect l="l" t="t" r="r" b="b"/>
              <a:pathLst>
                <a:path w="538479" h="324485">
                  <a:moveTo>
                    <a:pt x="538139" y="0"/>
                  </a:moveTo>
                  <a:lnTo>
                    <a:pt x="0" y="0"/>
                  </a:lnTo>
                  <a:lnTo>
                    <a:pt x="0" y="324008"/>
                  </a:lnTo>
                  <a:lnTo>
                    <a:pt x="538139" y="324008"/>
                  </a:lnTo>
                  <a:lnTo>
                    <a:pt x="538139" y="0"/>
                  </a:lnTo>
                  <a:close/>
                </a:path>
              </a:pathLst>
            </a:custGeom>
            <a:solidFill>
              <a:srgbClr val="FFCCCC"/>
            </a:solidFill>
          </p:spPr>
          <p:txBody>
            <a:bodyPr wrap="square" lIns="0" tIns="0" rIns="0" bIns="0" rtlCol="0"/>
            <a:lstStyle/>
            <a:p/>
          </p:txBody>
        </p:sp>
        <p:sp>
          <p:nvSpPr>
            <p:cNvPr id="13" name="object 13" descr=""/>
            <p:cNvSpPr/>
            <p:nvPr/>
          </p:nvSpPr>
          <p:spPr>
            <a:xfrm>
              <a:off x="8196866" y="5080579"/>
              <a:ext cx="537845" cy="325120"/>
            </a:xfrm>
            <a:custGeom>
              <a:avLst/>
              <a:gdLst/>
              <a:ahLst/>
              <a:cxnLst/>
              <a:rect l="l" t="t" r="r" b="b"/>
              <a:pathLst>
                <a:path w="537845" h="325120">
                  <a:moveTo>
                    <a:pt x="537604" y="0"/>
                  </a:moveTo>
                  <a:lnTo>
                    <a:pt x="0" y="0"/>
                  </a:lnTo>
                  <a:lnTo>
                    <a:pt x="0" y="325057"/>
                  </a:lnTo>
                  <a:lnTo>
                    <a:pt x="537604" y="325057"/>
                  </a:lnTo>
                  <a:lnTo>
                    <a:pt x="537604" y="0"/>
                  </a:lnTo>
                  <a:close/>
                </a:path>
              </a:pathLst>
            </a:custGeom>
            <a:solidFill>
              <a:srgbClr val="FFCCFF"/>
            </a:solidFill>
          </p:spPr>
          <p:txBody>
            <a:bodyPr wrap="square" lIns="0" tIns="0" rIns="0" bIns="0" rtlCol="0"/>
            <a:lstStyle/>
            <a:p/>
          </p:txBody>
        </p:sp>
        <p:sp>
          <p:nvSpPr>
            <p:cNvPr id="14" name="object 14" descr=""/>
            <p:cNvSpPr/>
            <p:nvPr/>
          </p:nvSpPr>
          <p:spPr>
            <a:xfrm>
              <a:off x="9277345" y="5089556"/>
              <a:ext cx="538480" cy="324485"/>
            </a:xfrm>
            <a:custGeom>
              <a:avLst/>
              <a:gdLst/>
              <a:ahLst/>
              <a:cxnLst/>
              <a:rect l="l" t="t" r="r" b="b"/>
              <a:pathLst>
                <a:path w="538479" h="324485">
                  <a:moveTo>
                    <a:pt x="538139" y="0"/>
                  </a:moveTo>
                  <a:lnTo>
                    <a:pt x="0" y="0"/>
                  </a:lnTo>
                  <a:lnTo>
                    <a:pt x="0" y="324008"/>
                  </a:lnTo>
                  <a:lnTo>
                    <a:pt x="538139" y="324008"/>
                  </a:lnTo>
                  <a:lnTo>
                    <a:pt x="538139" y="0"/>
                  </a:lnTo>
                  <a:close/>
                </a:path>
              </a:pathLst>
            </a:custGeom>
            <a:solidFill>
              <a:srgbClr val="CCFFCC"/>
            </a:solidFill>
          </p:spPr>
          <p:txBody>
            <a:bodyPr wrap="square" lIns="0" tIns="0" rIns="0" bIns="0" rtlCol="0"/>
            <a:lstStyle/>
            <a:p/>
          </p:txBody>
        </p:sp>
        <p:sp>
          <p:nvSpPr>
            <p:cNvPr id="15" name="object 15" descr=""/>
            <p:cNvSpPr/>
            <p:nvPr/>
          </p:nvSpPr>
          <p:spPr>
            <a:xfrm>
              <a:off x="7116388" y="5080579"/>
              <a:ext cx="537845" cy="325120"/>
            </a:xfrm>
            <a:custGeom>
              <a:avLst/>
              <a:gdLst/>
              <a:ahLst/>
              <a:cxnLst/>
              <a:rect l="l" t="t" r="r" b="b"/>
              <a:pathLst>
                <a:path w="537845" h="325120">
                  <a:moveTo>
                    <a:pt x="537604" y="0"/>
                  </a:moveTo>
                  <a:lnTo>
                    <a:pt x="0" y="0"/>
                  </a:lnTo>
                  <a:lnTo>
                    <a:pt x="0" y="325057"/>
                  </a:lnTo>
                  <a:lnTo>
                    <a:pt x="537604" y="325057"/>
                  </a:lnTo>
                  <a:lnTo>
                    <a:pt x="537604" y="0"/>
                  </a:lnTo>
                  <a:close/>
                </a:path>
              </a:pathLst>
            </a:custGeom>
            <a:solidFill>
              <a:srgbClr val="CCFFFF"/>
            </a:solidFill>
          </p:spPr>
          <p:txBody>
            <a:bodyPr wrap="square" lIns="0" tIns="0" rIns="0" bIns="0" rtlCol="0"/>
            <a:lstStyle/>
            <a:p/>
          </p:txBody>
        </p:sp>
        <p:sp>
          <p:nvSpPr>
            <p:cNvPr id="16" name="object 16" descr=""/>
            <p:cNvSpPr/>
            <p:nvPr/>
          </p:nvSpPr>
          <p:spPr>
            <a:xfrm>
              <a:off x="5495562" y="5089556"/>
              <a:ext cx="537845" cy="324485"/>
            </a:xfrm>
            <a:custGeom>
              <a:avLst/>
              <a:gdLst/>
              <a:ahLst/>
              <a:cxnLst/>
              <a:rect l="l" t="t" r="r" b="b"/>
              <a:pathLst>
                <a:path w="537845" h="324485">
                  <a:moveTo>
                    <a:pt x="537604" y="0"/>
                  </a:moveTo>
                  <a:lnTo>
                    <a:pt x="0" y="0"/>
                  </a:lnTo>
                  <a:lnTo>
                    <a:pt x="0" y="324008"/>
                  </a:lnTo>
                  <a:lnTo>
                    <a:pt x="537604" y="324008"/>
                  </a:lnTo>
                  <a:lnTo>
                    <a:pt x="537604" y="0"/>
                  </a:lnTo>
                  <a:close/>
                </a:path>
              </a:pathLst>
            </a:custGeom>
            <a:solidFill>
              <a:srgbClr val="FFCC99"/>
            </a:solidFill>
          </p:spPr>
          <p:txBody>
            <a:bodyPr wrap="square" lIns="0" tIns="0" rIns="0" bIns="0" rtlCol="0"/>
            <a:lstStyle/>
            <a:p/>
          </p:txBody>
        </p:sp>
        <p:sp>
          <p:nvSpPr>
            <p:cNvPr id="17" name="object 17" descr=""/>
            <p:cNvSpPr/>
            <p:nvPr/>
          </p:nvSpPr>
          <p:spPr>
            <a:xfrm>
              <a:off x="6576041" y="5089556"/>
              <a:ext cx="537845" cy="324485"/>
            </a:xfrm>
            <a:custGeom>
              <a:avLst/>
              <a:gdLst/>
              <a:ahLst/>
              <a:cxnLst/>
              <a:rect l="l" t="t" r="r" b="b"/>
              <a:pathLst>
                <a:path w="537845" h="324485">
                  <a:moveTo>
                    <a:pt x="537604" y="0"/>
                  </a:moveTo>
                  <a:lnTo>
                    <a:pt x="0" y="0"/>
                  </a:lnTo>
                  <a:lnTo>
                    <a:pt x="0" y="324008"/>
                  </a:lnTo>
                  <a:lnTo>
                    <a:pt x="537604" y="324008"/>
                  </a:lnTo>
                  <a:lnTo>
                    <a:pt x="537604" y="0"/>
                  </a:lnTo>
                  <a:close/>
                </a:path>
              </a:pathLst>
            </a:custGeom>
            <a:solidFill>
              <a:srgbClr val="CCFFCC"/>
            </a:solidFill>
          </p:spPr>
          <p:txBody>
            <a:bodyPr wrap="square" lIns="0" tIns="0" rIns="0" bIns="0" rtlCol="0"/>
            <a:lstStyle/>
            <a:p/>
          </p:txBody>
        </p:sp>
        <p:sp>
          <p:nvSpPr>
            <p:cNvPr id="18" name="object 18" descr=""/>
            <p:cNvSpPr/>
            <p:nvPr/>
          </p:nvSpPr>
          <p:spPr>
            <a:xfrm>
              <a:off x="7656520" y="5090605"/>
              <a:ext cx="537845" cy="325755"/>
            </a:xfrm>
            <a:custGeom>
              <a:avLst/>
              <a:gdLst/>
              <a:ahLst/>
              <a:cxnLst/>
              <a:rect l="l" t="t" r="r" b="b"/>
              <a:pathLst>
                <a:path w="537845" h="325754">
                  <a:moveTo>
                    <a:pt x="537604" y="0"/>
                  </a:moveTo>
                  <a:lnTo>
                    <a:pt x="0" y="0"/>
                  </a:lnTo>
                  <a:lnTo>
                    <a:pt x="0" y="325593"/>
                  </a:lnTo>
                  <a:lnTo>
                    <a:pt x="537604" y="325593"/>
                  </a:lnTo>
                  <a:lnTo>
                    <a:pt x="537604" y="0"/>
                  </a:lnTo>
                  <a:close/>
                </a:path>
              </a:pathLst>
            </a:custGeom>
            <a:solidFill>
              <a:srgbClr val="CCCCFF"/>
            </a:solidFill>
          </p:spPr>
          <p:txBody>
            <a:bodyPr wrap="square" lIns="0" tIns="0" rIns="0" bIns="0" rtlCol="0"/>
            <a:lstStyle/>
            <a:p/>
          </p:txBody>
        </p:sp>
        <p:sp>
          <p:nvSpPr>
            <p:cNvPr id="19" name="object 19" descr=""/>
            <p:cNvSpPr/>
            <p:nvPr/>
          </p:nvSpPr>
          <p:spPr>
            <a:xfrm>
              <a:off x="6035694" y="2581076"/>
              <a:ext cx="535305" cy="3251200"/>
            </a:xfrm>
            <a:custGeom>
              <a:avLst/>
              <a:gdLst/>
              <a:ahLst/>
              <a:cxnLst/>
              <a:rect l="l" t="t" r="r" b="b"/>
              <a:pathLst>
                <a:path w="535304" h="3251200">
                  <a:moveTo>
                    <a:pt x="534968" y="0"/>
                  </a:moveTo>
                  <a:lnTo>
                    <a:pt x="0" y="0"/>
                  </a:lnTo>
                  <a:lnTo>
                    <a:pt x="0" y="3250578"/>
                  </a:lnTo>
                  <a:lnTo>
                    <a:pt x="534968" y="3250578"/>
                  </a:lnTo>
                  <a:lnTo>
                    <a:pt x="534968" y="0"/>
                  </a:lnTo>
                  <a:close/>
                </a:path>
              </a:pathLst>
            </a:custGeom>
            <a:solidFill>
              <a:srgbClr val="EAEAEA"/>
            </a:solidFill>
          </p:spPr>
          <p:txBody>
            <a:bodyPr wrap="square" lIns="0" tIns="0" rIns="0" bIns="0" rtlCol="0"/>
            <a:lstStyle/>
            <a:p/>
          </p:txBody>
        </p:sp>
      </p:grpSp>
      <p:grpSp>
        <p:nvGrpSpPr>
          <p:cNvPr id="20" name="object 20" descr=""/>
          <p:cNvGrpSpPr/>
          <p:nvPr/>
        </p:nvGrpSpPr>
        <p:grpSpPr>
          <a:xfrm>
            <a:off x="9277346" y="5504999"/>
            <a:ext cx="1078865" cy="333375"/>
            <a:chOff x="9277346" y="5504999"/>
            <a:chExt cx="1078865" cy="333375"/>
          </a:xfrm>
        </p:grpSpPr>
        <p:sp>
          <p:nvSpPr>
            <p:cNvPr id="21" name="object 21" descr=""/>
            <p:cNvSpPr/>
            <p:nvPr/>
          </p:nvSpPr>
          <p:spPr>
            <a:xfrm>
              <a:off x="9277346" y="5513990"/>
              <a:ext cx="538480" cy="324485"/>
            </a:xfrm>
            <a:custGeom>
              <a:avLst/>
              <a:gdLst/>
              <a:ahLst/>
              <a:cxnLst/>
              <a:rect l="l" t="t" r="r" b="b"/>
              <a:pathLst>
                <a:path w="538479" h="324485">
                  <a:moveTo>
                    <a:pt x="538139" y="0"/>
                  </a:moveTo>
                  <a:lnTo>
                    <a:pt x="0" y="0"/>
                  </a:lnTo>
                  <a:lnTo>
                    <a:pt x="0" y="324008"/>
                  </a:lnTo>
                  <a:lnTo>
                    <a:pt x="538139" y="324008"/>
                  </a:lnTo>
                  <a:lnTo>
                    <a:pt x="538139" y="0"/>
                  </a:lnTo>
                  <a:close/>
                </a:path>
              </a:pathLst>
            </a:custGeom>
            <a:solidFill>
              <a:srgbClr val="FFCCCC"/>
            </a:solidFill>
          </p:spPr>
          <p:txBody>
            <a:bodyPr wrap="square" lIns="0" tIns="0" rIns="0" bIns="0" rtlCol="0"/>
            <a:lstStyle/>
            <a:p/>
          </p:txBody>
        </p:sp>
        <p:sp>
          <p:nvSpPr>
            <p:cNvPr id="22" name="object 22" descr=""/>
            <p:cNvSpPr/>
            <p:nvPr/>
          </p:nvSpPr>
          <p:spPr>
            <a:xfrm>
              <a:off x="9818121" y="5505012"/>
              <a:ext cx="537845" cy="325120"/>
            </a:xfrm>
            <a:custGeom>
              <a:avLst/>
              <a:gdLst/>
              <a:ahLst/>
              <a:cxnLst/>
              <a:rect l="l" t="t" r="r" b="b"/>
              <a:pathLst>
                <a:path w="537845" h="325120">
                  <a:moveTo>
                    <a:pt x="537604" y="0"/>
                  </a:moveTo>
                  <a:lnTo>
                    <a:pt x="0" y="0"/>
                  </a:lnTo>
                  <a:lnTo>
                    <a:pt x="0" y="325057"/>
                  </a:lnTo>
                  <a:lnTo>
                    <a:pt x="537604" y="325057"/>
                  </a:lnTo>
                  <a:lnTo>
                    <a:pt x="537604" y="0"/>
                  </a:lnTo>
                  <a:close/>
                </a:path>
              </a:pathLst>
            </a:custGeom>
            <a:solidFill>
              <a:srgbClr val="CCFFCC"/>
            </a:solidFill>
          </p:spPr>
          <p:txBody>
            <a:bodyPr wrap="square" lIns="0" tIns="0" rIns="0" bIns="0" rtlCol="0"/>
            <a:lstStyle/>
            <a:p/>
          </p:txBody>
        </p:sp>
        <p:sp>
          <p:nvSpPr>
            <p:cNvPr id="23" name="object 23" descr=""/>
            <p:cNvSpPr/>
            <p:nvPr/>
          </p:nvSpPr>
          <p:spPr>
            <a:xfrm>
              <a:off x="9815550" y="5504999"/>
              <a:ext cx="0" cy="331470"/>
            </a:xfrm>
            <a:custGeom>
              <a:avLst/>
              <a:gdLst/>
              <a:ahLst/>
              <a:cxnLst/>
              <a:rect l="l" t="t" r="r" b="b"/>
              <a:pathLst>
                <a:path w="0" h="331470">
                  <a:moveTo>
                    <a:pt x="0" y="0"/>
                  </a:moveTo>
                  <a:lnTo>
                    <a:pt x="0" y="331412"/>
                  </a:lnTo>
                </a:path>
              </a:pathLst>
            </a:custGeom>
            <a:ln w="15390">
              <a:solidFill>
                <a:srgbClr val="000000"/>
              </a:solidFill>
            </a:ln>
          </p:spPr>
          <p:txBody>
            <a:bodyPr wrap="square" lIns="0" tIns="0" rIns="0" bIns="0" rtlCol="0"/>
            <a:lstStyle/>
            <a:p/>
          </p:txBody>
        </p:sp>
      </p:grpSp>
      <p:sp>
        <p:nvSpPr>
          <p:cNvPr id="24" name="object 24" descr=""/>
          <p:cNvSpPr txBox="1"/>
          <p:nvPr/>
        </p:nvSpPr>
        <p:spPr>
          <a:xfrm>
            <a:off x="2368058" y="2022083"/>
            <a:ext cx="802640" cy="258445"/>
          </a:xfrm>
          <a:prstGeom prst="rect">
            <a:avLst/>
          </a:prstGeom>
        </p:spPr>
        <p:txBody>
          <a:bodyPr wrap="square" lIns="0" tIns="15875" rIns="0" bIns="0" rtlCol="0" vert="horz">
            <a:spAutoFit/>
          </a:bodyPr>
          <a:lstStyle/>
          <a:p>
            <a:pPr marL="12700">
              <a:lnSpc>
                <a:spcPct val="100000"/>
              </a:lnSpc>
              <a:spcBef>
                <a:spcPts val="125"/>
              </a:spcBef>
            </a:pPr>
            <a:r>
              <a:rPr dirty="0" sz="1500" spc="-15">
                <a:solidFill>
                  <a:srgbClr val="0000FF"/>
                </a:solidFill>
                <a:latin typeface="宋体"/>
                <a:cs typeface="宋体"/>
              </a:rPr>
              <a:t>时钟周期</a:t>
            </a:r>
            <a:endParaRPr sz="1500">
              <a:latin typeface="宋体"/>
              <a:cs typeface="宋体"/>
            </a:endParaRPr>
          </a:p>
        </p:txBody>
      </p:sp>
      <p:grpSp>
        <p:nvGrpSpPr>
          <p:cNvPr id="25" name="object 25" descr=""/>
          <p:cNvGrpSpPr/>
          <p:nvPr/>
        </p:nvGrpSpPr>
        <p:grpSpPr>
          <a:xfrm>
            <a:off x="2245425" y="1916175"/>
            <a:ext cx="1096645" cy="640715"/>
            <a:chOff x="2245425" y="1916175"/>
            <a:chExt cx="1096645" cy="640715"/>
          </a:xfrm>
        </p:grpSpPr>
        <p:sp>
          <p:nvSpPr>
            <p:cNvPr id="26" name="object 26" descr=""/>
            <p:cNvSpPr/>
            <p:nvPr/>
          </p:nvSpPr>
          <p:spPr>
            <a:xfrm>
              <a:off x="2245423" y="1916175"/>
              <a:ext cx="1096645" cy="640715"/>
            </a:xfrm>
            <a:custGeom>
              <a:avLst/>
              <a:gdLst/>
              <a:ahLst/>
              <a:cxnLst/>
              <a:rect l="l" t="t" r="r" b="b"/>
              <a:pathLst>
                <a:path w="1096645" h="640714">
                  <a:moveTo>
                    <a:pt x="15392" y="617372"/>
                  </a:moveTo>
                  <a:lnTo>
                    <a:pt x="13258" y="612025"/>
                  </a:lnTo>
                  <a:lnTo>
                    <a:pt x="10604" y="609879"/>
                  </a:lnTo>
                  <a:lnTo>
                    <a:pt x="5308" y="609879"/>
                  </a:lnTo>
                  <a:lnTo>
                    <a:pt x="2654" y="612025"/>
                  </a:lnTo>
                  <a:lnTo>
                    <a:pt x="0" y="617372"/>
                  </a:lnTo>
                  <a:lnTo>
                    <a:pt x="0" y="632587"/>
                  </a:lnTo>
                  <a:lnTo>
                    <a:pt x="2654" y="637946"/>
                  </a:lnTo>
                  <a:lnTo>
                    <a:pt x="5308" y="639445"/>
                  </a:lnTo>
                  <a:lnTo>
                    <a:pt x="7962" y="640511"/>
                  </a:lnTo>
                  <a:lnTo>
                    <a:pt x="10604" y="639445"/>
                  </a:lnTo>
                  <a:lnTo>
                    <a:pt x="13258" y="637946"/>
                  </a:lnTo>
                  <a:lnTo>
                    <a:pt x="15392" y="632587"/>
                  </a:lnTo>
                  <a:lnTo>
                    <a:pt x="15392" y="617372"/>
                  </a:lnTo>
                  <a:close/>
                </a:path>
                <a:path w="1096645" h="640714">
                  <a:moveTo>
                    <a:pt x="15392" y="509397"/>
                  </a:moveTo>
                  <a:lnTo>
                    <a:pt x="13258" y="504266"/>
                  </a:lnTo>
                  <a:lnTo>
                    <a:pt x="10604" y="501472"/>
                  </a:lnTo>
                  <a:lnTo>
                    <a:pt x="5308" y="501472"/>
                  </a:lnTo>
                  <a:lnTo>
                    <a:pt x="2654" y="504266"/>
                  </a:lnTo>
                  <a:lnTo>
                    <a:pt x="0" y="509397"/>
                  </a:lnTo>
                  <a:lnTo>
                    <a:pt x="0" y="571322"/>
                  </a:lnTo>
                  <a:lnTo>
                    <a:pt x="2654" y="576033"/>
                  </a:lnTo>
                  <a:lnTo>
                    <a:pt x="5308" y="577748"/>
                  </a:lnTo>
                  <a:lnTo>
                    <a:pt x="7962" y="578599"/>
                  </a:lnTo>
                  <a:lnTo>
                    <a:pt x="10604" y="577748"/>
                  </a:lnTo>
                  <a:lnTo>
                    <a:pt x="13258" y="576033"/>
                  </a:lnTo>
                  <a:lnTo>
                    <a:pt x="15392" y="571322"/>
                  </a:lnTo>
                  <a:lnTo>
                    <a:pt x="15392" y="509397"/>
                  </a:lnTo>
                  <a:close/>
                </a:path>
                <a:path w="1096645" h="640714">
                  <a:moveTo>
                    <a:pt x="15392" y="447700"/>
                  </a:moveTo>
                  <a:lnTo>
                    <a:pt x="13258" y="442353"/>
                  </a:lnTo>
                  <a:lnTo>
                    <a:pt x="10604" y="439775"/>
                  </a:lnTo>
                  <a:lnTo>
                    <a:pt x="5308" y="439775"/>
                  </a:lnTo>
                  <a:lnTo>
                    <a:pt x="2654" y="442353"/>
                  </a:lnTo>
                  <a:lnTo>
                    <a:pt x="0" y="447700"/>
                  </a:lnTo>
                  <a:lnTo>
                    <a:pt x="0" y="462915"/>
                  </a:lnTo>
                  <a:lnTo>
                    <a:pt x="2654" y="468274"/>
                  </a:lnTo>
                  <a:lnTo>
                    <a:pt x="5308" y="469341"/>
                  </a:lnTo>
                  <a:lnTo>
                    <a:pt x="7962" y="470839"/>
                  </a:lnTo>
                  <a:lnTo>
                    <a:pt x="10604" y="469341"/>
                  </a:lnTo>
                  <a:lnTo>
                    <a:pt x="13258" y="468274"/>
                  </a:lnTo>
                  <a:lnTo>
                    <a:pt x="15392" y="462915"/>
                  </a:lnTo>
                  <a:lnTo>
                    <a:pt x="15392" y="447700"/>
                  </a:lnTo>
                  <a:close/>
                </a:path>
                <a:path w="1096645" h="640714">
                  <a:moveTo>
                    <a:pt x="15392" y="339305"/>
                  </a:moveTo>
                  <a:lnTo>
                    <a:pt x="13258" y="334581"/>
                  </a:lnTo>
                  <a:lnTo>
                    <a:pt x="10604" y="331800"/>
                  </a:lnTo>
                  <a:lnTo>
                    <a:pt x="5308" y="331800"/>
                  </a:lnTo>
                  <a:lnTo>
                    <a:pt x="2654" y="334581"/>
                  </a:lnTo>
                  <a:lnTo>
                    <a:pt x="0" y="339305"/>
                  </a:lnTo>
                  <a:lnTo>
                    <a:pt x="0" y="401218"/>
                  </a:lnTo>
                  <a:lnTo>
                    <a:pt x="2654" y="406361"/>
                  </a:lnTo>
                  <a:lnTo>
                    <a:pt x="5308" y="407428"/>
                  </a:lnTo>
                  <a:lnTo>
                    <a:pt x="7962" y="409143"/>
                  </a:lnTo>
                  <a:lnTo>
                    <a:pt x="10604" y="407428"/>
                  </a:lnTo>
                  <a:lnTo>
                    <a:pt x="13258" y="406361"/>
                  </a:lnTo>
                  <a:lnTo>
                    <a:pt x="15392" y="401218"/>
                  </a:lnTo>
                  <a:lnTo>
                    <a:pt x="15392" y="339305"/>
                  </a:lnTo>
                  <a:close/>
                </a:path>
                <a:path w="1096645" h="640714">
                  <a:moveTo>
                    <a:pt x="15392" y="278028"/>
                  </a:moveTo>
                  <a:lnTo>
                    <a:pt x="13258" y="272669"/>
                  </a:lnTo>
                  <a:lnTo>
                    <a:pt x="10604" y="270103"/>
                  </a:lnTo>
                  <a:lnTo>
                    <a:pt x="5308" y="270103"/>
                  </a:lnTo>
                  <a:lnTo>
                    <a:pt x="2654" y="272669"/>
                  </a:lnTo>
                  <a:lnTo>
                    <a:pt x="0" y="278028"/>
                  </a:lnTo>
                  <a:lnTo>
                    <a:pt x="0" y="293243"/>
                  </a:lnTo>
                  <a:lnTo>
                    <a:pt x="2654" y="298602"/>
                  </a:lnTo>
                  <a:lnTo>
                    <a:pt x="7962" y="300736"/>
                  </a:lnTo>
                  <a:lnTo>
                    <a:pt x="13258" y="298602"/>
                  </a:lnTo>
                  <a:lnTo>
                    <a:pt x="15392" y="293243"/>
                  </a:lnTo>
                  <a:lnTo>
                    <a:pt x="15392" y="278028"/>
                  </a:lnTo>
                  <a:close/>
                </a:path>
                <a:path w="1096645" h="640714">
                  <a:moveTo>
                    <a:pt x="15392" y="169621"/>
                  </a:moveTo>
                  <a:lnTo>
                    <a:pt x="13258" y="164909"/>
                  </a:lnTo>
                  <a:lnTo>
                    <a:pt x="10604" y="162128"/>
                  </a:lnTo>
                  <a:lnTo>
                    <a:pt x="5308" y="162128"/>
                  </a:lnTo>
                  <a:lnTo>
                    <a:pt x="2654" y="164909"/>
                  </a:lnTo>
                  <a:lnTo>
                    <a:pt x="0" y="169621"/>
                  </a:lnTo>
                  <a:lnTo>
                    <a:pt x="0" y="231546"/>
                  </a:lnTo>
                  <a:lnTo>
                    <a:pt x="2654" y="236677"/>
                  </a:lnTo>
                  <a:lnTo>
                    <a:pt x="5308" y="237756"/>
                  </a:lnTo>
                  <a:lnTo>
                    <a:pt x="7962" y="239471"/>
                  </a:lnTo>
                  <a:lnTo>
                    <a:pt x="10604" y="237756"/>
                  </a:lnTo>
                  <a:lnTo>
                    <a:pt x="13258" y="236677"/>
                  </a:lnTo>
                  <a:lnTo>
                    <a:pt x="15392" y="231546"/>
                  </a:lnTo>
                  <a:lnTo>
                    <a:pt x="15392" y="169621"/>
                  </a:lnTo>
                  <a:close/>
                </a:path>
                <a:path w="1096645" h="640714">
                  <a:moveTo>
                    <a:pt x="15392" y="107708"/>
                  </a:moveTo>
                  <a:lnTo>
                    <a:pt x="13258" y="102997"/>
                  </a:lnTo>
                  <a:lnTo>
                    <a:pt x="10604" y="100431"/>
                  </a:lnTo>
                  <a:lnTo>
                    <a:pt x="5308" y="100431"/>
                  </a:lnTo>
                  <a:lnTo>
                    <a:pt x="2654" y="102997"/>
                  </a:lnTo>
                  <a:lnTo>
                    <a:pt x="0" y="107708"/>
                  </a:lnTo>
                  <a:lnTo>
                    <a:pt x="0" y="123571"/>
                  </a:lnTo>
                  <a:lnTo>
                    <a:pt x="2654" y="128282"/>
                  </a:lnTo>
                  <a:lnTo>
                    <a:pt x="5308" y="129997"/>
                  </a:lnTo>
                  <a:lnTo>
                    <a:pt x="7962" y="131064"/>
                  </a:lnTo>
                  <a:lnTo>
                    <a:pt x="10604" y="129997"/>
                  </a:lnTo>
                  <a:lnTo>
                    <a:pt x="13258" y="128282"/>
                  </a:lnTo>
                  <a:lnTo>
                    <a:pt x="15392" y="123571"/>
                  </a:lnTo>
                  <a:lnTo>
                    <a:pt x="15392" y="107708"/>
                  </a:lnTo>
                  <a:close/>
                </a:path>
                <a:path w="1096645" h="640714">
                  <a:moveTo>
                    <a:pt x="15392" y="0"/>
                  </a:moveTo>
                  <a:lnTo>
                    <a:pt x="0" y="0"/>
                  </a:lnTo>
                  <a:lnTo>
                    <a:pt x="0" y="61861"/>
                  </a:lnTo>
                  <a:lnTo>
                    <a:pt x="2654" y="67005"/>
                  </a:lnTo>
                  <a:lnTo>
                    <a:pt x="7962" y="69151"/>
                  </a:lnTo>
                  <a:lnTo>
                    <a:pt x="13258" y="67005"/>
                  </a:lnTo>
                  <a:lnTo>
                    <a:pt x="15392" y="61861"/>
                  </a:lnTo>
                  <a:lnTo>
                    <a:pt x="15392" y="0"/>
                  </a:lnTo>
                  <a:close/>
                </a:path>
                <a:path w="1096645" h="640714">
                  <a:moveTo>
                    <a:pt x="1096441" y="617372"/>
                  </a:moveTo>
                  <a:lnTo>
                    <a:pt x="1093800" y="612025"/>
                  </a:lnTo>
                  <a:lnTo>
                    <a:pt x="1091145" y="609879"/>
                  </a:lnTo>
                  <a:lnTo>
                    <a:pt x="1085837" y="609879"/>
                  </a:lnTo>
                  <a:lnTo>
                    <a:pt x="1083170" y="612025"/>
                  </a:lnTo>
                  <a:lnTo>
                    <a:pt x="1081049" y="617372"/>
                  </a:lnTo>
                  <a:lnTo>
                    <a:pt x="1081049" y="632587"/>
                  </a:lnTo>
                  <a:lnTo>
                    <a:pt x="1083170" y="637946"/>
                  </a:lnTo>
                  <a:lnTo>
                    <a:pt x="1085837" y="639445"/>
                  </a:lnTo>
                  <a:lnTo>
                    <a:pt x="1088491" y="640511"/>
                  </a:lnTo>
                  <a:lnTo>
                    <a:pt x="1091145" y="639445"/>
                  </a:lnTo>
                  <a:lnTo>
                    <a:pt x="1093800" y="637946"/>
                  </a:lnTo>
                  <a:lnTo>
                    <a:pt x="1096441" y="632587"/>
                  </a:lnTo>
                  <a:lnTo>
                    <a:pt x="1096441" y="617372"/>
                  </a:lnTo>
                  <a:close/>
                </a:path>
                <a:path w="1096645" h="640714">
                  <a:moveTo>
                    <a:pt x="1096441" y="509397"/>
                  </a:moveTo>
                  <a:lnTo>
                    <a:pt x="1093800" y="504266"/>
                  </a:lnTo>
                  <a:lnTo>
                    <a:pt x="1091145" y="501472"/>
                  </a:lnTo>
                  <a:lnTo>
                    <a:pt x="1085837" y="501472"/>
                  </a:lnTo>
                  <a:lnTo>
                    <a:pt x="1083170" y="504266"/>
                  </a:lnTo>
                  <a:lnTo>
                    <a:pt x="1081049" y="509397"/>
                  </a:lnTo>
                  <a:lnTo>
                    <a:pt x="1081049" y="571322"/>
                  </a:lnTo>
                  <a:lnTo>
                    <a:pt x="1083170" y="576033"/>
                  </a:lnTo>
                  <a:lnTo>
                    <a:pt x="1085837" y="577748"/>
                  </a:lnTo>
                  <a:lnTo>
                    <a:pt x="1088491" y="578599"/>
                  </a:lnTo>
                  <a:lnTo>
                    <a:pt x="1091145" y="577748"/>
                  </a:lnTo>
                  <a:lnTo>
                    <a:pt x="1093800" y="576033"/>
                  </a:lnTo>
                  <a:lnTo>
                    <a:pt x="1096441" y="571322"/>
                  </a:lnTo>
                  <a:lnTo>
                    <a:pt x="1096441" y="509397"/>
                  </a:lnTo>
                  <a:close/>
                </a:path>
                <a:path w="1096645" h="640714">
                  <a:moveTo>
                    <a:pt x="1096441" y="447700"/>
                  </a:moveTo>
                  <a:lnTo>
                    <a:pt x="1093800" y="442353"/>
                  </a:lnTo>
                  <a:lnTo>
                    <a:pt x="1091145" y="439775"/>
                  </a:lnTo>
                  <a:lnTo>
                    <a:pt x="1085837" y="439775"/>
                  </a:lnTo>
                  <a:lnTo>
                    <a:pt x="1083170" y="442353"/>
                  </a:lnTo>
                  <a:lnTo>
                    <a:pt x="1081049" y="447700"/>
                  </a:lnTo>
                  <a:lnTo>
                    <a:pt x="1081049" y="462915"/>
                  </a:lnTo>
                  <a:lnTo>
                    <a:pt x="1083170" y="468274"/>
                  </a:lnTo>
                  <a:lnTo>
                    <a:pt x="1085837" y="469341"/>
                  </a:lnTo>
                  <a:lnTo>
                    <a:pt x="1088491" y="470839"/>
                  </a:lnTo>
                  <a:lnTo>
                    <a:pt x="1091145" y="469341"/>
                  </a:lnTo>
                  <a:lnTo>
                    <a:pt x="1093800" y="468274"/>
                  </a:lnTo>
                  <a:lnTo>
                    <a:pt x="1096441" y="462915"/>
                  </a:lnTo>
                  <a:lnTo>
                    <a:pt x="1096441" y="447700"/>
                  </a:lnTo>
                  <a:close/>
                </a:path>
                <a:path w="1096645" h="640714">
                  <a:moveTo>
                    <a:pt x="1096441" y="339305"/>
                  </a:moveTo>
                  <a:lnTo>
                    <a:pt x="1093800" y="334581"/>
                  </a:lnTo>
                  <a:lnTo>
                    <a:pt x="1091145" y="331800"/>
                  </a:lnTo>
                  <a:lnTo>
                    <a:pt x="1085837" y="331800"/>
                  </a:lnTo>
                  <a:lnTo>
                    <a:pt x="1083170" y="334581"/>
                  </a:lnTo>
                  <a:lnTo>
                    <a:pt x="1081049" y="339305"/>
                  </a:lnTo>
                  <a:lnTo>
                    <a:pt x="1081049" y="401218"/>
                  </a:lnTo>
                  <a:lnTo>
                    <a:pt x="1083170" y="406361"/>
                  </a:lnTo>
                  <a:lnTo>
                    <a:pt x="1085837" y="407428"/>
                  </a:lnTo>
                  <a:lnTo>
                    <a:pt x="1088491" y="409143"/>
                  </a:lnTo>
                  <a:lnTo>
                    <a:pt x="1091145" y="407428"/>
                  </a:lnTo>
                  <a:lnTo>
                    <a:pt x="1093800" y="406361"/>
                  </a:lnTo>
                  <a:lnTo>
                    <a:pt x="1096441" y="401218"/>
                  </a:lnTo>
                  <a:lnTo>
                    <a:pt x="1096441" y="339305"/>
                  </a:lnTo>
                  <a:close/>
                </a:path>
                <a:path w="1096645" h="640714">
                  <a:moveTo>
                    <a:pt x="1096441" y="278028"/>
                  </a:moveTo>
                  <a:lnTo>
                    <a:pt x="1093800" y="272669"/>
                  </a:lnTo>
                  <a:lnTo>
                    <a:pt x="1091145" y="270103"/>
                  </a:lnTo>
                  <a:lnTo>
                    <a:pt x="1085837" y="270103"/>
                  </a:lnTo>
                  <a:lnTo>
                    <a:pt x="1083170" y="272669"/>
                  </a:lnTo>
                  <a:lnTo>
                    <a:pt x="1081049" y="278028"/>
                  </a:lnTo>
                  <a:lnTo>
                    <a:pt x="1081049" y="293243"/>
                  </a:lnTo>
                  <a:lnTo>
                    <a:pt x="1083170" y="298602"/>
                  </a:lnTo>
                  <a:lnTo>
                    <a:pt x="1088491" y="300736"/>
                  </a:lnTo>
                  <a:lnTo>
                    <a:pt x="1093800" y="298602"/>
                  </a:lnTo>
                  <a:lnTo>
                    <a:pt x="1096441" y="293243"/>
                  </a:lnTo>
                  <a:lnTo>
                    <a:pt x="1096441" y="278028"/>
                  </a:lnTo>
                  <a:close/>
                </a:path>
                <a:path w="1096645" h="640714">
                  <a:moveTo>
                    <a:pt x="1096441" y="169621"/>
                  </a:moveTo>
                  <a:lnTo>
                    <a:pt x="1093800" y="164909"/>
                  </a:lnTo>
                  <a:lnTo>
                    <a:pt x="1091145" y="162128"/>
                  </a:lnTo>
                  <a:lnTo>
                    <a:pt x="1085837" y="162128"/>
                  </a:lnTo>
                  <a:lnTo>
                    <a:pt x="1083170" y="164909"/>
                  </a:lnTo>
                  <a:lnTo>
                    <a:pt x="1081049" y="169621"/>
                  </a:lnTo>
                  <a:lnTo>
                    <a:pt x="1081049" y="231546"/>
                  </a:lnTo>
                  <a:lnTo>
                    <a:pt x="1083170" y="236677"/>
                  </a:lnTo>
                  <a:lnTo>
                    <a:pt x="1085837" y="237756"/>
                  </a:lnTo>
                  <a:lnTo>
                    <a:pt x="1088491" y="239471"/>
                  </a:lnTo>
                  <a:lnTo>
                    <a:pt x="1091145" y="237756"/>
                  </a:lnTo>
                  <a:lnTo>
                    <a:pt x="1093800" y="236677"/>
                  </a:lnTo>
                  <a:lnTo>
                    <a:pt x="1096441" y="231546"/>
                  </a:lnTo>
                  <a:lnTo>
                    <a:pt x="1096441" y="169621"/>
                  </a:lnTo>
                  <a:close/>
                </a:path>
                <a:path w="1096645" h="640714">
                  <a:moveTo>
                    <a:pt x="1096441" y="107708"/>
                  </a:moveTo>
                  <a:lnTo>
                    <a:pt x="1093800" y="102997"/>
                  </a:lnTo>
                  <a:lnTo>
                    <a:pt x="1091145" y="100431"/>
                  </a:lnTo>
                  <a:lnTo>
                    <a:pt x="1085837" y="100431"/>
                  </a:lnTo>
                  <a:lnTo>
                    <a:pt x="1083170" y="102997"/>
                  </a:lnTo>
                  <a:lnTo>
                    <a:pt x="1081049" y="107708"/>
                  </a:lnTo>
                  <a:lnTo>
                    <a:pt x="1081049" y="123571"/>
                  </a:lnTo>
                  <a:lnTo>
                    <a:pt x="1083170" y="128282"/>
                  </a:lnTo>
                  <a:lnTo>
                    <a:pt x="1085837" y="129997"/>
                  </a:lnTo>
                  <a:lnTo>
                    <a:pt x="1088491" y="131064"/>
                  </a:lnTo>
                  <a:lnTo>
                    <a:pt x="1091145" y="129997"/>
                  </a:lnTo>
                  <a:lnTo>
                    <a:pt x="1093800" y="128282"/>
                  </a:lnTo>
                  <a:lnTo>
                    <a:pt x="1096441" y="123571"/>
                  </a:lnTo>
                  <a:lnTo>
                    <a:pt x="1096441" y="107708"/>
                  </a:lnTo>
                  <a:close/>
                </a:path>
                <a:path w="1096645" h="640714">
                  <a:moveTo>
                    <a:pt x="1096441" y="0"/>
                  </a:moveTo>
                  <a:lnTo>
                    <a:pt x="1081049" y="0"/>
                  </a:lnTo>
                  <a:lnTo>
                    <a:pt x="1081049" y="61861"/>
                  </a:lnTo>
                  <a:lnTo>
                    <a:pt x="1083170" y="67005"/>
                  </a:lnTo>
                  <a:lnTo>
                    <a:pt x="1088491" y="69151"/>
                  </a:lnTo>
                  <a:lnTo>
                    <a:pt x="1093800" y="67005"/>
                  </a:lnTo>
                  <a:lnTo>
                    <a:pt x="1096441" y="61861"/>
                  </a:lnTo>
                  <a:lnTo>
                    <a:pt x="1096441" y="0"/>
                  </a:lnTo>
                  <a:close/>
                </a:path>
              </a:pathLst>
            </a:custGeom>
            <a:solidFill>
              <a:srgbClr val="000000"/>
            </a:solidFill>
          </p:spPr>
          <p:txBody>
            <a:bodyPr wrap="square" lIns="0" tIns="0" rIns="0" bIns="0" rtlCol="0"/>
            <a:lstStyle/>
            <a:p/>
          </p:txBody>
        </p:sp>
        <p:sp>
          <p:nvSpPr>
            <p:cNvPr id="27" name="object 27" descr=""/>
            <p:cNvSpPr/>
            <p:nvPr/>
          </p:nvSpPr>
          <p:spPr>
            <a:xfrm>
              <a:off x="2357406" y="2381761"/>
              <a:ext cx="833755" cy="0"/>
            </a:xfrm>
            <a:custGeom>
              <a:avLst/>
              <a:gdLst/>
              <a:ahLst/>
              <a:cxnLst/>
              <a:rect l="l" t="t" r="r" b="b"/>
              <a:pathLst>
                <a:path w="833755" h="0">
                  <a:moveTo>
                    <a:pt x="0" y="0"/>
                  </a:moveTo>
                  <a:lnTo>
                    <a:pt x="833755" y="0"/>
                  </a:lnTo>
                </a:path>
              </a:pathLst>
            </a:custGeom>
            <a:ln w="16067">
              <a:solidFill>
                <a:srgbClr val="000000"/>
              </a:solidFill>
              <a:prstDash val="sysDash"/>
            </a:ln>
          </p:spPr>
          <p:txBody>
            <a:bodyPr wrap="square" lIns="0" tIns="0" rIns="0" bIns="0" rtlCol="0"/>
            <a:lstStyle/>
            <a:p/>
          </p:txBody>
        </p:sp>
        <p:sp>
          <p:nvSpPr>
            <p:cNvPr id="28" name="object 28" descr=""/>
            <p:cNvSpPr/>
            <p:nvPr/>
          </p:nvSpPr>
          <p:spPr>
            <a:xfrm>
              <a:off x="2254440" y="2327884"/>
              <a:ext cx="1081405" cy="109855"/>
            </a:xfrm>
            <a:custGeom>
              <a:avLst/>
              <a:gdLst/>
              <a:ahLst/>
              <a:cxnLst/>
              <a:rect l="l" t="t" r="r" b="b"/>
              <a:pathLst>
                <a:path w="1081404" h="109855">
                  <a:moveTo>
                    <a:pt x="168770" y="0"/>
                  </a:moveTo>
                  <a:lnTo>
                    <a:pt x="0" y="53771"/>
                  </a:lnTo>
                  <a:lnTo>
                    <a:pt x="168770" y="109474"/>
                  </a:lnTo>
                  <a:lnTo>
                    <a:pt x="114630" y="53771"/>
                  </a:lnTo>
                  <a:lnTo>
                    <a:pt x="168770" y="0"/>
                  </a:lnTo>
                  <a:close/>
                </a:path>
                <a:path w="1081404" h="109855">
                  <a:moveTo>
                    <a:pt x="1081062" y="53771"/>
                  </a:moveTo>
                  <a:lnTo>
                    <a:pt x="911237" y="0"/>
                  </a:lnTo>
                  <a:lnTo>
                    <a:pt x="964844" y="53771"/>
                  </a:lnTo>
                  <a:lnTo>
                    <a:pt x="911237" y="109474"/>
                  </a:lnTo>
                  <a:lnTo>
                    <a:pt x="1081062" y="53771"/>
                  </a:lnTo>
                  <a:close/>
                </a:path>
              </a:pathLst>
            </a:custGeom>
            <a:solidFill>
              <a:srgbClr val="000000"/>
            </a:solidFill>
          </p:spPr>
          <p:txBody>
            <a:bodyPr wrap="square" lIns="0" tIns="0" rIns="0" bIns="0" rtlCol="0"/>
            <a:lstStyle/>
            <a:p/>
          </p:txBody>
        </p:sp>
      </p:grpSp>
      <p:sp>
        <p:nvSpPr>
          <p:cNvPr id="29" name="object 29" descr=""/>
          <p:cNvSpPr/>
          <p:nvPr/>
        </p:nvSpPr>
        <p:spPr>
          <a:xfrm>
            <a:off x="9275203" y="5082678"/>
            <a:ext cx="0" cy="332105"/>
          </a:xfrm>
          <a:custGeom>
            <a:avLst/>
            <a:gdLst/>
            <a:ahLst/>
            <a:cxnLst/>
            <a:rect l="l" t="t" r="r" b="b"/>
            <a:pathLst>
              <a:path w="0" h="332104">
                <a:moveTo>
                  <a:pt x="0" y="0"/>
                </a:moveTo>
                <a:lnTo>
                  <a:pt x="0" y="331934"/>
                </a:lnTo>
              </a:path>
            </a:pathLst>
          </a:custGeom>
          <a:ln w="15390">
            <a:solidFill>
              <a:srgbClr val="000000"/>
            </a:solidFill>
          </a:ln>
        </p:spPr>
        <p:txBody>
          <a:bodyPr wrap="square" lIns="0" tIns="0" rIns="0" bIns="0" rtlCol="0"/>
          <a:lstStyle/>
          <a:p/>
        </p:txBody>
      </p:sp>
      <p:sp>
        <p:nvSpPr>
          <p:cNvPr id="30" name="object 30" descr=""/>
          <p:cNvSpPr/>
          <p:nvPr/>
        </p:nvSpPr>
        <p:spPr>
          <a:xfrm>
            <a:off x="9275203" y="5504999"/>
            <a:ext cx="0" cy="331470"/>
          </a:xfrm>
          <a:custGeom>
            <a:avLst/>
            <a:gdLst/>
            <a:ahLst/>
            <a:cxnLst/>
            <a:rect l="l" t="t" r="r" b="b"/>
            <a:pathLst>
              <a:path w="0" h="331470">
                <a:moveTo>
                  <a:pt x="0" y="0"/>
                </a:moveTo>
                <a:lnTo>
                  <a:pt x="0" y="331412"/>
                </a:lnTo>
              </a:path>
            </a:pathLst>
          </a:custGeom>
          <a:ln w="15390">
            <a:solidFill>
              <a:srgbClr val="000000"/>
            </a:solidFill>
          </a:ln>
        </p:spPr>
        <p:txBody>
          <a:bodyPr wrap="square" lIns="0" tIns="0" rIns="0" bIns="0" rtlCol="0"/>
          <a:lstStyle/>
          <a:p/>
        </p:txBody>
      </p:sp>
      <p:sp>
        <p:nvSpPr>
          <p:cNvPr id="31" name="object 31" descr=""/>
          <p:cNvSpPr/>
          <p:nvPr/>
        </p:nvSpPr>
        <p:spPr>
          <a:xfrm>
            <a:off x="2254440" y="3304158"/>
            <a:ext cx="547370" cy="879475"/>
          </a:xfrm>
          <a:custGeom>
            <a:avLst/>
            <a:gdLst/>
            <a:ahLst/>
            <a:cxnLst/>
            <a:rect l="l" t="t" r="r" b="b"/>
            <a:pathLst>
              <a:path w="547369" h="879475">
                <a:moveTo>
                  <a:pt x="180441" y="738327"/>
                </a:moveTo>
                <a:lnTo>
                  <a:pt x="177787" y="733044"/>
                </a:lnTo>
                <a:lnTo>
                  <a:pt x="175133" y="731989"/>
                </a:lnTo>
                <a:lnTo>
                  <a:pt x="172478" y="730402"/>
                </a:lnTo>
                <a:lnTo>
                  <a:pt x="123380" y="730402"/>
                </a:lnTo>
                <a:lnTo>
                  <a:pt x="168770" y="683895"/>
                </a:lnTo>
                <a:lnTo>
                  <a:pt x="0" y="739381"/>
                </a:lnTo>
                <a:lnTo>
                  <a:pt x="168770" y="793305"/>
                </a:lnTo>
                <a:lnTo>
                  <a:pt x="121018" y="745744"/>
                </a:lnTo>
                <a:lnTo>
                  <a:pt x="175133" y="745744"/>
                </a:lnTo>
                <a:lnTo>
                  <a:pt x="177787" y="743089"/>
                </a:lnTo>
                <a:lnTo>
                  <a:pt x="180441" y="738327"/>
                </a:lnTo>
                <a:close/>
              </a:path>
              <a:path w="547369" h="879475">
                <a:moveTo>
                  <a:pt x="288175" y="738327"/>
                </a:moveTo>
                <a:lnTo>
                  <a:pt x="285508" y="733044"/>
                </a:lnTo>
                <a:lnTo>
                  <a:pt x="283387" y="731989"/>
                </a:lnTo>
                <a:lnTo>
                  <a:pt x="280758" y="730402"/>
                </a:lnTo>
                <a:lnTo>
                  <a:pt x="218643" y="730402"/>
                </a:lnTo>
                <a:lnTo>
                  <a:pt x="216522" y="731989"/>
                </a:lnTo>
                <a:lnTo>
                  <a:pt x="213868" y="733044"/>
                </a:lnTo>
                <a:lnTo>
                  <a:pt x="211239" y="738327"/>
                </a:lnTo>
                <a:lnTo>
                  <a:pt x="213868" y="743089"/>
                </a:lnTo>
                <a:lnTo>
                  <a:pt x="216522" y="745744"/>
                </a:lnTo>
                <a:lnTo>
                  <a:pt x="283387" y="745744"/>
                </a:lnTo>
                <a:lnTo>
                  <a:pt x="285508" y="743089"/>
                </a:lnTo>
                <a:lnTo>
                  <a:pt x="288175" y="738327"/>
                </a:lnTo>
                <a:close/>
              </a:path>
              <a:path w="547369" h="879475">
                <a:moveTo>
                  <a:pt x="396430" y="738327"/>
                </a:moveTo>
                <a:lnTo>
                  <a:pt x="393801" y="733044"/>
                </a:lnTo>
                <a:lnTo>
                  <a:pt x="391147" y="731989"/>
                </a:lnTo>
                <a:lnTo>
                  <a:pt x="388480" y="730402"/>
                </a:lnTo>
                <a:lnTo>
                  <a:pt x="326923" y="730402"/>
                </a:lnTo>
                <a:lnTo>
                  <a:pt x="324269" y="731989"/>
                </a:lnTo>
                <a:lnTo>
                  <a:pt x="321614" y="733044"/>
                </a:lnTo>
                <a:lnTo>
                  <a:pt x="318960" y="738327"/>
                </a:lnTo>
                <a:lnTo>
                  <a:pt x="321614" y="743089"/>
                </a:lnTo>
                <a:lnTo>
                  <a:pt x="324269" y="745744"/>
                </a:lnTo>
                <a:lnTo>
                  <a:pt x="391147" y="745744"/>
                </a:lnTo>
                <a:lnTo>
                  <a:pt x="393801" y="743089"/>
                </a:lnTo>
                <a:lnTo>
                  <a:pt x="396430" y="738327"/>
                </a:lnTo>
                <a:close/>
              </a:path>
              <a:path w="547369" h="879475">
                <a:moveTo>
                  <a:pt x="547154" y="455028"/>
                </a:moveTo>
                <a:lnTo>
                  <a:pt x="544499" y="450316"/>
                </a:lnTo>
                <a:lnTo>
                  <a:pt x="541870" y="447535"/>
                </a:lnTo>
                <a:lnTo>
                  <a:pt x="536549" y="447535"/>
                </a:lnTo>
                <a:lnTo>
                  <a:pt x="533895" y="450316"/>
                </a:lnTo>
                <a:lnTo>
                  <a:pt x="531241" y="455028"/>
                </a:lnTo>
                <a:lnTo>
                  <a:pt x="531241" y="470458"/>
                </a:lnTo>
                <a:lnTo>
                  <a:pt x="533895" y="475589"/>
                </a:lnTo>
                <a:lnTo>
                  <a:pt x="536549" y="477304"/>
                </a:lnTo>
                <a:lnTo>
                  <a:pt x="539216" y="478383"/>
                </a:lnTo>
                <a:lnTo>
                  <a:pt x="541870" y="477304"/>
                </a:lnTo>
                <a:lnTo>
                  <a:pt x="544499" y="475589"/>
                </a:lnTo>
                <a:lnTo>
                  <a:pt x="547154" y="470458"/>
                </a:lnTo>
                <a:lnTo>
                  <a:pt x="547154" y="455028"/>
                </a:lnTo>
                <a:close/>
              </a:path>
              <a:path w="547369" h="879475">
                <a:moveTo>
                  <a:pt x="547154" y="347268"/>
                </a:moveTo>
                <a:lnTo>
                  <a:pt x="544499" y="341909"/>
                </a:lnTo>
                <a:lnTo>
                  <a:pt x="541870" y="339344"/>
                </a:lnTo>
                <a:lnTo>
                  <a:pt x="536549" y="339344"/>
                </a:lnTo>
                <a:lnTo>
                  <a:pt x="533895" y="341909"/>
                </a:lnTo>
                <a:lnTo>
                  <a:pt x="531241" y="347268"/>
                </a:lnTo>
                <a:lnTo>
                  <a:pt x="531241" y="408965"/>
                </a:lnTo>
                <a:lnTo>
                  <a:pt x="533895" y="413893"/>
                </a:lnTo>
                <a:lnTo>
                  <a:pt x="536549" y="415391"/>
                </a:lnTo>
                <a:lnTo>
                  <a:pt x="539216" y="416471"/>
                </a:lnTo>
                <a:lnTo>
                  <a:pt x="541870" y="415391"/>
                </a:lnTo>
                <a:lnTo>
                  <a:pt x="544499" y="413893"/>
                </a:lnTo>
                <a:lnTo>
                  <a:pt x="547154" y="408965"/>
                </a:lnTo>
                <a:lnTo>
                  <a:pt x="547154" y="347268"/>
                </a:lnTo>
                <a:close/>
              </a:path>
              <a:path w="547369" h="879475">
                <a:moveTo>
                  <a:pt x="547154" y="285356"/>
                </a:moveTo>
                <a:lnTo>
                  <a:pt x="544499" y="279996"/>
                </a:lnTo>
                <a:lnTo>
                  <a:pt x="541870" y="277431"/>
                </a:lnTo>
                <a:lnTo>
                  <a:pt x="536549" y="277431"/>
                </a:lnTo>
                <a:lnTo>
                  <a:pt x="533895" y="279996"/>
                </a:lnTo>
                <a:lnTo>
                  <a:pt x="531241" y="285356"/>
                </a:lnTo>
                <a:lnTo>
                  <a:pt x="531241" y="300774"/>
                </a:lnTo>
                <a:lnTo>
                  <a:pt x="533895" y="305917"/>
                </a:lnTo>
                <a:lnTo>
                  <a:pt x="536549" y="306997"/>
                </a:lnTo>
                <a:lnTo>
                  <a:pt x="539216" y="308711"/>
                </a:lnTo>
                <a:lnTo>
                  <a:pt x="541870" y="306997"/>
                </a:lnTo>
                <a:lnTo>
                  <a:pt x="544499" y="305917"/>
                </a:lnTo>
                <a:lnTo>
                  <a:pt x="547154" y="300774"/>
                </a:lnTo>
                <a:lnTo>
                  <a:pt x="547154" y="285356"/>
                </a:lnTo>
                <a:close/>
              </a:path>
              <a:path w="547369" h="879475">
                <a:moveTo>
                  <a:pt x="547154" y="177596"/>
                </a:moveTo>
                <a:lnTo>
                  <a:pt x="544499" y="172237"/>
                </a:lnTo>
                <a:lnTo>
                  <a:pt x="541870" y="169672"/>
                </a:lnTo>
                <a:lnTo>
                  <a:pt x="536549" y="169672"/>
                </a:lnTo>
                <a:lnTo>
                  <a:pt x="533895" y="172237"/>
                </a:lnTo>
                <a:lnTo>
                  <a:pt x="531241" y="177596"/>
                </a:lnTo>
                <a:lnTo>
                  <a:pt x="531241" y="238861"/>
                </a:lnTo>
                <a:lnTo>
                  <a:pt x="533895" y="244221"/>
                </a:lnTo>
                <a:lnTo>
                  <a:pt x="536549" y="245719"/>
                </a:lnTo>
                <a:lnTo>
                  <a:pt x="539216" y="246799"/>
                </a:lnTo>
                <a:lnTo>
                  <a:pt x="541870" y="245719"/>
                </a:lnTo>
                <a:lnTo>
                  <a:pt x="544499" y="244221"/>
                </a:lnTo>
                <a:lnTo>
                  <a:pt x="547154" y="238861"/>
                </a:lnTo>
                <a:lnTo>
                  <a:pt x="547154" y="177596"/>
                </a:lnTo>
                <a:close/>
              </a:path>
              <a:path w="547369" h="879475">
                <a:moveTo>
                  <a:pt x="547154" y="115684"/>
                </a:moveTo>
                <a:lnTo>
                  <a:pt x="544499" y="110324"/>
                </a:lnTo>
                <a:lnTo>
                  <a:pt x="541870" y="107759"/>
                </a:lnTo>
                <a:lnTo>
                  <a:pt x="536549" y="107759"/>
                </a:lnTo>
                <a:lnTo>
                  <a:pt x="533895" y="110324"/>
                </a:lnTo>
                <a:lnTo>
                  <a:pt x="531241" y="115684"/>
                </a:lnTo>
                <a:lnTo>
                  <a:pt x="531241" y="131102"/>
                </a:lnTo>
                <a:lnTo>
                  <a:pt x="533895" y="136245"/>
                </a:lnTo>
                <a:lnTo>
                  <a:pt x="536549" y="137325"/>
                </a:lnTo>
                <a:lnTo>
                  <a:pt x="539216" y="139039"/>
                </a:lnTo>
                <a:lnTo>
                  <a:pt x="541870" y="137325"/>
                </a:lnTo>
                <a:lnTo>
                  <a:pt x="544499" y="136245"/>
                </a:lnTo>
                <a:lnTo>
                  <a:pt x="547154" y="131102"/>
                </a:lnTo>
                <a:lnTo>
                  <a:pt x="547154" y="115684"/>
                </a:lnTo>
                <a:close/>
              </a:path>
              <a:path w="547369" h="879475">
                <a:moveTo>
                  <a:pt x="547154" y="7277"/>
                </a:moveTo>
                <a:lnTo>
                  <a:pt x="544499" y="2565"/>
                </a:lnTo>
                <a:lnTo>
                  <a:pt x="541870" y="1066"/>
                </a:lnTo>
                <a:lnTo>
                  <a:pt x="539216" y="0"/>
                </a:lnTo>
                <a:lnTo>
                  <a:pt x="536549" y="1066"/>
                </a:lnTo>
                <a:lnTo>
                  <a:pt x="533895" y="2565"/>
                </a:lnTo>
                <a:lnTo>
                  <a:pt x="531241" y="7277"/>
                </a:lnTo>
                <a:lnTo>
                  <a:pt x="531241" y="69189"/>
                </a:lnTo>
                <a:lnTo>
                  <a:pt x="533895" y="74549"/>
                </a:lnTo>
                <a:lnTo>
                  <a:pt x="536549" y="75615"/>
                </a:lnTo>
                <a:lnTo>
                  <a:pt x="539216" y="77114"/>
                </a:lnTo>
                <a:lnTo>
                  <a:pt x="541870" y="75615"/>
                </a:lnTo>
                <a:lnTo>
                  <a:pt x="544499" y="74549"/>
                </a:lnTo>
                <a:lnTo>
                  <a:pt x="547154" y="69189"/>
                </a:lnTo>
                <a:lnTo>
                  <a:pt x="547154" y="7277"/>
                </a:lnTo>
                <a:close/>
              </a:path>
              <a:path w="547369" h="879475">
                <a:moveTo>
                  <a:pt x="547166" y="856742"/>
                </a:moveTo>
                <a:lnTo>
                  <a:pt x="544499" y="851446"/>
                </a:lnTo>
                <a:lnTo>
                  <a:pt x="541870" y="848817"/>
                </a:lnTo>
                <a:lnTo>
                  <a:pt x="536549" y="848817"/>
                </a:lnTo>
                <a:lnTo>
                  <a:pt x="533895" y="851446"/>
                </a:lnTo>
                <a:lnTo>
                  <a:pt x="531241" y="856742"/>
                </a:lnTo>
                <a:lnTo>
                  <a:pt x="531241" y="872058"/>
                </a:lnTo>
                <a:lnTo>
                  <a:pt x="533895" y="876808"/>
                </a:lnTo>
                <a:lnTo>
                  <a:pt x="536549" y="878395"/>
                </a:lnTo>
                <a:lnTo>
                  <a:pt x="539216" y="879475"/>
                </a:lnTo>
                <a:lnTo>
                  <a:pt x="541870" y="878395"/>
                </a:lnTo>
                <a:lnTo>
                  <a:pt x="544499" y="876808"/>
                </a:lnTo>
                <a:lnTo>
                  <a:pt x="547166" y="872058"/>
                </a:lnTo>
                <a:lnTo>
                  <a:pt x="547166" y="856742"/>
                </a:lnTo>
                <a:close/>
              </a:path>
              <a:path w="547369" h="879475">
                <a:moveTo>
                  <a:pt x="547166" y="794893"/>
                </a:moveTo>
                <a:lnTo>
                  <a:pt x="544499" y="789597"/>
                </a:lnTo>
                <a:lnTo>
                  <a:pt x="541870" y="786968"/>
                </a:lnTo>
                <a:lnTo>
                  <a:pt x="536549" y="786968"/>
                </a:lnTo>
                <a:lnTo>
                  <a:pt x="533895" y="789597"/>
                </a:lnTo>
                <a:lnTo>
                  <a:pt x="531241" y="794893"/>
                </a:lnTo>
                <a:lnTo>
                  <a:pt x="531241" y="810234"/>
                </a:lnTo>
                <a:lnTo>
                  <a:pt x="533895" y="815505"/>
                </a:lnTo>
                <a:lnTo>
                  <a:pt x="536549" y="816571"/>
                </a:lnTo>
                <a:lnTo>
                  <a:pt x="539216" y="818159"/>
                </a:lnTo>
                <a:lnTo>
                  <a:pt x="541870" y="816571"/>
                </a:lnTo>
                <a:lnTo>
                  <a:pt x="544499" y="815505"/>
                </a:lnTo>
                <a:lnTo>
                  <a:pt x="547166" y="810234"/>
                </a:lnTo>
                <a:lnTo>
                  <a:pt x="547166" y="794893"/>
                </a:lnTo>
                <a:close/>
              </a:path>
              <a:path w="547369" h="879475">
                <a:moveTo>
                  <a:pt x="547166" y="686536"/>
                </a:moveTo>
                <a:lnTo>
                  <a:pt x="544499" y="681774"/>
                </a:lnTo>
                <a:lnTo>
                  <a:pt x="541870" y="679145"/>
                </a:lnTo>
                <a:lnTo>
                  <a:pt x="536549" y="679145"/>
                </a:lnTo>
                <a:lnTo>
                  <a:pt x="533895" y="681774"/>
                </a:lnTo>
                <a:lnTo>
                  <a:pt x="531241" y="686536"/>
                </a:lnTo>
                <a:lnTo>
                  <a:pt x="531241" y="736447"/>
                </a:lnTo>
                <a:lnTo>
                  <a:pt x="370446" y="683895"/>
                </a:lnTo>
                <a:lnTo>
                  <a:pt x="424561" y="739381"/>
                </a:lnTo>
                <a:lnTo>
                  <a:pt x="370446" y="793305"/>
                </a:lnTo>
                <a:lnTo>
                  <a:pt x="531241" y="742251"/>
                </a:lnTo>
                <a:lnTo>
                  <a:pt x="531241" y="748385"/>
                </a:lnTo>
                <a:lnTo>
                  <a:pt x="533895" y="753668"/>
                </a:lnTo>
                <a:lnTo>
                  <a:pt x="536549" y="754722"/>
                </a:lnTo>
                <a:lnTo>
                  <a:pt x="539216" y="756310"/>
                </a:lnTo>
                <a:lnTo>
                  <a:pt x="541870" y="754722"/>
                </a:lnTo>
                <a:lnTo>
                  <a:pt x="544499" y="753668"/>
                </a:lnTo>
                <a:lnTo>
                  <a:pt x="547166" y="748385"/>
                </a:lnTo>
                <a:lnTo>
                  <a:pt x="547166" y="686536"/>
                </a:lnTo>
                <a:close/>
              </a:path>
              <a:path w="547369" h="879475">
                <a:moveTo>
                  <a:pt x="547166" y="625221"/>
                </a:moveTo>
                <a:lnTo>
                  <a:pt x="544499" y="619950"/>
                </a:lnTo>
                <a:lnTo>
                  <a:pt x="541870" y="617296"/>
                </a:lnTo>
                <a:lnTo>
                  <a:pt x="536549" y="617296"/>
                </a:lnTo>
                <a:lnTo>
                  <a:pt x="533895" y="619950"/>
                </a:lnTo>
                <a:lnTo>
                  <a:pt x="531241" y="625221"/>
                </a:lnTo>
                <a:lnTo>
                  <a:pt x="531241" y="640549"/>
                </a:lnTo>
                <a:lnTo>
                  <a:pt x="533895" y="645312"/>
                </a:lnTo>
                <a:lnTo>
                  <a:pt x="536549" y="646899"/>
                </a:lnTo>
                <a:lnTo>
                  <a:pt x="539216" y="647941"/>
                </a:lnTo>
                <a:lnTo>
                  <a:pt x="541870" y="646899"/>
                </a:lnTo>
                <a:lnTo>
                  <a:pt x="544499" y="645312"/>
                </a:lnTo>
                <a:lnTo>
                  <a:pt x="547166" y="640549"/>
                </a:lnTo>
                <a:lnTo>
                  <a:pt x="547166" y="625221"/>
                </a:lnTo>
                <a:close/>
              </a:path>
              <a:path w="547369" h="879475">
                <a:moveTo>
                  <a:pt x="547166" y="578637"/>
                </a:moveTo>
                <a:lnTo>
                  <a:pt x="547154" y="516940"/>
                </a:lnTo>
                <a:lnTo>
                  <a:pt x="544499" y="511581"/>
                </a:lnTo>
                <a:lnTo>
                  <a:pt x="541870" y="509447"/>
                </a:lnTo>
                <a:lnTo>
                  <a:pt x="536549" y="509447"/>
                </a:lnTo>
                <a:lnTo>
                  <a:pt x="533895" y="511581"/>
                </a:lnTo>
                <a:lnTo>
                  <a:pt x="531241" y="516940"/>
                </a:lnTo>
                <a:lnTo>
                  <a:pt x="531241" y="578637"/>
                </a:lnTo>
                <a:lnTo>
                  <a:pt x="533895" y="583996"/>
                </a:lnTo>
                <a:lnTo>
                  <a:pt x="536549" y="585063"/>
                </a:lnTo>
                <a:lnTo>
                  <a:pt x="539216" y="586574"/>
                </a:lnTo>
                <a:lnTo>
                  <a:pt x="541870" y="585063"/>
                </a:lnTo>
                <a:lnTo>
                  <a:pt x="544499" y="583996"/>
                </a:lnTo>
                <a:lnTo>
                  <a:pt x="547166" y="578637"/>
                </a:lnTo>
                <a:close/>
              </a:path>
            </a:pathLst>
          </a:custGeom>
          <a:solidFill>
            <a:srgbClr val="000000"/>
          </a:solidFill>
        </p:spPr>
        <p:txBody>
          <a:bodyPr wrap="square" lIns="0" tIns="0" rIns="0" bIns="0" rtlCol="0"/>
          <a:lstStyle/>
          <a:p/>
        </p:txBody>
      </p:sp>
      <p:sp>
        <p:nvSpPr>
          <p:cNvPr id="32" name="object 32" descr=""/>
          <p:cNvSpPr txBox="1"/>
          <p:nvPr/>
        </p:nvSpPr>
        <p:spPr>
          <a:xfrm>
            <a:off x="2316577" y="3243005"/>
            <a:ext cx="414020" cy="258445"/>
          </a:xfrm>
          <a:prstGeom prst="rect">
            <a:avLst/>
          </a:prstGeom>
        </p:spPr>
        <p:txBody>
          <a:bodyPr wrap="square" lIns="0" tIns="15875" rIns="0" bIns="0" rtlCol="0" vert="horz">
            <a:spAutoFit/>
          </a:bodyPr>
          <a:lstStyle/>
          <a:p>
            <a:pPr marL="12700">
              <a:lnSpc>
                <a:spcPct val="100000"/>
              </a:lnSpc>
              <a:spcBef>
                <a:spcPts val="125"/>
              </a:spcBef>
            </a:pPr>
            <a:r>
              <a:rPr dirty="0" sz="1500" spc="-25">
                <a:solidFill>
                  <a:srgbClr val="0000FF"/>
                </a:solidFill>
                <a:latin typeface="宋体"/>
                <a:cs typeface="宋体"/>
              </a:rPr>
              <a:t>流水</a:t>
            </a:r>
            <a:endParaRPr sz="1500">
              <a:latin typeface="宋体"/>
              <a:cs typeface="宋体"/>
            </a:endParaRPr>
          </a:p>
        </p:txBody>
      </p:sp>
      <p:sp>
        <p:nvSpPr>
          <p:cNvPr id="33" name="object 33" descr=""/>
          <p:cNvSpPr txBox="1"/>
          <p:nvPr/>
        </p:nvSpPr>
        <p:spPr>
          <a:xfrm>
            <a:off x="5592131" y="2221963"/>
            <a:ext cx="1296670" cy="258445"/>
          </a:xfrm>
          <a:prstGeom prst="rect">
            <a:avLst/>
          </a:prstGeom>
        </p:spPr>
        <p:txBody>
          <a:bodyPr wrap="square" lIns="0" tIns="15875" rIns="0" bIns="0" rtlCol="0" vert="horz">
            <a:spAutoFit/>
          </a:bodyPr>
          <a:lstStyle/>
          <a:p>
            <a:pPr marL="12700">
              <a:lnSpc>
                <a:spcPct val="100000"/>
              </a:lnSpc>
              <a:spcBef>
                <a:spcPts val="125"/>
              </a:spcBef>
            </a:pPr>
            <a:r>
              <a:rPr dirty="0" sz="1500" spc="-114">
                <a:solidFill>
                  <a:srgbClr val="0000FF"/>
                </a:solidFill>
                <a:latin typeface="宋体"/>
                <a:cs typeface="宋体"/>
              </a:rPr>
              <a:t>当前 </a:t>
            </a:r>
            <a:r>
              <a:rPr dirty="0" sz="1500" b="1">
                <a:solidFill>
                  <a:srgbClr val="0000FF"/>
                </a:solidFill>
                <a:latin typeface="Times New Roman"/>
                <a:cs typeface="Times New Roman"/>
              </a:rPr>
              <a:t>CPU</a:t>
            </a:r>
            <a:r>
              <a:rPr dirty="0" sz="1500" spc="30" b="1">
                <a:solidFill>
                  <a:srgbClr val="0000FF"/>
                </a:solidFill>
                <a:latin typeface="Times New Roman"/>
                <a:cs typeface="Times New Roman"/>
              </a:rPr>
              <a:t> </a:t>
            </a:r>
            <a:r>
              <a:rPr dirty="0" sz="1500" spc="-25">
                <a:solidFill>
                  <a:srgbClr val="0000FF"/>
                </a:solidFill>
                <a:latin typeface="宋体"/>
                <a:cs typeface="宋体"/>
              </a:rPr>
              <a:t>周期</a:t>
            </a:r>
            <a:endParaRPr sz="1500">
              <a:latin typeface="宋体"/>
              <a:cs typeface="宋体"/>
            </a:endParaRPr>
          </a:p>
        </p:txBody>
      </p:sp>
      <p:sp>
        <p:nvSpPr>
          <p:cNvPr id="34" name="object 34" descr=""/>
          <p:cNvSpPr/>
          <p:nvPr/>
        </p:nvSpPr>
        <p:spPr>
          <a:xfrm>
            <a:off x="5492777" y="5082678"/>
            <a:ext cx="4318000" cy="327660"/>
          </a:xfrm>
          <a:custGeom>
            <a:avLst/>
            <a:gdLst/>
            <a:ahLst/>
            <a:cxnLst/>
            <a:rect l="l" t="t" r="r" b="b"/>
            <a:pathLst>
              <a:path w="4318000" h="327660">
                <a:moveTo>
                  <a:pt x="0" y="327178"/>
                </a:moveTo>
                <a:lnTo>
                  <a:pt x="4317416" y="327178"/>
                </a:lnTo>
                <a:lnTo>
                  <a:pt x="4317416" y="0"/>
                </a:lnTo>
                <a:lnTo>
                  <a:pt x="0" y="0"/>
                </a:lnTo>
                <a:lnTo>
                  <a:pt x="0" y="327178"/>
                </a:lnTo>
                <a:close/>
              </a:path>
            </a:pathLst>
          </a:custGeom>
          <a:ln w="15389">
            <a:solidFill>
              <a:srgbClr val="000000"/>
            </a:solidFill>
          </a:ln>
        </p:spPr>
        <p:txBody>
          <a:bodyPr wrap="square" lIns="0" tIns="0" rIns="0" bIns="0" rtlCol="0"/>
          <a:lstStyle/>
          <a:p/>
        </p:txBody>
      </p:sp>
      <p:graphicFrame>
        <p:nvGraphicFramePr>
          <p:cNvPr id="35" name="object 35" descr=""/>
          <p:cNvGraphicFramePr>
            <a:graphicFrameLocks noGrp="1"/>
          </p:cNvGraphicFramePr>
          <p:nvPr/>
        </p:nvGraphicFramePr>
        <p:xfrm>
          <a:off x="2245692" y="2580956"/>
          <a:ext cx="8190230" cy="3245484"/>
        </p:xfrm>
        <a:graphic>
          <a:graphicData uri="http://schemas.openxmlformats.org/drawingml/2006/table">
            <a:tbl>
              <a:tblPr firstRow="1" bandRow="1">
                <a:tableStyleId>{2D5ABB26-0587-4C30-8999-92F81FD0307C}</a:tableStyleId>
              </a:tblPr>
              <a:tblGrid>
                <a:gridCol w="539115"/>
                <a:gridCol w="539750"/>
                <a:gridCol w="540385"/>
                <a:gridCol w="539750"/>
                <a:gridCol w="540385"/>
                <a:gridCol w="540385"/>
                <a:gridCol w="544195"/>
                <a:gridCol w="533400"/>
                <a:gridCol w="542925"/>
                <a:gridCol w="541020"/>
                <a:gridCol w="541020"/>
                <a:gridCol w="540385"/>
                <a:gridCol w="541019"/>
                <a:gridCol w="1087120"/>
              </a:tblGrid>
              <a:tr h="326390">
                <a:tc>
                  <a:txBody>
                    <a:bodyPr/>
                    <a:lstStyle/>
                    <a:p>
                      <a:pPr algn="ctr" marL="31115">
                        <a:lnSpc>
                          <a:spcPct val="100000"/>
                        </a:lnSpc>
                        <a:spcBef>
                          <a:spcPts val="295"/>
                        </a:spcBef>
                      </a:pPr>
                      <a:r>
                        <a:rPr dirty="0" sz="1500" spc="-25">
                          <a:latin typeface="Times New Roman"/>
                          <a:cs typeface="Times New Roman"/>
                        </a:rPr>
                        <a:t>IF</a:t>
                      </a:r>
                      <a:endParaRPr sz="1500">
                        <a:latin typeface="Times New Roman"/>
                        <a:cs typeface="Times New Roman"/>
                      </a:endParaRPr>
                    </a:p>
                  </a:txBody>
                  <a:tcPr marL="0" marR="0" marB="0" marT="3746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99"/>
                    </a:solidFill>
                  </a:tcPr>
                </a:tc>
                <a:tc>
                  <a:txBody>
                    <a:bodyPr/>
                    <a:lstStyle/>
                    <a:p>
                      <a:pPr algn="ctr" marL="51435">
                        <a:lnSpc>
                          <a:spcPct val="100000"/>
                        </a:lnSpc>
                        <a:spcBef>
                          <a:spcPts val="295"/>
                        </a:spcBef>
                      </a:pPr>
                      <a:r>
                        <a:rPr dirty="0" sz="1500" spc="-25">
                          <a:latin typeface="Times New Roman"/>
                          <a:cs typeface="Times New Roman"/>
                        </a:rPr>
                        <a:t>IS</a:t>
                      </a:r>
                      <a:endParaRPr sz="1500">
                        <a:latin typeface="Times New Roman"/>
                        <a:cs typeface="Times New Roman"/>
                      </a:endParaRPr>
                    </a:p>
                  </a:txBody>
                  <a:tcPr marL="0" marR="0" marB="0" marT="3746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L="24765">
                        <a:lnSpc>
                          <a:spcPct val="100000"/>
                        </a:lnSpc>
                        <a:spcBef>
                          <a:spcPts val="295"/>
                        </a:spcBef>
                      </a:pPr>
                      <a:r>
                        <a:rPr dirty="0" sz="1500" spc="-25">
                          <a:latin typeface="Times New Roman"/>
                          <a:cs typeface="Times New Roman"/>
                        </a:rPr>
                        <a:t>RF</a:t>
                      </a:r>
                      <a:endParaRPr sz="1500">
                        <a:latin typeface="Times New Roman"/>
                        <a:cs typeface="Times New Roman"/>
                      </a:endParaRPr>
                    </a:p>
                  </a:txBody>
                  <a:tcPr marL="0" marR="0" marB="0" marT="3746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gn="r" marR="137160">
                        <a:lnSpc>
                          <a:spcPct val="100000"/>
                        </a:lnSpc>
                        <a:spcBef>
                          <a:spcPts val="295"/>
                        </a:spcBef>
                      </a:pPr>
                      <a:r>
                        <a:rPr dirty="0" sz="1500" spc="-25">
                          <a:latin typeface="Times New Roman"/>
                          <a:cs typeface="Times New Roman"/>
                        </a:rPr>
                        <a:t>EX</a:t>
                      </a:r>
                      <a:endParaRPr sz="1500">
                        <a:latin typeface="Times New Roman"/>
                        <a:cs typeface="Times New Roman"/>
                      </a:endParaRPr>
                    </a:p>
                  </a:txBody>
                  <a:tcPr marL="0" marR="0" marB="0" marT="3746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c>
                  <a:txBody>
                    <a:bodyPr/>
                    <a:lstStyle/>
                    <a:p>
                      <a:pPr algn="ctr">
                        <a:lnSpc>
                          <a:spcPct val="100000"/>
                        </a:lnSpc>
                        <a:spcBef>
                          <a:spcPts val="295"/>
                        </a:spcBef>
                      </a:pPr>
                      <a:r>
                        <a:rPr dirty="0" sz="1500" spc="-25">
                          <a:latin typeface="Times New Roman"/>
                          <a:cs typeface="Times New Roman"/>
                        </a:rPr>
                        <a:t>DF</a:t>
                      </a:r>
                      <a:endParaRPr sz="1500">
                        <a:latin typeface="Times New Roman"/>
                        <a:cs typeface="Times New Roman"/>
                      </a:endParaRPr>
                    </a:p>
                  </a:txBody>
                  <a:tcPr marL="0" marR="0" marB="0" marT="3746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tc>
                  <a:txBody>
                    <a:bodyPr/>
                    <a:lstStyle/>
                    <a:p>
                      <a:pPr algn="ctr" marL="34925">
                        <a:lnSpc>
                          <a:spcPct val="100000"/>
                        </a:lnSpc>
                        <a:spcBef>
                          <a:spcPts val="295"/>
                        </a:spcBef>
                      </a:pPr>
                      <a:r>
                        <a:rPr dirty="0" sz="1500" spc="-25">
                          <a:latin typeface="Times New Roman"/>
                          <a:cs typeface="Times New Roman"/>
                        </a:rPr>
                        <a:t>DS</a:t>
                      </a:r>
                      <a:endParaRPr sz="1500">
                        <a:latin typeface="Times New Roman"/>
                        <a:cs typeface="Times New Roman"/>
                      </a:endParaRPr>
                    </a:p>
                  </a:txBody>
                  <a:tcPr marL="0" marR="0" marB="0" marT="3746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FF"/>
                    </a:solidFill>
                  </a:tcPr>
                </a:tc>
                <a:tc>
                  <a:txBody>
                    <a:bodyPr/>
                    <a:lstStyle/>
                    <a:p>
                      <a:pPr algn="ctr" marL="16510">
                        <a:lnSpc>
                          <a:spcPct val="100000"/>
                        </a:lnSpc>
                        <a:spcBef>
                          <a:spcPts val="295"/>
                        </a:spcBef>
                      </a:pPr>
                      <a:r>
                        <a:rPr dirty="0" sz="1500" spc="-25">
                          <a:latin typeface="Times New Roman"/>
                          <a:cs typeface="Times New Roman"/>
                        </a:rPr>
                        <a:t>TC</a:t>
                      </a:r>
                      <a:endParaRPr sz="1500">
                        <a:latin typeface="Times New Roman"/>
                        <a:cs typeface="Times New Roman"/>
                      </a:endParaRPr>
                    </a:p>
                  </a:txBody>
                  <a:tcPr marL="0" marR="0" marB="0" marT="37465">
                    <a:lnL w="1905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FFCCCC"/>
                    </a:solidFill>
                  </a:tcPr>
                </a:tc>
                <a:tc>
                  <a:txBody>
                    <a:bodyPr/>
                    <a:lstStyle/>
                    <a:p>
                      <a:pPr algn="ctr">
                        <a:lnSpc>
                          <a:spcPct val="100000"/>
                        </a:lnSpc>
                        <a:spcBef>
                          <a:spcPts val="295"/>
                        </a:spcBef>
                      </a:pPr>
                      <a:r>
                        <a:rPr dirty="0" sz="1500" spc="-25">
                          <a:latin typeface="Times New Roman"/>
                          <a:cs typeface="Times New Roman"/>
                        </a:rPr>
                        <a:t>WB</a:t>
                      </a:r>
                      <a:endParaRPr sz="1500">
                        <a:latin typeface="Times New Roman"/>
                        <a:cs typeface="Times New Roman"/>
                      </a:endParaRPr>
                    </a:p>
                  </a:txBody>
                  <a:tcPr marL="0" marR="0" marB="0" marT="37465">
                    <a:lnL w="38100">
                      <a:solidFill>
                        <a:srgbClr val="000000"/>
                      </a:solidFill>
                      <a:prstDash val="solid"/>
                    </a:lnL>
                    <a:lnR w="38100">
                      <a:solidFill>
                        <a:srgbClr val="000000"/>
                      </a:solidFill>
                      <a:prstDash val="solid"/>
                    </a:lnR>
                    <a:lnT w="38100">
                      <a:solidFill>
                        <a:srgbClr val="000000"/>
                      </a:solidFill>
                      <a:prstDash val="solid"/>
                    </a:lnT>
                    <a:lnB w="19050">
                      <a:solidFill>
                        <a:srgbClr val="000000"/>
                      </a:solidFill>
                      <a:prstDash val="solid"/>
                    </a:lnB>
                    <a:solidFill>
                      <a:srgbClr val="EAEAEA"/>
                    </a:solidFill>
                  </a:tcPr>
                </a:tc>
                <a:tc>
                  <a:txBody>
                    <a:bodyPr/>
                    <a:lstStyle/>
                    <a:p>
                      <a:pPr>
                        <a:lnSpc>
                          <a:spcPct val="100000"/>
                        </a:lnSpc>
                      </a:pPr>
                      <a:endParaRPr sz="1700">
                        <a:latin typeface="Times New Roman"/>
                        <a:cs typeface="Times New Roman"/>
                      </a:endParaRPr>
                    </a:p>
                  </a:txBody>
                  <a:tcPr marL="0" marR="0" marB="0" marT="0">
                    <a:lnL w="38100">
                      <a:solidFill>
                        <a:srgbClr val="000000"/>
                      </a:solidFill>
                      <a:prstDash val="solid"/>
                    </a:lnL>
                  </a:tcPr>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gridSpan="3" rowSpan="5">
                  <a:txBody>
                    <a:bodyPr/>
                    <a:lstStyle/>
                    <a:p>
                      <a:pPr>
                        <a:lnSpc>
                          <a:spcPct val="100000"/>
                        </a:lnSpc>
                      </a:pPr>
                      <a:endParaRPr sz="1700">
                        <a:latin typeface="Times New Roman"/>
                        <a:cs typeface="Times New Roman"/>
                      </a:endParaRPr>
                    </a:p>
                  </a:txBody>
                  <a:tcPr marL="0" marR="0" marB="0" marT="0"/>
                </a:tc>
                <a:tc rowSpan="5" hMerge="1">
                  <a:txBody>
                    <a:bodyPr/>
                    <a:lstStyle/>
                    <a:p>
                      <a:pPr/>
                    </a:p>
                  </a:txBody>
                  <a:tcPr marL="0" marR="0" marB="0" marT="0"/>
                </a:tc>
                <a:tc rowSpan="5" hMerge="1">
                  <a:txBody>
                    <a:bodyPr/>
                    <a:lstStyle/>
                    <a:p>
                      <a:pPr/>
                    </a:p>
                  </a:txBody>
                  <a:tcPr marL="0" marR="0" marB="0" marT="0"/>
                </a:tc>
              </a:tr>
              <a:tr h="88900">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R w="3810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L w="3810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EAEAEA"/>
                    </a:solidFill>
                  </a:tcPr>
                </a:tc>
                <a:tc>
                  <a:txBody>
                    <a:bodyPr/>
                    <a:lstStyle/>
                    <a:p>
                      <a:pPr>
                        <a:lnSpc>
                          <a:spcPct val="100000"/>
                        </a:lnSpc>
                      </a:pPr>
                      <a:endParaRPr sz="400">
                        <a:latin typeface="Times New Roman"/>
                        <a:cs typeface="Times New Roman"/>
                      </a:endParaRPr>
                    </a:p>
                  </a:txBody>
                  <a:tcPr marL="0" marR="0" marB="0" marT="0">
                    <a:lnL w="38100">
                      <a:solidFill>
                        <a:srgbClr val="000000"/>
                      </a:solidFill>
                      <a:prstDash val="solid"/>
                    </a:lnL>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gridSpan="3" vMerge="1">
                  <a:txBody>
                    <a:bodyPr/>
                    <a:lstStyle/>
                    <a:p>
                      <a:pPr/>
                    </a:p>
                  </a:txBody>
                  <a:tcPr marL="0" marR="0" marB="0" marT="0"/>
                </a:tc>
                <a:tc hMerge="1" vMerge="1">
                  <a:txBody>
                    <a:bodyPr/>
                    <a:lstStyle/>
                    <a:p>
                      <a:pPr/>
                    </a:p>
                  </a:txBody>
                  <a:tcPr marL="0" marR="0" marB="0" marT="0"/>
                </a:tc>
                <a:tc hMerge="1" vMerge="1">
                  <a:txBody>
                    <a:bodyPr/>
                    <a:lstStyle/>
                    <a:p>
                      <a:pPr/>
                    </a:p>
                  </a:txBody>
                  <a:tcPr marL="0" marR="0" marB="0" marT="0"/>
                </a:tc>
              </a:tr>
              <a:tr h="326390">
                <a:tc>
                  <a:txBody>
                    <a:bodyPr/>
                    <a:lstStyle/>
                    <a:p>
                      <a:pPr>
                        <a:lnSpc>
                          <a:spcPct val="100000"/>
                        </a:lnSpc>
                      </a:pPr>
                      <a:endParaRPr sz="1700">
                        <a:latin typeface="Times New Roman"/>
                        <a:cs typeface="Times New Roman"/>
                      </a:endParaRPr>
                    </a:p>
                  </a:txBody>
                  <a:tcPr marL="0" marR="0" marB="0" marT="0">
                    <a:lnR w="19050">
                      <a:solidFill>
                        <a:srgbClr val="000000"/>
                      </a:solidFill>
                      <a:prstDash val="solid"/>
                    </a:lnR>
                  </a:tcPr>
                </a:tc>
                <a:tc>
                  <a:txBody>
                    <a:bodyPr/>
                    <a:lstStyle/>
                    <a:p>
                      <a:pPr algn="ctr" marL="29845">
                        <a:lnSpc>
                          <a:spcPct val="100000"/>
                        </a:lnSpc>
                        <a:spcBef>
                          <a:spcPts val="290"/>
                        </a:spcBef>
                      </a:pPr>
                      <a:r>
                        <a:rPr dirty="0" sz="1500" spc="-25">
                          <a:latin typeface="Times New Roman"/>
                          <a:cs typeface="Times New Roman"/>
                        </a:rPr>
                        <a:t>IF</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99"/>
                    </a:solidFill>
                  </a:tcPr>
                </a:tc>
                <a:tc>
                  <a:txBody>
                    <a:bodyPr/>
                    <a:lstStyle/>
                    <a:p>
                      <a:pPr algn="ctr" marL="45720">
                        <a:lnSpc>
                          <a:spcPct val="100000"/>
                        </a:lnSpc>
                        <a:spcBef>
                          <a:spcPts val="290"/>
                        </a:spcBef>
                      </a:pPr>
                      <a:r>
                        <a:rPr dirty="0" sz="1500" spc="-25">
                          <a:latin typeface="Times New Roman"/>
                          <a:cs typeface="Times New Roman"/>
                        </a:rPr>
                        <a:t>IS</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r" marR="134620">
                        <a:lnSpc>
                          <a:spcPct val="100000"/>
                        </a:lnSpc>
                        <a:spcBef>
                          <a:spcPts val="290"/>
                        </a:spcBef>
                      </a:pPr>
                      <a:r>
                        <a:rPr dirty="0" sz="1500" spc="-25">
                          <a:latin typeface="Times New Roman"/>
                          <a:cs typeface="Times New Roman"/>
                        </a:rPr>
                        <a:t>RF</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gn="ctr" marR="3810">
                        <a:lnSpc>
                          <a:spcPct val="100000"/>
                        </a:lnSpc>
                        <a:spcBef>
                          <a:spcPts val="290"/>
                        </a:spcBef>
                      </a:pPr>
                      <a:r>
                        <a:rPr dirty="0" sz="1500" spc="-25">
                          <a:latin typeface="Times New Roman"/>
                          <a:cs typeface="Times New Roman"/>
                        </a:rPr>
                        <a:t>EX</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c>
                  <a:txBody>
                    <a:bodyPr/>
                    <a:lstStyle/>
                    <a:p>
                      <a:pPr algn="ctr">
                        <a:lnSpc>
                          <a:spcPct val="100000"/>
                        </a:lnSpc>
                        <a:spcBef>
                          <a:spcPts val="290"/>
                        </a:spcBef>
                      </a:pPr>
                      <a:r>
                        <a:rPr dirty="0" sz="1500" spc="-25">
                          <a:latin typeface="Times New Roman"/>
                          <a:cs typeface="Times New Roman"/>
                        </a:rPr>
                        <a:t>DF</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tc>
                  <a:txBody>
                    <a:bodyPr/>
                    <a:lstStyle/>
                    <a:p>
                      <a:pPr algn="ctr" marL="28575">
                        <a:lnSpc>
                          <a:spcPct val="100000"/>
                        </a:lnSpc>
                        <a:spcBef>
                          <a:spcPts val="290"/>
                        </a:spcBef>
                      </a:pPr>
                      <a:r>
                        <a:rPr dirty="0" sz="1500" spc="-25">
                          <a:latin typeface="Times New Roman"/>
                          <a:cs typeface="Times New Roman"/>
                        </a:rPr>
                        <a:t>DS</a:t>
                      </a:r>
                      <a:endParaRPr sz="1500">
                        <a:latin typeface="Times New Roman"/>
                        <a:cs typeface="Times New Roman"/>
                      </a:endParaRPr>
                    </a:p>
                  </a:txBody>
                  <a:tcPr marL="0" marR="0" marB="0" marT="36830">
                    <a:lnL w="1905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FFCCFF"/>
                    </a:solidFill>
                  </a:tcPr>
                </a:tc>
                <a:tc>
                  <a:txBody>
                    <a:bodyPr/>
                    <a:lstStyle/>
                    <a:p>
                      <a:pPr algn="ctr" marL="18415">
                        <a:lnSpc>
                          <a:spcPct val="100000"/>
                        </a:lnSpc>
                        <a:spcBef>
                          <a:spcPts val="290"/>
                        </a:spcBef>
                      </a:pPr>
                      <a:r>
                        <a:rPr dirty="0" sz="1500" spc="-25">
                          <a:latin typeface="Times New Roman"/>
                          <a:cs typeface="Times New Roman"/>
                        </a:rPr>
                        <a:t>TC</a:t>
                      </a:r>
                      <a:endParaRPr sz="1500">
                        <a:latin typeface="Times New Roman"/>
                        <a:cs typeface="Times New Roman"/>
                      </a:endParaRPr>
                    </a:p>
                  </a:txBody>
                  <a:tcPr marL="0" marR="0" marB="0" marT="36830">
                    <a:lnL w="3810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EAEAEA"/>
                    </a:solidFill>
                  </a:tcPr>
                </a:tc>
                <a:tc>
                  <a:txBody>
                    <a:bodyPr/>
                    <a:lstStyle/>
                    <a:p>
                      <a:pPr algn="ctr">
                        <a:lnSpc>
                          <a:spcPct val="100000"/>
                        </a:lnSpc>
                        <a:spcBef>
                          <a:spcPts val="290"/>
                        </a:spcBef>
                      </a:pPr>
                      <a:r>
                        <a:rPr dirty="0" sz="1500" spc="-25">
                          <a:latin typeface="Times New Roman"/>
                          <a:cs typeface="Times New Roman"/>
                        </a:rPr>
                        <a:t>WB</a:t>
                      </a:r>
                      <a:endParaRPr sz="1500">
                        <a:latin typeface="Times New Roman"/>
                        <a:cs typeface="Times New Roman"/>
                      </a:endParaRPr>
                    </a:p>
                  </a:txBody>
                  <a:tcPr marL="0" marR="0" marB="0" marT="36830">
                    <a:lnL w="3810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700">
                        <a:latin typeface="Times New Roman"/>
                        <a:cs typeface="Times New Roman"/>
                      </a:endParaRPr>
                    </a:p>
                  </a:txBody>
                  <a:tcPr marL="0" marR="0" marB="0" marT="0">
                    <a:lnL w="19050">
                      <a:solidFill>
                        <a:srgbClr val="000000"/>
                      </a:solidFill>
                      <a:prstDash val="solid"/>
                    </a:lnL>
                  </a:tcPr>
                </a:tc>
                <a:tc>
                  <a:txBody>
                    <a:bodyPr/>
                    <a:lstStyle/>
                    <a:p>
                      <a:pPr>
                        <a:lnSpc>
                          <a:spcPct val="100000"/>
                        </a:lnSpc>
                      </a:pPr>
                      <a:endParaRPr sz="1700">
                        <a:latin typeface="Times New Roman"/>
                        <a:cs typeface="Times New Roman"/>
                      </a:endParaRPr>
                    </a:p>
                  </a:txBody>
                  <a:tcPr marL="0" marR="0" marB="0" marT="0"/>
                </a:tc>
                <a:tc gridSpan="3" vMerge="1">
                  <a:txBody>
                    <a:bodyPr/>
                    <a:lstStyle/>
                    <a:p>
                      <a:pPr/>
                    </a:p>
                  </a:txBody>
                  <a:tcPr marL="0" marR="0" marB="0" marT="0"/>
                </a:tc>
                <a:tc hMerge="1" vMerge="1">
                  <a:txBody>
                    <a:bodyPr/>
                    <a:lstStyle/>
                    <a:p>
                      <a:pPr/>
                    </a:p>
                  </a:txBody>
                  <a:tcPr marL="0" marR="0" marB="0" marT="0"/>
                </a:tc>
                <a:tc hMerge="1" vMerge="1">
                  <a:txBody>
                    <a:bodyPr/>
                    <a:lstStyle/>
                    <a:p>
                      <a:pPr/>
                    </a:p>
                  </a:txBody>
                  <a:tcPr marL="0" marR="0" marB="0" marT="0"/>
                </a:tc>
              </a:tr>
              <a:tr h="94615">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R w="3810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L w="3810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EAEAEA"/>
                    </a:solidFill>
                  </a:tcPr>
                </a:tc>
                <a:tc>
                  <a:txBody>
                    <a:bodyPr/>
                    <a:lstStyle/>
                    <a:p>
                      <a:pPr>
                        <a:lnSpc>
                          <a:spcPct val="100000"/>
                        </a:lnSpc>
                      </a:pPr>
                      <a:endParaRPr sz="400">
                        <a:latin typeface="Times New Roman"/>
                        <a:cs typeface="Times New Roman"/>
                      </a:endParaRPr>
                    </a:p>
                  </a:txBody>
                  <a:tcPr marL="0" marR="0" marB="0" marT="0">
                    <a:lnL w="38100">
                      <a:solidFill>
                        <a:srgbClr val="000000"/>
                      </a:solidFill>
                      <a:prstDash val="solid"/>
                    </a:lnL>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tc>
                <a:tc gridSpan="3" vMerge="1">
                  <a:txBody>
                    <a:bodyPr/>
                    <a:lstStyle/>
                    <a:p>
                      <a:pPr/>
                    </a:p>
                  </a:txBody>
                  <a:tcPr marL="0" marR="0" marB="0" marT="0"/>
                </a:tc>
                <a:tc hMerge="1" vMerge="1">
                  <a:txBody>
                    <a:bodyPr/>
                    <a:lstStyle/>
                    <a:p>
                      <a:pPr/>
                    </a:p>
                  </a:txBody>
                  <a:tcPr marL="0" marR="0" marB="0" marT="0"/>
                </a:tc>
                <a:tc hMerge="1" vMerge="1">
                  <a:txBody>
                    <a:bodyPr/>
                    <a:lstStyle/>
                    <a:p>
                      <a:pPr/>
                    </a:p>
                  </a:txBody>
                  <a:tcPr marL="0" marR="0" marB="0" marT="0"/>
                </a:tc>
              </a:tr>
              <a:tr h="327660">
                <a:tc>
                  <a:txBody>
                    <a:bodyPr/>
                    <a:lstStyle/>
                    <a:p>
                      <a:pPr algn="ctr" marL="8890">
                        <a:lnSpc>
                          <a:spcPct val="100000"/>
                        </a:lnSpc>
                        <a:spcBef>
                          <a:spcPts val="585"/>
                        </a:spcBef>
                      </a:pPr>
                      <a:r>
                        <a:rPr dirty="0" sz="1500" spc="-50">
                          <a:solidFill>
                            <a:srgbClr val="0000FF"/>
                          </a:solidFill>
                          <a:latin typeface="宋体"/>
                          <a:cs typeface="宋体"/>
                        </a:rPr>
                        <a:t>线</a:t>
                      </a:r>
                      <a:endParaRPr sz="1500">
                        <a:latin typeface="宋体"/>
                        <a:cs typeface="宋体"/>
                      </a:endParaRPr>
                    </a:p>
                  </a:txBody>
                  <a:tcPr marL="0" marR="0" marB="0" marT="74295"/>
                </a:tc>
                <a:tc>
                  <a:txBody>
                    <a:bodyPr/>
                    <a:lstStyle/>
                    <a:p>
                      <a:pPr>
                        <a:lnSpc>
                          <a:spcPct val="100000"/>
                        </a:lnSpc>
                      </a:pPr>
                      <a:endParaRPr sz="1700">
                        <a:latin typeface="Times New Roman"/>
                        <a:cs typeface="Times New Roman"/>
                      </a:endParaRPr>
                    </a:p>
                  </a:txBody>
                  <a:tcPr marL="0" marR="0" marB="0" marT="0">
                    <a:lnR w="19050">
                      <a:solidFill>
                        <a:srgbClr val="000000"/>
                      </a:solidFill>
                      <a:prstDash val="solid"/>
                    </a:lnR>
                  </a:tcPr>
                </a:tc>
                <a:tc>
                  <a:txBody>
                    <a:bodyPr/>
                    <a:lstStyle/>
                    <a:p>
                      <a:pPr algn="ctr" marL="27940">
                        <a:lnSpc>
                          <a:spcPct val="100000"/>
                        </a:lnSpc>
                        <a:spcBef>
                          <a:spcPts val="290"/>
                        </a:spcBef>
                      </a:pPr>
                      <a:r>
                        <a:rPr dirty="0" sz="1500" spc="-25">
                          <a:latin typeface="Times New Roman"/>
                          <a:cs typeface="Times New Roman"/>
                        </a:rPr>
                        <a:t>IF</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99"/>
                    </a:solidFill>
                  </a:tcPr>
                </a:tc>
                <a:tc>
                  <a:txBody>
                    <a:bodyPr/>
                    <a:lstStyle/>
                    <a:p>
                      <a:pPr algn="r" marR="153035">
                        <a:lnSpc>
                          <a:spcPct val="100000"/>
                        </a:lnSpc>
                        <a:spcBef>
                          <a:spcPts val="290"/>
                        </a:spcBef>
                      </a:pPr>
                      <a:r>
                        <a:rPr dirty="0" sz="1500" spc="-25">
                          <a:latin typeface="Times New Roman"/>
                          <a:cs typeface="Times New Roman"/>
                        </a:rPr>
                        <a:t>IS</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L="19685">
                        <a:lnSpc>
                          <a:spcPct val="100000"/>
                        </a:lnSpc>
                        <a:spcBef>
                          <a:spcPts val="290"/>
                        </a:spcBef>
                      </a:pPr>
                      <a:r>
                        <a:rPr dirty="0" sz="1500" spc="-25">
                          <a:latin typeface="Times New Roman"/>
                          <a:cs typeface="Times New Roman"/>
                        </a:rPr>
                        <a:t>RF</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gn="ctr" marR="3175">
                        <a:lnSpc>
                          <a:spcPct val="100000"/>
                        </a:lnSpc>
                        <a:spcBef>
                          <a:spcPts val="290"/>
                        </a:spcBef>
                      </a:pPr>
                      <a:r>
                        <a:rPr dirty="0" sz="1500" spc="-25">
                          <a:latin typeface="Times New Roman"/>
                          <a:cs typeface="Times New Roman"/>
                        </a:rPr>
                        <a:t>EX</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c>
                  <a:txBody>
                    <a:bodyPr/>
                    <a:lstStyle/>
                    <a:p>
                      <a:pPr algn="ctr">
                        <a:lnSpc>
                          <a:spcPct val="100000"/>
                        </a:lnSpc>
                        <a:spcBef>
                          <a:spcPts val="290"/>
                        </a:spcBef>
                      </a:pPr>
                      <a:r>
                        <a:rPr dirty="0" sz="1500" spc="-25">
                          <a:latin typeface="Times New Roman"/>
                          <a:cs typeface="Times New Roman"/>
                        </a:rPr>
                        <a:t>DF</a:t>
                      </a:r>
                      <a:endParaRPr sz="1500">
                        <a:latin typeface="Times New Roman"/>
                        <a:cs typeface="Times New Roman"/>
                      </a:endParaRPr>
                    </a:p>
                  </a:txBody>
                  <a:tcPr marL="0" marR="0" marB="0" marT="36830">
                    <a:lnL w="1905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CCCCFF"/>
                    </a:solidFill>
                  </a:tcPr>
                </a:tc>
                <a:tc>
                  <a:txBody>
                    <a:bodyPr/>
                    <a:lstStyle/>
                    <a:p>
                      <a:pPr algn="ctr" marL="32384">
                        <a:lnSpc>
                          <a:spcPct val="100000"/>
                        </a:lnSpc>
                        <a:spcBef>
                          <a:spcPts val="290"/>
                        </a:spcBef>
                      </a:pPr>
                      <a:r>
                        <a:rPr dirty="0" sz="1500" spc="-25">
                          <a:latin typeface="Times New Roman"/>
                          <a:cs typeface="Times New Roman"/>
                        </a:rPr>
                        <a:t>DS</a:t>
                      </a:r>
                      <a:endParaRPr sz="1500">
                        <a:latin typeface="Times New Roman"/>
                        <a:cs typeface="Times New Roman"/>
                      </a:endParaRPr>
                    </a:p>
                  </a:txBody>
                  <a:tcPr marL="0" marR="0" marB="0" marT="36830">
                    <a:lnL w="3810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EAEAEA"/>
                    </a:solidFill>
                  </a:tcPr>
                </a:tc>
                <a:tc>
                  <a:txBody>
                    <a:bodyPr/>
                    <a:lstStyle/>
                    <a:p>
                      <a:pPr algn="ctr" marL="20955">
                        <a:lnSpc>
                          <a:spcPct val="100000"/>
                        </a:lnSpc>
                        <a:spcBef>
                          <a:spcPts val="290"/>
                        </a:spcBef>
                      </a:pPr>
                      <a:r>
                        <a:rPr dirty="0" sz="1500" spc="-25">
                          <a:latin typeface="Times New Roman"/>
                          <a:cs typeface="Times New Roman"/>
                        </a:rPr>
                        <a:t>TC</a:t>
                      </a:r>
                      <a:endParaRPr sz="1500">
                        <a:latin typeface="Times New Roman"/>
                        <a:cs typeface="Times New Roman"/>
                      </a:endParaRPr>
                    </a:p>
                  </a:txBody>
                  <a:tcPr marL="0" marR="0" marB="0" marT="36830">
                    <a:lnL w="3810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CC"/>
                    </a:solidFill>
                  </a:tcPr>
                </a:tc>
                <a:tc>
                  <a:txBody>
                    <a:bodyPr/>
                    <a:lstStyle/>
                    <a:p>
                      <a:pPr algn="ctr">
                        <a:lnSpc>
                          <a:spcPct val="100000"/>
                        </a:lnSpc>
                        <a:spcBef>
                          <a:spcPts val="290"/>
                        </a:spcBef>
                      </a:pPr>
                      <a:r>
                        <a:rPr dirty="0" sz="1500" spc="-25">
                          <a:latin typeface="Times New Roman"/>
                          <a:cs typeface="Times New Roman"/>
                        </a:rPr>
                        <a:t>WB</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700">
                        <a:latin typeface="Times New Roman"/>
                        <a:cs typeface="Times New Roman"/>
                      </a:endParaRPr>
                    </a:p>
                  </a:txBody>
                  <a:tcPr marL="0" marR="0" marB="0" marT="0">
                    <a:lnL w="19050">
                      <a:solidFill>
                        <a:srgbClr val="000000"/>
                      </a:solidFill>
                      <a:prstDash val="solid"/>
                    </a:lnL>
                  </a:tcPr>
                </a:tc>
                <a:tc gridSpan="3" vMerge="1">
                  <a:txBody>
                    <a:bodyPr/>
                    <a:lstStyle/>
                    <a:p>
                      <a:pPr/>
                    </a:p>
                  </a:txBody>
                  <a:tcPr marL="0" marR="0" marB="0" marT="0"/>
                </a:tc>
                <a:tc hMerge="1" vMerge="1">
                  <a:txBody>
                    <a:bodyPr/>
                    <a:lstStyle/>
                    <a:p>
                      <a:pPr/>
                    </a:p>
                  </a:txBody>
                  <a:tcPr marL="0" marR="0" marB="0" marT="0"/>
                </a:tc>
                <a:tc hMerge="1" vMerge="1">
                  <a:txBody>
                    <a:bodyPr/>
                    <a:lstStyle/>
                    <a:p>
                      <a:pPr/>
                    </a:p>
                  </a:txBody>
                  <a:tcPr marL="0" marR="0" marB="0" marT="0"/>
                </a:tc>
              </a:tr>
              <a:tr h="81915">
                <a:tc>
                  <a:txBody>
                    <a:bodyPr/>
                    <a:lstStyle/>
                    <a:p>
                      <a:pPr>
                        <a:lnSpc>
                          <a:spcPct val="100000"/>
                        </a:lnSpc>
                      </a:pPr>
                      <a:endParaRPr sz="300">
                        <a:latin typeface="Times New Roman"/>
                        <a:cs typeface="Times New Roman"/>
                      </a:endParaRPr>
                    </a:p>
                  </a:txBody>
                  <a:tcPr marL="0" marR="0" marB="0" marT="0"/>
                </a:tc>
                <a:tc>
                  <a:txBody>
                    <a:bodyPr/>
                    <a:lstStyle/>
                    <a:p>
                      <a:pPr>
                        <a:lnSpc>
                          <a:spcPct val="100000"/>
                        </a:lnSpc>
                      </a:pPr>
                      <a:endParaRPr sz="300">
                        <a:latin typeface="Times New Roman"/>
                        <a:cs typeface="Times New Roman"/>
                      </a:endParaRPr>
                    </a:p>
                  </a:txBody>
                  <a:tcPr marL="0" marR="0" marB="0" marT="0"/>
                </a:tc>
                <a:tc>
                  <a:txBody>
                    <a:bodyPr/>
                    <a:lstStyle/>
                    <a:p>
                      <a:pPr>
                        <a:lnSpc>
                          <a:spcPct val="100000"/>
                        </a:lnSpc>
                      </a:pPr>
                      <a:endParaRPr sz="300">
                        <a:latin typeface="Times New Roman"/>
                        <a:cs typeface="Times New Roman"/>
                      </a:endParaRPr>
                    </a:p>
                  </a:txBody>
                  <a:tcPr marL="0" marR="0" marB="0" marT="0">
                    <a:lnT w="19050">
                      <a:solidFill>
                        <a:srgbClr val="000000"/>
                      </a:solidFill>
                      <a:prstDash val="solid"/>
                    </a:lnT>
                  </a:tcPr>
                </a:tc>
                <a:tc>
                  <a:txBody>
                    <a:bodyPr/>
                    <a:lstStyle/>
                    <a:p>
                      <a:pPr>
                        <a:lnSpc>
                          <a:spcPct val="100000"/>
                        </a:lnSpc>
                      </a:pPr>
                      <a:endParaRPr sz="3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3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3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300">
                        <a:latin typeface="Times New Roman"/>
                        <a:cs typeface="Times New Roman"/>
                      </a:endParaRPr>
                    </a:p>
                  </a:txBody>
                  <a:tcPr marL="0" marR="0" marB="0" marT="0">
                    <a:lnR w="3810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300">
                        <a:latin typeface="Times New Roman"/>
                        <a:cs typeface="Times New Roman"/>
                      </a:endParaRPr>
                    </a:p>
                  </a:txBody>
                  <a:tcPr marL="0" marR="0" marB="0" marT="0">
                    <a:lnL w="3810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EAEAEA"/>
                    </a:solidFill>
                  </a:tcPr>
                </a:tc>
                <a:tc>
                  <a:txBody>
                    <a:bodyPr/>
                    <a:lstStyle/>
                    <a:p>
                      <a:pPr>
                        <a:lnSpc>
                          <a:spcPct val="100000"/>
                        </a:lnSpc>
                      </a:pPr>
                      <a:endParaRPr sz="300">
                        <a:latin typeface="Times New Roman"/>
                        <a:cs typeface="Times New Roman"/>
                      </a:endParaRPr>
                    </a:p>
                  </a:txBody>
                  <a:tcPr marL="0" marR="0" marB="0" marT="0">
                    <a:lnL w="38100">
                      <a:solidFill>
                        <a:srgbClr val="000000"/>
                      </a:solidFill>
                      <a:prstDash val="solid"/>
                    </a:lnL>
                    <a:lnT w="19050">
                      <a:solidFill>
                        <a:srgbClr val="000000"/>
                      </a:solidFill>
                      <a:prstDash val="solid"/>
                    </a:lnT>
                    <a:lnB w="19050">
                      <a:solidFill>
                        <a:srgbClr val="000000"/>
                      </a:solidFill>
                      <a:prstDash val="solid"/>
                    </a:lnB>
                  </a:tcPr>
                </a:tc>
                <a:tc>
                  <a:txBody>
                    <a:bodyPr/>
                    <a:lstStyle/>
                    <a:p>
                      <a:pPr>
                        <a:lnSpc>
                          <a:spcPct val="100000"/>
                        </a:lnSpc>
                      </a:pPr>
                      <a:endParaRPr sz="3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300">
                        <a:latin typeface="Times New Roman"/>
                        <a:cs typeface="Times New Roman"/>
                      </a:endParaRPr>
                    </a:p>
                  </a:txBody>
                  <a:tcPr marL="0" marR="0" marB="0" marT="0">
                    <a:lnB w="19050">
                      <a:solidFill>
                        <a:srgbClr val="000000"/>
                      </a:solidFill>
                      <a:prstDash val="solid"/>
                    </a:lnB>
                  </a:tcPr>
                </a:tc>
                <a:tc>
                  <a:txBody>
                    <a:bodyPr/>
                    <a:lstStyle/>
                    <a:p>
                      <a:pPr>
                        <a:lnSpc>
                          <a:spcPct val="100000"/>
                        </a:lnSpc>
                      </a:pPr>
                      <a:endParaRPr sz="300">
                        <a:latin typeface="Times New Roman"/>
                        <a:cs typeface="Times New Roman"/>
                      </a:endParaRPr>
                    </a:p>
                  </a:txBody>
                  <a:tcPr marL="0" marR="0" marB="0" marT="0"/>
                </a:tc>
                <a:tc>
                  <a:txBody>
                    <a:bodyPr/>
                    <a:lstStyle/>
                    <a:p>
                      <a:pPr>
                        <a:lnSpc>
                          <a:spcPct val="100000"/>
                        </a:lnSpc>
                      </a:pPr>
                      <a:endParaRPr sz="300">
                        <a:latin typeface="Times New Roman"/>
                        <a:cs typeface="Times New Roman"/>
                      </a:endParaRPr>
                    </a:p>
                  </a:txBody>
                  <a:tcPr marL="0" marR="0" marB="0" marT="0"/>
                </a:tc>
                <a:tc>
                  <a:txBody>
                    <a:bodyPr/>
                    <a:lstStyle/>
                    <a:p>
                      <a:pPr>
                        <a:lnSpc>
                          <a:spcPct val="100000"/>
                        </a:lnSpc>
                      </a:pPr>
                      <a:endParaRPr sz="300">
                        <a:latin typeface="Times New Roman"/>
                        <a:cs typeface="Times New Roman"/>
                      </a:endParaRPr>
                    </a:p>
                  </a:txBody>
                  <a:tcPr marL="0" marR="0" marB="0" marT="0"/>
                </a:tc>
              </a:tr>
              <a:tr h="326390">
                <a:tc>
                  <a:txBody>
                    <a:bodyPr/>
                    <a:lstStyle/>
                    <a:p>
                      <a:pPr algn="ctr" marR="13970">
                        <a:lnSpc>
                          <a:spcPts val="1055"/>
                        </a:lnSpc>
                      </a:pPr>
                      <a:r>
                        <a:rPr dirty="0" sz="1500" spc="-25">
                          <a:solidFill>
                            <a:srgbClr val="0000FF"/>
                          </a:solidFill>
                          <a:latin typeface="宋体"/>
                          <a:cs typeface="宋体"/>
                        </a:rPr>
                        <a:t>周期</a:t>
                      </a:r>
                      <a:endParaRPr sz="1500">
                        <a:latin typeface="宋体"/>
                        <a:cs typeface="宋体"/>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lnR w="19050">
                      <a:solidFill>
                        <a:srgbClr val="000000"/>
                      </a:solidFill>
                      <a:prstDash val="solid"/>
                    </a:lnR>
                  </a:tcPr>
                </a:tc>
                <a:tc>
                  <a:txBody>
                    <a:bodyPr/>
                    <a:lstStyle/>
                    <a:p>
                      <a:pPr algn="r" marR="159385">
                        <a:lnSpc>
                          <a:spcPct val="100000"/>
                        </a:lnSpc>
                        <a:spcBef>
                          <a:spcPts val="290"/>
                        </a:spcBef>
                      </a:pPr>
                      <a:r>
                        <a:rPr dirty="0" sz="1500" spc="-25">
                          <a:latin typeface="Times New Roman"/>
                          <a:cs typeface="Times New Roman"/>
                        </a:rPr>
                        <a:t>IF</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99"/>
                    </a:solidFill>
                  </a:tcPr>
                </a:tc>
                <a:tc>
                  <a:txBody>
                    <a:bodyPr/>
                    <a:lstStyle/>
                    <a:p>
                      <a:pPr algn="ctr" marL="51435">
                        <a:lnSpc>
                          <a:spcPct val="100000"/>
                        </a:lnSpc>
                        <a:spcBef>
                          <a:spcPts val="290"/>
                        </a:spcBef>
                      </a:pPr>
                      <a:r>
                        <a:rPr dirty="0" sz="1500" spc="-25">
                          <a:latin typeface="Times New Roman"/>
                          <a:cs typeface="Times New Roman"/>
                        </a:rPr>
                        <a:t>IS</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L="24765">
                        <a:lnSpc>
                          <a:spcPct val="100000"/>
                        </a:lnSpc>
                        <a:spcBef>
                          <a:spcPts val="290"/>
                        </a:spcBef>
                      </a:pPr>
                      <a:r>
                        <a:rPr dirty="0" sz="1500" spc="-25">
                          <a:latin typeface="Times New Roman"/>
                          <a:cs typeface="Times New Roman"/>
                        </a:rPr>
                        <a:t>RF</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gn="ctr" marR="2540">
                        <a:lnSpc>
                          <a:spcPct val="100000"/>
                        </a:lnSpc>
                        <a:spcBef>
                          <a:spcPts val="290"/>
                        </a:spcBef>
                      </a:pPr>
                      <a:r>
                        <a:rPr dirty="0" sz="1500" spc="-25">
                          <a:latin typeface="Times New Roman"/>
                          <a:cs typeface="Times New Roman"/>
                        </a:rPr>
                        <a:t>EX</a:t>
                      </a:r>
                      <a:endParaRPr sz="1500">
                        <a:latin typeface="Times New Roman"/>
                        <a:cs typeface="Times New Roman"/>
                      </a:endParaRPr>
                    </a:p>
                  </a:txBody>
                  <a:tcPr marL="0" marR="0" marB="0" marT="36830">
                    <a:lnL w="1905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CCFFFF"/>
                    </a:solidFill>
                  </a:tcPr>
                </a:tc>
                <a:tc>
                  <a:txBody>
                    <a:bodyPr/>
                    <a:lstStyle/>
                    <a:p>
                      <a:pPr algn="ctr" marL="3810">
                        <a:lnSpc>
                          <a:spcPct val="100000"/>
                        </a:lnSpc>
                        <a:spcBef>
                          <a:spcPts val="290"/>
                        </a:spcBef>
                      </a:pPr>
                      <a:r>
                        <a:rPr dirty="0" sz="1500" spc="-25">
                          <a:latin typeface="Times New Roman"/>
                          <a:cs typeface="Times New Roman"/>
                        </a:rPr>
                        <a:t>DF</a:t>
                      </a:r>
                      <a:endParaRPr sz="1500">
                        <a:latin typeface="Times New Roman"/>
                        <a:cs typeface="Times New Roman"/>
                      </a:endParaRPr>
                    </a:p>
                  </a:txBody>
                  <a:tcPr marL="0" marR="0" marB="0" marT="36830">
                    <a:lnL w="3810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EAEAEA"/>
                    </a:solidFill>
                  </a:tcPr>
                </a:tc>
                <a:tc>
                  <a:txBody>
                    <a:bodyPr/>
                    <a:lstStyle/>
                    <a:p>
                      <a:pPr algn="ctr" marL="40640">
                        <a:lnSpc>
                          <a:spcPct val="100000"/>
                        </a:lnSpc>
                        <a:spcBef>
                          <a:spcPts val="290"/>
                        </a:spcBef>
                      </a:pPr>
                      <a:r>
                        <a:rPr dirty="0" sz="1500" spc="-25">
                          <a:latin typeface="Times New Roman"/>
                          <a:cs typeface="Times New Roman"/>
                        </a:rPr>
                        <a:t>DS</a:t>
                      </a:r>
                      <a:endParaRPr sz="1500">
                        <a:latin typeface="Times New Roman"/>
                        <a:cs typeface="Times New Roman"/>
                      </a:endParaRPr>
                    </a:p>
                  </a:txBody>
                  <a:tcPr marL="0" marR="0" marB="0" marT="36830">
                    <a:lnL w="3810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FF"/>
                    </a:solidFill>
                  </a:tcPr>
                </a:tc>
                <a:tc>
                  <a:txBody>
                    <a:bodyPr/>
                    <a:lstStyle/>
                    <a:p>
                      <a:pPr algn="ctr" marL="21590">
                        <a:lnSpc>
                          <a:spcPct val="100000"/>
                        </a:lnSpc>
                        <a:spcBef>
                          <a:spcPts val="290"/>
                        </a:spcBef>
                      </a:pPr>
                      <a:r>
                        <a:rPr dirty="0" sz="1500" spc="-25">
                          <a:latin typeface="Times New Roman"/>
                          <a:cs typeface="Times New Roman"/>
                        </a:rPr>
                        <a:t>TC</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CC"/>
                    </a:solidFill>
                  </a:tcPr>
                </a:tc>
                <a:tc>
                  <a:txBody>
                    <a:bodyPr/>
                    <a:lstStyle/>
                    <a:p>
                      <a:pPr algn="ctr">
                        <a:lnSpc>
                          <a:spcPct val="100000"/>
                        </a:lnSpc>
                        <a:spcBef>
                          <a:spcPts val="290"/>
                        </a:spcBef>
                      </a:pPr>
                      <a:r>
                        <a:rPr dirty="0" sz="1500" spc="-25">
                          <a:latin typeface="Times New Roman"/>
                          <a:cs typeface="Times New Roman"/>
                        </a:rPr>
                        <a:t>WB</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700">
                        <a:latin typeface="Times New Roman"/>
                        <a:cs typeface="Times New Roman"/>
                      </a:endParaRPr>
                    </a:p>
                  </a:txBody>
                  <a:tcPr marL="0" marR="0" marB="0" marT="0">
                    <a:lnL w="19050">
                      <a:solidFill>
                        <a:srgbClr val="000000"/>
                      </a:solidFill>
                      <a:prstDash val="solid"/>
                    </a:lnL>
                  </a:tcPr>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r>
              <a:tr h="88265">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R w="3810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L w="3810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EAEAEA"/>
                    </a:solidFill>
                  </a:tcPr>
                </a:tc>
                <a:tc>
                  <a:txBody>
                    <a:bodyPr/>
                    <a:lstStyle/>
                    <a:p>
                      <a:pPr>
                        <a:lnSpc>
                          <a:spcPct val="100000"/>
                        </a:lnSpc>
                      </a:pPr>
                      <a:endParaRPr sz="400">
                        <a:latin typeface="Times New Roman"/>
                        <a:cs typeface="Times New Roman"/>
                      </a:endParaRPr>
                    </a:p>
                  </a:txBody>
                  <a:tcPr marL="0" marR="0" marB="0" marT="0">
                    <a:lnL w="38100">
                      <a:solidFill>
                        <a:srgbClr val="000000"/>
                      </a:solidFill>
                      <a:prstDash val="solid"/>
                    </a:lnL>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r>
              <a:tr h="326390">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lnR w="19050">
                      <a:solidFill>
                        <a:srgbClr val="000000"/>
                      </a:solidFill>
                      <a:prstDash val="solid"/>
                    </a:lnR>
                  </a:tcPr>
                </a:tc>
                <a:tc>
                  <a:txBody>
                    <a:bodyPr/>
                    <a:lstStyle/>
                    <a:p>
                      <a:pPr algn="ctr" marL="30480">
                        <a:lnSpc>
                          <a:spcPct val="100000"/>
                        </a:lnSpc>
                        <a:spcBef>
                          <a:spcPts val="290"/>
                        </a:spcBef>
                      </a:pPr>
                      <a:r>
                        <a:rPr dirty="0" sz="1500" spc="-25">
                          <a:latin typeface="Times New Roman"/>
                          <a:cs typeface="Times New Roman"/>
                        </a:rPr>
                        <a:t>IF</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99"/>
                    </a:solidFill>
                  </a:tcPr>
                </a:tc>
                <a:tc>
                  <a:txBody>
                    <a:bodyPr/>
                    <a:lstStyle/>
                    <a:p>
                      <a:pPr algn="ctr" marL="45720">
                        <a:lnSpc>
                          <a:spcPct val="100000"/>
                        </a:lnSpc>
                        <a:spcBef>
                          <a:spcPts val="290"/>
                        </a:spcBef>
                      </a:pPr>
                      <a:r>
                        <a:rPr dirty="0" sz="1500" spc="-25">
                          <a:latin typeface="Times New Roman"/>
                          <a:cs typeface="Times New Roman"/>
                        </a:rPr>
                        <a:t>IS</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L="18415">
                        <a:lnSpc>
                          <a:spcPct val="100000"/>
                        </a:lnSpc>
                        <a:spcBef>
                          <a:spcPts val="290"/>
                        </a:spcBef>
                      </a:pPr>
                      <a:r>
                        <a:rPr dirty="0" sz="1500" spc="-25">
                          <a:latin typeface="Times New Roman"/>
                          <a:cs typeface="Times New Roman"/>
                        </a:rPr>
                        <a:t>RF</a:t>
                      </a:r>
                      <a:endParaRPr sz="1500">
                        <a:latin typeface="Times New Roman"/>
                        <a:cs typeface="Times New Roman"/>
                      </a:endParaRPr>
                    </a:p>
                  </a:txBody>
                  <a:tcPr marL="0" marR="0" marB="0" marT="36830">
                    <a:lnL w="1905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gn="ctr" marR="4445">
                        <a:lnSpc>
                          <a:spcPct val="100000"/>
                        </a:lnSpc>
                        <a:spcBef>
                          <a:spcPts val="290"/>
                        </a:spcBef>
                      </a:pPr>
                      <a:r>
                        <a:rPr dirty="0" sz="1500" spc="-25">
                          <a:latin typeface="Times New Roman"/>
                          <a:cs typeface="Times New Roman"/>
                        </a:rPr>
                        <a:t>EX</a:t>
                      </a:r>
                      <a:endParaRPr sz="1500">
                        <a:latin typeface="Times New Roman"/>
                        <a:cs typeface="Times New Roman"/>
                      </a:endParaRPr>
                    </a:p>
                  </a:txBody>
                  <a:tcPr marL="0" marR="0" marB="0" marT="36830">
                    <a:lnL w="3810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EAEAEA"/>
                    </a:solidFill>
                  </a:tcPr>
                </a:tc>
                <a:tc>
                  <a:txBody>
                    <a:bodyPr/>
                    <a:lstStyle/>
                    <a:p>
                      <a:pPr algn="ctr" marL="1270">
                        <a:lnSpc>
                          <a:spcPct val="100000"/>
                        </a:lnSpc>
                        <a:spcBef>
                          <a:spcPts val="290"/>
                        </a:spcBef>
                      </a:pPr>
                      <a:r>
                        <a:rPr dirty="0" sz="1500" spc="-25">
                          <a:latin typeface="Times New Roman"/>
                          <a:cs typeface="Times New Roman"/>
                        </a:rPr>
                        <a:t>DF</a:t>
                      </a:r>
                      <a:endParaRPr sz="1500">
                        <a:latin typeface="Times New Roman"/>
                        <a:cs typeface="Times New Roman"/>
                      </a:endParaRPr>
                    </a:p>
                  </a:txBody>
                  <a:tcPr marL="0" marR="0" marB="0" marT="36830">
                    <a:lnL w="3810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tc>
                  <a:txBody>
                    <a:bodyPr/>
                    <a:lstStyle/>
                    <a:p>
                      <a:pPr algn="ctr" marL="33020">
                        <a:lnSpc>
                          <a:spcPct val="100000"/>
                        </a:lnSpc>
                        <a:spcBef>
                          <a:spcPts val="290"/>
                        </a:spcBef>
                      </a:pPr>
                      <a:r>
                        <a:rPr dirty="0" sz="1500" spc="-25">
                          <a:latin typeface="Times New Roman"/>
                          <a:cs typeface="Times New Roman"/>
                        </a:rPr>
                        <a:t>DS</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FF"/>
                    </a:solidFill>
                  </a:tcPr>
                </a:tc>
                <a:tc>
                  <a:txBody>
                    <a:bodyPr/>
                    <a:lstStyle/>
                    <a:p>
                      <a:pPr algn="ctr" marL="17145">
                        <a:lnSpc>
                          <a:spcPct val="100000"/>
                        </a:lnSpc>
                        <a:spcBef>
                          <a:spcPts val="290"/>
                        </a:spcBef>
                      </a:pPr>
                      <a:r>
                        <a:rPr dirty="0" sz="1500" spc="-25">
                          <a:latin typeface="Times New Roman"/>
                          <a:cs typeface="Times New Roman"/>
                        </a:rPr>
                        <a:t>TC</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CC"/>
                    </a:solidFill>
                  </a:tcPr>
                </a:tc>
                <a:tc>
                  <a:txBody>
                    <a:bodyPr/>
                    <a:lstStyle/>
                    <a:p>
                      <a:pPr algn="ctr">
                        <a:lnSpc>
                          <a:spcPct val="100000"/>
                        </a:lnSpc>
                        <a:spcBef>
                          <a:spcPts val="290"/>
                        </a:spcBef>
                      </a:pPr>
                      <a:r>
                        <a:rPr dirty="0" sz="1500" spc="-25">
                          <a:latin typeface="Times New Roman"/>
                          <a:cs typeface="Times New Roman"/>
                        </a:rPr>
                        <a:t>WB</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700">
                        <a:latin typeface="Times New Roman"/>
                        <a:cs typeface="Times New Roman"/>
                      </a:endParaRPr>
                    </a:p>
                  </a:txBody>
                  <a:tcPr marL="0" marR="0" marB="0" marT="0">
                    <a:lnL w="19050">
                      <a:solidFill>
                        <a:srgbClr val="000000"/>
                      </a:solidFill>
                      <a:prstDash val="solid"/>
                    </a:lnL>
                  </a:tcPr>
                </a:tc>
                <a:tc>
                  <a:txBody>
                    <a:bodyPr/>
                    <a:lstStyle/>
                    <a:p>
                      <a:pPr>
                        <a:lnSpc>
                          <a:spcPct val="100000"/>
                        </a:lnSpc>
                      </a:pPr>
                      <a:endParaRPr sz="1700">
                        <a:latin typeface="Times New Roman"/>
                        <a:cs typeface="Times New Roman"/>
                      </a:endParaRPr>
                    </a:p>
                  </a:txBody>
                  <a:tcPr marL="0" marR="0" marB="0" marT="0"/>
                </a:tc>
              </a:tr>
              <a:tr h="94615">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R w="3810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L w="3810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EAEAEA"/>
                    </a:solidFill>
                  </a:tcPr>
                </a:tc>
                <a:tc>
                  <a:txBody>
                    <a:bodyPr/>
                    <a:lstStyle/>
                    <a:p>
                      <a:pPr>
                        <a:lnSpc>
                          <a:spcPct val="100000"/>
                        </a:lnSpc>
                      </a:pPr>
                      <a:endParaRPr sz="400">
                        <a:latin typeface="Times New Roman"/>
                        <a:cs typeface="Times New Roman"/>
                      </a:endParaRPr>
                    </a:p>
                  </a:txBody>
                  <a:tcPr marL="0" marR="0" marB="0" marT="0">
                    <a:lnL w="38100">
                      <a:solidFill>
                        <a:srgbClr val="000000"/>
                      </a:solidFill>
                      <a:prstDash val="solid"/>
                    </a:lnL>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lnB w="19050">
                      <a:solidFill>
                        <a:srgbClr val="000000"/>
                      </a:solidFill>
                      <a:prstDash val="solid"/>
                    </a:lnB>
                  </a:tcPr>
                </a:tc>
                <a:tc>
                  <a:txBody>
                    <a:bodyPr/>
                    <a:lstStyle/>
                    <a:p>
                      <a:pPr>
                        <a:lnSpc>
                          <a:spcPct val="100000"/>
                        </a:lnSpc>
                      </a:pPr>
                      <a:endParaRPr sz="400">
                        <a:latin typeface="Times New Roman"/>
                        <a:cs typeface="Times New Roman"/>
                      </a:endParaRPr>
                    </a:p>
                  </a:txBody>
                  <a:tcPr marL="0" marR="0" marB="0" marT="0"/>
                </a:tc>
              </a:tr>
              <a:tr h="327660">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lnR w="19050">
                      <a:solidFill>
                        <a:srgbClr val="000000"/>
                      </a:solidFill>
                      <a:prstDash val="solid"/>
                    </a:lnR>
                  </a:tcPr>
                </a:tc>
                <a:tc>
                  <a:txBody>
                    <a:bodyPr/>
                    <a:lstStyle/>
                    <a:p>
                      <a:pPr algn="ctr" marL="30480">
                        <a:lnSpc>
                          <a:spcPct val="100000"/>
                        </a:lnSpc>
                        <a:spcBef>
                          <a:spcPts val="290"/>
                        </a:spcBef>
                      </a:pPr>
                      <a:r>
                        <a:rPr dirty="0" sz="1500" spc="-25">
                          <a:latin typeface="Times New Roman"/>
                          <a:cs typeface="Times New Roman"/>
                        </a:rPr>
                        <a:t>IF</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99"/>
                    </a:solidFill>
                  </a:tcPr>
                </a:tc>
                <a:tc>
                  <a:txBody>
                    <a:bodyPr/>
                    <a:lstStyle/>
                    <a:p>
                      <a:pPr algn="ctr" marL="43815">
                        <a:lnSpc>
                          <a:spcPct val="100000"/>
                        </a:lnSpc>
                        <a:spcBef>
                          <a:spcPts val="290"/>
                        </a:spcBef>
                      </a:pPr>
                      <a:r>
                        <a:rPr dirty="0" sz="1500" spc="-25">
                          <a:latin typeface="Times New Roman"/>
                          <a:cs typeface="Times New Roman"/>
                        </a:rPr>
                        <a:t>IS</a:t>
                      </a:r>
                      <a:endParaRPr sz="1500">
                        <a:latin typeface="Times New Roman"/>
                        <a:cs typeface="Times New Roman"/>
                      </a:endParaRPr>
                    </a:p>
                  </a:txBody>
                  <a:tcPr marL="0" marR="0" marB="0" marT="36830">
                    <a:lnL w="1905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L="21590">
                        <a:lnSpc>
                          <a:spcPct val="100000"/>
                        </a:lnSpc>
                        <a:spcBef>
                          <a:spcPts val="290"/>
                        </a:spcBef>
                      </a:pPr>
                      <a:r>
                        <a:rPr dirty="0" sz="1500" spc="-25">
                          <a:latin typeface="Times New Roman"/>
                          <a:cs typeface="Times New Roman"/>
                        </a:rPr>
                        <a:t>RF</a:t>
                      </a:r>
                      <a:endParaRPr sz="1500">
                        <a:latin typeface="Times New Roman"/>
                        <a:cs typeface="Times New Roman"/>
                      </a:endParaRPr>
                    </a:p>
                  </a:txBody>
                  <a:tcPr marL="0" marR="0" marB="0" marT="36830">
                    <a:lnL w="38100">
                      <a:solidFill>
                        <a:srgbClr val="000000"/>
                      </a:solidFill>
                      <a:prstDash val="solid"/>
                    </a:lnL>
                    <a:lnR w="38100">
                      <a:solidFill>
                        <a:srgbClr val="000000"/>
                      </a:solidFill>
                      <a:prstDash val="solid"/>
                    </a:lnR>
                    <a:lnT w="19050">
                      <a:solidFill>
                        <a:srgbClr val="000000"/>
                      </a:solidFill>
                      <a:prstDash val="solid"/>
                    </a:lnT>
                    <a:lnB w="19050">
                      <a:solidFill>
                        <a:srgbClr val="000000"/>
                      </a:solidFill>
                      <a:prstDash val="solid"/>
                    </a:lnB>
                    <a:solidFill>
                      <a:srgbClr val="EAEAEA"/>
                    </a:solidFill>
                  </a:tcPr>
                </a:tc>
                <a:tc>
                  <a:txBody>
                    <a:bodyPr/>
                    <a:lstStyle/>
                    <a:p>
                      <a:pPr algn="ctr" marR="635">
                        <a:lnSpc>
                          <a:spcPct val="100000"/>
                        </a:lnSpc>
                        <a:spcBef>
                          <a:spcPts val="290"/>
                        </a:spcBef>
                      </a:pPr>
                      <a:r>
                        <a:rPr dirty="0" sz="1500" spc="-25">
                          <a:latin typeface="Times New Roman"/>
                          <a:cs typeface="Times New Roman"/>
                        </a:rPr>
                        <a:t>EX</a:t>
                      </a:r>
                      <a:endParaRPr sz="1500">
                        <a:latin typeface="Times New Roman"/>
                        <a:cs typeface="Times New Roman"/>
                      </a:endParaRPr>
                    </a:p>
                  </a:txBody>
                  <a:tcPr marL="0" marR="0" marB="0" marT="36830">
                    <a:lnL w="3810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c>
                  <a:txBody>
                    <a:bodyPr/>
                    <a:lstStyle/>
                    <a:p>
                      <a:pPr algn="ctr">
                        <a:lnSpc>
                          <a:spcPct val="100000"/>
                        </a:lnSpc>
                        <a:spcBef>
                          <a:spcPts val="290"/>
                        </a:spcBef>
                      </a:pPr>
                      <a:r>
                        <a:rPr dirty="0" sz="1500" spc="-25">
                          <a:latin typeface="Times New Roman"/>
                          <a:cs typeface="Times New Roman"/>
                        </a:rPr>
                        <a:t>DF</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tc>
                  <a:txBody>
                    <a:bodyPr/>
                    <a:lstStyle/>
                    <a:p>
                      <a:pPr algn="ctr" marL="33020">
                        <a:lnSpc>
                          <a:spcPct val="100000"/>
                        </a:lnSpc>
                        <a:spcBef>
                          <a:spcPts val="290"/>
                        </a:spcBef>
                      </a:pPr>
                      <a:r>
                        <a:rPr dirty="0" sz="1500" spc="-25">
                          <a:latin typeface="Times New Roman"/>
                          <a:cs typeface="Times New Roman"/>
                        </a:rPr>
                        <a:t>DS</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FF"/>
                    </a:solidFill>
                  </a:tcPr>
                </a:tc>
                <a:tc>
                  <a:txBody>
                    <a:bodyPr/>
                    <a:lstStyle/>
                    <a:p>
                      <a:pPr algn="ctr" marL="17780">
                        <a:lnSpc>
                          <a:spcPct val="100000"/>
                        </a:lnSpc>
                        <a:spcBef>
                          <a:spcPts val="290"/>
                        </a:spcBef>
                      </a:pPr>
                      <a:r>
                        <a:rPr dirty="0" sz="1500" spc="-25">
                          <a:latin typeface="Times New Roman"/>
                          <a:cs typeface="Times New Roman"/>
                        </a:rPr>
                        <a:t>TC</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CC"/>
                    </a:solidFill>
                  </a:tcPr>
                </a:tc>
                <a:tc>
                  <a:txBody>
                    <a:bodyPr/>
                    <a:lstStyle/>
                    <a:p>
                      <a:pPr algn="ctr">
                        <a:lnSpc>
                          <a:spcPct val="100000"/>
                        </a:lnSpc>
                        <a:spcBef>
                          <a:spcPts val="290"/>
                        </a:spcBef>
                      </a:pPr>
                      <a:r>
                        <a:rPr dirty="0" sz="1500" spc="-25">
                          <a:latin typeface="Times New Roman"/>
                          <a:cs typeface="Times New Roman"/>
                        </a:rPr>
                        <a:t>WB</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c>
                  <a:txBody>
                    <a:bodyPr/>
                    <a:lstStyle/>
                    <a:p>
                      <a:pPr>
                        <a:lnSpc>
                          <a:spcPct val="100000"/>
                        </a:lnSpc>
                      </a:pPr>
                      <a:endParaRPr sz="1700">
                        <a:latin typeface="Times New Roman"/>
                        <a:cs typeface="Times New Roman"/>
                      </a:endParaRPr>
                    </a:p>
                  </a:txBody>
                  <a:tcPr marL="0" marR="0" marB="0" marT="0">
                    <a:lnL w="19050">
                      <a:solidFill>
                        <a:srgbClr val="000000"/>
                      </a:solidFill>
                      <a:prstDash val="solid"/>
                    </a:lnL>
                  </a:tcPr>
                </a:tc>
              </a:tr>
              <a:tr h="88265">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tcPr>
                </a:tc>
                <a:tc>
                  <a:txBody>
                    <a:bodyPr/>
                    <a:lstStyle/>
                    <a:p>
                      <a:pPr>
                        <a:lnSpc>
                          <a:spcPct val="100000"/>
                        </a:lnSpc>
                      </a:pPr>
                      <a:endParaRPr sz="400">
                        <a:latin typeface="Times New Roman"/>
                        <a:cs typeface="Times New Roman"/>
                      </a:endParaRPr>
                    </a:p>
                  </a:txBody>
                  <a:tcPr marL="0" marR="0" marB="0" marT="0">
                    <a:lnR w="38100">
                      <a:solidFill>
                        <a:srgbClr val="000000"/>
                      </a:solidFill>
                      <a:prstDash val="solid"/>
                    </a:lnR>
                    <a:lnT w="19050">
                      <a:solidFill>
                        <a:srgbClr val="000000"/>
                      </a:solidFill>
                      <a:prstDash val="solid"/>
                    </a:lnT>
                  </a:tcPr>
                </a:tc>
                <a:tc>
                  <a:txBody>
                    <a:bodyPr/>
                    <a:lstStyle/>
                    <a:p>
                      <a:pPr>
                        <a:lnSpc>
                          <a:spcPct val="100000"/>
                        </a:lnSpc>
                      </a:pPr>
                      <a:endParaRPr sz="400">
                        <a:latin typeface="Times New Roman"/>
                        <a:cs typeface="Times New Roman"/>
                      </a:endParaRPr>
                    </a:p>
                  </a:txBody>
                  <a:tcPr marL="0" marR="0" marB="0" marT="0">
                    <a:lnL w="38100">
                      <a:solidFill>
                        <a:srgbClr val="000000"/>
                      </a:solidFill>
                      <a:prstDash val="solid"/>
                    </a:lnL>
                    <a:lnR w="38100">
                      <a:solidFill>
                        <a:srgbClr val="000000"/>
                      </a:solidFill>
                      <a:prstDash val="solid"/>
                    </a:lnR>
                    <a:lnT w="19050">
                      <a:solidFill>
                        <a:srgbClr val="000000"/>
                      </a:solidFill>
                      <a:prstDash val="solid"/>
                    </a:lnT>
                    <a:solidFill>
                      <a:srgbClr val="EAEAEA"/>
                    </a:solidFill>
                  </a:tcPr>
                </a:tc>
                <a:tc>
                  <a:txBody>
                    <a:bodyPr/>
                    <a:lstStyle/>
                    <a:p>
                      <a:pPr>
                        <a:lnSpc>
                          <a:spcPct val="100000"/>
                        </a:lnSpc>
                      </a:pPr>
                      <a:endParaRPr sz="400">
                        <a:latin typeface="Times New Roman"/>
                        <a:cs typeface="Times New Roman"/>
                      </a:endParaRPr>
                    </a:p>
                  </a:txBody>
                  <a:tcPr marL="0" marR="0" marB="0" marT="0">
                    <a:lnL w="38100">
                      <a:solidFill>
                        <a:srgbClr val="000000"/>
                      </a:solidFill>
                      <a:prstDash val="solid"/>
                    </a:lnL>
                    <a:lnT w="19050">
                      <a:solidFill>
                        <a:srgbClr val="000000"/>
                      </a:solidFill>
                      <a:prstDash val="solid"/>
                    </a:lnT>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tcPr>
                </a:tc>
                <a:tc>
                  <a:txBody>
                    <a:bodyPr/>
                    <a:lstStyle/>
                    <a:p>
                      <a:pPr>
                        <a:lnSpc>
                          <a:spcPct val="100000"/>
                        </a:lnSpc>
                      </a:pPr>
                      <a:endParaRPr sz="400">
                        <a:latin typeface="Times New Roman"/>
                        <a:cs typeface="Times New Roman"/>
                      </a:endParaRPr>
                    </a:p>
                  </a:txBody>
                  <a:tcPr marL="0" marR="0" marB="0" marT="0">
                    <a:lnT w="19050">
                      <a:solidFill>
                        <a:srgbClr val="000000"/>
                      </a:solidFill>
                      <a:prstDash val="solid"/>
                    </a:lnT>
                  </a:tcPr>
                </a:tc>
                <a:tc>
                  <a:txBody>
                    <a:bodyPr/>
                    <a:lstStyle/>
                    <a:p>
                      <a:pPr>
                        <a:lnSpc>
                          <a:spcPct val="100000"/>
                        </a:lnSpc>
                      </a:pPr>
                      <a:endParaRPr sz="400">
                        <a:latin typeface="Times New Roman"/>
                        <a:cs typeface="Times New Roman"/>
                      </a:endParaRPr>
                    </a:p>
                  </a:txBody>
                  <a:tcPr marL="0" marR="0" marB="0" marT="0"/>
                </a:tc>
              </a:tr>
              <a:tr h="327025">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gn="ctr" marL="29209">
                        <a:lnSpc>
                          <a:spcPct val="100000"/>
                        </a:lnSpc>
                        <a:spcBef>
                          <a:spcPts val="290"/>
                        </a:spcBef>
                      </a:pPr>
                      <a:r>
                        <a:rPr dirty="0" sz="1500" spc="-25">
                          <a:latin typeface="Times New Roman"/>
                          <a:cs typeface="Times New Roman"/>
                        </a:rPr>
                        <a:t>IF</a:t>
                      </a:r>
                      <a:endParaRPr sz="1500">
                        <a:latin typeface="Times New Roman"/>
                        <a:cs typeface="Times New Roman"/>
                      </a:endParaRPr>
                    </a:p>
                  </a:txBody>
                  <a:tcPr marL="0" marR="0" marB="0" marT="36830">
                    <a:lnR w="38100">
                      <a:solidFill>
                        <a:srgbClr val="000000"/>
                      </a:solidFill>
                      <a:prstDash val="solid"/>
                    </a:lnR>
                  </a:tcPr>
                </a:tc>
                <a:tc>
                  <a:txBody>
                    <a:bodyPr/>
                    <a:lstStyle/>
                    <a:p>
                      <a:pPr algn="ctr" marL="48260">
                        <a:lnSpc>
                          <a:spcPct val="100000"/>
                        </a:lnSpc>
                        <a:spcBef>
                          <a:spcPts val="290"/>
                        </a:spcBef>
                      </a:pPr>
                      <a:r>
                        <a:rPr dirty="0" sz="1500" spc="-25">
                          <a:latin typeface="Times New Roman"/>
                          <a:cs typeface="Times New Roman"/>
                        </a:rPr>
                        <a:t>IS</a:t>
                      </a:r>
                      <a:endParaRPr sz="1500">
                        <a:latin typeface="Times New Roman"/>
                        <a:cs typeface="Times New Roman"/>
                      </a:endParaRPr>
                    </a:p>
                  </a:txBody>
                  <a:tcPr marL="0" marR="0" marB="0" marT="36830">
                    <a:lnL w="38100">
                      <a:solidFill>
                        <a:srgbClr val="000000"/>
                      </a:solidFill>
                      <a:prstDash val="solid"/>
                    </a:lnL>
                    <a:lnR w="38100">
                      <a:solidFill>
                        <a:srgbClr val="000000"/>
                      </a:solidFill>
                      <a:prstDash val="solid"/>
                    </a:lnR>
                  </a:tcPr>
                </a:tc>
                <a:tc>
                  <a:txBody>
                    <a:bodyPr/>
                    <a:lstStyle/>
                    <a:p>
                      <a:pPr algn="ctr" marL="24765">
                        <a:lnSpc>
                          <a:spcPct val="100000"/>
                        </a:lnSpc>
                        <a:spcBef>
                          <a:spcPts val="290"/>
                        </a:spcBef>
                      </a:pPr>
                      <a:r>
                        <a:rPr dirty="0" sz="1500" spc="-25">
                          <a:latin typeface="Times New Roman"/>
                          <a:cs typeface="Times New Roman"/>
                        </a:rPr>
                        <a:t>RF</a:t>
                      </a:r>
                      <a:endParaRPr sz="1500">
                        <a:latin typeface="Times New Roman"/>
                        <a:cs typeface="Times New Roman"/>
                      </a:endParaRPr>
                    </a:p>
                  </a:txBody>
                  <a:tcPr marL="0" marR="0" marB="0" marT="36830">
                    <a:lnL w="38100">
                      <a:solidFill>
                        <a:srgbClr val="000000"/>
                      </a:solidFill>
                      <a:prstDash val="solid"/>
                    </a:lnL>
                    <a:lnR w="19050">
                      <a:solidFill>
                        <a:srgbClr val="000000"/>
                      </a:solidFill>
                      <a:prstDash val="solid"/>
                    </a:lnR>
                  </a:tcPr>
                </a:tc>
                <a:tc>
                  <a:txBody>
                    <a:bodyPr/>
                    <a:lstStyle/>
                    <a:p>
                      <a:pPr algn="ctr" marR="635">
                        <a:lnSpc>
                          <a:spcPct val="100000"/>
                        </a:lnSpc>
                        <a:spcBef>
                          <a:spcPts val="290"/>
                        </a:spcBef>
                      </a:pPr>
                      <a:r>
                        <a:rPr dirty="0" sz="1500" spc="-25">
                          <a:latin typeface="Times New Roman"/>
                          <a:cs typeface="Times New Roman"/>
                        </a:rPr>
                        <a:t>EX</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tcPr>
                </a:tc>
                <a:tc>
                  <a:txBody>
                    <a:bodyPr/>
                    <a:lstStyle/>
                    <a:p>
                      <a:pPr algn="ctr" marL="635">
                        <a:lnSpc>
                          <a:spcPct val="100000"/>
                        </a:lnSpc>
                        <a:spcBef>
                          <a:spcPts val="290"/>
                        </a:spcBef>
                      </a:pPr>
                      <a:r>
                        <a:rPr dirty="0" sz="1500" spc="-25">
                          <a:latin typeface="Times New Roman"/>
                          <a:cs typeface="Times New Roman"/>
                        </a:rPr>
                        <a:t>DF</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tcPr>
                </a:tc>
                <a:tc>
                  <a:txBody>
                    <a:bodyPr/>
                    <a:lstStyle/>
                    <a:p>
                      <a:pPr algn="ctr" marL="33655">
                        <a:lnSpc>
                          <a:spcPct val="100000"/>
                        </a:lnSpc>
                        <a:spcBef>
                          <a:spcPts val="290"/>
                        </a:spcBef>
                      </a:pPr>
                      <a:r>
                        <a:rPr dirty="0" sz="1500" spc="-25">
                          <a:latin typeface="Times New Roman"/>
                          <a:cs typeface="Times New Roman"/>
                        </a:rPr>
                        <a:t>DS</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tcPr>
                </a:tc>
                <a:tc>
                  <a:txBody>
                    <a:bodyPr/>
                    <a:lstStyle/>
                    <a:p>
                      <a:pPr algn="ctr" marL="20955">
                        <a:lnSpc>
                          <a:spcPct val="100000"/>
                        </a:lnSpc>
                        <a:spcBef>
                          <a:spcPts val="290"/>
                        </a:spcBef>
                      </a:pPr>
                      <a:r>
                        <a:rPr dirty="0" sz="1500" spc="-25">
                          <a:latin typeface="Times New Roman"/>
                          <a:cs typeface="Times New Roman"/>
                        </a:rPr>
                        <a:t>TC</a:t>
                      </a:r>
                      <a:endParaRPr sz="1500">
                        <a:latin typeface="Times New Roman"/>
                        <a:cs typeface="Times New Roman"/>
                      </a:endParaRPr>
                    </a:p>
                  </a:txBody>
                  <a:tcPr marL="0" marR="0" marB="0" marT="36830">
                    <a:lnL w="19050">
                      <a:solidFill>
                        <a:srgbClr val="000000"/>
                      </a:solidFill>
                      <a:prstDash val="solid"/>
                    </a:lnL>
                  </a:tcPr>
                </a:tc>
                <a:tc>
                  <a:txBody>
                    <a:bodyPr/>
                    <a:lstStyle/>
                    <a:p>
                      <a:pPr marL="113030">
                        <a:lnSpc>
                          <a:spcPct val="100000"/>
                        </a:lnSpc>
                        <a:spcBef>
                          <a:spcPts val="290"/>
                        </a:spcBef>
                      </a:pPr>
                      <a:r>
                        <a:rPr dirty="0" sz="1500" spc="-25">
                          <a:latin typeface="Times New Roman"/>
                          <a:cs typeface="Times New Roman"/>
                        </a:rPr>
                        <a:t>WB</a:t>
                      </a:r>
                      <a:endParaRPr sz="1500">
                        <a:latin typeface="Times New Roman"/>
                        <a:cs typeface="Times New Roman"/>
                      </a:endParaRPr>
                    </a:p>
                  </a:txBody>
                  <a:tcPr marL="0" marR="0" marB="0" marT="36830"/>
                </a:tc>
              </a:tr>
              <a:tr h="94615">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lnR w="38100">
                      <a:solidFill>
                        <a:srgbClr val="000000"/>
                      </a:solidFill>
                      <a:prstDash val="solid"/>
                    </a:lnR>
                  </a:tcPr>
                </a:tc>
                <a:tc>
                  <a:txBody>
                    <a:bodyPr/>
                    <a:lstStyle/>
                    <a:p>
                      <a:pPr>
                        <a:lnSpc>
                          <a:spcPct val="100000"/>
                        </a:lnSpc>
                      </a:pPr>
                      <a:endParaRPr sz="400">
                        <a:latin typeface="Times New Roman"/>
                        <a:cs typeface="Times New Roman"/>
                      </a:endParaRPr>
                    </a:p>
                  </a:txBody>
                  <a:tcPr marL="0" marR="0" marB="0" marT="0">
                    <a:lnL w="38100">
                      <a:solidFill>
                        <a:srgbClr val="000000"/>
                      </a:solidFill>
                      <a:prstDash val="solid"/>
                    </a:lnL>
                    <a:lnR w="38100">
                      <a:solidFill>
                        <a:srgbClr val="000000"/>
                      </a:solidFill>
                      <a:prstDash val="solid"/>
                    </a:lnR>
                    <a:solidFill>
                      <a:srgbClr val="EAEAEA"/>
                    </a:solidFill>
                  </a:tcPr>
                </a:tc>
                <a:tc>
                  <a:txBody>
                    <a:bodyPr/>
                    <a:lstStyle/>
                    <a:p>
                      <a:pPr>
                        <a:lnSpc>
                          <a:spcPct val="100000"/>
                        </a:lnSpc>
                      </a:pPr>
                      <a:endParaRPr sz="400">
                        <a:latin typeface="Times New Roman"/>
                        <a:cs typeface="Times New Roman"/>
                      </a:endParaRPr>
                    </a:p>
                  </a:txBody>
                  <a:tcPr marL="0" marR="0" marB="0" marT="0">
                    <a:lnL w="38100">
                      <a:solidFill>
                        <a:srgbClr val="000000"/>
                      </a:solidFill>
                      <a:prstDash val="solid"/>
                    </a:lnL>
                  </a:tcPr>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c>
                  <a:txBody>
                    <a:bodyPr/>
                    <a:lstStyle/>
                    <a:p>
                      <a:pPr>
                        <a:lnSpc>
                          <a:spcPct val="100000"/>
                        </a:lnSpc>
                      </a:pPr>
                      <a:endParaRPr sz="400">
                        <a:latin typeface="Times New Roman"/>
                        <a:cs typeface="Times New Roman"/>
                      </a:endParaRPr>
                    </a:p>
                  </a:txBody>
                  <a:tcPr marL="0" marR="0" marB="0" marT="0"/>
                </a:tc>
              </a:tr>
              <a:tr h="326390">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tc>
                <a:tc>
                  <a:txBody>
                    <a:bodyPr/>
                    <a:lstStyle/>
                    <a:p>
                      <a:pPr>
                        <a:lnSpc>
                          <a:spcPct val="100000"/>
                        </a:lnSpc>
                      </a:pPr>
                      <a:endParaRPr sz="1700">
                        <a:latin typeface="Times New Roman"/>
                        <a:cs typeface="Times New Roman"/>
                      </a:endParaRPr>
                    </a:p>
                  </a:txBody>
                  <a:tcPr marL="0" marR="0" marB="0" marT="0">
                    <a:lnR w="38100">
                      <a:solidFill>
                        <a:srgbClr val="000000"/>
                      </a:solidFill>
                      <a:prstDash val="solid"/>
                    </a:lnR>
                  </a:tcPr>
                </a:tc>
                <a:tc>
                  <a:txBody>
                    <a:bodyPr/>
                    <a:lstStyle/>
                    <a:p>
                      <a:pPr algn="ctr" marL="29845">
                        <a:lnSpc>
                          <a:spcPct val="100000"/>
                        </a:lnSpc>
                        <a:spcBef>
                          <a:spcPts val="290"/>
                        </a:spcBef>
                      </a:pPr>
                      <a:r>
                        <a:rPr dirty="0" sz="1500" spc="-25">
                          <a:latin typeface="Times New Roman"/>
                          <a:cs typeface="Times New Roman"/>
                        </a:rPr>
                        <a:t>IF</a:t>
                      </a:r>
                      <a:endParaRPr sz="1500">
                        <a:latin typeface="Times New Roman"/>
                        <a:cs typeface="Times New Roman"/>
                      </a:endParaRPr>
                    </a:p>
                  </a:txBody>
                  <a:tcPr marL="0" marR="0" marB="0" marT="36830">
                    <a:lnL w="38100">
                      <a:solidFill>
                        <a:srgbClr val="000000"/>
                      </a:solidFill>
                      <a:prstDash val="solid"/>
                    </a:lnL>
                    <a:lnR w="38100">
                      <a:solidFill>
                        <a:srgbClr val="000000"/>
                      </a:solidFill>
                      <a:prstDash val="solid"/>
                    </a:lnR>
                    <a:solidFill>
                      <a:srgbClr val="EAEAEA"/>
                    </a:solidFill>
                  </a:tcPr>
                </a:tc>
                <a:tc>
                  <a:txBody>
                    <a:bodyPr/>
                    <a:lstStyle/>
                    <a:p>
                      <a:pPr algn="ctr" marL="51435">
                        <a:lnSpc>
                          <a:spcPct val="100000"/>
                        </a:lnSpc>
                        <a:spcBef>
                          <a:spcPts val="290"/>
                        </a:spcBef>
                      </a:pPr>
                      <a:r>
                        <a:rPr dirty="0" sz="1500" spc="-25">
                          <a:latin typeface="Times New Roman"/>
                          <a:cs typeface="Times New Roman"/>
                        </a:rPr>
                        <a:t>IS</a:t>
                      </a:r>
                      <a:endParaRPr sz="1500">
                        <a:latin typeface="Times New Roman"/>
                        <a:cs typeface="Times New Roman"/>
                      </a:endParaRPr>
                    </a:p>
                  </a:txBody>
                  <a:tcPr marL="0" marR="0" marB="0" marT="36830">
                    <a:lnL w="38100">
                      <a:solidFill>
                        <a:srgbClr val="000000"/>
                      </a:solidFill>
                      <a:prstDash val="solid"/>
                    </a:lnL>
                    <a:lnR w="19050">
                      <a:solidFill>
                        <a:srgbClr val="000000"/>
                      </a:solidFill>
                      <a:prstDash val="solid"/>
                    </a:lnR>
                    <a:solidFill>
                      <a:srgbClr val="FFFF99"/>
                    </a:solidFill>
                  </a:tcPr>
                </a:tc>
                <a:tc>
                  <a:txBody>
                    <a:bodyPr/>
                    <a:lstStyle/>
                    <a:p>
                      <a:pPr algn="ctr" marL="22225">
                        <a:lnSpc>
                          <a:spcPct val="100000"/>
                        </a:lnSpc>
                        <a:spcBef>
                          <a:spcPts val="290"/>
                        </a:spcBef>
                      </a:pPr>
                      <a:r>
                        <a:rPr dirty="0" sz="1500" spc="-25">
                          <a:latin typeface="Times New Roman"/>
                          <a:cs typeface="Times New Roman"/>
                        </a:rPr>
                        <a:t>RF</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solidFill>
                      <a:srgbClr val="CCFFCC"/>
                    </a:solidFill>
                  </a:tcPr>
                </a:tc>
                <a:tc>
                  <a:txBody>
                    <a:bodyPr/>
                    <a:lstStyle/>
                    <a:p>
                      <a:pPr algn="ctr" marR="635">
                        <a:lnSpc>
                          <a:spcPct val="100000"/>
                        </a:lnSpc>
                        <a:spcBef>
                          <a:spcPts val="290"/>
                        </a:spcBef>
                      </a:pPr>
                      <a:r>
                        <a:rPr dirty="0" sz="1500" spc="-25">
                          <a:latin typeface="Times New Roman"/>
                          <a:cs typeface="Times New Roman"/>
                        </a:rPr>
                        <a:t>EX</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solidFill>
                      <a:srgbClr val="CCFFFF"/>
                    </a:solidFill>
                  </a:tcPr>
                </a:tc>
                <a:tc>
                  <a:txBody>
                    <a:bodyPr/>
                    <a:lstStyle/>
                    <a:p>
                      <a:pPr algn="ctr" marL="1270">
                        <a:lnSpc>
                          <a:spcPct val="100000"/>
                        </a:lnSpc>
                        <a:spcBef>
                          <a:spcPts val="290"/>
                        </a:spcBef>
                      </a:pPr>
                      <a:r>
                        <a:rPr dirty="0" sz="1500" spc="-25">
                          <a:latin typeface="Times New Roman"/>
                          <a:cs typeface="Times New Roman"/>
                        </a:rPr>
                        <a:t>DF</a:t>
                      </a:r>
                      <a:endParaRPr sz="1500">
                        <a:latin typeface="Times New Roman"/>
                        <a:cs typeface="Times New Roman"/>
                      </a:endParaRPr>
                    </a:p>
                  </a:txBody>
                  <a:tcPr marL="0" marR="0" marB="0" marT="36830">
                    <a:lnL w="19050">
                      <a:solidFill>
                        <a:srgbClr val="000000"/>
                      </a:solidFill>
                      <a:prstDash val="solid"/>
                    </a:lnL>
                    <a:lnR w="19050">
                      <a:solidFill>
                        <a:srgbClr val="000000"/>
                      </a:solidFill>
                      <a:prstDash val="solid"/>
                    </a:lnR>
                    <a:solidFill>
                      <a:srgbClr val="CCCCFF"/>
                    </a:solidFill>
                  </a:tcPr>
                </a:tc>
                <a:tc>
                  <a:txBody>
                    <a:bodyPr/>
                    <a:lstStyle/>
                    <a:p>
                      <a:pPr algn="ctr" marL="34925">
                        <a:lnSpc>
                          <a:spcPct val="100000"/>
                        </a:lnSpc>
                        <a:spcBef>
                          <a:spcPts val="290"/>
                        </a:spcBef>
                      </a:pPr>
                      <a:r>
                        <a:rPr dirty="0" sz="1500" spc="-25">
                          <a:latin typeface="Times New Roman"/>
                          <a:cs typeface="Times New Roman"/>
                        </a:rPr>
                        <a:t>DS</a:t>
                      </a:r>
                      <a:endParaRPr sz="1500">
                        <a:latin typeface="Times New Roman"/>
                        <a:cs typeface="Times New Roman"/>
                      </a:endParaRPr>
                    </a:p>
                  </a:txBody>
                  <a:tcPr marL="0" marR="0" marB="0" marT="36830">
                    <a:lnL w="19050">
                      <a:solidFill>
                        <a:srgbClr val="000000"/>
                      </a:solidFill>
                      <a:prstDash val="solid"/>
                    </a:lnL>
                    <a:solidFill>
                      <a:srgbClr val="FFCCFF"/>
                    </a:solidFill>
                  </a:tcPr>
                </a:tc>
                <a:tc>
                  <a:txBody>
                    <a:bodyPr/>
                    <a:lstStyle/>
                    <a:p>
                      <a:pPr marL="156845">
                        <a:lnSpc>
                          <a:spcPct val="100000"/>
                        </a:lnSpc>
                        <a:spcBef>
                          <a:spcPts val="290"/>
                        </a:spcBef>
                        <a:tabLst>
                          <a:tab pos="653415" algn="l"/>
                        </a:tabLst>
                      </a:pPr>
                      <a:r>
                        <a:rPr dirty="0" sz="1500" spc="-25">
                          <a:latin typeface="Times New Roman"/>
                          <a:cs typeface="Times New Roman"/>
                        </a:rPr>
                        <a:t>TC</a:t>
                      </a:r>
                      <a:r>
                        <a:rPr dirty="0" sz="1500">
                          <a:latin typeface="Times New Roman"/>
                          <a:cs typeface="Times New Roman"/>
                        </a:rPr>
                        <a:t>	</a:t>
                      </a:r>
                      <a:r>
                        <a:rPr dirty="0" sz="1500" spc="-25">
                          <a:latin typeface="Times New Roman"/>
                          <a:cs typeface="Times New Roman"/>
                        </a:rPr>
                        <a:t>WB</a:t>
                      </a:r>
                      <a:endParaRPr sz="1500">
                        <a:latin typeface="Times New Roman"/>
                        <a:cs typeface="Times New Roman"/>
                      </a:endParaRPr>
                    </a:p>
                  </a:txBody>
                  <a:tcPr marL="0" marR="0" marB="0" marT="36830"/>
                </a:tc>
              </a:tr>
            </a:tbl>
          </a:graphicData>
        </a:graphic>
      </p:graphicFrame>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2843529" y="629158"/>
            <a:ext cx="3836035" cy="391160"/>
          </a:xfrm>
          <a:prstGeom prst="rect">
            <a:avLst/>
          </a:prstGeom>
        </p:spPr>
        <p:txBody>
          <a:bodyPr wrap="square" lIns="0" tIns="12700" rIns="0" bIns="0" rtlCol="0" vert="horz">
            <a:spAutoFit/>
          </a:bodyPr>
          <a:lstStyle/>
          <a:p>
            <a:pPr marL="469900" indent="-457200">
              <a:lnSpc>
                <a:spcPct val="100000"/>
              </a:lnSpc>
              <a:spcBef>
                <a:spcPts val="100"/>
              </a:spcBef>
              <a:buClr>
                <a:srgbClr val="40458B"/>
              </a:buClr>
              <a:buSzPct val="89583"/>
              <a:buFont typeface="Wingdings"/>
              <a:buChar char=""/>
              <a:tabLst>
                <a:tab pos="469900" algn="l"/>
              </a:tabLst>
            </a:pPr>
            <a:r>
              <a:rPr dirty="0" sz="2400" spc="-5">
                <a:solidFill>
                  <a:srgbClr val="40458B"/>
                </a:solidFill>
                <a:latin typeface="黑体"/>
                <a:cs typeface="黑体"/>
              </a:rPr>
              <a:t>载入延迟为两个时钟周期</a:t>
            </a:r>
            <a:endParaRPr sz="2400">
              <a:latin typeface="黑体"/>
              <a:cs typeface="黑体"/>
            </a:endParaRPr>
          </a:p>
        </p:txBody>
      </p:sp>
      <p:grpSp>
        <p:nvGrpSpPr>
          <p:cNvPr id="3" name="object 3" descr=""/>
          <p:cNvGrpSpPr/>
          <p:nvPr/>
        </p:nvGrpSpPr>
        <p:grpSpPr>
          <a:xfrm>
            <a:off x="2731552" y="1795820"/>
            <a:ext cx="7556500" cy="4249420"/>
            <a:chOff x="2731552" y="1795820"/>
            <a:chExt cx="7556500" cy="4249420"/>
          </a:xfrm>
        </p:grpSpPr>
        <p:sp>
          <p:nvSpPr>
            <p:cNvPr id="4" name="object 4" descr=""/>
            <p:cNvSpPr/>
            <p:nvPr/>
          </p:nvSpPr>
          <p:spPr>
            <a:xfrm>
              <a:off x="3427501" y="2984804"/>
              <a:ext cx="6860540" cy="3033395"/>
            </a:xfrm>
            <a:custGeom>
              <a:avLst/>
              <a:gdLst/>
              <a:ahLst/>
              <a:cxnLst/>
              <a:rect l="l" t="t" r="r" b="b"/>
              <a:pathLst>
                <a:path w="6860540" h="3033395">
                  <a:moveTo>
                    <a:pt x="5403405" y="0"/>
                  </a:moveTo>
                  <a:lnTo>
                    <a:pt x="0" y="0"/>
                  </a:lnTo>
                  <a:lnTo>
                    <a:pt x="0" y="896175"/>
                  </a:lnTo>
                  <a:lnTo>
                    <a:pt x="5403405" y="896175"/>
                  </a:lnTo>
                  <a:lnTo>
                    <a:pt x="5403405" y="0"/>
                  </a:lnTo>
                  <a:close/>
                </a:path>
                <a:path w="6860540" h="3033395">
                  <a:moveTo>
                    <a:pt x="6134062" y="1075626"/>
                  </a:moveTo>
                  <a:lnTo>
                    <a:pt x="730084" y="1075626"/>
                  </a:lnTo>
                  <a:lnTo>
                    <a:pt x="730084" y="1973694"/>
                  </a:lnTo>
                  <a:lnTo>
                    <a:pt x="6134062" y="1973694"/>
                  </a:lnTo>
                  <a:lnTo>
                    <a:pt x="6134062" y="1075626"/>
                  </a:lnTo>
                  <a:close/>
                </a:path>
                <a:path w="6860540" h="3033395">
                  <a:moveTo>
                    <a:pt x="6859930" y="2137181"/>
                  </a:moveTo>
                  <a:lnTo>
                    <a:pt x="1455953" y="2137181"/>
                  </a:lnTo>
                  <a:lnTo>
                    <a:pt x="1455953" y="3033369"/>
                  </a:lnTo>
                  <a:lnTo>
                    <a:pt x="6859930" y="3033369"/>
                  </a:lnTo>
                  <a:lnTo>
                    <a:pt x="6859930" y="2137181"/>
                  </a:lnTo>
                  <a:close/>
                </a:path>
              </a:pathLst>
            </a:custGeom>
            <a:solidFill>
              <a:srgbClr val="EAEAEA"/>
            </a:solidFill>
          </p:spPr>
          <p:txBody>
            <a:bodyPr wrap="square" lIns="0" tIns="0" rIns="0" bIns="0" rtlCol="0"/>
            <a:lstStyle/>
            <a:p/>
          </p:txBody>
        </p:sp>
        <p:sp>
          <p:nvSpPr>
            <p:cNvPr id="5" name="object 5" descr=""/>
            <p:cNvSpPr/>
            <p:nvPr/>
          </p:nvSpPr>
          <p:spPr>
            <a:xfrm>
              <a:off x="9805953" y="5321754"/>
              <a:ext cx="445134" cy="476250"/>
            </a:xfrm>
            <a:custGeom>
              <a:avLst/>
              <a:gdLst/>
              <a:ahLst/>
              <a:cxnLst/>
              <a:rect l="l" t="t" r="r" b="b"/>
              <a:pathLst>
                <a:path w="445134" h="476250">
                  <a:moveTo>
                    <a:pt x="444522" y="0"/>
                  </a:moveTo>
                  <a:lnTo>
                    <a:pt x="0" y="0"/>
                  </a:lnTo>
                  <a:lnTo>
                    <a:pt x="0" y="475898"/>
                  </a:lnTo>
                  <a:lnTo>
                    <a:pt x="444522" y="475898"/>
                  </a:lnTo>
                  <a:lnTo>
                    <a:pt x="444522" y="0"/>
                  </a:lnTo>
                  <a:close/>
                </a:path>
              </a:pathLst>
            </a:custGeom>
            <a:solidFill>
              <a:srgbClr val="FFFF99"/>
            </a:solidFill>
          </p:spPr>
          <p:txBody>
            <a:bodyPr wrap="square" lIns="0" tIns="0" rIns="0" bIns="0" rtlCol="0"/>
            <a:lstStyle/>
            <a:p/>
          </p:txBody>
        </p:sp>
        <p:sp>
          <p:nvSpPr>
            <p:cNvPr id="6" name="object 6" descr=""/>
            <p:cNvSpPr/>
            <p:nvPr/>
          </p:nvSpPr>
          <p:spPr>
            <a:xfrm>
              <a:off x="9805953" y="5321754"/>
              <a:ext cx="445134" cy="476250"/>
            </a:xfrm>
            <a:custGeom>
              <a:avLst/>
              <a:gdLst/>
              <a:ahLst/>
              <a:cxnLst/>
              <a:rect l="l" t="t" r="r" b="b"/>
              <a:pathLst>
                <a:path w="445134" h="476250">
                  <a:moveTo>
                    <a:pt x="0" y="475898"/>
                  </a:moveTo>
                  <a:lnTo>
                    <a:pt x="444522" y="475898"/>
                  </a:lnTo>
                  <a:lnTo>
                    <a:pt x="444522" y="0"/>
                  </a:lnTo>
                  <a:lnTo>
                    <a:pt x="0" y="0"/>
                  </a:lnTo>
                  <a:lnTo>
                    <a:pt x="0" y="475898"/>
                  </a:lnTo>
                  <a:close/>
                </a:path>
              </a:pathLst>
            </a:custGeom>
            <a:ln w="13739">
              <a:solidFill>
                <a:srgbClr val="000000"/>
              </a:solidFill>
            </a:ln>
          </p:spPr>
          <p:txBody>
            <a:bodyPr wrap="square" lIns="0" tIns="0" rIns="0" bIns="0" rtlCol="0"/>
            <a:lstStyle/>
            <a:p/>
          </p:txBody>
        </p:sp>
        <p:sp>
          <p:nvSpPr>
            <p:cNvPr id="7" name="object 7" descr=""/>
            <p:cNvSpPr/>
            <p:nvPr/>
          </p:nvSpPr>
          <p:spPr>
            <a:xfrm>
              <a:off x="9077594" y="4253117"/>
              <a:ext cx="445134" cy="476250"/>
            </a:xfrm>
            <a:custGeom>
              <a:avLst/>
              <a:gdLst/>
              <a:ahLst/>
              <a:cxnLst/>
              <a:rect l="l" t="t" r="r" b="b"/>
              <a:pathLst>
                <a:path w="445134" h="476250">
                  <a:moveTo>
                    <a:pt x="444522" y="0"/>
                  </a:moveTo>
                  <a:lnTo>
                    <a:pt x="0" y="0"/>
                  </a:lnTo>
                  <a:lnTo>
                    <a:pt x="0" y="475898"/>
                  </a:lnTo>
                  <a:lnTo>
                    <a:pt x="444522" y="475898"/>
                  </a:lnTo>
                  <a:lnTo>
                    <a:pt x="444522" y="0"/>
                  </a:lnTo>
                  <a:close/>
                </a:path>
              </a:pathLst>
            </a:custGeom>
            <a:solidFill>
              <a:srgbClr val="FFFF99"/>
            </a:solidFill>
          </p:spPr>
          <p:txBody>
            <a:bodyPr wrap="square" lIns="0" tIns="0" rIns="0" bIns="0" rtlCol="0"/>
            <a:lstStyle/>
            <a:p/>
          </p:txBody>
        </p:sp>
        <p:sp>
          <p:nvSpPr>
            <p:cNvPr id="8" name="object 8" descr=""/>
            <p:cNvSpPr/>
            <p:nvPr/>
          </p:nvSpPr>
          <p:spPr>
            <a:xfrm>
              <a:off x="9077594" y="4253117"/>
              <a:ext cx="445134" cy="476250"/>
            </a:xfrm>
            <a:custGeom>
              <a:avLst/>
              <a:gdLst/>
              <a:ahLst/>
              <a:cxnLst/>
              <a:rect l="l" t="t" r="r" b="b"/>
              <a:pathLst>
                <a:path w="445134" h="476250">
                  <a:moveTo>
                    <a:pt x="0" y="475898"/>
                  </a:moveTo>
                  <a:lnTo>
                    <a:pt x="444522" y="475898"/>
                  </a:lnTo>
                  <a:lnTo>
                    <a:pt x="444522" y="0"/>
                  </a:lnTo>
                  <a:lnTo>
                    <a:pt x="0" y="0"/>
                  </a:lnTo>
                  <a:lnTo>
                    <a:pt x="0" y="475898"/>
                  </a:lnTo>
                  <a:close/>
                </a:path>
              </a:pathLst>
            </a:custGeom>
            <a:ln w="13739">
              <a:solidFill>
                <a:srgbClr val="000000"/>
              </a:solidFill>
            </a:ln>
          </p:spPr>
          <p:txBody>
            <a:bodyPr wrap="square" lIns="0" tIns="0" rIns="0" bIns="0" rtlCol="0"/>
            <a:lstStyle/>
            <a:p/>
          </p:txBody>
        </p:sp>
        <p:sp>
          <p:nvSpPr>
            <p:cNvPr id="9" name="object 9" descr=""/>
            <p:cNvSpPr/>
            <p:nvPr/>
          </p:nvSpPr>
          <p:spPr>
            <a:xfrm>
              <a:off x="8351918" y="3184500"/>
              <a:ext cx="445134" cy="476250"/>
            </a:xfrm>
            <a:custGeom>
              <a:avLst/>
              <a:gdLst/>
              <a:ahLst/>
              <a:cxnLst/>
              <a:rect l="l" t="t" r="r" b="b"/>
              <a:pathLst>
                <a:path w="445134" h="476250">
                  <a:moveTo>
                    <a:pt x="444522" y="0"/>
                  </a:moveTo>
                  <a:lnTo>
                    <a:pt x="0" y="0"/>
                  </a:lnTo>
                  <a:lnTo>
                    <a:pt x="0" y="475898"/>
                  </a:lnTo>
                  <a:lnTo>
                    <a:pt x="444522" y="475898"/>
                  </a:lnTo>
                  <a:lnTo>
                    <a:pt x="444522" y="0"/>
                  </a:lnTo>
                  <a:close/>
                </a:path>
              </a:pathLst>
            </a:custGeom>
            <a:solidFill>
              <a:srgbClr val="FFFF99"/>
            </a:solidFill>
          </p:spPr>
          <p:txBody>
            <a:bodyPr wrap="square" lIns="0" tIns="0" rIns="0" bIns="0" rtlCol="0"/>
            <a:lstStyle/>
            <a:p/>
          </p:txBody>
        </p:sp>
        <p:sp>
          <p:nvSpPr>
            <p:cNvPr id="10" name="object 10" descr=""/>
            <p:cNvSpPr/>
            <p:nvPr/>
          </p:nvSpPr>
          <p:spPr>
            <a:xfrm>
              <a:off x="8351918" y="3184500"/>
              <a:ext cx="445134" cy="476250"/>
            </a:xfrm>
            <a:custGeom>
              <a:avLst/>
              <a:gdLst/>
              <a:ahLst/>
              <a:cxnLst/>
              <a:rect l="l" t="t" r="r" b="b"/>
              <a:pathLst>
                <a:path w="445134" h="476250">
                  <a:moveTo>
                    <a:pt x="0" y="475898"/>
                  </a:moveTo>
                  <a:lnTo>
                    <a:pt x="444522" y="475898"/>
                  </a:lnTo>
                  <a:lnTo>
                    <a:pt x="444522" y="0"/>
                  </a:lnTo>
                  <a:lnTo>
                    <a:pt x="0" y="0"/>
                  </a:lnTo>
                  <a:lnTo>
                    <a:pt x="0" y="475898"/>
                  </a:lnTo>
                  <a:close/>
                </a:path>
              </a:pathLst>
            </a:custGeom>
            <a:ln w="13739">
              <a:solidFill>
                <a:srgbClr val="000000"/>
              </a:solidFill>
            </a:ln>
          </p:spPr>
          <p:txBody>
            <a:bodyPr wrap="square" lIns="0" tIns="0" rIns="0" bIns="0" rtlCol="0"/>
            <a:lstStyle/>
            <a:p/>
          </p:txBody>
        </p:sp>
        <p:sp>
          <p:nvSpPr>
            <p:cNvPr id="11" name="object 11" descr=""/>
            <p:cNvSpPr/>
            <p:nvPr/>
          </p:nvSpPr>
          <p:spPr>
            <a:xfrm>
              <a:off x="2731552" y="1980632"/>
              <a:ext cx="5403850" cy="896619"/>
            </a:xfrm>
            <a:custGeom>
              <a:avLst/>
              <a:gdLst/>
              <a:ahLst/>
              <a:cxnLst/>
              <a:rect l="l" t="t" r="r" b="b"/>
              <a:pathLst>
                <a:path w="5403850" h="896619">
                  <a:moveTo>
                    <a:pt x="5403409" y="0"/>
                  </a:moveTo>
                  <a:lnTo>
                    <a:pt x="0" y="0"/>
                  </a:lnTo>
                  <a:lnTo>
                    <a:pt x="0" y="896183"/>
                  </a:lnTo>
                  <a:lnTo>
                    <a:pt x="5403409" y="896183"/>
                  </a:lnTo>
                  <a:lnTo>
                    <a:pt x="5403409" y="0"/>
                  </a:lnTo>
                  <a:close/>
                </a:path>
              </a:pathLst>
            </a:custGeom>
            <a:solidFill>
              <a:srgbClr val="EAEAEA"/>
            </a:solidFill>
          </p:spPr>
          <p:txBody>
            <a:bodyPr wrap="square" lIns="0" tIns="0" rIns="0" bIns="0" rtlCol="0"/>
            <a:lstStyle/>
            <a:p/>
          </p:txBody>
        </p:sp>
        <p:sp>
          <p:nvSpPr>
            <p:cNvPr id="12" name="object 12" descr=""/>
            <p:cNvSpPr/>
            <p:nvPr/>
          </p:nvSpPr>
          <p:spPr>
            <a:xfrm>
              <a:off x="7651139" y="2175754"/>
              <a:ext cx="445134" cy="476250"/>
            </a:xfrm>
            <a:custGeom>
              <a:avLst/>
              <a:gdLst/>
              <a:ahLst/>
              <a:cxnLst/>
              <a:rect l="l" t="t" r="r" b="b"/>
              <a:pathLst>
                <a:path w="445134" h="476250">
                  <a:moveTo>
                    <a:pt x="445001" y="0"/>
                  </a:moveTo>
                  <a:lnTo>
                    <a:pt x="0" y="0"/>
                  </a:lnTo>
                  <a:lnTo>
                    <a:pt x="0" y="475898"/>
                  </a:lnTo>
                  <a:lnTo>
                    <a:pt x="445001" y="475898"/>
                  </a:lnTo>
                  <a:lnTo>
                    <a:pt x="445001" y="0"/>
                  </a:lnTo>
                  <a:close/>
                </a:path>
              </a:pathLst>
            </a:custGeom>
            <a:solidFill>
              <a:srgbClr val="FFFF99"/>
            </a:solidFill>
          </p:spPr>
          <p:txBody>
            <a:bodyPr wrap="square" lIns="0" tIns="0" rIns="0" bIns="0" rtlCol="0"/>
            <a:lstStyle/>
            <a:p/>
          </p:txBody>
        </p:sp>
        <p:sp>
          <p:nvSpPr>
            <p:cNvPr id="13" name="object 13" descr=""/>
            <p:cNvSpPr/>
            <p:nvPr/>
          </p:nvSpPr>
          <p:spPr>
            <a:xfrm>
              <a:off x="7651139" y="2175754"/>
              <a:ext cx="445134" cy="476250"/>
            </a:xfrm>
            <a:custGeom>
              <a:avLst/>
              <a:gdLst/>
              <a:ahLst/>
              <a:cxnLst/>
              <a:rect l="l" t="t" r="r" b="b"/>
              <a:pathLst>
                <a:path w="445134" h="476250">
                  <a:moveTo>
                    <a:pt x="0" y="475898"/>
                  </a:moveTo>
                  <a:lnTo>
                    <a:pt x="445001" y="475898"/>
                  </a:lnTo>
                  <a:lnTo>
                    <a:pt x="445001" y="0"/>
                  </a:lnTo>
                  <a:lnTo>
                    <a:pt x="0" y="0"/>
                  </a:lnTo>
                  <a:lnTo>
                    <a:pt x="0" y="475898"/>
                  </a:lnTo>
                  <a:close/>
                </a:path>
              </a:pathLst>
            </a:custGeom>
            <a:ln w="13739">
              <a:solidFill>
                <a:srgbClr val="000000"/>
              </a:solidFill>
            </a:ln>
          </p:spPr>
          <p:txBody>
            <a:bodyPr wrap="square" lIns="0" tIns="0" rIns="0" bIns="0" rtlCol="0"/>
            <a:lstStyle/>
            <a:p/>
          </p:txBody>
        </p:sp>
        <p:sp>
          <p:nvSpPr>
            <p:cNvPr id="14" name="object 14" descr=""/>
            <p:cNvSpPr/>
            <p:nvPr/>
          </p:nvSpPr>
          <p:spPr>
            <a:xfrm>
              <a:off x="6312400" y="5321754"/>
              <a:ext cx="445134" cy="476250"/>
            </a:xfrm>
            <a:custGeom>
              <a:avLst/>
              <a:gdLst/>
              <a:ahLst/>
              <a:cxnLst/>
              <a:rect l="l" t="t" r="r" b="b"/>
              <a:pathLst>
                <a:path w="445134" h="476250">
                  <a:moveTo>
                    <a:pt x="445001" y="0"/>
                  </a:moveTo>
                  <a:lnTo>
                    <a:pt x="0" y="0"/>
                  </a:lnTo>
                  <a:lnTo>
                    <a:pt x="0" y="475898"/>
                  </a:lnTo>
                  <a:lnTo>
                    <a:pt x="445001" y="475898"/>
                  </a:lnTo>
                  <a:lnTo>
                    <a:pt x="445001" y="0"/>
                  </a:lnTo>
                  <a:close/>
                </a:path>
              </a:pathLst>
            </a:custGeom>
            <a:solidFill>
              <a:srgbClr val="FFFF99"/>
            </a:solidFill>
          </p:spPr>
          <p:txBody>
            <a:bodyPr wrap="square" lIns="0" tIns="0" rIns="0" bIns="0" rtlCol="0"/>
            <a:lstStyle/>
            <a:p/>
          </p:txBody>
        </p:sp>
        <p:sp>
          <p:nvSpPr>
            <p:cNvPr id="15" name="object 15" descr=""/>
            <p:cNvSpPr/>
            <p:nvPr/>
          </p:nvSpPr>
          <p:spPr>
            <a:xfrm>
              <a:off x="6312400" y="5321754"/>
              <a:ext cx="445134" cy="476250"/>
            </a:xfrm>
            <a:custGeom>
              <a:avLst/>
              <a:gdLst/>
              <a:ahLst/>
              <a:cxnLst/>
              <a:rect l="l" t="t" r="r" b="b"/>
              <a:pathLst>
                <a:path w="445134" h="476250">
                  <a:moveTo>
                    <a:pt x="0" y="475898"/>
                  </a:moveTo>
                  <a:lnTo>
                    <a:pt x="445001" y="475898"/>
                  </a:lnTo>
                  <a:lnTo>
                    <a:pt x="445001" y="0"/>
                  </a:lnTo>
                  <a:lnTo>
                    <a:pt x="0" y="0"/>
                  </a:lnTo>
                  <a:lnTo>
                    <a:pt x="0" y="475898"/>
                  </a:lnTo>
                  <a:close/>
                </a:path>
              </a:pathLst>
            </a:custGeom>
            <a:ln w="13739">
              <a:solidFill>
                <a:srgbClr val="000000"/>
              </a:solidFill>
            </a:ln>
          </p:spPr>
          <p:txBody>
            <a:bodyPr wrap="square" lIns="0" tIns="0" rIns="0" bIns="0" rtlCol="0"/>
            <a:lstStyle/>
            <a:p/>
          </p:txBody>
        </p:sp>
        <p:sp>
          <p:nvSpPr>
            <p:cNvPr id="16" name="object 16" descr=""/>
            <p:cNvSpPr/>
            <p:nvPr/>
          </p:nvSpPr>
          <p:spPr>
            <a:xfrm>
              <a:off x="5584233" y="4253117"/>
              <a:ext cx="445134" cy="476250"/>
            </a:xfrm>
            <a:custGeom>
              <a:avLst/>
              <a:gdLst/>
              <a:ahLst/>
              <a:cxnLst/>
              <a:rect l="l" t="t" r="r" b="b"/>
              <a:pathLst>
                <a:path w="445135" h="476250">
                  <a:moveTo>
                    <a:pt x="445001" y="0"/>
                  </a:moveTo>
                  <a:lnTo>
                    <a:pt x="0" y="0"/>
                  </a:lnTo>
                  <a:lnTo>
                    <a:pt x="0" y="475898"/>
                  </a:lnTo>
                  <a:lnTo>
                    <a:pt x="445001" y="475898"/>
                  </a:lnTo>
                  <a:lnTo>
                    <a:pt x="445001" y="0"/>
                  </a:lnTo>
                  <a:close/>
                </a:path>
              </a:pathLst>
            </a:custGeom>
            <a:solidFill>
              <a:srgbClr val="FFFF99"/>
            </a:solidFill>
          </p:spPr>
          <p:txBody>
            <a:bodyPr wrap="square" lIns="0" tIns="0" rIns="0" bIns="0" rtlCol="0"/>
            <a:lstStyle/>
            <a:p/>
          </p:txBody>
        </p:sp>
        <p:sp>
          <p:nvSpPr>
            <p:cNvPr id="17" name="object 17" descr=""/>
            <p:cNvSpPr/>
            <p:nvPr/>
          </p:nvSpPr>
          <p:spPr>
            <a:xfrm>
              <a:off x="5584233" y="4253117"/>
              <a:ext cx="445134" cy="476250"/>
            </a:xfrm>
            <a:custGeom>
              <a:avLst/>
              <a:gdLst/>
              <a:ahLst/>
              <a:cxnLst/>
              <a:rect l="l" t="t" r="r" b="b"/>
              <a:pathLst>
                <a:path w="445135" h="476250">
                  <a:moveTo>
                    <a:pt x="0" y="475898"/>
                  </a:moveTo>
                  <a:lnTo>
                    <a:pt x="445001" y="475898"/>
                  </a:lnTo>
                  <a:lnTo>
                    <a:pt x="445001" y="0"/>
                  </a:lnTo>
                  <a:lnTo>
                    <a:pt x="0" y="0"/>
                  </a:lnTo>
                  <a:lnTo>
                    <a:pt x="0" y="475898"/>
                  </a:lnTo>
                  <a:close/>
                </a:path>
              </a:pathLst>
            </a:custGeom>
            <a:ln w="13739">
              <a:solidFill>
                <a:srgbClr val="000000"/>
              </a:solidFill>
            </a:ln>
          </p:spPr>
          <p:txBody>
            <a:bodyPr wrap="square" lIns="0" tIns="0" rIns="0" bIns="0" rtlCol="0"/>
            <a:lstStyle/>
            <a:p/>
          </p:txBody>
        </p:sp>
        <p:sp>
          <p:nvSpPr>
            <p:cNvPr id="18" name="object 18" descr=""/>
            <p:cNvSpPr/>
            <p:nvPr/>
          </p:nvSpPr>
          <p:spPr>
            <a:xfrm>
              <a:off x="4157586" y="2175754"/>
              <a:ext cx="445134" cy="476250"/>
            </a:xfrm>
            <a:custGeom>
              <a:avLst/>
              <a:gdLst/>
              <a:ahLst/>
              <a:cxnLst/>
              <a:rect l="l" t="t" r="r" b="b"/>
              <a:pathLst>
                <a:path w="445135" h="476250">
                  <a:moveTo>
                    <a:pt x="445001" y="0"/>
                  </a:moveTo>
                  <a:lnTo>
                    <a:pt x="0" y="0"/>
                  </a:lnTo>
                  <a:lnTo>
                    <a:pt x="0" y="475898"/>
                  </a:lnTo>
                  <a:lnTo>
                    <a:pt x="445001" y="475898"/>
                  </a:lnTo>
                  <a:lnTo>
                    <a:pt x="445001" y="0"/>
                  </a:lnTo>
                  <a:close/>
                </a:path>
              </a:pathLst>
            </a:custGeom>
            <a:solidFill>
              <a:srgbClr val="FFFF99"/>
            </a:solidFill>
          </p:spPr>
          <p:txBody>
            <a:bodyPr wrap="square" lIns="0" tIns="0" rIns="0" bIns="0" rtlCol="0"/>
            <a:lstStyle/>
            <a:p/>
          </p:txBody>
        </p:sp>
        <p:sp>
          <p:nvSpPr>
            <p:cNvPr id="19" name="object 19" descr=""/>
            <p:cNvSpPr/>
            <p:nvPr/>
          </p:nvSpPr>
          <p:spPr>
            <a:xfrm>
              <a:off x="4157586" y="2175754"/>
              <a:ext cx="445134" cy="476250"/>
            </a:xfrm>
            <a:custGeom>
              <a:avLst/>
              <a:gdLst/>
              <a:ahLst/>
              <a:cxnLst/>
              <a:rect l="l" t="t" r="r" b="b"/>
              <a:pathLst>
                <a:path w="445135" h="476250">
                  <a:moveTo>
                    <a:pt x="0" y="475898"/>
                  </a:moveTo>
                  <a:lnTo>
                    <a:pt x="445001" y="475898"/>
                  </a:lnTo>
                  <a:lnTo>
                    <a:pt x="445001" y="0"/>
                  </a:lnTo>
                  <a:lnTo>
                    <a:pt x="0" y="0"/>
                  </a:lnTo>
                  <a:lnTo>
                    <a:pt x="0" y="475898"/>
                  </a:lnTo>
                  <a:close/>
                </a:path>
              </a:pathLst>
            </a:custGeom>
            <a:ln w="13739">
              <a:solidFill>
                <a:srgbClr val="000000"/>
              </a:solidFill>
            </a:ln>
          </p:spPr>
          <p:txBody>
            <a:bodyPr wrap="square" lIns="0" tIns="0" rIns="0" bIns="0" rtlCol="0"/>
            <a:lstStyle/>
            <a:p/>
          </p:txBody>
        </p:sp>
        <p:sp>
          <p:nvSpPr>
            <p:cNvPr id="20" name="object 20" descr=""/>
            <p:cNvSpPr/>
            <p:nvPr/>
          </p:nvSpPr>
          <p:spPr>
            <a:xfrm>
              <a:off x="4858365" y="3184500"/>
              <a:ext cx="445134" cy="476250"/>
            </a:xfrm>
            <a:custGeom>
              <a:avLst/>
              <a:gdLst/>
              <a:ahLst/>
              <a:cxnLst/>
              <a:rect l="l" t="t" r="r" b="b"/>
              <a:pathLst>
                <a:path w="445135" h="476250">
                  <a:moveTo>
                    <a:pt x="445001" y="0"/>
                  </a:moveTo>
                  <a:lnTo>
                    <a:pt x="0" y="0"/>
                  </a:lnTo>
                  <a:lnTo>
                    <a:pt x="0" y="475898"/>
                  </a:lnTo>
                  <a:lnTo>
                    <a:pt x="445001" y="475898"/>
                  </a:lnTo>
                  <a:lnTo>
                    <a:pt x="445001" y="0"/>
                  </a:lnTo>
                  <a:close/>
                </a:path>
              </a:pathLst>
            </a:custGeom>
            <a:solidFill>
              <a:srgbClr val="FFFF99"/>
            </a:solidFill>
          </p:spPr>
          <p:txBody>
            <a:bodyPr wrap="square" lIns="0" tIns="0" rIns="0" bIns="0" rtlCol="0"/>
            <a:lstStyle/>
            <a:p/>
          </p:txBody>
        </p:sp>
        <p:sp>
          <p:nvSpPr>
            <p:cNvPr id="21" name="object 21" descr=""/>
            <p:cNvSpPr/>
            <p:nvPr/>
          </p:nvSpPr>
          <p:spPr>
            <a:xfrm>
              <a:off x="4858365" y="2421715"/>
              <a:ext cx="2793365" cy="1238885"/>
            </a:xfrm>
            <a:custGeom>
              <a:avLst/>
              <a:gdLst/>
              <a:ahLst/>
              <a:cxnLst/>
              <a:rect l="l" t="t" r="r" b="b"/>
              <a:pathLst>
                <a:path w="2793365" h="1238885">
                  <a:moveTo>
                    <a:pt x="0" y="1238683"/>
                  </a:moveTo>
                  <a:lnTo>
                    <a:pt x="445001" y="1238683"/>
                  </a:lnTo>
                  <a:lnTo>
                    <a:pt x="445001" y="762785"/>
                  </a:lnTo>
                  <a:lnTo>
                    <a:pt x="0" y="762785"/>
                  </a:lnTo>
                  <a:lnTo>
                    <a:pt x="0" y="1238683"/>
                  </a:lnTo>
                  <a:close/>
                </a:path>
                <a:path w="2793365" h="1238885">
                  <a:moveTo>
                    <a:pt x="334014" y="0"/>
                  </a:moveTo>
                  <a:lnTo>
                    <a:pt x="2792773" y="0"/>
                  </a:lnTo>
                </a:path>
              </a:pathLst>
            </a:custGeom>
            <a:ln w="13738">
              <a:solidFill>
                <a:srgbClr val="000000"/>
              </a:solidFill>
            </a:ln>
          </p:spPr>
          <p:txBody>
            <a:bodyPr wrap="square" lIns="0" tIns="0" rIns="0" bIns="0" rtlCol="0"/>
            <a:lstStyle/>
            <a:p/>
          </p:txBody>
        </p:sp>
        <p:sp>
          <p:nvSpPr>
            <p:cNvPr id="22" name="object 22" descr=""/>
            <p:cNvSpPr/>
            <p:nvPr/>
          </p:nvSpPr>
          <p:spPr>
            <a:xfrm>
              <a:off x="4624158" y="1797408"/>
              <a:ext cx="34925" cy="4246245"/>
            </a:xfrm>
            <a:custGeom>
              <a:avLst/>
              <a:gdLst/>
              <a:ahLst/>
              <a:cxnLst/>
              <a:rect l="l" t="t" r="r" b="b"/>
              <a:pathLst>
                <a:path w="34925" h="4246245">
                  <a:moveTo>
                    <a:pt x="6487" y="4214164"/>
                  </a:moveTo>
                  <a:lnTo>
                    <a:pt x="3998" y="4214164"/>
                  </a:lnTo>
                  <a:lnTo>
                    <a:pt x="2082" y="4216518"/>
                  </a:lnTo>
                  <a:lnTo>
                    <a:pt x="2082" y="4218875"/>
                  </a:lnTo>
                  <a:lnTo>
                    <a:pt x="0" y="4246204"/>
                  </a:lnTo>
                  <a:lnTo>
                    <a:pt x="11275" y="4246204"/>
                  </a:lnTo>
                  <a:lnTo>
                    <a:pt x="11275" y="4216518"/>
                  </a:lnTo>
                  <a:lnTo>
                    <a:pt x="8786" y="4216518"/>
                  </a:lnTo>
                  <a:lnTo>
                    <a:pt x="6487" y="4214164"/>
                  </a:lnTo>
                  <a:close/>
                </a:path>
                <a:path w="34925" h="4246245">
                  <a:moveTo>
                    <a:pt x="8786" y="4175055"/>
                  </a:moveTo>
                  <a:lnTo>
                    <a:pt x="3998" y="4175055"/>
                  </a:lnTo>
                  <a:lnTo>
                    <a:pt x="2082" y="4177412"/>
                  </a:lnTo>
                  <a:lnTo>
                    <a:pt x="2082" y="4184480"/>
                  </a:lnTo>
                  <a:lnTo>
                    <a:pt x="8786" y="4184480"/>
                  </a:lnTo>
                  <a:lnTo>
                    <a:pt x="11275" y="4182123"/>
                  </a:lnTo>
                  <a:lnTo>
                    <a:pt x="11275" y="4179766"/>
                  </a:lnTo>
                  <a:lnTo>
                    <a:pt x="8786" y="4177412"/>
                  </a:lnTo>
                  <a:lnTo>
                    <a:pt x="8786" y="4175055"/>
                  </a:lnTo>
                  <a:close/>
                </a:path>
                <a:path w="34925" h="4246245">
                  <a:moveTo>
                    <a:pt x="8786" y="4108620"/>
                  </a:moveTo>
                  <a:lnTo>
                    <a:pt x="3998" y="4108620"/>
                  </a:lnTo>
                  <a:lnTo>
                    <a:pt x="2082" y="4110974"/>
                  </a:lnTo>
                  <a:lnTo>
                    <a:pt x="2082" y="4145371"/>
                  </a:lnTo>
                  <a:lnTo>
                    <a:pt x="3998" y="4147728"/>
                  </a:lnTo>
                  <a:lnTo>
                    <a:pt x="8786" y="4147728"/>
                  </a:lnTo>
                  <a:lnTo>
                    <a:pt x="8786" y="4145371"/>
                  </a:lnTo>
                  <a:lnTo>
                    <a:pt x="11275" y="4145371"/>
                  </a:lnTo>
                  <a:lnTo>
                    <a:pt x="11275" y="4110974"/>
                  </a:lnTo>
                  <a:lnTo>
                    <a:pt x="8786" y="4110974"/>
                  </a:lnTo>
                  <a:lnTo>
                    <a:pt x="8786" y="4108620"/>
                  </a:lnTo>
                  <a:close/>
                </a:path>
                <a:path w="34925" h="4246245">
                  <a:moveTo>
                    <a:pt x="6487" y="4069511"/>
                  </a:moveTo>
                  <a:lnTo>
                    <a:pt x="3998" y="4071868"/>
                  </a:lnTo>
                  <a:lnTo>
                    <a:pt x="2082" y="4074222"/>
                  </a:lnTo>
                  <a:lnTo>
                    <a:pt x="2082" y="4076579"/>
                  </a:lnTo>
                  <a:lnTo>
                    <a:pt x="3998" y="4078936"/>
                  </a:lnTo>
                  <a:lnTo>
                    <a:pt x="6487" y="4080819"/>
                  </a:lnTo>
                  <a:lnTo>
                    <a:pt x="8786" y="4078936"/>
                  </a:lnTo>
                  <a:lnTo>
                    <a:pt x="11275" y="4076579"/>
                  </a:lnTo>
                  <a:lnTo>
                    <a:pt x="11275" y="4074222"/>
                  </a:lnTo>
                  <a:lnTo>
                    <a:pt x="8786" y="4071868"/>
                  </a:lnTo>
                  <a:lnTo>
                    <a:pt x="6487" y="4069511"/>
                  </a:lnTo>
                  <a:close/>
                </a:path>
                <a:path w="34925" h="4246245">
                  <a:moveTo>
                    <a:pt x="8786" y="4003070"/>
                  </a:moveTo>
                  <a:lnTo>
                    <a:pt x="3998" y="4003070"/>
                  </a:lnTo>
                  <a:lnTo>
                    <a:pt x="3998" y="4005438"/>
                  </a:lnTo>
                  <a:lnTo>
                    <a:pt x="2082" y="4007310"/>
                  </a:lnTo>
                  <a:lnTo>
                    <a:pt x="2082" y="4039833"/>
                  </a:lnTo>
                  <a:lnTo>
                    <a:pt x="3998" y="4039833"/>
                  </a:lnTo>
                  <a:lnTo>
                    <a:pt x="3998" y="4042182"/>
                  </a:lnTo>
                  <a:lnTo>
                    <a:pt x="8786" y="4042182"/>
                  </a:lnTo>
                  <a:lnTo>
                    <a:pt x="11275" y="4039833"/>
                  </a:lnTo>
                  <a:lnTo>
                    <a:pt x="11275" y="4005438"/>
                  </a:lnTo>
                  <a:lnTo>
                    <a:pt x="8786" y="4003070"/>
                  </a:lnTo>
                  <a:close/>
                </a:path>
                <a:path w="34925" h="4246245">
                  <a:moveTo>
                    <a:pt x="11275" y="3966326"/>
                  </a:moveTo>
                  <a:lnTo>
                    <a:pt x="3998" y="3966326"/>
                  </a:lnTo>
                  <a:lnTo>
                    <a:pt x="2082" y="3968675"/>
                  </a:lnTo>
                  <a:lnTo>
                    <a:pt x="2082" y="3972914"/>
                  </a:lnTo>
                  <a:lnTo>
                    <a:pt x="3998" y="3972914"/>
                  </a:lnTo>
                  <a:lnTo>
                    <a:pt x="3998" y="3975283"/>
                  </a:lnTo>
                  <a:lnTo>
                    <a:pt x="8786" y="3975283"/>
                  </a:lnTo>
                  <a:lnTo>
                    <a:pt x="11275" y="3972914"/>
                  </a:lnTo>
                  <a:lnTo>
                    <a:pt x="11275" y="3966326"/>
                  </a:lnTo>
                  <a:close/>
                </a:path>
                <a:path w="34925" h="4246245">
                  <a:moveTo>
                    <a:pt x="11275" y="3899407"/>
                  </a:moveTo>
                  <a:lnTo>
                    <a:pt x="3998" y="3899407"/>
                  </a:lnTo>
                  <a:lnTo>
                    <a:pt x="2082" y="3901775"/>
                  </a:lnTo>
                  <a:lnTo>
                    <a:pt x="2082" y="3933821"/>
                  </a:lnTo>
                  <a:lnTo>
                    <a:pt x="3998" y="3936170"/>
                  </a:lnTo>
                  <a:lnTo>
                    <a:pt x="11275" y="3936170"/>
                  </a:lnTo>
                  <a:lnTo>
                    <a:pt x="11275" y="3899407"/>
                  </a:lnTo>
                  <a:close/>
                </a:path>
                <a:path w="34925" h="4246245">
                  <a:moveTo>
                    <a:pt x="6487" y="3897058"/>
                  </a:moveTo>
                  <a:lnTo>
                    <a:pt x="6487" y="3899407"/>
                  </a:lnTo>
                  <a:lnTo>
                    <a:pt x="8786" y="3899407"/>
                  </a:lnTo>
                  <a:lnTo>
                    <a:pt x="6487" y="3897058"/>
                  </a:lnTo>
                  <a:close/>
                </a:path>
                <a:path w="34925" h="4246245">
                  <a:moveTo>
                    <a:pt x="11275" y="3860314"/>
                  </a:moveTo>
                  <a:lnTo>
                    <a:pt x="3998" y="3860314"/>
                  </a:lnTo>
                  <a:lnTo>
                    <a:pt x="3998" y="3862663"/>
                  </a:lnTo>
                  <a:lnTo>
                    <a:pt x="2082" y="3865012"/>
                  </a:lnTo>
                  <a:lnTo>
                    <a:pt x="3998" y="3867380"/>
                  </a:lnTo>
                  <a:lnTo>
                    <a:pt x="6487" y="3869729"/>
                  </a:lnTo>
                  <a:lnTo>
                    <a:pt x="8786" y="3869729"/>
                  </a:lnTo>
                  <a:lnTo>
                    <a:pt x="11275" y="3867380"/>
                  </a:lnTo>
                  <a:lnTo>
                    <a:pt x="13574" y="3865012"/>
                  </a:lnTo>
                  <a:lnTo>
                    <a:pt x="11275" y="3862663"/>
                  </a:lnTo>
                  <a:lnTo>
                    <a:pt x="11275" y="3860314"/>
                  </a:lnTo>
                  <a:close/>
                </a:path>
                <a:path w="34925" h="4246245">
                  <a:moveTo>
                    <a:pt x="11275" y="3793873"/>
                  </a:moveTo>
                  <a:lnTo>
                    <a:pt x="3998" y="3793873"/>
                  </a:lnTo>
                  <a:lnTo>
                    <a:pt x="3998" y="3798590"/>
                  </a:lnTo>
                  <a:lnTo>
                    <a:pt x="2082" y="3825919"/>
                  </a:lnTo>
                  <a:lnTo>
                    <a:pt x="3998" y="3828268"/>
                  </a:lnTo>
                  <a:lnTo>
                    <a:pt x="3998" y="3830617"/>
                  </a:lnTo>
                  <a:lnTo>
                    <a:pt x="11275" y="3830617"/>
                  </a:lnTo>
                  <a:lnTo>
                    <a:pt x="11275" y="3828268"/>
                  </a:lnTo>
                  <a:lnTo>
                    <a:pt x="13574" y="3825919"/>
                  </a:lnTo>
                  <a:lnTo>
                    <a:pt x="13574" y="3796222"/>
                  </a:lnTo>
                  <a:lnTo>
                    <a:pt x="11275" y="3793873"/>
                  </a:lnTo>
                  <a:close/>
                </a:path>
                <a:path w="34925" h="4246245">
                  <a:moveTo>
                    <a:pt x="11275" y="3754760"/>
                  </a:moveTo>
                  <a:lnTo>
                    <a:pt x="6487" y="3754760"/>
                  </a:lnTo>
                  <a:lnTo>
                    <a:pt x="3998" y="3757128"/>
                  </a:lnTo>
                  <a:lnTo>
                    <a:pt x="3998" y="3763717"/>
                  </a:lnTo>
                  <a:lnTo>
                    <a:pt x="11275" y="3763717"/>
                  </a:lnTo>
                  <a:lnTo>
                    <a:pt x="13574" y="3761826"/>
                  </a:lnTo>
                  <a:lnTo>
                    <a:pt x="13574" y="3757128"/>
                  </a:lnTo>
                  <a:lnTo>
                    <a:pt x="11275" y="3757128"/>
                  </a:lnTo>
                  <a:lnTo>
                    <a:pt x="11275" y="3754760"/>
                  </a:lnTo>
                  <a:close/>
                </a:path>
                <a:path w="34925" h="4246245">
                  <a:moveTo>
                    <a:pt x="11275" y="3687861"/>
                  </a:moveTo>
                  <a:lnTo>
                    <a:pt x="3998" y="3687861"/>
                  </a:lnTo>
                  <a:lnTo>
                    <a:pt x="3998" y="3725082"/>
                  </a:lnTo>
                  <a:lnTo>
                    <a:pt x="11275" y="3725082"/>
                  </a:lnTo>
                  <a:lnTo>
                    <a:pt x="13574" y="3722714"/>
                  </a:lnTo>
                  <a:lnTo>
                    <a:pt x="13574" y="3690210"/>
                  </a:lnTo>
                  <a:lnTo>
                    <a:pt x="11275" y="3687861"/>
                  </a:lnTo>
                  <a:close/>
                </a:path>
                <a:path w="34925" h="4246245">
                  <a:moveTo>
                    <a:pt x="11275" y="3649226"/>
                  </a:moveTo>
                  <a:lnTo>
                    <a:pt x="6487" y="3649226"/>
                  </a:lnTo>
                  <a:lnTo>
                    <a:pt x="3998" y="3651097"/>
                  </a:lnTo>
                  <a:lnTo>
                    <a:pt x="3998" y="3658164"/>
                  </a:lnTo>
                  <a:lnTo>
                    <a:pt x="11275" y="3658164"/>
                  </a:lnTo>
                  <a:lnTo>
                    <a:pt x="13574" y="3655815"/>
                  </a:lnTo>
                  <a:lnTo>
                    <a:pt x="13574" y="3651097"/>
                  </a:lnTo>
                  <a:lnTo>
                    <a:pt x="11275" y="3651097"/>
                  </a:lnTo>
                  <a:lnTo>
                    <a:pt x="11275" y="3649226"/>
                  </a:lnTo>
                  <a:close/>
                </a:path>
                <a:path w="34925" h="4246245">
                  <a:moveTo>
                    <a:pt x="11275" y="3582307"/>
                  </a:moveTo>
                  <a:lnTo>
                    <a:pt x="6487" y="3582307"/>
                  </a:lnTo>
                  <a:lnTo>
                    <a:pt x="6487" y="3584675"/>
                  </a:lnTo>
                  <a:lnTo>
                    <a:pt x="3998" y="3584675"/>
                  </a:lnTo>
                  <a:lnTo>
                    <a:pt x="3998" y="3616702"/>
                  </a:lnTo>
                  <a:lnTo>
                    <a:pt x="6487" y="3619070"/>
                  </a:lnTo>
                  <a:lnTo>
                    <a:pt x="8786" y="3621419"/>
                  </a:lnTo>
                  <a:lnTo>
                    <a:pt x="11275" y="3619070"/>
                  </a:lnTo>
                  <a:lnTo>
                    <a:pt x="13574" y="3616702"/>
                  </a:lnTo>
                  <a:lnTo>
                    <a:pt x="13574" y="3584675"/>
                  </a:lnTo>
                  <a:lnTo>
                    <a:pt x="11275" y="3582307"/>
                  </a:lnTo>
                  <a:close/>
                </a:path>
                <a:path w="34925" h="4246245">
                  <a:moveTo>
                    <a:pt x="11275" y="3543195"/>
                  </a:moveTo>
                  <a:lnTo>
                    <a:pt x="6487" y="3543195"/>
                  </a:lnTo>
                  <a:lnTo>
                    <a:pt x="6487" y="3545563"/>
                  </a:lnTo>
                  <a:lnTo>
                    <a:pt x="3998" y="3547912"/>
                  </a:lnTo>
                  <a:lnTo>
                    <a:pt x="3998" y="3550280"/>
                  </a:lnTo>
                  <a:lnTo>
                    <a:pt x="6487" y="3552629"/>
                  </a:lnTo>
                  <a:lnTo>
                    <a:pt x="13574" y="3552629"/>
                  </a:lnTo>
                  <a:lnTo>
                    <a:pt x="13574" y="3545563"/>
                  </a:lnTo>
                  <a:lnTo>
                    <a:pt x="11275" y="3543195"/>
                  </a:lnTo>
                  <a:close/>
                </a:path>
                <a:path w="34925" h="4246245">
                  <a:moveTo>
                    <a:pt x="11275" y="3476773"/>
                  </a:moveTo>
                  <a:lnTo>
                    <a:pt x="8786" y="3476773"/>
                  </a:lnTo>
                  <a:lnTo>
                    <a:pt x="6487" y="3479122"/>
                  </a:lnTo>
                  <a:lnTo>
                    <a:pt x="3998" y="3479122"/>
                  </a:lnTo>
                  <a:lnTo>
                    <a:pt x="3998" y="3513517"/>
                  </a:lnTo>
                  <a:lnTo>
                    <a:pt x="6487" y="3513517"/>
                  </a:lnTo>
                  <a:lnTo>
                    <a:pt x="6487" y="3515885"/>
                  </a:lnTo>
                  <a:lnTo>
                    <a:pt x="11275" y="3515885"/>
                  </a:lnTo>
                  <a:lnTo>
                    <a:pt x="13574" y="3513517"/>
                  </a:lnTo>
                  <a:lnTo>
                    <a:pt x="13574" y="3479122"/>
                  </a:lnTo>
                  <a:lnTo>
                    <a:pt x="11275" y="3476773"/>
                  </a:lnTo>
                  <a:close/>
                </a:path>
                <a:path w="34925" h="4246245">
                  <a:moveTo>
                    <a:pt x="11275" y="3446617"/>
                  </a:moveTo>
                  <a:lnTo>
                    <a:pt x="8786" y="3446617"/>
                  </a:lnTo>
                  <a:lnTo>
                    <a:pt x="8786" y="3448966"/>
                  </a:lnTo>
                  <a:lnTo>
                    <a:pt x="11275" y="3446617"/>
                  </a:lnTo>
                  <a:close/>
                </a:path>
                <a:path w="34925" h="4246245">
                  <a:moveTo>
                    <a:pt x="13574" y="3444727"/>
                  </a:moveTo>
                  <a:lnTo>
                    <a:pt x="6487" y="3444727"/>
                  </a:lnTo>
                  <a:lnTo>
                    <a:pt x="6487" y="3446617"/>
                  </a:lnTo>
                  <a:lnTo>
                    <a:pt x="13574" y="3446617"/>
                  </a:lnTo>
                  <a:lnTo>
                    <a:pt x="13574" y="3444727"/>
                  </a:lnTo>
                  <a:close/>
                </a:path>
                <a:path w="34925" h="4246245">
                  <a:moveTo>
                    <a:pt x="13574" y="3440009"/>
                  </a:moveTo>
                  <a:lnTo>
                    <a:pt x="6487" y="3440009"/>
                  </a:lnTo>
                  <a:lnTo>
                    <a:pt x="6487" y="3442378"/>
                  </a:lnTo>
                  <a:lnTo>
                    <a:pt x="3998" y="3444727"/>
                  </a:lnTo>
                  <a:lnTo>
                    <a:pt x="15872" y="3444727"/>
                  </a:lnTo>
                  <a:lnTo>
                    <a:pt x="13574" y="3442378"/>
                  </a:lnTo>
                  <a:lnTo>
                    <a:pt x="13574" y="3440009"/>
                  </a:lnTo>
                  <a:close/>
                </a:path>
                <a:path w="34925" h="4246245">
                  <a:moveTo>
                    <a:pt x="8786" y="3437660"/>
                  </a:moveTo>
                  <a:lnTo>
                    <a:pt x="8786" y="3440009"/>
                  </a:lnTo>
                  <a:lnTo>
                    <a:pt x="11275" y="3440009"/>
                  </a:lnTo>
                  <a:lnTo>
                    <a:pt x="8786" y="3437660"/>
                  </a:lnTo>
                  <a:close/>
                </a:path>
                <a:path w="34925" h="4246245">
                  <a:moveTo>
                    <a:pt x="11275" y="3370761"/>
                  </a:moveTo>
                  <a:lnTo>
                    <a:pt x="8786" y="3370761"/>
                  </a:lnTo>
                  <a:lnTo>
                    <a:pt x="6487" y="3373110"/>
                  </a:lnTo>
                  <a:lnTo>
                    <a:pt x="6487" y="3375459"/>
                  </a:lnTo>
                  <a:lnTo>
                    <a:pt x="3998" y="3405614"/>
                  </a:lnTo>
                  <a:lnTo>
                    <a:pt x="6487" y="3407505"/>
                  </a:lnTo>
                  <a:lnTo>
                    <a:pt x="8786" y="3409854"/>
                  </a:lnTo>
                  <a:lnTo>
                    <a:pt x="11275" y="3409854"/>
                  </a:lnTo>
                  <a:lnTo>
                    <a:pt x="13574" y="3407505"/>
                  </a:lnTo>
                  <a:lnTo>
                    <a:pt x="15872" y="3405614"/>
                  </a:lnTo>
                  <a:lnTo>
                    <a:pt x="15872" y="3375459"/>
                  </a:lnTo>
                  <a:lnTo>
                    <a:pt x="11275" y="3370761"/>
                  </a:lnTo>
                  <a:close/>
                </a:path>
                <a:path w="34925" h="4246245">
                  <a:moveTo>
                    <a:pt x="13574" y="3333998"/>
                  </a:moveTo>
                  <a:lnTo>
                    <a:pt x="6487" y="3333998"/>
                  </a:lnTo>
                  <a:lnTo>
                    <a:pt x="6487" y="3341064"/>
                  </a:lnTo>
                  <a:lnTo>
                    <a:pt x="8786" y="3343432"/>
                  </a:lnTo>
                  <a:lnTo>
                    <a:pt x="13574" y="3343432"/>
                  </a:lnTo>
                  <a:lnTo>
                    <a:pt x="13574" y="3341064"/>
                  </a:lnTo>
                  <a:lnTo>
                    <a:pt x="15872" y="3341064"/>
                  </a:lnTo>
                  <a:lnTo>
                    <a:pt x="15872" y="3336366"/>
                  </a:lnTo>
                  <a:lnTo>
                    <a:pt x="13574" y="3333998"/>
                  </a:lnTo>
                  <a:close/>
                </a:path>
                <a:path w="34925" h="4246245">
                  <a:moveTo>
                    <a:pt x="11275" y="3265207"/>
                  </a:moveTo>
                  <a:lnTo>
                    <a:pt x="8786" y="3267556"/>
                  </a:lnTo>
                  <a:lnTo>
                    <a:pt x="6487" y="3267556"/>
                  </a:lnTo>
                  <a:lnTo>
                    <a:pt x="6487" y="3301951"/>
                  </a:lnTo>
                  <a:lnTo>
                    <a:pt x="8786" y="3304320"/>
                  </a:lnTo>
                  <a:lnTo>
                    <a:pt x="13574" y="3304320"/>
                  </a:lnTo>
                  <a:lnTo>
                    <a:pt x="15872" y="3301951"/>
                  </a:lnTo>
                  <a:lnTo>
                    <a:pt x="15872" y="3269924"/>
                  </a:lnTo>
                  <a:lnTo>
                    <a:pt x="11275" y="3265207"/>
                  </a:lnTo>
                  <a:close/>
                </a:path>
                <a:path w="34925" h="4246245">
                  <a:moveTo>
                    <a:pt x="13574" y="3228463"/>
                  </a:moveTo>
                  <a:lnTo>
                    <a:pt x="6487" y="3228463"/>
                  </a:lnTo>
                  <a:lnTo>
                    <a:pt x="6487" y="3235529"/>
                  </a:lnTo>
                  <a:lnTo>
                    <a:pt x="8786" y="3237878"/>
                  </a:lnTo>
                  <a:lnTo>
                    <a:pt x="13574" y="3237878"/>
                  </a:lnTo>
                  <a:lnTo>
                    <a:pt x="13574" y="3235529"/>
                  </a:lnTo>
                  <a:lnTo>
                    <a:pt x="15872" y="3235529"/>
                  </a:lnTo>
                  <a:lnTo>
                    <a:pt x="15872" y="3230812"/>
                  </a:lnTo>
                  <a:lnTo>
                    <a:pt x="13574" y="3228463"/>
                  </a:lnTo>
                  <a:close/>
                </a:path>
                <a:path w="34925" h="4246245">
                  <a:moveTo>
                    <a:pt x="15872" y="3162022"/>
                  </a:moveTo>
                  <a:lnTo>
                    <a:pt x="8786" y="3162022"/>
                  </a:lnTo>
                  <a:lnTo>
                    <a:pt x="6487" y="3163913"/>
                  </a:lnTo>
                  <a:lnTo>
                    <a:pt x="6487" y="3196417"/>
                  </a:lnTo>
                  <a:lnTo>
                    <a:pt x="8786" y="3198766"/>
                  </a:lnTo>
                  <a:lnTo>
                    <a:pt x="13574" y="3198766"/>
                  </a:lnTo>
                  <a:lnTo>
                    <a:pt x="15872" y="3196417"/>
                  </a:lnTo>
                  <a:lnTo>
                    <a:pt x="15872" y="3162022"/>
                  </a:lnTo>
                  <a:close/>
                </a:path>
                <a:path w="34925" h="4246245">
                  <a:moveTo>
                    <a:pt x="13574" y="3122910"/>
                  </a:moveTo>
                  <a:lnTo>
                    <a:pt x="8786" y="3122910"/>
                  </a:lnTo>
                  <a:lnTo>
                    <a:pt x="8786" y="3125259"/>
                  </a:lnTo>
                  <a:lnTo>
                    <a:pt x="6487" y="3125259"/>
                  </a:lnTo>
                  <a:lnTo>
                    <a:pt x="6487" y="3129517"/>
                  </a:lnTo>
                  <a:lnTo>
                    <a:pt x="8786" y="3129517"/>
                  </a:lnTo>
                  <a:lnTo>
                    <a:pt x="8786" y="3131866"/>
                  </a:lnTo>
                  <a:lnTo>
                    <a:pt x="13574" y="3131866"/>
                  </a:lnTo>
                  <a:lnTo>
                    <a:pt x="15872" y="3129517"/>
                  </a:lnTo>
                  <a:lnTo>
                    <a:pt x="15872" y="3125259"/>
                  </a:lnTo>
                  <a:lnTo>
                    <a:pt x="13574" y="3122910"/>
                  </a:lnTo>
                  <a:close/>
                </a:path>
                <a:path w="34925" h="4246245">
                  <a:moveTo>
                    <a:pt x="15872" y="3056010"/>
                  </a:moveTo>
                  <a:lnTo>
                    <a:pt x="8786" y="3056010"/>
                  </a:lnTo>
                  <a:lnTo>
                    <a:pt x="6487" y="3058359"/>
                  </a:lnTo>
                  <a:lnTo>
                    <a:pt x="6487" y="3090405"/>
                  </a:lnTo>
                  <a:lnTo>
                    <a:pt x="8786" y="3092754"/>
                  </a:lnTo>
                  <a:lnTo>
                    <a:pt x="15872" y="3092754"/>
                  </a:lnTo>
                  <a:lnTo>
                    <a:pt x="15872" y="3056010"/>
                  </a:lnTo>
                  <a:close/>
                </a:path>
                <a:path w="34925" h="4246245">
                  <a:moveTo>
                    <a:pt x="13574" y="3016898"/>
                  </a:moveTo>
                  <a:lnTo>
                    <a:pt x="11275" y="3016898"/>
                  </a:lnTo>
                  <a:lnTo>
                    <a:pt x="8786" y="3019247"/>
                  </a:lnTo>
                  <a:lnTo>
                    <a:pt x="6487" y="3021615"/>
                  </a:lnTo>
                  <a:lnTo>
                    <a:pt x="8786" y="3023964"/>
                  </a:lnTo>
                  <a:lnTo>
                    <a:pt x="8786" y="3026313"/>
                  </a:lnTo>
                  <a:lnTo>
                    <a:pt x="15872" y="3026313"/>
                  </a:lnTo>
                  <a:lnTo>
                    <a:pt x="15872" y="3023964"/>
                  </a:lnTo>
                  <a:lnTo>
                    <a:pt x="18362" y="3021615"/>
                  </a:lnTo>
                  <a:lnTo>
                    <a:pt x="15872" y="3019247"/>
                  </a:lnTo>
                  <a:lnTo>
                    <a:pt x="13574" y="3016898"/>
                  </a:lnTo>
                  <a:close/>
                </a:path>
                <a:path w="34925" h="4246245">
                  <a:moveTo>
                    <a:pt x="13574" y="2987220"/>
                  </a:moveTo>
                  <a:lnTo>
                    <a:pt x="11275" y="2987220"/>
                  </a:lnTo>
                  <a:lnTo>
                    <a:pt x="13574" y="2989569"/>
                  </a:lnTo>
                  <a:lnTo>
                    <a:pt x="13574" y="2987220"/>
                  </a:lnTo>
                  <a:close/>
                </a:path>
                <a:path w="34925" h="4246245">
                  <a:moveTo>
                    <a:pt x="15872" y="2984852"/>
                  </a:moveTo>
                  <a:lnTo>
                    <a:pt x="8786" y="2984852"/>
                  </a:lnTo>
                  <a:lnTo>
                    <a:pt x="8786" y="2987220"/>
                  </a:lnTo>
                  <a:lnTo>
                    <a:pt x="15872" y="2987220"/>
                  </a:lnTo>
                  <a:lnTo>
                    <a:pt x="15872" y="2984852"/>
                  </a:lnTo>
                  <a:close/>
                </a:path>
                <a:path w="34925" h="4246245">
                  <a:moveTo>
                    <a:pt x="13574" y="2950456"/>
                  </a:moveTo>
                  <a:lnTo>
                    <a:pt x="11275" y="2950456"/>
                  </a:lnTo>
                  <a:lnTo>
                    <a:pt x="8786" y="2952825"/>
                  </a:lnTo>
                  <a:lnTo>
                    <a:pt x="8786" y="2955174"/>
                  </a:lnTo>
                  <a:lnTo>
                    <a:pt x="6487" y="2984852"/>
                  </a:lnTo>
                  <a:lnTo>
                    <a:pt x="18362" y="2984852"/>
                  </a:lnTo>
                  <a:lnTo>
                    <a:pt x="18362" y="2955174"/>
                  </a:lnTo>
                  <a:lnTo>
                    <a:pt x="15872" y="2952825"/>
                  </a:lnTo>
                  <a:lnTo>
                    <a:pt x="13574" y="2950456"/>
                  </a:lnTo>
                  <a:close/>
                </a:path>
                <a:path w="34925" h="4246245">
                  <a:moveTo>
                    <a:pt x="13574" y="2911344"/>
                  </a:moveTo>
                  <a:lnTo>
                    <a:pt x="11275" y="2911344"/>
                  </a:lnTo>
                  <a:lnTo>
                    <a:pt x="8786" y="2913712"/>
                  </a:lnTo>
                  <a:lnTo>
                    <a:pt x="8786" y="2920779"/>
                  </a:lnTo>
                  <a:lnTo>
                    <a:pt x="15872" y="2920779"/>
                  </a:lnTo>
                  <a:lnTo>
                    <a:pt x="18362" y="2918429"/>
                  </a:lnTo>
                  <a:lnTo>
                    <a:pt x="18362" y="2916061"/>
                  </a:lnTo>
                  <a:lnTo>
                    <a:pt x="15872" y="2913712"/>
                  </a:lnTo>
                  <a:lnTo>
                    <a:pt x="13574" y="2911344"/>
                  </a:lnTo>
                  <a:close/>
                </a:path>
                <a:path w="34925" h="4246245">
                  <a:moveTo>
                    <a:pt x="15872" y="2844922"/>
                  </a:moveTo>
                  <a:lnTo>
                    <a:pt x="11275" y="2844922"/>
                  </a:lnTo>
                  <a:lnTo>
                    <a:pt x="8786" y="2846794"/>
                  </a:lnTo>
                  <a:lnTo>
                    <a:pt x="8786" y="2881666"/>
                  </a:lnTo>
                  <a:lnTo>
                    <a:pt x="11275" y="2883557"/>
                  </a:lnTo>
                  <a:lnTo>
                    <a:pt x="15872" y="2883557"/>
                  </a:lnTo>
                  <a:lnTo>
                    <a:pt x="15872" y="2881666"/>
                  </a:lnTo>
                  <a:lnTo>
                    <a:pt x="18362" y="2881666"/>
                  </a:lnTo>
                  <a:lnTo>
                    <a:pt x="18362" y="2846794"/>
                  </a:lnTo>
                  <a:lnTo>
                    <a:pt x="15872" y="2846794"/>
                  </a:lnTo>
                  <a:lnTo>
                    <a:pt x="15872" y="2844922"/>
                  </a:lnTo>
                  <a:close/>
                </a:path>
                <a:path w="34925" h="4246245">
                  <a:moveTo>
                    <a:pt x="13574" y="2805810"/>
                  </a:moveTo>
                  <a:lnTo>
                    <a:pt x="11275" y="2808159"/>
                  </a:lnTo>
                  <a:lnTo>
                    <a:pt x="8786" y="2808159"/>
                  </a:lnTo>
                  <a:lnTo>
                    <a:pt x="8786" y="2814767"/>
                  </a:lnTo>
                  <a:lnTo>
                    <a:pt x="11275" y="2814767"/>
                  </a:lnTo>
                  <a:lnTo>
                    <a:pt x="13574" y="2817116"/>
                  </a:lnTo>
                  <a:lnTo>
                    <a:pt x="15872" y="2814767"/>
                  </a:lnTo>
                  <a:lnTo>
                    <a:pt x="18362" y="2812399"/>
                  </a:lnTo>
                  <a:lnTo>
                    <a:pt x="18362" y="2810049"/>
                  </a:lnTo>
                  <a:lnTo>
                    <a:pt x="15872" y="2808159"/>
                  </a:lnTo>
                  <a:lnTo>
                    <a:pt x="13574" y="2805810"/>
                  </a:lnTo>
                  <a:close/>
                </a:path>
                <a:path w="34925" h="4246245">
                  <a:moveTo>
                    <a:pt x="15872" y="2775654"/>
                  </a:moveTo>
                  <a:lnTo>
                    <a:pt x="11275" y="2775654"/>
                  </a:lnTo>
                  <a:lnTo>
                    <a:pt x="11275" y="2778003"/>
                  </a:lnTo>
                  <a:lnTo>
                    <a:pt x="15872" y="2778003"/>
                  </a:lnTo>
                  <a:lnTo>
                    <a:pt x="15872" y="2775654"/>
                  </a:lnTo>
                  <a:close/>
                </a:path>
                <a:path w="34925" h="4246245">
                  <a:moveTo>
                    <a:pt x="15872" y="2738910"/>
                  </a:moveTo>
                  <a:lnTo>
                    <a:pt x="11275" y="2738910"/>
                  </a:lnTo>
                  <a:lnTo>
                    <a:pt x="11275" y="2741259"/>
                  </a:lnTo>
                  <a:lnTo>
                    <a:pt x="8786" y="2743608"/>
                  </a:lnTo>
                  <a:lnTo>
                    <a:pt x="8786" y="2775654"/>
                  </a:lnTo>
                  <a:lnTo>
                    <a:pt x="18362" y="2775654"/>
                  </a:lnTo>
                  <a:lnTo>
                    <a:pt x="18362" y="2741259"/>
                  </a:lnTo>
                  <a:lnTo>
                    <a:pt x="15872" y="2738910"/>
                  </a:lnTo>
                  <a:close/>
                </a:path>
                <a:path w="34925" h="4246245">
                  <a:moveTo>
                    <a:pt x="18362" y="2702147"/>
                  </a:moveTo>
                  <a:lnTo>
                    <a:pt x="11275" y="2702147"/>
                  </a:lnTo>
                  <a:lnTo>
                    <a:pt x="8786" y="2704496"/>
                  </a:lnTo>
                  <a:lnTo>
                    <a:pt x="8786" y="2706864"/>
                  </a:lnTo>
                  <a:lnTo>
                    <a:pt x="11275" y="2709213"/>
                  </a:lnTo>
                  <a:lnTo>
                    <a:pt x="11275" y="2711581"/>
                  </a:lnTo>
                  <a:lnTo>
                    <a:pt x="15872" y="2711581"/>
                  </a:lnTo>
                  <a:lnTo>
                    <a:pt x="18362" y="2709213"/>
                  </a:lnTo>
                  <a:lnTo>
                    <a:pt x="18362" y="2702147"/>
                  </a:lnTo>
                  <a:close/>
                </a:path>
                <a:path w="34925" h="4246245">
                  <a:moveTo>
                    <a:pt x="18362" y="2635706"/>
                  </a:moveTo>
                  <a:lnTo>
                    <a:pt x="11275" y="2635706"/>
                  </a:lnTo>
                  <a:lnTo>
                    <a:pt x="8786" y="2638074"/>
                  </a:lnTo>
                  <a:lnTo>
                    <a:pt x="8786" y="2670101"/>
                  </a:lnTo>
                  <a:lnTo>
                    <a:pt x="11275" y="2670101"/>
                  </a:lnTo>
                  <a:lnTo>
                    <a:pt x="11275" y="2672469"/>
                  </a:lnTo>
                  <a:lnTo>
                    <a:pt x="15872" y="2672469"/>
                  </a:lnTo>
                  <a:lnTo>
                    <a:pt x="18362" y="2670101"/>
                  </a:lnTo>
                  <a:lnTo>
                    <a:pt x="18362" y="2635706"/>
                  </a:lnTo>
                  <a:close/>
                </a:path>
                <a:path w="34925" h="4246245">
                  <a:moveTo>
                    <a:pt x="13574" y="2633357"/>
                  </a:moveTo>
                  <a:lnTo>
                    <a:pt x="13574" y="2635706"/>
                  </a:lnTo>
                  <a:lnTo>
                    <a:pt x="15872" y="2635706"/>
                  </a:lnTo>
                  <a:lnTo>
                    <a:pt x="13574" y="2633357"/>
                  </a:lnTo>
                  <a:close/>
                </a:path>
                <a:path w="34925" h="4246245">
                  <a:moveTo>
                    <a:pt x="18362" y="2596612"/>
                  </a:moveTo>
                  <a:lnTo>
                    <a:pt x="11275" y="2596612"/>
                  </a:lnTo>
                  <a:lnTo>
                    <a:pt x="11275" y="2598962"/>
                  </a:lnTo>
                  <a:lnTo>
                    <a:pt x="8786" y="2601311"/>
                  </a:lnTo>
                  <a:lnTo>
                    <a:pt x="11275" y="2603201"/>
                  </a:lnTo>
                  <a:lnTo>
                    <a:pt x="13574" y="2605550"/>
                  </a:lnTo>
                  <a:lnTo>
                    <a:pt x="15872" y="2605550"/>
                  </a:lnTo>
                  <a:lnTo>
                    <a:pt x="18362" y="2603201"/>
                  </a:lnTo>
                  <a:lnTo>
                    <a:pt x="18362" y="2596612"/>
                  </a:lnTo>
                  <a:close/>
                </a:path>
                <a:path w="34925" h="4246245">
                  <a:moveTo>
                    <a:pt x="18362" y="2529694"/>
                  </a:moveTo>
                  <a:lnTo>
                    <a:pt x="11275" y="2529694"/>
                  </a:lnTo>
                  <a:lnTo>
                    <a:pt x="11275" y="2532062"/>
                  </a:lnTo>
                  <a:lnTo>
                    <a:pt x="8786" y="2534411"/>
                  </a:lnTo>
                  <a:lnTo>
                    <a:pt x="8786" y="2562217"/>
                  </a:lnTo>
                  <a:lnTo>
                    <a:pt x="11275" y="2564566"/>
                  </a:lnTo>
                  <a:lnTo>
                    <a:pt x="11275" y="2566457"/>
                  </a:lnTo>
                  <a:lnTo>
                    <a:pt x="18362" y="2566457"/>
                  </a:lnTo>
                  <a:lnTo>
                    <a:pt x="18362" y="2564566"/>
                  </a:lnTo>
                  <a:lnTo>
                    <a:pt x="20277" y="2562217"/>
                  </a:lnTo>
                  <a:lnTo>
                    <a:pt x="20277" y="2534411"/>
                  </a:lnTo>
                  <a:lnTo>
                    <a:pt x="18362" y="2532062"/>
                  </a:lnTo>
                  <a:lnTo>
                    <a:pt x="18362" y="2529694"/>
                  </a:lnTo>
                  <a:close/>
                </a:path>
                <a:path w="34925" h="4246245">
                  <a:moveTo>
                    <a:pt x="15872" y="2490582"/>
                  </a:moveTo>
                  <a:lnTo>
                    <a:pt x="13574" y="2490582"/>
                  </a:lnTo>
                  <a:lnTo>
                    <a:pt x="11275" y="2492950"/>
                  </a:lnTo>
                  <a:lnTo>
                    <a:pt x="11275" y="2497667"/>
                  </a:lnTo>
                  <a:lnTo>
                    <a:pt x="13574" y="2500016"/>
                  </a:lnTo>
                  <a:lnTo>
                    <a:pt x="15872" y="2500016"/>
                  </a:lnTo>
                  <a:lnTo>
                    <a:pt x="18362" y="2497667"/>
                  </a:lnTo>
                  <a:lnTo>
                    <a:pt x="20277" y="2497667"/>
                  </a:lnTo>
                  <a:lnTo>
                    <a:pt x="20277" y="2492950"/>
                  </a:lnTo>
                  <a:lnTo>
                    <a:pt x="18362" y="2492950"/>
                  </a:lnTo>
                  <a:lnTo>
                    <a:pt x="15872" y="2490582"/>
                  </a:lnTo>
                  <a:close/>
                </a:path>
                <a:path w="34925" h="4246245">
                  <a:moveTo>
                    <a:pt x="18362" y="2424159"/>
                  </a:moveTo>
                  <a:lnTo>
                    <a:pt x="11275" y="2424159"/>
                  </a:lnTo>
                  <a:lnTo>
                    <a:pt x="11275" y="2460904"/>
                  </a:lnTo>
                  <a:lnTo>
                    <a:pt x="18362" y="2460904"/>
                  </a:lnTo>
                  <a:lnTo>
                    <a:pt x="20277" y="2458555"/>
                  </a:lnTo>
                  <a:lnTo>
                    <a:pt x="20277" y="2426508"/>
                  </a:lnTo>
                  <a:lnTo>
                    <a:pt x="18362" y="2424159"/>
                  </a:lnTo>
                  <a:close/>
                </a:path>
                <a:path w="34925" h="4246245">
                  <a:moveTo>
                    <a:pt x="18362" y="2385047"/>
                  </a:moveTo>
                  <a:lnTo>
                    <a:pt x="13574" y="2385047"/>
                  </a:lnTo>
                  <a:lnTo>
                    <a:pt x="11275" y="2387396"/>
                  </a:lnTo>
                  <a:lnTo>
                    <a:pt x="11275" y="2394462"/>
                  </a:lnTo>
                  <a:lnTo>
                    <a:pt x="18362" y="2394462"/>
                  </a:lnTo>
                  <a:lnTo>
                    <a:pt x="20277" y="2392113"/>
                  </a:lnTo>
                  <a:lnTo>
                    <a:pt x="20277" y="2387396"/>
                  </a:lnTo>
                  <a:lnTo>
                    <a:pt x="18362" y="2387396"/>
                  </a:lnTo>
                  <a:lnTo>
                    <a:pt x="18362" y="2385047"/>
                  </a:lnTo>
                  <a:close/>
                </a:path>
                <a:path w="34925" h="4246245">
                  <a:moveTo>
                    <a:pt x="18362" y="2318663"/>
                  </a:moveTo>
                  <a:lnTo>
                    <a:pt x="13574" y="2318663"/>
                  </a:lnTo>
                  <a:lnTo>
                    <a:pt x="13574" y="2320955"/>
                  </a:lnTo>
                  <a:lnTo>
                    <a:pt x="11275" y="2320955"/>
                  </a:lnTo>
                  <a:lnTo>
                    <a:pt x="11275" y="2353001"/>
                  </a:lnTo>
                  <a:lnTo>
                    <a:pt x="15872" y="2357718"/>
                  </a:lnTo>
                  <a:lnTo>
                    <a:pt x="18362" y="2355369"/>
                  </a:lnTo>
                  <a:lnTo>
                    <a:pt x="20277" y="2353001"/>
                  </a:lnTo>
                  <a:lnTo>
                    <a:pt x="20277" y="2320955"/>
                  </a:lnTo>
                  <a:lnTo>
                    <a:pt x="18362" y="2318663"/>
                  </a:lnTo>
                  <a:close/>
                </a:path>
                <a:path w="34925" h="4246245">
                  <a:moveTo>
                    <a:pt x="18362" y="2279513"/>
                  </a:moveTo>
                  <a:lnTo>
                    <a:pt x="13574" y="2279513"/>
                  </a:lnTo>
                  <a:lnTo>
                    <a:pt x="13574" y="2281804"/>
                  </a:lnTo>
                  <a:lnTo>
                    <a:pt x="11275" y="2284287"/>
                  </a:lnTo>
                  <a:lnTo>
                    <a:pt x="11275" y="2286006"/>
                  </a:lnTo>
                  <a:lnTo>
                    <a:pt x="13574" y="2288489"/>
                  </a:lnTo>
                  <a:lnTo>
                    <a:pt x="20277" y="2288489"/>
                  </a:lnTo>
                  <a:lnTo>
                    <a:pt x="20277" y="2281804"/>
                  </a:lnTo>
                  <a:lnTo>
                    <a:pt x="18362" y="2279513"/>
                  </a:lnTo>
                  <a:close/>
                </a:path>
                <a:path w="34925" h="4246245">
                  <a:moveTo>
                    <a:pt x="18362" y="2212670"/>
                  </a:moveTo>
                  <a:lnTo>
                    <a:pt x="15872" y="2212670"/>
                  </a:lnTo>
                  <a:lnTo>
                    <a:pt x="13574" y="2214962"/>
                  </a:lnTo>
                  <a:lnTo>
                    <a:pt x="11275" y="2214962"/>
                  </a:lnTo>
                  <a:lnTo>
                    <a:pt x="11275" y="2247428"/>
                  </a:lnTo>
                  <a:lnTo>
                    <a:pt x="13574" y="2249338"/>
                  </a:lnTo>
                  <a:lnTo>
                    <a:pt x="13574" y="2251630"/>
                  </a:lnTo>
                  <a:lnTo>
                    <a:pt x="18362" y="2251630"/>
                  </a:lnTo>
                  <a:lnTo>
                    <a:pt x="20277" y="2249338"/>
                  </a:lnTo>
                  <a:lnTo>
                    <a:pt x="20277" y="2214962"/>
                  </a:lnTo>
                  <a:lnTo>
                    <a:pt x="18362" y="2212670"/>
                  </a:lnTo>
                  <a:close/>
                </a:path>
                <a:path w="34925" h="4246245">
                  <a:moveTo>
                    <a:pt x="18362" y="2182878"/>
                  </a:moveTo>
                  <a:lnTo>
                    <a:pt x="15872" y="2182878"/>
                  </a:lnTo>
                  <a:lnTo>
                    <a:pt x="15872" y="2185361"/>
                  </a:lnTo>
                  <a:lnTo>
                    <a:pt x="18362" y="2182878"/>
                  </a:lnTo>
                  <a:close/>
                </a:path>
                <a:path w="34925" h="4246245">
                  <a:moveTo>
                    <a:pt x="20277" y="2175812"/>
                  </a:moveTo>
                  <a:lnTo>
                    <a:pt x="13574" y="2175812"/>
                  </a:lnTo>
                  <a:lnTo>
                    <a:pt x="13574" y="2178103"/>
                  </a:lnTo>
                  <a:lnTo>
                    <a:pt x="11275" y="2178103"/>
                  </a:lnTo>
                  <a:lnTo>
                    <a:pt x="13574" y="2180586"/>
                  </a:lnTo>
                  <a:lnTo>
                    <a:pt x="13574" y="2182878"/>
                  </a:lnTo>
                  <a:lnTo>
                    <a:pt x="20277" y="2182878"/>
                  </a:lnTo>
                  <a:lnTo>
                    <a:pt x="20277" y="2175812"/>
                  </a:lnTo>
                  <a:close/>
                </a:path>
                <a:path w="34925" h="4246245">
                  <a:moveTo>
                    <a:pt x="15872" y="2173520"/>
                  </a:moveTo>
                  <a:lnTo>
                    <a:pt x="15872" y="2175812"/>
                  </a:lnTo>
                  <a:lnTo>
                    <a:pt x="18362" y="2175812"/>
                  </a:lnTo>
                  <a:lnTo>
                    <a:pt x="15872" y="2173520"/>
                  </a:lnTo>
                  <a:close/>
                </a:path>
                <a:path w="34925" h="4246245">
                  <a:moveTo>
                    <a:pt x="18362" y="2107060"/>
                  </a:moveTo>
                  <a:lnTo>
                    <a:pt x="15872" y="2107060"/>
                  </a:lnTo>
                  <a:lnTo>
                    <a:pt x="13574" y="2109351"/>
                  </a:lnTo>
                  <a:lnTo>
                    <a:pt x="11275" y="2111834"/>
                  </a:lnTo>
                  <a:lnTo>
                    <a:pt x="11275" y="2141436"/>
                  </a:lnTo>
                  <a:lnTo>
                    <a:pt x="13574" y="2143727"/>
                  </a:lnTo>
                  <a:lnTo>
                    <a:pt x="15872" y="2146210"/>
                  </a:lnTo>
                  <a:lnTo>
                    <a:pt x="18362" y="2146210"/>
                  </a:lnTo>
                  <a:lnTo>
                    <a:pt x="20277" y="2143727"/>
                  </a:lnTo>
                  <a:lnTo>
                    <a:pt x="22575" y="2141436"/>
                  </a:lnTo>
                  <a:lnTo>
                    <a:pt x="22575" y="2111834"/>
                  </a:lnTo>
                  <a:lnTo>
                    <a:pt x="20277" y="2111834"/>
                  </a:lnTo>
                  <a:lnTo>
                    <a:pt x="20277" y="2109351"/>
                  </a:lnTo>
                  <a:lnTo>
                    <a:pt x="18362" y="2107060"/>
                  </a:lnTo>
                  <a:close/>
                </a:path>
                <a:path w="34925" h="4246245">
                  <a:moveTo>
                    <a:pt x="20277" y="2070392"/>
                  </a:moveTo>
                  <a:lnTo>
                    <a:pt x="13574" y="2070392"/>
                  </a:lnTo>
                  <a:lnTo>
                    <a:pt x="13574" y="2077458"/>
                  </a:lnTo>
                  <a:lnTo>
                    <a:pt x="15872" y="2079177"/>
                  </a:lnTo>
                  <a:lnTo>
                    <a:pt x="18362" y="2079177"/>
                  </a:lnTo>
                  <a:lnTo>
                    <a:pt x="20277" y="2077458"/>
                  </a:lnTo>
                  <a:lnTo>
                    <a:pt x="22575" y="2074975"/>
                  </a:lnTo>
                  <a:lnTo>
                    <a:pt x="22575" y="2072684"/>
                  </a:lnTo>
                  <a:lnTo>
                    <a:pt x="20277" y="2070392"/>
                  </a:lnTo>
                  <a:close/>
                </a:path>
                <a:path w="34925" h="4246245">
                  <a:moveTo>
                    <a:pt x="18362" y="2001449"/>
                  </a:moveTo>
                  <a:lnTo>
                    <a:pt x="15872" y="2003931"/>
                  </a:lnTo>
                  <a:lnTo>
                    <a:pt x="13574" y="2003931"/>
                  </a:lnTo>
                  <a:lnTo>
                    <a:pt x="13574" y="2038307"/>
                  </a:lnTo>
                  <a:lnTo>
                    <a:pt x="15872" y="2040599"/>
                  </a:lnTo>
                  <a:lnTo>
                    <a:pt x="20277" y="2040599"/>
                  </a:lnTo>
                  <a:lnTo>
                    <a:pt x="20277" y="2038307"/>
                  </a:lnTo>
                  <a:lnTo>
                    <a:pt x="22575" y="2038307"/>
                  </a:lnTo>
                  <a:lnTo>
                    <a:pt x="22575" y="2005841"/>
                  </a:lnTo>
                  <a:lnTo>
                    <a:pt x="20277" y="2003931"/>
                  </a:lnTo>
                  <a:lnTo>
                    <a:pt x="18362" y="2001449"/>
                  </a:lnTo>
                  <a:close/>
                </a:path>
                <a:path w="34925" h="4246245">
                  <a:moveTo>
                    <a:pt x="20277" y="1964781"/>
                  </a:moveTo>
                  <a:lnTo>
                    <a:pt x="13574" y="1964781"/>
                  </a:lnTo>
                  <a:lnTo>
                    <a:pt x="13574" y="1971274"/>
                  </a:lnTo>
                  <a:lnTo>
                    <a:pt x="15872" y="1973757"/>
                  </a:lnTo>
                  <a:lnTo>
                    <a:pt x="20277" y="1973757"/>
                  </a:lnTo>
                  <a:lnTo>
                    <a:pt x="20277" y="1971274"/>
                  </a:lnTo>
                  <a:lnTo>
                    <a:pt x="22575" y="1971274"/>
                  </a:lnTo>
                  <a:lnTo>
                    <a:pt x="22575" y="1966691"/>
                  </a:lnTo>
                  <a:lnTo>
                    <a:pt x="20277" y="1964781"/>
                  </a:lnTo>
                  <a:close/>
                </a:path>
                <a:path w="34925" h="4246245">
                  <a:moveTo>
                    <a:pt x="22575" y="1897939"/>
                  </a:moveTo>
                  <a:lnTo>
                    <a:pt x="15872" y="1897939"/>
                  </a:lnTo>
                  <a:lnTo>
                    <a:pt x="13574" y="1900230"/>
                  </a:lnTo>
                  <a:lnTo>
                    <a:pt x="13574" y="1932315"/>
                  </a:lnTo>
                  <a:lnTo>
                    <a:pt x="15872" y="1934606"/>
                  </a:lnTo>
                  <a:lnTo>
                    <a:pt x="20277" y="1934606"/>
                  </a:lnTo>
                  <a:lnTo>
                    <a:pt x="22575" y="1932315"/>
                  </a:lnTo>
                  <a:lnTo>
                    <a:pt x="22575" y="1897939"/>
                  </a:lnTo>
                  <a:close/>
                </a:path>
                <a:path w="34925" h="4246245">
                  <a:moveTo>
                    <a:pt x="20277" y="1858788"/>
                  </a:moveTo>
                  <a:lnTo>
                    <a:pt x="15872" y="1858788"/>
                  </a:lnTo>
                  <a:lnTo>
                    <a:pt x="15872" y="1861080"/>
                  </a:lnTo>
                  <a:lnTo>
                    <a:pt x="13574" y="1861080"/>
                  </a:lnTo>
                  <a:lnTo>
                    <a:pt x="13574" y="1865854"/>
                  </a:lnTo>
                  <a:lnTo>
                    <a:pt x="15872" y="1865854"/>
                  </a:lnTo>
                  <a:lnTo>
                    <a:pt x="15872" y="1868146"/>
                  </a:lnTo>
                  <a:lnTo>
                    <a:pt x="20277" y="1868146"/>
                  </a:lnTo>
                  <a:lnTo>
                    <a:pt x="22575" y="1865854"/>
                  </a:lnTo>
                  <a:lnTo>
                    <a:pt x="22575" y="1861080"/>
                  </a:lnTo>
                  <a:lnTo>
                    <a:pt x="20277" y="1858788"/>
                  </a:lnTo>
                  <a:close/>
                </a:path>
                <a:path w="34925" h="4246245">
                  <a:moveTo>
                    <a:pt x="22575" y="1792328"/>
                  </a:moveTo>
                  <a:lnTo>
                    <a:pt x="15872" y="1792328"/>
                  </a:lnTo>
                  <a:lnTo>
                    <a:pt x="13574" y="1794620"/>
                  </a:lnTo>
                  <a:lnTo>
                    <a:pt x="13574" y="1826704"/>
                  </a:lnTo>
                  <a:lnTo>
                    <a:pt x="15872" y="1828996"/>
                  </a:lnTo>
                  <a:lnTo>
                    <a:pt x="22575" y="1828996"/>
                  </a:lnTo>
                  <a:lnTo>
                    <a:pt x="22575" y="1792328"/>
                  </a:lnTo>
                  <a:close/>
                </a:path>
                <a:path w="34925" h="4246245">
                  <a:moveTo>
                    <a:pt x="20277" y="1753177"/>
                  </a:moveTo>
                  <a:lnTo>
                    <a:pt x="18362" y="1753177"/>
                  </a:lnTo>
                  <a:lnTo>
                    <a:pt x="15872" y="1755469"/>
                  </a:lnTo>
                  <a:lnTo>
                    <a:pt x="13574" y="1755469"/>
                  </a:lnTo>
                  <a:lnTo>
                    <a:pt x="13574" y="1760244"/>
                  </a:lnTo>
                  <a:lnTo>
                    <a:pt x="15872" y="1762153"/>
                  </a:lnTo>
                  <a:lnTo>
                    <a:pt x="22575" y="1762153"/>
                  </a:lnTo>
                  <a:lnTo>
                    <a:pt x="22575" y="1755469"/>
                  </a:lnTo>
                  <a:lnTo>
                    <a:pt x="20277" y="1753177"/>
                  </a:lnTo>
                  <a:close/>
                </a:path>
                <a:path w="34925" h="4246245">
                  <a:moveTo>
                    <a:pt x="20277" y="1723576"/>
                  </a:moveTo>
                  <a:lnTo>
                    <a:pt x="18362" y="1723576"/>
                  </a:lnTo>
                  <a:lnTo>
                    <a:pt x="18362" y="1725486"/>
                  </a:lnTo>
                  <a:lnTo>
                    <a:pt x="20277" y="1723576"/>
                  </a:lnTo>
                  <a:close/>
                </a:path>
                <a:path w="34925" h="4246245">
                  <a:moveTo>
                    <a:pt x="20277" y="1686335"/>
                  </a:moveTo>
                  <a:lnTo>
                    <a:pt x="15872" y="1686335"/>
                  </a:lnTo>
                  <a:lnTo>
                    <a:pt x="15872" y="1688627"/>
                  </a:lnTo>
                  <a:lnTo>
                    <a:pt x="13574" y="1690919"/>
                  </a:lnTo>
                  <a:lnTo>
                    <a:pt x="13574" y="1718801"/>
                  </a:lnTo>
                  <a:lnTo>
                    <a:pt x="15872" y="1721093"/>
                  </a:lnTo>
                  <a:lnTo>
                    <a:pt x="15872" y="1723576"/>
                  </a:lnTo>
                  <a:lnTo>
                    <a:pt x="22575" y="1723576"/>
                  </a:lnTo>
                  <a:lnTo>
                    <a:pt x="22575" y="1721093"/>
                  </a:lnTo>
                  <a:lnTo>
                    <a:pt x="24873" y="1718801"/>
                  </a:lnTo>
                  <a:lnTo>
                    <a:pt x="24873" y="1690919"/>
                  </a:lnTo>
                  <a:lnTo>
                    <a:pt x="20277" y="1686335"/>
                  </a:lnTo>
                  <a:close/>
                </a:path>
                <a:path w="34925" h="4246245">
                  <a:moveTo>
                    <a:pt x="20277" y="1647567"/>
                  </a:moveTo>
                  <a:lnTo>
                    <a:pt x="18362" y="1647567"/>
                  </a:lnTo>
                  <a:lnTo>
                    <a:pt x="15872" y="1649476"/>
                  </a:lnTo>
                  <a:lnTo>
                    <a:pt x="15872" y="1656542"/>
                  </a:lnTo>
                  <a:lnTo>
                    <a:pt x="22575" y="1656542"/>
                  </a:lnTo>
                  <a:lnTo>
                    <a:pt x="24873" y="1654251"/>
                  </a:lnTo>
                  <a:lnTo>
                    <a:pt x="24873" y="1649476"/>
                  </a:lnTo>
                  <a:lnTo>
                    <a:pt x="22575" y="1649476"/>
                  </a:lnTo>
                  <a:lnTo>
                    <a:pt x="20277" y="1647567"/>
                  </a:lnTo>
                  <a:close/>
                </a:path>
                <a:path w="34925" h="4246245">
                  <a:moveTo>
                    <a:pt x="22575" y="1580724"/>
                  </a:moveTo>
                  <a:lnTo>
                    <a:pt x="18362" y="1580724"/>
                  </a:lnTo>
                  <a:lnTo>
                    <a:pt x="15872" y="1583016"/>
                  </a:lnTo>
                  <a:lnTo>
                    <a:pt x="15872" y="1617583"/>
                  </a:lnTo>
                  <a:lnTo>
                    <a:pt x="18362" y="1619875"/>
                  </a:lnTo>
                  <a:lnTo>
                    <a:pt x="22575" y="1619875"/>
                  </a:lnTo>
                  <a:lnTo>
                    <a:pt x="22575" y="1617583"/>
                  </a:lnTo>
                  <a:lnTo>
                    <a:pt x="24873" y="1615100"/>
                  </a:lnTo>
                  <a:lnTo>
                    <a:pt x="24873" y="1583016"/>
                  </a:lnTo>
                  <a:lnTo>
                    <a:pt x="22575" y="1583016"/>
                  </a:lnTo>
                  <a:lnTo>
                    <a:pt x="22575" y="1580724"/>
                  </a:lnTo>
                  <a:close/>
                </a:path>
                <a:path w="34925" h="4246245">
                  <a:moveTo>
                    <a:pt x="20277" y="1541574"/>
                  </a:moveTo>
                  <a:lnTo>
                    <a:pt x="18362" y="1544056"/>
                  </a:lnTo>
                  <a:lnTo>
                    <a:pt x="15872" y="1544056"/>
                  </a:lnTo>
                  <a:lnTo>
                    <a:pt x="15872" y="1551123"/>
                  </a:lnTo>
                  <a:lnTo>
                    <a:pt x="18362" y="1551123"/>
                  </a:lnTo>
                  <a:lnTo>
                    <a:pt x="20277" y="1553414"/>
                  </a:lnTo>
                  <a:lnTo>
                    <a:pt x="22575" y="1551123"/>
                  </a:lnTo>
                  <a:lnTo>
                    <a:pt x="24873" y="1548640"/>
                  </a:lnTo>
                  <a:lnTo>
                    <a:pt x="24873" y="1546348"/>
                  </a:lnTo>
                  <a:lnTo>
                    <a:pt x="22575" y="1544056"/>
                  </a:lnTo>
                  <a:lnTo>
                    <a:pt x="20277" y="1541574"/>
                  </a:lnTo>
                  <a:close/>
                </a:path>
                <a:path w="34925" h="4246245">
                  <a:moveTo>
                    <a:pt x="22575" y="1475113"/>
                  </a:moveTo>
                  <a:lnTo>
                    <a:pt x="18362" y="1475113"/>
                  </a:lnTo>
                  <a:lnTo>
                    <a:pt x="18362" y="1477596"/>
                  </a:lnTo>
                  <a:lnTo>
                    <a:pt x="15872" y="1477596"/>
                  </a:lnTo>
                  <a:lnTo>
                    <a:pt x="15872" y="1511972"/>
                  </a:lnTo>
                  <a:lnTo>
                    <a:pt x="18362" y="1514264"/>
                  </a:lnTo>
                  <a:lnTo>
                    <a:pt x="22575" y="1514264"/>
                  </a:lnTo>
                  <a:lnTo>
                    <a:pt x="22575" y="1511972"/>
                  </a:lnTo>
                  <a:lnTo>
                    <a:pt x="24873" y="1511972"/>
                  </a:lnTo>
                  <a:lnTo>
                    <a:pt x="24873" y="1477596"/>
                  </a:lnTo>
                  <a:lnTo>
                    <a:pt x="22575" y="1475113"/>
                  </a:lnTo>
                  <a:close/>
                </a:path>
                <a:path w="34925" h="4246245">
                  <a:moveTo>
                    <a:pt x="24873" y="1438446"/>
                  </a:moveTo>
                  <a:lnTo>
                    <a:pt x="18362" y="1438446"/>
                  </a:lnTo>
                  <a:lnTo>
                    <a:pt x="15872" y="1440737"/>
                  </a:lnTo>
                  <a:lnTo>
                    <a:pt x="15872" y="1443220"/>
                  </a:lnTo>
                  <a:lnTo>
                    <a:pt x="18362" y="1445130"/>
                  </a:lnTo>
                  <a:lnTo>
                    <a:pt x="18362" y="1447422"/>
                  </a:lnTo>
                  <a:lnTo>
                    <a:pt x="22575" y="1447422"/>
                  </a:lnTo>
                  <a:lnTo>
                    <a:pt x="24873" y="1445130"/>
                  </a:lnTo>
                  <a:lnTo>
                    <a:pt x="24873" y="1438446"/>
                  </a:lnTo>
                  <a:close/>
                </a:path>
                <a:path w="34925" h="4246245">
                  <a:moveTo>
                    <a:pt x="20277" y="1369121"/>
                  </a:moveTo>
                  <a:lnTo>
                    <a:pt x="18362" y="1371603"/>
                  </a:lnTo>
                  <a:lnTo>
                    <a:pt x="15872" y="1373895"/>
                  </a:lnTo>
                  <a:lnTo>
                    <a:pt x="15872" y="1405979"/>
                  </a:lnTo>
                  <a:lnTo>
                    <a:pt x="18362" y="1405979"/>
                  </a:lnTo>
                  <a:lnTo>
                    <a:pt x="18362" y="1408271"/>
                  </a:lnTo>
                  <a:lnTo>
                    <a:pt x="22575" y="1408271"/>
                  </a:lnTo>
                  <a:lnTo>
                    <a:pt x="24873" y="1405979"/>
                  </a:lnTo>
                  <a:lnTo>
                    <a:pt x="24873" y="1371603"/>
                  </a:lnTo>
                  <a:lnTo>
                    <a:pt x="22575" y="1371603"/>
                  </a:lnTo>
                  <a:lnTo>
                    <a:pt x="20277" y="1369121"/>
                  </a:lnTo>
                  <a:close/>
                </a:path>
                <a:path w="34925" h="4246245">
                  <a:moveTo>
                    <a:pt x="24873" y="1332453"/>
                  </a:moveTo>
                  <a:lnTo>
                    <a:pt x="18362" y="1332453"/>
                  </a:lnTo>
                  <a:lnTo>
                    <a:pt x="15872" y="1334745"/>
                  </a:lnTo>
                  <a:lnTo>
                    <a:pt x="15872" y="1339519"/>
                  </a:lnTo>
                  <a:lnTo>
                    <a:pt x="18362" y="1339519"/>
                  </a:lnTo>
                  <a:lnTo>
                    <a:pt x="20277" y="1341811"/>
                  </a:lnTo>
                  <a:lnTo>
                    <a:pt x="22575" y="1341811"/>
                  </a:lnTo>
                  <a:lnTo>
                    <a:pt x="24873" y="1339519"/>
                  </a:lnTo>
                  <a:lnTo>
                    <a:pt x="24873" y="1332453"/>
                  </a:lnTo>
                  <a:close/>
                </a:path>
                <a:path w="34925" h="4246245">
                  <a:moveTo>
                    <a:pt x="24873" y="1265993"/>
                  </a:moveTo>
                  <a:lnTo>
                    <a:pt x="18362" y="1265993"/>
                  </a:lnTo>
                  <a:lnTo>
                    <a:pt x="18362" y="1268284"/>
                  </a:lnTo>
                  <a:lnTo>
                    <a:pt x="15872" y="1270767"/>
                  </a:lnTo>
                  <a:lnTo>
                    <a:pt x="15872" y="1298077"/>
                  </a:lnTo>
                  <a:lnTo>
                    <a:pt x="18362" y="1300369"/>
                  </a:lnTo>
                  <a:lnTo>
                    <a:pt x="18362" y="1302660"/>
                  </a:lnTo>
                  <a:lnTo>
                    <a:pt x="24873" y="1302660"/>
                  </a:lnTo>
                  <a:lnTo>
                    <a:pt x="24873" y="1300369"/>
                  </a:lnTo>
                  <a:lnTo>
                    <a:pt x="27363" y="1298077"/>
                  </a:lnTo>
                  <a:lnTo>
                    <a:pt x="27363" y="1270767"/>
                  </a:lnTo>
                  <a:lnTo>
                    <a:pt x="24873" y="1268284"/>
                  </a:lnTo>
                  <a:lnTo>
                    <a:pt x="24873" y="1265993"/>
                  </a:lnTo>
                  <a:close/>
                </a:path>
                <a:path w="34925" h="4246245">
                  <a:moveTo>
                    <a:pt x="24873" y="1226842"/>
                  </a:moveTo>
                  <a:lnTo>
                    <a:pt x="18362" y="1226842"/>
                  </a:lnTo>
                  <a:lnTo>
                    <a:pt x="18362" y="1233908"/>
                  </a:lnTo>
                  <a:lnTo>
                    <a:pt x="20277" y="1236391"/>
                  </a:lnTo>
                  <a:lnTo>
                    <a:pt x="22575" y="1236391"/>
                  </a:lnTo>
                  <a:lnTo>
                    <a:pt x="24873" y="1233908"/>
                  </a:lnTo>
                  <a:lnTo>
                    <a:pt x="27363" y="1233908"/>
                  </a:lnTo>
                  <a:lnTo>
                    <a:pt x="27363" y="1229325"/>
                  </a:lnTo>
                  <a:lnTo>
                    <a:pt x="24873" y="1226842"/>
                  </a:lnTo>
                  <a:close/>
                </a:path>
                <a:path w="34925" h="4246245">
                  <a:moveTo>
                    <a:pt x="24873" y="1160382"/>
                  </a:moveTo>
                  <a:lnTo>
                    <a:pt x="18362" y="1160382"/>
                  </a:lnTo>
                  <a:lnTo>
                    <a:pt x="18362" y="1197240"/>
                  </a:lnTo>
                  <a:lnTo>
                    <a:pt x="24873" y="1197240"/>
                  </a:lnTo>
                  <a:lnTo>
                    <a:pt x="27363" y="1194758"/>
                  </a:lnTo>
                  <a:lnTo>
                    <a:pt x="27363" y="1162291"/>
                  </a:lnTo>
                  <a:lnTo>
                    <a:pt x="24873" y="1160382"/>
                  </a:lnTo>
                  <a:close/>
                </a:path>
                <a:path w="34925" h="4246245">
                  <a:moveTo>
                    <a:pt x="24873" y="1121422"/>
                  </a:moveTo>
                  <a:lnTo>
                    <a:pt x="20277" y="1121422"/>
                  </a:lnTo>
                  <a:lnTo>
                    <a:pt x="18362" y="1123714"/>
                  </a:lnTo>
                  <a:lnTo>
                    <a:pt x="18362" y="1130207"/>
                  </a:lnTo>
                  <a:lnTo>
                    <a:pt x="24873" y="1130207"/>
                  </a:lnTo>
                  <a:lnTo>
                    <a:pt x="27363" y="1127915"/>
                  </a:lnTo>
                  <a:lnTo>
                    <a:pt x="27363" y="1123714"/>
                  </a:lnTo>
                  <a:lnTo>
                    <a:pt x="24873" y="1123714"/>
                  </a:lnTo>
                  <a:lnTo>
                    <a:pt x="24873" y="1121422"/>
                  </a:lnTo>
                  <a:close/>
                </a:path>
                <a:path w="34925" h="4246245">
                  <a:moveTo>
                    <a:pt x="24873" y="1054389"/>
                  </a:moveTo>
                  <a:lnTo>
                    <a:pt x="20277" y="1054389"/>
                  </a:lnTo>
                  <a:lnTo>
                    <a:pt x="18362" y="1056872"/>
                  </a:lnTo>
                  <a:lnTo>
                    <a:pt x="18362" y="1091248"/>
                  </a:lnTo>
                  <a:lnTo>
                    <a:pt x="20277" y="1091248"/>
                  </a:lnTo>
                  <a:lnTo>
                    <a:pt x="22575" y="1093539"/>
                  </a:lnTo>
                  <a:lnTo>
                    <a:pt x="27363" y="1088765"/>
                  </a:lnTo>
                  <a:lnTo>
                    <a:pt x="27363" y="1056872"/>
                  </a:lnTo>
                  <a:lnTo>
                    <a:pt x="24873" y="1054389"/>
                  </a:lnTo>
                  <a:close/>
                </a:path>
                <a:path w="34925" h="4246245">
                  <a:moveTo>
                    <a:pt x="24873" y="1015238"/>
                  </a:moveTo>
                  <a:lnTo>
                    <a:pt x="20277" y="1015238"/>
                  </a:lnTo>
                  <a:lnTo>
                    <a:pt x="20277" y="1017721"/>
                  </a:lnTo>
                  <a:lnTo>
                    <a:pt x="18362" y="1017721"/>
                  </a:lnTo>
                  <a:lnTo>
                    <a:pt x="18362" y="1022305"/>
                  </a:lnTo>
                  <a:lnTo>
                    <a:pt x="20277" y="1024787"/>
                  </a:lnTo>
                  <a:lnTo>
                    <a:pt x="27363" y="1024787"/>
                  </a:lnTo>
                  <a:lnTo>
                    <a:pt x="27363" y="1017721"/>
                  </a:lnTo>
                  <a:lnTo>
                    <a:pt x="24873" y="1015238"/>
                  </a:lnTo>
                  <a:close/>
                </a:path>
                <a:path w="34925" h="4246245">
                  <a:moveTo>
                    <a:pt x="24873" y="948969"/>
                  </a:moveTo>
                  <a:lnTo>
                    <a:pt x="20277" y="948969"/>
                  </a:lnTo>
                  <a:lnTo>
                    <a:pt x="20277" y="951261"/>
                  </a:lnTo>
                  <a:lnTo>
                    <a:pt x="18362" y="951261"/>
                  </a:lnTo>
                  <a:lnTo>
                    <a:pt x="18362" y="983345"/>
                  </a:lnTo>
                  <a:lnTo>
                    <a:pt x="20277" y="985637"/>
                  </a:lnTo>
                  <a:lnTo>
                    <a:pt x="20277" y="987929"/>
                  </a:lnTo>
                  <a:lnTo>
                    <a:pt x="24873" y="987929"/>
                  </a:lnTo>
                  <a:lnTo>
                    <a:pt x="27363" y="985637"/>
                  </a:lnTo>
                  <a:lnTo>
                    <a:pt x="27363" y="951261"/>
                  </a:lnTo>
                  <a:lnTo>
                    <a:pt x="24873" y="948969"/>
                  </a:lnTo>
                  <a:close/>
                </a:path>
                <a:path w="34925" h="4246245">
                  <a:moveTo>
                    <a:pt x="24873" y="919177"/>
                  </a:moveTo>
                  <a:lnTo>
                    <a:pt x="22575" y="919177"/>
                  </a:lnTo>
                  <a:lnTo>
                    <a:pt x="22575" y="921086"/>
                  </a:lnTo>
                  <a:lnTo>
                    <a:pt x="24873" y="919177"/>
                  </a:lnTo>
                  <a:close/>
                </a:path>
                <a:path w="34925" h="4246245">
                  <a:moveTo>
                    <a:pt x="27363" y="912110"/>
                  </a:moveTo>
                  <a:lnTo>
                    <a:pt x="20277" y="912110"/>
                  </a:lnTo>
                  <a:lnTo>
                    <a:pt x="18362" y="914402"/>
                  </a:lnTo>
                  <a:lnTo>
                    <a:pt x="18362" y="916885"/>
                  </a:lnTo>
                  <a:lnTo>
                    <a:pt x="20277" y="919177"/>
                  </a:lnTo>
                  <a:lnTo>
                    <a:pt x="27363" y="919177"/>
                  </a:lnTo>
                  <a:lnTo>
                    <a:pt x="27363" y="912110"/>
                  </a:lnTo>
                  <a:close/>
                </a:path>
                <a:path w="34925" h="4246245">
                  <a:moveTo>
                    <a:pt x="22575" y="909819"/>
                  </a:moveTo>
                  <a:lnTo>
                    <a:pt x="22575" y="912110"/>
                  </a:lnTo>
                  <a:lnTo>
                    <a:pt x="24873" y="912110"/>
                  </a:lnTo>
                  <a:lnTo>
                    <a:pt x="22575" y="909819"/>
                  </a:lnTo>
                  <a:close/>
                </a:path>
                <a:path w="34925" h="4246245">
                  <a:moveTo>
                    <a:pt x="24873" y="843358"/>
                  </a:moveTo>
                  <a:lnTo>
                    <a:pt x="22575" y="843358"/>
                  </a:lnTo>
                  <a:lnTo>
                    <a:pt x="20277" y="845268"/>
                  </a:lnTo>
                  <a:lnTo>
                    <a:pt x="18362" y="847560"/>
                  </a:lnTo>
                  <a:lnTo>
                    <a:pt x="18362" y="877734"/>
                  </a:lnTo>
                  <a:lnTo>
                    <a:pt x="20277" y="880026"/>
                  </a:lnTo>
                  <a:lnTo>
                    <a:pt x="22575" y="881936"/>
                  </a:lnTo>
                  <a:lnTo>
                    <a:pt x="24873" y="881936"/>
                  </a:lnTo>
                  <a:lnTo>
                    <a:pt x="27363" y="880026"/>
                  </a:lnTo>
                  <a:lnTo>
                    <a:pt x="29661" y="877734"/>
                  </a:lnTo>
                  <a:lnTo>
                    <a:pt x="29661" y="847560"/>
                  </a:lnTo>
                  <a:lnTo>
                    <a:pt x="27363" y="845268"/>
                  </a:lnTo>
                  <a:lnTo>
                    <a:pt x="24873" y="843358"/>
                  </a:lnTo>
                  <a:close/>
                </a:path>
                <a:path w="34925" h="4246245">
                  <a:moveTo>
                    <a:pt x="27363" y="806500"/>
                  </a:moveTo>
                  <a:lnTo>
                    <a:pt x="20277" y="806500"/>
                  </a:lnTo>
                  <a:lnTo>
                    <a:pt x="20277" y="813184"/>
                  </a:lnTo>
                  <a:lnTo>
                    <a:pt x="22575" y="815475"/>
                  </a:lnTo>
                  <a:lnTo>
                    <a:pt x="24873" y="815475"/>
                  </a:lnTo>
                  <a:lnTo>
                    <a:pt x="27363" y="813184"/>
                  </a:lnTo>
                  <a:lnTo>
                    <a:pt x="27363" y="810892"/>
                  </a:lnTo>
                  <a:lnTo>
                    <a:pt x="29661" y="810892"/>
                  </a:lnTo>
                  <a:lnTo>
                    <a:pt x="27363" y="808409"/>
                  </a:lnTo>
                  <a:lnTo>
                    <a:pt x="27363" y="806500"/>
                  </a:lnTo>
                  <a:close/>
                </a:path>
                <a:path w="34925" h="4246245">
                  <a:moveTo>
                    <a:pt x="24873" y="737365"/>
                  </a:moveTo>
                  <a:lnTo>
                    <a:pt x="22575" y="739657"/>
                  </a:lnTo>
                  <a:lnTo>
                    <a:pt x="20277" y="739657"/>
                  </a:lnTo>
                  <a:lnTo>
                    <a:pt x="20277" y="774033"/>
                  </a:lnTo>
                  <a:lnTo>
                    <a:pt x="22575" y="776516"/>
                  </a:lnTo>
                  <a:lnTo>
                    <a:pt x="24873" y="776516"/>
                  </a:lnTo>
                  <a:lnTo>
                    <a:pt x="27363" y="774033"/>
                  </a:lnTo>
                  <a:lnTo>
                    <a:pt x="29661" y="774033"/>
                  </a:lnTo>
                  <a:lnTo>
                    <a:pt x="29661" y="741949"/>
                  </a:lnTo>
                  <a:lnTo>
                    <a:pt x="27363" y="739657"/>
                  </a:lnTo>
                  <a:lnTo>
                    <a:pt x="24873" y="737365"/>
                  </a:lnTo>
                  <a:close/>
                </a:path>
                <a:path w="34925" h="4246245">
                  <a:moveTo>
                    <a:pt x="27363" y="700507"/>
                  </a:moveTo>
                  <a:lnTo>
                    <a:pt x="20277" y="700507"/>
                  </a:lnTo>
                  <a:lnTo>
                    <a:pt x="20277" y="707573"/>
                  </a:lnTo>
                  <a:lnTo>
                    <a:pt x="22575" y="710056"/>
                  </a:lnTo>
                  <a:lnTo>
                    <a:pt x="27363" y="710056"/>
                  </a:lnTo>
                  <a:lnTo>
                    <a:pt x="27363" y="707573"/>
                  </a:lnTo>
                  <a:lnTo>
                    <a:pt x="29661" y="707573"/>
                  </a:lnTo>
                  <a:lnTo>
                    <a:pt x="29661" y="702989"/>
                  </a:lnTo>
                  <a:lnTo>
                    <a:pt x="27363" y="700507"/>
                  </a:lnTo>
                  <a:close/>
                </a:path>
                <a:path w="34925" h="4246245">
                  <a:moveTo>
                    <a:pt x="27363" y="634237"/>
                  </a:moveTo>
                  <a:lnTo>
                    <a:pt x="22575" y="634237"/>
                  </a:lnTo>
                  <a:lnTo>
                    <a:pt x="20277" y="636529"/>
                  </a:lnTo>
                  <a:lnTo>
                    <a:pt x="20277" y="670905"/>
                  </a:lnTo>
                  <a:lnTo>
                    <a:pt x="27363" y="670905"/>
                  </a:lnTo>
                  <a:lnTo>
                    <a:pt x="29661" y="668613"/>
                  </a:lnTo>
                  <a:lnTo>
                    <a:pt x="29661" y="636529"/>
                  </a:lnTo>
                  <a:lnTo>
                    <a:pt x="27363" y="634237"/>
                  </a:lnTo>
                  <a:close/>
                </a:path>
                <a:path w="34925" h="4246245">
                  <a:moveTo>
                    <a:pt x="29661" y="595087"/>
                  </a:moveTo>
                  <a:lnTo>
                    <a:pt x="22575" y="595087"/>
                  </a:lnTo>
                  <a:lnTo>
                    <a:pt x="20277" y="597379"/>
                  </a:lnTo>
                  <a:lnTo>
                    <a:pt x="20277" y="601580"/>
                  </a:lnTo>
                  <a:lnTo>
                    <a:pt x="22575" y="601580"/>
                  </a:lnTo>
                  <a:lnTo>
                    <a:pt x="22575" y="604063"/>
                  </a:lnTo>
                  <a:lnTo>
                    <a:pt x="27363" y="604063"/>
                  </a:lnTo>
                  <a:lnTo>
                    <a:pt x="29661" y="601580"/>
                  </a:lnTo>
                  <a:lnTo>
                    <a:pt x="29661" y="595087"/>
                  </a:lnTo>
                  <a:close/>
                </a:path>
                <a:path w="34925" h="4246245">
                  <a:moveTo>
                    <a:pt x="29661" y="528054"/>
                  </a:moveTo>
                  <a:lnTo>
                    <a:pt x="22575" y="528054"/>
                  </a:lnTo>
                  <a:lnTo>
                    <a:pt x="20277" y="530536"/>
                  </a:lnTo>
                  <a:lnTo>
                    <a:pt x="20277" y="563003"/>
                  </a:lnTo>
                  <a:lnTo>
                    <a:pt x="22575" y="564912"/>
                  </a:lnTo>
                  <a:lnTo>
                    <a:pt x="29661" y="564912"/>
                  </a:lnTo>
                  <a:lnTo>
                    <a:pt x="29661" y="528054"/>
                  </a:lnTo>
                  <a:close/>
                </a:path>
                <a:path w="34925" h="4246245">
                  <a:moveTo>
                    <a:pt x="27363" y="489094"/>
                  </a:moveTo>
                  <a:lnTo>
                    <a:pt x="24873" y="489094"/>
                  </a:lnTo>
                  <a:lnTo>
                    <a:pt x="22575" y="491386"/>
                  </a:lnTo>
                  <a:lnTo>
                    <a:pt x="20277" y="491386"/>
                  </a:lnTo>
                  <a:lnTo>
                    <a:pt x="20277" y="496160"/>
                  </a:lnTo>
                  <a:lnTo>
                    <a:pt x="22575" y="498452"/>
                  </a:lnTo>
                  <a:lnTo>
                    <a:pt x="29661" y="498452"/>
                  </a:lnTo>
                  <a:lnTo>
                    <a:pt x="29661" y="491386"/>
                  </a:lnTo>
                  <a:lnTo>
                    <a:pt x="27363" y="489094"/>
                  </a:lnTo>
                  <a:close/>
                </a:path>
                <a:path w="34925" h="4246245">
                  <a:moveTo>
                    <a:pt x="27363" y="459302"/>
                  </a:moveTo>
                  <a:lnTo>
                    <a:pt x="24873" y="459302"/>
                  </a:lnTo>
                  <a:lnTo>
                    <a:pt x="24873" y="461784"/>
                  </a:lnTo>
                  <a:lnTo>
                    <a:pt x="27363" y="459302"/>
                  </a:lnTo>
                  <a:close/>
                </a:path>
                <a:path w="34925" h="4246245">
                  <a:moveTo>
                    <a:pt x="29661" y="422634"/>
                  </a:moveTo>
                  <a:lnTo>
                    <a:pt x="22575" y="422634"/>
                  </a:lnTo>
                  <a:lnTo>
                    <a:pt x="22575" y="424926"/>
                  </a:lnTo>
                  <a:lnTo>
                    <a:pt x="20277" y="427217"/>
                  </a:lnTo>
                  <a:lnTo>
                    <a:pt x="20277" y="454718"/>
                  </a:lnTo>
                  <a:lnTo>
                    <a:pt x="22575" y="457010"/>
                  </a:lnTo>
                  <a:lnTo>
                    <a:pt x="22575" y="459302"/>
                  </a:lnTo>
                  <a:lnTo>
                    <a:pt x="29661" y="459302"/>
                  </a:lnTo>
                  <a:lnTo>
                    <a:pt x="29661" y="457010"/>
                  </a:lnTo>
                  <a:lnTo>
                    <a:pt x="31960" y="454718"/>
                  </a:lnTo>
                  <a:lnTo>
                    <a:pt x="31960" y="427217"/>
                  </a:lnTo>
                  <a:lnTo>
                    <a:pt x="29661" y="424926"/>
                  </a:lnTo>
                  <a:lnTo>
                    <a:pt x="29661" y="422634"/>
                  </a:lnTo>
                  <a:close/>
                </a:path>
                <a:path w="34925" h="4246245">
                  <a:moveTo>
                    <a:pt x="27363" y="383483"/>
                  </a:moveTo>
                  <a:lnTo>
                    <a:pt x="24873" y="383483"/>
                  </a:lnTo>
                  <a:lnTo>
                    <a:pt x="22575" y="385775"/>
                  </a:lnTo>
                  <a:lnTo>
                    <a:pt x="22575" y="392841"/>
                  </a:lnTo>
                  <a:lnTo>
                    <a:pt x="29661" y="392841"/>
                  </a:lnTo>
                  <a:lnTo>
                    <a:pt x="29661" y="390549"/>
                  </a:lnTo>
                  <a:lnTo>
                    <a:pt x="31960" y="388258"/>
                  </a:lnTo>
                  <a:lnTo>
                    <a:pt x="29661" y="385775"/>
                  </a:lnTo>
                  <a:lnTo>
                    <a:pt x="27363" y="383483"/>
                  </a:lnTo>
                  <a:close/>
                </a:path>
                <a:path w="34925" h="4246245">
                  <a:moveTo>
                    <a:pt x="27363" y="353882"/>
                  </a:moveTo>
                  <a:lnTo>
                    <a:pt x="24873" y="353882"/>
                  </a:lnTo>
                  <a:lnTo>
                    <a:pt x="27363" y="356173"/>
                  </a:lnTo>
                  <a:lnTo>
                    <a:pt x="27363" y="353882"/>
                  </a:lnTo>
                  <a:close/>
                </a:path>
                <a:path w="34925" h="4246245">
                  <a:moveTo>
                    <a:pt x="29661" y="317023"/>
                  </a:moveTo>
                  <a:lnTo>
                    <a:pt x="24873" y="317023"/>
                  </a:lnTo>
                  <a:lnTo>
                    <a:pt x="22575" y="319315"/>
                  </a:lnTo>
                  <a:lnTo>
                    <a:pt x="22575" y="353882"/>
                  </a:lnTo>
                  <a:lnTo>
                    <a:pt x="29661" y="353882"/>
                  </a:lnTo>
                  <a:lnTo>
                    <a:pt x="31960" y="351399"/>
                  </a:lnTo>
                  <a:lnTo>
                    <a:pt x="31960" y="319315"/>
                  </a:lnTo>
                  <a:lnTo>
                    <a:pt x="29661" y="319315"/>
                  </a:lnTo>
                  <a:lnTo>
                    <a:pt x="29661" y="317023"/>
                  </a:lnTo>
                  <a:close/>
                </a:path>
                <a:path w="34925" h="4246245">
                  <a:moveTo>
                    <a:pt x="27363" y="277872"/>
                  </a:moveTo>
                  <a:lnTo>
                    <a:pt x="24873" y="280355"/>
                  </a:lnTo>
                  <a:lnTo>
                    <a:pt x="22575" y="280355"/>
                  </a:lnTo>
                  <a:lnTo>
                    <a:pt x="22575" y="286848"/>
                  </a:lnTo>
                  <a:lnTo>
                    <a:pt x="24873" y="286848"/>
                  </a:lnTo>
                  <a:lnTo>
                    <a:pt x="27363" y="289331"/>
                  </a:lnTo>
                  <a:lnTo>
                    <a:pt x="29661" y="286848"/>
                  </a:lnTo>
                  <a:lnTo>
                    <a:pt x="31960" y="284557"/>
                  </a:lnTo>
                  <a:lnTo>
                    <a:pt x="31960" y="282647"/>
                  </a:lnTo>
                  <a:lnTo>
                    <a:pt x="29661" y="280355"/>
                  </a:lnTo>
                  <a:lnTo>
                    <a:pt x="27363" y="277872"/>
                  </a:lnTo>
                  <a:close/>
                </a:path>
                <a:path w="34925" h="4246245">
                  <a:moveTo>
                    <a:pt x="31960" y="213322"/>
                  </a:moveTo>
                  <a:lnTo>
                    <a:pt x="22575" y="213322"/>
                  </a:lnTo>
                  <a:lnTo>
                    <a:pt x="22575" y="247698"/>
                  </a:lnTo>
                  <a:lnTo>
                    <a:pt x="24873" y="250181"/>
                  </a:lnTo>
                  <a:lnTo>
                    <a:pt x="29661" y="250181"/>
                  </a:lnTo>
                  <a:lnTo>
                    <a:pt x="29661" y="247698"/>
                  </a:lnTo>
                  <a:lnTo>
                    <a:pt x="31960" y="247698"/>
                  </a:lnTo>
                  <a:lnTo>
                    <a:pt x="31960" y="213322"/>
                  </a:lnTo>
                  <a:close/>
                </a:path>
                <a:path w="34925" h="4246245">
                  <a:moveTo>
                    <a:pt x="29661" y="211030"/>
                  </a:moveTo>
                  <a:lnTo>
                    <a:pt x="24873" y="211030"/>
                  </a:lnTo>
                  <a:lnTo>
                    <a:pt x="24873" y="213322"/>
                  </a:lnTo>
                  <a:lnTo>
                    <a:pt x="29661" y="213322"/>
                  </a:lnTo>
                  <a:lnTo>
                    <a:pt x="29661" y="211030"/>
                  </a:lnTo>
                  <a:close/>
                </a:path>
                <a:path w="34925" h="4246245">
                  <a:moveTo>
                    <a:pt x="31960" y="174362"/>
                  </a:moveTo>
                  <a:lnTo>
                    <a:pt x="24873" y="174362"/>
                  </a:lnTo>
                  <a:lnTo>
                    <a:pt x="22575" y="176654"/>
                  </a:lnTo>
                  <a:lnTo>
                    <a:pt x="22575" y="178946"/>
                  </a:lnTo>
                  <a:lnTo>
                    <a:pt x="24873" y="181429"/>
                  </a:lnTo>
                  <a:lnTo>
                    <a:pt x="27363" y="183720"/>
                  </a:lnTo>
                  <a:lnTo>
                    <a:pt x="29661" y="181429"/>
                  </a:lnTo>
                  <a:lnTo>
                    <a:pt x="31960" y="181429"/>
                  </a:lnTo>
                  <a:lnTo>
                    <a:pt x="31960" y="174362"/>
                  </a:lnTo>
                  <a:close/>
                </a:path>
                <a:path w="34925" h="4246245">
                  <a:moveTo>
                    <a:pt x="27363" y="105419"/>
                  </a:moveTo>
                  <a:lnTo>
                    <a:pt x="22575" y="110194"/>
                  </a:lnTo>
                  <a:lnTo>
                    <a:pt x="22575" y="142278"/>
                  </a:lnTo>
                  <a:lnTo>
                    <a:pt x="24873" y="142278"/>
                  </a:lnTo>
                  <a:lnTo>
                    <a:pt x="24873" y="144570"/>
                  </a:lnTo>
                  <a:lnTo>
                    <a:pt x="29661" y="144570"/>
                  </a:lnTo>
                  <a:lnTo>
                    <a:pt x="31960" y="142278"/>
                  </a:lnTo>
                  <a:lnTo>
                    <a:pt x="31960" y="107902"/>
                  </a:lnTo>
                  <a:lnTo>
                    <a:pt x="29661" y="107902"/>
                  </a:lnTo>
                  <a:lnTo>
                    <a:pt x="27363" y="105419"/>
                  </a:lnTo>
                  <a:close/>
                </a:path>
                <a:path w="34925" h="4246245">
                  <a:moveTo>
                    <a:pt x="31960" y="68752"/>
                  </a:moveTo>
                  <a:lnTo>
                    <a:pt x="24873" y="68752"/>
                  </a:lnTo>
                  <a:lnTo>
                    <a:pt x="22575" y="71043"/>
                  </a:lnTo>
                  <a:lnTo>
                    <a:pt x="22575" y="75818"/>
                  </a:lnTo>
                  <a:lnTo>
                    <a:pt x="24873" y="75818"/>
                  </a:lnTo>
                  <a:lnTo>
                    <a:pt x="27363" y="77728"/>
                  </a:lnTo>
                  <a:lnTo>
                    <a:pt x="29661" y="77728"/>
                  </a:lnTo>
                  <a:lnTo>
                    <a:pt x="31960" y="75818"/>
                  </a:lnTo>
                  <a:lnTo>
                    <a:pt x="31960" y="68752"/>
                  </a:lnTo>
                  <a:close/>
                </a:path>
                <a:path w="34925" h="4246245">
                  <a:moveTo>
                    <a:pt x="31960" y="2291"/>
                  </a:moveTo>
                  <a:lnTo>
                    <a:pt x="24873" y="2291"/>
                  </a:lnTo>
                  <a:lnTo>
                    <a:pt x="24873" y="4201"/>
                  </a:lnTo>
                  <a:lnTo>
                    <a:pt x="22575" y="6493"/>
                  </a:lnTo>
                  <a:lnTo>
                    <a:pt x="22575" y="34376"/>
                  </a:lnTo>
                  <a:lnTo>
                    <a:pt x="24873" y="36667"/>
                  </a:lnTo>
                  <a:lnTo>
                    <a:pt x="24873" y="38959"/>
                  </a:lnTo>
                  <a:lnTo>
                    <a:pt x="31960" y="38959"/>
                  </a:lnTo>
                  <a:lnTo>
                    <a:pt x="31960" y="36667"/>
                  </a:lnTo>
                  <a:lnTo>
                    <a:pt x="34449" y="34376"/>
                  </a:lnTo>
                  <a:lnTo>
                    <a:pt x="34449" y="6493"/>
                  </a:lnTo>
                  <a:lnTo>
                    <a:pt x="31960" y="4201"/>
                  </a:lnTo>
                  <a:lnTo>
                    <a:pt x="31960" y="2291"/>
                  </a:lnTo>
                  <a:close/>
                </a:path>
                <a:path w="34925" h="4246245">
                  <a:moveTo>
                    <a:pt x="27363" y="0"/>
                  </a:moveTo>
                  <a:lnTo>
                    <a:pt x="27363" y="2291"/>
                  </a:lnTo>
                  <a:lnTo>
                    <a:pt x="29661" y="2291"/>
                  </a:lnTo>
                  <a:lnTo>
                    <a:pt x="27363" y="0"/>
                  </a:lnTo>
                  <a:close/>
                </a:path>
              </a:pathLst>
            </a:custGeom>
            <a:solidFill>
              <a:srgbClr val="000000"/>
            </a:solidFill>
          </p:spPr>
          <p:txBody>
            <a:bodyPr wrap="square" lIns="0" tIns="0" rIns="0" bIns="0" rtlCol="0"/>
            <a:lstStyle/>
            <a:p/>
          </p:txBody>
        </p:sp>
        <p:pic>
          <p:nvPicPr>
            <p:cNvPr id="23" name="object 23" descr=""/>
            <p:cNvPicPr/>
            <p:nvPr/>
          </p:nvPicPr>
          <p:blipFill>
            <a:blip r:embed="rId2" cstate="print"/>
            <a:stretch>
              <a:fillRect/>
            </a:stretch>
          </p:blipFill>
          <p:spPr>
            <a:xfrm>
              <a:off x="4622818" y="2073942"/>
              <a:ext cx="34640" cy="3971010"/>
            </a:xfrm>
            <a:prstGeom prst="rect">
              <a:avLst/>
            </a:prstGeom>
          </p:spPr>
        </p:pic>
        <p:sp>
          <p:nvSpPr>
            <p:cNvPr id="24" name="object 24" descr=""/>
            <p:cNvSpPr/>
            <p:nvPr/>
          </p:nvSpPr>
          <p:spPr>
            <a:xfrm>
              <a:off x="4646733" y="1797408"/>
              <a:ext cx="12065" cy="250190"/>
            </a:xfrm>
            <a:custGeom>
              <a:avLst/>
              <a:gdLst/>
              <a:ahLst/>
              <a:cxnLst/>
              <a:rect l="l" t="t" r="r" b="b"/>
              <a:pathLst>
                <a:path w="12064" h="250189">
                  <a:moveTo>
                    <a:pt x="0" y="245406"/>
                  </a:moveTo>
                  <a:lnTo>
                    <a:pt x="0" y="215805"/>
                  </a:lnTo>
                  <a:lnTo>
                    <a:pt x="0" y="213322"/>
                  </a:lnTo>
                  <a:lnTo>
                    <a:pt x="2298" y="213322"/>
                  </a:lnTo>
                  <a:lnTo>
                    <a:pt x="2298" y="211030"/>
                  </a:lnTo>
                  <a:lnTo>
                    <a:pt x="4788" y="211030"/>
                  </a:lnTo>
                  <a:lnTo>
                    <a:pt x="7086" y="211030"/>
                  </a:lnTo>
                  <a:lnTo>
                    <a:pt x="7086" y="213322"/>
                  </a:lnTo>
                  <a:lnTo>
                    <a:pt x="9384" y="213322"/>
                  </a:lnTo>
                  <a:lnTo>
                    <a:pt x="9384" y="215805"/>
                  </a:lnTo>
                  <a:lnTo>
                    <a:pt x="9384" y="245406"/>
                  </a:lnTo>
                  <a:lnTo>
                    <a:pt x="9384" y="247698"/>
                  </a:lnTo>
                  <a:lnTo>
                    <a:pt x="7086" y="247698"/>
                  </a:lnTo>
                  <a:lnTo>
                    <a:pt x="7086" y="250181"/>
                  </a:lnTo>
                  <a:lnTo>
                    <a:pt x="4788" y="250181"/>
                  </a:lnTo>
                  <a:lnTo>
                    <a:pt x="2298" y="250181"/>
                  </a:lnTo>
                  <a:lnTo>
                    <a:pt x="0" y="247698"/>
                  </a:lnTo>
                  <a:lnTo>
                    <a:pt x="0" y="245406"/>
                  </a:lnTo>
                </a:path>
                <a:path w="12064" h="250189">
                  <a:moveTo>
                    <a:pt x="0" y="178946"/>
                  </a:moveTo>
                  <a:lnTo>
                    <a:pt x="0" y="176654"/>
                  </a:lnTo>
                  <a:lnTo>
                    <a:pt x="2298" y="174362"/>
                  </a:lnTo>
                  <a:lnTo>
                    <a:pt x="4788" y="174362"/>
                  </a:lnTo>
                  <a:lnTo>
                    <a:pt x="7086" y="174362"/>
                  </a:lnTo>
                  <a:lnTo>
                    <a:pt x="9384" y="174362"/>
                  </a:lnTo>
                  <a:lnTo>
                    <a:pt x="9384" y="176654"/>
                  </a:lnTo>
                  <a:lnTo>
                    <a:pt x="9384" y="178946"/>
                  </a:lnTo>
                  <a:lnTo>
                    <a:pt x="9384" y="181429"/>
                  </a:lnTo>
                  <a:lnTo>
                    <a:pt x="7086" y="181429"/>
                  </a:lnTo>
                  <a:lnTo>
                    <a:pt x="4788" y="183720"/>
                  </a:lnTo>
                  <a:lnTo>
                    <a:pt x="2298" y="181429"/>
                  </a:lnTo>
                  <a:lnTo>
                    <a:pt x="0" y="178946"/>
                  </a:lnTo>
                </a:path>
                <a:path w="12064" h="250189">
                  <a:moveTo>
                    <a:pt x="0" y="139795"/>
                  </a:moveTo>
                  <a:lnTo>
                    <a:pt x="0" y="110194"/>
                  </a:lnTo>
                  <a:lnTo>
                    <a:pt x="2298" y="107902"/>
                  </a:lnTo>
                  <a:lnTo>
                    <a:pt x="4788" y="105419"/>
                  </a:lnTo>
                  <a:lnTo>
                    <a:pt x="7086" y="107902"/>
                  </a:lnTo>
                  <a:lnTo>
                    <a:pt x="9384" y="107902"/>
                  </a:lnTo>
                  <a:lnTo>
                    <a:pt x="9384" y="110194"/>
                  </a:lnTo>
                  <a:lnTo>
                    <a:pt x="9384" y="139795"/>
                  </a:lnTo>
                  <a:lnTo>
                    <a:pt x="9384" y="142278"/>
                  </a:lnTo>
                  <a:lnTo>
                    <a:pt x="7086" y="144570"/>
                  </a:lnTo>
                  <a:lnTo>
                    <a:pt x="4788" y="144570"/>
                  </a:lnTo>
                  <a:lnTo>
                    <a:pt x="2298" y="144570"/>
                  </a:lnTo>
                  <a:lnTo>
                    <a:pt x="2298" y="142278"/>
                  </a:lnTo>
                  <a:lnTo>
                    <a:pt x="0" y="142278"/>
                  </a:lnTo>
                  <a:lnTo>
                    <a:pt x="0" y="139795"/>
                  </a:lnTo>
                </a:path>
                <a:path w="12064" h="250189">
                  <a:moveTo>
                    <a:pt x="0" y="73526"/>
                  </a:moveTo>
                  <a:lnTo>
                    <a:pt x="0" y="71043"/>
                  </a:lnTo>
                  <a:lnTo>
                    <a:pt x="2298" y="68752"/>
                  </a:lnTo>
                  <a:lnTo>
                    <a:pt x="4788" y="68752"/>
                  </a:lnTo>
                  <a:lnTo>
                    <a:pt x="7086" y="68752"/>
                  </a:lnTo>
                  <a:lnTo>
                    <a:pt x="9384" y="68752"/>
                  </a:lnTo>
                  <a:lnTo>
                    <a:pt x="9384" y="71043"/>
                  </a:lnTo>
                  <a:lnTo>
                    <a:pt x="9384" y="73526"/>
                  </a:lnTo>
                  <a:lnTo>
                    <a:pt x="9384" y="75818"/>
                  </a:lnTo>
                  <a:lnTo>
                    <a:pt x="7086" y="77728"/>
                  </a:lnTo>
                  <a:lnTo>
                    <a:pt x="4788" y="77728"/>
                  </a:lnTo>
                  <a:lnTo>
                    <a:pt x="2298" y="75818"/>
                  </a:lnTo>
                  <a:lnTo>
                    <a:pt x="0" y="75818"/>
                  </a:lnTo>
                  <a:lnTo>
                    <a:pt x="0" y="73526"/>
                  </a:lnTo>
                </a:path>
                <a:path w="12064" h="250189">
                  <a:moveTo>
                    <a:pt x="0" y="34376"/>
                  </a:moveTo>
                  <a:lnTo>
                    <a:pt x="0" y="6493"/>
                  </a:lnTo>
                  <a:lnTo>
                    <a:pt x="2298" y="4201"/>
                  </a:lnTo>
                  <a:lnTo>
                    <a:pt x="2298" y="2291"/>
                  </a:lnTo>
                  <a:lnTo>
                    <a:pt x="4788" y="2291"/>
                  </a:lnTo>
                  <a:lnTo>
                    <a:pt x="4788" y="0"/>
                  </a:lnTo>
                  <a:lnTo>
                    <a:pt x="7086" y="2291"/>
                  </a:lnTo>
                  <a:lnTo>
                    <a:pt x="9384" y="2291"/>
                  </a:lnTo>
                  <a:lnTo>
                    <a:pt x="9384" y="4201"/>
                  </a:lnTo>
                  <a:lnTo>
                    <a:pt x="11874" y="6493"/>
                  </a:lnTo>
                  <a:lnTo>
                    <a:pt x="11874" y="34376"/>
                  </a:lnTo>
                  <a:lnTo>
                    <a:pt x="9384" y="36667"/>
                  </a:lnTo>
                  <a:lnTo>
                    <a:pt x="9384" y="38959"/>
                  </a:lnTo>
                  <a:lnTo>
                    <a:pt x="7086" y="38959"/>
                  </a:lnTo>
                  <a:lnTo>
                    <a:pt x="4788" y="38959"/>
                  </a:lnTo>
                  <a:lnTo>
                    <a:pt x="2298" y="38959"/>
                  </a:lnTo>
                  <a:lnTo>
                    <a:pt x="2298" y="36667"/>
                  </a:lnTo>
                  <a:lnTo>
                    <a:pt x="0" y="34376"/>
                  </a:lnTo>
                </a:path>
              </a:pathLst>
            </a:custGeom>
            <a:ln w="3175">
              <a:solidFill>
                <a:srgbClr val="000000"/>
              </a:solidFill>
            </a:ln>
          </p:spPr>
          <p:txBody>
            <a:bodyPr wrap="square" lIns="0" tIns="0" rIns="0" bIns="0" rtlCol="0"/>
            <a:lstStyle/>
            <a:p/>
          </p:txBody>
        </p:sp>
        <p:sp>
          <p:nvSpPr>
            <p:cNvPr id="25" name="object 25" descr=""/>
            <p:cNvSpPr/>
            <p:nvPr/>
          </p:nvSpPr>
          <p:spPr>
            <a:xfrm>
              <a:off x="3132886" y="1799699"/>
              <a:ext cx="50800" cy="4244340"/>
            </a:xfrm>
            <a:custGeom>
              <a:avLst/>
              <a:gdLst/>
              <a:ahLst/>
              <a:cxnLst/>
              <a:rect l="l" t="t" r="r" b="b"/>
              <a:pathLst>
                <a:path w="50800" h="4244340">
                  <a:moveTo>
                    <a:pt x="7124" y="4211872"/>
                  </a:moveTo>
                  <a:lnTo>
                    <a:pt x="2374" y="4211872"/>
                  </a:lnTo>
                  <a:lnTo>
                    <a:pt x="2374" y="4214227"/>
                  </a:lnTo>
                  <a:lnTo>
                    <a:pt x="0" y="4214227"/>
                  </a:lnTo>
                  <a:lnTo>
                    <a:pt x="0" y="4243912"/>
                  </a:lnTo>
                  <a:lnTo>
                    <a:pt x="9020" y="4243912"/>
                  </a:lnTo>
                  <a:lnTo>
                    <a:pt x="9020" y="4214227"/>
                  </a:lnTo>
                  <a:lnTo>
                    <a:pt x="7124" y="4211872"/>
                  </a:lnTo>
                  <a:close/>
                </a:path>
                <a:path w="50800" h="4244340">
                  <a:moveTo>
                    <a:pt x="7124" y="4172763"/>
                  </a:moveTo>
                  <a:lnTo>
                    <a:pt x="4749" y="4172763"/>
                  </a:lnTo>
                  <a:lnTo>
                    <a:pt x="0" y="4177475"/>
                  </a:lnTo>
                  <a:lnTo>
                    <a:pt x="0" y="4179831"/>
                  </a:lnTo>
                  <a:lnTo>
                    <a:pt x="2374" y="4182188"/>
                  </a:lnTo>
                  <a:lnTo>
                    <a:pt x="9020" y="4182188"/>
                  </a:lnTo>
                  <a:lnTo>
                    <a:pt x="9020" y="4175120"/>
                  </a:lnTo>
                  <a:lnTo>
                    <a:pt x="7124" y="4172763"/>
                  </a:lnTo>
                  <a:close/>
                </a:path>
                <a:path w="50800" h="4244340">
                  <a:moveTo>
                    <a:pt x="7124" y="4106328"/>
                  </a:moveTo>
                  <a:lnTo>
                    <a:pt x="4749" y="4106328"/>
                  </a:lnTo>
                  <a:lnTo>
                    <a:pt x="2374" y="4108683"/>
                  </a:lnTo>
                  <a:lnTo>
                    <a:pt x="2374" y="4111039"/>
                  </a:lnTo>
                  <a:lnTo>
                    <a:pt x="0" y="4140723"/>
                  </a:lnTo>
                  <a:lnTo>
                    <a:pt x="4749" y="4145436"/>
                  </a:lnTo>
                  <a:lnTo>
                    <a:pt x="7124" y="4145436"/>
                  </a:lnTo>
                  <a:lnTo>
                    <a:pt x="9020" y="4143080"/>
                  </a:lnTo>
                  <a:lnTo>
                    <a:pt x="11395" y="4140723"/>
                  </a:lnTo>
                  <a:lnTo>
                    <a:pt x="11395" y="4108683"/>
                  </a:lnTo>
                  <a:lnTo>
                    <a:pt x="9020" y="4108683"/>
                  </a:lnTo>
                  <a:lnTo>
                    <a:pt x="7124" y="4106328"/>
                  </a:lnTo>
                  <a:close/>
                </a:path>
                <a:path w="50800" h="4244340">
                  <a:moveTo>
                    <a:pt x="7124" y="4067219"/>
                  </a:moveTo>
                  <a:lnTo>
                    <a:pt x="4749" y="4069576"/>
                  </a:lnTo>
                  <a:lnTo>
                    <a:pt x="2374" y="4069576"/>
                  </a:lnTo>
                  <a:lnTo>
                    <a:pt x="2374" y="4076644"/>
                  </a:lnTo>
                  <a:lnTo>
                    <a:pt x="4749" y="4076644"/>
                  </a:lnTo>
                  <a:lnTo>
                    <a:pt x="7124" y="4078527"/>
                  </a:lnTo>
                  <a:lnTo>
                    <a:pt x="11395" y="4074287"/>
                  </a:lnTo>
                  <a:lnTo>
                    <a:pt x="11395" y="4071931"/>
                  </a:lnTo>
                  <a:lnTo>
                    <a:pt x="9020" y="4069576"/>
                  </a:lnTo>
                  <a:lnTo>
                    <a:pt x="7124" y="4067219"/>
                  </a:lnTo>
                  <a:close/>
                </a:path>
                <a:path w="50800" h="4244340">
                  <a:moveTo>
                    <a:pt x="9020" y="4000778"/>
                  </a:moveTo>
                  <a:lnTo>
                    <a:pt x="4749" y="4000778"/>
                  </a:lnTo>
                  <a:lnTo>
                    <a:pt x="4749" y="4003146"/>
                  </a:lnTo>
                  <a:lnTo>
                    <a:pt x="2374" y="4005018"/>
                  </a:lnTo>
                  <a:lnTo>
                    <a:pt x="2374" y="4037541"/>
                  </a:lnTo>
                  <a:lnTo>
                    <a:pt x="4749" y="4039890"/>
                  </a:lnTo>
                  <a:lnTo>
                    <a:pt x="9020" y="4039890"/>
                  </a:lnTo>
                  <a:lnTo>
                    <a:pt x="9020" y="4037541"/>
                  </a:lnTo>
                  <a:lnTo>
                    <a:pt x="11395" y="4037541"/>
                  </a:lnTo>
                  <a:lnTo>
                    <a:pt x="11395" y="4003146"/>
                  </a:lnTo>
                  <a:lnTo>
                    <a:pt x="9020" y="4000778"/>
                  </a:lnTo>
                  <a:close/>
                </a:path>
                <a:path w="50800" h="4244340">
                  <a:moveTo>
                    <a:pt x="11395" y="3964034"/>
                  </a:moveTo>
                  <a:lnTo>
                    <a:pt x="4749" y="3964034"/>
                  </a:lnTo>
                  <a:lnTo>
                    <a:pt x="2374" y="3966383"/>
                  </a:lnTo>
                  <a:lnTo>
                    <a:pt x="2374" y="3970623"/>
                  </a:lnTo>
                  <a:lnTo>
                    <a:pt x="4749" y="3970623"/>
                  </a:lnTo>
                  <a:lnTo>
                    <a:pt x="4749" y="3972991"/>
                  </a:lnTo>
                  <a:lnTo>
                    <a:pt x="9020" y="3972991"/>
                  </a:lnTo>
                  <a:lnTo>
                    <a:pt x="11395" y="3970623"/>
                  </a:lnTo>
                  <a:lnTo>
                    <a:pt x="11395" y="3964034"/>
                  </a:lnTo>
                  <a:close/>
                </a:path>
                <a:path w="50800" h="4244340">
                  <a:moveTo>
                    <a:pt x="11395" y="3897115"/>
                  </a:moveTo>
                  <a:lnTo>
                    <a:pt x="4749" y="3897115"/>
                  </a:lnTo>
                  <a:lnTo>
                    <a:pt x="4749" y="3899483"/>
                  </a:lnTo>
                  <a:lnTo>
                    <a:pt x="2374" y="3901832"/>
                  </a:lnTo>
                  <a:lnTo>
                    <a:pt x="2374" y="3931529"/>
                  </a:lnTo>
                  <a:lnTo>
                    <a:pt x="4749" y="3933878"/>
                  </a:lnTo>
                  <a:lnTo>
                    <a:pt x="11395" y="3933878"/>
                  </a:lnTo>
                  <a:lnTo>
                    <a:pt x="11395" y="3929161"/>
                  </a:lnTo>
                  <a:lnTo>
                    <a:pt x="13770" y="3901832"/>
                  </a:lnTo>
                  <a:lnTo>
                    <a:pt x="11395" y="3899483"/>
                  </a:lnTo>
                  <a:lnTo>
                    <a:pt x="11395" y="3897115"/>
                  </a:lnTo>
                  <a:close/>
                </a:path>
                <a:path w="50800" h="4244340">
                  <a:moveTo>
                    <a:pt x="7124" y="3894766"/>
                  </a:moveTo>
                  <a:lnTo>
                    <a:pt x="7124" y="3897115"/>
                  </a:lnTo>
                  <a:lnTo>
                    <a:pt x="9020" y="3897115"/>
                  </a:lnTo>
                  <a:lnTo>
                    <a:pt x="7124" y="3894766"/>
                  </a:lnTo>
                  <a:close/>
                </a:path>
                <a:path w="50800" h="4244340">
                  <a:moveTo>
                    <a:pt x="11395" y="3858022"/>
                  </a:moveTo>
                  <a:lnTo>
                    <a:pt x="4749" y="3858022"/>
                  </a:lnTo>
                  <a:lnTo>
                    <a:pt x="4749" y="3865088"/>
                  </a:lnTo>
                  <a:lnTo>
                    <a:pt x="7124" y="3867437"/>
                  </a:lnTo>
                  <a:lnTo>
                    <a:pt x="9020" y="3867437"/>
                  </a:lnTo>
                  <a:lnTo>
                    <a:pt x="11395" y="3865088"/>
                  </a:lnTo>
                  <a:lnTo>
                    <a:pt x="13770" y="3865088"/>
                  </a:lnTo>
                  <a:lnTo>
                    <a:pt x="13770" y="3860371"/>
                  </a:lnTo>
                  <a:lnTo>
                    <a:pt x="11395" y="3858022"/>
                  </a:lnTo>
                  <a:close/>
                </a:path>
                <a:path w="50800" h="4244340">
                  <a:moveTo>
                    <a:pt x="11395" y="3791581"/>
                  </a:moveTo>
                  <a:lnTo>
                    <a:pt x="4749" y="3791581"/>
                  </a:lnTo>
                  <a:lnTo>
                    <a:pt x="4749" y="3828325"/>
                  </a:lnTo>
                  <a:lnTo>
                    <a:pt x="11395" y="3828325"/>
                  </a:lnTo>
                  <a:lnTo>
                    <a:pt x="13770" y="3825976"/>
                  </a:lnTo>
                  <a:lnTo>
                    <a:pt x="13770" y="3793930"/>
                  </a:lnTo>
                  <a:lnTo>
                    <a:pt x="11395" y="3791581"/>
                  </a:lnTo>
                  <a:close/>
                </a:path>
                <a:path w="50800" h="4244340">
                  <a:moveTo>
                    <a:pt x="11395" y="3752469"/>
                  </a:moveTo>
                  <a:lnTo>
                    <a:pt x="7124" y="3752469"/>
                  </a:lnTo>
                  <a:lnTo>
                    <a:pt x="7124" y="3754837"/>
                  </a:lnTo>
                  <a:lnTo>
                    <a:pt x="4749" y="3754837"/>
                  </a:lnTo>
                  <a:lnTo>
                    <a:pt x="4749" y="3759535"/>
                  </a:lnTo>
                  <a:lnTo>
                    <a:pt x="7124" y="3761425"/>
                  </a:lnTo>
                  <a:lnTo>
                    <a:pt x="13770" y="3761425"/>
                  </a:lnTo>
                  <a:lnTo>
                    <a:pt x="13770" y="3754837"/>
                  </a:lnTo>
                  <a:lnTo>
                    <a:pt x="11395" y="3752469"/>
                  </a:lnTo>
                  <a:close/>
                </a:path>
                <a:path w="50800" h="4244340">
                  <a:moveTo>
                    <a:pt x="13770" y="3685569"/>
                  </a:moveTo>
                  <a:lnTo>
                    <a:pt x="7124" y="3685569"/>
                  </a:lnTo>
                  <a:lnTo>
                    <a:pt x="4749" y="3687918"/>
                  </a:lnTo>
                  <a:lnTo>
                    <a:pt x="4749" y="3720422"/>
                  </a:lnTo>
                  <a:lnTo>
                    <a:pt x="7124" y="3722791"/>
                  </a:lnTo>
                  <a:lnTo>
                    <a:pt x="13770" y="3722791"/>
                  </a:lnTo>
                  <a:lnTo>
                    <a:pt x="13770" y="3685569"/>
                  </a:lnTo>
                  <a:close/>
                </a:path>
                <a:path w="50800" h="4244340">
                  <a:moveTo>
                    <a:pt x="11395" y="3646934"/>
                  </a:moveTo>
                  <a:lnTo>
                    <a:pt x="9020" y="3646934"/>
                  </a:lnTo>
                  <a:lnTo>
                    <a:pt x="4749" y="3651174"/>
                  </a:lnTo>
                  <a:lnTo>
                    <a:pt x="7124" y="3653523"/>
                  </a:lnTo>
                  <a:lnTo>
                    <a:pt x="7124" y="3655872"/>
                  </a:lnTo>
                  <a:lnTo>
                    <a:pt x="13770" y="3655872"/>
                  </a:lnTo>
                  <a:lnTo>
                    <a:pt x="13770" y="3653523"/>
                  </a:lnTo>
                  <a:lnTo>
                    <a:pt x="16145" y="3651174"/>
                  </a:lnTo>
                  <a:lnTo>
                    <a:pt x="13770" y="3648806"/>
                  </a:lnTo>
                  <a:lnTo>
                    <a:pt x="11395" y="3646934"/>
                  </a:lnTo>
                  <a:close/>
                </a:path>
                <a:path w="50800" h="4244340">
                  <a:moveTo>
                    <a:pt x="11395" y="3616779"/>
                  </a:moveTo>
                  <a:lnTo>
                    <a:pt x="9020" y="3616779"/>
                  </a:lnTo>
                  <a:lnTo>
                    <a:pt x="11395" y="3619128"/>
                  </a:lnTo>
                  <a:lnTo>
                    <a:pt x="11395" y="3616779"/>
                  </a:lnTo>
                  <a:close/>
                </a:path>
                <a:path w="50800" h="4244340">
                  <a:moveTo>
                    <a:pt x="13770" y="3580015"/>
                  </a:moveTo>
                  <a:lnTo>
                    <a:pt x="9020" y="3580015"/>
                  </a:lnTo>
                  <a:lnTo>
                    <a:pt x="7124" y="3582384"/>
                  </a:lnTo>
                  <a:lnTo>
                    <a:pt x="7124" y="3616779"/>
                  </a:lnTo>
                  <a:lnTo>
                    <a:pt x="13770" y="3616779"/>
                  </a:lnTo>
                  <a:lnTo>
                    <a:pt x="16145" y="3614411"/>
                  </a:lnTo>
                  <a:lnTo>
                    <a:pt x="16145" y="3582384"/>
                  </a:lnTo>
                  <a:lnTo>
                    <a:pt x="13770" y="3582384"/>
                  </a:lnTo>
                  <a:lnTo>
                    <a:pt x="13770" y="3580015"/>
                  </a:lnTo>
                  <a:close/>
                </a:path>
                <a:path w="50800" h="4244340">
                  <a:moveTo>
                    <a:pt x="13770" y="3540903"/>
                  </a:moveTo>
                  <a:lnTo>
                    <a:pt x="9020" y="3540903"/>
                  </a:lnTo>
                  <a:lnTo>
                    <a:pt x="7124" y="3543271"/>
                  </a:lnTo>
                  <a:lnTo>
                    <a:pt x="7124" y="3550337"/>
                  </a:lnTo>
                  <a:lnTo>
                    <a:pt x="13770" y="3550337"/>
                  </a:lnTo>
                  <a:lnTo>
                    <a:pt x="16145" y="3547988"/>
                  </a:lnTo>
                  <a:lnTo>
                    <a:pt x="16145" y="3545620"/>
                  </a:lnTo>
                  <a:lnTo>
                    <a:pt x="13770" y="3543271"/>
                  </a:lnTo>
                  <a:lnTo>
                    <a:pt x="13770" y="3540903"/>
                  </a:lnTo>
                  <a:close/>
                </a:path>
                <a:path w="50800" h="4244340">
                  <a:moveTo>
                    <a:pt x="13770" y="3474481"/>
                  </a:moveTo>
                  <a:lnTo>
                    <a:pt x="9020" y="3474481"/>
                  </a:lnTo>
                  <a:lnTo>
                    <a:pt x="9020" y="3476830"/>
                  </a:lnTo>
                  <a:lnTo>
                    <a:pt x="7124" y="3476830"/>
                  </a:lnTo>
                  <a:lnTo>
                    <a:pt x="7124" y="3511225"/>
                  </a:lnTo>
                  <a:lnTo>
                    <a:pt x="9020" y="3511225"/>
                  </a:lnTo>
                  <a:lnTo>
                    <a:pt x="9020" y="3513593"/>
                  </a:lnTo>
                  <a:lnTo>
                    <a:pt x="13770" y="3513593"/>
                  </a:lnTo>
                  <a:lnTo>
                    <a:pt x="16145" y="3511225"/>
                  </a:lnTo>
                  <a:lnTo>
                    <a:pt x="16145" y="3476830"/>
                  </a:lnTo>
                  <a:lnTo>
                    <a:pt x="13770" y="3474481"/>
                  </a:lnTo>
                  <a:close/>
                </a:path>
                <a:path w="50800" h="4244340">
                  <a:moveTo>
                    <a:pt x="13770" y="3444326"/>
                  </a:moveTo>
                  <a:lnTo>
                    <a:pt x="11395" y="3444326"/>
                  </a:lnTo>
                  <a:lnTo>
                    <a:pt x="11395" y="3446675"/>
                  </a:lnTo>
                  <a:lnTo>
                    <a:pt x="13770" y="3444326"/>
                  </a:lnTo>
                  <a:close/>
                </a:path>
                <a:path w="50800" h="4244340">
                  <a:moveTo>
                    <a:pt x="16145" y="3437718"/>
                  </a:moveTo>
                  <a:lnTo>
                    <a:pt x="9020" y="3437718"/>
                  </a:lnTo>
                  <a:lnTo>
                    <a:pt x="7124" y="3440086"/>
                  </a:lnTo>
                  <a:lnTo>
                    <a:pt x="7124" y="3442435"/>
                  </a:lnTo>
                  <a:lnTo>
                    <a:pt x="9020" y="3444326"/>
                  </a:lnTo>
                  <a:lnTo>
                    <a:pt x="16145" y="3444326"/>
                  </a:lnTo>
                  <a:lnTo>
                    <a:pt x="16145" y="3437718"/>
                  </a:lnTo>
                  <a:close/>
                </a:path>
                <a:path w="50800" h="4244340">
                  <a:moveTo>
                    <a:pt x="11395" y="3435369"/>
                  </a:moveTo>
                  <a:lnTo>
                    <a:pt x="11395" y="3437718"/>
                  </a:lnTo>
                  <a:lnTo>
                    <a:pt x="13770" y="3437718"/>
                  </a:lnTo>
                  <a:lnTo>
                    <a:pt x="11395" y="3435369"/>
                  </a:lnTo>
                  <a:close/>
                </a:path>
                <a:path w="50800" h="4244340">
                  <a:moveTo>
                    <a:pt x="13770" y="3368469"/>
                  </a:moveTo>
                  <a:lnTo>
                    <a:pt x="11395" y="3368469"/>
                  </a:lnTo>
                  <a:lnTo>
                    <a:pt x="9020" y="3370818"/>
                  </a:lnTo>
                  <a:lnTo>
                    <a:pt x="9020" y="3373167"/>
                  </a:lnTo>
                  <a:lnTo>
                    <a:pt x="7124" y="3403323"/>
                  </a:lnTo>
                  <a:lnTo>
                    <a:pt x="11395" y="3407562"/>
                  </a:lnTo>
                  <a:lnTo>
                    <a:pt x="13770" y="3407562"/>
                  </a:lnTo>
                  <a:lnTo>
                    <a:pt x="16145" y="3405213"/>
                  </a:lnTo>
                  <a:lnTo>
                    <a:pt x="18500" y="3403323"/>
                  </a:lnTo>
                  <a:lnTo>
                    <a:pt x="18500" y="3373167"/>
                  </a:lnTo>
                  <a:lnTo>
                    <a:pt x="13770" y="3368469"/>
                  </a:lnTo>
                  <a:close/>
                </a:path>
                <a:path w="50800" h="4244340">
                  <a:moveTo>
                    <a:pt x="16145" y="3331706"/>
                  </a:moveTo>
                  <a:lnTo>
                    <a:pt x="9020" y="3331706"/>
                  </a:lnTo>
                  <a:lnTo>
                    <a:pt x="9020" y="3338772"/>
                  </a:lnTo>
                  <a:lnTo>
                    <a:pt x="11395" y="3341140"/>
                  </a:lnTo>
                  <a:lnTo>
                    <a:pt x="16145" y="3341140"/>
                  </a:lnTo>
                  <a:lnTo>
                    <a:pt x="16145" y="3338772"/>
                  </a:lnTo>
                  <a:lnTo>
                    <a:pt x="18500" y="3338772"/>
                  </a:lnTo>
                  <a:lnTo>
                    <a:pt x="18500" y="3334074"/>
                  </a:lnTo>
                  <a:lnTo>
                    <a:pt x="16145" y="3331706"/>
                  </a:lnTo>
                  <a:close/>
                </a:path>
                <a:path w="50800" h="4244340">
                  <a:moveTo>
                    <a:pt x="13770" y="3262916"/>
                  </a:moveTo>
                  <a:lnTo>
                    <a:pt x="9020" y="3267633"/>
                  </a:lnTo>
                  <a:lnTo>
                    <a:pt x="9020" y="3299660"/>
                  </a:lnTo>
                  <a:lnTo>
                    <a:pt x="11395" y="3302028"/>
                  </a:lnTo>
                  <a:lnTo>
                    <a:pt x="16145" y="3302028"/>
                  </a:lnTo>
                  <a:lnTo>
                    <a:pt x="18500" y="3299660"/>
                  </a:lnTo>
                  <a:lnTo>
                    <a:pt x="18500" y="3265265"/>
                  </a:lnTo>
                  <a:lnTo>
                    <a:pt x="16145" y="3265265"/>
                  </a:lnTo>
                  <a:lnTo>
                    <a:pt x="13770" y="3262916"/>
                  </a:lnTo>
                  <a:close/>
                </a:path>
                <a:path w="50800" h="4244340">
                  <a:moveTo>
                    <a:pt x="18500" y="3226171"/>
                  </a:moveTo>
                  <a:lnTo>
                    <a:pt x="11395" y="3226171"/>
                  </a:lnTo>
                  <a:lnTo>
                    <a:pt x="9020" y="3228520"/>
                  </a:lnTo>
                  <a:lnTo>
                    <a:pt x="9020" y="3233238"/>
                  </a:lnTo>
                  <a:lnTo>
                    <a:pt x="11395" y="3233238"/>
                  </a:lnTo>
                  <a:lnTo>
                    <a:pt x="11395" y="3235587"/>
                  </a:lnTo>
                  <a:lnTo>
                    <a:pt x="16145" y="3235587"/>
                  </a:lnTo>
                  <a:lnTo>
                    <a:pt x="18500" y="3233238"/>
                  </a:lnTo>
                  <a:lnTo>
                    <a:pt x="18500" y="3226171"/>
                  </a:lnTo>
                  <a:close/>
                </a:path>
                <a:path w="50800" h="4244340">
                  <a:moveTo>
                    <a:pt x="18500" y="3159730"/>
                  </a:moveTo>
                  <a:lnTo>
                    <a:pt x="11395" y="3159730"/>
                  </a:lnTo>
                  <a:lnTo>
                    <a:pt x="11395" y="3161621"/>
                  </a:lnTo>
                  <a:lnTo>
                    <a:pt x="9020" y="3163970"/>
                  </a:lnTo>
                  <a:lnTo>
                    <a:pt x="9020" y="3194125"/>
                  </a:lnTo>
                  <a:lnTo>
                    <a:pt x="11395" y="3196474"/>
                  </a:lnTo>
                  <a:lnTo>
                    <a:pt x="18500" y="3196474"/>
                  </a:lnTo>
                  <a:lnTo>
                    <a:pt x="18500" y="3191776"/>
                  </a:lnTo>
                  <a:lnTo>
                    <a:pt x="20875" y="3163970"/>
                  </a:lnTo>
                  <a:lnTo>
                    <a:pt x="18500" y="3161621"/>
                  </a:lnTo>
                  <a:lnTo>
                    <a:pt x="18500" y="3159730"/>
                  </a:lnTo>
                  <a:close/>
                </a:path>
                <a:path w="50800" h="4244340">
                  <a:moveTo>
                    <a:pt x="16145" y="3120618"/>
                  </a:moveTo>
                  <a:lnTo>
                    <a:pt x="13770" y="3120618"/>
                  </a:lnTo>
                  <a:lnTo>
                    <a:pt x="11395" y="3122967"/>
                  </a:lnTo>
                  <a:lnTo>
                    <a:pt x="11395" y="3127226"/>
                  </a:lnTo>
                  <a:lnTo>
                    <a:pt x="13770" y="3129575"/>
                  </a:lnTo>
                  <a:lnTo>
                    <a:pt x="18500" y="3129575"/>
                  </a:lnTo>
                  <a:lnTo>
                    <a:pt x="20875" y="3127226"/>
                  </a:lnTo>
                  <a:lnTo>
                    <a:pt x="20875" y="3122967"/>
                  </a:lnTo>
                  <a:lnTo>
                    <a:pt x="18500" y="3122967"/>
                  </a:lnTo>
                  <a:lnTo>
                    <a:pt x="16145" y="3120618"/>
                  </a:lnTo>
                  <a:close/>
                </a:path>
                <a:path w="50800" h="4244340">
                  <a:moveTo>
                    <a:pt x="18500" y="3053718"/>
                  </a:moveTo>
                  <a:lnTo>
                    <a:pt x="11395" y="3053718"/>
                  </a:lnTo>
                  <a:lnTo>
                    <a:pt x="11395" y="3090462"/>
                  </a:lnTo>
                  <a:lnTo>
                    <a:pt x="18500" y="3090462"/>
                  </a:lnTo>
                  <a:lnTo>
                    <a:pt x="20875" y="3088113"/>
                  </a:lnTo>
                  <a:lnTo>
                    <a:pt x="20875" y="3056067"/>
                  </a:lnTo>
                  <a:lnTo>
                    <a:pt x="18500" y="3053718"/>
                  </a:lnTo>
                  <a:close/>
                </a:path>
                <a:path w="50800" h="4244340">
                  <a:moveTo>
                    <a:pt x="18500" y="3014606"/>
                  </a:moveTo>
                  <a:lnTo>
                    <a:pt x="13770" y="3014606"/>
                  </a:lnTo>
                  <a:lnTo>
                    <a:pt x="13770" y="3016955"/>
                  </a:lnTo>
                  <a:lnTo>
                    <a:pt x="11395" y="3016955"/>
                  </a:lnTo>
                  <a:lnTo>
                    <a:pt x="11395" y="3021672"/>
                  </a:lnTo>
                  <a:lnTo>
                    <a:pt x="13770" y="3024021"/>
                  </a:lnTo>
                  <a:lnTo>
                    <a:pt x="20875" y="3024021"/>
                  </a:lnTo>
                  <a:lnTo>
                    <a:pt x="20875" y="3016955"/>
                  </a:lnTo>
                  <a:lnTo>
                    <a:pt x="18500" y="3014606"/>
                  </a:lnTo>
                  <a:close/>
                </a:path>
                <a:path w="50800" h="4244340">
                  <a:moveTo>
                    <a:pt x="18500" y="2948165"/>
                  </a:moveTo>
                  <a:lnTo>
                    <a:pt x="16145" y="2948165"/>
                  </a:lnTo>
                  <a:lnTo>
                    <a:pt x="13770" y="2950533"/>
                  </a:lnTo>
                  <a:lnTo>
                    <a:pt x="11395" y="2950533"/>
                  </a:lnTo>
                  <a:lnTo>
                    <a:pt x="11395" y="2982560"/>
                  </a:lnTo>
                  <a:lnTo>
                    <a:pt x="16145" y="2987277"/>
                  </a:lnTo>
                  <a:lnTo>
                    <a:pt x="18500" y="2984928"/>
                  </a:lnTo>
                  <a:lnTo>
                    <a:pt x="20875" y="2984928"/>
                  </a:lnTo>
                  <a:lnTo>
                    <a:pt x="20875" y="2950533"/>
                  </a:lnTo>
                  <a:lnTo>
                    <a:pt x="18500" y="2948165"/>
                  </a:lnTo>
                  <a:close/>
                </a:path>
                <a:path w="50800" h="4244340">
                  <a:moveTo>
                    <a:pt x="23250" y="2913770"/>
                  </a:moveTo>
                  <a:lnTo>
                    <a:pt x="11395" y="2913770"/>
                  </a:lnTo>
                  <a:lnTo>
                    <a:pt x="13770" y="2916138"/>
                  </a:lnTo>
                  <a:lnTo>
                    <a:pt x="13770" y="2918487"/>
                  </a:lnTo>
                  <a:lnTo>
                    <a:pt x="20875" y="2918487"/>
                  </a:lnTo>
                  <a:lnTo>
                    <a:pt x="20875" y="2916138"/>
                  </a:lnTo>
                  <a:lnTo>
                    <a:pt x="23250" y="2913770"/>
                  </a:lnTo>
                  <a:close/>
                </a:path>
                <a:path w="50800" h="4244340">
                  <a:moveTo>
                    <a:pt x="18500" y="2909052"/>
                  </a:moveTo>
                  <a:lnTo>
                    <a:pt x="16145" y="2909052"/>
                  </a:lnTo>
                  <a:lnTo>
                    <a:pt x="13770" y="2911421"/>
                  </a:lnTo>
                  <a:lnTo>
                    <a:pt x="13770" y="2913770"/>
                  </a:lnTo>
                  <a:lnTo>
                    <a:pt x="20875" y="2913770"/>
                  </a:lnTo>
                  <a:lnTo>
                    <a:pt x="20875" y="2911421"/>
                  </a:lnTo>
                  <a:lnTo>
                    <a:pt x="18500" y="2909052"/>
                  </a:lnTo>
                  <a:close/>
                </a:path>
                <a:path w="50800" h="4244340">
                  <a:moveTo>
                    <a:pt x="20875" y="2842630"/>
                  </a:moveTo>
                  <a:lnTo>
                    <a:pt x="16145" y="2842630"/>
                  </a:lnTo>
                  <a:lnTo>
                    <a:pt x="13770" y="2844502"/>
                  </a:lnTo>
                  <a:lnTo>
                    <a:pt x="13770" y="2879374"/>
                  </a:lnTo>
                  <a:lnTo>
                    <a:pt x="16145" y="2881265"/>
                  </a:lnTo>
                  <a:lnTo>
                    <a:pt x="18500" y="2881265"/>
                  </a:lnTo>
                  <a:lnTo>
                    <a:pt x="20875" y="2879374"/>
                  </a:lnTo>
                  <a:lnTo>
                    <a:pt x="23250" y="2879374"/>
                  </a:lnTo>
                  <a:lnTo>
                    <a:pt x="23250" y="2844502"/>
                  </a:lnTo>
                  <a:lnTo>
                    <a:pt x="20875" y="2844502"/>
                  </a:lnTo>
                  <a:lnTo>
                    <a:pt x="20875" y="2842630"/>
                  </a:lnTo>
                  <a:close/>
                </a:path>
                <a:path w="50800" h="4244340">
                  <a:moveTo>
                    <a:pt x="18500" y="2803518"/>
                  </a:moveTo>
                  <a:lnTo>
                    <a:pt x="16145" y="2805867"/>
                  </a:lnTo>
                  <a:lnTo>
                    <a:pt x="13770" y="2805867"/>
                  </a:lnTo>
                  <a:lnTo>
                    <a:pt x="13770" y="2812475"/>
                  </a:lnTo>
                  <a:lnTo>
                    <a:pt x="16145" y="2812475"/>
                  </a:lnTo>
                  <a:lnTo>
                    <a:pt x="18500" y="2814824"/>
                  </a:lnTo>
                  <a:lnTo>
                    <a:pt x="23250" y="2810107"/>
                  </a:lnTo>
                  <a:lnTo>
                    <a:pt x="23250" y="2807758"/>
                  </a:lnTo>
                  <a:lnTo>
                    <a:pt x="20875" y="2805867"/>
                  </a:lnTo>
                  <a:lnTo>
                    <a:pt x="18500" y="2803518"/>
                  </a:lnTo>
                  <a:close/>
                </a:path>
                <a:path w="50800" h="4244340">
                  <a:moveTo>
                    <a:pt x="20875" y="2736618"/>
                  </a:moveTo>
                  <a:lnTo>
                    <a:pt x="16145" y="2736618"/>
                  </a:lnTo>
                  <a:lnTo>
                    <a:pt x="16145" y="2738967"/>
                  </a:lnTo>
                  <a:lnTo>
                    <a:pt x="13770" y="2741317"/>
                  </a:lnTo>
                  <a:lnTo>
                    <a:pt x="13770" y="2773363"/>
                  </a:lnTo>
                  <a:lnTo>
                    <a:pt x="16145" y="2773363"/>
                  </a:lnTo>
                  <a:lnTo>
                    <a:pt x="16145" y="2775712"/>
                  </a:lnTo>
                  <a:lnTo>
                    <a:pt x="20875" y="2775712"/>
                  </a:lnTo>
                  <a:lnTo>
                    <a:pt x="23250" y="2773363"/>
                  </a:lnTo>
                  <a:lnTo>
                    <a:pt x="23250" y="2738967"/>
                  </a:lnTo>
                  <a:lnTo>
                    <a:pt x="20875" y="2736618"/>
                  </a:lnTo>
                  <a:close/>
                </a:path>
                <a:path w="50800" h="4244340">
                  <a:moveTo>
                    <a:pt x="23250" y="2699855"/>
                  </a:moveTo>
                  <a:lnTo>
                    <a:pt x="16145" y="2699855"/>
                  </a:lnTo>
                  <a:lnTo>
                    <a:pt x="13770" y="2702204"/>
                  </a:lnTo>
                  <a:lnTo>
                    <a:pt x="13770" y="2704572"/>
                  </a:lnTo>
                  <a:lnTo>
                    <a:pt x="16145" y="2706921"/>
                  </a:lnTo>
                  <a:lnTo>
                    <a:pt x="18500" y="2709289"/>
                  </a:lnTo>
                  <a:lnTo>
                    <a:pt x="20875" y="2709289"/>
                  </a:lnTo>
                  <a:lnTo>
                    <a:pt x="23250" y="2706921"/>
                  </a:lnTo>
                  <a:lnTo>
                    <a:pt x="23250" y="2699855"/>
                  </a:lnTo>
                  <a:close/>
                </a:path>
                <a:path w="50800" h="4244340">
                  <a:moveTo>
                    <a:pt x="23250" y="2633414"/>
                  </a:moveTo>
                  <a:lnTo>
                    <a:pt x="16145" y="2633414"/>
                  </a:lnTo>
                  <a:lnTo>
                    <a:pt x="16145" y="2638131"/>
                  </a:lnTo>
                  <a:lnTo>
                    <a:pt x="13770" y="2665460"/>
                  </a:lnTo>
                  <a:lnTo>
                    <a:pt x="16145" y="2667809"/>
                  </a:lnTo>
                  <a:lnTo>
                    <a:pt x="18500" y="2670177"/>
                  </a:lnTo>
                  <a:lnTo>
                    <a:pt x="23250" y="2670177"/>
                  </a:lnTo>
                  <a:lnTo>
                    <a:pt x="23250" y="2667809"/>
                  </a:lnTo>
                  <a:lnTo>
                    <a:pt x="25146" y="2665460"/>
                  </a:lnTo>
                  <a:lnTo>
                    <a:pt x="25146" y="2635782"/>
                  </a:lnTo>
                  <a:lnTo>
                    <a:pt x="23250" y="2633414"/>
                  </a:lnTo>
                  <a:close/>
                </a:path>
                <a:path w="50800" h="4244340">
                  <a:moveTo>
                    <a:pt x="20875" y="2631065"/>
                  </a:moveTo>
                  <a:lnTo>
                    <a:pt x="18500" y="2633414"/>
                  </a:lnTo>
                  <a:lnTo>
                    <a:pt x="20875" y="2633414"/>
                  </a:lnTo>
                  <a:lnTo>
                    <a:pt x="20875" y="2631065"/>
                  </a:lnTo>
                  <a:close/>
                </a:path>
                <a:path w="50800" h="4244340">
                  <a:moveTo>
                    <a:pt x="23250" y="2594321"/>
                  </a:moveTo>
                  <a:lnTo>
                    <a:pt x="16145" y="2594321"/>
                  </a:lnTo>
                  <a:lnTo>
                    <a:pt x="16145" y="2600909"/>
                  </a:lnTo>
                  <a:lnTo>
                    <a:pt x="18500" y="2603259"/>
                  </a:lnTo>
                  <a:lnTo>
                    <a:pt x="23250" y="2603259"/>
                  </a:lnTo>
                  <a:lnTo>
                    <a:pt x="23250" y="2600909"/>
                  </a:lnTo>
                  <a:lnTo>
                    <a:pt x="25146" y="2600909"/>
                  </a:lnTo>
                  <a:lnTo>
                    <a:pt x="25146" y="2596670"/>
                  </a:lnTo>
                  <a:lnTo>
                    <a:pt x="23250" y="2594321"/>
                  </a:lnTo>
                  <a:close/>
                </a:path>
                <a:path w="50800" h="4244340">
                  <a:moveTo>
                    <a:pt x="25146" y="2527402"/>
                  </a:moveTo>
                  <a:lnTo>
                    <a:pt x="18500" y="2527402"/>
                  </a:lnTo>
                  <a:lnTo>
                    <a:pt x="16145" y="2529770"/>
                  </a:lnTo>
                  <a:lnTo>
                    <a:pt x="16145" y="2564165"/>
                  </a:lnTo>
                  <a:lnTo>
                    <a:pt x="23250" y="2564165"/>
                  </a:lnTo>
                  <a:lnTo>
                    <a:pt x="25146" y="2562275"/>
                  </a:lnTo>
                  <a:lnTo>
                    <a:pt x="25146" y="2527402"/>
                  </a:lnTo>
                  <a:close/>
                </a:path>
                <a:path w="50800" h="4244340">
                  <a:moveTo>
                    <a:pt x="23250" y="2488290"/>
                  </a:moveTo>
                  <a:lnTo>
                    <a:pt x="18500" y="2488290"/>
                  </a:lnTo>
                  <a:lnTo>
                    <a:pt x="18500" y="2490658"/>
                  </a:lnTo>
                  <a:lnTo>
                    <a:pt x="16145" y="2490658"/>
                  </a:lnTo>
                  <a:lnTo>
                    <a:pt x="16145" y="2495375"/>
                  </a:lnTo>
                  <a:lnTo>
                    <a:pt x="18500" y="2495375"/>
                  </a:lnTo>
                  <a:lnTo>
                    <a:pt x="18500" y="2497724"/>
                  </a:lnTo>
                  <a:lnTo>
                    <a:pt x="23250" y="2497724"/>
                  </a:lnTo>
                  <a:lnTo>
                    <a:pt x="25146" y="2495375"/>
                  </a:lnTo>
                  <a:lnTo>
                    <a:pt x="25146" y="2490658"/>
                  </a:lnTo>
                  <a:lnTo>
                    <a:pt x="23250" y="2488290"/>
                  </a:lnTo>
                  <a:close/>
                </a:path>
                <a:path w="50800" h="4244340">
                  <a:moveTo>
                    <a:pt x="25146" y="2421868"/>
                  </a:moveTo>
                  <a:lnTo>
                    <a:pt x="18500" y="2421868"/>
                  </a:lnTo>
                  <a:lnTo>
                    <a:pt x="18500" y="2424217"/>
                  </a:lnTo>
                  <a:lnTo>
                    <a:pt x="16145" y="2426566"/>
                  </a:lnTo>
                  <a:lnTo>
                    <a:pt x="16145" y="2456263"/>
                  </a:lnTo>
                  <a:lnTo>
                    <a:pt x="18500" y="2458612"/>
                  </a:lnTo>
                  <a:lnTo>
                    <a:pt x="25146" y="2458612"/>
                  </a:lnTo>
                  <a:lnTo>
                    <a:pt x="25146" y="2453895"/>
                  </a:lnTo>
                  <a:lnTo>
                    <a:pt x="27521" y="2426566"/>
                  </a:lnTo>
                  <a:lnTo>
                    <a:pt x="25146" y="2424217"/>
                  </a:lnTo>
                  <a:lnTo>
                    <a:pt x="25146" y="2421868"/>
                  </a:lnTo>
                  <a:close/>
                </a:path>
                <a:path w="50800" h="4244340">
                  <a:moveTo>
                    <a:pt x="23250" y="2382755"/>
                  </a:moveTo>
                  <a:lnTo>
                    <a:pt x="20875" y="2382755"/>
                  </a:lnTo>
                  <a:lnTo>
                    <a:pt x="18500" y="2385104"/>
                  </a:lnTo>
                  <a:lnTo>
                    <a:pt x="18500" y="2392171"/>
                  </a:lnTo>
                  <a:lnTo>
                    <a:pt x="25146" y="2392171"/>
                  </a:lnTo>
                  <a:lnTo>
                    <a:pt x="27521" y="2389822"/>
                  </a:lnTo>
                  <a:lnTo>
                    <a:pt x="27521" y="2385104"/>
                  </a:lnTo>
                  <a:lnTo>
                    <a:pt x="25146" y="2385104"/>
                  </a:lnTo>
                  <a:lnTo>
                    <a:pt x="23250" y="2382755"/>
                  </a:lnTo>
                  <a:close/>
                </a:path>
                <a:path w="50800" h="4244340">
                  <a:moveTo>
                    <a:pt x="25146" y="2316371"/>
                  </a:moveTo>
                  <a:lnTo>
                    <a:pt x="20875" y="2316371"/>
                  </a:lnTo>
                  <a:lnTo>
                    <a:pt x="18500" y="2318663"/>
                  </a:lnTo>
                  <a:lnTo>
                    <a:pt x="18500" y="2353077"/>
                  </a:lnTo>
                  <a:lnTo>
                    <a:pt x="20875" y="2353077"/>
                  </a:lnTo>
                  <a:lnTo>
                    <a:pt x="23250" y="2355426"/>
                  </a:lnTo>
                  <a:lnTo>
                    <a:pt x="25146" y="2353077"/>
                  </a:lnTo>
                  <a:lnTo>
                    <a:pt x="27521" y="2350709"/>
                  </a:lnTo>
                  <a:lnTo>
                    <a:pt x="27521" y="2318663"/>
                  </a:lnTo>
                  <a:lnTo>
                    <a:pt x="25146" y="2318663"/>
                  </a:lnTo>
                  <a:lnTo>
                    <a:pt x="25146" y="2316371"/>
                  </a:lnTo>
                  <a:close/>
                </a:path>
                <a:path w="50800" h="4244340">
                  <a:moveTo>
                    <a:pt x="25146" y="2277221"/>
                  </a:moveTo>
                  <a:lnTo>
                    <a:pt x="20875" y="2277221"/>
                  </a:lnTo>
                  <a:lnTo>
                    <a:pt x="20875" y="2279513"/>
                  </a:lnTo>
                  <a:lnTo>
                    <a:pt x="18500" y="2281995"/>
                  </a:lnTo>
                  <a:lnTo>
                    <a:pt x="18500" y="2283714"/>
                  </a:lnTo>
                  <a:lnTo>
                    <a:pt x="20875" y="2286197"/>
                  </a:lnTo>
                  <a:lnTo>
                    <a:pt x="27521" y="2286197"/>
                  </a:lnTo>
                  <a:lnTo>
                    <a:pt x="27521" y="2279513"/>
                  </a:lnTo>
                  <a:lnTo>
                    <a:pt x="25146" y="2277221"/>
                  </a:lnTo>
                  <a:close/>
                </a:path>
                <a:path w="50800" h="4244340">
                  <a:moveTo>
                    <a:pt x="25146" y="2210379"/>
                  </a:moveTo>
                  <a:lnTo>
                    <a:pt x="23250" y="2210379"/>
                  </a:lnTo>
                  <a:lnTo>
                    <a:pt x="20875" y="2212670"/>
                  </a:lnTo>
                  <a:lnTo>
                    <a:pt x="18500" y="2212670"/>
                  </a:lnTo>
                  <a:lnTo>
                    <a:pt x="18500" y="2245137"/>
                  </a:lnTo>
                  <a:lnTo>
                    <a:pt x="20875" y="2247046"/>
                  </a:lnTo>
                  <a:lnTo>
                    <a:pt x="20875" y="2249338"/>
                  </a:lnTo>
                  <a:lnTo>
                    <a:pt x="25146" y="2249338"/>
                  </a:lnTo>
                  <a:lnTo>
                    <a:pt x="27521" y="2247046"/>
                  </a:lnTo>
                  <a:lnTo>
                    <a:pt x="27521" y="2212670"/>
                  </a:lnTo>
                  <a:lnTo>
                    <a:pt x="25146" y="2210379"/>
                  </a:lnTo>
                  <a:close/>
                </a:path>
                <a:path w="50800" h="4244340">
                  <a:moveTo>
                    <a:pt x="25146" y="2180586"/>
                  </a:moveTo>
                  <a:lnTo>
                    <a:pt x="23250" y="2180586"/>
                  </a:lnTo>
                  <a:lnTo>
                    <a:pt x="25146" y="2183069"/>
                  </a:lnTo>
                  <a:lnTo>
                    <a:pt x="25146" y="2180586"/>
                  </a:lnTo>
                  <a:close/>
                </a:path>
                <a:path w="50800" h="4244340">
                  <a:moveTo>
                    <a:pt x="27521" y="2173520"/>
                  </a:moveTo>
                  <a:lnTo>
                    <a:pt x="20875" y="2173520"/>
                  </a:lnTo>
                  <a:lnTo>
                    <a:pt x="20875" y="2175812"/>
                  </a:lnTo>
                  <a:lnTo>
                    <a:pt x="18500" y="2175812"/>
                  </a:lnTo>
                  <a:lnTo>
                    <a:pt x="20875" y="2178294"/>
                  </a:lnTo>
                  <a:lnTo>
                    <a:pt x="20875" y="2180586"/>
                  </a:lnTo>
                  <a:lnTo>
                    <a:pt x="27521" y="2180586"/>
                  </a:lnTo>
                  <a:lnTo>
                    <a:pt x="27521" y="2178294"/>
                  </a:lnTo>
                  <a:lnTo>
                    <a:pt x="29896" y="2178294"/>
                  </a:lnTo>
                  <a:lnTo>
                    <a:pt x="27521" y="2175812"/>
                  </a:lnTo>
                  <a:lnTo>
                    <a:pt x="27521" y="2173520"/>
                  </a:lnTo>
                  <a:close/>
                </a:path>
                <a:path w="50800" h="4244340">
                  <a:moveTo>
                    <a:pt x="25146" y="2171228"/>
                  </a:moveTo>
                  <a:lnTo>
                    <a:pt x="23250" y="2173520"/>
                  </a:lnTo>
                  <a:lnTo>
                    <a:pt x="25146" y="2173520"/>
                  </a:lnTo>
                  <a:lnTo>
                    <a:pt x="25146" y="2171228"/>
                  </a:lnTo>
                  <a:close/>
                </a:path>
                <a:path w="50800" h="4244340">
                  <a:moveTo>
                    <a:pt x="27521" y="2104768"/>
                  </a:moveTo>
                  <a:lnTo>
                    <a:pt x="23250" y="2104768"/>
                  </a:lnTo>
                  <a:lnTo>
                    <a:pt x="20875" y="2107060"/>
                  </a:lnTo>
                  <a:lnTo>
                    <a:pt x="20875" y="2141436"/>
                  </a:lnTo>
                  <a:lnTo>
                    <a:pt x="23250" y="2143918"/>
                  </a:lnTo>
                  <a:lnTo>
                    <a:pt x="25146" y="2143918"/>
                  </a:lnTo>
                  <a:lnTo>
                    <a:pt x="27521" y="2141436"/>
                  </a:lnTo>
                  <a:lnTo>
                    <a:pt x="29896" y="2141436"/>
                  </a:lnTo>
                  <a:lnTo>
                    <a:pt x="29896" y="2109542"/>
                  </a:lnTo>
                  <a:lnTo>
                    <a:pt x="27521" y="2107060"/>
                  </a:lnTo>
                  <a:lnTo>
                    <a:pt x="27521" y="2104768"/>
                  </a:lnTo>
                  <a:close/>
                </a:path>
                <a:path w="50800" h="4244340">
                  <a:moveTo>
                    <a:pt x="27521" y="2068100"/>
                  </a:moveTo>
                  <a:lnTo>
                    <a:pt x="23250" y="2068100"/>
                  </a:lnTo>
                  <a:lnTo>
                    <a:pt x="20875" y="2070392"/>
                  </a:lnTo>
                  <a:lnTo>
                    <a:pt x="20875" y="2075166"/>
                  </a:lnTo>
                  <a:lnTo>
                    <a:pt x="23250" y="2076885"/>
                  </a:lnTo>
                  <a:lnTo>
                    <a:pt x="27521" y="2076885"/>
                  </a:lnTo>
                  <a:lnTo>
                    <a:pt x="27521" y="2075166"/>
                  </a:lnTo>
                  <a:lnTo>
                    <a:pt x="29896" y="2075166"/>
                  </a:lnTo>
                  <a:lnTo>
                    <a:pt x="29896" y="2070392"/>
                  </a:lnTo>
                  <a:lnTo>
                    <a:pt x="27521" y="2068100"/>
                  </a:lnTo>
                  <a:close/>
                </a:path>
                <a:path w="50800" h="4244340">
                  <a:moveTo>
                    <a:pt x="25146" y="1999157"/>
                  </a:moveTo>
                  <a:lnTo>
                    <a:pt x="23250" y="2001640"/>
                  </a:lnTo>
                  <a:lnTo>
                    <a:pt x="20875" y="2003549"/>
                  </a:lnTo>
                  <a:lnTo>
                    <a:pt x="20875" y="2036016"/>
                  </a:lnTo>
                  <a:lnTo>
                    <a:pt x="23250" y="2036016"/>
                  </a:lnTo>
                  <a:lnTo>
                    <a:pt x="23250" y="2038307"/>
                  </a:lnTo>
                  <a:lnTo>
                    <a:pt x="27521" y="2038307"/>
                  </a:lnTo>
                  <a:lnTo>
                    <a:pt x="29896" y="2036016"/>
                  </a:lnTo>
                  <a:lnTo>
                    <a:pt x="29896" y="2001640"/>
                  </a:lnTo>
                  <a:lnTo>
                    <a:pt x="27521" y="2001640"/>
                  </a:lnTo>
                  <a:lnTo>
                    <a:pt x="25146" y="1999157"/>
                  </a:lnTo>
                  <a:close/>
                </a:path>
                <a:path w="50800" h="4244340">
                  <a:moveTo>
                    <a:pt x="29896" y="1962489"/>
                  </a:moveTo>
                  <a:lnTo>
                    <a:pt x="23250" y="1962489"/>
                  </a:lnTo>
                  <a:lnTo>
                    <a:pt x="20875" y="1964399"/>
                  </a:lnTo>
                  <a:lnTo>
                    <a:pt x="20875" y="1968982"/>
                  </a:lnTo>
                  <a:lnTo>
                    <a:pt x="23250" y="1968982"/>
                  </a:lnTo>
                  <a:lnTo>
                    <a:pt x="25146" y="1971465"/>
                  </a:lnTo>
                  <a:lnTo>
                    <a:pt x="27521" y="1971465"/>
                  </a:lnTo>
                  <a:lnTo>
                    <a:pt x="29896" y="1968982"/>
                  </a:lnTo>
                  <a:lnTo>
                    <a:pt x="29896" y="1962489"/>
                  </a:lnTo>
                  <a:close/>
                </a:path>
                <a:path w="50800" h="4244340">
                  <a:moveTo>
                    <a:pt x="29896" y="1895647"/>
                  </a:moveTo>
                  <a:lnTo>
                    <a:pt x="23250" y="1895647"/>
                  </a:lnTo>
                  <a:lnTo>
                    <a:pt x="23250" y="1900230"/>
                  </a:lnTo>
                  <a:lnTo>
                    <a:pt x="20875" y="1927540"/>
                  </a:lnTo>
                  <a:lnTo>
                    <a:pt x="23250" y="1930023"/>
                  </a:lnTo>
                  <a:lnTo>
                    <a:pt x="23250" y="1932315"/>
                  </a:lnTo>
                  <a:lnTo>
                    <a:pt x="29896" y="1932315"/>
                  </a:lnTo>
                  <a:lnTo>
                    <a:pt x="29896" y="1930023"/>
                  </a:lnTo>
                  <a:lnTo>
                    <a:pt x="32271" y="1927540"/>
                  </a:lnTo>
                  <a:lnTo>
                    <a:pt x="32271" y="1897939"/>
                  </a:lnTo>
                  <a:lnTo>
                    <a:pt x="29896" y="1895647"/>
                  </a:lnTo>
                  <a:close/>
                </a:path>
                <a:path w="50800" h="4244340">
                  <a:moveTo>
                    <a:pt x="29896" y="1856496"/>
                  </a:moveTo>
                  <a:lnTo>
                    <a:pt x="25146" y="1856496"/>
                  </a:lnTo>
                  <a:lnTo>
                    <a:pt x="23250" y="1858788"/>
                  </a:lnTo>
                  <a:lnTo>
                    <a:pt x="23250" y="1863563"/>
                  </a:lnTo>
                  <a:lnTo>
                    <a:pt x="25146" y="1865854"/>
                  </a:lnTo>
                  <a:lnTo>
                    <a:pt x="29896" y="1865854"/>
                  </a:lnTo>
                  <a:lnTo>
                    <a:pt x="29896" y="1863563"/>
                  </a:lnTo>
                  <a:lnTo>
                    <a:pt x="32271" y="1863563"/>
                  </a:lnTo>
                  <a:lnTo>
                    <a:pt x="32271" y="1858788"/>
                  </a:lnTo>
                  <a:lnTo>
                    <a:pt x="29896" y="1858788"/>
                  </a:lnTo>
                  <a:lnTo>
                    <a:pt x="29896" y="1856496"/>
                  </a:lnTo>
                  <a:close/>
                </a:path>
                <a:path w="50800" h="4244340">
                  <a:moveTo>
                    <a:pt x="32271" y="1790036"/>
                  </a:moveTo>
                  <a:lnTo>
                    <a:pt x="25146" y="1790036"/>
                  </a:lnTo>
                  <a:lnTo>
                    <a:pt x="23250" y="1792328"/>
                  </a:lnTo>
                  <a:lnTo>
                    <a:pt x="23250" y="1826704"/>
                  </a:lnTo>
                  <a:lnTo>
                    <a:pt x="29896" y="1826704"/>
                  </a:lnTo>
                  <a:lnTo>
                    <a:pt x="32271" y="1824412"/>
                  </a:lnTo>
                  <a:lnTo>
                    <a:pt x="32271" y="1790036"/>
                  </a:lnTo>
                  <a:close/>
                </a:path>
                <a:path w="50800" h="4244340">
                  <a:moveTo>
                    <a:pt x="29896" y="1750886"/>
                  </a:moveTo>
                  <a:lnTo>
                    <a:pt x="25146" y="1750886"/>
                  </a:lnTo>
                  <a:lnTo>
                    <a:pt x="25146" y="1753177"/>
                  </a:lnTo>
                  <a:lnTo>
                    <a:pt x="23250" y="1753177"/>
                  </a:lnTo>
                  <a:lnTo>
                    <a:pt x="23250" y="1757952"/>
                  </a:lnTo>
                  <a:lnTo>
                    <a:pt x="25146" y="1759862"/>
                  </a:lnTo>
                  <a:lnTo>
                    <a:pt x="32271" y="1759862"/>
                  </a:lnTo>
                  <a:lnTo>
                    <a:pt x="32271" y="1753177"/>
                  </a:lnTo>
                  <a:lnTo>
                    <a:pt x="29896" y="1750886"/>
                  </a:lnTo>
                  <a:close/>
                </a:path>
                <a:path w="50800" h="4244340">
                  <a:moveTo>
                    <a:pt x="29896" y="1721284"/>
                  </a:moveTo>
                  <a:lnTo>
                    <a:pt x="27521" y="1721284"/>
                  </a:lnTo>
                  <a:lnTo>
                    <a:pt x="27521" y="1723194"/>
                  </a:lnTo>
                  <a:lnTo>
                    <a:pt x="29896" y="1721284"/>
                  </a:lnTo>
                  <a:close/>
                </a:path>
                <a:path w="50800" h="4244340">
                  <a:moveTo>
                    <a:pt x="29896" y="1684043"/>
                  </a:moveTo>
                  <a:lnTo>
                    <a:pt x="27521" y="1684043"/>
                  </a:lnTo>
                  <a:lnTo>
                    <a:pt x="25146" y="1686335"/>
                  </a:lnTo>
                  <a:lnTo>
                    <a:pt x="23250" y="1688627"/>
                  </a:lnTo>
                  <a:lnTo>
                    <a:pt x="23250" y="1716510"/>
                  </a:lnTo>
                  <a:lnTo>
                    <a:pt x="25146" y="1718801"/>
                  </a:lnTo>
                  <a:lnTo>
                    <a:pt x="25146" y="1721284"/>
                  </a:lnTo>
                  <a:lnTo>
                    <a:pt x="32271" y="1721284"/>
                  </a:lnTo>
                  <a:lnTo>
                    <a:pt x="32271" y="1718801"/>
                  </a:lnTo>
                  <a:lnTo>
                    <a:pt x="34646" y="1688627"/>
                  </a:lnTo>
                  <a:lnTo>
                    <a:pt x="29896" y="1684043"/>
                  </a:lnTo>
                  <a:close/>
                </a:path>
                <a:path w="50800" h="4244340">
                  <a:moveTo>
                    <a:pt x="32271" y="1645275"/>
                  </a:moveTo>
                  <a:lnTo>
                    <a:pt x="27521" y="1645275"/>
                  </a:lnTo>
                  <a:lnTo>
                    <a:pt x="25146" y="1647185"/>
                  </a:lnTo>
                  <a:lnTo>
                    <a:pt x="25146" y="1654251"/>
                  </a:lnTo>
                  <a:lnTo>
                    <a:pt x="32271" y="1654251"/>
                  </a:lnTo>
                  <a:lnTo>
                    <a:pt x="34646" y="1651959"/>
                  </a:lnTo>
                  <a:lnTo>
                    <a:pt x="34646" y="1649667"/>
                  </a:lnTo>
                  <a:lnTo>
                    <a:pt x="32271" y="1647185"/>
                  </a:lnTo>
                  <a:lnTo>
                    <a:pt x="32271" y="1645275"/>
                  </a:lnTo>
                  <a:close/>
                </a:path>
                <a:path w="50800" h="4244340">
                  <a:moveTo>
                    <a:pt x="34646" y="1580724"/>
                  </a:moveTo>
                  <a:lnTo>
                    <a:pt x="25146" y="1580724"/>
                  </a:lnTo>
                  <a:lnTo>
                    <a:pt x="25146" y="1615291"/>
                  </a:lnTo>
                  <a:lnTo>
                    <a:pt x="27521" y="1617583"/>
                  </a:lnTo>
                  <a:lnTo>
                    <a:pt x="32271" y="1617583"/>
                  </a:lnTo>
                  <a:lnTo>
                    <a:pt x="32271" y="1615291"/>
                  </a:lnTo>
                  <a:lnTo>
                    <a:pt x="34646" y="1612809"/>
                  </a:lnTo>
                  <a:lnTo>
                    <a:pt x="34646" y="1580724"/>
                  </a:lnTo>
                  <a:close/>
                </a:path>
                <a:path w="50800" h="4244340">
                  <a:moveTo>
                    <a:pt x="32271" y="1578432"/>
                  </a:moveTo>
                  <a:lnTo>
                    <a:pt x="27521" y="1578432"/>
                  </a:lnTo>
                  <a:lnTo>
                    <a:pt x="27521" y="1580724"/>
                  </a:lnTo>
                  <a:lnTo>
                    <a:pt x="32271" y="1580724"/>
                  </a:lnTo>
                  <a:lnTo>
                    <a:pt x="32271" y="1578432"/>
                  </a:lnTo>
                  <a:close/>
                </a:path>
                <a:path w="50800" h="4244340">
                  <a:moveTo>
                    <a:pt x="29896" y="1539282"/>
                  </a:moveTo>
                  <a:lnTo>
                    <a:pt x="27521" y="1541765"/>
                  </a:lnTo>
                  <a:lnTo>
                    <a:pt x="25146" y="1544056"/>
                  </a:lnTo>
                  <a:lnTo>
                    <a:pt x="25146" y="1546348"/>
                  </a:lnTo>
                  <a:lnTo>
                    <a:pt x="27521" y="1548831"/>
                  </a:lnTo>
                  <a:lnTo>
                    <a:pt x="29896" y="1551123"/>
                  </a:lnTo>
                  <a:lnTo>
                    <a:pt x="32271" y="1548831"/>
                  </a:lnTo>
                  <a:lnTo>
                    <a:pt x="34646" y="1548831"/>
                  </a:lnTo>
                  <a:lnTo>
                    <a:pt x="34646" y="1541765"/>
                  </a:lnTo>
                  <a:lnTo>
                    <a:pt x="32271" y="1541765"/>
                  </a:lnTo>
                  <a:lnTo>
                    <a:pt x="29896" y="1539282"/>
                  </a:lnTo>
                  <a:close/>
                </a:path>
                <a:path w="50800" h="4244340">
                  <a:moveTo>
                    <a:pt x="32271" y="1472822"/>
                  </a:moveTo>
                  <a:lnTo>
                    <a:pt x="29896" y="1472822"/>
                  </a:lnTo>
                  <a:lnTo>
                    <a:pt x="27521" y="1475304"/>
                  </a:lnTo>
                  <a:lnTo>
                    <a:pt x="25146" y="1475304"/>
                  </a:lnTo>
                  <a:lnTo>
                    <a:pt x="25146" y="1509680"/>
                  </a:lnTo>
                  <a:lnTo>
                    <a:pt x="27521" y="1509680"/>
                  </a:lnTo>
                  <a:lnTo>
                    <a:pt x="27521" y="1511972"/>
                  </a:lnTo>
                  <a:lnTo>
                    <a:pt x="32271" y="1511972"/>
                  </a:lnTo>
                  <a:lnTo>
                    <a:pt x="34646" y="1509680"/>
                  </a:lnTo>
                  <a:lnTo>
                    <a:pt x="34646" y="1475304"/>
                  </a:lnTo>
                  <a:lnTo>
                    <a:pt x="32271" y="1472822"/>
                  </a:lnTo>
                  <a:close/>
                </a:path>
                <a:path w="50800" h="4244340">
                  <a:moveTo>
                    <a:pt x="34646" y="1440928"/>
                  </a:moveTo>
                  <a:lnTo>
                    <a:pt x="27521" y="1440928"/>
                  </a:lnTo>
                  <a:lnTo>
                    <a:pt x="27521" y="1442838"/>
                  </a:lnTo>
                  <a:lnTo>
                    <a:pt x="29896" y="1445130"/>
                  </a:lnTo>
                  <a:lnTo>
                    <a:pt x="32271" y="1445130"/>
                  </a:lnTo>
                  <a:lnTo>
                    <a:pt x="34646" y="1442838"/>
                  </a:lnTo>
                  <a:lnTo>
                    <a:pt x="34646" y="1440928"/>
                  </a:lnTo>
                  <a:close/>
                </a:path>
                <a:path w="50800" h="4244340">
                  <a:moveTo>
                    <a:pt x="34646" y="1436154"/>
                  </a:moveTo>
                  <a:lnTo>
                    <a:pt x="27521" y="1436154"/>
                  </a:lnTo>
                  <a:lnTo>
                    <a:pt x="27521" y="1438446"/>
                  </a:lnTo>
                  <a:lnTo>
                    <a:pt x="25146" y="1440928"/>
                  </a:lnTo>
                  <a:lnTo>
                    <a:pt x="37001" y="1440928"/>
                  </a:lnTo>
                  <a:lnTo>
                    <a:pt x="34646" y="1438446"/>
                  </a:lnTo>
                  <a:lnTo>
                    <a:pt x="34646" y="1436154"/>
                  </a:lnTo>
                  <a:close/>
                </a:path>
                <a:path w="50800" h="4244340">
                  <a:moveTo>
                    <a:pt x="32271" y="1366829"/>
                  </a:moveTo>
                  <a:lnTo>
                    <a:pt x="29896" y="1369312"/>
                  </a:lnTo>
                  <a:lnTo>
                    <a:pt x="27521" y="1369312"/>
                  </a:lnTo>
                  <a:lnTo>
                    <a:pt x="27521" y="1403688"/>
                  </a:lnTo>
                  <a:lnTo>
                    <a:pt x="29896" y="1405979"/>
                  </a:lnTo>
                  <a:lnTo>
                    <a:pt x="32271" y="1405979"/>
                  </a:lnTo>
                  <a:lnTo>
                    <a:pt x="34646" y="1403688"/>
                  </a:lnTo>
                  <a:lnTo>
                    <a:pt x="37001" y="1403688"/>
                  </a:lnTo>
                  <a:lnTo>
                    <a:pt x="37001" y="1371603"/>
                  </a:lnTo>
                  <a:lnTo>
                    <a:pt x="34646" y="1369312"/>
                  </a:lnTo>
                  <a:lnTo>
                    <a:pt x="32271" y="1366829"/>
                  </a:lnTo>
                  <a:close/>
                </a:path>
                <a:path w="50800" h="4244340">
                  <a:moveTo>
                    <a:pt x="34646" y="1330161"/>
                  </a:moveTo>
                  <a:lnTo>
                    <a:pt x="29896" y="1330161"/>
                  </a:lnTo>
                  <a:lnTo>
                    <a:pt x="27521" y="1332453"/>
                  </a:lnTo>
                  <a:lnTo>
                    <a:pt x="27521" y="1337227"/>
                  </a:lnTo>
                  <a:lnTo>
                    <a:pt x="29896" y="1339519"/>
                  </a:lnTo>
                  <a:lnTo>
                    <a:pt x="34646" y="1339519"/>
                  </a:lnTo>
                  <a:lnTo>
                    <a:pt x="34646" y="1337227"/>
                  </a:lnTo>
                  <a:lnTo>
                    <a:pt x="37001" y="1337227"/>
                  </a:lnTo>
                  <a:lnTo>
                    <a:pt x="37001" y="1332453"/>
                  </a:lnTo>
                  <a:lnTo>
                    <a:pt x="34646" y="1330161"/>
                  </a:lnTo>
                  <a:close/>
                </a:path>
                <a:path w="50800" h="4244340">
                  <a:moveTo>
                    <a:pt x="37001" y="1263701"/>
                  </a:moveTo>
                  <a:lnTo>
                    <a:pt x="29896" y="1263701"/>
                  </a:lnTo>
                  <a:lnTo>
                    <a:pt x="27521" y="1265993"/>
                  </a:lnTo>
                  <a:lnTo>
                    <a:pt x="27521" y="1298077"/>
                  </a:lnTo>
                  <a:lnTo>
                    <a:pt x="29896" y="1300369"/>
                  </a:lnTo>
                  <a:lnTo>
                    <a:pt x="37001" y="1300369"/>
                  </a:lnTo>
                  <a:lnTo>
                    <a:pt x="37001" y="1263701"/>
                  </a:lnTo>
                  <a:close/>
                </a:path>
                <a:path w="50800" h="4244340">
                  <a:moveTo>
                    <a:pt x="34646" y="1224550"/>
                  </a:moveTo>
                  <a:lnTo>
                    <a:pt x="32271" y="1224550"/>
                  </a:lnTo>
                  <a:lnTo>
                    <a:pt x="29896" y="1227033"/>
                  </a:lnTo>
                  <a:lnTo>
                    <a:pt x="27521" y="1229325"/>
                  </a:lnTo>
                  <a:lnTo>
                    <a:pt x="29896" y="1231616"/>
                  </a:lnTo>
                  <a:lnTo>
                    <a:pt x="32271" y="1234099"/>
                  </a:lnTo>
                  <a:lnTo>
                    <a:pt x="34646" y="1234099"/>
                  </a:lnTo>
                  <a:lnTo>
                    <a:pt x="37001" y="1231616"/>
                  </a:lnTo>
                  <a:lnTo>
                    <a:pt x="37001" y="1227033"/>
                  </a:lnTo>
                  <a:lnTo>
                    <a:pt x="34646" y="1224550"/>
                  </a:lnTo>
                  <a:close/>
                </a:path>
                <a:path w="50800" h="4244340">
                  <a:moveTo>
                    <a:pt x="37001" y="1158090"/>
                  </a:moveTo>
                  <a:lnTo>
                    <a:pt x="29896" y="1158090"/>
                  </a:lnTo>
                  <a:lnTo>
                    <a:pt x="29896" y="1162482"/>
                  </a:lnTo>
                  <a:lnTo>
                    <a:pt x="27521" y="1190174"/>
                  </a:lnTo>
                  <a:lnTo>
                    <a:pt x="29896" y="1192466"/>
                  </a:lnTo>
                  <a:lnTo>
                    <a:pt x="29896" y="1194949"/>
                  </a:lnTo>
                  <a:lnTo>
                    <a:pt x="37001" y="1194949"/>
                  </a:lnTo>
                  <a:lnTo>
                    <a:pt x="37001" y="1192466"/>
                  </a:lnTo>
                  <a:lnTo>
                    <a:pt x="39376" y="1190174"/>
                  </a:lnTo>
                  <a:lnTo>
                    <a:pt x="39376" y="1160000"/>
                  </a:lnTo>
                  <a:lnTo>
                    <a:pt x="37001" y="1158090"/>
                  </a:lnTo>
                  <a:close/>
                </a:path>
                <a:path w="50800" h="4244340">
                  <a:moveTo>
                    <a:pt x="37001" y="1119130"/>
                  </a:moveTo>
                  <a:lnTo>
                    <a:pt x="32271" y="1119130"/>
                  </a:lnTo>
                  <a:lnTo>
                    <a:pt x="29896" y="1121422"/>
                  </a:lnTo>
                  <a:lnTo>
                    <a:pt x="29896" y="1127915"/>
                  </a:lnTo>
                  <a:lnTo>
                    <a:pt x="37001" y="1127915"/>
                  </a:lnTo>
                  <a:lnTo>
                    <a:pt x="39376" y="1125624"/>
                  </a:lnTo>
                  <a:lnTo>
                    <a:pt x="39376" y="1121422"/>
                  </a:lnTo>
                  <a:lnTo>
                    <a:pt x="37001" y="1121422"/>
                  </a:lnTo>
                  <a:lnTo>
                    <a:pt x="37001" y="1119130"/>
                  </a:lnTo>
                  <a:close/>
                </a:path>
                <a:path w="50800" h="4244340">
                  <a:moveTo>
                    <a:pt x="37001" y="1052097"/>
                  </a:moveTo>
                  <a:lnTo>
                    <a:pt x="32271" y="1052097"/>
                  </a:lnTo>
                  <a:lnTo>
                    <a:pt x="32271" y="1054580"/>
                  </a:lnTo>
                  <a:lnTo>
                    <a:pt x="29896" y="1054580"/>
                  </a:lnTo>
                  <a:lnTo>
                    <a:pt x="29896" y="1086473"/>
                  </a:lnTo>
                  <a:lnTo>
                    <a:pt x="32271" y="1088956"/>
                  </a:lnTo>
                  <a:lnTo>
                    <a:pt x="34646" y="1091248"/>
                  </a:lnTo>
                  <a:lnTo>
                    <a:pt x="37001" y="1088956"/>
                  </a:lnTo>
                  <a:lnTo>
                    <a:pt x="39376" y="1086473"/>
                  </a:lnTo>
                  <a:lnTo>
                    <a:pt x="39376" y="1054580"/>
                  </a:lnTo>
                  <a:lnTo>
                    <a:pt x="37001" y="1052097"/>
                  </a:lnTo>
                  <a:close/>
                </a:path>
                <a:path w="50800" h="4244340">
                  <a:moveTo>
                    <a:pt x="37001" y="1012947"/>
                  </a:moveTo>
                  <a:lnTo>
                    <a:pt x="32271" y="1012947"/>
                  </a:lnTo>
                  <a:lnTo>
                    <a:pt x="32271" y="1015429"/>
                  </a:lnTo>
                  <a:lnTo>
                    <a:pt x="29896" y="1015429"/>
                  </a:lnTo>
                  <a:lnTo>
                    <a:pt x="29896" y="1020013"/>
                  </a:lnTo>
                  <a:lnTo>
                    <a:pt x="32271" y="1022496"/>
                  </a:lnTo>
                  <a:lnTo>
                    <a:pt x="39376" y="1022496"/>
                  </a:lnTo>
                  <a:lnTo>
                    <a:pt x="39376" y="1015429"/>
                  </a:lnTo>
                  <a:lnTo>
                    <a:pt x="37001" y="1012947"/>
                  </a:lnTo>
                  <a:close/>
                </a:path>
                <a:path w="50800" h="4244340">
                  <a:moveTo>
                    <a:pt x="39376" y="981053"/>
                  </a:moveTo>
                  <a:lnTo>
                    <a:pt x="32271" y="981053"/>
                  </a:lnTo>
                  <a:lnTo>
                    <a:pt x="32271" y="983345"/>
                  </a:lnTo>
                  <a:lnTo>
                    <a:pt x="34646" y="985637"/>
                  </a:lnTo>
                  <a:lnTo>
                    <a:pt x="37001" y="985637"/>
                  </a:lnTo>
                  <a:lnTo>
                    <a:pt x="39376" y="983345"/>
                  </a:lnTo>
                  <a:lnTo>
                    <a:pt x="39376" y="981053"/>
                  </a:lnTo>
                  <a:close/>
                </a:path>
                <a:path w="50800" h="4244340">
                  <a:moveTo>
                    <a:pt x="37001" y="946677"/>
                  </a:moveTo>
                  <a:lnTo>
                    <a:pt x="34646" y="946677"/>
                  </a:lnTo>
                  <a:lnTo>
                    <a:pt x="29896" y="951261"/>
                  </a:lnTo>
                  <a:lnTo>
                    <a:pt x="29896" y="981053"/>
                  </a:lnTo>
                  <a:lnTo>
                    <a:pt x="41272" y="981053"/>
                  </a:lnTo>
                  <a:lnTo>
                    <a:pt x="41272" y="951261"/>
                  </a:lnTo>
                  <a:lnTo>
                    <a:pt x="39376" y="948969"/>
                  </a:lnTo>
                  <a:lnTo>
                    <a:pt x="37001" y="946677"/>
                  </a:lnTo>
                  <a:close/>
                </a:path>
                <a:path w="50800" h="4244340">
                  <a:moveTo>
                    <a:pt x="37001" y="907527"/>
                  </a:moveTo>
                  <a:lnTo>
                    <a:pt x="34646" y="909819"/>
                  </a:lnTo>
                  <a:lnTo>
                    <a:pt x="32271" y="909819"/>
                  </a:lnTo>
                  <a:lnTo>
                    <a:pt x="32271" y="916885"/>
                  </a:lnTo>
                  <a:lnTo>
                    <a:pt x="34646" y="916885"/>
                  </a:lnTo>
                  <a:lnTo>
                    <a:pt x="37001" y="918795"/>
                  </a:lnTo>
                  <a:lnTo>
                    <a:pt x="39376" y="916885"/>
                  </a:lnTo>
                  <a:lnTo>
                    <a:pt x="41272" y="914593"/>
                  </a:lnTo>
                  <a:lnTo>
                    <a:pt x="41272" y="912110"/>
                  </a:lnTo>
                  <a:lnTo>
                    <a:pt x="39376" y="909819"/>
                  </a:lnTo>
                  <a:lnTo>
                    <a:pt x="37001" y="907527"/>
                  </a:lnTo>
                  <a:close/>
                </a:path>
                <a:path w="50800" h="4244340">
                  <a:moveTo>
                    <a:pt x="39376" y="841067"/>
                  </a:moveTo>
                  <a:lnTo>
                    <a:pt x="34646" y="841067"/>
                  </a:lnTo>
                  <a:lnTo>
                    <a:pt x="34646" y="842976"/>
                  </a:lnTo>
                  <a:lnTo>
                    <a:pt x="32271" y="842976"/>
                  </a:lnTo>
                  <a:lnTo>
                    <a:pt x="32271" y="877734"/>
                  </a:lnTo>
                  <a:lnTo>
                    <a:pt x="34646" y="879644"/>
                  </a:lnTo>
                  <a:lnTo>
                    <a:pt x="39376" y="879644"/>
                  </a:lnTo>
                  <a:lnTo>
                    <a:pt x="39376" y="877734"/>
                  </a:lnTo>
                  <a:lnTo>
                    <a:pt x="41272" y="877734"/>
                  </a:lnTo>
                  <a:lnTo>
                    <a:pt x="41272" y="845268"/>
                  </a:lnTo>
                  <a:lnTo>
                    <a:pt x="39376" y="842976"/>
                  </a:lnTo>
                  <a:lnTo>
                    <a:pt x="39376" y="841067"/>
                  </a:lnTo>
                  <a:close/>
                </a:path>
                <a:path w="50800" h="4244340">
                  <a:moveTo>
                    <a:pt x="41272" y="804208"/>
                  </a:moveTo>
                  <a:lnTo>
                    <a:pt x="34646" y="804208"/>
                  </a:lnTo>
                  <a:lnTo>
                    <a:pt x="32271" y="806118"/>
                  </a:lnTo>
                  <a:lnTo>
                    <a:pt x="32271" y="808600"/>
                  </a:lnTo>
                  <a:lnTo>
                    <a:pt x="34646" y="810892"/>
                  </a:lnTo>
                  <a:lnTo>
                    <a:pt x="34646" y="813184"/>
                  </a:lnTo>
                  <a:lnTo>
                    <a:pt x="39376" y="813184"/>
                  </a:lnTo>
                  <a:lnTo>
                    <a:pt x="41272" y="810892"/>
                  </a:lnTo>
                  <a:lnTo>
                    <a:pt x="41272" y="804208"/>
                  </a:lnTo>
                  <a:close/>
                </a:path>
                <a:path w="50800" h="4244340">
                  <a:moveTo>
                    <a:pt x="41272" y="737365"/>
                  </a:moveTo>
                  <a:lnTo>
                    <a:pt x="34646" y="737365"/>
                  </a:lnTo>
                  <a:lnTo>
                    <a:pt x="34646" y="739657"/>
                  </a:lnTo>
                  <a:lnTo>
                    <a:pt x="32271" y="739657"/>
                  </a:lnTo>
                  <a:lnTo>
                    <a:pt x="32271" y="771742"/>
                  </a:lnTo>
                  <a:lnTo>
                    <a:pt x="34646" y="771742"/>
                  </a:lnTo>
                  <a:lnTo>
                    <a:pt x="34646" y="774224"/>
                  </a:lnTo>
                  <a:lnTo>
                    <a:pt x="39376" y="774224"/>
                  </a:lnTo>
                  <a:lnTo>
                    <a:pt x="41272" y="771742"/>
                  </a:lnTo>
                  <a:lnTo>
                    <a:pt x="41272" y="737365"/>
                  </a:lnTo>
                  <a:close/>
                </a:path>
                <a:path w="50800" h="4244340">
                  <a:moveTo>
                    <a:pt x="37001" y="735074"/>
                  </a:moveTo>
                  <a:lnTo>
                    <a:pt x="37001" y="737365"/>
                  </a:lnTo>
                  <a:lnTo>
                    <a:pt x="39376" y="737365"/>
                  </a:lnTo>
                  <a:lnTo>
                    <a:pt x="37001" y="735074"/>
                  </a:lnTo>
                  <a:close/>
                </a:path>
                <a:path w="50800" h="4244340">
                  <a:moveTo>
                    <a:pt x="41272" y="698215"/>
                  </a:moveTo>
                  <a:lnTo>
                    <a:pt x="34646" y="698215"/>
                  </a:lnTo>
                  <a:lnTo>
                    <a:pt x="34646" y="700698"/>
                  </a:lnTo>
                  <a:lnTo>
                    <a:pt x="32271" y="702989"/>
                  </a:lnTo>
                  <a:lnTo>
                    <a:pt x="34646" y="705281"/>
                  </a:lnTo>
                  <a:lnTo>
                    <a:pt x="37001" y="707764"/>
                  </a:lnTo>
                  <a:lnTo>
                    <a:pt x="39376" y="707764"/>
                  </a:lnTo>
                  <a:lnTo>
                    <a:pt x="41272" y="705281"/>
                  </a:lnTo>
                  <a:lnTo>
                    <a:pt x="43647" y="702989"/>
                  </a:lnTo>
                  <a:lnTo>
                    <a:pt x="41272" y="700698"/>
                  </a:lnTo>
                  <a:lnTo>
                    <a:pt x="41272" y="698215"/>
                  </a:lnTo>
                  <a:close/>
                </a:path>
                <a:path w="50800" h="4244340">
                  <a:moveTo>
                    <a:pt x="41272" y="631946"/>
                  </a:moveTo>
                  <a:lnTo>
                    <a:pt x="34646" y="631946"/>
                  </a:lnTo>
                  <a:lnTo>
                    <a:pt x="34646" y="668613"/>
                  </a:lnTo>
                  <a:lnTo>
                    <a:pt x="41272" y="668613"/>
                  </a:lnTo>
                  <a:lnTo>
                    <a:pt x="43647" y="666322"/>
                  </a:lnTo>
                  <a:lnTo>
                    <a:pt x="43647" y="634237"/>
                  </a:lnTo>
                  <a:lnTo>
                    <a:pt x="41272" y="631946"/>
                  </a:lnTo>
                  <a:close/>
                </a:path>
                <a:path w="50800" h="4244340">
                  <a:moveTo>
                    <a:pt x="41272" y="599288"/>
                  </a:moveTo>
                  <a:lnTo>
                    <a:pt x="37001" y="599288"/>
                  </a:lnTo>
                  <a:lnTo>
                    <a:pt x="37001" y="601771"/>
                  </a:lnTo>
                  <a:lnTo>
                    <a:pt x="41272" y="601771"/>
                  </a:lnTo>
                  <a:lnTo>
                    <a:pt x="41272" y="599288"/>
                  </a:lnTo>
                  <a:close/>
                </a:path>
                <a:path w="50800" h="4244340">
                  <a:moveTo>
                    <a:pt x="41272" y="592795"/>
                  </a:moveTo>
                  <a:lnTo>
                    <a:pt x="37001" y="592795"/>
                  </a:lnTo>
                  <a:lnTo>
                    <a:pt x="34646" y="595087"/>
                  </a:lnTo>
                  <a:lnTo>
                    <a:pt x="34646" y="599288"/>
                  </a:lnTo>
                  <a:lnTo>
                    <a:pt x="43647" y="599288"/>
                  </a:lnTo>
                  <a:lnTo>
                    <a:pt x="43647" y="595087"/>
                  </a:lnTo>
                  <a:lnTo>
                    <a:pt x="41272" y="595087"/>
                  </a:lnTo>
                  <a:lnTo>
                    <a:pt x="41272" y="592795"/>
                  </a:lnTo>
                  <a:close/>
                </a:path>
                <a:path w="50800" h="4244340">
                  <a:moveTo>
                    <a:pt x="43647" y="525762"/>
                  </a:moveTo>
                  <a:lnTo>
                    <a:pt x="37001" y="525762"/>
                  </a:lnTo>
                  <a:lnTo>
                    <a:pt x="34646" y="528245"/>
                  </a:lnTo>
                  <a:lnTo>
                    <a:pt x="34646" y="560711"/>
                  </a:lnTo>
                  <a:lnTo>
                    <a:pt x="37001" y="562621"/>
                  </a:lnTo>
                  <a:lnTo>
                    <a:pt x="43647" y="562621"/>
                  </a:lnTo>
                  <a:lnTo>
                    <a:pt x="43647" y="525762"/>
                  </a:lnTo>
                  <a:close/>
                </a:path>
                <a:path w="50800" h="4244340">
                  <a:moveTo>
                    <a:pt x="41272" y="486802"/>
                  </a:moveTo>
                  <a:lnTo>
                    <a:pt x="39376" y="486802"/>
                  </a:lnTo>
                  <a:lnTo>
                    <a:pt x="34646" y="491386"/>
                  </a:lnTo>
                  <a:lnTo>
                    <a:pt x="37001" y="493869"/>
                  </a:lnTo>
                  <a:lnTo>
                    <a:pt x="37001" y="496160"/>
                  </a:lnTo>
                  <a:lnTo>
                    <a:pt x="43647" y="496160"/>
                  </a:lnTo>
                  <a:lnTo>
                    <a:pt x="43647" y="493869"/>
                  </a:lnTo>
                  <a:lnTo>
                    <a:pt x="46022" y="491386"/>
                  </a:lnTo>
                  <a:lnTo>
                    <a:pt x="41272" y="486802"/>
                  </a:lnTo>
                  <a:close/>
                </a:path>
                <a:path w="50800" h="4244340">
                  <a:moveTo>
                    <a:pt x="41272" y="457010"/>
                  </a:moveTo>
                  <a:lnTo>
                    <a:pt x="39376" y="457010"/>
                  </a:lnTo>
                  <a:lnTo>
                    <a:pt x="41272" y="459493"/>
                  </a:lnTo>
                  <a:lnTo>
                    <a:pt x="41272" y="457010"/>
                  </a:lnTo>
                  <a:close/>
                </a:path>
                <a:path w="50800" h="4244340">
                  <a:moveTo>
                    <a:pt x="43647" y="420342"/>
                  </a:moveTo>
                  <a:lnTo>
                    <a:pt x="37001" y="420342"/>
                  </a:lnTo>
                  <a:lnTo>
                    <a:pt x="37001" y="457010"/>
                  </a:lnTo>
                  <a:lnTo>
                    <a:pt x="43647" y="457010"/>
                  </a:lnTo>
                  <a:lnTo>
                    <a:pt x="43647" y="454718"/>
                  </a:lnTo>
                  <a:lnTo>
                    <a:pt x="46022" y="452426"/>
                  </a:lnTo>
                  <a:lnTo>
                    <a:pt x="46022" y="422634"/>
                  </a:lnTo>
                  <a:lnTo>
                    <a:pt x="43647" y="422634"/>
                  </a:lnTo>
                  <a:lnTo>
                    <a:pt x="43647" y="420342"/>
                  </a:lnTo>
                  <a:close/>
                </a:path>
                <a:path w="50800" h="4244340">
                  <a:moveTo>
                    <a:pt x="43647" y="381192"/>
                  </a:moveTo>
                  <a:lnTo>
                    <a:pt x="39376" y="381192"/>
                  </a:lnTo>
                  <a:lnTo>
                    <a:pt x="37001" y="383483"/>
                  </a:lnTo>
                  <a:lnTo>
                    <a:pt x="37001" y="390549"/>
                  </a:lnTo>
                  <a:lnTo>
                    <a:pt x="43647" y="390549"/>
                  </a:lnTo>
                  <a:lnTo>
                    <a:pt x="46022" y="388258"/>
                  </a:lnTo>
                  <a:lnTo>
                    <a:pt x="46022" y="385966"/>
                  </a:lnTo>
                  <a:lnTo>
                    <a:pt x="43647" y="383483"/>
                  </a:lnTo>
                  <a:lnTo>
                    <a:pt x="43647" y="381192"/>
                  </a:lnTo>
                  <a:close/>
                </a:path>
                <a:path w="50800" h="4244340">
                  <a:moveTo>
                    <a:pt x="43647" y="314731"/>
                  </a:moveTo>
                  <a:lnTo>
                    <a:pt x="39376" y="314731"/>
                  </a:lnTo>
                  <a:lnTo>
                    <a:pt x="39376" y="317023"/>
                  </a:lnTo>
                  <a:lnTo>
                    <a:pt x="37001" y="317023"/>
                  </a:lnTo>
                  <a:lnTo>
                    <a:pt x="37001" y="349107"/>
                  </a:lnTo>
                  <a:lnTo>
                    <a:pt x="39376" y="351590"/>
                  </a:lnTo>
                  <a:lnTo>
                    <a:pt x="39376" y="353882"/>
                  </a:lnTo>
                  <a:lnTo>
                    <a:pt x="43647" y="353882"/>
                  </a:lnTo>
                  <a:lnTo>
                    <a:pt x="43647" y="351590"/>
                  </a:lnTo>
                  <a:lnTo>
                    <a:pt x="46022" y="349107"/>
                  </a:lnTo>
                  <a:lnTo>
                    <a:pt x="46022" y="317023"/>
                  </a:lnTo>
                  <a:lnTo>
                    <a:pt x="43647" y="314731"/>
                  </a:lnTo>
                  <a:close/>
                </a:path>
                <a:path w="50800" h="4244340">
                  <a:moveTo>
                    <a:pt x="41272" y="275581"/>
                  </a:moveTo>
                  <a:lnTo>
                    <a:pt x="39376" y="278063"/>
                  </a:lnTo>
                  <a:lnTo>
                    <a:pt x="37001" y="280355"/>
                  </a:lnTo>
                  <a:lnTo>
                    <a:pt x="37001" y="282265"/>
                  </a:lnTo>
                  <a:lnTo>
                    <a:pt x="39376" y="284557"/>
                  </a:lnTo>
                  <a:lnTo>
                    <a:pt x="41272" y="287039"/>
                  </a:lnTo>
                  <a:lnTo>
                    <a:pt x="43647" y="284557"/>
                  </a:lnTo>
                  <a:lnTo>
                    <a:pt x="46022" y="284557"/>
                  </a:lnTo>
                  <a:lnTo>
                    <a:pt x="46022" y="278063"/>
                  </a:lnTo>
                  <a:lnTo>
                    <a:pt x="43647" y="278063"/>
                  </a:lnTo>
                  <a:lnTo>
                    <a:pt x="41272" y="275581"/>
                  </a:lnTo>
                  <a:close/>
                </a:path>
                <a:path w="50800" h="4244340">
                  <a:moveTo>
                    <a:pt x="43647" y="208738"/>
                  </a:moveTo>
                  <a:lnTo>
                    <a:pt x="41272" y="208738"/>
                  </a:lnTo>
                  <a:lnTo>
                    <a:pt x="39376" y="211030"/>
                  </a:lnTo>
                  <a:lnTo>
                    <a:pt x="37001" y="213513"/>
                  </a:lnTo>
                  <a:lnTo>
                    <a:pt x="37001" y="243114"/>
                  </a:lnTo>
                  <a:lnTo>
                    <a:pt x="39376" y="245406"/>
                  </a:lnTo>
                  <a:lnTo>
                    <a:pt x="41272" y="247889"/>
                  </a:lnTo>
                  <a:lnTo>
                    <a:pt x="43647" y="247889"/>
                  </a:lnTo>
                  <a:lnTo>
                    <a:pt x="46022" y="245406"/>
                  </a:lnTo>
                  <a:lnTo>
                    <a:pt x="48397" y="243114"/>
                  </a:lnTo>
                  <a:lnTo>
                    <a:pt x="48397" y="213513"/>
                  </a:lnTo>
                  <a:lnTo>
                    <a:pt x="46022" y="213513"/>
                  </a:lnTo>
                  <a:lnTo>
                    <a:pt x="46022" y="211030"/>
                  </a:lnTo>
                  <a:lnTo>
                    <a:pt x="43647" y="208738"/>
                  </a:lnTo>
                  <a:close/>
                </a:path>
                <a:path w="50800" h="4244340">
                  <a:moveTo>
                    <a:pt x="46022" y="172071"/>
                  </a:moveTo>
                  <a:lnTo>
                    <a:pt x="39376" y="172071"/>
                  </a:lnTo>
                  <a:lnTo>
                    <a:pt x="39376" y="179137"/>
                  </a:lnTo>
                  <a:lnTo>
                    <a:pt x="41272" y="181429"/>
                  </a:lnTo>
                  <a:lnTo>
                    <a:pt x="46022" y="181429"/>
                  </a:lnTo>
                  <a:lnTo>
                    <a:pt x="46022" y="179137"/>
                  </a:lnTo>
                  <a:lnTo>
                    <a:pt x="48397" y="176654"/>
                  </a:lnTo>
                  <a:lnTo>
                    <a:pt x="48397" y="174362"/>
                  </a:lnTo>
                  <a:lnTo>
                    <a:pt x="46022" y="172071"/>
                  </a:lnTo>
                  <a:close/>
                </a:path>
                <a:path w="50800" h="4244340">
                  <a:moveTo>
                    <a:pt x="43647" y="103128"/>
                  </a:moveTo>
                  <a:lnTo>
                    <a:pt x="41272" y="105610"/>
                  </a:lnTo>
                  <a:lnTo>
                    <a:pt x="39376" y="107902"/>
                  </a:lnTo>
                  <a:lnTo>
                    <a:pt x="39376" y="139986"/>
                  </a:lnTo>
                  <a:lnTo>
                    <a:pt x="41272" y="142278"/>
                  </a:lnTo>
                  <a:lnTo>
                    <a:pt x="46022" y="142278"/>
                  </a:lnTo>
                  <a:lnTo>
                    <a:pt x="46022" y="139986"/>
                  </a:lnTo>
                  <a:lnTo>
                    <a:pt x="48397" y="139986"/>
                  </a:lnTo>
                  <a:lnTo>
                    <a:pt x="48397" y="107902"/>
                  </a:lnTo>
                  <a:lnTo>
                    <a:pt x="46022" y="105610"/>
                  </a:lnTo>
                  <a:lnTo>
                    <a:pt x="43647" y="103128"/>
                  </a:lnTo>
                  <a:close/>
                </a:path>
                <a:path w="50800" h="4244340">
                  <a:moveTo>
                    <a:pt x="48397" y="66460"/>
                  </a:moveTo>
                  <a:lnTo>
                    <a:pt x="41272" y="66460"/>
                  </a:lnTo>
                  <a:lnTo>
                    <a:pt x="39376" y="68752"/>
                  </a:lnTo>
                  <a:lnTo>
                    <a:pt x="39376" y="73526"/>
                  </a:lnTo>
                  <a:lnTo>
                    <a:pt x="41272" y="73526"/>
                  </a:lnTo>
                  <a:lnTo>
                    <a:pt x="41272" y="75436"/>
                  </a:lnTo>
                  <a:lnTo>
                    <a:pt x="46022" y="75436"/>
                  </a:lnTo>
                  <a:lnTo>
                    <a:pt x="48397" y="73526"/>
                  </a:lnTo>
                  <a:lnTo>
                    <a:pt x="48397" y="66460"/>
                  </a:lnTo>
                  <a:close/>
                </a:path>
                <a:path w="50800" h="4244340">
                  <a:moveTo>
                    <a:pt x="48397" y="0"/>
                  </a:moveTo>
                  <a:lnTo>
                    <a:pt x="41272" y="0"/>
                  </a:lnTo>
                  <a:lnTo>
                    <a:pt x="41272" y="1909"/>
                  </a:lnTo>
                  <a:lnTo>
                    <a:pt x="39376" y="4201"/>
                  </a:lnTo>
                  <a:lnTo>
                    <a:pt x="39376" y="34376"/>
                  </a:lnTo>
                  <a:lnTo>
                    <a:pt x="41272" y="36667"/>
                  </a:lnTo>
                  <a:lnTo>
                    <a:pt x="48397" y="36667"/>
                  </a:lnTo>
                  <a:lnTo>
                    <a:pt x="48397" y="32084"/>
                  </a:lnTo>
                  <a:lnTo>
                    <a:pt x="50772" y="4201"/>
                  </a:lnTo>
                  <a:lnTo>
                    <a:pt x="48397" y="1909"/>
                  </a:lnTo>
                  <a:lnTo>
                    <a:pt x="48397" y="0"/>
                  </a:lnTo>
                  <a:close/>
                </a:path>
              </a:pathLst>
            </a:custGeom>
            <a:solidFill>
              <a:srgbClr val="000000"/>
            </a:solidFill>
          </p:spPr>
          <p:txBody>
            <a:bodyPr wrap="square" lIns="0" tIns="0" rIns="0" bIns="0" rtlCol="0"/>
            <a:lstStyle/>
            <a:p/>
          </p:txBody>
        </p:sp>
        <p:sp>
          <p:nvSpPr>
            <p:cNvPr id="26" name="object 26" descr=""/>
            <p:cNvSpPr/>
            <p:nvPr/>
          </p:nvSpPr>
          <p:spPr>
            <a:xfrm>
              <a:off x="3132886" y="5694466"/>
              <a:ext cx="13970" cy="349250"/>
            </a:xfrm>
            <a:custGeom>
              <a:avLst/>
              <a:gdLst/>
              <a:ahLst/>
              <a:cxnLst/>
              <a:rect l="l" t="t" r="r" b="b"/>
              <a:pathLst>
                <a:path w="13969" h="349250">
                  <a:moveTo>
                    <a:pt x="0" y="349145"/>
                  </a:moveTo>
                  <a:lnTo>
                    <a:pt x="0" y="321816"/>
                  </a:lnTo>
                  <a:lnTo>
                    <a:pt x="0" y="319460"/>
                  </a:lnTo>
                  <a:lnTo>
                    <a:pt x="2374" y="319460"/>
                  </a:lnTo>
                  <a:lnTo>
                    <a:pt x="2374" y="317105"/>
                  </a:lnTo>
                  <a:lnTo>
                    <a:pt x="4749" y="317105"/>
                  </a:lnTo>
                  <a:lnTo>
                    <a:pt x="7124" y="317105"/>
                  </a:lnTo>
                  <a:lnTo>
                    <a:pt x="9020" y="319460"/>
                  </a:lnTo>
                  <a:lnTo>
                    <a:pt x="9020" y="321816"/>
                  </a:lnTo>
                  <a:lnTo>
                    <a:pt x="9020" y="349145"/>
                  </a:lnTo>
                </a:path>
                <a:path w="13969" h="349250">
                  <a:moveTo>
                    <a:pt x="0" y="282708"/>
                  </a:moveTo>
                  <a:lnTo>
                    <a:pt x="2374" y="280353"/>
                  </a:lnTo>
                  <a:lnTo>
                    <a:pt x="4749" y="277997"/>
                  </a:lnTo>
                  <a:lnTo>
                    <a:pt x="7124" y="277997"/>
                  </a:lnTo>
                  <a:lnTo>
                    <a:pt x="9020" y="280353"/>
                  </a:lnTo>
                  <a:lnTo>
                    <a:pt x="9020" y="282708"/>
                  </a:lnTo>
                  <a:lnTo>
                    <a:pt x="9020" y="285065"/>
                  </a:lnTo>
                  <a:lnTo>
                    <a:pt x="9020" y="287421"/>
                  </a:lnTo>
                  <a:lnTo>
                    <a:pt x="7124" y="287421"/>
                  </a:lnTo>
                  <a:lnTo>
                    <a:pt x="4749" y="287421"/>
                  </a:lnTo>
                  <a:lnTo>
                    <a:pt x="2374" y="287421"/>
                  </a:lnTo>
                  <a:lnTo>
                    <a:pt x="0" y="285065"/>
                  </a:lnTo>
                  <a:lnTo>
                    <a:pt x="0" y="282708"/>
                  </a:lnTo>
                </a:path>
                <a:path w="13969" h="349250">
                  <a:moveTo>
                    <a:pt x="0" y="245956"/>
                  </a:moveTo>
                  <a:lnTo>
                    <a:pt x="2374" y="216273"/>
                  </a:lnTo>
                  <a:lnTo>
                    <a:pt x="2374" y="213916"/>
                  </a:lnTo>
                  <a:lnTo>
                    <a:pt x="4749" y="211561"/>
                  </a:lnTo>
                  <a:lnTo>
                    <a:pt x="7124" y="211561"/>
                  </a:lnTo>
                  <a:lnTo>
                    <a:pt x="9020" y="213916"/>
                  </a:lnTo>
                  <a:lnTo>
                    <a:pt x="11395" y="213916"/>
                  </a:lnTo>
                  <a:lnTo>
                    <a:pt x="11395" y="216273"/>
                  </a:lnTo>
                  <a:lnTo>
                    <a:pt x="11395" y="245956"/>
                  </a:lnTo>
                  <a:lnTo>
                    <a:pt x="9020" y="248313"/>
                  </a:lnTo>
                  <a:lnTo>
                    <a:pt x="7124" y="250670"/>
                  </a:lnTo>
                  <a:lnTo>
                    <a:pt x="4749" y="250670"/>
                  </a:lnTo>
                  <a:lnTo>
                    <a:pt x="2374" y="248313"/>
                  </a:lnTo>
                  <a:lnTo>
                    <a:pt x="0" y="245956"/>
                  </a:lnTo>
                </a:path>
                <a:path w="13969" h="349250">
                  <a:moveTo>
                    <a:pt x="2374" y="179521"/>
                  </a:moveTo>
                  <a:lnTo>
                    <a:pt x="2374" y="177164"/>
                  </a:lnTo>
                  <a:lnTo>
                    <a:pt x="2374" y="174809"/>
                  </a:lnTo>
                  <a:lnTo>
                    <a:pt x="4749" y="174809"/>
                  </a:lnTo>
                  <a:lnTo>
                    <a:pt x="7124" y="172453"/>
                  </a:lnTo>
                  <a:lnTo>
                    <a:pt x="9020" y="174809"/>
                  </a:lnTo>
                  <a:lnTo>
                    <a:pt x="11395" y="177164"/>
                  </a:lnTo>
                  <a:lnTo>
                    <a:pt x="11395" y="179521"/>
                  </a:lnTo>
                  <a:lnTo>
                    <a:pt x="9020" y="181877"/>
                  </a:lnTo>
                  <a:lnTo>
                    <a:pt x="7124" y="183760"/>
                  </a:lnTo>
                  <a:lnTo>
                    <a:pt x="4749" y="181877"/>
                  </a:lnTo>
                  <a:lnTo>
                    <a:pt x="2374" y="181877"/>
                  </a:lnTo>
                  <a:lnTo>
                    <a:pt x="2374" y="179521"/>
                  </a:lnTo>
                </a:path>
                <a:path w="13969" h="349250">
                  <a:moveTo>
                    <a:pt x="2374" y="140407"/>
                  </a:moveTo>
                  <a:lnTo>
                    <a:pt x="2374" y="110251"/>
                  </a:lnTo>
                  <a:lnTo>
                    <a:pt x="4749" y="108380"/>
                  </a:lnTo>
                  <a:lnTo>
                    <a:pt x="4749" y="106011"/>
                  </a:lnTo>
                  <a:lnTo>
                    <a:pt x="7124" y="106011"/>
                  </a:lnTo>
                  <a:lnTo>
                    <a:pt x="9020" y="106011"/>
                  </a:lnTo>
                  <a:lnTo>
                    <a:pt x="11395" y="108380"/>
                  </a:lnTo>
                  <a:lnTo>
                    <a:pt x="11395" y="110251"/>
                  </a:lnTo>
                  <a:lnTo>
                    <a:pt x="11395" y="140407"/>
                  </a:lnTo>
                  <a:lnTo>
                    <a:pt x="11395" y="142775"/>
                  </a:lnTo>
                  <a:lnTo>
                    <a:pt x="9020" y="142775"/>
                  </a:lnTo>
                  <a:lnTo>
                    <a:pt x="9020" y="145124"/>
                  </a:lnTo>
                  <a:lnTo>
                    <a:pt x="7124" y="145124"/>
                  </a:lnTo>
                  <a:lnTo>
                    <a:pt x="4749" y="145124"/>
                  </a:lnTo>
                  <a:lnTo>
                    <a:pt x="2374" y="142775"/>
                  </a:lnTo>
                  <a:lnTo>
                    <a:pt x="2374" y="140407"/>
                  </a:lnTo>
                </a:path>
                <a:path w="13969" h="349250">
                  <a:moveTo>
                    <a:pt x="2374" y="73507"/>
                  </a:moveTo>
                  <a:lnTo>
                    <a:pt x="2374" y="71616"/>
                  </a:lnTo>
                  <a:lnTo>
                    <a:pt x="4749" y="69267"/>
                  </a:lnTo>
                  <a:lnTo>
                    <a:pt x="7124" y="69267"/>
                  </a:lnTo>
                  <a:lnTo>
                    <a:pt x="9020" y="69267"/>
                  </a:lnTo>
                  <a:lnTo>
                    <a:pt x="11395" y="69267"/>
                  </a:lnTo>
                  <a:lnTo>
                    <a:pt x="11395" y="71616"/>
                  </a:lnTo>
                  <a:lnTo>
                    <a:pt x="11395" y="73507"/>
                  </a:lnTo>
                  <a:lnTo>
                    <a:pt x="11395" y="75856"/>
                  </a:lnTo>
                  <a:lnTo>
                    <a:pt x="9020" y="78224"/>
                  </a:lnTo>
                  <a:lnTo>
                    <a:pt x="7124" y="78224"/>
                  </a:lnTo>
                  <a:lnTo>
                    <a:pt x="4749" y="78224"/>
                  </a:lnTo>
                  <a:lnTo>
                    <a:pt x="4749" y="75856"/>
                  </a:lnTo>
                  <a:lnTo>
                    <a:pt x="2374" y="75856"/>
                  </a:lnTo>
                  <a:lnTo>
                    <a:pt x="2374" y="73507"/>
                  </a:lnTo>
                </a:path>
                <a:path w="13969" h="349250">
                  <a:moveTo>
                    <a:pt x="2374" y="34395"/>
                  </a:moveTo>
                  <a:lnTo>
                    <a:pt x="2374" y="7066"/>
                  </a:lnTo>
                  <a:lnTo>
                    <a:pt x="4749" y="4717"/>
                  </a:lnTo>
                  <a:lnTo>
                    <a:pt x="4749" y="2349"/>
                  </a:lnTo>
                  <a:lnTo>
                    <a:pt x="7124" y="2349"/>
                  </a:lnTo>
                  <a:lnTo>
                    <a:pt x="7124" y="0"/>
                  </a:lnTo>
                  <a:lnTo>
                    <a:pt x="9020" y="2349"/>
                  </a:lnTo>
                  <a:lnTo>
                    <a:pt x="11395" y="2349"/>
                  </a:lnTo>
                  <a:lnTo>
                    <a:pt x="11395" y="4717"/>
                  </a:lnTo>
                  <a:lnTo>
                    <a:pt x="13770" y="7066"/>
                  </a:lnTo>
                  <a:lnTo>
                    <a:pt x="11395" y="34395"/>
                  </a:lnTo>
                  <a:lnTo>
                    <a:pt x="11395" y="36763"/>
                  </a:lnTo>
                  <a:lnTo>
                    <a:pt x="11395" y="39112"/>
                  </a:lnTo>
                  <a:lnTo>
                    <a:pt x="9020" y="39112"/>
                  </a:lnTo>
                  <a:lnTo>
                    <a:pt x="7124" y="39112"/>
                  </a:lnTo>
                  <a:lnTo>
                    <a:pt x="4749" y="39112"/>
                  </a:lnTo>
                  <a:lnTo>
                    <a:pt x="2374" y="36763"/>
                  </a:lnTo>
                  <a:lnTo>
                    <a:pt x="2374" y="34395"/>
                  </a:lnTo>
                </a:path>
              </a:pathLst>
            </a:custGeom>
            <a:ln w="3175">
              <a:solidFill>
                <a:srgbClr val="000000"/>
              </a:solidFill>
            </a:ln>
          </p:spPr>
          <p:txBody>
            <a:bodyPr wrap="square" lIns="0" tIns="0" rIns="0" bIns="0" rtlCol="0"/>
            <a:lstStyle/>
            <a:p/>
          </p:txBody>
        </p:sp>
        <p:pic>
          <p:nvPicPr>
            <p:cNvPr id="27" name="object 27" descr=""/>
            <p:cNvPicPr/>
            <p:nvPr/>
          </p:nvPicPr>
          <p:blipFill>
            <a:blip r:embed="rId3" cstate="print"/>
            <a:stretch>
              <a:fillRect/>
            </a:stretch>
          </p:blipFill>
          <p:spPr>
            <a:xfrm>
              <a:off x="3138670" y="1798359"/>
              <a:ext cx="46328" cy="3449354"/>
            </a:xfrm>
            <a:prstGeom prst="rect">
              <a:avLst/>
            </a:prstGeom>
          </p:spPr>
        </p:pic>
      </p:grpSp>
      <p:sp>
        <p:nvSpPr>
          <p:cNvPr id="28" name="object 28" descr=""/>
          <p:cNvSpPr txBox="1"/>
          <p:nvPr/>
        </p:nvSpPr>
        <p:spPr>
          <a:xfrm>
            <a:off x="4230305" y="2286294"/>
            <a:ext cx="311785" cy="233679"/>
          </a:xfrm>
          <a:prstGeom prst="rect">
            <a:avLst/>
          </a:prstGeom>
        </p:spPr>
        <p:txBody>
          <a:bodyPr wrap="square" lIns="0" tIns="13970" rIns="0" bIns="0" rtlCol="0" vert="horz">
            <a:spAutoFit/>
          </a:bodyPr>
          <a:lstStyle/>
          <a:p>
            <a:pPr marL="12700">
              <a:lnSpc>
                <a:spcPct val="100000"/>
              </a:lnSpc>
              <a:spcBef>
                <a:spcPts val="110"/>
              </a:spcBef>
            </a:pPr>
            <a:r>
              <a:rPr dirty="0" sz="1350" spc="-25" b="1">
                <a:latin typeface="Times New Roman"/>
                <a:cs typeface="Times New Roman"/>
              </a:rPr>
              <a:t>Reg</a:t>
            </a:r>
            <a:endParaRPr sz="1350">
              <a:latin typeface="Times New Roman"/>
              <a:cs typeface="Times New Roman"/>
            </a:endParaRPr>
          </a:p>
        </p:txBody>
      </p:sp>
      <p:sp>
        <p:nvSpPr>
          <p:cNvPr id="29" name="object 29" descr=""/>
          <p:cNvSpPr/>
          <p:nvPr/>
        </p:nvSpPr>
        <p:spPr>
          <a:xfrm>
            <a:off x="4869665" y="2005574"/>
            <a:ext cx="323215" cy="772795"/>
          </a:xfrm>
          <a:custGeom>
            <a:avLst/>
            <a:gdLst/>
            <a:ahLst/>
            <a:cxnLst/>
            <a:rect l="l" t="t" r="r" b="b"/>
            <a:pathLst>
              <a:path w="323214" h="772794">
                <a:moveTo>
                  <a:pt x="322714" y="165386"/>
                </a:moveTo>
                <a:lnTo>
                  <a:pt x="322714" y="606927"/>
                </a:lnTo>
              </a:path>
              <a:path w="323214" h="772794">
                <a:moveTo>
                  <a:pt x="0" y="0"/>
                </a:moveTo>
                <a:lnTo>
                  <a:pt x="322714" y="165386"/>
                </a:lnTo>
              </a:path>
              <a:path w="323214" h="772794">
                <a:moveTo>
                  <a:pt x="322714" y="606927"/>
                </a:moveTo>
                <a:lnTo>
                  <a:pt x="0" y="772314"/>
                </a:lnTo>
              </a:path>
              <a:path w="323214" h="772794">
                <a:moveTo>
                  <a:pt x="0" y="0"/>
                </a:moveTo>
                <a:lnTo>
                  <a:pt x="0" y="220961"/>
                </a:lnTo>
              </a:path>
              <a:path w="323214" h="772794">
                <a:moveTo>
                  <a:pt x="0" y="551735"/>
                </a:moveTo>
                <a:lnTo>
                  <a:pt x="0" y="772314"/>
                </a:lnTo>
              </a:path>
              <a:path w="323214" h="772794">
                <a:moveTo>
                  <a:pt x="0" y="220961"/>
                </a:moveTo>
                <a:lnTo>
                  <a:pt x="96718" y="386348"/>
                </a:lnTo>
              </a:path>
              <a:path w="323214" h="772794">
                <a:moveTo>
                  <a:pt x="96718" y="386348"/>
                </a:moveTo>
                <a:lnTo>
                  <a:pt x="0" y="551735"/>
                </a:lnTo>
              </a:path>
            </a:pathLst>
          </a:custGeom>
          <a:ln w="13738">
            <a:solidFill>
              <a:srgbClr val="000000"/>
            </a:solidFill>
          </a:ln>
        </p:spPr>
        <p:txBody>
          <a:bodyPr wrap="square" lIns="0" tIns="0" rIns="0" bIns="0" rtlCol="0"/>
          <a:lstStyle/>
          <a:p/>
        </p:txBody>
      </p:sp>
      <p:sp>
        <p:nvSpPr>
          <p:cNvPr id="30" name="object 30" descr=""/>
          <p:cNvSpPr txBox="1"/>
          <p:nvPr/>
        </p:nvSpPr>
        <p:spPr>
          <a:xfrm>
            <a:off x="4962282" y="2174876"/>
            <a:ext cx="217804" cy="390525"/>
          </a:xfrm>
          <a:prstGeom prst="rect">
            <a:avLst/>
          </a:prstGeom>
        </p:spPr>
        <p:txBody>
          <a:bodyPr wrap="square" lIns="0" tIns="0" rIns="0" bIns="0" rtlCol="0" vert="vert">
            <a:spAutoFit/>
          </a:bodyPr>
          <a:lstStyle/>
          <a:p>
            <a:pPr marL="12700">
              <a:lnSpc>
                <a:spcPts val="1590"/>
              </a:lnSpc>
            </a:pPr>
            <a:r>
              <a:rPr dirty="0" sz="1350" spc="-25" b="1">
                <a:latin typeface="Times New Roman"/>
                <a:cs typeface="Times New Roman"/>
              </a:rPr>
              <a:t>ALU</a:t>
            </a:r>
            <a:endParaRPr sz="1350">
              <a:latin typeface="Times New Roman"/>
              <a:cs typeface="Times New Roman"/>
            </a:endParaRPr>
          </a:p>
        </p:txBody>
      </p:sp>
      <p:sp>
        <p:nvSpPr>
          <p:cNvPr id="31" name="object 31" descr=""/>
          <p:cNvSpPr txBox="1"/>
          <p:nvPr/>
        </p:nvSpPr>
        <p:spPr>
          <a:xfrm>
            <a:off x="7698193" y="2295652"/>
            <a:ext cx="311785" cy="233679"/>
          </a:xfrm>
          <a:prstGeom prst="rect">
            <a:avLst/>
          </a:prstGeom>
        </p:spPr>
        <p:txBody>
          <a:bodyPr wrap="square" lIns="0" tIns="13970" rIns="0" bIns="0" rtlCol="0" vert="horz">
            <a:spAutoFit/>
          </a:bodyPr>
          <a:lstStyle/>
          <a:p>
            <a:pPr marL="12700">
              <a:lnSpc>
                <a:spcPct val="100000"/>
              </a:lnSpc>
              <a:spcBef>
                <a:spcPts val="110"/>
              </a:spcBef>
            </a:pPr>
            <a:r>
              <a:rPr dirty="0" sz="1350" spc="-25" b="1">
                <a:latin typeface="Times New Roman"/>
                <a:cs typeface="Times New Roman"/>
              </a:rPr>
              <a:t>Reg</a:t>
            </a:r>
            <a:endParaRPr sz="1350">
              <a:latin typeface="Times New Roman"/>
              <a:cs typeface="Times New Roman"/>
            </a:endParaRPr>
          </a:p>
        </p:txBody>
      </p:sp>
      <p:grpSp>
        <p:nvGrpSpPr>
          <p:cNvPr id="32" name="object 32" descr=""/>
          <p:cNvGrpSpPr/>
          <p:nvPr/>
        </p:nvGrpSpPr>
        <p:grpSpPr>
          <a:xfrm>
            <a:off x="3896525" y="1795820"/>
            <a:ext cx="3644265" cy="4249420"/>
            <a:chOff x="3896525" y="1795820"/>
            <a:chExt cx="3644265" cy="4249420"/>
          </a:xfrm>
        </p:grpSpPr>
        <p:sp>
          <p:nvSpPr>
            <p:cNvPr id="33" name="object 33" descr=""/>
            <p:cNvSpPr/>
            <p:nvPr/>
          </p:nvSpPr>
          <p:spPr>
            <a:xfrm>
              <a:off x="3898112" y="1797408"/>
              <a:ext cx="11430" cy="4246245"/>
            </a:xfrm>
            <a:custGeom>
              <a:avLst/>
              <a:gdLst/>
              <a:ahLst/>
              <a:cxnLst/>
              <a:rect l="l" t="t" r="r" b="b"/>
              <a:pathLst>
                <a:path w="11429" h="4246245">
                  <a:moveTo>
                    <a:pt x="6645" y="4214164"/>
                  </a:moveTo>
                  <a:lnTo>
                    <a:pt x="4271" y="4214164"/>
                  </a:lnTo>
                  <a:lnTo>
                    <a:pt x="1896" y="4216518"/>
                  </a:lnTo>
                  <a:lnTo>
                    <a:pt x="0" y="4218875"/>
                  </a:lnTo>
                  <a:lnTo>
                    <a:pt x="0" y="4246204"/>
                  </a:lnTo>
                  <a:lnTo>
                    <a:pt x="11376" y="4246204"/>
                  </a:lnTo>
                  <a:lnTo>
                    <a:pt x="11376" y="4218875"/>
                  </a:lnTo>
                  <a:lnTo>
                    <a:pt x="6645" y="4214164"/>
                  </a:lnTo>
                  <a:close/>
                </a:path>
                <a:path w="11429" h="4246245">
                  <a:moveTo>
                    <a:pt x="11376" y="4179766"/>
                  </a:moveTo>
                  <a:lnTo>
                    <a:pt x="0" y="4179766"/>
                  </a:lnTo>
                  <a:lnTo>
                    <a:pt x="1896" y="4182123"/>
                  </a:lnTo>
                  <a:lnTo>
                    <a:pt x="1896" y="4184480"/>
                  </a:lnTo>
                  <a:lnTo>
                    <a:pt x="9020" y="4184480"/>
                  </a:lnTo>
                  <a:lnTo>
                    <a:pt x="9020" y="4182123"/>
                  </a:lnTo>
                  <a:lnTo>
                    <a:pt x="11376" y="4179766"/>
                  </a:lnTo>
                  <a:close/>
                </a:path>
                <a:path w="11429" h="4246245">
                  <a:moveTo>
                    <a:pt x="6645" y="4175055"/>
                  </a:moveTo>
                  <a:lnTo>
                    <a:pt x="4271" y="4175055"/>
                  </a:lnTo>
                  <a:lnTo>
                    <a:pt x="1896" y="4177412"/>
                  </a:lnTo>
                  <a:lnTo>
                    <a:pt x="1896" y="4179766"/>
                  </a:lnTo>
                  <a:lnTo>
                    <a:pt x="9020" y="4179766"/>
                  </a:lnTo>
                  <a:lnTo>
                    <a:pt x="9020" y="4177412"/>
                  </a:lnTo>
                  <a:lnTo>
                    <a:pt x="6645" y="4175055"/>
                  </a:lnTo>
                  <a:close/>
                </a:path>
                <a:path w="11429" h="4246245">
                  <a:moveTo>
                    <a:pt x="6645" y="4108620"/>
                  </a:moveTo>
                  <a:lnTo>
                    <a:pt x="4271" y="4108620"/>
                  </a:lnTo>
                  <a:lnTo>
                    <a:pt x="1896" y="4110974"/>
                  </a:lnTo>
                  <a:lnTo>
                    <a:pt x="0" y="4113331"/>
                  </a:lnTo>
                  <a:lnTo>
                    <a:pt x="0" y="4143015"/>
                  </a:lnTo>
                  <a:lnTo>
                    <a:pt x="1896" y="4145371"/>
                  </a:lnTo>
                  <a:lnTo>
                    <a:pt x="4271" y="4147728"/>
                  </a:lnTo>
                  <a:lnTo>
                    <a:pt x="6645" y="4147728"/>
                  </a:lnTo>
                  <a:lnTo>
                    <a:pt x="11376" y="4143015"/>
                  </a:lnTo>
                  <a:lnTo>
                    <a:pt x="11376" y="4113331"/>
                  </a:lnTo>
                  <a:lnTo>
                    <a:pt x="6645" y="4108620"/>
                  </a:lnTo>
                  <a:close/>
                </a:path>
                <a:path w="11429" h="4246245">
                  <a:moveTo>
                    <a:pt x="6645" y="4078936"/>
                  </a:moveTo>
                  <a:lnTo>
                    <a:pt x="4271" y="4078936"/>
                  </a:lnTo>
                  <a:lnTo>
                    <a:pt x="6645" y="4080819"/>
                  </a:lnTo>
                  <a:lnTo>
                    <a:pt x="6645" y="4078936"/>
                  </a:lnTo>
                  <a:close/>
                </a:path>
                <a:path w="11429" h="4246245">
                  <a:moveTo>
                    <a:pt x="9020" y="4076579"/>
                  </a:moveTo>
                  <a:lnTo>
                    <a:pt x="1896" y="4076579"/>
                  </a:lnTo>
                  <a:lnTo>
                    <a:pt x="1896" y="4078936"/>
                  </a:lnTo>
                  <a:lnTo>
                    <a:pt x="9020" y="4078936"/>
                  </a:lnTo>
                  <a:lnTo>
                    <a:pt x="9020" y="4076579"/>
                  </a:lnTo>
                  <a:close/>
                </a:path>
                <a:path w="11429" h="4246245">
                  <a:moveTo>
                    <a:pt x="9020" y="4071868"/>
                  </a:moveTo>
                  <a:lnTo>
                    <a:pt x="1896" y="4071868"/>
                  </a:lnTo>
                  <a:lnTo>
                    <a:pt x="1896" y="4074222"/>
                  </a:lnTo>
                  <a:lnTo>
                    <a:pt x="0" y="4076579"/>
                  </a:lnTo>
                  <a:lnTo>
                    <a:pt x="11376" y="4076579"/>
                  </a:lnTo>
                  <a:lnTo>
                    <a:pt x="9020" y="4074222"/>
                  </a:lnTo>
                  <a:lnTo>
                    <a:pt x="9020" y="4071868"/>
                  </a:lnTo>
                  <a:close/>
                </a:path>
                <a:path w="11429" h="4246245">
                  <a:moveTo>
                    <a:pt x="6645" y="4069511"/>
                  </a:moveTo>
                  <a:lnTo>
                    <a:pt x="4271" y="4071868"/>
                  </a:lnTo>
                  <a:lnTo>
                    <a:pt x="6645" y="4071868"/>
                  </a:lnTo>
                  <a:lnTo>
                    <a:pt x="6645" y="4069511"/>
                  </a:lnTo>
                  <a:close/>
                </a:path>
                <a:path w="11429" h="4246245">
                  <a:moveTo>
                    <a:pt x="11376" y="4007310"/>
                  </a:moveTo>
                  <a:lnTo>
                    <a:pt x="0" y="4007310"/>
                  </a:lnTo>
                  <a:lnTo>
                    <a:pt x="0" y="4037465"/>
                  </a:lnTo>
                  <a:lnTo>
                    <a:pt x="1896" y="4039833"/>
                  </a:lnTo>
                  <a:lnTo>
                    <a:pt x="4271" y="4042182"/>
                  </a:lnTo>
                  <a:lnTo>
                    <a:pt x="6645" y="4042182"/>
                  </a:lnTo>
                  <a:lnTo>
                    <a:pt x="9020" y="4039833"/>
                  </a:lnTo>
                  <a:lnTo>
                    <a:pt x="11376" y="4037465"/>
                  </a:lnTo>
                  <a:lnTo>
                    <a:pt x="11376" y="4007310"/>
                  </a:lnTo>
                  <a:close/>
                </a:path>
                <a:path w="11429" h="4246245">
                  <a:moveTo>
                    <a:pt x="6645" y="4003070"/>
                  </a:moveTo>
                  <a:lnTo>
                    <a:pt x="4271" y="4003070"/>
                  </a:lnTo>
                  <a:lnTo>
                    <a:pt x="1896" y="4005438"/>
                  </a:lnTo>
                  <a:lnTo>
                    <a:pt x="1896" y="4007310"/>
                  </a:lnTo>
                  <a:lnTo>
                    <a:pt x="9020" y="4007310"/>
                  </a:lnTo>
                  <a:lnTo>
                    <a:pt x="9020" y="4005438"/>
                  </a:lnTo>
                  <a:lnTo>
                    <a:pt x="6645" y="4003070"/>
                  </a:lnTo>
                  <a:close/>
                </a:path>
                <a:path w="11429" h="4246245">
                  <a:moveTo>
                    <a:pt x="9020" y="3966326"/>
                  </a:moveTo>
                  <a:lnTo>
                    <a:pt x="1896" y="3966326"/>
                  </a:lnTo>
                  <a:lnTo>
                    <a:pt x="1896" y="3968675"/>
                  </a:lnTo>
                  <a:lnTo>
                    <a:pt x="0" y="3970565"/>
                  </a:lnTo>
                  <a:lnTo>
                    <a:pt x="1896" y="3972914"/>
                  </a:lnTo>
                  <a:lnTo>
                    <a:pt x="4271" y="3975283"/>
                  </a:lnTo>
                  <a:lnTo>
                    <a:pt x="6645" y="3975283"/>
                  </a:lnTo>
                  <a:lnTo>
                    <a:pt x="11376" y="3970565"/>
                  </a:lnTo>
                  <a:lnTo>
                    <a:pt x="9020" y="3968675"/>
                  </a:lnTo>
                  <a:lnTo>
                    <a:pt x="9020" y="3966326"/>
                  </a:lnTo>
                  <a:close/>
                </a:path>
                <a:path w="11429" h="4246245">
                  <a:moveTo>
                    <a:pt x="9020" y="3899407"/>
                  </a:moveTo>
                  <a:lnTo>
                    <a:pt x="1896" y="3899407"/>
                  </a:lnTo>
                  <a:lnTo>
                    <a:pt x="1896" y="3901775"/>
                  </a:lnTo>
                  <a:lnTo>
                    <a:pt x="0" y="3904124"/>
                  </a:lnTo>
                  <a:lnTo>
                    <a:pt x="0" y="3931453"/>
                  </a:lnTo>
                  <a:lnTo>
                    <a:pt x="1896" y="3933821"/>
                  </a:lnTo>
                  <a:lnTo>
                    <a:pt x="1896" y="3936170"/>
                  </a:lnTo>
                  <a:lnTo>
                    <a:pt x="9020" y="3936170"/>
                  </a:lnTo>
                  <a:lnTo>
                    <a:pt x="9020" y="3933821"/>
                  </a:lnTo>
                  <a:lnTo>
                    <a:pt x="11376" y="3931453"/>
                  </a:lnTo>
                  <a:lnTo>
                    <a:pt x="11376" y="3904124"/>
                  </a:lnTo>
                  <a:lnTo>
                    <a:pt x="9020" y="3901775"/>
                  </a:lnTo>
                  <a:lnTo>
                    <a:pt x="9020" y="3899407"/>
                  </a:lnTo>
                  <a:close/>
                </a:path>
                <a:path w="11429" h="4246245">
                  <a:moveTo>
                    <a:pt x="6645" y="3897058"/>
                  </a:moveTo>
                  <a:lnTo>
                    <a:pt x="4271" y="3899407"/>
                  </a:lnTo>
                  <a:lnTo>
                    <a:pt x="6645" y="3899407"/>
                  </a:lnTo>
                  <a:lnTo>
                    <a:pt x="6645" y="3897058"/>
                  </a:lnTo>
                  <a:close/>
                </a:path>
                <a:path w="11429" h="4246245">
                  <a:moveTo>
                    <a:pt x="9020" y="3860314"/>
                  </a:moveTo>
                  <a:lnTo>
                    <a:pt x="1896" y="3860314"/>
                  </a:lnTo>
                  <a:lnTo>
                    <a:pt x="1896" y="3862663"/>
                  </a:lnTo>
                  <a:lnTo>
                    <a:pt x="0" y="3865012"/>
                  </a:lnTo>
                  <a:lnTo>
                    <a:pt x="1896" y="3867380"/>
                  </a:lnTo>
                  <a:lnTo>
                    <a:pt x="4271" y="3869729"/>
                  </a:lnTo>
                  <a:lnTo>
                    <a:pt x="6645" y="3869729"/>
                  </a:lnTo>
                  <a:lnTo>
                    <a:pt x="9020" y="3867380"/>
                  </a:lnTo>
                  <a:lnTo>
                    <a:pt x="11376" y="3865012"/>
                  </a:lnTo>
                  <a:lnTo>
                    <a:pt x="9020" y="3862663"/>
                  </a:lnTo>
                  <a:lnTo>
                    <a:pt x="9020" y="3860314"/>
                  </a:lnTo>
                  <a:close/>
                </a:path>
                <a:path w="11429" h="4246245">
                  <a:moveTo>
                    <a:pt x="9020" y="3793873"/>
                  </a:moveTo>
                  <a:lnTo>
                    <a:pt x="1896" y="3793873"/>
                  </a:lnTo>
                  <a:lnTo>
                    <a:pt x="1896" y="3796222"/>
                  </a:lnTo>
                  <a:lnTo>
                    <a:pt x="0" y="3798590"/>
                  </a:lnTo>
                  <a:lnTo>
                    <a:pt x="0" y="3825919"/>
                  </a:lnTo>
                  <a:lnTo>
                    <a:pt x="1896" y="3828268"/>
                  </a:lnTo>
                  <a:lnTo>
                    <a:pt x="1896" y="3830617"/>
                  </a:lnTo>
                  <a:lnTo>
                    <a:pt x="9020" y="3830617"/>
                  </a:lnTo>
                  <a:lnTo>
                    <a:pt x="9020" y="3828268"/>
                  </a:lnTo>
                  <a:lnTo>
                    <a:pt x="11376" y="3825919"/>
                  </a:lnTo>
                  <a:lnTo>
                    <a:pt x="11376" y="3798590"/>
                  </a:lnTo>
                  <a:lnTo>
                    <a:pt x="9020" y="3796222"/>
                  </a:lnTo>
                  <a:lnTo>
                    <a:pt x="9020" y="3793873"/>
                  </a:lnTo>
                  <a:close/>
                </a:path>
                <a:path w="11429" h="4246245">
                  <a:moveTo>
                    <a:pt x="6645" y="3754760"/>
                  </a:moveTo>
                  <a:lnTo>
                    <a:pt x="4271" y="3754760"/>
                  </a:lnTo>
                  <a:lnTo>
                    <a:pt x="1896" y="3757128"/>
                  </a:lnTo>
                  <a:lnTo>
                    <a:pt x="0" y="3759477"/>
                  </a:lnTo>
                  <a:lnTo>
                    <a:pt x="1896" y="3761826"/>
                  </a:lnTo>
                  <a:lnTo>
                    <a:pt x="1896" y="3763717"/>
                  </a:lnTo>
                  <a:lnTo>
                    <a:pt x="9020" y="3763717"/>
                  </a:lnTo>
                  <a:lnTo>
                    <a:pt x="9020" y="3761826"/>
                  </a:lnTo>
                  <a:lnTo>
                    <a:pt x="11376" y="3759477"/>
                  </a:lnTo>
                  <a:lnTo>
                    <a:pt x="6645" y="3754760"/>
                  </a:lnTo>
                  <a:close/>
                </a:path>
                <a:path w="11429" h="4246245">
                  <a:moveTo>
                    <a:pt x="9020" y="3687861"/>
                  </a:moveTo>
                  <a:lnTo>
                    <a:pt x="1896" y="3687861"/>
                  </a:lnTo>
                  <a:lnTo>
                    <a:pt x="1896" y="3690210"/>
                  </a:lnTo>
                  <a:lnTo>
                    <a:pt x="0" y="3692559"/>
                  </a:lnTo>
                  <a:lnTo>
                    <a:pt x="0" y="3720365"/>
                  </a:lnTo>
                  <a:lnTo>
                    <a:pt x="1896" y="3722714"/>
                  </a:lnTo>
                  <a:lnTo>
                    <a:pt x="1896" y="3725082"/>
                  </a:lnTo>
                  <a:lnTo>
                    <a:pt x="9020" y="3725082"/>
                  </a:lnTo>
                  <a:lnTo>
                    <a:pt x="9020" y="3722714"/>
                  </a:lnTo>
                  <a:lnTo>
                    <a:pt x="11376" y="3720365"/>
                  </a:lnTo>
                  <a:lnTo>
                    <a:pt x="11376" y="3692559"/>
                  </a:lnTo>
                  <a:lnTo>
                    <a:pt x="9020" y="3690210"/>
                  </a:lnTo>
                  <a:lnTo>
                    <a:pt x="9020" y="3687861"/>
                  </a:lnTo>
                  <a:close/>
                </a:path>
                <a:path w="11429" h="4246245">
                  <a:moveTo>
                    <a:pt x="6645" y="3649226"/>
                  </a:moveTo>
                  <a:lnTo>
                    <a:pt x="4271" y="3649226"/>
                  </a:lnTo>
                  <a:lnTo>
                    <a:pt x="1896" y="3651097"/>
                  </a:lnTo>
                  <a:lnTo>
                    <a:pt x="0" y="3653466"/>
                  </a:lnTo>
                  <a:lnTo>
                    <a:pt x="1896" y="3655815"/>
                  </a:lnTo>
                  <a:lnTo>
                    <a:pt x="1896" y="3658164"/>
                  </a:lnTo>
                  <a:lnTo>
                    <a:pt x="9020" y="3658164"/>
                  </a:lnTo>
                  <a:lnTo>
                    <a:pt x="9020" y="3655815"/>
                  </a:lnTo>
                  <a:lnTo>
                    <a:pt x="11376" y="3653466"/>
                  </a:lnTo>
                  <a:lnTo>
                    <a:pt x="9020" y="3651097"/>
                  </a:lnTo>
                  <a:lnTo>
                    <a:pt x="6645" y="3649226"/>
                  </a:lnTo>
                  <a:close/>
                </a:path>
                <a:path w="11429" h="4246245">
                  <a:moveTo>
                    <a:pt x="6645" y="3619070"/>
                  </a:moveTo>
                  <a:lnTo>
                    <a:pt x="4271" y="3619070"/>
                  </a:lnTo>
                  <a:lnTo>
                    <a:pt x="6645" y="3621419"/>
                  </a:lnTo>
                  <a:lnTo>
                    <a:pt x="6645" y="3619070"/>
                  </a:lnTo>
                  <a:close/>
                </a:path>
                <a:path w="11429" h="4246245">
                  <a:moveTo>
                    <a:pt x="9020" y="3616702"/>
                  </a:moveTo>
                  <a:lnTo>
                    <a:pt x="1896" y="3616702"/>
                  </a:lnTo>
                  <a:lnTo>
                    <a:pt x="1896" y="3619070"/>
                  </a:lnTo>
                  <a:lnTo>
                    <a:pt x="9020" y="3619070"/>
                  </a:lnTo>
                  <a:lnTo>
                    <a:pt x="9020" y="3616702"/>
                  </a:lnTo>
                  <a:close/>
                </a:path>
                <a:path w="11429" h="4246245">
                  <a:moveTo>
                    <a:pt x="6645" y="3582307"/>
                  </a:moveTo>
                  <a:lnTo>
                    <a:pt x="4271" y="3582307"/>
                  </a:lnTo>
                  <a:lnTo>
                    <a:pt x="1896" y="3584675"/>
                  </a:lnTo>
                  <a:lnTo>
                    <a:pt x="0" y="3587024"/>
                  </a:lnTo>
                  <a:lnTo>
                    <a:pt x="0" y="3616702"/>
                  </a:lnTo>
                  <a:lnTo>
                    <a:pt x="11376" y="3616702"/>
                  </a:lnTo>
                  <a:lnTo>
                    <a:pt x="11376" y="3587024"/>
                  </a:lnTo>
                  <a:lnTo>
                    <a:pt x="6645" y="3582307"/>
                  </a:lnTo>
                  <a:close/>
                </a:path>
                <a:path w="11429" h="4246245">
                  <a:moveTo>
                    <a:pt x="11376" y="3547912"/>
                  </a:moveTo>
                  <a:lnTo>
                    <a:pt x="0" y="3547912"/>
                  </a:lnTo>
                  <a:lnTo>
                    <a:pt x="1896" y="3550280"/>
                  </a:lnTo>
                  <a:lnTo>
                    <a:pt x="1896" y="3552629"/>
                  </a:lnTo>
                  <a:lnTo>
                    <a:pt x="9020" y="3552629"/>
                  </a:lnTo>
                  <a:lnTo>
                    <a:pt x="9020" y="3550280"/>
                  </a:lnTo>
                  <a:lnTo>
                    <a:pt x="11376" y="3547912"/>
                  </a:lnTo>
                  <a:close/>
                </a:path>
                <a:path w="11429" h="4246245">
                  <a:moveTo>
                    <a:pt x="6645" y="3543195"/>
                  </a:moveTo>
                  <a:lnTo>
                    <a:pt x="4271" y="3543195"/>
                  </a:lnTo>
                  <a:lnTo>
                    <a:pt x="1896" y="3545563"/>
                  </a:lnTo>
                  <a:lnTo>
                    <a:pt x="1896" y="3547912"/>
                  </a:lnTo>
                  <a:lnTo>
                    <a:pt x="9020" y="3547912"/>
                  </a:lnTo>
                  <a:lnTo>
                    <a:pt x="9020" y="3545563"/>
                  </a:lnTo>
                  <a:lnTo>
                    <a:pt x="6645" y="3543195"/>
                  </a:lnTo>
                  <a:close/>
                </a:path>
                <a:path w="11429" h="4246245">
                  <a:moveTo>
                    <a:pt x="6645" y="3476773"/>
                  </a:moveTo>
                  <a:lnTo>
                    <a:pt x="4271" y="3476773"/>
                  </a:lnTo>
                  <a:lnTo>
                    <a:pt x="1896" y="3479122"/>
                  </a:lnTo>
                  <a:lnTo>
                    <a:pt x="0" y="3481471"/>
                  </a:lnTo>
                  <a:lnTo>
                    <a:pt x="0" y="3511168"/>
                  </a:lnTo>
                  <a:lnTo>
                    <a:pt x="1896" y="3513517"/>
                  </a:lnTo>
                  <a:lnTo>
                    <a:pt x="4271" y="3515885"/>
                  </a:lnTo>
                  <a:lnTo>
                    <a:pt x="6645" y="3515885"/>
                  </a:lnTo>
                  <a:lnTo>
                    <a:pt x="11376" y="3511168"/>
                  </a:lnTo>
                  <a:lnTo>
                    <a:pt x="11376" y="3481471"/>
                  </a:lnTo>
                  <a:lnTo>
                    <a:pt x="6645" y="3476773"/>
                  </a:lnTo>
                  <a:close/>
                </a:path>
                <a:path w="11429" h="4246245">
                  <a:moveTo>
                    <a:pt x="6645" y="3446617"/>
                  </a:moveTo>
                  <a:lnTo>
                    <a:pt x="4271" y="3446617"/>
                  </a:lnTo>
                  <a:lnTo>
                    <a:pt x="6645" y="3448966"/>
                  </a:lnTo>
                  <a:lnTo>
                    <a:pt x="6645" y="3446617"/>
                  </a:lnTo>
                  <a:close/>
                </a:path>
                <a:path w="11429" h="4246245">
                  <a:moveTo>
                    <a:pt x="9020" y="3444727"/>
                  </a:moveTo>
                  <a:lnTo>
                    <a:pt x="1896" y="3444727"/>
                  </a:lnTo>
                  <a:lnTo>
                    <a:pt x="1896" y="3446617"/>
                  </a:lnTo>
                  <a:lnTo>
                    <a:pt x="9020" y="3446617"/>
                  </a:lnTo>
                  <a:lnTo>
                    <a:pt x="9020" y="3444727"/>
                  </a:lnTo>
                  <a:close/>
                </a:path>
                <a:path w="11429" h="4246245">
                  <a:moveTo>
                    <a:pt x="9020" y="3440009"/>
                  </a:moveTo>
                  <a:lnTo>
                    <a:pt x="1896" y="3440009"/>
                  </a:lnTo>
                  <a:lnTo>
                    <a:pt x="1896" y="3442378"/>
                  </a:lnTo>
                  <a:lnTo>
                    <a:pt x="0" y="3444727"/>
                  </a:lnTo>
                  <a:lnTo>
                    <a:pt x="11376" y="3444727"/>
                  </a:lnTo>
                  <a:lnTo>
                    <a:pt x="9020" y="3442378"/>
                  </a:lnTo>
                  <a:lnTo>
                    <a:pt x="9020" y="3440009"/>
                  </a:lnTo>
                  <a:close/>
                </a:path>
                <a:path w="11429" h="4246245">
                  <a:moveTo>
                    <a:pt x="6645" y="3437660"/>
                  </a:moveTo>
                  <a:lnTo>
                    <a:pt x="4271" y="3440009"/>
                  </a:lnTo>
                  <a:lnTo>
                    <a:pt x="6645" y="3440009"/>
                  </a:lnTo>
                  <a:lnTo>
                    <a:pt x="6645" y="3437660"/>
                  </a:lnTo>
                  <a:close/>
                </a:path>
                <a:path w="11429" h="4246245">
                  <a:moveTo>
                    <a:pt x="11376" y="3375459"/>
                  </a:moveTo>
                  <a:lnTo>
                    <a:pt x="0" y="3375459"/>
                  </a:lnTo>
                  <a:lnTo>
                    <a:pt x="0" y="3405614"/>
                  </a:lnTo>
                  <a:lnTo>
                    <a:pt x="4271" y="3409854"/>
                  </a:lnTo>
                  <a:lnTo>
                    <a:pt x="6645" y="3409854"/>
                  </a:lnTo>
                  <a:lnTo>
                    <a:pt x="9020" y="3407505"/>
                  </a:lnTo>
                  <a:lnTo>
                    <a:pt x="11376" y="3405614"/>
                  </a:lnTo>
                  <a:lnTo>
                    <a:pt x="11376" y="3375459"/>
                  </a:lnTo>
                  <a:close/>
                </a:path>
                <a:path w="11429" h="4246245">
                  <a:moveTo>
                    <a:pt x="6645" y="3370761"/>
                  </a:moveTo>
                  <a:lnTo>
                    <a:pt x="4271" y="3370761"/>
                  </a:lnTo>
                  <a:lnTo>
                    <a:pt x="1896" y="3373110"/>
                  </a:lnTo>
                  <a:lnTo>
                    <a:pt x="1896" y="3375459"/>
                  </a:lnTo>
                  <a:lnTo>
                    <a:pt x="9020" y="3375459"/>
                  </a:lnTo>
                  <a:lnTo>
                    <a:pt x="9020" y="3373110"/>
                  </a:lnTo>
                  <a:lnTo>
                    <a:pt x="6645" y="3370761"/>
                  </a:lnTo>
                  <a:close/>
                </a:path>
                <a:path w="11429" h="4246245">
                  <a:moveTo>
                    <a:pt x="9020" y="3333998"/>
                  </a:moveTo>
                  <a:lnTo>
                    <a:pt x="1896" y="3333998"/>
                  </a:lnTo>
                  <a:lnTo>
                    <a:pt x="1896" y="3336366"/>
                  </a:lnTo>
                  <a:lnTo>
                    <a:pt x="0" y="3338715"/>
                  </a:lnTo>
                  <a:lnTo>
                    <a:pt x="1896" y="3341064"/>
                  </a:lnTo>
                  <a:lnTo>
                    <a:pt x="4271" y="3343432"/>
                  </a:lnTo>
                  <a:lnTo>
                    <a:pt x="6645" y="3343432"/>
                  </a:lnTo>
                  <a:lnTo>
                    <a:pt x="11376" y="3338715"/>
                  </a:lnTo>
                  <a:lnTo>
                    <a:pt x="9020" y="3336366"/>
                  </a:lnTo>
                  <a:lnTo>
                    <a:pt x="9020" y="3333998"/>
                  </a:lnTo>
                  <a:close/>
                </a:path>
                <a:path w="11429" h="4246245">
                  <a:moveTo>
                    <a:pt x="9020" y="3267556"/>
                  </a:moveTo>
                  <a:lnTo>
                    <a:pt x="1896" y="3267556"/>
                  </a:lnTo>
                  <a:lnTo>
                    <a:pt x="1896" y="3269924"/>
                  </a:lnTo>
                  <a:lnTo>
                    <a:pt x="0" y="3272273"/>
                  </a:lnTo>
                  <a:lnTo>
                    <a:pt x="0" y="3299602"/>
                  </a:lnTo>
                  <a:lnTo>
                    <a:pt x="1896" y="3301951"/>
                  </a:lnTo>
                  <a:lnTo>
                    <a:pt x="4271" y="3304320"/>
                  </a:lnTo>
                  <a:lnTo>
                    <a:pt x="6645" y="3304320"/>
                  </a:lnTo>
                  <a:lnTo>
                    <a:pt x="11376" y="3299602"/>
                  </a:lnTo>
                  <a:lnTo>
                    <a:pt x="11376" y="3272273"/>
                  </a:lnTo>
                  <a:lnTo>
                    <a:pt x="9020" y="3269924"/>
                  </a:lnTo>
                  <a:lnTo>
                    <a:pt x="9020" y="3267556"/>
                  </a:lnTo>
                  <a:close/>
                </a:path>
                <a:path w="11429" h="4246245">
                  <a:moveTo>
                    <a:pt x="6645" y="3265207"/>
                  </a:moveTo>
                  <a:lnTo>
                    <a:pt x="4271" y="3267556"/>
                  </a:lnTo>
                  <a:lnTo>
                    <a:pt x="6645" y="3267556"/>
                  </a:lnTo>
                  <a:lnTo>
                    <a:pt x="6645" y="3265207"/>
                  </a:lnTo>
                  <a:close/>
                </a:path>
                <a:path w="11429" h="4246245">
                  <a:moveTo>
                    <a:pt x="9020" y="3228463"/>
                  </a:moveTo>
                  <a:lnTo>
                    <a:pt x="1896" y="3228463"/>
                  </a:lnTo>
                  <a:lnTo>
                    <a:pt x="1896" y="3230812"/>
                  </a:lnTo>
                  <a:lnTo>
                    <a:pt x="0" y="3233161"/>
                  </a:lnTo>
                  <a:lnTo>
                    <a:pt x="1896" y="3235529"/>
                  </a:lnTo>
                  <a:lnTo>
                    <a:pt x="4271" y="3237878"/>
                  </a:lnTo>
                  <a:lnTo>
                    <a:pt x="6645" y="3237878"/>
                  </a:lnTo>
                  <a:lnTo>
                    <a:pt x="9020" y="3235529"/>
                  </a:lnTo>
                  <a:lnTo>
                    <a:pt x="11376" y="3233161"/>
                  </a:lnTo>
                  <a:lnTo>
                    <a:pt x="9020" y="3230812"/>
                  </a:lnTo>
                  <a:lnTo>
                    <a:pt x="9020" y="3228463"/>
                  </a:lnTo>
                  <a:close/>
                </a:path>
                <a:path w="11429" h="4246245">
                  <a:moveTo>
                    <a:pt x="9020" y="3162022"/>
                  </a:moveTo>
                  <a:lnTo>
                    <a:pt x="1896" y="3162022"/>
                  </a:lnTo>
                  <a:lnTo>
                    <a:pt x="1896" y="3163913"/>
                  </a:lnTo>
                  <a:lnTo>
                    <a:pt x="0" y="3166262"/>
                  </a:lnTo>
                  <a:lnTo>
                    <a:pt x="0" y="3194068"/>
                  </a:lnTo>
                  <a:lnTo>
                    <a:pt x="1896" y="3196417"/>
                  </a:lnTo>
                  <a:lnTo>
                    <a:pt x="1896" y="3198766"/>
                  </a:lnTo>
                  <a:lnTo>
                    <a:pt x="9020" y="3198766"/>
                  </a:lnTo>
                  <a:lnTo>
                    <a:pt x="9020" y="3196417"/>
                  </a:lnTo>
                  <a:lnTo>
                    <a:pt x="11376" y="3194068"/>
                  </a:lnTo>
                  <a:lnTo>
                    <a:pt x="11376" y="3166262"/>
                  </a:lnTo>
                  <a:lnTo>
                    <a:pt x="9020" y="3163913"/>
                  </a:lnTo>
                  <a:lnTo>
                    <a:pt x="9020" y="3162022"/>
                  </a:lnTo>
                  <a:close/>
                </a:path>
                <a:path w="11429" h="4246245">
                  <a:moveTo>
                    <a:pt x="6645" y="3122910"/>
                  </a:moveTo>
                  <a:lnTo>
                    <a:pt x="4271" y="3122910"/>
                  </a:lnTo>
                  <a:lnTo>
                    <a:pt x="0" y="3127149"/>
                  </a:lnTo>
                  <a:lnTo>
                    <a:pt x="1896" y="3129517"/>
                  </a:lnTo>
                  <a:lnTo>
                    <a:pt x="4271" y="3131866"/>
                  </a:lnTo>
                  <a:lnTo>
                    <a:pt x="6645" y="3131866"/>
                  </a:lnTo>
                  <a:lnTo>
                    <a:pt x="9020" y="3129517"/>
                  </a:lnTo>
                  <a:lnTo>
                    <a:pt x="11376" y="3127149"/>
                  </a:lnTo>
                  <a:lnTo>
                    <a:pt x="9020" y="3125259"/>
                  </a:lnTo>
                  <a:lnTo>
                    <a:pt x="6645" y="3122910"/>
                  </a:lnTo>
                  <a:close/>
                </a:path>
                <a:path w="11429" h="4246245">
                  <a:moveTo>
                    <a:pt x="9020" y="3056010"/>
                  </a:moveTo>
                  <a:lnTo>
                    <a:pt x="1896" y="3056010"/>
                  </a:lnTo>
                  <a:lnTo>
                    <a:pt x="1896" y="3058359"/>
                  </a:lnTo>
                  <a:lnTo>
                    <a:pt x="0" y="3060708"/>
                  </a:lnTo>
                  <a:lnTo>
                    <a:pt x="0" y="3088514"/>
                  </a:lnTo>
                  <a:lnTo>
                    <a:pt x="1896" y="3090405"/>
                  </a:lnTo>
                  <a:lnTo>
                    <a:pt x="1896" y="3092754"/>
                  </a:lnTo>
                  <a:lnTo>
                    <a:pt x="9020" y="3092754"/>
                  </a:lnTo>
                  <a:lnTo>
                    <a:pt x="9020" y="3090405"/>
                  </a:lnTo>
                  <a:lnTo>
                    <a:pt x="11376" y="3088514"/>
                  </a:lnTo>
                  <a:lnTo>
                    <a:pt x="11376" y="3060708"/>
                  </a:lnTo>
                  <a:lnTo>
                    <a:pt x="9020" y="3058359"/>
                  </a:lnTo>
                  <a:lnTo>
                    <a:pt x="9020" y="3056010"/>
                  </a:lnTo>
                  <a:close/>
                </a:path>
                <a:path w="11429" h="4246245">
                  <a:moveTo>
                    <a:pt x="6645" y="3016898"/>
                  </a:moveTo>
                  <a:lnTo>
                    <a:pt x="4271" y="3016898"/>
                  </a:lnTo>
                  <a:lnTo>
                    <a:pt x="1896" y="3019247"/>
                  </a:lnTo>
                  <a:lnTo>
                    <a:pt x="0" y="3021615"/>
                  </a:lnTo>
                  <a:lnTo>
                    <a:pt x="1896" y="3023964"/>
                  </a:lnTo>
                  <a:lnTo>
                    <a:pt x="1896" y="3026313"/>
                  </a:lnTo>
                  <a:lnTo>
                    <a:pt x="9020" y="3026313"/>
                  </a:lnTo>
                  <a:lnTo>
                    <a:pt x="9020" y="3023964"/>
                  </a:lnTo>
                  <a:lnTo>
                    <a:pt x="11376" y="3021615"/>
                  </a:lnTo>
                  <a:lnTo>
                    <a:pt x="9020" y="3019247"/>
                  </a:lnTo>
                  <a:lnTo>
                    <a:pt x="6645" y="3016898"/>
                  </a:lnTo>
                  <a:close/>
                </a:path>
                <a:path w="11429" h="4246245">
                  <a:moveTo>
                    <a:pt x="6645" y="2987220"/>
                  </a:moveTo>
                  <a:lnTo>
                    <a:pt x="4271" y="2987220"/>
                  </a:lnTo>
                  <a:lnTo>
                    <a:pt x="6645" y="2989569"/>
                  </a:lnTo>
                  <a:lnTo>
                    <a:pt x="6645" y="2987220"/>
                  </a:lnTo>
                  <a:close/>
                </a:path>
                <a:path w="11429" h="4246245">
                  <a:moveTo>
                    <a:pt x="9020" y="2984852"/>
                  </a:moveTo>
                  <a:lnTo>
                    <a:pt x="1896" y="2984852"/>
                  </a:lnTo>
                  <a:lnTo>
                    <a:pt x="1896" y="2987220"/>
                  </a:lnTo>
                  <a:lnTo>
                    <a:pt x="9020" y="2987220"/>
                  </a:lnTo>
                  <a:lnTo>
                    <a:pt x="9020" y="2984852"/>
                  </a:lnTo>
                  <a:close/>
                </a:path>
                <a:path w="11429" h="4246245">
                  <a:moveTo>
                    <a:pt x="6645" y="2950456"/>
                  </a:moveTo>
                  <a:lnTo>
                    <a:pt x="4271" y="2950456"/>
                  </a:lnTo>
                  <a:lnTo>
                    <a:pt x="1896" y="2952825"/>
                  </a:lnTo>
                  <a:lnTo>
                    <a:pt x="0" y="2955174"/>
                  </a:lnTo>
                  <a:lnTo>
                    <a:pt x="0" y="2984852"/>
                  </a:lnTo>
                  <a:lnTo>
                    <a:pt x="11376" y="2984852"/>
                  </a:lnTo>
                  <a:lnTo>
                    <a:pt x="11376" y="2955174"/>
                  </a:lnTo>
                  <a:lnTo>
                    <a:pt x="6645" y="2950456"/>
                  </a:lnTo>
                  <a:close/>
                </a:path>
                <a:path w="11429" h="4246245">
                  <a:moveTo>
                    <a:pt x="11376" y="2916061"/>
                  </a:moveTo>
                  <a:lnTo>
                    <a:pt x="0" y="2916061"/>
                  </a:lnTo>
                  <a:lnTo>
                    <a:pt x="1896" y="2918429"/>
                  </a:lnTo>
                  <a:lnTo>
                    <a:pt x="1896" y="2920779"/>
                  </a:lnTo>
                  <a:lnTo>
                    <a:pt x="9020" y="2920779"/>
                  </a:lnTo>
                  <a:lnTo>
                    <a:pt x="9020" y="2918429"/>
                  </a:lnTo>
                  <a:lnTo>
                    <a:pt x="11376" y="2916061"/>
                  </a:lnTo>
                  <a:close/>
                </a:path>
                <a:path w="11429" h="4246245">
                  <a:moveTo>
                    <a:pt x="6645" y="2911344"/>
                  </a:moveTo>
                  <a:lnTo>
                    <a:pt x="4271" y="2911344"/>
                  </a:lnTo>
                  <a:lnTo>
                    <a:pt x="1896" y="2913712"/>
                  </a:lnTo>
                  <a:lnTo>
                    <a:pt x="1896" y="2916061"/>
                  </a:lnTo>
                  <a:lnTo>
                    <a:pt x="9020" y="2916061"/>
                  </a:lnTo>
                  <a:lnTo>
                    <a:pt x="9020" y="2913712"/>
                  </a:lnTo>
                  <a:lnTo>
                    <a:pt x="6645" y="2911344"/>
                  </a:lnTo>
                  <a:close/>
                </a:path>
                <a:path w="11429" h="4246245">
                  <a:moveTo>
                    <a:pt x="9020" y="2879317"/>
                  </a:moveTo>
                  <a:lnTo>
                    <a:pt x="1896" y="2879317"/>
                  </a:lnTo>
                  <a:lnTo>
                    <a:pt x="1896" y="2881666"/>
                  </a:lnTo>
                  <a:lnTo>
                    <a:pt x="4271" y="2883557"/>
                  </a:lnTo>
                  <a:lnTo>
                    <a:pt x="6645" y="2883557"/>
                  </a:lnTo>
                  <a:lnTo>
                    <a:pt x="9020" y="2881666"/>
                  </a:lnTo>
                  <a:lnTo>
                    <a:pt x="9020" y="2879317"/>
                  </a:lnTo>
                  <a:close/>
                </a:path>
                <a:path w="11429" h="4246245">
                  <a:moveTo>
                    <a:pt x="6645" y="2844922"/>
                  </a:moveTo>
                  <a:lnTo>
                    <a:pt x="4271" y="2844922"/>
                  </a:lnTo>
                  <a:lnTo>
                    <a:pt x="1896" y="2846794"/>
                  </a:lnTo>
                  <a:lnTo>
                    <a:pt x="0" y="2849162"/>
                  </a:lnTo>
                  <a:lnTo>
                    <a:pt x="0" y="2879317"/>
                  </a:lnTo>
                  <a:lnTo>
                    <a:pt x="11376" y="2879317"/>
                  </a:lnTo>
                  <a:lnTo>
                    <a:pt x="11376" y="2849162"/>
                  </a:lnTo>
                  <a:lnTo>
                    <a:pt x="9020" y="2846794"/>
                  </a:lnTo>
                  <a:lnTo>
                    <a:pt x="6645" y="2844922"/>
                  </a:lnTo>
                  <a:close/>
                </a:path>
                <a:path w="11429" h="4246245">
                  <a:moveTo>
                    <a:pt x="6645" y="2814767"/>
                  </a:moveTo>
                  <a:lnTo>
                    <a:pt x="4271" y="2814767"/>
                  </a:lnTo>
                  <a:lnTo>
                    <a:pt x="6645" y="2817116"/>
                  </a:lnTo>
                  <a:lnTo>
                    <a:pt x="6645" y="2814767"/>
                  </a:lnTo>
                  <a:close/>
                </a:path>
                <a:path w="11429" h="4246245">
                  <a:moveTo>
                    <a:pt x="9020" y="2812399"/>
                  </a:moveTo>
                  <a:lnTo>
                    <a:pt x="1896" y="2812399"/>
                  </a:lnTo>
                  <a:lnTo>
                    <a:pt x="1896" y="2814767"/>
                  </a:lnTo>
                  <a:lnTo>
                    <a:pt x="9020" y="2814767"/>
                  </a:lnTo>
                  <a:lnTo>
                    <a:pt x="9020" y="2812399"/>
                  </a:lnTo>
                  <a:close/>
                </a:path>
                <a:path w="11429" h="4246245">
                  <a:moveTo>
                    <a:pt x="11376" y="2810049"/>
                  </a:moveTo>
                  <a:lnTo>
                    <a:pt x="0" y="2810049"/>
                  </a:lnTo>
                  <a:lnTo>
                    <a:pt x="0" y="2812399"/>
                  </a:lnTo>
                  <a:lnTo>
                    <a:pt x="11376" y="2812399"/>
                  </a:lnTo>
                  <a:lnTo>
                    <a:pt x="11376" y="2810049"/>
                  </a:lnTo>
                  <a:close/>
                </a:path>
                <a:path w="11429" h="4246245">
                  <a:moveTo>
                    <a:pt x="9020" y="2808159"/>
                  </a:moveTo>
                  <a:lnTo>
                    <a:pt x="1896" y="2808159"/>
                  </a:lnTo>
                  <a:lnTo>
                    <a:pt x="1896" y="2810049"/>
                  </a:lnTo>
                  <a:lnTo>
                    <a:pt x="9020" y="2810049"/>
                  </a:lnTo>
                  <a:lnTo>
                    <a:pt x="9020" y="2808159"/>
                  </a:lnTo>
                  <a:close/>
                </a:path>
                <a:path w="11429" h="4246245">
                  <a:moveTo>
                    <a:pt x="6645" y="2805810"/>
                  </a:moveTo>
                  <a:lnTo>
                    <a:pt x="4271" y="2808159"/>
                  </a:lnTo>
                  <a:lnTo>
                    <a:pt x="6645" y="2808159"/>
                  </a:lnTo>
                  <a:lnTo>
                    <a:pt x="6645" y="2805810"/>
                  </a:lnTo>
                  <a:close/>
                </a:path>
                <a:path w="11429" h="4246245">
                  <a:moveTo>
                    <a:pt x="11376" y="2743608"/>
                  </a:moveTo>
                  <a:lnTo>
                    <a:pt x="0" y="2743608"/>
                  </a:lnTo>
                  <a:lnTo>
                    <a:pt x="0" y="2773305"/>
                  </a:lnTo>
                  <a:lnTo>
                    <a:pt x="1896" y="2775654"/>
                  </a:lnTo>
                  <a:lnTo>
                    <a:pt x="4271" y="2778003"/>
                  </a:lnTo>
                  <a:lnTo>
                    <a:pt x="6645" y="2778003"/>
                  </a:lnTo>
                  <a:lnTo>
                    <a:pt x="11376" y="2773305"/>
                  </a:lnTo>
                  <a:lnTo>
                    <a:pt x="11376" y="2743608"/>
                  </a:lnTo>
                  <a:close/>
                </a:path>
                <a:path w="11429" h="4246245">
                  <a:moveTo>
                    <a:pt x="6645" y="2738910"/>
                  </a:moveTo>
                  <a:lnTo>
                    <a:pt x="4271" y="2738910"/>
                  </a:lnTo>
                  <a:lnTo>
                    <a:pt x="1896" y="2741259"/>
                  </a:lnTo>
                  <a:lnTo>
                    <a:pt x="1896" y="2743608"/>
                  </a:lnTo>
                  <a:lnTo>
                    <a:pt x="9020" y="2743608"/>
                  </a:lnTo>
                  <a:lnTo>
                    <a:pt x="9020" y="2741259"/>
                  </a:lnTo>
                  <a:lnTo>
                    <a:pt x="6645" y="2738910"/>
                  </a:lnTo>
                  <a:close/>
                </a:path>
                <a:path w="11429" h="4246245">
                  <a:moveTo>
                    <a:pt x="9020" y="2706864"/>
                  </a:moveTo>
                  <a:lnTo>
                    <a:pt x="1896" y="2706864"/>
                  </a:lnTo>
                  <a:lnTo>
                    <a:pt x="1896" y="2709213"/>
                  </a:lnTo>
                  <a:lnTo>
                    <a:pt x="4271" y="2711581"/>
                  </a:lnTo>
                  <a:lnTo>
                    <a:pt x="6645" y="2711581"/>
                  </a:lnTo>
                  <a:lnTo>
                    <a:pt x="9020" y="2709213"/>
                  </a:lnTo>
                  <a:lnTo>
                    <a:pt x="9020" y="2706864"/>
                  </a:lnTo>
                  <a:close/>
                </a:path>
                <a:path w="11429" h="4246245">
                  <a:moveTo>
                    <a:pt x="9020" y="2702147"/>
                  </a:moveTo>
                  <a:lnTo>
                    <a:pt x="1896" y="2702147"/>
                  </a:lnTo>
                  <a:lnTo>
                    <a:pt x="1896" y="2704496"/>
                  </a:lnTo>
                  <a:lnTo>
                    <a:pt x="0" y="2706864"/>
                  </a:lnTo>
                  <a:lnTo>
                    <a:pt x="11376" y="2706864"/>
                  </a:lnTo>
                  <a:lnTo>
                    <a:pt x="9020" y="2704496"/>
                  </a:lnTo>
                  <a:lnTo>
                    <a:pt x="9020" y="2702147"/>
                  </a:lnTo>
                  <a:close/>
                </a:path>
                <a:path w="11429" h="4246245">
                  <a:moveTo>
                    <a:pt x="11376" y="2638074"/>
                  </a:moveTo>
                  <a:lnTo>
                    <a:pt x="0" y="2638074"/>
                  </a:lnTo>
                  <a:lnTo>
                    <a:pt x="0" y="2667752"/>
                  </a:lnTo>
                  <a:lnTo>
                    <a:pt x="1896" y="2670101"/>
                  </a:lnTo>
                  <a:lnTo>
                    <a:pt x="4271" y="2672469"/>
                  </a:lnTo>
                  <a:lnTo>
                    <a:pt x="6645" y="2672469"/>
                  </a:lnTo>
                  <a:lnTo>
                    <a:pt x="11376" y="2667752"/>
                  </a:lnTo>
                  <a:lnTo>
                    <a:pt x="11376" y="2638074"/>
                  </a:lnTo>
                  <a:close/>
                </a:path>
                <a:path w="11429" h="4246245">
                  <a:moveTo>
                    <a:pt x="9020" y="2635706"/>
                  </a:moveTo>
                  <a:lnTo>
                    <a:pt x="1896" y="2635706"/>
                  </a:lnTo>
                  <a:lnTo>
                    <a:pt x="1896" y="2638074"/>
                  </a:lnTo>
                  <a:lnTo>
                    <a:pt x="9020" y="2638074"/>
                  </a:lnTo>
                  <a:lnTo>
                    <a:pt x="9020" y="2635706"/>
                  </a:lnTo>
                  <a:close/>
                </a:path>
                <a:path w="11429" h="4246245">
                  <a:moveTo>
                    <a:pt x="6645" y="2633357"/>
                  </a:moveTo>
                  <a:lnTo>
                    <a:pt x="4271" y="2635706"/>
                  </a:lnTo>
                  <a:lnTo>
                    <a:pt x="6645" y="2635706"/>
                  </a:lnTo>
                  <a:lnTo>
                    <a:pt x="6645" y="2633357"/>
                  </a:lnTo>
                  <a:close/>
                </a:path>
                <a:path w="11429" h="4246245">
                  <a:moveTo>
                    <a:pt x="9020" y="2596612"/>
                  </a:moveTo>
                  <a:lnTo>
                    <a:pt x="1896" y="2596612"/>
                  </a:lnTo>
                  <a:lnTo>
                    <a:pt x="1896" y="2598962"/>
                  </a:lnTo>
                  <a:lnTo>
                    <a:pt x="0" y="2601311"/>
                  </a:lnTo>
                  <a:lnTo>
                    <a:pt x="4271" y="2605550"/>
                  </a:lnTo>
                  <a:lnTo>
                    <a:pt x="6645" y="2605550"/>
                  </a:lnTo>
                  <a:lnTo>
                    <a:pt x="9020" y="2603201"/>
                  </a:lnTo>
                  <a:lnTo>
                    <a:pt x="11376" y="2601311"/>
                  </a:lnTo>
                  <a:lnTo>
                    <a:pt x="9020" y="2598962"/>
                  </a:lnTo>
                  <a:lnTo>
                    <a:pt x="9020" y="2596612"/>
                  </a:lnTo>
                  <a:close/>
                </a:path>
                <a:path w="11429" h="4246245">
                  <a:moveTo>
                    <a:pt x="9020" y="2529694"/>
                  </a:moveTo>
                  <a:lnTo>
                    <a:pt x="1896" y="2529694"/>
                  </a:lnTo>
                  <a:lnTo>
                    <a:pt x="1896" y="2532062"/>
                  </a:lnTo>
                  <a:lnTo>
                    <a:pt x="0" y="2534411"/>
                  </a:lnTo>
                  <a:lnTo>
                    <a:pt x="0" y="2562217"/>
                  </a:lnTo>
                  <a:lnTo>
                    <a:pt x="1896" y="2564566"/>
                  </a:lnTo>
                  <a:lnTo>
                    <a:pt x="1896" y="2566457"/>
                  </a:lnTo>
                  <a:lnTo>
                    <a:pt x="9020" y="2566457"/>
                  </a:lnTo>
                  <a:lnTo>
                    <a:pt x="9020" y="2564566"/>
                  </a:lnTo>
                  <a:lnTo>
                    <a:pt x="11376" y="2562217"/>
                  </a:lnTo>
                  <a:lnTo>
                    <a:pt x="11376" y="2534411"/>
                  </a:lnTo>
                  <a:lnTo>
                    <a:pt x="9020" y="2532062"/>
                  </a:lnTo>
                  <a:lnTo>
                    <a:pt x="9020" y="2529694"/>
                  </a:lnTo>
                  <a:close/>
                </a:path>
                <a:path w="11429" h="4246245">
                  <a:moveTo>
                    <a:pt x="6645" y="2490582"/>
                  </a:moveTo>
                  <a:lnTo>
                    <a:pt x="4271" y="2490582"/>
                  </a:lnTo>
                  <a:lnTo>
                    <a:pt x="1896" y="2492950"/>
                  </a:lnTo>
                  <a:lnTo>
                    <a:pt x="0" y="2495299"/>
                  </a:lnTo>
                  <a:lnTo>
                    <a:pt x="1896" y="2497667"/>
                  </a:lnTo>
                  <a:lnTo>
                    <a:pt x="4271" y="2500016"/>
                  </a:lnTo>
                  <a:lnTo>
                    <a:pt x="6645" y="2500016"/>
                  </a:lnTo>
                  <a:lnTo>
                    <a:pt x="9020" y="2497667"/>
                  </a:lnTo>
                  <a:lnTo>
                    <a:pt x="11376" y="2495299"/>
                  </a:lnTo>
                  <a:lnTo>
                    <a:pt x="6645" y="2490582"/>
                  </a:lnTo>
                  <a:close/>
                </a:path>
                <a:path w="11429" h="4246245">
                  <a:moveTo>
                    <a:pt x="9020" y="2424159"/>
                  </a:moveTo>
                  <a:lnTo>
                    <a:pt x="1896" y="2424159"/>
                  </a:lnTo>
                  <a:lnTo>
                    <a:pt x="1896" y="2426508"/>
                  </a:lnTo>
                  <a:lnTo>
                    <a:pt x="0" y="2428857"/>
                  </a:lnTo>
                  <a:lnTo>
                    <a:pt x="0" y="2456186"/>
                  </a:lnTo>
                  <a:lnTo>
                    <a:pt x="1896" y="2458555"/>
                  </a:lnTo>
                  <a:lnTo>
                    <a:pt x="1896" y="2460904"/>
                  </a:lnTo>
                  <a:lnTo>
                    <a:pt x="9020" y="2460904"/>
                  </a:lnTo>
                  <a:lnTo>
                    <a:pt x="9020" y="2458555"/>
                  </a:lnTo>
                  <a:lnTo>
                    <a:pt x="11376" y="2456186"/>
                  </a:lnTo>
                  <a:lnTo>
                    <a:pt x="11376" y="2428857"/>
                  </a:lnTo>
                  <a:lnTo>
                    <a:pt x="9020" y="2426508"/>
                  </a:lnTo>
                  <a:lnTo>
                    <a:pt x="9020" y="2424159"/>
                  </a:lnTo>
                  <a:close/>
                </a:path>
                <a:path w="11429" h="4246245">
                  <a:moveTo>
                    <a:pt x="6645" y="2385047"/>
                  </a:moveTo>
                  <a:lnTo>
                    <a:pt x="4271" y="2385047"/>
                  </a:lnTo>
                  <a:lnTo>
                    <a:pt x="1896" y="2387396"/>
                  </a:lnTo>
                  <a:lnTo>
                    <a:pt x="0" y="2389764"/>
                  </a:lnTo>
                  <a:lnTo>
                    <a:pt x="1896" y="2392113"/>
                  </a:lnTo>
                  <a:lnTo>
                    <a:pt x="1896" y="2394462"/>
                  </a:lnTo>
                  <a:lnTo>
                    <a:pt x="9020" y="2394462"/>
                  </a:lnTo>
                  <a:lnTo>
                    <a:pt x="9020" y="2392113"/>
                  </a:lnTo>
                  <a:lnTo>
                    <a:pt x="11376" y="2389764"/>
                  </a:lnTo>
                  <a:lnTo>
                    <a:pt x="9020" y="2387396"/>
                  </a:lnTo>
                  <a:lnTo>
                    <a:pt x="6645" y="2385047"/>
                  </a:lnTo>
                  <a:close/>
                </a:path>
                <a:path w="11429" h="4246245">
                  <a:moveTo>
                    <a:pt x="6645" y="2355369"/>
                  </a:moveTo>
                  <a:lnTo>
                    <a:pt x="4271" y="2355369"/>
                  </a:lnTo>
                  <a:lnTo>
                    <a:pt x="6645" y="2357718"/>
                  </a:lnTo>
                  <a:lnTo>
                    <a:pt x="6645" y="2355369"/>
                  </a:lnTo>
                  <a:close/>
                </a:path>
                <a:path w="11429" h="4246245">
                  <a:moveTo>
                    <a:pt x="6645" y="2318663"/>
                  </a:moveTo>
                  <a:lnTo>
                    <a:pt x="4271" y="2318663"/>
                  </a:lnTo>
                  <a:lnTo>
                    <a:pt x="1896" y="2320955"/>
                  </a:lnTo>
                  <a:lnTo>
                    <a:pt x="0" y="2322865"/>
                  </a:lnTo>
                  <a:lnTo>
                    <a:pt x="0" y="2350652"/>
                  </a:lnTo>
                  <a:lnTo>
                    <a:pt x="1896" y="2353001"/>
                  </a:lnTo>
                  <a:lnTo>
                    <a:pt x="1896" y="2355369"/>
                  </a:lnTo>
                  <a:lnTo>
                    <a:pt x="9020" y="2355369"/>
                  </a:lnTo>
                  <a:lnTo>
                    <a:pt x="9020" y="2353001"/>
                  </a:lnTo>
                  <a:lnTo>
                    <a:pt x="11376" y="2350652"/>
                  </a:lnTo>
                  <a:lnTo>
                    <a:pt x="11376" y="2322865"/>
                  </a:lnTo>
                  <a:lnTo>
                    <a:pt x="9020" y="2320955"/>
                  </a:lnTo>
                  <a:lnTo>
                    <a:pt x="6645" y="2318663"/>
                  </a:lnTo>
                  <a:close/>
                </a:path>
                <a:path w="11429" h="4246245">
                  <a:moveTo>
                    <a:pt x="6645" y="2279513"/>
                  </a:moveTo>
                  <a:lnTo>
                    <a:pt x="4271" y="2279513"/>
                  </a:lnTo>
                  <a:lnTo>
                    <a:pt x="1896" y="2281804"/>
                  </a:lnTo>
                  <a:lnTo>
                    <a:pt x="0" y="2284287"/>
                  </a:lnTo>
                  <a:lnTo>
                    <a:pt x="1896" y="2286006"/>
                  </a:lnTo>
                  <a:lnTo>
                    <a:pt x="1896" y="2288489"/>
                  </a:lnTo>
                  <a:lnTo>
                    <a:pt x="9020" y="2288489"/>
                  </a:lnTo>
                  <a:lnTo>
                    <a:pt x="9020" y="2286006"/>
                  </a:lnTo>
                  <a:lnTo>
                    <a:pt x="11376" y="2284287"/>
                  </a:lnTo>
                  <a:lnTo>
                    <a:pt x="9020" y="2281804"/>
                  </a:lnTo>
                  <a:lnTo>
                    <a:pt x="6645" y="2279513"/>
                  </a:lnTo>
                  <a:close/>
                </a:path>
                <a:path w="11429" h="4246245">
                  <a:moveTo>
                    <a:pt x="9020" y="2247428"/>
                  </a:moveTo>
                  <a:lnTo>
                    <a:pt x="1896" y="2247428"/>
                  </a:lnTo>
                  <a:lnTo>
                    <a:pt x="1896" y="2249338"/>
                  </a:lnTo>
                  <a:lnTo>
                    <a:pt x="4271" y="2251630"/>
                  </a:lnTo>
                  <a:lnTo>
                    <a:pt x="6645" y="2251630"/>
                  </a:lnTo>
                  <a:lnTo>
                    <a:pt x="9020" y="2249338"/>
                  </a:lnTo>
                  <a:lnTo>
                    <a:pt x="9020" y="2247428"/>
                  </a:lnTo>
                  <a:close/>
                </a:path>
                <a:path w="11429" h="4246245">
                  <a:moveTo>
                    <a:pt x="6645" y="2212670"/>
                  </a:moveTo>
                  <a:lnTo>
                    <a:pt x="4271" y="2212670"/>
                  </a:lnTo>
                  <a:lnTo>
                    <a:pt x="1896" y="2214962"/>
                  </a:lnTo>
                  <a:lnTo>
                    <a:pt x="0" y="2217254"/>
                  </a:lnTo>
                  <a:lnTo>
                    <a:pt x="0" y="2247428"/>
                  </a:lnTo>
                  <a:lnTo>
                    <a:pt x="11376" y="2247428"/>
                  </a:lnTo>
                  <a:lnTo>
                    <a:pt x="11376" y="2217254"/>
                  </a:lnTo>
                  <a:lnTo>
                    <a:pt x="6645" y="2212670"/>
                  </a:lnTo>
                  <a:close/>
                </a:path>
                <a:path w="11429" h="4246245">
                  <a:moveTo>
                    <a:pt x="6645" y="2182878"/>
                  </a:moveTo>
                  <a:lnTo>
                    <a:pt x="4271" y="2182878"/>
                  </a:lnTo>
                  <a:lnTo>
                    <a:pt x="6645" y="2185361"/>
                  </a:lnTo>
                  <a:lnTo>
                    <a:pt x="6645" y="2182878"/>
                  </a:lnTo>
                  <a:close/>
                </a:path>
                <a:path w="11429" h="4246245">
                  <a:moveTo>
                    <a:pt x="11376" y="2178103"/>
                  </a:moveTo>
                  <a:lnTo>
                    <a:pt x="0" y="2178103"/>
                  </a:lnTo>
                  <a:lnTo>
                    <a:pt x="1896" y="2180586"/>
                  </a:lnTo>
                  <a:lnTo>
                    <a:pt x="1896" y="2182878"/>
                  </a:lnTo>
                  <a:lnTo>
                    <a:pt x="9020" y="2182878"/>
                  </a:lnTo>
                  <a:lnTo>
                    <a:pt x="9020" y="2180586"/>
                  </a:lnTo>
                  <a:lnTo>
                    <a:pt x="11376" y="2178103"/>
                  </a:lnTo>
                  <a:close/>
                </a:path>
                <a:path w="11429" h="4246245">
                  <a:moveTo>
                    <a:pt x="9020" y="2175812"/>
                  </a:moveTo>
                  <a:lnTo>
                    <a:pt x="1896" y="2175812"/>
                  </a:lnTo>
                  <a:lnTo>
                    <a:pt x="1896" y="2178103"/>
                  </a:lnTo>
                  <a:lnTo>
                    <a:pt x="9020" y="2178103"/>
                  </a:lnTo>
                  <a:lnTo>
                    <a:pt x="9020" y="2175812"/>
                  </a:lnTo>
                  <a:close/>
                </a:path>
                <a:path w="11429" h="4246245">
                  <a:moveTo>
                    <a:pt x="6645" y="2173520"/>
                  </a:moveTo>
                  <a:lnTo>
                    <a:pt x="4271" y="2175812"/>
                  </a:lnTo>
                  <a:lnTo>
                    <a:pt x="6645" y="2175812"/>
                  </a:lnTo>
                  <a:lnTo>
                    <a:pt x="6645" y="2173520"/>
                  </a:lnTo>
                  <a:close/>
                </a:path>
                <a:path w="11429" h="4246245">
                  <a:moveTo>
                    <a:pt x="6645" y="2107060"/>
                  </a:moveTo>
                  <a:lnTo>
                    <a:pt x="4271" y="2107060"/>
                  </a:lnTo>
                  <a:lnTo>
                    <a:pt x="1896" y="2109351"/>
                  </a:lnTo>
                  <a:lnTo>
                    <a:pt x="0" y="2111834"/>
                  </a:lnTo>
                  <a:lnTo>
                    <a:pt x="0" y="2141436"/>
                  </a:lnTo>
                  <a:lnTo>
                    <a:pt x="1896" y="2143727"/>
                  </a:lnTo>
                  <a:lnTo>
                    <a:pt x="4271" y="2146210"/>
                  </a:lnTo>
                  <a:lnTo>
                    <a:pt x="6645" y="2146210"/>
                  </a:lnTo>
                  <a:lnTo>
                    <a:pt x="9020" y="2143727"/>
                  </a:lnTo>
                  <a:lnTo>
                    <a:pt x="11376" y="2141436"/>
                  </a:lnTo>
                  <a:lnTo>
                    <a:pt x="11376" y="2111834"/>
                  </a:lnTo>
                  <a:lnTo>
                    <a:pt x="9020" y="2109351"/>
                  </a:lnTo>
                  <a:lnTo>
                    <a:pt x="6645" y="2107060"/>
                  </a:lnTo>
                  <a:close/>
                </a:path>
                <a:path w="11429" h="4246245">
                  <a:moveTo>
                    <a:pt x="9020" y="2074975"/>
                  </a:moveTo>
                  <a:lnTo>
                    <a:pt x="1896" y="2074975"/>
                  </a:lnTo>
                  <a:lnTo>
                    <a:pt x="1896" y="2077458"/>
                  </a:lnTo>
                  <a:lnTo>
                    <a:pt x="4271" y="2079177"/>
                  </a:lnTo>
                  <a:lnTo>
                    <a:pt x="6645" y="2079177"/>
                  </a:lnTo>
                  <a:lnTo>
                    <a:pt x="9020" y="2077458"/>
                  </a:lnTo>
                  <a:lnTo>
                    <a:pt x="9020" y="2074975"/>
                  </a:lnTo>
                  <a:close/>
                </a:path>
                <a:path w="11429" h="4246245">
                  <a:moveTo>
                    <a:pt x="9020" y="2070392"/>
                  </a:moveTo>
                  <a:lnTo>
                    <a:pt x="1896" y="2070392"/>
                  </a:lnTo>
                  <a:lnTo>
                    <a:pt x="1896" y="2072684"/>
                  </a:lnTo>
                  <a:lnTo>
                    <a:pt x="0" y="2074975"/>
                  </a:lnTo>
                  <a:lnTo>
                    <a:pt x="11376" y="2074975"/>
                  </a:lnTo>
                  <a:lnTo>
                    <a:pt x="9020" y="2072684"/>
                  </a:lnTo>
                  <a:lnTo>
                    <a:pt x="9020" y="2070392"/>
                  </a:lnTo>
                  <a:close/>
                </a:path>
                <a:path w="11429" h="4246245">
                  <a:moveTo>
                    <a:pt x="11376" y="2005841"/>
                  </a:moveTo>
                  <a:lnTo>
                    <a:pt x="0" y="2005841"/>
                  </a:lnTo>
                  <a:lnTo>
                    <a:pt x="0" y="2035825"/>
                  </a:lnTo>
                  <a:lnTo>
                    <a:pt x="1896" y="2038307"/>
                  </a:lnTo>
                  <a:lnTo>
                    <a:pt x="4271" y="2040599"/>
                  </a:lnTo>
                  <a:lnTo>
                    <a:pt x="6645" y="2040599"/>
                  </a:lnTo>
                  <a:lnTo>
                    <a:pt x="9020" y="2038307"/>
                  </a:lnTo>
                  <a:lnTo>
                    <a:pt x="11376" y="2035825"/>
                  </a:lnTo>
                  <a:lnTo>
                    <a:pt x="11376" y="2005841"/>
                  </a:lnTo>
                  <a:close/>
                </a:path>
                <a:path w="11429" h="4246245">
                  <a:moveTo>
                    <a:pt x="9020" y="2003931"/>
                  </a:moveTo>
                  <a:lnTo>
                    <a:pt x="1896" y="2003931"/>
                  </a:lnTo>
                  <a:lnTo>
                    <a:pt x="1896" y="2005841"/>
                  </a:lnTo>
                  <a:lnTo>
                    <a:pt x="9020" y="2005841"/>
                  </a:lnTo>
                  <a:lnTo>
                    <a:pt x="9020" y="2003931"/>
                  </a:lnTo>
                  <a:close/>
                </a:path>
                <a:path w="11429" h="4246245">
                  <a:moveTo>
                    <a:pt x="6645" y="2001449"/>
                  </a:moveTo>
                  <a:lnTo>
                    <a:pt x="4271" y="2003931"/>
                  </a:lnTo>
                  <a:lnTo>
                    <a:pt x="6645" y="2003931"/>
                  </a:lnTo>
                  <a:lnTo>
                    <a:pt x="6645" y="2001449"/>
                  </a:lnTo>
                  <a:close/>
                </a:path>
                <a:path w="11429" h="4246245">
                  <a:moveTo>
                    <a:pt x="9020" y="1964781"/>
                  </a:moveTo>
                  <a:lnTo>
                    <a:pt x="1896" y="1964781"/>
                  </a:lnTo>
                  <a:lnTo>
                    <a:pt x="1896" y="1966691"/>
                  </a:lnTo>
                  <a:lnTo>
                    <a:pt x="0" y="1968982"/>
                  </a:lnTo>
                  <a:lnTo>
                    <a:pt x="1896" y="1971274"/>
                  </a:lnTo>
                  <a:lnTo>
                    <a:pt x="4271" y="1973757"/>
                  </a:lnTo>
                  <a:lnTo>
                    <a:pt x="6645" y="1973757"/>
                  </a:lnTo>
                  <a:lnTo>
                    <a:pt x="9020" y="1971274"/>
                  </a:lnTo>
                  <a:lnTo>
                    <a:pt x="11376" y="1968982"/>
                  </a:lnTo>
                  <a:lnTo>
                    <a:pt x="9020" y="1966691"/>
                  </a:lnTo>
                  <a:lnTo>
                    <a:pt x="9020" y="1964781"/>
                  </a:lnTo>
                  <a:close/>
                </a:path>
                <a:path w="11429" h="4246245">
                  <a:moveTo>
                    <a:pt x="9020" y="1897939"/>
                  </a:moveTo>
                  <a:lnTo>
                    <a:pt x="1896" y="1897939"/>
                  </a:lnTo>
                  <a:lnTo>
                    <a:pt x="1896" y="1900230"/>
                  </a:lnTo>
                  <a:lnTo>
                    <a:pt x="0" y="1902522"/>
                  </a:lnTo>
                  <a:lnTo>
                    <a:pt x="0" y="1929832"/>
                  </a:lnTo>
                  <a:lnTo>
                    <a:pt x="1896" y="1932315"/>
                  </a:lnTo>
                  <a:lnTo>
                    <a:pt x="1896" y="1934606"/>
                  </a:lnTo>
                  <a:lnTo>
                    <a:pt x="9020" y="1934606"/>
                  </a:lnTo>
                  <a:lnTo>
                    <a:pt x="9020" y="1932315"/>
                  </a:lnTo>
                  <a:lnTo>
                    <a:pt x="11376" y="1929832"/>
                  </a:lnTo>
                  <a:lnTo>
                    <a:pt x="11376" y="1902522"/>
                  </a:lnTo>
                  <a:lnTo>
                    <a:pt x="9020" y="1900230"/>
                  </a:lnTo>
                  <a:lnTo>
                    <a:pt x="9020" y="1897939"/>
                  </a:lnTo>
                  <a:close/>
                </a:path>
                <a:path w="11429" h="4246245">
                  <a:moveTo>
                    <a:pt x="9020" y="1858788"/>
                  </a:moveTo>
                  <a:lnTo>
                    <a:pt x="1896" y="1858788"/>
                  </a:lnTo>
                  <a:lnTo>
                    <a:pt x="1896" y="1861080"/>
                  </a:lnTo>
                  <a:lnTo>
                    <a:pt x="0" y="1863372"/>
                  </a:lnTo>
                  <a:lnTo>
                    <a:pt x="1896" y="1865854"/>
                  </a:lnTo>
                  <a:lnTo>
                    <a:pt x="4271" y="1868146"/>
                  </a:lnTo>
                  <a:lnTo>
                    <a:pt x="6645" y="1868146"/>
                  </a:lnTo>
                  <a:lnTo>
                    <a:pt x="9020" y="1865854"/>
                  </a:lnTo>
                  <a:lnTo>
                    <a:pt x="11376" y="1863372"/>
                  </a:lnTo>
                  <a:lnTo>
                    <a:pt x="9020" y="1861080"/>
                  </a:lnTo>
                  <a:lnTo>
                    <a:pt x="9020" y="1858788"/>
                  </a:lnTo>
                  <a:close/>
                </a:path>
                <a:path w="11429" h="4246245">
                  <a:moveTo>
                    <a:pt x="9020" y="1792328"/>
                  </a:moveTo>
                  <a:lnTo>
                    <a:pt x="1896" y="1792328"/>
                  </a:lnTo>
                  <a:lnTo>
                    <a:pt x="1896" y="1794620"/>
                  </a:lnTo>
                  <a:lnTo>
                    <a:pt x="0" y="1797102"/>
                  </a:lnTo>
                  <a:lnTo>
                    <a:pt x="0" y="1824412"/>
                  </a:lnTo>
                  <a:lnTo>
                    <a:pt x="1896" y="1826704"/>
                  </a:lnTo>
                  <a:lnTo>
                    <a:pt x="1896" y="1828996"/>
                  </a:lnTo>
                  <a:lnTo>
                    <a:pt x="9020" y="1828996"/>
                  </a:lnTo>
                  <a:lnTo>
                    <a:pt x="9020" y="1826704"/>
                  </a:lnTo>
                  <a:lnTo>
                    <a:pt x="11376" y="1824412"/>
                  </a:lnTo>
                  <a:lnTo>
                    <a:pt x="11376" y="1797102"/>
                  </a:lnTo>
                  <a:lnTo>
                    <a:pt x="9020" y="1794620"/>
                  </a:lnTo>
                  <a:lnTo>
                    <a:pt x="9020" y="1792328"/>
                  </a:lnTo>
                  <a:close/>
                </a:path>
                <a:path w="11429" h="4246245">
                  <a:moveTo>
                    <a:pt x="6645" y="1753177"/>
                  </a:moveTo>
                  <a:lnTo>
                    <a:pt x="4271" y="1753177"/>
                  </a:lnTo>
                  <a:lnTo>
                    <a:pt x="1896" y="1755469"/>
                  </a:lnTo>
                  <a:lnTo>
                    <a:pt x="0" y="1757952"/>
                  </a:lnTo>
                  <a:lnTo>
                    <a:pt x="1896" y="1760244"/>
                  </a:lnTo>
                  <a:lnTo>
                    <a:pt x="1896" y="1762153"/>
                  </a:lnTo>
                  <a:lnTo>
                    <a:pt x="9020" y="1762153"/>
                  </a:lnTo>
                  <a:lnTo>
                    <a:pt x="9020" y="1760244"/>
                  </a:lnTo>
                  <a:lnTo>
                    <a:pt x="11376" y="1757952"/>
                  </a:lnTo>
                  <a:lnTo>
                    <a:pt x="9020" y="1755469"/>
                  </a:lnTo>
                  <a:lnTo>
                    <a:pt x="6645" y="1753177"/>
                  </a:lnTo>
                  <a:close/>
                </a:path>
                <a:path w="11429" h="4246245">
                  <a:moveTo>
                    <a:pt x="6645" y="1723576"/>
                  </a:moveTo>
                  <a:lnTo>
                    <a:pt x="4271" y="1723576"/>
                  </a:lnTo>
                  <a:lnTo>
                    <a:pt x="6645" y="1725486"/>
                  </a:lnTo>
                  <a:lnTo>
                    <a:pt x="6645" y="1723576"/>
                  </a:lnTo>
                  <a:close/>
                </a:path>
                <a:path w="11429" h="4246245">
                  <a:moveTo>
                    <a:pt x="9020" y="1686335"/>
                  </a:moveTo>
                  <a:lnTo>
                    <a:pt x="1896" y="1686335"/>
                  </a:lnTo>
                  <a:lnTo>
                    <a:pt x="1896" y="1688627"/>
                  </a:lnTo>
                  <a:lnTo>
                    <a:pt x="0" y="1690919"/>
                  </a:lnTo>
                  <a:lnTo>
                    <a:pt x="0" y="1718801"/>
                  </a:lnTo>
                  <a:lnTo>
                    <a:pt x="1896" y="1721093"/>
                  </a:lnTo>
                  <a:lnTo>
                    <a:pt x="1896" y="1723576"/>
                  </a:lnTo>
                  <a:lnTo>
                    <a:pt x="9020" y="1723576"/>
                  </a:lnTo>
                  <a:lnTo>
                    <a:pt x="9020" y="1721093"/>
                  </a:lnTo>
                  <a:lnTo>
                    <a:pt x="11376" y="1718801"/>
                  </a:lnTo>
                  <a:lnTo>
                    <a:pt x="11376" y="1690919"/>
                  </a:lnTo>
                  <a:lnTo>
                    <a:pt x="9020" y="1688627"/>
                  </a:lnTo>
                  <a:lnTo>
                    <a:pt x="9020" y="1686335"/>
                  </a:lnTo>
                  <a:close/>
                </a:path>
                <a:path w="11429" h="4246245">
                  <a:moveTo>
                    <a:pt x="6645" y="1647567"/>
                  </a:moveTo>
                  <a:lnTo>
                    <a:pt x="4271" y="1647567"/>
                  </a:lnTo>
                  <a:lnTo>
                    <a:pt x="1896" y="1649476"/>
                  </a:lnTo>
                  <a:lnTo>
                    <a:pt x="0" y="1651959"/>
                  </a:lnTo>
                  <a:lnTo>
                    <a:pt x="1896" y="1654251"/>
                  </a:lnTo>
                  <a:lnTo>
                    <a:pt x="1896" y="1656542"/>
                  </a:lnTo>
                  <a:lnTo>
                    <a:pt x="9020" y="1656542"/>
                  </a:lnTo>
                  <a:lnTo>
                    <a:pt x="9020" y="1654251"/>
                  </a:lnTo>
                  <a:lnTo>
                    <a:pt x="11376" y="1651959"/>
                  </a:lnTo>
                  <a:lnTo>
                    <a:pt x="9020" y="1649476"/>
                  </a:lnTo>
                  <a:lnTo>
                    <a:pt x="6645" y="1647567"/>
                  </a:lnTo>
                  <a:close/>
                </a:path>
                <a:path w="11429" h="4246245">
                  <a:moveTo>
                    <a:pt x="9020" y="1615100"/>
                  </a:moveTo>
                  <a:lnTo>
                    <a:pt x="1896" y="1615100"/>
                  </a:lnTo>
                  <a:lnTo>
                    <a:pt x="1896" y="1617583"/>
                  </a:lnTo>
                  <a:lnTo>
                    <a:pt x="4271" y="1619875"/>
                  </a:lnTo>
                  <a:lnTo>
                    <a:pt x="6645" y="1619875"/>
                  </a:lnTo>
                  <a:lnTo>
                    <a:pt x="9020" y="1617583"/>
                  </a:lnTo>
                  <a:lnTo>
                    <a:pt x="9020" y="1615100"/>
                  </a:lnTo>
                  <a:close/>
                </a:path>
                <a:path w="11429" h="4246245">
                  <a:moveTo>
                    <a:pt x="6645" y="1580724"/>
                  </a:moveTo>
                  <a:lnTo>
                    <a:pt x="4270" y="1580724"/>
                  </a:lnTo>
                  <a:lnTo>
                    <a:pt x="1896" y="1583016"/>
                  </a:lnTo>
                  <a:lnTo>
                    <a:pt x="0" y="1585499"/>
                  </a:lnTo>
                  <a:lnTo>
                    <a:pt x="0" y="1615100"/>
                  </a:lnTo>
                  <a:lnTo>
                    <a:pt x="11376" y="1615100"/>
                  </a:lnTo>
                  <a:lnTo>
                    <a:pt x="11376" y="1585499"/>
                  </a:lnTo>
                  <a:lnTo>
                    <a:pt x="9020" y="1583016"/>
                  </a:lnTo>
                  <a:lnTo>
                    <a:pt x="6645" y="1580724"/>
                  </a:lnTo>
                  <a:close/>
                </a:path>
                <a:path w="11429" h="4246245">
                  <a:moveTo>
                    <a:pt x="6645" y="1551123"/>
                  </a:moveTo>
                  <a:lnTo>
                    <a:pt x="4270" y="1551123"/>
                  </a:lnTo>
                  <a:lnTo>
                    <a:pt x="6645" y="1553414"/>
                  </a:lnTo>
                  <a:lnTo>
                    <a:pt x="6645" y="1551123"/>
                  </a:lnTo>
                  <a:close/>
                </a:path>
                <a:path w="11429" h="4246245">
                  <a:moveTo>
                    <a:pt x="11376" y="1546348"/>
                  </a:moveTo>
                  <a:lnTo>
                    <a:pt x="0" y="1546348"/>
                  </a:lnTo>
                  <a:lnTo>
                    <a:pt x="1896" y="1548640"/>
                  </a:lnTo>
                  <a:lnTo>
                    <a:pt x="1896" y="1551123"/>
                  </a:lnTo>
                  <a:lnTo>
                    <a:pt x="9020" y="1551123"/>
                  </a:lnTo>
                  <a:lnTo>
                    <a:pt x="9020" y="1548640"/>
                  </a:lnTo>
                  <a:lnTo>
                    <a:pt x="11376" y="1546348"/>
                  </a:lnTo>
                  <a:close/>
                </a:path>
                <a:path w="11429" h="4246245">
                  <a:moveTo>
                    <a:pt x="9020" y="1544056"/>
                  </a:moveTo>
                  <a:lnTo>
                    <a:pt x="1896" y="1544056"/>
                  </a:lnTo>
                  <a:lnTo>
                    <a:pt x="1896" y="1546348"/>
                  </a:lnTo>
                  <a:lnTo>
                    <a:pt x="9020" y="1546348"/>
                  </a:lnTo>
                  <a:lnTo>
                    <a:pt x="9020" y="1544056"/>
                  </a:lnTo>
                  <a:close/>
                </a:path>
                <a:path w="11429" h="4246245">
                  <a:moveTo>
                    <a:pt x="6645" y="1541574"/>
                  </a:moveTo>
                  <a:lnTo>
                    <a:pt x="4270" y="1544056"/>
                  </a:lnTo>
                  <a:lnTo>
                    <a:pt x="6645" y="1544056"/>
                  </a:lnTo>
                  <a:lnTo>
                    <a:pt x="6645" y="1541574"/>
                  </a:lnTo>
                  <a:close/>
                </a:path>
                <a:path w="11429" h="4246245">
                  <a:moveTo>
                    <a:pt x="6645" y="1475113"/>
                  </a:moveTo>
                  <a:lnTo>
                    <a:pt x="4270" y="1475113"/>
                  </a:lnTo>
                  <a:lnTo>
                    <a:pt x="1896" y="1477596"/>
                  </a:lnTo>
                  <a:lnTo>
                    <a:pt x="0" y="1479888"/>
                  </a:lnTo>
                  <a:lnTo>
                    <a:pt x="0" y="1509680"/>
                  </a:lnTo>
                  <a:lnTo>
                    <a:pt x="1896" y="1511972"/>
                  </a:lnTo>
                  <a:lnTo>
                    <a:pt x="4270" y="1514264"/>
                  </a:lnTo>
                  <a:lnTo>
                    <a:pt x="6645" y="1514264"/>
                  </a:lnTo>
                  <a:lnTo>
                    <a:pt x="11376" y="1509680"/>
                  </a:lnTo>
                  <a:lnTo>
                    <a:pt x="11376" y="1479888"/>
                  </a:lnTo>
                  <a:lnTo>
                    <a:pt x="9020" y="1477596"/>
                  </a:lnTo>
                  <a:lnTo>
                    <a:pt x="6645" y="1475113"/>
                  </a:lnTo>
                  <a:close/>
                </a:path>
                <a:path w="11429" h="4246245">
                  <a:moveTo>
                    <a:pt x="9020" y="1443220"/>
                  </a:moveTo>
                  <a:lnTo>
                    <a:pt x="1896" y="1443220"/>
                  </a:lnTo>
                  <a:lnTo>
                    <a:pt x="1896" y="1445130"/>
                  </a:lnTo>
                  <a:lnTo>
                    <a:pt x="4270" y="1447422"/>
                  </a:lnTo>
                  <a:lnTo>
                    <a:pt x="6645" y="1447422"/>
                  </a:lnTo>
                  <a:lnTo>
                    <a:pt x="9020" y="1445130"/>
                  </a:lnTo>
                  <a:lnTo>
                    <a:pt x="9020" y="1443220"/>
                  </a:lnTo>
                  <a:close/>
                </a:path>
                <a:path w="11429" h="4246245">
                  <a:moveTo>
                    <a:pt x="9020" y="1438446"/>
                  </a:moveTo>
                  <a:lnTo>
                    <a:pt x="1896" y="1438446"/>
                  </a:lnTo>
                  <a:lnTo>
                    <a:pt x="1896" y="1440737"/>
                  </a:lnTo>
                  <a:lnTo>
                    <a:pt x="0" y="1443220"/>
                  </a:lnTo>
                  <a:lnTo>
                    <a:pt x="11376" y="1443220"/>
                  </a:lnTo>
                  <a:lnTo>
                    <a:pt x="9020" y="1440737"/>
                  </a:lnTo>
                  <a:lnTo>
                    <a:pt x="9020" y="1438446"/>
                  </a:lnTo>
                  <a:close/>
                </a:path>
                <a:path w="11429" h="4246245">
                  <a:moveTo>
                    <a:pt x="11376" y="1373895"/>
                  </a:moveTo>
                  <a:lnTo>
                    <a:pt x="0" y="1373895"/>
                  </a:lnTo>
                  <a:lnTo>
                    <a:pt x="0" y="1404070"/>
                  </a:lnTo>
                  <a:lnTo>
                    <a:pt x="1896" y="1405979"/>
                  </a:lnTo>
                  <a:lnTo>
                    <a:pt x="4270" y="1408271"/>
                  </a:lnTo>
                  <a:lnTo>
                    <a:pt x="6645" y="1408271"/>
                  </a:lnTo>
                  <a:lnTo>
                    <a:pt x="9020" y="1405979"/>
                  </a:lnTo>
                  <a:lnTo>
                    <a:pt x="11376" y="1404070"/>
                  </a:lnTo>
                  <a:lnTo>
                    <a:pt x="11376" y="1373895"/>
                  </a:lnTo>
                  <a:close/>
                </a:path>
                <a:path w="11429" h="4246245">
                  <a:moveTo>
                    <a:pt x="9020" y="1371603"/>
                  </a:moveTo>
                  <a:lnTo>
                    <a:pt x="1896" y="1371603"/>
                  </a:lnTo>
                  <a:lnTo>
                    <a:pt x="1896" y="1373895"/>
                  </a:lnTo>
                  <a:lnTo>
                    <a:pt x="9020" y="1373895"/>
                  </a:lnTo>
                  <a:lnTo>
                    <a:pt x="9020" y="1371603"/>
                  </a:lnTo>
                  <a:close/>
                </a:path>
                <a:path w="11429" h="4246245">
                  <a:moveTo>
                    <a:pt x="6645" y="1369121"/>
                  </a:moveTo>
                  <a:lnTo>
                    <a:pt x="4270" y="1371603"/>
                  </a:lnTo>
                  <a:lnTo>
                    <a:pt x="6645" y="1371603"/>
                  </a:lnTo>
                  <a:lnTo>
                    <a:pt x="6645" y="1369121"/>
                  </a:lnTo>
                  <a:close/>
                </a:path>
                <a:path w="11429" h="4246245">
                  <a:moveTo>
                    <a:pt x="9020" y="1332453"/>
                  </a:moveTo>
                  <a:lnTo>
                    <a:pt x="1896" y="1332453"/>
                  </a:lnTo>
                  <a:lnTo>
                    <a:pt x="1896" y="1334745"/>
                  </a:lnTo>
                  <a:lnTo>
                    <a:pt x="0" y="1337227"/>
                  </a:lnTo>
                  <a:lnTo>
                    <a:pt x="1896" y="1339519"/>
                  </a:lnTo>
                  <a:lnTo>
                    <a:pt x="4270" y="1341811"/>
                  </a:lnTo>
                  <a:lnTo>
                    <a:pt x="6645" y="1341811"/>
                  </a:lnTo>
                  <a:lnTo>
                    <a:pt x="11376" y="1337227"/>
                  </a:lnTo>
                  <a:lnTo>
                    <a:pt x="9020" y="1334745"/>
                  </a:lnTo>
                  <a:lnTo>
                    <a:pt x="9020" y="1332453"/>
                  </a:lnTo>
                  <a:close/>
                </a:path>
                <a:path w="11429" h="4246245">
                  <a:moveTo>
                    <a:pt x="9020" y="1265993"/>
                  </a:moveTo>
                  <a:lnTo>
                    <a:pt x="1896" y="1265993"/>
                  </a:lnTo>
                  <a:lnTo>
                    <a:pt x="1896" y="1268284"/>
                  </a:lnTo>
                  <a:lnTo>
                    <a:pt x="0" y="1270767"/>
                  </a:lnTo>
                  <a:lnTo>
                    <a:pt x="0" y="1298077"/>
                  </a:lnTo>
                  <a:lnTo>
                    <a:pt x="1896" y="1300369"/>
                  </a:lnTo>
                  <a:lnTo>
                    <a:pt x="1896" y="1302660"/>
                  </a:lnTo>
                  <a:lnTo>
                    <a:pt x="9020" y="1302660"/>
                  </a:lnTo>
                  <a:lnTo>
                    <a:pt x="9020" y="1300369"/>
                  </a:lnTo>
                  <a:lnTo>
                    <a:pt x="11376" y="1298077"/>
                  </a:lnTo>
                  <a:lnTo>
                    <a:pt x="11376" y="1270767"/>
                  </a:lnTo>
                  <a:lnTo>
                    <a:pt x="9020" y="1268284"/>
                  </a:lnTo>
                  <a:lnTo>
                    <a:pt x="9020" y="1265993"/>
                  </a:lnTo>
                  <a:close/>
                </a:path>
                <a:path w="11429" h="4246245">
                  <a:moveTo>
                    <a:pt x="9020" y="1226842"/>
                  </a:moveTo>
                  <a:lnTo>
                    <a:pt x="1896" y="1226842"/>
                  </a:lnTo>
                  <a:lnTo>
                    <a:pt x="1896" y="1229325"/>
                  </a:lnTo>
                  <a:lnTo>
                    <a:pt x="0" y="1231616"/>
                  </a:lnTo>
                  <a:lnTo>
                    <a:pt x="1896" y="1233908"/>
                  </a:lnTo>
                  <a:lnTo>
                    <a:pt x="4270" y="1236391"/>
                  </a:lnTo>
                  <a:lnTo>
                    <a:pt x="6645" y="1236391"/>
                  </a:lnTo>
                  <a:lnTo>
                    <a:pt x="9020" y="1233908"/>
                  </a:lnTo>
                  <a:lnTo>
                    <a:pt x="11376" y="1231616"/>
                  </a:lnTo>
                  <a:lnTo>
                    <a:pt x="9020" y="1229325"/>
                  </a:lnTo>
                  <a:lnTo>
                    <a:pt x="9020" y="1226842"/>
                  </a:lnTo>
                  <a:close/>
                </a:path>
                <a:path w="11429" h="4246245">
                  <a:moveTo>
                    <a:pt x="9020" y="1160382"/>
                  </a:moveTo>
                  <a:lnTo>
                    <a:pt x="1896" y="1160382"/>
                  </a:lnTo>
                  <a:lnTo>
                    <a:pt x="1896" y="1162291"/>
                  </a:lnTo>
                  <a:lnTo>
                    <a:pt x="0" y="1164774"/>
                  </a:lnTo>
                  <a:lnTo>
                    <a:pt x="0" y="1192466"/>
                  </a:lnTo>
                  <a:lnTo>
                    <a:pt x="1896" y="1194758"/>
                  </a:lnTo>
                  <a:lnTo>
                    <a:pt x="1896" y="1197240"/>
                  </a:lnTo>
                  <a:lnTo>
                    <a:pt x="9020" y="1197240"/>
                  </a:lnTo>
                  <a:lnTo>
                    <a:pt x="9020" y="1194758"/>
                  </a:lnTo>
                  <a:lnTo>
                    <a:pt x="11376" y="1192466"/>
                  </a:lnTo>
                  <a:lnTo>
                    <a:pt x="11376" y="1164774"/>
                  </a:lnTo>
                  <a:lnTo>
                    <a:pt x="9020" y="1162291"/>
                  </a:lnTo>
                  <a:lnTo>
                    <a:pt x="9020" y="1160382"/>
                  </a:lnTo>
                  <a:close/>
                </a:path>
                <a:path w="11429" h="4246245">
                  <a:moveTo>
                    <a:pt x="6645" y="1121422"/>
                  </a:moveTo>
                  <a:lnTo>
                    <a:pt x="4270" y="1121422"/>
                  </a:lnTo>
                  <a:lnTo>
                    <a:pt x="1896" y="1123714"/>
                  </a:lnTo>
                  <a:lnTo>
                    <a:pt x="0" y="1125624"/>
                  </a:lnTo>
                  <a:lnTo>
                    <a:pt x="1896" y="1127915"/>
                  </a:lnTo>
                  <a:lnTo>
                    <a:pt x="1896" y="1130207"/>
                  </a:lnTo>
                  <a:lnTo>
                    <a:pt x="9020" y="1130207"/>
                  </a:lnTo>
                  <a:lnTo>
                    <a:pt x="9020" y="1127915"/>
                  </a:lnTo>
                  <a:lnTo>
                    <a:pt x="11376" y="1125624"/>
                  </a:lnTo>
                  <a:lnTo>
                    <a:pt x="9020" y="1123714"/>
                  </a:lnTo>
                  <a:lnTo>
                    <a:pt x="6645" y="1121422"/>
                  </a:lnTo>
                  <a:close/>
                </a:path>
                <a:path w="11429" h="4246245">
                  <a:moveTo>
                    <a:pt x="6645" y="1091248"/>
                  </a:moveTo>
                  <a:lnTo>
                    <a:pt x="4270" y="1091248"/>
                  </a:lnTo>
                  <a:lnTo>
                    <a:pt x="6645" y="1093539"/>
                  </a:lnTo>
                  <a:lnTo>
                    <a:pt x="6645" y="1091248"/>
                  </a:lnTo>
                  <a:close/>
                </a:path>
                <a:path w="11429" h="4246245">
                  <a:moveTo>
                    <a:pt x="9020" y="1054389"/>
                  </a:moveTo>
                  <a:lnTo>
                    <a:pt x="1896" y="1054389"/>
                  </a:lnTo>
                  <a:lnTo>
                    <a:pt x="1896" y="1056872"/>
                  </a:lnTo>
                  <a:lnTo>
                    <a:pt x="0" y="1059163"/>
                  </a:lnTo>
                  <a:lnTo>
                    <a:pt x="0" y="1086855"/>
                  </a:lnTo>
                  <a:lnTo>
                    <a:pt x="1896" y="1088765"/>
                  </a:lnTo>
                  <a:lnTo>
                    <a:pt x="1896" y="1091248"/>
                  </a:lnTo>
                  <a:lnTo>
                    <a:pt x="9020" y="1091248"/>
                  </a:lnTo>
                  <a:lnTo>
                    <a:pt x="9020" y="1088765"/>
                  </a:lnTo>
                  <a:lnTo>
                    <a:pt x="11376" y="1086855"/>
                  </a:lnTo>
                  <a:lnTo>
                    <a:pt x="11376" y="1059163"/>
                  </a:lnTo>
                  <a:lnTo>
                    <a:pt x="9020" y="1056872"/>
                  </a:lnTo>
                  <a:lnTo>
                    <a:pt x="9020" y="1054389"/>
                  </a:lnTo>
                  <a:close/>
                </a:path>
                <a:path w="11429" h="4246245">
                  <a:moveTo>
                    <a:pt x="6645" y="1015238"/>
                  </a:moveTo>
                  <a:lnTo>
                    <a:pt x="4270" y="1015238"/>
                  </a:lnTo>
                  <a:lnTo>
                    <a:pt x="1896" y="1017721"/>
                  </a:lnTo>
                  <a:lnTo>
                    <a:pt x="0" y="1020013"/>
                  </a:lnTo>
                  <a:lnTo>
                    <a:pt x="1896" y="1022305"/>
                  </a:lnTo>
                  <a:lnTo>
                    <a:pt x="1896" y="1024787"/>
                  </a:lnTo>
                  <a:lnTo>
                    <a:pt x="9020" y="1024787"/>
                  </a:lnTo>
                  <a:lnTo>
                    <a:pt x="9020" y="1022305"/>
                  </a:lnTo>
                  <a:lnTo>
                    <a:pt x="11376" y="1020013"/>
                  </a:lnTo>
                  <a:lnTo>
                    <a:pt x="9020" y="1017721"/>
                  </a:lnTo>
                  <a:lnTo>
                    <a:pt x="6645" y="1015238"/>
                  </a:lnTo>
                  <a:close/>
                </a:path>
                <a:path w="11429" h="4246245">
                  <a:moveTo>
                    <a:pt x="6645" y="985637"/>
                  </a:moveTo>
                  <a:lnTo>
                    <a:pt x="4270" y="985637"/>
                  </a:lnTo>
                  <a:lnTo>
                    <a:pt x="6645" y="987929"/>
                  </a:lnTo>
                  <a:lnTo>
                    <a:pt x="6645" y="985637"/>
                  </a:lnTo>
                  <a:close/>
                </a:path>
                <a:path w="11429" h="4246245">
                  <a:moveTo>
                    <a:pt x="9020" y="983345"/>
                  </a:moveTo>
                  <a:lnTo>
                    <a:pt x="1896" y="983345"/>
                  </a:lnTo>
                  <a:lnTo>
                    <a:pt x="1896" y="985637"/>
                  </a:lnTo>
                  <a:lnTo>
                    <a:pt x="9020" y="985637"/>
                  </a:lnTo>
                  <a:lnTo>
                    <a:pt x="9020" y="983345"/>
                  </a:lnTo>
                  <a:close/>
                </a:path>
                <a:path w="11429" h="4246245">
                  <a:moveTo>
                    <a:pt x="6645" y="948969"/>
                  </a:moveTo>
                  <a:lnTo>
                    <a:pt x="4270" y="948969"/>
                  </a:lnTo>
                  <a:lnTo>
                    <a:pt x="1896" y="951261"/>
                  </a:lnTo>
                  <a:lnTo>
                    <a:pt x="0" y="953553"/>
                  </a:lnTo>
                  <a:lnTo>
                    <a:pt x="0" y="983345"/>
                  </a:lnTo>
                  <a:lnTo>
                    <a:pt x="11376" y="983345"/>
                  </a:lnTo>
                  <a:lnTo>
                    <a:pt x="11376" y="953553"/>
                  </a:lnTo>
                  <a:lnTo>
                    <a:pt x="6645" y="948969"/>
                  </a:lnTo>
                  <a:close/>
                </a:path>
                <a:path w="11429" h="4246245">
                  <a:moveTo>
                    <a:pt x="6645" y="919177"/>
                  </a:moveTo>
                  <a:lnTo>
                    <a:pt x="4270" y="919177"/>
                  </a:lnTo>
                  <a:lnTo>
                    <a:pt x="6645" y="921086"/>
                  </a:lnTo>
                  <a:lnTo>
                    <a:pt x="6645" y="919177"/>
                  </a:lnTo>
                  <a:close/>
                </a:path>
                <a:path w="11429" h="4246245">
                  <a:moveTo>
                    <a:pt x="11376" y="914402"/>
                  </a:moveTo>
                  <a:lnTo>
                    <a:pt x="0" y="914402"/>
                  </a:lnTo>
                  <a:lnTo>
                    <a:pt x="1896" y="916885"/>
                  </a:lnTo>
                  <a:lnTo>
                    <a:pt x="1896" y="919177"/>
                  </a:lnTo>
                  <a:lnTo>
                    <a:pt x="9020" y="919177"/>
                  </a:lnTo>
                  <a:lnTo>
                    <a:pt x="9020" y="916885"/>
                  </a:lnTo>
                  <a:lnTo>
                    <a:pt x="11376" y="914402"/>
                  </a:lnTo>
                  <a:close/>
                </a:path>
                <a:path w="11429" h="4246245">
                  <a:moveTo>
                    <a:pt x="9020" y="912110"/>
                  </a:moveTo>
                  <a:lnTo>
                    <a:pt x="1896" y="912110"/>
                  </a:lnTo>
                  <a:lnTo>
                    <a:pt x="1896" y="914402"/>
                  </a:lnTo>
                  <a:lnTo>
                    <a:pt x="9020" y="914402"/>
                  </a:lnTo>
                  <a:lnTo>
                    <a:pt x="9020" y="912110"/>
                  </a:lnTo>
                  <a:close/>
                </a:path>
                <a:path w="11429" h="4246245">
                  <a:moveTo>
                    <a:pt x="6645" y="909819"/>
                  </a:moveTo>
                  <a:lnTo>
                    <a:pt x="4270" y="912110"/>
                  </a:lnTo>
                  <a:lnTo>
                    <a:pt x="6645" y="912110"/>
                  </a:lnTo>
                  <a:lnTo>
                    <a:pt x="6645" y="909819"/>
                  </a:lnTo>
                  <a:close/>
                </a:path>
                <a:path w="11429" h="4246245">
                  <a:moveTo>
                    <a:pt x="6645" y="843358"/>
                  </a:moveTo>
                  <a:lnTo>
                    <a:pt x="4270" y="843358"/>
                  </a:lnTo>
                  <a:lnTo>
                    <a:pt x="1896" y="845268"/>
                  </a:lnTo>
                  <a:lnTo>
                    <a:pt x="0" y="847560"/>
                  </a:lnTo>
                  <a:lnTo>
                    <a:pt x="0" y="877734"/>
                  </a:lnTo>
                  <a:lnTo>
                    <a:pt x="1896" y="880026"/>
                  </a:lnTo>
                  <a:lnTo>
                    <a:pt x="4270" y="881936"/>
                  </a:lnTo>
                  <a:lnTo>
                    <a:pt x="6645" y="881936"/>
                  </a:lnTo>
                  <a:lnTo>
                    <a:pt x="9020" y="880026"/>
                  </a:lnTo>
                  <a:lnTo>
                    <a:pt x="11376" y="877734"/>
                  </a:lnTo>
                  <a:lnTo>
                    <a:pt x="11376" y="847560"/>
                  </a:lnTo>
                  <a:lnTo>
                    <a:pt x="9020" y="845268"/>
                  </a:lnTo>
                  <a:lnTo>
                    <a:pt x="6645" y="843358"/>
                  </a:lnTo>
                  <a:close/>
                </a:path>
                <a:path w="11429" h="4246245">
                  <a:moveTo>
                    <a:pt x="6645" y="813184"/>
                  </a:moveTo>
                  <a:lnTo>
                    <a:pt x="4270" y="813184"/>
                  </a:lnTo>
                  <a:lnTo>
                    <a:pt x="6645" y="815475"/>
                  </a:lnTo>
                  <a:lnTo>
                    <a:pt x="6645" y="813184"/>
                  </a:lnTo>
                  <a:close/>
                </a:path>
                <a:path w="11429" h="4246245">
                  <a:moveTo>
                    <a:pt x="9020" y="810892"/>
                  </a:moveTo>
                  <a:lnTo>
                    <a:pt x="1896" y="810892"/>
                  </a:lnTo>
                  <a:lnTo>
                    <a:pt x="1896" y="813184"/>
                  </a:lnTo>
                  <a:lnTo>
                    <a:pt x="9020" y="813184"/>
                  </a:lnTo>
                  <a:lnTo>
                    <a:pt x="9020" y="810892"/>
                  </a:lnTo>
                  <a:close/>
                </a:path>
                <a:path w="11429" h="4246245">
                  <a:moveTo>
                    <a:pt x="9020" y="806500"/>
                  </a:moveTo>
                  <a:lnTo>
                    <a:pt x="1896" y="806500"/>
                  </a:lnTo>
                  <a:lnTo>
                    <a:pt x="1896" y="808409"/>
                  </a:lnTo>
                  <a:lnTo>
                    <a:pt x="0" y="810892"/>
                  </a:lnTo>
                  <a:lnTo>
                    <a:pt x="11376" y="810892"/>
                  </a:lnTo>
                  <a:lnTo>
                    <a:pt x="9020" y="808409"/>
                  </a:lnTo>
                  <a:lnTo>
                    <a:pt x="9020" y="806500"/>
                  </a:lnTo>
                  <a:close/>
                </a:path>
                <a:path w="11429" h="4246245">
                  <a:moveTo>
                    <a:pt x="6645" y="804208"/>
                  </a:moveTo>
                  <a:lnTo>
                    <a:pt x="4270" y="806500"/>
                  </a:lnTo>
                  <a:lnTo>
                    <a:pt x="6645" y="806500"/>
                  </a:lnTo>
                  <a:lnTo>
                    <a:pt x="6645" y="804208"/>
                  </a:lnTo>
                  <a:close/>
                </a:path>
                <a:path w="11429" h="4246245">
                  <a:moveTo>
                    <a:pt x="11376" y="741949"/>
                  </a:moveTo>
                  <a:lnTo>
                    <a:pt x="0" y="741949"/>
                  </a:lnTo>
                  <a:lnTo>
                    <a:pt x="0" y="771742"/>
                  </a:lnTo>
                  <a:lnTo>
                    <a:pt x="1896" y="774033"/>
                  </a:lnTo>
                  <a:lnTo>
                    <a:pt x="4270" y="776516"/>
                  </a:lnTo>
                  <a:lnTo>
                    <a:pt x="6645" y="776516"/>
                  </a:lnTo>
                  <a:lnTo>
                    <a:pt x="9020" y="774033"/>
                  </a:lnTo>
                  <a:lnTo>
                    <a:pt x="11376" y="771742"/>
                  </a:lnTo>
                  <a:lnTo>
                    <a:pt x="11376" y="741949"/>
                  </a:lnTo>
                  <a:close/>
                </a:path>
                <a:path w="11429" h="4246245">
                  <a:moveTo>
                    <a:pt x="9020" y="739657"/>
                  </a:moveTo>
                  <a:lnTo>
                    <a:pt x="1896" y="739657"/>
                  </a:lnTo>
                  <a:lnTo>
                    <a:pt x="1896" y="741949"/>
                  </a:lnTo>
                  <a:lnTo>
                    <a:pt x="9020" y="741949"/>
                  </a:lnTo>
                  <a:lnTo>
                    <a:pt x="9020" y="739657"/>
                  </a:lnTo>
                  <a:close/>
                </a:path>
                <a:path w="11429" h="4246245">
                  <a:moveTo>
                    <a:pt x="6645" y="737365"/>
                  </a:moveTo>
                  <a:lnTo>
                    <a:pt x="4270" y="739657"/>
                  </a:lnTo>
                  <a:lnTo>
                    <a:pt x="6645" y="739657"/>
                  </a:lnTo>
                  <a:lnTo>
                    <a:pt x="6645" y="737365"/>
                  </a:lnTo>
                  <a:close/>
                </a:path>
                <a:path w="11429" h="4246245">
                  <a:moveTo>
                    <a:pt x="9020" y="700507"/>
                  </a:moveTo>
                  <a:lnTo>
                    <a:pt x="1896" y="700507"/>
                  </a:lnTo>
                  <a:lnTo>
                    <a:pt x="1896" y="702989"/>
                  </a:lnTo>
                  <a:lnTo>
                    <a:pt x="0" y="705281"/>
                  </a:lnTo>
                  <a:lnTo>
                    <a:pt x="1896" y="707573"/>
                  </a:lnTo>
                  <a:lnTo>
                    <a:pt x="4270" y="710056"/>
                  </a:lnTo>
                  <a:lnTo>
                    <a:pt x="6645" y="710056"/>
                  </a:lnTo>
                  <a:lnTo>
                    <a:pt x="9020" y="707573"/>
                  </a:lnTo>
                  <a:lnTo>
                    <a:pt x="11376" y="705281"/>
                  </a:lnTo>
                  <a:lnTo>
                    <a:pt x="9020" y="702989"/>
                  </a:lnTo>
                  <a:lnTo>
                    <a:pt x="9020" y="700507"/>
                  </a:lnTo>
                  <a:close/>
                </a:path>
                <a:path w="11429" h="4246245">
                  <a:moveTo>
                    <a:pt x="9020" y="634237"/>
                  </a:moveTo>
                  <a:lnTo>
                    <a:pt x="1896" y="634237"/>
                  </a:lnTo>
                  <a:lnTo>
                    <a:pt x="1896" y="636529"/>
                  </a:lnTo>
                  <a:lnTo>
                    <a:pt x="0" y="638439"/>
                  </a:lnTo>
                  <a:lnTo>
                    <a:pt x="0" y="666131"/>
                  </a:lnTo>
                  <a:lnTo>
                    <a:pt x="1896" y="668613"/>
                  </a:lnTo>
                  <a:lnTo>
                    <a:pt x="1896" y="670905"/>
                  </a:lnTo>
                  <a:lnTo>
                    <a:pt x="9020" y="670905"/>
                  </a:lnTo>
                  <a:lnTo>
                    <a:pt x="9020" y="668613"/>
                  </a:lnTo>
                  <a:lnTo>
                    <a:pt x="11376" y="666131"/>
                  </a:lnTo>
                  <a:lnTo>
                    <a:pt x="11376" y="638439"/>
                  </a:lnTo>
                  <a:lnTo>
                    <a:pt x="9020" y="636529"/>
                  </a:lnTo>
                  <a:lnTo>
                    <a:pt x="9020" y="634237"/>
                  </a:lnTo>
                  <a:close/>
                </a:path>
                <a:path w="11429" h="4246245">
                  <a:moveTo>
                    <a:pt x="6645" y="631755"/>
                  </a:moveTo>
                  <a:lnTo>
                    <a:pt x="4270" y="634237"/>
                  </a:lnTo>
                  <a:lnTo>
                    <a:pt x="6645" y="634237"/>
                  </a:lnTo>
                  <a:lnTo>
                    <a:pt x="6645" y="631755"/>
                  </a:lnTo>
                  <a:close/>
                </a:path>
                <a:path w="11429" h="4246245">
                  <a:moveTo>
                    <a:pt x="9020" y="595087"/>
                  </a:moveTo>
                  <a:lnTo>
                    <a:pt x="1896" y="595087"/>
                  </a:lnTo>
                  <a:lnTo>
                    <a:pt x="1896" y="597379"/>
                  </a:lnTo>
                  <a:lnTo>
                    <a:pt x="0" y="599670"/>
                  </a:lnTo>
                  <a:lnTo>
                    <a:pt x="1896" y="601580"/>
                  </a:lnTo>
                  <a:lnTo>
                    <a:pt x="4270" y="604063"/>
                  </a:lnTo>
                  <a:lnTo>
                    <a:pt x="6645" y="604063"/>
                  </a:lnTo>
                  <a:lnTo>
                    <a:pt x="9020" y="601580"/>
                  </a:lnTo>
                  <a:lnTo>
                    <a:pt x="11376" y="599670"/>
                  </a:lnTo>
                  <a:lnTo>
                    <a:pt x="9020" y="597379"/>
                  </a:lnTo>
                  <a:lnTo>
                    <a:pt x="9020" y="595087"/>
                  </a:lnTo>
                  <a:close/>
                </a:path>
                <a:path w="11429" h="4246245">
                  <a:moveTo>
                    <a:pt x="9020" y="528054"/>
                  </a:moveTo>
                  <a:lnTo>
                    <a:pt x="1896" y="528054"/>
                  </a:lnTo>
                  <a:lnTo>
                    <a:pt x="1896" y="530536"/>
                  </a:lnTo>
                  <a:lnTo>
                    <a:pt x="0" y="532828"/>
                  </a:lnTo>
                  <a:lnTo>
                    <a:pt x="0" y="560711"/>
                  </a:lnTo>
                  <a:lnTo>
                    <a:pt x="1896" y="563003"/>
                  </a:lnTo>
                  <a:lnTo>
                    <a:pt x="1896" y="564912"/>
                  </a:lnTo>
                  <a:lnTo>
                    <a:pt x="9020" y="564912"/>
                  </a:lnTo>
                  <a:lnTo>
                    <a:pt x="9020" y="563003"/>
                  </a:lnTo>
                  <a:lnTo>
                    <a:pt x="11376" y="560711"/>
                  </a:lnTo>
                  <a:lnTo>
                    <a:pt x="11376" y="532828"/>
                  </a:lnTo>
                  <a:lnTo>
                    <a:pt x="9020" y="530536"/>
                  </a:lnTo>
                  <a:lnTo>
                    <a:pt x="9020" y="528054"/>
                  </a:lnTo>
                  <a:close/>
                </a:path>
                <a:path w="11429" h="4246245">
                  <a:moveTo>
                    <a:pt x="6645" y="489094"/>
                  </a:moveTo>
                  <a:lnTo>
                    <a:pt x="4270" y="489094"/>
                  </a:lnTo>
                  <a:lnTo>
                    <a:pt x="1896" y="491386"/>
                  </a:lnTo>
                  <a:lnTo>
                    <a:pt x="0" y="493678"/>
                  </a:lnTo>
                  <a:lnTo>
                    <a:pt x="1896" y="496160"/>
                  </a:lnTo>
                  <a:lnTo>
                    <a:pt x="1896" y="498452"/>
                  </a:lnTo>
                  <a:lnTo>
                    <a:pt x="9020" y="498452"/>
                  </a:lnTo>
                  <a:lnTo>
                    <a:pt x="9020" y="496160"/>
                  </a:lnTo>
                  <a:lnTo>
                    <a:pt x="11376" y="493678"/>
                  </a:lnTo>
                  <a:lnTo>
                    <a:pt x="6645" y="489094"/>
                  </a:lnTo>
                  <a:close/>
                </a:path>
                <a:path w="11429" h="4246245">
                  <a:moveTo>
                    <a:pt x="9020" y="422634"/>
                  </a:moveTo>
                  <a:lnTo>
                    <a:pt x="1896" y="422634"/>
                  </a:lnTo>
                  <a:lnTo>
                    <a:pt x="1896" y="424926"/>
                  </a:lnTo>
                  <a:lnTo>
                    <a:pt x="0" y="427217"/>
                  </a:lnTo>
                  <a:lnTo>
                    <a:pt x="0" y="454718"/>
                  </a:lnTo>
                  <a:lnTo>
                    <a:pt x="1896" y="457010"/>
                  </a:lnTo>
                  <a:lnTo>
                    <a:pt x="1896" y="459302"/>
                  </a:lnTo>
                  <a:lnTo>
                    <a:pt x="9020" y="459302"/>
                  </a:lnTo>
                  <a:lnTo>
                    <a:pt x="9020" y="457010"/>
                  </a:lnTo>
                  <a:lnTo>
                    <a:pt x="11376" y="454718"/>
                  </a:lnTo>
                  <a:lnTo>
                    <a:pt x="11376" y="427217"/>
                  </a:lnTo>
                  <a:lnTo>
                    <a:pt x="9020" y="424926"/>
                  </a:lnTo>
                  <a:lnTo>
                    <a:pt x="9020" y="422634"/>
                  </a:lnTo>
                  <a:close/>
                </a:path>
                <a:path w="11429" h="4246245">
                  <a:moveTo>
                    <a:pt x="6645" y="383483"/>
                  </a:moveTo>
                  <a:lnTo>
                    <a:pt x="4270" y="383483"/>
                  </a:lnTo>
                  <a:lnTo>
                    <a:pt x="1896" y="385775"/>
                  </a:lnTo>
                  <a:lnTo>
                    <a:pt x="0" y="388258"/>
                  </a:lnTo>
                  <a:lnTo>
                    <a:pt x="1896" y="390549"/>
                  </a:lnTo>
                  <a:lnTo>
                    <a:pt x="1896" y="392841"/>
                  </a:lnTo>
                  <a:lnTo>
                    <a:pt x="9020" y="392841"/>
                  </a:lnTo>
                  <a:lnTo>
                    <a:pt x="9020" y="390549"/>
                  </a:lnTo>
                  <a:lnTo>
                    <a:pt x="11376" y="388258"/>
                  </a:lnTo>
                  <a:lnTo>
                    <a:pt x="9020" y="385775"/>
                  </a:lnTo>
                  <a:lnTo>
                    <a:pt x="6645" y="383483"/>
                  </a:lnTo>
                  <a:close/>
                </a:path>
                <a:path w="11429" h="4246245">
                  <a:moveTo>
                    <a:pt x="6645" y="353882"/>
                  </a:moveTo>
                  <a:lnTo>
                    <a:pt x="4270" y="353882"/>
                  </a:lnTo>
                  <a:lnTo>
                    <a:pt x="6645" y="356173"/>
                  </a:lnTo>
                  <a:lnTo>
                    <a:pt x="6645" y="353882"/>
                  </a:lnTo>
                  <a:close/>
                </a:path>
                <a:path w="11429" h="4246245">
                  <a:moveTo>
                    <a:pt x="9020" y="351399"/>
                  </a:moveTo>
                  <a:lnTo>
                    <a:pt x="1896" y="351399"/>
                  </a:lnTo>
                  <a:lnTo>
                    <a:pt x="1896" y="353882"/>
                  </a:lnTo>
                  <a:lnTo>
                    <a:pt x="9020" y="353882"/>
                  </a:lnTo>
                  <a:lnTo>
                    <a:pt x="9020" y="351399"/>
                  </a:lnTo>
                  <a:close/>
                </a:path>
                <a:path w="11429" h="4246245">
                  <a:moveTo>
                    <a:pt x="6645" y="317023"/>
                  </a:moveTo>
                  <a:lnTo>
                    <a:pt x="4270" y="317023"/>
                  </a:lnTo>
                  <a:lnTo>
                    <a:pt x="1896" y="319315"/>
                  </a:lnTo>
                  <a:lnTo>
                    <a:pt x="0" y="321224"/>
                  </a:lnTo>
                  <a:lnTo>
                    <a:pt x="0" y="351399"/>
                  </a:lnTo>
                  <a:lnTo>
                    <a:pt x="11376" y="351399"/>
                  </a:lnTo>
                  <a:lnTo>
                    <a:pt x="11376" y="321224"/>
                  </a:lnTo>
                  <a:lnTo>
                    <a:pt x="9020" y="319315"/>
                  </a:lnTo>
                  <a:lnTo>
                    <a:pt x="6645" y="317023"/>
                  </a:lnTo>
                  <a:close/>
                </a:path>
                <a:path w="11429" h="4246245">
                  <a:moveTo>
                    <a:pt x="11376" y="282647"/>
                  </a:moveTo>
                  <a:lnTo>
                    <a:pt x="0" y="282647"/>
                  </a:lnTo>
                  <a:lnTo>
                    <a:pt x="1896" y="284557"/>
                  </a:lnTo>
                  <a:lnTo>
                    <a:pt x="1896" y="286848"/>
                  </a:lnTo>
                  <a:lnTo>
                    <a:pt x="9020" y="286848"/>
                  </a:lnTo>
                  <a:lnTo>
                    <a:pt x="9020" y="284557"/>
                  </a:lnTo>
                  <a:lnTo>
                    <a:pt x="11376" y="282647"/>
                  </a:lnTo>
                  <a:close/>
                </a:path>
                <a:path w="11429" h="4246245">
                  <a:moveTo>
                    <a:pt x="6645" y="277872"/>
                  </a:moveTo>
                  <a:lnTo>
                    <a:pt x="4270" y="277872"/>
                  </a:lnTo>
                  <a:lnTo>
                    <a:pt x="1896" y="280355"/>
                  </a:lnTo>
                  <a:lnTo>
                    <a:pt x="1896" y="282647"/>
                  </a:lnTo>
                  <a:lnTo>
                    <a:pt x="9020" y="282647"/>
                  </a:lnTo>
                  <a:lnTo>
                    <a:pt x="9020" y="280355"/>
                  </a:lnTo>
                  <a:lnTo>
                    <a:pt x="6645" y="277872"/>
                  </a:lnTo>
                  <a:close/>
                </a:path>
                <a:path w="11429" h="4246245">
                  <a:moveTo>
                    <a:pt x="6645" y="211030"/>
                  </a:moveTo>
                  <a:lnTo>
                    <a:pt x="4270" y="211030"/>
                  </a:lnTo>
                  <a:lnTo>
                    <a:pt x="1896" y="213322"/>
                  </a:lnTo>
                  <a:lnTo>
                    <a:pt x="0" y="215805"/>
                  </a:lnTo>
                  <a:lnTo>
                    <a:pt x="0" y="245406"/>
                  </a:lnTo>
                  <a:lnTo>
                    <a:pt x="1896" y="247698"/>
                  </a:lnTo>
                  <a:lnTo>
                    <a:pt x="4270" y="250181"/>
                  </a:lnTo>
                  <a:lnTo>
                    <a:pt x="6645" y="250181"/>
                  </a:lnTo>
                  <a:lnTo>
                    <a:pt x="9020" y="247698"/>
                  </a:lnTo>
                  <a:lnTo>
                    <a:pt x="11376" y="245406"/>
                  </a:lnTo>
                  <a:lnTo>
                    <a:pt x="11376" y="215805"/>
                  </a:lnTo>
                  <a:lnTo>
                    <a:pt x="9020" y="213322"/>
                  </a:lnTo>
                  <a:lnTo>
                    <a:pt x="6645" y="211030"/>
                  </a:lnTo>
                  <a:close/>
                </a:path>
                <a:path w="11429" h="4246245">
                  <a:moveTo>
                    <a:pt x="6645" y="181429"/>
                  </a:moveTo>
                  <a:lnTo>
                    <a:pt x="4270" y="181429"/>
                  </a:lnTo>
                  <a:lnTo>
                    <a:pt x="6645" y="183720"/>
                  </a:lnTo>
                  <a:lnTo>
                    <a:pt x="6645" y="181429"/>
                  </a:lnTo>
                  <a:close/>
                </a:path>
                <a:path w="11429" h="4246245">
                  <a:moveTo>
                    <a:pt x="9020" y="178946"/>
                  </a:moveTo>
                  <a:lnTo>
                    <a:pt x="1896" y="178946"/>
                  </a:lnTo>
                  <a:lnTo>
                    <a:pt x="1896" y="181429"/>
                  </a:lnTo>
                  <a:lnTo>
                    <a:pt x="9020" y="181429"/>
                  </a:lnTo>
                  <a:lnTo>
                    <a:pt x="9020" y="178946"/>
                  </a:lnTo>
                  <a:close/>
                </a:path>
                <a:path w="11429" h="4246245">
                  <a:moveTo>
                    <a:pt x="9020" y="174362"/>
                  </a:moveTo>
                  <a:lnTo>
                    <a:pt x="1896" y="174362"/>
                  </a:lnTo>
                  <a:lnTo>
                    <a:pt x="1896" y="176654"/>
                  </a:lnTo>
                  <a:lnTo>
                    <a:pt x="0" y="178946"/>
                  </a:lnTo>
                  <a:lnTo>
                    <a:pt x="11376" y="178946"/>
                  </a:lnTo>
                  <a:lnTo>
                    <a:pt x="9020" y="176654"/>
                  </a:lnTo>
                  <a:lnTo>
                    <a:pt x="9020" y="174362"/>
                  </a:lnTo>
                  <a:close/>
                </a:path>
                <a:path w="11429" h="4246245">
                  <a:moveTo>
                    <a:pt x="6645" y="171880"/>
                  </a:moveTo>
                  <a:lnTo>
                    <a:pt x="4270" y="174362"/>
                  </a:lnTo>
                  <a:lnTo>
                    <a:pt x="6645" y="174362"/>
                  </a:lnTo>
                  <a:lnTo>
                    <a:pt x="6645" y="171880"/>
                  </a:lnTo>
                  <a:close/>
                </a:path>
                <a:path w="11429" h="4246245">
                  <a:moveTo>
                    <a:pt x="11376" y="110194"/>
                  </a:moveTo>
                  <a:lnTo>
                    <a:pt x="0" y="110194"/>
                  </a:lnTo>
                  <a:lnTo>
                    <a:pt x="0" y="139795"/>
                  </a:lnTo>
                  <a:lnTo>
                    <a:pt x="1896" y="142278"/>
                  </a:lnTo>
                  <a:lnTo>
                    <a:pt x="4270" y="144570"/>
                  </a:lnTo>
                  <a:lnTo>
                    <a:pt x="6645" y="144570"/>
                  </a:lnTo>
                  <a:lnTo>
                    <a:pt x="9020" y="142278"/>
                  </a:lnTo>
                  <a:lnTo>
                    <a:pt x="11376" y="139795"/>
                  </a:lnTo>
                  <a:lnTo>
                    <a:pt x="11376" y="110194"/>
                  </a:lnTo>
                  <a:close/>
                </a:path>
                <a:path w="11429" h="4246245">
                  <a:moveTo>
                    <a:pt x="6645" y="105419"/>
                  </a:moveTo>
                  <a:lnTo>
                    <a:pt x="4270" y="105419"/>
                  </a:lnTo>
                  <a:lnTo>
                    <a:pt x="1896" y="107902"/>
                  </a:lnTo>
                  <a:lnTo>
                    <a:pt x="1896" y="110194"/>
                  </a:lnTo>
                  <a:lnTo>
                    <a:pt x="9020" y="110194"/>
                  </a:lnTo>
                  <a:lnTo>
                    <a:pt x="9020" y="107902"/>
                  </a:lnTo>
                  <a:lnTo>
                    <a:pt x="6645" y="105419"/>
                  </a:lnTo>
                  <a:close/>
                </a:path>
                <a:path w="11429" h="4246245">
                  <a:moveTo>
                    <a:pt x="9020" y="68752"/>
                  </a:moveTo>
                  <a:lnTo>
                    <a:pt x="1896" y="68752"/>
                  </a:lnTo>
                  <a:lnTo>
                    <a:pt x="1896" y="71043"/>
                  </a:lnTo>
                  <a:lnTo>
                    <a:pt x="0" y="73526"/>
                  </a:lnTo>
                  <a:lnTo>
                    <a:pt x="1896" y="75818"/>
                  </a:lnTo>
                  <a:lnTo>
                    <a:pt x="4270" y="77728"/>
                  </a:lnTo>
                  <a:lnTo>
                    <a:pt x="6645" y="77728"/>
                  </a:lnTo>
                  <a:lnTo>
                    <a:pt x="9020" y="75818"/>
                  </a:lnTo>
                  <a:lnTo>
                    <a:pt x="11376" y="73526"/>
                  </a:lnTo>
                  <a:lnTo>
                    <a:pt x="9020" y="71043"/>
                  </a:lnTo>
                  <a:lnTo>
                    <a:pt x="9020" y="68752"/>
                  </a:lnTo>
                  <a:close/>
                </a:path>
                <a:path w="11429" h="4246245">
                  <a:moveTo>
                    <a:pt x="9020" y="2291"/>
                  </a:moveTo>
                  <a:lnTo>
                    <a:pt x="1896" y="2291"/>
                  </a:lnTo>
                  <a:lnTo>
                    <a:pt x="1896" y="4201"/>
                  </a:lnTo>
                  <a:lnTo>
                    <a:pt x="0" y="6493"/>
                  </a:lnTo>
                  <a:lnTo>
                    <a:pt x="0" y="34376"/>
                  </a:lnTo>
                  <a:lnTo>
                    <a:pt x="1896" y="36667"/>
                  </a:lnTo>
                  <a:lnTo>
                    <a:pt x="1896" y="38959"/>
                  </a:lnTo>
                  <a:lnTo>
                    <a:pt x="9020" y="38959"/>
                  </a:lnTo>
                  <a:lnTo>
                    <a:pt x="9020" y="36667"/>
                  </a:lnTo>
                  <a:lnTo>
                    <a:pt x="11376" y="34376"/>
                  </a:lnTo>
                  <a:lnTo>
                    <a:pt x="11376" y="6493"/>
                  </a:lnTo>
                  <a:lnTo>
                    <a:pt x="9020" y="4201"/>
                  </a:lnTo>
                  <a:lnTo>
                    <a:pt x="9020" y="2291"/>
                  </a:lnTo>
                  <a:close/>
                </a:path>
                <a:path w="11429" h="4246245">
                  <a:moveTo>
                    <a:pt x="6645" y="0"/>
                  </a:moveTo>
                  <a:lnTo>
                    <a:pt x="4270" y="2291"/>
                  </a:lnTo>
                  <a:lnTo>
                    <a:pt x="6645" y="2291"/>
                  </a:lnTo>
                  <a:lnTo>
                    <a:pt x="6645" y="0"/>
                  </a:lnTo>
                  <a:close/>
                </a:path>
              </a:pathLst>
            </a:custGeom>
            <a:solidFill>
              <a:srgbClr val="000000"/>
            </a:solidFill>
          </p:spPr>
          <p:txBody>
            <a:bodyPr wrap="square" lIns="0" tIns="0" rIns="0" bIns="0" rtlCol="0"/>
            <a:lstStyle/>
            <a:p/>
          </p:txBody>
        </p:sp>
        <p:pic>
          <p:nvPicPr>
            <p:cNvPr id="34" name="object 34" descr=""/>
            <p:cNvPicPr/>
            <p:nvPr/>
          </p:nvPicPr>
          <p:blipFill>
            <a:blip r:embed="rId4" cstate="print"/>
            <a:stretch>
              <a:fillRect/>
            </a:stretch>
          </p:blipFill>
          <p:spPr>
            <a:xfrm>
              <a:off x="3896772" y="3654858"/>
              <a:ext cx="14057" cy="2390094"/>
            </a:xfrm>
            <a:prstGeom prst="rect">
              <a:avLst/>
            </a:prstGeom>
          </p:spPr>
        </p:pic>
        <p:sp>
          <p:nvSpPr>
            <p:cNvPr id="35" name="object 35" descr=""/>
            <p:cNvSpPr/>
            <p:nvPr/>
          </p:nvSpPr>
          <p:spPr>
            <a:xfrm>
              <a:off x="3898112" y="1797408"/>
              <a:ext cx="11430" cy="1408430"/>
            </a:xfrm>
            <a:custGeom>
              <a:avLst/>
              <a:gdLst/>
              <a:ahLst/>
              <a:cxnLst/>
              <a:rect l="l" t="t" r="r" b="b"/>
              <a:pathLst>
                <a:path w="11429" h="1408430">
                  <a:moveTo>
                    <a:pt x="0" y="1404070"/>
                  </a:moveTo>
                  <a:lnTo>
                    <a:pt x="0" y="1373895"/>
                  </a:lnTo>
                  <a:lnTo>
                    <a:pt x="1896" y="1373895"/>
                  </a:lnTo>
                  <a:lnTo>
                    <a:pt x="1896" y="1371603"/>
                  </a:lnTo>
                  <a:lnTo>
                    <a:pt x="4270" y="1371603"/>
                  </a:lnTo>
                  <a:lnTo>
                    <a:pt x="6645" y="1369121"/>
                  </a:lnTo>
                  <a:lnTo>
                    <a:pt x="6645" y="1371603"/>
                  </a:lnTo>
                  <a:lnTo>
                    <a:pt x="9020" y="1371603"/>
                  </a:lnTo>
                  <a:lnTo>
                    <a:pt x="9020" y="1373895"/>
                  </a:lnTo>
                  <a:lnTo>
                    <a:pt x="11376" y="1373895"/>
                  </a:lnTo>
                  <a:lnTo>
                    <a:pt x="11376" y="1404070"/>
                  </a:lnTo>
                  <a:lnTo>
                    <a:pt x="9020" y="1405979"/>
                  </a:lnTo>
                  <a:lnTo>
                    <a:pt x="6645" y="1408271"/>
                  </a:lnTo>
                  <a:lnTo>
                    <a:pt x="4270" y="1408271"/>
                  </a:lnTo>
                  <a:lnTo>
                    <a:pt x="1896" y="1405979"/>
                  </a:lnTo>
                  <a:lnTo>
                    <a:pt x="0" y="1404070"/>
                  </a:lnTo>
                </a:path>
                <a:path w="11429" h="1408430">
                  <a:moveTo>
                    <a:pt x="0" y="1337227"/>
                  </a:moveTo>
                  <a:lnTo>
                    <a:pt x="1896" y="1334745"/>
                  </a:lnTo>
                  <a:lnTo>
                    <a:pt x="1896" y="1332453"/>
                  </a:lnTo>
                  <a:lnTo>
                    <a:pt x="4270" y="1332453"/>
                  </a:lnTo>
                  <a:lnTo>
                    <a:pt x="6645" y="1332453"/>
                  </a:lnTo>
                  <a:lnTo>
                    <a:pt x="9020" y="1332453"/>
                  </a:lnTo>
                  <a:lnTo>
                    <a:pt x="9020" y="1334745"/>
                  </a:lnTo>
                  <a:lnTo>
                    <a:pt x="11376" y="1337227"/>
                  </a:lnTo>
                  <a:lnTo>
                    <a:pt x="9020" y="1339519"/>
                  </a:lnTo>
                  <a:lnTo>
                    <a:pt x="6645" y="1341811"/>
                  </a:lnTo>
                  <a:lnTo>
                    <a:pt x="4270" y="1341811"/>
                  </a:lnTo>
                  <a:lnTo>
                    <a:pt x="1896" y="1339519"/>
                  </a:lnTo>
                  <a:lnTo>
                    <a:pt x="0" y="1337227"/>
                  </a:lnTo>
                </a:path>
                <a:path w="11429" h="1408430">
                  <a:moveTo>
                    <a:pt x="0" y="1298077"/>
                  </a:moveTo>
                  <a:lnTo>
                    <a:pt x="0" y="1270767"/>
                  </a:lnTo>
                  <a:lnTo>
                    <a:pt x="1896" y="1268284"/>
                  </a:lnTo>
                  <a:lnTo>
                    <a:pt x="1896" y="1265992"/>
                  </a:lnTo>
                  <a:lnTo>
                    <a:pt x="4270" y="1265992"/>
                  </a:lnTo>
                  <a:lnTo>
                    <a:pt x="6645" y="1265992"/>
                  </a:lnTo>
                  <a:lnTo>
                    <a:pt x="9020" y="1265992"/>
                  </a:lnTo>
                  <a:lnTo>
                    <a:pt x="9020" y="1268284"/>
                  </a:lnTo>
                  <a:lnTo>
                    <a:pt x="11376" y="1270767"/>
                  </a:lnTo>
                  <a:lnTo>
                    <a:pt x="11376" y="1298077"/>
                  </a:lnTo>
                  <a:lnTo>
                    <a:pt x="9020" y="1300369"/>
                  </a:lnTo>
                  <a:lnTo>
                    <a:pt x="9020" y="1302660"/>
                  </a:lnTo>
                  <a:lnTo>
                    <a:pt x="6645" y="1302660"/>
                  </a:lnTo>
                  <a:lnTo>
                    <a:pt x="4270" y="1302660"/>
                  </a:lnTo>
                  <a:lnTo>
                    <a:pt x="1896" y="1302660"/>
                  </a:lnTo>
                  <a:lnTo>
                    <a:pt x="1896" y="1300369"/>
                  </a:lnTo>
                  <a:lnTo>
                    <a:pt x="0" y="1298077"/>
                  </a:lnTo>
                </a:path>
                <a:path w="11429" h="1408430">
                  <a:moveTo>
                    <a:pt x="0" y="1231616"/>
                  </a:moveTo>
                  <a:lnTo>
                    <a:pt x="1896" y="1229325"/>
                  </a:lnTo>
                  <a:lnTo>
                    <a:pt x="1896" y="1226842"/>
                  </a:lnTo>
                  <a:lnTo>
                    <a:pt x="4270" y="1226842"/>
                  </a:lnTo>
                  <a:lnTo>
                    <a:pt x="6645" y="1226842"/>
                  </a:lnTo>
                  <a:lnTo>
                    <a:pt x="9020" y="1226842"/>
                  </a:lnTo>
                  <a:lnTo>
                    <a:pt x="9020" y="1229325"/>
                  </a:lnTo>
                  <a:lnTo>
                    <a:pt x="11376" y="1231616"/>
                  </a:lnTo>
                  <a:lnTo>
                    <a:pt x="9020" y="1233908"/>
                  </a:lnTo>
                  <a:lnTo>
                    <a:pt x="6645" y="1236391"/>
                  </a:lnTo>
                  <a:lnTo>
                    <a:pt x="4270" y="1236391"/>
                  </a:lnTo>
                  <a:lnTo>
                    <a:pt x="1896" y="1233908"/>
                  </a:lnTo>
                  <a:lnTo>
                    <a:pt x="0" y="1231616"/>
                  </a:lnTo>
                </a:path>
                <a:path w="11429" h="1408430">
                  <a:moveTo>
                    <a:pt x="0" y="1192466"/>
                  </a:moveTo>
                  <a:lnTo>
                    <a:pt x="0" y="1164774"/>
                  </a:lnTo>
                  <a:lnTo>
                    <a:pt x="1896" y="1162291"/>
                  </a:lnTo>
                  <a:lnTo>
                    <a:pt x="1896" y="1160382"/>
                  </a:lnTo>
                  <a:lnTo>
                    <a:pt x="4270" y="1160382"/>
                  </a:lnTo>
                  <a:lnTo>
                    <a:pt x="6645" y="1160382"/>
                  </a:lnTo>
                  <a:lnTo>
                    <a:pt x="9020" y="1160382"/>
                  </a:lnTo>
                  <a:lnTo>
                    <a:pt x="9020" y="1162291"/>
                  </a:lnTo>
                  <a:lnTo>
                    <a:pt x="11376" y="1164774"/>
                  </a:lnTo>
                  <a:lnTo>
                    <a:pt x="11376" y="1192466"/>
                  </a:lnTo>
                  <a:lnTo>
                    <a:pt x="9020" y="1194758"/>
                  </a:lnTo>
                  <a:lnTo>
                    <a:pt x="9020" y="1197240"/>
                  </a:lnTo>
                  <a:lnTo>
                    <a:pt x="6645" y="1197240"/>
                  </a:lnTo>
                  <a:lnTo>
                    <a:pt x="4270" y="1197240"/>
                  </a:lnTo>
                  <a:lnTo>
                    <a:pt x="1896" y="1197240"/>
                  </a:lnTo>
                  <a:lnTo>
                    <a:pt x="1896" y="1194758"/>
                  </a:lnTo>
                  <a:lnTo>
                    <a:pt x="0" y="1192466"/>
                  </a:lnTo>
                </a:path>
                <a:path w="11429" h="1408430">
                  <a:moveTo>
                    <a:pt x="0" y="1125624"/>
                  </a:moveTo>
                  <a:lnTo>
                    <a:pt x="1896" y="1123714"/>
                  </a:lnTo>
                  <a:lnTo>
                    <a:pt x="4270" y="1121422"/>
                  </a:lnTo>
                  <a:lnTo>
                    <a:pt x="6645" y="1121422"/>
                  </a:lnTo>
                  <a:lnTo>
                    <a:pt x="9020" y="1123714"/>
                  </a:lnTo>
                  <a:lnTo>
                    <a:pt x="11376" y="1125624"/>
                  </a:lnTo>
                  <a:lnTo>
                    <a:pt x="9020" y="1127915"/>
                  </a:lnTo>
                  <a:lnTo>
                    <a:pt x="9020" y="1130207"/>
                  </a:lnTo>
                  <a:lnTo>
                    <a:pt x="6645" y="1130207"/>
                  </a:lnTo>
                  <a:lnTo>
                    <a:pt x="4270" y="1130207"/>
                  </a:lnTo>
                  <a:lnTo>
                    <a:pt x="1896" y="1130207"/>
                  </a:lnTo>
                  <a:lnTo>
                    <a:pt x="1896" y="1127915"/>
                  </a:lnTo>
                  <a:lnTo>
                    <a:pt x="0" y="1125624"/>
                  </a:lnTo>
                </a:path>
                <a:path w="11429" h="1408430">
                  <a:moveTo>
                    <a:pt x="0" y="1086855"/>
                  </a:moveTo>
                  <a:lnTo>
                    <a:pt x="0" y="1059163"/>
                  </a:lnTo>
                  <a:lnTo>
                    <a:pt x="1896" y="1056872"/>
                  </a:lnTo>
                  <a:lnTo>
                    <a:pt x="1896" y="1054389"/>
                  </a:lnTo>
                  <a:lnTo>
                    <a:pt x="4270" y="1054389"/>
                  </a:lnTo>
                  <a:lnTo>
                    <a:pt x="6645" y="1054389"/>
                  </a:lnTo>
                  <a:lnTo>
                    <a:pt x="9020" y="1054389"/>
                  </a:lnTo>
                  <a:lnTo>
                    <a:pt x="9020" y="1056872"/>
                  </a:lnTo>
                  <a:lnTo>
                    <a:pt x="11376" y="1059163"/>
                  </a:lnTo>
                  <a:lnTo>
                    <a:pt x="11376" y="1086855"/>
                  </a:lnTo>
                  <a:lnTo>
                    <a:pt x="9020" y="1088765"/>
                  </a:lnTo>
                  <a:lnTo>
                    <a:pt x="9020" y="1091248"/>
                  </a:lnTo>
                  <a:lnTo>
                    <a:pt x="6645" y="1091248"/>
                  </a:lnTo>
                  <a:lnTo>
                    <a:pt x="6645" y="1093539"/>
                  </a:lnTo>
                  <a:lnTo>
                    <a:pt x="4270" y="1091248"/>
                  </a:lnTo>
                  <a:lnTo>
                    <a:pt x="1896" y="1091248"/>
                  </a:lnTo>
                  <a:lnTo>
                    <a:pt x="1896" y="1088765"/>
                  </a:lnTo>
                  <a:lnTo>
                    <a:pt x="0" y="1086855"/>
                  </a:lnTo>
                </a:path>
                <a:path w="11429" h="1408430">
                  <a:moveTo>
                    <a:pt x="0" y="1020013"/>
                  </a:moveTo>
                  <a:lnTo>
                    <a:pt x="1896" y="1017721"/>
                  </a:lnTo>
                  <a:lnTo>
                    <a:pt x="4270" y="1015238"/>
                  </a:lnTo>
                  <a:lnTo>
                    <a:pt x="6645" y="1015238"/>
                  </a:lnTo>
                  <a:lnTo>
                    <a:pt x="9020" y="1017721"/>
                  </a:lnTo>
                  <a:lnTo>
                    <a:pt x="11376" y="1020013"/>
                  </a:lnTo>
                  <a:lnTo>
                    <a:pt x="9020" y="1022305"/>
                  </a:lnTo>
                  <a:lnTo>
                    <a:pt x="9020" y="1024787"/>
                  </a:lnTo>
                  <a:lnTo>
                    <a:pt x="6645" y="1024787"/>
                  </a:lnTo>
                  <a:lnTo>
                    <a:pt x="4270" y="1024787"/>
                  </a:lnTo>
                  <a:lnTo>
                    <a:pt x="1896" y="1024787"/>
                  </a:lnTo>
                  <a:lnTo>
                    <a:pt x="1896" y="1022305"/>
                  </a:lnTo>
                  <a:lnTo>
                    <a:pt x="0" y="1020013"/>
                  </a:lnTo>
                </a:path>
                <a:path w="11429" h="1408430">
                  <a:moveTo>
                    <a:pt x="0" y="983345"/>
                  </a:moveTo>
                  <a:lnTo>
                    <a:pt x="0" y="953553"/>
                  </a:lnTo>
                  <a:lnTo>
                    <a:pt x="1896" y="951261"/>
                  </a:lnTo>
                  <a:lnTo>
                    <a:pt x="4270" y="948969"/>
                  </a:lnTo>
                  <a:lnTo>
                    <a:pt x="6645" y="948969"/>
                  </a:lnTo>
                  <a:lnTo>
                    <a:pt x="9020" y="951261"/>
                  </a:lnTo>
                  <a:lnTo>
                    <a:pt x="11376" y="953553"/>
                  </a:lnTo>
                  <a:lnTo>
                    <a:pt x="11376" y="983345"/>
                  </a:lnTo>
                  <a:lnTo>
                    <a:pt x="9020" y="983345"/>
                  </a:lnTo>
                  <a:lnTo>
                    <a:pt x="9020" y="985637"/>
                  </a:lnTo>
                  <a:lnTo>
                    <a:pt x="6645" y="985637"/>
                  </a:lnTo>
                  <a:lnTo>
                    <a:pt x="6645" y="987929"/>
                  </a:lnTo>
                  <a:lnTo>
                    <a:pt x="4270" y="985637"/>
                  </a:lnTo>
                  <a:lnTo>
                    <a:pt x="1896" y="985637"/>
                  </a:lnTo>
                  <a:lnTo>
                    <a:pt x="1896" y="983345"/>
                  </a:lnTo>
                  <a:lnTo>
                    <a:pt x="0" y="983345"/>
                  </a:lnTo>
                </a:path>
                <a:path w="11429" h="1408430">
                  <a:moveTo>
                    <a:pt x="0" y="914402"/>
                  </a:moveTo>
                  <a:lnTo>
                    <a:pt x="1896" y="914402"/>
                  </a:lnTo>
                  <a:lnTo>
                    <a:pt x="1896" y="912110"/>
                  </a:lnTo>
                  <a:lnTo>
                    <a:pt x="4270" y="912110"/>
                  </a:lnTo>
                  <a:lnTo>
                    <a:pt x="6645" y="909819"/>
                  </a:lnTo>
                  <a:lnTo>
                    <a:pt x="6645" y="912110"/>
                  </a:lnTo>
                  <a:lnTo>
                    <a:pt x="9020" y="912110"/>
                  </a:lnTo>
                  <a:lnTo>
                    <a:pt x="9020" y="914402"/>
                  </a:lnTo>
                  <a:lnTo>
                    <a:pt x="11376" y="914402"/>
                  </a:lnTo>
                  <a:lnTo>
                    <a:pt x="9020" y="916885"/>
                  </a:lnTo>
                  <a:lnTo>
                    <a:pt x="9020" y="919176"/>
                  </a:lnTo>
                  <a:lnTo>
                    <a:pt x="6645" y="919176"/>
                  </a:lnTo>
                  <a:lnTo>
                    <a:pt x="6645" y="921086"/>
                  </a:lnTo>
                  <a:lnTo>
                    <a:pt x="4270" y="919176"/>
                  </a:lnTo>
                  <a:lnTo>
                    <a:pt x="1896" y="919176"/>
                  </a:lnTo>
                  <a:lnTo>
                    <a:pt x="1896" y="916885"/>
                  </a:lnTo>
                  <a:lnTo>
                    <a:pt x="0" y="914402"/>
                  </a:lnTo>
                </a:path>
                <a:path w="11429" h="1408430">
                  <a:moveTo>
                    <a:pt x="0" y="877734"/>
                  </a:moveTo>
                  <a:lnTo>
                    <a:pt x="0" y="847560"/>
                  </a:lnTo>
                  <a:lnTo>
                    <a:pt x="1896" y="845268"/>
                  </a:lnTo>
                  <a:lnTo>
                    <a:pt x="4270" y="843358"/>
                  </a:lnTo>
                  <a:lnTo>
                    <a:pt x="6645" y="843358"/>
                  </a:lnTo>
                  <a:lnTo>
                    <a:pt x="9020" y="845268"/>
                  </a:lnTo>
                  <a:lnTo>
                    <a:pt x="11376" y="847560"/>
                  </a:lnTo>
                  <a:lnTo>
                    <a:pt x="11376" y="877734"/>
                  </a:lnTo>
                  <a:lnTo>
                    <a:pt x="9020" y="880026"/>
                  </a:lnTo>
                  <a:lnTo>
                    <a:pt x="6645" y="881936"/>
                  </a:lnTo>
                  <a:lnTo>
                    <a:pt x="4270" y="881936"/>
                  </a:lnTo>
                  <a:lnTo>
                    <a:pt x="1896" y="880026"/>
                  </a:lnTo>
                  <a:lnTo>
                    <a:pt x="0" y="877734"/>
                  </a:lnTo>
                </a:path>
                <a:path w="11429" h="1408430">
                  <a:moveTo>
                    <a:pt x="0" y="351399"/>
                  </a:moveTo>
                  <a:lnTo>
                    <a:pt x="0" y="321224"/>
                  </a:lnTo>
                  <a:lnTo>
                    <a:pt x="1896" y="319315"/>
                  </a:lnTo>
                  <a:lnTo>
                    <a:pt x="4270" y="317023"/>
                  </a:lnTo>
                  <a:lnTo>
                    <a:pt x="6645" y="317023"/>
                  </a:lnTo>
                  <a:lnTo>
                    <a:pt x="9020" y="319315"/>
                  </a:lnTo>
                  <a:lnTo>
                    <a:pt x="11376" y="321224"/>
                  </a:lnTo>
                  <a:lnTo>
                    <a:pt x="11376" y="351399"/>
                  </a:lnTo>
                  <a:lnTo>
                    <a:pt x="9020" y="351399"/>
                  </a:lnTo>
                  <a:lnTo>
                    <a:pt x="9020" y="353882"/>
                  </a:lnTo>
                  <a:lnTo>
                    <a:pt x="6645" y="353882"/>
                  </a:lnTo>
                  <a:lnTo>
                    <a:pt x="6645" y="356173"/>
                  </a:lnTo>
                  <a:lnTo>
                    <a:pt x="4270" y="353882"/>
                  </a:lnTo>
                  <a:lnTo>
                    <a:pt x="1896" y="353882"/>
                  </a:lnTo>
                  <a:lnTo>
                    <a:pt x="1896" y="351399"/>
                  </a:lnTo>
                  <a:lnTo>
                    <a:pt x="0" y="351399"/>
                  </a:lnTo>
                </a:path>
                <a:path w="11429" h="1408430">
                  <a:moveTo>
                    <a:pt x="0" y="282647"/>
                  </a:moveTo>
                  <a:lnTo>
                    <a:pt x="1896" y="282647"/>
                  </a:lnTo>
                  <a:lnTo>
                    <a:pt x="1896" y="280355"/>
                  </a:lnTo>
                  <a:lnTo>
                    <a:pt x="4270" y="277872"/>
                  </a:lnTo>
                  <a:lnTo>
                    <a:pt x="6645" y="277872"/>
                  </a:lnTo>
                  <a:lnTo>
                    <a:pt x="9020" y="280355"/>
                  </a:lnTo>
                  <a:lnTo>
                    <a:pt x="9020" y="282647"/>
                  </a:lnTo>
                  <a:lnTo>
                    <a:pt x="11376" y="282647"/>
                  </a:lnTo>
                  <a:lnTo>
                    <a:pt x="9020" y="284557"/>
                  </a:lnTo>
                  <a:lnTo>
                    <a:pt x="9020" y="286848"/>
                  </a:lnTo>
                  <a:lnTo>
                    <a:pt x="6645" y="286848"/>
                  </a:lnTo>
                  <a:lnTo>
                    <a:pt x="4270" y="286848"/>
                  </a:lnTo>
                  <a:lnTo>
                    <a:pt x="1896" y="286848"/>
                  </a:lnTo>
                  <a:lnTo>
                    <a:pt x="1896" y="284557"/>
                  </a:lnTo>
                  <a:lnTo>
                    <a:pt x="0" y="282647"/>
                  </a:lnTo>
                </a:path>
                <a:path w="11429" h="1408430">
                  <a:moveTo>
                    <a:pt x="0" y="245406"/>
                  </a:moveTo>
                  <a:lnTo>
                    <a:pt x="0" y="215805"/>
                  </a:lnTo>
                  <a:lnTo>
                    <a:pt x="1896" y="213322"/>
                  </a:lnTo>
                  <a:lnTo>
                    <a:pt x="4270" y="211030"/>
                  </a:lnTo>
                  <a:lnTo>
                    <a:pt x="6645" y="211030"/>
                  </a:lnTo>
                  <a:lnTo>
                    <a:pt x="9020" y="213322"/>
                  </a:lnTo>
                  <a:lnTo>
                    <a:pt x="11376" y="215805"/>
                  </a:lnTo>
                  <a:lnTo>
                    <a:pt x="11376" y="245406"/>
                  </a:lnTo>
                  <a:lnTo>
                    <a:pt x="9020" y="247698"/>
                  </a:lnTo>
                  <a:lnTo>
                    <a:pt x="6645" y="250181"/>
                  </a:lnTo>
                  <a:lnTo>
                    <a:pt x="4270" y="250181"/>
                  </a:lnTo>
                  <a:lnTo>
                    <a:pt x="1896" y="247698"/>
                  </a:lnTo>
                  <a:lnTo>
                    <a:pt x="0" y="245406"/>
                  </a:lnTo>
                </a:path>
                <a:path w="11429" h="1408430">
                  <a:moveTo>
                    <a:pt x="0" y="178946"/>
                  </a:moveTo>
                  <a:lnTo>
                    <a:pt x="1896" y="176654"/>
                  </a:lnTo>
                  <a:lnTo>
                    <a:pt x="1896" y="174362"/>
                  </a:lnTo>
                  <a:lnTo>
                    <a:pt x="4270" y="174362"/>
                  </a:lnTo>
                  <a:lnTo>
                    <a:pt x="6645" y="171880"/>
                  </a:lnTo>
                  <a:lnTo>
                    <a:pt x="6645" y="174362"/>
                  </a:lnTo>
                  <a:lnTo>
                    <a:pt x="9020" y="174362"/>
                  </a:lnTo>
                  <a:lnTo>
                    <a:pt x="9020" y="176654"/>
                  </a:lnTo>
                  <a:lnTo>
                    <a:pt x="11376" y="178946"/>
                  </a:lnTo>
                  <a:lnTo>
                    <a:pt x="9020" y="178946"/>
                  </a:lnTo>
                  <a:lnTo>
                    <a:pt x="9020" y="181429"/>
                  </a:lnTo>
                  <a:lnTo>
                    <a:pt x="6645" y="181429"/>
                  </a:lnTo>
                  <a:lnTo>
                    <a:pt x="6645" y="183720"/>
                  </a:lnTo>
                  <a:lnTo>
                    <a:pt x="4270" y="181429"/>
                  </a:lnTo>
                  <a:lnTo>
                    <a:pt x="1896" y="181429"/>
                  </a:lnTo>
                  <a:lnTo>
                    <a:pt x="1896" y="178946"/>
                  </a:lnTo>
                  <a:lnTo>
                    <a:pt x="0" y="178946"/>
                  </a:lnTo>
                </a:path>
                <a:path w="11429" h="1408430">
                  <a:moveTo>
                    <a:pt x="0" y="139795"/>
                  </a:moveTo>
                  <a:lnTo>
                    <a:pt x="0" y="110194"/>
                  </a:lnTo>
                  <a:lnTo>
                    <a:pt x="1896" y="110194"/>
                  </a:lnTo>
                  <a:lnTo>
                    <a:pt x="1896" y="107902"/>
                  </a:lnTo>
                  <a:lnTo>
                    <a:pt x="4270" y="105419"/>
                  </a:lnTo>
                  <a:lnTo>
                    <a:pt x="6645" y="105419"/>
                  </a:lnTo>
                  <a:lnTo>
                    <a:pt x="9020" y="107902"/>
                  </a:lnTo>
                  <a:lnTo>
                    <a:pt x="9020" y="110194"/>
                  </a:lnTo>
                  <a:lnTo>
                    <a:pt x="11376" y="110194"/>
                  </a:lnTo>
                  <a:lnTo>
                    <a:pt x="11376" y="139795"/>
                  </a:lnTo>
                  <a:lnTo>
                    <a:pt x="9020" y="142278"/>
                  </a:lnTo>
                  <a:lnTo>
                    <a:pt x="6645" y="144570"/>
                  </a:lnTo>
                  <a:lnTo>
                    <a:pt x="4270" y="144570"/>
                  </a:lnTo>
                  <a:lnTo>
                    <a:pt x="1896" y="142278"/>
                  </a:lnTo>
                  <a:lnTo>
                    <a:pt x="0" y="139795"/>
                  </a:lnTo>
                </a:path>
                <a:path w="11429" h="1408430">
                  <a:moveTo>
                    <a:pt x="0" y="73526"/>
                  </a:moveTo>
                  <a:lnTo>
                    <a:pt x="1896" y="71043"/>
                  </a:lnTo>
                  <a:lnTo>
                    <a:pt x="1896" y="68752"/>
                  </a:lnTo>
                  <a:lnTo>
                    <a:pt x="4270" y="68752"/>
                  </a:lnTo>
                  <a:lnTo>
                    <a:pt x="6645" y="68752"/>
                  </a:lnTo>
                  <a:lnTo>
                    <a:pt x="9020" y="68752"/>
                  </a:lnTo>
                  <a:lnTo>
                    <a:pt x="9020" y="71043"/>
                  </a:lnTo>
                  <a:lnTo>
                    <a:pt x="11376" y="73526"/>
                  </a:lnTo>
                  <a:lnTo>
                    <a:pt x="9020" y="75818"/>
                  </a:lnTo>
                  <a:lnTo>
                    <a:pt x="6645" y="77728"/>
                  </a:lnTo>
                  <a:lnTo>
                    <a:pt x="4270" y="77728"/>
                  </a:lnTo>
                  <a:lnTo>
                    <a:pt x="1896" y="75818"/>
                  </a:lnTo>
                  <a:lnTo>
                    <a:pt x="0" y="73526"/>
                  </a:lnTo>
                </a:path>
                <a:path w="11429" h="1408430">
                  <a:moveTo>
                    <a:pt x="0" y="34376"/>
                  </a:moveTo>
                  <a:lnTo>
                    <a:pt x="0" y="6493"/>
                  </a:lnTo>
                  <a:lnTo>
                    <a:pt x="1896" y="4201"/>
                  </a:lnTo>
                  <a:lnTo>
                    <a:pt x="1896" y="2291"/>
                  </a:lnTo>
                  <a:lnTo>
                    <a:pt x="4270" y="2291"/>
                  </a:lnTo>
                  <a:lnTo>
                    <a:pt x="6645" y="0"/>
                  </a:lnTo>
                  <a:lnTo>
                    <a:pt x="6645" y="2291"/>
                  </a:lnTo>
                  <a:lnTo>
                    <a:pt x="9020" y="2291"/>
                  </a:lnTo>
                  <a:lnTo>
                    <a:pt x="9020" y="4201"/>
                  </a:lnTo>
                  <a:lnTo>
                    <a:pt x="11376" y="6493"/>
                  </a:lnTo>
                  <a:lnTo>
                    <a:pt x="11376" y="34376"/>
                  </a:lnTo>
                  <a:lnTo>
                    <a:pt x="9020" y="36667"/>
                  </a:lnTo>
                  <a:lnTo>
                    <a:pt x="9020" y="38959"/>
                  </a:lnTo>
                  <a:lnTo>
                    <a:pt x="6645" y="38959"/>
                  </a:lnTo>
                  <a:lnTo>
                    <a:pt x="4270" y="38959"/>
                  </a:lnTo>
                  <a:lnTo>
                    <a:pt x="1896" y="38959"/>
                  </a:lnTo>
                  <a:lnTo>
                    <a:pt x="1896" y="36667"/>
                  </a:lnTo>
                  <a:lnTo>
                    <a:pt x="0" y="34376"/>
                  </a:lnTo>
                </a:path>
              </a:pathLst>
            </a:custGeom>
            <a:ln w="3175">
              <a:solidFill>
                <a:srgbClr val="000000"/>
              </a:solidFill>
            </a:ln>
          </p:spPr>
          <p:txBody>
            <a:bodyPr wrap="square" lIns="0" tIns="0" rIns="0" bIns="0" rtlCol="0"/>
            <a:lstStyle/>
            <a:p/>
          </p:txBody>
        </p:sp>
        <p:pic>
          <p:nvPicPr>
            <p:cNvPr id="36" name="object 36" descr=""/>
            <p:cNvPicPr/>
            <p:nvPr/>
          </p:nvPicPr>
          <p:blipFill>
            <a:blip r:embed="rId5" cstate="print"/>
            <a:stretch>
              <a:fillRect/>
            </a:stretch>
          </p:blipFill>
          <p:spPr>
            <a:xfrm>
              <a:off x="6074339" y="1796067"/>
              <a:ext cx="13980" cy="4248884"/>
            </a:xfrm>
            <a:prstGeom prst="rect">
              <a:avLst/>
            </a:prstGeom>
          </p:spPr>
        </p:pic>
        <p:sp>
          <p:nvSpPr>
            <p:cNvPr id="37" name="object 37" descr=""/>
            <p:cNvSpPr/>
            <p:nvPr/>
          </p:nvSpPr>
          <p:spPr>
            <a:xfrm>
              <a:off x="5349811" y="1797408"/>
              <a:ext cx="11430" cy="4246245"/>
            </a:xfrm>
            <a:custGeom>
              <a:avLst/>
              <a:gdLst/>
              <a:ahLst/>
              <a:cxnLst/>
              <a:rect l="l" t="t" r="r" b="b"/>
              <a:pathLst>
                <a:path w="11429" h="4246245">
                  <a:moveTo>
                    <a:pt x="6703" y="4214164"/>
                  </a:moveTo>
                  <a:lnTo>
                    <a:pt x="4788" y="4214164"/>
                  </a:lnTo>
                  <a:lnTo>
                    <a:pt x="2298" y="4216518"/>
                  </a:lnTo>
                  <a:lnTo>
                    <a:pt x="0" y="4218875"/>
                  </a:lnTo>
                  <a:lnTo>
                    <a:pt x="0" y="4246204"/>
                  </a:lnTo>
                  <a:lnTo>
                    <a:pt x="11299" y="4246204"/>
                  </a:lnTo>
                  <a:lnTo>
                    <a:pt x="11299" y="4218875"/>
                  </a:lnTo>
                  <a:lnTo>
                    <a:pt x="6703" y="4214164"/>
                  </a:lnTo>
                  <a:close/>
                </a:path>
                <a:path w="11429" h="4246245">
                  <a:moveTo>
                    <a:pt x="11299" y="4179766"/>
                  </a:moveTo>
                  <a:lnTo>
                    <a:pt x="0" y="4179766"/>
                  </a:lnTo>
                  <a:lnTo>
                    <a:pt x="2298" y="4182123"/>
                  </a:lnTo>
                  <a:lnTo>
                    <a:pt x="2298" y="4184480"/>
                  </a:lnTo>
                  <a:lnTo>
                    <a:pt x="9001" y="4184480"/>
                  </a:lnTo>
                  <a:lnTo>
                    <a:pt x="9001" y="4182123"/>
                  </a:lnTo>
                  <a:lnTo>
                    <a:pt x="11299" y="4179766"/>
                  </a:lnTo>
                  <a:close/>
                </a:path>
                <a:path w="11429" h="4246245">
                  <a:moveTo>
                    <a:pt x="6703" y="4175055"/>
                  </a:moveTo>
                  <a:lnTo>
                    <a:pt x="4788" y="4175055"/>
                  </a:lnTo>
                  <a:lnTo>
                    <a:pt x="2298" y="4177412"/>
                  </a:lnTo>
                  <a:lnTo>
                    <a:pt x="2298" y="4179766"/>
                  </a:lnTo>
                  <a:lnTo>
                    <a:pt x="9001" y="4179766"/>
                  </a:lnTo>
                  <a:lnTo>
                    <a:pt x="9001" y="4177412"/>
                  </a:lnTo>
                  <a:lnTo>
                    <a:pt x="6703" y="4175055"/>
                  </a:lnTo>
                  <a:close/>
                </a:path>
                <a:path w="11429" h="4246245">
                  <a:moveTo>
                    <a:pt x="6703" y="4108620"/>
                  </a:moveTo>
                  <a:lnTo>
                    <a:pt x="4788" y="4108620"/>
                  </a:lnTo>
                  <a:lnTo>
                    <a:pt x="2298" y="4110974"/>
                  </a:lnTo>
                  <a:lnTo>
                    <a:pt x="0" y="4113331"/>
                  </a:lnTo>
                  <a:lnTo>
                    <a:pt x="0" y="4143015"/>
                  </a:lnTo>
                  <a:lnTo>
                    <a:pt x="2298" y="4145371"/>
                  </a:lnTo>
                  <a:lnTo>
                    <a:pt x="4788" y="4147728"/>
                  </a:lnTo>
                  <a:lnTo>
                    <a:pt x="6703" y="4147728"/>
                  </a:lnTo>
                  <a:lnTo>
                    <a:pt x="11299" y="4143015"/>
                  </a:lnTo>
                  <a:lnTo>
                    <a:pt x="11299" y="4113331"/>
                  </a:lnTo>
                  <a:lnTo>
                    <a:pt x="6703" y="4108620"/>
                  </a:lnTo>
                  <a:close/>
                </a:path>
                <a:path w="11429" h="4246245">
                  <a:moveTo>
                    <a:pt x="6703" y="4078936"/>
                  </a:moveTo>
                  <a:lnTo>
                    <a:pt x="4788" y="4078936"/>
                  </a:lnTo>
                  <a:lnTo>
                    <a:pt x="6703" y="4080819"/>
                  </a:lnTo>
                  <a:lnTo>
                    <a:pt x="6703" y="4078936"/>
                  </a:lnTo>
                  <a:close/>
                </a:path>
                <a:path w="11429" h="4246245">
                  <a:moveTo>
                    <a:pt x="9001" y="4076579"/>
                  </a:moveTo>
                  <a:lnTo>
                    <a:pt x="2298" y="4076579"/>
                  </a:lnTo>
                  <a:lnTo>
                    <a:pt x="2298" y="4078936"/>
                  </a:lnTo>
                  <a:lnTo>
                    <a:pt x="9001" y="4078936"/>
                  </a:lnTo>
                  <a:lnTo>
                    <a:pt x="9001" y="4076579"/>
                  </a:lnTo>
                  <a:close/>
                </a:path>
                <a:path w="11429" h="4246245">
                  <a:moveTo>
                    <a:pt x="9001" y="4071868"/>
                  </a:moveTo>
                  <a:lnTo>
                    <a:pt x="2298" y="4071868"/>
                  </a:lnTo>
                  <a:lnTo>
                    <a:pt x="2298" y="4074222"/>
                  </a:lnTo>
                  <a:lnTo>
                    <a:pt x="0" y="4076579"/>
                  </a:lnTo>
                  <a:lnTo>
                    <a:pt x="11299" y="4076579"/>
                  </a:lnTo>
                  <a:lnTo>
                    <a:pt x="9001" y="4074222"/>
                  </a:lnTo>
                  <a:lnTo>
                    <a:pt x="9001" y="4071868"/>
                  </a:lnTo>
                  <a:close/>
                </a:path>
                <a:path w="11429" h="4246245">
                  <a:moveTo>
                    <a:pt x="6703" y="4069511"/>
                  </a:moveTo>
                  <a:lnTo>
                    <a:pt x="4788" y="4071868"/>
                  </a:lnTo>
                  <a:lnTo>
                    <a:pt x="6703" y="4071868"/>
                  </a:lnTo>
                  <a:lnTo>
                    <a:pt x="6703" y="4069511"/>
                  </a:lnTo>
                  <a:close/>
                </a:path>
                <a:path w="11429" h="4246245">
                  <a:moveTo>
                    <a:pt x="11299" y="4007310"/>
                  </a:moveTo>
                  <a:lnTo>
                    <a:pt x="0" y="4007310"/>
                  </a:lnTo>
                  <a:lnTo>
                    <a:pt x="0" y="4037465"/>
                  </a:lnTo>
                  <a:lnTo>
                    <a:pt x="2298" y="4039833"/>
                  </a:lnTo>
                  <a:lnTo>
                    <a:pt x="4788" y="4042182"/>
                  </a:lnTo>
                  <a:lnTo>
                    <a:pt x="6703" y="4042182"/>
                  </a:lnTo>
                  <a:lnTo>
                    <a:pt x="11299" y="4037465"/>
                  </a:lnTo>
                  <a:lnTo>
                    <a:pt x="11299" y="4007310"/>
                  </a:lnTo>
                  <a:close/>
                </a:path>
                <a:path w="11429" h="4246245">
                  <a:moveTo>
                    <a:pt x="6703" y="4003070"/>
                  </a:moveTo>
                  <a:lnTo>
                    <a:pt x="4788" y="4003070"/>
                  </a:lnTo>
                  <a:lnTo>
                    <a:pt x="2298" y="4005438"/>
                  </a:lnTo>
                  <a:lnTo>
                    <a:pt x="2298" y="4007310"/>
                  </a:lnTo>
                  <a:lnTo>
                    <a:pt x="9001" y="4007310"/>
                  </a:lnTo>
                  <a:lnTo>
                    <a:pt x="9001" y="4005438"/>
                  </a:lnTo>
                  <a:lnTo>
                    <a:pt x="6703" y="4003070"/>
                  </a:lnTo>
                  <a:close/>
                </a:path>
                <a:path w="11429" h="4246245">
                  <a:moveTo>
                    <a:pt x="9001" y="3966326"/>
                  </a:moveTo>
                  <a:lnTo>
                    <a:pt x="2298" y="3966326"/>
                  </a:lnTo>
                  <a:lnTo>
                    <a:pt x="2298" y="3968675"/>
                  </a:lnTo>
                  <a:lnTo>
                    <a:pt x="0" y="3970565"/>
                  </a:lnTo>
                  <a:lnTo>
                    <a:pt x="2298" y="3972914"/>
                  </a:lnTo>
                  <a:lnTo>
                    <a:pt x="4788" y="3975283"/>
                  </a:lnTo>
                  <a:lnTo>
                    <a:pt x="6703" y="3975283"/>
                  </a:lnTo>
                  <a:lnTo>
                    <a:pt x="11299" y="3970565"/>
                  </a:lnTo>
                  <a:lnTo>
                    <a:pt x="9001" y="3968675"/>
                  </a:lnTo>
                  <a:lnTo>
                    <a:pt x="9001" y="3966326"/>
                  </a:lnTo>
                  <a:close/>
                </a:path>
                <a:path w="11429" h="4246245">
                  <a:moveTo>
                    <a:pt x="9001" y="3899407"/>
                  </a:moveTo>
                  <a:lnTo>
                    <a:pt x="2298" y="3899407"/>
                  </a:lnTo>
                  <a:lnTo>
                    <a:pt x="2298" y="3901775"/>
                  </a:lnTo>
                  <a:lnTo>
                    <a:pt x="0" y="3904124"/>
                  </a:lnTo>
                  <a:lnTo>
                    <a:pt x="0" y="3931453"/>
                  </a:lnTo>
                  <a:lnTo>
                    <a:pt x="2298" y="3933821"/>
                  </a:lnTo>
                  <a:lnTo>
                    <a:pt x="2298" y="3936170"/>
                  </a:lnTo>
                  <a:lnTo>
                    <a:pt x="9001" y="3936170"/>
                  </a:lnTo>
                  <a:lnTo>
                    <a:pt x="9001" y="3933821"/>
                  </a:lnTo>
                  <a:lnTo>
                    <a:pt x="11299" y="3931453"/>
                  </a:lnTo>
                  <a:lnTo>
                    <a:pt x="11299" y="3904124"/>
                  </a:lnTo>
                  <a:lnTo>
                    <a:pt x="9001" y="3901775"/>
                  </a:lnTo>
                  <a:lnTo>
                    <a:pt x="9001" y="3899407"/>
                  </a:lnTo>
                  <a:close/>
                </a:path>
                <a:path w="11429" h="4246245">
                  <a:moveTo>
                    <a:pt x="6703" y="3897058"/>
                  </a:moveTo>
                  <a:lnTo>
                    <a:pt x="4788" y="3899407"/>
                  </a:lnTo>
                  <a:lnTo>
                    <a:pt x="6703" y="3899407"/>
                  </a:lnTo>
                  <a:lnTo>
                    <a:pt x="6703" y="3897058"/>
                  </a:lnTo>
                  <a:close/>
                </a:path>
                <a:path w="11429" h="4246245">
                  <a:moveTo>
                    <a:pt x="9001" y="3860314"/>
                  </a:moveTo>
                  <a:lnTo>
                    <a:pt x="2298" y="3860314"/>
                  </a:lnTo>
                  <a:lnTo>
                    <a:pt x="2298" y="3862663"/>
                  </a:lnTo>
                  <a:lnTo>
                    <a:pt x="0" y="3865012"/>
                  </a:lnTo>
                  <a:lnTo>
                    <a:pt x="2298" y="3867380"/>
                  </a:lnTo>
                  <a:lnTo>
                    <a:pt x="4788" y="3869729"/>
                  </a:lnTo>
                  <a:lnTo>
                    <a:pt x="6703" y="3869729"/>
                  </a:lnTo>
                  <a:lnTo>
                    <a:pt x="11299" y="3865012"/>
                  </a:lnTo>
                  <a:lnTo>
                    <a:pt x="9001" y="3862663"/>
                  </a:lnTo>
                  <a:lnTo>
                    <a:pt x="9001" y="3860314"/>
                  </a:lnTo>
                  <a:close/>
                </a:path>
                <a:path w="11429" h="4246245">
                  <a:moveTo>
                    <a:pt x="9001" y="3793873"/>
                  </a:moveTo>
                  <a:lnTo>
                    <a:pt x="2298" y="3793873"/>
                  </a:lnTo>
                  <a:lnTo>
                    <a:pt x="2298" y="3796222"/>
                  </a:lnTo>
                  <a:lnTo>
                    <a:pt x="0" y="3798590"/>
                  </a:lnTo>
                  <a:lnTo>
                    <a:pt x="0" y="3825919"/>
                  </a:lnTo>
                  <a:lnTo>
                    <a:pt x="2298" y="3828268"/>
                  </a:lnTo>
                  <a:lnTo>
                    <a:pt x="2298" y="3830617"/>
                  </a:lnTo>
                  <a:lnTo>
                    <a:pt x="9001" y="3830617"/>
                  </a:lnTo>
                  <a:lnTo>
                    <a:pt x="9001" y="3828268"/>
                  </a:lnTo>
                  <a:lnTo>
                    <a:pt x="11299" y="3825919"/>
                  </a:lnTo>
                  <a:lnTo>
                    <a:pt x="11299" y="3798590"/>
                  </a:lnTo>
                  <a:lnTo>
                    <a:pt x="9001" y="3796222"/>
                  </a:lnTo>
                  <a:lnTo>
                    <a:pt x="9001" y="3793873"/>
                  </a:lnTo>
                  <a:close/>
                </a:path>
                <a:path w="11429" h="4246245">
                  <a:moveTo>
                    <a:pt x="6703" y="3754760"/>
                  </a:moveTo>
                  <a:lnTo>
                    <a:pt x="4788" y="3754760"/>
                  </a:lnTo>
                  <a:lnTo>
                    <a:pt x="2298" y="3757128"/>
                  </a:lnTo>
                  <a:lnTo>
                    <a:pt x="0" y="3759477"/>
                  </a:lnTo>
                  <a:lnTo>
                    <a:pt x="2298" y="3761826"/>
                  </a:lnTo>
                  <a:lnTo>
                    <a:pt x="2298" y="3763717"/>
                  </a:lnTo>
                  <a:lnTo>
                    <a:pt x="9001" y="3763717"/>
                  </a:lnTo>
                  <a:lnTo>
                    <a:pt x="9001" y="3761826"/>
                  </a:lnTo>
                  <a:lnTo>
                    <a:pt x="11299" y="3759477"/>
                  </a:lnTo>
                  <a:lnTo>
                    <a:pt x="6703" y="3754760"/>
                  </a:lnTo>
                  <a:close/>
                </a:path>
                <a:path w="11429" h="4246245">
                  <a:moveTo>
                    <a:pt x="9001" y="3687861"/>
                  </a:moveTo>
                  <a:lnTo>
                    <a:pt x="2298" y="3687861"/>
                  </a:lnTo>
                  <a:lnTo>
                    <a:pt x="2298" y="3690210"/>
                  </a:lnTo>
                  <a:lnTo>
                    <a:pt x="0" y="3692559"/>
                  </a:lnTo>
                  <a:lnTo>
                    <a:pt x="0" y="3720365"/>
                  </a:lnTo>
                  <a:lnTo>
                    <a:pt x="2298" y="3722714"/>
                  </a:lnTo>
                  <a:lnTo>
                    <a:pt x="2298" y="3725082"/>
                  </a:lnTo>
                  <a:lnTo>
                    <a:pt x="9001" y="3725082"/>
                  </a:lnTo>
                  <a:lnTo>
                    <a:pt x="9001" y="3722714"/>
                  </a:lnTo>
                  <a:lnTo>
                    <a:pt x="11299" y="3720365"/>
                  </a:lnTo>
                  <a:lnTo>
                    <a:pt x="11299" y="3692559"/>
                  </a:lnTo>
                  <a:lnTo>
                    <a:pt x="9001" y="3690210"/>
                  </a:lnTo>
                  <a:lnTo>
                    <a:pt x="9001" y="3687861"/>
                  </a:lnTo>
                  <a:close/>
                </a:path>
                <a:path w="11429" h="4246245">
                  <a:moveTo>
                    <a:pt x="6703" y="3649226"/>
                  </a:moveTo>
                  <a:lnTo>
                    <a:pt x="4788" y="3649226"/>
                  </a:lnTo>
                  <a:lnTo>
                    <a:pt x="2298" y="3651097"/>
                  </a:lnTo>
                  <a:lnTo>
                    <a:pt x="0" y="3653466"/>
                  </a:lnTo>
                  <a:lnTo>
                    <a:pt x="2298" y="3655815"/>
                  </a:lnTo>
                  <a:lnTo>
                    <a:pt x="2298" y="3658164"/>
                  </a:lnTo>
                  <a:lnTo>
                    <a:pt x="9001" y="3658164"/>
                  </a:lnTo>
                  <a:lnTo>
                    <a:pt x="9001" y="3655815"/>
                  </a:lnTo>
                  <a:lnTo>
                    <a:pt x="11299" y="3653466"/>
                  </a:lnTo>
                  <a:lnTo>
                    <a:pt x="9001" y="3651097"/>
                  </a:lnTo>
                  <a:lnTo>
                    <a:pt x="6703" y="3649226"/>
                  </a:lnTo>
                  <a:close/>
                </a:path>
                <a:path w="11429" h="4246245">
                  <a:moveTo>
                    <a:pt x="6703" y="3619070"/>
                  </a:moveTo>
                  <a:lnTo>
                    <a:pt x="4788" y="3619070"/>
                  </a:lnTo>
                  <a:lnTo>
                    <a:pt x="6703" y="3621419"/>
                  </a:lnTo>
                  <a:lnTo>
                    <a:pt x="6703" y="3619070"/>
                  </a:lnTo>
                  <a:close/>
                </a:path>
                <a:path w="11429" h="4246245">
                  <a:moveTo>
                    <a:pt x="9001" y="3616702"/>
                  </a:moveTo>
                  <a:lnTo>
                    <a:pt x="2298" y="3616702"/>
                  </a:lnTo>
                  <a:lnTo>
                    <a:pt x="2298" y="3619070"/>
                  </a:lnTo>
                  <a:lnTo>
                    <a:pt x="9001" y="3619070"/>
                  </a:lnTo>
                  <a:lnTo>
                    <a:pt x="9001" y="3616702"/>
                  </a:lnTo>
                  <a:close/>
                </a:path>
                <a:path w="11429" h="4246245">
                  <a:moveTo>
                    <a:pt x="6703" y="3582307"/>
                  </a:moveTo>
                  <a:lnTo>
                    <a:pt x="4788" y="3582307"/>
                  </a:lnTo>
                  <a:lnTo>
                    <a:pt x="2298" y="3584675"/>
                  </a:lnTo>
                  <a:lnTo>
                    <a:pt x="0" y="3587024"/>
                  </a:lnTo>
                  <a:lnTo>
                    <a:pt x="0" y="3616702"/>
                  </a:lnTo>
                  <a:lnTo>
                    <a:pt x="11299" y="3616702"/>
                  </a:lnTo>
                  <a:lnTo>
                    <a:pt x="11299" y="3587024"/>
                  </a:lnTo>
                  <a:lnTo>
                    <a:pt x="6703" y="3582307"/>
                  </a:lnTo>
                  <a:close/>
                </a:path>
                <a:path w="11429" h="4246245">
                  <a:moveTo>
                    <a:pt x="11299" y="3547912"/>
                  </a:moveTo>
                  <a:lnTo>
                    <a:pt x="0" y="3547912"/>
                  </a:lnTo>
                  <a:lnTo>
                    <a:pt x="2298" y="3550280"/>
                  </a:lnTo>
                  <a:lnTo>
                    <a:pt x="2298" y="3552629"/>
                  </a:lnTo>
                  <a:lnTo>
                    <a:pt x="9001" y="3552629"/>
                  </a:lnTo>
                  <a:lnTo>
                    <a:pt x="9001" y="3550280"/>
                  </a:lnTo>
                  <a:lnTo>
                    <a:pt x="11299" y="3547912"/>
                  </a:lnTo>
                  <a:close/>
                </a:path>
                <a:path w="11429" h="4246245">
                  <a:moveTo>
                    <a:pt x="6703" y="3543195"/>
                  </a:moveTo>
                  <a:lnTo>
                    <a:pt x="4788" y="3543195"/>
                  </a:lnTo>
                  <a:lnTo>
                    <a:pt x="2298" y="3545563"/>
                  </a:lnTo>
                  <a:lnTo>
                    <a:pt x="2298" y="3547912"/>
                  </a:lnTo>
                  <a:lnTo>
                    <a:pt x="9001" y="3547912"/>
                  </a:lnTo>
                  <a:lnTo>
                    <a:pt x="9001" y="3545563"/>
                  </a:lnTo>
                  <a:lnTo>
                    <a:pt x="6703" y="3543195"/>
                  </a:lnTo>
                  <a:close/>
                </a:path>
                <a:path w="11429" h="4246245">
                  <a:moveTo>
                    <a:pt x="6703" y="3476773"/>
                  </a:moveTo>
                  <a:lnTo>
                    <a:pt x="4788" y="3476773"/>
                  </a:lnTo>
                  <a:lnTo>
                    <a:pt x="2298" y="3479122"/>
                  </a:lnTo>
                  <a:lnTo>
                    <a:pt x="0" y="3481471"/>
                  </a:lnTo>
                  <a:lnTo>
                    <a:pt x="0" y="3511168"/>
                  </a:lnTo>
                  <a:lnTo>
                    <a:pt x="2298" y="3513517"/>
                  </a:lnTo>
                  <a:lnTo>
                    <a:pt x="4788" y="3515885"/>
                  </a:lnTo>
                  <a:lnTo>
                    <a:pt x="6703" y="3515885"/>
                  </a:lnTo>
                  <a:lnTo>
                    <a:pt x="11299" y="3511168"/>
                  </a:lnTo>
                  <a:lnTo>
                    <a:pt x="11299" y="3481471"/>
                  </a:lnTo>
                  <a:lnTo>
                    <a:pt x="6703" y="3476773"/>
                  </a:lnTo>
                  <a:close/>
                </a:path>
                <a:path w="11429" h="4246245">
                  <a:moveTo>
                    <a:pt x="6703" y="3446617"/>
                  </a:moveTo>
                  <a:lnTo>
                    <a:pt x="4788" y="3446617"/>
                  </a:lnTo>
                  <a:lnTo>
                    <a:pt x="6703" y="3448966"/>
                  </a:lnTo>
                  <a:lnTo>
                    <a:pt x="6703" y="3446617"/>
                  </a:lnTo>
                  <a:close/>
                </a:path>
                <a:path w="11429" h="4246245">
                  <a:moveTo>
                    <a:pt x="9001" y="3444727"/>
                  </a:moveTo>
                  <a:lnTo>
                    <a:pt x="2298" y="3444727"/>
                  </a:lnTo>
                  <a:lnTo>
                    <a:pt x="2298" y="3446617"/>
                  </a:lnTo>
                  <a:lnTo>
                    <a:pt x="9001" y="3446617"/>
                  </a:lnTo>
                  <a:lnTo>
                    <a:pt x="9001" y="3444727"/>
                  </a:lnTo>
                  <a:close/>
                </a:path>
                <a:path w="11429" h="4246245">
                  <a:moveTo>
                    <a:pt x="9001" y="3440009"/>
                  </a:moveTo>
                  <a:lnTo>
                    <a:pt x="2298" y="3440009"/>
                  </a:lnTo>
                  <a:lnTo>
                    <a:pt x="2298" y="3442378"/>
                  </a:lnTo>
                  <a:lnTo>
                    <a:pt x="0" y="3444727"/>
                  </a:lnTo>
                  <a:lnTo>
                    <a:pt x="11299" y="3444727"/>
                  </a:lnTo>
                  <a:lnTo>
                    <a:pt x="9001" y="3442378"/>
                  </a:lnTo>
                  <a:lnTo>
                    <a:pt x="9001" y="3440009"/>
                  </a:lnTo>
                  <a:close/>
                </a:path>
                <a:path w="11429" h="4246245">
                  <a:moveTo>
                    <a:pt x="6703" y="3437660"/>
                  </a:moveTo>
                  <a:lnTo>
                    <a:pt x="4788" y="3440009"/>
                  </a:lnTo>
                  <a:lnTo>
                    <a:pt x="6703" y="3440009"/>
                  </a:lnTo>
                  <a:lnTo>
                    <a:pt x="6703" y="3437660"/>
                  </a:lnTo>
                  <a:close/>
                </a:path>
                <a:path w="11429" h="4246245">
                  <a:moveTo>
                    <a:pt x="11299" y="3375459"/>
                  </a:moveTo>
                  <a:lnTo>
                    <a:pt x="0" y="3375459"/>
                  </a:lnTo>
                  <a:lnTo>
                    <a:pt x="0" y="3405614"/>
                  </a:lnTo>
                  <a:lnTo>
                    <a:pt x="2298" y="3407505"/>
                  </a:lnTo>
                  <a:lnTo>
                    <a:pt x="4788" y="3409854"/>
                  </a:lnTo>
                  <a:lnTo>
                    <a:pt x="6703" y="3409854"/>
                  </a:lnTo>
                  <a:lnTo>
                    <a:pt x="9001" y="3407505"/>
                  </a:lnTo>
                  <a:lnTo>
                    <a:pt x="11299" y="3405614"/>
                  </a:lnTo>
                  <a:lnTo>
                    <a:pt x="11299" y="3375459"/>
                  </a:lnTo>
                  <a:close/>
                </a:path>
                <a:path w="11429" h="4246245">
                  <a:moveTo>
                    <a:pt x="6703" y="3370761"/>
                  </a:moveTo>
                  <a:lnTo>
                    <a:pt x="4788" y="3370761"/>
                  </a:lnTo>
                  <a:lnTo>
                    <a:pt x="2298" y="3373110"/>
                  </a:lnTo>
                  <a:lnTo>
                    <a:pt x="2298" y="3375459"/>
                  </a:lnTo>
                  <a:lnTo>
                    <a:pt x="9001" y="3375459"/>
                  </a:lnTo>
                  <a:lnTo>
                    <a:pt x="9001" y="3373110"/>
                  </a:lnTo>
                  <a:lnTo>
                    <a:pt x="6703" y="3370761"/>
                  </a:lnTo>
                  <a:close/>
                </a:path>
                <a:path w="11429" h="4246245">
                  <a:moveTo>
                    <a:pt x="9001" y="3333998"/>
                  </a:moveTo>
                  <a:lnTo>
                    <a:pt x="2298" y="3333998"/>
                  </a:lnTo>
                  <a:lnTo>
                    <a:pt x="2298" y="3336366"/>
                  </a:lnTo>
                  <a:lnTo>
                    <a:pt x="0" y="3338715"/>
                  </a:lnTo>
                  <a:lnTo>
                    <a:pt x="2298" y="3341064"/>
                  </a:lnTo>
                  <a:lnTo>
                    <a:pt x="4788" y="3343432"/>
                  </a:lnTo>
                  <a:lnTo>
                    <a:pt x="6703" y="3343432"/>
                  </a:lnTo>
                  <a:lnTo>
                    <a:pt x="11299" y="3338715"/>
                  </a:lnTo>
                  <a:lnTo>
                    <a:pt x="9001" y="3336366"/>
                  </a:lnTo>
                  <a:lnTo>
                    <a:pt x="9001" y="3333998"/>
                  </a:lnTo>
                  <a:close/>
                </a:path>
                <a:path w="11429" h="4246245">
                  <a:moveTo>
                    <a:pt x="9001" y="3267556"/>
                  </a:moveTo>
                  <a:lnTo>
                    <a:pt x="2298" y="3267556"/>
                  </a:lnTo>
                  <a:lnTo>
                    <a:pt x="2298" y="3269924"/>
                  </a:lnTo>
                  <a:lnTo>
                    <a:pt x="0" y="3272273"/>
                  </a:lnTo>
                  <a:lnTo>
                    <a:pt x="0" y="3299602"/>
                  </a:lnTo>
                  <a:lnTo>
                    <a:pt x="2298" y="3301951"/>
                  </a:lnTo>
                  <a:lnTo>
                    <a:pt x="4788" y="3304320"/>
                  </a:lnTo>
                  <a:lnTo>
                    <a:pt x="6703" y="3304320"/>
                  </a:lnTo>
                  <a:lnTo>
                    <a:pt x="11299" y="3299602"/>
                  </a:lnTo>
                  <a:lnTo>
                    <a:pt x="11299" y="3272273"/>
                  </a:lnTo>
                  <a:lnTo>
                    <a:pt x="9001" y="3269924"/>
                  </a:lnTo>
                  <a:lnTo>
                    <a:pt x="9001" y="3267556"/>
                  </a:lnTo>
                  <a:close/>
                </a:path>
                <a:path w="11429" h="4246245">
                  <a:moveTo>
                    <a:pt x="6703" y="3265207"/>
                  </a:moveTo>
                  <a:lnTo>
                    <a:pt x="4788" y="3267556"/>
                  </a:lnTo>
                  <a:lnTo>
                    <a:pt x="6703" y="3267556"/>
                  </a:lnTo>
                  <a:lnTo>
                    <a:pt x="6703" y="3265207"/>
                  </a:lnTo>
                  <a:close/>
                </a:path>
                <a:path w="11429" h="4246245">
                  <a:moveTo>
                    <a:pt x="9001" y="3228463"/>
                  </a:moveTo>
                  <a:lnTo>
                    <a:pt x="2298" y="3228463"/>
                  </a:lnTo>
                  <a:lnTo>
                    <a:pt x="2298" y="3230812"/>
                  </a:lnTo>
                  <a:lnTo>
                    <a:pt x="0" y="3233161"/>
                  </a:lnTo>
                  <a:lnTo>
                    <a:pt x="2298" y="3235529"/>
                  </a:lnTo>
                  <a:lnTo>
                    <a:pt x="4788" y="3237878"/>
                  </a:lnTo>
                  <a:lnTo>
                    <a:pt x="6703" y="3237878"/>
                  </a:lnTo>
                  <a:lnTo>
                    <a:pt x="11299" y="3233161"/>
                  </a:lnTo>
                  <a:lnTo>
                    <a:pt x="9001" y="3230812"/>
                  </a:lnTo>
                  <a:lnTo>
                    <a:pt x="9001" y="3228463"/>
                  </a:lnTo>
                  <a:close/>
                </a:path>
                <a:path w="11429" h="4246245">
                  <a:moveTo>
                    <a:pt x="9001" y="3162022"/>
                  </a:moveTo>
                  <a:lnTo>
                    <a:pt x="2298" y="3162022"/>
                  </a:lnTo>
                  <a:lnTo>
                    <a:pt x="2298" y="3163913"/>
                  </a:lnTo>
                  <a:lnTo>
                    <a:pt x="0" y="3166262"/>
                  </a:lnTo>
                  <a:lnTo>
                    <a:pt x="0" y="3194068"/>
                  </a:lnTo>
                  <a:lnTo>
                    <a:pt x="2298" y="3196417"/>
                  </a:lnTo>
                  <a:lnTo>
                    <a:pt x="2298" y="3198766"/>
                  </a:lnTo>
                  <a:lnTo>
                    <a:pt x="9001" y="3198766"/>
                  </a:lnTo>
                  <a:lnTo>
                    <a:pt x="9001" y="3196417"/>
                  </a:lnTo>
                  <a:lnTo>
                    <a:pt x="11299" y="3194068"/>
                  </a:lnTo>
                  <a:lnTo>
                    <a:pt x="11299" y="3166262"/>
                  </a:lnTo>
                  <a:lnTo>
                    <a:pt x="9001" y="3163913"/>
                  </a:lnTo>
                  <a:lnTo>
                    <a:pt x="9001" y="3162022"/>
                  </a:lnTo>
                  <a:close/>
                </a:path>
                <a:path w="11429" h="4246245">
                  <a:moveTo>
                    <a:pt x="6703" y="3122910"/>
                  </a:moveTo>
                  <a:lnTo>
                    <a:pt x="4788" y="3122910"/>
                  </a:lnTo>
                  <a:lnTo>
                    <a:pt x="2298" y="3125259"/>
                  </a:lnTo>
                  <a:lnTo>
                    <a:pt x="0" y="3127149"/>
                  </a:lnTo>
                  <a:lnTo>
                    <a:pt x="2298" y="3129517"/>
                  </a:lnTo>
                  <a:lnTo>
                    <a:pt x="4788" y="3131866"/>
                  </a:lnTo>
                  <a:lnTo>
                    <a:pt x="6703" y="3131866"/>
                  </a:lnTo>
                  <a:lnTo>
                    <a:pt x="11299" y="3127149"/>
                  </a:lnTo>
                  <a:lnTo>
                    <a:pt x="9001" y="3125259"/>
                  </a:lnTo>
                  <a:lnTo>
                    <a:pt x="6703" y="3122910"/>
                  </a:lnTo>
                  <a:close/>
                </a:path>
                <a:path w="11429" h="4246245">
                  <a:moveTo>
                    <a:pt x="9001" y="3056010"/>
                  </a:moveTo>
                  <a:lnTo>
                    <a:pt x="2298" y="3056010"/>
                  </a:lnTo>
                  <a:lnTo>
                    <a:pt x="2298" y="3058359"/>
                  </a:lnTo>
                  <a:lnTo>
                    <a:pt x="0" y="3060708"/>
                  </a:lnTo>
                  <a:lnTo>
                    <a:pt x="0" y="3088514"/>
                  </a:lnTo>
                  <a:lnTo>
                    <a:pt x="2298" y="3090405"/>
                  </a:lnTo>
                  <a:lnTo>
                    <a:pt x="2298" y="3092754"/>
                  </a:lnTo>
                  <a:lnTo>
                    <a:pt x="9001" y="3092754"/>
                  </a:lnTo>
                  <a:lnTo>
                    <a:pt x="9001" y="3090405"/>
                  </a:lnTo>
                  <a:lnTo>
                    <a:pt x="11299" y="3088514"/>
                  </a:lnTo>
                  <a:lnTo>
                    <a:pt x="11299" y="3060708"/>
                  </a:lnTo>
                  <a:lnTo>
                    <a:pt x="9001" y="3058359"/>
                  </a:lnTo>
                  <a:lnTo>
                    <a:pt x="9001" y="3056010"/>
                  </a:lnTo>
                  <a:close/>
                </a:path>
                <a:path w="11429" h="4246245">
                  <a:moveTo>
                    <a:pt x="6703" y="3016898"/>
                  </a:moveTo>
                  <a:lnTo>
                    <a:pt x="4788" y="3016898"/>
                  </a:lnTo>
                  <a:lnTo>
                    <a:pt x="2298" y="3019247"/>
                  </a:lnTo>
                  <a:lnTo>
                    <a:pt x="0" y="3021615"/>
                  </a:lnTo>
                  <a:lnTo>
                    <a:pt x="2298" y="3023964"/>
                  </a:lnTo>
                  <a:lnTo>
                    <a:pt x="2298" y="3026313"/>
                  </a:lnTo>
                  <a:lnTo>
                    <a:pt x="9001" y="3026313"/>
                  </a:lnTo>
                  <a:lnTo>
                    <a:pt x="9001" y="3023964"/>
                  </a:lnTo>
                  <a:lnTo>
                    <a:pt x="11299" y="3021615"/>
                  </a:lnTo>
                  <a:lnTo>
                    <a:pt x="6703" y="3016898"/>
                  </a:lnTo>
                  <a:close/>
                </a:path>
                <a:path w="11429" h="4246245">
                  <a:moveTo>
                    <a:pt x="6703" y="2987220"/>
                  </a:moveTo>
                  <a:lnTo>
                    <a:pt x="4788" y="2987220"/>
                  </a:lnTo>
                  <a:lnTo>
                    <a:pt x="6703" y="2989569"/>
                  </a:lnTo>
                  <a:lnTo>
                    <a:pt x="6703" y="2987220"/>
                  </a:lnTo>
                  <a:close/>
                </a:path>
                <a:path w="11429" h="4246245">
                  <a:moveTo>
                    <a:pt x="9001" y="2984852"/>
                  </a:moveTo>
                  <a:lnTo>
                    <a:pt x="2298" y="2984852"/>
                  </a:lnTo>
                  <a:lnTo>
                    <a:pt x="2298" y="2987220"/>
                  </a:lnTo>
                  <a:lnTo>
                    <a:pt x="9001" y="2987220"/>
                  </a:lnTo>
                  <a:lnTo>
                    <a:pt x="9001" y="2984852"/>
                  </a:lnTo>
                  <a:close/>
                </a:path>
                <a:path w="11429" h="4246245">
                  <a:moveTo>
                    <a:pt x="6703" y="2950456"/>
                  </a:moveTo>
                  <a:lnTo>
                    <a:pt x="4788" y="2950456"/>
                  </a:lnTo>
                  <a:lnTo>
                    <a:pt x="2298" y="2952825"/>
                  </a:lnTo>
                  <a:lnTo>
                    <a:pt x="0" y="2955174"/>
                  </a:lnTo>
                  <a:lnTo>
                    <a:pt x="0" y="2984852"/>
                  </a:lnTo>
                  <a:lnTo>
                    <a:pt x="11299" y="2984852"/>
                  </a:lnTo>
                  <a:lnTo>
                    <a:pt x="11299" y="2955174"/>
                  </a:lnTo>
                  <a:lnTo>
                    <a:pt x="6703" y="2950456"/>
                  </a:lnTo>
                  <a:close/>
                </a:path>
                <a:path w="11429" h="4246245">
                  <a:moveTo>
                    <a:pt x="11299" y="2916061"/>
                  </a:moveTo>
                  <a:lnTo>
                    <a:pt x="0" y="2916061"/>
                  </a:lnTo>
                  <a:lnTo>
                    <a:pt x="2298" y="2918429"/>
                  </a:lnTo>
                  <a:lnTo>
                    <a:pt x="2298" y="2920779"/>
                  </a:lnTo>
                  <a:lnTo>
                    <a:pt x="9001" y="2920779"/>
                  </a:lnTo>
                  <a:lnTo>
                    <a:pt x="9001" y="2918429"/>
                  </a:lnTo>
                  <a:lnTo>
                    <a:pt x="11299" y="2916061"/>
                  </a:lnTo>
                  <a:close/>
                </a:path>
                <a:path w="11429" h="4246245">
                  <a:moveTo>
                    <a:pt x="6703" y="2911344"/>
                  </a:moveTo>
                  <a:lnTo>
                    <a:pt x="4788" y="2911344"/>
                  </a:lnTo>
                  <a:lnTo>
                    <a:pt x="2298" y="2913712"/>
                  </a:lnTo>
                  <a:lnTo>
                    <a:pt x="2298" y="2916061"/>
                  </a:lnTo>
                  <a:lnTo>
                    <a:pt x="9001" y="2916061"/>
                  </a:lnTo>
                  <a:lnTo>
                    <a:pt x="9001" y="2913712"/>
                  </a:lnTo>
                  <a:lnTo>
                    <a:pt x="6703" y="2911344"/>
                  </a:lnTo>
                  <a:close/>
                </a:path>
                <a:path w="11429" h="4246245">
                  <a:moveTo>
                    <a:pt x="9001" y="2879317"/>
                  </a:moveTo>
                  <a:lnTo>
                    <a:pt x="2298" y="2879317"/>
                  </a:lnTo>
                  <a:lnTo>
                    <a:pt x="2298" y="2881666"/>
                  </a:lnTo>
                  <a:lnTo>
                    <a:pt x="4788" y="2883557"/>
                  </a:lnTo>
                  <a:lnTo>
                    <a:pt x="6703" y="2883557"/>
                  </a:lnTo>
                  <a:lnTo>
                    <a:pt x="9001" y="2881666"/>
                  </a:lnTo>
                  <a:lnTo>
                    <a:pt x="9001" y="2879317"/>
                  </a:lnTo>
                  <a:close/>
                </a:path>
                <a:path w="11429" h="4246245">
                  <a:moveTo>
                    <a:pt x="6703" y="2844922"/>
                  </a:moveTo>
                  <a:lnTo>
                    <a:pt x="4788" y="2844922"/>
                  </a:lnTo>
                  <a:lnTo>
                    <a:pt x="2298" y="2846794"/>
                  </a:lnTo>
                  <a:lnTo>
                    <a:pt x="0" y="2849162"/>
                  </a:lnTo>
                  <a:lnTo>
                    <a:pt x="0" y="2879317"/>
                  </a:lnTo>
                  <a:lnTo>
                    <a:pt x="11299" y="2879317"/>
                  </a:lnTo>
                  <a:lnTo>
                    <a:pt x="11299" y="2849162"/>
                  </a:lnTo>
                  <a:lnTo>
                    <a:pt x="9001" y="2846794"/>
                  </a:lnTo>
                  <a:lnTo>
                    <a:pt x="6703" y="2844922"/>
                  </a:lnTo>
                  <a:close/>
                </a:path>
                <a:path w="11429" h="4246245">
                  <a:moveTo>
                    <a:pt x="6703" y="2814767"/>
                  </a:moveTo>
                  <a:lnTo>
                    <a:pt x="4788" y="2814767"/>
                  </a:lnTo>
                  <a:lnTo>
                    <a:pt x="6703" y="2817116"/>
                  </a:lnTo>
                  <a:lnTo>
                    <a:pt x="6703" y="2814767"/>
                  </a:lnTo>
                  <a:close/>
                </a:path>
                <a:path w="11429" h="4246245">
                  <a:moveTo>
                    <a:pt x="9001" y="2812399"/>
                  </a:moveTo>
                  <a:lnTo>
                    <a:pt x="2298" y="2812399"/>
                  </a:lnTo>
                  <a:lnTo>
                    <a:pt x="2298" y="2814767"/>
                  </a:lnTo>
                  <a:lnTo>
                    <a:pt x="9001" y="2814767"/>
                  </a:lnTo>
                  <a:lnTo>
                    <a:pt x="9001" y="2812399"/>
                  </a:lnTo>
                  <a:close/>
                </a:path>
                <a:path w="11429" h="4246245">
                  <a:moveTo>
                    <a:pt x="11299" y="2810049"/>
                  </a:moveTo>
                  <a:lnTo>
                    <a:pt x="0" y="2810049"/>
                  </a:lnTo>
                  <a:lnTo>
                    <a:pt x="0" y="2812399"/>
                  </a:lnTo>
                  <a:lnTo>
                    <a:pt x="11299" y="2812399"/>
                  </a:lnTo>
                  <a:lnTo>
                    <a:pt x="11299" y="2810049"/>
                  </a:lnTo>
                  <a:close/>
                </a:path>
                <a:path w="11429" h="4246245">
                  <a:moveTo>
                    <a:pt x="9001" y="2808159"/>
                  </a:moveTo>
                  <a:lnTo>
                    <a:pt x="2298" y="2808159"/>
                  </a:lnTo>
                  <a:lnTo>
                    <a:pt x="2298" y="2810049"/>
                  </a:lnTo>
                  <a:lnTo>
                    <a:pt x="9001" y="2810049"/>
                  </a:lnTo>
                  <a:lnTo>
                    <a:pt x="9001" y="2808159"/>
                  </a:lnTo>
                  <a:close/>
                </a:path>
                <a:path w="11429" h="4246245">
                  <a:moveTo>
                    <a:pt x="6703" y="2805810"/>
                  </a:moveTo>
                  <a:lnTo>
                    <a:pt x="4788" y="2808159"/>
                  </a:lnTo>
                  <a:lnTo>
                    <a:pt x="6703" y="2808159"/>
                  </a:lnTo>
                  <a:lnTo>
                    <a:pt x="6703" y="2805810"/>
                  </a:lnTo>
                  <a:close/>
                </a:path>
                <a:path w="11429" h="4246245">
                  <a:moveTo>
                    <a:pt x="11299" y="2743608"/>
                  </a:moveTo>
                  <a:lnTo>
                    <a:pt x="0" y="2743608"/>
                  </a:lnTo>
                  <a:lnTo>
                    <a:pt x="0" y="2773305"/>
                  </a:lnTo>
                  <a:lnTo>
                    <a:pt x="2298" y="2775654"/>
                  </a:lnTo>
                  <a:lnTo>
                    <a:pt x="4788" y="2778003"/>
                  </a:lnTo>
                  <a:lnTo>
                    <a:pt x="6703" y="2778003"/>
                  </a:lnTo>
                  <a:lnTo>
                    <a:pt x="11299" y="2773305"/>
                  </a:lnTo>
                  <a:lnTo>
                    <a:pt x="11299" y="2743608"/>
                  </a:lnTo>
                  <a:close/>
                </a:path>
                <a:path w="11429" h="4246245">
                  <a:moveTo>
                    <a:pt x="6703" y="2738910"/>
                  </a:moveTo>
                  <a:lnTo>
                    <a:pt x="4788" y="2738910"/>
                  </a:lnTo>
                  <a:lnTo>
                    <a:pt x="2298" y="2741259"/>
                  </a:lnTo>
                  <a:lnTo>
                    <a:pt x="2298" y="2743608"/>
                  </a:lnTo>
                  <a:lnTo>
                    <a:pt x="9001" y="2743608"/>
                  </a:lnTo>
                  <a:lnTo>
                    <a:pt x="9001" y="2741259"/>
                  </a:lnTo>
                  <a:lnTo>
                    <a:pt x="6703" y="2738910"/>
                  </a:lnTo>
                  <a:close/>
                </a:path>
                <a:path w="11429" h="4246245">
                  <a:moveTo>
                    <a:pt x="9001" y="2706864"/>
                  </a:moveTo>
                  <a:lnTo>
                    <a:pt x="2298" y="2706864"/>
                  </a:lnTo>
                  <a:lnTo>
                    <a:pt x="2298" y="2709213"/>
                  </a:lnTo>
                  <a:lnTo>
                    <a:pt x="4788" y="2711581"/>
                  </a:lnTo>
                  <a:lnTo>
                    <a:pt x="6703" y="2711581"/>
                  </a:lnTo>
                  <a:lnTo>
                    <a:pt x="9001" y="2709213"/>
                  </a:lnTo>
                  <a:lnTo>
                    <a:pt x="9001" y="2706864"/>
                  </a:lnTo>
                  <a:close/>
                </a:path>
                <a:path w="11429" h="4246245">
                  <a:moveTo>
                    <a:pt x="9001" y="2702147"/>
                  </a:moveTo>
                  <a:lnTo>
                    <a:pt x="2298" y="2702147"/>
                  </a:lnTo>
                  <a:lnTo>
                    <a:pt x="2298" y="2704496"/>
                  </a:lnTo>
                  <a:lnTo>
                    <a:pt x="0" y="2706864"/>
                  </a:lnTo>
                  <a:lnTo>
                    <a:pt x="11299" y="2706864"/>
                  </a:lnTo>
                  <a:lnTo>
                    <a:pt x="9001" y="2704496"/>
                  </a:lnTo>
                  <a:lnTo>
                    <a:pt x="9001" y="2702147"/>
                  </a:lnTo>
                  <a:close/>
                </a:path>
                <a:path w="11429" h="4246245">
                  <a:moveTo>
                    <a:pt x="11299" y="2638074"/>
                  </a:moveTo>
                  <a:lnTo>
                    <a:pt x="0" y="2638074"/>
                  </a:lnTo>
                  <a:lnTo>
                    <a:pt x="0" y="2667752"/>
                  </a:lnTo>
                  <a:lnTo>
                    <a:pt x="2298" y="2670101"/>
                  </a:lnTo>
                  <a:lnTo>
                    <a:pt x="4788" y="2672469"/>
                  </a:lnTo>
                  <a:lnTo>
                    <a:pt x="6703" y="2672469"/>
                  </a:lnTo>
                  <a:lnTo>
                    <a:pt x="11299" y="2667752"/>
                  </a:lnTo>
                  <a:lnTo>
                    <a:pt x="11299" y="2638074"/>
                  </a:lnTo>
                  <a:close/>
                </a:path>
                <a:path w="11429" h="4246245">
                  <a:moveTo>
                    <a:pt x="9001" y="2635706"/>
                  </a:moveTo>
                  <a:lnTo>
                    <a:pt x="2298" y="2635706"/>
                  </a:lnTo>
                  <a:lnTo>
                    <a:pt x="2298" y="2638074"/>
                  </a:lnTo>
                  <a:lnTo>
                    <a:pt x="9001" y="2638074"/>
                  </a:lnTo>
                  <a:lnTo>
                    <a:pt x="9001" y="2635706"/>
                  </a:lnTo>
                  <a:close/>
                </a:path>
                <a:path w="11429" h="4246245">
                  <a:moveTo>
                    <a:pt x="6703" y="2633357"/>
                  </a:moveTo>
                  <a:lnTo>
                    <a:pt x="4788" y="2635706"/>
                  </a:lnTo>
                  <a:lnTo>
                    <a:pt x="6703" y="2635706"/>
                  </a:lnTo>
                  <a:lnTo>
                    <a:pt x="6703" y="2633357"/>
                  </a:lnTo>
                  <a:close/>
                </a:path>
                <a:path w="11429" h="4246245">
                  <a:moveTo>
                    <a:pt x="9001" y="2596612"/>
                  </a:moveTo>
                  <a:lnTo>
                    <a:pt x="2298" y="2596612"/>
                  </a:lnTo>
                  <a:lnTo>
                    <a:pt x="2298" y="2598962"/>
                  </a:lnTo>
                  <a:lnTo>
                    <a:pt x="0" y="2601311"/>
                  </a:lnTo>
                  <a:lnTo>
                    <a:pt x="2298" y="2603201"/>
                  </a:lnTo>
                  <a:lnTo>
                    <a:pt x="4788" y="2605550"/>
                  </a:lnTo>
                  <a:lnTo>
                    <a:pt x="6703" y="2605550"/>
                  </a:lnTo>
                  <a:lnTo>
                    <a:pt x="9001" y="2603201"/>
                  </a:lnTo>
                  <a:lnTo>
                    <a:pt x="11299" y="2601311"/>
                  </a:lnTo>
                  <a:lnTo>
                    <a:pt x="9001" y="2598962"/>
                  </a:lnTo>
                  <a:lnTo>
                    <a:pt x="9001" y="2596612"/>
                  </a:lnTo>
                  <a:close/>
                </a:path>
                <a:path w="11429" h="4246245">
                  <a:moveTo>
                    <a:pt x="9001" y="2529694"/>
                  </a:moveTo>
                  <a:lnTo>
                    <a:pt x="2298" y="2529694"/>
                  </a:lnTo>
                  <a:lnTo>
                    <a:pt x="2298" y="2532062"/>
                  </a:lnTo>
                  <a:lnTo>
                    <a:pt x="0" y="2534411"/>
                  </a:lnTo>
                  <a:lnTo>
                    <a:pt x="0" y="2562217"/>
                  </a:lnTo>
                  <a:lnTo>
                    <a:pt x="2298" y="2564566"/>
                  </a:lnTo>
                  <a:lnTo>
                    <a:pt x="2298" y="2566457"/>
                  </a:lnTo>
                  <a:lnTo>
                    <a:pt x="9001" y="2566457"/>
                  </a:lnTo>
                  <a:lnTo>
                    <a:pt x="9001" y="2564566"/>
                  </a:lnTo>
                  <a:lnTo>
                    <a:pt x="11299" y="2562217"/>
                  </a:lnTo>
                  <a:lnTo>
                    <a:pt x="11299" y="2534411"/>
                  </a:lnTo>
                  <a:lnTo>
                    <a:pt x="9001" y="2532062"/>
                  </a:lnTo>
                  <a:lnTo>
                    <a:pt x="9001" y="2529694"/>
                  </a:lnTo>
                  <a:close/>
                </a:path>
                <a:path w="11429" h="4246245">
                  <a:moveTo>
                    <a:pt x="6703" y="2490582"/>
                  </a:moveTo>
                  <a:lnTo>
                    <a:pt x="4788" y="2490582"/>
                  </a:lnTo>
                  <a:lnTo>
                    <a:pt x="2298" y="2492950"/>
                  </a:lnTo>
                  <a:lnTo>
                    <a:pt x="0" y="2495299"/>
                  </a:lnTo>
                  <a:lnTo>
                    <a:pt x="2298" y="2497667"/>
                  </a:lnTo>
                  <a:lnTo>
                    <a:pt x="4788" y="2500016"/>
                  </a:lnTo>
                  <a:lnTo>
                    <a:pt x="6703" y="2500016"/>
                  </a:lnTo>
                  <a:lnTo>
                    <a:pt x="11299" y="2495299"/>
                  </a:lnTo>
                  <a:lnTo>
                    <a:pt x="6703" y="2490582"/>
                  </a:lnTo>
                  <a:close/>
                </a:path>
                <a:path w="11429" h="4246245">
                  <a:moveTo>
                    <a:pt x="9001" y="2424159"/>
                  </a:moveTo>
                  <a:lnTo>
                    <a:pt x="2298" y="2424159"/>
                  </a:lnTo>
                  <a:lnTo>
                    <a:pt x="2298" y="2426508"/>
                  </a:lnTo>
                  <a:lnTo>
                    <a:pt x="0" y="2428857"/>
                  </a:lnTo>
                  <a:lnTo>
                    <a:pt x="0" y="2456186"/>
                  </a:lnTo>
                  <a:lnTo>
                    <a:pt x="2298" y="2458555"/>
                  </a:lnTo>
                  <a:lnTo>
                    <a:pt x="2298" y="2460904"/>
                  </a:lnTo>
                  <a:lnTo>
                    <a:pt x="9001" y="2460904"/>
                  </a:lnTo>
                  <a:lnTo>
                    <a:pt x="9001" y="2458555"/>
                  </a:lnTo>
                  <a:lnTo>
                    <a:pt x="11299" y="2456186"/>
                  </a:lnTo>
                  <a:lnTo>
                    <a:pt x="11299" y="2428857"/>
                  </a:lnTo>
                  <a:lnTo>
                    <a:pt x="9001" y="2426508"/>
                  </a:lnTo>
                  <a:lnTo>
                    <a:pt x="9001" y="2424159"/>
                  </a:lnTo>
                  <a:close/>
                </a:path>
                <a:path w="11429" h="4246245">
                  <a:moveTo>
                    <a:pt x="6703" y="2385047"/>
                  </a:moveTo>
                  <a:lnTo>
                    <a:pt x="4788" y="2385047"/>
                  </a:lnTo>
                  <a:lnTo>
                    <a:pt x="2298" y="2387396"/>
                  </a:lnTo>
                  <a:lnTo>
                    <a:pt x="0" y="2389764"/>
                  </a:lnTo>
                  <a:lnTo>
                    <a:pt x="2298" y="2392113"/>
                  </a:lnTo>
                  <a:lnTo>
                    <a:pt x="2298" y="2394462"/>
                  </a:lnTo>
                  <a:lnTo>
                    <a:pt x="9001" y="2394462"/>
                  </a:lnTo>
                  <a:lnTo>
                    <a:pt x="9001" y="2392113"/>
                  </a:lnTo>
                  <a:lnTo>
                    <a:pt x="11299" y="2389764"/>
                  </a:lnTo>
                  <a:lnTo>
                    <a:pt x="6703" y="2385047"/>
                  </a:lnTo>
                  <a:close/>
                </a:path>
                <a:path w="11429" h="4246245">
                  <a:moveTo>
                    <a:pt x="6703" y="2355369"/>
                  </a:moveTo>
                  <a:lnTo>
                    <a:pt x="4788" y="2355369"/>
                  </a:lnTo>
                  <a:lnTo>
                    <a:pt x="6703" y="2357718"/>
                  </a:lnTo>
                  <a:lnTo>
                    <a:pt x="6703" y="2355369"/>
                  </a:lnTo>
                  <a:close/>
                </a:path>
                <a:path w="11429" h="4246245">
                  <a:moveTo>
                    <a:pt x="6703" y="2318663"/>
                  </a:moveTo>
                  <a:lnTo>
                    <a:pt x="4788" y="2318663"/>
                  </a:lnTo>
                  <a:lnTo>
                    <a:pt x="2298" y="2320955"/>
                  </a:lnTo>
                  <a:lnTo>
                    <a:pt x="0" y="2322865"/>
                  </a:lnTo>
                  <a:lnTo>
                    <a:pt x="0" y="2350652"/>
                  </a:lnTo>
                  <a:lnTo>
                    <a:pt x="2298" y="2353001"/>
                  </a:lnTo>
                  <a:lnTo>
                    <a:pt x="2298" y="2355369"/>
                  </a:lnTo>
                  <a:lnTo>
                    <a:pt x="9001" y="2355369"/>
                  </a:lnTo>
                  <a:lnTo>
                    <a:pt x="9001" y="2353001"/>
                  </a:lnTo>
                  <a:lnTo>
                    <a:pt x="11299" y="2350652"/>
                  </a:lnTo>
                  <a:lnTo>
                    <a:pt x="11299" y="2322865"/>
                  </a:lnTo>
                  <a:lnTo>
                    <a:pt x="9001" y="2320955"/>
                  </a:lnTo>
                  <a:lnTo>
                    <a:pt x="6703" y="2318663"/>
                  </a:lnTo>
                  <a:close/>
                </a:path>
                <a:path w="11429" h="4246245">
                  <a:moveTo>
                    <a:pt x="6703" y="2279513"/>
                  </a:moveTo>
                  <a:lnTo>
                    <a:pt x="4788" y="2279513"/>
                  </a:lnTo>
                  <a:lnTo>
                    <a:pt x="2298" y="2281804"/>
                  </a:lnTo>
                  <a:lnTo>
                    <a:pt x="0" y="2284287"/>
                  </a:lnTo>
                  <a:lnTo>
                    <a:pt x="2298" y="2286006"/>
                  </a:lnTo>
                  <a:lnTo>
                    <a:pt x="2298" y="2288489"/>
                  </a:lnTo>
                  <a:lnTo>
                    <a:pt x="9001" y="2288489"/>
                  </a:lnTo>
                  <a:lnTo>
                    <a:pt x="9001" y="2286006"/>
                  </a:lnTo>
                  <a:lnTo>
                    <a:pt x="11299" y="2284287"/>
                  </a:lnTo>
                  <a:lnTo>
                    <a:pt x="9001" y="2281804"/>
                  </a:lnTo>
                  <a:lnTo>
                    <a:pt x="6703" y="2279513"/>
                  </a:lnTo>
                  <a:close/>
                </a:path>
                <a:path w="11429" h="4246245">
                  <a:moveTo>
                    <a:pt x="9001" y="2247428"/>
                  </a:moveTo>
                  <a:lnTo>
                    <a:pt x="2298" y="2247428"/>
                  </a:lnTo>
                  <a:lnTo>
                    <a:pt x="2298" y="2249338"/>
                  </a:lnTo>
                  <a:lnTo>
                    <a:pt x="4788" y="2251630"/>
                  </a:lnTo>
                  <a:lnTo>
                    <a:pt x="6703" y="2251630"/>
                  </a:lnTo>
                  <a:lnTo>
                    <a:pt x="9001" y="2249338"/>
                  </a:lnTo>
                  <a:lnTo>
                    <a:pt x="9001" y="2247428"/>
                  </a:lnTo>
                  <a:close/>
                </a:path>
                <a:path w="11429" h="4246245">
                  <a:moveTo>
                    <a:pt x="6703" y="2212670"/>
                  </a:moveTo>
                  <a:lnTo>
                    <a:pt x="4788" y="2212670"/>
                  </a:lnTo>
                  <a:lnTo>
                    <a:pt x="2298" y="2214962"/>
                  </a:lnTo>
                  <a:lnTo>
                    <a:pt x="0" y="2217254"/>
                  </a:lnTo>
                  <a:lnTo>
                    <a:pt x="0" y="2247428"/>
                  </a:lnTo>
                  <a:lnTo>
                    <a:pt x="11299" y="2247428"/>
                  </a:lnTo>
                  <a:lnTo>
                    <a:pt x="11299" y="2217254"/>
                  </a:lnTo>
                  <a:lnTo>
                    <a:pt x="6703" y="2212670"/>
                  </a:lnTo>
                  <a:close/>
                </a:path>
                <a:path w="11429" h="4246245">
                  <a:moveTo>
                    <a:pt x="6703" y="2182878"/>
                  </a:moveTo>
                  <a:lnTo>
                    <a:pt x="4788" y="2182878"/>
                  </a:lnTo>
                  <a:lnTo>
                    <a:pt x="6703" y="2185361"/>
                  </a:lnTo>
                  <a:lnTo>
                    <a:pt x="6703" y="2182878"/>
                  </a:lnTo>
                  <a:close/>
                </a:path>
                <a:path w="11429" h="4246245">
                  <a:moveTo>
                    <a:pt x="11299" y="2178103"/>
                  </a:moveTo>
                  <a:lnTo>
                    <a:pt x="0" y="2178103"/>
                  </a:lnTo>
                  <a:lnTo>
                    <a:pt x="2298" y="2180586"/>
                  </a:lnTo>
                  <a:lnTo>
                    <a:pt x="2298" y="2182878"/>
                  </a:lnTo>
                  <a:lnTo>
                    <a:pt x="9001" y="2182878"/>
                  </a:lnTo>
                  <a:lnTo>
                    <a:pt x="9001" y="2180586"/>
                  </a:lnTo>
                  <a:lnTo>
                    <a:pt x="11299" y="2178103"/>
                  </a:lnTo>
                  <a:close/>
                </a:path>
                <a:path w="11429" h="4246245">
                  <a:moveTo>
                    <a:pt x="9001" y="2175812"/>
                  </a:moveTo>
                  <a:lnTo>
                    <a:pt x="2298" y="2175812"/>
                  </a:lnTo>
                  <a:lnTo>
                    <a:pt x="2298" y="2178103"/>
                  </a:lnTo>
                  <a:lnTo>
                    <a:pt x="9001" y="2178103"/>
                  </a:lnTo>
                  <a:lnTo>
                    <a:pt x="9001" y="2175812"/>
                  </a:lnTo>
                  <a:close/>
                </a:path>
                <a:path w="11429" h="4246245">
                  <a:moveTo>
                    <a:pt x="6703" y="2173520"/>
                  </a:moveTo>
                  <a:lnTo>
                    <a:pt x="4788" y="2175812"/>
                  </a:lnTo>
                  <a:lnTo>
                    <a:pt x="6703" y="2175812"/>
                  </a:lnTo>
                  <a:lnTo>
                    <a:pt x="6703" y="2173520"/>
                  </a:lnTo>
                  <a:close/>
                </a:path>
                <a:path w="11429" h="4246245">
                  <a:moveTo>
                    <a:pt x="6703" y="2107060"/>
                  </a:moveTo>
                  <a:lnTo>
                    <a:pt x="4788" y="2107060"/>
                  </a:lnTo>
                  <a:lnTo>
                    <a:pt x="2298" y="2109351"/>
                  </a:lnTo>
                  <a:lnTo>
                    <a:pt x="0" y="2111834"/>
                  </a:lnTo>
                  <a:lnTo>
                    <a:pt x="0" y="2141436"/>
                  </a:lnTo>
                  <a:lnTo>
                    <a:pt x="4788" y="2146210"/>
                  </a:lnTo>
                  <a:lnTo>
                    <a:pt x="6703" y="2146210"/>
                  </a:lnTo>
                  <a:lnTo>
                    <a:pt x="9001" y="2143727"/>
                  </a:lnTo>
                  <a:lnTo>
                    <a:pt x="11299" y="2141436"/>
                  </a:lnTo>
                  <a:lnTo>
                    <a:pt x="11299" y="2111834"/>
                  </a:lnTo>
                  <a:lnTo>
                    <a:pt x="9001" y="2109351"/>
                  </a:lnTo>
                  <a:lnTo>
                    <a:pt x="6703" y="2107060"/>
                  </a:lnTo>
                  <a:close/>
                </a:path>
                <a:path w="11429" h="4246245">
                  <a:moveTo>
                    <a:pt x="9001" y="2074975"/>
                  </a:moveTo>
                  <a:lnTo>
                    <a:pt x="2298" y="2074975"/>
                  </a:lnTo>
                  <a:lnTo>
                    <a:pt x="2298" y="2077458"/>
                  </a:lnTo>
                  <a:lnTo>
                    <a:pt x="4788" y="2079177"/>
                  </a:lnTo>
                  <a:lnTo>
                    <a:pt x="6703" y="2079177"/>
                  </a:lnTo>
                  <a:lnTo>
                    <a:pt x="9001" y="2077458"/>
                  </a:lnTo>
                  <a:lnTo>
                    <a:pt x="9001" y="2074975"/>
                  </a:lnTo>
                  <a:close/>
                </a:path>
                <a:path w="11429" h="4246245">
                  <a:moveTo>
                    <a:pt x="9001" y="2070392"/>
                  </a:moveTo>
                  <a:lnTo>
                    <a:pt x="2298" y="2070392"/>
                  </a:lnTo>
                  <a:lnTo>
                    <a:pt x="2298" y="2072684"/>
                  </a:lnTo>
                  <a:lnTo>
                    <a:pt x="0" y="2074975"/>
                  </a:lnTo>
                  <a:lnTo>
                    <a:pt x="11299" y="2074975"/>
                  </a:lnTo>
                  <a:lnTo>
                    <a:pt x="9001" y="2072684"/>
                  </a:lnTo>
                  <a:lnTo>
                    <a:pt x="9001" y="2070392"/>
                  </a:lnTo>
                  <a:close/>
                </a:path>
                <a:path w="11429" h="4246245">
                  <a:moveTo>
                    <a:pt x="11299" y="2005841"/>
                  </a:moveTo>
                  <a:lnTo>
                    <a:pt x="0" y="2005841"/>
                  </a:lnTo>
                  <a:lnTo>
                    <a:pt x="0" y="2035825"/>
                  </a:lnTo>
                  <a:lnTo>
                    <a:pt x="2298" y="2038307"/>
                  </a:lnTo>
                  <a:lnTo>
                    <a:pt x="4788" y="2040599"/>
                  </a:lnTo>
                  <a:lnTo>
                    <a:pt x="6703" y="2040599"/>
                  </a:lnTo>
                  <a:lnTo>
                    <a:pt x="9001" y="2038307"/>
                  </a:lnTo>
                  <a:lnTo>
                    <a:pt x="11299" y="2035825"/>
                  </a:lnTo>
                  <a:lnTo>
                    <a:pt x="11299" y="2005841"/>
                  </a:lnTo>
                  <a:close/>
                </a:path>
                <a:path w="11429" h="4246245">
                  <a:moveTo>
                    <a:pt x="9001" y="2003931"/>
                  </a:moveTo>
                  <a:lnTo>
                    <a:pt x="2298" y="2003931"/>
                  </a:lnTo>
                  <a:lnTo>
                    <a:pt x="2298" y="2005841"/>
                  </a:lnTo>
                  <a:lnTo>
                    <a:pt x="9001" y="2005841"/>
                  </a:lnTo>
                  <a:lnTo>
                    <a:pt x="9001" y="2003931"/>
                  </a:lnTo>
                  <a:close/>
                </a:path>
                <a:path w="11429" h="4246245">
                  <a:moveTo>
                    <a:pt x="6703" y="2001449"/>
                  </a:moveTo>
                  <a:lnTo>
                    <a:pt x="4788" y="2003931"/>
                  </a:lnTo>
                  <a:lnTo>
                    <a:pt x="6703" y="2003931"/>
                  </a:lnTo>
                  <a:lnTo>
                    <a:pt x="6703" y="2001449"/>
                  </a:lnTo>
                  <a:close/>
                </a:path>
                <a:path w="11429" h="4246245">
                  <a:moveTo>
                    <a:pt x="9001" y="1964781"/>
                  </a:moveTo>
                  <a:lnTo>
                    <a:pt x="2298" y="1964781"/>
                  </a:lnTo>
                  <a:lnTo>
                    <a:pt x="2298" y="1966691"/>
                  </a:lnTo>
                  <a:lnTo>
                    <a:pt x="0" y="1968982"/>
                  </a:lnTo>
                  <a:lnTo>
                    <a:pt x="4788" y="1973757"/>
                  </a:lnTo>
                  <a:lnTo>
                    <a:pt x="6703" y="1973757"/>
                  </a:lnTo>
                  <a:lnTo>
                    <a:pt x="9001" y="1971274"/>
                  </a:lnTo>
                  <a:lnTo>
                    <a:pt x="11299" y="1968982"/>
                  </a:lnTo>
                  <a:lnTo>
                    <a:pt x="9001" y="1966691"/>
                  </a:lnTo>
                  <a:lnTo>
                    <a:pt x="9001" y="1964781"/>
                  </a:lnTo>
                  <a:close/>
                </a:path>
                <a:path w="11429" h="4246245">
                  <a:moveTo>
                    <a:pt x="9001" y="1897939"/>
                  </a:moveTo>
                  <a:lnTo>
                    <a:pt x="2298" y="1897939"/>
                  </a:lnTo>
                  <a:lnTo>
                    <a:pt x="2298" y="1900230"/>
                  </a:lnTo>
                  <a:lnTo>
                    <a:pt x="0" y="1902522"/>
                  </a:lnTo>
                  <a:lnTo>
                    <a:pt x="0" y="1929832"/>
                  </a:lnTo>
                  <a:lnTo>
                    <a:pt x="2298" y="1932315"/>
                  </a:lnTo>
                  <a:lnTo>
                    <a:pt x="2298" y="1934606"/>
                  </a:lnTo>
                  <a:lnTo>
                    <a:pt x="9001" y="1934606"/>
                  </a:lnTo>
                  <a:lnTo>
                    <a:pt x="9001" y="1932315"/>
                  </a:lnTo>
                  <a:lnTo>
                    <a:pt x="11299" y="1929832"/>
                  </a:lnTo>
                  <a:lnTo>
                    <a:pt x="11299" y="1902522"/>
                  </a:lnTo>
                  <a:lnTo>
                    <a:pt x="9001" y="1900230"/>
                  </a:lnTo>
                  <a:lnTo>
                    <a:pt x="9001" y="1897939"/>
                  </a:lnTo>
                  <a:close/>
                </a:path>
                <a:path w="11429" h="4246245">
                  <a:moveTo>
                    <a:pt x="9001" y="1858788"/>
                  </a:moveTo>
                  <a:lnTo>
                    <a:pt x="2298" y="1858788"/>
                  </a:lnTo>
                  <a:lnTo>
                    <a:pt x="2298" y="1861080"/>
                  </a:lnTo>
                  <a:lnTo>
                    <a:pt x="0" y="1863372"/>
                  </a:lnTo>
                  <a:lnTo>
                    <a:pt x="2298" y="1865854"/>
                  </a:lnTo>
                  <a:lnTo>
                    <a:pt x="4788" y="1868146"/>
                  </a:lnTo>
                  <a:lnTo>
                    <a:pt x="6703" y="1868146"/>
                  </a:lnTo>
                  <a:lnTo>
                    <a:pt x="9001" y="1865854"/>
                  </a:lnTo>
                  <a:lnTo>
                    <a:pt x="11299" y="1863372"/>
                  </a:lnTo>
                  <a:lnTo>
                    <a:pt x="9001" y="1861080"/>
                  </a:lnTo>
                  <a:lnTo>
                    <a:pt x="9001" y="1858788"/>
                  </a:lnTo>
                  <a:close/>
                </a:path>
                <a:path w="11429" h="4246245">
                  <a:moveTo>
                    <a:pt x="9001" y="1792328"/>
                  </a:moveTo>
                  <a:lnTo>
                    <a:pt x="2298" y="1792328"/>
                  </a:lnTo>
                  <a:lnTo>
                    <a:pt x="2298" y="1794620"/>
                  </a:lnTo>
                  <a:lnTo>
                    <a:pt x="0" y="1797102"/>
                  </a:lnTo>
                  <a:lnTo>
                    <a:pt x="0" y="1824412"/>
                  </a:lnTo>
                  <a:lnTo>
                    <a:pt x="2298" y="1826704"/>
                  </a:lnTo>
                  <a:lnTo>
                    <a:pt x="2298" y="1828996"/>
                  </a:lnTo>
                  <a:lnTo>
                    <a:pt x="9001" y="1828996"/>
                  </a:lnTo>
                  <a:lnTo>
                    <a:pt x="9001" y="1826704"/>
                  </a:lnTo>
                  <a:lnTo>
                    <a:pt x="11299" y="1824412"/>
                  </a:lnTo>
                  <a:lnTo>
                    <a:pt x="11299" y="1797102"/>
                  </a:lnTo>
                  <a:lnTo>
                    <a:pt x="9001" y="1794620"/>
                  </a:lnTo>
                  <a:lnTo>
                    <a:pt x="9001" y="1792328"/>
                  </a:lnTo>
                  <a:close/>
                </a:path>
                <a:path w="11429" h="4246245">
                  <a:moveTo>
                    <a:pt x="6703" y="1753177"/>
                  </a:moveTo>
                  <a:lnTo>
                    <a:pt x="4788" y="1753177"/>
                  </a:lnTo>
                  <a:lnTo>
                    <a:pt x="2298" y="1755469"/>
                  </a:lnTo>
                  <a:lnTo>
                    <a:pt x="0" y="1757952"/>
                  </a:lnTo>
                  <a:lnTo>
                    <a:pt x="2298" y="1760244"/>
                  </a:lnTo>
                  <a:lnTo>
                    <a:pt x="2298" y="1762153"/>
                  </a:lnTo>
                  <a:lnTo>
                    <a:pt x="9001" y="1762153"/>
                  </a:lnTo>
                  <a:lnTo>
                    <a:pt x="9001" y="1760244"/>
                  </a:lnTo>
                  <a:lnTo>
                    <a:pt x="11299" y="1757952"/>
                  </a:lnTo>
                  <a:lnTo>
                    <a:pt x="9001" y="1755469"/>
                  </a:lnTo>
                  <a:lnTo>
                    <a:pt x="6703" y="1753177"/>
                  </a:lnTo>
                  <a:close/>
                </a:path>
                <a:path w="11429" h="4246245">
                  <a:moveTo>
                    <a:pt x="6703" y="1723576"/>
                  </a:moveTo>
                  <a:lnTo>
                    <a:pt x="4788" y="1723576"/>
                  </a:lnTo>
                  <a:lnTo>
                    <a:pt x="6703" y="1725486"/>
                  </a:lnTo>
                  <a:lnTo>
                    <a:pt x="6703" y="1723576"/>
                  </a:lnTo>
                  <a:close/>
                </a:path>
                <a:path w="11429" h="4246245">
                  <a:moveTo>
                    <a:pt x="9001" y="1686335"/>
                  </a:moveTo>
                  <a:lnTo>
                    <a:pt x="2298" y="1686335"/>
                  </a:lnTo>
                  <a:lnTo>
                    <a:pt x="2298" y="1688627"/>
                  </a:lnTo>
                  <a:lnTo>
                    <a:pt x="0" y="1690919"/>
                  </a:lnTo>
                  <a:lnTo>
                    <a:pt x="0" y="1718801"/>
                  </a:lnTo>
                  <a:lnTo>
                    <a:pt x="2298" y="1721093"/>
                  </a:lnTo>
                  <a:lnTo>
                    <a:pt x="2298" y="1723576"/>
                  </a:lnTo>
                  <a:lnTo>
                    <a:pt x="9001" y="1723576"/>
                  </a:lnTo>
                  <a:lnTo>
                    <a:pt x="9001" y="1721093"/>
                  </a:lnTo>
                  <a:lnTo>
                    <a:pt x="11299" y="1718801"/>
                  </a:lnTo>
                  <a:lnTo>
                    <a:pt x="11299" y="1690919"/>
                  </a:lnTo>
                  <a:lnTo>
                    <a:pt x="9001" y="1688627"/>
                  </a:lnTo>
                  <a:lnTo>
                    <a:pt x="9001" y="1686335"/>
                  </a:lnTo>
                  <a:close/>
                </a:path>
                <a:path w="11429" h="4246245">
                  <a:moveTo>
                    <a:pt x="6703" y="1647567"/>
                  </a:moveTo>
                  <a:lnTo>
                    <a:pt x="4788" y="1647567"/>
                  </a:lnTo>
                  <a:lnTo>
                    <a:pt x="2298" y="1649476"/>
                  </a:lnTo>
                  <a:lnTo>
                    <a:pt x="0" y="1651959"/>
                  </a:lnTo>
                  <a:lnTo>
                    <a:pt x="2298" y="1654251"/>
                  </a:lnTo>
                  <a:lnTo>
                    <a:pt x="2298" y="1656542"/>
                  </a:lnTo>
                  <a:lnTo>
                    <a:pt x="9001" y="1656542"/>
                  </a:lnTo>
                  <a:lnTo>
                    <a:pt x="9001" y="1654251"/>
                  </a:lnTo>
                  <a:lnTo>
                    <a:pt x="11299" y="1651959"/>
                  </a:lnTo>
                  <a:lnTo>
                    <a:pt x="9001" y="1649476"/>
                  </a:lnTo>
                  <a:lnTo>
                    <a:pt x="6703" y="1647567"/>
                  </a:lnTo>
                  <a:close/>
                </a:path>
                <a:path w="11429" h="4246245">
                  <a:moveTo>
                    <a:pt x="9001" y="1615100"/>
                  </a:moveTo>
                  <a:lnTo>
                    <a:pt x="2298" y="1615100"/>
                  </a:lnTo>
                  <a:lnTo>
                    <a:pt x="2298" y="1617583"/>
                  </a:lnTo>
                  <a:lnTo>
                    <a:pt x="4788" y="1619875"/>
                  </a:lnTo>
                  <a:lnTo>
                    <a:pt x="6703" y="1619875"/>
                  </a:lnTo>
                  <a:lnTo>
                    <a:pt x="9001" y="1617583"/>
                  </a:lnTo>
                  <a:lnTo>
                    <a:pt x="9001" y="1615100"/>
                  </a:lnTo>
                  <a:close/>
                </a:path>
                <a:path w="11429" h="4246245">
                  <a:moveTo>
                    <a:pt x="6703" y="1580724"/>
                  </a:moveTo>
                  <a:lnTo>
                    <a:pt x="4788" y="1580724"/>
                  </a:lnTo>
                  <a:lnTo>
                    <a:pt x="2298" y="1583016"/>
                  </a:lnTo>
                  <a:lnTo>
                    <a:pt x="0" y="1585499"/>
                  </a:lnTo>
                  <a:lnTo>
                    <a:pt x="0" y="1615100"/>
                  </a:lnTo>
                  <a:lnTo>
                    <a:pt x="11299" y="1615100"/>
                  </a:lnTo>
                  <a:lnTo>
                    <a:pt x="11299" y="1585499"/>
                  </a:lnTo>
                  <a:lnTo>
                    <a:pt x="9001" y="1583016"/>
                  </a:lnTo>
                  <a:lnTo>
                    <a:pt x="6703" y="1580724"/>
                  </a:lnTo>
                  <a:close/>
                </a:path>
                <a:path w="11429" h="4246245">
                  <a:moveTo>
                    <a:pt x="6703" y="1551123"/>
                  </a:moveTo>
                  <a:lnTo>
                    <a:pt x="4788" y="1551123"/>
                  </a:lnTo>
                  <a:lnTo>
                    <a:pt x="6703" y="1553414"/>
                  </a:lnTo>
                  <a:lnTo>
                    <a:pt x="6703" y="1551123"/>
                  </a:lnTo>
                  <a:close/>
                </a:path>
                <a:path w="11429" h="4246245">
                  <a:moveTo>
                    <a:pt x="11299" y="1546348"/>
                  </a:moveTo>
                  <a:lnTo>
                    <a:pt x="0" y="1546348"/>
                  </a:lnTo>
                  <a:lnTo>
                    <a:pt x="2298" y="1548640"/>
                  </a:lnTo>
                  <a:lnTo>
                    <a:pt x="2298" y="1551123"/>
                  </a:lnTo>
                  <a:lnTo>
                    <a:pt x="9001" y="1551123"/>
                  </a:lnTo>
                  <a:lnTo>
                    <a:pt x="9001" y="1548640"/>
                  </a:lnTo>
                  <a:lnTo>
                    <a:pt x="11299" y="1546348"/>
                  </a:lnTo>
                  <a:close/>
                </a:path>
                <a:path w="11429" h="4246245">
                  <a:moveTo>
                    <a:pt x="9001" y="1544056"/>
                  </a:moveTo>
                  <a:lnTo>
                    <a:pt x="2298" y="1544056"/>
                  </a:lnTo>
                  <a:lnTo>
                    <a:pt x="2298" y="1546348"/>
                  </a:lnTo>
                  <a:lnTo>
                    <a:pt x="9001" y="1546348"/>
                  </a:lnTo>
                  <a:lnTo>
                    <a:pt x="9001" y="1544056"/>
                  </a:lnTo>
                  <a:close/>
                </a:path>
                <a:path w="11429" h="4246245">
                  <a:moveTo>
                    <a:pt x="6703" y="1541574"/>
                  </a:moveTo>
                  <a:lnTo>
                    <a:pt x="4788" y="1544056"/>
                  </a:lnTo>
                  <a:lnTo>
                    <a:pt x="6703" y="1544056"/>
                  </a:lnTo>
                  <a:lnTo>
                    <a:pt x="6703" y="1541574"/>
                  </a:lnTo>
                  <a:close/>
                </a:path>
                <a:path w="11429" h="4246245">
                  <a:moveTo>
                    <a:pt x="6703" y="1475113"/>
                  </a:moveTo>
                  <a:lnTo>
                    <a:pt x="4788" y="1475113"/>
                  </a:lnTo>
                  <a:lnTo>
                    <a:pt x="0" y="1479888"/>
                  </a:lnTo>
                  <a:lnTo>
                    <a:pt x="0" y="1509680"/>
                  </a:lnTo>
                  <a:lnTo>
                    <a:pt x="2298" y="1511972"/>
                  </a:lnTo>
                  <a:lnTo>
                    <a:pt x="4788" y="1514264"/>
                  </a:lnTo>
                  <a:lnTo>
                    <a:pt x="6703" y="1514264"/>
                  </a:lnTo>
                  <a:lnTo>
                    <a:pt x="11299" y="1509680"/>
                  </a:lnTo>
                  <a:lnTo>
                    <a:pt x="11299" y="1479888"/>
                  </a:lnTo>
                  <a:lnTo>
                    <a:pt x="9001" y="1477596"/>
                  </a:lnTo>
                  <a:lnTo>
                    <a:pt x="6703" y="1475113"/>
                  </a:lnTo>
                  <a:close/>
                </a:path>
                <a:path w="11429" h="4246245">
                  <a:moveTo>
                    <a:pt x="9001" y="1443220"/>
                  </a:moveTo>
                  <a:lnTo>
                    <a:pt x="2298" y="1443220"/>
                  </a:lnTo>
                  <a:lnTo>
                    <a:pt x="2298" y="1445130"/>
                  </a:lnTo>
                  <a:lnTo>
                    <a:pt x="4788" y="1447422"/>
                  </a:lnTo>
                  <a:lnTo>
                    <a:pt x="6703" y="1447422"/>
                  </a:lnTo>
                  <a:lnTo>
                    <a:pt x="9001" y="1445130"/>
                  </a:lnTo>
                  <a:lnTo>
                    <a:pt x="9001" y="1443220"/>
                  </a:lnTo>
                  <a:close/>
                </a:path>
                <a:path w="11429" h="4246245">
                  <a:moveTo>
                    <a:pt x="9001" y="1438446"/>
                  </a:moveTo>
                  <a:lnTo>
                    <a:pt x="2298" y="1438446"/>
                  </a:lnTo>
                  <a:lnTo>
                    <a:pt x="2298" y="1440737"/>
                  </a:lnTo>
                  <a:lnTo>
                    <a:pt x="0" y="1443220"/>
                  </a:lnTo>
                  <a:lnTo>
                    <a:pt x="11299" y="1443220"/>
                  </a:lnTo>
                  <a:lnTo>
                    <a:pt x="9001" y="1440737"/>
                  </a:lnTo>
                  <a:lnTo>
                    <a:pt x="9001" y="1438446"/>
                  </a:lnTo>
                  <a:close/>
                </a:path>
                <a:path w="11429" h="4246245">
                  <a:moveTo>
                    <a:pt x="11299" y="1373895"/>
                  </a:moveTo>
                  <a:lnTo>
                    <a:pt x="0" y="1373895"/>
                  </a:lnTo>
                  <a:lnTo>
                    <a:pt x="0" y="1404070"/>
                  </a:lnTo>
                  <a:lnTo>
                    <a:pt x="2298" y="1405979"/>
                  </a:lnTo>
                  <a:lnTo>
                    <a:pt x="4788" y="1408271"/>
                  </a:lnTo>
                  <a:lnTo>
                    <a:pt x="6703" y="1408271"/>
                  </a:lnTo>
                  <a:lnTo>
                    <a:pt x="9001" y="1405979"/>
                  </a:lnTo>
                  <a:lnTo>
                    <a:pt x="11299" y="1404070"/>
                  </a:lnTo>
                  <a:lnTo>
                    <a:pt x="11299" y="1373895"/>
                  </a:lnTo>
                  <a:close/>
                </a:path>
                <a:path w="11429" h="4246245">
                  <a:moveTo>
                    <a:pt x="9001" y="1371603"/>
                  </a:moveTo>
                  <a:lnTo>
                    <a:pt x="2298" y="1371603"/>
                  </a:lnTo>
                  <a:lnTo>
                    <a:pt x="2298" y="1373895"/>
                  </a:lnTo>
                  <a:lnTo>
                    <a:pt x="9001" y="1373895"/>
                  </a:lnTo>
                  <a:lnTo>
                    <a:pt x="9001" y="1371603"/>
                  </a:lnTo>
                  <a:close/>
                </a:path>
                <a:path w="11429" h="4246245">
                  <a:moveTo>
                    <a:pt x="6703" y="1369121"/>
                  </a:moveTo>
                  <a:lnTo>
                    <a:pt x="4788" y="1371603"/>
                  </a:lnTo>
                  <a:lnTo>
                    <a:pt x="6703" y="1371603"/>
                  </a:lnTo>
                  <a:lnTo>
                    <a:pt x="6703" y="1369121"/>
                  </a:lnTo>
                  <a:close/>
                </a:path>
                <a:path w="11429" h="4246245">
                  <a:moveTo>
                    <a:pt x="9001" y="1332453"/>
                  </a:moveTo>
                  <a:lnTo>
                    <a:pt x="2298" y="1332453"/>
                  </a:lnTo>
                  <a:lnTo>
                    <a:pt x="2298" y="1334745"/>
                  </a:lnTo>
                  <a:lnTo>
                    <a:pt x="0" y="1337227"/>
                  </a:lnTo>
                  <a:lnTo>
                    <a:pt x="2298" y="1339519"/>
                  </a:lnTo>
                  <a:lnTo>
                    <a:pt x="4788" y="1341811"/>
                  </a:lnTo>
                  <a:lnTo>
                    <a:pt x="6703" y="1341811"/>
                  </a:lnTo>
                  <a:lnTo>
                    <a:pt x="11299" y="1337227"/>
                  </a:lnTo>
                  <a:lnTo>
                    <a:pt x="9001" y="1334745"/>
                  </a:lnTo>
                  <a:lnTo>
                    <a:pt x="9001" y="1332453"/>
                  </a:lnTo>
                  <a:close/>
                </a:path>
                <a:path w="11429" h="4246245">
                  <a:moveTo>
                    <a:pt x="9001" y="1265993"/>
                  </a:moveTo>
                  <a:lnTo>
                    <a:pt x="2298" y="1265993"/>
                  </a:lnTo>
                  <a:lnTo>
                    <a:pt x="2298" y="1268284"/>
                  </a:lnTo>
                  <a:lnTo>
                    <a:pt x="0" y="1270767"/>
                  </a:lnTo>
                  <a:lnTo>
                    <a:pt x="0" y="1298077"/>
                  </a:lnTo>
                  <a:lnTo>
                    <a:pt x="2298" y="1300369"/>
                  </a:lnTo>
                  <a:lnTo>
                    <a:pt x="2298" y="1302660"/>
                  </a:lnTo>
                  <a:lnTo>
                    <a:pt x="9001" y="1302660"/>
                  </a:lnTo>
                  <a:lnTo>
                    <a:pt x="9001" y="1300369"/>
                  </a:lnTo>
                  <a:lnTo>
                    <a:pt x="11299" y="1298077"/>
                  </a:lnTo>
                  <a:lnTo>
                    <a:pt x="11299" y="1270767"/>
                  </a:lnTo>
                  <a:lnTo>
                    <a:pt x="9001" y="1268284"/>
                  </a:lnTo>
                  <a:lnTo>
                    <a:pt x="9001" y="1265993"/>
                  </a:lnTo>
                  <a:close/>
                </a:path>
                <a:path w="11429" h="4246245">
                  <a:moveTo>
                    <a:pt x="9001" y="1226842"/>
                  </a:moveTo>
                  <a:lnTo>
                    <a:pt x="2298" y="1226842"/>
                  </a:lnTo>
                  <a:lnTo>
                    <a:pt x="2298" y="1229325"/>
                  </a:lnTo>
                  <a:lnTo>
                    <a:pt x="0" y="1231616"/>
                  </a:lnTo>
                  <a:lnTo>
                    <a:pt x="4788" y="1236391"/>
                  </a:lnTo>
                  <a:lnTo>
                    <a:pt x="6703" y="1236391"/>
                  </a:lnTo>
                  <a:lnTo>
                    <a:pt x="9001" y="1233908"/>
                  </a:lnTo>
                  <a:lnTo>
                    <a:pt x="11299" y="1231616"/>
                  </a:lnTo>
                  <a:lnTo>
                    <a:pt x="9001" y="1229325"/>
                  </a:lnTo>
                  <a:lnTo>
                    <a:pt x="9001" y="1226842"/>
                  </a:lnTo>
                  <a:close/>
                </a:path>
                <a:path w="11429" h="4246245">
                  <a:moveTo>
                    <a:pt x="9001" y="1160382"/>
                  </a:moveTo>
                  <a:lnTo>
                    <a:pt x="2298" y="1160382"/>
                  </a:lnTo>
                  <a:lnTo>
                    <a:pt x="2298" y="1162291"/>
                  </a:lnTo>
                  <a:lnTo>
                    <a:pt x="0" y="1164774"/>
                  </a:lnTo>
                  <a:lnTo>
                    <a:pt x="0" y="1192466"/>
                  </a:lnTo>
                  <a:lnTo>
                    <a:pt x="2298" y="1194758"/>
                  </a:lnTo>
                  <a:lnTo>
                    <a:pt x="2298" y="1197240"/>
                  </a:lnTo>
                  <a:lnTo>
                    <a:pt x="9001" y="1197240"/>
                  </a:lnTo>
                  <a:lnTo>
                    <a:pt x="9001" y="1194758"/>
                  </a:lnTo>
                  <a:lnTo>
                    <a:pt x="11299" y="1192466"/>
                  </a:lnTo>
                  <a:lnTo>
                    <a:pt x="11299" y="1164774"/>
                  </a:lnTo>
                  <a:lnTo>
                    <a:pt x="9001" y="1162291"/>
                  </a:lnTo>
                  <a:lnTo>
                    <a:pt x="9001" y="1160382"/>
                  </a:lnTo>
                  <a:close/>
                </a:path>
                <a:path w="11429" h="4246245">
                  <a:moveTo>
                    <a:pt x="6703" y="1121422"/>
                  </a:moveTo>
                  <a:lnTo>
                    <a:pt x="4788" y="1121422"/>
                  </a:lnTo>
                  <a:lnTo>
                    <a:pt x="2298" y="1123714"/>
                  </a:lnTo>
                  <a:lnTo>
                    <a:pt x="0" y="1125624"/>
                  </a:lnTo>
                  <a:lnTo>
                    <a:pt x="2298" y="1127915"/>
                  </a:lnTo>
                  <a:lnTo>
                    <a:pt x="2298" y="1130207"/>
                  </a:lnTo>
                  <a:lnTo>
                    <a:pt x="9001" y="1130207"/>
                  </a:lnTo>
                  <a:lnTo>
                    <a:pt x="9001" y="1127915"/>
                  </a:lnTo>
                  <a:lnTo>
                    <a:pt x="11299" y="1125624"/>
                  </a:lnTo>
                  <a:lnTo>
                    <a:pt x="9001" y="1123714"/>
                  </a:lnTo>
                  <a:lnTo>
                    <a:pt x="6703" y="1121422"/>
                  </a:lnTo>
                  <a:close/>
                </a:path>
                <a:path w="11429" h="4246245">
                  <a:moveTo>
                    <a:pt x="6703" y="1091248"/>
                  </a:moveTo>
                  <a:lnTo>
                    <a:pt x="4788" y="1091248"/>
                  </a:lnTo>
                  <a:lnTo>
                    <a:pt x="6703" y="1093539"/>
                  </a:lnTo>
                  <a:lnTo>
                    <a:pt x="6703" y="1091248"/>
                  </a:lnTo>
                  <a:close/>
                </a:path>
                <a:path w="11429" h="4246245">
                  <a:moveTo>
                    <a:pt x="9001" y="1054389"/>
                  </a:moveTo>
                  <a:lnTo>
                    <a:pt x="2298" y="1054389"/>
                  </a:lnTo>
                  <a:lnTo>
                    <a:pt x="2298" y="1056872"/>
                  </a:lnTo>
                  <a:lnTo>
                    <a:pt x="0" y="1059163"/>
                  </a:lnTo>
                  <a:lnTo>
                    <a:pt x="0" y="1086855"/>
                  </a:lnTo>
                  <a:lnTo>
                    <a:pt x="2298" y="1088765"/>
                  </a:lnTo>
                  <a:lnTo>
                    <a:pt x="2298" y="1091248"/>
                  </a:lnTo>
                  <a:lnTo>
                    <a:pt x="9001" y="1091248"/>
                  </a:lnTo>
                  <a:lnTo>
                    <a:pt x="9001" y="1088765"/>
                  </a:lnTo>
                  <a:lnTo>
                    <a:pt x="11299" y="1086855"/>
                  </a:lnTo>
                  <a:lnTo>
                    <a:pt x="11299" y="1059163"/>
                  </a:lnTo>
                  <a:lnTo>
                    <a:pt x="9001" y="1056872"/>
                  </a:lnTo>
                  <a:lnTo>
                    <a:pt x="9001" y="1054389"/>
                  </a:lnTo>
                  <a:close/>
                </a:path>
                <a:path w="11429" h="4246245">
                  <a:moveTo>
                    <a:pt x="6703" y="1015238"/>
                  </a:moveTo>
                  <a:lnTo>
                    <a:pt x="4788" y="1015238"/>
                  </a:lnTo>
                  <a:lnTo>
                    <a:pt x="0" y="1020013"/>
                  </a:lnTo>
                  <a:lnTo>
                    <a:pt x="2298" y="1022305"/>
                  </a:lnTo>
                  <a:lnTo>
                    <a:pt x="2298" y="1024787"/>
                  </a:lnTo>
                  <a:lnTo>
                    <a:pt x="9001" y="1024787"/>
                  </a:lnTo>
                  <a:lnTo>
                    <a:pt x="9001" y="1022305"/>
                  </a:lnTo>
                  <a:lnTo>
                    <a:pt x="11299" y="1020013"/>
                  </a:lnTo>
                  <a:lnTo>
                    <a:pt x="9001" y="1017721"/>
                  </a:lnTo>
                  <a:lnTo>
                    <a:pt x="6703" y="1015238"/>
                  </a:lnTo>
                  <a:close/>
                </a:path>
                <a:path w="11429" h="4246245">
                  <a:moveTo>
                    <a:pt x="6703" y="985637"/>
                  </a:moveTo>
                  <a:lnTo>
                    <a:pt x="4788" y="985637"/>
                  </a:lnTo>
                  <a:lnTo>
                    <a:pt x="6703" y="987929"/>
                  </a:lnTo>
                  <a:lnTo>
                    <a:pt x="6703" y="985637"/>
                  </a:lnTo>
                  <a:close/>
                </a:path>
                <a:path w="11429" h="4246245">
                  <a:moveTo>
                    <a:pt x="9001" y="983345"/>
                  </a:moveTo>
                  <a:lnTo>
                    <a:pt x="2298" y="983345"/>
                  </a:lnTo>
                  <a:lnTo>
                    <a:pt x="2298" y="985637"/>
                  </a:lnTo>
                  <a:lnTo>
                    <a:pt x="9001" y="985637"/>
                  </a:lnTo>
                  <a:lnTo>
                    <a:pt x="9001" y="983345"/>
                  </a:lnTo>
                  <a:close/>
                </a:path>
                <a:path w="11429" h="4246245">
                  <a:moveTo>
                    <a:pt x="6703" y="948969"/>
                  </a:moveTo>
                  <a:lnTo>
                    <a:pt x="4788" y="948969"/>
                  </a:lnTo>
                  <a:lnTo>
                    <a:pt x="2298" y="951261"/>
                  </a:lnTo>
                  <a:lnTo>
                    <a:pt x="0" y="953553"/>
                  </a:lnTo>
                  <a:lnTo>
                    <a:pt x="0" y="983345"/>
                  </a:lnTo>
                  <a:lnTo>
                    <a:pt x="11299" y="983345"/>
                  </a:lnTo>
                  <a:lnTo>
                    <a:pt x="11299" y="953553"/>
                  </a:lnTo>
                  <a:lnTo>
                    <a:pt x="6703" y="948969"/>
                  </a:lnTo>
                  <a:close/>
                </a:path>
                <a:path w="11429" h="4246245">
                  <a:moveTo>
                    <a:pt x="6703" y="919177"/>
                  </a:moveTo>
                  <a:lnTo>
                    <a:pt x="4788" y="919177"/>
                  </a:lnTo>
                  <a:lnTo>
                    <a:pt x="6703" y="921086"/>
                  </a:lnTo>
                  <a:lnTo>
                    <a:pt x="6703" y="919177"/>
                  </a:lnTo>
                  <a:close/>
                </a:path>
                <a:path w="11429" h="4246245">
                  <a:moveTo>
                    <a:pt x="11299" y="914402"/>
                  </a:moveTo>
                  <a:lnTo>
                    <a:pt x="0" y="914402"/>
                  </a:lnTo>
                  <a:lnTo>
                    <a:pt x="2298" y="916885"/>
                  </a:lnTo>
                  <a:lnTo>
                    <a:pt x="2298" y="919177"/>
                  </a:lnTo>
                  <a:lnTo>
                    <a:pt x="9001" y="919177"/>
                  </a:lnTo>
                  <a:lnTo>
                    <a:pt x="9001" y="916885"/>
                  </a:lnTo>
                  <a:lnTo>
                    <a:pt x="11299" y="914402"/>
                  </a:lnTo>
                  <a:close/>
                </a:path>
                <a:path w="11429" h="4246245">
                  <a:moveTo>
                    <a:pt x="9001" y="912110"/>
                  </a:moveTo>
                  <a:lnTo>
                    <a:pt x="2298" y="912110"/>
                  </a:lnTo>
                  <a:lnTo>
                    <a:pt x="2298" y="914402"/>
                  </a:lnTo>
                  <a:lnTo>
                    <a:pt x="9001" y="914402"/>
                  </a:lnTo>
                  <a:lnTo>
                    <a:pt x="9001" y="912110"/>
                  </a:lnTo>
                  <a:close/>
                </a:path>
                <a:path w="11429" h="4246245">
                  <a:moveTo>
                    <a:pt x="6703" y="909819"/>
                  </a:moveTo>
                  <a:lnTo>
                    <a:pt x="4788" y="912110"/>
                  </a:lnTo>
                  <a:lnTo>
                    <a:pt x="6703" y="912110"/>
                  </a:lnTo>
                  <a:lnTo>
                    <a:pt x="6703" y="909819"/>
                  </a:lnTo>
                  <a:close/>
                </a:path>
                <a:path w="11429" h="4246245">
                  <a:moveTo>
                    <a:pt x="6703" y="843358"/>
                  </a:moveTo>
                  <a:lnTo>
                    <a:pt x="4788" y="843358"/>
                  </a:lnTo>
                  <a:lnTo>
                    <a:pt x="2298" y="845268"/>
                  </a:lnTo>
                  <a:lnTo>
                    <a:pt x="0" y="847560"/>
                  </a:lnTo>
                  <a:lnTo>
                    <a:pt x="0" y="877734"/>
                  </a:lnTo>
                  <a:lnTo>
                    <a:pt x="2298" y="880026"/>
                  </a:lnTo>
                  <a:lnTo>
                    <a:pt x="4788" y="881936"/>
                  </a:lnTo>
                  <a:lnTo>
                    <a:pt x="6703" y="881936"/>
                  </a:lnTo>
                  <a:lnTo>
                    <a:pt x="9001" y="880026"/>
                  </a:lnTo>
                  <a:lnTo>
                    <a:pt x="11299" y="877734"/>
                  </a:lnTo>
                  <a:lnTo>
                    <a:pt x="11299" y="847560"/>
                  </a:lnTo>
                  <a:lnTo>
                    <a:pt x="9001" y="845268"/>
                  </a:lnTo>
                  <a:lnTo>
                    <a:pt x="6703" y="843358"/>
                  </a:lnTo>
                  <a:close/>
                </a:path>
                <a:path w="11429" h="4246245">
                  <a:moveTo>
                    <a:pt x="6703" y="813184"/>
                  </a:moveTo>
                  <a:lnTo>
                    <a:pt x="4788" y="813184"/>
                  </a:lnTo>
                  <a:lnTo>
                    <a:pt x="6703" y="815475"/>
                  </a:lnTo>
                  <a:lnTo>
                    <a:pt x="6703" y="813184"/>
                  </a:lnTo>
                  <a:close/>
                </a:path>
                <a:path w="11429" h="4246245">
                  <a:moveTo>
                    <a:pt x="9001" y="810892"/>
                  </a:moveTo>
                  <a:lnTo>
                    <a:pt x="2298" y="810892"/>
                  </a:lnTo>
                  <a:lnTo>
                    <a:pt x="2298" y="813184"/>
                  </a:lnTo>
                  <a:lnTo>
                    <a:pt x="9001" y="813184"/>
                  </a:lnTo>
                  <a:lnTo>
                    <a:pt x="9001" y="810892"/>
                  </a:lnTo>
                  <a:close/>
                </a:path>
                <a:path w="11429" h="4246245">
                  <a:moveTo>
                    <a:pt x="9001" y="806500"/>
                  </a:moveTo>
                  <a:lnTo>
                    <a:pt x="2298" y="806500"/>
                  </a:lnTo>
                  <a:lnTo>
                    <a:pt x="2298" y="808409"/>
                  </a:lnTo>
                  <a:lnTo>
                    <a:pt x="0" y="810892"/>
                  </a:lnTo>
                  <a:lnTo>
                    <a:pt x="11299" y="810892"/>
                  </a:lnTo>
                  <a:lnTo>
                    <a:pt x="9001" y="808409"/>
                  </a:lnTo>
                  <a:lnTo>
                    <a:pt x="9001" y="806500"/>
                  </a:lnTo>
                  <a:close/>
                </a:path>
                <a:path w="11429" h="4246245">
                  <a:moveTo>
                    <a:pt x="6703" y="804208"/>
                  </a:moveTo>
                  <a:lnTo>
                    <a:pt x="4788" y="806500"/>
                  </a:lnTo>
                  <a:lnTo>
                    <a:pt x="6703" y="806500"/>
                  </a:lnTo>
                  <a:lnTo>
                    <a:pt x="6703" y="804208"/>
                  </a:lnTo>
                  <a:close/>
                </a:path>
                <a:path w="11429" h="4246245">
                  <a:moveTo>
                    <a:pt x="11299" y="741949"/>
                  </a:moveTo>
                  <a:lnTo>
                    <a:pt x="0" y="741949"/>
                  </a:lnTo>
                  <a:lnTo>
                    <a:pt x="0" y="771742"/>
                  </a:lnTo>
                  <a:lnTo>
                    <a:pt x="4788" y="776516"/>
                  </a:lnTo>
                  <a:lnTo>
                    <a:pt x="6703" y="776516"/>
                  </a:lnTo>
                  <a:lnTo>
                    <a:pt x="9001" y="774033"/>
                  </a:lnTo>
                  <a:lnTo>
                    <a:pt x="11299" y="771742"/>
                  </a:lnTo>
                  <a:lnTo>
                    <a:pt x="11299" y="741949"/>
                  </a:lnTo>
                  <a:close/>
                </a:path>
                <a:path w="11429" h="4246245">
                  <a:moveTo>
                    <a:pt x="9001" y="739657"/>
                  </a:moveTo>
                  <a:lnTo>
                    <a:pt x="2298" y="739657"/>
                  </a:lnTo>
                  <a:lnTo>
                    <a:pt x="2298" y="741949"/>
                  </a:lnTo>
                  <a:lnTo>
                    <a:pt x="9001" y="741949"/>
                  </a:lnTo>
                  <a:lnTo>
                    <a:pt x="9001" y="739657"/>
                  </a:lnTo>
                  <a:close/>
                </a:path>
                <a:path w="11429" h="4246245">
                  <a:moveTo>
                    <a:pt x="6703" y="737365"/>
                  </a:moveTo>
                  <a:lnTo>
                    <a:pt x="4788" y="739657"/>
                  </a:lnTo>
                  <a:lnTo>
                    <a:pt x="6703" y="739657"/>
                  </a:lnTo>
                  <a:lnTo>
                    <a:pt x="6703" y="737365"/>
                  </a:lnTo>
                  <a:close/>
                </a:path>
                <a:path w="11429" h="4246245">
                  <a:moveTo>
                    <a:pt x="9001" y="700507"/>
                  </a:moveTo>
                  <a:lnTo>
                    <a:pt x="2298" y="700507"/>
                  </a:lnTo>
                  <a:lnTo>
                    <a:pt x="2298" y="702989"/>
                  </a:lnTo>
                  <a:lnTo>
                    <a:pt x="0" y="705281"/>
                  </a:lnTo>
                  <a:lnTo>
                    <a:pt x="4788" y="710056"/>
                  </a:lnTo>
                  <a:lnTo>
                    <a:pt x="6703" y="710056"/>
                  </a:lnTo>
                  <a:lnTo>
                    <a:pt x="9001" y="707573"/>
                  </a:lnTo>
                  <a:lnTo>
                    <a:pt x="11299" y="705281"/>
                  </a:lnTo>
                  <a:lnTo>
                    <a:pt x="9001" y="702989"/>
                  </a:lnTo>
                  <a:lnTo>
                    <a:pt x="9001" y="700507"/>
                  </a:lnTo>
                  <a:close/>
                </a:path>
                <a:path w="11429" h="4246245">
                  <a:moveTo>
                    <a:pt x="9001" y="634237"/>
                  </a:moveTo>
                  <a:lnTo>
                    <a:pt x="2298" y="634237"/>
                  </a:lnTo>
                  <a:lnTo>
                    <a:pt x="2298" y="636529"/>
                  </a:lnTo>
                  <a:lnTo>
                    <a:pt x="0" y="638439"/>
                  </a:lnTo>
                  <a:lnTo>
                    <a:pt x="0" y="666131"/>
                  </a:lnTo>
                  <a:lnTo>
                    <a:pt x="2298" y="668613"/>
                  </a:lnTo>
                  <a:lnTo>
                    <a:pt x="2298" y="670905"/>
                  </a:lnTo>
                  <a:lnTo>
                    <a:pt x="9001" y="670905"/>
                  </a:lnTo>
                  <a:lnTo>
                    <a:pt x="9001" y="668613"/>
                  </a:lnTo>
                  <a:lnTo>
                    <a:pt x="11299" y="666131"/>
                  </a:lnTo>
                  <a:lnTo>
                    <a:pt x="11299" y="638439"/>
                  </a:lnTo>
                  <a:lnTo>
                    <a:pt x="9001" y="636529"/>
                  </a:lnTo>
                  <a:lnTo>
                    <a:pt x="9001" y="634237"/>
                  </a:lnTo>
                  <a:close/>
                </a:path>
                <a:path w="11429" h="4246245">
                  <a:moveTo>
                    <a:pt x="6703" y="631755"/>
                  </a:moveTo>
                  <a:lnTo>
                    <a:pt x="4788" y="634237"/>
                  </a:lnTo>
                  <a:lnTo>
                    <a:pt x="6703" y="634237"/>
                  </a:lnTo>
                  <a:lnTo>
                    <a:pt x="6703" y="631755"/>
                  </a:lnTo>
                  <a:close/>
                </a:path>
                <a:path w="11429" h="4246245">
                  <a:moveTo>
                    <a:pt x="9001" y="595087"/>
                  </a:moveTo>
                  <a:lnTo>
                    <a:pt x="2298" y="595087"/>
                  </a:lnTo>
                  <a:lnTo>
                    <a:pt x="2298" y="597379"/>
                  </a:lnTo>
                  <a:lnTo>
                    <a:pt x="0" y="599670"/>
                  </a:lnTo>
                  <a:lnTo>
                    <a:pt x="2298" y="601580"/>
                  </a:lnTo>
                  <a:lnTo>
                    <a:pt x="4788" y="604063"/>
                  </a:lnTo>
                  <a:lnTo>
                    <a:pt x="6703" y="604063"/>
                  </a:lnTo>
                  <a:lnTo>
                    <a:pt x="9001" y="601580"/>
                  </a:lnTo>
                  <a:lnTo>
                    <a:pt x="11299" y="599670"/>
                  </a:lnTo>
                  <a:lnTo>
                    <a:pt x="9001" y="597379"/>
                  </a:lnTo>
                  <a:lnTo>
                    <a:pt x="9001" y="595087"/>
                  </a:lnTo>
                  <a:close/>
                </a:path>
                <a:path w="11429" h="4246245">
                  <a:moveTo>
                    <a:pt x="9001" y="528054"/>
                  </a:moveTo>
                  <a:lnTo>
                    <a:pt x="2298" y="528054"/>
                  </a:lnTo>
                  <a:lnTo>
                    <a:pt x="2298" y="530536"/>
                  </a:lnTo>
                  <a:lnTo>
                    <a:pt x="0" y="532828"/>
                  </a:lnTo>
                  <a:lnTo>
                    <a:pt x="0" y="560711"/>
                  </a:lnTo>
                  <a:lnTo>
                    <a:pt x="2298" y="563003"/>
                  </a:lnTo>
                  <a:lnTo>
                    <a:pt x="2298" y="564912"/>
                  </a:lnTo>
                  <a:lnTo>
                    <a:pt x="9001" y="564912"/>
                  </a:lnTo>
                  <a:lnTo>
                    <a:pt x="9001" y="563003"/>
                  </a:lnTo>
                  <a:lnTo>
                    <a:pt x="11299" y="560711"/>
                  </a:lnTo>
                  <a:lnTo>
                    <a:pt x="11299" y="532828"/>
                  </a:lnTo>
                  <a:lnTo>
                    <a:pt x="9001" y="530536"/>
                  </a:lnTo>
                  <a:lnTo>
                    <a:pt x="9001" y="528054"/>
                  </a:lnTo>
                  <a:close/>
                </a:path>
                <a:path w="11429" h="4246245">
                  <a:moveTo>
                    <a:pt x="6703" y="489094"/>
                  </a:moveTo>
                  <a:lnTo>
                    <a:pt x="4788" y="489094"/>
                  </a:lnTo>
                  <a:lnTo>
                    <a:pt x="2298" y="491386"/>
                  </a:lnTo>
                  <a:lnTo>
                    <a:pt x="0" y="493678"/>
                  </a:lnTo>
                  <a:lnTo>
                    <a:pt x="2298" y="496160"/>
                  </a:lnTo>
                  <a:lnTo>
                    <a:pt x="2298" y="498452"/>
                  </a:lnTo>
                  <a:lnTo>
                    <a:pt x="9001" y="498452"/>
                  </a:lnTo>
                  <a:lnTo>
                    <a:pt x="9001" y="496160"/>
                  </a:lnTo>
                  <a:lnTo>
                    <a:pt x="11299" y="493678"/>
                  </a:lnTo>
                  <a:lnTo>
                    <a:pt x="6703" y="489094"/>
                  </a:lnTo>
                  <a:close/>
                </a:path>
                <a:path w="11429" h="4246245">
                  <a:moveTo>
                    <a:pt x="9001" y="422634"/>
                  </a:moveTo>
                  <a:lnTo>
                    <a:pt x="2298" y="422634"/>
                  </a:lnTo>
                  <a:lnTo>
                    <a:pt x="2298" y="424926"/>
                  </a:lnTo>
                  <a:lnTo>
                    <a:pt x="0" y="427217"/>
                  </a:lnTo>
                  <a:lnTo>
                    <a:pt x="0" y="454718"/>
                  </a:lnTo>
                  <a:lnTo>
                    <a:pt x="2298" y="457010"/>
                  </a:lnTo>
                  <a:lnTo>
                    <a:pt x="2298" y="459302"/>
                  </a:lnTo>
                  <a:lnTo>
                    <a:pt x="9001" y="459302"/>
                  </a:lnTo>
                  <a:lnTo>
                    <a:pt x="9001" y="457010"/>
                  </a:lnTo>
                  <a:lnTo>
                    <a:pt x="11299" y="454718"/>
                  </a:lnTo>
                  <a:lnTo>
                    <a:pt x="11299" y="427217"/>
                  </a:lnTo>
                  <a:lnTo>
                    <a:pt x="9001" y="424926"/>
                  </a:lnTo>
                  <a:lnTo>
                    <a:pt x="9001" y="422634"/>
                  </a:lnTo>
                  <a:close/>
                </a:path>
                <a:path w="11429" h="4246245">
                  <a:moveTo>
                    <a:pt x="6703" y="383483"/>
                  </a:moveTo>
                  <a:lnTo>
                    <a:pt x="4788" y="383483"/>
                  </a:lnTo>
                  <a:lnTo>
                    <a:pt x="2298" y="385775"/>
                  </a:lnTo>
                  <a:lnTo>
                    <a:pt x="0" y="388258"/>
                  </a:lnTo>
                  <a:lnTo>
                    <a:pt x="2298" y="390549"/>
                  </a:lnTo>
                  <a:lnTo>
                    <a:pt x="2298" y="392841"/>
                  </a:lnTo>
                  <a:lnTo>
                    <a:pt x="9001" y="392841"/>
                  </a:lnTo>
                  <a:lnTo>
                    <a:pt x="9001" y="390549"/>
                  </a:lnTo>
                  <a:lnTo>
                    <a:pt x="11299" y="388258"/>
                  </a:lnTo>
                  <a:lnTo>
                    <a:pt x="9001" y="385775"/>
                  </a:lnTo>
                  <a:lnTo>
                    <a:pt x="6703" y="383483"/>
                  </a:lnTo>
                  <a:close/>
                </a:path>
                <a:path w="11429" h="4246245">
                  <a:moveTo>
                    <a:pt x="6703" y="353882"/>
                  </a:moveTo>
                  <a:lnTo>
                    <a:pt x="4788" y="353882"/>
                  </a:lnTo>
                  <a:lnTo>
                    <a:pt x="6703" y="356173"/>
                  </a:lnTo>
                  <a:lnTo>
                    <a:pt x="6703" y="353882"/>
                  </a:lnTo>
                  <a:close/>
                </a:path>
                <a:path w="11429" h="4246245">
                  <a:moveTo>
                    <a:pt x="9001" y="351399"/>
                  </a:moveTo>
                  <a:lnTo>
                    <a:pt x="2298" y="351399"/>
                  </a:lnTo>
                  <a:lnTo>
                    <a:pt x="2298" y="353882"/>
                  </a:lnTo>
                  <a:lnTo>
                    <a:pt x="9001" y="353882"/>
                  </a:lnTo>
                  <a:lnTo>
                    <a:pt x="9001" y="351399"/>
                  </a:lnTo>
                  <a:close/>
                </a:path>
                <a:path w="11429" h="4246245">
                  <a:moveTo>
                    <a:pt x="6703" y="317023"/>
                  </a:moveTo>
                  <a:lnTo>
                    <a:pt x="4788" y="317023"/>
                  </a:lnTo>
                  <a:lnTo>
                    <a:pt x="2298" y="319315"/>
                  </a:lnTo>
                  <a:lnTo>
                    <a:pt x="0" y="321224"/>
                  </a:lnTo>
                  <a:lnTo>
                    <a:pt x="0" y="351399"/>
                  </a:lnTo>
                  <a:lnTo>
                    <a:pt x="11299" y="351399"/>
                  </a:lnTo>
                  <a:lnTo>
                    <a:pt x="11299" y="321224"/>
                  </a:lnTo>
                  <a:lnTo>
                    <a:pt x="9001" y="319315"/>
                  </a:lnTo>
                  <a:lnTo>
                    <a:pt x="6703" y="317023"/>
                  </a:lnTo>
                  <a:close/>
                </a:path>
                <a:path w="11429" h="4246245">
                  <a:moveTo>
                    <a:pt x="11299" y="282647"/>
                  </a:moveTo>
                  <a:lnTo>
                    <a:pt x="0" y="282647"/>
                  </a:lnTo>
                  <a:lnTo>
                    <a:pt x="2298" y="284557"/>
                  </a:lnTo>
                  <a:lnTo>
                    <a:pt x="2298" y="286848"/>
                  </a:lnTo>
                  <a:lnTo>
                    <a:pt x="9001" y="286848"/>
                  </a:lnTo>
                  <a:lnTo>
                    <a:pt x="9001" y="284557"/>
                  </a:lnTo>
                  <a:lnTo>
                    <a:pt x="11299" y="282647"/>
                  </a:lnTo>
                  <a:close/>
                </a:path>
                <a:path w="11429" h="4246245">
                  <a:moveTo>
                    <a:pt x="6703" y="277872"/>
                  </a:moveTo>
                  <a:lnTo>
                    <a:pt x="4788" y="277872"/>
                  </a:lnTo>
                  <a:lnTo>
                    <a:pt x="2298" y="280355"/>
                  </a:lnTo>
                  <a:lnTo>
                    <a:pt x="2298" y="282647"/>
                  </a:lnTo>
                  <a:lnTo>
                    <a:pt x="9001" y="282647"/>
                  </a:lnTo>
                  <a:lnTo>
                    <a:pt x="9001" y="280355"/>
                  </a:lnTo>
                  <a:lnTo>
                    <a:pt x="6703" y="277872"/>
                  </a:lnTo>
                  <a:close/>
                </a:path>
                <a:path w="11429" h="4246245">
                  <a:moveTo>
                    <a:pt x="6703" y="211030"/>
                  </a:moveTo>
                  <a:lnTo>
                    <a:pt x="4788" y="211030"/>
                  </a:lnTo>
                  <a:lnTo>
                    <a:pt x="2298" y="213322"/>
                  </a:lnTo>
                  <a:lnTo>
                    <a:pt x="0" y="215805"/>
                  </a:lnTo>
                  <a:lnTo>
                    <a:pt x="0" y="245406"/>
                  </a:lnTo>
                  <a:lnTo>
                    <a:pt x="4788" y="250181"/>
                  </a:lnTo>
                  <a:lnTo>
                    <a:pt x="6703" y="250181"/>
                  </a:lnTo>
                  <a:lnTo>
                    <a:pt x="9001" y="247698"/>
                  </a:lnTo>
                  <a:lnTo>
                    <a:pt x="11299" y="245406"/>
                  </a:lnTo>
                  <a:lnTo>
                    <a:pt x="11299" y="215805"/>
                  </a:lnTo>
                  <a:lnTo>
                    <a:pt x="9001" y="213322"/>
                  </a:lnTo>
                  <a:lnTo>
                    <a:pt x="6703" y="211030"/>
                  </a:lnTo>
                  <a:close/>
                </a:path>
                <a:path w="11429" h="4246245">
                  <a:moveTo>
                    <a:pt x="6703" y="181429"/>
                  </a:moveTo>
                  <a:lnTo>
                    <a:pt x="4788" y="181429"/>
                  </a:lnTo>
                  <a:lnTo>
                    <a:pt x="6703" y="183720"/>
                  </a:lnTo>
                  <a:lnTo>
                    <a:pt x="6703" y="181429"/>
                  </a:lnTo>
                  <a:close/>
                </a:path>
                <a:path w="11429" h="4246245">
                  <a:moveTo>
                    <a:pt x="9001" y="178946"/>
                  </a:moveTo>
                  <a:lnTo>
                    <a:pt x="2298" y="178946"/>
                  </a:lnTo>
                  <a:lnTo>
                    <a:pt x="2298" y="181429"/>
                  </a:lnTo>
                  <a:lnTo>
                    <a:pt x="9001" y="181429"/>
                  </a:lnTo>
                  <a:lnTo>
                    <a:pt x="9001" y="178946"/>
                  </a:lnTo>
                  <a:close/>
                </a:path>
                <a:path w="11429" h="4246245">
                  <a:moveTo>
                    <a:pt x="9001" y="174362"/>
                  </a:moveTo>
                  <a:lnTo>
                    <a:pt x="2298" y="174362"/>
                  </a:lnTo>
                  <a:lnTo>
                    <a:pt x="2298" y="176654"/>
                  </a:lnTo>
                  <a:lnTo>
                    <a:pt x="0" y="178946"/>
                  </a:lnTo>
                  <a:lnTo>
                    <a:pt x="11299" y="178946"/>
                  </a:lnTo>
                  <a:lnTo>
                    <a:pt x="9001" y="176654"/>
                  </a:lnTo>
                  <a:lnTo>
                    <a:pt x="9001" y="174362"/>
                  </a:lnTo>
                  <a:close/>
                </a:path>
                <a:path w="11429" h="4246245">
                  <a:moveTo>
                    <a:pt x="6703" y="171880"/>
                  </a:moveTo>
                  <a:lnTo>
                    <a:pt x="4788" y="174362"/>
                  </a:lnTo>
                  <a:lnTo>
                    <a:pt x="6703" y="174362"/>
                  </a:lnTo>
                  <a:lnTo>
                    <a:pt x="6703" y="171880"/>
                  </a:lnTo>
                  <a:close/>
                </a:path>
                <a:path w="11429" h="4246245">
                  <a:moveTo>
                    <a:pt x="11299" y="110194"/>
                  </a:moveTo>
                  <a:lnTo>
                    <a:pt x="0" y="110194"/>
                  </a:lnTo>
                  <a:lnTo>
                    <a:pt x="0" y="139795"/>
                  </a:lnTo>
                  <a:lnTo>
                    <a:pt x="2298" y="142278"/>
                  </a:lnTo>
                  <a:lnTo>
                    <a:pt x="4788" y="144570"/>
                  </a:lnTo>
                  <a:lnTo>
                    <a:pt x="6703" y="144570"/>
                  </a:lnTo>
                  <a:lnTo>
                    <a:pt x="9001" y="142278"/>
                  </a:lnTo>
                  <a:lnTo>
                    <a:pt x="11299" y="139795"/>
                  </a:lnTo>
                  <a:lnTo>
                    <a:pt x="11299" y="110194"/>
                  </a:lnTo>
                  <a:close/>
                </a:path>
                <a:path w="11429" h="4246245">
                  <a:moveTo>
                    <a:pt x="6703" y="105419"/>
                  </a:moveTo>
                  <a:lnTo>
                    <a:pt x="4788" y="105419"/>
                  </a:lnTo>
                  <a:lnTo>
                    <a:pt x="2298" y="107902"/>
                  </a:lnTo>
                  <a:lnTo>
                    <a:pt x="2298" y="110194"/>
                  </a:lnTo>
                  <a:lnTo>
                    <a:pt x="9001" y="110194"/>
                  </a:lnTo>
                  <a:lnTo>
                    <a:pt x="9001" y="107902"/>
                  </a:lnTo>
                  <a:lnTo>
                    <a:pt x="6703" y="105419"/>
                  </a:lnTo>
                  <a:close/>
                </a:path>
                <a:path w="11429" h="4246245">
                  <a:moveTo>
                    <a:pt x="9001" y="68752"/>
                  </a:moveTo>
                  <a:lnTo>
                    <a:pt x="2298" y="68752"/>
                  </a:lnTo>
                  <a:lnTo>
                    <a:pt x="2298" y="71043"/>
                  </a:lnTo>
                  <a:lnTo>
                    <a:pt x="0" y="73526"/>
                  </a:lnTo>
                  <a:lnTo>
                    <a:pt x="2298" y="75818"/>
                  </a:lnTo>
                  <a:lnTo>
                    <a:pt x="4788" y="77728"/>
                  </a:lnTo>
                  <a:lnTo>
                    <a:pt x="6703" y="77728"/>
                  </a:lnTo>
                  <a:lnTo>
                    <a:pt x="9001" y="75818"/>
                  </a:lnTo>
                  <a:lnTo>
                    <a:pt x="11299" y="73526"/>
                  </a:lnTo>
                  <a:lnTo>
                    <a:pt x="9001" y="71043"/>
                  </a:lnTo>
                  <a:lnTo>
                    <a:pt x="9001" y="68752"/>
                  </a:lnTo>
                  <a:close/>
                </a:path>
                <a:path w="11429" h="4246245">
                  <a:moveTo>
                    <a:pt x="9001" y="2291"/>
                  </a:moveTo>
                  <a:lnTo>
                    <a:pt x="2298" y="2291"/>
                  </a:lnTo>
                  <a:lnTo>
                    <a:pt x="2298" y="4201"/>
                  </a:lnTo>
                  <a:lnTo>
                    <a:pt x="0" y="6493"/>
                  </a:lnTo>
                  <a:lnTo>
                    <a:pt x="0" y="34376"/>
                  </a:lnTo>
                  <a:lnTo>
                    <a:pt x="2298" y="36667"/>
                  </a:lnTo>
                  <a:lnTo>
                    <a:pt x="2298" y="38959"/>
                  </a:lnTo>
                  <a:lnTo>
                    <a:pt x="9001" y="38959"/>
                  </a:lnTo>
                  <a:lnTo>
                    <a:pt x="9001" y="36667"/>
                  </a:lnTo>
                  <a:lnTo>
                    <a:pt x="11299" y="34376"/>
                  </a:lnTo>
                  <a:lnTo>
                    <a:pt x="11299" y="6493"/>
                  </a:lnTo>
                  <a:lnTo>
                    <a:pt x="9001" y="4201"/>
                  </a:lnTo>
                  <a:lnTo>
                    <a:pt x="9001" y="2291"/>
                  </a:lnTo>
                  <a:close/>
                </a:path>
                <a:path w="11429" h="4246245">
                  <a:moveTo>
                    <a:pt x="6703" y="0"/>
                  </a:moveTo>
                  <a:lnTo>
                    <a:pt x="4788" y="2291"/>
                  </a:lnTo>
                  <a:lnTo>
                    <a:pt x="6703" y="2291"/>
                  </a:lnTo>
                  <a:lnTo>
                    <a:pt x="6703" y="0"/>
                  </a:lnTo>
                  <a:close/>
                </a:path>
              </a:pathLst>
            </a:custGeom>
            <a:solidFill>
              <a:srgbClr val="000000"/>
            </a:solidFill>
          </p:spPr>
          <p:txBody>
            <a:bodyPr wrap="square" lIns="0" tIns="0" rIns="0" bIns="0" rtlCol="0"/>
            <a:lstStyle/>
            <a:p/>
          </p:txBody>
        </p:sp>
        <p:sp>
          <p:nvSpPr>
            <p:cNvPr id="38" name="object 38" descr=""/>
            <p:cNvSpPr/>
            <p:nvPr/>
          </p:nvSpPr>
          <p:spPr>
            <a:xfrm>
              <a:off x="5349811" y="4747865"/>
              <a:ext cx="11430" cy="1296035"/>
            </a:xfrm>
            <a:custGeom>
              <a:avLst/>
              <a:gdLst/>
              <a:ahLst/>
              <a:cxnLst/>
              <a:rect l="l" t="t" r="r" b="b"/>
              <a:pathLst>
                <a:path w="11429" h="1296035">
                  <a:moveTo>
                    <a:pt x="0" y="1295747"/>
                  </a:moveTo>
                  <a:lnTo>
                    <a:pt x="0" y="1268418"/>
                  </a:lnTo>
                  <a:lnTo>
                    <a:pt x="2298" y="1266061"/>
                  </a:lnTo>
                  <a:lnTo>
                    <a:pt x="4788" y="1263706"/>
                  </a:lnTo>
                  <a:lnTo>
                    <a:pt x="6703" y="1263706"/>
                  </a:lnTo>
                  <a:lnTo>
                    <a:pt x="9001" y="1266061"/>
                  </a:lnTo>
                  <a:lnTo>
                    <a:pt x="11299" y="1268418"/>
                  </a:lnTo>
                  <a:lnTo>
                    <a:pt x="11299" y="1295747"/>
                  </a:lnTo>
                </a:path>
                <a:path w="11429" h="1296035">
                  <a:moveTo>
                    <a:pt x="0" y="1229309"/>
                  </a:moveTo>
                  <a:lnTo>
                    <a:pt x="2298" y="1229309"/>
                  </a:lnTo>
                  <a:lnTo>
                    <a:pt x="2298" y="1226955"/>
                  </a:lnTo>
                  <a:lnTo>
                    <a:pt x="4788" y="1224598"/>
                  </a:lnTo>
                  <a:lnTo>
                    <a:pt x="6703" y="1224598"/>
                  </a:lnTo>
                  <a:lnTo>
                    <a:pt x="9001" y="1226955"/>
                  </a:lnTo>
                  <a:lnTo>
                    <a:pt x="9001" y="1229309"/>
                  </a:lnTo>
                  <a:lnTo>
                    <a:pt x="11299" y="1229309"/>
                  </a:lnTo>
                  <a:lnTo>
                    <a:pt x="9001" y="1231666"/>
                  </a:lnTo>
                  <a:lnTo>
                    <a:pt x="9001" y="1234023"/>
                  </a:lnTo>
                  <a:lnTo>
                    <a:pt x="6703" y="1234023"/>
                  </a:lnTo>
                  <a:lnTo>
                    <a:pt x="4788" y="1234023"/>
                  </a:lnTo>
                  <a:lnTo>
                    <a:pt x="2298" y="1234023"/>
                  </a:lnTo>
                  <a:lnTo>
                    <a:pt x="2298" y="1231666"/>
                  </a:lnTo>
                  <a:lnTo>
                    <a:pt x="0" y="1229309"/>
                  </a:lnTo>
                </a:path>
                <a:path w="11429" h="1296035">
                  <a:moveTo>
                    <a:pt x="0" y="1192558"/>
                  </a:moveTo>
                  <a:lnTo>
                    <a:pt x="0" y="1162874"/>
                  </a:lnTo>
                  <a:lnTo>
                    <a:pt x="2298" y="1160517"/>
                  </a:lnTo>
                  <a:lnTo>
                    <a:pt x="4788" y="1158163"/>
                  </a:lnTo>
                  <a:lnTo>
                    <a:pt x="6703" y="1158163"/>
                  </a:lnTo>
                  <a:lnTo>
                    <a:pt x="9001" y="1160517"/>
                  </a:lnTo>
                  <a:lnTo>
                    <a:pt x="11299" y="1162874"/>
                  </a:lnTo>
                  <a:lnTo>
                    <a:pt x="11299" y="1192558"/>
                  </a:lnTo>
                  <a:lnTo>
                    <a:pt x="9001" y="1194914"/>
                  </a:lnTo>
                  <a:lnTo>
                    <a:pt x="6703" y="1197271"/>
                  </a:lnTo>
                  <a:lnTo>
                    <a:pt x="4788" y="1197271"/>
                  </a:lnTo>
                  <a:lnTo>
                    <a:pt x="2298" y="1194914"/>
                  </a:lnTo>
                  <a:lnTo>
                    <a:pt x="0" y="1192558"/>
                  </a:lnTo>
                </a:path>
                <a:path w="11429" h="1296035">
                  <a:moveTo>
                    <a:pt x="0" y="1126122"/>
                  </a:moveTo>
                  <a:lnTo>
                    <a:pt x="2298" y="1123765"/>
                  </a:lnTo>
                  <a:lnTo>
                    <a:pt x="2298" y="1121411"/>
                  </a:lnTo>
                  <a:lnTo>
                    <a:pt x="4788" y="1121411"/>
                  </a:lnTo>
                  <a:lnTo>
                    <a:pt x="6703" y="1119054"/>
                  </a:lnTo>
                  <a:lnTo>
                    <a:pt x="6703" y="1121411"/>
                  </a:lnTo>
                  <a:lnTo>
                    <a:pt x="9001" y="1121411"/>
                  </a:lnTo>
                  <a:lnTo>
                    <a:pt x="9001" y="1123765"/>
                  </a:lnTo>
                  <a:lnTo>
                    <a:pt x="11299" y="1126122"/>
                  </a:lnTo>
                  <a:lnTo>
                    <a:pt x="9001" y="1126122"/>
                  </a:lnTo>
                  <a:lnTo>
                    <a:pt x="9001" y="1128479"/>
                  </a:lnTo>
                  <a:lnTo>
                    <a:pt x="6703" y="1128479"/>
                  </a:lnTo>
                  <a:lnTo>
                    <a:pt x="6703" y="1130362"/>
                  </a:lnTo>
                  <a:lnTo>
                    <a:pt x="4788" y="1128479"/>
                  </a:lnTo>
                  <a:lnTo>
                    <a:pt x="2298" y="1128479"/>
                  </a:lnTo>
                  <a:lnTo>
                    <a:pt x="2298" y="1126122"/>
                  </a:lnTo>
                  <a:lnTo>
                    <a:pt x="0" y="1126122"/>
                  </a:lnTo>
                </a:path>
                <a:path w="11429" h="1296035">
                  <a:moveTo>
                    <a:pt x="0" y="1087008"/>
                  </a:moveTo>
                  <a:lnTo>
                    <a:pt x="0" y="1056853"/>
                  </a:lnTo>
                  <a:lnTo>
                    <a:pt x="2298" y="1056853"/>
                  </a:lnTo>
                  <a:lnTo>
                    <a:pt x="2298" y="1054981"/>
                  </a:lnTo>
                  <a:lnTo>
                    <a:pt x="4788" y="1052613"/>
                  </a:lnTo>
                  <a:lnTo>
                    <a:pt x="6703" y="1052613"/>
                  </a:lnTo>
                  <a:lnTo>
                    <a:pt x="9001" y="1054981"/>
                  </a:lnTo>
                  <a:lnTo>
                    <a:pt x="9001" y="1056853"/>
                  </a:lnTo>
                  <a:lnTo>
                    <a:pt x="11299" y="1056853"/>
                  </a:lnTo>
                  <a:lnTo>
                    <a:pt x="11299" y="1087008"/>
                  </a:lnTo>
                  <a:lnTo>
                    <a:pt x="9001" y="1089376"/>
                  </a:lnTo>
                  <a:lnTo>
                    <a:pt x="6703" y="1091725"/>
                  </a:lnTo>
                  <a:lnTo>
                    <a:pt x="4788" y="1091725"/>
                  </a:lnTo>
                  <a:lnTo>
                    <a:pt x="2298" y="1089376"/>
                  </a:lnTo>
                  <a:lnTo>
                    <a:pt x="0" y="1087008"/>
                  </a:lnTo>
                </a:path>
                <a:path w="11429" h="1296035">
                  <a:moveTo>
                    <a:pt x="0" y="560711"/>
                  </a:moveTo>
                  <a:lnTo>
                    <a:pt x="0" y="531014"/>
                  </a:lnTo>
                  <a:lnTo>
                    <a:pt x="2298" y="528665"/>
                  </a:lnTo>
                  <a:lnTo>
                    <a:pt x="4788" y="526316"/>
                  </a:lnTo>
                  <a:lnTo>
                    <a:pt x="6703" y="526316"/>
                  </a:lnTo>
                  <a:lnTo>
                    <a:pt x="9001" y="528665"/>
                  </a:lnTo>
                  <a:lnTo>
                    <a:pt x="11299" y="531014"/>
                  </a:lnTo>
                  <a:lnTo>
                    <a:pt x="11299" y="560711"/>
                  </a:lnTo>
                  <a:lnTo>
                    <a:pt x="9001" y="563060"/>
                  </a:lnTo>
                  <a:lnTo>
                    <a:pt x="6703" y="565428"/>
                  </a:lnTo>
                  <a:lnTo>
                    <a:pt x="4788" y="565428"/>
                  </a:lnTo>
                  <a:lnTo>
                    <a:pt x="2298" y="563060"/>
                  </a:lnTo>
                  <a:lnTo>
                    <a:pt x="0" y="560711"/>
                  </a:lnTo>
                </a:path>
                <a:path w="11429" h="1296035">
                  <a:moveTo>
                    <a:pt x="0" y="494270"/>
                  </a:moveTo>
                  <a:lnTo>
                    <a:pt x="2298" y="491921"/>
                  </a:lnTo>
                  <a:lnTo>
                    <a:pt x="2298" y="489552"/>
                  </a:lnTo>
                  <a:lnTo>
                    <a:pt x="4788" y="489552"/>
                  </a:lnTo>
                  <a:lnTo>
                    <a:pt x="6703" y="487203"/>
                  </a:lnTo>
                  <a:lnTo>
                    <a:pt x="6703" y="489552"/>
                  </a:lnTo>
                  <a:lnTo>
                    <a:pt x="9001" y="489552"/>
                  </a:lnTo>
                  <a:lnTo>
                    <a:pt x="9001" y="491921"/>
                  </a:lnTo>
                  <a:lnTo>
                    <a:pt x="11299" y="494270"/>
                  </a:lnTo>
                  <a:lnTo>
                    <a:pt x="9001" y="494270"/>
                  </a:lnTo>
                  <a:lnTo>
                    <a:pt x="9001" y="496160"/>
                  </a:lnTo>
                  <a:lnTo>
                    <a:pt x="6703" y="496160"/>
                  </a:lnTo>
                  <a:lnTo>
                    <a:pt x="6703" y="498509"/>
                  </a:lnTo>
                  <a:lnTo>
                    <a:pt x="4788" y="496160"/>
                  </a:lnTo>
                  <a:lnTo>
                    <a:pt x="2298" y="496160"/>
                  </a:lnTo>
                  <a:lnTo>
                    <a:pt x="2298" y="494270"/>
                  </a:lnTo>
                  <a:lnTo>
                    <a:pt x="0" y="494270"/>
                  </a:lnTo>
                </a:path>
                <a:path w="11429" h="1296035">
                  <a:moveTo>
                    <a:pt x="0" y="455157"/>
                  </a:moveTo>
                  <a:lnTo>
                    <a:pt x="0" y="425002"/>
                  </a:lnTo>
                  <a:lnTo>
                    <a:pt x="2298" y="425002"/>
                  </a:lnTo>
                  <a:lnTo>
                    <a:pt x="2298" y="422653"/>
                  </a:lnTo>
                  <a:lnTo>
                    <a:pt x="4788" y="420304"/>
                  </a:lnTo>
                  <a:lnTo>
                    <a:pt x="6703" y="420304"/>
                  </a:lnTo>
                  <a:lnTo>
                    <a:pt x="9001" y="422653"/>
                  </a:lnTo>
                  <a:lnTo>
                    <a:pt x="9001" y="425002"/>
                  </a:lnTo>
                  <a:lnTo>
                    <a:pt x="11299" y="425002"/>
                  </a:lnTo>
                  <a:lnTo>
                    <a:pt x="11299" y="455157"/>
                  </a:lnTo>
                  <a:lnTo>
                    <a:pt x="9001" y="457048"/>
                  </a:lnTo>
                  <a:lnTo>
                    <a:pt x="6703" y="459397"/>
                  </a:lnTo>
                  <a:lnTo>
                    <a:pt x="4788" y="459397"/>
                  </a:lnTo>
                  <a:lnTo>
                    <a:pt x="2298" y="457048"/>
                  </a:lnTo>
                  <a:lnTo>
                    <a:pt x="0" y="455157"/>
                  </a:lnTo>
                </a:path>
                <a:path w="11429" h="1296035">
                  <a:moveTo>
                    <a:pt x="0" y="388258"/>
                  </a:moveTo>
                  <a:lnTo>
                    <a:pt x="2298" y="385909"/>
                  </a:lnTo>
                  <a:lnTo>
                    <a:pt x="2298" y="383541"/>
                  </a:lnTo>
                  <a:lnTo>
                    <a:pt x="4788" y="383541"/>
                  </a:lnTo>
                  <a:lnTo>
                    <a:pt x="6703" y="383541"/>
                  </a:lnTo>
                  <a:lnTo>
                    <a:pt x="9001" y="383541"/>
                  </a:lnTo>
                  <a:lnTo>
                    <a:pt x="9001" y="385909"/>
                  </a:lnTo>
                  <a:lnTo>
                    <a:pt x="11299" y="388258"/>
                  </a:lnTo>
                  <a:lnTo>
                    <a:pt x="9001" y="390607"/>
                  </a:lnTo>
                  <a:lnTo>
                    <a:pt x="6703" y="392975"/>
                  </a:lnTo>
                  <a:lnTo>
                    <a:pt x="4788" y="392975"/>
                  </a:lnTo>
                  <a:lnTo>
                    <a:pt x="2298" y="390607"/>
                  </a:lnTo>
                  <a:lnTo>
                    <a:pt x="0" y="388258"/>
                  </a:lnTo>
                </a:path>
                <a:path w="11429" h="1296035">
                  <a:moveTo>
                    <a:pt x="0" y="349145"/>
                  </a:moveTo>
                  <a:lnTo>
                    <a:pt x="0" y="321816"/>
                  </a:lnTo>
                  <a:lnTo>
                    <a:pt x="2298" y="319467"/>
                  </a:lnTo>
                  <a:lnTo>
                    <a:pt x="2298" y="317099"/>
                  </a:lnTo>
                  <a:lnTo>
                    <a:pt x="4788" y="317099"/>
                  </a:lnTo>
                  <a:lnTo>
                    <a:pt x="6703" y="314750"/>
                  </a:lnTo>
                  <a:lnTo>
                    <a:pt x="6703" y="317099"/>
                  </a:lnTo>
                  <a:lnTo>
                    <a:pt x="9001" y="317099"/>
                  </a:lnTo>
                  <a:lnTo>
                    <a:pt x="9001" y="319467"/>
                  </a:lnTo>
                  <a:lnTo>
                    <a:pt x="11299" y="321816"/>
                  </a:lnTo>
                  <a:lnTo>
                    <a:pt x="11299" y="349145"/>
                  </a:lnTo>
                  <a:lnTo>
                    <a:pt x="9001" y="351494"/>
                  </a:lnTo>
                  <a:lnTo>
                    <a:pt x="6703" y="353863"/>
                  </a:lnTo>
                  <a:lnTo>
                    <a:pt x="4788" y="353863"/>
                  </a:lnTo>
                  <a:lnTo>
                    <a:pt x="2298" y="351494"/>
                  </a:lnTo>
                  <a:lnTo>
                    <a:pt x="0" y="349145"/>
                  </a:lnTo>
                </a:path>
                <a:path w="11429" h="1296035">
                  <a:moveTo>
                    <a:pt x="0" y="282704"/>
                  </a:moveTo>
                  <a:lnTo>
                    <a:pt x="2298" y="280355"/>
                  </a:lnTo>
                  <a:lnTo>
                    <a:pt x="2298" y="278006"/>
                  </a:lnTo>
                  <a:lnTo>
                    <a:pt x="4788" y="278006"/>
                  </a:lnTo>
                  <a:lnTo>
                    <a:pt x="6703" y="278006"/>
                  </a:lnTo>
                  <a:lnTo>
                    <a:pt x="9001" y="278006"/>
                  </a:lnTo>
                  <a:lnTo>
                    <a:pt x="9001" y="280355"/>
                  </a:lnTo>
                  <a:lnTo>
                    <a:pt x="11299" y="282704"/>
                  </a:lnTo>
                  <a:lnTo>
                    <a:pt x="9001" y="285072"/>
                  </a:lnTo>
                  <a:lnTo>
                    <a:pt x="6703" y="287421"/>
                  </a:lnTo>
                  <a:lnTo>
                    <a:pt x="4788" y="287421"/>
                  </a:lnTo>
                  <a:lnTo>
                    <a:pt x="2298" y="285072"/>
                  </a:lnTo>
                  <a:lnTo>
                    <a:pt x="0" y="282704"/>
                  </a:lnTo>
                </a:path>
                <a:path w="11429" h="1296035">
                  <a:moveTo>
                    <a:pt x="0" y="243611"/>
                  </a:moveTo>
                  <a:lnTo>
                    <a:pt x="0" y="215805"/>
                  </a:lnTo>
                  <a:lnTo>
                    <a:pt x="2298" y="213456"/>
                  </a:lnTo>
                  <a:lnTo>
                    <a:pt x="2298" y="211565"/>
                  </a:lnTo>
                  <a:lnTo>
                    <a:pt x="4788" y="211565"/>
                  </a:lnTo>
                  <a:lnTo>
                    <a:pt x="6703" y="211565"/>
                  </a:lnTo>
                  <a:lnTo>
                    <a:pt x="9001" y="211565"/>
                  </a:lnTo>
                  <a:lnTo>
                    <a:pt x="9001" y="213456"/>
                  </a:lnTo>
                  <a:lnTo>
                    <a:pt x="11299" y="215805"/>
                  </a:lnTo>
                  <a:lnTo>
                    <a:pt x="11299" y="243611"/>
                  </a:lnTo>
                  <a:lnTo>
                    <a:pt x="9001" y="245960"/>
                  </a:lnTo>
                  <a:lnTo>
                    <a:pt x="9001" y="248309"/>
                  </a:lnTo>
                  <a:lnTo>
                    <a:pt x="6703" y="248309"/>
                  </a:lnTo>
                  <a:lnTo>
                    <a:pt x="4788" y="248309"/>
                  </a:lnTo>
                  <a:lnTo>
                    <a:pt x="2298" y="248309"/>
                  </a:lnTo>
                  <a:lnTo>
                    <a:pt x="2298" y="245960"/>
                  </a:lnTo>
                  <a:lnTo>
                    <a:pt x="0" y="243611"/>
                  </a:lnTo>
                </a:path>
                <a:path w="11429" h="1296035">
                  <a:moveTo>
                    <a:pt x="0" y="176692"/>
                  </a:moveTo>
                  <a:lnTo>
                    <a:pt x="2298" y="174802"/>
                  </a:lnTo>
                  <a:lnTo>
                    <a:pt x="4788" y="172453"/>
                  </a:lnTo>
                  <a:lnTo>
                    <a:pt x="6703" y="172453"/>
                  </a:lnTo>
                  <a:lnTo>
                    <a:pt x="9001" y="174802"/>
                  </a:lnTo>
                  <a:lnTo>
                    <a:pt x="11299" y="176692"/>
                  </a:lnTo>
                  <a:lnTo>
                    <a:pt x="9001" y="179060"/>
                  </a:lnTo>
                  <a:lnTo>
                    <a:pt x="6703" y="181409"/>
                  </a:lnTo>
                  <a:lnTo>
                    <a:pt x="4788" y="181409"/>
                  </a:lnTo>
                  <a:lnTo>
                    <a:pt x="2298" y="179060"/>
                  </a:lnTo>
                  <a:lnTo>
                    <a:pt x="0" y="176692"/>
                  </a:lnTo>
                </a:path>
                <a:path w="11429" h="1296035">
                  <a:moveTo>
                    <a:pt x="0" y="138057"/>
                  </a:moveTo>
                  <a:lnTo>
                    <a:pt x="0" y="110251"/>
                  </a:lnTo>
                  <a:lnTo>
                    <a:pt x="2298" y="107902"/>
                  </a:lnTo>
                  <a:lnTo>
                    <a:pt x="2298" y="105553"/>
                  </a:lnTo>
                  <a:lnTo>
                    <a:pt x="4788" y="105553"/>
                  </a:lnTo>
                  <a:lnTo>
                    <a:pt x="6703" y="105553"/>
                  </a:lnTo>
                  <a:lnTo>
                    <a:pt x="9001" y="105553"/>
                  </a:lnTo>
                  <a:lnTo>
                    <a:pt x="9001" y="107902"/>
                  </a:lnTo>
                  <a:lnTo>
                    <a:pt x="11299" y="110251"/>
                  </a:lnTo>
                  <a:lnTo>
                    <a:pt x="11299" y="138057"/>
                  </a:lnTo>
                  <a:lnTo>
                    <a:pt x="9001" y="139948"/>
                  </a:lnTo>
                  <a:lnTo>
                    <a:pt x="9001" y="142297"/>
                  </a:lnTo>
                  <a:lnTo>
                    <a:pt x="6703" y="142297"/>
                  </a:lnTo>
                  <a:lnTo>
                    <a:pt x="4788" y="142297"/>
                  </a:lnTo>
                  <a:lnTo>
                    <a:pt x="2298" y="142297"/>
                  </a:lnTo>
                  <a:lnTo>
                    <a:pt x="2298" y="139948"/>
                  </a:lnTo>
                  <a:lnTo>
                    <a:pt x="0" y="138057"/>
                  </a:lnTo>
                </a:path>
                <a:path w="11429" h="1296035">
                  <a:moveTo>
                    <a:pt x="0" y="71158"/>
                  </a:moveTo>
                  <a:lnTo>
                    <a:pt x="2298" y="68790"/>
                  </a:lnTo>
                  <a:lnTo>
                    <a:pt x="4788" y="66441"/>
                  </a:lnTo>
                  <a:lnTo>
                    <a:pt x="6703" y="66441"/>
                  </a:lnTo>
                  <a:lnTo>
                    <a:pt x="9001" y="68790"/>
                  </a:lnTo>
                  <a:lnTo>
                    <a:pt x="11299" y="71158"/>
                  </a:lnTo>
                  <a:lnTo>
                    <a:pt x="9001" y="73507"/>
                  </a:lnTo>
                  <a:lnTo>
                    <a:pt x="9001" y="75856"/>
                  </a:lnTo>
                  <a:lnTo>
                    <a:pt x="6703" y="75856"/>
                  </a:lnTo>
                  <a:lnTo>
                    <a:pt x="4788" y="75856"/>
                  </a:lnTo>
                  <a:lnTo>
                    <a:pt x="2298" y="75856"/>
                  </a:lnTo>
                  <a:lnTo>
                    <a:pt x="2298" y="73507"/>
                  </a:lnTo>
                  <a:lnTo>
                    <a:pt x="0" y="71158"/>
                  </a:lnTo>
                </a:path>
                <a:path w="11429" h="1296035">
                  <a:moveTo>
                    <a:pt x="0" y="34395"/>
                  </a:moveTo>
                  <a:lnTo>
                    <a:pt x="0" y="4717"/>
                  </a:lnTo>
                  <a:lnTo>
                    <a:pt x="2298" y="2368"/>
                  </a:lnTo>
                  <a:lnTo>
                    <a:pt x="4788" y="0"/>
                  </a:lnTo>
                  <a:lnTo>
                    <a:pt x="6703" y="0"/>
                  </a:lnTo>
                  <a:lnTo>
                    <a:pt x="9001" y="2368"/>
                  </a:lnTo>
                  <a:lnTo>
                    <a:pt x="11299" y="4717"/>
                  </a:lnTo>
                  <a:lnTo>
                    <a:pt x="11299" y="34395"/>
                  </a:lnTo>
                  <a:lnTo>
                    <a:pt x="9001" y="34395"/>
                  </a:lnTo>
                  <a:lnTo>
                    <a:pt x="9001" y="36763"/>
                  </a:lnTo>
                  <a:lnTo>
                    <a:pt x="6703" y="36763"/>
                  </a:lnTo>
                  <a:lnTo>
                    <a:pt x="6703" y="39112"/>
                  </a:lnTo>
                  <a:lnTo>
                    <a:pt x="4788" y="36763"/>
                  </a:lnTo>
                  <a:lnTo>
                    <a:pt x="2298" y="36763"/>
                  </a:lnTo>
                  <a:lnTo>
                    <a:pt x="2298" y="34395"/>
                  </a:lnTo>
                  <a:lnTo>
                    <a:pt x="0" y="34395"/>
                  </a:lnTo>
                </a:path>
              </a:pathLst>
            </a:custGeom>
            <a:ln w="3175">
              <a:solidFill>
                <a:srgbClr val="000000"/>
              </a:solidFill>
            </a:ln>
          </p:spPr>
          <p:txBody>
            <a:bodyPr wrap="square" lIns="0" tIns="0" rIns="0" bIns="0" rtlCol="0"/>
            <a:lstStyle/>
            <a:p/>
          </p:txBody>
        </p:sp>
        <p:pic>
          <p:nvPicPr>
            <p:cNvPr id="39" name="object 39" descr=""/>
            <p:cNvPicPr/>
            <p:nvPr/>
          </p:nvPicPr>
          <p:blipFill>
            <a:blip r:embed="rId6" cstate="print"/>
            <a:stretch>
              <a:fillRect/>
            </a:stretch>
          </p:blipFill>
          <p:spPr>
            <a:xfrm>
              <a:off x="5348470" y="1796067"/>
              <a:ext cx="13980" cy="2463584"/>
            </a:xfrm>
            <a:prstGeom prst="rect">
              <a:avLst/>
            </a:prstGeom>
          </p:spPr>
        </p:pic>
        <p:sp>
          <p:nvSpPr>
            <p:cNvPr id="40" name="object 40" descr=""/>
            <p:cNvSpPr/>
            <p:nvPr/>
          </p:nvSpPr>
          <p:spPr>
            <a:xfrm>
              <a:off x="6801547" y="1797408"/>
              <a:ext cx="11430" cy="4246245"/>
            </a:xfrm>
            <a:custGeom>
              <a:avLst/>
              <a:gdLst/>
              <a:ahLst/>
              <a:cxnLst/>
              <a:rect l="l" t="t" r="r" b="b"/>
              <a:pathLst>
                <a:path w="11429" h="4246245">
                  <a:moveTo>
                    <a:pt x="7086" y="4214164"/>
                  </a:moveTo>
                  <a:lnTo>
                    <a:pt x="4596" y="4214164"/>
                  </a:lnTo>
                  <a:lnTo>
                    <a:pt x="0" y="4218875"/>
                  </a:lnTo>
                  <a:lnTo>
                    <a:pt x="0" y="4246204"/>
                  </a:lnTo>
                  <a:lnTo>
                    <a:pt x="11299" y="4246204"/>
                  </a:lnTo>
                  <a:lnTo>
                    <a:pt x="11299" y="4218875"/>
                  </a:lnTo>
                  <a:lnTo>
                    <a:pt x="9001" y="4216518"/>
                  </a:lnTo>
                  <a:lnTo>
                    <a:pt x="7086" y="4214164"/>
                  </a:lnTo>
                  <a:close/>
                </a:path>
                <a:path w="11429" h="4246245">
                  <a:moveTo>
                    <a:pt x="11299" y="4179766"/>
                  </a:moveTo>
                  <a:lnTo>
                    <a:pt x="0" y="4179766"/>
                  </a:lnTo>
                  <a:lnTo>
                    <a:pt x="2298" y="4182123"/>
                  </a:lnTo>
                  <a:lnTo>
                    <a:pt x="2298" y="4184480"/>
                  </a:lnTo>
                  <a:lnTo>
                    <a:pt x="9001" y="4184480"/>
                  </a:lnTo>
                  <a:lnTo>
                    <a:pt x="9001" y="4182123"/>
                  </a:lnTo>
                  <a:lnTo>
                    <a:pt x="11299" y="4179766"/>
                  </a:lnTo>
                  <a:close/>
                </a:path>
                <a:path w="11429" h="4246245">
                  <a:moveTo>
                    <a:pt x="7086" y="4175055"/>
                  </a:moveTo>
                  <a:lnTo>
                    <a:pt x="4596" y="4175055"/>
                  </a:lnTo>
                  <a:lnTo>
                    <a:pt x="2298" y="4177412"/>
                  </a:lnTo>
                  <a:lnTo>
                    <a:pt x="2298" y="4179766"/>
                  </a:lnTo>
                  <a:lnTo>
                    <a:pt x="9001" y="4179766"/>
                  </a:lnTo>
                  <a:lnTo>
                    <a:pt x="9001" y="4177412"/>
                  </a:lnTo>
                  <a:lnTo>
                    <a:pt x="7086" y="4175055"/>
                  </a:lnTo>
                  <a:close/>
                </a:path>
                <a:path w="11429" h="4246245">
                  <a:moveTo>
                    <a:pt x="7086" y="4108620"/>
                  </a:moveTo>
                  <a:lnTo>
                    <a:pt x="4596" y="4108620"/>
                  </a:lnTo>
                  <a:lnTo>
                    <a:pt x="0" y="4113331"/>
                  </a:lnTo>
                  <a:lnTo>
                    <a:pt x="0" y="4143015"/>
                  </a:lnTo>
                  <a:lnTo>
                    <a:pt x="4596" y="4147728"/>
                  </a:lnTo>
                  <a:lnTo>
                    <a:pt x="7086" y="4147728"/>
                  </a:lnTo>
                  <a:lnTo>
                    <a:pt x="9001" y="4145371"/>
                  </a:lnTo>
                  <a:lnTo>
                    <a:pt x="11299" y="4143015"/>
                  </a:lnTo>
                  <a:lnTo>
                    <a:pt x="11299" y="4113331"/>
                  </a:lnTo>
                  <a:lnTo>
                    <a:pt x="9001" y="4110974"/>
                  </a:lnTo>
                  <a:lnTo>
                    <a:pt x="7086" y="4108620"/>
                  </a:lnTo>
                  <a:close/>
                </a:path>
                <a:path w="11429" h="4246245">
                  <a:moveTo>
                    <a:pt x="7086" y="4078936"/>
                  </a:moveTo>
                  <a:lnTo>
                    <a:pt x="4596" y="4078936"/>
                  </a:lnTo>
                  <a:lnTo>
                    <a:pt x="7086" y="4080819"/>
                  </a:lnTo>
                  <a:lnTo>
                    <a:pt x="7086" y="4078936"/>
                  </a:lnTo>
                  <a:close/>
                </a:path>
                <a:path w="11429" h="4246245">
                  <a:moveTo>
                    <a:pt x="9001" y="4076579"/>
                  </a:moveTo>
                  <a:lnTo>
                    <a:pt x="2298" y="4076579"/>
                  </a:lnTo>
                  <a:lnTo>
                    <a:pt x="2298" y="4078936"/>
                  </a:lnTo>
                  <a:lnTo>
                    <a:pt x="9001" y="4078936"/>
                  </a:lnTo>
                  <a:lnTo>
                    <a:pt x="9001" y="4076579"/>
                  </a:lnTo>
                  <a:close/>
                </a:path>
                <a:path w="11429" h="4246245">
                  <a:moveTo>
                    <a:pt x="9001" y="4071868"/>
                  </a:moveTo>
                  <a:lnTo>
                    <a:pt x="2298" y="4071868"/>
                  </a:lnTo>
                  <a:lnTo>
                    <a:pt x="2298" y="4074222"/>
                  </a:lnTo>
                  <a:lnTo>
                    <a:pt x="0" y="4076579"/>
                  </a:lnTo>
                  <a:lnTo>
                    <a:pt x="11299" y="4076579"/>
                  </a:lnTo>
                  <a:lnTo>
                    <a:pt x="9001" y="4074222"/>
                  </a:lnTo>
                  <a:lnTo>
                    <a:pt x="9001" y="4071868"/>
                  </a:lnTo>
                  <a:close/>
                </a:path>
                <a:path w="11429" h="4246245">
                  <a:moveTo>
                    <a:pt x="7086" y="4069511"/>
                  </a:moveTo>
                  <a:lnTo>
                    <a:pt x="4596" y="4071868"/>
                  </a:lnTo>
                  <a:lnTo>
                    <a:pt x="7086" y="4071868"/>
                  </a:lnTo>
                  <a:lnTo>
                    <a:pt x="7086" y="4069511"/>
                  </a:lnTo>
                  <a:close/>
                </a:path>
                <a:path w="11429" h="4246245">
                  <a:moveTo>
                    <a:pt x="11299" y="4007310"/>
                  </a:moveTo>
                  <a:lnTo>
                    <a:pt x="0" y="4007310"/>
                  </a:lnTo>
                  <a:lnTo>
                    <a:pt x="0" y="4037465"/>
                  </a:lnTo>
                  <a:lnTo>
                    <a:pt x="4596" y="4042182"/>
                  </a:lnTo>
                  <a:lnTo>
                    <a:pt x="7086" y="4042182"/>
                  </a:lnTo>
                  <a:lnTo>
                    <a:pt x="9001" y="4039833"/>
                  </a:lnTo>
                  <a:lnTo>
                    <a:pt x="11299" y="4037465"/>
                  </a:lnTo>
                  <a:lnTo>
                    <a:pt x="11299" y="4007310"/>
                  </a:lnTo>
                  <a:close/>
                </a:path>
                <a:path w="11429" h="4246245">
                  <a:moveTo>
                    <a:pt x="7086" y="4003070"/>
                  </a:moveTo>
                  <a:lnTo>
                    <a:pt x="4596" y="4003070"/>
                  </a:lnTo>
                  <a:lnTo>
                    <a:pt x="2298" y="4005438"/>
                  </a:lnTo>
                  <a:lnTo>
                    <a:pt x="2298" y="4007310"/>
                  </a:lnTo>
                  <a:lnTo>
                    <a:pt x="9001" y="4007310"/>
                  </a:lnTo>
                  <a:lnTo>
                    <a:pt x="9001" y="4005438"/>
                  </a:lnTo>
                  <a:lnTo>
                    <a:pt x="7086" y="4003070"/>
                  </a:lnTo>
                  <a:close/>
                </a:path>
                <a:path w="11429" h="4246245">
                  <a:moveTo>
                    <a:pt x="9001" y="3966326"/>
                  </a:moveTo>
                  <a:lnTo>
                    <a:pt x="2298" y="3966326"/>
                  </a:lnTo>
                  <a:lnTo>
                    <a:pt x="2298" y="3968675"/>
                  </a:lnTo>
                  <a:lnTo>
                    <a:pt x="0" y="3970565"/>
                  </a:lnTo>
                  <a:lnTo>
                    <a:pt x="4596" y="3975283"/>
                  </a:lnTo>
                  <a:lnTo>
                    <a:pt x="7086" y="3975283"/>
                  </a:lnTo>
                  <a:lnTo>
                    <a:pt x="9001" y="3972914"/>
                  </a:lnTo>
                  <a:lnTo>
                    <a:pt x="11299" y="3970565"/>
                  </a:lnTo>
                  <a:lnTo>
                    <a:pt x="9001" y="3968675"/>
                  </a:lnTo>
                  <a:lnTo>
                    <a:pt x="9001" y="3966326"/>
                  </a:lnTo>
                  <a:close/>
                </a:path>
                <a:path w="11429" h="4246245">
                  <a:moveTo>
                    <a:pt x="9001" y="3899407"/>
                  </a:moveTo>
                  <a:lnTo>
                    <a:pt x="2298" y="3899407"/>
                  </a:lnTo>
                  <a:lnTo>
                    <a:pt x="2298" y="3901775"/>
                  </a:lnTo>
                  <a:lnTo>
                    <a:pt x="0" y="3904124"/>
                  </a:lnTo>
                  <a:lnTo>
                    <a:pt x="0" y="3931453"/>
                  </a:lnTo>
                  <a:lnTo>
                    <a:pt x="2298" y="3933821"/>
                  </a:lnTo>
                  <a:lnTo>
                    <a:pt x="2298" y="3936170"/>
                  </a:lnTo>
                  <a:lnTo>
                    <a:pt x="9001" y="3936170"/>
                  </a:lnTo>
                  <a:lnTo>
                    <a:pt x="9001" y="3933821"/>
                  </a:lnTo>
                  <a:lnTo>
                    <a:pt x="11299" y="3931453"/>
                  </a:lnTo>
                  <a:lnTo>
                    <a:pt x="11299" y="3904124"/>
                  </a:lnTo>
                  <a:lnTo>
                    <a:pt x="9001" y="3901775"/>
                  </a:lnTo>
                  <a:lnTo>
                    <a:pt x="9001" y="3899407"/>
                  </a:lnTo>
                  <a:close/>
                </a:path>
                <a:path w="11429" h="4246245">
                  <a:moveTo>
                    <a:pt x="7086" y="3897058"/>
                  </a:moveTo>
                  <a:lnTo>
                    <a:pt x="4596" y="3899407"/>
                  </a:lnTo>
                  <a:lnTo>
                    <a:pt x="7086" y="3899407"/>
                  </a:lnTo>
                  <a:lnTo>
                    <a:pt x="7086" y="3897058"/>
                  </a:lnTo>
                  <a:close/>
                </a:path>
                <a:path w="11429" h="4246245">
                  <a:moveTo>
                    <a:pt x="9001" y="3860314"/>
                  </a:moveTo>
                  <a:lnTo>
                    <a:pt x="2298" y="3860314"/>
                  </a:lnTo>
                  <a:lnTo>
                    <a:pt x="2298" y="3862663"/>
                  </a:lnTo>
                  <a:lnTo>
                    <a:pt x="0" y="3865012"/>
                  </a:lnTo>
                  <a:lnTo>
                    <a:pt x="4596" y="3869729"/>
                  </a:lnTo>
                  <a:lnTo>
                    <a:pt x="7086" y="3869729"/>
                  </a:lnTo>
                  <a:lnTo>
                    <a:pt x="9001" y="3867380"/>
                  </a:lnTo>
                  <a:lnTo>
                    <a:pt x="11299" y="3865012"/>
                  </a:lnTo>
                  <a:lnTo>
                    <a:pt x="9001" y="3862663"/>
                  </a:lnTo>
                  <a:lnTo>
                    <a:pt x="9001" y="3860314"/>
                  </a:lnTo>
                  <a:close/>
                </a:path>
                <a:path w="11429" h="4246245">
                  <a:moveTo>
                    <a:pt x="9001" y="3793873"/>
                  </a:moveTo>
                  <a:lnTo>
                    <a:pt x="2298" y="3793873"/>
                  </a:lnTo>
                  <a:lnTo>
                    <a:pt x="2298" y="3796222"/>
                  </a:lnTo>
                  <a:lnTo>
                    <a:pt x="0" y="3798590"/>
                  </a:lnTo>
                  <a:lnTo>
                    <a:pt x="0" y="3825919"/>
                  </a:lnTo>
                  <a:lnTo>
                    <a:pt x="2298" y="3828268"/>
                  </a:lnTo>
                  <a:lnTo>
                    <a:pt x="2298" y="3830617"/>
                  </a:lnTo>
                  <a:lnTo>
                    <a:pt x="9001" y="3830617"/>
                  </a:lnTo>
                  <a:lnTo>
                    <a:pt x="9001" y="3828268"/>
                  </a:lnTo>
                  <a:lnTo>
                    <a:pt x="11299" y="3825919"/>
                  </a:lnTo>
                  <a:lnTo>
                    <a:pt x="11299" y="3798590"/>
                  </a:lnTo>
                  <a:lnTo>
                    <a:pt x="9001" y="3796222"/>
                  </a:lnTo>
                  <a:lnTo>
                    <a:pt x="9001" y="3793873"/>
                  </a:lnTo>
                  <a:close/>
                </a:path>
                <a:path w="11429" h="4246245">
                  <a:moveTo>
                    <a:pt x="7086" y="3754760"/>
                  </a:moveTo>
                  <a:lnTo>
                    <a:pt x="4596" y="3754760"/>
                  </a:lnTo>
                  <a:lnTo>
                    <a:pt x="0" y="3759477"/>
                  </a:lnTo>
                  <a:lnTo>
                    <a:pt x="2298" y="3761826"/>
                  </a:lnTo>
                  <a:lnTo>
                    <a:pt x="2298" y="3763717"/>
                  </a:lnTo>
                  <a:lnTo>
                    <a:pt x="9001" y="3763717"/>
                  </a:lnTo>
                  <a:lnTo>
                    <a:pt x="9001" y="3761826"/>
                  </a:lnTo>
                  <a:lnTo>
                    <a:pt x="11299" y="3759477"/>
                  </a:lnTo>
                  <a:lnTo>
                    <a:pt x="9001" y="3757128"/>
                  </a:lnTo>
                  <a:lnTo>
                    <a:pt x="7086" y="3754760"/>
                  </a:lnTo>
                  <a:close/>
                </a:path>
                <a:path w="11429" h="4246245">
                  <a:moveTo>
                    <a:pt x="9001" y="3687861"/>
                  </a:moveTo>
                  <a:lnTo>
                    <a:pt x="2298" y="3687861"/>
                  </a:lnTo>
                  <a:lnTo>
                    <a:pt x="2298" y="3690210"/>
                  </a:lnTo>
                  <a:lnTo>
                    <a:pt x="0" y="3692559"/>
                  </a:lnTo>
                  <a:lnTo>
                    <a:pt x="0" y="3720365"/>
                  </a:lnTo>
                  <a:lnTo>
                    <a:pt x="2298" y="3722714"/>
                  </a:lnTo>
                  <a:lnTo>
                    <a:pt x="2298" y="3725082"/>
                  </a:lnTo>
                  <a:lnTo>
                    <a:pt x="9001" y="3725082"/>
                  </a:lnTo>
                  <a:lnTo>
                    <a:pt x="9001" y="3722714"/>
                  </a:lnTo>
                  <a:lnTo>
                    <a:pt x="11299" y="3720365"/>
                  </a:lnTo>
                  <a:lnTo>
                    <a:pt x="11299" y="3692559"/>
                  </a:lnTo>
                  <a:lnTo>
                    <a:pt x="9001" y="3690210"/>
                  </a:lnTo>
                  <a:lnTo>
                    <a:pt x="9001" y="3687861"/>
                  </a:lnTo>
                  <a:close/>
                </a:path>
                <a:path w="11429" h="4246245">
                  <a:moveTo>
                    <a:pt x="7086" y="3649226"/>
                  </a:moveTo>
                  <a:lnTo>
                    <a:pt x="4596" y="3649226"/>
                  </a:lnTo>
                  <a:lnTo>
                    <a:pt x="2298" y="3651097"/>
                  </a:lnTo>
                  <a:lnTo>
                    <a:pt x="0" y="3653466"/>
                  </a:lnTo>
                  <a:lnTo>
                    <a:pt x="2298" y="3655815"/>
                  </a:lnTo>
                  <a:lnTo>
                    <a:pt x="2298" y="3658164"/>
                  </a:lnTo>
                  <a:lnTo>
                    <a:pt x="9001" y="3658164"/>
                  </a:lnTo>
                  <a:lnTo>
                    <a:pt x="9001" y="3655815"/>
                  </a:lnTo>
                  <a:lnTo>
                    <a:pt x="11299" y="3653466"/>
                  </a:lnTo>
                  <a:lnTo>
                    <a:pt x="9001" y="3651097"/>
                  </a:lnTo>
                  <a:lnTo>
                    <a:pt x="7086" y="3649226"/>
                  </a:lnTo>
                  <a:close/>
                </a:path>
                <a:path w="11429" h="4246245">
                  <a:moveTo>
                    <a:pt x="7086" y="3619070"/>
                  </a:moveTo>
                  <a:lnTo>
                    <a:pt x="4596" y="3619070"/>
                  </a:lnTo>
                  <a:lnTo>
                    <a:pt x="7086" y="3621419"/>
                  </a:lnTo>
                  <a:lnTo>
                    <a:pt x="7086" y="3619070"/>
                  </a:lnTo>
                  <a:close/>
                </a:path>
                <a:path w="11429" h="4246245">
                  <a:moveTo>
                    <a:pt x="9001" y="3616702"/>
                  </a:moveTo>
                  <a:lnTo>
                    <a:pt x="2298" y="3616702"/>
                  </a:lnTo>
                  <a:lnTo>
                    <a:pt x="2298" y="3619070"/>
                  </a:lnTo>
                  <a:lnTo>
                    <a:pt x="9001" y="3619070"/>
                  </a:lnTo>
                  <a:lnTo>
                    <a:pt x="9001" y="3616702"/>
                  </a:lnTo>
                  <a:close/>
                </a:path>
                <a:path w="11429" h="4246245">
                  <a:moveTo>
                    <a:pt x="7086" y="3582307"/>
                  </a:moveTo>
                  <a:lnTo>
                    <a:pt x="4596" y="3582307"/>
                  </a:lnTo>
                  <a:lnTo>
                    <a:pt x="0" y="3587024"/>
                  </a:lnTo>
                  <a:lnTo>
                    <a:pt x="0" y="3616702"/>
                  </a:lnTo>
                  <a:lnTo>
                    <a:pt x="11299" y="3616702"/>
                  </a:lnTo>
                  <a:lnTo>
                    <a:pt x="11299" y="3587024"/>
                  </a:lnTo>
                  <a:lnTo>
                    <a:pt x="9001" y="3584675"/>
                  </a:lnTo>
                  <a:lnTo>
                    <a:pt x="7086" y="3582307"/>
                  </a:lnTo>
                  <a:close/>
                </a:path>
                <a:path w="11429" h="4246245">
                  <a:moveTo>
                    <a:pt x="11299" y="3547912"/>
                  </a:moveTo>
                  <a:lnTo>
                    <a:pt x="0" y="3547912"/>
                  </a:lnTo>
                  <a:lnTo>
                    <a:pt x="2298" y="3550280"/>
                  </a:lnTo>
                  <a:lnTo>
                    <a:pt x="2298" y="3552629"/>
                  </a:lnTo>
                  <a:lnTo>
                    <a:pt x="9001" y="3552629"/>
                  </a:lnTo>
                  <a:lnTo>
                    <a:pt x="9001" y="3550280"/>
                  </a:lnTo>
                  <a:lnTo>
                    <a:pt x="11299" y="3547912"/>
                  </a:lnTo>
                  <a:close/>
                </a:path>
                <a:path w="11429" h="4246245">
                  <a:moveTo>
                    <a:pt x="7086" y="3543195"/>
                  </a:moveTo>
                  <a:lnTo>
                    <a:pt x="4596" y="3543195"/>
                  </a:lnTo>
                  <a:lnTo>
                    <a:pt x="2298" y="3545563"/>
                  </a:lnTo>
                  <a:lnTo>
                    <a:pt x="2298" y="3547912"/>
                  </a:lnTo>
                  <a:lnTo>
                    <a:pt x="9001" y="3547912"/>
                  </a:lnTo>
                  <a:lnTo>
                    <a:pt x="9001" y="3545563"/>
                  </a:lnTo>
                  <a:lnTo>
                    <a:pt x="7086" y="3543195"/>
                  </a:lnTo>
                  <a:close/>
                </a:path>
                <a:path w="11429" h="4246245">
                  <a:moveTo>
                    <a:pt x="7086" y="3476773"/>
                  </a:moveTo>
                  <a:lnTo>
                    <a:pt x="4596" y="3476773"/>
                  </a:lnTo>
                  <a:lnTo>
                    <a:pt x="0" y="3481471"/>
                  </a:lnTo>
                  <a:lnTo>
                    <a:pt x="0" y="3511168"/>
                  </a:lnTo>
                  <a:lnTo>
                    <a:pt x="4596" y="3515885"/>
                  </a:lnTo>
                  <a:lnTo>
                    <a:pt x="7086" y="3515885"/>
                  </a:lnTo>
                  <a:lnTo>
                    <a:pt x="9001" y="3513517"/>
                  </a:lnTo>
                  <a:lnTo>
                    <a:pt x="11299" y="3511168"/>
                  </a:lnTo>
                  <a:lnTo>
                    <a:pt x="11299" y="3481471"/>
                  </a:lnTo>
                  <a:lnTo>
                    <a:pt x="9001" y="3479122"/>
                  </a:lnTo>
                  <a:lnTo>
                    <a:pt x="7086" y="3476773"/>
                  </a:lnTo>
                  <a:close/>
                </a:path>
                <a:path w="11429" h="4246245">
                  <a:moveTo>
                    <a:pt x="7086" y="3446617"/>
                  </a:moveTo>
                  <a:lnTo>
                    <a:pt x="4596" y="3446617"/>
                  </a:lnTo>
                  <a:lnTo>
                    <a:pt x="7086" y="3448966"/>
                  </a:lnTo>
                  <a:lnTo>
                    <a:pt x="7086" y="3446617"/>
                  </a:lnTo>
                  <a:close/>
                </a:path>
                <a:path w="11429" h="4246245">
                  <a:moveTo>
                    <a:pt x="9001" y="3444727"/>
                  </a:moveTo>
                  <a:lnTo>
                    <a:pt x="2298" y="3444727"/>
                  </a:lnTo>
                  <a:lnTo>
                    <a:pt x="2298" y="3446617"/>
                  </a:lnTo>
                  <a:lnTo>
                    <a:pt x="9001" y="3446617"/>
                  </a:lnTo>
                  <a:lnTo>
                    <a:pt x="9001" y="3444727"/>
                  </a:lnTo>
                  <a:close/>
                </a:path>
                <a:path w="11429" h="4246245">
                  <a:moveTo>
                    <a:pt x="9001" y="3440009"/>
                  </a:moveTo>
                  <a:lnTo>
                    <a:pt x="2298" y="3440009"/>
                  </a:lnTo>
                  <a:lnTo>
                    <a:pt x="2298" y="3442378"/>
                  </a:lnTo>
                  <a:lnTo>
                    <a:pt x="0" y="3444727"/>
                  </a:lnTo>
                  <a:lnTo>
                    <a:pt x="11299" y="3444727"/>
                  </a:lnTo>
                  <a:lnTo>
                    <a:pt x="9001" y="3442378"/>
                  </a:lnTo>
                  <a:lnTo>
                    <a:pt x="9001" y="3440009"/>
                  </a:lnTo>
                  <a:close/>
                </a:path>
                <a:path w="11429" h="4246245">
                  <a:moveTo>
                    <a:pt x="7086" y="3437660"/>
                  </a:moveTo>
                  <a:lnTo>
                    <a:pt x="4596" y="3440009"/>
                  </a:lnTo>
                  <a:lnTo>
                    <a:pt x="7086" y="3440009"/>
                  </a:lnTo>
                  <a:lnTo>
                    <a:pt x="7086" y="3437660"/>
                  </a:lnTo>
                  <a:close/>
                </a:path>
                <a:path w="11429" h="4246245">
                  <a:moveTo>
                    <a:pt x="11299" y="3375459"/>
                  </a:moveTo>
                  <a:lnTo>
                    <a:pt x="0" y="3375459"/>
                  </a:lnTo>
                  <a:lnTo>
                    <a:pt x="0" y="3405614"/>
                  </a:lnTo>
                  <a:lnTo>
                    <a:pt x="2298" y="3407505"/>
                  </a:lnTo>
                  <a:lnTo>
                    <a:pt x="4596" y="3409854"/>
                  </a:lnTo>
                  <a:lnTo>
                    <a:pt x="7086" y="3409854"/>
                  </a:lnTo>
                  <a:lnTo>
                    <a:pt x="9001" y="3407505"/>
                  </a:lnTo>
                  <a:lnTo>
                    <a:pt x="11299" y="3405614"/>
                  </a:lnTo>
                  <a:lnTo>
                    <a:pt x="11299" y="3375459"/>
                  </a:lnTo>
                  <a:close/>
                </a:path>
                <a:path w="11429" h="4246245">
                  <a:moveTo>
                    <a:pt x="7086" y="3370761"/>
                  </a:moveTo>
                  <a:lnTo>
                    <a:pt x="4596" y="3370761"/>
                  </a:lnTo>
                  <a:lnTo>
                    <a:pt x="2298" y="3373110"/>
                  </a:lnTo>
                  <a:lnTo>
                    <a:pt x="2298" y="3375459"/>
                  </a:lnTo>
                  <a:lnTo>
                    <a:pt x="9001" y="3375459"/>
                  </a:lnTo>
                  <a:lnTo>
                    <a:pt x="9001" y="3373110"/>
                  </a:lnTo>
                  <a:lnTo>
                    <a:pt x="7086" y="3370761"/>
                  </a:lnTo>
                  <a:close/>
                </a:path>
                <a:path w="11429" h="4246245">
                  <a:moveTo>
                    <a:pt x="9001" y="3333998"/>
                  </a:moveTo>
                  <a:lnTo>
                    <a:pt x="2298" y="3333998"/>
                  </a:lnTo>
                  <a:lnTo>
                    <a:pt x="2298" y="3336366"/>
                  </a:lnTo>
                  <a:lnTo>
                    <a:pt x="0" y="3338715"/>
                  </a:lnTo>
                  <a:lnTo>
                    <a:pt x="4596" y="3343432"/>
                  </a:lnTo>
                  <a:lnTo>
                    <a:pt x="7086" y="3343432"/>
                  </a:lnTo>
                  <a:lnTo>
                    <a:pt x="9001" y="3341064"/>
                  </a:lnTo>
                  <a:lnTo>
                    <a:pt x="11299" y="3338715"/>
                  </a:lnTo>
                  <a:lnTo>
                    <a:pt x="9001" y="3336366"/>
                  </a:lnTo>
                  <a:lnTo>
                    <a:pt x="9001" y="3333998"/>
                  </a:lnTo>
                  <a:close/>
                </a:path>
                <a:path w="11429" h="4246245">
                  <a:moveTo>
                    <a:pt x="9001" y="3267556"/>
                  </a:moveTo>
                  <a:lnTo>
                    <a:pt x="2298" y="3267556"/>
                  </a:lnTo>
                  <a:lnTo>
                    <a:pt x="2298" y="3269924"/>
                  </a:lnTo>
                  <a:lnTo>
                    <a:pt x="0" y="3272273"/>
                  </a:lnTo>
                  <a:lnTo>
                    <a:pt x="0" y="3299602"/>
                  </a:lnTo>
                  <a:lnTo>
                    <a:pt x="4596" y="3304320"/>
                  </a:lnTo>
                  <a:lnTo>
                    <a:pt x="7086" y="3304320"/>
                  </a:lnTo>
                  <a:lnTo>
                    <a:pt x="9001" y="3301951"/>
                  </a:lnTo>
                  <a:lnTo>
                    <a:pt x="11299" y="3299602"/>
                  </a:lnTo>
                  <a:lnTo>
                    <a:pt x="11299" y="3272273"/>
                  </a:lnTo>
                  <a:lnTo>
                    <a:pt x="9001" y="3269924"/>
                  </a:lnTo>
                  <a:lnTo>
                    <a:pt x="9001" y="3267556"/>
                  </a:lnTo>
                  <a:close/>
                </a:path>
                <a:path w="11429" h="4246245">
                  <a:moveTo>
                    <a:pt x="7086" y="3265207"/>
                  </a:moveTo>
                  <a:lnTo>
                    <a:pt x="4596" y="3267556"/>
                  </a:lnTo>
                  <a:lnTo>
                    <a:pt x="7086" y="3267556"/>
                  </a:lnTo>
                  <a:lnTo>
                    <a:pt x="7086" y="3265207"/>
                  </a:lnTo>
                  <a:close/>
                </a:path>
                <a:path w="11429" h="4246245">
                  <a:moveTo>
                    <a:pt x="9001" y="3228463"/>
                  </a:moveTo>
                  <a:lnTo>
                    <a:pt x="2298" y="3228463"/>
                  </a:lnTo>
                  <a:lnTo>
                    <a:pt x="2298" y="3230812"/>
                  </a:lnTo>
                  <a:lnTo>
                    <a:pt x="0" y="3233161"/>
                  </a:lnTo>
                  <a:lnTo>
                    <a:pt x="4596" y="3237878"/>
                  </a:lnTo>
                  <a:lnTo>
                    <a:pt x="7086" y="3237878"/>
                  </a:lnTo>
                  <a:lnTo>
                    <a:pt x="9001" y="3235529"/>
                  </a:lnTo>
                  <a:lnTo>
                    <a:pt x="11299" y="3233161"/>
                  </a:lnTo>
                  <a:lnTo>
                    <a:pt x="9001" y="3230812"/>
                  </a:lnTo>
                  <a:lnTo>
                    <a:pt x="9001" y="3228463"/>
                  </a:lnTo>
                  <a:close/>
                </a:path>
                <a:path w="11429" h="4246245">
                  <a:moveTo>
                    <a:pt x="9001" y="3162022"/>
                  </a:moveTo>
                  <a:lnTo>
                    <a:pt x="2298" y="3162022"/>
                  </a:lnTo>
                  <a:lnTo>
                    <a:pt x="2298" y="3163913"/>
                  </a:lnTo>
                  <a:lnTo>
                    <a:pt x="0" y="3166262"/>
                  </a:lnTo>
                  <a:lnTo>
                    <a:pt x="0" y="3194068"/>
                  </a:lnTo>
                  <a:lnTo>
                    <a:pt x="2298" y="3196417"/>
                  </a:lnTo>
                  <a:lnTo>
                    <a:pt x="2298" y="3198766"/>
                  </a:lnTo>
                  <a:lnTo>
                    <a:pt x="9001" y="3198766"/>
                  </a:lnTo>
                  <a:lnTo>
                    <a:pt x="9001" y="3196417"/>
                  </a:lnTo>
                  <a:lnTo>
                    <a:pt x="11299" y="3194068"/>
                  </a:lnTo>
                  <a:lnTo>
                    <a:pt x="11299" y="3166262"/>
                  </a:lnTo>
                  <a:lnTo>
                    <a:pt x="9001" y="3163913"/>
                  </a:lnTo>
                  <a:lnTo>
                    <a:pt x="9001" y="3162022"/>
                  </a:lnTo>
                  <a:close/>
                </a:path>
                <a:path w="11429" h="4246245">
                  <a:moveTo>
                    <a:pt x="7086" y="3122910"/>
                  </a:moveTo>
                  <a:lnTo>
                    <a:pt x="4596" y="3122910"/>
                  </a:lnTo>
                  <a:lnTo>
                    <a:pt x="2298" y="3125259"/>
                  </a:lnTo>
                  <a:lnTo>
                    <a:pt x="0" y="3127149"/>
                  </a:lnTo>
                  <a:lnTo>
                    <a:pt x="4596" y="3131866"/>
                  </a:lnTo>
                  <a:lnTo>
                    <a:pt x="7086" y="3131866"/>
                  </a:lnTo>
                  <a:lnTo>
                    <a:pt x="9001" y="3129517"/>
                  </a:lnTo>
                  <a:lnTo>
                    <a:pt x="11299" y="3127149"/>
                  </a:lnTo>
                  <a:lnTo>
                    <a:pt x="9001" y="3125259"/>
                  </a:lnTo>
                  <a:lnTo>
                    <a:pt x="7086" y="3122910"/>
                  </a:lnTo>
                  <a:close/>
                </a:path>
                <a:path w="11429" h="4246245">
                  <a:moveTo>
                    <a:pt x="9001" y="3056010"/>
                  </a:moveTo>
                  <a:lnTo>
                    <a:pt x="2298" y="3056010"/>
                  </a:lnTo>
                  <a:lnTo>
                    <a:pt x="2298" y="3058359"/>
                  </a:lnTo>
                  <a:lnTo>
                    <a:pt x="0" y="3060708"/>
                  </a:lnTo>
                  <a:lnTo>
                    <a:pt x="0" y="3088514"/>
                  </a:lnTo>
                  <a:lnTo>
                    <a:pt x="2298" y="3090405"/>
                  </a:lnTo>
                  <a:lnTo>
                    <a:pt x="2298" y="3092754"/>
                  </a:lnTo>
                  <a:lnTo>
                    <a:pt x="9001" y="3092754"/>
                  </a:lnTo>
                  <a:lnTo>
                    <a:pt x="9001" y="3090405"/>
                  </a:lnTo>
                  <a:lnTo>
                    <a:pt x="11299" y="3088514"/>
                  </a:lnTo>
                  <a:lnTo>
                    <a:pt x="11299" y="3060708"/>
                  </a:lnTo>
                  <a:lnTo>
                    <a:pt x="9001" y="3058359"/>
                  </a:lnTo>
                  <a:lnTo>
                    <a:pt x="9001" y="3056010"/>
                  </a:lnTo>
                  <a:close/>
                </a:path>
                <a:path w="11429" h="4246245">
                  <a:moveTo>
                    <a:pt x="7086" y="3016898"/>
                  </a:moveTo>
                  <a:lnTo>
                    <a:pt x="4596" y="3016898"/>
                  </a:lnTo>
                  <a:lnTo>
                    <a:pt x="0" y="3021615"/>
                  </a:lnTo>
                  <a:lnTo>
                    <a:pt x="2298" y="3023964"/>
                  </a:lnTo>
                  <a:lnTo>
                    <a:pt x="2298" y="3026313"/>
                  </a:lnTo>
                  <a:lnTo>
                    <a:pt x="9001" y="3026313"/>
                  </a:lnTo>
                  <a:lnTo>
                    <a:pt x="9001" y="3023964"/>
                  </a:lnTo>
                  <a:lnTo>
                    <a:pt x="11299" y="3021615"/>
                  </a:lnTo>
                  <a:lnTo>
                    <a:pt x="9001" y="3019247"/>
                  </a:lnTo>
                  <a:lnTo>
                    <a:pt x="7086" y="3016898"/>
                  </a:lnTo>
                  <a:close/>
                </a:path>
                <a:path w="11429" h="4246245">
                  <a:moveTo>
                    <a:pt x="7086" y="2987220"/>
                  </a:moveTo>
                  <a:lnTo>
                    <a:pt x="4596" y="2987220"/>
                  </a:lnTo>
                  <a:lnTo>
                    <a:pt x="7086" y="2989569"/>
                  </a:lnTo>
                  <a:lnTo>
                    <a:pt x="7086" y="2987220"/>
                  </a:lnTo>
                  <a:close/>
                </a:path>
                <a:path w="11429" h="4246245">
                  <a:moveTo>
                    <a:pt x="9001" y="2984852"/>
                  </a:moveTo>
                  <a:lnTo>
                    <a:pt x="2298" y="2984852"/>
                  </a:lnTo>
                  <a:lnTo>
                    <a:pt x="2298" y="2987220"/>
                  </a:lnTo>
                  <a:lnTo>
                    <a:pt x="9001" y="2987220"/>
                  </a:lnTo>
                  <a:lnTo>
                    <a:pt x="9001" y="2984852"/>
                  </a:lnTo>
                  <a:close/>
                </a:path>
                <a:path w="11429" h="4246245">
                  <a:moveTo>
                    <a:pt x="7086" y="2950456"/>
                  </a:moveTo>
                  <a:lnTo>
                    <a:pt x="4596" y="2950456"/>
                  </a:lnTo>
                  <a:lnTo>
                    <a:pt x="0" y="2955174"/>
                  </a:lnTo>
                  <a:lnTo>
                    <a:pt x="0" y="2984852"/>
                  </a:lnTo>
                  <a:lnTo>
                    <a:pt x="11299" y="2984852"/>
                  </a:lnTo>
                  <a:lnTo>
                    <a:pt x="11299" y="2955174"/>
                  </a:lnTo>
                  <a:lnTo>
                    <a:pt x="9001" y="2952825"/>
                  </a:lnTo>
                  <a:lnTo>
                    <a:pt x="7086" y="2950456"/>
                  </a:lnTo>
                  <a:close/>
                </a:path>
                <a:path w="11429" h="4246245">
                  <a:moveTo>
                    <a:pt x="11299" y="2916061"/>
                  </a:moveTo>
                  <a:lnTo>
                    <a:pt x="0" y="2916061"/>
                  </a:lnTo>
                  <a:lnTo>
                    <a:pt x="2298" y="2918429"/>
                  </a:lnTo>
                  <a:lnTo>
                    <a:pt x="2298" y="2920779"/>
                  </a:lnTo>
                  <a:lnTo>
                    <a:pt x="9001" y="2920779"/>
                  </a:lnTo>
                  <a:lnTo>
                    <a:pt x="9001" y="2918429"/>
                  </a:lnTo>
                  <a:lnTo>
                    <a:pt x="11299" y="2916061"/>
                  </a:lnTo>
                  <a:close/>
                </a:path>
                <a:path w="11429" h="4246245">
                  <a:moveTo>
                    <a:pt x="7086" y="2911344"/>
                  </a:moveTo>
                  <a:lnTo>
                    <a:pt x="4596" y="2911344"/>
                  </a:lnTo>
                  <a:lnTo>
                    <a:pt x="2298" y="2913712"/>
                  </a:lnTo>
                  <a:lnTo>
                    <a:pt x="2298" y="2916061"/>
                  </a:lnTo>
                  <a:lnTo>
                    <a:pt x="9001" y="2916061"/>
                  </a:lnTo>
                  <a:lnTo>
                    <a:pt x="9001" y="2913712"/>
                  </a:lnTo>
                  <a:lnTo>
                    <a:pt x="7086" y="2911344"/>
                  </a:lnTo>
                  <a:close/>
                </a:path>
                <a:path w="11429" h="4246245">
                  <a:moveTo>
                    <a:pt x="9001" y="2879317"/>
                  </a:moveTo>
                  <a:lnTo>
                    <a:pt x="2298" y="2879317"/>
                  </a:lnTo>
                  <a:lnTo>
                    <a:pt x="2298" y="2881666"/>
                  </a:lnTo>
                  <a:lnTo>
                    <a:pt x="4596" y="2883557"/>
                  </a:lnTo>
                  <a:lnTo>
                    <a:pt x="7086" y="2883557"/>
                  </a:lnTo>
                  <a:lnTo>
                    <a:pt x="9001" y="2881666"/>
                  </a:lnTo>
                  <a:lnTo>
                    <a:pt x="9001" y="2879317"/>
                  </a:lnTo>
                  <a:close/>
                </a:path>
                <a:path w="11429" h="4246245">
                  <a:moveTo>
                    <a:pt x="7086" y="2844922"/>
                  </a:moveTo>
                  <a:lnTo>
                    <a:pt x="4596" y="2844922"/>
                  </a:lnTo>
                  <a:lnTo>
                    <a:pt x="2298" y="2846794"/>
                  </a:lnTo>
                  <a:lnTo>
                    <a:pt x="0" y="2849162"/>
                  </a:lnTo>
                  <a:lnTo>
                    <a:pt x="0" y="2879317"/>
                  </a:lnTo>
                  <a:lnTo>
                    <a:pt x="11299" y="2879317"/>
                  </a:lnTo>
                  <a:lnTo>
                    <a:pt x="11299" y="2849162"/>
                  </a:lnTo>
                  <a:lnTo>
                    <a:pt x="9001" y="2846794"/>
                  </a:lnTo>
                  <a:lnTo>
                    <a:pt x="7086" y="2844922"/>
                  </a:lnTo>
                  <a:close/>
                </a:path>
                <a:path w="11429" h="4246245">
                  <a:moveTo>
                    <a:pt x="7086" y="2814767"/>
                  </a:moveTo>
                  <a:lnTo>
                    <a:pt x="4596" y="2814767"/>
                  </a:lnTo>
                  <a:lnTo>
                    <a:pt x="7086" y="2817116"/>
                  </a:lnTo>
                  <a:lnTo>
                    <a:pt x="7086" y="2814767"/>
                  </a:lnTo>
                  <a:close/>
                </a:path>
                <a:path w="11429" h="4246245">
                  <a:moveTo>
                    <a:pt x="9001" y="2812399"/>
                  </a:moveTo>
                  <a:lnTo>
                    <a:pt x="2298" y="2812399"/>
                  </a:lnTo>
                  <a:lnTo>
                    <a:pt x="2298" y="2814767"/>
                  </a:lnTo>
                  <a:lnTo>
                    <a:pt x="9001" y="2814767"/>
                  </a:lnTo>
                  <a:lnTo>
                    <a:pt x="9001" y="2812399"/>
                  </a:lnTo>
                  <a:close/>
                </a:path>
                <a:path w="11429" h="4246245">
                  <a:moveTo>
                    <a:pt x="11299" y="2810049"/>
                  </a:moveTo>
                  <a:lnTo>
                    <a:pt x="0" y="2810049"/>
                  </a:lnTo>
                  <a:lnTo>
                    <a:pt x="0" y="2812399"/>
                  </a:lnTo>
                  <a:lnTo>
                    <a:pt x="11299" y="2812399"/>
                  </a:lnTo>
                  <a:lnTo>
                    <a:pt x="11299" y="2810049"/>
                  </a:lnTo>
                  <a:close/>
                </a:path>
                <a:path w="11429" h="4246245">
                  <a:moveTo>
                    <a:pt x="9001" y="2808159"/>
                  </a:moveTo>
                  <a:lnTo>
                    <a:pt x="2298" y="2808159"/>
                  </a:lnTo>
                  <a:lnTo>
                    <a:pt x="2298" y="2810049"/>
                  </a:lnTo>
                  <a:lnTo>
                    <a:pt x="9001" y="2810049"/>
                  </a:lnTo>
                  <a:lnTo>
                    <a:pt x="9001" y="2808159"/>
                  </a:lnTo>
                  <a:close/>
                </a:path>
                <a:path w="11429" h="4246245">
                  <a:moveTo>
                    <a:pt x="7086" y="2805810"/>
                  </a:moveTo>
                  <a:lnTo>
                    <a:pt x="4596" y="2808159"/>
                  </a:lnTo>
                  <a:lnTo>
                    <a:pt x="7086" y="2808159"/>
                  </a:lnTo>
                  <a:lnTo>
                    <a:pt x="7086" y="2805810"/>
                  </a:lnTo>
                  <a:close/>
                </a:path>
                <a:path w="11429" h="4246245">
                  <a:moveTo>
                    <a:pt x="11299" y="2743608"/>
                  </a:moveTo>
                  <a:lnTo>
                    <a:pt x="0" y="2743608"/>
                  </a:lnTo>
                  <a:lnTo>
                    <a:pt x="0" y="2773305"/>
                  </a:lnTo>
                  <a:lnTo>
                    <a:pt x="4596" y="2778003"/>
                  </a:lnTo>
                  <a:lnTo>
                    <a:pt x="7086" y="2778003"/>
                  </a:lnTo>
                  <a:lnTo>
                    <a:pt x="9001" y="2775654"/>
                  </a:lnTo>
                  <a:lnTo>
                    <a:pt x="11299" y="2773305"/>
                  </a:lnTo>
                  <a:lnTo>
                    <a:pt x="11299" y="2743608"/>
                  </a:lnTo>
                  <a:close/>
                </a:path>
                <a:path w="11429" h="4246245">
                  <a:moveTo>
                    <a:pt x="7086" y="2738910"/>
                  </a:moveTo>
                  <a:lnTo>
                    <a:pt x="4596" y="2738910"/>
                  </a:lnTo>
                  <a:lnTo>
                    <a:pt x="2298" y="2741259"/>
                  </a:lnTo>
                  <a:lnTo>
                    <a:pt x="2298" y="2743608"/>
                  </a:lnTo>
                  <a:lnTo>
                    <a:pt x="9001" y="2743608"/>
                  </a:lnTo>
                  <a:lnTo>
                    <a:pt x="9001" y="2741259"/>
                  </a:lnTo>
                  <a:lnTo>
                    <a:pt x="7086" y="2738910"/>
                  </a:lnTo>
                  <a:close/>
                </a:path>
                <a:path w="11429" h="4246245">
                  <a:moveTo>
                    <a:pt x="9001" y="2706864"/>
                  </a:moveTo>
                  <a:lnTo>
                    <a:pt x="2298" y="2706864"/>
                  </a:lnTo>
                  <a:lnTo>
                    <a:pt x="2298" y="2709213"/>
                  </a:lnTo>
                  <a:lnTo>
                    <a:pt x="4596" y="2711581"/>
                  </a:lnTo>
                  <a:lnTo>
                    <a:pt x="7086" y="2711581"/>
                  </a:lnTo>
                  <a:lnTo>
                    <a:pt x="9001" y="2709213"/>
                  </a:lnTo>
                  <a:lnTo>
                    <a:pt x="9001" y="2706864"/>
                  </a:lnTo>
                  <a:close/>
                </a:path>
                <a:path w="11429" h="4246245">
                  <a:moveTo>
                    <a:pt x="9001" y="2702147"/>
                  </a:moveTo>
                  <a:lnTo>
                    <a:pt x="2298" y="2702147"/>
                  </a:lnTo>
                  <a:lnTo>
                    <a:pt x="2298" y="2704496"/>
                  </a:lnTo>
                  <a:lnTo>
                    <a:pt x="0" y="2706864"/>
                  </a:lnTo>
                  <a:lnTo>
                    <a:pt x="11299" y="2706864"/>
                  </a:lnTo>
                  <a:lnTo>
                    <a:pt x="9001" y="2704496"/>
                  </a:lnTo>
                  <a:lnTo>
                    <a:pt x="9001" y="2702147"/>
                  </a:lnTo>
                  <a:close/>
                </a:path>
                <a:path w="11429" h="4246245">
                  <a:moveTo>
                    <a:pt x="11299" y="2638074"/>
                  </a:moveTo>
                  <a:lnTo>
                    <a:pt x="0" y="2638074"/>
                  </a:lnTo>
                  <a:lnTo>
                    <a:pt x="0" y="2667752"/>
                  </a:lnTo>
                  <a:lnTo>
                    <a:pt x="4596" y="2672469"/>
                  </a:lnTo>
                  <a:lnTo>
                    <a:pt x="7086" y="2672469"/>
                  </a:lnTo>
                  <a:lnTo>
                    <a:pt x="9001" y="2670101"/>
                  </a:lnTo>
                  <a:lnTo>
                    <a:pt x="11299" y="2667752"/>
                  </a:lnTo>
                  <a:lnTo>
                    <a:pt x="11299" y="2638074"/>
                  </a:lnTo>
                  <a:close/>
                </a:path>
                <a:path w="11429" h="4246245">
                  <a:moveTo>
                    <a:pt x="9001" y="2635706"/>
                  </a:moveTo>
                  <a:lnTo>
                    <a:pt x="2298" y="2635706"/>
                  </a:lnTo>
                  <a:lnTo>
                    <a:pt x="2298" y="2638074"/>
                  </a:lnTo>
                  <a:lnTo>
                    <a:pt x="9001" y="2638074"/>
                  </a:lnTo>
                  <a:lnTo>
                    <a:pt x="9001" y="2635706"/>
                  </a:lnTo>
                  <a:close/>
                </a:path>
                <a:path w="11429" h="4246245">
                  <a:moveTo>
                    <a:pt x="7086" y="2633357"/>
                  </a:moveTo>
                  <a:lnTo>
                    <a:pt x="4596" y="2635706"/>
                  </a:lnTo>
                  <a:lnTo>
                    <a:pt x="7086" y="2635706"/>
                  </a:lnTo>
                  <a:lnTo>
                    <a:pt x="7086" y="2633357"/>
                  </a:lnTo>
                  <a:close/>
                </a:path>
                <a:path w="11429" h="4246245">
                  <a:moveTo>
                    <a:pt x="9001" y="2596612"/>
                  </a:moveTo>
                  <a:lnTo>
                    <a:pt x="2298" y="2596612"/>
                  </a:lnTo>
                  <a:lnTo>
                    <a:pt x="2298" y="2598962"/>
                  </a:lnTo>
                  <a:lnTo>
                    <a:pt x="0" y="2601311"/>
                  </a:lnTo>
                  <a:lnTo>
                    <a:pt x="2298" y="2603201"/>
                  </a:lnTo>
                  <a:lnTo>
                    <a:pt x="4596" y="2605550"/>
                  </a:lnTo>
                  <a:lnTo>
                    <a:pt x="7086" y="2605550"/>
                  </a:lnTo>
                  <a:lnTo>
                    <a:pt x="9001" y="2603201"/>
                  </a:lnTo>
                  <a:lnTo>
                    <a:pt x="11299" y="2601311"/>
                  </a:lnTo>
                  <a:lnTo>
                    <a:pt x="9001" y="2598962"/>
                  </a:lnTo>
                  <a:lnTo>
                    <a:pt x="9001" y="2596612"/>
                  </a:lnTo>
                  <a:close/>
                </a:path>
                <a:path w="11429" h="4246245">
                  <a:moveTo>
                    <a:pt x="9001" y="2529694"/>
                  </a:moveTo>
                  <a:lnTo>
                    <a:pt x="2298" y="2529694"/>
                  </a:lnTo>
                  <a:lnTo>
                    <a:pt x="2298" y="2532062"/>
                  </a:lnTo>
                  <a:lnTo>
                    <a:pt x="0" y="2534411"/>
                  </a:lnTo>
                  <a:lnTo>
                    <a:pt x="0" y="2562217"/>
                  </a:lnTo>
                  <a:lnTo>
                    <a:pt x="2298" y="2564566"/>
                  </a:lnTo>
                  <a:lnTo>
                    <a:pt x="2298" y="2566457"/>
                  </a:lnTo>
                  <a:lnTo>
                    <a:pt x="9001" y="2566457"/>
                  </a:lnTo>
                  <a:lnTo>
                    <a:pt x="9001" y="2564566"/>
                  </a:lnTo>
                  <a:lnTo>
                    <a:pt x="11299" y="2562217"/>
                  </a:lnTo>
                  <a:lnTo>
                    <a:pt x="11299" y="2534411"/>
                  </a:lnTo>
                  <a:lnTo>
                    <a:pt x="9001" y="2532062"/>
                  </a:lnTo>
                  <a:lnTo>
                    <a:pt x="9001" y="2529694"/>
                  </a:lnTo>
                  <a:close/>
                </a:path>
                <a:path w="11429" h="4246245">
                  <a:moveTo>
                    <a:pt x="7086" y="2490582"/>
                  </a:moveTo>
                  <a:lnTo>
                    <a:pt x="4596" y="2490582"/>
                  </a:lnTo>
                  <a:lnTo>
                    <a:pt x="0" y="2495299"/>
                  </a:lnTo>
                  <a:lnTo>
                    <a:pt x="4596" y="2500016"/>
                  </a:lnTo>
                  <a:lnTo>
                    <a:pt x="7086" y="2500016"/>
                  </a:lnTo>
                  <a:lnTo>
                    <a:pt x="9001" y="2497667"/>
                  </a:lnTo>
                  <a:lnTo>
                    <a:pt x="11299" y="2495299"/>
                  </a:lnTo>
                  <a:lnTo>
                    <a:pt x="9001" y="2492950"/>
                  </a:lnTo>
                  <a:lnTo>
                    <a:pt x="7086" y="2490582"/>
                  </a:lnTo>
                  <a:close/>
                </a:path>
                <a:path w="11429" h="4246245">
                  <a:moveTo>
                    <a:pt x="9001" y="2424159"/>
                  </a:moveTo>
                  <a:lnTo>
                    <a:pt x="2298" y="2424159"/>
                  </a:lnTo>
                  <a:lnTo>
                    <a:pt x="2298" y="2426508"/>
                  </a:lnTo>
                  <a:lnTo>
                    <a:pt x="0" y="2428857"/>
                  </a:lnTo>
                  <a:lnTo>
                    <a:pt x="0" y="2456186"/>
                  </a:lnTo>
                  <a:lnTo>
                    <a:pt x="2298" y="2458555"/>
                  </a:lnTo>
                  <a:lnTo>
                    <a:pt x="2298" y="2460904"/>
                  </a:lnTo>
                  <a:lnTo>
                    <a:pt x="9001" y="2460904"/>
                  </a:lnTo>
                  <a:lnTo>
                    <a:pt x="9001" y="2458555"/>
                  </a:lnTo>
                  <a:lnTo>
                    <a:pt x="11299" y="2456186"/>
                  </a:lnTo>
                  <a:lnTo>
                    <a:pt x="11299" y="2428857"/>
                  </a:lnTo>
                  <a:lnTo>
                    <a:pt x="9001" y="2426508"/>
                  </a:lnTo>
                  <a:lnTo>
                    <a:pt x="9001" y="2424159"/>
                  </a:lnTo>
                  <a:close/>
                </a:path>
                <a:path w="11429" h="4246245">
                  <a:moveTo>
                    <a:pt x="7086" y="2385047"/>
                  </a:moveTo>
                  <a:lnTo>
                    <a:pt x="4596" y="2385047"/>
                  </a:lnTo>
                  <a:lnTo>
                    <a:pt x="0" y="2389764"/>
                  </a:lnTo>
                  <a:lnTo>
                    <a:pt x="2298" y="2392113"/>
                  </a:lnTo>
                  <a:lnTo>
                    <a:pt x="2298" y="2394462"/>
                  </a:lnTo>
                  <a:lnTo>
                    <a:pt x="9001" y="2394462"/>
                  </a:lnTo>
                  <a:lnTo>
                    <a:pt x="9001" y="2392113"/>
                  </a:lnTo>
                  <a:lnTo>
                    <a:pt x="11299" y="2389764"/>
                  </a:lnTo>
                  <a:lnTo>
                    <a:pt x="9001" y="2387396"/>
                  </a:lnTo>
                  <a:lnTo>
                    <a:pt x="7086" y="2385047"/>
                  </a:lnTo>
                  <a:close/>
                </a:path>
                <a:path w="11429" h="4246245">
                  <a:moveTo>
                    <a:pt x="7086" y="2355369"/>
                  </a:moveTo>
                  <a:lnTo>
                    <a:pt x="4596" y="2355369"/>
                  </a:lnTo>
                  <a:lnTo>
                    <a:pt x="7086" y="2357718"/>
                  </a:lnTo>
                  <a:lnTo>
                    <a:pt x="7086" y="2355369"/>
                  </a:lnTo>
                  <a:close/>
                </a:path>
                <a:path w="11429" h="4246245">
                  <a:moveTo>
                    <a:pt x="7086" y="2318663"/>
                  </a:moveTo>
                  <a:lnTo>
                    <a:pt x="4596" y="2318663"/>
                  </a:lnTo>
                  <a:lnTo>
                    <a:pt x="2298" y="2320955"/>
                  </a:lnTo>
                  <a:lnTo>
                    <a:pt x="0" y="2322865"/>
                  </a:lnTo>
                  <a:lnTo>
                    <a:pt x="0" y="2350652"/>
                  </a:lnTo>
                  <a:lnTo>
                    <a:pt x="2298" y="2353001"/>
                  </a:lnTo>
                  <a:lnTo>
                    <a:pt x="2298" y="2355369"/>
                  </a:lnTo>
                  <a:lnTo>
                    <a:pt x="9001" y="2355369"/>
                  </a:lnTo>
                  <a:lnTo>
                    <a:pt x="9001" y="2353001"/>
                  </a:lnTo>
                  <a:lnTo>
                    <a:pt x="11299" y="2350652"/>
                  </a:lnTo>
                  <a:lnTo>
                    <a:pt x="11299" y="2322865"/>
                  </a:lnTo>
                  <a:lnTo>
                    <a:pt x="9001" y="2320955"/>
                  </a:lnTo>
                  <a:lnTo>
                    <a:pt x="7086" y="2318663"/>
                  </a:lnTo>
                  <a:close/>
                </a:path>
                <a:path w="11429" h="4246245">
                  <a:moveTo>
                    <a:pt x="7086" y="2279513"/>
                  </a:moveTo>
                  <a:lnTo>
                    <a:pt x="4596" y="2279513"/>
                  </a:lnTo>
                  <a:lnTo>
                    <a:pt x="2298" y="2281804"/>
                  </a:lnTo>
                  <a:lnTo>
                    <a:pt x="0" y="2284287"/>
                  </a:lnTo>
                  <a:lnTo>
                    <a:pt x="2298" y="2286006"/>
                  </a:lnTo>
                  <a:lnTo>
                    <a:pt x="2298" y="2288489"/>
                  </a:lnTo>
                  <a:lnTo>
                    <a:pt x="9001" y="2288489"/>
                  </a:lnTo>
                  <a:lnTo>
                    <a:pt x="9001" y="2286006"/>
                  </a:lnTo>
                  <a:lnTo>
                    <a:pt x="11299" y="2284287"/>
                  </a:lnTo>
                  <a:lnTo>
                    <a:pt x="9001" y="2281804"/>
                  </a:lnTo>
                  <a:lnTo>
                    <a:pt x="7086" y="2279513"/>
                  </a:lnTo>
                  <a:close/>
                </a:path>
                <a:path w="11429" h="4246245">
                  <a:moveTo>
                    <a:pt x="9001" y="2247428"/>
                  </a:moveTo>
                  <a:lnTo>
                    <a:pt x="2298" y="2247428"/>
                  </a:lnTo>
                  <a:lnTo>
                    <a:pt x="2298" y="2249338"/>
                  </a:lnTo>
                  <a:lnTo>
                    <a:pt x="4596" y="2251630"/>
                  </a:lnTo>
                  <a:lnTo>
                    <a:pt x="7086" y="2251630"/>
                  </a:lnTo>
                  <a:lnTo>
                    <a:pt x="9001" y="2249338"/>
                  </a:lnTo>
                  <a:lnTo>
                    <a:pt x="9001" y="2247428"/>
                  </a:lnTo>
                  <a:close/>
                </a:path>
                <a:path w="11429" h="4246245">
                  <a:moveTo>
                    <a:pt x="7086" y="2212670"/>
                  </a:moveTo>
                  <a:lnTo>
                    <a:pt x="4596" y="2212670"/>
                  </a:lnTo>
                  <a:lnTo>
                    <a:pt x="0" y="2217254"/>
                  </a:lnTo>
                  <a:lnTo>
                    <a:pt x="0" y="2247428"/>
                  </a:lnTo>
                  <a:lnTo>
                    <a:pt x="11299" y="2247428"/>
                  </a:lnTo>
                  <a:lnTo>
                    <a:pt x="11299" y="2217254"/>
                  </a:lnTo>
                  <a:lnTo>
                    <a:pt x="9001" y="2214962"/>
                  </a:lnTo>
                  <a:lnTo>
                    <a:pt x="7086" y="2212670"/>
                  </a:lnTo>
                  <a:close/>
                </a:path>
                <a:path w="11429" h="4246245">
                  <a:moveTo>
                    <a:pt x="7086" y="2182878"/>
                  </a:moveTo>
                  <a:lnTo>
                    <a:pt x="4596" y="2182878"/>
                  </a:lnTo>
                  <a:lnTo>
                    <a:pt x="7086" y="2185361"/>
                  </a:lnTo>
                  <a:lnTo>
                    <a:pt x="7086" y="2182878"/>
                  </a:lnTo>
                  <a:close/>
                </a:path>
                <a:path w="11429" h="4246245">
                  <a:moveTo>
                    <a:pt x="11299" y="2178103"/>
                  </a:moveTo>
                  <a:lnTo>
                    <a:pt x="0" y="2178103"/>
                  </a:lnTo>
                  <a:lnTo>
                    <a:pt x="2298" y="2180586"/>
                  </a:lnTo>
                  <a:lnTo>
                    <a:pt x="2298" y="2182878"/>
                  </a:lnTo>
                  <a:lnTo>
                    <a:pt x="9001" y="2182878"/>
                  </a:lnTo>
                  <a:lnTo>
                    <a:pt x="9001" y="2180586"/>
                  </a:lnTo>
                  <a:lnTo>
                    <a:pt x="11299" y="2178103"/>
                  </a:lnTo>
                  <a:close/>
                </a:path>
                <a:path w="11429" h="4246245">
                  <a:moveTo>
                    <a:pt x="9001" y="2175812"/>
                  </a:moveTo>
                  <a:lnTo>
                    <a:pt x="2298" y="2175812"/>
                  </a:lnTo>
                  <a:lnTo>
                    <a:pt x="2298" y="2178103"/>
                  </a:lnTo>
                  <a:lnTo>
                    <a:pt x="9001" y="2178103"/>
                  </a:lnTo>
                  <a:lnTo>
                    <a:pt x="9001" y="2175812"/>
                  </a:lnTo>
                  <a:close/>
                </a:path>
                <a:path w="11429" h="4246245">
                  <a:moveTo>
                    <a:pt x="7086" y="2173520"/>
                  </a:moveTo>
                  <a:lnTo>
                    <a:pt x="4596" y="2175812"/>
                  </a:lnTo>
                  <a:lnTo>
                    <a:pt x="7086" y="2175812"/>
                  </a:lnTo>
                  <a:lnTo>
                    <a:pt x="7086" y="2173520"/>
                  </a:lnTo>
                  <a:close/>
                </a:path>
                <a:path w="11429" h="4246245">
                  <a:moveTo>
                    <a:pt x="7086" y="2107060"/>
                  </a:moveTo>
                  <a:lnTo>
                    <a:pt x="4596" y="2107060"/>
                  </a:lnTo>
                  <a:lnTo>
                    <a:pt x="2298" y="2109351"/>
                  </a:lnTo>
                  <a:lnTo>
                    <a:pt x="0" y="2111834"/>
                  </a:lnTo>
                  <a:lnTo>
                    <a:pt x="0" y="2141436"/>
                  </a:lnTo>
                  <a:lnTo>
                    <a:pt x="2298" y="2143727"/>
                  </a:lnTo>
                  <a:lnTo>
                    <a:pt x="4596" y="2146210"/>
                  </a:lnTo>
                  <a:lnTo>
                    <a:pt x="7086" y="2146210"/>
                  </a:lnTo>
                  <a:lnTo>
                    <a:pt x="9001" y="2143727"/>
                  </a:lnTo>
                  <a:lnTo>
                    <a:pt x="11299" y="2141436"/>
                  </a:lnTo>
                  <a:lnTo>
                    <a:pt x="11299" y="2111834"/>
                  </a:lnTo>
                  <a:lnTo>
                    <a:pt x="9001" y="2109351"/>
                  </a:lnTo>
                  <a:lnTo>
                    <a:pt x="7086" y="2107060"/>
                  </a:lnTo>
                  <a:close/>
                </a:path>
                <a:path w="11429" h="4246245">
                  <a:moveTo>
                    <a:pt x="9001" y="2074975"/>
                  </a:moveTo>
                  <a:lnTo>
                    <a:pt x="2298" y="2074975"/>
                  </a:lnTo>
                  <a:lnTo>
                    <a:pt x="2298" y="2077458"/>
                  </a:lnTo>
                  <a:lnTo>
                    <a:pt x="4596" y="2079177"/>
                  </a:lnTo>
                  <a:lnTo>
                    <a:pt x="7086" y="2079177"/>
                  </a:lnTo>
                  <a:lnTo>
                    <a:pt x="9001" y="2077458"/>
                  </a:lnTo>
                  <a:lnTo>
                    <a:pt x="9001" y="2074975"/>
                  </a:lnTo>
                  <a:close/>
                </a:path>
                <a:path w="11429" h="4246245">
                  <a:moveTo>
                    <a:pt x="9001" y="2070392"/>
                  </a:moveTo>
                  <a:lnTo>
                    <a:pt x="2298" y="2070392"/>
                  </a:lnTo>
                  <a:lnTo>
                    <a:pt x="2298" y="2072684"/>
                  </a:lnTo>
                  <a:lnTo>
                    <a:pt x="0" y="2074975"/>
                  </a:lnTo>
                  <a:lnTo>
                    <a:pt x="11299" y="2074975"/>
                  </a:lnTo>
                  <a:lnTo>
                    <a:pt x="9001" y="2072684"/>
                  </a:lnTo>
                  <a:lnTo>
                    <a:pt x="9001" y="2070392"/>
                  </a:lnTo>
                  <a:close/>
                </a:path>
                <a:path w="11429" h="4246245">
                  <a:moveTo>
                    <a:pt x="11299" y="2005841"/>
                  </a:moveTo>
                  <a:lnTo>
                    <a:pt x="0" y="2005841"/>
                  </a:lnTo>
                  <a:lnTo>
                    <a:pt x="0" y="2035825"/>
                  </a:lnTo>
                  <a:lnTo>
                    <a:pt x="2298" y="2038307"/>
                  </a:lnTo>
                  <a:lnTo>
                    <a:pt x="4596" y="2040599"/>
                  </a:lnTo>
                  <a:lnTo>
                    <a:pt x="7086" y="2040599"/>
                  </a:lnTo>
                  <a:lnTo>
                    <a:pt x="9001" y="2038307"/>
                  </a:lnTo>
                  <a:lnTo>
                    <a:pt x="11299" y="2035825"/>
                  </a:lnTo>
                  <a:lnTo>
                    <a:pt x="11299" y="2005841"/>
                  </a:lnTo>
                  <a:close/>
                </a:path>
                <a:path w="11429" h="4246245">
                  <a:moveTo>
                    <a:pt x="9001" y="2003931"/>
                  </a:moveTo>
                  <a:lnTo>
                    <a:pt x="2298" y="2003931"/>
                  </a:lnTo>
                  <a:lnTo>
                    <a:pt x="2298" y="2005841"/>
                  </a:lnTo>
                  <a:lnTo>
                    <a:pt x="9001" y="2005841"/>
                  </a:lnTo>
                  <a:lnTo>
                    <a:pt x="9001" y="2003931"/>
                  </a:lnTo>
                  <a:close/>
                </a:path>
                <a:path w="11429" h="4246245">
                  <a:moveTo>
                    <a:pt x="7086" y="2001449"/>
                  </a:moveTo>
                  <a:lnTo>
                    <a:pt x="4596" y="2003931"/>
                  </a:lnTo>
                  <a:lnTo>
                    <a:pt x="7086" y="2003931"/>
                  </a:lnTo>
                  <a:lnTo>
                    <a:pt x="7086" y="2001449"/>
                  </a:lnTo>
                  <a:close/>
                </a:path>
                <a:path w="11429" h="4246245">
                  <a:moveTo>
                    <a:pt x="9001" y="1964781"/>
                  </a:moveTo>
                  <a:lnTo>
                    <a:pt x="2298" y="1964781"/>
                  </a:lnTo>
                  <a:lnTo>
                    <a:pt x="2298" y="1966691"/>
                  </a:lnTo>
                  <a:lnTo>
                    <a:pt x="0" y="1968982"/>
                  </a:lnTo>
                  <a:lnTo>
                    <a:pt x="2298" y="1971274"/>
                  </a:lnTo>
                  <a:lnTo>
                    <a:pt x="4596" y="1973757"/>
                  </a:lnTo>
                  <a:lnTo>
                    <a:pt x="7086" y="1973757"/>
                  </a:lnTo>
                  <a:lnTo>
                    <a:pt x="9001" y="1971274"/>
                  </a:lnTo>
                  <a:lnTo>
                    <a:pt x="11299" y="1968982"/>
                  </a:lnTo>
                  <a:lnTo>
                    <a:pt x="9001" y="1966691"/>
                  </a:lnTo>
                  <a:lnTo>
                    <a:pt x="9001" y="1964781"/>
                  </a:lnTo>
                  <a:close/>
                </a:path>
                <a:path w="11429" h="4246245">
                  <a:moveTo>
                    <a:pt x="9001" y="1897939"/>
                  </a:moveTo>
                  <a:lnTo>
                    <a:pt x="2298" y="1897939"/>
                  </a:lnTo>
                  <a:lnTo>
                    <a:pt x="2298" y="1900230"/>
                  </a:lnTo>
                  <a:lnTo>
                    <a:pt x="0" y="1902522"/>
                  </a:lnTo>
                  <a:lnTo>
                    <a:pt x="0" y="1929832"/>
                  </a:lnTo>
                  <a:lnTo>
                    <a:pt x="2298" y="1932315"/>
                  </a:lnTo>
                  <a:lnTo>
                    <a:pt x="2298" y="1934606"/>
                  </a:lnTo>
                  <a:lnTo>
                    <a:pt x="9001" y="1934606"/>
                  </a:lnTo>
                  <a:lnTo>
                    <a:pt x="9001" y="1932315"/>
                  </a:lnTo>
                  <a:lnTo>
                    <a:pt x="11299" y="1929832"/>
                  </a:lnTo>
                  <a:lnTo>
                    <a:pt x="11299" y="1902522"/>
                  </a:lnTo>
                  <a:lnTo>
                    <a:pt x="9001" y="1900230"/>
                  </a:lnTo>
                  <a:lnTo>
                    <a:pt x="9001" y="1897939"/>
                  </a:lnTo>
                  <a:close/>
                </a:path>
                <a:path w="11429" h="4246245">
                  <a:moveTo>
                    <a:pt x="9001" y="1858788"/>
                  </a:moveTo>
                  <a:lnTo>
                    <a:pt x="2298" y="1858788"/>
                  </a:lnTo>
                  <a:lnTo>
                    <a:pt x="2298" y="1861080"/>
                  </a:lnTo>
                  <a:lnTo>
                    <a:pt x="0" y="1863372"/>
                  </a:lnTo>
                  <a:lnTo>
                    <a:pt x="2298" y="1865854"/>
                  </a:lnTo>
                  <a:lnTo>
                    <a:pt x="4596" y="1868146"/>
                  </a:lnTo>
                  <a:lnTo>
                    <a:pt x="7086" y="1868146"/>
                  </a:lnTo>
                  <a:lnTo>
                    <a:pt x="9001" y="1865854"/>
                  </a:lnTo>
                  <a:lnTo>
                    <a:pt x="11299" y="1863372"/>
                  </a:lnTo>
                  <a:lnTo>
                    <a:pt x="9001" y="1861080"/>
                  </a:lnTo>
                  <a:lnTo>
                    <a:pt x="9001" y="1858788"/>
                  </a:lnTo>
                  <a:close/>
                </a:path>
                <a:path w="11429" h="4246245">
                  <a:moveTo>
                    <a:pt x="9001" y="1792328"/>
                  </a:moveTo>
                  <a:lnTo>
                    <a:pt x="2298" y="1792328"/>
                  </a:lnTo>
                  <a:lnTo>
                    <a:pt x="2298" y="1794620"/>
                  </a:lnTo>
                  <a:lnTo>
                    <a:pt x="0" y="1797102"/>
                  </a:lnTo>
                  <a:lnTo>
                    <a:pt x="0" y="1824412"/>
                  </a:lnTo>
                  <a:lnTo>
                    <a:pt x="2298" y="1826704"/>
                  </a:lnTo>
                  <a:lnTo>
                    <a:pt x="2298" y="1828996"/>
                  </a:lnTo>
                  <a:lnTo>
                    <a:pt x="9001" y="1828996"/>
                  </a:lnTo>
                  <a:lnTo>
                    <a:pt x="9001" y="1826704"/>
                  </a:lnTo>
                  <a:lnTo>
                    <a:pt x="11299" y="1824412"/>
                  </a:lnTo>
                  <a:lnTo>
                    <a:pt x="11299" y="1797102"/>
                  </a:lnTo>
                  <a:lnTo>
                    <a:pt x="9001" y="1794620"/>
                  </a:lnTo>
                  <a:lnTo>
                    <a:pt x="9001" y="1792328"/>
                  </a:lnTo>
                  <a:close/>
                </a:path>
                <a:path w="11429" h="4246245">
                  <a:moveTo>
                    <a:pt x="7086" y="1753177"/>
                  </a:moveTo>
                  <a:lnTo>
                    <a:pt x="4596" y="1753177"/>
                  </a:lnTo>
                  <a:lnTo>
                    <a:pt x="2298" y="1755469"/>
                  </a:lnTo>
                  <a:lnTo>
                    <a:pt x="0" y="1757952"/>
                  </a:lnTo>
                  <a:lnTo>
                    <a:pt x="2298" y="1760244"/>
                  </a:lnTo>
                  <a:lnTo>
                    <a:pt x="2298" y="1762153"/>
                  </a:lnTo>
                  <a:lnTo>
                    <a:pt x="9001" y="1762153"/>
                  </a:lnTo>
                  <a:lnTo>
                    <a:pt x="9001" y="1760244"/>
                  </a:lnTo>
                  <a:lnTo>
                    <a:pt x="11299" y="1757952"/>
                  </a:lnTo>
                  <a:lnTo>
                    <a:pt x="9001" y="1755469"/>
                  </a:lnTo>
                  <a:lnTo>
                    <a:pt x="7086" y="1753177"/>
                  </a:lnTo>
                  <a:close/>
                </a:path>
                <a:path w="11429" h="4246245">
                  <a:moveTo>
                    <a:pt x="7086" y="1723576"/>
                  </a:moveTo>
                  <a:lnTo>
                    <a:pt x="4596" y="1723576"/>
                  </a:lnTo>
                  <a:lnTo>
                    <a:pt x="7086" y="1725486"/>
                  </a:lnTo>
                  <a:lnTo>
                    <a:pt x="7086" y="1723576"/>
                  </a:lnTo>
                  <a:close/>
                </a:path>
                <a:path w="11429" h="4246245">
                  <a:moveTo>
                    <a:pt x="9001" y="1686335"/>
                  </a:moveTo>
                  <a:lnTo>
                    <a:pt x="2298" y="1686335"/>
                  </a:lnTo>
                  <a:lnTo>
                    <a:pt x="2298" y="1688627"/>
                  </a:lnTo>
                  <a:lnTo>
                    <a:pt x="0" y="1690919"/>
                  </a:lnTo>
                  <a:lnTo>
                    <a:pt x="0" y="1718801"/>
                  </a:lnTo>
                  <a:lnTo>
                    <a:pt x="2298" y="1721093"/>
                  </a:lnTo>
                  <a:lnTo>
                    <a:pt x="2298" y="1723576"/>
                  </a:lnTo>
                  <a:lnTo>
                    <a:pt x="9001" y="1723576"/>
                  </a:lnTo>
                  <a:lnTo>
                    <a:pt x="9001" y="1721093"/>
                  </a:lnTo>
                  <a:lnTo>
                    <a:pt x="11299" y="1718801"/>
                  </a:lnTo>
                  <a:lnTo>
                    <a:pt x="11299" y="1690919"/>
                  </a:lnTo>
                  <a:lnTo>
                    <a:pt x="9001" y="1688627"/>
                  </a:lnTo>
                  <a:lnTo>
                    <a:pt x="9001" y="1686335"/>
                  </a:lnTo>
                  <a:close/>
                </a:path>
                <a:path w="11429" h="4246245">
                  <a:moveTo>
                    <a:pt x="7086" y="1647567"/>
                  </a:moveTo>
                  <a:lnTo>
                    <a:pt x="4596" y="1647567"/>
                  </a:lnTo>
                  <a:lnTo>
                    <a:pt x="2298" y="1649476"/>
                  </a:lnTo>
                  <a:lnTo>
                    <a:pt x="0" y="1651959"/>
                  </a:lnTo>
                  <a:lnTo>
                    <a:pt x="2298" y="1654251"/>
                  </a:lnTo>
                  <a:lnTo>
                    <a:pt x="2298" y="1656542"/>
                  </a:lnTo>
                  <a:lnTo>
                    <a:pt x="9001" y="1656542"/>
                  </a:lnTo>
                  <a:lnTo>
                    <a:pt x="9001" y="1654251"/>
                  </a:lnTo>
                  <a:lnTo>
                    <a:pt x="11299" y="1651959"/>
                  </a:lnTo>
                  <a:lnTo>
                    <a:pt x="9001" y="1649476"/>
                  </a:lnTo>
                  <a:lnTo>
                    <a:pt x="7086" y="1647567"/>
                  </a:lnTo>
                  <a:close/>
                </a:path>
                <a:path w="11429" h="4246245">
                  <a:moveTo>
                    <a:pt x="9001" y="1615100"/>
                  </a:moveTo>
                  <a:lnTo>
                    <a:pt x="2298" y="1615100"/>
                  </a:lnTo>
                  <a:lnTo>
                    <a:pt x="2298" y="1617583"/>
                  </a:lnTo>
                  <a:lnTo>
                    <a:pt x="4596" y="1619875"/>
                  </a:lnTo>
                  <a:lnTo>
                    <a:pt x="7086" y="1619875"/>
                  </a:lnTo>
                  <a:lnTo>
                    <a:pt x="9001" y="1617583"/>
                  </a:lnTo>
                  <a:lnTo>
                    <a:pt x="9001" y="1615100"/>
                  </a:lnTo>
                  <a:close/>
                </a:path>
                <a:path w="11429" h="4246245">
                  <a:moveTo>
                    <a:pt x="7086" y="1580724"/>
                  </a:moveTo>
                  <a:lnTo>
                    <a:pt x="4596" y="1580724"/>
                  </a:lnTo>
                  <a:lnTo>
                    <a:pt x="2298" y="1583016"/>
                  </a:lnTo>
                  <a:lnTo>
                    <a:pt x="0" y="1585499"/>
                  </a:lnTo>
                  <a:lnTo>
                    <a:pt x="0" y="1615100"/>
                  </a:lnTo>
                  <a:lnTo>
                    <a:pt x="11299" y="1615100"/>
                  </a:lnTo>
                  <a:lnTo>
                    <a:pt x="11299" y="1585499"/>
                  </a:lnTo>
                  <a:lnTo>
                    <a:pt x="9001" y="1583016"/>
                  </a:lnTo>
                  <a:lnTo>
                    <a:pt x="7086" y="1580724"/>
                  </a:lnTo>
                  <a:close/>
                </a:path>
                <a:path w="11429" h="4246245">
                  <a:moveTo>
                    <a:pt x="7086" y="1551123"/>
                  </a:moveTo>
                  <a:lnTo>
                    <a:pt x="4596" y="1551123"/>
                  </a:lnTo>
                  <a:lnTo>
                    <a:pt x="7086" y="1553414"/>
                  </a:lnTo>
                  <a:lnTo>
                    <a:pt x="7086" y="1551123"/>
                  </a:lnTo>
                  <a:close/>
                </a:path>
                <a:path w="11429" h="4246245">
                  <a:moveTo>
                    <a:pt x="11299" y="1546348"/>
                  </a:moveTo>
                  <a:lnTo>
                    <a:pt x="0" y="1546348"/>
                  </a:lnTo>
                  <a:lnTo>
                    <a:pt x="2298" y="1548640"/>
                  </a:lnTo>
                  <a:lnTo>
                    <a:pt x="2298" y="1551123"/>
                  </a:lnTo>
                  <a:lnTo>
                    <a:pt x="9001" y="1551123"/>
                  </a:lnTo>
                  <a:lnTo>
                    <a:pt x="9001" y="1548640"/>
                  </a:lnTo>
                  <a:lnTo>
                    <a:pt x="11299" y="1546348"/>
                  </a:lnTo>
                  <a:close/>
                </a:path>
                <a:path w="11429" h="4246245">
                  <a:moveTo>
                    <a:pt x="9001" y="1544056"/>
                  </a:moveTo>
                  <a:lnTo>
                    <a:pt x="2298" y="1544056"/>
                  </a:lnTo>
                  <a:lnTo>
                    <a:pt x="2298" y="1546348"/>
                  </a:lnTo>
                  <a:lnTo>
                    <a:pt x="9001" y="1546348"/>
                  </a:lnTo>
                  <a:lnTo>
                    <a:pt x="9001" y="1544056"/>
                  </a:lnTo>
                  <a:close/>
                </a:path>
                <a:path w="11429" h="4246245">
                  <a:moveTo>
                    <a:pt x="7086" y="1541574"/>
                  </a:moveTo>
                  <a:lnTo>
                    <a:pt x="4596" y="1544056"/>
                  </a:lnTo>
                  <a:lnTo>
                    <a:pt x="7086" y="1544056"/>
                  </a:lnTo>
                  <a:lnTo>
                    <a:pt x="7086" y="1541574"/>
                  </a:lnTo>
                  <a:close/>
                </a:path>
                <a:path w="11429" h="4246245">
                  <a:moveTo>
                    <a:pt x="7086" y="1475113"/>
                  </a:moveTo>
                  <a:lnTo>
                    <a:pt x="4596" y="1475113"/>
                  </a:lnTo>
                  <a:lnTo>
                    <a:pt x="2298" y="1477596"/>
                  </a:lnTo>
                  <a:lnTo>
                    <a:pt x="0" y="1479888"/>
                  </a:lnTo>
                  <a:lnTo>
                    <a:pt x="0" y="1509680"/>
                  </a:lnTo>
                  <a:lnTo>
                    <a:pt x="4596" y="1514264"/>
                  </a:lnTo>
                  <a:lnTo>
                    <a:pt x="7086" y="1514264"/>
                  </a:lnTo>
                  <a:lnTo>
                    <a:pt x="9001" y="1511972"/>
                  </a:lnTo>
                  <a:lnTo>
                    <a:pt x="11299" y="1509680"/>
                  </a:lnTo>
                  <a:lnTo>
                    <a:pt x="11299" y="1479888"/>
                  </a:lnTo>
                  <a:lnTo>
                    <a:pt x="9001" y="1477596"/>
                  </a:lnTo>
                  <a:lnTo>
                    <a:pt x="7086" y="1475113"/>
                  </a:lnTo>
                  <a:close/>
                </a:path>
                <a:path w="11429" h="4246245">
                  <a:moveTo>
                    <a:pt x="9001" y="1443220"/>
                  </a:moveTo>
                  <a:lnTo>
                    <a:pt x="2298" y="1443220"/>
                  </a:lnTo>
                  <a:lnTo>
                    <a:pt x="2298" y="1445130"/>
                  </a:lnTo>
                  <a:lnTo>
                    <a:pt x="4596" y="1447422"/>
                  </a:lnTo>
                  <a:lnTo>
                    <a:pt x="7086" y="1447422"/>
                  </a:lnTo>
                  <a:lnTo>
                    <a:pt x="9001" y="1445130"/>
                  </a:lnTo>
                  <a:lnTo>
                    <a:pt x="9001" y="1443220"/>
                  </a:lnTo>
                  <a:close/>
                </a:path>
                <a:path w="11429" h="4246245">
                  <a:moveTo>
                    <a:pt x="9001" y="1438446"/>
                  </a:moveTo>
                  <a:lnTo>
                    <a:pt x="2298" y="1438446"/>
                  </a:lnTo>
                  <a:lnTo>
                    <a:pt x="2298" y="1440737"/>
                  </a:lnTo>
                  <a:lnTo>
                    <a:pt x="0" y="1443220"/>
                  </a:lnTo>
                  <a:lnTo>
                    <a:pt x="11299" y="1443220"/>
                  </a:lnTo>
                  <a:lnTo>
                    <a:pt x="9001" y="1440737"/>
                  </a:lnTo>
                  <a:lnTo>
                    <a:pt x="9001" y="1438446"/>
                  </a:lnTo>
                  <a:close/>
                </a:path>
                <a:path w="11429" h="4246245">
                  <a:moveTo>
                    <a:pt x="11299" y="1373895"/>
                  </a:moveTo>
                  <a:lnTo>
                    <a:pt x="0" y="1373895"/>
                  </a:lnTo>
                  <a:lnTo>
                    <a:pt x="0" y="1404070"/>
                  </a:lnTo>
                  <a:lnTo>
                    <a:pt x="2298" y="1405979"/>
                  </a:lnTo>
                  <a:lnTo>
                    <a:pt x="4596" y="1408271"/>
                  </a:lnTo>
                  <a:lnTo>
                    <a:pt x="7086" y="1408271"/>
                  </a:lnTo>
                  <a:lnTo>
                    <a:pt x="9001" y="1405979"/>
                  </a:lnTo>
                  <a:lnTo>
                    <a:pt x="11299" y="1404070"/>
                  </a:lnTo>
                  <a:lnTo>
                    <a:pt x="11299" y="1373895"/>
                  </a:lnTo>
                  <a:close/>
                </a:path>
                <a:path w="11429" h="4246245">
                  <a:moveTo>
                    <a:pt x="9001" y="1371603"/>
                  </a:moveTo>
                  <a:lnTo>
                    <a:pt x="2298" y="1371603"/>
                  </a:lnTo>
                  <a:lnTo>
                    <a:pt x="2298" y="1373895"/>
                  </a:lnTo>
                  <a:lnTo>
                    <a:pt x="9001" y="1373895"/>
                  </a:lnTo>
                  <a:lnTo>
                    <a:pt x="9001" y="1371603"/>
                  </a:lnTo>
                  <a:close/>
                </a:path>
                <a:path w="11429" h="4246245">
                  <a:moveTo>
                    <a:pt x="7086" y="1369121"/>
                  </a:moveTo>
                  <a:lnTo>
                    <a:pt x="4596" y="1371603"/>
                  </a:lnTo>
                  <a:lnTo>
                    <a:pt x="7086" y="1371603"/>
                  </a:lnTo>
                  <a:lnTo>
                    <a:pt x="7086" y="1369121"/>
                  </a:lnTo>
                  <a:close/>
                </a:path>
                <a:path w="11429" h="4246245">
                  <a:moveTo>
                    <a:pt x="9001" y="1332453"/>
                  </a:moveTo>
                  <a:lnTo>
                    <a:pt x="2298" y="1332453"/>
                  </a:lnTo>
                  <a:lnTo>
                    <a:pt x="2298" y="1334745"/>
                  </a:lnTo>
                  <a:lnTo>
                    <a:pt x="0" y="1337227"/>
                  </a:lnTo>
                  <a:lnTo>
                    <a:pt x="4596" y="1341811"/>
                  </a:lnTo>
                  <a:lnTo>
                    <a:pt x="7086" y="1341811"/>
                  </a:lnTo>
                  <a:lnTo>
                    <a:pt x="9001" y="1339519"/>
                  </a:lnTo>
                  <a:lnTo>
                    <a:pt x="11299" y="1337227"/>
                  </a:lnTo>
                  <a:lnTo>
                    <a:pt x="9001" y="1334745"/>
                  </a:lnTo>
                  <a:lnTo>
                    <a:pt x="9001" y="1332453"/>
                  </a:lnTo>
                  <a:close/>
                </a:path>
                <a:path w="11429" h="4246245">
                  <a:moveTo>
                    <a:pt x="9001" y="1265993"/>
                  </a:moveTo>
                  <a:lnTo>
                    <a:pt x="2298" y="1265993"/>
                  </a:lnTo>
                  <a:lnTo>
                    <a:pt x="2298" y="1268284"/>
                  </a:lnTo>
                  <a:lnTo>
                    <a:pt x="0" y="1270767"/>
                  </a:lnTo>
                  <a:lnTo>
                    <a:pt x="0" y="1298077"/>
                  </a:lnTo>
                  <a:lnTo>
                    <a:pt x="2298" y="1300369"/>
                  </a:lnTo>
                  <a:lnTo>
                    <a:pt x="2298" y="1302660"/>
                  </a:lnTo>
                  <a:lnTo>
                    <a:pt x="9001" y="1302660"/>
                  </a:lnTo>
                  <a:lnTo>
                    <a:pt x="9001" y="1300369"/>
                  </a:lnTo>
                  <a:lnTo>
                    <a:pt x="11299" y="1298077"/>
                  </a:lnTo>
                  <a:lnTo>
                    <a:pt x="11299" y="1270767"/>
                  </a:lnTo>
                  <a:lnTo>
                    <a:pt x="9001" y="1268284"/>
                  </a:lnTo>
                  <a:lnTo>
                    <a:pt x="9001" y="1265993"/>
                  </a:lnTo>
                  <a:close/>
                </a:path>
                <a:path w="11429" h="4246245">
                  <a:moveTo>
                    <a:pt x="9001" y="1226842"/>
                  </a:moveTo>
                  <a:lnTo>
                    <a:pt x="2298" y="1226842"/>
                  </a:lnTo>
                  <a:lnTo>
                    <a:pt x="2298" y="1229325"/>
                  </a:lnTo>
                  <a:lnTo>
                    <a:pt x="0" y="1231616"/>
                  </a:lnTo>
                  <a:lnTo>
                    <a:pt x="2298" y="1233908"/>
                  </a:lnTo>
                  <a:lnTo>
                    <a:pt x="4596" y="1236391"/>
                  </a:lnTo>
                  <a:lnTo>
                    <a:pt x="7086" y="1236391"/>
                  </a:lnTo>
                  <a:lnTo>
                    <a:pt x="9001" y="1233908"/>
                  </a:lnTo>
                  <a:lnTo>
                    <a:pt x="11299" y="1231616"/>
                  </a:lnTo>
                  <a:lnTo>
                    <a:pt x="9001" y="1229325"/>
                  </a:lnTo>
                  <a:lnTo>
                    <a:pt x="9001" y="1226842"/>
                  </a:lnTo>
                  <a:close/>
                </a:path>
                <a:path w="11429" h="4246245">
                  <a:moveTo>
                    <a:pt x="9001" y="1160382"/>
                  </a:moveTo>
                  <a:lnTo>
                    <a:pt x="2298" y="1160382"/>
                  </a:lnTo>
                  <a:lnTo>
                    <a:pt x="2298" y="1162291"/>
                  </a:lnTo>
                  <a:lnTo>
                    <a:pt x="0" y="1164774"/>
                  </a:lnTo>
                  <a:lnTo>
                    <a:pt x="0" y="1192466"/>
                  </a:lnTo>
                  <a:lnTo>
                    <a:pt x="2298" y="1194758"/>
                  </a:lnTo>
                  <a:lnTo>
                    <a:pt x="2298" y="1197240"/>
                  </a:lnTo>
                  <a:lnTo>
                    <a:pt x="9001" y="1197240"/>
                  </a:lnTo>
                  <a:lnTo>
                    <a:pt x="9001" y="1194758"/>
                  </a:lnTo>
                  <a:lnTo>
                    <a:pt x="11299" y="1192466"/>
                  </a:lnTo>
                  <a:lnTo>
                    <a:pt x="11299" y="1164774"/>
                  </a:lnTo>
                  <a:lnTo>
                    <a:pt x="9001" y="1162291"/>
                  </a:lnTo>
                  <a:lnTo>
                    <a:pt x="9001" y="1160382"/>
                  </a:lnTo>
                  <a:close/>
                </a:path>
                <a:path w="11429" h="4246245">
                  <a:moveTo>
                    <a:pt x="7086" y="1121422"/>
                  </a:moveTo>
                  <a:lnTo>
                    <a:pt x="4596" y="1121422"/>
                  </a:lnTo>
                  <a:lnTo>
                    <a:pt x="2298" y="1123714"/>
                  </a:lnTo>
                  <a:lnTo>
                    <a:pt x="0" y="1125624"/>
                  </a:lnTo>
                  <a:lnTo>
                    <a:pt x="2298" y="1127915"/>
                  </a:lnTo>
                  <a:lnTo>
                    <a:pt x="2298" y="1130207"/>
                  </a:lnTo>
                  <a:lnTo>
                    <a:pt x="9001" y="1130207"/>
                  </a:lnTo>
                  <a:lnTo>
                    <a:pt x="9001" y="1127915"/>
                  </a:lnTo>
                  <a:lnTo>
                    <a:pt x="11299" y="1125624"/>
                  </a:lnTo>
                  <a:lnTo>
                    <a:pt x="9001" y="1123714"/>
                  </a:lnTo>
                  <a:lnTo>
                    <a:pt x="7086" y="1121422"/>
                  </a:lnTo>
                  <a:close/>
                </a:path>
                <a:path w="11429" h="4246245">
                  <a:moveTo>
                    <a:pt x="7086" y="1091248"/>
                  </a:moveTo>
                  <a:lnTo>
                    <a:pt x="4596" y="1091248"/>
                  </a:lnTo>
                  <a:lnTo>
                    <a:pt x="7086" y="1093539"/>
                  </a:lnTo>
                  <a:lnTo>
                    <a:pt x="7086" y="1091248"/>
                  </a:lnTo>
                  <a:close/>
                </a:path>
                <a:path w="11429" h="4246245">
                  <a:moveTo>
                    <a:pt x="9001" y="1054389"/>
                  </a:moveTo>
                  <a:lnTo>
                    <a:pt x="2298" y="1054389"/>
                  </a:lnTo>
                  <a:lnTo>
                    <a:pt x="2298" y="1056872"/>
                  </a:lnTo>
                  <a:lnTo>
                    <a:pt x="0" y="1059163"/>
                  </a:lnTo>
                  <a:lnTo>
                    <a:pt x="0" y="1086855"/>
                  </a:lnTo>
                  <a:lnTo>
                    <a:pt x="2298" y="1088765"/>
                  </a:lnTo>
                  <a:lnTo>
                    <a:pt x="2298" y="1091248"/>
                  </a:lnTo>
                  <a:lnTo>
                    <a:pt x="9001" y="1091248"/>
                  </a:lnTo>
                  <a:lnTo>
                    <a:pt x="9001" y="1088765"/>
                  </a:lnTo>
                  <a:lnTo>
                    <a:pt x="11299" y="1086855"/>
                  </a:lnTo>
                  <a:lnTo>
                    <a:pt x="11299" y="1059163"/>
                  </a:lnTo>
                  <a:lnTo>
                    <a:pt x="9001" y="1056872"/>
                  </a:lnTo>
                  <a:lnTo>
                    <a:pt x="9001" y="1054389"/>
                  </a:lnTo>
                  <a:close/>
                </a:path>
                <a:path w="11429" h="4246245">
                  <a:moveTo>
                    <a:pt x="7086" y="1015238"/>
                  </a:moveTo>
                  <a:lnTo>
                    <a:pt x="4596" y="1015238"/>
                  </a:lnTo>
                  <a:lnTo>
                    <a:pt x="2298" y="1017721"/>
                  </a:lnTo>
                  <a:lnTo>
                    <a:pt x="0" y="1020013"/>
                  </a:lnTo>
                  <a:lnTo>
                    <a:pt x="2298" y="1022305"/>
                  </a:lnTo>
                  <a:lnTo>
                    <a:pt x="2298" y="1024787"/>
                  </a:lnTo>
                  <a:lnTo>
                    <a:pt x="9001" y="1024787"/>
                  </a:lnTo>
                  <a:lnTo>
                    <a:pt x="9001" y="1022305"/>
                  </a:lnTo>
                  <a:lnTo>
                    <a:pt x="11299" y="1020013"/>
                  </a:lnTo>
                  <a:lnTo>
                    <a:pt x="9001" y="1017721"/>
                  </a:lnTo>
                  <a:lnTo>
                    <a:pt x="7086" y="1015238"/>
                  </a:lnTo>
                  <a:close/>
                </a:path>
                <a:path w="11429" h="4246245">
                  <a:moveTo>
                    <a:pt x="7086" y="985637"/>
                  </a:moveTo>
                  <a:lnTo>
                    <a:pt x="4596" y="985637"/>
                  </a:lnTo>
                  <a:lnTo>
                    <a:pt x="7086" y="987929"/>
                  </a:lnTo>
                  <a:lnTo>
                    <a:pt x="7086" y="985637"/>
                  </a:lnTo>
                  <a:close/>
                </a:path>
                <a:path w="11429" h="4246245">
                  <a:moveTo>
                    <a:pt x="9001" y="983345"/>
                  </a:moveTo>
                  <a:lnTo>
                    <a:pt x="2298" y="983345"/>
                  </a:lnTo>
                  <a:lnTo>
                    <a:pt x="2298" y="985637"/>
                  </a:lnTo>
                  <a:lnTo>
                    <a:pt x="9001" y="985637"/>
                  </a:lnTo>
                  <a:lnTo>
                    <a:pt x="9001" y="983345"/>
                  </a:lnTo>
                  <a:close/>
                </a:path>
                <a:path w="11429" h="4246245">
                  <a:moveTo>
                    <a:pt x="7086" y="948969"/>
                  </a:moveTo>
                  <a:lnTo>
                    <a:pt x="4596" y="948969"/>
                  </a:lnTo>
                  <a:lnTo>
                    <a:pt x="0" y="953553"/>
                  </a:lnTo>
                  <a:lnTo>
                    <a:pt x="0" y="983345"/>
                  </a:lnTo>
                  <a:lnTo>
                    <a:pt x="11299" y="983345"/>
                  </a:lnTo>
                  <a:lnTo>
                    <a:pt x="11299" y="953553"/>
                  </a:lnTo>
                  <a:lnTo>
                    <a:pt x="9001" y="951261"/>
                  </a:lnTo>
                  <a:lnTo>
                    <a:pt x="7086" y="948969"/>
                  </a:lnTo>
                  <a:close/>
                </a:path>
                <a:path w="11429" h="4246245">
                  <a:moveTo>
                    <a:pt x="7086" y="919177"/>
                  </a:moveTo>
                  <a:lnTo>
                    <a:pt x="4596" y="919177"/>
                  </a:lnTo>
                  <a:lnTo>
                    <a:pt x="7086" y="921086"/>
                  </a:lnTo>
                  <a:lnTo>
                    <a:pt x="7086" y="919177"/>
                  </a:lnTo>
                  <a:close/>
                </a:path>
                <a:path w="11429" h="4246245">
                  <a:moveTo>
                    <a:pt x="11299" y="914402"/>
                  </a:moveTo>
                  <a:lnTo>
                    <a:pt x="0" y="914402"/>
                  </a:lnTo>
                  <a:lnTo>
                    <a:pt x="2298" y="916885"/>
                  </a:lnTo>
                  <a:lnTo>
                    <a:pt x="2298" y="919177"/>
                  </a:lnTo>
                  <a:lnTo>
                    <a:pt x="9001" y="919177"/>
                  </a:lnTo>
                  <a:lnTo>
                    <a:pt x="9001" y="916885"/>
                  </a:lnTo>
                  <a:lnTo>
                    <a:pt x="11299" y="914402"/>
                  </a:lnTo>
                  <a:close/>
                </a:path>
                <a:path w="11429" h="4246245">
                  <a:moveTo>
                    <a:pt x="9001" y="912110"/>
                  </a:moveTo>
                  <a:lnTo>
                    <a:pt x="2298" y="912110"/>
                  </a:lnTo>
                  <a:lnTo>
                    <a:pt x="2298" y="914402"/>
                  </a:lnTo>
                  <a:lnTo>
                    <a:pt x="9001" y="914402"/>
                  </a:lnTo>
                  <a:lnTo>
                    <a:pt x="9001" y="912110"/>
                  </a:lnTo>
                  <a:close/>
                </a:path>
                <a:path w="11429" h="4246245">
                  <a:moveTo>
                    <a:pt x="7086" y="909819"/>
                  </a:moveTo>
                  <a:lnTo>
                    <a:pt x="4596" y="912110"/>
                  </a:lnTo>
                  <a:lnTo>
                    <a:pt x="7086" y="912110"/>
                  </a:lnTo>
                  <a:lnTo>
                    <a:pt x="7086" y="909819"/>
                  </a:lnTo>
                  <a:close/>
                </a:path>
                <a:path w="11429" h="4246245">
                  <a:moveTo>
                    <a:pt x="7086" y="843358"/>
                  </a:moveTo>
                  <a:lnTo>
                    <a:pt x="4596" y="843358"/>
                  </a:lnTo>
                  <a:lnTo>
                    <a:pt x="2298" y="845268"/>
                  </a:lnTo>
                  <a:lnTo>
                    <a:pt x="0" y="847560"/>
                  </a:lnTo>
                  <a:lnTo>
                    <a:pt x="0" y="877734"/>
                  </a:lnTo>
                  <a:lnTo>
                    <a:pt x="2298" y="880026"/>
                  </a:lnTo>
                  <a:lnTo>
                    <a:pt x="4596" y="881936"/>
                  </a:lnTo>
                  <a:lnTo>
                    <a:pt x="7086" y="881936"/>
                  </a:lnTo>
                  <a:lnTo>
                    <a:pt x="11299" y="877734"/>
                  </a:lnTo>
                  <a:lnTo>
                    <a:pt x="11299" y="847560"/>
                  </a:lnTo>
                  <a:lnTo>
                    <a:pt x="7086" y="843358"/>
                  </a:lnTo>
                  <a:close/>
                </a:path>
                <a:path w="11429" h="4246245">
                  <a:moveTo>
                    <a:pt x="7086" y="813184"/>
                  </a:moveTo>
                  <a:lnTo>
                    <a:pt x="4596" y="813184"/>
                  </a:lnTo>
                  <a:lnTo>
                    <a:pt x="7086" y="815475"/>
                  </a:lnTo>
                  <a:lnTo>
                    <a:pt x="7086" y="813184"/>
                  </a:lnTo>
                  <a:close/>
                </a:path>
                <a:path w="11429" h="4246245">
                  <a:moveTo>
                    <a:pt x="9001" y="810892"/>
                  </a:moveTo>
                  <a:lnTo>
                    <a:pt x="2298" y="810892"/>
                  </a:lnTo>
                  <a:lnTo>
                    <a:pt x="2298" y="813184"/>
                  </a:lnTo>
                  <a:lnTo>
                    <a:pt x="9001" y="813184"/>
                  </a:lnTo>
                  <a:lnTo>
                    <a:pt x="9001" y="810892"/>
                  </a:lnTo>
                  <a:close/>
                </a:path>
                <a:path w="11429" h="4246245">
                  <a:moveTo>
                    <a:pt x="9001" y="806500"/>
                  </a:moveTo>
                  <a:lnTo>
                    <a:pt x="2298" y="806500"/>
                  </a:lnTo>
                  <a:lnTo>
                    <a:pt x="2298" y="808409"/>
                  </a:lnTo>
                  <a:lnTo>
                    <a:pt x="0" y="810892"/>
                  </a:lnTo>
                  <a:lnTo>
                    <a:pt x="11299" y="810892"/>
                  </a:lnTo>
                  <a:lnTo>
                    <a:pt x="9001" y="808409"/>
                  </a:lnTo>
                  <a:lnTo>
                    <a:pt x="9001" y="806500"/>
                  </a:lnTo>
                  <a:close/>
                </a:path>
                <a:path w="11429" h="4246245">
                  <a:moveTo>
                    <a:pt x="7086" y="804208"/>
                  </a:moveTo>
                  <a:lnTo>
                    <a:pt x="4596" y="806500"/>
                  </a:lnTo>
                  <a:lnTo>
                    <a:pt x="7086" y="806500"/>
                  </a:lnTo>
                  <a:lnTo>
                    <a:pt x="7086" y="804208"/>
                  </a:lnTo>
                  <a:close/>
                </a:path>
                <a:path w="11429" h="4246245">
                  <a:moveTo>
                    <a:pt x="11299" y="741949"/>
                  </a:moveTo>
                  <a:lnTo>
                    <a:pt x="0" y="741949"/>
                  </a:lnTo>
                  <a:lnTo>
                    <a:pt x="0" y="771742"/>
                  </a:lnTo>
                  <a:lnTo>
                    <a:pt x="2298" y="774033"/>
                  </a:lnTo>
                  <a:lnTo>
                    <a:pt x="4596" y="776516"/>
                  </a:lnTo>
                  <a:lnTo>
                    <a:pt x="7086" y="776516"/>
                  </a:lnTo>
                  <a:lnTo>
                    <a:pt x="9001" y="774033"/>
                  </a:lnTo>
                  <a:lnTo>
                    <a:pt x="11299" y="771742"/>
                  </a:lnTo>
                  <a:lnTo>
                    <a:pt x="11299" y="741949"/>
                  </a:lnTo>
                  <a:close/>
                </a:path>
                <a:path w="11429" h="4246245">
                  <a:moveTo>
                    <a:pt x="9001" y="739657"/>
                  </a:moveTo>
                  <a:lnTo>
                    <a:pt x="2298" y="739657"/>
                  </a:lnTo>
                  <a:lnTo>
                    <a:pt x="2298" y="741949"/>
                  </a:lnTo>
                  <a:lnTo>
                    <a:pt x="9001" y="741949"/>
                  </a:lnTo>
                  <a:lnTo>
                    <a:pt x="9001" y="739657"/>
                  </a:lnTo>
                  <a:close/>
                </a:path>
                <a:path w="11429" h="4246245">
                  <a:moveTo>
                    <a:pt x="7086" y="737365"/>
                  </a:moveTo>
                  <a:lnTo>
                    <a:pt x="4596" y="739657"/>
                  </a:lnTo>
                  <a:lnTo>
                    <a:pt x="7086" y="739657"/>
                  </a:lnTo>
                  <a:lnTo>
                    <a:pt x="7086" y="737365"/>
                  </a:lnTo>
                  <a:close/>
                </a:path>
                <a:path w="11429" h="4246245">
                  <a:moveTo>
                    <a:pt x="9001" y="700507"/>
                  </a:moveTo>
                  <a:lnTo>
                    <a:pt x="2298" y="700507"/>
                  </a:lnTo>
                  <a:lnTo>
                    <a:pt x="2298" y="702989"/>
                  </a:lnTo>
                  <a:lnTo>
                    <a:pt x="0" y="705281"/>
                  </a:lnTo>
                  <a:lnTo>
                    <a:pt x="2298" y="707573"/>
                  </a:lnTo>
                  <a:lnTo>
                    <a:pt x="4596" y="710056"/>
                  </a:lnTo>
                  <a:lnTo>
                    <a:pt x="7086" y="710056"/>
                  </a:lnTo>
                  <a:lnTo>
                    <a:pt x="9001" y="707573"/>
                  </a:lnTo>
                  <a:lnTo>
                    <a:pt x="11299" y="705281"/>
                  </a:lnTo>
                  <a:lnTo>
                    <a:pt x="9001" y="702989"/>
                  </a:lnTo>
                  <a:lnTo>
                    <a:pt x="9001" y="700507"/>
                  </a:lnTo>
                  <a:close/>
                </a:path>
                <a:path w="11429" h="4246245">
                  <a:moveTo>
                    <a:pt x="9001" y="634237"/>
                  </a:moveTo>
                  <a:lnTo>
                    <a:pt x="2298" y="634237"/>
                  </a:lnTo>
                  <a:lnTo>
                    <a:pt x="2298" y="636529"/>
                  </a:lnTo>
                  <a:lnTo>
                    <a:pt x="0" y="638439"/>
                  </a:lnTo>
                  <a:lnTo>
                    <a:pt x="0" y="666131"/>
                  </a:lnTo>
                  <a:lnTo>
                    <a:pt x="2298" y="668613"/>
                  </a:lnTo>
                  <a:lnTo>
                    <a:pt x="2298" y="670905"/>
                  </a:lnTo>
                  <a:lnTo>
                    <a:pt x="9001" y="670905"/>
                  </a:lnTo>
                  <a:lnTo>
                    <a:pt x="9001" y="668613"/>
                  </a:lnTo>
                  <a:lnTo>
                    <a:pt x="11299" y="666131"/>
                  </a:lnTo>
                  <a:lnTo>
                    <a:pt x="11299" y="638439"/>
                  </a:lnTo>
                  <a:lnTo>
                    <a:pt x="9001" y="636529"/>
                  </a:lnTo>
                  <a:lnTo>
                    <a:pt x="9001" y="634237"/>
                  </a:lnTo>
                  <a:close/>
                </a:path>
                <a:path w="11429" h="4246245">
                  <a:moveTo>
                    <a:pt x="7086" y="631755"/>
                  </a:moveTo>
                  <a:lnTo>
                    <a:pt x="4596" y="634237"/>
                  </a:lnTo>
                  <a:lnTo>
                    <a:pt x="7086" y="634237"/>
                  </a:lnTo>
                  <a:lnTo>
                    <a:pt x="7086" y="631755"/>
                  </a:lnTo>
                  <a:close/>
                </a:path>
                <a:path w="11429" h="4246245">
                  <a:moveTo>
                    <a:pt x="9001" y="595087"/>
                  </a:moveTo>
                  <a:lnTo>
                    <a:pt x="2298" y="595087"/>
                  </a:lnTo>
                  <a:lnTo>
                    <a:pt x="2298" y="597379"/>
                  </a:lnTo>
                  <a:lnTo>
                    <a:pt x="0" y="599670"/>
                  </a:lnTo>
                  <a:lnTo>
                    <a:pt x="2298" y="601580"/>
                  </a:lnTo>
                  <a:lnTo>
                    <a:pt x="4596" y="604063"/>
                  </a:lnTo>
                  <a:lnTo>
                    <a:pt x="7086" y="604063"/>
                  </a:lnTo>
                  <a:lnTo>
                    <a:pt x="9001" y="601580"/>
                  </a:lnTo>
                  <a:lnTo>
                    <a:pt x="11299" y="599670"/>
                  </a:lnTo>
                  <a:lnTo>
                    <a:pt x="9001" y="597379"/>
                  </a:lnTo>
                  <a:lnTo>
                    <a:pt x="9001" y="595087"/>
                  </a:lnTo>
                  <a:close/>
                </a:path>
                <a:path w="11429" h="4246245">
                  <a:moveTo>
                    <a:pt x="9001" y="528054"/>
                  </a:moveTo>
                  <a:lnTo>
                    <a:pt x="2298" y="528054"/>
                  </a:lnTo>
                  <a:lnTo>
                    <a:pt x="2298" y="530536"/>
                  </a:lnTo>
                  <a:lnTo>
                    <a:pt x="0" y="532828"/>
                  </a:lnTo>
                  <a:lnTo>
                    <a:pt x="0" y="560711"/>
                  </a:lnTo>
                  <a:lnTo>
                    <a:pt x="2298" y="563003"/>
                  </a:lnTo>
                  <a:lnTo>
                    <a:pt x="2298" y="564912"/>
                  </a:lnTo>
                  <a:lnTo>
                    <a:pt x="9001" y="564912"/>
                  </a:lnTo>
                  <a:lnTo>
                    <a:pt x="9001" y="563003"/>
                  </a:lnTo>
                  <a:lnTo>
                    <a:pt x="11299" y="560711"/>
                  </a:lnTo>
                  <a:lnTo>
                    <a:pt x="11299" y="532828"/>
                  </a:lnTo>
                  <a:lnTo>
                    <a:pt x="9001" y="530536"/>
                  </a:lnTo>
                  <a:lnTo>
                    <a:pt x="9001" y="528054"/>
                  </a:lnTo>
                  <a:close/>
                </a:path>
                <a:path w="11429" h="4246245">
                  <a:moveTo>
                    <a:pt x="7086" y="489094"/>
                  </a:moveTo>
                  <a:lnTo>
                    <a:pt x="4596" y="489094"/>
                  </a:lnTo>
                  <a:lnTo>
                    <a:pt x="0" y="493678"/>
                  </a:lnTo>
                  <a:lnTo>
                    <a:pt x="2298" y="496160"/>
                  </a:lnTo>
                  <a:lnTo>
                    <a:pt x="2298" y="498452"/>
                  </a:lnTo>
                  <a:lnTo>
                    <a:pt x="9001" y="498452"/>
                  </a:lnTo>
                  <a:lnTo>
                    <a:pt x="9001" y="496160"/>
                  </a:lnTo>
                  <a:lnTo>
                    <a:pt x="11299" y="493678"/>
                  </a:lnTo>
                  <a:lnTo>
                    <a:pt x="9001" y="491386"/>
                  </a:lnTo>
                  <a:lnTo>
                    <a:pt x="7086" y="489094"/>
                  </a:lnTo>
                  <a:close/>
                </a:path>
                <a:path w="11429" h="4246245">
                  <a:moveTo>
                    <a:pt x="9001" y="422634"/>
                  </a:moveTo>
                  <a:lnTo>
                    <a:pt x="2298" y="422634"/>
                  </a:lnTo>
                  <a:lnTo>
                    <a:pt x="2298" y="424926"/>
                  </a:lnTo>
                  <a:lnTo>
                    <a:pt x="0" y="427217"/>
                  </a:lnTo>
                  <a:lnTo>
                    <a:pt x="0" y="454718"/>
                  </a:lnTo>
                  <a:lnTo>
                    <a:pt x="2298" y="457010"/>
                  </a:lnTo>
                  <a:lnTo>
                    <a:pt x="2298" y="459302"/>
                  </a:lnTo>
                  <a:lnTo>
                    <a:pt x="9001" y="459302"/>
                  </a:lnTo>
                  <a:lnTo>
                    <a:pt x="9001" y="457010"/>
                  </a:lnTo>
                  <a:lnTo>
                    <a:pt x="11299" y="454718"/>
                  </a:lnTo>
                  <a:lnTo>
                    <a:pt x="11299" y="427217"/>
                  </a:lnTo>
                  <a:lnTo>
                    <a:pt x="9001" y="424926"/>
                  </a:lnTo>
                  <a:lnTo>
                    <a:pt x="9001" y="422634"/>
                  </a:lnTo>
                  <a:close/>
                </a:path>
                <a:path w="11429" h="4246245">
                  <a:moveTo>
                    <a:pt x="7086" y="383483"/>
                  </a:moveTo>
                  <a:lnTo>
                    <a:pt x="4596" y="383483"/>
                  </a:lnTo>
                  <a:lnTo>
                    <a:pt x="2298" y="385775"/>
                  </a:lnTo>
                  <a:lnTo>
                    <a:pt x="0" y="388258"/>
                  </a:lnTo>
                  <a:lnTo>
                    <a:pt x="2298" y="390549"/>
                  </a:lnTo>
                  <a:lnTo>
                    <a:pt x="2298" y="392841"/>
                  </a:lnTo>
                  <a:lnTo>
                    <a:pt x="9001" y="392841"/>
                  </a:lnTo>
                  <a:lnTo>
                    <a:pt x="9001" y="390549"/>
                  </a:lnTo>
                  <a:lnTo>
                    <a:pt x="11299" y="388258"/>
                  </a:lnTo>
                  <a:lnTo>
                    <a:pt x="9001" y="385775"/>
                  </a:lnTo>
                  <a:lnTo>
                    <a:pt x="7086" y="383483"/>
                  </a:lnTo>
                  <a:close/>
                </a:path>
                <a:path w="11429" h="4246245">
                  <a:moveTo>
                    <a:pt x="7086" y="353882"/>
                  </a:moveTo>
                  <a:lnTo>
                    <a:pt x="4596" y="353882"/>
                  </a:lnTo>
                  <a:lnTo>
                    <a:pt x="7086" y="356173"/>
                  </a:lnTo>
                  <a:lnTo>
                    <a:pt x="7086" y="353882"/>
                  </a:lnTo>
                  <a:close/>
                </a:path>
                <a:path w="11429" h="4246245">
                  <a:moveTo>
                    <a:pt x="9001" y="351399"/>
                  </a:moveTo>
                  <a:lnTo>
                    <a:pt x="2298" y="351399"/>
                  </a:lnTo>
                  <a:lnTo>
                    <a:pt x="2298" y="353882"/>
                  </a:lnTo>
                  <a:lnTo>
                    <a:pt x="9001" y="353882"/>
                  </a:lnTo>
                  <a:lnTo>
                    <a:pt x="9001" y="351399"/>
                  </a:lnTo>
                  <a:close/>
                </a:path>
                <a:path w="11429" h="4246245">
                  <a:moveTo>
                    <a:pt x="7086" y="317023"/>
                  </a:moveTo>
                  <a:lnTo>
                    <a:pt x="4596" y="317023"/>
                  </a:lnTo>
                  <a:lnTo>
                    <a:pt x="2298" y="319315"/>
                  </a:lnTo>
                  <a:lnTo>
                    <a:pt x="0" y="321224"/>
                  </a:lnTo>
                  <a:lnTo>
                    <a:pt x="0" y="351399"/>
                  </a:lnTo>
                  <a:lnTo>
                    <a:pt x="11299" y="351399"/>
                  </a:lnTo>
                  <a:lnTo>
                    <a:pt x="11299" y="321224"/>
                  </a:lnTo>
                  <a:lnTo>
                    <a:pt x="9001" y="319315"/>
                  </a:lnTo>
                  <a:lnTo>
                    <a:pt x="7086" y="317023"/>
                  </a:lnTo>
                  <a:close/>
                </a:path>
                <a:path w="11429" h="4246245">
                  <a:moveTo>
                    <a:pt x="11299" y="282647"/>
                  </a:moveTo>
                  <a:lnTo>
                    <a:pt x="0" y="282647"/>
                  </a:lnTo>
                  <a:lnTo>
                    <a:pt x="2298" y="284557"/>
                  </a:lnTo>
                  <a:lnTo>
                    <a:pt x="2298" y="286848"/>
                  </a:lnTo>
                  <a:lnTo>
                    <a:pt x="9001" y="286848"/>
                  </a:lnTo>
                  <a:lnTo>
                    <a:pt x="9001" y="284557"/>
                  </a:lnTo>
                  <a:lnTo>
                    <a:pt x="11299" y="282647"/>
                  </a:lnTo>
                  <a:close/>
                </a:path>
                <a:path w="11429" h="4246245">
                  <a:moveTo>
                    <a:pt x="7086" y="277872"/>
                  </a:moveTo>
                  <a:lnTo>
                    <a:pt x="4596" y="277872"/>
                  </a:lnTo>
                  <a:lnTo>
                    <a:pt x="2298" y="280355"/>
                  </a:lnTo>
                  <a:lnTo>
                    <a:pt x="2298" y="282647"/>
                  </a:lnTo>
                  <a:lnTo>
                    <a:pt x="9001" y="282647"/>
                  </a:lnTo>
                  <a:lnTo>
                    <a:pt x="9001" y="280355"/>
                  </a:lnTo>
                  <a:lnTo>
                    <a:pt x="7086" y="277872"/>
                  </a:lnTo>
                  <a:close/>
                </a:path>
                <a:path w="11429" h="4246245">
                  <a:moveTo>
                    <a:pt x="7086" y="211030"/>
                  </a:moveTo>
                  <a:lnTo>
                    <a:pt x="4596" y="211030"/>
                  </a:lnTo>
                  <a:lnTo>
                    <a:pt x="2298" y="213322"/>
                  </a:lnTo>
                  <a:lnTo>
                    <a:pt x="0" y="215805"/>
                  </a:lnTo>
                  <a:lnTo>
                    <a:pt x="0" y="245406"/>
                  </a:lnTo>
                  <a:lnTo>
                    <a:pt x="2298" y="247698"/>
                  </a:lnTo>
                  <a:lnTo>
                    <a:pt x="4596" y="250181"/>
                  </a:lnTo>
                  <a:lnTo>
                    <a:pt x="7086" y="250181"/>
                  </a:lnTo>
                  <a:lnTo>
                    <a:pt x="9001" y="247698"/>
                  </a:lnTo>
                  <a:lnTo>
                    <a:pt x="11299" y="245406"/>
                  </a:lnTo>
                  <a:lnTo>
                    <a:pt x="11299" y="215805"/>
                  </a:lnTo>
                  <a:lnTo>
                    <a:pt x="9001" y="213322"/>
                  </a:lnTo>
                  <a:lnTo>
                    <a:pt x="7086" y="211030"/>
                  </a:lnTo>
                  <a:close/>
                </a:path>
                <a:path w="11429" h="4246245">
                  <a:moveTo>
                    <a:pt x="7086" y="181429"/>
                  </a:moveTo>
                  <a:lnTo>
                    <a:pt x="4596" y="181429"/>
                  </a:lnTo>
                  <a:lnTo>
                    <a:pt x="7086" y="183720"/>
                  </a:lnTo>
                  <a:lnTo>
                    <a:pt x="7086" y="181429"/>
                  </a:lnTo>
                  <a:close/>
                </a:path>
                <a:path w="11429" h="4246245">
                  <a:moveTo>
                    <a:pt x="9001" y="178946"/>
                  </a:moveTo>
                  <a:lnTo>
                    <a:pt x="2298" y="178946"/>
                  </a:lnTo>
                  <a:lnTo>
                    <a:pt x="2298" y="181429"/>
                  </a:lnTo>
                  <a:lnTo>
                    <a:pt x="9001" y="181429"/>
                  </a:lnTo>
                  <a:lnTo>
                    <a:pt x="9001" y="178946"/>
                  </a:lnTo>
                  <a:close/>
                </a:path>
                <a:path w="11429" h="4246245">
                  <a:moveTo>
                    <a:pt x="9001" y="174362"/>
                  </a:moveTo>
                  <a:lnTo>
                    <a:pt x="2298" y="174362"/>
                  </a:lnTo>
                  <a:lnTo>
                    <a:pt x="2298" y="176654"/>
                  </a:lnTo>
                  <a:lnTo>
                    <a:pt x="0" y="178946"/>
                  </a:lnTo>
                  <a:lnTo>
                    <a:pt x="11299" y="178946"/>
                  </a:lnTo>
                  <a:lnTo>
                    <a:pt x="9001" y="176654"/>
                  </a:lnTo>
                  <a:lnTo>
                    <a:pt x="9001" y="174362"/>
                  </a:lnTo>
                  <a:close/>
                </a:path>
                <a:path w="11429" h="4246245">
                  <a:moveTo>
                    <a:pt x="7086" y="171880"/>
                  </a:moveTo>
                  <a:lnTo>
                    <a:pt x="4596" y="174362"/>
                  </a:lnTo>
                  <a:lnTo>
                    <a:pt x="7086" y="174362"/>
                  </a:lnTo>
                  <a:lnTo>
                    <a:pt x="7086" y="171880"/>
                  </a:lnTo>
                  <a:close/>
                </a:path>
                <a:path w="11429" h="4246245">
                  <a:moveTo>
                    <a:pt x="11299" y="110194"/>
                  </a:moveTo>
                  <a:lnTo>
                    <a:pt x="0" y="110194"/>
                  </a:lnTo>
                  <a:lnTo>
                    <a:pt x="0" y="139795"/>
                  </a:lnTo>
                  <a:lnTo>
                    <a:pt x="2298" y="142278"/>
                  </a:lnTo>
                  <a:lnTo>
                    <a:pt x="4596" y="144570"/>
                  </a:lnTo>
                  <a:lnTo>
                    <a:pt x="7086" y="144570"/>
                  </a:lnTo>
                  <a:lnTo>
                    <a:pt x="9001" y="142278"/>
                  </a:lnTo>
                  <a:lnTo>
                    <a:pt x="11299" y="139795"/>
                  </a:lnTo>
                  <a:lnTo>
                    <a:pt x="11299" y="110194"/>
                  </a:lnTo>
                  <a:close/>
                </a:path>
                <a:path w="11429" h="4246245">
                  <a:moveTo>
                    <a:pt x="7086" y="105419"/>
                  </a:moveTo>
                  <a:lnTo>
                    <a:pt x="4596" y="105419"/>
                  </a:lnTo>
                  <a:lnTo>
                    <a:pt x="2298" y="107902"/>
                  </a:lnTo>
                  <a:lnTo>
                    <a:pt x="2298" y="110194"/>
                  </a:lnTo>
                  <a:lnTo>
                    <a:pt x="9001" y="110194"/>
                  </a:lnTo>
                  <a:lnTo>
                    <a:pt x="9001" y="107902"/>
                  </a:lnTo>
                  <a:lnTo>
                    <a:pt x="7086" y="105419"/>
                  </a:lnTo>
                  <a:close/>
                </a:path>
                <a:path w="11429" h="4246245">
                  <a:moveTo>
                    <a:pt x="9001" y="68752"/>
                  </a:moveTo>
                  <a:lnTo>
                    <a:pt x="2298" y="68752"/>
                  </a:lnTo>
                  <a:lnTo>
                    <a:pt x="2298" y="71043"/>
                  </a:lnTo>
                  <a:lnTo>
                    <a:pt x="0" y="73526"/>
                  </a:lnTo>
                  <a:lnTo>
                    <a:pt x="2298" y="75818"/>
                  </a:lnTo>
                  <a:lnTo>
                    <a:pt x="4596" y="77728"/>
                  </a:lnTo>
                  <a:lnTo>
                    <a:pt x="7086" y="77728"/>
                  </a:lnTo>
                  <a:lnTo>
                    <a:pt x="11299" y="73526"/>
                  </a:lnTo>
                  <a:lnTo>
                    <a:pt x="9001" y="71043"/>
                  </a:lnTo>
                  <a:lnTo>
                    <a:pt x="9001" y="68752"/>
                  </a:lnTo>
                  <a:close/>
                </a:path>
                <a:path w="11429" h="4246245">
                  <a:moveTo>
                    <a:pt x="9001" y="2291"/>
                  </a:moveTo>
                  <a:lnTo>
                    <a:pt x="2298" y="2291"/>
                  </a:lnTo>
                  <a:lnTo>
                    <a:pt x="2298" y="4201"/>
                  </a:lnTo>
                  <a:lnTo>
                    <a:pt x="0" y="6493"/>
                  </a:lnTo>
                  <a:lnTo>
                    <a:pt x="0" y="34376"/>
                  </a:lnTo>
                  <a:lnTo>
                    <a:pt x="2298" y="36667"/>
                  </a:lnTo>
                  <a:lnTo>
                    <a:pt x="2298" y="38959"/>
                  </a:lnTo>
                  <a:lnTo>
                    <a:pt x="9001" y="38959"/>
                  </a:lnTo>
                  <a:lnTo>
                    <a:pt x="9001" y="36667"/>
                  </a:lnTo>
                  <a:lnTo>
                    <a:pt x="11299" y="34376"/>
                  </a:lnTo>
                  <a:lnTo>
                    <a:pt x="11299" y="6493"/>
                  </a:lnTo>
                  <a:lnTo>
                    <a:pt x="9001" y="4201"/>
                  </a:lnTo>
                  <a:lnTo>
                    <a:pt x="9001" y="2291"/>
                  </a:lnTo>
                  <a:close/>
                </a:path>
                <a:path w="11429" h="4246245">
                  <a:moveTo>
                    <a:pt x="7086" y="0"/>
                  </a:moveTo>
                  <a:lnTo>
                    <a:pt x="4596" y="2291"/>
                  </a:lnTo>
                  <a:lnTo>
                    <a:pt x="7086" y="2291"/>
                  </a:lnTo>
                  <a:lnTo>
                    <a:pt x="7086" y="0"/>
                  </a:lnTo>
                  <a:close/>
                </a:path>
              </a:pathLst>
            </a:custGeom>
            <a:solidFill>
              <a:srgbClr val="000000"/>
            </a:solidFill>
          </p:spPr>
          <p:txBody>
            <a:bodyPr wrap="square" lIns="0" tIns="0" rIns="0" bIns="0" rtlCol="0"/>
            <a:lstStyle/>
            <a:p/>
          </p:txBody>
        </p:sp>
        <p:pic>
          <p:nvPicPr>
            <p:cNvPr id="41" name="object 41" descr=""/>
            <p:cNvPicPr/>
            <p:nvPr/>
          </p:nvPicPr>
          <p:blipFill>
            <a:blip r:embed="rId7" cstate="print"/>
            <a:stretch>
              <a:fillRect/>
            </a:stretch>
          </p:blipFill>
          <p:spPr>
            <a:xfrm>
              <a:off x="6800207" y="2639426"/>
              <a:ext cx="13980" cy="3405526"/>
            </a:xfrm>
            <a:prstGeom prst="rect">
              <a:avLst/>
            </a:prstGeom>
          </p:spPr>
        </p:pic>
        <p:sp>
          <p:nvSpPr>
            <p:cNvPr id="42" name="object 42" descr=""/>
            <p:cNvSpPr/>
            <p:nvPr/>
          </p:nvSpPr>
          <p:spPr>
            <a:xfrm>
              <a:off x="6801548" y="1797408"/>
              <a:ext cx="11430" cy="393065"/>
            </a:xfrm>
            <a:custGeom>
              <a:avLst/>
              <a:gdLst/>
              <a:ahLst/>
              <a:cxnLst/>
              <a:rect l="l" t="t" r="r" b="b"/>
              <a:pathLst>
                <a:path w="11429" h="393064">
                  <a:moveTo>
                    <a:pt x="0" y="388258"/>
                  </a:moveTo>
                  <a:lnTo>
                    <a:pt x="2298" y="385775"/>
                  </a:lnTo>
                  <a:lnTo>
                    <a:pt x="4596" y="383483"/>
                  </a:lnTo>
                  <a:lnTo>
                    <a:pt x="7086" y="383483"/>
                  </a:lnTo>
                  <a:lnTo>
                    <a:pt x="9001" y="385775"/>
                  </a:lnTo>
                  <a:lnTo>
                    <a:pt x="11299" y="388258"/>
                  </a:lnTo>
                  <a:lnTo>
                    <a:pt x="9001" y="390549"/>
                  </a:lnTo>
                  <a:lnTo>
                    <a:pt x="9001" y="392841"/>
                  </a:lnTo>
                  <a:lnTo>
                    <a:pt x="7086" y="392841"/>
                  </a:lnTo>
                  <a:lnTo>
                    <a:pt x="4596" y="392841"/>
                  </a:lnTo>
                  <a:lnTo>
                    <a:pt x="2298" y="392841"/>
                  </a:lnTo>
                  <a:lnTo>
                    <a:pt x="2298" y="390549"/>
                  </a:lnTo>
                  <a:lnTo>
                    <a:pt x="0" y="388258"/>
                  </a:lnTo>
                </a:path>
                <a:path w="11429" h="393064">
                  <a:moveTo>
                    <a:pt x="0" y="351399"/>
                  </a:moveTo>
                  <a:lnTo>
                    <a:pt x="0" y="321224"/>
                  </a:lnTo>
                  <a:lnTo>
                    <a:pt x="2298" y="319315"/>
                  </a:lnTo>
                  <a:lnTo>
                    <a:pt x="4596" y="317023"/>
                  </a:lnTo>
                  <a:lnTo>
                    <a:pt x="7086" y="317023"/>
                  </a:lnTo>
                  <a:lnTo>
                    <a:pt x="9001" y="319315"/>
                  </a:lnTo>
                  <a:lnTo>
                    <a:pt x="11299" y="321224"/>
                  </a:lnTo>
                  <a:lnTo>
                    <a:pt x="11299" y="351399"/>
                  </a:lnTo>
                  <a:lnTo>
                    <a:pt x="9001" y="351399"/>
                  </a:lnTo>
                  <a:lnTo>
                    <a:pt x="9001" y="353882"/>
                  </a:lnTo>
                  <a:lnTo>
                    <a:pt x="7086" y="353882"/>
                  </a:lnTo>
                  <a:lnTo>
                    <a:pt x="7086" y="356173"/>
                  </a:lnTo>
                  <a:lnTo>
                    <a:pt x="4596" y="353882"/>
                  </a:lnTo>
                  <a:lnTo>
                    <a:pt x="2298" y="353882"/>
                  </a:lnTo>
                  <a:lnTo>
                    <a:pt x="2298" y="351399"/>
                  </a:lnTo>
                  <a:lnTo>
                    <a:pt x="0" y="351399"/>
                  </a:lnTo>
                </a:path>
                <a:path w="11429" h="393064">
                  <a:moveTo>
                    <a:pt x="0" y="282647"/>
                  </a:moveTo>
                  <a:lnTo>
                    <a:pt x="2298" y="282647"/>
                  </a:lnTo>
                  <a:lnTo>
                    <a:pt x="2298" y="280355"/>
                  </a:lnTo>
                  <a:lnTo>
                    <a:pt x="4596" y="277872"/>
                  </a:lnTo>
                  <a:lnTo>
                    <a:pt x="7086" y="277872"/>
                  </a:lnTo>
                  <a:lnTo>
                    <a:pt x="9001" y="280355"/>
                  </a:lnTo>
                  <a:lnTo>
                    <a:pt x="9001" y="282647"/>
                  </a:lnTo>
                  <a:lnTo>
                    <a:pt x="11299" y="282647"/>
                  </a:lnTo>
                  <a:lnTo>
                    <a:pt x="9001" y="284557"/>
                  </a:lnTo>
                  <a:lnTo>
                    <a:pt x="9001" y="286848"/>
                  </a:lnTo>
                  <a:lnTo>
                    <a:pt x="7086" y="286848"/>
                  </a:lnTo>
                  <a:lnTo>
                    <a:pt x="4596" y="286848"/>
                  </a:lnTo>
                  <a:lnTo>
                    <a:pt x="2298" y="286848"/>
                  </a:lnTo>
                  <a:lnTo>
                    <a:pt x="2298" y="284557"/>
                  </a:lnTo>
                  <a:lnTo>
                    <a:pt x="0" y="282647"/>
                  </a:lnTo>
                </a:path>
                <a:path w="11429" h="393064">
                  <a:moveTo>
                    <a:pt x="0" y="245406"/>
                  </a:moveTo>
                  <a:lnTo>
                    <a:pt x="0" y="215805"/>
                  </a:lnTo>
                  <a:lnTo>
                    <a:pt x="2298" y="213322"/>
                  </a:lnTo>
                  <a:lnTo>
                    <a:pt x="4596" y="211030"/>
                  </a:lnTo>
                  <a:lnTo>
                    <a:pt x="7086" y="211030"/>
                  </a:lnTo>
                  <a:lnTo>
                    <a:pt x="9001" y="213322"/>
                  </a:lnTo>
                  <a:lnTo>
                    <a:pt x="11299" y="215805"/>
                  </a:lnTo>
                  <a:lnTo>
                    <a:pt x="11299" y="245406"/>
                  </a:lnTo>
                  <a:lnTo>
                    <a:pt x="9001" y="247698"/>
                  </a:lnTo>
                  <a:lnTo>
                    <a:pt x="7086" y="250181"/>
                  </a:lnTo>
                  <a:lnTo>
                    <a:pt x="4596" y="250181"/>
                  </a:lnTo>
                  <a:lnTo>
                    <a:pt x="2298" y="247698"/>
                  </a:lnTo>
                  <a:lnTo>
                    <a:pt x="0" y="245406"/>
                  </a:lnTo>
                </a:path>
                <a:path w="11429" h="393064">
                  <a:moveTo>
                    <a:pt x="0" y="178946"/>
                  </a:moveTo>
                  <a:lnTo>
                    <a:pt x="2298" y="176654"/>
                  </a:lnTo>
                  <a:lnTo>
                    <a:pt x="2298" y="174362"/>
                  </a:lnTo>
                  <a:lnTo>
                    <a:pt x="4596" y="174362"/>
                  </a:lnTo>
                  <a:lnTo>
                    <a:pt x="7086" y="171880"/>
                  </a:lnTo>
                  <a:lnTo>
                    <a:pt x="7086" y="174362"/>
                  </a:lnTo>
                  <a:lnTo>
                    <a:pt x="9001" y="174362"/>
                  </a:lnTo>
                  <a:lnTo>
                    <a:pt x="9001" y="176654"/>
                  </a:lnTo>
                  <a:lnTo>
                    <a:pt x="11299" y="178946"/>
                  </a:lnTo>
                  <a:lnTo>
                    <a:pt x="9001" y="178946"/>
                  </a:lnTo>
                  <a:lnTo>
                    <a:pt x="9001" y="181429"/>
                  </a:lnTo>
                  <a:lnTo>
                    <a:pt x="7086" y="181429"/>
                  </a:lnTo>
                  <a:lnTo>
                    <a:pt x="7086" y="183720"/>
                  </a:lnTo>
                  <a:lnTo>
                    <a:pt x="4596" y="181429"/>
                  </a:lnTo>
                  <a:lnTo>
                    <a:pt x="2298" y="181429"/>
                  </a:lnTo>
                  <a:lnTo>
                    <a:pt x="2298" y="178946"/>
                  </a:lnTo>
                  <a:lnTo>
                    <a:pt x="0" y="178946"/>
                  </a:lnTo>
                </a:path>
                <a:path w="11429" h="393064">
                  <a:moveTo>
                    <a:pt x="0" y="139795"/>
                  </a:moveTo>
                  <a:lnTo>
                    <a:pt x="0" y="110194"/>
                  </a:lnTo>
                  <a:lnTo>
                    <a:pt x="2298" y="110194"/>
                  </a:lnTo>
                  <a:lnTo>
                    <a:pt x="2298" y="107902"/>
                  </a:lnTo>
                  <a:lnTo>
                    <a:pt x="4596" y="105419"/>
                  </a:lnTo>
                  <a:lnTo>
                    <a:pt x="7086" y="105419"/>
                  </a:lnTo>
                  <a:lnTo>
                    <a:pt x="9001" y="107902"/>
                  </a:lnTo>
                  <a:lnTo>
                    <a:pt x="9001" y="110194"/>
                  </a:lnTo>
                  <a:lnTo>
                    <a:pt x="11299" y="110194"/>
                  </a:lnTo>
                  <a:lnTo>
                    <a:pt x="11299" y="139795"/>
                  </a:lnTo>
                  <a:lnTo>
                    <a:pt x="9001" y="142278"/>
                  </a:lnTo>
                  <a:lnTo>
                    <a:pt x="7086" y="144570"/>
                  </a:lnTo>
                  <a:lnTo>
                    <a:pt x="4596" y="144570"/>
                  </a:lnTo>
                  <a:lnTo>
                    <a:pt x="2298" y="142278"/>
                  </a:lnTo>
                  <a:lnTo>
                    <a:pt x="0" y="139795"/>
                  </a:lnTo>
                </a:path>
                <a:path w="11429" h="393064">
                  <a:moveTo>
                    <a:pt x="0" y="73526"/>
                  </a:moveTo>
                  <a:lnTo>
                    <a:pt x="2298" y="71043"/>
                  </a:lnTo>
                  <a:lnTo>
                    <a:pt x="2298" y="68752"/>
                  </a:lnTo>
                  <a:lnTo>
                    <a:pt x="4596" y="68752"/>
                  </a:lnTo>
                  <a:lnTo>
                    <a:pt x="7086" y="68752"/>
                  </a:lnTo>
                  <a:lnTo>
                    <a:pt x="9001" y="68752"/>
                  </a:lnTo>
                  <a:lnTo>
                    <a:pt x="9001" y="71043"/>
                  </a:lnTo>
                  <a:lnTo>
                    <a:pt x="11299" y="73526"/>
                  </a:lnTo>
                  <a:lnTo>
                    <a:pt x="9001" y="75818"/>
                  </a:lnTo>
                  <a:lnTo>
                    <a:pt x="7086" y="77728"/>
                  </a:lnTo>
                  <a:lnTo>
                    <a:pt x="4596" y="77728"/>
                  </a:lnTo>
                  <a:lnTo>
                    <a:pt x="2298" y="75818"/>
                  </a:lnTo>
                  <a:lnTo>
                    <a:pt x="0" y="73526"/>
                  </a:lnTo>
                </a:path>
                <a:path w="11429" h="393064">
                  <a:moveTo>
                    <a:pt x="0" y="34376"/>
                  </a:moveTo>
                  <a:lnTo>
                    <a:pt x="0" y="6493"/>
                  </a:lnTo>
                  <a:lnTo>
                    <a:pt x="2298" y="4201"/>
                  </a:lnTo>
                  <a:lnTo>
                    <a:pt x="2298" y="2291"/>
                  </a:lnTo>
                  <a:lnTo>
                    <a:pt x="4596" y="2291"/>
                  </a:lnTo>
                  <a:lnTo>
                    <a:pt x="7086" y="0"/>
                  </a:lnTo>
                  <a:lnTo>
                    <a:pt x="7086" y="2291"/>
                  </a:lnTo>
                  <a:lnTo>
                    <a:pt x="9001" y="2291"/>
                  </a:lnTo>
                  <a:lnTo>
                    <a:pt x="9001" y="4201"/>
                  </a:lnTo>
                  <a:lnTo>
                    <a:pt x="11299" y="6493"/>
                  </a:lnTo>
                  <a:lnTo>
                    <a:pt x="11299" y="34376"/>
                  </a:lnTo>
                  <a:lnTo>
                    <a:pt x="9001" y="36667"/>
                  </a:lnTo>
                  <a:lnTo>
                    <a:pt x="9001" y="38959"/>
                  </a:lnTo>
                  <a:lnTo>
                    <a:pt x="7086" y="38959"/>
                  </a:lnTo>
                  <a:lnTo>
                    <a:pt x="4596" y="38959"/>
                  </a:lnTo>
                  <a:lnTo>
                    <a:pt x="2298" y="38959"/>
                  </a:lnTo>
                  <a:lnTo>
                    <a:pt x="2298" y="36667"/>
                  </a:lnTo>
                  <a:lnTo>
                    <a:pt x="0" y="34376"/>
                  </a:lnTo>
                </a:path>
              </a:pathLst>
            </a:custGeom>
            <a:ln w="3175">
              <a:solidFill>
                <a:srgbClr val="000000"/>
              </a:solidFill>
            </a:ln>
          </p:spPr>
          <p:txBody>
            <a:bodyPr wrap="square" lIns="0" tIns="0" rIns="0" bIns="0" rtlCol="0"/>
            <a:lstStyle/>
            <a:p/>
          </p:txBody>
        </p:sp>
        <p:sp>
          <p:nvSpPr>
            <p:cNvPr id="43" name="object 43" descr=""/>
            <p:cNvSpPr/>
            <p:nvPr/>
          </p:nvSpPr>
          <p:spPr>
            <a:xfrm>
              <a:off x="7529714" y="1799699"/>
              <a:ext cx="9525" cy="4244340"/>
            </a:xfrm>
            <a:custGeom>
              <a:avLst/>
              <a:gdLst/>
              <a:ahLst/>
              <a:cxnLst/>
              <a:rect l="l" t="t" r="r" b="b"/>
              <a:pathLst>
                <a:path w="9525" h="4244340">
                  <a:moveTo>
                    <a:pt x="4788" y="4211872"/>
                  </a:moveTo>
                  <a:lnTo>
                    <a:pt x="2298" y="4211872"/>
                  </a:lnTo>
                  <a:lnTo>
                    <a:pt x="0" y="4214227"/>
                  </a:lnTo>
                  <a:lnTo>
                    <a:pt x="0" y="4243912"/>
                  </a:lnTo>
                  <a:lnTo>
                    <a:pt x="9001" y="4243912"/>
                  </a:lnTo>
                  <a:lnTo>
                    <a:pt x="9001" y="4216583"/>
                  </a:lnTo>
                  <a:lnTo>
                    <a:pt x="6703" y="4214227"/>
                  </a:lnTo>
                  <a:lnTo>
                    <a:pt x="4788" y="4211872"/>
                  </a:lnTo>
                  <a:close/>
                </a:path>
                <a:path w="9525" h="4244340">
                  <a:moveTo>
                    <a:pt x="4788" y="4182188"/>
                  </a:moveTo>
                  <a:lnTo>
                    <a:pt x="2298" y="4182188"/>
                  </a:lnTo>
                  <a:lnTo>
                    <a:pt x="4788" y="4184543"/>
                  </a:lnTo>
                  <a:lnTo>
                    <a:pt x="4788" y="4182188"/>
                  </a:lnTo>
                  <a:close/>
                </a:path>
                <a:path w="9525" h="4244340">
                  <a:moveTo>
                    <a:pt x="4788" y="4172763"/>
                  </a:moveTo>
                  <a:lnTo>
                    <a:pt x="2298" y="4172763"/>
                  </a:lnTo>
                  <a:lnTo>
                    <a:pt x="0" y="4175120"/>
                  </a:lnTo>
                  <a:lnTo>
                    <a:pt x="0" y="4182188"/>
                  </a:lnTo>
                  <a:lnTo>
                    <a:pt x="6703" y="4182188"/>
                  </a:lnTo>
                  <a:lnTo>
                    <a:pt x="6703" y="4179831"/>
                  </a:lnTo>
                  <a:lnTo>
                    <a:pt x="9001" y="4177475"/>
                  </a:lnTo>
                  <a:lnTo>
                    <a:pt x="6703" y="4177475"/>
                  </a:lnTo>
                  <a:lnTo>
                    <a:pt x="6703" y="4175120"/>
                  </a:lnTo>
                  <a:lnTo>
                    <a:pt x="4788" y="4172763"/>
                  </a:lnTo>
                  <a:close/>
                </a:path>
                <a:path w="9525" h="4244340">
                  <a:moveTo>
                    <a:pt x="4788" y="4106328"/>
                  </a:moveTo>
                  <a:lnTo>
                    <a:pt x="2298" y="4106328"/>
                  </a:lnTo>
                  <a:lnTo>
                    <a:pt x="0" y="4108683"/>
                  </a:lnTo>
                  <a:lnTo>
                    <a:pt x="0" y="4143080"/>
                  </a:lnTo>
                  <a:lnTo>
                    <a:pt x="2298" y="4145436"/>
                  </a:lnTo>
                  <a:lnTo>
                    <a:pt x="4788" y="4145436"/>
                  </a:lnTo>
                  <a:lnTo>
                    <a:pt x="6703" y="4143080"/>
                  </a:lnTo>
                  <a:lnTo>
                    <a:pt x="9001" y="4140723"/>
                  </a:lnTo>
                  <a:lnTo>
                    <a:pt x="9001" y="4111039"/>
                  </a:lnTo>
                  <a:lnTo>
                    <a:pt x="6703" y="4108683"/>
                  </a:lnTo>
                  <a:lnTo>
                    <a:pt x="4788" y="4106328"/>
                  </a:lnTo>
                  <a:close/>
                </a:path>
                <a:path w="9525" h="4244340">
                  <a:moveTo>
                    <a:pt x="4788" y="4076644"/>
                  </a:moveTo>
                  <a:lnTo>
                    <a:pt x="2298" y="4076644"/>
                  </a:lnTo>
                  <a:lnTo>
                    <a:pt x="4788" y="4078527"/>
                  </a:lnTo>
                  <a:lnTo>
                    <a:pt x="4788" y="4076644"/>
                  </a:lnTo>
                  <a:close/>
                </a:path>
                <a:path w="9525" h="4244340">
                  <a:moveTo>
                    <a:pt x="6703" y="4069576"/>
                  </a:moveTo>
                  <a:lnTo>
                    <a:pt x="0" y="4069576"/>
                  </a:lnTo>
                  <a:lnTo>
                    <a:pt x="0" y="4076644"/>
                  </a:lnTo>
                  <a:lnTo>
                    <a:pt x="6703" y="4076644"/>
                  </a:lnTo>
                  <a:lnTo>
                    <a:pt x="6703" y="4074287"/>
                  </a:lnTo>
                  <a:lnTo>
                    <a:pt x="9001" y="4074287"/>
                  </a:lnTo>
                  <a:lnTo>
                    <a:pt x="6703" y="4071931"/>
                  </a:lnTo>
                  <a:lnTo>
                    <a:pt x="6703" y="4069576"/>
                  </a:lnTo>
                  <a:close/>
                </a:path>
                <a:path w="9525" h="4244340">
                  <a:moveTo>
                    <a:pt x="4788" y="4000778"/>
                  </a:moveTo>
                  <a:lnTo>
                    <a:pt x="2298" y="4000778"/>
                  </a:lnTo>
                  <a:lnTo>
                    <a:pt x="0" y="4003146"/>
                  </a:lnTo>
                  <a:lnTo>
                    <a:pt x="0" y="4037541"/>
                  </a:lnTo>
                  <a:lnTo>
                    <a:pt x="2298" y="4039890"/>
                  </a:lnTo>
                  <a:lnTo>
                    <a:pt x="4788" y="4039890"/>
                  </a:lnTo>
                  <a:lnTo>
                    <a:pt x="6703" y="4037541"/>
                  </a:lnTo>
                  <a:lnTo>
                    <a:pt x="9001" y="4035173"/>
                  </a:lnTo>
                  <a:lnTo>
                    <a:pt x="9001" y="4005018"/>
                  </a:lnTo>
                  <a:lnTo>
                    <a:pt x="6703" y="4005018"/>
                  </a:lnTo>
                  <a:lnTo>
                    <a:pt x="6703" y="4003146"/>
                  </a:lnTo>
                  <a:lnTo>
                    <a:pt x="4788" y="4000778"/>
                  </a:lnTo>
                  <a:close/>
                </a:path>
                <a:path w="9525" h="4244340">
                  <a:moveTo>
                    <a:pt x="6703" y="3964034"/>
                  </a:moveTo>
                  <a:lnTo>
                    <a:pt x="0" y="3964034"/>
                  </a:lnTo>
                  <a:lnTo>
                    <a:pt x="0" y="3970623"/>
                  </a:lnTo>
                  <a:lnTo>
                    <a:pt x="2298" y="3972991"/>
                  </a:lnTo>
                  <a:lnTo>
                    <a:pt x="4788" y="3972991"/>
                  </a:lnTo>
                  <a:lnTo>
                    <a:pt x="6703" y="3970623"/>
                  </a:lnTo>
                  <a:lnTo>
                    <a:pt x="9001" y="3968274"/>
                  </a:lnTo>
                  <a:lnTo>
                    <a:pt x="6703" y="3966383"/>
                  </a:lnTo>
                  <a:lnTo>
                    <a:pt x="6703" y="3964034"/>
                  </a:lnTo>
                  <a:close/>
                </a:path>
                <a:path w="9525" h="4244340">
                  <a:moveTo>
                    <a:pt x="6703" y="3897115"/>
                  </a:moveTo>
                  <a:lnTo>
                    <a:pt x="0" y="3897115"/>
                  </a:lnTo>
                  <a:lnTo>
                    <a:pt x="0" y="3933878"/>
                  </a:lnTo>
                  <a:lnTo>
                    <a:pt x="6703" y="3933878"/>
                  </a:lnTo>
                  <a:lnTo>
                    <a:pt x="6703" y="3931529"/>
                  </a:lnTo>
                  <a:lnTo>
                    <a:pt x="9001" y="3929161"/>
                  </a:lnTo>
                  <a:lnTo>
                    <a:pt x="9001" y="3901832"/>
                  </a:lnTo>
                  <a:lnTo>
                    <a:pt x="6703" y="3899483"/>
                  </a:lnTo>
                  <a:lnTo>
                    <a:pt x="6703" y="3897115"/>
                  </a:lnTo>
                  <a:close/>
                </a:path>
                <a:path w="9525" h="4244340">
                  <a:moveTo>
                    <a:pt x="6703" y="3858022"/>
                  </a:moveTo>
                  <a:lnTo>
                    <a:pt x="0" y="3858022"/>
                  </a:lnTo>
                  <a:lnTo>
                    <a:pt x="0" y="3865088"/>
                  </a:lnTo>
                  <a:lnTo>
                    <a:pt x="2298" y="3867437"/>
                  </a:lnTo>
                  <a:lnTo>
                    <a:pt x="4788" y="3867437"/>
                  </a:lnTo>
                  <a:lnTo>
                    <a:pt x="6703" y="3865088"/>
                  </a:lnTo>
                  <a:lnTo>
                    <a:pt x="9001" y="3862720"/>
                  </a:lnTo>
                  <a:lnTo>
                    <a:pt x="6703" y="3860371"/>
                  </a:lnTo>
                  <a:lnTo>
                    <a:pt x="6703" y="3858022"/>
                  </a:lnTo>
                  <a:close/>
                </a:path>
                <a:path w="9525" h="4244340">
                  <a:moveTo>
                    <a:pt x="6703" y="3791581"/>
                  </a:moveTo>
                  <a:lnTo>
                    <a:pt x="0" y="3791581"/>
                  </a:lnTo>
                  <a:lnTo>
                    <a:pt x="0" y="3828325"/>
                  </a:lnTo>
                  <a:lnTo>
                    <a:pt x="6703" y="3828325"/>
                  </a:lnTo>
                  <a:lnTo>
                    <a:pt x="6703" y="3825976"/>
                  </a:lnTo>
                  <a:lnTo>
                    <a:pt x="9001" y="3823627"/>
                  </a:lnTo>
                  <a:lnTo>
                    <a:pt x="9001" y="3796298"/>
                  </a:lnTo>
                  <a:lnTo>
                    <a:pt x="6703" y="3793930"/>
                  </a:lnTo>
                  <a:lnTo>
                    <a:pt x="6703" y="3791581"/>
                  </a:lnTo>
                  <a:close/>
                </a:path>
                <a:path w="9525" h="4244340">
                  <a:moveTo>
                    <a:pt x="4788" y="3752469"/>
                  </a:moveTo>
                  <a:lnTo>
                    <a:pt x="2298" y="3752469"/>
                  </a:lnTo>
                  <a:lnTo>
                    <a:pt x="0" y="3754837"/>
                  </a:lnTo>
                  <a:lnTo>
                    <a:pt x="0" y="3761425"/>
                  </a:lnTo>
                  <a:lnTo>
                    <a:pt x="6703" y="3761425"/>
                  </a:lnTo>
                  <a:lnTo>
                    <a:pt x="6703" y="3759535"/>
                  </a:lnTo>
                  <a:lnTo>
                    <a:pt x="9001" y="3757186"/>
                  </a:lnTo>
                  <a:lnTo>
                    <a:pt x="6703" y="3754837"/>
                  </a:lnTo>
                  <a:lnTo>
                    <a:pt x="4788" y="3752469"/>
                  </a:lnTo>
                  <a:close/>
                </a:path>
                <a:path w="9525" h="4244340">
                  <a:moveTo>
                    <a:pt x="4788" y="3722791"/>
                  </a:moveTo>
                  <a:lnTo>
                    <a:pt x="2298" y="3722791"/>
                  </a:lnTo>
                  <a:lnTo>
                    <a:pt x="4788" y="3724681"/>
                  </a:lnTo>
                  <a:lnTo>
                    <a:pt x="4788" y="3722791"/>
                  </a:lnTo>
                  <a:close/>
                </a:path>
                <a:path w="9525" h="4244340">
                  <a:moveTo>
                    <a:pt x="6703" y="3685569"/>
                  </a:moveTo>
                  <a:lnTo>
                    <a:pt x="0" y="3685569"/>
                  </a:lnTo>
                  <a:lnTo>
                    <a:pt x="0" y="3722791"/>
                  </a:lnTo>
                  <a:lnTo>
                    <a:pt x="6703" y="3722791"/>
                  </a:lnTo>
                  <a:lnTo>
                    <a:pt x="6703" y="3720422"/>
                  </a:lnTo>
                  <a:lnTo>
                    <a:pt x="9001" y="3718073"/>
                  </a:lnTo>
                  <a:lnTo>
                    <a:pt x="9001" y="3690267"/>
                  </a:lnTo>
                  <a:lnTo>
                    <a:pt x="6703" y="3687918"/>
                  </a:lnTo>
                  <a:lnTo>
                    <a:pt x="6703" y="3685569"/>
                  </a:lnTo>
                  <a:close/>
                </a:path>
                <a:path w="9525" h="4244340">
                  <a:moveTo>
                    <a:pt x="4788" y="3646934"/>
                  </a:moveTo>
                  <a:lnTo>
                    <a:pt x="2298" y="3646934"/>
                  </a:lnTo>
                  <a:lnTo>
                    <a:pt x="0" y="3648806"/>
                  </a:lnTo>
                  <a:lnTo>
                    <a:pt x="0" y="3655872"/>
                  </a:lnTo>
                  <a:lnTo>
                    <a:pt x="6703" y="3655872"/>
                  </a:lnTo>
                  <a:lnTo>
                    <a:pt x="6703" y="3653523"/>
                  </a:lnTo>
                  <a:lnTo>
                    <a:pt x="9001" y="3651174"/>
                  </a:lnTo>
                  <a:lnTo>
                    <a:pt x="6703" y="3648806"/>
                  </a:lnTo>
                  <a:lnTo>
                    <a:pt x="4788" y="3646934"/>
                  </a:lnTo>
                  <a:close/>
                </a:path>
                <a:path w="9525" h="4244340">
                  <a:moveTo>
                    <a:pt x="4788" y="3616779"/>
                  </a:moveTo>
                  <a:lnTo>
                    <a:pt x="2298" y="3616779"/>
                  </a:lnTo>
                  <a:lnTo>
                    <a:pt x="4788" y="3619128"/>
                  </a:lnTo>
                  <a:lnTo>
                    <a:pt x="4788" y="3616779"/>
                  </a:lnTo>
                  <a:close/>
                </a:path>
                <a:path w="9525" h="4244340">
                  <a:moveTo>
                    <a:pt x="4788" y="3580015"/>
                  </a:moveTo>
                  <a:lnTo>
                    <a:pt x="2298" y="3580015"/>
                  </a:lnTo>
                  <a:lnTo>
                    <a:pt x="0" y="3582384"/>
                  </a:lnTo>
                  <a:lnTo>
                    <a:pt x="0" y="3616779"/>
                  </a:lnTo>
                  <a:lnTo>
                    <a:pt x="6703" y="3616779"/>
                  </a:lnTo>
                  <a:lnTo>
                    <a:pt x="6703" y="3614411"/>
                  </a:lnTo>
                  <a:lnTo>
                    <a:pt x="9001" y="3614411"/>
                  </a:lnTo>
                  <a:lnTo>
                    <a:pt x="9001" y="3584733"/>
                  </a:lnTo>
                  <a:lnTo>
                    <a:pt x="6703" y="3582384"/>
                  </a:lnTo>
                  <a:lnTo>
                    <a:pt x="4788" y="3580015"/>
                  </a:lnTo>
                  <a:close/>
                </a:path>
                <a:path w="9525" h="4244340">
                  <a:moveTo>
                    <a:pt x="4788" y="3550337"/>
                  </a:moveTo>
                  <a:lnTo>
                    <a:pt x="2298" y="3550337"/>
                  </a:lnTo>
                  <a:lnTo>
                    <a:pt x="4788" y="3552686"/>
                  </a:lnTo>
                  <a:lnTo>
                    <a:pt x="4788" y="3550337"/>
                  </a:lnTo>
                  <a:close/>
                </a:path>
                <a:path w="9525" h="4244340">
                  <a:moveTo>
                    <a:pt x="4788" y="3540903"/>
                  </a:moveTo>
                  <a:lnTo>
                    <a:pt x="2298" y="3540903"/>
                  </a:lnTo>
                  <a:lnTo>
                    <a:pt x="0" y="3543271"/>
                  </a:lnTo>
                  <a:lnTo>
                    <a:pt x="0" y="3550337"/>
                  </a:lnTo>
                  <a:lnTo>
                    <a:pt x="6703" y="3550337"/>
                  </a:lnTo>
                  <a:lnTo>
                    <a:pt x="6703" y="3547988"/>
                  </a:lnTo>
                  <a:lnTo>
                    <a:pt x="9001" y="3545620"/>
                  </a:lnTo>
                  <a:lnTo>
                    <a:pt x="6703" y="3545620"/>
                  </a:lnTo>
                  <a:lnTo>
                    <a:pt x="6703" y="3543271"/>
                  </a:lnTo>
                  <a:lnTo>
                    <a:pt x="4788" y="3540903"/>
                  </a:lnTo>
                  <a:close/>
                </a:path>
                <a:path w="9525" h="4244340">
                  <a:moveTo>
                    <a:pt x="4788" y="3474481"/>
                  </a:moveTo>
                  <a:lnTo>
                    <a:pt x="2298" y="3474481"/>
                  </a:lnTo>
                  <a:lnTo>
                    <a:pt x="0" y="3476830"/>
                  </a:lnTo>
                  <a:lnTo>
                    <a:pt x="0" y="3511225"/>
                  </a:lnTo>
                  <a:lnTo>
                    <a:pt x="2298" y="3513593"/>
                  </a:lnTo>
                  <a:lnTo>
                    <a:pt x="4788" y="3513593"/>
                  </a:lnTo>
                  <a:lnTo>
                    <a:pt x="6703" y="3511225"/>
                  </a:lnTo>
                  <a:lnTo>
                    <a:pt x="9001" y="3508876"/>
                  </a:lnTo>
                  <a:lnTo>
                    <a:pt x="9001" y="3479179"/>
                  </a:lnTo>
                  <a:lnTo>
                    <a:pt x="6703" y="3476830"/>
                  </a:lnTo>
                  <a:lnTo>
                    <a:pt x="4788" y="3474481"/>
                  </a:lnTo>
                  <a:close/>
                </a:path>
                <a:path w="9525" h="4244340">
                  <a:moveTo>
                    <a:pt x="4788" y="3444326"/>
                  </a:moveTo>
                  <a:lnTo>
                    <a:pt x="2298" y="3444326"/>
                  </a:lnTo>
                  <a:lnTo>
                    <a:pt x="4788" y="3446675"/>
                  </a:lnTo>
                  <a:lnTo>
                    <a:pt x="4788" y="3444326"/>
                  </a:lnTo>
                  <a:close/>
                </a:path>
                <a:path w="9525" h="4244340">
                  <a:moveTo>
                    <a:pt x="6703" y="3437718"/>
                  </a:moveTo>
                  <a:lnTo>
                    <a:pt x="0" y="3437718"/>
                  </a:lnTo>
                  <a:lnTo>
                    <a:pt x="0" y="3444326"/>
                  </a:lnTo>
                  <a:lnTo>
                    <a:pt x="6703" y="3444326"/>
                  </a:lnTo>
                  <a:lnTo>
                    <a:pt x="6703" y="3442435"/>
                  </a:lnTo>
                  <a:lnTo>
                    <a:pt x="9001" y="3442435"/>
                  </a:lnTo>
                  <a:lnTo>
                    <a:pt x="6703" y="3440086"/>
                  </a:lnTo>
                  <a:lnTo>
                    <a:pt x="6703" y="3437718"/>
                  </a:lnTo>
                  <a:close/>
                </a:path>
                <a:path w="9525" h="4244340">
                  <a:moveTo>
                    <a:pt x="4788" y="3368469"/>
                  </a:moveTo>
                  <a:lnTo>
                    <a:pt x="2298" y="3368469"/>
                  </a:lnTo>
                  <a:lnTo>
                    <a:pt x="0" y="3370818"/>
                  </a:lnTo>
                  <a:lnTo>
                    <a:pt x="0" y="3405213"/>
                  </a:lnTo>
                  <a:lnTo>
                    <a:pt x="2298" y="3407562"/>
                  </a:lnTo>
                  <a:lnTo>
                    <a:pt x="4788" y="3407562"/>
                  </a:lnTo>
                  <a:lnTo>
                    <a:pt x="6703" y="3405213"/>
                  </a:lnTo>
                  <a:lnTo>
                    <a:pt x="9001" y="3403323"/>
                  </a:lnTo>
                  <a:lnTo>
                    <a:pt x="9001" y="3373167"/>
                  </a:lnTo>
                  <a:lnTo>
                    <a:pt x="6703" y="3373167"/>
                  </a:lnTo>
                  <a:lnTo>
                    <a:pt x="6703" y="3370818"/>
                  </a:lnTo>
                  <a:lnTo>
                    <a:pt x="4788" y="3368469"/>
                  </a:lnTo>
                  <a:close/>
                </a:path>
                <a:path w="9525" h="4244340">
                  <a:moveTo>
                    <a:pt x="6703" y="3331706"/>
                  </a:moveTo>
                  <a:lnTo>
                    <a:pt x="0" y="3331706"/>
                  </a:lnTo>
                  <a:lnTo>
                    <a:pt x="0" y="3338772"/>
                  </a:lnTo>
                  <a:lnTo>
                    <a:pt x="2298" y="3341140"/>
                  </a:lnTo>
                  <a:lnTo>
                    <a:pt x="4788" y="3341140"/>
                  </a:lnTo>
                  <a:lnTo>
                    <a:pt x="6703" y="3338772"/>
                  </a:lnTo>
                  <a:lnTo>
                    <a:pt x="9001" y="3336423"/>
                  </a:lnTo>
                  <a:lnTo>
                    <a:pt x="6703" y="3334074"/>
                  </a:lnTo>
                  <a:lnTo>
                    <a:pt x="6703" y="3331706"/>
                  </a:lnTo>
                  <a:close/>
                </a:path>
                <a:path w="9525" h="4244340">
                  <a:moveTo>
                    <a:pt x="6703" y="3265265"/>
                  </a:moveTo>
                  <a:lnTo>
                    <a:pt x="0" y="3265265"/>
                  </a:lnTo>
                  <a:lnTo>
                    <a:pt x="0" y="3302028"/>
                  </a:lnTo>
                  <a:lnTo>
                    <a:pt x="6703" y="3302028"/>
                  </a:lnTo>
                  <a:lnTo>
                    <a:pt x="6703" y="3299660"/>
                  </a:lnTo>
                  <a:lnTo>
                    <a:pt x="9001" y="3297311"/>
                  </a:lnTo>
                  <a:lnTo>
                    <a:pt x="9001" y="3269982"/>
                  </a:lnTo>
                  <a:lnTo>
                    <a:pt x="6703" y="3267633"/>
                  </a:lnTo>
                  <a:lnTo>
                    <a:pt x="6703" y="3265265"/>
                  </a:lnTo>
                  <a:close/>
                </a:path>
                <a:path w="9525" h="4244340">
                  <a:moveTo>
                    <a:pt x="4788" y="3262916"/>
                  </a:moveTo>
                  <a:lnTo>
                    <a:pt x="2298" y="3265265"/>
                  </a:lnTo>
                  <a:lnTo>
                    <a:pt x="4788" y="3265265"/>
                  </a:lnTo>
                  <a:lnTo>
                    <a:pt x="4788" y="3262916"/>
                  </a:lnTo>
                  <a:close/>
                </a:path>
                <a:path w="9525" h="4244340">
                  <a:moveTo>
                    <a:pt x="6703" y="3226171"/>
                  </a:moveTo>
                  <a:lnTo>
                    <a:pt x="0" y="3226171"/>
                  </a:lnTo>
                  <a:lnTo>
                    <a:pt x="0" y="3233238"/>
                  </a:lnTo>
                  <a:lnTo>
                    <a:pt x="2298" y="3235587"/>
                  </a:lnTo>
                  <a:lnTo>
                    <a:pt x="4788" y="3235587"/>
                  </a:lnTo>
                  <a:lnTo>
                    <a:pt x="6703" y="3233238"/>
                  </a:lnTo>
                  <a:lnTo>
                    <a:pt x="9001" y="3230869"/>
                  </a:lnTo>
                  <a:lnTo>
                    <a:pt x="6703" y="3228520"/>
                  </a:lnTo>
                  <a:lnTo>
                    <a:pt x="6703" y="3226171"/>
                  </a:lnTo>
                  <a:close/>
                </a:path>
                <a:path w="9525" h="4244340">
                  <a:moveTo>
                    <a:pt x="6703" y="3159730"/>
                  </a:moveTo>
                  <a:lnTo>
                    <a:pt x="0" y="3159730"/>
                  </a:lnTo>
                  <a:lnTo>
                    <a:pt x="0" y="3196474"/>
                  </a:lnTo>
                  <a:lnTo>
                    <a:pt x="6703" y="3196474"/>
                  </a:lnTo>
                  <a:lnTo>
                    <a:pt x="6703" y="3194125"/>
                  </a:lnTo>
                  <a:lnTo>
                    <a:pt x="9001" y="3191776"/>
                  </a:lnTo>
                  <a:lnTo>
                    <a:pt x="9001" y="3163970"/>
                  </a:lnTo>
                  <a:lnTo>
                    <a:pt x="6703" y="3161621"/>
                  </a:lnTo>
                  <a:lnTo>
                    <a:pt x="6703" y="3159730"/>
                  </a:lnTo>
                  <a:close/>
                </a:path>
                <a:path w="9525" h="4244340">
                  <a:moveTo>
                    <a:pt x="4788" y="3120618"/>
                  </a:moveTo>
                  <a:lnTo>
                    <a:pt x="2298" y="3120618"/>
                  </a:lnTo>
                  <a:lnTo>
                    <a:pt x="0" y="3122967"/>
                  </a:lnTo>
                  <a:lnTo>
                    <a:pt x="0" y="3129575"/>
                  </a:lnTo>
                  <a:lnTo>
                    <a:pt x="6703" y="3129575"/>
                  </a:lnTo>
                  <a:lnTo>
                    <a:pt x="6703" y="3127226"/>
                  </a:lnTo>
                  <a:lnTo>
                    <a:pt x="9001" y="3124858"/>
                  </a:lnTo>
                  <a:lnTo>
                    <a:pt x="6703" y="3122967"/>
                  </a:lnTo>
                  <a:lnTo>
                    <a:pt x="4788" y="3120618"/>
                  </a:lnTo>
                  <a:close/>
                </a:path>
                <a:path w="9525" h="4244340">
                  <a:moveTo>
                    <a:pt x="6703" y="3053718"/>
                  </a:moveTo>
                  <a:lnTo>
                    <a:pt x="0" y="3053718"/>
                  </a:lnTo>
                  <a:lnTo>
                    <a:pt x="0" y="3090462"/>
                  </a:lnTo>
                  <a:lnTo>
                    <a:pt x="6703" y="3090462"/>
                  </a:lnTo>
                  <a:lnTo>
                    <a:pt x="6703" y="3088113"/>
                  </a:lnTo>
                  <a:lnTo>
                    <a:pt x="9001" y="3086223"/>
                  </a:lnTo>
                  <a:lnTo>
                    <a:pt x="9001" y="3058416"/>
                  </a:lnTo>
                  <a:lnTo>
                    <a:pt x="6703" y="3056067"/>
                  </a:lnTo>
                  <a:lnTo>
                    <a:pt x="6703" y="3053718"/>
                  </a:lnTo>
                  <a:close/>
                </a:path>
                <a:path w="9525" h="4244340">
                  <a:moveTo>
                    <a:pt x="4788" y="3014606"/>
                  </a:moveTo>
                  <a:lnTo>
                    <a:pt x="2298" y="3014606"/>
                  </a:lnTo>
                  <a:lnTo>
                    <a:pt x="0" y="3016955"/>
                  </a:lnTo>
                  <a:lnTo>
                    <a:pt x="0" y="3024021"/>
                  </a:lnTo>
                  <a:lnTo>
                    <a:pt x="6703" y="3024021"/>
                  </a:lnTo>
                  <a:lnTo>
                    <a:pt x="6703" y="3021672"/>
                  </a:lnTo>
                  <a:lnTo>
                    <a:pt x="9001" y="3019323"/>
                  </a:lnTo>
                  <a:lnTo>
                    <a:pt x="6703" y="3016955"/>
                  </a:lnTo>
                  <a:lnTo>
                    <a:pt x="4788" y="3014606"/>
                  </a:lnTo>
                  <a:close/>
                </a:path>
                <a:path w="9525" h="4244340">
                  <a:moveTo>
                    <a:pt x="4788" y="2984928"/>
                  </a:moveTo>
                  <a:lnTo>
                    <a:pt x="2298" y="2984928"/>
                  </a:lnTo>
                  <a:lnTo>
                    <a:pt x="4788" y="2987277"/>
                  </a:lnTo>
                  <a:lnTo>
                    <a:pt x="4788" y="2984928"/>
                  </a:lnTo>
                  <a:close/>
                </a:path>
                <a:path w="9525" h="4244340">
                  <a:moveTo>
                    <a:pt x="4788" y="2948165"/>
                  </a:moveTo>
                  <a:lnTo>
                    <a:pt x="2298" y="2948165"/>
                  </a:lnTo>
                  <a:lnTo>
                    <a:pt x="0" y="2950533"/>
                  </a:lnTo>
                  <a:lnTo>
                    <a:pt x="0" y="2984928"/>
                  </a:lnTo>
                  <a:lnTo>
                    <a:pt x="6703" y="2984928"/>
                  </a:lnTo>
                  <a:lnTo>
                    <a:pt x="6703" y="2982560"/>
                  </a:lnTo>
                  <a:lnTo>
                    <a:pt x="9001" y="2982560"/>
                  </a:lnTo>
                  <a:lnTo>
                    <a:pt x="9001" y="2952882"/>
                  </a:lnTo>
                  <a:lnTo>
                    <a:pt x="6703" y="2950533"/>
                  </a:lnTo>
                  <a:lnTo>
                    <a:pt x="4788" y="2948165"/>
                  </a:lnTo>
                  <a:close/>
                </a:path>
                <a:path w="9525" h="4244340">
                  <a:moveTo>
                    <a:pt x="4788" y="2909052"/>
                  </a:moveTo>
                  <a:lnTo>
                    <a:pt x="2298" y="2909052"/>
                  </a:lnTo>
                  <a:lnTo>
                    <a:pt x="0" y="2911421"/>
                  </a:lnTo>
                  <a:lnTo>
                    <a:pt x="0" y="2918487"/>
                  </a:lnTo>
                  <a:lnTo>
                    <a:pt x="6703" y="2918487"/>
                  </a:lnTo>
                  <a:lnTo>
                    <a:pt x="6703" y="2916138"/>
                  </a:lnTo>
                  <a:lnTo>
                    <a:pt x="9001" y="2913770"/>
                  </a:lnTo>
                  <a:lnTo>
                    <a:pt x="6703" y="2913770"/>
                  </a:lnTo>
                  <a:lnTo>
                    <a:pt x="6703" y="2911421"/>
                  </a:lnTo>
                  <a:lnTo>
                    <a:pt x="4788" y="2909052"/>
                  </a:lnTo>
                  <a:close/>
                </a:path>
                <a:path w="9525" h="4244340">
                  <a:moveTo>
                    <a:pt x="4788" y="2842630"/>
                  </a:moveTo>
                  <a:lnTo>
                    <a:pt x="2298" y="2842630"/>
                  </a:lnTo>
                  <a:lnTo>
                    <a:pt x="0" y="2844502"/>
                  </a:lnTo>
                  <a:lnTo>
                    <a:pt x="0" y="2879374"/>
                  </a:lnTo>
                  <a:lnTo>
                    <a:pt x="2298" y="2881265"/>
                  </a:lnTo>
                  <a:lnTo>
                    <a:pt x="4788" y="2881265"/>
                  </a:lnTo>
                  <a:lnTo>
                    <a:pt x="6703" y="2879374"/>
                  </a:lnTo>
                  <a:lnTo>
                    <a:pt x="9001" y="2877025"/>
                  </a:lnTo>
                  <a:lnTo>
                    <a:pt x="9001" y="2846870"/>
                  </a:lnTo>
                  <a:lnTo>
                    <a:pt x="6703" y="2844502"/>
                  </a:lnTo>
                  <a:lnTo>
                    <a:pt x="4788" y="2842630"/>
                  </a:lnTo>
                  <a:close/>
                </a:path>
                <a:path w="9525" h="4244340">
                  <a:moveTo>
                    <a:pt x="4788" y="2812475"/>
                  </a:moveTo>
                  <a:lnTo>
                    <a:pt x="2298" y="2812475"/>
                  </a:lnTo>
                  <a:lnTo>
                    <a:pt x="4788" y="2814824"/>
                  </a:lnTo>
                  <a:lnTo>
                    <a:pt x="4788" y="2812475"/>
                  </a:lnTo>
                  <a:close/>
                </a:path>
                <a:path w="9525" h="4244340">
                  <a:moveTo>
                    <a:pt x="6703" y="2805867"/>
                  </a:moveTo>
                  <a:lnTo>
                    <a:pt x="0" y="2805867"/>
                  </a:lnTo>
                  <a:lnTo>
                    <a:pt x="0" y="2812475"/>
                  </a:lnTo>
                  <a:lnTo>
                    <a:pt x="6703" y="2812475"/>
                  </a:lnTo>
                  <a:lnTo>
                    <a:pt x="6703" y="2810107"/>
                  </a:lnTo>
                  <a:lnTo>
                    <a:pt x="9001" y="2810107"/>
                  </a:lnTo>
                  <a:lnTo>
                    <a:pt x="6703" y="2807758"/>
                  </a:lnTo>
                  <a:lnTo>
                    <a:pt x="6703" y="2805867"/>
                  </a:lnTo>
                  <a:close/>
                </a:path>
                <a:path w="9525" h="4244340">
                  <a:moveTo>
                    <a:pt x="4788" y="2803518"/>
                  </a:moveTo>
                  <a:lnTo>
                    <a:pt x="2298" y="2805867"/>
                  </a:lnTo>
                  <a:lnTo>
                    <a:pt x="4788" y="2805867"/>
                  </a:lnTo>
                  <a:lnTo>
                    <a:pt x="4788" y="2803518"/>
                  </a:lnTo>
                  <a:close/>
                </a:path>
                <a:path w="9525" h="4244340">
                  <a:moveTo>
                    <a:pt x="4788" y="2736618"/>
                  </a:moveTo>
                  <a:lnTo>
                    <a:pt x="2298" y="2736618"/>
                  </a:lnTo>
                  <a:lnTo>
                    <a:pt x="0" y="2738967"/>
                  </a:lnTo>
                  <a:lnTo>
                    <a:pt x="0" y="2773363"/>
                  </a:lnTo>
                  <a:lnTo>
                    <a:pt x="2298" y="2775712"/>
                  </a:lnTo>
                  <a:lnTo>
                    <a:pt x="4788" y="2775712"/>
                  </a:lnTo>
                  <a:lnTo>
                    <a:pt x="6703" y="2773363"/>
                  </a:lnTo>
                  <a:lnTo>
                    <a:pt x="9001" y="2771014"/>
                  </a:lnTo>
                  <a:lnTo>
                    <a:pt x="9001" y="2741317"/>
                  </a:lnTo>
                  <a:lnTo>
                    <a:pt x="6703" y="2741317"/>
                  </a:lnTo>
                  <a:lnTo>
                    <a:pt x="6703" y="2738967"/>
                  </a:lnTo>
                  <a:lnTo>
                    <a:pt x="4788" y="2736618"/>
                  </a:lnTo>
                  <a:close/>
                </a:path>
                <a:path w="9525" h="4244340">
                  <a:moveTo>
                    <a:pt x="6703" y="2699855"/>
                  </a:moveTo>
                  <a:lnTo>
                    <a:pt x="0" y="2699855"/>
                  </a:lnTo>
                  <a:lnTo>
                    <a:pt x="0" y="2706921"/>
                  </a:lnTo>
                  <a:lnTo>
                    <a:pt x="2298" y="2709289"/>
                  </a:lnTo>
                  <a:lnTo>
                    <a:pt x="4788" y="2709289"/>
                  </a:lnTo>
                  <a:lnTo>
                    <a:pt x="6703" y="2706921"/>
                  </a:lnTo>
                  <a:lnTo>
                    <a:pt x="9001" y="2704572"/>
                  </a:lnTo>
                  <a:lnTo>
                    <a:pt x="6703" y="2702204"/>
                  </a:lnTo>
                  <a:lnTo>
                    <a:pt x="6703" y="2699855"/>
                  </a:lnTo>
                  <a:close/>
                </a:path>
                <a:path w="9525" h="4244340">
                  <a:moveTo>
                    <a:pt x="6703" y="2633414"/>
                  </a:moveTo>
                  <a:lnTo>
                    <a:pt x="0" y="2633414"/>
                  </a:lnTo>
                  <a:lnTo>
                    <a:pt x="0" y="2670177"/>
                  </a:lnTo>
                  <a:lnTo>
                    <a:pt x="6703" y="2670177"/>
                  </a:lnTo>
                  <a:lnTo>
                    <a:pt x="6703" y="2667809"/>
                  </a:lnTo>
                  <a:lnTo>
                    <a:pt x="9001" y="2665460"/>
                  </a:lnTo>
                  <a:lnTo>
                    <a:pt x="9001" y="2638131"/>
                  </a:lnTo>
                  <a:lnTo>
                    <a:pt x="6703" y="2635782"/>
                  </a:lnTo>
                  <a:lnTo>
                    <a:pt x="6703" y="2633414"/>
                  </a:lnTo>
                  <a:close/>
                </a:path>
                <a:path w="9525" h="4244340">
                  <a:moveTo>
                    <a:pt x="4788" y="2631065"/>
                  </a:moveTo>
                  <a:lnTo>
                    <a:pt x="2298" y="2633414"/>
                  </a:lnTo>
                  <a:lnTo>
                    <a:pt x="4788" y="2633414"/>
                  </a:lnTo>
                  <a:lnTo>
                    <a:pt x="4788" y="2631065"/>
                  </a:lnTo>
                  <a:close/>
                </a:path>
                <a:path w="9525" h="4244340">
                  <a:moveTo>
                    <a:pt x="6703" y="2594321"/>
                  </a:moveTo>
                  <a:lnTo>
                    <a:pt x="0" y="2594321"/>
                  </a:lnTo>
                  <a:lnTo>
                    <a:pt x="0" y="2600909"/>
                  </a:lnTo>
                  <a:lnTo>
                    <a:pt x="2298" y="2603259"/>
                  </a:lnTo>
                  <a:lnTo>
                    <a:pt x="4788" y="2603259"/>
                  </a:lnTo>
                  <a:lnTo>
                    <a:pt x="6703" y="2600909"/>
                  </a:lnTo>
                  <a:lnTo>
                    <a:pt x="9001" y="2599019"/>
                  </a:lnTo>
                  <a:lnTo>
                    <a:pt x="6703" y="2596670"/>
                  </a:lnTo>
                  <a:lnTo>
                    <a:pt x="6703" y="2594321"/>
                  </a:lnTo>
                  <a:close/>
                </a:path>
                <a:path w="9525" h="4244340">
                  <a:moveTo>
                    <a:pt x="6703" y="2527402"/>
                  </a:moveTo>
                  <a:lnTo>
                    <a:pt x="0" y="2527402"/>
                  </a:lnTo>
                  <a:lnTo>
                    <a:pt x="0" y="2564165"/>
                  </a:lnTo>
                  <a:lnTo>
                    <a:pt x="6703" y="2564165"/>
                  </a:lnTo>
                  <a:lnTo>
                    <a:pt x="6703" y="2562275"/>
                  </a:lnTo>
                  <a:lnTo>
                    <a:pt x="9001" y="2559926"/>
                  </a:lnTo>
                  <a:lnTo>
                    <a:pt x="9001" y="2532119"/>
                  </a:lnTo>
                  <a:lnTo>
                    <a:pt x="6703" y="2529770"/>
                  </a:lnTo>
                  <a:lnTo>
                    <a:pt x="6703" y="2527402"/>
                  </a:lnTo>
                  <a:close/>
                </a:path>
                <a:path w="9525" h="4244340">
                  <a:moveTo>
                    <a:pt x="4788" y="2488290"/>
                  </a:moveTo>
                  <a:lnTo>
                    <a:pt x="2298" y="2488290"/>
                  </a:lnTo>
                  <a:lnTo>
                    <a:pt x="0" y="2490658"/>
                  </a:lnTo>
                  <a:lnTo>
                    <a:pt x="0" y="2497724"/>
                  </a:lnTo>
                  <a:lnTo>
                    <a:pt x="6703" y="2497724"/>
                  </a:lnTo>
                  <a:lnTo>
                    <a:pt x="6703" y="2495375"/>
                  </a:lnTo>
                  <a:lnTo>
                    <a:pt x="9001" y="2493007"/>
                  </a:lnTo>
                  <a:lnTo>
                    <a:pt x="6703" y="2490658"/>
                  </a:lnTo>
                  <a:lnTo>
                    <a:pt x="4788" y="2488290"/>
                  </a:lnTo>
                  <a:close/>
                </a:path>
                <a:path w="9525" h="4244340">
                  <a:moveTo>
                    <a:pt x="6703" y="2421868"/>
                  </a:moveTo>
                  <a:lnTo>
                    <a:pt x="0" y="2421868"/>
                  </a:lnTo>
                  <a:lnTo>
                    <a:pt x="0" y="2458612"/>
                  </a:lnTo>
                  <a:lnTo>
                    <a:pt x="6703" y="2458612"/>
                  </a:lnTo>
                  <a:lnTo>
                    <a:pt x="6703" y="2456263"/>
                  </a:lnTo>
                  <a:lnTo>
                    <a:pt x="9001" y="2453895"/>
                  </a:lnTo>
                  <a:lnTo>
                    <a:pt x="9001" y="2426566"/>
                  </a:lnTo>
                  <a:lnTo>
                    <a:pt x="6703" y="2424217"/>
                  </a:lnTo>
                  <a:lnTo>
                    <a:pt x="6703" y="2421868"/>
                  </a:lnTo>
                  <a:close/>
                </a:path>
                <a:path w="9525" h="4244340">
                  <a:moveTo>
                    <a:pt x="4788" y="2382755"/>
                  </a:moveTo>
                  <a:lnTo>
                    <a:pt x="2298" y="2382755"/>
                  </a:lnTo>
                  <a:lnTo>
                    <a:pt x="0" y="2385104"/>
                  </a:lnTo>
                  <a:lnTo>
                    <a:pt x="0" y="2392171"/>
                  </a:lnTo>
                  <a:lnTo>
                    <a:pt x="6703" y="2392171"/>
                  </a:lnTo>
                  <a:lnTo>
                    <a:pt x="6703" y="2389822"/>
                  </a:lnTo>
                  <a:lnTo>
                    <a:pt x="9001" y="2387473"/>
                  </a:lnTo>
                  <a:lnTo>
                    <a:pt x="6703" y="2385104"/>
                  </a:lnTo>
                  <a:lnTo>
                    <a:pt x="4788" y="2382755"/>
                  </a:lnTo>
                  <a:close/>
                </a:path>
                <a:path w="9525" h="4244340">
                  <a:moveTo>
                    <a:pt x="4788" y="2353077"/>
                  </a:moveTo>
                  <a:lnTo>
                    <a:pt x="2298" y="2353077"/>
                  </a:lnTo>
                  <a:lnTo>
                    <a:pt x="4788" y="2355426"/>
                  </a:lnTo>
                  <a:lnTo>
                    <a:pt x="4788" y="2353077"/>
                  </a:lnTo>
                  <a:close/>
                </a:path>
                <a:path w="9525" h="4244340">
                  <a:moveTo>
                    <a:pt x="4788" y="2316371"/>
                  </a:moveTo>
                  <a:lnTo>
                    <a:pt x="2298" y="2316371"/>
                  </a:lnTo>
                  <a:lnTo>
                    <a:pt x="0" y="2318663"/>
                  </a:lnTo>
                  <a:lnTo>
                    <a:pt x="0" y="2353077"/>
                  </a:lnTo>
                  <a:lnTo>
                    <a:pt x="6703" y="2353077"/>
                  </a:lnTo>
                  <a:lnTo>
                    <a:pt x="6703" y="2350709"/>
                  </a:lnTo>
                  <a:lnTo>
                    <a:pt x="9001" y="2350709"/>
                  </a:lnTo>
                  <a:lnTo>
                    <a:pt x="9001" y="2320573"/>
                  </a:lnTo>
                  <a:lnTo>
                    <a:pt x="6703" y="2318663"/>
                  </a:lnTo>
                  <a:lnTo>
                    <a:pt x="4788" y="2316371"/>
                  </a:lnTo>
                  <a:close/>
                </a:path>
                <a:path w="9525" h="4244340">
                  <a:moveTo>
                    <a:pt x="4788" y="2277221"/>
                  </a:moveTo>
                  <a:lnTo>
                    <a:pt x="2298" y="2277221"/>
                  </a:lnTo>
                  <a:lnTo>
                    <a:pt x="0" y="2279513"/>
                  </a:lnTo>
                  <a:lnTo>
                    <a:pt x="0" y="2286197"/>
                  </a:lnTo>
                  <a:lnTo>
                    <a:pt x="6703" y="2286197"/>
                  </a:lnTo>
                  <a:lnTo>
                    <a:pt x="6703" y="2283714"/>
                  </a:lnTo>
                  <a:lnTo>
                    <a:pt x="9001" y="2281995"/>
                  </a:lnTo>
                  <a:lnTo>
                    <a:pt x="6703" y="2279513"/>
                  </a:lnTo>
                  <a:lnTo>
                    <a:pt x="4788" y="2277221"/>
                  </a:lnTo>
                  <a:close/>
                </a:path>
                <a:path w="9525" h="4244340">
                  <a:moveTo>
                    <a:pt x="4788" y="2210379"/>
                  </a:moveTo>
                  <a:lnTo>
                    <a:pt x="2298" y="2210379"/>
                  </a:lnTo>
                  <a:lnTo>
                    <a:pt x="0" y="2212670"/>
                  </a:lnTo>
                  <a:lnTo>
                    <a:pt x="0" y="2247046"/>
                  </a:lnTo>
                  <a:lnTo>
                    <a:pt x="2298" y="2249338"/>
                  </a:lnTo>
                  <a:lnTo>
                    <a:pt x="4788" y="2249338"/>
                  </a:lnTo>
                  <a:lnTo>
                    <a:pt x="6703" y="2247046"/>
                  </a:lnTo>
                  <a:lnTo>
                    <a:pt x="6703" y="2245137"/>
                  </a:lnTo>
                  <a:lnTo>
                    <a:pt x="9001" y="2245137"/>
                  </a:lnTo>
                  <a:lnTo>
                    <a:pt x="9001" y="2214962"/>
                  </a:lnTo>
                  <a:lnTo>
                    <a:pt x="6703" y="2212670"/>
                  </a:lnTo>
                  <a:lnTo>
                    <a:pt x="4788" y="2210379"/>
                  </a:lnTo>
                  <a:close/>
                </a:path>
                <a:path w="9525" h="4244340">
                  <a:moveTo>
                    <a:pt x="4788" y="2180586"/>
                  </a:moveTo>
                  <a:lnTo>
                    <a:pt x="2298" y="2180586"/>
                  </a:lnTo>
                  <a:lnTo>
                    <a:pt x="4788" y="2183069"/>
                  </a:lnTo>
                  <a:lnTo>
                    <a:pt x="4788" y="2180586"/>
                  </a:lnTo>
                  <a:close/>
                </a:path>
                <a:path w="9525" h="4244340">
                  <a:moveTo>
                    <a:pt x="6703" y="2173520"/>
                  </a:moveTo>
                  <a:lnTo>
                    <a:pt x="0" y="2173520"/>
                  </a:lnTo>
                  <a:lnTo>
                    <a:pt x="0" y="2180586"/>
                  </a:lnTo>
                  <a:lnTo>
                    <a:pt x="6703" y="2180586"/>
                  </a:lnTo>
                  <a:lnTo>
                    <a:pt x="6703" y="2178294"/>
                  </a:lnTo>
                  <a:lnTo>
                    <a:pt x="9001" y="2178294"/>
                  </a:lnTo>
                  <a:lnTo>
                    <a:pt x="6703" y="2175812"/>
                  </a:lnTo>
                  <a:lnTo>
                    <a:pt x="6703" y="2173520"/>
                  </a:lnTo>
                  <a:close/>
                </a:path>
                <a:path w="9525" h="4244340">
                  <a:moveTo>
                    <a:pt x="4788" y="2171228"/>
                  </a:moveTo>
                  <a:lnTo>
                    <a:pt x="2298" y="2173520"/>
                  </a:lnTo>
                  <a:lnTo>
                    <a:pt x="4788" y="2173520"/>
                  </a:lnTo>
                  <a:lnTo>
                    <a:pt x="4788" y="2171228"/>
                  </a:lnTo>
                  <a:close/>
                </a:path>
                <a:path w="9525" h="4244340">
                  <a:moveTo>
                    <a:pt x="4788" y="2104768"/>
                  </a:moveTo>
                  <a:lnTo>
                    <a:pt x="2298" y="2104768"/>
                  </a:lnTo>
                  <a:lnTo>
                    <a:pt x="0" y="2107060"/>
                  </a:lnTo>
                  <a:lnTo>
                    <a:pt x="0" y="2141436"/>
                  </a:lnTo>
                  <a:lnTo>
                    <a:pt x="2298" y="2143918"/>
                  </a:lnTo>
                  <a:lnTo>
                    <a:pt x="4788" y="2143918"/>
                  </a:lnTo>
                  <a:lnTo>
                    <a:pt x="6703" y="2141436"/>
                  </a:lnTo>
                  <a:lnTo>
                    <a:pt x="9001" y="2139144"/>
                  </a:lnTo>
                  <a:lnTo>
                    <a:pt x="9001" y="2109542"/>
                  </a:lnTo>
                  <a:lnTo>
                    <a:pt x="6703" y="2107060"/>
                  </a:lnTo>
                  <a:lnTo>
                    <a:pt x="4788" y="2104768"/>
                  </a:lnTo>
                  <a:close/>
                </a:path>
                <a:path w="9525" h="4244340">
                  <a:moveTo>
                    <a:pt x="6703" y="2068100"/>
                  </a:moveTo>
                  <a:lnTo>
                    <a:pt x="0" y="2068100"/>
                  </a:lnTo>
                  <a:lnTo>
                    <a:pt x="0" y="2075166"/>
                  </a:lnTo>
                  <a:lnTo>
                    <a:pt x="2298" y="2076885"/>
                  </a:lnTo>
                  <a:lnTo>
                    <a:pt x="4788" y="2076885"/>
                  </a:lnTo>
                  <a:lnTo>
                    <a:pt x="6703" y="2075166"/>
                  </a:lnTo>
                  <a:lnTo>
                    <a:pt x="6703" y="2072684"/>
                  </a:lnTo>
                  <a:lnTo>
                    <a:pt x="9001" y="2072684"/>
                  </a:lnTo>
                  <a:lnTo>
                    <a:pt x="6703" y="2070392"/>
                  </a:lnTo>
                  <a:lnTo>
                    <a:pt x="6703" y="2068100"/>
                  </a:lnTo>
                  <a:close/>
                </a:path>
                <a:path w="9525" h="4244340">
                  <a:moveTo>
                    <a:pt x="6703" y="2001640"/>
                  </a:moveTo>
                  <a:lnTo>
                    <a:pt x="0" y="2001640"/>
                  </a:lnTo>
                  <a:lnTo>
                    <a:pt x="0" y="2036016"/>
                  </a:lnTo>
                  <a:lnTo>
                    <a:pt x="2298" y="2038307"/>
                  </a:lnTo>
                  <a:lnTo>
                    <a:pt x="4788" y="2038307"/>
                  </a:lnTo>
                  <a:lnTo>
                    <a:pt x="6703" y="2036016"/>
                  </a:lnTo>
                  <a:lnTo>
                    <a:pt x="9001" y="2033533"/>
                  </a:lnTo>
                  <a:lnTo>
                    <a:pt x="9001" y="2005841"/>
                  </a:lnTo>
                  <a:lnTo>
                    <a:pt x="6703" y="2003549"/>
                  </a:lnTo>
                  <a:lnTo>
                    <a:pt x="6703" y="2001640"/>
                  </a:lnTo>
                  <a:close/>
                </a:path>
                <a:path w="9525" h="4244340">
                  <a:moveTo>
                    <a:pt x="4788" y="1999157"/>
                  </a:moveTo>
                  <a:lnTo>
                    <a:pt x="2298" y="2001640"/>
                  </a:lnTo>
                  <a:lnTo>
                    <a:pt x="4788" y="2001640"/>
                  </a:lnTo>
                  <a:lnTo>
                    <a:pt x="4788" y="1999157"/>
                  </a:lnTo>
                  <a:close/>
                </a:path>
                <a:path w="9525" h="4244340">
                  <a:moveTo>
                    <a:pt x="6703" y="1962489"/>
                  </a:moveTo>
                  <a:lnTo>
                    <a:pt x="0" y="1962489"/>
                  </a:lnTo>
                  <a:lnTo>
                    <a:pt x="0" y="1968982"/>
                  </a:lnTo>
                  <a:lnTo>
                    <a:pt x="2298" y="1971465"/>
                  </a:lnTo>
                  <a:lnTo>
                    <a:pt x="4788" y="1971465"/>
                  </a:lnTo>
                  <a:lnTo>
                    <a:pt x="6703" y="1968982"/>
                  </a:lnTo>
                  <a:lnTo>
                    <a:pt x="9001" y="1966691"/>
                  </a:lnTo>
                  <a:lnTo>
                    <a:pt x="6703" y="1964399"/>
                  </a:lnTo>
                  <a:lnTo>
                    <a:pt x="6703" y="1962489"/>
                  </a:lnTo>
                  <a:close/>
                </a:path>
                <a:path w="9525" h="4244340">
                  <a:moveTo>
                    <a:pt x="6703" y="1895647"/>
                  </a:moveTo>
                  <a:lnTo>
                    <a:pt x="0" y="1895647"/>
                  </a:lnTo>
                  <a:lnTo>
                    <a:pt x="0" y="1932315"/>
                  </a:lnTo>
                  <a:lnTo>
                    <a:pt x="6703" y="1932315"/>
                  </a:lnTo>
                  <a:lnTo>
                    <a:pt x="6703" y="1930023"/>
                  </a:lnTo>
                  <a:lnTo>
                    <a:pt x="9001" y="1927540"/>
                  </a:lnTo>
                  <a:lnTo>
                    <a:pt x="9001" y="1900230"/>
                  </a:lnTo>
                  <a:lnTo>
                    <a:pt x="6703" y="1897939"/>
                  </a:lnTo>
                  <a:lnTo>
                    <a:pt x="6703" y="1895647"/>
                  </a:lnTo>
                  <a:close/>
                </a:path>
                <a:path w="9525" h="4244340">
                  <a:moveTo>
                    <a:pt x="6703" y="1856496"/>
                  </a:moveTo>
                  <a:lnTo>
                    <a:pt x="0" y="1856496"/>
                  </a:lnTo>
                  <a:lnTo>
                    <a:pt x="0" y="1863563"/>
                  </a:lnTo>
                  <a:lnTo>
                    <a:pt x="2298" y="1865854"/>
                  </a:lnTo>
                  <a:lnTo>
                    <a:pt x="4788" y="1865854"/>
                  </a:lnTo>
                  <a:lnTo>
                    <a:pt x="6703" y="1863563"/>
                  </a:lnTo>
                  <a:lnTo>
                    <a:pt x="9001" y="1861080"/>
                  </a:lnTo>
                  <a:lnTo>
                    <a:pt x="6703" y="1858788"/>
                  </a:lnTo>
                  <a:lnTo>
                    <a:pt x="6703" y="1856496"/>
                  </a:lnTo>
                  <a:close/>
                </a:path>
                <a:path w="9525" h="4244340">
                  <a:moveTo>
                    <a:pt x="6703" y="1790036"/>
                  </a:moveTo>
                  <a:lnTo>
                    <a:pt x="0" y="1790036"/>
                  </a:lnTo>
                  <a:lnTo>
                    <a:pt x="0" y="1826704"/>
                  </a:lnTo>
                  <a:lnTo>
                    <a:pt x="6703" y="1826704"/>
                  </a:lnTo>
                  <a:lnTo>
                    <a:pt x="6703" y="1824412"/>
                  </a:lnTo>
                  <a:lnTo>
                    <a:pt x="9001" y="1822120"/>
                  </a:lnTo>
                  <a:lnTo>
                    <a:pt x="9001" y="1794811"/>
                  </a:lnTo>
                  <a:lnTo>
                    <a:pt x="6703" y="1792328"/>
                  </a:lnTo>
                  <a:lnTo>
                    <a:pt x="6703" y="1790036"/>
                  </a:lnTo>
                  <a:close/>
                </a:path>
                <a:path w="9525" h="4244340">
                  <a:moveTo>
                    <a:pt x="4788" y="1750886"/>
                  </a:moveTo>
                  <a:lnTo>
                    <a:pt x="2298" y="1750886"/>
                  </a:lnTo>
                  <a:lnTo>
                    <a:pt x="0" y="1753177"/>
                  </a:lnTo>
                  <a:lnTo>
                    <a:pt x="0" y="1759862"/>
                  </a:lnTo>
                  <a:lnTo>
                    <a:pt x="6703" y="1759862"/>
                  </a:lnTo>
                  <a:lnTo>
                    <a:pt x="6703" y="1757952"/>
                  </a:lnTo>
                  <a:lnTo>
                    <a:pt x="9001" y="1755660"/>
                  </a:lnTo>
                  <a:lnTo>
                    <a:pt x="6703" y="1753177"/>
                  </a:lnTo>
                  <a:lnTo>
                    <a:pt x="4788" y="1750886"/>
                  </a:lnTo>
                  <a:close/>
                </a:path>
                <a:path w="9525" h="4244340">
                  <a:moveTo>
                    <a:pt x="4788" y="1721284"/>
                  </a:moveTo>
                  <a:lnTo>
                    <a:pt x="2298" y="1721284"/>
                  </a:lnTo>
                  <a:lnTo>
                    <a:pt x="4788" y="1723194"/>
                  </a:lnTo>
                  <a:lnTo>
                    <a:pt x="4788" y="1721284"/>
                  </a:lnTo>
                  <a:close/>
                </a:path>
                <a:path w="9525" h="4244340">
                  <a:moveTo>
                    <a:pt x="6703" y="1684043"/>
                  </a:moveTo>
                  <a:lnTo>
                    <a:pt x="0" y="1684043"/>
                  </a:lnTo>
                  <a:lnTo>
                    <a:pt x="0" y="1721284"/>
                  </a:lnTo>
                  <a:lnTo>
                    <a:pt x="6703" y="1721284"/>
                  </a:lnTo>
                  <a:lnTo>
                    <a:pt x="6703" y="1718801"/>
                  </a:lnTo>
                  <a:lnTo>
                    <a:pt x="9001" y="1718801"/>
                  </a:lnTo>
                  <a:lnTo>
                    <a:pt x="9001" y="1688627"/>
                  </a:lnTo>
                  <a:lnTo>
                    <a:pt x="6703" y="1686335"/>
                  </a:lnTo>
                  <a:lnTo>
                    <a:pt x="6703" y="1684043"/>
                  </a:lnTo>
                  <a:close/>
                </a:path>
                <a:path w="9525" h="4244340">
                  <a:moveTo>
                    <a:pt x="4788" y="1645275"/>
                  </a:moveTo>
                  <a:lnTo>
                    <a:pt x="2298" y="1645275"/>
                  </a:lnTo>
                  <a:lnTo>
                    <a:pt x="0" y="1647185"/>
                  </a:lnTo>
                  <a:lnTo>
                    <a:pt x="0" y="1654251"/>
                  </a:lnTo>
                  <a:lnTo>
                    <a:pt x="6703" y="1654251"/>
                  </a:lnTo>
                  <a:lnTo>
                    <a:pt x="6703" y="1651959"/>
                  </a:lnTo>
                  <a:lnTo>
                    <a:pt x="9001" y="1649667"/>
                  </a:lnTo>
                  <a:lnTo>
                    <a:pt x="6703" y="1647185"/>
                  </a:lnTo>
                  <a:lnTo>
                    <a:pt x="4788" y="1645275"/>
                  </a:lnTo>
                  <a:close/>
                </a:path>
                <a:path w="9525" h="4244340">
                  <a:moveTo>
                    <a:pt x="4788" y="1578432"/>
                  </a:moveTo>
                  <a:lnTo>
                    <a:pt x="2298" y="1578432"/>
                  </a:lnTo>
                  <a:lnTo>
                    <a:pt x="0" y="1580724"/>
                  </a:lnTo>
                  <a:lnTo>
                    <a:pt x="0" y="1615291"/>
                  </a:lnTo>
                  <a:lnTo>
                    <a:pt x="2298" y="1617583"/>
                  </a:lnTo>
                  <a:lnTo>
                    <a:pt x="4788" y="1617583"/>
                  </a:lnTo>
                  <a:lnTo>
                    <a:pt x="6703" y="1615291"/>
                  </a:lnTo>
                  <a:lnTo>
                    <a:pt x="6703" y="1612809"/>
                  </a:lnTo>
                  <a:lnTo>
                    <a:pt x="9001" y="1612809"/>
                  </a:lnTo>
                  <a:lnTo>
                    <a:pt x="9001" y="1583207"/>
                  </a:lnTo>
                  <a:lnTo>
                    <a:pt x="6703" y="1580724"/>
                  </a:lnTo>
                  <a:lnTo>
                    <a:pt x="4788" y="1578432"/>
                  </a:lnTo>
                  <a:close/>
                </a:path>
                <a:path w="9525" h="4244340">
                  <a:moveTo>
                    <a:pt x="4788" y="1548831"/>
                  </a:moveTo>
                  <a:lnTo>
                    <a:pt x="2298" y="1548831"/>
                  </a:lnTo>
                  <a:lnTo>
                    <a:pt x="4788" y="1551123"/>
                  </a:lnTo>
                  <a:lnTo>
                    <a:pt x="4788" y="1548831"/>
                  </a:lnTo>
                  <a:close/>
                </a:path>
                <a:path w="9525" h="4244340">
                  <a:moveTo>
                    <a:pt x="6703" y="1541765"/>
                  </a:moveTo>
                  <a:lnTo>
                    <a:pt x="0" y="1541765"/>
                  </a:lnTo>
                  <a:lnTo>
                    <a:pt x="0" y="1548831"/>
                  </a:lnTo>
                  <a:lnTo>
                    <a:pt x="6703" y="1548831"/>
                  </a:lnTo>
                  <a:lnTo>
                    <a:pt x="6703" y="1546348"/>
                  </a:lnTo>
                  <a:lnTo>
                    <a:pt x="9001" y="1546348"/>
                  </a:lnTo>
                  <a:lnTo>
                    <a:pt x="6703" y="1544056"/>
                  </a:lnTo>
                  <a:lnTo>
                    <a:pt x="6703" y="1541765"/>
                  </a:lnTo>
                  <a:close/>
                </a:path>
                <a:path w="9525" h="4244340">
                  <a:moveTo>
                    <a:pt x="4788" y="1539282"/>
                  </a:moveTo>
                  <a:lnTo>
                    <a:pt x="2298" y="1541765"/>
                  </a:lnTo>
                  <a:lnTo>
                    <a:pt x="4788" y="1541765"/>
                  </a:lnTo>
                  <a:lnTo>
                    <a:pt x="4788" y="1539282"/>
                  </a:lnTo>
                  <a:close/>
                </a:path>
                <a:path w="9525" h="4244340">
                  <a:moveTo>
                    <a:pt x="4788" y="1472822"/>
                  </a:moveTo>
                  <a:lnTo>
                    <a:pt x="2298" y="1472822"/>
                  </a:lnTo>
                  <a:lnTo>
                    <a:pt x="0" y="1475304"/>
                  </a:lnTo>
                  <a:lnTo>
                    <a:pt x="0" y="1509680"/>
                  </a:lnTo>
                  <a:lnTo>
                    <a:pt x="2298" y="1511972"/>
                  </a:lnTo>
                  <a:lnTo>
                    <a:pt x="4788" y="1511972"/>
                  </a:lnTo>
                  <a:lnTo>
                    <a:pt x="6703" y="1509680"/>
                  </a:lnTo>
                  <a:lnTo>
                    <a:pt x="9001" y="1507389"/>
                  </a:lnTo>
                  <a:lnTo>
                    <a:pt x="9001" y="1477596"/>
                  </a:lnTo>
                  <a:lnTo>
                    <a:pt x="6703" y="1475304"/>
                  </a:lnTo>
                  <a:lnTo>
                    <a:pt x="4788" y="1472822"/>
                  </a:lnTo>
                  <a:close/>
                </a:path>
                <a:path w="9525" h="4244340">
                  <a:moveTo>
                    <a:pt x="6703" y="1436154"/>
                  </a:moveTo>
                  <a:lnTo>
                    <a:pt x="0" y="1436154"/>
                  </a:lnTo>
                  <a:lnTo>
                    <a:pt x="0" y="1442838"/>
                  </a:lnTo>
                  <a:lnTo>
                    <a:pt x="2298" y="1445130"/>
                  </a:lnTo>
                  <a:lnTo>
                    <a:pt x="4788" y="1445130"/>
                  </a:lnTo>
                  <a:lnTo>
                    <a:pt x="6703" y="1442838"/>
                  </a:lnTo>
                  <a:lnTo>
                    <a:pt x="6703" y="1440928"/>
                  </a:lnTo>
                  <a:lnTo>
                    <a:pt x="9001" y="1440928"/>
                  </a:lnTo>
                  <a:lnTo>
                    <a:pt x="6703" y="1438446"/>
                  </a:lnTo>
                  <a:lnTo>
                    <a:pt x="6703" y="1436154"/>
                  </a:lnTo>
                  <a:close/>
                </a:path>
                <a:path w="9525" h="4244340">
                  <a:moveTo>
                    <a:pt x="6703" y="1369312"/>
                  </a:moveTo>
                  <a:lnTo>
                    <a:pt x="0" y="1369312"/>
                  </a:lnTo>
                  <a:lnTo>
                    <a:pt x="0" y="1403688"/>
                  </a:lnTo>
                  <a:lnTo>
                    <a:pt x="2298" y="1405979"/>
                  </a:lnTo>
                  <a:lnTo>
                    <a:pt x="4788" y="1405979"/>
                  </a:lnTo>
                  <a:lnTo>
                    <a:pt x="6703" y="1403688"/>
                  </a:lnTo>
                  <a:lnTo>
                    <a:pt x="9001" y="1401778"/>
                  </a:lnTo>
                  <a:lnTo>
                    <a:pt x="9001" y="1373895"/>
                  </a:lnTo>
                  <a:lnTo>
                    <a:pt x="6703" y="1371603"/>
                  </a:lnTo>
                  <a:lnTo>
                    <a:pt x="6703" y="1369312"/>
                  </a:lnTo>
                  <a:close/>
                </a:path>
                <a:path w="9525" h="4244340">
                  <a:moveTo>
                    <a:pt x="4788" y="1366829"/>
                  </a:moveTo>
                  <a:lnTo>
                    <a:pt x="2298" y="1369312"/>
                  </a:lnTo>
                  <a:lnTo>
                    <a:pt x="4788" y="1369312"/>
                  </a:lnTo>
                  <a:lnTo>
                    <a:pt x="4788" y="1366829"/>
                  </a:lnTo>
                  <a:close/>
                </a:path>
                <a:path w="9525" h="4244340">
                  <a:moveTo>
                    <a:pt x="6703" y="1330161"/>
                  </a:moveTo>
                  <a:lnTo>
                    <a:pt x="0" y="1330161"/>
                  </a:lnTo>
                  <a:lnTo>
                    <a:pt x="0" y="1337227"/>
                  </a:lnTo>
                  <a:lnTo>
                    <a:pt x="2298" y="1339519"/>
                  </a:lnTo>
                  <a:lnTo>
                    <a:pt x="4788" y="1339519"/>
                  </a:lnTo>
                  <a:lnTo>
                    <a:pt x="6703" y="1337227"/>
                  </a:lnTo>
                  <a:lnTo>
                    <a:pt x="9001" y="1334936"/>
                  </a:lnTo>
                  <a:lnTo>
                    <a:pt x="6703" y="1332453"/>
                  </a:lnTo>
                  <a:lnTo>
                    <a:pt x="6703" y="1330161"/>
                  </a:lnTo>
                  <a:close/>
                </a:path>
                <a:path w="9525" h="4244340">
                  <a:moveTo>
                    <a:pt x="6703" y="1263701"/>
                  </a:moveTo>
                  <a:lnTo>
                    <a:pt x="0" y="1263701"/>
                  </a:lnTo>
                  <a:lnTo>
                    <a:pt x="0" y="1300369"/>
                  </a:lnTo>
                  <a:lnTo>
                    <a:pt x="6703" y="1300369"/>
                  </a:lnTo>
                  <a:lnTo>
                    <a:pt x="6703" y="1298077"/>
                  </a:lnTo>
                  <a:lnTo>
                    <a:pt x="9001" y="1295785"/>
                  </a:lnTo>
                  <a:lnTo>
                    <a:pt x="9001" y="1268475"/>
                  </a:lnTo>
                  <a:lnTo>
                    <a:pt x="6703" y="1265993"/>
                  </a:lnTo>
                  <a:lnTo>
                    <a:pt x="6703" y="1263701"/>
                  </a:lnTo>
                  <a:close/>
                </a:path>
                <a:path w="9525" h="4244340">
                  <a:moveTo>
                    <a:pt x="6703" y="1224550"/>
                  </a:moveTo>
                  <a:lnTo>
                    <a:pt x="0" y="1224550"/>
                  </a:lnTo>
                  <a:lnTo>
                    <a:pt x="0" y="1231616"/>
                  </a:lnTo>
                  <a:lnTo>
                    <a:pt x="2298" y="1234099"/>
                  </a:lnTo>
                  <a:lnTo>
                    <a:pt x="4788" y="1234099"/>
                  </a:lnTo>
                  <a:lnTo>
                    <a:pt x="6703" y="1231616"/>
                  </a:lnTo>
                  <a:lnTo>
                    <a:pt x="9001" y="1229325"/>
                  </a:lnTo>
                  <a:lnTo>
                    <a:pt x="6703" y="1227033"/>
                  </a:lnTo>
                  <a:lnTo>
                    <a:pt x="6703" y="1224550"/>
                  </a:lnTo>
                  <a:close/>
                </a:path>
                <a:path w="9525" h="4244340">
                  <a:moveTo>
                    <a:pt x="6703" y="1158090"/>
                  </a:moveTo>
                  <a:lnTo>
                    <a:pt x="0" y="1158090"/>
                  </a:lnTo>
                  <a:lnTo>
                    <a:pt x="0" y="1194949"/>
                  </a:lnTo>
                  <a:lnTo>
                    <a:pt x="6703" y="1194949"/>
                  </a:lnTo>
                  <a:lnTo>
                    <a:pt x="6703" y="1192466"/>
                  </a:lnTo>
                  <a:lnTo>
                    <a:pt x="9001" y="1190174"/>
                  </a:lnTo>
                  <a:lnTo>
                    <a:pt x="9001" y="1162482"/>
                  </a:lnTo>
                  <a:lnTo>
                    <a:pt x="6703" y="1160000"/>
                  </a:lnTo>
                  <a:lnTo>
                    <a:pt x="6703" y="1158090"/>
                  </a:lnTo>
                  <a:close/>
                </a:path>
                <a:path w="9525" h="4244340">
                  <a:moveTo>
                    <a:pt x="4788" y="1119130"/>
                  </a:moveTo>
                  <a:lnTo>
                    <a:pt x="2298" y="1119130"/>
                  </a:lnTo>
                  <a:lnTo>
                    <a:pt x="0" y="1121422"/>
                  </a:lnTo>
                  <a:lnTo>
                    <a:pt x="0" y="1127915"/>
                  </a:lnTo>
                  <a:lnTo>
                    <a:pt x="6703" y="1127915"/>
                  </a:lnTo>
                  <a:lnTo>
                    <a:pt x="6703" y="1125624"/>
                  </a:lnTo>
                  <a:lnTo>
                    <a:pt x="9001" y="1123332"/>
                  </a:lnTo>
                  <a:lnTo>
                    <a:pt x="6703" y="1121422"/>
                  </a:lnTo>
                  <a:lnTo>
                    <a:pt x="4788" y="1119130"/>
                  </a:lnTo>
                  <a:close/>
                </a:path>
                <a:path w="9525" h="4244340">
                  <a:moveTo>
                    <a:pt x="4788" y="1088956"/>
                  </a:moveTo>
                  <a:lnTo>
                    <a:pt x="2298" y="1088956"/>
                  </a:lnTo>
                  <a:lnTo>
                    <a:pt x="4788" y="1091248"/>
                  </a:lnTo>
                  <a:lnTo>
                    <a:pt x="4788" y="1088956"/>
                  </a:lnTo>
                  <a:close/>
                </a:path>
                <a:path w="9525" h="4244340">
                  <a:moveTo>
                    <a:pt x="6703" y="1052097"/>
                  </a:moveTo>
                  <a:lnTo>
                    <a:pt x="0" y="1052097"/>
                  </a:lnTo>
                  <a:lnTo>
                    <a:pt x="0" y="1088956"/>
                  </a:lnTo>
                  <a:lnTo>
                    <a:pt x="6703" y="1088956"/>
                  </a:lnTo>
                  <a:lnTo>
                    <a:pt x="6703" y="1086473"/>
                  </a:lnTo>
                  <a:lnTo>
                    <a:pt x="9001" y="1084563"/>
                  </a:lnTo>
                  <a:lnTo>
                    <a:pt x="9001" y="1056872"/>
                  </a:lnTo>
                  <a:lnTo>
                    <a:pt x="6703" y="1054580"/>
                  </a:lnTo>
                  <a:lnTo>
                    <a:pt x="6703" y="1052097"/>
                  </a:lnTo>
                  <a:close/>
                </a:path>
                <a:path w="9525" h="4244340">
                  <a:moveTo>
                    <a:pt x="4788" y="1012947"/>
                  </a:moveTo>
                  <a:lnTo>
                    <a:pt x="2298" y="1012947"/>
                  </a:lnTo>
                  <a:lnTo>
                    <a:pt x="0" y="1015429"/>
                  </a:lnTo>
                  <a:lnTo>
                    <a:pt x="0" y="1022496"/>
                  </a:lnTo>
                  <a:lnTo>
                    <a:pt x="6703" y="1022496"/>
                  </a:lnTo>
                  <a:lnTo>
                    <a:pt x="6703" y="1020013"/>
                  </a:lnTo>
                  <a:lnTo>
                    <a:pt x="9001" y="1017721"/>
                  </a:lnTo>
                  <a:lnTo>
                    <a:pt x="6703" y="1015429"/>
                  </a:lnTo>
                  <a:lnTo>
                    <a:pt x="4788" y="1012947"/>
                  </a:lnTo>
                  <a:close/>
                </a:path>
                <a:path w="9525" h="4244340">
                  <a:moveTo>
                    <a:pt x="4788" y="983345"/>
                  </a:moveTo>
                  <a:lnTo>
                    <a:pt x="2298" y="983345"/>
                  </a:lnTo>
                  <a:lnTo>
                    <a:pt x="4788" y="985637"/>
                  </a:lnTo>
                  <a:lnTo>
                    <a:pt x="4788" y="983345"/>
                  </a:lnTo>
                  <a:close/>
                </a:path>
                <a:path w="9525" h="4244340">
                  <a:moveTo>
                    <a:pt x="4788" y="946677"/>
                  </a:moveTo>
                  <a:lnTo>
                    <a:pt x="2298" y="946677"/>
                  </a:lnTo>
                  <a:lnTo>
                    <a:pt x="0" y="948969"/>
                  </a:lnTo>
                  <a:lnTo>
                    <a:pt x="0" y="983345"/>
                  </a:lnTo>
                  <a:lnTo>
                    <a:pt x="6703" y="983345"/>
                  </a:lnTo>
                  <a:lnTo>
                    <a:pt x="6703" y="981053"/>
                  </a:lnTo>
                  <a:lnTo>
                    <a:pt x="9001" y="981053"/>
                  </a:lnTo>
                  <a:lnTo>
                    <a:pt x="9001" y="951261"/>
                  </a:lnTo>
                  <a:lnTo>
                    <a:pt x="6703" y="948969"/>
                  </a:lnTo>
                  <a:lnTo>
                    <a:pt x="4788" y="946677"/>
                  </a:lnTo>
                  <a:close/>
                </a:path>
                <a:path w="9525" h="4244340">
                  <a:moveTo>
                    <a:pt x="4788" y="916885"/>
                  </a:moveTo>
                  <a:lnTo>
                    <a:pt x="2298" y="916885"/>
                  </a:lnTo>
                  <a:lnTo>
                    <a:pt x="4788" y="918795"/>
                  </a:lnTo>
                  <a:lnTo>
                    <a:pt x="4788" y="916885"/>
                  </a:lnTo>
                  <a:close/>
                </a:path>
                <a:path w="9525" h="4244340">
                  <a:moveTo>
                    <a:pt x="6703" y="909819"/>
                  </a:moveTo>
                  <a:lnTo>
                    <a:pt x="0" y="909819"/>
                  </a:lnTo>
                  <a:lnTo>
                    <a:pt x="0" y="916885"/>
                  </a:lnTo>
                  <a:lnTo>
                    <a:pt x="6703" y="916885"/>
                  </a:lnTo>
                  <a:lnTo>
                    <a:pt x="6703" y="914593"/>
                  </a:lnTo>
                  <a:lnTo>
                    <a:pt x="9001" y="912110"/>
                  </a:lnTo>
                  <a:lnTo>
                    <a:pt x="6703" y="912110"/>
                  </a:lnTo>
                  <a:lnTo>
                    <a:pt x="6703" y="909819"/>
                  </a:lnTo>
                  <a:close/>
                </a:path>
                <a:path w="9525" h="4244340">
                  <a:moveTo>
                    <a:pt x="4788" y="907527"/>
                  </a:moveTo>
                  <a:lnTo>
                    <a:pt x="2298" y="909819"/>
                  </a:lnTo>
                  <a:lnTo>
                    <a:pt x="4788" y="909819"/>
                  </a:lnTo>
                  <a:lnTo>
                    <a:pt x="4788" y="907527"/>
                  </a:lnTo>
                  <a:close/>
                </a:path>
                <a:path w="9525" h="4244340">
                  <a:moveTo>
                    <a:pt x="4788" y="841067"/>
                  </a:moveTo>
                  <a:lnTo>
                    <a:pt x="2298" y="841067"/>
                  </a:lnTo>
                  <a:lnTo>
                    <a:pt x="0" y="842976"/>
                  </a:lnTo>
                  <a:lnTo>
                    <a:pt x="0" y="877734"/>
                  </a:lnTo>
                  <a:lnTo>
                    <a:pt x="2298" y="879644"/>
                  </a:lnTo>
                  <a:lnTo>
                    <a:pt x="4788" y="879644"/>
                  </a:lnTo>
                  <a:lnTo>
                    <a:pt x="9001" y="875443"/>
                  </a:lnTo>
                  <a:lnTo>
                    <a:pt x="9001" y="845268"/>
                  </a:lnTo>
                  <a:lnTo>
                    <a:pt x="4788" y="841067"/>
                  </a:lnTo>
                  <a:close/>
                </a:path>
                <a:path w="9525" h="4244340">
                  <a:moveTo>
                    <a:pt x="4788" y="810892"/>
                  </a:moveTo>
                  <a:lnTo>
                    <a:pt x="2298" y="810892"/>
                  </a:lnTo>
                  <a:lnTo>
                    <a:pt x="4788" y="813184"/>
                  </a:lnTo>
                  <a:lnTo>
                    <a:pt x="4788" y="810892"/>
                  </a:lnTo>
                  <a:close/>
                </a:path>
                <a:path w="9525" h="4244340">
                  <a:moveTo>
                    <a:pt x="6703" y="804208"/>
                  </a:moveTo>
                  <a:lnTo>
                    <a:pt x="0" y="804208"/>
                  </a:lnTo>
                  <a:lnTo>
                    <a:pt x="0" y="810892"/>
                  </a:lnTo>
                  <a:lnTo>
                    <a:pt x="6703" y="810892"/>
                  </a:lnTo>
                  <a:lnTo>
                    <a:pt x="6703" y="808600"/>
                  </a:lnTo>
                  <a:lnTo>
                    <a:pt x="9001" y="808600"/>
                  </a:lnTo>
                  <a:lnTo>
                    <a:pt x="6703" y="806118"/>
                  </a:lnTo>
                  <a:lnTo>
                    <a:pt x="6703" y="804208"/>
                  </a:lnTo>
                  <a:close/>
                </a:path>
                <a:path w="9525" h="4244340">
                  <a:moveTo>
                    <a:pt x="6703" y="737365"/>
                  </a:moveTo>
                  <a:lnTo>
                    <a:pt x="0" y="737365"/>
                  </a:lnTo>
                  <a:lnTo>
                    <a:pt x="0" y="771742"/>
                  </a:lnTo>
                  <a:lnTo>
                    <a:pt x="2298" y="774224"/>
                  </a:lnTo>
                  <a:lnTo>
                    <a:pt x="4788" y="774224"/>
                  </a:lnTo>
                  <a:lnTo>
                    <a:pt x="6703" y="771742"/>
                  </a:lnTo>
                  <a:lnTo>
                    <a:pt x="9001" y="769450"/>
                  </a:lnTo>
                  <a:lnTo>
                    <a:pt x="9001" y="739657"/>
                  </a:lnTo>
                  <a:lnTo>
                    <a:pt x="6703" y="739657"/>
                  </a:lnTo>
                  <a:lnTo>
                    <a:pt x="6703" y="737365"/>
                  </a:lnTo>
                  <a:close/>
                </a:path>
                <a:path w="9525" h="4244340">
                  <a:moveTo>
                    <a:pt x="4788" y="735074"/>
                  </a:moveTo>
                  <a:lnTo>
                    <a:pt x="2298" y="737365"/>
                  </a:lnTo>
                  <a:lnTo>
                    <a:pt x="4788" y="737365"/>
                  </a:lnTo>
                  <a:lnTo>
                    <a:pt x="4788" y="735074"/>
                  </a:lnTo>
                  <a:close/>
                </a:path>
                <a:path w="9525" h="4244340">
                  <a:moveTo>
                    <a:pt x="6703" y="698215"/>
                  </a:moveTo>
                  <a:lnTo>
                    <a:pt x="0" y="698215"/>
                  </a:lnTo>
                  <a:lnTo>
                    <a:pt x="0" y="705281"/>
                  </a:lnTo>
                  <a:lnTo>
                    <a:pt x="2298" y="707764"/>
                  </a:lnTo>
                  <a:lnTo>
                    <a:pt x="4788" y="707764"/>
                  </a:lnTo>
                  <a:lnTo>
                    <a:pt x="6703" y="705281"/>
                  </a:lnTo>
                  <a:lnTo>
                    <a:pt x="9001" y="702989"/>
                  </a:lnTo>
                  <a:lnTo>
                    <a:pt x="6703" y="700698"/>
                  </a:lnTo>
                  <a:lnTo>
                    <a:pt x="6703" y="698215"/>
                  </a:lnTo>
                  <a:close/>
                </a:path>
                <a:path w="9525" h="4244340">
                  <a:moveTo>
                    <a:pt x="6703" y="631946"/>
                  </a:moveTo>
                  <a:lnTo>
                    <a:pt x="0" y="631946"/>
                  </a:lnTo>
                  <a:lnTo>
                    <a:pt x="0" y="668613"/>
                  </a:lnTo>
                  <a:lnTo>
                    <a:pt x="6703" y="668613"/>
                  </a:lnTo>
                  <a:lnTo>
                    <a:pt x="6703" y="666322"/>
                  </a:lnTo>
                  <a:lnTo>
                    <a:pt x="9001" y="663839"/>
                  </a:lnTo>
                  <a:lnTo>
                    <a:pt x="9001" y="636147"/>
                  </a:lnTo>
                  <a:lnTo>
                    <a:pt x="6703" y="634237"/>
                  </a:lnTo>
                  <a:lnTo>
                    <a:pt x="6703" y="631946"/>
                  </a:lnTo>
                  <a:close/>
                </a:path>
                <a:path w="9525" h="4244340">
                  <a:moveTo>
                    <a:pt x="6703" y="592795"/>
                  </a:moveTo>
                  <a:lnTo>
                    <a:pt x="0" y="592795"/>
                  </a:lnTo>
                  <a:lnTo>
                    <a:pt x="0" y="599288"/>
                  </a:lnTo>
                  <a:lnTo>
                    <a:pt x="2298" y="601771"/>
                  </a:lnTo>
                  <a:lnTo>
                    <a:pt x="4788" y="601771"/>
                  </a:lnTo>
                  <a:lnTo>
                    <a:pt x="6703" y="599288"/>
                  </a:lnTo>
                  <a:lnTo>
                    <a:pt x="9001" y="597379"/>
                  </a:lnTo>
                  <a:lnTo>
                    <a:pt x="6703" y="595087"/>
                  </a:lnTo>
                  <a:lnTo>
                    <a:pt x="6703" y="592795"/>
                  </a:lnTo>
                  <a:close/>
                </a:path>
                <a:path w="9525" h="4244340">
                  <a:moveTo>
                    <a:pt x="6703" y="525762"/>
                  </a:moveTo>
                  <a:lnTo>
                    <a:pt x="0" y="525762"/>
                  </a:lnTo>
                  <a:lnTo>
                    <a:pt x="0" y="562621"/>
                  </a:lnTo>
                  <a:lnTo>
                    <a:pt x="6703" y="562621"/>
                  </a:lnTo>
                  <a:lnTo>
                    <a:pt x="6703" y="560711"/>
                  </a:lnTo>
                  <a:lnTo>
                    <a:pt x="9001" y="558419"/>
                  </a:lnTo>
                  <a:lnTo>
                    <a:pt x="9001" y="530536"/>
                  </a:lnTo>
                  <a:lnTo>
                    <a:pt x="6703" y="528245"/>
                  </a:lnTo>
                  <a:lnTo>
                    <a:pt x="6703" y="525762"/>
                  </a:lnTo>
                  <a:close/>
                </a:path>
                <a:path w="9525" h="4244340">
                  <a:moveTo>
                    <a:pt x="4788" y="486802"/>
                  </a:moveTo>
                  <a:lnTo>
                    <a:pt x="2298" y="486802"/>
                  </a:lnTo>
                  <a:lnTo>
                    <a:pt x="0" y="489094"/>
                  </a:lnTo>
                  <a:lnTo>
                    <a:pt x="0" y="496160"/>
                  </a:lnTo>
                  <a:lnTo>
                    <a:pt x="6703" y="496160"/>
                  </a:lnTo>
                  <a:lnTo>
                    <a:pt x="6703" y="493869"/>
                  </a:lnTo>
                  <a:lnTo>
                    <a:pt x="9001" y="491386"/>
                  </a:lnTo>
                  <a:lnTo>
                    <a:pt x="6703" y="489094"/>
                  </a:lnTo>
                  <a:lnTo>
                    <a:pt x="4788" y="486802"/>
                  </a:lnTo>
                  <a:close/>
                </a:path>
                <a:path w="9525" h="4244340">
                  <a:moveTo>
                    <a:pt x="4788" y="457010"/>
                  </a:moveTo>
                  <a:lnTo>
                    <a:pt x="2298" y="457010"/>
                  </a:lnTo>
                  <a:lnTo>
                    <a:pt x="4788" y="459493"/>
                  </a:lnTo>
                  <a:lnTo>
                    <a:pt x="4788" y="457010"/>
                  </a:lnTo>
                  <a:close/>
                </a:path>
                <a:path w="9525" h="4244340">
                  <a:moveTo>
                    <a:pt x="6703" y="420342"/>
                  </a:moveTo>
                  <a:lnTo>
                    <a:pt x="0" y="420342"/>
                  </a:lnTo>
                  <a:lnTo>
                    <a:pt x="0" y="457010"/>
                  </a:lnTo>
                  <a:lnTo>
                    <a:pt x="6703" y="457010"/>
                  </a:lnTo>
                  <a:lnTo>
                    <a:pt x="6703" y="454718"/>
                  </a:lnTo>
                  <a:lnTo>
                    <a:pt x="9001" y="452426"/>
                  </a:lnTo>
                  <a:lnTo>
                    <a:pt x="9001" y="424926"/>
                  </a:lnTo>
                  <a:lnTo>
                    <a:pt x="6703" y="422634"/>
                  </a:lnTo>
                  <a:lnTo>
                    <a:pt x="6703" y="420342"/>
                  </a:lnTo>
                  <a:close/>
                </a:path>
                <a:path w="9525" h="4244340">
                  <a:moveTo>
                    <a:pt x="4788" y="381192"/>
                  </a:moveTo>
                  <a:lnTo>
                    <a:pt x="2298" y="381192"/>
                  </a:lnTo>
                  <a:lnTo>
                    <a:pt x="0" y="383483"/>
                  </a:lnTo>
                  <a:lnTo>
                    <a:pt x="0" y="390549"/>
                  </a:lnTo>
                  <a:lnTo>
                    <a:pt x="6703" y="390549"/>
                  </a:lnTo>
                  <a:lnTo>
                    <a:pt x="6703" y="388258"/>
                  </a:lnTo>
                  <a:lnTo>
                    <a:pt x="9001" y="385966"/>
                  </a:lnTo>
                  <a:lnTo>
                    <a:pt x="6703" y="383483"/>
                  </a:lnTo>
                  <a:lnTo>
                    <a:pt x="4788" y="381192"/>
                  </a:lnTo>
                  <a:close/>
                </a:path>
                <a:path w="9525" h="4244340">
                  <a:moveTo>
                    <a:pt x="4788" y="351590"/>
                  </a:moveTo>
                  <a:lnTo>
                    <a:pt x="2298" y="351590"/>
                  </a:lnTo>
                  <a:lnTo>
                    <a:pt x="4788" y="353882"/>
                  </a:lnTo>
                  <a:lnTo>
                    <a:pt x="4788" y="351590"/>
                  </a:lnTo>
                  <a:close/>
                </a:path>
                <a:path w="9525" h="4244340">
                  <a:moveTo>
                    <a:pt x="4788" y="314731"/>
                  </a:moveTo>
                  <a:lnTo>
                    <a:pt x="2298" y="314731"/>
                  </a:lnTo>
                  <a:lnTo>
                    <a:pt x="0" y="317023"/>
                  </a:lnTo>
                  <a:lnTo>
                    <a:pt x="0" y="351590"/>
                  </a:lnTo>
                  <a:lnTo>
                    <a:pt x="6703" y="351590"/>
                  </a:lnTo>
                  <a:lnTo>
                    <a:pt x="6703" y="349107"/>
                  </a:lnTo>
                  <a:lnTo>
                    <a:pt x="9001" y="349107"/>
                  </a:lnTo>
                  <a:lnTo>
                    <a:pt x="9001" y="318933"/>
                  </a:lnTo>
                  <a:lnTo>
                    <a:pt x="6703" y="317023"/>
                  </a:lnTo>
                  <a:lnTo>
                    <a:pt x="4788" y="314731"/>
                  </a:lnTo>
                  <a:close/>
                </a:path>
                <a:path w="9525" h="4244340">
                  <a:moveTo>
                    <a:pt x="4788" y="284557"/>
                  </a:moveTo>
                  <a:lnTo>
                    <a:pt x="2298" y="284557"/>
                  </a:lnTo>
                  <a:lnTo>
                    <a:pt x="4788" y="287039"/>
                  </a:lnTo>
                  <a:lnTo>
                    <a:pt x="4788" y="284557"/>
                  </a:lnTo>
                  <a:close/>
                </a:path>
                <a:path w="9525" h="4244340">
                  <a:moveTo>
                    <a:pt x="4788" y="275581"/>
                  </a:moveTo>
                  <a:lnTo>
                    <a:pt x="2298" y="275581"/>
                  </a:lnTo>
                  <a:lnTo>
                    <a:pt x="0" y="278063"/>
                  </a:lnTo>
                  <a:lnTo>
                    <a:pt x="0" y="284557"/>
                  </a:lnTo>
                  <a:lnTo>
                    <a:pt x="6703" y="284557"/>
                  </a:lnTo>
                  <a:lnTo>
                    <a:pt x="6703" y="282265"/>
                  </a:lnTo>
                  <a:lnTo>
                    <a:pt x="9001" y="280355"/>
                  </a:lnTo>
                  <a:lnTo>
                    <a:pt x="6703" y="280355"/>
                  </a:lnTo>
                  <a:lnTo>
                    <a:pt x="6703" y="278063"/>
                  </a:lnTo>
                  <a:lnTo>
                    <a:pt x="4788" y="275581"/>
                  </a:lnTo>
                  <a:close/>
                </a:path>
                <a:path w="9525" h="4244340">
                  <a:moveTo>
                    <a:pt x="4788" y="208738"/>
                  </a:moveTo>
                  <a:lnTo>
                    <a:pt x="2298" y="208738"/>
                  </a:lnTo>
                  <a:lnTo>
                    <a:pt x="0" y="211030"/>
                  </a:lnTo>
                  <a:lnTo>
                    <a:pt x="0" y="245406"/>
                  </a:lnTo>
                  <a:lnTo>
                    <a:pt x="2298" y="247889"/>
                  </a:lnTo>
                  <a:lnTo>
                    <a:pt x="4788" y="247889"/>
                  </a:lnTo>
                  <a:lnTo>
                    <a:pt x="6703" y="245406"/>
                  </a:lnTo>
                  <a:lnTo>
                    <a:pt x="9001" y="243114"/>
                  </a:lnTo>
                  <a:lnTo>
                    <a:pt x="9001" y="213513"/>
                  </a:lnTo>
                  <a:lnTo>
                    <a:pt x="6703" y="211030"/>
                  </a:lnTo>
                  <a:lnTo>
                    <a:pt x="4788" y="208738"/>
                  </a:lnTo>
                  <a:close/>
                </a:path>
                <a:path w="9525" h="4244340">
                  <a:moveTo>
                    <a:pt x="4788" y="179137"/>
                  </a:moveTo>
                  <a:lnTo>
                    <a:pt x="2298" y="179137"/>
                  </a:lnTo>
                  <a:lnTo>
                    <a:pt x="4788" y="181429"/>
                  </a:lnTo>
                  <a:lnTo>
                    <a:pt x="4788" y="179137"/>
                  </a:lnTo>
                  <a:close/>
                </a:path>
                <a:path w="9525" h="4244340">
                  <a:moveTo>
                    <a:pt x="6703" y="172071"/>
                  </a:moveTo>
                  <a:lnTo>
                    <a:pt x="0" y="172071"/>
                  </a:lnTo>
                  <a:lnTo>
                    <a:pt x="0" y="179137"/>
                  </a:lnTo>
                  <a:lnTo>
                    <a:pt x="6703" y="179137"/>
                  </a:lnTo>
                  <a:lnTo>
                    <a:pt x="6703" y="176654"/>
                  </a:lnTo>
                  <a:lnTo>
                    <a:pt x="9001" y="176654"/>
                  </a:lnTo>
                  <a:lnTo>
                    <a:pt x="6703" y="174362"/>
                  </a:lnTo>
                  <a:lnTo>
                    <a:pt x="6703" y="172071"/>
                  </a:lnTo>
                  <a:close/>
                </a:path>
                <a:path w="9525" h="4244340">
                  <a:moveTo>
                    <a:pt x="4788" y="103128"/>
                  </a:moveTo>
                  <a:lnTo>
                    <a:pt x="2298" y="103128"/>
                  </a:lnTo>
                  <a:lnTo>
                    <a:pt x="0" y="105610"/>
                  </a:lnTo>
                  <a:lnTo>
                    <a:pt x="0" y="139986"/>
                  </a:lnTo>
                  <a:lnTo>
                    <a:pt x="2298" y="142278"/>
                  </a:lnTo>
                  <a:lnTo>
                    <a:pt x="4788" y="142278"/>
                  </a:lnTo>
                  <a:lnTo>
                    <a:pt x="6703" y="139986"/>
                  </a:lnTo>
                  <a:lnTo>
                    <a:pt x="9001" y="137504"/>
                  </a:lnTo>
                  <a:lnTo>
                    <a:pt x="9001" y="107902"/>
                  </a:lnTo>
                  <a:lnTo>
                    <a:pt x="6703" y="107902"/>
                  </a:lnTo>
                  <a:lnTo>
                    <a:pt x="6703" y="105610"/>
                  </a:lnTo>
                  <a:lnTo>
                    <a:pt x="4788" y="103128"/>
                  </a:lnTo>
                  <a:close/>
                </a:path>
                <a:path w="9525" h="4244340">
                  <a:moveTo>
                    <a:pt x="6703" y="66460"/>
                  </a:moveTo>
                  <a:lnTo>
                    <a:pt x="0" y="66460"/>
                  </a:lnTo>
                  <a:lnTo>
                    <a:pt x="0" y="73526"/>
                  </a:lnTo>
                  <a:lnTo>
                    <a:pt x="2298" y="75436"/>
                  </a:lnTo>
                  <a:lnTo>
                    <a:pt x="4788" y="75436"/>
                  </a:lnTo>
                  <a:lnTo>
                    <a:pt x="9001" y="71234"/>
                  </a:lnTo>
                  <a:lnTo>
                    <a:pt x="6703" y="68752"/>
                  </a:lnTo>
                  <a:lnTo>
                    <a:pt x="6703" y="66460"/>
                  </a:lnTo>
                  <a:close/>
                </a:path>
                <a:path w="9525" h="4244340">
                  <a:moveTo>
                    <a:pt x="6703" y="0"/>
                  </a:moveTo>
                  <a:lnTo>
                    <a:pt x="0" y="0"/>
                  </a:lnTo>
                  <a:lnTo>
                    <a:pt x="0" y="36667"/>
                  </a:lnTo>
                  <a:lnTo>
                    <a:pt x="6703" y="36667"/>
                  </a:lnTo>
                  <a:lnTo>
                    <a:pt x="6703" y="34376"/>
                  </a:lnTo>
                  <a:lnTo>
                    <a:pt x="9001" y="32084"/>
                  </a:lnTo>
                  <a:lnTo>
                    <a:pt x="9001" y="4201"/>
                  </a:lnTo>
                  <a:lnTo>
                    <a:pt x="6703" y="1909"/>
                  </a:lnTo>
                  <a:lnTo>
                    <a:pt x="6703" y="0"/>
                  </a:lnTo>
                  <a:close/>
                </a:path>
              </a:pathLst>
            </a:custGeom>
            <a:solidFill>
              <a:srgbClr val="000000"/>
            </a:solidFill>
          </p:spPr>
          <p:txBody>
            <a:bodyPr wrap="square" lIns="0" tIns="0" rIns="0" bIns="0" rtlCol="0"/>
            <a:lstStyle/>
            <a:p/>
          </p:txBody>
        </p:sp>
        <p:sp>
          <p:nvSpPr>
            <p:cNvPr id="44" name="object 44" descr=""/>
            <p:cNvSpPr/>
            <p:nvPr/>
          </p:nvSpPr>
          <p:spPr>
            <a:xfrm>
              <a:off x="7529714" y="1799699"/>
              <a:ext cx="9525" cy="4244340"/>
            </a:xfrm>
            <a:custGeom>
              <a:avLst/>
              <a:gdLst/>
              <a:ahLst/>
              <a:cxnLst/>
              <a:rect l="l" t="t" r="r" b="b"/>
              <a:pathLst>
                <a:path w="9525" h="4244340">
                  <a:moveTo>
                    <a:pt x="0" y="4243912"/>
                  </a:moveTo>
                  <a:lnTo>
                    <a:pt x="0" y="4216583"/>
                  </a:lnTo>
                  <a:lnTo>
                    <a:pt x="0" y="4214226"/>
                  </a:lnTo>
                  <a:lnTo>
                    <a:pt x="2298" y="4211872"/>
                  </a:lnTo>
                  <a:lnTo>
                    <a:pt x="4788" y="4211872"/>
                  </a:lnTo>
                  <a:lnTo>
                    <a:pt x="6703" y="4214226"/>
                  </a:lnTo>
                  <a:lnTo>
                    <a:pt x="9001" y="4216583"/>
                  </a:lnTo>
                  <a:lnTo>
                    <a:pt x="9001" y="4243912"/>
                  </a:lnTo>
                </a:path>
                <a:path w="9525" h="4244340">
                  <a:moveTo>
                    <a:pt x="0" y="4177475"/>
                  </a:moveTo>
                  <a:lnTo>
                    <a:pt x="0" y="4175120"/>
                  </a:lnTo>
                  <a:lnTo>
                    <a:pt x="2298" y="4172763"/>
                  </a:lnTo>
                  <a:lnTo>
                    <a:pt x="4788" y="4172763"/>
                  </a:lnTo>
                  <a:lnTo>
                    <a:pt x="6703" y="4175120"/>
                  </a:lnTo>
                  <a:lnTo>
                    <a:pt x="6703" y="4177475"/>
                  </a:lnTo>
                  <a:lnTo>
                    <a:pt x="9001" y="4177475"/>
                  </a:lnTo>
                  <a:lnTo>
                    <a:pt x="6703" y="4179831"/>
                  </a:lnTo>
                  <a:lnTo>
                    <a:pt x="6703" y="4182188"/>
                  </a:lnTo>
                  <a:lnTo>
                    <a:pt x="4788" y="4182188"/>
                  </a:lnTo>
                  <a:lnTo>
                    <a:pt x="4788" y="4184543"/>
                  </a:lnTo>
                  <a:lnTo>
                    <a:pt x="2298" y="4182188"/>
                  </a:lnTo>
                  <a:lnTo>
                    <a:pt x="0" y="4182188"/>
                  </a:lnTo>
                  <a:lnTo>
                    <a:pt x="0" y="4179831"/>
                  </a:lnTo>
                  <a:lnTo>
                    <a:pt x="0" y="4177475"/>
                  </a:lnTo>
                </a:path>
                <a:path w="9525" h="4244340">
                  <a:moveTo>
                    <a:pt x="0" y="4140723"/>
                  </a:moveTo>
                  <a:lnTo>
                    <a:pt x="0" y="4111039"/>
                  </a:lnTo>
                  <a:lnTo>
                    <a:pt x="0" y="4108682"/>
                  </a:lnTo>
                  <a:lnTo>
                    <a:pt x="2298" y="4106328"/>
                  </a:lnTo>
                  <a:lnTo>
                    <a:pt x="4788" y="4106328"/>
                  </a:lnTo>
                  <a:lnTo>
                    <a:pt x="6703" y="4108682"/>
                  </a:lnTo>
                  <a:lnTo>
                    <a:pt x="9001" y="4111039"/>
                  </a:lnTo>
                  <a:lnTo>
                    <a:pt x="9001" y="4140723"/>
                  </a:lnTo>
                  <a:lnTo>
                    <a:pt x="6703" y="4143080"/>
                  </a:lnTo>
                  <a:lnTo>
                    <a:pt x="4788" y="4145436"/>
                  </a:lnTo>
                  <a:lnTo>
                    <a:pt x="2298" y="4145436"/>
                  </a:lnTo>
                  <a:lnTo>
                    <a:pt x="0" y="4143080"/>
                  </a:lnTo>
                  <a:lnTo>
                    <a:pt x="0" y="4140723"/>
                  </a:lnTo>
                </a:path>
                <a:path w="9525" h="4244340">
                  <a:moveTo>
                    <a:pt x="0" y="4074287"/>
                  </a:moveTo>
                  <a:lnTo>
                    <a:pt x="0" y="4071931"/>
                  </a:lnTo>
                  <a:lnTo>
                    <a:pt x="0" y="4069576"/>
                  </a:lnTo>
                  <a:lnTo>
                    <a:pt x="2298" y="4069576"/>
                  </a:lnTo>
                  <a:lnTo>
                    <a:pt x="4788" y="4069576"/>
                  </a:lnTo>
                  <a:lnTo>
                    <a:pt x="6703" y="4069576"/>
                  </a:lnTo>
                  <a:lnTo>
                    <a:pt x="6703" y="4071931"/>
                  </a:lnTo>
                  <a:lnTo>
                    <a:pt x="9001" y="4074287"/>
                  </a:lnTo>
                  <a:lnTo>
                    <a:pt x="6703" y="4074287"/>
                  </a:lnTo>
                  <a:lnTo>
                    <a:pt x="6703" y="4076644"/>
                  </a:lnTo>
                  <a:lnTo>
                    <a:pt x="4788" y="4076644"/>
                  </a:lnTo>
                  <a:lnTo>
                    <a:pt x="4788" y="4078527"/>
                  </a:lnTo>
                  <a:lnTo>
                    <a:pt x="2298" y="4076644"/>
                  </a:lnTo>
                  <a:lnTo>
                    <a:pt x="0" y="4076644"/>
                  </a:lnTo>
                  <a:lnTo>
                    <a:pt x="0" y="4074287"/>
                  </a:lnTo>
                </a:path>
                <a:path w="9525" h="4244340">
                  <a:moveTo>
                    <a:pt x="0" y="4035173"/>
                  </a:moveTo>
                  <a:lnTo>
                    <a:pt x="0" y="4005018"/>
                  </a:lnTo>
                  <a:lnTo>
                    <a:pt x="0" y="4003146"/>
                  </a:lnTo>
                  <a:lnTo>
                    <a:pt x="2298" y="4000778"/>
                  </a:lnTo>
                  <a:lnTo>
                    <a:pt x="4788" y="4000778"/>
                  </a:lnTo>
                  <a:lnTo>
                    <a:pt x="6703" y="4003146"/>
                  </a:lnTo>
                  <a:lnTo>
                    <a:pt x="6703" y="4005018"/>
                  </a:lnTo>
                  <a:lnTo>
                    <a:pt x="9001" y="4005018"/>
                  </a:lnTo>
                  <a:lnTo>
                    <a:pt x="9001" y="4035173"/>
                  </a:lnTo>
                  <a:lnTo>
                    <a:pt x="6703" y="4037541"/>
                  </a:lnTo>
                  <a:lnTo>
                    <a:pt x="4788" y="4039890"/>
                  </a:lnTo>
                  <a:lnTo>
                    <a:pt x="2298" y="4039890"/>
                  </a:lnTo>
                  <a:lnTo>
                    <a:pt x="0" y="4037541"/>
                  </a:lnTo>
                  <a:lnTo>
                    <a:pt x="0" y="4035173"/>
                  </a:lnTo>
                </a:path>
                <a:path w="9525" h="4244340">
                  <a:moveTo>
                    <a:pt x="0" y="3968274"/>
                  </a:moveTo>
                  <a:lnTo>
                    <a:pt x="0" y="3966383"/>
                  </a:lnTo>
                  <a:lnTo>
                    <a:pt x="0" y="3964034"/>
                  </a:lnTo>
                  <a:lnTo>
                    <a:pt x="2298" y="3964034"/>
                  </a:lnTo>
                  <a:lnTo>
                    <a:pt x="4788" y="3964034"/>
                  </a:lnTo>
                  <a:lnTo>
                    <a:pt x="6703" y="3964034"/>
                  </a:lnTo>
                  <a:lnTo>
                    <a:pt x="6703" y="3966383"/>
                  </a:lnTo>
                  <a:lnTo>
                    <a:pt x="9001" y="3968274"/>
                  </a:lnTo>
                  <a:lnTo>
                    <a:pt x="6703" y="3970623"/>
                  </a:lnTo>
                  <a:lnTo>
                    <a:pt x="4788" y="3972991"/>
                  </a:lnTo>
                  <a:lnTo>
                    <a:pt x="2298" y="3972991"/>
                  </a:lnTo>
                  <a:lnTo>
                    <a:pt x="0" y="3970623"/>
                  </a:lnTo>
                  <a:lnTo>
                    <a:pt x="0" y="3968274"/>
                  </a:lnTo>
                </a:path>
                <a:path w="9525" h="4244340">
                  <a:moveTo>
                    <a:pt x="0" y="3929161"/>
                  </a:moveTo>
                  <a:lnTo>
                    <a:pt x="0" y="3901832"/>
                  </a:lnTo>
                  <a:lnTo>
                    <a:pt x="0" y="3899483"/>
                  </a:lnTo>
                  <a:lnTo>
                    <a:pt x="0" y="3897115"/>
                  </a:lnTo>
                  <a:lnTo>
                    <a:pt x="2298" y="3897115"/>
                  </a:lnTo>
                  <a:lnTo>
                    <a:pt x="4788" y="3897115"/>
                  </a:lnTo>
                  <a:lnTo>
                    <a:pt x="6703" y="3897115"/>
                  </a:lnTo>
                  <a:lnTo>
                    <a:pt x="6703" y="3899483"/>
                  </a:lnTo>
                  <a:lnTo>
                    <a:pt x="9001" y="3901832"/>
                  </a:lnTo>
                  <a:lnTo>
                    <a:pt x="9001" y="3929161"/>
                  </a:lnTo>
                  <a:lnTo>
                    <a:pt x="6703" y="3931529"/>
                  </a:lnTo>
                  <a:lnTo>
                    <a:pt x="6703" y="3933878"/>
                  </a:lnTo>
                  <a:lnTo>
                    <a:pt x="4788" y="3933878"/>
                  </a:lnTo>
                  <a:lnTo>
                    <a:pt x="2298" y="3933878"/>
                  </a:lnTo>
                  <a:lnTo>
                    <a:pt x="0" y="3933878"/>
                  </a:lnTo>
                  <a:lnTo>
                    <a:pt x="0" y="3931529"/>
                  </a:lnTo>
                  <a:lnTo>
                    <a:pt x="0" y="3929161"/>
                  </a:lnTo>
                </a:path>
                <a:path w="9525" h="4244340">
                  <a:moveTo>
                    <a:pt x="0" y="3862720"/>
                  </a:moveTo>
                  <a:lnTo>
                    <a:pt x="0" y="3860371"/>
                  </a:lnTo>
                  <a:lnTo>
                    <a:pt x="0" y="3858022"/>
                  </a:lnTo>
                  <a:lnTo>
                    <a:pt x="2298" y="3858022"/>
                  </a:lnTo>
                  <a:lnTo>
                    <a:pt x="4788" y="3858022"/>
                  </a:lnTo>
                  <a:lnTo>
                    <a:pt x="6703" y="3858022"/>
                  </a:lnTo>
                  <a:lnTo>
                    <a:pt x="6703" y="3860371"/>
                  </a:lnTo>
                  <a:lnTo>
                    <a:pt x="9001" y="3862720"/>
                  </a:lnTo>
                  <a:lnTo>
                    <a:pt x="6703" y="3865088"/>
                  </a:lnTo>
                  <a:lnTo>
                    <a:pt x="4788" y="3867437"/>
                  </a:lnTo>
                  <a:lnTo>
                    <a:pt x="2298" y="3867437"/>
                  </a:lnTo>
                  <a:lnTo>
                    <a:pt x="0" y="3865088"/>
                  </a:lnTo>
                  <a:lnTo>
                    <a:pt x="0" y="3862720"/>
                  </a:lnTo>
                </a:path>
                <a:path w="9525" h="4244340">
                  <a:moveTo>
                    <a:pt x="0" y="3823627"/>
                  </a:moveTo>
                  <a:lnTo>
                    <a:pt x="0" y="3796298"/>
                  </a:lnTo>
                  <a:lnTo>
                    <a:pt x="0" y="3793930"/>
                  </a:lnTo>
                  <a:lnTo>
                    <a:pt x="0" y="3791581"/>
                  </a:lnTo>
                  <a:lnTo>
                    <a:pt x="2298" y="3791581"/>
                  </a:lnTo>
                  <a:lnTo>
                    <a:pt x="4788" y="3791581"/>
                  </a:lnTo>
                  <a:lnTo>
                    <a:pt x="6703" y="3791581"/>
                  </a:lnTo>
                  <a:lnTo>
                    <a:pt x="6703" y="3793930"/>
                  </a:lnTo>
                  <a:lnTo>
                    <a:pt x="9001" y="3796298"/>
                  </a:lnTo>
                  <a:lnTo>
                    <a:pt x="9001" y="3823627"/>
                  </a:lnTo>
                  <a:lnTo>
                    <a:pt x="6703" y="3825976"/>
                  </a:lnTo>
                  <a:lnTo>
                    <a:pt x="6703" y="3828325"/>
                  </a:lnTo>
                  <a:lnTo>
                    <a:pt x="4788" y="3828325"/>
                  </a:lnTo>
                  <a:lnTo>
                    <a:pt x="2298" y="3828325"/>
                  </a:lnTo>
                  <a:lnTo>
                    <a:pt x="0" y="3828325"/>
                  </a:lnTo>
                  <a:lnTo>
                    <a:pt x="0" y="3825976"/>
                  </a:lnTo>
                  <a:lnTo>
                    <a:pt x="0" y="3823627"/>
                  </a:lnTo>
                </a:path>
                <a:path w="9525" h="4244340">
                  <a:moveTo>
                    <a:pt x="0" y="3757186"/>
                  </a:moveTo>
                  <a:lnTo>
                    <a:pt x="0" y="3754837"/>
                  </a:lnTo>
                  <a:lnTo>
                    <a:pt x="2298" y="3752468"/>
                  </a:lnTo>
                  <a:lnTo>
                    <a:pt x="4788" y="3752468"/>
                  </a:lnTo>
                  <a:lnTo>
                    <a:pt x="6703" y="3754837"/>
                  </a:lnTo>
                  <a:lnTo>
                    <a:pt x="9001" y="3757186"/>
                  </a:lnTo>
                  <a:lnTo>
                    <a:pt x="6703" y="3759535"/>
                  </a:lnTo>
                  <a:lnTo>
                    <a:pt x="6703" y="3761425"/>
                  </a:lnTo>
                  <a:lnTo>
                    <a:pt x="4788" y="3761425"/>
                  </a:lnTo>
                  <a:lnTo>
                    <a:pt x="2298" y="3761425"/>
                  </a:lnTo>
                  <a:lnTo>
                    <a:pt x="0" y="3761425"/>
                  </a:lnTo>
                  <a:lnTo>
                    <a:pt x="0" y="3759535"/>
                  </a:lnTo>
                  <a:lnTo>
                    <a:pt x="0" y="3757186"/>
                  </a:lnTo>
                </a:path>
                <a:path w="9525" h="4244340">
                  <a:moveTo>
                    <a:pt x="0" y="3718073"/>
                  </a:moveTo>
                  <a:lnTo>
                    <a:pt x="0" y="3690267"/>
                  </a:lnTo>
                  <a:lnTo>
                    <a:pt x="0" y="3687918"/>
                  </a:lnTo>
                  <a:lnTo>
                    <a:pt x="0" y="3685569"/>
                  </a:lnTo>
                  <a:lnTo>
                    <a:pt x="2298" y="3685569"/>
                  </a:lnTo>
                  <a:lnTo>
                    <a:pt x="4788" y="3685569"/>
                  </a:lnTo>
                  <a:lnTo>
                    <a:pt x="6703" y="3685569"/>
                  </a:lnTo>
                  <a:lnTo>
                    <a:pt x="6703" y="3687918"/>
                  </a:lnTo>
                  <a:lnTo>
                    <a:pt x="9001" y="3690267"/>
                  </a:lnTo>
                  <a:lnTo>
                    <a:pt x="9001" y="3718073"/>
                  </a:lnTo>
                  <a:lnTo>
                    <a:pt x="6703" y="3720422"/>
                  </a:lnTo>
                  <a:lnTo>
                    <a:pt x="6703" y="3722790"/>
                  </a:lnTo>
                  <a:lnTo>
                    <a:pt x="4788" y="3722790"/>
                  </a:lnTo>
                  <a:lnTo>
                    <a:pt x="4788" y="3724681"/>
                  </a:lnTo>
                  <a:lnTo>
                    <a:pt x="2298" y="3722790"/>
                  </a:lnTo>
                  <a:lnTo>
                    <a:pt x="0" y="3722790"/>
                  </a:lnTo>
                  <a:lnTo>
                    <a:pt x="0" y="3720422"/>
                  </a:lnTo>
                  <a:lnTo>
                    <a:pt x="0" y="3718073"/>
                  </a:lnTo>
                </a:path>
                <a:path w="9525" h="4244340">
                  <a:moveTo>
                    <a:pt x="0" y="3651174"/>
                  </a:moveTo>
                  <a:lnTo>
                    <a:pt x="0" y="3648806"/>
                  </a:lnTo>
                  <a:lnTo>
                    <a:pt x="2298" y="3646934"/>
                  </a:lnTo>
                  <a:lnTo>
                    <a:pt x="4788" y="3646934"/>
                  </a:lnTo>
                  <a:lnTo>
                    <a:pt x="6703" y="3648806"/>
                  </a:lnTo>
                  <a:lnTo>
                    <a:pt x="9001" y="3651174"/>
                  </a:lnTo>
                  <a:lnTo>
                    <a:pt x="6703" y="3653523"/>
                  </a:lnTo>
                  <a:lnTo>
                    <a:pt x="6703" y="3655872"/>
                  </a:lnTo>
                  <a:lnTo>
                    <a:pt x="4788" y="3655872"/>
                  </a:lnTo>
                  <a:lnTo>
                    <a:pt x="2298" y="3655872"/>
                  </a:lnTo>
                  <a:lnTo>
                    <a:pt x="0" y="3655872"/>
                  </a:lnTo>
                  <a:lnTo>
                    <a:pt x="0" y="3653523"/>
                  </a:lnTo>
                  <a:lnTo>
                    <a:pt x="0" y="3651174"/>
                  </a:lnTo>
                </a:path>
                <a:path w="9525" h="4244340">
                  <a:moveTo>
                    <a:pt x="0" y="3614410"/>
                  </a:moveTo>
                  <a:lnTo>
                    <a:pt x="0" y="3584732"/>
                  </a:lnTo>
                  <a:lnTo>
                    <a:pt x="0" y="3582383"/>
                  </a:lnTo>
                  <a:lnTo>
                    <a:pt x="2298" y="3580015"/>
                  </a:lnTo>
                  <a:lnTo>
                    <a:pt x="4788" y="3580015"/>
                  </a:lnTo>
                  <a:lnTo>
                    <a:pt x="6703" y="3582383"/>
                  </a:lnTo>
                  <a:lnTo>
                    <a:pt x="9001" y="3584732"/>
                  </a:lnTo>
                  <a:lnTo>
                    <a:pt x="9001" y="3614410"/>
                  </a:lnTo>
                  <a:lnTo>
                    <a:pt x="6703" y="3614410"/>
                  </a:lnTo>
                  <a:lnTo>
                    <a:pt x="6703" y="3616779"/>
                  </a:lnTo>
                  <a:lnTo>
                    <a:pt x="4788" y="3616779"/>
                  </a:lnTo>
                  <a:lnTo>
                    <a:pt x="4788" y="3619128"/>
                  </a:lnTo>
                  <a:lnTo>
                    <a:pt x="2298" y="3616779"/>
                  </a:lnTo>
                  <a:lnTo>
                    <a:pt x="0" y="3616779"/>
                  </a:lnTo>
                  <a:lnTo>
                    <a:pt x="0" y="3614410"/>
                  </a:lnTo>
                </a:path>
                <a:path w="9525" h="4244340">
                  <a:moveTo>
                    <a:pt x="0" y="3545620"/>
                  </a:moveTo>
                  <a:lnTo>
                    <a:pt x="0" y="3543271"/>
                  </a:lnTo>
                  <a:lnTo>
                    <a:pt x="2298" y="3540903"/>
                  </a:lnTo>
                  <a:lnTo>
                    <a:pt x="4788" y="3540903"/>
                  </a:lnTo>
                  <a:lnTo>
                    <a:pt x="6703" y="3543271"/>
                  </a:lnTo>
                  <a:lnTo>
                    <a:pt x="6703" y="3545620"/>
                  </a:lnTo>
                  <a:lnTo>
                    <a:pt x="9001" y="3545620"/>
                  </a:lnTo>
                  <a:lnTo>
                    <a:pt x="6703" y="3547988"/>
                  </a:lnTo>
                  <a:lnTo>
                    <a:pt x="6703" y="3550337"/>
                  </a:lnTo>
                  <a:lnTo>
                    <a:pt x="4788" y="3550337"/>
                  </a:lnTo>
                  <a:lnTo>
                    <a:pt x="4788" y="3552686"/>
                  </a:lnTo>
                  <a:lnTo>
                    <a:pt x="2298" y="3550337"/>
                  </a:lnTo>
                  <a:lnTo>
                    <a:pt x="0" y="3550337"/>
                  </a:lnTo>
                  <a:lnTo>
                    <a:pt x="0" y="3547988"/>
                  </a:lnTo>
                  <a:lnTo>
                    <a:pt x="0" y="3545620"/>
                  </a:lnTo>
                </a:path>
                <a:path w="9525" h="4244340">
                  <a:moveTo>
                    <a:pt x="0" y="3508876"/>
                  </a:moveTo>
                  <a:lnTo>
                    <a:pt x="0" y="3479179"/>
                  </a:lnTo>
                  <a:lnTo>
                    <a:pt x="0" y="3476830"/>
                  </a:lnTo>
                  <a:lnTo>
                    <a:pt x="2298" y="3474481"/>
                  </a:lnTo>
                  <a:lnTo>
                    <a:pt x="4788" y="3474481"/>
                  </a:lnTo>
                  <a:lnTo>
                    <a:pt x="6703" y="3476830"/>
                  </a:lnTo>
                  <a:lnTo>
                    <a:pt x="9001" y="3479179"/>
                  </a:lnTo>
                  <a:lnTo>
                    <a:pt x="9001" y="3508876"/>
                  </a:lnTo>
                  <a:lnTo>
                    <a:pt x="6703" y="3511225"/>
                  </a:lnTo>
                  <a:lnTo>
                    <a:pt x="4788" y="3513593"/>
                  </a:lnTo>
                  <a:lnTo>
                    <a:pt x="2298" y="3513593"/>
                  </a:lnTo>
                  <a:lnTo>
                    <a:pt x="0" y="3511225"/>
                  </a:lnTo>
                  <a:lnTo>
                    <a:pt x="0" y="3508876"/>
                  </a:lnTo>
                </a:path>
                <a:path w="9525" h="4244340">
                  <a:moveTo>
                    <a:pt x="0" y="3442435"/>
                  </a:moveTo>
                  <a:lnTo>
                    <a:pt x="0" y="3440086"/>
                  </a:lnTo>
                  <a:lnTo>
                    <a:pt x="0" y="3437718"/>
                  </a:lnTo>
                  <a:lnTo>
                    <a:pt x="2298" y="3437718"/>
                  </a:lnTo>
                  <a:lnTo>
                    <a:pt x="4788" y="3437718"/>
                  </a:lnTo>
                  <a:lnTo>
                    <a:pt x="6703" y="3437718"/>
                  </a:lnTo>
                  <a:lnTo>
                    <a:pt x="6703" y="3440086"/>
                  </a:lnTo>
                  <a:lnTo>
                    <a:pt x="9001" y="3442435"/>
                  </a:lnTo>
                  <a:lnTo>
                    <a:pt x="6703" y="3442435"/>
                  </a:lnTo>
                  <a:lnTo>
                    <a:pt x="6703" y="3444325"/>
                  </a:lnTo>
                  <a:lnTo>
                    <a:pt x="4788" y="3444325"/>
                  </a:lnTo>
                  <a:lnTo>
                    <a:pt x="4788" y="3446675"/>
                  </a:lnTo>
                  <a:lnTo>
                    <a:pt x="2298" y="3444325"/>
                  </a:lnTo>
                  <a:lnTo>
                    <a:pt x="0" y="3444325"/>
                  </a:lnTo>
                  <a:lnTo>
                    <a:pt x="0" y="3442435"/>
                  </a:lnTo>
                </a:path>
                <a:path w="9525" h="4244340">
                  <a:moveTo>
                    <a:pt x="0" y="3403323"/>
                  </a:moveTo>
                  <a:lnTo>
                    <a:pt x="0" y="3373167"/>
                  </a:lnTo>
                  <a:lnTo>
                    <a:pt x="0" y="3370818"/>
                  </a:lnTo>
                  <a:lnTo>
                    <a:pt x="2298" y="3368469"/>
                  </a:lnTo>
                  <a:lnTo>
                    <a:pt x="4788" y="3368469"/>
                  </a:lnTo>
                  <a:lnTo>
                    <a:pt x="6703" y="3370818"/>
                  </a:lnTo>
                  <a:lnTo>
                    <a:pt x="6703" y="3373167"/>
                  </a:lnTo>
                  <a:lnTo>
                    <a:pt x="9001" y="3373167"/>
                  </a:lnTo>
                  <a:lnTo>
                    <a:pt x="9001" y="3403323"/>
                  </a:lnTo>
                  <a:lnTo>
                    <a:pt x="6703" y="3405213"/>
                  </a:lnTo>
                  <a:lnTo>
                    <a:pt x="4788" y="3407562"/>
                  </a:lnTo>
                  <a:lnTo>
                    <a:pt x="2298" y="3407562"/>
                  </a:lnTo>
                  <a:lnTo>
                    <a:pt x="0" y="3405213"/>
                  </a:lnTo>
                  <a:lnTo>
                    <a:pt x="0" y="3403323"/>
                  </a:lnTo>
                </a:path>
                <a:path w="9525" h="4244340">
                  <a:moveTo>
                    <a:pt x="0" y="3336423"/>
                  </a:moveTo>
                  <a:lnTo>
                    <a:pt x="0" y="3334074"/>
                  </a:lnTo>
                  <a:lnTo>
                    <a:pt x="0" y="3331706"/>
                  </a:lnTo>
                  <a:lnTo>
                    <a:pt x="2298" y="3331706"/>
                  </a:lnTo>
                  <a:lnTo>
                    <a:pt x="4788" y="3331706"/>
                  </a:lnTo>
                  <a:lnTo>
                    <a:pt x="6703" y="3331706"/>
                  </a:lnTo>
                  <a:lnTo>
                    <a:pt x="6703" y="3334074"/>
                  </a:lnTo>
                  <a:lnTo>
                    <a:pt x="9001" y="3336423"/>
                  </a:lnTo>
                  <a:lnTo>
                    <a:pt x="6703" y="3338772"/>
                  </a:lnTo>
                  <a:lnTo>
                    <a:pt x="4788" y="3341140"/>
                  </a:lnTo>
                  <a:lnTo>
                    <a:pt x="2298" y="3341140"/>
                  </a:lnTo>
                  <a:lnTo>
                    <a:pt x="0" y="3338772"/>
                  </a:lnTo>
                  <a:lnTo>
                    <a:pt x="0" y="3336423"/>
                  </a:lnTo>
                </a:path>
                <a:path w="9525" h="4244340">
                  <a:moveTo>
                    <a:pt x="0" y="3297311"/>
                  </a:moveTo>
                  <a:lnTo>
                    <a:pt x="0" y="3269982"/>
                  </a:lnTo>
                  <a:lnTo>
                    <a:pt x="0" y="3267633"/>
                  </a:lnTo>
                  <a:lnTo>
                    <a:pt x="0" y="3265265"/>
                  </a:lnTo>
                  <a:lnTo>
                    <a:pt x="2298" y="3265265"/>
                  </a:lnTo>
                  <a:lnTo>
                    <a:pt x="4788" y="3262916"/>
                  </a:lnTo>
                  <a:lnTo>
                    <a:pt x="4788" y="3265265"/>
                  </a:lnTo>
                  <a:lnTo>
                    <a:pt x="6703" y="3265265"/>
                  </a:lnTo>
                  <a:lnTo>
                    <a:pt x="6703" y="3267633"/>
                  </a:lnTo>
                  <a:lnTo>
                    <a:pt x="9001" y="3269982"/>
                  </a:lnTo>
                  <a:lnTo>
                    <a:pt x="9001" y="3297311"/>
                  </a:lnTo>
                  <a:lnTo>
                    <a:pt x="6703" y="3299660"/>
                  </a:lnTo>
                  <a:lnTo>
                    <a:pt x="6703" y="3302028"/>
                  </a:lnTo>
                  <a:lnTo>
                    <a:pt x="4788" y="3302028"/>
                  </a:lnTo>
                  <a:lnTo>
                    <a:pt x="2298" y="3302028"/>
                  </a:lnTo>
                  <a:lnTo>
                    <a:pt x="0" y="3302028"/>
                  </a:lnTo>
                  <a:lnTo>
                    <a:pt x="0" y="3299660"/>
                  </a:lnTo>
                  <a:lnTo>
                    <a:pt x="0" y="3297311"/>
                  </a:lnTo>
                </a:path>
                <a:path w="9525" h="4244340">
                  <a:moveTo>
                    <a:pt x="0" y="3230869"/>
                  </a:moveTo>
                  <a:lnTo>
                    <a:pt x="0" y="3228520"/>
                  </a:lnTo>
                  <a:lnTo>
                    <a:pt x="0" y="3226171"/>
                  </a:lnTo>
                  <a:lnTo>
                    <a:pt x="2298" y="3226171"/>
                  </a:lnTo>
                  <a:lnTo>
                    <a:pt x="4788" y="3226171"/>
                  </a:lnTo>
                  <a:lnTo>
                    <a:pt x="6703" y="3226171"/>
                  </a:lnTo>
                  <a:lnTo>
                    <a:pt x="6703" y="3228520"/>
                  </a:lnTo>
                  <a:lnTo>
                    <a:pt x="9001" y="3230869"/>
                  </a:lnTo>
                  <a:lnTo>
                    <a:pt x="6703" y="3233238"/>
                  </a:lnTo>
                  <a:lnTo>
                    <a:pt x="4788" y="3235587"/>
                  </a:lnTo>
                  <a:lnTo>
                    <a:pt x="2298" y="3235587"/>
                  </a:lnTo>
                  <a:lnTo>
                    <a:pt x="0" y="3233238"/>
                  </a:lnTo>
                  <a:lnTo>
                    <a:pt x="0" y="3230869"/>
                  </a:lnTo>
                </a:path>
                <a:path w="9525" h="4244340">
                  <a:moveTo>
                    <a:pt x="0" y="3191776"/>
                  </a:moveTo>
                  <a:lnTo>
                    <a:pt x="0" y="3163970"/>
                  </a:lnTo>
                  <a:lnTo>
                    <a:pt x="0" y="3161621"/>
                  </a:lnTo>
                  <a:lnTo>
                    <a:pt x="0" y="3159730"/>
                  </a:lnTo>
                  <a:lnTo>
                    <a:pt x="2298" y="3159730"/>
                  </a:lnTo>
                  <a:lnTo>
                    <a:pt x="4788" y="3159730"/>
                  </a:lnTo>
                  <a:lnTo>
                    <a:pt x="6703" y="3159730"/>
                  </a:lnTo>
                  <a:lnTo>
                    <a:pt x="6703" y="3161621"/>
                  </a:lnTo>
                  <a:lnTo>
                    <a:pt x="9001" y="3163970"/>
                  </a:lnTo>
                  <a:lnTo>
                    <a:pt x="9001" y="3191776"/>
                  </a:lnTo>
                  <a:lnTo>
                    <a:pt x="6703" y="3194125"/>
                  </a:lnTo>
                  <a:lnTo>
                    <a:pt x="6703" y="3196474"/>
                  </a:lnTo>
                  <a:lnTo>
                    <a:pt x="4788" y="3196474"/>
                  </a:lnTo>
                  <a:lnTo>
                    <a:pt x="2298" y="3196474"/>
                  </a:lnTo>
                  <a:lnTo>
                    <a:pt x="0" y="3196474"/>
                  </a:lnTo>
                  <a:lnTo>
                    <a:pt x="0" y="3194125"/>
                  </a:lnTo>
                  <a:lnTo>
                    <a:pt x="0" y="3191776"/>
                  </a:lnTo>
                </a:path>
                <a:path w="9525" h="4244340">
                  <a:moveTo>
                    <a:pt x="0" y="3124858"/>
                  </a:moveTo>
                  <a:lnTo>
                    <a:pt x="0" y="3122967"/>
                  </a:lnTo>
                  <a:lnTo>
                    <a:pt x="2298" y="3120618"/>
                  </a:lnTo>
                  <a:lnTo>
                    <a:pt x="4788" y="3120618"/>
                  </a:lnTo>
                  <a:lnTo>
                    <a:pt x="6703" y="3122967"/>
                  </a:lnTo>
                  <a:lnTo>
                    <a:pt x="9001" y="3124858"/>
                  </a:lnTo>
                  <a:lnTo>
                    <a:pt x="6703" y="3127226"/>
                  </a:lnTo>
                  <a:lnTo>
                    <a:pt x="6703" y="3129575"/>
                  </a:lnTo>
                  <a:lnTo>
                    <a:pt x="4788" y="3129575"/>
                  </a:lnTo>
                  <a:lnTo>
                    <a:pt x="2298" y="3129575"/>
                  </a:lnTo>
                  <a:lnTo>
                    <a:pt x="0" y="3129575"/>
                  </a:lnTo>
                  <a:lnTo>
                    <a:pt x="0" y="3127226"/>
                  </a:lnTo>
                  <a:lnTo>
                    <a:pt x="0" y="3124858"/>
                  </a:lnTo>
                </a:path>
                <a:path w="9525" h="4244340">
                  <a:moveTo>
                    <a:pt x="0" y="3086223"/>
                  </a:moveTo>
                  <a:lnTo>
                    <a:pt x="0" y="3058416"/>
                  </a:lnTo>
                  <a:lnTo>
                    <a:pt x="0" y="3056067"/>
                  </a:lnTo>
                  <a:lnTo>
                    <a:pt x="0" y="3053718"/>
                  </a:lnTo>
                  <a:lnTo>
                    <a:pt x="2298" y="3053718"/>
                  </a:lnTo>
                  <a:lnTo>
                    <a:pt x="4788" y="3053718"/>
                  </a:lnTo>
                  <a:lnTo>
                    <a:pt x="6703" y="3053718"/>
                  </a:lnTo>
                  <a:lnTo>
                    <a:pt x="6703" y="3056067"/>
                  </a:lnTo>
                  <a:lnTo>
                    <a:pt x="9001" y="3058416"/>
                  </a:lnTo>
                  <a:lnTo>
                    <a:pt x="9001" y="3086223"/>
                  </a:lnTo>
                  <a:lnTo>
                    <a:pt x="6703" y="3088113"/>
                  </a:lnTo>
                  <a:lnTo>
                    <a:pt x="6703" y="3090462"/>
                  </a:lnTo>
                  <a:lnTo>
                    <a:pt x="4788" y="3090462"/>
                  </a:lnTo>
                  <a:lnTo>
                    <a:pt x="2298" y="3090462"/>
                  </a:lnTo>
                  <a:lnTo>
                    <a:pt x="0" y="3090462"/>
                  </a:lnTo>
                  <a:lnTo>
                    <a:pt x="0" y="3088113"/>
                  </a:lnTo>
                  <a:lnTo>
                    <a:pt x="0" y="3086223"/>
                  </a:lnTo>
                </a:path>
                <a:path w="9525" h="4244340">
                  <a:moveTo>
                    <a:pt x="0" y="3019323"/>
                  </a:moveTo>
                  <a:lnTo>
                    <a:pt x="0" y="3016955"/>
                  </a:lnTo>
                  <a:lnTo>
                    <a:pt x="2298" y="3014606"/>
                  </a:lnTo>
                  <a:lnTo>
                    <a:pt x="4788" y="3014606"/>
                  </a:lnTo>
                  <a:lnTo>
                    <a:pt x="6703" y="3016955"/>
                  </a:lnTo>
                  <a:lnTo>
                    <a:pt x="9001" y="3019323"/>
                  </a:lnTo>
                  <a:lnTo>
                    <a:pt x="6703" y="3021672"/>
                  </a:lnTo>
                  <a:lnTo>
                    <a:pt x="6703" y="3024021"/>
                  </a:lnTo>
                  <a:lnTo>
                    <a:pt x="4788" y="3024021"/>
                  </a:lnTo>
                  <a:lnTo>
                    <a:pt x="2298" y="3024021"/>
                  </a:lnTo>
                  <a:lnTo>
                    <a:pt x="0" y="3024021"/>
                  </a:lnTo>
                  <a:lnTo>
                    <a:pt x="0" y="3021672"/>
                  </a:lnTo>
                  <a:lnTo>
                    <a:pt x="0" y="3019323"/>
                  </a:lnTo>
                </a:path>
                <a:path w="9525" h="4244340">
                  <a:moveTo>
                    <a:pt x="0" y="2982560"/>
                  </a:moveTo>
                  <a:lnTo>
                    <a:pt x="0" y="2952882"/>
                  </a:lnTo>
                  <a:lnTo>
                    <a:pt x="0" y="2950533"/>
                  </a:lnTo>
                  <a:lnTo>
                    <a:pt x="2298" y="2948165"/>
                  </a:lnTo>
                  <a:lnTo>
                    <a:pt x="4788" y="2948165"/>
                  </a:lnTo>
                  <a:lnTo>
                    <a:pt x="6703" y="2950533"/>
                  </a:lnTo>
                  <a:lnTo>
                    <a:pt x="9001" y="2952882"/>
                  </a:lnTo>
                  <a:lnTo>
                    <a:pt x="9001" y="2982560"/>
                  </a:lnTo>
                  <a:lnTo>
                    <a:pt x="6703" y="2982560"/>
                  </a:lnTo>
                  <a:lnTo>
                    <a:pt x="6703" y="2984928"/>
                  </a:lnTo>
                  <a:lnTo>
                    <a:pt x="4788" y="2984928"/>
                  </a:lnTo>
                  <a:lnTo>
                    <a:pt x="4788" y="2987277"/>
                  </a:lnTo>
                  <a:lnTo>
                    <a:pt x="2298" y="2984928"/>
                  </a:lnTo>
                  <a:lnTo>
                    <a:pt x="0" y="2984928"/>
                  </a:lnTo>
                  <a:lnTo>
                    <a:pt x="0" y="2982560"/>
                  </a:lnTo>
                </a:path>
                <a:path w="9525" h="4244340">
                  <a:moveTo>
                    <a:pt x="0" y="2913770"/>
                  </a:moveTo>
                  <a:lnTo>
                    <a:pt x="0" y="2911421"/>
                  </a:lnTo>
                  <a:lnTo>
                    <a:pt x="2298" y="2909052"/>
                  </a:lnTo>
                  <a:lnTo>
                    <a:pt x="4788" y="2909052"/>
                  </a:lnTo>
                  <a:lnTo>
                    <a:pt x="6703" y="2911421"/>
                  </a:lnTo>
                  <a:lnTo>
                    <a:pt x="6703" y="2913770"/>
                  </a:lnTo>
                  <a:lnTo>
                    <a:pt x="9001" y="2913770"/>
                  </a:lnTo>
                  <a:lnTo>
                    <a:pt x="6703" y="2916138"/>
                  </a:lnTo>
                  <a:lnTo>
                    <a:pt x="6703" y="2918487"/>
                  </a:lnTo>
                  <a:lnTo>
                    <a:pt x="4788" y="2918487"/>
                  </a:lnTo>
                  <a:lnTo>
                    <a:pt x="2298" y="2918487"/>
                  </a:lnTo>
                  <a:lnTo>
                    <a:pt x="0" y="2918487"/>
                  </a:lnTo>
                  <a:lnTo>
                    <a:pt x="0" y="2916138"/>
                  </a:lnTo>
                  <a:lnTo>
                    <a:pt x="0" y="2913770"/>
                  </a:lnTo>
                </a:path>
                <a:path w="9525" h="4244340">
                  <a:moveTo>
                    <a:pt x="0" y="2877025"/>
                  </a:moveTo>
                  <a:lnTo>
                    <a:pt x="0" y="2846870"/>
                  </a:lnTo>
                  <a:lnTo>
                    <a:pt x="0" y="2844502"/>
                  </a:lnTo>
                  <a:lnTo>
                    <a:pt x="2298" y="2842630"/>
                  </a:lnTo>
                  <a:lnTo>
                    <a:pt x="4788" y="2842630"/>
                  </a:lnTo>
                  <a:lnTo>
                    <a:pt x="6703" y="2844502"/>
                  </a:lnTo>
                  <a:lnTo>
                    <a:pt x="9001" y="2846870"/>
                  </a:lnTo>
                  <a:lnTo>
                    <a:pt x="9001" y="2877025"/>
                  </a:lnTo>
                  <a:lnTo>
                    <a:pt x="6703" y="2879374"/>
                  </a:lnTo>
                  <a:lnTo>
                    <a:pt x="4788" y="2881265"/>
                  </a:lnTo>
                  <a:lnTo>
                    <a:pt x="2298" y="2881265"/>
                  </a:lnTo>
                  <a:lnTo>
                    <a:pt x="0" y="2879374"/>
                  </a:lnTo>
                  <a:lnTo>
                    <a:pt x="0" y="2877025"/>
                  </a:lnTo>
                </a:path>
                <a:path w="9525" h="4244340">
                  <a:moveTo>
                    <a:pt x="0" y="2810107"/>
                  </a:moveTo>
                  <a:lnTo>
                    <a:pt x="0" y="2807758"/>
                  </a:lnTo>
                  <a:lnTo>
                    <a:pt x="0" y="2805867"/>
                  </a:lnTo>
                  <a:lnTo>
                    <a:pt x="2298" y="2805867"/>
                  </a:lnTo>
                  <a:lnTo>
                    <a:pt x="4788" y="2803518"/>
                  </a:lnTo>
                  <a:lnTo>
                    <a:pt x="4788" y="2805867"/>
                  </a:lnTo>
                  <a:lnTo>
                    <a:pt x="6703" y="2805867"/>
                  </a:lnTo>
                  <a:lnTo>
                    <a:pt x="6703" y="2807758"/>
                  </a:lnTo>
                  <a:lnTo>
                    <a:pt x="9001" y="2810107"/>
                  </a:lnTo>
                  <a:lnTo>
                    <a:pt x="6703" y="2810107"/>
                  </a:lnTo>
                  <a:lnTo>
                    <a:pt x="6703" y="2812475"/>
                  </a:lnTo>
                  <a:lnTo>
                    <a:pt x="4788" y="2812475"/>
                  </a:lnTo>
                  <a:lnTo>
                    <a:pt x="4788" y="2814824"/>
                  </a:lnTo>
                  <a:lnTo>
                    <a:pt x="2298" y="2812475"/>
                  </a:lnTo>
                  <a:lnTo>
                    <a:pt x="0" y="2812475"/>
                  </a:lnTo>
                  <a:lnTo>
                    <a:pt x="0" y="2810107"/>
                  </a:lnTo>
                </a:path>
                <a:path w="9525" h="4244340">
                  <a:moveTo>
                    <a:pt x="0" y="2771014"/>
                  </a:moveTo>
                  <a:lnTo>
                    <a:pt x="0" y="2741316"/>
                  </a:lnTo>
                  <a:lnTo>
                    <a:pt x="0" y="2738967"/>
                  </a:lnTo>
                  <a:lnTo>
                    <a:pt x="2298" y="2736618"/>
                  </a:lnTo>
                  <a:lnTo>
                    <a:pt x="4788" y="2736618"/>
                  </a:lnTo>
                  <a:lnTo>
                    <a:pt x="6703" y="2738967"/>
                  </a:lnTo>
                  <a:lnTo>
                    <a:pt x="6703" y="2741316"/>
                  </a:lnTo>
                  <a:lnTo>
                    <a:pt x="9001" y="2741316"/>
                  </a:lnTo>
                  <a:lnTo>
                    <a:pt x="9001" y="2771014"/>
                  </a:lnTo>
                  <a:lnTo>
                    <a:pt x="6703" y="2773363"/>
                  </a:lnTo>
                  <a:lnTo>
                    <a:pt x="4788" y="2775712"/>
                  </a:lnTo>
                  <a:lnTo>
                    <a:pt x="2298" y="2775712"/>
                  </a:lnTo>
                  <a:lnTo>
                    <a:pt x="0" y="2773363"/>
                  </a:lnTo>
                  <a:lnTo>
                    <a:pt x="0" y="2771014"/>
                  </a:lnTo>
                </a:path>
                <a:path w="9525" h="4244340">
                  <a:moveTo>
                    <a:pt x="0" y="2704572"/>
                  </a:moveTo>
                  <a:lnTo>
                    <a:pt x="0" y="2702204"/>
                  </a:lnTo>
                  <a:lnTo>
                    <a:pt x="0" y="2699855"/>
                  </a:lnTo>
                  <a:lnTo>
                    <a:pt x="2298" y="2699855"/>
                  </a:lnTo>
                  <a:lnTo>
                    <a:pt x="4788" y="2699855"/>
                  </a:lnTo>
                  <a:lnTo>
                    <a:pt x="6703" y="2699855"/>
                  </a:lnTo>
                  <a:lnTo>
                    <a:pt x="6703" y="2702204"/>
                  </a:lnTo>
                  <a:lnTo>
                    <a:pt x="9001" y="2704572"/>
                  </a:lnTo>
                  <a:lnTo>
                    <a:pt x="6703" y="2706921"/>
                  </a:lnTo>
                  <a:lnTo>
                    <a:pt x="4788" y="2709289"/>
                  </a:lnTo>
                  <a:lnTo>
                    <a:pt x="2298" y="2709289"/>
                  </a:lnTo>
                  <a:lnTo>
                    <a:pt x="0" y="2706921"/>
                  </a:lnTo>
                  <a:lnTo>
                    <a:pt x="0" y="2704572"/>
                  </a:lnTo>
                </a:path>
                <a:path w="9525" h="4244340">
                  <a:moveTo>
                    <a:pt x="0" y="2665460"/>
                  </a:moveTo>
                  <a:lnTo>
                    <a:pt x="0" y="2638131"/>
                  </a:lnTo>
                  <a:lnTo>
                    <a:pt x="0" y="2635782"/>
                  </a:lnTo>
                  <a:lnTo>
                    <a:pt x="0" y="2633414"/>
                  </a:lnTo>
                  <a:lnTo>
                    <a:pt x="2298" y="2633414"/>
                  </a:lnTo>
                  <a:lnTo>
                    <a:pt x="4788" y="2631065"/>
                  </a:lnTo>
                  <a:lnTo>
                    <a:pt x="4788" y="2633414"/>
                  </a:lnTo>
                  <a:lnTo>
                    <a:pt x="6703" y="2633414"/>
                  </a:lnTo>
                  <a:lnTo>
                    <a:pt x="6703" y="2635782"/>
                  </a:lnTo>
                  <a:lnTo>
                    <a:pt x="9001" y="2638131"/>
                  </a:lnTo>
                  <a:lnTo>
                    <a:pt x="9001" y="2665460"/>
                  </a:lnTo>
                  <a:lnTo>
                    <a:pt x="6703" y="2667809"/>
                  </a:lnTo>
                  <a:lnTo>
                    <a:pt x="6703" y="2670177"/>
                  </a:lnTo>
                  <a:lnTo>
                    <a:pt x="4788" y="2670177"/>
                  </a:lnTo>
                  <a:lnTo>
                    <a:pt x="2298" y="2670177"/>
                  </a:lnTo>
                  <a:lnTo>
                    <a:pt x="0" y="2670177"/>
                  </a:lnTo>
                  <a:lnTo>
                    <a:pt x="0" y="2667809"/>
                  </a:lnTo>
                  <a:lnTo>
                    <a:pt x="0" y="2665460"/>
                  </a:lnTo>
                </a:path>
                <a:path w="9525" h="4244340">
                  <a:moveTo>
                    <a:pt x="0" y="2599019"/>
                  </a:moveTo>
                  <a:lnTo>
                    <a:pt x="0" y="2596670"/>
                  </a:lnTo>
                  <a:lnTo>
                    <a:pt x="0" y="2594321"/>
                  </a:lnTo>
                  <a:lnTo>
                    <a:pt x="2298" y="2594321"/>
                  </a:lnTo>
                  <a:lnTo>
                    <a:pt x="4788" y="2594321"/>
                  </a:lnTo>
                  <a:lnTo>
                    <a:pt x="6703" y="2594321"/>
                  </a:lnTo>
                  <a:lnTo>
                    <a:pt x="6703" y="2596670"/>
                  </a:lnTo>
                  <a:lnTo>
                    <a:pt x="9001" y="2599019"/>
                  </a:lnTo>
                  <a:lnTo>
                    <a:pt x="6703" y="2600909"/>
                  </a:lnTo>
                  <a:lnTo>
                    <a:pt x="4788" y="2603258"/>
                  </a:lnTo>
                  <a:lnTo>
                    <a:pt x="2298" y="2603258"/>
                  </a:lnTo>
                  <a:lnTo>
                    <a:pt x="0" y="2600909"/>
                  </a:lnTo>
                  <a:lnTo>
                    <a:pt x="0" y="2599019"/>
                  </a:lnTo>
                </a:path>
                <a:path w="9525" h="4244340">
                  <a:moveTo>
                    <a:pt x="0" y="2559926"/>
                  </a:moveTo>
                  <a:lnTo>
                    <a:pt x="0" y="2532119"/>
                  </a:lnTo>
                  <a:lnTo>
                    <a:pt x="0" y="2529770"/>
                  </a:lnTo>
                  <a:lnTo>
                    <a:pt x="0" y="2527402"/>
                  </a:lnTo>
                  <a:lnTo>
                    <a:pt x="2298" y="2527402"/>
                  </a:lnTo>
                  <a:lnTo>
                    <a:pt x="4788" y="2527402"/>
                  </a:lnTo>
                  <a:lnTo>
                    <a:pt x="6703" y="2527402"/>
                  </a:lnTo>
                  <a:lnTo>
                    <a:pt x="6703" y="2529770"/>
                  </a:lnTo>
                  <a:lnTo>
                    <a:pt x="9001" y="2532119"/>
                  </a:lnTo>
                  <a:lnTo>
                    <a:pt x="9001" y="2559926"/>
                  </a:lnTo>
                  <a:lnTo>
                    <a:pt x="6703" y="2562275"/>
                  </a:lnTo>
                  <a:lnTo>
                    <a:pt x="6703" y="2564165"/>
                  </a:lnTo>
                  <a:lnTo>
                    <a:pt x="4788" y="2564165"/>
                  </a:lnTo>
                  <a:lnTo>
                    <a:pt x="2298" y="2564165"/>
                  </a:lnTo>
                  <a:lnTo>
                    <a:pt x="0" y="2564165"/>
                  </a:lnTo>
                  <a:lnTo>
                    <a:pt x="0" y="2562275"/>
                  </a:lnTo>
                  <a:lnTo>
                    <a:pt x="0" y="2559926"/>
                  </a:lnTo>
                </a:path>
                <a:path w="9525" h="4244340">
                  <a:moveTo>
                    <a:pt x="0" y="2493007"/>
                  </a:moveTo>
                  <a:lnTo>
                    <a:pt x="0" y="2490658"/>
                  </a:lnTo>
                  <a:lnTo>
                    <a:pt x="2298" y="2488290"/>
                  </a:lnTo>
                  <a:lnTo>
                    <a:pt x="4788" y="2488290"/>
                  </a:lnTo>
                  <a:lnTo>
                    <a:pt x="6703" y="2490658"/>
                  </a:lnTo>
                  <a:lnTo>
                    <a:pt x="9001" y="2493007"/>
                  </a:lnTo>
                  <a:lnTo>
                    <a:pt x="6703" y="2495375"/>
                  </a:lnTo>
                  <a:lnTo>
                    <a:pt x="6703" y="2497724"/>
                  </a:lnTo>
                  <a:lnTo>
                    <a:pt x="4788" y="2497724"/>
                  </a:lnTo>
                  <a:lnTo>
                    <a:pt x="2298" y="2497724"/>
                  </a:lnTo>
                  <a:lnTo>
                    <a:pt x="0" y="2497724"/>
                  </a:lnTo>
                  <a:lnTo>
                    <a:pt x="0" y="2495375"/>
                  </a:lnTo>
                  <a:lnTo>
                    <a:pt x="0" y="2493007"/>
                  </a:lnTo>
                </a:path>
                <a:path w="9525" h="4244340">
                  <a:moveTo>
                    <a:pt x="0" y="2453895"/>
                  </a:moveTo>
                  <a:lnTo>
                    <a:pt x="0" y="2426566"/>
                  </a:lnTo>
                  <a:lnTo>
                    <a:pt x="0" y="2424217"/>
                  </a:lnTo>
                  <a:lnTo>
                    <a:pt x="0" y="2421868"/>
                  </a:lnTo>
                  <a:lnTo>
                    <a:pt x="2298" y="2421868"/>
                  </a:lnTo>
                  <a:lnTo>
                    <a:pt x="4788" y="2421868"/>
                  </a:lnTo>
                  <a:lnTo>
                    <a:pt x="6703" y="2421868"/>
                  </a:lnTo>
                  <a:lnTo>
                    <a:pt x="6703" y="2424217"/>
                  </a:lnTo>
                  <a:lnTo>
                    <a:pt x="9001" y="2426566"/>
                  </a:lnTo>
                  <a:lnTo>
                    <a:pt x="9001" y="2453895"/>
                  </a:lnTo>
                  <a:lnTo>
                    <a:pt x="6703" y="2456263"/>
                  </a:lnTo>
                  <a:lnTo>
                    <a:pt x="6703" y="2458612"/>
                  </a:lnTo>
                  <a:lnTo>
                    <a:pt x="4788" y="2458612"/>
                  </a:lnTo>
                  <a:lnTo>
                    <a:pt x="2298" y="2458612"/>
                  </a:lnTo>
                  <a:lnTo>
                    <a:pt x="0" y="2458612"/>
                  </a:lnTo>
                  <a:lnTo>
                    <a:pt x="0" y="2456263"/>
                  </a:lnTo>
                  <a:lnTo>
                    <a:pt x="0" y="2453895"/>
                  </a:lnTo>
                </a:path>
                <a:path w="9525" h="4244340">
                  <a:moveTo>
                    <a:pt x="0" y="2387472"/>
                  </a:moveTo>
                  <a:lnTo>
                    <a:pt x="0" y="2385104"/>
                  </a:lnTo>
                  <a:lnTo>
                    <a:pt x="2298" y="2382755"/>
                  </a:lnTo>
                  <a:lnTo>
                    <a:pt x="4788" y="2382755"/>
                  </a:lnTo>
                  <a:lnTo>
                    <a:pt x="6703" y="2385104"/>
                  </a:lnTo>
                  <a:lnTo>
                    <a:pt x="9001" y="2387472"/>
                  </a:lnTo>
                  <a:lnTo>
                    <a:pt x="6703" y="2389821"/>
                  </a:lnTo>
                  <a:lnTo>
                    <a:pt x="6703" y="2392171"/>
                  </a:lnTo>
                  <a:lnTo>
                    <a:pt x="4788" y="2392171"/>
                  </a:lnTo>
                  <a:lnTo>
                    <a:pt x="2298" y="2392171"/>
                  </a:lnTo>
                  <a:lnTo>
                    <a:pt x="0" y="2392171"/>
                  </a:lnTo>
                  <a:lnTo>
                    <a:pt x="0" y="2389821"/>
                  </a:lnTo>
                  <a:lnTo>
                    <a:pt x="0" y="2387472"/>
                  </a:lnTo>
                </a:path>
                <a:path w="9525" h="4244340">
                  <a:moveTo>
                    <a:pt x="0" y="2350709"/>
                  </a:moveTo>
                  <a:lnTo>
                    <a:pt x="0" y="2320573"/>
                  </a:lnTo>
                  <a:lnTo>
                    <a:pt x="0" y="2318663"/>
                  </a:lnTo>
                  <a:lnTo>
                    <a:pt x="2298" y="2316371"/>
                  </a:lnTo>
                  <a:lnTo>
                    <a:pt x="4788" y="2316371"/>
                  </a:lnTo>
                  <a:lnTo>
                    <a:pt x="6703" y="2318663"/>
                  </a:lnTo>
                  <a:lnTo>
                    <a:pt x="9001" y="2320573"/>
                  </a:lnTo>
                  <a:lnTo>
                    <a:pt x="9001" y="2350709"/>
                  </a:lnTo>
                  <a:lnTo>
                    <a:pt x="6703" y="2350709"/>
                  </a:lnTo>
                  <a:lnTo>
                    <a:pt x="6703" y="2353077"/>
                  </a:lnTo>
                  <a:lnTo>
                    <a:pt x="4788" y="2353077"/>
                  </a:lnTo>
                  <a:lnTo>
                    <a:pt x="4788" y="2355426"/>
                  </a:lnTo>
                  <a:lnTo>
                    <a:pt x="2298" y="2353077"/>
                  </a:lnTo>
                  <a:lnTo>
                    <a:pt x="0" y="2353077"/>
                  </a:lnTo>
                  <a:lnTo>
                    <a:pt x="0" y="2350709"/>
                  </a:lnTo>
                </a:path>
                <a:path w="9525" h="4244340">
                  <a:moveTo>
                    <a:pt x="0" y="2281995"/>
                  </a:moveTo>
                  <a:lnTo>
                    <a:pt x="0" y="2279513"/>
                  </a:lnTo>
                  <a:lnTo>
                    <a:pt x="2298" y="2277221"/>
                  </a:lnTo>
                  <a:lnTo>
                    <a:pt x="4788" y="2277221"/>
                  </a:lnTo>
                  <a:lnTo>
                    <a:pt x="6703" y="2279513"/>
                  </a:lnTo>
                  <a:lnTo>
                    <a:pt x="9001" y="2281995"/>
                  </a:lnTo>
                  <a:lnTo>
                    <a:pt x="6703" y="2283714"/>
                  </a:lnTo>
                  <a:lnTo>
                    <a:pt x="6703" y="2286197"/>
                  </a:lnTo>
                  <a:lnTo>
                    <a:pt x="4788" y="2286197"/>
                  </a:lnTo>
                  <a:lnTo>
                    <a:pt x="2298" y="2286197"/>
                  </a:lnTo>
                  <a:lnTo>
                    <a:pt x="0" y="2286197"/>
                  </a:lnTo>
                  <a:lnTo>
                    <a:pt x="0" y="2283714"/>
                  </a:lnTo>
                  <a:lnTo>
                    <a:pt x="0" y="2281995"/>
                  </a:lnTo>
                </a:path>
                <a:path w="9525" h="4244340">
                  <a:moveTo>
                    <a:pt x="0" y="2245137"/>
                  </a:moveTo>
                  <a:lnTo>
                    <a:pt x="0" y="2214962"/>
                  </a:lnTo>
                  <a:lnTo>
                    <a:pt x="0" y="2212670"/>
                  </a:lnTo>
                  <a:lnTo>
                    <a:pt x="2298" y="2210379"/>
                  </a:lnTo>
                  <a:lnTo>
                    <a:pt x="4788" y="2210379"/>
                  </a:lnTo>
                  <a:lnTo>
                    <a:pt x="6703" y="2212670"/>
                  </a:lnTo>
                  <a:lnTo>
                    <a:pt x="9001" y="2214962"/>
                  </a:lnTo>
                  <a:lnTo>
                    <a:pt x="9001" y="2245137"/>
                  </a:lnTo>
                  <a:lnTo>
                    <a:pt x="6703" y="2245137"/>
                  </a:lnTo>
                  <a:lnTo>
                    <a:pt x="6703" y="2247046"/>
                  </a:lnTo>
                  <a:lnTo>
                    <a:pt x="4788" y="2249338"/>
                  </a:lnTo>
                  <a:lnTo>
                    <a:pt x="2298" y="2249338"/>
                  </a:lnTo>
                  <a:lnTo>
                    <a:pt x="0" y="2247046"/>
                  </a:lnTo>
                  <a:lnTo>
                    <a:pt x="0" y="2245137"/>
                  </a:lnTo>
                </a:path>
                <a:path w="9525" h="4244340">
                  <a:moveTo>
                    <a:pt x="0" y="2178294"/>
                  </a:moveTo>
                  <a:lnTo>
                    <a:pt x="0" y="2175812"/>
                  </a:lnTo>
                  <a:lnTo>
                    <a:pt x="0" y="2173520"/>
                  </a:lnTo>
                  <a:lnTo>
                    <a:pt x="2298" y="2173520"/>
                  </a:lnTo>
                  <a:lnTo>
                    <a:pt x="4788" y="2171228"/>
                  </a:lnTo>
                  <a:lnTo>
                    <a:pt x="4788" y="2173520"/>
                  </a:lnTo>
                  <a:lnTo>
                    <a:pt x="6703" y="2173520"/>
                  </a:lnTo>
                  <a:lnTo>
                    <a:pt x="6703" y="2175812"/>
                  </a:lnTo>
                  <a:lnTo>
                    <a:pt x="9001" y="2178294"/>
                  </a:lnTo>
                  <a:lnTo>
                    <a:pt x="6703" y="2178294"/>
                  </a:lnTo>
                  <a:lnTo>
                    <a:pt x="6703" y="2180586"/>
                  </a:lnTo>
                  <a:lnTo>
                    <a:pt x="4788" y="2180586"/>
                  </a:lnTo>
                  <a:lnTo>
                    <a:pt x="4788" y="2183069"/>
                  </a:lnTo>
                  <a:lnTo>
                    <a:pt x="2298" y="2180586"/>
                  </a:lnTo>
                  <a:lnTo>
                    <a:pt x="0" y="2180586"/>
                  </a:lnTo>
                  <a:lnTo>
                    <a:pt x="0" y="2178294"/>
                  </a:lnTo>
                </a:path>
                <a:path w="9525" h="4244340">
                  <a:moveTo>
                    <a:pt x="0" y="2139144"/>
                  </a:moveTo>
                  <a:lnTo>
                    <a:pt x="0" y="2109542"/>
                  </a:lnTo>
                  <a:lnTo>
                    <a:pt x="0" y="2107060"/>
                  </a:lnTo>
                  <a:lnTo>
                    <a:pt x="2298" y="2104768"/>
                  </a:lnTo>
                  <a:lnTo>
                    <a:pt x="4788" y="2104768"/>
                  </a:lnTo>
                  <a:lnTo>
                    <a:pt x="6703" y="2107060"/>
                  </a:lnTo>
                  <a:lnTo>
                    <a:pt x="9001" y="2109542"/>
                  </a:lnTo>
                  <a:lnTo>
                    <a:pt x="9001" y="2139144"/>
                  </a:lnTo>
                  <a:lnTo>
                    <a:pt x="6703" y="2141436"/>
                  </a:lnTo>
                  <a:lnTo>
                    <a:pt x="4788" y="2143918"/>
                  </a:lnTo>
                  <a:lnTo>
                    <a:pt x="2298" y="2143918"/>
                  </a:lnTo>
                  <a:lnTo>
                    <a:pt x="0" y="2141436"/>
                  </a:lnTo>
                  <a:lnTo>
                    <a:pt x="0" y="2139144"/>
                  </a:lnTo>
                </a:path>
                <a:path w="9525" h="4244340">
                  <a:moveTo>
                    <a:pt x="0" y="2072683"/>
                  </a:moveTo>
                  <a:lnTo>
                    <a:pt x="0" y="2070392"/>
                  </a:lnTo>
                  <a:lnTo>
                    <a:pt x="0" y="2068100"/>
                  </a:lnTo>
                  <a:lnTo>
                    <a:pt x="2298" y="2068100"/>
                  </a:lnTo>
                  <a:lnTo>
                    <a:pt x="4788" y="2068100"/>
                  </a:lnTo>
                  <a:lnTo>
                    <a:pt x="6703" y="2068100"/>
                  </a:lnTo>
                  <a:lnTo>
                    <a:pt x="6703" y="2070392"/>
                  </a:lnTo>
                  <a:lnTo>
                    <a:pt x="9001" y="2072683"/>
                  </a:lnTo>
                  <a:lnTo>
                    <a:pt x="6703" y="2072683"/>
                  </a:lnTo>
                  <a:lnTo>
                    <a:pt x="6703" y="2075166"/>
                  </a:lnTo>
                  <a:lnTo>
                    <a:pt x="4788" y="2076885"/>
                  </a:lnTo>
                  <a:lnTo>
                    <a:pt x="2298" y="2076885"/>
                  </a:lnTo>
                  <a:lnTo>
                    <a:pt x="0" y="2075166"/>
                  </a:lnTo>
                  <a:lnTo>
                    <a:pt x="0" y="2072683"/>
                  </a:lnTo>
                </a:path>
                <a:path w="9525" h="4244340">
                  <a:moveTo>
                    <a:pt x="0" y="2033533"/>
                  </a:moveTo>
                  <a:lnTo>
                    <a:pt x="0" y="2005841"/>
                  </a:lnTo>
                  <a:lnTo>
                    <a:pt x="0" y="2003549"/>
                  </a:lnTo>
                  <a:lnTo>
                    <a:pt x="0" y="2001640"/>
                  </a:lnTo>
                  <a:lnTo>
                    <a:pt x="2298" y="2001640"/>
                  </a:lnTo>
                  <a:lnTo>
                    <a:pt x="4788" y="1999157"/>
                  </a:lnTo>
                  <a:lnTo>
                    <a:pt x="4788" y="2001640"/>
                  </a:lnTo>
                  <a:lnTo>
                    <a:pt x="6703" y="2001640"/>
                  </a:lnTo>
                  <a:lnTo>
                    <a:pt x="6703" y="2003549"/>
                  </a:lnTo>
                  <a:lnTo>
                    <a:pt x="9001" y="2005841"/>
                  </a:lnTo>
                  <a:lnTo>
                    <a:pt x="9001" y="2033533"/>
                  </a:lnTo>
                  <a:lnTo>
                    <a:pt x="6703" y="2036016"/>
                  </a:lnTo>
                  <a:lnTo>
                    <a:pt x="4788" y="2038307"/>
                  </a:lnTo>
                  <a:lnTo>
                    <a:pt x="2298" y="2038307"/>
                  </a:lnTo>
                  <a:lnTo>
                    <a:pt x="0" y="2036016"/>
                  </a:lnTo>
                  <a:lnTo>
                    <a:pt x="0" y="2033533"/>
                  </a:lnTo>
                </a:path>
                <a:path w="9525" h="4244340">
                  <a:moveTo>
                    <a:pt x="0" y="1966691"/>
                  </a:moveTo>
                  <a:lnTo>
                    <a:pt x="0" y="1964399"/>
                  </a:lnTo>
                  <a:lnTo>
                    <a:pt x="0" y="1962489"/>
                  </a:lnTo>
                  <a:lnTo>
                    <a:pt x="2298" y="1962489"/>
                  </a:lnTo>
                  <a:lnTo>
                    <a:pt x="4788" y="1962489"/>
                  </a:lnTo>
                  <a:lnTo>
                    <a:pt x="6703" y="1962489"/>
                  </a:lnTo>
                  <a:lnTo>
                    <a:pt x="6703" y="1964399"/>
                  </a:lnTo>
                  <a:lnTo>
                    <a:pt x="9001" y="1966691"/>
                  </a:lnTo>
                  <a:lnTo>
                    <a:pt x="6703" y="1968982"/>
                  </a:lnTo>
                  <a:lnTo>
                    <a:pt x="4788" y="1971465"/>
                  </a:lnTo>
                  <a:lnTo>
                    <a:pt x="2298" y="1971465"/>
                  </a:lnTo>
                  <a:lnTo>
                    <a:pt x="0" y="1968982"/>
                  </a:lnTo>
                  <a:lnTo>
                    <a:pt x="0" y="1966691"/>
                  </a:lnTo>
                </a:path>
                <a:path w="9525" h="4244340">
                  <a:moveTo>
                    <a:pt x="0" y="1927540"/>
                  </a:moveTo>
                  <a:lnTo>
                    <a:pt x="0" y="1900230"/>
                  </a:lnTo>
                  <a:lnTo>
                    <a:pt x="0" y="1897939"/>
                  </a:lnTo>
                  <a:lnTo>
                    <a:pt x="0" y="1895647"/>
                  </a:lnTo>
                  <a:lnTo>
                    <a:pt x="2298" y="1895647"/>
                  </a:lnTo>
                  <a:lnTo>
                    <a:pt x="4788" y="1895647"/>
                  </a:lnTo>
                  <a:lnTo>
                    <a:pt x="6703" y="1895647"/>
                  </a:lnTo>
                  <a:lnTo>
                    <a:pt x="6703" y="1897939"/>
                  </a:lnTo>
                  <a:lnTo>
                    <a:pt x="9001" y="1900230"/>
                  </a:lnTo>
                  <a:lnTo>
                    <a:pt x="9001" y="1927540"/>
                  </a:lnTo>
                  <a:lnTo>
                    <a:pt x="6703" y="1930023"/>
                  </a:lnTo>
                  <a:lnTo>
                    <a:pt x="6703" y="1932315"/>
                  </a:lnTo>
                  <a:lnTo>
                    <a:pt x="4788" y="1932315"/>
                  </a:lnTo>
                  <a:lnTo>
                    <a:pt x="2298" y="1932315"/>
                  </a:lnTo>
                  <a:lnTo>
                    <a:pt x="0" y="1932315"/>
                  </a:lnTo>
                  <a:lnTo>
                    <a:pt x="0" y="1930023"/>
                  </a:lnTo>
                  <a:lnTo>
                    <a:pt x="0" y="1927540"/>
                  </a:lnTo>
                </a:path>
                <a:path w="9525" h="4244340">
                  <a:moveTo>
                    <a:pt x="0" y="1401778"/>
                  </a:moveTo>
                  <a:lnTo>
                    <a:pt x="0" y="1373895"/>
                  </a:lnTo>
                  <a:lnTo>
                    <a:pt x="0" y="1371603"/>
                  </a:lnTo>
                  <a:lnTo>
                    <a:pt x="0" y="1369312"/>
                  </a:lnTo>
                  <a:lnTo>
                    <a:pt x="2298" y="1369312"/>
                  </a:lnTo>
                  <a:lnTo>
                    <a:pt x="4788" y="1366829"/>
                  </a:lnTo>
                  <a:lnTo>
                    <a:pt x="4788" y="1369312"/>
                  </a:lnTo>
                  <a:lnTo>
                    <a:pt x="6703" y="1369312"/>
                  </a:lnTo>
                  <a:lnTo>
                    <a:pt x="6703" y="1371603"/>
                  </a:lnTo>
                  <a:lnTo>
                    <a:pt x="9001" y="1373895"/>
                  </a:lnTo>
                  <a:lnTo>
                    <a:pt x="9001" y="1401778"/>
                  </a:lnTo>
                  <a:lnTo>
                    <a:pt x="6703" y="1403688"/>
                  </a:lnTo>
                  <a:lnTo>
                    <a:pt x="4788" y="1405979"/>
                  </a:lnTo>
                  <a:lnTo>
                    <a:pt x="2298" y="1405979"/>
                  </a:lnTo>
                  <a:lnTo>
                    <a:pt x="0" y="1403688"/>
                  </a:lnTo>
                  <a:lnTo>
                    <a:pt x="0" y="1401778"/>
                  </a:lnTo>
                </a:path>
                <a:path w="9525" h="4244340">
                  <a:moveTo>
                    <a:pt x="0" y="1334936"/>
                  </a:moveTo>
                  <a:lnTo>
                    <a:pt x="0" y="1332453"/>
                  </a:lnTo>
                  <a:lnTo>
                    <a:pt x="0" y="1330161"/>
                  </a:lnTo>
                  <a:lnTo>
                    <a:pt x="2298" y="1330161"/>
                  </a:lnTo>
                  <a:lnTo>
                    <a:pt x="4788" y="1330161"/>
                  </a:lnTo>
                  <a:lnTo>
                    <a:pt x="6703" y="1330161"/>
                  </a:lnTo>
                  <a:lnTo>
                    <a:pt x="6703" y="1332453"/>
                  </a:lnTo>
                  <a:lnTo>
                    <a:pt x="9001" y="1334936"/>
                  </a:lnTo>
                  <a:lnTo>
                    <a:pt x="6703" y="1337227"/>
                  </a:lnTo>
                  <a:lnTo>
                    <a:pt x="4788" y="1339519"/>
                  </a:lnTo>
                  <a:lnTo>
                    <a:pt x="2298" y="1339519"/>
                  </a:lnTo>
                  <a:lnTo>
                    <a:pt x="0" y="1337227"/>
                  </a:lnTo>
                  <a:lnTo>
                    <a:pt x="0" y="1334936"/>
                  </a:lnTo>
                </a:path>
                <a:path w="9525" h="4244340">
                  <a:moveTo>
                    <a:pt x="0" y="1295785"/>
                  </a:moveTo>
                  <a:lnTo>
                    <a:pt x="0" y="1268475"/>
                  </a:lnTo>
                  <a:lnTo>
                    <a:pt x="0" y="1265992"/>
                  </a:lnTo>
                  <a:lnTo>
                    <a:pt x="0" y="1263701"/>
                  </a:lnTo>
                  <a:lnTo>
                    <a:pt x="2298" y="1263701"/>
                  </a:lnTo>
                  <a:lnTo>
                    <a:pt x="4788" y="1263701"/>
                  </a:lnTo>
                  <a:lnTo>
                    <a:pt x="6703" y="1263701"/>
                  </a:lnTo>
                  <a:lnTo>
                    <a:pt x="6703" y="1265992"/>
                  </a:lnTo>
                  <a:lnTo>
                    <a:pt x="9001" y="1268475"/>
                  </a:lnTo>
                  <a:lnTo>
                    <a:pt x="9001" y="1295785"/>
                  </a:lnTo>
                  <a:lnTo>
                    <a:pt x="6703" y="1298077"/>
                  </a:lnTo>
                  <a:lnTo>
                    <a:pt x="6703" y="1300369"/>
                  </a:lnTo>
                  <a:lnTo>
                    <a:pt x="4788" y="1300369"/>
                  </a:lnTo>
                  <a:lnTo>
                    <a:pt x="2298" y="1300369"/>
                  </a:lnTo>
                  <a:lnTo>
                    <a:pt x="0" y="1300369"/>
                  </a:lnTo>
                  <a:lnTo>
                    <a:pt x="0" y="1298077"/>
                  </a:lnTo>
                  <a:lnTo>
                    <a:pt x="0" y="1295785"/>
                  </a:lnTo>
                </a:path>
                <a:path w="9525" h="4244340">
                  <a:moveTo>
                    <a:pt x="0" y="1229325"/>
                  </a:moveTo>
                  <a:lnTo>
                    <a:pt x="0" y="1227033"/>
                  </a:lnTo>
                  <a:lnTo>
                    <a:pt x="0" y="1224550"/>
                  </a:lnTo>
                  <a:lnTo>
                    <a:pt x="2298" y="1224550"/>
                  </a:lnTo>
                  <a:lnTo>
                    <a:pt x="4788" y="1224550"/>
                  </a:lnTo>
                  <a:lnTo>
                    <a:pt x="6703" y="1224550"/>
                  </a:lnTo>
                  <a:lnTo>
                    <a:pt x="6703" y="1227033"/>
                  </a:lnTo>
                  <a:lnTo>
                    <a:pt x="9001" y="1229325"/>
                  </a:lnTo>
                  <a:lnTo>
                    <a:pt x="6703" y="1231616"/>
                  </a:lnTo>
                  <a:lnTo>
                    <a:pt x="4788" y="1234099"/>
                  </a:lnTo>
                  <a:lnTo>
                    <a:pt x="2298" y="1234099"/>
                  </a:lnTo>
                  <a:lnTo>
                    <a:pt x="0" y="1231616"/>
                  </a:lnTo>
                  <a:lnTo>
                    <a:pt x="0" y="1229325"/>
                  </a:lnTo>
                </a:path>
                <a:path w="9525" h="4244340">
                  <a:moveTo>
                    <a:pt x="0" y="1190174"/>
                  </a:moveTo>
                  <a:lnTo>
                    <a:pt x="0" y="1162482"/>
                  </a:lnTo>
                  <a:lnTo>
                    <a:pt x="0" y="1160000"/>
                  </a:lnTo>
                  <a:lnTo>
                    <a:pt x="0" y="1158090"/>
                  </a:lnTo>
                  <a:lnTo>
                    <a:pt x="2298" y="1158090"/>
                  </a:lnTo>
                  <a:lnTo>
                    <a:pt x="4788" y="1158090"/>
                  </a:lnTo>
                  <a:lnTo>
                    <a:pt x="6703" y="1158090"/>
                  </a:lnTo>
                  <a:lnTo>
                    <a:pt x="6703" y="1160000"/>
                  </a:lnTo>
                  <a:lnTo>
                    <a:pt x="9001" y="1162482"/>
                  </a:lnTo>
                  <a:lnTo>
                    <a:pt x="9001" y="1190174"/>
                  </a:lnTo>
                  <a:lnTo>
                    <a:pt x="6703" y="1192466"/>
                  </a:lnTo>
                  <a:lnTo>
                    <a:pt x="6703" y="1194949"/>
                  </a:lnTo>
                  <a:lnTo>
                    <a:pt x="4788" y="1194949"/>
                  </a:lnTo>
                  <a:lnTo>
                    <a:pt x="2298" y="1194949"/>
                  </a:lnTo>
                  <a:lnTo>
                    <a:pt x="0" y="1194949"/>
                  </a:lnTo>
                  <a:lnTo>
                    <a:pt x="0" y="1192466"/>
                  </a:lnTo>
                  <a:lnTo>
                    <a:pt x="0" y="1190174"/>
                  </a:lnTo>
                </a:path>
                <a:path w="9525" h="4244340">
                  <a:moveTo>
                    <a:pt x="0" y="1123332"/>
                  </a:moveTo>
                  <a:lnTo>
                    <a:pt x="0" y="1121422"/>
                  </a:lnTo>
                  <a:lnTo>
                    <a:pt x="2298" y="1119130"/>
                  </a:lnTo>
                  <a:lnTo>
                    <a:pt x="4788" y="1119130"/>
                  </a:lnTo>
                  <a:lnTo>
                    <a:pt x="6703" y="1121422"/>
                  </a:lnTo>
                  <a:lnTo>
                    <a:pt x="9001" y="1123332"/>
                  </a:lnTo>
                  <a:lnTo>
                    <a:pt x="6703" y="1125624"/>
                  </a:lnTo>
                  <a:lnTo>
                    <a:pt x="6703" y="1127915"/>
                  </a:lnTo>
                  <a:lnTo>
                    <a:pt x="4788" y="1127915"/>
                  </a:lnTo>
                  <a:lnTo>
                    <a:pt x="2298" y="1127915"/>
                  </a:lnTo>
                  <a:lnTo>
                    <a:pt x="0" y="1127915"/>
                  </a:lnTo>
                  <a:lnTo>
                    <a:pt x="0" y="1125624"/>
                  </a:lnTo>
                  <a:lnTo>
                    <a:pt x="0" y="1123332"/>
                  </a:lnTo>
                </a:path>
                <a:path w="9525" h="4244340">
                  <a:moveTo>
                    <a:pt x="0" y="1084563"/>
                  </a:moveTo>
                  <a:lnTo>
                    <a:pt x="0" y="1056872"/>
                  </a:lnTo>
                  <a:lnTo>
                    <a:pt x="0" y="1054580"/>
                  </a:lnTo>
                  <a:lnTo>
                    <a:pt x="0" y="1052097"/>
                  </a:lnTo>
                  <a:lnTo>
                    <a:pt x="2298" y="1052097"/>
                  </a:lnTo>
                  <a:lnTo>
                    <a:pt x="4788" y="1052097"/>
                  </a:lnTo>
                  <a:lnTo>
                    <a:pt x="6703" y="1052097"/>
                  </a:lnTo>
                  <a:lnTo>
                    <a:pt x="6703" y="1054580"/>
                  </a:lnTo>
                  <a:lnTo>
                    <a:pt x="9001" y="1056872"/>
                  </a:lnTo>
                  <a:lnTo>
                    <a:pt x="9001" y="1084563"/>
                  </a:lnTo>
                  <a:lnTo>
                    <a:pt x="6703" y="1086473"/>
                  </a:lnTo>
                  <a:lnTo>
                    <a:pt x="6703" y="1088956"/>
                  </a:lnTo>
                  <a:lnTo>
                    <a:pt x="4788" y="1088956"/>
                  </a:lnTo>
                  <a:lnTo>
                    <a:pt x="4788" y="1091248"/>
                  </a:lnTo>
                  <a:lnTo>
                    <a:pt x="2298" y="1088956"/>
                  </a:lnTo>
                  <a:lnTo>
                    <a:pt x="0" y="1088956"/>
                  </a:lnTo>
                  <a:lnTo>
                    <a:pt x="0" y="1086473"/>
                  </a:lnTo>
                  <a:lnTo>
                    <a:pt x="0" y="1084563"/>
                  </a:lnTo>
                </a:path>
                <a:path w="9525" h="4244340">
                  <a:moveTo>
                    <a:pt x="0" y="1017721"/>
                  </a:moveTo>
                  <a:lnTo>
                    <a:pt x="0" y="1015429"/>
                  </a:lnTo>
                  <a:lnTo>
                    <a:pt x="2298" y="1012947"/>
                  </a:lnTo>
                  <a:lnTo>
                    <a:pt x="4788" y="1012947"/>
                  </a:lnTo>
                  <a:lnTo>
                    <a:pt x="6703" y="1015429"/>
                  </a:lnTo>
                  <a:lnTo>
                    <a:pt x="9001" y="1017721"/>
                  </a:lnTo>
                  <a:lnTo>
                    <a:pt x="6703" y="1020013"/>
                  </a:lnTo>
                  <a:lnTo>
                    <a:pt x="6703" y="1022496"/>
                  </a:lnTo>
                  <a:lnTo>
                    <a:pt x="4788" y="1022496"/>
                  </a:lnTo>
                  <a:lnTo>
                    <a:pt x="2298" y="1022496"/>
                  </a:lnTo>
                  <a:lnTo>
                    <a:pt x="0" y="1022496"/>
                  </a:lnTo>
                  <a:lnTo>
                    <a:pt x="0" y="1020013"/>
                  </a:lnTo>
                  <a:lnTo>
                    <a:pt x="0" y="1017721"/>
                  </a:lnTo>
                </a:path>
                <a:path w="9525" h="4244340">
                  <a:moveTo>
                    <a:pt x="0" y="981053"/>
                  </a:moveTo>
                  <a:lnTo>
                    <a:pt x="0" y="951261"/>
                  </a:lnTo>
                  <a:lnTo>
                    <a:pt x="0" y="948969"/>
                  </a:lnTo>
                  <a:lnTo>
                    <a:pt x="2298" y="946677"/>
                  </a:lnTo>
                  <a:lnTo>
                    <a:pt x="4788" y="946677"/>
                  </a:lnTo>
                  <a:lnTo>
                    <a:pt x="6703" y="948969"/>
                  </a:lnTo>
                  <a:lnTo>
                    <a:pt x="9001" y="951261"/>
                  </a:lnTo>
                  <a:lnTo>
                    <a:pt x="9001" y="981053"/>
                  </a:lnTo>
                  <a:lnTo>
                    <a:pt x="6703" y="981053"/>
                  </a:lnTo>
                  <a:lnTo>
                    <a:pt x="6703" y="983345"/>
                  </a:lnTo>
                  <a:lnTo>
                    <a:pt x="4788" y="983345"/>
                  </a:lnTo>
                  <a:lnTo>
                    <a:pt x="4788" y="985637"/>
                  </a:lnTo>
                  <a:lnTo>
                    <a:pt x="2298" y="983345"/>
                  </a:lnTo>
                  <a:lnTo>
                    <a:pt x="0" y="983345"/>
                  </a:lnTo>
                  <a:lnTo>
                    <a:pt x="0" y="981053"/>
                  </a:lnTo>
                </a:path>
                <a:path w="9525" h="4244340">
                  <a:moveTo>
                    <a:pt x="0" y="912110"/>
                  </a:moveTo>
                  <a:lnTo>
                    <a:pt x="0" y="909819"/>
                  </a:lnTo>
                  <a:lnTo>
                    <a:pt x="2298" y="909819"/>
                  </a:lnTo>
                  <a:lnTo>
                    <a:pt x="4788" y="907527"/>
                  </a:lnTo>
                  <a:lnTo>
                    <a:pt x="4788" y="909819"/>
                  </a:lnTo>
                  <a:lnTo>
                    <a:pt x="6703" y="909819"/>
                  </a:lnTo>
                  <a:lnTo>
                    <a:pt x="6703" y="912110"/>
                  </a:lnTo>
                  <a:lnTo>
                    <a:pt x="9001" y="912110"/>
                  </a:lnTo>
                  <a:lnTo>
                    <a:pt x="6703" y="914593"/>
                  </a:lnTo>
                  <a:lnTo>
                    <a:pt x="6703" y="916885"/>
                  </a:lnTo>
                  <a:lnTo>
                    <a:pt x="4788" y="916885"/>
                  </a:lnTo>
                  <a:lnTo>
                    <a:pt x="4788" y="918795"/>
                  </a:lnTo>
                  <a:lnTo>
                    <a:pt x="2298" y="916885"/>
                  </a:lnTo>
                  <a:lnTo>
                    <a:pt x="0" y="916885"/>
                  </a:lnTo>
                  <a:lnTo>
                    <a:pt x="0" y="914593"/>
                  </a:lnTo>
                  <a:lnTo>
                    <a:pt x="0" y="912110"/>
                  </a:lnTo>
                </a:path>
                <a:path w="9525" h="4244340">
                  <a:moveTo>
                    <a:pt x="0" y="875443"/>
                  </a:moveTo>
                  <a:lnTo>
                    <a:pt x="0" y="845268"/>
                  </a:lnTo>
                  <a:lnTo>
                    <a:pt x="0" y="842976"/>
                  </a:lnTo>
                  <a:lnTo>
                    <a:pt x="2298" y="841067"/>
                  </a:lnTo>
                  <a:lnTo>
                    <a:pt x="4788" y="841067"/>
                  </a:lnTo>
                  <a:lnTo>
                    <a:pt x="6703" y="842976"/>
                  </a:lnTo>
                  <a:lnTo>
                    <a:pt x="9001" y="845268"/>
                  </a:lnTo>
                  <a:lnTo>
                    <a:pt x="9001" y="875443"/>
                  </a:lnTo>
                  <a:lnTo>
                    <a:pt x="6703" y="877734"/>
                  </a:lnTo>
                  <a:lnTo>
                    <a:pt x="4788" y="879644"/>
                  </a:lnTo>
                  <a:lnTo>
                    <a:pt x="2298" y="879644"/>
                  </a:lnTo>
                  <a:lnTo>
                    <a:pt x="0" y="877734"/>
                  </a:lnTo>
                  <a:lnTo>
                    <a:pt x="0" y="875443"/>
                  </a:lnTo>
                </a:path>
                <a:path w="9525" h="4244340">
                  <a:moveTo>
                    <a:pt x="0" y="808600"/>
                  </a:moveTo>
                  <a:lnTo>
                    <a:pt x="0" y="806118"/>
                  </a:lnTo>
                  <a:lnTo>
                    <a:pt x="0" y="804208"/>
                  </a:lnTo>
                  <a:lnTo>
                    <a:pt x="2298" y="804208"/>
                  </a:lnTo>
                  <a:lnTo>
                    <a:pt x="4788" y="804208"/>
                  </a:lnTo>
                  <a:lnTo>
                    <a:pt x="6703" y="804208"/>
                  </a:lnTo>
                  <a:lnTo>
                    <a:pt x="6703" y="806118"/>
                  </a:lnTo>
                  <a:lnTo>
                    <a:pt x="9001" y="808600"/>
                  </a:lnTo>
                  <a:lnTo>
                    <a:pt x="6703" y="808600"/>
                  </a:lnTo>
                  <a:lnTo>
                    <a:pt x="6703" y="810892"/>
                  </a:lnTo>
                  <a:lnTo>
                    <a:pt x="4788" y="810892"/>
                  </a:lnTo>
                  <a:lnTo>
                    <a:pt x="4788" y="813184"/>
                  </a:lnTo>
                  <a:lnTo>
                    <a:pt x="2298" y="810892"/>
                  </a:lnTo>
                  <a:lnTo>
                    <a:pt x="0" y="810892"/>
                  </a:lnTo>
                  <a:lnTo>
                    <a:pt x="0" y="808600"/>
                  </a:lnTo>
                </a:path>
                <a:path w="9525" h="4244340">
                  <a:moveTo>
                    <a:pt x="0" y="769450"/>
                  </a:moveTo>
                  <a:lnTo>
                    <a:pt x="0" y="739657"/>
                  </a:lnTo>
                  <a:lnTo>
                    <a:pt x="0" y="737365"/>
                  </a:lnTo>
                  <a:lnTo>
                    <a:pt x="2298" y="737365"/>
                  </a:lnTo>
                  <a:lnTo>
                    <a:pt x="4788" y="735074"/>
                  </a:lnTo>
                  <a:lnTo>
                    <a:pt x="4788" y="737365"/>
                  </a:lnTo>
                  <a:lnTo>
                    <a:pt x="6703" y="737365"/>
                  </a:lnTo>
                  <a:lnTo>
                    <a:pt x="6703" y="739657"/>
                  </a:lnTo>
                  <a:lnTo>
                    <a:pt x="9001" y="739657"/>
                  </a:lnTo>
                  <a:lnTo>
                    <a:pt x="9001" y="769450"/>
                  </a:lnTo>
                  <a:lnTo>
                    <a:pt x="6703" y="771741"/>
                  </a:lnTo>
                  <a:lnTo>
                    <a:pt x="4788" y="774224"/>
                  </a:lnTo>
                  <a:lnTo>
                    <a:pt x="2298" y="774224"/>
                  </a:lnTo>
                  <a:lnTo>
                    <a:pt x="0" y="771741"/>
                  </a:lnTo>
                  <a:lnTo>
                    <a:pt x="0" y="769450"/>
                  </a:lnTo>
                </a:path>
                <a:path w="9525" h="4244340">
                  <a:moveTo>
                    <a:pt x="0" y="702989"/>
                  </a:moveTo>
                  <a:lnTo>
                    <a:pt x="0" y="700698"/>
                  </a:lnTo>
                  <a:lnTo>
                    <a:pt x="0" y="698215"/>
                  </a:lnTo>
                  <a:lnTo>
                    <a:pt x="2298" y="698215"/>
                  </a:lnTo>
                  <a:lnTo>
                    <a:pt x="4788" y="698215"/>
                  </a:lnTo>
                  <a:lnTo>
                    <a:pt x="6703" y="698215"/>
                  </a:lnTo>
                  <a:lnTo>
                    <a:pt x="6703" y="700698"/>
                  </a:lnTo>
                  <a:lnTo>
                    <a:pt x="9001" y="702989"/>
                  </a:lnTo>
                  <a:lnTo>
                    <a:pt x="6703" y="705281"/>
                  </a:lnTo>
                  <a:lnTo>
                    <a:pt x="4788" y="707764"/>
                  </a:lnTo>
                  <a:lnTo>
                    <a:pt x="2298" y="707764"/>
                  </a:lnTo>
                  <a:lnTo>
                    <a:pt x="0" y="705281"/>
                  </a:lnTo>
                  <a:lnTo>
                    <a:pt x="0" y="702989"/>
                  </a:lnTo>
                </a:path>
                <a:path w="9525" h="4244340">
                  <a:moveTo>
                    <a:pt x="0" y="663839"/>
                  </a:moveTo>
                  <a:lnTo>
                    <a:pt x="0" y="636147"/>
                  </a:lnTo>
                  <a:lnTo>
                    <a:pt x="0" y="634237"/>
                  </a:lnTo>
                  <a:lnTo>
                    <a:pt x="0" y="631946"/>
                  </a:lnTo>
                  <a:lnTo>
                    <a:pt x="2298" y="631946"/>
                  </a:lnTo>
                  <a:lnTo>
                    <a:pt x="4788" y="631946"/>
                  </a:lnTo>
                  <a:lnTo>
                    <a:pt x="6703" y="631946"/>
                  </a:lnTo>
                  <a:lnTo>
                    <a:pt x="6703" y="634237"/>
                  </a:lnTo>
                  <a:lnTo>
                    <a:pt x="9001" y="636147"/>
                  </a:lnTo>
                  <a:lnTo>
                    <a:pt x="9001" y="663839"/>
                  </a:lnTo>
                  <a:lnTo>
                    <a:pt x="6703" y="666322"/>
                  </a:lnTo>
                  <a:lnTo>
                    <a:pt x="6703" y="668613"/>
                  </a:lnTo>
                  <a:lnTo>
                    <a:pt x="4788" y="668613"/>
                  </a:lnTo>
                  <a:lnTo>
                    <a:pt x="2298" y="668613"/>
                  </a:lnTo>
                  <a:lnTo>
                    <a:pt x="0" y="668613"/>
                  </a:lnTo>
                  <a:lnTo>
                    <a:pt x="0" y="666322"/>
                  </a:lnTo>
                  <a:lnTo>
                    <a:pt x="0" y="663839"/>
                  </a:lnTo>
                </a:path>
                <a:path w="9525" h="4244340">
                  <a:moveTo>
                    <a:pt x="0" y="597379"/>
                  </a:moveTo>
                  <a:lnTo>
                    <a:pt x="0" y="595087"/>
                  </a:lnTo>
                  <a:lnTo>
                    <a:pt x="0" y="592795"/>
                  </a:lnTo>
                  <a:lnTo>
                    <a:pt x="2298" y="592795"/>
                  </a:lnTo>
                  <a:lnTo>
                    <a:pt x="4788" y="592795"/>
                  </a:lnTo>
                  <a:lnTo>
                    <a:pt x="6703" y="592795"/>
                  </a:lnTo>
                  <a:lnTo>
                    <a:pt x="6703" y="595087"/>
                  </a:lnTo>
                  <a:lnTo>
                    <a:pt x="9001" y="597379"/>
                  </a:lnTo>
                  <a:lnTo>
                    <a:pt x="6703" y="599288"/>
                  </a:lnTo>
                  <a:lnTo>
                    <a:pt x="4788" y="601771"/>
                  </a:lnTo>
                  <a:lnTo>
                    <a:pt x="2298" y="601771"/>
                  </a:lnTo>
                  <a:lnTo>
                    <a:pt x="0" y="599288"/>
                  </a:lnTo>
                  <a:lnTo>
                    <a:pt x="0" y="597379"/>
                  </a:lnTo>
                </a:path>
                <a:path w="9525" h="4244340">
                  <a:moveTo>
                    <a:pt x="0" y="558419"/>
                  </a:moveTo>
                  <a:lnTo>
                    <a:pt x="0" y="530536"/>
                  </a:lnTo>
                  <a:lnTo>
                    <a:pt x="0" y="528245"/>
                  </a:lnTo>
                  <a:lnTo>
                    <a:pt x="0" y="525762"/>
                  </a:lnTo>
                  <a:lnTo>
                    <a:pt x="2298" y="525762"/>
                  </a:lnTo>
                  <a:lnTo>
                    <a:pt x="4788" y="525762"/>
                  </a:lnTo>
                  <a:lnTo>
                    <a:pt x="6703" y="525762"/>
                  </a:lnTo>
                  <a:lnTo>
                    <a:pt x="6703" y="528245"/>
                  </a:lnTo>
                  <a:lnTo>
                    <a:pt x="9001" y="530536"/>
                  </a:lnTo>
                  <a:lnTo>
                    <a:pt x="9001" y="558419"/>
                  </a:lnTo>
                  <a:lnTo>
                    <a:pt x="6703" y="560711"/>
                  </a:lnTo>
                  <a:lnTo>
                    <a:pt x="6703" y="562621"/>
                  </a:lnTo>
                  <a:lnTo>
                    <a:pt x="4788" y="562621"/>
                  </a:lnTo>
                  <a:lnTo>
                    <a:pt x="2298" y="562621"/>
                  </a:lnTo>
                  <a:lnTo>
                    <a:pt x="0" y="562621"/>
                  </a:lnTo>
                  <a:lnTo>
                    <a:pt x="0" y="560711"/>
                  </a:lnTo>
                  <a:lnTo>
                    <a:pt x="0" y="558419"/>
                  </a:lnTo>
                </a:path>
                <a:path w="9525" h="4244340">
                  <a:moveTo>
                    <a:pt x="0" y="491386"/>
                  </a:moveTo>
                  <a:lnTo>
                    <a:pt x="0" y="489094"/>
                  </a:lnTo>
                  <a:lnTo>
                    <a:pt x="2298" y="486802"/>
                  </a:lnTo>
                  <a:lnTo>
                    <a:pt x="4788" y="486802"/>
                  </a:lnTo>
                  <a:lnTo>
                    <a:pt x="6703" y="489094"/>
                  </a:lnTo>
                  <a:lnTo>
                    <a:pt x="9001" y="491386"/>
                  </a:lnTo>
                  <a:lnTo>
                    <a:pt x="6703" y="493869"/>
                  </a:lnTo>
                  <a:lnTo>
                    <a:pt x="6703" y="496160"/>
                  </a:lnTo>
                  <a:lnTo>
                    <a:pt x="4788" y="496160"/>
                  </a:lnTo>
                  <a:lnTo>
                    <a:pt x="2298" y="496160"/>
                  </a:lnTo>
                  <a:lnTo>
                    <a:pt x="0" y="496160"/>
                  </a:lnTo>
                  <a:lnTo>
                    <a:pt x="0" y="493869"/>
                  </a:lnTo>
                  <a:lnTo>
                    <a:pt x="0" y="491386"/>
                  </a:lnTo>
                </a:path>
                <a:path w="9525" h="4244340">
                  <a:moveTo>
                    <a:pt x="0" y="452426"/>
                  </a:moveTo>
                  <a:lnTo>
                    <a:pt x="0" y="424925"/>
                  </a:lnTo>
                  <a:lnTo>
                    <a:pt x="0" y="422634"/>
                  </a:lnTo>
                  <a:lnTo>
                    <a:pt x="0" y="420342"/>
                  </a:lnTo>
                  <a:lnTo>
                    <a:pt x="2298" y="420342"/>
                  </a:lnTo>
                  <a:lnTo>
                    <a:pt x="4788" y="420342"/>
                  </a:lnTo>
                  <a:lnTo>
                    <a:pt x="6703" y="420342"/>
                  </a:lnTo>
                  <a:lnTo>
                    <a:pt x="6703" y="422634"/>
                  </a:lnTo>
                  <a:lnTo>
                    <a:pt x="9001" y="424925"/>
                  </a:lnTo>
                  <a:lnTo>
                    <a:pt x="9001" y="452426"/>
                  </a:lnTo>
                  <a:lnTo>
                    <a:pt x="6703" y="454718"/>
                  </a:lnTo>
                  <a:lnTo>
                    <a:pt x="6703" y="457010"/>
                  </a:lnTo>
                  <a:lnTo>
                    <a:pt x="4788" y="457010"/>
                  </a:lnTo>
                  <a:lnTo>
                    <a:pt x="4788" y="459493"/>
                  </a:lnTo>
                  <a:lnTo>
                    <a:pt x="2298" y="457010"/>
                  </a:lnTo>
                  <a:lnTo>
                    <a:pt x="0" y="457010"/>
                  </a:lnTo>
                  <a:lnTo>
                    <a:pt x="0" y="454718"/>
                  </a:lnTo>
                  <a:lnTo>
                    <a:pt x="0" y="452426"/>
                  </a:lnTo>
                </a:path>
                <a:path w="9525" h="4244340">
                  <a:moveTo>
                    <a:pt x="0" y="385966"/>
                  </a:moveTo>
                  <a:lnTo>
                    <a:pt x="0" y="383483"/>
                  </a:lnTo>
                  <a:lnTo>
                    <a:pt x="2298" y="381192"/>
                  </a:lnTo>
                  <a:lnTo>
                    <a:pt x="4788" y="381192"/>
                  </a:lnTo>
                  <a:lnTo>
                    <a:pt x="6703" y="383483"/>
                  </a:lnTo>
                  <a:lnTo>
                    <a:pt x="9001" y="385966"/>
                  </a:lnTo>
                  <a:lnTo>
                    <a:pt x="6703" y="388258"/>
                  </a:lnTo>
                  <a:lnTo>
                    <a:pt x="6703" y="390549"/>
                  </a:lnTo>
                  <a:lnTo>
                    <a:pt x="4788" y="390549"/>
                  </a:lnTo>
                  <a:lnTo>
                    <a:pt x="2298" y="390549"/>
                  </a:lnTo>
                  <a:lnTo>
                    <a:pt x="0" y="390549"/>
                  </a:lnTo>
                  <a:lnTo>
                    <a:pt x="0" y="388258"/>
                  </a:lnTo>
                  <a:lnTo>
                    <a:pt x="0" y="385966"/>
                  </a:lnTo>
                </a:path>
                <a:path w="9525" h="4244340">
                  <a:moveTo>
                    <a:pt x="0" y="349107"/>
                  </a:moveTo>
                  <a:lnTo>
                    <a:pt x="0" y="318933"/>
                  </a:lnTo>
                  <a:lnTo>
                    <a:pt x="0" y="317023"/>
                  </a:lnTo>
                  <a:lnTo>
                    <a:pt x="2298" y="314731"/>
                  </a:lnTo>
                  <a:lnTo>
                    <a:pt x="4788" y="314731"/>
                  </a:lnTo>
                  <a:lnTo>
                    <a:pt x="6703" y="317023"/>
                  </a:lnTo>
                  <a:lnTo>
                    <a:pt x="9001" y="318933"/>
                  </a:lnTo>
                  <a:lnTo>
                    <a:pt x="9001" y="349107"/>
                  </a:lnTo>
                  <a:lnTo>
                    <a:pt x="6703" y="349107"/>
                  </a:lnTo>
                  <a:lnTo>
                    <a:pt x="6703" y="351590"/>
                  </a:lnTo>
                  <a:lnTo>
                    <a:pt x="4788" y="351590"/>
                  </a:lnTo>
                  <a:lnTo>
                    <a:pt x="4788" y="353882"/>
                  </a:lnTo>
                  <a:lnTo>
                    <a:pt x="2298" y="351590"/>
                  </a:lnTo>
                  <a:lnTo>
                    <a:pt x="0" y="351590"/>
                  </a:lnTo>
                  <a:lnTo>
                    <a:pt x="0" y="349107"/>
                  </a:lnTo>
                </a:path>
                <a:path w="9525" h="4244340">
                  <a:moveTo>
                    <a:pt x="0" y="280355"/>
                  </a:moveTo>
                  <a:lnTo>
                    <a:pt x="0" y="278063"/>
                  </a:lnTo>
                  <a:lnTo>
                    <a:pt x="2298" y="275581"/>
                  </a:lnTo>
                  <a:lnTo>
                    <a:pt x="4788" y="275581"/>
                  </a:lnTo>
                  <a:lnTo>
                    <a:pt x="6703" y="278063"/>
                  </a:lnTo>
                  <a:lnTo>
                    <a:pt x="6703" y="280355"/>
                  </a:lnTo>
                  <a:lnTo>
                    <a:pt x="9001" y="280355"/>
                  </a:lnTo>
                  <a:lnTo>
                    <a:pt x="6703" y="282265"/>
                  </a:lnTo>
                  <a:lnTo>
                    <a:pt x="6703" y="284557"/>
                  </a:lnTo>
                  <a:lnTo>
                    <a:pt x="4788" y="284557"/>
                  </a:lnTo>
                  <a:lnTo>
                    <a:pt x="4788" y="287039"/>
                  </a:lnTo>
                  <a:lnTo>
                    <a:pt x="2298" y="284557"/>
                  </a:lnTo>
                  <a:lnTo>
                    <a:pt x="0" y="284557"/>
                  </a:lnTo>
                  <a:lnTo>
                    <a:pt x="0" y="282265"/>
                  </a:lnTo>
                  <a:lnTo>
                    <a:pt x="0" y="280355"/>
                  </a:lnTo>
                </a:path>
                <a:path w="9525" h="4244340">
                  <a:moveTo>
                    <a:pt x="0" y="243114"/>
                  </a:moveTo>
                  <a:lnTo>
                    <a:pt x="0" y="213513"/>
                  </a:lnTo>
                  <a:lnTo>
                    <a:pt x="0" y="211030"/>
                  </a:lnTo>
                  <a:lnTo>
                    <a:pt x="2298" y="208738"/>
                  </a:lnTo>
                  <a:lnTo>
                    <a:pt x="4788" y="208738"/>
                  </a:lnTo>
                  <a:lnTo>
                    <a:pt x="6703" y="211030"/>
                  </a:lnTo>
                  <a:lnTo>
                    <a:pt x="9001" y="213513"/>
                  </a:lnTo>
                  <a:lnTo>
                    <a:pt x="9001" y="243114"/>
                  </a:lnTo>
                  <a:lnTo>
                    <a:pt x="6703" y="245406"/>
                  </a:lnTo>
                  <a:lnTo>
                    <a:pt x="4788" y="247889"/>
                  </a:lnTo>
                  <a:lnTo>
                    <a:pt x="2298" y="247889"/>
                  </a:lnTo>
                  <a:lnTo>
                    <a:pt x="0" y="245406"/>
                  </a:lnTo>
                  <a:lnTo>
                    <a:pt x="0" y="243114"/>
                  </a:lnTo>
                </a:path>
                <a:path w="9525" h="4244340">
                  <a:moveTo>
                    <a:pt x="0" y="176654"/>
                  </a:moveTo>
                  <a:lnTo>
                    <a:pt x="0" y="174362"/>
                  </a:lnTo>
                  <a:lnTo>
                    <a:pt x="0" y="172071"/>
                  </a:lnTo>
                  <a:lnTo>
                    <a:pt x="2298" y="172071"/>
                  </a:lnTo>
                  <a:lnTo>
                    <a:pt x="4788" y="172071"/>
                  </a:lnTo>
                  <a:lnTo>
                    <a:pt x="6703" y="172071"/>
                  </a:lnTo>
                  <a:lnTo>
                    <a:pt x="6703" y="174362"/>
                  </a:lnTo>
                  <a:lnTo>
                    <a:pt x="9001" y="176654"/>
                  </a:lnTo>
                  <a:lnTo>
                    <a:pt x="6703" y="176654"/>
                  </a:lnTo>
                  <a:lnTo>
                    <a:pt x="6703" y="179137"/>
                  </a:lnTo>
                  <a:lnTo>
                    <a:pt x="4788" y="179137"/>
                  </a:lnTo>
                  <a:lnTo>
                    <a:pt x="4788" y="181429"/>
                  </a:lnTo>
                  <a:lnTo>
                    <a:pt x="2298" y="179137"/>
                  </a:lnTo>
                  <a:lnTo>
                    <a:pt x="0" y="179137"/>
                  </a:lnTo>
                  <a:lnTo>
                    <a:pt x="0" y="176654"/>
                  </a:lnTo>
                </a:path>
                <a:path w="9525" h="4244340">
                  <a:moveTo>
                    <a:pt x="0" y="137504"/>
                  </a:moveTo>
                  <a:lnTo>
                    <a:pt x="0" y="107902"/>
                  </a:lnTo>
                  <a:lnTo>
                    <a:pt x="0" y="105610"/>
                  </a:lnTo>
                  <a:lnTo>
                    <a:pt x="2298" y="103128"/>
                  </a:lnTo>
                  <a:lnTo>
                    <a:pt x="4788" y="103128"/>
                  </a:lnTo>
                  <a:lnTo>
                    <a:pt x="6703" y="105610"/>
                  </a:lnTo>
                  <a:lnTo>
                    <a:pt x="6703" y="107902"/>
                  </a:lnTo>
                  <a:lnTo>
                    <a:pt x="9001" y="107902"/>
                  </a:lnTo>
                  <a:lnTo>
                    <a:pt x="9001" y="137504"/>
                  </a:lnTo>
                  <a:lnTo>
                    <a:pt x="6703" y="139986"/>
                  </a:lnTo>
                  <a:lnTo>
                    <a:pt x="4788" y="142278"/>
                  </a:lnTo>
                  <a:lnTo>
                    <a:pt x="2298" y="142278"/>
                  </a:lnTo>
                  <a:lnTo>
                    <a:pt x="0" y="139986"/>
                  </a:lnTo>
                  <a:lnTo>
                    <a:pt x="0" y="137504"/>
                  </a:lnTo>
                </a:path>
                <a:path w="9525" h="4244340">
                  <a:moveTo>
                    <a:pt x="0" y="71234"/>
                  </a:moveTo>
                  <a:lnTo>
                    <a:pt x="0" y="68752"/>
                  </a:lnTo>
                  <a:lnTo>
                    <a:pt x="0" y="66460"/>
                  </a:lnTo>
                  <a:lnTo>
                    <a:pt x="2298" y="66460"/>
                  </a:lnTo>
                  <a:lnTo>
                    <a:pt x="4788" y="66460"/>
                  </a:lnTo>
                  <a:lnTo>
                    <a:pt x="6703" y="66460"/>
                  </a:lnTo>
                  <a:lnTo>
                    <a:pt x="6703" y="68752"/>
                  </a:lnTo>
                  <a:lnTo>
                    <a:pt x="9001" y="71234"/>
                  </a:lnTo>
                  <a:lnTo>
                    <a:pt x="6703" y="73526"/>
                  </a:lnTo>
                  <a:lnTo>
                    <a:pt x="4788" y="75436"/>
                  </a:lnTo>
                  <a:lnTo>
                    <a:pt x="2298" y="75436"/>
                  </a:lnTo>
                  <a:lnTo>
                    <a:pt x="0" y="73526"/>
                  </a:lnTo>
                  <a:lnTo>
                    <a:pt x="0" y="71234"/>
                  </a:lnTo>
                </a:path>
                <a:path w="9525" h="4244340">
                  <a:moveTo>
                    <a:pt x="0" y="32084"/>
                  </a:moveTo>
                  <a:lnTo>
                    <a:pt x="0" y="4201"/>
                  </a:lnTo>
                  <a:lnTo>
                    <a:pt x="0" y="1909"/>
                  </a:lnTo>
                  <a:lnTo>
                    <a:pt x="0" y="0"/>
                  </a:lnTo>
                  <a:lnTo>
                    <a:pt x="2298" y="0"/>
                  </a:lnTo>
                  <a:lnTo>
                    <a:pt x="4788" y="0"/>
                  </a:lnTo>
                  <a:lnTo>
                    <a:pt x="6703" y="0"/>
                  </a:lnTo>
                  <a:lnTo>
                    <a:pt x="6703" y="1909"/>
                  </a:lnTo>
                  <a:lnTo>
                    <a:pt x="9001" y="4201"/>
                  </a:lnTo>
                  <a:lnTo>
                    <a:pt x="9001" y="32084"/>
                  </a:lnTo>
                  <a:lnTo>
                    <a:pt x="6703" y="34376"/>
                  </a:lnTo>
                  <a:lnTo>
                    <a:pt x="6703" y="36667"/>
                  </a:lnTo>
                  <a:lnTo>
                    <a:pt x="4788" y="36667"/>
                  </a:lnTo>
                  <a:lnTo>
                    <a:pt x="2298" y="36667"/>
                  </a:lnTo>
                  <a:lnTo>
                    <a:pt x="0" y="36667"/>
                  </a:lnTo>
                  <a:lnTo>
                    <a:pt x="0" y="34376"/>
                  </a:lnTo>
                  <a:lnTo>
                    <a:pt x="0" y="32084"/>
                  </a:lnTo>
                </a:path>
              </a:pathLst>
            </a:custGeom>
            <a:ln w="3175">
              <a:solidFill>
                <a:srgbClr val="000000"/>
              </a:solidFill>
            </a:ln>
          </p:spPr>
          <p:txBody>
            <a:bodyPr wrap="square" lIns="0" tIns="0" rIns="0" bIns="0" rtlCol="0"/>
            <a:lstStyle/>
            <a:p/>
          </p:txBody>
        </p:sp>
        <p:sp>
          <p:nvSpPr>
            <p:cNvPr id="45" name="object 45" descr=""/>
            <p:cNvSpPr/>
            <p:nvPr/>
          </p:nvSpPr>
          <p:spPr>
            <a:xfrm>
              <a:off x="5514903" y="2182725"/>
              <a:ext cx="1814195" cy="475615"/>
            </a:xfrm>
            <a:custGeom>
              <a:avLst/>
              <a:gdLst/>
              <a:ahLst/>
              <a:cxnLst/>
              <a:rect l="l" t="t" r="r" b="b"/>
              <a:pathLst>
                <a:path w="1814195" h="475614">
                  <a:moveTo>
                    <a:pt x="1813655" y="0"/>
                  </a:moveTo>
                  <a:lnTo>
                    <a:pt x="0" y="0"/>
                  </a:lnTo>
                  <a:lnTo>
                    <a:pt x="0" y="475420"/>
                  </a:lnTo>
                  <a:lnTo>
                    <a:pt x="1813655" y="475420"/>
                  </a:lnTo>
                  <a:lnTo>
                    <a:pt x="1813655" y="0"/>
                  </a:lnTo>
                  <a:close/>
                </a:path>
              </a:pathLst>
            </a:custGeom>
            <a:solidFill>
              <a:srgbClr val="CCFFCC"/>
            </a:solidFill>
          </p:spPr>
          <p:txBody>
            <a:bodyPr wrap="square" lIns="0" tIns="0" rIns="0" bIns="0" rtlCol="0"/>
            <a:lstStyle/>
            <a:p/>
          </p:txBody>
        </p:sp>
        <p:sp>
          <p:nvSpPr>
            <p:cNvPr id="46" name="object 46" descr=""/>
            <p:cNvSpPr/>
            <p:nvPr/>
          </p:nvSpPr>
          <p:spPr>
            <a:xfrm>
              <a:off x="4021931" y="2182725"/>
              <a:ext cx="3307079" cy="655320"/>
            </a:xfrm>
            <a:custGeom>
              <a:avLst/>
              <a:gdLst/>
              <a:ahLst/>
              <a:cxnLst/>
              <a:rect l="l" t="t" r="r" b="b"/>
              <a:pathLst>
                <a:path w="3307079" h="655319">
                  <a:moveTo>
                    <a:pt x="1492971" y="475420"/>
                  </a:moveTo>
                  <a:lnTo>
                    <a:pt x="3306627" y="475420"/>
                  </a:lnTo>
                  <a:lnTo>
                    <a:pt x="3306627" y="0"/>
                  </a:lnTo>
                  <a:lnTo>
                    <a:pt x="1492971" y="0"/>
                  </a:lnTo>
                  <a:lnTo>
                    <a:pt x="1492971" y="475420"/>
                  </a:lnTo>
                  <a:close/>
                </a:path>
                <a:path w="3307079" h="655319">
                  <a:moveTo>
                    <a:pt x="41272" y="119246"/>
                  </a:moveTo>
                  <a:lnTo>
                    <a:pt x="121865" y="119246"/>
                  </a:lnTo>
                </a:path>
                <a:path w="3307079" h="655319">
                  <a:moveTo>
                    <a:pt x="583050" y="349184"/>
                  </a:moveTo>
                  <a:lnTo>
                    <a:pt x="847733" y="356250"/>
                  </a:lnTo>
                </a:path>
                <a:path w="3307079" h="655319">
                  <a:moveTo>
                    <a:pt x="0" y="298765"/>
                  </a:moveTo>
                  <a:lnTo>
                    <a:pt x="121865" y="298765"/>
                  </a:lnTo>
                </a:path>
                <a:path w="3307079" h="655319">
                  <a:moveTo>
                    <a:pt x="725925" y="356250"/>
                  </a:moveTo>
                  <a:lnTo>
                    <a:pt x="725925" y="654939"/>
                  </a:lnTo>
                </a:path>
                <a:path w="3307079" h="655319">
                  <a:moveTo>
                    <a:pt x="725925" y="654939"/>
                  </a:moveTo>
                  <a:lnTo>
                    <a:pt x="1251079" y="654939"/>
                  </a:lnTo>
                </a:path>
                <a:path w="3307079" h="655319">
                  <a:moveTo>
                    <a:pt x="1251079" y="238989"/>
                  </a:moveTo>
                  <a:lnTo>
                    <a:pt x="1251079" y="654939"/>
                  </a:lnTo>
                </a:path>
              </a:pathLst>
            </a:custGeom>
            <a:ln w="13738">
              <a:solidFill>
                <a:srgbClr val="000000"/>
              </a:solidFill>
            </a:ln>
          </p:spPr>
          <p:txBody>
            <a:bodyPr wrap="square" lIns="0" tIns="0" rIns="0" bIns="0" rtlCol="0"/>
            <a:lstStyle/>
            <a:p/>
          </p:txBody>
        </p:sp>
      </p:grpSp>
      <p:sp>
        <p:nvSpPr>
          <p:cNvPr id="47" name="object 47" descr=""/>
          <p:cNvSpPr txBox="1"/>
          <p:nvPr/>
        </p:nvSpPr>
        <p:spPr>
          <a:xfrm>
            <a:off x="2772825" y="2169032"/>
            <a:ext cx="1249680" cy="473075"/>
          </a:xfrm>
          <a:prstGeom prst="rect">
            <a:avLst/>
          </a:prstGeom>
          <a:solidFill>
            <a:srgbClr val="FFCC99"/>
          </a:solidFill>
          <a:ln w="13723">
            <a:solidFill>
              <a:srgbClr val="000000"/>
            </a:solidFill>
          </a:ln>
        </p:spPr>
        <p:txBody>
          <a:bodyPr wrap="square" lIns="0" tIns="113030" rIns="0" bIns="0" rtlCol="0" vert="horz">
            <a:spAutoFit/>
          </a:bodyPr>
          <a:lstStyle/>
          <a:p>
            <a:pPr marL="219075">
              <a:lnSpc>
                <a:spcPct val="100000"/>
              </a:lnSpc>
              <a:spcBef>
                <a:spcPts val="890"/>
              </a:spcBef>
            </a:pPr>
            <a:r>
              <a:rPr dirty="0" sz="1350" spc="-105" b="1">
                <a:latin typeface="宋体"/>
                <a:cs typeface="宋体"/>
              </a:rPr>
              <a:t>指令 </a:t>
            </a:r>
            <a:r>
              <a:rPr dirty="0" sz="1350" spc="-10" b="1">
                <a:latin typeface="Times New Roman"/>
                <a:cs typeface="Times New Roman"/>
              </a:rPr>
              <a:t>Cache</a:t>
            </a:r>
            <a:endParaRPr sz="1350">
              <a:latin typeface="Times New Roman"/>
              <a:cs typeface="Times New Roman"/>
            </a:endParaRPr>
          </a:p>
        </p:txBody>
      </p:sp>
      <p:sp>
        <p:nvSpPr>
          <p:cNvPr id="48" name="object 48" descr=""/>
          <p:cNvSpPr txBox="1"/>
          <p:nvPr/>
        </p:nvSpPr>
        <p:spPr>
          <a:xfrm>
            <a:off x="5986178" y="2288586"/>
            <a:ext cx="854075" cy="233679"/>
          </a:xfrm>
          <a:prstGeom prst="rect">
            <a:avLst/>
          </a:prstGeom>
        </p:spPr>
        <p:txBody>
          <a:bodyPr wrap="square" lIns="0" tIns="13970" rIns="0" bIns="0" rtlCol="0" vert="horz">
            <a:spAutoFit/>
          </a:bodyPr>
          <a:lstStyle/>
          <a:p>
            <a:pPr marL="12700">
              <a:lnSpc>
                <a:spcPct val="100000"/>
              </a:lnSpc>
              <a:spcBef>
                <a:spcPts val="110"/>
              </a:spcBef>
            </a:pPr>
            <a:r>
              <a:rPr dirty="0" sz="1350" spc="90" b="1">
                <a:latin typeface="宋体"/>
                <a:cs typeface="宋体"/>
              </a:rPr>
              <a:t>数据</a:t>
            </a:r>
            <a:r>
              <a:rPr dirty="0" sz="1350" spc="-10" b="1">
                <a:latin typeface="Times New Roman"/>
                <a:cs typeface="Times New Roman"/>
              </a:rPr>
              <a:t>Cache</a:t>
            </a:r>
            <a:endParaRPr sz="1350">
              <a:latin typeface="Times New Roman"/>
              <a:cs typeface="Times New Roman"/>
            </a:endParaRPr>
          </a:p>
        </p:txBody>
      </p:sp>
      <p:grpSp>
        <p:nvGrpSpPr>
          <p:cNvPr id="49" name="object 49" descr=""/>
          <p:cNvGrpSpPr/>
          <p:nvPr/>
        </p:nvGrpSpPr>
        <p:grpSpPr>
          <a:xfrm>
            <a:off x="3207468" y="1552382"/>
            <a:ext cx="7070725" cy="80645"/>
            <a:chOff x="3207468" y="1552382"/>
            <a:chExt cx="7070725" cy="80645"/>
          </a:xfrm>
        </p:grpSpPr>
        <p:sp>
          <p:nvSpPr>
            <p:cNvPr id="50" name="object 50" descr=""/>
            <p:cNvSpPr/>
            <p:nvPr/>
          </p:nvSpPr>
          <p:spPr>
            <a:xfrm>
              <a:off x="3208805" y="1553720"/>
              <a:ext cx="7068184" cy="78105"/>
            </a:xfrm>
            <a:custGeom>
              <a:avLst/>
              <a:gdLst/>
              <a:ahLst/>
              <a:cxnLst/>
              <a:rect l="l" t="t" r="r" b="b"/>
              <a:pathLst>
                <a:path w="7068184" h="78105">
                  <a:moveTo>
                    <a:pt x="6952420" y="0"/>
                  </a:moveTo>
                  <a:lnTo>
                    <a:pt x="6989383" y="39150"/>
                  </a:lnTo>
                  <a:lnTo>
                    <a:pt x="6952420" y="77728"/>
                  </a:lnTo>
                  <a:lnTo>
                    <a:pt x="7040890" y="48126"/>
                  </a:lnTo>
                  <a:lnTo>
                    <a:pt x="6993788" y="48126"/>
                  </a:lnTo>
                  <a:lnTo>
                    <a:pt x="6996087" y="45643"/>
                  </a:lnTo>
                  <a:lnTo>
                    <a:pt x="6998385" y="43352"/>
                  </a:lnTo>
                  <a:lnTo>
                    <a:pt x="6998385" y="34376"/>
                  </a:lnTo>
                  <a:lnTo>
                    <a:pt x="6993788" y="29792"/>
                  </a:lnTo>
                  <a:lnTo>
                    <a:pt x="7040157" y="29792"/>
                  </a:lnTo>
                  <a:lnTo>
                    <a:pt x="6952420" y="0"/>
                  </a:lnTo>
                  <a:close/>
                </a:path>
                <a:path w="7068184" h="78105">
                  <a:moveTo>
                    <a:pt x="6980548" y="29792"/>
                  </a:moveTo>
                  <a:lnTo>
                    <a:pt x="4730" y="29792"/>
                  </a:lnTo>
                  <a:lnTo>
                    <a:pt x="0" y="34375"/>
                  </a:lnTo>
                  <a:lnTo>
                    <a:pt x="0" y="43351"/>
                  </a:lnTo>
                  <a:lnTo>
                    <a:pt x="2374" y="45643"/>
                  </a:lnTo>
                  <a:lnTo>
                    <a:pt x="4730" y="48126"/>
                  </a:lnTo>
                  <a:lnTo>
                    <a:pt x="6980783" y="48126"/>
                  </a:lnTo>
                  <a:lnTo>
                    <a:pt x="6989383" y="39150"/>
                  </a:lnTo>
                  <a:lnTo>
                    <a:pt x="6980548" y="29792"/>
                  </a:lnTo>
                  <a:close/>
                </a:path>
                <a:path w="7068184" h="78105">
                  <a:moveTo>
                    <a:pt x="7040157" y="29792"/>
                  </a:moveTo>
                  <a:lnTo>
                    <a:pt x="6993788" y="29792"/>
                  </a:lnTo>
                  <a:lnTo>
                    <a:pt x="6998385" y="34376"/>
                  </a:lnTo>
                  <a:lnTo>
                    <a:pt x="6998385" y="43352"/>
                  </a:lnTo>
                  <a:lnTo>
                    <a:pt x="6996087" y="45643"/>
                  </a:lnTo>
                  <a:lnTo>
                    <a:pt x="6993788" y="48126"/>
                  </a:lnTo>
                  <a:lnTo>
                    <a:pt x="7040890" y="48126"/>
                  </a:lnTo>
                  <a:lnTo>
                    <a:pt x="7067716" y="39150"/>
                  </a:lnTo>
                  <a:lnTo>
                    <a:pt x="7040157" y="29792"/>
                  </a:lnTo>
                  <a:close/>
                </a:path>
              </a:pathLst>
            </a:custGeom>
            <a:solidFill>
              <a:srgbClr val="000000"/>
            </a:solidFill>
          </p:spPr>
          <p:txBody>
            <a:bodyPr wrap="square" lIns="0" tIns="0" rIns="0" bIns="0" rtlCol="0"/>
            <a:lstStyle/>
            <a:p/>
          </p:txBody>
        </p:sp>
        <p:sp>
          <p:nvSpPr>
            <p:cNvPr id="51" name="object 51" descr=""/>
            <p:cNvSpPr/>
            <p:nvPr/>
          </p:nvSpPr>
          <p:spPr>
            <a:xfrm>
              <a:off x="3208805" y="1553720"/>
              <a:ext cx="7068184" cy="78105"/>
            </a:xfrm>
            <a:custGeom>
              <a:avLst/>
              <a:gdLst/>
              <a:ahLst/>
              <a:cxnLst/>
              <a:rect l="l" t="t" r="r" b="b"/>
              <a:pathLst>
                <a:path w="7068184" h="78105">
                  <a:moveTo>
                    <a:pt x="9480" y="29792"/>
                  </a:moveTo>
                  <a:lnTo>
                    <a:pt x="6989384" y="29792"/>
                  </a:lnTo>
                  <a:lnTo>
                    <a:pt x="6993789" y="29792"/>
                  </a:lnTo>
                  <a:lnTo>
                    <a:pt x="6996087" y="32084"/>
                  </a:lnTo>
                  <a:lnTo>
                    <a:pt x="6998385" y="34376"/>
                  </a:lnTo>
                  <a:lnTo>
                    <a:pt x="6998385" y="39150"/>
                  </a:lnTo>
                  <a:lnTo>
                    <a:pt x="6998385" y="43352"/>
                  </a:lnTo>
                  <a:lnTo>
                    <a:pt x="6996087" y="45643"/>
                  </a:lnTo>
                  <a:lnTo>
                    <a:pt x="6993789" y="48126"/>
                  </a:lnTo>
                  <a:lnTo>
                    <a:pt x="6989384" y="48126"/>
                  </a:lnTo>
                  <a:lnTo>
                    <a:pt x="9480" y="48126"/>
                  </a:lnTo>
                  <a:lnTo>
                    <a:pt x="4730" y="48126"/>
                  </a:lnTo>
                  <a:lnTo>
                    <a:pt x="2374" y="45643"/>
                  </a:lnTo>
                  <a:lnTo>
                    <a:pt x="0" y="43351"/>
                  </a:lnTo>
                  <a:lnTo>
                    <a:pt x="0" y="39150"/>
                  </a:lnTo>
                  <a:lnTo>
                    <a:pt x="0" y="34375"/>
                  </a:lnTo>
                  <a:lnTo>
                    <a:pt x="2374" y="32084"/>
                  </a:lnTo>
                  <a:lnTo>
                    <a:pt x="4730" y="29792"/>
                  </a:lnTo>
                  <a:lnTo>
                    <a:pt x="9480" y="29792"/>
                  </a:lnTo>
                  <a:close/>
                </a:path>
                <a:path w="7068184" h="78105">
                  <a:moveTo>
                    <a:pt x="6989384" y="39150"/>
                  </a:moveTo>
                  <a:lnTo>
                    <a:pt x="6952420" y="0"/>
                  </a:lnTo>
                  <a:lnTo>
                    <a:pt x="7067716" y="39150"/>
                  </a:lnTo>
                  <a:lnTo>
                    <a:pt x="6952420" y="77728"/>
                  </a:lnTo>
                  <a:lnTo>
                    <a:pt x="6989384" y="39150"/>
                  </a:lnTo>
                  <a:close/>
                </a:path>
              </a:pathLst>
            </a:custGeom>
            <a:ln w="3175">
              <a:solidFill>
                <a:srgbClr val="000000"/>
              </a:solidFill>
            </a:ln>
          </p:spPr>
          <p:txBody>
            <a:bodyPr wrap="square" lIns="0" tIns="0" rIns="0" bIns="0" rtlCol="0"/>
            <a:lstStyle/>
            <a:p/>
          </p:txBody>
        </p:sp>
      </p:grpSp>
      <p:grpSp>
        <p:nvGrpSpPr>
          <p:cNvPr id="52" name="object 52" descr=""/>
          <p:cNvGrpSpPr/>
          <p:nvPr/>
        </p:nvGrpSpPr>
        <p:grpSpPr>
          <a:xfrm>
            <a:off x="4590910" y="1798112"/>
            <a:ext cx="5127625" cy="4247515"/>
            <a:chOff x="4590910" y="1798112"/>
            <a:chExt cx="5127625" cy="4247515"/>
          </a:xfrm>
        </p:grpSpPr>
        <p:sp>
          <p:nvSpPr>
            <p:cNvPr id="53" name="object 53" descr=""/>
            <p:cNvSpPr/>
            <p:nvPr/>
          </p:nvSpPr>
          <p:spPr>
            <a:xfrm>
              <a:off x="5434271" y="2421715"/>
              <a:ext cx="2016760" cy="356235"/>
            </a:xfrm>
            <a:custGeom>
              <a:avLst/>
              <a:gdLst/>
              <a:ahLst/>
              <a:cxnLst/>
              <a:rect l="l" t="t" r="r" b="b"/>
              <a:pathLst>
                <a:path w="2016759" h="356235">
                  <a:moveTo>
                    <a:pt x="0" y="0"/>
                  </a:moveTo>
                  <a:lnTo>
                    <a:pt x="0" y="356173"/>
                  </a:lnTo>
                </a:path>
                <a:path w="2016759" h="356235">
                  <a:moveTo>
                    <a:pt x="0" y="356173"/>
                  </a:moveTo>
                  <a:lnTo>
                    <a:pt x="2016726" y="356173"/>
                  </a:lnTo>
                </a:path>
                <a:path w="2016759" h="356235">
                  <a:moveTo>
                    <a:pt x="2016726" y="0"/>
                  </a:moveTo>
                  <a:lnTo>
                    <a:pt x="2016726" y="356173"/>
                  </a:lnTo>
                </a:path>
              </a:pathLst>
            </a:custGeom>
            <a:ln w="13738">
              <a:solidFill>
                <a:srgbClr val="000000"/>
              </a:solidFill>
            </a:ln>
          </p:spPr>
          <p:txBody>
            <a:bodyPr wrap="square" lIns="0" tIns="0" rIns="0" bIns="0" rtlCol="0"/>
            <a:lstStyle/>
            <a:p/>
          </p:txBody>
        </p:sp>
        <p:sp>
          <p:nvSpPr>
            <p:cNvPr id="54" name="object 54" descr=""/>
            <p:cNvSpPr/>
            <p:nvPr/>
          </p:nvSpPr>
          <p:spPr>
            <a:xfrm>
              <a:off x="8255582" y="1799699"/>
              <a:ext cx="9525" cy="4244340"/>
            </a:xfrm>
            <a:custGeom>
              <a:avLst/>
              <a:gdLst/>
              <a:ahLst/>
              <a:cxnLst/>
              <a:rect l="l" t="t" r="r" b="b"/>
              <a:pathLst>
                <a:path w="9525" h="4244340">
                  <a:moveTo>
                    <a:pt x="4788" y="4211872"/>
                  </a:moveTo>
                  <a:lnTo>
                    <a:pt x="2298" y="4211872"/>
                  </a:lnTo>
                  <a:lnTo>
                    <a:pt x="0" y="4214227"/>
                  </a:lnTo>
                  <a:lnTo>
                    <a:pt x="0" y="4243912"/>
                  </a:lnTo>
                  <a:lnTo>
                    <a:pt x="9001" y="4243912"/>
                  </a:lnTo>
                  <a:lnTo>
                    <a:pt x="9001" y="4216583"/>
                  </a:lnTo>
                  <a:lnTo>
                    <a:pt x="7086" y="4214227"/>
                  </a:lnTo>
                  <a:lnTo>
                    <a:pt x="4788" y="4211872"/>
                  </a:lnTo>
                  <a:close/>
                </a:path>
                <a:path w="9525" h="4244340">
                  <a:moveTo>
                    <a:pt x="4788" y="4182188"/>
                  </a:moveTo>
                  <a:lnTo>
                    <a:pt x="2298" y="4182188"/>
                  </a:lnTo>
                  <a:lnTo>
                    <a:pt x="4788" y="4184543"/>
                  </a:lnTo>
                  <a:lnTo>
                    <a:pt x="4788" y="4182188"/>
                  </a:lnTo>
                  <a:close/>
                </a:path>
                <a:path w="9525" h="4244340">
                  <a:moveTo>
                    <a:pt x="4788" y="4172763"/>
                  </a:moveTo>
                  <a:lnTo>
                    <a:pt x="2298" y="4172763"/>
                  </a:lnTo>
                  <a:lnTo>
                    <a:pt x="0" y="4175120"/>
                  </a:lnTo>
                  <a:lnTo>
                    <a:pt x="0" y="4182188"/>
                  </a:lnTo>
                  <a:lnTo>
                    <a:pt x="7086" y="4182188"/>
                  </a:lnTo>
                  <a:lnTo>
                    <a:pt x="7086" y="4179831"/>
                  </a:lnTo>
                  <a:lnTo>
                    <a:pt x="9001" y="4177475"/>
                  </a:lnTo>
                  <a:lnTo>
                    <a:pt x="7086" y="4177475"/>
                  </a:lnTo>
                  <a:lnTo>
                    <a:pt x="7086" y="4175120"/>
                  </a:lnTo>
                  <a:lnTo>
                    <a:pt x="4788" y="4172763"/>
                  </a:lnTo>
                  <a:close/>
                </a:path>
                <a:path w="9525" h="4244340">
                  <a:moveTo>
                    <a:pt x="4788" y="4106328"/>
                  </a:moveTo>
                  <a:lnTo>
                    <a:pt x="2298" y="4106328"/>
                  </a:lnTo>
                  <a:lnTo>
                    <a:pt x="0" y="4108683"/>
                  </a:lnTo>
                  <a:lnTo>
                    <a:pt x="0" y="4143080"/>
                  </a:lnTo>
                  <a:lnTo>
                    <a:pt x="2298" y="4145436"/>
                  </a:lnTo>
                  <a:lnTo>
                    <a:pt x="4788" y="4145436"/>
                  </a:lnTo>
                  <a:lnTo>
                    <a:pt x="7086" y="4143080"/>
                  </a:lnTo>
                  <a:lnTo>
                    <a:pt x="9001" y="4140723"/>
                  </a:lnTo>
                  <a:lnTo>
                    <a:pt x="9001" y="4111039"/>
                  </a:lnTo>
                  <a:lnTo>
                    <a:pt x="7086" y="4108683"/>
                  </a:lnTo>
                  <a:lnTo>
                    <a:pt x="4788" y="4106328"/>
                  </a:lnTo>
                  <a:close/>
                </a:path>
                <a:path w="9525" h="4244340">
                  <a:moveTo>
                    <a:pt x="4788" y="4076644"/>
                  </a:moveTo>
                  <a:lnTo>
                    <a:pt x="2298" y="4076644"/>
                  </a:lnTo>
                  <a:lnTo>
                    <a:pt x="4788" y="4078527"/>
                  </a:lnTo>
                  <a:lnTo>
                    <a:pt x="4788" y="4076644"/>
                  </a:lnTo>
                  <a:close/>
                </a:path>
                <a:path w="9525" h="4244340">
                  <a:moveTo>
                    <a:pt x="7086" y="4069576"/>
                  </a:moveTo>
                  <a:lnTo>
                    <a:pt x="0" y="4069576"/>
                  </a:lnTo>
                  <a:lnTo>
                    <a:pt x="0" y="4076644"/>
                  </a:lnTo>
                  <a:lnTo>
                    <a:pt x="7086" y="4076644"/>
                  </a:lnTo>
                  <a:lnTo>
                    <a:pt x="7086" y="4074287"/>
                  </a:lnTo>
                  <a:lnTo>
                    <a:pt x="9001" y="4074287"/>
                  </a:lnTo>
                  <a:lnTo>
                    <a:pt x="7086" y="4071931"/>
                  </a:lnTo>
                  <a:lnTo>
                    <a:pt x="7086" y="4069576"/>
                  </a:lnTo>
                  <a:close/>
                </a:path>
                <a:path w="9525" h="4244340">
                  <a:moveTo>
                    <a:pt x="4788" y="4000778"/>
                  </a:moveTo>
                  <a:lnTo>
                    <a:pt x="2298" y="4000778"/>
                  </a:lnTo>
                  <a:lnTo>
                    <a:pt x="0" y="4003146"/>
                  </a:lnTo>
                  <a:lnTo>
                    <a:pt x="0" y="4037541"/>
                  </a:lnTo>
                  <a:lnTo>
                    <a:pt x="2298" y="4039890"/>
                  </a:lnTo>
                  <a:lnTo>
                    <a:pt x="4788" y="4039890"/>
                  </a:lnTo>
                  <a:lnTo>
                    <a:pt x="7086" y="4037541"/>
                  </a:lnTo>
                  <a:lnTo>
                    <a:pt x="9001" y="4035173"/>
                  </a:lnTo>
                  <a:lnTo>
                    <a:pt x="9001" y="4005018"/>
                  </a:lnTo>
                  <a:lnTo>
                    <a:pt x="7086" y="4005018"/>
                  </a:lnTo>
                  <a:lnTo>
                    <a:pt x="7086" y="4003146"/>
                  </a:lnTo>
                  <a:lnTo>
                    <a:pt x="4788" y="4000778"/>
                  </a:lnTo>
                  <a:close/>
                </a:path>
                <a:path w="9525" h="4244340">
                  <a:moveTo>
                    <a:pt x="7086" y="3964034"/>
                  </a:moveTo>
                  <a:lnTo>
                    <a:pt x="0" y="3964034"/>
                  </a:lnTo>
                  <a:lnTo>
                    <a:pt x="0" y="3970623"/>
                  </a:lnTo>
                  <a:lnTo>
                    <a:pt x="2298" y="3972991"/>
                  </a:lnTo>
                  <a:lnTo>
                    <a:pt x="4788" y="3972991"/>
                  </a:lnTo>
                  <a:lnTo>
                    <a:pt x="7086" y="3970623"/>
                  </a:lnTo>
                  <a:lnTo>
                    <a:pt x="9001" y="3968274"/>
                  </a:lnTo>
                  <a:lnTo>
                    <a:pt x="7086" y="3966383"/>
                  </a:lnTo>
                  <a:lnTo>
                    <a:pt x="7086" y="3964034"/>
                  </a:lnTo>
                  <a:close/>
                </a:path>
                <a:path w="9525" h="4244340">
                  <a:moveTo>
                    <a:pt x="7086" y="3897115"/>
                  </a:moveTo>
                  <a:lnTo>
                    <a:pt x="0" y="3897115"/>
                  </a:lnTo>
                  <a:lnTo>
                    <a:pt x="0" y="3933878"/>
                  </a:lnTo>
                  <a:lnTo>
                    <a:pt x="7086" y="3933878"/>
                  </a:lnTo>
                  <a:lnTo>
                    <a:pt x="7086" y="3931529"/>
                  </a:lnTo>
                  <a:lnTo>
                    <a:pt x="9001" y="3929161"/>
                  </a:lnTo>
                  <a:lnTo>
                    <a:pt x="9001" y="3901832"/>
                  </a:lnTo>
                  <a:lnTo>
                    <a:pt x="7086" y="3899483"/>
                  </a:lnTo>
                  <a:lnTo>
                    <a:pt x="7086" y="3897115"/>
                  </a:lnTo>
                  <a:close/>
                </a:path>
                <a:path w="9525" h="4244340">
                  <a:moveTo>
                    <a:pt x="7086" y="3858022"/>
                  </a:moveTo>
                  <a:lnTo>
                    <a:pt x="0" y="3858022"/>
                  </a:lnTo>
                  <a:lnTo>
                    <a:pt x="0" y="3865088"/>
                  </a:lnTo>
                  <a:lnTo>
                    <a:pt x="2298" y="3867437"/>
                  </a:lnTo>
                  <a:lnTo>
                    <a:pt x="4788" y="3867437"/>
                  </a:lnTo>
                  <a:lnTo>
                    <a:pt x="7086" y="3865088"/>
                  </a:lnTo>
                  <a:lnTo>
                    <a:pt x="9001" y="3862720"/>
                  </a:lnTo>
                  <a:lnTo>
                    <a:pt x="7086" y="3860371"/>
                  </a:lnTo>
                  <a:lnTo>
                    <a:pt x="7086" y="3858022"/>
                  </a:lnTo>
                  <a:close/>
                </a:path>
                <a:path w="9525" h="4244340">
                  <a:moveTo>
                    <a:pt x="7086" y="3791581"/>
                  </a:moveTo>
                  <a:lnTo>
                    <a:pt x="0" y="3791581"/>
                  </a:lnTo>
                  <a:lnTo>
                    <a:pt x="0" y="3828325"/>
                  </a:lnTo>
                  <a:lnTo>
                    <a:pt x="7086" y="3828325"/>
                  </a:lnTo>
                  <a:lnTo>
                    <a:pt x="7086" y="3825976"/>
                  </a:lnTo>
                  <a:lnTo>
                    <a:pt x="9001" y="3823627"/>
                  </a:lnTo>
                  <a:lnTo>
                    <a:pt x="9001" y="3796298"/>
                  </a:lnTo>
                  <a:lnTo>
                    <a:pt x="7086" y="3793930"/>
                  </a:lnTo>
                  <a:lnTo>
                    <a:pt x="7086" y="3791581"/>
                  </a:lnTo>
                  <a:close/>
                </a:path>
                <a:path w="9525" h="4244340">
                  <a:moveTo>
                    <a:pt x="4788" y="3752469"/>
                  </a:moveTo>
                  <a:lnTo>
                    <a:pt x="2298" y="3752469"/>
                  </a:lnTo>
                  <a:lnTo>
                    <a:pt x="0" y="3754837"/>
                  </a:lnTo>
                  <a:lnTo>
                    <a:pt x="0" y="3761425"/>
                  </a:lnTo>
                  <a:lnTo>
                    <a:pt x="7086" y="3761425"/>
                  </a:lnTo>
                  <a:lnTo>
                    <a:pt x="7086" y="3759535"/>
                  </a:lnTo>
                  <a:lnTo>
                    <a:pt x="9001" y="3757186"/>
                  </a:lnTo>
                  <a:lnTo>
                    <a:pt x="7086" y="3754837"/>
                  </a:lnTo>
                  <a:lnTo>
                    <a:pt x="4788" y="3752469"/>
                  </a:lnTo>
                  <a:close/>
                </a:path>
                <a:path w="9525" h="4244340">
                  <a:moveTo>
                    <a:pt x="4788" y="3722791"/>
                  </a:moveTo>
                  <a:lnTo>
                    <a:pt x="2298" y="3722791"/>
                  </a:lnTo>
                  <a:lnTo>
                    <a:pt x="4788" y="3724681"/>
                  </a:lnTo>
                  <a:lnTo>
                    <a:pt x="4788" y="3722791"/>
                  </a:lnTo>
                  <a:close/>
                </a:path>
                <a:path w="9525" h="4244340">
                  <a:moveTo>
                    <a:pt x="7086" y="3685569"/>
                  </a:moveTo>
                  <a:lnTo>
                    <a:pt x="0" y="3685569"/>
                  </a:lnTo>
                  <a:lnTo>
                    <a:pt x="0" y="3722791"/>
                  </a:lnTo>
                  <a:lnTo>
                    <a:pt x="7086" y="3722791"/>
                  </a:lnTo>
                  <a:lnTo>
                    <a:pt x="7086" y="3720422"/>
                  </a:lnTo>
                  <a:lnTo>
                    <a:pt x="9001" y="3718073"/>
                  </a:lnTo>
                  <a:lnTo>
                    <a:pt x="9001" y="3690267"/>
                  </a:lnTo>
                  <a:lnTo>
                    <a:pt x="7086" y="3687918"/>
                  </a:lnTo>
                  <a:lnTo>
                    <a:pt x="7086" y="3685569"/>
                  </a:lnTo>
                  <a:close/>
                </a:path>
                <a:path w="9525" h="4244340">
                  <a:moveTo>
                    <a:pt x="4788" y="3646934"/>
                  </a:moveTo>
                  <a:lnTo>
                    <a:pt x="2298" y="3646934"/>
                  </a:lnTo>
                  <a:lnTo>
                    <a:pt x="0" y="3648806"/>
                  </a:lnTo>
                  <a:lnTo>
                    <a:pt x="0" y="3655872"/>
                  </a:lnTo>
                  <a:lnTo>
                    <a:pt x="7086" y="3655872"/>
                  </a:lnTo>
                  <a:lnTo>
                    <a:pt x="7086" y="3653523"/>
                  </a:lnTo>
                  <a:lnTo>
                    <a:pt x="9001" y="3651174"/>
                  </a:lnTo>
                  <a:lnTo>
                    <a:pt x="7086" y="3648806"/>
                  </a:lnTo>
                  <a:lnTo>
                    <a:pt x="4788" y="3646934"/>
                  </a:lnTo>
                  <a:close/>
                </a:path>
                <a:path w="9525" h="4244340">
                  <a:moveTo>
                    <a:pt x="4788" y="3616779"/>
                  </a:moveTo>
                  <a:lnTo>
                    <a:pt x="2298" y="3616779"/>
                  </a:lnTo>
                  <a:lnTo>
                    <a:pt x="4788" y="3619128"/>
                  </a:lnTo>
                  <a:lnTo>
                    <a:pt x="4788" y="3616779"/>
                  </a:lnTo>
                  <a:close/>
                </a:path>
                <a:path w="9525" h="4244340">
                  <a:moveTo>
                    <a:pt x="4788" y="3580015"/>
                  </a:moveTo>
                  <a:lnTo>
                    <a:pt x="2298" y="3580015"/>
                  </a:lnTo>
                  <a:lnTo>
                    <a:pt x="0" y="3582384"/>
                  </a:lnTo>
                  <a:lnTo>
                    <a:pt x="0" y="3616779"/>
                  </a:lnTo>
                  <a:lnTo>
                    <a:pt x="7086" y="3616779"/>
                  </a:lnTo>
                  <a:lnTo>
                    <a:pt x="7086" y="3614411"/>
                  </a:lnTo>
                  <a:lnTo>
                    <a:pt x="9001" y="3614411"/>
                  </a:lnTo>
                  <a:lnTo>
                    <a:pt x="9001" y="3584733"/>
                  </a:lnTo>
                  <a:lnTo>
                    <a:pt x="7086" y="3582384"/>
                  </a:lnTo>
                  <a:lnTo>
                    <a:pt x="4788" y="3580015"/>
                  </a:lnTo>
                  <a:close/>
                </a:path>
                <a:path w="9525" h="4244340">
                  <a:moveTo>
                    <a:pt x="4788" y="3550337"/>
                  </a:moveTo>
                  <a:lnTo>
                    <a:pt x="2298" y="3550337"/>
                  </a:lnTo>
                  <a:lnTo>
                    <a:pt x="4788" y="3552686"/>
                  </a:lnTo>
                  <a:lnTo>
                    <a:pt x="4788" y="3550337"/>
                  </a:lnTo>
                  <a:close/>
                </a:path>
                <a:path w="9525" h="4244340">
                  <a:moveTo>
                    <a:pt x="4788" y="3540903"/>
                  </a:moveTo>
                  <a:lnTo>
                    <a:pt x="2298" y="3540903"/>
                  </a:lnTo>
                  <a:lnTo>
                    <a:pt x="0" y="3543271"/>
                  </a:lnTo>
                  <a:lnTo>
                    <a:pt x="0" y="3550337"/>
                  </a:lnTo>
                  <a:lnTo>
                    <a:pt x="7086" y="3550337"/>
                  </a:lnTo>
                  <a:lnTo>
                    <a:pt x="7086" y="3547988"/>
                  </a:lnTo>
                  <a:lnTo>
                    <a:pt x="9001" y="3545620"/>
                  </a:lnTo>
                  <a:lnTo>
                    <a:pt x="7086" y="3545620"/>
                  </a:lnTo>
                  <a:lnTo>
                    <a:pt x="7086" y="3543271"/>
                  </a:lnTo>
                  <a:lnTo>
                    <a:pt x="4788" y="3540903"/>
                  </a:lnTo>
                  <a:close/>
                </a:path>
                <a:path w="9525" h="4244340">
                  <a:moveTo>
                    <a:pt x="4788" y="3474481"/>
                  </a:moveTo>
                  <a:lnTo>
                    <a:pt x="2298" y="3474481"/>
                  </a:lnTo>
                  <a:lnTo>
                    <a:pt x="0" y="3476830"/>
                  </a:lnTo>
                  <a:lnTo>
                    <a:pt x="0" y="3511225"/>
                  </a:lnTo>
                  <a:lnTo>
                    <a:pt x="2298" y="3513593"/>
                  </a:lnTo>
                  <a:lnTo>
                    <a:pt x="4788" y="3513593"/>
                  </a:lnTo>
                  <a:lnTo>
                    <a:pt x="7086" y="3511225"/>
                  </a:lnTo>
                  <a:lnTo>
                    <a:pt x="9001" y="3508876"/>
                  </a:lnTo>
                  <a:lnTo>
                    <a:pt x="9001" y="3479179"/>
                  </a:lnTo>
                  <a:lnTo>
                    <a:pt x="7086" y="3476830"/>
                  </a:lnTo>
                  <a:lnTo>
                    <a:pt x="4788" y="3474481"/>
                  </a:lnTo>
                  <a:close/>
                </a:path>
                <a:path w="9525" h="4244340">
                  <a:moveTo>
                    <a:pt x="4788" y="3444326"/>
                  </a:moveTo>
                  <a:lnTo>
                    <a:pt x="2298" y="3444326"/>
                  </a:lnTo>
                  <a:lnTo>
                    <a:pt x="4788" y="3446675"/>
                  </a:lnTo>
                  <a:lnTo>
                    <a:pt x="4788" y="3444326"/>
                  </a:lnTo>
                  <a:close/>
                </a:path>
                <a:path w="9525" h="4244340">
                  <a:moveTo>
                    <a:pt x="7086" y="3437718"/>
                  </a:moveTo>
                  <a:lnTo>
                    <a:pt x="0" y="3437718"/>
                  </a:lnTo>
                  <a:lnTo>
                    <a:pt x="0" y="3444326"/>
                  </a:lnTo>
                  <a:lnTo>
                    <a:pt x="7086" y="3444326"/>
                  </a:lnTo>
                  <a:lnTo>
                    <a:pt x="7086" y="3442435"/>
                  </a:lnTo>
                  <a:lnTo>
                    <a:pt x="9001" y="3442435"/>
                  </a:lnTo>
                  <a:lnTo>
                    <a:pt x="7086" y="3440086"/>
                  </a:lnTo>
                  <a:lnTo>
                    <a:pt x="7086" y="3437718"/>
                  </a:lnTo>
                  <a:close/>
                </a:path>
                <a:path w="9525" h="4244340">
                  <a:moveTo>
                    <a:pt x="4788" y="3368469"/>
                  </a:moveTo>
                  <a:lnTo>
                    <a:pt x="2298" y="3368469"/>
                  </a:lnTo>
                  <a:lnTo>
                    <a:pt x="0" y="3370818"/>
                  </a:lnTo>
                  <a:lnTo>
                    <a:pt x="0" y="3405213"/>
                  </a:lnTo>
                  <a:lnTo>
                    <a:pt x="2298" y="3407562"/>
                  </a:lnTo>
                  <a:lnTo>
                    <a:pt x="4788" y="3407562"/>
                  </a:lnTo>
                  <a:lnTo>
                    <a:pt x="7086" y="3405213"/>
                  </a:lnTo>
                  <a:lnTo>
                    <a:pt x="9001" y="3403323"/>
                  </a:lnTo>
                  <a:lnTo>
                    <a:pt x="9001" y="3373167"/>
                  </a:lnTo>
                  <a:lnTo>
                    <a:pt x="7086" y="3373167"/>
                  </a:lnTo>
                  <a:lnTo>
                    <a:pt x="7086" y="3370818"/>
                  </a:lnTo>
                  <a:lnTo>
                    <a:pt x="4788" y="3368469"/>
                  </a:lnTo>
                  <a:close/>
                </a:path>
                <a:path w="9525" h="4244340">
                  <a:moveTo>
                    <a:pt x="7086" y="3331706"/>
                  </a:moveTo>
                  <a:lnTo>
                    <a:pt x="0" y="3331706"/>
                  </a:lnTo>
                  <a:lnTo>
                    <a:pt x="0" y="3338772"/>
                  </a:lnTo>
                  <a:lnTo>
                    <a:pt x="2298" y="3341140"/>
                  </a:lnTo>
                  <a:lnTo>
                    <a:pt x="4788" y="3341140"/>
                  </a:lnTo>
                  <a:lnTo>
                    <a:pt x="7086" y="3338772"/>
                  </a:lnTo>
                  <a:lnTo>
                    <a:pt x="9001" y="3336423"/>
                  </a:lnTo>
                  <a:lnTo>
                    <a:pt x="7086" y="3334074"/>
                  </a:lnTo>
                  <a:lnTo>
                    <a:pt x="7086" y="3331706"/>
                  </a:lnTo>
                  <a:close/>
                </a:path>
                <a:path w="9525" h="4244340">
                  <a:moveTo>
                    <a:pt x="7086" y="3265265"/>
                  </a:moveTo>
                  <a:lnTo>
                    <a:pt x="0" y="3265265"/>
                  </a:lnTo>
                  <a:lnTo>
                    <a:pt x="0" y="3302028"/>
                  </a:lnTo>
                  <a:lnTo>
                    <a:pt x="7086" y="3302028"/>
                  </a:lnTo>
                  <a:lnTo>
                    <a:pt x="7086" y="3299660"/>
                  </a:lnTo>
                  <a:lnTo>
                    <a:pt x="9001" y="3297311"/>
                  </a:lnTo>
                  <a:lnTo>
                    <a:pt x="9001" y="3269982"/>
                  </a:lnTo>
                  <a:lnTo>
                    <a:pt x="7086" y="3267633"/>
                  </a:lnTo>
                  <a:lnTo>
                    <a:pt x="7086" y="3265265"/>
                  </a:lnTo>
                  <a:close/>
                </a:path>
                <a:path w="9525" h="4244340">
                  <a:moveTo>
                    <a:pt x="4788" y="3262916"/>
                  </a:moveTo>
                  <a:lnTo>
                    <a:pt x="2298" y="3265265"/>
                  </a:lnTo>
                  <a:lnTo>
                    <a:pt x="4788" y="3265265"/>
                  </a:lnTo>
                  <a:lnTo>
                    <a:pt x="4788" y="3262916"/>
                  </a:lnTo>
                  <a:close/>
                </a:path>
                <a:path w="9525" h="4244340">
                  <a:moveTo>
                    <a:pt x="7086" y="3226171"/>
                  </a:moveTo>
                  <a:lnTo>
                    <a:pt x="0" y="3226171"/>
                  </a:lnTo>
                  <a:lnTo>
                    <a:pt x="0" y="3233238"/>
                  </a:lnTo>
                  <a:lnTo>
                    <a:pt x="2298" y="3235587"/>
                  </a:lnTo>
                  <a:lnTo>
                    <a:pt x="4788" y="3235587"/>
                  </a:lnTo>
                  <a:lnTo>
                    <a:pt x="7086" y="3233238"/>
                  </a:lnTo>
                  <a:lnTo>
                    <a:pt x="9001" y="3230869"/>
                  </a:lnTo>
                  <a:lnTo>
                    <a:pt x="7086" y="3228520"/>
                  </a:lnTo>
                  <a:lnTo>
                    <a:pt x="7086" y="3226171"/>
                  </a:lnTo>
                  <a:close/>
                </a:path>
                <a:path w="9525" h="4244340">
                  <a:moveTo>
                    <a:pt x="7086" y="3159730"/>
                  </a:moveTo>
                  <a:lnTo>
                    <a:pt x="0" y="3159730"/>
                  </a:lnTo>
                  <a:lnTo>
                    <a:pt x="0" y="3196474"/>
                  </a:lnTo>
                  <a:lnTo>
                    <a:pt x="7086" y="3196474"/>
                  </a:lnTo>
                  <a:lnTo>
                    <a:pt x="7086" y="3194125"/>
                  </a:lnTo>
                  <a:lnTo>
                    <a:pt x="9001" y="3191776"/>
                  </a:lnTo>
                  <a:lnTo>
                    <a:pt x="9001" y="3163970"/>
                  </a:lnTo>
                  <a:lnTo>
                    <a:pt x="7086" y="3161621"/>
                  </a:lnTo>
                  <a:lnTo>
                    <a:pt x="7086" y="3159730"/>
                  </a:lnTo>
                  <a:close/>
                </a:path>
                <a:path w="9525" h="4244340">
                  <a:moveTo>
                    <a:pt x="4788" y="3120618"/>
                  </a:moveTo>
                  <a:lnTo>
                    <a:pt x="2298" y="3120618"/>
                  </a:lnTo>
                  <a:lnTo>
                    <a:pt x="0" y="3122967"/>
                  </a:lnTo>
                  <a:lnTo>
                    <a:pt x="0" y="3129575"/>
                  </a:lnTo>
                  <a:lnTo>
                    <a:pt x="7086" y="3129575"/>
                  </a:lnTo>
                  <a:lnTo>
                    <a:pt x="7086" y="3127226"/>
                  </a:lnTo>
                  <a:lnTo>
                    <a:pt x="9001" y="3124858"/>
                  </a:lnTo>
                  <a:lnTo>
                    <a:pt x="7086" y="3122967"/>
                  </a:lnTo>
                  <a:lnTo>
                    <a:pt x="4788" y="3120618"/>
                  </a:lnTo>
                  <a:close/>
                </a:path>
                <a:path w="9525" h="4244340">
                  <a:moveTo>
                    <a:pt x="7086" y="3053718"/>
                  </a:moveTo>
                  <a:lnTo>
                    <a:pt x="0" y="3053718"/>
                  </a:lnTo>
                  <a:lnTo>
                    <a:pt x="0" y="3090462"/>
                  </a:lnTo>
                  <a:lnTo>
                    <a:pt x="7086" y="3090462"/>
                  </a:lnTo>
                  <a:lnTo>
                    <a:pt x="7086" y="3088113"/>
                  </a:lnTo>
                  <a:lnTo>
                    <a:pt x="9001" y="3086223"/>
                  </a:lnTo>
                  <a:lnTo>
                    <a:pt x="9001" y="3058416"/>
                  </a:lnTo>
                  <a:lnTo>
                    <a:pt x="7086" y="3056067"/>
                  </a:lnTo>
                  <a:lnTo>
                    <a:pt x="7086" y="3053718"/>
                  </a:lnTo>
                  <a:close/>
                </a:path>
                <a:path w="9525" h="4244340">
                  <a:moveTo>
                    <a:pt x="4788" y="3014606"/>
                  </a:moveTo>
                  <a:lnTo>
                    <a:pt x="2298" y="3014606"/>
                  </a:lnTo>
                  <a:lnTo>
                    <a:pt x="0" y="3016955"/>
                  </a:lnTo>
                  <a:lnTo>
                    <a:pt x="0" y="3024021"/>
                  </a:lnTo>
                  <a:lnTo>
                    <a:pt x="7086" y="3024021"/>
                  </a:lnTo>
                  <a:lnTo>
                    <a:pt x="7086" y="3021672"/>
                  </a:lnTo>
                  <a:lnTo>
                    <a:pt x="9001" y="3019323"/>
                  </a:lnTo>
                  <a:lnTo>
                    <a:pt x="7086" y="3016955"/>
                  </a:lnTo>
                  <a:lnTo>
                    <a:pt x="4788" y="3014606"/>
                  </a:lnTo>
                  <a:close/>
                </a:path>
                <a:path w="9525" h="4244340">
                  <a:moveTo>
                    <a:pt x="4788" y="2984928"/>
                  </a:moveTo>
                  <a:lnTo>
                    <a:pt x="2298" y="2984928"/>
                  </a:lnTo>
                  <a:lnTo>
                    <a:pt x="4788" y="2987277"/>
                  </a:lnTo>
                  <a:lnTo>
                    <a:pt x="4788" y="2984928"/>
                  </a:lnTo>
                  <a:close/>
                </a:path>
                <a:path w="9525" h="4244340">
                  <a:moveTo>
                    <a:pt x="4788" y="2948165"/>
                  </a:moveTo>
                  <a:lnTo>
                    <a:pt x="2298" y="2948165"/>
                  </a:lnTo>
                  <a:lnTo>
                    <a:pt x="0" y="2950533"/>
                  </a:lnTo>
                  <a:lnTo>
                    <a:pt x="0" y="2984928"/>
                  </a:lnTo>
                  <a:lnTo>
                    <a:pt x="7086" y="2984928"/>
                  </a:lnTo>
                  <a:lnTo>
                    <a:pt x="7086" y="2982560"/>
                  </a:lnTo>
                  <a:lnTo>
                    <a:pt x="9001" y="2982560"/>
                  </a:lnTo>
                  <a:lnTo>
                    <a:pt x="9001" y="2952882"/>
                  </a:lnTo>
                  <a:lnTo>
                    <a:pt x="7086" y="2950533"/>
                  </a:lnTo>
                  <a:lnTo>
                    <a:pt x="4788" y="2948165"/>
                  </a:lnTo>
                  <a:close/>
                </a:path>
                <a:path w="9525" h="4244340">
                  <a:moveTo>
                    <a:pt x="4788" y="2909052"/>
                  </a:moveTo>
                  <a:lnTo>
                    <a:pt x="2298" y="2909052"/>
                  </a:lnTo>
                  <a:lnTo>
                    <a:pt x="0" y="2911421"/>
                  </a:lnTo>
                  <a:lnTo>
                    <a:pt x="0" y="2918487"/>
                  </a:lnTo>
                  <a:lnTo>
                    <a:pt x="7086" y="2918487"/>
                  </a:lnTo>
                  <a:lnTo>
                    <a:pt x="7086" y="2916138"/>
                  </a:lnTo>
                  <a:lnTo>
                    <a:pt x="9001" y="2913770"/>
                  </a:lnTo>
                  <a:lnTo>
                    <a:pt x="7086" y="2913770"/>
                  </a:lnTo>
                  <a:lnTo>
                    <a:pt x="7086" y="2911421"/>
                  </a:lnTo>
                  <a:lnTo>
                    <a:pt x="4788" y="2909052"/>
                  </a:lnTo>
                  <a:close/>
                </a:path>
                <a:path w="9525" h="4244340">
                  <a:moveTo>
                    <a:pt x="4788" y="2842630"/>
                  </a:moveTo>
                  <a:lnTo>
                    <a:pt x="2298" y="2842630"/>
                  </a:lnTo>
                  <a:lnTo>
                    <a:pt x="0" y="2844502"/>
                  </a:lnTo>
                  <a:lnTo>
                    <a:pt x="0" y="2879374"/>
                  </a:lnTo>
                  <a:lnTo>
                    <a:pt x="2298" y="2881265"/>
                  </a:lnTo>
                  <a:lnTo>
                    <a:pt x="4788" y="2881265"/>
                  </a:lnTo>
                  <a:lnTo>
                    <a:pt x="7086" y="2879374"/>
                  </a:lnTo>
                  <a:lnTo>
                    <a:pt x="9001" y="2877025"/>
                  </a:lnTo>
                  <a:lnTo>
                    <a:pt x="9001" y="2846870"/>
                  </a:lnTo>
                  <a:lnTo>
                    <a:pt x="7086" y="2844502"/>
                  </a:lnTo>
                  <a:lnTo>
                    <a:pt x="4788" y="2842630"/>
                  </a:lnTo>
                  <a:close/>
                </a:path>
                <a:path w="9525" h="4244340">
                  <a:moveTo>
                    <a:pt x="4788" y="2812475"/>
                  </a:moveTo>
                  <a:lnTo>
                    <a:pt x="2298" y="2812475"/>
                  </a:lnTo>
                  <a:lnTo>
                    <a:pt x="4788" y="2814824"/>
                  </a:lnTo>
                  <a:lnTo>
                    <a:pt x="4788" y="2812475"/>
                  </a:lnTo>
                  <a:close/>
                </a:path>
                <a:path w="9525" h="4244340">
                  <a:moveTo>
                    <a:pt x="7086" y="2805867"/>
                  </a:moveTo>
                  <a:lnTo>
                    <a:pt x="0" y="2805867"/>
                  </a:lnTo>
                  <a:lnTo>
                    <a:pt x="0" y="2812475"/>
                  </a:lnTo>
                  <a:lnTo>
                    <a:pt x="7086" y="2812475"/>
                  </a:lnTo>
                  <a:lnTo>
                    <a:pt x="7086" y="2810107"/>
                  </a:lnTo>
                  <a:lnTo>
                    <a:pt x="9001" y="2810107"/>
                  </a:lnTo>
                  <a:lnTo>
                    <a:pt x="7086" y="2807758"/>
                  </a:lnTo>
                  <a:lnTo>
                    <a:pt x="7086" y="2805867"/>
                  </a:lnTo>
                  <a:close/>
                </a:path>
                <a:path w="9525" h="4244340">
                  <a:moveTo>
                    <a:pt x="4788" y="2803518"/>
                  </a:moveTo>
                  <a:lnTo>
                    <a:pt x="2298" y="2805867"/>
                  </a:lnTo>
                  <a:lnTo>
                    <a:pt x="4788" y="2805867"/>
                  </a:lnTo>
                  <a:lnTo>
                    <a:pt x="4788" y="2803518"/>
                  </a:lnTo>
                  <a:close/>
                </a:path>
                <a:path w="9525" h="4244340">
                  <a:moveTo>
                    <a:pt x="4788" y="2736618"/>
                  </a:moveTo>
                  <a:lnTo>
                    <a:pt x="2298" y="2736618"/>
                  </a:lnTo>
                  <a:lnTo>
                    <a:pt x="0" y="2738967"/>
                  </a:lnTo>
                  <a:lnTo>
                    <a:pt x="0" y="2773363"/>
                  </a:lnTo>
                  <a:lnTo>
                    <a:pt x="2298" y="2775712"/>
                  </a:lnTo>
                  <a:lnTo>
                    <a:pt x="4788" y="2775712"/>
                  </a:lnTo>
                  <a:lnTo>
                    <a:pt x="7086" y="2773363"/>
                  </a:lnTo>
                  <a:lnTo>
                    <a:pt x="9001" y="2771014"/>
                  </a:lnTo>
                  <a:lnTo>
                    <a:pt x="9001" y="2741317"/>
                  </a:lnTo>
                  <a:lnTo>
                    <a:pt x="7086" y="2741317"/>
                  </a:lnTo>
                  <a:lnTo>
                    <a:pt x="7086" y="2738967"/>
                  </a:lnTo>
                  <a:lnTo>
                    <a:pt x="4788" y="2736618"/>
                  </a:lnTo>
                  <a:close/>
                </a:path>
                <a:path w="9525" h="4244340">
                  <a:moveTo>
                    <a:pt x="7086" y="2699855"/>
                  </a:moveTo>
                  <a:lnTo>
                    <a:pt x="0" y="2699855"/>
                  </a:lnTo>
                  <a:lnTo>
                    <a:pt x="0" y="2706921"/>
                  </a:lnTo>
                  <a:lnTo>
                    <a:pt x="2298" y="2709289"/>
                  </a:lnTo>
                  <a:lnTo>
                    <a:pt x="4788" y="2709289"/>
                  </a:lnTo>
                  <a:lnTo>
                    <a:pt x="7086" y="2706921"/>
                  </a:lnTo>
                  <a:lnTo>
                    <a:pt x="9001" y="2704572"/>
                  </a:lnTo>
                  <a:lnTo>
                    <a:pt x="7086" y="2702204"/>
                  </a:lnTo>
                  <a:lnTo>
                    <a:pt x="7086" y="2699855"/>
                  </a:lnTo>
                  <a:close/>
                </a:path>
                <a:path w="9525" h="4244340">
                  <a:moveTo>
                    <a:pt x="7086" y="2633414"/>
                  </a:moveTo>
                  <a:lnTo>
                    <a:pt x="0" y="2633414"/>
                  </a:lnTo>
                  <a:lnTo>
                    <a:pt x="0" y="2670177"/>
                  </a:lnTo>
                  <a:lnTo>
                    <a:pt x="7086" y="2670177"/>
                  </a:lnTo>
                  <a:lnTo>
                    <a:pt x="7086" y="2667809"/>
                  </a:lnTo>
                  <a:lnTo>
                    <a:pt x="9001" y="2665460"/>
                  </a:lnTo>
                  <a:lnTo>
                    <a:pt x="9001" y="2638131"/>
                  </a:lnTo>
                  <a:lnTo>
                    <a:pt x="7086" y="2635782"/>
                  </a:lnTo>
                  <a:lnTo>
                    <a:pt x="7086" y="2633414"/>
                  </a:lnTo>
                  <a:close/>
                </a:path>
                <a:path w="9525" h="4244340">
                  <a:moveTo>
                    <a:pt x="4788" y="2631065"/>
                  </a:moveTo>
                  <a:lnTo>
                    <a:pt x="2298" y="2633414"/>
                  </a:lnTo>
                  <a:lnTo>
                    <a:pt x="4788" y="2633414"/>
                  </a:lnTo>
                  <a:lnTo>
                    <a:pt x="4788" y="2631065"/>
                  </a:lnTo>
                  <a:close/>
                </a:path>
                <a:path w="9525" h="4244340">
                  <a:moveTo>
                    <a:pt x="7086" y="2594321"/>
                  </a:moveTo>
                  <a:lnTo>
                    <a:pt x="0" y="2594321"/>
                  </a:lnTo>
                  <a:lnTo>
                    <a:pt x="0" y="2600909"/>
                  </a:lnTo>
                  <a:lnTo>
                    <a:pt x="2298" y="2603259"/>
                  </a:lnTo>
                  <a:lnTo>
                    <a:pt x="4788" y="2603259"/>
                  </a:lnTo>
                  <a:lnTo>
                    <a:pt x="7086" y="2600909"/>
                  </a:lnTo>
                  <a:lnTo>
                    <a:pt x="9001" y="2599019"/>
                  </a:lnTo>
                  <a:lnTo>
                    <a:pt x="7086" y="2596670"/>
                  </a:lnTo>
                  <a:lnTo>
                    <a:pt x="7086" y="2594321"/>
                  </a:lnTo>
                  <a:close/>
                </a:path>
                <a:path w="9525" h="4244340">
                  <a:moveTo>
                    <a:pt x="7086" y="2527402"/>
                  </a:moveTo>
                  <a:lnTo>
                    <a:pt x="0" y="2527402"/>
                  </a:lnTo>
                  <a:lnTo>
                    <a:pt x="0" y="2564165"/>
                  </a:lnTo>
                  <a:lnTo>
                    <a:pt x="7086" y="2564165"/>
                  </a:lnTo>
                  <a:lnTo>
                    <a:pt x="7086" y="2562275"/>
                  </a:lnTo>
                  <a:lnTo>
                    <a:pt x="9001" y="2559926"/>
                  </a:lnTo>
                  <a:lnTo>
                    <a:pt x="9001" y="2532119"/>
                  </a:lnTo>
                  <a:lnTo>
                    <a:pt x="7086" y="2529770"/>
                  </a:lnTo>
                  <a:lnTo>
                    <a:pt x="7086" y="2527402"/>
                  </a:lnTo>
                  <a:close/>
                </a:path>
                <a:path w="9525" h="4244340">
                  <a:moveTo>
                    <a:pt x="4788" y="2488290"/>
                  </a:moveTo>
                  <a:lnTo>
                    <a:pt x="2298" y="2488290"/>
                  </a:lnTo>
                  <a:lnTo>
                    <a:pt x="0" y="2490658"/>
                  </a:lnTo>
                  <a:lnTo>
                    <a:pt x="0" y="2497724"/>
                  </a:lnTo>
                  <a:lnTo>
                    <a:pt x="7086" y="2497724"/>
                  </a:lnTo>
                  <a:lnTo>
                    <a:pt x="7086" y="2495375"/>
                  </a:lnTo>
                  <a:lnTo>
                    <a:pt x="9001" y="2493007"/>
                  </a:lnTo>
                  <a:lnTo>
                    <a:pt x="7086" y="2490658"/>
                  </a:lnTo>
                  <a:lnTo>
                    <a:pt x="4788" y="2488290"/>
                  </a:lnTo>
                  <a:close/>
                </a:path>
                <a:path w="9525" h="4244340">
                  <a:moveTo>
                    <a:pt x="7086" y="2421868"/>
                  </a:moveTo>
                  <a:lnTo>
                    <a:pt x="0" y="2421868"/>
                  </a:lnTo>
                  <a:lnTo>
                    <a:pt x="0" y="2458612"/>
                  </a:lnTo>
                  <a:lnTo>
                    <a:pt x="7086" y="2458612"/>
                  </a:lnTo>
                  <a:lnTo>
                    <a:pt x="7086" y="2456263"/>
                  </a:lnTo>
                  <a:lnTo>
                    <a:pt x="9001" y="2453895"/>
                  </a:lnTo>
                  <a:lnTo>
                    <a:pt x="9001" y="2426566"/>
                  </a:lnTo>
                  <a:lnTo>
                    <a:pt x="7086" y="2424217"/>
                  </a:lnTo>
                  <a:lnTo>
                    <a:pt x="7086" y="2421868"/>
                  </a:lnTo>
                  <a:close/>
                </a:path>
                <a:path w="9525" h="4244340">
                  <a:moveTo>
                    <a:pt x="4788" y="2382755"/>
                  </a:moveTo>
                  <a:lnTo>
                    <a:pt x="2298" y="2382755"/>
                  </a:lnTo>
                  <a:lnTo>
                    <a:pt x="0" y="2385104"/>
                  </a:lnTo>
                  <a:lnTo>
                    <a:pt x="0" y="2392171"/>
                  </a:lnTo>
                  <a:lnTo>
                    <a:pt x="7086" y="2392171"/>
                  </a:lnTo>
                  <a:lnTo>
                    <a:pt x="7086" y="2389822"/>
                  </a:lnTo>
                  <a:lnTo>
                    <a:pt x="9001" y="2387473"/>
                  </a:lnTo>
                  <a:lnTo>
                    <a:pt x="7086" y="2385104"/>
                  </a:lnTo>
                  <a:lnTo>
                    <a:pt x="4788" y="2382755"/>
                  </a:lnTo>
                  <a:close/>
                </a:path>
                <a:path w="9525" h="4244340">
                  <a:moveTo>
                    <a:pt x="4788" y="2353077"/>
                  </a:moveTo>
                  <a:lnTo>
                    <a:pt x="2298" y="2353077"/>
                  </a:lnTo>
                  <a:lnTo>
                    <a:pt x="4788" y="2355426"/>
                  </a:lnTo>
                  <a:lnTo>
                    <a:pt x="4788" y="2353077"/>
                  </a:lnTo>
                  <a:close/>
                </a:path>
                <a:path w="9525" h="4244340">
                  <a:moveTo>
                    <a:pt x="4788" y="2316371"/>
                  </a:moveTo>
                  <a:lnTo>
                    <a:pt x="2298" y="2316371"/>
                  </a:lnTo>
                  <a:lnTo>
                    <a:pt x="0" y="2318663"/>
                  </a:lnTo>
                  <a:lnTo>
                    <a:pt x="0" y="2353077"/>
                  </a:lnTo>
                  <a:lnTo>
                    <a:pt x="7086" y="2353077"/>
                  </a:lnTo>
                  <a:lnTo>
                    <a:pt x="7086" y="2350709"/>
                  </a:lnTo>
                  <a:lnTo>
                    <a:pt x="9001" y="2350709"/>
                  </a:lnTo>
                  <a:lnTo>
                    <a:pt x="9001" y="2320573"/>
                  </a:lnTo>
                  <a:lnTo>
                    <a:pt x="4788" y="2316371"/>
                  </a:lnTo>
                  <a:close/>
                </a:path>
                <a:path w="9525" h="4244340">
                  <a:moveTo>
                    <a:pt x="4788" y="2277221"/>
                  </a:moveTo>
                  <a:lnTo>
                    <a:pt x="2298" y="2277221"/>
                  </a:lnTo>
                  <a:lnTo>
                    <a:pt x="0" y="2279513"/>
                  </a:lnTo>
                  <a:lnTo>
                    <a:pt x="0" y="2286197"/>
                  </a:lnTo>
                  <a:lnTo>
                    <a:pt x="7086" y="2286197"/>
                  </a:lnTo>
                  <a:lnTo>
                    <a:pt x="7086" y="2283714"/>
                  </a:lnTo>
                  <a:lnTo>
                    <a:pt x="9001" y="2281995"/>
                  </a:lnTo>
                  <a:lnTo>
                    <a:pt x="7086" y="2279513"/>
                  </a:lnTo>
                  <a:lnTo>
                    <a:pt x="4788" y="2277221"/>
                  </a:lnTo>
                  <a:close/>
                </a:path>
                <a:path w="9525" h="4244340">
                  <a:moveTo>
                    <a:pt x="4788" y="2210379"/>
                  </a:moveTo>
                  <a:lnTo>
                    <a:pt x="2298" y="2210379"/>
                  </a:lnTo>
                  <a:lnTo>
                    <a:pt x="0" y="2212670"/>
                  </a:lnTo>
                  <a:lnTo>
                    <a:pt x="0" y="2247046"/>
                  </a:lnTo>
                  <a:lnTo>
                    <a:pt x="2298" y="2249338"/>
                  </a:lnTo>
                  <a:lnTo>
                    <a:pt x="4788" y="2249338"/>
                  </a:lnTo>
                  <a:lnTo>
                    <a:pt x="7086" y="2247046"/>
                  </a:lnTo>
                  <a:lnTo>
                    <a:pt x="7086" y="2245137"/>
                  </a:lnTo>
                  <a:lnTo>
                    <a:pt x="9001" y="2245137"/>
                  </a:lnTo>
                  <a:lnTo>
                    <a:pt x="9001" y="2214962"/>
                  </a:lnTo>
                  <a:lnTo>
                    <a:pt x="7086" y="2212670"/>
                  </a:lnTo>
                  <a:lnTo>
                    <a:pt x="4788" y="2210379"/>
                  </a:lnTo>
                  <a:close/>
                </a:path>
                <a:path w="9525" h="4244340">
                  <a:moveTo>
                    <a:pt x="4788" y="2180586"/>
                  </a:moveTo>
                  <a:lnTo>
                    <a:pt x="2298" y="2180586"/>
                  </a:lnTo>
                  <a:lnTo>
                    <a:pt x="4788" y="2183069"/>
                  </a:lnTo>
                  <a:lnTo>
                    <a:pt x="4788" y="2180586"/>
                  </a:lnTo>
                  <a:close/>
                </a:path>
                <a:path w="9525" h="4244340">
                  <a:moveTo>
                    <a:pt x="7086" y="2173520"/>
                  </a:moveTo>
                  <a:lnTo>
                    <a:pt x="0" y="2173520"/>
                  </a:lnTo>
                  <a:lnTo>
                    <a:pt x="0" y="2180586"/>
                  </a:lnTo>
                  <a:lnTo>
                    <a:pt x="7086" y="2180586"/>
                  </a:lnTo>
                  <a:lnTo>
                    <a:pt x="7086" y="2178294"/>
                  </a:lnTo>
                  <a:lnTo>
                    <a:pt x="9001" y="2178294"/>
                  </a:lnTo>
                  <a:lnTo>
                    <a:pt x="7086" y="2175812"/>
                  </a:lnTo>
                  <a:lnTo>
                    <a:pt x="7086" y="2173520"/>
                  </a:lnTo>
                  <a:close/>
                </a:path>
                <a:path w="9525" h="4244340">
                  <a:moveTo>
                    <a:pt x="4788" y="2171228"/>
                  </a:moveTo>
                  <a:lnTo>
                    <a:pt x="2298" y="2173520"/>
                  </a:lnTo>
                  <a:lnTo>
                    <a:pt x="4788" y="2173520"/>
                  </a:lnTo>
                  <a:lnTo>
                    <a:pt x="4788" y="2171228"/>
                  </a:lnTo>
                  <a:close/>
                </a:path>
                <a:path w="9525" h="4244340">
                  <a:moveTo>
                    <a:pt x="4788" y="2104768"/>
                  </a:moveTo>
                  <a:lnTo>
                    <a:pt x="2298" y="2104768"/>
                  </a:lnTo>
                  <a:lnTo>
                    <a:pt x="0" y="2107060"/>
                  </a:lnTo>
                  <a:lnTo>
                    <a:pt x="0" y="2141436"/>
                  </a:lnTo>
                  <a:lnTo>
                    <a:pt x="2298" y="2143918"/>
                  </a:lnTo>
                  <a:lnTo>
                    <a:pt x="4788" y="2143918"/>
                  </a:lnTo>
                  <a:lnTo>
                    <a:pt x="7086" y="2141436"/>
                  </a:lnTo>
                  <a:lnTo>
                    <a:pt x="9001" y="2139144"/>
                  </a:lnTo>
                  <a:lnTo>
                    <a:pt x="9001" y="2109542"/>
                  </a:lnTo>
                  <a:lnTo>
                    <a:pt x="7086" y="2107060"/>
                  </a:lnTo>
                  <a:lnTo>
                    <a:pt x="4788" y="2104768"/>
                  </a:lnTo>
                  <a:close/>
                </a:path>
                <a:path w="9525" h="4244340">
                  <a:moveTo>
                    <a:pt x="7086" y="2068100"/>
                  </a:moveTo>
                  <a:lnTo>
                    <a:pt x="0" y="2068100"/>
                  </a:lnTo>
                  <a:lnTo>
                    <a:pt x="0" y="2075166"/>
                  </a:lnTo>
                  <a:lnTo>
                    <a:pt x="2298" y="2076885"/>
                  </a:lnTo>
                  <a:lnTo>
                    <a:pt x="4788" y="2076885"/>
                  </a:lnTo>
                  <a:lnTo>
                    <a:pt x="7086" y="2075166"/>
                  </a:lnTo>
                  <a:lnTo>
                    <a:pt x="7086" y="2072684"/>
                  </a:lnTo>
                  <a:lnTo>
                    <a:pt x="9001" y="2072684"/>
                  </a:lnTo>
                  <a:lnTo>
                    <a:pt x="7086" y="2070392"/>
                  </a:lnTo>
                  <a:lnTo>
                    <a:pt x="7086" y="2068100"/>
                  </a:lnTo>
                  <a:close/>
                </a:path>
                <a:path w="9525" h="4244340">
                  <a:moveTo>
                    <a:pt x="7086" y="2001640"/>
                  </a:moveTo>
                  <a:lnTo>
                    <a:pt x="0" y="2001640"/>
                  </a:lnTo>
                  <a:lnTo>
                    <a:pt x="0" y="2036016"/>
                  </a:lnTo>
                  <a:lnTo>
                    <a:pt x="2298" y="2038307"/>
                  </a:lnTo>
                  <a:lnTo>
                    <a:pt x="4788" y="2038307"/>
                  </a:lnTo>
                  <a:lnTo>
                    <a:pt x="7086" y="2036016"/>
                  </a:lnTo>
                  <a:lnTo>
                    <a:pt x="9001" y="2033533"/>
                  </a:lnTo>
                  <a:lnTo>
                    <a:pt x="9001" y="2005841"/>
                  </a:lnTo>
                  <a:lnTo>
                    <a:pt x="7086" y="2003549"/>
                  </a:lnTo>
                  <a:lnTo>
                    <a:pt x="7086" y="2001640"/>
                  </a:lnTo>
                  <a:close/>
                </a:path>
                <a:path w="9525" h="4244340">
                  <a:moveTo>
                    <a:pt x="4788" y="1999157"/>
                  </a:moveTo>
                  <a:lnTo>
                    <a:pt x="2298" y="2001640"/>
                  </a:lnTo>
                  <a:lnTo>
                    <a:pt x="4788" y="2001640"/>
                  </a:lnTo>
                  <a:lnTo>
                    <a:pt x="4788" y="1999157"/>
                  </a:lnTo>
                  <a:close/>
                </a:path>
                <a:path w="9525" h="4244340">
                  <a:moveTo>
                    <a:pt x="7086" y="1962489"/>
                  </a:moveTo>
                  <a:lnTo>
                    <a:pt x="0" y="1962489"/>
                  </a:lnTo>
                  <a:lnTo>
                    <a:pt x="0" y="1968982"/>
                  </a:lnTo>
                  <a:lnTo>
                    <a:pt x="2298" y="1971465"/>
                  </a:lnTo>
                  <a:lnTo>
                    <a:pt x="4788" y="1971465"/>
                  </a:lnTo>
                  <a:lnTo>
                    <a:pt x="7086" y="1968982"/>
                  </a:lnTo>
                  <a:lnTo>
                    <a:pt x="9001" y="1966691"/>
                  </a:lnTo>
                  <a:lnTo>
                    <a:pt x="7086" y="1964399"/>
                  </a:lnTo>
                  <a:lnTo>
                    <a:pt x="7086" y="1962489"/>
                  </a:lnTo>
                  <a:close/>
                </a:path>
                <a:path w="9525" h="4244340">
                  <a:moveTo>
                    <a:pt x="7086" y="1895647"/>
                  </a:moveTo>
                  <a:lnTo>
                    <a:pt x="0" y="1895647"/>
                  </a:lnTo>
                  <a:lnTo>
                    <a:pt x="0" y="1932315"/>
                  </a:lnTo>
                  <a:lnTo>
                    <a:pt x="7086" y="1932315"/>
                  </a:lnTo>
                  <a:lnTo>
                    <a:pt x="7086" y="1930023"/>
                  </a:lnTo>
                  <a:lnTo>
                    <a:pt x="9001" y="1927540"/>
                  </a:lnTo>
                  <a:lnTo>
                    <a:pt x="9001" y="1900230"/>
                  </a:lnTo>
                  <a:lnTo>
                    <a:pt x="7086" y="1897939"/>
                  </a:lnTo>
                  <a:lnTo>
                    <a:pt x="7086" y="1895647"/>
                  </a:lnTo>
                  <a:close/>
                </a:path>
                <a:path w="9525" h="4244340">
                  <a:moveTo>
                    <a:pt x="7086" y="1856496"/>
                  </a:moveTo>
                  <a:lnTo>
                    <a:pt x="0" y="1856496"/>
                  </a:lnTo>
                  <a:lnTo>
                    <a:pt x="0" y="1863563"/>
                  </a:lnTo>
                  <a:lnTo>
                    <a:pt x="2298" y="1865854"/>
                  </a:lnTo>
                  <a:lnTo>
                    <a:pt x="4788" y="1865854"/>
                  </a:lnTo>
                  <a:lnTo>
                    <a:pt x="7086" y="1863563"/>
                  </a:lnTo>
                  <a:lnTo>
                    <a:pt x="9001" y="1861080"/>
                  </a:lnTo>
                  <a:lnTo>
                    <a:pt x="7086" y="1858788"/>
                  </a:lnTo>
                  <a:lnTo>
                    <a:pt x="7086" y="1856496"/>
                  </a:lnTo>
                  <a:close/>
                </a:path>
                <a:path w="9525" h="4244340">
                  <a:moveTo>
                    <a:pt x="7086" y="1790036"/>
                  </a:moveTo>
                  <a:lnTo>
                    <a:pt x="0" y="1790036"/>
                  </a:lnTo>
                  <a:lnTo>
                    <a:pt x="0" y="1826704"/>
                  </a:lnTo>
                  <a:lnTo>
                    <a:pt x="7086" y="1826704"/>
                  </a:lnTo>
                  <a:lnTo>
                    <a:pt x="7086" y="1824412"/>
                  </a:lnTo>
                  <a:lnTo>
                    <a:pt x="9001" y="1822120"/>
                  </a:lnTo>
                  <a:lnTo>
                    <a:pt x="9001" y="1794811"/>
                  </a:lnTo>
                  <a:lnTo>
                    <a:pt x="7086" y="1792328"/>
                  </a:lnTo>
                  <a:lnTo>
                    <a:pt x="7086" y="1790036"/>
                  </a:lnTo>
                  <a:close/>
                </a:path>
                <a:path w="9525" h="4244340">
                  <a:moveTo>
                    <a:pt x="4788" y="1750886"/>
                  </a:moveTo>
                  <a:lnTo>
                    <a:pt x="2298" y="1750886"/>
                  </a:lnTo>
                  <a:lnTo>
                    <a:pt x="0" y="1753177"/>
                  </a:lnTo>
                  <a:lnTo>
                    <a:pt x="0" y="1759862"/>
                  </a:lnTo>
                  <a:lnTo>
                    <a:pt x="7086" y="1759862"/>
                  </a:lnTo>
                  <a:lnTo>
                    <a:pt x="7086" y="1757952"/>
                  </a:lnTo>
                  <a:lnTo>
                    <a:pt x="9001" y="1755660"/>
                  </a:lnTo>
                  <a:lnTo>
                    <a:pt x="7086" y="1753177"/>
                  </a:lnTo>
                  <a:lnTo>
                    <a:pt x="4788" y="1750886"/>
                  </a:lnTo>
                  <a:close/>
                </a:path>
                <a:path w="9525" h="4244340">
                  <a:moveTo>
                    <a:pt x="4788" y="1721284"/>
                  </a:moveTo>
                  <a:lnTo>
                    <a:pt x="2298" y="1721284"/>
                  </a:lnTo>
                  <a:lnTo>
                    <a:pt x="4788" y="1723194"/>
                  </a:lnTo>
                  <a:lnTo>
                    <a:pt x="4788" y="1721284"/>
                  </a:lnTo>
                  <a:close/>
                </a:path>
                <a:path w="9525" h="4244340">
                  <a:moveTo>
                    <a:pt x="7086" y="1684043"/>
                  </a:moveTo>
                  <a:lnTo>
                    <a:pt x="0" y="1684043"/>
                  </a:lnTo>
                  <a:lnTo>
                    <a:pt x="0" y="1721284"/>
                  </a:lnTo>
                  <a:lnTo>
                    <a:pt x="7086" y="1721284"/>
                  </a:lnTo>
                  <a:lnTo>
                    <a:pt x="7086" y="1718801"/>
                  </a:lnTo>
                  <a:lnTo>
                    <a:pt x="9001" y="1718801"/>
                  </a:lnTo>
                  <a:lnTo>
                    <a:pt x="9001" y="1688627"/>
                  </a:lnTo>
                  <a:lnTo>
                    <a:pt x="7086" y="1686335"/>
                  </a:lnTo>
                  <a:lnTo>
                    <a:pt x="7086" y="1684043"/>
                  </a:lnTo>
                  <a:close/>
                </a:path>
                <a:path w="9525" h="4244340">
                  <a:moveTo>
                    <a:pt x="4788" y="1645275"/>
                  </a:moveTo>
                  <a:lnTo>
                    <a:pt x="2298" y="1645275"/>
                  </a:lnTo>
                  <a:lnTo>
                    <a:pt x="0" y="1647185"/>
                  </a:lnTo>
                  <a:lnTo>
                    <a:pt x="0" y="1654251"/>
                  </a:lnTo>
                  <a:lnTo>
                    <a:pt x="7086" y="1654251"/>
                  </a:lnTo>
                  <a:lnTo>
                    <a:pt x="7086" y="1651959"/>
                  </a:lnTo>
                  <a:lnTo>
                    <a:pt x="9001" y="1649667"/>
                  </a:lnTo>
                  <a:lnTo>
                    <a:pt x="7086" y="1647185"/>
                  </a:lnTo>
                  <a:lnTo>
                    <a:pt x="4788" y="1645275"/>
                  </a:lnTo>
                  <a:close/>
                </a:path>
                <a:path w="9525" h="4244340">
                  <a:moveTo>
                    <a:pt x="4788" y="1578432"/>
                  </a:moveTo>
                  <a:lnTo>
                    <a:pt x="2298" y="1578432"/>
                  </a:lnTo>
                  <a:lnTo>
                    <a:pt x="0" y="1580724"/>
                  </a:lnTo>
                  <a:lnTo>
                    <a:pt x="0" y="1615291"/>
                  </a:lnTo>
                  <a:lnTo>
                    <a:pt x="2298" y="1617583"/>
                  </a:lnTo>
                  <a:lnTo>
                    <a:pt x="4788" y="1617583"/>
                  </a:lnTo>
                  <a:lnTo>
                    <a:pt x="7086" y="1615291"/>
                  </a:lnTo>
                  <a:lnTo>
                    <a:pt x="7086" y="1612809"/>
                  </a:lnTo>
                  <a:lnTo>
                    <a:pt x="9001" y="1612809"/>
                  </a:lnTo>
                  <a:lnTo>
                    <a:pt x="9001" y="1583207"/>
                  </a:lnTo>
                  <a:lnTo>
                    <a:pt x="7086" y="1580724"/>
                  </a:lnTo>
                  <a:lnTo>
                    <a:pt x="4788" y="1578432"/>
                  </a:lnTo>
                  <a:close/>
                </a:path>
                <a:path w="9525" h="4244340">
                  <a:moveTo>
                    <a:pt x="4788" y="1548831"/>
                  </a:moveTo>
                  <a:lnTo>
                    <a:pt x="2298" y="1548831"/>
                  </a:lnTo>
                  <a:lnTo>
                    <a:pt x="4788" y="1551123"/>
                  </a:lnTo>
                  <a:lnTo>
                    <a:pt x="4788" y="1548831"/>
                  </a:lnTo>
                  <a:close/>
                </a:path>
                <a:path w="9525" h="4244340">
                  <a:moveTo>
                    <a:pt x="7086" y="1541765"/>
                  </a:moveTo>
                  <a:lnTo>
                    <a:pt x="0" y="1541765"/>
                  </a:lnTo>
                  <a:lnTo>
                    <a:pt x="0" y="1548831"/>
                  </a:lnTo>
                  <a:lnTo>
                    <a:pt x="7086" y="1548831"/>
                  </a:lnTo>
                  <a:lnTo>
                    <a:pt x="7086" y="1546348"/>
                  </a:lnTo>
                  <a:lnTo>
                    <a:pt x="9001" y="1546348"/>
                  </a:lnTo>
                  <a:lnTo>
                    <a:pt x="7086" y="1544056"/>
                  </a:lnTo>
                  <a:lnTo>
                    <a:pt x="7086" y="1541765"/>
                  </a:lnTo>
                  <a:close/>
                </a:path>
                <a:path w="9525" h="4244340">
                  <a:moveTo>
                    <a:pt x="4788" y="1539282"/>
                  </a:moveTo>
                  <a:lnTo>
                    <a:pt x="2298" y="1541765"/>
                  </a:lnTo>
                  <a:lnTo>
                    <a:pt x="4788" y="1541765"/>
                  </a:lnTo>
                  <a:lnTo>
                    <a:pt x="4788" y="1539282"/>
                  </a:lnTo>
                  <a:close/>
                </a:path>
                <a:path w="9525" h="4244340">
                  <a:moveTo>
                    <a:pt x="4788" y="1472822"/>
                  </a:moveTo>
                  <a:lnTo>
                    <a:pt x="2298" y="1472822"/>
                  </a:lnTo>
                  <a:lnTo>
                    <a:pt x="0" y="1475304"/>
                  </a:lnTo>
                  <a:lnTo>
                    <a:pt x="0" y="1509680"/>
                  </a:lnTo>
                  <a:lnTo>
                    <a:pt x="2298" y="1511972"/>
                  </a:lnTo>
                  <a:lnTo>
                    <a:pt x="4788" y="1511972"/>
                  </a:lnTo>
                  <a:lnTo>
                    <a:pt x="7086" y="1509680"/>
                  </a:lnTo>
                  <a:lnTo>
                    <a:pt x="9001" y="1507389"/>
                  </a:lnTo>
                  <a:lnTo>
                    <a:pt x="9001" y="1477596"/>
                  </a:lnTo>
                  <a:lnTo>
                    <a:pt x="7086" y="1475304"/>
                  </a:lnTo>
                  <a:lnTo>
                    <a:pt x="4788" y="1472822"/>
                  </a:lnTo>
                  <a:close/>
                </a:path>
                <a:path w="9525" h="4244340">
                  <a:moveTo>
                    <a:pt x="7086" y="1436154"/>
                  </a:moveTo>
                  <a:lnTo>
                    <a:pt x="0" y="1436154"/>
                  </a:lnTo>
                  <a:lnTo>
                    <a:pt x="0" y="1442838"/>
                  </a:lnTo>
                  <a:lnTo>
                    <a:pt x="2298" y="1445130"/>
                  </a:lnTo>
                  <a:lnTo>
                    <a:pt x="4788" y="1445130"/>
                  </a:lnTo>
                  <a:lnTo>
                    <a:pt x="7086" y="1442838"/>
                  </a:lnTo>
                  <a:lnTo>
                    <a:pt x="7086" y="1440928"/>
                  </a:lnTo>
                  <a:lnTo>
                    <a:pt x="9001" y="1440928"/>
                  </a:lnTo>
                  <a:lnTo>
                    <a:pt x="7086" y="1438446"/>
                  </a:lnTo>
                  <a:lnTo>
                    <a:pt x="7086" y="1436154"/>
                  </a:lnTo>
                  <a:close/>
                </a:path>
                <a:path w="9525" h="4244340">
                  <a:moveTo>
                    <a:pt x="7086" y="1369312"/>
                  </a:moveTo>
                  <a:lnTo>
                    <a:pt x="0" y="1369312"/>
                  </a:lnTo>
                  <a:lnTo>
                    <a:pt x="0" y="1403688"/>
                  </a:lnTo>
                  <a:lnTo>
                    <a:pt x="2298" y="1405979"/>
                  </a:lnTo>
                  <a:lnTo>
                    <a:pt x="4788" y="1405979"/>
                  </a:lnTo>
                  <a:lnTo>
                    <a:pt x="9001" y="1401778"/>
                  </a:lnTo>
                  <a:lnTo>
                    <a:pt x="9001" y="1373895"/>
                  </a:lnTo>
                  <a:lnTo>
                    <a:pt x="7086" y="1371603"/>
                  </a:lnTo>
                  <a:lnTo>
                    <a:pt x="7086" y="1369312"/>
                  </a:lnTo>
                  <a:close/>
                </a:path>
                <a:path w="9525" h="4244340">
                  <a:moveTo>
                    <a:pt x="4788" y="1366829"/>
                  </a:moveTo>
                  <a:lnTo>
                    <a:pt x="2298" y="1369312"/>
                  </a:lnTo>
                  <a:lnTo>
                    <a:pt x="4788" y="1369312"/>
                  </a:lnTo>
                  <a:lnTo>
                    <a:pt x="4788" y="1366829"/>
                  </a:lnTo>
                  <a:close/>
                </a:path>
                <a:path w="9525" h="4244340">
                  <a:moveTo>
                    <a:pt x="7086" y="1330161"/>
                  </a:moveTo>
                  <a:lnTo>
                    <a:pt x="0" y="1330161"/>
                  </a:lnTo>
                  <a:lnTo>
                    <a:pt x="0" y="1337227"/>
                  </a:lnTo>
                  <a:lnTo>
                    <a:pt x="2298" y="1339519"/>
                  </a:lnTo>
                  <a:lnTo>
                    <a:pt x="4788" y="1339519"/>
                  </a:lnTo>
                  <a:lnTo>
                    <a:pt x="7086" y="1337227"/>
                  </a:lnTo>
                  <a:lnTo>
                    <a:pt x="9001" y="1334936"/>
                  </a:lnTo>
                  <a:lnTo>
                    <a:pt x="7086" y="1332453"/>
                  </a:lnTo>
                  <a:lnTo>
                    <a:pt x="7086" y="1330161"/>
                  </a:lnTo>
                  <a:close/>
                </a:path>
                <a:path w="9525" h="4244340">
                  <a:moveTo>
                    <a:pt x="7086" y="1263701"/>
                  </a:moveTo>
                  <a:lnTo>
                    <a:pt x="0" y="1263701"/>
                  </a:lnTo>
                  <a:lnTo>
                    <a:pt x="0" y="1300369"/>
                  </a:lnTo>
                  <a:lnTo>
                    <a:pt x="7086" y="1300369"/>
                  </a:lnTo>
                  <a:lnTo>
                    <a:pt x="7086" y="1298077"/>
                  </a:lnTo>
                  <a:lnTo>
                    <a:pt x="9001" y="1295785"/>
                  </a:lnTo>
                  <a:lnTo>
                    <a:pt x="9001" y="1268475"/>
                  </a:lnTo>
                  <a:lnTo>
                    <a:pt x="7086" y="1265993"/>
                  </a:lnTo>
                  <a:lnTo>
                    <a:pt x="7086" y="1263701"/>
                  </a:lnTo>
                  <a:close/>
                </a:path>
                <a:path w="9525" h="4244340">
                  <a:moveTo>
                    <a:pt x="7086" y="1224550"/>
                  </a:moveTo>
                  <a:lnTo>
                    <a:pt x="0" y="1224550"/>
                  </a:lnTo>
                  <a:lnTo>
                    <a:pt x="0" y="1231616"/>
                  </a:lnTo>
                  <a:lnTo>
                    <a:pt x="2298" y="1234099"/>
                  </a:lnTo>
                  <a:lnTo>
                    <a:pt x="4788" y="1234099"/>
                  </a:lnTo>
                  <a:lnTo>
                    <a:pt x="7086" y="1231616"/>
                  </a:lnTo>
                  <a:lnTo>
                    <a:pt x="9001" y="1229325"/>
                  </a:lnTo>
                  <a:lnTo>
                    <a:pt x="7086" y="1227033"/>
                  </a:lnTo>
                  <a:lnTo>
                    <a:pt x="7086" y="1224550"/>
                  </a:lnTo>
                  <a:close/>
                </a:path>
                <a:path w="9525" h="4244340">
                  <a:moveTo>
                    <a:pt x="7086" y="1158090"/>
                  </a:moveTo>
                  <a:lnTo>
                    <a:pt x="0" y="1158090"/>
                  </a:lnTo>
                  <a:lnTo>
                    <a:pt x="0" y="1194949"/>
                  </a:lnTo>
                  <a:lnTo>
                    <a:pt x="7086" y="1194949"/>
                  </a:lnTo>
                  <a:lnTo>
                    <a:pt x="7086" y="1192466"/>
                  </a:lnTo>
                  <a:lnTo>
                    <a:pt x="9001" y="1190174"/>
                  </a:lnTo>
                  <a:lnTo>
                    <a:pt x="9001" y="1162482"/>
                  </a:lnTo>
                  <a:lnTo>
                    <a:pt x="7086" y="1160000"/>
                  </a:lnTo>
                  <a:lnTo>
                    <a:pt x="7086" y="1158090"/>
                  </a:lnTo>
                  <a:close/>
                </a:path>
                <a:path w="9525" h="4244340">
                  <a:moveTo>
                    <a:pt x="4788" y="1119130"/>
                  </a:moveTo>
                  <a:lnTo>
                    <a:pt x="2298" y="1119130"/>
                  </a:lnTo>
                  <a:lnTo>
                    <a:pt x="0" y="1121422"/>
                  </a:lnTo>
                  <a:lnTo>
                    <a:pt x="0" y="1127915"/>
                  </a:lnTo>
                  <a:lnTo>
                    <a:pt x="7086" y="1127915"/>
                  </a:lnTo>
                  <a:lnTo>
                    <a:pt x="7086" y="1125624"/>
                  </a:lnTo>
                  <a:lnTo>
                    <a:pt x="9001" y="1123332"/>
                  </a:lnTo>
                  <a:lnTo>
                    <a:pt x="4788" y="1119130"/>
                  </a:lnTo>
                  <a:close/>
                </a:path>
                <a:path w="9525" h="4244340">
                  <a:moveTo>
                    <a:pt x="4788" y="1088956"/>
                  </a:moveTo>
                  <a:lnTo>
                    <a:pt x="2298" y="1088956"/>
                  </a:lnTo>
                  <a:lnTo>
                    <a:pt x="4788" y="1091248"/>
                  </a:lnTo>
                  <a:lnTo>
                    <a:pt x="4788" y="1088956"/>
                  </a:lnTo>
                  <a:close/>
                </a:path>
                <a:path w="9525" h="4244340">
                  <a:moveTo>
                    <a:pt x="7086" y="1052097"/>
                  </a:moveTo>
                  <a:lnTo>
                    <a:pt x="0" y="1052097"/>
                  </a:lnTo>
                  <a:lnTo>
                    <a:pt x="0" y="1088956"/>
                  </a:lnTo>
                  <a:lnTo>
                    <a:pt x="7086" y="1088956"/>
                  </a:lnTo>
                  <a:lnTo>
                    <a:pt x="7086" y="1086473"/>
                  </a:lnTo>
                  <a:lnTo>
                    <a:pt x="9001" y="1084563"/>
                  </a:lnTo>
                  <a:lnTo>
                    <a:pt x="9001" y="1056872"/>
                  </a:lnTo>
                  <a:lnTo>
                    <a:pt x="7086" y="1054580"/>
                  </a:lnTo>
                  <a:lnTo>
                    <a:pt x="7086" y="1052097"/>
                  </a:lnTo>
                  <a:close/>
                </a:path>
                <a:path w="9525" h="4244340">
                  <a:moveTo>
                    <a:pt x="4788" y="1012947"/>
                  </a:moveTo>
                  <a:lnTo>
                    <a:pt x="2298" y="1012947"/>
                  </a:lnTo>
                  <a:lnTo>
                    <a:pt x="0" y="1015429"/>
                  </a:lnTo>
                  <a:lnTo>
                    <a:pt x="0" y="1022496"/>
                  </a:lnTo>
                  <a:lnTo>
                    <a:pt x="7086" y="1022496"/>
                  </a:lnTo>
                  <a:lnTo>
                    <a:pt x="7086" y="1020013"/>
                  </a:lnTo>
                  <a:lnTo>
                    <a:pt x="9001" y="1017721"/>
                  </a:lnTo>
                  <a:lnTo>
                    <a:pt x="7086" y="1015429"/>
                  </a:lnTo>
                  <a:lnTo>
                    <a:pt x="4788" y="1012947"/>
                  </a:lnTo>
                  <a:close/>
                </a:path>
                <a:path w="9525" h="4244340">
                  <a:moveTo>
                    <a:pt x="4788" y="983345"/>
                  </a:moveTo>
                  <a:lnTo>
                    <a:pt x="2298" y="983345"/>
                  </a:lnTo>
                  <a:lnTo>
                    <a:pt x="4788" y="985637"/>
                  </a:lnTo>
                  <a:lnTo>
                    <a:pt x="4788" y="983345"/>
                  </a:lnTo>
                  <a:close/>
                </a:path>
                <a:path w="9525" h="4244340">
                  <a:moveTo>
                    <a:pt x="4788" y="946677"/>
                  </a:moveTo>
                  <a:lnTo>
                    <a:pt x="2298" y="946677"/>
                  </a:lnTo>
                  <a:lnTo>
                    <a:pt x="0" y="948969"/>
                  </a:lnTo>
                  <a:lnTo>
                    <a:pt x="0" y="983345"/>
                  </a:lnTo>
                  <a:lnTo>
                    <a:pt x="7086" y="983345"/>
                  </a:lnTo>
                  <a:lnTo>
                    <a:pt x="7086" y="981053"/>
                  </a:lnTo>
                  <a:lnTo>
                    <a:pt x="9001" y="981053"/>
                  </a:lnTo>
                  <a:lnTo>
                    <a:pt x="9001" y="951261"/>
                  </a:lnTo>
                  <a:lnTo>
                    <a:pt x="7086" y="948969"/>
                  </a:lnTo>
                  <a:lnTo>
                    <a:pt x="4788" y="946677"/>
                  </a:lnTo>
                  <a:close/>
                </a:path>
                <a:path w="9525" h="4244340">
                  <a:moveTo>
                    <a:pt x="4788" y="916885"/>
                  </a:moveTo>
                  <a:lnTo>
                    <a:pt x="2298" y="916885"/>
                  </a:lnTo>
                  <a:lnTo>
                    <a:pt x="4788" y="918795"/>
                  </a:lnTo>
                  <a:lnTo>
                    <a:pt x="4788" y="916885"/>
                  </a:lnTo>
                  <a:close/>
                </a:path>
                <a:path w="9525" h="4244340">
                  <a:moveTo>
                    <a:pt x="7086" y="909819"/>
                  </a:moveTo>
                  <a:lnTo>
                    <a:pt x="0" y="909819"/>
                  </a:lnTo>
                  <a:lnTo>
                    <a:pt x="0" y="916885"/>
                  </a:lnTo>
                  <a:lnTo>
                    <a:pt x="7086" y="916885"/>
                  </a:lnTo>
                  <a:lnTo>
                    <a:pt x="7086" y="914593"/>
                  </a:lnTo>
                  <a:lnTo>
                    <a:pt x="9001" y="912110"/>
                  </a:lnTo>
                  <a:lnTo>
                    <a:pt x="7086" y="912110"/>
                  </a:lnTo>
                  <a:lnTo>
                    <a:pt x="7086" y="909819"/>
                  </a:lnTo>
                  <a:close/>
                </a:path>
                <a:path w="9525" h="4244340">
                  <a:moveTo>
                    <a:pt x="4788" y="907527"/>
                  </a:moveTo>
                  <a:lnTo>
                    <a:pt x="2298" y="909819"/>
                  </a:lnTo>
                  <a:lnTo>
                    <a:pt x="4788" y="909819"/>
                  </a:lnTo>
                  <a:lnTo>
                    <a:pt x="4788" y="907527"/>
                  </a:lnTo>
                  <a:close/>
                </a:path>
                <a:path w="9525" h="4244340">
                  <a:moveTo>
                    <a:pt x="4788" y="841067"/>
                  </a:moveTo>
                  <a:lnTo>
                    <a:pt x="2298" y="841067"/>
                  </a:lnTo>
                  <a:lnTo>
                    <a:pt x="0" y="842976"/>
                  </a:lnTo>
                  <a:lnTo>
                    <a:pt x="0" y="877734"/>
                  </a:lnTo>
                  <a:lnTo>
                    <a:pt x="2298" y="879644"/>
                  </a:lnTo>
                  <a:lnTo>
                    <a:pt x="4788" y="879644"/>
                  </a:lnTo>
                  <a:lnTo>
                    <a:pt x="7086" y="877734"/>
                  </a:lnTo>
                  <a:lnTo>
                    <a:pt x="9001" y="875443"/>
                  </a:lnTo>
                  <a:lnTo>
                    <a:pt x="9001" y="845268"/>
                  </a:lnTo>
                  <a:lnTo>
                    <a:pt x="7086" y="842976"/>
                  </a:lnTo>
                  <a:lnTo>
                    <a:pt x="4788" y="841067"/>
                  </a:lnTo>
                  <a:close/>
                </a:path>
                <a:path w="9525" h="4244340">
                  <a:moveTo>
                    <a:pt x="4788" y="810892"/>
                  </a:moveTo>
                  <a:lnTo>
                    <a:pt x="2298" y="810892"/>
                  </a:lnTo>
                  <a:lnTo>
                    <a:pt x="4788" y="813184"/>
                  </a:lnTo>
                  <a:lnTo>
                    <a:pt x="4788" y="810892"/>
                  </a:lnTo>
                  <a:close/>
                </a:path>
                <a:path w="9525" h="4244340">
                  <a:moveTo>
                    <a:pt x="7086" y="804208"/>
                  </a:moveTo>
                  <a:lnTo>
                    <a:pt x="0" y="804208"/>
                  </a:lnTo>
                  <a:lnTo>
                    <a:pt x="0" y="810892"/>
                  </a:lnTo>
                  <a:lnTo>
                    <a:pt x="7086" y="810892"/>
                  </a:lnTo>
                  <a:lnTo>
                    <a:pt x="7086" y="808600"/>
                  </a:lnTo>
                  <a:lnTo>
                    <a:pt x="9001" y="808600"/>
                  </a:lnTo>
                  <a:lnTo>
                    <a:pt x="7086" y="806118"/>
                  </a:lnTo>
                  <a:lnTo>
                    <a:pt x="7086" y="804208"/>
                  </a:lnTo>
                  <a:close/>
                </a:path>
                <a:path w="9525" h="4244340">
                  <a:moveTo>
                    <a:pt x="7086" y="737365"/>
                  </a:moveTo>
                  <a:lnTo>
                    <a:pt x="0" y="737365"/>
                  </a:lnTo>
                  <a:lnTo>
                    <a:pt x="0" y="771742"/>
                  </a:lnTo>
                  <a:lnTo>
                    <a:pt x="2298" y="774224"/>
                  </a:lnTo>
                  <a:lnTo>
                    <a:pt x="4788" y="774224"/>
                  </a:lnTo>
                  <a:lnTo>
                    <a:pt x="7086" y="771742"/>
                  </a:lnTo>
                  <a:lnTo>
                    <a:pt x="9001" y="769450"/>
                  </a:lnTo>
                  <a:lnTo>
                    <a:pt x="9001" y="739657"/>
                  </a:lnTo>
                  <a:lnTo>
                    <a:pt x="7086" y="739657"/>
                  </a:lnTo>
                  <a:lnTo>
                    <a:pt x="7086" y="737365"/>
                  </a:lnTo>
                  <a:close/>
                </a:path>
                <a:path w="9525" h="4244340">
                  <a:moveTo>
                    <a:pt x="4788" y="735074"/>
                  </a:moveTo>
                  <a:lnTo>
                    <a:pt x="2298" y="737365"/>
                  </a:lnTo>
                  <a:lnTo>
                    <a:pt x="4788" y="737365"/>
                  </a:lnTo>
                  <a:lnTo>
                    <a:pt x="4788" y="735074"/>
                  </a:lnTo>
                  <a:close/>
                </a:path>
                <a:path w="9525" h="4244340">
                  <a:moveTo>
                    <a:pt x="7086" y="698215"/>
                  </a:moveTo>
                  <a:lnTo>
                    <a:pt x="0" y="698215"/>
                  </a:lnTo>
                  <a:lnTo>
                    <a:pt x="0" y="705281"/>
                  </a:lnTo>
                  <a:lnTo>
                    <a:pt x="2298" y="707764"/>
                  </a:lnTo>
                  <a:lnTo>
                    <a:pt x="4788" y="707764"/>
                  </a:lnTo>
                  <a:lnTo>
                    <a:pt x="7086" y="705281"/>
                  </a:lnTo>
                  <a:lnTo>
                    <a:pt x="9001" y="702989"/>
                  </a:lnTo>
                  <a:lnTo>
                    <a:pt x="7086" y="700698"/>
                  </a:lnTo>
                  <a:lnTo>
                    <a:pt x="7086" y="698215"/>
                  </a:lnTo>
                  <a:close/>
                </a:path>
                <a:path w="9525" h="4244340">
                  <a:moveTo>
                    <a:pt x="7086" y="631946"/>
                  </a:moveTo>
                  <a:lnTo>
                    <a:pt x="0" y="631946"/>
                  </a:lnTo>
                  <a:lnTo>
                    <a:pt x="0" y="668613"/>
                  </a:lnTo>
                  <a:lnTo>
                    <a:pt x="7086" y="668613"/>
                  </a:lnTo>
                  <a:lnTo>
                    <a:pt x="7086" y="666322"/>
                  </a:lnTo>
                  <a:lnTo>
                    <a:pt x="9001" y="663839"/>
                  </a:lnTo>
                  <a:lnTo>
                    <a:pt x="9001" y="636147"/>
                  </a:lnTo>
                  <a:lnTo>
                    <a:pt x="7086" y="634237"/>
                  </a:lnTo>
                  <a:lnTo>
                    <a:pt x="7086" y="631946"/>
                  </a:lnTo>
                  <a:close/>
                </a:path>
                <a:path w="9525" h="4244340">
                  <a:moveTo>
                    <a:pt x="7086" y="592795"/>
                  </a:moveTo>
                  <a:lnTo>
                    <a:pt x="0" y="592795"/>
                  </a:lnTo>
                  <a:lnTo>
                    <a:pt x="0" y="599288"/>
                  </a:lnTo>
                  <a:lnTo>
                    <a:pt x="2298" y="601771"/>
                  </a:lnTo>
                  <a:lnTo>
                    <a:pt x="4788" y="601771"/>
                  </a:lnTo>
                  <a:lnTo>
                    <a:pt x="7086" y="599288"/>
                  </a:lnTo>
                  <a:lnTo>
                    <a:pt x="9001" y="597379"/>
                  </a:lnTo>
                  <a:lnTo>
                    <a:pt x="7086" y="595087"/>
                  </a:lnTo>
                  <a:lnTo>
                    <a:pt x="7086" y="592795"/>
                  </a:lnTo>
                  <a:close/>
                </a:path>
                <a:path w="9525" h="4244340">
                  <a:moveTo>
                    <a:pt x="7086" y="525762"/>
                  </a:moveTo>
                  <a:lnTo>
                    <a:pt x="0" y="525762"/>
                  </a:lnTo>
                  <a:lnTo>
                    <a:pt x="0" y="562621"/>
                  </a:lnTo>
                  <a:lnTo>
                    <a:pt x="7086" y="562621"/>
                  </a:lnTo>
                  <a:lnTo>
                    <a:pt x="7086" y="560711"/>
                  </a:lnTo>
                  <a:lnTo>
                    <a:pt x="9001" y="558419"/>
                  </a:lnTo>
                  <a:lnTo>
                    <a:pt x="9001" y="530536"/>
                  </a:lnTo>
                  <a:lnTo>
                    <a:pt x="7086" y="528245"/>
                  </a:lnTo>
                  <a:lnTo>
                    <a:pt x="7086" y="525762"/>
                  </a:lnTo>
                  <a:close/>
                </a:path>
                <a:path w="9525" h="4244340">
                  <a:moveTo>
                    <a:pt x="4788" y="486802"/>
                  </a:moveTo>
                  <a:lnTo>
                    <a:pt x="2298" y="486802"/>
                  </a:lnTo>
                  <a:lnTo>
                    <a:pt x="0" y="489094"/>
                  </a:lnTo>
                  <a:lnTo>
                    <a:pt x="0" y="496160"/>
                  </a:lnTo>
                  <a:lnTo>
                    <a:pt x="7086" y="496160"/>
                  </a:lnTo>
                  <a:lnTo>
                    <a:pt x="7086" y="493869"/>
                  </a:lnTo>
                  <a:lnTo>
                    <a:pt x="9001" y="491386"/>
                  </a:lnTo>
                  <a:lnTo>
                    <a:pt x="7086" y="489094"/>
                  </a:lnTo>
                  <a:lnTo>
                    <a:pt x="4788" y="486802"/>
                  </a:lnTo>
                  <a:close/>
                </a:path>
                <a:path w="9525" h="4244340">
                  <a:moveTo>
                    <a:pt x="4788" y="457010"/>
                  </a:moveTo>
                  <a:lnTo>
                    <a:pt x="2298" y="457010"/>
                  </a:lnTo>
                  <a:lnTo>
                    <a:pt x="4788" y="459493"/>
                  </a:lnTo>
                  <a:lnTo>
                    <a:pt x="4788" y="457010"/>
                  </a:lnTo>
                  <a:close/>
                </a:path>
                <a:path w="9525" h="4244340">
                  <a:moveTo>
                    <a:pt x="7086" y="420342"/>
                  </a:moveTo>
                  <a:lnTo>
                    <a:pt x="0" y="420342"/>
                  </a:lnTo>
                  <a:lnTo>
                    <a:pt x="0" y="457010"/>
                  </a:lnTo>
                  <a:lnTo>
                    <a:pt x="7086" y="457010"/>
                  </a:lnTo>
                  <a:lnTo>
                    <a:pt x="7086" y="454718"/>
                  </a:lnTo>
                  <a:lnTo>
                    <a:pt x="9001" y="452426"/>
                  </a:lnTo>
                  <a:lnTo>
                    <a:pt x="9001" y="424926"/>
                  </a:lnTo>
                  <a:lnTo>
                    <a:pt x="7086" y="422634"/>
                  </a:lnTo>
                  <a:lnTo>
                    <a:pt x="7086" y="420342"/>
                  </a:lnTo>
                  <a:close/>
                </a:path>
                <a:path w="9525" h="4244340">
                  <a:moveTo>
                    <a:pt x="4788" y="381192"/>
                  </a:moveTo>
                  <a:lnTo>
                    <a:pt x="2298" y="381192"/>
                  </a:lnTo>
                  <a:lnTo>
                    <a:pt x="0" y="383483"/>
                  </a:lnTo>
                  <a:lnTo>
                    <a:pt x="0" y="390549"/>
                  </a:lnTo>
                  <a:lnTo>
                    <a:pt x="7086" y="390549"/>
                  </a:lnTo>
                  <a:lnTo>
                    <a:pt x="7086" y="388258"/>
                  </a:lnTo>
                  <a:lnTo>
                    <a:pt x="9001" y="385966"/>
                  </a:lnTo>
                  <a:lnTo>
                    <a:pt x="7086" y="383483"/>
                  </a:lnTo>
                  <a:lnTo>
                    <a:pt x="4788" y="381192"/>
                  </a:lnTo>
                  <a:close/>
                </a:path>
                <a:path w="9525" h="4244340">
                  <a:moveTo>
                    <a:pt x="4788" y="351590"/>
                  </a:moveTo>
                  <a:lnTo>
                    <a:pt x="2298" y="351590"/>
                  </a:lnTo>
                  <a:lnTo>
                    <a:pt x="4788" y="353882"/>
                  </a:lnTo>
                  <a:lnTo>
                    <a:pt x="4788" y="351590"/>
                  </a:lnTo>
                  <a:close/>
                </a:path>
                <a:path w="9525" h="4244340">
                  <a:moveTo>
                    <a:pt x="4788" y="314731"/>
                  </a:moveTo>
                  <a:lnTo>
                    <a:pt x="2298" y="314731"/>
                  </a:lnTo>
                  <a:lnTo>
                    <a:pt x="0" y="317023"/>
                  </a:lnTo>
                  <a:lnTo>
                    <a:pt x="0" y="351590"/>
                  </a:lnTo>
                  <a:lnTo>
                    <a:pt x="7086" y="351590"/>
                  </a:lnTo>
                  <a:lnTo>
                    <a:pt x="7086" y="349107"/>
                  </a:lnTo>
                  <a:lnTo>
                    <a:pt x="9001" y="349107"/>
                  </a:lnTo>
                  <a:lnTo>
                    <a:pt x="9001" y="318933"/>
                  </a:lnTo>
                  <a:lnTo>
                    <a:pt x="4788" y="314731"/>
                  </a:lnTo>
                  <a:close/>
                </a:path>
                <a:path w="9525" h="4244340">
                  <a:moveTo>
                    <a:pt x="4788" y="284557"/>
                  </a:moveTo>
                  <a:lnTo>
                    <a:pt x="2298" y="284557"/>
                  </a:lnTo>
                  <a:lnTo>
                    <a:pt x="4788" y="287039"/>
                  </a:lnTo>
                  <a:lnTo>
                    <a:pt x="4788" y="284557"/>
                  </a:lnTo>
                  <a:close/>
                </a:path>
                <a:path w="9525" h="4244340">
                  <a:moveTo>
                    <a:pt x="4788" y="275581"/>
                  </a:moveTo>
                  <a:lnTo>
                    <a:pt x="2298" y="275581"/>
                  </a:lnTo>
                  <a:lnTo>
                    <a:pt x="0" y="278063"/>
                  </a:lnTo>
                  <a:lnTo>
                    <a:pt x="0" y="284557"/>
                  </a:lnTo>
                  <a:lnTo>
                    <a:pt x="7086" y="284557"/>
                  </a:lnTo>
                  <a:lnTo>
                    <a:pt x="7086" y="282265"/>
                  </a:lnTo>
                  <a:lnTo>
                    <a:pt x="9001" y="280355"/>
                  </a:lnTo>
                  <a:lnTo>
                    <a:pt x="7086" y="280355"/>
                  </a:lnTo>
                  <a:lnTo>
                    <a:pt x="7086" y="278063"/>
                  </a:lnTo>
                  <a:lnTo>
                    <a:pt x="4788" y="275581"/>
                  </a:lnTo>
                  <a:close/>
                </a:path>
                <a:path w="9525" h="4244340">
                  <a:moveTo>
                    <a:pt x="4788" y="208738"/>
                  </a:moveTo>
                  <a:lnTo>
                    <a:pt x="2298" y="208738"/>
                  </a:lnTo>
                  <a:lnTo>
                    <a:pt x="0" y="211030"/>
                  </a:lnTo>
                  <a:lnTo>
                    <a:pt x="0" y="245406"/>
                  </a:lnTo>
                  <a:lnTo>
                    <a:pt x="2298" y="247889"/>
                  </a:lnTo>
                  <a:lnTo>
                    <a:pt x="4788" y="247889"/>
                  </a:lnTo>
                  <a:lnTo>
                    <a:pt x="7086" y="245406"/>
                  </a:lnTo>
                  <a:lnTo>
                    <a:pt x="9001" y="243114"/>
                  </a:lnTo>
                  <a:lnTo>
                    <a:pt x="9001" y="213513"/>
                  </a:lnTo>
                  <a:lnTo>
                    <a:pt x="7086" y="211030"/>
                  </a:lnTo>
                  <a:lnTo>
                    <a:pt x="4788" y="208738"/>
                  </a:lnTo>
                  <a:close/>
                </a:path>
                <a:path w="9525" h="4244340">
                  <a:moveTo>
                    <a:pt x="4788" y="179137"/>
                  </a:moveTo>
                  <a:lnTo>
                    <a:pt x="2298" y="179137"/>
                  </a:lnTo>
                  <a:lnTo>
                    <a:pt x="4788" y="181429"/>
                  </a:lnTo>
                  <a:lnTo>
                    <a:pt x="4788" y="179137"/>
                  </a:lnTo>
                  <a:close/>
                </a:path>
                <a:path w="9525" h="4244340">
                  <a:moveTo>
                    <a:pt x="7086" y="172071"/>
                  </a:moveTo>
                  <a:lnTo>
                    <a:pt x="0" y="172071"/>
                  </a:lnTo>
                  <a:lnTo>
                    <a:pt x="0" y="179137"/>
                  </a:lnTo>
                  <a:lnTo>
                    <a:pt x="7086" y="179137"/>
                  </a:lnTo>
                  <a:lnTo>
                    <a:pt x="7086" y="176654"/>
                  </a:lnTo>
                  <a:lnTo>
                    <a:pt x="9001" y="176654"/>
                  </a:lnTo>
                  <a:lnTo>
                    <a:pt x="7086" y="174362"/>
                  </a:lnTo>
                  <a:lnTo>
                    <a:pt x="7086" y="172071"/>
                  </a:lnTo>
                  <a:close/>
                </a:path>
                <a:path w="9525" h="4244340">
                  <a:moveTo>
                    <a:pt x="4788" y="103128"/>
                  </a:moveTo>
                  <a:lnTo>
                    <a:pt x="2298" y="103128"/>
                  </a:lnTo>
                  <a:lnTo>
                    <a:pt x="0" y="105610"/>
                  </a:lnTo>
                  <a:lnTo>
                    <a:pt x="0" y="139986"/>
                  </a:lnTo>
                  <a:lnTo>
                    <a:pt x="2298" y="142278"/>
                  </a:lnTo>
                  <a:lnTo>
                    <a:pt x="4788" y="142278"/>
                  </a:lnTo>
                  <a:lnTo>
                    <a:pt x="7086" y="139986"/>
                  </a:lnTo>
                  <a:lnTo>
                    <a:pt x="9001" y="137504"/>
                  </a:lnTo>
                  <a:lnTo>
                    <a:pt x="9001" y="107902"/>
                  </a:lnTo>
                  <a:lnTo>
                    <a:pt x="7086" y="107902"/>
                  </a:lnTo>
                  <a:lnTo>
                    <a:pt x="7086" y="105610"/>
                  </a:lnTo>
                  <a:lnTo>
                    <a:pt x="4788" y="103128"/>
                  </a:lnTo>
                  <a:close/>
                </a:path>
                <a:path w="9525" h="4244340">
                  <a:moveTo>
                    <a:pt x="7086" y="66460"/>
                  </a:moveTo>
                  <a:lnTo>
                    <a:pt x="0" y="66460"/>
                  </a:lnTo>
                  <a:lnTo>
                    <a:pt x="0" y="73526"/>
                  </a:lnTo>
                  <a:lnTo>
                    <a:pt x="2298" y="75436"/>
                  </a:lnTo>
                  <a:lnTo>
                    <a:pt x="4788" y="75436"/>
                  </a:lnTo>
                  <a:lnTo>
                    <a:pt x="7086" y="73526"/>
                  </a:lnTo>
                  <a:lnTo>
                    <a:pt x="9001" y="71234"/>
                  </a:lnTo>
                  <a:lnTo>
                    <a:pt x="7086" y="68752"/>
                  </a:lnTo>
                  <a:lnTo>
                    <a:pt x="7086" y="66460"/>
                  </a:lnTo>
                  <a:close/>
                </a:path>
                <a:path w="9525" h="4244340">
                  <a:moveTo>
                    <a:pt x="7086" y="0"/>
                  </a:moveTo>
                  <a:lnTo>
                    <a:pt x="0" y="0"/>
                  </a:lnTo>
                  <a:lnTo>
                    <a:pt x="0" y="36667"/>
                  </a:lnTo>
                  <a:lnTo>
                    <a:pt x="7086" y="36667"/>
                  </a:lnTo>
                  <a:lnTo>
                    <a:pt x="7086" y="34376"/>
                  </a:lnTo>
                  <a:lnTo>
                    <a:pt x="9001" y="32084"/>
                  </a:lnTo>
                  <a:lnTo>
                    <a:pt x="9001" y="4201"/>
                  </a:lnTo>
                  <a:lnTo>
                    <a:pt x="7086" y="1909"/>
                  </a:lnTo>
                  <a:lnTo>
                    <a:pt x="7086" y="0"/>
                  </a:lnTo>
                  <a:close/>
                </a:path>
              </a:pathLst>
            </a:custGeom>
            <a:solidFill>
              <a:srgbClr val="000000"/>
            </a:solidFill>
          </p:spPr>
          <p:txBody>
            <a:bodyPr wrap="square" lIns="0" tIns="0" rIns="0" bIns="0" rtlCol="0"/>
            <a:lstStyle/>
            <a:p/>
          </p:txBody>
        </p:sp>
        <p:sp>
          <p:nvSpPr>
            <p:cNvPr id="55" name="object 55" descr=""/>
            <p:cNvSpPr/>
            <p:nvPr/>
          </p:nvSpPr>
          <p:spPr>
            <a:xfrm>
              <a:off x="8255582" y="1799700"/>
              <a:ext cx="9525" cy="4244340"/>
            </a:xfrm>
            <a:custGeom>
              <a:avLst/>
              <a:gdLst/>
              <a:ahLst/>
              <a:cxnLst/>
              <a:rect l="l" t="t" r="r" b="b"/>
              <a:pathLst>
                <a:path w="9525" h="4244340">
                  <a:moveTo>
                    <a:pt x="0" y="4243912"/>
                  </a:moveTo>
                  <a:lnTo>
                    <a:pt x="0" y="4216583"/>
                  </a:lnTo>
                  <a:lnTo>
                    <a:pt x="0" y="4214226"/>
                  </a:lnTo>
                  <a:lnTo>
                    <a:pt x="2298" y="4211872"/>
                  </a:lnTo>
                  <a:lnTo>
                    <a:pt x="4788" y="4211872"/>
                  </a:lnTo>
                  <a:lnTo>
                    <a:pt x="7086" y="4214226"/>
                  </a:lnTo>
                  <a:lnTo>
                    <a:pt x="9001" y="4216583"/>
                  </a:lnTo>
                  <a:lnTo>
                    <a:pt x="9001" y="4243912"/>
                  </a:lnTo>
                </a:path>
                <a:path w="9525" h="4244340">
                  <a:moveTo>
                    <a:pt x="0" y="4177475"/>
                  </a:moveTo>
                  <a:lnTo>
                    <a:pt x="0" y="4175120"/>
                  </a:lnTo>
                  <a:lnTo>
                    <a:pt x="2298" y="4172763"/>
                  </a:lnTo>
                  <a:lnTo>
                    <a:pt x="4788" y="4172763"/>
                  </a:lnTo>
                  <a:lnTo>
                    <a:pt x="7086" y="4175120"/>
                  </a:lnTo>
                  <a:lnTo>
                    <a:pt x="7086" y="4177475"/>
                  </a:lnTo>
                  <a:lnTo>
                    <a:pt x="9001" y="4177475"/>
                  </a:lnTo>
                  <a:lnTo>
                    <a:pt x="7086" y="4179831"/>
                  </a:lnTo>
                  <a:lnTo>
                    <a:pt x="7086" y="4182188"/>
                  </a:lnTo>
                  <a:lnTo>
                    <a:pt x="4788" y="4182188"/>
                  </a:lnTo>
                  <a:lnTo>
                    <a:pt x="4788" y="4184543"/>
                  </a:lnTo>
                  <a:lnTo>
                    <a:pt x="2298" y="4182188"/>
                  </a:lnTo>
                  <a:lnTo>
                    <a:pt x="0" y="4182188"/>
                  </a:lnTo>
                  <a:lnTo>
                    <a:pt x="0" y="4179831"/>
                  </a:lnTo>
                  <a:lnTo>
                    <a:pt x="0" y="4177475"/>
                  </a:lnTo>
                </a:path>
                <a:path w="9525" h="4244340">
                  <a:moveTo>
                    <a:pt x="0" y="4140723"/>
                  </a:moveTo>
                  <a:lnTo>
                    <a:pt x="0" y="4111039"/>
                  </a:lnTo>
                  <a:lnTo>
                    <a:pt x="0" y="4108682"/>
                  </a:lnTo>
                  <a:lnTo>
                    <a:pt x="2298" y="4106328"/>
                  </a:lnTo>
                  <a:lnTo>
                    <a:pt x="4788" y="4106328"/>
                  </a:lnTo>
                  <a:lnTo>
                    <a:pt x="7086" y="4108682"/>
                  </a:lnTo>
                  <a:lnTo>
                    <a:pt x="9001" y="4111039"/>
                  </a:lnTo>
                  <a:lnTo>
                    <a:pt x="9001" y="4140723"/>
                  </a:lnTo>
                  <a:lnTo>
                    <a:pt x="7086" y="4143080"/>
                  </a:lnTo>
                  <a:lnTo>
                    <a:pt x="4788" y="4145436"/>
                  </a:lnTo>
                  <a:lnTo>
                    <a:pt x="2298" y="4145436"/>
                  </a:lnTo>
                  <a:lnTo>
                    <a:pt x="0" y="4143080"/>
                  </a:lnTo>
                  <a:lnTo>
                    <a:pt x="0" y="4140723"/>
                  </a:lnTo>
                </a:path>
                <a:path w="9525" h="4244340">
                  <a:moveTo>
                    <a:pt x="0" y="4074287"/>
                  </a:moveTo>
                  <a:lnTo>
                    <a:pt x="0" y="4071931"/>
                  </a:lnTo>
                  <a:lnTo>
                    <a:pt x="0" y="4069576"/>
                  </a:lnTo>
                  <a:lnTo>
                    <a:pt x="2298" y="4069576"/>
                  </a:lnTo>
                  <a:lnTo>
                    <a:pt x="4788" y="4069576"/>
                  </a:lnTo>
                  <a:lnTo>
                    <a:pt x="7086" y="4069576"/>
                  </a:lnTo>
                  <a:lnTo>
                    <a:pt x="7086" y="4071931"/>
                  </a:lnTo>
                  <a:lnTo>
                    <a:pt x="9001" y="4074287"/>
                  </a:lnTo>
                  <a:lnTo>
                    <a:pt x="7086" y="4074287"/>
                  </a:lnTo>
                  <a:lnTo>
                    <a:pt x="7086" y="4076644"/>
                  </a:lnTo>
                  <a:lnTo>
                    <a:pt x="4788" y="4076644"/>
                  </a:lnTo>
                  <a:lnTo>
                    <a:pt x="4788" y="4078527"/>
                  </a:lnTo>
                  <a:lnTo>
                    <a:pt x="2298" y="4076644"/>
                  </a:lnTo>
                  <a:lnTo>
                    <a:pt x="0" y="4076644"/>
                  </a:lnTo>
                  <a:lnTo>
                    <a:pt x="0" y="4074287"/>
                  </a:lnTo>
                </a:path>
                <a:path w="9525" h="4244340">
                  <a:moveTo>
                    <a:pt x="0" y="4035173"/>
                  </a:moveTo>
                  <a:lnTo>
                    <a:pt x="0" y="4005018"/>
                  </a:lnTo>
                  <a:lnTo>
                    <a:pt x="0" y="4003146"/>
                  </a:lnTo>
                  <a:lnTo>
                    <a:pt x="2298" y="4000778"/>
                  </a:lnTo>
                  <a:lnTo>
                    <a:pt x="4788" y="4000778"/>
                  </a:lnTo>
                  <a:lnTo>
                    <a:pt x="7086" y="4003146"/>
                  </a:lnTo>
                  <a:lnTo>
                    <a:pt x="7086" y="4005018"/>
                  </a:lnTo>
                  <a:lnTo>
                    <a:pt x="9001" y="4005018"/>
                  </a:lnTo>
                  <a:lnTo>
                    <a:pt x="9001" y="4035173"/>
                  </a:lnTo>
                  <a:lnTo>
                    <a:pt x="7086" y="4037541"/>
                  </a:lnTo>
                  <a:lnTo>
                    <a:pt x="4788" y="4039890"/>
                  </a:lnTo>
                  <a:lnTo>
                    <a:pt x="2298" y="4039890"/>
                  </a:lnTo>
                  <a:lnTo>
                    <a:pt x="0" y="4037541"/>
                  </a:lnTo>
                  <a:lnTo>
                    <a:pt x="0" y="4035173"/>
                  </a:lnTo>
                </a:path>
                <a:path w="9525" h="4244340">
                  <a:moveTo>
                    <a:pt x="0" y="3968274"/>
                  </a:moveTo>
                  <a:lnTo>
                    <a:pt x="0" y="3966383"/>
                  </a:lnTo>
                  <a:lnTo>
                    <a:pt x="0" y="3964034"/>
                  </a:lnTo>
                  <a:lnTo>
                    <a:pt x="2298" y="3964034"/>
                  </a:lnTo>
                  <a:lnTo>
                    <a:pt x="4788" y="3964034"/>
                  </a:lnTo>
                  <a:lnTo>
                    <a:pt x="7086" y="3964034"/>
                  </a:lnTo>
                  <a:lnTo>
                    <a:pt x="7086" y="3966383"/>
                  </a:lnTo>
                  <a:lnTo>
                    <a:pt x="9001" y="3968274"/>
                  </a:lnTo>
                  <a:lnTo>
                    <a:pt x="7086" y="3970623"/>
                  </a:lnTo>
                  <a:lnTo>
                    <a:pt x="4788" y="3972991"/>
                  </a:lnTo>
                  <a:lnTo>
                    <a:pt x="2298" y="3972991"/>
                  </a:lnTo>
                  <a:lnTo>
                    <a:pt x="0" y="3970623"/>
                  </a:lnTo>
                  <a:lnTo>
                    <a:pt x="0" y="3968274"/>
                  </a:lnTo>
                </a:path>
                <a:path w="9525" h="4244340">
                  <a:moveTo>
                    <a:pt x="0" y="3929161"/>
                  </a:moveTo>
                  <a:lnTo>
                    <a:pt x="0" y="3901832"/>
                  </a:lnTo>
                  <a:lnTo>
                    <a:pt x="0" y="3899483"/>
                  </a:lnTo>
                  <a:lnTo>
                    <a:pt x="0" y="3897115"/>
                  </a:lnTo>
                  <a:lnTo>
                    <a:pt x="2298" y="3897115"/>
                  </a:lnTo>
                  <a:lnTo>
                    <a:pt x="4788" y="3897115"/>
                  </a:lnTo>
                  <a:lnTo>
                    <a:pt x="7086" y="3897115"/>
                  </a:lnTo>
                  <a:lnTo>
                    <a:pt x="7086" y="3899483"/>
                  </a:lnTo>
                  <a:lnTo>
                    <a:pt x="9001" y="3901832"/>
                  </a:lnTo>
                  <a:lnTo>
                    <a:pt x="9001" y="3929161"/>
                  </a:lnTo>
                  <a:lnTo>
                    <a:pt x="7086" y="3931529"/>
                  </a:lnTo>
                  <a:lnTo>
                    <a:pt x="7086" y="3933878"/>
                  </a:lnTo>
                  <a:lnTo>
                    <a:pt x="4788" y="3933878"/>
                  </a:lnTo>
                  <a:lnTo>
                    <a:pt x="2298" y="3933878"/>
                  </a:lnTo>
                  <a:lnTo>
                    <a:pt x="0" y="3933878"/>
                  </a:lnTo>
                  <a:lnTo>
                    <a:pt x="0" y="3931529"/>
                  </a:lnTo>
                  <a:lnTo>
                    <a:pt x="0" y="3929161"/>
                  </a:lnTo>
                </a:path>
                <a:path w="9525" h="4244340">
                  <a:moveTo>
                    <a:pt x="0" y="3862720"/>
                  </a:moveTo>
                  <a:lnTo>
                    <a:pt x="0" y="3860371"/>
                  </a:lnTo>
                  <a:lnTo>
                    <a:pt x="0" y="3858022"/>
                  </a:lnTo>
                  <a:lnTo>
                    <a:pt x="2298" y="3858022"/>
                  </a:lnTo>
                  <a:lnTo>
                    <a:pt x="4788" y="3858022"/>
                  </a:lnTo>
                  <a:lnTo>
                    <a:pt x="7086" y="3858022"/>
                  </a:lnTo>
                  <a:lnTo>
                    <a:pt x="7086" y="3860371"/>
                  </a:lnTo>
                  <a:lnTo>
                    <a:pt x="9001" y="3862720"/>
                  </a:lnTo>
                  <a:lnTo>
                    <a:pt x="7086" y="3865088"/>
                  </a:lnTo>
                  <a:lnTo>
                    <a:pt x="4788" y="3867437"/>
                  </a:lnTo>
                  <a:lnTo>
                    <a:pt x="2298" y="3867437"/>
                  </a:lnTo>
                  <a:lnTo>
                    <a:pt x="0" y="3865088"/>
                  </a:lnTo>
                  <a:lnTo>
                    <a:pt x="0" y="3862720"/>
                  </a:lnTo>
                </a:path>
                <a:path w="9525" h="4244340">
                  <a:moveTo>
                    <a:pt x="0" y="3823627"/>
                  </a:moveTo>
                  <a:lnTo>
                    <a:pt x="0" y="3796298"/>
                  </a:lnTo>
                  <a:lnTo>
                    <a:pt x="0" y="3793930"/>
                  </a:lnTo>
                  <a:lnTo>
                    <a:pt x="0" y="3791581"/>
                  </a:lnTo>
                  <a:lnTo>
                    <a:pt x="2298" y="3791581"/>
                  </a:lnTo>
                  <a:lnTo>
                    <a:pt x="4788" y="3791581"/>
                  </a:lnTo>
                  <a:lnTo>
                    <a:pt x="7086" y="3791581"/>
                  </a:lnTo>
                  <a:lnTo>
                    <a:pt x="7086" y="3793930"/>
                  </a:lnTo>
                  <a:lnTo>
                    <a:pt x="9001" y="3796298"/>
                  </a:lnTo>
                  <a:lnTo>
                    <a:pt x="9001" y="3823627"/>
                  </a:lnTo>
                  <a:lnTo>
                    <a:pt x="7086" y="3825976"/>
                  </a:lnTo>
                  <a:lnTo>
                    <a:pt x="7086" y="3828325"/>
                  </a:lnTo>
                  <a:lnTo>
                    <a:pt x="4788" y="3828325"/>
                  </a:lnTo>
                  <a:lnTo>
                    <a:pt x="2298" y="3828325"/>
                  </a:lnTo>
                  <a:lnTo>
                    <a:pt x="0" y="3828325"/>
                  </a:lnTo>
                  <a:lnTo>
                    <a:pt x="0" y="3825976"/>
                  </a:lnTo>
                  <a:lnTo>
                    <a:pt x="0" y="3823627"/>
                  </a:lnTo>
                </a:path>
                <a:path w="9525" h="4244340">
                  <a:moveTo>
                    <a:pt x="0" y="3757186"/>
                  </a:moveTo>
                  <a:lnTo>
                    <a:pt x="0" y="3754837"/>
                  </a:lnTo>
                  <a:lnTo>
                    <a:pt x="2298" y="3752468"/>
                  </a:lnTo>
                  <a:lnTo>
                    <a:pt x="4788" y="3752468"/>
                  </a:lnTo>
                  <a:lnTo>
                    <a:pt x="7086" y="3754837"/>
                  </a:lnTo>
                  <a:lnTo>
                    <a:pt x="9001" y="3757186"/>
                  </a:lnTo>
                  <a:lnTo>
                    <a:pt x="7086" y="3759535"/>
                  </a:lnTo>
                  <a:lnTo>
                    <a:pt x="7086" y="3761425"/>
                  </a:lnTo>
                  <a:lnTo>
                    <a:pt x="4788" y="3761425"/>
                  </a:lnTo>
                  <a:lnTo>
                    <a:pt x="2298" y="3761425"/>
                  </a:lnTo>
                  <a:lnTo>
                    <a:pt x="0" y="3761425"/>
                  </a:lnTo>
                  <a:lnTo>
                    <a:pt x="0" y="3759535"/>
                  </a:lnTo>
                  <a:lnTo>
                    <a:pt x="0" y="3757186"/>
                  </a:lnTo>
                </a:path>
                <a:path w="9525" h="4244340">
                  <a:moveTo>
                    <a:pt x="0" y="3718073"/>
                  </a:moveTo>
                  <a:lnTo>
                    <a:pt x="0" y="3690267"/>
                  </a:lnTo>
                  <a:lnTo>
                    <a:pt x="0" y="3687918"/>
                  </a:lnTo>
                  <a:lnTo>
                    <a:pt x="0" y="3685569"/>
                  </a:lnTo>
                  <a:lnTo>
                    <a:pt x="2298" y="3685569"/>
                  </a:lnTo>
                  <a:lnTo>
                    <a:pt x="4788" y="3685569"/>
                  </a:lnTo>
                  <a:lnTo>
                    <a:pt x="7086" y="3685569"/>
                  </a:lnTo>
                  <a:lnTo>
                    <a:pt x="7086" y="3687918"/>
                  </a:lnTo>
                  <a:lnTo>
                    <a:pt x="9001" y="3690267"/>
                  </a:lnTo>
                  <a:lnTo>
                    <a:pt x="9001" y="3718073"/>
                  </a:lnTo>
                  <a:lnTo>
                    <a:pt x="7086" y="3720422"/>
                  </a:lnTo>
                  <a:lnTo>
                    <a:pt x="7086" y="3722790"/>
                  </a:lnTo>
                  <a:lnTo>
                    <a:pt x="4788" y="3722790"/>
                  </a:lnTo>
                  <a:lnTo>
                    <a:pt x="4788" y="3724681"/>
                  </a:lnTo>
                  <a:lnTo>
                    <a:pt x="2298" y="3722790"/>
                  </a:lnTo>
                  <a:lnTo>
                    <a:pt x="0" y="3722790"/>
                  </a:lnTo>
                  <a:lnTo>
                    <a:pt x="0" y="3720422"/>
                  </a:lnTo>
                  <a:lnTo>
                    <a:pt x="0" y="3718073"/>
                  </a:lnTo>
                </a:path>
                <a:path w="9525" h="4244340">
                  <a:moveTo>
                    <a:pt x="0" y="3651174"/>
                  </a:moveTo>
                  <a:lnTo>
                    <a:pt x="0" y="3648806"/>
                  </a:lnTo>
                  <a:lnTo>
                    <a:pt x="2298" y="3646934"/>
                  </a:lnTo>
                  <a:lnTo>
                    <a:pt x="4788" y="3646934"/>
                  </a:lnTo>
                  <a:lnTo>
                    <a:pt x="7086" y="3648806"/>
                  </a:lnTo>
                  <a:lnTo>
                    <a:pt x="9001" y="3651174"/>
                  </a:lnTo>
                  <a:lnTo>
                    <a:pt x="7086" y="3653523"/>
                  </a:lnTo>
                  <a:lnTo>
                    <a:pt x="7086" y="3655872"/>
                  </a:lnTo>
                  <a:lnTo>
                    <a:pt x="4788" y="3655872"/>
                  </a:lnTo>
                  <a:lnTo>
                    <a:pt x="2298" y="3655872"/>
                  </a:lnTo>
                  <a:lnTo>
                    <a:pt x="0" y="3655872"/>
                  </a:lnTo>
                  <a:lnTo>
                    <a:pt x="0" y="3653523"/>
                  </a:lnTo>
                  <a:lnTo>
                    <a:pt x="0" y="3651174"/>
                  </a:lnTo>
                </a:path>
                <a:path w="9525" h="4244340">
                  <a:moveTo>
                    <a:pt x="0" y="3614410"/>
                  </a:moveTo>
                  <a:lnTo>
                    <a:pt x="0" y="3584732"/>
                  </a:lnTo>
                  <a:lnTo>
                    <a:pt x="0" y="3582383"/>
                  </a:lnTo>
                  <a:lnTo>
                    <a:pt x="2298" y="3580015"/>
                  </a:lnTo>
                  <a:lnTo>
                    <a:pt x="4788" y="3580015"/>
                  </a:lnTo>
                  <a:lnTo>
                    <a:pt x="7086" y="3582383"/>
                  </a:lnTo>
                  <a:lnTo>
                    <a:pt x="9001" y="3584732"/>
                  </a:lnTo>
                  <a:lnTo>
                    <a:pt x="9001" y="3614410"/>
                  </a:lnTo>
                  <a:lnTo>
                    <a:pt x="7086" y="3614410"/>
                  </a:lnTo>
                  <a:lnTo>
                    <a:pt x="7086" y="3616779"/>
                  </a:lnTo>
                  <a:lnTo>
                    <a:pt x="4788" y="3616779"/>
                  </a:lnTo>
                  <a:lnTo>
                    <a:pt x="4788" y="3619128"/>
                  </a:lnTo>
                  <a:lnTo>
                    <a:pt x="2298" y="3616779"/>
                  </a:lnTo>
                  <a:lnTo>
                    <a:pt x="0" y="3616779"/>
                  </a:lnTo>
                  <a:lnTo>
                    <a:pt x="0" y="3614410"/>
                  </a:lnTo>
                </a:path>
                <a:path w="9525" h="4244340">
                  <a:moveTo>
                    <a:pt x="0" y="3545620"/>
                  </a:moveTo>
                  <a:lnTo>
                    <a:pt x="0" y="3543271"/>
                  </a:lnTo>
                  <a:lnTo>
                    <a:pt x="2298" y="3540903"/>
                  </a:lnTo>
                  <a:lnTo>
                    <a:pt x="4788" y="3540903"/>
                  </a:lnTo>
                  <a:lnTo>
                    <a:pt x="7086" y="3543271"/>
                  </a:lnTo>
                  <a:lnTo>
                    <a:pt x="7086" y="3545620"/>
                  </a:lnTo>
                  <a:lnTo>
                    <a:pt x="9001" y="3545620"/>
                  </a:lnTo>
                  <a:lnTo>
                    <a:pt x="7086" y="3547988"/>
                  </a:lnTo>
                  <a:lnTo>
                    <a:pt x="7086" y="3550337"/>
                  </a:lnTo>
                  <a:lnTo>
                    <a:pt x="4788" y="3550337"/>
                  </a:lnTo>
                  <a:lnTo>
                    <a:pt x="4788" y="3552686"/>
                  </a:lnTo>
                  <a:lnTo>
                    <a:pt x="2298" y="3550337"/>
                  </a:lnTo>
                  <a:lnTo>
                    <a:pt x="0" y="3550337"/>
                  </a:lnTo>
                  <a:lnTo>
                    <a:pt x="0" y="3547988"/>
                  </a:lnTo>
                  <a:lnTo>
                    <a:pt x="0" y="3545620"/>
                  </a:lnTo>
                </a:path>
                <a:path w="9525" h="4244340">
                  <a:moveTo>
                    <a:pt x="0" y="3508876"/>
                  </a:moveTo>
                  <a:lnTo>
                    <a:pt x="0" y="3479179"/>
                  </a:lnTo>
                  <a:lnTo>
                    <a:pt x="0" y="3476830"/>
                  </a:lnTo>
                  <a:lnTo>
                    <a:pt x="2298" y="3474481"/>
                  </a:lnTo>
                  <a:lnTo>
                    <a:pt x="4788" y="3474481"/>
                  </a:lnTo>
                  <a:lnTo>
                    <a:pt x="7086" y="3476830"/>
                  </a:lnTo>
                  <a:lnTo>
                    <a:pt x="9001" y="3479179"/>
                  </a:lnTo>
                  <a:lnTo>
                    <a:pt x="9001" y="3508876"/>
                  </a:lnTo>
                  <a:lnTo>
                    <a:pt x="7086" y="3511225"/>
                  </a:lnTo>
                  <a:lnTo>
                    <a:pt x="4788" y="3513593"/>
                  </a:lnTo>
                  <a:lnTo>
                    <a:pt x="2298" y="3513593"/>
                  </a:lnTo>
                  <a:lnTo>
                    <a:pt x="0" y="3511225"/>
                  </a:lnTo>
                  <a:lnTo>
                    <a:pt x="0" y="3508876"/>
                  </a:lnTo>
                </a:path>
                <a:path w="9525" h="4244340">
                  <a:moveTo>
                    <a:pt x="0" y="3442435"/>
                  </a:moveTo>
                  <a:lnTo>
                    <a:pt x="0" y="3440086"/>
                  </a:lnTo>
                  <a:lnTo>
                    <a:pt x="0" y="3437718"/>
                  </a:lnTo>
                  <a:lnTo>
                    <a:pt x="2298" y="3437718"/>
                  </a:lnTo>
                  <a:lnTo>
                    <a:pt x="4788" y="3437718"/>
                  </a:lnTo>
                  <a:lnTo>
                    <a:pt x="7086" y="3437718"/>
                  </a:lnTo>
                  <a:lnTo>
                    <a:pt x="7086" y="3440086"/>
                  </a:lnTo>
                  <a:lnTo>
                    <a:pt x="9001" y="3442435"/>
                  </a:lnTo>
                  <a:lnTo>
                    <a:pt x="7086" y="3442435"/>
                  </a:lnTo>
                  <a:lnTo>
                    <a:pt x="7086" y="3444325"/>
                  </a:lnTo>
                  <a:lnTo>
                    <a:pt x="4788" y="3444325"/>
                  </a:lnTo>
                  <a:lnTo>
                    <a:pt x="4788" y="3446675"/>
                  </a:lnTo>
                  <a:lnTo>
                    <a:pt x="2298" y="3444325"/>
                  </a:lnTo>
                  <a:lnTo>
                    <a:pt x="0" y="3444325"/>
                  </a:lnTo>
                  <a:lnTo>
                    <a:pt x="0" y="3442435"/>
                  </a:lnTo>
                </a:path>
                <a:path w="9525" h="4244340">
                  <a:moveTo>
                    <a:pt x="0" y="3403323"/>
                  </a:moveTo>
                  <a:lnTo>
                    <a:pt x="0" y="3373167"/>
                  </a:lnTo>
                  <a:lnTo>
                    <a:pt x="0" y="3370818"/>
                  </a:lnTo>
                  <a:lnTo>
                    <a:pt x="2298" y="3368469"/>
                  </a:lnTo>
                  <a:lnTo>
                    <a:pt x="4788" y="3368469"/>
                  </a:lnTo>
                  <a:lnTo>
                    <a:pt x="7086" y="3370818"/>
                  </a:lnTo>
                  <a:lnTo>
                    <a:pt x="7086" y="3373167"/>
                  </a:lnTo>
                  <a:lnTo>
                    <a:pt x="9001" y="3373167"/>
                  </a:lnTo>
                  <a:lnTo>
                    <a:pt x="9001" y="3403323"/>
                  </a:lnTo>
                  <a:lnTo>
                    <a:pt x="7086" y="3405213"/>
                  </a:lnTo>
                  <a:lnTo>
                    <a:pt x="4788" y="3407562"/>
                  </a:lnTo>
                  <a:lnTo>
                    <a:pt x="2298" y="3407562"/>
                  </a:lnTo>
                  <a:lnTo>
                    <a:pt x="0" y="3405213"/>
                  </a:lnTo>
                  <a:lnTo>
                    <a:pt x="0" y="3403323"/>
                  </a:lnTo>
                </a:path>
                <a:path w="9525" h="4244340">
                  <a:moveTo>
                    <a:pt x="0" y="3336423"/>
                  </a:moveTo>
                  <a:lnTo>
                    <a:pt x="0" y="3334074"/>
                  </a:lnTo>
                  <a:lnTo>
                    <a:pt x="0" y="3331706"/>
                  </a:lnTo>
                  <a:lnTo>
                    <a:pt x="2298" y="3331706"/>
                  </a:lnTo>
                  <a:lnTo>
                    <a:pt x="4788" y="3331706"/>
                  </a:lnTo>
                  <a:lnTo>
                    <a:pt x="7086" y="3331706"/>
                  </a:lnTo>
                  <a:lnTo>
                    <a:pt x="7086" y="3334074"/>
                  </a:lnTo>
                  <a:lnTo>
                    <a:pt x="9001" y="3336423"/>
                  </a:lnTo>
                  <a:lnTo>
                    <a:pt x="7086" y="3338772"/>
                  </a:lnTo>
                  <a:lnTo>
                    <a:pt x="4788" y="3341140"/>
                  </a:lnTo>
                  <a:lnTo>
                    <a:pt x="2298" y="3341140"/>
                  </a:lnTo>
                  <a:lnTo>
                    <a:pt x="0" y="3338772"/>
                  </a:lnTo>
                  <a:lnTo>
                    <a:pt x="0" y="3336423"/>
                  </a:lnTo>
                </a:path>
                <a:path w="9525" h="4244340">
                  <a:moveTo>
                    <a:pt x="0" y="3297311"/>
                  </a:moveTo>
                  <a:lnTo>
                    <a:pt x="0" y="3269982"/>
                  </a:lnTo>
                  <a:lnTo>
                    <a:pt x="0" y="3267633"/>
                  </a:lnTo>
                  <a:lnTo>
                    <a:pt x="0" y="3265265"/>
                  </a:lnTo>
                  <a:lnTo>
                    <a:pt x="2298" y="3265265"/>
                  </a:lnTo>
                  <a:lnTo>
                    <a:pt x="4788" y="3262916"/>
                  </a:lnTo>
                  <a:lnTo>
                    <a:pt x="4788" y="3265265"/>
                  </a:lnTo>
                  <a:lnTo>
                    <a:pt x="7086" y="3265265"/>
                  </a:lnTo>
                  <a:lnTo>
                    <a:pt x="7086" y="3267633"/>
                  </a:lnTo>
                  <a:lnTo>
                    <a:pt x="9001" y="3269982"/>
                  </a:lnTo>
                  <a:lnTo>
                    <a:pt x="9001" y="3297311"/>
                  </a:lnTo>
                  <a:lnTo>
                    <a:pt x="7086" y="3299660"/>
                  </a:lnTo>
                  <a:lnTo>
                    <a:pt x="7086" y="3302028"/>
                  </a:lnTo>
                  <a:lnTo>
                    <a:pt x="4788" y="3302028"/>
                  </a:lnTo>
                  <a:lnTo>
                    <a:pt x="2298" y="3302028"/>
                  </a:lnTo>
                  <a:lnTo>
                    <a:pt x="0" y="3302028"/>
                  </a:lnTo>
                  <a:lnTo>
                    <a:pt x="0" y="3299660"/>
                  </a:lnTo>
                  <a:lnTo>
                    <a:pt x="0" y="3297311"/>
                  </a:lnTo>
                </a:path>
                <a:path w="9525" h="4244340">
                  <a:moveTo>
                    <a:pt x="0" y="3230869"/>
                  </a:moveTo>
                  <a:lnTo>
                    <a:pt x="0" y="3228520"/>
                  </a:lnTo>
                  <a:lnTo>
                    <a:pt x="0" y="3226171"/>
                  </a:lnTo>
                  <a:lnTo>
                    <a:pt x="2298" y="3226171"/>
                  </a:lnTo>
                  <a:lnTo>
                    <a:pt x="4788" y="3226171"/>
                  </a:lnTo>
                  <a:lnTo>
                    <a:pt x="7086" y="3226171"/>
                  </a:lnTo>
                  <a:lnTo>
                    <a:pt x="7086" y="3228520"/>
                  </a:lnTo>
                  <a:lnTo>
                    <a:pt x="9001" y="3230869"/>
                  </a:lnTo>
                  <a:lnTo>
                    <a:pt x="7086" y="3233238"/>
                  </a:lnTo>
                  <a:lnTo>
                    <a:pt x="4788" y="3235587"/>
                  </a:lnTo>
                  <a:lnTo>
                    <a:pt x="2298" y="3235587"/>
                  </a:lnTo>
                  <a:lnTo>
                    <a:pt x="0" y="3233238"/>
                  </a:lnTo>
                  <a:lnTo>
                    <a:pt x="0" y="3230869"/>
                  </a:lnTo>
                </a:path>
                <a:path w="9525" h="4244340">
                  <a:moveTo>
                    <a:pt x="0" y="3191776"/>
                  </a:moveTo>
                  <a:lnTo>
                    <a:pt x="0" y="3163970"/>
                  </a:lnTo>
                  <a:lnTo>
                    <a:pt x="0" y="3161621"/>
                  </a:lnTo>
                  <a:lnTo>
                    <a:pt x="0" y="3159730"/>
                  </a:lnTo>
                  <a:lnTo>
                    <a:pt x="2298" y="3159730"/>
                  </a:lnTo>
                  <a:lnTo>
                    <a:pt x="4788" y="3159730"/>
                  </a:lnTo>
                  <a:lnTo>
                    <a:pt x="7086" y="3159730"/>
                  </a:lnTo>
                  <a:lnTo>
                    <a:pt x="7086" y="3161621"/>
                  </a:lnTo>
                  <a:lnTo>
                    <a:pt x="9001" y="3163970"/>
                  </a:lnTo>
                  <a:lnTo>
                    <a:pt x="9001" y="3191776"/>
                  </a:lnTo>
                  <a:lnTo>
                    <a:pt x="7086" y="3194125"/>
                  </a:lnTo>
                  <a:lnTo>
                    <a:pt x="7086" y="3196474"/>
                  </a:lnTo>
                  <a:lnTo>
                    <a:pt x="4788" y="3196474"/>
                  </a:lnTo>
                  <a:lnTo>
                    <a:pt x="2298" y="3196474"/>
                  </a:lnTo>
                  <a:lnTo>
                    <a:pt x="0" y="3196474"/>
                  </a:lnTo>
                  <a:lnTo>
                    <a:pt x="0" y="3194125"/>
                  </a:lnTo>
                  <a:lnTo>
                    <a:pt x="0" y="3191776"/>
                  </a:lnTo>
                </a:path>
                <a:path w="9525" h="4244340">
                  <a:moveTo>
                    <a:pt x="0" y="3124858"/>
                  </a:moveTo>
                  <a:lnTo>
                    <a:pt x="0" y="3122967"/>
                  </a:lnTo>
                  <a:lnTo>
                    <a:pt x="2298" y="3120618"/>
                  </a:lnTo>
                  <a:lnTo>
                    <a:pt x="4788" y="3120618"/>
                  </a:lnTo>
                  <a:lnTo>
                    <a:pt x="7086" y="3122967"/>
                  </a:lnTo>
                  <a:lnTo>
                    <a:pt x="9001" y="3124858"/>
                  </a:lnTo>
                  <a:lnTo>
                    <a:pt x="7086" y="3127226"/>
                  </a:lnTo>
                  <a:lnTo>
                    <a:pt x="7086" y="3129575"/>
                  </a:lnTo>
                  <a:lnTo>
                    <a:pt x="4788" y="3129575"/>
                  </a:lnTo>
                  <a:lnTo>
                    <a:pt x="2298" y="3129575"/>
                  </a:lnTo>
                  <a:lnTo>
                    <a:pt x="0" y="3129575"/>
                  </a:lnTo>
                  <a:lnTo>
                    <a:pt x="0" y="3127226"/>
                  </a:lnTo>
                  <a:lnTo>
                    <a:pt x="0" y="3124858"/>
                  </a:lnTo>
                </a:path>
                <a:path w="9525" h="4244340">
                  <a:moveTo>
                    <a:pt x="0" y="3086223"/>
                  </a:moveTo>
                  <a:lnTo>
                    <a:pt x="0" y="3058416"/>
                  </a:lnTo>
                  <a:lnTo>
                    <a:pt x="0" y="3056067"/>
                  </a:lnTo>
                  <a:lnTo>
                    <a:pt x="0" y="3053718"/>
                  </a:lnTo>
                  <a:lnTo>
                    <a:pt x="2298" y="3053718"/>
                  </a:lnTo>
                  <a:lnTo>
                    <a:pt x="4788" y="3053718"/>
                  </a:lnTo>
                  <a:lnTo>
                    <a:pt x="7086" y="3053718"/>
                  </a:lnTo>
                  <a:lnTo>
                    <a:pt x="7086" y="3056067"/>
                  </a:lnTo>
                  <a:lnTo>
                    <a:pt x="9001" y="3058416"/>
                  </a:lnTo>
                  <a:lnTo>
                    <a:pt x="9001" y="3086223"/>
                  </a:lnTo>
                  <a:lnTo>
                    <a:pt x="7086" y="3088113"/>
                  </a:lnTo>
                  <a:lnTo>
                    <a:pt x="7086" y="3090462"/>
                  </a:lnTo>
                  <a:lnTo>
                    <a:pt x="4788" y="3090462"/>
                  </a:lnTo>
                  <a:lnTo>
                    <a:pt x="2298" y="3090462"/>
                  </a:lnTo>
                  <a:lnTo>
                    <a:pt x="0" y="3090462"/>
                  </a:lnTo>
                  <a:lnTo>
                    <a:pt x="0" y="3088113"/>
                  </a:lnTo>
                  <a:lnTo>
                    <a:pt x="0" y="3086223"/>
                  </a:lnTo>
                </a:path>
                <a:path w="9525" h="4244340">
                  <a:moveTo>
                    <a:pt x="0" y="3019323"/>
                  </a:moveTo>
                  <a:lnTo>
                    <a:pt x="0" y="3016955"/>
                  </a:lnTo>
                  <a:lnTo>
                    <a:pt x="2298" y="3014606"/>
                  </a:lnTo>
                  <a:lnTo>
                    <a:pt x="4788" y="3014606"/>
                  </a:lnTo>
                  <a:lnTo>
                    <a:pt x="7086" y="3016955"/>
                  </a:lnTo>
                  <a:lnTo>
                    <a:pt x="9001" y="3019323"/>
                  </a:lnTo>
                  <a:lnTo>
                    <a:pt x="7086" y="3021672"/>
                  </a:lnTo>
                  <a:lnTo>
                    <a:pt x="7086" y="3024021"/>
                  </a:lnTo>
                  <a:lnTo>
                    <a:pt x="4788" y="3024021"/>
                  </a:lnTo>
                  <a:lnTo>
                    <a:pt x="2298" y="3024021"/>
                  </a:lnTo>
                  <a:lnTo>
                    <a:pt x="0" y="3024021"/>
                  </a:lnTo>
                  <a:lnTo>
                    <a:pt x="0" y="3021672"/>
                  </a:lnTo>
                  <a:lnTo>
                    <a:pt x="0" y="3019323"/>
                  </a:lnTo>
                </a:path>
                <a:path w="9525" h="4244340">
                  <a:moveTo>
                    <a:pt x="0" y="2982560"/>
                  </a:moveTo>
                  <a:lnTo>
                    <a:pt x="0" y="2952882"/>
                  </a:lnTo>
                  <a:lnTo>
                    <a:pt x="0" y="2950533"/>
                  </a:lnTo>
                  <a:lnTo>
                    <a:pt x="2298" y="2948165"/>
                  </a:lnTo>
                  <a:lnTo>
                    <a:pt x="4788" y="2948165"/>
                  </a:lnTo>
                  <a:lnTo>
                    <a:pt x="7086" y="2950533"/>
                  </a:lnTo>
                  <a:lnTo>
                    <a:pt x="9001" y="2952882"/>
                  </a:lnTo>
                  <a:lnTo>
                    <a:pt x="9001" y="2982560"/>
                  </a:lnTo>
                  <a:lnTo>
                    <a:pt x="7086" y="2982560"/>
                  </a:lnTo>
                  <a:lnTo>
                    <a:pt x="7086" y="2984928"/>
                  </a:lnTo>
                  <a:lnTo>
                    <a:pt x="4788" y="2984928"/>
                  </a:lnTo>
                  <a:lnTo>
                    <a:pt x="4788" y="2987277"/>
                  </a:lnTo>
                  <a:lnTo>
                    <a:pt x="2298" y="2984928"/>
                  </a:lnTo>
                  <a:lnTo>
                    <a:pt x="0" y="2984928"/>
                  </a:lnTo>
                  <a:lnTo>
                    <a:pt x="0" y="2982560"/>
                  </a:lnTo>
                </a:path>
                <a:path w="9525" h="4244340">
                  <a:moveTo>
                    <a:pt x="0" y="2453895"/>
                  </a:moveTo>
                  <a:lnTo>
                    <a:pt x="0" y="2426566"/>
                  </a:lnTo>
                  <a:lnTo>
                    <a:pt x="0" y="2424217"/>
                  </a:lnTo>
                  <a:lnTo>
                    <a:pt x="0" y="2421868"/>
                  </a:lnTo>
                  <a:lnTo>
                    <a:pt x="2298" y="2421868"/>
                  </a:lnTo>
                  <a:lnTo>
                    <a:pt x="4788" y="2421868"/>
                  </a:lnTo>
                  <a:lnTo>
                    <a:pt x="7086" y="2421868"/>
                  </a:lnTo>
                  <a:lnTo>
                    <a:pt x="7086" y="2424217"/>
                  </a:lnTo>
                  <a:lnTo>
                    <a:pt x="9001" y="2426566"/>
                  </a:lnTo>
                  <a:lnTo>
                    <a:pt x="9001" y="2453895"/>
                  </a:lnTo>
                  <a:lnTo>
                    <a:pt x="7086" y="2456263"/>
                  </a:lnTo>
                  <a:lnTo>
                    <a:pt x="7086" y="2458612"/>
                  </a:lnTo>
                  <a:lnTo>
                    <a:pt x="4788" y="2458612"/>
                  </a:lnTo>
                  <a:lnTo>
                    <a:pt x="2298" y="2458612"/>
                  </a:lnTo>
                  <a:lnTo>
                    <a:pt x="0" y="2458612"/>
                  </a:lnTo>
                  <a:lnTo>
                    <a:pt x="0" y="2456263"/>
                  </a:lnTo>
                  <a:lnTo>
                    <a:pt x="0" y="2453895"/>
                  </a:lnTo>
                </a:path>
                <a:path w="9525" h="4244340">
                  <a:moveTo>
                    <a:pt x="0" y="2387472"/>
                  </a:moveTo>
                  <a:lnTo>
                    <a:pt x="0" y="2385104"/>
                  </a:lnTo>
                  <a:lnTo>
                    <a:pt x="2298" y="2382755"/>
                  </a:lnTo>
                  <a:lnTo>
                    <a:pt x="4788" y="2382755"/>
                  </a:lnTo>
                  <a:lnTo>
                    <a:pt x="7086" y="2385104"/>
                  </a:lnTo>
                  <a:lnTo>
                    <a:pt x="9001" y="2387472"/>
                  </a:lnTo>
                  <a:lnTo>
                    <a:pt x="7086" y="2389821"/>
                  </a:lnTo>
                  <a:lnTo>
                    <a:pt x="7086" y="2392171"/>
                  </a:lnTo>
                  <a:lnTo>
                    <a:pt x="4788" y="2392171"/>
                  </a:lnTo>
                  <a:lnTo>
                    <a:pt x="2298" y="2392171"/>
                  </a:lnTo>
                  <a:lnTo>
                    <a:pt x="0" y="2392171"/>
                  </a:lnTo>
                  <a:lnTo>
                    <a:pt x="0" y="2389821"/>
                  </a:lnTo>
                  <a:lnTo>
                    <a:pt x="0" y="2387472"/>
                  </a:lnTo>
                </a:path>
                <a:path w="9525" h="4244340">
                  <a:moveTo>
                    <a:pt x="0" y="2350709"/>
                  </a:moveTo>
                  <a:lnTo>
                    <a:pt x="0" y="2320573"/>
                  </a:lnTo>
                  <a:lnTo>
                    <a:pt x="0" y="2318663"/>
                  </a:lnTo>
                  <a:lnTo>
                    <a:pt x="2298" y="2316371"/>
                  </a:lnTo>
                  <a:lnTo>
                    <a:pt x="4788" y="2316371"/>
                  </a:lnTo>
                  <a:lnTo>
                    <a:pt x="7086" y="2318663"/>
                  </a:lnTo>
                  <a:lnTo>
                    <a:pt x="9001" y="2320573"/>
                  </a:lnTo>
                  <a:lnTo>
                    <a:pt x="9001" y="2350709"/>
                  </a:lnTo>
                  <a:lnTo>
                    <a:pt x="7086" y="2350709"/>
                  </a:lnTo>
                  <a:lnTo>
                    <a:pt x="7086" y="2353077"/>
                  </a:lnTo>
                  <a:lnTo>
                    <a:pt x="4788" y="2353077"/>
                  </a:lnTo>
                  <a:lnTo>
                    <a:pt x="4788" y="2355426"/>
                  </a:lnTo>
                  <a:lnTo>
                    <a:pt x="2298" y="2353077"/>
                  </a:lnTo>
                  <a:lnTo>
                    <a:pt x="0" y="2353077"/>
                  </a:lnTo>
                  <a:lnTo>
                    <a:pt x="0" y="2350709"/>
                  </a:lnTo>
                </a:path>
                <a:path w="9525" h="4244340">
                  <a:moveTo>
                    <a:pt x="0" y="2281995"/>
                  </a:moveTo>
                  <a:lnTo>
                    <a:pt x="0" y="2279513"/>
                  </a:lnTo>
                  <a:lnTo>
                    <a:pt x="2298" y="2277221"/>
                  </a:lnTo>
                  <a:lnTo>
                    <a:pt x="4788" y="2277221"/>
                  </a:lnTo>
                  <a:lnTo>
                    <a:pt x="7086" y="2279513"/>
                  </a:lnTo>
                  <a:lnTo>
                    <a:pt x="9001" y="2281995"/>
                  </a:lnTo>
                  <a:lnTo>
                    <a:pt x="7086" y="2283714"/>
                  </a:lnTo>
                  <a:lnTo>
                    <a:pt x="7086" y="2286197"/>
                  </a:lnTo>
                  <a:lnTo>
                    <a:pt x="4788" y="2286197"/>
                  </a:lnTo>
                  <a:lnTo>
                    <a:pt x="2298" y="2286197"/>
                  </a:lnTo>
                  <a:lnTo>
                    <a:pt x="0" y="2286197"/>
                  </a:lnTo>
                  <a:lnTo>
                    <a:pt x="0" y="2283714"/>
                  </a:lnTo>
                  <a:lnTo>
                    <a:pt x="0" y="2281995"/>
                  </a:lnTo>
                </a:path>
                <a:path w="9525" h="4244340">
                  <a:moveTo>
                    <a:pt x="0" y="2245137"/>
                  </a:moveTo>
                  <a:lnTo>
                    <a:pt x="0" y="2214962"/>
                  </a:lnTo>
                  <a:lnTo>
                    <a:pt x="0" y="2212670"/>
                  </a:lnTo>
                  <a:lnTo>
                    <a:pt x="2298" y="2210379"/>
                  </a:lnTo>
                  <a:lnTo>
                    <a:pt x="4788" y="2210379"/>
                  </a:lnTo>
                  <a:lnTo>
                    <a:pt x="7086" y="2212670"/>
                  </a:lnTo>
                  <a:lnTo>
                    <a:pt x="9001" y="2214962"/>
                  </a:lnTo>
                  <a:lnTo>
                    <a:pt x="9001" y="2245137"/>
                  </a:lnTo>
                  <a:lnTo>
                    <a:pt x="7086" y="2245137"/>
                  </a:lnTo>
                  <a:lnTo>
                    <a:pt x="7086" y="2247046"/>
                  </a:lnTo>
                  <a:lnTo>
                    <a:pt x="4788" y="2249338"/>
                  </a:lnTo>
                  <a:lnTo>
                    <a:pt x="2298" y="2249338"/>
                  </a:lnTo>
                  <a:lnTo>
                    <a:pt x="0" y="2247046"/>
                  </a:lnTo>
                  <a:lnTo>
                    <a:pt x="0" y="2245137"/>
                  </a:lnTo>
                </a:path>
                <a:path w="9525" h="4244340">
                  <a:moveTo>
                    <a:pt x="0" y="2178294"/>
                  </a:moveTo>
                  <a:lnTo>
                    <a:pt x="0" y="2175812"/>
                  </a:lnTo>
                  <a:lnTo>
                    <a:pt x="0" y="2173520"/>
                  </a:lnTo>
                  <a:lnTo>
                    <a:pt x="2298" y="2173520"/>
                  </a:lnTo>
                  <a:lnTo>
                    <a:pt x="4788" y="2171228"/>
                  </a:lnTo>
                  <a:lnTo>
                    <a:pt x="4788" y="2173520"/>
                  </a:lnTo>
                  <a:lnTo>
                    <a:pt x="7086" y="2173520"/>
                  </a:lnTo>
                  <a:lnTo>
                    <a:pt x="7086" y="2175812"/>
                  </a:lnTo>
                  <a:lnTo>
                    <a:pt x="9001" y="2178294"/>
                  </a:lnTo>
                  <a:lnTo>
                    <a:pt x="7086" y="2178294"/>
                  </a:lnTo>
                  <a:lnTo>
                    <a:pt x="7086" y="2180586"/>
                  </a:lnTo>
                  <a:lnTo>
                    <a:pt x="4788" y="2180586"/>
                  </a:lnTo>
                  <a:lnTo>
                    <a:pt x="4788" y="2183069"/>
                  </a:lnTo>
                  <a:lnTo>
                    <a:pt x="2298" y="2180586"/>
                  </a:lnTo>
                  <a:lnTo>
                    <a:pt x="0" y="2180586"/>
                  </a:lnTo>
                  <a:lnTo>
                    <a:pt x="0" y="2178294"/>
                  </a:lnTo>
                </a:path>
                <a:path w="9525" h="4244340">
                  <a:moveTo>
                    <a:pt x="0" y="2139144"/>
                  </a:moveTo>
                  <a:lnTo>
                    <a:pt x="0" y="2109542"/>
                  </a:lnTo>
                  <a:lnTo>
                    <a:pt x="0" y="2107060"/>
                  </a:lnTo>
                  <a:lnTo>
                    <a:pt x="2298" y="2104768"/>
                  </a:lnTo>
                  <a:lnTo>
                    <a:pt x="4788" y="2104768"/>
                  </a:lnTo>
                  <a:lnTo>
                    <a:pt x="7086" y="2107060"/>
                  </a:lnTo>
                  <a:lnTo>
                    <a:pt x="9001" y="2109542"/>
                  </a:lnTo>
                  <a:lnTo>
                    <a:pt x="9001" y="2139144"/>
                  </a:lnTo>
                  <a:lnTo>
                    <a:pt x="7086" y="2141436"/>
                  </a:lnTo>
                  <a:lnTo>
                    <a:pt x="4788" y="2143918"/>
                  </a:lnTo>
                  <a:lnTo>
                    <a:pt x="2298" y="2143918"/>
                  </a:lnTo>
                  <a:lnTo>
                    <a:pt x="0" y="2141436"/>
                  </a:lnTo>
                  <a:lnTo>
                    <a:pt x="0" y="2139144"/>
                  </a:lnTo>
                </a:path>
                <a:path w="9525" h="4244340">
                  <a:moveTo>
                    <a:pt x="0" y="2072683"/>
                  </a:moveTo>
                  <a:lnTo>
                    <a:pt x="0" y="2070392"/>
                  </a:lnTo>
                  <a:lnTo>
                    <a:pt x="0" y="2068100"/>
                  </a:lnTo>
                  <a:lnTo>
                    <a:pt x="2298" y="2068100"/>
                  </a:lnTo>
                  <a:lnTo>
                    <a:pt x="4788" y="2068100"/>
                  </a:lnTo>
                  <a:lnTo>
                    <a:pt x="7086" y="2068100"/>
                  </a:lnTo>
                  <a:lnTo>
                    <a:pt x="7086" y="2070392"/>
                  </a:lnTo>
                  <a:lnTo>
                    <a:pt x="9001" y="2072683"/>
                  </a:lnTo>
                  <a:lnTo>
                    <a:pt x="7086" y="2072683"/>
                  </a:lnTo>
                  <a:lnTo>
                    <a:pt x="7086" y="2075166"/>
                  </a:lnTo>
                  <a:lnTo>
                    <a:pt x="4788" y="2076885"/>
                  </a:lnTo>
                  <a:lnTo>
                    <a:pt x="2298" y="2076885"/>
                  </a:lnTo>
                  <a:lnTo>
                    <a:pt x="0" y="2075166"/>
                  </a:lnTo>
                  <a:lnTo>
                    <a:pt x="0" y="2072683"/>
                  </a:lnTo>
                </a:path>
                <a:path w="9525" h="4244340">
                  <a:moveTo>
                    <a:pt x="0" y="2033533"/>
                  </a:moveTo>
                  <a:lnTo>
                    <a:pt x="0" y="2005841"/>
                  </a:lnTo>
                  <a:lnTo>
                    <a:pt x="0" y="2003549"/>
                  </a:lnTo>
                  <a:lnTo>
                    <a:pt x="0" y="2001640"/>
                  </a:lnTo>
                  <a:lnTo>
                    <a:pt x="2298" y="2001640"/>
                  </a:lnTo>
                  <a:lnTo>
                    <a:pt x="4788" y="1999157"/>
                  </a:lnTo>
                  <a:lnTo>
                    <a:pt x="4788" y="2001640"/>
                  </a:lnTo>
                  <a:lnTo>
                    <a:pt x="7086" y="2001640"/>
                  </a:lnTo>
                  <a:lnTo>
                    <a:pt x="7086" y="2003549"/>
                  </a:lnTo>
                  <a:lnTo>
                    <a:pt x="9001" y="2005841"/>
                  </a:lnTo>
                  <a:lnTo>
                    <a:pt x="9001" y="2033533"/>
                  </a:lnTo>
                  <a:lnTo>
                    <a:pt x="7086" y="2036016"/>
                  </a:lnTo>
                  <a:lnTo>
                    <a:pt x="4788" y="2038307"/>
                  </a:lnTo>
                  <a:lnTo>
                    <a:pt x="2298" y="2038307"/>
                  </a:lnTo>
                  <a:lnTo>
                    <a:pt x="0" y="2036016"/>
                  </a:lnTo>
                  <a:lnTo>
                    <a:pt x="0" y="2033533"/>
                  </a:lnTo>
                </a:path>
                <a:path w="9525" h="4244340">
                  <a:moveTo>
                    <a:pt x="0" y="1966691"/>
                  </a:moveTo>
                  <a:lnTo>
                    <a:pt x="0" y="1964399"/>
                  </a:lnTo>
                  <a:lnTo>
                    <a:pt x="0" y="1962489"/>
                  </a:lnTo>
                  <a:lnTo>
                    <a:pt x="2298" y="1962489"/>
                  </a:lnTo>
                  <a:lnTo>
                    <a:pt x="4788" y="1962489"/>
                  </a:lnTo>
                  <a:lnTo>
                    <a:pt x="7086" y="1962489"/>
                  </a:lnTo>
                  <a:lnTo>
                    <a:pt x="7086" y="1964399"/>
                  </a:lnTo>
                  <a:lnTo>
                    <a:pt x="9001" y="1966691"/>
                  </a:lnTo>
                  <a:lnTo>
                    <a:pt x="7086" y="1968982"/>
                  </a:lnTo>
                  <a:lnTo>
                    <a:pt x="4788" y="1971465"/>
                  </a:lnTo>
                  <a:lnTo>
                    <a:pt x="2298" y="1971465"/>
                  </a:lnTo>
                  <a:lnTo>
                    <a:pt x="0" y="1968982"/>
                  </a:lnTo>
                  <a:lnTo>
                    <a:pt x="0" y="1966691"/>
                  </a:lnTo>
                </a:path>
                <a:path w="9525" h="4244340">
                  <a:moveTo>
                    <a:pt x="0" y="1927540"/>
                  </a:moveTo>
                  <a:lnTo>
                    <a:pt x="0" y="1900230"/>
                  </a:lnTo>
                  <a:lnTo>
                    <a:pt x="0" y="1897939"/>
                  </a:lnTo>
                  <a:lnTo>
                    <a:pt x="0" y="1895647"/>
                  </a:lnTo>
                  <a:lnTo>
                    <a:pt x="2298" y="1895647"/>
                  </a:lnTo>
                  <a:lnTo>
                    <a:pt x="4788" y="1895647"/>
                  </a:lnTo>
                  <a:lnTo>
                    <a:pt x="7086" y="1895647"/>
                  </a:lnTo>
                  <a:lnTo>
                    <a:pt x="7086" y="1897939"/>
                  </a:lnTo>
                  <a:lnTo>
                    <a:pt x="9001" y="1900230"/>
                  </a:lnTo>
                  <a:lnTo>
                    <a:pt x="9001" y="1927540"/>
                  </a:lnTo>
                  <a:lnTo>
                    <a:pt x="7086" y="1930023"/>
                  </a:lnTo>
                  <a:lnTo>
                    <a:pt x="7086" y="1932315"/>
                  </a:lnTo>
                  <a:lnTo>
                    <a:pt x="4788" y="1932315"/>
                  </a:lnTo>
                  <a:lnTo>
                    <a:pt x="2298" y="1932315"/>
                  </a:lnTo>
                  <a:lnTo>
                    <a:pt x="0" y="1932315"/>
                  </a:lnTo>
                  <a:lnTo>
                    <a:pt x="0" y="1930023"/>
                  </a:lnTo>
                  <a:lnTo>
                    <a:pt x="0" y="1927540"/>
                  </a:lnTo>
                </a:path>
                <a:path w="9525" h="4244340">
                  <a:moveTo>
                    <a:pt x="0" y="1861080"/>
                  </a:moveTo>
                  <a:lnTo>
                    <a:pt x="0" y="1858788"/>
                  </a:lnTo>
                  <a:lnTo>
                    <a:pt x="0" y="1856496"/>
                  </a:lnTo>
                  <a:lnTo>
                    <a:pt x="2298" y="1856496"/>
                  </a:lnTo>
                  <a:lnTo>
                    <a:pt x="4788" y="1856496"/>
                  </a:lnTo>
                  <a:lnTo>
                    <a:pt x="7086" y="1856496"/>
                  </a:lnTo>
                  <a:lnTo>
                    <a:pt x="7086" y="1858788"/>
                  </a:lnTo>
                  <a:lnTo>
                    <a:pt x="9001" y="1861080"/>
                  </a:lnTo>
                  <a:lnTo>
                    <a:pt x="7086" y="1863563"/>
                  </a:lnTo>
                  <a:lnTo>
                    <a:pt x="4788" y="1865854"/>
                  </a:lnTo>
                  <a:lnTo>
                    <a:pt x="2298" y="1865854"/>
                  </a:lnTo>
                  <a:lnTo>
                    <a:pt x="0" y="1863563"/>
                  </a:lnTo>
                  <a:lnTo>
                    <a:pt x="0" y="1861080"/>
                  </a:lnTo>
                </a:path>
                <a:path w="9525" h="4244340">
                  <a:moveTo>
                    <a:pt x="0" y="1822120"/>
                  </a:moveTo>
                  <a:lnTo>
                    <a:pt x="0" y="1794811"/>
                  </a:lnTo>
                  <a:lnTo>
                    <a:pt x="0" y="1792328"/>
                  </a:lnTo>
                  <a:lnTo>
                    <a:pt x="0" y="1790036"/>
                  </a:lnTo>
                  <a:lnTo>
                    <a:pt x="2298" y="1790036"/>
                  </a:lnTo>
                  <a:lnTo>
                    <a:pt x="4788" y="1790036"/>
                  </a:lnTo>
                  <a:lnTo>
                    <a:pt x="7086" y="1790036"/>
                  </a:lnTo>
                  <a:lnTo>
                    <a:pt x="7086" y="1792328"/>
                  </a:lnTo>
                  <a:lnTo>
                    <a:pt x="9001" y="1794811"/>
                  </a:lnTo>
                  <a:lnTo>
                    <a:pt x="9001" y="1822120"/>
                  </a:lnTo>
                  <a:lnTo>
                    <a:pt x="7086" y="1824412"/>
                  </a:lnTo>
                  <a:lnTo>
                    <a:pt x="7086" y="1826704"/>
                  </a:lnTo>
                  <a:lnTo>
                    <a:pt x="4788" y="1826704"/>
                  </a:lnTo>
                  <a:lnTo>
                    <a:pt x="2298" y="1826704"/>
                  </a:lnTo>
                  <a:lnTo>
                    <a:pt x="0" y="1826704"/>
                  </a:lnTo>
                  <a:lnTo>
                    <a:pt x="0" y="1824412"/>
                  </a:lnTo>
                  <a:lnTo>
                    <a:pt x="0" y="1822120"/>
                  </a:lnTo>
                </a:path>
                <a:path w="9525" h="4244340">
                  <a:moveTo>
                    <a:pt x="0" y="1755660"/>
                  </a:moveTo>
                  <a:lnTo>
                    <a:pt x="0" y="1753177"/>
                  </a:lnTo>
                  <a:lnTo>
                    <a:pt x="2298" y="1750886"/>
                  </a:lnTo>
                  <a:lnTo>
                    <a:pt x="4788" y="1750886"/>
                  </a:lnTo>
                  <a:lnTo>
                    <a:pt x="7086" y="1753177"/>
                  </a:lnTo>
                  <a:lnTo>
                    <a:pt x="9001" y="1755660"/>
                  </a:lnTo>
                  <a:lnTo>
                    <a:pt x="7086" y="1757952"/>
                  </a:lnTo>
                  <a:lnTo>
                    <a:pt x="7086" y="1759862"/>
                  </a:lnTo>
                  <a:lnTo>
                    <a:pt x="4788" y="1759862"/>
                  </a:lnTo>
                  <a:lnTo>
                    <a:pt x="2298" y="1759862"/>
                  </a:lnTo>
                  <a:lnTo>
                    <a:pt x="0" y="1759862"/>
                  </a:lnTo>
                  <a:lnTo>
                    <a:pt x="0" y="1757952"/>
                  </a:lnTo>
                  <a:lnTo>
                    <a:pt x="0" y="1755660"/>
                  </a:lnTo>
                </a:path>
                <a:path w="9525" h="4244340">
                  <a:moveTo>
                    <a:pt x="0" y="1718801"/>
                  </a:moveTo>
                  <a:lnTo>
                    <a:pt x="0" y="1688627"/>
                  </a:lnTo>
                  <a:lnTo>
                    <a:pt x="0" y="1686335"/>
                  </a:lnTo>
                  <a:lnTo>
                    <a:pt x="0" y="1684043"/>
                  </a:lnTo>
                  <a:lnTo>
                    <a:pt x="2298" y="1684043"/>
                  </a:lnTo>
                  <a:lnTo>
                    <a:pt x="4788" y="1684043"/>
                  </a:lnTo>
                  <a:lnTo>
                    <a:pt x="7086" y="1684043"/>
                  </a:lnTo>
                  <a:lnTo>
                    <a:pt x="7086" y="1686335"/>
                  </a:lnTo>
                  <a:lnTo>
                    <a:pt x="9001" y="1688627"/>
                  </a:lnTo>
                  <a:lnTo>
                    <a:pt x="9001" y="1718801"/>
                  </a:lnTo>
                  <a:lnTo>
                    <a:pt x="7086" y="1718801"/>
                  </a:lnTo>
                  <a:lnTo>
                    <a:pt x="7086" y="1721284"/>
                  </a:lnTo>
                  <a:lnTo>
                    <a:pt x="4788" y="1721284"/>
                  </a:lnTo>
                  <a:lnTo>
                    <a:pt x="4788" y="1723194"/>
                  </a:lnTo>
                  <a:lnTo>
                    <a:pt x="2298" y="1721284"/>
                  </a:lnTo>
                  <a:lnTo>
                    <a:pt x="0" y="1721284"/>
                  </a:lnTo>
                  <a:lnTo>
                    <a:pt x="0" y="1718801"/>
                  </a:lnTo>
                </a:path>
                <a:path w="9525" h="4244340">
                  <a:moveTo>
                    <a:pt x="0" y="1649667"/>
                  </a:moveTo>
                  <a:lnTo>
                    <a:pt x="0" y="1647185"/>
                  </a:lnTo>
                  <a:lnTo>
                    <a:pt x="2298" y="1645275"/>
                  </a:lnTo>
                  <a:lnTo>
                    <a:pt x="4788" y="1645275"/>
                  </a:lnTo>
                  <a:lnTo>
                    <a:pt x="7086" y="1647185"/>
                  </a:lnTo>
                  <a:lnTo>
                    <a:pt x="9001" y="1649667"/>
                  </a:lnTo>
                  <a:lnTo>
                    <a:pt x="7086" y="1651959"/>
                  </a:lnTo>
                  <a:lnTo>
                    <a:pt x="7086" y="1654251"/>
                  </a:lnTo>
                  <a:lnTo>
                    <a:pt x="4788" y="1654251"/>
                  </a:lnTo>
                  <a:lnTo>
                    <a:pt x="2298" y="1654251"/>
                  </a:lnTo>
                  <a:lnTo>
                    <a:pt x="0" y="1654251"/>
                  </a:lnTo>
                  <a:lnTo>
                    <a:pt x="0" y="1651959"/>
                  </a:lnTo>
                  <a:lnTo>
                    <a:pt x="0" y="1649667"/>
                  </a:lnTo>
                </a:path>
                <a:path w="9525" h="4244340">
                  <a:moveTo>
                    <a:pt x="0" y="1612809"/>
                  </a:moveTo>
                  <a:lnTo>
                    <a:pt x="0" y="1583207"/>
                  </a:lnTo>
                  <a:lnTo>
                    <a:pt x="0" y="1580724"/>
                  </a:lnTo>
                  <a:lnTo>
                    <a:pt x="2298" y="1578432"/>
                  </a:lnTo>
                  <a:lnTo>
                    <a:pt x="4788" y="1578432"/>
                  </a:lnTo>
                  <a:lnTo>
                    <a:pt x="7086" y="1580724"/>
                  </a:lnTo>
                  <a:lnTo>
                    <a:pt x="9001" y="1583207"/>
                  </a:lnTo>
                  <a:lnTo>
                    <a:pt x="9001" y="1612809"/>
                  </a:lnTo>
                  <a:lnTo>
                    <a:pt x="7086" y="1612809"/>
                  </a:lnTo>
                  <a:lnTo>
                    <a:pt x="7086" y="1615291"/>
                  </a:lnTo>
                  <a:lnTo>
                    <a:pt x="4788" y="1617583"/>
                  </a:lnTo>
                  <a:lnTo>
                    <a:pt x="2298" y="1617583"/>
                  </a:lnTo>
                  <a:lnTo>
                    <a:pt x="0" y="1615291"/>
                  </a:lnTo>
                  <a:lnTo>
                    <a:pt x="0" y="1612809"/>
                  </a:lnTo>
                </a:path>
                <a:path w="9525" h="4244340">
                  <a:moveTo>
                    <a:pt x="0" y="1546348"/>
                  </a:moveTo>
                  <a:lnTo>
                    <a:pt x="0" y="1544056"/>
                  </a:lnTo>
                  <a:lnTo>
                    <a:pt x="0" y="1541765"/>
                  </a:lnTo>
                  <a:lnTo>
                    <a:pt x="2298" y="1541765"/>
                  </a:lnTo>
                  <a:lnTo>
                    <a:pt x="4788" y="1539282"/>
                  </a:lnTo>
                  <a:lnTo>
                    <a:pt x="4788" y="1541765"/>
                  </a:lnTo>
                  <a:lnTo>
                    <a:pt x="7086" y="1541765"/>
                  </a:lnTo>
                  <a:lnTo>
                    <a:pt x="7086" y="1544056"/>
                  </a:lnTo>
                  <a:lnTo>
                    <a:pt x="9001" y="1546348"/>
                  </a:lnTo>
                  <a:lnTo>
                    <a:pt x="7086" y="1546348"/>
                  </a:lnTo>
                  <a:lnTo>
                    <a:pt x="7086" y="1548831"/>
                  </a:lnTo>
                  <a:lnTo>
                    <a:pt x="4788" y="1548831"/>
                  </a:lnTo>
                  <a:lnTo>
                    <a:pt x="4788" y="1551123"/>
                  </a:lnTo>
                  <a:lnTo>
                    <a:pt x="2298" y="1548831"/>
                  </a:lnTo>
                  <a:lnTo>
                    <a:pt x="0" y="1548831"/>
                  </a:lnTo>
                  <a:lnTo>
                    <a:pt x="0" y="1546348"/>
                  </a:lnTo>
                </a:path>
                <a:path w="9525" h="4244340">
                  <a:moveTo>
                    <a:pt x="0" y="1507389"/>
                  </a:moveTo>
                  <a:lnTo>
                    <a:pt x="0" y="1477596"/>
                  </a:lnTo>
                  <a:lnTo>
                    <a:pt x="0" y="1475304"/>
                  </a:lnTo>
                  <a:lnTo>
                    <a:pt x="2298" y="1472822"/>
                  </a:lnTo>
                  <a:lnTo>
                    <a:pt x="4788" y="1472822"/>
                  </a:lnTo>
                  <a:lnTo>
                    <a:pt x="7086" y="1475304"/>
                  </a:lnTo>
                  <a:lnTo>
                    <a:pt x="9001" y="1477596"/>
                  </a:lnTo>
                  <a:lnTo>
                    <a:pt x="9001" y="1507389"/>
                  </a:lnTo>
                  <a:lnTo>
                    <a:pt x="7086" y="1509680"/>
                  </a:lnTo>
                  <a:lnTo>
                    <a:pt x="4788" y="1511972"/>
                  </a:lnTo>
                  <a:lnTo>
                    <a:pt x="2298" y="1511972"/>
                  </a:lnTo>
                  <a:lnTo>
                    <a:pt x="0" y="1509680"/>
                  </a:lnTo>
                  <a:lnTo>
                    <a:pt x="0" y="1507389"/>
                  </a:lnTo>
                </a:path>
                <a:path w="9525" h="4244340">
                  <a:moveTo>
                    <a:pt x="0" y="1440928"/>
                  </a:moveTo>
                  <a:lnTo>
                    <a:pt x="0" y="1438446"/>
                  </a:lnTo>
                  <a:lnTo>
                    <a:pt x="0" y="1436154"/>
                  </a:lnTo>
                  <a:lnTo>
                    <a:pt x="2298" y="1436154"/>
                  </a:lnTo>
                  <a:lnTo>
                    <a:pt x="4788" y="1436154"/>
                  </a:lnTo>
                  <a:lnTo>
                    <a:pt x="7086" y="1436154"/>
                  </a:lnTo>
                  <a:lnTo>
                    <a:pt x="7086" y="1438446"/>
                  </a:lnTo>
                  <a:lnTo>
                    <a:pt x="9001" y="1440928"/>
                  </a:lnTo>
                  <a:lnTo>
                    <a:pt x="7086" y="1440928"/>
                  </a:lnTo>
                  <a:lnTo>
                    <a:pt x="7086" y="1442838"/>
                  </a:lnTo>
                  <a:lnTo>
                    <a:pt x="4788" y="1445130"/>
                  </a:lnTo>
                  <a:lnTo>
                    <a:pt x="2298" y="1445130"/>
                  </a:lnTo>
                  <a:lnTo>
                    <a:pt x="0" y="1442838"/>
                  </a:lnTo>
                  <a:lnTo>
                    <a:pt x="0" y="1440928"/>
                  </a:lnTo>
                </a:path>
                <a:path w="9525" h="4244340">
                  <a:moveTo>
                    <a:pt x="0" y="1401778"/>
                  </a:moveTo>
                  <a:lnTo>
                    <a:pt x="0" y="1373895"/>
                  </a:lnTo>
                  <a:lnTo>
                    <a:pt x="0" y="1371603"/>
                  </a:lnTo>
                  <a:lnTo>
                    <a:pt x="0" y="1369312"/>
                  </a:lnTo>
                  <a:lnTo>
                    <a:pt x="2298" y="1369312"/>
                  </a:lnTo>
                  <a:lnTo>
                    <a:pt x="4788" y="1366829"/>
                  </a:lnTo>
                  <a:lnTo>
                    <a:pt x="4788" y="1369312"/>
                  </a:lnTo>
                  <a:lnTo>
                    <a:pt x="7086" y="1369312"/>
                  </a:lnTo>
                  <a:lnTo>
                    <a:pt x="7086" y="1371603"/>
                  </a:lnTo>
                  <a:lnTo>
                    <a:pt x="9001" y="1373895"/>
                  </a:lnTo>
                  <a:lnTo>
                    <a:pt x="9001" y="1401778"/>
                  </a:lnTo>
                  <a:lnTo>
                    <a:pt x="7086" y="1403688"/>
                  </a:lnTo>
                  <a:lnTo>
                    <a:pt x="4788" y="1405979"/>
                  </a:lnTo>
                  <a:lnTo>
                    <a:pt x="2298" y="1405979"/>
                  </a:lnTo>
                  <a:lnTo>
                    <a:pt x="0" y="1403688"/>
                  </a:lnTo>
                  <a:lnTo>
                    <a:pt x="0" y="1401778"/>
                  </a:lnTo>
                </a:path>
                <a:path w="9525" h="4244340">
                  <a:moveTo>
                    <a:pt x="0" y="1334936"/>
                  </a:moveTo>
                  <a:lnTo>
                    <a:pt x="0" y="1332453"/>
                  </a:lnTo>
                  <a:lnTo>
                    <a:pt x="0" y="1330161"/>
                  </a:lnTo>
                  <a:lnTo>
                    <a:pt x="2298" y="1330161"/>
                  </a:lnTo>
                  <a:lnTo>
                    <a:pt x="4788" y="1330161"/>
                  </a:lnTo>
                  <a:lnTo>
                    <a:pt x="7086" y="1330161"/>
                  </a:lnTo>
                  <a:lnTo>
                    <a:pt x="7086" y="1332453"/>
                  </a:lnTo>
                  <a:lnTo>
                    <a:pt x="9001" y="1334936"/>
                  </a:lnTo>
                  <a:lnTo>
                    <a:pt x="7086" y="1337227"/>
                  </a:lnTo>
                  <a:lnTo>
                    <a:pt x="4788" y="1339519"/>
                  </a:lnTo>
                  <a:lnTo>
                    <a:pt x="2298" y="1339519"/>
                  </a:lnTo>
                  <a:lnTo>
                    <a:pt x="0" y="1337227"/>
                  </a:lnTo>
                  <a:lnTo>
                    <a:pt x="0" y="1334936"/>
                  </a:lnTo>
                </a:path>
                <a:path w="9525" h="4244340">
                  <a:moveTo>
                    <a:pt x="0" y="1295785"/>
                  </a:moveTo>
                  <a:lnTo>
                    <a:pt x="0" y="1268475"/>
                  </a:lnTo>
                  <a:lnTo>
                    <a:pt x="0" y="1265992"/>
                  </a:lnTo>
                  <a:lnTo>
                    <a:pt x="0" y="1263701"/>
                  </a:lnTo>
                  <a:lnTo>
                    <a:pt x="2298" y="1263701"/>
                  </a:lnTo>
                  <a:lnTo>
                    <a:pt x="4788" y="1263701"/>
                  </a:lnTo>
                  <a:lnTo>
                    <a:pt x="7086" y="1263701"/>
                  </a:lnTo>
                  <a:lnTo>
                    <a:pt x="7086" y="1265992"/>
                  </a:lnTo>
                  <a:lnTo>
                    <a:pt x="9001" y="1268475"/>
                  </a:lnTo>
                  <a:lnTo>
                    <a:pt x="9001" y="1295785"/>
                  </a:lnTo>
                  <a:lnTo>
                    <a:pt x="7086" y="1298077"/>
                  </a:lnTo>
                  <a:lnTo>
                    <a:pt x="7086" y="1300369"/>
                  </a:lnTo>
                  <a:lnTo>
                    <a:pt x="4788" y="1300369"/>
                  </a:lnTo>
                  <a:lnTo>
                    <a:pt x="2298" y="1300369"/>
                  </a:lnTo>
                  <a:lnTo>
                    <a:pt x="0" y="1300369"/>
                  </a:lnTo>
                  <a:lnTo>
                    <a:pt x="0" y="1298077"/>
                  </a:lnTo>
                  <a:lnTo>
                    <a:pt x="0" y="1295785"/>
                  </a:lnTo>
                </a:path>
                <a:path w="9525" h="4244340">
                  <a:moveTo>
                    <a:pt x="0" y="1229325"/>
                  </a:moveTo>
                  <a:lnTo>
                    <a:pt x="0" y="1227033"/>
                  </a:lnTo>
                  <a:lnTo>
                    <a:pt x="0" y="1224550"/>
                  </a:lnTo>
                  <a:lnTo>
                    <a:pt x="2298" y="1224550"/>
                  </a:lnTo>
                  <a:lnTo>
                    <a:pt x="4788" y="1224550"/>
                  </a:lnTo>
                  <a:lnTo>
                    <a:pt x="7086" y="1224550"/>
                  </a:lnTo>
                  <a:lnTo>
                    <a:pt x="7086" y="1227033"/>
                  </a:lnTo>
                  <a:lnTo>
                    <a:pt x="9001" y="1229325"/>
                  </a:lnTo>
                  <a:lnTo>
                    <a:pt x="7086" y="1231616"/>
                  </a:lnTo>
                  <a:lnTo>
                    <a:pt x="4788" y="1234099"/>
                  </a:lnTo>
                  <a:lnTo>
                    <a:pt x="2298" y="1234099"/>
                  </a:lnTo>
                  <a:lnTo>
                    <a:pt x="0" y="1231616"/>
                  </a:lnTo>
                  <a:lnTo>
                    <a:pt x="0" y="1229325"/>
                  </a:lnTo>
                </a:path>
                <a:path w="9525" h="4244340">
                  <a:moveTo>
                    <a:pt x="0" y="1190174"/>
                  </a:moveTo>
                  <a:lnTo>
                    <a:pt x="0" y="1162482"/>
                  </a:lnTo>
                  <a:lnTo>
                    <a:pt x="0" y="1160000"/>
                  </a:lnTo>
                  <a:lnTo>
                    <a:pt x="0" y="1158090"/>
                  </a:lnTo>
                  <a:lnTo>
                    <a:pt x="2298" y="1158090"/>
                  </a:lnTo>
                  <a:lnTo>
                    <a:pt x="4788" y="1158090"/>
                  </a:lnTo>
                  <a:lnTo>
                    <a:pt x="7086" y="1158090"/>
                  </a:lnTo>
                  <a:lnTo>
                    <a:pt x="7086" y="1160000"/>
                  </a:lnTo>
                  <a:lnTo>
                    <a:pt x="9001" y="1162482"/>
                  </a:lnTo>
                  <a:lnTo>
                    <a:pt x="9001" y="1190174"/>
                  </a:lnTo>
                  <a:lnTo>
                    <a:pt x="7086" y="1192466"/>
                  </a:lnTo>
                  <a:lnTo>
                    <a:pt x="7086" y="1194949"/>
                  </a:lnTo>
                  <a:lnTo>
                    <a:pt x="4788" y="1194949"/>
                  </a:lnTo>
                  <a:lnTo>
                    <a:pt x="2298" y="1194949"/>
                  </a:lnTo>
                  <a:lnTo>
                    <a:pt x="0" y="1194949"/>
                  </a:lnTo>
                  <a:lnTo>
                    <a:pt x="0" y="1192466"/>
                  </a:lnTo>
                  <a:lnTo>
                    <a:pt x="0" y="1190174"/>
                  </a:lnTo>
                </a:path>
                <a:path w="9525" h="4244340">
                  <a:moveTo>
                    <a:pt x="0" y="1123332"/>
                  </a:moveTo>
                  <a:lnTo>
                    <a:pt x="0" y="1121422"/>
                  </a:lnTo>
                  <a:lnTo>
                    <a:pt x="2298" y="1119130"/>
                  </a:lnTo>
                  <a:lnTo>
                    <a:pt x="4788" y="1119130"/>
                  </a:lnTo>
                  <a:lnTo>
                    <a:pt x="7086" y="1121422"/>
                  </a:lnTo>
                  <a:lnTo>
                    <a:pt x="9001" y="1123332"/>
                  </a:lnTo>
                  <a:lnTo>
                    <a:pt x="7086" y="1125624"/>
                  </a:lnTo>
                  <a:lnTo>
                    <a:pt x="7086" y="1127915"/>
                  </a:lnTo>
                  <a:lnTo>
                    <a:pt x="4788" y="1127915"/>
                  </a:lnTo>
                  <a:lnTo>
                    <a:pt x="2298" y="1127915"/>
                  </a:lnTo>
                  <a:lnTo>
                    <a:pt x="0" y="1127915"/>
                  </a:lnTo>
                  <a:lnTo>
                    <a:pt x="0" y="1125624"/>
                  </a:lnTo>
                  <a:lnTo>
                    <a:pt x="0" y="1123332"/>
                  </a:lnTo>
                </a:path>
                <a:path w="9525" h="4244340">
                  <a:moveTo>
                    <a:pt x="0" y="1084563"/>
                  </a:moveTo>
                  <a:lnTo>
                    <a:pt x="0" y="1056872"/>
                  </a:lnTo>
                  <a:lnTo>
                    <a:pt x="0" y="1054580"/>
                  </a:lnTo>
                  <a:lnTo>
                    <a:pt x="0" y="1052097"/>
                  </a:lnTo>
                  <a:lnTo>
                    <a:pt x="2298" y="1052097"/>
                  </a:lnTo>
                  <a:lnTo>
                    <a:pt x="4788" y="1052097"/>
                  </a:lnTo>
                  <a:lnTo>
                    <a:pt x="7086" y="1052097"/>
                  </a:lnTo>
                  <a:lnTo>
                    <a:pt x="7086" y="1054580"/>
                  </a:lnTo>
                  <a:lnTo>
                    <a:pt x="9001" y="1056872"/>
                  </a:lnTo>
                  <a:lnTo>
                    <a:pt x="9001" y="1084563"/>
                  </a:lnTo>
                  <a:lnTo>
                    <a:pt x="7086" y="1086473"/>
                  </a:lnTo>
                  <a:lnTo>
                    <a:pt x="7086" y="1088956"/>
                  </a:lnTo>
                  <a:lnTo>
                    <a:pt x="4788" y="1088956"/>
                  </a:lnTo>
                  <a:lnTo>
                    <a:pt x="4788" y="1091248"/>
                  </a:lnTo>
                  <a:lnTo>
                    <a:pt x="2298" y="1088956"/>
                  </a:lnTo>
                  <a:lnTo>
                    <a:pt x="0" y="1088956"/>
                  </a:lnTo>
                  <a:lnTo>
                    <a:pt x="0" y="1086473"/>
                  </a:lnTo>
                  <a:lnTo>
                    <a:pt x="0" y="1084563"/>
                  </a:lnTo>
                </a:path>
                <a:path w="9525" h="4244340">
                  <a:moveTo>
                    <a:pt x="0" y="1017721"/>
                  </a:moveTo>
                  <a:lnTo>
                    <a:pt x="0" y="1015429"/>
                  </a:lnTo>
                  <a:lnTo>
                    <a:pt x="2298" y="1012947"/>
                  </a:lnTo>
                  <a:lnTo>
                    <a:pt x="4788" y="1012947"/>
                  </a:lnTo>
                  <a:lnTo>
                    <a:pt x="7086" y="1015429"/>
                  </a:lnTo>
                  <a:lnTo>
                    <a:pt x="9001" y="1017721"/>
                  </a:lnTo>
                  <a:lnTo>
                    <a:pt x="7086" y="1020013"/>
                  </a:lnTo>
                  <a:lnTo>
                    <a:pt x="7086" y="1022496"/>
                  </a:lnTo>
                  <a:lnTo>
                    <a:pt x="4788" y="1022496"/>
                  </a:lnTo>
                  <a:lnTo>
                    <a:pt x="2298" y="1022496"/>
                  </a:lnTo>
                  <a:lnTo>
                    <a:pt x="0" y="1022496"/>
                  </a:lnTo>
                  <a:lnTo>
                    <a:pt x="0" y="1020013"/>
                  </a:lnTo>
                  <a:lnTo>
                    <a:pt x="0" y="1017721"/>
                  </a:lnTo>
                </a:path>
                <a:path w="9525" h="4244340">
                  <a:moveTo>
                    <a:pt x="0" y="981053"/>
                  </a:moveTo>
                  <a:lnTo>
                    <a:pt x="0" y="951261"/>
                  </a:lnTo>
                  <a:lnTo>
                    <a:pt x="0" y="948969"/>
                  </a:lnTo>
                  <a:lnTo>
                    <a:pt x="2298" y="946677"/>
                  </a:lnTo>
                  <a:lnTo>
                    <a:pt x="4788" y="946677"/>
                  </a:lnTo>
                  <a:lnTo>
                    <a:pt x="7086" y="948969"/>
                  </a:lnTo>
                  <a:lnTo>
                    <a:pt x="9001" y="951261"/>
                  </a:lnTo>
                  <a:lnTo>
                    <a:pt x="9001" y="981053"/>
                  </a:lnTo>
                  <a:lnTo>
                    <a:pt x="7086" y="981053"/>
                  </a:lnTo>
                  <a:lnTo>
                    <a:pt x="7086" y="983345"/>
                  </a:lnTo>
                  <a:lnTo>
                    <a:pt x="4788" y="983345"/>
                  </a:lnTo>
                  <a:lnTo>
                    <a:pt x="4788" y="985637"/>
                  </a:lnTo>
                  <a:lnTo>
                    <a:pt x="2298" y="983345"/>
                  </a:lnTo>
                  <a:lnTo>
                    <a:pt x="0" y="983345"/>
                  </a:lnTo>
                  <a:lnTo>
                    <a:pt x="0" y="981053"/>
                  </a:lnTo>
                </a:path>
                <a:path w="9525" h="4244340">
                  <a:moveTo>
                    <a:pt x="0" y="912110"/>
                  </a:moveTo>
                  <a:lnTo>
                    <a:pt x="0" y="909819"/>
                  </a:lnTo>
                  <a:lnTo>
                    <a:pt x="2298" y="909819"/>
                  </a:lnTo>
                  <a:lnTo>
                    <a:pt x="4788" y="907527"/>
                  </a:lnTo>
                  <a:lnTo>
                    <a:pt x="4788" y="909819"/>
                  </a:lnTo>
                  <a:lnTo>
                    <a:pt x="7086" y="909819"/>
                  </a:lnTo>
                  <a:lnTo>
                    <a:pt x="7086" y="912110"/>
                  </a:lnTo>
                  <a:lnTo>
                    <a:pt x="9001" y="912110"/>
                  </a:lnTo>
                  <a:lnTo>
                    <a:pt x="7086" y="914593"/>
                  </a:lnTo>
                  <a:lnTo>
                    <a:pt x="7086" y="916885"/>
                  </a:lnTo>
                  <a:lnTo>
                    <a:pt x="4788" y="916885"/>
                  </a:lnTo>
                  <a:lnTo>
                    <a:pt x="4788" y="918795"/>
                  </a:lnTo>
                  <a:lnTo>
                    <a:pt x="2298" y="916885"/>
                  </a:lnTo>
                  <a:lnTo>
                    <a:pt x="0" y="916885"/>
                  </a:lnTo>
                  <a:lnTo>
                    <a:pt x="0" y="914593"/>
                  </a:lnTo>
                  <a:lnTo>
                    <a:pt x="0" y="912110"/>
                  </a:lnTo>
                </a:path>
                <a:path w="9525" h="4244340">
                  <a:moveTo>
                    <a:pt x="0" y="875443"/>
                  </a:moveTo>
                  <a:lnTo>
                    <a:pt x="0" y="845268"/>
                  </a:lnTo>
                  <a:lnTo>
                    <a:pt x="0" y="842976"/>
                  </a:lnTo>
                  <a:lnTo>
                    <a:pt x="2298" y="841067"/>
                  </a:lnTo>
                  <a:lnTo>
                    <a:pt x="4788" y="841067"/>
                  </a:lnTo>
                  <a:lnTo>
                    <a:pt x="7086" y="842976"/>
                  </a:lnTo>
                  <a:lnTo>
                    <a:pt x="9001" y="845268"/>
                  </a:lnTo>
                  <a:lnTo>
                    <a:pt x="9001" y="875443"/>
                  </a:lnTo>
                  <a:lnTo>
                    <a:pt x="7086" y="877734"/>
                  </a:lnTo>
                  <a:lnTo>
                    <a:pt x="4788" y="879644"/>
                  </a:lnTo>
                  <a:lnTo>
                    <a:pt x="2298" y="879644"/>
                  </a:lnTo>
                  <a:lnTo>
                    <a:pt x="0" y="877734"/>
                  </a:lnTo>
                  <a:lnTo>
                    <a:pt x="0" y="875443"/>
                  </a:lnTo>
                </a:path>
                <a:path w="9525" h="4244340">
                  <a:moveTo>
                    <a:pt x="0" y="808600"/>
                  </a:moveTo>
                  <a:lnTo>
                    <a:pt x="0" y="806118"/>
                  </a:lnTo>
                  <a:lnTo>
                    <a:pt x="0" y="804208"/>
                  </a:lnTo>
                  <a:lnTo>
                    <a:pt x="2298" y="804208"/>
                  </a:lnTo>
                  <a:lnTo>
                    <a:pt x="4788" y="804208"/>
                  </a:lnTo>
                  <a:lnTo>
                    <a:pt x="7086" y="804208"/>
                  </a:lnTo>
                  <a:lnTo>
                    <a:pt x="7086" y="806118"/>
                  </a:lnTo>
                  <a:lnTo>
                    <a:pt x="9001" y="808600"/>
                  </a:lnTo>
                  <a:lnTo>
                    <a:pt x="7086" y="808600"/>
                  </a:lnTo>
                  <a:lnTo>
                    <a:pt x="7086" y="810892"/>
                  </a:lnTo>
                  <a:lnTo>
                    <a:pt x="4788" y="810892"/>
                  </a:lnTo>
                  <a:lnTo>
                    <a:pt x="4788" y="813184"/>
                  </a:lnTo>
                  <a:lnTo>
                    <a:pt x="2298" y="810892"/>
                  </a:lnTo>
                  <a:lnTo>
                    <a:pt x="0" y="810892"/>
                  </a:lnTo>
                  <a:lnTo>
                    <a:pt x="0" y="808600"/>
                  </a:lnTo>
                </a:path>
                <a:path w="9525" h="4244340">
                  <a:moveTo>
                    <a:pt x="0" y="769450"/>
                  </a:moveTo>
                  <a:lnTo>
                    <a:pt x="0" y="739657"/>
                  </a:lnTo>
                  <a:lnTo>
                    <a:pt x="0" y="737365"/>
                  </a:lnTo>
                  <a:lnTo>
                    <a:pt x="2298" y="737365"/>
                  </a:lnTo>
                  <a:lnTo>
                    <a:pt x="4788" y="735074"/>
                  </a:lnTo>
                  <a:lnTo>
                    <a:pt x="4788" y="737365"/>
                  </a:lnTo>
                  <a:lnTo>
                    <a:pt x="7086" y="737365"/>
                  </a:lnTo>
                  <a:lnTo>
                    <a:pt x="7086" y="739657"/>
                  </a:lnTo>
                  <a:lnTo>
                    <a:pt x="9001" y="739657"/>
                  </a:lnTo>
                  <a:lnTo>
                    <a:pt x="9001" y="769450"/>
                  </a:lnTo>
                  <a:lnTo>
                    <a:pt x="7086" y="771741"/>
                  </a:lnTo>
                  <a:lnTo>
                    <a:pt x="4788" y="774224"/>
                  </a:lnTo>
                  <a:lnTo>
                    <a:pt x="2298" y="774224"/>
                  </a:lnTo>
                  <a:lnTo>
                    <a:pt x="0" y="771741"/>
                  </a:lnTo>
                  <a:lnTo>
                    <a:pt x="0" y="769450"/>
                  </a:lnTo>
                </a:path>
                <a:path w="9525" h="4244340">
                  <a:moveTo>
                    <a:pt x="0" y="702989"/>
                  </a:moveTo>
                  <a:lnTo>
                    <a:pt x="0" y="700698"/>
                  </a:lnTo>
                  <a:lnTo>
                    <a:pt x="0" y="698215"/>
                  </a:lnTo>
                  <a:lnTo>
                    <a:pt x="2298" y="698215"/>
                  </a:lnTo>
                  <a:lnTo>
                    <a:pt x="4788" y="698215"/>
                  </a:lnTo>
                  <a:lnTo>
                    <a:pt x="7086" y="698215"/>
                  </a:lnTo>
                  <a:lnTo>
                    <a:pt x="7086" y="700698"/>
                  </a:lnTo>
                  <a:lnTo>
                    <a:pt x="9001" y="702989"/>
                  </a:lnTo>
                  <a:lnTo>
                    <a:pt x="7086" y="705281"/>
                  </a:lnTo>
                  <a:lnTo>
                    <a:pt x="4788" y="707764"/>
                  </a:lnTo>
                  <a:lnTo>
                    <a:pt x="2298" y="707764"/>
                  </a:lnTo>
                  <a:lnTo>
                    <a:pt x="0" y="705281"/>
                  </a:lnTo>
                  <a:lnTo>
                    <a:pt x="0" y="702989"/>
                  </a:lnTo>
                </a:path>
                <a:path w="9525" h="4244340">
                  <a:moveTo>
                    <a:pt x="0" y="663839"/>
                  </a:moveTo>
                  <a:lnTo>
                    <a:pt x="0" y="636147"/>
                  </a:lnTo>
                  <a:lnTo>
                    <a:pt x="0" y="634237"/>
                  </a:lnTo>
                  <a:lnTo>
                    <a:pt x="0" y="631946"/>
                  </a:lnTo>
                  <a:lnTo>
                    <a:pt x="2298" y="631946"/>
                  </a:lnTo>
                  <a:lnTo>
                    <a:pt x="4788" y="631946"/>
                  </a:lnTo>
                  <a:lnTo>
                    <a:pt x="7086" y="631946"/>
                  </a:lnTo>
                  <a:lnTo>
                    <a:pt x="7086" y="634237"/>
                  </a:lnTo>
                  <a:lnTo>
                    <a:pt x="9001" y="636147"/>
                  </a:lnTo>
                  <a:lnTo>
                    <a:pt x="9001" y="663839"/>
                  </a:lnTo>
                  <a:lnTo>
                    <a:pt x="7086" y="666322"/>
                  </a:lnTo>
                  <a:lnTo>
                    <a:pt x="7086" y="668613"/>
                  </a:lnTo>
                  <a:lnTo>
                    <a:pt x="4788" y="668613"/>
                  </a:lnTo>
                  <a:lnTo>
                    <a:pt x="2298" y="668613"/>
                  </a:lnTo>
                  <a:lnTo>
                    <a:pt x="0" y="668613"/>
                  </a:lnTo>
                  <a:lnTo>
                    <a:pt x="0" y="666322"/>
                  </a:lnTo>
                  <a:lnTo>
                    <a:pt x="0" y="663839"/>
                  </a:lnTo>
                </a:path>
                <a:path w="9525" h="4244340">
                  <a:moveTo>
                    <a:pt x="0" y="597379"/>
                  </a:moveTo>
                  <a:lnTo>
                    <a:pt x="0" y="595087"/>
                  </a:lnTo>
                  <a:lnTo>
                    <a:pt x="0" y="592795"/>
                  </a:lnTo>
                  <a:lnTo>
                    <a:pt x="2298" y="592795"/>
                  </a:lnTo>
                  <a:lnTo>
                    <a:pt x="4788" y="592795"/>
                  </a:lnTo>
                  <a:lnTo>
                    <a:pt x="7086" y="592795"/>
                  </a:lnTo>
                  <a:lnTo>
                    <a:pt x="7086" y="595087"/>
                  </a:lnTo>
                  <a:lnTo>
                    <a:pt x="9001" y="597379"/>
                  </a:lnTo>
                  <a:lnTo>
                    <a:pt x="7086" y="599288"/>
                  </a:lnTo>
                  <a:lnTo>
                    <a:pt x="4788" y="601771"/>
                  </a:lnTo>
                  <a:lnTo>
                    <a:pt x="2298" y="601771"/>
                  </a:lnTo>
                  <a:lnTo>
                    <a:pt x="0" y="599288"/>
                  </a:lnTo>
                  <a:lnTo>
                    <a:pt x="0" y="597379"/>
                  </a:lnTo>
                </a:path>
                <a:path w="9525" h="4244340">
                  <a:moveTo>
                    <a:pt x="0" y="558419"/>
                  </a:moveTo>
                  <a:lnTo>
                    <a:pt x="0" y="530536"/>
                  </a:lnTo>
                  <a:lnTo>
                    <a:pt x="0" y="528245"/>
                  </a:lnTo>
                  <a:lnTo>
                    <a:pt x="0" y="525762"/>
                  </a:lnTo>
                  <a:lnTo>
                    <a:pt x="2298" y="525762"/>
                  </a:lnTo>
                  <a:lnTo>
                    <a:pt x="4788" y="525762"/>
                  </a:lnTo>
                  <a:lnTo>
                    <a:pt x="7086" y="525762"/>
                  </a:lnTo>
                  <a:lnTo>
                    <a:pt x="7086" y="528245"/>
                  </a:lnTo>
                  <a:lnTo>
                    <a:pt x="9001" y="530536"/>
                  </a:lnTo>
                  <a:lnTo>
                    <a:pt x="9001" y="558419"/>
                  </a:lnTo>
                  <a:lnTo>
                    <a:pt x="7086" y="560711"/>
                  </a:lnTo>
                  <a:lnTo>
                    <a:pt x="7086" y="562621"/>
                  </a:lnTo>
                  <a:lnTo>
                    <a:pt x="4788" y="562621"/>
                  </a:lnTo>
                  <a:lnTo>
                    <a:pt x="2298" y="562621"/>
                  </a:lnTo>
                  <a:lnTo>
                    <a:pt x="0" y="562621"/>
                  </a:lnTo>
                  <a:lnTo>
                    <a:pt x="0" y="560711"/>
                  </a:lnTo>
                  <a:lnTo>
                    <a:pt x="0" y="558419"/>
                  </a:lnTo>
                </a:path>
                <a:path w="9525" h="4244340">
                  <a:moveTo>
                    <a:pt x="0" y="491386"/>
                  </a:moveTo>
                  <a:lnTo>
                    <a:pt x="0" y="489094"/>
                  </a:lnTo>
                  <a:lnTo>
                    <a:pt x="2298" y="486802"/>
                  </a:lnTo>
                  <a:lnTo>
                    <a:pt x="4788" y="486802"/>
                  </a:lnTo>
                  <a:lnTo>
                    <a:pt x="7086" y="489094"/>
                  </a:lnTo>
                  <a:lnTo>
                    <a:pt x="9001" y="491386"/>
                  </a:lnTo>
                  <a:lnTo>
                    <a:pt x="7086" y="493869"/>
                  </a:lnTo>
                  <a:lnTo>
                    <a:pt x="7086" y="496160"/>
                  </a:lnTo>
                  <a:lnTo>
                    <a:pt x="4788" y="496160"/>
                  </a:lnTo>
                  <a:lnTo>
                    <a:pt x="2298" y="496160"/>
                  </a:lnTo>
                  <a:lnTo>
                    <a:pt x="0" y="496160"/>
                  </a:lnTo>
                  <a:lnTo>
                    <a:pt x="0" y="493869"/>
                  </a:lnTo>
                  <a:lnTo>
                    <a:pt x="0" y="491386"/>
                  </a:lnTo>
                </a:path>
                <a:path w="9525" h="4244340">
                  <a:moveTo>
                    <a:pt x="0" y="452426"/>
                  </a:moveTo>
                  <a:lnTo>
                    <a:pt x="0" y="424925"/>
                  </a:lnTo>
                  <a:lnTo>
                    <a:pt x="0" y="422634"/>
                  </a:lnTo>
                  <a:lnTo>
                    <a:pt x="0" y="420342"/>
                  </a:lnTo>
                  <a:lnTo>
                    <a:pt x="2298" y="420342"/>
                  </a:lnTo>
                  <a:lnTo>
                    <a:pt x="4788" y="420342"/>
                  </a:lnTo>
                  <a:lnTo>
                    <a:pt x="7086" y="420342"/>
                  </a:lnTo>
                  <a:lnTo>
                    <a:pt x="7086" y="422634"/>
                  </a:lnTo>
                  <a:lnTo>
                    <a:pt x="9001" y="424925"/>
                  </a:lnTo>
                  <a:lnTo>
                    <a:pt x="9001" y="452426"/>
                  </a:lnTo>
                  <a:lnTo>
                    <a:pt x="7086" y="454718"/>
                  </a:lnTo>
                  <a:lnTo>
                    <a:pt x="7086" y="457010"/>
                  </a:lnTo>
                  <a:lnTo>
                    <a:pt x="4788" y="457010"/>
                  </a:lnTo>
                  <a:lnTo>
                    <a:pt x="4788" y="459493"/>
                  </a:lnTo>
                  <a:lnTo>
                    <a:pt x="2298" y="457010"/>
                  </a:lnTo>
                  <a:lnTo>
                    <a:pt x="0" y="457010"/>
                  </a:lnTo>
                  <a:lnTo>
                    <a:pt x="0" y="454718"/>
                  </a:lnTo>
                  <a:lnTo>
                    <a:pt x="0" y="452426"/>
                  </a:lnTo>
                </a:path>
                <a:path w="9525" h="4244340">
                  <a:moveTo>
                    <a:pt x="0" y="385966"/>
                  </a:moveTo>
                  <a:lnTo>
                    <a:pt x="0" y="383483"/>
                  </a:lnTo>
                  <a:lnTo>
                    <a:pt x="2298" y="381192"/>
                  </a:lnTo>
                  <a:lnTo>
                    <a:pt x="4788" y="381192"/>
                  </a:lnTo>
                  <a:lnTo>
                    <a:pt x="7086" y="383483"/>
                  </a:lnTo>
                  <a:lnTo>
                    <a:pt x="9001" y="385966"/>
                  </a:lnTo>
                  <a:lnTo>
                    <a:pt x="7086" y="388258"/>
                  </a:lnTo>
                  <a:lnTo>
                    <a:pt x="7086" y="390549"/>
                  </a:lnTo>
                  <a:lnTo>
                    <a:pt x="4788" y="390549"/>
                  </a:lnTo>
                  <a:lnTo>
                    <a:pt x="2298" y="390549"/>
                  </a:lnTo>
                  <a:lnTo>
                    <a:pt x="0" y="390549"/>
                  </a:lnTo>
                  <a:lnTo>
                    <a:pt x="0" y="388258"/>
                  </a:lnTo>
                  <a:lnTo>
                    <a:pt x="0" y="385966"/>
                  </a:lnTo>
                </a:path>
                <a:path w="9525" h="4244340">
                  <a:moveTo>
                    <a:pt x="0" y="349107"/>
                  </a:moveTo>
                  <a:lnTo>
                    <a:pt x="0" y="318933"/>
                  </a:lnTo>
                  <a:lnTo>
                    <a:pt x="0" y="317023"/>
                  </a:lnTo>
                  <a:lnTo>
                    <a:pt x="2298" y="314731"/>
                  </a:lnTo>
                  <a:lnTo>
                    <a:pt x="4788" y="314731"/>
                  </a:lnTo>
                  <a:lnTo>
                    <a:pt x="7086" y="317023"/>
                  </a:lnTo>
                  <a:lnTo>
                    <a:pt x="9001" y="318933"/>
                  </a:lnTo>
                  <a:lnTo>
                    <a:pt x="9001" y="349107"/>
                  </a:lnTo>
                  <a:lnTo>
                    <a:pt x="7086" y="349107"/>
                  </a:lnTo>
                  <a:lnTo>
                    <a:pt x="7086" y="351590"/>
                  </a:lnTo>
                  <a:lnTo>
                    <a:pt x="4788" y="351590"/>
                  </a:lnTo>
                  <a:lnTo>
                    <a:pt x="4788" y="353882"/>
                  </a:lnTo>
                  <a:lnTo>
                    <a:pt x="2298" y="351590"/>
                  </a:lnTo>
                  <a:lnTo>
                    <a:pt x="0" y="351590"/>
                  </a:lnTo>
                  <a:lnTo>
                    <a:pt x="0" y="349107"/>
                  </a:lnTo>
                </a:path>
                <a:path w="9525" h="4244340">
                  <a:moveTo>
                    <a:pt x="0" y="280355"/>
                  </a:moveTo>
                  <a:lnTo>
                    <a:pt x="0" y="278063"/>
                  </a:lnTo>
                  <a:lnTo>
                    <a:pt x="2298" y="275581"/>
                  </a:lnTo>
                  <a:lnTo>
                    <a:pt x="4788" y="275581"/>
                  </a:lnTo>
                  <a:lnTo>
                    <a:pt x="7086" y="278063"/>
                  </a:lnTo>
                  <a:lnTo>
                    <a:pt x="7086" y="280355"/>
                  </a:lnTo>
                  <a:lnTo>
                    <a:pt x="9001" y="280355"/>
                  </a:lnTo>
                  <a:lnTo>
                    <a:pt x="7086" y="282265"/>
                  </a:lnTo>
                  <a:lnTo>
                    <a:pt x="7086" y="284557"/>
                  </a:lnTo>
                  <a:lnTo>
                    <a:pt x="4788" y="284557"/>
                  </a:lnTo>
                  <a:lnTo>
                    <a:pt x="4788" y="287039"/>
                  </a:lnTo>
                  <a:lnTo>
                    <a:pt x="2298" y="284557"/>
                  </a:lnTo>
                  <a:lnTo>
                    <a:pt x="0" y="284557"/>
                  </a:lnTo>
                  <a:lnTo>
                    <a:pt x="0" y="282265"/>
                  </a:lnTo>
                  <a:lnTo>
                    <a:pt x="0" y="280355"/>
                  </a:lnTo>
                </a:path>
                <a:path w="9525" h="4244340">
                  <a:moveTo>
                    <a:pt x="0" y="243114"/>
                  </a:moveTo>
                  <a:lnTo>
                    <a:pt x="0" y="213513"/>
                  </a:lnTo>
                  <a:lnTo>
                    <a:pt x="0" y="211030"/>
                  </a:lnTo>
                  <a:lnTo>
                    <a:pt x="2298" y="208738"/>
                  </a:lnTo>
                  <a:lnTo>
                    <a:pt x="4788" y="208738"/>
                  </a:lnTo>
                  <a:lnTo>
                    <a:pt x="7086" y="211030"/>
                  </a:lnTo>
                  <a:lnTo>
                    <a:pt x="9001" y="213513"/>
                  </a:lnTo>
                  <a:lnTo>
                    <a:pt x="9001" y="243114"/>
                  </a:lnTo>
                  <a:lnTo>
                    <a:pt x="7086" y="245406"/>
                  </a:lnTo>
                  <a:lnTo>
                    <a:pt x="4788" y="247889"/>
                  </a:lnTo>
                  <a:lnTo>
                    <a:pt x="2298" y="247889"/>
                  </a:lnTo>
                  <a:lnTo>
                    <a:pt x="0" y="245406"/>
                  </a:lnTo>
                  <a:lnTo>
                    <a:pt x="0" y="243114"/>
                  </a:lnTo>
                </a:path>
                <a:path w="9525" h="4244340">
                  <a:moveTo>
                    <a:pt x="0" y="176654"/>
                  </a:moveTo>
                  <a:lnTo>
                    <a:pt x="0" y="174362"/>
                  </a:lnTo>
                  <a:lnTo>
                    <a:pt x="0" y="172071"/>
                  </a:lnTo>
                  <a:lnTo>
                    <a:pt x="2298" y="172071"/>
                  </a:lnTo>
                  <a:lnTo>
                    <a:pt x="4788" y="172071"/>
                  </a:lnTo>
                  <a:lnTo>
                    <a:pt x="7086" y="172071"/>
                  </a:lnTo>
                  <a:lnTo>
                    <a:pt x="7086" y="174362"/>
                  </a:lnTo>
                  <a:lnTo>
                    <a:pt x="9001" y="176654"/>
                  </a:lnTo>
                  <a:lnTo>
                    <a:pt x="7086" y="176654"/>
                  </a:lnTo>
                  <a:lnTo>
                    <a:pt x="7086" y="179137"/>
                  </a:lnTo>
                  <a:lnTo>
                    <a:pt x="4788" y="179137"/>
                  </a:lnTo>
                  <a:lnTo>
                    <a:pt x="4788" y="181429"/>
                  </a:lnTo>
                  <a:lnTo>
                    <a:pt x="2298" y="179137"/>
                  </a:lnTo>
                  <a:lnTo>
                    <a:pt x="0" y="179137"/>
                  </a:lnTo>
                  <a:lnTo>
                    <a:pt x="0" y="176654"/>
                  </a:lnTo>
                </a:path>
                <a:path w="9525" h="4244340">
                  <a:moveTo>
                    <a:pt x="0" y="137504"/>
                  </a:moveTo>
                  <a:lnTo>
                    <a:pt x="0" y="107902"/>
                  </a:lnTo>
                  <a:lnTo>
                    <a:pt x="0" y="105610"/>
                  </a:lnTo>
                  <a:lnTo>
                    <a:pt x="2298" y="103128"/>
                  </a:lnTo>
                  <a:lnTo>
                    <a:pt x="4788" y="103128"/>
                  </a:lnTo>
                  <a:lnTo>
                    <a:pt x="7086" y="105610"/>
                  </a:lnTo>
                  <a:lnTo>
                    <a:pt x="7086" y="107902"/>
                  </a:lnTo>
                  <a:lnTo>
                    <a:pt x="9001" y="107902"/>
                  </a:lnTo>
                  <a:lnTo>
                    <a:pt x="9001" y="137504"/>
                  </a:lnTo>
                  <a:lnTo>
                    <a:pt x="7086" y="139986"/>
                  </a:lnTo>
                  <a:lnTo>
                    <a:pt x="4788" y="142278"/>
                  </a:lnTo>
                  <a:lnTo>
                    <a:pt x="2298" y="142278"/>
                  </a:lnTo>
                  <a:lnTo>
                    <a:pt x="0" y="139986"/>
                  </a:lnTo>
                  <a:lnTo>
                    <a:pt x="0" y="137504"/>
                  </a:lnTo>
                </a:path>
                <a:path w="9525" h="4244340">
                  <a:moveTo>
                    <a:pt x="0" y="71234"/>
                  </a:moveTo>
                  <a:lnTo>
                    <a:pt x="0" y="68752"/>
                  </a:lnTo>
                  <a:lnTo>
                    <a:pt x="0" y="66460"/>
                  </a:lnTo>
                  <a:lnTo>
                    <a:pt x="2298" y="66460"/>
                  </a:lnTo>
                  <a:lnTo>
                    <a:pt x="4788" y="66460"/>
                  </a:lnTo>
                  <a:lnTo>
                    <a:pt x="7086" y="66460"/>
                  </a:lnTo>
                  <a:lnTo>
                    <a:pt x="7086" y="68752"/>
                  </a:lnTo>
                  <a:lnTo>
                    <a:pt x="9001" y="71234"/>
                  </a:lnTo>
                  <a:lnTo>
                    <a:pt x="7086" y="73526"/>
                  </a:lnTo>
                  <a:lnTo>
                    <a:pt x="4788" y="75436"/>
                  </a:lnTo>
                  <a:lnTo>
                    <a:pt x="2298" y="75436"/>
                  </a:lnTo>
                  <a:lnTo>
                    <a:pt x="0" y="73526"/>
                  </a:lnTo>
                  <a:lnTo>
                    <a:pt x="0" y="71234"/>
                  </a:lnTo>
                </a:path>
                <a:path w="9525" h="4244340">
                  <a:moveTo>
                    <a:pt x="0" y="32084"/>
                  </a:moveTo>
                  <a:lnTo>
                    <a:pt x="0" y="4201"/>
                  </a:lnTo>
                  <a:lnTo>
                    <a:pt x="0" y="1909"/>
                  </a:lnTo>
                  <a:lnTo>
                    <a:pt x="0" y="0"/>
                  </a:lnTo>
                  <a:lnTo>
                    <a:pt x="2298" y="0"/>
                  </a:lnTo>
                  <a:lnTo>
                    <a:pt x="4788" y="0"/>
                  </a:lnTo>
                  <a:lnTo>
                    <a:pt x="7086" y="0"/>
                  </a:lnTo>
                  <a:lnTo>
                    <a:pt x="7086" y="1909"/>
                  </a:lnTo>
                  <a:lnTo>
                    <a:pt x="9001" y="4201"/>
                  </a:lnTo>
                  <a:lnTo>
                    <a:pt x="9001" y="32084"/>
                  </a:lnTo>
                  <a:lnTo>
                    <a:pt x="7086" y="34376"/>
                  </a:lnTo>
                  <a:lnTo>
                    <a:pt x="7086" y="36667"/>
                  </a:lnTo>
                  <a:lnTo>
                    <a:pt x="4788" y="36667"/>
                  </a:lnTo>
                  <a:lnTo>
                    <a:pt x="2298" y="36667"/>
                  </a:lnTo>
                  <a:lnTo>
                    <a:pt x="0" y="36667"/>
                  </a:lnTo>
                  <a:lnTo>
                    <a:pt x="0" y="34376"/>
                  </a:lnTo>
                  <a:lnTo>
                    <a:pt x="0" y="32084"/>
                  </a:lnTo>
                </a:path>
              </a:pathLst>
            </a:custGeom>
            <a:ln w="3175">
              <a:solidFill>
                <a:srgbClr val="000000"/>
              </a:solidFill>
            </a:ln>
          </p:spPr>
          <p:txBody>
            <a:bodyPr wrap="square" lIns="0" tIns="0" rIns="0" bIns="0" rtlCol="0"/>
            <a:lstStyle/>
            <a:p/>
          </p:txBody>
        </p:sp>
        <p:sp>
          <p:nvSpPr>
            <p:cNvPr id="56" name="object 56" descr=""/>
            <p:cNvSpPr/>
            <p:nvPr/>
          </p:nvSpPr>
          <p:spPr>
            <a:xfrm>
              <a:off x="8981450" y="1799699"/>
              <a:ext cx="9525" cy="4244340"/>
            </a:xfrm>
            <a:custGeom>
              <a:avLst/>
              <a:gdLst/>
              <a:ahLst/>
              <a:cxnLst/>
              <a:rect l="l" t="t" r="r" b="b"/>
              <a:pathLst>
                <a:path w="9525" h="4244340">
                  <a:moveTo>
                    <a:pt x="4596" y="4211872"/>
                  </a:moveTo>
                  <a:lnTo>
                    <a:pt x="2298" y="4211872"/>
                  </a:lnTo>
                  <a:lnTo>
                    <a:pt x="0" y="4214227"/>
                  </a:lnTo>
                  <a:lnTo>
                    <a:pt x="0" y="4243912"/>
                  </a:lnTo>
                  <a:lnTo>
                    <a:pt x="9001" y="4243912"/>
                  </a:lnTo>
                  <a:lnTo>
                    <a:pt x="9001" y="4216583"/>
                  </a:lnTo>
                  <a:lnTo>
                    <a:pt x="7086" y="4214227"/>
                  </a:lnTo>
                  <a:lnTo>
                    <a:pt x="4596" y="4211872"/>
                  </a:lnTo>
                  <a:close/>
                </a:path>
                <a:path w="9525" h="4244340">
                  <a:moveTo>
                    <a:pt x="4596" y="4182188"/>
                  </a:moveTo>
                  <a:lnTo>
                    <a:pt x="2298" y="4182188"/>
                  </a:lnTo>
                  <a:lnTo>
                    <a:pt x="4596" y="4184543"/>
                  </a:lnTo>
                  <a:lnTo>
                    <a:pt x="4596" y="4182188"/>
                  </a:lnTo>
                  <a:close/>
                </a:path>
                <a:path w="9525" h="4244340">
                  <a:moveTo>
                    <a:pt x="4596" y="4172763"/>
                  </a:moveTo>
                  <a:lnTo>
                    <a:pt x="2298" y="4172763"/>
                  </a:lnTo>
                  <a:lnTo>
                    <a:pt x="0" y="4175120"/>
                  </a:lnTo>
                  <a:lnTo>
                    <a:pt x="0" y="4182188"/>
                  </a:lnTo>
                  <a:lnTo>
                    <a:pt x="7086" y="4182188"/>
                  </a:lnTo>
                  <a:lnTo>
                    <a:pt x="7086" y="4179831"/>
                  </a:lnTo>
                  <a:lnTo>
                    <a:pt x="9001" y="4177475"/>
                  </a:lnTo>
                  <a:lnTo>
                    <a:pt x="7086" y="4177475"/>
                  </a:lnTo>
                  <a:lnTo>
                    <a:pt x="7086" y="4175120"/>
                  </a:lnTo>
                  <a:lnTo>
                    <a:pt x="4596" y="4172763"/>
                  </a:lnTo>
                  <a:close/>
                </a:path>
                <a:path w="9525" h="4244340">
                  <a:moveTo>
                    <a:pt x="4596" y="4106328"/>
                  </a:moveTo>
                  <a:lnTo>
                    <a:pt x="2298" y="4106328"/>
                  </a:lnTo>
                  <a:lnTo>
                    <a:pt x="0" y="4108683"/>
                  </a:lnTo>
                  <a:lnTo>
                    <a:pt x="0" y="4143080"/>
                  </a:lnTo>
                  <a:lnTo>
                    <a:pt x="2298" y="4145436"/>
                  </a:lnTo>
                  <a:lnTo>
                    <a:pt x="4596" y="4145436"/>
                  </a:lnTo>
                  <a:lnTo>
                    <a:pt x="7086" y="4143080"/>
                  </a:lnTo>
                  <a:lnTo>
                    <a:pt x="9001" y="4140723"/>
                  </a:lnTo>
                  <a:lnTo>
                    <a:pt x="9001" y="4111039"/>
                  </a:lnTo>
                  <a:lnTo>
                    <a:pt x="7086" y="4108683"/>
                  </a:lnTo>
                  <a:lnTo>
                    <a:pt x="4596" y="4106328"/>
                  </a:lnTo>
                  <a:close/>
                </a:path>
                <a:path w="9525" h="4244340">
                  <a:moveTo>
                    <a:pt x="4596" y="4076644"/>
                  </a:moveTo>
                  <a:lnTo>
                    <a:pt x="2298" y="4076644"/>
                  </a:lnTo>
                  <a:lnTo>
                    <a:pt x="4596" y="4078527"/>
                  </a:lnTo>
                  <a:lnTo>
                    <a:pt x="4596" y="4076644"/>
                  </a:lnTo>
                  <a:close/>
                </a:path>
                <a:path w="9525" h="4244340">
                  <a:moveTo>
                    <a:pt x="7086" y="4069576"/>
                  </a:moveTo>
                  <a:lnTo>
                    <a:pt x="0" y="4069576"/>
                  </a:lnTo>
                  <a:lnTo>
                    <a:pt x="0" y="4076644"/>
                  </a:lnTo>
                  <a:lnTo>
                    <a:pt x="7086" y="4076644"/>
                  </a:lnTo>
                  <a:lnTo>
                    <a:pt x="7086" y="4074287"/>
                  </a:lnTo>
                  <a:lnTo>
                    <a:pt x="9001" y="4074287"/>
                  </a:lnTo>
                  <a:lnTo>
                    <a:pt x="7086" y="4071931"/>
                  </a:lnTo>
                  <a:lnTo>
                    <a:pt x="7086" y="4069576"/>
                  </a:lnTo>
                  <a:close/>
                </a:path>
                <a:path w="9525" h="4244340">
                  <a:moveTo>
                    <a:pt x="4596" y="4000778"/>
                  </a:moveTo>
                  <a:lnTo>
                    <a:pt x="2298" y="4000778"/>
                  </a:lnTo>
                  <a:lnTo>
                    <a:pt x="0" y="4003146"/>
                  </a:lnTo>
                  <a:lnTo>
                    <a:pt x="0" y="4037541"/>
                  </a:lnTo>
                  <a:lnTo>
                    <a:pt x="2298" y="4039890"/>
                  </a:lnTo>
                  <a:lnTo>
                    <a:pt x="4596" y="4039890"/>
                  </a:lnTo>
                  <a:lnTo>
                    <a:pt x="7086" y="4037541"/>
                  </a:lnTo>
                  <a:lnTo>
                    <a:pt x="9001" y="4035173"/>
                  </a:lnTo>
                  <a:lnTo>
                    <a:pt x="9001" y="4005018"/>
                  </a:lnTo>
                  <a:lnTo>
                    <a:pt x="7086" y="4005018"/>
                  </a:lnTo>
                  <a:lnTo>
                    <a:pt x="7086" y="4003146"/>
                  </a:lnTo>
                  <a:lnTo>
                    <a:pt x="4596" y="4000778"/>
                  </a:lnTo>
                  <a:close/>
                </a:path>
                <a:path w="9525" h="4244340">
                  <a:moveTo>
                    <a:pt x="7086" y="3964034"/>
                  </a:moveTo>
                  <a:lnTo>
                    <a:pt x="0" y="3964034"/>
                  </a:lnTo>
                  <a:lnTo>
                    <a:pt x="0" y="3970623"/>
                  </a:lnTo>
                  <a:lnTo>
                    <a:pt x="2298" y="3972991"/>
                  </a:lnTo>
                  <a:lnTo>
                    <a:pt x="4596" y="3972991"/>
                  </a:lnTo>
                  <a:lnTo>
                    <a:pt x="7086" y="3970623"/>
                  </a:lnTo>
                  <a:lnTo>
                    <a:pt x="9001" y="3968274"/>
                  </a:lnTo>
                  <a:lnTo>
                    <a:pt x="7086" y="3966383"/>
                  </a:lnTo>
                  <a:lnTo>
                    <a:pt x="7086" y="3964034"/>
                  </a:lnTo>
                  <a:close/>
                </a:path>
                <a:path w="9525" h="4244340">
                  <a:moveTo>
                    <a:pt x="7086" y="3897115"/>
                  </a:moveTo>
                  <a:lnTo>
                    <a:pt x="0" y="3897115"/>
                  </a:lnTo>
                  <a:lnTo>
                    <a:pt x="0" y="3933878"/>
                  </a:lnTo>
                  <a:lnTo>
                    <a:pt x="7086" y="3933878"/>
                  </a:lnTo>
                  <a:lnTo>
                    <a:pt x="7086" y="3931529"/>
                  </a:lnTo>
                  <a:lnTo>
                    <a:pt x="9001" y="3929161"/>
                  </a:lnTo>
                  <a:lnTo>
                    <a:pt x="9001" y="3901832"/>
                  </a:lnTo>
                  <a:lnTo>
                    <a:pt x="7086" y="3899483"/>
                  </a:lnTo>
                  <a:lnTo>
                    <a:pt x="7086" y="3897115"/>
                  </a:lnTo>
                  <a:close/>
                </a:path>
                <a:path w="9525" h="4244340">
                  <a:moveTo>
                    <a:pt x="7086" y="3858022"/>
                  </a:moveTo>
                  <a:lnTo>
                    <a:pt x="0" y="3858022"/>
                  </a:lnTo>
                  <a:lnTo>
                    <a:pt x="0" y="3865088"/>
                  </a:lnTo>
                  <a:lnTo>
                    <a:pt x="2298" y="3867437"/>
                  </a:lnTo>
                  <a:lnTo>
                    <a:pt x="4596" y="3867437"/>
                  </a:lnTo>
                  <a:lnTo>
                    <a:pt x="7086" y="3865088"/>
                  </a:lnTo>
                  <a:lnTo>
                    <a:pt x="9001" y="3862720"/>
                  </a:lnTo>
                  <a:lnTo>
                    <a:pt x="7086" y="3860371"/>
                  </a:lnTo>
                  <a:lnTo>
                    <a:pt x="7086" y="3858022"/>
                  </a:lnTo>
                  <a:close/>
                </a:path>
                <a:path w="9525" h="4244340">
                  <a:moveTo>
                    <a:pt x="7086" y="3791581"/>
                  </a:moveTo>
                  <a:lnTo>
                    <a:pt x="0" y="3791581"/>
                  </a:lnTo>
                  <a:lnTo>
                    <a:pt x="0" y="3828325"/>
                  </a:lnTo>
                  <a:lnTo>
                    <a:pt x="7086" y="3828325"/>
                  </a:lnTo>
                  <a:lnTo>
                    <a:pt x="7086" y="3825976"/>
                  </a:lnTo>
                  <a:lnTo>
                    <a:pt x="9001" y="3823627"/>
                  </a:lnTo>
                  <a:lnTo>
                    <a:pt x="9001" y="3796298"/>
                  </a:lnTo>
                  <a:lnTo>
                    <a:pt x="7086" y="3793930"/>
                  </a:lnTo>
                  <a:lnTo>
                    <a:pt x="7086" y="3791581"/>
                  </a:lnTo>
                  <a:close/>
                </a:path>
                <a:path w="9525" h="4244340">
                  <a:moveTo>
                    <a:pt x="4596" y="3752469"/>
                  </a:moveTo>
                  <a:lnTo>
                    <a:pt x="2298" y="3752469"/>
                  </a:lnTo>
                  <a:lnTo>
                    <a:pt x="0" y="3754837"/>
                  </a:lnTo>
                  <a:lnTo>
                    <a:pt x="0" y="3761425"/>
                  </a:lnTo>
                  <a:lnTo>
                    <a:pt x="7086" y="3761425"/>
                  </a:lnTo>
                  <a:lnTo>
                    <a:pt x="7086" y="3759535"/>
                  </a:lnTo>
                  <a:lnTo>
                    <a:pt x="9001" y="3757186"/>
                  </a:lnTo>
                  <a:lnTo>
                    <a:pt x="7086" y="3754837"/>
                  </a:lnTo>
                  <a:lnTo>
                    <a:pt x="4596" y="3752469"/>
                  </a:lnTo>
                  <a:close/>
                </a:path>
                <a:path w="9525" h="4244340">
                  <a:moveTo>
                    <a:pt x="4596" y="3722791"/>
                  </a:moveTo>
                  <a:lnTo>
                    <a:pt x="2298" y="3722791"/>
                  </a:lnTo>
                  <a:lnTo>
                    <a:pt x="4596" y="3724681"/>
                  </a:lnTo>
                  <a:lnTo>
                    <a:pt x="4596" y="3722791"/>
                  </a:lnTo>
                  <a:close/>
                </a:path>
                <a:path w="9525" h="4244340">
                  <a:moveTo>
                    <a:pt x="7086" y="3685569"/>
                  </a:moveTo>
                  <a:lnTo>
                    <a:pt x="0" y="3685569"/>
                  </a:lnTo>
                  <a:lnTo>
                    <a:pt x="0" y="3722791"/>
                  </a:lnTo>
                  <a:lnTo>
                    <a:pt x="7086" y="3722791"/>
                  </a:lnTo>
                  <a:lnTo>
                    <a:pt x="7086" y="3720422"/>
                  </a:lnTo>
                  <a:lnTo>
                    <a:pt x="9001" y="3718073"/>
                  </a:lnTo>
                  <a:lnTo>
                    <a:pt x="9001" y="3690267"/>
                  </a:lnTo>
                  <a:lnTo>
                    <a:pt x="7086" y="3687918"/>
                  </a:lnTo>
                  <a:lnTo>
                    <a:pt x="7086" y="3685569"/>
                  </a:lnTo>
                  <a:close/>
                </a:path>
                <a:path w="9525" h="4244340">
                  <a:moveTo>
                    <a:pt x="4596" y="3646934"/>
                  </a:moveTo>
                  <a:lnTo>
                    <a:pt x="2298" y="3646934"/>
                  </a:lnTo>
                  <a:lnTo>
                    <a:pt x="0" y="3648806"/>
                  </a:lnTo>
                  <a:lnTo>
                    <a:pt x="0" y="3655872"/>
                  </a:lnTo>
                  <a:lnTo>
                    <a:pt x="7086" y="3655872"/>
                  </a:lnTo>
                  <a:lnTo>
                    <a:pt x="7086" y="3653523"/>
                  </a:lnTo>
                  <a:lnTo>
                    <a:pt x="9001" y="3651174"/>
                  </a:lnTo>
                  <a:lnTo>
                    <a:pt x="7086" y="3648806"/>
                  </a:lnTo>
                  <a:lnTo>
                    <a:pt x="4596" y="3646934"/>
                  </a:lnTo>
                  <a:close/>
                </a:path>
                <a:path w="9525" h="4244340">
                  <a:moveTo>
                    <a:pt x="4596" y="3616779"/>
                  </a:moveTo>
                  <a:lnTo>
                    <a:pt x="2298" y="3616779"/>
                  </a:lnTo>
                  <a:lnTo>
                    <a:pt x="4596" y="3619128"/>
                  </a:lnTo>
                  <a:lnTo>
                    <a:pt x="4596" y="3616779"/>
                  </a:lnTo>
                  <a:close/>
                </a:path>
                <a:path w="9525" h="4244340">
                  <a:moveTo>
                    <a:pt x="4596" y="3580015"/>
                  </a:moveTo>
                  <a:lnTo>
                    <a:pt x="2298" y="3580015"/>
                  </a:lnTo>
                  <a:lnTo>
                    <a:pt x="0" y="3582384"/>
                  </a:lnTo>
                  <a:lnTo>
                    <a:pt x="0" y="3616779"/>
                  </a:lnTo>
                  <a:lnTo>
                    <a:pt x="7086" y="3616779"/>
                  </a:lnTo>
                  <a:lnTo>
                    <a:pt x="7086" y="3614411"/>
                  </a:lnTo>
                  <a:lnTo>
                    <a:pt x="9001" y="3614411"/>
                  </a:lnTo>
                  <a:lnTo>
                    <a:pt x="9001" y="3584733"/>
                  </a:lnTo>
                  <a:lnTo>
                    <a:pt x="7086" y="3582384"/>
                  </a:lnTo>
                  <a:lnTo>
                    <a:pt x="4596" y="3580015"/>
                  </a:lnTo>
                  <a:close/>
                </a:path>
                <a:path w="9525" h="4244340">
                  <a:moveTo>
                    <a:pt x="4596" y="3550337"/>
                  </a:moveTo>
                  <a:lnTo>
                    <a:pt x="2298" y="3550337"/>
                  </a:lnTo>
                  <a:lnTo>
                    <a:pt x="4596" y="3552686"/>
                  </a:lnTo>
                  <a:lnTo>
                    <a:pt x="4596" y="3550337"/>
                  </a:lnTo>
                  <a:close/>
                </a:path>
                <a:path w="9525" h="4244340">
                  <a:moveTo>
                    <a:pt x="4596" y="3540903"/>
                  </a:moveTo>
                  <a:lnTo>
                    <a:pt x="2298" y="3540903"/>
                  </a:lnTo>
                  <a:lnTo>
                    <a:pt x="0" y="3543271"/>
                  </a:lnTo>
                  <a:lnTo>
                    <a:pt x="0" y="3550337"/>
                  </a:lnTo>
                  <a:lnTo>
                    <a:pt x="7086" y="3550337"/>
                  </a:lnTo>
                  <a:lnTo>
                    <a:pt x="7086" y="3547988"/>
                  </a:lnTo>
                  <a:lnTo>
                    <a:pt x="9001" y="3545620"/>
                  </a:lnTo>
                  <a:lnTo>
                    <a:pt x="7086" y="3545620"/>
                  </a:lnTo>
                  <a:lnTo>
                    <a:pt x="7086" y="3543271"/>
                  </a:lnTo>
                  <a:lnTo>
                    <a:pt x="4596" y="3540903"/>
                  </a:lnTo>
                  <a:close/>
                </a:path>
                <a:path w="9525" h="4244340">
                  <a:moveTo>
                    <a:pt x="4596" y="3474481"/>
                  </a:moveTo>
                  <a:lnTo>
                    <a:pt x="2298" y="3474481"/>
                  </a:lnTo>
                  <a:lnTo>
                    <a:pt x="0" y="3476830"/>
                  </a:lnTo>
                  <a:lnTo>
                    <a:pt x="0" y="3511225"/>
                  </a:lnTo>
                  <a:lnTo>
                    <a:pt x="2298" y="3513593"/>
                  </a:lnTo>
                  <a:lnTo>
                    <a:pt x="4596" y="3513593"/>
                  </a:lnTo>
                  <a:lnTo>
                    <a:pt x="7086" y="3511225"/>
                  </a:lnTo>
                  <a:lnTo>
                    <a:pt x="9001" y="3508876"/>
                  </a:lnTo>
                  <a:lnTo>
                    <a:pt x="9001" y="3479179"/>
                  </a:lnTo>
                  <a:lnTo>
                    <a:pt x="7086" y="3476830"/>
                  </a:lnTo>
                  <a:lnTo>
                    <a:pt x="4596" y="3474481"/>
                  </a:lnTo>
                  <a:close/>
                </a:path>
                <a:path w="9525" h="4244340">
                  <a:moveTo>
                    <a:pt x="4596" y="3444326"/>
                  </a:moveTo>
                  <a:lnTo>
                    <a:pt x="2298" y="3444326"/>
                  </a:lnTo>
                  <a:lnTo>
                    <a:pt x="4596" y="3446675"/>
                  </a:lnTo>
                  <a:lnTo>
                    <a:pt x="4596" y="3444326"/>
                  </a:lnTo>
                  <a:close/>
                </a:path>
                <a:path w="9525" h="4244340">
                  <a:moveTo>
                    <a:pt x="7086" y="3437718"/>
                  </a:moveTo>
                  <a:lnTo>
                    <a:pt x="0" y="3437718"/>
                  </a:lnTo>
                  <a:lnTo>
                    <a:pt x="0" y="3444326"/>
                  </a:lnTo>
                  <a:lnTo>
                    <a:pt x="7086" y="3444326"/>
                  </a:lnTo>
                  <a:lnTo>
                    <a:pt x="7086" y="3442435"/>
                  </a:lnTo>
                  <a:lnTo>
                    <a:pt x="9001" y="3442435"/>
                  </a:lnTo>
                  <a:lnTo>
                    <a:pt x="7086" y="3440086"/>
                  </a:lnTo>
                  <a:lnTo>
                    <a:pt x="7086" y="3437718"/>
                  </a:lnTo>
                  <a:close/>
                </a:path>
                <a:path w="9525" h="4244340">
                  <a:moveTo>
                    <a:pt x="4596" y="3368469"/>
                  </a:moveTo>
                  <a:lnTo>
                    <a:pt x="2298" y="3368469"/>
                  </a:lnTo>
                  <a:lnTo>
                    <a:pt x="0" y="3370818"/>
                  </a:lnTo>
                  <a:lnTo>
                    <a:pt x="0" y="3405213"/>
                  </a:lnTo>
                  <a:lnTo>
                    <a:pt x="2298" y="3407562"/>
                  </a:lnTo>
                  <a:lnTo>
                    <a:pt x="4596" y="3407562"/>
                  </a:lnTo>
                  <a:lnTo>
                    <a:pt x="7086" y="3405213"/>
                  </a:lnTo>
                  <a:lnTo>
                    <a:pt x="9001" y="3403323"/>
                  </a:lnTo>
                  <a:lnTo>
                    <a:pt x="9001" y="3373167"/>
                  </a:lnTo>
                  <a:lnTo>
                    <a:pt x="7086" y="3373167"/>
                  </a:lnTo>
                  <a:lnTo>
                    <a:pt x="7086" y="3370818"/>
                  </a:lnTo>
                  <a:lnTo>
                    <a:pt x="4596" y="3368469"/>
                  </a:lnTo>
                  <a:close/>
                </a:path>
                <a:path w="9525" h="4244340">
                  <a:moveTo>
                    <a:pt x="7086" y="3331706"/>
                  </a:moveTo>
                  <a:lnTo>
                    <a:pt x="0" y="3331706"/>
                  </a:lnTo>
                  <a:lnTo>
                    <a:pt x="0" y="3338772"/>
                  </a:lnTo>
                  <a:lnTo>
                    <a:pt x="2298" y="3341140"/>
                  </a:lnTo>
                  <a:lnTo>
                    <a:pt x="4596" y="3341140"/>
                  </a:lnTo>
                  <a:lnTo>
                    <a:pt x="7086" y="3338772"/>
                  </a:lnTo>
                  <a:lnTo>
                    <a:pt x="9001" y="3336423"/>
                  </a:lnTo>
                  <a:lnTo>
                    <a:pt x="7086" y="3334074"/>
                  </a:lnTo>
                  <a:lnTo>
                    <a:pt x="7086" y="3331706"/>
                  </a:lnTo>
                  <a:close/>
                </a:path>
                <a:path w="9525" h="4244340">
                  <a:moveTo>
                    <a:pt x="7086" y="3265265"/>
                  </a:moveTo>
                  <a:lnTo>
                    <a:pt x="0" y="3265265"/>
                  </a:lnTo>
                  <a:lnTo>
                    <a:pt x="0" y="3302028"/>
                  </a:lnTo>
                  <a:lnTo>
                    <a:pt x="7086" y="3302028"/>
                  </a:lnTo>
                  <a:lnTo>
                    <a:pt x="7086" y="3299660"/>
                  </a:lnTo>
                  <a:lnTo>
                    <a:pt x="9001" y="3297311"/>
                  </a:lnTo>
                  <a:lnTo>
                    <a:pt x="9001" y="3269982"/>
                  </a:lnTo>
                  <a:lnTo>
                    <a:pt x="7086" y="3267633"/>
                  </a:lnTo>
                  <a:lnTo>
                    <a:pt x="7086" y="3265265"/>
                  </a:lnTo>
                  <a:close/>
                </a:path>
                <a:path w="9525" h="4244340">
                  <a:moveTo>
                    <a:pt x="4596" y="3262916"/>
                  </a:moveTo>
                  <a:lnTo>
                    <a:pt x="2298" y="3265265"/>
                  </a:lnTo>
                  <a:lnTo>
                    <a:pt x="4596" y="3265265"/>
                  </a:lnTo>
                  <a:lnTo>
                    <a:pt x="4596" y="3262916"/>
                  </a:lnTo>
                  <a:close/>
                </a:path>
                <a:path w="9525" h="4244340">
                  <a:moveTo>
                    <a:pt x="7086" y="3226171"/>
                  </a:moveTo>
                  <a:lnTo>
                    <a:pt x="0" y="3226171"/>
                  </a:lnTo>
                  <a:lnTo>
                    <a:pt x="0" y="3233238"/>
                  </a:lnTo>
                  <a:lnTo>
                    <a:pt x="2298" y="3235587"/>
                  </a:lnTo>
                  <a:lnTo>
                    <a:pt x="4596" y="3235587"/>
                  </a:lnTo>
                  <a:lnTo>
                    <a:pt x="7086" y="3233238"/>
                  </a:lnTo>
                  <a:lnTo>
                    <a:pt x="9001" y="3230869"/>
                  </a:lnTo>
                  <a:lnTo>
                    <a:pt x="7086" y="3228520"/>
                  </a:lnTo>
                  <a:lnTo>
                    <a:pt x="7086" y="3226171"/>
                  </a:lnTo>
                  <a:close/>
                </a:path>
                <a:path w="9525" h="4244340">
                  <a:moveTo>
                    <a:pt x="7086" y="3159730"/>
                  </a:moveTo>
                  <a:lnTo>
                    <a:pt x="0" y="3159730"/>
                  </a:lnTo>
                  <a:lnTo>
                    <a:pt x="0" y="3196474"/>
                  </a:lnTo>
                  <a:lnTo>
                    <a:pt x="7086" y="3196474"/>
                  </a:lnTo>
                  <a:lnTo>
                    <a:pt x="7086" y="3194125"/>
                  </a:lnTo>
                  <a:lnTo>
                    <a:pt x="9001" y="3191776"/>
                  </a:lnTo>
                  <a:lnTo>
                    <a:pt x="9001" y="3163970"/>
                  </a:lnTo>
                  <a:lnTo>
                    <a:pt x="7086" y="3161621"/>
                  </a:lnTo>
                  <a:lnTo>
                    <a:pt x="7086" y="3159730"/>
                  </a:lnTo>
                  <a:close/>
                </a:path>
                <a:path w="9525" h="4244340">
                  <a:moveTo>
                    <a:pt x="4596" y="3120618"/>
                  </a:moveTo>
                  <a:lnTo>
                    <a:pt x="2298" y="3120618"/>
                  </a:lnTo>
                  <a:lnTo>
                    <a:pt x="0" y="3122967"/>
                  </a:lnTo>
                  <a:lnTo>
                    <a:pt x="0" y="3129575"/>
                  </a:lnTo>
                  <a:lnTo>
                    <a:pt x="7086" y="3129575"/>
                  </a:lnTo>
                  <a:lnTo>
                    <a:pt x="7086" y="3127226"/>
                  </a:lnTo>
                  <a:lnTo>
                    <a:pt x="9001" y="3124858"/>
                  </a:lnTo>
                  <a:lnTo>
                    <a:pt x="7086" y="3122967"/>
                  </a:lnTo>
                  <a:lnTo>
                    <a:pt x="4596" y="3120618"/>
                  </a:lnTo>
                  <a:close/>
                </a:path>
                <a:path w="9525" h="4244340">
                  <a:moveTo>
                    <a:pt x="7086" y="3053718"/>
                  </a:moveTo>
                  <a:lnTo>
                    <a:pt x="0" y="3053718"/>
                  </a:lnTo>
                  <a:lnTo>
                    <a:pt x="0" y="3090462"/>
                  </a:lnTo>
                  <a:lnTo>
                    <a:pt x="7086" y="3090462"/>
                  </a:lnTo>
                  <a:lnTo>
                    <a:pt x="7086" y="3088113"/>
                  </a:lnTo>
                  <a:lnTo>
                    <a:pt x="9001" y="3086223"/>
                  </a:lnTo>
                  <a:lnTo>
                    <a:pt x="9001" y="3058416"/>
                  </a:lnTo>
                  <a:lnTo>
                    <a:pt x="7086" y="3056067"/>
                  </a:lnTo>
                  <a:lnTo>
                    <a:pt x="7086" y="3053718"/>
                  </a:lnTo>
                  <a:close/>
                </a:path>
                <a:path w="9525" h="4244340">
                  <a:moveTo>
                    <a:pt x="4596" y="3014606"/>
                  </a:moveTo>
                  <a:lnTo>
                    <a:pt x="2298" y="3014606"/>
                  </a:lnTo>
                  <a:lnTo>
                    <a:pt x="0" y="3016955"/>
                  </a:lnTo>
                  <a:lnTo>
                    <a:pt x="0" y="3024021"/>
                  </a:lnTo>
                  <a:lnTo>
                    <a:pt x="7086" y="3024021"/>
                  </a:lnTo>
                  <a:lnTo>
                    <a:pt x="7086" y="3021672"/>
                  </a:lnTo>
                  <a:lnTo>
                    <a:pt x="9001" y="3019323"/>
                  </a:lnTo>
                  <a:lnTo>
                    <a:pt x="7086" y="3016955"/>
                  </a:lnTo>
                  <a:lnTo>
                    <a:pt x="4596" y="3014606"/>
                  </a:lnTo>
                  <a:close/>
                </a:path>
                <a:path w="9525" h="4244340">
                  <a:moveTo>
                    <a:pt x="4596" y="2984928"/>
                  </a:moveTo>
                  <a:lnTo>
                    <a:pt x="2298" y="2984928"/>
                  </a:lnTo>
                  <a:lnTo>
                    <a:pt x="4596" y="2987277"/>
                  </a:lnTo>
                  <a:lnTo>
                    <a:pt x="4596" y="2984928"/>
                  </a:lnTo>
                  <a:close/>
                </a:path>
                <a:path w="9525" h="4244340">
                  <a:moveTo>
                    <a:pt x="4596" y="2948165"/>
                  </a:moveTo>
                  <a:lnTo>
                    <a:pt x="2298" y="2948165"/>
                  </a:lnTo>
                  <a:lnTo>
                    <a:pt x="0" y="2950533"/>
                  </a:lnTo>
                  <a:lnTo>
                    <a:pt x="0" y="2984928"/>
                  </a:lnTo>
                  <a:lnTo>
                    <a:pt x="7086" y="2984928"/>
                  </a:lnTo>
                  <a:lnTo>
                    <a:pt x="7086" y="2982560"/>
                  </a:lnTo>
                  <a:lnTo>
                    <a:pt x="9001" y="2982560"/>
                  </a:lnTo>
                  <a:lnTo>
                    <a:pt x="9001" y="2952882"/>
                  </a:lnTo>
                  <a:lnTo>
                    <a:pt x="7086" y="2950533"/>
                  </a:lnTo>
                  <a:lnTo>
                    <a:pt x="4596" y="2948165"/>
                  </a:lnTo>
                  <a:close/>
                </a:path>
                <a:path w="9525" h="4244340">
                  <a:moveTo>
                    <a:pt x="4596" y="2909052"/>
                  </a:moveTo>
                  <a:lnTo>
                    <a:pt x="2298" y="2909052"/>
                  </a:lnTo>
                  <a:lnTo>
                    <a:pt x="0" y="2911421"/>
                  </a:lnTo>
                  <a:lnTo>
                    <a:pt x="0" y="2918487"/>
                  </a:lnTo>
                  <a:lnTo>
                    <a:pt x="7086" y="2918487"/>
                  </a:lnTo>
                  <a:lnTo>
                    <a:pt x="7086" y="2916138"/>
                  </a:lnTo>
                  <a:lnTo>
                    <a:pt x="9001" y="2913770"/>
                  </a:lnTo>
                  <a:lnTo>
                    <a:pt x="7086" y="2913770"/>
                  </a:lnTo>
                  <a:lnTo>
                    <a:pt x="7086" y="2911421"/>
                  </a:lnTo>
                  <a:lnTo>
                    <a:pt x="4596" y="2909052"/>
                  </a:lnTo>
                  <a:close/>
                </a:path>
                <a:path w="9525" h="4244340">
                  <a:moveTo>
                    <a:pt x="4596" y="2842630"/>
                  </a:moveTo>
                  <a:lnTo>
                    <a:pt x="2298" y="2842630"/>
                  </a:lnTo>
                  <a:lnTo>
                    <a:pt x="0" y="2844502"/>
                  </a:lnTo>
                  <a:lnTo>
                    <a:pt x="0" y="2879374"/>
                  </a:lnTo>
                  <a:lnTo>
                    <a:pt x="2298" y="2881265"/>
                  </a:lnTo>
                  <a:lnTo>
                    <a:pt x="4596" y="2881265"/>
                  </a:lnTo>
                  <a:lnTo>
                    <a:pt x="7086" y="2879374"/>
                  </a:lnTo>
                  <a:lnTo>
                    <a:pt x="9001" y="2877025"/>
                  </a:lnTo>
                  <a:lnTo>
                    <a:pt x="9001" y="2846870"/>
                  </a:lnTo>
                  <a:lnTo>
                    <a:pt x="7086" y="2844502"/>
                  </a:lnTo>
                  <a:lnTo>
                    <a:pt x="4596" y="2842630"/>
                  </a:lnTo>
                  <a:close/>
                </a:path>
                <a:path w="9525" h="4244340">
                  <a:moveTo>
                    <a:pt x="4596" y="2812475"/>
                  </a:moveTo>
                  <a:lnTo>
                    <a:pt x="2298" y="2812475"/>
                  </a:lnTo>
                  <a:lnTo>
                    <a:pt x="4596" y="2814824"/>
                  </a:lnTo>
                  <a:lnTo>
                    <a:pt x="4596" y="2812475"/>
                  </a:lnTo>
                  <a:close/>
                </a:path>
                <a:path w="9525" h="4244340">
                  <a:moveTo>
                    <a:pt x="7086" y="2805867"/>
                  </a:moveTo>
                  <a:lnTo>
                    <a:pt x="0" y="2805867"/>
                  </a:lnTo>
                  <a:lnTo>
                    <a:pt x="0" y="2812475"/>
                  </a:lnTo>
                  <a:lnTo>
                    <a:pt x="7086" y="2812475"/>
                  </a:lnTo>
                  <a:lnTo>
                    <a:pt x="7086" y="2810107"/>
                  </a:lnTo>
                  <a:lnTo>
                    <a:pt x="9001" y="2810107"/>
                  </a:lnTo>
                  <a:lnTo>
                    <a:pt x="7086" y="2807758"/>
                  </a:lnTo>
                  <a:lnTo>
                    <a:pt x="7086" y="2805867"/>
                  </a:lnTo>
                  <a:close/>
                </a:path>
                <a:path w="9525" h="4244340">
                  <a:moveTo>
                    <a:pt x="4596" y="2803518"/>
                  </a:moveTo>
                  <a:lnTo>
                    <a:pt x="2298" y="2805867"/>
                  </a:lnTo>
                  <a:lnTo>
                    <a:pt x="4596" y="2805867"/>
                  </a:lnTo>
                  <a:lnTo>
                    <a:pt x="4596" y="2803518"/>
                  </a:lnTo>
                  <a:close/>
                </a:path>
                <a:path w="9525" h="4244340">
                  <a:moveTo>
                    <a:pt x="4596" y="2736618"/>
                  </a:moveTo>
                  <a:lnTo>
                    <a:pt x="2298" y="2736618"/>
                  </a:lnTo>
                  <a:lnTo>
                    <a:pt x="0" y="2738967"/>
                  </a:lnTo>
                  <a:lnTo>
                    <a:pt x="0" y="2773363"/>
                  </a:lnTo>
                  <a:lnTo>
                    <a:pt x="2298" y="2775712"/>
                  </a:lnTo>
                  <a:lnTo>
                    <a:pt x="4596" y="2775712"/>
                  </a:lnTo>
                  <a:lnTo>
                    <a:pt x="7086" y="2773363"/>
                  </a:lnTo>
                  <a:lnTo>
                    <a:pt x="9001" y="2771014"/>
                  </a:lnTo>
                  <a:lnTo>
                    <a:pt x="9001" y="2741317"/>
                  </a:lnTo>
                  <a:lnTo>
                    <a:pt x="7086" y="2741317"/>
                  </a:lnTo>
                  <a:lnTo>
                    <a:pt x="7086" y="2738967"/>
                  </a:lnTo>
                  <a:lnTo>
                    <a:pt x="4596" y="2736618"/>
                  </a:lnTo>
                  <a:close/>
                </a:path>
                <a:path w="9525" h="4244340">
                  <a:moveTo>
                    <a:pt x="7086" y="2699855"/>
                  </a:moveTo>
                  <a:lnTo>
                    <a:pt x="0" y="2699855"/>
                  </a:lnTo>
                  <a:lnTo>
                    <a:pt x="0" y="2706921"/>
                  </a:lnTo>
                  <a:lnTo>
                    <a:pt x="2298" y="2709289"/>
                  </a:lnTo>
                  <a:lnTo>
                    <a:pt x="4596" y="2709289"/>
                  </a:lnTo>
                  <a:lnTo>
                    <a:pt x="7086" y="2706921"/>
                  </a:lnTo>
                  <a:lnTo>
                    <a:pt x="9001" y="2704572"/>
                  </a:lnTo>
                  <a:lnTo>
                    <a:pt x="7086" y="2702204"/>
                  </a:lnTo>
                  <a:lnTo>
                    <a:pt x="7086" y="2699855"/>
                  </a:lnTo>
                  <a:close/>
                </a:path>
                <a:path w="9525" h="4244340">
                  <a:moveTo>
                    <a:pt x="7086" y="2633414"/>
                  </a:moveTo>
                  <a:lnTo>
                    <a:pt x="0" y="2633414"/>
                  </a:lnTo>
                  <a:lnTo>
                    <a:pt x="0" y="2670177"/>
                  </a:lnTo>
                  <a:lnTo>
                    <a:pt x="7086" y="2670177"/>
                  </a:lnTo>
                  <a:lnTo>
                    <a:pt x="7086" y="2667809"/>
                  </a:lnTo>
                  <a:lnTo>
                    <a:pt x="9001" y="2665460"/>
                  </a:lnTo>
                  <a:lnTo>
                    <a:pt x="9001" y="2638131"/>
                  </a:lnTo>
                  <a:lnTo>
                    <a:pt x="7086" y="2635782"/>
                  </a:lnTo>
                  <a:lnTo>
                    <a:pt x="7086" y="2633414"/>
                  </a:lnTo>
                  <a:close/>
                </a:path>
                <a:path w="9525" h="4244340">
                  <a:moveTo>
                    <a:pt x="4596" y="2631065"/>
                  </a:moveTo>
                  <a:lnTo>
                    <a:pt x="2298" y="2633414"/>
                  </a:lnTo>
                  <a:lnTo>
                    <a:pt x="4596" y="2633414"/>
                  </a:lnTo>
                  <a:lnTo>
                    <a:pt x="4596" y="2631065"/>
                  </a:lnTo>
                  <a:close/>
                </a:path>
                <a:path w="9525" h="4244340">
                  <a:moveTo>
                    <a:pt x="7086" y="2594321"/>
                  </a:moveTo>
                  <a:lnTo>
                    <a:pt x="0" y="2594321"/>
                  </a:lnTo>
                  <a:lnTo>
                    <a:pt x="0" y="2600909"/>
                  </a:lnTo>
                  <a:lnTo>
                    <a:pt x="2298" y="2603259"/>
                  </a:lnTo>
                  <a:lnTo>
                    <a:pt x="4596" y="2603259"/>
                  </a:lnTo>
                  <a:lnTo>
                    <a:pt x="7086" y="2600909"/>
                  </a:lnTo>
                  <a:lnTo>
                    <a:pt x="9001" y="2599019"/>
                  </a:lnTo>
                  <a:lnTo>
                    <a:pt x="7086" y="2596670"/>
                  </a:lnTo>
                  <a:lnTo>
                    <a:pt x="7086" y="2594321"/>
                  </a:lnTo>
                  <a:close/>
                </a:path>
                <a:path w="9525" h="4244340">
                  <a:moveTo>
                    <a:pt x="7086" y="2527402"/>
                  </a:moveTo>
                  <a:lnTo>
                    <a:pt x="0" y="2527402"/>
                  </a:lnTo>
                  <a:lnTo>
                    <a:pt x="0" y="2564165"/>
                  </a:lnTo>
                  <a:lnTo>
                    <a:pt x="7086" y="2564165"/>
                  </a:lnTo>
                  <a:lnTo>
                    <a:pt x="7086" y="2562275"/>
                  </a:lnTo>
                  <a:lnTo>
                    <a:pt x="9001" y="2559926"/>
                  </a:lnTo>
                  <a:lnTo>
                    <a:pt x="9001" y="2532119"/>
                  </a:lnTo>
                  <a:lnTo>
                    <a:pt x="7086" y="2529770"/>
                  </a:lnTo>
                  <a:lnTo>
                    <a:pt x="7086" y="2527402"/>
                  </a:lnTo>
                  <a:close/>
                </a:path>
                <a:path w="9525" h="4244340">
                  <a:moveTo>
                    <a:pt x="4596" y="2488290"/>
                  </a:moveTo>
                  <a:lnTo>
                    <a:pt x="2298" y="2488290"/>
                  </a:lnTo>
                  <a:lnTo>
                    <a:pt x="0" y="2490658"/>
                  </a:lnTo>
                  <a:lnTo>
                    <a:pt x="0" y="2497724"/>
                  </a:lnTo>
                  <a:lnTo>
                    <a:pt x="7086" y="2497724"/>
                  </a:lnTo>
                  <a:lnTo>
                    <a:pt x="7086" y="2495375"/>
                  </a:lnTo>
                  <a:lnTo>
                    <a:pt x="9001" y="2493007"/>
                  </a:lnTo>
                  <a:lnTo>
                    <a:pt x="7086" y="2490658"/>
                  </a:lnTo>
                  <a:lnTo>
                    <a:pt x="4596" y="2488290"/>
                  </a:lnTo>
                  <a:close/>
                </a:path>
                <a:path w="9525" h="4244340">
                  <a:moveTo>
                    <a:pt x="7086" y="2421868"/>
                  </a:moveTo>
                  <a:lnTo>
                    <a:pt x="0" y="2421868"/>
                  </a:lnTo>
                  <a:lnTo>
                    <a:pt x="0" y="2458612"/>
                  </a:lnTo>
                  <a:lnTo>
                    <a:pt x="7086" y="2458612"/>
                  </a:lnTo>
                  <a:lnTo>
                    <a:pt x="7086" y="2456263"/>
                  </a:lnTo>
                  <a:lnTo>
                    <a:pt x="9001" y="2453895"/>
                  </a:lnTo>
                  <a:lnTo>
                    <a:pt x="9001" y="2426566"/>
                  </a:lnTo>
                  <a:lnTo>
                    <a:pt x="7086" y="2424217"/>
                  </a:lnTo>
                  <a:lnTo>
                    <a:pt x="7086" y="2421868"/>
                  </a:lnTo>
                  <a:close/>
                </a:path>
                <a:path w="9525" h="4244340">
                  <a:moveTo>
                    <a:pt x="4596" y="2382755"/>
                  </a:moveTo>
                  <a:lnTo>
                    <a:pt x="2298" y="2382755"/>
                  </a:lnTo>
                  <a:lnTo>
                    <a:pt x="0" y="2385104"/>
                  </a:lnTo>
                  <a:lnTo>
                    <a:pt x="0" y="2392171"/>
                  </a:lnTo>
                  <a:lnTo>
                    <a:pt x="7086" y="2392171"/>
                  </a:lnTo>
                  <a:lnTo>
                    <a:pt x="7086" y="2389822"/>
                  </a:lnTo>
                  <a:lnTo>
                    <a:pt x="9001" y="2387473"/>
                  </a:lnTo>
                  <a:lnTo>
                    <a:pt x="7086" y="2385104"/>
                  </a:lnTo>
                  <a:lnTo>
                    <a:pt x="4596" y="2382755"/>
                  </a:lnTo>
                  <a:close/>
                </a:path>
                <a:path w="9525" h="4244340">
                  <a:moveTo>
                    <a:pt x="4596" y="2353077"/>
                  </a:moveTo>
                  <a:lnTo>
                    <a:pt x="2298" y="2353077"/>
                  </a:lnTo>
                  <a:lnTo>
                    <a:pt x="4596" y="2355426"/>
                  </a:lnTo>
                  <a:lnTo>
                    <a:pt x="4596" y="2353077"/>
                  </a:lnTo>
                  <a:close/>
                </a:path>
                <a:path w="9525" h="4244340">
                  <a:moveTo>
                    <a:pt x="4596" y="2316371"/>
                  </a:moveTo>
                  <a:lnTo>
                    <a:pt x="2298" y="2316371"/>
                  </a:lnTo>
                  <a:lnTo>
                    <a:pt x="0" y="2318663"/>
                  </a:lnTo>
                  <a:lnTo>
                    <a:pt x="0" y="2353077"/>
                  </a:lnTo>
                  <a:lnTo>
                    <a:pt x="7086" y="2353077"/>
                  </a:lnTo>
                  <a:lnTo>
                    <a:pt x="7086" y="2350709"/>
                  </a:lnTo>
                  <a:lnTo>
                    <a:pt x="9001" y="2350709"/>
                  </a:lnTo>
                  <a:lnTo>
                    <a:pt x="9001" y="2320573"/>
                  </a:lnTo>
                  <a:lnTo>
                    <a:pt x="7086" y="2318663"/>
                  </a:lnTo>
                  <a:lnTo>
                    <a:pt x="4596" y="2316371"/>
                  </a:lnTo>
                  <a:close/>
                </a:path>
                <a:path w="9525" h="4244340">
                  <a:moveTo>
                    <a:pt x="4596" y="2277221"/>
                  </a:moveTo>
                  <a:lnTo>
                    <a:pt x="2298" y="2277221"/>
                  </a:lnTo>
                  <a:lnTo>
                    <a:pt x="0" y="2279513"/>
                  </a:lnTo>
                  <a:lnTo>
                    <a:pt x="0" y="2286197"/>
                  </a:lnTo>
                  <a:lnTo>
                    <a:pt x="7086" y="2286197"/>
                  </a:lnTo>
                  <a:lnTo>
                    <a:pt x="7086" y="2283714"/>
                  </a:lnTo>
                  <a:lnTo>
                    <a:pt x="9001" y="2281995"/>
                  </a:lnTo>
                  <a:lnTo>
                    <a:pt x="7086" y="2279513"/>
                  </a:lnTo>
                  <a:lnTo>
                    <a:pt x="4596" y="2277221"/>
                  </a:lnTo>
                  <a:close/>
                </a:path>
                <a:path w="9525" h="4244340">
                  <a:moveTo>
                    <a:pt x="4596" y="2210379"/>
                  </a:moveTo>
                  <a:lnTo>
                    <a:pt x="2298" y="2210379"/>
                  </a:lnTo>
                  <a:lnTo>
                    <a:pt x="0" y="2212670"/>
                  </a:lnTo>
                  <a:lnTo>
                    <a:pt x="0" y="2247046"/>
                  </a:lnTo>
                  <a:lnTo>
                    <a:pt x="2298" y="2249338"/>
                  </a:lnTo>
                  <a:lnTo>
                    <a:pt x="4596" y="2249338"/>
                  </a:lnTo>
                  <a:lnTo>
                    <a:pt x="7086" y="2247046"/>
                  </a:lnTo>
                  <a:lnTo>
                    <a:pt x="7086" y="2245137"/>
                  </a:lnTo>
                  <a:lnTo>
                    <a:pt x="9001" y="2245137"/>
                  </a:lnTo>
                  <a:lnTo>
                    <a:pt x="9001" y="2214962"/>
                  </a:lnTo>
                  <a:lnTo>
                    <a:pt x="7086" y="2212670"/>
                  </a:lnTo>
                  <a:lnTo>
                    <a:pt x="4596" y="2210379"/>
                  </a:lnTo>
                  <a:close/>
                </a:path>
                <a:path w="9525" h="4244340">
                  <a:moveTo>
                    <a:pt x="4596" y="2180586"/>
                  </a:moveTo>
                  <a:lnTo>
                    <a:pt x="2298" y="2180586"/>
                  </a:lnTo>
                  <a:lnTo>
                    <a:pt x="4596" y="2183069"/>
                  </a:lnTo>
                  <a:lnTo>
                    <a:pt x="4596" y="2180586"/>
                  </a:lnTo>
                  <a:close/>
                </a:path>
                <a:path w="9525" h="4244340">
                  <a:moveTo>
                    <a:pt x="7086" y="2173520"/>
                  </a:moveTo>
                  <a:lnTo>
                    <a:pt x="0" y="2173520"/>
                  </a:lnTo>
                  <a:lnTo>
                    <a:pt x="0" y="2180586"/>
                  </a:lnTo>
                  <a:lnTo>
                    <a:pt x="7086" y="2180586"/>
                  </a:lnTo>
                  <a:lnTo>
                    <a:pt x="7086" y="2178294"/>
                  </a:lnTo>
                  <a:lnTo>
                    <a:pt x="9001" y="2178294"/>
                  </a:lnTo>
                  <a:lnTo>
                    <a:pt x="7086" y="2175812"/>
                  </a:lnTo>
                  <a:lnTo>
                    <a:pt x="7086" y="2173520"/>
                  </a:lnTo>
                  <a:close/>
                </a:path>
                <a:path w="9525" h="4244340">
                  <a:moveTo>
                    <a:pt x="4596" y="2171228"/>
                  </a:moveTo>
                  <a:lnTo>
                    <a:pt x="2298" y="2173520"/>
                  </a:lnTo>
                  <a:lnTo>
                    <a:pt x="4596" y="2173520"/>
                  </a:lnTo>
                  <a:lnTo>
                    <a:pt x="4596" y="2171228"/>
                  </a:lnTo>
                  <a:close/>
                </a:path>
                <a:path w="9525" h="4244340">
                  <a:moveTo>
                    <a:pt x="4596" y="2104768"/>
                  </a:moveTo>
                  <a:lnTo>
                    <a:pt x="2298" y="2104768"/>
                  </a:lnTo>
                  <a:lnTo>
                    <a:pt x="0" y="2107060"/>
                  </a:lnTo>
                  <a:lnTo>
                    <a:pt x="0" y="2141436"/>
                  </a:lnTo>
                  <a:lnTo>
                    <a:pt x="2298" y="2143918"/>
                  </a:lnTo>
                  <a:lnTo>
                    <a:pt x="4596" y="2143918"/>
                  </a:lnTo>
                  <a:lnTo>
                    <a:pt x="7086" y="2141436"/>
                  </a:lnTo>
                  <a:lnTo>
                    <a:pt x="9001" y="2139144"/>
                  </a:lnTo>
                  <a:lnTo>
                    <a:pt x="9001" y="2109542"/>
                  </a:lnTo>
                  <a:lnTo>
                    <a:pt x="7086" y="2107060"/>
                  </a:lnTo>
                  <a:lnTo>
                    <a:pt x="4596" y="2104768"/>
                  </a:lnTo>
                  <a:close/>
                </a:path>
                <a:path w="9525" h="4244340">
                  <a:moveTo>
                    <a:pt x="7086" y="2068100"/>
                  </a:moveTo>
                  <a:lnTo>
                    <a:pt x="0" y="2068100"/>
                  </a:lnTo>
                  <a:lnTo>
                    <a:pt x="0" y="2075166"/>
                  </a:lnTo>
                  <a:lnTo>
                    <a:pt x="2298" y="2076885"/>
                  </a:lnTo>
                  <a:lnTo>
                    <a:pt x="4596" y="2076885"/>
                  </a:lnTo>
                  <a:lnTo>
                    <a:pt x="7086" y="2075166"/>
                  </a:lnTo>
                  <a:lnTo>
                    <a:pt x="7086" y="2072684"/>
                  </a:lnTo>
                  <a:lnTo>
                    <a:pt x="9001" y="2072684"/>
                  </a:lnTo>
                  <a:lnTo>
                    <a:pt x="7086" y="2070392"/>
                  </a:lnTo>
                  <a:lnTo>
                    <a:pt x="7086" y="2068100"/>
                  </a:lnTo>
                  <a:close/>
                </a:path>
                <a:path w="9525" h="4244340">
                  <a:moveTo>
                    <a:pt x="7086" y="2001640"/>
                  </a:moveTo>
                  <a:lnTo>
                    <a:pt x="0" y="2001640"/>
                  </a:lnTo>
                  <a:lnTo>
                    <a:pt x="0" y="2036016"/>
                  </a:lnTo>
                  <a:lnTo>
                    <a:pt x="2298" y="2038307"/>
                  </a:lnTo>
                  <a:lnTo>
                    <a:pt x="4596" y="2038307"/>
                  </a:lnTo>
                  <a:lnTo>
                    <a:pt x="7086" y="2036016"/>
                  </a:lnTo>
                  <a:lnTo>
                    <a:pt x="9001" y="2033533"/>
                  </a:lnTo>
                  <a:lnTo>
                    <a:pt x="9001" y="2005841"/>
                  </a:lnTo>
                  <a:lnTo>
                    <a:pt x="7086" y="2003549"/>
                  </a:lnTo>
                  <a:lnTo>
                    <a:pt x="7086" y="2001640"/>
                  </a:lnTo>
                  <a:close/>
                </a:path>
                <a:path w="9525" h="4244340">
                  <a:moveTo>
                    <a:pt x="4596" y="1999157"/>
                  </a:moveTo>
                  <a:lnTo>
                    <a:pt x="2298" y="2001640"/>
                  </a:lnTo>
                  <a:lnTo>
                    <a:pt x="4596" y="2001640"/>
                  </a:lnTo>
                  <a:lnTo>
                    <a:pt x="4596" y="1999157"/>
                  </a:lnTo>
                  <a:close/>
                </a:path>
                <a:path w="9525" h="4244340">
                  <a:moveTo>
                    <a:pt x="7086" y="1962489"/>
                  </a:moveTo>
                  <a:lnTo>
                    <a:pt x="0" y="1962489"/>
                  </a:lnTo>
                  <a:lnTo>
                    <a:pt x="0" y="1968982"/>
                  </a:lnTo>
                  <a:lnTo>
                    <a:pt x="2298" y="1971465"/>
                  </a:lnTo>
                  <a:lnTo>
                    <a:pt x="4596" y="1971465"/>
                  </a:lnTo>
                  <a:lnTo>
                    <a:pt x="7086" y="1968982"/>
                  </a:lnTo>
                  <a:lnTo>
                    <a:pt x="9001" y="1966691"/>
                  </a:lnTo>
                  <a:lnTo>
                    <a:pt x="7086" y="1964399"/>
                  </a:lnTo>
                  <a:lnTo>
                    <a:pt x="7086" y="1962489"/>
                  </a:lnTo>
                  <a:close/>
                </a:path>
                <a:path w="9525" h="4244340">
                  <a:moveTo>
                    <a:pt x="7086" y="1895647"/>
                  </a:moveTo>
                  <a:lnTo>
                    <a:pt x="0" y="1895647"/>
                  </a:lnTo>
                  <a:lnTo>
                    <a:pt x="0" y="1932315"/>
                  </a:lnTo>
                  <a:lnTo>
                    <a:pt x="7086" y="1932315"/>
                  </a:lnTo>
                  <a:lnTo>
                    <a:pt x="7086" y="1930023"/>
                  </a:lnTo>
                  <a:lnTo>
                    <a:pt x="9001" y="1927540"/>
                  </a:lnTo>
                  <a:lnTo>
                    <a:pt x="9001" y="1900230"/>
                  </a:lnTo>
                  <a:lnTo>
                    <a:pt x="7086" y="1897939"/>
                  </a:lnTo>
                  <a:lnTo>
                    <a:pt x="7086" y="1895647"/>
                  </a:lnTo>
                  <a:close/>
                </a:path>
                <a:path w="9525" h="4244340">
                  <a:moveTo>
                    <a:pt x="7086" y="1856496"/>
                  </a:moveTo>
                  <a:lnTo>
                    <a:pt x="0" y="1856496"/>
                  </a:lnTo>
                  <a:lnTo>
                    <a:pt x="0" y="1863563"/>
                  </a:lnTo>
                  <a:lnTo>
                    <a:pt x="2298" y="1865854"/>
                  </a:lnTo>
                  <a:lnTo>
                    <a:pt x="4596" y="1865854"/>
                  </a:lnTo>
                  <a:lnTo>
                    <a:pt x="7086" y="1863563"/>
                  </a:lnTo>
                  <a:lnTo>
                    <a:pt x="9001" y="1861080"/>
                  </a:lnTo>
                  <a:lnTo>
                    <a:pt x="7086" y="1858788"/>
                  </a:lnTo>
                  <a:lnTo>
                    <a:pt x="7086" y="1856496"/>
                  </a:lnTo>
                  <a:close/>
                </a:path>
                <a:path w="9525" h="4244340">
                  <a:moveTo>
                    <a:pt x="7086" y="1790036"/>
                  </a:moveTo>
                  <a:lnTo>
                    <a:pt x="0" y="1790036"/>
                  </a:lnTo>
                  <a:lnTo>
                    <a:pt x="0" y="1826704"/>
                  </a:lnTo>
                  <a:lnTo>
                    <a:pt x="7086" y="1826704"/>
                  </a:lnTo>
                  <a:lnTo>
                    <a:pt x="7086" y="1824412"/>
                  </a:lnTo>
                  <a:lnTo>
                    <a:pt x="9001" y="1822120"/>
                  </a:lnTo>
                  <a:lnTo>
                    <a:pt x="9001" y="1794811"/>
                  </a:lnTo>
                  <a:lnTo>
                    <a:pt x="7086" y="1792328"/>
                  </a:lnTo>
                  <a:lnTo>
                    <a:pt x="7086" y="1790036"/>
                  </a:lnTo>
                  <a:close/>
                </a:path>
                <a:path w="9525" h="4244340">
                  <a:moveTo>
                    <a:pt x="4596" y="1750886"/>
                  </a:moveTo>
                  <a:lnTo>
                    <a:pt x="2298" y="1750886"/>
                  </a:lnTo>
                  <a:lnTo>
                    <a:pt x="0" y="1753177"/>
                  </a:lnTo>
                  <a:lnTo>
                    <a:pt x="0" y="1759862"/>
                  </a:lnTo>
                  <a:lnTo>
                    <a:pt x="7086" y="1759862"/>
                  </a:lnTo>
                  <a:lnTo>
                    <a:pt x="7086" y="1757952"/>
                  </a:lnTo>
                  <a:lnTo>
                    <a:pt x="9001" y="1755660"/>
                  </a:lnTo>
                  <a:lnTo>
                    <a:pt x="7086" y="1753177"/>
                  </a:lnTo>
                  <a:lnTo>
                    <a:pt x="4596" y="1750886"/>
                  </a:lnTo>
                  <a:close/>
                </a:path>
                <a:path w="9525" h="4244340">
                  <a:moveTo>
                    <a:pt x="4596" y="1721284"/>
                  </a:moveTo>
                  <a:lnTo>
                    <a:pt x="2298" y="1721284"/>
                  </a:lnTo>
                  <a:lnTo>
                    <a:pt x="4596" y="1723194"/>
                  </a:lnTo>
                  <a:lnTo>
                    <a:pt x="4596" y="1721284"/>
                  </a:lnTo>
                  <a:close/>
                </a:path>
                <a:path w="9525" h="4244340">
                  <a:moveTo>
                    <a:pt x="7086" y="1684043"/>
                  </a:moveTo>
                  <a:lnTo>
                    <a:pt x="0" y="1684043"/>
                  </a:lnTo>
                  <a:lnTo>
                    <a:pt x="0" y="1721284"/>
                  </a:lnTo>
                  <a:lnTo>
                    <a:pt x="7086" y="1721284"/>
                  </a:lnTo>
                  <a:lnTo>
                    <a:pt x="7086" y="1718801"/>
                  </a:lnTo>
                  <a:lnTo>
                    <a:pt x="9001" y="1718801"/>
                  </a:lnTo>
                  <a:lnTo>
                    <a:pt x="9001" y="1688627"/>
                  </a:lnTo>
                  <a:lnTo>
                    <a:pt x="7086" y="1686335"/>
                  </a:lnTo>
                  <a:lnTo>
                    <a:pt x="7086" y="1684043"/>
                  </a:lnTo>
                  <a:close/>
                </a:path>
                <a:path w="9525" h="4244340">
                  <a:moveTo>
                    <a:pt x="4596" y="1645275"/>
                  </a:moveTo>
                  <a:lnTo>
                    <a:pt x="2298" y="1645275"/>
                  </a:lnTo>
                  <a:lnTo>
                    <a:pt x="0" y="1647185"/>
                  </a:lnTo>
                  <a:lnTo>
                    <a:pt x="0" y="1654251"/>
                  </a:lnTo>
                  <a:lnTo>
                    <a:pt x="7086" y="1654251"/>
                  </a:lnTo>
                  <a:lnTo>
                    <a:pt x="7086" y="1651959"/>
                  </a:lnTo>
                  <a:lnTo>
                    <a:pt x="9001" y="1649667"/>
                  </a:lnTo>
                  <a:lnTo>
                    <a:pt x="7086" y="1647185"/>
                  </a:lnTo>
                  <a:lnTo>
                    <a:pt x="4596" y="1645275"/>
                  </a:lnTo>
                  <a:close/>
                </a:path>
                <a:path w="9525" h="4244340">
                  <a:moveTo>
                    <a:pt x="4596" y="1578432"/>
                  </a:moveTo>
                  <a:lnTo>
                    <a:pt x="2298" y="1578432"/>
                  </a:lnTo>
                  <a:lnTo>
                    <a:pt x="0" y="1580724"/>
                  </a:lnTo>
                  <a:lnTo>
                    <a:pt x="0" y="1615291"/>
                  </a:lnTo>
                  <a:lnTo>
                    <a:pt x="2298" y="1617583"/>
                  </a:lnTo>
                  <a:lnTo>
                    <a:pt x="4596" y="1617583"/>
                  </a:lnTo>
                  <a:lnTo>
                    <a:pt x="7086" y="1615291"/>
                  </a:lnTo>
                  <a:lnTo>
                    <a:pt x="7086" y="1612809"/>
                  </a:lnTo>
                  <a:lnTo>
                    <a:pt x="9001" y="1612809"/>
                  </a:lnTo>
                  <a:lnTo>
                    <a:pt x="9001" y="1583207"/>
                  </a:lnTo>
                  <a:lnTo>
                    <a:pt x="7086" y="1580724"/>
                  </a:lnTo>
                  <a:lnTo>
                    <a:pt x="4596" y="1578432"/>
                  </a:lnTo>
                  <a:close/>
                </a:path>
                <a:path w="9525" h="4244340">
                  <a:moveTo>
                    <a:pt x="4596" y="1548831"/>
                  </a:moveTo>
                  <a:lnTo>
                    <a:pt x="2298" y="1548831"/>
                  </a:lnTo>
                  <a:lnTo>
                    <a:pt x="4596" y="1551123"/>
                  </a:lnTo>
                  <a:lnTo>
                    <a:pt x="4596" y="1548831"/>
                  </a:lnTo>
                  <a:close/>
                </a:path>
                <a:path w="9525" h="4244340">
                  <a:moveTo>
                    <a:pt x="7086" y="1541765"/>
                  </a:moveTo>
                  <a:lnTo>
                    <a:pt x="0" y="1541765"/>
                  </a:lnTo>
                  <a:lnTo>
                    <a:pt x="0" y="1548831"/>
                  </a:lnTo>
                  <a:lnTo>
                    <a:pt x="7086" y="1548831"/>
                  </a:lnTo>
                  <a:lnTo>
                    <a:pt x="7086" y="1546348"/>
                  </a:lnTo>
                  <a:lnTo>
                    <a:pt x="9001" y="1546348"/>
                  </a:lnTo>
                  <a:lnTo>
                    <a:pt x="7086" y="1544056"/>
                  </a:lnTo>
                  <a:lnTo>
                    <a:pt x="7086" y="1541765"/>
                  </a:lnTo>
                  <a:close/>
                </a:path>
                <a:path w="9525" h="4244340">
                  <a:moveTo>
                    <a:pt x="4596" y="1539282"/>
                  </a:moveTo>
                  <a:lnTo>
                    <a:pt x="2298" y="1541765"/>
                  </a:lnTo>
                  <a:lnTo>
                    <a:pt x="4596" y="1541765"/>
                  </a:lnTo>
                  <a:lnTo>
                    <a:pt x="4596" y="1539282"/>
                  </a:lnTo>
                  <a:close/>
                </a:path>
                <a:path w="9525" h="4244340">
                  <a:moveTo>
                    <a:pt x="4596" y="1472822"/>
                  </a:moveTo>
                  <a:lnTo>
                    <a:pt x="2298" y="1472822"/>
                  </a:lnTo>
                  <a:lnTo>
                    <a:pt x="0" y="1475304"/>
                  </a:lnTo>
                  <a:lnTo>
                    <a:pt x="0" y="1509680"/>
                  </a:lnTo>
                  <a:lnTo>
                    <a:pt x="2298" y="1511972"/>
                  </a:lnTo>
                  <a:lnTo>
                    <a:pt x="4596" y="1511972"/>
                  </a:lnTo>
                  <a:lnTo>
                    <a:pt x="7086" y="1509680"/>
                  </a:lnTo>
                  <a:lnTo>
                    <a:pt x="9001" y="1507389"/>
                  </a:lnTo>
                  <a:lnTo>
                    <a:pt x="9001" y="1477596"/>
                  </a:lnTo>
                  <a:lnTo>
                    <a:pt x="7086" y="1475304"/>
                  </a:lnTo>
                  <a:lnTo>
                    <a:pt x="4596" y="1472822"/>
                  </a:lnTo>
                  <a:close/>
                </a:path>
                <a:path w="9525" h="4244340">
                  <a:moveTo>
                    <a:pt x="7086" y="1436154"/>
                  </a:moveTo>
                  <a:lnTo>
                    <a:pt x="0" y="1436154"/>
                  </a:lnTo>
                  <a:lnTo>
                    <a:pt x="0" y="1442838"/>
                  </a:lnTo>
                  <a:lnTo>
                    <a:pt x="2298" y="1445130"/>
                  </a:lnTo>
                  <a:lnTo>
                    <a:pt x="4596" y="1445130"/>
                  </a:lnTo>
                  <a:lnTo>
                    <a:pt x="7086" y="1442838"/>
                  </a:lnTo>
                  <a:lnTo>
                    <a:pt x="7086" y="1440928"/>
                  </a:lnTo>
                  <a:lnTo>
                    <a:pt x="9001" y="1440928"/>
                  </a:lnTo>
                  <a:lnTo>
                    <a:pt x="7086" y="1438446"/>
                  </a:lnTo>
                  <a:lnTo>
                    <a:pt x="7086" y="1436154"/>
                  </a:lnTo>
                  <a:close/>
                </a:path>
                <a:path w="9525" h="4244340">
                  <a:moveTo>
                    <a:pt x="7086" y="1369312"/>
                  </a:moveTo>
                  <a:lnTo>
                    <a:pt x="0" y="1369312"/>
                  </a:lnTo>
                  <a:lnTo>
                    <a:pt x="0" y="1403688"/>
                  </a:lnTo>
                  <a:lnTo>
                    <a:pt x="2298" y="1405979"/>
                  </a:lnTo>
                  <a:lnTo>
                    <a:pt x="4596" y="1405979"/>
                  </a:lnTo>
                  <a:lnTo>
                    <a:pt x="7086" y="1403688"/>
                  </a:lnTo>
                  <a:lnTo>
                    <a:pt x="9001" y="1401778"/>
                  </a:lnTo>
                  <a:lnTo>
                    <a:pt x="9001" y="1373895"/>
                  </a:lnTo>
                  <a:lnTo>
                    <a:pt x="7086" y="1371603"/>
                  </a:lnTo>
                  <a:lnTo>
                    <a:pt x="7086" y="1369312"/>
                  </a:lnTo>
                  <a:close/>
                </a:path>
                <a:path w="9525" h="4244340">
                  <a:moveTo>
                    <a:pt x="4596" y="1366829"/>
                  </a:moveTo>
                  <a:lnTo>
                    <a:pt x="2298" y="1369312"/>
                  </a:lnTo>
                  <a:lnTo>
                    <a:pt x="4596" y="1369312"/>
                  </a:lnTo>
                  <a:lnTo>
                    <a:pt x="4596" y="1366829"/>
                  </a:lnTo>
                  <a:close/>
                </a:path>
                <a:path w="9525" h="4244340">
                  <a:moveTo>
                    <a:pt x="7086" y="1330161"/>
                  </a:moveTo>
                  <a:lnTo>
                    <a:pt x="0" y="1330161"/>
                  </a:lnTo>
                  <a:lnTo>
                    <a:pt x="0" y="1337227"/>
                  </a:lnTo>
                  <a:lnTo>
                    <a:pt x="2298" y="1339519"/>
                  </a:lnTo>
                  <a:lnTo>
                    <a:pt x="4596" y="1339519"/>
                  </a:lnTo>
                  <a:lnTo>
                    <a:pt x="7086" y="1337227"/>
                  </a:lnTo>
                  <a:lnTo>
                    <a:pt x="9001" y="1334936"/>
                  </a:lnTo>
                  <a:lnTo>
                    <a:pt x="7086" y="1332453"/>
                  </a:lnTo>
                  <a:lnTo>
                    <a:pt x="7086" y="1330161"/>
                  </a:lnTo>
                  <a:close/>
                </a:path>
                <a:path w="9525" h="4244340">
                  <a:moveTo>
                    <a:pt x="7086" y="1263701"/>
                  </a:moveTo>
                  <a:lnTo>
                    <a:pt x="0" y="1263701"/>
                  </a:lnTo>
                  <a:lnTo>
                    <a:pt x="0" y="1300369"/>
                  </a:lnTo>
                  <a:lnTo>
                    <a:pt x="7086" y="1300369"/>
                  </a:lnTo>
                  <a:lnTo>
                    <a:pt x="7086" y="1298077"/>
                  </a:lnTo>
                  <a:lnTo>
                    <a:pt x="9001" y="1295785"/>
                  </a:lnTo>
                  <a:lnTo>
                    <a:pt x="9001" y="1268475"/>
                  </a:lnTo>
                  <a:lnTo>
                    <a:pt x="7086" y="1265993"/>
                  </a:lnTo>
                  <a:lnTo>
                    <a:pt x="7086" y="1263701"/>
                  </a:lnTo>
                  <a:close/>
                </a:path>
                <a:path w="9525" h="4244340">
                  <a:moveTo>
                    <a:pt x="7086" y="1224550"/>
                  </a:moveTo>
                  <a:lnTo>
                    <a:pt x="0" y="1224550"/>
                  </a:lnTo>
                  <a:lnTo>
                    <a:pt x="0" y="1231616"/>
                  </a:lnTo>
                  <a:lnTo>
                    <a:pt x="2298" y="1234099"/>
                  </a:lnTo>
                  <a:lnTo>
                    <a:pt x="4596" y="1234099"/>
                  </a:lnTo>
                  <a:lnTo>
                    <a:pt x="7086" y="1231616"/>
                  </a:lnTo>
                  <a:lnTo>
                    <a:pt x="9001" y="1229325"/>
                  </a:lnTo>
                  <a:lnTo>
                    <a:pt x="7086" y="1227033"/>
                  </a:lnTo>
                  <a:lnTo>
                    <a:pt x="7086" y="1224550"/>
                  </a:lnTo>
                  <a:close/>
                </a:path>
                <a:path w="9525" h="4244340">
                  <a:moveTo>
                    <a:pt x="7086" y="1158090"/>
                  </a:moveTo>
                  <a:lnTo>
                    <a:pt x="0" y="1158090"/>
                  </a:lnTo>
                  <a:lnTo>
                    <a:pt x="0" y="1194949"/>
                  </a:lnTo>
                  <a:lnTo>
                    <a:pt x="7086" y="1194949"/>
                  </a:lnTo>
                  <a:lnTo>
                    <a:pt x="7086" y="1192466"/>
                  </a:lnTo>
                  <a:lnTo>
                    <a:pt x="9001" y="1190174"/>
                  </a:lnTo>
                  <a:lnTo>
                    <a:pt x="9001" y="1162482"/>
                  </a:lnTo>
                  <a:lnTo>
                    <a:pt x="7086" y="1160000"/>
                  </a:lnTo>
                  <a:lnTo>
                    <a:pt x="7086" y="1158090"/>
                  </a:lnTo>
                  <a:close/>
                </a:path>
                <a:path w="9525" h="4244340">
                  <a:moveTo>
                    <a:pt x="4596" y="1119130"/>
                  </a:moveTo>
                  <a:lnTo>
                    <a:pt x="2298" y="1119130"/>
                  </a:lnTo>
                  <a:lnTo>
                    <a:pt x="0" y="1121422"/>
                  </a:lnTo>
                  <a:lnTo>
                    <a:pt x="0" y="1127915"/>
                  </a:lnTo>
                  <a:lnTo>
                    <a:pt x="7086" y="1127915"/>
                  </a:lnTo>
                  <a:lnTo>
                    <a:pt x="7086" y="1125624"/>
                  </a:lnTo>
                  <a:lnTo>
                    <a:pt x="9001" y="1123332"/>
                  </a:lnTo>
                  <a:lnTo>
                    <a:pt x="7086" y="1121422"/>
                  </a:lnTo>
                  <a:lnTo>
                    <a:pt x="4596" y="1119130"/>
                  </a:lnTo>
                  <a:close/>
                </a:path>
                <a:path w="9525" h="4244340">
                  <a:moveTo>
                    <a:pt x="4596" y="1088956"/>
                  </a:moveTo>
                  <a:lnTo>
                    <a:pt x="2298" y="1088956"/>
                  </a:lnTo>
                  <a:lnTo>
                    <a:pt x="4596" y="1091248"/>
                  </a:lnTo>
                  <a:lnTo>
                    <a:pt x="4596" y="1088956"/>
                  </a:lnTo>
                  <a:close/>
                </a:path>
                <a:path w="9525" h="4244340">
                  <a:moveTo>
                    <a:pt x="7086" y="1052097"/>
                  </a:moveTo>
                  <a:lnTo>
                    <a:pt x="0" y="1052097"/>
                  </a:lnTo>
                  <a:lnTo>
                    <a:pt x="0" y="1088956"/>
                  </a:lnTo>
                  <a:lnTo>
                    <a:pt x="7086" y="1088956"/>
                  </a:lnTo>
                  <a:lnTo>
                    <a:pt x="7086" y="1086473"/>
                  </a:lnTo>
                  <a:lnTo>
                    <a:pt x="9001" y="1084563"/>
                  </a:lnTo>
                  <a:lnTo>
                    <a:pt x="9001" y="1056872"/>
                  </a:lnTo>
                  <a:lnTo>
                    <a:pt x="7086" y="1054580"/>
                  </a:lnTo>
                  <a:lnTo>
                    <a:pt x="7086" y="1052097"/>
                  </a:lnTo>
                  <a:close/>
                </a:path>
                <a:path w="9525" h="4244340">
                  <a:moveTo>
                    <a:pt x="4596" y="1012947"/>
                  </a:moveTo>
                  <a:lnTo>
                    <a:pt x="2298" y="1012947"/>
                  </a:lnTo>
                  <a:lnTo>
                    <a:pt x="0" y="1015429"/>
                  </a:lnTo>
                  <a:lnTo>
                    <a:pt x="0" y="1022496"/>
                  </a:lnTo>
                  <a:lnTo>
                    <a:pt x="7086" y="1022496"/>
                  </a:lnTo>
                  <a:lnTo>
                    <a:pt x="7086" y="1020013"/>
                  </a:lnTo>
                  <a:lnTo>
                    <a:pt x="9001" y="1017721"/>
                  </a:lnTo>
                  <a:lnTo>
                    <a:pt x="7086" y="1015429"/>
                  </a:lnTo>
                  <a:lnTo>
                    <a:pt x="4596" y="1012947"/>
                  </a:lnTo>
                  <a:close/>
                </a:path>
                <a:path w="9525" h="4244340">
                  <a:moveTo>
                    <a:pt x="4596" y="983345"/>
                  </a:moveTo>
                  <a:lnTo>
                    <a:pt x="2298" y="983345"/>
                  </a:lnTo>
                  <a:lnTo>
                    <a:pt x="4596" y="985637"/>
                  </a:lnTo>
                  <a:lnTo>
                    <a:pt x="4596" y="983345"/>
                  </a:lnTo>
                  <a:close/>
                </a:path>
                <a:path w="9525" h="4244340">
                  <a:moveTo>
                    <a:pt x="4596" y="946677"/>
                  </a:moveTo>
                  <a:lnTo>
                    <a:pt x="2298" y="946677"/>
                  </a:lnTo>
                  <a:lnTo>
                    <a:pt x="0" y="948969"/>
                  </a:lnTo>
                  <a:lnTo>
                    <a:pt x="0" y="983345"/>
                  </a:lnTo>
                  <a:lnTo>
                    <a:pt x="7086" y="983345"/>
                  </a:lnTo>
                  <a:lnTo>
                    <a:pt x="7086" y="981053"/>
                  </a:lnTo>
                  <a:lnTo>
                    <a:pt x="9001" y="981053"/>
                  </a:lnTo>
                  <a:lnTo>
                    <a:pt x="9001" y="951261"/>
                  </a:lnTo>
                  <a:lnTo>
                    <a:pt x="7086" y="948969"/>
                  </a:lnTo>
                  <a:lnTo>
                    <a:pt x="4596" y="946677"/>
                  </a:lnTo>
                  <a:close/>
                </a:path>
                <a:path w="9525" h="4244340">
                  <a:moveTo>
                    <a:pt x="4596" y="916885"/>
                  </a:moveTo>
                  <a:lnTo>
                    <a:pt x="2298" y="916885"/>
                  </a:lnTo>
                  <a:lnTo>
                    <a:pt x="4596" y="918795"/>
                  </a:lnTo>
                  <a:lnTo>
                    <a:pt x="4596" y="916885"/>
                  </a:lnTo>
                  <a:close/>
                </a:path>
                <a:path w="9525" h="4244340">
                  <a:moveTo>
                    <a:pt x="7086" y="909819"/>
                  </a:moveTo>
                  <a:lnTo>
                    <a:pt x="0" y="909819"/>
                  </a:lnTo>
                  <a:lnTo>
                    <a:pt x="0" y="916885"/>
                  </a:lnTo>
                  <a:lnTo>
                    <a:pt x="7086" y="916885"/>
                  </a:lnTo>
                  <a:lnTo>
                    <a:pt x="7086" y="914593"/>
                  </a:lnTo>
                  <a:lnTo>
                    <a:pt x="9001" y="912110"/>
                  </a:lnTo>
                  <a:lnTo>
                    <a:pt x="7086" y="912110"/>
                  </a:lnTo>
                  <a:lnTo>
                    <a:pt x="7086" y="909819"/>
                  </a:lnTo>
                  <a:close/>
                </a:path>
                <a:path w="9525" h="4244340">
                  <a:moveTo>
                    <a:pt x="4596" y="907527"/>
                  </a:moveTo>
                  <a:lnTo>
                    <a:pt x="2298" y="909819"/>
                  </a:lnTo>
                  <a:lnTo>
                    <a:pt x="4596" y="909819"/>
                  </a:lnTo>
                  <a:lnTo>
                    <a:pt x="4596" y="907527"/>
                  </a:lnTo>
                  <a:close/>
                </a:path>
                <a:path w="9525" h="4244340">
                  <a:moveTo>
                    <a:pt x="4596" y="841067"/>
                  </a:moveTo>
                  <a:lnTo>
                    <a:pt x="2298" y="841067"/>
                  </a:lnTo>
                  <a:lnTo>
                    <a:pt x="0" y="842976"/>
                  </a:lnTo>
                  <a:lnTo>
                    <a:pt x="0" y="877734"/>
                  </a:lnTo>
                  <a:lnTo>
                    <a:pt x="2298" y="879644"/>
                  </a:lnTo>
                  <a:lnTo>
                    <a:pt x="4596" y="879644"/>
                  </a:lnTo>
                  <a:lnTo>
                    <a:pt x="7086" y="877734"/>
                  </a:lnTo>
                  <a:lnTo>
                    <a:pt x="9001" y="875443"/>
                  </a:lnTo>
                  <a:lnTo>
                    <a:pt x="9001" y="845268"/>
                  </a:lnTo>
                  <a:lnTo>
                    <a:pt x="7086" y="842976"/>
                  </a:lnTo>
                  <a:lnTo>
                    <a:pt x="4596" y="841067"/>
                  </a:lnTo>
                  <a:close/>
                </a:path>
                <a:path w="9525" h="4244340">
                  <a:moveTo>
                    <a:pt x="4596" y="810892"/>
                  </a:moveTo>
                  <a:lnTo>
                    <a:pt x="2298" y="810892"/>
                  </a:lnTo>
                  <a:lnTo>
                    <a:pt x="4596" y="813184"/>
                  </a:lnTo>
                  <a:lnTo>
                    <a:pt x="4596" y="810892"/>
                  </a:lnTo>
                  <a:close/>
                </a:path>
                <a:path w="9525" h="4244340">
                  <a:moveTo>
                    <a:pt x="7086" y="804208"/>
                  </a:moveTo>
                  <a:lnTo>
                    <a:pt x="0" y="804208"/>
                  </a:lnTo>
                  <a:lnTo>
                    <a:pt x="0" y="810892"/>
                  </a:lnTo>
                  <a:lnTo>
                    <a:pt x="7086" y="810892"/>
                  </a:lnTo>
                  <a:lnTo>
                    <a:pt x="7086" y="808600"/>
                  </a:lnTo>
                  <a:lnTo>
                    <a:pt x="9001" y="808600"/>
                  </a:lnTo>
                  <a:lnTo>
                    <a:pt x="7086" y="806118"/>
                  </a:lnTo>
                  <a:lnTo>
                    <a:pt x="7086" y="804208"/>
                  </a:lnTo>
                  <a:close/>
                </a:path>
                <a:path w="9525" h="4244340">
                  <a:moveTo>
                    <a:pt x="7086" y="737365"/>
                  </a:moveTo>
                  <a:lnTo>
                    <a:pt x="0" y="737365"/>
                  </a:lnTo>
                  <a:lnTo>
                    <a:pt x="0" y="771742"/>
                  </a:lnTo>
                  <a:lnTo>
                    <a:pt x="2298" y="774224"/>
                  </a:lnTo>
                  <a:lnTo>
                    <a:pt x="4596" y="774224"/>
                  </a:lnTo>
                  <a:lnTo>
                    <a:pt x="7086" y="771742"/>
                  </a:lnTo>
                  <a:lnTo>
                    <a:pt x="9001" y="769450"/>
                  </a:lnTo>
                  <a:lnTo>
                    <a:pt x="9001" y="739657"/>
                  </a:lnTo>
                  <a:lnTo>
                    <a:pt x="7086" y="739657"/>
                  </a:lnTo>
                  <a:lnTo>
                    <a:pt x="7086" y="737365"/>
                  </a:lnTo>
                  <a:close/>
                </a:path>
                <a:path w="9525" h="4244340">
                  <a:moveTo>
                    <a:pt x="4596" y="735074"/>
                  </a:moveTo>
                  <a:lnTo>
                    <a:pt x="2298" y="737365"/>
                  </a:lnTo>
                  <a:lnTo>
                    <a:pt x="4596" y="737365"/>
                  </a:lnTo>
                  <a:lnTo>
                    <a:pt x="4596" y="735074"/>
                  </a:lnTo>
                  <a:close/>
                </a:path>
                <a:path w="9525" h="4244340">
                  <a:moveTo>
                    <a:pt x="7086" y="698215"/>
                  </a:moveTo>
                  <a:lnTo>
                    <a:pt x="0" y="698215"/>
                  </a:lnTo>
                  <a:lnTo>
                    <a:pt x="0" y="705281"/>
                  </a:lnTo>
                  <a:lnTo>
                    <a:pt x="2298" y="707764"/>
                  </a:lnTo>
                  <a:lnTo>
                    <a:pt x="4596" y="707764"/>
                  </a:lnTo>
                  <a:lnTo>
                    <a:pt x="7086" y="705281"/>
                  </a:lnTo>
                  <a:lnTo>
                    <a:pt x="9001" y="702989"/>
                  </a:lnTo>
                  <a:lnTo>
                    <a:pt x="7086" y="700698"/>
                  </a:lnTo>
                  <a:lnTo>
                    <a:pt x="7086" y="698215"/>
                  </a:lnTo>
                  <a:close/>
                </a:path>
                <a:path w="9525" h="4244340">
                  <a:moveTo>
                    <a:pt x="7086" y="631946"/>
                  </a:moveTo>
                  <a:lnTo>
                    <a:pt x="0" y="631946"/>
                  </a:lnTo>
                  <a:lnTo>
                    <a:pt x="0" y="668613"/>
                  </a:lnTo>
                  <a:lnTo>
                    <a:pt x="7086" y="668613"/>
                  </a:lnTo>
                  <a:lnTo>
                    <a:pt x="7086" y="666322"/>
                  </a:lnTo>
                  <a:lnTo>
                    <a:pt x="9001" y="663839"/>
                  </a:lnTo>
                  <a:lnTo>
                    <a:pt x="9001" y="636147"/>
                  </a:lnTo>
                  <a:lnTo>
                    <a:pt x="7086" y="634237"/>
                  </a:lnTo>
                  <a:lnTo>
                    <a:pt x="7086" y="631946"/>
                  </a:lnTo>
                  <a:close/>
                </a:path>
                <a:path w="9525" h="4244340">
                  <a:moveTo>
                    <a:pt x="7086" y="592795"/>
                  </a:moveTo>
                  <a:lnTo>
                    <a:pt x="0" y="592795"/>
                  </a:lnTo>
                  <a:lnTo>
                    <a:pt x="0" y="599288"/>
                  </a:lnTo>
                  <a:lnTo>
                    <a:pt x="2298" y="601771"/>
                  </a:lnTo>
                  <a:lnTo>
                    <a:pt x="4596" y="601771"/>
                  </a:lnTo>
                  <a:lnTo>
                    <a:pt x="9001" y="597379"/>
                  </a:lnTo>
                  <a:lnTo>
                    <a:pt x="7086" y="595087"/>
                  </a:lnTo>
                  <a:lnTo>
                    <a:pt x="7086" y="592795"/>
                  </a:lnTo>
                  <a:close/>
                </a:path>
                <a:path w="9525" h="4244340">
                  <a:moveTo>
                    <a:pt x="7086" y="525762"/>
                  </a:moveTo>
                  <a:lnTo>
                    <a:pt x="0" y="525762"/>
                  </a:lnTo>
                  <a:lnTo>
                    <a:pt x="0" y="562621"/>
                  </a:lnTo>
                  <a:lnTo>
                    <a:pt x="7086" y="562621"/>
                  </a:lnTo>
                  <a:lnTo>
                    <a:pt x="7086" y="560711"/>
                  </a:lnTo>
                  <a:lnTo>
                    <a:pt x="9001" y="558419"/>
                  </a:lnTo>
                  <a:lnTo>
                    <a:pt x="9001" y="530536"/>
                  </a:lnTo>
                  <a:lnTo>
                    <a:pt x="7086" y="528245"/>
                  </a:lnTo>
                  <a:lnTo>
                    <a:pt x="7086" y="525762"/>
                  </a:lnTo>
                  <a:close/>
                </a:path>
                <a:path w="9525" h="4244340">
                  <a:moveTo>
                    <a:pt x="4596" y="486802"/>
                  </a:moveTo>
                  <a:lnTo>
                    <a:pt x="2298" y="486802"/>
                  </a:lnTo>
                  <a:lnTo>
                    <a:pt x="0" y="489094"/>
                  </a:lnTo>
                  <a:lnTo>
                    <a:pt x="0" y="496160"/>
                  </a:lnTo>
                  <a:lnTo>
                    <a:pt x="7086" y="496160"/>
                  </a:lnTo>
                  <a:lnTo>
                    <a:pt x="7086" y="493869"/>
                  </a:lnTo>
                  <a:lnTo>
                    <a:pt x="9001" y="491386"/>
                  </a:lnTo>
                  <a:lnTo>
                    <a:pt x="7086" y="489094"/>
                  </a:lnTo>
                  <a:lnTo>
                    <a:pt x="4596" y="486802"/>
                  </a:lnTo>
                  <a:close/>
                </a:path>
                <a:path w="9525" h="4244340">
                  <a:moveTo>
                    <a:pt x="4596" y="457010"/>
                  </a:moveTo>
                  <a:lnTo>
                    <a:pt x="2298" y="457010"/>
                  </a:lnTo>
                  <a:lnTo>
                    <a:pt x="4596" y="459493"/>
                  </a:lnTo>
                  <a:lnTo>
                    <a:pt x="4596" y="457010"/>
                  </a:lnTo>
                  <a:close/>
                </a:path>
                <a:path w="9525" h="4244340">
                  <a:moveTo>
                    <a:pt x="7086" y="420342"/>
                  </a:moveTo>
                  <a:lnTo>
                    <a:pt x="0" y="420342"/>
                  </a:lnTo>
                  <a:lnTo>
                    <a:pt x="0" y="457010"/>
                  </a:lnTo>
                  <a:lnTo>
                    <a:pt x="7086" y="457010"/>
                  </a:lnTo>
                  <a:lnTo>
                    <a:pt x="7086" y="454718"/>
                  </a:lnTo>
                  <a:lnTo>
                    <a:pt x="9001" y="452426"/>
                  </a:lnTo>
                  <a:lnTo>
                    <a:pt x="9001" y="424926"/>
                  </a:lnTo>
                  <a:lnTo>
                    <a:pt x="7086" y="422634"/>
                  </a:lnTo>
                  <a:lnTo>
                    <a:pt x="7086" y="420342"/>
                  </a:lnTo>
                  <a:close/>
                </a:path>
                <a:path w="9525" h="4244340">
                  <a:moveTo>
                    <a:pt x="4596" y="381192"/>
                  </a:moveTo>
                  <a:lnTo>
                    <a:pt x="2298" y="381192"/>
                  </a:lnTo>
                  <a:lnTo>
                    <a:pt x="0" y="383483"/>
                  </a:lnTo>
                  <a:lnTo>
                    <a:pt x="0" y="390549"/>
                  </a:lnTo>
                  <a:lnTo>
                    <a:pt x="7086" y="390549"/>
                  </a:lnTo>
                  <a:lnTo>
                    <a:pt x="7086" y="388258"/>
                  </a:lnTo>
                  <a:lnTo>
                    <a:pt x="9001" y="385966"/>
                  </a:lnTo>
                  <a:lnTo>
                    <a:pt x="7086" y="383483"/>
                  </a:lnTo>
                  <a:lnTo>
                    <a:pt x="4596" y="381192"/>
                  </a:lnTo>
                  <a:close/>
                </a:path>
                <a:path w="9525" h="4244340">
                  <a:moveTo>
                    <a:pt x="4596" y="351590"/>
                  </a:moveTo>
                  <a:lnTo>
                    <a:pt x="2298" y="351590"/>
                  </a:lnTo>
                  <a:lnTo>
                    <a:pt x="4596" y="353882"/>
                  </a:lnTo>
                  <a:lnTo>
                    <a:pt x="4596" y="351590"/>
                  </a:lnTo>
                  <a:close/>
                </a:path>
                <a:path w="9525" h="4244340">
                  <a:moveTo>
                    <a:pt x="4596" y="314731"/>
                  </a:moveTo>
                  <a:lnTo>
                    <a:pt x="2298" y="314731"/>
                  </a:lnTo>
                  <a:lnTo>
                    <a:pt x="0" y="317023"/>
                  </a:lnTo>
                  <a:lnTo>
                    <a:pt x="0" y="351590"/>
                  </a:lnTo>
                  <a:lnTo>
                    <a:pt x="7086" y="351590"/>
                  </a:lnTo>
                  <a:lnTo>
                    <a:pt x="7086" y="349107"/>
                  </a:lnTo>
                  <a:lnTo>
                    <a:pt x="9001" y="349107"/>
                  </a:lnTo>
                  <a:lnTo>
                    <a:pt x="9001" y="318933"/>
                  </a:lnTo>
                  <a:lnTo>
                    <a:pt x="7086" y="317023"/>
                  </a:lnTo>
                  <a:lnTo>
                    <a:pt x="4596" y="314731"/>
                  </a:lnTo>
                  <a:close/>
                </a:path>
                <a:path w="9525" h="4244340">
                  <a:moveTo>
                    <a:pt x="4596" y="284557"/>
                  </a:moveTo>
                  <a:lnTo>
                    <a:pt x="2298" y="284557"/>
                  </a:lnTo>
                  <a:lnTo>
                    <a:pt x="4596" y="287039"/>
                  </a:lnTo>
                  <a:lnTo>
                    <a:pt x="4596" y="284557"/>
                  </a:lnTo>
                  <a:close/>
                </a:path>
                <a:path w="9525" h="4244340">
                  <a:moveTo>
                    <a:pt x="4596" y="275581"/>
                  </a:moveTo>
                  <a:lnTo>
                    <a:pt x="2298" y="275581"/>
                  </a:lnTo>
                  <a:lnTo>
                    <a:pt x="0" y="278063"/>
                  </a:lnTo>
                  <a:lnTo>
                    <a:pt x="0" y="284557"/>
                  </a:lnTo>
                  <a:lnTo>
                    <a:pt x="7086" y="284557"/>
                  </a:lnTo>
                  <a:lnTo>
                    <a:pt x="7086" y="282265"/>
                  </a:lnTo>
                  <a:lnTo>
                    <a:pt x="9001" y="280355"/>
                  </a:lnTo>
                  <a:lnTo>
                    <a:pt x="7086" y="280355"/>
                  </a:lnTo>
                  <a:lnTo>
                    <a:pt x="7086" y="278063"/>
                  </a:lnTo>
                  <a:lnTo>
                    <a:pt x="4596" y="275581"/>
                  </a:lnTo>
                  <a:close/>
                </a:path>
                <a:path w="9525" h="4244340">
                  <a:moveTo>
                    <a:pt x="4596" y="208738"/>
                  </a:moveTo>
                  <a:lnTo>
                    <a:pt x="2298" y="208738"/>
                  </a:lnTo>
                  <a:lnTo>
                    <a:pt x="0" y="211030"/>
                  </a:lnTo>
                  <a:lnTo>
                    <a:pt x="0" y="245406"/>
                  </a:lnTo>
                  <a:lnTo>
                    <a:pt x="2298" y="247889"/>
                  </a:lnTo>
                  <a:lnTo>
                    <a:pt x="4596" y="247889"/>
                  </a:lnTo>
                  <a:lnTo>
                    <a:pt x="7086" y="245406"/>
                  </a:lnTo>
                  <a:lnTo>
                    <a:pt x="9001" y="243114"/>
                  </a:lnTo>
                  <a:lnTo>
                    <a:pt x="9001" y="213513"/>
                  </a:lnTo>
                  <a:lnTo>
                    <a:pt x="7086" y="211030"/>
                  </a:lnTo>
                  <a:lnTo>
                    <a:pt x="4596" y="208738"/>
                  </a:lnTo>
                  <a:close/>
                </a:path>
                <a:path w="9525" h="4244340">
                  <a:moveTo>
                    <a:pt x="4596" y="179137"/>
                  </a:moveTo>
                  <a:lnTo>
                    <a:pt x="2298" y="179137"/>
                  </a:lnTo>
                  <a:lnTo>
                    <a:pt x="4596" y="181429"/>
                  </a:lnTo>
                  <a:lnTo>
                    <a:pt x="4596" y="179137"/>
                  </a:lnTo>
                  <a:close/>
                </a:path>
                <a:path w="9525" h="4244340">
                  <a:moveTo>
                    <a:pt x="7086" y="172071"/>
                  </a:moveTo>
                  <a:lnTo>
                    <a:pt x="0" y="172071"/>
                  </a:lnTo>
                  <a:lnTo>
                    <a:pt x="0" y="179137"/>
                  </a:lnTo>
                  <a:lnTo>
                    <a:pt x="7086" y="179137"/>
                  </a:lnTo>
                  <a:lnTo>
                    <a:pt x="7086" y="176654"/>
                  </a:lnTo>
                  <a:lnTo>
                    <a:pt x="9001" y="176654"/>
                  </a:lnTo>
                  <a:lnTo>
                    <a:pt x="7086" y="174362"/>
                  </a:lnTo>
                  <a:lnTo>
                    <a:pt x="7086" y="172071"/>
                  </a:lnTo>
                  <a:close/>
                </a:path>
                <a:path w="9525" h="4244340">
                  <a:moveTo>
                    <a:pt x="4596" y="103128"/>
                  </a:moveTo>
                  <a:lnTo>
                    <a:pt x="2298" y="103128"/>
                  </a:lnTo>
                  <a:lnTo>
                    <a:pt x="0" y="105610"/>
                  </a:lnTo>
                  <a:lnTo>
                    <a:pt x="0" y="139986"/>
                  </a:lnTo>
                  <a:lnTo>
                    <a:pt x="2298" y="142278"/>
                  </a:lnTo>
                  <a:lnTo>
                    <a:pt x="4596" y="142278"/>
                  </a:lnTo>
                  <a:lnTo>
                    <a:pt x="7086" y="139986"/>
                  </a:lnTo>
                  <a:lnTo>
                    <a:pt x="9001" y="137504"/>
                  </a:lnTo>
                  <a:lnTo>
                    <a:pt x="9001" y="107902"/>
                  </a:lnTo>
                  <a:lnTo>
                    <a:pt x="7086" y="107902"/>
                  </a:lnTo>
                  <a:lnTo>
                    <a:pt x="7086" y="105610"/>
                  </a:lnTo>
                  <a:lnTo>
                    <a:pt x="4596" y="103128"/>
                  </a:lnTo>
                  <a:close/>
                </a:path>
                <a:path w="9525" h="4244340">
                  <a:moveTo>
                    <a:pt x="7086" y="66460"/>
                  </a:moveTo>
                  <a:lnTo>
                    <a:pt x="0" y="66460"/>
                  </a:lnTo>
                  <a:lnTo>
                    <a:pt x="0" y="73526"/>
                  </a:lnTo>
                  <a:lnTo>
                    <a:pt x="2298" y="75436"/>
                  </a:lnTo>
                  <a:lnTo>
                    <a:pt x="4596" y="75436"/>
                  </a:lnTo>
                  <a:lnTo>
                    <a:pt x="7086" y="73526"/>
                  </a:lnTo>
                  <a:lnTo>
                    <a:pt x="9001" y="71234"/>
                  </a:lnTo>
                  <a:lnTo>
                    <a:pt x="7086" y="68752"/>
                  </a:lnTo>
                  <a:lnTo>
                    <a:pt x="7086" y="66460"/>
                  </a:lnTo>
                  <a:close/>
                </a:path>
                <a:path w="9525" h="4244340">
                  <a:moveTo>
                    <a:pt x="7086" y="0"/>
                  </a:moveTo>
                  <a:lnTo>
                    <a:pt x="0" y="0"/>
                  </a:lnTo>
                  <a:lnTo>
                    <a:pt x="0" y="36667"/>
                  </a:lnTo>
                  <a:lnTo>
                    <a:pt x="7086" y="36667"/>
                  </a:lnTo>
                  <a:lnTo>
                    <a:pt x="7086" y="34376"/>
                  </a:lnTo>
                  <a:lnTo>
                    <a:pt x="9001" y="32084"/>
                  </a:lnTo>
                  <a:lnTo>
                    <a:pt x="9001" y="4201"/>
                  </a:lnTo>
                  <a:lnTo>
                    <a:pt x="7086" y="1909"/>
                  </a:lnTo>
                  <a:lnTo>
                    <a:pt x="7086" y="0"/>
                  </a:lnTo>
                  <a:close/>
                </a:path>
              </a:pathLst>
            </a:custGeom>
            <a:solidFill>
              <a:srgbClr val="000000"/>
            </a:solidFill>
          </p:spPr>
          <p:txBody>
            <a:bodyPr wrap="square" lIns="0" tIns="0" rIns="0" bIns="0" rtlCol="0"/>
            <a:lstStyle/>
            <a:p/>
          </p:txBody>
        </p:sp>
        <p:sp>
          <p:nvSpPr>
            <p:cNvPr id="57" name="object 57" descr=""/>
            <p:cNvSpPr/>
            <p:nvPr/>
          </p:nvSpPr>
          <p:spPr>
            <a:xfrm>
              <a:off x="8981451" y="1799700"/>
              <a:ext cx="9525" cy="4244340"/>
            </a:xfrm>
            <a:custGeom>
              <a:avLst/>
              <a:gdLst/>
              <a:ahLst/>
              <a:cxnLst/>
              <a:rect l="l" t="t" r="r" b="b"/>
              <a:pathLst>
                <a:path w="9525" h="4244340">
                  <a:moveTo>
                    <a:pt x="0" y="4243912"/>
                  </a:moveTo>
                  <a:lnTo>
                    <a:pt x="0" y="4216583"/>
                  </a:lnTo>
                  <a:lnTo>
                    <a:pt x="0" y="4214226"/>
                  </a:lnTo>
                  <a:lnTo>
                    <a:pt x="2298" y="4211872"/>
                  </a:lnTo>
                  <a:lnTo>
                    <a:pt x="4596" y="4211872"/>
                  </a:lnTo>
                  <a:lnTo>
                    <a:pt x="7086" y="4214226"/>
                  </a:lnTo>
                  <a:lnTo>
                    <a:pt x="9001" y="4216583"/>
                  </a:lnTo>
                  <a:lnTo>
                    <a:pt x="9001" y="4243912"/>
                  </a:lnTo>
                </a:path>
                <a:path w="9525" h="4244340">
                  <a:moveTo>
                    <a:pt x="0" y="4177475"/>
                  </a:moveTo>
                  <a:lnTo>
                    <a:pt x="0" y="4175120"/>
                  </a:lnTo>
                  <a:lnTo>
                    <a:pt x="2298" y="4172763"/>
                  </a:lnTo>
                  <a:lnTo>
                    <a:pt x="4596" y="4172763"/>
                  </a:lnTo>
                  <a:lnTo>
                    <a:pt x="7086" y="4175120"/>
                  </a:lnTo>
                  <a:lnTo>
                    <a:pt x="7086" y="4177475"/>
                  </a:lnTo>
                  <a:lnTo>
                    <a:pt x="9001" y="4177475"/>
                  </a:lnTo>
                  <a:lnTo>
                    <a:pt x="7086" y="4179831"/>
                  </a:lnTo>
                  <a:lnTo>
                    <a:pt x="7086" y="4182188"/>
                  </a:lnTo>
                  <a:lnTo>
                    <a:pt x="4596" y="4182188"/>
                  </a:lnTo>
                  <a:lnTo>
                    <a:pt x="4596" y="4184543"/>
                  </a:lnTo>
                  <a:lnTo>
                    <a:pt x="2298" y="4182188"/>
                  </a:lnTo>
                  <a:lnTo>
                    <a:pt x="0" y="4182188"/>
                  </a:lnTo>
                  <a:lnTo>
                    <a:pt x="0" y="4179831"/>
                  </a:lnTo>
                  <a:lnTo>
                    <a:pt x="0" y="4177475"/>
                  </a:lnTo>
                </a:path>
                <a:path w="9525" h="4244340">
                  <a:moveTo>
                    <a:pt x="0" y="4140723"/>
                  </a:moveTo>
                  <a:lnTo>
                    <a:pt x="0" y="4111039"/>
                  </a:lnTo>
                  <a:lnTo>
                    <a:pt x="0" y="4108682"/>
                  </a:lnTo>
                  <a:lnTo>
                    <a:pt x="2298" y="4106328"/>
                  </a:lnTo>
                  <a:lnTo>
                    <a:pt x="4596" y="4106328"/>
                  </a:lnTo>
                  <a:lnTo>
                    <a:pt x="7086" y="4108682"/>
                  </a:lnTo>
                  <a:lnTo>
                    <a:pt x="9001" y="4111039"/>
                  </a:lnTo>
                  <a:lnTo>
                    <a:pt x="9001" y="4140723"/>
                  </a:lnTo>
                  <a:lnTo>
                    <a:pt x="7086" y="4143080"/>
                  </a:lnTo>
                  <a:lnTo>
                    <a:pt x="4596" y="4145436"/>
                  </a:lnTo>
                  <a:lnTo>
                    <a:pt x="2298" y="4145436"/>
                  </a:lnTo>
                  <a:lnTo>
                    <a:pt x="0" y="4143080"/>
                  </a:lnTo>
                  <a:lnTo>
                    <a:pt x="0" y="4140723"/>
                  </a:lnTo>
                </a:path>
                <a:path w="9525" h="4244340">
                  <a:moveTo>
                    <a:pt x="0" y="4074287"/>
                  </a:moveTo>
                  <a:lnTo>
                    <a:pt x="0" y="4071931"/>
                  </a:lnTo>
                  <a:lnTo>
                    <a:pt x="0" y="4069576"/>
                  </a:lnTo>
                  <a:lnTo>
                    <a:pt x="2298" y="4069576"/>
                  </a:lnTo>
                  <a:lnTo>
                    <a:pt x="4596" y="4069576"/>
                  </a:lnTo>
                  <a:lnTo>
                    <a:pt x="7086" y="4069576"/>
                  </a:lnTo>
                  <a:lnTo>
                    <a:pt x="7086" y="4071931"/>
                  </a:lnTo>
                  <a:lnTo>
                    <a:pt x="9001" y="4074287"/>
                  </a:lnTo>
                  <a:lnTo>
                    <a:pt x="7086" y="4074287"/>
                  </a:lnTo>
                  <a:lnTo>
                    <a:pt x="7086" y="4076644"/>
                  </a:lnTo>
                  <a:lnTo>
                    <a:pt x="4596" y="4076644"/>
                  </a:lnTo>
                  <a:lnTo>
                    <a:pt x="4596" y="4078527"/>
                  </a:lnTo>
                  <a:lnTo>
                    <a:pt x="2298" y="4076644"/>
                  </a:lnTo>
                  <a:lnTo>
                    <a:pt x="0" y="4076644"/>
                  </a:lnTo>
                  <a:lnTo>
                    <a:pt x="0" y="4074287"/>
                  </a:lnTo>
                </a:path>
                <a:path w="9525" h="4244340">
                  <a:moveTo>
                    <a:pt x="0" y="4035173"/>
                  </a:moveTo>
                  <a:lnTo>
                    <a:pt x="0" y="4005018"/>
                  </a:lnTo>
                  <a:lnTo>
                    <a:pt x="0" y="4003146"/>
                  </a:lnTo>
                  <a:lnTo>
                    <a:pt x="2298" y="4000778"/>
                  </a:lnTo>
                  <a:lnTo>
                    <a:pt x="4596" y="4000778"/>
                  </a:lnTo>
                  <a:lnTo>
                    <a:pt x="7086" y="4003146"/>
                  </a:lnTo>
                  <a:lnTo>
                    <a:pt x="7086" y="4005018"/>
                  </a:lnTo>
                  <a:lnTo>
                    <a:pt x="9001" y="4005018"/>
                  </a:lnTo>
                  <a:lnTo>
                    <a:pt x="9001" y="4035173"/>
                  </a:lnTo>
                  <a:lnTo>
                    <a:pt x="7086" y="4037541"/>
                  </a:lnTo>
                  <a:lnTo>
                    <a:pt x="4596" y="4039890"/>
                  </a:lnTo>
                  <a:lnTo>
                    <a:pt x="2298" y="4039890"/>
                  </a:lnTo>
                  <a:lnTo>
                    <a:pt x="0" y="4037541"/>
                  </a:lnTo>
                  <a:lnTo>
                    <a:pt x="0" y="4035173"/>
                  </a:lnTo>
                </a:path>
                <a:path w="9525" h="4244340">
                  <a:moveTo>
                    <a:pt x="0" y="3508876"/>
                  </a:moveTo>
                  <a:lnTo>
                    <a:pt x="0" y="3479179"/>
                  </a:lnTo>
                  <a:lnTo>
                    <a:pt x="0" y="3476830"/>
                  </a:lnTo>
                  <a:lnTo>
                    <a:pt x="2298" y="3474481"/>
                  </a:lnTo>
                  <a:lnTo>
                    <a:pt x="4596" y="3474481"/>
                  </a:lnTo>
                  <a:lnTo>
                    <a:pt x="7086" y="3476830"/>
                  </a:lnTo>
                  <a:lnTo>
                    <a:pt x="9001" y="3479179"/>
                  </a:lnTo>
                  <a:lnTo>
                    <a:pt x="9001" y="3508876"/>
                  </a:lnTo>
                  <a:lnTo>
                    <a:pt x="7086" y="3511225"/>
                  </a:lnTo>
                  <a:lnTo>
                    <a:pt x="4596" y="3513593"/>
                  </a:lnTo>
                  <a:lnTo>
                    <a:pt x="2298" y="3513593"/>
                  </a:lnTo>
                  <a:lnTo>
                    <a:pt x="0" y="3511225"/>
                  </a:lnTo>
                  <a:lnTo>
                    <a:pt x="0" y="3508876"/>
                  </a:lnTo>
                </a:path>
                <a:path w="9525" h="4244340">
                  <a:moveTo>
                    <a:pt x="0" y="3442435"/>
                  </a:moveTo>
                  <a:lnTo>
                    <a:pt x="0" y="3440086"/>
                  </a:lnTo>
                  <a:lnTo>
                    <a:pt x="0" y="3437718"/>
                  </a:lnTo>
                  <a:lnTo>
                    <a:pt x="2298" y="3437718"/>
                  </a:lnTo>
                  <a:lnTo>
                    <a:pt x="4596" y="3437718"/>
                  </a:lnTo>
                  <a:lnTo>
                    <a:pt x="7086" y="3437718"/>
                  </a:lnTo>
                  <a:lnTo>
                    <a:pt x="7086" y="3440086"/>
                  </a:lnTo>
                  <a:lnTo>
                    <a:pt x="9001" y="3442435"/>
                  </a:lnTo>
                  <a:lnTo>
                    <a:pt x="7086" y="3442435"/>
                  </a:lnTo>
                  <a:lnTo>
                    <a:pt x="7086" y="3444325"/>
                  </a:lnTo>
                  <a:lnTo>
                    <a:pt x="4596" y="3444325"/>
                  </a:lnTo>
                  <a:lnTo>
                    <a:pt x="4596" y="3446675"/>
                  </a:lnTo>
                  <a:lnTo>
                    <a:pt x="2298" y="3444325"/>
                  </a:lnTo>
                  <a:lnTo>
                    <a:pt x="0" y="3444325"/>
                  </a:lnTo>
                  <a:lnTo>
                    <a:pt x="0" y="3442435"/>
                  </a:lnTo>
                </a:path>
                <a:path w="9525" h="4244340">
                  <a:moveTo>
                    <a:pt x="0" y="3403323"/>
                  </a:moveTo>
                  <a:lnTo>
                    <a:pt x="0" y="3373167"/>
                  </a:lnTo>
                  <a:lnTo>
                    <a:pt x="0" y="3370818"/>
                  </a:lnTo>
                  <a:lnTo>
                    <a:pt x="2298" y="3368469"/>
                  </a:lnTo>
                  <a:lnTo>
                    <a:pt x="4596" y="3368469"/>
                  </a:lnTo>
                  <a:lnTo>
                    <a:pt x="7086" y="3370818"/>
                  </a:lnTo>
                  <a:lnTo>
                    <a:pt x="7086" y="3373167"/>
                  </a:lnTo>
                  <a:lnTo>
                    <a:pt x="9001" y="3373167"/>
                  </a:lnTo>
                  <a:lnTo>
                    <a:pt x="9001" y="3403323"/>
                  </a:lnTo>
                  <a:lnTo>
                    <a:pt x="7086" y="3405213"/>
                  </a:lnTo>
                  <a:lnTo>
                    <a:pt x="4596" y="3407562"/>
                  </a:lnTo>
                  <a:lnTo>
                    <a:pt x="2298" y="3407562"/>
                  </a:lnTo>
                  <a:lnTo>
                    <a:pt x="0" y="3405213"/>
                  </a:lnTo>
                  <a:lnTo>
                    <a:pt x="0" y="3403323"/>
                  </a:lnTo>
                </a:path>
                <a:path w="9525" h="4244340">
                  <a:moveTo>
                    <a:pt x="0" y="3336423"/>
                  </a:moveTo>
                  <a:lnTo>
                    <a:pt x="0" y="3334074"/>
                  </a:lnTo>
                  <a:lnTo>
                    <a:pt x="0" y="3331706"/>
                  </a:lnTo>
                  <a:lnTo>
                    <a:pt x="2298" y="3331706"/>
                  </a:lnTo>
                  <a:lnTo>
                    <a:pt x="4596" y="3331706"/>
                  </a:lnTo>
                  <a:lnTo>
                    <a:pt x="7086" y="3331706"/>
                  </a:lnTo>
                  <a:lnTo>
                    <a:pt x="7086" y="3334074"/>
                  </a:lnTo>
                  <a:lnTo>
                    <a:pt x="9001" y="3336423"/>
                  </a:lnTo>
                  <a:lnTo>
                    <a:pt x="7086" y="3338772"/>
                  </a:lnTo>
                  <a:lnTo>
                    <a:pt x="4596" y="3341140"/>
                  </a:lnTo>
                  <a:lnTo>
                    <a:pt x="2298" y="3341140"/>
                  </a:lnTo>
                  <a:lnTo>
                    <a:pt x="0" y="3338772"/>
                  </a:lnTo>
                  <a:lnTo>
                    <a:pt x="0" y="3336423"/>
                  </a:lnTo>
                </a:path>
                <a:path w="9525" h="4244340">
                  <a:moveTo>
                    <a:pt x="0" y="3297311"/>
                  </a:moveTo>
                  <a:lnTo>
                    <a:pt x="0" y="3269982"/>
                  </a:lnTo>
                  <a:lnTo>
                    <a:pt x="0" y="3267633"/>
                  </a:lnTo>
                  <a:lnTo>
                    <a:pt x="0" y="3265265"/>
                  </a:lnTo>
                  <a:lnTo>
                    <a:pt x="2298" y="3265265"/>
                  </a:lnTo>
                  <a:lnTo>
                    <a:pt x="4596" y="3262916"/>
                  </a:lnTo>
                  <a:lnTo>
                    <a:pt x="4596" y="3265265"/>
                  </a:lnTo>
                  <a:lnTo>
                    <a:pt x="7086" y="3265265"/>
                  </a:lnTo>
                  <a:lnTo>
                    <a:pt x="7086" y="3267633"/>
                  </a:lnTo>
                  <a:lnTo>
                    <a:pt x="9001" y="3269982"/>
                  </a:lnTo>
                  <a:lnTo>
                    <a:pt x="9001" y="3297311"/>
                  </a:lnTo>
                  <a:lnTo>
                    <a:pt x="7086" y="3299660"/>
                  </a:lnTo>
                  <a:lnTo>
                    <a:pt x="7086" y="3302028"/>
                  </a:lnTo>
                  <a:lnTo>
                    <a:pt x="4596" y="3302028"/>
                  </a:lnTo>
                  <a:lnTo>
                    <a:pt x="2298" y="3302028"/>
                  </a:lnTo>
                  <a:lnTo>
                    <a:pt x="0" y="3302028"/>
                  </a:lnTo>
                  <a:lnTo>
                    <a:pt x="0" y="3299660"/>
                  </a:lnTo>
                  <a:lnTo>
                    <a:pt x="0" y="3297311"/>
                  </a:lnTo>
                </a:path>
                <a:path w="9525" h="4244340">
                  <a:moveTo>
                    <a:pt x="0" y="3230869"/>
                  </a:moveTo>
                  <a:lnTo>
                    <a:pt x="0" y="3228520"/>
                  </a:lnTo>
                  <a:lnTo>
                    <a:pt x="0" y="3226171"/>
                  </a:lnTo>
                  <a:lnTo>
                    <a:pt x="2298" y="3226171"/>
                  </a:lnTo>
                  <a:lnTo>
                    <a:pt x="4596" y="3226171"/>
                  </a:lnTo>
                  <a:lnTo>
                    <a:pt x="7086" y="3226171"/>
                  </a:lnTo>
                  <a:lnTo>
                    <a:pt x="7086" y="3228520"/>
                  </a:lnTo>
                  <a:lnTo>
                    <a:pt x="9001" y="3230869"/>
                  </a:lnTo>
                  <a:lnTo>
                    <a:pt x="7086" y="3233238"/>
                  </a:lnTo>
                  <a:lnTo>
                    <a:pt x="4596" y="3235587"/>
                  </a:lnTo>
                  <a:lnTo>
                    <a:pt x="2298" y="3235587"/>
                  </a:lnTo>
                  <a:lnTo>
                    <a:pt x="0" y="3233238"/>
                  </a:lnTo>
                  <a:lnTo>
                    <a:pt x="0" y="3230869"/>
                  </a:lnTo>
                </a:path>
                <a:path w="9525" h="4244340">
                  <a:moveTo>
                    <a:pt x="0" y="3191776"/>
                  </a:moveTo>
                  <a:lnTo>
                    <a:pt x="0" y="3163970"/>
                  </a:lnTo>
                  <a:lnTo>
                    <a:pt x="0" y="3161621"/>
                  </a:lnTo>
                  <a:lnTo>
                    <a:pt x="0" y="3159730"/>
                  </a:lnTo>
                  <a:lnTo>
                    <a:pt x="2298" y="3159730"/>
                  </a:lnTo>
                  <a:lnTo>
                    <a:pt x="4596" y="3159730"/>
                  </a:lnTo>
                  <a:lnTo>
                    <a:pt x="7086" y="3159730"/>
                  </a:lnTo>
                  <a:lnTo>
                    <a:pt x="7086" y="3161621"/>
                  </a:lnTo>
                  <a:lnTo>
                    <a:pt x="9001" y="3163970"/>
                  </a:lnTo>
                  <a:lnTo>
                    <a:pt x="9001" y="3191776"/>
                  </a:lnTo>
                  <a:lnTo>
                    <a:pt x="7086" y="3194125"/>
                  </a:lnTo>
                  <a:lnTo>
                    <a:pt x="7086" y="3196474"/>
                  </a:lnTo>
                  <a:lnTo>
                    <a:pt x="4596" y="3196474"/>
                  </a:lnTo>
                  <a:lnTo>
                    <a:pt x="2298" y="3196474"/>
                  </a:lnTo>
                  <a:lnTo>
                    <a:pt x="0" y="3196474"/>
                  </a:lnTo>
                  <a:lnTo>
                    <a:pt x="0" y="3194125"/>
                  </a:lnTo>
                  <a:lnTo>
                    <a:pt x="0" y="3191776"/>
                  </a:lnTo>
                </a:path>
                <a:path w="9525" h="4244340">
                  <a:moveTo>
                    <a:pt x="0" y="3124858"/>
                  </a:moveTo>
                  <a:lnTo>
                    <a:pt x="0" y="3122967"/>
                  </a:lnTo>
                  <a:lnTo>
                    <a:pt x="2298" y="3120618"/>
                  </a:lnTo>
                  <a:lnTo>
                    <a:pt x="4596" y="3120618"/>
                  </a:lnTo>
                  <a:lnTo>
                    <a:pt x="7086" y="3122967"/>
                  </a:lnTo>
                  <a:lnTo>
                    <a:pt x="9001" y="3124858"/>
                  </a:lnTo>
                  <a:lnTo>
                    <a:pt x="7086" y="3127226"/>
                  </a:lnTo>
                  <a:lnTo>
                    <a:pt x="7086" y="3129575"/>
                  </a:lnTo>
                  <a:lnTo>
                    <a:pt x="4596" y="3129575"/>
                  </a:lnTo>
                  <a:lnTo>
                    <a:pt x="2298" y="3129575"/>
                  </a:lnTo>
                  <a:lnTo>
                    <a:pt x="0" y="3129575"/>
                  </a:lnTo>
                  <a:lnTo>
                    <a:pt x="0" y="3127226"/>
                  </a:lnTo>
                  <a:lnTo>
                    <a:pt x="0" y="3124858"/>
                  </a:lnTo>
                </a:path>
                <a:path w="9525" h="4244340">
                  <a:moveTo>
                    <a:pt x="0" y="3086223"/>
                  </a:moveTo>
                  <a:lnTo>
                    <a:pt x="0" y="3058416"/>
                  </a:lnTo>
                  <a:lnTo>
                    <a:pt x="0" y="3056067"/>
                  </a:lnTo>
                  <a:lnTo>
                    <a:pt x="0" y="3053718"/>
                  </a:lnTo>
                  <a:lnTo>
                    <a:pt x="2298" y="3053718"/>
                  </a:lnTo>
                  <a:lnTo>
                    <a:pt x="4596" y="3053718"/>
                  </a:lnTo>
                  <a:lnTo>
                    <a:pt x="7086" y="3053718"/>
                  </a:lnTo>
                  <a:lnTo>
                    <a:pt x="7086" y="3056067"/>
                  </a:lnTo>
                  <a:lnTo>
                    <a:pt x="9001" y="3058416"/>
                  </a:lnTo>
                  <a:lnTo>
                    <a:pt x="9001" y="3086223"/>
                  </a:lnTo>
                  <a:lnTo>
                    <a:pt x="7086" y="3088113"/>
                  </a:lnTo>
                  <a:lnTo>
                    <a:pt x="7086" y="3090462"/>
                  </a:lnTo>
                  <a:lnTo>
                    <a:pt x="4596" y="3090462"/>
                  </a:lnTo>
                  <a:lnTo>
                    <a:pt x="2298" y="3090462"/>
                  </a:lnTo>
                  <a:lnTo>
                    <a:pt x="0" y="3090462"/>
                  </a:lnTo>
                  <a:lnTo>
                    <a:pt x="0" y="3088113"/>
                  </a:lnTo>
                  <a:lnTo>
                    <a:pt x="0" y="3086223"/>
                  </a:lnTo>
                </a:path>
                <a:path w="9525" h="4244340">
                  <a:moveTo>
                    <a:pt x="0" y="3019323"/>
                  </a:moveTo>
                  <a:lnTo>
                    <a:pt x="0" y="3016955"/>
                  </a:lnTo>
                  <a:lnTo>
                    <a:pt x="2298" y="3014606"/>
                  </a:lnTo>
                  <a:lnTo>
                    <a:pt x="4596" y="3014606"/>
                  </a:lnTo>
                  <a:lnTo>
                    <a:pt x="7086" y="3016955"/>
                  </a:lnTo>
                  <a:lnTo>
                    <a:pt x="9001" y="3019323"/>
                  </a:lnTo>
                  <a:lnTo>
                    <a:pt x="7086" y="3021672"/>
                  </a:lnTo>
                  <a:lnTo>
                    <a:pt x="7086" y="3024021"/>
                  </a:lnTo>
                  <a:lnTo>
                    <a:pt x="4596" y="3024021"/>
                  </a:lnTo>
                  <a:lnTo>
                    <a:pt x="2298" y="3024021"/>
                  </a:lnTo>
                  <a:lnTo>
                    <a:pt x="0" y="3024021"/>
                  </a:lnTo>
                  <a:lnTo>
                    <a:pt x="0" y="3021672"/>
                  </a:lnTo>
                  <a:lnTo>
                    <a:pt x="0" y="3019323"/>
                  </a:lnTo>
                </a:path>
                <a:path w="9525" h="4244340">
                  <a:moveTo>
                    <a:pt x="0" y="2982560"/>
                  </a:moveTo>
                  <a:lnTo>
                    <a:pt x="0" y="2952882"/>
                  </a:lnTo>
                  <a:lnTo>
                    <a:pt x="0" y="2950533"/>
                  </a:lnTo>
                  <a:lnTo>
                    <a:pt x="2298" y="2948165"/>
                  </a:lnTo>
                  <a:lnTo>
                    <a:pt x="4596" y="2948165"/>
                  </a:lnTo>
                  <a:lnTo>
                    <a:pt x="7086" y="2950533"/>
                  </a:lnTo>
                  <a:lnTo>
                    <a:pt x="9001" y="2952882"/>
                  </a:lnTo>
                  <a:lnTo>
                    <a:pt x="9001" y="2982560"/>
                  </a:lnTo>
                  <a:lnTo>
                    <a:pt x="7086" y="2982560"/>
                  </a:lnTo>
                  <a:lnTo>
                    <a:pt x="7086" y="2984928"/>
                  </a:lnTo>
                  <a:lnTo>
                    <a:pt x="4596" y="2984928"/>
                  </a:lnTo>
                  <a:lnTo>
                    <a:pt x="4596" y="2987277"/>
                  </a:lnTo>
                  <a:lnTo>
                    <a:pt x="2298" y="2984928"/>
                  </a:lnTo>
                  <a:lnTo>
                    <a:pt x="0" y="2984928"/>
                  </a:lnTo>
                  <a:lnTo>
                    <a:pt x="0" y="2982560"/>
                  </a:lnTo>
                </a:path>
                <a:path w="9525" h="4244340">
                  <a:moveTo>
                    <a:pt x="0" y="2913770"/>
                  </a:moveTo>
                  <a:lnTo>
                    <a:pt x="0" y="2911421"/>
                  </a:lnTo>
                  <a:lnTo>
                    <a:pt x="2298" y="2909052"/>
                  </a:lnTo>
                  <a:lnTo>
                    <a:pt x="4596" y="2909052"/>
                  </a:lnTo>
                  <a:lnTo>
                    <a:pt x="7086" y="2911421"/>
                  </a:lnTo>
                  <a:lnTo>
                    <a:pt x="7086" y="2913770"/>
                  </a:lnTo>
                  <a:lnTo>
                    <a:pt x="9001" y="2913770"/>
                  </a:lnTo>
                  <a:lnTo>
                    <a:pt x="7086" y="2916138"/>
                  </a:lnTo>
                  <a:lnTo>
                    <a:pt x="7086" y="2918487"/>
                  </a:lnTo>
                  <a:lnTo>
                    <a:pt x="4596" y="2918487"/>
                  </a:lnTo>
                  <a:lnTo>
                    <a:pt x="2298" y="2918487"/>
                  </a:lnTo>
                  <a:lnTo>
                    <a:pt x="0" y="2918487"/>
                  </a:lnTo>
                  <a:lnTo>
                    <a:pt x="0" y="2916138"/>
                  </a:lnTo>
                  <a:lnTo>
                    <a:pt x="0" y="2913770"/>
                  </a:lnTo>
                </a:path>
                <a:path w="9525" h="4244340">
                  <a:moveTo>
                    <a:pt x="0" y="2877025"/>
                  </a:moveTo>
                  <a:lnTo>
                    <a:pt x="0" y="2846870"/>
                  </a:lnTo>
                  <a:lnTo>
                    <a:pt x="0" y="2844502"/>
                  </a:lnTo>
                  <a:lnTo>
                    <a:pt x="2298" y="2842630"/>
                  </a:lnTo>
                  <a:lnTo>
                    <a:pt x="4596" y="2842630"/>
                  </a:lnTo>
                  <a:lnTo>
                    <a:pt x="7086" y="2844502"/>
                  </a:lnTo>
                  <a:lnTo>
                    <a:pt x="9001" y="2846870"/>
                  </a:lnTo>
                  <a:lnTo>
                    <a:pt x="9001" y="2877025"/>
                  </a:lnTo>
                  <a:lnTo>
                    <a:pt x="7086" y="2879374"/>
                  </a:lnTo>
                  <a:lnTo>
                    <a:pt x="4596" y="2881265"/>
                  </a:lnTo>
                  <a:lnTo>
                    <a:pt x="2298" y="2881265"/>
                  </a:lnTo>
                  <a:lnTo>
                    <a:pt x="0" y="2879374"/>
                  </a:lnTo>
                  <a:lnTo>
                    <a:pt x="0" y="2877025"/>
                  </a:lnTo>
                </a:path>
                <a:path w="9525" h="4244340">
                  <a:moveTo>
                    <a:pt x="0" y="2810107"/>
                  </a:moveTo>
                  <a:lnTo>
                    <a:pt x="0" y="2807758"/>
                  </a:lnTo>
                  <a:lnTo>
                    <a:pt x="0" y="2805867"/>
                  </a:lnTo>
                  <a:lnTo>
                    <a:pt x="2298" y="2805867"/>
                  </a:lnTo>
                  <a:lnTo>
                    <a:pt x="4596" y="2803518"/>
                  </a:lnTo>
                  <a:lnTo>
                    <a:pt x="4596" y="2805867"/>
                  </a:lnTo>
                  <a:lnTo>
                    <a:pt x="7086" y="2805867"/>
                  </a:lnTo>
                  <a:lnTo>
                    <a:pt x="7086" y="2807758"/>
                  </a:lnTo>
                  <a:lnTo>
                    <a:pt x="9001" y="2810107"/>
                  </a:lnTo>
                  <a:lnTo>
                    <a:pt x="7086" y="2810107"/>
                  </a:lnTo>
                  <a:lnTo>
                    <a:pt x="7086" y="2812475"/>
                  </a:lnTo>
                  <a:lnTo>
                    <a:pt x="4596" y="2812475"/>
                  </a:lnTo>
                  <a:lnTo>
                    <a:pt x="4596" y="2814824"/>
                  </a:lnTo>
                  <a:lnTo>
                    <a:pt x="2298" y="2812475"/>
                  </a:lnTo>
                  <a:lnTo>
                    <a:pt x="0" y="2812475"/>
                  </a:lnTo>
                  <a:lnTo>
                    <a:pt x="0" y="2810107"/>
                  </a:lnTo>
                </a:path>
                <a:path w="9525" h="4244340">
                  <a:moveTo>
                    <a:pt x="0" y="2771014"/>
                  </a:moveTo>
                  <a:lnTo>
                    <a:pt x="0" y="2741316"/>
                  </a:lnTo>
                  <a:lnTo>
                    <a:pt x="0" y="2738967"/>
                  </a:lnTo>
                  <a:lnTo>
                    <a:pt x="2298" y="2736618"/>
                  </a:lnTo>
                  <a:lnTo>
                    <a:pt x="4596" y="2736618"/>
                  </a:lnTo>
                  <a:lnTo>
                    <a:pt x="7086" y="2738967"/>
                  </a:lnTo>
                  <a:lnTo>
                    <a:pt x="7086" y="2741316"/>
                  </a:lnTo>
                  <a:lnTo>
                    <a:pt x="9001" y="2741316"/>
                  </a:lnTo>
                  <a:lnTo>
                    <a:pt x="9001" y="2771014"/>
                  </a:lnTo>
                  <a:lnTo>
                    <a:pt x="7086" y="2773363"/>
                  </a:lnTo>
                  <a:lnTo>
                    <a:pt x="4596" y="2775712"/>
                  </a:lnTo>
                  <a:lnTo>
                    <a:pt x="2298" y="2775712"/>
                  </a:lnTo>
                  <a:lnTo>
                    <a:pt x="0" y="2773363"/>
                  </a:lnTo>
                  <a:lnTo>
                    <a:pt x="0" y="2771014"/>
                  </a:lnTo>
                </a:path>
                <a:path w="9525" h="4244340">
                  <a:moveTo>
                    <a:pt x="0" y="2704572"/>
                  </a:moveTo>
                  <a:lnTo>
                    <a:pt x="0" y="2702204"/>
                  </a:lnTo>
                  <a:lnTo>
                    <a:pt x="0" y="2699855"/>
                  </a:lnTo>
                  <a:lnTo>
                    <a:pt x="2298" y="2699855"/>
                  </a:lnTo>
                  <a:lnTo>
                    <a:pt x="4596" y="2699855"/>
                  </a:lnTo>
                  <a:lnTo>
                    <a:pt x="7086" y="2699855"/>
                  </a:lnTo>
                  <a:lnTo>
                    <a:pt x="7086" y="2702204"/>
                  </a:lnTo>
                  <a:lnTo>
                    <a:pt x="9001" y="2704572"/>
                  </a:lnTo>
                  <a:lnTo>
                    <a:pt x="7086" y="2706921"/>
                  </a:lnTo>
                  <a:lnTo>
                    <a:pt x="4596" y="2709289"/>
                  </a:lnTo>
                  <a:lnTo>
                    <a:pt x="2298" y="2709289"/>
                  </a:lnTo>
                  <a:lnTo>
                    <a:pt x="0" y="2706921"/>
                  </a:lnTo>
                  <a:lnTo>
                    <a:pt x="0" y="2704572"/>
                  </a:lnTo>
                </a:path>
                <a:path w="9525" h="4244340">
                  <a:moveTo>
                    <a:pt x="0" y="2665460"/>
                  </a:moveTo>
                  <a:lnTo>
                    <a:pt x="0" y="2638131"/>
                  </a:lnTo>
                  <a:lnTo>
                    <a:pt x="0" y="2635782"/>
                  </a:lnTo>
                  <a:lnTo>
                    <a:pt x="0" y="2633414"/>
                  </a:lnTo>
                  <a:lnTo>
                    <a:pt x="2298" y="2633414"/>
                  </a:lnTo>
                  <a:lnTo>
                    <a:pt x="4596" y="2631065"/>
                  </a:lnTo>
                  <a:lnTo>
                    <a:pt x="4596" y="2633414"/>
                  </a:lnTo>
                  <a:lnTo>
                    <a:pt x="7086" y="2633414"/>
                  </a:lnTo>
                  <a:lnTo>
                    <a:pt x="7086" y="2635782"/>
                  </a:lnTo>
                  <a:lnTo>
                    <a:pt x="9001" y="2638131"/>
                  </a:lnTo>
                  <a:lnTo>
                    <a:pt x="9001" y="2665460"/>
                  </a:lnTo>
                  <a:lnTo>
                    <a:pt x="7086" y="2667809"/>
                  </a:lnTo>
                  <a:lnTo>
                    <a:pt x="7086" y="2670177"/>
                  </a:lnTo>
                  <a:lnTo>
                    <a:pt x="4596" y="2670177"/>
                  </a:lnTo>
                  <a:lnTo>
                    <a:pt x="2298" y="2670177"/>
                  </a:lnTo>
                  <a:lnTo>
                    <a:pt x="0" y="2670177"/>
                  </a:lnTo>
                  <a:lnTo>
                    <a:pt x="0" y="2667809"/>
                  </a:lnTo>
                  <a:lnTo>
                    <a:pt x="0" y="2665460"/>
                  </a:lnTo>
                </a:path>
                <a:path w="9525" h="4244340">
                  <a:moveTo>
                    <a:pt x="0" y="2599019"/>
                  </a:moveTo>
                  <a:lnTo>
                    <a:pt x="0" y="2596670"/>
                  </a:lnTo>
                  <a:lnTo>
                    <a:pt x="0" y="2594321"/>
                  </a:lnTo>
                  <a:lnTo>
                    <a:pt x="2298" y="2594321"/>
                  </a:lnTo>
                  <a:lnTo>
                    <a:pt x="4596" y="2594321"/>
                  </a:lnTo>
                  <a:lnTo>
                    <a:pt x="7086" y="2594321"/>
                  </a:lnTo>
                  <a:lnTo>
                    <a:pt x="7086" y="2596670"/>
                  </a:lnTo>
                  <a:lnTo>
                    <a:pt x="9001" y="2599019"/>
                  </a:lnTo>
                  <a:lnTo>
                    <a:pt x="7086" y="2600909"/>
                  </a:lnTo>
                  <a:lnTo>
                    <a:pt x="4596" y="2603258"/>
                  </a:lnTo>
                  <a:lnTo>
                    <a:pt x="2298" y="2603258"/>
                  </a:lnTo>
                  <a:lnTo>
                    <a:pt x="0" y="2600909"/>
                  </a:lnTo>
                  <a:lnTo>
                    <a:pt x="0" y="2599019"/>
                  </a:lnTo>
                </a:path>
                <a:path w="9525" h="4244340">
                  <a:moveTo>
                    <a:pt x="0" y="2559926"/>
                  </a:moveTo>
                  <a:lnTo>
                    <a:pt x="0" y="2532119"/>
                  </a:lnTo>
                  <a:lnTo>
                    <a:pt x="0" y="2529770"/>
                  </a:lnTo>
                  <a:lnTo>
                    <a:pt x="0" y="2527402"/>
                  </a:lnTo>
                  <a:lnTo>
                    <a:pt x="2298" y="2527402"/>
                  </a:lnTo>
                  <a:lnTo>
                    <a:pt x="4596" y="2527402"/>
                  </a:lnTo>
                  <a:lnTo>
                    <a:pt x="7086" y="2527402"/>
                  </a:lnTo>
                  <a:lnTo>
                    <a:pt x="7086" y="2529770"/>
                  </a:lnTo>
                  <a:lnTo>
                    <a:pt x="9001" y="2532119"/>
                  </a:lnTo>
                  <a:lnTo>
                    <a:pt x="9001" y="2559926"/>
                  </a:lnTo>
                  <a:lnTo>
                    <a:pt x="7086" y="2562275"/>
                  </a:lnTo>
                  <a:lnTo>
                    <a:pt x="7086" y="2564165"/>
                  </a:lnTo>
                  <a:lnTo>
                    <a:pt x="4596" y="2564165"/>
                  </a:lnTo>
                  <a:lnTo>
                    <a:pt x="2298" y="2564165"/>
                  </a:lnTo>
                  <a:lnTo>
                    <a:pt x="0" y="2564165"/>
                  </a:lnTo>
                  <a:lnTo>
                    <a:pt x="0" y="2562275"/>
                  </a:lnTo>
                  <a:lnTo>
                    <a:pt x="0" y="2559926"/>
                  </a:lnTo>
                </a:path>
                <a:path w="9525" h="4244340">
                  <a:moveTo>
                    <a:pt x="0" y="2493007"/>
                  </a:moveTo>
                  <a:lnTo>
                    <a:pt x="0" y="2490658"/>
                  </a:lnTo>
                  <a:lnTo>
                    <a:pt x="2298" y="2488290"/>
                  </a:lnTo>
                  <a:lnTo>
                    <a:pt x="4596" y="2488290"/>
                  </a:lnTo>
                  <a:lnTo>
                    <a:pt x="7086" y="2490658"/>
                  </a:lnTo>
                  <a:lnTo>
                    <a:pt x="9001" y="2493007"/>
                  </a:lnTo>
                  <a:lnTo>
                    <a:pt x="7086" y="2495375"/>
                  </a:lnTo>
                  <a:lnTo>
                    <a:pt x="7086" y="2497724"/>
                  </a:lnTo>
                  <a:lnTo>
                    <a:pt x="4596" y="2497724"/>
                  </a:lnTo>
                  <a:lnTo>
                    <a:pt x="2298" y="2497724"/>
                  </a:lnTo>
                  <a:lnTo>
                    <a:pt x="0" y="2497724"/>
                  </a:lnTo>
                  <a:lnTo>
                    <a:pt x="0" y="2495375"/>
                  </a:lnTo>
                  <a:lnTo>
                    <a:pt x="0" y="2493007"/>
                  </a:lnTo>
                </a:path>
                <a:path w="9525" h="4244340">
                  <a:moveTo>
                    <a:pt x="0" y="2453895"/>
                  </a:moveTo>
                  <a:lnTo>
                    <a:pt x="0" y="2426566"/>
                  </a:lnTo>
                  <a:lnTo>
                    <a:pt x="0" y="2424217"/>
                  </a:lnTo>
                  <a:lnTo>
                    <a:pt x="0" y="2421868"/>
                  </a:lnTo>
                  <a:lnTo>
                    <a:pt x="2298" y="2421868"/>
                  </a:lnTo>
                  <a:lnTo>
                    <a:pt x="4596" y="2421868"/>
                  </a:lnTo>
                  <a:lnTo>
                    <a:pt x="7086" y="2421868"/>
                  </a:lnTo>
                  <a:lnTo>
                    <a:pt x="7086" y="2424217"/>
                  </a:lnTo>
                  <a:lnTo>
                    <a:pt x="9001" y="2426566"/>
                  </a:lnTo>
                  <a:lnTo>
                    <a:pt x="9001" y="2453895"/>
                  </a:lnTo>
                  <a:lnTo>
                    <a:pt x="7086" y="2456263"/>
                  </a:lnTo>
                  <a:lnTo>
                    <a:pt x="7086" y="2458612"/>
                  </a:lnTo>
                  <a:lnTo>
                    <a:pt x="4596" y="2458612"/>
                  </a:lnTo>
                  <a:lnTo>
                    <a:pt x="2298" y="2458612"/>
                  </a:lnTo>
                  <a:lnTo>
                    <a:pt x="0" y="2458612"/>
                  </a:lnTo>
                  <a:lnTo>
                    <a:pt x="0" y="2456263"/>
                  </a:lnTo>
                  <a:lnTo>
                    <a:pt x="0" y="2453895"/>
                  </a:lnTo>
                </a:path>
                <a:path w="9525" h="4244340">
                  <a:moveTo>
                    <a:pt x="0" y="2387472"/>
                  </a:moveTo>
                  <a:lnTo>
                    <a:pt x="0" y="2385104"/>
                  </a:lnTo>
                  <a:lnTo>
                    <a:pt x="2298" y="2382755"/>
                  </a:lnTo>
                  <a:lnTo>
                    <a:pt x="4596" y="2382755"/>
                  </a:lnTo>
                  <a:lnTo>
                    <a:pt x="7086" y="2385104"/>
                  </a:lnTo>
                  <a:lnTo>
                    <a:pt x="9001" y="2387472"/>
                  </a:lnTo>
                  <a:lnTo>
                    <a:pt x="7086" y="2389821"/>
                  </a:lnTo>
                  <a:lnTo>
                    <a:pt x="7086" y="2392171"/>
                  </a:lnTo>
                  <a:lnTo>
                    <a:pt x="4596" y="2392171"/>
                  </a:lnTo>
                  <a:lnTo>
                    <a:pt x="2298" y="2392171"/>
                  </a:lnTo>
                  <a:lnTo>
                    <a:pt x="0" y="2392171"/>
                  </a:lnTo>
                  <a:lnTo>
                    <a:pt x="0" y="2389821"/>
                  </a:lnTo>
                  <a:lnTo>
                    <a:pt x="0" y="2387472"/>
                  </a:lnTo>
                </a:path>
                <a:path w="9525" h="4244340">
                  <a:moveTo>
                    <a:pt x="0" y="2350709"/>
                  </a:moveTo>
                  <a:lnTo>
                    <a:pt x="0" y="2320573"/>
                  </a:lnTo>
                  <a:lnTo>
                    <a:pt x="0" y="2318663"/>
                  </a:lnTo>
                  <a:lnTo>
                    <a:pt x="2298" y="2316371"/>
                  </a:lnTo>
                  <a:lnTo>
                    <a:pt x="4596" y="2316371"/>
                  </a:lnTo>
                  <a:lnTo>
                    <a:pt x="7086" y="2318663"/>
                  </a:lnTo>
                  <a:lnTo>
                    <a:pt x="9001" y="2320573"/>
                  </a:lnTo>
                  <a:lnTo>
                    <a:pt x="9001" y="2350709"/>
                  </a:lnTo>
                  <a:lnTo>
                    <a:pt x="7086" y="2350709"/>
                  </a:lnTo>
                  <a:lnTo>
                    <a:pt x="7086" y="2353077"/>
                  </a:lnTo>
                  <a:lnTo>
                    <a:pt x="4596" y="2353077"/>
                  </a:lnTo>
                  <a:lnTo>
                    <a:pt x="4596" y="2355426"/>
                  </a:lnTo>
                  <a:lnTo>
                    <a:pt x="2298" y="2353077"/>
                  </a:lnTo>
                  <a:lnTo>
                    <a:pt x="0" y="2353077"/>
                  </a:lnTo>
                  <a:lnTo>
                    <a:pt x="0" y="2350709"/>
                  </a:lnTo>
                </a:path>
                <a:path w="9525" h="4244340">
                  <a:moveTo>
                    <a:pt x="0" y="2281995"/>
                  </a:moveTo>
                  <a:lnTo>
                    <a:pt x="0" y="2279513"/>
                  </a:lnTo>
                  <a:lnTo>
                    <a:pt x="2298" y="2277221"/>
                  </a:lnTo>
                  <a:lnTo>
                    <a:pt x="4596" y="2277221"/>
                  </a:lnTo>
                  <a:lnTo>
                    <a:pt x="7086" y="2279513"/>
                  </a:lnTo>
                  <a:lnTo>
                    <a:pt x="9001" y="2281995"/>
                  </a:lnTo>
                  <a:lnTo>
                    <a:pt x="7086" y="2283714"/>
                  </a:lnTo>
                  <a:lnTo>
                    <a:pt x="7086" y="2286197"/>
                  </a:lnTo>
                  <a:lnTo>
                    <a:pt x="4596" y="2286197"/>
                  </a:lnTo>
                  <a:lnTo>
                    <a:pt x="2298" y="2286197"/>
                  </a:lnTo>
                  <a:lnTo>
                    <a:pt x="0" y="2286197"/>
                  </a:lnTo>
                  <a:lnTo>
                    <a:pt x="0" y="2283714"/>
                  </a:lnTo>
                  <a:lnTo>
                    <a:pt x="0" y="2281995"/>
                  </a:lnTo>
                </a:path>
                <a:path w="9525" h="4244340">
                  <a:moveTo>
                    <a:pt x="0" y="2245137"/>
                  </a:moveTo>
                  <a:lnTo>
                    <a:pt x="0" y="2214962"/>
                  </a:lnTo>
                  <a:lnTo>
                    <a:pt x="0" y="2212670"/>
                  </a:lnTo>
                  <a:lnTo>
                    <a:pt x="2298" y="2210379"/>
                  </a:lnTo>
                  <a:lnTo>
                    <a:pt x="4596" y="2210379"/>
                  </a:lnTo>
                  <a:lnTo>
                    <a:pt x="7086" y="2212670"/>
                  </a:lnTo>
                  <a:lnTo>
                    <a:pt x="9001" y="2214962"/>
                  </a:lnTo>
                  <a:lnTo>
                    <a:pt x="9001" y="2245137"/>
                  </a:lnTo>
                  <a:lnTo>
                    <a:pt x="7086" y="2245137"/>
                  </a:lnTo>
                  <a:lnTo>
                    <a:pt x="7086" y="2247046"/>
                  </a:lnTo>
                  <a:lnTo>
                    <a:pt x="4596" y="2249338"/>
                  </a:lnTo>
                  <a:lnTo>
                    <a:pt x="2298" y="2249338"/>
                  </a:lnTo>
                  <a:lnTo>
                    <a:pt x="0" y="2247046"/>
                  </a:lnTo>
                  <a:lnTo>
                    <a:pt x="0" y="2245137"/>
                  </a:lnTo>
                </a:path>
                <a:path w="9525" h="4244340">
                  <a:moveTo>
                    <a:pt x="0" y="2178294"/>
                  </a:moveTo>
                  <a:lnTo>
                    <a:pt x="0" y="2175812"/>
                  </a:lnTo>
                  <a:lnTo>
                    <a:pt x="0" y="2173520"/>
                  </a:lnTo>
                  <a:lnTo>
                    <a:pt x="2298" y="2173520"/>
                  </a:lnTo>
                  <a:lnTo>
                    <a:pt x="4596" y="2171228"/>
                  </a:lnTo>
                  <a:lnTo>
                    <a:pt x="4596" y="2173520"/>
                  </a:lnTo>
                  <a:lnTo>
                    <a:pt x="7086" y="2173520"/>
                  </a:lnTo>
                  <a:lnTo>
                    <a:pt x="7086" y="2175812"/>
                  </a:lnTo>
                  <a:lnTo>
                    <a:pt x="9001" y="2178294"/>
                  </a:lnTo>
                  <a:lnTo>
                    <a:pt x="7086" y="2178294"/>
                  </a:lnTo>
                  <a:lnTo>
                    <a:pt x="7086" y="2180586"/>
                  </a:lnTo>
                  <a:lnTo>
                    <a:pt x="4596" y="2180586"/>
                  </a:lnTo>
                  <a:lnTo>
                    <a:pt x="4596" y="2183069"/>
                  </a:lnTo>
                  <a:lnTo>
                    <a:pt x="2298" y="2180586"/>
                  </a:lnTo>
                  <a:lnTo>
                    <a:pt x="0" y="2180586"/>
                  </a:lnTo>
                  <a:lnTo>
                    <a:pt x="0" y="2178294"/>
                  </a:lnTo>
                </a:path>
                <a:path w="9525" h="4244340">
                  <a:moveTo>
                    <a:pt x="0" y="2139144"/>
                  </a:moveTo>
                  <a:lnTo>
                    <a:pt x="0" y="2109542"/>
                  </a:lnTo>
                  <a:lnTo>
                    <a:pt x="0" y="2107060"/>
                  </a:lnTo>
                  <a:lnTo>
                    <a:pt x="2298" y="2104768"/>
                  </a:lnTo>
                  <a:lnTo>
                    <a:pt x="4596" y="2104768"/>
                  </a:lnTo>
                  <a:lnTo>
                    <a:pt x="7086" y="2107060"/>
                  </a:lnTo>
                  <a:lnTo>
                    <a:pt x="9001" y="2109542"/>
                  </a:lnTo>
                  <a:lnTo>
                    <a:pt x="9001" y="2139144"/>
                  </a:lnTo>
                  <a:lnTo>
                    <a:pt x="7086" y="2141436"/>
                  </a:lnTo>
                  <a:lnTo>
                    <a:pt x="4596" y="2143918"/>
                  </a:lnTo>
                  <a:lnTo>
                    <a:pt x="2298" y="2143918"/>
                  </a:lnTo>
                  <a:lnTo>
                    <a:pt x="0" y="2141436"/>
                  </a:lnTo>
                  <a:lnTo>
                    <a:pt x="0" y="2139144"/>
                  </a:lnTo>
                </a:path>
                <a:path w="9525" h="4244340">
                  <a:moveTo>
                    <a:pt x="0" y="2072683"/>
                  </a:moveTo>
                  <a:lnTo>
                    <a:pt x="0" y="2070392"/>
                  </a:lnTo>
                  <a:lnTo>
                    <a:pt x="0" y="2068100"/>
                  </a:lnTo>
                  <a:lnTo>
                    <a:pt x="2298" y="2068100"/>
                  </a:lnTo>
                  <a:lnTo>
                    <a:pt x="4596" y="2068100"/>
                  </a:lnTo>
                  <a:lnTo>
                    <a:pt x="7086" y="2068100"/>
                  </a:lnTo>
                  <a:lnTo>
                    <a:pt x="7086" y="2070392"/>
                  </a:lnTo>
                  <a:lnTo>
                    <a:pt x="9001" y="2072683"/>
                  </a:lnTo>
                  <a:lnTo>
                    <a:pt x="7086" y="2072683"/>
                  </a:lnTo>
                  <a:lnTo>
                    <a:pt x="7086" y="2075166"/>
                  </a:lnTo>
                  <a:lnTo>
                    <a:pt x="4596" y="2076885"/>
                  </a:lnTo>
                  <a:lnTo>
                    <a:pt x="2298" y="2076885"/>
                  </a:lnTo>
                  <a:lnTo>
                    <a:pt x="0" y="2075166"/>
                  </a:lnTo>
                  <a:lnTo>
                    <a:pt x="0" y="2072683"/>
                  </a:lnTo>
                </a:path>
                <a:path w="9525" h="4244340">
                  <a:moveTo>
                    <a:pt x="0" y="2033533"/>
                  </a:moveTo>
                  <a:lnTo>
                    <a:pt x="0" y="2005841"/>
                  </a:lnTo>
                  <a:lnTo>
                    <a:pt x="0" y="2003549"/>
                  </a:lnTo>
                  <a:lnTo>
                    <a:pt x="0" y="2001640"/>
                  </a:lnTo>
                  <a:lnTo>
                    <a:pt x="2298" y="2001640"/>
                  </a:lnTo>
                  <a:lnTo>
                    <a:pt x="4596" y="1999157"/>
                  </a:lnTo>
                  <a:lnTo>
                    <a:pt x="4596" y="2001640"/>
                  </a:lnTo>
                  <a:lnTo>
                    <a:pt x="7086" y="2001640"/>
                  </a:lnTo>
                  <a:lnTo>
                    <a:pt x="7086" y="2003549"/>
                  </a:lnTo>
                  <a:lnTo>
                    <a:pt x="9001" y="2005841"/>
                  </a:lnTo>
                  <a:lnTo>
                    <a:pt x="9001" y="2033533"/>
                  </a:lnTo>
                  <a:lnTo>
                    <a:pt x="7086" y="2036016"/>
                  </a:lnTo>
                  <a:lnTo>
                    <a:pt x="4596" y="2038307"/>
                  </a:lnTo>
                  <a:lnTo>
                    <a:pt x="2298" y="2038307"/>
                  </a:lnTo>
                  <a:lnTo>
                    <a:pt x="0" y="2036016"/>
                  </a:lnTo>
                  <a:lnTo>
                    <a:pt x="0" y="2033533"/>
                  </a:lnTo>
                </a:path>
                <a:path w="9525" h="4244340">
                  <a:moveTo>
                    <a:pt x="0" y="1966691"/>
                  </a:moveTo>
                  <a:lnTo>
                    <a:pt x="0" y="1964399"/>
                  </a:lnTo>
                  <a:lnTo>
                    <a:pt x="0" y="1962489"/>
                  </a:lnTo>
                  <a:lnTo>
                    <a:pt x="2298" y="1962489"/>
                  </a:lnTo>
                  <a:lnTo>
                    <a:pt x="4596" y="1962489"/>
                  </a:lnTo>
                  <a:lnTo>
                    <a:pt x="7086" y="1962489"/>
                  </a:lnTo>
                  <a:lnTo>
                    <a:pt x="7086" y="1964399"/>
                  </a:lnTo>
                  <a:lnTo>
                    <a:pt x="9001" y="1966691"/>
                  </a:lnTo>
                  <a:lnTo>
                    <a:pt x="7086" y="1968982"/>
                  </a:lnTo>
                  <a:lnTo>
                    <a:pt x="4596" y="1971465"/>
                  </a:lnTo>
                  <a:lnTo>
                    <a:pt x="2298" y="1971465"/>
                  </a:lnTo>
                  <a:lnTo>
                    <a:pt x="0" y="1968982"/>
                  </a:lnTo>
                  <a:lnTo>
                    <a:pt x="0" y="1966691"/>
                  </a:lnTo>
                </a:path>
                <a:path w="9525" h="4244340">
                  <a:moveTo>
                    <a:pt x="0" y="1927540"/>
                  </a:moveTo>
                  <a:lnTo>
                    <a:pt x="0" y="1900230"/>
                  </a:lnTo>
                  <a:lnTo>
                    <a:pt x="0" y="1897939"/>
                  </a:lnTo>
                  <a:lnTo>
                    <a:pt x="0" y="1895647"/>
                  </a:lnTo>
                  <a:lnTo>
                    <a:pt x="2298" y="1895647"/>
                  </a:lnTo>
                  <a:lnTo>
                    <a:pt x="4596" y="1895647"/>
                  </a:lnTo>
                  <a:lnTo>
                    <a:pt x="7086" y="1895647"/>
                  </a:lnTo>
                  <a:lnTo>
                    <a:pt x="7086" y="1897939"/>
                  </a:lnTo>
                  <a:lnTo>
                    <a:pt x="9001" y="1900230"/>
                  </a:lnTo>
                  <a:lnTo>
                    <a:pt x="9001" y="1927540"/>
                  </a:lnTo>
                  <a:lnTo>
                    <a:pt x="7086" y="1930023"/>
                  </a:lnTo>
                  <a:lnTo>
                    <a:pt x="7086" y="1932315"/>
                  </a:lnTo>
                  <a:lnTo>
                    <a:pt x="4596" y="1932315"/>
                  </a:lnTo>
                  <a:lnTo>
                    <a:pt x="2298" y="1932315"/>
                  </a:lnTo>
                  <a:lnTo>
                    <a:pt x="0" y="1932315"/>
                  </a:lnTo>
                  <a:lnTo>
                    <a:pt x="0" y="1930023"/>
                  </a:lnTo>
                  <a:lnTo>
                    <a:pt x="0" y="1927540"/>
                  </a:lnTo>
                </a:path>
                <a:path w="9525" h="4244340">
                  <a:moveTo>
                    <a:pt x="0" y="1861080"/>
                  </a:moveTo>
                  <a:lnTo>
                    <a:pt x="0" y="1858788"/>
                  </a:lnTo>
                  <a:lnTo>
                    <a:pt x="0" y="1856496"/>
                  </a:lnTo>
                  <a:lnTo>
                    <a:pt x="2298" y="1856496"/>
                  </a:lnTo>
                  <a:lnTo>
                    <a:pt x="4596" y="1856496"/>
                  </a:lnTo>
                  <a:lnTo>
                    <a:pt x="7086" y="1856496"/>
                  </a:lnTo>
                  <a:lnTo>
                    <a:pt x="7086" y="1858788"/>
                  </a:lnTo>
                  <a:lnTo>
                    <a:pt x="9001" y="1861080"/>
                  </a:lnTo>
                  <a:lnTo>
                    <a:pt x="7086" y="1863563"/>
                  </a:lnTo>
                  <a:lnTo>
                    <a:pt x="4596" y="1865854"/>
                  </a:lnTo>
                  <a:lnTo>
                    <a:pt x="2298" y="1865854"/>
                  </a:lnTo>
                  <a:lnTo>
                    <a:pt x="0" y="1863563"/>
                  </a:lnTo>
                  <a:lnTo>
                    <a:pt x="0" y="1861080"/>
                  </a:lnTo>
                </a:path>
                <a:path w="9525" h="4244340">
                  <a:moveTo>
                    <a:pt x="0" y="1822120"/>
                  </a:moveTo>
                  <a:lnTo>
                    <a:pt x="0" y="1794811"/>
                  </a:lnTo>
                  <a:lnTo>
                    <a:pt x="0" y="1792328"/>
                  </a:lnTo>
                  <a:lnTo>
                    <a:pt x="0" y="1790036"/>
                  </a:lnTo>
                  <a:lnTo>
                    <a:pt x="2298" y="1790036"/>
                  </a:lnTo>
                  <a:lnTo>
                    <a:pt x="4596" y="1790036"/>
                  </a:lnTo>
                  <a:lnTo>
                    <a:pt x="7086" y="1790036"/>
                  </a:lnTo>
                  <a:lnTo>
                    <a:pt x="7086" y="1792328"/>
                  </a:lnTo>
                  <a:lnTo>
                    <a:pt x="9001" y="1794811"/>
                  </a:lnTo>
                  <a:lnTo>
                    <a:pt x="9001" y="1822120"/>
                  </a:lnTo>
                  <a:lnTo>
                    <a:pt x="7086" y="1824412"/>
                  </a:lnTo>
                  <a:lnTo>
                    <a:pt x="7086" y="1826704"/>
                  </a:lnTo>
                  <a:lnTo>
                    <a:pt x="4596" y="1826704"/>
                  </a:lnTo>
                  <a:lnTo>
                    <a:pt x="2298" y="1826704"/>
                  </a:lnTo>
                  <a:lnTo>
                    <a:pt x="0" y="1826704"/>
                  </a:lnTo>
                  <a:lnTo>
                    <a:pt x="0" y="1824412"/>
                  </a:lnTo>
                  <a:lnTo>
                    <a:pt x="0" y="1822120"/>
                  </a:lnTo>
                </a:path>
                <a:path w="9525" h="4244340">
                  <a:moveTo>
                    <a:pt x="0" y="1755660"/>
                  </a:moveTo>
                  <a:lnTo>
                    <a:pt x="0" y="1753177"/>
                  </a:lnTo>
                  <a:lnTo>
                    <a:pt x="2298" y="1750886"/>
                  </a:lnTo>
                  <a:lnTo>
                    <a:pt x="4596" y="1750886"/>
                  </a:lnTo>
                  <a:lnTo>
                    <a:pt x="7086" y="1753177"/>
                  </a:lnTo>
                  <a:lnTo>
                    <a:pt x="9001" y="1755660"/>
                  </a:lnTo>
                  <a:lnTo>
                    <a:pt x="7086" y="1757952"/>
                  </a:lnTo>
                  <a:lnTo>
                    <a:pt x="7086" y="1759862"/>
                  </a:lnTo>
                  <a:lnTo>
                    <a:pt x="4596" y="1759862"/>
                  </a:lnTo>
                  <a:lnTo>
                    <a:pt x="2298" y="1759862"/>
                  </a:lnTo>
                  <a:lnTo>
                    <a:pt x="0" y="1759862"/>
                  </a:lnTo>
                  <a:lnTo>
                    <a:pt x="0" y="1757952"/>
                  </a:lnTo>
                  <a:lnTo>
                    <a:pt x="0" y="1755660"/>
                  </a:lnTo>
                </a:path>
                <a:path w="9525" h="4244340">
                  <a:moveTo>
                    <a:pt x="0" y="1718801"/>
                  </a:moveTo>
                  <a:lnTo>
                    <a:pt x="0" y="1688627"/>
                  </a:lnTo>
                  <a:lnTo>
                    <a:pt x="0" y="1686335"/>
                  </a:lnTo>
                  <a:lnTo>
                    <a:pt x="0" y="1684043"/>
                  </a:lnTo>
                  <a:lnTo>
                    <a:pt x="2298" y="1684043"/>
                  </a:lnTo>
                  <a:lnTo>
                    <a:pt x="4596" y="1684043"/>
                  </a:lnTo>
                  <a:lnTo>
                    <a:pt x="7086" y="1684043"/>
                  </a:lnTo>
                  <a:lnTo>
                    <a:pt x="7086" y="1686335"/>
                  </a:lnTo>
                  <a:lnTo>
                    <a:pt x="9001" y="1688627"/>
                  </a:lnTo>
                  <a:lnTo>
                    <a:pt x="9001" y="1718801"/>
                  </a:lnTo>
                  <a:lnTo>
                    <a:pt x="7086" y="1718801"/>
                  </a:lnTo>
                  <a:lnTo>
                    <a:pt x="7086" y="1721284"/>
                  </a:lnTo>
                  <a:lnTo>
                    <a:pt x="4596" y="1721284"/>
                  </a:lnTo>
                  <a:lnTo>
                    <a:pt x="4596" y="1723194"/>
                  </a:lnTo>
                  <a:lnTo>
                    <a:pt x="2298" y="1721284"/>
                  </a:lnTo>
                  <a:lnTo>
                    <a:pt x="0" y="1721284"/>
                  </a:lnTo>
                  <a:lnTo>
                    <a:pt x="0" y="1718801"/>
                  </a:lnTo>
                </a:path>
                <a:path w="9525" h="4244340">
                  <a:moveTo>
                    <a:pt x="0" y="1649667"/>
                  </a:moveTo>
                  <a:lnTo>
                    <a:pt x="0" y="1647185"/>
                  </a:lnTo>
                  <a:lnTo>
                    <a:pt x="2298" y="1645275"/>
                  </a:lnTo>
                  <a:lnTo>
                    <a:pt x="4596" y="1645275"/>
                  </a:lnTo>
                  <a:lnTo>
                    <a:pt x="7086" y="1647185"/>
                  </a:lnTo>
                  <a:lnTo>
                    <a:pt x="9001" y="1649667"/>
                  </a:lnTo>
                  <a:lnTo>
                    <a:pt x="7086" y="1651959"/>
                  </a:lnTo>
                  <a:lnTo>
                    <a:pt x="7086" y="1654251"/>
                  </a:lnTo>
                  <a:lnTo>
                    <a:pt x="4596" y="1654251"/>
                  </a:lnTo>
                  <a:lnTo>
                    <a:pt x="2298" y="1654251"/>
                  </a:lnTo>
                  <a:lnTo>
                    <a:pt x="0" y="1654251"/>
                  </a:lnTo>
                  <a:lnTo>
                    <a:pt x="0" y="1651959"/>
                  </a:lnTo>
                  <a:lnTo>
                    <a:pt x="0" y="1649667"/>
                  </a:lnTo>
                </a:path>
                <a:path w="9525" h="4244340">
                  <a:moveTo>
                    <a:pt x="0" y="1612809"/>
                  </a:moveTo>
                  <a:lnTo>
                    <a:pt x="0" y="1583207"/>
                  </a:lnTo>
                  <a:lnTo>
                    <a:pt x="0" y="1580724"/>
                  </a:lnTo>
                  <a:lnTo>
                    <a:pt x="2298" y="1578432"/>
                  </a:lnTo>
                  <a:lnTo>
                    <a:pt x="4596" y="1578432"/>
                  </a:lnTo>
                  <a:lnTo>
                    <a:pt x="7086" y="1580724"/>
                  </a:lnTo>
                  <a:lnTo>
                    <a:pt x="9001" y="1583207"/>
                  </a:lnTo>
                  <a:lnTo>
                    <a:pt x="9001" y="1612809"/>
                  </a:lnTo>
                  <a:lnTo>
                    <a:pt x="7086" y="1612809"/>
                  </a:lnTo>
                  <a:lnTo>
                    <a:pt x="7086" y="1615291"/>
                  </a:lnTo>
                  <a:lnTo>
                    <a:pt x="4596" y="1617583"/>
                  </a:lnTo>
                  <a:lnTo>
                    <a:pt x="2298" y="1617583"/>
                  </a:lnTo>
                  <a:lnTo>
                    <a:pt x="0" y="1615291"/>
                  </a:lnTo>
                  <a:lnTo>
                    <a:pt x="0" y="1612809"/>
                  </a:lnTo>
                </a:path>
                <a:path w="9525" h="4244340">
                  <a:moveTo>
                    <a:pt x="0" y="1546348"/>
                  </a:moveTo>
                  <a:lnTo>
                    <a:pt x="0" y="1544056"/>
                  </a:lnTo>
                  <a:lnTo>
                    <a:pt x="0" y="1541765"/>
                  </a:lnTo>
                  <a:lnTo>
                    <a:pt x="2298" y="1541765"/>
                  </a:lnTo>
                  <a:lnTo>
                    <a:pt x="4596" y="1539282"/>
                  </a:lnTo>
                  <a:lnTo>
                    <a:pt x="4596" y="1541765"/>
                  </a:lnTo>
                  <a:lnTo>
                    <a:pt x="7086" y="1541765"/>
                  </a:lnTo>
                  <a:lnTo>
                    <a:pt x="7086" y="1544056"/>
                  </a:lnTo>
                  <a:lnTo>
                    <a:pt x="9001" y="1546348"/>
                  </a:lnTo>
                  <a:lnTo>
                    <a:pt x="7086" y="1546348"/>
                  </a:lnTo>
                  <a:lnTo>
                    <a:pt x="7086" y="1548831"/>
                  </a:lnTo>
                  <a:lnTo>
                    <a:pt x="4596" y="1548831"/>
                  </a:lnTo>
                  <a:lnTo>
                    <a:pt x="4596" y="1551123"/>
                  </a:lnTo>
                  <a:lnTo>
                    <a:pt x="2298" y="1548831"/>
                  </a:lnTo>
                  <a:lnTo>
                    <a:pt x="0" y="1548831"/>
                  </a:lnTo>
                  <a:lnTo>
                    <a:pt x="0" y="1546348"/>
                  </a:lnTo>
                </a:path>
                <a:path w="9525" h="4244340">
                  <a:moveTo>
                    <a:pt x="0" y="1507389"/>
                  </a:moveTo>
                  <a:lnTo>
                    <a:pt x="0" y="1477596"/>
                  </a:lnTo>
                  <a:lnTo>
                    <a:pt x="0" y="1475304"/>
                  </a:lnTo>
                  <a:lnTo>
                    <a:pt x="2298" y="1472822"/>
                  </a:lnTo>
                  <a:lnTo>
                    <a:pt x="4596" y="1472822"/>
                  </a:lnTo>
                  <a:lnTo>
                    <a:pt x="7086" y="1475304"/>
                  </a:lnTo>
                  <a:lnTo>
                    <a:pt x="9001" y="1477596"/>
                  </a:lnTo>
                  <a:lnTo>
                    <a:pt x="9001" y="1507389"/>
                  </a:lnTo>
                  <a:lnTo>
                    <a:pt x="7086" y="1509680"/>
                  </a:lnTo>
                  <a:lnTo>
                    <a:pt x="4596" y="1511972"/>
                  </a:lnTo>
                  <a:lnTo>
                    <a:pt x="2298" y="1511972"/>
                  </a:lnTo>
                  <a:lnTo>
                    <a:pt x="0" y="1509680"/>
                  </a:lnTo>
                  <a:lnTo>
                    <a:pt x="0" y="1507389"/>
                  </a:lnTo>
                </a:path>
                <a:path w="9525" h="4244340">
                  <a:moveTo>
                    <a:pt x="0" y="1440928"/>
                  </a:moveTo>
                  <a:lnTo>
                    <a:pt x="0" y="1438446"/>
                  </a:lnTo>
                  <a:lnTo>
                    <a:pt x="0" y="1436154"/>
                  </a:lnTo>
                  <a:lnTo>
                    <a:pt x="2298" y="1436154"/>
                  </a:lnTo>
                  <a:lnTo>
                    <a:pt x="4596" y="1436154"/>
                  </a:lnTo>
                  <a:lnTo>
                    <a:pt x="7086" y="1436154"/>
                  </a:lnTo>
                  <a:lnTo>
                    <a:pt x="7086" y="1438446"/>
                  </a:lnTo>
                  <a:lnTo>
                    <a:pt x="9001" y="1440928"/>
                  </a:lnTo>
                  <a:lnTo>
                    <a:pt x="7086" y="1440928"/>
                  </a:lnTo>
                  <a:lnTo>
                    <a:pt x="7086" y="1442838"/>
                  </a:lnTo>
                  <a:lnTo>
                    <a:pt x="4596" y="1445130"/>
                  </a:lnTo>
                  <a:lnTo>
                    <a:pt x="2298" y="1445130"/>
                  </a:lnTo>
                  <a:lnTo>
                    <a:pt x="0" y="1442838"/>
                  </a:lnTo>
                  <a:lnTo>
                    <a:pt x="0" y="1440928"/>
                  </a:lnTo>
                </a:path>
                <a:path w="9525" h="4244340">
                  <a:moveTo>
                    <a:pt x="0" y="1401778"/>
                  </a:moveTo>
                  <a:lnTo>
                    <a:pt x="0" y="1373895"/>
                  </a:lnTo>
                  <a:lnTo>
                    <a:pt x="0" y="1371603"/>
                  </a:lnTo>
                  <a:lnTo>
                    <a:pt x="0" y="1369312"/>
                  </a:lnTo>
                  <a:lnTo>
                    <a:pt x="2298" y="1369312"/>
                  </a:lnTo>
                  <a:lnTo>
                    <a:pt x="4596" y="1366829"/>
                  </a:lnTo>
                  <a:lnTo>
                    <a:pt x="4596" y="1369312"/>
                  </a:lnTo>
                  <a:lnTo>
                    <a:pt x="7086" y="1369312"/>
                  </a:lnTo>
                  <a:lnTo>
                    <a:pt x="7086" y="1371603"/>
                  </a:lnTo>
                  <a:lnTo>
                    <a:pt x="9001" y="1373895"/>
                  </a:lnTo>
                  <a:lnTo>
                    <a:pt x="9001" y="1401778"/>
                  </a:lnTo>
                  <a:lnTo>
                    <a:pt x="7086" y="1403688"/>
                  </a:lnTo>
                  <a:lnTo>
                    <a:pt x="4596" y="1405979"/>
                  </a:lnTo>
                  <a:lnTo>
                    <a:pt x="2298" y="1405979"/>
                  </a:lnTo>
                  <a:lnTo>
                    <a:pt x="0" y="1403688"/>
                  </a:lnTo>
                  <a:lnTo>
                    <a:pt x="0" y="1401778"/>
                  </a:lnTo>
                </a:path>
                <a:path w="9525" h="4244340">
                  <a:moveTo>
                    <a:pt x="0" y="1334936"/>
                  </a:moveTo>
                  <a:lnTo>
                    <a:pt x="0" y="1332453"/>
                  </a:lnTo>
                  <a:lnTo>
                    <a:pt x="0" y="1330161"/>
                  </a:lnTo>
                  <a:lnTo>
                    <a:pt x="2298" y="1330161"/>
                  </a:lnTo>
                  <a:lnTo>
                    <a:pt x="4596" y="1330161"/>
                  </a:lnTo>
                  <a:lnTo>
                    <a:pt x="7086" y="1330161"/>
                  </a:lnTo>
                  <a:lnTo>
                    <a:pt x="7086" y="1332453"/>
                  </a:lnTo>
                  <a:lnTo>
                    <a:pt x="9001" y="1334936"/>
                  </a:lnTo>
                  <a:lnTo>
                    <a:pt x="7086" y="1337227"/>
                  </a:lnTo>
                  <a:lnTo>
                    <a:pt x="4596" y="1339519"/>
                  </a:lnTo>
                  <a:lnTo>
                    <a:pt x="2298" y="1339519"/>
                  </a:lnTo>
                  <a:lnTo>
                    <a:pt x="0" y="1337227"/>
                  </a:lnTo>
                  <a:lnTo>
                    <a:pt x="0" y="1334936"/>
                  </a:lnTo>
                </a:path>
                <a:path w="9525" h="4244340">
                  <a:moveTo>
                    <a:pt x="0" y="1295785"/>
                  </a:moveTo>
                  <a:lnTo>
                    <a:pt x="0" y="1268475"/>
                  </a:lnTo>
                  <a:lnTo>
                    <a:pt x="0" y="1265992"/>
                  </a:lnTo>
                  <a:lnTo>
                    <a:pt x="0" y="1263701"/>
                  </a:lnTo>
                  <a:lnTo>
                    <a:pt x="2298" y="1263701"/>
                  </a:lnTo>
                  <a:lnTo>
                    <a:pt x="4596" y="1263701"/>
                  </a:lnTo>
                  <a:lnTo>
                    <a:pt x="7086" y="1263701"/>
                  </a:lnTo>
                  <a:lnTo>
                    <a:pt x="7086" y="1265992"/>
                  </a:lnTo>
                  <a:lnTo>
                    <a:pt x="9001" y="1268475"/>
                  </a:lnTo>
                  <a:lnTo>
                    <a:pt x="9001" y="1295785"/>
                  </a:lnTo>
                  <a:lnTo>
                    <a:pt x="7086" y="1298077"/>
                  </a:lnTo>
                  <a:lnTo>
                    <a:pt x="7086" y="1300369"/>
                  </a:lnTo>
                  <a:lnTo>
                    <a:pt x="4596" y="1300369"/>
                  </a:lnTo>
                  <a:lnTo>
                    <a:pt x="2298" y="1300369"/>
                  </a:lnTo>
                  <a:lnTo>
                    <a:pt x="0" y="1300369"/>
                  </a:lnTo>
                  <a:lnTo>
                    <a:pt x="0" y="1298077"/>
                  </a:lnTo>
                  <a:lnTo>
                    <a:pt x="0" y="1295785"/>
                  </a:lnTo>
                </a:path>
                <a:path w="9525" h="4244340">
                  <a:moveTo>
                    <a:pt x="0" y="1229325"/>
                  </a:moveTo>
                  <a:lnTo>
                    <a:pt x="0" y="1227033"/>
                  </a:lnTo>
                  <a:lnTo>
                    <a:pt x="0" y="1224550"/>
                  </a:lnTo>
                  <a:lnTo>
                    <a:pt x="2298" y="1224550"/>
                  </a:lnTo>
                  <a:lnTo>
                    <a:pt x="4596" y="1224550"/>
                  </a:lnTo>
                  <a:lnTo>
                    <a:pt x="7086" y="1224550"/>
                  </a:lnTo>
                  <a:lnTo>
                    <a:pt x="7086" y="1227033"/>
                  </a:lnTo>
                  <a:lnTo>
                    <a:pt x="9001" y="1229325"/>
                  </a:lnTo>
                  <a:lnTo>
                    <a:pt x="7086" y="1231616"/>
                  </a:lnTo>
                  <a:lnTo>
                    <a:pt x="4596" y="1234099"/>
                  </a:lnTo>
                  <a:lnTo>
                    <a:pt x="2298" y="1234099"/>
                  </a:lnTo>
                  <a:lnTo>
                    <a:pt x="0" y="1231616"/>
                  </a:lnTo>
                  <a:lnTo>
                    <a:pt x="0" y="1229325"/>
                  </a:lnTo>
                </a:path>
                <a:path w="9525" h="4244340">
                  <a:moveTo>
                    <a:pt x="0" y="1190174"/>
                  </a:moveTo>
                  <a:lnTo>
                    <a:pt x="0" y="1162482"/>
                  </a:lnTo>
                  <a:lnTo>
                    <a:pt x="0" y="1160000"/>
                  </a:lnTo>
                  <a:lnTo>
                    <a:pt x="0" y="1158090"/>
                  </a:lnTo>
                  <a:lnTo>
                    <a:pt x="2298" y="1158090"/>
                  </a:lnTo>
                  <a:lnTo>
                    <a:pt x="4596" y="1158090"/>
                  </a:lnTo>
                  <a:lnTo>
                    <a:pt x="7086" y="1158090"/>
                  </a:lnTo>
                  <a:lnTo>
                    <a:pt x="7086" y="1160000"/>
                  </a:lnTo>
                  <a:lnTo>
                    <a:pt x="9001" y="1162482"/>
                  </a:lnTo>
                  <a:lnTo>
                    <a:pt x="9001" y="1190174"/>
                  </a:lnTo>
                  <a:lnTo>
                    <a:pt x="7086" y="1192466"/>
                  </a:lnTo>
                  <a:lnTo>
                    <a:pt x="7086" y="1194949"/>
                  </a:lnTo>
                  <a:lnTo>
                    <a:pt x="4596" y="1194949"/>
                  </a:lnTo>
                  <a:lnTo>
                    <a:pt x="2298" y="1194949"/>
                  </a:lnTo>
                  <a:lnTo>
                    <a:pt x="0" y="1194949"/>
                  </a:lnTo>
                  <a:lnTo>
                    <a:pt x="0" y="1192466"/>
                  </a:lnTo>
                  <a:lnTo>
                    <a:pt x="0" y="1190174"/>
                  </a:lnTo>
                </a:path>
                <a:path w="9525" h="4244340">
                  <a:moveTo>
                    <a:pt x="0" y="1123332"/>
                  </a:moveTo>
                  <a:lnTo>
                    <a:pt x="0" y="1121422"/>
                  </a:lnTo>
                  <a:lnTo>
                    <a:pt x="2298" y="1119130"/>
                  </a:lnTo>
                  <a:lnTo>
                    <a:pt x="4596" y="1119130"/>
                  </a:lnTo>
                  <a:lnTo>
                    <a:pt x="7086" y="1121422"/>
                  </a:lnTo>
                  <a:lnTo>
                    <a:pt x="9001" y="1123332"/>
                  </a:lnTo>
                  <a:lnTo>
                    <a:pt x="7086" y="1125624"/>
                  </a:lnTo>
                  <a:lnTo>
                    <a:pt x="7086" y="1127915"/>
                  </a:lnTo>
                  <a:lnTo>
                    <a:pt x="4596" y="1127915"/>
                  </a:lnTo>
                  <a:lnTo>
                    <a:pt x="2298" y="1127915"/>
                  </a:lnTo>
                  <a:lnTo>
                    <a:pt x="0" y="1127915"/>
                  </a:lnTo>
                  <a:lnTo>
                    <a:pt x="0" y="1125624"/>
                  </a:lnTo>
                  <a:lnTo>
                    <a:pt x="0" y="1123332"/>
                  </a:lnTo>
                </a:path>
                <a:path w="9525" h="4244340">
                  <a:moveTo>
                    <a:pt x="0" y="1084563"/>
                  </a:moveTo>
                  <a:lnTo>
                    <a:pt x="0" y="1056872"/>
                  </a:lnTo>
                  <a:lnTo>
                    <a:pt x="0" y="1054580"/>
                  </a:lnTo>
                  <a:lnTo>
                    <a:pt x="0" y="1052097"/>
                  </a:lnTo>
                  <a:lnTo>
                    <a:pt x="2298" y="1052097"/>
                  </a:lnTo>
                  <a:lnTo>
                    <a:pt x="4596" y="1052097"/>
                  </a:lnTo>
                  <a:lnTo>
                    <a:pt x="7086" y="1052097"/>
                  </a:lnTo>
                  <a:lnTo>
                    <a:pt x="7086" y="1054580"/>
                  </a:lnTo>
                  <a:lnTo>
                    <a:pt x="9001" y="1056872"/>
                  </a:lnTo>
                  <a:lnTo>
                    <a:pt x="9001" y="1084563"/>
                  </a:lnTo>
                  <a:lnTo>
                    <a:pt x="7086" y="1086473"/>
                  </a:lnTo>
                  <a:lnTo>
                    <a:pt x="7086" y="1088956"/>
                  </a:lnTo>
                  <a:lnTo>
                    <a:pt x="4596" y="1088956"/>
                  </a:lnTo>
                  <a:lnTo>
                    <a:pt x="4596" y="1091248"/>
                  </a:lnTo>
                  <a:lnTo>
                    <a:pt x="2298" y="1088956"/>
                  </a:lnTo>
                  <a:lnTo>
                    <a:pt x="0" y="1088956"/>
                  </a:lnTo>
                  <a:lnTo>
                    <a:pt x="0" y="1086473"/>
                  </a:lnTo>
                  <a:lnTo>
                    <a:pt x="0" y="1084563"/>
                  </a:lnTo>
                </a:path>
                <a:path w="9525" h="4244340">
                  <a:moveTo>
                    <a:pt x="0" y="1017721"/>
                  </a:moveTo>
                  <a:lnTo>
                    <a:pt x="0" y="1015429"/>
                  </a:lnTo>
                  <a:lnTo>
                    <a:pt x="2298" y="1012947"/>
                  </a:lnTo>
                  <a:lnTo>
                    <a:pt x="4596" y="1012947"/>
                  </a:lnTo>
                  <a:lnTo>
                    <a:pt x="7086" y="1015429"/>
                  </a:lnTo>
                  <a:lnTo>
                    <a:pt x="9001" y="1017721"/>
                  </a:lnTo>
                  <a:lnTo>
                    <a:pt x="7086" y="1020013"/>
                  </a:lnTo>
                  <a:lnTo>
                    <a:pt x="7086" y="1022496"/>
                  </a:lnTo>
                  <a:lnTo>
                    <a:pt x="4596" y="1022496"/>
                  </a:lnTo>
                  <a:lnTo>
                    <a:pt x="2298" y="1022496"/>
                  </a:lnTo>
                  <a:lnTo>
                    <a:pt x="0" y="1022496"/>
                  </a:lnTo>
                  <a:lnTo>
                    <a:pt x="0" y="1020013"/>
                  </a:lnTo>
                  <a:lnTo>
                    <a:pt x="0" y="1017721"/>
                  </a:lnTo>
                </a:path>
                <a:path w="9525" h="4244340">
                  <a:moveTo>
                    <a:pt x="0" y="981053"/>
                  </a:moveTo>
                  <a:lnTo>
                    <a:pt x="0" y="951261"/>
                  </a:lnTo>
                  <a:lnTo>
                    <a:pt x="0" y="948969"/>
                  </a:lnTo>
                  <a:lnTo>
                    <a:pt x="2298" y="946677"/>
                  </a:lnTo>
                  <a:lnTo>
                    <a:pt x="4596" y="946677"/>
                  </a:lnTo>
                  <a:lnTo>
                    <a:pt x="7086" y="948969"/>
                  </a:lnTo>
                  <a:lnTo>
                    <a:pt x="9001" y="951261"/>
                  </a:lnTo>
                  <a:lnTo>
                    <a:pt x="9001" y="981053"/>
                  </a:lnTo>
                  <a:lnTo>
                    <a:pt x="7086" y="981053"/>
                  </a:lnTo>
                  <a:lnTo>
                    <a:pt x="7086" y="983345"/>
                  </a:lnTo>
                  <a:lnTo>
                    <a:pt x="4596" y="983345"/>
                  </a:lnTo>
                  <a:lnTo>
                    <a:pt x="4596" y="985637"/>
                  </a:lnTo>
                  <a:lnTo>
                    <a:pt x="2298" y="983345"/>
                  </a:lnTo>
                  <a:lnTo>
                    <a:pt x="0" y="983345"/>
                  </a:lnTo>
                  <a:lnTo>
                    <a:pt x="0" y="981053"/>
                  </a:lnTo>
                </a:path>
                <a:path w="9525" h="4244340">
                  <a:moveTo>
                    <a:pt x="0" y="912110"/>
                  </a:moveTo>
                  <a:lnTo>
                    <a:pt x="0" y="909819"/>
                  </a:lnTo>
                  <a:lnTo>
                    <a:pt x="2298" y="909819"/>
                  </a:lnTo>
                  <a:lnTo>
                    <a:pt x="4596" y="907527"/>
                  </a:lnTo>
                  <a:lnTo>
                    <a:pt x="4596" y="909819"/>
                  </a:lnTo>
                  <a:lnTo>
                    <a:pt x="7086" y="909819"/>
                  </a:lnTo>
                  <a:lnTo>
                    <a:pt x="7086" y="912110"/>
                  </a:lnTo>
                  <a:lnTo>
                    <a:pt x="9001" y="912110"/>
                  </a:lnTo>
                  <a:lnTo>
                    <a:pt x="7086" y="914593"/>
                  </a:lnTo>
                  <a:lnTo>
                    <a:pt x="7086" y="916885"/>
                  </a:lnTo>
                  <a:lnTo>
                    <a:pt x="4596" y="916885"/>
                  </a:lnTo>
                  <a:lnTo>
                    <a:pt x="4596" y="918795"/>
                  </a:lnTo>
                  <a:lnTo>
                    <a:pt x="2298" y="916885"/>
                  </a:lnTo>
                  <a:lnTo>
                    <a:pt x="0" y="916885"/>
                  </a:lnTo>
                  <a:lnTo>
                    <a:pt x="0" y="914593"/>
                  </a:lnTo>
                  <a:lnTo>
                    <a:pt x="0" y="912110"/>
                  </a:lnTo>
                </a:path>
                <a:path w="9525" h="4244340">
                  <a:moveTo>
                    <a:pt x="0" y="875443"/>
                  </a:moveTo>
                  <a:lnTo>
                    <a:pt x="0" y="845268"/>
                  </a:lnTo>
                  <a:lnTo>
                    <a:pt x="0" y="842976"/>
                  </a:lnTo>
                  <a:lnTo>
                    <a:pt x="2298" y="841067"/>
                  </a:lnTo>
                  <a:lnTo>
                    <a:pt x="4596" y="841067"/>
                  </a:lnTo>
                  <a:lnTo>
                    <a:pt x="7086" y="842976"/>
                  </a:lnTo>
                  <a:lnTo>
                    <a:pt x="9001" y="845268"/>
                  </a:lnTo>
                  <a:lnTo>
                    <a:pt x="9001" y="875443"/>
                  </a:lnTo>
                  <a:lnTo>
                    <a:pt x="7086" y="877734"/>
                  </a:lnTo>
                  <a:lnTo>
                    <a:pt x="4596" y="879644"/>
                  </a:lnTo>
                  <a:lnTo>
                    <a:pt x="2298" y="879644"/>
                  </a:lnTo>
                  <a:lnTo>
                    <a:pt x="0" y="877734"/>
                  </a:lnTo>
                  <a:lnTo>
                    <a:pt x="0" y="875443"/>
                  </a:lnTo>
                </a:path>
                <a:path w="9525" h="4244340">
                  <a:moveTo>
                    <a:pt x="0" y="808600"/>
                  </a:moveTo>
                  <a:lnTo>
                    <a:pt x="0" y="806118"/>
                  </a:lnTo>
                  <a:lnTo>
                    <a:pt x="0" y="804208"/>
                  </a:lnTo>
                  <a:lnTo>
                    <a:pt x="2298" y="804208"/>
                  </a:lnTo>
                  <a:lnTo>
                    <a:pt x="4596" y="804208"/>
                  </a:lnTo>
                  <a:lnTo>
                    <a:pt x="7086" y="804208"/>
                  </a:lnTo>
                  <a:lnTo>
                    <a:pt x="7086" y="806118"/>
                  </a:lnTo>
                  <a:lnTo>
                    <a:pt x="9001" y="808600"/>
                  </a:lnTo>
                  <a:lnTo>
                    <a:pt x="7086" y="808600"/>
                  </a:lnTo>
                  <a:lnTo>
                    <a:pt x="7086" y="810892"/>
                  </a:lnTo>
                  <a:lnTo>
                    <a:pt x="4596" y="810892"/>
                  </a:lnTo>
                  <a:lnTo>
                    <a:pt x="4596" y="813184"/>
                  </a:lnTo>
                  <a:lnTo>
                    <a:pt x="2298" y="810892"/>
                  </a:lnTo>
                  <a:lnTo>
                    <a:pt x="0" y="810892"/>
                  </a:lnTo>
                  <a:lnTo>
                    <a:pt x="0" y="808600"/>
                  </a:lnTo>
                </a:path>
                <a:path w="9525" h="4244340">
                  <a:moveTo>
                    <a:pt x="0" y="769450"/>
                  </a:moveTo>
                  <a:lnTo>
                    <a:pt x="0" y="739657"/>
                  </a:lnTo>
                  <a:lnTo>
                    <a:pt x="0" y="737365"/>
                  </a:lnTo>
                  <a:lnTo>
                    <a:pt x="2298" y="737365"/>
                  </a:lnTo>
                  <a:lnTo>
                    <a:pt x="4596" y="735074"/>
                  </a:lnTo>
                  <a:lnTo>
                    <a:pt x="4596" y="737365"/>
                  </a:lnTo>
                  <a:lnTo>
                    <a:pt x="7086" y="737365"/>
                  </a:lnTo>
                  <a:lnTo>
                    <a:pt x="7086" y="739657"/>
                  </a:lnTo>
                  <a:lnTo>
                    <a:pt x="9001" y="739657"/>
                  </a:lnTo>
                  <a:lnTo>
                    <a:pt x="9001" y="769450"/>
                  </a:lnTo>
                  <a:lnTo>
                    <a:pt x="7086" y="771741"/>
                  </a:lnTo>
                  <a:lnTo>
                    <a:pt x="4596" y="774224"/>
                  </a:lnTo>
                  <a:lnTo>
                    <a:pt x="2298" y="774224"/>
                  </a:lnTo>
                  <a:lnTo>
                    <a:pt x="0" y="771741"/>
                  </a:lnTo>
                  <a:lnTo>
                    <a:pt x="0" y="769450"/>
                  </a:lnTo>
                </a:path>
                <a:path w="9525" h="4244340">
                  <a:moveTo>
                    <a:pt x="0" y="702989"/>
                  </a:moveTo>
                  <a:lnTo>
                    <a:pt x="0" y="700698"/>
                  </a:lnTo>
                  <a:lnTo>
                    <a:pt x="0" y="698215"/>
                  </a:lnTo>
                  <a:lnTo>
                    <a:pt x="2298" y="698215"/>
                  </a:lnTo>
                  <a:lnTo>
                    <a:pt x="4596" y="698215"/>
                  </a:lnTo>
                  <a:lnTo>
                    <a:pt x="7086" y="698215"/>
                  </a:lnTo>
                  <a:lnTo>
                    <a:pt x="7086" y="700698"/>
                  </a:lnTo>
                  <a:lnTo>
                    <a:pt x="9001" y="702989"/>
                  </a:lnTo>
                  <a:lnTo>
                    <a:pt x="7086" y="705281"/>
                  </a:lnTo>
                  <a:lnTo>
                    <a:pt x="4596" y="707764"/>
                  </a:lnTo>
                  <a:lnTo>
                    <a:pt x="2298" y="707764"/>
                  </a:lnTo>
                  <a:lnTo>
                    <a:pt x="0" y="705281"/>
                  </a:lnTo>
                  <a:lnTo>
                    <a:pt x="0" y="702989"/>
                  </a:lnTo>
                </a:path>
                <a:path w="9525" h="4244340">
                  <a:moveTo>
                    <a:pt x="0" y="663839"/>
                  </a:moveTo>
                  <a:lnTo>
                    <a:pt x="0" y="636147"/>
                  </a:lnTo>
                  <a:lnTo>
                    <a:pt x="0" y="634237"/>
                  </a:lnTo>
                  <a:lnTo>
                    <a:pt x="0" y="631946"/>
                  </a:lnTo>
                  <a:lnTo>
                    <a:pt x="2298" y="631946"/>
                  </a:lnTo>
                  <a:lnTo>
                    <a:pt x="4596" y="631946"/>
                  </a:lnTo>
                  <a:lnTo>
                    <a:pt x="7086" y="631946"/>
                  </a:lnTo>
                  <a:lnTo>
                    <a:pt x="7086" y="634237"/>
                  </a:lnTo>
                  <a:lnTo>
                    <a:pt x="9001" y="636147"/>
                  </a:lnTo>
                  <a:lnTo>
                    <a:pt x="9001" y="663839"/>
                  </a:lnTo>
                  <a:lnTo>
                    <a:pt x="7086" y="666322"/>
                  </a:lnTo>
                  <a:lnTo>
                    <a:pt x="7086" y="668613"/>
                  </a:lnTo>
                  <a:lnTo>
                    <a:pt x="4596" y="668613"/>
                  </a:lnTo>
                  <a:lnTo>
                    <a:pt x="2298" y="668613"/>
                  </a:lnTo>
                  <a:lnTo>
                    <a:pt x="0" y="668613"/>
                  </a:lnTo>
                  <a:lnTo>
                    <a:pt x="0" y="666322"/>
                  </a:lnTo>
                  <a:lnTo>
                    <a:pt x="0" y="663839"/>
                  </a:lnTo>
                </a:path>
                <a:path w="9525" h="4244340">
                  <a:moveTo>
                    <a:pt x="0" y="597379"/>
                  </a:moveTo>
                  <a:lnTo>
                    <a:pt x="0" y="595087"/>
                  </a:lnTo>
                  <a:lnTo>
                    <a:pt x="0" y="592795"/>
                  </a:lnTo>
                  <a:lnTo>
                    <a:pt x="2298" y="592795"/>
                  </a:lnTo>
                  <a:lnTo>
                    <a:pt x="4596" y="592795"/>
                  </a:lnTo>
                  <a:lnTo>
                    <a:pt x="7086" y="592795"/>
                  </a:lnTo>
                  <a:lnTo>
                    <a:pt x="7086" y="595087"/>
                  </a:lnTo>
                  <a:lnTo>
                    <a:pt x="9001" y="597379"/>
                  </a:lnTo>
                  <a:lnTo>
                    <a:pt x="7086" y="599288"/>
                  </a:lnTo>
                  <a:lnTo>
                    <a:pt x="4596" y="601771"/>
                  </a:lnTo>
                  <a:lnTo>
                    <a:pt x="2298" y="601771"/>
                  </a:lnTo>
                  <a:lnTo>
                    <a:pt x="0" y="599288"/>
                  </a:lnTo>
                  <a:lnTo>
                    <a:pt x="0" y="597379"/>
                  </a:lnTo>
                </a:path>
                <a:path w="9525" h="4244340">
                  <a:moveTo>
                    <a:pt x="0" y="558419"/>
                  </a:moveTo>
                  <a:lnTo>
                    <a:pt x="0" y="530536"/>
                  </a:lnTo>
                  <a:lnTo>
                    <a:pt x="0" y="528245"/>
                  </a:lnTo>
                  <a:lnTo>
                    <a:pt x="0" y="525762"/>
                  </a:lnTo>
                  <a:lnTo>
                    <a:pt x="2298" y="525762"/>
                  </a:lnTo>
                  <a:lnTo>
                    <a:pt x="4596" y="525762"/>
                  </a:lnTo>
                  <a:lnTo>
                    <a:pt x="7086" y="525762"/>
                  </a:lnTo>
                  <a:lnTo>
                    <a:pt x="7086" y="528245"/>
                  </a:lnTo>
                  <a:lnTo>
                    <a:pt x="9001" y="530536"/>
                  </a:lnTo>
                  <a:lnTo>
                    <a:pt x="9001" y="558419"/>
                  </a:lnTo>
                  <a:lnTo>
                    <a:pt x="7086" y="560711"/>
                  </a:lnTo>
                  <a:lnTo>
                    <a:pt x="7086" y="562621"/>
                  </a:lnTo>
                  <a:lnTo>
                    <a:pt x="4596" y="562621"/>
                  </a:lnTo>
                  <a:lnTo>
                    <a:pt x="2298" y="562621"/>
                  </a:lnTo>
                  <a:lnTo>
                    <a:pt x="0" y="562621"/>
                  </a:lnTo>
                  <a:lnTo>
                    <a:pt x="0" y="560711"/>
                  </a:lnTo>
                  <a:lnTo>
                    <a:pt x="0" y="558419"/>
                  </a:lnTo>
                </a:path>
                <a:path w="9525" h="4244340">
                  <a:moveTo>
                    <a:pt x="0" y="491386"/>
                  </a:moveTo>
                  <a:lnTo>
                    <a:pt x="0" y="489094"/>
                  </a:lnTo>
                  <a:lnTo>
                    <a:pt x="2298" y="486802"/>
                  </a:lnTo>
                  <a:lnTo>
                    <a:pt x="4596" y="486802"/>
                  </a:lnTo>
                  <a:lnTo>
                    <a:pt x="7086" y="489094"/>
                  </a:lnTo>
                  <a:lnTo>
                    <a:pt x="9001" y="491386"/>
                  </a:lnTo>
                  <a:lnTo>
                    <a:pt x="7086" y="493869"/>
                  </a:lnTo>
                  <a:lnTo>
                    <a:pt x="7086" y="496160"/>
                  </a:lnTo>
                  <a:lnTo>
                    <a:pt x="4596" y="496160"/>
                  </a:lnTo>
                  <a:lnTo>
                    <a:pt x="2298" y="496160"/>
                  </a:lnTo>
                  <a:lnTo>
                    <a:pt x="0" y="496160"/>
                  </a:lnTo>
                  <a:lnTo>
                    <a:pt x="0" y="493869"/>
                  </a:lnTo>
                  <a:lnTo>
                    <a:pt x="0" y="491386"/>
                  </a:lnTo>
                </a:path>
                <a:path w="9525" h="4244340">
                  <a:moveTo>
                    <a:pt x="0" y="452426"/>
                  </a:moveTo>
                  <a:lnTo>
                    <a:pt x="0" y="424925"/>
                  </a:lnTo>
                  <a:lnTo>
                    <a:pt x="0" y="422634"/>
                  </a:lnTo>
                  <a:lnTo>
                    <a:pt x="0" y="420342"/>
                  </a:lnTo>
                  <a:lnTo>
                    <a:pt x="2298" y="420342"/>
                  </a:lnTo>
                  <a:lnTo>
                    <a:pt x="4596" y="420342"/>
                  </a:lnTo>
                  <a:lnTo>
                    <a:pt x="7086" y="420342"/>
                  </a:lnTo>
                  <a:lnTo>
                    <a:pt x="7086" y="422634"/>
                  </a:lnTo>
                  <a:lnTo>
                    <a:pt x="9001" y="424925"/>
                  </a:lnTo>
                  <a:lnTo>
                    <a:pt x="9001" y="452426"/>
                  </a:lnTo>
                  <a:lnTo>
                    <a:pt x="7086" y="454718"/>
                  </a:lnTo>
                  <a:lnTo>
                    <a:pt x="7086" y="457010"/>
                  </a:lnTo>
                  <a:lnTo>
                    <a:pt x="4596" y="457010"/>
                  </a:lnTo>
                  <a:lnTo>
                    <a:pt x="4596" y="459493"/>
                  </a:lnTo>
                  <a:lnTo>
                    <a:pt x="2298" y="457010"/>
                  </a:lnTo>
                  <a:lnTo>
                    <a:pt x="0" y="457010"/>
                  </a:lnTo>
                  <a:lnTo>
                    <a:pt x="0" y="454718"/>
                  </a:lnTo>
                  <a:lnTo>
                    <a:pt x="0" y="452426"/>
                  </a:lnTo>
                </a:path>
                <a:path w="9525" h="4244340">
                  <a:moveTo>
                    <a:pt x="0" y="385966"/>
                  </a:moveTo>
                  <a:lnTo>
                    <a:pt x="0" y="383483"/>
                  </a:lnTo>
                  <a:lnTo>
                    <a:pt x="2298" y="381192"/>
                  </a:lnTo>
                  <a:lnTo>
                    <a:pt x="4596" y="381192"/>
                  </a:lnTo>
                  <a:lnTo>
                    <a:pt x="7086" y="383483"/>
                  </a:lnTo>
                  <a:lnTo>
                    <a:pt x="9001" y="385966"/>
                  </a:lnTo>
                  <a:lnTo>
                    <a:pt x="7086" y="388258"/>
                  </a:lnTo>
                  <a:lnTo>
                    <a:pt x="7086" y="390549"/>
                  </a:lnTo>
                  <a:lnTo>
                    <a:pt x="4596" y="390549"/>
                  </a:lnTo>
                  <a:lnTo>
                    <a:pt x="2298" y="390549"/>
                  </a:lnTo>
                  <a:lnTo>
                    <a:pt x="0" y="390549"/>
                  </a:lnTo>
                  <a:lnTo>
                    <a:pt x="0" y="388258"/>
                  </a:lnTo>
                  <a:lnTo>
                    <a:pt x="0" y="385966"/>
                  </a:lnTo>
                </a:path>
                <a:path w="9525" h="4244340">
                  <a:moveTo>
                    <a:pt x="0" y="349107"/>
                  </a:moveTo>
                  <a:lnTo>
                    <a:pt x="0" y="318933"/>
                  </a:lnTo>
                  <a:lnTo>
                    <a:pt x="0" y="317023"/>
                  </a:lnTo>
                  <a:lnTo>
                    <a:pt x="2298" y="314731"/>
                  </a:lnTo>
                  <a:lnTo>
                    <a:pt x="4596" y="314731"/>
                  </a:lnTo>
                  <a:lnTo>
                    <a:pt x="7086" y="317023"/>
                  </a:lnTo>
                  <a:lnTo>
                    <a:pt x="9001" y="318933"/>
                  </a:lnTo>
                  <a:lnTo>
                    <a:pt x="9001" y="349107"/>
                  </a:lnTo>
                  <a:lnTo>
                    <a:pt x="7086" y="349107"/>
                  </a:lnTo>
                  <a:lnTo>
                    <a:pt x="7086" y="351590"/>
                  </a:lnTo>
                  <a:lnTo>
                    <a:pt x="4596" y="351590"/>
                  </a:lnTo>
                  <a:lnTo>
                    <a:pt x="4596" y="353882"/>
                  </a:lnTo>
                  <a:lnTo>
                    <a:pt x="2298" y="351590"/>
                  </a:lnTo>
                  <a:lnTo>
                    <a:pt x="0" y="351590"/>
                  </a:lnTo>
                  <a:lnTo>
                    <a:pt x="0" y="349107"/>
                  </a:lnTo>
                </a:path>
                <a:path w="9525" h="4244340">
                  <a:moveTo>
                    <a:pt x="0" y="280355"/>
                  </a:moveTo>
                  <a:lnTo>
                    <a:pt x="0" y="278063"/>
                  </a:lnTo>
                  <a:lnTo>
                    <a:pt x="2298" y="275581"/>
                  </a:lnTo>
                  <a:lnTo>
                    <a:pt x="4596" y="275581"/>
                  </a:lnTo>
                  <a:lnTo>
                    <a:pt x="7086" y="278063"/>
                  </a:lnTo>
                  <a:lnTo>
                    <a:pt x="7086" y="280355"/>
                  </a:lnTo>
                  <a:lnTo>
                    <a:pt x="9001" y="280355"/>
                  </a:lnTo>
                  <a:lnTo>
                    <a:pt x="7086" y="282265"/>
                  </a:lnTo>
                  <a:lnTo>
                    <a:pt x="7086" y="284557"/>
                  </a:lnTo>
                  <a:lnTo>
                    <a:pt x="4596" y="284557"/>
                  </a:lnTo>
                  <a:lnTo>
                    <a:pt x="4596" y="287039"/>
                  </a:lnTo>
                  <a:lnTo>
                    <a:pt x="2298" y="284557"/>
                  </a:lnTo>
                  <a:lnTo>
                    <a:pt x="0" y="284557"/>
                  </a:lnTo>
                  <a:lnTo>
                    <a:pt x="0" y="282265"/>
                  </a:lnTo>
                  <a:lnTo>
                    <a:pt x="0" y="280355"/>
                  </a:lnTo>
                </a:path>
                <a:path w="9525" h="4244340">
                  <a:moveTo>
                    <a:pt x="0" y="243114"/>
                  </a:moveTo>
                  <a:lnTo>
                    <a:pt x="0" y="213513"/>
                  </a:lnTo>
                  <a:lnTo>
                    <a:pt x="0" y="211030"/>
                  </a:lnTo>
                  <a:lnTo>
                    <a:pt x="2298" y="208738"/>
                  </a:lnTo>
                  <a:lnTo>
                    <a:pt x="4596" y="208738"/>
                  </a:lnTo>
                  <a:lnTo>
                    <a:pt x="7086" y="211030"/>
                  </a:lnTo>
                  <a:lnTo>
                    <a:pt x="9001" y="213513"/>
                  </a:lnTo>
                  <a:lnTo>
                    <a:pt x="9001" y="243114"/>
                  </a:lnTo>
                  <a:lnTo>
                    <a:pt x="7086" y="245406"/>
                  </a:lnTo>
                  <a:lnTo>
                    <a:pt x="4596" y="247889"/>
                  </a:lnTo>
                  <a:lnTo>
                    <a:pt x="2298" y="247889"/>
                  </a:lnTo>
                  <a:lnTo>
                    <a:pt x="0" y="245406"/>
                  </a:lnTo>
                  <a:lnTo>
                    <a:pt x="0" y="243114"/>
                  </a:lnTo>
                </a:path>
                <a:path w="9525" h="4244340">
                  <a:moveTo>
                    <a:pt x="0" y="176654"/>
                  </a:moveTo>
                  <a:lnTo>
                    <a:pt x="0" y="174362"/>
                  </a:lnTo>
                  <a:lnTo>
                    <a:pt x="0" y="172071"/>
                  </a:lnTo>
                  <a:lnTo>
                    <a:pt x="2298" y="172071"/>
                  </a:lnTo>
                  <a:lnTo>
                    <a:pt x="4596" y="172071"/>
                  </a:lnTo>
                  <a:lnTo>
                    <a:pt x="7086" y="172071"/>
                  </a:lnTo>
                  <a:lnTo>
                    <a:pt x="7086" y="174362"/>
                  </a:lnTo>
                  <a:lnTo>
                    <a:pt x="9001" y="176654"/>
                  </a:lnTo>
                  <a:lnTo>
                    <a:pt x="7086" y="176654"/>
                  </a:lnTo>
                  <a:lnTo>
                    <a:pt x="7086" y="179137"/>
                  </a:lnTo>
                  <a:lnTo>
                    <a:pt x="4596" y="179137"/>
                  </a:lnTo>
                  <a:lnTo>
                    <a:pt x="4596" y="181429"/>
                  </a:lnTo>
                  <a:lnTo>
                    <a:pt x="2298" y="179137"/>
                  </a:lnTo>
                  <a:lnTo>
                    <a:pt x="0" y="179137"/>
                  </a:lnTo>
                  <a:lnTo>
                    <a:pt x="0" y="176654"/>
                  </a:lnTo>
                </a:path>
                <a:path w="9525" h="4244340">
                  <a:moveTo>
                    <a:pt x="0" y="137504"/>
                  </a:moveTo>
                  <a:lnTo>
                    <a:pt x="0" y="107902"/>
                  </a:lnTo>
                  <a:lnTo>
                    <a:pt x="0" y="105610"/>
                  </a:lnTo>
                  <a:lnTo>
                    <a:pt x="2298" y="103128"/>
                  </a:lnTo>
                  <a:lnTo>
                    <a:pt x="4596" y="103128"/>
                  </a:lnTo>
                  <a:lnTo>
                    <a:pt x="7086" y="105610"/>
                  </a:lnTo>
                  <a:lnTo>
                    <a:pt x="7086" y="107902"/>
                  </a:lnTo>
                  <a:lnTo>
                    <a:pt x="9001" y="107902"/>
                  </a:lnTo>
                  <a:lnTo>
                    <a:pt x="9001" y="137504"/>
                  </a:lnTo>
                  <a:lnTo>
                    <a:pt x="7086" y="139986"/>
                  </a:lnTo>
                  <a:lnTo>
                    <a:pt x="4596" y="142278"/>
                  </a:lnTo>
                  <a:lnTo>
                    <a:pt x="2298" y="142278"/>
                  </a:lnTo>
                  <a:lnTo>
                    <a:pt x="0" y="139986"/>
                  </a:lnTo>
                  <a:lnTo>
                    <a:pt x="0" y="137504"/>
                  </a:lnTo>
                </a:path>
                <a:path w="9525" h="4244340">
                  <a:moveTo>
                    <a:pt x="0" y="71234"/>
                  </a:moveTo>
                  <a:lnTo>
                    <a:pt x="0" y="68752"/>
                  </a:lnTo>
                  <a:lnTo>
                    <a:pt x="0" y="66460"/>
                  </a:lnTo>
                  <a:lnTo>
                    <a:pt x="2298" y="66460"/>
                  </a:lnTo>
                  <a:lnTo>
                    <a:pt x="4596" y="66460"/>
                  </a:lnTo>
                  <a:lnTo>
                    <a:pt x="7086" y="66460"/>
                  </a:lnTo>
                  <a:lnTo>
                    <a:pt x="7086" y="68752"/>
                  </a:lnTo>
                  <a:lnTo>
                    <a:pt x="9001" y="71234"/>
                  </a:lnTo>
                  <a:lnTo>
                    <a:pt x="7086" y="73526"/>
                  </a:lnTo>
                  <a:lnTo>
                    <a:pt x="4596" y="75436"/>
                  </a:lnTo>
                  <a:lnTo>
                    <a:pt x="2298" y="75436"/>
                  </a:lnTo>
                  <a:lnTo>
                    <a:pt x="0" y="73526"/>
                  </a:lnTo>
                  <a:lnTo>
                    <a:pt x="0" y="71234"/>
                  </a:lnTo>
                </a:path>
                <a:path w="9525" h="4244340">
                  <a:moveTo>
                    <a:pt x="0" y="32084"/>
                  </a:moveTo>
                  <a:lnTo>
                    <a:pt x="0" y="4201"/>
                  </a:lnTo>
                  <a:lnTo>
                    <a:pt x="0" y="1909"/>
                  </a:lnTo>
                  <a:lnTo>
                    <a:pt x="0" y="0"/>
                  </a:lnTo>
                  <a:lnTo>
                    <a:pt x="2298" y="0"/>
                  </a:lnTo>
                  <a:lnTo>
                    <a:pt x="4596" y="0"/>
                  </a:lnTo>
                  <a:lnTo>
                    <a:pt x="7086" y="0"/>
                  </a:lnTo>
                  <a:lnTo>
                    <a:pt x="7086" y="1909"/>
                  </a:lnTo>
                  <a:lnTo>
                    <a:pt x="9001" y="4201"/>
                  </a:lnTo>
                  <a:lnTo>
                    <a:pt x="9001" y="32084"/>
                  </a:lnTo>
                  <a:lnTo>
                    <a:pt x="7086" y="34376"/>
                  </a:lnTo>
                  <a:lnTo>
                    <a:pt x="7086" y="36667"/>
                  </a:lnTo>
                  <a:lnTo>
                    <a:pt x="4596" y="36667"/>
                  </a:lnTo>
                  <a:lnTo>
                    <a:pt x="2298" y="36667"/>
                  </a:lnTo>
                  <a:lnTo>
                    <a:pt x="0" y="36667"/>
                  </a:lnTo>
                  <a:lnTo>
                    <a:pt x="0" y="34376"/>
                  </a:lnTo>
                  <a:lnTo>
                    <a:pt x="0" y="32084"/>
                  </a:lnTo>
                </a:path>
              </a:pathLst>
            </a:custGeom>
            <a:ln w="3175">
              <a:solidFill>
                <a:srgbClr val="000000"/>
              </a:solidFill>
            </a:ln>
          </p:spPr>
          <p:txBody>
            <a:bodyPr wrap="square" lIns="0" tIns="0" rIns="0" bIns="0" rtlCol="0"/>
            <a:lstStyle/>
            <a:p/>
          </p:txBody>
        </p:sp>
        <p:sp>
          <p:nvSpPr>
            <p:cNvPr id="58" name="object 58" descr=""/>
            <p:cNvSpPr/>
            <p:nvPr/>
          </p:nvSpPr>
          <p:spPr>
            <a:xfrm>
              <a:off x="9707127" y="1799699"/>
              <a:ext cx="10160" cy="4244340"/>
            </a:xfrm>
            <a:custGeom>
              <a:avLst/>
              <a:gdLst/>
              <a:ahLst/>
              <a:cxnLst/>
              <a:rect l="l" t="t" r="r" b="b"/>
              <a:pathLst>
                <a:path w="10159" h="4244340">
                  <a:moveTo>
                    <a:pt x="4788" y="4211872"/>
                  </a:moveTo>
                  <a:lnTo>
                    <a:pt x="2489" y="4211872"/>
                  </a:lnTo>
                  <a:lnTo>
                    <a:pt x="0" y="4214227"/>
                  </a:lnTo>
                  <a:lnTo>
                    <a:pt x="0" y="4243912"/>
                  </a:lnTo>
                  <a:lnTo>
                    <a:pt x="9576" y="4243912"/>
                  </a:lnTo>
                  <a:lnTo>
                    <a:pt x="9576" y="4216583"/>
                  </a:lnTo>
                  <a:lnTo>
                    <a:pt x="7277" y="4214227"/>
                  </a:lnTo>
                  <a:lnTo>
                    <a:pt x="4788" y="4211872"/>
                  </a:lnTo>
                  <a:close/>
                </a:path>
                <a:path w="10159" h="4244340">
                  <a:moveTo>
                    <a:pt x="4788" y="4182188"/>
                  </a:moveTo>
                  <a:lnTo>
                    <a:pt x="2489" y="4182188"/>
                  </a:lnTo>
                  <a:lnTo>
                    <a:pt x="4788" y="4184543"/>
                  </a:lnTo>
                  <a:lnTo>
                    <a:pt x="4788" y="4182188"/>
                  </a:lnTo>
                  <a:close/>
                </a:path>
                <a:path w="10159" h="4244340">
                  <a:moveTo>
                    <a:pt x="4788" y="4172763"/>
                  </a:moveTo>
                  <a:lnTo>
                    <a:pt x="2489" y="4172763"/>
                  </a:lnTo>
                  <a:lnTo>
                    <a:pt x="0" y="4175120"/>
                  </a:lnTo>
                  <a:lnTo>
                    <a:pt x="0" y="4182188"/>
                  </a:lnTo>
                  <a:lnTo>
                    <a:pt x="7277" y="4182188"/>
                  </a:lnTo>
                  <a:lnTo>
                    <a:pt x="7277" y="4179831"/>
                  </a:lnTo>
                  <a:lnTo>
                    <a:pt x="9576" y="4177475"/>
                  </a:lnTo>
                  <a:lnTo>
                    <a:pt x="7277" y="4177475"/>
                  </a:lnTo>
                  <a:lnTo>
                    <a:pt x="7277" y="4175120"/>
                  </a:lnTo>
                  <a:lnTo>
                    <a:pt x="4788" y="4172763"/>
                  </a:lnTo>
                  <a:close/>
                </a:path>
                <a:path w="10159" h="4244340">
                  <a:moveTo>
                    <a:pt x="4788" y="4106328"/>
                  </a:moveTo>
                  <a:lnTo>
                    <a:pt x="2489" y="4106328"/>
                  </a:lnTo>
                  <a:lnTo>
                    <a:pt x="0" y="4108683"/>
                  </a:lnTo>
                  <a:lnTo>
                    <a:pt x="0" y="4143080"/>
                  </a:lnTo>
                  <a:lnTo>
                    <a:pt x="2489" y="4145436"/>
                  </a:lnTo>
                  <a:lnTo>
                    <a:pt x="4788" y="4145436"/>
                  </a:lnTo>
                  <a:lnTo>
                    <a:pt x="7277" y="4143080"/>
                  </a:lnTo>
                  <a:lnTo>
                    <a:pt x="9576" y="4140723"/>
                  </a:lnTo>
                  <a:lnTo>
                    <a:pt x="9576" y="4111039"/>
                  </a:lnTo>
                  <a:lnTo>
                    <a:pt x="7277" y="4108683"/>
                  </a:lnTo>
                  <a:lnTo>
                    <a:pt x="4788" y="4106328"/>
                  </a:lnTo>
                  <a:close/>
                </a:path>
                <a:path w="10159" h="4244340">
                  <a:moveTo>
                    <a:pt x="4788" y="4076644"/>
                  </a:moveTo>
                  <a:lnTo>
                    <a:pt x="2489" y="4076644"/>
                  </a:lnTo>
                  <a:lnTo>
                    <a:pt x="4788" y="4078527"/>
                  </a:lnTo>
                  <a:lnTo>
                    <a:pt x="4788" y="4076644"/>
                  </a:lnTo>
                  <a:close/>
                </a:path>
                <a:path w="10159" h="4244340">
                  <a:moveTo>
                    <a:pt x="7277" y="4069576"/>
                  </a:moveTo>
                  <a:lnTo>
                    <a:pt x="0" y="4069576"/>
                  </a:lnTo>
                  <a:lnTo>
                    <a:pt x="0" y="4076644"/>
                  </a:lnTo>
                  <a:lnTo>
                    <a:pt x="7277" y="4076644"/>
                  </a:lnTo>
                  <a:lnTo>
                    <a:pt x="7277" y="4074287"/>
                  </a:lnTo>
                  <a:lnTo>
                    <a:pt x="9576" y="4074287"/>
                  </a:lnTo>
                  <a:lnTo>
                    <a:pt x="7277" y="4071931"/>
                  </a:lnTo>
                  <a:lnTo>
                    <a:pt x="7277" y="4069576"/>
                  </a:lnTo>
                  <a:close/>
                </a:path>
                <a:path w="10159" h="4244340">
                  <a:moveTo>
                    <a:pt x="4788" y="4000778"/>
                  </a:moveTo>
                  <a:lnTo>
                    <a:pt x="2489" y="4000778"/>
                  </a:lnTo>
                  <a:lnTo>
                    <a:pt x="0" y="4003146"/>
                  </a:lnTo>
                  <a:lnTo>
                    <a:pt x="0" y="4037541"/>
                  </a:lnTo>
                  <a:lnTo>
                    <a:pt x="2489" y="4039890"/>
                  </a:lnTo>
                  <a:lnTo>
                    <a:pt x="4788" y="4039890"/>
                  </a:lnTo>
                  <a:lnTo>
                    <a:pt x="7277" y="4037541"/>
                  </a:lnTo>
                  <a:lnTo>
                    <a:pt x="9576" y="4035173"/>
                  </a:lnTo>
                  <a:lnTo>
                    <a:pt x="9576" y="4005018"/>
                  </a:lnTo>
                  <a:lnTo>
                    <a:pt x="7277" y="4005018"/>
                  </a:lnTo>
                  <a:lnTo>
                    <a:pt x="7277" y="4003146"/>
                  </a:lnTo>
                  <a:lnTo>
                    <a:pt x="4788" y="4000778"/>
                  </a:lnTo>
                  <a:close/>
                </a:path>
                <a:path w="10159" h="4244340">
                  <a:moveTo>
                    <a:pt x="7277" y="3964034"/>
                  </a:moveTo>
                  <a:lnTo>
                    <a:pt x="0" y="3964034"/>
                  </a:lnTo>
                  <a:lnTo>
                    <a:pt x="0" y="3970623"/>
                  </a:lnTo>
                  <a:lnTo>
                    <a:pt x="2489" y="3972991"/>
                  </a:lnTo>
                  <a:lnTo>
                    <a:pt x="4788" y="3972991"/>
                  </a:lnTo>
                  <a:lnTo>
                    <a:pt x="7277" y="3970623"/>
                  </a:lnTo>
                  <a:lnTo>
                    <a:pt x="9576" y="3968274"/>
                  </a:lnTo>
                  <a:lnTo>
                    <a:pt x="7277" y="3966383"/>
                  </a:lnTo>
                  <a:lnTo>
                    <a:pt x="7277" y="3964034"/>
                  </a:lnTo>
                  <a:close/>
                </a:path>
                <a:path w="10159" h="4244340">
                  <a:moveTo>
                    <a:pt x="7277" y="3897115"/>
                  </a:moveTo>
                  <a:lnTo>
                    <a:pt x="0" y="3897115"/>
                  </a:lnTo>
                  <a:lnTo>
                    <a:pt x="0" y="3933878"/>
                  </a:lnTo>
                  <a:lnTo>
                    <a:pt x="7277" y="3933878"/>
                  </a:lnTo>
                  <a:lnTo>
                    <a:pt x="7277" y="3931529"/>
                  </a:lnTo>
                  <a:lnTo>
                    <a:pt x="9576" y="3929161"/>
                  </a:lnTo>
                  <a:lnTo>
                    <a:pt x="9576" y="3901832"/>
                  </a:lnTo>
                  <a:lnTo>
                    <a:pt x="7277" y="3899483"/>
                  </a:lnTo>
                  <a:lnTo>
                    <a:pt x="7277" y="3897115"/>
                  </a:lnTo>
                  <a:close/>
                </a:path>
                <a:path w="10159" h="4244340">
                  <a:moveTo>
                    <a:pt x="7277" y="3858022"/>
                  </a:moveTo>
                  <a:lnTo>
                    <a:pt x="0" y="3858022"/>
                  </a:lnTo>
                  <a:lnTo>
                    <a:pt x="0" y="3865088"/>
                  </a:lnTo>
                  <a:lnTo>
                    <a:pt x="2489" y="3867437"/>
                  </a:lnTo>
                  <a:lnTo>
                    <a:pt x="4788" y="3867437"/>
                  </a:lnTo>
                  <a:lnTo>
                    <a:pt x="7277" y="3865088"/>
                  </a:lnTo>
                  <a:lnTo>
                    <a:pt x="9576" y="3862720"/>
                  </a:lnTo>
                  <a:lnTo>
                    <a:pt x="7277" y="3860371"/>
                  </a:lnTo>
                  <a:lnTo>
                    <a:pt x="7277" y="3858022"/>
                  </a:lnTo>
                  <a:close/>
                </a:path>
                <a:path w="10159" h="4244340">
                  <a:moveTo>
                    <a:pt x="7277" y="3791581"/>
                  </a:moveTo>
                  <a:lnTo>
                    <a:pt x="0" y="3791581"/>
                  </a:lnTo>
                  <a:lnTo>
                    <a:pt x="0" y="3828325"/>
                  </a:lnTo>
                  <a:lnTo>
                    <a:pt x="7277" y="3828325"/>
                  </a:lnTo>
                  <a:lnTo>
                    <a:pt x="7277" y="3825976"/>
                  </a:lnTo>
                  <a:lnTo>
                    <a:pt x="9576" y="3823627"/>
                  </a:lnTo>
                  <a:lnTo>
                    <a:pt x="9576" y="3796298"/>
                  </a:lnTo>
                  <a:lnTo>
                    <a:pt x="7277" y="3793930"/>
                  </a:lnTo>
                  <a:lnTo>
                    <a:pt x="7277" y="3791581"/>
                  </a:lnTo>
                  <a:close/>
                </a:path>
                <a:path w="10159" h="4244340">
                  <a:moveTo>
                    <a:pt x="4788" y="3752469"/>
                  </a:moveTo>
                  <a:lnTo>
                    <a:pt x="2489" y="3752469"/>
                  </a:lnTo>
                  <a:lnTo>
                    <a:pt x="0" y="3754837"/>
                  </a:lnTo>
                  <a:lnTo>
                    <a:pt x="0" y="3761425"/>
                  </a:lnTo>
                  <a:lnTo>
                    <a:pt x="7277" y="3761425"/>
                  </a:lnTo>
                  <a:lnTo>
                    <a:pt x="7277" y="3759535"/>
                  </a:lnTo>
                  <a:lnTo>
                    <a:pt x="9576" y="3757186"/>
                  </a:lnTo>
                  <a:lnTo>
                    <a:pt x="7277" y="3754837"/>
                  </a:lnTo>
                  <a:lnTo>
                    <a:pt x="4788" y="3752469"/>
                  </a:lnTo>
                  <a:close/>
                </a:path>
                <a:path w="10159" h="4244340">
                  <a:moveTo>
                    <a:pt x="4788" y="3722791"/>
                  </a:moveTo>
                  <a:lnTo>
                    <a:pt x="2489" y="3722791"/>
                  </a:lnTo>
                  <a:lnTo>
                    <a:pt x="4788" y="3724681"/>
                  </a:lnTo>
                  <a:lnTo>
                    <a:pt x="4788" y="3722791"/>
                  </a:lnTo>
                  <a:close/>
                </a:path>
                <a:path w="10159" h="4244340">
                  <a:moveTo>
                    <a:pt x="7277" y="3685569"/>
                  </a:moveTo>
                  <a:lnTo>
                    <a:pt x="0" y="3685569"/>
                  </a:lnTo>
                  <a:lnTo>
                    <a:pt x="0" y="3722791"/>
                  </a:lnTo>
                  <a:lnTo>
                    <a:pt x="7277" y="3722791"/>
                  </a:lnTo>
                  <a:lnTo>
                    <a:pt x="7277" y="3720422"/>
                  </a:lnTo>
                  <a:lnTo>
                    <a:pt x="9576" y="3718073"/>
                  </a:lnTo>
                  <a:lnTo>
                    <a:pt x="9576" y="3690267"/>
                  </a:lnTo>
                  <a:lnTo>
                    <a:pt x="7277" y="3687918"/>
                  </a:lnTo>
                  <a:lnTo>
                    <a:pt x="7277" y="3685569"/>
                  </a:lnTo>
                  <a:close/>
                </a:path>
                <a:path w="10159" h="4244340">
                  <a:moveTo>
                    <a:pt x="4788" y="3646934"/>
                  </a:moveTo>
                  <a:lnTo>
                    <a:pt x="2489" y="3646934"/>
                  </a:lnTo>
                  <a:lnTo>
                    <a:pt x="0" y="3648806"/>
                  </a:lnTo>
                  <a:lnTo>
                    <a:pt x="0" y="3655872"/>
                  </a:lnTo>
                  <a:lnTo>
                    <a:pt x="7277" y="3655872"/>
                  </a:lnTo>
                  <a:lnTo>
                    <a:pt x="7277" y="3653523"/>
                  </a:lnTo>
                  <a:lnTo>
                    <a:pt x="9576" y="3651174"/>
                  </a:lnTo>
                  <a:lnTo>
                    <a:pt x="7277" y="3648806"/>
                  </a:lnTo>
                  <a:lnTo>
                    <a:pt x="4788" y="3646934"/>
                  </a:lnTo>
                  <a:close/>
                </a:path>
                <a:path w="10159" h="4244340">
                  <a:moveTo>
                    <a:pt x="4788" y="3616779"/>
                  </a:moveTo>
                  <a:lnTo>
                    <a:pt x="2489" y="3616779"/>
                  </a:lnTo>
                  <a:lnTo>
                    <a:pt x="4788" y="3619128"/>
                  </a:lnTo>
                  <a:lnTo>
                    <a:pt x="4788" y="3616779"/>
                  </a:lnTo>
                  <a:close/>
                </a:path>
                <a:path w="10159" h="4244340">
                  <a:moveTo>
                    <a:pt x="4788" y="3580015"/>
                  </a:moveTo>
                  <a:lnTo>
                    <a:pt x="2489" y="3580015"/>
                  </a:lnTo>
                  <a:lnTo>
                    <a:pt x="0" y="3582384"/>
                  </a:lnTo>
                  <a:lnTo>
                    <a:pt x="0" y="3616779"/>
                  </a:lnTo>
                  <a:lnTo>
                    <a:pt x="7277" y="3616779"/>
                  </a:lnTo>
                  <a:lnTo>
                    <a:pt x="7277" y="3614411"/>
                  </a:lnTo>
                  <a:lnTo>
                    <a:pt x="9576" y="3614411"/>
                  </a:lnTo>
                  <a:lnTo>
                    <a:pt x="9576" y="3584733"/>
                  </a:lnTo>
                  <a:lnTo>
                    <a:pt x="7277" y="3582384"/>
                  </a:lnTo>
                  <a:lnTo>
                    <a:pt x="4788" y="3580015"/>
                  </a:lnTo>
                  <a:close/>
                </a:path>
                <a:path w="10159" h="4244340">
                  <a:moveTo>
                    <a:pt x="4788" y="3550337"/>
                  </a:moveTo>
                  <a:lnTo>
                    <a:pt x="2489" y="3550337"/>
                  </a:lnTo>
                  <a:lnTo>
                    <a:pt x="4788" y="3552686"/>
                  </a:lnTo>
                  <a:lnTo>
                    <a:pt x="4788" y="3550337"/>
                  </a:lnTo>
                  <a:close/>
                </a:path>
                <a:path w="10159" h="4244340">
                  <a:moveTo>
                    <a:pt x="4788" y="3540903"/>
                  </a:moveTo>
                  <a:lnTo>
                    <a:pt x="2489" y="3540903"/>
                  </a:lnTo>
                  <a:lnTo>
                    <a:pt x="0" y="3543271"/>
                  </a:lnTo>
                  <a:lnTo>
                    <a:pt x="0" y="3550337"/>
                  </a:lnTo>
                  <a:lnTo>
                    <a:pt x="7277" y="3550337"/>
                  </a:lnTo>
                  <a:lnTo>
                    <a:pt x="7277" y="3547988"/>
                  </a:lnTo>
                  <a:lnTo>
                    <a:pt x="9576" y="3545620"/>
                  </a:lnTo>
                  <a:lnTo>
                    <a:pt x="7277" y="3545620"/>
                  </a:lnTo>
                  <a:lnTo>
                    <a:pt x="7277" y="3543271"/>
                  </a:lnTo>
                  <a:lnTo>
                    <a:pt x="4788" y="3540903"/>
                  </a:lnTo>
                  <a:close/>
                </a:path>
                <a:path w="10159" h="4244340">
                  <a:moveTo>
                    <a:pt x="4788" y="3474481"/>
                  </a:moveTo>
                  <a:lnTo>
                    <a:pt x="2489" y="3474481"/>
                  </a:lnTo>
                  <a:lnTo>
                    <a:pt x="0" y="3476830"/>
                  </a:lnTo>
                  <a:lnTo>
                    <a:pt x="0" y="3511225"/>
                  </a:lnTo>
                  <a:lnTo>
                    <a:pt x="2489" y="3513593"/>
                  </a:lnTo>
                  <a:lnTo>
                    <a:pt x="4788" y="3513593"/>
                  </a:lnTo>
                  <a:lnTo>
                    <a:pt x="7277" y="3511225"/>
                  </a:lnTo>
                  <a:lnTo>
                    <a:pt x="9576" y="3508876"/>
                  </a:lnTo>
                  <a:lnTo>
                    <a:pt x="9576" y="3479179"/>
                  </a:lnTo>
                  <a:lnTo>
                    <a:pt x="7277" y="3476830"/>
                  </a:lnTo>
                  <a:lnTo>
                    <a:pt x="4788" y="3474481"/>
                  </a:lnTo>
                  <a:close/>
                </a:path>
                <a:path w="10159" h="4244340">
                  <a:moveTo>
                    <a:pt x="4788" y="3444326"/>
                  </a:moveTo>
                  <a:lnTo>
                    <a:pt x="2489" y="3444326"/>
                  </a:lnTo>
                  <a:lnTo>
                    <a:pt x="4788" y="3446675"/>
                  </a:lnTo>
                  <a:lnTo>
                    <a:pt x="4788" y="3444326"/>
                  </a:lnTo>
                  <a:close/>
                </a:path>
                <a:path w="10159" h="4244340">
                  <a:moveTo>
                    <a:pt x="7277" y="3437718"/>
                  </a:moveTo>
                  <a:lnTo>
                    <a:pt x="0" y="3437718"/>
                  </a:lnTo>
                  <a:lnTo>
                    <a:pt x="0" y="3444326"/>
                  </a:lnTo>
                  <a:lnTo>
                    <a:pt x="7277" y="3444326"/>
                  </a:lnTo>
                  <a:lnTo>
                    <a:pt x="7277" y="3442435"/>
                  </a:lnTo>
                  <a:lnTo>
                    <a:pt x="9576" y="3442435"/>
                  </a:lnTo>
                  <a:lnTo>
                    <a:pt x="7277" y="3440086"/>
                  </a:lnTo>
                  <a:lnTo>
                    <a:pt x="7277" y="3437718"/>
                  </a:lnTo>
                  <a:close/>
                </a:path>
                <a:path w="10159" h="4244340">
                  <a:moveTo>
                    <a:pt x="4788" y="3368469"/>
                  </a:moveTo>
                  <a:lnTo>
                    <a:pt x="2489" y="3368469"/>
                  </a:lnTo>
                  <a:lnTo>
                    <a:pt x="0" y="3370818"/>
                  </a:lnTo>
                  <a:lnTo>
                    <a:pt x="0" y="3405213"/>
                  </a:lnTo>
                  <a:lnTo>
                    <a:pt x="2489" y="3407562"/>
                  </a:lnTo>
                  <a:lnTo>
                    <a:pt x="4788" y="3407562"/>
                  </a:lnTo>
                  <a:lnTo>
                    <a:pt x="7277" y="3405213"/>
                  </a:lnTo>
                  <a:lnTo>
                    <a:pt x="9576" y="3403323"/>
                  </a:lnTo>
                  <a:lnTo>
                    <a:pt x="9576" y="3373167"/>
                  </a:lnTo>
                  <a:lnTo>
                    <a:pt x="7277" y="3373167"/>
                  </a:lnTo>
                  <a:lnTo>
                    <a:pt x="7277" y="3370818"/>
                  </a:lnTo>
                  <a:lnTo>
                    <a:pt x="4788" y="3368469"/>
                  </a:lnTo>
                  <a:close/>
                </a:path>
                <a:path w="10159" h="4244340">
                  <a:moveTo>
                    <a:pt x="7277" y="3331706"/>
                  </a:moveTo>
                  <a:lnTo>
                    <a:pt x="0" y="3331706"/>
                  </a:lnTo>
                  <a:lnTo>
                    <a:pt x="0" y="3338772"/>
                  </a:lnTo>
                  <a:lnTo>
                    <a:pt x="2489" y="3341140"/>
                  </a:lnTo>
                  <a:lnTo>
                    <a:pt x="4788" y="3341140"/>
                  </a:lnTo>
                  <a:lnTo>
                    <a:pt x="7277" y="3338772"/>
                  </a:lnTo>
                  <a:lnTo>
                    <a:pt x="9576" y="3336423"/>
                  </a:lnTo>
                  <a:lnTo>
                    <a:pt x="7277" y="3334074"/>
                  </a:lnTo>
                  <a:lnTo>
                    <a:pt x="7277" y="3331706"/>
                  </a:lnTo>
                  <a:close/>
                </a:path>
                <a:path w="10159" h="4244340">
                  <a:moveTo>
                    <a:pt x="7277" y="3265265"/>
                  </a:moveTo>
                  <a:lnTo>
                    <a:pt x="0" y="3265265"/>
                  </a:lnTo>
                  <a:lnTo>
                    <a:pt x="0" y="3302028"/>
                  </a:lnTo>
                  <a:lnTo>
                    <a:pt x="7277" y="3302028"/>
                  </a:lnTo>
                  <a:lnTo>
                    <a:pt x="7277" y="3299660"/>
                  </a:lnTo>
                  <a:lnTo>
                    <a:pt x="9576" y="3297311"/>
                  </a:lnTo>
                  <a:lnTo>
                    <a:pt x="9576" y="3269982"/>
                  </a:lnTo>
                  <a:lnTo>
                    <a:pt x="7277" y="3267633"/>
                  </a:lnTo>
                  <a:lnTo>
                    <a:pt x="7277" y="3265265"/>
                  </a:lnTo>
                  <a:close/>
                </a:path>
                <a:path w="10159" h="4244340">
                  <a:moveTo>
                    <a:pt x="4788" y="3262916"/>
                  </a:moveTo>
                  <a:lnTo>
                    <a:pt x="2489" y="3265265"/>
                  </a:lnTo>
                  <a:lnTo>
                    <a:pt x="4788" y="3265265"/>
                  </a:lnTo>
                  <a:lnTo>
                    <a:pt x="4788" y="3262916"/>
                  </a:lnTo>
                  <a:close/>
                </a:path>
                <a:path w="10159" h="4244340">
                  <a:moveTo>
                    <a:pt x="7277" y="3226171"/>
                  </a:moveTo>
                  <a:lnTo>
                    <a:pt x="0" y="3226171"/>
                  </a:lnTo>
                  <a:lnTo>
                    <a:pt x="0" y="3233238"/>
                  </a:lnTo>
                  <a:lnTo>
                    <a:pt x="2489" y="3235587"/>
                  </a:lnTo>
                  <a:lnTo>
                    <a:pt x="4788" y="3235587"/>
                  </a:lnTo>
                  <a:lnTo>
                    <a:pt x="7277" y="3233238"/>
                  </a:lnTo>
                  <a:lnTo>
                    <a:pt x="9576" y="3230869"/>
                  </a:lnTo>
                  <a:lnTo>
                    <a:pt x="7277" y="3228520"/>
                  </a:lnTo>
                  <a:lnTo>
                    <a:pt x="7277" y="3226171"/>
                  </a:lnTo>
                  <a:close/>
                </a:path>
                <a:path w="10159" h="4244340">
                  <a:moveTo>
                    <a:pt x="7277" y="3159730"/>
                  </a:moveTo>
                  <a:lnTo>
                    <a:pt x="0" y="3159730"/>
                  </a:lnTo>
                  <a:lnTo>
                    <a:pt x="0" y="3196474"/>
                  </a:lnTo>
                  <a:lnTo>
                    <a:pt x="7277" y="3196474"/>
                  </a:lnTo>
                  <a:lnTo>
                    <a:pt x="7277" y="3194125"/>
                  </a:lnTo>
                  <a:lnTo>
                    <a:pt x="9576" y="3191776"/>
                  </a:lnTo>
                  <a:lnTo>
                    <a:pt x="9576" y="3163970"/>
                  </a:lnTo>
                  <a:lnTo>
                    <a:pt x="7277" y="3161621"/>
                  </a:lnTo>
                  <a:lnTo>
                    <a:pt x="7277" y="3159730"/>
                  </a:lnTo>
                  <a:close/>
                </a:path>
                <a:path w="10159" h="4244340">
                  <a:moveTo>
                    <a:pt x="4788" y="3120618"/>
                  </a:moveTo>
                  <a:lnTo>
                    <a:pt x="2489" y="3120618"/>
                  </a:lnTo>
                  <a:lnTo>
                    <a:pt x="0" y="3122967"/>
                  </a:lnTo>
                  <a:lnTo>
                    <a:pt x="0" y="3129575"/>
                  </a:lnTo>
                  <a:lnTo>
                    <a:pt x="7277" y="3129575"/>
                  </a:lnTo>
                  <a:lnTo>
                    <a:pt x="7277" y="3127226"/>
                  </a:lnTo>
                  <a:lnTo>
                    <a:pt x="9576" y="3124858"/>
                  </a:lnTo>
                  <a:lnTo>
                    <a:pt x="7277" y="3122967"/>
                  </a:lnTo>
                  <a:lnTo>
                    <a:pt x="4788" y="3120618"/>
                  </a:lnTo>
                  <a:close/>
                </a:path>
                <a:path w="10159" h="4244340">
                  <a:moveTo>
                    <a:pt x="7277" y="3053718"/>
                  </a:moveTo>
                  <a:lnTo>
                    <a:pt x="0" y="3053718"/>
                  </a:lnTo>
                  <a:lnTo>
                    <a:pt x="0" y="3090462"/>
                  </a:lnTo>
                  <a:lnTo>
                    <a:pt x="7277" y="3090462"/>
                  </a:lnTo>
                  <a:lnTo>
                    <a:pt x="7277" y="3088113"/>
                  </a:lnTo>
                  <a:lnTo>
                    <a:pt x="9576" y="3086223"/>
                  </a:lnTo>
                  <a:lnTo>
                    <a:pt x="9576" y="3058416"/>
                  </a:lnTo>
                  <a:lnTo>
                    <a:pt x="7277" y="3056067"/>
                  </a:lnTo>
                  <a:lnTo>
                    <a:pt x="7277" y="3053718"/>
                  </a:lnTo>
                  <a:close/>
                </a:path>
                <a:path w="10159" h="4244340">
                  <a:moveTo>
                    <a:pt x="4788" y="3014606"/>
                  </a:moveTo>
                  <a:lnTo>
                    <a:pt x="2489" y="3014606"/>
                  </a:lnTo>
                  <a:lnTo>
                    <a:pt x="0" y="3016955"/>
                  </a:lnTo>
                  <a:lnTo>
                    <a:pt x="0" y="3024021"/>
                  </a:lnTo>
                  <a:lnTo>
                    <a:pt x="7277" y="3024021"/>
                  </a:lnTo>
                  <a:lnTo>
                    <a:pt x="7277" y="3021672"/>
                  </a:lnTo>
                  <a:lnTo>
                    <a:pt x="9576" y="3019323"/>
                  </a:lnTo>
                  <a:lnTo>
                    <a:pt x="7277" y="3016955"/>
                  </a:lnTo>
                  <a:lnTo>
                    <a:pt x="4788" y="3014606"/>
                  </a:lnTo>
                  <a:close/>
                </a:path>
                <a:path w="10159" h="4244340">
                  <a:moveTo>
                    <a:pt x="4788" y="2984928"/>
                  </a:moveTo>
                  <a:lnTo>
                    <a:pt x="2489" y="2984928"/>
                  </a:lnTo>
                  <a:lnTo>
                    <a:pt x="4788" y="2987277"/>
                  </a:lnTo>
                  <a:lnTo>
                    <a:pt x="4788" y="2984928"/>
                  </a:lnTo>
                  <a:close/>
                </a:path>
                <a:path w="10159" h="4244340">
                  <a:moveTo>
                    <a:pt x="4788" y="2948165"/>
                  </a:moveTo>
                  <a:lnTo>
                    <a:pt x="2489" y="2948165"/>
                  </a:lnTo>
                  <a:lnTo>
                    <a:pt x="0" y="2950533"/>
                  </a:lnTo>
                  <a:lnTo>
                    <a:pt x="0" y="2984928"/>
                  </a:lnTo>
                  <a:lnTo>
                    <a:pt x="7277" y="2984928"/>
                  </a:lnTo>
                  <a:lnTo>
                    <a:pt x="7277" y="2982560"/>
                  </a:lnTo>
                  <a:lnTo>
                    <a:pt x="9576" y="2982560"/>
                  </a:lnTo>
                  <a:lnTo>
                    <a:pt x="9576" y="2952882"/>
                  </a:lnTo>
                  <a:lnTo>
                    <a:pt x="7277" y="2950533"/>
                  </a:lnTo>
                  <a:lnTo>
                    <a:pt x="4788" y="2948165"/>
                  </a:lnTo>
                  <a:close/>
                </a:path>
                <a:path w="10159" h="4244340">
                  <a:moveTo>
                    <a:pt x="4788" y="2909052"/>
                  </a:moveTo>
                  <a:lnTo>
                    <a:pt x="2489" y="2909052"/>
                  </a:lnTo>
                  <a:lnTo>
                    <a:pt x="0" y="2911421"/>
                  </a:lnTo>
                  <a:lnTo>
                    <a:pt x="0" y="2918487"/>
                  </a:lnTo>
                  <a:lnTo>
                    <a:pt x="7277" y="2918487"/>
                  </a:lnTo>
                  <a:lnTo>
                    <a:pt x="7277" y="2916138"/>
                  </a:lnTo>
                  <a:lnTo>
                    <a:pt x="9576" y="2913770"/>
                  </a:lnTo>
                  <a:lnTo>
                    <a:pt x="7277" y="2913770"/>
                  </a:lnTo>
                  <a:lnTo>
                    <a:pt x="7277" y="2911421"/>
                  </a:lnTo>
                  <a:lnTo>
                    <a:pt x="4788" y="2909052"/>
                  </a:lnTo>
                  <a:close/>
                </a:path>
                <a:path w="10159" h="4244340">
                  <a:moveTo>
                    <a:pt x="4788" y="2842630"/>
                  </a:moveTo>
                  <a:lnTo>
                    <a:pt x="2489" y="2842630"/>
                  </a:lnTo>
                  <a:lnTo>
                    <a:pt x="0" y="2844502"/>
                  </a:lnTo>
                  <a:lnTo>
                    <a:pt x="0" y="2879374"/>
                  </a:lnTo>
                  <a:lnTo>
                    <a:pt x="2489" y="2881265"/>
                  </a:lnTo>
                  <a:lnTo>
                    <a:pt x="4788" y="2881265"/>
                  </a:lnTo>
                  <a:lnTo>
                    <a:pt x="7277" y="2879374"/>
                  </a:lnTo>
                  <a:lnTo>
                    <a:pt x="9576" y="2877025"/>
                  </a:lnTo>
                  <a:lnTo>
                    <a:pt x="9576" y="2846870"/>
                  </a:lnTo>
                  <a:lnTo>
                    <a:pt x="7277" y="2844502"/>
                  </a:lnTo>
                  <a:lnTo>
                    <a:pt x="4788" y="2842630"/>
                  </a:lnTo>
                  <a:close/>
                </a:path>
                <a:path w="10159" h="4244340">
                  <a:moveTo>
                    <a:pt x="4788" y="2812475"/>
                  </a:moveTo>
                  <a:lnTo>
                    <a:pt x="2489" y="2812475"/>
                  </a:lnTo>
                  <a:lnTo>
                    <a:pt x="4788" y="2814824"/>
                  </a:lnTo>
                  <a:lnTo>
                    <a:pt x="4788" y="2812475"/>
                  </a:lnTo>
                  <a:close/>
                </a:path>
                <a:path w="10159" h="4244340">
                  <a:moveTo>
                    <a:pt x="7277" y="2805867"/>
                  </a:moveTo>
                  <a:lnTo>
                    <a:pt x="0" y="2805867"/>
                  </a:lnTo>
                  <a:lnTo>
                    <a:pt x="0" y="2812475"/>
                  </a:lnTo>
                  <a:lnTo>
                    <a:pt x="7277" y="2812475"/>
                  </a:lnTo>
                  <a:lnTo>
                    <a:pt x="7277" y="2810107"/>
                  </a:lnTo>
                  <a:lnTo>
                    <a:pt x="9576" y="2810107"/>
                  </a:lnTo>
                  <a:lnTo>
                    <a:pt x="7277" y="2807758"/>
                  </a:lnTo>
                  <a:lnTo>
                    <a:pt x="7277" y="2805867"/>
                  </a:lnTo>
                  <a:close/>
                </a:path>
                <a:path w="10159" h="4244340">
                  <a:moveTo>
                    <a:pt x="4788" y="2803518"/>
                  </a:moveTo>
                  <a:lnTo>
                    <a:pt x="2489" y="2805867"/>
                  </a:lnTo>
                  <a:lnTo>
                    <a:pt x="4788" y="2805867"/>
                  </a:lnTo>
                  <a:lnTo>
                    <a:pt x="4788" y="2803518"/>
                  </a:lnTo>
                  <a:close/>
                </a:path>
                <a:path w="10159" h="4244340">
                  <a:moveTo>
                    <a:pt x="4788" y="2736618"/>
                  </a:moveTo>
                  <a:lnTo>
                    <a:pt x="2489" y="2736618"/>
                  </a:lnTo>
                  <a:lnTo>
                    <a:pt x="0" y="2738967"/>
                  </a:lnTo>
                  <a:lnTo>
                    <a:pt x="0" y="2773363"/>
                  </a:lnTo>
                  <a:lnTo>
                    <a:pt x="2489" y="2775712"/>
                  </a:lnTo>
                  <a:lnTo>
                    <a:pt x="4788" y="2775712"/>
                  </a:lnTo>
                  <a:lnTo>
                    <a:pt x="7277" y="2773363"/>
                  </a:lnTo>
                  <a:lnTo>
                    <a:pt x="9576" y="2771014"/>
                  </a:lnTo>
                  <a:lnTo>
                    <a:pt x="9576" y="2741317"/>
                  </a:lnTo>
                  <a:lnTo>
                    <a:pt x="7277" y="2741317"/>
                  </a:lnTo>
                  <a:lnTo>
                    <a:pt x="7277" y="2738967"/>
                  </a:lnTo>
                  <a:lnTo>
                    <a:pt x="4788" y="2736618"/>
                  </a:lnTo>
                  <a:close/>
                </a:path>
                <a:path w="10159" h="4244340">
                  <a:moveTo>
                    <a:pt x="7277" y="2699855"/>
                  </a:moveTo>
                  <a:lnTo>
                    <a:pt x="0" y="2699855"/>
                  </a:lnTo>
                  <a:lnTo>
                    <a:pt x="0" y="2706921"/>
                  </a:lnTo>
                  <a:lnTo>
                    <a:pt x="2489" y="2709289"/>
                  </a:lnTo>
                  <a:lnTo>
                    <a:pt x="4788" y="2709289"/>
                  </a:lnTo>
                  <a:lnTo>
                    <a:pt x="7277" y="2706921"/>
                  </a:lnTo>
                  <a:lnTo>
                    <a:pt x="9576" y="2704572"/>
                  </a:lnTo>
                  <a:lnTo>
                    <a:pt x="7277" y="2702204"/>
                  </a:lnTo>
                  <a:lnTo>
                    <a:pt x="7277" y="2699855"/>
                  </a:lnTo>
                  <a:close/>
                </a:path>
                <a:path w="10159" h="4244340">
                  <a:moveTo>
                    <a:pt x="7277" y="2633414"/>
                  </a:moveTo>
                  <a:lnTo>
                    <a:pt x="0" y="2633414"/>
                  </a:lnTo>
                  <a:lnTo>
                    <a:pt x="0" y="2670177"/>
                  </a:lnTo>
                  <a:lnTo>
                    <a:pt x="7277" y="2670177"/>
                  </a:lnTo>
                  <a:lnTo>
                    <a:pt x="7277" y="2667809"/>
                  </a:lnTo>
                  <a:lnTo>
                    <a:pt x="9576" y="2665460"/>
                  </a:lnTo>
                  <a:lnTo>
                    <a:pt x="9576" y="2638131"/>
                  </a:lnTo>
                  <a:lnTo>
                    <a:pt x="7277" y="2635782"/>
                  </a:lnTo>
                  <a:lnTo>
                    <a:pt x="7277" y="2633414"/>
                  </a:lnTo>
                  <a:close/>
                </a:path>
                <a:path w="10159" h="4244340">
                  <a:moveTo>
                    <a:pt x="4788" y="2631065"/>
                  </a:moveTo>
                  <a:lnTo>
                    <a:pt x="2489" y="2633414"/>
                  </a:lnTo>
                  <a:lnTo>
                    <a:pt x="4788" y="2633414"/>
                  </a:lnTo>
                  <a:lnTo>
                    <a:pt x="4788" y="2631065"/>
                  </a:lnTo>
                  <a:close/>
                </a:path>
                <a:path w="10159" h="4244340">
                  <a:moveTo>
                    <a:pt x="7277" y="2594321"/>
                  </a:moveTo>
                  <a:lnTo>
                    <a:pt x="0" y="2594321"/>
                  </a:lnTo>
                  <a:lnTo>
                    <a:pt x="0" y="2600909"/>
                  </a:lnTo>
                  <a:lnTo>
                    <a:pt x="2489" y="2603259"/>
                  </a:lnTo>
                  <a:lnTo>
                    <a:pt x="4788" y="2603259"/>
                  </a:lnTo>
                  <a:lnTo>
                    <a:pt x="7277" y="2600909"/>
                  </a:lnTo>
                  <a:lnTo>
                    <a:pt x="9576" y="2599019"/>
                  </a:lnTo>
                  <a:lnTo>
                    <a:pt x="7277" y="2596670"/>
                  </a:lnTo>
                  <a:lnTo>
                    <a:pt x="7277" y="2594321"/>
                  </a:lnTo>
                  <a:close/>
                </a:path>
                <a:path w="10159" h="4244340">
                  <a:moveTo>
                    <a:pt x="7277" y="2527402"/>
                  </a:moveTo>
                  <a:lnTo>
                    <a:pt x="0" y="2527402"/>
                  </a:lnTo>
                  <a:lnTo>
                    <a:pt x="0" y="2564165"/>
                  </a:lnTo>
                  <a:lnTo>
                    <a:pt x="7277" y="2564165"/>
                  </a:lnTo>
                  <a:lnTo>
                    <a:pt x="7277" y="2562275"/>
                  </a:lnTo>
                  <a:lnTo>
                    <a:pt x="9576" y="2559926"/>
                  </a:lnTo>
                  <a:lnTo>
                    <a:pt x="9576" y="2532119"/>
                  </a:lnTo>
                  <a:lnTo>
                    <a:pt x="7277" y="2529770"/>
                  </a:lnTo>
                  <a:lnTo>
                    <a:pt x="7277" y="2527402"/>
                  </a:lnTo>
                  <a:close/>
                </a:path>
                <a:path w="10159" h="4244340">
                  <a:moveTo>
                    <a:pt x="4788" y="2488290"/>
                  </a:moveTo>
                  <a:lnTo>
                    <a:pt x="2489" y="2488290"/>
                  </a:lnTo>
                  <a:lnTo>
                    <a:pt x="0" y="2490658"/>
                  </a:lnTo>
                  <a:lnTo>
                    <a:pt x="0" y="2497724"/>
                  </a:lnTo>
                  <a:lnTo>
                    <a:pt x="7277" y="2497724"/>
                  </a:lnTo>
                  <a:lnTo>
                    <a:pt x="7277" y="2495375"/>
                  </a:lnTo>
                  <a:lnTo>
                    <a:pt x="9576" y="2493007"/>
                  </a:lnTo>
                  <a:lnTo>
                    <a:pt x="7277" y="2490658"/>
                  </a:lnTo>
                  <a:lnTo>
                    <a:pt x="4788" y="2488290"/>
                  </a:lnTo>
                  <a:close/>
                </a:path>
                <a:path w="10159" h="4244340">
                  <a:moveTo>
                    <a:pt x="7277" y="2421868"/>
                  </a:moveTo>
                  <a:lnTo>
                    <a:pt x="0" y="2421868"/>
                  </a:lnTo>
                  <a:lnTo>
                    <a:pt x="0" y="2458612"/>
                  </a:lnTo>
                  <a:lnTo>
                    <a:pt x="7277" y="2458612"/>
                  </a:lnTo>
                  <a:lnTo>
                    <a:pt x="7277" y="2456263"/>
                  </a:lnTo>
                  <a:lnTo>
                    <a:pt x="9576" y="2453895"/>
                  </a:lnTo>
                  <a:lnTo>
                    <a:pt x="9576" y="2426566"/>
                  </a:lnTo>
                  <a:lnTo>
                    <a:pt x="7277" y="2424217"/>
                  </a:lnTo>
                  <a:lnTo>
                    <a:pt x="7277" y="2421868"/>
                  </a:lnTo>
                  <a:close/>
                </a:path>
                <a:path w="10159" h="4244340">
                  <a:moveTo>
                    <a:pt x="4788" y="2382755"/>
                  </a:moveTo>
                  <a:lnTo>
                    <a:pt x="2489" y="2382755"/>
                  </a:lnTo>
                  <a:lnTo>
                    <a:pt x="0" y="2385104"/>
                  </a:lnTo>
                  <a:lnTo>
                    <a:pt x="0" y="2392171"/>
                  </a:lnTo>
                  <a:lnTo>
                    <a:pt x="7277" y="2392171"/>
                  </a:lnTo>
                  <a:lnTo>
                    <a:pt x="7277" y="2389822"/>
                  </a:lnTo>
                  <a:lnTo>
                    <a:pt x="9576" y="2387473"/>
                  </a:lnTo>
                  <a:lnTo>
                    <a:pt x="7277" y="2385104"/>
                  </a:lnTo>
                  <a:lnTo>
                    <a:pt x="4788" y="2382755"/>
                  </a:lnTo>
                  <a:close/>
                </a:path>
                <a:path w="10159" h="4244340">
                  <a:moveTo>
                    <a:pt x="4788" y="2353077"/>
                  </a:moveTo>
                  <a:lnTo>
                    <a:pt x="2489" y="2353077"/>
                  </a:lnTo>
                  <a:lnTo>
                    <a:pt x="4788" y="2355426"/>
                  </a:lnTo>
                  <a:lnTo>
                    <a:pt x="4788" y="2353077"/>
                  </a:lnTo>
                  <a:close/>
                </a:path>
                <a:path w="10159" h="4244340">
                  <a:moveTo>
                    <a:pt x="4788" y="2316371"/>
                  </a:moveTo>
                  <a:lnTo>
                    <a:pt x="2489" y="2316371"/>
                  </a:lnTo>
                  <a:lnTo>
                    <a:pt x="0" y="2318663"/>
                  </a:lnTo>
                  <a:lnTo>
                    <a:pt x="0" y="2353077"/>
                  </a:lnTo>
                  <a:lnTo>
                    <a:pt x="7277" y="2353077"/>
                  </a:lnTo>
                  <a:lnTo>
                    <a:pt x="7277" y="2350709"/>
                  </a:lnTo>
                  <a:lnTo>
                    <a:pt x="9576" y="2350709"/>
                  </a:lnTo>
                  <a:lnTo>
                    <a:pt x="9576" y="2320573"/>
                  </a:lnTo>
                  <a:lnTo>
                    <a:pt x="7277" y="2318663"/>
                  </a:lnTo>
                  <a:lnTo>
                    <a:pt x="4788" y="2316371"/>
                  </a:lnTo>
                  <a:close/>
                </a:path>
                <a:path w="10159" h="4244340">
                  <a:moveTo>
                    <a:pt x="4788" y="2277221"/>
                  </a:moveTo>
                  <a:lnTo>
                    <a:pt x="2489" y="2277221"/>
                  </a:lnTo>
                  <a:lnTo>
                    <a:pt x="0" y="2279513"/>
                  </a:lnTo>
                  <a:lnTo>
                    <a:pt x="0" y="2286197"/>
                  </a:lnTo>
                  <a:lnTo>
                    <a:pt x="7277" y="2286197"/>
                  </a:lnTo>
                  <a:lnTo>
                    <a:pt x="7277" y="2283714"/>
                  </a:lnTo>
                  <a:lnTo>
                    <a:pt x="9576" y="2281995"/>
                  </a:lnTo>
                  <a:lnTo>
                    <a:pt x="7277" y="2279513"/>
                  </a:lnTo>
                  <a:lnTo>
                    <a:pt x="4788" y="2277221"/>
                  </a:lnTo>
                  <a:close/>
                </a:path>
                <a:path w="10159" h="4244340">
                  <a:moveTo>
                    <a:pt x="4788" y="2210379"/>
                  </a:moveTo>
                  <a:lnTo>
                    <a:pt x="2489" y="2210379"/>
                  </a:lnTo>
                  <a:lnTo>
                    <a:pt x="0" y="2212670"/>
                  </a:lnTo>
                  <a:lnTo>
                    <a:pt x="0" y="2247046"/>
                  </a:lnTo>
                  <a:lnTo>
                    <a:pt x="2489" y="2249338"/>
                  </a:lnTo>
                  <a:lnTo>
                    <a:pt x="4788" y="2249338"/>
                  </a:lnTo>
                  <a:lnTo>
                    <a:pt x="7277" y="2247046"/>
                  </a:lnTo>
                  <a:lnTo>
                    <a:pt x="7277" y="2245137"/>
                  </a:lnTo>
                  <a:lnTo>
                    <a:pt x="9576" y="2245137"/>
                  </a:lnTo>
                  <a:lnTo>
                    <a:pt x="9576" y="2214962"/>
                  </a:lnTo>
                  <a:lnTo>
                    <a:pt x="7277" y="2212670"/>
                  </a:lnTo>
                  <a:lnTo>
                    <a:pt x="4788" y="2210379"/>
                  </a:lnTo>
                  <a:close/>
                </a:path>
                <a:path w="10159" h="4244340">
                  <a:moveTo>
                    <a:pt x="4788" y="2180586"/>
                  </a:moveTo>
                  <a:lnTo>
                    <a:pt x="2489" y="2180586"/>
                  </a:lnTo>
                  <a:lnTo>
                    <a:pt x="4788" y="2183069"/>
                  </a:lnTo>
                  <a:lnTo>
                    <a:pt x="4788" y="2180586"/>
                  </a:lnTo>
                  <a:close/>
                </a:path>
                <a:path w="10159" h="4244340">
                  <a:moveTo>
                    <a:pt x="7277" y="2173520"/>
                  </a:moveTo>
                  <a:lnTo>
                    <a:pt x="0" y="2173520"/>
                  </a:lnTo>
                  <a:lnTo>
                    <a:pt x="0" y="2180586"/>
                  </a:lnTo>
                  <a:lnTo>
                    <a:pt x="7277" y="2180586"/>
                  </a:lnTo>
                  <a:lnTo>
                    <a:pt x="7277" y="2178294"/>
                  </a:lnTo>
                  <a:lnTo>
                    <a:pt x="9576" y="2178294"/>
                  </a:lnTo>
                  <a:lnTo>
                    <a:pt x="7277" y="2175812"/>
                  </a:lnTo>
                  <a:lnTo>
                    <a:pt x="7277" y="2173520"/>
                  </a:lnTo>
                  <a:close/>
                </a:path>
                <a:path w="10159" h="4244340">
                  <a:moveTo>
                    <a:pt x="4788" y="2171228"/>
                  </a:moveTo>
                  <a:lnTo>
                    <a:pt x="2489" y="2173520"/>
                  </a:lnTo>
                  <a:lnTo>
                    <a:pt x="4788" y="2173520"/>
                  </a:lnTo>
                  <a:lnTo>
                    <a:pt x="4788" y="2171228"/>
                  </a:lnTo>
                  <a:close/>
                </a:path>
                <a:path w="10159" h="4244340">
                  <a:moveTo>
                    <a:pt x="4788" y="2104768"/>
                  </a:moveTo>
                  <a:lnTo>
                    <a:pt x="2489" y="2104768"/>
                  </a:lnTo>
                  <a:lnTo>
                    <a:pt x="0" y="2107060"/>
                  </a:lnTo>
                  <a:lnTo>
                    <a:pt x="0" y="2141436"/>
                  </a:lnTo>
                  <a:lnTo>
                    <a:pt x="2489" y="2143918"/>
                  </a:lnTo>
                  <a:lnTo>
                    <a:pt x="4788" y="2143918"/>
                  </a:lnTo>
                  <a:lnTo>
                    <a:pt x="9576" y="2139144"/>
                  </a:lnTo>
                  <a:lnTo>
                    <a:pt x="9576" y="2109542"/>
                  </a:lnTo>
                  <a:lnTo>
                    <a:pt x="7277" y="2107060"/>
                  </a:lnTo>
                  <a:lnTo>
                    <a:pt x="4788" y="2104768"/>
                  </a:lnTo>
                  <a:close/>
                </a:path>
                <a:path w="10159" h="4244340">
                  <a:moveTo>
                    <a:pt x="7277" y="2068100"/>
                  </a:moveTo>
                  <a:lnTo>
                    <a:pt x="0" y="2068100"/>
                  </a:lnTo>
                  <a:lnTo>
                    <a:pt x="0" y="2075166"/>
                  </a:lnTo>
                  <a:lnTo>
                    <a:pt x="2489" y="2076885"/>
                  </a:lnTo>
                  <a:lnTo>
                    <a:pt x="4788" y="2076885"/>
                  </a:lnTo>
                  <a:lnTo>
                    <a:pt x="7277" y="2075166"/>
                  </a:lnTo>
                  <a:lnTo>
                    <a:pt x="7277" y="2072684"/>
                  </a:lnTo>
                  <a:lnTo>
                    <a:pt x="9576" y="2072684"/>
                  </a:lnTo>
                  <a:lnTo>
                    <a:pt x="7277" y="2070392"/>
                  </a:lnTo>
                  <a:lnTo>
                    <a:pt x="7277" y="2068100"/>
                  </a:lnTo>
                  <a:close/>
                </a:path>
                <a:path w="10159" h="4244340">
                  <a:moveTo>
                    <a:pt x="7277" y="2001640"/>
                  </a:moveTo>
                  <a:lnTo>
                    <a:pt x="0" y="2001640"/>
                  </a:lnTo>
                  <a:lnTo>
                    <a:pt x="0" y="2036016"/>
                  </a:lnTo>
                  <a:lnTo>
                    <a:pt x="2489" y="2038307"/>
                  </a:lnTo>
                  <a:lnTo>
                    <a:pt x="4788" y="2038307"/>
                  </a:lnTo>
                  <a:lnTo>
                    <a:pt x="7277" y="2036016"/>
                  </a:lnTo>
                  <a:lnTo>
                    <a:pt x="9576" y="2033533"/>
                  </a:lnTo>
                  <a:lnTo>
                    <a:pt x="9576" y="2005841"/>
                  </a:lnTo>
                  <a:lnTo>
                    <a:pt x="7277" y="2003549"/>
                  </a:lnTo>
                  <a:lnTo>
                    <a:pt x="7277" y="2001640"/>
                  </a:lnTo>
                  <a:close/>
                </a:path>
                <a:path w="10159" h="4244340">
                  <a:moveTo>
                    <a:pt x="4788" y="1999157"/>
                  </a:moveTo>
                  <a:lnTo>
                    <a:pt x="2489" y="2001640"/>
                  </a:lnTo>
                  <a:lnTo>
                    <a:pt x="4788" y="2001640"/>
                  </a:lnTo>
                  <a:lnTo>
                    <a:pt x="4788" y="1999157"/>
                  </a:lnTo>
                  <a:close/>
                </a:path>
                <a:path w="10159" h="4244340">
                  <a:moveTo>
                    <a:pt x="7277" y="1962489"/>
                  </a:moveTo>
                  <a:lnTo>
                    <a:pt x="0" y="1962489"/>
                  </a:lnTo>
                  <a:lnTo>
                    <a:pt x="0" y="1968982"/>
                  </a:lnTo>
                  <a:lnTo>
                    <a:pt x="2489" y="1971465"/>
                  </a:lnTo>
                  <a:lnTo>
                    <a:pt x="4788" y="1971465"/>
                  </a:lnTo>
                  <a:lnTo>
                    <a:pt x="9576" y="1966691"/>
                  </a:lnTo>
                  <a:lnTo>
                    <a:pt x="7277" y="1964399"/>
                  </a:lnTo>
                  <a:lnTo>
                    <a:pt x="7277" y="1962489"/>
                  </a:lnTo>
                  <a:close/>
                </a:path>
                <a:path w="10159" h="4244340">
                  <a:moveTo>
                    <a:pt x="7277" y="1895647"/>
                  </a:moveTo>
                  <a:lnTo>
                    <a:pt x="0" y="1895647"/>
                  </a:lnTo>
                  <a:lnTo>
                    <a:pt x="0" y="1932315"/>
                  </a:lnTo>
                  <a:lnTo>
                    <a:pt x="7277" y="1932315"/>
                  </a:lnTo>
                  <a:lnTo>
                    <a:pt x="7277" y="1930023"/>
                  </a:lnTo>
                  <a:lnTo>
                    <a:pt x="9576" y="1927540"/>
                  </a:lnTo>
                  <a:lnTo>
                    <a:pt x="9576" y="1900230"/>
                  </a:lnTo>
                  <a:lnTo>
                    <a:pt x="7277" y="1897939"/>
                  </a:lnTo>
                  <a:lnTo>
                    <a:pt x="7277" y="1895647"/>
                  </a:lnTo>
                  <a:close/>
                </a:path>
                <a:path w="10159" h="4244340">
                  <a:moveTo>
                    <a:pt x="7277" y="1856496"/>
                  </a:moveTo>
                  <a:lnTo>
                    <a:pt x="0" y="1856496"/>
                  </a:lnTo>
                  <a:lnTo>
                    <a:pt x="0" y="1863563"/>
                  </a:lnTo>
                  <a:lnTo>
                    <a:pt x="2489" y="1865854"/>
                  </a:lnTo>
                  <a:lnTo>
                    <a:pt x="4788" y="1865854"/>
                  </a:lnTo>
                  <a:lnTo>
                    <a:pt x="7277" y="1863563"/>
                  </a:lnTo>
                  <a:lnTo>
                    <a:pt x="9576" y="1861080"/>
                  </a:lnTo>
                  <a:lnTo>
                    <a:pt x="7277" y="1858788"/>
                  </a:lnTo>
                  <a:lnTo>
                    <a:pt x="7277" y="1856496"/>
                  </a:lnTo>
                  <a:close/>
                </a:path>
                <a:path w="10159" h="4244340">
                  <a:moveTo>
                    <a:pt x="7277" y="1790036"/>
                  </a:moveTo>
                  <a:lnTo>
                    <a:pt x="0" y="1790036"/>
                  </a:lnTo>
                  <a:lnTo>
                    <a:pt x="0" y="1826704"/>
                  </a:lnTo>
                  <a:lnTo>
                    <a:pt x="7277" y="1826704"/>
                  </a:lnTo>
                  <a:lnTo>
                    <a:pt x="7277" y="1824412"/>
                  </a:lnTo>
                  <a:lnTo>
                    <a:pt x="9576" y="1822120"/>
                  </a:lnTo>
                  <a:lnTo>
                    <a:pt x="9576" y="1794811"/>
                  </a:lnTo>
                  <a:lnTo>
                    <a:pt x="7277" y="1792328"/>
                  </a:lnTo>
                  <a:lnTo>
                    <a:pt x="7277" y="1790036"/>
                  </a:lnTo>
                  <a:close/>
                </a:path>
                <a:path w="10159" h="4244340">
                  <a:moveTo>
                    <a:pt x="4788" y="1750886"/>
                  </a:moveTo>
                  <a:lnTo>
                    <a:pt x="2489" y="1750886"/>
                  </a:lnTo>
                  <a:lnTo>
                    <a:pt x="0" y="1753177"/>
                  </a:lnTo>
                  <a:lnTo>
                    <a:pt x="0" y="1759862"/>
                  </a:lnTo>
                  <a:lnTo>
                    <a:pt x="7277" y="1759862"/>
                  </a:lnTo>
                  <a:lnTo>
                    <a:pt x="7277" y="1757952"/>
                  </a:lnTo>
                  <a:lnTo>
                    <a:pt x="9576" y="1755660"/>
                  </a:lnTo>
                  <a:lnTo>
                    <a:pt x="7277" y="1753177"/>
                  </a:lnTo>
                  <a:lnTo>
                    <a:pt x="4788" y="1750886"/>
                  </a:lnTo>
                  <a:close/>
                </a:path>
                <a:path w="10159" h="4244340">
                  <a:moveTo>
                    <a:pt x="4788" y="1721284"/>
                  </a:moveTo>
                  <a:lnTo>
                    <a:pt x="2489" y="1721284"/>
                  </a:lnTo>
                  <a:lnTo>
                    <a:pt x="4788" y="1723194"/>
                  </a:lnTo>
                  <a:lnTo>
                    <a:pt x="4788" y="1721284"/>
                  </a:lnTo>
                  <a:close/>
                </a:path>
                <a:path w="10159" h="4244340">
                  <a:moveTo>
                    <a:pt x="7277" y="1684043"/>
                  </a:moveTo>
                  <a:lnTo>
                    <a:pt x="0" y="1684043"/>
                  </a:lnTo>
                  <a:lnTo>
                    <a:pt x="0" y="1721284"/>
                  </a:lnTo>
                  <a:lnTo>
                    <a:pt x="7277" y="1721284"/>
                  </a:lnTo>
                  <a:lnTo>
                    <a:pt x="7277" y="1718801"/>
                  </a:lnTo>
                  <a:lnTo>
                    <a:pt x="9576" y="1718801"/>
                  </a:lnTo>
                  <a:lnTo>
                    <a:pt x="9576" y="1688627"/>
                  </a:lnTo>
                  <a:lnTo>
                    <a:pt x="7277" y="1686335"/>
                  </a:lnTo>
                  <a:lnTo>
                    <a:pt x="7277" y="1684043"/>
                  </a:lnTo>
                  <a:close/>
                </a:path>
                <a:path w="10159" h="4244340">
                  <a:moveTo>
                    <a:pt x="4788" y="1645275"/>
                  </a:moveTo>
                  <a:lnTo>
                    <a:pt x="2489" y="1645275"/>
                  </a:lnTo>
                  <a:lnTo>
                    <a:pt x="0" y="1647185"/>
                  </a:lnTo>
                  <a:lnTo>
                    <a:pt x="0" y="1654251"/>
                  </a:lnTo>
                  <a:lnTo>
                    <a:pt x="7277" y="1654251"/>
                  </a:lnTo>
                  <a:lnTo>
                    <a:pt x="7277" y="1651959"/>
                  </a:lnTo>
                  <a:lnTo>
                    <a:pt x="9576" y="1649667"/>
                  </a:lnTo>
                  <a:lnTo>
                    <a:pt x="7277" y="1647185"/>
                  </a:lnTo>
                  <a:lnTo>
                    <a:pt x="4788" y="1645275"/>
                  </a:lnTo>
                  <a:close/>
                </a:path>
                <a:path w="10159" h="4244340">
                  <a:moveTo>
                    <a:pt x="4788" y="1578432"/>
                  </a:moveTo>
                  <a:lnTo>
                    <a:pt x="2489" y="1578432"/>
                  </a:lnTo>
                  <a:lnTo>
                    <a:pt x="0" y="1580724"/>
                  </a:lnTo>
                  <a:lnTo>
                    <a:pt x="0" y="1615291"/>
                  </a:lnTo>
                  <a:lnTo>
                    <a:pt x="2489" y="1617583"/>
                  </a:lnTo>
                  <a:lnTo>
                    <a:pt x="4788" y="1617583"/>
                  </a:lnTo>
                  <a:lnTo>
                    <a:pt x="7277" y="1615291"/>
                  </a:lnTo>
                  <a:lnTo>
                    <a:pt x="7277" y="1612809"/>
                  </a:lnTo>
                  <a:lnTo>
                    <a:pt x="9576" y="1612809"/>
                  </a:lnTo>
                  <a:lnTo>
                    <a:pt x="9576" y="1583207"/>
                  </a:lnTo>
                  <a:lnTo>
                    <a:pt x="7277" y="1580724"/>
                  </a:lnTo>
                  <a:lnTo>
                    <a:pt x="4788" y="1578432"/>
                  </a:lnTo>
                  <a:close/>
                </a:path>
                <a:path w="10159" h="4244340">
                  <a:moveTo>
                    <a:pt x="4788" y="1548831"/>
                  </a:moveTo>
                  <a:lnTo>
                    <a:pt x="2489" y="1548831"/>
                  </a:lnTo>
                  <a:lnTo>
                    <a:pt x="4788" y="1551123"/>
                  </a:lnTo>
                  <a:lnTo>
                    <a:pt x="4788" y="1548831"/>
                  </a:lnTo>
                  <a:close/>
                </a:path>
                <a:path w="10159" h="4244340">
                  <a:moveTo>
                    <a:pt x="7277" y="1541765"/>
                  </a:moveTo>
                  <a:lnTo>
                    <a:pt x="0" y="1541765"/>
                  </a:lnTo>
                  <a:lnTo>
                    <a:pt x="0" y="1548831"/>
                  </a:lnTo>
                  <a:lnTo>
                    <a:pt x="7277" y="1548831"/>
                  </a:lnTo>
                  <a:lnTo>
                    <a:pt x="7277" y="1546348"/>
                  </a:lnTo>
                  <a:lnTo>
                    <a:pt x="9576" y="1546348"/>
                  </a:lnTo>
                  <a:lnTo>
                    <a:pt x="7277" y="1544056"/>
                  </a:lnTo>
                  <a:lnTo>
                    <a:pt x="7277" y="1541765"/>
                  </a:lnTo>
                  <a:close/>
                </a:path>
                <a:path w="10159" h="4244340">
                  <a:moveTo>
                    <a:pt x="4788" y="1539282"/>
                  </a:moveTo>
                  <a:lnTo>
                    <a:pt x="2489" y="1541765"/>
                  </a:lnTo>
                  <a:lnTo>
                    <a:pt x="4788" y="1541765"/>
                  </a:lnTo>
                  <a:lnTo>
                    <a:pt x="4788" y="1539282"/>
                  </a:lnTo>
                  <a:close/>
                </a:path>
                <a:path w="10159" h="4244340">
                  <a:moveTo>
                    <a:pt x="4788" y="1472822"/>
                  </a:moveTo>
                  <a:lnTo>
                    <a:pt x="2489" y="1472822"/>
                  </a:lnTo>
                  <a:lnTo>
                    <a:pt x="0" y="1475304"/>
                  </a:lnTo>
                  <a:lnTo>
                    <a:pt x="0" y="1509680"/>
                  </a:lnTo>
                  <a:lnTo>
                    <a:pt x="2489" y="1511972"/>
                  </a:lnTo>
                  <a:lnTo>
                    <a:pt x="4788" y="1511972"/>
                  </a:lnTo>
                  <a:lnTo>
                    <a:pt x="7277" y="1509680"/>
                  </a:lnTo>
                  <a:lnTo>
                    <a:pt x="9576" y="1507389"/>
                  </a:lnTo>
                  <a:lnTo>
                    <a:pt x="9576" y="1477596"/>
                  </a:lnTo>
                  <a:lnTo>
                    <a:pt x="4788" y="1472822"/>
                  </a:lnTo>
                  <a:close/>
                </a:path>
                <a:path w="10159" h="4244340">
                  <a:moveTo>
                    <a:pt x="7277" y="1436154"/>
                  </a:moveTo>
                  <a:lnTo>
                    <a:pt x="0" y="1436154"/>
                  </a:lnTo>
                  <a:lnTo>
                    <a:pt x="0" y="1442838"/>
                  </a:lnTo>
                  <a:lnTo>
                    <a:pt x="2489" y="1445130"/>
                  </a:lnTo>
                  <a:lnTo>
                    <a:pt x="4788" y="1445130"/>
                  </a:lnTo>
                  <a:lnTo>
                    <a:pt x="7277" y="1442838"/>
                  </a:lnTo>
                  <a:lnTo>
                    <a:pt x="7277" y="1440928"/>
                  </a:lnTo>
                  <a:lnTo>
                    <a:pt x="9576" y="1440928"/>
                  </a:lnTo>
                  <a:lnTo>
                    <a:pt x="7277" y="1438446"/>
                  </a:lnTo>
                  <a:lnTo>
                    <a:pt x="7277" y="1436154"/>
                  </a:lnTo>
                  <a:close/>
                </a:path>
                <a:path w="10159" h="4244340">
                  <a:moveTo>
                    <a:pt x="7277" y="1369312"/>
                  </a:moveTo>
                  <a:lnTo>
                    <a:pt x="0" y="1369312"/>
                  </a:lnTo>
                  <a:lnTo>
                    <a:pt x="0" y="1403688"/>
                  </a:lnTo>
                  <a:lnTo>
                    <a:pt x="2489" y="1405979"/>
                  </a:lnTo>
                  <a:lnTo>
                    <a:pt x="4788" y="1405979"/>
                  </a:lnTo>
                  <a:lnTo>
                    <a:pt x="7277" y="1403688"/>
                  </a:lnTo>
                  <a:lnTo>
                    <a:pt x="9576" y="1401778"/>
                  </a:lnTo>
                  <a:lnTo>
                    <a:pt x="9576" y="1373895"/>
                  </a:lnTo>
                  <a:lnTo>
                    <a:pt x="7277" y="1371603"/>
                  </a:lnTo>
                  <a:lnTo>
                    <a:pt x="7277" y="1369312"/>
                  </a:lnTo>
                  <a:close/>
                </a:path>
                <a:path w="10159" h="4244340">
                  <a:moveTo>
                    <a:pt x="4788" y="1366829"/>
                  </a:moveTo>
                  <a:lnTo>
                    <a:pt x="2489" y="1369312"/>
                  </a:lnTo>
                  <a:lnTo>
                    <a:pt x="4788" y="1369312"/>
                  </a:lnTo>
                  <a:lnTo>
                    <a:pt x="4788" y="1366829"/>
                  </a:lnTo>
                  <a:close/>
                </a:path>
                <a:path w="10159" h="4244340">
                  <a:moveTo>
                    <a:pt x="7277" y="1330161"/>
                  </a:moveTo>
                  <a:lnTo>
                    <a:pt x="0" y="1330161"/>
                  </a:lnTo>
                  <a:lnTo>
                    <a:pt x="0" y="1337227"/>
                  </a:lnTo>
                  <a:lnTo>
                    <a:pt x="2489" y="1339519"/>
                  </a:lnTo>
                  <a:lnTo>
                    <a:pt x="4788" y="1339519"/>
                  </a:lnTo>
                  <a:lnTo>
                    <a:pt x="7277" y="1337227"/>
                  </a:lnTo>
                  <a:lnTo>
                    <a:pt x="9576" y="1334936"/>
                  </a:lnTo>
                  <a:lnTo>
                    <a:pt x="7277" y="1332453"/>
                  </a:lnTo>
                  <a:lnTo>
                    <a:pt x="7277" y="1330161"/>
                  </a:lnTo>
                  <a:close/>
                </a:path>
                <a:path w="10159" h="4244340">
                  <a:moveTo>
                    <a:pt x="7277" y="1263701"/>
                  </a:moveTo>
                  <a:lnTo>
                    <a:pt x="0" y="1263701"/>
                  </a:lnTo>
                  <a:lnTo>
                    <a:pt x="0" y="1300369"/>
                  </a:lnTo>
                  <a:lnTo>
                    <a:pt x="7277" y="1300369"/>
                  </a:lnTo>
                  <a:lnTo>
                    <a:pt x="7277" y="1298077"/>
                  </a:lnTo>
                  <a:lnTo>
                    <a:pt x="9576" y="1295785"/>
                  </a:lnTo>
                  <a:lnTo>
                    <a:pt x="9576" y="1268475"/>
                  </a:lnTo>
                  <a:lnTo>
                    <a:pt x="7277" y="1265993"/>
                  </a:lnTo>
                  <a:lnTo>
                    <a:pt x="7277" y="1263701"/>
                  </a:lnTo>
                  <a:close/>
                </a:path>
                <a:path w="10159" h="4244340">
                  <a:moveTo>
                    <a:pt x="7277" y="1224550"/>
                  </a:moveTo>
                  <a:lnTo>
                    <a:pt x="0" y="1224550"/>
                  </a:lnTo>
                  <a:lnTo>
                    <a:pt x="0" y="1231616"/>
                  </a:lnTo>
                  <a:lnTo>
                    <a:pt x="2489" y="1234099"/>
                  </a:lnTo>
                  <a:lnTo>
                    <a:pt x="4788" y="1234099"/>
                  </a:lnTo>
                  <a:lnTo>
                    <a:pt x="9576" y="1229325"/>
                  </a:lnTo>
                  <a:lnTo>
                    <a:pt x="7277" y="1227033"/>
                  </a:lnTo>
                  <a:lnTo>
                    <a:pt x="7277" y="1224550"/>
                  </a:lnTo>
                  <a:close/>
                </a:path>
                <a:path w="10159" h="4244340">
                  <a:moveTo>
                    <a:pt x="7277" y="1158090"/>
                  </a:moveTo>
                  <a:lnTo>
                    <a:pt x="0" y="1158090"/>
                  </a:lnTo>
                  <a:lnTo>
                    <a:pt x="0" y="1194949"/>
                  </a:lnTo>
                  <a:lnTo>
                    <a:pt x="7277" y="1194949"/>
                  </a:lnTo>
                  <a:lnTo>
                    <a:pt x="7277" y="1192466"/>
                  </a:lnTo>
                  <a:lnTo>
                    <a:pt x="9576" y="1190174"/>
                  </a:lnTo>
                  <a:lnTo>
                    <a:pt x="9576" y="1162482"/>
                  </a:lnTo>
                  <a:lnTo>
                    <a:pt x="7277" y="1160000"/>
                  </a:lnTo>
                  <a:lnTo>
                    <a:pt x="7277" y="1158090"/>
                  </a:lnTo>
                  <a:close/>
                </a:path>
                <a:path w="10159" h="4244340">
                  <a:moveTo>
                    <a:pt x="4788" y="1119130"/>
                  </a:moveTo>
                  <a:lnTo>
                    <a:pt x="2489" y="1119130"/>
                  </a:lnTo>
                  <a:lnTo>
                    <a:pt x="0" y="1121422"/>
                  </a:lnTo>
                  <a:lnTo>
                    <a:pt x="0" y="1127915"/>
                  </a:lnTo>
                  <a:lnTo>
                    <a:pt x="7277" y="1127915"/>
                  </a:lnTo>
                  <a:lnTo>
                    <a:pt x="7277" y="1125624"/>
                  </a:lnTo>
                  <a:lnTo>
                    <a:pt x="9576" y="1123332"/>
                  </a:lnTo>
                  <a:lnTo>
                    <a:pt x="7277" y="1121422"/>
                  </a:lnTo>
                  <a:lnTo>
                    <a:pt x="4788" y="1119130"/>
                  </a:lnTo>
                  <a:close/>
                </a:path>
                <a:path w="10159" h="4244340">
                  <a:moveTo>
                    <a:pt x="4788" y="1088956"/>
                  </a:moveTo>
                  <a:lnTo>
                    <a:pt x="2489" y="1088956"/>
                  </a:lnTo>
                  <a:lnTo>
                    <a:pt x="4788" y="1091248"/>
                  </a:lnTo>
                  <a:lnTo>
                    <a:pt x="4788" y="1088956"/>
                  </a:lnTo>
                  <a:close/>
                </a:path>
                <a:path w="10159" h="4244340">
                  <a:moveTo>
                    <a:pt x="7277" y="1052097"/>
                  </a:moveTo>
                  <a:lnTo>
                    <a:pt x="0" y="1052097"/>
                  </a:lnTo>
                  <a:lnTo>
                    <a:pt x="0" y="1088956"/>
                  </a:lnTo>
                  <a:lnTo>
                    <a:pt x="7277" y="1088956"/>
                  </a:lnTo>
                  <a:lnTo>
                    <a:pt x="7277" y="1086473"/>
                  </a:lnTo>
                  <a:lnTo>
                    <a:pt x="9576" y="1084563"/>
                  </a:lnTo>
                  <a:lnTo>
                    <a:pt x="9576" y="1056872"/>
                  </a:lnTo>
                  <a:lnTo>
                    <a:pt x="7277" y="1054580"/>
                  </a:lnTo>
                  <a:lnTo>
                    <a:pt x="7277" y="1052097"/>
                  </a:lnTo>
                  <a:close/>
                </a:path>
                <a:path w="10159" h="4244340">
                  <a:moveTo>
                    <a:pt x="4788" y="1012947"/>
                  </a:moveTo>
                  <a:lnTo>
                    <a:pt x="2489" y="1012947"/>
                  </a:lnTo>
                  <a:lnTo>
                    <a:pt x="0" y="1015429"/>
                  </a:lnTo>
                  <a:lnTo>
                    <a:pt x="0" y="1022496"/>
                  </a:lnTo>
                  <a:lnTo>
                    <a:pt x="7277" y="1022496"/>
                  </a:lnTo>
                  <a:lnTo>
                    <a:pt x="7277" y="1020013"/>
                  </a:lnTo>
                  <a:lnTo>
                    <a:pt x="9576" y="1017721"/>
                  </a:lnTo>
                  <a:lnTo>
                    <a:pt x="4788" y="1012947"/>
                  </a:lnTo>
                  <a:close/>
                </a:path>
                <a:path w="10159" h="4244340">
                  <a:moveTo>
                    <a:pt x="4788" y="983345"/>
                  </a:moveTo>
                  <a:lnTo>
                    <a:pt x="2489" y="983345"/>
                  </a:lnTo>
                  <a:lnTo>
                    <a:pt x="4788" y="985637"/>
                  </a:lnTo>
                  <a:lnTo>
                    <a:pt x="4788" y="983345"/>
                  </a:lnTo>
                  <a:close/>
                </a:path>
                <a:path w="10159" h="4244340">
                  <a:moveTo>
                    <a:pt x="4788" y="946677"/>
                  </a:moveTo>
                  <a:lnTo>
                    <a:pt x="2489" y="946677"/>
                  </a:lnTo>
                  <a:lnTo>
                    <a:pt x="0" y="948969"/>
                  </a:lnTo>
                  <a:lnTo>
                    <a:pt x="0" y="983345"/>
                  </a:lnTo>
                  <a:lnTo>
                    <a:pt x="7277" y="983345"/>
                  </a:lnTo>
                  <a:lnTo>
                    <a:pt x="7277" y="981053"/>
                  </a:lnTo>
                  <a:lnTo>
                    <a:pt x="9576" y="981053"/>
                  </a:lnTo>
                  <a:lnTo>
                    <a:pt x="9576" y="951261"/>
                  </a:lnTo>
                  <a:lnTo>
                    <a:pt x="7277" y="948969"/>
                  </a:lnTo>
                  <a:lnTo>
                    <a:pt x="4788" y="946677"/>
                  </a:lnTo>
                  <a:close/>
                </a:path>
                <a:path w="10159" h="4244340">
                  <a:moveTo>
                    <a:pt x="4788" y="916885"/>
                  </a:moveTo>
                  <a:lnTo>
                    <a:pt x="2489" y="916885"/>
                  </a:lnTo>
                  <a:lnTo>
                    <a:pt x="4788" y="918795"/>
                  </a:lnTo>
                  <a:lnTo>
                    <a:pt x="4788" y="916885"/>
                  </a:lnTo>
                  <a:close/>
                </a:path>
                <a:path w="10159" h="4244340">
                  <a:moveTo>
                    <a:pt x="7277" y="909819"/>
                  </a:moveTo>
                  <a:lnTo>
                    <a:pt x="0" y="909819"/>
                  </a:lnTo>
                  <a:lnTo>
                    <a:pt x="0" y="916885"/>
                  </a:lnTo>
                  <a:lnTo>
                    <a:pt x="7277" y="916885"/>
                  </a:lnTo>
                  <a:lnTo>
                    <a:pt x="7277" y="914593"/>
                  </a:lnTo>
                  <a:lnTo>
                    <a:pt x="9576" y="912110"/>
                  </a:lnTo>
                  <a:lnTo>
                    <a:pt x="7277" y="912110"/>
                  </a:lnTo>
                  <a:lnTo>
                    <a:pt x="7277" y="909819"/>
                  </a:lnTo>
                  <a:close/>
                </a:path>
                <a:path w="10159" h="4244340">
                  <a:moveTo>
                    <a:pt x="4788" y="907527"/>
                  </a:moveTo>
                  <a:lnTo>
                    <a:pt x="2489" y="909819"/>
                  </a:lnTo>
                  <a:lnTo>
                    <a:pt x="4788" y="909819"/>
                  </a:lnTo>
                  <a:lnTo>
                    <a:pt x="4788" y="907527"/>
                  </a:lnTo>
                  <a:close/>
                </a:path>
                <a:path w="10159" h="4244340">
                  <a:moveTo>
                    <a:pt x="4788" y="841067"/>
                  </a:moveTo>
                  <a:lnTo>
                    <a:pt x="2489" y="841067"/>
                  </a:lnTo>
                  <a:lnTo>
                    <a:pt x="0" y="842976"/>
                  </a:lnTo>
                  <a:lnTo>
                    <a:pt x="0" y="877734"/>
                  </a:lnTo>
                  <a:lnTo>
                    <a:pt x="2489" y="879644"/>
                  </a:lnTo>
                  <a:lnTo>
                    <a:pt x="4788" y="879644"/>
                  </a:lnTo>
                  <a:lnTo>
                    <a:pt x="7277" y="877734"/>
                  </a:lnTo>
                  <a:lnTo>
                    <a:pt x="9576" y="875443"/>
                  </a:lnTo>
                  <a:lnTo>
                    <a:pt x="9576" y="845268"/>
                  </a:lnTo>
                  <a:lnTo>
                    <a:pt x="7277" y="842976"/>
                  </a:lnTo>
                  <a:lnTo>
                    <a:pt x="4788" y="841067"/>
                  </a:lnTo>
                  <a:close/>
                </a:path>
                <a:path w="10159" h="4244340">
                  <a:moveTo>
                    <a:pt x="4788" y="810892"/>
                  </a:moveTo>
                  <a:lnTo>
                    <a:pt x="2489" y="810892"/>
                  </a:lnTo>
                  <a:lnTo>
                    <a:pt x="4788" y="813184"/>
                  </a:lnTo>
                  <a:lnTo>
                    <a:pt x="4788" y="810892"/>
                  </a:lnTo>
                  <a:close/>
                </a:path>
                <a:path w="10159" h="4244340">
                  <a:moveTo>
                    <a:pt x="7277" y="804208"/>
                  </a:moveTo>
                  <a:lnTo>
                    <a:pt x="0" y="804208"/>
                  </a:lnTo>
                  <a:lnTo>
                    <a:pt x="0" y="810892"/>
                  </a:lnTo>
                  <a:lnTo>
                    <a:pt x="7277" y="810892"/>
                  </a:lnTo>
                  <a:lnTo>
                    <a:pt x="7277" y="808600"/>
                  </a:lnTo>
                  <a:lnTo>
                    <a:pt x="9576" y="808600"/>
                  </a:lnTo>
                  <a:lnTo>
                    <a:pt x="7277" y="806118"/>
                  </a:lnTo>
                  <a:lnTo>
                    <a:pt x="7277" y="804208"/>
                  </a:lnTo>
                  <a:close/>
                </a:path>
                <a:path w="10159" h="4244340">
                  <a:moveTo>
                    <a:pt x="7277" y="737365"/>
                  </a:moveTo>
                  <a:lnTo>
                    <a:pt x="0" y="737365"/>
                  </a:lnTo>
                  <a:lnTo>
                    <a:pt x="0" y="771742"/>
                  </a:lnTo>
                  <a:lnTo>
                    <a:pt x="2489" y="774224"/>
                  </a:lnTo>
                  <a:lnTo>
                    <a:pt x="4788" y="774224"/>
                  </a:lnTo>
                  <a:lnTo>
                    <a:pt x="9576" y="769450"/>
                  </a:lnTo>
                  <a:lnTo>
                    <a:pt x="9576" y="739657"/>
                  </a:lnTo>
                  <a:lnTo>
                    <a:pt x="7277" y="739657"/>
                  </a:lnTo>
                  <a:lnTo>
                    <a:pt x="7277" y="737365"/>
                  </a:lnTo>
                  <a:close/>
                </a:path>
                <a:path w="10159" h="4244340">
                  <a:moveTo>
                    <a:pt x="4788" y="735074"/>
                  </a:moveTo>
                  <a:lnTo>
                    <a:pt x="2489" y="737365"/>
                  </a:lnTo>
                  <a:lnTo>
                    <a:pt x="4788" y="737365"/>
                  </a:lnTo>
                  <a:lnTo>
                    <a:pt x="4788" y="735074"/>
                  </a:lnTo>
                  <a:close/>
                </a:path>
                <a:path w="10159" h="4244340">
                  <a:moveTo>
                    <a:pt x="7277" y="698215"/>
                  </a:moveTo>
                  <a:lnTo>
                    <a:pt x="0" y="698215"/>
                  </a:lnTo>
                  <a:lnTo>
                    <a:pt x="0" y="705281"/>
                  </a:lnTo>
                  <a:lnTo>
                    <a:pt x="2489" y="707764"/>
                  </a:lnTo>
                  <a:lnTo>
                    <a:pt x="4788" y="707764"/>
                  </a:lnTo>
                  <a:lnTo>
                    <a:pt x="9576" y="702989"/>
                  </a:lnTo>
                  <a:lnTo>
                    <a:pt x="7277" y="700698"/>
                  </a:lnTo>
                  <a:lnTo>
                    <a:pt x="7277" y="698215"/>
                  </a:lnTo>
                  <a:close/>
                </a:path>
                <a:path w="10159" h="4244340">
                  <a:moveTo>
                    <a:pt x="7277" y="631946"/>
                  </a:moveTo>
                  <a:lnTo>
                    <a:pt x="0" y="631946"/>
                  </a:lnTo>
                  <a:lnTo>
                    <a:pt x="0" y="668613"/>
                  </a:lnTo>
                  <a:lnTo>
                    <a:pt x="7277" y="668613"/>
                  </a:lnTo>
                  <a:lnTo>
                    <a:pt x="7277" y="666322"/>
                  </a:lnTo>
                  <a:lnTo>
                    <a:pt x="9576" y="663839"/>
                  </a:lnTo>
                  <a:lnTo>
                    <a:pt x="9576" y="636147"/>
                  </a:lnTo>
                  <a:lnTo>
                    <a:pt x="7277" y="634237"/>
                  </a:lnTo>
                  <a:lnTo>
                    <a:pt x="7277" y="631946"/>
                  </a:lnTo>
                  <a:close/>
                </a:path>
                <a:path w="10159" h="4244340">
                  <a:moveTo>
                    <a:pt x="7277" y="592795"/>
                  </a:moveTo>
                  <a:lnTo>
                    <a:pt x="0" y="592795"/>
                  </a:lnTo>
                  <a:lnTo>
                    <a:pt x="0" y="599288"/>
                  </a:lnTo>
                  <a:lnTo>
                    <a:pt x="2489" y="601771"/>
                  </a:lnTo>
                  <a:lnTo>
                    <a:pt x="4788" y="601771"/>
                  </a:lnTo>
                  <a:lnTo>
                    <a:pt x="7277" y="599288"/>
                  </a:lnTo>
                  <a:lnTo>
                    <a:pt x="9576" y="597379"/>
                  </a:lnTo>
                  <a:lnTo>
                    <a:pt x="7277" y="595087"/>
                  </a:lnTo>
                  <a:lnTo>
                    <a:pt x="7277" y="592795"/>
                  </a:lnTo>
                  <a:close/>
                </a:path>
                <a:path w="10159" h="4244340">
                  <a:moveTo>
                    <a:pt x="7277" y="525762"/>
                  </a:moveTo>
                  <a:lnTo>
                    <a:pt x="0" y="525762"/>
                  </a:lnTo>
                  <a:lnTo>
                    <a:pt x="0" y="562621"/>
                  </a:lnTo>
                  <a:lnTo>
                    <a:pt x="7277" y="562621"/>
                  </a:lnTo>
                  <a:lnTo>
                    <a:pt x="7277" y="560711"/>
                  </a:lnTo>
                  <a:lnTo>
                    <a:pt x="9576" y="558419"/>
                  </a:lnTo>
                  <a:lnTo>
                    <a:pt x="9576" y="530536"/>
                  </a:lnTo>
                  <a:lnTo>
                    <a:pt x="7277" y="528245"/>
                  </a:lnTo>
                  <a:lnTo>
                    <a:pt x="7277" y="525762"/>
                  </a:lnTo>
                  <a:close/>
                </a:path>
                <a:path w="10159" h="4244340">
                  <a:moveTo>
                    <a:pt x="4788" y="486802"/>
                  </a:moveTo>
                  <a:lnTo>
                    <a:pt x="2489" y="486802"/>
                  </a:lnTo>
                  <a:lnTo>
                    <a:pt x="0" y="489094"/>
                  </a:lnTo>
                  <a:lnTo>
                    <a:pt x="0" y="496160"/>
                  </a:lnTo>
                  <a:lnTo>
                    <a:pt x="7277" y="496160"/>
                  </a:lnTo>
                  <a:lnTo>
                    <a:pt x="7277" y="493869"/>
                  </a:lnTo>
                  <a:lnTo>
                    <a:pt x="9576" y="491386"/>
                  </a:lnTo>
                  <a:lnTo>
                    <a:pt x="7277" y="489094"/>
                  </a:lnTo>
                  <a:lnTo>
                    <a:pt x="4788" y="486802"/>
                  </a:lnTo>
                  <a:close/>
                </a:path>
                <a:path w="10159" h="4244340">
                  <a:moveTo>
                    <a:pt x="4788" y="457010"/>
                  </a:moveTo>
                  <a:lnTo>
                    <a:pt x="2489" y="457010"/>
                  </a:lnTo>
                  <a:lnTo>
                    <a:pt x="4788" y="459493"/>
                  </a:lnTo>
                  <a:lnTo>
                    <a:pt x="4788" y="457010"/>
                  </a:lnTo>
                  <a:close/>
                </a:path>
                <a:path w="10159" h="4244340">
                  <a:moveTo>
                    <a:pt x="7277" y="420342"/>
                  </a:moveTo>
                  <a:lnTo>
                    <a:pt x="0" y="420342"/>
                  </a:lnTo>
                  <a:lnTo>
                    <a:pt x="0" y="457010"/>
                  </a:lnTo>
                  <a:lnTo>
                    <a:pt x="7277" y="457010"/>
                  </a:lnTo>
                  <a:lnTo>
                    <a:pt x="7277" y="454718"/>
                  </a:lnTo>
                  <a:lnTo>
                    <a:pt x="9576" y="452426"/>
                  </a:lnTo>
                  <a:lnTo>
                    <a:pt x="9576" y="424926"/>
                  </a:lnTo>
                  <a:lnTo>
                    <a:pt x="7277" y="422634"/>
                  </a:lnTo>
                  <a:lnTo>
                    <a:pt x="7277" y="420342"/>
                  </a:lnTo>
                  <a:close/>
                </a:path>
                <a:path w="10159" h="4244340">
                  <a:moveTo>
                    <a:pt x="4788" y="381192"/>
                  </a:moveTo>
                  <a:lnTo>
                    <a:pt x="2489" y="381192"/>
                  </a:lnTo>
                  <a:lnTo>
                    <a:pt x="0" y="383483"/>
                  </a:lnTo>
                  <a:lnTo>
                    <a:pt x="0" y="390549"/>
                  </a:lnTo>
                  <a:lnTo>
                    <a:pt x="7277" y="390549"/>
                  </a:lnTo>
                  <a:lnTo>
                    <a:pt x="7277" y="388258"/>
                  </a:lnTo>
                  <a:lnTo>
                    <a:pt x="9576" y="385966"/>
                  </a:lnTo>
                  <a:lnTo>
                    <a:pt x="7277" y="383483"/>
                  </a:lnTo>
                  <a:lnTo>
                    <a:pt x="4788" y="381192"/>
                  </a:lnTo>
                  <a:close/>
                </a:path>
                <a:path w="10159" h="4244340">
                  <a:moveTo>
                    <a:pt x="4788" y="351590"/>
                  </a:moveTo>
                  <a:lnTo>
                    <a:pt x="2489" y="351590"/>
                  </a:lnTo>
                  <a:lnTo>
                    <a:pt x="4788" y="353882"/>
                  </a:lnTo>
                  <a:lnTo>
                    <a:pt x="4788" y="351590"/>
                  </a:lnTo>
                  <a:close/>
                </a:path>
                <a:path w="10159" h="4244340">
                  <a:moveTo>
                    <a:pt x="4788" y="314731"/>
                  </a:moveTo>
                  <a:lnTo>
                    <a:pt x="2489" y="314731"/>
                  </a:lnTo>
                  <a:lnTo>
                    <a:pt x="0" y="317023"/>
                  </a:lnTo>
                  <a:lnTo>
                    <a:pt x="0" y="351590"/>
                  </a:lnTo>
                  <a:lnTo>
                    <a:pt x="7277" y="351590"/>
                  </a:lnTo>
                  <a:lnTo>
                    <a:pt x="7277" y="349107"/>
                  </a:lnTo>
                  <a:lnTo>
                    <a:pt x="9576" y="349107"/>
                  </a:lnTo>
                  <a:lnTo>
                    <a:pt x="9576" y="318933"/>
                  </a:lnTo>
                  <a:lnTo>
                    <a:pt x="7277" y="317023"/>
                  </a:lnTo>
                  <a:lnTo>
                    <a:pt x="4788" y="314731"/>
                  </a:lnTo>
                  <a:close/>
                </a:path>
                <a:path w="10159" h="4244340">
                  <a:moveTo>
                    <a:pt x="4788" y="284557"/>
                  </a:moveTo>
                  <a:lnTo>
                    <a:pt x="2489" y="284557"/>
                  </a:lnTo>
                  <a:lnTo>
                    <a:pt x="4788" y="287039"/>
                  </a:lnTo>
                  <a:lnTo>
                    <a:pt x="4788" y="284557"/>
                  </a:lnTo>
                  <a:close/>
                </a:path>
                <a:path w="10159" h="4244340">
                  <a:moveTo>
                    <a:pt x="4788" y="275581"/>
                  </a:moveTo>
                  <a:lnTo>
                    <a:pt x="2489" y="275581"/>
                  </a:lnTo>
                  <a:lnTo>
                    <a:pt x="0" y="278063"/>
                  </a:lnTo>
                  <a:lnTo>
                    <a:pt x="0" y="284557"/>
                  </a:lnTo>
                  <a:lnTo>
                    <a:pt x="7277" y="284557"/>
                  </a:lnTo>
                  <a:lnTo>
                    <a:pt x="7277" y="282265"/>
                  </a:lnTo>
                  <a:lnTo>
                    <a:pt x="9576" y="280355"/>
                  </a:lnTo>
                  <a:lnTo>
                    <a:pt x="7277" y="280355"/>
                  </a:lnTo>
                  <a:lnTo>
                    <a:pt x="7277" y="278063"/>
                  </a:lnTo>
                  <a:lnTo>
                    <a:pt x="4788" y="275581"/>
                  </a:lnTo>
                  <a:close/>
                </a:path>
                <a:path w="10159" h="4244340">
                  <a:moveTo>
                    <a:pt x="4788" y="208738"/>
                  </a:moveTo>
                  <a:lnTo>
                    <a:pt x="2489" y="208738"/>
                  </a:lnTo>
                  <a:lnTo>
                    <a:pt x="0" y="211030"/>
                  </a:lnTo>
                  <a:lnTo>
                    <a:pt x="0" y="245406"/>
                  </a:lnTo>
                  <a:lnTo>
                    <a:pt x="2489" y="247889"/>
                  </a:lnTo>
                  <a:lnTo>
                    <a:pt x="4788" y="247889"/>
                  </a:lnTo>
                  <a:lnTo>
                    <a:pt x="9576" y="243114"/>
                  </a:lnTo>
                  <a:lnTo>
                    <a:pt x="9576" y="213513"/>
                  </a:lnTo>
                  <a:lnTo>
                    <a:pt x="7277" y="211030"/>
                  </a:lnTo>
                  <a:lnTo>
                    <a:pt x="4788" y="208738"/>
                  </a:lnTo>
                  <a:close/>
                </a:path>
                <a:path w="10159" h="4244340">
                  <a:moveTo>
                    <a:pt x="4788" y="179137"/>
                  </a:moveTo>
                  <a:lnTo>
                    <a:pt x="2489" y="179137"/>
                  </a:lnTo>
                  <a:lnTo>
                    <a:pt x="4788" y="181429"/>
                  </a:lnTo>
                  <a:lnTo>
                    <a:pt x="4788" y="179137"/>
                  </a:lnTo>
                  <a:close/>
                </a:path>
                <a:path w="10159" h="4244340">
                  <a:moveTo>
                    <a:pt x="7277" y="172071"/>
                  </a:moveTo>
                  <a:lnTo>
                    <a:pt x="0" y="172071"/>
                  </a:lnTo>
                  <a:lnTo>
                    <a:pt x="0" y="179137"/>
                  </a:lnTo>
                  <a:lnTo>
                    <a:pt x="7277" y="179137"/>
                  </a:lnTo>
                  <a:lnTo>
                    <a:pt x="7277" y="176654"/>
                  </a:lnTo>
                  <a:lnTo>
                    <a:pt x="9576" y="176654"/>
                  </a:lnTo>
                  <a:lnTo>
                    <a:pt x="7277" y="174362"/>
                  </a:lnTo>
                  <a:lnTo>
                    <a:pt x="7277" y="172071"/>
                  </a:lnTo>
                  <a:close/>
                </a:path>
                <a:path w="10159" h="4244340">
                  <a:moveTo>
                    <a:pt x="4788" y="103128"/>
                  </a:moveTo>
                  <a:lnTo>
                    <a:pt x="2489" y="103128"/>
                  </a:lnTo>
                  <a:lnTo>
                    <a:pt x="0" y="105610"/>
                  </a:lnTo>
                  <a:lnTo>
                    <a:pt x="0" y="139986"/>
                  </a:lnTo>
                  <a:lnTo>
                    <a:pt x="2489" y="142278"/>
                  </a:lnTo>
                  <a:lnTo>
                    <a:pt x="4788" y="142278"/>
                  </a:lnTo>
                  <a:lnTo>
                    <a:pt x="7277" y="139986"/>
                  </a:lnTo>
                  <a:lnTo>
                    <a:pt x="9576" y="137504"/>
                  </a:lnTo>
                  <a:lnTo>
                    <a:pt x="9576" y="107902"/>
                  </a:lnTo>
                  <a:lnTo>
                    <a:pt x="7277" y="107902"/>
                  </a:lnTo>
                  <a:lnTo>
                    <a:pt x="7277" y="105610"/>
                  </a:lnTo>
                  <a:lnTo>
                    <a:pt x="4788" y="103128"/>
                  </a:lnTo>
                  <a:close/>
                </a:path>
                <a:path w="10159" h="4244340">
                  <a:moveTo>
                    <a:pt x="7277" y="66460"/>
                  </a:moveTo>
                  <a:lnTo>
                    <a:pt x="0" y="66460"/>
                  </a:lnTo>
                  <a:lnTo>
                    <a:pt x="0" y="73526"/>
                  </a:lnTo>
                  <a:lnTo>
                    <a:pt x="2489" y="75436"/>
                  </a:lnTo>
                  <a:lnTo>
                    <a:pt x="4788" y="75436"/>
                  </a:lnTo>
                  <a:lnTo>
                    <a:pt x="7277" y="73526"/>
                  </a:lnTo>
                  <a:lnTo>
                    <a:pt x="9576" y="71234"/>
                  </a:lnTo>
                  <a:lnTo>
                    <a:pt x="7277" y="68752"/>
                  </a:lnTo>
                  <a:lnTo>
                    <a:pt x="7277" y="66460"/>
                  </a:lnTo>
                  <a:close/>
                </a:path>
                <a:path w="10159" h="4244340">
                  <a:moveTo>
                    <a:pt x="7277" y="0"/>
                  </a:moveTo>
                  <a:lnTo>
                    <a:pt x="0" y="0"/>
                  </a:lnTo>
                  <a:lnTo>
                    <a:pt x="0" y="36667"/>
                  </a:lnTo>
                  <a:lnTo>
                    <a:pt x="7277" y="36667"/>
                  </a:lnTo>
                  <a:lnTo>
                    <a:pt x="7277" y="34376"/>
                  </a:lnTo>
                  <a:lnTo>
                    <a:pt x="9576" y="32084"/>
                  </a:lnTo>
                  <a:lnTo>
                    <a:pt x="9576" y="4201"/>
                  </a:lnTo>
                  <a:lnTo>
                    <a:pt x="7277" y="1909"/>
                  </a:lnTo>
                  <a:lnTo>
                    <a:pt x="7277" y="0"/>
                  </a:lnTo>
                  <a:close/>
                </a:path>
              </a:pathLst>
            </a:custGeom>
            <a:solidFill>
              <a:srgbClr val="000000"/>
            </a:solidFill>
          </p:spPr>
          <p:txBody>
            <a:bodyPr wrap="square" lIns="0" tIns="0" rIns="0" bIns="0" rtlCol="0"/>
            <a:lstStyle/>
            <a:p/>
          </p:txBody>
        </p:sp>
        <p:sp>
          <p:nvSpPr>
            <p:cNvPr id="59" name="object 59" descr=""/>
            <p:cNvSpPr/>
            <p:nvPr/>
          </p:nvSpPr>
          <p:spPr>
            <a:xfrm>
              <a:off x="9707127" y="1799700"/>
              <a:ext cx="10160" cy="4244340"/>
            </a:xfrm>
            <a:custGeom>
              <a:avLst/>
              <a:gdLst/>
              <a:ahLst/>
              <a:cxnLst/>
              <a:rect l="l" t="t" r="r" b="b"/>
              <a:pathLst>
                <a:path w="10159" h="4244340">
                  <a:moveTo>
                    <a:pt x="0" y="4243912"/>
                  </a:moveTo>
                  <a:lnTo>
                    <a:pt x="0" y="4216583"/>
                  </a:lnTo>
                  <a:lnTo>
                    <a:pt x="0" y="4214226"/>
                  </a:lnTo>
                  <a:lnTo>
                    <a:pt x="2489" y="4211872"/>
                  </a:lnTo>
                  <a:lnTo>
                    <a:pt x="4788" y="4211872"/>
                  </a:lnTo>
                  <a:lnTo>
                    <a:pt x="7277" y="4214226"/>
                  </a:lnTo>
                  <a:lnTo>
                    <a:pt x="9576" y="4216583"/>
                  </a:lnTo>
                  <a:lnTo>
                    <a:pt x="9576" y="4243912"/>
                  </a:lnTo>
                </a:path>
                <a:path w="10159" h="4244340">
                  <a:moveTo>
                    <a:pt x="0" y="4177475"/>
                  </a:moveTo>
                  <a:lnTo>
                    <a:pt x="0" y="4175120"/>
                  </a:lnTo>
                  <a:lnTo>
                    <a:pt x="2489" y="4172763"/>
                  </a:lnTo>
                  <a:lnTo>
                    <a:pt x="4788" y="4172763"/>
                  </a:lnTo>
                  <a:lnTo>
                    <a:pt x="7277" y="4175120"/>
                  </a:lnTo>
                  <a:lnTo>
                    <a:pt x="7277" y="4177475"/>
                  </a:lnTo>
                  <a:lnTo>
                    <a:pt x="9576" y="4177475"/>
                  </a:lnTo>
                  <a:lnTo>
                    <a:pt x="7277" y="4179831"/>
                  </a:lnTo>
                  <a:lnTo>
                    <a:pt x="7277" y="4182188"/>
                  </a:lnTo>
                  <a:lnTo>
                    <a:pt x="4788" y="4182188"/>
                  </a:lnTo>
                  <a:lnTo>
                    <a:pt x="4788" y="4184543"/>
                  </a:lnTo>
                  <a:lnTo>
                    <a:pt x="2489" y="4182188"/>
                  </a:lnTo>
                  <a:lnTo>
                    <a:pt x="0" y="4182188"/>
                  </a:lnTo>
                  <a:lnTo>
                    <a:pt x="0" y="4179831"/>
                  </a:lnTo>
                  <a:lnTo>
                    <a:pt x="0" y="4177475"/>
                  </a:lnTo>
                </a:path>
                <a:path w="10159" h="4244340">
                  <a:moveTo>
                    <a:pt x="0" y="4140723"/>
                  </a:moveTo>
                  <a:lnTo>
                    <a:pt x="0" y="4111039"/>
                  </a:lnTo>
                  <a:lnTo>
                    <a:pt x="0" y="4108682"/>
                  </a:lnTo>
                  <a:lnTo>
                    <a:pt x="2489" y="4106328"/>
                  </a:lnTo>
                  <a:lnTo>
                    <a:pt x="4788" y="4106328"/>
                  </a:lnTo>
                  <a:lnTo>
                    <a:pt x="7277" y="4108682"/>
                  </a:lnTo>
                  <a:lnTo>
                    <a:pt x="9576" y="4111039"/>
                  </a:lnTo>
                  <a:lnTo>
                    <a:pt x="9576" y="4140723"/>
                  </a:lnTo>
                  <a:lnTo>
                    <a:pt x="7277" y="4143080"/>
                  </a:lnTo>
                  <a:lnTo>
                    <a:pt x="4788" y="4145436"/>
                  </a:lnTo>
                  <a:lnTo>
                    <a:pt x="2489" y="4145436"/>
                  </a:lnTo>
                  <a:lnTo>
                    <a:pt x="0" y="4143080"/>
                  </a:lnTo>
                  <a:lnTo>
                    <a:pt x="0" y="4140723"/>
                  </a:lnTo>
                </a:path>
                <a:path w="10159" h="4244340">
                  <a:moveTo>
                    <a:pt x="0" y="4074287"/>
                  </a:moveTo>
                  <a:lnTo>
                    <a:pt x="0" y="4071931"/>
                  </a:lnTo>
                  <a:lnTo>
                    <a:pt x="0" y="4069576"/>
                  </a:lnTo>
                  <a:lnTo>
                    <a:pt x="2489" y="4069576"/>
                  </a:lnTo>
                  <a:lnTo>
                    <a:pt x="4788" y="4069576"/>
                  </a:lnTo>
                  <a:lnTo>
                    <a:pt x="7277" y="4069576"/>
                  </a:lnTo>
                  <a:lnTo>
                    <a:pt x="7277" y="4071931"/>
                  </a:lnTo>
                  <a:lnTo>
                    <a:pt x="9576" y="4074287"/>
                  </a:lnTo>
                  <a:lnTo>
                    <a:pt x="7277" y="4074287"/>
                  </a:lnTo>
                  <a:lnTo>
                    <a:pt x="7277" y="4076644"/>
                  </a:lnTo>
                  <a:lnTo>
                    <a:pt x="4788" y="4076644"/>
                  </a:lnTo>
                  <a:lnTo>
                    <a:pt x="4788" y="4078527"/>
                  </a:lnTo>
                  <a:lnTo>
                    <a:pt x="2489" y="4076644"/>
                  </a:lnTo>
                  <a:lnTo>
                    <a:pt x="0" y="4076644"/>
                  </a:lnTo>
                  <a:lnTo>
                    <a:pt x="0" y="4074287"/>
                  </a:lnTo>
                </a:path>
                <a:path w="10159" h="4244340">
                  <a:moveTo>
                    <a:pt x="0" y="4035173"/>
                  </a:moveTo>
                  <a:lnTo>
                    <a:pt x="0" y="4005018"/>
                  </a:lnTo>
                  <a:lnTo>
                    <a:pt x="0" y="4003146"/>
                  </a:lnTo>
                  <a:lnTo>
                    <a:pt x="2489" y="4000778"/>
                  </a:lnTo>
                  <a:lnTo>
                    <a:pt x="4788" y="4000778"/>
                  </a:lnTo>
                  <a:lnTo>
                    <a:pt x="7277" y="4003146"/>
                  </a:lnTo>
                  <a:lnTo>
                    <a:pt x="7277" y="4005018"/>
                  </a:lnTo>
                  <a:lnTo>
                    <a:pt x="9576" y="4005018"/>
                  </a:lnTo>
                  <a:lnTo>
                    <a:pt x="9576" y="4035173"/>
                  </a:lnTo>
                  <a:lnTo>
                    <a:pt x="7277" y="4037541"/>
                  </a:lnTo>
                  <a:lnTo>
                    <a:pt x="4788" y="4039890"/>
                  </a:lnTo>
                  <a:lnTo>
                    <a:pt x="2489" y="4039890"/>
                  </a:lnTo>
                  <a:lnTo>
                    <a:pt x="0" y="4037541"/>
                  </a:lnTo>
                  <a:lnTo>
                    <a:pt x="0" y="4035173"/>
                  </a:lnTo>
                </a:path>
                <a:path w="10159" h="4244340">
                  <a:moveTo>
                    <a:pt x="0" y="3968274"/>
                  </a:moveTo>
                  <a:lnTo>
                    <a:pt x="0" y="3966383"/>
                  </a:lnTo>
                  <a:lnTo>
                    <a:pt x="0" y="3964034"/>
                  </a:lnTo>
                  <a:lnTo>
                    <a:pt x="2489" y="3964034"/>
                  </a:lnTo>
                  <a:lnTo>
                    <a:pt x="4788" y="3964034"/>
                  </a:lnTo>
                  <a:lnTo>
                    <a:pt x="7277" y="3964034"/>
                  </a:lnTo>
                  <a:lnTo>
                    <a:pt x="7277" y="3966383"/>
                  </a:lnTo>
                  <a:lnTo>
                    <a:pt x="9576" y="3968274"/>
                  </a:lnTo>
                  <a:lnTo>
                    <a:pt x="7277" y="3970623"/>
                  </a:lnTo>
                  <a:lnTo>
                    <a:pt x="4788" y="3972991"/>
                  </a:lnTo>
                  <a:lnTo>
                    <a:pt x="2489" y="3972991"/>
                  </a:lnTo>
                  <a:lnTo>
                    <a:pt x="0" y="3970623"/>
                  </a:lnTo>
                  <a:lnTo>
                    <a:pt x="0" y="3968274"/>
                  </a:lnTo>
                </a:path>
                <a:path w="10159" h="4244340">
                  <a:moveTo>
                    <a:pt x="0" y="3929161"/>
                  </a:moveTo>
                  <a:lnTo>
                    <a:pt x="0" y="3901832"/>
                  </a:lnTo>
                  <a:lnTo>
                    <a:pt x="0" y="3899483"/>
                  </a:lnTo>
                  <a:lnTo>
                    <a:pt x="0" y="3897115"/>
                  </a:lnTo>
                  <a:lnTo>
                    <a:pt x="2489" y="3897115"/>
                  </a:lnTo>
                  <a:lnTo>
                    <a:pt x="4788" y="3897115"/>
                  </a:lnTo>
                  <a:lnTo>
                    <a:pt x="7277" y="3897115"/>
                  </a:lnTo>
                  <a:lnTo>
                    <a:pt x="7277" y="3899483"/>
                  </a:lnTo>
                  <a:lnTo>
                    <a:pt x="9576" y="3901832"/>
                  </a:lnTo>
                  <a:lnTo>
                    <a:pt x="9576" y="3929161"/>
                  </a:lnTo>
                  <a:lnTo>
                    <a:pt x="7277" y="3931529"/>
                  </a:lnTo>
                  <a:lnTo>
                    <a:pt x="7277" y="3933878"/>
                  </a:lnTo>
                  <a:lnTo>
                    <a:pt x="4788" y="3933878"/>
                  </a:lnTo>
                  <a:lnTo>
                    <a:pt x="2489" y="3933878"/>
                  </a:lnTo>
                  <a:lnTo>
                    <a:pt x="0" y="3933878"/>
                  </a:lnTo>
                  <a:lnTo>
                    <a:pt x="0" y="3931529"/>
                  </a:lnTo>
                  <a:lnTo>
                    <a:pt x="0" y="3929161"/>
                  </a:lnTo>
                </a:path>
                <a:path w="10159" h="4244340">
                  <a:moveTo>
                    <a:pt x="0" y="3862720"/>
                  </a:moveTo>
                  <a:lnTo>
                    <a:pt x="0" y="3860371"/>
                  </a:lnTo>
                  <a:lnTo>
                    <a:pt x="0" y="3858022"/>
                  </a:lnTo>
                  <a:lnTo>
                    <a:pt x="2489" y="3858022"/>
                  </a:lnTo>
                  <a:lnTo>
                    <a:pt x="4788" y="3858022"/>
                  </a:lnTo>
                  <a:lnTo>
                    <a:pt x="7277" y="3858022"/>
                  </a:lnTo>
                  <a:lnTo>
                    <a:pt x="7277" y="3860371"/>
                  </a:lnTo>
                  <a:lnTo>
                    <a:pt x="9576" y="3862720"/>
                  </a:lnTo>
                  <a:lnTo>
                    <a:pt x="7277" y="3865088"/>
                  </a:lnTo>
                  <a:lnTo>
                    <a:pt x="4788" y="3867437"/>
                  </a:lnTo>
                  <a:lnTo>
                    <a:pt x="2489" y="3867437"/>
                  </a:lnTo>
                  <a:lnTo>
                    <a:pt x="0" y="3865088"/>
                  </a:lnTo>
                  <a:lnTo>
                    <a:pt x="0" y="3862720"/>
                  </a:lnTo>
                </a:path>
                <a:path w="10159" h="4244340">
                  <a:moveTo>
                    <a:pt x="0" y="3823627"/>
                  </a:moveTo>
                  <a:lnTo>
                    <a:pt x="0" y="3796298"/>
                  </a:lnTo>
                  <a:lnTo>
                    <a:pt x="0" y="3793930"/>
                  </a:lnTo>
                  <a:lnTo>
                    <a:pt x="0" y="3791581"/>
                  </a:lnTo>
                  <a:lnTo>
                    <a:pt x="2489" y="3791581"/>
                  </a:lnTo>
                  <a:lnTo>
                    <a:pt x="4788" y="3791581"/>
                  </a:lnTo>
                  <a:lnTo>
                    <a:pt x="7277" y="3791581"/>
                  </a:lnTo>
                  <a:lnTo>
                    <a:pt x="7277" y="3793930"/>
                  </a:lnTo>
                  <a:lnTo>
                    <a:pt x="9576" y="3796298"/>
                  </a:lnTo>
                  <a:lnTo>
                    <a:pt x="9576" y="3823627"/>
                  </a:lnTo>
                  <a:lnTo>
                    <a:pt x="7277" y="3825976"/>
                  </a:lnTo>
                  <a:lnTo>
                    <a:pt x="7277" y="3828325"/>
                  </a:lnTo>
                  <a:lnTo>
                    <a:pt x="4788" y="3828325"/>
                  </a:lnTo>
                  <a:lnTo>
                    <a:pt x="2489" y="3828325"/>
                  </a:lnTo>
                  <a:lnTo>
                    <a:pt x="0" y="3828325"/>
                  </a:lnTo>
                  <a:lnTo>
                    <a:pt x="0" y="3825976"/>
                  </a:lnTo>
                  <a:lnTo>
                    <a:pt x="0" y="3823627"/>
                  </a:lnTo>
                </a:path>
                <a:path w="10159" h="4244340">
                  <a:moveTo>
                    <a:pt x="0" y="3757186"/>
                  </a:moveTo>
                  <a:lnTo>
                    <a:pt x="0" y="3754837"/>
                  </a:lnTo>
                  <a:lnTo>
                    <a:pt x="2489" y="3752468"/>
                  </a:lnTo>
                  <a:lnTo>
                    <a:pt x="4788" y="3752468"/>
                  </a:lnTo>
                  <a:lnTo>
                    <a:pt x="7277" y="3754837"/>
                  </a:lnTo>
                  <a:lnTo>
                    <a:pt x="9576" y="3757186"/>
                  </a:lnTo>
                  <a:lnTo>
                    <a:pt x="7277" y="3759535"/>
                  </a:lnTo>
                  <a:lnTo>
                    <a:pt x="7277" y="3761425"/>
                  </a:lnTo>
                  <a:lnTo>
                    <a:pt x="4788" y="3761425"/>
                  </a:lnTo>
                  <a:lnTo>
                    <a:pt x="2489" y="3761425"/>
                  </a:lnTo>
                  <a:lnTo>
                    <a:pt x="0" y="3761425"/>
                  </a:lnTo>
                  <a:lnTo>
                    <a:pt x="0" y="3759535"/>
                  </a:lnTo>
                  <a:lnTo>
                    <a:pt x="0" y="3757186"/>
                  </a:lnTo>
                </a:path>
                <a:path w="10159" h="4244340">
                  <a:moveTo>
                    <a:pt x="0" y="3718073"/>
                  </a:moveTo>
                  <a:lnTo>
                    <a:pt x="0" y="3690267"/>
                  </a:lnTo>
                  <a:lnTo>
                    <a:pt x="0" y="3687918"/>
                  </a:lnTo>
                  <a:lnTo>
                    <a:pt x="0" y="3685569"/>
                  </a:lnTo>
                  <a:lnTo>
                    <a:pt x="2489" y="3685569"/>
                  </a:lnTo>
                  <a:lnTo>
                    <a:pt x="4788" y="3685569"/>
                  </a:lnTo>
                  <a:lnTo>
                    <a:pt x="7277" y="3685569"/>
                  </a:lnTo>
                  <a:lnTo>
                    <a:pt x="7277" y="3687918"/>
                  </a:lnTo>
                  <a:lnTo>
                    <a:pt x="9576" y="3690267"/>
                  </a:lnTo>
                  <a:lnTo>
                    <a:pt x="9576" y="3718073"/>
                  </a:lnTo>
                  <a:lnTo>
                    <a:pt x="7277" y="3720422"/>
                  </a:lnTo>
                  <a:lnTo>
                    <a:pt x="7277" y="3722790"/>
                  </a:lnTo>
                  <a:lnTo>
                    <a:pt x="4788" y="3722790"/>
                  </a:lnTo>
                  <a:lnTo>
                    <a:pt x="4788" y="3724681"/>
                  </a:lnTo>
                  <a:lnTo>
                    <a:pt x="2489" y="3722790"/>
                  </a:lnTo>
                  <a:lnTo>
                    <a:pt x="0" y="3722790"/>
                  </a:lnTo>
                  <a:lnTo>
                    <a:pt x="0" y="3720422"/>
                  </a:lnTo>
                  <a:lnTo>
                    <a:pt x="0" y="3718073"/>
                  </a:lnTo>
                </a:path>
                <a:path w="10159" h="4244340">
                  <a:moveTo>
                    <a:pt x="0" y="3651174"/>
                  </a:moveTo>
                  <a:lnTo>
                    <a:pt x="0" y="3648806"/>
                  </a:lnTo>
                  <a:lnTo>
                    <a:pt x="2489" y="3646934"/>
                  </a:lnTo>
                  <a:lnTo>
                    <a:pt x="4788" y="3646934"/>
                  </a:lnTo>
                  <a:lnTo>
                    <a:pt x="7277" y="3648806"/>
                  </a:lnTo>
                  <a:lnTo>
                    <a:pt x="9576" y="3651174"/>
                  </a:lnTo>
                  <a:lnTo>
                    <a:pt x="7277" y="3653523"/>
                  </a:lnTo>
                  <a:lnTo>
                    <a:pt x="7277" y="3655872"/>
                  </a:lnTo>
                  <a:lnTo>
                    <a:pt x="4788" y="3655872"/>
                  </a:lnTo>
                  <a:lnTo>
                    <a:pt x="2489" y="3655872"/>
                  </a:lnTo>
                  <a:lnTo>
                    <a:pt x="0" y="3655872"/>
                  </a:lnTo>
                  <a:lnTo>
                    <a:pt x="0" y="3653523"/>
                  </a:lnTo>
                  <a:lnTo>
                    <a:pt x="0" y="3651174"/>
                  </a:lnTo>
                </a:path>
                <a:path w="10159" h="4244340">
                  <a:moveTo>
                    <a:pt x="0" y="3614410"/>
                  </a:moveTo>
                  <a:lnTo>
                    <a:pt x="0" y="3584732"/>
                  </a:lnTo>
                  <a:lnTo>
                    <a:pt x="0" y="3582383"/>
                  </a:lnTo>
                  <a:lnTo>
                    <a:pt x="2489" y="3580015"/>
                  </a:lnTo>
                  <a:lnTo>
                    <a:pt x="4788" y="3580015"/>
                  </a:lnTo>
                  <a:lnTo>
                    <a:pt x="7277" y="3582383"/>
                  </a:lnTo>
                  <a:lnTo>
                    <a:pt x="9576" y="3584732"/>
                  </a:lnTo>
                  <a:lnTo>
                    <a:pt x="9576" y="3614410"/>
                  </a:lnTo>
                  <a:lnTo>
                    <a:pt x="7277" y="3614410"/>
                  </a:lnTo>
                  <a:lnTo>
                    <a:pt x="7277" y="3616779"/>
                  </a:lnTo>
                  <a:lnTo>
                    <a:pt x="4788" y="3616779"/>
                  </a:lnTo>
                  <a:lnTo>
                    <a:pt x="4788" y="3619128"/>
                  </a:lnTo>
                  <a:lnTo>
                    <a:pt x="2489" y="3616779"/>
                  </a:lnTo>
                  <a:lnTo>
                    <a:pt x="0" y="3616779"/>
                  </a:lnTo>
                  <a:lnTo>
                    <a:pt x="0" y="3614410"/>
                  </a:lnTo>
                </a:path>
                <a:path w="10159" h="4244340">
                  <a:moveTo>
                    <a:pt x="0" y="3545620"/>
                  </a:moveTo>
                  <a:lnTo>
                    <a:pt x="0" y="3543271"/>
                  </a:lnTo>
                  <a:lnTo>
                    <a:pt x="2489" y="3540903"/>
                  </a:lnTo>
                  <a:lnTo>
                    <a:pt x="4788" y="3540903"/>
                  </a:lnTo>
                  <a:lnTo>
                    <a:pt x="7277" y="3543271"/>
                  </a:lnTo>
                  <a:lnTo>
                    <a:pt x="7277" y="3545620"/>
                  </a:lnTo>
                  <a:lnTo>
                    <a:pt x="9576" y="3545620"/>
                  </a:lnTo>
                  <a:lnTo>
                    <a:pt x="7277" y="3547988"/>
                  </a:lnTo>
                  <a:lnTo>
                    <a:pt x="7277" y="3550337"/>
                  </a:lnTo>
                  <a:lnTo>
                    <a:pt x="4788" y="3550337"/>
                  </a:lnTo>
                  <a:lnTo>
                    <a:pt x="4788" y="3552686"/>
                  </a:lnTo>
                  <a:lnTo>
                    <a:pt x="2489" y="3550337"/>
                  </a:lnTo>
                  <a:lnTo>
                    <a:pt x="0" y="3550337"/>
                  </a:lnTo>
                  <a:lnTo>
                    <a:pt x="0" y="3547988"/>
                  </a:lnTo>
                  <a:lnTo>
                    <a:pt x="0" y="3545620"/>
                  </a:lnTo>
                </a:path>
                <a:path w="10159" h="4244340">
                  <a:moveTo>
                    <a:pt x="0" y="3508876"/>
                  </a:moveTo>
                  <a:lnTo>
                    <a:pt x="0" y="3479179"/>
                  </a:lnTo>
                  <a:lnTo>
                    <a:pt x="0" y="3476830"/>
                  </a:lnTo>
                  <a:lnTo>
                    <a:pt x="2489" y="3474481"/>
                  </a:lnTo>
                  <a:lnTo>
                    <a:pt x="4788" y="3474481"/>
                  </a:lnTo>
                  <a:lnTo>
                    <a:pt x="7277" y="3476830"/>
                  </a:lnTo>
                  <a:lnTo>
                    <a:pt x="9576" y="3479179"/>
                  </a:lnTo>
                  <a:lnTo>
                    <a:pt x="9576" y="3508876"/>
                  </a:lnTo>
                  <a:lnTo>
                    <a:pt x="7277" y="3511225"/>
                  </a:lnTo>
                  <a:lnTo>
                    <a:pt x="4788" y="3513593"/>
                  </a:lnTo>
                  <a:lnTo>
                    <a:pt x="2489" y="3513593"/>
                  </a:lnTo>
                  <a:lnTo>
                    <a:pt x="0" y="3511225"/>
                  </a:lnTo>
                  <a:lnTo>
                    <a:pt x="0" y="3508876"/>
                  </a:lnTo>
                </a:path>
                <a:path w="10159" h="4244340">
                  <a:moveTo>
                    <a:pt x="0" y="3442435"/>
                  </a:moveTo>
                  <a:lnTo>
                    <a:pt x="0" y="3440086"/>
                  </a:lnTo>
                  <a:lnTo>
                    <a:pt x="0" y="3437718"/>
                  </a:lnTo>
                  <a:lnTo>
                    <a:pt x="2489" y="3437718"/>
                  </a:lnTo>
                  <a:lnTo>
                    <a:pt x="4788" y="3437718"/>
                  </a:lnTo>
                  <a:lnTo>
                    <a:pt x="7277" y="3437718"/>
                  </a:lnTo>
                  <a:lnTo>
                    <a:pt x="7277" y="3440086"/>
                  </a:lnTo>
                  <a:lnTo>
                    <a:pt x="9576" y="3442435"/>
                  </a:lnTo>
                  <a:lnTo>
                    <a:pt x="7277" y="3442435"/>
                  </a:lnTo>
                  <a:lnTo>
                    <a:pt x="7277" y="3444325"/>
                  </a:lnTo>
                  <a:lnTo>
                    <a:pt x="4788" y="3444325"/>
                  </a:lnTo>
                  <a:lnTo>
                    <a:pt x="4788" y="3446675"/>
                  </a:lnTo>
                  <a:lnTo>
                    <a:pt x="2489" y="3444325"/>
                  </a:lnTo>
                  <a:lnTo>
                    <a:pt x="0" y="3444325"/>
                  </a:lnTo>
                  <a:lnTo>
                    <a:pt x="0" y="3442435"/>
                  </a:lnTo>
                </a:path>
                <a:path w="10159" h="4244340">
                  <a:moveTo>
                    <a:pt x="0" y="3403323"/>
                  </a:moveTo>
                  <a:lnTo>
                    <a:pt x="0" y="3373167"/>
                  </a:lnTo>
                  <a:lnTo>
                    <a:pt x="0" y="3370818"/>
                  </a:lnTo>
                  <a:lnTo>
                    <a:pt x="2489" y="3368469"/>
                  </a:lnTo>
                  <a:lnTo>
                    <a:pt x="4788" y="3368469"/>
                  </a:lnTo>
                  <a:lnTo>
                    <a:pt x="7277" y="3370818"/>
                  </a:lnTo>
                  <a:lnTo>
                    <a:pt x="7277" y="3373167"/>
                  </a:lnTo>
                  <a:lnTo>
                    <a:pt x="9576" y="3373167"/>
                  </a:lnTo>
                  <a:lnTo>
                    <a:pt x="9576" y="3403323"/>
                  </a:lnTo>
                  <a:lnTo>
                    <a:pt x="7277" y="3405213"/>
                  </a:lnTo>
                  <a:lnTo>
                    <a:pt x="4788" y="3407562"/>
                  </a:lnTo>
                  <a:lnTo>
                    <a:pt x="2489" y="3407562"/>
                  </a:lnTo>
                  <a:lnTo>
                    <a:pt x="0" y="3405213"/>
                  </a:lnTo>
                  <a:lnTo>
                    <a:pt x="0" y="3403323"/>
                  </a:lnTo>
                </a:path>
                <a:path w="10159" h="4244340">
                  <a:moveTo>
                    <a:pt x="0" y="3336423"/>
                  </a:moveTo>
                  <a:lnTo>
                    <a:pt x="0" y="3334074"/>
                  </a:lnTo>
                  <a:lnTo>
                    <a:pt x="0" y="3331706"/>
                  </a:lnTo>
                  <a:lnTo>
                    <a:pt x="2489" y="3331706"/>
                  </a:lnTo>
                  <a:lnTo>
                    <a:pt x="4788" y="3331706"/>
                  </a:lnTo>
                  <a:lnTo>
                    <a:pt x="7277" y="3331706"/>
                  </a:lnTo>
                  <a:lnTo>
                    <a:pt x="7277" y="3334074"/>
                  </a:lnTo>
                  <a:lnTo>
                    <a:pt x="9576" y="3336423"/>
                  </a:lnTo>
                  <a:lnTo>
                    <a:pt x="7277" y="3338772"/>
                  </a:lnTo>
                  <a:lnTo>
                    <a:pt x="4788" y="3341140"/>
                  </a:lnTo>
                  <a:lnTo>
                    <a:pt x="2489" y="3341140"/>
                  </a:lnTo>
                  <a:lnTo>
                    <a:pt x="0" y="3338772"/>
                  </a:lnTo>
                  <a:lnTo>
                    <a:pt x="0" y="3336423"/>
                  </a:lnTo>
                </a:path>
                <a:path w="10159" h="4244340">
                  <a:moveTo>
                    <a:pt x="0" y="3297311"/>
                  </a:moveTo>
                  <a:lnTo>
                    <a:pt x="0" y="3269982"/>
                  </a:lnTo>
                  <a:lnTo>
                    <a:pt x="0" y="3267633"/>
                  </a:lnTo>
                  <a:lnTo>
                    <a:pt x="0" y="3265265"/>
                  </a:lnTo>
                  <a:lnTo>
                    <a:pt x="2489" y="3265265"/>
                  </a:lnTo>
                  <a:lnTo>
                    <a:pt x="4788" y="3262916"/>
                  </a:lnTo>
                  <a:lnTo>
                    <a:pt x="4788" y="3265265"/>
                  </a:lnTo>
                  <a:lnTo>
                    <a:pt x="7277" y="3265265"/>
                  </a:lnTo>
                  <a:lnTo>
                    <a:pt x="7277" y="3267633"/>
                  </a:lnTo>
                  <a:lnTo>
                    <a:pt x="9576" y="3269982"/>
                  </a:lnTo>
                  <a:lnTo>
                    <a:pt x="9576" y="3297311"/>
                  </a:lnTo>
                  <a:lnTo>
                    <a:pt x="7277" y="3299660"/>
                  </a:lnTo>
                  <a:lnTo>
                    <a:pt x="7277" y="3302028"/>
                  </a:lnTo>
                  <a:lnTo>
                    <a:pt x="4788" y="3302028"/>
                  </a:lnTo>
                  <a:lnTo>
                    <a:pt x="2489" y="3302028"/>
                  </a:lnTo>
                  <a:lnTo>
                    <a:pt x="0" y="3302028"/>
                  </a:lnTo>
                  <a:lnTo>
                    <a:pt x="0" y="3299660"/>
                  </a:lnTo>
                  <a:lnTo>
                    <a:pt x="0" y="3297311"/>
                  </a:lnTo>
                </a:path>
                <a:path w="10159" h="4244340">
                  <a:moveTo>
                    <a:pt x="0" y="3230869"/>
                  </a:moveTo>
                  <a:lnTo>
                    <a:pt x="0" y="3228520"/>
                  </a:lnTo>
                  <a:lnTo>
                    <a:pt x="0" y="3226171"/>
                  </a:lnTo>
                  <a:lnTo>
                    <a:pt x="2489" y="3226171"/>
                  </a:lnTo>
                  <a:lnTo>
                    <a:pt x="4788" y="3226171"/>
                  </a:lnTo>
                  <a:lnTo>
                    <a:pt x="7277" y="3226171"/>
                  </a:lnTo>
                  <a:lnTo>
                    <a:pt x="7277" y="3228520"/>
                  </a:lnTo>
                  <a:lnTo>
                    <a:pt x="9576" y="3230869"/>
                  </a:lnTo>
                  <a:lnTo>
                    <a:pt x="7277" y="3233238"/>
                  </a:lnTo>
                  <a:lnTo>
                    <a:pt x="4788" y="3235587"/>
                  </a:lnTo>
                  <a:lnTo>
                    <a:pt x="2489" y="3235587"/>
                  </a:lnTo>
                  <a:lnTo>
                    <a:pt x="0" y="3233238"/>
                  </a:lnTo>
                  <a:lnTo>
                    <a:pt x="0" y="3230869"/>
                  </a:lnTo>
                </a:path>
                <a:path w="10159" h="4244340">
                  <a:moveTo>
                    <a:pt x="0" y="3191776"/>
                  </a:moveTo>
                  <a:lnTo>
                    <a:pt x="0" y="3163970"/>
                  </a:lnTo>
                  <a:lnTo>
                    <a:pt x="0" y="3161621"/>
                  </a:lnTo>
                  <a:lnTo>
                    <a:pt x="0" y="3159730"/>
                  </a:lnTo>
                  <a:lnTo>
                    <a:pt x="2489" y="3159730"/>
                  </a:lnTo>
                  <a:lnTo>
                    <a:pt x="4788" y="3159730"/>
                  </a:lnTo>
                  <a:lnTo>
                    <a:pt x="7277" y="3159730"/>
                  </a:lnTo>
                  <a:lnTo>
                    <a:pt x="7277" y="3161621"/>
                  </a:lnTo>
                  <a:lnTo>
                    <a:pt x="9576" y="3163970"/>
                  </a:lnTo>
                  <a:lnTo>
                    <a:pt x="9576" y="3191776"/>
                  </a:lnTo>
                  <a:lnTo>
                    <a:pt x="7277" y="3194125"/>
                  </a:lnTo>
                  <a:lnTo>
                    <a:pt x="7277" y="3196474"/>
                  </a:lnTo>
                  <a:lnTo>
                    <a:pt x="4788" y="3196474"/>
                  </a:lnTo>
                  <a:lnTo>
                    <a:pt x="2489" y="3196474"/>
                  </a:lnTo>
                  <a:lnTo>
                    <a:pt x="0" y="3196474"/>
                  </a:lnTo>
                  <a:lnTo>
                    <a:pt x="0" y="3194125"/>
                  </a:lnTo>
                  <a:lnTo>
                    <a:pt x="0" y="3191776"/>
                  </a:lnTo>
                </a:path>
                <a:path w="10159" h="4244340">
                  <a:moveTo>
                    <a:pt x="0" y="3124858"/>
                  </a:moveTo>
                  <a:lnTo>
                    <a:pt x="0" y="3122967"/>
                  </a:lnTo>
                  <a:lnTo>
                    <a:pt x="2489" y="3120618"/>
                  </a:lnTo>
                  <a:lnTo>
                    <a:pt x="4788" y="3120618"/>
                  </a:lnTo>
                  <a:lnTo>
                    <a:pt x="7277" y="3122967"/>
                  </a:lnTo>
                  <a:lnTo>
                    <a:pt x="9576" y="3124858"/>
                  </a:lnTo>
                  <a:lnTo>
                    <a:pt x="7277" y="3127226"/>
                  </a:lnTo>
                  <a:lnTo>
                    <a:pt x="7277" y="3129575"/>
                  </a:lnTo>
                  <a:lnTo>
                    <a:pt x="4788" y="3129575"/>
                  </a:lnTo>
                  <a:lnTo>
                    <a:pt x="2489" y="3129575"/>
                  </a:lnTo>
                  <a:lnTo>
                    <a:pt x="0" y="3129575"/>
                  </a:lnTo>
                  <a:lnTo>
                    <a:pt x="0" y="3127226"/>
                  </a:lnTo>
                  <a:lnTo>
                    <a:pt x="0" y="3124858"/>
                  </a:lnTo>
                </a:path>
                <a:path w="10159" h="4244340">
                  <a:moveTo>
                    <a:pt x="0" y="3086223"/>
                  </a:moveTo>
                  <a:lnTo>
                    <a:pt x="0" y="3058416"/>
                  </a:lnTo>
                  <a:lnTo>
                    <a:pt x="0" y="3056067"/>
                  </a:lnTo>
                  <a:lnTo>
                    <a:pt x="0" y="3053718"/>
                  </a:lnTo>
                  <a:lnTo>
                    <a:pt x="2489" y="3053718"/>
                  </a:lnTo>
                  <a:lnTo>
                    <a:pt x="4788" y="3053718"/>
                  </a:lnTo>
                  <a:lnTo>
                    <a:pt x="7277" y="3053718"/>
                  </a:lnTo>
                  <a:lnTo>
                    <a:pt x="7277" y="3056067"/>
                  </a:lnTo>
                  <a:lnTo>
                    <a:pt x="9576" y="3058416"/>
                  </a:lnTo>
                  <a:lnTo>
                    <a:pt x="9576" y="3086223"/>
                  </a:lnTo>
                  <a:lnTo>
                    <a:pt x="7277" y="3088113"/>
                  </a:lnTo>
                  <a:lnTo>
                    <a:pt x="7277" y="3090462"/>
                  </a:lnTo>
                  <a:lnTo>
                    <a:pt x="4788" y="3090462"/>
                  </a:lnTo>
                  <a:lnTo>
                    <a:pt x="2489" y="3090462"/>
                  </a:lnTo>
                  <a:lnTo>
                    <a:pt x="0" y="3090462"/>
                  </a:lnTo>
                  <a:lnTo>
                    <a:pt x="0" y="3088113"/>
                  </a:lnTo>
                  <a:lnTo>
                    <a:pt x="0" y="3086223"/>
                  </a:lnTo>
                </a:path>
                <a:path w="10159" h="4244340">
                  <a:moveTo>
                    <a:pt x="0" y="3019323"/>
                  </a:moveTo>
                  <a:lnTo>
                    <a:pt x="0" y="3016955"/>
                  </a:lnTo>
                  <a:lnTo>
                    <a:pt x="2489" y="3014606"/>
                  </a:lnTo>
                  <a:lnTo>
                    <a:pt x="4788" y="3014606"/>
                  </a:lnTo>
                  <a:lnTo>
                    <a:pt x="7277" y="3016955"/>
                  </a:lnTo>
                  <a:lnTo>
                    <a:pt x="9576" y="3019323"/>
                  </a:lnTo>
                  <a:lnTo>
                    <a:pt x="7277" y="3021672"/>
                  </a:lnTo>
                  <a:lnTo>
                    <a:pt x="7277" y="3024021"/>
                  </a:lnTo>
                  <a:lnTo>
                    <a:pt x="4788" y="3024021"/>
                  </a:lnTo>
                  <a:lnTo>
                    <a:pt x="2489" y="3024021"/>
                  </a:lnTo>
                  <a:lnTo>
                    <a:pt x="0" y="3024021"/>
                  </a:lnTo>
                  <a:lnTo>
                    <a:pt x="0" y="3021672"/>
                  </a:lnTo>
                  <a:lnTo>
                    <a:pt x="0" y="3019323"/>
                  </a:lnTo>
                </a:path>
                <a:path w="10159" h="4244340">
                  <a:moveTo>
                    <a:pt x="0" y="2982560"/>
                  </a:moveTo>
                  <a:lnTo>
                    <a:pt x="0" y="2952882"/>
                  </a:lnTo>
                  <a:lnTo>
                    <a:pt x="0" y="2950533"/>
                  </a:lnTo>
                  <a:lnTo>
                    <a:pt x="2489" y="2948165"/>
                  </a:lnTo>
                  <a:lnTo>
                    <a:pt x="4788" y="2948165"/>
                  </a:lnTo>
                  <a:lnTo>
                    <a:pt x="7277" y="2950533"/>
                  </a:lnTo>
                  <a:lnTo>
                    <a:pt x="9576" y="2952882"/>
                  </a:lnTo>
                  <a:lnTo>
                    <a:pt x="9576" y="2982560"/>
                  </a:lnTo>
                  <a:lnTo>
                    <a:pt x="7277" y="2982560"/>
                  </a:lnTo>
                  <a:lnTo>
                    <a:pt x="7277" y="2984928"/>
                  </a:lnTo>
                  <a:lnTo>
                    <a:pt x="4788" y="2984928"/>
                  </a:lnTo>
                  <a:lnTo>
                    <a:pt x="4788" y="2987277"/>
                  </a:lnTo>
                  <a:lnTo>
                    <a:pt x="2489" y="2984928"/>
                  </a:lnTo>
                  <a:lnTo>
                    <a:pt x="0" y="2984928"/>
                  </a:lnTo>
                  <a:lnTo>
                    <a:pt x="0" y="2982560"/>
                  </a:lnTo>
                </a:path>
                <a:path w="10159" h="4244340">
                  <a:moveTo>
                    <a:pt x="0" y="2913770"/>
                  </a:moveTo>
                  <a:lnTo>
                    <a:pt x="0" y="2911421"/>
                  </a:lnTo>
                  <a:lnTo>
                    <a:pt x="2489" y="2909052"/>
                  </a:lnTo>
                  <a:lnTo>
                    <a:pt x="4788" y="2909052"/>
                  </a:lnTo>
                  <a:lnTo>
                    <a:pt x="7277" y="2911421"/>
                  </a:lnTo>
                  <a:lnTo>
                    <a:pt x="7277" y="2913770"/>
                  </a:lnTo>
                  <a:lnTo>
                    <a:pt x="9576" y="2913770"/>
                  </a:lnTo>
                  <a:lnTo>
                    <a:pt x="7277" y="2916138"/>
                  </a:lnTo>
                  <a:lnTo>
                    <a:pt x="7277" y="2918487"/>
                  </a:lnTo>
                  <a:lnTo>
                    <a:pt x="4788" y="2918487"/>
                  </a:lnTo>
                  <a:lnTo>
                    <a:pt x="2489" y="2918487"/>
                  </a:lnTo>
                  <a:lnTo>
                    <a:pt x="0" y="2918487"/>
                  </a:lnTo>
                  <a:lnTo>
                    <a:pt x="0" y="2916138"/>
                  </a:lnTo>
                  <a:lnTo>
                    <a:pt x="0" y="2913770"/>
                  </a:lnTo>
                </a:path>
                <a:path w="10159" h="4244340">
                  <a:moveTo>
                    <a:pt x="0" y="2877025"/>
                  </a:moveTo>
                  <a:lnTo>
                    <a:pt x="0" y="2846870"/>
                  </a:lnTo>
                  <a:lnTo>
                    <a:pt x="0" y="2844502"/>
                  </a:lnTo>
                  <a:lnTo>
                    <a:pt x="2489" y="2842630"/>
                  </a:lnTo>
                  <a:lnTo>
                    <a:pt x="4788" y="2842630"/>
                  </a:lnTo>
                  <a:lnTo>
                    <a:pt x="7277" y="2844502"/>
                  </a:lnTo>
                  <a:lnTo>
                    <a:pt x="9576" y="2846870"/>
                  </a:lnTo>
                  <a:lnTo>
                    <a:pt x="9576" y="2877025"/>
                  </a:lnTo>
                  <a:lnTo>
                    <a:pt x="7277" y="2879374"/>
                  </a:lnTo>
                  <a:lnTo>
                    <a:pt x="4788" y="2881265"/>
                  </a:lnTo>
                  <a:lnTo>
                    <a:pt x="2489" y="2881265"/>
                  </a:lnTo>
                  <a:lnTo>
                    <a:pt x="0" y="2879374"/>
                  </a:lnTo>
                  <a:lnTo>
                    <a:pt x="0" y="2877025"/>
                  </a:lnTo>
                </a:path>
                <a:path w="10159" h="4244340">
                  <a:moveTo>
                    <a:pt x="0" y="2810107"/>
                  </a:moveTo>
                  <a:lnTo>
                    <a:pt x="0" y="2807758"/>
                  </a:lnTo>
                  <a:lnTo>
                    <a:pt x="0" y="2805867"/>
                  </a:lnTo>
                  <a:lnTo>
                    <a:pt x="2489" y="2805867"/>
                  </a:lnTo>
                  <a:lnTo>
                    <a:pt x="4788" y="2803518"/>
                  </a:lnTo>
                  <a:lnTo>
                    <a:pt x="4788" y="2805867"/>
                  </a:lnTo>
                  <a:lnTo>
                    <a:pt x="7277" y="2805867"/>
                  </a:lnTo>
                  <a:lnTo>
                    <a:pt x="7277" y="2807758"/>
                  </a:lnTo>
                  <a:lnTo>
                    <a:pt x="9576" y="2810107"/>
                  </a:lnTo>
                  <a:lnTo>
                    <a:pt x="7277" y="2810107"/>
                  </a:lnTo>
                  <a:lnTo>
                    <a:pt x="7277" y="2812475"/>
                  </a:lnTo>
                  <a:lnTo>
                    <a:pt x="4788" y="2812475"/>
                  </a:lnTo>
                  <a:lnTo>
                    <a:pt x="4788" y="2814824"/>
                  </a:lnTo>
                  <a:lnTo>
                    <a:pt x="2489" y="2812475"/>
                  </a:lnTo>
                  <a:lnTo>
                    <a:pt x="0" y="2812475"/>
                  </a:lnTo>
                  <a:lnTo>
                    <a:pt x="0" y="2810107"/>
                  </a:lnTo>
                </a:path>
                <a:path w="10159" h="4244340">
                  <a:moveTo>
                    <a:pt x="0" y="2771014"/>
                  </a:moveTo>
                  <a:lnTo>
                    <a:pt x="0" y="2741316"/>
                  </a:lnTo>
                  <a:lnTo>
                    <a:pt x="0" y="2738967"/>
                  </a:lnTo>
                  <a:lnTo>
                    <a:pt x="2489" y="2736618"/>
                  </a:lnTo>
                  <a:lnTo>
                    <a:pt x="4788" y="2736618"/>
                  </a:lnTo>
                  <a:lnTo>
                    <a:pt x="7277" y="2738967"/>
                  </a:lnTo>
                  <a:lnTo>
                    <a:pt x="7277" y="2741316"/>
                  </a:lnTo>
                  <a:lnTo>
                    <a:pt x="9576" y="2741316"/>
                  </a:lnTo>
                  <a:lnTo>
                    <a:pt x="9576" y="2771014"/>
                  </a:lnTo>
                  <a:lnTo>
                    <a:pt x="7277" y="2773363"/>
                  </a:lnTo>
                  <a:lnTo>
                    <a:pt x="4788" y="2775712"/>
                  </a:lnTo>
                  <a:lnTo>
                    <a:pt x="2489" y="2775712"/>
                  </a:lnTo>
                  <a:lnTo>
                    <a:pt x="0" y="2773363"/>
                  </a:lnTo>
                  <a:lnTo>
                    <a:pt x="0" y="2771014"/>
                  </a:lnTo>
                </a:path>
                <a:path w="10159" h="4244340">
                  <a:moveTo>
                    <a:pt x="0" y="2704572"/>
                  </a:moveTo>
                  <a:lnTo>
                    <a:pt x="0" y="2702204"/>
                  </a:lnTo>
                  <a:lnTo>
                    <a:pt x="0" y="2699855"/>
                  </a:lnTo>
                  <a:lnTo>
                    <a:pt x="2489" y="2699855"/>
                  </a:lnTo>
                  <a:lnTo>
                    <a:pt x="4788" y="2699855"/>
                  </a:lnTo>
                  <a:lnTo>
                    <a:pt x="7277" y="2699855"/>
                  </a:lnTo>
                  <a:lnTo>
                    <a:pt x="7277" y="2702204"/>
                  </a:lnTo>
                  <a:lnTo>
                    <a:pt x="9576" y="2704572"/>
                  </a:lnTo>
                  <a:lnTo>
                    <a:pt x="7277" y="2706921"/>
                  </a:lnTo>
                  <a:lnTo>
                    <a:pt x="4788" y="2709289"/>
                  </a:lnTo>
                  <a:lnTo>
                    <a:pt x="2489" y="2709289"/>
                  </a:lnTo>
                  <a:lnTo>
                    <a:pt x="0" y="2706921"/>
                  </a:lnTo>
                  <a:lnTo>
                    <a:pt x="0" y="2704572"/>
                  </a:lnTo>
                </a:path>
                <a:path w="10159" h="4244340">
                  <a:moveTo>
                    <a:pt x="0" y="2665460"/>
                  </a:moveTo>
                  <a:lnTo>
                    <a:pt x="0" y="2638131"/>
                  </a:lnTo>
                  <a:lnTo>
                    <a:pt x="0" y="2635782"/>
                  </a:lnTo>
                  <a:lnTo>
                    <a:pt x="0" y="2633414"/>
                  </a:lnTo>
                  <a:lnTo>
                    <a:pt x="2489" y="2633414"/>
                  </a:lnTo>
                  <a:lnTo>
                    <a:pt x="4788" y="2631065"/>
                  </a:lnTo>
                  <a:lnTo>
                    <a:pt x="4788" y="2633414"/>
                  </a:lnTo>
                  <a:lnTo>
                    <a:pt x="7277" y="2633414"/>
                  </a:lnTo>
                  <a:lnTo>
                    <a:pt x="7277" y="2635782"/>
                  </a:lnTo>
                  <a:lnTo>
                    <a:pt x="9576" y="2638131"/>
                  </a:lnTo>
                  <a:lnTo>
                    <a:pt x="9576" y="2665460"/>
                  </a:lnTo>
                  <a:lnTo>
                    <a:pt x="7277" y="2667809"/>
                  </a:lnTo>
                  <a:lnTo>
                    <a:pt x="7277" y="2670177"/>
                  </a:lnTo>
                  <a:lnTo>
                    <a:pt x="4788" y="2670177"/>
                  </a:lnTo>
                  <a:lnTo>
                    <a:pt x="2489" y="2670177"/>
                  </a:lnTo>
                  <a:lnTo>
                    <a:pt x="0" y="2670177"/>
                  </a:lnTo>
                  <a:lnTo>
                    <a:pt x="0" y="2667809"/>
                  </a:lnTo>
                  <a:lnTo>
                    <a:pt x="0" y="2665460"/>
                  </a:lnTo>
                </a:path>
                <a:path w="10159" h="4244340">
                  <a:moveTo>
                    <a:pt x="0" y="2599019"/>
                  </a:moveTo>
                  <a:lnTo>
                    <a:pt x="0" y="2596670"/>
                  </a:lnTo>
                  <a:lnTo>
                    <a:pt x="0" y="2594321"/>
                  </a:lnTo>
                  <a:lnTo>
                    <a:pt x="2489" y="2594321"/>
                  </a:lnTo>
                  <a:lnTo>
                    <a:pt x="4788" y="2594321"/>
                  </a:lnTo>
                  <a:lnTo>
                    <a:pt x="7277" y="2594321"/>
                  </a:lnTo>
                  <a:lnTo>
                    <a:pt x="7277" y="2596670"/>
                  </a:lnTo>
                  <a:lnTo>
                    <a:pt x="9576" y="2599019"/>
                  </a:lnTo>
                  <a:lnTo>
                    <a:pt x="7277" y="2600909"/>
                  </a:lnTo>
                  <a:lnTo>
                    <a:pt x="4788" y="2603258"/>
                  </a:lnTo>
                  <a:lnTo>
                    <a:pt x="2489" y="2603258"/>
                  </a:lnTo>
                  <a:lnTo>
                    <a:pt x="0" y="2600909"/>
                  </a:lnTo>
                  <a:lnTo>
                    <a:pt x="0" y="2599019"/>
                  </a:lnTo>
                </a:path>
                <a:path w="10159" h="4244340">
                  <a:moveTo>
                    <a:pt x="0" y="2559926"/>
                  </a:moveTo>
                  <a:lnTo>
                    <a:pt x="0" y="2532119"/>
                  </a:lnTo>
                  <a:lnTo>
                    <a:pt x="0" y="2529770"/>
                  </a:lnTo>
                  <a:lnTo>
                    <a:pt x="0" y="2527402"/>
                  </a:lnTo>
                  <a:lnTo>
                    <a:pt x="2489" y="2527402"/>
                  </a:lnTo>
                  <a:lnTo>
                    <a:pt x="4788" y="2527402"/>
                  </a:lnTo>
                  <a:lnTo>
                    <a:pt x="7277" y="2527402"/>
                  </a:lnTo>
                  <a:lnTo>
                    <a:pt x="7277" y="2529770"/>
                  </a:lnTo>
                  <a:lnTo>
                    <a:pt x="9576" y="2532119"/>
                  </a:lnTo>
                  <a:lnTo>
                    <a:pt x="9576" y="2559926"/>
                  </a:lnTo>
                  <a:lnTo>
                    <a:pt x="7277" y="2562275"/>
                  </a:lnTo>
                  <a:lnTo>
                    <a:pt x="7277" y="2564165"/>
                  </a:lnTo>
                  <a:lnTo>
                    <a:pt x="4788" y="2564165"/>
                  </a:lnTo>
                  <a:lnTo>
                    <a:pt x="2489" y="2564165"/>
                  </a:lnTo>
                  <a:lnTo>
                    <a:pt x="0" y="2564165"/>
                  </a:lnTo>
                  <a:lnTo>
                    <a:pt x="0" y="2562275"/>
                  </a:lnTo>
                  <a:lnTo>
                    <a:pt x="0" y="2559926"/>
                  </a:lnTo>
                </a:path>
                <a:path w="10159" h="4244340">
                  <a:moveTo>
                    <a:pt x="0" y="2493007"/>
                  </a:moveTo>
                  <a:lnTo>
                    <a:pt x="0" y="2490658"/>
                  </a:lnTo>
                  <a:lnTo>
                    <a:pt x="2489" y="2488290"/>
                  </a:lnTo>
                  <a:lnTo>
                    <a:pt x="4788" y="2488290"/>
                  </a:lnTo>
                  <a:lnTo>
                    <a:pt x="7277" y="2490658"/>
                  </a:lnTo>
                  <a:lnTo>
                    <a:pt x="9576" y="2493007"/>
                  </a:lnTo>
                  <a:lnTo>
                    <a:pt x="7277" y="2495375"/>
                  </a:lnTo>
                  <a:lnTo>
                    <a:pt x="7277" y="2497724"/>
                  </a:lnTo>
                  <a:lnTo>
                    <a:pt x="4788" y="2497724"/>
                  </a:lnTo>
                  <a:lnTo>
                    <a:pt x="2489" y="2497724"/>
                  </a:lnTo>
                  <a:lnTo>
                    <a:pt x="0" y="2497724"/>
                  </a:lnTo>
                  <a:lnTo>
                    <a:pt x="0" y="2495375"/>
                  </a:lnTo>
                  <a:lnTo>
                    <a:pt x="0" y="2493007"/>
                  </a:lnTo>
                </a:path>
                <a:path w="10159" h="4244340">
                  <a:moveTo>
                    <a:pt x="0" y="2453895"/>
                  </a:moveTo>
                  <a:lnTo>
                    <a:pt x="0" y="2426566"/>
                  </a:lnTo>
                  <a:lnTo>
                    <a:pt x="0" y="2424217"/>
                  </a:lnTo>
                  <a:lnTo>
                    <a:pt x="0" y="2421868"/>
                  </a:lnTo>
                  <a:lnTo>
                    <a:pt x="2489" y="2421868"/>
                  </a:lnTo>
                  <a:lnTo>
                    <a:pt x="4788" y="2421868"/>
                  </a:lnTo>
                  <a:lnTo>
                    <a:pt x="7277" y="2421868"/>
                  </a:lnTo>
                  <a:lnTo>
                    <a:pt x="7277" y="2424217"/>
                  </a:lnTo>
                  <a:lnTo>
                    <a:pt x="9576" y="2426566"/>
                  </a:lnTo>
                  <a:lnTo>
                    <a:pt x="9576" y="2453895"/>
                  </a:lnTo>
                  <a:lnTo>
                    <a:pt x="7277" y="2456263"/>
                  </a:lnTo>
                  <a:lnTo>
                    <a:pt x="7277" y="2458612"/>
                  </a:lnTo>
                  <a:lnTo>
                    <a:pt x="4788" y="2458612"/>
                  </a:lnTo>
                  <a:lnTo>
                    <a:pt x="2489" y="2458612"/>
                  </a:lnTo>
                  <a:lnTo>
                    <a:pt x="0" y="2458612"/>
                  </a:lnTo>
                  <a:lnTo>
                    <a:pt x="0" y="2456263"/>
                  </a:lnTo>
                  <a:lnTo>
                    <a:pt x="0" y="2453895"/>
                  </a:lnTo>
                </a:path>
                <a:path w="10159" h="4244340">
                  <a:moveTo>
                    <a:pt x="0" y="2387472"/>
                  </a:moveTo>
                  <a:lnTo>
                    <a:pt x="0" y="2385104"/>
                  </a:lnTo>
                  <a:lnTo>
                    <a:pt x="2489" y="2382755"/>
                  </a:lnTo>
                  <a:lnTo>
                    <a:pt x="4788" y="2382755"/>
                  </a:lnTo>
                  <a:lnTo>
                    <a:pt x="7277" y="2385104"/>
                  </a:lnTo>
                  <a:lnTo>
                    <a:pt x="9576" y="2387472"/>
                  </a:lnTo>
                  <a:lnTo>
                    <a:pt x="7277" y="2389821"/>
                  </a:lnTo>
                  <a:lnTo>
                    <a:pt x="7277" y="2392171"/>
                  </a:lnTo>
                  <a:lnTo>
                    <a:pt x="4788" y="2392171"/>
                  </a:lnTo>
                  <a:lnTo>
                    <a:pt x="2489" y="2392171"/>
                  </a:lnTo>
                  <a:lnTo>
                    <a:pt x="0" y="2392171"/>
                  </a:lnTo>
                  <a:lnTo>
                    <a:pt x="0" y="2389821"/>
                  </a:lnTo>
                  <a:lnTo>
                    <a:pt x="0" y="2387472"/>
                  </a:lnTo>
                </a:path>
                <a:path w="10159" h="4244340">
                  <a:moveTo>
                    <a:pt x="0" y="2350709"/>
                  </a:moveTo>
                  <a:lnTo>
                    <a:pt x="0" y="2320573"/>
                  </a:lnTo>
                  <a:lnTo>
                    <a:pt x="0" y="2318663"/>
                  </a:lnTo>
                  <a:lnTo>
                    <a:pt x="2489" y="2316371"/>
                  </a:lnTo>
                  <a:lnTo>
                    <a:pt x="4788" y="2316371"/>
                  </a:lnTo>
                  <a:lnTo>
                    <a:pt x="7277" y="2318663"/>
                  </a:lnTo>
                  <a:lnTo>
                    <a:pt x="9576" y="2320573"/>
                  </a:lnTo>
                  <a:lnTo>
                    <a:pt x="9576" y="2350709"/>
                  </a:lnTo>
                  <a:lnTo>
                    <a:pt x="7277" y="2350709"/>
                  </a:lnTo>
                  <a:lnTo>
                    <a:pt x="7277" y="2353077"/>
                  </a:lnTo>
                  <a:lnTo>
                    <a:pt x="4788" y="2353077"/>
                  </a:lnTo>
                  <a:lnTo>
                    <a:pt x="4788" y="2355426"/>
                  </a:lnTo>
                  <a:lnTo>
                    <a:pt x="2489" y="2353077"/>
                  </a:lnTo>
                  <a:lnTo>
                    <a:pt x="0" y="2353077"/>
                  </a:lnTo>
                  <a:lnTo>
                    <a:pt x="0" y="2350709"/>
                  </a:lnTo>
                </a:path>
                <a:path w="10159" h="4244340">
                  <a:moveTo>
                    <a:pt x="0" y="2281995"/>
                  </a:moveTo>
                  <a:lnTo>
                    <a:pt x="0" y="2279513"/>
                  </a:lnTo>
                  <a:lnTo>
                    <a:pt x="2489" y="2277221"/>
                  </a:lnTo>
                  <a:lnTo>
                    <a:pt x="4788" y="2277221"/>
                  </a:lnTo>
                  <a:lnTo>
                    <a:pt x="7277" y="2279513"/>
                  </a:lnTo>
                  <a:lnTo>
                    <a:pt x="9576" y="2281995"/>
                  </a:lnTo>
                  <a:lnTo>
                    <a:pt x="7277" y="2283714"/>
                  </a:lnTo>
                  <a:lnTo>
                    <a:pt x="7277" y="2286197"/>
                  </a:lnTo>
                  <a:lnTo>
                    <a:pt x="4788" y="2286197"/>
                  </a:lnTo>
                  <a:lnTo>
                    <a:pt x="2489" y="2286197"/>
                  </a:lnTo>
                  <a:lnTo>
                    <a:pt x="0" y="2286197"/>
                  </a:lnTo>
                  <a:lnTo>
                    <a:pt x="0" y="2283714"/>
                  </a:lnTo>
                  <a:lnTo>
                    <a:pt x="0" y="2281995"/>
                  </a:lnTo>
                </a:path>
                <a:path w="10159" h="4244340">
                  <a:moveTo>
                    <a:pt x="0" y="2245137"/>
                  </a:moveTo>
                  <a:lnTo>
                    <a:pt x="0" y="2214962"/>
                  </a:lnTo>
                  <a:lnTo>
                    <a:pt x="0" y="2212670"/>
                  </a:lnTo>
                  <a:lnTo>
                    <a:pt x="2489" y="2210379"/>
                  </a:lnTo>
                  <a:lnTo>
                    <a:pt x="4788" y="2210379"/>
                  </a:lnTo>
                  <a:lnTo>
                    <a:pt x="7277" y="2212670"/>
                  </a:lnTo>
                  <a:lnTo>
                    <a:pt x="9576" y="2214962"/>
                  </a:lnTo>
                  <a:lnTo>
                    <a:pt x="9576" y="2245137"/>
                  </a:lnTo>
                  <a:lnTo>
                    <a:pt x="7277" y="2245137"/>
                  </a:lnTo>
                  <a:lnTo>
                    <a:pt x="7277" y="2247046"/>
                  </a:lnTo>
                  <a:lnTo>
                    <a:pt x="4788" y="2249338"/>
                  </a:lnTo>
                  <a:lnTo>
                    <a:pt x="2489" y="2249338"/>
                  </a:lnTo>
                  <a:lnTo>
                    <a:pt x="0" y="2247046"/>
                  </a:lnTo>
                  <a:lnTo>
                    <a:pt x="0" y="2245137"/>
                  </a:lnTo>
                </a:path>
                <a:path w="10159" h="4244340">
                  <a:moveTo>
                    <a:pt x="0" y="2178294"/>
                  </a:moveTo>
                  <a:lnTo>
                    <a:pt x="0" y="2175812"/>
                  </a:lnTo>
                  <a:lnTo>
                    <a:pt x="0" y="2173520"/>
                  </a:lnTo>
                  <a:lnTo>
                    <a:pt x="2489" y="2173520"/>
                  </a:lnTo>
                  <a:lnTo>
                    <a:pt x="4788" y="2171228"/>
                  </a:lnTo>
                  <a:lnTo>
                    <a:pt x="4788" y="2173520"/>
                  </a:lnTo>
                  <a:lnTo>
                    <a:pt x="7277" y="2173520"/>
                  </a:lnTo>
                  <a:lnTo>
                    <a:pt x="7277" y="2175812"/>
                  </a:lnTo>
                  <a:lnTo>
                    <a:pt x="9576" y="2178294"/>
                  </a:lnTo>
                  <a:lnTo>
                    <a:pt x="7277" y="2178294"/>
                  </a:lnTo>
                  <a:lnTo>
                    <a:pt x="7277" y="2180586"/>
                  </a:lnTo>
                  <a:lnTo>
                    <a:pt x="4788" y="2180586"/>
                  </a:lnTo>
                  <a:lnTo>
                    <a:pt x="4788" y="2183069"/>
                  </a:lnTo>
                  <a:lnTo>
                    <a:pt x="2489" y="2180586"/>
                  </a:lnTo>
                  <a:lnTo>
                    <a:pt x="0" y="2180586"/>
                  </a:lnTo>
                  <a:lnTo>
                    <a:pt x="0" y="2178294"/>
                  </a:lnTo>
                </a:path>
                <a:path w="10159" h="4244340">
                  <a:moveTo>
                    <a:pt x="0" y="2139144"/>
                  </a:moveTo>
                  <a:lnTo>
                    <a:pt x="0" y="2109542"/>
                  </a:lnTo>
                  <a:lnTo>
                    <a:pt x="0" y="2107060"/>
                  </a:lnTo>
                  <a:lnTo>
                    <a:pt x="2489" y="2104768"/>
                  </a:lnTo>
                  <a:lnTo>
                    <a:pt x="4788" y="2104768"/>
                  </a:lnTo>
                  <a:lnTo>
                    <a:pt x="7277" y="2107060"/>
                  </a:lnTo>
                  <a:lnTo>
                    <a:pt x="9576" y="2109542"/>
                  </a:lnTo>
                  <a:lnTo>
                    <a:pt x="9576" y="2139144"/>
                  </a:lnTo>
                  <a:lnTo>
                    <a:pt x="7277" y="2141436"/>
                  </a:lnTo>
                  <a:lnTo>
                    <a:pt x="4788" y="2143918"/>
                  </a:lnTo>
                  <a:lnTo>
                    <a:pt x="2489" y="2143918"/>
                  </a:lnTo>
                  <a:lnTo>
                    <a:pt x="0" y="2141436"/>
                  </a:lnTo>
                  <a:lnTo>
                    <a:pt x="0" y="2139144"/>
                  </a:lnTo>
                </a:path>
                <a:path w="10159" h="4244340">
                  <a:moveTo>
                    <a:pt x="0" y="2072683"/>
                  </a:moveTo>
                  <a:lnTo>
                    <a:pt x="0" y="2070392"/>
                  </a:lnTo>
                  <a:lnTo>
                    <a:pt x="0" y="2068100"/>
                  </a:lnTo>
                  <a:lnTo>
                    <a:pt x="2489" y="2068100"/>
                  </a:lnTo>
                  <a:lnTo>
                    <a:pt x="4788" y="2068100"/>
                  </a:lnTo>
                  <a:lnTo>
                    <a:pt x="7277" y="2068100"/>
                  </a:lnTo>
                  <a:lnTo>
                    <a:pt x="7277" y="2070392"/>
                  </a:lnTo>
                  <a:lnTo>
                    <a:pt x="9576" y="2072683"/>
                  </a:lnTo>
                  <a:lnTo>
                    <a:pt x="7277" y="2072683"/>
                  </a:lnTo>
                  <a:lnTo>
                    <a:pt x="7277" y="2075166"/>
                  </a:lnTo>
                  <a:lnTo>
                    <a:pt x="4788" y="2076885"/>
                  </a:lnTo>
                  <a:lnTo>
                    <a:pt x="2489" y="2076885"/>
                  </a:lnTo>
                  <a:lnTo>
                    <a:pt x="0" y="2075166"/>
                  </a:lnTo>
                  <a:lnTo>
                    <a:pt x="0" y="2072683"/>
                  </a:lnTo>
                </a:path>
                <a:path w="10159" h="4244340">
                  <a:moveTo>
                    <a:pt x="0" y="2033533"/>
                  </a:moveTo>
                  <a:lnTo>
                    <a:pt x="0" y="2005841"/>
                  </a:lnTo>
                  <a:lnTo>
                    <a:pt x="0" y="2003549"/>
                  </a:lnTo>
                  <a:lnTo>
                    <a:pt x="0" y="2001640"/>
                  </a:lnTo>
                  <a:lnTo>
                    <a:pt x="2489" y="2001640"/>
                  </a:lnTo>
                  <a:lnTo>
                    <a:pt x="4788" y="1999157"/>
                  </a:lnTo>
                  <a:lnTo>
                    <a:pt x="4788" y="2001640"/>
                  </a:lnTo>
                  <a:lnTo>
                    <a:pt x="7277" y="2001640"/>
                  </a:lnTo>
                  <a:lnTo>
                    <a:pt x="7277" y="2003549"/>
                  </a:lnTo>
                  <a:lnTo>
                    <a:pt x="9576" y="2005841"/>
                  </a:lnTo>
                  <a:lnTo>
                    <a:pt x="9576" y="2033533"/>
                  </a:lnTo>
                  <a:lnTo>
                    <a:pt x="7277" y="2036016"/>
                  </a:lnTo>
                  <a:lnTo>
                    <a:pt x="4788" y="2038307"/>
                  </a:lnTo>
                  <a:lnTo>
                    <a:pt x="2489" y="2038307"/>
                  </a:lnTo>
                  <a:lnTo>
                    <a:pt x="0" y="2036016"/>
                  </a:lnTo>
                  <a:lnTo>
                    <a:pt x="0" y="2033533"/>
                  </a:lnTo>
                </a:path>
                <a:path w="10159" h="4244340">
                  <a:moveTo>
                    <a:pt x="0" y="1966691"/>
                  </a:moveTo>
                  <a:lnTo>
                    <a:pt x="0" y="1964399"/>
                  </a:lnTo>
                  <a:lnTo>
                    <a:pt x="0" y="1962489"/>
                  </a:lnTo>
                  <a:lnTo>
                    <a:pt x="2489" y="1962489"/>
                  </a:lnTo>
                  <a:lnTo>
                    <a:pt x="4788" y="1962489"/>
                  </a:lnTo>
                  <a:lnTo>
                    <a:pt x="7277" y="1962489"/>
                  </a:lnTo>
                  <a:lnTo>
                    <a:pt x="7277" y="1964399"/>
                  </a:lnTo>
                  <a:lnTo>
                    <a:pt x="9576" y="1966691"/>
                  </a:lnTo>
                  <a:lnTo>
                    <a:pt x="7277" y="1968982"/>
                  </a:lnTo>
                  <a:lnTo>
                    <a:pt x="4788" y="1971465"/>
                  </a:lnTo>
                  <a:lnTo>
                    <a:pt x="2489" y="1971465"/>
                  </a:lnTo>
                  <a:lnTo>
                    <a:pt x="0" y="1968982"/>
                  </a:lnTo>
                  <a:lnTo>
                    <a:pt x="0" y="1966691"/>
                  </a:lnTo>
                </a:path>
                <a:path w="10159" h="4244340">
                  <a:moveTo>
                    <a:pt x="0" y="1927540"/>
                  </a:moveTo>
                  <a:lnTo>
                    <a:pt x="0" y="1900230"/>
                  </a:lnTo>
                  <a:lnTo>
                    <a:pt x="0" y="1897939"/>
                  </a:lnTo>
                  <a:lnTo>
                    <a:pt x="0" y="1895647"/>
                  </a:lnTo>
                  <a:lnTo>
                    <a:pt x="2489" y="1895647"/>
                  </a:lnTo>
                  <a:lnTo>
                    <a:pt x="4788" y="1895647"/>
                  </a:lnTo>
                  <a:lnTo>
                    <a:pt x="7277" y="1895647"/>
                  </a:lnTo>
                  <a:lnTo>
                    <a:pt x="7277" y="1897939"/>
                  </a:lnTo>
                  <a:lnTo>
                    <a:pt x="9576" y="1900230"/>
                  </a:lnTo>
                  <a:lnTo>
                    <a:pt x="9576" y="1927540"/>
                  </a:lnTo>
                  <a:lnTo>
                    <a:pt x="7277" y="1930023"/>
                  </a:lnTo>
                  <a:lnTo>
                    <a:pt x="7277" y="1932315"/>
                  </a:lnTo>
                  <a:lnTo>
                    <a:pt x="4788" y="1932315"/>
                  </a:lnTo>
                  <a:lnTo>
                    <a:pt x="2489" y="1932315"/>
                  </a:lnTo>
                  <a:lnTo>
                    <a:pt x="0" y="1932315"/>
                  </a:lnTo>
                  <a:lnTo>
                    <a:pt x="0" y="1930023"/>
                  </a:lnTo>
                  <a:lnTo>
                    <a:pt x="0" y="1927540"/>
                  </a:lnTo>
                </a:path>
                <a:path w="10159" h="4244340">
                  <a:moveTo>
                    <a:pt x="0" y="1861080"/>
                  </a:moveTo>
                  <a:lnTo>
                    <a:pt x="0" y="1858788"/>
                  </a:lnTo>
                  <a:lnTo>
                    <a:pt x="0" y="1856496"/>
                  </a:lnTo>
                  <a:lnTo>
                    <a:pt x="2489" y="1856496"/>
                  </a:lnTo>
                  <a:lnTo>
                    <a:pt x="4788" y="1856496"/>
                  </a:lnTo>
                  <a:lnTo>
                    <a:pt x="7277" y="1856496"/>
                  </a:lnTo>
                  <a:lnTo>
                    <a:pt x="7277" y="1858788"/>
                  </a:lnTo>
                  <a:lnTo>
                    <a:pt x="9576" y="1861080"/>
                  </a:lnTo>
                  <a:lnTo>
                    <a:pt x="7277" y="1863563"/>
                  </a:lnTo>
                  <a:lnTo>
                    <a:pt x="4788" y="1865854"/>
                  </a:lnTo>
                  <a:lnTo>
                    <a:pt x="2489" y="1865854"/>
                  </a:lnTo>
                  <a:lnTo>
                    <a:pt x="0" y="1863563"/>
                  </a:lnTo>
                  <a:lnTo>
                    <a:pt x="0" y="1861080"/>
                  </a:lnTo>
                </a:path>
                <a:path w="10159" h="4244340">
                  <a:moveTo>
                    <a:pt x="0" y="1822120"/>
                  </a:moveTo>
                  <a:lnTo>
                    <a:pt x="0" y="1794811"/>
                  </a:lnTo>
                  <a:lnTo>
                    <a:pt x="0" y="1792328"/>
                  </a:lnTo>
                  <a:lnTo>
                    <a:pt x="0" y="1790036"/>
                  </a:lnTo>
                  <a:lnTo>
                    <a:pt x="2489" y="1790036"/>
                  </a:lnTo>
                  <a:lnTo>
                    <a:pt x="4788" y="1790036"/>
                  </a:lnTo>
                  <a:lnTo>
                    <a:pt x="7277" y="1790036"/>
                  </a:lnTo>
                  <a:lnTo>
                    <a:pt x="7277" y="1792328"/>
                  </a:lnTo>
                  <a:lnTo>
                    <a:pt x="9576" y="1794811"/>
                  </a:lnTo>
                  <a:lnTo>
                    <a:pt x="9576" y="1822120"/>
                  </a:lnTo>
                  <a:lnTo>
                    <a:pt x="7277" y="1824412"/>
                  </a:lnTo>
                  <a:lnTo>
                    <a:pt x="7277" y="1826704"/>
                  </a:lnTo>
                  <a:lnTo>
                    <a:pt x="4788" y="1826704"/>
                  </a:lnTo>
                  <a:lnTo>
                    <a:pt x="2489" y="1826704"/>
                  </a:lnTo>
                  <a:lnTo>
                    <a:pt x="0" y="1826704"/>
                  </a:lnTo>
                  <a:lnTo>
                    <a:pt x="0" y="1824412"/>
                  </a:lnTo>
                  <a:lnTo>
                    <a:pt x="0" y="1822120"/>
                  </a:lnTo>
                </a:path>
                <a:path w="10159" h="4244340">
                  <a:moveTo>
                    <a:pt x="0" y="1755660"/>
                  </a:moveTo>
                  <a:lnTo>
                    <a:pt x="0" y="1753177"/>
                  </a:lnTo>
                  <a:lnTo>
                    <a:pt x="2489" y="1750886"/>
                  </a:lnTo>
                  <a:lnTo>
                    <a:pt x="4788" y="1750886"/>
                  </a:lnTo>
                  <a:lnTo>
                    <a:pt x="7277" y="1753177"/>
                  </a:lnTo>
                  <a:lnTo>
                    <a:pt x="9576" y="1755660"/>
                  </a:lnTo>
                  <a:lnTo>
                    <a:pt x="7277" y="1757952"/>
                  </a:lnTo>
                  <a:lnTo>
                    <a:pt x="7277" y="1759862"/>
                  </a:lnTo>
                  <a:lnTo>
                    <a:pt x="4788" y="1759862"/>
                  </a:lnTo>
                  <a:lnTo>
                    <a:pt x="2489" y="1759862"/>
                  </a:lnTo>
                  <a:lnTo>
                    <a:pt x="0" y="1759862"/>
                  </a:lnTo>
                  <a:lnTo>
                    <a:pt x="0" y="1757952"/>
                  </a:lnTo>
                  <a:lnTo>
                    <a:pt x="0" y="1755660"/>
                  </a:lnTo>
                </a:path>
                <a:path w="10159" h="4244340">
                  <a:moveTo>
                    <a:pt x="0" y="1718801"/>
                  </a:moveTo>
                  <a:lnTo>
                    <a:pt x="0" y="1688627"/>
                  </a:lnTo>
                  <a:lnTo>
                    <a:pt x="0" y="1686335"/>
                  </a:lnTo>
                  <a:lnTo>
                    <a:pt x="0" y="1684043"/>
                  </a:lnTo>
                  <a:lnTo>
                    <a:pt x="2489" y="1684043"/>
                  </a:lnTo>
                  <a:lnTo>
                    <a:pt x="4788" y="1684043"/>
                  </a:lnTo>
                  <a:lnTo>
                    <a:pt x="7277" y="1684043"/>
                  </a:lnTo>
                  <a:lnTo>
                    <a:pt x="7277" y="1686335"/>
                  </a:lnTo>
                  <a:lnTo>
                    <a:pt x="9576" y="1688627"/>
                  </a:lnTo>
                  <a:lnTo>
                    <a:pt x="9576" y="1718801"/>
                  </a:lnTo>
                  <a:lnTo>
                    <a:pt x="7277" y="1718801"/>
                  </a:lnTo>
                  <a:lnTo>
                    <a:pt x="7277" y="1721284"/>
                  </a:lnTo>
                  <a:lnTo>
                    <a:pt x="4788" y="1721284"/>
                  </a:lnTo>
                  <a:lnTo>
                    <a:pt x="4788" y="1723194"/>
                  </a:lnTo>
                  <a:lnTo>
                    <a:pt x="2489" y="1721284"/>
                  </a:lnTo>
                  <a:lnTo>
                    <a:pt x="0" y="1721284"/>
                  </a:lnTo>
                  <a:lnTo>
                    <a:pt x="0" y="1718801"/>
                  </a:lnTo>
                </a:path>
                <a:path w="10159" h="4244340">
                  <a:moveTo>
                    <a:pt x="0" y="1649667"/>
                  </a:moveTo>
                  <a:lnTo>
                    <a:pt x="0" y="1647185"/>
                  </a:lnTo>
                  <a:lnTo>
                    <a:pt x="2489" y="1645275"/>
                  </a:lnTo>
                  <a:lnTo>
                    <a:pt x="4788" y="1645275"/>
                  </a:lnTo>
                  <a:lnTo>
                    <a:pt x="7277" y="1647185"/>
                  </a:lnTo>
                  <a:lnTo>
                    <a:pt x="9576" y="1649667"/>
                  </a:lnTo>
                  <a:lnTo>
                    <a:pt x="7277" y="1651959"/>
                  </a:lnTo>
                  <a:lnTo>
                    <a:pt x="7277" y="1654251"/>
                  </a:lnTo>
                  <a:lnTo>
                    <a:pt x="4788" y="1654251"/>
                  </a:lnTo>
                  <a:lnTo>
                    <a:pt x="2489" y="1654251"/>
                  </a:lnTo>
                  <a:lnTo>
                    <a:pt x="0" y="1654251"/>
                  </a:lnTo>
                  <a:lnTo>
                    <a:pt x="0" y="1651959"/>
                  </a:lnTo>
                  <a:lnTo>
                    <a:pt x="0" y="1649667"/>
                  </a:lnTo>
                </a:path>
                <a:path w="10159" h="4244340">
                  <a:moveTo>
                    <a:pt x="0" y="1612809"/>
                  </a:moveTo>
                  <a:lnTo>
                    <a:pt x="0" y="1583207"/>
                  </a:lnTo>
                  <a:lnTo>
                    <a:pt x="0" y="1580724"/>
                  </a:lnTo>
                  <a:lnTo>
                    <a:pt x="2489" y="1578432"/>
                  </a:lnTo>
                  <a:lnTo>
                    <a:pt x="4788" y="1578432"/>
                  </a:lnTo>
                  <a:lnTo>
                    <a:pt x="7277" y="1580724"/>
                  </a:lnTo>
                  <a:lnTo>
                    <a:pt x="9576" y="1583207"/>
                  </a:lnTo>
                  <a:lnTo>
                    <a:pt x="9576" y="1612809"/>
                  </a:lnTo>
                  <a:lnTo>
                    <a:pt x="7277" y="1612809"/>
                  </a:lnTo>
                  <a:lnTo>
                    <a:pt x="7277" y="1615291"/>
                  </a:lnTo>
                  <a:lnTo>
                    <a:pt x="4788" y="1617583"/>
                  </a:lnTo>
                  <a:lnTo>
                    <a:pt x="2489" y="1617583"/>
                  </a:lnTo>
                  <a:lnTo>
                    <a:pt x="0" y="1615291"/>
                  </a:lnTo>
                  <a:lnTo>
                    <a:pt x="0" y="1612809"/>
                  </a:lnTo>
                </a:path>
                <a:path w="10159" h="4244340">
                  <a:moveTo>
                    <a:pt x="0" y="1546348"/>
                  </a:moveTo>
                  <a:lnTo>
                    <a:pt x="0" y="1544056"/>
                  </a:lnTo>
                  <a:lnTo>
                    <a:pt x="0" y="1541765"/>
                  </a:lnTo>
                  <a:lnTo>
                    <a:pt x="2489" y="1541765"/>
                  </a:lnTo>
                  <a:lnTo>
                    <a:pt x="4788" y="1539282"/>
                  </a:lnTo>
                  <a:lnTo>
                    <a:pt x="4788" y="1541765"/>
                  </a:lnTo>
                  <a:lnTo>
                    <a:pt x="7277" y="1541765"/>
                  </a:lnTo>
                  <a:lnTo>
                    <a:pt x="7277" y="1544056"/>
                  </a:lnTo>
                  <a:lnTo>
                    <a:pt x="9576" y="1546348"/>
                  </a:lnTo>
                  <a:lnTo>
                    <a:pt x="7277" y="1546348"/>
                  </a:lnTo>
                  <a:lnTo>
                    <a:pt x="7277" y="1548831"/>
                  </a:lnTo>
                  <a:lnTo>
                    <a:pt x="4788" y="1548831"/>
                  </a:lnTo>
                  <a:lnTo>
                    <a:pt x="4788" y="1551123"/>
                  </a:lnTo>
                  <a:lnTo>
                    <a:pt x="2489" y="1548831"/>
                  </a:lnTo>
                  <a:lnTo>
                    <a:pt x="0" y="1548831"/>
                  </a:lnTo>
                  <a:lnTo>
                    <a:pt x="0" y="1546348"/>
                  </a:lnTo>
                </a:path>
                <a:path w="10159" h="4244340">
                  <a:moveTo>
                    <a:pt x="0" y="1507389"/>
                  </a:moveTo>
                  <a:lnTo>
                    <a:pt x="0" y="1477596"/>
                  </a:lnTo>
                  <a:lnTo>
                    <a:pt x="0" y="1475304"/>
                  </a:lnTo>
                  <a:lnTo>
                    <a:pt x="2489" y="1472822"/>
                  </a:lnTo>
                  <a:lnTo>
                    <a:pt x="4788" y="1472822"/>
                  </a:lnTo>
                  <a:lnTo>
                    <a:pt x="7277" y="1475304"/>
                  </a:lnTo>
                  <a:lnTo>
                    <a:pt x="9576" y="1477596"/>
                  </a:lnTo>
                  <a:lnTo>
                    <a:pt x="9576" y="1507389"/>
                  </a:lnTo>
                  <a:lnTo>
                    <a:pt x="7277" y="1509680"/>
                  </a:lnTo>
                  <a:lnTo>
                    <a:pt x="4788" y="1511972"/>
                  </a:lnTo>
                  <a:lnTo>
                    <a:pt x="2489" y="1511972"/>
                  </a:lnTo>
                  <a:lnTo>
                    <a:pt x="0" y="1509680"/>
                  </a:lnTo>
                  <a:lnTo>
                    <a:pt x="0" y="1507389"/>
                  </a:lnTo>
                </a:path>
                <a:path w="10159" h="4244340">
                  <a:moveTo>
                    <a:pt x="0" y="1440928"/>
                  </a:moveTo>
                  <a:lnTo>
                    <a:pt x="0" y="1438446"/>
                  </a:lnTo>
                  <a:lnTo>
                    <a:pt x="0" y="1436154"/>
                  </a:lnTo>
                  <a:lnTo>
                    <a:pt x="2489" y="1436154"/>
                  </a:lnTo>
                  <a:lnTo>
                    <a:pt x="4788" y="1436154"/>
                  </a:lnTo>
                  <a:lnTo>
                    <a:pt x="7277" y="1436154"/>
                  </a:lnTo>
                  <a:lnTo>
                    <a:pt x="7277" y="1438446"/>
                  </a:lnTo>
                  <a:lnTo>
                    <a:pt x="9576" y="1440928"/>
                  </a:lnTo>
                  <a:lnTo>
                    <a:pt x="7277" y="1440928"/>
                  </a:lnTo>
                  <a:lnTo>
                    <a:pt x="7277" y="1442838"/>
                  </a:lnTo>
                  <a:lnTo>
                    <a:pt x="4788" y="1445130"/>
                  </a:lnTo>
                  <a:lnTo>
                    <a:pt x="2489" y="1445130"/>
                  </a:lnTo>
                  <a:lnTo>
                    <a:pt x="0" y="1442838"/>
                  </a:lnTo>
                  <a:lnTo>
                    <a:pt x="0" y="1440928"/>
                  </a:lnTo>
                </a:path>
                <a:path w="10159" h="4244340">
                  <a:moveTo>
                    <a:pt x="0" y="1401778"/>
                  </a:moveTo>
                  <a:lnTo>
                    <a:pt x="0" y="1373895"/>
                  </a:lnTo>
                  <a:lnTo>
                    <a:pt x="0" y="1371603"/>
                  </a:lnTo>
                  <a:lnTo>
                    <a:pt x="0" y="1369312"/>
                  </a:lnTo>
                  <a:lnTo>
                    <a:pt x="2489" y="1369312"/>
                  </a:lnTo>
                  <a:lnTo>
                    <a:pt x="4788" y="1366829"/>
                  </a:lnTo>
                  <a:lnTo>
                    <a:pt x="4788" y="1369312"/>
                  </a:lnTo>
                  <a:lnTo>
                    <a:pt x="7277" y="1369312"/>
                  </a:lnTo>
                  <a:lnTo>
                    <a:pt x="7277" y="1371603"/>
                  </a:lnTo>
                  <a:lnTo>
                    <a:pt x="9576" y="1373895"/>
                  </a:lnTo>
                  <a:lnTo>
                    <a:pt x="9576" y="1401778"/>
                  </a:lnTo>
                  <a:lnTo>
                    <a:pt x="7277" y="1403688"/>
                  </a:lnTo>
                  <a:lnTo>
                    <a:pt x="4788" y="1405979"/>
                  </a:lnTo>
                  <a:lnTo>
                    <a:pt x="2489" y="1405979"/>
                  </a:lnTo>
                  <a:lnTo>
                    <a:pt x="0" y="1403688"/>
                  </a:lnTo>
                  <a:lnTo>
                    <a:pt x="0" y="1401778"/>
                  </a:lnTo>
                </a:path>
                <a:path w="10159" h="4244340">
                  <a:moveTo>
                    <a:pt x="0" y="1334936"/>
                  </a:moveTo>
                  <a:lnTo>
                    <a:pt x="0" y="1332453"/>
                  </a:lnTo>
                  <a:lnTo>
                    <a:pt x="0" y="1330161"/>
                  </a:lnTo>
                  <a:lnTo>
                    <a:pt x="2489" y="1330161"/>
                  </a:lnTo>
                  <a:lnTo>
                    <a:pt x="4788" y="1330161"/>
                  </a:lnTo>
                  <a:lnTo>
                    <a:pt x="7277" y="1330161"/>
                  </a:lnTo>
                  <a:lnTo>
                    <a:pt x="7277" y="1332453"/>
                  </a:lnTo>
                  <a:lnTo>
                    <a:pt x="9576" y="1334936"/>
                  </a:lnTo>
                  <a:lnTo>
                    <a:pt x="7277" y="1337227"/>
                  </a:lnTo>
                  <a:lnTo>
                    <a:pt x="4788" y="1339519"/>
                  </a:lnTo>
                  <a:lnTo>
                    <a:pt x="2489" y="1339519"/>
                  </a:lnTo>
                  <a:lnTo>
                    <a:pt x="0" y="1337227"/>
                  </a:lnTo>
                  <a:lnTo>
                    <a:pt x="0" y="1334936"/>
                  </a:lnTo>
                </a:path>
                <a:path w="10159" h="4244340">
                  <a:moveTo>
                    <a:pt x="0" y="1295785"/>
                  </a:moveTo>
                  <a:lnTo>
                    <a:pt x="0" y="1268475"/>
                  </a:lnTo>
                  <a:lnTo>
                    <a:pt x="0" y="1265992"/>
                  </a:lnTo>
                  <a:lnTo>
                    <a:pt x="0" y="1263701"/>
                  </a:lnTo>
                  <a:lnTo>
                    <a:pt x="2489" y="1263701"/>
                  </a:lnTo>
                  <a:lnTo>
                    <a:pt x="4788" y="1263701"/>
                  </a:lnTo>
                  <a:lnTo>
                    <a:pt x="7277" y="1263701"/>
                  </a:lnTo>
                  <a:lnTo>
                    <a:pt x="7277" y="1265992"/>
                  </a:lnTo>
                  <a:lnTo>
                    <a:pt x="9576" y="1268475"/>
                  </a:lnTo>
                  <a:lnTo>
                    <a:pt x="9576" y="1295785"/>
                  </a:lnTo>
                  <a:lnTo>
                    <a:pt x="7277" y="1298077"/>
                  </a:lnTo>
                  <a:lnTo>
                    <a:pt x="7277" y="1300369"/>
                  </a:lnTo>
                  <a:lnTo>
                    <a:pt x="4788" y="1300369"/>
                  </a:lnTo>
                  <a:lnTo>
                    <a:pt x="2489" y="1300369"/>
                  </a:lnTo>
                  <a:lnTo>
                    <a:pt x="0" y="1300369"/>
                  </a:lnTo>
                  <a:lnTo>
                    <a:pt x="0" y="1298077"/>
                  </a:lnTo>
                  <a:lnTo>
                    <a:pt x="0" y="1295785"/>
                  </a:lnTo>
                </a:path>
                <a:path w="10159" h="4244340">
                  <a:moveTo>
                    <a:pt x="0" y="1229325"/>
                  </a:moveTo>
                  <a:lnTo>
                    <a:pt x="0" y="1227033"/>
                  </a:lnTo>
                  <a:lnTo>
                    <a:pt x="0" y="1224550"/>
                  </a:lnTo>
                  <a:lnTo>
                    <a:pt x="2489" y="1224550"/>
                  </a:lnTo>
                  <a:lnTo>
                    <a:pt x="4788" y="1224550"/>
                  </a:lnTo>
                  <a:lnTo>
                    <a:pt x="7277" y="1224550"/>
                  </a:lnTo>
                  <a:lnTo>
                    <a:pt x="7277" y="1227033"/>
                  </a:lnTo>
                  <a:lnTo>
                    <a:pt x="9576" y="1229325"/>
                  </a:lnTo>
                  <a:lnTo>
                    <a:pt x="7277" y="1231616"/>
                  </a:lnTo>
                  <a:lnTo>
                    <a:pt x="4788" y="1234099"/>
                  </a:lnTo>
                  <a:lnTo>
                    <a:pt x="2489" y="1234099"/>
                  </a:lnTo>
                  <a:lnTo>
                    <a:pt x="0" y="1231616"/>
                  </a:lnTo>
                  <a:lnTo>
                    <a:pt x="0" y="1229325"/>
                  </a:lnTo>
                </a:path>
                <a:path w="10159" h="4244340">
                  <a:moveTo>
                    <a:pt x="0" y="1190174"/>
                  </a:moveTo>
                  <a:lnTo>
                    <a:pt x="0" y="1162482"/>
                  </a:lnTo>
                  <a:lnTo>
                    <a:pt x="0" y="1160000"/>
                  </a:lnTo>
                  <a:lnTo>
                    <a:pt x="0" y="1158090"/>
                  </a:lnTo>
                  <a:lnTo>
                    <a:pt x="2489" y="1158090"/>
                  </a:lnTo>
                  <a:lnTo>
                    <a:pt x="4788" y="1158090"/>
                  </a:lnTo>
                  <a:lnTo>
                    <a:pt x="7277" y="1158090"/>
                  </a:lnTo>
                  <a:lnTo>
                    <a:pt x="7277" y="1160000"/>
                  </a:lnTo>
                  <a:lnTo>
                    <a:pt x="9576" y="1162482"/>
                  </a:lnTo>
                  <a:lnTo>
                    <a:pt x="9576" y="1190174"/>
                  </a:lnTo>
                  <a:lnTo>
                    <a:pt x="7277" y="1192466"/>
                  </a:lnTo>
                  <a:lnTo>
                    <a:pt x="7277" y="1194949"/>
                  </a:lnTo>
                  <a:lnTo>
                    <a:pt x="4788" y="1194949"/>
                  </a:lnTo>
                  <a:lnTo>
                    <a:pt x="2489" y="1194949"/>
                  </a:lnTo>
                  <a:lnTo>
                    <a:pt x="0" y="1194949"/>
                  </a:lnTo>
                  <a:lnTo>
                    <a:pt x="0" y="1192466"/>
                  </a:lnTo>
                  <a:lnTo>
                    <a:pt x="0" y="1190174"/>
                  </a:lnTo>
                </a:path>
                <a:path w="10159" h="4244340">
                  <a:moveTo>
                    <a:pt x="0" y="1123332"/>
                  </a:moveTo>
                  <a:lnTo>
                    <a:pt x="0" y="1121422"/>
                  </a:lnTo>
                  <a:lnTo>
                    <a:pt x="2489" y="1119130"/>
                  </a:lnTo>
                  <a:lnTo>
                    <a:pt x="4788" y="1119130"/>
                  </a:lnTo>
                  <a:lnTo>
                    <a:pt x="7277" y="1121422"/>
                  </a:lnTo>
                  <a:lnTo>
                    <a:pt x="9576" y="1123332"/>
                  </a:lnTo>
                  <a:lnTo>
                    <a:pt x="7277" y="1125624"/>
                  </a:lnTo>
                  <a:lnTo>
                    <a:pt x="7277" y="1127915"/>
                  </a:lnTo>
                  <a:lnTo>
                    <a:pt x="4788" y="1127915"/>
                  </a:lnTo>
                  <a:lnTo>
                    <a:pt x="2489" y="1127915"/>
                  </a:lnTo>
                  <a:lnTo>
                    <a:pt x="0" y="1127915"/>
                  </a:lnTo>
                  <a:lnTo>
                    <a:pt x="0" y="1125624"/>
                  </a:lnTo>
                  <a:lnTo>
                    <a:pt x="0" y="1123332"/>
                  </a:lnTo>
                </a:path>
                <a:path w="10159" h="4244340">
                  <a:moveTo>
                    <a:pt x="0" y="1084563"/>
                  </a:moveTo>
                  <a:lnTo>
                    <a:pt x="0" y="1056872"/>
                  </a:lnTo>
                  <a:lnTo>
                    <a:pt x="0" y="1054580"/>
                  </a:lnTo>
                  <a:lnTo>
                    <a:pt x="0" y="1052097"/>
                  </a:lnTo>
                  <a:lnTo>
                    <a:pt x="2489" y="1052097"/>
                  </a:lnTo>
                  <a:lnTo>
                    <a:pt x="4788" y="1052097"/>
                  </a:lnTo>
                  <a:lnTo>
                    <a:pt x="7277" y="1052097"/>
                  </a:lnTo>
                  <a:lnTo>
                    <a:pt x="7277" y="1054580"/>
                  </a:lnTo>
                  <a:lnTo>
                    <a:pt x="9576" y="1056872"/>
                  </a:lnTo>
                  <a:lnTo>
                    <a:pt x="9576" y="1084563"/>
                  </a:lnTo>
                  <a:lnTo>
                    <a:pt x="7277" y="1086473"/>
                  </a:lnTo>
                  <a:lnTo>
                    <a:pt x="7277" y="1088956"/>
                  </a:lnTo>
                  <a:lnTo>
                    <a:pt x="4788" y="1088956"/>
                  </a:lnTo>
                  <a:lnTo>
                    <a:pt x="4788" y="1091248"/>
                  </a:lnTo>
                  <a:lnTo>
                    <a:pt x="2489" y="1088956"/>
                  </a:lnTo>
                  <a:lnTo>
                    <a:pt x="0" y="1088956"/>
                  </a:lnTo>
                  <a:lnTo>
                    <a:pt x="0" y="1086473"/>
                  </a:lnTo>
                  <a:lnTo>
                    <a:pt x="0" y="1084563"/>
                  </a:lnTo>
                </a:path>
                <a:path w="10159" h="4244340">
                  <a:moveTo>
                    <a:pt x="0" y="1017721"/>
                  </a:moveTo>
                  <a:lnTo>
                    <a:pt x="0" y="1015429"/>
                  </a:lnTo>
                  <a:lnTo>
                    <a:pt x="2489" y="1012947"/>
                  </a:lnTo>
                  <a:lnTo>
                    <a:pt x="4788" y="1012947"/>
                  </a:lnTo>
                  <a:lnTo>
                    <a:pt x="7277" y="1015429"/>
                  </a:lnTo>
                  <a:lnTo>
                    <a:pt x="9576" y="1017721"/>
                  </a:lnTo>
                  <a:lnTo>
                    <a:pt x="7277" y="1020013"/>
                  </a:lnTo>
                  <a:lnTo>
                    <a:pt x="7277" y="1022496"/>
                  </a:lnTo>
                  <a:lnTo>
                    <a:pt x="4788" y="1022496"/>
                  </a:lnTo>
                  <a:lnTo>
                    <a:pt x="2489" y="1022496"/>
                  </a:lnTo>
                  <a:lnTo>
                    <a:pt x="0" y="1022496"/>
                  </a:lnTo>
                  <a:lnTo>
                    <a:pt x="0" y="1020013"/>
                  </a:lnTo>
                  <a:lnTo>
                    <a:pt x="0" y="1017721"/>
                  </a:lnTo>
                </a:path>
                <a:path w="10159" h="4244340">
                  <a:moveTo>
                    <a:pt x="0" y="981053"/>
                  </a:moveTo>
                  <a:lnTo>
                    <a:pt x="0" y="951261"/>
                  </a:lnTo>
                  <a:lnTo>
                    <a:pt x="0" y="948969"/>
                  </a:lnTo>
                  <a:lnTo>
                    <a:pt x="2489" y="946677"/>
                  </a:lnTo>
                  <a:lnTo>
                    <a:pt x="4788" y="946677"/>
                  </a:lnTo>
                  <a:lnTo>
                    <a:pt x="7277" y="948969"/>
                  </a:lnTo>
                  <a:lnTo>
                    <a:pt x="9576" y="951261"/>
                  </a:lnTo>
                  <a:lnTo>
                    <a:pt x="9576" y="981053"/>
                  </a:lnTo>
                  <a:lnTo>
                    <a:pt x="7277" y="981053"/>
                  </a:lnTo>
                  <a:lnTo>
                    <a:pt x="7277" y="983345"/>
                  </a:lnTo>
                  <a:lnTo>
                    <a:pt x="4788" y="983345"/>
                  </a:lnTo>
                  <a:lnTo>
                    <a:pt x="4788" y="985637"/>
                  </a:lnTo>
                  <a:lnTo>
                    <a:pt x="2489" y="983345"/>
                  </a:lnTo>
                  <a:lnTo>
                    <a:pt x="0" y="983345"/>
                  </a:lnTo>
                  <a:lnTo>
                    <a:pt x="0" y="981053"/>
                  </a:lnTo>
                </a:path>
                <a:path w="10159" h="4244340">
                  <a:moveTo>
                    <a:pt x="0" y="912110"/>
                  </a:moveTo>
                  <a:lnTo>
                    <a:pt x="0" y="909819"/>
                  </a:lnTo>
                  <a:lnTo>
                    <a:pt x="2489" y="909819"/>
                  </a:lnTo>
                  <a:lnTo>
                    <a:pt x="4788" y="907527"/>
                  </a:lnTo>
                  <a:lnTo>
                    <a:pt x="4788" y="909819"/>
                  </a:lnTo>
                  <a:lnTo>
                    <a:pt x="7277" y="909819"/>
                  </a:lnTo>
                  <a:lnTo>
                    <a:pt x="7277" y="912110"/>
                  </a:lnTo>
                  <a:lnTo>
                    <a:pt x="9576" y="912110"/>
                  </a:lnTo>
                  <a:lnTo>
                    <a:pt x="7277" y="914593"/>
                  </a:lnTo>
                  <a:lnTo>
                    <a:pt x="7277" y="916885"/>
                  </a:lnTo>
                  <a:lnTo>
                    <a:pt x="4788" y="916885"/>
                  </a:lnTo>
                  <a:lnTo>
                    <a:pt x="4788" y="918795"/>
                  </a:lnTo>
                  <a:lnTo>
                    <a:pt x="2489" y="916885"/>
                  </a:lnTo>
                  <a:lnTo>
                    <a:pt x="0" y="916885"/>
                  </a:lnTo>
                  <a:lnTo>
                    <a:pt x="0" y="914593"/>
                  </a:lnTo>
                  <a:lnTo>
                    <a:pt x="0" y="912110"/>
                  </a:lnTo>
                </a:path>
                <a:path w="10159" h="4244340">
                  <a:moveTo>
                    <a:pt x="0" y="875443"/>
                  </a:moveTo>
                  <a:lnTo>
                    <a:pt x="0" y="845268"/>
                  </a:lnTo>
                  <a:lnTo>
                    <a:pt x="0" y="842976"/>
                  </a:lnTo>
                  <a:lnTo>
                    <a:pt x="2489" y="841067"/>
                  </a:lnTo>
                  <a:lnTo>
                    <a:pt x="4788" y="841067"/>
                  </a:lnTo>
                  <a:lnTo>
                    <a:pt x="7277" y="842976"/>
                  </a:lnTo>
                  <a:lnTo>
                    <a:pt x="9576" y="845268"/>
                  </a:lnTo>
                  <a:lnTo>
                    <a:pt x="9576" y="875443"/>
                  </a:lnTo>
                  <a:lnTo>
                    <a:pt x="7277" y="877734"/>
                  </a:lnTo>
                  <a:lnTo>
                    <a:pt x="4788" y="879644"/>
                  </a:lnTo>
                  <a:lnTo>
                    <a:pt x="2489" y="879644"/>
                  </a:lnTo>
                  <a:lnTo>
                    <a:pt x="0" y="877734"/>
                  </a:lnTo>
                  <a:lnTo>
                    <a:pt x="0" y="875443"/>
                  </a:lnTo>
                </a:path>
                <a:path w="10159" h="4244340">
                  <a:moveTo>
                    <a:pt x="0" y="808600"/>
                  </a:moveTo>
                  <a:lnTo>
                    <a:pt x="0" y="806118"/>
                  </a:lnTo>
                  <a:lnTo>
                    <a:pt x="0" y="804208"/>
                  </a:lnTo>
                  <a:lnTo>
                    <a:pt x="2489" y="804208"/>
                  </a:lnTo>
                  <a:lnTo>
                    <a:pt x="4788" y="804208"/>
                  </a:lnTo>
                  <a:lnTo>
                    <a:pt x="7277" y="804208"/>
                  </a:lnTo>
                  <a:lnTo>
                    <a:pt x="7277" y="806118"/>
                  </a:lnTo>
                  <a:lnTo>
                    <a:pt x="9576" y="808600"/>
                  </a:lnTo>
                  <a:lnTo>
                    <a:pt x="7277" y="808600"/>
                  </a:lnTo>
                  <a:lnTo>
                    <a:pt x="7277" y="810892"/>
                  </a:lnTo>
                  <a:lnTo>
                    <a:pt x="4788" y="810892"/>
                  </a:lnTo>
                  <a:lnTo>
                    <a:pt x="4788" y="813184"/>
                  </a:lnTo>
                  <a:lnTo>
                    <a:pt x="2489" y="810892"/>
                  </a:lnTo>
                  <a:lnTo>
                    <a:pt x="0" y="810892"/>
                  </a:lnTo>
                  <a:lnTo>
                    <a:pt x="0" y="808600"/>
                  </a:lnTo>
                </a:path>
                <a:path w="10159" h="4244340">
                  <a:moveTo>
                    <a:pt x="0" y="769450"/>
                  </a:moveTo>
                  <a:lnTo>
                    <a:pt x="0" y="739657"/>
                  </a:lnTo>
                  <a:lnTo>
                    <a:pt x="0" y="737365"/>
                  </a:lnTo>
                  <a:lnTo>
                    <a:pt x="2489" y="737365"/>
                  </a:lnTo>
                  <a:lnTo>
                    <a:pt x="4788" y="735074"/>
                  </a:lnTo>
                  <a:lnTo>
                    <a:pt x="4788" y="737365"/>
                  </a:lnTo>
                  <a:lnTo>
                    <a:pt x="7277" y="737365"/>
                  </a:lnTo>
                  <a:lnTo>
                    <a:pt x="7277" y="739657"/>
                  </a:lnTo>
                  <a:lnTo>
                    <a:pt x="9576" y="739657"/>
                  </a:lnTo>
                  <a:lnTo>
                    <a:pt x="9576" y="769450"/>
                  </a:lnTo>
                  <a:lnTo>
                    <a:pt x="7277" y="771741"/>
                  </a:lnTo>
                  <a:lnTo>
                    <a:pt x="4788" y="774224"/>
                  </a:lnTo>
                  <a:lnTo>
                    <a:pt x="2489" y="774224"/>
                  </a:lnTo>
                  <a:lnTo>
                    <a:pt x="0" y="771741"/>
                  </a:lnTo>
                  <a:lnTo>
                    <a:pt x="0" y="769450"/>
                  </a:lnTo>
                </a:path>
                <a:path w="10159" h="4244340">
                  <a:moveTo>
                    <a:pt x="0" y="702989"/>
                  </a:moveTo>
                  <a:lnTo>
                    <a:pt x="0" y="700698"/>
                  </a:lnTo>
                  <a:lnTo>
                    <a:pt x="0" y="698215"/>
                  </a:lnTo>
                  <a:lnTo>
                    <a:pt x="2489" y="698215"/>
                  </a:lnTo>
                  <a:lnTo>
                    <a:pt x="4788" y="698215"/>
                  </a:lnTo>
                  <a:lnTo>
                    <a:pt x="7277" y="698215"/>
                  </a:lnTo>
                  <a:lnTo>
                    <a:pt x="7277" y="700698"/>
                  </a:lnTo>
                  <a:lnTo>
                    <a:pt x="9576" y="702989"/>
                  </a:lnTo>
                  <a:lnTo>
                    <a:pt x="7277" y="705281"/>
                  </a:lnTo>
                  <a:lnTo>
                    <a:pt x="4788" y="707764"/>
                  </a:lnTo>
                  <a:lnTo>
                    <a:pt x="2489" y="707764"/>
                  </a:lnTo>
                  <a:lnTo>
                    <a:pt x="0" y="705281"/>
                  </a:lnTo>
                  <a:lnTo>
                    <a:pt x="0" y="702989"/>
                  </a:lnTo>
                </a:path>
                <a:path w="10159" h="4244340">
                  <a:moveTo>
                    <a:pt x="0" y="663839"/>
                  </a:moveTo>
                  <a:lnTo>
                    <a:pt x="0" y="636147"/>
                  </a:lnTo>
                  <a:lnTo>
                    <a:pt x="0" y="634237"/>
                  </a:lnTo>
                  <a:lnTo>
                    <a:pt x="0" y="631946"/>
                  </a:lnTo>
                  <a:lnTo>
                    <a:pt x="2489" y="631946"/>
                  </a:lnTo>
                  <a:lnTo>
                    <a:pt x="4788" y="631946"/>
                  </a:lnTo>
                  <a:lnTo>
                    <a:pt x="7277" y="631946"/>
                  </a:lnTo>
                  <a:lnTo>
                    <a:pt x="7277" y="634237"/>
                  </a:lnTo>
                  <a:lnTo>
                    <a:pt x="9576" y="636147"/>
                  </a:lnTo>
                  <a:lnTo>
                    <a:pt x="9576" y="663839"/>
                  </a:lnTo>
                  <a:lnTo>
                    <a:pt x="7277" y="666322"/>
                  </a:lnTo>
                  <a:lnTo>
                    <a:pt x="7277" y="668613"/>
                  </a:lnTo>
                  <a:lnTo>
                    <a:pt x="4788" y="668613"/>
                  </a:lnTo>
                  <a:lnTo>
                    <a:pt x="2489" y="668613"/>
                  </a:lnTo>
                  <a:lnTo>
                    <a:pt x="0" y="668613"/>
                  </a:lnTo>
                  <a:lnTo>
                    <a:pt x="0" y="666322"/>
                  </a:lnTo>
                  <a:lnTo>
                    <a:pt x="0" y="663839"/>
                  </a:lnTo>
                </a:path>
                <a:path w="10159" h="4244340">
                  <a:moveTo>
                    <a:pt x="0" y="597379"/>
                  </a:moveTo>
                  <a:lnTo>
                    <a:pt x="0" y="595087"/>
                  </a:lnTo>
                  <a:lnTo>
                    <a:pt x="0" y="592795"/>
                  </a:lnTo>
                  <a:lnTo>
                    <a:pt x="2489" y="592795"/>
                  </a:lnTo>
                  <a:lnTo>
                    <a:pt x="4788" y="592795"/>
                  </a:lnTo>
                  <a:lnTo>
                    <a:pt x="7277" y="592795"/>
                  </a:lnTo>
                  <a:lnTo>
                    <a:pt x="7277" y="595087"/>
                  </a:lnTo>
                  <a:lnTo>
                    <a:pt x="9576" y="597379"/>
                  </a:lnTo>
                  <a:lnTo>
                    <a:pt x="7277" y="599288"/>
                  </a:lnTo>
                  <a:lnTo>
                    <a:pt x="4788" y="601771"/>
                  </a:lnTo>
                  <a:lnTo>
                    <a:pt x="2489" y="601771"/>
                  </a:lnTo>
                  <a:lnTo>
                    <a:pt x="0" y="599288"/>
                  </a:lnTo>
                  <a:lnTo>
                    <a:pt x="0" y="597379"/>
                  </a:lnTo>
                </a:path>
                <a:path w="10159" h="4244340">
                  <a:moveTo>
                    <a:pt x="0" y="558419"/>
                  </a:moveTo>
                  <a:lnTo>
                    <a:pt x="0" y="530536"/>
                  </a:lnTo>
                  <a:lnTo>
                    <a:pt x="0" y="528245"/>
                  </a:lnTo>
                  <a:lnTo>
                    <a:pt x="0" y="525762"/>
                  </a:lnTo>
                  <a:lnTo>
                    <a:pt x="2489" y="525762"/>
                  </a:lnTo>
                  <a:lnTo>
                    <a:pt x="4788" y="525762"/>
                  </a:lnTo>
                  <a:lnTo>
                    <a:pt x="7277" y="525762"/>
                  </a:lnTo>
                  <a:lnTo>
                    <a:pt x="7277" y="528245"/>
                  </a:lnTo>
                  <a:lnTo>
                    <a:pt x="9576" y="530536"/>
                  </a:lnTo>
                  <a:lnTo>
                    <a:pt x="9576" y="558419"/>
                  </a:lnTo>
                  <a:lnTo>
                    <a:pt x="7277" y="560711"/>
                  </a:lnTo>
                  <a:lnTo>
                    <a:pt x="7277" y="562621"/>
                  </a:lnTo>
                  <a:lnTo>
                    <a:pt x="4788" y="562621"/>
                  </a:lnTo>
                  <a:lnTo>
                    <a:pt x="2489" y="562621"/>
                  </a:lnTo>
                  <a:lnTo>
                    <a:pt x="0" y="562621"/>
                  </a:lnTo>
                  <a:lnTo>
                    <a:pt x="0" y="560711"/>
                  </a:lnTo>
                  <a:lnTo>
                    <a:pt x="0" y="558419"/>
                  </a:lnTo>
                </a:path>
                <a:path w="10159" h="4244340">
                  <a:moveTo>
                    <a:pt x="0" y="491386"/>
                  </a:moveTo>
                  <a:lnTo>
                    <a:pt x="0" y="489094"/>
                  </a:lnTo>
                  <a:lnTo>
                    <a:pt x="2489" y="486802"/>
                  </a:lnTo>
                  <a:lnTo>
                    <a:pt x="4788" y="486802"/>
                  </a:lnTo>
                  <a:lnTo>
                    <a:pt x="7277" y="489094"/>
                  </a:lnTo>
                  <a:lnTo>
                    <a:pt x="9576" y="491386"/>
                  </a:lnTo>
                  <a:lnTo>
                    <a:pt x="7277" y="493869"/>
                  </a:lnTo>
                  <a:lnTo>
                    <a:pt x="7277" y="496160"/>
                  </a:lnTo>
                  <a:lnTo>
                    <a:pt x="4788" y="496160"/>
                  </a:lnTo>
                  <a:lnTo>
                    <a:pt x="2489" y="496160"/>
                  </a:lnTo>
                  <a:lnTo>
                    <a:pt x="0" y="496160"/>
                  </a:lnTo>
                  <a:lnTo>
                    <a:pt x="0" y="493869"/>
                  </a:lnTo>
                  <a:lnTo>
                    <a:pt x="0" y="491386"/>
                  </a:lnTo>
                </a:path>
                <a:path w="10159" h="4244340">
                  <a:moveTo>
                    <a:pt x="0" y="452426"/>
                  </a:moveTo>
                  <a:lnTo>
                    <a:pt x="0" y="424925"/>
                  </a:lnTo>
                  <a:lnTo>
                    <a:pt x="0" y="422634"/>
                  </a:lnTo>
                  <a:lnTo>
                    <a:pt x="0" y="420342"/>
                  </a:lnTo>
                  <a:lnTo>
                    <a:pt x="2489" y="420342"/>
                  </a:lnTo>
                  <a:lnTo>
                    <a:pt x="4788" y="420342"/>
                  </a:lnTo>
                  <a:lnTo>
                    <a:pt x="7277" y="420342"/>
                  </a:lnTo>
                  <a:lnTo>
                    <a:pt x="7277" y="422634"/>
                  </a:lnTo>
                  <a:lnTo>
                    <a:pt x="9576" y="424925"/>
                  </a:lnTo>
                  <a:lnTo>
                    <a:pt x="9576" y="452426"/>
                  </a:lnTo>
                  <a:lnTo>
                    <a:pt x="7277" y="454718"/>
                  </a:lnTo>
                  <a:lnTo>
                    <a:pt x="7277" y="457010"/>
                  </a:lnTo>
                  <a:lnTo>
                    <a:pt x="4788" y="457010"/>
                  </a:lnTo>
                  <a:lnTo>
                    <a:pt x="4788" y="459493"/>
                  </a:lnTo>
                  <a:lnTo>
                    <a:pt x="2489" y="457010"/>
                  </a:lnTo>
                  <a:lnTo>
                    <a:pt x="0" y="457010"/>
                  </a:lnTo>
                  <a:lnTo>
                    <a:pt x="0" y="454718"/>
                  </a:lnTo>
                  <a:lnTo>
                    <a:pt x="0" y="452426"/>
                  </a:lnTo>
                </a:path>
                <a:path w="10159" h="4244340">
                  <a:moveTo>
                    <a:pt x="0" y="385966"/>
                  </a:moveTo>
                  <a:lnTo>
                    <a:pt x="0" y="383483"/>
                  </a:lnTo>
                  <a:lnTo>
                    <a:pt x="2489" y="381192"/>
                  </a:lnTo>
                  <a:lnTo>
                    <a:pt x="4788" y="381192"/>
                  </a:lnTo>
                  <a:lnTo>
                    <a:pt x="7277" y="383483"/>
                  </a:lnTo>
                  <a:lnTo>
                    <a:pt x="9576" y="385966"/>
                  </a:lnTo>
                  <a:lnTo>
                    <a:pt x="7277" y="388258"/>
                  </a:lnTo>
                  <a:lnTo>
                    <a:pt x="7277" y="390549"/>
                  </a:lnTo>
                  <a:lnTo>
                    <a:pt x="4788" y="390549"/>
                  </a:lnTo>
                  <a:lnTo>
                    <a:pt x="2489" y="390549"/>
                  </a:lnTo>
                  <a:lnTo>
                    <a:pt x="0" y="390549"/>
                  </a:lnTo>
                  <a:lnTo>
                    <a:pt x="0" y="388258"/>
                  </a:lnTo>
                  <a:lnTo>
                    <a:pt x="0" y="385966"/>
                  </a:lnTo>
                </a:path>
                <a:path w="10159" h="4244340">
                  <a:moveTo>
                    <a:pt x="0" y="349107"/>
                  </a:moveTo>
                  <a:lnTo>
                    <a:pt x="0" y="318933"/>
                  </a:lnTo>
                  <a:lnTo>
                    <a:pt x="0" y="317023"/>
                  </a:lnTo>
                  <a:lnTo>
                    <a:pt x="2489" y="314731"/>
                  </a:lnTo>
                  <a:lnTo>
                    <a:pt x="4788" y="314731"/>
                  </a:lnTo>
                  <a:lnTo>
                    <a:pt x="7277" y="317023"/>
                  </a:lnTo>
                  <a:lnTo>
                    <a:pt x="9576" y="318933"/>
                  </a:lnTo>
                  <a:lnTo>
                    <a:pt x="9576" y="349107"/>
                  </a:lnTo>
                  <a:lnTo>
                    <a:pt x="7277" y="349107"/>
                  </a:lnTo>
                  <a:lnTo>
                    <a:pt x="7277" y="351590"/>
                  </a:lnTo>
                  <a:lnTo>
                    <a:pt x="4788" y="351590"/>
                  </a:lnTo>
                  <a:lnTo>
                    <a:pt x="4788" y="353882"/>
                  </a:lnTo>
                  <a:lnTo>
                    <a:pt x="2489" y="351590"/>
                  </a:lnTo>
                  <a:lnTo>
                    <a:pt x="0" y="351590"/>
                  </a:lnTo>
                  <a:lnTo>
                    <a:pt x="0" y="349107"/>
                  </a:lnTo>
                </a:path>
                <a:path w="10159" h="4244340">
                  <a:moveTo>
                    <a:pt x="0" y="280355"/>
                  </a:moveTo>
                  <a:lnTo>
                    <a:pt x="0" y="278063"/>
                  </a:lnTo>
                  <a:lnTo>
                    <a:pt x="2489" y="275581"/>
                  </a:lnTo>
                  <a:lnTo>
                    <a:pt x="4788" y="275581"/>
                  </a:lnTo>
                  <a:lnTo>
                    <a:pt x="7277" y="278063"/>
                  </a:lnTo>
                  <a:lnTo>
                    <a:pt x="7277" y="280355"/>
                  </a:lnTo>
                  <a:lnTo>
                    <a:pt x="9576" y="280355"/>
                  </a:lnTo>
                  <a:lnTo>
                    <a:pt x="7277" y="282265"/>
                  </a:lnTo>
                  <a:lnTo>
                    <a:pt x="7277" y="284557"/>
                  </a:lnTo>
                  <a:lnTo>
                    <a:pt x="4788" y="284557"/>
                  </a:lnTo>
                  <a:lnTo>
                    <a:pt x="4788" y="287039"/>
                  </a:lnTo>
                  <a:lnTo>
                    <a:pt x="2489" y="284557"/>
                  </a:lnTo>
                  <a:lnTo>
                    <a:pt x="0" y="284557"/>
                  </a:lnTo>
                  <a:lnTo>
                    <a:pt x="0" y="282265"/>
                  </a:lnTo>
                  <a:lnTo>
                    <a:pt x="0" y="280355"/>
                  </a:lnTo>
                </a:path>
                <a:path w="10159" h="4244340">
                  <a:moveTo>
                    <a:pt x="0" y="243114"/>
                  </a:moveTo>
                  <a:lnTo>
                    <a:pt x="0" y="213513"/>
                  </a:lnTo>
                  <a:lnTo>
                    <a:pt x="0" y="211030"/>
                  </a:lnTo>
                  <a:lnTo>
                    <a:pt x="2489" y="208738"/>
                  </a:lnTo>
                  <a:lnTo>
                    <a:pt x="4788" y="208738"/>
                  </a:lnTo>
                  <a:lnTo>
                    <a:pt x="7277" y="211030"/>
                  </a:lnTo>
                  <a:lnTo>
                    <a:pt x="9576" y="213513"/>
                  </a:lnTo>
                  <a:lnTo>
                    <a:pt x="9576" y="243114"/>
                  </a:lnTo>
                  <a:lnTo>
                    <a:pt x="7277" y="245406"/>
                  </a:lnTo>
                  <a:lnTo>
                    <a:pt x="4788" y="247889"/>
                  </a:lnTo>
                  <a:lnTo>
                    <a:pt x="2489" y="247889"/>
                  </a:lnTo>
                  <a:lnTo>
                    <a:pt x="0" y="245406"/>
                  </a:lnTo>
                  <a:lnTo>
                    <a:pt x="0" y="243114"/>
                  </a:lnTo>
                </a:path>
                <a:path w="10159" h="4244340">
                  <a:moveTo>
                    <a:pt x="0" y="176654"/>
                  </a:moveTo>
                  <a:lnTo>
                    <a:pt x="0" y="174362"/>
                  </a:lnTo>
                  <a:lnTo>
                    <a:pt x="0" y="172071"/>
                  </a:lnTo>
                  <a:lnTo>
                    <a:pt x="2489" y="172071"/>
                  </a:lnTo>
                  <a:lnTo>
                    <a:pt x="4788" y="172071"/>
                  </a:lnTo>
                  <a:lnTo>
                    <a:pt x="7277" y="172071"/>
                  </a:lnTo>
                  <a:lnTo>
                    <a:pt x="7277" y="174362"/>
                  </a:lnTo>
                  <a:lnTo>
                    <a:pt x="9576" y="176654"/>
                  </a:lnTo>
                  <a:lnTo>
                    <a:pt x="7277" y="176654"/>
                  </a:lnTo>
                  <a:lnTo>
                    <a:pt x="7277" y="179137"/>
                  </a:lnTo>
                  <a:lnTo>
                    <a:pt x="4788" y="179137"/>
                  </a:lnTo>
                  <a:lnTo>
                    <a:pt x="4788" y="181429"/>
                  </a:lnTo>
                  <a:lnTo>
                    <a:pt x="2489" y="179137"/>
                  </a:lnTo>
                  <a:lnTo>
                    <a:pt x="0" y="179137"/>
                  </a:lnTo>
                  <a:lnTo>
                    <a:pt x="0" y="176654"/>
                  </a:lnTo>
                </a:path>
                <a:path w="10159" h="4244340">
                  <a:moveTo>
                    <a:pt x="0" y="137504"/>
                  </a:moveTo>
                  <a:lnTo>
                    <a:pt x="0" y="107902"/>
                  </a:lnTo>
                  <a:lnTo>
                    <a:pt x="0" y="105610"/>
                  </a:lnTo>
                  <a:lnTo>
                    <a:pt x="2489" y="103128"/>
                  </a:lnTo>
                  <a:lnTo>
                    <a:pt x="4788" y="103128"/>
                  </a:lnTo>
                  <a:lnTo>
                    <a:pt x="7277" y="105610"/>
                  </a:lnTo>
                  <a:lnTo>
                    <a:pt x="7277" y="107902"/>
                  </a:lnTo>
                  <a:lnTo>
                    <a:pt x="9576" y="107902"/>
                  </a:lnTo>
                  <a:lnTo>
                    <a:pt x="9576" y="137504"/>
                  </a:lnTo>
                  <a:lnTo>
                    <a:pt x="7277" y="139986"/>
                  </a:lnTo>
                  <a:lnTo>
                    <a:pt x="4788" y="142278"/>
                  </a:lnTo>
                  <a:lnTo>
                    <a:pt x="2489" y="142278"/>
                  </a:lnTo>
                  <a:lnTo>
                    <a:pt x="0" y="139986"/>
                  </a:lnTo>
                  <a:lnTo>
                    <a:pt x="0" y="137504"/>
                  </a:lnTo>
                </a:path>
                <a:path w="10159" h="4244340">
                  <a:moveTo>
                    <a:pt x="0" y="71234"/>
                  </a:moveTo>
                  <a:lnTo>
                    <a:pt x="0" y="68752"/>
                  </a:lnTo>
                  <a:lnTo>
                    <a:pt x="0" y="66460"/>
                  </a:lnTo>
                  <a:lnTo>
                    <a:pt x="2489" y="66460"/>
                  </a:lnTo>
                  <a:lnTo>
                    <a:pt x="4788" y="66460"/>
                  </a:lnTo>
                  <a:lnTo>
                    <a:pt x="7277" y="66460"/>
                  </a:lnTo>
                  <a:lnTo>
                    <a:pt x="7277" y="68752"/>
                  </a:lnTo>
                  <a:lnTo>
                    <a:pt x="9576" y="71234"/>
                  </a:lnTo>
                  <a:lnTo>
                    <a:pt x="7277" y="73526"/>
                  </a:lnTo>
                  <a:lnTo>
                    <a:pt x="4788" y="75436"/>
                  </a:lnTo>
                  <a:lnTo>
                    <a:pt x="2489" y="75436"/>
                  </a:lnTo>
                  <a:lnTo>
                    <a:pt x="0" y="73526"/>
                  </a:lnTo>
                  <a:lnTo>
                    <a:pt x="0" y="71234"/>
                  </a:lnTo>
                </a:path>
                <a:path w="10159" h="4244340">
                  <a:moveTo>
                    <a:pt x="0" y="32084"/>
                  </a:moveTo>
                  <a:lnTo>
                    <a:pt x="0" y="4201"/>
                  </a:lnTo>
                  <a:lnTo>
                    <a:pt x="0" y="1909"/>
                  </a:lnTo>
                  <a:lnTo>
                    <a:pt x="0" y="0"/>
                  </a:lnTo>
                  <a:lnTo>
                    <a:pt x="2489" y="0"/>
                  </a:lnTo>
                  <a:lnTo>
                    <a:pt x="4788" y="0"/>
                  </a:lnTo>
                  <a:lnTo>
                    <a:pt x="7277" y="0"/>
                  </a:lnTo>
                  <a:lnTo>
                    <a:pt x="7277" y="1909"/>
                  </a:lnTo>
                  <a:lnTo>
                    <a:pt x="9576" y="4201"/>
                  </a:lnTo>
                  <a:lnTo>
                    <a:pt x="9576" y="32084"/>
                  </a:lnTo>
                  <a:lnTo>
                    <a:pt x="7277" y="34376"/>
                  </a:lnTo>
                  <a:lnTo>
                    <a:pt x="7277" y="36667"/>
                  </a:lnTo>
                  <a:lnTo>
                    <a:pt x="4788" y="36667"/>
                  </a:lnTo>
                  <a:lnTo>
                    <a:pt x="2489" y="36667"/>
                  </a:lnTo>
                  <a:lnTo>
                    <a:pt x="0" y="36667"/>
                  </a:lnTo>
                  <a:lnTo>
                    <a:pt x="0" y="34376"/>
                  </a:lnTo>
                  <a:lnTo>
                    <a:pt x="0" y="32084"/>
                  </a:lnTo>
                </a:path>
              </a:pathLst>
            </a:custGeom>
            <a:ln w="3175">
              <a:solidFill>
                <a:srgbClr val="000000"/>
              </a:solidFill>
            </a:ln>
          </p:spPr>
          <p:txBody>
            <a:bodyPr wrap="square" lIns="0" tIns="0" rIns="0" bIns="0" rtlCol="0"/>
            <a:lstStyle/>
            <a:p/>
          </p:txBody>
        </p:sp>
        <p:sp>
          <p:nvSpPr>
            <p:cNvPr id="60" name="object 60" descr=""/>
            <p:cNvSpPr/>
            <p:nvPr/>
          </p:nvSpPr>
          <p:spPr>
            <a:xfrm>
              <a:off x="4597895" y="2301972"/>
              <a:ext cx="311785" cy="0"/>
            </a:xfrm>
            <a:custGeom>
              <a:avLst/>
              <a:gdLst/>
              <a:ahLst/>
              <a:cxnLst/>
              <a:rect l="l" t="t" r="r" b="b"/>
              <a:pathLst>
                <a:path w="311785" h="0">
                  <a:moveTo>
                    <a:pt x="0" y="0"/>
                  </a:moveTo>
                  <a:lnTo>
                    <a:pt x="311223" y="0"/>
                  </a:lnTo>
                </a:path>
              </a:pathLst>
            </a:custGeom>
            <a:ln w="13718">
              <a:solidFill>
                <a:srgbClr val="000000"/>
              </a:solidFill>
            </a:ln>
          </p:spPr>
          <p:txBody>
            <a:bodyPr wrap="square" lIns="0" tIns="0" rIns="0" bIns="0" rtlCol="0"/>
            <a:lstStyle/>
            <a:p/>
          </p:txBody>
        </p:sp>
        <p:sp>
          <p:nvSpPr>
            <p:cNvPr id="61" name="object 61" descr=""/>
            <p:cNvSpPr/>
            <p:nvPr/>
          </p:nvSpPr>
          <p:spPr>
            <a:xfrm>
              <a:off x="5892967" y="3430460"/>
              <a:ext cx="2459355" cy="0"/>
            </a:xfrm>
            <a:custGeom>
              <a:avLst/>
              <a:gdLst/>
              <a:ahLst/>
              <a:cxnLst/>
              <a:rect l="l" t="t" r="r" b="b"/>
              <a:pathLst>
                <a:path w="2459354" h="0">
                  <a:moveTo>
                    <a:pt x="0" y="0"/>
                  </a:moveTo>
                  <a:lnTo>
                    <a:pt x="322714" y="0"/>
                  </a:lnTo>
                </a:path>
                <a:path w="2459354" h="0">
                  <a:moveTo>
                    <a:pt x="2136370" y="0"/>
                  </a:moveTo>
                  <a:lnTo>
                    <a:pt x="2458950" y="0"/>
                  </a:lnTo>
                </a:path>
              </a:pathLst>
            </a:custGeom>
            <a:ln w="13718">
              <a:solidFill>
                <a:srgbClr val="000000"/>
              </a:solidFill>
            </a:ln>
          </p:spPr>
          <p:txBody>
            <a:bodyPr wrap="square" lIns="0" tIns="0" rIns="0" bIns="0" rtlCol="0"/>
            <a:lstStyle/>
            <a:p/>
          </p:txBody>
        </p:sp>
        <p:sp>
          <p:nvSpPr>
            <p:cNvPr id="62" name="object 62" descr=""/>
            <p:cNvSpPr/>
            <p:nvPr/>
          </p:nvSpPr>
          <p:spPr>
            <a:xfrm>
              <a:off x="5570444" y="3014319"/>
              <a:ext cx="322580" cy="772795"/>
            </a:xfrm>
            <a:custGeom>
              <a:avLst/>
              <a:gdLst/>
              <a:ahLst/>
              <a:cxnLst/>
              <a:rect l="l" t="t" r="r" b="b"/>
              <a:pathLst>
                <a:path w="322579" h="772795">
                  <a:moveTo>
                    <a:pt x="322523" y="165959"/>
                  </a:moveTo>
                  <a:lnTo>
                    <a:pt x="322523" y="606927"/>
                  </a:lnTo>
                </a:path>
                <a:path w="322579" h="772795">
                  <a:moveTo>
                    <a:pt x="0" y="0"/>
                  </a:moveTo>
                  <a:lnTo>
                    <a:pt x="322523" y="165959"/>
                  </a:lnTo>
                </a:path>
                <a:path w="322579" h="772795">
                  <a:moveTo>
                    <a:pt x="322523" y="606927"/>
                  </a:moveTo>
                  <a:lnTo>
                    <a:pt x="0" y="772314"/>
                  </a:lnTo>
                </a:path>
                <a:path w="322579" h="772795">
                  <a:moveTo>
                    <a:pt x="0" y="0"/>
                  </a:moveTo>
                  <a:lnTo>
                    <a:pt x="0" y="221152"/>
                  </a:lnTo>
                </a:path>
                <a:path w="322579" h="772795">
                  <a:moveTo>
                    <a:pt x="0" y="551926"/>
                  </a:moveTo>
                  <a:lnTo>
                    <a:pt x="0" y="772314"/>
                  </a:lnTo>
                </a:path>
                <a:path w="322579" h="772795">
                  <a:moveTo>
                    <a:pt x="0" y="221152"/>
                  </a:moveTo>
                  <a:lnTo>
                    <a:pt x="96718" y="386539"/>
                  </a:lnTo>
                </a:path>
                <a:path w="322579" h="772795">
                  <a:moveTo>
                    <a:pt x="96718" y="386539"/>
                  </a:moveTo>
                  <a:lnTo>
                    <a:pt x="0" y="551926"/>
                  </a:lnTo>
                </a:path>
              </a:pathLst>
            </a:custGeom>
            <a:ln w="13738">
              <a:solidFill>
                <a:srgbClr val="000000"/>
              </a:solidFill>
            </a:ln>
          </p:spPr>
          <p:txBody>
            <a:bodyPr wrap="square" lIns="0" tIns="0" rIns="0" bIns="0" rtlCol="0"/>
            <a:lstStyle/>
            <a:p/>
          </p:txBody>
        </p:sp>
      </p:grpSp>
      <p:sp>
        <p:nvSpPr>
          <p:cNvPr id="63" name="object 63" descr=""/>
          <p:cNvSpPr txBox="1"/>
          <p:nvPr/>
        </p:nvSpPr>
        <p:spPr>
          <a:xfrm>
            <a:off x="2414274" y="1352012"/>
            <a:ext cx="1161415" cy="627380"/>
          </a:xfrm>
          <a:prstGeom prst="rect">
            <a:avLst/>
          </a:prstGeom>
        </p:spPr>
        <p:txBody>
          <a:bodyPr wrap="square" lIns="0" tIns="107314" rIns="0" bIns="0" rtlCol="0" vert="horz">
            <a:spAutoFit/>
          </a:bodyPr>
          <a:lstStyle/>
          <a:p>
            <a:pPr marL="12700">
              <a:lnSpc>
                <a:spcPct val="100000"/>
              </a:lnSpc>
              <a:spcBef>
                <a:spcPts val="844"/>
              </a:spcBef>
            </a:pPr>
            <a:r>
              <a:rPr dirty="0" sz="1350" spc="-15" b="1">
                <a:solidFill>
                  <a:srgbClr val="0000FF"/>
                </a:solidFill>
                <a:latin typeface="宋体"/>
                <a:cs typeface="宋体"/>
              </a:rPr>
              <a:t>时钟周期</a:t>
            </a:r>
            <a:endParaRPr sz="1350">
              <a:latin typeface="宋体"/>
              <a:cs typeface="宋体"/>
            </a:endParaRPr>
          </a:p>
          <a:p>
            <a:pPr marL="457200">
              <a:lnSpc>
                <a:spcPct val="100000"/>
              </a:lnSpc>
              <a:spcBef>
                <a:spcPts val="750"/>
              </a:spcBef>
              <a:tabLst>
                <a:tab pos="1061085" algn="l"/>
              </a:tabLst>
            </a:pPr>
            <a:r>
              <a:rPr dirty="0" sz="1350" spc="-50" b="1">
                <a:solidFill>
                  <a:srgbClr val="0000FF"/>
                </a:solidFill>
                <a:latin typeface="Times New Roman"/>
                <a:cs typeface="Times New Roman"/>
              </a:rPr>
              <a:t>1</a:t>
            </a:r>
            <a:r>
              <a:rPr dirty="0" sz="1350" b="1">
                <a:solidFill>
                  <a:srgbClr val="0000FF"/>
                </a:solidFill>
                <a:latin typeface="Times New Roman"/>
                <a:cs typeface="Times New Roman"/>
              </a:rPr>
              <a:t>	</a:t>
            </a:r>
            <a:r>
              <a:rPr dirty="0" sz="1350" spc="-50" b="1">
                <a:solidFill>
                  <a:srgbClr val="0000FF"/>
                </a:solidFill>
                <a:latin typeface="Times New Roman"/>
                <a:cs typeface="Times New Roman"/>
              </a:rPr>
              <a:t>2</a:t>
            </a:r>
            <a:endParaRPr sz="1350">
              <a:latin typeface="Times New Roman"/>
              <a:cs typeface="Times New Roman"/>
            </a:endParaRPr>
          </a:p>
        </p:txBody>
      </p:sp>
      <p:sp>
        <p:nvSpPr>
          <p:cNvPr id="64" name="object 64" descr=""/>
          <p:cNvSpPr txBox="1"/>
          <p:nvPr/>
        </p:nvSpPr>
        <p:spPr>
          <a:xfrm>
            <a:off x="4188936" y="1746209"/>
            <a:ext cx="112395" cy="233679"/>
          </a:xfrm>
          <a:prstGeom prst="rect">
            <a:avLst/>
          </a:prstGeom>
        </p:spPr>
        <p:txBody>
          <a:bodyPr wrap="square" lIns="0" tIns="13970" rIns="0" bIns="0" rtlCol="0" vert="horz">
            <a:spAutoFit/>
          </a:bodyPr>
          <a:lstStyle/>
          <a:p>
            <a:pPr marL="12700">
              <a:lnSpc>
                <a:spcPct val="100000"/>
              </a:lnSpc>
              <a:spcBef>
                <a:spcPts val="110"/>
              </a:spcBef>
            </a:pPr>
            <a:r>
              <a:rPr dirty="0" sz="1350" spc="-50" b="1">
                <a:solidFill>
                  <a:srgbClr val="0000FF"/>
                </a:solidFill>
                <a:latin typeface="Times New Roman"/>
                <a:cs typeface="Times New Roman"/>
              </a:rPr>
              <a:t>3</a:t>
            </a:r>
            <a:endParaRPr sz="1350">
              <a:latin typeface="Times New Roman"/>
              <a:cs typeface="Times New Roman"/>
            </a:endParaRPr>
          </a:p>
        </p:txBody>
      </p:sp>
      <p:sp>
        <p:nvSpPr>
          <p:cNvPr id="65" name="object 65" descr=""/>
          <p:cNvSpPr txBox="1"/>
          <p:nvPr/>
        </p:nvSpPr>
        <p:spPr>
          <a:xfrm>
            <a:off x="4914805" y="1746209"/>
            <a:ext cx="112395" cy="233679"/>
          </a:xfrm>
          <a:prstGeom prst="rect">
            <a:avLst/>
          </a:prstGeom>
        </p:spPr>
        <p:txBody>
          <a:bodyPr wrap="square" lIns="0" tIns="13970" rIns="0" bIns="0" rtlCol="0" vert="horz">
            <a:spAutoFit/>
          </a:bodyPr>
          <a:lstStyle/>
          <a:p>
            <a:pPr marL="12700">
              <a:lnSpc>
                <a:spcPct val="100000"/>
              </a:lnSpc>
              <a:spcBef>
                <a:spcPts val="110"/>
              </a:spcBef>
            </a:pPr>
            <a:r>
              <a:rPr dirty="0" sz="1350" spc="-50" b="1">
                <a:solidFill>
                  <a:srgbClr val="0000FF"/>
                </a:solidFill>
                <a:latin typeface="Times New Roman"/>
                <a:cs typeface="Times New Roman"/>
              </a:rPr>
              <a:t>4</a:t>
            </a:r>
            <a:endParaRPr sz="1350">
              <a:latin typeface="Times New Roman"/>
              <a:cs typeface="Times New Roman"/>
            </a:endParaRPr>
          </a:p>
        </p:txBody>
      </p:sp>
      <p:sp>
        <p:nvSpPr>
          <p:cNvPr id="66" name="object 66" descr=""/>
          <p:cNvSpPr txBox="1"/>
          <p:nvPr/>
        </p:nvSpPr>
        <p:spPr>
          <a:xfrm>
            <a:off x="5640673" y="1746209"/>
            <a:ext cx="112395" cy="233679"/>
          </a:xfrm>
          <a:prstGeom prst="rect">
            <a:avLst/>
          </a:prstGeom>
        </p:spPr>
        <p:txBody>
          <a:bodyPr wrap="square" lIns="0" tIns="13970" rIns="0" bIns="0" rtlCol="0" vert="horz">
            <a:spAutoFit/>
          </a:bodyPr>
          <a:lstStyle/>
          <a:p>
            <a:pPr marL="12700">
              <a:lnSpc>
                <a:spcPct val="100000"/>
              </a:lnSpc>
              <a:spcBef>
                <a:spcPts val="110"/>
              </a:spcBef>
            </a:pPr>
            <a:r>
              <a:rPr dirty="0" sz="1350" spc="-50" b="1">
                <a:solidFill>
                  <a:srgbClr val="0000FF"/>
                </a:solidFill>
                <a:latin typeface="Times New Roman"/>
                <a:cs typeface="Times New Roman"/>
              </a:rPr>
              <a:t>5</a:t>
            </a:r>
            <a:endParaRPr sz="1350">
              <a:latin typeface="Times New Roman"/>
              <a:cs typeface="Times New Roman"/>
            </a:endParaRPr>
          </a:p>
        </p:txBody>
      </p:sp>
      <p:sp>
        <p:nvSpPr>
          <p:cNvPr id="67" name="object 67" descr=""/>
          <p:cNvSpPr txBox="1"/>
          <p:nvPr/>
        </p:nvSpPr>
        <p:spPr>
          <a:xfrm>
            <a:off x="6327087" y="1746209"/>
            <a:ext cx="112395" cy="233679"/>
          </a:xfrm>
          <a:prstGeom prst="rect">
            <a:avLst/>
          </a:prstGeom>
        </p:spPr>
        <p:txBody>
          <a:bodyPr wrap="square" lIns="0" tIns="13970" rIns="0" bIns="0" rtlCol="0" vert="horz">
            <a:spAutoFit/>
          </a:bodyPr>
          <a:lstStyle/>
          <a:p>
            <a:pPr marL="12700">
              <a:lnSpc>
                <a:spcPct val="100000"/>
              </a:lnSpc>
              <a:spcBef>
                <a:spcPts val="110"/>
              </a:spcBef>
            </a:pPr>
            <a:r>
              <a:rPr dirty="0" sz="1350" spc="-50" b="1">
                <a:solidFill>
                  <a:srgbClr val="0000FF"/>
                </a:solidFill>
                <a:latin typeface="Times New Roman"/>
                <a:cs typeface="Times New Roman"/>
              </a:rPr>
              <a:t>6</a:t>
            </a:r>
            <a:endParaRPr sz="1350">
              <a:latin typeface="Times New Roman"/>
              <a:cs typeface="Times New Roman"/>
            </a:endParaRPr>
          </a:p>
        </p:txBody>
      </p:sp>
      <p:sp>
        <p:nvSpPr>
          <p:cNvPr id="68" name="object 68" descr=""/>
          <p:cNvSpPr txBox="1"/>
          <p:nvPr/>
        </p:nvSpPr>
        <p:spPr>
          <a:xfrm>
            <a:off x="7052956" y="1746209"/>
            <a:ext cx="112395" cy="233679"/>
          </a:xfrm>
          <a:prstGeom prst="rect">
            <a:avLst/>
          </a:prstGeom>
        </p:spPr>
        <p:txBody>
          <a:bodyPr wrap="square" lIns="0" tIns="13970" rIns="0" bIns="0" rtlCol="0" vert="horz">
            <a:spAutoFit/>
          </a:bodyPr>
          <a:lstStyle/>
          <a:p>
            <a:pPr marL="12700">
              <a:lnSpc>
                <a:spcPct val="100000"/>
              </a:lnSpc>
              <a:spcBef>
                <a:spcPts val="110"/>
              </a:spcBef>
            </a:pPr>
            <a:r>
              <a:rPr dirty="0" sz="1350" spc="-50" b="1">
                <a:solidFill>
                  <a:srgbClr val="0000FF"/>
                </a:solidFill>
                <a:latin typeface="Times New Roman"/>
                <a:cs typeface="Times New Roman"/>
              </a:rPr>
              <a:t>7</a:t>
            </a:r>
            <a:endParaRPr sz="1350">
              <a:latin typeface="Times New Roman"/>
              <a:cs typeface="Times New Roman"/>
            </a:endParaRPr>
          </a:p>
        </p:txBody>
      </p:sp>
      <p:sp>
        <p:nvSpPr>
          <p:cNvPr id="69" name="object 69" descr=""/>
          <p:cNvSpPr txBox="1"/>
          <p:nvPr/>
        </p:nvSpPr>
        <p:spPr>
          <a:xfrm>
            <a:off x="7818277" y="1746209"/>
            <a:ext cx="112395" cy="233679"/>
          </a:xfrm>
          <a:prstGeom prst="rect">
            <a:avLst/>
          </a:prstGeom>
        </p:spPr>
        <p:txBody>
          <a:bodyPr wrap="square" lIns="0" tIns="13970" rIns="0" bIns="0" rtlCol="0" vert="horz">
            <a:spAutoFit/>
          </a:bodyPr>
          <a:lstStyle/>
          <a:p>
            <a:pPr marL="12700">
              <a:lnSpc>
                <a:spcPct val="100000"/>
              </a:lnSpc>
              <a:spcBef>
                <a:spcPts val="110"/>
              </a:spcBef>
            </a:pPr>
            <a:r>
              <a:rPr dirty="0" sz="1350" spc="-50" b="1">
                <a:solidFill>
                  <a:srgbClr val="0000FF"/>
                </a:solidFill>
                <a:latin typeface="Times New Roman"/>
                <a:cs typeface="Times New Roman"/>
              </a:rPr>
              <a:t>8</a:t>
            </a:r>
            <a:endParaRPr sz="1350">
              <a:latin typeface="Times New Roman"/>
              <a:cs typeface="Times New Roman"/>
            </a:endParaRPr>
          </a:p>
        </p:txBody>
      </p:sp>
      <p:sp>
        <p:nvSpPr>
          <p:cNvPr id="70" name="object 70" descr=""/>
          <p:cNvSpPr txBox="1"/>
          <p:nvPr/>
        </p:nvSpPr>
        <p:spPr>
          <a:xfrm>
            <a:off x="8544146" y="1746209"/>
            <a:ext cx="112395" cy="233679"/>
          </a:xfrm>
          <a:prstGeom prst="rect">
            <a:avLst/>
          </a:prstGeom>
        </p:spPr>
        <p:txBody>
          <a:bodyPr wrap="square" lIns="0" tIns="13970" rIns="0" bIns="0" rtlCol="0" vert="horz">
            <a:spAutoFit/>
          </a:bodyPr>
          <a:lstStyle/>
          <a:p>
            <a:pPr marL="12700">
              <a:lnSpc>
                <a:spcPct val="100000"/>
              </a:lnSpc>
              <a:spcBef>
                <a:spcPts val="110"/>
              </a:spcBef>
            </a:pPr>
            <a:r>
              <a:rPr dirty="0" sz="1350" spc="-50" b="1">
                <a:solidFill>
                  <a:srgbClr val="0000FF"/>
                </a:solidFill>
                <a:latin typeface="Times New Roman"/>
                <a:cs typeface="Times New Roman"/>
              </a:rPr>
              <a:t>9</a:t>
            </a:r>
            <a:endParaRPr sz="1350">
              <a:latin typeface="Times New Roman"/>
              <a:cs typeface="Times New Roman"/>
            </a:endParaRPr>
          </a:p>
        </p:txBody>
      </p:sp>
      <p:sp>
        <p:nvSpPr>
          <p:cNvPr id="71" name="object 71" descr=""/>
          <p:cNvSpPr txBox="1"/>
          <p:nvPr/>
        </p:nvSpPr>
        <p:spPr>
          <a:xfrm>
            <a:off x="9230944" y="1746209"/>
            <a:ext cx="201295" cy="233679"/>
          </a:xfrm>
          <a:prstGeom prst="rect">
            <a:avLst/>
          </a:prstGeom>
        </p:spPr>
        <p:txBody>
          <a:bodyPr wrap="square" lIns="0" tIns="13970" rIns="0" bIns="0" rtlCol="0" vert="horz">
            <a:spAutoFit/>
          </a:bodyPr>
          <a:lstStyle/>
          <a:p>
            <a:pPr marL="12700">
              <a:lnSpc>
                <a:spcPct val="100000"/>
              </a:lnSpc>
              <a:spcBef>
                <a:spcPts val="110"/>
              </a:spcBef>
            </a:pPr>
            <a:r>
              <a:rPr dirty="0" sz="1350" spc="-25" b="1">
                <a:solidFill>
                  <a:srgbClr val="0000FF"/>
                </a:solidFill>
                <a:latin typeface="Times New Roman"/>
                <a:cs typeface="Times New Roman"/>
              </a:rPr>
              <a:t>10</a:t>
            </a:r>
            <a:endParaRPr sz="1350">
              <a:latin typeface="Times New Roman"/>
              <a:cs typeface="Times New Roman"/>
            </a:endParaRPr>
          </a:p>
        </p:txBody>
      </p:sp>
      <p:sp>
        <p:nvSpPr>
          <p:cNvPr id="72" name="object 72" descr=""/>
          <p:cNvSpPr txBox="1"/>
          <p:nvPr/>
        </p:nvSpPr>
        <p:spPr>
          <a:xfrm>
            <a:off x="9876181" y="1746209"/>
            <a:ext cx="182245" cy="233679"/>
          </a:xfrm>
          <a:prstGeom prst="rect">
            <a:avLst/>
          </a:prstGeom>
        </p:spPr>
        <p:txBody>
          <a:bodyPr wrap="square" lIns="0" tIns="13970" rIns="0" bIns="0" rtlCol="0" vert="horz">
            <a:spAutoFit/>
          </a:bodyPr>
          <a:lstStyle/>
          <a:p>
            <a:pPr marL="12700">
              <a:lnSpc>
                <a:spcPct val="100000"/>
              </a:lnSpc>
              <a:spcBef>
                <a:spcPts val="110"/>
              </a:spcBef>
            </a:pPr>
            <a:r>
              <a:rPr dirty="0" sz="1350" spc="-40" b="1">
                <a:solidFill>
                  <a:srgbClr val="0000FF"/>
                </a:solidFill>
                <a:latin typeface="Times New Roman"/>
                <a:cs typeface="Times New Roman"/>
              </a:rPr>
              <a:t>11</a:t>
            </a:r>
            <a:endParaRPr sz="1350">
              <a:latin typeface="Times New Roman"/>
              <a:cs typeface="Times New Roman"/>
            </a:endParaRPr>
          </a:p>
        </p:txBody>
      </p:sp>
      <p:sp>
        <p:nvSpPr>
          <p:cNvPr id="73" name="object 73" descr=""/>
          <p:cNvSpPr txBox="1"/>
          <p:nvPr/>
        </p:nvSpPr>
        <p:spPr>
          <a:xfrm>
            <a:off x="2188677" y="2293361"/>
            <a:ext cx="542290" cy="233679"/>
          </a:xfrm>
          <a:prstGeom prst="rect">
            <a:avLst/>
          </a:prstGeom>
        </p:spPr>
        <p:txBody>
          <a:bodyPr wrap="square" lIns="0" tIns="13970" rIns="0" bIns="0" rtlCol="0" vert="horz">
            <a:spAutoFit/>
          </a:bodyPr>
          <a:lstStyle/>
          <a:p>
            <a:pPr marL="38100">
              <a:lnSpc>
                <a:spcPct val="100000"/>
              </a:lnSpc>
              <a:spcBef>
                <a:spcPts val="110"/>
              </a:spcBef>
            </a:pPr>
            <a:r>
              <a:rPr dirty="0" sz="1350" b="1">
                <a:solidFill>
                  <a:srgbClr val="0000FF"/>
                </a:solidFill>
                <a:latin typeface="Times New Roman"/>
                <a:cs typeface="Times New Roman"/>
              </a:rPr>
              <a:t>LD</a:t>
            </a:r>
            <a:r>
              <a:rPr dirty="0" sz="1350" spc="5" b="1">
                <a:solidFill>
                  <a:srgbClr val="0000FF"/>
                </a:solidFill>
                <a:latin typeface="Times New Roman"/>
                <a:cs typeface="Times New Roman"/>
              </a:rPr>
              <a:t> </a:t>
            </a:r>
            <a:r>
              <a:rPr dirty="0" sz="1350" spc="-25" b="1">
                <a:solidFill>
                  <a:srgbClr val="0000FF"/>
                </a:solidFill>
                <a:latin typeface="Times New Roman"/>
                <a:cs typeface="Times New Roman"/>
              </a:rPr>
              <a:t>R</a:t>
            </a:r>
            <a:r>
              <a:rPr dirty="0" baseline="-15432" sz="1350" spc="-37" b="1">
                <a:solidFill>
                  <a:srgbClr val="0000FF"/>
                </a:solidFill>
                <a:latin typeface="Times New Roman"/>
                <a:cs typeface="Times New Roman"/>
              </a:rPr>
              <a:t>1</a:t>
            </a:r>
            <a:endParaRPr baseline="-15432" sz="1350">
              <a:latin typeface="Times New Roman"/>
              <a:cs typeface="Times New Roman"/>
            </a:endParaRPr>
          </a:p>
        </p:txBody>
      </p:sp>
      <p:sp>
        <p:nvSpPr>
          <p:cNvPr id="74" name="object 74" descr=""/>
          <p:cNvSpPr txBox="1"/>
          <p:nvPr/>
        </p:nvSpPr>
        <p:spPr>
          <a:xfrm>
            <a:off x="2214077" y="3286064"/>
            <a:ext cx="504190" cy="233679"/>
          </a:xfrm>
          <a:prstGeom prst="rect">
            <a:avLst/>
          </a:prstGeom>
        </p:spPr>
        <p:txBody>
          <a:bodyPr wrap="square" lIns="0" tIns="13970" rIns="0" bIns="0" rtlCol="0" vert="horz">
            <a:spAutoFit/>
          </a:bodyPr>
          <a:lstStyle/>
          <a:p>
            <a:pPr marL="12700">
              <a:lnSpc>
                <a:spcPct val="100000"/>
              </a:lnSpc>
              <a:spcBef>
                <a:spcPts val="110"/>
              </a:spcBef>
            </a:pPr>
            <a:r>
              <a:rPr dirty="0" sz="1350" spc="-105" b="1">
                <a:solidFill>
                  <a:srgbClr val="0000FF"/>
                </a:solidFill>
                <a:latin typeface="宋体"/>
                <a:cs typeface="宋体"/>
              </a:rPr>
              <a:t>指令 </a:t>
            </a:r>
            <a:r>
              <a:rPr dirty="0" sz="1350" spc="-50" b="1">
                <a:solidFill>
                  <a:srgbClr val="0000FF"/>
                </a:solidFill>
                <a:latin typeface="Times New Roman"/>
                <a:cs typeface="Times New Roman"/>
              </a:rPr>
              <a:t>1</a:t>
            </a:r>
            <a:endParaRPr sz="1350">
              <a:latin typeface="Times New Roman"/>
              <a:cs typeface="Times New Roman"/>
            </a:endParaRPr>
          </a:p>
        </p:txBody>
      </p:sp>
      <p:sp>
        <p:nvSpPr>
          <p:cNvPr id="75" name="object 75" descr=""/>
          <p:cNvSpPr txBox="1"/>
          <p:nvPr/>
        </p:nvSpPr>
        <p:spPr>
          <a:xfrm>
            <a:off x="2214077" y="4301933"/>
            <a:ext cx="504190" cy="233679"/>
          </a:xfrm>
          <a:prstGeom prst="rect">
            <a:avLst/>
          </a:prstGeom>
        </p:spPr>
        <p:txBody>
          <a:bodyPr wrap="square" lIns="0" tIns="13970" rIns="0" bIns="0" rtlCol="0" vert="horz">
            <a:spAutoFit/>
          </a:bodyPr>
          <a:lstStyle/>
          <a:p>
            <a:pPr marL="12700">
              <a:lnSpc>
                <a:spcPct val="100000"/>
              </a:lnSpc>
              <a:spcBef>
                <a:spcPts val="110"/>
              </a:spcBef>
            </a:pPr>
            <a:r>
              <a:rPr dirty="0" sz="1350" spc="-105" b="1">
                <a:solidFill>
                  <a:srgbClr val="0000FF"/>
                </a:solidFill>
                <a:latin typeface="宋体"/>
                <a:cs typeface="宋体"/>
              </a:rPr>
              <a:t>指令 </a:t>
            </a:r>
            <a:r>
              <a:rPr dirty="0" sz="1350" spc="-50" b="1">
                <a:solidFill>
                  <a:srgbClr val="0000FF"/>
                </a:solidFill>
                <a:latin typeface="Times New Roman"/>
                <a:cs typeface="Times New Roman"/>
              </a:rPr>
              <a:t>2</a:t>
            </a:r>
            <a:endParaRPr sz="1350">
              <a:latin typeface="Times New Roman"/>
              <a:cs typeface="Times New Roman"/>
            </a:endParaRPr>
          </a:p>
        </p:txBody>
      </p:sp>
      <p:sp>
        <p:nvSpPr>
          <p:cNvPr id="76" name="object 76" descr=""/>
          <p:cNvSpPr txBox="1"/>
          <p:nvPr/>
        </p:nvSpPr>
        <p:spPr>
          <a:xfrm>
            <a:off x="4931084" y="3295040"/>
            <a:ext cx="311785" cy="233679"/>
          </a:xfrm>
          <a:prstGeom prst="rect">
            <a:avLst/>
          </a:prstGeom>
        </p:spPr>
        <p:txBody>
          <a:bodyPr wrap="square" lIns="0" tIns="13970" rIns="0" bIns="0" rtlCol="0" vert="horz">
            <a:spAutoFit/>
          </a:bodyPr>
          <a:lstStyle/>
          <a:p>
            <a:pPr marL="12700">
              <a:lnSpc>
                <a:spcPct val="100000"/>
              </a:lnSpc>
              <a:spcBef>
                <a:spcPts val="110"/>
              </a:spcBef>
            </a:pPr>
            <a:r>
              <a:rPr dirty="0" sz="1350" spc="-25" b="1">
                <a:latin typeface="Times New Roman"/>
                <a:cs typeface="Times New Roman"/>
              </a:rPr>
              <a:t>Reg</a:t>
            </a:r>
            <a:endParaRPr sz="1350">
              <a:latin typeface="Times New Roman"/>
              <a:cs typeface="Times New Roman"/>
            </a:endParaRPr>
          </a:p>
        </p:txBody>
      </p:sp>
      <p:sp>
        <p:nvSpPr>
          <p:cNvPr id="77" name="object 77" descr=""/>
          <p:cNvSpPr txBox="1"/>
          <p:nvPr/>
        </p:nvSpPr>
        <p:spPr>
          <a:xfrm>
            <a:off x="5662870" y="3183621"/>
            <a:ext cx="217804" cy="390525"/>
          </a:xfrm>
          <a:prstGeom prst="rect">
            <a:avLst/>
          </a:prstGeom>
        </p:spPr>
        <p:txBody>
          <a:bodyPr wrap="square" lIns="0" tIns="0" rIns="0" bIns="0" rtlCol="0" vert="vert">
            <a:spAutoFit/>
          </a:bodyPr>
          <a:lstStyle/>
          <a:p>
            <a:pPr marL="12700">
              <a:lnSpc>
                <a:spcPts val="1590"/>
              </a:lnSpc>
            </a:pPr>
            <a:r>
              <a:rPr dirty="0" sz="1350" spc="-25" b="1">
                <a:latin typeface="Times New Roman"/>
                <a:cs typeface="Times New Roman"/>
              </a:rPr>
              <a:t>ALU</a:t>
            </a:r>
            <a:endParaRPr sz="1350">
              <a:latin typeface="Times New Roman"/>
              <a:cs typeface="Times New Roman"/>
            </a:endParaRPr>
          </a:p>
        </p:txBody>
      </p:sp>
      <p:sp>
        <p:nvSpPr>
          <p:cNvPr id="78" name="object 78" descr=""/>
          <p:cNvSpPr txBox="1"/>
          <p:nvPr/>
        </p:nvSpPr>
        <p:spPr>
          <a:xfrm>
            <a:off x="8398972" y="3306881"/>
            <a:ext cx="311785" cy="233679"/>
          </a:xfrm>
          <a:prstGeom prst="rect">
            <a:avLst/>
          </a:prstGeom>
        </p:spPr>
        <p:txBody>
          <a:bodyPr wrap="square" lIns="0" tIns="13970" rIns="0" bIns="0" rtlCol="0" vert="horz">
            <a:spAutoFit/>
          </a:bodyPr>
          <a:lstStyle/>
          <a:p>
            <a:pPr marL="12700">
              <a:lnSpc>
                <a:spcPct val="100000"/>
              </a:lnSpc>
              <a:spcBef>
                <a:spcPts val="110"/>
              </a:spcBef>
            </a:pPr>
            <a:r>
              <a:rPr dirty="0" sz="1350" spc="-25" b="1">
                <a:latin typeface="Times New Roman"/>
                <a:cs typeface="Times New Roman"/>
              </a:rPr>
              <a:t>Reg</a:t>
            </a:r>
            <a:endParaRPr sz="1350">
              <a:latin typeface="Times New Roman"/>
              <a:cs typeface="Times New Roman"/>
            </a:endParaRPr>
          </a:p>
        </p:txBody>
      </p:sp>
      <p:grpSp>
        <p:nvGrpSpPr>
          <p:cNvPr id="79" name="object 79" descr=""/>
          <p:cNvGrpSpPr/>
          <p:nvPr/>
        </p:nvGrpSpPr>
        <p:grpSpPr>
          <a:xfrm>
            <a:off x="3473527" y="3177911"/>
            <a:ext cx="4563110" cy="675640"/>
            <a:chOff x="3473527" y="3177911"/>
            <a:chExt cx="4563110" cy="675640"/>
          </a:xfrm>
        </p:grpSpPr>
        <p:sp>
          <p:nvSpPr>
            <p:cNvPr id="80" name="object 80" descr=""/>
            <p:cNvSpPr/>
            <p:nvPr/>
          </p:nvSpPr>
          <p:spPr>
            <a:xfrm>
              <a:off x="3473527" y="3177911"/>
              <a:ext cx="1249045" cy="475615"/>
            </a:xfrm>
            <a:custGeom>
              <a:avLst/>
              <a:gdLst/>
              <a:ahLst/>
              <a:cxnLst/>
              <a:rect l="l" t="t" r="r" b="b"/>
              <a:pathLst>
                <a:path w="1249045" h="475614">
                  <a:moveTo>
                    <a:pt x="1248646" y="0"/>
                  </a:moveTo>
                  <a:lnTo>
                    <a:pt x="0" y="0"/>
                  </a:lnTo>
                  <a:lnTo>
                    <a:pt x="0" y="475420"/>
                  </a:lnTo>
                  <a:lnTo>
                    <a:pt x="1248646" y="475420"/>
                  </a:lnTo>
                  <a:lnTo>
                    <a:pt x="1248646" y="0"/>
                  </a:lnTo>
                  <a:close/>
                </a:path>
              </a:pathLst>
            </a:custGeom>
            <a:solidFill>
              <a:srgbClr val="FFCC99"/>
            </a:solidFill>
          </p:spPr>
          <p:txBody>
            <a:bodyPr wrap="square" lIns="0" tIns="0" rIns="0" bIns="0" rtlCol="0"/>
            <a:lstStyle/>
            <a:p/>
          </p:txBody>
        </p:sp>
        <p:sp>
          <p:nvSpPr>
            <p:cNvPr id="81" name="object 81" descr=""/>
            <p:cNvSpPr/>
            <p:nvPr/>
          </p:nvSpPr>
          <p:spPr>
            <a:xfrm>
              <a:off x="6215681" y="3193934"/>
              <a:ext cx="1814195" cy="473709"/>
            </a:xfrm>
            <a:custGeom>
              <a:avLst/>
              <a:gdLst/>
              <a:ahLst/>
              <a:cxnLst/>
              <a:rect l="l" t="t" r="r" b="b"/>
              <a:pathLst>
                <a:path w="1814195" h="473710">
                  <a:moveTo>
                    <a:pt x="1813655" y="0"/>
                  </a:moveTo>
                  <a:lnTo>
                    <a:pt x="0" y="0"/>
                  </a:lnTo>
                  <a:lnTo>
                    <a:pt x="0" y="473529"/>
                  </a:lnTo>
                  <a:lnTo>
                    <a:pt x="1813655" y="473529"/>
                  </a:lnTo>
                  <a:lnTo>
                    <a:pt x="1813655" y="0"/>
                  </a:lnTo>
                  <a:close/>
                </a:path>
              </a:pathLst>
            </a:custGeom>
            <a:solidFill>
              <a:srgbClr val="CCFFCC"/>
            </a:solidFill>
          </p:spPr>
          <p:txBody>
            <a:bodyPr wrap="square" lIns="0" tIns="0" rIns="0" bIns="0" rtlCol="0"/>
            <a:lstStyle/>
            <a:p/>
          </p:txBody>
        </p:sp>
        <p:sp>
          <p:nvSpPr>
            <p:cNvPr id="82" name="object 82" descr=""/>
            <p:cNvSpPr/>
            <p:nvPr/>
          </p:nvSpPr>
          <p:spPr>
            <a:xfrm>
              <a:off x="4722193" y="3193934"/>
              <a:ext cx="3307715" cy="652780"/>
            </a:xfrm>
            <a:custGeom>
              <a:avLst/>
              <a:gdLst/>
              <a:ahLst/>
              <a:cxnLst/>
              <a:rect l="l" t="t" r="r" b="b"/>
              <a:pathLst>
                <a:path w="3307715" h="652779">
                  <a:moveTo>
                    <a:pt x="1493488" y="473529"/>
                  </a:moveTo>
                  <a:lnTo>
                    <a:pt x="3307144" y="473529"/>
                  </a:lnTo>
                  <a:lnTo>
                    <a:pt x="3307144" y="0"/>
                  </a:lnTo>
                  <a:lnTo>
                    <a:pt x="1493488" y="0"/>
                  </a:lnTo>
                  <a:lnTo>
                    <a:pt x="1493488" y="473529"/>
                  </a:lnTo>
                  <a:close/>
                </a:path>
                <a:path w="3307715" h="652779">
                  <a:moveTo>
                    <a:pt x="41751" y="117355"/>
                  </a:moveTo>
                  <a:lnTo>
                    <a:pt x="122382" y="117355"/>
                  </a:lnTo>
                </a:path>
                <a:path w="3307715" h="652779">
                  <a:moveTo>
                    <a:pt x="585291" y="346720"/>
                  </a:moveTo>
                  <a:lnTo>
                    <a:pt x="848250" y="356269"/>
                  </a:lnTo>
                </a:path>
                <a:path w="3307715" h="652779">
                  <a:moveTo>
                    <a:pt x="0" y="296302"/>
                  </a:moveTo>
                  <a:lnTo>
                    <a:pt x="122382" y="296302"/>
                  </a:lnTo>
                </a:path>
                <a:path w="3307715" h="652779">
                  <a:moveTo>
                    <a:pt x="726251" y="356269"/>
                  </a:moveTo>
                  <a:lnTo>
                    <a:pt x="726251" y="652476"/>
                  </a:lnTo>
                </a:path>
                <a:path w="3307715" h="652779">
                  <a:moveTo>
                    <a:pt x="726251" y="652476"/>
                  </a:moveTo>
                  <a:lnTo>
                    <a:pt x="1251404" y="652476"/>
                  </a:lnTo>
                </a:path>
                <a:path w="3307715" h="652779">
                  <a:moveTo>
                    <a:pt x="1251404" y="236526"/>
                  </a:moveTo>
                  <a:lnTo>
                    <a:pt x="1251404" y="652476"/>
                  </a:lnTo>
                </a:path>
              </a:pathLst>
            </a:custGeom>
            <a:ln w="13738">
              <a:solidFill>
                <a:srgbClr val="000000"/>
              </a:solidFill>
            </a:ln>
          </p:spPr>
          <p:txBody>
            <a:bodyPr wrap="square" lIns="0" tIns="0" rIns="0" bIns="0" rtlCol="0"/>
            <a:lstStyle/>
            <a:p/>
          </p:txBody>
        </p:sp>
      </p:grpSp>
      <p:sp>
        <p:nvSpPr>
          <p:cNvPr id="83" name="object 83" descr=""/>
          <p:cNvSpPr txBox="1"/>
          <p:nvPr/>
        </p:nvSpPr>
        <p:spPr>
          <a:xfrm>
            <a:off x="3473527" y="3177911"/>
            <a:ext cx="1249045" cy="475615"/>
          </a:xfrm>
          <a:prstGeom prst="rect">
            <a:avLst/>
          </a:prstGeom>
          <a:ln w="13723">
            <a:solidFill>
              <a:srgbClr val="000000"/>
            </a:solidFill>
          </a:ln>
        </p:spPr>
        <p:txBody>
          <a:bodyPr wrap="square" lIns="0" tIns="113030" rIns="0" bIns="0" rtlCol="0" vert="horz">
            <a:spAutoFit/>
          </a:bodyPr>
          <a:lstStyle/>
          <a:p>
            <a:pPr marL="218440">
              <a:lnSpc>
                <a:spcPct val="100000"/>
              </a:lnSpc>
              <a:spcBef>
                <a:spcPts val="890"/>
              </a:spcBef>
            </a:pPr>
            <a:r>
              <a:rPr dirty="0" sz="1350" spc="-105" b="1">
                <a:latin typeface="宋体"/>
                <a:cs typeface="宋体"/>
              </a:rPr>
              <a:t>指令 </a:t>
            </a:r>
            <a:r>
              <a:rPr dirty="0" sz="1350" spc="-10" b="1">
                <a:latin typeface="Times New Roman"/>
                <a:cs typeface="Times New Roman"/>
              </a:rPr>
              <a:t>Cache</a:t>
            </a:r>
            <a:endParaRPr sz="1350">
              <a:latin typeface="Times New Roman"/>
              <a:cs typeface="Times New Roman"/>
            </a:endParaRPr>
          </a:p>
        </p:txBody>
      </p:sp>
      <p:sp>
        <p:nvSpPr>
          <p:cNvPr id="84" name="object 84" descr=""/>
          <p:cNvSpPr txBox="1"/>
          <p:nvPr/>
        </p:nvSpPr>
        <p:spPr>
          <a:xfrm>
            <a:off x="6222542" y="3299814"/>
            <a:ext cx="1800225" cy="233679"/>
          </a:xfrm>
          <a:prstGeom prst="rect">
            <a:avLst/>
          </a:prstGeom>
        </p:spPr>
        <p:txBody>
          <a:bodyPr wrap="square" lIns="0" tIns="13970" rIns="0" bIns="0" rtlCol="0" vert="horz">
            <a:spAutoFit/>
          </a:bodyPr>
          <a:lstStyle/>
          <a:p>
            <a:pPr marL="476884">
              <a:lnSpc>
                <a:spcPct val="100000"/>
              </a:lnSpc>
              <a:spcBef>
                <a:spcPts val="110"/>
              </a:spcBef>
            </a:pPr>
            <a:r>
              <a:rPr dirty="0" sz="1350" spc="90" b="1">
                <a:latin typeface="宋体"/>
                <a:cs typeface="宋体"/>
              </a:rPr>
              <a:t>数据</a:t>
            </a:r>
            <a:r>
              <a:rPr dirty="0" sz="1350" spc="-10" b="1">
                <a:latin typeface="Times New Roman"/>
                <a:cs typeface="Times New Roman"/>
              </a:rPr>
              <a:t>Cache</a:t>
            </a:r>
            <a:endParaRPr sz="1350">
              <a:latin typeface="Times New Roman"/>
              <a:cs typeface="Times New Roman"/>
            </a:endParaRPr>
          </a:p>
        </p:txBody>
      </p:sp>
      <p:grpSp>
        <p:nvGrpSpPr>
          <p:cNvPr id="85" name="object 85" descr=""/>
          <p:cNvGrpSpPr/>
          <p:nvPr/>
        </p:nvGrpSpPr>
        <p:grpSpPr>
          <a:xfrm>
            <a:off x="5291497" y="3304305"/>
            <a:ext cx="3793490" cy="1558290"/>
            <a:chOff x="5291497" y="3304305"/>
            <a:chExt cx="3793490" cy="1558290"/>
          </a:xfrm>
        </p:grpSpPr>
        <p:sp>
          <p:nvSpPr>
            <p:cNvPr id="86" name="object 86" descr=""/>
            <p:cNvSpPr/>
            <p:nvPr/>
          </p:nvSpPr>
          <p:spPr>
            <a:xfrm>
              <a:off x="5298482" y="3311290"/>
              <a:ext cx="2853055" cy="475615"/>
            </a:xfrm>
            <a:custGeom>
              <a:avLst/>
              <a:gdLst/>
              <a:ahLst/>
              <a:cxnLst/>
              <a:rect l="l" t="t" r="r" b="b"/>
              <a:pathLst>
                <a:path w="2853054" h="475614">
                  <a:moveTo>
                    <a:pt x="836376" y="119170"/>
                  </a:moveTo>
                  <a:lnTo>
                    <a:pt x="836376" y="475344"/>
                  </a:lnTo>
                </a:path>
                <a:path w="2853054" h="475614">
                  <a:moveTo>
                    <a:pt x="836376" y="475344"/>
                  </a:moveTo>
                  <a:lnTo>
                    <a:pt x="2852719" y="475344"/>
                  </a:lnTo>
                </a:path>
                <a:path w="2853054" h="475614">
                  <a:moveTo>
                    <a:pt x="2852719" y="119170"/>
                  </a:moveTo>
                  <a:lnTo>
                    <a:pt x="2852719" y="475344"/>
                  </a:lnTo>
                </a:path>
                <a:path w="2853054" h="475614">
                  <a:moveTo>
                    <a:pt x="0" y="0"/>
                  </a:moveTo>
                  <a:lnTo>
                    <a:pt x="311223" y="0"/>
                  </a:lnTo>
                </a:path>
              </a:pathLst>
            </a:custGeom>
            <a:ln w="13738">
              <a:solidFill>
                <a:srgbClr val="000000"/>
              </a:solidFill>
            </a:ln>
          </p:spPr>
          <p:txBody>
            <a:bodyPr wrap="square" lIns="0" tIns="0" rIns="0" bIns="0" rtlCol="0"/>
            <a:lstStyle/>
            <a:p/>
          </p:txBody>
        </p:sp>
        <p:sp>
          <p:nvSpPr>
            <p:cNvPr id="87" name="object 87" descr=""/>
            <p:cNvSpPr/>
            <p:nvPr/>
          </p:nvSpPr>
          <p:spPr>
            <a:xfrm>
              <a:off x="6618835" y="4499078"/>
              <a:ext cx="2459355" cy="0"/>
            </a:xfrm>
            <a:custGeom>
              <a:avLst/>
              <a:gdLst/>
              <a:ahLst/>
              <a:cxnLst/>
              <a:rect l="l" t="t" r="r" b="b"/>
              <a:pathLst>
                <a:path w="2459354" h="0">
                  <a:moveTo>
                    <a:pt x="0" y="0"/>
                  </a:moveTo>
                  <a:lnTo>
                    <a:pt x="322523" y="0"/>
                  </a:lnTo>
                </a:path>
                <a:path w="2459354" h="0">
                  <a:moveTo>
                    <a:pt x="2136178" y="0"/>
                  </a:moveTo>
                  <a:lnTo>
                    <a:pt x="2458759" y="0"/>
                  </a:lnTo>
                </a:path>
              </a:pathLst>
            </a:custGeom>
            <a:ln w="13718">
              <a:solidFill>
                <a:srgbClr val="000000"/>
              </a:solidFill>
            </a:ln>
          </p:spPr>
          <p:txBody>
            <a:bodyPr wrap="square" lIns="0" tIns="0" rIns="0" bIns="0" rtlCol="0"/>
            <a:lstStyle/>
            <a:p/>
          </p:txBody>
        </p:sp>
        <p:sp>
          <p:nvSpPr>
            <p:cNvPr id="88" name="object 88" descr=""/>
            <p:cNvSpPr/>
            <p:nvPr/>
          </p:nvSpPr>
          <p:spPr>
            <a:xfrm>
              <a:off x="6296312" y="4083032"/>
              <a:ext cx="322580" cy="772795"/>
            </a:xfrm>
            <a:custGeom>
              <a:avLst/>
              <a:gdLst/>
              <a:ahLst/>
              <a:cxnLst/>
              <a:rect l="l" t="t" r="r" b="b"/>
              <a:pathLst>
                <a:path w="322579" h="772795">
                  <a:moveTo>
                    <a:pt x="322523" y="165386"/>
                  </a:moveTo>
                  <a:lnTo>
                    <a:pt x="322523" y="606889"/>
                  </a:lnTo>
                </a:path>
                <a:path w="322579" h="772795">
                  <a:moveTo>
                    <a:pt x="0" y="0"/>
                  </a:moveTo>
                  <a:lnTo>
                    <a:pt x="322523" y="165386"/>
                  </a:lnTo>
                </a:path>
                <a:path w="322579" h="772795">
                  <a:moveTo>
                    <a:pt x="322523" y="606889"/>
                  </a:moveTo>
                  <a:lnTo>
                    <a:pt x="0" y="772257"/>
                  </a:lnTo>
                </a:path>
                <a:path w="322579" h="772795">
                  <a:moveTo>
                    <a:pt x="0" y="0"/>
                  </a:moveTo>
                  <a:lnTo>
                    <a:pt x="0" y="220980"/>
                  </a:lnTo>
                </a:path>
                <a:path w="322579" h="772795">
                  <a:moveTo>
                    <a:pt x="0" y="551754"/>
                  </a:moveTo>
                  <a:lnTo>
                    <a:pt x="0" y="772257"/>
                  </a:lnTo>
                </a:path>
                <a:path w="322579" h="772795">
                  <a:moveTo>
                    <a:pt x="0" y="220980"/>
                  </a:moveTo>
                  <a:lnTo>
                    <a:pt x="96718" y="386367"/>
                  </a:lnTo>
                </a:path>
                <a:path w="322579" h="772795">
                  <a:moveTo>
                    <a:pt x="96718" y="386367"/>
                  </a:moveTo>
                  <a:lnTo>
                    <a:pt x="0" y="551754"/>
                  </a:lnTo>
                </a:path>
              </a:pathLst>
            </a:custGeom>
            <a:ln w="13738">
              <a:solidFill>
                <a:srgbClr val="000000"/>
              </a:solidFill>
            </a:ln>
          </p:spPr>
          <p:txBody>
            <a:bodyPr wrap="square" lIns="0" tIns="0" rIns="0" bIns="0" rtlCol="0"/>
            <a:lstStyle/>
            <a:p/>
          </p:txBody>
        </p:sp>
      </p:grpSp>
      <p:sp>
        <p:nvSpPr>
          <p:cNvPr id="89" name="object 89" descr=""/>
          <p:cNvSpPr txBox="1"/>
          <p:nvPr/>
        </p:nvSpPr>
        <p:spPr>
          <a:xfrm>
            <a:off x="5656761" y="4363657"/>
            <a:ext cx="311785" cy="233679"/>
          </a:xfrm>
          <a:prstGeom prst="rect">
            <a:avLst/>
          </a:prstGeom>
        </p:spPr>
        <p:txBody>
          <a:bodyPr wrap="square" lIns="0" tIns="13970" rIns="0" bIns="0" rtlCol="0" vert="horz">
            <a:spAutoFit/>
          </a:bodyPr>
          <a:lstStyle/>
          <a:p>
            <a:pPr marL="12700">
              <a:lnSpc>
                <a:spcPct val="100000"/>
              </a:lnSpc>
              <a:spcBef>
                <a:spcPts val="110"/>
              </a:spcBef>
            </a:pPr>
            <a:r>
              <a:rPr dirty="0" sz="1350" spc="-25" b="1">
                <a:latin typeface="Times New Roman"/>
                <a:cs typeface="Times New Roman"/>
              </a:rPr>
              <a:t>Reg</a:t>
            </a:r>
            <a:endParaRPr sz="1350">
              <a:latin typeface="Times New Roman"/>
              <a:cs typeface="Times New Roman"/>
            </a:endParaRPr>
          </a:p>
        </p:txBody>
      </p:sp>
      <p:sp>
        <p:nvSpPr>
          <p:cNvPr id="90" name="object 90" descr=""/>
          <p:cNvSpPr txBox="1"/>
          <p:nvPr/>
        </p:nvSpPr>
        <p:spPr>
          <a:xfrm>
            <a:off x="6388738" y="4252200"/>
            <a:ext cx="217804" cy="390525"/>
          </a:xfrm>
          <a:prstGeom prst="rect">
            <a:avLst/>
          </a:prstGeom>
        </p:spPr>
        <p:txBody>
          <a:bodyPr wrap="square" lIns="0" tIns="0" rIns="0" bIns="0" rtlCol="0" vert="vert">
            <a:spAutoFit/>
          </a:bodyPr>
          <a:lstStyle/>
          <a:p>
            <a:pPr marL="12700">
              <a:lnSpc>
                <a:spcPts val="1590"/>
              </a:lnSpc>
            </a:pPr>
            <a:r>
              <a:rPr dirty="0" sz="1350" spc="-25" b="1">
                <a:latin typeface="Times New Roman"/>
                <a:cs typeface="Times New Roman"/>
              </a:rPr>
              <a:t>ALU</a:t>
            </a:r>
            <a:endParaRPr sz="1350">
              <a:latin typeface="Times New Roman"/>
              <a:cs typeface="Times New Roman"/>
            </a:endParaRPr>
          </a:p>
        </p:txBody>
      </p:sp>
      <p:sp>
        <p:nvSpPr>
          <p:cNvPr id="91" name="object 91" descr=""/>
          <p:cNvSpPr txBox="1"/>
          <p:nvPr/>
        </p:nvSpPr>
        <p:spPr>
          <a:xfrm>
            <a:off x="9124841" y="4375441"/>
            <a:ext cx="311785" cy="233679"/>
          </a:xfrm>
          <a:prstGeom prst="rect">
            <a:avLst/>
          </a:prstGeom>
        </p:spPr>
        <p:txBody>
          <a:bodyPr wrap="square" lIns="0" tIns="13970" rIns="0" bIns="0" rtlCol="0" vert="horz">
            <a:spAutoFit/>
          </a:bodyPr>
          <a:lstStyle/>
          <a:p>
            <a:pPr marL="12700">
              <a:lnSpc>
                <a:spcPct val="100000"/>
              </a:lnSpc>
              <a:spcBef>
                <a:spcPts val="110"/>
              </a:spcBef>
            </a:pPr>
            <a:r>
              <a:rPr dirty="0" sz="1350" spc="-25" b="1">
                <a:latin typeface="Times New Roman"/>
                <a:cs typeface="Times New Roman"/>
              </a:rPr>
              <a:t>Reg</a:t>
            </a:r>
            <a:endParaRPr sz="1350">
              <a:latin typeface="Times New Roman"/>
              <a:cs typeface="Times New Roman"/>
            </a:endParaRPr>
          </a:p>
        </p:txBody>
      </p:sp>
      <p:grpSp>
        <p:nvGrpSpPr>
          <p:cNvPr id="92" name="object 92" descr=""/>
          <p:cNvGrpSpPr/>
          <p:nvPr/>
        </p:nvGrpSpPr>
        <p:grpSpPr>
          <a:xfrm>
            <a:off x="5441459" y="4262551"/>
            <a:ext cx="3314065" cy="659765"/>
            <a:chOff x="5441459" y="4262551"/>
            <a:chExt cx="3314065" cy="659765"/>
          </a:xfrm>
        </p:grpSpPr>
        <p:sp>
          <p:nvSpPr>
            <p:cNvPr id="93" name="object 93" descr=""/>
            <p:cNvSpPr/>
            <p:nvPr/>
          </p:nvSpPr>
          <p:spPr>
            <a:xfrm>
              <a:off x="6941358" y="4262551"/>
              <a:ext cx="1814195" cy="473075"/>
            </a:xfrm>
            <a:custGeom>
              <a:avLst/>
              <a:gdLst/>
              <a:ahLst/>
              <a:cxnLst/>
              <a:rect l="l" t="t" r="r" b="b"/>
              <a:pathLst>
                <a:path w="1814195" h="473075">
                  <a:moveTo>
                    <a:pt x="1813655" y="0"/>
                  </a:moveTo>
                  <a:lnTo>
                    <a:pt x="0" y="0"/>
                  </a:lnTo>
                  <a:lnTo>
                    <a:pt x="0" y="473071"/>
                  </a:lnTo>
                  <a:lnTo>
                    <a:pt x="1813655" y="473071"/>
                  </a:lnTo>
                  <a:lnTo>
                    <a:pt x="1813655" y="0"/>
                  </a:lnTo>
                  <a:close/>
                </a:path>
              </a:pathLst>
            </a:custGeom>
            <a:solidFill>
              <a:srgbClr val="CCFFCC"/>
            </a:solidFill>
          </p:spPr>
          <p:txBody>
            <a:bodyPr wrap="square" lIns="0" tIns="0" rIns="0" bIns="0" rtlCol="0"/>
            <a:lstStyle/>
            <a:p/>
          </p:txBody>
        </p:sp>
        <p:sp>
          <p:nvSpPr>
            <p:cNvPr id="94" name="object 94" descr=""/>
            <p:cNvSpPr/>
            <p:nvPr/>
          </p:nvSpPr>
          <p:spPr>
            <a:xfrm>
              <a:off x="5448444" y="4379411"/>
              <a:ext cx="1251585" cy="535940"/>
            </a:xfrm>
            <a:custGeom>
              <a:avLst/>
              <a:gdLst/>
              <a:ahLst/>
              <a:cxnLst/>
              <a:rect l="l" t="t" r="r" b="b"/>
              <a:pathLst>
                <a:path w="1251584" h="535939">
                  <a:moveTo>
                    <a:pt x="41368" y="0"/>
                  </a:moveTo>
                  <a:lnTo>
                    <a:pt x="121999" y="0"/>
                  </a:lnTo>
                </a:path>
                <a:path w="1251584" h="535939">
                  <a:moveTo>
                    <a:pt x="584908" y="229937"/>
                  </a:moveTo>
                  <a:lnTo>
                    <a:pt x="847867" y="239352"/>
                  </a:lnTo>
                </a:path>
                <a:path w="1251584" h="535939">
                  <a:moveTo>
                    <a:pt x="0" y="179519"/>
                  </a:moveTo>
                  <a:lnTo>
                    <a:pt x="121999" y="179519"/>
                  </a:lnTo>
                </a:path>
                <a:path w="1251584" h="535939">
                  <a:moveTo>
                    <a:pt x="725868" y="239352"/>
                  </a:moveTo>
                  <a:lnTo>
                    <a:pt x="725868" y="535731"/>
                  </a:lnTo>
                </a:path>
                <a:path w="1251584" h="535939">
                  <a:moveTo>
                    <a:pt x="725868" y="535731"/>
                  </a:moveTo>
                  <a:lnTo>
                    <a:pt x="1251021" y="535731"/>
                  </a:lnTo>
                </a:path>
                <a:path w="1251584" h="535939">
                  <a:moveTo>
                    <a:pt x="1251021" y="119666"/>
                  </a:moveTo>
                  <a:lnTo>
                    <a:pt x="1251021" y="535731"/>
                  </a:lnTo>
                </a:path>
              </a:pathLst>
            </a:custGeom>
            <a:ln w="13738">
              <a:solidFill>
                <a:srgbClr val="000000"/>
              </a:solidFill>
            </a:ln>
          </p:spPr>
          <p:txBody>
            <a:bodyPr wrap="square" lIns="0" tIns="0" rIns="0" bIns="0" rtlCol="0"/>
            <a:lstStyle/>
            <a:p/>
          </p:txBody>
        </p:sp>
      </p:grpSp>
      <p:sp>
        <p:nvSpPr>
          <p:cNvPr id="95" name="object 95" descr=""/>
          <p:cNvSpPr txBox="1"/>
          <p:nvPr/>
        </p:nvSpPr>
        <p:spPr>
          <a:xfrm>
            <a:off x="4199338" y="4246528"/>
            <a:ext cx="1249680" cy="475615"/>
          </a:xfrm>
          <a:prstGeom prst="rect">
            <a:avLst/>
          </a:prstGeom>
          <a:solidFill>
            <a:srgbClr val="FFCC99"/>
          </a:solidFill>
          <a:ln w="13723">
            <a:solidFill>
              <a:srgbClr val="000000"/>
            </a:solidFill>
          </a:ln>
        </p:spPr>
        <p:txBody>
          <a:bodyPr wrap="square" lIns="0" tIns="113030" rIns="0" bIns="0" rtlCol="0" vert="horz">
            <a:spAutoFit/>
          </a:bodyPr>
          <a:lstStyle/>
          <a:p>
            <a:pPr marL="218440">
              <a:lnSpc>
                <a:spcPct val="100000"/>
              </a:lnSpc>
              <a:spcBef>
                <a:spcPts val="890"/>
              </a:spcBef>
            </a:pPr>
            <a:r>
              <a:rPr dirty="0" sz="1350" spc="-105" b="1">
                <a:latin typeface="宋体"/>
                <a:cs typeface="宋体"/>
              </a:rPr>
              <a:t>指令 </a:t>
            </a:r>
            <a:r>
              <a:rPr dirty="0" sz="1350" spc="-10" b="1">
                <a:latin typeface="Times New Roman"/>
                <a:cs typeface="Times New Roman"/>
              </a:rPr>
              <a:t>Cache</a:t>
            </a:r>
            <a:endParaRPr sz="1350">
              <a:latin typeface="Times New Roman"/>
              <a:cs typeface="Times New Roman"/>
            </a:endParaRPr>
          </a:p>
        </p:txBody>
      </p:sp>
      <p:sp>
        <p:nvSpPr>
          <p:cNvPr id="96" name="object 96" descr=""/>
          <p:cNvSpPr txBox="1"/>
          <p:nvPr/>
        </p:nvSpPr>
        <p:spPr>
          <a:xfrm>
            <a:off x="6941358" y="4262551"/>
            <a:ext cx="1814195" cy="473075"/>
          </a:xfrm>
          <a:prstGeom prst="rect">
            <a:avLst/>
          </a:prstGeom>
          <a:ln w="13721">
            <a:solidFill>
              <a:srgbClr val="000000"/>
            </a:solidFill>
          </a:ln>
        </p:spPr>
        <p:txBody>
          <a:bodyPr wrap="square" lIns="0" tIns="120014" rIns="0" bIns="0" rtlCol="0" vert="horz">
            <a:spAutoFit/>
          </a:bodyPr>
          <a:lstStyle/>
          <a:p>
            <a:pPr marL="483870">
              <a:lnSpc>
                <a:spcPct val="100000"/>
              </a:lnSpc>
              <a:spcBef>
                <a:spcPts val="944"/>
              </a:spcBef>
            </a:pPr>
            <a:r>
              <a:rPr dirty="0" sz="1350" spc="90" b="1">
                <a:latin typeface="宋体"/>
                <a:cs typeface="宋体"/>
              </a:rPr>
              <a:t>数据</a:t>
            </a:r>
            <a:r>
              <a:rPr dirty="0" sz="1350" spc="-10" b="1">
                <a:latin typeface="Times New Roman"/>
                <a:cs typeface="Times New Roman"/>
              </a:rPr>
              <a:t>Cache</a:t>
            </a:r>
            <a:endParaRPr sz="1350">
              <a:latin typeface="Times New Roman"/>
              <a:cs typeface="Times New Roman"/>
            </a:endParaRPr>
          </a:p>
        </p:txBody>
      </p:sp>
      <p:grpSp>
        <p:nvGrpSpPr>
          <p:cNvPr id="97" name="object 97" descr=""/>
          <p:cNvGrpSpPr/>
          <p:nvPr/>
        </p:nvGrpSpPr>
        <p:grpSpPr>
          <a:xfrm>
            <a:off x="6017366" y="4372426"/>
            <a:ext cx="3796029" cy="1558925"/>
            <a:chOff x="6017366" y="4372426"/>
            <a:chExt cx="3796029" cy="1558925"/>
          </a:xfrm>
        </p:grpSpPr>
        <p:sp>
          <p:nvSpPr>
            <p:cNvPr id="98" name="object 98" descr=""/>
            <p:cNvSpPr/>
            <p:nvPr/>
          </p:nvSpPr>
          <p:spPr>
            <a:xfrm>
              <a:off x="6024351" y="4379411"/>
              <a:ext cx="2853055" cy="476250"/>
            </a:xfrm>
            <a:custGeom>
              <a:avLst/>
              <a:gdLst/>
              <a:ahLst/>
              <a:cxnLst/>
              <a:rect l="l" t="t" r="r" b="b"/>
              <a:pathLst>
                <a:path w="2853054" h="476250">
                  <a:moveTo>
                    <a:pt x="836376" y="119666"/>
                  </a:moveTo>
                  <a:lnTo>
                    <a:pt x="836376" y="475878"/>
                  </a:lnTo>
                </a:path>
                <a:path w="2853054" h="476250">
                  <a:moveTo>
                    <a:pt x="836376" y="475878"/>
                  </a:moveTo>
                  <a:lnTo>
                    <a:pt x="2852719" y="475878"/>
                  </a:lnTo>
                </a:path>
                <a:path w="2853054" h="476250">
                  <a:moveTo>
                    <a:pt x="2852719" y="119666"/>
                  </a:moveTo>
                  <a:lnTo>
                    <a:pt x="2852719" y="475878"/>
                  </a:lnTo>
                </a:path>
                <a:path w="2853054" h="476250">
                  <a:moveTo>
                    <a:pt x="0" y="0"/>
                  </a:moveTo>
                  <a:lnTo>
                    <a:pt x="311223" y="0"/>
                  </a:lnTo>
                </a:path>
              </a:pathLst>
            </a:custGeom>
            <a:ln w="13738">
              <a:solidFill>
                <a:srgbClr val="000000"/>
              </a:solidFill>
            </a:ln>
          </p:spPr>
          <p:txBody>
            <a:bodyPr wrap="square" lIns="0" tIns="0" rIns="0" bIns="0" rtlCol="0"/>
            <a:lstStyle/>
            <a:p/>
          </p:txBody>
        </p:sp>
        <p:sp>
          <p:nvSpPr>
            <p:cNvPr id="99" name="object 99" descr=""/>
            <p:cNvSpPr/>
            <p:nvPr/>
          </p:nvSpPr>
          <p:spPr>
            <a:xfrm>
              <a:off x="7347002" y="5567714"/>
              <a:ext cx="2459355" cy="0"/>
            </a:xfrm>
            <a:custGeom>
              <a:avLst/>
              <a:gdLst/>
              <a:ahLst/>
              <a:cxnLst/>
              <a:rect l="l" t="t" r="r" b="b"/>
              <a:pathLst>
                <a:path w="2459354" h="0">
                  <a:moveTo>
                    <a:pt x="0" y="0"/>
                  </a:moveTo>
                  <a:lnTo>
                    <a:pt x="322714" y="0"/>
                  </a:lnTo>
                </a:path>
                <a:path w="2459354" h="0">
                  <a:moveTo>
                    <a:pt x="2136370" y="0"/>
                  </a:moveTo>
                  <a:lnTo>
                    <a:pt x="2458950" y="0"/>
                  </a:lnTo>
                </a:path>
              </a:pathLst>
            </a:custGeom>
            <a:ln w="13718">
              <a:solidFill>
                <a:srgbClr val="000000"/>
              </a:solidFill>
            </a:ln>
          </p:spPr>
          <p:txBody>
            <a:bodyPr wrap="square" lIns="0" tIns="0" rIns="0" bIns="0" rtlCol="0"/>
            <a:lstStyle/>
            <a:p/>
          </p:txBody>
        </p:sp>
        <p:sp>
          <p:nvSpPr>
            <p:cNvPr id="100" name="object 100" descr=""/>
            <p:cNvSpPr/>
            <p:nvPr/>
          </p:nvSpPr>
          <p:spPr>
            <a:xfrm>
              <a:off x="7024479" y="5151669"/>
              <a:ext cx="322580" cy="772795"/>
            </a:xfrm>
            <a:custGeom>
              <a:avLst/>
              <a:gdLst/>
              <a:ahLst/>
              <a:cxnLst/>
              <a:rect l="l" t="t" r="r" b="b"/>
              <a:pathLst>
                <a:path w="322579" h="772795">
                  <a:moveTo>
                    <a:pt x="322523" y="165386"/>
                  </a:moveTo>
                  <a:lnTo>
                    <a:pt x="322523" y="606870"/>
                  </a:lnTo>
                </a:path>
                <a:path w="322579" h="772795">
                  <a:moveTo>
                    <a:pt x="0" y="0"/>
                  </a:moveTo>
                  <a:lnTo>
                    <a:pt x="322523" y="165386"/>
                  </a:lnTo>
                </a:path>
                <a:path w="322579" h="772795">
                  <a:moveTo>
                    <a:pt x="322523" y="606870"/>
                  </a:moveTo>
                  <a:lnTo>
                    <a:pt x="0" y="772263"/>
                  </a:lnTo>
                </a:path>
                <a:path w="322579" h="772795">
                  <a:moveTo>
                    <a:pt x="0" y="0"/>
                  </a:moveTo>
                  <a:lnTo>
                    <a:pt x="0" y="220522"/>
                  </a:lnTo>
                </a:path>
                <a:path w="322579" h="772795">
                  <a:moveTo>
                    <a:pt x="0" y="551754"/>
                  </a:moveTo>
                  <a:lnTo>
                    <a:pt x="0" y="772263"/>
                  </a:lnTo>
                </a:path>
                <a:path w="322579" h="772795">
                  <a:moveTo>
                    <a:pt x="0" y="220522"/>
                  </a:moveTo>
                  <a:lnTo>
                    <a:pt x="96718" y="386367"/>
                  </a:lnTo>
                </a:path>
                <a:path w="322579" h="772795">
                  <a:moveTo>
                    <a:pt x="96718" y="386367"/>
                  </a:moveTo>
                  <a:lnTo>
                    <a:pt x="0" y="551754"/>
                  </a:lnTo>
                </a:path>
              </a:pathLst>
            </a:custGeom>
            <a:ln w="13738">
              <a:solidFill>
                <a:srgbClr val="000000"/>
              </a:solidFill>
            </a:ln>
          </p:spPr>
          <p:txBody>
            <a:bodyPr wrap="square" lIns="0" tIns="0" rIns="0" bIns="0" rtlCol="0"/>
            <a:lstStyle/>
            <a:p/>
          </p:txBody>
        </p:sp>
      </p:grpSp>
      <p:sp>
        <p:nvSpPr>
          <p:cNvPr id="101" name="object 101" descr=""/>
          <p:cNvSpPr txBox="1"/>
          <p:nvPr/>
        </p:nvSpPr>
        <p:spPr>
          <a:xfrm>
            <a:off x="6385119" y="5432294"/>
            <a:ext cx="311785" cy="233679"/>
          </a:xfrm>
          <a:prstGeom prst="rect">
            <a:avLst/>
          </a:prstGeom>
        </p:spPr>
        <p:txBody>
          <a:bodyPr wrap="square" lIns="0" tIns="13970" rIns="0" bIns="0" rtlCol="0" vert="horz">
            <a:spAutoFit/>
          </a:bodyPr>
          <a:lstStyle/>
          <a:p>
            <a:pPr marL="12700">
              <a:lnSpc>
                <a:spcPct val="100000"/>
              </a:lnSpc>
              <a:spcBef>
                <a:spcPts val="110"/>
              </a:spcBef>
            </a:pPr>
            <a:r>
              <a:rPr dirty="0" sz="1350" spc="-25" b="1">
                <a:latin typeface="Times New Roman"/>
                <a:cs typeface="Times New Roman"/>
              </a:rPr>
              <a:t>Reg</a:t>
            </a:r>
            <a:endParaRPr sz="1350">
              <a:latin typeface="Times New Roman"/>
              <a:cs typeface="Times New Roman"/>
            </a:endParaRPr>
          </a:p>
        </p:txBody>
      </p:sp>
      <p:sp>
        <p:nvSpPr>
          <p:cNvPr id="102" name="object 102" descr=""/>
          <p:cNvSpPr txBox="1"/>
          <p:nvPr/>
        </p:nvSpPr>
        <p:spPr>
          <a:xfrm>
            <a:off x="7116905" y="5320379"/>
            <a:ext cx="217804" cy="390525"/>
          </a:xfrm>
          <a:prstGeom prst="rect">
            <a:avLst/>
          </a:prstGeom>
        </p:spPr>
        <p:txBody>
          <a:bodyPr wrap="square" lIns="0" tIns="0" rIns="0" bIns="0" rtlCol="0" vert="vert">
            <a:spAutoFit/>
          </a:bodyPr>
          <a:lstStyle/>
          <a:p>
            <a:pPr marL="12700">
              <a:lnSpc>
                <a:spcPts val="1590"/>
              </a:lnSpc>
            </a:pPr>
            <a:r>
              <a:rPr dirty="0" sz="1350" spc="-25" b="1">
                <a:latin typeface="Times New Roman"/>
                <a:cs typeface="Times New Roman"/>
              </a:rPr>
              <a:t>ALU</a:t>
            </a:r>
            <a:endParaRPr sz="1350">
              <a:latin typeface="Times New Roman"/>
              <a:cs typeface="Times New Roman"/>
            </a:endParaRPr>
          </a:p>
        </p:txBody>
      </p:sp>
      <p:sp>
        <p:nvSpPr>
          <p:cNvPr id="103" name="object 103" descr=""/>
          <p:cNvSpPr txBox="1"/>
          <p:nvPr/>
        </p:nvSpPr>
        <p:spPr>
          <a:xfrm>
            <a:off x="9853007" y="5444077"/>
            <a:ext cx="311785" cy="233679"/>
          </a:xfrm>
          <a:prstGeom prst="rect">
            <a:avLst/>
          </a:prstGeom>
        </p:spPr>
        <p:txBody>
          <a:bodyPr wrap="square" lIns="0" tIns="13970" rIns="0" bIns="0" rtlCol="0" vert="horz">
            <a:spAutoFit/>
          </a:bodyPr>
          <a:lstStyle/>
          <a:p>
            <a:pPr marL="12700">
              <a:lnSpc>
                <a:spcPct val="100000"/>
              </a:lnSpc>
              <a:spcBef>
                <a:spcPts val="110"/>
              </a:spcBef>
            </a:pPr>
            <a:r>
              <a:rPr dirty="0" sz="1350" spc="-25" b="1">
                <a:latin typeface="Times New Roman"/>
                <a:cs typeface="Times New Roman"/>
              </a:rPr>
              <a:t>Reg</a:t>
            </a:r>
            <a:endParaRPr sz="1350">
              <a:latin typeface="Times New Roman"/>
              <a:cs typeface="Times New Roman"/>
            </a:endParaRPr>
          </a:p>
        </p:txBody>
      </p:sp>
      <p:grpSp>
        <p:nvGrpSpPr>
          <p:cNvPr id="104" name="object 104" descr=""/>
          <p:cNvGrpSpPr/>
          <p:nvPr/>
        </p:nvGrpSpPr>
        <p:grpSpPr>
          <a:xfrm>
            <a:off x="6169243" y="5331188"/>
            <a:ext cx="3314700" cy="659765"/>
            <a:chOff x="6169243" y="5331188"/>
            <a:chExt cx="3314700" cy="659765"/>
          </a:xfrm>
        </p:grpSpPr>
        <p:sp>
          <p:nvSpPr>
            <p:cNvPr id="105" name="object 105" descr=""/>
            <p:cNvSpPr/>
            <p:nvPr/>
          </p:nvSpPr>
          <p:spPr>
            <a:xfrm>
              <a:off x="7669717" y="5331188"/>
              <a:ext cx="1814195" cy="473075"/>
            </a:xfrm>
            <a:custGeom>
              <a:avLst/>
              <a:gdLst/>
              <a:ahLst/>
              <a:cxnLst/>
              <a:rect l="l" t="t" r="r" b="b"/>
              <a:pathLst>
                <a:path w="1814195" h="473075">
                  <a:moveTo>
                    <a:pt x="1813655" y="0"/>
                  </a:moveTo>
                  <a:lnTo>
                    <a:pt x="0" y="0"/>
                  </a:lnTo>
                  <a:lnTo>
                    <a:pt x="0" y="473071"/>
                  </a:lnTo>
                  <a:lnTo>
                    <a:pt x="1813655" y="473071"/>
                  </a:lnTo>
                  <a:lnTo>
                    <a:pt x="1813655" y="0"/>
                  </a:lnTo>
                  <a:close/>
                </a:path>
              </a:pathLst>
            </a:custGeom>
            <a:solidFill>
              <a:srgbClr val="CCFFCC"/>
            </a:solidFill>
          </p:spPr>
          <p:txBody>
            <a:bodyPr wrap="square" lIns="0" tIns="0" rIns="0" bIns="0" rtlCol="0"/>
            <a:lstStyle/>
            <a:p/>
          </p:txBody>
        </p:sp>
        <p:sp>
          <p:nvSpPr>
            <p:cNvPr id="106" name="object 106" descr=""/>
            <p:cNvSpPr/>
            <p:nvPr/>
          </p:nvSpPr>
          <p:spPr>
            <a:xfrm>
              <a:off x="6176228" y="5448047"/>
              <a:ext cx="1251585" cy="535940"/>
            </a:xfrm>
            <a:custGeom>
              <a:avLst/>
              <a:gdLst/>
              <a:ahLst/>
              <a:cxnLst/>
              <a:rect l="l" t="t" r="r" b="b"/>
              <a:pathLst>
                <a:path w="1251584" h="535939">
                  <a:moveTo>
                    <a:pt x="41751" y="0"/>
                  </a:moveTo>
                  <a:lnTo>
                    <a:pt x="122382" y="0"/>
                  </a:lnTo>
                </a:path>
                <a:path w="1251584" h="535939">
                  <a:moveTo>
                    <a:pt x="582992" y="229937"/>
                  </a:moveTo>
                  <a:lnTo>
                    <a:pt x="848250" y="239352"/>
                  </a:lnTo>
                </a:path>
                <a:path w="1251584" h="535939">
                  <a:moveTo>
                    <a:pt x="0" y="179519"/>
                  </a:moveTo>
                  <a:lnTo>
                    <a:pt x="122382" y="179519"/>
                  </a:lnTo>
                </a:path>
                <a:path w="1251584" h="535939">
                  <a:moveTo>
                    <a:pt x="726251" y="239352"/>
                  </a:moveTo>
                  <a:lnTo>
                    <a:pt x="726251" y="535725"/>
                  </a:lnTo>
                </a:path>
                <a:path w="1251584" h="535939">
                  <a:moveTo>
                    <a:pt x="726251" y="535725"/>
                  </a:moveTo>
                  <a:lnTo>
                    <a:pt x="1251404" y="535725"/>
                  </a:lnTo>
                </a:path>
                <a:path w="1251584" h="535939">
                  <a:moveTo>
                    <a:pt x="1251404" y="119666"/>
                  </a:moveTo>
                  <a:lnTo>
                    <a:pt x="1251404" y="535725"/>
                  </a:lnTo>
                </a:path>
              </a:pathLst>
            </a:custGeom>
            <a:ln w="13738">
              <a:solidFill>
                <a:srgbClr val="000000"/>
              </a:solidFill>
            </a:ln>
          </p:spPr>
          <p:txBody>
            <a:bodyPr wrap="square" lIns="0" tIns="0" rIns="0" bIns="0" rtlCol="0"/>
            <a:lstStyle/>
            <a:p/>
          </p:txBody>
        </p:sp>
      </p:grpSp>
      <p:sp>
        <p:nvSpPr>
          <p:cNvPr id="107" name="object 107" descr=""/>
          <p:cNvSpPr txBox="1"/>
          <p:nvPr/>
        </p:nvSpPr>
        <p:spPr>
          <a:xfrm>
            <a:off x="4927505" y="5314688"/>
            <a:ext cx="1249045" cy="476250"/>
          </a:xfrm>
          <a:prstGeom prst="rect">
            <a:avLst/>
          </a:prstGeom>
          <a:solidFill>
            <a:srgbClr val="FFCC99"/>
          </a:solidFill>
          <a:ln w="13723">
            <a:solidFill>
              <a:srgbClr val="000000"/>
            </a:solidFill>
          </a:ln>
        </p:spPr>
        <p:txBody>
          <a:bodyPr wrap="square" lIns="0" tIns="113665" rIns="0" bIns="0" rtlCol="0" vert="horz">
            <a:spAutoFit/>
          </a:bodyPr>
          <a:lstStyle/>
          <a:p>
            <a:pPr marL="218440">
              <a:lnSpc>
                <a:spcPct val="100000"/>
              </a:lnSpc>
              <a:spcBef>
                <a:spcPts val="895"/>
              </a:spcBef>
            </a:pPr>
            <a:r>
              <a:rPr dirty="0" sz="1350" spc="-105" b="1">
                <a:latin typeface="宋体"/>
                <a:cs typeface="宋体"/>
              </a:rPr>
              <a:t>指令 </a:t>
            </a:r>
            <a:r>
              <a:rPr dirty="0" sz="1350" spc="-10" b="1">
                <a:latin typeface="Times New Roman"/>
                <a:cs typeface="Times New Roman"/>
              </a:rPr>
              <a:t>Cache</a:t>
            </a:r>
            <a:endParaRPr sz="1350">
              <a:latin typeface="Times New Roman"/>
              <a:cs typeface="Times New Roman"/>
            </a:endParaRPr>
          </a:p>
        </p:txBody>
      </p:sp>
      <p:sp>
        <p:nvSpPr>
          <p:cNvPr id="108" name="object 108" descr=""/>
          <p:cNvSpPr txBox="1"/>
          <p:nvPr/>
        </p:nvSpPr>
        <p:spPr>
          <a:xfrm>
            <a:off x="7669717" y="5331188"/>
            <a:ext cx="1814195" cy="473075"/>
          </a:xfrm>
          <a:prstGeom prst="rect">
            <a:avLst/>
          </a:prstGeom>
          <a:ln w="13721">
            <a:solidFill>
              <a:srgbClr val="000000"/>
            </a:solidFill>
          </a:ln>
        </p:spPr>
        <p:txBody>
          <a:bodyPr wrap="square" lIns="0" tIns="120014" rIns="0" bIns="0" rtlCol="0" vert="horz">
            <a:spAutoFit/>
          </a:bodyPr>
          <a:lstStyle/>
          <a:p>
            <a:pPr marL="483234">
              <a:lnSpc>
                <a:spcPct val="100000"/>
              </a:lnSpc>
              <a:spcBef>
                <a:spcPts val="944"/>
              </a:spcBef>
            </a:pPr>
            <a:r>
              <a:rPr dirty="0" sz="1350" spc="90" b="1">
                <a:latin typeface="宋体"/>
                <a:cs typeface="宋体"/>
              </a:rPr>
              <a:t>数据</a:t>
            </a:r>
            <a:r>
              <a:rPr dirty="0" sz="1350" spc="-10" b="1">
                <a:latin typeface="Times New Roman"/>
                <a:cs typeface="Times New Roman"/>
              </a:rPr>
              <a:t>Cache</a:t>
            </a:r>
            <a:endParaRPr sz="1350">
              <a:latin typeface="Times New Roman"/>
              <a:cs typeface="Times New Roman"/>
            </a:endParaRPr>
          </a:p>
        </p:txBody>
      </p:sp>
      <p:grpSp>
        <p:nvGrpSpPr>
          <p:cNvPr id="109" name="object 109" descr=""/>
          <p:cNvGrpSpPr/>
          <p:nvPr/>
        </p:nvGrpSpPr>
        <p:grpSpPr>
          <a:xfrm>
            <a:off x="2208275" y="5271354"/>
            <a:ext cx="7404100" cy="659765"/>
            <a:chOff x="2208275" y="5271354"/>
            <a:chExt cx="7404100" cy="659765"/>
          </a:xfrm>
        </p:grpSpPr>
        <p:sp>
          <p:nvSpPr>
            <p:cNvPr id="110" name="object 110" descr=""/>
            <p:cNvSpPr/>
            <p:nvPr/>
          </p:nvSpPr>
          <p:spPr>
            <a:xfrm>
              <a:off x="6752709" y="5448047"/>
              <a:ext cx="2853055" cy="476250"/>
            </a:xfrm>
            <a:custGeom>
              <a:avLst/>
              <a:gdLst/>
              <a:ahLst/>
              <a:cxnLst/>
              <a:rect l="l" t="t" r="r" b="b"/>
              <a:pathLst>
                <a:path w="2853054" h="476250">
                  <a:moveTo>
                    <a:pt x="836376" y="119666"/>
                  </a:moveTo>
                  <a:lnTo>
                    <a:pt x="836376" y="475884"/>
                  </a:lnTo>
                </a:path>
                <a:path w="2853054" h="476250">
                  <a:moveTo>
                    <a:pt x="836376" y="475884"/>
                  </a:moveTo>
                  <a:lnTo>
                    <a:pt x="2852528" y="475884"/>
                  </a:lnTo>
                </a:path>
                <a:path w="2853054" h="476250">
                  <a:moveTo>
                    <a:pt x="2852528" y="119666"/>
                  </a:moveTo>
                  <a:lnTo>
                    <a:pt x="2852528" y="475884"/>
                  </a:lnTo>
                </a:path>
                <a:path w="2853054" h="476250">
                  <a:moveTo>
                    <a:pt x="0" y="0"/>
                  </a:moveTo>
                  <a:lnTo>
                    <a:pt x="311031" y="0"/>
                  </a:lnTo>
                </a:path>
              </a:pathLst>
            </a:custGeom>
            <a:ln w="13738">
              <a:solidFill>
                <a:srgbClr val="000000"/>
              </a:solidFill>
            </a:ln>
          </p:spPr>
          <p:txBody>
            <a:bodyPr wrap="square" lIns="0" tIns="0" rIns="0" bIns="0" rtlCol="0"/>
            <a:lstStyle/>
            <a:p/>
          </p:txBody>
        </p:sp>
        <p:sp>
          <p:nvSpPr>
            <p:cNvPr id="111" name="object 111" descr=""/>
            <p:cNvSpPr/>
            <p:nvPr/>
          </p:nvSpPr>
          <p:spPr>
            <a:xfrm>
              <a:off x="2208275" y="5271354"/>
              <a:ext cx="1452245" cy="416559"/>
            </a:xfrm>
            <a:custGeom>
              <a:avLst/>
              <a:gdLst/>
              <a:ahLst/>
              <a:cxnLst/>
              <a:rect l="l" t="t" r="r" b="b"/>
              <a:pathLst>
                <a:path w="1452245" h="416560">
                  <a:moveTo>
                    <a:pt x="1451679" y="0"/>
                  </a:moveTo>
                  <a:lnTo>
                    <a:pt x="0" y="0"/>
                  </a:lnTo>
                  <a:lnTo>
                    <a:pt x="0" y="416045"/>
                  </a:lnTo>
                  <a:lnTo>
                    <a:pt x="1451679" y="416045"/>
                  </a:lnTo>
                  <a:lnTo>
                    <a:pt x="1451679" y="0"/>
                  </a:lnTo>
                  <a:close/>
                </a:path>
              </a:pathLst>
            </a:custGeom>
            <a:solidFill>
              <a:srgbClr val="FFFFFF"/>
            </a:solidFill>
          </p:spPr>
          <p:txBody>
            <a:bodyPr wrap="square" lIns="0" tIns="0" rIns="0" bIns="0" rtlCol="0"/>
            <a:lstStyle/>
            <a:p/>
          </p:txBody>
        </p:sp>
      </p:grpSp>
      <p:sp>
        <p:nvSpPr>
          <p:cNvPr id="112" name="object 112" descr=""/>
          <p:cNvSpPr txBox="1"/>
          <p:nvPr/>
        </p:nvSpPr>
        <p:spPr>
          <a:xfrm>
            <a:off x="2188677" y="5368220"/>
            <a:ext cx="1099820" cy="233679"/>
          </a:xfrm>
          <a:prstGeom prst="rect">
            <a:avLst/>
          </a:prstGeom>
        </p:spPr>
        <p:txBody>
          <a:bodyPr wrap="square" lIns="0" tIns="13970" rIns="0" bIns="0" rtlCol="0" vert="horz">
            <a:spAutoFit/>
          </a:bodyPr>
          <a:lstStyle/>
          <a:p>
            <a:pPr marL="38100">
              <a:lnSpc>
                <a:spcPct val="100000"/>
              </a:lnSpc>
              <a:spcBef>
                <a:spcPts val="110"/>
              </a:spcBef>
            </a:pPr>
            <a:r>
              <a:rPr dirty="0" sz="1350" b="1">
                <a:solidFill>
                  <a:srgbClr val="0000FF"/>
                </a:solidFill>
                <a:latin typeface="Times New Roman"/>
                <a:cs typeface="Times New Roman"/>
              </a:rPr>
              <a:t>ADDD R</a:t>
            </a:r>
            <a:r>
              <a:rPr dirty="0" baseline="-15432" sz="1350" b="1">
                <a:solidFill>
                  <a:srgbClr val="0000FF"/>
                </a:solidFill>
                <a:latin typeface="Times New Roman"/>
                <a:cs typeface="Times New Roman"/>
              </a:rPr>
              <a:t>2</a:t>
            </a:r>
            <a:r>
              <a:rPr dirty="0" baseline="-15432" sz="1350" spc="15" b="1">
                <a:solidFill>
                  <a:srgbClr val="0000FF"/>
                </a:solidFill>
                <a:latin typeface="Times New Roman"/>
                <a:cs typeface="Times New Roman"/>
              </a:rPr>
              <a:t> </a:t>
            </a:r>
            <a:r>
              <a:rPr dirty="0" sz="1350" b="1">
                <a:solidFill>
                  <a:srgbClr val="0000FF"/>
                </a:solidFill>
                <a:latin typeface="Times New Roman"/>
                <a:cs typeface="Times New Roman"/>
              </a:rPr>
              <a:t>,</a:t>
            </a:r>
            <a:r>
              <a:rPr dirty="0" sz="1350" spc="15" b="1">
                <a:solidFill>
                  <a:srgbClr val="0000FF"/>
                </a:solidFill>
                <a:latin typeface="Times New Roman"/>
                <a:cs typeface="Times New Roman"/>
              </a:rPr>
              <a:t> </a:t>
            </a:r>
            <a:r>
              <a:rPr dirty="0" sz="1350" spc="-25" b="1">
                <a:solidFill>
                  <a:srgbClr val="0000FF"/>
                </a:solidFill>
                <a:latin typeface="Times New Roman"/>
                <a:cs typeface="Times New Roman"/>
              </a:rPr>
              <a:t>R</a:t>
            </a:r>
            <a:r>
              <a:rPr dirty="0" baseline="-15432" sz="1350" spc="-37" b="1">
                <a:solidFill>
                  <a:srgbClr val="0000FF"/>
                </a:solidFill>
                <a:latin typeface="Times New Roman"/>
                <a:cs typeface="Times New Roman"/>
              </a:rPr>
              <a:t>1</a:t>
            </a:r>
            <a:endParaRPr baseline="-15432" sz="1350">
              <a:latin typeface="Times New Roman"/>
              <a:cs typeface="Times New Roman"/>
            </a:endParaRPr>
          </a:p>
        </p:txBody>
      </p:sp>
      <p:grpSp>
        <p:nvGrpSpPr>
          <p:cNvPr id="113" name="object 113" descr=""/>
          <p:cNvGrpSpPr/>
          <p:nvPr/>
        </p:nvGrpSpPr>
        <p:grpSpPr>
          <a:xfrm>
            <a:off x="6795420" y="2540501"/>
            <a:ext cx="144145" cy="2893695"/>
            <a:chOff x="6795420" y="2540501"/>
            <a:chExt cx="144145" cy="2893695"/>
          </a:xfrm>
        </p:grpSpPr>
        <p:sp>
          <p:nvSpPr>
            <p:cNvPr id="114" name="object 114" descr=""/>
            <p:cNvSpPr/>
            <p:nvPr/>
          </p:nvSpPr>
          <p:spPr>
            <a:xfrm>
              <a:off x="6796759" y="2541840"/>
              <a:ext cx="140970" cy="2891155"/>
            </a:xfrm>
            <a:custGeom>
              <a:avLst/>
              <a:gdLst/>
              <a:ahLst/>
              <a:cxnLst/>
              <a:rect l="l" t="t" r="r" b="b"/>
              <a:pathLst>
                <a:path w="140970" h="2891154">
                  <a:moveTo>
                    <a:pt x="20875" y="0"/>
                  </a:moveTo>
                  <a:lnTo>
                    <a:pt x="0" y="2291"/>
                  </a:lnTo>
                  <a:lnTo>
                    <a:pt x="2298" y="20625"/>
                  </a:lnTo>
                  <a:lnTo>
                    <a:pt x="20875" y="20625"/>
                  </a:lnTo>
                  <a:lnTo>
                    <a:pt x="20875" y="0"/>
                  </a:lnTo>
                  <a:close/>
                </a:path>
                <a:path w="140970" h="2891154">
                  <a:moveTo>
                    <a:pt x="20875" y="39150"/>
                  </a:moveTo>
                  <a:lnTo>
                    <a:pt x="2298" y="39150"/>
                  </a:lnTo>
                  <a:lnTo>
                    <a:pt x="2298" y="59776"/>
                  </a:lnTo>
                  <a:lnTo>
                    <a:pt x="23174" y="57484"/>
                  </a:lnTo>
                  <a:lnTo>
                    <a:pt x="20875" y="39150"/>
                  </a:lnTo>
                  <a:close/>
                </a:path>
                <a:path w="140970" h="2891154">
                  <a:moveTo>
                    <a:pt x="23174" y="78109"/>
                  </a:moveTo>
                  <a:lnTo>
                    <a:pt x="4788" y="78109"/>
                  </a:lnTo>
                  <a:lnTo>
                    <a:pt x="4788" y="96634"/>
                  </a:lnTo>
                  <a:lnTo>
                    <a:pt x="25663" y="96634"/>
                  </a:lnTo>
                  <a:lnTo>
                    <a:pt x="23174" y="78109"/>
                  </a:lnTo>
                  <a:close/>
                </a:path>
                <a:path w="140970" h="2891154">
                  <a:moveTo>
                    <a:pt x="25663" y="114968"/>
                  </a:moveTo>
                  <a:lnTo>
                    <a:pt x="7086" y="117260"/>
                  </a:lnTo>
                  <a:lnTo>
                    <a:pt x="7086" y="135594"/>
                  </a:lnTo>
                  <a:lnTo>
                    <a:pt x="25663" y="135594"/>
                  </a:lnTo>
                  <a:lnTo>
                    <a:pt x="25663" y="114968"/>
                  </a:lnTo>
                  <a:close/>
                </a:path>
                <a:path w="140970" h="2891154">
                  <a:moveTo>
                    <a:pt x="27962" y="154119"/>
                  </a:moveTo>
                  <a:lnTo>
                    <a:pt x="7086" y="154119"/>
                  </a:lnTo>
                  <a:lnTo>
                    <a:pt x="9384" y="174744"/>
                  </a:lnTo>
                  <a:lnTo>
                    <a:pt x="27962" y="172453"/>
                  </a:lnTo>
                  <a:lnTo>
                    <a:pt x="27962" y="154119"/>
                  </a:lnTo>
                  <a:close/>
                </a:path>
                <a:path w="140970" h="2891154">
                  <a:moveTo>
                    <a:pt x="27962" y="193078"/>
                  </a:moveTo>
                  <a:lnTo>
                    <a:pt x="9384" y="193078"/>
                  </a:lnTo>
                  <a:lnTo>
                    <a:pt x="9384" y="211603"/>
                  </a:lnTo>
                  <a:lnTo>
                    <a:pt x="29877" y="211603"/>
                  </a:lnTo>
                  <a:lnTo>
                    <a:pt x="27962" y="193078"/>
                  </a:lnTo>
                  <a:close/>
                </a:path>
                <a:path w="140970" h="2891154">
                  <a:moveTo>
                    <a:pt x="29877" y="229937"/>
                  </a:moveTo>
                  <a:lnTo>
                    <a:pt x="11874" y="231847"/>
                  </a:lnTo>
                  <a:lnTo>
                    <a:pt x="11874" y="250181"/>
                  </a:lnTo>
                  <a:lnTo>
                    <a:pt x="29877" y="250181"/>
                  </a:lnTo>
                  <a:lnTo>
                    <a:pt x="29877" y="229937"/>
                  </a:lnTo>
                  <a:close/>
                </a:path>
                <a:path w="140970" h="2891154">
                  <a:moveTo>
                    <a:pt x="32175" y="268515"/>
                  </a:moveTo>
                  <a:lnTo>
                    <a:pt x="11874" y="268515"/>
                  </a:lnTo>
                  <a:lnTo>
                    <a:pt x="13789" y="289331"/>
                  </a:lnTo>
                  <a:lnTo>
                    <a:pt x="32175" y="286848"/>
                  </a:lnTo>
                  <a:lnTo>
                    <a:pt x="32175" y="268515"/>
                  </a:lnTo>
                  <a:close/>
                </a:path>
                <a:path w="140970" h="2891154">
                  <a:moveTo>
                    <a:pt x="32175" y="307665"/>
                  </a:moveTo>
                  <a:lnTo>
                    <a:pt x="13789" y="307665"/>
                  </a:lnTo>
                  <a:lnTo>
                    <a:pt x="13789" y="325999"/>
                  </a:lnTo>
                  <a:lnTo>
                    <a:pt x="34665" y="325999"/>
                  </a:lnTo>
                  <a:lnTo>
                    <a:pt x="32175" y="307665"/>
                  </a:lnTo>
                  <a:close/>
                </a:path>
                <a:path w="140970" h="2891154">
                  <a:moveTo>
                    <a:pt x="34665" y="344333"/>
                  </a:moveTo>
                  <a:lnTo>
                    <a:pt x="16087" y="344333"/>
                  </a:lnTo>
                  <a:lnTo>
                    <a:pt x="16087" y="365149"/>
                  </a:lnTo>
                  <a:lnTo>
                    <a:pt x="34665" y="362858"/>
                  </a:lnTo>
                  <a:lnTo>
                    <a:pt x="34665" y="344333"/>
                  </a:lnTo>
                  <a:close/>
                </a:path>
                <a:path w="140970" h="2891154">
                  <a:moveTo>
                    <a:pt x="36963" y="383483"/>
                  </a:moveTo>
                  <a:lnTo>
                    <a:pt x="16087" y="383483"/>
                  </a:lnTo>
                  <a:lnTo>
                    <a:pt x="18386" y="401817"/>
                  </a:lnTo>
                  <a:lnTo>
                    <a:pt x="36963" y="401817"/>
                  </a:lnTo>
                  <a:lnTo>
                    <a:pt x="36963" y="383483"/>
                  </a:lnTo>
                  <a:close/>
                </a:path>
                <a:path w="140970" h="2891154">
                  <a:moveTo>
                    <a:pt x="36963" y="420342"/>
                  </a:moveTo>
                  <a:lnTo>
                    <a:pt x="18386" y="422634"/>
                  </a:lnTo>
                  <a:lnTo>
                    <a:pt x="18386" y="440968"/>
                  </a:lnTo>
                  <a:lnTo>
                    <a:pt x="39262" y="440968"/>
                  </a:lnTo>
                  <a:lnTo>
                    <a:pt x="36963" y="420342"/>
                  </a:lnTo>
                  <a:close/>
                </a:path>
                <a:path w="140970" h="2891154">
                  <a:moveTo>
                    <a:pt x="39262" y="459302"/>
                  </a:moveTo>
                  <a:lnTo>
                    <a:pt x="20875" y="459302"/>
                  </a:lnTo>
                  <a:lnTo>
                    <a:pt x="20875" y="480118"/>
                  </a:lnTo>
                  <a:lnTo>
                    <a:pt x="39262" y="477826"/>
                  </a:lnTo>
                  <a:lnTo>
                    <a:pt x="39262" y="459302"/>
                  </a:lnTo>
                  <a:close/>
                </a:path>
                <a:path w="140970" h="2891154">
                  <a:moveTo>
                    <a:pt x="41751" y="498452"/>
                  </a:moveTo>
                  <a:lnTo>
                    <a:pt x="20875" y="498452"/>
                  </a:lnTo>
                  <a:lnTo>
                    <a:pt x="23174" y="516786"/>
                  </a:lnTo>
                  <a:lnTo>
                    <a:pt x="41751" y="516786"/>
                  </a:lnTo>
                  <a:lnTo>
                    <a:pt x="41751" y="498452"/>
                  </a:lnTo>
                  <a:close/>
                </a:path>
                <a:path w="140970" h="2891154">
                  <a:moveTo>
                    <a:pt x="41751" y="535311"/>
                  </a:moveTo>
                  <a:lnTo>
                    <a:pt x="23174" y="537603"/>
                  </a:lnTo>
                  <a:lnTo>
                    <a:pt x="23174" y="555936"/>
                  </a:lnTo>
                  <a:lnTo>
                    <a:pt x="44050" y="555936"/>
                  </a:lnTo>
                  <a:lnTo>
                    <a:pt x="41751" y="535311"/>
                  </a:lnTo>
                  <a:close/>
                </a:path>
                <a:path w="140970" h="2891154">
                  <a:moveTo>
                    <a:pt x="44050" y="574270"/>
                  </a:moveTo>
                  <a:lnTo>
                    <a:pt x="25663" y="574270"/>
                  </a:lnTo>
                  <a:lnTo>
                    <a:pt x="25663" y="595087"/>
                  </a:lnTo>
                  <a:lnTo>
                    <a:pt x="44050" y="592795"/>
                  </a:lnTo>
                  <a:lnTo>
                    <a:pt x="44050" y="574270"/>
                  </a:lnTo>
                  <a:close/>
                </a:path>
                <a:path w="140970" h="2891154">
                  <a:moveTo>
                    <a:pt x="45965" y="613421"/>
                  </a:moveTo>
                  <a:lnTo>
                    <a:pt x="27962" y="613421"/>
                  </a:lnTo>
                  <a:lnTo>
                    <a:pt x="27962" y="631755"/>
                  </a:lnTo>
                  <a:lnTo>
                    <a:pt x="45965" y="631755"/>
                  </a:lnTo>
                  <a:lnTo>
                    <a:pt x="45965" y="613421"/>
                  </a:lnTo>
                  <a:close/>
                </a:path>
                <a:path w="140970" h="2891154">
                  <a:moveTo>
                    <a:pt x="48455" y="650280"/>
                  </a:moveTo>
                  <a:lnTo>
                    <a:pt x="27962" y="652571"/>
                  </a:lnTo>
                  <a:lnTo>
                    <a:pt x="29877" y="670905"/>
                  </a:lnTo>
                  <a:lnTo>
                    <a:pt x="48455" y="670905"/>
                  </a:lnTo>
                  <a:lnTo>
                    <a:pt x="48455" y="650280"/>
                  </a:lnTo>
                  <a:close/>
                </a:path>
                <a:path w="140970" h="2891154">
                  <a:moveTo>
                    <a:pt x="48455" y="689239"/>
                  </a:moveTo>
                  <a:lnTo>
                    <a:pt x="29877" y="689239"/>
                  </a:lnTo>
                  <a:lnTo>
                    <a:pt x="29877" y="710056"/>
                  </a:lnTo>
                  <a:lnTo>
                    <a:pt x="50753" y="707764"/>
                  </a:lnTo>
                  <a:lnTo>
                    <a:pt x="48455" y="689239"/>
                  </a:lnTo>
                  <a:close/>
                </a:path>
                <a:path w="140970" h="2891154">
                  <a:moveTo>
                    <a:pt x="50753" y="728389"/>
                  </a:moveTo>
                  <a:lnTo>
                    <a:pt x="32175" y="728389"/>
                  </a:lnTo>
                  <a:lnTo>
                    <a:pt x="32175" y="746723"/>
                  </a:lnTo>
                  <a:lnTo>
                    <a:pt x="50753" y="746723"/>
                  </a:lnTo>
                  <a:lnTo>
                    <a:pt x="50753" y="728389"/>
                  </a:lnTo>
                  <a:close/>
                </a:path>
                <a:path w="140970" h="2891154">
                  <a:moveTo>
                    <a:pt x="53051" y="765248"/>
                  </a:moveTo>
                  <a:lnTo>
                    <a:pt x="32175" y="767540"/>
                  </a:lnTo>
                  <a:lnTo>
                    <a:pt x="34665" y="785874"/>
                  </a:lnTo>
                  <a:lnTo>
                    <a:pt x="53051" y="785874"/>
                  </a:lnTo>
                  <a:lnTo>
                    <a:pt x="53051" y="765248"/>
                  </a:lnTo>
                  <a:close/>
                </a:path>
                <a:path w="140970" h="2891154">
                  <a:moveTo>
                    <a:pt x="53051" y="804208"/>
                  </a:moveTo>
                  <a:lnTo>
                    <a:pt x="34665" y="804208"/>
                  </a:lnTo>
                  <a:lnTo>
                    <a:pt x="34665" y="825024"/>
                  </a:lnTo>
                  <a:lnTo>
                    <a:pt x="55541" y="822733"/>
                  </a:lnTo>
                  <a:lnTo>
                    <a:pt x="53051" y="804208"/>
                  </a:lnTo>
                  <a:close/>
                </a:path>
                <a:path w="140970" h="2891154">
                  <a:moveTo>
                    <a:pt x="55541" y="843358"/>
                  </a:moveTo>
                  <a:lnTo>
                    <a:pt x="36963" y="843358"/>
                  </a:lnTo>
                  <a:lnTo>
                    <a:pt x="36963" y="861692"/>
                  </a:lnTo>
                  <a:lnTo>
                    <a:pt x="55541" y="861692"/>
                  </a:lnTo>
                  <a:lnTo>
                    <a:pt x="55541" y="843358"/>
                  </a:lnTo>
                  <a:close/>
                </a:path>
                <a:path w="140970" h="2891154">
                  <a:moveTo>
                    <a:pt x="57839" y="880217"/>
                  </a:moveTo>
                  <a:lnTo>
                    <a:pt x="36963" y="882509"/>
                  </a:lnTo>
                  <a:lnTo>
                    <a:pt x="39262" y="900843"/>
                  </a:lnTo>
                  <a:lnTo>
                    <a:pt x="57839" y="900843"/>
                  </a:lnTo>
                  <a:lnTo>
                    <a:pt x="57839" y="880217"/>
                  </a:lnTo>
                  <a:close/>
                </a:path>
                <a:path w="140970" h="2891154">
                  <a:moveTo>
                    <a:pt x="57839" y="919176"/>
                  </a:moveTo>
                  <a:lnTo>
                    <a:pt x="39262" y="919176"/>
                  </a:lnTo>
                  <a:lnTo>
                    <a:pt x="39262" y="939993"/>
                  </a:lnTo>
                  <a:lnTo>
                    <a:pt x="60137" y="937701"/>
                  </a:lnTo>
                  <a:lnTo>
                    <a:pt x="57839" y="919176"/>
                  </a:lnTo>
                  <a:close/>
                </a:path>
                <a:path w="140970" h="2891154">
                  <a:moveTo>
                    <a:pt x="60137" y="958327"/>
                  </a:moveTo>
                  <a:lnTo>
                    <a:pt x="41751" y="958327"/>
                  </a:lnTo>
                  <a:lnTo>
                    <a:pt x="41751" y="976661"/>
                  </a:lnTo>
                  <a:lnTo>
                    <a:pt x="60137" y="976661"/>
                  </a:lnTo>
                  <a:lnTo>
                    <a:pt x="60137" y="958327"/>
                  </a:lnTo>
                  <a:close/>
                </a:path>
                <a:path w="140970" h="2891154">
                  <a:moveTo>
                    <a:pt x="62053" y="995186"/>
                  </a:moveTo>
                  <a:lnTo>
                    <a:pt x="41751" y="997477"/>
                  </a:lnTo>
                  <a:lnTo>
                    <a:pt x="44050" y="1015811"/>
                  </a:lnTo>
                  <a:lnTo>
                    <a:pt x="62053" y="1015811"/>
                  </a:lnTo>
                  <a:lnTo>
                    <a:pt x="62053" y="995186"/>
                  </a:lnTo>
                  <a:close/>
                </a:path>
                <a:path w="140970" h="2891154">
                  <a:moveTo>
                    <a:pt x="62053" y="1034145"/>
                  </a:moveTo>
                  <a:lnTo>
                    <a:pt x="44050" y="1034145"/>
                  </a:lnTo>
                  <a:lnTo>
                    <a:pt x="44050" y="1054389"/>
                  </a:lnTo>
                  <a:lnTo>
                    <a:pt x="64542" y="1052670"/>
                  </a:lnTo>
                  <a:lnTo>
                    <a:pt x="62053" y="1034145"/>
                  </a:lnTo>
                  <a:close/>
                </a:path>
                <a:path w="140970" h="2891154">
                  <a:moveTo>
                    <a:pt x="64542" y="1072914"/>
                  </a:moveTo>
                  <a:lnTo>
                    <a:pt x="45965" y="1072914"/>
                  </a:lnTo>
                  <a:lnTo>
                    <a:pt x="45965" y="1091248"/>
                  </a:lnTo>
                  <a:lnTo>
                    <a:pt x="64542" y="1091248"/>
                  </a:lnTo>
                  <a:lnTo>
                    <a:pt x="64542" y="1072914"/>
                  </a:lnTo>
                  <a:close/>
                </a:path>
                <a:path w="140970" h="2891154">
                  <a:moveTo>
                    <a:pt x="66841" y="1110154"/>
                  </a:moveTo>
                  <a:lnTo>
                    <a:pt x="45965" y="1111873"/>
                  </a:lnTo>
                  <a:lnTo>
                    <a:pt x="48455" y="1130398"/>
                  </a:lnTo>
                  <a:lnTo>
                    <a:pt x="66841" y="1130398"/>
                  </a:lnTo>
                  <a:lnTo>
                    <a:pt x="66841" y="1110154"/>
                  </a:lnTo>
                  <a:close/>
                </a:path>
                <a:path w="140970" h="2891154">
                  <a:moveTo>
                    <a:pt x="69330" y="1148732"/>
                  </a:moveTo>
                  <a:lnTo>
                    <a:pt x="48455" y="1148732"/>
                  </a:lnTo>
                  <a:lnTo>
                    <a:pt x="50753" y="1169358"/>
                  </a:lnTo>
                  <a:lnTo>
                    <a:pt x="69330" y="1167066"/>
                  </a:lnTo>
                  <a:lnTo>
                    <a:pt x="69330" y="1148732"/>
                  </a:lnTo>
                  <a:close/>
                </a:path>
                <a:path w="140970" h="2891154">
                  <a:moveTo>
                    <a:pt x="69330" y="1187883"/>
                  </a:moveTo>
                  <a:lnTo>
                    <a:pt x="50753" y="1187883"/>
                  </a:lnTo>
                  <a:lnTo>
                    <a:pt x="50753" y="1206216"/>
                  </a:lnTo>
                  <a:lnTo>
                    <a:pt x="71629" y="1206216"/>
                  </a:lnTo>
                  <a:lnTo>
                    <a:pt x="69330" y="1187883"/>
                  </a:lnTo>
                  <a:close/>
                </a:path>
                <a:path w="140970" h="2891154">
                  <a:moveTo>
                    <a:pt x="71629" y="1224550"/>
                  </a:moveTo>
                  <a:lnTo>
                    <a:pt x="53051" y="1226842"/>
                  </a:lnTo>
                  <a:lnTo>
                    <a:pt x="53051" y="1245367"/>
                  </a:lnTo>
                  <a:lnTo>
                    <a:pt x="71629" y="1242884"/>
                  </a:lnTo>
                  <a:lnTo>
                    <a:pt x="71629" y="1224550"/>
                  </a:lnTo>
                  <a:close/>
                </a:path>
                <a:path w="140970" h="2891154">
                  <a:moveTo>
                    <a:pt x="73927" y="1263701"/>
                  </a:moveTo>
                  <a:lnTo>
                    <a:pt x="53051" y="1263701"/>
                  </a:lnTo>
                  <a:lnTo>
                    <a:pt x="55541" y="1282035"/>
                  </a:lnTo>
                  <a:lnTo>
                    <a:pt x="73927" y="1282035"/>
                  </a:lnTo>
                  <a:lnTo>
                    <a:pt x="73927" y="1263701"/>
                  </a:lnTo>
                  <a:close/>
                </a:path>
                <a:path w="140970" h="2891154">
                  <a:moveTo>
                    <a:pt x="73927" y="1300369"/>
                  </a:moveTo>
                  <a:lnTo>
                    <a:pt x="55541" y="1302851"/>
                  </a:lnTo>
                  <a:lnTo>
                    <a:pt x="55541" y="1321185"/>
                  </a:lnTo>
                  <a:lnTo>
                    <a:pt x="76417" y="1321185"/>
                  </a:lnTo>
                  <a:lnTo>
                    <a:pt x="73927" y="1300369"/>
                  </a:lnTo>
                  <a:close/>
                </a:path>
                <a:path w="140970" h="2891154">
                  <a:moveTo>
                    <a:pt x="76417" y="1339519"/>
                  </a:moveTo>
                  <a:lnTo>
                    <a:pt x="57839" y="1339519"/>
                  </a:lnTo>
                  <a:lnTo>
                    <a:pt x="57839" y="1360336"/>
                  </a:lnTo>
                  <a:lnTo>
                    <a:pt x="76417" y="1357853"/>
                  </a:lnTo>
                  <a:lnTo>
                    <a:pt x="76417" y="1339519"/>
                  </a:lnTo>
                  <a:close/>
                </a:path>
                <a:path w="140970" h="2891154">
                  <a:moveTo>
                    <a:pt x="78332" y="1378670"/>
                  </a:moveTo>
                  <a:lnTo>
                    <a:pt x="57839" y="1378670"/>
                  </a:lnTo>
                  <a:lnTo>
                    <a:pt x="60137" y="1397003"/>
                  </a:lnTo>
                  <a:lnTo>
                    <a:pt x="78332" y="1397003"/>
                  </a:lnTo>
                  <a:lnTo>
                    <a:pt x="78332" y="1378670"/>
                  </a:lnTo>
                  <a:close/>
                </a:path>
                <a:path w="140970" h="2891154">
                  <a:moveTo>
                    <a:pt x="78332" y="1415337"/>
                  </a:moveTo>
                  <a:lnTo>
                    <a:pt x="60137" y="1417820"/>
                  </a:lnTo>
                  <a:lnTo>
                    <a:pt x="60137" y="1436154"/>
                  </a:lnTo>
                  <a:lnTo>
                    <a:pt x="80630" y="1436154"/>
                  </a:lnTo>
                  <a:lnTo>
                    <a:pt x="78332" y="1415337"/>
                  </a:lnTo>
                  <a:close/>
                </a:path>
                <a:path w="140970" h="2891154">
                  <a:moveTo>
                    <a:pt x="80630" y="1454488"/>
                  </a:moveTo>
                  <a:lnTo>
                    <a:pt x="62053" y="1454488"/>
                  </a:lnTo>
                  <a:lnTo>
                    <a:pt x="62053" y="1475304"/>
                  </a:lnTo>
                  <a:lnTo>
                    <a:pt x="80630" y="1472822"/>
                  </a:lnTo>
                  <a:lnTo>
                    <a:pt x="80630" y="1454488"/>
                  </a:lnTo>
                  <a:close/>
                </a:path>
                <a:path w="140970" h="2891154">
                  <a:moveTo>
                    <a:pt x="82929" y="1493638"/>
                  </a:moveTo>
                  <a:lnTo>
                    <a:pt x="62053" y="1493638"/>
                  </a:lnTo>
                  <a:lnTo>
                    <a:pt x="64542" y="1511972"/>
                  </a:lnTo>
                  <a:lnTo>
                    <a:pt x="82929" y="1511972"/>
                  </a:lnTo>
                  <a:lnTo>
                    <a:pt x="82929" y="1493638"/>
                  </a:lnTo>
                  <a:close/>
                </a:path>
                <a:path w="140970" h="2891154">
                  <a:moveTo>
                    <a:pt x="82929" y="1530306"/>
                  </a:moveTo>
                  <a:lnTo>
                    <a:pt x="64542" y="1532789"/>
                  </a:lnTo>
                  <a:lnTo>
                    <a:pt x="64542" y="1551123"/>
                  </a:lnTo>
                  <a:lnTo>
                    <a:pt x="85418" y="1551123"/>
                  </a:lnTo>
                  <a:lnTo>
                    <a:pt x="82929" y="1530306"/>
                  </a:lnTo>
                  <a:close/>
                </a:path>
                <a:path w="140970" h="2891154">
                  <a:moveTo>
                    <a:pt x="85418" y="1569457"/>
                  </a:moveTo>
                  <a:lnTo>
                    <a:pt x="66841" y="1569457"/>
                  </a:lnTo>
                  <a:lnTo>
                    <a:pt x="66841" y="1590273"/>
                  </a:lnTo>
                  <a:lnTo>
                    <a:pt x="85418" y="1587790"/>
                  </a:lnTo>
                  <a:lnTo>
                    <a:pt x="85418" y="1569457"/>
                  </a:lnTo>
                  <a:close/>
                </a:path>
                <a:path w="140970" h="2891154">
                  <a:moveTo>
                    <a:pt x="87717" y="1608569"/>
                  </a:moveTo>
                  <a:lnTo>
                    <a:pt x="66841" y="1608569"/>
                  </a:lnTo>
                  <a:lnTo>
                    <a:pt x="69331" y="1626941"/>
                  </a:lnTo>
                  <a:lnTo>
                    <a:pt x="87717" y="1626941"/>
                  </a:lnTo>
                  <a:lnTo>
                    <a:pt x="87717" y="1608569"/>
                  </a:lnTo>
                  <a:close/>
                </a:path>
                <a:path w="140970" h="2891154">
                  <a:moveTo>
                    <a:pt x="87717" y="1645332"/>
                  </a:moveTo>
                  <a:lnTo>
                    <a:pt x="69331" y="1647681"/>
                  </a:lnTo>
                  <a:lnTo>
                    <a:pt x="71629" y="1666053"/>
                  </a:lnTo>
                  <a:lnTo>
                    <a:pt x="90206" y="1666053"/>
                  </a:lnTo>
                  <a:lnTo>
                    <a:pt x="87717" y="1645332"/>
                  </a:lnTo>
                  <a:close/>
                </a:path>
                <a:path w="140970" h="2891154">
                  <a:moveTo>
                    <a:pt x="90206" y="1684425"/>
                  </a:moveTo>
                  <a:lnTo>
                    <a:pt x="71629" y="1684425"/>
                  </a:lnTo>
                  <a:lnTo>
                    <a:pt x="71629" y="1705165"/>
                  </a:lnTo>
                  <a:lnTo>
                    <a:pt x="92505" y="1702816"/>
                  </a:lnTo>
                  <a:lnTo>
                    <a:pt x="90206" y="1684425"/>
                  </a:lnTo>
                  <a:close/>
                </a:path>
                <a:path w="140970" h="2891154">
                  <a:moveTo>
                    <a:pt x="92505" y="1723538"/>
                  </a:moveTo>
                  <a:lnTo>
                    <a:pt x="73927" y="1723538"/>
                  </a:lnTo>
                  <a:lnTo>
                    <a:pt x="73927" y="1741910"/>
                  </a:lnTo>
                  <a:lnTo>
                    <a:pt x="92505" y="1741910"/>
                  </a:lnTo>
                  <a:lnTo>
                    <a:pt x="92505" y="1723538"/>
                  </a:lnTo>
                  <a:close/>
                </a:path>
                <a:path w="140970" h="2891154">
                  <a:moveTo>
                    <a:pt x="94420" y="1760301"/>
                  </a:moveTo>
                  <a:lnTo>
                    <a:pt x="73927" y="1762650"/>
                  </a:lnTo>
                  <a:lnTo>
                    <a:pt x="76417" y="1781022"/>
                  </a:lnTo>
                  <a:lnTo>
                    <a:pt x="94420" y="1781022"/>
                  </a:lnTo>
                  <a:lnTo>
                    <a:pt x="94420" y="1760301"/>
                  </a:lnTo>
                  <a:close/>
                </a:path>
                <a:path w="140970" h="2891154">
                  <a:moveTo>
                    <a:pt x="94420" y="1799394"/>
                  </a:moveTo>
                  <a:lnTo>
                    <a:pt x="76417" y="1799394"/>
                  </a:lnTo>
                  <a:lnTo>
                    <a:pt x="76417" y="1820134"/>
                  </a:lnTo>
                  <a:lnTo>
                    <a:pt x="96718" y="1817785"/>
                  </a:lnTo>
                  <a:lnTo>
                    <a:pt x="94420" y="1799394"/>
                  </a:lnTo>
                  <a:close/>
                </a:path>
                <a:path w="140970" h="2891154">
                  <a:moveTo>
                    <a:pt x="96718" y="1838506"/>
                  </a:moveTo>
                  <a:lnTo>
                    <a:pt x="78332" y="1838506"/>
                  </a:lnTo>
                  <a:lnTo>
                    <a:pt x="78332" y="1856878"/>
                  </a:lnTo>
                  <a:lnTo>
                    <a:pt x="96718" y="1856878"/>
                  </a:lnTo>
                  <a:lnTo>
                    <a:pt x="96718" y="1838506"/>
                  </a:lnTo>
                  <a:close/>
                </a:path>
                <a:path w="140970" h="2891154">
                  <a:moveTo>
                    <a:pt x="99208" y="1875270"/>
                  </a:moveTo>
                  <a:lnTo>
                    <a:pt x="78332" y="1877141"/>
                  </a:lnTo>
                  <a:lnTo>
                    <a:pt x="80630" y="1895991"/>
                  </a:lnTo>
                  <a:lnTo>
                    <a:pt x="99208" y="1895991"/>
                  </a:lnTo>
                  <a:lnTo>
                    <a:pt x="99208" y="1875270"/>
                  </a:lnTo>
                  <a:close/>
                </a:path>
                <a:path w="140970" h="2891154">
                  <a:moveTo>
                    <a:pt x="99208" y="1914363"/>
                  </a:moveTo>
                  <a:lnTo>
                    <a:pt x="80630" y="1914363"/>
                  </a:lnTo>
                  <a:lnTo>
                    <a:pt x="80630" y="1934625"/>
                  </a:lnTo>
                  <a:lnTo>
                    <a:pt x="101506" y="1932735"/>
                  </a:lnTo>
                  <a:lnTo>
                    <a:pt x="99208" y="1914363"/>
                  </a:lnTo>
                  <a:close/>
                </a:path>
                <a:path w="140970" h="2891154">
                  <a:moveTo>
                    <a:pt x="101506" y="1952998"/>
                  </a:moveTo>
                  <a:lnTo>
                    <a:pt x="82929" y="1952998"/>
                  </a:lnTo>
                  <a:lnTo>
                    <a:pt x="82929" y="1971389"/>
                  </a:lnTo>
                  <a:lnTo>
                    <a:pt x="101506" y="1971389"/>
                  </a:lnTo>
                  <a:lnTo>
                    <a:pt x="101506" y="1952998"/>
                  </a:lnTo>
                  <a:close/>
                </a:path>
                <a:path w="140970" h="2891154">
                  <a:moveTo>
                    <a:pt x="103804" y="1989761"/>
                  </a:moveTo>
                  <a:lnTo>
                    <a:pt x="82929" y="1992110"/>
                  </a:lnTo>
                  <a:lnTo>
                    <a:pt x="85418" y="2010482"/>
                  </a:lnTo>
                  <a:lnTo>
                    <a:pt x="103804" y="2010482"/>
                  </a:lnTo>
                  <a:lnTo>
                    <a:pt x="103804" y="1989761"/>
                  </a:lnTo>
                  <a:close/>
                </a:path>
                <a:path w="140970" h="2891154">
                  <a:moveTo>
                    <a:pt x="103804" y="2028873"/>
                  </a:moveTo>
                  <a:lnTo>
                    <a:pt x="85418" y="2028873"/>
                  </a:lnTo>
                  <a:lnTo>
                    <a:pt x="85418" y="2049594"/>
                  </a:lnTo>
                  <a:lnTo>
                    <a:pt x="106294" y="2047245"/>
                  </a:lnTo>
                  <a:lnTo>
                    <a:pt x="103804" y="2028873"/>
                  </a:lnTo>
                  <a:close/>
                </a:path>
                <a:path w="140970" h="2891154">
                  <a:moveTo>
                    <a:pt x="106294" y="2067966"/>
                  </a:moveTo>
                  <a:lnTo>
                    <a:pt x="87717" y="2067966"/>
                  </a:lnTo>
                  <a:lnTo>
                    <a:pt x="87717" y="2086357"/>
                  </a:lnTo>
                  <a:lnTo>
                    <a:pt x="106294" y="2086357"/>
                  </a:lnTo>
                  <a:lnTo>
                    <a:pt x="106294" y="2067966"/>
                  </a:lnTo>
                  <a:close/>
                </a:path>
                <a:path w="140970" h="2891154">
                  <a:moveTo>
                    <a:pt x="108593" y="2104730"/>
                  </a:moveTo>
                  <a:lnTo>
                    <a:pt x="87717" y="2107079"/>
                  </a:lnTo>
                  <a:lnTo>
                    <a:pt x="90206" y="2125451"/>
                  </a:lnTo>
                  <a:lnTo>
                    <a:pt x="108593" y="2123102"/>
                  </a:lnTo>
                  <a:lnTo>
                    <a:pt x="108593" y="2104730"/>
                  </a:lnTo>
                  <a:close/>
                </a:path>
                <a:path w="140970" h="2891154">
                  <a:moveTo>
                    <a:pt x="108593" y="2143842"/>
                  </a:moveTo>
                  <a:lnTo>
                    <a:pt x="90206" y="2143842"/>
                  </a:lnTo>
                  <a:lnTo>
                    <a:pt x="90206" y="2162214"/>
                  </a:lnTo>
                  <a:lnTo>
                    <a:pt x="110508" y="2162214"/>
                  </a:lnTo>
                  <a:lnTo>
                    <a:pt x="108593" y="2143842"/>
                  </a:lnTo>
                  <a:close/>
                </a:path>
                <a:path w="140970" h="2891154">
                  <a:moveTo>
                    <a:pt x="110508" y="2180586"/>
                  </a:moveTo>
                  <a:lnTo>
                    <a:pt x="92505" y="2182935"/>
                  </a:lnTo>
                  <a:lnTo>
                    <a:pt x="92505" y="2201307"/>
                  </a:lnTo>
                  <a:lnTo>
                    <a:pt x="110508" y="2201307"/>
                  </a:lnTo>
                  <a:lnTo>
                    <a:pt x="110508" y="2180586"/>
                  </a:lnTo>
                  <a:close/>
                </a:path>
                <a:path w="140970" h="2891154">
                  <a:moveTo>
                    <a:pt x="112806" y="2219698"/>
                  </a:moveTo>
                  <a:lnTo>
                    <a:pt x="94420" y="2219698"/>
                  </a:lnTo>
                  <a:lnTo>
                    <a:pt x="94420" y="2240419"/>
                  </a:lnTo>
                  <a:lnTo>
                    <a:pt x="112806" y="2238070"/>
                  </a:lnTo>
                  <a:lnTo>
                    <a:pt x="112806" y="2219698"/>
                  </a:lnTo>
                  <a:close/>
                </a:path>
                <a:path w="140970" h="2891154">
                  <a:moveTo>
                    <a:pt x="115296" y="2258792"/>
                  </a:moveTo>
                  <a:lnTo>
                    <a:pt x="94420" y="2258792"/>
                  </a:lnTo>
                  <a:lnTo>
                    <a:pt x="96718" y="2277183"/>
                  </a:lnTo>
                  <a:lnTo>
                    <a:pt x="115296" y="2277183"/>
                  </a:lnTo>
                  <a:lnTo>
                    <a:pt x="115296" y="2258792"/>
                  </a:lnTo>
                  <a:close/>
                </a:path>
                <a:path w="140970" h="2891154">
                  <a:moveTo>
                    <a:pt x="115296" y="2295555"/>
                  </a:moveTo>
                  <a:lnTo>
                    <a:pt x="96718" y="2297904"/>
                  </a:lnTo>
                  <a:lnTo>
                    <a:pt x="96718" y="2316276"/>
                  </a:lnTo>
                  <a:lnTo>
                    <a:pt x="117594" y="2316276"/>
                  </a:lnTo>
                  <a:lnTo>
                    <a:pt x="115296" y="2295555"/>
                  </a:lnTo>
                  <a:close/>
                </a:path>
                <a:path w="140970" h="2891154">
                  <a:moveTo>
                    <a:pt x="117594" y="2334667"/>
                  </a:moveTo>
                  <a:lnTo>
                    <a:pt x="99208" y="2334667"/>
                  </a:lnTo>
                  <a:lnTo>
                    <a:pt x="99208" y="2355388"/>
                  </a:lnTo>
                  <a:lnTo>
                    <a:pt x="117594" y="2353039"/>
                  </a:lnTo>
                  <a:lnTo>
                    <a:pt x="117594" y="2334667"/>
                  </a:lnTo>
                  <a:close/>
                </a:path>
                <a:path w="140970" h="2891154">
                  <a:moveTo>
                    <a:pt x="120084" y="2373760"/>
                  </a:moveTo>
                  <a:lnTo>
                    <a:pt x="99208" y="2373760"/>
                  </a:lnTo>
                  <a:lnTo>
                    <a:pt x="101506" y="2392151"/>
                  </a:lnTo>
                  <a:lnTo>
                    <a:pt x="120084" y="2392151"/>
                  </a:lnTo>
                  <a:lnTo>
                    <a:pt x="120084" y="2373760"/>
                  </a:lnTo>
                  <a:close/>
                </a:path>
                <a:path w="140970" h="2891154">
                  <a:moveTo>
                    <a:pt x="120084" y="2410524"/>
                  </a:moveTo>
                  <a:lnTo>
                    <a:pt x="101506" y="2412873"/>
                  </a:lnTo>
                  <a:lnTo>
                    <a:pt x="101506" y="2431245"/>
                  </a:lnTo>
                  <a:lnTo>
                    <a:pt x="122382" y="2431245"/>
                  </a:lnTo>
                  <a:lnTo>
                    <a:pt x="120084" y="2410524"/>
                  </a:lnTo>
                  <a:close/>
                </a:path>
                <a:path w="140970" h="2891154">
                  <a:moveTo>
                    <a:pt x="122382" y="2449636"/>
                  </a:moveTo>
                  <a:lnTo>
                    <a:pt x="103805" y="2449636"/>
                  </a:lnTo>
                  <a:lnTo>
                    <a:pt x="103805" y="2470357"/>
                  </a:lnTo>
                  <a:lnTo>
                    <a:pt x="122382" y="2468008"/>
                  </a:lnTo>
                  <a:lnTo>
                    <a:pt x="122382" y="2449636"/>
                  </a:lnTo>
                  <a:close/>
                </a:path>
                <a:path w="140970" h="2891154">
                  <a:moveTo>
                    <a:pt x="124680" y="2488729"/>
                  </a:moveTo>
                  <a:lnTo>
                    <a:pt x="103805" y="2488729"/>
                  </a:lnTo>
                  <a:lnTo>
                    <a:pt x="106294" y="2507120"/>
                  </a:lnTo>
                  <a:lnTo>
                    <a:pt x="124680" y="2507120"/>
                  </a:lnTo>
                  <a:lnTo>
                    <a:pt x="124680" y="2488729"/>
                  </a:lnTo>
                  <a:close/>
                </a:path>
                <a:path w="140970" h="2891154">
                  <a:moveTo>
                    <a:pt x="124680" y="2525492"/>
                  </a:moveTo>
                  <a:lnTo>
                    <a:pt x="106294" y="2527841"/>
                  </a:lnTo>
                  <a:lnTo>
                    <a:pt x="106294" y="2546213"/>
                  </a:lnTo>
                  <a:lnTo>
                    <a:pt x="126596" y="2546213"/>
                  </a:lnTo>
                  <a:lnTo>
                    <a:pt x="124680" y="2525492"/>
                  </a:lnTo>
                  <a:close/>
                </a:path>
                <a:path w="140970" h="2891154">
                  <a:moveTo>
                    <a:pt x="126596" y="2564605"/>
                  </a:moveTo>
                  <a:lnTo>
                    <a:pt x="108593" y="2564605"/>
                  </a:lnTo>
                  <a:lnTo>
                    <a:pt x="108593" y="2585326"/>
                  </a:lnTo>
                  <a:lnTo>
                    <a:pt x="126596" y="2582977"/>
                  </a:lnTo>
                  <a:lnTo>
                    <a:pt x="126596" y="2564605"/>
                  </a:lnTo>
                  <a:close/>
                </a:path>
                <a:path w="140970" h="2891154">
                  <a:moveTo>
                    <a:pt x="129085" y="2603698"/>
                  </a:moveTo>
                  <a:lnTo>
                    <a:pt x="108593" y="2603698"/>
                  </a:lnTo>
                  <a:lnTo>
                    <a:pt x="110508" y="2622089"/>
                  </a:lnTo>
                  <a:lnTo>
                    <a:pt x="129085" y="2622089"/>
                  </a:lnTo>
                  <a:lnTo>
                    <a:pt x="129085" y="2603698"/>
                  </a:lnTo>
                  <a:close/>
                </a:path>
                <a:path w="140970" h="2891154">
                  <a:moveTo>
                    <a:pt x="129085" y="2640461"/>
                  </a:moveTo>
                  <a:lnTo>
                    <a:pt x="110508" y="2642810"/>
                  </a:lnTo>
                  <a:lnTo>
                    <a:pt x="110508" y="2661182"/>
                  </a:lnTo>
                  <a:lnTo>
                    <a:pt x="131384" y="2661182"/>
                  </a:lnTo>
                  <a:lnTo>
                    <a:pt x="129085" y="2640461"/>
                  </a:lnTo>
                  <a:close/>
                </a:path>
                <a:path w="140970" h="2891154">
                  <a:moveTo>
                    <a:pt x="131384" y="2679554"/>
                  </a:moveTo>
                  <a:lnTo>
                    <a:pt x="112806" y="2679554"/>
                  </a:lnTo>
                  <a:lnTo>
                    <a:pt x="112806" y="2700294"/>
                  </a:lnTo>
                  <a:lnTo>
                    <a:pt x="131384" y="2697945"/>
                  </a:lnTo>
                  <a:lnTo>
                    <a:pt x="131384" y="2679554"/>
                  </a:lnTo>
                  <a:close/>
                </a:path>
                <a:path w="140970" h="2891154">
                  <a:moveTo>
                    <a:pt x="133682" y="2718666"/>
                  </a:moveTo>
                  <a:lnTo>
                    <a:pt x="112806" y="2718666"/>
                  </a:lnTo>
                  <a:lnTo>
                    <a:pt x="115296" y="2737039"/>
                  </a:lnTo>
                  <a:lnTo>
                    <a:pt x="133682" y="2737039"/>
                  </a:lnTo>
                  <a:lnTo>
                    <a:pt x="133682" y="2718666"/>
                  </a:lnTo>
                  <a:close/>
                </a:path>
                <a:path w="140970" h="2891154">
                  <a:moveTo>
                    <a:pt x="136172" y="2755430"/>
                  </a:moveTo>
                  <a:lnTo>
                    <a:pt x="115296" y="2757301"/>
                  </a:lnTo>
                  <a:lnTo>
                    <a:pt x="117594" y="2775692"/>
                  </a:lnTo>
                  <a:lnTo>
                    <a:pt x="136172" y="2775692"/>
                  </a:lnTo>
                  <a:lnTo>
                    <a:pt x="136172" y="2755430"/>
                  </a:lnTo>
                  <a:close/>
                </a:path>
                <a:path w="140970" h="2891154">
                  <a:moveTo>
                    <a:pt x="136172" y="2794065"/>
                  </a:moveTo>
                  <a:lnTo>
                    <a:pt x="117594" y="2794065"/>
                  </a:lnTo>
                  <a:lnTo>
                    <a:pt x="117594" y="2814786"/>
                  </a:lnTo>
                  <a:lnTo>
                    <a:pt x="138470" y="2812437"/>
                  </a:lnTo>
                  <a:lnTo>
                    <a:pt x="136172" y="2794065"/>
                  </a:lnTo>
                  <a:close/>
                </a:path>
                <a:path w="140970" h="2891154">
                  <a:moveTo>
                    <a:pt x="138470" y="2833177"/>
                  </a:moveTo>
                  <a:lnTo>
                    <a:pt x="120084" y="2833177"/>
                  </a:lnTo>
                  <a:lnTo>
                    <a:pt x="120084" y="2851549"/>
                  </a:lnTo>
                  <a:lnTo>
                    <a:pt x="138470" y="2851549"/>
                  </a:lnTo>
                  <a:lnTo>
                    <a:pt x="138470" y="2833177"/>
                  </a:lnTo>
                  <a:close/>
                </a:path>
                <a:path w="140970" h="2891154">
                  <a:moveTo>
                    <a:pt x="140960" y="2869921"/>
                  </a:moveTo>
                  <a:lnTo>
                    <a:pt x="120084" y="2872270"/>
                  </a:lnTo>
                  <a:lnTo>
                    <a:pt x="122382" y="2890661"/>
                  </a:lnTo>
                  <a:lnTo>
                    <a:pt x="140960" y="2890661"/>
                  </a:lnTo>
                  <a:lnTo>
                    <a:pt x="140960" y="2869921"/>
                  </a:lnTo>
                  <a:close/>
                </a:path>
              </a:pathLst>
            </a:custGeom>
            <a:solidFill>
              <a:srgbClr val="FF0000"/>
            </a:solidFill>
          </p:spPr>
          <p:txBody>
            <a:bodyPr wrap="square" lIns="0" tIns="0" rIns="0" bIns="0" rtlCol="0"/>
            <a:lstStyle/>
            <a:p/>
          </p:txBody>
        </p:sp>
        <p:sp>
          <p:nvSpPr>
            <p:cNvPr id="115" name="object 115" descr=""/>
            <p:cNvSpPr/>
            <p:nvPr/>
          </p:nvSpPr>
          <p:spPr>
            <a:xfrm>
              <a:off x="6796759" y="2541840"/>
              <a:ext cx="140970" cy="2891155"/>
            </a:xfrm>
            <a:custGeom>
              <a:avLst/>
              <a:gdLst/>
              <a:ahLst/>
              <a:cxnLst/>
              <a:rect l="l" t="t" r="r" b="b"/>
              <a:pathLst>
                <a:path w="140970" h="2891154">
                  <a:moveTo>
                    <a:pt x="20875" y="0"/>
                  </a:moveTo>
                  <a:lnTo>
                    <a:pt x="20875" y="20625"/>
                  </a:lnTo>
                  <a:lnTo>
                    <a:pt x="2298" y="20625"/>
                  </a:lnTo>
                  <a:lnTo>
                    <a:pt x="0" y="2291"/>
                  </a:lnTo>
                  <a:lnTo>
                    <a:pt x="20875" y="0"/>
                  </a:lnTo>
                  <a:close/>
                </a:path>
                <a:path w="140970" h="2891154">
                  <a:moveTo>
                    <a:pt x="20875" y="39150"/>
                  </a:moveTo>
                  <a:lnTo>
                    <a:pt x="23174" y="57484"/>
                  </a:lnTo>
                  <a:lnTo>
                    <a:pt x="2298" y="59776"/>
                  </a:lnTo>
                  <a:lnTo>
                    <a:pt x="2298" y="39150"/>
                  </a:lnTo>
                  <a:lnTo>
                    <a:pt x="20875" y="39150"/>
                  </a:lnTo>
                  <a:close/>
                </a:path>
                <a:path w="140970" h="2891154">
                  <a:moveTo>
                    <a:pt x="23174" y="78109"/>
                  </a:moveTo>
                  <a:lnTo>
                    <a:pt x="25663" y="96634"/>
                  </a:lnTo>
                  <a:lnTo>
                    <a:pt x="4788" y="96634"/>
                  </a:lnTo>
                  <a:lnTo>
                    <a:pt x="4788" y="78109"/>
                  </a:lnTo>
                  <a:lnTo>
                    <a:pt x="23174" y="78109"/>
                  </a:lnTo>
                  <a:close/>
                </a:path>
                <a:path w="140970" h="2891154">
                  <a:moveTo>
                    <a:pt x="27962" y="154119"/>
                  </a:moveTo>
                  <a:lnTo>
                    <a:pt x="27962" y="172453"/>
                  </a:lnTo>
                  <a:lnTo>
                    <a:pt x="9384" y="174744"/>
                  </a:lnTo>
                  <a:lnTo>
                    <a:pt x="7086" y="154119"/>
                  </a:lnTo>
                  <a:lnTo>
                    <a:pt x="27962" y="154119"/>
                  </a:lnTo>
                  <a:close/>
                </a:path>
                <a:path w="140970" h="2891154">
                  <a:moveTo>
                    <a:pt x="27962" y="193078"/>
                  </a:moveTo>
                  <a:lnTo>
                    <a:pt x="29877" y="211603"/>
                  </a:lnTo>
                  <a:lnTo>
                    <a:pt x="9384" y="211603"/>
                  </a:lnTo>
                  <a:lnTo>
                    <a:pt x="9384" y="193078"/>
                  </a:lnTo>
                  <a:lnTo>
                    <a:pt x="27962" y="193078"/>
                  </a:lnTo>
                  <a:close/>
                </a:path>
                <a:path w="140970" h="2891154">
                  <a:moveTo>
                    <a:pt x="32175" y="268515"/>
                  </a:moveTo>
                  <a:lnTo>
                    <a:pt x="32175" y="286848"/>
                  </a:lnTo>
                  <a:lnTo>
                    <a:pt x="13789" y="289331"/>
                  </a:lnTo>
                  <a:lnTo>
                    <a:pt x="11874" y="268515"/>
                  </a:lnTo>
                  <a:lnTo>
                    <a:pt x="32175" y="268515"/>
                  </a:lnTo>
                  <a:close/>
                </a:path>
                <a:path w="140970" h="2891154">
                  <a:moveTo>
                    <a:pt x="32175" y="307665"/>
                  </a:moveTo>
                  <a:lnTo>
                    <a:pt x="34665" y="325999"/>
                  </a:lnTo>
                  <a:lnTo>
                    <a:pt x="13789" y="325999"/>
                  </a:lnTo>
                  <a:lnTo>
                    <a:pt x="13789" y="307665"/>
                  </a:lnTo>
                  <a:lnTo>
                    <a:pt x="32175" y="307665"/>
                  </a:lnTo>
                  <a:close/>
                </a:path>
                <a:path w="140970" h="2891154">
                  <a:moveTo>
                    <a:pt x="34665" y="344333"/>
                  </a:moveTo>
                  <a:lnTo>
                    <a:pt x="34665" y="362858"/>
                  </a:lnTo>
                  <a:lnTo>
                    <a:pt x="16087" y="365149"/>
                  </a:lnTo>
                  <a:lnTo>
                    <a:pt x="16087" y="344333"/>
                  </a:lnTo>
                  <a:lnTo>
                    <a:pt x="34665" y="344333"/>
                  </a:lnTo>
                  <a:close/>
                </a:path>
                <a:path w="140970" h="2891154">
                  <a:moveTo>
                    <a:pt x="36963" y="383483"/>
                  </a:moveTo>
                  <a:lnTo>
                    <a:pt x="36963" y="401817"/>
                  </a:lnTo>
                  <a:lnTo>
                    <a:pt x="18386" y="401817"/>
                  </a:lnTo>
                  <a:lnTo>
                    <a:pt x="16087" y="383483"/>
                  </a:lnTo>
                  <a:lnTo>
                    <a:pt x="36963" y="383483"/>
                  </a:lnTo>
                  <a:close/>
                </a:path>
                <a:path w="140970" h="2891154">
                  <a:moveTo>
                    <a:pt x="36963" y="420342"/>
                  </a:moveTo>
                  <a:lnTo>
                    <a:pt x="39262" y="440968"/>
                  </a:lnTo>
                  <a:lnTo>
                    <a:pt x="18386" y="440968"/>
                  </a:lnTo>
                  <a:lnTo>
                    <a:pt x="18386" y="422634"/>
                  </a:lnTo>
                  <a:lnTo>
                    <a:pt x="36963" y="420342"/>
                  </a:lnTo>
                  <a:close/>
                </a:path>
                <a:path w="140970" h="2891154">
                  <a:moveTo>
                    <a:pt x="39262" y="459302"/>
                  </a:moveTo>
                  <a:lnTo>
                    <a:pt x="39262" y="477826"/>
                  </a:lnTo>
                  <a:lnTo>
                    <a:pt x="20875" y="480118"/>
                  </a:lnTo>
                  <a:lnTo>
                    <a:pt x="20875" y="459302"/>
                  </a:lnTo>
                  <a:lnTo>
                    <a:pt x="39262" y="459302"/>
                  </a:lnTo>
                  <a:close/>
                </a:path>
                <a:path w="140970" h="2891154">
                  <a:moveTo>
                    <a:pt x="41751" y="498452"/>
                  </a:moveTo>
                  <a:lnTo>
                    <a:pt x="41751" y="516786"/>
                  </a:lnTo>
                  <a:lnTo>
                    <a:pt x="23174" y="516786"/>
                  </a:lnTo>
                  <a:lnTo>
                    <a:pt x="20875" y="498452"/>
                  </a:lnTo>
                  <a:lnTo>
                    <a:pt x="41751" y="498452"/>
                  </a:lnTo>
                  <a:close/>
                </a:path>
                <a:path w="140970" h="2891154">
                  <a:moveTo>
                    <a:pt x="41751" y="535311"/>
                  </a:moveTo>
                  <a:lnTo>
                    <a:pt x="44050" y="555936"/>
                  </a:lnTo>
                  <a:lnTo>
                    <a:pt x="23174" y="555936"/>
                  </a:lnTo>
                  <a:lnTo>
                    <a:pt x="23174" y="537602"/>
                  </a:lnTo>
                  <a:lnTo>
                    <a:pt x="41751" y="535311"/>
                  </a:lnTo>
                  <a:close/>
                </a:path>
                <a:path w="140970" h="2891154">
                  <a:moveTo>
                    <a:pt x="44050" y="574270"/>
                  </a:moveTo>
                  <a:lnTo>
                    <a:pt x="44050" y="592795"/>
                  </a:lnTo>
                  <a:lnTo>
                    <a:pt x="25663" y="595087"/>
                  </a:lnTo>
                  <a:lnTo>
                    <a:pt x="25663" y="574270"/>
                  </a:lnTo>
                  <a:lnTo>
                    <a:pt x="44050" y="574270"/>
                  </a:lnTo>
                  <a:close/>
                </a:path>
                <a:path w="140970" h="2891154">
                  <a:moveTo>
                    <a:pt x="48455" y="650279"/>
                  </a:moveTo>
                  <a:lnTo>
                    <a:pt x="48455" y="670905"/>
                  </a:lnTo>
                  <a:lnTo>
                    <a:pt x="29877" y="670905"/>
                  </a:lnTo>
                  <a:lnTo>
                    <a:pt x="27962" y="652571"/>
                  </a:lnTo>
                  <a:lnTo>
                    <a:pt x="48455" y="650279"/>
                  </a:lnTo>
                  <a:close/>
                </a:path>
                <a:path w="140970" h="2891154">
                  <a:moveTo>
                    <a:pt x="48455" y="689239"/>
                  </a:moveTo>
                  <a:lnTo>
                    <a:pt x="50753" y="707764"/>
                  </a:lnTo>
                  <a:lnTo>
                    <a:pt x="29877" y="710056"/>
                  </a:lnTo>
                  <a:lnTo>
                    <a:pt x="29877" y="689239"/>
                  </a:lnTo>
                  <a:lnTo>
                    <a:pt x="48455" y="689239"/>
                  </a:lnTo>
                  <a:close/>
                </a:path>
                <a:path w="140970" h="2891154">
                  <a:moveTo>
                    <a:pt x="53051" y="765248"/>
                  </a:moveTo>
                  <a:lnTo>
                    <a:pt x="53051" y="785874"/>
                  </a:lnTo>
                  <a:lnTo>
                    <a:pt x="34665" y="785874"/>
                  </a:lnTo>
                  <a:lnTo>
                    <a:pt x="32175" y="767540"/>
                  </a:lnTo>
                  <a:lnTo>
                    <a:pt x="53051" y="765248"/>
                  </a:lnTo>
                  <a:close/>
                </a:path>
                <a:path w="140970" h="2891154">
                  <a:moveTo>
                    <a:pt x="53051" y="804208"/>
                  </a:moveTo>
                  <a:lnTo>
                    <a:pt x="55541" y="822733"/>
                  </a:lnTo>
                  <a:lnTo>
                    <a:pt x="34665" y="825024"/>
                  </a:lnTo>
                  <a:lnTo>
                    <a:pt x="34665" y="804208"/>
                  </a:lnTo>
                  <a:lnTo>
                    <a:pt x="53051" y="804208"/>
                  </a:lnTo>
                  <a:close/>
                </a:path>
                <a:path w="140970" h="2891154">
                  <a:moveTo>
                    <a:pt x="57839" y="880217"/>
                  </a:moveTo>
                  <a:lnTo>
                    <a:pt x="57839" y="900843"/>
                  </a:lnTo>
                  <a:lnTo>
                    <a:pt x="39262" y="900843"/>
                  </a:lnTo>
                  <a:lnTo>
                    <a:pt x="36963" y="882509"/>
                  </a:lnTo>
                  <a:lnTo>
                    <a:pt x="57839" y="880217"/>
                  </a:lnTo>
                  <a:close/>
                </a:path>
                <a:path w="140970" h="2891154">
                  <a:moveTo>
                    <a:pt x="57839" y="919176"/>
                  </a:moveTo>
                  <a:lnTo>
                    <a:pt x="60137" y="937701"/>
                  </a:lnTo>
                  <a:lnTo>
                    <a:pt x="39262" y="939993"/>
                  </a:lnTo>
                  <a:lnTo>
                    <a:pt x="39262" y="919176"/>
                  </a:lnTo>
                  <a:lnTo>
                    <a:pt x="57839" y="919176"/>
                  </a:lnTo>
                  <a:close/>
                </a:path>
                <a:path w="140970" h="2891154">
                  <a:moveTo>
                    <a:pt x="62053" y="995186"/>
                  </a:moveTo>
                  <a:lnTo>
                    <a:pt x="62053" y="1015811"/>
                  </a:lnTo>
                  <a:lnTo>
                    <a:pt x="44050" y="1015811"/>
                  </a:lnTo>
                  <a:lnTo>
                    <a:pt x="41751" y="997477"/>
                  </a:lnTo>
                  <a:lnTo>
                    <a:pt x="62053" y="995186"/>
                  </a:lnTo>
                  <a:close/>
                </a:path>
                <a:path w="140970" h="2891154">
                  <a:moveTo>
                    <a:pt x="62053" y="1034145"/>
                  </a:moveTo>
                  <a:lnTo>
                    <a:pt x="64542" y="1052670"/>
                  </a:lnTo>
                  <a:lnTo>
                    <a:pt x="44050" y="1054389"/>
                  </a:lnTo>
                  <a:lnTo>
                    <a:pt x="44050" y="1034145"/>
                  </a:lnTo>
                  <a:lnTo>
                    <a:pt x="62053" y="1034145"/>
                  </a:lnTo>
                  <a:close/>
                </a:path>
                <a:path w="140970" h="2891154">
                  <a:moveTo>
                    <a:pt x="66841" y="1110154"/>
                  </a:moveTo>
                  <a:lnTo>
                    <a:pt x="66841" y="1130398"/>
                  </a:lnTo>
                  <a:lnTo>
                    <a:pt x="48455" y="1130398"/>
                  </a:lnTo>
                  <a:lnTo>
                    <a:pt x="45965" y="1111873"/>
                  </a:lnTo>
                  <a:lnTo>
                    <a:pt x="66841" y="1110154"/>
                  </a:lnTo>
                  <a:close/>
                </a:path>
                <a:path w="140970" h="2891154">
                  <a:moveTo>
                    <a:pt x="69331" y="1148732"/>
                  </a:moveTo>
                  <a:lnTo>
                    <a:pt x="69331" y="1167066"/>
                  </a:lnTo>
                  <a:lnTo>
                    <a:pt x="50753" y="1169358"/>
                  </a:lnTo>
                  <a:lnTo>
                    <a:pt x="48455" y="1148732"/>
                  </a:lnTo>
                  <a:lnTo>
                    <a:pt x="69331" y="1148732"/>
                  </a:lnTo>
                  <a:close/>
                </a:path>
                <a:path w="140970" h="2891154">
                  <a:moveTo>
                    <a:pt x="69331" y="1187882"/>
                  </a:moveTo>
                  <a:lnTo>
                    <a:pt x="71629" y="1206216"/>
                  </a:lnTo>
                  <a:lnTo>
                    <a:pt x="50753" y="1206216"/>
                  </a:lnTo>
                  <a:lnTo>
                    <a:pt x="50753" y="1187882"/>
                  </a:lnTo>
                  <a:lnTo>
                    <a:pt x="69331" y="1187882"/>
                  </a:lnTo>
                  <a:close/>
                </a:path>
                <a:path w="140970" h="2891154">
                  <a:moveTo>
                    <a:pt x="71629" y="1224550"/>
                  </a:moveTo>
                  <a:lnTo>
                    <a:pt x="71629" y="1242884"/>
                  </a:lnTo>
                  <a:lnTo>
                    <a:pt x="53051" y="1245367"/>
                  </a:lnTo>
                  <a:lnTo>
                    <a:pt x="53051" y="1226842"/>
                  </a:lnTo>
                  <a:lnTo>
                    <a:pt x="71629" y="1224550"/>
                  </a:lnTo>
                  <a:close/>
                </a:path>
                <a:path w="140970" h="2891154">
                  <a:moveTo>
                    <a:pt x="73927" y="1263701"/>
                  </a:moveTo>
                  <a:lnTo>
                    <a:pt x="73927" y="1282035"/>
                  </a:lnTo>
                  <a:lnTo>
                    <a:pt x="55541" y="1282035"/>
                  </a:lnTo>
                  <a:lnTo>
                    <a:pt x="53051" y="1263701"/>
                  </a:lnTo>
                  <a:lnTo>
                    <a:pt x="73927" y="1263701"/>
                  </a:lnTo>
                  <a:close/>
                </a:path>
                <a:path w="140970" h="2891154">
                  <a:moveTo>
                    <a:pt x="73927" y="1300369"/>
                  </a:moveTo>
                  <a:lnTo>
                    <a:pt x="76417" y="1321185"/>
                  </a:lnTo>
                  <a:lnTo>
                    <a:pt x="55541" y="1321185"/>
                  </a:lnTo>
                  <a:lnTo>
                    <a:pt x="55541" y="1302851"/>
                  </a:lnTo>
                  <a:lnTo>
                    <a:pt x="73927" y="1300369"/>
                  </a:lnTo>
                  <a:close/>
                </a:path>
                <a:path w="140970" h="2891154">
                  <a:moveTo>
                    <a:pt x="76417" y="1339519"/>
                  </a:moveTo>
                  <a:lnTo>
                    <a:pt x="76417" y="1357853"/>
                  </a:lnTo>
                  <a:lnTo>
                    <a:pt x="57839" y="1360336"/>
                  </a:lnTo>
                  <a:lnTo>
                    <a:pt x="57839" y="1339519"/>
                  </a:lnTo>
                  <a:lnTo>
                    <a:pt x="76417" y="1339519"/>
                  </a:lnTo>
                  <a:close/>
                </a:path>
                <a:path w="140970" h="2891154">
                  <a:moveTo>
                    <a:pt x="78332" y="1378669"/>
                  </a:moveTo>
                  <a:lnTo>
                    <a:pt x="78332" y="1397003"/>
                  </a:lnTo>
                  <a:lnTo>
                    <a:pt x="60137" y="1397003"/>
                  </a:lnTo>
                  <a:lnTo>
                    <a:pt x="57839" y="1378669"/>
                  </a:lnTo>
                  <a:lnTo>
                    <a:pt x="78332" y="1378669"/>
                  </a:lnTo>
                  <a:close/>
                </a:path>
                <a:path w="140970" h="2891154">
                  <a:moveTo>
                    <a:pt x="78332" y="1415337"/>
                  </a:moveTo>
                  <a:lnTo>
                    <a:pt x="80630" y="1436154"/>
                  </a:lnTo>
                  <a:lnTo>
                    <a:pt x="60137" y="1436154"/>
                  </a:lnTo>
                  <a:lnTo>
                    <a:pt x="60137" y="1417820"/>
                  </a:lnTo>
                  <a:lnTo>
                    <a:pt x="78332" y="1415337"/>
                  </a:lnTo>
                  <a:close/>
                </a:path>
                <a:path w="140970" h="2891154">
                  <a:moveTo>
                    <a:pt x="80630" y="1454488"/>
                  </a:moveTo>
                  <a:lnTo>
                    <a:pt x="80630" y="1472822"/>
                  </a:lnTo>
                  <a:lnTo>
                    <a:pt x="62053" y="1475304"/>
                  </a:lnTo>
                  <a:lnTo>
                    <a:pt x="62053" y="1454488"/>
                  </a:lnTo>
                  <a:lnTo>
                    <a:pt x="80630" y="1454488"/>
                  </a:lnTo>
                  <a:close/>
                </a:path>
                <a:path w="140970" h="2891154">
                  <a:moveTo>
                    <a:pt x="82929" y="1493638"/>
                  </a:moveTo>
                  <a:lnTo>
                    <a:pt x="82929" y="1511972"/>
                  </a:lnTo>
                  <a:lnTo>
                    <a:pt x="64542" y="1511972"/>
                  </a:lnTo>
                  <a:lnTo>
                    <a:pt x="62053" y="1493638"/>
                  </a:lnTo>
                  <a:lnTo>
                    <a:pt x="82929" y="1493638"/>
                  </a:lnTo>
                  <a:close/>
                </a:path>
                <a:path w="140970" h="2891154">
                  <a:moveTo>
                    <a:pt x="82929" y="1530306"/>
                  </a:moveTo>
                  <a:lnTo>
                    <a:pt x="85418" y="1551123"/>
                  </a:lnTo>
                  <a:lnTo>
                    <a:pt x="64542" y="1551123"/>
                  </a:lnTo>
                  <a:lnTo>
                    <a:pt x="64542" y="1532789"/>
                  </a:lnTo>
                  <a:lnTo>
                    <a:pt x="82929" y="1530306"/>
                  </a:lnTo>
                  <a:close/>
                </a:path>
                <a:path w="140970" h="2891154">
                  <a:moveTo>
                    <a:pt x="85418" y="1569456"/>
                  </a:moveTo>
                  <a:lnTo>
                    <a:pt x="85418" y="1587790"/>
                  </a:lnTo>
                  <a:lnTo>
                    <a:pt x="66841" y="1590273"/>
                  </a:lnTo>
                  <a:lnTo>
                    <a:pt x="66841" y="1569456"/>
                  </a:lnTo>
                  <a:lnTo>
                    <a:pt x="85418" y="1569456"/>
                  </a:lnTo>
                  <a:close/>
                </a:path>
                <a:path w="140970" h="2891154">
                  <a:moveTo>
                    <a:pt x="87717" y="1608569"/>
                  </a:moveTo>
                  <a:lnTo>
                    <a:pt x="87717" y="1626941"/>
                  </a:lnTo>
                  <a:lnTo>
                    <a:pt x="69331" y="1626941"/>
                  </a:lnTo>
                  <a:lnTo>
                    <a:pt x="66841" y="1608569"/>
                  </a:lnTo>
                  <a:lnTo>
                    <a:pt x="87717" y="1608569"/>
                  </a:lnTo>
                  <a:close/>
                </a:path>
                <a:path w="140970" h="2891154">
                  <a:moveTo>
                    <a:pt x="87717" y="1645332"/>
                  </a:moveTo>
                  <a:lnTo>
                    <a:pt x="90206" y="1666053"/>
                  </a:lnTo>
                  <a:lnTo>
                    <a:pt x="71629" y="1666053"/>
                  </a:lnTo>
                  <a:lnTo>
                    <a:pt x="69331" y="1647681"/>
                  </a:lnTo>
                  <a:lnTo>
                    <a:pt x="87717" y="1645332"/>
                  </a:lnTo>
                  <a:close/>
                </a:path>
                <a:path w="140970" h="2891154">
                  <a:moveTo>
                    <a:pt x="90206" y="1684425"/>
                  </a:moveTo>
                  <a:lnTo>
                    <a:pt x="92505" y="1702816"/>
                  </a:lnTo>
                  <a:lnTo>
                    <a:pt x="71629" y="1705165"/>
                  </a:lnTo>
                  <a:lnTo>
                    <a:pt x="71629" y="1684425"/>
                  </a:lnTo>
                  <a:lnTo>
                    <a:pt x="90206" y="1684425"/>
                  </a:lnTo>
                  <a:close/>
                </a:path>
                <a:path w="140970" h="2891154">
                  <a:moveTo>
                    <a:pt x="94420" y="1760301"/>
                  </a:moveTo>
                  <a:lnTo>
                    <a:pt x="94420" y="1781022"/>
                  </a:lnTo>
                  <a:lnTo>
                    <a:pt x="76417" y="1781022"/>
                  </a:lnTo>
                  <a:lnTo>
                    <a:pt x="73927" y="1762650"/>
                  </a:lnTo>
                  <a:lnTo>
                    <a:pt x="94420" y="1760301"/>
                  </a:lnTo>
                  <a:close/>
                </a:path>
                <a:path w="140970" h="2891154">
                  <a:moveTo>
                    <a:pt x="94420" y="1799394"/>
                  </a:moveTo>
                  <a:lnTo>
                    <a:pt x="96718" y="1817785"/>
                  </a:lnTo>
                  <a:lnTo>
                    <a:pt x="76417" y="1820134"/>
                  </a:lnTo>
                  <a:lnTo>
                    <a:pt x="76417" y="1799394"/>
                  </a:lnTo>
                  <a:lnTo>
                    <a:pt x="94420" y="1799394"/>
                  </a:lnTo>
                  <a:close/>
                </a:path>
                <a:path w="140970" h="2891154">
                  <a:moveTo>
                    <a:pt x="99208" y="1875269"/>
                  </a:moveTo>
                  <a:lnTo>
                    <a:pt x="99208" y="1895991"/>
                  </a:lnTo>
                  <a:lnTo>
                    <a:pt x="80630" y="1895991"/>
                  </a:lnTo>
                  <a:lnTo>
                    <a:pt x="78332" y="1877141"/>
                  </a:lnTo>
                  <a:lnTo>
                    <a:pt x="99208" y="1875269"/>
                  </a:lnTo>
                  <a:close/>
                </a:path>
                <a:path w="140970" h="2891154">
                  <a:moveTo>
                    <a:pt x="99208" y="1914363"/>
                  </a:moveTo>
                  <a:lnTo>
                    <a:pt x="101506" y="1932735"/>
                  </a:lnTo>
                  <a:lnTo>
                    <a:pt x="80630" y="1934625"/>
                  </a:lnTo>
                  <a:lnTo>
                    <a:pt x="80630" y="1914363"/>
                  </a:lnTo>
                  <a:lnTo>
                    <a:pt x="99208" y="1914363"/>
                  </a:lnTo>
                  <a:close/>
                </a:path>
                <a:path w="140970" h="2891154">
                  <a:moveTo>
                    <a:pt x="103804" y="1989761"/>
                  </a:moveTo>
                  <a:lnTo>
                    <a:pt x="103804" y="2010482"/>
                  </a:lnTo>
                  <a:lnTo>
                    <a:pt x="85418" y="2010482"/>
                  </a:lnTo>
                  <a:lnTo>
                    <a:pt x="82929" y="1992110"/>
                  </a:lnTo>
                  <a:lnTo>
                    <a:pt x="103804" y="1989761"/>
                  </a:lnTo>
                  <a:close/>
                </a:path>
                <a:path w="140970" h="2891154">
                  <a:moveTo>
                    <a:pt x="103804" y="2028873"/>
                  </a:moveTo>
                  <a:lnTo>
                    <a:pt x="106294" y="2047245"/>
                  </a:lnTo>
                  <a:lnTo>
                    <a:pt x="85418" y="2049594"/>
                  </a:lnTo>
                  <a:lnTo>
                    <a:pt x="85418" y="2028873"/>
                  </a:lnTo>
                  <a:lnTo>
                    <a:pt x="103804" y="2028873"/>
                  </a:lnTo>
                  <a:close/>
                </a:path>
                <a:path w="140970" h="2891154">
                  <a:moveTo>
                    <a:pt x="108593" y="2104730"/>
                  </a:moveTo>
                  <a:lnTo>
                    <a:pt x="108593" y="2123102"/>
                  </a:lnTo>
                  <a:lnTo>
                    <a:pt x="90206" y="2125451"/>
                  </a:lnTo>
                  <a:lnTo>
                    <a:pt x="87717" y="2107079"/>
                  </a:lnTo>
                  <a:lnTo>
                    <a:pt x="108593" y="2104730"/>
                  </a:lnTo>
                  <a:close/>
                </a:path>
                <a:path w="140970" h="2891154">
                  <a:moveTo>
                    <a:pt x="108593" y="2143842"/>
                  </a:moveTo>
                  <a:lnTo>
                    <a:pt x="110508" y="2162214"/>
                  </a:lnTo>
                  <a:lnTo>
                    <a:pt x="90206" y="2162214"/>
                  </a:lnTo>
                  <a:lnTo>
                    <a:pt x="90206" y="2143842"/>
                  </a:lnTo>
                  <a:lnTo>
                    <a:pt x="108593" y="2143842"/>
                  </a:lnTo>
                  <a:close/>
                </a:path>
                <a:path w="140970" h="2891154">
                  <a:moveTo>
                    <a:pt x="110508" y="2180586"/>
                  </a:moveTo>
                  <a:lnTo>
                    <a:pt x="110508" y="2201307"/>
                  </a:lnTo>
                  <a:lnTo>
                    <a:pt x="92505" y="2201307"/>
                  </a:lnTo>
                  <a:lnTo>
                    <a:pt x="92505" y="2182935"/>
                  </a:lnTo>
                  <a:lnTo>
                    <a:pt x="110508" y="2180586"/>
                  </a:lnTo>
                  <a:close/>
                </a:path>
                <a:path w="140970" h="2891154">
                  <a:moveTo>
                    <a:pt x="112806" y="2219698"/>
                  </a:moveTo>
                  <a:lnTo>
                    <a:pt x="112806" y="2238070"/>
                  </a:lnTo>
                  <a:lnTo>
                    <a:pt x="94420" y="2240419"/>
                  </a:lnTo>
                  <a:lnTo>
                    <a:pt x="94420" y="2219698"/>
                  </a:lnTo>
                  <a:lnTo>
                    <a:pt x="112806" y="2219698"/>
                  </a:lnTo>
                  <a:close/>
                </a:path>
                <a:path w="140970" h="2891154">
                  <a:moveTo>
                    <a:pt x="115296" y="2258791"/>
                  </a:moveTo>
                  <a:lnTo>
                    <a:pt x="115296" y="2277183"/>
                  </a:lnTo>
                  <a:lnTo>
                    <a:pt x="96718" y="2277183"/>
                  </a:lnTo>
                  <a:lnTo>
                    <a:pt x="94420" y="2258791"/>
                  </a:lnTo>
                  <a:lnTo>
                    <a:pt x="115296" y="2258791"/>
                  </a:lnTo>
                  <a:close/>
                </a:path>
                <a:path w="140970" h="2891154">
                  <a:moveTo>
                    <a:pt x="115296" y="2295555"/>
                  </a:moveTo>
                  <a:lnTo>
                    <a:pt x="117594" y="2316276"/>
                  </a:lnTo>
                  <a:lnTo>
                    <a:pt x="96718" y="2316276"/>
                  </a:lnTo>
                  <a:lnTo>
                    <a:pt x="96718" y="2297904"/>
                  </a:lnTo>
                  <a:lnTo>
                    <a:pt x="115296" y="2295555"/>
                  </a:lnTo>
                  <a:close/>
                </a:path>
                <a:path w="140970" h="2891154">
                  <a:moveTo>
                    <a:pt x="117594" y="2334667"/>
                  </a:moveTo>
                  <a:lnTo>
                    <a:pt x="117594" y="2353039"/>
                  </a:lnTo>
                  <a:lnTo>
                    <a:pt x="99208" y="2355388"/>
                  </a:lnTo>
                  <a:lnTo>
                    <a:pt x="99208" y="2334667"/>
                  </a:lnTo>
                  <a:lnTo>
                    <a:pt x="117594" y="2334667"/>
                  </a:lnTo>
                  <a:close/>
                </a:path>
                <a:path w="140970" h="2891154">
                  <a:moveTo>
                    <a:pt x="120084" y="2373760"/>
                  </a:moveTo>
                  <a:lnTo>
                    <a:pt x="120084" y="2392151"/>
                  </a:lnTo>
                  <a:lnTo>
                    <a:pt x="101506" y="2392151"/>
                  </a:lnTo>
                  <a:lnTo>
                    <a:pt x="99208" y="2373760"/>
                  </a:lnTo>
                  <a:lnTo>
                    <a:pt x="120084" y="2373760"/>
                  </a:lnTo>
                  <a:close/>
                </a:path>
                <a:path w="140970" h="2891154">
                  <a:moveTo>
                    <a:pt x="120084" y="2410523"/>
                  </a:moveTo>
                  <a:lnTo>
                    <a:pt x="122382" y="2431245"/>
                  </a:lnTo>
                  <a:lnTo>
                    <a:pt x="101506" y="2431245"/>
                  </a:lnTo>
                  <a:lnTo>
                    <a:pt x="101506" y="2412872"/>
                  </a:lnTo>
                  <a:lnTo>
                    <a:pt x="120084" y="2410523"/>
                  </a:lnTo>
                  <a:close/>
                </a:path>
                <a:path w="140970" h="2891154">
                  <a:moveTo>
                    <a:pt x="122382" y="2449636"/>
                  </a:moveTo>
                  <a:lnTo>
                    <a:pt x="122382" y="2468008"/>
                  </a:lnTo>
                  <a:lnTo>
                    <a:pt x="103805" y="2470357"/>
                  </a:lnTo>
                  <a:lnTo>
                    <a:pt x="103805" y="2449636"/>
                  </a:lnTo>
                  <a:lnTo>
                    <a:pt x="122382" y="2449636"/>
                  </a:lnTo>
                  <a:close/>
                </a:path>
                <a:path w="140970" h="2891154">
                  <a:moveTo>
                    <a:pt x="124680" y="2488729"/>
                  </a:moveTo>
                  <a:lnTo>
                    <a:pt x="124680" y="2507120"/>
                  </a:lnTo>
                  <a:lnTo>
                    <a:pt x="106294" y="2507120"/>
                  </a:lnTo>
                  <a:lnTo>
                    <a:pt x="103805" y="2488729"/>
                  </a:lnTo>
                  <a:lnTo>
                    <a:pt x="124680" y="2488729"/>
                  </a:lnTo>
                  <a:close/>
                </a:path>
                <a:path w="140970" h="2891154">
                  <a:moveTo>
                    <a:pt x="124680" y="2525492"/>
                  </a:moveTo>
                  <a:lnTo>
                    <a:pt x="126596" y="2546213"/>
                  </a:lnTo>
                  <a:lnTo>
                    <a:pt x="106294" y="2546213"/>
                  </a:lnTo>
                  <a:lnTo>
                    <a:pt x="106294" y="2527841"/>
                  </a:lnTo>
                  <a:lnTo>
                    <a:pt x="124680" y="2525492"/>
                  </a:lnTo>
                  <a:close/>
                </a:path>
                <a:path w="140970" h="2891154">
                  <a:moveTo>
                    <a:pt x="126596" y="2564604"/>
                  </a:moveTo>
                  <a:lnTo>
                    <a:pt x="126596" y="2582977"/>
                  </a:lnTo>
                  <a:lnTo>
                    <a:pt x="108593" y="2585326"/>
                  </a:lnTo>
                  <a:lnTo>
                    <a:pt x="108593" y="2564604"/>
                  </a:lnTo>
                  <a:lnTo>
                    <a:pt x="126596" y="2564604"/>
                  </a:lnTo>
                  <a:close/>
                </a:path>
                <a:path w="140970" h="2891154">
                  <a:moveTo>
                    <a:pt x="129085" y="2603698"/>
                  </a:moveTo>
                  <a:lnTo>
                    <a:pt x="129085" y="2622089"/>
                  </a:lnTo>
                  <a:lnTo>
                    <a:pt x="110508" y="2622089"/>
                  </a:lnTo>
                  <a:lnTo>
                    <a:pt x="108593" y="2603698"/>
                  </a:lnTo>
                  <a:lnTo>
                    <a:pt x="129085" y="2603698"/>
                  </a:lnTo>
                  <a:close/>
                </a:path>
                <a:path w="140970" h="2891154">
                  <a:moveTo>
                    <a:pt x="129085" y="2640461"/>
                  </a:moveTo>
                  <a:lnTo>
                    <a:pt x="131384" y="2661182"/>
                  </a:lnTo>
                  <a:lnTo>
                    <a:pt x="110508" y="2661182"/>
                  </a:lnTo>
                  <a:lnTo>
                    <a:pt x="110508" y="2642810"/>
                  </a:lnTo>
                  <a:lnTo>
                    <a:pt x="129085" y="2640461"/>
                  </a:lnTo>
                  <a:close/>
                </a:path>
                <a:path w="140970" h="2891154">
                  <a:moveTo>
                    <a:pt x="131384" y="2679554"/>
                  </a:moveTo>
                  <a:lnTo>
                    <a:pt x="131384" y="2697945"/>
                  </a:lnTo>
                  <a:lnTo>
                    <a:pt x="112806" y="2700294"/>
                  </a:lnTo>
                  <a:lnTo>
                    <a:pt x="112806" y="2679554"/>
                  </a:lnTo>
                  <a:lnTo>
                    <a:pt x="131384" y="2679554"/>
                  </a:lnTo>
                  <a:close/>
                </a:path>
                <a:path w="140970" h="2891154">
                  <a:moveTo>
                    <a:pt x="133682" y="2718666"/>
                  </a:moveTo>
                  <a:lnTo>
                    <a:pt x="133682" y="2737038"/>
                  </a:lnTo>
                  <a:lnTo>
                    <a:pt x="115296" y="2737038"/>
                  </a:lnTo>
                  <a:lnTo>
                    <a:pt x="112806" y="2718666"/>
                  </a:lnTo>
                  <a:lnTo>
                    <a:pt x="133682" y="2718666"/>
                  </a:lnTo>
                  <a:close/>
                </a:path>
                <a:path w="140970" h="2891154">
                  <a:moveTo>
                    <a:pt x="136172" y="2755430"/>
                  </a:moveTo>
                  <a:lnTo>
                    <a:pt x="136172" y="2775692"/>
                  </a:lnTo>
                  <a:lnTo>
                    <a:pt x="117594" y="2775692"/>
                  </a:lnTo>
                  <a:lnTo>
                    <a:pt x="115296" y="2757301"/>
                  </a:lnTo>
                  <a:lnTo>
                    <a:pt x="136172" y="2755430"/>
                  </a:lnTo>
                  <a:close/>
                </a:path>
                <a:path w="140970" h="2891154">
                  <a:moveTo>
                    <a:pt x="136172" y="2794065"/>
                  </a:moveTo>
                  <a:lnTo>
                    <a:pt x="138470" y="2812437"/>
                  </a:lnTo>
                  <a:lnTo>
                    <a:pt x="117594" y="2814786"/>
                  </a:lnTo>
                  <a:lnTo>
                    <a:pt x="117594" y="2794065"/>
                  </a:lnTo>
                  <a:lnTo>
                    <a:pt x="136172" y="2794065"/>
                  </a:lnTo>
                  <a:close/>
                </a:path>
                <a:path w="140970" h="2891154">
                  <a:moveTo>
                    <a:pt x="140960" y="2869921"/>
                  </a:moveTo>
                  <a:lnTo>
                    <a:pt x="140960" y="2890661"/>
                  </a:lnTo>
                  <a:lnTo>
                    <a:pt x="122382" y="2890661"/>
                  </a:lnTo>
                  <a:lnTo>
                    <a:pt x="120084" y="2872270"/>
                  </a:lnTo>
                  <a:lnTo>
                    <a:pt x="140960" y="2869921"/>
                  </a:lnTo>
                  <a:close/>
                </a:path>
              </a:pathLst>
            </a:custGeom>
            <a:ln w="3175">
              <a:solidFill>
                <a:srgbClr val="FF0000"/>
              </a:solidFill>
            </a:ln>
          </p:spPr>
          <p:txBody>
            <a:bodyPr wrap="square" lIns="0" tIns="0" rIns="0" bIns="0" rtlCol="0"/>
            <a:lstStyle/>
            <a:p/>
          </p:txBody>
        </p:sp>
      </p:grpSp>
      <p:grpSp>
        <p:nvGrpSpPr>
          <p:cNvPr id="116" name="object 116" descr=""/>
          <p:cNvGrpSpPr/>
          <p:nvPr/>
        </p:nvGrpSpPr>
        <p:grpSpPr>
          <a:xfrm>
            <a:off x="6757141" y="2532107"/>
            <a:ext cx="210185" cy="2950845"/>
            <a:chOff x="6757141" y="2532107"/>
            <a:chExt cx="210185" cy="2950845"/>
          </a:xfrm>
        </p:grpSpPr>
        <p:pic>
          <p:nvPicPr>
            <p:cNvPr id="117" name="object 117" descr=""/>
            <p:cNvPicPr/>
            <p:nvPr/>
          </p:nvPicPr>
          <p:blipFill>
            <a:blip r:embed="rId8" cstate="print"/>
            <a:stretch>
              <a:fillRect/>
            </a:stretch>
          </p:blipFill>
          <p:spPr>
            <a:xfrm>
              <a:off x="6757141" y="2532107"/>
              <a:ext cx="80577" cy="73512"/>
            </a:xfrm>
            <a:prstGeom prst="rect">
              <a:avLst/>
            </a:prstGeom>
          </p:spPr>
        </p:pic>
        <p:pic>
          <p:nvPicPr>
            <p:cNvPr id="118" name="object 118" descr=""/>
            <p:cNvPicPr/>
            <p:nvPr/>
          </p:nvPicPr>
          <p:blipFill>
            <a:blip r:embed="rId9" cstate="print"/>
            <a:stretch>
              <a:fillRect/>
            </a:stretch>
          </p:blipFill>
          <p:spPr>
            <a:xfrm>
              <a:off x="6886227" y="5411482"/>
              <a:ext cx="80576" cy="71219"/>
            </a:xfrm>
            <a:prstGeom prst="rect">
              <a:avLst/>
            </a:prstGeom>
          </p:spPr>
        </p:pic>
        <p:sp>
          <p:nvSpPr>
            <p:cNvPr id="119" name="object 119" descr=""/>
            <p:cNvSpPr/>
            <p:nvPr/>
          </p:nvSpPr>
          <p:spPr>
            <a:xfrm>
              <a:off x="6803845" y="2656809"/>
              <a:ext cx="133985" cy="2794635"/>
            </a:xfrm>
            <a:custGeom>
              <a:avLst/>
              <a:gdLst/>
              <a:ahLst/>
              <a:cxnLst/>
              <a:rect l="l" t="t" r="r" b="b"/>
              <a:pathLst>
                <a:path w="133984" h="2794635">
                  <a:moveTo>
                    <a:pt x="18577" y="0"/>
                  </a:moveTo>
                  <a:lnTo>
                    <a:pt x="18577" y="20625"/>
                  </a:lnTo>
                  <a:lnTo>
                    <a:pt x="0" y="20625"/>
                  </a:lnTo>
                  <a:lnTo>
                    <a:pt x="0" y="2291"/>
                  </a:lnTo>
                  <a:lnTo>
                    <a:pt x="18577" y="0"/>
                  </a:lnTo>
                  <a:close/>
                </a:path>
                <a:path w="133984" h="2794635">
                  <a:moveTo>
                    <a:pt x="22791" y="114968"/>
                  </a:moveTo>
                  <a:lnTo>
                    <a:pt x="22791" y="135212"/>
                  </a:lnTo>
                  <a:lnTo>
                    <a:pt x="4788" y="135212"/>
                  </a:lnTo>
                  <a:lnTo>
                    <a:pt x="4788" y="116878"/>
                  </a:lnTo>
                  <a:lnTo>
                    <a:pt x="22791" y="114968"/>
                  </a:lnTo>
                  <a:close/>
                </a:path>
                <a:path w="133984" h="2794635">
                  <a:moveTo>
                    <a:pt x="38878" y="498452"/>
                  </a:moveTo>
                  <a:lnTo>
                    <a:pt x="38878" y="516786"/>
                  </a:lnTo>
                  <a:lnTo>
                    <a:pt x="20875" y="516786"/>
                  </a:lnTo>
                  <a:lnTo>
                    <a:pt x="20875" y="498452"/>
                  </a:lnTo>
                  <a:lnTo>
                    <a:pt x="38878" y="498452"/>
                  </a:lnTo>
                  <a:close/>
                </a:path>
                <a:path w="133984" h="2794635">
                  <a:moveTo>
                    <a:pt x="43667" y="613421"/>
                  </a:moveTo>
                  <a:lnTo>
                    <a:pt x="43667" y="631755"/>
                  </a:lnTo>
                  <a:lnTo>
                    <a:pt x="25089" y="631755"/>
                  </a:lnTo>
                  <a:lnTo>
                    <a:pt x="25089" y="613421"/>
                  </a:lnTo>
                  <a:lnTo>
                    <a:pt x="43667" y="613421"/>
                  </a:lnTo>
                  <a:close/>
                </a:path>
                <a:path w="133984" h="2794635">
                  <a:moveTo>
                    <a:pt x="48455" y="728389"/>
                  </a:moveTo>
                  <a:lnTo>
                    <a:pt x="48455" y="746723"/>
                  </a:lnTo>
                  <a:lnTo>
                    <a:pt x="29877" y="746723"/>
                  </a:lnTo>
                  <a:lnTo>
                    <a:pt x="29877" y="728389"/>
                  </a:lnTo>
                  <a:lnTo>
                    <a:pt x="48455" y="728389"/>
                  </a:lnTo>
                  <a:close/>
                </a:path>
                <a:path w="133984" h="2794635">
                  <a:moveTo>
                    <a:pt x="53051" y="843358"/>
                  </a:moveTo>
                  <a:lnTo>
                    <a:pt x="53051" y="861692"/>
                  </a:lnTo>
                  <a:lnTo>
                    <a:pt x="34665" y="861692"/>
                  </a:lnTo>
                  <a:lnTo>
                    <a:pt x="34665" y="843358"/>
                  </a:lnTo>
                  <a:lnTo>
                    <a:pt x="53051" y="843358"/>
                  </a:lnTo>
                  <a:close/>
                </a:path>
                <a:path w="133984" h="2794635">
                  <a:moveTo>
                    <a:pt x="57456" y="957945"/>
                  </a:moveTo>
                  <a:lnTo>
                    <a:pt x="57456" y="976279"/>
                  </a:lnTo>
                  <a:lnTo>
                    <a:pt x="38878" y="976279"/>
                  </a:lnTo>
                  <a:lnTo>
                    <a:pt x="38878" y="957945"/>
                  </a:lnTo>
                  <a:lnTo>
                    <a:pt x="57456" y="957945"/>
                  </a:lnTo>
                  <a:close/>
                </a:path>
                <a:path w="133984" h="2794635">
                  <a:moveTo>
                    <a:pt x="85418" y="1608569"/>
                  </a:moveTo>
                  <a:lnTo>
                    <a:pt x="85418" y="1626941"/>
                  </a:lnTo>
                  <a:lnTo>
                    <a:pt x="66841" y="1626941"/>
                  </a:lnTo>
                  <a:lnTo>
                    <a:pt x="66841" y="1608569"/>
                  </a:lnTo>
                  <a:lnTo>
                    <a:pt x="85418" y="1608569"/>
                  </a:lnTo>
                  <a:close/>
                </a:path>
                <a:path w="133984" h="2794635">
                  <a:moveTo>
                    <a:pt x="89632" y="1723537"/>
                  </a:moveTo>
                  <a:lnTo>
                    <a:pt x="89632" y="1741910"/>
                  </a:lnTo>
                  <a:lnTo>
                    <a:pt x="71246" y="1741910"/>
                  </a:lnTo>
                  <a:lnTo>
                    <a:pt x="71246" y="1723537"/>
                  </a:lnTo>
                  <a:lnTo>
                    <a:pt x="89632" y="1723537"/>
                  </a:lnTo>
                  <a:close/>
                </a:path>
                <a:path w="133984" h="2794635">
                  <a:moveTo>
                    <a:pt x="94420" y="1838029"/>
                  </a:moveTo>
                  <a:lnTo>
                    <a:pt x="94420" y="1856420"/>
                  </a:lnTo>
                  <a:lnTo>
                    <a:pt x="75842" y="1856420"/>
                  </a:lnTo>
                  <a:lnTo>
                    <a:pt x="75842" y="1838029"/>
                  </a:lnTo>
                  <a:lnTo>
                    <a:pt x="94420" y="1838029"/>
                  </a:lnTo>
                  <a:close/>
                </a:path>
                <a:path w="133984" h="2794635">
                  <a:moveTo>
                    <a:pt x="99208" y="1952998"/>
                  </a:moveTo>
                  <a:lnTo>
                    <a:pt x="99208" y="1971389"/>
                  </a:lnTo>
                  <a:lnTo>
                    <a:pt x="80630" y="1971389"/>
                  </a:lnTo>
                  <a:lnTo>
                    <a:pt x="80630" y="1952998"/>
                  </a:lnTo>
                  <a:lnTo>
                    <a:pt x="99208" y="1952998"/>
                  </a:lnTo>
                  <a:close/>
                </a:path>
                <a:path w="133984" h="2794635">
                  <a:moveTo>
                    <a:pt x="131384" y="2718208"/>
                  </a:moveTo>
                  <a:lnTo>
                    <a:pt x="131384" y="2736580"/>
                  </a:lnTo>
                  <a:lnTo>
                    <a:pt x="112998" y="2736580"/>
                  </a:lnTo>
                  <a:lnTo>
                    <a:pt x="112998" y="2718208"/>
                  </a:lnTo>
                  <a:lnTo>
                    <a:pt x="131384" y="2718208"/>
                  </a:lnTo>
                  <a:close/>
                </a:path>
                <a:path w="133984" h="2794635">
                  <a:moveTo>
                    <a:pt x="133873" y="2794065"/>
                  </a:moveTo>
                  <a:lnTo>
                    <a:pt x="115296" y="2794065"/>
                  </a:lnTo>
                  <a:lnTo>
                    <a:pt x="133873" y="2794065"/>
                  </a:lnTo>
                  <a:close/>
                </a:path>
              </a:pathLst>
            </a:custGeom>
            <a:ln w="3175">
              <a:solidFill>
                <a:srgbClr val="FF0000"/>
              </a:solidFill>
            </a:ln>
          </p:spPr>
          <p:txBody>
            <a:bodyPr wrap="square" lIns="0" tIns="0" rIns="0" bIns="0" rtlCol="0"/>
            <a:lstStyle/>
            <a:p/>
          </p:txBody>
        </p:sp>
      </p:gr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1193906" y="158242"/>
            <a:ext cx="75120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0458B"/>
                </a:solidFill>
                <a:latin typeface="宋体"/>
                <a:cs typeface="宋体"/>
              </a:rPr>
              <a:t>188/175</a:t>
            </a:r>
            <a:endParaRPr sz="1600">
              <a:latin typeface="宋体"/>
              <a:cs typeface="宋体"/>
            </a:endParaRPr>
          </a:p>
        </p:txBody>
      </p:sp>
      <p:grpSp>
        <p:nvGrpSpPr>
          <p:cNvPr id="3" name="object 3" descr=""/>
          <p:cNvGrpSpPr/>
          <p:nvPr/>
        </p:nvGrpSpPr>
        <p:grpSpPr>
          <a:xfrm>
            <a:off x="68262" y="311150"/>
            <a:ext cx="1076325" cy="274955"/>
            <a:chOff x="68262" y="311150"/>
            <a:chExt cx="1076325" cy="274955"/>
          </a:xfrm>
        </p:grpSpPr>
        <p:sp>
          <p:nvSpPr>
            <p:cNvPr id="4" name="object 4" descr=""/>
            <p:cNvSpPr/>
            <p:nvPr/>
          </p:nvSpPr>
          <p:spPr>
            <a:xfrm>
              <a:off x="68262" y="311150"/>
              <a:ext cx="374650" cy="274955"/>
            </a:xfrm>
            <a:custGeom>
              <a:avLst/>
              <a:gdLst/>
              <a:ahLst/>
              <a:cxnLst/>
              <a:rect l="l" t="t" r="r" b="b"/>
              <a:pathLst>
                <a:path w="374650" h="274955">
                  <a:moveTo>
                    <a:pt x="89776" y="0"/>
                  </a:moveTo>
                  <a:lnTo>
                    <a:pt x="3741" y="41528"/>
                  </a:lnTo>
                  <a:lnTo>
                    <a:pt x="198272" y="135509"/>
                  </a:lnTo>
                  <a:lnTo>
                    <a:pt x="0" y="231266"/>
                  </a:lnTo>
                  <a:lnTo>
                    <a:pt x="89776" y="274700"/>
                  </a:lnTo>
                  <a:lnTo>
                    <a:pt x="374091" y="137287"/>
                  </a:lnTo>
                  <a:lnTo>
                    <a:pt x="89776" y="0"/>
                  </a:lnTo>
                  <a:close/>
                </a:path>
              </a:pathLst>
            </a:custGeom>
            <a:solidFill>
              <a:srgbClr val="005DA1"/>
            </a:solidFill>
          </p:spPr>
          <p:txBody>
            <a:bodyPr wrap="square" lIns="0" tIns="0" rIns="0" bIns="0" rtlCol="0"/>
            <a:lstStyle/>
            <a:p/>
          </p:txBody>
        </p:sp>
        <p:sp>
          <p:nvSpPr>
            <p:cNvPr id="5" name="object 5" descr=""/>
            <p:cNvSpPr/>
            <p:nvPr/>
          </p:nvSpPr>
          <p:spPr>
            <a:xfrm>
              <a:off x="417741" y="311150"/>
              <a:ext cx="372745" cy="274955"/>
            </a:xfrm>
            <a:custGeom>
              <a:avLst/>
              <a:gdLst/>
              <a:ahLst/>
              <a:cxnLst/>
              <a:rect l="l" t="t" r="r" b="b"/>
              <a:pathLst>
                <a:path w="372745" h="274955">
                  <a:moveTo>
                    <a:pt x="89611" y="0"/>
                  </a:moveTo>
                  <a:lnTo>
                    <a:pt x="3733" y="41528"/>
                  </a:lnTo>
                  <a:lnTo>
                    <a:pt x="197891" y="135509"/>
                  </a:lnTo>
                  <a:lnTo>
                    <a:pt x="0" y="231266"/>
                  </a:lnTo>
                  <a:lnTo>
                    <a:pt x="89611" y="274700"/>
                  </a:lnTo>
                  <a:lnTo>
                    <a:pt x="372452" y="137287"/>
                  </a:lnTo>
                  <a:lnTo>
                    <a:pt x="89611" y="0"/>
                  </a:lnTo>
                  <a:close/>
                </a:path>
              </a:pathLst>
            </a:custGeom>
            <a:solidFill>
              <a:srgbClr val="3992DB"/>
            </a:solidFill>
          </p:spPr>
          <p:txBody>
            <a:bodyPr wrap="square" lIns="0" tIns="0" rIns="0" bIns="0" rtlCol="0"/>
            <a:lstStyle/>
            <a:p/>
          </p:txBody>
        </p:sp>
        <p:sp>
          <p:nvSpPr>
            <p:cNvPr id="6" name="object 6" descr=""/>
            <p:cNvSpPr/>
            <p:nvPr/>
          </p:nvSpPr>
          <p:spPr>
            <a:xfrm>
              <a:off x="772134" y="311150"/>
              <a:ext cx="372745" cy="274955"/>
            </a:xfrm>
            <a:custGeom>
              <a:avLst/>
              <a:gdLst/>
              <a:ahLst/>
              <a:cxnLst/>
              <a:rect l="l" t="t" r="r" b="b"/>
              <a:pathLst>
                <a:path w="372744" h="274955">
                  <a:moveTo>
                    <a:pt x="88684" y="0"/>
                  </a:moveTo>
                  <a:lnTo>
                    <a:pt x="3733" y="41528"/>
                  </a:lnTo>
                  <a:lnTo>
                    <a:pt x="197891" y="135509"/>
                  </a:lnTo>
                  <a:lnTo>
                    <a:pt x="0" y="231266"/>
                  </a:lnTo>
                  <a:lnTo>
                    <a:pt x="88684" y="274700"/>
                  </a:lnTo>
                  <a:lnTo>
                    <a:pt x="372452" y="137287"/>
                  </a:lnTo>
                  <a:lnTo>
                    <a:pt x="88684" y="0"/>
                  </a:lnTo>
                  <a:close/>
                </a:path>
              </a:pathLst>
            </a:custGeom>
            <a:solidFill>
              <a:srgbClr val="F79500"/>
            </a:solidFill>
          </p:spPr>
          <p:txBody>
            <a:bodyPr wrap="square" lIns="0" tIns="0" rIns="0" bIns="0" rtlCol="0"/>
            <a:lstStyle/>
            <a:p/>
          </p:txBody>
        </p:sp>
      </p:grpSp>
      <p:sp>
        <p:nvSpPr>
          <p:cNvPr id="7" name="object 7" descr=""/>
          <p:cNvSpPr/>
          <p:nvPr/>
        </p:nvSpPr>
        <p:spPr>
          <a:xfrm>
            <a:off x="0" y="6538912"/>
            <a:ext cx="12192000" cy="319405"/>
          </a:xfrm>
          <a:custGeom>
            <a:avLst/>
            <a:gdLst/>
            <a:ahLst/>
            <a:cxnLst/>
            <a:rect l="l" t="t" r="r" b="b"/>
            <a:pathLst>
              <a:path w="12192000" h="319404">
                <a:moveTo>
                  <a:pt x="12192000" y="0"/>
                </a:moveTo>
                <a:lnTo>
                  <a:pt x="0" y="0"/>
                </a:lnTo>
                <a:lnTo>
                  <a:pt x="0" y="319087"/>
                </a:lnTo>
                <a:lnTo>
                  <a:pt x="12192000" y="319087"/>
                </a:lnTo>
                <a:lnTo>
                  <a:pt x="1219200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977900" y="207645"/>
            <a:ext cx="11226800" cy="513715"/>
          </a:xfrm>
          <a:prstGeom prst="rect"/>
        </p:spPr>
        <p:txBody>
          <a:bodyPr wrap="square" lIns="0" tIns="12700" rIns="0" bIns="0" rtlCol="0" vert="horz">
            <a:spAutoFit/>
          </a:bodyPr>
          <a:lstStyle/>
          <a:p>
            <a:pPr marL="12700">
              <a:lnSpc>
                <a:spcPct val="100000"/>
              </a:lnSpc>
              <a:spcBef>
                <a:spcPts val="100"/>
              </a:spcBef>
              <a:tabLst>
                <a:tab pos="672465" algn="l"/>
                <a:tab pos="11213465" algn="l"/>
              </a:tabLst>
            </a:pPr>
            <a:r>
              <a:rPr dirty="0" u="heavy">
                <a:uFill>
                  <a:solidFill>
                    <a:srgbClr val="2C44A3"/>
                  </a:solidFill>
                </a:uFill>
              </a:rPr>
              <a:t>	总</a:t>
            </a:r>
            <a:r>
              <a:rPr dirty="0" u="heavy" spc="-50">
                <a:uFill>
                  <a:solidFill>
                    <a:srgbClr val="2C44A3"/>
                  </a:solidFill>
                </a:uFill>
              </a:rPr>
              <a:t>结</a:t>
            </a:r>
            <a:r>
              <a:rPr dirty="0" u="heavy">
                <a:uFill>
                  <a:solidFill>
                    <a:srgbClr val="2C44A3"/>
                  </a:solidFill>
                </a:uFill>
              </a:rPr>
              <a:t>	</a:t>
            </a:r>
          </a:p>
        </p:txBody>
      </p:sp>
      <p:sp>
        <p:nvSpPr>
          <p:cNvPr id="9" name="object 9" descr=""/>
          <p:cNvSpPr txBox="1"/>
          <p:nvPr/>
        </p:nvSpPr>
        <p:spPr>
          <a:xfrm>
            <a:off x="708151" y="962804"/>
            <a:ext cx="4392295" cy="4663440"/>
          </a:xfrm>
          <a:prstGeom prst="rect">
            <a:avLst/>
          </a:prstGeom>
        </p:spPr>
        <p:txBody>
          <a:bodyPr wrap="square" lIns="0" tIns="198755" rIns="0" bIns="0" rtlCol="0" vert="horz">
            <a:spAutoFit/>
          </a:bodyPr>
          <a:lstStyle/>
          <a:p>
            <a:pPr marL="469900" indent="-457200">
              <a:lnSpc>
                <a:spcPct val="100000"/>
              </a:lnSpc>
              <a:spcBef>
                <a:spcPts val="1565"/>
              </a:spcBef>
              <a:buSzPct val="89285"/>
              <a:buFont typeface="Wingdings"/>
              <a:buChar char=""/>
              <a:tabLst>
                <a:tab pos="469900" algn="l"/>
              </a:tabLst>
            </a:pPr>
            <a:r>
              <a:rPr dirty="0" sz="2800" spc="-40">
                <a:solidFill>
                  <a:srgbClr val="40458B"/>
                </a:solidFill>
                <a:latin typeface="黑体"/>
                <a:cs typeface="黑体"/>
              </a:rPr>
              <a:t>指令动态调度</a:t>
            </a:r>
            <a:endParaRPr sz="2800">
              <a:latin typeface="黑体"/>
              <a:cs typeface="黑体"/>
            </a:endParaRPr>
          </a:p>
          <a:p>
            <a:pPr lvl="1" marL="1153795" indent="-456565">
              <a:lnSpc>
                <a:spcPct val="100000"/>
              </a:lnSpc>
              <a:spcBef>
                <a:spcPts val="1155"/>
              </a:spcBef>
              <a:buClr>
                <a:srgbClr val="4668F5"/>
              </a:buClr>
              <a:buSzPct val="68181"/>
              <a:buFont typeface="Wingdings"/>
              <a:buChar char=""/>
              <a:tabLst>
                <a:tab pos="1153795" algn="l"/>
              </a:tabLst>
            </a:pPr>
            <a:r>
              <a:rPr dirty="0" sz="2200" spc="-35" b="1">
                <a:solidFill>
                  <a:srgbClr val="9933FF"/>
                </a:solidFill>
                <a:latin typeface="宋体"/>
                <a:cs typeface="宋体"/>
              </a:rPr>
              <a:t>记分牌</a:t>
            </a:r>
            <a:endParaRPr sz="2200">
              <a:latin typeface="宋体"/>
              <a:cs typeface="宋体"/>
            </a:endParaRPr>
          </a:p>
          <a:p>
            <a:pPr lvl="1" marL="1153795" indent="-456565">
              <a:lnSpc>
                <a:spcPct val="100000"/>
              </a:lnSpc>
              <a:spcBef>
                <a:spcPts val="1055"/>
              </a:spcBef>
              <a:buClr>
                <a:srgbClr val="4668F5"/>
              </a:buClr>
              <a:buSzPct val="68181"/>
              <a:buFont typeface="Wingdings"/>
              <a:buChar char=""/>
              <a:tabLst>
                <a:tab pos="1153795" algn="l"/>
              </a:tabLst>
            </a:pPr>
            <a:r>
              <a:rPr dirty="0" sz="2200" spc="-10" b="1">
                <a:solidFill>
                  <a:srgbClr val="9933FF"/>
                </a:solidFill>
                <a:latin typeface="黑体"/>
                <a:cs typeface="黑体"/>
              </a:rPr>
              <a:t>Tomasulo</a:t>
            </a:r>
            <a:r>
              <a:rPr dirty="0" sz="2200" spc="-35" b="1">
                <a:solidFill>
                  <a:srgbClr val="9933FF"/>
                </a:solidFill>
                <a:latin typeface="宋体"/>
                <a:cs typeface="宋体"/>
              </a:rPr>
              <a:t>算法</a:t>
            </a:r>
            <a:endParaRPr sz="2200">
              <a:latin typeface="宋体"/>
              <a:cs typeface="宋体"/>
            </a:endParaRPr>
          </a:p>
          <a:p>
            <a:pPr marL="469900" indent="-457200">
              <a:lnSpc>
                <a:spcPct val="100000"/>
              </a:lnSpc>
              <a:spcBef>
                <a:spcPts val="1250"/>
              </a:spcBef>
              <a:buClr>
                <a:srgbClr val="40458B"/>
              </a:buClr>
              <a:buSzPct val="89285"/>
              <a:buFont typeface="Wingdings"/>
              <a:buChar char=""/>
              <a:tabLst>
                <a:tab pos="469900" algn="l"/>
              </a:tabLst>
            </a:pPr>
            <a:r>
              <a:rPr dirty="0" sz="2800" spc="-40">
                <a:solidFill>
                  <a:srgbClr val="9933FF"/>
                </a:solidFill>
                <a:latin typeface="黑体"/>
                <a:cs typeface="黑体"/>
              </a:rPr>
              <a:t>控制相关的动态解决方法</a:t>
            </a:r>
            <a:endParaRPr sz="2800">
              <a:latin typeface="黑体"/>
              <a:cs typeface="黑体"/>
            </a:endParaRPr>
          </a:p>
          <a:p>
            <a:pPr lvl="1" marL="1153795" indent="-456565">
              <a:lnSpc>
                <a:spcPct val="100000"/>
              </a:lnSpc>
              <a:spcBef>
                <a:spcPts val="1150"/>
              </a:spcBef>
              <a:buClr>
                <a:srgbClr val="4668F5"/>
              </a:buClr>
              <a:buSzPct val="68181"/>
              <a:buFont typeface="Wingdings"/>
              <a:buChar char=""/>
              <a:tabLst>
                <a:tab pos="1153795" algn="l"/>
              </a:tabLst>
            </a:pPr>
            <a:r>
              <a:rPr dirty="0" sz="2200" spc="-30" b="1">
                <a:solidFill>
                  <a:srgbClr val="9933FF"/>
                </a:solidFill>
                <a:latin typeface="宋体"/>
                <a:cs typeface="宋体"/>
              </a:rPr>
              <a:t>分支预测缓冲</a:t>
            </a:r>
            <a:endParaRPr sz="2200">
              <a:latin typeface="宋体"/>
              <a:cs typeface="宋体"/>
            </a:endParaRPr>
          </a:p>
          <a:p>
            <a:pPr lvl="1" marL="1153795" indent="-456565">
              <a:lnSpc>
                <a:spcPct val="100000"/>
              </a:lnSpc>
              <a:spcBef>
                <a:spcPts val="1060"/>
              </a:spcBef>
              <a:buClr>
                <a:srgbClr val="4668F5"/>
              </a:buClr>
              <a:buSzPct val="68181"/>
              <a:buFont typeface="Wingdings"/>
              <a:buChar char=""/>
              <a:tabLst>
                <a:tab pos="1153795" algn="l"/>
              </a:tabLst>
            </a:pPr>
            <a:r>
              <a:rPr dirty="0" sz="2200" spc="-25" b="1">
                <a:solidFill>
                  <a:srgbClr val="9933FF"/>
                </a:solidFill>
                <a:latin typeface="宋体"/>
                <a:cs typeface="宋体"/>
              </a:rPr>
              <a:t>分支目标缓冲</a:t>
            </a:r>
            <a:endParaRPr sz="2200">
              <a:latin typeface="宋体"/>
              <a:cs typeface="宋体"/>
            </a:endParaRPr>
          </a:p>
          <a:p>
            <a:pPr marL="469900" indent="-457200">
              <a:lnSpc>
                <a:spcPct val="100000"/>
              </a:lnSpc>
              <a:spcBef>
                <a:spcPts val="1250"/>
              </a:spcBef>
              <a:buClr>
                <a:srgbClr val="40458B"/>
              </a:buClr>
              <a:buSzPct val="89583"/>
              <a:buFont typeface="Wingdings"/>
              <a:buChar char=""/>
              <a:tabLst>
                <a:tab pos="469900" algn="l"/>
              </a:tabLst>
            </a:pPr>
            <a:r>
              <a:rPr dirty="0" sz="2400" spc="-10">
                <a:solidFill>
                  <a:srgbClr val="9933FF"/>
                </a:solidFill>
                <a:latin typeface="黑体"/>
                <a:cs typeface="黑体"/>
              </a:rPr>
              <a:t>多</a:t>
            </a:r>
            <a:r>
              <a:rPr dirty="0" sz="2800" spc="-40">
                <a:solidFill>
                  <a:srgbClr val="9933FF"/>
                </a:solidFill>
                <a:latin typeface="黑体"/>
                <a:cs typeface="黑体"/>
              </a:rPr>
              <a:t>指令流出技术</a:t>
            </a:r>
            <a:endParaRPr sz="2800">
              <a:latin typeface="黑体"/>
              <a:cs typeface="黑体"/>
            </a:endParaRPr>
          </a:p>
          <a:p>
            <a:pPr lvl="1" marL="1153795" indent="-456565">
              <a:lnSpc>
                <a:spcPct val="100000"/>
              </a:lnSpc>
              <a:spcBef>
                <a:spcPts val="1155"/>
              </a:spcBef>
              <a:buClr>
                <a:srgbClr val="4668F5"/>
              </a:buClr>
              <a:buSzPct val="68181"/>
              <a:buFont typeface="Wingdings"/>
              <a:buChar char=""/>
              <a:tabLst>
                <a:tab pos="1153795" algn="l"/>
              </a:tabLst>
            </a:pPr>
            <a:r>
              <a:rPr dirty="0" sz="2200" spc="-30" b="1">
                <a:solidFill>
                  <a:srgbClr val="9933FF"/>
                </a:solidFill>
                <a:latin typeface="宋体"/>
                <a:cs typeface="宋体"/>
              </a:rPr>
              <a:t>超标量技术</a:t>
            </a:r>
            <a:endParaRPr sz="2200">
              <a:latin typeface="宋体"/>
              <a:cs typeface="宋体"/>
            </a:endParaRPr>
          </a:p>
          <a:p>
            <a:pPr lvl="1" marL="1153795" indent="-456565">
              <a:lnSpc>
                <a:spcPct val="100000"/>
              </a:lnSpc>
              <a:spcBef>
                <a:spcPts val="1055"/>
              </a:spcBef>
              <a:buClr>
                <a:srgbClr val="4668F5"/>
              </a:buClr>
              <a:buSzPct val="68181"/>
              <a:buFont typeface="Wingdings"/>
              <a:buChar char=""/>
              <a:tabLst>
                <a:tab pos="1153795" algn="l"/>
              </a:tabLst>
            </a:pPr>
            <a:r>
              <a:rPr dirty="0" sz="2200" spc="-25" b="1">
                <a:solidFill>
                  <a:srgbClr val="9933FF"/>
                </a:solidFill>
                <a:latin typeface="宋体"/>
                <a:cs typeface="宋体"/>
              </a:rPr>
              <a:t>超长指令技术</a:t>
            </a:r>
            <a:endParaRPr sz="2200">
              <a:latin typeface="宋体"/>
              <a:cs typeface="宋体"/>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668F5"/>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yyan</dc:creator>
  <dc:title>没有幻灯片标题</dc:title>
  <dcterms:created xsi:type="dcterms:W3CDTF">2025-12-28T08:55:28Z</dcterms:created>
  <dcterms:modified xsi:type="dcterms:W3CDTF">2025-12-28T08:55:28Z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2025-11-01T00:00:00Z</vt:filetime>
  </property>
  <property fmtid="{D5CDD505-2E9C-101B-9397-08002B2CF9AE}" pid="3" name="Creator">
    <vt:lpwstr>Microsoft® PowerPoint® 2021</vt:lpwstr>
  </property>
  <property fmtid="{D5CDD505-2E9C-101B-9397-08002B2CF9AE}" pid="4" name="LastSaved">
    <vt:filetime>2025-12-28T00:00:00Z</vt:filetime>
  </property>
  <property fmtid="{D5CDD505-2E9C-101B-9397-08002B2CF9AE}" pid="5" name="Producer">
    <vt:lpwstr>Microsoft® PowerPoint® 2021</vt:lpwstr>
  </property>
</Properties>
</file>